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media/image16.svg" ContentType="image/svg+xml"/>
  <Override PartName="/ppt/media/image18.svg" ContentType="image/svg+xml"/>
  <Override PartName="/ppt/media/image3.svg" ContentType="image/svg+xml"/>
  <Override PartName="/ppt/media/image5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87" r:id="rId3"/>
    <p:sldId id="288" r:id="rId4"/>
    <p:sldId id="274" r:id="rId5"/>
    <p:sldId id="289" r:id="rId6"/>
    <p:sldId id="343" r:id="rId7"/>
    <p:sldId id="345" r:id="rId8"/>
    <p:sldId id="344" r:id="rId9"/>
    <p:sldId id="285" r:id="rId10"/>
    <p:sldId id="286" r:id="rId11"/>
    <p:sldId id="260" r:id="rId12"/>
    <p:sldId id="290" r:id="rId13"/>
    <p:sldId id="291" r:id="rId14"/>
    <p:sldId id="346" r:id="rId21"/>
    <p:sldId id="347" r:id="rId22"/>
    <p:sldId id="34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C85C6A-4106-C8CA-54A3-3380EAD6A935}" name="Adams, Brian J2" initials="BA" userId="S::brian.adams@cuanschutz.edu::7d96f32e-f61c-490c-8fc0-831b57e115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94" autoAdjust="0"/>
    <p:restoredTop sz="94660"/>
  </p:normalViewPr>
  <p:slideViewPr>
    <p:cSldViewPr snapToGrid="0">
      <p:cViewPr varScale="1">
        <p:scale>
          <a:sx n="99" d="100"/>
          <a:sy n="99" d="100"/>
        </p:scale>
        <p:origin x="72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8/10/relationships/authors" Target="authors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D54542-CF13-46D2-B5BD-E6A42BC99018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03394C-C6B6-496B-A897-023B4CEB1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69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Relationship Id="rId3" Type="http://schemas.openxmlformats.org/officeDocument/2006/relationships/hyperlink" Target="https://pubmed.ncbi.nlm.nih.gov/27349294/" TargetMode="External"/><Relationship Id="rId4" Type="http://schemas.openxmlformats.org/officeDocument/2006/relationships/hyperlink" Target="https://providers.bedsider.org/articles/clinical-minute-placing-an-iud-after-unprotected-sex" TargetMode="Externa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Relationship Id="rId3" Type="http://schemas.openxmlformats.org/officeDocument/2006/relationships/hyperlink" Target="https://pubmed.ncbi.nlm.nih.gov/27349294/" TargetMode="External"/><Relationship Id="rId4" Type="http://schemas.openxmlformats.org/officeDocument/2006/relationships/hyperlink" Target="https://providers.bedsider.org/articles/clinical-minute-placing-an-iud-after-unprotected-sex" TargetMode="Externa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Relationship Id="rId3" Type="http://schemas.openxmlformats.org/officeDocument/2006/relationships/hyperlink" Target="https://pubmed.ncbi.nlm.nih.gov/27349294/" TargetMode="External"/><Relationship Id="rId4" Type="http://schemas.openxmlformats.org/officeDocument/2006/relationships/hyperlink" Target="https://providers.bedsider.org/articles/clinical-minute-placing-an-iud-after-unprotected-sex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a urine pregnancy test can take up to 14 days after fertilization occurs to become positive (it can take up to 10 days for a serum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 as well), if someone has had unprotected sex after their LMP and is outside of the 5-day window for emergency contraception, may wish to practice caution despite a negative UPT and consider an alternative form of contraception for 2 weeks to confirm negative pregnancy prior to placing an IUD. 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Sources: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Sanders JN, Howell L, Saltzman HM, Schwarz EB, Thompson IS,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Turok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DK. Unprotected intercourse in the 2 weeks prior to requesting emergency intrauterine contraception. Am J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Obstet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Gynecol. 2016 Nov;215(5):592.e1-592.e5.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10.1016/j.ajog.2016.06.028.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Epub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2016 Jun 24. PMID: 27349294. Available at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https://pubmed.ncbi.nlm.nih.gov/27349294/</a:t>
            </a:r>
            <a:endParaRPr lang="en-US" sz="1200" u="sng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 discussed here:</a:t>
            </a:r>
          </a:p>
          <a:p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https://providers.bedsider.org/articles/clinical-minute-placing-an-iud-after-unprotected-sex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C5118-9DC0-BF44-83A5-A0B212376A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63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a urine pregnancy test can take up to 14 days after fertilization occurs to become positive (it can take up to 10 days for a serum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 as well), if someone has had unprotected sex after their LMP and is outside of the 5-day window for emergency contraception, may wish to practice caution despite a negative UPT and consider an alternative form of contraception for 2 weeks to confirm negative pregnancy prior to placing an IUD. 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Sources: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Sanders JN, Howell L, Saltzman HM, Schwarz EB, Thompson IS,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Turok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DK. Unprotected intercourse in the 2 weeks prior to requesting emergency intrauterine contraception. Am J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Obstet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Gynecol. 2016 Nov;215(5):592.e1-592.e5.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10.1016/j.ajog.2016.06.028.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Epub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2016 Jun 24. PMID: 27349294. Available at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https://pubmed.ncbi.nlm.nih.gov/27349294/</a:t>
            </a:r>
            <a:endParaRPr lang="en-US" sz="1200" u="sng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 discussed here:</a:t>
            </a:r>
          </a:p>
          <a:p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https://providers.bedsider.org/articles/clinical-minute-placing-an-iud-after-unprotected-sex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C5118-9DC0-BF44-83A5-A0B212376A6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74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a urine pregnancy test can take up to 14 days after fertilization occurs to become positive (it can take up to 10 days for a serum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 as well), if someone has had unprotected sex after their LMP and is outside of the 5-day window for emergency contraception, may wish to practice caution despite a negative UPT and consider an alternative form of contraception for 2 weeks to confirm negative pregnancy prior to placing an IUD. 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Sources: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Sanders JN, Howell L, Saltzman HM, Schwarz EB, Thompson IS,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Turok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DK. Unprotected intercourse in the 2 weeks prior to requesting emergency intrauterine contraception. Am J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Obstet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Gynecol. 2016 Nov;215(5):592.e1-592.e5.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10.1016/j.ajog.2016.06.028.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Epub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2016 Jun 24. PMID: 27349294. Available at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https://pubmed.ncbi.nlm.nih.gov/27349294/</a:t>
            </a:r>
            <a:endParaRPr lang="en-US" sz="1200" u="sng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 discussed here:</a:t>
            </a:r>
          </a:p>
          <a:p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https://providers.bedsider.org/articles/clinical-minute-placing-an-iud-after-unprotected-sex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C5118-9DC0-BF44-83A5-A0B212376A6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04570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47A9-D53B-43D9-8708-4A4F9CD95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AC791-CF7B-4E5A-829B-C1FEA7278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A3820-9C64-4254-B706-D7655C887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A3BB0-232D-4C30-81EA-22F168436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54119-109B-45F1-AE71-24E5326E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8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4F50C-21F5-4629-9EC6-785D86A7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8CE0E-9445-461F-9ECE-DDFCB30DE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AAB52-45BA-4DA5-8D42-A08F5258C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2237F-3FF5-4808-8FD5-00EF68EB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A63D9-4B9C-4C5F-9F78-072EDC35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301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EFD5A-4224-4D3C-B1F1-B90A847A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B6431-F589-4041-83A9-477647B3D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6F8E7-1AA6-4BD7-A388-9A352EFFA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54B6F-EDE8-4FBE-9CCD-D1DA25653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CB8CD-7770-4694-A186-17FB1A04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45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1048C-8CE6-4F5C-9D54-EEF648B5D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A9E7-68D0-4CAE-8EED-7E16296A6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3C60E-E3A3-43C5-9B70-2947682C4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61302-CA24-440A-B4FF-2A215B803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EEBFF-4BF8-4D9A-877C-4E5B15B3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C224-531D-4D5F-B138-C8C2DF55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8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275BB-BA8C-4CC9-93B3-4A118DAD3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6F770-99FF-4877-A6E4-801BCDCA7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73736-8DED-4689-9646-4FBAC9D97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48A43-C6BB-4B91-88F4-AA4F08A7F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F14354-CC40-406E-99F5-5BC15D383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7D4896-9FCB-4EF0-BFDF-E1D1B2FC7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12BA49-F00F-4AFE-AB38-3A00DBD12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F7A29B-38B0-4F09-BE1C-9FA194FAB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EDF8A-24FB-44E0-9F17-99FE2945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4F6B9C-BC36-4C97-A0C2-298B31B7F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5006E-543E-470E-A609-8F2C7C4FA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B6329-5671-4FC1-9965-4613377B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7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7B9BC-B772-43F8-B4FC-CF88D87B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8AABF-8B66-415F-B026-058588D73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94FAD-0F36-4D49-8D81-BC7EBBED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63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4225D-6212-45BF-9127-F3496C195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76053-9083-4DB1-AC75-EEAFE66D1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CAA03-47AC-448C-BD62-44DFDB1CA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466D0-E4EF-4DF9-8096-64AA0A648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45805-0774-4915-B57B-553C8A9B7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4D829-266E-48F1-BED7-DD6BB3E4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342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6985-27E5-4F8C-BF91-22DEDCF51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4F96F4-60CE-40AC-AE3F-7773EA444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837F7-B670-4DDC-AFE1-EBA1784FB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39E62-6360-48A5-B5FE-258587AB4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28423-8843-4CD6-A271-610D9232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C43CA-DAE0-4E68-99E5-FF49B44A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1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CC0A-32B2-4D6B-A976-152A5A6BB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7FAE1-E8C3-4A04-99E1-FC26CF51F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D4EBF-9BC0-48F9-BBA1-256AA7B44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FBAC2-A8AA-4365-8035-E8139DCAB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C765-A941-41A8-ACE1-FC7EEB923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5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BA6490-5CB4-4007-BF9C-C0B9BBFD82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A637B-55D1-4FD6-8826-8107FE695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3F6E6-4340-45E1-8E17-57FEF9878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51AFE-9DEF-42C3-B256-8BF6A263A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1D9F0-0590-4283-85CE-FDF9A929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854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B2958-4B36-4099-B770-95CB160AB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95D57-598D-40AC-A83B-119200F92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F33C1-0465-4F25-B77C-BB92D54D4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F14A-D76B-40B9-B3E4-3854EC9865A5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183EC-0D02-4E7B-AF4B-BCEBEC804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5E90E-61B1-441D-88BB-8B212DF7D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6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slide" Target="slide5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hyperlink" Target="https://operations.du.edu/sites/default/files/2020-07/The-Gender-Unicorn.pdf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microsoft.com/office/2007/relationships/hdphoto" Target="../media/hdphoto1.wdp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slide" Target="slide2.xml"/><Relationship Id="rId13" Type="http://schemas.openxmlformats.org/officeDocument/2006/relationships/slide" Target="slide3.xml"/><Relationship Id="rId14" Type="http://schemas.openxmlformats.org/officeDocument/2006/relationships/slide" Target="slide4.xml"/><Relationship Id="rId15" Type="http://schemas.openxmlformats.org/officeDocument/2006/relationships/slide" Target="slide5.xml"/><Relationship Id="rId16" Type="http://schemas.openxmlformats.org/officeDocument/2006/relationships/slide" Target="slide9.xml"/><Relationship Id="rId17" Type="http://schemas.openxmlformats.org/officeDocument/2006/relationships/slide" Target="slide10.xml"/><Relationship Id="rId18" Type="http://schemas.openxmlformats.org/officeDocument/2006/relationships/slide" Target="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slide" Target="slide2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jpeg"/><Relationship Id="rId4" Type="http://schemas.openxmlformats.org/officeDocument/2006/relationships/image" Target="../media/image12.png"/><Relationship Id="rId5" Type="http://schemas.openxmlformats.org/officeDocument/2006/relationships/image" Target="cid:image001.png@01DAA54D.B30B2D90" TargetMode="External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slide" Target="slide2.xml"/><Relationship Id="rId9" Type="http://schemas.openxmlformats.org/officeDocument/2006/relationships/slide" Target="slide4.xml"/><Relationship Id="rId10" Type="http://schemas.openxmlformats.org/officeDocument/2006/relationships/slide" Target="slide5.xml"/><Relationship Id="rId11" Type="http://schemas.openxmlformats.org/officeDocument/2006/relationships/slide" Target="slide9.xml"/><Relationship Id="rId12" Type="http://schemas.openxmlformats.org/officeDocument/2006/relationships/slide" Target="slide10.xml"/><Relationship Id="rId13" Type="http://schemas.openxmlformats.org/officeDocument/2006/relationships/slide" Target="slide11.xml"/><Relationship Id="rId14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cid:image001.png@01DAA552.1B3720F0" TargetMode="External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17.png"/><Relationship Id="rId7" Type="http://schemas.openxmlformats.org/officeDocument/2006/relationships/image" Target="../media/image18.svg"/><Relationship Id="rId8" Type="http://schemas.openxmlformats.org/officeDocument/2006/relationships/slide" Target="slide2.xml"/><Relationship Id="rId9" Type="http://schemas.openxmlformats.org/officeDocument/2006/relationships/slide" Target="slide4.xml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slide" Target="slide5.xml"/><Relationship Id="rId13" Type="http://schemas.openxmlformats.org/officeDocument/2006/relationships/slide" Target="slide6.xml"/><Relationship Id="rId14" Type="http://schemas.openxmlformats.org/officeDocument/2006/relationships/slide" Target="slide8.xml"/><Relationship Id="rId15" Type="http://schemas.openxmlformats.org/officeDocument/2006/relationships/slide" Target="slide9.xml"/><Relationship Id="rId16" Type="http://schemas.openxmlformats.org/officeDocument/2006/relationships/slide" Target="slide10.xml"/><Relationship Id="rId17" Type="http://schemas.openxmlformats.org/officeDocument/2006/relationships/slide" Target="slide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Relationship Id="rId20" Type="http://schemas.openxmlformats.org/officeDocument/2006/relationships/slide" Target="slide8.xml"/><Relationship Id="rId21" Type="http://schemas.openxmlformats.org/officeDocument/2006/relationships/slide" Target="slide9.xml"/><Relationship Id="rId22" Type="http://schemas.openxmlformats.org/officeDocument/2006/relationships/slide" Target="slide10.xml"/><Relationship Id="rId23" Type="http://schemas.openxmlformats.org/officeDocument/2006/relationships/slide" Target="slide11.xml"/><Relationship Id="rId24" Type="http://schemas.openxmlformats.org/officeDocument/2006/relationships/slide" Target="slide7.xml"/><Relationship Id="rId25" Type="http://schemas.openxmlformats.org/officeDocument/2006/relationships/slide" Target="slide2.xml"/><Relationship Id="rId26" Type="http://schemas.openxmlformats.org/officeDocument/2006/relationships/slide" Target="slide4.xml"/><Relationship Id="rId27" Type="http://schemas.openxmlformats.org/officeDocument/2006/relationships/slide" Target="slide5.xml"/><Relationship Id="rId28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19.png"/><Relationship Id="rId10" Type="http://schemas.openxmlformats.org/officeDocument/2006/relationships/image" Target="../media/image34.jpe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slide" Target="slide9.xml"/><Relationship Id="rId14" Type="http://schemas.openxmlformats.org/officeDocument/2006/relationships/image" Target="../media/image2.png"/><Relationship Id="rId15" Type="http://schemas.openxmlformats.org/officeDocument/2006/relationships/image" Target="../media/image3.svg"/><Relationship Id="rId16" Type="http://schemas.openxmlformats.org/officeDocument/2006/relationships/slide" Target="slide10.xml"/><Relationship Id="rId17" Type="http://schemas.openxmlformats.org/officeDocument/2006/relationships/slide" Target="slide11.xml"/><Relationship Id="rId18" Type="http://schemas.openxmlformats.org/officeDocument/2006/relationships/slide" Target="slide2.xml"/><Relationship Id="rId19" Type="http://schemas.openxmlformats.org/officeDocument/2006/relationships/slide" Target="slide4.xml"/><Relationship Id="rId20" Type="http://schemas.openxmlformats.org/officeDocument/2006/relationships/slide" Target="slide5.xml"/><Relationship Id="rId21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20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32.png"/><Relationship Id="rId12" Type="http://schemas.openxmlformats.org/officeDocument/2006/relationships/image" Target="../media/image40.jpeg"/><Relationship Id="rId13" Type="http://schemas.openxmlformats.org/officeDocument/2006/relationships/image" Target="../media/image23.png"/><Relationship Id="rId14" Type="http://schemas.openxmlformats.org/officeDocument/2006/relationships/image" Target="../media/image41.png"/><Relationship Id="rId15" Type="http://schemas.openxmlformats.org/officeDocument/2006/relationships/image" Target="../media/image34.jpeg"/><Relationship Id="rId16" Type="http://schemas.openxmlformats.org/officeDocument/2006/relationships/image" Target="../media/image25.png"/><Relationship Id="rId17" Type="http://schemas.openxmlformats.org/officeDocument/2006/relationships/image" Target="../media/image42.jpeg"/><Relationship Id="rId18" Type="http://schemas.openxmlformats.org/officeDocument/2006/relationships/image" Target="../media/image43.png"/><Relationship Id="rId19" Type="http://schemas.openxmlformats.org/officeDocument/2006/relationships/image" Target="../media/image44.png"/><Relationship Id="rId20" Type="http://schemas.openxmlformats.org/officeDocument/2006/relationships/image" Target="../media/image45.png"/><Relationship Id="rId21" Type="http://schemas.openxmlformats.org/officeDocument/2006/relationships/slide" Target="slide6.xml"/><Relationship Id="rId22" Type="http://schemas.openxmlformats.org/officeDocument/2006/relationships/slide" Target="slide9.xml"/><Relationship Id="rId23" Type="http://schemas.openxmlformats.org/officeDocument/2006/relationships/slide" Target="slide10.xml"/><Relationship Id="rId24" Type="http://schemas.openxmlformats.org/officeDocument/2006/relationships/slide" Target="slide11.xml"/><Relationship Id="rId25" Type="http://schemas.openxmlformats.org/officeDocument/2006/relationships/slide" Target="slide2.xml"/><Relationship Id="rId26" Type="http://schemas.openxmlformats.org/officeDocument/2006/relationships/slide" Target="slide4.xml"/><Relationship Id="rId27" Type="http://schemas.openxmlformats.org/officeDocument/2006/relationships/slide" Target="slide5.xml"/><Relationship Id="rId28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.xml"/><Relationship Id="rId3" Type="http://schemas.openxmlformats.org/officeDocument/2006/relationships/slide" Target="slide4.xml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slide" Target="slide5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image" Target="../media/image46.jpeg"/><Relationship Id="rId11" Type="http://schemas.openxmlformats.org/officeDocument/2006/relationships/image" Target="../media/image47.jpeg"/><Relationship Id="rId12" Type="http://schemas.openxmlformats.org/officeDocument/2006/relationships/image" Target="../media/image48.png"/><Relationship Id="rId13" Type="http://schemas.openxmlformats.org/officeDocument/2006/relationships/image" Target="../media/image49.jpeg"/><Relationship Id="rId14" Type="http://schemas.openxmlformats.org/officeDocument/2006/relationships/image" Target="../media/image50.jpeg"/><Relationship Id="rId15" Type="http://schemas.openxmlformats.org/officeDocument/2006/relationships/image" Target="../media/image51.png"/><Relationship Id="rId16" Type="http://schemas.openxmlformats.org/officeDocument/2006/relationships/image" Target="../media/image52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slide" Target="slide2.xml"/><Relationship Id="rId6" Type="http://schemas.openxmlformats.org/officeDocument/2006/relationships/slide" Target="slide4.xml"/><Relationship Id="rId7" Type="http://schemas.openxmlformats.org/officeDocument/2006/relationships/image" Target="../media/image2.png"/><Relationship Id="rId8" Type="http://schemas.openxmlformats.org/officeDocument/2006/relationships/image" Target="../media/image3.svg"/><Relationship Id="rId9" Type="http://schemas.openxmlformats.org/officeDocument/2006/relationships/slide" Target="slide5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1.xml"/><Relationship Id="rId13" Type="http://schemas.openxmlformats.org/officeDocument/2006/relationships/image" Target="../media/image56.png"/><Relationship Id="rId14" Type="http://schemas.openxmlformats.org/officeDocument/2006/relationships/image" Target="../media/image5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slide" Target="slide4.xml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slide" Target="slide5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2.xml"/><Relationship Id="rId10" Type="http://schemas.openxmlformats.org/officeDocument/2006/relationships/slide" Target="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1.xml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slide" Target="slide5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2.xml"/><Relationship Id="rId11" Type="http://schemas.openxmlformats.org/officeDocument/2006/relationships/slide" Target="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slide" Target="slide4.xml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slide" Target="slide5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2.xml"/><Relationship Id="rId10" Type="http://schemas.openxmlformats.org/officeDocument/2006/relationships/slide" Target="slide11.xml"/><Relationship Id="rId11" Type="http://schemas.openxmlformats.org/officeDocument/2006/relationships/image" Target="../media/image5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AFB72A1-C019-4ADE-A4C3-117AF97FE617}"/>
              </a:ext>
            </a:extLst>
          </p:cNvPr>
          <p:cNvSpPr txBox="1"/>
          <p:nvPr/>
        </p:nvSpPr>
        <p:spPr>
          <a:xfrm>
            <a:off x="3263811" y="783468"/>
            <a:ext cx="69252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Gender affirming care in adults</a:t>
            </a:r>
          </a:p>
        </p:txBody>
      </p:sp>
      <p:pic>
        <p:nvPicPr>
          <p:cNvPr id="5122" name="Picture 2" descr="690+ Transgender Flag Stock Illustrations, Royalty-Free Vector Graphics &amp; Clip  Art - iStock | Transgender flag hand, Transgender flag vector, Transgender  flag london">
            <a:extLst>
              <a:ext uri="{FF2B5EF4-FFF2-40B4-BE49-F238E27FC236}">
                <a16:creationId xmlns:a16="http://schemas.microsoft.com/office/drawing/2014/main" id="{AAC31F35-94BD-4677-13CB-B98060AD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0391" y="2673375"/>
            <a:ext cx="5621609" cy="3224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Obj 1">
            <a:hlinkClick r:id="rId3" action="ppaction://hlinksldjump"/>
            <a:extLst>
              <a:ext uri="{FF2B5EF4-FFF2-40B4-BE49-F238E27FC236}">
                <a16:creationId xmlns:a16="http://schemas.microsoft.com/office/drawing/2014/main" id="{B98CF1FE-B192-D9A3-EA81-52153C713221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Terminology</a:t>
            </a:r>
          </a:p>
        </p:txBody>
      </p:sp>
      <p:sp>
        <p:nvSpPr>
          <p:cNvPr id="16" name="Obj 2">
            <a:hlinkClick r:id="rId4" action="ppaction://hlinksldjump"/>
            <a:extLst>
              <a:ext uri="{FF2B5EF4-FFF2-40B4-BE49-F238E27FC236}">
                <a16:creationId xmlns:a16="http://schemas.microsoft.com/office/drawing/2014/main" id="{B84A2BB1-D94A-6E46-4ABE-9FAB2E87F410}"/>
              </a:ext>
            </a:extLst>
          </p:cNvPr>
          <p:cNvSpPr/>
          <p:nvPr/>
        </p:nvSpPr>
        <p:spPr>
          <a:xfrm>
            <a:off x="167950" y="67445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Evaluation</a:t>
            </a:r>
          </a:p>
        </p:txBody>
      </p:sp>
      <p:pic>
        <p:nvPicPr>
          <p:cNvPr id="17" name="Graphic 16" descr="Cursor with solid fill">
            <a:extLst>
              <a:ext uri="{FF2B5EF4-FFF2-40B4-BE49-F238E27FC236}">
                <a16:creationId xmlns:a16="http://schemas.microsoft.com/office/drawing/2014/main" id="{7C11148F-ED2B-A3CF-809F-343F83FA26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851" y="381235"/>
            <a:ext cx="270672" cy="270672"/>
          </a:xfrm>
          <a:prstGeom prst="rect">
            <a:avLst/>
          </a:prstGeom>
        </p:spPr>
      </p:pic>
      <p:pic>
        <p:nvPicPr>
          <p:cNvPr id="18" name="Graphic 17" descr="Cursor with solid fill">
            <a:extLst>
              <a:ext uri="{FF2B5EF4-FFF2-40B4-BE49-F238E27FC236}">
                <a16:creationId xmlns:a16="http://schemas.microsoft.com/office/drawing/2014/main" id="{C7962E83-C355-EB8A-4393-C4E707FE4D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851" y="907100"/>
            <a:ext cx="270672" cy="270672"/>
          </a:xfrm>
          <a:prstGeom prst="rect">
            <a:avLst/>
          </a:prstGeom>
        </p:spPr>
      </p:pic>
      <p:sp>
        <p:nvSpPr>
          <p:cNvPr id="19" name="Obj 3">
            <a:hlinkClick r:id="rId7" action="ppaction://hlinksldjump"/>
            <a:extLst>
              <a:ext uri="{FF2B5EF4-FFF2-40B4-BE49-F238E27FC236}">
                <a16:creationId xmlns:a16="http://schemas.microsoft.com/office/drawing/2014/main" id="{1EAB6F37-A906-A4DA-524D-B0EEEFA2E30B}"/>
              </a:ext>
            </a:extLst>
          </p:cNvPr>
          <p:cNvSpPr/>
          <p:nvPr/>
        </p:nvSpPr>
        <p:spPr>
          <a:xfrm>
            <a:off x="167950" y="120031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Therapies</a:t>
            </a:r>
          </a:p>
        </p:txBody>
      </p:sp>
      <p:pic>
        <p:nvPicPr>
          <p:cNvPr id="20" name="Graphic 19" descr="Cursor with solid fill">
            <a:extLst>
              <a:ext uri="{FF2B5EF4-FFF2-40B4-BE49-F238E27FC236}">
                <a16:creationId xmlns:a16="http://schemas.microsoft.com/office/drawing/2014/main" id="{E61A79F8-81ED-3093-F0BB-ECBCF9155B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851" y="1432965"/>
            <a:ext cx="270672" cy="270672"/>
          </a:xfrm>
          <a:prstGeom prst="rect">
            <a:avLst/>
          </a:prstGeom>
        </p:spPr>
      </p:pic>
      <p:sp>
        <p:nvSpPr>
          <p:cNvPr id="21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EA5F340D-B345-112E-6192-F17D6CC219AE}"/>
              </a:ext>
            </a:extLst>
          </p:cNvPr>
          <p:cNvSpPr/>
          <p:nvPr/>
        </p:nvSpPr>
        <p:spPr>
          <a:xfrm>
            <a:off x="167950" y="172618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FAQs</a:t>
            </a:r>
          </a:p>
        </p:txBody>
      </p:sp>
      <p:pic>
        <p:nvPicPr>
          <p:cNvPr id="22" name="Graphic 21" descr="Cursor with solid fill">
            <a:extLst>
              <a:ext uri="{FF2B5EF4-FFF2-40B4-BE49-F238E27FC236}">
                <a16:creationId xmlns:a16="http://schemas.microsoft.com/office/drawing/2014/main" id="{DF81ABC2-672B-7DC9-2A5C-B28CD011E6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851" y="1958827"/>
            <a:ext cx="270672" cy="270672"/>
          </a:xfrm>
          <a:prstGeom prst="rect">
            <a:avLst/>
          </a:prstGeom>
        </p:spPr>
      </p:pic>
      <p:sp>
        <p:nvSpPr>
          <p:cNvPr id="23" name="Cases">
            <a:hlinkClick r:id="rId9" action="ppaction://hlinksldjump"/>
            <a:extLst>
              <a:ext uri="{FF2B5EF4-FFF2-40B4-BE49-F238E27FC236}">
                <a16:creationId xmlns:a16="http://schemas.microsoft.com/office/drawing/2014/main" id="{A84AFD80-1174-17D7-47E8-A1C5A42EE9EC}"/>
              </a:ext>
            </a:extLst>
          </p:cNvPr>
          <p:cNvSpPr/>
          <p:nvPr/>
        </p:nvSpPr>
        <p:spPr>
          <a:xfrm>
            <a:off x="167950" y="225496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Resources</a:t>
            </a:r>
          </a:p>
        </p:txBody>
      </p:sp>
      <p:sp>
        <p:nvSpPr>
          <p:cNvPr id="24" name="Cases">
            <a:hlinkClick r:id="rId10" action="ppaction://hlinksldjump"/>
            <a:extLst>
              <a:ext uri="{FF2B5EF4-FFF2-40B4-BE49-F238E27FC236}">
                <a16:creationId xmlns:a16="http://schemas.microsoft.com/office/drawing/2014/main" id="{D517B818-362A-7A88-3AEF-71E1BBA4CD1D}"/>
              </a:ext>
            </a:extLst>
          </p:cNvPr>
          <p:cNvSpPr/>
          <p:nvPr/>
        </p:nvSpPr>
        <p:spPr>
          <a:xfrm>
            <a:off x="167950" y="278375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D0542675-1851-C1C7-0D8C-ADB8D532D7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851" y="3016397"/>
            <a:ext cx="270672" cy="270672"/>
          </a:xfrm>
          <a:prstGeom prst="rect">
            <a:avLst/>
          </a:prstGeom>
        </p:spPr>
      </p:pic>
      <p:pic>
        <p:nvPicPr>
          <p:cNvPr id="26" name="Graphic 25" descr="Cursor with solid fill">
            <a:extLst>
              <a:ext uri="{FF2B5EF4-FFF2-40B4-BE49-F238E27FC236}">
                <a16:creationId xmlns:a16="http://schemas.microsoft.com/office/drawing/2014/main" id="{222D79F3-1E14-441D-2625-27AD8674D8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851" y="2487612"/>
            <a:ext cx="270672" cy="27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34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F7AF38-C7B0-0003-23A4-DAE61A396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958" y="1389854"/>
            <a:ext cx="3475990" cy="44378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68168C-18AC-FB7C-488B-4F8A3133B924}"/>
              </a:ext>
            </a:extLst>
          </p:cNvPr>
          <p:cNvSpPr txBox="1"/>
          <p:nvPr/>
        </p:nvSpPr>
        <p:spPr>
          <a:xfrm>
            <a:off x="0" y="6404591"/>
            <a:ext cx="5928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/>
              <a:t>Gender unicorn courtesy of TSER (Trans Student Educational Resources), </a:t>
            </a:r>
            <a:r>
              <a:rPr lang="en-US" sz="1000" i="1" dirty="0">
                <a:hlinkClick r:id="rId3"/>
              </a:rPr>
              <a:t>https://operations.du.edu/sites/default/files/2020-07/The-Gender-Unicorn.pdf</a:t>
            </a:r>
            <a:r>
              <a:rPr lang="en-US" sz="1000" i="1" dirty="0"/>
              <a:t>, accessed 27 December 2023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F0E5C4-1DBE-C38B-0156-4F105BC3C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6232" y="2706687"/>
            <a:ext cx="673100" cy="49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899D6C-02F4-6C99-3131-085685B76B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1125" y="3418890"/>
            <a:ext cx="596900" cy="520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A712EC-4FD0-FF0A-C399-26E56C2B4A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1125" y="799987"/>
            <a:ext cx="584200" cy="457200"/>
          </a:xfrm>
          <a:prstGeom prst="rect">
            <a:avLst/>
          </a:prstGeom>
        </p:spPr>
      </p:pic>
      <p:sp>
        <p:nvSpPr>
          <p:cNvPr id="12" name="Identity button">
            <a:extLst>
              <a:ext uri="{FF2B5EF4-FFF2-40B4-BE49-F238E27FC236}">
                <a16:creationId xmlns:a16="http://schemas.microsoft.com/office/drawing/2014/main" id="{3EED0296-8ABC-0FEA-F683-A08BD939BD53}"/>
              </a:ext>
            </a:extLst>
          </p:cNvPr>
          <p:cNvSpPr txBox="1"/>
          <p:nvPr/>
        </p:nvSpPr>
        <p:spPr>
          <a:xfrm>
            <a:off x="5955323" y="817133"/>
            <a:ext cx="2285856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Gender identity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EB6F35-2554-A79C-DE9E-5982B4D1CE70}"/>
              </a:ext>
            </a:extLst>
          </p:cNvPr>
          <p:cNvSpPr txBox="1"/>
          <p:nvPr/>
        </p:nvSpPr>
        <p:spPr>
          <a:xfrm>
            <a:off x="5955323" y="2787173"/>
            <a:ext cx="2285857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Gender expression</a:t>
            </a:r>
          </a:p>
        </p:txBody>
      </p:sp>
      <p:sp>
        <p:nvSpPr>
          <p:cNvPr id="14" name="sex button">
            <a:extLst>
              <a:ext uri="{FF2B5EF4-FFF2-40B4-BE49-F238E27FC236}">
                <a16:creationId xmlns:a16="http://schemas.microsoft.com/office/drawing/2014/main" id="{49C88908-1D79-0B7C-4ABC-69CA2D6BA6D6}"/>
              </a:ext>
            </a:extLst>
          </p:cNvPr>
          <p:cNvSpPr txBox="1"/>
          <p:nvPr/>
        </p:nvSpPr>
        <p:spPr>
          <a:xfrm>
            <a:off x="5955324" y="3421623"/>
            <a:ext cx="2285857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Sex assigned at birth</a:t>
            </a:r>
          </a:p>
        </p:txBody>
      </p:sp>
      <p:sp>
        <p:nvSpPr>
          <p:cNvPr id="18" name="identity text">
            <a:extLst>
              <a:ext uri="{FF2B5EF4-FFF2-40B4-BE49-F238E27FC236}">
                <a16:creationId xmlns:a16="http://schemas.microsoft.com/office/drawing/2014/main" id="{B421D10B-A86F-004F-A919-696105C8162A}"/>
              </a:ext>
            </a:extLst>
          </p:cNvPr>
          <p:cNvSpPr txBox="1"/>
          <p:nvPr/>
        </p:nvSpPr>
        <p:spPr>
          <a:xfrm>
            <a:off x="6316898" y="1246735"/>
            <a:ext cx="158408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Gender diverse</a:t>
            </a:r>
          </a:p>
          <a:p>
            <a:r>
              <a:rPr lang="en-US" i="1" dirty="0"/>
              <a:t>Cisgender</a:t>
            </a:r>
          </a:p>
          <a:p>
            <a:r>
              <a:rPr lang="en-US" i="1" dirty="0"/>
              <a:t>Transgender</a:t>
            </a:r>
          </a:p>
          <a:p>
            <a:r>
              <a:rPr lang="en-US" i="1" dirty="0"/>
              <a:t>Nonbinary</a:t>
            </a:r>
          </a:p>
          <a:p>
            <a:r>
              <a:rPr lang="en-US" i="1" dirty="0"/>
              <a:t>Genderfluid</a:t>
            </a:r>
          </a:p>
        </p:txBody>
      </p:sp>
      <p:sp>
        <p:nvSpPr>
          <p:cNvPr id="20" name="sex text">
            <a:extLst>
              <a:ext uri="{FF2B5EF4-FFF2-40B4-BE49-F238E27FC236}">
                <a16:creationId xmlns:a16="http://schemas.microsoft.com/office/drawing/2014/main" id="{ABC9DF07-2F70-D10B-913E-57CA18D47C0C}"/>
              </a:ext>
            </a:extLst>
          </p:cNvPr>
          <p:cNvSpPr txBox="1"/>
          <p:nvPr/>
        </p:nvSpPr>
        <p:spPr>
          <a:xfrm>
            <a:off x="6373070" y="3859722"/>
            <a:ext cx="56723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Assigned male at birth (AMAB)</a:t>
            </a:r>
          </a:p>
          <a:p>
            <a:r>
              <a:rPr lang="en-US" i="1" dirty="0"/>
              <a:t>Assigned female at birth (AFAB)</a:t>
            </a:r>
          </a:p>
          <a:p>
            <a:r>
              <a:rPr lang="en-US" i="1" dirty="0"/>
              <a:t>Differences of sexual development (DSD, formerly intersex)</a:t>
            </a:r>
          </a:p>
        </p:txBody>
      </p:sp>
      <p:sp>
        <p:nvSpPr>
          <p:cNvPr id="22" name="orienatoin text">
            <a:extLst>
              <a:ext uri="{FF2B5EF4-FFF2-40B4-BE49-F238E27FC236}">
                <a16:creationId xmlns:a16="http://schemas.microsoft.com/office/drawing/2014/main" id="{66AAA407-0D6B-0EA3-B19D-16E4234C276E}"/>
              </a:ext>
            </a:extLst>
          </p:cNvPr>
          <p:cNvSpPr txBox="1"/>
          <p:nvPr/>
        </p:nvSpPr>
        <p:spPr>
          <a:xfrm>
            <a:off x="6316898" y="5366235"/>
            <a:ext cx="21852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Physical attraction</a:t>
            </a:r>
          </a:p>
          <a:p>
            <a:r>
              <a:rPr lang="en-US" i="1" dirty="0"/>
              <a:t>Emotional attraction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A26359-4948-445B-097F-E95EE8FC1288}"/>
              </a:ext>
            </a:extLst>
          </p:cNvPr>
          <p:cNvSpPr txBox="1"/>
          <p:nvPr/>
        </p:nvSpPr>
        <p:spPr>
          <a:xfrm>
            <a:off x="9631931" y="562498"/>
            <a:ext cx="1884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Epidemiology of gender diversity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DE124A-03C4-C210-E850-9E7F3B8B85D8}"/>
              </a:ext>
            </a:extLst>
          </p:cNvPr>
          <p:cNvSpPr txBox="1"/>
          <p:nvPr/>
        </p:nvSpPr>
        <p:spPr>
          <a:xfrm>
            <a:off x="9206129" y="1253661"/>
            <a:ext cx="27362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202124"/>
                </a:solidFill>
                <a:latin typeface="Google Sans"/>
              </a:rPr>
              <a:t>1.0% millennials</a:t>
            </a:r>
            <a:endParaRPr lang="en-US" dirty="0">
              <a:solidFill>
                <a:srgbClr val="202124"/>
              </a:solidFill>
              <a:latin typeface="Google Sans"/>
            </a:endParaRPr>
          </a:p>
          <a:p>
            <a:pPr algn="ctr"/>
            <a:r>
              <a:rPr lang="en-US" sz="1800" dirty="0">
                <a:solidFill>
                  <a:srgbClr val="202124"/>
                </a:solidFill>
                <a:latin typeface="Google Sans"/>
              </a:rPr>
              <a:t>2% gen Z</a:t>
            </a:r>
            <a:endParaRPr lang="en-US" dirty="0">
              <a:solidFill>
                <a:srgbClr val="202124"/>
              </a:solidFill>
              <a:latin typeface="Google Sans"/>
            </a:endParaRPr>
          </a:p>
          <a:p>
            <a:pPr algn="ctr"/>
            <a:r>
              <a:rPr lang="en-US" sz="1800" dirty="0">
                <a:solidFill>
                  <a:srgbClr val="202124"/>
                </a:solidFill>
                <a:latin typeface="Google Sans"/>
              </a:rPr>
              <a:t>&gt; 2.6 million Americans</a:t>
            </a:r>
            <a:endParaRPr lang="en-US" dirty="0"/>
          </a:p>
        </p:txBody>
      </p:sp>
      <p:sp>
        <p:nvSpPr>
          <p:cNvPr id="31" name="Frame 30">
            <a:extLst>
              <a:ext uri="{FF2B5EF4-FFF2-40B4-BE49-F238E27FC236}">
                <a16:creationId xmlns:a16="http://schemas.microsoft.com/office/drawing/2014/main" id="{348EEAF5-C1BC-FB38-766E-CF6292113641}"/>
              </a:ext>
            </a:extLst>
          </p:cNvPr>
          <p:cNvSpPr/>
          <p:nvPr/>
        </p:nvSpPr>
        <p:spPr>
          <a:xfrm>
            <a:off x="9307625" y="310940"/>
            <a:ext cx="2533290" cy="2012663"/>
          </a:xfrm>
          <a:prstGeom prst="frame">
            <a:avLst>
              <a:gd name="adj1" fmla="val 36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4172BB-5BB7-4AE4-00D1-0415612A03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290359">
            <a:off x="5245760" y="4849193"/>
            <a:ext cx="500886" cy="411840"/>
          </a:xfrm>
          <a:prstGeom prst="rect">
            <a:avLst/>
          </a:prstGeom>
        </p:spPr>
      </p:pic>
      <p:sp>
        <p:nvSpPr>
          <p:cNvPr id="15" name="orientation button">
            <a:extLst>
              <a:ext uri="{FF2B5EF4-FFF2-40B4-BE49-F238E27FC236}">
                <a16:creationId xmlns:a16="http://schemas.microsoft.com/office/drawing/2014/main" id="{4AC7B166-0333-24D7-58C8-B933BC9C7424}"/>
              </a:ext>
            </a:extLst>
          </p:cNvPr>
          <p:cNvSpPr txBox="1"/>
          <p:nvPr/>
        </p:nvSpPr>
        <p:spPr>
          <a:xfrm>
            <a:off x="5955791" y="4914106"/>
            <a:ext cx="2285389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Sexual orientation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ADF78D-9221-8C9C-C689-CCB5CA8C94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137785">
            <a:off x="5391072" y="4856239"/>
            <a:ext cx="635000" cy="457200"/>
          </a:xfrm>
          <a:prstGeom prst="rect">
            <a:avLst/>
          </a:prstGeom>
        </p:spPr>
      </p:pic>
      <p:pic>
        <p:nvPicPr>
          <p:cNvPr id="35" name="identity arrow" descr="Cursor with solid fill">
            <a:extLst>
              <a:ext uri="{FF2B5EF4-FFF2-40B4-BE49-F238E27FC236}">
                <a16:creationId xmlns:a16="http://schemas.microsoft.com/office/drawing/2014/main" id="{5227B735-22E2-E70A-0C92-AD813B7DF3B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96802" y="1079646"/>
            <a:ext cx="270672" cy="270672"/>
          </a:xfrm>
          <a:prstGeom prst="rect">
            <a:avLst/>
          </a:prstGeom>
        </p:spPr>
      </p:pic>
      <p:pic>
        <p:nvPicPr>
          <p:cNvPr id="36" name="sex arrow" descr="Cursor with solid fill">
            <a:extLst>
              <a:ext uri="{FF2B5EF4-FFF2-40B4-BE49-F238E27FC236}">
                <a16:creationId xmlns:a16="http://schemas.microsoft.com/office/drawing/2014/main" id="{EC367EC8-4632-E7FB-F2BA-D4B9572BB33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96802" y="3690628"/>
            <a:ext cx="270672" cy="270672"/>
          </a:xfrm>
          <a:prstGeom prst="rect">
            <a:avLst/>
          </a:prstGeom>
        </p:spPr>
      </p:pic>
      <p:pic>
        <p:nvPicPr>
          <p:cNvPr id="37" name="orientation arrow" descr="Cursor with solid fill">
            <a:extLst>
              <a:ext uri="{FF2B5EF4-FFF2-40B4-BE49-F238E27FC236}">
                <a16:creationId xmlns:a16="http://schemas.microsoft.com/office/drawing/2014/main" id="{FF40B9D2-EE6F-218B-305A-1FAA5F9AE6F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96802" y="5183111"/>
            <a:ext cx="270672" cy="270672"/>
          </a:xfrm>
          <a:prstGeom prst="rect">
            <a:avLst/>
          </a:prstGeom>
        </p:spPr>
      </p:pic>
      <p:sp>
        <p:nvSpPr>
          <p:cNvPr id="38" name="Obj 1">
            <a:hlinkClick r:id="rId12" action="ppaction://hlinksldjump"/>
            <a:extLst>
              <a:ext uri="{FF2B5EF4-FFF2-40B4-BE49-F238E27FC236}">
                <a16:creationId xmlns:a16="http://schemas.microsoft.com/office/drawing/2014/main" id="{D9CA500F-A0BC-BD22-21B6-12A814359444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Terminology</a:t>
            </a:r>
          </a:p>
        </p:txBody>
      </p:sp>
      <p:sp>
        <p:nvSpPr>
          <p:cNvPr id="50" name="Obj 1">
            <a:hlinkClick r:id="rId13" action="ppaction://hlinksldjump"/>
            <a:extLst>
              <a:ext uri="{FF2B5EF4-FFF2-40B4-BE49-F238E27FC236}">
                <a16:creationId xmlns:a16="http://schemas.microsoft.com/office/drawing/2014/main" id="{64B289CF-130E-1AFC-7637-30BA66F83E10}"/>
              </a:ext>
            </a:extLst>
          </p:cNvPr>
          <p:cNvSpPr/>
          <p:nvPr/>
        </p:nvSpPr>
        <p:spPr>
          <a:xfrm>
            <a:off x="340055" y="656073"/>
            <a:ext cx="1302133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to ask</a:t>
            </a:r>
          </a:p>
        </p:txBody>
      </p:sp>
      <p:pic>
        <p:nvPicPr>
          <p:cNvPr id="51" name="Graphic 50" descr="Cursor with solid fill">
            <a:extLst>
              <a:ext uri="{FF2B5EF4-FFF2-40B4-BE49-F238E27FC236}">
                <a16:creationId xmlns:a16="http://schemas.microsoft.com/office/drawing/2014/main" id="{DE4D3A8A-ECA1-EF9B-8190-09511F0267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06851" y="888719"/>
            <a:ext cx="270672" cy="270672"/>
          </a:xfrm>
          <a:prstGeom prst="rect">
            <a:avLst/>
          </a:prstGeom>
        </p:spPr>
      </p:pic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682AC548-8D68-AED7-65C1-7509A61BD2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5438" y="615445"/>
            <a:ext cx="323493" cy="1257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Obj 2">
            <a:hlinkClick r:id="rId14" action="ppaction://hlinksldjump"/>
            <a:extLst>
              <a:ext uri="{FF2B5EF4-FFF2-40B4-BE49-F238E27FC236}">
                <a16:creationId xmlns:a16="http://schemas.microsoft.com/office/drawing/2014/main" id="{2FD76E4E-F23D-B8E5-A0FD-B46992D19B0E}"/>
              </a:ext>
            </a:extLst>
          </p:cNvPr>
          <p:cNvSpPr/>
          <p:nvPr/>
        </p:nvSpPr>
        <p:spPr>
          <a:xfrm>
            <a:off x="171900" y="1159391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Evaluation</a:t>
            </a:r>
          </a:p>
        </p:txBody>
      </p:sp>
      <p:pic>
        <p:nvPicPr>
          <p:cNvPr id="16" name="Graphic 15" descr="Cursor with solid fill">
            <a:extLst>
              <a:ext uri="{FF2B5EF4-FFF2-40B4-BE49-F238E27FC236}">
                <a16:creationId xmlns:a16="http://schemas.microsoft.com/office/drawing/2014/main" id="{60581FCF-74F6-E63D-4368-CD35EB51D31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10801" y="1392037"/>
            <a:ext cx="270672" cy="270672"/>
          </a:xfrm>
          <a:prstGeom prst="rect">
            <a:avLst/>
          </a:prstGeom>
        </p:spPr>
      </p:pic>
      <p:sp>
        <p:nvSpPr>
          <p:cNvPr id="17" name="Obj 3">
            <a:hlinkClick r:id="rId15" action="ppaction://hlinksldjump"/>
            <a:extLst>
              <a:ext uri="{FF2B5EF4-FFF2-40B4-BE49-F238E27FC236}">
                <a16:creationId xmlns:a16="http://schemas.microsoft.com/office/drawing/2014/main" id="{51615C80-CB23-CA8A-E5D2-C99CFCCF3517}"/>
              </a:ext>
            </a:extLst>
          </p:cNvPr>
          <p:cNvSpPr/>
          <p:nvPr/>
        </p:nvSpPr>
        <p:spPr>
          <a:xfrm>
            <a:off x="171900" y="1685256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Therapies</a:t>
            </a:r>
          </a:p>
        </p:txBody>
      </p:sp>
      <p:pic>
        <p:nvPicPr>
          <p:cNvPr id="19" name="Graphic 18" descr="Cursor with solid fill">
            <a:extLst>
              <a:ext uri="{FF2B5EF4-FFF2-40B4-BE49-F238E27FC236}">
                <a16:creationId xmlns:a16="http://schemas.microsoft.com/office/drawing/2014/main" id="{52DE9BDE-27DF-3532-29EC-898D928CF20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10801" y="1917902"/>
            <a:ext cx="270672" cy="270672"/>
          </a:xfrm>
          <a:prstGeom prst="rect">
            <a:avLst/>
          </a:prstGeom>
        </p:spPr>
      </p:pic>
      <p:sp>
        <p:nvSpPr>
          <p:cNvPr id="21" name="Cases">
            <a:hlinkClick r:id="rId16" action="ppaction://hlinksldjump"/>
            <a:extLst>
              <a:ext uri="{FF2B5EF4-FFF2-40B4-BE49-F238E27FC236}">
                <a16:creationId xmlns:a16="http://schemas.microsoft.com/office/drawing/2014/main" id="{B82F3F17-0085-7C01-3CF4-8DEA38D0021D}"/>
              </a:ext>
            </a:extLst>
          </p:cNvPr>
          <p:cNvSpPr/>
          <p:nvPr/>
        </p:nvSpPr>
        <p:spPr>
          <a:xfrm>
            <a:off x="171900" y="2211121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FAQs</a:t>
            </a:r>
          </a:p>
        </p:txBody>
      </p:sp>
      <p:pic>
        <p:nvPicPr>
          <p:cNvPr id="23" name="Graphic 22" descr="Cursor with solid fill">
            <a:extLst>
              <a:ext uri="{FF2B5EF4-FFF2-40B4-BE49-F238E27FC236}">
                <a16:creationId xmlns:a16="http://schemas.microsoft.com/office/drawing/2014/main" id="{AEAB8209-A254-3143-2AC0-B2091257B18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10801" y="2443764"/>
            <a:ext cx="270672" cy="270672"/>
          </a:xfrm>
          <a:prstGeom prst="rect">
            <a:avLst/>
          </a:prstGeom>
        </p:spPr>
      </p:pic>
      <p:sp>
        <p:nvSpPr>
          <p:cNvPr id="24" name="Cases">
            <a:hlinkClick r:id="rId17" action="ppaction://hlinksldjump"/>
            <a:extLst>
              <a:ext uri="{FF2B5EF4-FFF2-40B4-BE49-F238E27FC236}">
                <a16:creationId xmlns:a16="http://schemas.microsoft.com/office/drawing/2014/main" id="{D79DF62E-48A4-C338-9F88-562130B745E1}"/>
              </a:ext>
            </a:extLst>
          </p:cNvPr>
          <p:cNvSpPr/>
          <p:nvPr/>
        </p:nvSpPr>
        <p:spPr>
          <a:xfrm>
            <a:off x="171900" y="2739906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Resources</a:t>
            </a:r>
          </a:p>
        </p:txBody>
      </p:sp>
      <p:sp>
        <p:nvSpPr>
          <p:cNvPr id="25" name="Cases">
            <a:hlinkClick r:id="rId18" action="ppaction://hlinksldjump"/>
            <a:extLst>
              <a:ext uri="{FF2B5EF4-FFF2-40B4-BE49-F238E27FC236}">
                <a16:creationId xmlns:a16="http://schemas.microsoft.com/office/drawing/2014/main" id="{60290620-E8E9-FBE3-1221-AA955E3B666D}"/>
              </a:ext>
            </a:extLst>
          </p:cNvPr>
          <p:cNvSpPr/>
          <p:nvPr/>
        </p:nvSpPr>
        <p:spPr>
          <a:xfrm>
            <a:off x="171900" y="3268691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26" name="Graphic 25" descr="Cursor with solid fill">
            <a:extLst>
              <a:ext uri="{FF2B5EF4-FFF2-40B4-BE49-F238E27FC236}">
                <a16:creationId xmlns:a16="http://schemas.microsoft.com/office/drawing/2014/main" id="{8FBF8A52-E3B8-4A2E-83E8-4D1D9F166CF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10801" y="3501334"/>
            <a:ext cx="270672" cy="270672"/>
          </a:xfrm>
          <a:prstGeom prst="rect">
            <a:avLst/>
          </a:prstGeom>
        </p:spPr>
      </p:pic>
      <p:pic>
        <p:nvPicPr>
          <p:cNvPr id="28" name="Graphic 27" descr="Cursor with solid fill">
            <a:extLst>
              <a:ext uri="{FF2B5EF4-FFF2-40B4-BE49-F238E27FC236}">
                <a16:creationId xmlns:a16="http://schemas.microsoft.com/office/drawing/2014/main" id="{E44E266A-94CF-5DD7-9979-890F3AC0C2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10801" y="2972549"/>
            <a:ext cx="270672" cy="27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32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isnaming button">
            <a:extLst>
              <a:ext uri="{FF2B5EF4-FFF2-40B4-BE49-F238E27FC236}">
                <a16:creationId xmlns:a16="http://schemas.microsoft.com/office/drawing/2014/main" id="{60DA3A57-9C05-F9DA-209E-B29EEE79C99A}"/>
              </a:ext>
            </a:extLst>
          </p:cNvPr>
          <p:cNvSpPr txBox="1"/>
          <p:nvPr/>
        </p:nvSpPr>
        <p:spPr>
          <a:xfrm>
            <a:off x="5220285" y="4730832"/>
            <a:ext cx="3124019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Mis-naming and Mis-gendering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3DFF9B-E381-4098-162C-E7AC25C6784A}"/>
              </a:ext>
            </a:extLst>
          </p:cNvPr>
          <p:cNvSpPr txBox="1"/>
          <p:nvPr/>
        </p:nvSpPr>
        <p:spPr>
          <a:xfrm>
            <a:off x="5302663" y="5205169"/>
            <a:ext cx="3203982" cy="15542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1113" marR="0" lvl="1" algn="ctr">
              <a:spcBef>
                <a:spcPts val="0"/>
              </a:spcBef>
              <a:spcAft>
                <a:spcPts val="600"/>
              </a:spcAft>
            </a:pP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happens!</a:t>
            </a:r>
          </a:p>
          <a:p>
            <a:pPr marL="354013" marR="0" lvl="1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Recognize</a:t>
            </a:r>
          </a:p>
          <a:p>
            <a:pPr marL="354013" marR="0" lvl="1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Apologize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54013" marR="0" lvl="1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Commit to change</a:t>
            </a:r>
          </a:p>
          <a:p>
            <a:pPr marL="354013" marR="0" lvl="1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Move on</a:t>
            </a:r>
          </a:p>
        </p:txBody>
      </p:sp>
      <p:sp>
        <p:nvSpPr>
          <p:cNvPr id="35" name="name button">
            <a:extLst>
              <a:ext uri="{FF2B5EF4-FFF2-40B4-BE49-F238E27FC236}">
                <a16:creationId xmlns:a16="http://schemas.microsoft.com/office/drawing/2014/main" id="{9B318168-8D4B-BAD1-DECB-7C70088EFD7A}"/>
              </a:ext>
            </a:extLst>
          </p:cNvPr>
          <p:cNvSpPr/>
          <p:nvPr/>
        </p:nvSpPr>
        <p:spPr>
          <a:xfrm>
            <a:off x="2588296" y="229569"/>
            <a:ext cx="1864934" cy="367979"/>
          </a:xfrm>
          <a:prstGeom prst="wedgeRoundRectCallout">
            <a:avLst>
              <a:gd name="adj1" fmla="val -48400"/>
              <a:gd name="adj2" fmla="val 92871"/>
              <a:gd name="adj3" fmla="val 16667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Name?</a:t>
            </a:r>
          </a:p>
        </p:txBody>
      </p:sp>
      <p:pic>
        <p:nvPicPr>
          <p:cNvPr id="30" name="Graphic 29" descr="Cursor with solid fill">
            <a:extLst>
              <a:ext uri="{FF2B5EF4-FFF2-40B4-BE49-F238E27FC236}">
                <a16:creationId xmlns:a16="http://schemas.microsoft.com/office/drawing/2014/main" id="{0C3EBA87-2FC8-4F64-ADBE-1C59F6E67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7893" y="487400"/>
            <a:ext cx="270672" cy="270672"/>
          </a:xfrm>
          <a:prstGeom prst="rect">
            <a:avLst/>
          </a:prstGeom>
        </p:spPr>
      </p:pic>
      <p:sp>
        <p:nvSpPr>
          <p:cNvPr id="36" name="sex button">
            <a:extLst>
              <a:ext uri="{FF2B5EF4-FFF2-40B4-BE49-F238E27FC236}">
                <a16:creationId xmlns:a16="http://schemas.microsoft.com/office/drawing/2014/main" id="{57E52DCC-1DF1-FF38-5794-27C611CBBF86}"/>
              </a:ext>
            </a:extLst>
          </p:cNvPr>
          <p:cNvSpPr/>
          <p:nvPr/>
        </p:nvSpPr>
        <p:spPr>
          <a:xfrm>
            <a:off x="2588296" y="2945428"/>
            <a:ext cx="1864934" cy="367979"/>
          </a:xfrm>
          <a:prstGeom prst="wedgeRoundRectCallout">
            <a:avLst>
              <a:gd name="adj1" fmla="val -48400"/>
              <a:gd name="adj2" fmla="val 92871"/>
              <a:gd name="adj3" fmla="val 16667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Sex?</a:t>
            </a:r>
          </a:p>
        </p:txBody>
      </p:sp>
      <p:pic>
        <p:nvPicPr>
          <p:cNvPr id="37" name="Graphic 36" descr="Cursor with solid fill">
            <a:extLst>
              <a:ext uri="{FF2B5EF4-FFF2-40B4-BE49-F238E27FC236}">
                <a16:creationId xmlns:a16="http://schemas.microsoft.com/office/drawing/2014/main" id="{42F2BD76-00E8-E700-3780-5446A62D5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7893" y="3178071"/>
            <a:ext cx="270672" cy="270672"/>
          </a:xfrm>
          <a:prstGeom prst="rect">
            <a:avLst/>
          </a:prstGeom>
        </p:spPr>
      </p:pic>
      <p:sp>
        <p:nvSpPr>
          <p:cNvPr id="38" name="pronouns button">
            <a:extLst>
              <a:ext uri="{FF2B5EF4-FFF2-40B4-BE49-F238E27FC236}">
                <a16:creationId xmlns:a16="http://schemas.microsoft.com/office/drawing/2014/main" id="{ADCB20C1-D2A9-ACEB-D4E4-3D12314DB722}"/>
              </a:ext>
            </a:extLst>
          </p:cNvPr>
          <p:cNvSpPr/>
          <p:nvPr/>
        </p:nvSpPr>
        <p:spPr>
          <a:xfrm>
            <a:off x="2588296" y="1043932"/>
            <a:ext cx="1864934" cy="367979"/>
          </a:xfrm>
          <a:prstGeom prst="wedgeRoundRectCallout">
            <a:avLst>
              <a:gd name="adj1" fmla="val -48400"/>
              <a:gd name="adj2" fmla="val 92871"/>
              <a:gd name="adj3" fmla="val 16667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Pronouns?</a:t>
            </a:r>
          </a:p>
        </p:txBody>
      </p:sp>
      <p:pic>
        <p:nvPicPr>
          <p:cNvPr id="39" name="Graphic 38" descr="Cursor with solid fill">
            <a:extLst>
              <a:ext uri="{FF2B5EF4-FFF2-40B4-BE49-F238E27FC236}">
                <a16:creationId xmlns:a16="http://schemas.microsoft.com/office/drawing/2014/main" id="{3C52C81E-19D3-A186-DC62-2EC8A4F50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7893" y="1273034"/>
            <a:ext cx="270672" cy="270672"/>
          </a:xfrm>
          <a:prstGeom prst="rect">
            <a:avLst/>
          </a:prstGeom>
        </p:spPr>
      </p:pic>
      <p:sp>
        <p:nvSpPr>
          <p:cNvPr id="40" name="gender button">
            <a:extLst>
              <a:ext uri="{FF2B5EF4-FFF2-40B4-BE49-F238E27FC236}">
                <a16:creationId xmlns:a16="http://schemas.microsoft.com/office/drawing/2014/main" id="{FC941AB4-CBC4-CA4D-24EA-6D3DF0602545}"/>
              </a:ext>
            </a:extLst>
          </p:cNvPr>
          <p:cNvSpPr/>
          <p:nvPr/>
        </p:nvSpPr>
        <p:spPr>
          <a:xfrm>
            <a:off x="2573080" y="1990238"/>
            <a:ext cx="1864934" cy="367979"/>
          </a:xfrm>
          <a:prstGeom prst="wedgeRoundRectCallout">
            <a:avLst>
              <a:gd name="adj1" fmla="val -48400"/>
              <a:gd name="adj2" fmla="val 92871"/>
              <a:gd name="adj3" fmla="val 16667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Gender?</a:t>
            </a:r>
          </a:p>
        </p:txBody>
      </p:sp>
      <p:pic>
        <p:nvPicPr>
          <p:cNvPr id="41" name="Graphic 40" descr="Cursor with solid fill">
            <a:extLst>
              <a:ext uri="{FF2B5EF4-FFF2-40B4-BE49-F238E27FC236}">
                <a16:creationId xmlns:a16="http://schemas.microsoft.com/office/drawing/2014/main" id="{203B539B-BFF9-AE01-47A3-33B9F4EAE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2677" y="2222881"/>
            <a:ext cx="270672" cy="270672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E6766D98-4BD8-E6D8-8797-58530ECF6FF5}"/>
              </a:ext>
            </a:extLst>
          </p:cNvPr>
          <p:cNvSpPr txBox="1"/>
          <p:nvPr/>
        </p:nvSpPr>
        <p:spPr>
          <a:xfrm>
            <a:off x="4855840" y="234239"/>
            <a:ext cx="52497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What name do you go by? (Avoid ‘deadnaming’)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12033F-AF22-B58D-F152-385006D6A71D}"/>
              </a:ext>
            </a:extLst>
          </p:cNvPr>
          <p:cNvSpPr txBox="1"/>
          <p:nvPr/>
        </p:nvSpPr>
        <p:spPr>
          <a:xfrm>
            <a:off x="4821166" y="1081875"/>
            <a:ext cx="637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What pronouns do you use?</a:t>
            </a:r>
            <a:endParaRPr lang="en-US" sz="16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3296B0-A668-DA63-615E-DFD429EA6D67}"/>
              </a:ext>
            </a:extLst>
          </p:cNvPr>
          <p:cNvSpPr txBox="1"/>
          <p:nvPr/>
        </p:nvSpPr>
        <p:spPr>
          <a:xfrm>
            <a:off x="7603437" y="804771"/>
            <a:ext cx="30913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He/him/his</a:t>
            </a:r>
          </a:p>
          <a:p>
            <a:r>
              <a:rPr lang="en-US" sz="1600" dirty="0">
                <a:solidFill>
                  <a:schemeClr val="tx1"/>
                </a:solidFill>
              </a:rPr>
              <a:t>She/her/hers</a:t>
            </a:r>
          </a:p>
          <a:p>
            <a:r>
              <a:rPr lang="en-US" sz="1600" dirty="0">
                <a:solidFill>
                  <a:schemeClr val="tx1"/>
                </a:solidFill>
              </a:rPr>
              <a:t>They/them/theirs</a:t>
            </a:r>
          </a:p>
          <a:p>
            <a:r>
              <a:rPr lang="en-US" sz="1600" dirty="0">
                <a:solidFill>
                  <a:schemeClr val="tx1"/>
                </a:solidFill>
              </a:rPr>
              <a:t>Alternate - </a:t>
            </a:r>
            <a:r>
              <a:rPr lang="en-US" sz="16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Ze, Zim, </a:t>
            </a:r>
            <a:r>
              <a:rPr lang="en-US" sz="1600" dirty="0" err="1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Zirs</a:t>
            </a:r>
            <a:r>
              <a:rPr lang="en-US" sz="16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etc.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484C2A-D721-2FBB-A997-5EB8B792F6BD}"/>
              </a:ext>
            </a:extLst>
          </p:cNvPr>
          <p:cNvSpPr txBox="1"/>
          <p:nvPr/>
        </p:nvSpPr>
        <p:spPr>
          <a:xfrm>
            <a:off x="4821166" y="2006602"/>
            <a:ext cx="63703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How would you describe your current gender identity?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18425D-8958-D868-079D-CE0E31A57621}"/>
              </a:ext>
            </a:extLst>
          </p:cNvPr>
          <p:cNvSpPr txBox="1"/>
          <p:nvPr/>
        </p:nvSpPr>
        <p:spPr>
          <a:xfrm>
            <a:off x="4836382" y="2858573"/>
            <a:ext cx="66029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What sex was assigned to you at birth? (What was marked on your birth certificate?)</a:t>
            </a:r>
            <a:endParaRPr lang="en-US" sz="1600" dirty="0"/>
          </a:p>
        </p:txBody>
      </p:sp>
      <p:pic>
        <p:nvPicPr>
          <p:cNvPr id="53" name="Graphic 52" descr="Cursor with solid fill">
            <a:extLst>
              <a:ext uri="{FF2B5EF4-FFF2-40B4-BE49-F238E27FC236}">
                <a16:creationId xmlns:a16="http://schemas.microsoft.com/office/drawing/2014/main" id="{65FBD0BE-1D8D-37A0-EC7D-4F60F296C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3632" y="5150214"/>
            <a:ext cx="270672" cy="270672"/>
          </a:xfrm>
          <a:prstGeom prst="rect">
            <a:avLst/>
          </a:prstGeom>
        </p:spPr>
      </p:pic>
      <p:sp>
        <p:nvSpPr>
          <p:cNvPr id="56" name="Obj 1">
            <a:hlinkClick r:id="rId4" action="ppaction://hlinksldjump"/>
            <a:extLst>
              <a:ext uri="{FF2B5EF4-FFF2-40B4-BE49-F238E27FC236}">
                <a16:creationId xmlns:a16="http://schemas.microsoft.com/office/drawing/2014/main" id="{40F56F9E-8918-405A-EA5A-55C50CD0CC77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Terminology</a:t>
            </a:r>
          </a:p>
        </p:txBody>
      </p:sp>
      <p:pic>
        <p:nvPicPr>
          <p:cNvPr id="58" name="Graphic 57" descr="Cursor with solid fill">
            <a:extLst>
              <a:ext uri="{FF2B5EF4-FFF2-40B4-BE49-F238E27FC236}">
                <a16:creationId xmlns:a16="http://schemas.microsoft.com/office/drawing/2014/main" id="{4A254DF6-0D21-A158-72A1-7D2BE0446A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6851" y="381235"/>
            <a:ext cx="270672" cy="270672"/>
          </a:xfrm>
          <a:prstGeom prst="rect">
            <a:avLst/>
          </a:prstGeom>
        </p:spPr>
      </p:pic>
      <p:sp>
        <p:nvSpPr>
          <p:cNvPr id="68" name="Obj 1">
            <a:hlinkClick r:id="rId4" action="ppaction://hlinksldjump"/>
            <a:extLst>
              <a:ext uri="{FF2B5EF4-FFF2-40B4-BE49-F238E27FC236}">
                <a16:creationId xmlns:a16="http://schemas.microsoft.com/office/drawing/2014/main" id="{C967E3FC-6524-EE93-F7ED-54FAE6020DA6}"/>
              </a:ext>
            </a:extLst>
          </p:cNvPr>
          <p:cNvSpPr/>
          <p:nvPr/>
        </p:nvSpPr>
        <p:spPr>
          <a:xfrm>
            <a:off x="340055" y="656073"/>
            <a:ext cx="1302133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How to ask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AF45BB93-9A32-B526-3EB1-93F05918DB69}"/>
              </a:ext>
            </a:extLst>
          </p:cNvPr>
          <p:cNvCxnSpPr>
            <a:cxnSpLocks/>
            <a:endCxn id="68" idx="1"/>
          </p:cNvCxnSpPr>
          <p:nvPr/>
        </p:nvCxnSpPr>
        <p:spPr>
          <a:xfrm rot="16200000" flipH="1">
            <a:off x="115438" y="615445"/>
            <a:ext cx="323493" cy="1257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sex button">
            <a:extLst>
              <a:ext uri="{FF2B5EF4-FFF2-40B4-BE49-F238E27FC236}">
                <a16:creationId xmlns:a16="http://schemas.microsoft.com/office/drawing/2014/main" id="{4F03DA55-5901-EB23-ADB7-12E11A2CC726}"/>
              </a:ext>
            </a:extLst>
          </p:cNvPr>
          <p:cNvSpPr/>
          <p:nvPr/>
        </p:nvSpPr>
        <p:spPr>
          <a:xfrm>
            <a:off x="2573080" y="3877370"/>
            <a:ext cx="1864934" cy="367979"/>
          </a:xfrm>
          <a:prstGeom prst="wedgeRoundRectCallout">
            <a:avLst>
              <a:gd name="adj1" fmla="val -48400"/>
              <a:gd name="adj2" fmla="val 92871"/>
              <a:gd name="adj3" fmla="val 16667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Organ inventory?</a:t>
            </a:r>
          </a:p>
        </p:txBody>
      </p:sp>
      <p:pic>
        <p:nvPicPr>
          <p:cNvPr id="3" name="Graphic 2" descr="Cursor with solid fill">
            <a:extLst>
              <a:ext uri="{FF2B5EF4-FFF2-40B4-BE49-F238E27FC236}">
                <a16:creationId xmlns:a16="http://schemas.microsoft.com/office/drawing/2014/main" id="{30EC7B57-5A4A-6A6B-FCD3-7568FFE81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2677" y="4110013"/>
            <a:ext cx="270672" cy="2706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558505-C5FD-5D51-06D3-4A89AE487A8F}"/>
              </a:ext>
            </a:extLst>
          </p:cNvPr>
          <p:cNvSpPr txBox="1"/>
          <p:nvPr/>
        </p:nvSpPr>
        <p:spPr>
          <a:xfrm>
            <a:off x="4821165" y="3783300"/>
            <a:ext cx="7202884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/>
              <a:t>What organs do you have or what you’ve had removed as a part of your transition?</a:t>
            </a:r>
          </a:p>
          <a:p>
            <a:r>
              <a:rPr lang="en-US" sz="1600" dirty="0"/>
              <a:t>Do you still have a cervix or not? And is that a word you’re comfortable with?</a:t>
            </a:r>
          </a:p>
        </p:txBody>
      </p:sp>
      <p:sp>
        <p:nvSpPr>
          <p:cNvPr id="17" name="Obj 2">
            <a:hlinkClick r:id="rId5" action="ppaction://hlinksldjump"/>
            <a:extLst>
              <a:ext uri="{FF2B5EF4-FFF2-40B4-BE49-F238E27FC236}">
                <a16:creationId xmlns:a16="http://schemas.microsoft.com/office/drawing/2014/main" id="{FDBE8225-3C3B-41FF-0B5C-CC9A6A2B8E41}"/>
              </a:ext>
            </a:extLst>
          </p:cNvPr>
          <p:cNvSpPr/>
          <p:nvPr/>
        </p:nvSpPr>
        <p:spPr>
          <a:xfrm>
            <a:off x="171900" y="1159391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Evaluation</a:t>
            </a:r>
          </a:p>
        </p:txBody>
      </p:sp>
      <p:pic>
        <p:nvPicPr>
          <p:cNvPr id="18" name="Graphic 17" descr="Cursor with solid fill">
            <a:extLst>
              <a:ext uri="{FF2B5EF4-FFF2-40B4-BE49-F238E27FC236}">
                <a16:creationId xmlns:a16="http://schemas.microsoft.com/office/drawing/2014/main" id="{DFF48256-293D-FE04-6F9F-9F9F337A7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0801" y="1392037"/>
            <a:ext cx="270672" cy="270672"/>
          </a:xfrm>
          <a:prstGeom prst="rect">
            <a:avLst/>
          </a:prstGeom>
        </p:spPr>
      </p:pic>
      <p:sp>
        <p:nvSpPr>
          <p:cNvPr id="19" name="Obj 3">
            <a:hlinkClick r:id="rId6" action="ppaction://hlinksldjump"/>
            <a:extLst>
              <a:ext uri="{FF2B5EF4-FFF2-40B4-BE49-F238E27FC236}">
                <a16:creationId xmlns:a16="http://schemas.microsoft.com/office/drawing/2014/main" id="{CCE94BD4-7A9B-A0A9-3776-853223C48311}"/>
              </a:ext>
            </a:extLst>
          </p:cNvPr>
          <p:cNvSpPr/>
          <p:nvPr/>
        </p:nvSpPr>
        <p:spPr>
          <a:xfrm>
            <a:off x="171900" y="1685256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Therapies</a:t>
            </a:r>
          </a:p>
        </p:txBody>
      </p:sp>
      <p:pic>
        <p:nvPicPr>
          <p:cNvPr id="20" name="Graphic 19" descr="Cursor with solid fill">
            <a:extLst>
              <a:ext uri="{FF2B5EF4-FFF2-40B4-BE49-F238E27FC236}">
                <a16:creationId xmlns:a16="http://schemas.microsoft.com/office/drawing/2014/main" id="{057B7047-DE50-4028-70BD-5345C78D26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0801" y="1917902"/>
            <a:ext cx="270672" cy="270672"/>
          </a:xfrm>
          <a:prstGeom prst="rect">
            <a:avLst/>
          </a:prstGeom>
        </p:spPr>
      </p:pic>
      <p:sp>
        <p:nvSpPr>
          <p:cNvPr id="21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CF8DEF7C-73DC-6770-3CB8-B9B3A562209B}"/>
              </a:ext>
            </a:extLst>
          </p:cNvPr>
          <p:cNvSpPr/>
          <p:nvPr/>
        </p:nvSpPr>
        <p:spPr>
          <a:xfrm>
            <a:off x="171900" y="2211121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FAQs</a:t>
            </a:r>
          </a:p>
        </p:txBody>
      </p:sp>
      <p:pic>
        <p:nvPicPr>
          <p:cNvPr id="22" name="Graphic 21" descr="Cursor with solid fill">
            <a:extLst>
              <a:ext uri="{FF2B5EF4-FFF2-40B4-BE49-F238E27FC236}">
                <a16:creationId xmlns:a16="http://schemas.microsoft.com/office/drawing/2014/main" id="{BA24722C-DD00-D223-CC23-645AA79D2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0801" y="2443764"/>
            <a:ext cx="270672" cy="270672"/>
          </a:xfrm>
          <a:prstGeom prst="rect">
            <a:avLst/>
          </a:prstGeom>
        </p:spPr>
      </p:pic>
      <p:sp>
        <p:nvSpPr>
          <p:cNvPr id="23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36EC12A7-2BF3-9322-F948-AA7189FAD8CD}"/>
              </a:ext>
            </a:extLst>
          </p:cNvPr>
          <p:cNvSpPr/>
          <p:nvPr/>
        </p:nvSpPr>
        <p:spPr>
          <a:xfrm>
            <a:off x="171900" y="2739906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Resources</a:t>
            </a:r>
          </a:p>
        </p:txBody>
      </p:sp>
      <p:sp>
        <p:nvSpPr>
          <p:cNvPr id="24" name="Cases">
            <a:hlinkClick r:id="rId9" action="ppaction://hlinksldjump"/>
            <a:extLst>
              <a:ext uri="{FF2B5EF4-FFF2-40B4-BE49-F238E27FC236}">
                <a16:creationId xmlns:a16="http://schemas.microsoft.com/office/drawing/2014/main" id="{AFDB6EB7-9920-BD2F-FBD5-99D4ACF78805}"/>
              </a:ext>
            </a:extLst>
          </p:cNvPr>
          <p:cNvSpPr/>
          <p:nvPr/>
        </p:nvSpPr>
        <p:spPr>
          <a:xfrm>
            <a:off x="171900" y="3268691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F7B0DB32-903E-7639-5B80-7716597FB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0801" y="3501334"/>
            <a:ext cx="270672" cy="270672"/>
          </a:xfrm>
          <a:prstGeom prst="rect">
            <a:avLst/>
          </a:prstGeom>
        </p:spPr>
      </p:pic>
      <p:pic>
        <p:nvPicPr>
          <p:cNvPr id="26" name="Graphic 25" descr="Cursor with solid fill">
            <a:extLst>
              <a:ext uri="{FF2B5EF4-FFF2-40B4-BE49-F238E27FC236}">
                <a16:creationId xmlns:a16="http://schemas.microsoft.com/office/drawing/2014/main" id="{4BDDFA1D-FA22-ACD6-90D4-9F1F4B668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0801" y="2972549"/>
            <a:ext cx="270672" cy="27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069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27" grpId="0" animBg="1"/>
      <p:bldP spid="28" grpId="0"/>
      <p:bldP spid="43" grpId="0"/>
      <p:bldP spid="45" grpId="0"/>
      <p:bldP spid="47" grpId="0"/>
      <p:bldP spid="49" grpId="0"/>
      <p:bldP spid="52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Gender Symbol | Gender Wiki | Fandom">
            <a:extLst>
              <a:ext uri="{FF2B5EF4-FFF2-40B4-BE49-F238E27FC236}">
                <a16:creationId xmlns:a16="http://schemas.microsoft.com/office/drawing/2014/main" id="{7C1AF0CE-7CE4-2232-D7EA-1675B5438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6994" y="583010"/>
            <a:ext cx="595882" cy="668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ysphoria">
            <a:extLst>
              <a:ext uri="{FF2B5EF4-FFF2-40B4-BE49-F238E27FC236}">
                <a16:creationId xmlns:a16="http://schemas.microsoft.com/office/drawing/2014/main" id="{2E305FE9-F1D4-C2C6-FBE3-4E2189388A3A}"/>
              </a:ext>
            </a:extLst>
          </p:cNvPr>
          <p:cNvSpPr txBox="1"/>
          <p:nvPr/>
        </p:nvSpPr>
        <p:spPr>
          <a:xfrm>
            <a:off x="3644149" y="583010"/>
            <a:ext cx="2029287" cy="71508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/>
              <a:t>Diagnosing Gender Dysphoria</a:t>
            </a:r>
          </a:p>
        </p:txBody>
      </p:sp>
      <p:sp>
        <p:nvSpPr>
          <p:cNvPr id="6" name="Treatment">
            <a:extLst>
              <a:ext uri="{FF2B5EF4-FFF2-40B4-BE49-F238E27FC236}">
                <a16:creationId xmlns:a16="http://schemas.microsoft.com/office/drawing/2014/main" id="{A30F799E-6A28-1BC9-24A9-856D901EB967}"/>
              </a:ext>
            </a:extLst>
          </p:cNvPr>
          <p:cNvSpPr txBox="1"/>
          <p:nvPr/>
        </p:nvSpPr>
        <p:spPr>
          <a:xfrm>
            <a:off x="3644149" y="3867746"/>
            <a:ext cx="2029287" cy="71508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b="1" dirty="0"/>
              <a:t>Treatment Options</a:t>
            </a:r>
          </a:p>
        </p:txBody>
      </p:sp>
      <p:sp>
        <p:nvSpPr>
          <p:cNvPr id="7" name="Monitoring">
            <a:extLst>
              <a:ext uri="{FF2B5EF4-FFF2-40B4-BE49-F238E27FC236}">
                <a16:creationId xmlns:a16="http://schemas.microsoft.com/office/drawing/2014/main" id="{EB088A45-369E-4741-6EAA-22C2393A6C43}"/>
              </a:ext>
            </a:extLst>
          </p:cNvPr>
          <p:cNvSpPr txBox="1"/>
          <p:nvPr/>
        </p:nvSpPr>
        <p:spPr>
          <a:xfrm>
            <a:off x="3644148" y="5510118"/>
            <a:ext cx="2029287" cy="71508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b="1" dirty="0"/>
              <a:t>Monitoring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38B0A-4493-11CC-D85D-9474D0F9FB71}"/>
              </a:ext>
            </a:extLst>
          </p:cNvPr>
          <p:cNvSpPr txBox="1"/>
          <p:nvPr/>
        </p:nvSpPr>
        <p:spPr>
          <a:xfrm>
            <a:off x="5972877" y="497060"/>
            <a:ext cx="7081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Diagnosis of gender dysphoria (can be made by a generalist!)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Gender incongruence is not pathological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Mental health considerations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A0BC85-3536-C94D-E544-CA258F07ACFC}"/>
              </a:ext>
            </a:extLst>
          </p:cNvPr>
          <p:cNvSpPr txBox="1"/>
          <p:nvPr/>
        </p:nvSpPr>
        <p:spPr>
          <a:xfrm>
            <a:off x="5994050" y="1982758"/>
            <a:ext cx="62240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Assess for contraindications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Expectations, changes, and side effects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Fertility counseling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4A7AA5-84EF-E464-B011-0E3DA54801F4}"/>
              </a:ext>
            </a:extLst>
          </p:cNvPr>
          <p:cNvSpPr txBox="1"/>
          <p:nvPr/>
        </p:nvSpPr>
        <p:spPr>
          <a:xfrm>
            <a:off x="5972877" y="3532335"/>
            <a:ext cx="49503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Patient goals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Gender affirming hormone therapy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Gender affirming surgery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Vocal therapy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Mental health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A2FFBE-9A84-8E84-2FD1-24A70CF517FB}"/>
              </a:ext>
            </a:extLst>
          </p:cNvPr>
          <p:cNvSpPr txBox="1"/>
          <p:nvPr/>
        </p:nvSpPr>
        <p:spPr>
          <a:xfrm>
            <a:off x="5972877" y="5405998"/>
            <a:ext cx="44599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Role of medical home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Medical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Interdisciplinary care</a:t>
            </a:r>
          </a:p>
        </p:txBody>
      </p:sp>
      <p:pic>
        <p:nvPicPr>
          <p:cNvPr id="3076" name="Picture 4" descr="Consent Stock Illustrations – 6,234 Consent Stock Illustrations, Vectors &amp;  Clipart - Dreamstime">
            <a:extLst>
              <a:ext uri="{FF2B5EF4-FFF2-40B4-BE49-F238E27FC236}">
                <a16:creationId xmlns:a16="http://schemas.microsoft.com/office/drawing/2014/main" id="{A4EEC99A-F82A-A835-4D4B-6476563FC3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088"/>
          <a:stretch/>
        </p:blipFill>
        <p:spPr bwMode="auto">
          <a:xfrm>
            <a:off x="2570463" y="2133967"/>
            <a:ext cx="1035151" cy="80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onsent">
            <a:extLst>
              <a:ext uri="{FF2B5EF4-FFF2-40B4-BE49-F238E27FC236}">
                <a16:creationId xmlns:a16="http://schemas.microsoft.com/office/drawing/2014/main" id="{9AFA4C98-3FFB-8A55-4B0A-FFC9600DF7E9}"/>
              </a:ext>
            </a:extLst>
          </p:cNvPr>
          <p:cNvSpPr txBox="1"/>
          <p:nvPr/>
        </p:nvSpPr>
        <p:spPr>
          <a:xfrm>
            <a:off x="3644149" y="2225379"/>
            <a:ext cx="2029287" cy="71508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b="1" dirty="0"/>
              <a:t>Informed Consent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CDFD853E-79F3-58FB-196E-15E0376A1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967" y="584790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 descr="A close-up of a test tube&#10;&#10;Description automatically generated">
            <a:extLst>
              <a:ext uri="{FF2B5EF4-FFF2-40B4-BE49-F238E27FC236}">
                <a16:creationId xmlns:a16="http://schemas.microsoft.com/office/drawing/2014/main" id="{C6A51EE6-0CA3-184D-FFA4-F492EC188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71" t="19333" r="34516" b="50271"/>
          <a:stretch>
            <a:fillRect/>
          </a:stretch>
        </p:blipFill>
        <p:spPr bwMode="auto">
          <a:xfrm rot="446281">
            <a:off x="2700423" y="3926912"/>
            <a:ext cx="958773" cy="68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2">
            <a:extLst>
              <a:ext uri="{FF2B5EF4-FFF2-40B4-BE49-F238E27FC236}">
                <a16:creationId xmlns:a16="http://schemas.microsoft.com/office/drawing/2014/main" id="{B749F256-8B0F-214D-C37A-89FA52ABD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6187" y="5830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9" name="Picture 1" descr="A close-up of a test tube">
            <a:extLst>
              <a:ext uri="{FF2B5EF4-FFF2-40B4-BE49-F238E27FC236}">
                <a16:creationId xmlns:a16="http://schemas.microsoft.com/office/drawing/2014/main" id="{6B6B890A-0B74-6800-645F-8A7C15EDDE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71" t="57937" r="52124" b="4934"/>
          <a:stretch>
            <a:fillRect/>
          </a:stretch>
        </p:blipFill>
        <p:spPr bwMode="auto">
          <a:xfrm>
            <a:off x="2956703" y="5405998"/>
            <a:ext cx="270484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Graphic 19" descr="Cursor with solid fill">
            <a:extLst>
              <a:ext uri="{FF2B5EF4-FFF2-40B4-BE49-F238E27FC236}">
                <a16:creationId xmlns:a16="http://schemas.microsoft.com/office/drawing/2014/main" id="{3DEC0481-F065-2147-1D52-9AF27B9B41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38100" y="1172923"/>
            <a:ext cx="270672" cy="270672"/>
          </a:xfrm>
          <a:prstGeom prst="rect">
            <a:avLst/>
          </a:prstGeom>
        </p:spPr>
      </p:pic>
      <p:pic>
        <p:nvPicPr>
          <p:cNvPr id="21" name="Graphic 20" descr="Cursor with solid fill">
            <a:extLst>
              <a:ext uri="{FF2B5EF4-FFF2-40B4-BE49-F238E27FC236}">
                <a16:creationId xmlns:a16="http://schemas.microsoft.com/office/drawing/2014/main" id="{0D89C010-E87C-CD12-392E-8239EF8219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38100" y="2792092"/>
            <a:ext cx="270672" cy="270672"/>
          </a:xfrm>
          <a:prstGeom prst="rect">
            <a:avLst/>
          </a:prstGeom>
        </p:spPr>
      </p:pic>
      <p:pic>
        <p:nvPicPr>
          <p:cNvPr id="22" name="Graphic 21" descr="Cursor with solid fill">
            <a:extLst>
              <a:ext uri="{FF2B5EF4-FFF2-40B4-BE49-F238E27FC236}">
                <a16:creationId xmlns:a16="http://schemas.microsoft.com/office/drawing/2014/main" id="{DA5C2E39-70A1-A123-0A49-DF44490786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38100" y="4411261"/>
            <a:ext cx="270672" cy="270672"/>
          </a:xfrm>
          <a:prstGeom prst="rect">
            <a:avLst/>
          </a:prstGeom>
        </p:spPr>
      </p:pic>
      <p:pic>
        <p:nvPicPr>
          <p:cNvPr id="23" name="Graphic 22" descr="Cursor with solid fill">
            <a:extLst>
              <a:ext uri="{FF2B5EF4-FFF2-40B4-BE49-F238E27FC236}">
                <a16:creationId xmlns:a16="http://schemas.microsoft.com/office/drawing/2014/main" id="{58ACDC07-1FB1-E267-2D82-2E8BF52FFB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38100" y="6076829"/>
            <a:ext cx="270672" cy="270672"/>
          </a:xfrm>
          <a:prstGeom prst="rect">
            <a:avLst/>
          </a:prstGeom>
        </p:spPr>
      </p:pic>
      <p:sp>
        <p:nvSpPr>
          <p:cNvPr id="2" name="Obj 1">
            <a:hlinkClick r:id="rId8" action="ppaction://hlinksldjump"/>
            <a:extLst>
              <a:ext uri="{FF2B5EF4-FFF2-40B4-BE49-F238E27FC236}">
                <a16:creationId xmlns:a16="http://schemas.microsoft.com/office/drawing/2014/main" id="{04BB7527-1FFF-052D-5504-CE0DEA66B323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Terminology</a:t>
            </a:r>
          </a:p>
        </p:txBody>
      </p:sp>
      <p:sp>
        <p:nvSpPr>
          <p:cNvPr id="3" name="Obj 2">
            <a:hlinkClick r:id="rId9" action="ppaction://hlinksldjump"/>
            <a:extLst>
              <a:ext uri="{FF2B5EF4-FFF2-40B4-BE49-F238E27FC236}">
                <a16:creationId xmlns:a16="http://schemas.microsoft.com/office/drawing/2014/main" id="{D2AC1E85-F702-2195-855B-E7EB5DF071D4}"/>
              </a:ext>
            </a:extLst>
          </p:cNvPr>
          <p:cNvSpPr/>
          <p:nvPr/>
        </p:nvSpPr>
        <p:spPr>
          <a:xfrm>
            <a:off x="167950" y="674454"/>
            <a:ext cx="1474237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Evaluation</a:t>
            </a:r>
          </a:p>
        </p:txBody>
      </p:sp>
      <p:pic>
        <p:nvPicPr>
          <p:cNvPr id="5" name="Graphic 4" descr="Cursor with solid fill">
            <a:extLst>
              <a:ext uri="{FF2B5EF4-FFF2-40B4-BE49-F238E27FC236}">
                <a16:creationId xmlns:a16="http://schemas.microsoft.com/office/drawing/2014/main" id="{AAEF70AB-7145-BDB3-9E98-92A6938194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06851" y="381235"/>
            <a:ext cx="270672" cy="270672"/>
          </a:xfrm>
          <a:prstGeom prst="rect">
            <a:avLst/>
          </a:prstGeom>
        </p:spPr>
      </p:pic>
      <p:sp>
        <p:nvSpPr>
          <p:cNvPr id="9" name="Obj 3">
            <a:hlinkClick r:id="rId10" action="ppaction://hlinksldjump"/>
            <a:extLst>
              <a:ext uri="{FF2B5EF4-FFF2-40B4-BE49-F238E27FC236}">
                <a16:creationId xmlns:a16="http://schemas.microsoft.com/office/drawing/2014/main" id="{99757109-1FD1-B9FA-1572-2380AAF80155}"/>
              </a:ext>
            </a:extLst>
          </p:cNvPr>
          <p:cNvSpPr/>
          <p:nvPr/>
        </p:nvSpPr>
        <p:spPr>
          <a:xfrm>
            <a:off x="167950" y="120031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Therapies</a:t>
            </a:r>
          </a:p>
        </p:txBody>
      </p:sp>
      <p:pic>
        <p:nvPicPr>
          <p:cNvPr id="10" name="Graphic 9" descr="Cursor with solid fill">
            <a:extLst>
              <a:ext uri="{FF2B5EF4-FFF2-40B4-BE49-F238E27FC236}">
                <a16:creationId xmlns:a16="http://schemas.microsoft.com/office/drawing/2014/main" id="{E1D4A47F-BC15-A793-EAAD-A38551FD7F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06851" y="1432965"/>
            <a:ext cx="270672" cy="270672"/>
          </a:xfrm>
          <a:prstGeom prst="rect">
            <a:avLst/>
          </a:prstGeom>
        </p:spPr>
      </p:pic>
      <p:sp>
        <p:nvSpPr>
          <p:cNvPr id="11" name="Cases">
            <a:hlinkClick r:id="rId11" action="ppaction://hlinksldjump"/>
            <a:extLst>
              <a:ext uri="{FF2B5EF4-FFF2-40B4-BE49-F238E27FC236}">
                <a16:creationId xmlns:a16="http://schemas.microsoft.com/office/drawing/2014/main" id="{43612CA3-07BA-69C5-521E-F6EF8A8EC302}"/>
              </a:ext>
            </a:extLst>
          </p:cNvPr>
          <p:cNvSpPr/>
          <p:nvPr/>
        </p:nvSpPr>
        <p:spPr>
          <a:xfrm>
            <a:off x="167950" y="172618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FAQs</a:t>
            </a:r>
          </a:p>
        </p:txBody>
      </p:sp>
      <p:pic>
        <p:nvPicPr>
          <p:cNvPr id="24" name="Graphic 23" descr="Cursor with solid fill">
            <a:extLst>
              <a:ext uri="{FF2B5EF4-FFF2-40B4-BE49-F238E27FC236}">
                <a16:creationId xmlns:a16="http://schemas.microsoft.com/office/drawing/2014/main" id="{918171D6-6697-5A64-9081-F0E76D8169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06851" y="1958827"/>
            <a:ext cx="270672" cy="270672"/>
          </a:xfrm>
          <a:prstGeom prst="rect">
            <a:avLst/>
          </a:prstGeom>
        </p:spPr>
      </p:pic>
      <p:sp>
        <p:nvSpPr>
          <p:cNvPr id="25" name="Cases">
            <a:hlinkClick r:id="rId12" action="ppaction://hlinksldjump"/>
            <a:extLst>
              <a:ext uri="{FF2B5EF4-FFF2-40B4-BE49-F238E27FC236}">
                <a16:creationId xmlns:a16="http://schemas.microsoft.com/office/drawing/2014/main" id="{80228114-BE11-A255-C2B5-898E2A7ECB22}"/>
              </a:ext>
            </a:extLst>
          </p:cNvPr>
          <p:cNvSpPr/>
          <p:nvPr/>
        </p:nvSpPr>
        <p:spPr>
          <a:xfrm>
            <a:off x="167950" y="225496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Resources</a:t>
            </a:r>
          </a:p>
        </p:txBody>
      </p:sp>
      <p:sp>
        <p:nvSpPr>
          <p:cNvPr id="26" name="Cases">
            <a:hlinkClick r:id="rId13" action="ppaction://hlinksldjump"/>
            <a:extLst>
              <a:ext uri="{FF2B5EF4-FFF2-40B4-BE49-F238E27FC236}">
                <a16:creationId xmlns:a16="http://schemas.microsoft.com/office/drawing/2014/main" id="{C03E8DB7-31CF-EF9A-A50B-4C2CD243D86A}"/>
              </a:ext>
            </a:extLst>
          </p:cNvPr>
          <p:cNvSpPr/>
          <p:nvPr/>
        </p:nvSpPr>
        <p:spPr>
          <a:xfrm>
            <a:off x="167950" y="278375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27" name="Graphic 26" descr="Cursor with solid fill">
            <a:extLst>
              <a:ext uri="{FF2B5EF4-FFF2-40B4-BE49-F238E27FC236}">
                <a16:creationId xmlns:a16="http://schemas.microsoft.com/office/drawing/2014/main" id="{B7ABDC66-4BA5-FF9D-0D28-45BDF29EAD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06851" y="3016397"/>
            <a:ext cx="270672" cy="270672"/>
          </a:xfrm>
          <a:prstGeom prst="rect">
            <a:avLst/>
          </a:prstGeom>
        </p:spPr>
      </p:pic>
      <p:pic>
        <p:nvPicPr>
          <p:cNvPr id="28" name="Graphic 27" descr="Cursor with solid fill">
            <a:extLst>
              <a:ext uri="{FF2B5EF4-FFF2-40B4-BE49-F238E27FC236}">
                <a16:creationId xmlns:a16="http://schemas.microsoft.com/office/drawing/2014/main" id="{B3DD5E9E-9849-C792-EEBB-D5BAA4851E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06851" y="2487612"/>
            <a:ext cx="270672" cy="2706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A0C51F-816E-8434-2005-283DF0D8502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49831" y="958725"/>
            <a:ext cx="932560" cy="92634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63E20EB-28FE-D351-B06E-F3DD4C6CB9BC}"/>
              </a:ext>
            </a:extLst>
          </p:cNvPr>
          <p:cNvSpPr txBox="1"/>
          <p:nvPr/>
        </p:nvSpPr>
        <p:spPr>
          <a:xfrm>
            <a:off x="10025299" y="1885068"/>
            <a:ext cx="1998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DSM criteria for gender dysphoria</a:t>
            </a:r>
          </a:p>
        </p:txBody>
      </p:sp>
    </p:spTree>
    <p:extLst>
      <p:ext uri="{BB962C8B-B14F-4D97-AF65-F5344CB8AC3E}">
        <p14:creationId xmlns:p14="http://schemas.microsoft.com/office/powerpoint/2010/main" val="125792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A blue and black balance scale&#10;&#10;Description automatically generated">
            <a:extLst>
              <a:ext uri="{FF2B5EF4-FFF2-40B4-BE49-F238E27FC236}">
                <a16:creationId xmlns:a16="http://schemas.microsoft.com/office/drawing/2014/main" id="{4BAF1F34-3DD8-639E-859A-ABC389B60B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44" t="13392" r="13882" b="19623"/>
          <a:stretch>
            <a:fillRect/>
          </a:stretch>
        </p:blipFill>
        <p:spPr bwMode="auto">
          <a:xfrm>
            <a:off x="4209014" y="46781"/>
            <a:ext cx="4837010" cy="3728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sculinizing button">
            <a:extLst>
              <a:ext uri="{FF2B5EF4-FFF2-40B4-BE49-F238E27FC236}">
                <a16:creationId xmlns:a16="http://schemas.microsoft.com/office/drawing/2014/main" id="{1274E38A-4CC7-E88C-01EB-FE8E92294704}"/>
              </a:ext>
            </a:extLst>
          </p:cNvPr>
          <p:cNvSpPr txBox="1"/>
          <p:nvPr/>
        </p:nvSpPr>
        <p:spPr>
          <a:xfrm>
            <a:off x="6717461" y="4727693"/>
            <a:ext cx="362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Masculinizing Hormones</a:t>
            </a:r>
          </a:p>
        </p:txBody>
      </p:sp>
      <p:grpSp>
        <p:nvGrpSpPr>
          <p:cNvPr id="19" name="Feminizing button">
            <a:extLst>
              <a:ext uri="{FF2B5EF4-FFF2-40B4-BE49-F238E27FC236}">
                <a16:creationId xmlns:a16="http://schemas.microsoft.com/office/drawing/2014/main" id="{365D6751-48E3-C48C-2311-AF7C70107AFE}"/>
              </a:ext>
            </a:extLst>
          </p:cNvPr>
          <p:cNvGrpSpPr/>
          <p:nvPr/>
        </p:nvGrpSpPr>
        <p:grpSpPr>
          <a:xfrm>
            <a:off x="3582407" y="3813293"/>
            <a:ext cx="2302676" cy="1223321"/>
            <a:chOff x="3582407" y="3813293"/>
            <a:chExt cx="2302676" cy="1223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E047E4F-F8FF-172F-BC0F-F1A223746455}"/>
                </a:ext>
              </a:extLst>
            </p:cNvPr>
            <p:cNvSpPr txBox="1"/>
            <p:nvPr/>
          </p:nvSpPr>
          <p:spPr>
            <a:xfrm>
              <a:off x="3582407" y="4667282"/>
              <a:ext cx="23026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Feminizing Hormones</a:t>
              </a:r>
            </a:p>
          </p:txBody>
        </p:sp>
        <p:pic>
          <p:nvPicPr>
            <p:cNvPr id="12" name="Graphic 11" descr="Female with solid fill">
              <a:extLst>
                <a:ext uri="{FF2B5EF4-FFF2-40B4-BE49-F238E27FC236}">
                  <a16:creationId xmlns:a16="http://schemas.microsoft.com/office/drawing/2014/main" id="{78B77C04-8BBA-89CE-AEBA-B8C098FE2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76545" y="3813293"/>
              <a:ext cx="914400" cy="914400"/>
            </a:xfrm>
            <a:prstGeom prst="rect">
              <a:avLst/>
            </a:prstGeom>
          </p:spPr>
        </p:pic>
      </p:grpSp>
      <p:pic>
        <p:nvPicPr>
          <p:cNvPr id="14" name="Graphic 13" descr="Male with solid fill">
            <a:extLst>
              <a:ext uri="{FF2B5EF4-FFF2-40B4-BE49-F238E27FC236}">
                <a16:creationId xmlns:a16="http://schemas.microsoft.com/office/drawing/2014/main" id="{464A7854-F1F8-D171-98B6-4306B48E60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70917" y="3847662"/>
            <a:ext cx="914400" cy="9144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481A2EEA-B53B-FAC7-C203-DCA4A9D8D769}"/>
              </a:ext>
            </a:extLst>
          </p:cNvPr>
          <p:cNvGrpSpPr/>
          <p:nvPr/>
        </p:nvGrpSpPr>
        <p:grpSpPr>
          <a:xfrm>
            <a:off x="2939248" y="5101015"/>
            <a:ext cx="3824656" cy="1289722"/>
            <a:chOff x="2939248" y="5101015"/>
            <a:chExt cx="3824656" cy="128972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8A5178-EB4A-B862-A102-CE82BE9E5F28}"/>
                </a:ext>
              </a:extLst>
            </p:cNvPr>
            <p:cNvSpPr txBox="1"/>
            <p:nvPr/>
          </p:nvSpPr>
          <p:spPr>
            <a:xfrm>
              <a:off x="3034179" y="5113834"/>
              <a:ext cx="1127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92D050"/>
                  </a:solidFill>
                </a:rPr>
                <a:t>Estrogen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3BCB26-D78C-5FB4-7222-75263C150CBA}"/>
                </a:ext>
              </a:extLst>
            </p:cNvPr>
            <p:cNvSpPr txBox="1"/>
            <p:nvPr/>
          </p:nvSpPr>
          <p:spPr>
            <a:xfrm>
              <a:off x="4327066" y="5113834"/>
              <a:ext cx="3352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EF0EA82-E959-7A47-E8FC-95A45B26ACA0}"/>
                </a:ext>
              </a:extLst>
            </p:cNvPr>
            <p:cNvSpPr txBox="1"/>
            <p:nvPr/>
          </p:nvSpPr>
          <p:spPr>
            <a:xfrm>
              <a:off x="4710633" y="5101015"/>
              <a:ext cx="17786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FC000"/>
                  </a:solidFill>
                </a:rPr>
                <a:t>Anti-androgen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22AF0A3-A19B-3DB8-F7C7-F11A272CDF0A}"/>
                </a:ext>
              </a:extLst>
            </p:cNvPr>
            <p:cNvSpPr txBox="1"/>
            <p:nvPr/>
          </p:nvSpPr>
          <p:spPr>
            <a:xfrm>
              <a:off x="2939248" y="5438843"/>
              <a:ext cx="15562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17β-estradiol (bio-identical)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38F3478-54B5-3F67-976E-1B4F3C8FD091}"/>
                </a:ext>
              </a:extLst>
            </p:cNvPr>
            <p:cNvSpPr txBox="1"/>
            <p:nvPr/>
          </p:nvSpPr>
          <p:spPr>
            <a:xfrm>
              <a:off x="4633918" y="5467407"/>
              <a:ext cx="2129986" cy="923330"/>
            </a:xfrm>
            <a:prstGeom prst="rect">
              <a:avLst/>
            </a:prstGeom>
            <a:noFill/>
          </p:spPr>
          <p:txBody>
            <a:bodyPr wrap="square" lIns="91440" rIns="91440" rtlCol="0">
              <a:spAutoFit/>
            </a:bodyPr>
            <a:lstStyle/>
            <a:p>
              <a:pPr algn="ctr"/>
              <a:r>
                <a:rPr lang="en-US" dirty="0"/>
                <a:t>Spironolactone</a:t>
              </a:r>
            </a:p>
            <a:p>
              <a:pPr algn="ctr"/>
              <a:r>
                <a:rPr lang="en-US" dirty="0"/>
                <a:t>5-</a:t>
              </a:r>
              <a:r>
                <a:rPr lang="el-GR" dirty="0"/>
                <a:t>α</a:t>
              </a:r>
              <a:r>
                <a:rPr lang="en-US" dirty="0"/>
                <a:t> reductase </a:t>
              </a:r>
              <a:r>
                <a:rPr lang="en-US" dirty="0" err="1"/>
                <a:t>inh</a:t>
              </a:r>
              <a:r>
                <a:rPr lang="en-US" dirty="0"/>
                <a:t>**</a:t>
              </a:r>
            </a:p>
            <a:p>
              <a:pPr algn="ctr"/>
              <a:r>
                <a:rPr lang="en-US" dirty="0"/>
                <a:t>GnRH Agonists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C998813-5651-D2C4-B995-F6AEF814EF3B}"/>
              </a:ext>
            </a:extLst>
          </p:cNvPr>
          <p:cNvGrpSpPr/>
          <p:nvPr/>
        </p:nvGrpSpPr>
        <p:grpSpPr>
          <a:xfrm>
            <a:off x="7174297" y="5109867"/>
            <a:ext cx="2707640" cy="699156"/>
            <a:chOff x="7174297" y="5109867"/>
            <a:chExt cx="2707640" cy="69915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DDE6E41-3A06-E0AD-1568-B2414020D352}"/>
                </a:ext>
              </a:extLst>
            </p:cNvPr>
            <p:cNvSpPr txBox="1"/>
            <p:nvPr/>
          </p:nvSpPr>
          <p:spPr>
            <a:xfrm>
              <a:off x="7584690" y="5109867"/>
              <a:ext cx="18868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Testosterone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4EFB2C-2064-929C-41B8-61CF43A02354}"/>
                </a:ext>
              </a:extLst>
            </p:cNvPr>
            <p:cNvSpPr txBox="1"/>
            <p:nvPr/>
          </p:nvSpPr>
          <p:spPr>
            <a:xfrm>
              <a:off x="7174297" y="5439691"/>
              <a:ext cx="27076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Bio-identical testosterone</a:t>
              </a:r>
            </a:p>
          </p:txBody>
        </p:sp>
      </p:grpSp>
      <p:sp>
        <p:nvSpPr>
          <p:cNvPr id="13" name="Rectangle 2">
            <a:extLst>
              <a:ext uri="{FF2B5EF4-FFF2-40B4-BE49-F238E27FC236}">
                <a16:creationId xmlns:a16="http://schemas.microsoft.com/office/drawing/2014/main" id="{3DD381CC-1736-8FF3-3C21-57FE9CBFB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6746" y="49405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F56B64-85FA-A52F-B4D3-A8AC11B741B2}"/>
              </a:ext>
            </a:extLst>
          </p:cNvPr>
          <p:cNvSpPr txBox="1"/>
          <p:nvPr/>
        </p:nvSpPr>
        <p:spPr>
          <a:xfrm>
            <a:off x="4359768" y="1627075"/>
            <a:ext cx="1605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Patient’s desired effects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D40620-14A8-2A4F-AF1D-4F6D471E83B0}"/>
              </a:ext>
            </a:extLst>
          </p:cNvPr>
          <p:cNvSpPr txBox="1"/>
          <p:nvPr/>
        </p:nvSpPr>
        <p:spPr>
          <a:xfrm>
            <a:off x="7132668" y="1895813"/>
            <a:ext cx="177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Medical safety</a:t>
            </a:r>
            <a:endParaRPr lang="en-US" dirty="0"/>
          </a:p>
        </p:txBody>
      </p:sp>
      <p:sp>
        <p:nvSpPr>
          <p:cNvPr id="2" name="Obj 1">
            <a:hlinkClick r:id="rId8" action="ppaction://hlinksldjump"/>
            <a:extLst>
              <a:ext uri="{FF2B5EF4-FFF2-40B4-BE49-F238E27FC236}">
                <a16:creationId xmlns:a16="http://schemas.microsoft.com/office/drawing/2014/main" id="{CAA044CB-A355-47D1-1F93-217B66DC5991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Terminology</a:t>
            </a:r>
          </a:p>
        </p:txBody>
      </p:sp>
      <p:sp>
        <p:nvSpPr>
          <p:cNvPr id="3" name="Obj 2">
            <a:hlinkClick r:id="rId9" action="ppaction://hlinksldjump"/>
            <a:extLst>
              <a:ext uri="{FF2B5EF4-FFF2-40B4-BE49-F238E27FC236}">
                <a16:creationId xmlns:a16="http://schemas.microsoft.com/office/drawing/2014/main" id="{318F25A1-B0C8-1A54-ED85-AF7699FD319D}"/>
              </a:ext>
            </a:extLst>
          </p:cNvPr>
          <p:cNvSpPr/>
          <p:nvPr/>
        </p:nvSpPr>
        <p:spPr>
          <a:xfrm>
            <a:off x="167950" y="67445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Evaluation</a:t>
            </a:r>
          </a:p>
        </p:txBody>
      </p:sp>
      <p:pic>
        <p:nvPicPr>
          <p:cNvPr id="4" name="Graphic 3" descr="Cursor with solid fill">
            <a:extLst>
              <a:ext uri="{FF2B5EF4-FFF2-40B4-BE49-F238E27FC236}">
                <a16:creationId xmlns:a16="http://schemas.microsoft.com/office/drawing/2014/main" id="{E051AC39-B57D-C70D-67F3-5F60606CCCA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06851" y="381235"/>
            <a:ext cx="270672" cy="270672"/>
          </a:xfrm>
          <a:prstGeom prst="rect">
            <a:avLst/>
          </a:prstGeom>
        </p:spPr>
      </p:pic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89E12613-DDE4-2369-9BAB-A6494E26A3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06851" y="907100"/>
            <a:ext cx="270672" cy="270672"/>
          </a:xfrm>
          <a:prstGeom prst="rect">
            <a:avLst/>
          </a:prstGeom>
        </p:spPr>
      </p:pic>
      <p:sp>
        <p:nvSpPr>
          <p:cNvPr id="18" name="Obj 3">
            <a:hlinkClick r:id="rId12" action="ppaction://hlinksldjump"/>
            <a:extLst>
              <a:ext uri="{FF2B5EF4-FFF2-40B4-BE49-F238E27FC236}">
                <a16:creationId xmlns:a16="http://schemas.microsoft.com/office/drawing/2014/main" id="{98525391-7879-762A-B9E7-DA52998CDAFA}"/>
              </a:ext>
            </a:extLst>
          </p:cNvPr>
          <p:cNvSpPr/>
          <p:nvPr/>
        </p:nvSpPr>
        <p:spPr>
          <a:xfrm>
            <a:off x="167950" y="1200319"/>
            <a:ext cx="1474237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Therapies</a:t>
            </a:r>
          </a:p>
        </p:txBody>
      </p:sp>
      <p:sp>
        <p:nvSpPr>
          <p:cNvPr id="2048" name="Cases">
            <a:hlinkClick r:id="rId13" action="ppaction://hlinksldjump"/>
            <a:extLst>
              <a:ext uri="{FF2B5EF4-FFF2-40B4-BE49-F238E27FC236}">
                <a16:creationId xmlns:a16="http://schemas.microsoft.com/office/drawing/2014/main" id="{B0F30267-95D3-9E02-D457-E99B29A4564D}"/>
              </a:ext>
            </a:extLst>
          </p:cNvPr>
          <p:cNvSpPr/>
          <p:nvPr/>
        </p:nvSpPr>
        <p:spPr>
          <a:xfrm>
            <a:off x="314959" y="1705619"/>
            <a:ext cx="1347814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Feminizing</a:t>
            </a:r>
          </a:p>
        </p:txBody>
      </p:sp>
      <p:sp>
        <p:nvSpPr>
          <p:cNvPr id="2050" name="Cases">
            <a:hlinkClick r:id="rId14" action="ppaction://hlinksldjump"/>
            <a:extLst>
              <a:ext uri="{FF2B5EF4-FFF2-40B4-BE49-F238E27FC236}">
                <a16:creationId xmlns:a16="http://schemas.microsoft.com/office/drawing/2014/main" id="{23035B64-CAED-2CF1-160F-0B2092646253}"/>
              </a:ext>
            </a:extLst>
          </p:cNvPr>
          <p:cNvSpPr/>
          <p:nvPr/>
        </p:nvSpPr>
        <p:spPr>
          <a:xfrm>
            <a:off x="314959" y="2185913"/>
            <a:ext cx="1347813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Masculinizing</a:t>
            </a:r>
          </a:p>
        </p:txBody>
      </p:sp>
      <p:pic>
        <p:nvPicPr>
          <p:cNvPr id="2051" name="Graphic 2050" descr="Cursor with solid fill">
            <a:extLst>
              <a:ext uri="{FF2B5EF4-FFF2-40B4-BE49-F238E27FC236}">
                <a16:creationId xmlns:a16="http://schemas.microsoft.com/office/drawing/2014/main" id="{8DC45B65-FCC1-9C7C-0502-422CECC1359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21484" y="2418556"/>
            <a:ext cx="270672" cy="270672"/>
          </a:xfrm>
          <a:prstGeom prst="rect">
            <a:avLst/>
          </a:prstGeom>
        </p:spPr>
      </p:pic>
      <p:sp>
        <p:nvSpPr>
          <p:cNvPr id="2052" name="Cases">
            <a:hlinkClick r:id="rId15" action="ppaction://hlinksldjump"/>
            <a:extLst>
              <a:ext uri="{FF2B5EF4-FFF2-40B4-BE49-F238E27FC236}">
                <a16:creationId xmlns:a16="http://schemas.microsoft.com/office/drawing/2014/main" id="{15C6CD7B-14A4-9FD2-4B53-BE485720EDEB}"/>
              </a:ext>
            </a:extLst>
          </p:cNvPr>
          <p:cNvSpPr/>
          <p:nvPr/>
        </p:nvSpPr>
        <p:spPr>
          <a:xfrm>
            <a:off x="186154" y="2714860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FAQs</a:t>
            </a:r>
          </a:p>
        </p:txBody>
      </p:sp>
      <p:pic>
        <p:nvPicPr>
          <p:cNvPr id="2053" name="Graphic 2052" descr="Cursor with solid fill">
            <a:extLst>
              <a:ext uri="{FF2B5EF4-FFF2-40B4-BE49-F238E27FC236}">
                <a16:creationId xmlns:a16="http://schemas.microsoft.com/office/drawing/2014/main" id="{520FC9B8-17F7-0CA6-BF80-5092DB6563A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25055" y="2947503"/>
            <a:ext cx="270672" cy="270672"/>
          </a:xfrm>
          <a:prstGeom prst="rect">
            <a:avLst/>
          </a:prstGeom>
        </p:spPr>
      </p:pic>
      <p:sp>
        <p:nvSpPr>
          <p:cNvPr id="2054" name="Cases">
            <a:hlinkClick r:id="rId16" action="ppaction://hlinksldjump"/>
            <a:extLst>
              <a:ext uri="{FF2B5EF4-FFF2-40B4-BE49-F238E27FC236}">
                <a16:creationId xmlns:a16="http://schemas.microsoft.com/office/drawing/2014/main" id="{7579D477-586A-3C8A-8B6E-B8010464ECBD}"/>
              </a:ext>
            </a:extLst>
          </p:cNvPr>
          <p:cNvSpPr/>
          <p:nvPr/>
        </p:nvSpPr>
        <p:spPr>
          <a:xfrm>
            <a:off x="186154" y="3240725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Resources</a:t>
            </a:r>
          </a:p>
        </p:txBody>
      </p:sp>
      <p:pic>
        <p:nvPicPr>
          <p:cNvPr id="2055" name="Graphic 2054" descr="Cursor with solid fill">
            <a:extLst>
              <a:ext uri="{FF2B5EF4-FFF2-40B4-BE49-F238E27FC236}">
                <a16:creationId xmlns:a16="http://schemas.microsoft.com/office/drawing/2014/main" id="{2A9A3E82-6384-F61E-9097-4ADE15D6A3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25055" y="3473368"/>
            <a:ext cx="270672" cy="270672"/>
          </a:xfrm>
          <a:prstGeom prst="rect">
            <a:avLst/>
          </a:prstGeom>
        </p:spPr>
      </p:pic>
      <p:sp>
        <p:nvSpPr>
          <p:cNvPr id="2056" name="Cases">
            <a:hlinkClick r:id="rId17" action="ppaction://hlinksldjump"/>
            <a:extLst>
              <a:ext uri="{FF2B5EF4-FFF2-40B4-BE49-F238E27FC236}">
                <a16:creationId xmlns:a16="http://schemas.microsoft.com/office/drawing/2014/main" id="{35D8D7EA-C3F8-62A7-25F5-592F66AAAD18}"/>
              </a:ext>
            </a:extLst>
          </p:cNvPr>
          <p:cNvSpPr/>
          <p:nvPr/>
        </p:nvSpPr>
        <p:spPr>
          <a:xfrm>
            <a:off x="186154" y="3766590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2057" name="Graphic 2056" descr="Cursor with solid fill">
            <a:extLst>
              <a:ext uri="{FF2B5EF4-FFF2-40B4-BE49-F238E27FC236}">
                <a16:creationId xmlns:a16="http://schemas.microsoft.com/office/drawing/2014/main" id="{8705AA22-9FD2-F12D-4CC6-173A161D373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25055" y="3999233"/>
            <a:ext cx="270672" cy="270672"/>
          </a:xfrm>
          <a:prstGeom prst="rect">
            <a:avLst/>
          </a:prstGeom>
        </p:spPr>
      </p:pic>
      <p:cxnSp>
        <p:nvCxnSpPr>
          <p:cNvPr id="2058" name="Connector: Elbow 2057">
            <a:extLst>
              <a:ext uri="{FF2B5EF4-FFF2-40B4-BE49-F238E27FC236}">
                <a16:creationId xmlns:a16="http://schemas.microsoft.com/office/drawing/2014/main" id="{FE73DDC7-58BA-88D8-5154-BA32BED56558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997" y="1670391"/>
            <a:ext cx="323493" cy="1257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59" name="Graphic 2058" descr="Cursor with solid fill">
            <a:extLst>
              <a:ext uri="{FF2B5EF4-FFF2-40B4-BE49-F238E27FC236}">
                <a16:creationId xmlns:a16="http://schemas.microsoft.com/office/drawing/2014/main" id="{D6CC1804-D55C-030D-68D9-75C309FD95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21484" y="1919635"/>
            <a:ext cx="270672" cy="270672"/>
          </a:xfrm>
          <a:prstGeom prst="rect">
            <a:avLst/>
          </a:prstGeom>
        </p:spPr>
      </p:pic>
      <p:pic>
        <p:nvPicPr>
          <p:cNvPr id="22" name="Graphic 21" descr="Cursor with solid fill">
            <a:extLst>
              <a:ext uri="{FF2B5EF4-FFF2-40B4-BE49-F238E27FC236}">
                <a16:creationId xmlns:a16="http://schemas.microsoft.com/office/drawing/2014/main" id="{C0C67272-1541-6E58-47FF-0D440413C2A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92072" y="4239600"/>
            <a:ext cx="270672" cy="270672"/>
          </a:xfrm>
          <a:prstGeom prst="rect">
            <a:avLst/>
          </a:prstGeom>
        </p:spPr>
      </p:pic>
      <p:pic>
        <p:nvPicPr>
          <p:cNvPr id="23" name="Graphic 22" descr="Cursor with solid fill">
            <a:extLst>
              <a:ext uri="{FF2B5EF4-FFF2-40B4-BE49-F238E27FC236}">
                <a16:creationId xmlns:a16="http://schemas.microsoft.com/office/drawing/2014/main" id="{19B76DD4-134D-A978-6903-ED6DCA4100A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39996" y="4410036"/>
            <a:ext cx="270672" cy="27067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20E7FFE-51EF-A48F-B205-745E716F578C}"/>
              </a:ext>
            </a:extLst>
          </p:cNvPr>
          <p:cNvSpPr txBox="1"/>
          <p:nvPr/>
        </p:nvSpPr>
        <p:spPr>
          <a:xfrm>
            <a:off x="2551960" y="642784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/>
              <a:t>**Generally used with spiro</a:t>
            </a:r>
          </a:p>
        </p:txBody>
      </p:sp>
    </p:spTree>
    <p:extLst>
      <p:ext uri="{BB962C8B-B14F-4D97-AF65-F5344CB8AC3E}">
        <p14:creationId xmlns:p14="http://schemas.microsoft.com/office/powerpoint/2010/main" val="2814298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tradiol button">
            <a:extLst>
              <a:ext uri="{FF2B5EF4-FFF2-40B4-BE49-F238E27FC236}">
                <a16:creationId xmlns:a16="http://schemas.microsoft.com/office/drawing/2014/main" id="{DE2F890C-923B-4CB4-AE24-D02D0B9A30F1}"/>
              </a:ext>
            </a:extLst>
          </p:cNvPr>
          <p:cNvSpPr txBox="1">
            <a:spLocks noChangeAspect="1"/>
          </p:cNvSpPr>
          <p:nvPr/>
        </p:nvSpPr>
        <p:spPr>
          <a:xfrm>
            <a:off x="2346793" y="1407428"/>
            <a:ext cx="1693520" cy="73056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noAutofit/>
          </a:bodyPr>
          <a:lstStyle/>
          <a:p>
            <a:pPr algn="ctr"/>
            <a:r>
              <a:rPr lang="en-US" dirty="0"/>
              <a:t>Estrogen</a:t>
            </a:r>
          </a:p>
        </p:txBody>
      </p:sp>
      <p:sp>
        <p:nvSpPr>
          <p:cNvPr id="38" name="Spiro button">
            <a:extLst>
              <a:ext uri="{FF2B5EF4-FFF2-40B4-BE49-F238E27FC236}">
                <a16:creationId xmlns:a16="http://schemas.microsoft.com/office/drawing/2014/main" id="{81F6909F-ECF8-408F-B1AA-D4D9F97FCF93}"/>
              </a:ext>
            </a:extLst>
          </p:cNvPr>
          <p:cNvSpPr txBox="1">
            <a:spLocks noChangeAspect="1"/>
          </p:cNvSpPr>
          <p:nvPr/>
        </p:nvSpPr>
        <p:spPr>
          <a:xfrm>
            <a:off x="2342560" y="2669093"/>
            <a:ext cx="1693520" cy="73056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noAutofit/>
          </a:bodyPr>
          <a:lstStyle/>
          <a:p>
            <a:pPr algn="ctr"/>
            <a:r>
              <a:rPr lang="en-US" dirty="0"/>
              <a:t>Spironolactone</a:t>
            </a:r>
          </a:p>
        </p:txBody>
      </p:sp>
      <p:sp>
        <p:nvSpPr>
          <p:cNvPr id="39" name="5 alpha button">
            <a:extLst>
              <a:ext uri="{FF2B5EF4-FFF2-40B4-BE49-F238E27FC236}">
                <a16:creationId xmlns:a16="http://schemas.microsoft.com/office/drawing/2014/main" id="{CC1AECE2-6040-4E0C-9D92-1AED728E5F1E}"/>
              </a:ext>
            </a:extLst>
          </p:cNvPr>
          <p:cNvSpPr txBox="1">
            <a:spLocks noChangeAspect="1"/>
          </p:cNvSpPr>
          <p:nvPr/>
        </p:nvSpPr>
        <p:spPr>
          <a:xfrm>
            <a:off x="2351026" y="3930758"/>
            <a:ext cx="1693520" cy="73056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5-</a:t>
            </a:r>
            <a:r>
              <a:rPr lang="el-GR" dirty="0"/>
              <a:t>α</a:t>
            </a:r>
            <a:r>
              <a:rPr lang="en-US" dirty="0"/>
              <a:t> reductase inhibitors</a:t>
            </a:r>
          </a:p>
        </p:txBody>
      </p:sp>
      <p:sp>
        <p:nvSpPr>
          <p:cNvPr id="40" name="GnRH button">
            <a:extLst>
              <a:ext uri="{FF2B5EF4-FFF2-40B4-BE49-F238E27FC236}">
                <a16:creationId xmlns:a16="http://schemas.microsoft.com/office/drawing/2014/main" id="{3C8D8DC3-C312-4421-9FAE-EB958CF4FF06}"/>
              </a:ext>
            </a:extLst>
          </p:cNvPr>
          <p:cNvSpPr txBox="1">
            <a:spLocks noChangeAspect="1"/>
          </p:cNvSpPr>
          <p:nvPr/>
        </p:nvSpPr>
        <p:spPr>
          <a:xfrm>
            <a:off x="2353076" y="5168429"/>
            <a:ext cx="1693520" cy="73056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GnRH Agonists</a:t>
            </a:r>
          </a:p>
        </p:txBody>
      </p:sp>
      <p:pic>
        <p:nvPicPr>
          <p:cNvPr id="44" name="Graphic 43" descr="Cursor with solid fill">
            <a:extLst>
              <a:ext uri="{FF2B5EF4-FFF2-40B4-BE49-F238E27FC236}">
                <a16:creationId xmlns:a16="http://schemas.microsoft.com/office/drawing/2014/main" id="{CF91F0C0-130E-4CCA-92F0-9C53AE1394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5879" y="1987115"/>
            <a:ext cx="296010" cy="301752"/>
          </a:xfrm>
          <a:prstGeom prst="rect">
            <a:avLst/>
          </a:prstGeom>
        </p:spPr>
      </p:pic>
      <p:pic>
        <p:nvPicPr>
          <p:cNvPr id="45" name="Graphic 44" descr="Cursor with solid fill">
            <a:extLst>
              <a:ext uri="{FF2B5EF4-FFF2-40B4-BE49-F238E27FC236}">
                <a16:creationId xmlns:a16="http://schemas.microsoft.com/office/drawing/2014/main" id="{B269725E-C94F-443F-B25C-74902C6802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9595" y="3248780"/>
            <a:ext cx="296010" cy="301752"/>
          </a:xfrm>
          <a:prstGeom prst="rect">
            <a:avLst/>
          </a:prstGeom>
        </p:spPr>
      </p:pic>
      <p:pic>
        <p:nvPicPr>
          <p:cNvPr id="46" name="Graphic 45" descr="Cursor with solid fill">
            <a:extLst>
              <a:ext uri="{FF2B5EF4-FFF2-40B4-BE49-F238E27FC236}">
                <a16:creationId xmlns:a16="http://schemas.microsoft.com/office/drawing/2014/main" id="{9926F5E7-1E82-4079-8720-E9996A9894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6010" y="4506962"/>
            <a:ext cx="296010" cy="301752"/>
          </a:xfrm>
          <a:prstGeom prst="rect">
            <a:avLst/>
          </a:prstGeom>
        </p:spPr>
      </p:pic>
      <p:pic>
        <p:nvPicPr>
          <p:cNvPr id="47" name="Graphic 46" descr="Cursor with solid fill">
            <a:extLst>
              <a:ext uri="{FF2B5EF4-FFF2-40B4-BE49-F238E27FC236}">
                <a16:creationId xmlns:a16="http://schemas.microsoft.com/office/drawing/2014/main" id="{F38DC850-A32A-479A-863C-BFF615A9FB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6010" y="5727080"/>
            <a:ext cx="296010" cy="301752"/>
          </a:xfrm>
          <a:prstGeom prst="rect">
            <a:avLst/>
          </a:prstGeom>
        </p:spPr>
      </p:pic>
      <p:sp>
        <p:nvSpPr>
          <p:cNvPr id="75" name="estrogen button">
            <a:extLst>
              <a:ext uri="{FF2B5EF4-FFF2-40B4-BE49-F238E27FC236}">
                <a16:creationId xmlns:a16="http://schemas.microsoft.com/office/drawing/2014/main" id="{DD76C88B-286F-4EB0-A211-876D47F5929F}"/>
              </a:ext>
            </a:extLst>
          </p:cNvPr>
          <p:cNvSpPr txBox="1">
            <a:spLocks noChangeAspect="1"/>
          </p:cNvSpPr>
          <p:nvPr/>
        </p:nvSpPr>
        <p:spPr>
          <a:xfrm>
            <a:off x="2342560" y="1415137"/>
            <a:ext cx="1693520" cy="730563"/>
          </a:xfrm>
          <a:prstGeom prst="round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  <a:effectLst/>
        </p:spPr>
        <p:txBody>
          <a:bodyPr wrap="none" rtlCol="0" anchor="ctr">
            <a:noAutofit/>
          </a:bodyPr>
          <a:lstStyle/>
          <a:p>
            <a:pPr algn="ctr"/>
            <a:r>
              <a:rPr lang="en-US" dirty="0"/>
              <a:t>Estradiol</a:t>
            </a:r>
          </a:p>
        </p:txBody>
      </p:sp>
      <p:sp>
        <p:nvSpPr>
          <p:cNvPr id="76" name="Ella button">
            <a:extLst>
              <a:ext uri="{FF2B5EF4-FFF2-40B4-BE49-F238E27FC236}">
                <a16:creationId xmlns:a16="http://schemas.microsoft.com/office/drawing/2014/main" id="{94CC3963-7D21-4E42-9838-F0A888C006FB}"/>
              </a:ext>
            </a:extLst>
          </p:cNvPr>
          <p:cNvSpPr txBox="1">
            <a:spLocks noChangeAspect="1"/>
          </p:cNvSpPr>
          <p:nvPr/>
        </p:nvSpPr>
        <p:spPr>
          <a:xfrm>
            <a:off x="2338327" y="2676802"/>
            <a:ext cx="1693520" cy="73056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txBody>
          <a:bodyPr wrap="none" rtlCol="0" anchor="ctr">
            <a:noAutofit/>
          </a:bodyPr>
          <a:lstStyle/>
          <a:p>
            <a:pPr algn="ctr"/>
            <a:r>
              <a:rPr lang="en-US" dirty="0"/>
              <a:t>Spironolactone</a:t>
            </a:r>
          </a:p>
        </p:txBody>
      </p:sp>
      <p:sp>
        <p:nvSpPr>
          <p:cNvPr id="77" name="IUD button">
            <a:extLst>
              <a:ext uri="{FF2B5EF4-FFF2-40B4-BE49-F238E27FC236}">
                <a16:creationId xmlns:a16="http://schemas.microsoft.com/office/drawing/2014/main" id="{187DA794-9621-4444-BC6F-DE057B02F998}"/>
              </a:ext>
            </a:extLst>
          </p:cNvPr>
          <p:cNvSpPr txBox="1">
            <a:spLocks noChangeAspect="1"/>
          </p:cNvSpPr>
          <p:nvPr/>
        </p:nvSpPr>
        <p:spPr>
          <a:xfrm>
            <a:off x="2346793" y="3938467"/>
            <a:ext cx="1693520" cy="73056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5-</a:t>
            </a:r>
            <a:r>
              <a:rPr lang="el-GR" dirty="0"/>
              <a:t>α</a:t>
            </a:r>
            <a:r>
              <a:rPr lang="en-US" dirty="0"/>
              <a:t> reductase inhibitors</a:t>
            </a:r>
          </a:p>
        </p:txBody>
      </p:sp>
      <p:sp>
        <p:nvSpPr>
          <p:cNvPr id="78" name="combo button">
            <a:extLst>
              <a:ext uri="{FF2B5EF4-FFF2-40B4-BE49-F238E27FC236}">
                <a16:creationId xmlns:a16="http://schemas.microsoft.com/office/drawing/2014/main" id="{9B31F98E-B7AB-4F86-BF87-D405C8C6BF59}"/>
              </a:ext>
            </a:extLst>
          </p:cNvPr>
          <p:cNvSpPr txBox="1">
            <a:spLocks noChangeAspect="1"/>
          </p:cNvSpPr>
          <p:nvPr/>
        </p:nvSpPr>
        <p:spPr>
          <a:xfrm>
            <a:off x="2356609" y="5184714"/>
            <a:ext cx="1693520" cy="73056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txBody>
          <a:bodyPr wrap="none" rtlCol="0" anchor="ctr">
            <a:noAutofit/>
          </a:bodyPr>
          <a:lstStyle/>
          <a:p>
            <a:pPr algn="ctr"/>
            <a:r>
              <a:rPr lang="en-US" dirty="0"/>
              <a:t>GnRH Agonists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4508183-C460-DA5E-1227-D5BB981CF7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86550"/>
              </p:ext>
            </p:extLst>
          </p:nvPr>
        </p:nvGraphicFramePr>
        <p:xfrm>
          <a:off x="4175605" y="601359"/>
          <a:ext cx="7827860" cy="54501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965">
                  <a:extLst>
                    <a:ext uri="{9D8B030D-6E8A-4147-A177-3AD203B41FA5}">
                      <a16:colId xmlns:a16="http://schemas.microsoft.com/office/drawing/2014/main" val="1128331480"/>
                    </a:ext>
                  </a:extLst>
                </a:gridCol>
                <a:gridCol w="1956965">
                  <a:extLst>
                    <a:ext uri="{9D8B030D-6E8A-4147-A177-3AD203B41FA5}">
                      <a16:colId xmlns:a16="http://schemas.microsoft.com/office/drawing/2014/main" val="2937040628"/>
                    </a:ext>
                  </a:extLst>
                </a:gridCol>
                <a:gridCol w="1956965">
                  <a:extLst>
                    <a:ext uri="{9D8B030D-6E8A-4147-A177-3AD203B41FA5}">
                      <a16:colId xmlns:a16="http://schemas.microsoft.com/office/drawing/2014/main" val="1332531560"/>
                    </a:ext>
                  </a:extLst>
                </a:gridCol>
                <a:gridCol w="1956965">
                  <a:extLst>
                    <a:ext uri="{9D8B030D-6E8A-4147-A177-3AD203B41FA5}">
                      <a16:colId xmlns:a16="http://schemas.microsoft.com/office/drawing/2014/main" val="404644704"/>
                    </a:ext>
                  </a:extLst>
                </a:gridCol>
              </a:tblGrid>
              <a:tr h="69765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Formulations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Desired Effects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Contraindications&amp; Side Effects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Monitoring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286201"/>
                  </a:ext>
                </a:extLst>
              </a:tr>
              <a:tr h="1188128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722800"/>
                  </a:ext>
                </a:extLst>
              </a:tr>
              <a:tr h="1188128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33561"/>
                  </a:ext>
                </a:extLst>
              </a:tr>
              <a:tr h="1188128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641044"/>
                  </a:ext>
                </a:extLst>
              </a:tr>
              <a:tr h="1188128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720394"/>
                  </a:ext>
                </a:extLst>
              </a:tr>
            </a:tbl>
          </a:graphicData>
        </a:graphic>
      </p:graphicFrame>
      <p:pic>
        <p:nvPicPr>
          <p:cNvPr id="62" name="Picture 61">
            <a:extLst>
              <a:ext uri="{FF2B5EF4-FFF2-40B4-BE49-F238E27FC236}">
                <a16:creationId xmlns:a16="http://schemas.microsoft.com/office/drawing/2014/main" id="{A178EF9E-3A42-3AC4-BC95-0FAD6EC516F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18" t="26164" r="40197" b="37496"/>
          <a:stretch/>
        </p:blipFill>
        <p:spPr>
          <a:xfrm>
            <a:off x="6253668" y="2408745"/>
            <a:ext cx="744855" cy="877796"/>
          </a:xfrm>
          <a:prstGeom prst="rect">
            <a:avLst/>
          </a:prstGeom>
        </p:spPr>
      </p:pic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46E01D0-F9BA-2402-9BFA-305058C558E5}"/>
              </a:ext>
            </a:extLst>
          </p:cNvPr>
          <p:cNvGrpSpPr/>
          <p:nvPr/>
        </p:nvGrpSpPr>
        <p:grpSpPr>
          <a:xfrm>
            <a:off x="4361104" y="1217575"/>
            <a:ext cx="7661622" cy="1258174"/>
            <a:chOff x="4358221" y="1574728"/>
            <a:chExt cx="7661622" cy="125817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6AF70D8-B67A-2902-DA1B-4F9026E02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77329" y="1709315"/>
              <a:ext cx="674754" cy="42938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2132CE6-584E-0921-B82A-8E5B729E8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58221" y="1709315"/>
              <a:ext cx="432666" cy="99513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81B4AF5-574F-9F5E-A8DB-44547C579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158217" y="1764581"/>
              <a:ext cx="674754" cy="69864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584751A-EF39-3A3D-4A85-B97AD26DA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20779" y="1817463"/>
              <a:ext cx="470898" cy="52322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4FA6187-EC06-E426-2ECD-1108B868A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928448" y="2070334"/>
              <a:ext cx="950624" cy="725291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D9ABAA9-92B3-DB9C-3425-354A646D42BA}"/>
                </a:ext>
              </a:extLst>
            </p:cNvPr>
            <p:cNvSpPr txBox="1"/>
            <p:nvPr/>
          </p:nvSpPr>
          <p:spPr>
            <a:xfrm>
              <a:off x="10070001" y="2463417"/>
              <a:ext cx="19054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3mo &amp; 6mo…Q1yr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5F04238-616B-E8CA-D6AA-7EE1453E4474}"/>
                </a:ext>
              </a:extLst>
            </p:cNvPr>
            <p:cNvSpPr txBox="1"/>
            <p:nvPr/>
          </p:nvSpPr>
          <p:spPr>
            <a:xfrm>
              <a:off x="8172433" y="2412820"/>
              <a:ext cx="5115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VTE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55DA87B-0AE0-A458-F88F-6434BE80641F}"/>
                </a:ext>
              </a:extLst>
            </p:cNvPr>
            <p:cNvSpPr txBox="1"/>
            <p:nvPr/>
          </p:nvSpPr>
          <p:spPr>
            <a:xfrm>
              <a:off x="10095092" y="1680537"/>
              <a:ext cx="1924751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 Total Estradiol*, </a:t>
              </a:r>
            </a:p>
            <a:p>
              <a:pPr algn="ctr"/>
              <a:r>
                <a:rPr lang="en-US" sz="1400" dirty="0"/>
                <a:t>Total Testosterone, </a:t>
              </a:r>
            </a:p>
            <a:p>
              <a:pPr algn="ctr"/>
              <a:r>
                <a:rPr lang="en-US" sz="1400" dirty="0"/>
                <a:t>LFTs &amp; lipids</a:t>
              </a:r>
            </a:p>
          </p:txBody>
        </p:sp>
        <p:pic>
          <p:nvPicPr>
            <p:cNvPr id="73" name="Picture 6" descr="man beard light&quot; Emoji - Download for free – Iconduck">
              <a:extLst>
                <a:ext uri="{FF2B5EF4-FFF2-40B4-BE49-F238E27FC236}">
                  <a16:creationId xmlns:a16="http://schemas.microsoft.com/office/drawing/2014/main" id="{B5DBA093-1766-3FF9-A96F-87C223824D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6659" y="1729237"/>
              <a:ext cx="542886" cy="631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7FC7D4A8-4185-6A5A-CF9D-9B43F2605D76}"/>
                </a:ext>
              </a:extLst>
            </p:cNvPr>
            <p:cNvCxnSpPr>
              <a:cxnSpLocks/>
            </p:cNvCxnSpPr>
            <p:nvPr/>
          </p:nvCxnSpPr>
          <p:spPr>
            <a:xfrm>
              <a:off x="7208227" y="1828552"/>
              <a:ext cx="0" cy="52110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3DDAA80A-1F01-FB5E-9BA7-6F1460A843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218" t="26164" r="40197" b="37496"/>
            <a:stretch/>
          </p:blipFill>
          <p:spPr>
            <a:xfrm>
              <a:off x="6235956" y="1574728"/>
              <a:ext cx="744855" cy="877796"/>
            </a:xfrm>
            <a:prstGeom prst="rect">
              <a:avLst/>
            </a:prstGeom>
          </p:spPr>
        </p:pic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2A2FBCB0-ADB3-FFC9-A7FA-C36CD601F6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00231" y="1784545"/>
              <a:ext cx="0" cy="52110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0971373-23A9-12C4-9D68-71E968A796A1}"/>
                </a:ext>
              </a:extLst>
            </p:cNvPr>
            <p:cNvSpPr txBox="1"/>
            <p:nvPr/>
          </p:nvSpPr>
          <p:spPr>
            <a:xfrm>
              <a:off x="7074086" y="2395689"/>
              <a:ext cx="10193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Body hair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911ACF6-5856-0F49-51DA-A8B2B94582BB}"/>
                </a:ext>
              </a:extLst>
            </p:cNvPr>
            <p:cNvSpPr txBox="1"/>
            <p:nvPr/>
          </p:nvSpPr>
          <p:spPr>
            <a:xfrm>
              <a:off x="6153212" y="2309682"/>
              <a:ext cx="8977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Breast &amp; adipose</a:t>
              </a:r>
            </a:p>
          </p:txBody>
        </p:sp>
      </p:grpSp>
      <p:pic>
        <p:nvPicPr>
          <p:cNvPr id="91" name="Picture 90">
            <a:extLst>
              <a:ext uri="{FF2B5EF4-FFF2-40B4-BE49-F238E27FC236}">
                <a16:creationId xmlns:a16="http://schemas.microsoft.com/office/drawing/2014/main" id="{0F5929A5-B1E4-C1AA-DC2E-38EF6749505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36548" y="4877804"/>
            <a:ext cx="588840" cy="695481"/>
          </a:xfrm>
          <a:prstGeom prst="rect">
            <a:avLst/>
          </a:prstGeom>
        </p:spPr>
      </p:pic>
      <p:grpSp>
        <p:nvGrpSpPr>
          <p:cNvPr id="114" name="Group 113">
            <a:extLst>
              <a:ext uri="{FF2B5EF4-FFF2-40B4-BE49-F238E27FC236}">
                <a16:creationId xmlns:a16="http://schemas.microsoft.com/office/drawing/2014/main" id="{ED5D02AE-2619-94AE-54D6-D419E537D278}"/>
              </a:ext>
            </a:extLst>
          </p:cNvPr>
          <p:cNvGrpSpPr/>
          <p:nvPr/>
        </p:nvGrpSpPr>
        <p:grpSpPr>
          <a:xfrm>
            <a:off x="4793770" y="2563254"/>
            <a:ext cx="7180273" cy="1085639"/>
            <a:chOff x="4790887" y="2920407"/>
            <a:chExt cx="7180273" cy="1085639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77E46B57-1047-75B9-8C8F-BA6A63750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90887" y="3214305"/>
              <a:ext cx="674754" cy="429389"/>
            </a:xfrm>
            <a:prstGeom prst="rect">
              <a:avLst/>
            </a:prstGeom>
          </p:spPr>
        </p:pic>
        <p:pic>
          <p:nvPicPr>
            <p:cNvPr id="36" name="Picture 6" descr="man beard light&quot; Emoji - Download for free – Iconduck">
              <a:extLst>
                <a:ext uri="{FF2B5EF4-FFF2-40B4-BE49-F238E27FC236}">
                  <a16:creationId xmlns:a16="http://schemas.microsoft.com/office/drawing/2014/main" id="{3AEBDB5E-B773-43A5-DF68-2F63C17B34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31488" y="2920407"/>
              <a:ext cx="542886" cy="631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0228EF5-A678-B765-258C-A8626003A81C}"/>
                </a:ext>
              </a:extLst>
            </p:cNvPr>
            <p:cNvCxnSpPr>
              <a:cxnSpLocks/>
            </p:cNvCxnSpPr>
            <p:nvPr/>
          </p:nvCxnSpPr>
          <p:spPr>
            <a:xfrm>
              <a:off x="7223056" y="3019722"/>
              <a:ext cx="0" cy="52110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75AC3B9D-407D-3D28-010F-2A2E6B76F5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15060" y="2975715"/>
              <a:ext cx="0" cy="52110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12CFBE0-5AD1-FF9C-8D5F-4D65312C03C7}"/>
                </a:ext>
              </a:extLst>
            </p:cNvPr>
            <p:cNvSpPr txBox="1"/>
            <p:nvPr/>
          </p:nvSpPr>
          <p:spPr>
            <a:xfrm>
              <a:off x="7088915" y="3586859"/>
              <a:ext cx="10193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Body hair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920949E-F56A-3D32-AB6D-9F6C24634C1D}"/>
                </a:ext>
              </a:extLst>
            </p:cNvPr>
            <p:cNvSpPr txBox="1"/>
            <p:nvPr/>
          </p:nvSpPr>
          <p:spPr>
            <a:xfrm>
              <a:off x="6211646" y="3482826"/>
              <a:ext cx="8977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Breast &amp; adipose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1F7BA2C-ACF2-E56A-457A-C6A8F5EE1677}"/>
                </a:ext>
              </a:extLst>
            </p:cNvPr>
            <p:cNvSpPr txBox="1"/>
            <p:nvPr/>
          </p:nvSpPr>
          <p:spPr>
            <a:xfrm>
              <a:off x="8470873" y="3163404"/>
              <a:ext cx="51162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K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4020ABC4-ED39-26D4-0A51-2EC2C8D7F3D0}"/>
                </a:ext>
              </a:extLst>
            </p:cNvPr>
            <p:cNvCxnSpPr>
              <a:cxnSpLocks/>
            </p:cNvCxnSpPr>
            <p:nvPr/>
          </p:nvCxnSpPr>
          <p:spPr>
            <a:xfrm>
              <a:off x="9153025" y="3210324"/>
              <a:ext cx="0" cy="52110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7584FB8A-7654-821A-79C1-7D6BC0E135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384" y="3161103"/>
              <a:ext cx="0" cy="521106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36EC3FC-26B0-7C64-CB3C-5BDB362CFFFE}"/>
                </a:ext>
              </a:extLst>
            </p:cNvPr>
            <p:cNvSpPr txBox="1"/>
            <p:nvPr/>
          </p:nvSpPr>
          <p:spPr>
            <a:xfrm>
              <a:off x="9171695" y="3328937"/>
              <a:ext cx="7206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Libido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EBED080-CDF7-204B-D322-A6F8F197172B}"/>
                </a:ext>
              </a:extLst>
            </p:cNvPr>
            <p:cNvSpPr txBox="1"/>
            <p:nvPr/>
          </p:nvSpPr>
          <p:spPr>
            <a:xfrm>
              <a:off x="10065670" y="3594291"/>
              <a:ext cx="19054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3mo &amp; 6mo…Q1yr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2133DD5-9151-F3A7-D696-6114A1A78BBA}"/>
                </a:ext>
              </a:extLst>
            </p:cNvPr>
            <p:cNvSpPr txBox="1"/>
            <p:nvPr/>
          </p:nvSpPr>
          <p:spPr>
            <a:xfrm>
              <a:off x="10032646" y="3134875"/>
              <a:ext cx="192475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Cr &amp; K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632EF4A-AC1C-4442-3E4D-7677AEF9681E}"/>
              </a:ext>
            </a:extLst>
          </p:cNvPr>
          <p:cNvGrpSpPr/>
          <p:nvPr/>
        </p:nvGrpSpPr>
        <p:grpSpPr>
          <a:xfrm>
            <a:off x="4307496" y="4888042"/>
            <a:ext cx="7695001" cy="1149339"/>
            <a:chOff x="4333308" y="5304319"/>
            <a:chExt cx="7695001" cy="1149339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3D6EB183-745A-A543-6D60-C46979F96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835214" y="5472575"/>
              <a:ext cx="879291" cy="725291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CA1B8FF1-9FEF-4C87-7ACA-E205C4061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33308" y="5337654"/>
              <a:ext cx="432666" cy="995131"/>
            </a:xfrm>
            <a:prstGeom prst="rect">
              <a:avLst/>
            </a:prstGeom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56253A99-16AF-CF96-B375-02E3A3118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307042" y="5427713"/>
              <a:ext cx="446433" cy="669650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3AF29949-6D7C-B701-E93D-F34ED3F139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238843" y="5413351"/>
              <a:ext cx="373471" cy="725291"/>
            </a:xfrm>
            <a:prstGeom prst="rect">
              <a:avLst/>
            </a:prstGeom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A2C66FCD-EAE9-B9F0-6E3D-1822CF850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580453" y="5413351"/>
              <a:ext cx="368129" cy="725102"/>
            </a:xfrm>
            <a:prstGeom prst="rect">
              <a:avLst/>
            </a:prstGeom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A4A15BA2-2709-E066-90C7-557F542AA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454551" y="5344800"/>
              <a:ext cx="220574" cy="728563"/>
            </a:xfrm>
            <a:prstGeom prst="rect">
              <a:avLst/>
            </a:prstGeom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87F581E-1C9B-AB42-BA90-3FD72AFECFC7}"/>
                </a:ext>
              </a:extLst>
            </p:cNvPr>
            <p:cNvSpPr txBox="1"/>
            <p:nvPr/>
          </p:nvSpPr>
          <p:spPr>
            <a:xfrm>
              <a:off x="8047956" y="6092567"/>
              <a:ext cx="12005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Osteoporosis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E8D47D7-F0D7-05C2-72AB-A37FE3D02167}"/>
                </a:ext>
              </a:extLst>
            </p:cNvPr>
            <p:cNvSpPr txBox="1"/>
            <p:nvPr/>
          </p:nvSpPr>
          <p:spPr>
            <a:xfrm>
              <a:off x="9248510" y="5930438"/>
              <a:ext cx="74807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CV events</a:t>
              </a:r>
            </a:p>
          </p:txBody>
        </p: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B23E9C20-3CEF-CFF6-31FC-F761215B752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979113" y="5550197"/>
              <a:ext cx="0" cy="52110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F879270-28AB-0F16-CF22-AE40A6EFEF3D}"/>
                </a:ext>
              </a:extLst>
            </p:cNvPr>
            <p:cNvSpPr txBox="1"/>
            <p:nvPr/>
          </p:nvSpPr>
          <p:spPr>
            <a:xfrm>
              <a:off x="6741582" y="5492311"/>
              <a:ext cx="381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rgbClr val="C00000"/>
                  </a:solidFill>
                </a:rPr>
                <a:t>X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1896DAA-6AE0-A1A5-DA98-53CEDA4581ED}"/>
                </a:ext>
              </a:extLst>
            </p:cNvPr>
            <p:cNvSpPr txBox="1"/>
            <p:nvPr/>
          </p:nvSpPr>
          <p:spPr>
            <a:xfrm>
              <a:off x="10051907" y="5984754"/>
              <a:ext cx="19054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3mo &amp; 6mo…Q1yr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B803218-76F6-6A36-0497-BA89A0CC37D4}"/>
                </a:ext>
              </a:extLst>
            </p:cNvPr>
            <p:cNvSpPr txBox="1"/>
            <p:nvPr/>
          </p:nvSpPr>
          <p:spPr>
            <a:xfrm>
              <a:off x="10103558" y="5304319"/>
              <a:ext cx="192475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 Estradiol, Testosterone, &amp; LH/FSH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8A3DCFB-8464-3CCA-61C3-59CE581152B1}"/>
              </a:ext>
            </a:extLst>
          </p:cNvPr>
          <p:cNvGrpSpPr/>
          <p:nvPr/>
        </p:nvGrpSpPr>
        <p:grpSpPr>
          <a:xfrm>
            <a:off x="4793770" y="3717308"/>
            <a:ext cx="7169989" cy="1096714"/>
            <a:chOff x="4790887" y="4074461"/>
            <a:chExt cx="7169989" cy="1096714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C987680C-7D21-D87D-B455-EB228510DB43}"/>
                </a:ext>
              </a:extLst>
            </p:cNvPr>
            <p:cNvSpPr txBox="1"/>
            <p:nvPr/>
          </p:nvSpPr>
          <p:spPr>
            <a:xfrm>
              <a:off x="6541245" y="4863398"/>
              <a:ext cx="10193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Balding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62E5C687-51D5-8AA2-1201-355F4ACD4E0B}"/>
                </a:ext>
              </a:extLst>
            </p:cNvPr>
            <p:cNvSpPr txBox="1"/>
            <p:nvPr/>
          </p:nvSpPr>
          <p:spPr>
            <a:xfrm>
              <a:off x="8057578" y="4851709"/>
              <a:ext cx="10193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Orthostasis</a:t>
              </a:r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379EC026-186F-2E6B-30CC-D23CF46477E0}"/>
                </a:ext>
              </a:extLst>
            </p:cNvPr>
            <p:cNvGrpSpPr/>
            <p:nvPr/>
          </p:nvGrpSpPr>
          <p:grpSpPr>
            <a:xfrm>
              <a:off x="4790887" y="4074461"/>
              <a:ext cx="7169989" cy="853644"/>
              <a:chOff x="4790887" y="4074461"/>
              <a:chExt cx="7169989" cy="853644"/>
            </a:xfrm>
          </p:grpSpPr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E97B7F07-1611-F1A9-8210-3D29744E42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90887" y="4446206"/>
                <a:ext cx="674754" cy="429389"/>
              </a:xfrm>
              <a:prstGeom prst="rect">
                <a:avLst/>
              </a:prstGeom>
            </p:spPr>
          </p:pic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675C5A2C-5A97-F891-099B-713AA51239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764659" y="4108292"/>
                <a:ext cx="692514" cy="785982"/>
              </a:xfrm>
              <a:prstGeom prst="rect">
                <a:avLst/>
              </a:prstGeom>
            </p:spPr>
          </p:pic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F7E812FD-6453-6A77-F739-F37BAA3D5A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5933" y="4248438"/>
                <a:ext cx="0" cy="52110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4" name="Picture 103">
                <a:extLst>
                  <a:ext uri="{FF2B5EF4-FFF2-40B4-BE49-F238E27FC236}">
                    <a16:creationId xmlns:a16="http://schemas.microsoft.com/office/drawing/2014/main" id="{1249C0EF-D5C1-EF8B-C55A-D707022DD5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31073" y="4074461"/>
                <a:ext cx="553288" cy="853644"/>
              </a:xfrm>
              <a:prstGeom prst="rect">
                <a:avLst/>
              </a:prstGeom>
            </p:spPr>
          </p:pic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4B6551DB-868D-7323-6CEB-88553867B0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53302" y="4229848"/>
                <a:ext cx="0" cy="52110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B948556E-AE36-7472-F976-B2EC396AA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53025" y="4248937"/>
                <a:ext cx="0" cy="52110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6F88E832-A8F7-2DE6-2156-88706C0F1F9E}"/>
                  </a:ext>
                </a:extLst>
              </p:cNvPr>
              <p:cNvSpPr txBox="1"/>
              <p:nvPr/>
            </p:nvSpPr>
            <p:spPr>
              <a:xfrm>
                <a:off x="9171695" y="4367550"/>
                <a:ext cx="72067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Libido</a:t>
                </a: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A69F6EE0-35DE-D378-F52F-314D1ABD813B}"/>
                  </a:ext>
                </a:extLst>
              </p:cNvPr>
              <p:cNvSpPr txBox="1"/>
              <p:nvPr/>
            </p:nvSpPr>
            <p:spPr>
              <a:xfrm>
                <a:off x="10036125" y="4481745"/>
                <a:ext cx="192475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/>
                  <a:t>None</a:t>
                </a:r>
              </a:p>
            </p:txBody>
          </p:sp>
        </p:grpSp>
      </p:grpSp>
      <p:sp>
        <p:nvSpPr>
          <p:cNvPr id="130" name="Cases">
            <a:extLst>
              <a:ext uri="{FF2B5EF4-FFF2-40B4-BE49-F238E27FC236}">
                <a16:creationId xmlns:a16="http://schemas.microsoft.com/office/drawing/2014/main" id="{0F971C96-A5A1-4DCA-F23E-9EC8F89F2B97}"/>
              </a:ext>
            </a:extLst>
          </p:cNvPr>
          <p:cNvSpPr/>
          <p:nvPr/>
        </p:nvSpPr>
        <p:spPr>
          <a:xfrm>
            <a:off x="314959" y="1705619"/>
            <a:ext cx="1347814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Feminizing</a:t>
            </a:r>
          </a:p>
        </p:txBody>
      </p:sp>
      <p:sp>
        <p:nvSpPr>
          <p:cNvPr id="132" name="Cases">
            <a:hlinkClick r:id="rId20" action="ppaction://hlinksldjump"/>
            <a:extLst>
              <a:ext uri="{FF2B5EF4-FFF2-40B4-BE49-F238E27FC236}">
                <a16:creationId xmlns:a16="http://schemas.microsoft.com/office/drawing/2014/main" id="{53B9B284-9151-3999-EA33-B8A0DFB5DF25}"/>
              </a:ext>
            </a:extLst>
          </p:cNvPr>
          <p:cNvSpPr/>
          <p:nvPr/>
        </p:nvSpPr>
        <p:spPr>
          <a:xfrm>
            <a:off x="314959" y="2185913"/>
            <a:ext cx="1347813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Masculinizing</a:t>
            </a:r>
          </a:p>
        </p:txBody>
      </p:sp>
      <p:pic>
        <p:nvPicPr>
          <p:cNvPr id="131" name="Graphic 130" descr="Cursor with solid fill">
            <a:extLst>
              <a:ext uri="{FF2B5EF4-FFF2-40B4-BE49-F238E27FC236}">
                <a16:creationId xmlns:a16="http://schemas.microsoft.com/office/drawing/2014/main" id="{FB7CAC46-94D5-8506-FE1C-79C68DFE9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1484" y="2418556"/>
            <a:ext cx="270672" cy="270672"/>
          </a:xfrm>
          <a:prstGeom prst="rect">
            <a:avLst/>
          </a:prstGeom>
        </p:spPr>
      </p:pic>
      <p:sp>
        <p:nvSpPr>
          <p:cNvPr id="133" name="Cases">
            <a:hlinkClick r:id="rId21" action="ppaction://hlinksldjump"/>
            <a:extLst>
              <a:ext uri="{FF2B5EF4-FFF2-40B4-BE49-F238E27FC236}">
                <a16:creationId xmlns:a16="http://schemas.microsoft.com/office/drawing/2014/main" id="{AF358AA4-1ACA-7837-54FA-AE99F6EE067F}"/>
              </a:ext>
            </a:extLst>
          </p:cNvPr>
          <p:cNvSpPr/>
          <p:nvPr/>
        </p:nvSpPr>
        <p:spPr>
          <a:xfrm>
            <a:off x="186154" y="2714860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FAQs</a:t>
            </a:r>
          </a:p>
        </p:txBody>
      </p:sp>
      <p:pic>
        <p:nvPicPr>
          <p:cNvPr id="134" name="Graphic 133" descr="Cursor with solid fill">
            <a:extLst>
              <a:ext uri="{FF2B5EF4-FFF2-40B4-BE49-F238E27FC236}">
                <a16:creationId xmlns:a16="http://schemas.microsoft.com/office/drawing/2014/main" id="{428ED5FE-10B3-DD98-9AA9-B776D2E59B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5055" y="2947503"/>
            <a:ext cx="270672" cy="270672"/>
          </a:xfrm>
          <a:prstGeom prst="rect">
            <a:avLst/>
          </a:prstGeom>
        </p:spPr>
      </p:pic>
      <p:sp>
        <p:nvSpPr>
          <p:cNvPr id="135" name="Cases">
            <a:hlinkClick r:id="rId22" action="ppaction://hlinksldjump"/>
            <a:extLst>
              <a:ext uri="{FF2B5EF4-FFF2-40B4-BE49-F238E27FC236}">
                <a16:creationId xmlns:a16="http://schemas.microsoft.com/office/drawing/2014/main" id="{F78FB6C4-A36D-1516-57A9-9A090A23B732}"/>
              </a:ext>
            </a:extLst>
          </p:cNvPr>
          <p:cNvSpPr/>
          <p:nvPr/>
        </p:nvSpPr>
        <p:spPr>
          <a:xfrm>
            <a:off x="186154" y="3240725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Resources</a:t>
            </a:r>
          </a:p>
        </p:txBody>
      </p:sp>
      <p:pic>
        <p:nvPicPr>
          <p:cNvPr id="136" name="Graphic 135" descr="Cursor with solid fill">
            <a:extLst>
              <a:ext uri="{FF2B5EF4-FFF2-40B4-BE49-F238E27FC236}">
                <a16:creationId xmlns:a16="http://schemas.microsoft.com/office/drawing/2014/main" id="{0FA31647-0345-454E-20FF-D12AC7DCE1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5055" y="3473368"/>
            <a:ext cx="270672" cy="270672"/>
          </a:xfrm>
          <a:prstGeom prst="rect">
            <a:avLst/>
          </a:prstGeom>
        </p:spPr>
      </p:pic>
      <p:sp>
        <p:nvSpPr>
          <p:cNvPr id="137" name="Cases">
            <a:hlinkClick r:id="rId23" action="ppaction://hlinksldjump"/>
            <a:extLst>
              <a:ext uri="{FF2B5EF4-FFF2-40B4-BE49-F238E27FC236}">
                <a16:creationId xmlns:a16="http://schemas.microsoft.com/office/drawing/2014/main" id="{D34CAA14-AF3D-3512-1AB7-400383DB1FF1}"/>
              </a:ext>
            </a:extLst>
          </p:cNvPr>
          <p:cNvSpPr/>
          <p:nvPr/>
        </p:nvSpPr>
        <p:spPr>
          <a:xfrm>
            <a:off x="186154" y="3766590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138" name="Graphic 137" descr="Cursor with solid fill">
            <a:extLst>
              <a:ext uri="{FF2B5EF4-FFF2-40B4-BE49-F238E27FC236}">
                <a16:creationId xmlns:a16="http://schemas.microsoft.com/office/drawing/2014/main" id="{B29E86D3-69B2-241B-0564-5D6644DD8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5055" y="3999233"/>
            <a:ext cx="270672" cy="270672"/>
          </a:xfrm>
          <a:prstGeom prst="rect">
            <a:avLst/>
          </a:prstGeom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id="{C1FA0B68-7F88-1BAB-0E60-BCD19DB49C0A}"/>
              </a:ext>
            </a:extLst>
          </p:cNvPr>
          <p:cNvSpPr txBox="1"/>
          <p:nvPr/>
        </p:nvSpPr>
        <p:spPr>
          <a:xfrm>
            <a:off x="9119978" y="6088082"/>
            <a:ext cx="32339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*Goal = 100-200 </a:t>
            </a:r>
            <a:r>
              <a:rPr lang="en-US" sz="1400" dirty="0" err="1"/>
              <a:t>pg</a:t>
            </a:r>
            <a:r>
              <a:rPr lang="en-US" sz="1400" dirty="0"/>
              <a:t>/mL</a:t>
            </a:r>
          </a:p>
        </p:txBody>
      </p:sp>
      <p:sp>
        <p:nvSpPr>
          <p:cNvPr id="141" name="Cases">
            <a:hlinkClick r:id="rId24" action="ppaction://hlinksldjump"/>
            <a:extLst>
              <a:ext uri="{FF2B5EF4-FFF2-40B4-BE49-F238E27FC236}">
                <a16:creationId xmlns:a16="http://schemas.microsoft.com/office/drawing/2014/main" id="{87B031C3-7C4B-C211-B4C3-ED4D219377EE}"/>
              </a:ext>
            </a:extLst>
          </p:cNvPr>
          <p:cNvSpPr/>
          <p:nvPr/>
        </p:nvSpPr>
        <p:spPr>
          <a:xfrm>
            <a:off x="7091798" y="6284249"/>
            <a:ext cx="208630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Timeline of effects</a:t>
            </a:r>
          </a:p>
        </p:txBody>
      </p:sp>
      <p:pic>
        <p:nvPicPr>
          <p:cNvPr id="142" name="Graphic 141" descr="Cursor with solid fill">
            <a:extLst>
              <a:ext uri="{FF2B5EF4-FFF2-40B4-BE49-F238E27FC236}">
                <a16:creationId xmlns:a16="http://schemas.microsoft.com/office/drawing/2014/main" id="{6563DAA6-4E58-4DA2-1A40-BACCE8B5EF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42769" y="6516892"/>
            <a:ext cx="270672" cy="270672"/>
          </a:xfrm>
          <a:prstGeom prst="rect">
            <a:avLst/>
          </a:prstGeom>
        </p:spPr>
      </p:pic>
      <p:sp>
        <p:nvSpPr>
          <p:cNvPr id="2" name="Obj 1">
            <a:hlinkClick r:id="rId25" action="ppaction://hlinksldjump"/>
            <a:extLst>
              <a:ext uri="{FF2B5EF4-FFF2-40B4-BE49-F238E27FC236}">
                <a16:creationId xmlns:a16="http://schemas.microsoft.com/office/drawing/2014/main" id="{BB9FAE05-8E93-3A3A-9B8E-4AC8EF7BB3D8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Terminology</a:t>
            </a:r>
          </a:p>
        </p:txBody>
      </p:sp>
      <p:sp>
        <p:nvSpPr>
          <p:cNvPr id="3" name="Obj 2">
            <a:hlinkClick r:id="rId26" action="ppaction://hlinksldjump"/>
            <a:extLst>
              <a:ext uri="{FF2B5EF4-FFF2-40B4-BE49-F238E27FC236}">
                <a16:creationId xmlns:a16="http://schemas.microsoft.com/office/drawing/2014/main" id="{9B84A437-F6FC-C4D2-B99E-258A8B7022CA}"/>
              </a:ext>
            </a:extLst>
          </p:cNvPr>
          <p:cNvSpPr/>
          <p:nvPr/>
        </p:nvSpPr>
        <p:spPr>
          <a:xfrm>
            <a:off x="167950" y="67445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Evaluation</a:t>
            </a:r>
          </a:p>
        </p:txBody>
      </p:sp>
      <p:pic>
        <p:nvPicPr>
          <p:cNvPr id="8" name="Graphic 7" descr="Cursor with solid fill">
            <a:extLst>
              <a:ext uri="{FF2B5EF4-FFF2-40B4-BE49-F238E27FC236}">
                <a16:creationId xmlns:a16="http://schemas.microsoft.com/office/drawing/2014/main" id="{AE59DB10-5DF5-A487-0913-48DA1EB252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6851" y="381235"/>
            <a:ext cx="270672" cy="270672"/>
          </a:xfrm>
          <a:prstGeom prst="rect">
            <a:avLst/>
          </a:prstGeom>
        </p:spPr>
      </p:pic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5394E296-3B3A-8D65-CDEF-DF631EEB31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6851" y="907100"/>
            <a:ext cx="270672" cy="270672"/>
          </a:xfrm>
          <a:prstGeom prst="rect">
            <a:avLst/>
          </a:prstGeom>
        </p:spPr>
      </p:pic>
      <p:sp>
        <p:nvSpPr>
          <p:cNvPr id="10" name="Obj 3">
            <a:hlinkClick r:id="rId27" action="ppaction://hlinksldjump"/>
            <a:extLst>
              <a:ext uri="{FF2B5EF4-FFF2-40B4-BE49-F238E27FC236}">
                <a16:creationId xmlns:a16="http://schemas.microsoft.com/office/drawing/2014/main" id="{25249B86-ABC1-594A-3784-D1D3CB935823}"/>
              </a:ext>
            </a:extLst>
          </p:cNvPr>
          <p:cNvSpPr/>
          <p:nvPr/>
        </p:nvSpPr>
        <p:spPr>
          <a:xfrm>
            <a:off x="167950" y="120031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Therapies</a:t>
            </a:r>
          </a:p>
        </p:txBody>
      </p:sp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88201934-F4BE-D1E8-8CBD-9066BFEF09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6851" y="1432965"/>
            <a:ext cx="270672" cy="270672"/>
          </a:xfrm>
          <a:prstGeom prst="rect">
            <a:avLst/>
          </a:prstGeom>
        </p:spPr>
      </p:pic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DD0ACF60-C055-C5C0-C295-3349CFA0762E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997" y="1670391"/>
            <a:ext cx="323493" cy="1257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F1A59E6-0567-96C5-C861-76D393CFD349}"/>
              </a:ext>
            </a:extLst>
          </p:cNvPr>
          <p:cNvSpPr txBox="1"/>
          <p:nvPr/>
        </p:nvSpPr>
        <p:spPr>
          <a:xfrm>
            <a:off x="8517738" y="2001315"/>
            <a:ext cx="1617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 Estrogen dependent cancers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0F9C080-84CF-D35B-58C1-F1F260DD7B0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04263" y="4570952"/>
            <a:ext cx="1088250" cy="108099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3B87C94-D357-3159-2C05-104DBF24798D}"/>
              </a:ext>
            </a:extLst>
          </p:cNvPr>
          <p:cNvSpPr txBox="1"/>
          <p:nvPr/>
        </p:nvSpPr>
        <p:spPr>
          <a:xfrm>
            <a:off x="67632" y="5652466"/>
            <a:ext cx="199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Dosing regimens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730FE8-69AA-B032-98BB-0E3518BFE083}"/>
              </a:ext>
            </a:extLst>
          </p:cNvPr>
          <p:cNvSpPr txBox="1"/>
          <p:nvPr/>
        </p:nvSpPr>
        <p:spPr>
          <a:xfrm>
            <a:off x="6182935" y="5680885"/>
            <a:ext cx="19106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Block 2</a:t>
            </a:r>
            <a:r>
              <a:rPr lang="en-US" sz="1400" baseline="30000" dirty="0"/>
              <a:t>0</a:t>
            </a:r>
            <a:r>
              <a:rPr lang="en-US" sz="1400" dirty="0"/>
              <a:t>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3260246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75" grpId="0" animBg="1"/>
      <p:bldP spid="76" grpId="0" animBg="1"/>
      <p:bldP spid="77" grpId="0" animBg="1"/>
      <p:bldP spid="78" grpId="0" animBg="1"/>
      <p:bldP spid="1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tradiol button">
            <a:extLst>
              <a:ext uri="{FF2B5EF4-FFF2-40B4-BE49-F238E27FC236}">
                <a16:creationId xmlns:a16="http://schemas.microsoft.com/office/drawing/2014/main" id="{DE2F890C-923B-4CB4-AE24-D02D0B9A30F1}"/>
              </a:ext>
            </a:extLst>
          </p:cNvPr>
          <p:cNvSpPr txBox="1">
            <a:spLocks noChangeAspect="1"/>
          </p:cNvSpPr>
          <p:nvPr/>
        </p:nvSpPr>
        <p:spPr>
          <a:xfrm>
            <a:off x="2346793" y="1407428"/>
            <a:ext cx="1693520" cy="73056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noAutofit/>
          </a:bodyPr>
          <a:lstStyle/>
          <a:p>
            <a:pPr algn="ctr"/>
            <a:r>
              <a:rPr lang="en-US" dirty="0"/>
              <a:t>Estrogen</a:t>
            </a:r>
          </a:p>
        </p:txBody>
      </p:sp>
      <p:sp>
        <p:nvSpPr>
          <p:cNvPr id="75" name="estrogen button">
            <a:extLst>
              <a:ext uri="{FF2B5EF4-FFF2-40B4-BE49-F238E27FC236}">
                <a16:creationId xmlns:a16="http://schemas.microsoft.com/office/drawing/2014/main" id="{DD76C88B-286F-4EB0-A211-876D47F5929F}"/>
              </a:ext>
            </a:extLst>
          </p:cNvPr>
          <p:cNvSpPr txBox="1">
            <a:spLocks noChangeAspect="1"/>
          </p:cNvSpPr>
          <p:nvPr/>
        </p:nvSpPr>
        <p:spPr>
          <a:xfrm>
            <a:off x="2342560" y="1415137"/>
            <a:ext cx="1693520" cy="730563"/>
          </a:xfrm>
          <a:prstGeom prst="round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  <a:effectLst/>
        </p:spPr>
        <p:txBody>
          <a:bodyPr wrap="none" rtlCol="0" anchor="ctr">
            <a:noAutofit/>
          </a:bodyPr>
          <a:lstStyle/>
          <a:p>
            <a:pPr algn="ctr"/>
            <a:r>
              <a:rPr lang="en-US" dirty="0"/>
              <a:t>Estrogen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4508183-C460-DA5E-1227-D5BB981CF7AF}"/>
              </a:ext>
            </a:extLst>
          </p:cNvPr>
          <p:cNvGraphicFramePr>
            <a:graphicFrameLocks noGrp="1"/>
          </p:cNvGraphicFramePr>
          <p:nvPr/>
        </p:nvGraphicFramePr>
        <p:xfrm>
          <a:off x="4175605" y="601359"/>
          <a:ext cx="7827860" cy="54501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965">
                  <a:extLst>
                    <a:ext uri="{9D8B030D-6E8A-4147-A177-3AD203B41FA5}">
                      <a16:colId xmlns:a16="http://schemas.microsoft.com/office/drawing/2014/main" val="1128331480"/>
                    </a:ext>
                  </a:extLst>
                </a:gridCol>
                <a:gridCol w="1956965">
                  <a:extLst>
                    <a:ext uri="{9D8B030D-6E8A-4147-A177-3AD203B41FA5}">
                      <a16:colId xmlns:a16="http://schemas.microsoft.com/office/drawing/2014/main" val="2937040628"/>
                    </a:ext>
                  </a:extLst>
                </a:gridCol>
                <a:gridCol w="1956965">
                  <a:extLst>
                    <a:ext uri="{9D8B030D-6E8A-4147-A177-3AD203B41FA5}">
                      <a16:colId xmlns:a16="http://schemas.microsoft.com/office/drawing/2014/main" val="1332531560"/>
                    </a:ext>
                  </a:extLst>
                </a:gridCol>
                <a:gridCol w="1956965">
                  <a:extLst>
                    <a:ext uri="{9D8B030D-6E8A-4147-A177-3AD203B41FA5}">
                      <a16:colId xmlns:a16="http://schemas.microsoft.com/office/drawing/2014/main" val="404644704"/>
                    </a:ext>
                  </a:extLst>
                </a:gridCol>
              </a:tblGrid>
              <a:tr h="69765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Formulations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Desired Effects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Contraindications&amp; Side Effects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Monitoring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286201"/>
                  </a:ext>
                </a:extLst>
              </a:tr>
              <a:tr h="1188128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722800"/>
                  </a:ext>
                </a:extLst>
              </a:tr>
              <a:tr h="1188128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33561"/>
                  </a:ext>
                </a:extLst>
              </a:tr>
              <a:tr h="1188128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641044"/>
                  </a:ext>
                </a:extLst>
              </a:tr>
              <a:tr h="1188128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720394"/>
                  </a:ext>
                </a:extLst>
              </a:tr>
            </a:tbl>
          </a:graphicData>
        </a:graphic>
      </p:graphicFrame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46E01D0-F9BA-2402-9BFA-305058C558E5}"/>
              </a:ext>
            </a:extLst>
          </p:cNvPr>
          <p:cNvGrpSpPr/>
          <p:nvPr/>
        </p:nvGrpSpPr>
        <p:grpSpPr>
          <a:xfrm>
            <a:off x="4361104" y="1217575"/>
            <a:ext cx="7661622" cy="1313128"/>
            <a:chOff x="4358221" y="1574728"/>
            <a:chExt cx="7661622" cy="131312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6AF70D8-B67A-2902-DA1B-4F9026E02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77329" y="1709315"/>
              <a:ext cx="674754" cy="42938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2132CE6-584E-0921-B82A-8E5B729E8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58221" y="1709315"/>
              <a:ext cx="432666" cy="99513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81B4AF5-574F-9F5E-A8DB-44547C579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00691" y="1703779"/>
              <a:ext cx="674754" cy="69864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584751A-EF39-3A3D-4A85-B97AD26DA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17095" y="1687184"/>
              <a:ext cx="430744" cy="47860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4FA6187-EC06-E426-2ECD-1108B868A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28448" y="2070334"/>
              <a:ext cx="950624" cy="725291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D9ABAA9-92B3-DB9C-3425-354A646D42BA}"/>
                </a:ext>
              </a:extLst>
            </p:cNvPr>
            <p:cNvSpPr txBox="1"/>
            <p:nvPr/>
          </p:nvSpPr>
          <p:spPr>
            <a:xfrm>
              <a:off x="10070001" y="2463417"/>
              <a:ext cx="19054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3mo &amp; 6mo…Q1yr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5F04238-616B-E8CA-D6AA-7EE1453E4474}"/>
                </a:ext>
              </a:extLst>
            </p:cNvPr>
            <p:cNvSpPr txBox="1"/>
            <p:nvPr/>
          </p:nvSpPr>
          <p:spPr>
            <a:xfrm>
              <a:off x="8337350" y="2212798"/>
              <a:ext cx="5115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VTE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D9E17C8-B420-24CC-AE60-0DA1340898DB}"/>
                </a:ext>
              </a:extLst>
            </p:cNvPr>
            <p:cNvSpPr txBox="1"/>
            <p:nvPr/>
          </p:nvSpPr>
          <p:spPr>
            <a:xfrm>
              <a:off x="8527673" y="2149192"/>
              <a:ext cx="151723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 Estrogen dependent cancers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55DA87B-0AE0-A458-F88F-6434BE80641F}"/>
                </a:ext>
              </a:extLst>
            </p:cNvPr>
            <p:cNvSpPr txBox="1"/>
            <p:nvPr/>
          </p:nvSpPr>
          <p:spPr>
            <a:xfrm>
              <a:off x="10095092" y="1680537"/>
              <a:ext cx="1924751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 Total Estradiol*, </a:t>
              </a:r>
            </a:p>
            <a:p>
              <a:pPr algn="ctr"/>
              <a:r>
                <a:rPr lang="en-US" sz="1400" dirty="0"/>
                <a:t>Total Testosterone, </a:t>
              </a:r>
            </a:p>
            <a:p>
              <a:pPr algn="ctr"/>
              <a:r>
                <a:rPr lang="en-US" sz="1400" dirty="0"/>
                <a:t>LFTs &amp; lipids</a:t>
              </a:r>
            </a:p>
          </p:txBody>
        </p:sp>
        <p:pic>
          <p:nvPicPr>
            <p:cNvPr id="73" name="Picture 6" descr="man beard light&quot; Emoji - Download for free – Iconduck">
              <a:extLst>
                <a:ext uri="{FF2B5EF4-FFF2-40B4-BE49-F238E27FC236}">
                  <a16:creationId xmlns:a16="http://schemas.microsoft.com/office/drawing/2014/main" id="{B5DBA093-1766-3FF9-A96F-87C223824D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6659" y="1729237"/>
              <a:ext cx="542886" cy="631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7FC7D4A8-4185-6A5A-CF9D-9B43F2605D76}"/>
                </a:ext>
              </a:extLst>
            </p:cNvPr>
            <p:cNvCxnSpPr>
              <a:cxnSpLocks/>
            </p:cNvCxnSpPr>
            <p:nvPr/>
          </p:nvCxnSpPr>
          <p:spPr>
            <a:xfrm>
              <a:off x="7208227" y="1828552"/>
              <a:ext cx="0" cy="52110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3DDAA80A-1F01-FB5E-9BA7-6F1460A843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218" t="26164" r="40197" b="37496"/>
            <a:stretch/>
          </p:blipFill>
          <p:spPr>
            <a:xfrm>
              <a:off x="6235956" y="1574728"/>
              <a:ext cx="744855" cy="877796"/>
            </a:xfrm>
            <a:prstGeom prst="rect">
              <a:avLst/>
            </a:prstGeom>
          </p:spPr>
        </p:pic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2A2FBCB0-ADB3-FFC9-A7FA-C36CD601F6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00231" y="1784545"/>
              <a:ext cx="0" cy="52110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0971373-23A9-12C4-9D68-71E968A796A1}"/>
                </a:ext>
              </a:extLst>
            </p:cNvPr>
            <p:cNvSpPr txBox="1"/>
            <p:nvPr/>
          </p:nvSpPr>
          <p:spPr>
            <a:xfrm>
              <a:off x="7074086" y="2395689"/>
              <a:ext cx="10193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Body hair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911ACF6-5856-0F49-51DA-A8B2B94582BB}"/>
                </a:ext>
              </a:extLst>
            </p:cNvPr>
            <p:cNvSpPr txBox="1"/>
            <p:nvPr/>
          </p:nvSpPr>
          <p:spPr>
            <a:xfrm>
              <a:off x="6153212" y="2309682"/>
              <a:ext cx="8977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Breast &amp; adipose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308FBCB-E1D0-DC0E-C5EE-7211251770B6}"/>
              </a:ext>
            </a:extLst>
          </p:cNvPr>
          <p:cNvSpPr/>
          <p:nvPr/>
        </p:nvSpPr>
        <p:spPr>
          <a:xfrm>
            <a:off x="3293400" y="2499011"/>
            <a:ext cx="8815179" cy="4212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6" descr="man beard light&quot; Emoji - Download for free – Iconduck">
            <a:extLst>
              <a:ext uri="{FF2B5EF4-FFF2-40B4-BE49-F238E27FC236}">
                <a16:creationId xmlns:a16="http://schemas.microsoft.com/office/drawing/2014/main" id="{5E3BA006-FB7C-F74B-E4C7-A64E91A56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327" y="5451723"/>
            <a:ext cx="311401" cy="362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Strong Stock Illustrations – 508,983 Strong Stock Illustrations, Vectors &amp;  Clipart - Dreamstime">
            <a:extLst>
              <a:ext uri="{FF2B5EF4-FFF2-40B4-BE49-F238E27FC236}">
                <a16:creationId xmlns:a16="http://schemas.microsoft.com/office/drawing/2014/main" id="{B10FFBFE-4D70-6B83-595E-801FA6DF1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959" y="3791863"/>
            <a:ext cx="400136" cy="400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rrow: Up 11">
            <a:extLst>
              <a:ext uri="{FF2B5EF4-FFF2-40B4-BE49-F238E27FC236}">
                <a16:creationId xmlns:a16="http://schemas.microsoft.com/office/drawing/2014/main" id="{BD81F397-6479-3323-45C7-1471DFE5701F}"/>
              </a:ext>
            </a:extLst>
          </p:cNvPr>
          <p:cNvSpPr/>
          <p:nvPr/>
        </p:nvSpPr>
        <p:spPr>
          <a:xfrm rot="5400000">
            <a:off x="6968536" y="1981161"/>
            <a:ext cx="279998" cy="8103407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E3EA11C-A3F4-F46D-63AE-362D69B1F9D5}"/>
              </a:ext>
            </a:extLst>
          </p:cNvPr>
          <p:cNvCxnSpPr>
            <a:cxnSpLocks/>
          </p:cNvCxnSpPr>
          <p:nvPr/>
        </p:nvCxnSpPr>
        <p:spPr>
          <a:xfrm>
            <a:off x="3509237" y="5851418"/>
            <a:ext cx="0" cy="3657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F94854-8E4F-5FE6-0D8E-A9498C94E899}"/>
              </a:ext>
            </a:extLst>
          </p:cNvPr>
          <p:cNvCxnSpPr>
            <a:cxnSpLocks/>
          </p:cNvCxnSpPr>
          <p:nvPr/>
        </p:nvCxnSpPr>
        <p:spPr>
          <a:xfrm>
            <a:off x="4097969" y="5851418"/>
            <a:ext cx="0" cy="3657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6EAA79-9BA3-F75B-6D28-C4A3760CF2D9}"/>
              </a:ext>
            </a:extLst>
          </p:cNvPr>
          <p:cNvCxnSpPr>
            <a:cxnSpLocks/>
          </p:cNvCxnSpPr>
          <p:nvPr/>
        </p:nvCxnSpPr>
        <p:spPr>
          <a:xfrm>
            <a:off x="4727298" y="5851418"/>
            <a:ext cx="0" cy="3657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7659A7-391B-E79A-1289-FDDCF4D5C244}"/>
              </a:ext>
            </a:extLst>
          </p:cNvPr>
          <p:cNvCxnSpPr>
            <a:cxnSpLocks/>
          </p:cNvCxnSpPr>
          <p:nvPr/>
        </p:nvCxnSpPr>
        <p:spPr>
          <a:xfrm>
            <a:off x="5356627" y="5851418"/>
            <a:ext cx="0" cy="3657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A43A37-F1B7-7C53-61A3-CED4460810A4}"/>
              </a:ext>
            </a:extLst>
          </p:cNvPr>
          <p:cNvCxnSpPr>
            <a:cxnSpLocks/>
          </p:cNvCxnSpPr>
          <p:nvPr/>
        </p:nvCxnSpPr>
        <p:spPr>
          <a:xfrm>
            <a:off x="5985956" y="5851418"/>
            <a:ext cx="0" cy="3657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4CF30D-6659-8C28-CDC7-E9E39F45F500}"/>
              </a:ext>
            </a:extLst>
          </p:cNvPr>
          <p:cNvCxnSpPr>
            <a:cxnSpLocks/>
          </p:cNvCxnSpPr>
          <p:nvPr/>
        </p:nvCxnSpPr>
        <p:spPr>
          <a:xfrm>
            <a:off x="6615285" y="5851418"/>
            <a:ext cx="0" cy="3657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FD8C183-79D1-2DF5-23C2-C11D618DBE96}"/>
              </a:ext>
            </a:extLst>
          </p:cNvPr>
          <p:cNvCxnSpPr>
            <a:cxnSpLocks/>
          </p:cNvCxnSpPr>
          <p:nvPr/>
        </p:nvCxnSpPr>
        <p:spPr>
          <a:xfrm>
            <a:off x="7244614" y="5851418"/>
            <a:ext cx="0" cy="3657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C3ADCF0-F54C-0D59-7812-C537ABA45B61}"/>
              </a:ext>
            </a:extLst>
          </p:cNvPr>
          <p:cNvCxnSpPr>
            <a:cxnSpLocks/>
          </p:cNvCxnSpPr>
          <p:nvPr/>
        </p:nvCxnSpPr>
        <p:spPr>
          <a:xfrm>
            <a:off x="7873943" y="5851418"/>
            <a:ext cx="0" cy="3657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A1F3C2E-E5C8-9DF3-584A-42D7D65395E3}"/>
              </a:ext>
            </a:extLst>
          </p:cNvPr>
          <p:cNvCxnSpPr>
            <a:cxnSpLocks/>
          </p:cNvCxnSpPr>
          <p:nvPr/>
        </p:nvCxnSpPr>
        <p:spPr>
          <a:xfrm>
            <a:off x="8503272" y="5851418"/>
            <a:ext cx="0" cy="3657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D611199-E65F-3D0B-659F-8F0CEC8C1DB1}"/>
              </a:ext>
            </a:extLst>
          </p:cNvPr>
          <p:cNvCxnSpPr>
            <a:cxnSpLocks/>
          </p:cNvCxnSpPr>
          <p:nvPr/>
        </p:nvCxnSpPr>
        <p:spPr>
          <a:xfrm>
            <a:off x="9132601" y="5851418"/>
            <a:ext cx="0" cy="3657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FE8B7C1-2915-3650-8F55-A1A150857302}"/>
              </a:ext>
            </a:extLst>
          </p:cNvPr>
          <p:cNvSpPr txBox="1"/>
          <p:nvPr/>
        </p:nvSpPr>
        <p:spPr>
          <a:xfrm>
            <a:off x="3259434" y="6177914"/>
            <a:ext cx="518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6mo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A3A8F8-F740-3692-481B-CA4AA34BA48B}"/>
              </a:ext>
            </a:extLst>
          </p:cNvPr>
          <p:cNvSpPr txBox="1"/>
          <p:nvPr/>
        </p:nvSpPr>
        <p:spPr>
          <a:xfrm>
            <a:off x="3848463" y="6167971"/>
            <a:ext cx="518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1EA5AD-ECD7-C005-8775-A811DE01E7C4}"/>
              </a:ext>
            </a:extLst>
          </p:cNvPr>
          <p:cNvSpPr txBox="1"/>
          <p:nvPr/>
        </p:nvSpPr>
        <p:spPr>
          <a:xfrm>
            <a:off x="5097502" y="6177913"/>
            <a:ext cx="518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A76BF3-7D3D-AE04-0383-06FF57C704D4}"/>
              </a:ext>
            </a:extLst>
          </p:cNvPr>
          <p:cNvSpPr txBox="1"/>
          <p:nvPr/>
        </p:nvSpPr>
        <p:spPr>
          <a:xfrm>
            <a:off x="8898848" y="6184601"/>
            <a:ext cx="518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5y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43EEFE6-7787-3F50-DD32-326941A8CC47}"/>
              </a:ext>
            </a:extLst>
          </p:cNvPr>
          <p:cNvCxnSpPr>
            <a:cxnSpLocks/>
          </p:cNvCxnSpPr>
          <p:nvPr/>
        </p:nvCxnSpPr>
        <p:spPr>
          <a:xfrm>
            <a:off x="3056168" y="5851418"/>
            <a:ext cx="0" cy="3657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56E15FF-6BD0-758D-21D3-FBC7AFF025B6}"/>
              </a:ext>
            </a:extLst>
          </p:cNvPr>
          <p:cNvSpPr txBox="1"/>
          <p:nvPr/>
        </p:nvSpPr>
        <p:spPr>
          <a:xfrm>
            <a:off x="2817761" y="6177913"/>
            <a:ext cx="518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1mo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4156C56-E4E9-8F64-1C7C-FFD924D59C39}"/>
              </a:ext>
            </a:extLst>
          </p:cNvPr>
          <p:cNvSpPr/>
          <p:nvPr/>
        </p:nvSpPr>
        <p:spPr>
          <a:xfrm>
            <a:off x="3255016" y="3916883"/>
            <a:ext cx="2101611" cy="270908"/>
          </a:xfrm>
          <a:prstGeom prst="rect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Decreased muscle mass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4393EDD-DAF0-63B8-8A09-7F75C610FC3D}"/>
              </a:ext>
            </a:extLst>
          </p:cNvPr>
          <p:cNvSpPr/>
          <p:nvPr/>
        </p:nvSpPr>
        <p:spPr>
          <a:xfrm>
            <a:off x="3259434" y="4413489"/>
            <a:ext cx="5852875" cy="249382"/>
          </a:xfrm>
          <a:prstGeom prst="rect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Redistribution of adipose tissue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6BEE225-865F-A6F2-AB4B-EB0383BAF904}"/>
              </a:ext>
            </a:extLst>
          </p:cNvPr>
          <p:cNvSpPr/>
          <p:nvPr/>
        </p:nvSpPr>
        <p:spPr>
          <a:xfrm>
            <a:off x="3032790" y="3386786"/>
            <a:ext cx="6076433" cy="255612"/>
          </a:xfrm>
          <a:prstGeom prst="rect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Decreased spontaneous erection and sexual desire</a:t>
            </a:r>
          </a:p>
        </p:txBody>
      </p:sp>
      <p:sp>
        <p:nvSpPr>
          <p:cNvPr id="51" name="Arrow: Pentagon 50">
            <a:extLst>
              <a:ext uri="{FF2B5EF4-FFF2-40B4-BE49-F238E27FC236}">
                <a16:creationId xmlns:a16="http://schemas.microsoft.com/office/drawing/2014/main" id="{1353081E-8607-6CD8-3A13-7D269E08C100}"/>
              </a:ext>
            </a:extLst>
          </p:cNvPr>
          <p:cNvSpPr/>
          <p:nvPr/>
        </p:nvSpPr>
        <p:spPr>
          <a:xfrm>
            <a:off x="3518559" y="5464231"/>
            <a:ext cx="7520980" cy="255612"/>
          </a:xfrm>
          <a:prstGeom prst="homePlat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Decrease in facial and body hair growth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7E8DB02-5AC5-DC60-95BD-324BB14DFA53}"/>
              </a:ext>
            </a:extLst>
          </p:cNvPr>
          <p:cNvCxnSpPr>
            <a:cxnSpLocks/>
          </p:cNvCxnSpPr>
          <p:nvPr/>
        </p:nvCxnSpPr>
        <p:spPr>
          <a:xfrm>
            <a:off x="2382087" y="3871970"/>
            <a:ext cx="0" cy="3979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6EFFF987-7C3B-0FD0-5CAE-D76363C4C694}"/>
              </a:ext>
            </a:extLst>
          </p:cNvPr>
          <p:cNvSpPr/>
          <p:nvPr/>
        </p:nvSpPr>
        <p:spPr>
          <a:xfrm>
            <a:off x="3259434" y="4907583"/>
            <a:ext cx="5853117" cy="288763"/>
          </a:xfrm>
          <a:prstGeom prst="rect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Breast growth</a:t>
            </a:r>
          </a:p>
        </p:txBody>
      </p:sp>
      <p:pic>
        <p:nvPicPr>
          <p:cNvPr id="66" name="Picture 65" descr="A picture containing silhouette&#10;&#10;Description automatically generated">
            <a:extLst>
              <a:ext uri="{FF2B5EF4-FFF2-40B4-BE49-F238E27FC236}">
                <a16:creationId xmlns:a16="http://schemas.microsoft.com/office/drawing/2014/main" id="{56F2740E-BA66-8AB0-FB8D-6E2937FC6D4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97" b="30930"/>
          <a:stretch/>
        </p:blipFill>
        <p:spPr>
          <a:xfrm>
            <a:off x="1946225" y="4375173"/>
            <a:ext cx="1347176" cy="341114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427033EB-1A03-D402-537F-E3ABFD87A1B7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18" t="26164" r="40197" b="37496"/>
          <a:stretch/>
        </p:blipFill>
        <p:spPr>
          <a:xfrm>
            <a:off x="2425202" y="4782462"/>
            <a:ext cx="457373" cy="539004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B3D0A2DF-DE80-E26C-5329-1E01D1B96FE5}"/>
              </a:ext>
            </a:extLst>
          </p:cNvPr>
          <p:cNvSpPr txBox="1"/>
          <p:nvPr/>
        </p:nvSpPr>
        <p:spPr>
          <a:xfrm>
            <a:off x="9077284" y="4815675"/>
            <a:ext cx="27537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Max growth 2-5y, typically tanner 1-2.  Not reversible </a:t>
            </a:r>
          </a:p>
        </p:txBody>
      </p:sp>
      <p:pic>
        <p:nvPicPr>
          <p:cNvPr id="72" name="Picture 71" descr="A nose with a black background&#10;&#10;Description automatically generated">
            <a:extLst>
              <a:ext uri="{FF2B5EF4-FFF2-40B4-BE49-F238E27FC236}">
                <a16:creationId xmlns:a16="http://schemas.microsoft.com/office/drawing/2014/main" id="{11CE1FDC-75A6-49FF-6D93-D515427F92C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43" t="33435" r="37666" b="33801"/>
          <a:stretch/>
        </p:blipFill>
        <p:spPr>
          <a:xfrm>
            <a:off x="2305987" y="3140557"/>
            <a:ext cx="750181" cy="696843"/>
          </a:xfrm>
          <a:prstGeom prst="rect">
            <a:avLst/>
          </a:prstGeom>
        </p:spPr>
      </p:pic>
      <p:sp>
        <p:nvSpPr>
          <p:cNvPr id="33" name="Cases">
            <a:hlinkClick r:id="rId13" action="ppaction://hlinksldjump"/>
            <a:extLst>
              <a:ext uri="{FF2B5EF4-FFF2-40B4-BE49-F238E27FC236}">
                <a16:creationId xmlns:a16="http://schemas.microsoft.com/office/drawing/2014/main" id="{8E8FA399-42FD-E699-FC79-11DD029351A8}"/>
              </a:ext>
            </a:extLst>
          </p:cNvPr>
          <p:cNvSpPr/>
          <p:nvPr/>
        </p:nvSpPr>
        <p:spPr>
          <a:xfrm>
            <a:off x="186154" y="2714860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FAQs</a:t>
            </a:r>
          </a:p>
        </p:txBody>
      </p:sp>
      <p:pic>
        <p:nvPicPr>
          <p:cNvPr id="34" name="Graphic 33" descr="Cursor with solid fill">
            <a:extLst>
              <a:ext uri="{FF2B5EF4-FFF2-40B4-BE49-F238E27FC236}">
                <a16:creationId xmlns:a16="http://schemas.microsoft.com/office/drawing/2014/main" id="{1E1D5708-C52F-479A-E604-B7AE6545986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25055" y="2947503"/>
            <a:ext cx="270672" cy="270672"/>
          </a:xfrm>
          <a:prstGeom prst="rect">
            <a:avLst/>
          </a:prstGeom>
        </p:spPr>
      </p:pic>
      <p:sp>
        <p:nvSpPr>
          <p:cNvPr id="36" name="Cases">
            <a:hlinkClick r:id="rId16" action="ppaction://hlinksldjump"/>
            <a:extLst>
              <a:ext uri="{FF2B5EF4-FFF2-40B4-BE49-F238E27FC236}">
                <a16:creationId xmlns:a16="http://schemas.microsoft.com/office/drawing/2014/main" id="{5229CDD5-D46C-E0D4-0849-215257F6F61F}"/>
              </a:ext>
            </a:extLst>
          </p:cNvPr>
          <p:cNvSpPr/>
          <p:nvPr/>
        </p:nvSpPr>
        <p:spPr>
          <a:xfrm>
            <a:off x="186154" y="3240725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Resources</a:t>
            </a:r>
          </a:p>
        </p:txBody>
      </p:sp>
      <p:pic>
        <p:nvPicPr>
          <p:cNvPr id="37" name="Graphic 36" descr="Cursor with solid fill">
            <a:extLst>
              <a:ext uri="{FF2B5EF4-FFF2-40B4-BE49-F238E27FC236}">
                <a16:creationId xmlns:a16="http://schemas.microsoft.com/office/drawing/2014/main" id="{ED60F129-80CA-ECD6-F3C8-13F47F222CE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25055" y="3473368"/>
            <a:ext cx="270672" cy="270672"/>
          </a:xfrm>
          <a:prstGeom prst="rect">
            <a:avLst/>
          </a:prstGeom>
        </p:spPr>
      </p:pic>
      <p:sp>
        <p:nvSpPr>
          <p:cNvPr id="38" name="Cases">
            <a:hlinkClick r:id="rId17" action="ppaction://hlinksldjump"/>
            <a:extLst>
              <a:ext uri="{FF2B5EF4-FFF2-40B4-BE49-F238E27FC236}">
                <a16:creationId xmlns:a16="http://schemas.microsoft.com/office/drawing/2014/main" id="{EB60DDE4-35C6-CBCA-09D8-211CD7C7490C}"/>
              </a:ext>
            </a:extLst>
          </p:cNvPr>
          <p:cNvSpPr/>
          <p:nvPr/>
        </p:nvSpPr>
        <p:spPr>
          <a:xfrm>
            <a:off x="186154" y="3766590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39" name="Graphic 38" descr="Cursor with solid fill">
            <a:extLst>
              <a:ext uri="{FF2B5EF4-FFF2-40B4-BE49-F238E27FC236}">
                <a16:creationId xmlns:a16="http://schemas.microsoft.com/office/drawing/2014/main" id="{243D1C33-DCA1-2E36-30FC-50AF454A588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25055" y="3999233"/>
            <a:ext cx="270672" cy="270672"/>
          </a:xfrm>
          <a:prstGeom prst="rect">
            <a:avLst/>
          </a:prstGeom>
        </p:spPr>
      </p:pic>
      <p:sp>
        <p:nvSpPr>
          <p:cNvPr id="40" name="Obj 1">
            <a:hlinkClick r:id="rId18" action="ppaction://hlinksldjump"/>
            <a:extLst>
              <a:ext uri="{FF2B5EF4-FFF2-40B4-BE49-F238E27FC236}">
                <a16:creationId xmlns:a16="http://schemas.microsoft.com/office/drawing/2014/main" id="{38BDA870-0399-4CB7-E507-5187FE4FA55B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Terminology</a:t>
            </a:r>
          </a:p>
        </p:txBody>
      </p:sp>
      <p:sp>
        <p:nvSpPr>
          <p:cNvPr id="45" name="Obj 2">
            <a:hlinkClick r:id="rId19" action="ppaction://hlinksldjump"/>
            <a:extLst>
              <a:ext uri="{FF2B5EF4-FFF2-40B4-BE49-F238E27FC236}">
                <a16:creationId xmlns:a16="http://schemas.microsoft.com/office/drawing/2014/main" id="{36F0DCD7-48BA-66B0-C113-C23A23431441}"/>
              </a:ext>
            </a:extLst>
          </p:cNvPr>
          <p:cNvSpPr/>
          <p:nvPr/>
        </p:nvSpPr>
        <p:spPr>
          <a:xfrm>
            <a:off x="167950" y="67445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Evaluation</a:t>
            </a:r>
          </a:p>
        </p:txBody>
      </p:sp>
      <p:pic>
        <p:nvPicPr>
          <p:cNvPr id="46" name="Graphic 45" descr="Cursor with solid fill">
            <a:extLst>
              <a:ext uri="{FF2B5EF4-FFF2-40B4-BE49-F238E27FC236}">
                <a16:creationId xmlns:a16="http://schemas.microsoft.com/office/drawing/2014/main" id="{25814329-A18B-BF73-9998-F3A24C3CF2E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06851" y="381235"/>
            <a:ext cx="270672" cy="270672"/>
          </a:xfrm>
          <a:prstGeom prst="rect">
            <a:avLst/>
          </a:prstGeom>
        </p:spPr>
      </p:pic>
      <p:pic>
        <p:nvPicPr>
          <p:cNvPr id="47" name="Graphic 46" descr="Cursor with solid fill">
            <a:extLst>
              <a:ext uri="{FF2B5EF4-FFF2-40B4-BE49-F238E27FC236}">
                <a16:creationId xmlns:a16="http://schemas.microsoft.com/office/drawing/2014/main" id="{B5EB186E-8CA0-5768-6BDE-9FD7BAA030B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06851" y="907100"/>
            <a:ext cx="270672" cy="270672"/>
          </a:xfrm>
          <a:prstGeom prst="rect">
            <a:avLst/>
          </a:prstGeom>
        </p:spPr>
      </p:pic>
      <p:sp>
        <p:nvSpPr>
          <p:cNvPr id="52" name="Obj 3">
            <a:hlinkClick r:id="rId20" action="ppaction://hlinksldjump"/>
            <a:extLst>
              <a:ext uri="{FF2B5EF4-FFF2-40B4-BE49-F238E27FC236}">
                <a16:creationId xmlns:a16="http://schemas.microsoft.com/office/drawing/2014/main" id="{58525D93-DF63-5022-CA12-2D4B3448B476}"/>
              </a:ext>
            </a:extLst>
          </p:cNvPr>
          <p:cNvSpPr/>
          <p:nvPr/>
        </p:nvSpPr>
        <p:spPr>
          <a:xfrm>
            <a:off x="167950" y="120031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Therapies</a:t>
            </a:r>
          </a:p>
        </p:txBody>
      </p:sp>
      <p:pic>
        <p:nvPicPr>
          <p:cNvPr id="53" name="Graphic 52" descr="Cursor with solid fill">
            <a:extLst>
              <a:ext uri="{FF2B5EF4-FFF2-40B4-BE49-F238E27FC236}">
                <a16:creationId xmlns:a16="http://schemas.microsoft.com/office/drawing/2014/main" id="{D5FAEE44-E03E-430A-8D54-1C0E30810AC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06851" y="1432965"/>
            <a:ext cx="270672" cy="270672"/>
          </a:xfrm>
          <a:prstGeom prst="rect">
            <a:avLst/>
          </a:prstGeom>
        </p:spPr>
      </p:pic>
      <p:sp>
        <p:nvSpPr>
          <p:cNvPr id="56" name="Cases">
            <a:extLst>
              <a:ext uri="{FF2B5EF4-FFF2-40B4-BE49-F238E27FC236}">
                <a16:creationId xmlns:a16="http://schemas.microsoft.com/office/drawing/2014/main" id="{E53A5C7F-A8C6-1F93-E153-4BD2E31302A6}"/>
              </a:ext>
            </a:extLst>
          </p:cNvPr>
          <p:cNvSpPr/>
          <p:nvPr/>
        </p:nvSpPr>
        <p:spPr>
          <a:xfrm>
            <a:off x="314959" y="1705619"/>
            <a:ext cx="1347814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Feminizing</a:t>
            </a:r>
          </a:p>
        </p:txBody>
      </p:sp>
      <p:sp>
        <p:nvSpPr>
          <p:cNvPr id="58" name="Cases">
            <a:hlinkClick r:id="rId21" action="ppaction://hlinksldjump"/>
            <a:extLst>
              <a:ext uri="{FF2B5EF4-FFF2-40B4-BE49-F238E27FC236}">
                <a16:creationId xmlns:a16="http://schemas.microsoft.com/office/drawing/2014/main" id="{7214602E-D6F0-3C17-AB29-995D856FA507}"/>
              </a:ext>
            </a:extLst>
          </p:cNvPr>
          <p:cNvSpPr/>
          <p:nvPr/>
        </p:nvSpPr>
        <p:spPr>
          <a:xfrm>
            <a:off x="314959" y="2185913"/>
            <a:ext cx="1347813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Masculinizing</a:t>
            </a:r>
          </a:p>
        </p:txBody>
      </p:sp>
      <p:pic>
        <p:nvPicPr>
          <p:cNvPr id="59" name="Graphic 58" descr="Cursor with solid fill">
            <a:extLst>
              <a:ext uri="{FF2B5EF4-FFF2-40B4-BE49-F238E27FC236}">
                <a16:creationId xmlns:a16="http://schemas.microsoft.com/office/drawing/2014/main" id="{E209E624-9758-34A6-C22F-8214AF0B4CB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21484" y="2418556"/>
            <a:ext cx="270672" cy="270672"/>
          </a:xfrm>
          <a:prstGeom prst="rect">
            <a:avLst/>
          </a:prstGeom>
        </p:spPr>
      </p:pic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752D7AE7-6C66-DF6E-FEE4-330796CEC76C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997" y="1670391"/>
            <a:ext cx="323493" cy="1257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C2B7A84-F035-CE33-66B1-C458BD26D7C7}"/>
              </a:ext>
            </a:extLst>
          </p:cNvPr>
          <p:cNvCxnSpPr>
            <a:cxnSpLocks/>
          </p:cNvCxnSpPr>
          <p:nvPr/>
        </p:nvCxnSpPr>
        <p:spPr>
          <a:xfrm>
            <a:off x="2410324" y="5451723"/>
            <a:ext cx="0" cy="3979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158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B76715-C8FF-E130-B901-C2354C28C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248687"/>
              </p:ext>
            </p:extLst>
          </p:nvPr>
        </p:nvGraphicFramePr>
        <p:xfrm>
          <a:off x="4190309" y="850121"/>
          <a:ext cx="7831896" cy="3403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7974">
                  <a:extLst>
                    <a:ext uri="{9D8B030D-6E8A-4147-A177-3AD203B41FA5}">
                      <a16:colId xmlns:a16="http://schemas.microsoft.com/office/drawing/2014/main" val="1925535236"/>
                    </a:ext>
                  </a:extLst>
                </a:gridCol>
                <a:gridCol w="1957974">
                  <a:extLst>
                    <a:ext uri="{9D8B030D-6E8A-4147-A177-3AD203B41FA5}">
                      <a16:colId xmlns:a16="http://schemas.microsoft.com/office/drawing/2014/main" val="2368226340"/>
                    </a:ext>
                  </a:extLst>
                </a:gridCol>
                <a:gridCol w="1957974">
                  <a:extLst>
                    <a:ext uri="{9D8B030D-6E8A-4147-A177-3AD203B41FA5}">
                      <a16:colId xmlns:a16="http://schemas.microsoft.com/office/drawing/2014/main" val="3844261867"/>
                    </a:ext>
                  </a:extLst>
                </a:gridCol>
                <a:gridCol w="1957974">
                  <a:extLst>
                    <a:ext uri="{9D8B030D-6E8A-4147-A177-3AD203B41FA5}">
                      <a16:colId xmlns:a16="http://schemas.microsoft.com/office/drawing/2014/main" val="1610041268"/>
                    </a:ext>
                  </a:extLst>
                </a:gridCol>
              </a:tblGrid>
              <a:tr h="3403678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896664"/>
                  </a:ext>
                </a:extLst>
              </a:tr>
            </a:tbl>
          </a:graphicData>
        </a:graphic>
      </p:graphicFrame>
      <p:sp>
        <p:nvSpPr>
          <p:cNvPr id="7" name="Testosterone button">
            <a:extLst>
              <a:ext uri="{FF2B5EF4-FFF2-40B4-BE49-F238E27FC236}">
                <a16:creationId xmlns:a16="http://schemas.microsoft.com/office/drawing/2014/main" id="{DE2F890C-923B-4CB4-AE24-D02D0B9A30F1}"/>
              </a:ext>
            </a:extLst>
          </p:cNvPr>
          <p:cNvSpPr txBox="1">
            <a:spLocks noChangeAspect="1"/>
          </p:cNvSpPr>
          <p:nvPr/>
        </p:nvSpPr>
        <p:spPr>
          <a:xfrm>
            <a:off x="2216997" y="1967635"/>
            <a:ext cx="1693520" cy="73056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noAutofit/>
          </a:bodyPr>
          <a:lstStyle/>
          <a:p>
            <a:pPr algn="ctr"/>
            <a:r>
              <a:rPr lang="en-US" dirty="0"/>
              <a:t>Testosterone</a:t>
            </a:r>
          </a:p>
        </p:txBody>
      </p:sp>
      <p:pic>
        <p:nvPicPr>
          <p:cNvPr id="44" name="Graphic 43" descr="Cursor with solid fill">
            <a:extLst>
              <a:ext uri="{FF2B5EF4-FFF2-40B4-BE49-F238E27FC236}">
                <a16:creationId xmlns:a16="http://schemas.microsoft.com/office/drawing/2014/main" id="{CF91F0C0-130E-4CCA-92F0-9C53AE1394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6083" y="2547322"/>
            <a:ext cx="296010" cy="301752"/>
          </a:xfrm>
          <a:prstGeom prst="rect">
            <a:avLst/>
          </a:prstGeom>
        </p:spPr>
      </p:pic>
      <p:sp>
        <p:nvSpPr>
          <p:cNvPr id="75" name="testosterone">
            <a:extLst>
              <a:ext uri="{FF2B5EF4-FFF2-40B4-BE49-F238E27FC236}">
                <a16:creationId xmlns:a16="http://schemas.microsoft.com/office/drawing/2014/main" id="{DD76C88B-286F-4EB0-A211-876D47F5929F}"/>
              </a:ext>
            </a:extLst>
          </p:cNvPr>
          <p:cNvSpPr txBox="1">
            <a:spLocks noChangeAspect="1"/>
          </p:cNvSpPr>
          <p:nvPr/>
        </p:nvSpPr>
        <p:spPr>
          <a:xfrm>
            <a:off x="2210109" y="1967635"/>
            <a:ext cx="1693520" cy="73056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38100">
            <a:solidFill>
              <a:schemeClr val="accent2">
                <a:lumMod val="75000"/>
              </a:schemeClr>
            </a:solidFill>
          </a:ln>
          <a:effectLst/>
        </p:spPr>
        <p:txBody>
          <a:bodyPr wrap="none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Testosterone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37C5259-C307-D599-AEC6-DC3A0F8B6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262074"/>
              </p:ext>
            </p:extLst>
          </p:nvPr>
        </p:nvGraphicFramePr>
        <p:xfrm>
          <a:off x="4193013" y="148589"/>
          <a:ext cx="7827860" cy="697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965">
                  <a:extLst>
                    <a:ext uri="{9D8B030D-6E8A-4147-A177-3AD203B41FA5}">
                      <a16:colId xmlns:a16="http://schemas.microsoft.com/office/drawing/2014/main" val="2578077384"/>
                    </a:ext>
                  </a:extLst>
                </a:gridCol>
                <a:gridCol w="1956965">
                  <a:extLst>
                    <a:ext uri="{9D8B030D-6E8A-4147-A177-3AD203B41FA5}">
                      <a16:colId xmlns:a16="http://schemas.microsoft.com/office/drawing/2014/main" val="3738521838"/>
                    </a:ext>
                  </a:extLst>
                </a:gridCol>
                <a:gridCol w="1956965">
                  <a:extLst>
                    <a:ext uri="{9D8B030D-6E8A-4147-A177-3AD203B41FA5}">
                      <a16:colId xmlns:a16="http://schemas.microsoft.com/office/drawing/2014/main" val="1901834802"/>
                    </a:ext>
                  </a:extLst>
                </a:gridCol>
                <a:gridCol w="1956965">
                  <a:extLst>
                    <a:ext uri="{9D8B030D-6E8A-4147-A177-3AD203B41FA5}">
                      <a16:colId xmlns:a16="http://schemas.microsoft.com/office/drawing/2014/main" val="3162767456"/>
                    </a:ext>
                  </a:extLst>
                </a:gridCol>
              </a:tblGrid>
              <a:tr h="69765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Formulations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Desired Effects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Contraindications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Monitoring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125695"/>
                  </a:ext>
                </a:extLst>
              </a:tr>
            </a:tbl>
          </a:graphicData>
        </a:graphic>
      </p:graphicFrame>
      <p:grpSp>
        <p:nvGrpSpPr>
          <p:cNvPr id="55" name="Group 54">
            <a:extLst>
              <a:ext uri="{FF2B5EF4-FFF2-40B4-BE49-F238E27FC236}">
                <a16:creationId xmlns:a16="http://schemas.microsoft.com/office/drawing/2014/main" id="{DE55BA85-9AB6-BC9C-342B-8F1540D03411}"/>
              </a:ext>
            </a:extLst>
          </p:cNvPr>
          <p:cNvGrpSpPr/>
          <p:nvPr/>
        </p:nvGrpSpPr>
        <p:grpSpPr>
          <a:xfrm>
            <a:off x="4437268" y="1197194"/>
            <a:ext cx="1556702" cy="2582775"/>
            <a:chOff x="4474309" y="1700867"/>
            <a:chExt cx="1556702" cy="258277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FE214F4-4FF7-B9C9-EF1C-4E71FB081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74309" y="2635735"/>
              <a:ext cx="432666" cy="99513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7A0CEA6-F309-96EA-C211-CDF7AAADF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80387" y="2805129"/>
              <a:ext cx="950624" cy="72529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F5F41A2-A979-1FA2-0923-11163E2C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20725" y="3854253"/>
              <a:ext cx="674754" cy="429389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55FA420-C4AD-8254-0BE2-60F12F155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41769" y="1700867"/>
              <a:ext cx="432666" cy="934868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BE66337-714B-9D19-4FF6-9E2A8C5E33A8}"/>
              </a:ext>
            </a:extLst>
          </p:cNvPr>
          <p:cNvGrpSpPr/>
          <p:nvPr/>
        </p:nvGrpSpPr>
        <p:grpSpPr>
          <a:xfrm>
            <a:off x="8120346" y="924197"/>
            <a:ext cx="1889150" cy="3233364"/>
            <a:chOff x="8157387" y="1427870"/>
            <a:chExt cx="1889150" cy="3233364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F7F12D7-CC2B-BBB8-539E-4916B8741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309652" y="2607055"/>
              <a:ext cx="624803" cy="794503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5E7710E2-8F14-1E7E-993D-2D3B74AECF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088862" y="3100233"/>
              <a:ext cx="860839" cy="694225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56977DCF-B76F-685F-72B0-9CF07BFA9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303678" y="3594955"/>
              <a:ext cx="692514" cy="785982"/>
            </a:xfrm>
            <a:prstGeom prst="rect">
              <a:avLst/>
            </a:prstGeom>
          </p:spPr>
        </p:pic>
        <p:pic>
          <p:nvPicPr>
            <p:cNvPr id="41" name="Picture 2" descr="Acne - Cheek Body Part Royalty Free SVG, Cliparts, Vectors, and Stock  Illustration. Image 76801195.">
              <a:extLst>
                <a:ext uri="{FF2B5EF4-FFF2-40B4-BE49-F238E27FC236}">
                  <a16:creationId xmlns:a16="http://schemas.microsoft.com/office/drawing/2014/main" id="{938C77A5-A082-A32C-6D57-AC4E998D14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367" y="3906049"/>
              <a:ext cx="755185" cy="7551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E2EA41EF-7AE8-693F-BE30-D9CCF0197D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157387" y="1587212"/>
              <a:ext cx="624803" cy="694225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563659EE-A392-DE89-EDE0-8192F387F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918743" y="1427870"/>
              <a:ext cx="838996" cy="653489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D751F52-0B93-1E84-B2C0-D0D05E71EB25}"/>
                </a:ext>
              </a:extLst>
            </p:cNvPr>
            <p:cNvSpPr txBox="1"/>
            <p:nvPr/>
          </p:nvSpPr>
          <p:spPr>
            <a:xfrm>
              <a:off x="8469788" y="2035146"/>
              <a:ext cx="15585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Sex hormone-receptive cancers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74DFFF7-431A-358C-7187-9C6D3AA3D4BC}"/>
                </a:ext>
              </a:extLst>
            </p:cNvPr>
            <p:cNvSpPr txBox="1"/>
            <p:nvPr/>
          </p:nvSpPr>
          <p:spPr>
            <a:xfrm>
              <a:off x="8487943" y="2715904"/>
              <a:ext cx="15585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Pregnancy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0A70312-6130-F7CB-A86B-97930491AC5A}"/>
              </a:ext>
            </a:extLst>
          </p:cNvPr>
          <p:cNvGrpSpPr/>
          <p:nvPr/>
        </p:nvGrpSpPr>
        <p:grpSpPr>
          <a:xfrm>
            <a:off x="6117581" y="919718"/>
            <a:ext cx="2072940" cy="2670676"/>
            <a:chOff x="6204464" y="1444767"/>
            <a:chExt cx="2072940" cy="2670676"/>
          </a:xfrm>
        </p:grpSpPr>
        <p:pic>
          <p:nvPicPr>
            <p:cNvPr id="14" name="Picture 10" descr="Strong Stock Illustrations – 508,983 Strong Stock Illustrations, Vectors &amp;  Clipart - Dreamstime">
              <a:extLst>
                <a:ext uri="{FF2B5EF4-FFF2-40B4-BE49-F238E27FC236}">
                  <a16:creationId xmlns:a16="http://schemas.microsoft.com/office/drawing/2014/main" id="{82267898-190D-ECB2-576A-4A8B0F70DA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28216" y="3091663"/>
              <a:ext cx="579120" cy="579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6" descr="man beard light&quot; Emoji - Download for free – Iconduck">
              <a:extLst>
                <a:ext uri="{FF2B5EF4-FFF2-40B4-BE49-F238E27FC236}">
                  <a16:creationId xmlns:a16="http://schemas.microsoft.com/office/drawing/2014/main" id="{DD552100-10F2-87A8-FBAB-ABCC09EEDA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5071" y="3536323"/>
              <a:ext cx="497682" cy="579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8" descr="Voice Clipart Vector Images (over 3,300)">
              <a:extLst>
                <a:ext uri="{FF2B5EF4-FFF2-40B4-BE49-F238E27FC236}">
                  <a16:creationId xmlns:a16="http://schemas.microsoft.com/office/drawing/2014/main" id="{FDFCE2ED-CECB-DE99-3CD8-FDFCE4D7E5C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655"/>
            <a:stretch/>
          </p:blipFill>
          <p:spPr bwMode="auto">
            <a:xfrm>
              <a:off x="6238451" y="1444767"/>
              <a:ext cx="1051560" cy="8974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9" descr="A uterus with uterus in the center&#10;&#10;Description automatically generated">
              <a:extLst>
                <a:ext uri="{FF2B5EF4-FFF2-40B4-BE49-F238E27FC236}">
                  <a16:creationId xmlns:a16="http://schemas.microsoft.com/office/drawing/2014/main" id="{F3384E1E-F348-906B-E26B-93F21005DD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635" t="18188" r="34511" b="31206"/>
            <a:stretch/>
          </p:blipFill>
          <p:spPr>
            <a:xfrm>
              <a:off x="7128075" y="1605610"/>
              <a:ext cx="1025573" cy="1013282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9DB8B2C-80A1-618B-1D13-F2D2FC78F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519250" y="2502780"/>
              <a:ext cx="227629" cy="304814"/>
            </a:xfrm>
            <a:prstGeom prst="rect">
              <a:avLst/>
            </a:prstGeom>
          </p:spPr>
        </p:pic>
        <p:sp>
          <p:nvSpPr>
            <p:cNvPr id="24" name="&quot;No&quot; Symbol 31">
              <a:extLst>
                <a:ext uri="{FF2B5EF4-FFF2-40B4-BE49-F238E27FC236}">
                  <a16:creationId xmlns:a16="http://schemas.microsoft.com/office/drawing/2014/main" id="{6DEC8BBF-37F2-EF20-CF89-1288FDDDD55F}"/>
                </a:ext>
              </a:extLst>
            </p:cNvPr>
            <p:cNvSpPr/>
            <p:nvPr/>
          </p:nvSpPr>
          <p:spPr>
            <a:xfrm>
              <a:off x="7350957" y="2131296"/>
              <a:ext cx="564213" cy="570957"/>
            </a:xfrm>
            <a:prstGeom prst="noSmoking">
              <a:avLst>
                <a:gd name="adj" fmla="val 3609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1128122-5230-AB1A-60B6-FDFD68C929F9}"/>
                </a:ext>
              </a:extLst>
            </p:cNvPr>
            <p:cNvSpPr txBox="1"/>
            <p:nvPr/>
          </p:nvSpPr>
          <p:spPr>
            <a:xfrm>
              <a:off x="6204464" y="2038295"/>
              <a:ext cx="10515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Vocal changes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ADCC838-3387-5CBE-B132-E82E19ECA2F8}"/>
                </a:ext>
              </a:extLst>
            </p:cNvPr>
            <p:cNvSpPr txBox="1"/>
            <p:nvPr/>
          </p:nvSpPr>
          <p:spPr>
            <a:xfrm>
              <a:off x="6986962" y="2755154"/>
              <a:ext cx="12904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Cessation of menses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7B42B917-0280-8727-7EB0-A267251C3C74}"/>
              </a:ext>
            </a:extLst>
          </p:cNvPr>
          <p:cNvSpPr txBox="1"/>
          <p:nvPr/>
        </p:nvSpPr>
        <p:spPr>
          <a:xfrm>
            <a:off x="10067068" y="1552942"/>
            <a:ext cx="192475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 Total Testosterone</a:t>
            </a:r>
          </a:p>
          <a:p>
            <a:pPr algn="ctr"/>
            <a:r>
              <a:rPr lang="en-US" sz="1400" dirty="0"/>
              <a:t>(consider estradiol)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3mo &amp; 6mo…Q1yr</a:t>
            </a:r>
          </a:p>
          <a:p>
            <a:pPr algn="ctr"/>
            <a:endParaRPr lang="en-US" sz="1400" dirty="0"/>
          </a:p>
          <a:p>
            <a:pPr algn="ctr"/>
            <a:r>
              <a:rPr lang="en-US" sz="1400" u="sng" dirty="0"/>
              <a:t>Goal testosterone level between doses</a:t>
            </a:r>
            <a:r>
              <a:rPr lang="en-US" sz="1400" dirty="0"/>
              <a:t>: 400-700 ng/dL</a:t>
            </a:r>
          </a:p>
        </p:txBody>
      </p: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7DF00C80-1A2F-2B9E-2F05-C45547743A3F}"/>
              </a:ext>
            </a:extLst>
          </p:cNvPr>
          <p:cNvGrpSpPr/>
          <p:nvPr/>
        </p:nvGrpSpPr>
        <p:grpSpPr>
          <a:xfrm>
            <a:off x="2819127" y="4411987"/>
            <a:ext cx="8883967" cy="2446013"/>
            <a:chOff x="2819127" y="4411987"/>
            <a:chExt cx="8883967" cy="2446013"/>
          </a:xfrm>
        </p:grpSpPr>
        <p:pic>
          <p:nvPicPr>
            <p:cNvPr id="68" name="Picture 8" descr="Voice Clipart Vector Images (over 3,300)">
              <a:extLst>
                <a:ext uri="{FF2B5EF4-FFF2-40B4-BE49-F238E27FC236}">
                  <a16:creationId xmlns:a16="http://schemas.microsoft.com/office/drawing/2014/main" id="{A2FABD3B-C046-DB60-E54B-D11B9CEF12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655"/>
            <a:stretch/>
          </p:blipFill>
          <p:spPr bwMode="auto">
            <a:xfrm>
              <a:off x="2819127" y="4411987"/>
              <a:ext cx="654845" cy="558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0" name="Picture 6" descr="man beard light&quot; Emoji - Download for free – Iconduck">
              <a:extLst>
                <a:ext uri="{FF2B5EF4-FFF2-40B4-BE49-F238E27FC236}">
                  <a16:creationId xmlns:a16="http://schemas.microsoft.com/office/drawing/2014/main" id="{6C172212-59C0-14BE-A975-0EFDADB4FA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0847" y="5789025"/>
              <a:ext cx="311401" cy="3623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" name="Picture 10" descr="Strong Stock Illustrations – 508,983 Strong Stock Illustrations, Vectors &amp;  Clipart - Dreamstime">
              <a:extLst>
                <a:ext uri="{FF2B5EF4-FFF2-40B4-BE49-F238E27FC236}">
                  <a16:creationId xmlns:a16="http://schemas.microsoft.com/office/drawing/2014/main" id="{9A2173F8-DDF7-E149-E2A7-D2747D4CCF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0481" y="5355652"/>
              <a:ext cx="400136" cy="4001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CA42BBA6-B4C7-5A50-6BF8-FBB022F2416E}"/>
                </a:ext>
              </a:extLst>
            </p:cNvPr>
            <p:cNvGrpSpPr/>
            <p:nvPr/>
          </p:nvGrpSpPr>
          <p:grpSpPr>
            <a:xfrm>
              <a:off x="2863722" y="4766192"/>
              <a:ext cx="565654" cy="615870"/>
              <a:chOff x="2581272" y="5051703"/>
              <a:chExt cx="565654" cy="615870"/>
            </a:xfrm>
          </p:grpSpPr>
          <p:pic>
            <p:nvPicPr>
              <p:cNvPr id="72" name="Picture 71" descr="A uterus with uterus in the center&#10;&#10;Description automatically generated">
                <a:extLst>
                  <a:ext uri="{FF2B5EF4-FFF2-40B4-BE49-F238E27FC236}">
                    <a16:creationId xmlns:a16="http://schemas.microsoft.com/office/drawing/2014/main" id="{B65CC637-F53B-96D2-CFF8-6270C87AE4D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635" t="18188" r="34511" b="31206"/>
              <a:stretch/>
            </p:blipFill>
            <p:spPr>
              <a:xfrm>
                <a:off x="2581272" y="5051703"/>
                <a:ext cx="565654" cy="558875"/>
              </a:xfrm>
              <a:prstGeom prst="rect">
                <a:avLst/>
              </a:prstGeom>
            </p:spPr>
          </p:pic>
          <p:sp>
            <p:nvSpPr>
              <p:cNvPr id="89" name="&quot;No&quot; Symbol 31">
                <a:extLst>
                  <a:ext uri="{FF2B5EF4-FFF2-40B4-BE49-F238E27FC236}">
                    <a16:creationId xmlns:a16="http://schemas.microsoft.com/office/drawing/2014/main" id="{6A0D55D5-2C18-34EA-FA90-A4E1EBBA7C61}"/>
                  </a:ext>
                </a:extLst>
              </p:cNvPr>
              <p:cNvSpPr/>
              <p:nvPr/>
            </p:nvSpPr>
            <p:spPr>
              <a:xfrm>
                <a:off x="2721919" y="5210624"/>
                <a:ext cx="284358" cy="287757"/>
              </a:xfrm>
              <a:prstGeom prst="noSmoking">
                <a:avLst>
                  <a:gd name="adj" fmla="val 3609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24" name="Picture 123" descr="Icon&#10;&#10;Description automatically generated">
                <a:extLst>
                  <a:ext uri="{FF2B5EF4-FFF2-40B4-BE49-F238E27FC236}">
                    <a16:creationId xmlns:a16="http://schemas.microsoft.com/office/drawing/2014/main" id="{AE7CF7BF-9FFD-994B-2953-9951AA1CD7F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383" t="30524" r="31845" b="36073"/>
              <a:stretch/>
            </p:blipFill>
            <p:spPr>
              <a:xfrm>
                <a:off x="2789245" y="5481097"/>
                <a:ext cx="149707" cy="186476"/>
              </a:xfrm>
              <a:prstGeom prst="rect">
                <a:avLst/>
              </a:prstGeom>
            </p:spPr>
          </p:pic>
        </p:grpSp>
        <p:sp>
          <p:nvSpPr>
            <p:cNvPr id="146" name="Arrow: Up 145">
              <a:extLst>
                <a:ext uri="{FF2B5EF4-FFF2-40B4-BE49-F238E27FC236}">
                  <a16:creationId xmlns:a16="http://schemas.microsoft.com/office/drawing/2014/main" id="{8BB171FE-49DB-3F21-74CD-8A02C011EA2D}"/>
                </a:ext>
              </a:extLst>
            </p:cNvPr>
            <p:cNvSpPr/>
            <p:nvPr/>
          </p:nvSpPr>
          <p:spPr>
            <a:xfrm rot="5400000">
              <a:off x="7511392" y="2346783"/>
              <a:ext cx="279998" cy="8103407"/>
            </a:xfrm>
            <a:prstGeom prst="up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88122A23-1572-7F8B-408F-4A4AFCA10F74}"/>
                </a:ext>
              </a:extLst>
            </p:cNvPr>
            <p:cNvCxnSpPr>
              <a:cxnSpLocks/>
            </p:cNvCxnSpPr>
            <p:nvPr/>
          </p:nvCxnSpPr>
          <p:spPr>
            <a:xfrm>
              <a:off x="4052093" y="6217040"/>
              <a:ext cx="0" cy="3657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91048D86-4C21-0275-4969-FAD695C19813}"/>
                </a:ext>
              </a:extLst>
            </p:cNvPr>
            <p:cNvCxnSpPr>
              <a:cxnSpLocks/>
            </p:cNvCxnSpPr>
            <p:nvPr/>
          </p:nvCxnSpPr>
          <p:spPr>
            <a:xfrm>
              <a:off x="4640825" y="6217040"/>
              <a:ext cx="0" cy="3657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9A3CA9B2-6F3D-5A62-DA21-D82AB420C9CD}"/>
                </a:ext>
              </a:extLst>
            </p:cNvPr>
            <p:cNvCxnSpPr>
              <a:cxnSpLocks/>
            </p:cNvCxnSpPr>
            <p:nvPr/>
          </p:nvCxnSpPr>
          <p:spPr>
            <a:xfrm>
              <a:off x="5270154" y="6217040"/>
              <a:ext cx="0" cy="3657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39017828-A226-4A64-7DFC-B4678E45E666}"/>
                </a:ext>
              </a:extLst>
            </p:cNvPr>
            <p:cNvCxnSpPr>
              <a:cxnSpLocks/>
            </p:cNvCxnSpPr>
            <p:nvPr/>
          </p:nvCxnSpPr>
          <p:spPr>
            <a:xfrm>
              <a:off x="5899483" y="6217040"/>
              <a:ext cx="0" cy="3657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B8F66F8-E7F2-1DC6-28E6-EC5EDB489965}"/>
                </a:ext>
              </a:extLst>
            </p:cNvPr>
            <p:cNvCxnSpPr>
              <a:cxnSpLocks/>
            </p:cNvCxnSpPr>
            <p:nvPr/>
          </p:nvCxnSpPr>
          <p:spPr>
            <a:xfrm>
              <a:off x="6528812" y="6217040"/>
              <a:ext cx="0" cy="3657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20A3B900-1F0A-4725-7C30-C42B88502AF1}"/>
                </a:ext>
              </a:extLst>
            </p:cNvPr>
            <p:cNvCxnSpPr>
              <a:cxnSpLocks/>
            </p:cNvCxnSpPr>
            <p:nvPr/>
          </p:nvCxnSpPr>
          <p:spPr>
            <a:xfrm>
              <a:off x="7158141" y="6217040"/>
              <a:ext cx="0" cy="3657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67EAFCA8-CC2C-E0AC-87B0-4E2E8A121DC6}"/>
                </a:ext>
              </a:extLst>
            </p:cNvPr>
            <p:cNvCxnSpPr>
              <a:cxnSpLocks/>
            </p:cNvCxnSpPr>
            <p:nvPr/>
          </p:nvCxnSpPr>
          <p:spPr>
            <a:xfrm>
              <a:off x="7787470" y="6217040"/>
              <a:ext cx="0" cy="3657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D3FFD494-D794-E33E-2612-ABD1051917DC}"/>
                </a:ext>
              </a:extLst>
            </p:cNvPr>
            <p:cNvCxnSpPr>
              <a:cxnSpLocks/>
            </p:cNvCxnSpPr>
            <p:nvPr/>
          </p:nvCxnSpPr>
          <p:spPr>
            <a:xfrm>
              <a:off x="8416799" y="6217040"/>
              <a:ext cx="0" cy="3657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10424C00-130D-F361-8639-346FE183B5EE}"/>
                </a:ext>
              </a:extLst>
            </p:cNvPr>
            <p:cNvCxnSpPr>
              <a:cxnSpLocks/>
            </p:cNvCxnSpPr>
            <p:nvPr/>
          </p:nvCxnSpPr>
          <p:spPr>
            <a:xfrm>
              <a:off x="9046128" y="6217040"/>
              <a:ext cx="0" cy="3657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3C770B0D-91A9-B208-99E0-6FCE5421AF47}"/>
                </a:ext>
              </a:extLst>
            </p:cNvPr>
            <p:cNvCxnSpPr>
              <a:cxnSpLocks/>
            </p:cNvCxnSpPr>
            <p:nvPr/>
          </p:nvCxnSpPr>
          <p:spPr>
            <a:xfrm>
              <a:off x="9675457" y="6217040"/>
              <a:ext cx="0" cy="3657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DB1242A3-76B9-EE4C-9F9C-5242648C906B}"/>
                </a:ext>
              </a:extLst>
            </p:cNvPr>
            <p:cNvSpPr txBox="1"/>
            <p:nvPr/>
          </p:nvSpPr>
          <p:spPr>
            <a:xfrm>
              <a:off x="3802290" y="6543536"/>
              <a:ext cx="5182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6mo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407BC611-E34C-32D3-B26F-759AA8CDC573}"/>
                </a:ext>
              </a:extLst>
            </p:cNvPr>
            <p:cNvSpPr txBox="1"/>
            <p:nvPr/>
          </p:nvSpPr>
          <p:spPr>
            <a:xfrm>
              <a:off x="4391319" y="6533593"/>
              <a:ext cx="5182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1y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862D2CAB-794F-02A7-9EEF-6FE168C94716}"/>
                </a:ext>
              </a:extLst>
            </p:cNvPr>
            <p:cNvSpPr txBox="1"/>
            <p:nvPr/>
          </p:nvSpPr>
          <p:spPr>
            <a:xfrm>
              <a:off x="5640358" y="6543535"/>
              <a:ext cx="5182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2y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F876E0AA-952F-C717-A603-C43CD3468FA2}"/>
                </a:ext>
              </a:extLst>
            </p:cNvPr>
            <p:cNvSpPr txBox="1"/>
            <p:nvPr/>
          </p:nvSpPr>
          <p:spPr>
            <a:xfrm>
              <a:off x="9441704" y="6550223"/>
              <a:ext cx="5182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5y</a:t>
              </a:r>
            </a:p>
          </p:txBody>
        </p: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BD9B633F-D75B-2D1B-7672-313B6F69743A}"/>
                </a:ext>
              </a:extLst>
            </p:cNvPr>
            <p:cNvCxnSpPr>
              <a:cxnSpLocks/>
            </p:cNvCxnSpPr>
            <p:nvPr/>
          </p:nvCxnSpPr>
          <p:spPr>
            <a:xfrm>
              <a:off x="3599024" y="6217040"/>
              <a:ext cx="0" cy="3657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D4B2E78D-EA16-1C15-C7A1-77BB34E349D2}"/>
                </a:ext>
              </a:extLst>
            </p:cNvPr>
            <p:cNvSpPr txBox="1"/>
            <p:nvPr/>
          </p:nvSpPr>
          <p:spPr>
            <a:xfrm>
              <a:off x="3360617" y="6543535"/>
              <a:ext cx="5182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1mo</a:t>
              </a: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B98BFFD5-722A-D569-D183-75360CCA36E4}"/>
                </a:ext>
              </a:extLst>
            </p:cNvPr>
            <p:cNvSpPr/>
            <p:nvPr/>
          </p:nvSpPr>
          <p:spPr>
            <a:xfrm>
              <a:off x="3599024" y="4534038"/>
              <a:ext cx="2300444" cy="25561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Vocal deepening</a:t>
              </a: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BA08AEBA-1CF8-3A37-77EC-7862C199728E}"/>
                </a:ext>
              </a:extLst>
            </p:cNvPr>
            <p:cNvSpPr/>
            <p:nvPr/>
          </p:nvSpPr>
          <p:spPr>
            <a:xfrm>
              <a:off x="3599024" y="4974956"/>
              <a:ext cx="2300444" cy="25561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Cessation of menses</a:t>
              </a: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572880E5-0067-25B8-E43D-4592DC477F41}"/>
                </a:ext>
              </a:extLst>
            </p:cNvPr>
            <p:cNvSpPr/>
            <p:nvPr/>
          </p:nvSpPr>
          <p:spPr>
            <a:xfrm>
              <a:off x="4052093" y="5391090"/>
              <a:ext cx="5623363" cy="25561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Increased strength and body fat redistribution</a:t>
              </a:r>
            </a:p>
          </p:txBody>
        </p:sp>
      </p:grpSp>
      <p:sp>
        <p:nvSpPr>
          <p:cNvPr id="4" name="Cases">
            <a:hlinkClick r:id="rId21" action="ppaction://hlinksldjump"/>
            <a:extLst>
              <a:ext uri="{FF2B5EF4-FFF2-40B4-BE49-F238E27FC236}">
                <a16:creationId xmlns:a16="http://schemas.microsoft.com/office/drawing/2014/main" id="{D612313A-45E4-8CA1-0F0C-2A578E00EF4A}"/>
              </a:ext>
            </a:extLst>
          </p:cNvPr>
          <p:cNvSpPr/>
          <p:nvPr/>
        </p:nvSpPr>
        <p:spPr>
          <a:xfrm>
            <a:off x="314959" y="1705619"/>
            <a:ext cx="1347814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Feminizing</a:t>
            </a:r>
          </a:p>
        </p:txBody>
      </p:sp>
      <p:sp>
        <p:nvSpPr>
          <p:cNvPr id="5" name="Cases">
            <a:extLst>
              <a:ext uri="{FF2B5EF4-FFF2-40B4-BE49-F238E27FC236}">
                <a16:creationId xmlns:a16="http://schemas.microsoft.com/office/drawing/2014/main" id="{3EC9E7AB-EBD3-0217-C057-7586247D6E7F}"/>
              </a:ext>
            </a:extLst>
          </p:cNvPr>
          <p:cNvSpPr/>
          <p:nvPr/>
        </p:nvSpPr>
        <p:spPr>
          <a:xfrm>
            <a:off x="314959" y="2185913"/>
            <a:ext cx="1347813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Masculinizing</a:t>
            </a:r>
          </a:p>
        </p:txBody>
      </p:sp>
      <p:pic>
        <p:nvPicPr>
          <p:cNvPr id="6" name="Graphic 5" descr="Cursor with solid fill">
            <a:extLst>
              <a:ext uri="{FF2B5EF4-FFF2-40B4-BE49-F238E27FC236}">
                <a16:creationId xmlns:a16="http://schemas.microsoft.com/office/drawing/2014/main" id="{909EF610-B4A1-831F-42E1-31988318C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34839" y="1957591"/>
            <a:ext cx="270672" cy="270672"/>
          </a:xfrm>
          <a:prstGeom prst="rect">
            <a:avLst/>
          </a:prstGeom>
        </p:spPr>
      </p:pic>
      <p:sp>
        <p:nvSpPr>
          <p:cNvPr id="15" name="Cases">
            <a:hlinkClick r:id="rId22" action="ppaction://hlinksldjump"/>
            <a:extLst>
              <a:ext uri="{FF2B5EF4-FFF2-40B4-BE49-F238E27FC236}">
                <a16:creationId xmlns:a16="http://schemas.microsoft.com/office/drawing/2014/main" id="{6DF505B4-A243-8125-DD65-8897DFC4BBC0}"/>
              </a:ext>
            </a:extLst>
          </p:cNvPr>
          <p:cNvSpPr/>
          <p:nvPr/>
        </p:nvSpPr>
        <p:spPr>
          <a:xfrm>
            <a:off x="186154" y="2714860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FAQs</a:t>
            </a:r>
          </a:p>
        </p:txBody>
      </p:sp>
      <p:pic>
        <p:nvPicPr>
          <p:cNvPr id="16" name="Graphic 15" descr="Cursor with solid fill">
            <a:extLst>
              <a:ext uri="{FF2B5EF4-FFF2-40B4-BE49-F238E27FC236}">
                <a16:creationId xmlns:a16="http://schemas.microsoft.com/office/drawing/2014/main" id="{22421A40-76B0-D542-DFAB-4C41D22A81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5055" y="2947503"/>
            <a:ext cx="270672" cy="270672"/>
          </a:xfrm>
          <a:prstGeom prst="rect">
            <a:avLst/>
          </a:prstGeom>
        </p:spPr>
      </p:pic>
      <p:sp>
        <p:nvSpPr>
          <p:cNvPr id="17" name="Cases">
            <a:hlinkClick r:id="rId23" action="ppaction://hlinksldjump"/>
            <a:extLst>
              <a:ext uri="{FF2B5EF4-FFF2-40B4-BE49-F238E27FC236}">
                <a16:creationId xmlns:a16="http://schemas.microsoft.com/office/drawing/2014/main" id="{C59C69AD-AA08-BDCE-20F4-720B5E8EDDB7}"/>
              </a:ext>
            </a:extLst>
          </p:cNvPr>
          <p:cNvSpPr/>
          <p:nvPr/>
        </p:nvSpPr>
        <p:spPr>
          <a:xfrm>
            <a:off x="186154" y="3240725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Resources</a:t>
            </a:r>
          </a:p>
        </p:txBody>
      </p:sp>
      <p:pic>
        <p:nvPicPr>
          <p:cNvPr id="22" name="Graphic 21" descr="Cursor with solid fill">
            <a:extLst>
              <a:ext uri="{FF2B5EF4-FFF2-40B4-BE49-F238E27FC236}">
                <a16:creationId xmlns:a16="http://schemas.microsoft.com/office/drawing/2014/main" id="{CD06F468-911F-C029-B95F-37C9D08476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5055" y="3473368"/>
            <a:ext cx="270672" cy="270672"/>
          </a:xfrm>
          <a:prstGeom prst="rect">
            <a:avLst/>
          </a:prstGeom>
        </p:spPr>
      </p:pic>
      <p:sp>
        <p:nvSpPr>
          <p:cNvPr id="23" name="Cases">
            <a:hlinkClick r:id="rId24" action="ppaction://hlinksldjump"/>
            <a:extLst>
              <a:ext uri="{FF2B5EF4-FFF2-40B4-BE49-F238E27FC236}">
                <a16:creationId xmlns:a16="http://schemas.microsoft.com/office/drawing/2014/main" id="{FEDE7450-EDBB-20AD-27C5-438797C033EC}"/>
              </a:ext>
            </a:extLst>
          </p:cNvPr>
          <p:cNvSpPr/>
          <p:nvPr/>
        </p:nvSpPr>
        <p:spPr>
          <a:xfrm>
            <a:off x="186154" y="3766590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956CC906-B00D-E27A-FE43-7095D30BD6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5055" y="3999233"/>
            <a:ext cx="270672" cy="270672"/>
          </a:xfrm>
          <a:prstGeom prst="rect">
            <a:avLst/>
          </a:prstGeom>
        </p:spPr>
      </p:pic>
      <p:sp>
        <p:nvSpPr>
          <p:cNvPr id="26" name="Obj 1">
            <a:hlinkClick r:id="rId25" action="ppaction://hlinksldjump"/>
            <a:extLst>
              <a:ext uri="{FF2B5EF4-FFF2-40B4-BE49-F238E27FC236}">
                <a16:creationId xmlns:a16="http://schemas.microsoft.com/office/drawing/2014/main" id="{B37E3BB1-028A-2BAA-6CF9-DCBBDEEF8164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Terminology</a:t>
            </a:r>
          </a:p>
        </p:txBody>
      </p:sp>
      <p:sp>
        <p:nvSpPr>
          <p:cNvPr id="27" name="Obj 2">
            <a:hlinkClick r:id="rId26" action="ppaction://hlinksldjump"/>
            <a:extLst>
              <a:ext uri="{FF2B5EF4-FFF2-40B4-BE49-F238E27FC236}">
                <a16:creationId xmlns:a16="http://schemas.microsoft.com/office/drawing/2014/main" id="{9B43B794-29A0-0269-8A9B-834DA3E841F9}"/>
              </a:ext>
            </a:extLst>
          </p:cNvPr>
          <p:cNvSpPr/>
          <p:nvPr/>
        </p:nvSpPr>
        <p:spPr>
          <a:xfrm>
            <a:off x="167950" y="67445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Evaluation</a:t>
            </a:r>
          </a:p>
        </p:txBody>
      </p:sp>
      <p:pic>
        <p:nvPicPr>
          <p:cNvPr id="29" name="Graphic 28" descr="Cursor with solid fill">
            <a:extLst>
              <a:ext uri="{FF2B5EF4-FFF2-40B4-BE49-F238E27FC236}">
                <a16:creationId xmlns:a16="http://schemas.microsoft.com/office/drawing/2014/main" id="{ACF6BCFF-F516-E9EE-9961-942DFB559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6851" y="381235"/>
            <a:ext cx="270672" cy="270672"/>
          </a:xfrm>
          <a:prstGeom prst="rect">
            <a:avLst/>
          </a:prstGeom>
        </p:spPr>
      </p:pic>
      <p:pic>
        <p:nvPicPr>
          <p:cNvPr id="30" name="Graphic 29" descr="Cursor with solid fill">
            <a:extLst>
              <a:ext uri="{FF2B5EF4-FFF2-40B4-BE49-F238E27FC236}">
                <a16:creationId xmlns:a16="http://schemas.microsoft.com/office/drawing/2014/main" id="{0760A360-6554-3425-849D-2B4718E719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6851" y="907100"/>
            <a:ext cx="270672" cy="270672"/>
          </a:xfrm>
          <a:prstGeom prst="rect">
            <a:avLst/>
          </a:prstGeom>
        </p:spPr>
      </p:pic>
      <p:sp>
        <p:nvSpPr>
          <p:cNvPr id="32" name="Obj 3">
            <a:hlinkClick r:id="rId27" action="ppaction://hlinksldjump"/>
            <a:extLst>
              <a:ext uri="{FF2B5EF4-FFF2-40B4-BE49-F238E27FC236}">
                <a16:creationId xmlns:a16="http://schemas.microsoft.com/office/drawing/2014/main" id="{5CA2FBC6-D1DB-4788-7DB8-1A5935A17C5C}"/>
              </a:ext>
            </a:extLst>
          </p:cNvPr>
          <p:cNvSpPr/>
          <p:nvPr/>
        </p:nvSpPr>
        <p:spPr>
          <a:xfrm>
            <a:off x="167950" y="120031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Therapies</a:t>
            </a:r>
          </a:p>
        </p:txBody>
      </p:sp>
      <p:pic>
        <p:nvPicPr>
          <p:cNvPr id="33" name="Graphic 32" descr="Cursor with solid fill">
            <a:extLst>
              <a:ext uri="{FF2B5EF4-FFF2-40B4-BE49-F238E27FC236}">
                <a16:creationId xmlns:a16="http://schemas.microsoft.com/office/drawing/2014/main" id="{CA9B5D66-D260-3596-5C7A-912053BB4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6851" y="1432965"/>
            <a:ext cx="270672" cy="270672"/>
          </a:xfrm>
          <a:prstGeom prst="rect">
            <a:avLst/>
          </a:prstGeom>
        </p:spPr>
      </p:pic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40BDF829-A772-B244-DC09-366765539B65}"/>
              </a:ext>
            </a:extLst>
          </p:cNvPr>
          <p:cNvCxnSpPr>
            <a:cxnSpLocks/>
            <a:endCxn id="5" idx="1"/>
          </p:cNvCxnSpPr>
          <p:nvPr/>
        </p:nvCxnSpPr>
        <p:spPr>
          <a:xfrm rot="16200000" flipH="1">
            <a:off x="-142779" y="1912165"/>
            <a:ext cx="798388" cy="1170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23A3142-153A-C73E-B87E-4452A7F328C1}"/>
              </a:ext>
            </a:extLst>
          </p:cNvPr>
          <p:cNvSpPr txBox="1"/>
          <p:nvPr/>
        </p:nvSpPr>
        <p:spPr>
          <a:xfrm>
            <a:off x="5993970" y="4543862"/>
            <a:ext cx="13048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Not reversible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3DF7C6-DF9A-7D40-E85E-4A1317386586}"/>
              </a:ext>
            </a:extLst>
          </p:cNvPr>
          <p:cNvSpPr txBox="1"/>
          <p:nvPr/>
        </p:nvSpPr>
        <p:spPr>
          <a:xfrm>
            <a:off x="5991882" y="4925113"/>
            <a:ext cx="5751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With clitoral enlargement (not reversible) – 30% don’t experience cessation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4F06466-AA32-6A9F-A5A2-5F3B37946B7C}"/>
              </a:ext>
            </a:extLst>
          </p:cNvPr>
          <p:cNvCxnSpPr>
            <a:cxnSpLocks/>
          </p:cNvCxnSpPr>
          <p:nvPr/>
        </p:nvCxnSpPr>
        <p:spPr>
          <a:xfrm flipV="1">
            <a:off x="2819127" y="5829747"/>
            <a:ext cx="0" cy="3216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3B653BD-44A0-B18F-29F4-397BF11123E2}"/>
              </a:ext>
            </a:extLst>
          </p:cNvPr>
          <p:cNvCxnSpPr>
            <a:cxnSpLocks/>
          </p:cNvCxnSpPr>
          <p:nvPr/>
        </p:nvCxnSpPr>
        <p:spPr>
          <a:xfrm flipV="1">
            <a:off x="2819127" y="5391090"/>
            <a:ext cx="0" cy="3216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700E501C-AFD2-4176-509B-5D99B4FA6D1E}"/>
              </a:ext>
            </a:extLst>
          </p:cNvPr>
          <p:cNvSpPr/>
          <p:nvPr/>
        </p:nvSpPr>
        <p:spPr>
          <a:xfrm>
            <a:off x="4061415" y="5800906"/>
            <a:ext cx="5623363" cy="25561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Increased facial/body hair growth and scalp hair loss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D9615A4-765E-D581-1A88-01049159F7D7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60825" y="4708030"/>
            <a:ext cx="1088250" cy="108099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30C3C49-D0A2-C052-8CFB-ABB41C9B8EC4}"/>
              </a:ext>
            </a:extLst>
          </p:cNvPr>
          <p:cNvSpPr txBox="1"/>
          <p:nvPr/>
        </p:nvSpPr>
        <p:spPr>
          <a:xfrm>
            <a:off x="224194" y="5789544"/>
            <a:ext cx="199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Dosing regimens</a:t>
            </a:r>
          </a:p>
        </p:txBody>
      </p:sp>
    </p:spTree>
    <p:extLst>
      <p:ext uri="{BB962C8B-B14F-4D97-AF65-F5344CB8AC3E}">
        <p14:creationId xmlns:p14="http://schemas.microsoft.com/office/powerpoint/2010/main" val="49799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5" grpId="0" animBg="1"/>
      <p:bldP spid="5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4D8EA3-6577-5FF9-779A-85D70BE0F443}"/>
              </a:ext>
            </a:extLst>
          </p:cNvPr>
          <p:cNvSpPr txBox="1"/>
          <p:nvPr/>
        </p:nvSpPr>
        <p:spPr>
          <a:xfrm>
            <a:off x="3017943" y="1920259"/>
            <a:ext cx="21312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Risk-benefit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Patch is lowest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Consider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anticoagulation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7B5E3D-BB27-2C93-9A4E-F3B9EB5C89BE}"/>
              </a:ext>
            </a:extLst>
          </p:cNvPr>
          <p:cNvSpPr txBox="1"/>
          <p:nvPr/>
        </p:nvSpPr>
        <p:spPr>
          <a:xfrm>
            <a:off x="5528378" y="1901657"/>
            <a:ext cx="28488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Risk-benefit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Slight elevated CV risk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USPSTF screening guidelines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See STRONG study in guide under objective four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0353A6-7C95-55A8-D2D2-C13092E36317}"/>
              </a:ext>
            </a:extLst>
          </p:cNvPr>
          <p:cNvSpPr txBox="1"/>
          <p:nvPr/>
        </p:nvSpPr>
        <p:spPr>
          <a:xfrm>
            <a:off x="8900046" y="1851982"/>
            <a:ext cx="31240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Rule out other causes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Decrease dose, increase frequency, change injections -&gt; topical </a:t>
            </a:r>
            <a:r>
              <a:rPr lang="en-US" sz="1600" b="1" dirty="0"/>
              <a:t>(goal to decrease testosterone variability)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Rule out OSA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F0E1E7-83E8-83CB-9C4C-63D3482EEC52}"/>
              </a:ext>
            </a:extLst>
          </p:cNvPr>
          <p:cNvSpPr txBox="1"/>
          <p:nvPr/>
        </p:nvSpPr>
        <p:spPr>
          <a:xfrm>
            <a:off x="8958608" y="5359961"/>
            <a:ext cx="29656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State Medicaid variable, Medicare should cover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Surgery often self-pay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Know local legislation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See LGBT map on next slide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921DD2-0A3F-9863-422D-5BB10E610BCC}"/>
              </a:ext>
            </a:extLst>
          </p:cNvPr>
          <p:cNvSpPr txBox="1"/>
          <p:nvPr/>
        </p:nvSpPr>
        <p:spPr>
          <a:xfrm>
            <a:off x="2542163" y="5359961"/>
            <a:ext cx="26370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Do not hold, with exception of estradiol with risk factors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1C2CC6-221A-4147-69C8-19F99943C2AF}"/>
              </a:ext>
            </a:extLst>
          </p:cNvPr>
          <p:cNvSpPr txBox="1"/>
          <p:nvPr/>
        </p:nvSpPr>
        <p:spPr>
          <a:xfrm>
            <a:off x="5898515" y="5359961"/>
            <a:ext cx="21954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Based on organs present</a:t>
            </a:r>
          </a:p>
        </p:txBody>
      </p:sp>
      <p:sp>
        <p:nvSpPr>
          <p:cNvPr id="37" name="Obj 1">
            <a:hlinkClick r:id="rId2" action="ppaction://hlinksldjump"/>
            <a:extLst>
              <a:ext uri="{FF2B5EF4-FFF2-40B4-BE49-F238E27FC236}">
                <a16:creationId xmlns:a16="http://schemas.microsoft.com/office/drawing/2014/main" id="{59C3150D-9BE1-1471-38AD-42631D2E748E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Terminology</a:t>
            </a:r>
          </a:p>
        </p:txBody>
      </p:sp>
      <p:sp>
        <p:nvSpPr>
          <p:cNvPr id="38" name="Obj 2">
            <a:hlinkClick r:id="rId3" action="ppaction://hlinksldjump"/>
            <a:extLst>
              <a:ext uri="{FF2B5EF4-FFF2-40B4-BE49-F238E27FC236}">
                <a16:creationId xmlns:a16="http://schemas.microsoft.com/office/drawing/2014/main" id="{5B67D88B-24D0-29EC-A850-E1D22D2F941A}"/>
              </a:ext>
            </a:extLst>
          </p:cNvPr>
          <p:cNvSpPr/>
          <p:nvPr/>
        </p:nvSpPr>
        <p:spPr>
          <a:xfrm>
            <a:off x="167950" y="67445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Evaluation</a:t>
            </a:r>
          </a:p>
        </p:txBody>
      </p:sp>
      <p:pic>
        <p:nvPicPr>
          <p:cNvPr id="39" name="Graphic 38" descr="Cursor with solid fill">
            <a:extLst>
              <a:ext uri="{FF2B5EF4-FFF2-40B4-BE49-F238E27FC236}">
                <a16:creationId xmlns:a16="http://schemas.microsoft.com/office/drawing/2014/main" id="{B1E1EF15-2D35-0F13-C56A-30D30B2AE4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381235"/>
            <a:ext cx="270672" cy="270672"/>
          </a:xfrm>
          <a:prstGeom prst="rect">
            <a:avLst/>
          </a:prstGeom>
        </p:spPr>
      </p:pic>
      <p:pic>
        <p:nvPicPr>
          <p:cNvPr id="40" name="Graphic 39" descr="Cursor with solid fill">
            <a:extLst>
              <a:ext uri="{FF2B5EF4-FFF2-40B4-BE49-F238E27FC236}">
                <a16:creationId xmlns:a16="http://schemas.microsoft.com/office/drawing/2014/main" id="{3399E306-8D8A-40C8-7EB5-3B7113A594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907100"/>
            <a:ext cx="270672" cy="270672"/>
          </a:xfrm>
          <a:prstGeom prst="rect">
            <a:avLst/>
          </a:prstGeom>
        </p:spPr>
      </p:pic>
      <p:sp>
        <p:nvSpPr>
          <p:cNvPr id="41" name="Obj 3">
            <a:hlinkClick r:id="rId6" action="ppaction://hlinksldjump"/>
            <a:extLst>
              <a:ext uri="{FF2B5EF4-FFF2-40B4-BE49-F238E27FC236}">
                <a16:creationId xmlns:a16="http://schemas.microsoft.com/office/drawing/2014/main" id="{D9B284B5-2F6C-CA26-C1FE-8B45BFAD3436}"/>
              </a:ext>
            </a:extLst>
          </p:cNvPr>
          <p:cNvSpPr/>
          <p:nvPr/>
        </p:nvSpPr>
        <p:spPr>
          <a:xfrm>
            <a:off x="167950" y="120031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Therapies</a:t>
            </a:r>
          </a:p>
        </p:txBody>
      </p:sp>
      <p:pic>
        <p:nvPicPr>
          <p:cNvPr id="42" name="Graphic 41" descr="Cursor with solid fill">
            <a:extLst>
              <a:ext uri="{FF2B5EF4-FFF2-40B4-BE49-F238E27FC236}">
                <a16:creationId xmlns:a16="http://schemas.microsoft.com/office/drawing/2014/main" id="{EA78D1C4-3126-29C4-7698-9627BE99ED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1432965"/>
            <a:ext cx="270672" cy="270672"/>
          </a:xfrm>
          <a:prstGeom prst="rect">
            <a:avLst/>
          </a:prstGeom>
        </p:spPr>
      </p:pic>
      <p:sp>
        <p:nvSpPr>
          <p:cNvPr id="43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25CB5DD8-533D-41D2-ADF4-6510AE911908}"/>
              </a:ext>
            </a:extLst>
          </p:cNvPr>
          <p:cNvSpPr/>
          <p:nvPr/>
        </p:nvSpPr>
        <p:spPr>
          <a:xfrm>
            <a:off x="167950" y="1726184"/>
            <a:ext cx="1474237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FAQs</a:t>
            </a:r>
          </a:p>
        </p:txBody>
      </p:sp>
      <p:sp>
        <p:nvSpPr>
          <p:cNvPr id="45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F4F9A3D8-E4C7-62EF-D328-3AC5C1BE9D7B}"/>
              </a:ext>
            </a:extLst>
          </p:cNvPr>
          <p:cNvSpPr/>
          <p:nvPr/>
        </p:nvSpPr>
        <p:spPr>
          <a:xfrm>
            <a:off x="167950" y="2252767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Resources</a:t>
            </a:r>
          </a:p>
        </p:txBody>
      </p:sp>
      <p:pic>
        <p:nvPicPr>
          <p:cNvPr id="46" name="Graphic 45" descr="Cursor with solid fill">
            <a:extLst>
              <a:ext uri="{FF2B5EF4-FFF2-40B4-BE49-F238E27FC236}">
                <a16:creationId xmlns:a16="http://schemas.microsoft.com/office/drawing/2014/main" id="{3273E9B7-902D-B8B4-E245-8DA5CF4A84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2485410"/>
            <a:ext cx="270672" cy="270672"/>
          </a:xfrm>
          <a:prstGeom prst="rect">
            <a:avLst/>
          </a:prstGeom>
        </p:spPr>
      </p:pic>
      <p:sp>
        <p:nvSpPr>
          <p:cNvPr id="47" name="Cases">
            <a:hlinkClick r:id="rId9" action="ppaction://hlinksldjump"/>
            <a:extLst>
              <a:ext uri="{FF2B5EF4-FFF2-40B4-BE49-F238E27FC236}">
                <a16:creationId xmlns:a16="http://schemas.microsoft.com/office/drawing/2014/main" id="{99B7A95A-C3C7-5085-D69C-6D07E8203E90}"/>
              </a:ext>
            </a:extLst>
          </p:cNvPr>
          <p:cNvSpPr/>
          <p:nvPr/>
        </p:nvSpPr>
        <p:spPr>
          <a:xfrm>
            <a:off x="167950" y="2779350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48" name="Graphic 47" descr="Cursor with solid fill">
            <a:extLst>
              <a:ext uri="{FF2B5EF4-FFF2-40B4-BE49-F238E27FC236}">
                <a16:creationId xmlns:a16="http://schemas.microsoft.com/office/drawing/2014/main" id="{AC194C67-06D1-1E30-CBF1-851697D059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3011993"/>
            <a:ext cx="270672" cy="270672"/>
          </a:xfrm>
          <a:prstGeom prst="rect">
            <a:avLst/>
          </a:prstGeom>
        </p:spPr>
      </p:pic>
      <p:grpSp>
        <p:nvGrpSpPr>
          <p:cNvPr id="30" name="VTE button">
            <a:extLst>
              <a:ext uri="{FF2B5EF4-FFF2-40B4-BE49-F238E27FC236}">
                <a16:creationId xmlns:a16="http://schemas.microsoft.com/office/drawing/2014/main" id="{30E81F22-B37B-D729-6C84-B46491638190}"/>
              </a:ext>
            </a:extLst>
          </p:cNvPr>
          <p:cNvGrpSpPr/>
          <p:nvPr/>
        </p:nvGrpSpPr>
        <p:grpSpPr>
          <a:xfrm>
            <a:off x="2947912" y="305478"/>
            <a:ext cx="1882224" cy="1420706"/>
            <a:chOff x="2947912" y="305478"/>
            <a:chExt cx="1882224" cy="1420706"/>
          </a:xfrm>
        </p:grpSpPr>
        <p:pic>
          <p:nvPicPr>
            <p:cNvPr id="4098" name="Picture 2" descr="Human Organ Lungs Flat Icon Vector Illustration Stock Illustration -  Download Image Now - Lung, Icon, Vector - iStock">
              <a:extLst>
                <a:ext uri="{FF2B5EF4-FFF2-40B4-BE49-F238E27FC236}">
                  <a16:creationId xmlns:a16="http://schemas.microsoft.com/office/drawing/2014/main" id="{D4222E77-63FA-6D6B-8B76-11AA9FE868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9076" y="305478"/>
              <a:ext cx="943258" cy="943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76F0FEA-1BDB-C9D7-D557-5C8B3B2D0279}"/>
                </a:ext>
              </a:extLst>
            </p:cNvPr>
            <p:cNvSpPr txBox="1"/>
            <p:nvPr/>
          </p:nvSpPr>
          <p:spPr>
            <a:xfrm>
              <a:off x="2947912" y="1079853"/>
              <a:ext cx="188222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/>
                <a:t>DVT/PE on estradiol?</a:t>
              </a:r>
            </a:p>
          </p:txBody>
        </p:sp>
      </p:grpSp>
      <p:grpSp>
        <p:nvGrpSpPr>
          <p:cNvPr id="31" name="polycythemia button">
            <a:extLst>
              <a:ext uri="{FF2B5EF4-FFF2-40B4-BE49-F238E27FC236}">
                <a16:creationId xmlns:a16="http://schemas.microsoft.com/office/drawing/2014/main" id="{9B93E67B-196E-E93B-B18D-5928719F70B1}"/>
              </a:ext>
            </a:extLst>
          </p:cNvPr>
          <p:cNvGrpSpPr/>
          <p:nvPr/>
        </p:nvGrpSpPr>
        <p:grpSpPr>
          <a:xfrm>
            <a:off x="9159383" y="328403"/>
            <a:ext cx="2044700" cy="1359450"/>
            <a:chOff x="5973904" y="396680"/>
            <a:chExt cx="2044700" cy="1359450"/>
          </a:xfrm>
        </p:grpSpPr>
        <p:pic>
          <p:nvPicPr>
            <p:cNvPr id="4100" name="Picture 4" descr="46 Clipart Oxygen Red Blood Cell Royalty-Free Images, Stock Photos &amp;  Pictures | Shutterstock">
              <a:extLst>
                <a:ext uri="{FF2B5EF4-FFF2-40B4-BE49-F238E27FC236}">
                  <a16:creationId xmlns:a16="http://schemas.microsoft.com/office/drawing/2014/main" id="{BA72E2B8-593E-FC54-512D-A15C6DAFAD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23264" y="396680"/>
              <a:ext cx="945981" cy="8036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32C5EE9-7C93-CC81-E7B5-30EA24B4C16D}"/>
                </a:ext>
              </a:extLst>
            </p:cNvPr>
            <p:cNvSpPr txBox="1"/>
            <p:nvPr/>
          </p:nvSpPr>
          <p:spPr>
            <a:xfrm>
              <a:off x="5973904" y="1109799"/>
              <a:ext cx="20447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/>
                <a:t>Polycythemia on testosterone?</a:t>
              </a:r>
              <a:endParaRPr lang="en-US" sz="1800" dirty="0"/>
            </a:p>
          </p:txBody>
        </p:sp>
      </p:grpSp>
      <p:grpSp>
        <p:nvGrpSpPr>
          <p:cNvPr id="34" name="cancer">
            <a:extLst>
              <a:ext uri="{FF2B5EF4-FFF2-40B4-BE49-F238E27FC236}">
                <a16:creationId xmlns:a16="http://schemas.microsoft.com/office/drawing/2014/main" id="{81E69EB7-4971-295E-36A8-98DC1D56B0AC}"/>
              </a:ext>
            </a:extLst>
          </p:cNvPr>
          <p:cNvGrpSpPr/>
          <p:nvPr/>
        </p:nvGrpSpPr>
        <p:grpSpPr>
          <a:xfrm>
            <a:off x="6079222" y="3744752"/>
            <a:ext cx="1834063" cy="1615209"/>
            <a:chOff x="6079222" y="3744752"/>
            <a:chExt cx="1834063" cy="1615209"/>
          </a:xfrm>
        </p:grpSpPr>
        <p:pic>
          <p:nvPicPr>
            <p:cNvPr id="4104" name="Picture 8" descr="Clipboard Clipart Images – Browse 7,422 Stock Photos, Vectors, and Video |  Adobe Stock">
              <a:extLst>
                <a:ext uri="{FF2B5EF4-FFF2-40B4-BE49-F238E27FC236}">
                  <a16:creationId xmlns:a16="http://schemas.microsoft.com/office/drawing/2014/main" id="{F829A037-A440-0910-FBCF-40C3148D8A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4022" y="3744752"/>
              <a:ext cx="884461" cy="10018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DF250DC-F9E3-5C9C-9CCE-217A68A2AF61}"/>
                </a:ext>
              </a:extLst>
            </p:cNvPr>
            <p:cNvSpPr txBox="1"/>
            <p:nvPr/>
          </p:nvSpPr>
          <p:spPr>
            <a:xfrm>
              <a:off x="6079222" y="4713630"/>
              <a:ext cx="183406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/>
                <a:t>Cancer screening?</a:t>
              </a:r>
            </a:p>
          </p:txBody>
        </p:sp>
      </p:grpSp>
      <p:grpSp>
        <p:nvGrpSpPr>
          <p:cNvPr id="32" name="CV risk">
            <a:extLst>
              <a:ext uri="{FF2B5EF4-FFF2-40B4-BE49-F238E27FC236}">
                <a16:creationId xmlns:a16="http://schemas.microsoft.com/office/drawing/2014/main" id="{D5F7F4C6-7904-E48D-D60E-2A930AF09ADF}"/>
              </a:ext>
            </a:extLst>
          </p:cNvPr>
          <p:cNvGrpSpPr/>
          <p:nvPr/>
        </p:nvGrpSpPr>
        <p:grpSpPr>
          <a:xfrm>
            <a:off x="5898515" y="232648"/>
            <a:ext cx="2044700" cy="1458548"/>
            <a:chOff x="9222858" y="297582"/>
            <a:chExt cx="2044700" cy="1458548"/>
          </a:xfrm>
        </p:grpSpPr>
        <p:pic>
          <p:nvPicPr>
            <p:cNvPr id="4102" name="Picture 6" descr="Free Human Heart Clipart - Download in Illustrator, EPS, SVG, JPG, PNG |  Template.net">
              <a:extLst>
                <a:ext uri="{FF2B5EF4-FFF2-40B4-BE49-F238E27FC236}">
                  <a16:creationId xmlns:a16="http://schemas.microsoft.com/office/drawing/2014/main" id="{F7EA531D-1BB3-E1E2-0794-2C17F92F76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34920" y="297582"/>
              <a:ext cx="884460" cy="10018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22E7236-4FA5-48DF-4084-761A20F9DED3}"/>
                </a:ext>
              </a:extLst>
            </p:cNvPr>
            <p:cNvSpPr txBox="1"/>
            <p:nvPr/>
          </p:nvSpPr>
          <p:spPr>
            <a:xfrm>
              <a:off x="9222858" y="1109799"/>
              <a:ext cx="20447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/>
                <a:t>CV risk on estradiol or testosterone?</a:t>
              </a:r>
              <a:endParaRPr lang="en-US" sz="1800" dirty="0"/>
            </a:p>
          </p:txBody>
        </p:sp>
      </p:grpSp>
      <p:grpSp>
        <p:nvGrpSpPr>
          <p:cNvPr id="33" name="operation">
            <a:extLst>
              <a:ext uri="{FF2B5EF4-FFF2-40B4-BE49-F238E27FC236}">
                <a16:creationId xmlns:a16="http://schemas.microsoft.com/office/drawing/2014/main" id="{AFE57304-67CF-6218-306A-EDFEEDF9942C}"/>
              </a:ext>
            </a:extLst>
          </p:cNvPr>
          <p:cNvGrpSpPr/>
          <p:nvPr/>
        </p:nvGrpSpPr>
        <p:grpSpPr>
          <a:xfrm>
            <a:off x="2975800" y="3770745"/>
            <a:ext cx="2131247" cy="1589216"/>
            <a:chOff x="2975800" y="3770745"/>
            <a:chExt cx="2131247" cy="1589216"/>
          </a:xfrm>
        </p:grpSpPr>
        <p:pic>
          <p:nvPicPr>
            <p:cNvPr id="15" name="Picture 8" descr="Surgical Tools For Operations Scalpel Vector Icon Stock Illustration -  Download Image Now - Scalpel, Icon, Vector - iStock">
              <a:extLst>
                <a:ext uri="{FF2B5EF4-FFF2-40B4-BE49-F238E27FC236}">
                  <a16:creationId xmlns:a16="http://schemas.microsoft.com/office/drawing/2014/main" id="{3AA11B1F-CA11-4074-25CC-470982430D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8474" y="3770745"/>
              <a:ext cx="884461" cy="10018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1DB79C8-90D2-1ADC-BD4A-8BDACF574BED}"/>
                </a:ext>
              </a:extLst>
            </p:cNvPr>
            <p:cNvSpPr txBox="1"/>
            <p:nvPr/>
          </p:nvSpPr>
          <p:spPr>
            <a:xfrm>
              <a:off x="2975800" y="4713630"/>
              <a:ext cx="213124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/>
                <a:t>Stopping hormones perioperatively?</a:t>
              </a:r>
            </a:p>
          </p:txBody>
        </p:sp>
      </p:grpSp>
      <p:grpSp>
        <p:nvGrpSpPr>
          <p:cNvPr id="35" name="cost and access">
            <a:extLst>
              <a:ext uri="{FF2B5EF4-FFF2-40B4-BE49-F238E27FC236}">
                <a16:creationId xmlns:a16="http://schemas.microsoft.com/office/drawing/2014/main" id="{965BBF6A-294B-2AF6-8CA8-76C2F4A95E41}"/>
              </a:ext>
            </a:extLst>
          </p:cNvPr>
          <p:cNvGrpSpPr/>
          <p:nvPr/>
        </p:nvGrpSpPr>
        <p:grpSpPr>
          <a:xfrm>
            <a:off x="9370182" y="3929713"/>
            <a:ext cx="1750051" cy="1430248"/>
            <a:chOff x="9370182" y="3929713"/>
            <a:chExt cx="1750051" cy="1430248"/>
          </a:xfrm>
        </p:grpSpPr>
        <p:pic>
          <p:nvPicPr>
            <p:cNvPr id="29" name="Graphic 28" descr="Dollar outline">
              <a:extLst>
                <a:ext uri="{FF2B5EF4-FFF2-40B4-BE49-F238E27FC236}">
                  <a16:creationId xmlns:a16="http://schemas.microsoft.com/office/drawing/2014/main" id="{EF0FAE83-2C5A-5BA1-CB89-455311109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990773" y="3929713"/>
              <a:ext cx="683897" cy="683897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46E8C10-0E9D-8D51-49B9-FCCF1F5BDE1A}"/>
                </a:ext>
              </a:extLst>
            </p:cNvPr>
            <p:cNvSpPr txBox="1"/>
            <p:nvPr/>
          </p:nvSpPr>
          <p:spPr>
            <a:xfrm>
              <a:off x="9370182" y="4713630"/>
              <a:ext cx="175005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/>
                <a:t>Cost </a:t>
              </a:r>
              <a:r>
                <a:rPr lang="en-US" b="1" dirty="0"/>
                <a:t>&amp; </a:t>
              </a:r>
              <a:r>
                <a:rPr lang="en-US" sz="1800" b="1" dirty="0"/>
                <a:t>access for GAHT?</a:t>
              </a:r>
            </a:p>
          </p:txBody>
        </p:sp>
      </p:grpSp>
      <p:pic>
        <p:nvPicPr>
          <p:cNvPr id="22" name="Graphic 21" descr="Cursor with solid fill">
            <a:extLst>
              <a:ext uri="{FF2B5EF4-FFF2-40B4-BE49-F238E27FC236}">
                <a16:creationId xmlns:a16="http://schemas.microsoft.com/office/drawing/2014/main" id="{EEF75BE0-8F78-66EE-CA0F-2EB733B708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1662" y="939766"/>
            <a:ext cx="270672" cy="270672"/>
          </a:xfrm>
          <a:prstGeom prst="rect">
            <a:avLst/>
          </a:prstGeom>
        </p:spPr>
      </p:pic>
      <p:pic>
        <p:nvPicPr>
          <p:cNvPr id="23" name="Graphic 22" descr="Cursor with solid fill">
            <a:extLst>
              <a:ext uri="{FF2B5EF4-FFF2-40B4-BE49-F238E27FC236}">
                <a16:creationId xmlns:a16="http://schemas.microsoft.com/office/drawing/2014/main" id="{32C4A524-57EE-E0D0-8F1A-BDECC1F419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4052" y="784689"/>
            <a:ext cx="270672" cy="270672"/>
          </a:xfrm>
          <a:prstGeom prst="rect">
            <a:avLst/>
          </a:prstGeom>
        </p:spPr>
      </p:pic>
      <p:pic>
        <p:nvPicPr>
          <p:cNvPr id="24" name="Graphic 23" descr="Cursor with solid fill">
            <a:extLst>
              <a:ext uri="{FF2B5EF4-FFF2-40B4-BE49-F238E27FC236}">
                <a16:creationId xmlns:a16="http://schemas.microsoft.com/office/drawing/2014/main" id="{1656565D-9D8E-6EAA-ABBD-3C5130D507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3371" y="889323"/>
            <a:ext cx="270672" cy="270672"/>
          </a:xfrm>
          <a:prstGeom prst="rect">
            <a:avLst/>
          </a:prstGeom>
        </p:spPr>
      </p:pic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0BC322A8-7D0C-4873-C920-E531B0BEB4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85467" y="4475914"/>
            <a:ext cx="270672" cy="270672"/>
          </a:xfrm>
          <a:prstGeom prst="rect">
            <a:avLst/>
          </a:prstGeom>
        </p:spPr>
      </p:pic>
      <p:pic>
        <p:nvPicPr>
          <p:cNvPr id="26" name="Graphic 25" descr="Cursor with solid fill">
            <a:extLst>
              <a:ext uri="{FF2B5EF4-FFF2-40B4-BE49-F238E27FC236}">
                <a16:creationId xmlns:a16="http://schemas.microsoft.com/office/drawing/2014/main" id="{F010DADD-776E-9CAA-2D83-4D6E0661EB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54319" y="4436686"/>
            <a:ext cx="270672" cy="270672"/>
          </a:xfrm>
          <a:prstGeom prst="rect">
            <a:avLst/>
          </a:prstGeom>
        </p:spPr>
      </p:pic>
      <p:pic>
        <p:nvPicPr>
          <p:cNvPr id="27" name="Graphic 26" descr="Cursor with solid fill">
            <a:extLst>
              <a:ext uri="{FF2B5EF4-FFF2-40B4-BE49-F238E27FC236}">
                <a16:creationId xmlns:a16="http://schemas.microsoft.com/office/drawing/2014/main" id="{BA660223-B9CE-F307-7526-F1CE1E110E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5031" y="4392948"/>
            <a:ext cx="270672" cy="27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858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0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2151D-622A-BAEC-5F54-67ABDCCB7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187" y="8669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Resources in gender affirming care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D2F8B8-4BE6-7F2D-C5ED-EF702C91B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000" y="1320000"/>
            <a:ext cx="1672490" cy="1517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21C32B-41AB-9815-3805-140BD4A60113}"/>
              </a:ext>
            </a:extLst>
          </p:cNvPr>
          <p:cNvSpPr txBox="1"/>
          <p:nvPr/>
        </p:nvSpPr>
        <p:spPr>
          <a:xfrm>
            <a:off x="1962311" y="2982959"/>
            <a:ext cx="2282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UCSF Transgender Care Guidelines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7B7194-258F-4303-C14F-C390C787D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364" y="1276924"/>
            <a:ext cx="1658683" cy="16093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891494-3DC2-787D-23C3-BEDCB885618A}"/>
              </a:ext>
            </a:extLst>
          </p:cNvPr>
          <p:cNvSpPr txBox="1"/>
          <p:nvPr/>
        </p:nvSpPr>
        <p:spPr>
          <a:xfrm>
            <a:off x="4162952" y="2928080"/>
            <a:ext cx="28735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World Professional Association for Transgender Care Guidelines (Version 8, Published 2022)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45E576-40A0-F8B3-8AAB-FB415E2E2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3582" y="1276925"/>
            <a:ext cx="1670046" cy="16093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5FDB7AC-9DAD-513A-067A-7C7F6165B33F}"/>
              </a:ext>
            </a:extLst>
          </p:cNvPr>
          <p:cNvSpPr txBox="1"/>
          <p:nvPr/>
        </p:nvSpPr>
        <p:spPr>
          <a:xfrm>
            <a:off x="9593056" y="2951302"/>
            <a:ext cx="19510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Fenway LBGTQIA+ Health Modules (also available for CME)</a:t>
            </a:r>
          </a:p>
        </p:txBody>
      </p:sp>
      <p:sp>
        <p:nvSpPr>
          <p:cNvPr id="23" name="Obj 1">
            <a:hlinkClick r:id="rId5" action="ppaction://hlinksldjump"/>
            <a:extLst>
              <a:ext uri="{FF2B5EF4-FFF2-40B4-BE49-F238E27FC236}">
                <a16:creationId xmlns:a16="http://schemas.microsoft.com/office/drawing/2014/main" id="{45507185-124D-D6C3-5845-77CBE464AA43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Terminology</a:t>
            </a:r>
          </a:p>
        </p:txBody>
      </p:sp>
      <p:sp>
        <p:nvSpPr>
          <p:cNvPr id="24" name="Obj 2">
            <a:hlinkClick r:id="rId6" action="ppaction://hlinksldjump"/>
            <a:extLst>
              <a:ext uri="{FF2B5EF4-FFF2-40B4-BE49-F238E27FC236}">
                <a16:creationId xmlns:a16="http://schemas.microsoft.com/office/drawing/2014/main" id="{84DD3DD0-FC94-FB7F-0F68-4CE5D007A77A}"/>
              </a:ext>
            </a:extLst>
          </p:cNvPr>
          <p:cNvSpPr/>
          <p:nvPr/>
        </p:nvSpPr>
        <p:spPr>
          <a:xfrm>
            <a:off x="167950" y="67445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Evaluation</a:t>
            </a:r>
          </a:p>
        </p:txBody>
      </p:sp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A5EA78C2-9C9E-BAA8-43D2-C0BF2EB592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06851" y="381235"/>
            <a:ext cx="270672" cy="270672"/>
          </a:xfrm>
          <a:prstGeom prst="rect">
            <a:avLst/>
          </a:prstGeom>
        </p:spPr>
      </p:pic>
      <p:pic>
        <p:nvPicPr>
          <p:cNvPr id="26" name="Graphic 25" descr="Cursor with solid fill">
            <a:extLst>
              <a:ext uri="{FF2B5EF4-FFF2-40B4-BE49-F238E27FC236}">
                <a16:creationId xmlns:a16="http://schemas.microsoft.com/office/drawing/2014/main" id="{48B7140A-47FF-BE53-2AB1-4B42A17671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06851" y="907100"/>
            <a:ext cx="270672" cy="270672"/>
          </a:xfrm>
          <a:prstGeom prst="rect">
            <a:avLst/>
          </a:prstGeom>
        </p:spPr>
      </p:pic>
      <p:sp>
        <p:nvSpPr>
          <p:cNvPr id="27" name="Obj 3">
            <a:hlinkClick r:id="rId9" action="ppaction://hlinksldjump"/>
            <a:extLst>
              <a:ext uri="{FF2B5EF4-FFF2-40B4-BE49-F238E27FC236}">
                <a16:creationId xmlns:a16="http://schemas.microsoft.com/office/drawing/2014/main" id="{DE26752C-DE6A-5239-A9CB-5E121C72FDED}"/>
              </a:ext>
            </a:extLst>
          </p:cNvPr>
          <p:cNvSpPr/>
          <p:nvPr/>
        </p:nvSpPr>
        <p:spPr>
          <a:xfrm>
            <a:off x="167950" y="120031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Therapies</a:t>
            </a:r>
          </a:p>
        </p:txBody>
      </p:sp>
      <p:pic>
        <p:nvPicPr>
          <p:cNvPr id="28" name="Graphic 27" descr="Cursor with solid fill">
            <a:extLst>
              <a:ext uri="{FF2B5EF4-FFF2-40B4-BE49-F238E27FC236}">
                <a16:creationId xmlns:a16="http://schemas.microsoft.com/office/drawing/2014/main" id="{AE2EEA73-9ED6-A99A-D443-A9676BBD12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06851" y="1432965"/>
            <a:ext cx="270672" cy="270672"/>
          </a:xfrm>
          <a:prstGeom prst="rect">
            <a:avLst/>
          </a:prstGeom>
        </p:spPr>
      </p:pic>
      <p:sp>
        <p:nvSpPr>
          <p:cNvPr id="29" name="Cases">
            <a:hlinkClick r:id="rId10" action="ppaction://hlinksldjump"/>
            <a:extLst>
              <a:ext uri="{FF2B5EF4-FFF2-40B4-BE49-F238E27FC236}">
                <a16:creationId xmlns:a16="http://schemas.microsoft.com/office/drawing/2014/main" id="{399CF711-A7F6-B20A-D664-9CC3588A1E45}"/>
              </a:ext>
            </a:extLst>
          </p:cNvPr>
          <p:cNvSpPr/>
          <p:nvPr/>
        </p:nvSpPr>
        <p:spPr>
          <a:xfrm>
            <a:off x="167950" y="172618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FAQs</a:t>
            </a:r>
          </a:p>
        </p:txBody>
      </p:sp>
      <p:pic>
        <p:nvPicPr>
          <p:cNvPr id="30" name="Graphic 29" descr="Cursor with solid fill">
            <a:extLst>
              <a:ext uri="{FF2B5EF4-FFF2-40B4-BE49-F238E27FC236}">
                <a16:creationId xmlns:a16="http://schemas.microsoft.com/office/drawing/2014/main" id="{2ACE333D-33CE-FC5B-EC85-76B954A194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06851" y="1958827"/>
            <a:ext cx="270672" cy="270672"/>
          </a:xfrm>
          <a:prstGeom prst="rect">
            <a:avLst/>
          </a:prstGeom>
        </p:spPr>
      </p:pic>
      <p:sp>
        <p:nvSpPr>
          <p:cNvPr id="31" name="Cases">
            <a:hlinkClick r:id="rId11" action="ppaction://hlinksldjump"/>
            <a:extLst>
              <a:ext uri="{FF2B5EF4-FFF2-40B4-BE49-F238E27FC236}">
                <a16:creationId xmlns:a16="http://schemas.microsoft.com/office/drawing/2014/main" id="{3D1DBA95-C375-7993-96AD-44711A060824}"/>
              </a:ext>
            </a:extLst>
          </p:cNvPr>
          <p:cNvSpPr/>
          <p:nvPr/>
        </p:nvSpPr>
        <p:spPr>
          <a:xfrm>
            <a:off x="167950" y="2254969"/>
            <a:ext cx="1474237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Resources</a:t>
            </a:r>
          </a:p>
        </p:txBody>
      </p:sp>
      <p:sp>
        <p:nvSpPr>
          <p:cNvPr id="33" name="Cases">
            <a:hlinkClick r:id="rId12" action="ppaction://hlinksldjump"/>
            <a:extLst>
              <a:ext uri="{FF2B5EF4-FFF2-40B4-BE49-F238E27FC236}">
                <a16:creationId xmlns:a16="http://schemas.microsoft.com/office/drawing/2014/main" id="{0AD514EC-AECB-7B19-E5D5-A66C4A6196B6}"/>
              </a:ext>
            </a:extLst>
          </p:cNvPr>
          <p:cNvSpPr/>
          <p:nvPr/>
        </p:nvSpPr>
        <p:spPr>
          <a:xfrm>
            <a:off x="167950" y="278375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34" name="Graphic 33" descr="Cursor with solid fill">
            <a:extLst>
              <a:ext uri="{FF2B5EF4-FFF2-40B4-BE49-F238E27FC236}">
                <a16:creationId xmlns:a16="http://schemas.microsoft.com/office/drawing/2014/main" id="{64310FBD-F95E-EBD6-AE09-D9F2FA223E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06851" y="3016397"/>
            <a:ext cx="270672" cy="2706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671935-1B75-E0C3-357F-0271B2639940}"/>
              </a:ext>
            </a:extLst>
          </p:cNvPr>
          <p:cNvSpPr txBox="1"/>
          <p:nvPr/>
        </p:nvSpPr>
        <p:spPr>
          <a:xfrm>
            <a:off x="6957096" y="3066579"/>
            <a:ext cx="24353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Gender Affirming Hormone Therapy Quick Guide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FB1F13-2A13-2FCE-1EA6-656BD25A2BA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09377" y="1332703"/>
            <a:ext cx="1695126" cy="16470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03C5F6-B1FA-B11E-3B0D-1E7DA0EC75F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35221" y="4425284"/>
            <a:ext cx="1842499" cy="176239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CDC77E9-C796-9A24-28DD-66F02F1DD75F}"/>
              </a:ext>
            </a:extLst>
          </p:cNvPr>
          <p:cNvSpPr txBox="1"/>
          <p:nvPr/>
        </p:nvSpPr>
        <p:spPr>
          <a:xfrm>
            <a:off x="3640082" y="6163624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LGBTmap.org</a:t>
            </a:r>
            <a:r>
              <a:rPr lang="en-US" dirty="0"/>
              <a:t>: guide to policies in each state</a:t>
            </a:r>
          </a:p>
        </p:txBody>
      </p:sp>
    </p:spTree>
    <p:extLst>
      <p:ext uri="{BB962C8B-B14F-4D97-AF65-F5344CB8AC3E}">
        <p14:creationId xmlns:p14="http://schemas.microsoft.com/office/powerpoint/2010/main" val="2451221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se 1">
            <a:extLst>
              <a:ext uri="{FF2B5EF4-FFF2-40B4-BE49-F238E27FC236}">
                <a16:creationId xmlns:a16="http://schemas.microsoft.com/office/drawing/2014/main" id="{54FE0069-BD5E-4E9C-8F47-D4DBE66EB2AC}"/>
              </a:ext>
            </a:extLst>
          </p:cNvPr>
          <p:cNvSpPr/>
          <p:nvPr/>
        </p:nvSpPr>
        <p:spPr>
          <a:xfrm>
            <a:off x="3427017" y="258012"/>
            <a:ext cx="1474237" cy="367979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 1</a:t>
            </a:r>
          </a:p>
        </p:txBody>
      </p:sp>
      <p:sp>
        <p:nvSpPr>
          <p:cNvPr id="6" name="Case 1 stem">
            <a:extLst>
              <a:ext uri="{FF2B5EF4-FFF2-40B4-BE49-F238E27FC236}">
                <a16:creationId xmlns:a16="http://schemas.microsoft.com/office/drawing/2014/main" id="{EE5CF056-B12F-4BAB-8EAA-A4A1F99EBB4D}"/>
              </a:ext>
            </a:extLst>
          </p:cNvPr>
          <p:cNvSpPr txBox="1"/>
          <p:nvPr/>
        </p:nvSpPr>
        <p:spPr>
          <a:xfrm>
            <a:off x="2176308" y="734639"/>
            <a:ext cx="4100343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A 24-year-old person who was assigned female at birth (AFAB) who has been on masculinizing therapy for 6 months presents to the hospital for 2 months of generalized fatigue as well as two weeks of fevers, chills, and dysuria.</a:t>
            </a:r>
          </a:p>
        </p:txBody>
      </p:sp>
      <p:sp>
        <p:nvSpPr>
          <p:cNvPr id="34" name="Case 1 Question 1">
            <a:extLst>
              <a:ext uri="{FF2B5EF4-FFF2-40B4-BE49-F238E27FC236}">
                <a16:creationId xmlns:a16="http://schemas.microsoft.com/office/drawing/2014/main" id="{27CD699D-5524-4807-8DDF-CFFCE617F7A3}"/>
              </a:ext>
            </a:extLst>
          </p:cNvPr>
          <p:cNvSpPr/>
          <p:nvPr/>
        </p:nvSpPr>
        <p:spPr>
          <a:xfrm>
            <a:off x="1963445" y="2024210"/>
            <a:ext cx="4432441" cy="573640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Role play an initial interaction with this patient using appropriate terminology</a:t>
            </a:r>
            <a:r>
              <a:rPr lang="en-US" dirty="0"/>
              <a:t>.</a:t>
            </a:r>
          </a:p>
        </p:txBody>
      </p:sp>
      <p:sp>
        <p:nvSpPr>
          <p:cNvPr id="36" name="Case 1 Answer 1">
            <a:extLst>
              <a:ext uri="{FF2B5EF4-FFF2-40B4-BE49-F238E27FC236}">
                <a16:creationId xmlns:a16="http://schemas.microsoft.com/office/drawing/2014/main" id="{0EBD669A-1311-43D4-9C2E-39BF5A0ECBF3}"/>
              </a:ext>
            </a:extLst>
          </p:cNvPr>
          <p:cNvSpPr txBox="1"/>
          <p:nvPr/>
        </p:nvSpPr>
        <p:spPr>
          <a:xfrm>
            <a:off x="1963445" y="2763444"/>
            <a:ext cx="4416906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An appropriate role play will contain: </a:t>
            </a:r>
          </a:p>
          <a:p>
            <a:pPr marL="342900" indent="-342900">
              <a:buAutoNum type="arabicPeriod"/>
            </a:pPr>
            <a:r>
              <a:rPr lang="en-US" sz="1400" dirty="0"/>
              <a:t>Asking preferred name, pronouns </a:t>
            </a:r>
          </a:p>
          <a:p>
            <a:pPr marL="342900" indent="-342900">
              <a:buAutoNum type="arabicPeriod"/>
            </a:pPr>
            <a:r>
              <a:rPr lang="en-US" sz="1400" dirty="0"/>
              <a:t>Discussing gender, gender identity, and sex in a patient-centered way. (See Terminology, slide two)</a:t>
            </a:r>
          </a:p>
        </p:txBody>
      </p:sp>
      <p:sp>
        <p:nvSpPr>
          <p:cNvPr id="37" name="Case 1 Question 2">
            <a:extLst>
              <a:ext uri="{FF2B5EF4-FFF2-40B4-BE49-F238E27FC236}">
                <a16:creationId xmlns:a16="http://schemas.microsoft.com/office/drawing/2014/main" id="{3D504DDE-A211-4E97-B1BE-94AD60053F65}"/>
              </a:ext>
            </a:extLst>
          </p:cNvPr>
          <p:cNvSpPr/>
          <p:nvPr/>
        </p:nvSpPr>
        <p:spPr>
          <a:xfrm>
            <a:off x="1947921" y="3981275"/>
            <a:ext cx="4432430" cy="557752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Is an organ inventory appropriate in this case?   </a:t>
            </a:r>
          </a:p>
          <a:p>
            <a:pPr algn="ctr"/>
            <a:r>
              <a:rPr lang="en-US" sz="1400" dirty="0"/>
              <a:t>If so, practice performing one.</a:t>
            </a:r>
          </a:p>
        </p:txBody>
      </p:sp>
      <p:sp>
        <p:nvSpPr>
          <p:cNvPr id="39" name="Case 1 Answer 2">
            <a:extLst>
              <a:ext uri="{FF2B5EF4-FFF2-40B4-BE49-F238E27FC236}">
                <a16:creationId xmlns:a16="http://schemas.microsoft.com/office/drawing/2014/main" id="{38A1EAB5-6FD6-431F-8B0A-DB3837605A46}"/>
              </a:ext>
            </a:extLst>
          </p:cNvPr>
          <p:cNvSpPr txBox="1"/>
          <p:nvPr/>
        </p:nvSpPr>
        <p:spPr>
          <a:xfrm>
            <a:off x="1874838" y="4756385"/>
            <a:ext cx="4609654" cy="160043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Yes, a focused organ inventory is appropriate. Correct organ inventory should include: </a:t>
            </a:r>
          </a:p>
          <a:p>
            <a:pPr marL="342900" indent="-342900">
              <a:buAutoNum type="arabicPeriod"/>
            </a:pPr>
            <a:r>
              <a:rPr lang="en-US" sz="1400" dirty="0"/>
              <a:t>Asking about patient preference in referring to organs.</a:t>
            </a:r>
          </a:p>
          <a:p>
            <a:pPr marL="342900" indent="-342900">
              <a:buAutoNum type="arabicPeriod"/>
            </a:pPr>
            <a:r>
              <a:rPr lang="en-US" sz="1400" dirty="0"/>
              <a:t>Using </a:t>
            </a:r>
            <a:r>
              <a:rPr lang="en-US" sz="1400" b="1" dirty="0"/>
              <a:t>neutral language </a:t>
            </a:r>
            <a:r>
              <a:rPr lang="en-US" sz="1400" dirty="0"/>
              <a:t>when appropriate</a:t>
            </a:r>
          </a:p>
          <a:p>
            <a:pPr marL="342900" indent="-342900">
              <a:buAutoNum type="arabicPeriod"/>
            </a:pPr>
            <a:r>
              <a:rPr lang="en-US" sz="1400" dirty="0"/>
              <a:t>Assessing for the presence of relevant organs, which in this case is suggested to include vagina, uterus, penis (constructed), urethra (history of surgery).</a:t>
            </a:r>
          </a:p>
        </p:txBody>
      </p:sp>
      <p:sp>
        <p:nvSpPr>
          <p:cNvPr id="47" name="Question 3">
            <a:extLst>
              <a:ext uri="{FF2B5EF4-FFF2-40B4-BE49-F238E27FC236}">
                <a16:creationId xmlns:a16="http://schemas.microsoft.com/office/drawing/2014/main" id="{02C9AA35-457B-461B-941D-9E9E1E9DDCE6}"/>
              </a:ext>
            </a:extLst>
          </p:cNvPr>
          <p:cNvSpPr/>
          <p:nvPr/>
        </p:nvSpPr>
        <p:spPr>
          <a:xfrm>
            <a:off x="7427902" y="368628"/>
            <a:ext cx="4185681" cy="709854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4950" lvl="1" algn="ctr"/>
            <a:r>
              <a:rPr lang="en-US" sz="1400" dirty="0"/>
              <a:t>Create a list of expected anatomic and physiological changes at six months, and whether these changes impact differential.</a:t>
            </a:r>
          </a:p>
        </p:txBody>
      </p:sp>
      <p:sp>
        <p:nvSpPr>
          <p:cNvPr id="49" name="Case 2 Answer 1">
            <a:extLst>
              <a:ext uri="{FF2B5EF4-FFF2-40B4-BE49-F238E27FC236}">
                <a16:creationId xmlns:a16="http://schemas.microsoft.com/office/drawing/2014/main" id="{B76E7352-0B0A-4F9A-B0AC-5CBF14F890D6}"/>
              </a:ext>
            </a:extLst>
          </p:cNvPr>
          <p:cNvSpPr txBox="1"/>
          <p:nvPr/>
        </p:nvSpPr>
        <p:spPr>
          <a:xfrm>
            <a:off x="7363544" y="1119131"/>
            <a:ext cx="4613936" cy="246221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Changes at six months of masculinizing therapy likely include: </a:t>
            </a:r>
          </a:p>
          <a:p>
            <a:endParaRPr lang="en-US" sz="1400" dirty="0"/>
          </a:p>
          <a:p>
            <a:r>
              <a:rPr lang="en-US" sz="1400" dirty="0"/>
              <a:t>Increased production of skin oil/acne; vocal deepening; menstrual interruption; possible increase in strength and male secondary sex body hair, clitoral enlargement, vaginal atrophy.</a:t>
            </a:r>
          </a:p>
          <a:p>
            <a:endParaRPr lang="en-US" sz="1400" dirty="0"/>
          </a:p>
          <a:p>
            <a:r>
              <a:rPr lang="en-US" sz="1400" dirty="0"/>
              <a:t>We also suggest a discussion about fertility (the patient could still become pregnant) and sexual history (recent male/female partners, protection).</a:t>
            </a:r>
          </a:p>
        </p:txBody>
      </p:sp>
      <p:sp>
        <p:nvSpPr>
          <p:cNvPr id="50" name="Question 4">
            <a:extLst>
              <a:ext uri="{FF2B5EF4-FFF2-40B4-BE49-F238E27FC236}">
                <a16:creationId xmlns:a16="http://schemas.microsoft.com/office/drawing/2014/main" id="{BF491D54-1A3E-4C97-85F4-3CBCC02C9EF2}"/>
              </a:ext>
            </a:extLst>
          </p:cNvPr>
          <p:cNvSpPr/>
          <p:nvPr/>
        </p:nvSpPr>
        <p:spPr>
          <a:xfrm>
            <a:off x="7350821" y="3570006"/>
            <a:ext cx="4237319" cy="806011"/>
          </a:xfrm>
          <a:prstGeom prst="roundRect">
            <a:avLst>
              <a:gd name="adj" fmla="val 13117"/>
            </a:avLst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2238" lvl="1" algn="ctr"/>
            <a:r>
              <a:rPr lang="en-US" sz="1400" dirty="0"/>
              <a:t>Which medications may be used to provide gender affirming hormone therapy to this patient, and what laboratory levels may be appropriate at this time. </a:t>
            </a:r>
          </a:p>
        </p:txBody>
      </p:sp>
      <p:sp>
        <p:nvSpPr>
          <p:cNvPr id="52" name="Case 2 Answer 2">
            <a:extLst>
              <a:ext uri="{FF2B5EF4-FFF2-40B4-BE49-F238E27FC236}">
                <a16:creationId xmlns:a16="http://schemas.microsoft.com/office/drawing/2014/main" id="{E265AA3A-58B7-4E4B-8796-F81A06B9FF27}"/>
              </a:ext>
            </a:extLst>
          </p:cNvPr>
          <p:cNvSpPr txBox="1"/>
          <p:nvPr/>
        </p:nvSpPr>
        <p:spPr>
          <a:xfrm>
            <a:off x="7350821" y="4481373"/>
            <a:ext cx="4432430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Medications: Testosterone. </a:t>
            </a:r>
          </a:p>
          <a:p>
            <a:r>
              <a:rPr lang="en-US" sz="1400" dirty="0"/>
              <a:t>Labs: CBC to check for polycythemia (no clear role for total testosterone level based on presenting symptoms). </a:t>
            </a:r>
            <a:endParaRPr lang="en-US" sz="1100" dirty="0"/>
          </a:p>
        </p:txBody>
      </p:sp>
      <p:sp>
        <p:nvSpPr>
          <p:cNvPr id="53" name="question 5">
            <a:extLst>
              <a:ext uri="{FF2B5EF4-FFF2-40B4-BE49-F238E27FC236}">
                <a16:creationId xmlns:a16="http://schemas.microsoft.com/office/drawing/2014/main" id="{6892D000-2E9B-4FFC-AF65-61683E8DC4F5}"/>
              </a:ext>
            </a:extLst>
          </p:cNvPr>
          <p:cNvSpPr/>
          <p:nvPr/>
        </p:nvSpPr>
        <p:spPr>
          <a:xfrm>
            <a:off x="7350822" y="5362405"/>
            <a:ext cx="4237319" cy="587719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Should gender affirming medication should be held during this hospitalization?</a:t>
            </a:r>
          </a:p>
        </p:txBody>
      </p:sp>
      <p:sp>
        <p:nvSpPr>
          <p:cNvPr id="55" name="Case 2 Answer 3">
            <a:extLst>
              <a:ext uri="{FF2B5EF4-FFF2-40B4-BE49-F238E27FC236}">
                <a16:creationId xmlns:a16="http://schemas.microsoft.com/office/drawing/2014/main" id="{922983B6-7A48-4426-AB5E-4FDD90841F02}"/>
              </a:ext>
            </a:extLst>
          </p:cNvPr>
          <p:cNvSpPr txBox="1"/>
          <p:nvPr/>
        </p:nvSpPr>
        <p:spPr>
          <a:xfrm>
            <a:off x="7350823" y="5987491"/>
            <a:ext cx="4250040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Testosterone should</a:t>
            </a:r>
            <a:r>
              <a:rPr lang="en-US" sz="1400" b="1" dirty="0"/>
              <a:t> not </a:t>
            </a:r>
            <a:r>
              <a:rPr lang="en-US" sz="1400" dirty="0"/>
              <a:t>be stopped while this patient is hospitalized unless clear signs/symptoms of polycythemia.</a:t>
            </a:r>
          </a:p>
        </p:txBody>
      </p:sp>
      <p:sp>
        <p:nvSpPr>
          <p:cNvPr id="77" name="Obj 3b">
            <a:extLst>
              <a:ext uri="{FF2B5EF4-FFF2-40B4-BE49-F238E27FC236}">
                <a16:creationId xmlns:a16="http://schemas.microsoft.com/office/drawing/2014/main" id="{35FB9A34-8970-48B9-87DA-5E59FF2D892F}"/>
              </a:ext>
            </a:extLst>
          </p:cNvPr>
          <p:cNvSpPr/>
          <p:nvPr/>
        </p:nvSpPr>
        <p:spPr>
          <a:xfrm>
            <a:off x="466078" y="3297976"/>
            <a:ext cx="1176109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" name="Obj 1">
            <a:hlinkClick r:id="rId2" action="ppaction://hlinksldjump"/>
            <a:extLst>
              <a:ext uri="{FF2B5EF4-FFF2-40B4-BE49-F238E27FC236}">
                <a16:creationId xmlns:a16="http://schemas.microsoft.com/office/drawing/2014/main" id="{5D1AADAA-DE26-D4FB-9473-D179E4F408A0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Terminology</a:t>
            </a:r>
          </a:p>
        </p:txBody>
      </p:sp>
      <p:sp>
        <p:nvSpPr>
          <p:cNvPr id="5" name="Obj 2">
            <a:hlinkClick r:id="rId3" action="ppaction://hlinksldjump"/>
            <a:extLst>
              <a:ext uri="{FF2B5EF4-FFF2-40B4-BE49-F238E27FC236}">
                <a16:creationId xmlns:a16="http://schemas.microsoft.com/office/drawing/2014/main" id="{60BCB314-4138-AA41-61A7-7F9A54A61A57}"/>
              </a:ext>
            </a:extLst>
          </p:cNvPr>
          <p:cNvSpPr/>
          <p:nvPr/>
        </p:nvSpPr>
        <p:spPr>
          <a:xfrm>
            <a:off x="167950" y="67445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Evaluation</a:t>
            </a:r>
          </a:p>
        </p:txBody>
      </p:sp>
      <p:pic>
        <p:nvPicPr>
          <p:cNvPr id="7" name="Graphic 6" descr="Cursor with solid fill">
            <a:extLst>
              <a:ext uri="{FF2B5EF4-FFF2-40B4-BE49-F238E27FC236}">
                <a16:creationId xmlns:a16="http://schemas.microsoft.com/office/drawing/2014/main" id="{2389ED2B-A927-9AAE-4477-924D8A32D1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381235"/>
            <a:ext cx="270672" cy="270672"/>
          </a:xfrm>
          <a:prstGeom prst="rect">
            <a:avLst/>
          </a:prstGeom>
        </p:spPr>
      </p:pic>
      <p:pic>
        <p:nvPicPr>
          <p:cNvPr id="8" name="Graphic 7" descr="Cursor with solid fill">
            <a:extLst>
              <a:ext uri="{FF2B5EF4-FFF2-40B4-BE49-F238E27FC236}">
                <a16:creationId xmlns:a16="http://schemas.microsoft.com/office/drawing/2014/main" id="{360FE660-2A9D-04ED-6951-40EB0D7D5E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907100"/>
            <a:ext cx="270672" cy="270672"/>
          </a:xfrm>
          <a:prstGeom prst="rect">
            <a:avLst/>
          </a:prstGeom>
        </p:spPr>
      </p:pic>
      <p:sp>
        <p:nvSpPr>
          <p:cNvPr id="9" name="Obj 3">
            <a:hlinkClick r:id="rId6" action="ppaction://hlinksldjump"/>
            <a:extLst>
              <a:ext uri="{FF2B5EF4-FFF2-40B4-BE49-F238E27FC236}">
                <a16:creationId xmlns:a16="http://schemas.microsoft.com/office/drawing/2014/main" id="{AC85D7D9-B9B2-0E03-A7CE-A70ED259E414}"/>
              </a:ext>
            </a:extLst>
          </p:cNvPr>
          <p:cNvSpPr/>
          <p:nvPr/>
        </p:nvSpPr>
        <p:spPr>
          <a:xfrm>
            <a:off x="167950" y="120031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Therapies</a:t>
            </a:r>
          </a:p>
        </p:txBody>
      </p:sp>
      <p:pic>
        <p:nvPicPr>
          <p:cNvPr id="17" name="Graphic 16" descr="Cursor with solid fill">
            <a:extLst>
              <a:ext uri="{FF2B5EF4-FFF2-40B4-BE49-F238E27FC236}">
                <a16:creationId xmlns:a16="http://schemas.microsoft.com/office/drawing/2014/main" id="{FB0F309E-A127-9B9A-55DD-039550E430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1432965"/>
            <a:ext cx="270672" cy="270672"/>
          </a:xfrm>
          <a:prstGeom prst="rect">
            <a:avLst/>
          </a:prstGeom>
        </p:spPr>
      </p:pic>
      <p:sp>
        <p:nvSpPr>
          <p:cNvPr id="19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59C06323-205A-F151-7B90-BF7555B8431E}"/>
              </a:ext>
            </a:extLst>
          </p:cNvPr>
          <p:cNvSpPr/>
          <p:nvPr/>
        </p:nvSpPr>
        <p:spPr>
          <a:xfrm>
            <a:off x="167950" y="172618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FAQs</a:t>
            </a:r>
          </a:p>
        </p:txBody>
      </p:sp>
      <p:pic>
        <p:nvPicPr>
          <p:cNvPr id="20" name="Graphic 19" descr="Cursor with solid fill">
            <a:extLst>
              <a:ext uri="{FF2B5EF4-FFF2-40B4-BE49-F238E27FC236}">
                <a16:creationId xmlns:a16="http://schemas.microsoft.com/office/drawing/2014/main" id="{D6A20AB8-30E9-C063-FE9F-CD8D36BDC0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1958827"/>
            <a:ext cx="270672" cy="270672"/>
          </a:xfrm>
          <a:prstGeom prst="rect">
            <a:avLst/>
          </a:prstGeom>
        </p:spPr>
      </p:pic>
      <p:sp>
        <p:nvSpPr>
          <p:cNvPr id="21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104AD6F0-519A-FBB1-B08F-AA3E158AF9DD}"/>
              </a:ext>
            </a:extLst>
          </p:cNvPr>
          <p:cNvSpPr/>
          <p:nvPr/>
        </p:nvSpPr>
        <p:spPr>
          <a:xfrm>
            <a:off x="167950" y="225496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Resources</a:t>
            </a:r>
          </a:p>
        </p:txBody>
      </p:sp>
      <p:sp>
        <p:nvSpPr>
          <p:cNvPr id="22" name="Cases">
            <a:extLst>
              <a:ext uri="{FF2B5EF4-FFF2-40B4-BE49-F238E27FC236}">
                <a16:creationId xmlns:a16="http://schemas.microsoft.com/office/drawing/2014/main" id="{E321D452-6E49-319A-860C-3915D41D8312}"/>
              </a:ext>
            </a:extLst>
          </p:cNvPr>
          <p:cNvSpPr/>
          <p:nvPr/>
        </p:nvSpPr>
        <p:spPr>
          <a:xfrm>
            <a:off x="167950" y="2783754"/>
            <a:ext cx="1474237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Cases</a:t>
            </a:r>
          </a:p>
        </p:txBody>
      </p:sp>
      <p:pic>
        <p:nvPicPr>
          <p:cNvPr id="24" name="Graphic 23" descr="Cursor with solid fill">
            <a:extLst>
              <a:ext uri="{FF2B5EF4-FFF2-40B4-BE49-F238E27FC236}">
                <a16:creationId xmlns:a16="http://schemas.microsoft.com/office/drawing/2014/main" id="{F9823C39-AC98-0178-CDE2-4A3AFC8DC6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2487612"/>
            <a:ext cx="270672" cy="270672"/>
          </a:xfrm>
          <a:prstGeom prst="rect">
            <a:avLst/>
          </a:prstGeom>
        </p:spPr>
      </p:pic>
      <p:sp>
        <p:nvSpPr>
          <p:cNvPr id="25" name="Obj 3b">
            <a:hlinkClick r:id="rId9" action="ppaction://hlinksldjump"/>
            <a:extLst>
              <a:ext uri="{FF2B5EF4-FFF2-40B4-BE49-F238E27FC236}">
                <a16:creationId xmlns:a16="http://schemas.microsoft.com/office/drawing/2014/main" id="{F8B0AE6C-B6DE-41BA-5360-F36D9E05D42C}"/>
              </a:ext>
            </a:extLst>
          </p:cNvPr>
          <p:cNvSpPr/>
          <p:nvPr/>
        </p:nvSpPr>
        <p:spPr>
          <a:xfrm>
            <a:off x="466078" y="3812198"/>
            <a:ext cx="1176109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6" name="Obj 3b">
            <a:hlinkClick r:id="rId10" action="ppaction://hlinksldjump"/>
            <a:extLst>
              <a:ext uri="{FF2B5EF4-FFF2-40B4-BE49-F238E27FC236}">
                <a16:creationId xmlns:a16="http://schemas.microsoft.com/office/drawing/2014/main" id="{7C0C5C82-F518-65E1-93E1-1F42808A869A}"/>
              </a:ext>
            </a:extLst>
          </p:cNvPr>
          <p:cNvSpPr/>
          <p:nvPr/>
        </p:nvSpPr>
        <p:spPr>
          <a:xfrm>
            <a:off x="466078" y="4326420"/>
            <a:ext cx="1176109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pic>
        <p:nvPicPr>
          <p:cNvPr id="27" name="Graphic 26" descr="Cursor with solid fill">
            <a:extLst>
              <a:ext uri="{FF2B5EF4-FFF2-40B4-BE49-F238E27FC236}">
                <a16:creationId xmlns:a16="http://schemas.microsoft.com/office/drawing/2014/main" id="{063C9631-2803-72DA-0658-B5F235F994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4058074"/>
            <a:ext cx="270672" cy="270672"/>
          </a:xfrm>
          <a:prstGeom prst="rect">
            <a:avLst/>
          </a:prstGeom>
        </p:spPr>
      </p:pic>
      <p:pic>
        <p:nvPicPr>
          <p:cNvPr id="28" name="Graphic 27" descr="Cursor with solid fill">
            <a:extLst>
              <a:ext uri="{FF2B5EF4-FFF2-40B4-BE49-F238E27FC236}">
                <a16:creationId xmlns:a16="http://schemas.microsoft.com/office/drawing/2014/main" id="{D3F2B04C-7263-D924-36FC-63929E7A8F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4572296"/>
            <a:ext cx="270672" cy="270672"/>
          </a:xfrm>
          <a:prstGeom prst="rect">
            <a:avLst/>
          </a:prstGeom>
        </p:spPr>
      </p:pic>
      <p:pic>
        <p:nvPicPr>
          <p:cNvPr id="30" name="Graphic 29" descr="Cursor with solid fill">
            <a:extLst>
              <a:ext uri="{FF2B5EF4-FFF2-40B4-BE49-F238E27FC236}">
                <a16:creationId xmlns:a16="http://schemas.microsoft.com/office/drawing/2014/main" id="{CA41DF3A-3A73-6EF6-0D72-EC23B90178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5015" y="2460566"/>
            <a:ext cx="270672" cy="270672"/>
          </a:xfrm>
          <a:prstGeom prst="rect">
            <a:avLst/>
          </a:prstGeom>
        </p:spPr>
      </p:pic>
      <p:pic>
        <p:nvPicPr>
          <p:cNvPr id="31" name="Graphic 30" descr="Cursor with solid fill">
            <a:extLst>
              <a:ext uri="{FF2B5EF4-FFF2-40B4-BE49-F238E27FC236}">
                <a16:creationId xmlns:a16="http://schemas.microsoft.com/office/drawing/2014/main" id="{276F6F65-3FC4-97CB-B961-A34E475EEF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5015" y="4403691"/>
            <a:ext cx="270672" cy="270672"/>
          </a:xfrm>
          <a:prstGeom prst="rect">
            <a:avLst/>
          </a:prstGeom>
        </p:spPr>
      </p:pic>
      <p:pic>
        <p:nvPicPr>
          <p:cNvPr id="32" name="Graphic 31" descr="Cursor with solid fill">
            <a:extLst>
              <a:ext uri="{FF2B5EF4-FFF2-40B4-BE49-F238E27FC236}">
                <a16:creationId xmlns:a16="http://schemas.microsoft.com/office/drawing/2014/main" id="{433655C1-09CB-411C-4108-22397338B7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78247" y="931117"/>
            <a:ext cx="270672" cy="270672"/>
          </a:xfrm>
          <a:prstGeom prst="rect">
            <a:avLst/>
          </a:prstGeom>
        </p:spPr>
      </p:pic>
      <p:pic>
        <p:nvPicPr>
          <p:cNvPr id="33" name="Graphic 32" descr="Cursor with solid fill">
            <a:extLst>
              <a:ext uri="{FF2B5EF4-FFF2-40B4-BE49-F238E27FC236}">
                <a16:creationId xmlns:a16="http://schemas.microsoft.com/office/drawing/2014/main" id="{50AA0AAB-3655-35ED-086A-97A12E5F65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65527" y="4210701"/>
            <a:ext cx="270672" cy="270672"/>
          </a:xfrm>
          <a:prstGeom prst="rect">
            <a:avLst/>
          </a:prstGeom>
        </p:spPr>
      </p:pic>
      <p:pic>
        <p:nvPicPr>
          <p:cNvPr id="35" name="Graphic 34" descr="Cursor with solid fill">
            <a:extLst>
              <a:ext uri="{FF2B5EF4-FFF2-40B4-BE49-F238E27FC236}">
                <a16:creationId xmlns:a16="http://schemas.microsoft.com/office/drawing/2014/main" id="{E4CE051E-4499-3141-A362-CC9B09844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52804" y="5814788"/>
            <a:ext cx="270672" cy="27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2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</p:childTnLst>
        </p:cTn>
      </p:par>
    </p:tnLst>
    <p:bldLst>
      <p:bldP spid="36" grpId="0"/>
      <p:bldP spid="37" grpId="0" animBg="1"/>
      <p:bldP spid="39" grpId="0"/>
      <p:bldP spid="47" grpId="0" animBg="1"/>
      <p:bldP spid="49" grpId="0"/>
      <p:bldP spid="50" grpId="0" animBg="1"/>
      <p:bldP spid="52" grpId="0"/>
      <p:bldP spid="53" grpId="0" animBg="1"/>
      <p:bldP spid="5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se 1">
            <a:extLst>
              <a:ext uri="{FF2B5EF4-FFF2-40B4-BE49-F238E27FC236}">
                <a16:creationId xmlns:a16="http://schemas.microsoft.com/office/drawing/2014/main" id="{54FE0069-BD5E-4E9C-8F47-D4DBE66EB2AC}"/>
              </a:ext>
            </a:extLst>
          </p:cNvPr>
          <p:cNvSpPr/>
          <p:nvPr/>
        </p:nvSpPr>
        <p:spPr>
          <a:xfrm>
            <a:off x="3427017" y="258012"/>
            <a:ext cx="1474237" cy="367979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 2</a:t>
            </a:r>
          </a:p>
        </p:txBody>
      </p:sp>
      <p:sp>
        <p:nvSpPr>
          <p:cNvPr id="6" name="Case 1 stem">
            <a:extLst>
              <a:ext uri="{FF2B5EF4-FFF2-40B4-BE49-F238E27FC236}">
                <a16:creationId xmlns:a16="http://schemas.microsoft.com/office/drawing/2014/main" id="{EE5CF056-B12F-4BAB-8EAA-A4A1F99EBB4D}"/>
              </a:ext>
            </a:extLst>
          </p:cNvPr>
          <p:cNvSpPr txBox="1"/>
          <p:nvPr/>
        </p:nvSpPr>
        <p:spPr>
          <a:xfrm>
            <a:off x="2176308" y="822267"/>
            <a:ext cx="4100343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 38-year-old individual presents to outpatient clinic to discuss initiation of feminizing hormones. Their sex assigned at birth is male. </a:t>
            </a:r>
          </a:p>
        </p:txBody>
      </p:sp>
      <p:sp>
        <p:nvSpPr>
          <p:cNvPr id="34" name="Case 1 Question 1">
            <a:extLst>
              <a:ext uri="{FF2B5EF4-FFF2-40B4-BE49-F238E27FC236}">
                <a16:creationId xmlns:a16="http://schemas.microsoft.com/office/drawing/2014/main" id="{27CD699D-5524-4807-8DDF-CFFCE617F7A3}"/>
              </a:ext>
            </a:extLst>
          </p:cNvPr>
          <p:cNvSpPr/>
          <p:nvPr/>
        </p:nvSpPr>
        <p:spPr>
          <a:xfrm>
            <a:off x="1947921" y="1822924"/>
            <a:ext cx="4432441" cy="573640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Role play an initial interaction with this patient using appropriate terminology</a:t>
            </a:r>
            <a:r>
              <a:rPr lang="en-US" dirty="0"/>
              <a:t>.</a:t>
            </a:r>
          </a:p>
        </p:txBody>
      </p:sp>
      <p:sp>
        <p:nvSpPr>
          <p:cNvPr id="37" name="Case 1 Question 2">
            <a:extLst>
              <a:ext uri="{FF2B5EF4-FFF2-40B4-BE49-F238E27FC236}">
                <a16:creationId xmlns:a16="http://schemas.microsoft.com/office/drawing/2014/main" id="{3D504DDE-A211-4E97-B1BE-94AD60053F65}"/>
              </a:ext>
            </a:extLst>
          </p:cNvPr>
          <p:cNvSpPr/>
          <p:nvPr/>
        </p:nvSpPr>
        <p:spPr>
          <a:xfrm>
            <a:off x="1947921" y="3800363"/>
            <a:ext cx="4432430" cy="738664"/>
          </a:xfrm>
          <a:prstGeom prst="roundRect">
            <a:avLst>
              <a:gd name="adj" fmla="val 15283"/>
            </a:avLst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 lvl="1" algn="ctr"/>
            <a:r>
              <a:rPr lang="en-US" sz="1400" dirty="0"/>
              <a:t>Discuss considerations when evaluating a patient for start on gender affirming hormone therapy or gender affirming surgery.</a:t>
            </a:r>
          </a:p>
        </p:txBody>
      </p:sp>
      <p:sp>
        <p:nvSpPr>
          <p:cNvPr id="39" name="Case 1 Answer 2">
            <a:extLst>
              <a:ext uri="{FF2B5EF4-FFF2-40B4-BE49-F238E27FC236}">
                <a16:creationId xmlns:a16="http://schemas.microsoft.com/office/drawing/2014/main" id="{38A1EAB5-6FD6-431F-8B0A-DB3837605A46}"/>
              </a:ext>
            </a:extLst>
          </p:cNvPr>
          <p:cNvSpPr txBox="1"/>
          <p:nvPr/>
        </p:nvSpPr>
        <p:spPr>
          <a:xfrm>
            <a:off x="2040232" y="4725622"/>
            <a:ext cx="3771288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Considerations include:</a:t>
            </a:r>
          </a:p>
          <a:p>
            <a:pPr marL="342900" indent="-342900">
              <a:buAutoNum type="arabicPeriod"/>
            </a:pPr>
            <a:r>
              <a:rPr lang="en-US" sz="1400" dirty="0"/>
              <a:t>Diagnosis gender dysphoria</a:t>
            </a:r>
          </a:p>
          <a:p>
            <a:pPr marL="342900" indent="-342900">
              <a:buAutoNum type="arabicPeriod"/>
            </a:pPr>
            <a:r>
              <a:rPr lang="en-US" sz="1400" dirty="0"/>
              <a:t>Capacity for consent</a:t>
            </a:r>
          </a:p>
          <a:p>
            <a:pPr marL="342900" indent="-342900">
              <a:buAutoNum type="arabicPeriod"/>
            </a:pPr>
            <a:r>
              <a:rPr lang="en-US" sz="1400" dirty="0"/>
              <a:t>Evaluating for contraindications</a:t>
            </a:r>
          </a:p>
          <a:p>
            <a:pPr marL="342900" indent="-342900">
              <a:buAutoNum type="arabicPeriod"/>
            </a:pPr>
            <a:r>
              <a:rPr lang="en-US" sz="1400" dirty="0"/>
              <a:t>Expectations/goals/side effects</a:t>
            </a:r>
          </a:p>
          <a:p>
            <a:pPr marL="342900" indent="-342900">
              <a:buAutoNum type="arabicPeriod"/>
            </a:pPr>
            <a:r>
              <a:rPr lang="en-US" sz="1400" dirty="0"/>
              <a:t>Fertility counseling</a:t>
            </a:r>
          </a:p>
        </p:txBody>
      </p:sp>
      <p:sp>
        <p:nvSpPr>
          <p:cNvPr id="47" name="Question 3">
            <a:extLst>
              <a:ext uri="{FF2B5EF4-FFF2-40B4-BE49-F238E27FC236}">
                <a16:creationId xmlns:a16="http://schemas.microsoft.com/office/drawing/2014/main" id="{02C9AA35-457B-461B-941D-9E9E1E9DDCE6}"/>
              </a:ext>
            </a:extLst>
          </p:cNvPr>
          <p:cNvSpPr/>
          <p:nvPr/>
        </p:nvSpPr>
        <p:spPr>
          <a:xfrm>
            <a:off x="7520705" y="99290"/>
            <a:ext cx="3807331" cy="908627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113" lvl="1" algn="ctr"/>
            <a:r>
              <a:rPr lang="en-US" sz="1400" dirty="0"/>
              <a:t>Explain to the patient which medications are available for feminizing hormone therapy and the timeline of anticipated changes.</a:t>
            </a:r>
          </a:p>
        </p:txBody>
      </p:sp>
      <p:sp>
        <p:nvSpPr>
          <p:cNvPr id="49" name="Case 2 Answer 1">
            <a:extLst>
              <a:ext uri="{FF2B5EF4-FFF2-40B4-BE49-F238E27FC236}">
                <a16:creationId xmlns:a16="http://schemas.microsoft.com/office/drawing/2014/main" id="{B76E7352-0B0A-4F9A-B0AC-5CBF14F890D6}"/>
              </a:ext>
            </a:extLst>
          </p:cNvPr>
          <p:cNvSpPr txBox="1"/>
          <p:nvPr/>
        </p:nvSpPr>
        <p:spPr>
          <a:xfrm>
            <a:off x="7337150" y="1123329"/>
            <a:ext cx="4613936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Estradiol, typically  plus one or more anti-androgens.</a:t>
            </a:r>
          </a:p>
          <a:p>
            <a:endParaRPr lang="en-US" sz="1400" dirty="0"/>
          </a:p>
          <a:p>
            <a:r>
              <a:rPr lang="en-US" sz="1400" dirty="0"/>
              <a:t>A patient can expect to see decrease in strength, body fat redistribution, breast bud development, and often erectile dysfunction at three months; facial and body hair often decreases at about six months.</a:t>
            </a:r>
          </a:p>
        </p:txBody>
      </p:sp>
      <p:sp>
        <p:nvSpPr>
          <p:cNvPr id="50" name="Question 4">
            <a:extLst>
              <a:ext uri="{FF2B5EF4-FFF2-40B4-BE49-F238E27FC236}">
                <a16:creationId xmlns:a16="http://schemas.microsoft.com/office/drawing/2014/main" id="{BF491D54-1A3E-4C97-85F4-3CBCC02C9EF2}"/>
              </a:ext>
            </a:extLst>
          </p:cNvPr>
          <p:cNvSpPr/>
          <p:nvPr/>
        </p:nvSpPr>
        <p:spPr>
          <a:xfrm>
            <a:off x="7299351" y="2839179"/>
            <a:ext cx="4121655" cy="668132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113" lvl="1" algn="ctr"/>
            <a:r>
              <a:rPr lang="en-US" sz="1400" dirty="0"/>
              <a:t>Create a list of possible side effects for the patient and how these side effects may present clinically.</a:t>
            </a:r>
          </a:p>
        </p:txBody>
      </p:sp>
      <p:sp>
        <p:nvSpPr>
          <p:cNvPr id="52" name="Case 2 Answer 2">
            <a:extLst>
              <a:ext uri="{FF2B5EF4-FFF2-40B4-BE49-F238E27FC236}">
                <a16:creationId xmlns:a16="http://schemas.microsoft.com/office/drawing/2014/main" id="{E265AA3A-58B7-4E4B-8796-F81A06B9FF27}"/>
              </a:ext>
            </a:extLst>
          </p:cNvPr>
          <p:cNvSpPr txBox="1"/>
          <p:nvPr/>
        </p:nvSpPr>
        <p:spPr>
          <a:xfrm>
            <a:off x="7208155" y="3631086"/>
            <a:ext cx="4432430" cy="18158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DVT/PE: </a:t>
            </a:r>
            <a:r>
              <a:rPr lang="en-US" sz="1400" dirty="0"/>
              <a:t>unilateral swelling/cord or as sudden shortness of breath/elevated heart rate/chest pain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Spironolactone: </a:t>
            </a:r>
            <a:r>
              <a:rPr lang="en-US" sz="1400" dirty="0"/>
              <a:t>increased potassium (typically asymptomatic unless extreme), increased urination, and sometimes orthostasis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Alpha reductase inhibitors: </a:t>
            </a:r>
            <a:r>
              <a:rPr lang="en-US" sz="1400" dirty="0"/>
              <a:t>rarely orthostasis, sometimes decrease in libido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All medications can cause erectile dysfunction</a:t>
            </a:r>
          </a:p>
        </p:txBody>
      </p:sp>
      <p:sp>
        <p:nvSpPr>
          <p:cNvPr id="53" name="Question 5">
            <a:extLst>
              <a:ext uri="{FF2B5EF4-FFF2-40B4-BE49-F238E27FC236}">
                <a16:creationId xmlns:a16="http://schemas.microsoft.com/office/drawing/2014/main" id="{6892D000-2E9B-4FFC-AF65-61683E8DC4F5}"/>
              </a:ext>
            </a:extLst>
          </p:cNvPr>
          <p:cNvSpPr/>
          <p:nvPr/>
        </p:nvSpPr>
        <p:spPr>
          <a:xfrm>
            <a:off x="7208155" y="5551133"/>
            <a:ext cx="4432430" cy="569165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113" lvl="1" algn="ctr"/>
            <a:r>
              <a:rPr lang="en-US" sz="1400" dirty="0"/>
              <a:t>Counsel the patient on whether feminizing hormones have long term impacts on cardiovascular or bone health.</a:t>
            </a:r>
          </a:p>
        </p:txBody>
      </p:sp>
      <p:sp>
        <p:nvSpPr>
          <p:cNvPr id="55" name="Case 2 Answer 3">
            <a:extLst>
              <a:ext uri="{FF2B5EF4-FFF2-40B4-BE49-F238E27FC236}">
                <a16:creationId xmlns:a16="http://schemas.microsoft.com/office/drawing/2014/main" id="{922983B6-7A48-4426-AB5E-4FDD90841F02}"/>
              </a:ext>
            </a:extLst>
          </p:cNvPr>
          <p:cNvSpPr txBox="1"/>
          <p:nvPr/>
        </p:nvSpPr>
        <p:spPr>
          <a:xfrm>
            <a:off x="7235158" y="6330352"/>
            <a:ext cx="425004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See the STRONG study presenter guide, objective four. </a:t>
            </a:r>
            <a:endParaRPr lang="en-US" sz="1100" dirty="0"/>
          </a:p>
        </p:txBody>
      </p:sp>
      <p:sp>
        <p:nvSpPr>
          <p:cNvPr id="3" name="Case 1 Answer 1">
            <a:extLst>
              <a:ext uri="{FF2B5EF4-FFF2-40B4-BE49-F238E27FC236}">
                <a16:creationId xmlns:a16="http://schemas.microsoft.com/office/drawing/2014/main" id="{5FA37C72-2A06-990D-1B3B-F10AC1F3A073}"/>
              </a:ext>
            </a:extLst>
          </p:cNvPr>
          <p:cNvSpPr txBox="1"/>
          <p:nvPr/>
        </p:nvSpPr>
        <p:spPr>
          <a:xfrm>
            <a:off x="1963445" y="2555557"/>
            <a:ext cx="4416906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An appropriate role play will contain: </a:t>
            </a:r>
          </a:p>
          <a:p>
            <a:pPr marL="342900" indent="-342900">
              <a:buAutoNum type="arabicPeriod"/>
            </a:pPr>
            <a:r>
              <a:rPr lang="en-US" sz="1400" dirty="0"/>
              <a:t>Asking preferred name, pronouns </a:t>
            </a:r>
          </a:p>
          <a:p>
            <a:pPr marL="342900" indent="-342900">
              <a:buAutoNum type="arabicPeriod"/>
            </a:pPr>
            <a:r>
              <a:rPr lang="en-US" sz="1400" dirty="0"/>
              <a:t>Discussing gender, gender identity, and sex in a patient-centered way. (See objective one)</a:t>
            </a:r>
          </a:p>
        </p:txBody>
      </p:sp>
      <p:sp>
        <p:nvSpPr>
          <p:cNvPr id="5" name="Obj 3b">
            <a:hlinkClick r:id="rId2" action="ppaction://hlinksldjump"/>
            <a:extLst>
              <a:ext uri="{FF2B5EF4-FFF2-40B4-BE49-F238E27FC236}">
                <a16:creationId xmlns:a16="http://schemas.microsoft.com/office/drawing/2014/main" id="{CD640785-8DA1-FF41-90DD-488EF3CE0581}"/>
              </a:ext>
            </a:extLst>
          </p:cNvPr>
          <p:cNvSpPr/>
          <p:nvPr/>
        </p:nvSpPr>
        <p:spPr>
          <a:xfrm>
            <a:off x="466078" y="3297976"/>
            <a:ext cx="1176109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Obj 1">
            <a:hlinkClick r:id="rId3" action="ppaction://hlinksldjump"/>
            <a:extLst>
              <a:ext uri="{FF2B5EF4-FFF2-40B4-BE49-F238E27FC236}">
                <a16:creationId xmlns:a16="http://schemas.microsoft.com/office/drawing/2014/main" id="{BDD9432D-AE87-F5EE-4F56-EF3346E815F0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Terminology</a:t>
            </a:r>
          </a:p>
        </p:txBody>
      </p:sp>
      <p:sp>
        <p:nvSpPr>
          <p:cNvPr id="8" name="Obj 2">
            <a:hlinkClick r:id="rId4" action="ppaction://hlinksldjump"/>
            <a:extLst>
              <a:ext uri="{FF2B5EF4-FFF2-40B4-BE49-F238E27FC236}">
                <a16:creationId xmlns:a16="http://schemas.microsoft.com/office/drawing/2014/main" id="{AAB1FD35-0EF6-36BF-48AF-3EA22BFEBF54}"/>
              </a:ext>
            </a:extLst>
          </p:cNvPr>
          <p:cNvSpPr/>
          <p:nvPr/>
        </p:nvSpPr>
        <p:spPr>
          <a:xfrm>
            <a:off x="167950" y="67445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Evaluation</a:t>
            </a:r>
          </a:p>
        </p:txBody>
      </p:sp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5AC02C0E-E147-4C54-6FA0-45E1D9841B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851" y="381235"/>
            <a:ext cx="270672" cy="270672"/>
          </a:xfrm>
          <a:prstGeom prst="rect">
            <a:avLst/>
          </a:prstGeom>
        </p:spPr>
      </p:pic>
      <p:pic>
        <p:nvPicPr>
          <p:cNvPr id="17" name="Graphic 16" descr="Cursor with solid fill">
            <a:extLst>
              <a:ext uri="{FF2B5EF4-FFF2-40B4-BE49-F238E27FC236}">
                <a16:creationId xmlns:a16="http://schemas.microsoft.com/office/drawing/2014/main" id="{3DBA288D-221A-0BF7-0103-A082B4A125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851" y="907100"/>
            <a:ext cx="270672" cy="270672"/>
          </a:xfrm>
          <a:prstGeom prst="rect">
            <a:avLst/>
          </a:prstGeom>
        </p:spPr>
      </p:pic>
      <p:sp>
        <p:nvSpPr>
          <p:cNvPr id="19" name="Obj 3">
            <a:hlinkClick r:id="rId7" action="ppaction://hlinksldjump"/>
            <a:extLst>
              <a:ext uri="{FF2B5EF4-FFF2-40B4-BE49-F238E27FC236}">
                <a16:creationId xmlns:a16="http://schemas.microsoft.com/office/drawing/2014/main" id="{530A7A06-CA7D-3CA5-053B-897BDA152DE6}"/>
              </a:ext>
            </a:extLst>
          </p:cNvPr>
          <p:cNvSpPr/>
          <p:nvPr/>
        </p:nvSpPr>
        <p:spPr>
          <a:xfrm>
            <a:off x="167950" y="120031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Therapies</a:t>
            </a:r>
          </a:p>
        </p:txBody>
      </p:sp>
      <p:pic>
        <p:nvPicPr>
          <p:cNvPr id="20" name="Graphic 19" descr="Cursor with solid fill">
            <a:extLst>
              <a:ext uri="{FF2B5EF4-FFF2-40B4-BE49-F238E27FC236}">
                <a16:creationId xmlns:a16="http://schemas.microsoft.com/office/drawing/2014/main" id="{B1D82145-26FB-0EB8-83DB-C3EFB044A8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851" y="1432965"/>
            <a:ext cx="270672" cy="270672"/>
          </a:xfrm>
          <a:prstGeom prst="rect">
            <a:avLst/>
          </a:prstGeom>
        </p:spPr>
      </p:pic>
      <p:sp>
        <p:nvSpPr>
          <p:cNvPr id="21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3DACCE7D-44A2-31FE-AADF-E754D427C255}"/>
              </a:ext>
            </a:extLst>
          </p:cNvPr>
          <p:cNvSpPr/>
          <p:nvPr/>
        </p:nvSpPr>
        <p:spPr>
          <a:xfrm>
            <a:off x="167950" y="172618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FAQs</a:t>
            </a:r>
          </a:p>
        </p:txBody>
      </p:sp>
      <p:pic>
        <p:nvPicPr>
          <p:cNvPr id="22" name="Graphic 21" descr="Cursor with solid fill">
            <a:extLst>
              <a:ext uri="{FF2B5EF4-FFF2-40B4-BE49-F238E27FC236}">
                <a16:creationId xmlns:a16="http://schemas.microsoft.com/office/drawing/2014/main" id="{8C013B77-9606-F5EF-1E53-DE4809040E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851" y="1958827"/>
            <a:ext cx="270672" cy="270672"/>
          </a:xfrm>
          <a:prstGeom prst="rect">
            <a:avLst/>
          </a:prstGeom>
        </p:spPr>
      </p:pic>
      <p:sp>
        <p:nvSpPr>
          <p:cNvPr id="23" name="Cases">
            <a:hlinkClick r:id="rId9" action="ppaction://hlinksldjump"/>
            <a:extLst>
              <a:ext uri="{FF2B5EF4-FFF2-40B4-BE49-F238E27FC236}">
                <a16:creationId xmlns:a16="http://schemas.microsoft.com/office/drawing/2014/main" id="{ADCA7E57-76C6-A818-D38C-0F64AC4BCBCC}"/>
              </a:ext>
            </a:extLst>
          </p:cNvPr>
          <p:cNvSpPr/>
          <p:nvPr/>
        </p:nvSpPr>
        <p:spPr>
          <a:xfrm>
            <a:off x="167950" y="225496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Resources</a:t>
            </a:r>
          </a:p>
        </p:txBody>
      </p:sp>
      <p:sp>
        <p:nvSpPr>
          <p:cNvPr id="24" name="Cases">
            <a:extLst>
              <a:ext uri="{FF2B5EF4-FFF2-40B4-BE49-F238E27FC236}">
                <a16:creationId xmlns:a16="http://schemas.microsoft.com/office/drawing/2014/main" id="{6E2FDA58-11DB-BE66-8B98-D2092AA83F6D}"/>
              </a:ext>
            </a:extLst>
          </p:cNvPr>
          <p:cNvSpPr/>
          <p:nvPr/>
        </p:nvSpPr>
        <p:spPr>
          <a:xfrm>
            <a:off x="167950" y="2783754"/>
            <a:ext cx="1474237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Cases</a:t>
            </a:r>
          </a:p>
        </p:txBody>
      </p:sp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4D2AB8C2-E37C-0D07-024F-A27C443B93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851" y="2487612"/>
            <a:ext cx="270672" cy="270672"/>
          </a:xfrm>
          <a:prstGeom prst="rect">
            <a:avLst/>
          </a:prstGeom>
        </p:spPr>
      </p:pic>
      <p:sp>
        <p:nvSpPr>
          <p:cNvPr id="26" name="Obj 3b">
            <a:hlinkClick r:id="rId10" action="ppaction://hlinksldjump"/>
            <a:extLst>
              <a:ext uri="{FF2B5EF4-FFF2-40B4-BE49-F238E27FC236}">
                <a16:creationId xmlns:a16="http://schemas.microsoft.com/office/drawing/2014/main" id="{42F73DFE-F886-4F58-3611-7FF90384E496}"/>
              </a:ext>
            </a:extLst>
          </p:cNvPr>
          <p:cNvSpPr/>
          <p:nvPr/>
        </p:nvSpPr>
        <p:spPr>
          <a:xfrm>
            <a:off x="466078" y="3812198"/>
            <a:ext cx="1176109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7" name="Obj 3b">
            <a:hlinkClick r:id="rId11" action="ppaction://hlinksldjump"/>
            <a:extLst>
              <a:ext uri="{FF2B5EF4-FFF2-40B4-BE49-F238E27FC236}">
                <a16:creationId xmlns:a16="http://schemas.microsoft.com/office/drawing/2014/main" id="{1089124D-33BD-E786-9161-AFA833341703}"/>
              </a:ext>
            </a:extLst>
          </p:cNvPr>
          <p:cNvSpPr/>
          <p:nvPr/>
        </p:nvSpPr>
        <p:spPr>
          <a:xfrm>
            <a:off x="466078" y="4326420"/>
            <a:ext cx="1176109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pic>
        <p:nvPicPr>
          <p:cNvPr id="28" name="Graphic 27" descr="Cursor with solid fill">
            <a:extLst>
              <a:ext uri="{FF2B5EF4-FFF2-40B4-BE49-F238E27FC236}">
                <a16:creationId xmlns:a16="http://schemas.microsoft.com/office/drawing/2014/main" id="{C125E6E5-3EA7-A901-AE31-90ED1AEFF7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851" y="3553924"/>
            <a:ext cx="270672" cy="270672"/>
          </a:xfrm>
          <a:prstGeom prst="rect">
            <a:avLst/>
          </a:prstGeom>
        </p:spPr>
      </p:pic>
      <p:pic>
        <p:nvPicPr>
          <p:cNvPr id="29" name="Graphic 28" descr="Cursor with solid fill">
            <a:extLst>
              <a:ext uri="{FF2B5EF4-FFF2-40B4-BE49-F238E27FC236}">
                <a16:creationId xmlns:a16="http://schemas.microsoft.com/office/drawing/2014/main" id="{E49CA201-ED34-F054-33DB-B536FCF288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6851" y="4572296"/>
            <a:ext cx="270672" cy="270672"/>
          </a:xfrm>
          <a:prstGeom prst="rect">
            <a:avLst/>
          </a:prstGeom>
        </p:spPr>
      </p:pic>
      <p:pic>
        <p:nvPicPr>
          <p:cNvPr id="30" name="Graphic 29" descr="Cursor with solid fill">
            <a:extLst>
              <a:ext uri="{FF2B5EF4-FFF2-40B4-BE49-F238E27FC236}">
                <a16:creationId xmlns:a16="http://schemas.microsoft.com/office/drawing/2014/main" id="{EBBE53D6-7609-39D0-0114-9DE1676FD4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5015" y="2261228"/>
            <a:ext cx="270672" cy="270672"/>
          </a:xfrm>
          <a:prstGeom prst="rect">
            <a:avLst/>
          </a:prstGeom>
        </p:spPr>
      </p:pic>
      <p:pic>
        <p:nvPicPr>
          <p:cNvPr id="31" name="Graphic 30" descr="Cursor with solid fill">
            <a:extLst>
              <a:ext uri="{FF2B5EF4-FFF2-40B4-BE49-F238E27FC236}">
                <a16:creationId xmlns:a16="http://schemas.microsoft.com/office/drawing/2014/main" id="{EC81DB6C-00A4-43EC-23D8-F376A55F38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5015" y="4394632"/>
            <a:ext cx="270672" cy="270672"/>
          </a:xfrm>
          <a:prstGeom prst="rect">
            <a:avLst/>
          </a:prstGeom>
        </p:spPr>
      </p:pic>
      <p:pic>
        <p:nvPicPr>
          <p:cNvPr id="32" name="Graphic 31" descr="Cursor with solid fill">
            <a:extLst>
              <a:ext uri="{FF2B5EF4-FFF2-40B4-BE49-F238E27FC236}">
                <a16:creationId xmlns:a16="http://schemas.microsoft.com/office/drawing/2014/main" id="{FEF3CBD3-781A-35E1-B770-358BC0FAF2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55977" y="883828"/>
            <a:ext cx="270672" cy="270672"/>
          </a:xfrm>
          <a:prstGeom prst="rect">
            <a:avLst/>
          </a:prstGeom>
        </p:spPr>
      </p:pic>
      <p:pic>
        <p:nvPicPr>
          <p:cNvPr id="33" name="Graphic 32" descr="Cursor with solid fill">
            <a:extLst>
              <a:ext uri="{FF2B5EF4-FFF2-40B4-BE49-F238E27FC236}">
                <a16:creationId xmlns:a16="http://schemas.microsoft.com/office/drawing/2014/main" id="{AA2B450E-5098-2158-13FB-DD3A92AB4B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85670" y="3341666"/>
            <a:ext cx="270672" cy="270672"/>
          </a:xfrm>
          <a:prstGeom prst="rect">
            <a:avLst/>
          </a:prstGeom>
        </p:spPr>
      </p:pic>
      <p:pic>
        <p:nvPicPr>
          <p:cNvPr id="35" name="Graphic 34" descr="Cursor with solid fill">
            <a:extLst>
              <a:ext uri="{FF2B5EF4-FFF2-40B4-BE49-F238E27FC236}">
                <a16:creationId xmlns:a16="http://schemas.microsoft.com/office/drawing/2014/main" id="{D3ABA889-0DCF-155A-5783-21BE457479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05249" y="5984962"/>
            <a:ext cx="270672" cy="27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96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</p:childTnLst>
        </p:cTn>
      </p:par>
    </p:tnLst>
    <p:bldLst>
      <p:bldP spid="37" grpId="0" animBg="1"/>
      <p:bldP spid="39" grpId="0"/>
      <p:bldP spid="47" grpId="0" animBg="1"/>
      <p:bldP spid="49" grpId="0"/>
      <p:bldP spid="50" grpId="0" animBg="1"/>
      <p:bldP spid="52" grpId="0"/>
      <p:bldP spid="53" grpId="0" animBg="1"/>
      <p:bldP spid="55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se 1">
            <a:extLst>
              <a:ext uri="{FF2B5EF4-FFF2-40B4-BE49-F238E27FC236}">
                <a16:creationId xmlns:a16="http://schemas.microsoft.com/office/drawing/2014/main" id="{54FE0069-BD5E-4E9C-8F47-D4DBE66EB2AC}"/>
              </a:ext>
            </a:extLst>
          </p:cNvPr>
          <p:cNvSpPr/>
          <p:nvPr/>
        </p:nvSpPr>
        <p:spPr>
          <a:xfrm>
            <a:off x="5903127" y="277740"/>
            <a:ext cx="1474237" cy="367979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 3</a:t>
            </a:r>
          </a:p>
        </p:txBody>
      </p:sp>
      <p:sp>
        <p:nvSpPr>
          <p:cNvPr id="6" name="Case 1 stem">
            <a:extLst>
              <a:ext uri="{FF2B5EF4-FFF2-40B4-BE49-F238E27FC236}">
                <a16:creationId xmlns:a16="http://schemas.microsoft.com/office/drawing/2014/main" id="{EE5CF056-B12F-4BAB-8EAA-A4A1F99EBB4D}"/>
              </a:ext>
            </a:extLst>
          </p:cNvPr>
          <p:cNvSpPr txBox="1"/>
          <p:nvPr/>
        </p:nvSpPr>
        <p:spPr>
          <a:xfrm>
            <a:off x="3513166" y="899668"/>
            <a:ext cx="5750547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Rain is a 35 </a:t>
            </a:r>
            <a:r>
              <a:rPr lang="en-US" sz="1400" dirty="0" err="1"/>
              <a:t>y.o</a:t>
            </a:r>
            <a:r>
              <a:rPr lang="en-US" sz="1400" dirty="0"/>
              <a:t>. trans female (</a:t>
            </a:r>
            <a:r>
              <a:rPr lang="en-US" sz="1400" dirty="0" err="1"/>
              <a:t>tF</a:t>
            </a:r>
            <a:r>
              <a:rPr lang="en-US" sz="1400" dirty="0"/>
              <a:t>) non-binary person (they/them) on oral estradiol therapy for two years who presents with leg pain and swelling. On ultrasound they are found to have a deep vein thrombosis (DVT) extending through the right popliteal and femoral veins. There is no chest pain or hemodynamic instability.</a:t>
            </a:r>
          </a:p>
        </p:txBody>
      </p:sp>
      <p:sp>
        <p:nvSpPr>
          <p:cNvPr id="34" name="Case 1 Question 1">
            <a:extLst>
              <a:ext uri="{FF2B5EF4-FFF2-40B4-BE49-F238E27FC236}">
                <a16:creationId xmlns:a16="http://schemas.microsoft.com/office/drawing/2014/main" id="{27CD699D-5524-4807-8DDF-CFFCE617F7A3}"/>
              </a:ext>
            </a:extLst>
          </p:cNvPr>
          <p:cNvSpPr/>
          <p:nvPr/>
        </p:nvSpPr>
        <p:spPr>
          <a:xfrm>
            <a:off x="3513166" y="2051290"/>
            <a:ext cx="6145019" cy="432552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Discuss the benefits and risks of stopping hormone therapy to this patient.</a:t>
            </a:r>
            <a:r>
              <a:rPr lang="en-US" sz="1100" dirty="0"/>
              <a:t> </a:t>
            </a:r>
            <a:endParaRPr lang="en-US" sz="1400" dirty="0"/>
          </a:p>
        </p:txBody>
      </p:sp>
      <p:sp>
        <p:nvSpPr>
          <p:cNvPr id="36" name="Case 1 Answer 1">
            <a:extLst>
              <a:ext uri="{FF2B5EF4-FFF2-40B4-BE49-F238E27FC236}">
                <a16:creationId xmlns:a16="http://schemas.microsoft.com/office/drawing/2014/main" id="{0EBD669A-1311-43D4-9C2E-39BF5A0ECBF3}"/>
              </a:ext>
            </a:extLst>
          </p:cNvPr>
          <p:cNvSpPr txBox="1"/>
          <p:nvPr/>
        </p:nvSpPr>
        <p:spPr>
          <a:xfrm>
            <a:off x="3475002" y="2699671"/>
            <a:ext cx="6399878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Benefits and risks should be discussed in a patient-centered way.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Principal risk of continuing estradiol in this patient is extension of the DVT or conversion into a PE, which may be life threatening.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However, </a:t>
            </a:r>
            <a:r>
              <a:rPr lang="en-US" sz="1400" b="1" dirty="0"/>
              <a:t>psychological and medical risks of stopping gender affirming hormone therapy (depression, suicide) may also be profound and should be weighed.</a:t>
            </a:r>
          </a:p>
        </p:txBody>
      </p:sp>
      <p:sp>
        <p:nvSpPr>
          <p:cNvPr id="39" name="Case 1 Answer 2">
            <a:extLst>
              <a:ext uri="{FF2B5EF4-FFF2-40B4-BE49-F238E27FC236}">
                <a16:creationId xmlns:a16="http://schemas.microsoft.com/office/drawing/2014/main" id="{38A1EAB5-6FD6-431F-8B0A-DB3837605A46}"/>
              </a:ext>
            </a:extLst>
          </p:cNvPr>
          <p:cNvSpPr txBox="1"/>
          <p:nvPr/>
        </p:nvSpPr>
        <p:spPr>
          <a:xfrm>
            <a:off x="3475002" y="5050335"/>
            <a:ext cx="6860516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If in alignment with patient goals to continue estradiol, consider the following interventions: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Switch to transdermal estrogen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Utilize therapeutic dose anticoagulation (see QR for UCSF guidelines, figures 1-3: estrogen in VTE)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If symptomatic PE or hemodynamic instability, recommend stop estradiol and consider restart after resolution of PE symptoms</a:t>
            </a:r>
          </a:p>
        </p:txBody>
      </p:sp>
      <p:sp>
        <p:nvSpPr>
          <p:cNvPr id="5" name="Question 2">
            <a:extLst>
              <a:ext uri="{FF2B5EF4-FFF2-40B4-BE49-F238E27FC236}">
                <a16:creationId xmlns:a16="http://schemas.microsoft.com/office/drawing/2014/main" id="{1DB0C80C-0EAB-0A6C-83AA-CA79E9867EE3}"/>
              </a:ext>
            </a:extLst>
          </p:cNvPr>
          <p:cNvSpPr/>
          <p:nvPr/>
        </p:nvSpPr>
        <p:spPr>
          <a:xfrm>
            <a:off x="3475002" y="4298342"/>
            <a:ext cx="6183183" cy="613091"/>
          </a:xfrm>
          <a:prstGeom prst="roundRect">
            <a:avLst/>
          </a:prstGeom>
          <a:solidFill>
            <a:schemeClr val="accent5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US" sz="1400" dirty="0"/>
              <a:t>Create a plan for moving forward if the patient chooses to continue gender affirming hormone therapy (GAHT).</a:t>
            </a:r>
          </a:p>
        </p:txBody>
      </p:sp>
      <p:sp>
        <p:nvSpPr>
          <p:cNvPr id="7" name="Obj 1">
            <a:hlinkClick r:id="rId2" action="ppaction://hlinksldjump"/>
            <a:extLst>
              <a:ext uri="{FF2B5EF4-FFF2-40B4-BE49-F238E27FC236}">
                <a16:creationId xmlns:a16="http://schemas.microsoft.com/office/drawing/2014/main" id="{2CEA73B2-DDA3-66C6-BDE0-9BC02D0199BE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Terminology</a:t>
            </a:r>
          </a:p>
        </p:txBody>
      </p:sp>
      <p:sp>
        <p:nvSpPr>
          <p:cNvPr id="8" name="Obj 2">
            <a:hlinkClick r:id="rId3" action="ppaction://hlinksldjump"/>
            <a:extLst>
              <a:ext uri="{FF2B5EF4-FFF2-40B4-BE49-F238E27FC236}">
                <a16:creationId xmlns:a16="http://schemas.microsoft.com/office/drawing/2014/main" id="{91C15E97-350A-FAF7-296F-37721B67C675}"/>
              </a:ext>
            </a:extLst>
          </p:cNvPr>
          <p:cNvSpPr/>
          <p:nvPr/>
        </p:nvSpPr>
        <p:spPr>
          <a:xfrm>
            <a:off x="167950" y="67445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Evaluation</a:t>
            </a:r>
          </a:p>
        </p:txBody>
      </p:sp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DEBDD2B3-D185-9C34-E951-3CD34DFB4C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381235"/>
            <a:ext cx="270672" cy="270672"/>
          </a:xfrm>
          <a:prstGeom prst="rect">
            <a:avLst/>
          </a:prstGeom>
        </p:spPr>
      </p:pic>
      <p:pic>
        <p:nvPicPr>
          <p:cNvPr id="17" name="Graphic 16" descr="Cursor with solid fill">
            <a:extLst>
              <a:ext uri="{FF2B5EF4-FFF2-40B4-BE49-F238E27FC236}">
                <a16:creationId xmlns:a16="http://schemas.microsoft.com/office/drawing/2014/main" id="{0A3BADA0-04E2-6EDF-5CB1-59B5E0DD02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907100"/>
            <a:ext cx="270672" cy="270672"/>
          </a:xfrm>
          <a:prstGeom prst="rect">
            <a:avLst/>
          </a:prstGeom>
        </p:spPr>
      </p:pic>
      <p:sp>
        <p:nvSpPr>
          <p:cNvPr id="19" name="Obj 3">
            <a:hlinkClick r:id="rId6" action="ppaction://hlinksldjump"/>
            <a:extLst>
              <a:ext uri="{FF2B5EF4-FFF2-40B4-BE49-F238E27FC236}">
                <a16:creationId xmlns:a16="http://schemas.microsoft.com/office/drawing/2014/main" id="{6ACEBC7F-7DEA-7F47-5CEE-B57607749D68}"/>
              </a:ext>
            </a:extLst>
          </p:cNvPr>
          <p:cNvSpPr/>
          <p:nvPr/>
        </p:nvSpPr>
        <p:spPr>
          <a:xfrm>
            <a:off x="167950" y="120031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Therapies</a:t>
            </a:r>
          </a:p>
        </p:txBody>
      </p:sp>
      <p:pic>
        <p:nvPicPr>
          <p:cNvPr id="20" name="Graphic 19" descr="Cursor with solid fill">
            <a:extLst>
              <a:ext uri="{FF2B5EF4-FFF2-40B4-BE49-F238E27FC236}">
                <a16:creationId xmlns:a16="http://schemas.microsoft.com/office/drawing/2014/main" id="{79F587E2-854E-F5BA-D8E2-10002CFF83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1432965"/>
            <a:ext cx="270672" cy="270672"/>
          </a:xfrm>
          <a:prstGeom prst="rect">
            <a:avLst/>
          </a:prstGeom>
        </p:spPr>
      </p:pic>
      <p:sp>
        <p:nvSpPr>
          <p:cNvPr id="21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23D32491-6A93-7661-46F3-C3CB4276F501}"/>
              </a:ext>
            </a:extLst>
          </p:cNvPr>
          <p:cNvSpPr/>
          <p:nvPr/>
        </p:nvSpPr>
        <p:spPr>
          <a:xfrm>
            <a:off x="167950" y="1726184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FAQs</a:t>
            </a:r>
          </a:p>
        </p:txBody>
      </p:sp>
      <p:pic>
        <p:nvPicPr>
          <p:cNvPr id="22" name="Graphic 21" descr="Cursor with solid fill">
            <a:extLst>
              <a:ext uri="{FF2B5EF4-FFF2-40B4-BE49-F238E27FC236}">
                <a16:creationId xmlns:a16="http://schemas.microsoft.com/office/drawing/2014/main" id="{365F7239-7B6B-565D-EE65-D35DE1D0A2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1958827"/>
            <a:ext cx="270672" cy="270672"/>
          </a:xfrm>
          <a:prstGeom prst="rect">
            <a:avLst/>
          </a:prstGeom>
        </p:spPr>
      </p:pic>
      <p:sp>
        <p:nvSpPr>
          <p:cNvPr id="23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A449CB7F-894C-622E-FF11-C70FEBDDBD8C}"/>
              </a:ext>
            </a:extLst>
          </p:cNvPr>
          <p:cNvSpPr/>
          <p:nvPr/>
        </p:nvSpPr>
        <p:spPr>
          <a:xfrm>
            <a:off x="167950" y="225496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Resources</a:t>
            </a:r>
          </a:p>
        </p:txBody>
      </p:sp>
      <p:sp>
        <p:nvSpPr>
          <p:cNvPr id="24" name="Cases">
            <a:extLst>
              <a:ext uri="{FF2B5EF4-FFF2-40B4-BE49-F238E27FC236}">
                <a16:creationId xmlns:a16="http://schemas.microsoft.com/office/drawing/2014/main" id="{44A82376-D4C0-53E3-E057-4ADDC385B9D8}"/>
              </a:ext>
            </a:extLst>
          </p:cNvPr>
          <p:cNvSpPr/>
          <p:nvPr/>
        </p:nvSpPr>
        <p:spPr>
          <a:xfrm>
            <a:off x="167950" y="2783754"/>
            <a:ext cx="1474237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Cases</a:t>
            </a:r>
          </a:p>
        </p:txBody>
      </p:sp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007313B4-D729-F868-5DB2-070AD9F3F9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2487612"/>
            <a:ext cx="270672" cy="270672"/>
          </a:xfrm>
          <a:prstGeom prst="rect">
            <a:avLst/>
          </a:prstGeom>
        </p:spPr>
      </p:pic>
      <p:sp>
        <p:nvSpPr>
          <p:cNvPr id="26" name="Obj 3b">
            <a:hlinkClick r:id="rId9" action="ppaction://hlinksldjump"/>
            <a:extLst>
              <a:ext uri="{FF2B5EF4-FFF2-40B4-BE49-F238E27FC236}">
                <a16:creationId xmlns:a16="http://schemas.microsoft.com/office/drawing/2014/main" id="{23A991AB-275D-1BD5-BC37-F526AD1D24C0}"/>
              </a:ext>
            </a:extLst>
          </p:cNvPr>
          <p:cNvSpPr/>
          <p:nvPr/>
        </p:nvSpPr>
        <p:spPr>
          <a:xfrm>
            <a:off x="466078" y="3812198"/>
            <a:ext cx="1176109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7" name="Obj 3b">
            <a:extLst>
              <a:ext uri="{FF2B5EF4-FFF2-40B4-BE49-F238E27FC236}">
                <a16:creationId xmlns:a16="http://schemas.microsoft.com/office/drawing/2014/main" id="{47FAEF1A-0ADE-5E1D-9CEE-425E2204B298}"/>
              </a:ext>
            </a:extLst>
          </p:cNvPr>
          <p:cNvSpPr/>
          <p:nvPr/>
        </p:nvSpPr>
        <p:spPr>
          <a:xfrm>
            <a:off x="466078" y="4326420"/>
            <a:ext cx="1176109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28" name="Graphic 27" descr="Cursor with solid fill">
            <a:extLst>
              <a:ext uri="{FF2B5EF4-FFF2-40B4-BE49-F238E27FC236}">
                <a16:creationId xmlns:a16="http://schemas.microsoft.com/office/drawing/2014/main" id="{55EC2570-A086-3C92-2973-067815B96E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4058074"/>
            <a:ext cx="270672" cy="270672"/>
          </a:xfrm>
          <a:prstGeom prst="rect">
            <a:avLst/>
          </a:prstGeom>
        </p:spPr>
      </p:pic>
      <p:sp>
        <p:nvSpPr>
          <p:cNvPr id="30" name="Obj 3b">
            <a:hlinkClick r:id="rId10" action="ppaction://hlinksldjump"/>
            <a:extLst>
              <a:ext uri="{FF2B5EF4-FFF2-40B4-BE49-F238E27FC236}">
                <a16:creationId xmlns:a16="http://schemas.microsoft.com/office/drawing/2014/main" id="{47B62FC5-A7C5-BE96-4874-43EFCEB450E8}"/>
              </a:ext>
            </a:extLst>
          </p:cNvPr>
          <p:cNvSpPr/>
          <p:nvPr/>
        </p:nvSpPr>
        <p:spPr>
          <a:xfrm>
            <a:off x="466078" y="3297976"/>
            <a:ext cx="1176109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pic>
        <p:nvPicPr>
          <p:cNvPr id="31" name="Graphic 30" descr="Cursor with solid fill">
            <a:extLst>
              <a:ext uri="{FF2B5EF4-FFF2-40B4-BE49-F238E27FC236}">
                <a16:creationId xmlns:a16="http://schemas.microsoft.com/office/drawing/2014/main" id="{8CB63C15-4F98-B5F7-E906-9572E9B4F0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851" y="3553924"/>
            <a:ext cx="270672" cy="270672"/>
          </a:xfrm>
          <a:prstGeom prst="rect">
            <a:avLst/>
          </a:prstGeom>
        </p:spPr>
      </p:pic>
      <p:pic>
        <p:nvPicPr>
          <p:cNvPr id="32" name="Graphic 31" descr="Cursor with solid fill">
            <a:extLst>
              <a:ext uri="{FF2B5EF4-FFF2-40B4-BE49-F238E27FC236}">
                <a16:creationId xmlns:a16="http://schemas.microsoft.com/office/drawing/2014/main" id="{2324185E-81A3-539C-5BCF-E0EE84C070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2849" y="2359548"/>
            <a:ext cx="270672" cy="270672"/>
          </a:xfrm>
          <a:prstGeom prst="rect">
            <a:avLst/>
          </a:prstGeom>
        </p:spPr>
      </p:pic>
      <p:pic>
        <p:nvPicPr>
          <p:cNvPr id="33" name="Graphic 32" descr="Cursor with solid fill">
            <a:extLst>
              <a:ext uri="{FF2B5EF4-FFF2-40B4-BE49-F238E27FC236}">
                <a16:creationId xmlns:a16="http://schemas.microsoft.com/office/drawing/2014/main" id="{9F64189C-0B65-6DAA-BFE5-729B3BFEA4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2849" y="4779663"/>
            <a:ext cx="270672" cy="27067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A7F5FE6-7534-7501-CE50-3BDA7EC8C4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2294" y="5102502"/>
            <a:ext cx="968810" cy="964084"/>
          </a:xfrm>
          <a:prstGeom prst="rect">
            <a:avLst/>
          </a:prstGeom>
        </p:spPr>
      </p:pic>
      <p:sp>
        <p:nvSpPr>
          <p:cNvPr id="3" name="Case 1 Answer 2">
            <a:extLst>
              <a:ext uri="{FF2B5EF4-FFF2-40B4-BE49-F238E27FC236}">
                <a16:creationId xmlns:a16="http://schemas.microsoft.com/office/drawing/2014/main" id="{ABF1EEE8-8BE1-CE32-601C-B14F64A0FB56}"/>
              </a:ext>
            </a:extLst>
          </p:cNvPr>
          <p:cNvSpPr txBox="1"/>
          <p:nvPr/>
        </p:nvSpPr>
        <p:spPr>
          <a:xfrm>
            <a:off x="466078" y="6215155"/>
            <a:ext cx="1950551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UCSF estrogen in VTE guidelines </a:t>
            </a:r>
          </a:p>
        </p:txBody>
      </p:sp>
    </p:spTree>
    <p:extLst>
      <p:ext uri="{BB962C8B-B14F-4D97-AF65-F5344CB8AC3E}">
        <p14:creationId xmlns:p14="http://schemas.microsoft.com/office/powerpoint/2010/main" val="580389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36" grpId="0"/>
      <p:bldP spid="39" grpId="0"/>
      <p:bldP spid="5" grpId="0" animBg="1"/>
      <p:bldP spid="3" grpId="0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E6E8C"/>
          </a:solidFill>
        </p:spPr>
        <p:txBody>
          <a:bodyPr wrap="none" lIns="228600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2024–2025 Currency &amp; U.S. Policy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80000"/>
            <a:ext cx="11277600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  <a:latin typeface="Calibri"/>
              </a:rPr>
              <a:t>Standing clinical guidelines UNCHANGED for adults: WPATH Standards of Care v8 (2022) and Endocrine Society Clinical Practice Guideline (2017) remain the governing references; hormone regimens and targets in this talk are current.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02020"/>
                </a:solidFill>
                <a:latin typeface="Calibri"/>
              </a:rPr>
              <a:t>U.S. policy/access changes since publication (affect ACCESS, not the adult clinical standard; scoped largely to patients &lt;19):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Executive Order 14187 (Jan 28, 2025) directs the federal government not to support gender-affirming care for individuals under age 19.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CMS letters/proposed rules (2025; Federal Register Dec 19, 2025) restrict federal Medicaid/CHIP funding for gender-affirming care in minors.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HHS rescinded enforcement of ACA §1557 nondiscrimination protections for transgender patients (Feb 2025) — coverage denials face low federal enforcement risk.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02020"/>
                </a:solidFill>
                <a:latin typeface="Calibri"/>
              </a:rPr>
              <a:t>Several measures are subject to ongoing litigation/injunctions. Verify current state and federal law and payer coverage before counseling — this is a rapidly evolving area.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E6E8C"/>
          </a:solidFill>
        </p:spPr>
        <p:txBody>
          <a:bodyPr wrap="none" lIns="228600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80000"/>
            <a:ext cx="11277600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202020"/>
                </a:solidFill>
                <a:latin typeface="Calibri"/>
              </a:rPr>
              <a:t>1. Lead with patient-centered language: ask name, pronouns, gender identity, sex assigned at birth, and a focused organ inventory. If you misgender: recognize–apologize–commit–move on.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02020"/>
                </a:solidFill>
                <a:latin typeface="Calibri"/>
              </a:rPr>
              <a:t>2. A generalist can diagnose gender dysphoria and start GAHT via informed consent (capacity, contraindications, expectations, fertility counseling). Gender incongruence is NOT a mental illness.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02020"/>
                </a:solidFill>
                <a:latin typeface="Calibri"/>
              </a:rPr>
              <a:t>3. Feminizing = 17β-estradiol (goal 100–200 pg/mL) ± anti-androgen (spironolactone); masculinizing = bioidentical testosterone alone (goal trough 400–700 ng/dL). Titrate to desired effects vs side effects.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02020"/>
                </a:solidFill>
                <a:latin typeface="Calibri"/>
              </a:rPr>
              <a:t>4. Know the drug–risk pairs: estrogen→VTE (transdermal lowest risk), spironolactone→hyperkalemia, testosterone→erythrocytosis. Don’t hold hormones when admitted (except estradiol with VTE risk). Cancer-screen by organs present.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E6E8C"/>
          </a:solidFill>
        </p:spPr>
        <p:txBody>
          <a:bodyPr wrap="none" lIns="228600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Attribution, License &amp; Optimization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80000"/>
            <a:ext cx="11277600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  <a:latin typeface="Calibri"/>
              </a:rPr>
              <a:t>Original: “Gender Affirming Care,” TeachIM.org. Authors: Brian Adams MD, Helene Hedian MD, Rita Lee MD; exec. editor Brandon Fainstad MD. Published May 2024 (page updated Aug 2024).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  <a:latin typeface="Calibri"/>
              </a:rPr>
              <a:t>teachim.org/teaching_material/gender-affirming-care/ — CC BY-NC 4.0 (attribution, non-commercial). Educational use only; clinician-reviewed before teaching.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02020"/>
                </a:solidFill>
                <a:latin typeface="Calibri"/>
              </a:rPr>
              <a:t>Optimization (June 2026):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Corrections (surgical, animations preserved): epidemiology figure “1.2% millennials” → “1.0%” (matches lesson’s own teaching script / Gallup 2021); “17-estradiol” → “17β-estradiol” (correct chemical name).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Companion GAHT learner handout corrected: “Maculinizing” → Masculinizing, “FSH/LSH” → FSH/LH, “USPTF” → USPSTF (filename preserved).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Added: 2024–25 currency/policy slide (above); HTML package with pre-work, ASK points, 5 MCQs, 17 Anki cards, EMR dotphrase, one-pager.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All 13 original interactive/click-to-reveal slides preserved. Human-review: speaker notes on slides 6–8 contain unrelated contraception/IUD text carried over from another lesson (non-projected) — left unedited.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182957</TotalTime>
  <Words>2216</Words>
  <Application>Microsoft Office PowerPoint</Application>
  <PresentationFormat>Widescreen</PresentationFormat>
  <Paragraphs>372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Resources in gender affirming care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Brandon Fainstad</dc:creator>
  <cp:lastModifiedBy>Fainstad, Brandon</cp:lastModifiedBy>
  <cp:revision>41</cp:revision>
  <dcterms:created xsi:type="dcterms:W3CDTF">2020-12-09T20:37:45Z</dcterms:created>
  <dcterms:modified xsi:type="dcterms:W3CDTF">2024-08-01T16:16:23Z</dcterms:modified>
</cp:coreProperties>
</file>