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21.svg" ContentType="image/svg+xml"/>
  <Override PartName="/ppt/media/image23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9" r:id="rId2"/>
    <p:sldId id="340" r:id="rId3"/>
    <p:sldId id="380" r:id="rId4"/>
    <p:sldId id="342" r:id="rId5"/>
    <p:sldId id="381" r:id="rId6"/>
    <p:sldId id="382" r:id="rId7"/>
    <p:sldId id="377" r:id="rId8"/>
    <p:sldId id="383" r:id="rId15"/>
    <p:sldId id="384" r:id="rId16"/>
    <p:sldId id="3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  <p188:author id="{B466D9B2-7FE7-ED95-04B2-E2967964833A}" name="Yilin Zhang" initials="YZ" userId="8f8df916e9767cd3" providerId="Windows Live"/>
  <p188:author id="{24EF71CF-F5FB-3264-CB3E-4DC2A7879CE4}" name="Molly Brett" initials="MB" userId="0d19276d4d61410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730" autoAdjust="0"/>
    <p:restoredTop sz="81407" autoAdjust="0"/>
  </p:normalViewPr>
  <p:slideViewPr>
    <p:cSldViewPr snapToGrid="0">
      <p:cViewPr varScale="1">
        <p:scale>
          <a:sx n="87" d="100"/>
          <a:sy n="87" d="100"/>
        </p:scale>
        <p:origin x="141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48C74-99BD-5249-AD29-E008F9CF59EE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E6C55-AF02-6E4D-ACCB-0CD1EA41B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67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03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76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37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93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38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68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E6C55-AF02-6E4D-ACCB-0CD1EA41B2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054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3.xml"/><Relationship Id="rId8" Type="http://schemas.openxmlformats.org/officeDocument/2006/relationships/slide" Target="slide6.xml"/><Relationship Id="rId9" Type="http://schemas.openxmlformats.org/officeDocument/2006/relationships/slide" Target="slide4.xml"/><Relationship Id="rId10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image" Target="../media/image4.png"/><Relationship Id="rId9" Type="http://schemas.openxmlformats.org/officeDocument/2006/relationships/image" Target="../media/image5.tiff"/><Relationship Id="rId10" Type="http://schemas.openxmlformats.org/officeDocument/2006/relationships/image" Target="../media/image6.png"/><Relationship Id="rId11" Type="http://schemas.microsoft.com/office/2007/relationships/hdphoto" Target="../media/hdphoto1.wdp"/><Relationship Id="rId12" Type="http://schemas.openxmlformats.org/officeDocument/2006/relationships/image" Target="../media/image7.png"/><Relationship Id="rId13" Type="http://schemas.openxmlformats.org/officeDocument/2006/relationships/slide" Target="slide6.xml"/><Relationship Id="rId14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" Target="slide4.xml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microsoft.com/office/2007/relationships/hdphoto" Target="../media/hdphoto2.wdp"/><Relationship Id="rId14" Type="http://schemas.openxmlformats.org/officeDocument/2006/relationships/slide" Target="slide2.xml"/><Relationship Id="rId15" Type="http://schemas.openxmlformats.org/officeDocument/2006/relationships/slide" Target="slide6.xml"/><Relationship Id="rId16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microsoft.com/office/2007/relationships/hdphoto" Target="../media/hdphoto3.wdp"/><Relationship Id="rId6" Type="http://schemas.openxmlformats.org/officeDocument/2006/relationships/image" Target="../media/image16.png"/><Relationship Id="rId7" Type="http://schemas.openxmlformats.org/officeDocument/2006/relationships/image" Target="../media/image17.tiff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18.tiff"/><Relationship Id="rId11" Type="http://schemas.openxmlformats.org/officeDocument/2006/relationships/image" Target="../media/image19.tiff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4.xml"/><Relationship Id="rId15" Type="http://schemas.openxmlformats.org/officeDocument/2006/relationships/slide" Target="slide6.xml"/><Relationship Id="rId16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image" Target="../media/image23.svg"/><Relationship Id="rId1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6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vertebrate, mollusk&#10;&#10;Description automatically generated">
            <a:extLst>
              <a:ext uri="{FF2B5EF4-FFF2-40B4-BE49-F238E27FC236}">
                <a16:creationId xmlns:a16="http://schemas.microsoft.com/office/drawing/2014/main" id="{B7E98D30-0252-43E0-9DF1-09BA61D6CC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3158" y="702107"/>
            <a:ext cx="7985770" cy="5590039"/>
          </a:xfrm>
          <a:prstGeom prst="rect">
            <a:avLst/>
          </a:prstGeom>
        </p:spPr>
      </p:pic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CB26E6A2-0922-48A9-9E75-0E66DFBAB19B}"/>
              </a:ext>
            </a:extLst>
          </p:cNvPr>
          <p:cNvSpPr/>
          <p:nvPr/>
        </p:nvSpPr>
        <p:spPr>
          <a:xfrm>
            <a:off x="3320065" y="301997"/>
            <a:ext cx="6633865" cy="876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ysClr val="windowText" lastClr="000000"/>
                </a:solidFill>
              </a:rPr>
              <a:t>Type II Diabetes</a:t>
            </a:r>
          </a:p>
        </p:txBody>
      </p:sp>
      <p:sp>
        <p:nvSpPr>
          <p:cNvPr id="16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E50A65F5-C01A-4A0A-86CA-B3E9923A1CBD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E62F1866-11CA-44C2-A8EE-13C14B3B0BB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E00E01A-A025-4FC6-8F10-F5605B9819EF}"/>
              </a:ext>
            </a:extLst>
          </p:cNvPr>
          <p:cNvSpPr txBox="1"/>
          <p:nvPr/>
        </p:nvSpPr>
        <p:spPr>
          <a:xfrm>
            <a:off x="6081832" y="6611779"/>
            <a:ext cx="6097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Graphic created with BioRender.com</a:t>
            </a:r>
          </a:p>
        </p:txBody>
      </p:sp>
      <p:sp>
        <p:nvSpPr>
          <p:cNvPr id="15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50603205-5F10-48E0-A90E-53705D597DEC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20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19A0C7E7-F67A-48B8-8706-2DC473B10942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7B52F5EB-5C48-4649-875B-0C2A930616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738AA2C9-CDFB-49BB-B4E0-5366D6DE965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0454" y="2762315"/>
            <a:ext cx="301752" cy="301752"/>
          </a:xfrm>
          <a:prstGeom prst="rect">
            <a:avLst/>
          </a:prstGeom>
        </p:spPr>
      </p:pic>
      <p:sp>
        <p:nvSpPr>
          <p:cNvPr id="29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3E971A6D-9753-4EE8-8BC1-EE2E6A01623D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sp>
        <p:nvSpPr>
          <p:cNvPr id="30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20F97BA0-5BF8-4189-8B58-AD85735A895D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1A731AB0-7921-4C4E-BE15-F4EFA525F7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6C22AC6C-A344-4EAA-8ED5-3F3E99F45B9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2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4A8D4CF-4549-4337-8DD2-73EEF15716FB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rot="16200000" flipH="1">
            <a:off x="7214516" y="406376"/>
            <a:ext cx="870867" cy="2634482"/>
          </a:xfrm>
          <a:prstGeom prst="bentConnector3">
            <a:avLst>
              <a:gd name="adj1" fmla="val 42025"/>
            </a:avLst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2" name="diagnosis button - white">
            <a:extLst>
              <a:ext uri="{FF2B5EF4-FFF2-40B4-BE49-F238E27FC236}">
                <a16:creationId xmlns:a16="http://schemas.microsoft.com/office/drawing/2014/main" id="{8D0B2FAF-2104-4C53-A358-50BA0F1EB1B1}"/>
              </a:ext>
            </a:extLst>
          </p:cNvPr>
          <p:cNvSpPr txBox="1"/>
          <p:nvPr/>
        </p:nvSpPr>
        <p:spPr>
          <a:xfrm>
            <a:off x="5093265" y="192264"/>
            <a:ext cx="239583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Diagnostic Criteria?</a:t>
            </a:r>
          </a:p>
        </p:txBody>
      </p:sp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A3E1FE27-895A-46CB-83CF-E925EFE2BD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1059" y="461827"/>
            <a:ext cx="301752" cy="301752"/>
          </a:xfrm>
          <a:prstGeom prst="rect">
            <a:avLst/>
          </a:prstGeom>
        </p:spPr>
      </p:pic>
      <p:sp>
        <p:nvSpPr>
          <p:cNvPr id="42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60DEB913-AFF4-49DD-BA50-68EE40C03F40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Dx &amp; Screening</a:t>
            </a:r>
          </a:p>
        </p:txBody>
      </p:sp>
      <p:sp>
        <p:nvSpPr>
          <p:cNvPr id="55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4ADDB35C-73BA-4E7F-9A87-D98F18A3D51B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351E36E3-2D58-4F5C-891F-F28623D231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sp>
        <p:nvSpPr>
          <p:cNvPr id="62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A1C7E362-0572-4106-A23B-33B37D79A2BC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345E7A26-A0BE-4B82-93D6-E5F63050A7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  <p:sp>
        <p:nvSpPr>
          <p:cNvPr id="69" name="diagnosis button - black">
            <a:extLst>
              <a:ext uri="{FF2B5EF4-FFF2-40B4-BE49-F238E27FC236}">
                <a16:creationId xmlns:a16="http://schemas.microsoft.com/office/drawing/2014/main" id="{5F213F75-CD01-408F-86FB-22EB41B9359B}"/>
              </a:ext>
            </a:extLst>
          </p:cNvPr>
          <p:cNvSpPr txBox="1"/>
          <p:nvPr/>
        </p:nvSpPr>
        <p:spPr>
          <a:xfrm>
            <a:off x="5086657" y="204246"/>
            <a:ext cx="2395838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Diagnostic Criteria?</a:t>
            </a:r>
          </a:p>
        </p:txBody>
      </p:sp>
      <p:sp>
        <p:nvSpPr>
          <p:cNvPr id="4" name="Symptoms">
            <a:extLst>
              <a:ext uri="{FF2B5EF4-FFF2-40B4-BE49-F238E27FC236}">
                <a16:creationId xmlns:a16="http://schemas.microsoft.com/office/drawing/2014/main" id="{BED9CD2F-CB2E-4704-A568-CB31430EC874}"/>
              </a:ext>
            </a:extLst>
          </p:cNvPr>
          <p:cNvSpPr/>
          <p:nvPr/>
        </p:nvSpPr>
        <p:spPr>
          <a:xfrm>
            <a:off x="5601233" y="879560"/>
            <a:ext cx="1462950" cy="40862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Symptoms?</a:t>
            </a:r>
          </a:p>
        </p:txBody>
      </p: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DE9297CB-B281-4393-BFBF-BC45785136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4373" y="1153054"/>
            <a:ext cx="301752" cy="30175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140CB8-BF70-4147-B253-13053E634F8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64183" y="1083872"/>
            <a:ext cx="948419" cy="4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3BDAD-51DC-4924-BCF2-E0A54DA67DAA}"/>
              </a:ext>
            </a:extLst>
          </p:cNvPr>
          <p:cNvSpPr/>
          <p:nvPr/>
        </p:nvSpPr>
        <p:spPr>
          <a:xfrm>
            <a:off x="7673098" y="2159051"/>
            <a:ext cx="2588184" cy="488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Random BG &gt;200 mg/dL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2211295A-D54F-4061-8481-6AF95D62D5ED}"/>
              </a:ext>
            </a:extLst>
          </p:cNvPr>
          <p:cNvCxnSpPr>
            <a:cxnSpLocks/>
            <a:stCxn id="4" idx="2"/>
            <a:endCxn id="90" idx="0"/>
          </p:cNvCxnSpPr>
          <p:nvPr/>
        </p:nvCxnSpPr>
        <p:spPr>
          <a:xfrm rot="5400000">
            <a:off x="4975797" y="666425"/>
            <a:ext cx="735152" cy="19786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B11FDF6-C7A9-432C-A57C-DC74EE92C65F}"/>
              </a:ext>
            </a:extLst>
          </p:cNvPr>
          <p:cNvSpPr/>
          <p:nvPr/>
        </p:nvSpPr>
        <p:spPr>
          <a:xfrm>
            <a:off x="3059945" y="2023336"/>
            <a:ext cx="2588184" cy="9093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Fasting BG &gt; 125 mg/dL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HbA1C &gt; 6.5%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2 occasions or tests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8493B3-D414-4C28-BB69-64DF40A561A4}"/>
              </a:ext>
            </a:extLst>
          </p:cNvPr>
          <p:cNvGrpSpPr/>
          <p:nvPr/>
        </p:nvGrpSpPr>
        <p:grpSpPr>
          <a:xfrm>
            <a:off x="8005994" y="325483"/>
            <a:ext cx="3814127" cy="1510776"/>
            <a:chOff x="7748624" y="397151"/>
            <a:chExt cx="3814127" cy="15107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4C3B8C-AA97-4CAB-8F4C-F536749EE316}"/>
                </a:ext>
              </a:extLst>
            </p:cNvPr>
            <p:cNvSpPr/>
            <p:nvPr/>
          </p:nvSpPr>
          <p:spPr>
            <a:xfrm>
              <a:off x="7755232" y="397151"/>
              <a:ext cx="3807519" cy="15107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CBB37B2-6EB3-4254-B294-D74EAA460450}"/>
                </a:ext>
              </a:extLst>
            </p:cNvPr>
            <p:cNvGrpSpPr/>
            <p:nvPr/>
          </p:nvGrpSpPr>
          <p:grpSpPr>
            <a:xfrm>
              <a:off x="7748624" y="447790"/>
              <a:ext cx="3807519" cy="1410527"/>
              <a:chOff x="6888932" y="1386428"/>
              <a:chExt cx="3807519" cy="1410527"/>
            </a:xfrm>
          </p:grpSpPr>
          <p:pic>
            <p:nvPicPr>
              <p:cNvPr id="6" name="Picture 5" descr="A picture containing text&#10;&#10;Description automatically generated">
                <a:extLst>
                  <a:ext uri="{FF2B5EF4-FFF2-40B4-BE49-F238E27FC236}">
                    <a16:creationId xmlns:a16="http://schemas.microsoft.com/office/drawing/2014/main" id="{6DC99388-6F5A-4915-AC1D-DBC4597AD5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8" t="5859" r="44162" b="76109"/>
              <a:stretch/>
            </p:blipFill>
            <p:spPr>
              <a:xfrm>
                <a:off x="6888932" y="1386428"/>
                <a:ext cx="3807519" cy="922911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995EC7-3624-4DEC-ABCF-A175C90D6C3F}"/>
                  </a:ext>
                </a:extLst>
              </p:cNvPr>
              <p:cNvSpPr txBox="1"/>
              <p:nvPr/>
            </p:nvSpPr>
            <p:spPr>
              <a:xfrm>
                <a:off x="6895540" y="2212180"/>
                <a:ext cx="10080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Weight loss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723612B-B15C-429D-A428-DA7C4C64A1AD}"/>
                  </a:ext>
                </a:extLst>
              </p:cNvPr>
              <p:cNvSpPr txBox="1"/>
              <p:nvPr/>
            </p:nvSpPr>
            <p:spPr>
              <a:xfrm>
                <a:off x="7721489" y="2303992"/>
                <a:ext cx="12542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Polydipsia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2EDCC9F-EE48-4F74-9BB5-A3685BD04416}"/>
                  </a:ext>
                </a:extLst>
              </p:cNvPr>
              <p:cNvSpPr txBox="1"/>
              <p:nvPr/>
            </p:nvSpPr>
            <p:spPr>
              <a:xfrm>
                <a:off x="8676485" y="2303992"/>
                <a:ext cx="125423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Polyuria 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257F98F-1E90-46D0-85A4-00D251B9DD0B}"/>
                  </a:ext>
                </a:extLst>
              </p:cNvPr>
              <p:cNvSpPr txBox="1"/>
              <p:nvPr/>
            </p:nvSpPr>
            <p:spPr>
              <a:xfrm>
                <a:off x="9607840" y="2199203"/>
                <a:ext cx="10462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Blurry vision </a:t>
                </a:r>
              </a:p>
            </p:txBody>
          </p:sp>
        </p:grp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0BC486D0-6916-49C2-A8A6-07CFA173A02F}"/>
              </a:ext>
            </a:extLst>
          </p:cNvPr>
          <p:cNvSpPr/>
          <p:nvPr/>
        </p:nvSpPr>
        <p:spPr>
          <a:xfrm>
            <a:off x="6984888" y="1483914"/>
            <a:ext cx="613925" cy="38551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95BA3C1-1551-4051-A2A4-473A409F99FC}"/>
              </a:ext>
            </a:extLst>
          </p:cNvPr>
          <p:cNvSpPr/>
          <p:nvPr/>
        </p:nvSpPr>
        <p:spPr>
          <a:xfrm>
            <a:off x="5309547" y="1497462"/>
            <a:ext cx="613925" cy="38551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03" name="Who button - white">
            <a:extLst>
              <a:ext uri="{FF2B5EF4-FFF2-40B4-BE49-F238E27FC236}">
                <a16:creationId xmlns:a16="http://schemas.microsoft.com/office/drawing/2014/main" id="{83B728E1-2ADC-4DFB-888D-6CC60A0E2FBC}"/>
              </a:ext>
            </a:extLst>
          </p:cNvPr>
          <p:cNvSpPr txBox="1"/>
          <p:nvPr/>
        </p:nvSpPr>
        <p:spPr>
          <a:xfrm>
            <a:off x="4848595" y="3043032"/>
            <a:ext cx="2975379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Who should be screened?</a:t>
            </a:r>
          </a:p>
        </p:txBody>
      </p:sp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E59F6523-DDE3-4007-B988-660671E046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115" y="3322892"/>
            <a:ext cx="301752" cy="301752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6B422719-157C-435F-B74B-AC7A4DD01617}"/>
              </a:ext>
            </a:extLst>
          </p:cNvPr>
          <p:cNvSpPr txBox="1"/>
          <p:nvPr/>
        </p:nvSpPr>
        <p:spPr>
          <a:xfrm>
            <a:off x="6096000" y="6634513"/>
            <a:ext cx="6097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Graphics from BioRender.com</a:t>
            </a:r>
          </a:p>
        </p:txBody>
      </p:sp>
      <p:sp>
        <p:nvSpPr>
          <p:cNvPr id="107" name="Who button - black">
            <a:extLst>
              <a:ext uri="{FF2B5EF4-FFF2-40B4-BE49-F238E27FC236}">
                <a16:creationId xmlns:a16="http://schemas.microsoft.com/office/drawing/2014/main" id="{9DAE4593-A08A-42A8-AA37-E0CC53098A76}"/>
              </a:ext>
            </a:extLst>
          </p:cNvPr>
          <p:cNvSpPr txBox="1"/>
          <p:nvPr/>
        </p:nvSpPr>
        <p:spPr>
          <a:xfrm>
            <a:off x="4859746" y="3052713"/>
            <a:ext cx="2975379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Who should be screened?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83C439D-D3C1-4E18-8837-040BD7BF1A37}"/>
              </a:ext>
            </a:extLst>
          </p:cNvPr>
          <p:cNvGrpSpPr/>
          <p:nvPr/>
        </p:nvGrpSpPr>
        <p:grpSpPr>
          <a:xfrm>
            <a:off x="1304214" y="3336799"/>
            <a:ext cx="10064139" cy="2551397"/>
            <a:chOff x="1277357" y="3514919"/>
            <a:chExt cx="10064139" cy="2551397"/>
          </a:xfrm>
        </p:grpSpPr>
        <p:pic>
          <p:nvPicPr>
            <p:cNvPr id="109" name="Glucose button">
              <a:extLst>
                <a:ext uri="{FF2B5EF4-FFF2-40B4-BE49-F238E27FC236}">
                  <a16:creationId xmlns:a16="http://schemas.microsoft.com/office/drawing/2014/main" id="{A2DDC124-2C9C-4723-AA85-1DF992E71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927" r="56074" b="81141"/>
            <a:stretch/>
          </p:blipFill>
          <p:spPr>
            <a:xfrm>
              <a:off x="1612187" y="3804476"/>
              <a:ext cx="939439" cy="1165635"/>
            </a:xfrm>
            <a:prstGeom prst="rect">
              <a:avLst/>
            </a:prstGeom>
          </p:spPr>
        </p:pic>
        <p:sp>
          <p:nvSpPr>
            <p:cNvPr id="110" name="Overweight/Obesity">
              <a:extLst>
                <a:ext uri="{FF2B5EF4-FFF2-40B4-BE49-F238E27FC236}">
                  <a16:creationId xmlns:a16="http://schemas.microsoft.com/office/drawing/2014/main" id="{3986B556-BA66-48AF-AE3E-E1BC046A4032}"/>
                </a:ext>
              </a:extLst>
            </p:cNvPr>
            <p:cNvSpPr txBox="1"/>
            <p:nvPr/>
          </p:nvSpPr>
          <p:spPr>
            <a:xfrm>
              <a:off x="1277357" y="5281486"/>
              <a:ext cx="1621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BMI &gt;25 kg/m</a:t>
              </a:r>
              <a:r>
                <a:rPr lang="en-US" baseline="30000" dirty="0"/>
                <a:t>2</a:t>
              </a:r>
              <a:endParaRPr lang="en-US" dirty="0"/>
            </a:p>
            <a:p>
              <a:pPr algn="ctr"/>
              <a:r>
                <a:rPr lang="en-US" dirty="0"/>
                <a:t>+ risk factors</a:t>
              </a:r>
            </a:p>
          </p:txBody>
        </p:sp>
        <p:sp>
          <p:nvSpPr>
            <p:cNvPr id="111" name="Hx Gestational DM">
              <a:extLst>
                <a:ext uri="{FF2B5EF4-FFF2-40B4-BE49-F238E27FC236}">
                  <a16:creationId xmlns:a16="http://schemas.microsoft.com/office/drawing/2014/main" id="{31145EB3-B7EA-4DD9-ABE8-775DCB28CE0A}"/>
                </a:ext>
              </a:extLst>
            </p:cNvPr>
            <p:cNvSpPr txBox="1"/>
            <p:nvPr/>
          </p:nvSpPr>
          <p:spPr>
            <a:xfrm>
              <a:off x="4877241" y="5281486"/>
              <a:ext cx="16748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History of gestational DM</a:t>
              </a:r>
            </a:p>
          </p:txBody>
        </p:sp>
        <p:sp>
          <p:nvSpPr>
            <p:cNvPr id="112" name="Elderly">
              <a:extLst>
                <a:ext uri="{FF2B5EF4-FFF2-40B4-BE49-F238E27FC236}">
                  <a16:creationId xmlns:a16="http://schemas.microsoft.com/office/drawing/2014/main" id="{576FB100-621D-47B6-8A38-FB9F140205D3}"/>
                </a:ext>
              </a:extLst>
            </p:cNvPr>
            <p:cNvSpPr txBox="1"/>
            <p:nvPr/>
          </p:nvSpPr>
          <p:spPr>
            <a:xfrm>
              <a:off x="3333662" y="5419985"/>
              <a:ext cx="1267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Age &gt; 35</a:t>
              </a:r>
            </a:p>
          </p:txBody>
        </p:sp>
        <p:sp>
          <p:nvSpPr>
            <p:cNvPr id="113" name="PreDM">
              <a:extLst>
                <a:ext uri="{FF2B5EF4-FFF2-40B4-BE49-F238E27FC236}">
                  <a16:creationId xmlns:a16="http://schemas.microsoft.com/office/drawing/2014/main" id="{64905F8D-93FB-4922-BE29-6448615CC72E}"/>
                </a:ext>
              </a:extLst>
            </p:cNvPr>
            <p:cNvSpPr txBox="1"/>
            <p:nvPr/>
          </p:nvSpPr>
          <p:spPr>
            <a:xfrm>
              <a:off x="9006117" y="5281486"/>
              <a:ext cx="23353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History of Pre-diabetes</a:t>
              </a:r>
            </a:p>
            <a:p>
              <a:pPr algn="ctr"/>
              <a:r>
                <a:rPr lang="en-US" dirty="0"/>
                <a:t>(HbA1C &gt; 5.7%)</a:t>
              </a:r>
            </a:p>
          </p:txBody>
        </p:sp>
        <p:sp>
          <p:nvSpPr>
            <p:cNvPr id="114" name="Meds">
              <a:extLst>
                <a:ext uri="{FF2B5EF4-FFF2-40B4-BE49-F238E27FC236}">
                  <a16:creationId xmlns:a16="http://schemas.microsoft.com/office/drawing/2014/main" id="{AF23018C-E21A-4D55-B897-9B6662F7B9B6}"/>
                </a:ext>
              </a:extLst>
            </p:cNvPr>
            <p:cNvSpPr txBox="1"/>
            <p:nvPr/>
          </p:nvSpPr>
          <p:spPr>
            <a:xfrm>
              <a:off x="6818249" y="5142986"/>
              <a:ext cx="1906951" cy="9233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dirty="0"/>
                <a:t>Chronic steroids, antipsychotics &amp; HIV meds</a:t>
              </a:r>
            </a:p>
          </p:txBody>
        </p:sp>
        <p:pic>
          <p:nvPicPr>
            <p:cNvPr id="115" name="Glucose button">
              <a:extLst>
                <a:ext uri="{FF2B5EF4-FFF2-40B4-BE49-F238E27FC236}">
                  <a16:creationId xmlns:a16="http://schemas.microsoft.com/office/drawing/2014/main" id="{8FB24633-C125-48FD-AE18-EFB1A68F5E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245" t="69123" r="82246" b="5417"/>
            <a:stretch/>
          </p:blipFill>
          <p:spPr>
            <a:xfrm>
              <a:off x="3643945" y="3843479"/>
              <a:ext cx="669222" cy="1121001"/>
            </a:xfrm>
            <a:prstGeom prst="rect">
              <a:avLst/>
            </a:prstGeom>
          </p:spPr>
        </p:pic>
        <p:pic>
          <p:nvPicPr>
            <p:cNvPr id="116" name="Glucose button">
              <a:extLst>
                <a:ext uri="{FF2B5EF4-FFF2-40B4-BE49-F238E27FC236}">
                  <a16:creationId xmlns:a16="http://schemas.microsoft.com/office/drawing/2014/main" id="{127F85F8-D3B5-4D91-9A15-A35B0520B5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3141" t="68361" r="-67" b="11499"/>
            <a:stretch/>
          </p:blipFill>
          <p:spPr>
            <a:xfrm>
              <a:off x="5405486" y="3843119"/>
              <a:ext cx="783677" cy="1165635"/>
            </a:xfrm>
            <a:prstGeom prst="rect">
              <a:avLst/>
            </a:prstGeom>
          </p:spPr>
        </p:pic>
        <p:pic>
          <p:nvPicPr>
            <p:cNvPr id="117" name="Glucose button">
              <a:extLst>
                <a:ext uri="{FF2B5EF4-FFF2-40B4-BE49-F238E27FC236}">
                  <a16:creationId xmlns:a16="http://schemas.microsoft.com/office/drawing/2014/main" id="{C1F0AC11-6863-41DF-A01C-5E5A0A901A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40266" b="53809" l="23903" r="43873">
                          <a14:foregroundMark x1="27988" y1="41717" x2="28290" y2="53325"/>
                          <a14:foregroundMark x1="28290" y1="53325" x2="39486" y2="54776"/>
                          <a14:foregroundMark x1="39486" y1="54776" x2="41150" y2="43531"/>
                          <a14:foregroundMark x1="41150" y1="43531" x2="26021" y2="45103"/>
                          <a14:foregroundMark x1="26021" y1="45103" x2="31770" y2="52721"/>
                          <a14:foregroundMark x1="31770" y1="52721" x2="43570" y2="51149"/>
                          <a14:foregroundMark x1="43570" y1="51149" x2="42511" y2="42684"/>
                          <a14:foregroundMark x1="42511" y1="42684" x2="32678" y2="40508"/>
                          <a14:foregroundMark x1="32678" y1="40508" x2="23903" y2="42443"/>
                          <a14:foregroundMark x1="30106" y1="44619" x2="26172" y2="52358"/>
                          <a14:foregroundMark x1="26172" y1="52358" x2="43116" y2="52358"/>
                          <a14:foregroundMark x1="43116" y1="52358" x2="42209" y2="42322"/>
                          <a14:foregroundMark x1="42209" y1="42322" x2="34796" y2="411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26944" t="38656" r="54145" b="44417"/>
            <a:stretch/>
          </p:blipFill>
          <p:spPr>
            <a:xfrm>
              <a:off x="7432524" y="3895962"/>
              <a:ext cx="908002" cy="1016034"/>
            </a:xfrm>
            <a:prstGeom prst="rect">
              <a:avLst/>
            </a:prstGeom>
          </p:spPr>
        </p:pic>
        <p:pic>
          <p:nvPicPr>
            <p:cNvPr id="118" name="Picture 117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8D3FCC32-7FA2-4E19-8A67-0DAA5B9E0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48" t="30734" r="47346" b="13333"/>
            <a:stretch/>
          </p:blipFill>
          <p:spPr>
            <a:xfrm>
              <a:off x="9366858" y="3514919"/>
              <a:ext cx="1477841" cy="1836586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CB23FFE-60BA-4179-9A99-1437AE4868E9}"/>
              </a:ext>
            </a:extLst>
          </p:cNvPr>
          <p:cNvGrpSpPr/>
          <p:nvPr/>
        </p:nvGrpSpPr>
        <p:grpSpPr>
          <a:xfrm>
            <a:off x="1256153" y="6154381"/>
            <a:ext cx="7469047" cy="369332"/>
            <a:chOff x="1037063" y="6066316"/>
            <a:chExt cx="7469047" cy="369332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1F15335-524D-4007-97BB-1AB6C5A1812D}"/>
                </a:ext>
              </a:extLst>
            </p:cNvPr>
            <p:cNvCxnSpPr>
              <a:cxnSpLocks/>
              <a:endCxn id="121" idx="1"/>
            </p:cNvCxnSpPr>
            <p:nvPr/>
          </p:nvCxnSpPr>
          <p:spPr>
            <a:xfrm>
              <a:off x="1037063" y="6250982"/>
              <a:ext cx="31008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E36792E-8B63-414E-8951-2D9C044AC4C7}"/>
                </a:ext>
              </a:extLst>
            </p:cNvPr>
            <p:cNvSpPr txBox="1"/>
            <p:nvPr/>
          </p:nvSpPr>
          <p:spPr>
            <a:xfrm>
              <a:off x="4137923" y="6066316"/>
              <a:ext cx="11477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Q3 years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9C55CEE-5AB6-438D-BCF0-CB8B36A23AB8}"/>
                </a:ext>
              </a:extLst>
            </p:cNvPr>
            <p:cNvCxnSpPr>
              <a:cxnSpLocks/>
              <a:stCxn id="121" idx="3"/>
            </p:cNvCxnSpPr>
            <p:nvPr/>
          </p:nvCxnSpPr>
          <p:spPr>
            <a:xfrm flipV="1">
              <a:off x="5285678" y="6245223"/>
              <a:ext cx="3220432" cy="57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64D4325-EC46-493A-9C4B-3311EBCB1463}"/>
              </a:ext>
            </a:extLst>
          </p:cNvPr>
          <p:cNvSpPr txBox="1"/>
          <p:nvPr/>
        </p:nvSpPr>
        <p:spPr>
          <a:xfrm>
            <a:off x="9531902" y="6148622"/>
            <a:ext cx="114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Q1 year</a:t>
            </a:r>
          </a:p>
        </p:txBody>
      </p:sp>
      <p:sp>
        <p:nvSpPr>
          <p:cNvPr id="124" name="Frequency screen button - white">
            <a:extLst>
              <a:ext uri="{FF2B5EF4-FFF2-40B4-BE49-F238E27FC236}">
                <a16:creationId xmlns:a16="http://schemas.microsoft.com/office/drawing/2014/main" id="{DE3FBBBD-F1A4-4A4F-83A7-296200BAD30C}"/>
              </a:ext>
            </a:extLst>
          </p:cNvPr>
          <p:cNvSpPr txBox="1"/>
          <p:nvPr/>
        </p:nvSpPr>
        <p:spPr>
          <a:xfrm>
            <a:off x="4877241" y="6119186"/>
            <a:ext cx="2975379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How frequently to screen?</a:t>
            </a:r>
          </a:p>
        </p:txBody>
      </p:sp>
      <p:pic>
        <p:nvPicPr>
          <p:cNvPr id="125" name="Graphic 124" descr="Cursor with solid fill">
            <a:extLst>
              <a:ext uri="{FF2B5EF4-FFF2-40B4-BE49-F238E27FC236}">
                <a16:creationId xmlns:a16="http://schemas.microsoft.com/office/drawing/2014/main" id="{1CC5DF22-3D10-435C-9CFA-E07723F4F7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1744" y="6378174"/>
            <a:ext cx="301752" cy="301752"/>
          </a:xfrm>
          <a:prstGeom prst="rect">
            <a:avLst/>
          </a:prstGeom>
        </p:spPr>
      </p:pic>
      <p:sp>
        <p:nvSpPr>
          <p:cNvPr id="53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D16808D5-D80F-4C88-BF06-D24EF31E27B3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E1B19B1F-1762-49B4-8816-EB8501DB600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2762315"/>
            <a:ext cx="301752" cy="301752"/>
          </a:xfrm>
          <a:prstGeom prst="rect">
            <a:avLst/>
          </a:prstGeom>
        </p:spPr>
      </p:pic>
      <p:sp>
        <p:nvSpPr>
          <p:cNvPr id="56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EF5DF58B-E368-4B19-B6FC-E41737764B7D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5D5AABFF-49BA-450C-893E-69BED060FF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  <p:sp>
        <p:nvSpPr>
          <p:cNvPr id="58" name="Symptoms">
            <a:extLst>
              <a:ext uri="{FF2B5EF4-FFF2-40B4-BE49-F238E27FC236}">
                <a16:creationId xmlns:a16="http://schemas.microsoft.com/office/drawing/2014/main" id="{8556FC18-31F2-433F-8C4A-A5F73ED388EB}"/>
              </a:ext>
            </a:extLst>
          </p:cNvPr>
          <p:cNvSpPr/>
          <p:nvPr/>
        </p:nvSpPr>
        <p:spPr>
          <a:xfrm>
            <a:off x="5593535" y="875614"/>
            <a:ext cx="1462950" cy="40862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Symptoms?</a:t>
            </a:r>
          </a:p>
        </p:txBody>
      </p:sp>
    </p:spTree>
    <p:extLst>
      <p:ext uri="{BB962C8B-B14F-4D97-AF65-F5344CB8AC3E}">
        <p14:creationId xmlns:p14="http://schemas.microsoft.com/office/powerpoint/2010/main" val="120700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</p:childTnLst>
        </p:cTn>
      </p:par>
    </p:tnLst>
    <p:bldLst>
      <p:bldP spid="22" grpId="0" animBg="1"/>
      <p:bldP spid="69" grpId="0" animBg="1"/>
      <p:bldP spid="4" grpId="0" animBg="1"/>
      <p:bldP spid="4" grpId="1" animBg="1"/>
      <p:bldP spid="20" grpId="0" animBg="1"/>
      <p:bldP spid="90" grpId="0" animBg="1"/>
      <p:bldP spid="95" grpId="0" animBg="1"/>
      <p:bldP spid="96" grpId="0" animBg="1"/>
      <p:bldP spid="103" grpId="0" animBg="1"/>
      <p:bldP spid="107" grpId="0" animBg="1"/>
      <p:bldP spid="123" grpId="0"/>
      <p:bldP spid="124" grpId="0" animBg="1"/>
      <p:bldP spid="5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4DECC1-DF83-46C7-84CA-AA4153BADE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1030" y="318063"/>
            <a:ext cx="3419211" cy="640081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08920A3-92A6-6E44-BBD3-74F042D51FA8}"/>
              </a:ext>
            </a:extLst>
          </p:cNvPr>
          <p:cNvSpPr/>
          <p:nvPr/>
        </p:nvSpPr>
        <p:spPr>
          <a:xfrm>
            <a:off x="4790327" y="554125"/>
            <a:ext cx="3931210" cy="46344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Diabetes damages blood vessels</a:t>
            </a:r>
          </a:p>
        </p:txBody>
      </p:sp>
      <p:sp>
        <p:nvSpPr>
          <p:cNvPr id="37" name="Macro disease">
            <a:extLst>
              <a:ext uri="{FF2B5EF4-FFF2-40B4-BE49-F238E27FC236}">
                <a16:creationId xmlns:a16="http://schemas.microsoft.com/office/drawing/2014/main" id="{D79658AE-17AE-5F45-8D0D-C67A297F6E21}"/>
              </a:ext>
            </a:extLst>
          </p:cNvPr>
          <p:cNvSpPr/>
          <p:nvPr/>
        </p:nvSpPr>
        <p:spPr>
          <a:xfrm>
            <a:off x="2101357" y="672979"/>
            <a:ext cx="2601038" cy="369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MACROvascular</a:t>
            </a:r>
            <a:r>
              <a:rPr lang="en-US" b="1" dirty="0">
                <a:solidFill>
                  <a:schemeClr val="tx1"/>
                </a:solidFill>
              </a:rPr>
              <a:t> disease?</a:t>
            </a:r>
          </a:p>
        </p:txBody>
      </p:sp>
      <p:pic>
        <p:nvPicPr>
          <p:cNvPr id="36" name="Arrow macrovacular disease" descr="Cursor with solid fill">
            <a:extLst>
              <a:ext uri="{FF2B5EF4-FFF2-40B4-BE49-F238E27FC236}">
                <a16:creationId xmlns:a16="http://schemas.microsoft.com/office/drawing/2014/main" id="{9849F1CE-E0FB-674B-98AC-A2923B4A409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0510" y="875226"/>
            <a:ext cx="301752" cy="301752"/>
          </a:xfrm>
          <a:prstGeom prst="rect">
            <a:avLst/>
          </a:prstGeom>
        </p:spPr>
      </p:pic>
      <p:sp>
        <p:nvSpPr>
          <p:cNvPr id="54" name="Monitor yearly text">
            <a:extLst>
              <a:ext uri="{FF2B5EF4-FFF2-40B4-BE49-F238E27FC236}">
                <a16:creationId xmlns:a16="http://schemas.microsoft.com/office/drawing/2014/main" id="{103B2CCA-EF35-BD44-BA7E-27B9F52F411A}"/>
              </a:ext>
            </a:extLst>
          </p:cNvPr>
          <p:cNvSpPr txBox="1"/>
          <p:nvPr/>
        </p:nvSpPr>
        <p:spPr>
          <a:xfrm>
            <a:off x="8043922" y="5675746"/>
            <a:ext cx="1610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Yearly!</a:t>
            </a:r>
          </a:p>
        </p:txBody>
      </p:sp>
      <p:sp>
        <p:nvSpPr>
          <p:cNvPr id="34" name="micro disease">
            <a:extLst>
              <a:ext uri="{FF2B5EF4-FFF2-40B4-BE49-F238E27FC236}">
                <a16:creationId xmlns:a16="http://schemas.microsoft.com/office/drawing/2014/main" id="{50667E6A-BA2E-4F42-AD96-9FFBFEAB9E64}"/>
              </a:ext>
            </a:extLst>
          </p:cNvPr>
          <p:cNvSpPr/>
          <p:nvPr/>
        </p:nvSpPr>
        <p:spPr>
          <a:xfrm>
            <a:off x="8828228" y="672979"/>
            <a:ext cx="2364479" cy="369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micro</a:t>
            </a:r>
            <a:r>
              <a:rPr lang="en-US" b="1" dirty="0">
                <a:solidFill>
                  <a:schemeClr val="tx1"/>
                </a:solidFill>
              </a:rPr>
              <a:t>vascular disease?</a:t>
            </a:r>
          </a:p>
        </p:txBody>
      </p:sp>
      <p:pic>
        <p:nvPicPr>
          <p:cNvPr id="35" name="Arrow macrovacular disease" descr="Cursor with solid fill">
            <a:extLst>
              <a:ext uri="{FF2B5EF4-FFF2-40B4-BE49-F238E27FC236}">
                <a16:creationId xmlns:a16="http://schemas.microsoft.com/office/drawing/2014/main" id="{446C718C-8F86-4849-B0E7-CA990A2668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464" y="875226"/>
            <a:ext cx="301752" cy="301752"/>
          </a:xfrm>
          <a:prstGeom prst="rect">
            <a:avLst/>
          </a:prstGeom>
        </p:spPr>
      </p:pic>
      <p:sp>
        <p:nvSpPr>
          <p:cNvPr id="38" name="micro frequency">
            <a:extLst>
              <a:ext uri="{FF2B5EF4-FFF2-40B4-BE49-F238E27FC236}">
                <a16:creationId xmlns:a16="http://schemas.microsoft.com/office/drawing/2014/main" id="{2837E4B1-DFD4-4C41-BC19-1045FE732F65}"/>
              </a:ext>
            </a:extLst>
          </p:cNvPr>
          <p:cNvSpPr/>
          <p:nvPr/>
        </p:nvSpPr>
        <p:spPr>
          <a:xfrm>
            <a:off x="8061790" y="5190476"/>
            <a:ext cx="152378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Screening?</a:t>
            </a:r>
          </a:p>
        </p:txBody>
      </p:sp>
      <p:pic>
        <p:nvPicPr>
          <p:cNvPr id="58" name="Arrow macrovacular disease" descr="Cursor with solid fill">
            <a:extLst>
              <a:ext uri="{FF2B5EF4-FFF2-40B4-BE49-F238E27FC236}">
                <a16:creationId xmlns:a16="http://schemas.microsoft.com/office/drawing/2014/main" id="{D2299BDC-2A6E-DF4E-B40A-D5669A55347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3017" y="5448223"/>
            <a:ext cx="301752" cy="301752"/>
          </a:xfrm>
          <a:prstGeom prst="rect">
            <a:avLst/>
          </a:prstGeom>
        </p:spPr>
      </p:pic>
      <p:sp>
        <p:nvSpPr>
          <p:cNvPr id="65" name="Monitor yearly text">
            <a:extLst>
              <a:ext uri="{FF2B5EF4-FFF2-40B4-BE49-F238E27FC236}">
                <a16:creationId xmlns:a16="http://schemas.microsoft.com/office/drawing/2014/main" id="{F1DB0FF1-C09F-495E-89EF-35664C665BE7}"/>
              </a:ext>
            </a:extLst>
          </p:cNvPr>
          <p:cNvSpPr txBox="1"/>
          <p:nvPr/>
        </p:nvSpPr>
        <p:spPr>
          <a:xfrm>
            <a:off x="9902177" y="3910329"/>
            <a:ext cx="21648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Gross assessment for ulcers and nail care</a:t>
            </a:r>
          </a:p>
          <a:p>
            <a:pPr marL="233363" indent="-233363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Monofilament testing</a:t>
            </a:r>
          </a:p>
        </p:txBody>
      </p:sp>
      <p:sp>
        <p:nvSpPr>
          <p:cNvPr id="67" name="Retinopathy">
            <a:extLst>
              <a:ext uri="{FF2B5EF4-FFF2-40B4-BE49-F238E27FC236}">
                <a16:creationId xmlns:a16="http://schemas.microsoft.com/office/drawing/2014/main" id="{D1EA954B-3693-4B68-93F1-AA272F6F544D}"/>
              </a:ext>
            </a:extLst>
          </p:cNvPr>
          <p:cNvSpPr txBox="1"/>
          <p:nvPr/>
        </p:nvSpPr>
        <p:spPr>
          <a:xfrm>
            <a:off x="8498874" y="1311917"/>
            <a:ext cx="1659163" cy="338554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dirty="0"/>
              <a:t>Retinopathy</a:t>
            </a:r>
          </a:p>
        </p:txBody>
      </p:sp>
      <p:pic>
        <p:nvPicPr>
          <p:cNvPr id="5" name="Picture 4" descr="A planet in space&#10;&#10;Description automatically generated">
            <a:extLst>
              <a:ext uri="{FF2B5EF4-FFF2-40B4-BE49-F238E27FC236}">
                <a16:creationId xmlns:a16="http://schemas.microsoft.com/office/drawing/2014/main" id="{D80F209A-0569-4270-AD7D-E62CE9B717C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3496" y="967245"/>
            <a:ext cx="981532" cy="750771"/>
          </a:xfrm>
          <a:prstGeom prst="rect">
            <a:avLst/>
          </a:prstGeom>
        </p:spPr>
      </p:pic>
      <p:pic>
        <p:nvPicPr>
          <p:cNvPr id="8" name="Picture 7" descr="A close-up of a basketball&#10;&#10;Description automatically generated with medium confidence">
            <a:extLst>
              <a:ext uri="{FF2B5EF4-FFF2-40B4-BE49-F238E27FC236}">
                <a16:creationId xmlns:a16="http://schemas.microsoft.com/office/drawing/2014/main" id="{11BC6CDB-68A8-4801-9D3B-DE0362990D2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7483" y="2222359"/>
            <a:ext cx="622109" cy="1057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59C75A-861A-4A14-AB35-35A765E5769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3166" y="3708521"/>
            <a:ext cx="553950" cy="122086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4CC5D7-E1CA-4026-A37E-C44F7386B8C0}"/>
              </a:ext>
            </a:extLst>
          </p:cNvPr>
          <p:cNvCxnSpPr>
            <a:cxnSpLocks/>
          </p:cNvCxnSpPr>
          <p:nvPr/>
        </p:nvCxnSpPr>
        <p:spPr>
          <a:xfrm>
            <a:off x="6359172" y="1159737"/>
            <a:ext cx="1326392" cy="18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6D9D12-8BBA-4BF8-96ED-A13404130705}"/>
              </a:ext>
            </a:extLst>
          </p:cNvPr>
          <p:cNvCxnSpPr>
            <a:cxnSpLocks/>
          </p:cNvCxnSpPr>
          <p:nvPr/>
        </p:nvCxnSpPr>
        <p:spPr>
          <a:xfrm flipV="1">
            <a:off x="6904057" y="2716385"/>
            <a:ext cx="916817" cy="23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10D5831-D8BB-4483-B67B-33C629174C49}"/>
              </a:ext>
            </a:extLst>
          </p:cNvPr>
          <p:cNvCxnSpPr>
            <a:cxnSpLocks/>
          </p:cNvCxnSpPr>
          <p:nvPr/>
        </p:nvCxnSpPr>
        <p:spPr>
          <a:xfrm flipV="1">
            <a:off x="7022368" y="4680068"/>
            <a:ext cx="1070798" cy="1734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8D1052E-8354-49F0-BBA8-95AA0841C812}"/>
              </a:ext>
            </a:extLst>
          </p:cNvPr>
          <p:cNvSpPr txBox="1"/>
          <p:nvPr/>
        </p:nvSpPr>
        <p:spPr>
          <a:xfrm>
            <a:off x="10154569" y="1344819"/>
            <a:ext cx="16600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Retinal Scan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6" name="Nephropathy">
            <a:extLst>
              <a:ext uri="{FF2B5EF4-FFF2-40B4-BE49-F238E27FC236}">
                <a16:creationId xmlns:a16="http://schemas.microsoft.com/office/drawing/2014/main" id="{D5FA7A62-A0A5-4C54-A739-0D32AF7268D4}"/>
              </a:ext>
            </a:extLst>
          </p:cNvPr>
          <p:cNvSpPr txBox="1"/>
          <p:nvPr/>
        </p:nvSpPr>
        <p:spPr>
          <a:xfrm>
            <a:off x="8530860" y="2592897"/>
            <a:ext cx="1539989" cy="338554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dirty="0"/>
              <a:t>Nephropathy</a:t>
            </a:r>
          </a:p>
        </p:txBody>
      </p:sp>
      <p:sp>
        <p:nvSpPr>
          <p:cNvPr id="106" name="Monitor yearly text">
            <a:extLst>
              <a:ext uri="{FF2B5EF4-FFF2-40B4-BE49-F238E27FC236}">
                <a16:creationId xmlns:a16="http://schemas.microsoft.com/office/drawing/2014/main" id="{E5ADAE7A-EE3B-47DE-AC66-C97E0F2B950C}"/>
              </a:ext>
            </a:extLst>
          </p:cNvPr>
          <p:cNvSpPr txBox="1"/>
          <p:nvPr/>
        </p:nvSpPr>
        <p:spPr>
          <a:xfrm>
            <a:off x="8530860" y="4007400"/>
            <a:ext cx="14878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dirty="0"/>
              <a:t>Peripheral neuropathy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5771B6-FE47-4D16-837F-ECA42CE3D7FC}"/>
              </a:ext>
            </a:extLst>
          </p:cNvPr>
          <p:cNvSpPr txBox="1"/>
          <p:nvPr/>
        </p:nvSpPr>
        <p:spPr>
          <a:xfrm>
            <a:off x="6094492" y="6611779"/>
            <a:ext cx="6097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Graphics created with BioRender.com</a:t>
            </a:r>
          </a:p>
        </p:txBody>
      </p:sp>
      <p:sp>
        <p:nvSpPr>
          <p:cNvPr id="99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9E5390D9-F5AA-4E8A-AB40-DB1F5FE0D817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Complications</a:t>
            </a:r>
          </a:p>
        </p:txBody>
      </p:sp>
      <p:sp>
        <p:nvSpPr>
          <p:cNvPr id="103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B12C48DB-570C-4F0D-999E-AAB2F977060C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7243CA98-AA93-49EB-B0FF-F61BCCE8CB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  <p:sp>
        <p:nvSpPr>
          <p:cNvPr id="66" name="Monitor yearly text">
            <a:extLst>
              <a:ext uri="{FF2B5EF4-FFF2-40B4-BE49-F238E27FC236}">
                <a16:creationId xmlns:a16="http://schemas.microsoft.com/office/drawing/2014/main" id="{D2524D2C-4E28-42EE-9A9E-01A39092FFA0}"/>
              </a:ext>
            </a:extLst>
          </p:cNvPr>
          <p:cNvSpPr txBox="1"/>
          <p:nvPr/>
        </p:nvSpPr>
        <p:spPr>
          <a:xfrm>
            <a:off x="10095732" y="2346392"/>
            <a:ext cx="1777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Urine microalbumin / Cr 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(&gt;30mg/g)</a:t>
            </a:r>
          </a:p>
        </p:txBody>
      </p:sp>
      <p:sp>
        <p:nvSpPr>
          <p:cNvPr id="55" name="Rounded Rectangle 29">
            <a:extLst>
              <a:ext uri="{FF2B5EF4-FFF2-40B4-BE49-F238E27FC236}">
                <a16:creationId xmlns:a16="http://schemas.microsoft.com/office/drawing/2014/main" id="{F7A77016-236D-4B4C-A17C-CA6C3125B935}"/>
              </a:ext>
            </a:extLst>
          </p:cNvPr>
          <p:cNvSpPr/>
          <p:nvPr/>
        </p:nvSpPr>
        <p:spPr>
          <a:xfrm>
            <a:off x="4635361" y="97182"/>
            <a:ext cx="3931210" cy="46344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COMPLICATIONS</a:t>
            </a:r>
          </a:p>
        </p:txBody>
      </p:sp>
      <p:grpSp>
        <p:nvGrpSpPr>
          <p:cNvPr id="57" name="macro disease">
            <a:extLst>
              <a:ext uri="{FF2B5EF4-FFF2-40B4-BE49-F238E27FC236}">
                <a16:creationId xmlns:a16="http://schemas.microsoft.com/office/drawing/2014/main" id="{9FCFEC96-96CA-431B-91CB-DEA6C665B4B4}"/>
              </a:ext>
            </a:extLst>
          </p:cNvPr>
          <p:cNvGrpSpPr/>
          <p:nvPr/>
        </p:nvGrpSpPr>
        <p:grpSpPr>
          <a:xfrm>
            <a:off x="3693204" y="998252"/>
            <a:ext cx="2743561" cy="3853480"/>
            <a:chOff x="9143707" y="581518"/>
            <a:chExt cx="2743561" cy="385348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45B58D-A46F-4642-AB88-A5F784226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05675" y="810296"/>
              <a:ext cx="1229079" cy="860355"/>
            </a:xfrm>
            <a:prstGeom prst="rect">
              <a:avLst/>
            </a:prstGeom>
          </p:spPr>
        </p:pic>
        <p:pic>
          <p:nvPicPr>
            <p:cNvPr id="60" name="Picture 5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30723B4-4E5E-45A1-B8D5-AC319090A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43707" y="1740200"/>
              <a:ext cx="1576986" cy="1103890"/>
            </a:xfrm>
            <a:prstGeom prst="rect">
              <a:avLst/>
            </a:prstGeom>
          </p:spPr>
        </p:pic>
        <p:pic>
          <p:nvPicPr>
            <p:cNvPr id="61" name="Picture 60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4285F1D-EDAA-4916-9E7B-0B66AC5B75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backgroundMark x1="4412" y1="62431" x2="4412" y2="62431"/>
                          <a14:backgroundMark x1="2941" y1="59669" x2="0" y2="78453"/>
                          <a14:backgroundMark x1="2941" y1="70166" x2="1471" y2="83978"/>
                          <a14:backgroundMark x1="10294" y1="65746" x2="11765" y2="7237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363002">
              <a:off x="9506284" y="3331108"/>
              <a:ext cx="830759" cy="1103890"/>
            </a:xfrm>
            <a:prstGeom prst="rect">
              <a:avLst/>
            </a:prstGeom>
          </p:spPr>
        </p:pic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2993280-6B63-4586-9A4D-CDA10363FD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7560" y="581518"/>
              <a:ext cx="1159708" cy="4110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1C87411-237C-4185-9939-606573F1D5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4874" y="3883053"/>
              <a:ext cx="1394136" cy="75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2791AF4-BE53-43D4-9F63-73F4C1EB2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8754" y="1971473"/>
              <a:ext cx="1288514" cy="1987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E6E49FF-B801-40E4-A2A3-C585B067C1C6}"/>
              </a:ext>
            </a:extLst>
          </p:cNvPr>
          <p:cNvSpPr txBox="1"/>
          <p:nvPr/>
        </p:nvSpPr>
        <p:spPr>
          <a:xfrm>
            <a:off x="2184504" y="1387446"/>
            <a:ext cx="1725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Cerebrovascular disease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80CEB38-2AD0-40F6-AB5F-63BB913EE2A4}"/>
              </a:ext>
            </a:extLst>
          </p:cNvPr>
          <p:cNvSpPr txBox="1"/>
          <p:nvPr/>
        </p:nvSpPr>
        <p:spPr>
          <a:xfrm>
            <a:off x="2346220" y="2475888"/>
            <a:ext cx="1402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CAD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A80DA86-A55C-4DAE-B87F-726CD7B10262}"/>
              </a:ext>
            </a:extLst>
          </p:cNvPr>
          <p:cNvSpPr txBox="1"/>
          <p:nvPr/>
        </p:nvSpPr>
        <p:spPr>
          <a:xfrm>
            <a:off x="2080347" y="3961233"/>
            <a:ext cx="1933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PAD</a:t>
            </a:r>
          </a:p>
        </p:txBody>
      </p:sp>
      <p:sp>
        <p:nvSpPr>
          <p:cNvPr id="81" name="Monitor symptoms text">
            <a:extLst>
              <a:ext uri="{FF2B5EF4-FFF2-40B4-BE49-F238E27FC236}">
                <a16:creationId xmlns:a16="http://schemas.microsoft.com/office/drawing/2014/main" id="{5EB2385F-6E4B-409C-94F3-05F5639EFB91}"/>
              </a:ext>
            </a:extLst>
          </p:cNvPr>
          <p:cNvSpPr txBox="1"/>
          <p:nvPr/>
        </p:nvSpPr>
        <p:spPr>
          <a:xfrm>
            <a:off x="366009" y="5446578"/>
            <a:ext cx="2126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Evaluate based on symptoms</a:t>
            </a:r>
          </a:p>
        </p:txBody>
      </p:sp>
      <p:sp>
        <p:nvSpPr>
          <p:cNvPr id="82" name="macro frequency">
            <a:extLst>
              <a:ext uri="{FF2B5EF4-FFF2-40B4-BE49-F238E27FC236}">
                <a16:creationId xmlns:a16="http://schemas.microsoft.com/office/drawing/2014/main" id="{EC5075AE-9BD1-4C54-B9B9-1E46343FB487}"/>
              </a:ext>
            </a:extLst>
          </p:cNvPr>
          <p:cNvSpPr/>
          <p:nvPr/>
        </p:nvSpPr>
        <p:spPr>
          <a:xfrm>
            <a:off x="604360" y="4926166"/>
            <a:ext cx="166157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Screening?</a:t>
            </a:r>
          </a:p>
        </p:txBody>
      </p:sp>
      <p:pic>
        <p:nvPicPr>
          <p:cNvPr id="83" name="Arrow macrovacular disease" descr="Cursor with solid fill">
            <a:extLst>
              <a:ext uri="{FF2B5EF4-FFF2-40B4-BE49-F238E27FC236}">
                <a16:creationId xmlns:a16="http://schemas.microsoft.com/office/drawing/2014/main" id="{5EDA3A33-D3F6-4566-B7AB-50FEDDC80A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5619" y="5188753"/>
            <a:ext cx="301752" cy="301752"/>
          </a:xfrm>
          <a:prstGeom prst="rect">
            <a:avLst/>
          </a:prstGeom>
        </p:spPr>
      </p:pic>
      <p:sp>
        <p:nvSpPr>
          <p:cNvPr id="84" name="Macro prevention">
            <a:extLst>
              <a:ext uri="{FF2B5EF4-FFF2-40B4-BE49-F238E27FC236}">
                <a16:creationId xmlns:a16="http://schemas.microsoft.com/office/drawing/2014/main" id="{523EDF55-D3A0-4ADE-99DB-96B82F3A845C}"/>
              </a:ext>
            </a:extLst>
          </p:cNvPr>
          <p:cNvSpPr/>
          <p:nvPr/>
        </p:nvSpPr>
        <p:spPr>
          <a:xfrm>
            <a:off x="3149072" y="4904980"/>
            <a:ext cx="1672814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Prevention?</a:t>
            </a:r>
          </a:p>
        </p:txBody>
      </p:sp>
      <p:pic>
        <p:nvPicPr>
          <p:cNvPr id="85" name="Arrow macrovacular disease" descr="Cursor with solid fill">
            <a:extLst>
              <a:ext uri="{FF2B5EF4-FFF2-40B4-BE49-F238E27FC236}">
                <a16:creationId xmlns:a16="http://schemas.microsoft.com/office/drawing/2014/main" id="{9D5683EA-093F-4FC1-AEB9-17180FEE22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1010" y="5142614"/>
            <a:ext cx="301752" cy="301752"/>
          </a:xfrm>
          <a:prstGeom prst="rect">
            <a:avLst/>
          </a:prstGeom>
        </p:spPr>
      </p:pic>
      <p:sp>
        <p:nvSpPr>
          <p:cNvPr id="86" name="Text vascular risk factors">
            <a:extLst>
              <a:ext uri="{FF2B5EF4-FFF2-40B4-BE49-F238E27FC236}">
                <a16:creationId xmlns:a16="http://schemas.microsoft.com/office/drawing/2014/main" id="{80A4E38D-1CE5-4CFA-A528-D5597551D35D}"/>
              </a:ext>
            </a:extLst>
          </p:cNvPr>
          <p:cNvSpPr txBox="1"/>
          <p:nvPr/>
        </p:nvSpPr>
        <p:spPr>
          <a:xfrm>
            <a:off x="2424229" y="5402683"/>
            <a:ext cx="34192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Treat vascular risk factors aggressively!</a:t>
            </a:r>
          </a:p>
          <a:p>
            <a:pPr marL="285750" indent="-119063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BP control</a:t>
            </a:r>
          </a:p>
          <a:p>
            <a:pPr marL="285750" indent="-119063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Tobacco cessation</a:t>
            </a:r>
          </a:p>
          <a:p>
            <a:pPr marL="285750" indent="-119063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Lipid management</a:t>
            </a:r>
          </a:p>
        </p:txBody>
      </p:sp>
      <p:sp>
        <p:nvSpPr>
          <p:cNvPr id="87" name="Macro disease">
            <a:extLst>
              <a:ext uri="{FF2B5EF4-FFF2-40B4-BE49-F238E27FC236}">
                <a16:creationId xmlns:a16="http://schemas.microsoft.com/office/drawing/2014/main" id="{8DDDDE53-FFBA-440F-A032-298C20E40B9E}"/>
              </a:ext>
            </a:extLst>
          </p:cNvPr>
          <p:cNvSpPr/>
          <p:nvPr/>
        </p:nvSpPr>
        <p:spPr>
          <a:xfrm>
            <a:off x="2101357" y="665357"/>
            <a:ext cx="2601038" cy="369332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MACROvascular</a:t>
            </a:r>
            <a:r>
              <a:rPr lang="en-US" b="1" dirty="0">
                <a:solidFill>
                  <a:schemeClr val="bg1"/>
                </a:solidFill>
              </a:rPr>
              <a:t> disease</a:t>
            </a:r>
          </a:p>
        </p:txBody>
      </p:sp>
      <p:sp>
        <p:nvSpPr>
          <p:cNvPr id="88" name="micro disease">
            <a:extLst>
              <a:ext uri="{FF2B5EF4-FFF2-40B4-BE49-F238E27FC236}">
                <a16:creationId xmlns:a16="http://schemas.microsoft.com/office/drawing/2014/main" id="{30771995-F164-491B-99C0-6ABCA1C3B74D}"/>
              </a:ext>
            </a:extLst>
          </p:cNvPr>
          <p:cNvSpPr/>
          <p:nvPr/>
        </p:nvSpPr>
        <p:spPr>
          <a:xfrm>
            <a:off x="8828227" y="672979"/>
            <a:ext cx="2364479" cy="369332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micro</a:t>
            </a:r>
            <a:r>
              <a:rPr lang="en-US" b="1" dirty="0">
                <a:solidFill>
                  <a:schemeClr val="bg1"/>
                </a:solidFill>
              </a:rPr>
              <a:t>vascular disease</a:t>
            </a:r>
          </a:p>
        </p:txBody>
      </p:sp>
      <p:sp>
        <p:nvSpPr>
          <p:cNvPr id="89" name="micro frequency">
            <a:extLst>
              <a:ext uri="{FF2B5EF4-FFF2-40B4-BE49-F238E27FC236}">
                <a16:creationId xmlns:a16="http://schemas.microsoft.com/office/drawing/2014/main" id="{21410A96-2D3B-472C-BC94-D0D7A83CFA08}"/>
              </a:ext>
            </a:extLst>
          </p:cNvPr>
          <p:cNvSpPr/>
          <p:nvPr/>
        </p:nvSpPr>
        <p:spPr>
          <a:xfrm>
            <a:off x="8060567" y="5188753"/>
            <a:ext cx="152378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Screening</a:t>
            </a:r>
          </a:p>
        </p:txBody>
      </p:sp>
      <p:sp>
        <p:nvSpPr>
          <p:cNvPr id="90" name="Macro prevention">
            <a:extLst>
              <a:ext uri="{FF2B5EF4-FFF2-40B4-BE49-F238E27FC236}">
                <a16:creationId xmlns:a16="http://schemas.microsoft.com/office/drawing/2014/main" id="{F67FB132-4522-4186-BDD7-0BCDEAB63682}"/>
              </a:ext>
            </a:extLst>
          </p:cNvPr>
          <p:cNvSpPr/>
          <p:nvPr/>
        </p:nvSpPr>
        <p:spPr>
          <a:xfrm>
            <a:off x="3149072" y="4904979"/>
            <a:ext cx="1672814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Prevention</a:t>
            </a:r>
          </a:p>
        </p:txBody>
      </p:sp>
      <p:sp>
        <p:nvSpPr>
          <p:cNvPr id="91" name="macro frequency">
            <a:extLst>
              <a:ext uri="{FF2B5EF4-FFF2-40B4-BE49-F238E27FC236}">
                <a16:creationId xmlns:a16="http://schemas.microsoft.com/office/drawing/2014/main" id="{49FBC766-F3FA-44A3-9ABF-76EA332D102C}"/>
              </a:ext>
            </a:extLst>
          </p:cNvPr>
          <p:cNvSpPr/>
          <p:nvPr/>
        </p:nvSpPr>
        <p:spPr>
          <a:xfrm>
            <a:off x="603137" y="4926166"/>
            <a:ext cx="166157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Screening</a:t>
            </a:r>
          </a:p>
        </p:txBody>
      </p:sp>
      <p:sp>
        <p:nvSpPr>
          <p:cNvPr id="56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335276C5-2000-4252-8548-71EDC39E5B6B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B5A508AC-647B-4FCC-AE55-74568BB5D2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69" name="Monitor yearly text">
            <a:extLst>
              <a:ext uri="{FF2B5EF4-FFF2-40B4-BE49-F238E27FC236}">
                <a16:creationId xmlns:a16="http://schemas.microsoft.com/office/drawing/2014/main" id="{BCA7F571-88E5-4540-8BCB-5F37DB3BC81C}"/>
              </a:ext>
            </a:extLst>
          </p:cNvPr>
          <p:cNvSpPr txBox="1"/>
          <p:nvPr/>
        </p:nvSpPr>
        <p:spPr>
          <a:xfrm>
            <a:off x="10018726" y="5645914"/>
            <a:ext cx="1890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Aggressive HbA1c target of &lt;7%</a:t>
            </a:r>
          </a:p>
        </p:txBody>
      </p:sp>
      <p:sp>
        <p:nvSpPr>
          <p:cNvPr id="70" name="Mcro prevention">
            <a:extLst>
              <a:ext uri="{FF2B5EF4-FFF2-40B4-BE49-F238E27FC236}">
                <a16:creationId xmlns:a16="http://schemas.microsoft.com/office/drawing/2014/main" id="{8C0F241B-3668-4093-B35F-4874F6186812}"/>
              </a:ext>
            </a:extLst>
          </p:cNvPr>
          <p:cNvSpPr/>
          <p:nvPr/>
        </p:nvSpPr>
        <p:spPr>
          <a:xfrm>
            <a:off x="10236151" y="5160644"/>
            <a:ext cx="152378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Prevention?</a:t>
            </a:r>
          </a:p>
        </p:txBody>
      </p:sp>
      <p:pic>
        <p:nvPicPr>
          <p:cNvPr id="71" name="Arrow macrovacular disease" descr="Cursor with solid fill">
            <a:extLst>
              <a:ext uri="{FF2B5EF4-FFF2-40B4-BE49-F238E27FC236}">
                <a16:creationId xmlns:a16="http://schemas.microsoft.com/office/drawing/2014/main" id="{A531C4C1-84BC-47AB-8780-1964B9DDEE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7378" y="5418391"/>
            <a:ext cx="301752" cy="301752"/>
          </a:xfrm>
          <a:prstGeom prst="rect">
            <a:avLst/>
          </a:prstGeom>
        </p:spPr>
      </p:pic>
      <p:sp>
        <p:nvSpPr>
          <p:cNvPr id="74" name="Micro prevention final">
            <a:extLst>
              <a:ext uri="{FF2B5EF4-FFF2-40B4-BE49-F238E27FC236}">
                <a16:creationId xmlns:a16="http://schemas.microsoft.com/office/drawing/2014/main" id="{A10C7F2E-48ED-4584-B789-43434F9CFA4F}"/>
              </a:ext>
            </a:extLst>
          </p:cNvPr>
          <p:cNvSpPr/>
          <p:nvPr/>
        </p:nvSpPr>
        <p:spPr>
          <a:xfrm>
            <a:off x="10234928" y="5158921"/>
            <a:ext cx="152378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Prevention</a:t>
            </a:r>
          </a:p>
        </p:txBody>
      </p:sp>
      <p:sp>
        <p:nvSpPr>
          <p:cNvPr id="76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D895B765-6526-4232-A383-D2E6022C341E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B6DA62F5-1D6F-4404-85D4-1A3AC2B658F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2762315"/>
            <a:ext cx="301752" cy="301752"/>
          </a:xfrm>
          <a:prstGeom prst="rect">
            <a:avLst/>
          </a:prstGeom>
        </p:spPr>
      </p:pic>
      <p:sp>
        <p:nvSpPr>
          <p:cNvPr id="78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9CACA361-2DA1-46A9-93B5-9E02F4B22DF8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92" name="Graphic 91" descr="Cursor with solid fill">
            <a:extLst>
              <a:ext uri="{FF2B5EF4-FFF2-40B4-BE49-F238E27FC236}">
                <a16:creationId xmlns:a16="http://schemas.microsoft.com/office/drawing/2014/main" id="{4B6210A9-0C8F-411E-B843-3D325D6FF7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0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37" grpId="0" animBg="1"/>
      <p:bldP spid="54" grpId="0"/>
      <p:bldP spid="34" grpId="0" animBg="1"/>
      <p:bldP spid="38" grpId="0" animBg="1"/>
      <p:bldP spid="38" grpId="1" animBg="1"/>
      <p:bldP spid="65" grpId="0"/>
      <p:bldP spid="67" grpId="0" animBg="1"/>
      <p:bldP spid="95" grpId="0"/>
      <p:bldP spid="96" grpId="0" animBg="1"/>
      <p:bldP spid="106" grpId="0"/>
      <p:bldP spid="66" grpId="0"/>
      <p:bldP spid="75" grpId="0"/>
      <p:bldP spid="79" grpId="0"/>
      <p:bldP spid="80" grpId="0"/>
      <p:bldP spid="81" grpId="0"/>
      <p:bldP spid="82" grpId="0" animBg="1"/>
      <p:bldP spid="82" grpId="1" animBg="1"/>
      <p:bldP spid="84" grpId="0" animBg="1"/>
      <p:bldP spid="84" grpId="1" animBg="1"/>
      <p:bldP spid="86" grpId="0"/>
      <p:bldP spid="87" grpId="0" animBg="1"/>
      <p:bldP spid="88" grpId="0" animBg="1"/>
      <p:bldP spid="89" grpId="0" animBg="1"/>
      <p:bldP spid="90" grpId="0" animBg="1"/>
      <p:bldP spid="91" grpId="0" animBg="1"/>
      <p:bldP spid="69" grpId="0"/>
      <p:bldP spid="70" grpId="0" animBg="1"/>
      <p:bldP spid="70" grpId="1" animBg="1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B2E56C70-3E18-468D-8D8A-14460E29E19B}"/>
              </a:ext>
            </a:extLst>
          </p:cNvPr>
          <p:cNvCxnSpPr>
            <a:cxnSpLocks/>
            <a:endCxn id="93" idx="0"/>
          </p:cNvCxnSpPr>
          <p:nvPr/>
        </p:nvCxnSpPr>
        <p:spPr>
          <a:xfrm rot="5400000">
            <a:off x="8031040" y="2427577"/>
            <a:ext cx="945440" cy="13195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4D291240-424D-4438-851B-54CF6A7C40AC}"/>
              </a:ext>
            </a:extLst>
          </p:cNvPr>
          <p:cNvCxnSpPr>
            <a:cxnSpLocks/>
            <a:endCxn id="96" idx="0"/>
          </p:cNvCxnSpPr>
          <p:nvPr/>
        </p:nvCxnSpPr>
        <p:spPr>
          <a:xfrm rot="16200000" flipH="1">
            <a:off x="9520183" y="2258030"/>
            <a:ext cx="875533" cy="158878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F26C68E7-4F45-4424-A206-F03950156A11}"/>
              </a:ext>
            </a:extLst>
          </p:cNvPr>
          <p:cNvCxnSpPr>
            <a:cxnSpLocks/>
            <a:endCxn id="95" idx="0"/>
          </p:cNvCxnSpPr>
          <p:nvPr/>
        </p:nvCxnSpPr>
        <p:spPr>
          <a:xfrm rot="16200000" flipH="1">
            <a:off x="8726216" y="3051996"/>
            <a:ext cx="970448" cy="957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82A63B2D-E3F3-4441-8E38-F23F595ED8A2}"/>
              </a:ext>
            </a:extLst>
          </p:cNvPr>
          <p:cNvCxnSpPr>
            <a:cxnSpLocks/>
            <a:stCxn id="80" idx="2"/>
            <a:endCxn id="109" idx="0"/>
          </p:cNvCxnSpPr>
          <p:nvPr/>
        </p:nvCxnSpPr>
        <p:spPr>
          <a:xfrm flipH="1">
            <a:off x="4134088" y="2061589"/>
            <a:ext cx="875" cy="1406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BFA8424A-7E8E-4173-9618-BA8E207050C2}"/>
              </a:ext>
            </a:extLst>
          </p:cNvPr>
          <p:cNvCxnSpPr>
            <a:cxnSpLocks/>
            <a:stCxn id="80" idx="2"/>
            <a:endCxn id="111" idx="0"/>
          </p:cNvCxnSpPr>
          <p:nvPr/>
        </p:nvCxnSpPr>
        <p:spPr>
          <a:xfrm rot="5400000">
            <a:off x="2595977" y="2030755"/>
            <a:ext cx="1508153" cy="1569821"/>
          </a:xfrm>
          <a:prstGeom prst="bentConnector3">
            <a:avLst>
              <a:gd name="adj1" fmla="val 2707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58661CF-8B35-4458-954E-64E5768CBF93}"/>
              </a:ext>
            </a:extLst>
          </p:cNvPr>
          <p:cNvCxnSpPr>
            <a:cxnSpLocks/>
            <a:stCxn id="80" idx="2"/>
            <a:endCxn id="112" idx="0"/>
          </p:cNvCxnSpPr>
          <p:nvPr/>
        </p:nvCxnSpPr>
        <p:spPr>
          <a:xfrm rot="16200000" flipH="1">
            <a:off x="4284787" y="1911765"/>
            <a:ext cx="1406090" cy="1705738"/>
          </a:xfrm>
          <a:prstGeom prst="bentConnector3">
            <a:avLst>
              <a:gd name="adj1" fmla="val 2938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8" name="Picture 117" descr="A close-up of a basketball&#10;&#10;Description automatically generated with medium confidence">
            <a:extLst>
              <a:ext uri="{FF2B5EF4-FFF2-40B4-BE49-F238E27FC236}">
                <a16:creationId xmlns:a16="http://schemas.microsoft.com/office/drawing/2014/main" id="{3DE58F6A-3A6A-4EB4-9EF2-C2111A006A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15128" y="2606425"/>
            <a:ext cx="448945" cy="763344"/>
          </a:xfrm>
          <a:prstGeom prst="rect">
            <a:avLst/>
          </a:prstGeom>
        </p:spPr>
      </p:pic>
      <p:pic>
        <p:nvPicPr>
          <p:cNvPr id="119" name="Picture 118" descr="A picture containing text&#10;&#10;Description automatically generated">
            <a:extLst>
              <a:ext uri="{FF2B5EF4-FFF2-40B4-BE49-F238E27FC236}">
                <a16:creationId xmlns:a16="http://schemas.microsoft.com/office/drawing/2014/main" id="{A7ACF05C-31E3-48D5-94FC-A7F56326B0C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6" b="88978" l="53068" r="8738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8779" t="-1135" r="8325" b="1135"/>
          <a:stretch/>
        </p:blipFill>
        <p:spPr>
          <a:xfrm rot="1365755">
            <a:off x="5594619" y="2554794"/>
            <a:ext cx="547039" cy="892686"/>
          </a:xfrm>
          <a:prstGeom prst="rect">
            <a:avLst/>
          </a:prstGeom>
        </p:spPr>
      </p:pic>
      <p:pic>
        <p:nvPicPr>
          <p:cNvPr id="166" name="Picture 165" descr="A picture containing text&#10;&#10;Description automatically generated">
            <a:extLst>
              <a:ext uri="{FF2B5EF4-FFF2-40B4-BE49-F238E27FC236}">
                <a16:creationId xmlns:a16="http://schemas.microsoft.com/office/drawing/2014/main" id="{395054EF-87BD-4869-AB45-9ED661951D8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400" b="92266" l="4893" r="440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667" r="51068"/>
          <a:stretch/>
        </p:blipFill>
        <p:spPr>
          <a:xfrm>
            <a:off x="2078967" y="2597135"/>
            <a:ext cx="844139" cy="933864"/>
          </a:xfrm>
          <a:prstGeom prst="rect">
            <a:avLst/>
          </a:prstGeom>
        </p:spPr>
      </p:pic>
      <p:sp>
        <p:nvSpPr>
          <p:cNvPr id="174" name="question 4" hidden="1">
            <a:hlinkClick r:id="" action="ppaction://noaction"/>
            <a:extLst>
              <a:ext uri="{FF2B5EF4-FFF2-40B4-BE49-F238E27FC236}">
                <a16:creationId xmlns:a16="http://schemas.microsoft.com/office/drawing/2014/main" id="{71D8241D-CA6F-4A6E-AAFA-E11B57775A6D}"/>
              </a:ext>
            </a:extLst>
          </p:cNvPr>
          <p:cNvSpPr txBox="1"/>
          <p:nvPr/>
        </p:nvSpPr>
        <p:spPr>
          <a:xfrm>
            <a:off x="224230" y="3499637"/>
            <a:ext cx="2395838" cy="102155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How do you make the treatment more effective?</a:t>
            </a:r>
          </a:p>
        </p:txBody>
      </p:sp>
      <p:pic>
        <p:nvPicPr>
          <p:cNvPr id="67" name="Icon Money">
            <a:extLst>
              <a:ext uri="{FF2B5EF4-FFF2-40B4-BE49-F238E27FC236}">
                <a16:creationId xmlns:a16="http://schemas.microsoft.com/office/drawing/2014/main" id="{6F2A65FC-5830-4059-A853-805AB48C3FB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72" t="13371" b="14683"/>
          <a:stretch/>
        </p:blipFill>
        <p:spPr>
          <a:xfrm rot="1389515">
            <a:off x="8685106" y="3550558"/>
            <a:ext cx="1203929" cy="545370"/>
          </a:xfrm>
          <a:prstGeom prst="rect">
            <a:avLst/>
          </a:prstGeom>
        </p:spPr>
      </p:pic>
      <p:sp>
        <p:nvSpPr>
          <p:cNvPr id="69" name="1st line box">
            <a:extLst>
              <a:ext uri="{FF2B5EF4-FFF2-40B4-BE49-F238E27FC236}">
                <a16:creationId xmlns:a16="http://schemas.microsoft.com/office/drawing/2014/main" id="{5BE0FD1D-D9FE-490D-8348-91BB444D7E82}"/>
              </a:ext>
            </a:extLst>
          </p:cNvPr>
          <p:cNvSpPr/>
          <p:nvPr/>
        </p:nvSpPr>
        <p:spPr>
          <a:xfrm>
            <a:off x="5424017" y="640236"/>
            <a:ext cx="2046686" cy="36933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line for all DM?</a:t>
            </a:r>
          </a:p>
        </p:txBody>
      </p:sp>
      <p:pic>
        <p:nvPicPr>
          <p:cNvPr id="78" name="arrow 1st line" descr="Cursor with solid fill">
            <a:extLst>
              <a:ext uri="{FF2B5EF4-FFF2-40B4-BE49-F238E27FC236}">
                <a16:creationId xmlns:a16="http://schemas.microsoft.com/office/drawing/2014/main" id="{84EFF487-76BE-40B3-A5FA-689821C10FC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8755" y="856704"/>
            <a:ext cx="301752" cy="301752"/>
          </a:xfrm>
          <a:prstGeom prst="rect">
            <a:avLst/>
          </a:prstGeom>
        </p:spPr>
      </p:pic>
      <p:sp>
        <p:nvSpPr>
          <p:cNvPr id="79" name="1st line box">
            <a:extLst>
              <a:ext uri="{FF2B5EF4-FFF2-40B4-BE49-F238E27FC236}">
                <a16:creationId xmlns:a16="http://schemas.microsoft.com/office/drawing/2014/main" id="{A01852CC-7F18-402A-8302-C29761B2F5DD}"/>
              </a:ext>
            </a:extLst>
          </p:cNvPr>
          <p:cNvSpPr/>
          <p:nvPr/>
        </p:nvSpPr>
        <p:spPr>
          <a:xfrm>
            <a:off x="4942151" y="1258682"/>
            <a:ext cx="30104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 of CVD, CKD, or HF?</a:t>
            </a:r>
          </a:p>
        </p:txBody>
      </p:sp>
      <p:sp>
        <p:nvSpPr>
          <p:cNvPr id="80" name="Yes">
            <a:extLst>
              <a:ext uri="{FF2B5EF4-FFF2-40B4-BE49-F238E27FC236}">
                <a16:creationId xmlns:a16="http://schemas.microsoft.com/office/drawing/2014/main" id="{0B16EC1E-705F-4A81-B67F-955C4CB4B923}"/>
              </a:ext>
            </a:extLst>
          </p:cNvPr>
          <p:cNvSpPr/>
          <p:nvPr/>
        </p:nvSpPr>
        <p:spPr>
          <a:xfrm>
            <a:off x="3676361" y="1692257"/>
            <a:ext cx="917204" cy="36933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</a:t>
            </a:r>
          </a:p>
        </p:txBody>
      </p:sp>
      <p:pic>
        <p:nvPicPr>
          <p:cNvPr id="81" name="arrow 1st line" descr="Cursor with solid fill">
            <a:extLst>
              <a:ext uri="{FF2B5EF4-FFF2-40B4-BE49-F238E27FC236}">
                <a16:creationId xmlns:a16="http://schemas.microsoft.com/office/drawing/2014/main" id="{80A23C75-BDE1-4F2C-A75E-F9346C217EA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64854" y="1908542"/>
            <a:ext cx="301752" cy="301752"/>
          </a:xfrm>
          <a:prstGeom prst="rect">
            <a:avLst/>
          </a:prstGeom>
        </p:spPr>
      </p:pic>
      <p:sp>
        <p:nvSpPr>
          <p:cNvPr id="83" name="No">
            <a:extLst>
              <a:ext uri="{FF2B5EF4-FFF2-40B4-BE49-F238E27FC236}">
                <a16:creationId xmlns:a16="http://schemas.microsoft.com/office/drawing/2014/main" id="{CDC86328-49E5-4BE6-9718-9207FDA17C78}"/>
              </a:ext>
            </a:extLst>
          </p:cNvPr>
          <p:cNvSpPr/>
          <p:nvPr/>
        </p:nvSpPr>
        <p:spPr>
          <a:xfrm>
            <a:off x="8686446" y="1692257"/>
            <a:ext cx="917204" cy="36933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</a:p>
        </p:txBody>
      </p:sp>
      <p:pic>
        <p:nvPicPr>
          <p:cNvPr id="84" name="Icon weight">
            <a:extLst>
              <a:ext uri="{FF2B5EF4-FFF2-40B4-BE49-F238E27FC236}">
                <a16:creationId xmlns:a16="http://schemas.microsoft.com/office/drawing/2014/main" id="{608FFB10-5C5E-454F-9598-9047267912F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3988" y="3153655"/>
            <a:ext cx="1348218" cy="1183276"/>
          </a:xfrm>
          <a:prstGeom prst="rect">
            <a:avLst/>
          </a:prstGeom>
        </p:spPr>
      </p:pic>
      <p:pic>
        <p:nvPicPr>
          <p:cNvPr id="85" name="Icon hypoglycemia">
            <a:extLst>
              <a:ext uri="{FF2B5EF4-FFF2-40B4-BE49-F238E27FC236}">
                <a16:creationId xmlns:a16="http://schemas.microsoft.com/office/drawing/2014/main" id="{8C240CEB-E85C-4890-B453-DFABCE5C8721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373" y="3220566"/>
            <a:ext cx="753938" cy="1315737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2A3C91EA-78B4-4335-9822-346A8D9A3F69}"/>
              </a:ext>
            </a:extLst>
          </p:cNvPr>
          <p:cNvSpPr txBox="1"/>
          <p:nvPr/>
        </p:nvSpPr>
        <p:spPr>
          <a:xfrm>
            <a:off x="8044378" y="6155033"/>
            <a:ext cx="2429887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Sulfonylurea or insulin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384AA8D-D58F-4524-8653-816D2F5ACDD8}"/>
              </a:ext>
            </a:extLst>
          </p:cNvPr>
          <p:cNvCxnSpPr>
            <a:cxnSpLocks/>
            <a:stCxn id="95" idx="2"/>
            <a:endCxn id="86" idx="0"/>
          </p:cNvCxnSpPr>
          <p:nvPr/>
        </p:nvCxnSpPr>
        <p:spPr>
          <a:xfrm flipH="1">
            <a:off x="9259322" y="3949733"/>
            <a:ext cx="1" cy="2205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4093E5A-1D54-4EEF-B0D3-58FB24DED171}"/>
              </a:ext>
            </a:extLst>
          </p:cNvPr>
          <p:cNvCxnSpPr>
            <a:cxnSpLocks/>
            <a:stCxn id="85" idx="2"/>
            <a:endCxn id="98" idx="0"/>
          </p:cNvCxnSpPr>
          <p:nvPr/>
        </p:nvCxnSpPr>
        <p:spPr>
          <a:xfrm flipH="1">
            <a:off x="10808454" y="4536303"/>
            <a:ext cx="888" cy="195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weight loss">
            <a:extLst>
              <a:ext uri="{FF2B5EF4-FFF2-40B4-BE49-F238E27FC236}">
                <a16:creationId xmlns:a16="http://schemas.microsoft.com/office/drawing/2014/main" id="{8568A189-C8A6-4E19-9D9C-7A8DD682B0FF}"/>
              </a:ext>
            </a:extLst>
          </p:cNvPr>
          <p:cNvSpPr/>
          <p:nvPr/>
        </p:nvSpPr>
        <p:spPr>
          <a:xfrm>
            <a:off x="7169852" y="3560095"/>
            <a:ext cx="1348218" cy="38963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Weight loss</a:t>
            </a:r>
          </a:p>
        </p:txBody>
      </p:sp>
      <p:sp>
        <p:nvSpPr>
          <p:cNvPr id="95" name="Cost">
            <a:extLst>
              <a:ext uri="{FF2B5EF4-FFF2-40B4-BE49-F238E27FC236}">
                <a16:creationId xmlns:a16="http://schemas.microsoft.com/office/drawing/2014/main" id="{7522DA5B-E2CD-43E8-BBCD-770937D11D86}"/>
              </a:ext>
            </a:extLst>
          </p:cNvPr>
          <p:cNvSpPr/>
          <p:nvPr/>
        </p:nvSpPr>
        <p:spPr>
          <a:xfrm>
            <a:off x="8758140" y="3585103"/>
            <a:ext cx="1002365" cy="36463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96" name="Avoid hypoglycemia">
            <a:extLst>
              <a:ext uri="{FF2B5EF4-FFF2-40B4-BE49-F238E27FC236}">
                <a16:creationId xmlns:a16="http://schemas.microsoft.com/office/drawing/2014/main" id="{E50497D0-0AF5-49B9-90BA-4E4FFA9F509C}"/>
              </a:ext>
            </a:extLst>
          </p:cNvPr>
          <p:cNvSpPr/>
          <p:nvPr/>
        </p:nvSpPr>
        <p:spPr>
          <a:xfrm>
            <a:off x="9933467" y="3490188"/>
            <a:ext cx="1637746" cy="6410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Avoid Hypoglycemia</a:t>
            </a:r>
          </a:p>
        </p:txBody>
      </p:sp>
      <p:sp>
        <p:nvSpPr>
          <p:cNvPr id="98" name="Text weight meds">
            <a:extLst>
              <a:ext uri="{FF2B5EF4-FFF2-40B4-BE49-F238E27FC236}">
                <a16:creationId xmlns:a16="http://schemas.microsoft.com/office/drawing/2014/main" id="{4404AC39-1A2D-4FC4-A585-185E1ABC7057}"/>
              </a:ext>
            </a:extLst>
          </p:cNvPr>
          <p:cNvSpPr txBox="1"/>
          <p:nvPr/>
        </p:nvSpPr>
        <p:spPr>
          <a:xfrm>
            <a:off x="9999096" y="4731807"/>
            <a:ext cx="1618715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GLP1/ SGLT2</a:t>
            </a:r>
          </a:p>
        </p:txBody>
      </p:sp>
      <p:sp>
        <p:nvSpPr>
          <p:cNvPr id="99" name="A1C not at goal?">
            <a:extLst>
              <a:ext uri="{FF2B5EF4-FFF2-40B4-BE49-F238E27FC236}">
                <a16:creationId xmlns:a16="http://schemas.microsoft.com/office/drawing/2014/main" id="{FF38058F-BCF5-4B50-B076-9C184A9D8517}"/>
              </a:ext>
            </a:extLst>
          </p:cNvPr>
          <p:cNvSpPr/>
          <p:nvPr/>
        </p:nvSpPr>
        <p:spPr>
          <a:xfrm>
            <a:off x="8179063" y="2225019"/>
            <a:ext cx="1968990" cy="3896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A1c not at goal?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CFE7E03-F07A-4E15-8E35-4135AF3446B3}"/>
              </a:ext>
            </a:extLst>
          </p:cNvPr>
          <p:cNvCxnSpPr>
            <a:cxnSpLocks/>
            <a:stCxn id="83" idx="2"/>
            <a:endCxn id="99" idx="0"/>
          </p:cNvCxnSpPr>
          <p:nvPr/>
        </p:nvCxnSpPr>
        <p:spPr>
          <a:xfrm>
            <a:off x="9145048" y="2061589"/>
            <a:ext cx="18510" cy="16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1D36844-B0C4-4D96-AD8E-6588EBD214AD}"/>
              </a:ext>
            </a:extLst>
          </p:cNvPr>
          <p:cNvSpPr txBox="1"/>
          <p:nvPr/>
        </p:nvSpPr>
        <p:spPr>
          <a:xfrm>
            <a:off x="5089620" y="4727534"/>
            <a:ext cx="150216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SGLT2 = GLP1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1D92422-24FF-4ADA-B745-6FA6E1DA5642}"/>
              </a:ext>
            </a:extLst>
          </p:cNvPr>
          <p:cNvSpPr txBox="1"/>
          <p:nvPr/>
        </p:nvSpPr>
        <p:spPr>
          <a:xfrm>
            <a:off x="3303546" y="4727534"/>
            <a:ext cx="166837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SGLT2 &gt; GLP1</a:t>
            </a:r>
          </a:p>
        </p:txBody>
      </p:sp>
      <p:sp>
        <p:nvSpPr>
          <p:cNvPr id="103" name="text 1st line answer">
            <a:extLst>
              <a:ext uri="{FF2B5EF4-FFF2-40B4-BE49-F238E27FC236}">
                <a16:creationId xmlns:a16="http://schemas.microsoft.com/office/drawing/2014/main" id="{49BD72A7-4961-4B00-902C-D5BCBB6D46FC}"/>
              </a:ext>
            </a:extLst>
          </p:cNvPr>
          <p:cNvSpPr txBox="1"/>
          <p:nvPr/>
        </p:nvSpPr>
        <p:spPr>
          <a:xfrm>
            <a:off x="8141324" y="499397"/>
            <a:ext cx="2811051" cy="646331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Metformin (eGFR &gt;30) </a:t>
            </a:r>
          </a:p>
          <a:p>
            <a:pPr algn="ctr"/>
            <a:r>
              <a:rPr lang="en-US" dirty="0"/>
              <a:t>+ Lifestyle Modifications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CD0A70F-CABD-419A-B60C-548A6660A40E}"/>
              </a:ext>
            </a:extLst>
          </p:cNvPr>
          <p:cNvCxnSpPr>
            <a:cxnSpLocks/>
            <a:stCxn id="69" idx="3"/>
            <a:endCxn id="103" idx="1"/>
          </p:cNvCxnSpPr>
          <p:nvPr/>
        </p:nvCxnSpPr>
        <p:spPr>
          <a:xfrm flipV="1">
            <a:off x="7470703" y="822563"/>
            <a:ext cx="670621" cy="233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9D30FFE2-FE92-4ECC-B342-8BC643E5F57F}"/>
              </a:ext>
            </a:extLst>
          </p:cNvPr>
          <p:cNvCxnSpPr>
            <a:cxnSpLocks/>
            <a:stCxn id="79" idx="2"/>
            <a:endCxn id="80" idx="3"/>
          </p:cNvCxnSpPr>
          <p:nvPr/>
        </p:nvCxnSpPr>
        <p:spPr>
          <a:xfrm rot="5400000">
            <a:off x="5396009" y="825571"/>
            <a:ext cx="248909" cy="185379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B6A15E44-5ACD-4573-9EC8-35C6F4FEDC87}"/>
              </a:ext>
            </a:extLst>
          </p:cNvPr>
          <p:cNvCxnSpPr>
            <a:cxnSpLocks/>
            <a:stCxn id="79" idx="2"/>
            <a:endCxn id="83" idx="1"/>
          </p:cNvCxnSpPr>
          <p:nvPr/>
        </p:nvCxnSpPr>
        <p:spPr>
          <a:xfrm rot="16200000" flipH="1">
            <a:off x="7442449" y="632925"/>
            <a:ext cx="248909" cy="223908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CKD + albuminuria">
            <a:extLst>
              <a:ext uri="{FF2B5EF4-FFF2-40B4-BE49-F238E27FC236}">
                <a16:creationId xmlns:a16="http://schemas.microsoft.com/office/drawing/2014/main" id="{5AC13409-D982-4048-A79F-2D0BEBE256CC}"/>
              </a:ext>
            </a:extLst>
          </p:cNvPr>
          <p:cNvSpPr/>
          <p:nvPr/>
        </p:nvSpPr>
        <p:spPr>
          <a:xfrm>
            <a:off x="3385546" y="3467679"/>
            <a:ext cx="1497083" cy="66830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CKD + albuminuria </a:t>
            </a:r>
          </a:p>
        </p:txBody>
      </p:sp>
      <p:sp>
        <p:nvSpPr>
          <p:cNvPr id="111" name="HF">
            <a:extLst>
              <a:ext uri="{FF2B5EF4-FFF2-40B4-BE49-F238E27FC236}">
                <a16:creationId xmlns:a16="http://schemas.microsoft.com/office/drawing/2014/main" id="{36F8F0EC-4F31-4EBE-9E63-49895C0D0979}"/>
              </a:ext>
            </a:extLst>
          </p:cNvPr>
          <p:cNvSpPr/>
          <p:nvPr/>
        </p:nvSpPr>
        <p:spPr>
          <a:xfrm>
            <a:off x="2091215" y="3569742"/>
            <a:ext cx="947854" cy="4641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HF</a:t>
            </a:r>
          </a:p>
        </p:txBody>
      </p:sp>
      <p:sp>
        <p:nvSpPr>
          <p:cNvPr id="112" name="CVD">
            <a:extLst>
              <a:ext uri="{FF2B5EF4-FFF2-40B4-BE49-F238E27FC236}">
                <a16:creationId xmlns:a16="http://schemas.microsoft.com/office/drawing/2014/main" id="{601C51FF-44C0-4019-8C0B-CF4B141287DD}"/>
              </a:ext>
            </a:extLst>
          </p:cNvPr>
          <p:cNvSpPr/>
          <p:nvPr/>
        </p:nvSpPr>
        <p:spPr>
          <a:xfrm>
            <a:off x="5290309" y="3467679"/>
            <a:ext cx="1100783" cy="6683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CVD or high risk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BC998E3-F889-46A9-966B-8FDC7B4300C0}"/>
              </a:ext>
            </a:extLst>
          </p:cNvPr>
          <p:cNvCxnSpPr>
            <a:cxnSpLocks/>
            <a:stCxn id="111" idx="2"/>
            <a:endCxn id="115" idx="0"/>
          </p:cNvCxnSpPr>
          <p:nvPr/>
        </p:nvCxnSpPr>
        <p:spPr>
          <a:xfrm flipH="1">
            <a:off x="2559230" y="4033920"/>
            <a:ext cx="5912" cy="6829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text 1st line answer">
            <a:extLst>
              <a:ext uri="{FF2B5EF4-FFF2-40B4-BE49-F238E27FC236}">
                <a16:creationId xmlns:a16="http://schemas.microsoft.com/office/drawing/2014/main" id="{E0869B15-1838-4AD3-92DA-D1332236E10B}"/>
              </a:ext>
            </a:extLst>
          </p:cNvPr>
          <p:cNvSpPr txBox="1"/>
          <p:nvPr/>
        </p:nvSpPr>
        <p:spPr>
          <a:xfrm>
            <a:off x="2085302" y="4716912"/>
            <a:ext cx="947855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SGLT2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23F1112-50BC-4D3C-AA1C-DA9D75492E8C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5840701" y="4135984"/>
            <a:ext cx="0" cy="5915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60062BF-2DA4-4161-9D79-35B749544AAF}"/>
              </a:ext>
            </a:extLst>
          </p:cNvPr>
          <p:cNvCxnSpPr>
            <a:cxnSpLocks/>
            <a:stCxn id="109" idx="2"/>
            <a:endCxn id="102" idx="0"/>
          </p:cNvCxnSpPr>
          <p:nvPr/>
        </p:nvCxnSpPr>
        <p:spPr>
          <a:xfrm>
            <a:off x="4134088" y="4135983"/>
            <a:ext cx="3648" cy="5915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3" name="arrow 1st line" descr="Cursor with solid fill">
            <a:extLst>
              <a:ext uri="{FF2B5EF4-FFF2-40B4-BE49-F238E27FC236}">
                <a16:creationId xmlns:a16="http://schemas.microsoft.com/office/drawing/2014/main" id="{15A8E34A-2A97-4BF2-B52E-79B26AD5888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28994" y="3984530"/>
            <a:ext cx="301752" cy="301752"/>
          </a:xfrm>
          <a:prstGeom prst="rect">
            <a:avLst/>
          </a:prstGeom>
        </p:spPr>
      </p:pic>
      <p:sp>
        <p:nvSpPr>
          <p:cNvPr id="125" name="Text treatment priority">
            <a:extLst>
              <a:ext uri="{FF2B5EF4-FFF2-40B4-BE49-F238E27FC236}">
                <a16:creationId xmlns:a16="http://schemas.microsoft.com/office/drawing/2014/main" id="{B64B0DAA-D25D-450C-A782-45BE61FB1D88}"/>
              </a:ext>
            </a:extLst>
          </p:cNvPr>
          <p:cNvSpPr/>
          <p:nvPr/>
        </p:nvSpPr>
        <p:spPr>
          <a:xfrm>
            <a:off x="8370511" y="2762095"/>
            <a:ext cx="1660089" cy="5232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/>
              <a:t>Select treatment based on priority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68F7AEC-4F66-4D81-9EBA-D29139F1AE49}"/>
              </a:ext>
            </a:extLst>
          </p:cNvPr>
          <p:cNvCxnSpPr>
            <a:cxnSpLocks/>
            <a:stCxn id="84" idx="2"/>
            <a:endCxn id="128" idx="0"/>
          </p:cNvCxnSpPr>
          <p:nvPr/>
        </p:nvCxnSpPr>
        <p:spPr>
          <a:xfrm>
            <a:off x="7778097" y="4336931"/>
            <a:ext cx="0" cy="3851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Text weight meds">
            <a:extLst>
              <a:ext uri="{FF2B5EF4-FFF2-40B4-BE49-F238E27FC236}">
                <a16:creationId xmlns:a16="http://schemas.microsoft.com/office/drawing/2014/main" id="{D8B9082E-2FD5-40F9-B288-BCBE15F871B2}"/>
              </a:ext>
            </a:extLst>
          </p:cNvPr>
          <p:cNvSpPr txBox="1"/>
          <p:nvPr/>
        </p:nvSpPr>
        <p:spPr>
          <a:xfrm>
            <a:off x="6915087" y="4722059"/>
            <a:ext cx="172602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GLP1/ SGLT2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CF44BD07-8574-4B6A-8FAB-D2E7136E5E34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7695017" y="5990338"/>
            <a:ext cx="422146" cy="27657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0" name="WL A1C not at target button">
            <a:extLst>
              <a:ext uri="{FF2B5EF4-FFF2-40B4-BE49-F238E27FC236}">
                <a16:creationId xmlns:a16="http://schemas.microsoft.com/office/drawing/2014/main" id="{F7F6CFA7-D8BE-48C4-9F79-18C1B28DBC78}"/>
              </a:ext>
            </a:extLst>
          </p:cNvPr>
          <p:cNvSpPr/>
          <p:nvPr/>
        </p:nvSpPr>
        <p:spPr>
          <a:xfrm>
            <a:off x="6958445" y="5534174"/>
            <a:ext cx="1618715" cy="369332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&gt;target?</a:t>
            </a:r>
          </a:p>
        </p:txBody>
      </p:sp>
      <p:pic>
        <p:nvPicPr>
          <p:cNvPr id="131" name="arrow 1st line" descr="Cursor with solid fill">
            <a:extLst>
              <a:ext uri="{FF2B5EF4-FFF2-40B4-BE49-F238E27FC236}">
                <a16:creationId xmlns:a16="http://schemas.microsoft.com/office/drawing/2014/main" id="{45A47640-AC94-49AB-BF73-C570F34CB09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03650" y="3798856"/>
            <a:ext cx="301752" cy="301752"/>
          </a:xfrm>
          <a:prstGeom prst="rect">
            <a:avLst/>
          </a:prstGeom>
        </p:spPr>
      </p:pic>
      <p:pic>
        <p:nvPicPr>
          <p:cNvPr id="132" name="arrow 1st line" descr="Cursor with solid fill">
            <a:extLst>
              <a:ext uri="{FF2B5EF4-FFF2-40B4-BE49-F238E27FC236}">
                <a16:creationId xmlns:a16="http://schemas.microsoft.com/office/drawing/2014/main" id="{8879607B-2F85-468A-8D1C-B5F37CD2EC3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5098" y="3786619"/>
            <a:ext cx="301752" cy="301752"/>
          </a:xfrm>
          <a:prstGeom prst="rect">
            <a:avLst/>
          </a:prstGeom>
        </p:spPr>
      </p:pic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2EE0434A-FEC4-4D9A-8598-B0B3928E71C9}"/>
              </a:ext>
            </a:extLst>
          </p:cNvPr>
          <p:cNvCxnSpPr>
            <a:cxnSpLocks/>
            <a:endCxn id="86" idx="3"/>
          </p:cNvCxnSpPr>
          <p:nvPr/>
        </p:nvCxnSpPr>
        <p:spPr>
          <a:xfrm rot="5400000">
            <a:off x="10428844" y="5962975"/>
            <a:ext cx="422146" cy="33130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4" name="HypoGlc A1C not at target button">
            <a:extLst>
              <a:ext uri="{FF2B5EF4-FFF2-40B4-BE49-F238E27FC236}">
                <a16:creationId xmlns:a16="http://schemas.microsoft.com/office/drawing/2014/main" id="{F50F7344-90AD-42C5-A4CF-E78DBA44BDEA}"/>
              </a:ext>
            </a:extLst>
          </p:cNvPr>
          <p:cNvSpPr/>
          <p:nvPr/>
        </p:nvSpPr>
        <p:spPr>
          <a:xfrm>
            <a:off x="9996210" y="5534174"/>
            <a:ext cx="1618715" cy="369332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&gt;target?</a:t>
            </a:r>
          </a:p>
        </p:txBody>
      </p:sp>
      <p:pic>
        <p:nvPicPr>
          <p:cNvPr id="135" name="arrow 1st line" descr="Cursor with solid fill">
            <a:extLst>
              <a:ext uri="{FF2B5EF4-FFF2-40B4-BE49-F238E27FC236}">
                <a16:creationId xmlns:a16="http://schemas.microsoft.com/office/drawing/2014/main" id="{8C2B00EB-307A-4B9E-904D-00E711E8792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5720" y="3888550"/>
            <a:ext cx="301752" cy="301752"/>
          </a:xfrm>
          <a:prstGeom prst="rect">
            <a:avLst/>
          </a:prstGeom>
        </p:spPr>
      </p:pic>
      <p:pic>
        <p:nvPicPr>
          <p:cNvPr id="137" name="arrow 1st line" descr="Cursor with solid fill">
            <a:extLst>
              <a:ext uri="{FF2B5EF4-FFF2-40B4-BE49-F238E27FC236}">
                <a16:creationId xmlns:a16="http://schemas.microsoft.com/office/drawing/2014/main" id="{E75CEC8A-50D0-4330-ABAD-92C3336C2BA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5833" y="3992002"/>
            <a:ext cx="301752" cy="301752"/>
          </a:xfrm>
          <a:prstGeom prst="rect">
            <a:avLst/>
          </a:prstGeom>
        </p:spPr>
      </p:pic>
      <p:pic>
        <p:nvPicPr>
          <p:cNvPr id="140" name="arrow 1st line" descr="Cursor with solid fill">
            <a:extLst>
              <a:ext uri="{FF2B5EF4-FFF2-40B4-BE49-F238E27FC236}">
                <a16:creationId xmlns:a16="http://schemas.microsoft.com/office/drawing/2014/main" id="{46D66DCA-80C9-4750-94AA-B03B08CA9E0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5669" y="3992002"/>
            <a:ext cx="301752" cy="301752"/>
          </a:xfrm>
          <a:prstGeom prst="rect">
            <a:avLst/>
          </a:prstGeom>
        </p:spPr>
      </p:pic>
      <p:pic>
        <p:nvPicPr>
          <p:cNvPr id="142" name="arrow 1st line" descr="Cursor with solid fill">
            <a:extLst>
              <a:ext uri="{FF2B5EF4-FFF2-40B4-BE49-F238E27FC236}">
                <a16:creationId xmlns:a16="http://schemas.microsoft.com/office/drawing/2014/main" id="{08C5AD1E-F31A-4968-BC39-C920412A28F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52774" y="1916584"/>
            <a:ext cx="301752" cy="301752"/>
          </a:xfrm>
          <a:prstGeom prst="rect">
            <a:avLst/>
          </a:prstGeom>
        </p:spPr>
      </p:pic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AA65CF5-8063-4B08-8850-5FEC95C41C27}"/>
              </a:ext>
            </a:extLst>
          </p:cNvPr>
          <p:cNvCxnSpPr>
            <a:cxnSpLocks/>
            <a:stCxn id="128" idx="2"/>
            <a:endCxn id="130" idx="0"/>
          </p:cNvCxnSpPr>
          <p:nvPr/>
        </p:nvCxnSpPr>
        <p:spPr>
          <a:xfrm flipH="1">
            <a:off x="7767803" y="5091391"/>
            <a:ext cx="10294" cy="4427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0C8E91FE-619C-4F5B-98C1-7D8A513EDFEA}"/>
              </a:ext>
            </a:extLst>
          </p:cNvPr>
          <p:cNvCxnSpPr>
            <a:cxnSpLocks/>
            <a:stCxn id="98" idx="2"/>
            <a:endCxn id="134" idx="0"/>
          </p:cNvCxnSpPr>
          <p:nvPr/>
        </p:nvCxnSpPr>
        <p:spPr>
          <a:xfrm flipH="1">
            <a:off x="10805568" y="5101139"/>
            <a:ext cx="2886" cy="433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6" name="arrow 1st line" descr="Cursor with solid fill">
            <a:extLst>
              <a:ext uri="{FF2B5EF4-FFF2-40B4-BE49-F238E27FC236}">
                <a16:creationId xmlns:a16="http://schemas.microsoft.com/office/drawing/2014/main" id="{31F915FD-8C8D-4996-A067-170AE64642B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4302" y="5780805"/>
            <a:ext cx="301752" cy="301752"/>
          </a:xfrm>
          <a:prstGeom prst="rect">
            <a:avLst/>
          </a:prstGeom>
        </p:spPr>
      </p:pic>
      <p:pic>
        <p:nvPicPr>
          <p:cNvPr id="147" name="arrow 1st line" descr="Cursor with solid fill">
            <a:extLst>
              <a:ext uri="{FF2B5EF4-FFF2-40B4-BE49-F238E27FC236}">
                <a16:creationId xmlns:a16="http://schemas.microsoft.com/office/drawing/2014/main" id="{0BBA16A3-866C-40A5-99BD-F5F64CFB683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64049" y="5760340"/>
            <a:ext cx="301752" cy="301752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BB2A46C-FCA3-45A7-B39B-BADFF9BC24F7}"/>
              </a:ext>
            </a:extLst>
          </p:cNvPr>
          <p:cNvCxnSpPr>
            <a:cxnSpLocks/>
            <a:stCxn id="115" idx="2"/>
          </p:cNvCxnSpPr>
          <p:nvPr/>
        </p:nvCxnSpPr>
        <p:spPr>
          <a:xfrm flipH="1">
            <a:off x="2552863" y="5086244"/>
            <a:ext cx="6367" cy="461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F9510E3-F773-4D97-AA1F-2C0F1D4DE30F}"/>
              </a:ext>
            </a:extLst>
          </p:cNvPr>
          <p:cNvCxnSpPr>
            <a:cxnSpLocks/>
            <a:stCxn id="102" idx="2"/>
            <a:endCxn id="151" idx="0"/>
          </p:cNvCxnSpPr>
          <p:nvPr/>
        </p:nvCxnSpPr>
        <p:spPr>
          <a:xfrm flipH="1">
            <a:off x="4134087" y="5096866"/>
            <a:ext cx="3649" cy="459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34416E0-FD83-4FC1-963D-3AB2B8A52633}"/>
              </a:ext>
            </a:extLst>
          </p:cNvPr>
          <p:cNvCxnSpPr>
            <a:cxnSpLocks/>
            <a:stCxn id="101" idx="2"/>
          </p:cNvCxnSpPr>
          <p:nvPr/>
        </p:nvCxnSpPr>
        <p:spPr>
          <a:xfrm>
            <a:off x="5840701" y="5096866"/>
            <a:ext cx="0" cy="4513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1" name="RF A1C not at target">
            <a:extLst>
              <a:ext uri="{FF2B5EF4-FFF2-40B4-BE49-F238E27FC236}">
                <a16:creationId xmlns:a16="http://schemas.microsoft.com/office/drawing/2014/main" id="{563F629C-31F1-482E-902C-AE3E12149386}"/>
              </a:ext>
            </a:extLst>
          </p:cNvPr>
          <p:cNvSpPr/>
          <p:nvPr/>
        </p:nvSpPr>
        <p:spPr>
          <a:xfrm>
            <a:off x="2182435" y="5555930"/>
            <a:ext cx="3903304" cy="32582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&gt;target?</a:t>
            </a:r>
          </a:p>
        </p:txBody>
      </p:sp>
      <p:pic>
        <p:nvPicPr>
          <p:cNvPr id="152" name="arrow 1st line" descr="Cursor with solid fill">
            <a:extLst>
              <a:ext uri="{FF2B5EF4-FFF2-40B4-BE49-F238E27FC236}">
                <a16:creationId xmlns:a16="http://schemas.microsoft.com/office/drawing/2014/main" id="{F2F0CFB5-DB3D-4EED-ACF6-F22B705CB71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0800" y="5744921"/>
            <a:ext cx="301752" cy="301752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644D6F77-5DA2-4404-AD54-34D906EE1900}"/>
              </a:ext>
            </a:extLst>
          </p:cNvPr>
          <p:cNvSpPr txBox="1"/>
          <p:nvPr/>
        </p:nvSpPr>
        <p:spPr>
          <a:xfrm>
            <a:off x="2919143" y="6155033"/>
            <a:ext cx="2429887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Sulfonylurea or insulin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CD71920B-73F8-4ED7-8A89-A1C898658CA5}"/>
              </a:ext>
            </a:extLst>
          </p:cNvPr>
          <p:cNvCxnSpPr>
            <a:cxnSpLocks/>
            <a:stCxn id="151" idx="2"/>
            <a:endCxn id="154" idx="0"/>
          </p:cNvCxnSpPr>
          <p:nvPr/>
        </p:nvCxnSpPr>
        <p:spPr>
          <a:xfrm>
            <a:off x="4134087" y="5881751"/>
            <a:ext cx="0" cy="273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57035712-9147-443E-BE6A-B8179A7D464F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136" name="Graphic 135" descr="Cursor with solid fill">
            <a:extLst>
              <a:ext uri="{FF2B5EF4-FFF2-40B4-BE49-F238E27FC236}">
                <a16:creationId xmlns:a16="http://schemas.microsoft.com/office/drawing/2014/main" id="{B7CB65D3-5D38-457A-A6EF-8E64B67AC04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138" name="Question 2">
            <a:hlinkClick r:id="rId13" action="ppaction://hlinksldjump"/>
            <a:extLst>
              <a:ext uri="{FF2B5EF4-FFF2-40B4-BE49-F238E27FC236}">
                <a16:creationId xmlns:a16="http://schemas.microsoft.com/office/drawing/2014/main" id="{1D030641-250E-4657-A43E-7DC8EC99D716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pic>
        <p:nvPicPr>
          <p:cNvPr id="141" name="Graphic 140" descr="Cursor with solid fill">
            <a:extLst>
              <a:ext uri="{FF2B5EF4-FFF2-40B4-BE49-F238E27FC236}">
                <a16:creationId xmlns:a16="http://schemas.microsoft.com/office/drawing/2014/main" id="{7A1A6CB3-40C6-4FF0-957C-60CC997FFC9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sp>
        <p:nvSpPr>
          <p:cNvPr id="153" name="question 3">
            <a:hlinkClick r:id="rId14" action="ppaction://hlinksldjump"/>
            <a:extLst>
              <a:ext uri="{FF2B5EF4-FFF2-40B4-BE49-F238E27FC236}">
                <a16:creationId xmlns:a16="http://schemas.microsoft.com/office/drawing/2014/main" id="{A38547D5-C01E-40A5-9E99-ADFD7962B773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DA81FFC-37C4-403F-9DFA-AAAB3203C5F1}"/>
              </a:ext>
            </a:extLst>
          </p:cNvPr>
          <p:cNvCxnSpPr>
            <a:cxnSpLocks/>
            <a:stCxn id="69" idx="2"/>
            <a:endCxn id="79" idx="0"/>
          </p:cNvCxnSpPr>
          <p:nvPr/>
        </p:nvCxnSpPr>
        <p:spPr>
          <a:xfrm>
            <a:off x="6447360" y="1009568"/>
            <a:ext cx="0" cy="249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9" name="Rounded Rectangle 29">
            <a:extLst>
              <a:ext uri="{FF2B5EF4-FFF2-40B4-BE49-F238E27FC236}">
                <a16:creationId xmlns:a16="http://schemas.microsoft.com/office/drawing/2014/main" id="{EDE43342-2091-4CBF-AA43-1CE149B7EB85}"/>
              </a:ext>
            </a:extLst>
          </p:cNvPr>
          <p:cNvSpPr/>
          <p:nvPr/>
        </p:nvSpPr>
        <p:spPr>
          <a:xfrm>
            <a:off x="4518028" y="110181"/>
            <a:ext cx="3931210" cy="46344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60" name="1st line box">
            <a:extLst>
              <a:ext uri="{FF2B5EF4-FFF2-40B4-BE49-F238E27FC236}">
                <a16:creationId xmlns:a16="http://schemas.microsoft.com/office/drawing/2014/main" id="{DA26F015-191C-4C54-A5F9-3D441036878D}"/>
              </a:ext>
            </a:extLst>
          </p:cNvPr>
          <p:cNvSpPr/>
          <p:nvPr/>
        </p:nvSpPr>
        <p:spPr>
          <a:xfrm>
            <a:off x="5414729" y="635195"/>
            <a:ext cx="2046686" cy="36933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line for all DM</a:t>
            </a:r>
          </a:p>
        </p:txBody>
      </p:sp>
      <p:sp>
        <p:nvSpPr>
          <p:cNvPr id="161" name="Yes">
            <a:extLst>
              <a:ext uri="{FF2B5EF4-FFF2-40B4-BE49-F238E27FC236}">
                <a16:creationId xmlns:a16="http://schemas.microsoft.com/office/drawing/2014/main" id="{1B77F240-9D43-4C3C-ADDD-6DB02BF6901B}"/>
              </a:ext>
            </a:extLst>
          </p:cNvPr>
          <p:cNvSpPr/>
          <p:nvPr/>
        </p:nvSpPr>
        <p:spPr>
          <a:xfrm>
            <a:off x="3675484" y="1712001"/>
            <a:ext cx="917204" cy="369332"/>
          </a:xfrm>
          <a:prstGeom prst="round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162" name="No">
            <a:extLst>
              <a:ext uri="{FF2B5EF4-FFF2-40B4-BE49-F238E27FC236}">
                <a16:creationId xmlns:a16="http://schemas.microsoft.com/office/drawing/2014/main" id="{878475A1-6428-4967-A804-749A9E2DC507}"/>
              </a:ext>
            </a:extLst>
          </p:cNvPr>
          <p:cNvSpPr/>
          <p:nvPr/>
        </p:nvSpPr>
        <p:spPr>
          <a:xfrm>
            <a:off x="8695701" y="1690061"/>
            <a:ext cx="917204" cy="369332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163" name="HF">
            <a:extLst>
              <a:ext uri="{FF2B5EF4-FFF2-40B4-BE49-F238E27FC236}">
                <a16:creationId xmlns:a16="http://schemas.microsoft.com/office/drawing/2014/main" id="{2BC93E15-96AA-4635-94AD-82FF7B4FD243}"/>
              </a:ext>
            </a:extLst>
          </p:cNvPr>
          <p:cNvSpPr/>
          <p:nvPr/>
        </p:nvSpPr>
        <p:spPr>
          <a:xfrm>
            <a:off x="2112926" y="3566988"/>
            <a:ext cx="947854" cy="464178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HF</a:t>
            </a:r>
          </a:p>
        </p:txBody>
      </p:sp>
      <p:sp>
        <p:nvSpPr>
          <p:cNvPr id="164" name="CKD + albuminuria">
            <a:extLst>
              <a:ext uri="{FF2B5EF4-FFF2-40B4-BE49-F238E27FC236}">
                <a16:creationId xmlns:a16="http://schemas.microsoft.com/office/drawing/2014/main" id="{974C6FCF-5190-4396-BA34-72CAF963FD09}"/>
              </a:ext>
            </a:extLst>
          </p:cNvPr>
          <p:cNvSpPr/>
          <p:nvPr/>
        </p:nvSpPr>
        <p:spPr>
          <a:xfrm>
            <a:off x="3406566" y="3478393"/>
            <a:ext cx="1497083" cy="668304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CKD + albuminuria </a:t>
            </a:r>
          </a:p>
        </p:txBody>
      </p:sp>
      <p:sp>
        <p:nvSpPr>
          <p:cNvPr id="165" name="CVD">
            <a:extLst>
              <a:ext uri="{FF2B5EF4-FFF2-40B4-BE49-F238E27FC236}">
                <a16:creationId xmlns:a16="http://schemas.microsoft.com/office/drawing/2014/main" id="{51CF481B-7D85-4637-95B2-D6C790C90070}"/>
              </a:ext>
            </a:extLst>
          </p:cNvPr>
          <p:cNvSpPr/>
          <p:nvPr/>
        </p:nvSpPr>
        <p:spPr>
          <a:xfrm>
            <a:off x="5306890" y="3475389"/>
            <a:ext cx="1100783" cy="668305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CVD or high risk</a:t>
            </a:r>
          </a:p>
        </p:txBody>
      </p:sp>
      <p:sp>
        <p:nvSpPr>
          <p:cNvPr id="167" name="weight loss">
            <a:extLst>
              <a:ext uri="{FF2B5EF4-FFF2-40B4-BE49-F238E27FC236}">
                <a16:creationId xmlns:a16="http://schemas.microsoft.com/office/drawing/2014/main" id="{EA8FC81D-FB9E-47CB-84A9-A3C18266AB9F}"/>
              </a:ext>
            </a:extLst>
          </p:cNvPr>
          <p:cNvSpPr/>
          <p:nvPr/>
        </p:nvSpPr>
        <p:spPr>
          <a:xfrm>
            <a:off x="7166295" y="3567118"/>
            <a:ext cx="1348218" cy="38963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Weight loss</a:t>
            </a:r>
          </a:p>
        </p:txBody>
      </p:sp>
      <p:sp>
        <p:nvSpPr>
          <p:cNvPr id="168" name="Cost">
            <a:extLst>
              <a:ext uri="{FF2B5EF4-FFF2-40B4-BE49-F238E27FC236}">
                <a16:creationId xmlns:a16="http://schemas.microsoft.com/office/drawing/2014/main" id="{230EF970-A18C-421F-9669-E294B7BB5266}"/>
              </a:ext>
            </a:extLst>
          </p:cNvPr>
          <p:cNvSpPr/>
          <p:nvPr/>
        </p:nvSpPr>
        <p:spPr>
          <a:xfrm>
            <a:off x="8752161" y="3592125"/>
            <a:ext cx="1002365" cy="36463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Cost</a:t>
            </a:r>
          </a:p>
        </p:txBody>
      </p:sp>
      <p:sp>
        <p:nvSpPr>
          <p:cNvPr id="169" name="Avoid hypoglycemia">
            <a:extLst>
              <a:ext uri="{FF2B5EF4-FFF2-40B4-BE49-F238E27FC236}">
                <a16:creationId xmlns:a16="http://schemas.microsoft.com/office/drawing/2014/main" id="{01A4189B-BB53-4B70-AB9F-390B5E156B3B}"/>
              </a:ext>
            </a:extLst>
          </p:cNvPr>
          <p:cNvSpPr/>
          <p:nvPr/>
        </p:nvSpPr>
        <p:spPr>
          <a:xfrm>
            <a:off x="9932825" y="3505626"/>
            <a:ext cx="1637746" cy="641071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Avoid Hypoglycemia</a:t>
            </a:r>
          </a:p>
        </p:txBody>
      </p:sp>
      <p:sp>
        <p:nvSpPr>
          <p:cNvPr id="170" name="WL A1C not at target button">
            <a:extLst>
              <a:ext uri="{FF2B5EF4-FFF2-40B4-BE49-F238E27FC236}">
                <a16:creationId xmlns:a16="http://schemas.microsoft.com/office/drawing/2014/main" id="{B685F471-E513-4D2C-A9CE-AE6D072A67D3}"/>
              </a:ext>
            </a:extLst>
          </p:cNvPr>
          <p:cNvSpPr/>
          <p:nvPr/>
        </p:nvSpPr>
        <p:spPr>
          <a:xfrm>
            <a:off x="6952824" y="5526465"/>
            <a:ext cx="1618715" cy="369332"/>
          </a:xfrm>
          <a:prstGeom prst="round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</a:t>
            </a:r>
          </a:p>
        </p:txBody>
      </p:sp>
      <p:sp>
        <p:nvSpPr>
          <p:cNvPr id="171" name="HypoGlc A1C not at target button">
            <a:extLst>
              <a:ext uri="{FF2B5EF4-FFF2-40B4-BE49-F238E27FC236}">
                <a16:creationId xmlns:a16="http://schemas.microsoft.com/office/drawing/2014/main" id="{20F92387-9401-495A-817C-85E5D81068B9}"/>
              </a:ext>
            </a:extLst>
          </p:cNvPr>
          <p:cNvSpPr/>
          <p:nvPr/>
        </p:nvSpPr>
        <p:spPr>
          <a:xfrm>
            <a:off x="10007189" y="5526465"/>
            <a:ext cx="1618715" cy="369332"/>
          </a:xfrm>
          <a:prstGeom prst="round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</a:t>
            </a:r>
          </a:p>
        </p:txBody>
      </p:sp>
      <p:sp>
        <p:nvSpPr>
          <p:cNvPr id="172" name="RF A1C not at target">
            <a:extLst>
              <a:ext uri="{FF2B5EF4-FFF2-40B4-BE49-F238E27FC236}">
                <a16:creationId xmlns:a16="http://schemas.microsoft.com/office/drawing/2014/main" id="{653EFD36-5CAF-4786-86D1-B3C28173BE6A}"/>
              </a:ext>
            </a:extLst>
          </p:cNvPr>
          <p:cNvSpPr/>
          <p:nvPr/>
        </p:nvSpPr>
        <p:spPr>
          <a:xfrm>
            <a:off x="2182434" y="5553608"/>
            <a:ext cx="3903304" cy="325821"/>
          </a:xfrm>
          <a:prstGeom prst="round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A1c &gt;target</a:t>
            </a:r>
          </a:p>
        </p:txBody>
      </p:sp>
      <p:sp>
        <p:nvSpPr>
          <p:cNvPr id="91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2FA4D87B-10A0-4127-BF7F-7DEDCD3E4881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E68681C1-8092-477A-8F3A-F6F6C91051C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0454" y="2762315"/>
            <a:ext cx="301752" cy="301752"/>
          </a:xfrm>
          <a:prstGeom prst="rect">
            <a:avLst/>
          </a:prstGeom>
        </p:spPr>
      </p:pic>
      <p:sp>
        <p:nvSpPr>
          <p:cNvPr id="97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859A63A3-3572-4B47-88DF-9FC8189EEE79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C42C4075-941C-4026-881C-3C0CA32A85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1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</p:childTnLst>
        </p:cTn>
      </p:par>
    </p:tnLst>
    <p:bldLst>
      <p:bldP spid="69" grpId="0" animBg="1"/>
      <p:bldP spid="79" grpId="0" animBg="1"/>
      <p:bldP spid="80" grpId="0" animBg="1"/>
      <p:bldP spid="80" grpId="1" animBg="1"/>
      <p:bldP spid="83" grpId="0" animBg="1"/>
      <p:bldP spid="83" grpId="1" animBg="1"/>
      <p:bldP spid="86" grpId="0" animBg="1"/>
      <p:bldP spid="86" grpId="1" animBg="1"/>
      <p:bldP spid="86" grpId="2" animBg="1"/>
      <p:bldP spid="93" grpId="0" animBg="1"/>
      <p:bldP spid="93" grpId="1" animBg="1"/>
      <p:bldP spid="95" grpId="0" animBg="1"/>
      <p:bldP spid="95" grpId="1" animBg="1"/>
      <p:bldP spid="96" grpId="0" animBg="1"/>
      <p:bldP spid="96" grpId="1" animBg="1"/>
      <p:bldP spid="98" grpId="0" animBg="1"/>
      <p:bldP spid="99" grpId="0" animBg="1"/>
      <p:bldP spid="101" grpId="0" animBg="1"/>
      <p:bldP spid="102" grpId="0" animBg="1"/>
      <p:bldP spid="103" grpId="0" animBg="1"/>
      <p:bldP spid="109" grpId="0" animBg="1"/>
      <p:bldP spid="109" grpId="1" animBg="1"/>
      <p:bldP spid="111" grpId="0" animBg="1"/>
      <p:bldP spid="111" grpId="1" animBg="1"/>
      <p:bldP spid="112" grpId="0" animBg="1"/>
      <p:bldP spid="112" grpId="1" animBg="1"/>
      <p:bldP spid="115" grpId="0" animBg="1"/>
      <p:bldP spid="125" grpId="0" animBg="1"/>
      <p:bldP spid="128" grpId="0" animBg="1"/>
      <p:bldP spid="130" grpId="0" animBg="1"/>
      <p:bldP spid="130" grpId="1" animBg="1"/>
      <p:bldP spid="130" grpId="2" animBg="1"/>
      <p:bldP spid="134" grpId="0" animBg="1"/>
      <p:bldP spid="134" grpId="1" animBg="1"/>
      <p:bldP spid="134" grpId="2" animBg="1"/>
      <p:bldP spid="151" grpId="0" animBg="1"/>
      <p:bldP spid="151" grpId="1" animBg="1"/>
      <p:bldP spid="151" grpId="2" animBg="1"/>
      <p:bldP spid="151" grpId="3" animBg="1"/>
      <p:bldP spid="154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4DB42F-86D9-4D10-BEDC-CFB6D596681F}"/>
              </a:ext>
            </a:extLst>
          </p:cNvPr>
          <p:cNvCxnSpPr>
            <a:cxnSpLocks/>
          </p:cNvCxnSpPr>
          <p:nvPr/>
        </p:nvCxnSpPr>
        <p:spPr>
          <a:xfrm>
            <a:off x="4802108" y="273724"/>
            <a:ext cx="0" cy="6193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A59408-3F43-40F8-A48D-DC2EE03774BF}"/>
              </a:ext>
            </a:extLst>
          </p:cNvPr>
          <p:cNvCxnSpPr>
            <a:cxnSpLocks/>
          </p:cNvCxnSpPr>
          <p:nvPr/>
        </p:nvCxnSpPr>
        <p:spPr>
          <a:xfrm>
            <a:off x="5810382" y="273724"/>
            <a:ext cx="0" cy="6196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61F7EE-1C9A-4EF2-BFE2-7ED7FBDDD9F7}"/>
              </a:ext>
            </a:extLst>
          </p:cNvPr>
          <p:cNvCxnSpPr>
            <a:cxnSpLocks/>
          </p:cNvCxnSpPr>
          <p:nvPr/>
        </p:nvCxnSpPr>
        <p:spPr>
          <a:xfrm>
            <a:off x="9236342" y="273724"/>
            <a:ext cx="0" cy="6197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272BC7-17E6-4B35-9F03-5380DC5CF1C8}"/>
              </a:ext>
            </a:extLst>
          </p:cNvPr>
          <p:cNvCxnSpPr>
            <a:cxnSpLocks/>
          </p:cNvCxnSpPr>
          <p:nvPr/>
        </p:nvCxnSpPr>
        <p:spPr>
          <a:xfrm>
            <a:off x="2130546" y="810759"/>
            <a:ext cx="9804265" cy="417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D5ED2094-5EBA-4ABD-8122-122A4961A042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127" name="Graphic 126" descr="Cursor with solid fill">
            <a:extLst>
              <a:ext uri="{FF2B5EF4-FFF2-40B4-BE49-F238E27FC236}">
                <a16:creationId xmlns:a16="http://schemas.microsoft.com/office/drawing/2014/main" id="{4C71408E-4D87-476D-8764-F1ACBC6A45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128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C1B006CB-5A5A-4B8D-A3EA-53F225A9AEBC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9CFEA97B-EA32-47B5-B7E1-83162E76DC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sp>
        <p:nvSpPr>
          <p:cNvPr id="132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A2F3E201-1FD2-4660-8373-BBC7491C5099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sp>
        <p:nvSpPr>
          <p:cNvPr id="133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98763DA6-D1B4-4616-B3B3-D694DE6132EB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Interventions</a:t>
            </a:r>
          </a:p>
        </p:txBody>
      </p:sp>
      <p:pic>
        <p:nvPicPr>
          <p:cNvPr id="134" name="Graphic 133" descr="Cursor with solid fill">
            <a:extLst>
              <a:ext uri="{FF2B5EF4-FFF2-40B4-BE49-F238E27FC236}">
                <a16:creationId xmlns:a16="http://schemas.microsoft.com/office/drawing/2014/main" id="{F2423EDD-5A65-4B55-A524-03746DE372F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  <p:sp>
        <p:nvSpPr>
          <p:cNvPr id="140" name="Metofmin">
            <a:extLst>
              <a:ext uri="{FF2B5EF4-FFF2-40B4-BE49-F238E27FC236}">
                <a16:creationId xmlns:a16="http://schemas.microsoft.com/office/drawing/2014/main" id="{03FF477A-844A-4960-990D-387E21405B1C}"/>
              </a:ext>
            </a:extLst>
          </p:cNvPr>
          <p:cNvSpPr txBox="1"/>
          <p:nvPr/>
        </p:nvSpPr>
        <p:spPr>
          <a:xfrm>
            <a:off x="2119323" y="1015367"/>
            <a:ext cx="174861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Metformin</a:t>
            </a:r>
          </a:p>
        </p:txBody>
      </p:sp>
      <p:pic>
        <p:nvPicPr>
          <p:cNvPr id="141" name="Arrow macrovacular disease" descr="Cursor with solid fill">
            <a:extLst>
              <a:ext uri="{FF2B5EF4-FFF2-40B4-BE49-F238E27FC236}">
                <a16:creationId xmlns:a16="http://schemas.microsoft.com/office/drawing/2014/main" id="{3B2246CE-EDA7-4AA2-9D6B-6676F63988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1279174"/>
            <a:ext cx="301752" cy="301752"/>
          </a:xfrm>
          <a:prstGeom prst="rect">
            <a:avLst/>
          </a:prstGeom>
        </p:spPr>
      </p:pic>
      <p:sp>
        <p:nvSpPr>
          <p:cNvPr id="142" name="GLP1">
            <a:extLst>
              <a:ext uri="{FF2B5EF4-FFF2-40B4-BE49-F238E27FC236}">
                <a16:creationId xmlns:a16="http://schemas.microsoft.com/office/drawing/2014/main" id="{C882A295-DED5-48C3-81C2-D1573525C8E8}"/>
              </a:ext>
            </a:extLst>
          </p:cNvPr>
          <p:cNvSpPr txBox="1"/>
          <p:nvPr/>
        </p:nvSpPr>
        <p:spPr>
          <a:xfrm>
            <a:off x="2119323" y="1879427"/>
            <a:ext cx="174861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GLP-1 agonists</a:t>
            </a:r>
          </a:p>
        </p:txBody>
      </p:sp>
      <p:pic>
        <p:nvPicPr>
          <p:cNvPr id="143" name="Arrow macrovacular disease" descr="Cursor with solid fill">
            <a:extLst>
              <a:ext uri="{FF2B5EF4-FFF2-40B4-BE49-F238E27FC236}">
                <a16:creationId xmlns:a16="http://schemas.microsoft.com/office/drawing/2014/main" id="{17A5B37D-52EF-42F7-AB56-5318BD7892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2156533"/>
            <a:ext cx="301752" cy="301752"/>
          </a:xfrm>
          <a:prstGeom prst="rect">
            <a:avLst/>
          </a:prstGeom>
        </p:spPr>
      </p:pic>
      <p:sp>
        <p:nvSpPr>
          <p:cNvPr id="144" name="SGLT2">
            <a:extLst>
              <a:ext uri="{FF2B5EF4-FFF2-40B4-BE49-F238E27FC236}">
                <a16:creationId xmlns:a16="http://schemas.microsoft.com/office/drawing/2014/main" id="{C67FCF46-8D4F-4CF4-863E-0B00C99465C3}"/>
              </a:ext>
            </a:extLst>
          </p:cNvPr>
          <p:cNvSpPr txBox="1"/>
          <p:nvPr/>
        </p:nvSpPr>
        <p:spPr>
          <a:xfrm>
            <a:off x="2120815" y="2852857"/>
            <a:ext cx="17486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SGLT2 inhibitors </a:t>
            </a:r>
          </a:p>
        </p:txBody>
      </p:sp>
      <p:pic>
        <p:nvPicPr>
          <p:cNvPr id="145" name="Arrow macrovacular disease" descr="Cursor with solid fill">
            <a:extLst>
              <a:ext uri="{FF2B5EF4-FFF2-40B4-BE49-F238E27FC236}">
                <a16:creationId xmlns:a16="http://schemas.microsoft.com/office/drawing/2014/main" id="{B18F4CF9-FC03-4DA5-BA7D-661FA9C1AA2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3107534"/>
            <a:ext cx="301752" cy="301752"/>
          </a:xfrm>
          <a:prstGeom prst="rect">
            <a:avLst/>
          </a:prstGeom>
        </p:spPr>
      </p:pic>
      <p:sp>
        <p:nvSpPr>
          <p:cNvPr id="146" name="SU">
            <a:extLst>
              <a:ext uri="{FF2B5EF4-FFF2-40B4-BE49-F238E27FC236}">
                <a16:creationId xmlns:a16="http://schemas.microsoft.com/office/drawing/2014/main" id="{57094104-4E79-455D-886D-2CD3B02A2E44}"/>
              </a:ext>
            </a:extLst>
          </p:cNvPr>
          <p:cNvSpPr txBox="1"/>
          <p:nvPr/>
        </p:nvSpPr>
        <p:spPr>
          <a:xfrm>
            <a:off x="2119320" y="3838491"/>
            <a:ext cx="174861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Sulfonylurea</a:t>
            </a:r>
          </a:p>
        </p:txBody>
      </p:sp>
      <p:pic>
        <p:nvPicPr>
          <p:cNvPr id="147" name="Arrow macrovacular disease" descr="Cursor with solid fill">
            <a:extLst>
              <a:ext uri="{FF2B5EF4-FFF2-40B4-BE49-F238E27FC236}">
                <a16:creationId xmlns:a16="http://schemas.microsoft.com/office/drawing/2014/main" id="{31F199E6-A124-412B-A8B1-7BCEEF20A7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4106611"/>
            <a:ext cx="301752" cy="301752"/>
          </a:xfrm>
          <a:prstGeom prst="rect">
            <a:avLst/>
          </a:prstGeom>
        </p:spPr>
      </p:pic>
      <p:sp>
        <p:nvSpPr>
          <p:cNvPr id="148" name="SU">
            <a:extLst>
              <a:ext uri="{FF2B5EF4-FFF2-40B4-BE49-F238E27FC236}">
                <a16:creationId xmlns:a16="http://schemas.microsoft.com/office/drawing/2014/main" id="{5A55D71A-43AB-4900-B193-B1CBB475F18C}"/>
              </a:ext>
            </a:extLst>
          </p:cNvPr>
          <p:cNvSpPr txBox="1"/>
          <p:nvPr/>
        </p:nvSpPr>
        <p:spPr>
          <a:xfrm>
            <a:off x="2131716" y="4564682"/>
            <a:ext cx="174860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Insulin </a:t>
            </a:r>
          </a:p>
        </p:txBody>
      </p:sp>
      <p:pic>
        <p:nvPicPr>
          <p:cNvPr id="149" name="Arrow macrovacular disease" descr="Cursor with solid fill">
            <a:extLst>
              <a:ext uri="{FF2B5EF4-FFF2-40B4-BE49-F238E27FC236}">
                <a16:creationId xmlns:a16="http://schemas.microsoft.com/office/drawing/2014/main" id="{96222D54-F59F-4CA5-9C0A-51CFF09707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4824557"/>
            <a:ext cx="301752" cy="301752"/>
          </a:xfrm>
          <a:prstGeom prst="rect">
            <a:avLst/>
          </a:prstGeom>
        </p:spPr>
      </p:pic>
      <p:sp>
        <p:nvSpPr>
          <p:cNvPr id="150" name="Nutrition">
            <a:extLst>
              <a:ext uri="{FF2B5EF4-FFF2-40B4-BE49-F238E27FC236}">
                <a16:creationId xmlns:a16="http://schemas.microsoft.com/office/drawing/2014/main" id="{8EDF4772-339E-4A79-AD1C-5EA7285A894D}"/>
              </a:ext>
            </a:extLst>
          </p:cNvPr>
          <p:cNvSpPr txBox="1"/>
          <p:nvPr/>
        </p:nvSpPr>
        <p:spPr>
          <a:xfrm>
            <a:off x="2119324" y="5191426"/>
            <a:ext cx="177833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Diet</a:t>
            </a:r>
          </a:p>
        </p:txBody>
      </p:sp>
      <p:pic>
        <p:nvPicPr>
          <p:cNvPr id="151" name="Arrow macrovacular disease" descr="Cursor with solid fill">
            <a:extLst>
              <a:ext uri="{FF2B5EF4-FFF2-40B4-BE49-F238E27FC236}">
                <a16:creationId xmlns:a16="http://schemas.microsoft.com/office/drawing/2014/main" id="{B7826A96-A224-44B6-B650-05CDD8D43D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5474995"/>
            <a:ext cx="301752" cy="30175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4F1A5C74-095A-42FB-A8C5-B7D97BAAE34F}"/>
              </a:ext>
            </a:extLst>
          </p:cNvPr>
          <p:cNvSpPr txBox="1"/>
          <p:nvPr/>
        </p:nvSpPr>
        <p:spPr>
          <a:xfrm>
            <a:off x="4021836" y="368734"/>
            <a:ext cx="822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Cost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42E1CE6-67D1-4351-8181-44C43BE3E21A}"/>
              </a:ext>
            </a:extLst>
          </p:cNvPr>
          <p:cNvSpPr txBox="1"/>
          <p:nvPr/>
        </p:nvSpPr>
        <p:spPr>
          <a:xfrm>
            <a:off x="4829779" y="368734"/>
            <a:ext cx="953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PO/SQ</a:t>
            </a:r>
          </a:p>
        </p:txBody>
      </p:sp>
      <p:sp>
        <p:nvSpPr>
          <p:cNvPr id="156" name="Surgery">
            <a:extLst>
              <a:ext uri="{FF2B5EF4-FFF2-40B4-BE49-F238E27FC236}">
                <a16:creationId xmlns:a16="http://schemas.microsoft.com/office/drawing/2014/main" id="{038407B8-7DBF-4064-8CDF-8EE0E2512977}"/>
              </a:ext>
            </a:extLst>
          </p:cNvPr>
          <p:cNvSpPr txBox="1"/>
          <p:nvPr/>
        </p:nvSpPr>
        <p:spPr>
          <a:xfrm>
            <a:off x="2119324" y="5898462"/>
            <a:ext cx="177833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</a:t>
            </a:r>
            <a:r>
              <a:rPr lang="en-US" b="1" dirty="0"/>
              <a:t>urgery</a:t>
            </a:r>
          </a:p>
        </p:txBody>
      </p:sp>
      <p:pic>
        <p:nvPicPr>
          <p:cNvPr id="157" name="Arrow macrovacular disease" descr="Cursor with solid fill">
            <a:extLst>
              <a:ext uri="{FF2B5EF4-FFF2-40B4-BE49-F238E27FC236}">
                <a16:creationId xmlns:a16="http://schemas.microsoft.com/office/drawing/2014/main" id="{4D02F17F-05C5-4C11-B048-7FBF2BB1C8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7419" y="6184824"/>
            <a:ext cx="301752" cy="301752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399A1497-DA71-4F17-87AE-FDFC1FC8164B}"/>
              </a:ext>
            </a:extLst>
          </p:cNvPr>
          <p:cNvSpPr txBox="1"/>
          <p:nvPr/>
        </p:nvSpPr>
        <p:spPr>
          <a:xfrm>
            <a:off x="5913566" y="368734"/>
            <a:ext cx="696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Wt</a:t>
            </a:r>
            <a:endParaRPr lang="en-US" sz="2000" b="1" dirty="0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9F6ACF5-320E-4128-81D1-5C0E4346C5D6}"/>
              </a:ext>
            </a:extLst>
          </p:cNvPr>
          <p:cNvCxnSpPr>
            <a:cxnSpLocks/>
          </p:cNvCxnSpPr>
          <p:nvPr/>
        </p:nvCxnSpPr>
        <p:spPr>
          <a:xfrm>
            <a:off x="6767862" y="273724"/>
            <a:ext cx="0" cy="6196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762623A-C933-4531-96A3-4CE5E37ECC3D}"/>
              </a:ext>
            </a:extLst>
          </p:cNvPr>
          <p:cNvCxnSpPr>
            <a:cxnSpLocks/>
          </p:cNvCxnSpPr>
          <p:nvPr/>
        </p:nvCxnSpPr>
        <p:spPr>
          <a:xfrm>
            <a:off x="8343878" y="273724"/>
            <a:ext cx="0" cy="6196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016F9B99-10BD-4C90-BE84-1FF9D1AE28CD}"/>
              </a:ext>
            </a:extLst>
          </p:cNvPr>
          <p:cNvSpPr txBox="1"/>
          <p:nvPr/>
        </p:nvSpPr>
        <p:spPr>
          <a:xfrm>
            <a:off x="7026425" y="146783"/>
            <a:ext cx="110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Cardiac 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75499AE-411B-43FF-96BF-3CC528F575E4}"/>
              </a:ext>
            </a:extLst>
          </p:cNvPr>
          <p:cNvSpPr txBox="1"/>
          <p:nvPr/>
        </p:nvSpPr>
        <p:spPr>
          <a:xfrm>
            <a:off x="8343543" y="368734"/>
            <a:ext cx="892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Renal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684886E-9A61-4377-9618-26416463ED72}"/>
              </a:ext>
            </a:extLst>
          </p:cNvPr>
          <p:cNvSpPr txBox="1"/>
          <p:nvPr/>
        </p:nvSpPr>
        <p:spPr>
          <a:xfrm>
            <a:off x="6802012" y="464379"/>
            <a:ext cx="81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HF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940B936-35CE-4326-9AD9-6CC1F36C91CA}"/>
              </a:ext>
            </a:extLst>
          </p:cNvPr>
          <p:cNvSpPr txBox="1"/>
          <p:nvPr/>
        </p:nvSpPr>
        <p:spPr>
          <a:xfrm>
            <a:off x="7523928" y="464379"/>
            <a:ext cx="81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CVD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E5878F1-08A1-46B6-A733-6AC8E8977540}"/>
              </a:ext>
            </a:extLst>
          </p:cNvPr>
          <p:cNvSpPr txBox="1"/>
          <p:nvPr/>
        </p:nvSpPr>
        <p:spPr>
          <a:xfrm>
            <a:off x="9403379" y="368734"/>
            <a:ext cx="1390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Side Effects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7D8173FE-F217-48E7-A164-B9DE1F1FDE43}"/>
              </a:ext>
            </a:extLst>
          </p:cNvPr>
          <p:cNvCxnSpPr>
            <a:cxnSpLocks/>
          </p:cNvCxnSpPr>
          <p:nvPr/>
        </p:nvCxnSpPr>
        <p:spPr>
          <a:xfrm>
            <a:off x="10959387" y="273724"/>
            <a:ext cx="0" cy="6197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2588C435-2DBA-4F13-8C03-496B5AD68D44}"/>
              </a:ext>
            </a:extLst>
          </p:cNvPr>
          <p:cNvSpPr txBox="1"/>
          <p:nvPr/>
        </p:nvSpPr>
        <p:spPr>
          <a:xfrm>
            <a:off x="10953982" y="368734"/>
            <a:ext cx="95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A1c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3FB0CE1-CB53-4768-A822-098708C4A045}"/>
              </a:ext>
            </a:extLst>
          </p:cNvPr>
          <p:cNvSpPr txBox="1"/>
          <p:nvPr/>
        </p:nvSpPr>
        <p:spPr>
          <a:xfrm>
            <a:off x="4120049" y="1056177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6BABAD8-092A-4F72-BECA-516D985B0230}"/>
              </a:ext>
            </a:extLst>
          </p:cNvPr>
          <p:cNvSpPr txBox="1"/>
          <p:nvPr/>
        </p:nvSpPr>
        <p:spPr>
          <a:xfrm>
            <a:off x="4110001" y="1924470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$$$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09F2596-8E3C-4CDE-AB76-0519C7761772}"/>
              </a:ext>
            </a:extLst>
          </p:cNvPr>
          <p:cNvSpPr txBox="1"/>
          <p:nvPr/>
        </p:nvSpPr>
        <p:spPr>
          <a:xfrm>
            <a:off x="4120049" y="2917686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$$$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F1FCD7E-D44A-4088-828A-C02CB328448F}"/>
              </a:ext>
            </a:extLst>
          </p:cNvPr>
          <p:cNvSpPr txBox="1"/>
          <p:nvPr/>
        </p:nvSpPr>
        <p:spPr>
          <a:xfrm>
            <a:off x="4120049" y="3860419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B1299C-CE0B-416A-8DE2-4AB1D63CB642}"/>
              </a:ext>
            </a:extLst>
          </p:cNvPr>
          <p:cNvSpPr txBox="1"/>
          <p:nvPr/>
        </p:nvSpPr>
        <p:spPr>
          <a:xfrm>
            <a:off x="4120049" y="4583592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A7D5FAD-1854-403A-878F-ABFAD703055F}"/>
              </a:ext>
            </a:extLst>
          </p:cNvPr>
          <p:cNvSpPr txBox="1"/>
          <p:nvPr/>
        </p:nvSpPr>
        <p:spPr>
          <a:xfrm>
            <a:off x="4120049" y="5258578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BA6D178-3FA6-4830-8B10-9C485CB31D4F}"/>
              </a:ext>
            </a:extLst>
          </p:cNvPr>
          <p:cNvSpPr txBox="1"/>
          <p:nvPr/>
        </p:nvSpPr>
        <p:spPr>
          <a:xfrm>
            <a:off x="4120049" y="5918107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$$$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81ED5E5-4765-4BE2-8AD0-FA0FD7393055}"/>
              </a:ext>
            </a:extLst>
          </p:cNvPr>
          <p:cNvCxnSpPr>
            <a:cxnSpLocks/>
          </p:cNvCxnSpPr>
          <p:nvPr/>
        </p:nvCxnSpPr>
        <p:spPr>
          <a:xfrm flipH="1">
            <a:off x="7543746" y="530123"/>
            <a:ext cx="7883" cy="59562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5A4F896-67F6-481B-BC77-4AED0FE30FF2}"/>
              </a:ext>
            </a:extLst>
          </p:cNvPr>
          <p:cNvCxnSpPr>
            <a:cxnSpLocks/>
          </p:cNvCxnSpPr>
          <p:nvPr/>
        </p:nvCxnSpPr>
        <p:spPr>
          <a:xfrm>
            <a:off x="2112832" y="1618709"/>
            <a:ext cx="9795775" cy="416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F6B224CA-16E1-45F2-B96E-688BE482A465}"/>
              </a:ext>
            </a:extLst>
          </p:cNvPr>
          <p:cNvCxnSpPr>
            <a:cxnSpLocks/>
          </p:cNvCxnSpPr>
          <p:nvPr/>
        </p:nvCxnSpPr>
        <p:spPr>
          <a:xfrm>
            <a:off x="2098471" y="2522038"/>
            <a:ext cx="9795778" cy="416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8CD6048-FB44-43A2-B859-6EE2391D9DAF}"/>
              </a:ext>
            </a:extLst>
          </p:cNvPr>
          <p:cNvCxnSpPr>
            <a:cxnSpLocks/>
          </p:cNvCxnSpPr>
          <p:nvPr/>
        </p:nvCxnSpPr>
        <p:spPr>
          <a:xfrm>
            <a:off x="2098470" y="3648067"/>
            <a:ext cx="9795779" cy="416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F862BB1-EAAE-4F63-9B6E-C5389980AE55}"/>
              </a:ext>
            </a:extLst>
          </p:cNvPr>
          <p:cNvCxnSpPr>
            <a:cxnSpLocks/>
          </p:cNvCxnSpPr>
          <p:nvPr/>
        </p:nvCxnSpPr>
        <p:spPr>
          <a:xfrm>
            <a:off x="2112830" y="5735632"/>
            <a:ext cx="9795779" cy="416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0078F491-85ED-41BD-B637-9D9C429142E2}"/>
              </a:ext>
            </a:extLst>
          </p:cNvPr>
          <p:cNvSpPr txBox="1"/>
          <p:nvPr/>
        </p:nvSpPr>
        <p:spPr>
          <a:xfrm>
            <a:off x="5003751" y="1056177"/>
            <a:ext cx="6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EBEE3DF-255C-49BC-A82F-587B930D35B3}"/>
              </a:ext>
            </a:extLst>
          </p:cNvPr>
          <p:cNvSpPr txBox="1"/>
          <p:nvPr/>
        </p:nvSpPr>
        <p:spPr>
          <a:xfrm>
            <a:off x="4788479" y="1924470"/>
            <a:ext cx="101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SQ/PO*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F10ECCE-A694-496D-8FF3-BBD7AC2499CF}"/>
              </a:ext>
            </a:extLst>
          </p:cNvPr>
          <p:cNvSpPr txBox="1"/>
          <p:nvPr/>
        </p:nvSpPr>
        <p:spPr>
          <a:xfrm>
            <a:off x="5864213" y="1056177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↔</a:t>
            </a:r>
            <a:endParaRPr lang="en-US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ABF70B1-753F-4D41-81F2-4A8E02BD7EDF}"/>
              </a:ext>
            </a:extLst>
          </p:cNvPr>
          <p:cNvSpPr txBox="1"/>
          <p:nvPr/>
        </p:nvSpPr>
        <p:spPr>
          <a:xfrm>
            <a:off x="5895432" y="1924470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B25BA26-F6F1-4D72-878E-135F31371761}"/>
              </a:ext>
            </a:extLst>
          </p:cNvPr>
          <p:cNvSpPr txBox="1"/>
          <p:nvPr/>
        </p:nvSpPr>
        <p:spPr>
          <a:xfrm>
            <a:off x="5891808" y="2917686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5B870A2-0342-4D22-AB50-4CD21A4DD03E}"/>
              </a:ext>
            </a:extLst>
          </p:cNvPr>
          <p:cNvSpPr txBox="1"/>
          <p:nvPr/>
        </p:nvSpPr>
        <p:spPr>
          <a:xfrm>
            <a:off x="4880353" y="2917686"/>
            <a:ext cx="85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</a:t>
            </a: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BB7781FB-6F56-4448-84A0-EAD0548DBD3B}"/>
              </a:ext>
            </a:extLst>
          </p:cNvPr>
          <p:cNvCxnSpPr>
            <a:cxnSpLocks/>
          </p:cNvCxnSpPr>
          <p:nvPr/>
        </p:nvCxnSpPr>
        <p:spPr>
          <a:xfrm>
            <a:off x="2112831" y="5075821"/>
            <a:ext cx="9795779" cy="416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76D6A9E-EF00-4ADB-A9C2-8D03129C2F9D}"/>
              </a:ext>
            </a:extLst>
          </p:cNvPr>
          <p:cNvCxnSpPr>
            <a:cxnSpLocks/>
          </p:cNvCxnSpPr>
          <p:nvPr/>
        </p:nvCxnSpPr>
        <p:spPr>
          <a:xfrm>
            <a:off x="2098470" y="4458286"/>
            <a:ext cx="9855230" cy="4194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3BD7E42D-E35C-4735-B80A-B1755B877D24}"/>
              </a:ext>
            </a:extLst>
          </p:cNvPr>
          <p:cNvSpPr txBox="1"/>
          <p:nvPr/>
        </p:nvSpPr>
        <p:spPr>
          <a:xfrm>
            <a:off x="5882285" y="3860419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↑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112DB51-7BE6-4AA1-AD2E-63A8C5436E2E}"/>
              </a:ext>
            </a:extLst>
          </p:cNvPr>
          <p:cNvSpPr txBox="1"/>
          <p:nvPr/>
        </p:nvSpPr>
        <p:spPr>
          <a:xfrm>
            <a:off x="5885017" y="4583592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↑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494DB9A-94D0-404A-A866-0E7EB358AC10}"/>
              </a:ext>
            </a:extLst>
          </p:cNvPr>
          <p:cNvCxnSpPr>
            <a:cxnSpLocks/>
          </p:cNvCxnSpPr>
          <p:nvPr/>
        </p:nvCxnSpPr>
        <p:spPr>
          <a:xfrm>
            <a:off x="4049171" y="273724"/>
            <a:ext cx="0" cy="6193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8D194B4-5F5E-4FE5-AA3F-7531F651B258}"/>
              </a:ext>
            </a:extLst>
          </p:cNvPr>
          <p:cNvSpPr txBox="1"/>
          <p:nvPr/>
        </p:nvSpPr>
        <p:spPr>
          <a:xfrm>
            <a:off x="9206650" y="1693638"/>
            <a:ext cx="1775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Thyroid ca</a:t>
            </a:r>
          </a:p>
          <a:p>
            <a:pPr algn="ctr"/>
            <a:r>
              <a:rPr lang="en-US" sz="1600" dirty="0"/>
              <a:t>Pancreatitis</a:t>
            </a:r>
          </a:p>
          <a:p>
            <a:pPr algn="ctr"/>
            <a:r>
              <a:rPr lang="en-US" sz="1600" dirty="0"/>
              <a:t>GI upset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04F6E6C-4ACA-409C-9266-A74AA0127D4E}"/>
              </a:ext>
            </a:extLst>
          </p:cNvPr>
          <p:cNvSpPr txBox="1"/>
          <p:nvPr/>
        </p:nvSpPr>
        <p:spPr>
          <a:xfrm>
            <a:off x="11028239" y="1924470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↓↓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823EE26-C4B0-424D-B8BD-3BC99C532592}"/>
              </a:ext>
            </a:extLst>
          </p:cNvPr>
          <p:cNvSpPr txBox="1"/>
          <p:nvPr/>
        </p:nvSpPr>
        <p:spPr>
          <a:xfrm>
            <a:off x="6803633" y="1056177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610FE63-0969-4A35-B70D-D7B48DD122FE}"/>
              </a:ext>
            </a:extLst>
          </p:cNvPr>
          <p:cNvSpPr txBox="1"/>
          <p:nvPr/>
        </p:nvSpPr>
        <p:spPr>
          <a:xfrm>
            <a:off x="6793585" y="1924470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93C8341-06E5-4745-AD3B-DB6001161586}"/>
              </a:ext>
            </a:extLst>
          </p:cNvPr>
          <p:cNvSpPr txBox="1"/>
          <p:nvPr/>
        </p:nvSpPr>
        <p:spPr>
          <a:xfrm>
            <a:off x="9254546" y="948456"/>
            <a:ext cx="1680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 upset</a:t>
            </a:r>
          </a:p>
          <a:p>
            <a:pPr algn="ctr"/>
            <a:r>
              <a:rPr lang="en-US" sz="1600" dirty="0"/>
              <a:t>Avoid in GFR&lt;</a:t>
            </a:r>
            <a:r>
              <a:rPr lang="en-US" altLang="zh-CN" sz="1600" dirty="0"/>
              <a:t>30</a:t>
            </a:r>
            <a:endParaRPr lang="en-US" sz="16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499D86-F77C-45B5-8FF9-537C7106C25F}"/>
              </a:ext>
            </a:extLst>
          </p:cNvPr>
          <p:cNvSpPr txBox="1"/>
          <p:nvPr/>
        </p:nvSpPr>
        <p:spPr>
          <a:xfrm>
            <a:off x="4882081" y="3860419"/>
            <a:ext cx="85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E6822E-06F1-4B0B-9856-39D62F5EF2C4}"/>
              </a:ext>
            </a:extLst>
          </p:cNvPr>
          <p:cNvSpPr txBox="1"/>
          <p:nvPr/>
        </p:nvSpPr>
        <p:spPr>
          <a:xfrm>
            <a:off x="4875088" y="4583592"/>
            <a:ext cx="85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SQ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BD53A7E-AF5D-4D7D-854F-B0093A2D56CD}"/>
              </a:ext>
            </a:extLst>
          </p:cNvPr>
          <p:cNvSpPr txBox="1"/>
          <p:nvPr/>
        </p:nvSpPr>
        <p:spPr>
          <a:xfrm>
            <a:off x="4931184" y="5258578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EE90C0-FAEE-428D-A721-7C89F373025A}"/>
              </a:ext>
            </a:extLst>
          </p:cNvPr>
          <p:cNvSpPr txBox="1"/>
          <p:nvPr/>
        </p:nvSpPr>
        <p:spPr>
          <a:xfrm>
            <a:off x="4922899" y="5918107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916067-3753-446B-9731-629D4FB62FB5}"/>
              </a:ext>
            </a:extLst>
          </p:cNvPr>
          <p:cNvSpPr txBox="1"/>
          <p:nvPr/>
        </p:nvSpPr>
        <p:spPr>
          <a:xfrm>
            <a:off x="5884216" y="5258578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558E7D-B25E-47F2-9B9F-4ED4E61D46AD}"/>
              </a:ext>
            </a:extLst>
          </p:cNvPr>
          <p:cNvSpPr txBox="1"/>
          <p:nvPr/>
        </p:nvSpPr>
        <p:spPr>
          <a:xfrm>
            <a:off x="5877115" y="5918107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10CD72F-941C-4BF7-BB41-72C69999C490}"/>
              </a:ext>
            </a:extLst>
          </p:cNvPr>
          <p:cNvSpPr txBox="1"/>
          <p:nvPr/>
        </p:nvSpPr>
        <p:spPr>
          <a:xfrm>
            <a:off x="6803633" y="3860419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629AE9-D9B3-4485-BE2C-738B2FB2D203}"/>
              </a:ext>
            </a:extLst>
          </p:cNvPr>
          <p:cNvSpPr txBox="1"/>
          <p:nvPr/>
        </p:nvSpPr>
        <p:spPr>
          <a:xfrm>
            <a:off x="7590276" y="3860419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2E83B1F-BD9C-487E-9534-248D22AF6775}"/>
              </a:ext>
            </a:extLst>
          </p:cNvPr>
          <p:cNvSpPr txBox="1"/>
          <p:nvPr/>
        </p:nvSpPr>
        <p:spPr>
          <a:xfrm>
            <a:off x="8447780" y="3860419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448DC85-4F11-4AE0-8167-F6CEDBABE0CD}"/>
              </a:ext>
            </a:extLst>
          </p:cNvPr>
          <p:cNvSpPr txBox="1"/>
          <p:nvPr/>
        </p:nvSpPr>
        <p:spPr>
          <a:xfrm>
            <a:off x="6803633" y="4583592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0923CE9-5AA3-4881-9622-1D4B70814C30}"/>
              </a:ext>
            </a:extLst>
          </p:cNvPr>
          <p:cNvSpPr txBox="1"/>
          <p:nvPr/>
        </p:nvSpPr>
        <p:spPr>
          <a:xfrm>
            <a:off x="7590276" y="4583592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463389-B3DF-4BE7-9036-639AF9F56CFB}"/>
              </a:ext>
            </a:extLst>
          </p:cNvPr>
          <p:cNvSpPr txBox="1"/>
          <p:nvPr/>
        </p:nvSpPr>
        <p:spPr>
          <a:xfrm>
            <a:off x="8447780" y="4583592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284CF0F-A2EC-4552-84CA-DD913C64037B}"/>
              </a:ext>
            </a:extLst>
          </p:cNvPr>
          <p:cNvSpPr txBox="1"/>
          <p:nvPr/>
        </p:nvSpPr>
        <p:spPr>
          <a:xfrm>
            <a:off x="6803633" y="5258578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D9BC360-AD8E-4A58-A1C1-9EB09E1ECD67}"/>
              </a:ext>
            </a:extLst>
          </p:cNvPr>
          <p:cNvSpPr txBox="1"/>
          <p:nvPr/>
        </p:nvSpPr>
        <p:spPr>
          <a:xfrm>
            <a:off x="7590276" y="5258578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5EC65E6-696C-4D6A-A526-7A82A162A88C}"/>
              </a:ext>
            </a:extLst>
          </p:cNvPr>
          <p:cNvSpPr txBox="1"/>
          <p:nvPr/>
        </p:nvSpPr>
        <p:spPr>
          <a:xfrm>
            <a:off x="8447780" y="5258578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C4097F5-FAFF-42C4-88D7-71AE970BFB59}"/>
              </a:ext>
            </a:extLst>
          </p:cNvPr>
          <p:cNvSpPr txBox="1"/>
          <p:nvPr/>
        </p:nvSpPr>
        <p:spPr>
          <a:xfrm>
            <a:off x="9218139" y="2563743"/>
            <a:ext cx="1746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Hypotension</a:t>
            </a:r>
          </a:p>
          <a:p>
            <a:pPr algn="ctr"/>
            <a:r>
              <a:rPr lang="en-US" sz="1600" dirty="0"/>
              <a:t>DKA</a:t>
            </a:r>
          </a:p>
          <a:p>
            <a:pPr algn="ctr"/>
            <a:r>
              <a:rPr lang="en-US" sz="1600" dirty="0"/>
              <a:t>Amputations</a:t>
            </a:r>
          </a:p>
          <a:p>
            <a:pPr algn="ctr"/>
            <a:r>
              <a:rPr lang="en-US" sz="1600" dirty="0"/>
              <a:t>Fournier’s, UTIs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1FCA33-3C61-4793-9C4B-75E2BF2E8CCE}"/>
              </a:ext>
            </a:extLst>
          </p:cNvPr>
          <p:cNvSpPr txBox="1"/>
          <p:nvPr/>
        </p:nvSpPr>
        <p:spPr>
          <a:xfrm>
            <a:off x="11038287" y="1056177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↓↓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0B6F6DD-16FB-42E0-96AE-EA5F8F9580E9}"/>
              </a:ext>
            </a:extLst>
          </p:cNvPr>
          <p:cNvSpPr txBox="1"/>
          <p:nvPr/>
        </p:nvSpPr>
        <p:spPr>
          <a:xfrm>
            <a:off x="11038287" y="2917686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6F2990F-DF6B-4E77-B07E-260539F71CC9}"/>
              </a:ext>
            </a:extLst>
          </p:cNvPr>
          <p:cNvSpPr txBox="1"/>
          <p:nvPr/>
        </p:nvSpPr>
        <p:spPr>
          <a:xfrm>
            <a:off x="11038287" y="3860419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↓↓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F4DD1C5-8CF0-41AD-8F1C-7F457549D435}"/>
              </a:ext>
            </a:extLst>
          </p:cNvPr>
          <p:cNvSpPr txBox="1"/>
          <p:nvPr/>
        </p:nvSpPr>
        <p:spPr>
          <a:xfrm>
            <a:off x="11020053" y="4583592"/>
            <a:ext cx="83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↓↓↓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45E1A24-3D59-42D6-8661-B5D00A865216}"/>
              </a:ext>
            </a:extLst>
          </p:cNvPr>
          <p:cNvSpPr txBox="1"/>
          <p:nvPr/>
        </p:nvSpPr>
        <p:spPr>
          <a:xfrm>
            <a:off x="11038287" y="5258578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74F455C-6C28-4CFB-9460-46AFF91E10A1}"/>
              </a:ext>
            </a:extLst>
          </p:cNvPr>
          <p:cNvSpPr txBox="1"/>
          <p:nvPr/>
        </p:nvSpPr>
        <p:spPr>
          <a:xfrm>
            <a:off x="11038287" y="5918107"/>
            <a:ext cx="79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↓↓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B5A10E5-918A-4164-876F-4E07D9A58BA8}"/>
              </a:ext>
            </a:extLst>
          </p:cNvPr>
          <p:cNvSpPr txBox="1"/>
          <p:nvPr/>
        </p:nvSpPr>
        <p:spPr>
          <a:xfrm>
            <a:off x="9230915" y="3669779"/>
            <a:ext cx="1746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Hypoglycemia</a:t>
            </a:r>
          </a:p>
          <a:p>
            <a:pPr algn="ctr"/>
            <a:r>
              <a:rPr lang="en-US" sz="1600" dirty="0"/>
              <a:t>No glyburide in CKD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7E59B2-0315-49F9-8288-8485E427CCD7}"/>
              </a:ext>
            </a:extLst>
          </p:cNvPr>
          <p:cNvGrpSpPr/>
          <p:nvPr/>
        </p:nvGrpSpPr>
        <p:grpSpPr>
          <a:xfrm>
            <a:off x="7661528" y="966561"/>
            <a:ext cx="548564" cy="548564"/>
            <a:chOff x="7657551" y="991829"/>
            <a:chExt cx="548564" cy="548564"/>
          </a:xfrm>
        </p:grpSpPr>
        <p:pic>
          <p:nvPicPr>
            <p:cNvPr id="15" name="Graphic 14" descr="Heart with solid fill">
              <a:extLst>
                <a:ext uri="{FF2B5EF4-FFF2-40B4-BE49-F238E27FC236}">
                  <a16:creationId xmlns:a16="http://schemas.microsoft.com/office/drawing/2014/main" id="{EB9F1B3E-4B33-41F1-BC20-36E101F8A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57551" y="991829"/>
              <a:ext cx="548564" cy="54856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75387C-D848-4E3B-85BD-176D7C737683}"/>
                </a:ext>
              </a:extLst>
            </p:cNvPr>
            <p:cNvSpPr txBox="1"/>
            <p:nvPr/>
          </p:nvSpPr>
          <p:spPr>
            <a:xfrm>
              <a:off x="7786858" y="1091326"/>
              <a:ext cx="3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B8C5979-BB3E-470B-BEF5-AD2BA236FC2A}"/>
              </a:ext>
            </a:extLst>
          </p:cNvPr>
          <p:cNvGrpSpPr/>
          <p:nvPr/>
        </p:nvGrpSpPr>
        <p:grpSpPr>
          <a:xfrm>
            <a:off x="7661528" y="5828491"/>
            <a:ext cx="548564" cy="548564"/>
            <a:chOff x="7657551" y="991829"/>
            <a:chExt cx="548564" cy="548564"/>
          </a:xfrm>
        </p:grpSpPr>
        <p:pic>
          <p:nvPicPr>
            <p:cNvPr id="136" name="Graphic 135" descr="Heart with solid fill">
              <a:extLst>
                <a:ext uri="{FF2B5EF4-FFF2-40B4-BE49-F238E27FC236}">
                  <a16:creationId xmlns:a16="http://schemas.microsoft.com/office/drawing/2014/main" id="{12C1D1E5-51D0-4FA9-9414-8AEBAC1C8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57551" y="991829"/>
              <a:ext cx="548564" cy="548564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2993A34-10A9-4D2C-82F5-9F74DAA45C4B}"/>
                </a:ext>
              </a:extLst>
            </p:cNvPr>
            <p:cNvSpPr txBox="1"/>
            <p:nvPr/>
          </p:nvSpPr>
          <p:spPr>
            <a:xfrm>
              <a:off x="7786858" y="1091326"/>
              <a:ext cx="3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BD2729C-CBE3-4D19-8FDA-C16CA702A563}"/>
              </a:ext>
            </a:extLst>
          </p:cNvPr>
          <p:cNvGrpSpPr/>
          <p:nvPr/>
        </p:nvGrpSpPr>
        <p:grpSpPr>
          <a:xfrm>
            <a:off x="7651480" y="1834854"/>
            <a:ext cx="548564" cy="548564"/>
            <a:chOff x="7657551" y="991829"/>
            <a:chExt cx="548564" cy="548564"/>
          </a:xfrm>
        </p:grpSpPr>
        <p:pic>
          <p:nvPicPr>
            <p:cNvPr id="152" name="Graphic 151" descr="Heart with solid fill">
              <a:extLst>
                <a:ext uri="{FF2B5EF4-FFF2-40B4-BE49-F238E27FC236}">
                  <a16:creationId xmlns:a16="http://schemas.microsoft.com/office/drawing/2014/main" id="{4EEA1C42-0E08-4BF2-96AE-3ED9AB96F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57551" y="991829"/>
              <a:ext cx="548564" cy="548564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44E196B-3CB6-49CA-BA19-230898C77DF1}"/>
                </a:ext>
              </a:extLst>
            </p:cNvPr>
            <p:cNvSpPr txBox="1"/>
            <p:nvPr/>
          </p:nvSpPr>
          <p:spPr>
            <a:xfrm>
              <a:off x="7786858" y="1091326"/>
              <a:ext cx="3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8B331EE-00D9-4DD9-9A19-E59D4037A5E9}"/>
              </a:ext>
            </a:extLst>
          </p:cNvPr>
          <p:cNvGrpSpPr/>
          <p:nvPr/>
        </p:nvGrpSpPr>
        <p:grpSpPr>
          <a:xfrm>
            <a:off x="7661528" y="2828070"/>
            <a:ext cx="548564" cy="548564"/>
            <a:chOff x="7657551" y="991829"/>
            <a:chExt cx="548564" cy="548564"/>
          </a:xfrm>
        </p:grpSpPr>
        <p:pic>
          <p:nvPicPr>
            <p:cNvPr id="162" name="Graphic 161" descr="Heart with solid fill">
              <a:extLst>
                <a:ext uri="{FF2B5EF4-FFF2-40B4-BE49-F238E27FC236}">
                  <a16:creationId xmlns:a16="http://schemas.microsoft.com/office/drawing/2014/main" id="{162E0940-76CF-4561-8D4D-1C08687EB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57551" y="991829"/>
              <a:ext cx="548564" cy="548564"/>
            </a:xfrm>
            <a:prstGeom prst="rect">
              <a:avLst/>
            </a:prstGeom>
          </p:spPr>
        </p:pic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1F63F29-6210-4A1F-AC65-1C3E32CE6EBF}"/>
                </a:ext>
              </a:extLst>
            </p:cNvPr>
            <p:cNvSpPr txBox="1"/>
            <p:nvPr/>
          </p:nvSpPr>
          <p:spPr>
            <a:xfrm>
              <a:off x="7786858" y="1091326"/>
              <a:ext cx="3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7A78250-3CB8-4F86-9BBF-48234866AD2E}"/>
              </a:ext>
            </a:extLst>
          </p:cNvPr>
          <p:cNvGrpSpPr/>
          <p:nvPr/>
        </p:nvGrpSpPr>
        <p:grpSpPr>
          <a:xfrm>
            <a:off x="6874885" y="2828070"/>
            <a:ext cx="548564" cy="548564"/>
            <a:chOff x="7657551" y="991829"/>
            <a:chExt cx="548564" cy="548564"/>
          </a:xfrm>
        </p:grpSpPr>
        <p:pic>
          <p:nvPicPr>
            <p:cNvPr id="165" name="Graphic 164" descr="Heart with solid fill">
              <a:extLst>
                <a:ext uri="{FF2B5EF4-FFF2-40B4-BE49-F238E27FC236}">
                  <a16:creationId xmlns:a16="http://schemas.microsoft.com/office/drawing/2014/main" id="{820BC3EE-4DED-457B-8B0B-313A622DA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57551" y="991829"/>
              <a:ext cx="548564" cy="548564"/>
            </a:xfrm>
            <a:prstGeom prst="rect">
              <a:avLst/>
            </a:prstGeom>
          </p:spPr>
        </p:pic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E3D3E7F-6C87-4588-9D41-DEFF3D526A37}"/>
                </a:ext>
              </a:extLst>
            </p:cNvPr>
            <p:cNvSpPr txBox="1"/>
            <p:nvPr/>
          </p:nvSpPr>
          <p:spPr>
            <a:xfrm>
              <a:off x="7786858" y="1091326"/>
              <a:ext cx="373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19" name="Graphic 18" descr="Kidneys with solid fill">
            <a:extLst>
              <a:ext uri="{FF2B5EF4-FFF2-40B4-BE49-F238E27FC236}">
                <a16:creationId xmlns:a16="http://schemas.microsoft.com/office/drawing/2014/main" id="{8C91D106-B9D4-47CB-A7C2-1828B8E2E1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9379" y="2778417"/>
            <a:ext cx="647871" cy="647871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35AA9D6F-CCF4-432A-AAF3-A78EA98AD022}"/>
              </a:ext>
            </a:extLst>
          </p:cNvPr>
          <p:cNvSpPr txBox="1"/>
          <p:nvPr/>
        </p:nvSpPr>
        <p:spPr>
          <a:xfrm>
            <a:off x="9230915" y="4598981"/>
            <a:ext cx="1746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Hypoglycemia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B48A819-E2A3-443F-BE1C-37600D7482B3}"/>
              </a:ext>
            </a:extLst>
          </p:cNvPr>
          <p:cNvSpPr txBox="1"/>
          <p:nvPr/>
        </p:nvSpPr>
        <p:spPr>
          <a:xfrm>
            <a:off x="9268802" y="5150857"/>
            <a:ext cx="165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High relapse rates 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304288D-2CA6-402D-8D46-29345F150304}"/>
              </a:ext>
            </a:extLst>
          </p:cNvPr>
          <p:cNvSpPr txBox="1"/>
          <p:nvPr/>
        </p:nvSpPr>
        <p:spPr>
          <a:xfrm>
            <a:off x="9268802" y="5810386"/>
            <a:ext cx="1652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High relapse rates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9E34665-BBEF-4C07-85CD-8EEFCE19BDC1}"/>
              </a:ext>
            </a:extLst>
          </p:cNvPr>
          <p:cNvSpPr txBox="1"/>
          <p:nvPr/>
        </p:nvSpPr>
        <p:spPr>
          <a:xfrm>
            <a:off x="6803633" y="5918107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92F2FAA-9BC0-4FAB-A4D8-FB5DC966AA49}"/>
              </a:ext>
            </a:extLst>
          </p:cNvPr>
          <p:cNvSpPr txBox="1"/>
          <p:nvPr/>
        </p:nvSpPr>
        <p:spPr>
          <a:xfrm>
            <a:off x="8447780" y="5918107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AADB909-ACD3-4077-9E6B-91AD1E4FD68E}"/>
              </a:ext>
            </a:extLst>
          </p:cNvPr>
          <p:cNvSpPr txBox="1"/>
          <p:nvPr/>
        </p:nvSpPr>
        <p:spPr>
          <a:xfrm>
            <a:off x="8447780" y="1056177"/>
            <a:ext cx="6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dirty="0"/>
          </a:p>
        </p:txBody>
      </p:sp>
      <p:sp>
        <p:nvSpPr>
          <p:cNvPr id="212" name="Metformin final">
            <a:extLst>
              <a:ext uri="{FF2B5EF4-FFF2-40B4-BE49-F238E27FC236}">
                <a16:creationId xmlns:a16="http://schemas.microsoft.com/office/drawing/2014/main" id="{9A743C6C-68B3-4187-87B8-7062B71C98BB}"/>
              </a:ext>
            </a:extLst>
          </p:cNvPr>
          <p:cNvSpPr txBox="1"/>
          <p:nvPr/>
        </p:nvSpPr>
        <p:spPr>
          <a:xfrm>
            <a:off x="2164507" y="1035360"/>
            <a:ext cx="168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Metformin</a:t>
            </a:r>
            <a:endParaRPr lang="en-US" b="1" dirty="0"/>
          </a:p>
        </p:txBody>
      </p:sp>
      <p:sp>
        <p:nvSpPr>
          <p:cNvPr id="213" name="GLP-1 agonist final">
            <a:extLst>
              <a:ext uri="{FF2B5EF4-FFF2-40B4-BE49-F238E27FC236}">
                <a16:creationId xmlns:a16="http://schemas.microsoft.com/office/drawing/2014/main" id="{7649948A-65EF-415B-AC5A-0C1E78223CB8}"/>
              </a:ext>
            </a:extLst>
          </p:cNvPr>
          <p:cNvSpPr txBox="1"/>
          <p:nvPr/>
        </p:nvSpPr>
        <p:spPr>
          <a:xfrm>
            <a:off x="1962268" y="1659624"/>
            <a:ext cx="2097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Liraglutide, </a:t>
            </a:r>
            <a:r>
              <a:rPr lang="en-US" sz="1600" b="1" dirty="0" err="1"/>
              <a:t>dulaglutide</a:t>
            </a:r>
            <a:r>
              <a:rPr lang="en-US" sz="1600" b="1" dirty="0"/>
              <a:t>, exenatide</a:t>
            </a:r>
          </a:p>
          <a:p>
            <a:pPr algn="ctr"/>
            <a:r>
              <a:rPr lang="en-US" sz="1600" b="1" dirty="0" err="1"/>
              <a:t>Semaglutide</a:t>
            </a:r>
            <a:r>
              <a:rPr lang="en-US" sz="1600" b="1" dirty="0"/>
              <a:t>*</a:t>
            </a:r>
          </a:p>
        </p:txBody>
      </p:sp>
      <p:sp>
        <p:nvSpPr>
          <p:cNvPr id="214" name="SGLT2 final">
            <a:extLst>
              <a:ext uri="{FF2B5EF4-FFF2-40B4-BE49-F238E27FC236}">
                <a16:creationId xmlns:a16="http://schemas.microsoft.com/office/drawing/2014/main" id="{5D8C4659-9B28-428B-9DF8-6CFD0A22C931}"/>
              </a:ext>
            </a:extLst>
          </p:cNvPr>
          <p:cNvSpPr txBox="1"/>
          <p:nvPr/>
        </p:nvSpPr>
        <p:spPr>
          <a:xfrm>
            <a:off x="2188066" y="2660274"/>
            <a:ext cx="1588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Canagliflozin, dapagliflozin, empagliflozin</a:t>
            </a:r>
          </a:p>
        </p:txBody>
      </p:sp>
      <p:sp>
        <p:nvSpPr>
          <p:cNvPr id="217" name="SU final">
            <a:extLst>
              <a:ext uri="{FF2B5EF4-FFF2-40B4-BE49-F238E27FC236}">
                <a16:creationId xmlns:a16="http://schemas.microsoft.com/office/drawing/2014/main" id="{CA2AB8A8-3179-410B-8872-C927404C9BA9}"/>
              </a:ext>
            </a:extLst>
          </p:cNvPr>
          <p:cNvSpPr txBox="1"/>
          <p:nvPr/>
        </p:nvSpPr>
        <p:spPr>
          <a:xfrm>
            <a:off x="2022361" y="3752698"/>
            <a:ext cx="1930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Glipizide, glyburide, glimepiride</a:t>
            </a:r>
          </a:p>
        </p:txBody>
      </p:sp>
      <p:sp>
        <p:nvSpPr>
          <p:cNvPr id="218" name="Insulin final">
            <a:extLst>
              <a:ext uri="{FF2B5EF4-FFF2-40B4-BE49-F238E27FC236}">
                <a16:creationId xmlns:a16="http://schemas.microsoft.com/office/drawing/2014/main" id="{9B16F168-B103-49BD-8867-7E35F32E86B9}"/>
              </a:ext>
            </a:extLst>
          </p:cNvPr>
          <p:cNvSpPr txBox="1"/>
          <p:nvPr/>
        </p:nvSpPr>
        <p:spPr>
          <a:xfrm>
            <a:off x="2172274" y="4475871"/>
            <a:ext cx="1696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Glargine, NPH, Lispro, </a:t>
            </a:r>
            <a:r>
              <a:rPr lang="en-US" altLang="zh-CN" sz="1600" b="1" dirty="0" err="1"/>
              <a:t>Aspart</a:t>
            </a:r>
            <a:endParaRPr lang="en-US" altLang="zh-CN" sz="1600" b="1" dirty="0"/>
          </a:p>
        </p:txBody>
      </p:sp>
      <p:sp>
        <p:nvSpPr>
          <p:cNvPr id="243" name="Diet final">
            <a:extLst>
              <a:ext uri="{FF2B5EF4-FFF2-40B4-BE49-F238E27FC236}">
                <a16:creationId xmlns:a16="http://schemas.microsoft.com/office/drawing/2014/main" id="{FF81C3CA-8FD1-447A-917D-F162A1C2E98D}"/>
              </a:ext>
            </a:extLst>
          </p:cNvPr>
          <p:cNvSpPr txBox="1"/>
          <p:nvPr/>
        </p:nvSpPr>
        <p:spPr>
          <a:xfrm>
            <a:off x="2172274" y="5213125"/>
            <a:ext cx="168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Diet</a:t>
            </a:r>
            <a:endParaRPr lang="en-US" b="1" dirty="0"/>
          </a:p>
        </p:txBody>
      </p:sp>
      <p:sp>
        <p:nvSpPr>
          <p:cNvPr id="244" name="Surgery final">
            <a:extLst>
              <a:ext uri="{FF2B5EF4-FFF2-40B4-BE49-F238E27FC236}">
                <a16:creationId xmlns:a16="http://schemas.microsoft.com/office/drawing/2014/main" id="{5E8193C5-A371-4644-BAE5-0E44664E57F7}"/>
              </a:ext>
            </a:extLst>
          </p:cNvPr>
          <p:cNvSpPr txBox="1"/>
          <p:nvPr/>
        </p:nvSpPr>
        <p:spPr>
          <a:xfrm>
            <a:off x="2164507" y="5911750"/>
            <a:ext cx="168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Surgery</a:t>
            </a:r>
            <a:endParaRPr lang="en-US" b="1" dirty="0"/>
          </a:p>
        </p:txBody>
      </p:sp>
      <p:pic>
        <p:nvPicPr>
          <p:cNvPr id="122" name="Graphic 121" descr="Kidneys with solid fill">
            <a:extLst>
              <a:ext uri="{FF2B5EF4-FFF2-40B4-BE49-F238E27FC236}">
                <a16:creationId xmlns:a16="http://schemas.microsoft.com/office/drawing/2014/main" id="{25F77AAC-49B7-4A52-95F6-4E1089928D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2346" y="1807573"/>
            <a:ext cx="647871" cy="647871"/>
          </a:xfrm>
          <a:prstGeom prst="rect">
            <a:avLst/>
          </a:prstGeom>
        </p:spPr>
      </p:pic>
      <p:sp>
        <p:nvSpPr>
          <p:cNvPr id="125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7705F26F-7F4A-4C80-8241-BDB44CE25A65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7C23CEE4-0EAC-423B-8CA7-3D469785506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454" y="2762315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1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</p:childTnLst>
        </p:cTn>
      </p:par>
    </p:tnLst>
    <p:bldLst>
      <p:bldP spid="140" grpId="0" animBg="1"/>
      <p:bldP spid="142" grpId="0" animBg="1"/>
      <p:bldP spid="144" grpId="0" animBg="1"/>
      <p:bldP spid="146" grpId="0" animBg="1"/>
      <p:bldP spid="148" grpId="0" animBg="1"/>
      <p:bldP spid="150" grpId="0" animBg="1"/>
      <p:bldP spid="156" grpId="0" animBg="1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94" grpId="0"/>
      <p:bldP spid="195" grpId="0"/>
      <p:bldP spid="196" grpId="0"/>
      <p:bldP spid="197" grpId="0"/>
      <p:bldP spid="198" grpId="0"/>
      <p:bldP spid="199" grpId="0"/>
      <p:bldP spid="210" grpId="0"/>
      <p:bldP spid="211" grpId="0"/>
      <p:bldP spid="222" grpId="0"/>
      <p:bldP spid="223" grpId="0"/>
      <p:bldP spid="224" grpId="0"/>
      <p:bldP spid="225" grpId="0"/>
      <p:bldP spid="242" grpId="0"/>
      <p:bldP spid="97" grpId="0"/>
      <p:bldP spid="98" grpId="0"/>
      <p:bldP spid="99" grpId="0"/>
      <p:bldP spid="100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8" grpId="0"/>
      <p:bldP spid="119" grpId="0"/>
      <p:bldP spid="120" grpId="0"/>
      <p:bldP spid="121" grpId="0"/>
      <p:bldP spid="185" grpId="0"/>
      <p:bldP spid="186" grpId="0"/>
      <p:bldP spid="187" grpId="0"/>
      <p:bldP spid="188" grpId="0"/>
      <p:bldP spid="189" grpId="0"/>
      <p:bldP spid="203" grpId="0"/>
      <p:bldP spid="212" grpId="0"/>
      <p:bldP spid="213" grpId="0"/>
      <p:bldP spid="214" grpId="0"/>
      <p:bldP spid="217" grpId="0"/>
      <p:bldP spid="218" grpId="0"/>
      <p:bldP spid="243" grpId="0"/>
      <p:bldP spid="2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5084431" y="198720"/>
            <a:ext cx="0" cy="646055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2480763" y="129524"/>
            <a:ext cx="1980371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3" name="Case 1 text">
            <a:extLst>
              <a:ext uri="{FF2B5EF4-FFF2-40B4-BE49-F238E27FC236}">
                <a16:creationId xmlns:a16="http://schemas.microsoft.com/office/drawing/2014/main" id="{28FAF219-B0F0-4D6F-A011-8C6E213E6DC1}"/>
              </a:ext>
            </a:extLst>
          </p:cNvPr>
          <p:cNvSpPr txBox="1"/>
          <p:nvPr/>
        </p:nvSpPr>
        <p:spPr>
          <a:xfrm>
            <a:off x="2046948" y="661986"/>
            <a:ext cx="3026458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Would you screen the following </a:t>
            </a:r>
            <a:r>
              <a:rPr lang="en-US" sz="1500" u="sng" dirty="0">
                <a:ea typeface="+mn-lt"/>
                <a:cs typeface="+mn-lt"/>
              </a:rPr>
              <a:t>asymptomatic</a:t>
            </a:r>
            <a:r>
              <a:rPr lang="en-US" sz="1500" dirty="0">
                <a:ea typeface="+mn-lt"/>
                <a:cs typeface="+mn-lt"/>
              </a:rPr>
              <a:t> patients for diabetes? </a:t>
            </a:r>
          </a:p>
        </p:txBody>
      </p:sp>
      <p:sp>
        <p:nvSpPr>
          <p:cNvPr id="29" name="Case 1 - Q4">
            <a:extLst>
              <a:ext uri="{FF2B5EF4-FFF2-40B4-BE49-F238E27FC236}">
                <a16:creationId xmlns:a16="http://schemas.microsoft.com/office/drawing/2014/main" id="{A878A616-CFBF-4671-8D20-04B6C3DBC423}"/>
              </a:ext>
            </a:extLst>
          </p:cNvPr>
          <p:cNvSpPr/>
          <p:nvPr/>
        </p:nvSpPr>
        <p:spPr>
          <a:xfrm>
            <a:off x="2071895" y="2566423"/>
            <a:ext cx="2842490" cy="625792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33 yo Asian F with BMI of 23 with a history of PCOS</a:t>
            </a:r>
          </a:p>
        </p:txBody>
      </p:sp>
      <p:sp>
        <p:nvSpPr>
          <p:cNvPr id="30" name="Case 1 - Q6">
            <a:extLst>
              <a:ext uri="{FF2B5EF4-FFF2-40B4-BE49-F238E27FC236}">
                <a16:creationId xmlns:a16="http://schemas.microsoft.com/office/drawing/2014/main" id="{731DFEAB-EA12-4B9E-A4F6-084CAEC77E91}"/>
              </a:ext>
            </a:extLst>
          </p:cNvPr>
          <p:cNvSpPr/>
          <p:nvPr/>
        </p:nvSpPr>
        <p:spPr>
          <a:xfrm>
            <a:off x="353871" y="5403459"/>
            <a:ext cx="4580164" cy="43822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HbA1c is 6.4%. When should they be screened again?</a:t>
            </a:r>
          </a:p>
        </p:txBody>
      </p:sp>
      <p:sp>
        <p:nvSpPr>
          <p:cNvPr id="35" name="Case 1 - A4">
            <a:extLst>
              <a:ext uri="{FF2B5EF4-FFF2-40B4-BE49-F238E27FC236}">
                <a16:creationId xmlns:a16="http://schemas.microsoft.com/office/drawing/2014/main" id="{DB2F2D18-103A-4622-B071-CE4836C07EAE}"/>
              </a:ext>
            </a:extLst>
          </p:cNvPr>
          <p:cNvSpPr/>
          <p:nvPr/>
        </p:nvSpPr>
        <p:spPr>
          <a:xfrm>
            <a:off x="2112735" y="3219080"/>
            <a:ext cx="2790662" cy="767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Yes</a:t>
            </a:r>
            <a:r>
              <a:rPr lang="en-US" sz="1500" dirty="0"/>
              <a:t>. Asian Americans with BMI &gt; 23 (vs. 25 for other ethnicities) with RFs should be screened.</a:t>
            </a:r>
          </a:p>
        </p:txBody>
      </p:sp>
      <p:sp>
        <p:nvSpPr>
          <p:cNvPr id="36" name="Case 1 - A6">
            <a:extLst>
              <a:ext uri="{FF2B5EF4-FFF2-40B4-BE49-F238E27FC236}">
                <a16:creationId xmlns:a16="http://schemas.microsoft.com/office/drawing/2014/main" id="{F597A406-81A5-40AC-9888-C00B46C26B0C}"/>
              </a:ext>
            </a:extLst>
          </p:cNvPr>
          <p:cNvSpPr/>
          <p:nvPr/>
        </p:nvSpPr>
        <p:spPr>
          <a:xfrm>
            <a:off x="353871" y="5874008"/>
            <a:ext cx="4508512" cy="546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Patients with borderline results should have a repeat test in </a:t>
            </a:r>
            <a:r>
              <a:rPr lang="en-US" sz="1500" b="1" dirty="0"/>
              <a:t>3-6 months</a:t>
            </a:r>
            <a:r>
              <a:rPr lang="en-US" sz="1500" dirty="0"/>
              <a:t>. 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2503C391-FDE7-4D4F-8F01-244EB5BC7B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065" y="3050457"/>
            <a:ext cx="302506" cy="302506"/>
          </a:xfrm>
          <a:prstGeom prst="rect">
            <a:avLst/>
          </a:prstGeom>
        </p:spPr>
      </p:pic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B62A262D-0A68-4133-95CA-0F3A957DD4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065" y="5719349"/>
            <a:ext cx="302506" cy="302506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7F468C7A-552C-4BB3-995C-8675315955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021" y="388885"/>
            <a:ext cx="302506" cy="302506"/>
          </a:xfrm>
          <a:prstGeom prst="rect">
            <a:avLst/>
          </a:prstGeom>
        </p:spPr>
      </p:pic>
      <p:sp>
        <p:nvSpPr>
          <p:cNvPr id="60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6C5F38AE-3E58-4B47-BA3B-AA1977334390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57A25E4A-C739-4938-8EAC-F5947D0942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68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9F8A9DD4-3F04-41A7-AC6D-A2E724D47452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74" name="Cases">
            <a:hlinkClick r:id="" action="ppaction://noaction"/>
            <a:extLst>
              <a:ext uri="{FF2B5EF4-FFF2-40B4-BE49-F238E27FC236}">
                <a16:creationId xmlns:a16="http://schemas.microsoft.com/office/drawing/2014/main" id="{EDC3B614-3CFE-4F34-91AB-AB945AFA2D60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9AC6C5B1-8E1E-4F93-AFF8-FD40685DE5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sp>
        <p:nvSpPr>
          <p:cNvPr id="77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07D4E243-E941-4407-A15F-2682982ED3F6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sp>
        <p:nvSpPr>
          <p:cNvPr id="78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E14D327F-3815-46CD-8CEB-2665EE133DD4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3DC19021-617E-4F9E-BB82-1B89786632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2B6E17C4-63E1-4A66-B305-B88E52E6F5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  <p:sp>
        <p:nvSpPr>
          <p:cNvPr id="94" name="Case 1 - Q1">
            <a:extLst>
              <a:ext uri="{FF2B5EF4-FFF2-40B4-BE49-F238E27FC236}">
                <a16:creationId xmlns:a16="http://schemas.microsoft.com/office/drawing/2014/main" id="{8383FEA8-5D56-4EA5-9327-A0D3DB28BF51}"/>
              </a:ext>
            </a:extLst>
          </p:cNvPr>
          <p:cNvSpPr/>
          <p:nvPr/>
        </p:nvSpPr>
        <p:spPr>
          <a:xfrm>
            <a:off x="2071895" y="1297736"/>
            <a:ext cx="2836698" cy="579624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23 yo G1P1 F with a history of gestational DM</a:t>
            </a:r>
          </a:p>
        </p:txBody>
      </p:sp>
      <p:pic>
        <p:nvPicPr>
          <p:cNvPr id="95" name="Graphic 94" descr="Cursor with solid fill">
            <a:extLst>
              <a:ext uri="{FF2B5EF4-FFF2-40B4-BE49-F238E27FC236}">
                <a16:creationId xmlns:a16="http://schemas.microsoft.com/office/drawing/2014/main" id="{F8091BAF-AFFE-44FC-BA32-7499D2A360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065" y="1712211"/>
            <a:ext cx="302506" cy="302506"/>
          </a:xfrm>
          <a:prstGeom prst="rect">
            <a:avLst/>
          </a:prstGeom>
        </p:spPr>
      </p:pic>
      <p:sp>
        <p:nvSpPr>
          <p:cNvPr id="96" name="Case 1 - A1">
            <a:extLst>
              <a:ext uri="{FF2B5EF4-FFF2-40B4-BE49-F238E27FC236}">
                <a16:creationId xmlns:a16="http://schemas.microsoft.com/office/drawing/2014/main" id="{DDBC91E3-4978-4DAA-8F7F-93D4398BE339}"/>
              </a:ext>
            </a:extLst>
          </p:cNvPr>
          <p:cNvSpPr/>
          <p:nvPr/>
        </p:nvSpPr>
        <p:spPr>
          <a:xfrm>
            <a:off x="2119539" y="1904323"/>
            <a:ext cx="2770440" cy="524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Yes</a:t>
            </a:r>
            <a:r>
              <a:rPr lang="en-US" sz="1500" dirty="0"/>
              <a:t>. She will need lifelong screening at least every 3 y. </a:t>
            </a:r>
          </a:p>
        </p:txBody>
      </p:sp>
      <p:sp>
        <p:nvSpPr>
          <p:cNvPr id="100" name="Case 1 - A5">
            <a:extLst>
              <a:ext uri="{FF2B5EF4-FFF2-40B4-BE49-F238E27FC236}">
                <a16:creationId xmlns:a16="http://schemas.microsoft.com/office/drawing/2014/main" id="{46045473-33C4-4049-8D41-7A189D917C44}"/>
              </a:ext>
            </a:extLst>
          </p:cNvPr>
          <p:cNvSpPr/>
          <p:nvPr/>
        </p:nvSpPr>
        <p:spPr>
          <a:xfrm>
            <a:off x="364430" y="4663579"/>
            <a:ext cx="4614056" cy="552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Yes</a:t>
            </a:r>
            <a:r>
              <a:rPr lang="en-US" sz="1500" dirty="0"/>
              <a:t>. Patients on certain medications (thiazides, steroids, HIV meds, atypical antipsychotics should be considered.</a:t>
            </a:r>
          </a:p>
        </p:txBody>
      </p:sp>
      <p:sp>
        <p:nvSpPr>
          <p:cNvPr id="101" name="Case 1 - Q5">
            <a:extLst>
              <a:ext uri="{FF2B5EF4-FFF2-40B4-BE49-F238E27FC236}">
                <a16:creationId xmlns:a16="http://schemas.microsoft.com/office/drawing/2014/main" id="{7FD705F4-E911-40C4-9FD6-6D0CD6368391}"/>
              </a:ext>
            </a:extLst>
          </p:cNvPr>
          <p:cNvSpPr/>
          <p:nvPr/>
        </p:nvSpPr>
        <p:spPr>
          <a:xfrm>
            <a:off x="353871" y="4193617"/>
            <a:ext cx="4553674" cy="454473"/>
          </a:xfrm>
          <a:prstGeom prst="roundRect">
            <a:avLst>
              <a:gd name="adj" fmla="val 2054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28 yo with </a:t>
            </a:r>
            <a:r>
              <a:rPr lang="en-US" sz="1500" dirty="0" err="1"/>
              <a:t>schiozophrenia</a:t>
            </a:r>
            <a:r>
              <a:rPr lang="en-US" sz="1500" dirty="0"/>
              <a:t> on olanzapine . BMI 22.</a:t>
            </a:r>
          </a:p>
        </p:txBody>
      </p:sp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2792698F-5BB6-438F-AAE6-FFB5A1EDAB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207" y="4508232"/>
            <a:ext cx="302506" cy="302506"/>
          </a:xfrm>
          <a:prstGeom prst="rect">
            <a:avLst/>
          </a:prstGeom>
        </p:spPr>
      </p:pic>
      <p:sp>
        <p:nvSpPr>
          <p:cNvPr id="76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D9E2ADAA-05B8-47E5-B07D-D001AE40DDA6}"/>
              </a:ext>
            </a:extLst>
          </p:cNvPr>
          <p:cNvSpPr txBox="1"/>
          <p:nvPr/>
        </p:nvSpPr>
        <p:spPr>
          <a:xfrm>
            <a:off x="523068" y="3039971"/>
            <a:ext cx="1312526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1-3</a:t>
            </a:r>
          </a:p>
        </p:txBody>
      </p:sp>
      <p:sp>
        <p:nvSpPr>
          <p:cNvPr id="80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89F140D2-2A70-4907-898D-505FA8AF28FC}"/>
              </a:ext>
            </a:extLst>
          </p:cNvPr>
          <p:cNvSpPr txBox="1"/>
          <p:nvPr/>
        </p:nvSpPr>
        <p:spPr>
          <a:xfrm>
            <a:off x="509928" y="3570744"/>
            <a:ext cx="133542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4-6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7684291-3E4E-447F-A68A-7F2887A3AA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5827" y="2996155"/>
            <a:ext cx="336171" cy="16008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4D6A005-7318-4B52-86A0-5910844217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537" y="3400533"/>
            <a:ext cx="512725" cy="15605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5" name="Graphic 84" descr="Cursor with solid fill">
            <a:extLst>
              <a:ext uri="{FF2B5EF4-FFF2-40B4-BE49-F238E27FC236}">
                <a16:creationId xmlns:a16="http://schemas.microsoft.com/office/drawing/2014/main" id="{B2534A7E-65A6-4140-BD06-95D2EF8D41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4480" y="3852227"/>
            <a:ext cx="301752" cy="301752"/>
          </a:xfrm>
          <a:prstGeom prst="rect">
            <a:avLst/>
          </a:prstGeom>
        </p:spPr>
      </p:pic>
      <p:sp>
        <p:nvSpPr>
          <p:cNvPr id="87" name="Case 1">
            <a:extLst>
              <a:ext uri="{FF2B5EF4-FFF2-40B4-BE49-F238E27FC236}">
                <a16:creationId xmlns:a16="http://schemas.microsoft.com/office/drawing/2014/main" id="{CC41F7FA-F09E-4AA7-9576-1D725F1EECF8}"/>
              </a:ext>
            </a:extLst>
          </p:cNvPr>
          <p:cNvSpPr/>
          <p:nvPr/>
        </p:nvSpPr>
        <p:spPr>
          <a:xfrm>
            <a:off x="5702525" y="135637"/>
            <a:ext cx="1980371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88" name="Case 1 text">
            <a:extLst>
              <a:ext uri="{FF2B5EF4-FFF2-40B4-BE49-F238E27FC236}">
                <a16:creationId xmlns:a16="http://schemas.microsoft.com/office/drawing/2014/main" id="{2824F3BB-4D4E-47B4-ACB8-6B142E72EDCD}"/>
              </a:ext>
            </a:extLst>
          </p:cNvPr>
          <p:cNvSpPr txBox="1"/>
          <p:nvPr/>
        </p:nvSpPr>
        <p:spPr>
          <a:xfrm>
            <a:off x="5190377" y="663579"/>
            <a:ext cx="3044778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55 </a:t>
            </a:r>
            <a:r>
              <a:rPr lang="en-US" sz="1500" dirty="0" err="1">
                <a:ea typeface="+mn-lt"/>
                <a:cs typeface="+mn-lt"/>
              </a:rPr>
              <a:t>yo</a:t>
            </a:r>
            <a:r>
              <a:rPr lang="en-US" sz="1500" dirty="0">
                <a:ea typeface="+mn-lt"/>
                <a:cs typeface="+mn-lt"/>
              </a:rPr>
              <a:t> presents to clinic to establish care. Reports 2-3 months of polydipsia and polyuria. BMI is 42. </a:t>
            </a:r>
          </a:p>
        </p:txBody>
      </p:sp>
      <p:sp>
        <p:nvSpPr>
          <p:cNvPr id="90" name="Case 1 - Q4">
            <a:extLst>
              <a:ext uri="{FF2B5EF4-FFF2-40B4-BE49-F238E27FC236}">
                <a16:creationId xmlns:a16="http://schemas.microsoft.com/office/drawing/2014/main" id="{CAC633E3-CF65-45E5-AA95-52F2CA4332B4}"/>
              </a:ext>
            </a:extLst>
          </p:cNvPr>
          <p:cNvSpPr/>
          <p:nvPr/>
        </p:nvSpPr>
        <p:spPr>
          <a:xfrm>
            <a:off x="5252379" y="2810605"/>
            <a:ext cx="2973931" cy="408623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referrals are indicated?</a:t>
            </a:r>
          </a:p>
        </p:txBody>
      </p:sp>
      <p:sp>
        <p:nvSpPr>
          <p:cNvPr id="91" name="Case 1 - Q6">
            <a:extLst>
              <a:ext uri="{FF2B5EF4-FFF2-40B4-BE49-F238E27FC236}">
                <a16:creationId xmlns:a16="http://schemas.microsoft.com/office/drawing/2014/main" id="{C71958CF-F222-4E4B-958A-60D06724F9A4}"/>
              </a:ext>
            </a:extLst>
          </p:cNvPr>
          <p:cNvSpPr/>
          <p:nvPr/>
        </p:nvSpPr>
        <p:spPr>
          <a:xfrm>
            <a:off x="5249635" y="5425756"/>
            <a:ext cx="2970067" cy="52137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if they wanted to avoid needles?</a:t>
            </a:r>
          </a:p>
        </p:txBody>
      </p:sp>
      <p:sp>
        <p:nvSpPr>
          <p:cNvPr id="92" name="Case 1 - A4">
            <a:extLst>
              <a:ext uri="{FF2B5EF4-FFF2-40B4-BE49-F238E27FC236}">
                <a16:creationId xmlns:a16="http://schemas.microsoft.com/office/drawing/2014/main" id="{A8360CBA-48D7-40D9-90FE-31785E97AFC8}"/>
              </a:ext>
            </a:extLst>
          </p:cNvPr>
          <p:cNvSpPr/>
          <p:nvPr/>
        </p:nvSpPr>
        <p:spPr>
          <a:xfrm>
            <a:off x="5249635" y="3282738"/>
            <a:ext cx="2900739" cy="639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Nutrition</a:t>
            </a:r>
            <a:r>
              <a:rPr lang="en-US" sz="1500" dirty="0"/>
              <a:t>, exercise, and </a:t>
            </a:r>
            <a:r>
              <a:rPr lang="en-US" sz="1500" b="1" dirty="0"/>
              <a:t>weight loss </a:t>
            </a:r>
            <a:r>
              <a:rPr lang="en-US" sz="1500" dirty="0"/>
              <a:t>counseling. Then consider </a:t>
            </a:r>
            <a:r>
              <a:rPr lang="en-US" sz="1500" b="1" dirty="0"/>
              <a:t>surgery</a:t>
            </a:r>
            <a:r>
              <a:rPr lang="en-US" sz="1500" dirty="0"/>
              <a:t> (BMI &gt; 40).</a:t>
            </a:r>
          </a:p>
        </p:txBody>
      </p:sp>
      <p:sp>
        <p:nvSpPr>
          <p:cNvPr id="93" name="Case 1 - A6">
            <a:extLst>
              <a:ext uri="{FF2B5EF4-FFF2-40B4-BE49-F238E27FC236}">
                <a16:creationId xmlns:a16="http://schemas.microsoft.com/office/drawing/2014/main" id="{60D42765-AAC7-46D4-B8A2-27225FCBA29A}"/>
              </a:ext>
            </a:extLst>
          </p:cNvPr>
          <p:cNvSpPr/>
          <p:nvPr/>
        </p:nvSpPr>
        <p:spPr>
          <a:xfrm>
            <a:off x="5289276" y="5987908"/>
            <a:ext cx="2899794" cy="521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Metformin</a:t>
            </a:r>
            <a:r>
              <a:rPr lang="en-US" sz="1500" dirty="0"/>
              <a:t>, </a:t>
            </a:r>
            <a:r>
              <a:rPr lang="en-US" sz="1500" b="1" dirty="0"/>
              <a:t>SGLT2</a:t>
            </a:r>
            <a:r>
              <a:rPr lang="en-US" sz="1500" dirty="0"/>
              <a:t>, oral </a:t>
            </a:r>
            <a:r>
              <a:rPr lang="en-US" sz="1500" b="1" dirty="0"/>
              <a:t>GLP1</a:t>
            </a:r>
            <a:r>
              <a:rPr lang="en-US" sz="1500" dirty="0"/>
              <a:t> (</a:t>
            </a:r>
            <a:r>
              <a:rPr lang="en-US" sz="1500" dirty="0" err="1"/>
              <a:t>semaglutide</a:t>
            </a:r>
            <a:r>
              <a:rPr lang="en-US" sz="1500" dirty="0"/>
              <a:t>), +/- </a:t>
            </a:r>
            <a:r>
              <a:rPr lang="en-US" sz="1500" b="1" dirty="0"/>
              <a:t>sulfonylurea</a:t>
            </a:r>
            <a:r>
              <a:rPr lang="en-US" sz="1500" dirty="0"/>
              <a:t> </a:t>
            </a:r>
          </a:p>
        </p:txBody>
      </p:sp>
      <p:pic>
        <p:nvPicPr>
          <p:cNvPr id="97" name="Graphic 96" descr="Cursor with solid fill">
            <a:extLst>
              <a:ext uri="{FF2B5EF4-FFF2-40B4-BE49-F238E27FC236}">
                <a16:creationId xmlns:a16="http://schemas.microsoft.com/office/drawing/2014/main" id="{B74CC287-39E1-4B29-B846-9139026A6A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2752" y="3087205"/>
            <a:ext cx="302506" cy="302506"/>
          </a:xfrm>
          <a:prstGeom prst="rect">
            <a:avLst/>
          </a:prstGeom>
        </p:spPr>
      </p:pic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1F37B27E-18C3-4685-B4BC-FAF85359E0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9891" y="5816265"/>
            <a:ext cx="302506" cy="302506"/>
          </a:xfrm>
          <a:prstGeom prst="rect">
            <a:avLst/>
          </a:prstGeom>
        </p:spPr>
      </p:pic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344C09CD-7B09-4A17-8D73-9F71DDAAAE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783" y="394998"/>
            <a:ext cx="302506" cy="302506"/>
          </a:xfrm>
          <a:prstGeom prst="rect">
            <a:avLst/>
          </a:prstGeom>
        </p:spPr>
      </p:pic>
      <p:sp>
        <p:nvSpPr>
          <p:cNvPr id="103" name="Case 1 - Q1">
            <a:extLst>
              <a:ext uri="{FF2B5EF4-FFF2-40B4-BE49-F238E27FC236}">
                <a16:creationId xmlns:a16="http://schemas.microsoft.com/office/drawing/2014/main" id="{623A6E56-F901-4314-8D94-8464D832D98A}"/>
              </a:ext>
            </a:extLst>
          </p:cNvPr>
          <p:cNvSpPr/>
          <p:nvPr/>
        </p:nvSpPr>
        <p:spPr>
          <a:xfrm>
            <a:off x="5249635" y="1549955"/>
            <a:ext cx="2976676" cy="579624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additional tests would you order?</a:t>
            </a:r>
          </a:p>
        </p:txBody>
      </p:sp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F9D1EACD-95DA-4528-8EB0-0D034C2ECC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0007" y="1974164"/>
            <a:ext cx="302506" cy="302506"/>
          </a:xfrm>
          <a:prstGeom prst="rect">
            <a:avLst/>
          </a:prstGeom>
        </p:spPr>
      </p:pic>
      <p:sp>
        <p:nvSpPr>
          <p:cNvPr id="105" name="Case 1 - A1">
            <a:extLst>
              <a:ext uri="{FF2B5EF4-FFF2-40B4-BE49-F238E27FC236}">
                <a16:creationId xmlns:a16="http://schemas.microsoft.com/office/drawing/2014/main" id="{A8136B69-4D8E-4571-9BD3-1D82D6605DF8}"/>
              </a:ext>
            </a:extLst>
          </p:cNvPr>
          <p:cNvSpPr/>
          <p:nvPr/>
        </p:nvSpPr>
        <p:spPr>
          <a:xfrm>
            <a:off x="5287461" y="2143075"/>
            <a:ext cx="2919542" cy="549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BMP, Urine albumin/Cr, lipid panel. Retina + foot exam.</a:t>
            </a:r>
          </a:p>
        </p:txBody>
      </p:sp>
      <p:sp>
        <p:nvSpPr>
          <p:cNvPr id="106" name="Case 1 - A5">
            <a:extLst>
              <a:ext uri="{FF2B5EF4-FFF2-40B4-BE49-F238E27FC236}">
                <a16:creationId xmlns:a16="http://schemas.microsoft.com/office/drawing/2014/main" id="{6EC30089-7938-44AD-9F32-9E0AED21114E}"/>
              </a:ext>
            </a:extLst>
          </p:cNvPr>
          <p:cNvSpPr/>
          <p:nvPr/>
        </p:nvSpPr>
        <p:spPr>
          <a:xfrm>
            <a:off x="5289277" y="4732079"/>
            <a:ext cx="2917726" cy="52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Metformin</a:t>
            </a:r>
            <a:r>
              <a:rPr lang="en-US" sz="1500" dirty="0"/>
              <a:t> and </a:t>
            </a:r>
            <a:r>
              <a:rPr lang="en-US" sz="1500" b="1" dirty="0"/>
              <a:t>insulin</a:t>
            </a:r>
            <a:r>
              <a:rPr lang="en-US" sz="1500" dirty="0"/>
              <a:t> (A1c &gt;10%). At follow-up, add </a:t>
            </a:r>
            <a:r>
              <a:rPr lang="en-US" sz="1500" b="1" dirty="0"/>
              <a:t>GLP1</a:t>
            </a:r>
            <a:r>
              <a:rPr lang="en-US" sz="1500" dirty="0"/>
              <a:t> (obesity).</a:t>
            </a:r>
          </a:p>
        </p:txBody>
      </p:sp>
      <p:sp>
        <p:nvSpPr>
          <p:cNvPr id="107" name="Case 1 - Q5">
            <a:extLst>
              <a:ext uri="{FF2B5EF4-FFF2-40B4-BE49-F238E27FC236}">
                <a16:creationId xmlns:a16="http://schemas.microsoft.com/office/drawing/2014/main" id="{510F62B0-F39F-4E21-9A3B-A71FF861732D}"/>
              </a:ext>
            </a:extLst>
          </p:cNvPr>
          <p:cNvSpPr/>
          <p:nvPr/>
        </p:nvSpPr>
        <p:spPr>
          <a:xfrm>
            <a:off x="5249635" y="4138024"/>
            <a:ext cx="2957368" cy="554723"/>
          </a:xfrm>
          <a:prstGeom prst="roundRect">
            <a:avLst>
              <a:gd name="adj" fmla="val 2054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medications would you recommend?</a:t>
            </a:r>
          </a:p>
        </p:txBody>
      </p:sp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033967BF-AB66-4D03-AD9B-812EB7A1F9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9324" y="4560437"/>
            <a:ext cx="302506" cy="302506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1092748-A33C-4645-8F63-1AB7A9F92A5B}"/>
              </a:ext>
            </a:extLst>
          </p:cNvPr>
          <p:cNvCxnSpPr>
            <a:cxnSpLocks/>
          </p:cNvCxnSpPr>
          <p:nvPr/>
        </p:nvCxnSpPr>
        <p:spPr>
          <a:xfrm>
            <a:off x="8411119" y="212436"/>
            <a:ext cx="0" cy="643312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se 2">
            <a:extLst>
              <a:ext uri="{FF2B5EF4-FFF2-40B4-BE49-F238E27FC236}">
                <a16:creationId xmlns:a16="http://schemas.microsoft.com/office/drawing/2014/main" id="{94CA4323-0019-4035-B67A-58FCC80AA3DD}"/>
              </a:ext>
            </a:extLst>
          </p:cNvPr>
          <p:cNvSpPr/>
          <p:nvPr/>
        </p:nvSpPr>
        <p:spPr>
          <a:xfrm>
            <a:off x="9279167" y="137189"/>
            <a:ext cx="198037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111" name="Case 2 - question1">
            <a:extLst>
              <a:ext uri="{FF2B5EF4-FFF2-40B4-BE49-F238E27FC236}">
                <a16:creationId xmlns:a16="http://schemas.microsoft.com/office/drawing/2014/main" id="{73FA7828-85C9-4C77-9A62-CAA7E3F3B661}"/>
              </a:ext>
            </a:extLst>
          </p:cNvPr>
          <p:cNvSpPr/>
          <p:nvPr/>
        </p:nvSpPr>
        <p:spPr>
          <a:xfrm>
            <a:off x="8572996" y="2482157"/>
            <a:ext cx="3365703" cy="38669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Does this patient have diabetes?</a:t>
            </a:r>
          </a:p>
        </p:txBody>
      </p:sp>
      <p:sp>
        <p:nvSpPr>
          <p:cNvPr id="112" name="Case 2 - question2">
            <a:extLst>
              <a:ext uri="{FF2B5EF4-FFF2-40B4-BE49-F238E27FC236}">
                <a16:creationId xmlns:a16="http://schemas.microsoft.com/office/drawing/2014/main" id="{20C081AB-C60A-4CF0-8502-34360DB1630D}"/>
              </a:ext>
            </a:extLst>
          </p:cNvPr>
          <p:cNvSpPr/>
          <p:nvPr/>
        </p:nvSpPr>
        <p:spPr>
          <a:xfrm>
            <a:off x="8572996" y="4065432"/>
            <a:ext cx="3365703" cy="612590"/>
          </a:xfrm>
          <a:prstGeom prst="roundRect">
            <a:avLst>
              <a:gd name="adj" fmla="val 1403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You confirm diagnosis of T2DM. What medications would you recommend?</a:t>
            </a:r>
          </a:p>
        </p:txBody>
      </p:sp>
      <p:sp>
        <p:nvSpPr>
          <p:cNvPr id="113" name="Case 2 - answer1">
            <a:extLst>
              <a:ext uri="{FF2B5EF4-FFF2-40B4-BE49-F238E27FC236}">
                <a16:creationId xmlns:a16="http://schemas.microsoft.com/office/drawing/2014/main" id="{348270B3-53EC-44BC-8F86-EAD28E0FF8C6}"/>
              </a:ext>
            </a:extLst>
          </p:cNvPr>
          <p:cNvSpPr/>
          <p:nvPr/>
        </p:nvSpPr>
        <p:spPr>
          <a:xfrm>
            <a:off x="8580431" y="2903472"/>
            <a:ext cx="3350835" cy="1019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Very likely. </a:t>
            </a:r>
            <a:r>
              <a:rPr lang="en-US" sz="1500" dirty="0"/>
              <a:t>Confirm with a second fasting BG &gt; 120. The </a:t>
            </a:r>
            <a:r>
              <a:rPr lang="en-US" sz="1500" b="1" dirty="0"/>
              <a:t>A1c is discrepant </a:t>
            </a:r>
            <a:r>
              <a:rPr lang="en-US" sz="1500" dirty="0"/>
              <a:t>and underestimates average BG with high RBC turnover (erythropoietin).</a:t>
            </a:r>
          </a:p>
        </p:txBody>
      </p:sp>
      <p:sp>
        <p:nvSpPr>
          <p:cNvPr id="114" name="Case 2 - answer2">
            <a:extLst>
              <a:ext uri="{FF2B5EF4-FFF2-40B4-BE49-F238E27FC236}">
                <a16:creationId xmlns:a16="http://schemas.microsoft.com/office/drawing/2014/main" id="{DE5A82E2-BDBA-4A76-9E73-CD1CE62C86AE}"/>
              </a:ext>
            </a:extLst>
          </p:cNvPr>
          <p:cNvSpPr/>
          <p:nvPr/>
        </p:nvSpPr>
        <p:spPr>
          <a:xfrm>
            <a:off x="8587084" y="4730753"/>
            <a:ext cx="3374542" cy="711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Reduced dose insulin.</a:t>
            </a:r>
            <a:r>
              <a:rPr lang="en-US" sz="1500" dirty="0"/>
              <a:t> Metformin is contraindicated with GFR &lt;30. Few data on SGLT2, GLP1 and oral agents in ESRD. </a:t>
            </a:r>
          </a:p>
        </p:txBody>
      </p:sp>
      <p:pic>
        <p:nvPicPr>
          <p:cNvPr id="115" name="Graphic 114" descr="Cursor with solid fill">
            <a:extLst>
              <a:ext uri="{FF2B5EF4-FFF2-40B4-BE49-F238E27FC236}">
                <a16:creationId xmlns:a16="http://schemas.microsoft.com/office/drawing/2014/main" id="{3830E2D6-3B98-4E36-A973-A016513CAC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79653" y="2718889"/>
            <a:ext cx="302506" cy="302506"/>
          </a:xfrm>
          <a:prstGeom prst="rect">
            <a:avLst/>
          </a:prstGeom>
        </p:spPr>
      </p:pic>
      <p:pic>
        <p:nvPicPr>
          <p:cNvPr id="116" name="Graphic 115" descr="Cursor with solid fill">
            <a:extLst>
              <a:ext uri="{FF2B5EF4-FFF2-40B4-BE49-F238E27FC236}">
                <a16:creationId xmlns:a16="http://schemas.microsoft.com/office/drawing/2014/main" id="{BFB6DE30-8392-4468-ADD7-62D7A63EEB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7446" y="4557226"/>
            <a:ext cx="302506" cy="302506"/>
          </a:xfrm>
          <a:prstGeom prst="rect">
            <a:avLst/>
          </a:prstGeom>
        </p:spPr>
      </p:pic>
      <p:pic>
        <p:nvPicPr>
          <p:cNvPr id="117" name="Graphic 116" descr="Cursor with solid fill">
            <a:extLst>
              <a:ext uri="{FF2B5EF4-FFF2-40B4-BE49-F238E27FC236}">
                <a16:creationId xmlns:a16="http://schemas.microsoft.com/office/drawing/2014/main" id="{FEE55E37-EC73-46F1-AEB9-8788AA4A0E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6768" y="406709"/>
            <a:ext cx="302506" cy="302506"/>
          </a:xfrm>
          <a:prstGeom prst="rect">
            <a:avLst/>
          </a:prstGeom>
        </p:spPr>
      </p:pic>
      <p:sp>
        <p:nvSpPr>
          <p:cNvPr id="118" name="Case 1 text">
            <a:extLst>
              <a:ext uri="{FF2B5EF4-FFF2-40B4-BE49-F238E27FC236}">
                <a16:creationId xmlns:a16="http://schemas.microsoft.com/office/drawing/2014/main" id="{856664C2-4517-4B37-BDB9-E5EA073469C2}"/>
              </a:ext>
            </a:extLst>
          </p:cNvPr>
          <p:cNvSpPr txBox="1"/>
          <p:nvPr/>
        </p:nvSpPr>
        <p:spPr>
          <a:xfrm>
            <a:off x="8553659" y="661986"/>
            <a:ext cx="3522799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42 yo with a history of SLE, ESRD on HD, hypertension, hyperlipidemia presents to establish care.</a:t>
            </a:r>
          </a:p>
          <a:p>
            <a:pPr marL="111125" indent="-111125"/>
            <a:r>
              <a:rPr lang="en-US" sz="1500" u="sng" dirty="0">
                <a:ea typeface="+mn-lt"/>
                <a:cs typeface="+mn-lt"/>
              </a:rPr>
              <a:t>Meds</a:t>
            </a:r>
            <a:r>
              <a:rPr lang="en-US" sz="1500" dirty="0">
                <a:ea typeface="+mn-lt"/>
                <a:cs typeface="+mn-lt"/>
              </a:rPr>
              <a:t>: prednisone, erythropoietin, amlodipine, atorvastatin.</a:t>
            </a:r>
          </a:p>
          <a:p>
            <a:pPr marL="111125" indent="-111125"/>
            <a:r>
              <a:rPr lang="en-US" sz="1500" u="sng" dirty="0">
                <a:ea typeface="+mn-lt"/>
                <a:cs typeface="+mn-lt"/>
              </a:rPr>
              <a:t>Exam</a:t>
            </a:r>
            <a:r>
              <a:rPr lang="en-US" sz="1500" dirty="0">
                <a:ea typeface="+mn-lt"/>
                <a:cs typeface="+mn-lt"/>
              </a:rPr>
              <a:t>: BMI 22. BP 115/74. </a:t>
            </a:r>
          </a:p>
          <a:p>
            <a:pPr marL="111125" indent="-111125"/>
            <a:r>
              <a:rPr lang="en-US" sz="1500" u="sng" dirty="0">
                <a:ea typeface="+mn-lt"/>
                <a:cs typeface="+mn-lt"/>
              </a:rPr>
              <a:t>Labs</a:t>
            </a:r>
            <a:r>
              <a:rPr lang="en-US" sz="1500" dirty="0">
                <a:ea typeface="+mn-lt"/>
                <a:cs typeface="+mn-lt"/>
              </a:rPr>
              <a:t>: Fasting BG 160, HbA1c 5.6%. </a:t>
            </a:r>
          </a:p>
        </p:txBody>
      </p:sp>
      <p:sp>
        <p:nvSpPr>
          <p:cNvPr id="123" name="Case 2 - question2">
            <a:extLst>
              <a:ext uri="{FF2B5EF4-FFF2-40B4-BE49-F238E27FC236}">
                <a16:creationId xmlns:a16="http://schemas.microsoft.com/office/drawing/2014/main" id="{066D167C-47B8-441F-B2D6-BD0B29A94495}"/>
              </a:ext>
            </a:extLst>
          </p:cNvPr>
          <p:cNvSpPr/>
          <p:nvPr/>
        </p:nvSpPr>
        <p:spPr>
          <a:xfrm>
            <a:off x="8572996" y="5585689"/>
            <a:ext cx="3365703" cy="382961"/>
          </a:xfrm>
          <a:prstGeom prst="roundRect">
            <a:avLst>
              <a:gd name="adj" fmla="val 1403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is your glycemic target?</a:t>
            </a:r>
          </a:p>
        </p:txBody>
      </p:sp>
      <p:sp>
        <p:nvSpPr>
          <p:cNvPr id="124" name="Case 2 - answer2">
            <a:extLst>
              <a:ext uri="{FF2B5EF4-FFF2-40B4-BE49-F238E27FC236}">
                <a16:creationId xmlns:a16="http://schemas.microsoft.com/office/drawing/2014/main" id="{C4B897B4-D1AD-40DE-84CB-C2B56018F26A}"/>
              </a:ext>
            </a:extLst>
          </p:cNvPr>
          <p:cNvSpPr/>
          <p:nvPr/>
        </p:nvSpPr>
        <p:spPr>
          <a:xfrm>
            <a:off x="8568576" y="5987908"/>
            <a:ext cx="3374542" cy="598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A1c 6.5-7.5% in ESRD. Fasting BG/ CGM can be used when A1c is inaccurate.</a:t>
            </a:r>
          </a:p>
        </p:txBody>
      </p:sp>
      <p:pic>
        <p:nvPicPr>
          <p:cNvPr id="125" name="Graphic 124" descr="Cursor with solid fill">
            <a:extLst>
              <a:ext uri="{FF2B5EF4-FFF2-40B4-BE49-F238E27FC236}">
                <a16:creationId xmlns:a16="http://schemas.microsoft.com/office/drawing/2014/main" id="{C0E58B9A-798F-4604-8A01-DDC25872C5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76812" y="5857606"/>
            <a:ext cx="302506" cy="30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9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</p:childTnLst>
        </p:cTn>
      </p:par>
    </p:tnLst>
    <p:bldLst>
      <p:bldP spid="13" grpId="0"/>
      <p:bldP spid="29" grpId="0" animBg="1"/>
      <p:bldP spid="30" grpId="0" animBg="1"/>
      <p:bldP spid="35" grpId="0" animBg="1"/>
      <p:bldP spid="36" grpId="0"/>
      <p:bldP spid="94" grpId="0" animBg="1"/>
      <p:bldP spid="96" grpId="0"/>
      <p:bldP spid="100" grpId="0" animBg="1"/>
      <p:bldP spid="101" grpId="0" animBg="1"/>
      <p:bldP spid="88" grpId="0"/>
      <p:bldP spid="90" grpId="0" animBg="1"/>
      <p:bldP spid="91" grpId="0" animBg="1"/>
      <p:bldP spid="92" grpId="0" animBg="1"/>
      <p:bldP spid="93" grpId="0"/>
      <p:bldP spid="103" grpId="0" animBg="1"/>
      <p:bldP spid="105" grpId="0"/>
      <p:bldP spid="106" grpId="0" animBg="1"/>
      <p:bldP spid="107" grpId="0" animBg="1"/>
      <p:bldP spid="111" grpId="0" animBg="1"/>
      <p:bldP spid="112" grpId="0" animBg="1"/>
      <p:bldP spid="113" grpId="0"/>
      <p:bldP spid="114" grpId="0"/>
      <p:bldP spid="118" grpId="0"/>
      <p:bldP spid="123" grpId="0" animBg="1"/>
      <p:bldP spid="1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5497919" y="252680"/>
            <a:ext cx="0" cy="643312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se 2">
            <a:extLst>
              <a:ext uri="{FF2B5EF4-FFF2-40B4-BE49-F238E27FC236}">
                <a16:creationId xmlns:a16="http://schemas.microsoft.com/office/drawing/2014/main" id="{41FEB336-49CA-4EC0-AC0A-587C0CD09C68}"/>
              </a:ext>
            </a:extLst>
          </p:cNvPr>
          <p:cNvSpPr/>
          <p:nvPr/>
        </p:nvSpPr>
        <p:spPr>
          <a:xfrm>
            <a:off x="2698384" y="160310"/>
            <a:ext cx="198037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</a:t>
            </a:r>
          </a:p>
        </p:txBody>
      </p:sp>
      <p:sp>
        <p:nvSpPr>
          <p:cNvPr id="146" name="Case 3 button">
            <a:extLst>
              <a:ext uri="{FF2B5EF4-FFF2-40B4-BE49-F238E27FC236}">
                <a16:creationId xmlns:a16="http://schemas.microsoft.com/office/drawing/2014/main" id="{BCA0C0CD-F8E1-4146-83B0-B64E06FE4D1F}"/>
              </a:ext>
            </a:extLst>
          </p:cNvPr>
          <p:cNvSpPr/>
          <p:nvPr/>
        </p:nvSpPr>
        <p:spPr>
          <a:xfrm>
            <a:off x="6121891" y="149748"/>
            <a:ext cx="1980371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</a:t>
            </a:r>
          </a:p>
        </p:txBody>
      </p:sp>
      <p:sp>
        <p:nvSpPr>
          <p:cNvPr id="148" name="Case 1 text">
            <a:extLst>
              <a:ext uri="{FF2B5EF4-FFF2-40B4-BE49-F238E27FC236}">
                <a16:creationId xmlns:a16="http://schemas.microsoft.com/office/drawing/2014/main" id="{E6A604B5-B4FA-4AC4-9DD7-10C3ABA8A1DE}"/>
              </a:ext>
            </a:extLst>
          </p:cNvPr>
          <p:cNvSpPr txBox="1"/>
          <p:nvPr/>
        </p:nvSpPr>
        <p:spPr>
          <a:xfrm>
            <a:off x="5567390" y="685107"/>
            <a:ext cx="3002768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82 yo with T2DM, COPD, HTN, CAD, diabetic CKD stage 2, BPH, and cognitive impairment presents for recurrent falls. A1c is 7.5%. </a:t>
            </a:r>
          </a:p>
          <a:p>
            <a:pPr marL="111125" indent="-111125"/>
            <a:r>
              <a:rPr lang="en-US" sz="1500" u="sng" dirty="0"/>
              <a:t>Meds</a:t>
            </a:r>
            <a:r>
              <a:rPr lang="en-US" sz="1500" dirty="0"/>
              <a:t>: metformin 1000 mg BID, glargine 10 U </a:t>
            </a:r>
            <a:r>
              <a:rPr lang="en-US" sz="1500" dirty="0" err="1"/>
              <a:t>qHS</a:t>
            </a:r>
            <a:r>
              <a:rPr lang="en-US" sz="1500" dirty="0"/>
              <a:t>, lisinopril 40 mg, tamsulosin, atorvastatin 40 mg. </a:t>
            </a:r>
          </a:p>
        </p:txBody>
      </p:sp>
      <p:sp>
        <p:nvSpPr>
          <p:cNvPr id="57" name="Case 2 - question1">
            <a:extLst>
              <a:ext uri="{FF2B5EF4-FFF2-40B4-BE49-F238E27FC236}">
                <a16:creationId xmlns:a16="http://schemas.microsoft.com/office/drawing/2014/main" id="{FC7CA112-FAF7-4731-AC02-423927DB914D}"/>
              </a:ext>
            </a:extLst>
          </p:cNvPr>
          <p:cNvSpPr/>
          <p:nvPr/>
        </p:nvSpPr>
        <p:spPr>
          <a:xfrm>
            <a:off x="2007213" y="2218961"/>
            <a:ext cx="3365703" cy="42565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would you treat the hypertension?</a:t>
            </a:r>
          </a:p>
        </p:txBody>
      </p:sp>
      <p:sp>
        <p:nvSpPr>
          <p:cNvPr id="58" name="Case 2 - question2">
            <a:extLst>
              <a:ext uri="{FF2B5EF4-FFF2-40B4-BE49-F238E27FC236}">
                <a16:creationId xmlns:a16="http://schemas.microsoft.com/office/drawing/2014/main" id="{BD5CFEB8-C474-46CA-BDD5-725CAFB73BAA}"/>
              </a:ext>
            </a:extLst>
          </p:cNvPr>
          <p:cNvSpPr/>
          <p:nvPr/>
        </p:nvSpPr>
        <p:spPr>
          <a:xfrm>
            <a:off x="1989126" y="3349191"/>
            <a:ext cx="3350834" cy="408375"/>
          </a:xfrm>
          <a:prstGeom prst="roundRect">
            <a:avLst>
              <a:gd name="adj" fmla="val 1403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meds would you use to treat DM?</a:t>
            </a:r>
          </a:p>
        </p:txBody>
      </p:sp>
      <p:sp>
        <p:nvSpPr>
          <p:cNvPr id="59" name="Case 2 - question3">
            <a:extLst>
              <a:ext uri="{FF2B5EF4-FFF2-40B4-BE49-F238E27FC236}">
                <a16:creationId xmlns:a16="http://schemas.microsoft.com/office/drawing/2014/main" id="{102D4C4C-A02D-4E4C-ADFC-63F9708B9654}"/>
              </a:ext>
            </a:extLst>
          </p:cNvPr>
          <p:cNvSpPr/>
          <p:nvPr/>
        </p:nvSpPr>
        <p:spPr>
          <a:xfrm>
            <a:off x="1978923" y="4476883"/>
            <a:ext cx="3344698" cy="574003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nonpharmacologic intervention would lower ACSCVD risk?</a:t>
            </a:r>
          </a:p>
        </p:txBody>
      </p:sp>
      <p:sp>
        <p:nvSpPr>
          <p:cNvPr id="61" name="Case 2 - answer1">
            <a:extLst>
              <a:ext uri="{FF2B5EF4-FFF2-40B4-BE49-F238E27FC236}">
                <a16:creationId xmlns:a16="http://schemas.microsoft.com/office/drawing/2014/main" id="{E9E14381-F561-4E85-8173-20AB47B470CD}"/>
              </a:ext>
            </a:extLst>
          </p:cNvPr>
          <p:cNvSpPr/>
          <p:nvPr/>
        </p:nvSpPr>
        <p:spPr>
          <a:xfrm>
            <a:off x="2017321" y="2683164"/>
            <a:ext cx="3350835" cy="561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ACE inhibitor </a:t>
            </a:r>
            <a:r>
              <a:rPr lang="en-US" sz="1500" dirty="0"/>
              <a:t>or </a:t>
            </a:r>
            <a:r>
              <a:rPr lang="en-US" sz="1500" b="1" dirty="0"/>
              <a:t>ARB</a:t>
            </a:r>
            <a:r>
              <a:rPr lang="en-US" sz="1500" dirty="0"/>
              <a:t> (given albuminuria) + lifestyle modifications</a:t>
            </a:r>
          </a:p>
        </p:txBody>
      </p:sp>
      <p:sp>
        <p:nvSpPr>
          <p:cNvPr id="62" name="Case 2 - answer2">
            <a:extLst>
              <a:ext uri="{FF2B5EF4-FFF2-40B4-BE49-F238E27FC236}">
                <a16:creationId xmlns:a16="http://schemas.microsoft.com/office/drawing/2014/main" id="{0BCE2D94-A3FD-4365-B4EA-AC7ABC7E185D}"/>
              </a:ext>
            </a:extLst>
          </p:cNvPr>
          <p:cNvSpPr/>
          <p:nvPr/>
        </p:nvSpPr>
        <p:spPr>
          <a:xfrm>
            <a:off x="1984664" y="3785242"/>
            <a:ext cx="3352653" cy="574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SGLT2</a:t>
            </a:r>
            <a:r>
              <a:rPr lang="en-US" sz="1500" dirty="0"/>
              <a:t> to improve renal outcomes given diabetic nephropathy with albuminuria. </a:t>
            </a:r>
          </a:p>
        </p:txBody>
      </p:sp>
      <p:sp>
        <p:nvSpPr>
          <p:cNvPr id="63" name="Case 2 - answer 3">
            <a:extLst>
              <a:ext uri="{FF2B5EF4-FFF2-40B4-BE49-F238E27FC236}">
                <a16:creationId xmlns:a16="http://schemas.microsoft.com/office/drawing/2014/main" id="{4ACA8447-EDC8-465C-B71B-62F13CBE21A9}"/>
              </a:ext>
            </a:extLst>
          </p:cNvPr>
          <p:cNvSpPr/>
          <p:nvPr/>
        </p:nvSpPr>
        <p:spPr>
          <a:xfrm>
            <a:off x="2001371" y="5084719"/>
            <a:ext cx="3350837" cy="397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Tobacco cessation counseling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4DAAE46E-C1C8-4BAD-8D6E-8E91E2E517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1664" y="2524623"/>
            <a:ext cx="302506" cy="302506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EA124C93-962C-44F2-B742-A9112F5156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193" y="3619828"/>
            <a:ext cx="302506" cy="302506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80F59731-A935-4D08-B316-C5017E06F6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813" y="4915924"/>
            <a:ext cx="302506" cy="302506"/>
          </a:xfrm>
          <a:prstGeom prst="rect">
            <a:avLst/>
          </a:prstGeom>
        </p:spPr>
      </p:pic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956F63E8-63DB-4A08-A83A-19CFAA4409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5985" y="429830"/>
            <a:ext cx="302506" cy="302506"/>
          </a:xfrm>
          <a:prstGeom prst="rect">
            <a:avLst/>
          </a:prstGeom>
        </p:spPr>
      </p:pic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123343F4-467E-498D-8C79-43974CE6E8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149" y="415713"/>
            <a:ext cx="302506" cy="302506"/>
          </a:xfrm>
          <a:prstGeom prst="rect">
            <a:avLst/>
          </a:prstGeom>
        </p:spPr>
      </p:pic>
      <p:sp>
        <p:nvSpPr>
          <p:cNvPr id="39" name="Case 3 - question1">
            <a:extLst>
              <a:ext uri="{FF2B5EF4-FFF2-40B4-BE49-F238E27FC236}">
                <a16:creationId xmlns:a16="http://schemas.microsoft.com/office/drawing/2014/main" id="{E9D3EEFD-602E-4B0B-9C9A-A0F3A5A386E4}"/>
              </a:ext>
            </a:extLst>
          </p:cNvPr>
          <p:cNvSpPr/>
          <p:nvPr/>
        </p:nvSpPr>
        <p:spPr>
          <a:xfrm>
            <a:off x="5605105" y="2502874"/>
            <a:ext cx="2920015" cy="394542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What is your A1c goal?</a:t>
            </a:r>
          </a:p>
        </p:txBody>
      </p:sp>
      <p:sp>
        <p:nvSpPr>
          <p:cNvPr id="40" name="Case 3 - question2">
            <a:extLst>
              <a:ext uri="{FF2B5EF4-FFF2-40B4-BE49-F238E27FC236}">
                <a16:creationId xmlns:a16="http://schemas.microsoft.com/office/drawing/2014/main" id="{00315A18-00C4-42C5-9C89-5019D2E0B091}"/>
              </a:ext>
            </a:extLst>
          </p:cNvPr>
          <p:cNvSpPr/>
          <p:nvPr/>
        </p:nvSpPr>
        <p:spPr>
          <a:xfrm>
            <a:off x="5607214" y="3806980"/>
            <a:ext cx="2914655" cy="439749"/>
          </a:xfrm>
          <a:prstGeom prst="roundRect">
            <a:avLst>
              <a:gd name="adj" fmla="val 2207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will you adjust their meds?</a:t>
            </a:r>
          </a:p>
        </p:txBody>
      </p:sp>
      <p:sp>
        <p:nvSpPr>
          <p:cNvPr id="41" name="Case 3 - question3">
            <a:extLst>
              <a:ext uri="{FF2B5EF4-FFF2-40B4-BE49-F238E27FC236}">
                <a16:creationId xmlns:a16="http://schemas.microsoft.com/office/drawing/2014/main" id="{94E1CF58-238B-4A1E-8C26-903A66299626}"/>
              </a:ext>
            </a:extLst>
          </p:cNvPr>
          <p:cNvSpPr/>
          <p:nvPr/>
        </p:nvSpPr>
        <p:spPr>
          <a:xfrm>
            <a:off x="5612032" y="5483228"/>
            <a:ext cx="2909838" cy="409274"/>
          </a:xfrm>
          <a:prstGeom prst="roundRect">
            <a:avLst>
              <a:gd name="adj" fmla="val 1843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How will you adjust their meds?</a:t>
            </a:r>
          </a:p>
        </p:txBody>
      </p:sp>
      <p:sp>
        <p:nvSpPr>
          <p:cNvPr id="43" name="Case 3 - answer1">
            <a:extLst>
              <a:ext uri="{FF2B5EF4-FFF2-40B4-BE49-F238E27FC236}">
                <a16:creationId xmlns:a16="http://schemas.microsoft.com/office/drawing/2014/main" id="{0EBEB181-81BD-4935-BF8E-E90FD179405E}"/>
              </a:ext>
            </a:extLst>
          </p:cNvPr>
          <p:cNvSpPr/>
          <p:nvPr/>
        </p:nvSpPr>
        <p:spPr>
          <a:xfrm>
            <a:off x="5586149" y="2932269"/>
            <a:ext cx="2939689" cy="775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 dirty="0"/>
              <a:t>&lt;8% </a:t>
            </a:r>
            <a:r>
              <a:rPr lang="en-US" sz="1500" dirty="0"/>
              <a:t>given age and comorbidities,</a:t>
            </a:r>
          </a:p>
          <a:p>
            <a:pPr algn="ctr"/>
            <a:r>
              <a:rPr lang="en-US" sz="1500" dirty="0"/>
              <a:t>less stringent if poor overall prognosis </a:t>
            </a:r>
          </a:p>
        </p:txBody>
      </p:sp>
      <p:sp>
        <p:nvSpPr>
          <p:cNvPr id="44" name="Case 3 - answer2">
            <a:extLst>
              <a:ext uri="{FF2B5EF4-FFF2-40B4-BE49-F238E27FC236}">
                <a16:creationId xmlns:a16="http://schemas.microsoft.com/office/drawing/2014/main" id="{E832D7C1-2453-49C1-845B-A4238F5A4D0C}"/>
              </a:ext>
            </a:extLst>
          </p:cNvPr>
          <p:cNvSpPr/>
          <p:nvPr/>
        </p:nvSpPr>
        <p:spPr>
          <a:xfrm>
            <a:off x="5598875" y="4299082"/>
            <a:ext cx="2970982" cy="519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 dirty="0"/>
              <a:t>Discontinue insulin</a:t>
            </a:r>
            <a:r>
              <a:rPr lang="en-US" sz="1500" dirty="0"/>
              <a:t>. Consider starting </a:t>
            </a:r>
            <a:r>
              <a:rPr lang="en-US" sz="1500" b="1" dirty="0"/>
              <a:t>SGLT2</a:t>
            </a:r>
            <a:r>
              <a:rPr lang="en-US" sz="1500" dirty="0"/>
              <a:t> for diabetic CKD.</a:t>
            </a:r>
          </a:p>
        </p:txBody>
      </p:sp>
      <p:sp>
        <p:nvSpPr>
          <p:cNvPr id="45" name="Case 3 - answer 3">
            <a:extLst>
              <a:ext uri="{FF2B5EF4-FFF2-40B4-BE49-F238E27FC236}">
                <a16:creationId xmlns:a16="http://schemas.microsoft.com/office/drawing/2014/main" id="{E21EA725-8E56-429B-A24C-D359B25EA847}"/>
              </a:ext>
            </a:extLst>
          </p:cNvPr>
          <p:cNvSpPr/>
          <p:nvPr/>
        </p:nvSpPr>
        <p:spPr>
          <a:xfrm>
            <a:off x="5669595" y="5921727"/>
            <a:ext cx="2852274" cy="786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Stop </a:t>
            </a:r>
            <a:r>
              <a:rPr lang="en-US" sz="1500" b="1" dirty="0"/>
              <a:t>metformin </a:t>
            </a:r>
            <a:r>
              <a:rPr lang="en-US" sz="1500" dirty="0"/>
              <a:t>(GFR&lt;30). Given worsening comorbidities, accept A1c up to 8.5%.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6DE9CF0D-6C7A-4173-B99C-6059A6E74E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2177" y="2784410"/>
            <a:ext cx="302506" cy="302506"/>
          </a:xfrm>
          <a:prstGeom prst="rect">
            <a:avLst/>
          </a:prstGeom>
        </p:spPr>
      </p:pic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59B4338A-FB9C-4E6F-B6F6-E7D73B784D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9397" y="4105427"/>
            <a:ext cx="302506" cy="302506"/>
          </a:xfrm>
          <a:prstGeom prst="rect">
            <a:avLst/>
          </a:prstGeom>
        </p:spPr>
      </p:pic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0DE61551-B860-44BB-9C93-47845CD6D8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754" y="5765085"/>
            <a:ext cx="302506" cy="302506"/>
          </a:xfrm>
          <a:prstGeom prst="rect">
            <a:avLst/>
          </a:prstGeom>
        </p:spPr>
      </p:pic>
      <p:sp>
        <p:nvSpPr>
          <p:cNvPr id="69" name="Case 1 text">
            <a:extLst>
              <a:ext uri="{FF2B5EF4-FFF2-40B4-BE49-F238E27FC236}">
                <a16:creationId xmlns:a16="http://schemas.microsoft.com/office/drawing/2014/main" id="{28FAF219-B0F0-4D6F-A011-8C6E213E6DC1}"/>
              </a:ext>
            </a:extLst>
          </p:cNvPr>
          <p:cNvSpPr txBox="1"/>
          <p:nvPr/>
        </p:nvSpPr>
        <p:spPr>
          <a:xfrm>
            <a:off x="1972876" y="685107"/>
            <a:ext cx="3522799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45 yo with T2DM and tobacco use presents for routine DM follow up. Meds include metformin 2000 mg ER and simvastatin.  </a:t>
            </a:r>
          </a:p>
          <a:p>
            <a:r>
              <a:rPr lang="en-US" sz="1500" u="sng" dirty="0">
                <a:ea typeface="+mn-lt"/>
                <a:cs typeface="+mn-lt"/>
              </a:rPr>
              <a:t>Exam</a:t>
            </a:r>
            <a:r>
              <a:rPr lang="en-US" sz="1500" dirty="0">
                <a:ea typeface="+mn-lt"/>
                <a:cs typeface="+mn-lt"/>
              </a:rPr>
              <a:t>: BP 152/83, foot exam </a:t>
            </a:r>
            <a:r>
              <a:rPr lang="en-US" sz="1500" dirty="0" err="1">
                <a:ea typeface="+mn-lt"/>
                <a:cs typeface="+mn-lt"/>
              </a:rPr>
              <a:t>nml</a:t>
            </a:r>
            <a:r>
              <a:rPr lang="en-US" sz="1500" dirty="0">
                <a:ea typeface="+mn-lt"/>
                <a:cs typeface="+mn-lt"/>
              </a:rPr>
              <a:t>, BMI 24.</a:t>
            </a:r>
          </a:p>
          <a:p>
            <a:pPr marL="114300" indent="-114300"/>
            <a:r>
              <a:rPr lang="en-US" sz="1500" u="sng" dirty="0">
                <a:ea typeface="+mn-lt"/>
                <a:cs typeface="+mn-lt"/>
              </a:rPr>
              <a:t>Labs</a:t>
            </a:r>
            <a:r>
              <a:rPr lang="en-US" sz="1500" dirty="0">
                <a:ea typeface="+mn-lt"/>
                <a:cs typeface="+mn-lt"/>
              </a:rPr>
              <a:t>: A1c 7.4%, Cr 1.2, Urine </a:t>
            </a:r>
            <a:r>
              <a:rPr lang="en-US" sz="1500" dirty="0" err="1">
                <a:ea typeface="+mn-lt"/>
                <a:cs typeface="+mn-lt"/>
              </a:rPr>
              <a:t>albumin:Cr</a:t>
            </a:r>
            <a:r>
              <a:rPr lang="en-US" sz="1500" dirty="0">
                <a:ea typeface="+mn-lt"/>
                <a:cs typeface="+mn-lt"/>
              </a:rPr>
              <a:t> ratio is 303 mg/g</a:t>
            </a:r>
          </a:p>
        </p:txBody>
      </p:sp>
      <p:sp>
        <p:nvSpPr>
          <p:cNvPr id="70" name="Case 1 text">
            <a:extLst>
              <a:ext uri="{FF2B5EF4-FFF2-40B4-BE49-F238E27FC236}">
                <a16:creationId xmlns:a16="http://schemas.microsoft.com/office/drawing/2014/main" id="{1065910E-CF90-44D8-909D-B155919E1E9A}"/>
              </a:ext>
            </a:extLst>
          </p:cNvPr>
          <p:cNvSpPr txBox="1"/>
          <p:nvPr/>
        </p:nvSpPr>
        <p:spPr>
          <a:xfrm>
            <a:off x="5642238" y="4873982"/>
            <a:ext cx="287963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…One year later, eGFR ↓ to 20. A1c is 8.3%. </a:t>
            </a:r>
          </a:p>
        </p:txBody>
      </p:sp>
      <p:sp>
        <p:nvSpPr>
          <p:cNvPr id="71" name="Case 2 - question4">
            <a:extLst>
              <a:ext uri="{FF2B5EF4-FFF2-40B4-BE49-F238E27FC236}">
                <a16:creationId xmlns:a16="http://schemas.microsoft.com/office/drawing/2014/main" id="{1800A814-73AD-4DB4-8E3B-9AFEDDF20384}"/>
              </a:ext>
            </a:extLst>
          </p:cNvPr>
          <p:cNvSpPr/>
          <p:nvPr/>
        </p:nvSpPr>
        <p:spPr>
          <a:xfrm>
            <a:off x="1979252" y="5559351"/>
            <a:ext cx="3380361" cy="54614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Their A1c ↑ after losing their job. What is the next step in management?</a:t>
            </a:r>
          </a:p>
        </p:txBody>
      </p:sp>
      <p:sp>
        <p:nvSpPr>
          <p:cNvPr id="72" name="Case 2 - answer4">
            <a:extLst>
              <a:ext uri="{FF2B5EF4-FFF2-40B4-BE49-F238E27FC236}">
                <a16:creationId xmlns:a16="http://schemas.microsoft.com/office/drawing/2014/main" id="{626E3D91-3D5D-4C92-A133-C593B3D01B3F}"/>
              </a:ext>
            </a:extLst>
          </p:cNvPr>
          <p:cNvSpPr/>
          <p:nvPr/>
        </p:nvSpPr>
        <p:spPr>
          <a:xfrm>
            <a:off x="1979250" y="6136456"/>
            <a:ext cx="3363479" cy="528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Assess social determinants of health and mental health. </a:t>
            </a:r>
          </a:p>
        </p:txBody>
      </p:sp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5BA68D11-D93D-44BD-B52B-E753D53F43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5345" y="5977229"/>
            <a:ext cx="302506" cy="302506"/>
          </a:xfrm>
          <a:prstGeom prst="rect">
            <a:avLst/>
          </a:prstGeom>
        </p:spPr>
      </p:pic>
      <p:sp>
        <p:nvSpPr>
          <p:cNvPr id="60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6C5F38AE-3E58-4B47-BA3B-AA1977334390}"/>
              </a:ext>
            </a:extLst>
          </p:cNvPr>
          <p:cNvSpPr txBox="1"/>
          <p:nvPr/>
        </p:nvSpPr>
        <p:spPr>
          <a:xfrm>
            <a:off x="185324" y="192280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Dx &amp; Screening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57A25E4A-C739-4938-8EAC-F5947D0942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470527"/>
            <a:ext cx="301752" cy="301752"/>
          </a:xfrm>
          <a:prstGeom prst="rect">
            <a:avLst/>
          </a:prstGeom>
        </p:spPr>
      </p:pic>
      <p:sp>
        <p:nvSpPr>
          <p:cNvPr id="68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9F8A9DD4-3F04-41A7-AC6D-A2E724D47452}"/>
              </a:ext>
            </a:extLst>
          </p:cNvPr>
          <p:cNvSpPr txBox="1"/>
          <p:nvPr/>
        </p:nvSpPr>
        <p:spPr>
          <a:xfrm>
            <a:off x="185325" y="770352"/>
            <a:ext cx="1660032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74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EDC3B614-3CFE-4F34-91AB-AB945AFA2D60}"/>
              </a:ext>
            </a:extLst>
          </p:cNvPr>
          <p:cNvSpPr txBox="1"/>
          <p:nvPr/>
        </p:nvSpPr>
        <p:spPr>
          <a:xfrm>
            <a:off x="185323" y="2504568"/>
            <a:ext cx="1660033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9AC6C5B1-8E1E-4F93-AFF8-FD40685DE5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046672"/>
            <a:ext cx="301752" cy="301752"/>
          </a:xfrm>
          <a:prstGeom prst="rect">
            <a:avLst/>
          </a:prstGeom>
        </p:spPr>
      </p:pic>
      <p:sp>
        <p:nvSpPr>
          <p:cNvPr id="77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07D4E243-E941-4407-A15F-2682982ED3F6}"/>
              </a:ext>
            </a:extLst>
          </p:cNvPr>
          <p:cNvSpPr txBox="1"/>
          <p:nvPr/>
        </p:nvSpPr>
        <p:spPr>
          <a:xfrm>
            <a:off x="185324" y="1348424"/>
            <a:ext cx="1660033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Management</a:t>
            </a:r>
          </a:p>
        </p:txBody>
      </p:sp>
      <p:sp>
        <p:nvSpPr>
          <p:cNvPr id="78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E14D327F-3815-46CD-8CEB-2665EE133DD4}"/>
              </a:ext>
            </a:extLst>
          </p:cNvPr>
          <p:cNvSpPr txBox="1"/>
          <p:nvPr/>
        </p:nvSpPr>
        <p:spPr>
          <a:xfrm>
            <a:off x="185324" y="1926496"/>
            <a:ext cx="166003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Interventions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3DC19021-617E-4F9E-BB82-1B89786632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2195800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2B6E17C4-63E1-4A66-B305-B88E52E6F5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454" y="1609333"/>
            <a:ext cx="301752" cy="301752"/>
          </a:xfrm>
          <a:prstGeom prst="rect">
            <a:avLst/>
          </a:prstGeom>
        </p:spPr>
      </p:pic>
      <p:sp>
        <p:nvSpPr>
          <p:cNvPr id="80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E876A01D-70EF-4A4E-A32B-0E5A2364081E}"/>
              </a:ext>
            </a:extLst>
          </p:cNvPr>
          <p:cNvSpPr txBox="1"/>
          <p:nvPr/>
        </p:nvSpPr>
        <p:spPr>
          <a:xfrm>
            <a:off x="523068" y="3039971"/>
            <a:ext cx="1312526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1-3</a:t>
            </a:r>
          </a:p>
        </p:txBody>
      </p:sp>
      <p:sp>
        <p:nvSpPr>
          <p:cNvPr id="83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2C015ED2-9E01-4D31-8233-17D06C72B0C2}"/>
              </a:ext>
            </a:extLst>
          </p:cNvPr>
          <p:cNvSpPr txBox="1"/>
          <p:nvPr/>
        </p:nvSpPr>
        <p:spPr>
          <a:xfrm>
            <a:off x="509928" y="3570744"/>
            <a:ext cx="1335428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4-6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C51952BB-74C1-4AA5-99E4-E340857135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5827" y="2996155"/>
            <a:ext cx="336171" cy="16008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9C27B6E7-FB39-438C-9CD4-8BC36811F0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537" y="3400533"/>
            <a:ext cx="512725" cy="15605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F1799448-5357-4A0B-8C59-6EEC85BCE2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1124" y="3306836"/>
            <a:ext cx="301752" cy="301752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0E1A621-4412-423F-82E6-93326A2AA79E}"/>
              </a:ext>
            </a:extLst>
          </p:cNvPr>
          <p:cNvCxnSpPr>
            <a:cxnSpLocks/>
          </p:cNvCxnSpPr>
          <p:nvPr/>
        </p:nvCxnSpPr>
        <p:spPr>
          <a:xfrm>
            <a:off x="8693835" y="218314"/>
            <a:ext cx="0" cy="646055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se 1">
            <a:extLst>
              <a:ext uri="{FF2B5EF4-FFF2-40B4-BE49-F238E27FC236}">
                <a16:creationId xmlns:a16="http://schemas.microsoft.com/office/drawing/2014/main" id="{E3EB8B78-A1F1-4E1D-9B0D-00DF6A8E10B0}"/>
              </a:ext>
            </a:extLst>
          </p:cNvPr>
          <p:cNvSpPr/>
          <p:nvPr/>
        </p:nvSpPr>
        <p:spPr>
          <a:xfrm>
            <a:off x="9420520" y="149748"/>
            <a:ext cx="1980371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6</a:t>
            </a:r>
          </a:p>
        </p:txBody>
      </p:sp>
      <p:sp>
        <p:nvSpPr>
          <p:cNvPr id="91" name="Case 1 text">
            <a:extLst>
              <a:ext uri="{FF2B5EF4-FFF2-40B4-BE49-F238E27FC236}">
                <a16:creationId xmlns:a16="http://schemas.microsoft.com/office/drawing/2014/main" id="{09F1D825-ACD1-4CEE-9455-6614FBAB7599}"/>
              </a:ext>
            </a:extLst>
          </p:cNvPr>
          <p:cNvSpPr txBox="1"/>
          <p:nvPr/>
        </p:nvSpPr>
        <p:spPr>
          <a:xfrm>
            <a:off x="8839547" y="678803"/>
            <a:ext cx="327918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How would you manage the following patients’ diabetes therapies?</a:t>
            </a:r>
          </a:p>
        </p:txBody>
      </p:sp>
      <p:sp>
        <p:nvSpPr>
          <p:cNvPr id="92" name="Case 1 - Q4">
            <a:extLst>
              <a:ext uri="{FF2B5EF4-FFF2-40B4-BE49-F238E27FC236}">
                <a16:creationId xmlns:a16="http://schemas.microsoft.com/office/drawing/2014/main" id="{41EA8423-3D04-4923-A796-BCA1D4E758CC}"/>
              </a:ext>
            </a:extLst>
          </p:cNvPr>
          <p:cNvSpPr/>
          <p:nvPr/>
        </p:nvSpPr>
        <p:spPr>
          <a:xfrm>
            <a:off x="8813714" y="2605951"/>
            <a:ext cx="3200400" cy="640080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53 </a:t>
            </a:r>
            <a:r>
              <a:rPr lang="en-US" sz="1500" dirty="0" err="1"/>
              <a:t>yo</a:t>
            </a:r>
            <a:r>
              <a:rPr lang="en-US" sz="1500" dirty="0"/>
              <a:t> homeless and uninsured, T2DM on metformin. CKD3. A1c 8.5%.</a:t>
            </a:r>
          </a:p>
        </p:txBody>
      </p:sp>
      <p:sp>
        <p:nvSpPr>
          <p:cNvPr id="97" name="Case 1 - A4">
            <a:extLst>
              <a:ext uri="{FF2B5EF4-FFF2-40B4-BE49-F238E27FC236}">
                <a16:creationId xmlns:a16="http://schemas.microsoft.com/office/drawing/2014/main" id="{BE7E3913-F787-423D-B86A-97076FF19719}"/>
              </a:ext>
            </a:extLst>
          </p:cNvPr>
          <p:cNvSpPr/>
          <p:nvPr/>
        </p:nvSpPr>
        <p:spPr>
          <a:xfrm>
            <a:off x="8805973" y="3284962"/>
            <a:ext cx="3224082" cy="572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Glipizide (not glyburide given CKD). Insulin may be hard to manage.</a:t>
            </a:r>
          </a:p>
        </p:txBody>
      </p:sp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98FA2FFD-9460-4B3B-AEB8-80B630BC9EC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2998" y="3097515"/>
            <a:ext cx="302506" cy="302506"/>
          </a:xfrm>
          <a:prstGeom prst="rect">
            <a:avLst/>
          </a:prstGeom>
        </p:spPr>
      </p:pic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E26AF87F-5CC2-47B1-B118-1A44C1BA08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2778" y="409109"/>
            <a:ext cx="302506" cy="302506"/>
          </a:xfrm>
          <a:prstGeom prst="rect">
            <a:avLst/>
          </a:prstGeom>
        </p:spPr>
      </p:pic>
      <p:sp>
        <p:nvSpPr>
          <p:cNvPr id="105" name="Case 1 - Q1">
            <a:extLst>
              <a:ext uri="{FF2B5EF4-FFF2-40B4-BE49-F238E27FC236}">
                <a16:creationId xmlns:a16="http://schemas.microsoft.com/office/drawing/2014/main" id="{47C69A6A-D35A-487C-A0D3-8044ACA61370}"/>
              </a:ext>
            </a:extLst>
          </p:cNvPr>
          <p:cNvSpPr/>
          <p:nvPr/>
        </p:nvSpPr>
        <p:spPr>
          <a:xfrm>
            <a:off x="8813713" y="1295991"/>
            <a:ext cx="3200400" cy="64008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45 </a:t>
            </a:r>
            <a:r>
              <a:rPr lang="en-US" sz="1500" dirty="0" err="1"/>
              <a:t>yo</a:t>
            </a:r>
            <a:r>
              <a:rPr lang="en-US" sz="1500" dirty="0"/>
              <a:t> with T2DM on metformin, PAD s/p amputation. A1c 6.5%.</a:t>
            </a:r>
          </a:p>
        </p:txBody>
      </p:sp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BE4BF225-E337-4FC2-A4D4-5BDDE0B151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2998" y="1763427"/>
            <a:ext cx="302506" cy="302506"/>
          </a:xfrm>
          <a:prstGeom prst="rect">
            <a:avLst/>
          </a:prstGeom>
        </p:spPr>
      </p:pic>
      <p:sp>
        <p:nvSpPr>
          <p:cNvPr id="107" name="Case 1 - A1">
            <a:extLst>
              <a:ext uri="{FF2B5EF4-FFF2-40B4-BE49-F238E27FC236}">
                <a16:creationId xmlns:a16="http://schemas.microsoft.com/office/drawing/2014/main" id="{FC0266B5-69C4-41AF-B455-B91021D0CE84}"/>
              </a:ext>
            </a:extLst>
          </p:cNvPr>
          <p:cNvSpPr/>
          <p:nvPr/>
        </p:nvSpPr>
        <p:spPr>
          <a:xfrm>
            <a:off x="8852472" y="1974354"/>
            <a:ext cx="3161641" cy="54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GLP1</a:t>
            </a:r>
            <a:r>
              <a:rPr lang="en-US" sz="1500" dirty="0"/>
              <a:t> for ASCVD regardless of A1c. Avoid SGLT2 (amputations).</a:t>
            </a:r>
          </a:p>
        </p:txBody>
      </p:sp>
      <p:sp>
        <p:nvSpPr>
          <p:cNvPr id="108" name="Case 1 - A5">
            <a:extLst>
              <a:ext uri="{FF2B5EF4-FFF2-40B4-BE49-F238E27FC236}">
                <a16:creationId xmlns:a16="http://schemas.microsoft.com/office/drawing/2014/main" id="{B86EB0E1-6447-45F3-9494-B7F045502092}"/>
              </a:ext>
            </a:extLst>
          </p:cNvPr>
          <p:cNvSpPr/>
          <p:nvPr/>
        </p:nvSpPr>
        <p:spPr>
          <a:xfrm>
            <a:off x="8825216" y="4597180"/>
            <a:ext cx="3209274" cy="337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GLP1</a:t>
            </a:r>
            <a:r>
              <a:rPr lang="en-US" sz="1500" dirty="0"/>
              <a:t> given </a:t>
            </a:r>
            <a:r>
              <a:rPr lang="en-US" sz="1500" dirty="0" err="1"/>
              <a:t>HFrEF</a:t>
            </a:r>
            <a:r>
              <a:rPr lang="en-US" sz="1500" dirty="0"/>
              <a:t>. Avoid SGLT2 (DKA).  </a:t>
            </a:r>
          </a:p>
        </p:txBody>
      </p:sp>
      <p:sp>
        <p:nvSpPr>
          <p:cNvPr id="109" name="Case 1 - Q5">
            <a:extLst>
              <a:ext uri="{FF2B5EF4-FFF2-40B4-BE49-F238E27FC236}">
                <a16:creationId xmlns:a16="http://schemas.microsoft.com/office/drawing/2014/main" id="{DF9EA7F1-F64C-4DDD-AABD-AB9BA08C7080}"/>
              </a:ext>
            </a:extLst>
          </p:cNvPr>
          <p:cNvSpPr/>
          <p:nvPr/>
        </p:nvSpPr>
        <p:spPr>
          <a:xfrm>
            <a:off x="8817814" y="3918239"/>
            <a:ext cx="3200400" cy="637609"/>
          </a:xfrm>
          <a:prstGeom prst="roundRect">
            <a:avLst>
              <a:gd name="adj" fmla="val 2054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72 </a:t>
            </a:r>
            <a:r>
              <a:rPr lang="en-US" sz="1500" dirty="0" err="1"/>
              <a:t>yo</a:t>
            </a:r>
            <a:r>
              <a:rPr lang="en-US" sz="1500" dirty="0"/>
              <a:t> with T2DM on metformin, prior DKA, </a:t>
            </a:r>
            <a:r>
              <a:rPr lang="en-US" sz="1500" dirty="0" err="1"/>
              <a:t>HFrEF</a:t>
            </a:r>
            <a:r>
              <a:rPr lang="en-US" sz="1500" dirty="0"/>
              <a:t>. A1c 8.6%. </a:t>
            </a:r>
          </a:p>
        </p:txBody>
      </p:sp>
      <p:pic>
        <p:nvPicPr>
          <p:cNvPr id="110" name="Graphic 109" descr="Cursor with solid fill">
            <a:extLst>
              <a:ext uri="{FF2B5EF4-FFF2-40B4-BE49-F238E27FC236}">
                <a16:creationId xmlns:a16="http://schemas.microsoft.com/office/drawing/2014/main" id="{7CDC24C8-DD10-4718-86C8-2E7B17B23B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2998" y="4404595"/>
            <a:ext cx="302506" cy="302506"/>
          </a:xfrm>
          <a:prstGeom prst="rect">
            <a:avLst/>
          </a:prstGeom>
        </p:spPr>
      </p:pic>
      <p:sp>
        <p:nvSpPr>
          <p:cNvPr id="76" name="Case 1 - A5">
            <a:extLst>
              <a:ext uri="{FF2B5EF4-FFF2-40B4-BE49-F238E27FC236}">
                <a16:creationId xmlns:a16="http://schemas.microsoft.com/office/drawing/2014/main" id="{A7F064CC-8321-4A01-AC43-5ECB49855142}"/>
              </a:ext>
            </a:extLst>
          </p:cNvPr>
          <p:cNvSpPr/>
          <p:nvPr/>
        </p:nvSpPr>
        <p:spPr>
          <a:xfrm>
            <a:off x="8887171" y="5979993"/>
            <a:ext cx="3123503" cy="643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Stop SGLT2 </a:t>
            </a:r>
            <a:r>
              <a:rPr lang="en-US" sz="1500" dirty="0"/>
              <a:t>(possible ↑ risk of fracture). </a:t>
            </a:r>
            <a:r>
              <a:rPr lang="en-US" sz="1500" b="1" dirty="0"/>
              <a:t>Start GLP1 </a:t>
            </a:r>
            <a:r>
              <a:rPr lang="en-US" sz="1500" dirty="0"/>
              <a:t>(</a:t>
            </a:r>
            <a:r>
              <a:rPr lang="en-US" sz="1500" dirty="0" err="1"/>
              <a:t>renoprotective</a:t>
            </a:r>
            <a:r>
              <a:rPr lang="en-US" sz="1500" dirty="0"/>
              <a:t>)</a:t>
            </a:r>
          </a:p>
        </p:txBody>
      </p:sp>
      <p:sp>
        <p:nvSpPr>
          <p:cNvPr id="86" name="Case 1 - Q5">
            <a:extLst>
              <a:ext uri="{FF2B5EF4-FFF2-40B4-BE49-F238E27FC236}">
                <a16:creationId xmlns:a16="http://schemas.microsoft.com/office/drawing/2014/main" id="{06B4CFC3-1AED-4C89-A0AF-BA8D0CE9594B}"/>
              </a:ext>
            </a:extLst>
          </p:cNvPr>
          <p:cNvSpPr/>
          <p:nvPr/>
        </p:nvSpPr>
        <p:spPr>
          <a:xfrm>
            <a:off x="8825222" y="5072920"/>
            <a:ext cx="3200400" cy="885039"/>
          </a:xfrm>
          <a:prstGeom prst="roundRect">
            <a:avLst>
              <a:gd name="adj" fmla="val 1301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67 </a:t>
            </a:r>
            <a:r>
              <a:rPr lang="en-US" sz="1500" dirty="0" err="1"/>
              <a:t>yo</a:t>
            </a:r>
            <a:r>
              <a:rPr lang="en-US" sz="1500" dirty="0"/>
              <a:t> with CKD3, T2DM on metformin and SGLT2 with a femur fracture after a ground level fall. A1c 8.5%</a:t>
            </a:r>
          </a:p>
        </p:txBody>
      </p:sp>
      <p:pic>
        <p:nvPicPr>
          <p:cNvPr id="93" name="Graphic 92" descr="Cursor with solid fill">
            <a:extLst>
              <a:ext uri="{FF2B5EF4-FFF2-40B4-BE49-F238E27FC236}">
                <a16:creationId xmlns:a16="http://schemas.microsoft.com/office/drawing/2014/main" id="{DC29F18E-AA53-41C0-91BB-E2308BF7E7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2998" y="5838004"/>
            <a:ext cx="302506" cy="30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2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148" grpId="0"/>
      <p:bldP spid="57" grpId="0" animBg="1"/>
      <p:bldP spid="58" grpId="0" animBg="1"/>
      <p:bldP spid="59" grpId="0" animBg="1"/>
      <p:bldP spid="61" grpId="0"/>
      <p:bldP spid="62" grpId="0"/>
      <p:bldP spid="63" grpId="0"/>
      <p:bldP spid="39" grpId="0" animBg="1"/>
      <p:bldP spid="40" grpId="0" animBg="1"/>
      <p:bldP spid="41" grpId="0" animBg="1"/>
      <p:bldP spid="43" grpId="0"/>
      <p:bldP spid="44" grpId="0"/>
      <p:bldP spid="45" grpId="0"/>
      <p:bldP spid="69" grpId="0"/>
      <p:bldP spid="70" grpId="0"/>
      <p:bldP spid="71" grpId="0" animBg="1"/>
      <p:bldP spid="72" grpId="0" animBg="1"/>
      <p:bldP spid="91" grpId="0"/>
      <p:bldP spid="92" grpId="0" animBg="1"/>
      <p:bldP spid="97" grpId="0" animBg="1"/>
      <p:bldP spid="105" grpId="0" animBg="1"/>
      <p:bldP spid="107" grpId="0"/>
      <p:bldP spid="108" grpId="0" animBg="1"/>
      <p:bldP spid="109" grpId="0" animBg="1"/>
      <p:bldP spid="76" grpId="0" animBg="1"/>
      <p:bldP spid="8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Practice Update — ADA Standards of Care 2025–2026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E6E8C"/>
                </a:solidFill>
                <a:latin typeface="Calibri"/>
              </a:rPr>
              <a:t>• Organ-protection drugs are now a CORE strategy, independent of A1c or metformin. Start an SGLT2 inhibitor and/or GLP-1 RA with proven benefit in anyone with ASCVD (or high risk), HF, or CKD — even at A1c goal.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Metformin is no longer mandated first for everyone; comorbidity-driven agents may be started first (metformin still reasonable, low-cost, eGFR ≥30).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Consider INITIAL combination therapy when A1c is 1.5–2.0% above goal, or with established/high-risk CVD.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Weight + glycemia: prefer a GLP-1 RA or dual GIP/GLP-1 RA (semaglutide, tirzepatide) for greater weight loss; useful in obesity, MASLD/MASH, HFpEF.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HF (HFrEF and HFpEF): SGLT2 inhibitor recommended for glycemic control + fewer HF hospitalizations.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CKD with albuminuria despite ACEi/ARB + SGLT2i: add finerenone (nonsteroidal MRA) to further reduce CKD progression and CV events.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• Screening unchanged: start at age 35 (or earlier with overweight/obesity + ≥1 risk factor).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Source: ADA Standards of Care in Diabetes 2025 &amp; 2026 (Diabetes Care, Suppl. 1, Sections 2, 9, 10, 11).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Screen for T2DM at age 35, or earlier if BMI ≥25 (≥23 in Asian Americans) plus a risk factor; every 3 yr, or yearly if prediabetes (A1c 5.7–6.4%).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Diabetes drives microvascular (retinopathy, nephropathy, neuropathy) and macrovascular (ASCVD) disease. Screen microvascular complications yearly; tight A1c (&lt;7%) prevents micro- but not established macrovascular disease.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Individualize therapy by comorbidity FIRST, then A1c. ASCVD/HF/CKD → SGLT2i and/or GLP-1 RA regardless of A1c (mortality/renal benefit; insulin has none).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Liberalize A1c to 8–8.5% in older adults with limited life expectancy or many comorbidities; avoid hypoglycemia.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• Adapted from TeachIM.org "Outpatient Management of Type II Diabetes Mellitus" (Brett, Guinn, Melton, Trefilek, Fainstad; exec. ed. Zhang). Published Mar 2022, last reviewed Jun 2023.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teachim.org/teaching_material/op-dm2/ — Licensed CC BY-NC 4.0 (attribution, non-commercial). Educational use only; clinician-reviewed.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Surgical corrections to original deck: "duraglitude" → "dulaglutide" (slide 5); "SGTL2" → "SGLT2" ×2 (slide 4); UACR "303 mg/dL" → "303 mg/g" (case 4, slide 7).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Added (source-cited): ADA 2025–2026 Standards of Care update slide (organ-protection as core therapy, initial combination therapy, GIP/GLP-1 dual agonists, finerenone for residual-albuminuria CKD).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Companion files in package: Facilitator Guide (T2DM 2023), Learner Handout — Treatment Options, medication-class table.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• Optimization run: 2026-06-10.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18890</TotalTime>
  <Words>1275</Words>
  <Application>Microsoft Office PowerPoint</Application>
  <PresentationFormat>Widescreen</PresentationFormat>
  <Paragraphs>292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Sabon Next LT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193</cp:revision>
  <dcterms:created xsi:type="dcterms:W3CDTF">2020-12-09T20:37:45Z</dcterms:created>
  <dcterms:modified xsi:type="dcterms:W3CDTF">2022-04-19T20:56:41Z</dcterms:modified>
</cp:coreProperties>
</file>