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6357" autoAdjust="0"/>
  </p:normalViewPr>
  <p:slideViewPr>
    <p:cSldViewPr snapToGrid="0">
      <p:cViewPr varScale="1">
        <p:scale>
          <a:sx n="84" d="100"/>
          <a:sy n="84" d="100"/>
        </p:scale>
        <p:origin x="84" y="7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C4970-4E77-4F0D-91BA-BD74EAF41A32}" type="datetimeFigureOut">
              <a:rPr lang="en-US" smtClean="0"/>
              <a:t>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898BC-E8AB-43E1-9B04-FBEEF3F4C36A}" type="slidenum">
              <a:rPr lang="en-US" smtClean="0"/>
              <a:t>‹#›</a:t>
            </a:fld>
            <a:endParaRPr lang="en-US"/>
          </a:p>
        </p:txBody>
      </p:sp>
    </p:spTree>
    <p:extLst>
      <p:ext uri="{BB962C8B-B14F-4D97-AF65-F5344CB8AC3E}">
        <p14:creationId xmlns:p14="http://schemas.microsoft.com/office/powerpoint/2010/main" val="1371192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cg.bidmc.harvard.edu/maven/dispcase.asp?rownum=108&amp;ans=1&amp;caseid=109"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ecg.bidmc.harvard.edu/maven/dispcase.asp?rownum=96&amp;ans=1&amp;caseid=97" TargetMode="External"/><Relationship Id="rId4" Type="http://schemas.openxmlformats.org/officeDocument/2006/relationships/hyperlink" Target="https://en.wikipedia.org/wiki/Junctional_tachycardia"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Atrial tachycardia rhythm – ECG maven </a:t>
            </a:r>
            <a:r>
              <a:rPr lang="en-US" dirty="0">
                <a:hlinkClick r:id="rId3"/>
              </a:rPr>
              <a:t>https://ecg.bidmc.harvard.edu/maven/dispcase.asp?rownum=108&amp;ans=1&amp;caseid=109</a:t>
            </a:r>
            <a:endParaRPr lang="en-US" dirty="0"/>
          </a:p>
          <a:p>
            <a:r>
              <a:rPr lang="en-US" dirty="0"/>
              <a:t>Junctional tachycardia – wiki </a:t>
            </a:r>
            <a:r>
              <a:rPr lang="en-US" dirty="0">
                <a:hlinkClick r:id="rId4"/>
              </a:rPr>
              <a:t>https://en.wikipedia.org/wiki/Junctional_tachycardia</a:t>
            </a:r>
            <a:endParaRPr lang="en-US" dirty="0"/>
          </a:p>
          <a:p>
            <a:r>
              <a:rPr lang="en-US" dirty="0"/>
              <a:t>AVRT – ECG maven </a:t>
            </a:r>
            <a:r>
              <a:rPr lang="en-US" dirty="0">
                <a:hlinkClick r:id="rId5"/>
              </a:rPr>
              <a:t>https://ecg.bidmc.harvard.edu/maven/dispcase.asp?rownum=96&amp;ans=1&amp;caseid=97</a:t>
            </a:r>
            <a:endParaRPr lang="en-US" dirty="0"/>
          </a:p>
          <a:p>
            <a:endParaRPr lang="en-US" dirty="0"/>
          </a:p>
        </p:txBody>
      </p:sp>
      <p:sp>
        <p:nvSpPr>
          <p:cNvPr id="4" name="Slide Number Placeholder 3"/>
          <p:cNvSpPr>
            <a:spLocks noGrp="1"/>
          </p:cNvSpPr>
          <p:nvPr>
            <p:ph type="sldNum" sz="quarter" idx="5"/>
          </p:nvPr>
        </p:nvSpPr>
        <p:spPr/>
        <p:txBody>
          <a:bodyPr/>
          <a:lstStyle/>
          <a:p>
            <a:fld id="{50D898BC-E8AB-43E1-9B04-FBEEF3F4C36A}" type="slidenum">
              <a:rPr lang="en-US" smtClean="0"/>
              <a:t>1</a:t>
            </a:fld>
            <a:endParaRPr lang="en-US"/>
          </a:p>
        </p:txBody>
      </p:sp>
    </p:spTree>
    <p:extLst>
      <p:ext uri="{BB962C8B-B14F-4D97-AF65-F5344CB8AC3E}">
        <p14:creationId xmlns:p14="http://schemas.microsoft.com/office/powerpoint/2010/main" val="119768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4F41F-010C-4AA3-A088-B91554E09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C4A124-FD5D-4837-AF00-E01D631617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31F2F9-7BB2-4FA5-946C-70AE6ED18437}"/>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D35A438B-0ED0-4541-9671-004F0881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F86EF7-DCB9-45E0-AE6F-1343463A9EE2}"/>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44140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7682-7CCC-45A7-AF36-3279CD45D4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4A4903-2404-4CB2-9FFF-2DA6DECD1E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81A7B-648F-483F-A200-E867D419613D}"/>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A91A8FD8-B7F8-4263-8B70-2A1ED9168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C5914-82A5-4220-81E6-CDAD6628607D}"/>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1139379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7D62-88EF-4619-B383-A62B4AD669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46C883-9E5B-41B4-B70D-8FEA7EA517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46B507-B918-4DD7-8770-45706161A789}"/>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B0CFB769-A7E6-4C5B-B6F2-0CB8F4534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C8698-7119-43B4-96E5-402AC84BA50F}"/>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3609281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1DAD-0FAF-4BEE-959D-C37076A73C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69E01A-2723-49B2-8F7F-306CF0EFBB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8053BD-635C-4C1F-ACFE-DDE21E74B9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69F7F2-6A83-4CE9-9066-8D8607E583CF}"/>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6" name="Footer Placeholder 5">
            <a:extLst>
              <a:ext uri="{FF2B5EF4-FFF2-40B4-BE49-F238E27FC236}">
                <a16:creationId xmlns:a16="http://schemas.microsoft.com/office/drawing/2014/main" id="{3475A197-5DD4-40F0-A729-0EECE2BFEF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CB674E-1AE8-4653-8436-E3DD62E93CFD}"/>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3148101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CDA01-D1BB-46AF-A7B6-4ECA5A409E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EBDEA6-964D-4BE9-BCBE-004F4A8FF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6F33ED-2D0B-45D2-9725-441B70FAD6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47F5C4-4112-4B5E-8D3F-C951F22AF2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75A370-6CCE-4F8B-BFC2-B6B46109DC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0B5C7E-9BFF-4115-B321-39020E39ADFE}"/>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8" name="Footer Placeholder 7">
            <a:extLst>
              <a:ext uri="{FF2B5EF4-FFF2-40B4-BE49-F238E27FC236}">
                <a16:creationId xmlns:a16="http://schemas.microsoft.com/office/drawing/2014/main" id="{BD4E899B-9A1A-402B-AE7C-197F083AA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76BAB7-D153-4B1A-A746-589E61D190BA}"/>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1001677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5A89-896C-4647-9181-FD982F9F1E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8E3C96-EDC4-4B83-94D3-8ED7DF471A43}"/>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4" name="Footer Placeholder 3">
            <a:extLst>
              <a:ext uri="{FF2B5EF4-FFF2-40B4-BE49-F238E27FC236}">
                <a16:creationId xmlns:a16="http://schemas.microsoft.com/office/drawing/2014/main" id="{8C2D73EE-260F-4477-8A43-866F2755B8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5D5C0A-9776-4F9E-A1E7-F618A872C9EF}"/>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1881464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FF79B7-F0E3-4518-BC85-3B5712DB476B}"/>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3" name="Footer Placeholder 2">
            <a:extLst>
              <a:ext uri="{FF2B5EF4-FFF2-40B4-BE49-F238E27FC236}">
                <a16:creationId xmlns:a16="http://schemas.microsoft.com/office/drawing/2014/main" id="{BF404D82-2356-490A-8A4D-CE41CAB546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962DD-1084-4E8B-AD1F-018BB691B186}"/>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4149835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BB28-442F-426A-9EF3-2B12D6876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7F85B9-1548-42AD-9301-457AC200AA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C6B0D4-139D-4C41-996C-65FAE90E8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03A5B-BFE0-4116-BC14-3CE222DECF8D}"/>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6" name="Footer Placeholder 5">
            <a:extLst>
              <a:ext uri="{FF2B5EF4-FFF2-40B4-BE49-F238E27FC236}">
                <a16:creationId xmlns:a16="http://schemas.microsoft.com/office/drawing/2014/main" id="{2E7B90AC-4F41-4190-B68C-1E7481173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A6C1BC-7276-4975-9CC1-DAFC693A4A1D}"/>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1571543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633D-7C8D-43A7-8EAB-A0FDD80573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280C69-B22F-4718-AC56-B811AEB2EB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CCFDFC-9811-49C5-B964-91E3148D8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7B9A20-75AF-4C77-9D35-5263EC5712DB}"/>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6" name="Footer Placeholder 5">
            <a:extLst>
              <a:ext uri="{FF2B5EF4-FFF2-40B4-BE49-F238E27FC236}">
                <a16:creationId xmlns:a16="http://schemas.microsoft.com/office/drawing/2014/main" id="{6D8B5B6D-FD84-48B4-8D5A-4122F96F9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E34546-8312-4B9A-BE73-78B06D8B2409}"/>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2440692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BCBE0-C737-4D03-8AE4-C753C2353D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4919E6-6623-4274-93BE-F549CB8C7A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179CF-872E-45BA-B4AD-98418525343D}"/>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519782BA-00B7-4061-89A0-ACBAC6B31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C443-F6ED-4AA9-80D2-69C0258C5F33}"/>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851637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09199-65AD-4F57-9F78-E97983F3E8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FDA709-4176-4AD6-AF20-6665D334DB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EEF7DA-FE9E-4864-8D4C-BD3C680A7748}"/>
              </a:ext>
            </a:extLst>
          </p:cNvPr>
          <p:cNvSpPr>
            <a:spLocks noGrp="1"/>
          </p:cNvSpPr>
          <p:nvPr>
            <p:ph type="dt" sz="half" idx="10"/>
          </p:nvPr>
        </p:nvSpPr>
        <p:spPr/>
        <p:txBody>
          <a:body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E098DD3E-4604-44D3-9072-759989414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21CB5-ACF3-4DB7-B702-A875C32BE241}"/>
              </a:ext>
            </a:extLst>
          </p:cNvPr>
          <p:cNvSpPr>
            <a:spLocks noGrp="1"/>
          </p:cNvSpPr>
          <p:nvPr>
            <p:ph type="sldNum" sz="quarter" idx="12"/>
          </p:nvPr>
        </p:nvSpPr>
        <p:spPr/>
        <p:txBody>
          <a:bodyPr/>
          <a:lstStyle/>
          <a:p>
            <a:fld id="{288E2806-898F-4585-9313-504C659B2A38}" type="slidenum">
              <a:rPr lang="en-US" smtClean="0"/>
              <a:t>‹#›</a:t>
            </a:fld>
            <a:endParaRPr lang="en-US"/>
          </a:p>
        </p:txBody>
      </p:sp>
    </p:spTree>
    <p:extLst>
      <p:ext uri="{BB962C8B-B14F-4D97-AF65-F5344CB8AC3E}">
        <p14:creationId xmlns:p14="http://schemas.microsoft.com/office/powerpoint/2010/main" val="2794548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C53F7-DE67-4A0B-8D7F-0003A72CA7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FACA85-2B7D-467D-9323-8DA6590BEF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2E095-86D7-4AA0-B25B-969BC4461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6BAF28-A6B9-4006-9DD6-D137F260DB7C}" type="datetimeFigureOut">
              <a:rPr lang="en-US" smtClean="0"/>
              <a:t>1/7/2020</a:t>
            </a:fld>
            <a:endParaRPr lang="en-US"/>
          </a:p>
        </p:txBody>
      </p:sp>
      <p:sp>
        <p:nvSpPr>
          <p:cNvPr id="5" name="Footer Placeholder 4">
            <a:extLst>
              <a:ext uri="{FF2B5EF4-FFF2-40B4-BE49-F238E27FC236}">
                <a16:creationId xmlns:a16="http://schemas.microsoft.com/office/drawing/2014/main" id="{59A28613-9F25-4A3A-91BC-BD03976F3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ED3E39-9B93-45E4-A2B9-C6BAF171C9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8E2806-898F-4585-9313-504C659B2A38}" type="slidenum">
              <a:rPr lang="en-US" smtClean="0"/>
              <a:t>‹#›</a:t>
            </a:fld>
            <a:endParaRPr lang="en-US"/>
          </a:p>
        </p:txBody>
      </p:sp>
    </p:spTree>
    <p:extLst>
      <p:ext uri="{BB962C8B-B14F-4D97-AF65-F5344CB8AC3E}">
        <p14:creationId xmlns:p14="http://schemas.microsoft.com/office/powerpoint/2010/main" val="168715349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close up of a logo&#10;&#10;Description automatically generated">
            <a:extLst>
              <a:ext uri="{FF2B5EF4-FFF2-40B4-BE49-F238E27FC236}">
                <a16:creationId xmlns:a16="http://schemas.microsoft.com/office/drawing/2014/main" id="{5519CF2A-45AF-4187-B8CB-560993945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9829" y="725144"/>
            <a:ext cx="5621818" cy="5800165"/>
          </a:xfrm>
          <a:prstGeom prst="rect">
            <a:avLst/>
          </a:prstGeom>
        </p:spPr>
      </p:pic>
      <p:sp>
        <p:nvSpPr>
          <p:cNvPr id="6" name="ST button">
            <a:extLst>
              <a:ext uri="{FF2B5EF4-FFF2-40B4-BE49-F238E27FC236}">
                <a16:creationId xmlns:a16="http://schemas.microsoft.com/office/drawing/2014/main" id="{9D3187BD-A56F-497F-91D6-C89E650020FC}"/>
              </a:ext>
            </a:extLst>
          </p:cNvPr>
          <p:cNvSpPr/>
          <p:nvPr/>
        </p:nvSpPr>
        <p:spPr>
          <a:xfrm>
            <a:off x="3377645" y="1083759"/>
            <a:ext cx="430530" cy="31682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AT button">
            <a:extLst>
              <a:ext uri="{FF2B5EF4-FFF2-40B4-BE49-F238E27FC236}">
                <a16:creationId xmlns:a16="http://schemas.microsoft.com/office/drawing/2014/main" id="{D72C941D-A48E-4C64-B0B9-6399EB992F0F}"/>
              </a:ext>
            </a:extLst>
          </p:cNvPr>
          <p:cNvSpPr/>
          <p:nvPr/>
        </p:nvSpPr>
        <p:spPr>
          <a:xfrm>
            <a:off x="3377645" y="1785176"/>
            <a:ext cx="430530" cy="316822"/>
          </a:xfrm>
          <a:prstGeom prst="roundRect">
            <a:avLst/>
          </a:prstGeom>
          <a:solidFill>
            <a:schemeClr val="accent4">
              <a:lumMod val="60000"/>
              <a:lumOff val="40000"/>
            </a:schemeClr>
          </a:solid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AT text">
            <a:extLst>
              <a:ext uri="{FF2B5EF4-FFF2-40B4-BE49-F238E27FC236}">
                <a16:creationId xmlns:a16="http://schemas.microsoft.com/office/drawing/2014/main" id="{445120CB-2302-407E-8817-8A8756B75C64}"/>
              </a:ext>
            </a:extLst>
          </p:cNvPr>
          <p:cNvSpPr txBox="1"/>
          <p:nvPr/>
        </p:nvSpPr>
        <p:spPr>
          <a:xfrm>
            <a:off x="3833124" y="1827310"/>
            <a:ext cx="1828449" cy="276999"/>
          </a:xfrm>
          <a:prstGeom prst="rect">
            <a:avLst/>
          </a:prstGeom>
          <a:noFill/>
        </p:spPr>
        <p:txBody>
          <a:bodyPr wrap="square" rtlCol="0">
            <a:spAutoFit/>
          </a:bodyPr>
          <a:lstStyle/>
          <a:p>
            <a:r>
              <a:rPr lang="en-US" sz="1200" dirty="0"/>
              <a:t>Atrial Tachycardia</a:t>
            </a:r>
          </a:p>
        </p:txBody>
      </p:sp>
      <p:sp>
        <p:nvSpPr>
          <p:cNvPr id="10" name="JT button">
            <a:extLst>
              <a:ext uri="{FF2B5EF4-FFF2-40B4-BE49-F238E27FC236}">
                <a16:creationId xmlns:a16="http://schemas.microsoft.com/office/drawing/2014/main" id="{08DEFE93-6F38-49E4-A4CA-80FDD4571392}"/>
              </a:ext>
            </a:extLst>
          </p:cNvPr>
          <p:cNvSpPr/>
          <p:nvPr/>
        </p:nvSpPr>
        <p:spPr>
          <a:xfrm>
            <a:off x="3377645" y="2449347"/>
            <a:ext cx="430530" cy="316822"/>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 name="JT text">
            <a:extLst>
              <a:ext uri="{FF2B5EF4-FFF2-40B4-BE49-F238E27FC236}">
                <a16:creationId xmlns:a16="http://schemas.microsoft.com/office/drawing/2014/main" id="{2D74850F-1EA0-44A5-B643-0F8BDEEADE78}"/>
              </a:ext>
            </a:extLst>
          </p:cNvPr>
          <p:cNvSpPr txBox="1"/>
          <p:nvPr/>
        </p:nvSpPr>
        <p:spPr>
          <a:xfrm>
            <a:off x="3833124" y="2491481"/>
            <a:ext cx="2279920" cy="276999"/>
          </a:xfrm>
          <a:prstGeom prst="rect">
            <a:avLst/>
          </a:prstGeom>
          <a:noFill/>
        </p:spPr>
        <p:txBody>
          <a:bodyPr wrap="square" rtlCol="0">
            <a:spAutoFit/>
          </a:bodyPr>
          <a:lstStyle/>
          <a:p>
            <a:r>
              <a:rPr lang="en-US" sz="1200" dirty="0"/>
              <a:t>Junctional Tachycardia</a:t>
            </a:r>
          </a:p>
        </p:txBody>
      </p:sp>
      <p:sp>
        <p:nvSpPr>
          <p:cNvPr id="12" name="AVnRT button">
            <a:extLst>
              <a:ext uri="{FF2B5EF4-FFF2-40B4-BE49-F238E27FC236}">
                <a16:creationId xmlns:a16="http://schemas.microsoft.com/office/drawing/2014/main" id="{431253D6-B5C1-4468-9D1E-01DF4C9771AA}"/>
              </a:ext>
            </a:extLst>
          </p:cNvPr>
          <p:cNvSpPr/>
          <p:nvPr/>
        </p:nvSpPr>
        <p:spPr>
          <a:xfrm>
            <a:off x="3377645" y="3149874"/>
            <a:ext cx="430530" cy="31682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3" name="AVnRT text">
            <a:extLst>
              <a:ext uri="{FF2B5EF4-FFF2-40B4-BE49-F238E27FC236}">
                <a16:creationId xmlns:a16="http://schemas.microsoft.com/office/drawing/2014/main" id="{92348914-9ED6-4A5C-AAEE-2D4F39BA551E}"/>
              </a:ext>
            </a:extLst>
          </p:cNvPr>
          <p:cNvSpPr txBox="1"/>
          <p:nvPr/>
        </p:nvSpPr>
        <p:spPr>
          <a:xfrm>
            <a:off x="3833124" y="3192008"/>
            <a:ext cx="5062283" cy="276999"/>
          </a:xfrm>
          <a:prstGeom prst="rect">
            <a:avLst/>
          </a:prstGeom>
          <a:noFill/>
        </p:spPr>
        <p:txBody>
          <a:bodyPr wrap="square" rtlCol="0">
            <a:spAutoFit/>
          </a:bodyPr>
          <a:lstStyle/>
          <a:p>
            <a:r>
              <a:rPr lang="en-US" sz="1200" dirty="0"/>
              <a:t>Atrioventricular Nodal Re-entry Tachycardia (</a:t>
            </a:r>
            <a:r>
              <a:rPr lang="en-US" sz="1200" dirty="0" err="1"/>
              <a:t>AVnRT</a:t>
            </a:r>
            <a:r>
              <a:rPr lang="en-US" sz="1200" dirty="0"/>
              <a:t>)</a:t>
            </a:r>
          </a:p>
        </p:txBody>
      </p:sp>
      <p:sp>
        <p:nvSpPr>
          <p:cNvPr id="14" name="AVRT button">
            <a:extLst>
              <a:ext uri="{FF2B5EF4-FFF2-40B4-BE49-F238E27FC236}">
                <a16:creationId xmlns:a16="http://schemas.microsoft.com/office/drawing/2014/main" id="{EE1D4D0B-8647-4609-9A7E-6DEBBC37B7F0}"/>
              </a:ext>
            </a:extLst>
          </p:cNvPr>
          <p:cNvSpPr/>
          <p:nvPr/>
        </p:nvSpPr>
        <p:spPr>
          <a:xfrm>
            <a:off x="3377645" y="3887265"/>
            <a:ext cx="430530" cy="316822"/>
          </a:xfrm>
          <a:prstGeom prst="roundRect">
            <a:avLst/>
          </a:prstGeom>
          <a:solidFill>
            <a:srgbClr val="FF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5" name="AVRT text">
            <a:extLst>
              <a:ext uri="{FF2B5EF4-FFF2-40B4-BE49-F238E27FC236}">
                <a16:creationId xmlns:a16="http://schemas.microsoft.com/office/drawing/2014/main" id="{ECF28B8D-B86F-41B8-96B7-1243B1CC0733}"/>
              </a:ext>
            </a:extLst>
          </p:cNvPr>
          <p:cNvSpPr txBox="1"/>
          <p:nvPr/>
        </p:nvSpPr>
        <p:spPr>
          <a:xfrm>
            <a:off x="3833124" y="3929399"/>
            <a:ext cx="4336956" cy="276999"/>
          </a:xfrm>
          <a:prstGeom prst="rect">
            <a:avLst/>
          </a:prstGeom>
          <a:noFill/>
        </p:spPr>
        <p:txBody>
          <a:bodyPr wrap="square" rtlCol="0">
            <a:spAutoFit/>
          </a:bodyPr>
          <a:lstStyle/>
          <a:p>
            <a:r>
              <a:rPr lang="en-US" sz="1200" dirty="0"/>
              <a:t>Atrioventricular Re-entry Tachycardia (AVRT)</a:t>
            </a:r>
          </a:p>
        </p:txBody>
      </p:sp>
      <p:sp>
        <p:nvSpPr>
          <p:cNvPr id="16" name="AF button">
            <a:extLst>
              <a:ext uri="{FF2B5EF4-FFF2-40B4-BE49-F238E27FC236}">
                <a16:creationId xmlns:a16="http://schemas.microsoft.com/office/drawing/2014/main" id="{513EEEB9-EEDB-41E0-A933-2CF95D9F2EE9}"/>
              </a:ext>
            </a:extLst>
          </p:cNvPr>
          <p:cNvSpPr/>
          <p:nvPr/>
        </p:nvSpPr>
        <p:spPr>
          <a:xfrm>
            <a:off x="3377645" y="4641750"/>
            <a:ext cx="430530" cy="316822"/>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7" name="AF text">
            <a:extLst>
              <a:ext uri="{FF2B5EF4-FFF2-40B4-BE49-F238E27FC236}">
                <a16:creationId xmlns:a16="http://schemas.microsoft.com/office/drawing/2014/main" id="{DB50A90F-F366-4503-B4CE-81ADB0A9301B}"/>
              </a:ext>
            </a:extLst>
          </p:cNvPr>
          <p:cNvSpPr txBox="1"/>
          <p:nvPr/>
        </p:nvSpPr>
        <p:spPr>
          <a:xfrm>
            <a:off x="3833124" y="4683884"/>
            <a:ext cx="1362489" cy="276999"/>
          </a:xfrm>
          <a:prstGeom prst="rect">
            <a:avLst/>
          </a:prstGeom>
          <a:noFill/>
        </p:spPr>
        <p:txBody>
          <a:bodyPr wrap="square" rtlCol="0">
            <a:spAutoFit/>
          </a:bodyPr>
          <a:lstStyle/>
          <a:p>
            <a:r>
              <a:rPr lang="en-US" sz="1200" dirty="0"/>
              <a:t>Atrial Flutter</a:t>
            </a:r>
          </a:p>
        </p:txBody>
      </p:sp>
      <p:sp>
        <p:nvSpPr>
          <p:cNvPr id="18" name="Afib button">
            <a:extLst>
              <a:ext uri="{FF2B5EF4-FFF2-40B4-BE49-F238E27FC236}">
                <a16:creationId xmlns:a16="http://schemas.microsoft.com/office/drawing/2014/main" id="{14D887D3-2D5A-477B-86C5-502E4B276CBB}"/>
              </a:ext>
            </a:extLst>
          </p:cNvPr>
          <p:cNvSpPr/>
          <p:nvPr/>
        </p:nvSpPr>
        <p:spPr>
          <a:xfrm>
            <a:off x="3377645" y="5396235"/>
            <a:ext cx="430530" cy="316822"/>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9" name="Afib text">
            <a:extLst>
              <a:ext uri="{FF2B5EF4-FFF2-40B4-BE49-F238E27FC236}">
                <a16:creationId xmlns:a16="http://schemas.microsoft.com/office/drawing/2014/main" id="{84A8887D-4784-4668-BF13-2B9FEB83C097}"/>
              </a:ext>
            </a:extLst>
          </p:cNvPr>
          <p:cNvSpPr txBox="1"/>
          <p:nvPr/>
        </p:nvSpPr>
        <p:spPr>
          <a:xfrm>
            <a:off x="3833124" y="5438369"/>
            <a:ext cx="1739643" cy="276999"/>
          </a:xfrm>
          <a:prstGeom prst="rect">
            <a:avLst/>
          </a:prstGeom>
          <a:noFill/>
        </p:spPr>
        <p:txBody>
          <a:bodyPr wrap="square" rtlCol="0">
            <a:spAutoFit/>
          </a:bodyPr>
          <a:lstStyle/>
          <a:p>
            <a:r>
              <a:rPr lang="en-US" sz="1200" dirty="0"/>
              <a:t>Atrial Fibrillation</a:t>
            </a:r>
          </a:p>
        </p:txBody>
      </p:sp>
      <p:sp>
        <p:nvSpPr>
          <p:cNvPr id="20" name="MAT button">
            <a:extLst>
              <a:ext uri="{FF2B5EF4-FFF2-40B4-BE49-F238E27FC236}">
                <a16:creationId xmlns:a16="http://schemas.microsoft.com/office/drawing/2014/main" id="{415C653B-2E61-40D5-B4E8-FA85C2588F97}"/>
              </a:ext>
            </a:extLst>
          </p:cNvPr>
          <p:cNvSpPr/>
          <p:nvPr/>
        </p:nvSpPr>
        <p:spPr>
          <a:xfrm>
            <a:off x="3377645" y="6150720"/>
            <a:ext cx="430530" cy="316822"/>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1" name="MAT text">
            <a:extLst>
              <a:ext uri="{FF2B5EF4-FFF2-40B4-BE49-F238E27FC236}">
                <a16:creationId xmlns:a16="http://schemas.microsoft.com/office/drawing/2014/main" id="{0BA31E27-8B50-434F-BFD9-0708437371AC}"/>
              </a:ext>
            </a:extLst>
          </p:cNvPr>
          <p:cNvSpPr txBox="1"/>
          <p:nvPr/>
        </p:nvSpPr>
        <p:spPr>
          <a:xfrm>
            <a:off x="3833124" y="6192854"/>
            <a:ext cx="3019096" cy="276999"/>
          </a:xfrm>
          <a:prstGeom prst="rect">
            <a:avLst/>
          </a:prstGeom>
          <a:noFill/>
        </p:spPr>
        <p:txBody>
          <a:bodyPr wrap="square" rtlCol="0">
            <a:spAutoFit/>
          </a:bodyPr>
          <a:lstStyle/>
          <a:p>
            <a:r>
              <a:rPr lang="en-US" sz="1200" dirty="0"/>
              <a:t>Multifocal Atrial Tachycardia (MAT)</a:t>
            </a:r>
          </a:p>
        </p:txBody>
      </p:sp>
      <p:sp>
        <p:nvSpPr>
          <p:cNvPr id="25" name="Sinus node">
            <a:extLst>
              <a:ext uri="{FF2B5EF4-FFF2-40B4-BE49-F238E27FC236}">
                <a16:creationId xmlns:a16="http://schemas.microsoft.com/office/drawing/2014/main" id="{DF8A3BF8-4C56-4815-827A-8CED21FA16D3}"/>
              </a:ext>
            </a:extLst>
          </p:cNvPr>
          <p:cNvSpPr/>
          <p:nvPr/>
        </p:nvSpPr>
        <p:spPr>
          <a:xfrm>
            <a:off x="7077462" y="1647490"/>
            <a:ext cx="171450" cy="17145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AT animation">
            <a:extLst>
              <a:ext uri="{FF2B5EF4-FFF2-40B4-BE49-F238E27FC236}">
                <a16:creationId xmlns:a16="http://schemas.microsoft.com/office/drawing/2014/main" id="{A505C462-DBF4-4676-B07C-4952C5C50712}"/>
              </a:ext>
            </a:extLst>
          </p:cNvPr>
          <p:cNvSpPr/>
          <p:nvPr/>
        </p:nvSpPr>
        <p:spPr>
          <a:xfrm>
            <a:off x="9248494" y="1594345"/>
            <a:ext cx="171450" cy="171450"/>
          </a:xfrm>
          <a:prstGeom prst="irregularSeal1">
            <a:avLst/>
          </a:prstGeom>
          <a:solidFill>
            <a:schemeClr val="accent4">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Junctional Node">
            <a:extLst>
              <a:ext uri="{FF2B5EF4-FFF2-40B4-BE49-F238E27FC236}">
                <a16:creationId xmlns:a16="http://schemas.microsoft.com/office/drawing/2014/main" id="{B5D381C2-74C0-4069-8AF0-2BA44195B44D}"/>
              </a:ext>
            </a:extLst>
          </p:cNvPr>
          <p:cNvSpPr/>
          <p:nvPr/>
        </p:nvSpPr>
        <p:spPr>
          <a:xfrm>
            <a:off x="8728622" y="3082502"/>
            <a:ext cx="171450" cy="171450"/>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 name="AVnRT animation">
            <a:extLst>
              <a:ext uri="{FF2B5EF4-FFF2-40B4-BE49-F238E27FC236}">
                <a16:creationId xmlns:a16="http://schemas.microsoft.com/office/drawing/2014/main" id="{6C0335BA-4612-4578-9C0D-9C3478101C1F}"/>
              </a:ext>
            </a:extLst>
          </p:cNvPr>
          <p:cNvGrpSpPr/>
          <p:nvPr/>
        </p:nvGrpSpPr>
        <p:grpSpPr>
          <a:xfrm>
            <a:off x="8389515" y="2792097"/>
            <a:ext cx="1052677" cy="752260"/>
            <a:chOff x="8175143" y="2773043"/>
            <a:chExt cx="1052677" cy="752260"/>
          </a:xfrm>
        </p:grpSpPr>
        <p:sp>
          <p:nvSpPr>
            <p:cNvPr id="32" name="Arc 31">
              <a:extLst>
                <a:ext uri="{FF2B5EF4-FFF2-40B4-BE49-F238E27FC236}">
                  <a16:creationId xmlns:a16="http://schemas.microsoft.com/office/drawing/2014/main" id="{C2B81A6B-9ACE-4FCC-A656-1F0196F0049B}"/>
                </a:ext>
              </a:extLst>
            </p:cNvPr>
            <p:cNvSpPr/>
            <p:nvPr/>
          </p:nvSpPr>
          <p:spPr>
            <a:xfrm rot="9184351">
              <a:off x="8390076" y="2953350"/>
              <a:ext cx="377757" cy="363545"/>
            </a:xfrm>
            <a:prstGeom prst="arc">
              <a:avLst>
                <a:gd name="adj1" fmla="val 16200000"/>
                <a:gd name="adj2" fmla="val 5240307"/>
              </a:avLst>
            </a:prstGeom>
            <a:ln w="9525" cap="flat" cmpd="sng" algn="ctr">
              <a:solidFill>
                <a:schemeClr val="accent2">
                  <a:lumMod val="75000"/>
                </a:schemeClr>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4D8BED3D-532B-4DA7-854E-D5AAE48F0ECA}"/>
                </a:ext>
              </a:extLst>
            </p:cNvPr>
            <p:cNvSpPr/>
            <p:nvPr/>
          </p:nvSpPr>
          <p:spPr>
            <a:xfrm>
              <a:off x="8488680" y="2908517"/>
              <a:ext cx="340993" cy="388112"/>
            </a:xfrm>
            <a:custGeom>
              <a:avLst/>
              <a:gdLst>
                <a:gd name="connsiteX0" fmla="*/ 173073 w 323568"/>
                <a:gd name="connsiteY0" fmla="*/ 382286 h 388112"/>
                <a:gd name="connsiteX1" fmla="*/ 203553 w 323568"/>
                <a:gd name="connsiteY1" fmla="*/ 388001 h 388112"/>
                <a:gd name="connsiteX2" fmla="*/ 216888 w 323568"/>
                <a:gd name="connsiteY2" fmla="*/ 386096 h 388112"/>
                <a:gd name="connsiteX3" fmla="*/ 222603 w 323568"/>
                <a:gd name="connsiteY3" fmla="*/ 380381 h 388112"/>
                <a:gd name="connsiteX4" fmla="*/ 228318 w 323568"/>
                <a:gd name="connsiteY4" fmla="*/ 367046 h 388112"/>
                <a:gd name="connsiteX5" fmla="*/ 232128 w 323568"/>
                <a:gd name="connsiteY5" fmla="*/ 359426 h 388112"/>
                <a:gd name="connsiteX6" fmla="*/ 235938 w 323568"/>
                <a:gd name="connsiteY6" fmla="*/ 317516 h 388112"/>
                <a:gd name="connsiteX7" fmla="*/ 314043 w 323568"/>
                <a:gd name="connsiteY7" fmla="*/ 300371 h 388112"/>
                <a:gd name="connsiteX8" fmla="*/ 317853 w 323568"/>
                <a:gd name="connsiteY8" fmla="*/ 288941 h 388112"/>
                <a:gd name="connsiteX9" fmla="*/ 315948 w 323568"/>
                <a:gd name="connsiteY9" fmla="*/ 266081 h 388112"/>
                <a:gd name="connsiteX10" fmla="*/ 312138 w 323568"/>
                <a:gd name="connsiteY10" fmla="*/ 260366 h 388112"/>
                <a:gd name="connsiteX11" fmla="*/ 300708 w 323568"/>
                <a:gd name="connsiteY11" fmla="*/ 250841 h 388112"/>
                <a:gd name="connsiteX12" fmla="*/ 291183 w 323568"/>
                <a:gd name="connsiteY12" fmla="*/ 239411 h 388112"/>
                <a:gd name="connsiteX13" fmla="*/ 285468 w 323568"/>
                <a:gd name="connsiteY13" fmla="*/ 235601 h 388112"/>
                <a:gd name="connsiteX14" fmla="*/ 287373 w 323568"/>
                <a:gd name="connsiteY14" fmla="*/ 214646 h 388112"/>
                <a:gd name="connsiteX15" fmla="*/ 293088 w 323568"/>
                <a:gd name="connsiteY15" fmla="*/ 210836 h 388112"/>
                <a:gd name="connsiteX16" fmla="*/ 300708 w 323568"/>
                <a:gd name="connsiteY16" fmla="*/ 208931 h 388112"/>
                <a:gd name="connsiteX17" fmla="*/ 306423 w 323568"/>
                <a:gd name="connsiteY17" fmla="*/ 207026 h 388112"/>
                <a:gd name="connsiteX18" fmla="*/ 323568 w 323568"/>
                <a:gd name="connsiteY18" fmla="*/ 191786 h 388112"/>
                <a:gd name="connsiteX19" fmla="*/ 321663 w 323568"/>
                <a:gd name="connsiteY19" fmla="*/ 170831 h 388112"/>
                <a:gd name="connsiteX20" fmla="*/ 315948 w 323568"/>
                <a:gd name="connsiteY20" fmla="*/ 167021 h 388112"/>
                <a:gd name="connsiteX21" fmla="*/ 310233 w 323568"/>
                <a:gd name="connsiteY21" fmla="*/ 161306 h 388112"/>
                <a:gd name="connsiteX22" fmla="*/ 296898 w 323568"/>
                <a:gd name="connsiteY22" fmla="*/ 151781 h 388112"/>
                <a:gd name="connsiteX23" fmla="*/ 283563 w 323568"/>
                <a:gd name="connsiteY23" fmla="*/ 146066 h 388112"/>
                <a:gd name="connsiteX24" fmla="*/ 275943 w 323568"/>
                <a:gd name="connsiteY24" fmla="*/ 140351 h 388112"/>
                <a:gd name="connsiteX25" fmla="*/ 264513 w 323568"/>
                <a:gd name="connsiteY25" fmla="*/ 134636 h 388112"/>
                <a:gd name="connsiteX26" fmla="*/ 253083 w 323568"/>
                <a:gd name="connsiteY26" fmla="*/ 123206 h 388112"/>
                <a:gd name="connsiteX27" fmla="*/ 251178 w 323568"/>
                <a:gd name="connsiteY27" fmla="*/ 117491 h 388112"/>
                <a:gd name="connsiteX28" fmla="*/ 262608 w 323568"/>
                <a:gd name="connsiteY28" fmla="*/ 94631 h 388112"/>
                <a:gd name="connsiteX29" fmla="*/ 268323 w 323568"/>
                <a:gd name="connsiteY29" fmla="*/ 88916 h 388112"/>
                <a:gd name="connsiteX30" fmla="*/ 270228 w 323568"/>
                <a:gd name="connsiteY30" fmla="*/ 83201 h 388112"/>
                <a:gd name="connsiteX31" fmla="*/ 275943 w 323568"/>
                <a:gd name="connsiteY31" fmla="*/ 77486 h 388112"/>
                <a:gd name="connsiteX32" fmla="*/ 279753 w 323568"/>
                <a:gd name="connsiteY32" fmla="*/ 71771 h 388112"/>
                <a:gd name="connsiteX33" fmla="*/ 277848 w 323568"/>
                <a:gd name="connsiteY33" fmla="*/ 54626 h 388112"/>
                <a:gd name="connsiteX34" fmla="*/ 262608 w 323568"/>
                <a:gd name="connsiteY34" fmla="*/ 56531 h 388112"/>
                <a:gd name="connsiteX35" fmla="*/ 249273 w 323568"/>
                <a:gd name="connsiteY35" fmla="*/ 58436 h 388112"/>
                <a:gd name="connsiteX36" fmla="*/ 222603 w 323568"/>
                <a:gd name="connsiteY36" fmla="*/ 64151 h 388112"/>
                <a:gd name="connsiteX37" fmla="*/ 216888 w 323568"/>
                <a:gd name="connsiteY37" fmla="*/ 67961 h 388112"/>
                <a:gd name="connsiteX38" fmla="*/ 188313 w 323568"/>
                <a:gd name="connsiteY38" fmla="*/ 64151 h 388112"/>
                <a:gd name="connsiteX39" fmla="*/ 180693 w 323568"/>
                <a:gd name="connsiteY39" fmla="*/ 22241 h 388112"/>
                <a:gd name="connsiteX40" fmla="*/ 174978 w 323568"/>
                <a:gd name="connsiteY40" fmla="*/ 20336 h 388112"/>
                <a:gd name="connsiteX41" fmla="*/ 155928 w 323568"/>
                <a:gd name="connsiteY41" fmla="*/ 24146 h 388112"/>
                <a:gd name="connsiteX42" fmla="*/ 154023 w 323568"/>
                <a:gd name="connsiteY42" fmla="*/ 29861 h 388112"/>
                <a:gd name="connsiteX43" fmla="*/ 148308 w 323568"/>
                <a:gd name="connsiteY43" fmla="*/ 33671 h 388112"/>
                <a:gd name="connsiteX44" fmla="*/ 129258 w 323568"/>
                <a:gd name="connsiteY44" fmla="*/ 48911 h 388112"/>
                <a:gd name="connsiteX45" fmla="*/ 123543 w 323568"/>
                <a:gd name="connsiteY45" fmla="*/ 43196 h 388112"/>
                <a:gd name="connsiteX46" fmla="*/ 119733 w 323568"/>
                <a:gd name="connsiteY46" fmla="*/ 37481 h 388112"/>
                <a:gd name="connsiteX47" fmla="*/ 108303 w 323568"/>
                <a:gd name="connsiteY47" fmla="*/ 26051 h 388112"/>
                <a:gd name="connsiteX48" fmla="*/ 102588 w 323568"/>
                <a:gd name="connsiteY48" fmla="*/ 20336 h 388112"/>
                <a:gd name="connsiteX49" fmla="*/ 100683 w 323568"/>
                <a:gd name="connsiteY49" fmla="*/ 14621 h 388112"/>
                <a:gd name="connsiteX50" fmla="*/ 89253 w 323568"/>
                <a:gd name="connsiteY50" fmla="*/ 7001 h 388112"/>
                <a:gd name="connsiteX51" fmla="*/ 68298 w 323568"/>
                <a:gd name="connsiteY51" fmla="*/ 3191 h 388112"/>
                <a:gd name="connsiteX52" fmla="*/ 60678 w 323568"/>
                <a:gd name="connsiteY52" fmla="*/ 14621 h 388112"/>
                <a:gd name="connsiteX53" fmla="*/ 58773 w 323568"/>
                <a:gd name="connsiteY53" fmla="*/ 58436 h 388112"/>
                <a:gd name="connsiteX54" fmla="*/ 53058 w 323568"/>
                <a:gd name="connsiteY54" fmla="*/ 62246 h 388112"/>
                <a:gd name="connsiteX55" fmla="*/ 1623 w 323568"/>
                <a:gd name="connsiteY55" fmla="*/ 66056 h 388112"/>
                <a:gd name="connsiteX56" fmla="*/ 1623 w 323568"/>
                <a:gd name="connsiteY56" fmla="*/ 77486 h 38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23568" h="388112">
                  <a:moveTo>
                    <a:pt x="173073" y="382286"/>
                  </a:moveTo>
                  <a:cubicBezTo>
                    <a:pt x="183233" y="384191"/>
                    <a:pt x="193255" y="387106"/>
                    <a:pt x="203553" y="388001"/>
                  </a:cubicBezTo>
                  <a:cubicBezTo>
                    <a:pt x="208026" y="388390"/>
                    <a:pt x="212719" y="387764"/>
                    <a:pt x="216888" y="386096"/>
                  </a:cubicBezTo>
                  <a:cubicBezTo>
                    <a:pt x="219389" y="385095"/>
                    <a:pt x="221037" y="382573"/>
                    <a:pt x="222603" y="380381"/>
                  </a:cubicBezTo>
                  <a:cubicBezTo>
                    <a:pt x="227116" y="374063"/>
                    <a:pt x="225653" y="373264"/>
                    <a:pt x="228318" y="367046"/>
                  </a:cubicBezTo>
                  <a:cubicBezTo>
                    <a:pt x="229437" y="364436"/>
                    <a:pt x="230858" y="361966"/>
                    <a:pt x="232128" y="359426"/>
                  </a:cubicBezTo>
                  <a:cubicBezTo>
                    <a:pt x="233398" y="345456"/>
                    <a:pt x="228721" y="329545"/>
                    <a:pt x="235938" y="317516"/>
                  </a:cubicBezTo>
                  <a:cubicBezTo>
                    <a:pt x="248576" y="296453"/>
                    <a:pt x="299898" y="300937"/>
                    <a:pt x="314043" y="300371"/>
                  </a:cubicBezTo>
                  <a:cubicBezTo>
                    <a:pt x="315313" y="296561"/>
                    <a:pt x="317630" y="292951"/>
                    <a:pt x="317853" y="288941"/>
                  </a:cubicBezTo>
                  <a:cubicBezTo>
                    <a:pt x="318277" y="281306"/>
                    <a:pt x="317448" y="273579"/>
                    <a:pt x="315948" y="266081"/>
                  </a:cubicBezTo>
                  <a:cubicBezTo>
                    <a:pt x="315499" y="263836"/>
                    <a:pt x="313604" y="262125"/>
                    <a:pt x="312138" y="260366"/>
                  </a:cubicBezTo>
                  <a:cubicBezTo>
                    <a:pt x="307554" y="254866"/>
                    <a:pt x="306327" y="254587"/>
                    <a:pt x="300708" y="250841"/>
                  </a:cubicBezTo>
                  <a:cubicBezTo>
                    <a:pt x="296962" y="245222"/>
                    <a:pt x="296683" y="243995"/>
                    <a:pt x="291183" y="239411"/>
                  </a:cubicBezTo>
                  <a:cubicBezTo>
                    <a:pt x="289424" y="237945"/>
                    <a:pt x="287373" y="236871"/>
                    <a:pt x="285468" y="235601"/>
                  </a:cubicBezTo>
                  <a:cubicBezTo>
                    <a:pt x="286103" y="228616"/>
                    <a:pt x="285310" y="221350"/>
                    <a:pt x="287373" y="214646"/>
                  </a:cubicBezTo>
                  <a:cubicBezTo>
                    <a:pt x="288046" y="212458"/>
                    <a:pt x="290984" y="211738"/>
                    <a:pt x="293088" y="210836"/>
                  </a:cubicBezTo>
                  <a:cubicBezTo>
                    <a:pt x="295494" y="209805"/>
                    <a:pt x="298191" y="209650"/>
                    <a:pt x="300708" y="208931"/>
                  </a:cubicBezTo>
                  <a:cubicBezTo>
                    <a:pt x="302639" y="208379"/>
                    <a:pt x="304518" y="207661"/>
                    <a:pt x="306423" y="207026"/>
                  </a:cubicBezTo>
                  <a:cubicBezTo>
                    <a:pt x="319472" y="193977"/>
                    <a:pt x="313370" y="198585"/>
                    <a:pt x="323568" y="191786"/>
                  </a:cubicBezTo>
                  <a:cubicBezTo>
                    <a:pt x="322933" y="184801"/>
                    <a:pt x="323726" y="177535"/>
                    <a:pt x="321663" y="170831"/>
                  </a:cubicBezTo>
                  <a:cubicBezTo>
                    <a:pt x="320990" y="168643"/>
                    <a:pt x="317707" y="168487"/>
                    <a:pt x="315948" y="167021"/>
                  </a:cubicBezTo>
                  <a:cubicBezTo>
                    <a:pt x="313878" y="165296"/>
                    <a:pt x="312278" y="163059"/>
                    <a:pt x="310233" y="161306"/>
                  </a:cubicBezTo>
                  <a:cubicBezTo>
                    <a:pt x="309025" y="160271"/>
                    <a:pt x="299310" y="152987"/>
                    <a:pt x="296898" y="151781"/>
                  </a:cubicBezTo>
                  <a:cubicBezTo>
                    <a:pt x="283935" y="145299"/>
                    <a:pt x="299419" y="155976"/>
                    <a:pt x="283563" y="146066"/>
                  </a:cubicBezTo>
                  <a:cubicBezTo>
                    <a:pt x="280871" y="144383"/>
                    <a:pt x="278700" y="141926"/>
                    <a:pt x="275943" y="140351"/>
                  </a:cubicBezTo>
                  <a:cubicBezTo>
                    <a:pt x="266675" y="135055"/>
                    <a:pt x="273473" y="142601"/>
                    <a:pt x="264513" y="134636"/>
                  </a:cubicBezTo>
                  <a:cubicBezTo>
                    <a:pt x="260486" y="131056"/>
                    <a:pt x="253083" y="123206"/>
                    <a:pt x="253083" y="123206"/>
                  </a:cubicBezTo>
                  <a:cubicBezTo>
                    <a:pt x="252448" y="121301"/>
                    <a:pt x="250956" y="119487"/>
                    <a:pt x="251178" y="117491"/>
                  </a:cubicBezTo>
                  <a:cubicBezTo>
                    <a:pt x="252107" y="109134"/>
                    <a:pt x="257697" y="100946"/>
                    <a:pt x="262608" y="94631"/>
                  </a:cubicBezTo>
                  <a:cubicBezTo>
                    <a:pt x="264262" y="92504"/>
                    <a:pt x="266418" y="90821"/>
                    <a:pt x="268323" y="88916"/>
                  </a:cubicBezTo>
                  <a:cubicBezTo>
                    <a:pt x="268958" y="87011"/>
                    <a:pt x="269114" y="84872"/>
                    <a:pt x="270228" y="83201"/>
                  </a:cubicBezTo>
                  <a:cubicBezTo>
                    <a:pt x="271722" y="80959"/>
                    <a:pt x="274218" y="79556"/>
                    <a:pt x="275943" y="77486"/>
                  </a:cubicBezTo>
                  <a:cubicBezTo>
                    <a:pt x="277409" y="75727"/>
                    <a:pt x="278483" y="73676"/>
                    <a:pt x="279753" y="71771"/>
                  </a:cubicBezTo>
                  <a:cubicBezTo>
                    <a:pt x="279118" y="66056"/>
                    <a:pt x="282146" y="58446"/>
                    <a:pt x="277848" y="54626"/>
                  </a:cubicBezTo>
                  <a:cubicBezTo>
                    <a:pt x="274022" y="51225"/>
                    <a:pt x="267683" y="55854"/>
                    <a:pt x="262608" y="56531"/>
                  </a:cubicBezTo>
                  <a:cubicBezTo>
                    <a:pt x="258157" y="57124"/>
                    <a:pt x="253695" y="57656"/>
                    <a:pt x="249273" y="58436"/>
                  </a:cubicBezTo>
                  <a:cubicBezTo>
                    <a:pt x="234573" y="61030"/>
                    <a:pt x="233709" y="61375"/>
                    <a:pt x="222603" y="64151"/>
                  </a:cubicBezTo>
                  <a:cubicBezTo>
                    <a:pt x="220698" y="65421"/>
                    <a:pt x="219060" y="67237"/>
                    <a:pt x="216888" y="67961"/>
                  </a:cubicBezTo>
                  <a:cubicBezTo>
                    <a:pt x="203859" y="72304"/>
                    <a:pt x="202349" y="68830"/>
                    <a:pt x="188313" y="64151"/>
                  </a:cubicBezTo>
                  <a:cubicBezTo>
                    <a:pt x="187553" y="50477"/>
                    <a:pt x="192910" y="32422"/>
                    <a:pt x="180693" y="22241"/>
                  </a:cubicBezTo>
                  <a:cubicBezTo>
                    <a:pt x="179150" y="20955"/>
                    <a:pt x="176883" y="20971"/>
                    <a:pt x="174978" y="20336"/>
                  </a:cubicBezTo>
                  <a:cubicBezTo>
                    <a:pt x="168628" y="21606"/>
                    <a:pt x="161823" y="21466"/>
                    <a:pt x="155928" y="24146"/>
                  </a:cubicBezTo>
                  <a:cubicBezTo>
                    <a:pt x="154100" y="24977"/>
                    <a:pt x="155277" y="28293"/>
                    <a:pt x="154023" y="29861"/>
                  </a:cubicBezTo>
                  <a:cubicBezTo>
                    <a:pt x="152593" y="31649"/>
                    <a:pt x="150213" y="32401"/>
                    <a:pt x="148308" y="33671"/>
                  </a:cubicBezTo>
                  <a:cubicBezTo>
                    <a:pt x="138460" y="48443"/>
                    <a:pt x="145032" y="43653"/>
                    <a:pt x="129258" y="48911"/>
                  </a:cubicBezTo>
                  <a:cubicBezTo>
                    <a:pt x="127353" y="47006"/>
                    <a:pt x="125268" y="45266"/>
                    <a:pt x="123543" y="43196"/>
                  </a:cubicBezTo>
                  <a:cubicBezTo>
                    <a:pt x="122077" y="41437"/>
                    <a:pt x="121254" y="39192"/>
                    <a:pt x="119733" y="37481"/>
                  </a:cubicBezTo>
                  <a:cubicBezTo>
                    <a:pt x="116153" y="33454"/>
                    <a:pt x="112113" y="29861"/>
                    <a:pt x="108303" y="26051"/>
                  </a:cubicBezTo>
                  <a:lnTo>
                    <a:pt x="102588" y="20336"/>
                  </a:lnTo>
                  <a:cubicBezTo>
                    <a:pt x="101953" y="18431"/>
                    <a:pt x="101797" y="16292"/>
                    <a:pt x="100683" y="14621"/>
                  </a:cubicBezTo>
                  <a:cubicBezTo>
                    <a:pt x="96606" y="8505"/>
                    <a:pt x="95245" y="8998"/>
                    <a:pt x="89253" y="7001"/>
                  </a:cubicBezTo>
                  <a:cubicBezTo>
                    <a:pt x="82189" y="1703"/>
                    <a:pt x="78910" y="-3562"/>
                    <a:pt x="68298" y="3191"/>
                  </a:cubicBezTo>
                  <a:cubicBezTo>
                    <a:pt x="64435" y="5649"/>
                    <a:pt x="60678" y="14621"/>
                    <a:pt x="60678" y="14621"/>
                  </a:cubicBezTo>
                  <a:cubicBezTo>
                    <a:pt x="60043" y="29226"/>
                    <a:pt x="61083" y="44001"/>
                    <a:pt x="58773" y="58436"/>
                  </a:cubicBezTo>
                  <a:cubicBezTo>
                    <a:pt x="58411" y="60697"/>
                    <a:pt x="55327" y="61943"/>
                    <a:pt x="53058" y="62246"/>
                  </a:cubicBezTo>
                  <a:cubicBezTo>
                    <a:pt x="36017" y="64518"/>
                    <a:pt x="18107" y="61172"/>
                    <a:pt x="1623" y="66056"/>
                  </a:cubicBezTo>
                  <a:cubicBezTo>
                    <a:pt x="-2030" y="67138"/>
                    <a:pt x="1623" y="73676"/>
                    <a:pt x="1623" y="77486"/>
                  </a:cubicBezTo>
                </a:path>
              </a:pathLst>
            </a:custGeom>
            <a:noFill/>
            <a:ln>
              <a:solidFill>
                <a:schemeClr val="accent2">
                  <a:lumMod val="7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34" name="TextBox 33">
              <a:extLst>
                <a:ext uri="{FF2B5EF4-FFF2-40B4-BE49-F238E27FC236}">
                  <a16:creationId xmlns:a16="http://schemas.microsoft.com/office/drawing/2014/main" id="{78506A8B-70FE-49B2-9A81-ED74E87F00CC}"/>
                </a:ext>
              </a:extLst>
            </p:cNvPr>
            <p:cNvSpPr txBox="1"/>
            <p:nvPr/>
          </p:nvSpPr>
          <p:spPr>
            <a:xfrm>
              <a:off x="8175143" y="3248304"/>
              <a:ext cx="473473" cy="276999"/>
            </a:xfrm>
            <a:prstGeom prst="rect">
              <a:avLst/>
            </a:prstGeom>
            <a:noFill/>
          </p:spPr>
          <p:txBody>
            <a:bodyPr wrap="square" rtlCol="0">
              <a:spAutoFit/>
            </a:bodyPr>
            <a:lstStyle/>
            <a:p>
              <a:r>
                <a:rPr lang="en-US" sz="1200" dirty="0">
                  <a:solidFill>
                    <a:schemeClr val="accent2">
                      <a:lumMod val="75000"/>
                    </a:schemeClr>
                  </a:solidFill>
                </a:rPr>
                <a:t>Fast</a:t>
              </a:r>
            </a:p>
          </p:txBody>
        </p:sp>
        <p:sp>
          <p:nvSpPr>
            <p:cNvPr id="35" name="TextBox 34">
              <a:extLst>
                <a:ext uri="{FF2B5EF4-FFF2-40B4-BE49-F238E27FC236}">
                  <a16:creationId xmlns:a16="http://schemas.microsoft.com/office/drawing/2014/main" id="{11C4A1E9-66E3-4602-A21C-4D98E803F3DB}"/>
                </a:ext>
              </a:extLst>
            </p:cNvPr>
            <p:cNvSpPr txBox="1"/>
            <p:nvPr/>
          </p:nvSpPr>
          <p:spPr>
            <a:xfrm>
              <a:off x="8710962" y="2773043"/>
              <a:ext cx="516858" cy="276999"/>
            </a:xfrm>
            <a:prstGeom prst="rect">
              <a:avLst/>
            </a:prstGeom>
            <a:noFill/>
          </p:spPr>
          <p:txBody>
            <a:bodyPr wrap="square" rtlCol="0">
              <a:spAutoFit/>
            </a:bodyPr>
            <a:lstStyle/>
            <a:p>
              <a:r>
                <a:rPr lang="en-US" sz="1200" dirty="0">
                  <a:solidFill>
                    <a:schemeClr val="accent2">
                      <a:lumMod val="75000"/>
                    </a:schemeClr>
                  </a:solidFill>
                </a:rPr>
                <a:t>Slow</a:t>
              </a:r>
            </a:p>
          </p:txBody>
        </p:sp>
      </p:grpSp>
      <p:sp>
        <p:nvSpPr>
          <p:cNvPr id="37" name="Title">
            <a:extLst>
              <a:ext uri="{FF2B5EF4-FFF2-40B4-BE49-F238E27FC236}">
                <a16:creationId xmlns:a16="http://schemas.microsoft.com/office/drawing/2014/main" id="{C250D57C-E85B-48F1-AA96-D155D83888EB}"/>
              </a:ext>
            </a:extLst>
          </p:cNvPr>
          <p:cNvSpPr txBox="1"/>
          <p:nvPr/>
        </p:nvSpPr>
        <p:spPr>
          <a:xfrm>
            <a:off x="1343065" y="98145"/>
            <a:ext cx="4615874" cy="523220"/>
          </a:xfrm>
          <a:prstGeom prst="rect">
            <a:avLst/>
          </a:prstGeom>
          <a:ln>
            <a:solidFill>
              <a:schemeClr val="bg2"/>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dirty="0"/>
              <a:t>Supraventricular Tachycardias</a:t>
            </a:r>
          </a:p>
        </p:txBody>
      </p:sp>
      <p:sp>
        <p:nvSpPr>
          <p:cNvPr id="38" name="Left Brace 37">
            <a:extLst>
              <a:ext uri="{FF2B5EF4-FFF2-40B4-BE49-F238E27FC236}">
                <a16:creationId xmlns:a16="http://schemas.microsoft.com/office/drawing/2014/main" id="{33D81FF9-0B27-4AE9-8327-F4ADFABF3BFB}"/>
              </a:ext>
            </a:extLst>
          </p:cNvPr>
          <p:cNvSpPr/>
          <p:nvPr/>
        </p:nvSpPr>
        <p:spPr>
          <a:xfrm>
            <a:off x="3053591" y="956654"/>
            <a:ext cx="306830" cy="415309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396CDF2A-1F04-4B3E-BDB5-60D13DAC5144}"/>
              </a:ext>
            </a:extLst>
          </p:cNvPr>
          <p:cNvSpPr/>
          <p:nvPr/>
        </p:nvSpPr>
        <p:spPr>
          <a:xfrm>
            <a:off x="3089055" y="4561233"/>
            <a:ext cx="253974" cy="208752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Regular">
            <a:extLst>
              <a:ext uri="{FF2B5EF4-FFF2-40B4-BE49-F238E27FC236}">
                <a16:creationId xmlns:a16="http://schemas.microsoft.com/office/drawing/2014/main" id="{1E474300-004C-428B-BFFC-D2BAD4C5F22E}"/>
              </a:ext>
            </a:extLst>
          </p:cNvPr>
          <p:cNvSpPr txBox="1"/>
          <p:nvPr/>
        </p:nvSpPr>
        <p:spPr>
          <a:xfrm rot="16200000">
            <a:off x="2384159" y="2942218"/>
            <a:ext cx="896500" cy="307777"/>
          </a:xfrm>
          <a:prstGeom prst="rect">
            <a:avLst/>
          </a:prstGeom>
          <a:noFill/>
        </p:spPr>
        <p:txBody>
          <a:bodyPr wrap="square" rtlCol="0">
            <a:spAutoFit/>
          </a:bodyPr>
          <a:lstStyle/>
          <a:p>
            <a:pPr algn="ctr"/>
            <a:r>
              <a:rPr lang="en-US" sz="1400" dirty="0"/>
              <a:t>Regular</a:t>
            </a:r>
          </a:p>
        </p:txBody>
      </p:sp>
      <p:sp>
        <p:nvSpPr>
          <p:cNvPr id="41" name="Irregular">
            <a:extLst>
              <a:ext uri="{FF2B5EF4-FFF2-40B4-BE49-F238E27FC236}">
                <a16:creationId xmlns:a16="http://schemas.microsoft.com/office/drawing/2014/main" id="{80777345-3407-4BA9-BB8A-1AD0D17FDAB7}"/>
              </a:ext>
            </a:extLst>
          </p:cNvPr>
          <p:cNvSpPr txBox="1"/>
          <p:nvPr/>
        </p:nvSpPr>
        <p:spPr>
          <a:xfrm rot="16200000">
            <a:off x="2383480" y="5451107"/>
            <a:ext cx="896500" cy="307777"/>
          </a:xfrm>
          <a:prstGeom prst="rect">
            <a:avLst/>
          </a:prstGeom>
          <a:noFill/>
        </p:spPr>
        <p:txBody>
          <a:bodyPr wrap="square" rtlCol="0">
            <a:spAutoFit/>
          </a:bodyPr>
          <a:lstStyle/>
          <a:p>
            <a:pPr algn="ctr"/>
            <a:r>
              <a:rPr lang="en-US" sz="1400" dirty="0"/>
              <a:t>Irregular</a:t>
            </a:r>
          </a:p>
        </p:txBody>
      </p:sp>
      <p:grpSp>
        <p:nvGrpSpPr>
          <p:cNvPr id="50" name="AVRT ortho animation">
            <a:extLst>
              <a:ext uri="{FF2B5EF4-FFF2-40B4-BE49-F238E27FC236}">
                <a16:creationId xmlns:a16="http://schemas.microsoft.com/office/drawing/2014/main" id="{DB0235C8-01F0-4C96-9A91-B04202751785}"/>
              </a:ext>
            </a:extLst>
          </p:cNvPr>
          <p:cNvGrpSpPr/>
          <p:nvPr/>
        </p:nvGrpSpPr>
        <p:grpSpPr>
          <a:xfrm rot="21003866">
            <a:off x="9259099" y="2401530"/>
            <a:ext cx="461299" cy="403229"/>
            <a:chOff x="9130936" y="2524342"/>
            <a:chExt cx="461299" cy="403229"/>
          </a:xfrm>
        </p:grpSpPr>
        <p:sp>
          <p:nvSpPr>
            <p:cNvPr id="36" name="Flowchart: Process 35">
              <a:extLst>
                <a:ext uri="{FF2B5EF4-FFF2-40B4-BE49-F238E27FC236}">
                  <a16:creationId xmlns:a16="http://schemas.microsoft.com/office/drawing/2014/main" id="{FC49F49D-42BB-4594-A0F8-3B2901EC1430}"/>
                </a:ext>
              </a:extLst>
            </p:cNvPr>
            <p:cNvSpPr/>
            <p:nvPr/>
          </p:nvSpPr>
          <p:spPr>
            <a:xfrm rot="2550340">
              <a:off x="9181388" y="2628007"/>
              <a:ext cx="408659" cy="203271"/>
            </a:xfrm>
            <a:prstGeom prst="flowChart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4AF0977D-F59A-497A-B579-1EBB3918BD8F}"/>
                </a:ext>
              </a:extLst>
            </p:cNvPr>
            <p:cNvCxnSpPr/>
            <p:nvPr/>
          </p:nvCxnSpPr>
          <p:spPr>
            <a:xfrm>
              <a:off x="9130936" y="2659816"/>
              <a:ext cx="295835" cy="267755"/>
            </a:xfrm>
            <a:prstGeom prst="line">
              <a:avLst/>
            </a:prstGeom>
            <a:ln>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541F9E-D18C-4FAD-8F62-3909B6674A27}"/>
                </a:ext>
              </a:extLst>
            </p:cNvPr>
            <p:cNvCxnSpPr/>
            <p:nvPr/>
          </p:nvCxnSpPr>
          <p:spPr>
            <a:xfrm>
              <a:off x="9296400" y="2524342"/>
              <a:ext cx="295835" cy="267755"/>
            </a:xfrm>
            <a:prstGeom prst="line">
              <a:avLst/>
            </a:prstGeom>
            <a:ln>
              <a:solidFill>
                <a:srgbClr val="FF3399"/>
              </a:solidFill>
            </a:ln>
          </p:spPr>
          <p:style>
            <a:lnRef idx="1">
              <a:schemeClr val="accent1"/>
            </a:lnRef>
            <a:fillRef idx="0">
              <a:schemeClr val="accent1"/>
            </a:fillRef>
            <a:effectRef idx="0">
              <a:schemeClr val="accent1"/>
            </a:effectRef>
            <a:fontRef idx="minor">
              <a:schemeClr val="tx1"/>
            </a:fontRef>
          </p:style>
        </p:cxnSp>
      </p:grpSp>
      <p:grpSp>
        <p:nvGrpSpPr>
          <p:cNvPr id="57" name="AFlutter animation">
            <a:extLst>
              <a:ext uri="{FF2B5EF4-FFF2-40B4-BE49-F238E27FC236}">
                <a16:creationId xmlns:a16="http://schemas.microsoft.com/office/drawing/2014/main" id="{E8A127CE-B608-499E-92AF-5D99A18A57BC}"/>
              </a:ext>
            </a:extLst>
          </p:cNvPr>
          <p:cNvGrpSpPr/>
          <p:nvPr/>
        </p:nvGrpSpPr>
        <p:grpSpPr>
          <a:xfrm rot="2222927">
            <a:off x="6866744" y="2005481"/>
            <a:ext cx="1406470" cy="1259959"/>
            <a:chOff x="7033280" y="2257584"/>
            <a:chExt cx="1465026" cy="1064077"/>
          </a:xfrm>
        </p:grpSpPr>
        <p:sp>
          <p:nvSpPr>
            <p:cNvPr id="52" name="Oval 51">
              <a:extLst>
                <a:ext uri="{FF2B5EF4-FFF2-40B4-BE49-F238E27FC236}">
                  <a16:creationId xmlns:a16="http://schemas.microsoft.com/office/drawing/2014/main" id="{95DC4A42-1B7E-4C89-A596-94C6C988D8D2}"/>
                </a:ext>
              </a:extLst>
            </p:cNvPr>
            <p:cNvSpPr/>
            <p:nvPr/>
          </p:nvSpPr>
          <p:spPr>
            <a:xfrm rot="428693">
              <a:off x="7033280" y="2359445"/>
              <a:ext cx="1465026" cy="891208"/>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4" name="Graphic 53" descr="Play">
              <a:extLst>
                <a:ext uri="{FF2B5EF4-FFF2-40B4-BE49-F238E27FC236}">
                  <a16:creationId xmlns:a16="http://schemas.microsoft.com/office/drawing/2014/main" id="{D446B69A-458D-42D5-AB5A-738C47D13B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2066793">
              <a:off x="7266262" y="3021871"/>
              <a:ext cx="299788" cy="299790"/>
            </a:xfrm>
            <a:prstGeom prst="rect">
              <a:avLst/>
            </a:prstGeom>
          </p:spPr>
        </p:pic>
        <p:pic>
          <p:nvPicPr>
            <p:cNvPr id="55" name="Graphic 54" descr="Play">
              <a:extLst>
                <a:ext uri="{FF2B5EF4-FFF2-40B4-BE49-F238E27FC236}">
                  <a16:creationId xmlns:a16="http://schemas.microsoft.com/office/drawing/2014/main" id="{196C95F9-4981-48A3-BF7E-3516A44BCE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98106">
              <a:off x="7937665" y="2257584"/>
              <a:ext cx="299788" cy="299790"/>
            </a:xfrm>
            <a:prstGeom prst="rect">
              <a:avLst/>
            </a:prstGeom>
          </p:spPr>
        </p:pic>
      </p:grpSp>
      <p:grpSp>
        <p:nvGrpSpPr>
          <p:cNvPr id="68" name="Afib animation">
            <a:extLst>
              <a:ext uri="{FF2B5EF4-FFF2-40B4-BE49-F238E27FC236}">
                <a16:creationId xmlns:a16="http://schemas.microsoft.com/office/drawing/2014/main" id="{534E7796-B802-4660-AC88-0286D9247E6D}"/>
              </a:ext>
            </a:extLst>
          </p:cNvPr>
          <p:cNvGrpSpPr/>
          <p:nvPr/>
        </p:nvGrpSpPr>
        <p:grpSpPr>
          <a:xfrm>
            <a:off x="7781365" y="1026622"/>
            <a:ext cx="1247767" cy="922857"/>
            <a:chOff x="7781365" y="1026622"/>
            <a:chExt cx="1247767" cy="922857"/>
          </a:xfrm>
        </p:grpSpPr>
        <p:sp>
          <p:nvSpPr>
            <p:cNvPr id="59" name="Arc 58">
              <a:extLst>
                <a:ext uri="{FF2B5EF4-FFF2-40B4-BE49-F238E27FC236}">
                  <a16:creationId xmlns:a16="http://schemas.microsoft.com/office/drawing/2014/main" id="{26F6CEB6-2662-49B7-85EF-F95254A91E71}"/>
                </a:ext>
              </a:extLst>
            </p:cNvPr>
            <p:cNvSpPr/>
            <p:nvPr/>
          </p:nvSpPr>
          <p:spPr>
            <a:xfrm>
              <a:off x="7781365" y="1343420"/>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Arc 59">
              <a:extLst>
                <a:ext uri="{FF2B5EF4-FFF2-40B4-BE49-F238E27FC236}">
                  <a16:creationId xmlns:a16="http://schemas.microsoft.com/office/drawing/2014/main" id="{4C6D1016-76AE-4D9B-B52F-F22C738EF4EA}"/>
                </a:ext>
              </a:extLst>
            </p:cNvPr>
            <p:cNvSpPr/>
            <p:nvPr/>
          </p:nvSpPr>
          <p:spPr>
            <a:xfrm>
              <a:off x="7958701" y="1662948"/>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Arc 60">
              <a:extLst>
                <a:ext uri="{FF2B5EF4-FFF2-40B4-BE49-F238E27FC236}">
                  <a16:creationId xmlns:a16="http://schemas.microsoft.com/office/drawing/2014/main" id="{8FFAF97B-34ED-43A3-B8C6-78BA62955626}"/>
                </a:ext>
              </a:extLst>
            </p:cNvPr>
            <p:cNvSpPr/>
            <p:nvPr/>
          </p:nvSpPr>
          <p:spPr>
            <a:xfrm>
              <a:off x="8326761" y="1610354"/>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Arc 61">
              <a:extLst>
                <a:ext uri="{FF2B5EF4-FFF2-40B4-BE49-F238E27FC236}">
                  <a16:creationId xmlns:a16="http://schemas.microsoft.com/office/drawing/2014/main" id="{D80EF00D-E970-4ED8-A834-EC4B121574D8}"/>
                </a:ext>
              </a:extLst>
            </p:cNvPr>
            <p:cNvSpPr/>
            <p:nvPr/>
          </p:nvSpPr>
          <p:spPr>
            <a:xfrm>
              <a:off x="8192292" y="1343803"/>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Arc 62">
              <a:extLst>
                <a:ext uri="{FF2B5EF4-FFF2-40B4-BE49-F238E27FC236}">
                  <a16:creationId xmlns:a16="http://schemas.microsoft.com/office/drawing/2014/main" id="{A96A7B7D-97B3-418D-A26D-BA95C0A89AE5}"/>
                </a:ext>
              </a:extLst>
            </p:cNvPr>
            <p:cNvSpPr/>
            <p:nvPr/>
          </p:nvSpPr>
          <p:spPr>
            <a:xfrm>
              <a:off x="7978588" y="1026622"/>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Arc 63">
              <a:extLst>
                <a:ext uri="{FF2B5EF4-FFF2-40B4-BE49-F238E27FC236}">
                  <a16:creationId xmlns:a16="http://schemas.microsoft.com/office/drawing/2014/main" id="{CD98B896-F9E8-4FA8-B273-FBE7AB3D2E35}"/>
                </a:ext>
              </a:extLst>
            </p:cNvPr>
            <p:cNvSpPr/>
            <p:nvPr/>
          </p:nvSpPr>
          <p:spPr>
            <a:xfrm>
              <a:off x="8626251" y="1264393"/>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Arc 64">
              <a:extLst>
                <a:ext uri="{FF2B5EF4-FFF2-40B4-BE49-F238E27FC236}">
                  <a16:creationId xmlns:a16="http://schemas.microsoft.com/office/drawing/2014/main" id="{ED483186-144C-45BD-8D86-677A8A04152F}"/>
                </a:ext>
              </a:extLst>
            </p:cNvPr>
            <p:cNvSpPr/>
            <p:nvPr/>
          </p:nvSpPr>
          <p:spPr>
            <a:xfrm>
              <a:off x="8831909" y="1752256"/>
              <a:ext cx="197223" cy="197223"/>
            </a:xfrm>
            <a:prstGeom prst="arc">
              <a:avLst>
                <a:gd name="adj1" fmla="val 16200000"/>
                <a:gd name="adj2" fmla="val 15054394"/>
              </a:avLst>
            </a:prstGeom>
            <a:ln>
              <a:solidFill>
                <a:schemeClr val="accent4">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3" name="MAT animation">
            <a:extLst>
              <a:ext uri="{FF2B5EF4-FFF2-40B4-BE49-F238E27FC236}">
                <a16:creationId xmlns:a16="http://schemas.microsoft.com/office/drawing/2014/main" id="{50393719-9A93-4383-AE8C-8A2C3541F452}"/>
              </a:ext>
            </a:extLst>
          </p:cNvPr>
          <p:cNvGrpSpPr/>
          <p:nvPr/>
        </p:nvGrpSpPr>
        <p:grpSpPr>
          <a:xfrm>
            <a:off x="7290248" y="900365"/>
            <a:ext cx="2253993" cy="2159646"/>
            <a:chOff x="7290248" y="900365"/>
            <a:chExt cx="2253993" cy="2159646"/>
          </a:xfrm>
        </p:grpSpPr>
        <p:sp>
          <p:nvSpPr>
            <p:cNvPr id="69" name="MAT animation">
              <a:extLst>
                <a:ext uri="{FF2B5EF4-FFF2-40B4-BE49-F238E27FC236}">
                  <a16:creationId xmlns:a16="http://schemas.microsoft.com/office/drawing/2014/main" id="{F63533A0-C8F4-4D65-A3FB-64188ADA627A}"/>
                </a:ext>
              </a:extLst>
            </p:cNvPr>
            <p:cNvSpPr/>
            <p:nvPr/>
          </p:nvSpPr>
          <p:spPr>
            <a:xfrm>
              <a:off x="7608376" y="2208320"/>
              <a:ext cx="171450" cy="171450"/>
            </a:xfrm>
            <a:prstGeom prst="irregularSeal1">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MAT animation">
              <a:extLst>
                <a:ext uri="{FF2B5EF4-FFF2-40B4-BE49-F238E27FC236}">
                  <a16:creationId xmlns:a16="http://schemas.microsoft.com/office/drawing/2014/main" id="{0B168AA1-6ECA-441F-AC29-5DF9653BE5A2}"/>
                </a:ext>
              </a:extLst>
            </p:cNvPr>
            <p:cNvSpPr/>
            <p:nvPr/>
          </p:nvSpPr>
          <p:spPr>
            <a:xfrm>
              <a:off x="7290248" y="2888561"/>
              <a:ext cx="171450" cy="171450"/>
            </a:xfrm>
            <a:prstGeom prst="irregularSeal1">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MAT animation">
              <a:extLst>
                <a:ext uri="{FF2B5EF4-FFF2-40B4-BE49-F238E27FC236}">
                  <a16:creationId xmlns:a16="http://schemas.microsoft.com/office/drawing/2014/main" id="{AF8AF51E-80A8-4108-A87D-26485126CA4D}"/>
                </a:ext>
              </a:extLst>
            </p:cNvPr>
            <p:cNvSpPr/>
            <p:nvPr/>
          </p:nvSpPr>
          <p:spPr>
            <a:xfrm>
              <a:off x="8057312" y="900365"/>
              <a:ext cx="171450" cy="171450"/>
            </a:xfrm>
            <a:prstGeom prst="irregularSeal1">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MAT animation">
              <a:extLst>
                <a:ext uri="{FF2B5EF4-FFF2-40B4-BE49-F238E27FC236}">
                  <a16:creationId xmlns:a16="http://schemas.microsoft.com/office/drawing/2014/main" id="{3D055D2B-38C3-48F7-B0BD-8C3514CAAB28}"/>
                </a:ext>
              </a:extLst>
            </p:cNvPr>
            <p:cNvSpPr/>
            <p:nvPr/>
          </p:nvSpPr>
          <p:spPr>
            <a:xfrm>
              <a:off x="9372791" y="1996322"/>
              <a:ext cx="171450" cy="171450"/>
            </a:xfrm>
            <a:prstGeom prst="irregularSeal1">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ST text">
            <a:extLst>
              <a:ext uri="{FF2B5EF4-FFF2-40B4-BE49-F238E27FC236}">
                <a16:creationId xmlns:a16="http://schemas.microsoft.com/office/drawing/2014/main" id="{5EF7D96D-5222-4987-8302-6EFA23DA776D}"/>
              </a:ext>
            </a:extLst>
          </p:cNvPr>
          <p:cNvSpPr txBox="1"/>
          <p:nvPr/>
        </p:nvSpPr>
        <p:spPr>
          <a:xfrm>
            <a:off x="3833124" y="1125893"/>
            <a:ext cx="1819857" cy="276999"/>
          </a:xfrm>
          <a:prstGeom prst="rect">
            <a:avLst/>
          </a:prstGeom>
          <a:noFill/>
        </p:spPr>
        <p:txBody>
          <a:bodyPr wrap="square" rtlCol="0">
            <a:spAutoFit/>
          </a:bodyPr>
          <a:lstStyle/>
          <a:p>
            <a:r>
              <a:rPr lang="en-US" sz="1200" dirty="0"/>
              <a:t>Sinus Tachycardia</a:t>
            </a:r>
          </a:p>
        </p:txBody>
      </p:sp>
      <p:grpSp>
        <p:nvGrpSpPr>
          <p:cNvPr id="77" name="click again">
            <a:extLst>
              <a:ext uri="{FF2B5EF4-FFF2-40B4-BE49-F238E27FC236}">
                <a16:creationId xmlns:a16="http://schemas.microsoft.com/office/drawing/2014/main" id="{62ACE09B-737D-4C9E-B6E0-EEC40FE6DE24}"/>
              </a:ext>
            </a:extLst>
          </p:cNvPr>
          <p:cNvGrpSpPr/>
          <p:nvPr/>
        </p:nvGrpSpPr>
        <p:grpSpPr>
          <a:xfrm>
            <a:off x="3868457" y="698607"/>
            <a:ext cx="1237419" cy="405181"/>
            <a:chOff x="1796395" y="588935"/>
            <a:chExt cx="1032990" cy="519923"/>
          </a:xfrm>
        </p:grpSpPr>
        <p:sp>
          <p:nvSpPr>
            <p:cNvPr id="74" name="TextBox 73">
              <a:extLst>
                <a:ext uri="{FF2B5EF4-FFF2-40B4-BE49-F238E27FC236}">
                  <a16:creationId xmlns:a16="http://schemas.microsoft.com/office/drawing/2014/main" id="{705A3F83-3D69-4B99-B446-F97A513C1F0B}"/>
                </a:ext>
              </a:extLst>
            </p:cNvPr>
            <p:cNvSpPr txBox="1"/>
            <p:nvPr/>
          </p:nvSpPr>
          <p:spPr>
            <a:xfrm>
              <a:off x="1953685" y="588935"/>
              <a:ext cx="875700" cy="513416"/>
            </a:xfrm>
            <a:prstGeom prst="rect">
              <a:avLst/>
            </a:prstGeom>
            <a:noFill/>
          </p:spPr>
          <p:txBody>
            <a:bodyPr wrap="square" rtlCol="0">
              <a:spAutoFit/>
            </a:bodyPr>
            <a:lstStyle/>
            <a:p>
              <a:r>
                <a:rPr lang="en-US" sz="1000" dirty="0"/>
                <a:t>Click again to hide animation</a:t>
              </a:r>
            </a:p>
          </p:txBody>
        </p:sp>
        <p:cxnSp>
          <p:nvCxnSpPr>
            <p:cNvPr id="76" name="Straight Arrow Connector 75">
              <a:extLst>
                <a:ext uri="{FF2B5EF4-FFF2-40B4-BE49-F238E27FC236}">
                  <a16:creationId xmlns:a16="http://schemas.microsoft.com/office/drawing/2014/main" id="{7E8C728A-4798-42E4-8F60-8FECB5A41D60}"/>
                </a:ext>
              </a:extLst>
            </p:cNvPr>
            <p:cNvCxnSpPr>
              <a:cxnSpLocks/>
              <a:stCxn id="74" idx="1"/>
            </p:cNvCxnSpPr>
            <p:nvPr/>
          </p:nvCxnSpPr>
          <p:spPr>
            <a:xfrm flipH="1">
              <a:off x="1796395" y="845643"/>
              <a:ext cx="157290" cy="2632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9" name="AT animation">
            <a:extLst>
              <a:ext uri="{FF2B5EF4-FFF2-40B4-BE49-F238E27FC236}">
                <a16:creationId xmlns:a16="http://schemas.microsoft.com/office/drawing/2014/main" id="{17D3BD61-F031-4D47-8C02-4545D9625B9B}"/>
              </a:ext>
            </a:extLst>
          </p:cNvPr>
          <p:cNvSpPr/>
          <p:nvPr/>
        </p:nvSpPr>
        <p:spPr>
          <a:xfrm>
            <a:off x="7036641" y="1621659"/>
            <a:ext cx="242758" cy="229208"/>
          </a:xfrm>
          <a:prstGeom prst="irregularSeal1">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AT animation">
            <a:extLst>
              <a:ext uri="{FF2B5EF4-FFF2-40B4-BE49-F238E27FC236}">
                <a16:creationId xmlns:a16="http://schemas.microsoft.com/office/drawing/2014/main" id="{A1D3C0D6-3271-4182-9F09-8761B872BF8E}"/>
              </a:ext>
            </a:extLst>
          </p:cNvPr>
          <p:cNvSpPr/>
          <p:nvPr/>
        </p:nvSpPr>
        <p:spPr>
          <a:xfrm>
            <a:off x="8712721" y="3030150"/>
            <a:ext cx="207635" cy="276999"/>
          </a:xfrm>
          <a:prstGeom prst="irregularSeal1">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Key">
            <a:extLst>
              <a:ext uri="{FF2B5EF4-FFF2-40B4-BE49-F238E27FC236}">
                <a16:creationId xmlns:a16="http://schemas.microsoft.com/office/drawing/2014/main" id="{9DD61FD4-1324-42E9-A60C-04CB8D7C4F3B}"/>
              </a:ext>
            </a:extLst>
          </p:cNvPr>
          <p:cNvGrpSpPr/>
          <p:nvPr/>
        </p:nvGrpSpPr>
        <p:grpSpPr>
          <a:xfrm>
            <a:off x="10134969" y="799759"/>
            <a:ext cx="2057031" cy="1292662"/>
            <a:chOff x="9932145" y="1425065"/>
            <a:chExt cx="2057031" cy="1292662"/>
          </a:xfrm>
        </p:grpSpPr>
        <p:sp>
          <p:nvSpPr>
            <p:cNvPr id="75" name="TextBox 74">
              <a:extLst>
                <a:ext uri="{FF2B5EF4-FFF2-40B4-BE49-F238E27FC236}">
                  <a16:creationId xmlns:a16="http://schemas.microsoft.com/office/drawing/2014/main" id="{3FEDF741-3FFE-4668-9BA3-64FD9F2A5BF2}"/>
                </a:ext>
              </a:extLst>
            </p:cNvPr>
            <p:cNvSpPr txBox="1"/>
            <p:nvPr/>
          </p:nvSpPr>
          <p:spPr>
            <a:xfrm>
              <a:off x="9932145" y="1425065"/>
              <a:ext cx="2057031" cy="1292662"/>
            </a:xfrm>
            <a:prstGeom prst="rect">
              <a:avLst/>
            </a:prstGeom>
            <a:noFill/>
          </p:spPr>
          <p:txBody>
            <a:bodyPr wrap="square" rtlCol="0">
              <a:spAutoFit/>
            </a:bodyPr>
            <a:lstStyle/>
            <a:p>
              <a:pPr algn="ctr"/>
              <a:r>
                <a:rPr lang="en-US" dirty="0"/>
                <a:t>Key</a:t>
              </a:r>
            </a:p>
            <a:p>
              <a:pPr algn="ctr"/>
              <a:endParaRPr lang="en-US" sz="900" dirty="0"/>
            </a:p>
            <a:p>
              <a:pPr lvl="1"/>
              <a:r>
                <a:rPr lang="en-US" sz="1200" dirty="0"/>
                <a:t>Increased automaticity</a:t>
              </a:r>
            </a:p>
            <a:p>
              <a:pPr lvl="1"/>
              <a:endParaRPr lang="en-US" sz="900" dirty="0"/>
            </a:p>
            <a:p>
              <a:pPr lvl="1"/>
              <a:r>
                <a:rPr lang="en-US" sz="1200" dirty="0"/>
                <a:t>Re-entry circuit</a:t>
              </a:r>
            </a:p>
            <a:p>
              <a:pPr algn="ctr"/>
              <a:endParaRPr lang="en-US" dirty="0"/>
            </a:p>
          </p:txBody>
        </p:sp>
        <p:sp>
          <p:nvSpPr>
            <p:cNvPr id="78" name="Explosion: 8 Points 77">
              <a:extLst>
                <a:ext uri="{FF2B5EF4-FFF2-40B4-BE49-F238E27FC236}">
                  <a16:creationId xmlns:a16="http://schemas.microsoft.com/office/drawing/2014/main" id="{B5681BF0-B695-4E8B-8CCC-CF05CB90F5C6}"/>
                </a:ext>
              </a:extLst>
            </p:cNvPr>
            <p:cNvSpPr/>
            <p:nvPr/>
          </p:nvSpPr>
          <p:spPr>
            <a:xfrm>
              <a:off x="10193660" y="1885607"/>
              <a:ext cx="192947" cy="200144"/>
            </a:xfrm>
            <a:prstGeom prst="irregularSeal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Arc 80">
              <a:extLst>
                <a:ext uri="{FF2B5EF4-FFF2-40B4-BE49-F238E27FC236}">
                  <a16:creationId xmlns:a16="http://schemas.microsoft.com/office/drawing/2014/main" id="{1E15C956-9926-4747-8D51-05ABFFAE201F}"/>
                </a:ext>
              </a:extLst>
            </p:cNvPr>
            <p:cNvSpPr/>
            <p:nvPr/>
          </p:nvSpPr>
          <p:spPr>
            <a:xfrm>
              <a:off x="10188929" y="2190618"/>
              <a:ext cx="193603" cy="206854"/>
            </a:xfrm>
            <a:prstGeom prst="arc">
              <a:avLst>
                <a:gd name="adj1" fmla="val 16200000"/>
                <a:gd name="adj2" fmla="val 14164635"/>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4" name="AT detail">
            <a:extLst>
              <a:ext uri="{FF2B5EF4-FFF2-40B4-BE49-F238E27FC236}">
                <a16:creationId xmlns:a16="http://schemas.microsoft.com/office/drawing/2014/main" id="{9446D4B4-8F50-49F2-B466-8F0A6CC54FA0}"/>
              </a:ext>
            </a:extLst>
          </p:cNvPr>
          <p:cNvGrpSpPr/>
          <p:nvPr/>
        </p:nvGrpSpPr>
        <p:grpSpPr>
          <a:xfrm>
            <a:off x="104774" y="1574255"/>
            <a:ext cx="3272871" cy="2031325"/>
            <a:chOff x="104774" y="1574255"/>
            <a:chExt cx="3272871" cy="2031325"/>
          </a:xfrm>
        </p:grpSpPr>
        <p:sp>
          <p:nvSpPr>
            <p:cNvPr id="85" name="AT detail">
              <a:extLst>
                <a:ext uri="{FF2B5EF4-FFF2-40B4-BE49-F238E27FC236}">
                  <a16:creationId xmlns:a16="http://schemas.microsoft.com/office/drawing/2014/main" id="{A1B813D9-A97A-4ACC-B3B7-2AAE61965D71}"/>
                </a:ext>
              </a:extLst>
            </p:cNvPr>
            <p:cNvSpPr txBox="1"/>
            <p:nvPr/>
          </p:nvSpPr>
          <p:spPr>
            <a:xfrm>
              <a:off x="104774" y="1574255"/>
              <a:ext cx="2493337" cy="2031325"/>
            </a:xfrm>
            <a:prstGeom prst="rect">
              <a:avLst/>
            </a:prstGeom>
            <a:ln w="1905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Atrial Tachycardia</a:t>
              </a:r>
            </a:p>
            <a:p>
              <a:r>
                <a:rPr lang="en-US" sz="1200" b="1" dirty="0"/>
                <a:t>Regular, typically &lt;160bpm</a:t>
              </a:r>
            </a:p>
            <a:p>
              <a:r>
                <a:rPr lang="en-US" sz="1200" dirty="0"/>
                <a:t>Increased automaticity of an “ectopic focus” in the atria.  This is often in response to stress or electrolyte abnormalities.  Diagnosed by a regular rhythm with abnormal axis P waves (not up in I and II). This suggest atrial depolarization did not originate from the sinus node.  </a:t>
              </a:r>
            </a:p>
          </p:txBody>
        </p:sp>
        <p:cxnSp>
          <p:nvCxnSpPr>
            <p:cNvPr id="42" name="Straight Arrow Connector 41">
              <a:extLst>
                <a:ext uri="{FF2B5EF4-FFF2-40B4-BE49-F238E27FC236}">
                  <a16:creationId xmlns:a16="http://schemas.microsoft.com/office/drawing/2014/main" id="{53915551-50F2-4D95-8C7E-49F8956E9FBA}"/>
                </a:ext>
              </a:extLst>
            </p:cNvPr>
            <p:cNvCxnSpPr>
              <a:stCxn id="8" idx="1"/>
              <a:endCxn id="85" idx="3"/>
            </p:cNvCxnSpPr>
            <p:nvPr/>
          </p:nvCxnSpPr>
          <p:spPr>
            <a:xfrm flipH="1">
              <a:off x="2598111" y="1943587"/>
              <a:ext cx="779534" cy="646331"/>
            </a:xfrm>
            <a:prstGeom prst="straightConnector1">
              <a:avLst/>
            </a:prstGeom>
            <a:ln w="190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JT detail">
            <a:extLst>
              <a:ext uri="{FF2B5EF4-FFF2-40B4-BE49-F238E27FC236}">
                <a16:creationId xmlns:a16="http://schemas.microsoft.com/office/drawing/2014/main" id="{1C6BF53E-3E46-45FA-AED3-6ACEAA8055CC}"/>
              </a:ext>
            </a:extLst>
          </p:cNvPr>
          <p:cNvGrpSpPr/>
          <p:nvPr/>
        </p:nvGrpSpPr>
        <p:grpSpPr>
          <a:xfrm>
            <a:off x="94854" y="1765127"/>
            <a:ext cx="3282791" cy="1846659"/>
            <a:chOff x="104774" y="1574255"/>
            <a:chExt cx="3282791" cy="1846659"/>
          </a:xfrm>
        </p:grpSpPr>
        <p:sp>
          <p:nvSpPr>
            <p:cNvPr id="87" name="AT detail">
              <a:extLst>
                <a:ext uri="{FF2B5EF4-FFF2-40B4-BE49-F238E27FC236}">
                  <a16:creationId xmlns:a16="http://schemas.microsoft.com/office/drawing/2014/main" id="{18738C9E-8FBF-4F72-9A68-9C8C092D5CE9}"/>
                </a:ext>
              </a:extLst>
            </p:cNvPr>
            <p:cNvSpPr txBox="1"/>
            <p:nvPr/>
          </p:nvSpPr>
          <p:spPr>
            <a:xfrm>
              <a:off x="104774" y="1574255"/>
              <a:ext cx="2493337" cy="1846659"/>
            </a:xfrm>
            <a:prstGeom prst="rect">
              <a:avLst/>
            </a:prstGeom>
            <a:ln w="19050">
              <a:solidFill>
                <a:schemeClr val="accent6"/>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Junctional Tachycardia</a:t>
              </a:r>
            </a:p>
            <a:p>
              <a:r>
                <a:rPr lang="en-US" sz="1200" b="1" dirty="0"/>
                <a:t>Regular, no ‘p’ waves, &lt;150bpm</a:t>
              </a:r>
            </a:p>
            <a:p>
              <a:r>
                <a:rPr lang="en-US" sz="1200" dirty="0"/>
                <a:t>Increased automaticity of the AV node that “escapes” the sinus rhythm.  Junctional escape is usually due to sinus node dysfunction and is at a rate near 50bpm.  It is uncommon for a junctional rhythm to be tachycardic.   </a:t>
              </a:r>
            </a:p>
          </p:txBody>
        </p:sp>
        <p:cxnSp>
          <p:nvCxnSpPr>
            <p:cNvPr id="88" name="Straight Arrow Connector 87">
              <a:extLst>
                <a:ext uri="{FF2B5EF4-FFF2-40B4-BE49-F238E27FC236}">
                  <a16:creationId xmlns:a16="http://schemas.microsoft.com/office/drawing/2014/main" id="{88EAC835-6868-41BB-9513-FF67B741A4E8}"/>
                </a:ext>
              </a:extLst>
            </p:cNvPr>
            <p:cNvCxnSpPr>
              <a:cxnSpLocks/>
              <a:stCxn id="10" idx="1"/>
              <a:endCxn id="87" idx="3"/>
            </p:cNvCxnSpPr>
            <p:nvPr/>
          </p:nvCxnSpPr>
          <p:spPr>
            <a:xfrm flipH="1">
              <a:off x="2598111" y="2416886"/>
              <a:ext cx="789454" cy="8069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9" name="AVnRT detail">
            <a:extLst>
              <a:ext uri="{FF2B5EF4-FFF2-40B4-BE49-F238E27FC236}">
                <a16:creationId xmlns:a16="http://schemas.microsoft.com/office/drawing/2014/main" id="{3BFF926D-7BA5-4746-ADAA-E1654DFEAB6B}"/>
              </a:ext>
            </a:extLst>
          </p:cNvPr>
          <p:cNvGrpSpPr/>
          <p:nvPr/>
        </p:nvGrpSpPr>
        <p:grpSpPr>
          <a:xfrm>
            <a:off x="107613" y="2587483"/>
            <a:ext cx="3270032" cy="3323987"/>
            <a:chOff x="105117" y="1240183"/>
            <a:chExt cx="3270032" cy="3323987"/>
          </a:xfrm>
        </p:grpSpPr>
        <p:sp>
          <p:nvSpPr>
            <p:cNvPr id="90" name="AT detail">
              <a:extLst>
                <a:ext uri="{FF2B5EF4-FFF2-40B4-BE49-F238E27FC236}">
                  <a16:creationId xmlns:a16="http://schemas.microsoft.com/office/drawing/2014/main" id="{63B1DE7C-3965-4A12-B16E-DDED37D3E2F1}"/>
                </a:ext>
              </a:extLst>
            </p:cNvPr>
            <p:cNvSpPr txBox="1"/>
            <p:nvPr/>
          </p:nvSpPr>
          <p:spPr>
            <a:xfrm>
              <a:off x="105117" y="1240183"/>
              <a:ext cx="2493337" cy="3323987"/>
            </a:xfrm>
            <a:prstGeom prst="rect">
              <a:avLst/>
            </a:prstGeom>
            <a:ln w="19050">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err="1"/>
                <a:t>AVnRT</a:t>
              </a:r>
              <a:endParaRPr lang="en-US" dirty="0"/>
            </a:p>
            <a:p>
              <a:r>
                <a:rPr lang="en-US" sz="1200" b="1" dirty="0"/>
                <a:t>Regular, no ‘p’ waves, &gt;160bpm </a:t>
              </a:r>
            </a:p>
            <a:p>
              <a:r>
                <a:rPr lang="en-US" sz="1200" dirty="0"/>
                <a:t>Re-entry circuit within the AV node.  This is typically a slow and fast track allowing for the atria and ventricles to be depolarized at roughly the same time through the fast track (causing a buried ‘p’ wave or ‘short R-P segment’) then the slow track allows for repolarization.  This rhythm is often preceded by a PAC  start following a PAC.  Because the re-entry circuit involves the AV node it is one of only two rhythms (also AVRT) that is both diagnosed and resolved by AV nodal blockade (e.g. vagal maneuvers or adenosine). </a:t>
              </a:r>
            </a:p>
          </p:txBody>
        </p:sp>
        <p:cxnSp>
          <p:nvCxnSpPr>
            <p:cNvPr id="91" name="Straight Arrow Connector 90">
              <a:extLst>
                <a:ext uri="{FF2B5EF4-FFF2-40B4-BE49-F238E27FC236}">
                  <a16:creationId xmlns:a16="http://schemas.microsoft.com/office/drawing/2014/main" id="{EA80C61B-00C9-42CB-AA38-116E13FE245D}"/>
                </a:ext>
              </a:extLst>
            </p:cNvPr>
            <p:cNvCxnSpPr>
              <a:cxnSpLocks/>
              <a:stCxn id="12" idx="1"/>
              <a:endCxn id="90" idx="3"/>
            </p:cNvCxnSpPr>
            <p:nvPr/>
          </p:nvCxnSpPr>
          <p:spPr>
            <a:xfrm flipH="1">
              <a:off x="2598454" y="1960985"/>
              <a:ext cx="776695" cy="941192"/>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AVRT detail">
            <a:extLst>
              <a:ext uri="{FF2B5EF4-FFF2-40B4-BE49-F238E27FC236}">
                <a16:creationId xmlns:a16="http://schemas.microsoft.com/office/drawing/2014/main" id="{8E957433-F002-45FE-9E14-72061361D53D}"/>
              </a:ext>
            </a:extLst>
          </p:cNvPr>
          <p:cNvGrpSpPr/>
          <p:nvPr/>
        </p:nvGrpSpPr>
        <p:grpSpPr>
          <a:xfrm>
            <a:off x="70390" y="3078057"/>
            <a:ext cx="3307255" cy="3693319"/>
            <a:chOff x="104774" y="1574255"/>
            <a:chExt cx="3307255" cy="3693319"/>
          </a:xfrm>
        </p:grpSpPr>
        <p:sp>
          <p:nvSpPr>
            <p:cNvPr id="93" name="AT detail">
              <a:extLst>
                <a:ext uri="{FF2B5EF4-FFF2-40B4-BE49-F238E27FC236}">
                  <a16:creationId xmlns:a16="http://schemas.microsoft.com/office/drawing/2014/main" id="{3C60EAED-EB4D-4650-AC69-DDC3B84B905C}"/>
                </a:ext>
              </a:extLst>
            </p:cNvPr>
            <p:cNvSpPr txBox="1"/>
            <p:nvPr/>
          </p:nvSpPr>
          <p:spPr>
            <a:xfrm>
              <a:off x="104774" y="1574255"/>
              <a:ext cx="2619370" cy="3693319"/>
            </a:xfrm>
            <a:prstGeom prst="rect">
              <a:avLst/>
            </a:prstGeom>
            <a:ln w="19050">
              <a:solidFill>
                <a:srgbClr val="FF3399"/>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AVRT</a:t>
              </a:r>
            </a:p>
            <a:p>
              <a:r>
                <a:rPr lang="en-US" sz="1200" b="1" dirty="0"/>
                <a:t>Regular, no ‘p’ wave, &gt;150bpm</a:t>
              </a:r>
            </a:p>
            <a:p>
              <a:r>
                <a:rPr lang="en-US" sz="1200" dirty="0"/>
                <a:t>Large re-entry circuit traveling through an “accessory pathway”.  There are two varieties of this rhythm: 1. orthodromic (antegrade through the AV node), which is narrow complex and 2. Antidromic (retrograde through AV node), which is wide complex and easily confused with VT. This is, along with </a:t>
              </a:r>
              <a:r>
                <a:rPr lang="en-US" sz="1200" dirty="0" err="1"/>
                <a:t>AVnRT</a:t>
              </a:r>
              <a:r>
                <a:rPr lang="en-US" sz="1200" dirty="0"/>
                <a:t>, is the only other rhythm resolved with nodal blockade.  The key to diagnosing AVRT is by identifying a “delta wave” on an ECG when the patient is not in re-entry tachycardia.  The delta wave is only visible when there is simultaneous depolarization down the AV node and the accessory pathway</a:t>
              </a:r>
            </a:p>
          </p:txBody>
        </p:sp>
        <p:cxnSp>
          <p:nvCxnSpPr>
            <p:cNvPr id="94" name="Straight Arrow Connector 93">
              <a:extLst>
                <a:ext uri="{FF2B5EF4-FFF2-40B4-BE49-F238E27FC236}">
                  <a16:creationId xmlns:a16="http://schemas.microsoft.com/office/drawing/2014/main" id="{12D4D39E-4AD5-41DD-84CB-69EB12A26FE4}"/>
                </a:ext>
              </a:extLst>
            </p:cNvPr>
            <p:cNvCxnSpPr>
              <a:cxnSpLocks/>
              <a:stCxn id="14" idx="1"/>
              <a:endCxn id="93" idx="3"/>
            </p:cNvCxnSpPr>
            <p:nvPr/>
          </p:nvCxnSpPr>
          <p:spPr>
            <a:xfrm flipH="1">
              <a:off x="2724144" y="2541874"/>
              <a:ext cx="687885" cy="879041"/>
            </a:xfrm>
            <a:prstGeom prst="straightConnector1">
              <a:avLst/>
            </a:prstGeom>
            <a:ln w="19050">
              <a:solidFill>
                <a:srgbClr val="FF3399"/>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6" name="AFlutter detail">
            <a:extLst>
              <a:ext uri="{FF2B5EF4-FFF2-40B4-BE49-F238E27FC236}">
                <a16:creationId xmlns:a16="http://schemas.microsoft.com/office/drawing/2014/main" id="{2B385FD7-2DCC-4CE8-99E1-2E57545975BE}"/>
              </a:ext>
            </a:extLst>
          </p:cNvPr>
          <p:cNvGrpSpPr/>
          <p:nvPr/>
        </p:nvGrpSpPr>
        <p:grpSpPr>
          <a:xfrm>
            <a:off x="100819" y="3484537"/>
            <a:ext cx="3276826" cy="2585323"/>
            <a:chOff x="104774" y="1574255"/>
            <a:chExt cx="3276826" cy="1800359"/>
          </a:xfrm>
        </p:grpSpPr>
        <p:sp>
          <p:nvSpPr>
            <p:cNvPr id="97" name="AT detail">
              <a:extLst>
                <a:ext uri="{FF2B5EF4-FFF2-40B4-BE49-F238E27FC236}">
                  <a16:creationId xmlns:a16="http://schemas.microsoft.com/office/drawing/2014/main" id="{C02E7226-2712-45D8-9BA3-28DA435CD31F}"/>
                </a:ext>
              </a:extLst>
            </p:cNvPr>
            <p:cNvSpPr txBox="1"/>
            <p:nvPr/>
          </p:nvSpPr>
          <p:spPr>
            <a:xfrm>
              <a:off x="104774" y="1574255"/>
              <a:ext cx="2554053" cy="1800359"/>
            </a:xfrm>
            <a:prstGeom prst="rect">
              <a:avLst/>
            </a:prstGeom>
            <a:ln w="28575">
              <a:solidFill>
                <a:srgbClr val="00B0F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Atrial Flutter</a:t>
              </a:r>
            </a:p>
            <a:p>
              <a:r>
                <a:rPr lang="en-US" sz="1200" b="1" dirty="0"/>
                <a:t>Regular or irregular, “saw tooth” p</a:t>
              </a:r>
            </a:p>
            <a:p>
              <a:r>
                <a:rPr lang="en-US" sz="1200" dirty="0"/>
                <a:t>Typical atrial flutter is a macro re-entry circuit in the right atrium at a rate of 300rpm commonly with 2:1 AV conduction and a ventricular rate of 150bpm.  This is easily diagnosed by slowing AV conduction with </a:t>
              </a:r>
              <a:r>
                <a:rPr lang="en-US" sz="1200" dirty="0" err="1"/>
                <a:t>vagals</a:t>
              </a:r>
              <a:r>
                <a:rPr lang="en-US" sz="1200" dirty="0"/>
                <a:t> or nodal blockade and looking for the classic “saw tooth” flutter waves in lead II.  Similar embolization risk to atrial fibrillation but ablation has much higher success rates. </a:t>
              </a:r>
            </a:p>
          </p:txBody>
        </p:sp>
        <p:cxnSp>
          <p:nvCxnSpPr>
            <p:cNvPr id="98" name="Straight Arrow Connector 97">
              <a:extLst>
                <a:ext uri="{FF2B5EF4-FFF2-40B4-BE49-F238E27FC236}">
                  <a16:creationId xmlns:a16="http://schemas.microsoft.com/office/drawing/2014/main" id="{640C2288-714C-4942-ACF9-0F72B5967548}"/>
                </a:ext>
              </a:extLst>
            </p:cNvPr>
            <p:cNvCxnSpPr>
              <a:cxnSpLocks/>
              <a:stCxn id="16" idx="1"/>
              <a:endCxn id="97" idx="3"/>
            </p:cNvCxnSpPr>
            <p:nvPr/>
          </p:nvCxnSpPr>
          <p:spPr>
            <a:xfrm flipH="1" flipV="1">
              <a:off x="2658827" y="2474435"/>
              <a:ext cx="722773" cy="1599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9" name="AFib detail">
            <a:extLst>
              <a:ext uri="{FF2B5EF4-FFF2-40B4-BE49-F238E27FC236}">
                <a16:creationId xmlns:a16="http://schemas.microsoft.com/office/drawing/2014/main" id="{2DDC8222-3467-4BB9-9227-5A099BFC8BA7}"/>
              </a:ext>
            </a:extLst>
          </p:cNvPr>
          <p:cNvGrpSpPr/>
          <p:nvPr/>
        </p:nvGrpSpPr>
        <p:grpSpPr>
          <a:xfrm>
            <a:off x="111166" y="2766170"/>
            <a:ext cx="3266479" cy="3701370"/>
            <a:chOff x="104774" y="1574255"/>
            <a:chExt cx="3312280" cy="3693319"/>
          </a:xfrm>
        </p:grpSpPr>
        <p:sp>
          <p:nvSpPr>
            <p:cNvPr id="100" name="AT detail">
              <a:extLst>
                <a:ext uri="{FF2B5EF4-FFF2-40B4-BE49-F238E27FC236}">
                  <a16:creationId xmlns:a16="http://schemas.microsoft.com/office/drawing/2014/main" id="{CCC835AF-6D23-48BB-857D-B77EB8EEC2E9}"/>
                </a:ext>
              </a:extLst>
            </p:cNvPr>
            <p:cNvSpPr txBox="1"/>
            <p:nvPr/>
          </p:nvSpPr>
          <p:spPr>
            <a:xfrm>
              <a:off x="104774" y="1574255"/>
              <a:ext cx="2493337" cy="3693319"/>
            </a:xfrm>
            <a:prstGeom prst="rect">
              <a:avLst/>
            </a:prstGeom>
            <a:ln w="19050">
              <a:solidFill>
                <a:schemeClr val="accent4">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Atrial Fibrillation</a:t>
              </a:r>
            </a:p>
            <a:p>
              <a:r>
                <a:rPr lang="en-US" sz="1200" b="1" dirty="0"/>
                <a:t>Irregularly irregular, no ‘p’ waves</a:t>
              </a:r>
            </a:p>
            <a:p>
              <a:r>
                <a:rPr lang="en-US" sz="1200" dirty="0"/>
                <a:t>Multiple micro re-entry circuits typically in the left atrium.  These circuits are in constant </a:t>
              </a:r>
              <a:r>
                <a:rPr lang="en-US" sz="1200" dirty="0" err="1"/>
                <a:t>compition</a:t>
              </a:r>
              <a:r>
                <a:rPr lang="en-US" sz="1200" dirty="0"/>
                <a:t> to depolarize the atria which leads to the “fibrillating” pattern with varying AV conduction.  Managed with rate control by nodal blockade and anti-coagulation to reduce stroke risk.  However, some patients do not tolerate this rhythm, usually do to concomitant diastolic dysfunction (dependent on the “atrial kick”) or more active patients who are unable to increase CO as needed.  Anti-</a:t>
              </a:r>
              <a:r>
                <a:rPr lang="en-US" sz="1200" dirty="0" err="1"/>
                <a:t>arrhythmics</a:t>
              </a:r>
              <a:r>
                <a:rPr lang="en-US" sz="1200" dirty="0"/>
                <a:t> and ablation are other options but often unsuccessful. </a:t>
              </a:r>
            </a:p>
          </p:txBody>
        </p:sp>
        <p:cxnSp>
          <p:nvCxnSpPr>
            <p:cNvPr id="101" name="Straight Arrow Connector 100">
              <a:extLst>
                <a:ext uri="{FF2B5EF4-FFF2-40B4-BE49-F238E27FC236}">
                  <a16:creationId xmlns:a16="http://schemas.microsoft.com/office/drawing/2014/main" id="{B99B1380-3EB9-476A-BB4B-43B3284607EC}"/>
                </a:ext>
              </a:extLst>
            </p:cNvPr>
            <p:cNvCxnSpPr>
              <a:cxnSpLocks/>
              <a:stCxn id="18" idx="1"/>
              <a:endCxn id="100" idx="3"/>
            </p:cNvCxnSpPr>
            <p:nvPr/>
          </p:nvCxnSpPr>
          <p:spPr>
            <a:xfrm flipH="1" flipV="1">
              <a:off x="2598111" y="3420914"/>
              <a:ext cx="818943" cy="935751"/>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2" name="MAT detail">
            <a:extLst>
              <a:ext uri="{FF2B5EF4-FFF2-40B4-BE49-F238E27FC236}">
                <a16:creationId xmlns:a16="http://schemas.microsoft.com/office/drawing/2014/main" id="{FAB9A6A9-5D1D-4767-9C8F-F9152C3A61EE}"/>
              </a:ext>
            </a:extLst>
          </p:cNvPr>
          <p:cNvGrpSpPr/>
          <p:nvPr/>
        </p:nvGrpSpPr>
        <p:grpSpPr>
          <a:xfrm>
            <a:off x="152690" y="4904787"/>
            <a:ext cx="3224955" cy="1846661"/>
            <a:chOff x="104774" y="1574255"/>
            <a:chExt cx="3224955" cy="322851"/>
          </a:xfrm>
        </p:grpSpPr>
        <p:sp>
          <p:nvSpPr>
            <p:cNvPr id="103" name="AT detail">
              <a:extLst>
                <a:ext uri="{FF2B5EF4-FFF2-40B4-BE49-F238E27FC236}">
                  <a16:creationId xmlns:a16="http://schemas.microsoft.com/office/drawing/2014/main" id="{AEBE9707-18BA-4F4D-82E7-1447D2B7D6D5}"/>
                </a:ext>
              </a:extLst>
            </p:cNvPr>
            <p:cNvSpPr txBox="1"/>
            <p:nvPr/>
          </p:nvSpPr>
          <p:spPr>
            <a:xfrm>
              <a:off x="104774" y="1574255"/>
              <a:ext cx="2473267" cy="322851"/>
            </a:xfrm>
            <a:prstGeom prst="rect">
              <a:avLst/>
            </a:prstGeom>
            <a:ln w="19050">
              <a:solidFill>
                <a:srgbClr val="7030A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MAT </a:t>
              </a:r>
            </a:p>
            <a:p>
              <a:r>
                <a:rPr lang="en-US" sz="1200" b="1" dirty="0"/>
                <a:t>Irregular, multiple ‘p’ morphologies</a:t>
              </a:r>
            </a:p>
            <a:p>
              <a:r>
                <a:rPr lang="en-US" sz="1200" dirty="0"/>
                <a:t>This rhythm is similar to atrial tachycardia but has multiple ectopic pacemakers, instead of just one.  This is often mistaken as atrial fibrillation but will often resolve with resolution of the acute condition (e.g. sepsis, COPD exacerbation). </a:t>
              </a:r>
            </a:p>
          </p:txBody>
        </p:sp>
        <p:cxnSp>
          <p:nvCxnSpPr>
            <p:cNvPr id="104" name="Straight Arrow Connector 103">
              <a:extLst>
                <a:ext uri="{FF2B5EF4-FFF2-40B4-BE49-F238E27FC236}">
                  <a16:creationId xmlns:a16="http://schemas.microsoft.com/office/drawing/2014/main" id="{3AA60E7F-4F0F-4877-9062-9F7F851E4942}"/>
                </a:ext>
              </a:extLst>
            </p:cNvPr>
            <p:cNvCxnSpPr>
              <a:cxnSpLocks/>
              <a:stCxn id="20" idx="1"/>
              <a:endCxn id="103" idx="3"/>
            </p:cNvCxnSpPr>
            <p:nvPr/>
          </p:nvCxnSpPr>
          <p:spPr>
            <a:xfrm flipH="1" flipV="1">
              <a:off x="2578041" y="1735681"/>
              <a:ext cx="751688" cy="84095"/>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5" name="AVRT orthodromic animation">
            <a:extLst>
              <a:ext uri="{FF2B5EF4-FFF2-40B4-BE49-F238E27FC236}">
                <a16:creationId xmlns:a16="http://schemas.microsoft.com/office/drawing/2014/main" id="{7330F375-100C-4398-AEEC-047C1F79C64A}"/>
              </a:ext>
            </a:extLst>
          </p:cNvPr>
          <p:cNvGrpSpPr/>
          <p:nvPr/>
        </p:nvGrpSpPr>
        <p:grpSpPr>
          <a:xfrm>
            <a:off x="7855714" y="2141548"/>
            <a:ext cx="2632840" cy="3442743"/>
            <a:chOff x="7705523" y="1850406"/>
            <a:chExt cx="2632840" cy="3442743"/>
          </a:xfrm>
        </p:grpSpPr>
        <p:sp>
          <p:nvSpPr>
            <p:cNvPr id="106" name="Arc 105">
              <a:extLst>
                <a:ext uri="{FF2B5EF4-FFF2-40B4-BE49-F238E27FC236}">
                  <a16:creationId xmlns:a16="http://schemas.microsoft.com/office/drawing/2014/main" id="{D6C0BF26-F5BC-4894-A3EC-80FE56D227E1}"/>
                </a:ext>
              </a:extLst>
            </p:cNvPr>
            <p:cNvSpPr/>
            <p:nvPr/>
          </p:nvSpPr>
          <p:spPr>
            <a:xfrm rot="19436318">
              <a:off x="9152930" y="1850406"/>
              <a:ext cx="1185433" cy="3442743"/>
            </a:xfrm>
            <a:prstGeom prst="arc">
              <a:avLst>
                <a:gd name="adj1" fmla="val 15597921"/>
                <a:gd name="adj2" fmla="val 14751216"/>
              </a:avLst>
            </a:prstGeom>
            <a:ln w="12700">
              <a:solidFill>
                <a:srgbClr val="FF3399"/>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7" name="TextBox 106">
              <a:extLst>
                <a:ext uri="{FF2B5EF4-FFF2-40B4-BE49-F238E27FC236}">
                  <a16:creationId xmlns:a16="http://schemas.microsoft.com/office/drawing/2014/main" id="{7A14270F-2470-4E5C-A0C5-3E1A15DE9750}"/>
                </a:ext>
              </a:extLst>
            </p:cNvPr>
            <p:cNvSpPr txBox="1"/>
            <p:nvPr/>
          </p:nvSpPr>
          <p:spPr>
            <a:xfrm>
              <a:off x="7705523" y="4330958"/>
              <a:ext cx="1373788" cy="307777"/>
            </a:xfrm>
            <a:prstGeom prst="rect">
              <a:avLst/>
            </a:prstGeom>
            <a:noFill/>
            <a:ln>
              <a:solidFill>
                <a:srgbClr val="FF3399"/>
              </a:solidFill>
            </a:ln>
          </p:spPr>
          <p:txBody>
            <a:bodyPr wrap="square" rtlCol="0">
              <a:spAutoFit/>
            </a:bodyPr>
            <a:lstStyle/>
            <a:p>
              <a:r>
                <a:rPr lang="en-US" sz="1400" dirty="0"/>
                <a:t>1. Orthodromic</a:t>
              </a:r>
            </a:p>
          </p:txBody>
        </p:sp>
        <p:cxnSp>
          <p:nvCxnSpPr>
            <p:cNvPr id="108" name="Straight Arrow Connector 107">
              <a:extLst>
                <a:ext uri="{FF2B5EF4-FFF2-40B4-BE49-F238E27FC236}">
                  <a16:creationId xmlns:a16="http://schemas.microsoft.com/office/drawing/2014/main" id="{AF07D1EF-E24A-4F85-8BA0-BCE700033D84}"/>
                </a:ext>
              </a:extLst>
            </p:cNvPr>
            <p:cNvCxnSpPr>
              <a:cxnSpLocks/>
              <a:stCxn id="107" idx="0"/>
            </p:cNvCxnSpPr>
            <p:nvPr/>
          </p:nvCxnSpPr>
          <p:spPr>
            <a:xfrm flipV="1">
              <a:off x="8392417" y="3699384"/>
              <a:ext cx="660875" cy="631574"/>
            </a:xfrm>
            <a:prstGeom prst="straightConnector1">
              <a:avLst/>
            </a:prstGeom>
            <a:ln>
              <a:solidFill>
                <a:srgbClr val="FF3399"/>
              </a:solidFill>
              <a:tailEnd type="triangle"/>
            </a:ln>
          </p:spPr>
          <p:style>
            <a:lnRef idx="1">
              <a:schemeClr val="dk1"/>
            </a:lnRef>
            <a:fillRef idx="0">
              <a:schemeClr val="dk1"/>
            </a:fillRef>
            <a:effectRef idx="0">
              <a:schemeClr val="dk1"/>
            </a:effectRef>
            <a:fontRef idx="minor">
              <a:schemeClr val="tx1"/>
            </a:fontRef>
          </p:style>
        </p:cxnSp>
      </p:grpSp>
      <p:grpSp>
        <p:nvGrpSpPr>
          <p:cNvPr id="118" name="ST detail">
            <a:extLst>
              <a:ext uri="{FF2B5EF4-FFF2-40B4-BE49-F238E27FC236}">
                <a16:creationId xmlns:a16="http://schemas.microsoft.com/office/drawing/2014/main" id="{8DE2561A-D79D-4F01-A10D-FC50227E886F}"/>
              </a:ext>
            </a:extLst>
          </p:cNvPr>
          <p:cNvGrpSpPr/>
          <p:nvPr/>
        </p:nvGrpSpPr>
        <p:grpSpPr>
          <a:xfrm>
            <a:off x="104775" y="956654"/>
            <a:ext cx="3272870" cy="923330"/>
            <a:chOff x="104775" y="956654"/>
            <a:chExt cx="3272870" cy="923330"/>
          </a:xfrm>
        </p:grpSpPr>
        <p:sp>
          <p:nvSpPr>
            <p:cNvPr id="26" name="ST detail">
              <a:extLst>
                <a:ext uri="{FF2B5EF4-FFF2-40B4-BE49-F238E27FC236}">
                  <a16:creationId xmlns:a16="http://schemas.microsoft.com/office/drawing/2014/main" id="{451B8F49-801A-411A-B5B8-E7C63965B882}"/>
                </a:ext>
              </a:extLst>
            </p:cNvPr>
            <p:cNvSpPr txBox="1"/>
            <p:nvPr/>
          </p:nvSpPr>
          <p:spPr>
            <a:xfrm>
              <a:off x="104775" y="956654"/>
              <a:ext cx="2493337" cy="923330"/>
            </a:xfrm>
            <a:prstGeom prst="rect">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Sinus Tachycardia</a:t>
              </a:r>
            </a:p>
            <a:p>
              <a:r>
                <a:rPr lang="en-US" sz="1200" b="1" dirty="0"/>
                <a:t>Regular, typically &lt;160bpm</a:t>
              </a:r>
            </a:p>
            <a:p>
              <a:r>
                <a:rPr lang="en-US" sz="1200" dirty="0"/>
                <a:t>Increased automaticity of the sinus node typically in response </a:t>
              </a:r>
              <a:r>
                <a:rPr lang="en-US" sz="1200"/>
                <a:t>to stress.</a:t>
              </a:r>
              <a:endParaRPr lang="en-US" sz="1200" dirty="0"/>
            </a:p>
          </p:txBody>
        </p:sp>
        <p:cxnSp>
          <p:nvCxnSpPr>
            <p:cNvPr id="115" name="Straight Arrow Connector 114">
              <a:extLst>
                <a:ext uri="{FF2B5EF4-FFF2-40B4-BE49-F238E27FC236}">
                  <a16:creationId xmlns:a16="http://schemas.microsoft.com/office/drawing/2014/main" id="{7ED26ABF-AA07-43F9-9C37-412C1E715C78}"/>
                </a:ext>
              </a:extLst>
            </p:cNvPr>
            <p:cNvCxnSpPr>
              <a:cxnSpLocks/>
              <a:stCxn id="6" idx="1"/>
              <a:endCxn id="26" idx="3"/>
            </p:cNvCxnSpPr>
            <p:nvPr/>
          </p:nvCxnSpPr>
          <p:spPr>
            <a:xfrm flipH="1">
              <a:off x="2598112" y="1242170"/>
              <a:ext cx="779533" cy="17614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pic>
        <p:nvPicPr>
          <p:cNvPr id="4" name="ST rhythm">
            <a:extLst>
              <a:ext uri="{FF2B5EF4-FFF2-40B4-BE49-F238E27FC236}">
                <a16:creationId xmlns:a16="http://schemas.microsoft.com/office/drawing/2014/main" id="{013059C4-862B-4231-BD0E-0FE005D7F540}"/>
              </a:ext>
            </a:extLst>
          </p:cNvPr>
          <p:cNvPicPr>
            <a:picLocks noChangeAspect="1"/>
          </p:cNvPicPr>
          <p:nvPr/>
        </p:nvPicPr>
        <p:blipFill>
          <a:blip r:embed="rId6"/>
          <a:stretch>
            <a:fillRect/>
          </a:stretch>
        </p:blipFill>
        <p:spPr>
          <a:xfrm>
            <a:off x="3371292" y="1448448"/>
            <a:ext cx="2762250" cy="714375"/>
          </a:xfrm>
          <a:prstGeom prst="rect">
            <a:avLst/>
          </a:prstGeom>
        </p:spPr>
      </p:pic>
      <p:grpSp>
        <p:nvGrpSpPr>
          <p:cNvPr id="46" name="AFlutter rhythm">
            <a:extLst>
              <a:ext uri="{FF2B5EF4-FFF2-40B4-BE49-F238E27FC236}">
                <a16:creationId xmlns:a16="http://schemas.microsoft.com/office/drawing/2014/main" id="{5DA85E61-3CBE-443A-80FF-1B68EB75EA27}"/>
              </a:ext>
            </a:extLst>
          </p:cNvPr>
          <p:cNvGrpSpPr/>
          <p:nvPr/>
        </p:nvGrpSpPr>
        <p:grpSpPr>
          <a:xfrm>
            <a:off x="3360544" y="5066164"/>
            <a:ext cx="3162300" cy="940712"/>
            <a:chOff x="3385017" y="2233995"/>
            <a:chExt cx="3162300" cy="940712"/>
          </a:xfrm>
        </p:grpSpPr>
        <p:pic>
          <p:nvPicPr>
            <p:cNvPr id="5" name="Picture 4">
              <a:extLst>
                <a:ext uri="{FF2B5EF4-FFF2-40B4-BE49-F238E27FC236}">
                  <a16:creationId xmlns:a16="http://schemas.microsoft.com/office/drawing/2014/main" id="{DECC1B5A-EC24-423F-BEAF-A805518DA216}"/>
                </a:ext>
              </a:extLst>
            </p:cNvPr>
            <p:cNvPicPr>
              <a:picLocks noChangeAspect="1"/>
            </p:cNvPicPr>
            <p:nvPr/>
          </p:nvPicPr>
          <p:blipFill>
            <a:blip r:embed="rId7"/>
            <a:stretch>
              <a:fillRect/>
            </a:stretch>
          </p:blipFill>
          <p:spPr>
            <a:xfrm>
              <a:off x="3385017" y="2233995"/>
              <a:ext cx="3162300" cy="676275"/>
            </a:xfrm>
            <a:prstGeom prst="rect">
              <a:avLst/>
            </a:prstGeom>
          </p:spPr>
        </p:pic>
        <p:cxnSp>
          <p:nvCxnSpPr>
            <p:cNvPr id="23" name="Straight Arrow Connector 22">
              <a:extLst>
                <a:ext uri="{FF2B5EF4-FFF2-40B4-BE49-F238E27FC236}">
                  <a16:creationId xmlns:a16="http://schemas.microsoft.com/office/drawing/2014/main" id="{CD666F69-31BD-4484-9015-81D7CB6EFF59}"/>
                </a:ext>
              </a:extLst>
            </p:cNvPr>
            <p:cNvCxnSpPr>
              <a:cxnSpLocks/>
            </p:cNvCxnSpPr>
            <p:nvPr/>
          </p:nvCxnSpPr>
          <p:spPr>
            <a:xfrm flipH="1" flipV="1">
              <a:off x="4083208" y="2752297"/>
              <a:ext cx="201632" cy="42241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09" name="Straight Arrow Connector 108">
              <a:extLst>
                <a:ext uri="{FF2B5EF4-FFF2-40B4-BE49-F238E27FC236}">
                  <a16:creationId xmlns:a16="http://schemas.microsoft.com/office/drawing/2014/main" id="{73BB1BB3-B243-4315-B4D6-5992757C9222}"/>
                </a:ext>
              </a:extLst>
            </p:cNvPr>
            <p:cNvCxnSpPr>
              <a:cxnSpLocks/>
            </p:cNvCxnSpPr>
            <p:nvPr/>
          </p:nvCxnSpPr>
          <p:spPr>
            <a:xfrm flipH="1" flipV="1">
              <a:off x="4419829" y="2742060"/>
              <a:ext cx="201632" cy="42241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45" name="TextBox 44">
              <a:extLst>
                <a:ext uri="{FF2B5EF4-FFF2-40B4-BE49-F238E27FC236}">
                  <a16:creationId xmlns:a16="http://schemas.microsoft.com/office/drawing/2014/main" id="{B0AEB016-E994-4AE5-AD53-5215743191F1}"/>
                </a:ext>
              </a:extLst>
            </p:cNvPr>
            <p:cNvSpPr txBox="1"/>
            <p:nvPr/>
          </p:nvSpPr>
          <p:spPr>
            <a:xfrm>
              <a:off x="4846016" y="2275764"/>
              <a:ext cx="619076" cy="369332"/>
            </a:xfrm>
            <a:prstGeom prst="rect">
              <a:avLst/>
            </a:prstGeom>
            <a:noFill/>
          </p:spPr>
          <p:txBody>
            <a:bodyPr wrap="square" rtlCol="0">
              <a:spAutoFit/>
            </a:bodyPr>
            <a:lstStyle/>
            <a:p>
              <a:r>
                <a:rPr lang="en-US" dirty="0"/>
                <a:t>3:1</a:t>
              </a:r>
            </a:p>
          </p:txBody>
        </p:sp>
        <p:sp>
          <p:nvSpPr>
            <p:cNvPr id="110" name="TextBox 109">
              <a:extLst>
                <a:ext uri="{FF2B5EF4-FFF2-40B4-BE49-F238E27FC236}">
                  <a16:creationId xmlns:a16="http://schemas.microsoft.com/office/drawing/2014/main" id="{FFCAC2C4-F51D-4CE4-8290-6C0AB7621CD1}"/>
                </a:ext>
              </a:extLst>
            </p:cNvPr>
            <p:cNvSpPr txBox="1"/>
            <p:nvPr/>
          </p:nvSpPr>
          <p:spPr>
            <a:xfrm>
              <a:off x="3880842" y="2269842"/>
              <a:ext cx="619076" cy="369332"/>
            </a:xfrm>
            <a:prstGeom prst="rect">
              <a:avLst/>
            </a:prstGeom>
            <a:noFill/>
          </p:spPr>
          <p:txBody>
            <a:bodyPr wrap="square" rtlCol="0">
              <a:spAutoFit/>
            </a:bodyPr>
            <a:lstStyle/>
            <a:p>
              <a:r>
                <a:rPr lang="en-US" dirty="0"/>
                <a:t>5:1</a:t>
              </a:r>
            </a:p>
          </p:txBody>
        </p:sp>
        <p:sp>
          <p:nvSpPr>
            <p:cNvPr id="111" name="TextBox 110">
              <a:extLst>
                <a:ext uri="{FF2B5EF4-FFF2-40B4-BE49-F238E27FC236}">
                  <a16:creationId xmlns:a16="http://schemas.microsoft.com/office/drawing/2014/main" id="{2D77BE37-54AC-4443-A700-44C40985A421}"/>
                </a:ext>
              </a:extLst>
            </p:cNvPr>
            <p:cNvSpPr txBox="1"/>
            <p:nvPr/>
          </p:nvSpPr>
          <p:spPr>
            <a:xfrm>
              <a:off x="5709967" y="2268204"/>
              <a:ext cx="619076" cy="369332"/>
            </a:xfrm>
            <a:prstGeom prst="rect">
              <a:avLst/>
            </a:prstGeom>
            <a:noFill/>
          </p:spPr>
          <p:txBody>
            <a:bodyPr wrap="square" rtlCol="0">
              <a:spAutoFit/>
            </a:bodyPr>
            <a:lstStyle/>
            <a:p>
              <a:r>
                <a:rPr lang="en-US" dirty="0"/>
                <a:t>3:1</a:t>
              </a:r>
            </a:p>
          </p:txBody>
        </p:sp>
      </p:grpSp>
      <p:pic>
        <p:nvPicPr>
          <p:cNvPr id="48" name="Afib rhythm">
            <a:extLst>
              <a:ext uri="{FF2B5EF4-FFF2-40B4-BE49-F238E27FC236}">
                <a16:creationId xmlns:a16="http://schemas.microsoft.com/office/drawing/2014/main" id="{B6EE6A97-52DB-4B6A-A3EE-F6599F206F87}"/>
              </a:ext>
            </a:extLst>
          </p:cNvPr>
          <p:cNvPicPr>
            <a:picLocks noChangeAspect="1"/>
          </p:cNvPicPr>
          <p:nvPr/>
        </p:nvPicPr>
        <p:blipFill>
          <a:blip r:embed="rId8"/>
          <a:stretch>
            <a:fillRect/>
          </a:stretch>
        </p:blipFill>
        <p:spPr>
          <a:xfrm>
            <a:off x="3377645" y="5828117"/>
            <a:ext cx="4162425" cy="666750"/>
          </a:xfrm>
          <a:prstGeom prst="rect">
            <a:avLst/>
          </a:prstGeom>
        </p:spPr>
      </p:pic>
      <p:grpSp>
        <p:nvGrpSpPr>
          <p:cNvPr id="95" name="MAT rhythm">
            <a:extLst>
              <a:ext uri="{FF2B5EF4-FFF2-40B4-BE49-F238E27FC236}">
                <a16:creationId xmlns:a16="http://schemas.microsoft.com/office/drawing/2014/main" id="{5C8BFD7F-65E8-40B8-94E4-C62414BFB56B}"/>
              </a:ext>
            </a:extLst>
          </p:cNvPr>
          <p:cNvGrpSpPr/>
          <p:nvPr/>
        </p:nvGrpSpPr>
        <p:grpSpPr>
          <a:xfrm>
            <a:off x="5937056" y="5072955"/>
            <a:ext cx="3219450" cy="1586381"/>
            <a:chOff x="5937056" y="5072955"/>
            <a:chExt cx="3219450" cy="1586381"/>
          </a:xfrm>
        </p:grpSpPr>
        <p:pic>
          <p:nvPicPr>
            <p:cNvPr id="53" name="Picture 52">
              <a:extLst>
                <a:ext uri="{FF2B5EF4-FFF2-40B4-BE49-F238E27FC236}">
                  <a16:creationId xmlns:a16="http://schemas.microsoft.com/office/drawing/2014/main" id="{D4D1E4E6-2E4A-4FEB-B335-EEA48F4D5FC7}"/>
                </a:ext>
              </a:extLst>
            </p:cNvPr>
            <p:cNvPicPr>
              <a:picLocks noChangeAspect="1"/>
            </p:cNvPicPr>
            <p:nvPr/>
          </p:nvPicPr>
          <p:blipFill>
            <a:blip r:embed="rId9"/>
            <a:stretch>
              <a:fillRect/>
            </a:stretch>
          </p:blipFill>
          <p:spPr>
            <a:xfrm>
              <a:off x="5937056" y="5868761"/>
              <a:ext cx="3219450" cy="790575"/>
            </a:xfrm>
            <a:prstGeom prst="rect">
              <a:avLst/>
            </a:prstGeom>
          </p:spPr>
        </p:pic>
        <p:cxnSp>
          <p:nvCxnSpPr>
            <p:cNvPr id="58" name="Straight Arrow Connector 57">
              <a:extLst>
                <a:ext uri="{FF2B5EF4-FFF2-40B4-BE49-F238E27FC236}">
                  <a16:creationId xmlns:a16="http://schemas.microsoft.com/office/drawing/2014/main" id="{B2F1E082-BC04-4A2C-8FA4-A5CAFAE5A0F3}"/>
                </a:ext>
              </a:extLst>
            </p:cNvPr>
            <p:cNvCxnSpPr>
              <a:cxnSpLocks/>
            </p:cNvCxnSpPr>
            <p:nvPr/>
          </p:nvCxnSpPr>
          <p:spPr>
            <a:xfrm>
              <a:off x="7021860" y="5391688"/>
              <a:ext cx="1" cy="58740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CDEC074-3F9F-4E65-8755-2498B08EA2F0}"/>
                </a:ext>
              </a:extLst>
            </p:cNvPr>
            <p:cNvCxnSpPr>
              <a:cxnSpLocks/>
            </p:cNvCxnSpPr>
            <p:nvPr/>
          </p:nvCxnSpPr>
          <p:spPr>
            <a:xfrm>
              <a:off x="6642437" y="5391688"/>
              <a:ext cx="1" cy="58740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5CF6801-6532-46ED-932E-FA7525E134CB}"/>
                </a:ext>
              </a:extLst>
            </p:cNvPr>
            <p:cNvCxnSpPr>
              <a:cxnSpLocks/>
            </p:cNvCxnSpPr>
            <p:nvPr/>
          </p:nvCxnSpPr>
          <p:spPr>
            <a:xfrm>
              <a:off x="6071784" y="5409237"/>
              <a:ext cx="1" cy="58740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A49528B-CFB8-4F7E-AD26-57FDCCB1B83C}"/>
                </a:ext>
              </a:extLst>
            </p:cNvPr>
            <p:cNvSpPr txBox="1"/>
            <p:nvPr/>
          </p:nvSpPr>
          <p:spPr>
            <a:xfrm>
              <a:off x="5958939" y="5089556"/>
              <a:ext cx="226336" cy="307777"/>
            </a:xfrm>
            <a:prstGeom prst="rect">
              <a:avLst/>
            </a:prstGeom>
            <a:noFill/>
          </p:spPr>
          <p:txBody>
            <a:bodyPr wrap="square" rtlCol="0">
              <a:spAutoFit/>
            </a:bodyPr>
            <a:lstStyle/>
            <a:p>
              <a:pPr algn="ctr"/>
              <a:r>
                <a:rPr lang="en-US" sz="1400" dirty="0"/>
                <a:t>1</a:t>
              </a:r>
            </a:p>
          </p:txBody>
        </p:sp>
        <p:sp>
          <p:nvSpPr>
            <p:cNvPr id="116" name="TextBox 115">
              <a:extLst>
                <a:ext uri="{FF2B5EF4-FFF2-40B4-BE49-F238E27FC236}">
                  <a16:creationId xmlns:a16="http://schemas.microsoft.com/office/drawing/2014/main" id="{06487DC0-14CB-41FB-9F18-5DF49E2A6F56}"/>
                </a:ext>
              </a:extLst>
            </p:cNvPr>
            <p:cNvSpPr txBox="1"/>
            <p:nvPr/>
          </p:nvSpPr>
          <p:spPr>
            <a:xfrm>
              <a:off x="6522403" y="5072955"/>
              <a:ext cx="226336" cy="307777"/>
            </a:xfrm>
            <a:prstGeom prst="rect">
              <a:avLst/>
            </a:prstGeom>
            <a:noFill/>
          </p:spPr>
          <p:txBody>
            <a:bodyPr wrap="square" rtlCol="0">
              <a:spAutoFit/>
            </a:bodyPr>
            <a:lstStyle/>
            <a:p>
              <a:pPr algn="ctr"/>
              <a:r>
                <a:rPr lang="en-US" sz="1400" dirty="0"/>
                <a:t>2</a:t>
              </a:r>
            </a:p>
          </p:txBody>
        </p:sp>
        <p:sp>
          <p:nvSpPr>
            <p:cNvPr id="117" name="TextBox 116">
              <a:extLst>
                <a:ext uri="{FF2B5EF4-FFF2-40B4-BE49-F238E27FC236}">
                  <a16:creationId xmlns:a16="http://schemas.microsoft.com/office/drawing/2014/main" id="{9EFF12AA-9916-4C02-A081-1FB7172DFF98}"/>
                </a:ext>
              </a:extLst>
            </p:cNvPr>
            <p:cNvSpPr txBox="1"/>
            <p:nvPr/>
          </p:nvSpPr>
          <p:spPr>
            <a:xfrm>
              <a:off x="6913687" y="5078246"/>
              <a:ext cx="226336" cy="307777"/>
            </a:xfrm>
            <a:prstGeom prst="rect">
              <a:avLst/>
            </a:prstGeom>
            <a:noFill/>
          </p:spPr>
          <p:txBody>
            <a:bodyPr wrap="square" rtlCol="0">
              <a:spAutoFit/>
            </a:bodyPr>
            <a:lstStyle/>
            <a:p>
              <a:pPr algn="ctr"/>
              <a:r>
                <a:rPr lang="en-US" sz="1400" dirty="0"/>
                <a:t>3</a:t>
              </a:r>
            </a:p>
          </p:txBody>
        </p:sp>
      </p:grpSp>
      <p:grpSp>
        <p:nvGrpSpPr>
          <p:cNvPr id="136" name="AVnRT rhythm">
            <a:extLst>
              <a:ext uri="{FF2B5EF4-FFF2-40B4-BE49-F238E27FC236}">
                <a16:creationId xmlns:a16="http://schemas.microsoft.com/office/drawing/2014/main" id="{D529109D-182B-4907-BFDF-5CD7441D017D}"/>
              </a:ext>
            </a:extLst>
          </p:cNvPr>
          <p:cNvGrpSpPr/>
          <p:nvPr/>
        </p:nvGrpSpPr>
        <p:grpSpPr>
          <a:xfrm>
            <a:off x="3367978" y="3519353"/>
            <a:ext cx="4104264" cy="1642029"/>
            <a:chOff x="3333284" y="4307055"/>
            <a:chExt cx="4104264" cy="1642029"/>
          </a:xfrm>
        </p:grpSpPr>
        <p:pic>
          <p:nvPicPr>
            <p:cNvPr id="119" name="Picture 118">
              <a:extLst>
                <a:ext uri="{FF2B5EF4-FFF2-40B4-BE49-F238E27FC236}">
                  <a16:creationId xmlns:a16="http://schemas.microsoft.com/office/drawing/2014/main" id="{0B699970-8B00-4018-B085-B334B4A1AC77}"/>
                </a:ext>
              </a:extLst>
            </p:cNvPr>
            <p:cNvPicPr>
              <a:picLocks noChangeAspect="1"/>
            </p:cNvPicPr>
            <p:nvPr/>
          </p:nvPicPr>
          <p:blipFill>
            <a:blip r:embed="rId10"/>
            <a:stretch>
              <a:fillRect/>
            </a:stretch>
          </p:blipFill>
          <p:spPr>
            <a:xfrm>
              <a:off x="3334331" y="4362339"/>
              <a:ext cx="2686050" cy="809625"/>
            </a:xfrm>
            <a:prstGeom prst="rect">
              <a:avLst/>
            </a:prstGeom>
          </p:spPr>
        </p:pic>
        <p:pic>
          <p:nvPicPr>
            <p:cNvPr id="122" name="Picture 121">
              <a:extLst>
                <a:ext uri="{FF2B5EF4-FFF2-40B4-BE49-F238E27FC236}">
                  <a16:creationId xmlns:a16="http://schemas.microsoft.com/office/drawing/2014/main" id="{2BF628FF-23EE-4692-949A-30CACFC02FD8}"/>
                </a:ext>
              </a:extLst>
            </p:cNvPr>
            <p:cNvPicPr>
              <a:picLocks noChangeAspect="1"/>
            </p:cNvPicPr>
            <p:nvPr/>
          </p:nvPicPr>
          <p:blipFill>
            <a:blip r:embed="rId11"/>
            <a:stretch>
              <a:fillRect/>
            </a:stretch>
          </p:blipFill>
          <p:spPr>
            <a:xfrm>
              <a:off x="3333284" y="5226286"/>
              <a:ext cx="2681347" cy="722798"/>
            </a:xfrm>
            <a:prstGeom prst="rect">
              <a:avLst/>
            </a:prstGeom>
          </p:spPr>
        </p:pic>
        <p:sp>
          <p:nvSpPr>
            <p:cNvPr id="123" name="TextBox 122">
              <a:extLst>
                <a:ext uri="{FF2B5EF4-FFF2-40B4-BE49-F238E27FC236}">
                  <a16:creationId xmlns:a16="http://schemas.microsoft.com/office/drawing/2014/main" id="{EC3D3ABF-7670-4A6B-8390-C0F9E4D051A9}"/>
                </a:ext>
              </a:extLst>
            </p:cNvPr>
            <p:cNvSpPr txBox="1"/>
            <p:nvPr/>
          </p:nvSpPr>
          <p:spPr>
            <a:xfrm>
              <a:off x="3942041" y="4307055"/>
              <a:ext cx="1177204" cy="276999"/>
            </a:xfrm>
            <a:prstGeom prst="rect">
              <a:avLst/>
            </a:prstGeom>
            <a:noFill/>
          </p:spPr>
          <p:txBody>
            <a:bodyPr wrap="square" rtlCol="0">
              <a:spAutoFit/>
            </a:bodyPr>
            <a:lstStyle/>
            <a:p>
              <a:r>
                <a:rPr lang="en-US" sz="1200" dirty="0"/>
                <a:t>Pre-adenosine</a:t>
              </a:r>
            </a:p>
          </p:txBody>
        </p:sp>
        <p:sp>
          <p:nvSpPr>
            <p:cNvPr id="124" name="TextBox 123">
              <a:extLst>
                <a:ext uri="{FF2B5EF4-FFF2-40B4-BE49-F238E27FC236}">
                  <a16:creationId xmlns:a16="http://schemas.microsoft.com/office/drawing/2014/main" id="{BA8DB002-3D5C-4B7E-868F-84030A90EAA0}"/>
                </a:ext>
              </a:extLst>
            </p:cNvPr>
            <p:cNvSpPr txBox="1"/>
            <p:nvPr/>
          </p:nvSpPr>
          <p:spPr>
            <a:xfrm>
              <a:off x="3978844" y="5156508"/>
              <a:ext cx="1177204" cy="276999"/>
            </a:xfrm>
            <a:prstGeom prst="rect">
              <a:avLst/>
            </a:prstGeom>
            <a:noFill/>
          </p:spPr>
          <p:txBody>
            <a:bodyPr wrap="square" rtlCol="0">
              <a:spAutoFit/>
            </a:bodyPr>
            <a:lstStyle/>
            <a:p>
              <a:r>
                <a:rPr lang="en-US" sz="1200" dirty="0"/>
                <a:t>Post-adenosine</a:t>
              </a:r>
            </a:p>
          </p:txBody>
        </p:sp>
        <p:cxnSp>
          <p:nvCxnSpPr>
            <p:cNvPr id="126" name="Straight Arrow Connector 125">
              <a:extLst>
                <a:ext uri="{FF2B5EF4-FFF2-40B4-BE49-F238E27FC236}">
                  <a16:creationId xmlns:a16="http://schemas.microsoft.com/office/drawing/2014/main" id="{C03D5B93-A669-4EB5-9EE7-11E7E2701DDB}"/>
                </a:ext>
              </a:extLst>
            </p:cNvPr>
            <p:cNvCxnSpPr>
              <a:cxnSpLocks/>
              <a:stCxn id="129" idx="1"/>
            </p:cNvCxnSpPr>
            <p:nvPr/>
          </p:nvCxnSpPr>
          <p:spPr>
            <a:xfrm flipH="1">
              <a:off x="5866109" y="4773812"/>
              <a:ext cx="388688" cy="13901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A326F9E0-1873-4D53-A24D-3A921A78FEC9}"/>
                </a:ext>
              </a:extLst>
            </p:cNvPr>
            <p:cNvSpPr txBox="1"/>
            <p:nvPr/>
          </p:nvSpPr>
          <p:spPr>
            <a:xfrm>
              <a:off x="6254797" y="4450646"/>
              <a:ext cx="1177204" cy="646331"/>
            </a:xfrm>
            <a:prstGeom prst="rect">
              <a:avLst/>
            </a:prstGeom>
            <a:solidFill>
              <a:schemeClr val="bg1"/>
            </a:solidFill>
            <a:ln>
              <a:solidFill>
                <a:srgbClr val="C00000"/>
              </a:solidFill>
            </a:ln>
          </p:spPr>
          <p:txBody>
            <a:bodyPr wrap="square" rtlCol="0">
              <a:spAutoFit/>
            </a:bodyPr>
            <a:lstStyle/>
            <a:p>
              <a:pPr algn="ctr"/>
              <a:r>
                <a:rPr lang="en-US" sz="1200" dirty="0"/>
                <a:t>“retro-P” with short R-P interval</a:t>
              </a:r>
            </a:p>
          </p:txBody>
        </p:sp>
        <p:cxnSp>
          <p:nvCxnSpPr>
            <p:cNvPr id="132" name="Straight Arrow Connector 131">
              <a:extLst>
                <a:ext uri="{FF2B5EF4-FFF2-40B4-BE49-F238E27FC236}">
                  <a16:creationId xmlns:a16="http://schemas.microsoft.com/office/drawing/2014/main" id="{C6C2A037-6351-4656-A7C1-D468861033D0}"/>
                </a:ext>
              </a:extLst>
            </p:cNvPr>
            <p:cNvCxnSpPr>
              <a:cxnSpLocks/>
              <a:stCxn id="133" idx="1"/>
            </p:cNvCxnSpPr>
            <p:nvPr/>
          </p:nvCxnSpPr>
          <p:spPr>
            <a:xfrm flipH="1" flipV="1">
              <a:off x="5267216" y="5660644"/>
              <a:ext cx="993128" cy="2940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820E955-C053-412C-9C6E-9411EBF942FF}"/>
                </a:ext>
              </a:extLst>
            </p:cNvPr>
            <p:cNvSpPr txBox="1"/>
            <p:nvPr/>
          </p:nvSpPr>
          <p:spPr>
            <a:xfrm>
              <a:off x="6260344" y="5459216"/>
              <a:ext cx="1177204" cy="461665"/>
            </a:xfrm>
            <a:prstGeom prst="rect">
              <a:avLst/>
            </a:prstGeom>
            <a:solidFill>
              <a:schemeClr val="bg1"/>
            </a:solidFill>
            <a:ln>
              <a:solidFill>
                <a:srgbClr val="C00000"/>
              </a:solidFill>
            </a:ln>
          </p:spPr>
          <p:txBody>
            <a:bodyPr wrap="square" rtlCol="0">
              <a:spAutoFit/>
            </a:bodyPr>
            <a:lstStyle/>
            <a:p>
              <a:pPr algn="ctr"/>
              <a:r>
                <a:rPr lang="en-US" sz="1200" dirty="0"/>
                <a:t>No obvious “delta wave”</a:t>
              </a:r>
            </a:p>
          </p:txBody>
        </p:sp>
      </p:grpSp>
      <p:grpSp>
        <p:nvGrpSpPr>
          <p:cNvPr id="153" name="AT rhythm">
            <a:extLst>
              <a:ext uri="{FF2B5EF4-FFF2-40B4-BE49-F238E27FC236}">
                <a16:creationId xmlns:a16="http://schemas.microsoft.com/office/drawing/2014/main" id="{F0B2583E-EE67-4262-A502-6893F4F039C4}"/>
              </a:ext>
            </a:extLst>
          </p:cNvPr>
          <p:cNvGrpSpPr/>
          <p:nvPr/>
        </p:nvGrpSpPr>
        <p:grpSpPr>
          <a:xfrm>
            <a:off x="3377645" y="1817113"/>
            <a:ext cx="2946198" cy="1102515"/>
            <a:chOff x="3377645" y="1817113"/>
            <a:chExt cx="2946198" cy="1102515"/>
          </a:xfrm>
        </p:grpSpPr>
        <p:pic>
          <p:nvPicPr>
            <p:cNvPr id="137" name="Picture 136">
              <a:extLst>
                <a:ext uri="{FF2B5EF4-FFF2-40B4-BE49-F238E27FC236}">
                  <a16:creationId xmlns:a16="http://schemas.microsoft.com/office/drawing/2014/main" id="{A47D8683-8FCB-4AFE-8672-D2AD4AA15AC3}"/>
                </a:ext>
              </a:extLst>
            </p:cNvPr>
            <p:cNvPicPr>
              <a:picLocks noChangeAspect="1"/>
            </p:cNvPicPr>
            <p:nvPr/>
          </p:nvPicPr>
          <p:blipFill>
            <a:blip r:embed="rId12"/>
            <a:stretch>
              <a:fillRect/>
            </a:stretch>
          </p:blipFill>
          <p:spPr>
            <a:xfrm>
              <a:off x="3377645" y="2224303"/>
              <a:ext cx="2419350" cy="695325"/>
            </a:xfrm>
            <a:prstGeom prst="rect">
              <a:avLst/>
            </a:prstGeom>
          </p:spPr>
        </p:pic>
        <p:cxnSp>
          <p:nvCxnSpPr>
            <p:cNvPr id="139" name="Straight Arrow Connector 138">
              <a:extLst>
                <a:ext uri="{FF2B5EF4-FFF2-40B4-BE49-F238E27FC236}">
                  <a16:creationId xmlns:a16="http://schemas.microsoft.com/office/drawing/2014/main" id="{D315ACB9-B065-425C-823B-F83ABEABF2DC}"/>
                </a:ext>
              </a:extLst>
            </p:cNvPr>
            <p:cNvCxnSpPr>
              <a:cxnSpLocks/>
              <a:stCxn id="146" idx="1"/>
            </p:cNvCxnSpPr>
            <p:nvPr/>
          </p:nvCxnSpPr>
          <p:spPr>
            <a:xfrm flipH="1">
              <a:off x="4999911" y="2078723"/>
              <a:ext cx="409532" cy="559566"/>
            </a:xfrm>
            <a:prstGeom prst="straightConnector1">
              <a:avLst/>
            </a:prstGeom>
            <a:ln w="95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C7CE08B1-5054-4EE3-972B-FC978F2B2F71}"/>
                </a:ext>
              </a:extLst>
            </p:cNvPr>
            <p:cNvSpPr txBox="1"/>
            <p:nvPr/>
          </p:nvSpPr>
          <p:spPr>
            <a:xfrm>
              <a:off x="5409443" y="1817113"/>
              <a:ext cx="914400" cy="523220"/>
            </a:xfrm>
            <a:prstGeom prst="rect">
              <a:avLst/>
            </a:prstGeom>
            <a:solidFill>
              <a:schemeClr val="bg1"/>
            </a:solidFill>
            <a:ln>
              <a:solidFill>
                <a:schemeClr val="accent2">
                  <a:lumMod val="50000"/>
                </a:schemeClr>
              </a:solidFill>
            </a:ln>
          </p:spPr>
          <p:txBody>
            <a:bodyPr wrap="square" rtlCol="0">
              <a:spAutoFit/>
            </a:bodyPr>
            <a:lstStyle/>
            <a:p>
              <a:r>
                <a:rPr lang="en-US" sz="1400" dirty="0"/>
                <a:t>Inverted p waves</a:t>
              </a:r>
            </a:p>
          </p:txBody>
        </p:sp>
      </p:grpSp>
      <p:pic>
        <p:nvPicPr>
          <p:cNvPr id="154" name="JT rhythm">
            <a:extLst>
              <a:ext uri="{FF2B5EF4-FFF2-40B4-BE49-F238E27FC236}">
                <a16:creationId xmlns:a16="http://schemas.microsoft.com/office/drawing/2014/main" id="{4C070119-24E5-4C96-A195-4C035164123F}"/>
              </a:ext>
            </a:extLst>
          </p:cNvPr>
          <p:cNvPicPr>
            <a:picLocks noChangeAspect="1"/>
          </p:cNvPicPr>
          <p:nvPr/>
        </p:nvPicPr>
        <p:blipFill>
          <a:blip r:embed="rId13"/>
          <a:stretch>
            <a:fillRect/>
          </a:stretch>
        </p:blipFill>
        <p:spPr>
          <a:xfrm>
            <a:off x="3347032" y="2982397"/>
            <a:ext cx="3486150" cy="714375"/>
          </a:xfrm>
          <a:prstGeom prst="rect">
            <a:avLst/>
          </a:prstGeom>
        </p:spPr>
      </p:pic>
      <p:grpSp>
        <p:nvGrpSpPr>
          <p:cNvPr id="175" name="AVRT ortho rhythm">
            <a:extLst>
              <a:ext uri="{FF2B5EF4-FFF2-40B4-BE49-F238E27FC236}">
                <a16:creationId xmlns:a16="http://schemas.microsoft.com/office/drawing/2014/main" id="{CA6C51F1-3442-40EC-BCAE-3B3CAE82633F}"/>
              </a:ext>
            </a:extLst>
          </p:cNvPr>
          <p:cNvGrpSpPr/>
          <p:nvPr/>
        </p:nvGrpSpPr>
        <p:grpSpPr>
          <a:xfrm>
            <a:off x="3367412" y="4133594"/>
            <a:ext cx="4108093" cy="1656192"/>
            <a:chOff x="3367412" y="4133594"/>
            <a:chExt cx="4108093" cy="1656192"/>
          </a:xfrm>
        </p:grpSpPr>
        <p:pic>
          <p:nvPicPr>
            <p:cNvPr id="155" name="Picture 154">
              <a:extLst>
                <a:ext uri="{FF2B5EF4-FFF2-40B4-BE49-F238E27FC236}">
                  <a16:creationId xmlns:a16="http://schemas.microsoft.com/office/drawing/2014/main" id="{B8542895-E4B7-4455-9F6E-744604C6CD67}"/>
                </a:ext>
              </a:extLst>
            </p:cNvPr>
            <p:cNvPicPr>
              <a:picLocks noChangeAspect="1"/>
            </p:cNvPicPr>
            <p:nvPr/>
          </p:nvPicPr>
          <p:blipFill rotWithShape="1">
            <a:blip r:embed="rId14"/>
            <a:srcRect t="1" r="8200" b="3996"/>
            <a:stretch/>
          </p:blipFill>
          <p:spPr>
            <a:xfrm>
              <a:off x="3367412" y="4337134"/>
              <a:ext cx="2527012" cy="630956"/>
            </a:xfrm>
            <a:prstGeom prst="rect">
              <a:avLst/>
            </a:prstGeom>
          </p:spPr>
        </p:pic>
        <p:pic>
          <p:nvPicPr>
            <p:cNvPr id="156" name="Picture 155">
              <a:extLst>
                <a:ext uri="{FF2B5EF4-FFF2-40B4-BE49-F238E27FC236}">
                  <a16:creationId xmlns:a16="http://schemas.microsoft.com/office/drawing/2014/main" id="{BF283C36-E26A-4347-9F2B-C898C4193670}"/>
                </a:ext>
              </a:extLst>
            </p:cNvPr>
            <p:cNvPicPr>
              <a:picLocks noChangeAspect="1"/>
            </p:cNvPicPr>
            <p:nvPr/>
          </p:nvPicPr>
          <p:blipFill rotWithShape="1">
            <a:blip r:embed="rId15"/>
            <a:srcRect t="9991" r="1594" b="14751"/>
            <a:stretch/>
          </p:blipFill>
          <p:spPr>
            <a:xfrm>
              <a:off x="3393145" y="5228248"/>
              <a:ext cx="2541654" cy="561538"/>
            </a:xfrm>
            <a:prstGeom prst="rect">
              <a:avLst/>
            </a:prstGeom>
          </p:spPr>
        </p:pic>
        <p:cxnSp>
          <p:nvCxnSpPr>
            <p:cNvPr id="157" name="Straight Arrow Connector 156">
              <a:extLst>
                <a:ext uri="{FF2B5EF4-FFF2-40B4-BE49-F238E27FC236}">
                  <a16:creationId xmlns:a16="http://schemas.microsoft.com/office/drawing/2014/main" id="{AC2B0534-AC2B-4697-B0AE-9A6F230A2601}"/>
                </a:ext>
              </a:extLst>
            </p:cNvPr>
            <p:cNvCxnSpPr>
              <a:cxnSpLocks/>
              <a:stCxn id="158" idx="1"/>
            </p:cNvCxnSpPr>
            <p:nvPr/>
          </p:nvCxnSpPr>
          <p:spPr>
            <a:xfrm flipH="1">
              <a:off x="5436455" y="4648894"/>
              <a:ext cx="384991" cy="190249"/>
            </a:xfrm>
            <a:prstGeom prst="straightConnector1">
              <a:avLst/>
            </a:prstGeom>
            <a:ln>
              <a:solidFill>
                <a:srgbClr val="FF3399"/>
              </a:solidFill>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163292EF-E153-47E0-BF7B-939127C5C00A}"/>
                </a:ext>
              </a:extLst>
            </p:cNvPr>
            <p:cNvSpPr txBox="1"/>
            <p:nvPr/>
          </p:nvSpPr>
          <p:spPr>
            <a:xfrm>
              <a:off x="5821446" y="4418061"/>
              <a:ext cx="1654059" cy="461665"/>
            </a:xfrm>
            <a:prstGeom prst="rect">
              <a:avLst/>
            </a:prstGeom>
            <a:solidFill>
              <a:schemeClr val="bg1"/>
            </a:solidFill>
            <a:ln>
              <a:solidFill>
                <a:srgbClr val="FF3399"/>
              </a:solidFill>
            </a:ln>
          </p:spPr>
          <p:txBody>
            <a:bodyPr wrap="square" rtlCol="0">
              <a:spAutoFit/>
            </a:bodyPr>
            <a:lstStyle/>
            <a:p>
              <a:pPr algn="ctr"/>
              <a:r>
                <a:rPr lang="en-US" sz="1200" dirty="0"/>
                <a:t>Inverted “retro-P” with short R-P interval</a:t>
              </a:r>
            </a:p>
          </p:txBody>
        </p:sp>
        <p:cxnSp>
          <p:nvCxnSpPr>
            <p:cNvPr id="159" name="Straight Arrow Connector 158">
              <a:extLst>
                <a:ext uri="{FF2B5EF4-FFF2-40B4-BE49-F238E27FC236}">
                  <a16:creationId xmlns:a16="http://schemas.microsoft.com/office/drawing/2014/main" id="{AC3EF1D4-AF6D-4AD9-A54B-9560A20A41C8}"/>
                </a:ext>
              </a:extLst>
            </p:cNvPr>
            <p:cNvCxnSpPr>
              <a:cxnSpLocks/>
              <a:stCxn id="160" idx="1"/>
            </p:cNvCxnSpPr>
            <p:nvPr/>
          </p:nvCxnSpPr>
          <p:spPr>
            <a:xfrm flipH="1">
              <a:off x="5477611" y="5506701"/>
              <a:ext cx="509793" cy="172577"/>
            </a:xfrm>
            <a:prstGeom prst="straightConnector1">
              <a:avLst/>
            </a:prstGeom>
            <a:ln>
              <a:solidFill>
                <a:srgbClr val="FF3399"/>
              </a:solidFill>
              <a:tailEnd type="triangle"/>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562ED427-972F-47C4-93C1-B44DD3FA5B33}"/>
                </a:ext>
              </a:extLst>
            </p:cNvPr>
            <p:cNvSpPr txBox="1"/>
            <p:nvPr/>
          </p:nvSpPr>
          <p:spPr>
            <a:xfrm>
              <a:off x="5987404" y="5275868"/>
              <a:ext cx="1461238" cy="461665"/>
            </a:xfrm>
            <a:prstGeom prst="rect">
              <a:avLst/>
            </a:prstGeom>
            <a:solidFill>
              <a:schemeClr val="bg1"/>
            </a:solidFill>
            <a:ln>
              <a:solidFill>
                <a:srgbClr val="FF3399"/>
              </a:solidFill>
            </a:ln>
          </p:spPr>
          <p:txBody>
            <a:bodyPr wrap="square" rtlCol="0">
              <a:spAutoFit/>
            </a:bodyPr>
            <a:lstStyle/>
            <a:p>
              <a:pPr algn="ctr"/>
              <a:r>
                <a:rPr lang="en-US" sz="1200" dirty="0"/>
                <a:t>Wide QRS, “delta wave”, short P-R</a:t>
              </a:r>
            </a:p>
          </p:txBody>
        </p:sp>
        <p:sp>
          <p:nvSpPr>
            <p:cNvPr id="161" name="TextBox 160">
              <a:extLst>
                <a:ext uri="{FF2B5EF4-FFF2-40B4-BE49-F238E27FC236}">
                  <a16:creationId xmlns:a16="http://schemas.microsoft.com/office/drawing/2014/main" id="{64041E7D-B971-4ADE-A39E-74A840990558}"/>
                </a:ext>
              </a:extLst>
            </p:cNvPr>
            <p:cNvSpPr txBox="1"/>
            <p:nvPr/>
          </p:nvSpPr>
          <p:spPr>
            <a:xfrm>
              <a:off x="4100418" y="4133594"/>
              <a:ext cx="1092130" cy="276999"/>
            </a:xfrm>
            <a:prstGeom prst="rect">
              <a:avLst/>
            </a:prstGeom>
            <a:noFill/>
          </p:spPr>
          <p:txBody>
            <a:bodyPr wrap="square" rtlCol="0">
              <a:spAutoFit/>
            </a:bodyPr>
            <a:lstStyle/>
            <a:p>
              <a:r>
                <a:rPr lang="en-US" sz="1200" dirty="0"/>
                <a:t>Pre-adenosine</a:t>
              </a:r>
            </a:p>
          </p:txBody>
        </p:sp>
        <p:sp>
          <p:nvSpPr>
            <p:cNvPr id="162" name="TextBox 161">
              <a:extLst>
                <a:ext uri="{FF2B5EF4-FFF2-40B4-BE49-F238E27FC236}">
                  <a16:creationId xmlns:a16="http://schemas.microsoft.com/office/drawing/2014/main" id="{DC230799-9455-4D0B-9376-299310A0B398}"/>
                </a:ext>
              </a:extLst>
            </p:cNvPr>
            <p:cNvSpPr txBox="1"/>
            <p:nvPr/>
          </p:nvSpPr>
          <p:spPr>
            <a:xfrm>
              <a:off x="3668176" y="4984974"/>
              <a:ext cx="2374796" cy="276999"/>
            </a:xfrm>
            <a:prstGeom prst="rect">
              <a:avLst/>
            </a:prstGeom>
            <a:noFill/>
          </p:spPr>
          <p:txBody>
            <a:bodyPr wrap="square" rtlCol="0">
              <a:spAutoFit/>
            </a:bodyPr>
            <a:lstStyle/>
            <a:p>
              <a:r>
                <a:rPr lang="en-US" sz="1200" dirty="0"/>
                <a:t>Post-adenosine (Sinus Rhythm)</a:t>
              </a:r>
            </a:p>
          </p:txBody>
        </p:sp>
      </p:grpSp>
      <p:grpSp>
        <p:nvGrpSpPr>
          <p:cNvPr id="191" name="AVRT antidromic rhythm">
            <a:extLst>
              <a:ext uri="{FF2B5EF4-FFF2-40B4-BE49-F238E27FC236}">
                <a16:creationId xmlns:a16="http://schemas.microsoft.com/office/drawing/2014/main" id="{F7F407A8-FCCD-424B-9D43-A40CA145FC38}"/>
              </a:ext>
            </a:extLst>
          </p:cNvPr>
          <p:cNvGrpSpPr/>
          <p:nvPr/>
        </p:nvGrpSpPr>
        <p:grpSpPr>
          <a:xfrm>
            <a:off x="3362781" y="4233319"/>
            <a:ext cx="4097113" cy="1619454"/>
            <a:chOff x="3362781" y="4233319"/>
            <a:chExt cx="4097113" cy="1619454"/>
          </a:xfrm>
        </p:grpSpPr>
        <p:pic>
          <p:nvPicPr>
            <p:cNvPr id="187" name="Picture 186">
              <a:extLst>
                <a:ext uri="{FF2B5EF4-FFF2-40B4-BE49-F238E27FC236}">
                  <a16:creationId xmlns:a16="http://schemas.microsoft.com/office/drawing/2014/main" id="{16D7DC02-ECAA-4210-9E5B-5438A7EE0378}"/>
                </a:ext>
              </a:extLst>
            </p:cNvPr>
            <p:cNvPicPr>
              <a:picLocks noChangeAspect="1"/>
            </p:cNvPicPr>
            <p:nvPr/>
          </p:nvPicPr>
          <p:blipFill>
            <a:blip r:embed="rId16"/>
            <a:stretch>
              <a:fillRect/>
            </a:stretch>
          </p:blipFill>
          <p:spPr>
            <a:xfrm>
              <a:off x="3362781" y="4482801"/>
              <a:ext cx="2383675" cy="589646"/>
            </a:xfrm>
            <a:prstGeom prst="rect">
              <a:avLst/>
            </a:prstGeom>
          </p:spPr>
        </p:pic>
        <p:pic>
          <p:nvPicPr>
            <p:cNvPr id="189" name="Picture 188">
              <a:extLst>
                <a:ext uri="{FF2B5EF4-FFF2-40B4-BE49-F238E27FC236}">
                  <a16:creationId xmlns:a16="http://schemas.microsoft.com/office/drawing/2014/main" id="{1D001F94-B0E6-452B-968E-D8CFFD8BF951}"/>
                </a:ext>
              </a:extLst>
            </p:cNvPr>
            <p:cNvPicPr>
              <a:picLocks noChangeAspect="1"/>
            </p:cNvPicPr>
            <p:nvPr/>
          </p:nvPicPr>
          <p:blipFill>
            <a:blip r:embed="rId17"/>
            <a:stretch>
              <a:fillRect/>
            </a:stretch>
          </p:blipFill>
          <p:spPr>
            <a:xfrm>
              <a:off x="3377645" y="5281273"/>
              <a:ext cx="2752725" cy="571500"/>
            </a:xfrm>
            <a:prstGeom prst="rect">
              <a:avLst/>
            </a:prstGeom>
          </p:spPr>
        </p:pic>
        <p:grpSp>
          <p:nvGrpSpPr>
            <p:cNvPr id="177" name="AVRT ortho rhythm">
              <a:extLst>
                <a:ext uri="{FF2B5EF4-FFF2-40B4-BE49-F238E27FC236}">
                  <a16:creationId xmlns:a16="http://schemas.microsoft.com/office/drawing/2014/main" id="{810DB87E-087A-4A6C-8B82-E655E4D09824}"/>
                </a:ext>
              </a:extLst>
            </p:cNvPr>
            <p:cNvGrpSpPr/>
            <p:nvPr/>
          </p:nvGrpSpPr>
          <p:grpSpPr>
            <a:xfrm>
              <a:off x="3652565" y="4233319"/>
              <a:ext cx="3807329" cy="1591061"/>
              <a:chOff x="3668176" y="4133594"/>
              <a:chExt cx="3807329" cy="1591061"/>
            </a:xfrm>
          </p:grpSpPr>
          <p:sp>
            <p:nvSpPr>
              <p:cNvPr id="181" name="TextBox 180">
                <a:extLst>
                  <a:ext uri="{FF2B5EF4-FFF2-40B4-BE49-F238E27FC236}">
                    <a16:creationId xmlns:a16="http://schemas.microsoft.com/office/drawing/2014/main" id="{F701E34F-71E9-472F-A5F7-F87A1DE0F8F1}"/>
                  </a:ext>
                </a:extLst>
              </p:cNvPr>
              <p:cNvSpPr txBox="1"/>
              <p:nvPr/>
            </p:nvSpPr>
            <p:spPr>
              <a:xfrm>
                <a:off x="5821446" y="4418061"/>
                <a:ext cx="1654059" cy="461665"/>
              </a:xfrm>
              <a:prstGeom prst="rect">
                <a:avLst/>
              </a:prstGeom>
              <a:solidFill>
                <a:schemeClr val="bg1"/>
              </a:solidFill>
              <a:ln>
                <a:solidFill>
                  <a:srgbClr val="FF3399"/>
                </a:solidFill>
              </a:ln>
            </p:spPr>
            <p:txBody>
              <a:bodyPr wrap="square" rtlCol="0">
                <a:spAutoFit/>
              </a:bodyPr>
              <a:lstStyle/>
              <a:p>
                <a:pPr algn="ctr"/>
                <a:r>
                  <a:rPr lang="en-US" sz="1200" dirty="0"/>
                  <a:t>Regular, wide complex tachycardia</a:t>
                </a:r>
              </a:p>
            </p:txBody>
          </p:sp>
          <p:cxnSp>
            <p:nvCxnSpPr>
              <p:cNvPr id="182" name="Straight Arrow Connector 181">
                <a:extLst>
                  <a:ext uri="{FF2B5EF4-FFF2-40B4-BE49-F238E27FC236}">
                    <a16:creationId xmlns:a16="http://schemas.microsoft.com/office/drawing/2014/main" id="{964D4177-7C2C-46A0-9BA7-0C8734E6615C}"/>
                  </a:ext>
                </a:extLst>
              </p:cNvPr>
              <p:cNvCxnSpPr>
                <a:cxnSpLocks/>
                <a:stCxn id="183" idx="1"/>
              </p:cNvCxnSpPr>
              <p:nvPr/>
            </p:nvCxnSpPr>
            <p:spPr>
              <a:xfrm flipH="1">
                <a:off x="5156857" y="5493823"/>
                <a:ext cx="791268" cy="72852"/>
              </a:xfrm>
              <a:prstGeom prst="straightConnector1">
                <a:avLst/>
              </a:prstGeom>
              <a:ln>
                <a:solidFill>
                  <a:srgbClr val="FF3399"/>
                </a:solidFill>
                <a:tailEnd type="triangle"/>
              </a:ln>
            </p:spPr>
            <p:style>
              <a:lnRef idx="1">
                <a:schemeClr val="accent1"/>
              </a:lnRef>
              <a:fillRef idx="0">
                <a:schemeClr val="accent1"/>
              </a:fillRef>
              <a:effectRef idx="0">
                <a:schemeClr val="accent1"/>
              </a:effectRef>
              <a:fontRef idx="minor">
                <a:schemeClr val="tx1"/>
              </a:fontRef>
            </p:style>
          </p:cxnSp>
          <p:sp>
            <p:nvSpPr>
              <p:cNvPr id="183" name="TextBox 182">
                <a:extLst>
                  <a:ext uri="{FF2B5EF4-FFF2-40B4-BE49-F238E27FC236}">
                    <a16:creationId xmlns:a16="http://schemas.microsoft.com/office/drawing/2014/main" id="{39724593-7A1E-4D20-8389-D88BB82DDF42}"/>
                  </a:ext>
                </a:extLst>
              </p:cNvPr>
              <p:cNvSpPr txBox="1"/>
              <p:nvPr/>
            </p:nvSpPr>
            <p:spPr>
              <a:xfrm>
                <a:off x="5948125" y="5262990"/>
                <a:ext cx="1461238" cy="461665"/>
              </a:xfrm>
              <a:prstGeom prst="rect">
                <a:avLst/>
              </a:prstGeom>
              <a:solidFill>
                <a:schemeClr val="bg1"/>
              </a:solidFill>
              <a:ln>
                <a:solidFill>
                  <a:srgbClr val="FF3399"/>
                </a:solidFill>
              </a:ln>
            </p:spPr>
            <p:txBody>
              <a:bodyPr wrap="square" rtlCol="0">
                <a:spAutoFit/>
              </a:bodyPr>
              <a:lstStyle/>
              <a:p>
                <a:pPr algn="ctr"/>
                <a:r>
                  <a:rPr lang="en-US" sz="1200" dirty="0"/>
                  <a:t>Wide QRS, “delta wave”, short P-R</a:t>
                </a:r>
              </a:p>
            </p:txBody>
          </p:sp>
          <p:sp>
            <p:nvSpPr>
              <p:cNvPr id="184" name="TextBox 183">
                <a:extLst>
                  <a:ext uri="{FF2B5EF4-FFF2-40B4-BE49-F238E27FC236}">
                    <a16:creationId xmlns:a16="http://schemas.microsoft.com/office/drawing/2014/main" id="{5D3A847F-2E2A-46C7-B14E-3D5155E54D8B}"/>
                  </a:ext>
                </a:extLst>
              </p:cNvPr>
              <p:cNvSpPr txBox="1"/>
              <p:nvPr/>
            </p:nvSpPr>
            <p:spPr>
              <a:xfrm>
                <a:off x="4100418" y="4133594"/>
                <a:ext cx="1092130" cy="276999"/>
              </a:xfrm>
              <a:prstGeom prst="rect">
                <a:avLst/>
              </a:prstGeom>
              <a:noFill/>
            </p:spPr>
            <p:txBody>
              <a:bodyPr wrap="square" rtlCol="0">
                <a:spAutoFit/>
              </a:bodyPr>
              <a:lstStyle/>
              <a:p>
                <a:r>
                  <a:rPr lang="en-US" sz="1200" dirty="0"/>
                  <a:t>Pre-adenosine</a:t>
                </a:r>
              </a:p>
            </p:txBody>
          </p:sp>
          <p:sp>
            <p:nvSpPr>
              <p:cNvPr id="185" name="TextBox 184">
                <a:extLst>
                  <a:ext uri="{FF2B5EF4-FFF2-40B4-BE49-F238E27FC236}">
                    <a16:creationId xmlns:a16="http://schemas.microsoft.com/office/drawing/2014/main" id="{5FF9AF84-ACF5-4710-AE48-4DBFA09C84BE}"/>
                  </a:ext>
                </a:extLst>
              </p:cNvPr>
              <p:cNvSpPr txBox="1"/>
              <p:nvPr/>
            </p:nvSpPr>
            <p:spPr>
              <a:xfrm>
                <a:off x="3668176" y="4984974"/>
                <a:ext cx="2374796" cy="276999"/>
              </a:xfrm>
              <a:prstGeom prst="rect">
                <a:avLst/>
              </a:prstGeom>
              <a:noFill/>
            </p:spPr>
            <p:txBody>
              <a:bodyPr wrap="square" rtlCol="0">
                <a:spAutoFit/>
              </a:bodyPr>
              <a:lstStyle/>
              <a:p>
                <a:r>
                  <a:rPr lang="en-US" sz="1200" dirty="0"/>
                  <a:t>Post-adenosine (Sinus Rhythm)</a:t>
                </a:r>
              </a:p>
            </p:txBody>
          </p:sp>
          <p:cxnSp>
            <p:nvCxnSpPr>
              <p:cNvPr id="180" name="Straight Arrow Connector 179">
                <a:extLst>
                  <a:ext uri="{FF2B5EF4-FFF2-40B4-BE49-F238E27FC236}">
                    <a16:creationId xmlns:a16="http://schemas.microsoft.com/office/drawing/2014/main" id="{AF200270-5E05-4E72-B942-A21405C15334}"/>
                  </a:ext>
                </a:extLst>
              </p:cNvPr>
              <p:cNvCxnSpPr>
                <a:cxnSpLocks/>
                <a:stCxn id="181" idx="1"/>
              </p:cNvCxnSpPr>
              <p:nvPr/>
            </p:nvCxnSpPr>
            <p:spPr>
              <a:xfrm flipH="1">
                <a:off x="5208160" y="4648894"/>
                <a:ext cx="613286" cy="32737"/>
              </a:xfrm>
              <a:prstGeom prst="straightConnector1">
                <a:avLst/>
              </a:prstGeom>
              <a:ln>
                <a:solidFill>
                  <a:srgbClr val="FF3399"/>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09" name="AVRT orthodromic animation">
            <a:extLst>
              <a:ext uri="{FF2B5EF4-FFF2-40B4-BE49-F238E27FC236}">
                <a16:creationId xmlns:a16="http://schemas.microsoft.com/office/drawing/2014/main" id="{87592043-20FB-4838-A67E-EBD1CF00F942}"/>
              </a:ext>
            </a:extLst>
          </p:cNvPr>
          <p:cNvGrpSpPr/>
          <p:nvPr/>
        </p:nvGrpSpPr>
        <p:grpSpPr>
          <a:xfrm>
            <a:off x="9303121" y="2141548"/>
            <a:ext cx="2476360" cy="3442743"/>
            <a:chOff x="9152930" y="1850406"/>
            <a:chExt cx="2476360" cy="3442743"/>
          </a:xfrm>
        </p:grpSpPr>
        <p:sp>
          <p:nvSpPr>
            <p:cNvPr id="210" name="Arc 209">
              <a:extLst>
                <a:ext uri="{FF2B5EF4-FFF2-40B4-BE49-F238E27FC236}">
                  <a16:creationId xmlns:a16="http://schemas.microsoft.com/office/drawing/2014/main" id="{761CBFE4-968F-4CE9-85E6-48001E5D2DBB}"/>
                </a:ext>
              </a:extLst>
            </p:cNvPr>
            <p:cNvSpPr/>
            <p:nvPr/>
          </p:nvSpPr>
          <p:spPr>
            <a:xfrm rot="19436318">
              <a:off x="9152930" y="1850406"/>
              <a:ext cx="1185433" cy="3442743"/>
            </a:xfrm>
            <a:prstGeom prst="arc">
              <a:avLst>
                <a:gd name="adj1" fmla="val 15096353"/>
                <a:gd name="adj2" fmla="val 6139973"/>
              </a:avLst>
            </a:prstGeom>
            <a:ln w="12700">
              <a:solidFill>
                <a:srgbClr val="FF339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1" name="TextBox 210">
              <a:extLst>
                <a:ext uri="{FF2B5EF4-FFF2-40B4-BE49-F238E27FC236}">
                  <a16:creationId xmlns:a16="http://schemas.microsoft.com/office/drawing/2014/main" id="{6858392B-A864-42D1-9E3E-98227921C931}"/>
                </a:ext>
              </a:extLst>
            </p:cNvPr>
            <p:cNvSpPr txBox="1"/>
            <p:nvPr/>
          </p:nvSpPr>
          <p:spPr>
            <a:xfrm>
              <a:off x="10396985" y="2624065"/>
              <a:ext cx="1232305" cy="307777"/>
            </a:xfrm>
            <a:prstGeom prst="rect">
              <a:avLst/>
            </a:prstGeom>
            <a:solidFill>
              <a:schemeClr val="bg1"/>
            </a:solidFill>
            <a:ln>
              <a:solidFill>
                <a:srgbClr val="FF3399"/>
              </a:solidFill>
            </a:ln>
          </p:spPr>
          <p:txBody>
            <a:bodyPr wrap="square" rtlCol="0">
              <a:spAutoFit/>
            </a:bodyPr>
            <a:lstStyle/>
            <a:p>
              <a:r>
                <a:rPr lang="en-US" sz="1400" dirty="0"/>
                <a:t>2. Antidromic</a:t>
              </a:r>
            </a:p>
          </p:txBody>
        </p:sp>
        <p:cxnSp>
          <p:nvCxnSpPr>
            <p:cNvPr id="212" name="Straight Arrow Connector 211">
              <a:extLst>
                <a:ext uri="{FF2B5EF4-FFF2-40B4-BE49-F238E27FC236}">
                  <a16:creationId xmlns:a16="http://schemas.microsoft.com/office/drawing/2014/main" id="{DA06CCEA-B1AB-4E6D-8FBB-8A6EB41E2566}"/>
                </a:ext>
              </a:extLst>
            </p:cNvPr>
            <p:cNvCxnSpPr>
              <a:cxnSpLocks/>
            </p:cNvCxnSpPr>
            <p:nvPr/>
          </p:nvCxnSpPr>
          <p:spPr>
            <a:xfrm flipH="1">
              <a:off x="10124946" y="2777954"/>
              <a:ext cx="263199" cy="246587"/>
            </a:xfrm>
            <a:prstGeom prst="straightConnector1">
              <a:avLst/>
            </a:prstGeom>
            <a:ln>
              <a:solidFill>
                <a:srgbClr val="FF3399"/>
              </a:solidFill>
              <a:tailEnd type="triangle"/>
            </a:ln>
          </p:spPr>
          <p:style>
            <a:lnRef idx="1">
              <a:schemeClr val="dk1"/>
            </a:lnRef>
            <a:fillRef idx="0">
              <a:schemeClr val="dk1"/>
            </a:fillRef>
            <a:effectRef idx="0">
              <a:schemeClr val="dk1"/>
            </a:effectRef>
            <a:fontRef idx="minor">
              <a:schemeClr val="tx1"/>
            </a:fontRef>
          </p:style>
        </p:cxnSp>
      </p:grpSp>
      <p:grpSp>
        <p:nvGrpSpPr>
          <p:cNvPr id="214" name="click again">
            <a:extLst>
              <a:ext uri="{FF2B5EF4-FFF2-40B4-BE49-F238E27FC236}">
                <a16:creationId xmlns:a16="http://schemas.microsoft.com/office/drawing/2014/main" id="{DE5A7FAA-2547-45B9-AC2D-A79E001E0858}"/>
              </a:ext>
            </a:extLst>
          </p:cNvPr>
          <p:cNvGrpSpPr/>
          <p:nvPr/>
        </p:nvGrpSpPr>
        <p:grpSpPr>
          <a:xfrm>
            <a:off x="3787498" y="3492696"/>
            <a:ext cx="1514412" cy="553998"/>
            <a:chOff x="1796395" y="588935"/>
            <a:chExt cx="1032990" cy="710883"/>
          </a:xfrm>
        </p:grpSpPr>
        <p:sp>
          <p:nvSpPr>
            <p:cNvPr id="215" name="TextBox 214">
              <a:extLst>
                <a:ext uri="{FF2B5EF4-FFF2-40B4-BE49-F238E27FC236}">
                  <a16:creationId xmlns:a16="http://schemas.microsoft.com/office/drawing/2014/main" id="{15DD8F59-1405-401D-B0DB-D83366313883}"/>
                </a:ext>
              </a:extLst>
            </p:cNvPr>
            <p:cNvSpPr txBox="1"/>
            <p:nvPr/>
          </p:nvSpPr>
          <p:spPr>
            <a:xfrm>
              <a:off x="1953685" y="588935"/>
              <a:ext cx="875700" cy="710883"/>
            </a:xfrm>
            <a:prstGeom prst="rect">
              <a:avLst/>
            </a:prstGeom>
            <a:noFill/>
          </p:spPr>
          <p:txBody>
            <a:bodyPr wrap="square" rtlCol="0">
              <a:spAutoFit/>
            </a:bodyPr>
            <a:lstStyle/>
            <a:p>
              <a:r>
                <a:rPr lang="en-US" sz="1000" dirty="0"/>
                <a:t>Click again to show ANTIDROMIC</a:t>
              </a:r>
            </a:p>
          </p:txBody>
        </p:sp>
        <p:cxnSp>
          <p:nvCxnSpPr>
            <p:cNvPr id="216" name="Straight Arrow Connector 215">
              <a:extLst>
                <a:ext uri="{FF2B5EF4-FFF2-40B4-BE49-F238E27FC236}">
                  <a16:creationId xmlns:a16="http://schemas.microsoft.com/office/drawing/2014/main" id="{695C696C-548C-4F03-8C81-DBC791EDEE80}"/>
                </a:ext>
              </a:extLst>
            </p:cNvPr>
            <p:cNvCxnSpPr>
              <a:cxnSpLocks/>
              <a:stCxn id="215" idx="1"/>
            </p:cNvCxnSpPr>
            <p:nvPr/>
          </p:nvCxnSpPr>
          <p:spPr>
            <a:xfrm flipH="1">
              <a:off x="1796395" y="944376"/>
              <a:ext cx="157290" cy="1644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136875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1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25" restart="whenNotActive" fill="hold" evtFilter="cancelBubble" nodeType="interactiveSeq">
                <p:stCondLst>
                  <p:cond evt="onClick" delay="0">
                    <p:tgtEl>
                      <p:spTgt spid="18"/>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6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9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68"/>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9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44" restart="whenNotActive" fill="hold" evtFilter="cancelBubble" nodeType="interactiveSeq">
                <p:stCondLst>
                  <p:cond evt="onClick" delay="0">
                    <p:tgtEl>
                      <p:spTgt spid="20"/>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95"/>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02"/>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3"/>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63" restart="whenNotActive" fill="hold" evtFilter="cancelBubble" nodeType="interactiveSeq">
                <p:stCondLst>
                  <p:cond evt="onClick" delay="0">
                    <p:tgtEl>
                      <p:spTgt spid="16"/>
                    </p:tgtEl>
                  </p:cond>
                </p:stCondLst>
                <p:endSync evt="end" delay="0">
                  <p:rtn val="all"/>
                </p:endSync>
                <p:childTnLst>
                  <p:par>
                    <p:cTn id="64" fill="hold">
                      <p:stCondLst>
                        <p:cond delay="0"/>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96"/>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nodeType="clickEffect">
                                  <p:stCondLst>
                                    <p:cond delay="0"/>
                                  </p:stCondLst>
                                  <p:childTnLst>
                                    <p:set>
                                      <p:cBhvr>
                                        <p:cTn id="77" dur="1" fill="hold">
                                          <p:stCondLst>
                                            <p:cond delay="0"/>
                                          </p:stCondLst>
                                        </p:cTn>
                                        <p:tgtEl>
                                          <p:spTgt spid="46"/>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96"/>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2" restart="whenNotActive" fill="hold" evtFilter="cancelBubble" nodeType="interactiveSeq">
                <p:stCondLst>
                  <p:cond evt="onClick" delay="0">
                    <p:tgtEl>
                      <p:spTgt spid="12"/>
                    </p:tgtEl>
                  </p:cond>
                </p:stCondLst>
                <p:endSync evt="end" delay="0">
                  <p:rtn val="all"/>
                </p:endSync>
                <p:childTnLst>
                  <p:par>
                    <p:cTn id="83" fill="hold">
                      <p:stCondLst>
                        <p:cond delay="0"/>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89"/>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36"/>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101" restart="whenNotActive" fill="hold" evtFilter="cancelBubble" nodeType="interactiveSeq">
                <p:stCondLst>
                  <p:cond evt="onClick" delay="0">
                    <p:tgtEl>
                      <p:spTgt spid="8"/>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153"/>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9"/>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44"/>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nodeType="clickEffect">
                                  <p:stCondLst>
                                    <p:cond delay="0"/>
                                  </p:stCondLst>
                                  <p:childTnLst>
                                    <p:set>
                                      <p:cBhvr>
                                        <p:cTn id="115" dur="1" fill="hold">
                                          <p:stCondLst>
                                            <p:cond delay="0"/>
                                          </p:stCondLst>
                                        </p:cTn>
                                        <p:tgtEl>
                                          <p:spTgt spid="153"/>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44"/>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20" restart="whenNotActive" fill="hold" evtFilter="cancelBubble" nodeType="interactiveSeq">
                <p:stCondLst>
                  <p:cond evt="onClick" delay="0">
                    <p:tgtEl>
                      <p:spTgt spid="10"/>
                    </p:tgtEl>
                  </p:cond>
                </p:stCondLst>
                <p:endSync evt="end" delay="0">
                  <p:rtn val="all"/>
                </p:endSync>
                <p:childTnLst>
                  <p:par>
                    <p:cTn id="121" fill="hold">
                      <p:stCondLst>
                        <p:cond delay="0"/>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5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154"/>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86"/>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8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39" restart="whenNotActive" fill="hold" evtFilter="cancelBubble" nodeType="interactiveSeq">
                <p:stCondLst>
                  <p:cond evt="onClick" delay="0">
                    <p:tgtEl>
                      <p:spTgt spid="14"/>
                    </p:tgtEl>
                  </p:cond>
                </p:stCondLst>
                <p:endSync evt="end" delay="0">
                  <p:rtn val="all"/>
                </p:endSync>
                <p:childTnLst>
                  <p:par>
                    <p:cTn id="140" fill="hold">
                      <p:stCondLst>
                        <p:cond delay="0"/>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5"/>
                                        </p:tgtEl>
                                        <p:attrNameLst>
                                          <p:attrName>style.visibility</p:attrName>
                                        </p:attrNameLst>
                                      </p:cBhvr>
                                      <p:to>
                                        <p:strVal val="visible"/>
                                      </p:to>
                                    </p:set>
                                  </p:childTnLst>
                                </p:cTn>
                              </p:par>
                              <p:par>
                                <p:cTn id="144" presetID="1" presetClass="entr" presetSubtype="0" fill="hold" nodeType="withEffect">
                                  <p:stCondLst>
                                    <p:cond delay="0"/>
                                  </p:stCondLst>
                                  <p:childTnLst>
                                    <p:set>
                                      <p:cBhvr>
                                        <p:cTn id="145" dur="1" fill="hold">
                                          <p:stCondLst>
                                            <p:cond delay="0"/>
                                          </p:stCondLst>
                                        </p:cTn>
                                        <p:tgtEl>
                                          <p:spTgt spid="92"/>
                                        </p:tgtEl>
                                        <p:attrNameLst>
                                          <p:attrName>style.visibility</p:attrName>
                                        </p:attrNameLst>
                                      </p:cBhvr>
                                      <p:to>
                                        <p:strVal val="visible"/>
                                      </p:to>
                                    </p:set>
                                  </p:childTnLst>
                                </p:cTn>
                              </p:par>
                              <p:par>
                                <p:cTn id="146" presetID="1" presetClass="entr" presetSubtype="0" fill="hold" nodeType="withEffect">
                                  <p:stCondLst>
                                    <p:cond delay="0"/>
                                  </p:stCondLst>
                                  <p:childTnLst>
                                    <p:set>
                                      <p:cBhvr>
                                        <p:cTn id="147" dur="1" fill="hold">
                                          <p:stCondLst>
                                            <p:cond delay="0"/>
                                          </p:stCondLst>
                                        </p:cTn>
                                        <p:tgtEl>
                                          <p:spTgt spid="175"/>
                                        </p:tgtEl>
                                        <p:attrNameLst>
                                          <p:attrName>style.visibility</p:attrName>
                                        </p:attrNameLst>
                                      </p:cBhvr>
                                      <p:to>
                                        <p:strVal val="visible"/>
                                      </p:to>
                                    </p:set>
                                  </p:childTnLst>
                                </p:cTn>
                              </p:par>
                              <p:par>
                                <p:cTn id="148" presetID="1" presetClass="entr" presetSubtype="0" fill="hold" nodeType="withEffect">
                                  <p:stCondLst>
                                    <p:cond delay="0"/>
                                  </p:stCondLst>
                                  <p:childTnLst>
                                    <p:set>
                                      <p:cBhvr>
                                        <p:cTn id="149" dur="1" fill="hold">
                                          <p:stCondLst>
                                            <p:cond delay="0"/>
                                          </p:stCondLst>
                                        </p:cTn>
                                        <p:tgtEl>
                                          <p:spTgt spid="105"/>
                                        </p:tgtEl>
                                        <p:attrNameLst>
                                          <p:attrName>style.visibility</p:attrName>
                                        </p:attrNameLst>
                                      </p:cBhvr>
                                      <p:to>
                                        <p:strVal val="visible"/>
                                      </p:to>
                                    </p:set>
                                  </p:childTnLst>
                                </p:cTn>
                              </p:par>
                              <p:par>
                                <p:cTn id="150" presetID="1" presetClass="entr" presetSubtype="0" fill="hold" nodeType="withEffect">
                                  <p:stCondLst>
                                    <p:cond delay="0"/>
                                  </p:stCondLst>
                                  <p:childTnLst>
                                    <p:set>
                                      <p:cBhvr>
                                        <p:cTn id="151" dur="1" fill="hold">
                                          <p:stCondLst>
                                            <p:cond delay="0"/>
                                          </p:stCondLst>
                                        </p:cTn>
                                        <p:tgtEl>
                                          <p:spTgt spid="50"/>
                                        </p:tgtEl>
                                        <p:attrNameLst>
                                          <p:attrName>style.visibility</p:attrName>
                                        </p:attrNameLst>
                                      </p:cBhvr>
                                      <p:to>
                                        <p:strVal val="visible"/>
                                      </p:to>
                                    </p:set>
                                  </p:childTnLst>
                                </p:cTn>
                              </p:par>
                              <p:par>
                                <p:cTn id="152" presetID="1" presetClass="entr" presetSubtype="0" fill="hold" nodeType="withEffect">
                                  <p:stCondLst>
                                    <p:cond delay="0"/>
                                  </p:stCondLst>
                                  <p:childTnLst>
                                    <p:set>
                                      <p:cBhvr>
                                        <p:cTn id="153" dur="1" fill="hold">
                                          <p:stCondLst>
                                            <p:cond delay="0"/>
                                          </p:stCondLst>
                                        </p:cTn>
                                        <p:tgtEl>
                                          <p:spTgt spid="214"/>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nodeType="clickEffect">
                                  <p:stCondLst>
                                    <p:cond delay="0"/>
                                  </p:stCondLst>
                                  <p:childTnLst>
                                    <p:set>
                                      <p:cBhvr>
                                        <p:cTn id="157" dur="1" fill="hold">
                                          <p:stCondLst>
                                            <p:cond delay="0"/>
                                          </p:stCondLst>
                                        </p:cTn>
                                        <p:tgtEl>
                                          <p:spTgt spid="175"/>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105"/>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nodeType="clickEffect">
                                  <p:stCondLst>
                                    <p:cond delay="0"/>
                                  </p:stCondLst>
                                  <p:childTnLst>
                                    <p:set>
                                      <p:cBhvr>
                                        <p:cTn id="163" dur="1" fill="hold">
                                          <p:stCondLst>
                                            <p:cond delay="0"/>
                                          </p:stCondLst>
                                        </p:cTn>
                                        <p:tgtEl>
                                          <p:spTgt spid="209"/>
                                        </p:tgtEl>
                                        <p:attrNameLst>
                                          <p:attrName>style.visibility</p:attrName>
                                        </p:attrNameLst>
                                      </p:cBhvr>
                                      <p:to>
                                        <p:strVal val="visible"/>
                                      </p:to>
                                    </p:set>
                                  </p:childTnLst>
                                </p:cTn>
                              </p:par>
                              <p:par>
                                <p:cTn id="164" presetID="1" presetClass="entr" presetSubtype="0" fill="hold" nodeType="withEffect">
                                  <p:stCondLst>
                                    <p:cond delay="0"/>
                                  </p:stCondLst>
                                  <p:childTnLst>
                                    <p:set>
                                      <p:cBhvr>
                                        <p:cTn id="165" dur="1" fill="hold">
                                          <p:stCondLst>
                                            <p:cond delay="0"/>
                                          </p:stCondLst>
                                        </p:cTn>
                                        <p:tgtEl>
                                          <p:spTgt spid="191"/>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xit" presetSubtype="0" fill="hold" nodeType="clickEffect">
                                  <p:stCondLst>
                                    <p:cond delay="0"/>
                                  </p:stCondLst>
                                  <p:childTnLst>
                                    <p:set>
                                      <p:cBhvr>
                                        <p:cTn id="169" dur="1" fill="hold">
                                          <p:stCondLst>
                                            <p:cond delay="0"/>
                                          </p:stCondLst>
                                        </p:cTn>
                                        <p:tgtEl>
                                          <p:spTgt spid="209"/>
                                        </p:tgtEl>
                                        <p:attrNameLst>
                                          <p:attrName>style.visibility</p:attrName>
                                        </p:attrNameLst>
                                      </p:cBhvr>
                                      <p:to>
                                        <p:strVal val="hidden"/>
                                      </p:to>
                                    </p:set>
                                  </p:childTnLst>
                                </p:cTn>
                              </p:par>
                              <p:par>
                                <p:cTn id="170" presetID="1" presetClass="exit" presetSubtype="0" fill="hold" nodeType="withEffect">
                                  <p:stCondLst>
                                    <p:cond delay="0"/>
                                  </p:stCondLst>
                                  <p:childTnLst>
                                    <p:set>
                                      <p:cBhvr>
                                        <p:cTn id="171" dur="1" fill="hold">
                                          <p:stCondLst>
                                            <p:cond delay="0"/>
                                          </p:stCondLst>
                                        </p:cTn>
                                        <p:tgtEl>
                                          <p:spTgt spid="214"/>
                                        </p:tgtEl>
                                        <p:attrNameLst>
                                          <p:attrName>style.visibility</p:attrName>
                                        </p:attrNameLst>
                                      </p:cBhvr>
                                      <p:to>
                                        <p:strVal val="hidden"/>
                                      </p:to>
                                    </p:set>
                                  </p:childTnLst>
                                </p:cTn>
                              </p:par>
                              <p:par>
                                <p:cTn id="172" presetID="1" presetClass="exit" presetSubtype="0" fill="hold" nodeType="withEffect">
                                  <p:stCondLst>
                                    <p:cond delay="0"/>
                                  </p:stCondLst>
                                  <p:childTnLst>
                                    <p:set>
                                      <p:cBhvr>
                                        <p:cTn id="173" dur="1" fill="hold">
                                          <p:stCondLst>
                                            <p:cond delay="0"/>
                                          </p:stCondLst>
                                        </p:cTn>
                                        <p:tgtEl>
                                          <p:spTgt spid="92"/>
                                        </p:tgtEl>
                                        <p:attrNameLst>
                                          <p:attrName>style.visibility</p:attrName>
                                        </p:attrNameLst>
                                      </p:cBhvr>
                                      <p:to>
                                        <p:strVal val="hidden"/>
                                      </p:to>
                                    </p:set>
                                  </p:childTnLst>
                                </p:cTn>
                              </p:par>
                              <p:par>
                                <p:cTn id="174" presetID="1" presetClass="exit" presetSubtype="0" fill="hold" nodeType="withEffect">
                                  <p:stCondLst>
                                    <p:cond delay="0"/>
                                  </p:stCondLst>
                                  <p:childTnLst>
                                    <p:set>
                                      <p:cBhvr>
                                        <p:cTn id="175" dur="1" fill="hold">
                                          <p:stCondLst>
                                            <p:cond delay="0"/>
                                          </p:stCondLst>
                                        </p:cTn>
                                        <p:tgtEl>
                                          <p:spTgt spid="191"/>
                                        </p:tgtEl>
                                        <p:attrNameLst>
                                          <p:attrName>style.visibility</p:attrName>
                                        </p:attrNameLst>
                                      </p:cBhvr>
                                      <p:to>
                                        <p:strVal val="hidden"/>
                                      </p:to>
                                    </p:set>
                                  </p:childTnLst>
                                </p:cTn>
                              </p:par>
                              <p:par>
                                <p:cTn id="176" presetID="1" presetClass="exit" presetSubtype="0" fill="hold" nodeType="withEffect">
                                  <p:stCondLst>
                                    <p:cond delay="0"/>
                                  </p:stCondLst>
                                  <p:childTnLst>
                                    <p:set>
                                      <p:cBhvr>
                                        <p:cTn id="177"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9" grpId="0"/>
      <p:bldP spid="11" grpId="0"/>
      <p:bldP spid="13" grpId="0"/>
      <p:bldP spid="15" grpId="0"/>
      <p:bldP spid="17" grpId="0"/>
      <p:bldP spid="19" grpId="0"/>
      <p:bldP spid="21" grpId="0"/>
      <p:bldP spid="27" grpId="0" animBg="1"/>
      <p:bldP spid="27" grpId="1" animBg="1"/>
      <p:bldP spid="7" grpId="0"/>
      <p:bldP spid="79" grpId="0" animBg="1"/>
      <p:bldP spid="79" grpId="1" animBg="1"/>
      <p:bldP spid="80" grpId="0" animBg="1"/>
      <p:bldP spid="80"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6244</TotalTime>
  <Words>826</Words>
  <Application>Microsoft Office PowerPoint</Application>
  <PresentationFormat>Widescreen</PresentationFormat>
  <Paragraphs>77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Brandon Fainstad</cp:lastModifiedBy>
  <cp:revision>18</cp:revision>
  <dcterms:created xsi:type="dcterms:W3CDTF">2019-12-24T21:39:13Z</dcterms:created>
  <dcterms:modified xsi:type="dcterms:W3CDTF">2020-01-08T18:55:50Z</dcterms:modified>
</cp:coreProperties>
</file>