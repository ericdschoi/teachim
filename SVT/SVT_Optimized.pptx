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9" r:id="rId1"/>
  </p:sldMasterIdLst>
  <p:notesMasterIdLst>
    <p:notesMasterId r:id="rId3"/>
  </p:notesMasterIdLst>
  <p:sldIdLst>
    <p:sldId id="257" r:id="rId2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H9PggXbkEtrPkUFM8uZOw==" hashData="PWIqpdNn5U5SJ60ljB0JzICTxFw9nQeluBrxaw6F/F4+HxSkkawH/8lYZFnnm2cYduCc5D1E6Wc3qE0lt4FM7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7D9CE-9858-4045-88A6-5D5C69E3C76C}" v="155" dt="2020-01-28T21:56:29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6357" autoAdjust="0"/>
  </p:normalViewPr>
  <p:slideViewPr>
    <p:cSldViewPr snapToGrid="0">
      <p:cViewPr varScale="1">
        <p:scale>
          <a:sx n="86" d="100"/>
          <a:sy n="86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C4970-4E77-4F0D-91BA-BD74EAF41A3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898BC-E8AB-43E1-9B04-FBEEF3F4C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9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ecg.bidmc.harvard.edu/maven/dispcase.asp?rownum=108&amp;ans=1&amp;caseid=109" TargetMode="External"/><Relationship Id="rId4" Type="http://schemas.openxmlformats.org/officeDocument/2006/relationships/hyperlink" Target="https://en.wikipedia.org/wiki/Junctional_tachycardia" TargetMode="External"/><Relationship Id="rId5" Type="http://schemas.openxmlformats.org/officeDocument/2006/relationships/hyperlink" Target="https://ecg.bidmc.harvard.edu/maven/dispcase.asp?rownum=96&amp;ans=1&amp;caseid=97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Atrial tachycardia rhythm – ECG maven </a:t>
            </a:r>
            <a:r>
              <a:rPr lang="en-US" dirty="0">
                <a:hlinkClick r:id="rId3"/>
              </a:rPr>
              <a:t>https://ecg.bidmc.harvard.edu/maven/dispcase.asp?rownum=108&amp;ans=1&amp;caseid=109</a:t>
            </a:r>
            <a:endParaRPr lang="en-US" dirty="0"/>
          </a:p>
          <a:p>
            <a:r>
              <a:rPr lang="en-US" dirty="0"/>
              <a:t>Junctional tachycardia – wiki </a:t>
            </a:r>
            <a:r>
              <a:rPr lang="en-US" dirty="0">
                <a:hlinkClick r:id="rId4"/>
              </a:rPr>
              <a:t>https://en.wikipedia.org/wiki/Junctional_tachycardia</a:t>
            </a:r>
            <a:endParaRPr lang="en-US" dirty="0"/>
          </a:p>
          <a:p>
            <a:r>
              <a:rPr lang="en-US" dirty="0"/>
              <a:t>AVRT – ECG maven </a:t>
            </a:r>
            <a:r>
              <a:rPr lang="en-US" dirty="0">
                <a:hlinkClick r:id="rId5"/>
              </a:rPr>
              <a:t>https://ecg.bidmc.harvard.edu/maven/dispcase.asp?rownum=96&amp;ans=1&amp;caseid=97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898BC-E8AB-43E1-9B04-FBEEF3F4C3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4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F41F-010C-4AA3-A088-B91554E09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4A124-FD5D-4837-AF00-E01D63161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1F2F9-7BB2-4FA5-946C-70AE6ED1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A438B-0ED0-4541-9671-004F0881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86EF7-DCB9-45E0-AE6F-1343463A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0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7682-7CCC-45A7-AF36-3279CD45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A4903-2404-4CB2-9FFF-2DA6DECD1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1A7B-648F-483F-A200-E867D419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8FD8-B7F8-4263-8B70-2A1ED916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5914-82A5-4220-81E6-CDAD6628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7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7D62-88EF-4619-B383-A62B4AD6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6C883-9E5B-41B4-B70D-8FEA7EA51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6B507-B918-4DD7-8770-45706161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B769-A7E6-4C5B-B6F2-0CB8F453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C8698-7119-43B4-96E5-402AC84B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8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1DAD-0FAF-4BEE-959D-C37076A7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E01A-2723-49B2-8F7F-306CF0EFB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053BD-635C-4C1F-ACFE-DDE21E74B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9F7F2-6A83-4CE9-9066-8D8607E5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5A197-5DD4-40F0-A729-0EECE2BF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B674E-1AE8-4653-8436-E3DD62E9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0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DA01-D1BB-46AF-A7B6-4ECA5A40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BDEA6-964D-4BE9-BCBE-004F4A8FF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F33ED-2D0B-45D2-9725-441B70FAD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7F5C4-4112-4B5E-8D3F-C951F22AF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75A370-6CCE-4F8B-BFC2-B6B46109D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B5C7E-9BFF-4115-B321-39020E39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E899B-9A1A-402B-AE7C-197F083A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6BAB7-D153-4B1A-A746-589E61D1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77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5A89-896C-4647-9181-FD982F9F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E3C96-EDC4-4B83-94D3-8ED7DF47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D73EE-260F-4477-8A43-866F2755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D5C0A-9776-4F9E-A1E7-F618A872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6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F79B7-F0E3-4518-BC85-3B5712DB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04D82-2356-490A-8A4D-CE41CAB5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962DD-1084-4E8B-AD1F-018BB691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3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BB28-442F-426A-9EF3-2B12D687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F85B9-1548-42AD-9301-457AC200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B0D4-139D-4C41-996C-65FAE90E8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3A5B-BFE0-4116-BC14-3CE222DE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B90AC-4F41-4190-B68C-1E748117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C1BC-7276-4975-9CC1-DAFC693A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4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633D-7C8D-43A7-8EAB-A0FDD8057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80C69-B22F-4718-AC56-B811AEB2E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CFDFC-9811-49C5-B964-91E3148D8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B9A20-75AF-4C77-9D35-5263EC57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B5B6D-FD84-48B4-8D5A-4122F96F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34546-8312-4B9A-BE73-78B06D8B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9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CBE0-C737-4D03-8AE4-C753C235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919E6-6623-4274-93BE-F549CB8C7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179CF-872E-45BA-B4AD-98418525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782BA-00B7-4061-89A0-ACBAC6B3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FC443-F6ED-4AA9-80D2-69C0258C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3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09199-65AD-4F57-9F78-E97983F3E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DA709-4176-4AD6-AF20-6665D334D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EF7DA-FE9E-4864-8D4C-BD3C680A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DD3E-4604-44D3-9072-75998941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21CB5-ACF3-4DB7-B702-A875C32B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48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C53F7-DE67-4A0B-8D7F-0003A72C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ACA85-2B7D-467D-9323-8DA6590BE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2E095-86D7-4AA0-B25B-969BC4461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BAF28-A6B9-4006-9DD6-D137F260DB7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8613-9F25-4A3A-91BC-BD03976F3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D3E39-9B93-45E4-A2B9-C6BAF171C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E2806-898F-4585-9313-504C659B2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5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JP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5519CF2A-45AF-4187-B8CB-560993945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2006" y="1730926"/>
            <a:ext cx="4646963" cy="4794383"/>
          </a:xfrm>
          <a:prstGeom prst="rect">
            <a:avLst/>
          </a:prstGeom>
        </p:spPr>
      </p:pic>
      <p:sp>
        <p:nvSpPr>
          <p:cNvPr id="6" name="ST button">
            <a:extLst>
              <a:ext uri="{FF2B5EF4-FFF2-40B4-BE49-F238E27FC236}">
                <a16:creationId xmlns:a16="http://schemas.microsoft.com/office/drawing/2014/main" id="{9D3187BD-A56F-497F-91D6-C89E650020FC}"/>
              </a:ext>
            </a:extLst>
          </p:cNvPr>
          <p:cNvSpPr/>
          <p:nvPr/>
        </p:nvSpPr>
        <p:spPr>
          <a:xfrm>
            <a:off x="3368470" y="962510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AT button">
            <a:extLst>
              <a:ext uri="{FF2B5EF4-FFF2-40B4-BE49-F238E27FC236}">
                <a16:creationId xmlns:a16="http://schemas.microsoft.com/office/drawing/2014/main" id="{D72C941D-A48E-4C64-B0B9-6399EB992F0F}"/>
              </a:ext>
            </a:extLst>
          </p:cNvPr>
          <p:cNvSpPr/>
          <p:nvPr/>
        </p:nvSpPr>
        <p:spPr>
          <a:xfrm>
            <a:off x="3377645" y="1755905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AT text">
            <a:extLst>
              <a:ext uri="{FF2B5EF4-FFF2-40B4-BE49-F238E27FC236}">
                <a16:creationId xmlns:a16="http://schemas.microsoft.com/office/drawing/2014/main" id="{445120CB-2302-407E-8817-8A8756B75C64}"/>
              </a:ext>
            </a:extLst>
          </p:cNvPr>
          <p:cNvSpPr txBox="1"/>
          <p:nvPr/>
        </p:nvSpPr>
        <p:spPr>
          <a:xfrm>
            <a:off x="3833154" y="1808095"/>
            <a:ext cx="1828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Atrial Tachycardia</a:t>
            </a:r>
          </a:p>
        </p:txBody>
      </p:sp>
      <p:sp>
        <p:nvSpPr>
          <p:cNvPr id="12" name="AVnRT button">
            <a:extLst>
              <a:ext uri="{FF2B5EF4-FFF2-40B4-BE49-F238E27FC236}">
                <a16:creationId xmlns:a16="http://schemas.microsoft.com/office/drawing/2014/main" id="{431253D6-B5C1-4468-9D1E-01DF4C9771AA}"/>
              </a:ext>
            </a:extLst>
          </p:cNvPr>
          <p:cNvSpPr/>
          <p:nvPr/>
        </p:nvSpPr>
        <p:spPr>
          <a:xfrm>
            <a:off x="3377645" y="2460459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AVnRT text">
            <a:extLst>
              <a:ext uri="{FF2B5EF4-FFF2-40B4-BE49-F238E27FC236}">
                <a16:creationId xmlns:a16="http://schemas.microsoft.com/office/drawing/2014/main" id="{92348914-9ED6-4A5C-AAEE-2D4F39BA551E}"/>
              </a:ext>
            </a:extLst>
          </p:cNvPr>
          <p:cNvSpPr txBox="1"/>
          <p:nvPr/>
        </p:nvSpPr>
        <p:spPr>
          <a:xfrm>
            <a:off x="3817506" y="2427269"/>
            <a:ext cx="29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Atrioventricular Nodal Re-entry Tachycardia (AVNRT)</a:t>
            </a:r>
          </a:p>
        </p:txBody>
      </p:sp>
      <p:sp>
        <p:nvSpPr>
          <p:cNvPr id="14" name="AVRT orthodromic button">
            <a:extLst>
              <a:ext uri="{FF2B5EF4-FFF2-40B4-BE49-F238E27FC236}">
                <a16:creationId xmlns:a16="http://schemas.microsoft.com/office/drawing/2014/main" id="{EE1D4D0B-8647-4609-9A7E-6DEBBC37B7F0}"/>
              </a:ext>
            </a:extLst>
          </p:cNvPr>
          <p:cNvSpPr/>
          <p:nvPr/>
        </p:nvSpPr>
        <p:spPr>
          <a:xfrm>
            <a:off x="3386976" y="3213786"/>
            <a:ext cx="441374" cy="36891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339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4a</a:t>
            </a:r>
          </a:p>
        </p:txBody>
      </p:sp>
      <p:sp>
        <p:nvSpPr>
          <p:cNvPr id="15" name="AVRT text">
            <a:extLst>
              <a:ext uri="{FF2B5EF4-FFF2-40B4-BE49-F238E27FC236}">
                <a16:creationId xmlns:a16="http://schemas.microsoft.com/office/drawing/2014/main" id="{ECF28B8D-B86F-41B8-96B7-1243B1CC0733}"/>
              </a:ext>
            </a:extLst>
          </p:cNvPr>
          <p:cNvSpPr txBox="1"/>
          <p:nvPr/>
        </p:nvSpPr>
        <p:spPr>
          <a:xfrm>
            <a:off x="3832552" y="3174198"/>
            <a:ext cx="4336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Atrioventricular Re-entry Tachycardia </a:t>
            </a:r>
          </a:p>
          <a:p>
            <a:r>
              <a:rPr lang="en-US" sz="1200" dirty="0"/>
              <a:t>(AVRT) - Orthodromic</a:t>
            </a:r>
          </a:p>
        </p:txBody>
      </p:sp>
      <p:sp>
        <p:nvSpPr>
          <p:cNvPr id="16" name="AF button">
            <a:extLst>
              <a:ext uri="{FF2B5EF4-FFF2-40B4-BE49-F238E27FC236}">
                <a16:creationId xmlns:a16="http://schemas.microsoft.com/office/drawing/2014/main" id="{513EEEB9-EEDB-41E0-A933-2CF95D9F2EE9}"/>
              </a:ext>
            </a:extLst>
          </p:cNvPr>
          <p:cNvSpPr/>
          <p:nvPr/>
        </p:nvSpPr>
        <p:spPr>
          <a:xfrm>
            <a:off x="3405711" y="4828393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AF text">
            <a:extLst>
              <a:ext uri="{FF2B5EF4-FFF2-40B4-BE49-F238E27FC236}">
                <a16:creationId xmlns:a16="http://schemas.microsoft.com/office/drawing/2014/main" id="{DB50A90F-F366-4503-B4CE-81ADB0A9301B}"/>
              </a:ext>
            </a:extLst>
          </p:cNvPr>
          <p:cNvSpPr txBox="1"/>
          <p:nvPr/>
        </p:nvSpPr>
        <p:spPr>
          <a:xfrm>
            <a:off x="3861617" y="4851880"/>
            <a:ext cx="1362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Atrial Flutter</a:t>
            </a:r>
          </a:p>
        </p:txBody>
      </p:sp>
      <p:sp>
        <p:nvSpPr>
          <p:cNvPr id="18" name="Afib button">
            <a:extLst>
              <a:ext uri="{FF2B5EF4-FFF2-40B4-BE49-F238E27FC236}">
                <a16:creationId xmlns:a16="http://schemas.microsoft.com/office/drawing/2014/main" id="{14D887D3-2D5A-477B-86C5-502E4B276CBB}"/>
              </a:ext>
            </a:extLst>
          </p:cNvPr>
          <p:cNvSpPr/>
          <p:nvPr/>
        </p:nvSpPr>
        <p:spPr>
          <a:xfrm>
            <a:off x="3386976" y="5563921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Afib text">
            <a:extLst>
              <a:ext uri="{FF2B5EF4-FFF2-40B4-BE49-F238E27FC236}">
                <a16:creationId xmlns:a16="http://schemas.microsoft.com/office/drawing/2014/main" id="{84A8887D-4784-4668-BF13-2B9FEB83C097}"/>
              </a:ext>
            </a:extLst>
          </p:cNvPr>
          <p:cNvSpPr txBox="1"/>
          <p:nvPr/>
        </p:nvSpPr>
        <p:spPr>
          <a:xfrm>
            <a:off x="3853427" y="5578980"/>
            <a:ext cx="1739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Atrial Fibrillation</a:t>
            </a:r>
          </a:p>
        </p:txBody>
      </p:sp>
      <p:sp>
        <p:nvSpPr>
          <p:cNvPr id="20" name="MAT button">
            <a:extLst>
              <a:ext uri="{FF2B5EF4-FFF2-40B4-BE49-F238E27FC236}">
                <a16:creationId xmlns:a16="http://schemas.microsoft.com/office/drawing/2014/main" id="{415C653B-2E61-40D5-B4E8-FA85C2588F97}"/>
              </a:ext>
            </a:extLst>
          </p:cNvPr>
          <p:cNvSpPr/>
          <p:nvPr/>
        </p:nvSpPr>
        <p:spPr>
          <a:xfrm>
            <a:off x="3377645" y="6342599"/>
            <a:ext cx="430530" cy="31682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" name="MAT text">
            <a:extLst>
              <a:ext uri="{FF2B5EF4-FFF2-40B4-BE49-F238E27FC236}">
                <a16:creationId xmlns:a16="http://schemas.microsoft.com/office/drawing/2014/main" id="{0BA31E27-8B50-434F-BFD9-0708437371AC}"/>
              </a:ext>
            </a:extLst>
          </p:cNvPr>
          <p:cNvSpPr txBox="1"/>
          <p:nvPr/>
        </p:nvSpPr>
        <p:spPr>
          <a:xfrm>
            <a:off x="3832225" y="6367282"/>
            <a:ext cx="3019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Multifocal Atrial Tachycardia (MAT)</a:t>
            </a:r>
          </a:p>
        </p:txBody>
      </p:sp>
      <p:sp>
        <p:nvSpPr>
          <p:cNvPr id="25" name="Sinus node">
            <a:extLst>
              <a:ext uri="{FF2B5EF4-FFF2-40B4-BE49-F238E27FC236}">
                <a16:creationId xmlns:a16="http://schemas.microsoft.com/office/drawing/2014/main" id="{DF8A3BF8-4C56-4815-827A-8CED21FA16D3}"/>
              </a:ext>
            </a:extLst>
          </p:cNvPr>
          <p:cNvSpPr/>
          <p:nvPr/>
        </p:nvSpPr>
        <p:spPr>
          <a:xfrm>
            <a:off x="7943347" y="2408744"/>
            <a:ext cx="118187" cy="13902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T animation">
            <a:extLst>
              <a:ext uri="{FF2B5EF4-FFF2-40B4-BE49-F238E27FC236}">
                <a16:creationId xmlns:a16="http://schemas.microsoft.com/office/drawing/2014/main" id="{A505C462-DBF4-4676-B07C-4952C5C50712}"/>
              </a:ext>
            </a:extLst>
          </p:cNvPr>
          <p:cNvSpPr/>
          <p:nvPr/>
        </p:nvSpPr>
        <p:spPr>
          <a:xfrm>
            <a:off x="9775580" y="2457313"/>
            <a:ext cx="118187" cy="139021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Junctional Node">
            <a:extLst>
              <a:ext uri="{FF2B5EF4-FFF2-40B4-BE49-F238E27FC236}">
                <a16:creationId xmlns:a16="http://schemas.microsoft.com/office/drawing/2014/main" id="{B5D381C2-74C0-4069-8AF0-2BA44195B44D}"/>
              </a:ext>
            </a:extLst>
          </p:cNvPr>
          <p:cNvSpPr/>
          <p:nvPr/>
        </p:nvSpPr>
        <p:spPr>
          <a:xfrm>
            <a:off x="9372312" y="3628698"/>
            <a:ext cx="171929" cy="176149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AVnRT animation">
            <a:extLst>
              <a:ext uri="{FF2B5EF4-FFF2-40B4-BE49-F238E27FC236}">
                <a16:creationId xmlns:a16="http://schemas.microsoft.com/office/drawing/2014/main" id="{6C0335BA-4612-4578-9C0D-9C3478101C1F}"/>
              </a:ext>
            </a:extLst>
          </p:cNvPr>
          <p:cNvGrpSpPr/>
          <p:nvPr/>
        </p:nvGrpSpPr>
        <p:grpSpPr>
          <a:xfrm>
            <a:off x="8948584" y="3420129"/>
            <a:ext cx="1095804" cy="662366"/>
            <a:chOff x="7861175" y="2773044"/>
            <a:chExt cx="1589640" cy="816876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C2B81A6B-9ACE-4FCC-A656-1F0196F0049B}"/>
                </a:ext>
              </a:extLst>
            </p:cNvPr>
            <p:cNvSpPr/>
            <p:nvPr/>
          </p:nvSpPr>
          <p:spPr>
            <a:xfrm rot="8421395">
              <a:off x="8404820" y="2980031"/>
              <a:ext cx="377757" cy="363545"/>
            </a:xfrm>
            <a:prstGeom prst="arc">
              <a:avLst>
                <a:gd name="adj1" fmla="val 16200000"/>
                <a:gd name="adj2" fmla="val 5240307"/>
              </a:avLst>
            </a:prstGeom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8BED3D-532B-4DA7-854E-D5AAE48F0ECA}"/>
                </a:ext>
              </a:extLst>
            </p:cNvPr>
            <p:cNvSpPr/>
            <p:nvPr/>
          </p:nvSpPr>
          <p:spPr>
            <a:xfrm rot="20998804">
              <a:off x="8507021" y="2908517"/>
              <a:ext cx="322652" cy="388112"/>
            </a:xfrm>
            <a:custGeom>
              <a:avLst/>
              <a:gdLst>
                <a:gd name="connsiteX0" fmla="*/ 173073 w 323568"/>
                <a:gd name="connsiteY0" fmla="*/ 382286 h 388112"/>
                <a:gd name="connsiteX1" fmla="*/ 203553 w 323568"/>
                <a:gd name="connsiteY1" fmla="*/ 388001 h 388112"/>
                <a:gd name="connsiteX2" fmla="*/ 216888 w 323568"/>
                <a:gd name="connsiteY2" fmla="*/ 386096 h 388112"/>
                <a:gd name="connsiteX3" fmla="*/ 222603 w 323568"/>
                <a:gd name="connsiteY3" fmla="*/ 380381 h 388112"/>
                <a:gd name="connsiteX4" fmla="*/ 228318 w 323568"/>
                <a:gd name="connsiteY4" fmla="*/ 367046 h 388112"/>
                <a:gd name="connsiteX5" fmla="*/ 232128 w 323568"/>
                <a:gd name="connsiteY5" fmla="*/ 359426 h 388112"/>
                <a:gd name="connsiteX6" fmla="*/ 235938 w 323568"/>
                <a:gd name="connsiteY6" fmla="*/ 317516 h 388112"/>
                <a:gd name="connsiteX7" fmla="*/ 314043 w 323568"/>
                <a:gd name="connsiteY7" fmla="*/ 300371 h 388112"/>
                <a:gd name="connsiteX8" fmla="*/ 317853 w 323568"/>
                <a:gd name="connsiteY8" fmla="*/ 288941 h 388112"/>
                <a:gd name="connsiteX9" fmla="*/ 315948 w 323568"/>
                <a:gd name="connsiteY9" fmla="*/ 266081 h 388112"/>
                <a:gd name="connsiteX10" fmla="*/ 312138 w 323568"/>
                <a:gd name="connsiteY10" fmla="*/ 260366 h 388112"/>
                <a:gd name="connsiteX11" fmla="*/ 300708 w 323568"/>
                <a:gd name="connsiteY11" fmla="*/ 250841 h 388112"/>
                <a:gd name="connsiteX12" fmla="*/ 291183 w 323568"/>
                <a:gd name="connsiteY12" fmla="*/ 239411 h 388112"/>
                <a:gd name="connsiteX13" fmla="*/ 285468 w 323568"/>
                <a:gd name="connsiteY13" fmla="*/ 235601 h 388112"/>
                <a:gd name="connsiteX14" fmla="*/ 287373 w 323568"/>
                <a:gd name="connsiteY14" fmla="*/ 214646 h 388112"/>
                <a:gd name="connsiteX15" fmla="*/ 293088 w 323568"/>
                <a:gd name="connsiteY15" fmla="*/ 210836 h 388112"/>
                <a:gd name="connsiteX16" fmla="*/ 300708 w 323568"/>
                <a:gd name="connsiteY16" fmla="*/ 208931 h 388112"/>
                <a:gd name="connsiteX17" fmla="*/ 306423 w 323568"/>
                <a:gd name="connsiteY17" fmla="*/ 207026 h 388112"/>
                <a:gd name="connsiteX18" fmla="*/ 323568 w 323568"/>
                <a:gd name="connsiteY18" fmla="*/ 191786 h 388112"/>
                <a:gd name="connsiteX19" fmla="*/ 321663 w 323568"/>
                <a:gd name="connsiteY19" fmla="*/ 170831 h 388112"/>
                <a:gd name="connsiteX20" fmla="*/ 315948 w 323568"/>
                <a:gd name="connsiteY20" fmla="*/ 167021 h 388112"/>
                <a:gd name="connsiteX21" fmla="*/ 310233 w 323568"/>
                <a:gd name="connsiteY21" fmla="*/ 161306 h 388112"/>
                <a:gd name="connsiteX22" fmla="*/ 296898 w 323568"/>
                <a:gd name="connsiteY22" fmla="*/ 151781 h 388112"/>
                <a:gd name="connsiteX23" fmla="*/ 283563 w 323568"/>
                <a:gd name="connsiteY23" fmla="*/ 146066 h 388112"/>
                <a:gd name="connsiteX24" fmla="*/ 275943 w 323568"/>
                <a:gd name="connsiteY24" fmla="*/ 140351 h 388112"/>
                <a:gd name="connsiteX25" fmla="*/ 264513 w 323568"/>
                <a:gd name="connsiteY25" fmla="*/ 134636 h 388112"/>
                <a:gd name="connsiteX26" fmla="*/ 253083 w 323568"/>
                <a:gd name="connsiteY26" fmla="*/ 123206 h 388112"/>
                <a:gd name="connsiteX27" fmla="*/ 251178 w 323568"/>
                <a:gd name="connsiteY27" fmla="*/ 117491 h 388112"/>
                <a:gd name="connsiteX28" fmla="*/ 262608 w 323568"/>
                <a:gd name="connsiteY28" fmla="*/ 94631 h 388112"/>
                <a:gd name="connsiteX29" fmla="*/ 268323 w 323568"/>
                <a:gd name="connsiteY29" fmla="*/ 88916 h 388112"/>
                <a:gd name="connsiteX30" fmla="*/ 270228 w 323568"/>
                <a:gd name="connsiteY30" fmla="*/ 83201 h 388112"/>
                <a:gd name="connsiteX31" fmla="*/ 275943 w 323568"/>
                <a:gd name="connsiteY31" fmla="*/ 77486 h 388112"/>
                <a:gd name="connsiteX32" fmla="*/ 279753 w 323568"/>
                <a:gd name="connsiteY32" fmla="*/ 71771 h 388112"/>
                <a:gd name="connsiteX33" fmla="*/ 277848 w 323568"/>
                <a:gd name="connsiteY33" fmla="*/ 54626 h 388112"/>
                <a:gd name="connsiteX34" fmla="*/ 262608 w 323568"/>
                <a:gd name="connsiteY34" fmla="*/ 56531 h 388112"/>
                <a:gd name="connsiteX35" fmla="*/ 249273 w 323568"/>
                <a:gd name="connsiteY35" fmla="*/ 58436 h 388112"/>
                <a:gd name="connsiteX36" fmla="*/ 222603 w 323568"/>
                <a:gd name="connsiteY36" fmla="*/ 64151 h 388112"/>
                <a:gd name="connsiteX37" fmla="*/ 216888 w 323568"/>
                <a:gd name="connsiteY37" fmla="*/ 67961 h 388112"/>
                <a:gd name="connsiteX38" fmla="*/ 188313 w 323568"/>
                <a:gd name="connsiteY38" fmla="*/ 64151 h 388112"/>
                <a:gd name="connsiteX39" fmla="*/ 180693 w 323568"/>
                <a:gd name="connsiteY39" fmla="*/ 22241 h 388112"/>
                <a:gd name="connsiteX40" fmla="*/ 174978 w 323568"/>
                <a:gd name="connsiteY40" fmla="*/ 20336 h 388112"/>
                <a:gd name="connsiteX41" fmla="*/ 155928 w 323568"/>
                <a:gd name="connsiteY41" fmla="*/ 24146 h 388112"/>
                <a:gd name="connsiteX42" fmla="*/ 154023 w 323568"/>
                <a:gd name="connsiteY42" fmla="*/ 29861 h 388112"/>
                <a:gd name="connsiteX43" fmla="*/ 148308 w 323568"/>
                <a:gd name="connsiteY43" fmla="*/ 33671 h 388112"/>
                <a:gd name="connsiteX44" fmla="*/ 129258 w 323568"/>
                <a:gd name="connsiteY44" fmla="*/ 48911 h 388112"/>
                <a:gd name="connsiteX45" fmla="*/ 123543 w 323568"/>
                <a:gd name="connsiteY45" fmla="*/ 43196 h 388112"/>
                <a:gd name="connsiteX46" fmla="*/ 119733 w 323568"/>
                <a:gd name="connsiteY46" fmla="*/ 37481 h 388112"/>
                <a:gd name="connsiteX47" fmla="*/ 108303 w 323568"/>
                <a:gd name="connsiteY47" fmla="*/ 26051 h 388112"/>
                <a:gd name="connsiteX48" fmla="*/ 102588 w 323568"/>
                <a:gd name="connsiteY48" fmla="*/ 20336 h 388112"/>
                <a:gd name="connsiteX49" fmla="*/ 100683 w 323568"/>
                <a:gd name="connsiteY49" fmla="*/ 14621 h 388112"/>
                <a:gd name="connsiteX50" fmla="*/ 89253 w 323568"/>
                <a:gd name="connsiteY50" fmla="*/ 7001 h 388112"/>
                <a:gd name="connsiteX51" fmla="*/ 68298 w 323568"/>
                <a:gd name="connsiteY51" fmla="*/ 3191 h 388112"/>
                <a:gd name="connsiteX52" fmla="*/ 60678 w 323568"/>
                <a:gd name="connsiteY52" fmla="*/ 14621 h 388112"/>
                <a:gd name="connsiteX53" fmla="*/ 58773 w 323568"/>
                <a:gd name="connsiteY53" fmla="*/ 58436 h 388112"/>
                <a:gd name="connsiteX54" fmla="*/ 53058 w 323568"/>
                <a:gd name="connsiteY54" fmla="*/ 62246 h 388112"/>
                <a:gd name="connsiteX55" fmla="*/ 1623 w 323568"/>
                <a:gd name="connsiteY55" fmla="*/ 66056 h 388112"/>
                <a:gd name="connsiteX56" fmla="*/ 1623 w 323568"/>
                <a:gd name="connsiteY56" fmla="*/ 77486 h 38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23568" h="388112">
                  <a:moveTo>
                    <a:pt x="173073" y="382286"/>
                  </a:moveTo>
                  <a:cubicBezTo>
                    <a:pt x="183233" y="384191"/>
                    <a:pt x="193255" y="387106"/>
                    <a:pt x="203553" y="388001"/>
                  </a:cubicBezTo>
                  <a:cubicBezTo>
                    <a:pt x="208026" y="388390"/>
                    <a:pt x="212719" y="387764"/>
                    <a:pt x="216888" y="386096"/>
                  </a:cubicBezTo>
                  <a:cubicBezTo>
                    <a:pt x="219389" y="385095"/>
                    <a:pt x="221037" y="382573"/>
                    <a:pt x="222603" y="380381"/>
                  </a:cubicBezTo>
                  <a:cubicBezTo>
                    <a:pt x="227116" y="374063"/>
                    <a:pt x="225653" y="373264"/>
                    <a:pt x="228318" y="367046"/>
                  </a:cubicBezTo>
                  <a:cubicBezTo>
                    <a:pt x="229437" y="364436"/>
                    <a:pt x="230858" y="361966"/>
                    <a:pt x="232128" y="359426"/>
                  </a:cubicBezTo>
                  <a:cubicBezTo>
                    <a:pt x="233398" y="345456"/>
                    <a:pt x="228721" y="329545"/>
                    <a:pt x="235938" y="317516"/>
                  </a:cubicBezTo>
                  <a:cubicBezTo>
                    <a:pt x="248576" y="296453"/>
                    <a:pt x="299898" y="300937"/>
                    <a:pt x="314043" y="300371"/>
                  </a:cubicBezTo>
                  <a:cubicBezTo>
                    <a:pt x="315313" y="296561"/>
                    <a:pt x="317630" y="292951"/>
                    <a:pt x="317853" y="288941"/>
                  </a:cubicBezTo>
                  <a:cubicBezTo>
                    <a:pt x="318277" y="281306"/>
                    <a:pt x="317448" y="273579"/>
                    <a:pt x="315948" y="266081"/>
                  </a:cubicBezTo>
                  <a:cubicBezTo>
                    <a:pt x="315499" y="263836"/>
                    <a:pt x="313604" y="262125"/>
                    <a:pt x="312138" y="260366"/>
                  </a:cubicBezTo>
                  <a:cubicBezTo>
                    <a:pt x="307554" y="254866"/>
                    <a:pt x="306327" y="254587"/>
                    <a:pt x="300708" y="250841"/>
                  </a:cubicBezTo>
                  <a:cubicBezTo>
                    <a:pt x="296962" y="245222"/>
                    <a:pt x="296683" y="243995"/>
                    <a:pt x="291183" y="239411"/>
                  </a:cubicBezTo>
                  <a:cubicBezTo>
                    <a:pt x="289424" y="237945"/>
                    <a:pt x="287373" y="236871"/>
                    <a:pt x="285468" y="235601"/>
                  </a:cubicBezTo>
                  <a:cubicBezTo>
                    <a:pt x="286103" y="228616"/>
                    <a:pt x="285310" y="221350"/>
                    <a:pt x="287373" y="214646"/>
                  </a:cubicBezTo>
                  <a:cubicBezTo>
                    <a:pt x="288046" y="212458"/>
                    <a:pt x="290984" y="211738"/>
                    <a:pt x="293088" y="210836"/>
                  </a:cubicBezTo>
                  <a:cubicBezTo>
                    <a:pt x="295494" y="209805"/>
                    <a:pt x="298191" y="209650"/>
                    <a:pt x="300708" y="208931"/>
                  </a:cubicBezTo>
                  <a:cubicBezTo>
                    <a:pt x="302639" y="208379"/>
                    <a:pt x="304518" y="207661"/>
                    <a:pt x="306423" y="207026"/>
                  </a:cubicBezTo>
                  <a:cubicBezTo>
                    <a:pt x="319472" y="193977"/>
                    <a:pt x="313370" y="198585"/>
                    <a:pt x="323568" y="191786"/>
                  </a:cubicBezTo>
                  <a:cubicBezTo>
                    <a:pt x="322933" y="184801"/>
                    <a:pt x="323726" y="177535"/>
                    <a:pt x="321663" y="170831"/>
                  </a:cubicBezTo>
                  <a:cubicBezTo>
                    <a:pt x="320990" y="168643"/>
                    <a:pt x="317707" y="168487"/>
                    <a:pt x="315948" y="167021"/>
                  </a:cubicBezTo>
                  <a:cubicBezTo>
                    <a:pt x="313878" y="165296"/>
                    <a:pt x="312278" y="163059"/>
                    <a:pt x="310233" y="161306"/>
                  </a:cubicBezTo>
                  <a:cubicBezTo>
                    <a:pt x="309025" y="160271"/>
                    <a:pt x="299310" y="152987"/>
                    <a:pt x="296898" y="151781"/>
                  </a:cubicBezTo>
                  <a:cubicBezTo>
                    <a:pt x="283935" y="145299"/>
                    <a:pt x="299419" y="155976"/>
                    <a:pt x="283563" y="146066"/>
                  </a:cubicBezTo>
                  <a:cubicBezTo>
                    <a:pt x="280871" y="144383"/>
                    <a:pt x="278700" y="141926"/>
                    <a:pt x="275943" y="140351"/>
                  </a:cubicBezTo>
                  <a:cubicBezTo>
                    <a:pt x="266675" y="135055"/>
                    <a:pt x="273473" y="142601"/>
                    <a:pt x="264513" y="134636"/>
                  </a:cubicBezTo>
                  <a:cubicBezTo>
                    <a:pt x="260486" y="131056"/>
                    <a:pt x="253083" y="123206"/>
                    <a:pt x="253083" y="123206"/>
                  </a:cubicBezTo>
                  <a:cubicBezTo>
                    <a:pt x="252448" y="121301"/>
                    <a:pt x="250956" y="119487"/>
                    <a:pt x="251178" y="117491"/>
                  </a:cubicBezTo>
                  <a:cubicBezTo>
                    <a:pt x="252107" y="109134"/>
                    <a:pt x="257697" y="100946"/>
                    <a:pt x="262608" y="94631"/>
                  </a:cubicBezTo>
                  <a:cubicBezTo>
                    <a:pt x="264262" y="92504"/>
                    <a:pt x="266418" y="90821"/>
                    <a:pt x="268323" y="88916"/>
                  </a:cubicBezTo>
                  <a:cubicBezTo>
                    <a:pt x="268958" y="87011"/>
                    <a:pt x="269114" y="84872"/>
                    <a:pt x="270228" y="83201"/>
                  </a:cubicBezTo>
                  <a:cubicBezTo>
                    <a:pt x="271722" y="80959"/>
                    <a:pt x="274218" y="79556"/>
                    <a:pt x="275943" y="77486"/>
                  </a:cubicBezTo>
                  <a:cubicBezTo>
                    <a:pt x="277409" y="75727"/>
                    <a:pt x="278483" y="73676"/>
                    <a:pt x="279753" y="71771"/>
                  </a:cubicBezTo>
                  <a:cubicBezTo>
                    <a:pt x="279118" y="66056"/>
                    <a:pt x="282146" y="58446"/>
                    <a:pt x="277848" y="54626"/>
                  </a:cubicBezTo>
                  <a:cubicBezTo>
                    <a:pt x="274022" y="51225"/>
                    <a:pt x="267683" y="55854"/>
                    <a:pt x="262608" y="56531"/>
                  </a:cubicBezTo>
                  <a:cubicBezTo>
                    <a:pt x="258157" y="57124"/>
                    <a:pt x="253695" y="57656"/>
                    <a:pt x="249273" y="58436"/>
                  </a:cubicBezTo>
                  <a:cubicBezTo>
                    <a:pt x="234573" y="61030"/>
                    <a:pt x="233709" y="61375"/>
                    <a:pt x="222603" y="64151"/>
                  </a:cubicBezTo>
                  <a:cubicBezTo>
                    <a:pt x="220698" y="65421"/>
                    <a:pt x="219060" y="67237"/>
                    <a:pt x="216888" y="67961"/>
                  </a:cubicBezTo>
                  <a:cubicBezTo>
                    <a:pt x="203859" y="72304"/>
                    <a:pt x="202349" y="68830"/>
                    <a:pt x="188313" y="64151"/>
                  </a:cubicBezTo>
                  <a:cubicBezTo>
                    <a:pt x="187553" y="50477"/>
                    <a:pt x="192910" y="32422"/>
                    <a:pt x="180693" y="22241"/>
                  </a:cubicBezTo>
                  <a:cubicBezTo>
                    <a:pt x="179150" y="20955"/>
                    <a:pt x="176883" y="20971"/>
                    <a:pt x="174978" y="20336"/>
                  </a:cubicBezTo>
                  <a:cubicBezTo>
                    <a:pt x="168628" y="21606"/>
                    <a:pt x="161823" y="21466"/>
                    <a:pt x="155928" y="24146"/>
                  </a:cubicBezTo>
                  <a:cubicBezTo>
                    <a:pt x="154100" y="24977"/>
                    <a:pt x="155277" y="28293"/>
                    <a:pt x="154023" y="29861"/>
                  </a:cubicBezTo>
                  <a:cubicBezTo>
                    <a:pt x="152593" y="31649"/>
                    <a:pt x="150213" y="32401"/>
                    <a:pt x="148308" y="33671"/>
                  </a:cubicBezTo>
                  <a:cubicBezTo>
                    <a:pt x="138460" y="48443"/>
                    <a:pt x="145032" y="43653"/>
                    <a:pt x="129258" y="48911"/>
                  </a:cubicBezTo>
                  <a:cubicBezTo>
                    <a:pt x="127353" y="47006"/>
                    <a:pt x="125268" y="45266"/>
                    <a:pt x="123543" y="43196"/>
                  </a:cubicBezTo>
                  <a:cubicBezTo>
                    <a:pt x="122077" y="41437"/>
                    <a:pt x="121254" y="39192"/>
                    <a:pt x="119733" y="37481"/>
                  </a:cubicBezTo>
                  <a:cubicBezTo>
                    <a:pt x="116153" y="33454"/>
                    <a:pt x="112113" y="29861"/>
                    <a:pt x="108303" y="26051"/>
                  </a:cubicBezTo>
                  <a:lnTo>
                    <a:pt x="102588" y="20336"/>
                  </a:lnTo>
                  <a:cubicBezTo>
                    <a:pt x="101953" y="18431"/>
                    <a:pt x="101797" y="16292"/>
                    <a:pt x="100683" y="14621"/>
                  </a:cubicBezTo>
                  <a:cubicBezTo>
                    <a:pt x="96606" y="8505"/>
                    <a:pt x="95245" y="8998"/>
                    <a:pt x="89253" y="7001"/>
                  </a:cubicBezTo>
                  <a:cubicBezTo>
                    <a:pt x="82189" y="1703"/>
                    <a:pt x="78910" y="-3562"/>
                    <a:pt x="68298" y="3191"/>
                  </a:cubicBezTo>
                  <a:cubicBezTo>
                    <a:pt x="64435" y="5649"/>
                    <a:pt x="60678" y="14621"/>
                    <a:pt x="60678" y="14621"/>
                  </a:cubicBezTo>
                  <a:cubicBezTo>
                    <a:pt x="60043" y="29226"/>
                    <a:pt x="61083" y="44001"/>
                    <a:pt x="58773" y="58436"/>
                  </a:cubicBezTo>
                  <a:cubicBezTo>
                    <a:pt x="58411" y="60697"/>
                    <a:pt x="55327" y="61943"/>
                    <a:pt x="53058" y="62246"/>
                  </a:cubicBezTo>
                  <a:cubicBezTo>
                    <a:pt x="36017" y="64518"/>
                    <a:pt x="18107" y="61172"/>
                    <a:pt x="1623" y="66056"/>
                  </a:cubicBezTo>
                  <a:cubicBezTo>
                    <a:pt x="-2030" y="67138"/>
                    <a:pt x="1623" y="73676"/>
                    <a:pt x="1623" y="77486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FF00"/>
                </a:highlight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506A8B-70FE-49B2-9A81-ED74E87F00CC}"/>
                </a:ext>
              </a:extLst>
            </p:cNvPr>
            <p:cNvSpPr txBox="1"/>
            <p:nvPr/>
          </p:nvSpPr>
          <p:spPr>
            <a:xfrm>
              <a:off x="7861175" y="3248306"/>
              <a:ext cx="787441" cy="341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Fast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C4A1E9-66E3-4602-A21C-4D98E803F3DB}"/>
                </a:ext>
              </a:extLst>
            </p:cNvPr>
            <p:cNvSpPr txBox="1"/>
            <p:nvPr/>
          </p:nvSpPr>
          <p:spPr>
            <a:xfrm>
              <a:off x="8710962" y="2773044"/>
              <a:ext cx="739853" cy="34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Slow</a:t>
              </a:r>
            </a:p>
          </p:txBody>
        </p:sp>
      </p:grpSp>
      <p:sp>
        <p:nvSpPr>
          <p:cNvPr id="37" name="Title">
            <a:extLst>
              <a:ext uri="{FF2B5EF4-FFF2-40B4-BE49-F238E27FC236}">
                <a16:creationId xmlns:a16="http://schemas.microsoft.com/office/drawing/2014/main" id="{C250D57C-E85B-48F1-AA96-D155D83888EB}"/>
              </a:ext>
            </a:extLst>
          </p:cNvPr>
          <p:cNvSpPr txBox="1"/>
          <p:nvPr/>
        </p:nvSpPr>
        <p:spPr>
          <a:xfrm>
            <a:off x="3747271" y="69195"/>
            <a:ext cx="4615874" cy="523220"/>
          </a:xfrm>
          <a:prstGeom prst="rect">
            <a:avLst/>
          </a:prstGeom>
          <a:ln>
            <a:solidFill>
              <a:schemeClr val="bg2"/>
            </a:solidFill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Supraventricular Tachycardias</a:t>
            </a: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33D81FF9-0B27-4AE9-8327-F4ADFABF3BFB}"/>
              </a:ext>
            </a:extLst>
          </p:cNvPr>
          <p:cNvSpPr/>
          <p:nvPr/>
        </p:nvSpPr>
        <p:spPr>
          <a:xfrm>
            <a:off x="3053590" y="799246"/>
            <a:ext cx="361439" cy="439534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396CDF2A-1F04-4B3E-BDB5-60D13DAC5144}"/>
              </a:ext>
            </a:extLst>
          </p:cNvPr>
          <p:cNvSpPr/>
          <p:nvPr/>
        </p:nvSpPr>
        <p:spPr>
          <a:xfrm>
            <a:off x="3089054" y="4774516"/>
            <a:ext cx="300047" cy="20051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AVRT ortho animation">
            <a:extLst>
              <a:ext uri="{FF2B5EF4-FFF2-40B4-BE49-F238E27FC236}">
                <a16:creationId xmlns:a16="http://schemas.microsoft.com/office/drawing/2014/main" id="{DB0235C8-01F0-4C96-9A91-B04202751785}"/>
              </a:ext>
            </a:extLst>
          </p:cNvPr>
          <p:cNvGrpSpPr/>
          <p:nvPr/>
        </p:nvGrpSpPr>
        <p:grpSpPr>
          <a:xfrm rot="21003866">
            <a:off x="9780125" y="3212003"/>
            <a:ext cx="317992" cy="326959"/>
            <a:chOff x="9130936" y="2524342"/>
            <a:chExt cx="461299" cy="403229"/>
          </a:xfrm>
        </p:grpSpPr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FC49F49D-42BB-4594-A0F8-3B2901EC1430}"/>
                </a:ext>
              </a:extLst>
            </p:cNvPr>
            <p:cNvSpPr/>
            <p:nvPr/>
          </p:nvSpPr>
          <p:spPr>
            <a:xfrm rot="2550340">
              <a:off x="9181388" y="2628007"/>
              <a:ext cx="408659" cy="20327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AF0977D-F59A-497A-B579-1EBB3918BD8F}"/>
                </a:ext>
              </a:extLst>
            </p:cNvPr>
            <p:cNvCxnSpPr/>
            <p:nvPr/>
          </p:nvCxnSpPr>
          <p:spPr>
            <a:xfrm>
              <a:off x="9130936" y="2659816"/>
              <a:ext cx="295835" cy="267755"/>
            </a:xfrm>
            <a:prstGeom prst="line">
              <a:avLst/>
            </a:prstGeom>
            <a:ln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5541F9E-D18C-4FAD-8F62-3909B6674A27}"/>
                </a:ext>
              </a:extLst>
            </p:cNvPr>
            <p:cNvCxnSpPr/>
            <p:nvPr/>
          </p:nvCxnSpPr>
          <p:spPr>
            <a:xfrm>
              <a:off x="9296400" y="2524342"/>
              <a:ext cx="295835" cy="267755"/>
            </a:xfrm>
            <a:prstGeom prst="line">
              <a:avLst/>
            </a:prstGeom>
            <a:ln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AFlutter animation">
            <a:extLst>
              <a:ext uri="{FF2B5EF4-FFF2-40B4-BE49-F238E27FC236}">
                <a16:creationId xmlns:a16="http://schemas.microsoft.com/office/drawing/2014/main" id="{E8A127CE-B608-499E-92AF-5D99A18A57BC}"/>
              </a:ext>
            </a:extLst>
          </p:cNvPr>
          <p:cNvGrpSpPr/>
          <p:nvPr/>
        </p:nvGrpSpPr>
        <p:grpSpPr>
          <a:xfrm rot="2222927">
            <a:off x="8055959" y="2949750"/>
            <a:ext cx="969537" cy="1021642"/>
            <a:chOff x="7033280" y="2257584"/>
            <a:chExt cx="1465026" cy="1064077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5DC4A42-1B7E-4C89-A596-94C6C988D8D2}"/>
                </a:ext>
              </a:extLst>
            </p:cNvPr>
            <p:cNvSpPr/>
            <p:nvPr/>
          </p:nvSpPr>
          <p:spPr>
            <a:xfrm rot="428693">
              <a:off x="7033280" y="2359445"/>
              <a:ext cx="1465026" cy="89120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Play">
              <a:extLst>
                <a:ext uri="{FF2B5EF4-FFF2-40B4-BE49-F238E27FC236}">
                  <a16:creationId xmlns:a16="http://schemas.microsoft.com/office/drawing/2014/main" id="{D446B69A-458D-42D5-AB5A-738C47D13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2066793">
              <a:off x="7266262" y="3021871"/>
              <a:ext cx="299788" cy="299790"/>
            </a:xfrm>
            <a:prstGeom prst="rect">
              <a:avLst/>
            </a:prstGeom>
          </p:spPr>
        </p:pic>
        <p:pic>
          <p:nvPicPr>
            <p:cNvPr id="55" name="Graphic 54" descr="Play">
              <a:extLst>
                <a:ext uri="{FF2B5EF4-FFF2-40B4-BE49-F238E27FC236}">
                  <a16:creationId xmlns:a16="http://schemas.microsoft.com/office/drawing/2014/main" id="{196C95F9-4981-48A3-BF7E-3516A44BC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498106">
              <a:off x="7937665" y="2257584"/>
              <a:ext cx="299788" cy="299790"/>
            </a:xfrm>
            <a:prstGeom prst="rect">
              <a:avLst/>
            </a:prstGeom>
          </p:spPr>
        </p:pic>
      </p:grpSp>
      <p:grpSp>
        <p:nvGrpSpPr>
          <p:cNvPr id="68" name="Afib animation">
            <a:extLst>
              <a:ext uri="{FF2B5EF4-FFF2-40B4-BE49-F238E27FC236}">
                <a16:creationId xmlns:a16="http://schemas.microsoft.com/office/drawing/2014/main" id="{534E7796-B802-4660-AC88-0286D9247E6D}"/>
              </a:ext>
            </a:extLst>
          </p:cNvPr>
          <p:cNvGrpSpPr/>
          <p:nvPr/>
        </p:nvGrpSpPr>
        <p:grpSpPr>
          <a:xfrm>
            <a:off x="8637076" y="1836671"/>
            <a:ext cx="860136" cy="748301"/>
            <a:chOff x="7781365" y="1026622"/>
            <a:chExt cx="1247767" cy="922857"/>
          </a:xfrm>
        </p:grpSpPr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26F6CEB6-2662-49B7-85EF-F95254A91E71}"/>
                </a:ext>
              </a:extLst>
            </p:cNvPr>
            <p:cNvSpPr/>
            <p:nvPr/>
          </p:nvSpPr>
          <p:spPr>
            <a:xfrm>
              <a:off x="7781365" y="1343420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4C6D1016-76AE-4D9B-B52F-F22C738EF4EA}"/>
                </a:ext>
              </a:extLst>
            </p:cNvPr>
            <p:cNvSpPr/>
            <p:nvPr/>
          </p:nvSpPr>
          <p:spPr>
            <a:xfrm>
              <a:off x="7958701" y="1662948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8FFAF97B-34ED-43A3-B8C6-78BA62955626}"/>
                </a:ext>
              </a:extLst>
            </p:cNvPr>
            <p:cNvSpPr/>
            <p:nvPr/>
          </p:nvSpPr>
          <p:spPr>
            <a:xfrm>
              <a:off x="8326761" y="1610354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D80EF00D-E970-4ED8-A834-EC4B121574D8}"/>
                </a:ext>
              </a:extLst>
            </p:cNvPr>
            <p:cNvSpPr/>
            <p:nvPr/>
          </p:nvSpPr>
          <p:spPr>
            <a:xfrm>
              <a:off x="8192292" y="1343803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A96A7B7D-97B3-418D-A26D-BA95C0A89AE5}"/>
                </a:ext>
              </a:extLst>
            </p:cNvPr>
            <p:cNvSpPr/>
            <p:nvPr/>
          </p:nvSpPr>
          <p:spPr>
            <a:xfrm>
              <a:off x="7978588" y="1026622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CD98B896-F9E8-4FA8-B273-FBE7AB3D2E35}"/>
                </a:ext>
              </a:extLst>
            </p:cNvPr>
            <p:cNvSpPr/>
            <p:nvPr/>
          </p:nvSpPr>
          <p:spPr>
            <a:xfrm>
              <a:off x="8626251" y="1264393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ED483186-144C-45BD-8D86-677A8A04152F}"/>
                </a:ext>
              </a:extLst>
            </p:cNvPr>
            <p:cNvSpPr/>
            <p:nvPr/>
          </p:nvSpPr>
          <p:spPr>
            <a:xfrm>
              <a:off x="8831909" y="1752256"/>
              <a:ext cx="197223" cy="197223"/>
            </a:xfrm>
            <a:prstGeom prst="arc">
              <a:avLst>
                <a:gd name="adj1" fmla="val 16200000"/>
                <a:gd name="adj2" fmla="val 15054394"/>
              </a:avLst>
            </a:prstGeom>
            <a:ln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MAT animation">
            <a:extLst>
              <a:ext uri="{FF2B5EF4-FFF2-40B4-BE49-F238E27FC236}">
                <a16:creationId xmlns:a16="http://schemas.microsoft.com/office/drawing/2014/main" id="{50393719-9A93-4383-AE8C-8A2C3541F452}"/>
              </a:ext>
            </a:extLst>
          </p:cNvPr>
          <p:cNvGrpSpPr/>
          <p:nvPr/>
        </p:nvGrpSpPr>
        <p:grpSpPr>
          <a:xfrm>
            <a:off x="8548810" y="1885442"/>
            <a:ext cx="1553769" cy="1751156"/>
            <a:chOff x="7290248" y="900365"/>
            <a:chExt cx="2253993" cy="2159646"/>
          </a:xfrm>
        </p:grpSpPr>
        <p:sp>
          <p:nvSpPr>
            <p:cNvPr id="69" name="MAT animation">
              <a:extLst>
                <a:ext uri="{FF2B5EF4-FFF2-40B4-BE49-F238E27FC236}">
                  <a16:creationId xmlns:a16="http://schemas.microsoft.com/office/drawing/2014/main" id="{F63533A0-C8F4-4D65-A3FB-64188ADA627A}"/>
                </a:ext>
              </a:extLst>
            </p:cNvPr>
            <p:cNvSpPr/>
            <p:nvPr/>
          </p:nvSpPr>
          <p:spPr>
            <a:xfrm>
              <a:off x="7608376" y="2208320"/>
              <a:ext cx="171450" cy="171450"/>
            </a:xfrm>
            <a:prstGeom prst="irregularSeal1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MAT animation">
              <a:extLst>
                <a:ext uri="{FF2B5EF4-FFF2-40B4-BE49-F238E27FC236}">
                  <a16:creationId xmlns:a16="http://schemas.microsoft.com/office/drawing/2014/main" id="{0B168AA1-6ECA-441F-AC29-5DF9653BE5A2}"/>
                </a:ext>
              </a:extLst>
            </p:cNvPr>
            <p:cNvSpPr/>
            <p:nvPr/>
          </p:nvSpPr>
          <p:spPr>
            <a:xfrm>
              <a:off x="7290248" y="2888561"/>
              <a:ext cx="171450" cy="171450"/>
            </a:xfrm>
            <a:prstGeom prst="irregularSeal1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MAT animation">
              <a:extLst>
                <a:ext uri="{FF2B5EF4-FFF2-40B4-BE49-F238E27FC236}">
                  <a16:creationId xmlns:a16="http://schemas.microsoft.com/office/drawing/2014/main" id="{AF8AF51E-80A8-4108-A87D-26485126CA4D}"/>
                </a:ext>
              </a:extLst>
            </p:cNvPr>
            <p:cNvSpPr/>
            <p:nvPr/>
          </p:nvSpPr>
          <p:spPr>
            <a:xfrm>
              <a:off x="8057312" y="900365"/>
              <a:ext cx="171450" cy="171450"/>
            </a:xfrm>
            <a:prstGeom prst="irregularSeal1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MAT animation">
              <a:extLst>
                <a:ext uri="{FF2B5EF4-FFF2-40B4-BE49-F238E27FC236}">
                  <a16:creationId xmlns:a16="http://schemas.microsoft.com/office/drawing/2014/main" id="{3D055D2B-38C3-48F7-B0BD-8C3514CAAB28}"/>
                </a:ext>
              </a:extLst>
            </p:cNvPr>
            <p:cNvSpPr/>
            <p:nvPr/>
          </p:nvSpPr>
          <p:spPr>
            <a:xfrm>
              <a:off x="9372791" y="1996322"/>
              <a:ext cx="171450" cy="171450"/>
            </a:xfrm>
            <a:prstGeom prst="irregularSeal1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T text">
            <a:extLst>
              <a:ext uri="{FF2B5EF4-FFF2-40B4-BE49-F238E27FC236}">
                <a16:creationId xmlns:a16="http://schemas.microsoft.com/office/drawing/2014/main" id="{5EF7D96D-5222-4987-8302-6EFA23DA776D}"/>
              </a:ext>
            </a:extLst>
          </p:cNvPr>
          <p:cNvSpPr txBox="1"/>
          <p:nvPr/>
        </p:nvSpPr>
        <p:spPr>
          <a:xfrm>
            <a:off x="3833590" y="1004012"/>
            <a:ext cx="1819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Sinus Tachycardia</a:t>
            </a:r>
          </a:p>
        </p:txBody>
      </p:sp>
      <p:sp>
        <p:nvSpPr>
          <p:cNvPr id="79" name="ST animation">
            <a:extLst>
              <a:ext uri="{FF2B5EF4-FFF2-40B4-BE49-F238E27FC236}">
                <a16:creationId xmlns:a16="http://schemas.microsoft.com/office/drawing/2014/main" id="{17D3BD61-F031-4D47-8C02-4545D9625B9B}"/>
              </a:ext>
            </a:extLst>
          </p:cNvPr>
          <p:cNvSpPr/>
          <p:nvPr/>
        </p:nvSpPr>
        <p:spPr>
          <a:xfrm>
            <a:off x="7915728" y="2382381"/>
            <a:ext cx="167343" cy="185854"/>
          </a:xfrm>
          <a:prstGeom prst="irregularSeal1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Key">
            <a:extLst>
              <a:ext uri="{FF2B5EF4-FFF2-40B4-BE49-F238E27FC236}">
                <a16:creationId xmlns:a16="http://schemas.microsoft.com/office/drawing/2014/main" id="{9DD61FD4-1324-42E9-A60C-04CB8D7C4F3B}"/>
              </a:ext>
            </a:extLst>
          </p:cNvPr>
          <p:cNvGrpSpPr/>
          <p:nvPr/>
        </p:nvGrpSpPr>
        <p:grpSpPr>
          <a:xfrm>
            <a:off x="10134969" y="799759"/>
            <a:ext cx="2057031" cy="1292662"/>
            <a:chOff x="9932145" y="1425065"/>
            <a:chExt cx="2057031" cy="129266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FEDF741-3FFE-4668-9BA3-64FD9F2A5BF2}"/>
                </a:ext>
              </a:extLst>
            </p:cNvPr>
            <p:cNvSpPr txBox="1"/>
            <p:nvPr/>
          </p:nvSpPr>
          <p:spPr>
            <a:xfrm>
              <a:off x="9932145" y="1425065"/>
              <a:ext cx="2057031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Key</a:t>
              </a:r>
            </a:p>
            <a:p>
              <a:pPr algn="ctr"/>
              <a:endParaRPr lang="en-US" sz="900" dirty="0"/>
            </a:p>
            <a:p>
              <a:pPr lvl="1"/>
              <a:r>
                <a:rPr lang="en-US" sz="1200" dirty="0"/>
                <a:t>Increased automaticity</a:t>
              </a:r>
            </a:p>
            <a:p>
              <a:pPr lvl="1"/>
              <a:endParaRPr lang="en-US" sz="900" dirty="0"/>
            </a:p>
            <a:p>
              <a:pPr lvl="1"/>
              <a:r>
                <a:rPr lang="en-US" sz="1200" dirty="0"/>
                <a:t>Re-entry circuit</a:t>
              </a:r>
            </a:p>
            <a:p>
              <a:pPr algn="ctr"/>
              <a:endParaRPr lang="en-US" dirty="0"/>
            </a:p>
          </p:txBody>
        </p:sp>
        <p:sp>
          <p:nvSpPr>
            <p:cNvPr id="78" name="Explosion: 8 Points 77">
              <a:extLst>
                <a:ext uri="{FF2B5EF4-FFF2-40B4-BE49-F238E27FC236}">
                  <a16:creationId xmlns:a16="http://schemas.microsoft.com/office/drawing/2014/main" id="{B5681BF0-B695-4E8B-8CCC-CF05CB90F5C6}"/>
                </a:ext>
              </a:extLst>
            </p:cNvPr>
            <p:cNvSpPr/>
            <p:nvPr/>
          </p:nvSpPr>
          <p:spPr>
            <a:xfrm>
              <a:off x="10193660" y="1885607"/>
              <a:ext cx="192947" cy="200144"/>
            </a:xfrm>
            <a:prstGeom prst="irregularSeal1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1E15C956-9926-4747-8D51-05ABFFAE201F}"/>
                </a:ext>
              </a:extLst>
            </p:cNvPr>
            <p:cNvSpPr/>
            <p:nvPr/>
          </p:nvSpPr>
          <p:spPr>
            <a:xfrm>
              <a:off x="10188929" y="2190618"/>
              <a:ext cx="193603" cy="206854"/>
            </a:xfrm>
            <a:prstGeom prst="arc">
              <a:avLst>
                <a:gd name="adj1" fmla="val 16200000"/>
                <a:gd name="adj2" fmla="val 14164635"/>
              </a:avLst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AVRT orthodromic animation">
            <a:extLst>
              <a:ext uri="{FF2B5EF4-FFF2-40B4-BE49-F238E27FC236}">
                <a16:creationId xmlns:a16="http://schemas.microsoft.com/office/drawing/2014/main" id="{7330F375-100C-4398-AEEC-047C1F79C64A}"/>
              </a:ext>
            </a:extLst>
          </p:cNvPr>
          <p:cNvGrpSpPr/>
          <p:nvPr/>
        </p:nvGrpSpPr>
        <p:grpSpPr>
          <a:xfrm>
            <a:off x="9033260" y="3007571"/>
            <a:ext cx="1677784" cy="2791559"/>
            <a:chOff x="7904467" y="1850406"/>
            <a:chExt cx="2433896" cy="3442743"/>
          </a:xfrm>
        </p:grpSpPr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D6C0BF26-F5BC-4894-A3EC-80FE56D227E1}"/>
                </a:ext>
              </a:extLst>
            </p:cNvPr>
            <p:cNvSpPr/>
            <p:nvPr/>
          </p:nvSpPr>
          <p:spPr>
            <a:xfrm rot="19436318">
              <a:off x="9152930" y="1850406"/>
              <a:ext cx="1185433" cy="3442743"/>
            </a:xfrm>
            <a:prstGeom prst="arc">
              <a:avLst>
                <a:gd name="adj1" fmla="val 15597921"/>
                <a:gd name="adj2" fmla="val 14751216"/>
              </a:avLst>
            </a:prstGeom>
            <a:ln w="12700">
              <a:solidFill>
                <a:srgbClr val="FF3399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A14270F-2470-4E5C-A0C5-3E1A15DE9750}"/>
                </a:ext>
              </a:extLst>
            </p:cNvPr>
            <p:cNvSpPr txBox="1"/>
            <p:nvPr/>
          </p:nvSpPr>
          <p:spPr>
            <a:xfrm>
              <a:off x="7904467" y="4622632"/>
              <a:ext cx="1889528" cy="379572"/>
            </a:xfrm>
            <a:prstGeom prst="rect">
              <a:avLst/>
            </a:prstGeom>
            <a:noFill/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 Orthodromic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F07D1EF-E24A-4F85-8BA0-BCE700033D84}"/>
                </a:ext>
              </a:extLst>
            </p:cNvPr>
            <p:cNvCxnSpPr>
              <a:cxnSpLocks/>
              <a:stCxn id="107" idx="0"/>
            </p:cNvCxnSpPr>
            <p:nvPr/>
          </p:nvCxnSpPr>
          <p:spPr>
            <a:xfrm flipV="1">
              <a:off x="8849232" y="3826116"/>
              <a:ext cx="266157" cy="796515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5" name="MAT rhythm">
            <a:extLst>
              <a:ext uri="{FF2B5EF4-FFF2-40B4-BE49-F238E27FC236}">
                <a16:creationId xmlns:a16="http://schemas.microsoft.com/office/drawing/2014/main" id="{5C8BFD7F-65E8-40B8-94E4-C62414BFB56B}"/>
              </a:ext>
            </a:extLst>
          </p:cNvPr>
          <p:cNvGrpSpPr/>
          <p:nvPr/>
        </p:nvGrpSpPr>
        <p:grpSpPr>
          <a:xfrm>
            <a:off x="3931746" y="6192076"/>
            <a:ext cx="3219450" cy="740572"/>
            <a:chOff x="5937056" y="5868761"/>
            <a:chExt cx="3219450" cy="860875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4D1E4E6-2E4A-4FEB-B335-EEA48F4D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7056" y="5868761"/>
              <a:ext cx="3219450" cy="790575"/>
            </a:xfrm>
            <a:prstGeom prst="rect">
              <a:avLst/>
            </a:prstGeom>
          </p:spPr>
        </p:pic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2F1E082-BC04-4A2C-8FA4-A5CAFAE5A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1704" y="6211420"/>
              <a:ext cx="0" cy="23233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ACDEC074-3F9F-4E65-8755-2498B08EA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571" y="6175211"/>
              <a:ext cx="0" cy="19024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15CF6801-6532-46ED-932E-FA7525E13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2107" y="6211420"/>
              <a:ext cx="0" cy="1993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49528B-CFB8-4F7E-AD26-57FDCCB1B83C}"/>
                </a:ext>
              </a:extLst>
            </p:cNvPr>
            <p:cNvSpPr txBox="1"/>
            <p:nvPr/>
          </p:nvSpPr>
          <p:spPr>
            <a:xfrm>
              <a:off x="5958939" y="6405179"/>
              <a:ext cx="2263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1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6487DC0-14CB-41FB-9F18-5DF49E2A6F56}"/>
                </a:ext>
              </a:extLst>
            </p:cNvPr>
            <p:cNvSpPr txBox="1"/>
            <p:nvPr/>
          </p:nvSpPr>
          <p:spPr>
            <a:xfrm>
              <a:off x="6523419" y="6416212"/>
              <a:ext cx="2263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EFF12AA-9916-4C02-A081-1FB7172DFF98}"/>
                </a:ext>
              </a:extLst>
            </p:cNvPr>
            <p:cNvSpPr txBox="1"/>
            <p:nvPr/>
          </p:nvSpPr>
          <p:spPr>
            <a:xfrm>
              <a:off x="6913687" y="6421859"/>
              <a:ext cx="2263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3</a:t>
              </a:r>
            </a:p>
          </p:txBody>
        </p:sp>
      </p:grpSp>
      <p:grpSp>
        <p:nvGrpSpPr>
          <p:cNvPr id="109" name="AVNRT pre-A rhythm">
            <a:extLst>
              <a:ext uri="{FF2B5EF4-FFF2-40B4-BE49-F238E27FC236}">
                <a16:creationId xmlns:a16="http://schemas.microsoft.com/office/drawing/2014/main" id="{ADC3BE7F-8289-474A-8E9F-41A14354AC62}"/>
              </a:ext>
            </a:extLst>
          </p:cNvPr>
          <p:cNvGrpSpPr/>
          <p:nvPr/>
        </p:nvGrpSpPr>
        <p:grpSpPr>
          <a:xfrm>
            <a:off x="3905820" y="2310691"/>
            <a:ext cx="3799088" cy="667669"/>
            <a:chOff x="3905820" y="2394511"/>
            <a:chExt cx="3799088" cy="667669"/>
          </a:xfrm>
        </p:grpSpPr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0B699970-8B00-4018-B085-B334B4A1AC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" t="18734" r="214" b="13861"/>
            <a:stretch/>
          </p:blipFill>
          <p:spPr>
            <a:xfrm>
              <a:off x="3905820" y="2479221"/>
              <a:ext cx="2680300" cy="545723"/>
            </a:xfrm>
            <a:prstGeom prst="rect">
              <a:avLst/>
            </a:prstGeom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C3D3ABF-7670-4A6B-8390-C0F9E4D051A9}"/>
                </a:ext>
              </a:extLst>
            </p:cNvPr>
            <p:cNvSpPr txBox="1"/>
            <p:nvPr/>
          </p:nvSpPr>
          <p:spPr>
            <a:xfrm>
              <a:off x="4622714" y="2394511"/>
              <a:ext cx="11772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Pre-adenosine</a:t>
              </a: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03D5B93-A669-4EB5-9EE7-11E7E2701DDB}"/>
                </a:ext>
              </a:extLst>
            </p:cNvPr>
            <p:cNvCxnSpPr>
              <a:cxnSpLocks/>
              <a:stCxn id="129" idx="1"/>
            </p:cNvCxnSpPr>
            <p:nvPr/>
          </p:nvCxnSpPr>
          <p:spPr>
            <a:xfrm flipH="1">
              <a:off x="5886455" y="2739015"/>
              <a:ext cx="641249" cy="10045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326F9E0-1873-4D53-A24D-3A921A78FEC9}"/>
                </a:ext>
              </a:extLst>
            </p:cNvPr>
            <p:cNvSpPr txBox="1"/>
            <p:nvPr/>
          </p:nvSpPr>
          <p:spPr>
            <a:xfrm>
              <a:off x="6527704" y="2415849"/>
              <a:ext cx="1177204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“retro-P” with short R-P interval</a:t>
              </a:r>
            </a:p>
          </p:txBody>
        </p:sp>
      </p:grpSp>
      <p:grpSp>
        <p:nvGrpSpPr>
          <p:cNvPr id="110" name="AVNRT post-A rhtyhm">
            <a:extLst>
              <a:ext uri="{FF2B5EF4-FFF2-40B4-BE49-F238E27FC236}">
                <a16:creationId xmlns:a16="http://schemas.microsoft.com/office/drawing/2014/main" id="{8E4CB199-40D0-4D4D-AAB0-EBD3216E0D28}"/>
              </a:ext>
            </a:extLst>
          </p:cNvPr>
          <p:cNvGrpSpPr/>
          <p:nvPr/>
        </p:nvGrpSpPr>
        <p:grpSpPr>
          <a:xfrm>
            <a:off x="3904773" y="3007411"/>
            <a:ext cx="4058826" cy="584720"/>
            <a:chOff x="3904773" y="3121711"/>
            <a:chExt cx="4058826" cy="584720"/>
          </a:xfrm>
        </p:grpSpPr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2BF628FF-23EE-4692-949A-30CACFC02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1314" b="23486"/>
            <a:stretch/>
          </p:blipFill>
          <p:spPr>
            <a:xfrm>
              <a:off x="3904773" y="3153389"/>
              <a:ext cx="2646103" cy="553042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A8DB002-3D5C-4B7E-868F-84030A90EAA0}"/>
                </a:ext>
              </a:extLst>
            </p:cNvPr>
            <p:cNvSpPr txBox="1"/>
            <p:nvPr/>
          </p:nvSpPr>
          <p:spPr>
            <a:xfrm>
              <a:off x="4550333" y="3121711"/>
              <a:ext cx="11772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Post-adenosine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820E955-C053-412C-9C6E-9411EBF942FF}"/>
                </a:ext>
              </a:extLst>
            </p:cNvPr>
            <p:cNvSpPr txBox="1"/>
            <p:nvPr/>
          </p:nvSpPr>
          <p:spPr>
            <a:xfrm>
              <a:off x="6550876" y="3205444"/>
              <a:ext cx="1412723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Normal resting ECG with sinus P waves</a:t>
              </a:r>
            </a:p>
          </p:txBody>
        </p:sp>
      </p:grpSp>
      <p:grpSp>
        <p:nvGrpSpPr>
          <p:cNvPr id="153" name="AT rhythm">
            <a:extLst>
              <a:ext uri="{FF2B5EF4-FFF2-40B4-BE49-F238E27FC236}">
                <a16:creationId xmlns:a16="http://schemas.microsoft.com/office/drawing/2014/main" id="{F0B2583E-EE67-4262-A502-6893F4F039C4}"/>
              </a:ext>
            </a:extLst>
          </p:cNvPr>
          <p:cNvGrpSpPr/>
          <p:nvPr/>
        </p:nvGrpSpPr>
        <p:grpSpPr>
          <a:xfrm>
            <a:off x="3901291" y="1582248"/>
            <a:ext cx="3413909" cy="695325"/>
            <a:chOff x="3377645" y="2224303"/>
            <a:chExt cx="3413909" cy="695325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A47D8683-8FCB-4AFE-8672-D2AD4AA15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77645" y="2224303"/>
              <a:ext cx="2419350" cy="695325"/>
            </a:xfrm>
            <a:prstGeom prst="rect">
              <a:avLst/>
            </a:prstGeom>
          </p:spPr>
        </p:pic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D315ACB9-B065-425C-823B-F83ABEABF2DC}"/>
                </a:ext>
              </a:extLst>
            </p:cNvPr>
            <p:cNvCxnSpPr>
              <a:cxnSpLocks/>
              <a:stCxn id="146" idx="1"/>
            </p:cNvCxnSpPr>
            <p:nvPr/>
          </p:nvCxnSpPr>
          <p:spPr>
            <a:xfrm flipH="1">
              <a:off x="5531562" y="2488959"/>
              <a:ext cx="374134" cy="162586"/>
            </a:xfrm>
            <a:prstGeom prst="straightConnector1">
              <a:avLst/>
            </a:prstGeom>
            <a:ln w="952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7CE08B1-5054-4EE3-972B-FC978F2B2F71}"/>
                </a:ext>
              </a:extLst>
            </p:cNvPr>
            <p:cNvSpPr txBox="1"/>
            <p:nvPr/>
          </p:nvSpPr>
          <p:spPr>
            <a:xfrm>
              <a:off x="5905696" y="2227349"/>
              <a:ext cx="885858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Inverted p waves</a:t>
              </a:r>
            </a:p>
          </p:txBody>
        </p:sp>
      </p:grpSp>
      <p:grpSp>
        <p:nvGrpSpPr>
          <p:cNvPr id="209" name="AVRT antidromic animation">
            <a:extLst>
              <a:ext uri="{FF2B5EF4-FFF2-40B4-BE49-F238E27FC236}">
                <a16:creationId xmlns:a16="http://schemas.microsoft.com/office/drawing/2014/main" id="{87592043-20FB-4838-A67E-EBD1CF00F942}"/>
              </a:ext>
            </a:extLst>
          </p:cNvPr>
          <p:cNvGrpSpPr/>
          <p:nvPr/>
        </p:nvGrpSpPr>
        <p:grpSpPr>
          <a:xfrm>
            <a:off x="9771228" y="2892655"/>
            <a:ext cx="2063204" cy="3373996"/>
            <a:chOff x="9084043" y="1998814"/>
            <a:chExt cx="2993010" cy="4161043"/>
          </a:xfrm>
        </p:grpSpPr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761CBFE4-968F-4CE9-85E6-48001E5D2DBB}"/>
                </a:ext>
              </a:extLst>
            </p:cNvPr>
            <p:cNvSpPr/>
            <p:nvPr/>
          </p:nvSpPr>
          <p:spPr>
            <a:xfrm rot="19436318">
              <a:off x="9084043" y="1998814"/>
              <a:ext cx="1185433" cy="3294621"/>
            </a:xfrm>
            <a:prstGeom prst="arc">
              <a:avLst>
                <a:gd name="adj1" fmla="val 15096353"/>
                <a:gd name="adj2" fmla="val 6139973"/>
              </a:avLst>
            </a:prstGeom>
            <a:ln w="12700">
              <a:solidFill>
                <a:srgbClr val="FF33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858392B-A864-42D1-9E3E-98227921C931}"/>
                </a:ext>
              </a:extLst>
            </p:cNvPr>
            <p:cNvSpPr txBox="1"/>
            <p:nvPr/>
          </p:nvSpPr>
          <p:spPr>
            <a:xfrm>
              <a:off x="10371438" y="5771527"/>
              <a:ext cx="1705615" cy="3883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 Antidromic</a:t>
              </a:r>
            </a:p>
          </p:txBody>
        </p: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DA06CCEA-B1AB-4E6D-8FBB-8A6EB41E2566}"/>
                </a:ext>
              </a:extLst>
            </p:cNvPr>
            <p:cNvCxnSpPr>
              <a:cxnSpLocks/>
              <a:stCxn id="211" idx="0"/>
            </p:cNvCxnSpPr>
            <p:nvPr/>
          </p:nvCxnSpPr>
          <p:spPr>
            <a:xfrm flipH="1" flipV="1">
              <a:off x="10827117" y="5076373"/>
              <a:ext cx="397129" cy="695154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7" name="AT detail">
            <a:extLst>
              <a:ext uri="{FF2B5EF4-FFF2-40B4-BE49-F238E27FC236}">
                <a16:creationId xmlns:a16="http://schemas.microsoft.com/office/drawing/2014/main" id="{8F6712E3-A719-4959-98DC-BE35EC643A58}"/>
              </a:ext>
            </a:extLst>
          </p:cNvPr>
          <p:cNvGrpSpPr/>
          <p:nvPr/>
        </p:nvGrpSpPr>
        <p:grpSpPr>
          <a:xfrm>
            <a:off x="89355" y="1596915"/>
            <a:ext cx="3288290" cy="738664"/>
            <a:chOff x="89355" y="1635015"/>
            <a:chExt cx="3288290" cy="738664"/>
          </a:xfrm>
        </p:grpSpPr>
        <p:sp>
          <p:nvSpPr>
            <p:cNvPr id="148" name="AT detail">
              <a:extLst>
                <a:ext uri="{FF2B5EF4-FFF2-40B4-BE49-F238E27FC236}">
                  <a16:creationId xmlns:a16="http://schemas.microsoft.com/office/drawing/2014/main" id="{EFB4AF6B-43D8-420F-836A-227536A60101}"/>
                </a:ext>
              </a:extLst>
            </p:cNvPr>
            <p:cNvSpPr txBox="1"/>
            <p:nvPr/>
          </p:nvSpPr>
          <p:spPr>
            <a:xfrm>
              <a:off x="89355" y="1635015"/>
              <a:ext cx="2508758" cy="738664"/>
            </a:xfrm>
            <a:prstGeom prst="rect">
              <a:avLst/>
            </a:prstGeom>
            <a:ln w="19050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Atrial Tachycardia</a:t>
              </a:r>
            </a:p>
            <a:p>
              <a:r>
                <a:rPr lang="en-US" sz="1200" dirty="0"/>
                <a:t>Regular, non-sinus P waves</a:t>
              </a:r>
            </a:p>
            <a:p>
              <a:r>
                <a:rPr lang="en-US" sz="1200" dirty="0"/>
                <a:t>AV nodal blocker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B9F697A6-02AE-451F-85C5-3B14A9C46B24}"/>
                </a:ext>
              </a:extLst>
            </p:cNvPr>
            <p:cNvCxnSpPr>
              <a:cxnSpLocks/>
              <a:stCxn id="8" idx="1"/>
              <a:endCxn id="148" idx="3"/>
            </p:cNvCxnSpPr>
            <p:nvPr/>
          </p:nvCxnSpPr>
          <p:spPr>
            <a:xfrm flipH="1">
              <a:off x="2598113" y="1952416"/>
              <a:ext cx="779532" cy="51931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AVnRT detail">
            <a:extLst>
              <a:ext uri="{FF2B5EF4-FFF2-40B4-BE49-F238E27FC236}">
                <a16:creationId xmlns:a16="http://schemas.microsoft.com/office/drawing/2014/main" id="{7C747789-85B1-47AA-A4FF-15DFC24EB7F3}"/>
              </a:ext>
            </a:extLst>
          </p:cNvPr>
          <p:cNvGrpSpPr/>
          <p:nvPr/>
        </p:nvGrpSpPr>
        <p:grpSpPr>
          <a:xfrm>
            <a:off x="92373" y="2451521"/>
            <a:ext cx="3285272" cy="738664"/>
            <a:chOff x="97497" y="1142321"/>
            <a:chExt cx="3285272" cy="738664"/>
          </a:xfrm>
        </p:grpSpPr>
        <p:sp>
          <p:nvSpPr>
            <p:cNvPr id="164" name="AT detail">
              <a:extLst>
                <a:ext uri="{FF2B5EF4-FFF2-40B4-BE49-F238E27FC236}">
                  <a16:creationId xmlns:a16="http://schemas.microsoft.com/office/drawing/2014/main" id="{273A8D96-A4F2-41F4-A3E2-AB2BB09B8E9B}"/>
                </a:ext>
              </a:extLst>
            </p:cNvPr>
            <p:cNvSpPr txBox="1"/>
            <p:nvPr/>
          </p:nvSpPr>
          <p:spPr>
            <a:xfrm>
              <a:off x="97497" y="1142321"/>
              <a:ext cx="2493337" cy="738664"/>
            </a:xfrm>
            <a:prstGeom prst="rect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AVNRT</a:t>
              </a:r>
            </a:p>
            <a:p>
              <a:r>
                <a:rPr lang="en-US" sz="1200" dirty="0"/>
                <a:t>Regular, no sinus P wave</a:t>
              </a:r>
            </a:p>
            <a:p>
              <a:r>
                <a:rPr lang="en-US" sz="1200" dirty="0"/>
                <a:t>Interrupt re-entry circuit / adenosine </a:t>
              </a:r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262DE206-DBD8-4677-B821-DBE451D6B2A2}"/>
                </a:ext>
              </a:extLst>
            </p:cNvPr>
            <p:cNvCxnSpPr>
              <a:cxnSpLocks/>
              <a:stCxn id="12" idx="1"/>
              <a:endCxn id="164" idx="3"/>
            </p:cNvCxnSpPr>
            <p:nvPr/>
          </p:nvCxnSpPr>
          <p:spPr>
            <a:xfrm flipH="1">
              <a:off x="2590834" y="1309670"/>
              <a:ext cx="791935" cy="20198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AVRT detail">
            <a:extLst>
              <a:ext uri="{FF2B5EF4-FFF2-40B4-BE49-F238E27FC236}">
                <a16:creationId xmlns:a16="http://schemas.microsoft.com/office/drawing/2014/main" id="{5D5CE1DA-2AA3-4102-9F1A-0298B91E4205}"/>
              </a:ext>
            </a:extLst>
          </p:cNvPr>
          <p:cNvGrpSpPr/>
          <p:nvPr/>
        </p:nvGrpSpPr>
        <p:grpSpPr>
          <a:xfrm>
            <a:off x="93199" y="3352878"/>
            <a:ext cx="3306815" cy="760187"/>
            <a:chOff x="104774" y="2193753"/>
            <a:chExt cx="3337523" cy="760187"/>
          </a:xfrm>
        </p:grpSpPr>
        <p:sp>
          <p:nvSpPr>
            <p:cNvPr id="167" name="AT detail">
              <a:extLst>
                <a:ext uri="{FF2B5EF4-FFF2-40B4-BE49-F238E27FC236}">
                  <a16:creationId xmlns:a16="http://schemas.microsoft.com/office/drawing/2014/main" id="{AC618006-7DAC-47AA-B9AF-B9EA4E6ACFB8}"/>
                </a:ext>
              </a:extLst>
            </p:cNvPr>
            <p:cNvSpPr txBox="1"/>
            <p:nvPr/>
          </p:nvSpPr>
          <p:spPr>
            <a:xfrm>
              <a:off x="104774" y="2193753"/>
              <a:ext cx="2513103" cy="738664"/>
            </a:xfrm>
            <a:prstGeom prst="rect">
              <a:avLst/>
            </a:prstGeom>
            <a:ln w="19050">
              <a:solidFill>
                <a:srgbClr val="FF3399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AVRT</a:t>
              </a:r>
            </a:p>
            <a:p>
              <a:r>
                <a:rPr lang="en-US" sz="1200" dirty="0"/>
                <a:t>Regular, no sinus P wave, “delta”</a:t>
              </a:r>
            </a:p>
            <a:p>
              <a:r>
                <a:rPr lang="en-US" sz="1200" dirty="0"/>
                <a:t>Interrupt re-entry circuit / adenosine </a:t>
              </a:r>
            </a:p>
          </p:txBody>
        </p: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FE3AD8EF-C1D0-4B3C-B102-503E82CC70CF}"/>
                </a:ext>
              </a:extLst>
            </p:cNvPr>
            <p:cNvCxnSpPr>
              <a:cxnSpLocks/>
              <a:stCxn id="14" idx="1"/>
              <a:endCxn id="167" idx="3"/>
            </p:cNvCxnSpPr>
            <p:nvPr/>
          </p:nvCxnSpPr>
          <p:spPr>
            <a:xfrm flipH="1">
              <a:off x="2617877" y="2239120"/>
              <a:ext cx="811261" cy="323965"/>
            </a:xfrm>
            <a:prstGeom prst="straightConnector1">
              <a:avLst/>
            </a:prstGeom>
            <a:ln w="19050"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CE45F2D4-F9E0-42A6-B3BA-5267E058B6A9}"/>
                </a:ext>
              </a:extLst>
            </p:cNvPr>
            <p:cNvCxnSpPr>
              <a:cxnSpLocks/>
              <a:stCxn id="197" idx="1"/>
              <a:endCxn id="167" idx="3"/>
            </p:cNvCxnSpPr>
            <p:nvPr/>
          </p:nvCxnSpPr>
          <p:spPr>
            <a:xfrm flipH="1" flipV="1">
              <a:off x="2617877" y="2563085"/>
              <a:ext cx="824420" cy="390855"/>
            </a:xfrm>
            <a:prstGeom prst="straightConnector1">
              <a:avLst/>
            </a:prstGeom>
            <a:ln w="19050"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AFlutter detail">
            <a:extLst>
              <a:ext uri="{FF2B5EF4-FFF2-40B4-BE49-F238E27FC236}">
                <a16:creationId xmlns:a16="http://schemas.microsoft.com/office/drawing/2014/main" id="{65F7F40A-2B63-42E6-B348-B9DB20DA61E5}"/>
              </a:ext>
            </a:extLst>
          </p:cNvPr>
          <p:cNvGrpSpPr/>
          <p:nvPr/>
        </p:nvGrpSpPr>
        <p:grpSpPr>
          <a:xfrm>
            <a:off x="101655" y="4240249"/>
            <a:ext cx="3304056" cy="746556"/>
            <a:chOff x="77544" y="2276593"/>
            <a:chExt cx="3304056" cy="519884"/>
          </a:xfrm>
        </p:grpSpPr>
        <p:sp>
          <p:nvSpPr>
            <p:cNvPr id="170" name="AT detail">
              <a:extLst>
                <a:ext uri="{FF2B5EF4-FFF2-40B4-BE49-F238E27FC236}">
                  <a16:creationId xmlns:a16="http://schemas.microsoft.com/office/drawing/2014/main" id="{2B9906BA-C101-48D5-A94C-C352C6098192}"/>
                </a:ext>
              </a:extLst>
            </p:cNvPr>
            <p:cNvSpPr txBox="1"/>
            <p:nvPr/>
          </p:nvSpPr>
          <p:spPr>
            <a:xfrm>
              <a:off x="77544" y="2276593"/>
              <a:ext cx="2489132" cy="514388"/>
            </a:xfrm>
            <a:prstGeom prst="rect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Atrial Flutter</a:t>
              </a:r>
            </a:p>
            <a:p>
              <a:r>
                <a:rPr lang="en-US" sz="1200" dirty="0"/>
                <a:t>Regular or irregular, “saw tooth” p</a:t>
              </a:r>
            </a:p>
            <a:p>
              <a:r>
                <a:rPr lang="en-US" sz="1200" dirty="0"/>
                <a:t>Rate control</a:t>
              </a:r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DC91AE98-481E-45E1-9ED9-99B7591A0E28}"/>
                </a:ext>
              </a:extLst>
            </p:cNvPr>
            <p:cNvCxnSpPr>
              <a:cxnSpLocks/>
              <a:stCxn id="16" idx="1"/>
              <a:endCxn id="170" idx="3"/>
            </p:cNvCxnSpPr>
            <p:nvPr/>
          </p:nvCxnSpPr>
          <p:spPr>
            <a:xfrm flipH="1" flipV="1">
              <a:off x="2566676" y="2533787"/>
              <a:ext cx="814924" cy="26269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AFib detail">
            <a:extLst>
              <a:ext uri="{FF2B5EF4-FFF2-40B4-BE49-F238E27FC236}">
                <a16:creationId xmlns:a16="http://schemas.microsoft.com/office/drawing/2014/main" id="{10665437-DC9B-4A1F-A045-6CA6572E3E34}"/>
              </a:ext>
            </a:extLst>
          </p:cNvPr>
          <p:cNvGrpSpPr/>
          <p:nvPr/>
        </p:nvGrpSpPr>
        <p:grpSpPr>
          <a:xfrm>
            <a:off x="115821" y="5121648"/>
            <a:ext cx="3271155" cy="738664"/>
            <a:chOff x="89320" y="4073437"/>
            <a:chExt cx="3317022" cy="737057"/>
          </a:xfrm>
        </p:grpSpPr>
        <p:sp>
          <p:nvSpPr>
            <p:cNvPr id="173" name="AT detail">
              <a:extLst>
                <a:ext uri="{FF2B5EF4-FFF2-40B4-BE49-F238E27FC236}">
                  <a16:creationId xmlns:a16="http://schemas.microsoft.com/office/drawing/2014/main" id="{386C9883-FED3-4E7E-9757-882F858017D4}"/>
                </a:ext>
              </a:extLst>
            </p:cNvPr>
            <p:cNvSpPr txBox="1"/>
            <p:nvPr/>
          </p:nvSpPr>
          <p:spPr>
            <a:xfrm>
              <a:off x="89320" y="4073437"/>
              <a:ext cx="2524033" cy="737057"/>
            </a:xfrm>
            <a:prstGeom prst="rect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Atrial Fibrillation</a:t>
              </a:r>
            </a:p>
            <a:p>
              <a:r>
                <a:rPr lang="en-US" sz="1200" dirty="0"/>
                <a:t>Irregularly irregular, no ‘p’ waves</a:t>
              </a:r>
            </a:p>
            <a:p>
              <a:r>
                <a:rPr lang="en-US" sz="1200" dirty="0"/>
                <a:t>Rate control</a:t>
              </a: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4076DDA2-261A-428F-8086-BCF67EB117F4}"/>
                </a:ext>
              </a:extLst>
            </p:cNvPr>
            <p:cNvCxnSpPr>
              <a:cxnSpLocks/>
              <a:stCxn id="18" idx="1"/>
              <a:endCxn id="173" idx="3"/>
            </p:cNvCxnSpPr>
            <p:nvPr/>
          </p:nvCxnSpPr>
          <p:spPr>
            <a:xfrm flipH="1" flipV="1">
              <a:off x="2613353" y="4441966"/>
              <a:ext cx="792989" cy="230849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MAT detail">
            <a:extLst>
              <a:ext uri="{FF2B5EF4-FFF2-40B4-BE49-F238E27FC236}">
                <a16:creationId xmlns:a16="http://schemas.microsoft.com/office/drawing/2014/main" id="{153EA9AB-79B2-49D8-AD4C-BDB478050BC6}"/>
              </a:ext>
            </a:extLst>
          </p:cNvPr>
          <p:cNvGrpSpPr/>
          <p:nvPr/>
        </p:nvGrpSpPr>
        <p:grpSpPr>
          <a:xfrm>
            <a:off x="104881" y="6040977"/>
            <a:ext cx="3272764" cy="738663"/>
            <a:chOff x="97154" y="1763567"/>
            <a:chExt cx="3272764" cy="129140"/>
          </a:xfrm>
        </p:grpSpPr>
        <p:sp>
          <p:nvSpPr>
            <p:cNvPr id="178" name="AT detail">
              <a:extLst>
                <a:ext uri="{FF2B5EF4-FFF2-40B4-BE49-F238E27FC236}">
                  <a16:creationId xmlns:a16="http://schemas.microsoft.com/office/drawing/2014/main" id="{22C48F3B-3640-40E7-9792-BAE4D319EA7A}"/>
                </a:ext>
              </a:extLst>
            </p:cNvPr>
            <p:cNvSpPr txBox="1"/>
            <p:nvPr/>
          </p:nvSpPr>
          <p:spPr>
            <a:xfrm>
              <a:off x="97154" y="1763567"/>
              <a:ext cx="2478299" cy="129140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Multifocal Atrial Tachycardia </a:t>
              </a:r>
            </a:p>
            <a:p>
              <a:r>
                <a:rPr lang="en-US" sz="1200" dirty="0"/>
                <a:t>Irregular, multiple ‘p’ morphologies</a:t>
              </a:r>
            </a:p>
            <a:p>
              <a:r>
                <a:rPr lang="en-US" sz="1200" dirty="0"/>
                <a:t>Address underlying process</a:t>
              </a:r>
            </a:p>
          </p:txBody>
        </p: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94D05CEA-2CE5-40B9-9E96-7CDED7B4E18A}"/>
                </a:ext>
              </a:extLst>
            </p:cNvPr>
            <p:cNvCxnSpPr>
              <a:cxnSpLocks/>
              <a:stCxn id="20" idx="1"/>
              <a:endCxn id="178" idx="3"/>
            </p:cNvCxnSpPr>
            <p:nvPr/>
          </p:nvCxnSpPr>
          <p:spPr>
            <a:xfrm flipH="1" flipV="1">
              <a:off x="2575453" y="1828137"/>
              <a:ext cx="794465" cy="1585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ST detail">
            <a:extLst>
              <a:ext uri="{FF2B5EF4-FFF2-40B4-BE49-F238E27FC236}">
                <a16:creationId xmlns:a16="http://schemas.microsoft.com/office/drawing/2014/main" id="{911C5416-AD69-4198-8271-5B4FBCC561B2}"/>
              </a:ext>
            </a:extLst>
          </p:cNvPr>
          <p:cNvGrpSpPr/>
          <p:nvPr/>
        </p:nvGrpSpPr>
        <p:grpSpPr>
          <a:xfrm>
            <a:off x="94586" y="752560"/>
            <a:ext cx="3273884" cy="738664"/>
            <a:chOff x="94586" y="756245"/>
            <a:chExt cx="3273884" cy="738664"/>
          </a:xfrm>
        </p:grpSpPr>
        <p:sp>
          <p:nvSpPr>
            <p:cNvPr id="188" name="ST detail">
              <a:extLst>
                <a:ext uri="{FF2B5EF4-FFF2-40B4-BE49-F238E27FC236}">
                  <a16:creationId xmlns:a16="http://schemas.microsoft.com/office/drawing/2014/main" id="{F58810C0-2470-463F-A72E-D4B410BA0E9E}"/>
                </a:ext>
              </a:extLst>
            </p:cNvPr>
            <p:cNvSpPr txBox="1"/>
            <p:nvPr/>
          </p:nvSpPr>
          <p:spPr>
            <a:xfrm>
              <a:off x="94586" y="756245"/>
              <a:ext cx="2493337" cy="738664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Sinus Tachycardia</a:t>
              </a:r>
            </a:p>
            <a:p>
              <a:r>
                <a:rPr lang="en-US" sz="1200" dirty="0"/>
                <a:t>Regular rhythm, normal P waves</a:t>
              </a:r>
            </a:p>
            <a:p>
              <a:r>
                <a:rPr lang="en-US" sz="1200" dirty="0"/>
                <a:t>Identify/address underlying process</a:t>
              </a:r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3128B174-629F-452B-8AD8-D83FE029443C}"/>
                </a:ext>
              </a:extLst>
            </p:cNvPr>
            <p:cNvCxnSpPr>
              <a:cxnSpLocks/>
              <a:stCxn id="6" idx="1"/>
              <a:endCxn id="188" idx="3"/>
            </p:cNvCxnSpPr>
            <p:nvPr/>
          </p:nvCxnSpPr>
          <p:spPr>
            <a:xfrm flipH="1">
              <a:off x="2587923" y="1124606"/>
              <a:ext cx="780547" cy="971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click to reveal">
            <a:extLst>
              <a:ext uri="{FF2B5EF4-FFF2-40B4-BE49-F238E27FC236}">
                <a16:creationId xmlns:a16="http://schemas.microsoft.com/office/drawing/2014/main" id="{E06A1A9E-11F2-4993-BD93-A3BE62F62FB5}"/>
              </a:ext>
            </a:extLst>
          </p:cNvPr>
          <p:cNvGrpSpPr/>
          <p:nvPr/>
        </p:nvGrpSpPr>
        <p:grpSpPr>
          <a:xfrm>
            <a:off x="256725" y="1242173"/>
            <a:ext cx="3148986" cy="5066958"/>
            <a:chOff x="256725" y="1242173"/>
            <a:chExt cx="3148986" cy="5066958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AA37F082-E393-4A3E-9A13-F7A2470975BA}"/>
                </a:ext>
              </a:extLst>
            </p:cNvPr>
            <p:cNvSpPr txBox="1"/>
            <p:nvPr/>
          </p:nvSpPr>
          <p:spPr>
            <a:xfrm>
              <a:off x="256725" y="3069095"/>
              <a:ext cx="1166222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CLICK</a:t>
              </a:r>
              <a:r>
                <a:rPr lang="en-US" dirty="0">
                  <a:solidFill>
                    <a:srgbClr val="FF0000"/>
                  </a:solidFill>
                </a:rPr>
                <a:t> to </a:t>
              </a:r>
              <a:r>
                <a:rPr lang="en-US" b="1" dirty="0">
                  <a:solidFill>
                    <a:srgbClr val="FF0000"/>
                  </a:solidFill>
                </a:rPr>
                <a:t>REVEAL</a:t>
              </a:r>
              <a:r>
                <a:rPr lang="en-US" dirty="0">
                  <a:solidFill>
                    <a:srgbClr val="FF0000"/>
                  </a:solidFill>
                </a:rPr>
                <a:t> and </a:t>
              </a:r>
              <a:r>
                <a:rPr lang="en-US" b="1" dirty="0">
                  <a:solidFill>
                    <a:srgbClr val="FF0000"/>
                  </a:solidFill>
                </a:rPr>
                <a:t>HIDE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51889600-6859-4BAC-A645-F8FAF2A6C60F}"/>
                </a:ext>
              </a:extLst>
            </p:cNvPr>
            <p:cNvCxnSpPr>
              <a:cxnSpLocks/>
              <a:stCxn id="193" idx="3"/>
            </p:cNvCxnSpPr>
            <p:nvPr/>
          </p:nvCxnSpPr>
          <p:spPr>
            <a:xfrm flipV="1">
              <a:off x="1422947" y="1242173"/>
              <a:ext cx="1954698" cy="22885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E6943EBA-8785-4AD4-93B5-BC11038F129D}"/>
                </a:ext>
              </a:extLst>
            </p:cNvPr>
            <p:cNvCxnSpPr>
              <a:cxnSpLocks/>
              <a:stCxn id="193" idx="3"/>
            </p:cNvCxnSpPr>
            <p:nvPr/>
          </p:nvCxnSpPr>
          <p:spPr>
            <a:xfrm flipV="1">
              <a:off x="1422947" y="1943591"/>
              <a:ext cx="1954698" cy="15871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E6E3DC63-7D85-4C8F-87E1-CB3190D7A833}"/>
                </a:ext>
              </a:extLst>
            </p:cNvPr>
            <p:cNvCxnSpPr>
              <a:cxnSpLocks/>
              <a:stCxn id="193" idx="3"/>
              <a:endCxn id="12" idx="1"/>
            </p:cNvCxnSpPr>
            <p:nvPr/>
          </p:nvCxnSpPr>
          <p:spPr>
            <a:xfrm flipV="1">
              <a:off x="1422947" y="2618870"/>
              <a:ext cx="1954698" cy="9118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B8EFC7D3-2E40-4B79-A81B-32CBA5F69A93}"/>
                </a:ext>
              </a:extLst>
            </p:cNvPr>
            <p:cNvCxnSpPr>
              <a:cxnSpLocks/>
              <a:stCxn id="193" idx="3"/>
              <a:endCxn id="14" idx="1"/>
            </p:cNvCxnSpPr>
            <p:nvPr/>
          </p:nvCxnSpPr>
          <p:spPr>
            <a:xfrm flipV="1">
              <a:off x="1422947" y="3398245"/>
              <a:ext cx="1964029" cy="1325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07AC35EC-A737-410B-882C-8C60E1DBF9E8}"/>
                </a:ext>
              </a:extLst>
            </p:cNvPr>
            <p:cNvCxnSpPr>
              <a:cxnSpLocks/>
              <a:stCxn id="193" idx="3"/>
              <a:endCxn id="16" idx="1"/>
            </p:cNvCxnSpPr>
            <p:nvPr/>
          </p:nvCxnSpPr>
          <p:spPr>
            <a:xfrm>
              <a:off x="1422947" y="3530760"/>
              <a:ext cx="1982764" cy="1456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142EC00-2C87-4957-AA02-DECE001F608F}"/>
                </a:ext>
              </a:extLst>
            </p:cNvPr>
            <p:cNvCxnSpPr>
              <a:cxnSpLocks/>
              <a:stCxn id="193" idx="3"/>
              <a:endCxn id="18" idx="1"/>
            </p:cNvCxnSpPr>
            <p:nvPr/>
          </p:nvCxnSpPr>
          <p:spPr>
            <a:xfrm>
              <a:off x="1422947" y="3530760"/>
              <a:ext cx="1964029" cy="219157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C4E3969-3C0A-4A10-A3E6-ED8CE5A15F56}"/>
                </a:ext>
              </a:extLst>
            </p:cNvPr>
            <p:cNvCxnSpPr>
              <a:cxnSpLocks/>
              <a:stCxn id="193" idx="3"/>
            </p:cNvCxnSpPr>
            <p:nvPr/>
          </p:nvCxnSpPr>
          <p:spPr>
            <a:xfrm>
              <a:off x="1422947" y="3530760"/>
              <a:ext cx="1954698" cy="27783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5961E825-23B0-4B9B-A4E7-34C854FF25EB}"/>
                </a:ext>
              </a:extLst>
            </p:cNvPr>
            <p:cNvCxnSpPr>
              <a:cxnSpLocks/>
              <a:endCxn id="197" idx="1"/>
            </p:cNvCxnSpPr>
            <p:nvPr/>
          </p:nvCxnSpPr>
          <p:spPr>
            <a:xfrm>
              <a:off x="1497357" y="3531608"/>
              <a:ext cx="1902657" cy="5814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Irregular">
            <a:extLst>
              <a:ext uri="{FF2B5EF4-FFF2-40B4-BE49-F238E27FC236}">
                <a16:creationId xmlns:a16="http://schemas.microsoft.com/office/drawing/2014/main" id="{80777345-3407-4BA9-BB8A-1AD0D17FDAB7}"/>
              </a:ext>
            </a:extLst>
          </p:cNvPr>
          <p:cNvSpPr txBox="1"/>
          <p:nvPr/>
        </p:nvSpPr>
        <p:spPr>
          <a:xfrm rot="16200000">
            <a:off x="2490181" y="5450511"/>
            <a:ext cx="8965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Irregular</a:t>
            </a:r>
          </a:p>
        </p:txBody>
      </p:sp>
      <p:sp>
        <p:nvSpPr>
          <p:cNvPr id="40" name="Regular">
            <a:extLst>
              <a:ext uri="{FF2B5EF4-FFF2-40B4-BE49-F238E27FC236}">
                <a16:creationId xmlns:a16="http://schemas.microsoft.com/office/drawing/2014/main" id="{1E474300-004C-428B-BFFC-D2BAD4C5F22E}"/>
              </a:ext>
            </a:extLst>
          </p:cNvPr>
          <p:cNvSpPr txBox="1"/>
          <p:nvPr/>
        </p:nvSpPr>
        <p:spPr>
          <a:xfrm rot="16200000">
            <a:off x="2530773" y="2874175"/>
            <a:ext cx="73866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Regular</a:t>
            </a:r>
          </a:p>
        </p:txBody>
      </p:sp>
      <p:grpSp>
        <p:nvGrpSpPr>
          <p:cNvPr id="203" name="AFlutter rhythm">
            <a:extLst>
              <a:ext uri="{FF2B5EF4-FFF2-40B4-BE49-F238E27FC236}">
                <a16:creationId xmlns:a16="http://schemas.microsoft.com/office/drawing/2014/main" id="{246D0EA8-9781-46D1-B29C-61BE4112043E}"/>
              </a:ext>
            </a:extLst>
          </p:cNvPr>
          <p:cNvGrpSpPr/>
          <p:nvPr/>
        </p:nvGrpSpPr>
        <p:grpSpPr>
          <a:xfrm>
            <a:off x="3930289" y="4576080"/>
            <a:ext cx="3673823" cy="1104687"/>
            <a:chOff x="3909113" y="4605368"/>
            <a:chExt cx="3673823" cy="1104687"/>
          </a:xfrm>
        </p:grpSpPr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010E592A-744F-4CB9-9E65-68B499DF9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09113" y="4672440"/>
              <a:ext cx="3673823" cy="744952"/>
            </a:xfrm>
            <a:prstGeom prst="rect">
              <a:avLst/>
            </a:prstGeom>
          </p:spPr>
        </p:pic>
        <p:grpSp>
          <p:nvGrpSpPr>
            <p:cNvPr id="205" name="AFlutter rhythm">
              <a:extLst>
                <a:ext uri="{FF2B5EF4-FFF2-40B4-BE49-F238E27FC236}">
                  <a16:creationId xmlns:a16="http://schemas.microsoft.com/office/drawing/2014/main" id="{372559A4-7143-4F9D-9171-BCD310606BAD}"/>
                </a:ext>
              </a:extLst>
            </p:cNvPr>
            <p:cNvGrpSpPr/>
            <p:nvPr/>
          </p:nvGrpSpPr>
          <p:grpSpPr>
            <a:xfrm>
              <a:off x="4770129" y="4605368"/>
              <a:ext cx="2448201" cy="1104687"/>
              <a:chOff x="3880842" y="2268204"/>
              <a:chExt cx="2448201" cy="1104687"/>
            </a:xfrm>
          </p:grpSpPr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1FE07A4F-59D8-41AD-8310-F7A4078EA9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51941" y="2884975"/>
                <a:ext cx="10" cy="25733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4DCD209-05E2-4060-BB39-FA83CB0F6CBE}"/>
                  </a:ext>
                </a:extLst>
              </p:cNvPr>
              <p:cNvSpPr txBox="1"/>
              <p:nvPr/>
            </p:nvSpPr>
            <p:spPr>
              <a:xfrm>
                <a:off x="4846016" y="2275764"/>
                <a:ext cx="619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4:1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ED9B439-F1BE-4719-9648-495B121F3A62}"/>
                  </a:ext>
                </a:extLst>
              </p:cNvPr>
              <p:cNvSpPr txBox="1"/>
              <p:nvPr/>
            </p:nvSpPr>
            <p:spPr>
              <a:xfrm>
                <a:off x="3880842" y="2269842"/>
                <a:ext cx="619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5:1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1F0EAD65-2710-4A19-94CF-4323EAA9A020}"/>
                  </a:ext>
                </a:extLst>
              </p:cNvPr>
              <p:cNvSpPr txBox="1"/>
              <p:nvPr/>
            </p:nvSpPr>
            <p:spPr>
              <a:xfrm>
                <a:off x="5709967" y="2268204"/>
                <a:ext cx="619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4:1</a:t>
                </a:r>
              </a:p>
            </p:txBody>
          </p:sp>
          <p:cxnSp>
            <p:nvCxnSpPr>
              <p:cNvPr id="217" name="Straight Arrow Connector 216">
                <a:extLst>
                  <a:ext uri="{FF2B5EF4-FFF2-40B4-BE49-F238E27FC236}">
                    <a16:creationId xmlns:a16="http://schemas.microsoft.com/office/drawing/2014/main" id="{E390C544-42DD-427D-94E5-7105DA7D33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75786" y="2878487"/>
                <a:ext cx="10" cy="25733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7A448D4C-1BBB-4FE6-BAD3-857E61D05706}"/>
                  </a:ext>
                </a:extLst>
              </p:cNvPr>
              <p:cNvSpPr txBox="1"/>
              <p:nvPr/>
            </p:nvSpPr>
            <p:spPr>
              <a:xfrm>
                <a:off x="4538751" y="3095892"/>
                <a:ext cx="17396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Atrial rate of 300bpm</a:t>
                </a:r>
              </a:p>
            </p:txBody>
          </p:sp>
        </p:grpSp>
      </p:grpSp>
      <p:pic>
        <p:nvPicPr>
          <p:cNvPr id="150" name="Sinus tach rhythm" descr="A screen shot of a fence&#10;&#10;Description automatically generated">
            <a:extLst>
              <a:ext uri="{FF2B5EF4-FFF2-40B4-BE49-F238E27FC236}">
                <a16:creationId xmlns:a16="http://schemas.microsoft.com/office/drawing/2014/main" id="{AEAC538A-9CA8-4038-B6D4-A0C88E87DA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1291" y="801768"/>
            <a:ext cx="2362200" cy="695325"/>
          </a:xfrm>
          <a:prstGeom prst="rect">
            <a:avLst/>
          </a:prstGeom>
        </p:spPr>
      </p:pic>
      <p:sp>
        <p:nvSpPr>
          <p:cNvPr id="197" name="AVRT antidromic button">
            <a:extLst>
              <a:ext uri="{FF2B5EF4-FFF2-40B4-BE49-F238E27FC236}">
                <a16:creationId xmlns:a16="http://schemas.microsoft.com/office/drawing/2014/main" id="{C6E8C934-9F2A-4C9D-B143-626A38F34EB3}"/>
              </a:ext>
            </a:extLst>
          </p:cNvPr>
          <p:cNvSpPr/>
          <p:nvPr/>
        </p:nvSpPr>
        <p:spPr>
          <a:xfrm>
            <a:off x="3400014" y="3941376"/>
            <a:ext cx="433107" cy="34337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339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4b</a:t>
            </a:r>
          </a:p>
        </p:txBody>
      </p:sp>
      <p:sp>
        <p:nvSpPr>
          <p:cNvPr id="202" name="AVRT text">
            <a:extLst>
              <a:ext uri="{FF2B5EF4-FFF2-40B4-BE49-F238E27FC236}">
                <a16:creationId xmlns:a16="http://schemas.microsoft.com/office/drawing/2014/main" id="{F704F24D-2661-4170-A165-D2560C7CE1BB}"/>
              </a:ext>
            </a:extLst>
          </p:cNvPr>
          <p:cNvSpPr txBox="1"/>
          <p:nvPr/>
        </p:nvSpPr>
        <p:spPr>
          <a:xfrm>
            <a:off x="3847540" y="3895248"/>
            <a:ext cx="4336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Atrioventricular Re-entry Tachycardia </a:t>
            </a:r>
          </a:p>
          <a:p>
            <a:r>
              <a:rPr lang="en-US" sz="1200" dirty="0"/>
              <a:t>(AVRT) - Antidromic</a:t>
            </a:r>
          </a:p>
        </p:txBody>
      </p:sp>
      <p:pic>
        <p:nvPicPr>
          <p:cNvPr id="48" name="Afib rhythm">
            <a:extLst>
              <a:ext uri="{FF2B5EF4-FFF2-40B4-BE49-F238E27FC236}">
                <a16:creationId xmlns:a16="http://schemas.microsoft.com/office/drawing/2014/main" id="{B6EE6A97-52DB-4B6A-A3EE-F6599F206F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0241" y="5456715"/>
            <a:ext cx="4162425" cy="666750"/>
          </a:xfrm>
          <a:prstGeom prst="rect">
            <a:avLst/>
          </a:prstGeom>
        </p:spPr>
      </p:pic>
      <p:grpSp>
        <p:nvGrpSpPr>
          <p:cNvPr id="100" name="AVRT ortho pre-A  rhythm">
            <a:extLst>
              <a:ext uri="{FF2B5EF4-FFF2-40B4-BE49-F238E27FC236}">
                <a16:creationId xmlns:a16="http://schemas.microsoft.com/office/drawing/2014/main" id="{AB14955A-F3CF-4597-B282-CC636A329D82}"/>
              </a:ext>
            </a:extLst>
          </p:cNvPr>
          <p:cNvGrpSpPr/>
          <p:nvPr/>
        </p:nvGrpSpPr>
        <p:grpSpPr>
          <a:xfrm>
            <a:off x="3885295" y="3024464"/>
            <a:ext cx="4108093" cy="691995"/>
            <a:chOff x="3885295" y="2978744"/>
            <a:chExt cx="4108093" cy="691995"/>
          </a:xfrm>
        </p:grpSpPr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B8542895-E4B7-4455-9F6E-744604C6CD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85295" y="3039783"/>
              <a:ext cx="2527012" cy="630956"/>
            </a:xfrm>
            <a:prstGeom prst="rect">
              <a:avLst/>
            </a:prstGeom>
          </p:spPr>
        </p:pic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AC2B0534-AC2B-4697-B0AE-9A6F230A2601}"/>
                </a:ext>
              </a:extLst>
            </p:cNvPr>
            <p:cNvCxnSpPr>
              <a:cxnSpLocks/>
              <a:stCxn id="158" idx="1"/>
            </p:cNvCxnSpPr>
            <p:nvPr/>
          </p:nvCxnSpPr>
          <p:spPr>
            <a:xfrm flipH="1">
              <a:off x="5954338" y="3351543"/>
              <a:ext cx="384991" cy="190249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163292EF-E153-47E0-BF7B-939127C5C00A}"/>
                </a:ext>
              </a:extLst>
            </p:cNvPr>
            <p:cNvSpPr txBox="1"/>
            <p:nvPr/>
          </p:nvSpPr>
          <p:spPr>
            <a:xfrm>
              <a:off x="6339329" y="3120710"/>
              <a:ext cx="165405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Inverted “retro-P” with short R-P interval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4041E7D-B971-4ADE-A39E-74A840990558}"/>
                </a:ext>
              </a:extLst>
            </p:cNvPr>
            <p:cNvSpPr txBox="1"/>
            <p:nvPr/>
          </p:nvSpPr>
          <p:spPr>
            <a:xfrm>
              <a:off x="4150710" y="2978744"/>
              <a:ext cx="2050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/>
                <a:t>Orthodromic</a:t>
              </a:r>
              <a:r>
                <a:rPr lang="en-US" sz="1200" b="1" dirty="0"/>
                <a:t> Pre-adenosine</a:t>
              </a:r>
            </a:p>
          </p:txBody>
        </p:sp>
      </p:grpSp>
      <p:grpSp>
        <p:nvGrpSpPr>
          <p:cNvPr id="101" name="AVRT ortho post-A rhythm">
            <a:extLst>
              <a:ext uri="{FF2B5EF4-FFF2-40B4-BE49-F238E27FC236}">
                <a16:creationId xmlns:a16="http://schemas.microsoft.com/office/drawing/2014/main" id="{0B17513E-EA17-478C-BDDE-AA11163DAB27}"/>
              </a:ext>
            </a:extLst>
          </p:cNvPr>
          <p:cNvGrpSpPr/>
          <p:nvPr/>
        </p:nvGrpSpPr>
        <p:grpSpPr>
          <a:xfrm>
            <a:off x="3911028" y="3848426"/>
            <a:ext cx="4055497" cy="644009"/>
            <a:chOff x="3911028" y="3848426"/>
            <a:chExt cx="4055497" cy="644009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BF283C36-E26A-4347-9F2B-C898C4193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911028" y="3930897"/>
              <a:ext cx="2541654" cy="561538"/>
            </a:xfrm>
            <a:prstGeom prst="rect">
              <a:avLst/>
            </a:prstGeom>
          </p:spPr>
        </p:pic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AC3EF1D4-AF6D-4AD9-A54B-9560A20A41C8}"/>
                </a:ext>
              </a:extLst>
            </p:cNvPr>
            <p:cNvCxnSpPr>
              <a:cxnSpLocks/>
              <a:stCxn id="160" idx="1"/>
            </p:cNvCxnSpPr>
            <p:nvPr/>
          </p:nvCxnSpPr>
          <p:spPr>
            <a:xfrm flipH="1">
              <a:off x="5995494" y="4209350"/>
              <a:ext cx="509793" cy="172577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62ED427-972F-47C4-93C1-B44DD3FA5B33}"/>
                </a:ext>
              </a:extLst>
            </p:cNvPr>
            <p:cNvSpPr txBox="1"/>
            <p:nvPr/>
          </p:nvSpPr>
          <p:spPr>
            <a:xfrm>
              <a:off x="6505287" y="3978517"/>
              <a:ext cx="1461238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Wide QRS, “delta wave”, short P-R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C230799-9455-4D0B-9376-299310A0B398}"/>
                </a:ext>
              </a:extLst>
            </p:cNvPr>
            <p:cNvSpPr txBox="1"/>
            <p:nvPr/>
          </p:nvSpPr>
          <p:spPr>
            <a:xfrm>
              <a:off x="4383024" y="3848426"/>
              <a:ext cx="2374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Post-adenosine (Sinus Rhythm)</a:t>
              </a:r>
            </a:p>
          </p:txBody>
        </p:sp>
      </p:grpSp>
      <p:grpSp>
        <p:nvGrpSpPr>
          <p:cNvPr id="103" name="AVRT anti post-A rhythm">
            <a:extLst>
              <a:ext uri="{FF2B5EF4-FFF2-40B4-BE49-F238E27FC236}">
                <a16:creationId xmlns:a16="http://schemas.microsoft.com/office/drawing/2014/main" id="{84778633-6193-4A39-A8BD-B5C038E08167}"/>
              </a:ext>
            </a:extLst>
          </p:cNvPr>
          <p:cNvGrpSpPr/>
          <p:nvPr/>
        </p:nvGrpSpPr>
        <p:grpSpPr>
          <a:xfrm>
            <a:off x="3923004" y="4675060"/>
            <a:ext cx="4314912" cy="609541"/>
            <a:chOff x="3923004" y="4675060"/>
            <a:chExt cx="4314912" cy="609541"/>
          </a:xfrm>
        </p:grpSpPr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1D001F94-B0E6-452B-968E-D8CFFD8BF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23004" y="4713101"/>
              <a:ext cx="2752725" cy="571500"/>
            </a:xfrm>
            <a:prstGeom prst="rect">
              <a:avLst/>
            </a:prstGeom>
          </p:spPr>
        </p:pic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964D4177-7C2C-46A0-9BA7-0C8734E6615C}"/>
                </a:ext>
              </a:extLst>
            </p:cNvPr>
            <p:cNvCxnSpPr>
              <a:cxnSpLocks/>
              <a:stCxn id="183" idx="1"/>
            </p:cNvCxnSpPr>
            <p:nvPr/>
          </p:nvCxnSpPr>
          <p:spPr>
            <a:xfrm flipH="1">
              <a:off x="5985410" y="5024005"/>
              <a:ext cx="791268" cy="72852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9724593-7A1E-4D20-8389-D88BB82DDF42}"/>
                </a:ext>
              </a:extLst>
            </p:cNvPr>
            <p:cNvSpPr txBox="1"/>
            <p:nvPr/>
          </p:nvSpPr>
          <p:spPr>
            <a:xfrm>
              <a:off x="6776678" y="4793172"/>
              <a:ext cx="1461238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Wide QRS, “delta wave”, short P-R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FF9AF84-ACF5-4710-AE48-4DBFA09C84BE}"/>
                </a:ext>
              </a:extLst>
            </p:cNvPr>
            <p:cNvSpPr txBox="1"/>
            <p:nvPr/>
          </p:nvSpPr>
          <p:spPr>
            <a:xfrm>
              <a:off x="4152908" y="4675060"/>
              <a:ext cx="2374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Post-adenosine (Sinus Rhythm)</a:t>
              </a:r>
            </a:p>
          </p:txBody>
        </p:sp>
      </p:grpSp>
      <p:grpSp>
        <p:nvGrpSpPr>
          <p:cNvPr id="102" name="AVRT anti pre-A rhythm">
            <a:extLst>
              <a:ext uri="{FF2B5EF4-FFF2-40B4-BE49-F238E27FC236}">
                <a16:creationId xmlns:a16="http://schemas.microsoft.com/office/drawing/2014/main" id="{67010B10-475B-45AF-B189-694669E58697}"/>
              </a:ext>
            </a:extLst>
          </p:cNvPr>
          <p:cNvGrpSpPr/>
          <p:nvPr/>
        </p:nvGrpSpPr>
        <p:grpSpPr>
          <a:xfrm>
            <a:off x="3917848" y="3756303"/>
            <a:ext cx="4235952" cy="675757"/>
            <a:chOff x="3917848" y="3809643"/>
            <a:chExt cx="4235952" cy="675757"/>
          </a:xfrm>
        </p:grpSpPr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16D7DC02-ECAA-4210-9E5B-5438A7EE0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17848" y="3895754"/>
              <a:ext cx="2383675" cy="589646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701E34F-71E9-472F-A5F7-F87A1DE0F8F1}"/>
                </a:ext>
              </a:extLst>
            </p:cNvPr>
            <p:cNvSpPr txBox="1"/>
            <p:nvPr/>
          </p:nvSpPr>
          <p:spPr>
            <a:xfrm>
              <a:off x="6499741" y="4004710"/>
              <a:ext cx="165405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Regular, wide complex tachycardia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D3A847F-2E2A-46C7-B14E-3D5155E54D8B}"/>
                </a:ext>
              </a:extLst>
            </p:cNvPr>
            <p:cNvSpPr txBox="1"/>
            <p:nvPr/>
          </p:nvSpPr>
          <p:spPr>
            <a:xfrm>
              <a:off x="4189927" y="3809643"/>
              <a:ext cx="19960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Antidromic Pre-adenosine</a:t>
              </a: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AF200270-5E05-4E72-B942-A21405C15334}"/>
                </a:ext>
              </a:extLst>
            </p:cNvPr>
            <p:cNvCxnSpPr>
              <a:cxnSpLocks/>
              <a:stCxn id="181" idx="1"/>
            </p:cNvCxnSpPr>
            <p:nvPr/>
          </p:nvCxnSpPr>
          <p:spPr>
            <a:xfrm flipH="1" flipV="1">
              <a:off x="5886455" y="4268280"/>
              <a:ext cx="613286" cy="4209"/>
            </a:xfrm>
            <a:prstGeom prst="straightConnector1">
              <a:avLst/>
            </a:prstGeom>
            <a:ln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368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79" grpId="0" animBg="1"/>
      <p:bldP spid="79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Acute management — guideline check &amp; safety pearls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Framework unchanged: </a:t>
            </a:r>
            <a:r>
              <a:rPr sz="1600" b="0">
                <a:solidFill>
                  <a:srgbClr val="1A2433"/>
                </a:solidFill>
                <a:latin typeface="Calibri"/>
              </a:rPr>
              <a:t>the 2015 ACC/AHA/HRS and 2019 ESC SVT guidelines keep the same approach taught here — vagal maneuvers first, then adenosine for regular SVT.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Modified (REVERT) Valsalva: </a:t>
            </a:r>
            <a:r>
              <a:rPr sz="1600" b="0">
                <a:solidFill>
                  <a:srgbClr val="1A2433"/>
                </a:solidFill>
                <a:latin typeface="Calibri"/>
              </a:rPr>
              <a:t>semi-recumbent strain into a 10-mL syringe, then immediately lay flat with passive 45° leg raise — converts ~43% vs ~17% for standard Valsalva. Try it before adenosine.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Adenosine is diagnostic AND therapeutic: </a:t>
            </a:r>
            <a:r>
              <a:rPr sz="1600" b="0">
                <a:solidFill>
                  <a:srgbClr val="1A2433"/>
                </a:solidFill>
                <a:latin typeface="Calibri"/>
              </a:rPr>
              <a:t>terminates AVNRT/AVRT, transiently unmasks atrial flutter/atrial tach (reveals the P waves), and does not convert VT — so a response also helps classify the rhythm.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B00000"/>
                </a:solidFill>
                <a:latin typeface="Calibri"/>
              </a:rPr>
              <a:t>SAFETY — pre-excitation: </a:t>
            </a:r>
            <a:r>
              <a:rPr sz="1600" b="0">
                <a:solidFill>
                  <a:srgbClr val="1A2433"/>
                </a:solidFill>
                <a:latin typeface="Calibri"/>
              </a:rPr>
              <a:t>in pre-excited (WPW) atrial fibrillation — irregular, wide, very fast — AVOID AV-nodal blockers (adenosine, CCB, beta-blocker, digoxin): blocking the node pushes conduction down the accessory pathway and can precipitate VF. Use procainamide or synchronized cardioversion.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A6877"/>
                </a:solidFill>
                <a:latin typeface="Calibri"/>
              </a:rPr>
              <a:t>Unstable at any point → synchronized cardioversion. Source: Page RL et al. 2015 ACC/AHA/HRS SVT Guideline, Circulation 2016;133:e506; Brugada J et al. 2019 ESC SVT Guideline, Eur Heart J 2020;41:655.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•  </a:t>
            </a:r>
            <a:r>
              <a:rPr sz="1500" b="0">
                <a:solidFill>
                  <a:srgbClr val="1A2433"/>
                </a:solidFill>
                <a:latin typeface="Calibri"/>
              </a:rPr>
              <a:t>All tachycardias arise from either increased automaticity (nodal/ectopic pacemaker) or a re-entry circuit — re-entry circuits are generally faster.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•  </a:t>
            </a:r>
            <a:r>
              <a:rPr sz="1500" b="0">
                <a:solidFill>
                  <a:srgbClr val="1A2433"/>
                </a:solidFill>
                <a:latin typeface="Calibri"/>
              </a:rPr>
              <a:t>There are only 7 SVTs; sort them by two features — regular vs. irregular rhythm and the presence/morphology of P waves.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•  </a:t>
            </a:r>
            <a:r>
              <a:rPr sz="1500" b="0">
                <a:solidFill>
                  <a:srgbClr val="1A2433"/>
                </a:solidFill>
                <a:latin typeface="Calibri"/>
              </a:rPr>
              <a:t>Stable SVT is managed three ways: address the underlying process (sinus tach, atrial tach, MAT), interrupt the re-entry circuit with vagal maneuvers/adenosine (AVNRT, AVRT), or rate-control with AV-nodal blockers (AF, atrial flutter).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•  </a:t>
            </a:r>
            <a:r>
              <a:rPr sz="1500" b="0">
                <a:solidFill>
                  <a:srgbClr val="1A2433"/>
                </a:solidFill>
                <a:latin typeface="Calibri"/>
              </a:rPr>
              <a:t>Adenosine reveals the underlying rhythm: it resolves AVNRT/AVRT, unmasks atrial flutter/tach, and does not affect VT.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•  </a:t>
            </a:r>
            <a:r>
              <a:rPr sz="1500" b="0">
                <a:solidFill>
                  <a:srgbClr val="1A2433"/>
                </a:solidFill>
                <a:latin typeface="Calibri"/>
              </a:rPr>
              <a:t>Extreme right-axis deviation (positive in aVR) is a quick, reliable clue for VT — keep it in mind whenever a regular wide-complex tachycardia could be antidromic AVRT vs. VT. Avoid AV-nodal blockers in pre-excited AF.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Adapted from TeachIM.org — "Supraventricular Tachycardia (SVT)" </a:t>
            </a:r>
            <a:r>
              <a:rPr sz="1600" b="0">
                <a:solidFill>
                  <a:srgbClr val="1A2433"/>
                </a:solidFill>
                <a:latin typeface="Calibri"/>
              </a:rPr>
              <a:t>(Brandon Fainstad, MD; expert review Zach Goldberger, MD).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2433"/>
                </a:solidFill>
                <a:latin typeface="Calibri"/>
              </a:rPr>
              <a:t>Files: presenter board SVT-interactive-board-for-presenting-1.pptx; companions SVT-interactive-board-for-learning.pptx, SVT-Practice-ECGs.pptx, SVT-learner-handout-1.pdf, SVTs-handout-1.pdf.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License: </a:t>
            </a:r>
            <a:r>
              <a:rPr sz="1200" b="0">
                <a:solidFill>
                  <a:srgbClr val="1A2433"/>
                </a:solidFill>
                <a:latin typeface="Calibri"/>
              </a:rPr>
              <a:t>Creative Commons Attribution-NonCommercial 4.0 (CC BY-NC 4.0). Non-commercial, educational use only; not medical advice.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Optimization (June 2026): </a:t>
            </a:r>
            <a:r>
              <a:rPr sz="1200" b="0">
                <a:solidFill>
                  <a:srgbClr val="1A2433"/>
                </a:solidFill>
                <a:latin typeface="Calibri"/>
              </a:rPr>
              <a:t>guideline framework verified current (2015 ACC/AHA/HRS, 2019 ESC). Surgical corrections: "Multi-Atrial Tachycardia" → "Multifocal Atrial Tachycardia (MAT)" (standard term for the MAT abbreviation) on the presenter AND learning boards; "Orhtodromic" → "Orthodromic" typo on the presenter board. All graphics and click-to-reveal animations preserved.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Added: </a:t>
            </a:r>
            <a:r>
              <a:rPr sz="1200" b="0">
                <a:solidFill>
                  <a:srgbClr val="1A2433"/>
                </a:solidFill>
                <a:latin typeface="Calibri"/>
              </a:rPr>
              <a:t>acute-management currency/safety slide (modified REVERT Valsalva; pre-excited-AF AV-nodal-blocker caution), this take-home slide, and attribution. Companion package: HTML launcher, one-pager PDF, Anki, ABIM MCQs, dotphrase.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310</Words>
  <Application>Microsoft Office PowerPoint</Application>
  <PresentationFormat>Widescreen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19</cp:revision>
  <dcterms:created xsi:type="dcterms:W3CDTF">2019-12-24T21:39:13Z</dcterms:created>
  <dcterms:modified xsi:type="dcterms:W3CDTF">2020-06-12T16:31:26Z</dcterms:modified>
</cp:coreProperties>
</file>