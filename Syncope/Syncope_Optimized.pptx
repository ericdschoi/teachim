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6" r:id="rId2"/>
    <p:sldId id="257" r:id="rId3"/>
    <p:sldId id="268" r:id="rId4"/>
    <p:sldId id="258" r:id="rId5"/>
    <p:sldId id="269" r:id="rId6"/>
    <p:sldId id="270" r:id="rId7"/>
    <p:sldId id="271" r:id="rId8"/>
    <p:sldId id="272" r:id="rId9"/>
    <p:sldId id="273" r:id="rId10"/>
    <p:sldId id="277" r:id="rId11"/>
    <p:sldId id="278" r:id="rId12"/>
    <p:sldId id="279" r:id="rId13"/>
    <p:sldId id="274" r:id="rId14"/>
    <p:sldId id="275" r:id="rId15"/>
    <p:sldId id="280" r:id="rId22"/>
    <p:sldId id="2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D3BF24-6D24-45EA-BC2B-8821EC8663CF}">
          <p14:sldIdLst>
            <p14:sldId id="276"/>
            <p14:sldId id="257"/>
            <p14:sldId id="268"/>
            <p14:sldId id="258"/>
            <p14:sldId id="269"/>
            <p14:sldId id="270"/>
            <p14:sldId id="271"/>
            <p14:sldId id="272"/>
            <p14:sldId id="273"/>
            <p14:sldId id="277"/>
            <p14:sldId id="278"/>
            <p14:sldId id="279"/>
            <p14:sldId id="274"/>
            <p14:sldId id="27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810968-D91D-C19B-3655-B4D2DE7FDBEE}" name="Yilin Zhang" initials="YZ" userId="S::Yilin_Zhang@valleymed.org::40a11026-a9ab-441d-8256-d37e38926e9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B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78537" autoAdjust="0"/>
  </p:normalViewPr>
  <p:slideViewPr>
    <p:cSldViewPr snapToGrid="0" snapToObjects="1">
      <p:cViewPr varScale="1">
        <p:scale>
          <a:sx n="104" d="100"/>
          <a:sy n="104" d="100"/>
        </p:scale>
        <p:origin x="126" y="19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8/10/relationships/authors" Target="authors.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2F9772-13F4-824D-832E-61225648E991}"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D79E9-1178-F343-8994-A25B731455B1}" type="slidenum">
              <a:rPr lang="en-US" smtClean="0"/>
              <a:t>‹#›</a:t>
            </a:fld>
            <a:endParaRPr lang="en-US"/>
          </a:p>
        </p:txBody>
      </p:sp>
    </p:spTree>
    <p:extLst>
      <p:ext uri="{BB962C8B-B14F-4D97-AF65-F5344CB8AC3E}">
        <p14:creationId xmlns:p14="http://schemas.microsoft.com/office/powerpoint/2010/main" val="3894831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0D79E9-1178-F343-8994-A25B731455B1}" type="slidenum">
              <a:rPr lang="en-US" smtClean="0"/>
              <a:t>1</a:t>
            </a:fld>
            <a:endParaRPr lang="en-US"/>
          </a:p>
        </p:txBody>
      </p:sp>
    </p:spTree>
    <p:extLst>
      <p:ext uri="{BB962C8B-B14F-4D97-AF65-F5344CB8AC3E}">
        <p14:creationId xmlns:p14="http://schemas.microsoft.com/office/powerpoint/2010/main" val="4055218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0D79E9-1178-F343-8994-A25B731455B1}" type="slidenum">
              <a:rPr lang="en-US" smtClean="0"/>
              <a:t>2</a:t>
            </a:fld>
            <a:endParaRPr lang="en-US"/>
          </a:p>
        </p:txBody>
      </p:sp>
    </p:spTree>
    <p:extLst>
      <p:ext uri="{BB962C8B-B14F-4D97-AF65-F5344CB8AC3E}">
        <p14:creationId xmlns:p14="http://schemas.microsoft.com/office/powerpoint/2010/main" val="4269791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MAP is the main driver of cerebral perfusion; thus a fall in MAP can lead to syncope. It is important to note that the body senses changes in MAP by close baroreceptor monitoring which then responds by titrating sympathetic and parasympathetic tone to maintain stable CPP.  A derangement in any part of this pathway can lead to syncope.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FF0000"/>
                </a:solidFill>
              </a:rPr>
              <a:t>We will be using this schematic moving forward to understand the causes of syncope and will go over an example of how this pathway works next. </a:t>
            </a:r>
          </a:p>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3</a:t>
            </a:fld>
            <a:endParaRPr lang="en-US"/>
          </a:p>
        </p:txBody>
      </p:sp>
    </p:spTree>
    <p:extLst>
      <p:ext uri="{BB962C8B-B14F-4D97-AF65-F5344CB8AC3E}">
        <p14:creationId xmlns:p14="http://schemas.microsoft.com/office/powerpoint/2010/main" val="208872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MAP is the main driver of cerebral perfusion; thus a fall in MAP can lead to syncope. It is important to note that the body senses changes in MAP by close baroreceptor monitoring which then responds by titrating sympathetic and parasympathetic tone to maintain stable CPP.  A derangement in any part of this pathway can lead to syncope.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FF0000"/>
                </a:solidFill>
              </a:rPr>
              <a:t>We will be using this schematic moving forward to understand the causes of syncope and will go over an example of how this pathway works next. </a:t>
            </a:r>
          </a:p>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4</a:t>
            </a:fld>
            <a:endParaRPr lang="en-US"/>
          </a:p>
        </p:txBody>
      </p:sp>
    </p:spTree>
    <p:extLst>
      <p:ext uri="{BB962C8B-B14F-4D97-AF65-F5344CB8AC3E}">
        <p14:creationId xmlns:p14="http://schemas.microsoft.com/office/powerpoint/2010/main" val="3579682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5</a:t>
            </a:fld>
            <a:endParaRPr lang="en-US"/>
          </a:p>
        </p:txBody>
      </p:sp>
    </p:spTree>
    <p:extLst>
      <p:ext uri="{BB962C8B-B14F-4D97-AF65-F5344CB8AC3E}">
        <p14:creationId xmlns:p14="http://schemas.microsoft.com/office/powerpoint/2010/main" val="3229433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MAP is the main driver of cerebral perfusion; thus a fall in MAP can lead to syncope. It is important to note that the body senses changes in MAP by close baroreceptor monitoring which then responds by titrating sympathetic and parasympathetic tone to maintain stable CPP.  A derangement in any part of this pathway can lead to syncope.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FF0000"/>
                </a:solidFill>
              </a:rPr>
              <a:t>We will be using this schematic moving forward to understand the causes of syncope and will go over an example of how this pathway works next. </a:t>
            </a:r>
          </a:p>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6</a:t>
            </a:fld>
            <a:endParaRPr lang="en-US"/>
          </a:p>
        </p:txBody>
      </p:sp>
    </p:spTree>
    <p:extLst>
      <p:ext uri="{BB962C8B-B14F-4D97-AF65-F5344CB8AC3E}">
        <p14:creationId xmlns:p14="http://schemas.microsoft.com/office/powerpoint/2010/main" val="1483683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7</a:t>
            </a:fld>
            <a:endParaRPr lang="en-US"/>
          </a:p>
        </p:txBody>
      </p:sp>
    </p:spTree>
    <p:extLst>
      <p:ext uri="{BB962C8B-B14F-4D97-AF65-F5344CB8AC3E}">
        <p14:creationId xmlns:p14="http://schemas.microsoft.com/office/powerpoint/2010/main" val="2924551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13</a:t>
            </a:fld>
            <a:endParaRPr lang="en-US"/>
          </a:p>
        </p:txBody>
      </p:sp>
    </p:spTree>
    <p:extLst>
      <p:ext uri="{BB962C8B-B14F-4D97-AF65-F5344CB8AC3E}">
        <p14:creationId xmlns:p14="http://schemas.microsoft.com/office/powerpoint/2010/main" val="4263664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159CAF-D0F6-3F48-BDC9-6C35F143EDE8}" type="slidenum">
              <a:rPr lang="en-US" smtClean="0"/>
              <a:t>14</a:t>
            </a:fld>
            <a:endParaRPr lang="en-US"/>
          </a:p>
        </p:txBody>
      </p:sp>
    </p:spTree>
    <p:extLst>
      <p:ext uri="{BB962C8B-B14F-4D97-AF65-F5344CB8AC3E}">
        <p14:creationId xmlns:p14="http://schemas.microsoft.com/office/powerpoint/2010/main" val="1141978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1961F-44E6-6C4C-B927-E79919DE31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717B8C-66C6-744B-8C1B-05ED91B066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1DBEF2-309B-074B-AA28-E8D97A922F02}"/>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5" name="Footer Placeholder 4">
            <a:extLst>
              <a:ext uri="{FF2B5EF4-FFF2-40B4-BE49-F238E27FC236}">
                <a16:creationId xmlns:a16="http://schemas.microsoft.com/office/drawing/2014/main" id="{50B6D457-2A40-1F44-9317-36C949CCFF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CC64E8-AD68-4A48-899B-F69A3B5CA14B}"/>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4268254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3A291-B4BB-0740-9AF6-7C40180295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A1BC2-1F0C-9045-88CE-CB9B1BA11C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A059D8-FD03-C340-8BE7-A6FA32FCE6DB}"/>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5" name="Footer Placeholder 4">
            <a:extLst>
              <a:ext uri="{FF2B5EF4-FFF2-40B4-BE49-F238E27FC236}">
                <a16:creationId xmlns:a16="http://schemas.microsoft.com/office/drawing/2014/main" id="{B3CDE735-20C6-614F-8A6E-F80FE0EDE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B6A054-2210-5B49-B654-EF5F4C90B41D}"/>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784422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5C0FD-6A0A-6D43-9619-775BC42611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FC6E64-0A04-244B-ACDB-83D1960668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EB4EFC-D9BF-8040-9DB3-98B9618FE98E}"/>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5" name="Footer Placeholder 4">
            <a:extLst>
              <a:ext uri="{FF2B5EF4-FFF2-40B4-BE49-F238E27FC236}">
                <a16:creationId xmlns:a16="http://schemas.microsoft.com/office/drawing/2014/main" id="{1ECF62A2-5EA4-D44A-AAE8-9E89F2E80D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10C06C-C6CF-6146-B1E9-3355330D3F84}"/>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308235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58A9D-062E-034A-9087-37B0B55D0E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D1BF31-D35D-9546-AD32-60A4D1C1C6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6416D8-B536-3440-8FB4-DBA737CD67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E71D88-29F5-1846-A23C-854D3BC52015}"/>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6" name="Footer Placeholder 5">
            <a:extLst>
              <a:ext uri="{FF2B5EF4-FFF2-40B4-BE49-F238E27FC236}">
                <a16:creationId xmlns:a16="http://schemas.microsoft.com/office/drawing/2014/main" id="{E43A9CBB-6A75-D24B-9645-95F06B759A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9DCABE-EC63-324A-9287-8E25A043C9E1}"/>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1409850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7C044-8ACB-7A4E-ADC2-3E592A1544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96287E-B4D6-BA47-8DFB-92CD64499E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000046-3E1E-A649-BEAE-3AB620D2C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33FDB3-F278-584D-8E54-D20445F941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90F86C-9E59-E343-AB0D-9133E092F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A20BE4-F81D-6A4C-92E7-2CAD4146C5B4}"/>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8" name="Footer Placeholder 7">
            <a:extLst>
              <a:ext uri="{FF2B5EF4-FFF2-40B4-BE49-F238E27FC236}">
                <a16:creationId xmlns:a16="http://schemas.microsoft.com/office/drawing/2014/main" id="{34D0CCC9-C0F1-814E-8C04-494672E4AC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B9260C-104F-124D-9294-9641A6D0575E}"/>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2289390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BBBC-217C-8E47-A084-C793A7FEF8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026058-225B-504E-83A3-BFAC2AC8DE99}"/>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4" name="Footer Placeholder 3">
            <a:extLst>
              <a:ext uri="{FF2B5EF4-FFF2-40B4-BE49-F238E27FC236}">
                <a16:creationId xmlns:a16="http://schemas.microsoft.com/office/drawing/2014/main" id="{229ECD01-F341-C847-A6E1-2186A312BF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D325BD-8680-034F-970F-65139A927D9A}"/>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378815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839776-534F-7642-84AC-C8DD55557714}"/>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3" name="Footer Placeholder 2">
            <a:extLst>
              <a:ext uri="{FF2B5EF4-FFF2-40B4-BE49-F238E27FC236}">
                <a16:creationId xmlns:a16="http://schemas.microsoft.com/office/drawing/2014/main" id="{18AFC652-B3A8-7648-B4FE-43F69704DC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8A5E81-3B13-B045-A6F5-7E9082EB7623}"/>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1199161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92409-0CF8-174C-ADD2-F03DD20F00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381B6-949C-EB4B-A687-A4C35177E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4F5152-C860-BA4F-99AC-2E9F8E0CD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2341D4-A8AA-CA45-9A2A-242445E35273}"/>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6" name="Footer Placeholder 5">
            <a:extLst>
              <a:ext uri="{FF2B5EF4-FFF2-40B4-BE49-F238E27FC236}">
                <a16:creationId xmlns:a16="http://schemas.microsoft.com/office/drawing/2014/main" id="{598354CE-9BE7-0C4A-9A3E-FE6EAAEF0D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7C9516-D594-8D41-9179-F048110B60B8}"/>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4214326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01B3-86B4-9546-81FF-C7FC6C6589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53C8C9-DB27-5445-97F3-432C87C99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E1C62D-D8BE-6641-BAD7-3E0D0414D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D50A5B-C0DE-7344-99F7-1B180DF607DA}"/>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6" name="Footer Placeholder 5">
            <a:extLst>
              <a:ext uri="{FF2B5EF4-FFF2-40B4-BE49-F238E27FC236}">
                <a16:creationId xmlns:a16="http://schemas.microsoft.com/office/drawing/2014/main" id="{D48C3BCE-CB5F-304A-A839-A5AF9C35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2AEBA-79A1-9944-A539-959C4D7E986F}"/>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3581924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BD7F2-4C92-3A4C-9A67-8639CEF209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9B4A82-B1DF-6443-A0F7-5A2354CB00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465137-A7FD-454D-B677-58D2230554A5}"/>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5" name="Footer Placeholder 4">
            <a:extLst>
              <a:ext uri="{FF2B5EF4-FFF2-40B4-BE49-F238E27FC236}">
                <a16:creationId xmlns:a16="http://schemas.microsoft.com/office/drawing/2014/main" id="{84D983FD-2C5F-444C-BF61-E6D21AF8E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0432E2-B73A-D345-AC6F-A80F4C62F0A0}"/>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3348055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8EBC93-1097-2141-AF5F-E168797385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29DD4F-C9AB-AA42-942F-8ADBB926DB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7CAF75-440B-BE44-A7A3-2C941A3C9007}"/>
              </a:ext>
            </a:extLst>
          </p:cNvPr>
          <p:cNvSpPr>
            <a:spLocks noGrp="1"/>
          </p:cNvSpPr>
          <p:nvPr>
            <p:ph type="dt" sz="half" idx="10"/>
          </p:nvPr>
        </p:nvSpPr>
        <p:spPr/>
        <p:txBody>
          <a:bodyPr/>
          <a:lstStyle/>
          <a:p>
            <a:fld id="{6428079B-4BA7-CB47-AE45-C320EA8CBA5C}" type="datetimeFigureOut">
              <a:rPr lang="en-US" smtClean="0"/>
              <a:t>9/29/2023</a:t>
            </a:fld>
            <a:endParaRPr lang="en-US"/>
          </a:p>
        </p:txBody>
      </p:sp>
      <p:sp>
        <p:nvSpPr>
          <p:cNvPr id="5" name="Footer Placeholder 4">
            <a:extLst>
              <a:ext uri="{FF2B5EF4-FFF2-40B4-BE49-F238E27FC236}">
                <a16:creationId xmlns:a16="http://schemas.microsoft.com/office/drawing/2014/main" id="{BD306B76-F54C-DA40-A208-730B126451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FECF4-E4DD-7C4D-B8DD-00DA40B186DA}"/>
              </a:ext>
            </a:extLst>
          </p:cNvPr>
          <p:cNvSpPr>
            <a:spLocks noGrp="1"/>
          </p:cNvSpPr>
          <p:nvPr>
            <p:ph type="sldNum" sz="quarter" idx="12"/>
          </p:nvPr>
        </p:nvSpPr>
        <p:spPr/>
        <p:txBody>
          <a:bodyPr/>
          <a:lstStyle/>
          <a:p>
            <a:fld id="{00E11456-4969-2048-9225-1D01EF5E1D31}" type="slidenum">
              <a:rPr lang="en-US" smtClean="0"/>
              <a:t>‹#›</a:t>
            </a:fld>
            <a:endParaRPr lang="en-US"/>
          </a:p>
        </p:txBody>
      </p:sp>
    </p:spTree>
    <p:extLst>
      <p:ext uri="{BB962C8B-B14F-4D97-AF65-F5344CB8AC3E}">
        <p14:creationId xmlns:p14="http://schemas.microsoft.com/office/powerpoint/2010/main" val="11016675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A2618-7A34-3C40-A4B6-D5169AB7B0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A1A7A8-5800-9948-B230-F83FCD2A5A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21FA5-2C53-E240-B621-C08B78DFB7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28079B-4BA7-CB47-AE45-C320EA8CBA5C}" type="datetimeFigureOut">
              <a:rPr lang="en-US" smtClean="0"/>
              <a:t>9/29/2023</a:t>
            </a:fld>
            <a:endParaRPr lang="en-US"/>
          </a:p>
        </p:txBody>
      </p:sp>
      <p:sp>
        <p:nvSpPr>
          <p:cNvPr id="5" name="Footer Placeholder 4">
            <a:extLst>
              <a:ext uri="{FF2B5EF4-FFF2-40B4-BE49-F238E27FC236}">
                <a16:creationId xmlns:a16="http://schemas.microsoft.com/office/drawing/2014/main" id="{C75C124C-4DB2-7046-B977-EF37FA46AB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29447C-A0A7-D544-A0E5-4D26392447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E11456-4969-2048-9225-1D01EF5E1D31}" type="slidenum">
              <a:rPr lang="en-US" smtClean="0"/>
              <a:t>‹#›</a:t>
            </a:fld>
            <a:endParaRPr lang="en-US"/>
          </a:p>
        </p:txBody>
      </p:sp>
    </p:spTree>
    <p:extLst>
      <p:ext uri="{BB962C8B-B14F-4D97-AF65-F5344CB8AC3E}">
        <p14:creationId xmlns:p14="http://schemas.microsoft.com/office/powerpoint/2010/main" val="569879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13.xml"/><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image" Target="../media/image3.png"/><Relationship Id="rId9" Type="http://schemas.openxmlformats.org/officeDocument/2006/relationships/slide" Target="slide2.xml"/><Relationship Id="rId10"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8.xml"/><Relationship Id="rId11" Type="http://schemas.openxmlformats.org/officeDocument/2006/relationships/slide" Target="slide11.xml"/><Relationship Id="rId12" Type="http://schemas.openxmlformats.org/officeDocument/2006/relationships/slide" Target="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8.xml"/><Relationship Id="rId10" Type="http://schemas.openxmlformats.org/officeDocument/2006/relationships/image" Target="../media/image4.png"/><Relationship Id="rId11" Type="http://schemas.openxmlformats.org/officeDocument/2006/relationships/slide" Target="slide11.xml"/><Relationship Id="rId12" Type="http://schemas.openxmlformats.org/officeDocument/2006/relationships/slide" Target="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5.xml"/><Relationship Id="rId8" Type="http://schemas.openxmlformats.org/officeDocument/2006/relationships/slide" Target="slide8.xml"/><Relationship Id="rId9" Type="http://schemas.openxmlformats.org/officeDocument/2006/relationships/slide" Target="slide11.xml"/><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slide" Target="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slide" Target="slide2.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image" Target="../media/image3.png"/><Relationship Id="rId13" Type="http://schemas.openxmlformats.org/officeDocument/2006/relationships/slide" Target="slide11.xml"/><Relationship Id="rId14" Type="http://schemas.openxmlformats.org/officeDocument/2006/relationships/slide" Target="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slide" Target="slide3.xml"/><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image" Target="../media/image3.png"/><Relationship Id="rId13" Type="http://schemas.openxmlformats.org/officeDocument/2006/relationships/slide" Target="slide11.xml"/><Relationship Id="rId14" Type="http://schemas.openxmlformats.org/officeDocument/2006/relationships/slide" Target="slide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slide" Target="slide3.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8.xml"/><Relationship Id="rId11" Type="http://schemas.openxmlformats.org/officeDocument/2006/relationships/slide" Target="slide11.xml"/><Relationship Id="rId12" Type="http://schemas.openxmlformats.org/officeDocument/2006/relationships/image" Target="../media/image3.png"/><Relationship Id="rId13" Type="http://schemas.openxmlformats.org/officeDocument/2006/relationships/slide" Target="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2.xml"/><Relationship Id="rId3" Type="http://schemas.openxmlformats.org/officeDocument/2006/relationships/slide" Target="slide5.xml"/><Relationship Id="rId4" Type="http://schemas.openxmlformats.org/officeDocument/2006/relationships/slide" Target="slide8.xml"/><Relationship Id="rId5" Type="http://schemas.openxmlformats.org/officeDocument/2006/relationships/slide" Target="slide13.xml"/><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slide" Target="slide9.xml"/><Relationship Id="rId9" Type="http://schemas.openxmlformats.org/officeDocument/2006/relationships/image" Target="../media/image3.png"/><Relationship Id="rId10" Type="http://schemas.openxmlformats.org/officeDocument/2006/relationships/slide" Target="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3.xml"/><Relationship Id="rId9" Type="http://schemas.openxmlformats.org/officeDocument/2006/relationships/slide" Target="slide11.xml"/><Relationship Id="rId10"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3.xml"/><Relationship Id="rId9"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8.xml"/><Relationship Id="rId7" Type="http://schemas.openxmlformats.org/officeDocument/2006/relationships/slide" Target="slide13.xml"/><Relationship Id="rId8" Type="http://schemas.openxmlformats.org/officeDocument/2006/relationships/slide" Target="slide11.xml"/><Relationship Id="rId9" Type="http://schemas.openxmlformats.org/officeDocument/2006/relationships/slide" Target="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3.xml"/><Relationship Id="rId6" Type="http://schemas.openxmlformats.org/officeDocument/2006/relationships/slide" Target="slide5.xml"/><Relationship Id="rId7" Type="http://schemas.openxmlformats.org/officeDocument/2006/relationships/slide" Target="slide8.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image" Target="../media/image3.png"/><Relationship Id="rId11" Type="http://schemas.openxmlformats.org/officeDocument/2006/relationships/slide" Target="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3.xml"/><Relationship Id="rId6" Type="http://schemas.openxmlformats.org/officeDocument/2006/relationships/slide" Target="slide5.xml"/><Relationship Id="rId7" Type="http://schemas.openxmlformats.org/officeDocument/2006/relationships/slide" Target="slide8.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Box 72">
            <a:extLst>
              <a:ext uri="{FF2B5EF4-FFF2-40B4-BE49-F238E27FC236}">
                <a16:creationId xmlns:a16="http://schemas.microsoft.com/office/drawing/2014/main" id="{C7D4704A-DE76-6744-98DA-2EB59E27061C}"/>
              </a:ext>
            </a:extLst>
          </p:cNvPr>
          <p:cNvSpPr txBox="1"/>
          <p:nvPr/>
        </p:nvSpPr>
        <p:spPr>
          <a:xfrm>
            <a:off x="1308585" y="7554377"/>
            <a:ext cx="184731" cy="353609"/>
          </a:xfrm>
          <a:prstGeom prst="rect">
            <a:avLst/>
          </a:prstGeom>
          <a:noFill/>
        </p:spPr>
        <p:txBody>
          <a:bodyPr wrap="square" rtlCol="0">
            <a:spAutoFit/>
          </a:bodyPr>
          <a:lstStyle/>
          <a:p>
            <a:endParaRPr lang="en-US" dirty="0"/>
          </a:p>
        </p:txBody>
      </p:sp>
      <p:sp>
        <p:nvSpPr>
          <p:cNvPr id="2" name="Obj 2">
            <a:hlinkClick r:id="rId3" action="ppaction://hlinksldjump"/>
            <a:extLst>
              <a:ext uri="{FF2B5EF4-FFF2-40B4-BE49-F238E27FC236}">
                <a16:creationId xmlns:a16="http://schemas.microsoft.com/office/drawing/2014/main" id="{DAE1AC7A-EA75-1C1B-B7F5-A1037FBA4C83}"/>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8" name="Obj 2">
            <a:hlinkClick r:id="rId4" action="ppaction://hlinksldjump"/>
            <a:extLst>
              <a:ext uri="{FF2B5EF4-FFF2-40B4-BE49-F238E27FC236}">
                <a16:creationId xmlns:a16="http://schemas.microsoft.com/office/drawing/2014/main" id="{DC497B43-106E-55C8-4A6A-9625D20EF624}"/>
              </a:ext>
            </a:extLst>
          </p:cNvPr>
          <p:cNvSpPr/>
          <p:nvPr/>
        </p:nvSpPr>
        <p:spPr>
          <a:xfrm>
            <a:off x="184843" y="1347266"/>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sp>
        <p:nvSpPr>
          <p:cNvPr id="10" name="Obj 2">
            <a:hlinkClick r:id="rId5" action="ppaction://hlinksldjump"/>
            <a:extLst>
              <a:ext uri="{FF2B5EF4-FFF2-40B4-BE49-F238E27FC236}">
                <a16:creationId xmlns:a16="http://schemas.microsoft.com/office/drawing/2014/main" id="{157314BF-289C-62DB-C5B3-B78800329AF6}"/>
              </a:ext>
            </a:extLst>
          </p:cNvPr>
          <p:cNvSpPr/>
          <p:nvPr/>
        </p:nvSpPr>
        <p:spPr>
          <a:xfrm>
            <a:off x="184843" y="1919225"/>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30" name="Graphic 29" descr="Cursor with solid fill">
            <a:extLst>
              <a:ext uri="{FF2B5EF4-FFF2-40B4-BE49-F238E27FC236}">
                <a16:creationId xmlns:a16="http://schemas.microsoft.com/office/drawing/2014/main" id="{6009B67E-604A-EDFF-90E3-5763D4A8CDF0}"/>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1021974"/>
            <a:ext cx="274320" cy="274320"/>
          </a:xfrm>
          <a:prstGeom prst="rect">
            <a:avLst/>
          </a:prstGeom>
        </p:spPr>
      </p:pic>
      <p:pic>
        <p:nvPicPr>
          <p:cNvPr id="31" name="Graphic 30" descr="Cursor with solid fill">
            <a:extLst>
              <a:ext uri="{FF2B5EF4-FFF2-40B4-BE49-F238E27FC236}">
                <a16:creationId xmlns:a16="http://schemas.microsoft.com/office/drawing/2014/main" id="{A429D644-79C3-4A2F-5F13-CA8ED43BC24F}"/>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1593107"/>
            <a:ext cx="274320" cy="274320"/>
          </a:xfrm>
          <a:prstGeom prst="rect">
            <a:avLst/>
          </a:prstGeom>
        </p:spPr>
      </p:pic>
      <p:pic>
        <p:nvPicPr>
          <p:cNvPr id="32" name="Graphic 31" descr="Cursor with solid fill">
            <a:extLst>
              <a:ext uri="{FF2B5EF4-FFF2-40B4-BE49-F238E27FC236}">
                <a16:creationId xmlns:a16="http://schemas.microsoft.com/office/drawing/2014/main" id="{8C34033F-098C-FF37-3699-18783C808762}"/>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2170258"/>
            <a:ext cx="274320" cy="274320"/>
          </a:xfrm>
          <a:prstGeom prst="rect">
            <a:avLst/>
          </a:prstGeom>
        </p:spPr>
      </p:pic>
      <p:pic>
        <p:nvPicPr>
          <p:cNvPr id="7" name="teachIM logo" descr="Icon  Description automatically generated">
            <a:extLst>
              <a:ext uri="{FF2B5EF4-FFF2-40B4-BE49-F238E27FC236}">
                <a16:creationId xmlns:a16="http://schemas.microsoft.com/office/drawing/2014/main" id="{CB08702E-7BC0-0470-D98B-175843663E2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9" name="Obj 2">
            <a:hlinkClick r:id="rId9" action="ppaction://hlinksldjump"/>
            <a:extLst>
              <a:ext uri="{FF2B5EF4-FFF2-40B4-BE49-F238E27FC236}">
                <a16:creationId xmlns:a16="http://schemas.microsoft.com/office/drawing/2014/main" id="{FED84168-22A8-582C-3D2F-D68E3D215E90}"/>
              </a:ext>
            </a:extLst>
          </p:cNvPr>
          <p:cNvSpPr/>
          <p:nvPr/>
        </p:nvSpPr>
        <p:spPr>
          <a:xfrm>
            <a:off x="17680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11" name="Graphic 10" descr="Cursor with solid fill">
            <a:extLst>
              <a:ext uri="{FF2B5EF4-FFF2-40B4-BE49-F238E27FC236}">
                <a16:creationId xmlns:a16="http://schemas.microsoft.com/office/drawing/2014/main" id="{ED704545-8D18-C45D-80D0-A47F0C8122B1}"/>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454521"/>
            <a:ext cx="274320" cy="274320"/>
          </a:xfrm>
          <a:prstGeom prst="rect">
            <a:avLst/>
          </a:prstGeom>
        </p:spPr>
      </p:pic>
      <p:sp>
        <p:nvSpPr>
          <p:cNvPr id="14" name="Title 13">
            <a:extLst>
              <a:ext uri="{FF2B5EF4-FFF2-40B4-BE49-F238E27FC236}">
                <a16:creationId xmlns:a16="http://schemas.microsoft.com/office/drawing/2014/main" id="{50A02B52-40F2-ABE3-8008-E0542913374E}"/>
              </a:ext>
            </a:extLst>
          </p:cNvPr>
          <p:cNvSpPr>
            <a:spLocks noGrp="1"/>
          </p:cNvSpPr>
          <p:nvPr>
            <p:ph type="title"/>
          </p:nvPr>
        </p:nvSpPr>
        <p:spPr>
          <a:xfrm>
            <a:off x="3255947" y="1273455"/>
            <a:ext cx="5554980" cy="1027685"/>
          </a:xfrm>
        </p:spPr>
        <p:txBody>
          <a:bodyPr>
            <a:normAutofit/>
          </a:bodyPr>
          <a:lstStyle/>
          <a:p>
            <a:pPr algn="ctr"/>
            <a:r>
              <a:rPr lang="en-US" b="1" dirty="0">
                <a:latin typeface="+mn-lt"/>
              </a:rPr>
              <a:t>Syncope</a:t>
            </a:r>
          </a:p>
        </p:txBody>
      </p:sp>
      <p:pic>
        <p:nvPicPr>
          <p:cNvPr id="24" name="Picture 23" descr="A screenshot of a video game  Description automatically generated">
            <a:extLst>
              <a:ext uri="{FF2B5EF4-FFF2-40B4-BE49-F238E27FC236}">
                <a16:creationId xmlns:a16="http://schemas.microsoft.com/office/drawing/2014/main" id="{B864730A-3939-3AA6-6803-6F8402D9B6DE}"/>
              </a:ext>
            </a:extLst>
          </p:cNvPr>
          <p:cNvPicPr>
            <a:picLocks noChangeAspect="1"/>
          </p:cNvPicPr>
          <p:nvPr/>
        </p:nvPicPr>
        <p:blipFill rotWithShape="1">
          <a:blip r:embed="rId10"/>
          <a:srcRect l="2581" t="21459" r="81092" b="16895"/>
          <a:stretch/>
        </p:blipFill>
        <p:spPr>
          <a:xfrm>
            <a:off x="7654894" y="591681"/>
            <a:ext cx="2312066" cy="6110656"/>
          </a:xfrm>
          <a:prstGeom prst="rect">
            <a:avLst/>
          </a:prstGeom>
        </p:spPr>
      </p:pic>
      <p:sp>
        <p:nvSpPr>
          <p:cNvPr id="3" name="Obj 2">
            <a:hlinkClick r:id="rId5" action="ppaction://hlinksldjump"/>
            <a:extLst>
              <a:ext uri="{FF2B5EF4-FFF2-40B4-BE49-F238E27FC236}">
                <a16:creationId xmlns:a16="http://schemas.microsoft.com/office/drawing/2014/main" id="{92CA0A6F-06C2-BA62-91C7-0CC2E2AE59A0}"/>
              </a:ext>
            </a:extLst>
          </p:cNvPr>
          <p:cNvSpPr/>
          <p:nvPr/>
        </p:nvSpPr>
        <p:spPr>
          <a:xfrm>
            <a:off x="176803" y="2491184"/>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4" name="Graphic 3" descr="Cursor with solid fill">
            <a:extLst>
              <a:ext uri="{FF2B5EF4-FFF2-40B4-BE49-F238E27FC236}">
                <a16:creationId xmlns:a16="http://schemas.microsoft.com/office/drawing/2014/main" id="{8224AC15-C266-BDB6-56DA-41C542F6005A}"/>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1388" y="2742217"/>
            <a:ext cx="274320" cy="274320"/>
          </a:xfrm>
          <a:prstGeom prst="rect">
            <a:avLst/>
          </a:prstGeom>
        </p:spPr>
      </p:pic>
    </p:spTree>
    <p:extLst>
      <p:ext uri="{BB962C8B-B14F-4D97-AF65-F5344CB8AC3E}">
        <p14:creationId xmlns:p14="http://schemas.microsoft.com/office/powerpoint/2010/main" val="970333138"/>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What is syncope">
            <a:extLst>
              <a:ext uri="{FF2B5EF4-FFF2-40B4-BE49-F238E27FC236}">
                <a16:creationId xmlns:a16="http://schemas.microsoft.com/office/drawing/2014/main" id="{10054A5D-F5C5-1BD3-8E95-463F99170267}"/>
              </a:ext>
            </a:extLst>
          </p:cNvPr>
          <p:cNvSpPr/>
          <p:nvPr/>
        </p:nvSpPr>
        <p:spPr>
          <a:xfrm>
            <a:off x="5051899" y="797979"/>
            <a:ext cx="2949277" cy="457200"/>
          </a:xfrm>
          <a:prstGeom prst="round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What is syncope?</a:t>
            </a:r>
          </a:p>
        </p:txBody>
      </p:sp>
      <p:sp>
        <p:nvSpPr>
          <p:cNvPr id="27" name="What are mimics">
            <a:extLst>
              <a:ext uri="{FF2B5EF4-FFF2-40B4-BE49-F238E27FC236}">
                <a16:creationId xmlns:a16="http://schemas.microsoft.com/office/drawing/2014/main" id="{55256151-CA23-31DD-FFE3-A6B57F35B848}"/>
              </a:ext>
            </a:extLst>
          </p:cNvPr>
          <p:cNvSpPr/>
          <p:nvPr/>
        </p:nvSpPr>
        <p:spPr>
          <a:xfrm>
            <a:off x="5051905" y="2475711"/>
            <a:ext cx="2949271" cy="457200"/>
          </a:xfrm>
          <a:prstGeom prst="round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What are some mimics?</a:t>
            </a:r>
          </a:p>
        </p:txBody>
      </p:sp>
      <p:sp>
        <p:nvSpPr>
          <p:cNvPr id="13" name="What is not syncope">
            <a:extLst>
              <a:ext uri="{FF2B5EF4-FFF2-40B4-BE49-F238E27FC236}">
                <a16:creationId xmlns:a16="http://schemas.microsoft.com/office/drawing/2014/main" id="{C2917776-79F1-041E-A5B1-40CA1D07C5FC}"/>
              </a:ext>
            </a:extLst>
          </p:cNvPr>
          <p:cNvSpPr/>
          <p:nvPr/>
        </p:nvSpPr>
        <p:spPr>
          <a:xfrm>
            <a:off x="3215109" y="3364936"/>
            <a:ext cx="1920956" cy="1417840"/>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Seizure</a:t>
            </a:r>
          </a:p>
          <a:p>
            <a:pPr algn="ctr"/>
            <a:r>
              <a:rPr lang="en-US" sz="1400" dirty="0">
                <a:solidFill>
                  <a:schemeClr val="tx1"/>
                </a:solidFill>
              </a:rPr>
              <a:t>(Convulsive syncope does not have post-ictal state)</a:t>
            </a:r>
          </a:p>
        </p:txBody>
      </p:sp>
      <p:sp>
        <p:nvSpPr>
          <p:cNvPr id="73" name="TextBox 72">
            <a:extLst>
              <a:ext uri="{FF2B5EF4-FFF2-40B4-BE49-F238E27FC236}">
                <a16:creationId xmlns:a16="http://schemas.microsoft.com/office/drawing/2014/main" id="{C7D4704A-DE76-6744-98DA-2EB59E27061C}"/>
              </a:ext>
            </a:extLst>
          </p:cNvPr>
          <p:cNvSpPr txBox="1"/>
          <p:nvPr/>
        </p:nvSpPr>
        <p:spPr>
          <a:xfrm>
            <a:off x="1308585" y="7554377"/>
            <a:ext cx="184731" cy="353609"/>
          </a:xfrm>
          <a:prstGeom prst="rect">
            <a:avLst/>
          </a:prstGeom>
          <a:noFill/>
        </p:spPr>
        <p:txBody>
          <a:bodyPr wrap="square" rtlCol="0">
            <a:spAutoFit/>
          </a:bodyPr>
          <a:lstStyle/>
          <a:p>
            <a:endParaRPr lang="en-US" dirty="0"/>
          </a:p>
        </p:txBody>
      </p:sp>
      <p:sp>
        <p:nvSpPr>
          <p:cNvPr id="3" name="What is syncope">
            <a:extLst>
              <a:ext uri="{FF2B5EF4-FFF2-40B4-BE49-F238E27FC236}">
                <a16:creationId xmlns:a16="http://schemas.microsoft.com/office/drawing/2014/main" id="{6E85C4A4-FE5F-0B4C-8B89-A4693931B66E}"/>
              </a:ext>
            </a:extLst>
          </p:cNvPr>
          <p:cNvSpPr/>
          <p:nvPr/>
        </p:nvSpPr>
        <p:spPr>
          <a:xfrm>
            <a:off x="5051893" y="793374"/>
            <a:ext cx="2949277"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is syncope?</a:t>
            </a:r>
          </a:p>
        </p:txBody>
      </p:sp>
      <p:pic>
        <p:nvPicPr>
          <p:cNvPr id="107" name="Graphic 106" descr="Cursor with solid fill">
            <a:extLst>
              <a:ext uri="{FF2B5EF4-FFF2-40B4-BE49-F238E27FC236}">
                <a16:creationId xmlns:a16="http://schemas.microsoft.com/office/drawing/2014/main" id="{6189ACD4-8966-8C4C-AA74-E695586A1363}"/>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72012" y="1113414"/>
            <a:ext cx="274320" cy="274320"/>
          </a:xfrm>
          <a:prstGeom prst="rect">
            <a:avLst/>
          </a:prstGeom>
        </p:spPr>
      </p:pic>
      <p:sp>
        <p:nvSpPr>
          <p:cNvPr id="4" name="What are mimics">
            <a:extLst>
              <a:ext uri="{FF2B5EF4-FFF2-40B4-BE49-F238E27FC236}">
                <a16:creationId xmlns:a16="http://schemas.microsoft.com/office/drawing/2014/main" id="{BEBCEE7C-B21B-8345-9F4E-E9978D92198A}"/>
              </a:ext>
            </a:extLst>
          </p:cNvPr>
          <p:cNvSpPr/>
          <p:nvPr/>
        </p:nvSpPr>
        <p:spPr>
          <a:xfrm>
            <a:off x="5051899" y="2471106"/>
            <a:ext cx="2949271"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are some mimics?</a:t>
            </a:r>
          </a:p>
        </p:txBody>
      </p:sp>
      <p:pic>
        <p:nvPicPr>
          <p:cNvPr id="6" name="Graphic 5" descr="Cursor with solid fill">
            <a:extLst>
              <a:ext uri="{FF2B5EF4-FFF2-40B4-BE49-F238E27FC236}">
                <a16:creationId xmlns:a16="http://schemas.microsoft.com/office/drawing/2014/main" id="{115A495D-9C5E-544D-9593-8818BACD219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74552" y="2790080"/>
            <a:ext cx="274320" cy="274320"/>
          </a:xfrm>
          <a:prstGeom prst="rect">
            <a:avLst/>
          </a:prstGeom>
        </p:spPr>
      </p:pic>
      <p:sp>
        <p:nvSpPr>
          <p:cNvPr id="5" name="TextBox 4">
            <a:extLst>
              <a:ext uri="{FF2B5EF4-FFF2-40B4-BE49-F238E27FC236}">
                <a16:creationId xmlns:a16="http://schemas.microsoft.com/office/drawing/2014/main" id="{2DD0B235-1397-414A-AF42-D4E0D55FBF82}"/>
              </a:ext>
            </a:extLst>
          </p:cNvPr>
          <p:cNvSpPr txBox="1"/>
          <p:nvPr/>
        </p:nvSpPr>
        <p:spPr>
          <a:xfrm>
            <a:off x="4175984" y="1360129"/>
            <a:ext cx="4633716" cy="923330"/>
          </a:xfrm>
          <a:prstGeom prst="rect">
            <a:avLst/>
          </a:prstGeom>
          <a:noFill/>
        </p:spPr>
        <p:txBody>
          <a:bodyPr wrap="square">
            <a:spAutoFit/>
          </a:bodyPr>
          <a:lstStyle/>
          <a:p>
            <a:pPr algn="ctr"/>
            <a:r>
              <a:rPr lang="en-US" b="1" i="1" dirty="0"/>
              <a:t>Transient</a:t>
            </a:r>
            <a:r>
              <a:rPr lang="en-US" i="1" dirty="0"/>
              <a:t> loss of consciousness (TLOC) due to </a:t>
            </a:r>
            <a:r>
              <a:rPr lang="en-US" b="1" i="1" dirty="0"/>
              <a:t>global cerebral hypoperfusion</a:t>
            </a:r>
            <a:r>
              <a:rPr lang="en-US" i="1" dirty="0"/>
              <a:t> followed by </a:t>
            </a:r>
            <a:r>
              <a:rPr lang="en-US" b="1" i="1" dirty="0"/>
              <a:t>spontaneous full recovery.  </a:t>
            </a:r>
          </a:p>
        </p:txBody>
      </p:sp>
      <p:sp>
        <p:nvSpPr>
          <p:cNvPr id="12" name="Seizure top">
            <a:extLst>
              <a:ext uri="{FF2B5EF4-FFF2-40B4-BE49-F238E27FC236}">
                <a16:creationId xmlns:a16="http://schemas.microsoft.com/office/drawing/2014/main" id="{CB836A2A-1E7E-534D-E084-A09892ED066F}"/>
              </a:ext>
            </a:extLst>
          </p:cNvPr>
          <p:cNvSpPr/>
          <p:nvPr/>
        </p:nvSpPr>
        <p:spPr>
          <a:xfrm>
            <a:off x="3215308" y="3365312"/>
            <a:ext cx="1920956" cy="141784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 + shaking episodes + post-ictal state</a:t>
            </a:r>
          </a:p>
        </p:txBody>
      </p:sp>
      <p:pic>
        <p:nvPicPr>
          <p:cNvPr id="16" name="Graphic 15" descr="Cursor with solid fill">
            <a:extLst>
              <a:ext uri="{FF2B5EF4-FFF2-40B4-BE49-F238E27FC236}">
                <a16:creationId xmlns:a16="http://schemas.microsoft.com/office/drawing/2014/main" id="{D41F5919-24D0-83A1-FB29-841FE58CBCE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79475" y="4588041"/>
            <a:ext cx="274320" cy="274320"/>
          </a:xfrm>
          <a:prstGeom prst="rect">
            <a:avLst/>
          </a:prstGeom>
        </p:spPr>
      </p:pic>
      <p:sp>
        <p:nvSpPr>
          <p:cNvPr id="17" name="What is not syncope">
            <a:extLst>
              <a:ext uri="{FF2B5EF4-FFF2-40B4-BE49-F238E27FC236}">
                <a16:creationId xmlns:a16="http://schemas.microsoft.com/office/drawing/2014/main" id="{D955175C-35F7-6CE0-C710-959283C52620}"/>
              </a:ext>
            </a:extLst>
          </p:cNvPr>
          <p:cNvSpPr/>
          <p:nvPr/>
        </p:nvSpPr>
        <p:spPr>
          <a:xfrm>
            <a:off x="5561934" y="3364560"/>
            <a:ext cx="1920956" cy="1417840"/>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TIA/CVA</a:t>
            </a:r>
          </a:p>
          <a:p>
            <a:pPr algn="ctr"/>
            <a:r>
              <a:rPr lang="en-US" sz="1400" dirty="0">
                <a:solidFill>
                  <a:schemeClr val="tx1"/>
                </a:solidFill>
              </a:rPr>
              <a:t>(Posterior TIA/CVA do not cause LOC without other neuro symptoms)</a:t>
            </a:r>
          </a:p>
        </p:txBody>
      </p:sp>
      <p:sp>
        <p:nvSpPr>
          <p:cNvPr id="18" name="TIA/Stroke top">
            <a:extLst>
              <a:ext uri="{FF2B5EF4-FFF2-40B4-BE49-F238E27FC236}">
                <a16:creationId xmlns:a16="http://schemas.microsoft.com/office/drawing/2014/main" id="{2D933EB3-31DD-F6AF-AF58-BF80FB7864A0}"/>
              </a:ext>
            </a:extLst>
          </p:cNvPr>
          <p:cNvSpPr/>
          <p:nvPr/>
        </p:nvSpPr>
        <p:spPr>
          <a:xfrm>
            <a:off x="5562133" y="3364936"/>
            <a:ext cx="1920956" cy="141784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 + vertigo, dysarthria</a:t>
            </a:r>
          </a:p>
        </p:txBody>
      </p:sp>
      <p:pic>
        <p:nvPicPr>
          <p:cNvPr id="19" name="Graphic 18" descr="Cursor with solid fill">
            <a:extLst>
              <a:ext uri="{FF2B5EF4-FFF2-40B4-BE49-F238E27FC236}">
                <a16:creationId xmlns:a16="http://schemas.microsoft.com/office/drawing/2014/main" id="{C717A20A-C961-6BAE-61A1-0BD970AE5F0D}"/>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26300" y="4587665"/>
            <a:ext cx="274320" cy="274320"/>
          </a:xfrm>
          <a:prstGeom prst="rect">
            <a:avLst/>
          </a:prstGeom>
        </p:spPr>
      </p:pic>
      <p:sp>
        <p:nvSpPr>
          <p:cNvPr id="20" name="What is not syncope">
            <a:extLst>
              <a:ext uri="{FF2B5EF4-FFF2-40B4-BE49-F238E27FC236}">
                <a16:creationId xmlns:a16="http://schemas.microsoft.com/office/drawing/2014/main" id="{577FD626-2236-2CAD-288C-C91E6ED121BD}"/>
              </a:ext>
            </a:extLst>
          </p:cNvPr>
          <p:cNvSpPr/>
          <p:nvPr/>
        </p:nvSpPr>
        <p:spPr>
          <a:xfrm>
            <a:off x="7848824" y="3364936"/>
            <a:ext cx="1920956" cy="1417840"/>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Hypoglycemia</a:t>
            </a:r>
          </a:p>
          <a:p>
            <a:pPr algn="ctr"/>
            <a:r>
              <a:rPr lang="en-US" sz="1400" dirty="0">
                <a:solidFill>
                  <a:schemeClr val="tx1"/>
                </a:solidFill>
              </a:rPr>
              <a:t>(LOC is only recovered after intervention on BG)</a:t>
            </a:r>
          </a:p>
        </p:txBody>
      </p:sp>
      <p:sp>
        <p:nvSpPr>
          <p:cNvPr id="21" name="Hypoglycemia">
            <a:extLst>
              <a:ext uri="{FF2B5EF4-FFF2-40B4-BE49-F238E27FC236}">
                <a16:creationId xmlns:a16="http://schemas.microsoft.com/office/drawing/2014/main" id="{DF34B75A-5811-4A5D-9382-DE3C53D498D4}"/>
              </a:ext>
            </a:extLst>
          </p:cNvPr>
          <p:cNvSpPr/>
          <p:nvPr/>
        </p:nvSpPr>
        <p:spPr>
          <a:xfrm>
            <a:off x="7849023" y="3365312"/>
            <a:ext cx="1920956" cy="141784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LOC preceded by diaphoresis, tremulousness</a:t>
            </a:r>
          </a:p>
        </p:txBody>
      </p:sp>
      <p:pic>
        <p:nvPicPr>
          <p:cNvPr id="22" name="Graphic 21" descr="Cursor with solid fill">
            <a:extLst>
              <a:ext uri="{FF2B5EF4-FFF2-40B4-BE49-F238E27FC236}">
                <a16:creationId xmlns:a16="http://schemas.microsoft.com/office/drawing/2014/main" id="{ECD8376E-8BB9-06BC-37AF-1CB93F50B17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13190" y="4588041"/>
            <a:ext cx="274320" cy="274320"/>
          </a:xfrm>
          <a:prstGeom prst="rect">
            <a:avLst/>
          </a:prstGeom>
        </p:spPr>
      </p:pic>
      <p:sp>
        <p:nvSpPr>
          <p:cNvPr id="26" name="TextBox 25">
            <a:extLst>
              <a:ext uri="{FF2B5EF4-FFF2-40B4-BE49-F238E27FC236}">
                <a16:creationId xmlns:a16="http://schemas.microsoft.com/office/drawing/2014/main" id="{C42F6E6D-E06C-E6D9-923A-AA7A384FA988}"/>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What is Syncope?</a:t>
            </a:r>
          </a:p>
        </p:txBody>
      </p:sp>
      <p:pic>
        <p:nvPicPr>
          <p:cNvPr id="7" name="teachIM logo" descr="Icon  Description automatically generated">
            <a:extLst>
              <a:ext uri="{FF2B5EF4-FFF2-40B4-BE49-F238E27FC236}">
                <a16:creationId xmlns:a16="http://schemas.microsoft.com/office/drawing/2014/main" id="{CB08702E-7BC0-0470-D98B-175843663E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39" name="Obj 2">
            <a:hlinkClick r:id="rId6" action="ppaction://hlinksldjump"/>
            <a:extLst>
              <a:ext uri="{FF2B5EF4-FFF2-40B4-BE49-F238E27FC236}">
                <a16:creationId xmlns:a16="http://schemas.microsoft.com/office/drawing/2014/main" id="{8D008360-DD25-E93C-31E1-73C6E8319FBF}"/>
              </a:ext>
            </a:extLst>
          </p:cNvPr>
          <p:cNvSpPr/>
          <p:nvPr/>
        </p:nvSpPr>
        <p:spPr>
          <a:xfrm>
            <a:off x="176803" y="203348"/>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Definition</a:t>
            </a:r>
          </a:p>
        </p:txBody>
      </p:sp>
      <p:sp>
        <p:nvSpPr>
          <p:cNvPr id="41" name="Obj 2">
            <a:hlinkClick r:id="rId7" action="ppaction://hlinksldjump"/>
            <a:extLst>
              <a:ext uri="{FF2B5EF4-FFF2-40B4-BE49-F238E27FC236}">
                <a16:creationId xmlns:a16="http://schemas.microsoft.com/office/drawing/2014/main" id="{2FC48F4B-FDCB-254F-C6DE-C477A1016A69}"/>
              </a:ext>
            </a:extLst>
          </p:cNvPr>
          <p:cNvSpPr/>
          <p:nvPr/>
        </p:nvSpPr>
        <p:spPr>
          <a:xfrm>
            <a:off x="451413" y="773505"/>
            <a:ext cx="1593373"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CPP</a:t>
            </a:r>
          </a:p>
        </p:txBody>
      </p:sp>
      <p:sp>
        <p:nvSpPr>
          <p:cNvPr id="42" name="Obj 2">
            <a:hlinkClick r:id="rId8" action="ppaction://hlinksldjump"/>
            <a:extLst>
              <a:ext uri="{FF2B5EF4-FFF2-40B4-BE49-F238E27FC236}">
                <a16:creationId xmlns:a16="http://schemas.microsoft.com/office/drawing/2014/main" id="{B9BA1887-8564-3B59-9631-478E27BDBB15}"/>
              </a:ext>
            </a:extLst>
          </p:cNvPr>
          <p:cNvSpPr/>
          <p:nvPr/>
        </p:nvSpPr>
        <p:spPr>
          <a:xfrm>
            <a:off x="451413" y="1343662"/>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Baro</a:t>
            </a:r>
            <a:r>
              <a:rPr lang="en-US" dirty="0">
                <a:solidFill>
                  <a:schemeClr val="tx1"/>
                </a:solidFill>
              </a:rPr>
              <a:t>-R Reflex</a:t>
            </a:r>
          </a:p>
        </p:txBody>
      </p:sp>
      <p:pic>
        <p:nvPicPr>
          <p:cNvPr id="43" name="Graphic 42" descr="Cursor with solid fill">
            <a:extLst>
              <a:ext uri="{FF2B5EF4-FFF2-40B4-BE49-F238E27FC236}">
                <a16:creationId xmlns:a16="http://schemas.microsoft.com/office/drawing/2014/main" id="{6B7CC0DE-CC1B-0DBB-11E7-949B50A53C67}"/>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593107"/>
            <a:ext cx="274320" cy="274320"/>
          </a:xfrm>
          <a:prstGeom prst="rect">
            <a:avLst/>
          </a:prstGeom>
        </p:spPr>
      </p:pic>
      <p:sp>
        <p:nvSpPr>
          <p:cNvPr id="44" name="Obj 2">
            <a:hlinkClick r:id="rId9" action="ppaction://hlinksldjump"/>
            <a:extLst>
              <a:ext uri="{FF2B5EF4-FFF2-40B4-BE49-F238E27FC236}">
                <a16:creationId xmlns:a16="http://schemas.microsoft.com/office/drawing/2014/main" id="{61587455-3D09-D572-D7B3-340A05445CAB}"/>
              </a:ext>
            </a:extLst>
          </p:cNvPr>
          <p:cNvSpPr/>
          <p:nvPr/>
        </p:nvSpPr>
        <p:spPr>
          <a:xfrm>
            <a:off x="176803" y="1913819"/>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pic>
        <p:nvPicPr>
          <p:cNvPr id="45" name="Graphic 44" descr="Cursor with solid fill">
            <a:extLst>
              <a:ext uri="{FF2B5EF4-FFF2-40B4-BE49-F238E27FC236}">
                <a16:creationId xmlns:a16="http://schemas.microsoft.com/office/drawing/2014/main" id="{70314770-6297-B9A6-D6E8-56220BCD3E1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170258"/>
            <a:ext cx="274320" cy="274320"/>
          </a:xfrm>
          <a:prstGeom prst="rect">
            <a:avLst/>
          </a:prstGeom>
        </p:spPr>
      </p:pic>
      <p:sp>
        <p:nvSpPr>
          <p:cNvPr id="46" name="Obj 2">
            <a:hlinkClick r:id="rId10" action="ppaction://hlinksldjump"/>
            <a:extLst>
              <a:ext uri="{FF2B5EF4-FFF2-40B4-BE49-F238E27FC236}">
                <a16:creationId xmlns:a16="http://schemas.microsoft.com/office/drawing/2014/main" id="{DEADCAA0-0C0C-55AF-46D3-BE4F3FE9EF4E}"/>
              </a:ext>
            </a:extLst>
          </p:cNvPr>
          <p:cNvSpPr/>
          <p:nvPr/>
        </p:nvSpPr>
        <p:spPr>
          <a:xfrm>
            <a:off x="176803" y="2483976"/>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pic>
        <p:nvPicPr>
          <p:cNvPr id="47" name="Graphic 46" descr="Cursor with solid fill">
            <a:extLst>
              <a:ext uri="{FF2B5EF4-FFF2-40B4-BE49-F238E27FC236}">
                <a16:creationId xmlns:a16="http://schemas.microsoft.com/office/drawing/2014/main" id="{EAD6C9CB-D94B-E7A1-EEF8-4C09EC74947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742358"/>
            <a:ext cx="274320" cy="274320"/>
          </a:xfrm>
          <a:prstGeom prst="rect">
            <a:avLst/>
          </a:prstGeom>
        </p:spPr>
      </p:pic>
      <p:cxnSp>
        <p:nvCxnSpPr>
          <p:cNvPr id="50" name="Connector: Elbow 49">
            <a:extLst>
              <a:ext uri="{FF2B5EF4-FFF2-40B4-BE49-F238E27FC236}">
                <a16:creationId xmlns:a16="http://schemas.microsoft.com/office/drawing/2014/main" id="{80241145-0593-2A80-4B34-D502133E48AE}"/>
              </a:ext>
            </a:extLst>
          </p:cNvPr>
          <p:cNvCxnSpPr>
            <a:endCxn id="41" idx="1"/>
          </p:cNvCxnSpPr>
          <p:nvPr/>
        </p:nvCxnSpPr>
        <p:spPr>
          <a:xfrm rot="16200000" flipH="1">
            <a:off x="169215" y="682265"/>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BE1A8E26-8F20-08DF-FAC9-D7F6F3B8861B}"/>
              </a:ext>
            </a:extLst>
          </p:cNvPr>
          <p:cNvCxnSpPr>
            <a:cxnSpLocks/>
            <a:endCxn id="42" idx="1"/>
          </p:cNvCxnSpPr>
          <p:nvPr/>
        </p:nvCxnSpPr>
        <p:spPr>
          <a:xfrm rot="16200000" flipH="1">
            <a:off x="-115864" y="967343"/>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0" name="Graphic 39" descr="Cursor with solid fill">
            <a:extLst>
              <a:ext uri="{FF2B5EF4-FFF2-40B4-BE49-F238E27FC236}">
                <a16:creationId xmlns:a16="http://schemas.microsoft.com/office/drawing/2014/main" id="{3E40BAE2-C10F-0B5D-50D3-752E8422B78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003161"/>
            <a:ext cx="274320" cy="274320"/>
          </a:xfrm>
          <a:prstGeom prst="rect">
            <a:avLst/>
          </a:prstGeom>
        </p:spPr>
      </p:pic>
      <p:sp>
        <p:nvSpPr>
          <p:cNvPr id="2" name="Obj 2">
            <a:hlinkClick r:id="rId11" action="ppaction://hlinksldjump"/>
            <a:extLst>
              <a:ext uri="{FF2B5EF4-FFF2-40B4-BE49-F238E27FC236}">
                <a16:creationId xmlns:a16="http://schemas.microsoft.com/office/drawing/2014/main" id="{EF8F3C28-B89B-EA6C-7CFA-A7928218255C}"/>
              </a:ext>
            </a:extLst>
          </p:cNvPr>
          <p:cNvSpPr/>
          <p:nvPr/>
        </p:nvSpPr>
        <p:spPr>
          <a:xfrm>
            <a:off x="176803" y="3054133"/>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8" name="Graphic 7" descr="Cursor with solid fill">
            <a:extLst>
              <a:ext uri="{FF2B5EF4-FFF2-40B4-BE49-F238E27FC236}">
                <a16:creationId xmlns:a16="http://schemas.microsoft.com/office/drawing/2014/main" id="{D0F084A4-3A67-2D49-F5AC-35B5A082331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304330"/>
            <a:ext cx="274320" cy="274320"/>
          </a:xfrm>
          <a:prstGeom prst="rect">
            <a:avLst/>
          </a:prstGeom>
        </p:spPr>
      </p:pic>
      <p:sp>
        <p:nvSpPr>
          <p:cNvPr id="9" name="Obj 2">
            <a:hlinkClick r:id="rId12" action="ppaction://hlinksldjump"/>
            <a:extLst>
              <a:ext uri="{FF2B5EF4-FFF2-40B4-BE49-F238E27FC236}">
                <a16:creationId xmlns:a16="http://schemas.microsoft.com/office/drawing/2014/main" id="{5E0FB24B-F40C-27A9-E19A-CC0B08D947CE}"/>
              </a:ext>
            </a:extLst>
          </p:cNvPr>
          <p:cNvSpPr/>
          <p:nvPr/>
        </p:nvSpPr>
        <p:spPr>
          <a:xfrm>
            <a:off x="176803" y="3622985"/>
            <a:ext cx="184489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0" name="Graphic 9" descr="Cursor with solid fill">
            <a:extLst>
              <a:ext uri="{FF2B5EF4-FFF2-40B4-BE49-F238E27FC236}">
                <a16:creationId xmlns:a16="http://schemas.microsoft.com/office/drawing/2014/main" id="{A54AF8E0-47B4-DE17-00BB-35A1B57B69B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86338" y="3873182"/>
            <a:ext cx="274320" cy="274320"/>
          </a:xfrm>
          <a:prstGeom prst="rect">
            <a:avLst/>
          </a:prstGeom>
        </p:spPr>
      </p:pic>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3"/>
                  </p:tgtEl>
                </p:cond>
              </p:nextCondLst>
            </p:seq>
            <p:seq concurrent="1" nextAc="seek">
              <p:cTn id="11" restart="whenNotActive" fill="hold" evtFilter="cancelBubble" nodeType="interactiveSeq">
                <p:stCondLst>
                  <p:cond evt="onClick" delay="0">
                    <p:tgtEl>
                      <p:spTgt spid="4"/>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par>
                                <p:cTn id="32" presetID="1" presetClass="exit" presetSubtype="0" fill="hold" grpId="0" nodeType="withEffect">
                                  <p:stCondLst>
                                    <p:cond delay="0"/>
                                  </p:stCondLst>
                                  <p:childTnLst>
                                    <p:set>
                                      <p:cBhvr>
                                        <p:cTn id="33" dur="1" fill="hold">
                                          <p:stCondLst>
                                            <p:cond delay="0"/>
                                          </p:stCondLst>
                                        </p:cTn>
                                        <p:tgtEl>
                                          <p:spTgt spid="4"/>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36" restart="whenNotActive" fill="hold" evtFilter="cancelBubble" nodeType="interactiveSeq">
                <p:stCondLst>
                  <p:cond evt="onClick" delay="0">
                    <p:tgtEl>
                      <p:spTgt spid="12"/>
                    </p:tgtEl>
                  </p:cond>
                </p:stCondLst>
                <p:endSync evt="end" delay="0">
                  <p:rtn val="all"/>
                </p:endSync>
                <p:childTnLst>
                  <p:par>
                    <p:cTn id="37" fill="hold">
                      <p:stCondLst>
                        <p:cond delay="0"/>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2"/>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43" restart="whenNotActive" fill="hold" evtFilter="cancelBubble" nodeType="interactiveSeq">
                <p:stCondLst>
                  <p:cond evt="onClick" delay="0">
                    <p:tgtEl>
                      <p:spTgt spid="18"/>
                    </p:tgtEl>
                  </p:cond>
                </p:stCondLst>
                <p:endSync evt="end" delay="0">
                  <p:rtn val="all"/>
                </p:endSync>
                <p:childTnLst>
                  <p:par>
                    <p:cTn id="44" fill="hold">
                      <p:stCondLst>
                        <p:cond delay="0"/>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18"/>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50" restart="whenNotActive" fill="hold" evtFilter="cancelBubble" nodeType="interactiveSeq">
                <p:stCondLst>
                  <p:cond evt="onClick" delay="0">
                    <p:tgtEl>
                      <p:spTgt spid="21"/>
                    </p:tgtEl>
                  </p:cond>
                </p:stCondLst>
                <p:endSync evt="end" delay="0">
                  <p:rtn val="all"/>
                </p:endSync>
                <p:childTnLst>
                  <p:par>
                    <p:cTn id="51" fill="hold">
                      <p:stCondLst>
                        <p:cond delay="0"/>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2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57" restart="whenNotActive" fill="hold" evtFilter="cancelBubble" nodeType="interactiveSeq">
                <p:stCondLst>
                  <p:cond evt="onClick" delay="0">
                    <p:tgtEl>
                      <p:spTgt spid="25"/>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62" restart="whenNotActive" fill="hold" evtFilter="cancelBubble" nodeType="interactiveSeq">
                <p:stCondLst>
                  <p:cond evt="onClick" delay="0">
                    <p:tgtEl>
                      <p:spTgt spid="27"/>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childTnLst>
        </p:cTn>
      </p:par>
    </p:tnLst>
    <p:bldLst>
      <p:bldP spid="25" grpId="0" animBg="1"/>
      <p:bldP spid="27" grpId="0" animBg="1"/>
      <p:bldP spid="13" grpId="0" animBg="1"/>
      <p:bldP spid="3" grpId="0" animBg="1"/>
      <p:bldP spid="4" grpId="0" animBg="1"/>
      <p:bldP spid="5" grpId="0"/>
      <p:bldP spid="12" grpId="0" animBg="1"/>
      <p:bldP spid="12" grpId="1" animBg="1"/>
      <p:bldP spid="17" grpId="0" animBg="1"/>
      <p:bldP spid="18" grpId="0" animBg="1"/>
      <p:bldP spid="18" grpId="1" animBg="1"/>
      <p:bldP spid="20" grpId="0" animBg="1"/>
      <p:bldP spid="21" grpId="0" animBg="1"/>
      <p:bldP spid="21"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PP">
            <a:extLst>
              <a:ext uri="{FF2B5EF4-FFF2-40B4-BE49-F238E27FC236}">
                <a16:creationId xmlns:a16="http://schemas.microsoft.com/office/drawing/2014/main" id="{0FDD353F-86B2-5E5B-A745-BAD3B5BB81ED}"/>
              </a:ext>
            </a:extLst>
          </p:cNvPr>
          <p:cNvSpPr/>
          <p:nvPr/>
        </p:nvSpPr>
        <p:spPr>
          <a:xfrm>
            <a:off x="2735970" y="1410981"/>
            <a:ext cx="2488011" cy="652342"/>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What determines cerebral perfusion?  </a:t>
            </a:r>
          </a:p>
        </p:txBody>
      </p:sp>
      <p:sp>
        <p:nvSpPr>
          <p:cNvPr id="135" name="MAP">
            <a:extLst>
              <a:ext uri="{FF2B5EF4-FFF2-40B4-BE49-F238E27FC236}">
                <a16:creationId xmlns:a16="http://schemas.microsoft.com/office/drawing/2014/main" id="{D749D61A-71FE-367A-E94E-6D2A0B6C52AF}"/>
              </a:ext>
            </a:extLst>
          </p:cNvPr>
          <p:cNvSpPr/>
          <p:nvPr/>
        </p:nvSpPr>
        <p:spPr>
          <a:xfrm>
            <a:off x="2735970" y="2396108"/>
            <a:ext cx="2488011" cy="101785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What determines mean arterial pressure (MAP)?</a:t>
            </a:r>
          </a:p>
        </p:txBody>
      </p:sp>
      <p:sp>
        <p:nvSpPr>
          <p:cNvPr id="136" name="SV">
            <a:extLst>
              <a:ext uri="{FF2B5EF4-FFF2-40B4-BE49-F238E27FC236}">
                <a16:creationId xmlns:a16="http://schemas.microsoft.com/office/drawing/2014/main" id="{A41DC25B-E1A0-4C74-D4F8-BD46A36FA3B5}"/>
              </a:ext>
            </a:extLst>
          </p:cNvPr>
          <p:cNvSpPr/>
          <p:nvPr/>
        </p:nvSpPr>
        <p:spPr>
          <a:xfrm>
            <a:off x="2720358" y="3726249"/>
            <a:ext cx="2488011" cy="652342"/>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What determines cardiac output (CO)?  </a:t>
            </a:r>
          </a:p>
        </p:txBody>
      </p:sp>
      <p:sp>
        <p:nvSpPr>
          <p:cNvPr id="9" name="CPP">
            <a:extLst>
              <a:ext uri="{FF2B5EF4-FFF2-40B4-BE49-F238E27FC236}">
                <a16:creationId xmlns:a16="http://schemas.microsoft.com/office/drawing/2014/main" id="{75961555-110B-874D-AE02-BF5638FEC345}"/>
              </a:ext>
            </a:extLst>
          </p:cNvPr>
          <p:cNvSpPr/>
          <p:nvPr/>
        </p:nvSpPr>
        <p:spPr>
          <a:xfrm>
            <a:off x="2732543" y="1410827"/>
            <a:ext cx="2488011" cy="652342"/>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determines cerebral perfusion?  </a:t>
            </a:r>
          </a:p>
        </p:txBody>
      </p:sp>
      <p:sp>
        <p:nvSpPr>
          <p:cNvPr id="148" name="TextBox 147">
            <a:extLst>
              <a:ext uri="{FF2B5EF4-FFF2-40B4-BE49-F238E27FC236}">
                <a16:creationId xmlns:a16="http://schemas.microsoft.com/office/drawing/2014/main" id="{F4ADD56A-EB89-5649-A63B-1B4FC5A534B6}"/>
              </a:ext>
            </a:extLst>
          </p:cNvPr>
          <p:cNvSpPr txBox="1"/>
          <p:nvPr/>
        </p:nvSpPr>
        <p:spPr>
          <a:xfrm>
            <a:off x="1308585" y="7554377"/>
            <a:ext cx="184731" cy="353609"/>
          </a:xfrm>
          <a:prstGeom prst="rect">
            <a:avLst/>
          </a:prstGeom>
          <a:noFill/>
        </p:spPr>
        <p:txBody>
          <a:bodyPr wrap="square" rtlCol="0">
            <a:spAutoFit/>
          </a:bodyPr>
          <a:lstStyle/>
          <a:p>
            <a:endParaRPr lang="en-US" dirty="0"/>
          </a:p>
        </p:txBody>
      </p:sp>
      <p:pic>
        <p:nvPicPr>
          <p:cNvPr id="225" name="Graphic 224" descr="Cursor with solid fill">
            <a:extLst>
              <a:ext uri="{FF2B5EF4-FFF2-40B4-BE49-F238E27FC236}">
                <a16:creationId xmlns:a16="http://schemas.microsoft.com/office/drawing/2014/main" id="{1047E1F4-A26C-4043-A08D-58F751DFF397}"/>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4057" y="1929316"/>
            <a:ext cx="274320" cy="274320"/>
          </a:xfrm>
          <a:prstGeom prst="rect">
            <a:avLst/>
          </a:prstGeom>
        </p:spPr>
      </p:pic>
      <p:sp>
        <p:nvSpPr>
          <p:cNvPr id="55" name="TextBox 54">
            <a:extLst>
              <a:ext uri="{FF2B5EF4-FFF2-40B4-BE49-F238E27FC236}">
                <a16:creationId xmlns:a16="http://schemas.microsoft.com/office/drawing/2014/main" id="{9A28539A-C7C2-FD45-83E5-CA7E00AC14B7}"/>
              </a:ext>
            </a:extLst>
          </p:cNvPr>
          <p:cNvSpPr txBox="1"/>
          <p:nvPr/>
        </p:nvSpPr>
        <p:spPr>
          <a:xfrm>
            <a:off x="10745180" y="5108827"/>
            <a:ext cx="502921" cy="372634"/>
          </a:xfrm>
          <a:prstGeom prst="rect">
            <a:avLst/>
          </a:prstGeom>
          <a:noFill/>
          <a:ln>
            <a:noFill/>
          </a:ln>
        </p:spPr>
        <p:txBody>
          <a:bodyPr wrap="square" rtlCol="0">
            <a:spAutoFit/>
          </a:bodyPr>
          <a:lstStyle/>
          <a:p>
            <a:pPr algn="ctr"/>
            <a:r>
              <a:rPr lang="en-US" dirty="0"/>
              <a:t>HR</a:t>
            </a:r>
          </a:p>
        </p:txBody>
      </p:sp>
      <p:sp>
        <p:nvSpPr>
          <p:cNvPr id="64" name="TextBox 63">
            <a:extLst>
              <a:ext uri="{FF2B5EF4-FFF2-40B4-BE49-F238E27FC236}">
                <a16:creationId xmlns:a16="http://schemas.microsoft.com/office/drawing/2014/main" id="{98834D5A-4941-B54A-AFF2-77ED21C35CCE}"/>
              </a:ext>
            </a:extLst>
          </p:cNvPr>
          <p:cNvSpPr txBox="1"/>
          <p:nvPr/>
        </p:nvSpPr>
        <p:spPr>
          <a:xfrm>
            <a:off x="10065328" y="5999277"/>
            <a:ext cx="1328374" cy="341722"/>
          </a:xfrm>
          <a:prstGeom prst="rect">
            <a:avLst/>
          </a:prstGeom>
          <a:noFill/>
          <a:ln>
            <a:noFill/>
          </a:ln>
        </p:spPr>
        <p:txBody>
          <a:bodyPr wrap="square" rtlCol="0">
            <a:spAutoFit/>
          </a:bodyPr>
          <a:lstStyle/>
          <a:p>
            <a:pPr algn="ctr"/>
            <a:r>
              <a:rPr lang="en-US" sz="1600" dirty="0"/>
              <a:t>contractility</a:t>
            </a:r>
          </a:p>
        </p:txBody>
      </p:sp>
      <p:sp>
        <p:nvSpPr>
          <p:cNvPr id="3" name="TextBox 2">
            <a:extLst>
              <a:ext uri="{FF2B5EF4-FFF2-40B4-BE49-F238E27FC236}">
                <a16:creationId xmlns:a16="http://schemas.microsoft.com/office/drawing/2014/main" id="{5EABC7F4-9022-1341-16E6-4414B3114684}"/>
              </a:ext>
            </a:extLst>
          </p:cNvPr>
          <p:cNvSpPr txBox="1"/>
          <p:nvPr/>
        </p:nvSpPr>
        <p:spPr>
          <a:xfrm>
            <a:off x="-3537" y="5937009"/>
            <a:ext cx="4132006" cy="954107"/>
          </a:xfrm>
          <a:prstGeom prst="rect">
            <a:avLst/>
          </a:prstGeom>
          <a:noFill/>
        </p:spPr>
        <p:txBody>
          <a:bodyPr wrap="square" rtlCol="0">
            <a:spAutoFit/>
          </a:bodyPr>
          <a:lstStyle/>
          <a:p>
            <a:r>
              <a:rPr lang="en-US" sz="1400" dirty="0"/>
              <a:t>MAP = mean arterial pressure</a:t>
            </a:r>
          </a:p>
          <a:p>
            <a:r>
              <a:rPr lang="en-US" sz="1400" dirty="0"/>
              <a:t>ICP = intracranial pressure</a:t>
            </a:r>
          </a:p>
          <a:p>
            <a:r>
              <a:rPr lang="en-US" sz="1400" dirty="0"/>
              <a:t>CO = cardiac output</a:t>
            </a:r>
          </a:p>
          <a:p>
            <a:r>
              <a:rPr lang="en-US" sz="1400" dirty="0"/>
              <a:t>SVR = systemic vascular resistance</a:t>
            </a:r>
          </a:p>
        </p:txBody>
      </p:sp>
      <p:sp>
        <p:nvSpPr>
          <p:cNvPr id="12" name="Obj 2">
            <a:hlinkClick r:id="rId5" action="ppaction://hlinksldjump"/>
            <a:extLst>
              <a:ext uri="{FF2B5EF4-FFF2-40B4-BE49-F238E27FC236}">
                <a16:creationId xmlns:a16="http://schemas.microsoft.com/office/drawing/2014/main" id="{AD3C38D3-D098-9D0E-288F-1A059E4669E6}"/>
              </a:ext>
            </a:extLst>
          </p:cNvPr>
          <p:cNvSpPr/>
          <p:nvPr/>
        </p:nvSpPr>
        <p:spPr>
          <a:xfrm>
            <a:off x="17680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13" name="Graphic 12" descr="Cursor with solid fill">
            <a:extLst>
              <a:ext uri="{FF2B5EF4-FFF2-40B4-BE49-F238E27FC236}">
                <a16:creationId xmlns:a16="http://schemas.microsoft.com/office/drawing/2014/main" id="{7AE7EBA9-048A-20E1-8756-625C0A02EA0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454521"/>
            <a:ext cx="274320" cy="274320"/>
          </a:xfrm>
          <a:prstGeom prst="rect">
            <a:avLst/>
          </a:prstGeom>
        </p:spPr>
      </p:pic>
      <p:sp>
        <p:nvSpPr>
          <p:cNvPr id="14" name="Obj 2">
            <a:hlinkClick r:id="rId6" action="ppaction://hlinksldjump"/>
            <a:extLst>
              <a:ext uri="{FF2B5EF4-FFF2-40B4-BE49-F238E27FC236}">
                <a16:creationId xmlns:a16="http://schemas.microsoft.com/office/drawing/2014/main" id="{9BCBDB3E-4003-29F5-51B7-D62BDD6E436D}"/>
              </a:ext>
            </a:extLst>
          </p:cNvPr>
          <p:cNvSpPr/>
          <p:nvPr/>
        </p:nvSpPr>
        <p:spPr>
          <a:xfrm>
            <a:off x="451413" y="773505"/>
            <a:ext cx="1593373"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CPP</a:t>
            </a:r>
          </a:p>
        </p:txBody>
      </p:sp>
      <p:sp>
        <p:nvSpPr>
          <p:cNvPr id="16" name="Obj 2">
            <a:hlinkClick r:id="rId7" action="ppaction://hlinksldjump"/>
            <a:extLst>
              <a:ext uri="{FF2B5EF4-FFF2-40B4-BE49-F238E27FC236}">
                <a16:creationId xmlns:a16="http://schemas.microsoft.com/office/drawing/2014/main" id="{8F2EE070-5B93-646A-0FF4-BE7F7A012197}"/>
              </a:ext>
            </a:extLst>
          </p:cNvPr>
          <p:cNvSpPr/>
          <p:nvPr/>
        </p:nvSpPr>
        <p:spPr>
          <a:xfrm>
            <a:off x="451413" y="1343662"/>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Baro</a:t>
            </a:r>
            <a:r>
              <a:rPr lang="en-US" dirty="0">
                <a:solidFill>
                  <a:schemeClr val="tx1"/>
                </a:solidFill>
              </a:rPr>
              <a:t>-R Reflex</a:t>
            </a:r>
          </a:p>
        </p:txBody>
      </p:sp>
      <p:pic>
        <p:nvPicPr>
          <p:cNvPr id="17" name="Graphic 16" descr="Cursor with solid fill">
            <a:extLst>
              <a:ext uri="{FF2B5EF4-FFF2-40B4-BE49-F238E27FC236}">
                <a16:creationId xmlns:a16="http://schemas.microsoft.com/office/drawing/2014/main" id="{6997A600-873C-1AFD-733A-4085F9B4E39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593107"/>
            <a:ext cx="274320" cy="274320"/>
          </a:xfrm>
          <a:prstGeom prst="rect">
            <a:avLst/>
          </a:prstGeom>
        </p:spPr>
      </p:pic>
      <p:sp>
        <p:nvSpPr>
          <p:cNvPr id="18" name="Obj 2">
            <a:hlinkClick r:id="rId8" action="ppaction://hlinksldjump"/>
            <a:extLst>
              <a:ext uri="{FF2B5EF4-FFF2-40B4-BE49-F238E27FC236}">
                <a16:creationId xmlns:a16="http://schemas.microsoft.com/office/drawing/2014/main" id="{162CBA31-E911-A6B6-44D1-D54D0647481A}"/>
              </a:ext>
            </a:extLst>
          </p:cNvPr>
          <p:cNvSpPr/>
          <p:nvPr/>
        </p:nvSpPr>
        <p:spPr>
          <a:xfrm>
            <a:off x="176803" y="1913819"/>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pic>
        <p:nvPicPr>
          <p:cNvPr id="19" name="Graphic 18" descr="Cursor with solid fill">
            <a:extLst>
              <a:ext uri="{FF2B5EF4-FFF2-40B4-BE49-F238E27FC236}">
                <a16:creationId xmlns:a16="http://schemas.microsoft.com/office/drawing/2014/main" id="{B5BD3C76-3551-A662-7903-3F729C354C6B}"/>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170258"/>
            <a:ext cx="274320" cy="274320"/>
          </a:xfrm>
          <a:prstGeom prst="rect">
            <a:avLst/>
          </a:prstGeom>
        </p:spPr>
      </p:pic>
      <p:sp>
        <p:nvSpPr>
          <p:cNvPr id="20" name="Obj 2">
            <a:hlinkClick r:id="rId9" action="ppaction://hlinksldjump"/>
            <a:extLst>
              <a:ext uri="{FF2B5EF4-FFF2-40B4-BE49-F238E27FC236}">
                <a16:creationId xmlns:a16="http://schemas.microsoft.com/office/drawing/2014/main" id="{12D17DAD-A789-4B15-DA6C-469352A641D0}"/>
              </a:ext>
            </a:extLst>
          </p:cNvPr>
          <p:cNvSpPr/>
          <p:nvPr/>
        </p:nvSpPr>
        <p:spPr>
          <a:xfrm>
            <a:off x="176803" y="2483976"/>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pic>
        <p:nvPicPr>
          <p:cNvPr id="21" name="Graphic 20" descr="Cursor with solid fill">
            <a:extLst>
              <a:ext uri="{FF2B5EF4-FFF2-40B4-BE49-F238E27FC236}">
                <a16:creationId xmlns:a16="http://schemas.microsoft.com/office/drawing/2014/main" id="{5CFCC255-8CF3-4E3C-34D5-31BADF1025D3}"/>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742358"/>
            <a:ext cx="274320" cy="274320"/>
          </a:xfrm>
          <a:prstGeom prst="rect">
            <a:avLst/>
          </a:prstGeom>
        </p:spPr>
      </p:pic>
      <p:cxnSp>
        <p:nvCxnSpPr>
          <p:cNvPr id="31" name="Connector: Elbow 30">
            <a:extLst>
              <a:ext uri="{FF2B5EF4-FFF2-40B4-BE49-F238E27FC236}">
                <a16:creationId xmlns:a16="http://schemas.microsoft.com/office/drawing/2014/main" id="{E6BA998A-070D-82AD-C6A1-FA221F3BEC98}"/>
              </a:ext>
            </a:extLst>
          </p:cNvPr>
          <p:cNvCxnSpPr>
            <a:endCxn id="14" idx="1"/>
          </p:cNvCxnSpPr>
          <p:nvPr/>
        </p:nvCxnSpPr>
        <p:spPr>
          <a:xfrm rot="16200000" flipH="1">
            <a:off x="169215" y="682265"/>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87B19BCB-F74A-5D22-677C-C202B745E603}"/>
              </a:ext>
            </a:extLst>
          </p:cNvPr>
          <p:cNvCxnSpPr>
            <a:cxnSpLocks/>
            <a:endCxn id="16" idx="1"/>
          </p:cNvCxnSpPr>
          <p:nvPr/>
        </p:nvCxnSpPr>
        <p:spPr>
          <a:xfrm rot="16200000" flipH="1">
            <a:off x="-115864" y="967343"/>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650849A-7669-AB95-82BA-3D4D7242B833}"/>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Physiology of Cerebral Perfusion</a:t>
            </a:r>
          </a:p>
        </p:txBody>
      </p:sp>
      <p:sp>
        <p:nvSpPr>
          <p:cNvPr id="36" name="TextBox 35">
            <a:extLst>
              <a:ext uri="{FF2B5EF4-FFF2-40B4-BE49-F238E27FC236}">
                <a16:creationId xmlns:a16="http://schemas.microsoft.com/office/drawing/2014/main" id="{1B5759D4-A3FD-B3DF-2416-A8247C7A1293}"/>
              </a:ext>
            </a:extLst>
          </p:cNvPr>
          <p:cNvSpPr txBox="1"/>
          <p:nvPr/>
        </p:nvSpPr>
        <p:spPr>
          <a:xfrm>
            <a:off x="3732902" y="642814"/>
            <a:ext cx="5996007" cy="369332"/>
          </a:xfrm>
          <a:prstGeom prst="rect">
            <a:avLst/>
          </a:prstGeom>
          <a:noFill/>
        </p:spPr>
        <p:txBody>
          <a:bodyPr wrap="square">
            <a:spAutoFit/>
          </a:bodyPr>
          <a:lstStyle/>
          <a:p>
            <a:pPr algn="ctr"/>
            <a:r>
              <a:rPr lang="en-US" b="1" dirty="0"/>
              <a:t>↓ global cerebral perfusion → syncope </a:t>
            </a:r>
          </a:p>
        </p:txBody>
      </p:sp>
      <p:pic>
        <p:nvPicPr>
          <p:cNvPr id="38" name="Picture 37" descr="A screenshot of a video game  Description automatically generated">
            <a:extLst>
              <a:ext uri="{FF2B5EF4-FFF2-40B4-BE49-F238E27FC236}">
                <a16:creationId xmlns:a16="http://schemas.microsoft.com/office/drawing/2014/main" id="{B9982035-759C-3E9B-73DB-0AE130355349}"/>
              </a:ext>
            </a:extLst>
          </p:cNvPr>
          <p:cNvPicPr>
            <a:picLocks noChangeAspect="1"/>
          </p:cNvPicPr>
          <p:nvPr/>
        </p:nvPicPr>
        <p:blipFill rotWithShape="1">
          <a:blip r:embed="rId10"/>
          <a:srcRect l="2581" t="21459" r="81092" b="16895"/>
          <a:stretch/>
        </p:blipFill>
        <p:spPr>
          <a:xfrm>
            <a:off x="8974739" y="664390"/>
            <a:ext cx="1926275" cy="5091033"/>
          </a:xfrm>
          <a:prstGeom prst="rect">
            <a:avLst/>
          </a:prstGeom>
        </p:spPr>
      </p:pic>
      <p:cxnSp>
        <p:nvCxnSpPr>
          <p:cNvPr id="40" name="Straight Connector 39">
            <a:extLst>
              <a:ext uri="{FF2B5EF4-FFF2-40B4-BE49-F238E27FC236}">
                <a16:creationId xmlns:a16="http://schemas.microsoft.com/office/drawing/2014/main" id="{317560CE-BBE1-A35D-06D0-DD9F456FA71A}"/>
              </a:ext>
            </a:extLst>
          </p:cNvPr>
          <p:cNvCxnSpPr>
            <a:cxnSpLocks/>
            <a:endCxn id="44" idx="1"/>
          </p:cNvCxnSpPr>
          <p:nvPr/>
        </p:nvCxnSpPr>
        <p:spPr>
          <a:xfrm flipV="1">
            <a:off x="9813181" y="3662663"/>
            <a:ext cx="903851" cy="532067"/>
          </a:xfrm>
          <a:prstGeom prst="line">
            <a:avLst/>
          </a:prstGeom>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4D00442F-76C2-13DC-22EA-0B5F32762617}"/>
              </a:ext>
            </a:extLst>
          </p:cNvPr>
          <p:cNvSpPr/>
          <p:nvPr/>
        </p:nvSpPr>
        <p:spPr>
          <a:xfrm>
            <a:off x="10717032" y="3502643"/>
            <a:ext cx="617517"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SVR</a:t>
            </a:r>
          </a:p>
        </p:txBody>
      </p:sp>
      <p:cxnSp>
        <p:nvCxnSpPr>
          <p:cNvPr id="45" name="Straight Connector 44">
            <a:extLst>
              <a:ext uri="{FF2B5EF4-FFF2-40B4-BE49-F238E27FC236}">
                <a16:creationId xmlns:a16="http://schemas.microsoft.com/office/drawing/2014/main" id="{313AF67B-5B9C-43F2-B30A-95036574C2A5}"/>
              </a:ext>
            </a:extLst>
          </p:cNvPr>
          <p:cNvCxnSpPr>
            <a:cxnSpLocks/>
            <a:endCxn id="53" idx="1"/>
          </p:cNvCxnSpPr>
          <p:nvPr/>
        </p:nvCxnSpPr>
        <p:spPr>
          <a:xfrm flipV="1">
            <a:off x="9995085" y="3070904"/>
            <a:ext cx="664208" cy="919899"/>
          </a:xfrm>
          <a:prstGeom prst="line">
            <a:avLst/>
          </a:prstGeom>
        </p:spPr>
        <p:style>
          <a:lnRef idx="1">
            <a:schemeClr val="dk1"/>
          </a:lnRef>
          <a:fillRef idx="0">
            <a:schemeClr val="dk1"/>
          </a:fillRef>
          <a:effectRef idx="0">
            <a:schemeClr val="dk1"/>
          </a:effectRef>
          <a:fontRef idx="minor">
            <a:schemeClr val="tx1"/>
          </a:fontRef>
        </p:style>
      </p:cxnSp>
      <p:sp>
        <p:nvSpPr>
          <p:cNvPr id="53" name="Rectangle 52">
            <a:extLst>
              <a:ext uri="{FF2B5EF4-FFF2-40B4-BE49-F238E27FC236}">
                <a16:creationId xmlns:a16="http://schemas.microsoft.com/office/drawing/2014/main" id="{A3E49345-4706-00DF-6C08-46D71574883D}"/>
              </a:ext>
            </a:extLst>
          </p:cNvPr>
          <p:cNvSpPr/>
          <p:nvPr/>
        </p:nvSpPr>
        <p:spPr>
          <a:xfrm>
            <a:off x="10659293" y="2910884"/>
            <a:ext cx="732995"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DB7575"/>
                </a:solidFill>
              </a:rPr>
              <a:t>MAP</a:t>
            </a:r>
          </a:p>
        </p:txBody>
      </p:sp>
      <p:sp>
        <p:nvSpPr>
          <p:cNvPr id="62" name="Rectangle 61">
            <a:extLst>
              <a:ext uri="{FF2B5EF4-FFF2-40B4-BE49-F238E27FC236}">
                <a16:creationId xmlns:a16="http://schemas.microsoft.com/office/drawing/2014/main" id="{AD49959F-31C2-9651-1B24-3275B10A6F82}"/>
              </a:ext>
            </a:extLst>
          </p:cNvPr>
          <p:cNvSpPr/>
          <p:nvPr/>
        </p:nvSpPr>
        <p:spPr>
          <a:xfrm>
            <a:off x="9624587" y="1344570"/>
            <a:ext cx="569514" cy="320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ICP</a:t>
            </a:r>
          </a:p>
        </p:txBody>
      </p:sp>
      <p:sp>
        <p:nvSpPr>
          <p:cNvPr id="65" name="TextBox 64">
            <a:extLst>
              <a:ext uri="{FF2B5EF4-FFF2-40B4-BE49-F238E27FC236}">
                <a16:creationId xmlns:a16="http://schemas.microsoft.com/office/drawing/2014/main" id="{358DB8DB-DBA2-83B5-BC15-DCE70AF01D4D}"/>
              </a:ext>
            </a:extLst>
          </p:cNvPr>
          <p:cNvSpPr txBox="1"/>
          <p:nvPr/>
        </p:nvSpPr>
        <p:spPr>
          <a:xfrm>
            <a:off x="5411793" y="1409414"/>
            <a:ext cx="3419312" cy="646331"/>
          </a:xfrm>
          <a:prstGeom prst="rect">
            <a:avLst/>
          </a:prstGeom>
          <a:noFill/>
          <a:ln>
            <a:noFill/>
          </a:ln>
        </p:spPr>
        <p:txBody>
          <a:bodyPr wrap="square" rtlCol="0">
            <a:spAutoFit/>
          </a:bodyPr>
          <a:lstStyle/>
          <a:p>
            <a:pPr algn="ctr"/>
            <a:r>
              <a:rPr lang="en-US" b="1" dirty="0"/>
              <a:t>CPP </a:t>
            </a:r>
            <a:r>
              <a:rPr lang="en-US" dirty="0"/>
              <a:t>(cerebral perfusion pressure)  = </a:t>
            </a:r>
            <a:r>
              <a:rPr lang="en-US" dirty="0">
                <a:solidFill>
                  <a:srgbClr val="DB7575"/>
                </a:solidFill>
              </a:rPr>
              <a:t>MAP</a:t>
            </a:r>
            <a:r>
              <a:rPr lang="en-US" dirty="0">
                <a:solidFill>
                  <a:srgbClr val="FF0000"/>
                </a:solidFill>
              </a:rPr>
              <a:t> </a:t>
            </a:r>
            <a:r>
              <a:rPr lang="en-US" dirty="0"/>
              <a:t>- ICP</a:t>
            </a:r>
          </a:p>
        </p:txBody>
      </p:sp>
      <p:sp>
        <p:nvSpPr>
          <p:cNvPr id="68" name="MAP">
            <a:extLst>
              <a:ext uri="{FF2B5EF4-FFF2-40B4-BE49-F238E27FC236}">
                <a16:creationId xmlns:a16="http://schemas.microsoft.com/office/drawing/2014/main" id="{9E1A4D1A-38BE-D8B6-A1F9-356AB51D247D}"/>
              </a:ext>
            </a:extLst>
          </p:cNvPr>
          <p:cNvSpPr/>
          <p:nvPr/>
        </p:nvSpPr>
        <p:spPr>
          <a:xfrm>
            <a:off x="2732543" y="2395954"/>
            <a:ext cx="2488011" cy="101785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determines mean arterial pressure (</a:t>
            </a:r>
            <a:r>
              <a:rPr lang="en-US" dirty="0">
                <a:solidFill>
                  <a:srgbClr val="DB7575"/>
                </a:solidFill>
              </a:rPr>
              <a:t>MAP</a:t>
            </a:r>
            <a:r>
              <a:rPr lang="en-US" dirty="0">
                <a:solidFill>
                  <a:schemeClr val="tx1"/>
                </a:solidFill>
              </a:rPr>
              <a:t>)?</a:t>
            </a:r>
          </a:p>
        </p:txBody>
      </p:sp>
      <p:pic>
        <p:nvPicPr>
          <p:cNvPr id="69" name="Graphic 68" descr="Cursor with solid fill">
            <a:extLst>
              <a:ext uri="{FF2B5EF4-FFF2-40B4-BE49-F238E27FC236}">
                <a16:creationId xmlns:a16="http://schemas.microsoft.com/office/drawing/2014/main" id="{0A82633E-B578-0682-E07F-8D70D0852602}"/>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54711" y="3249107"/>
            <a:ext cx="274320" cy="274320"/>
          </a:xfrm>
          <a:prstGeom prst="rect">
            <a:avLst/>
          </a:prstGeom>
        </p:spPr>
      </p:pic>
      <p:sp>
        <p:nvSpPr>
          <p:cNvPr id="76" name="TextBox 75">
            <a:extLst>
              <a:ext uri="{FF2B5EF4-FFF2-40B4-BE49-F238E27FC236}">
                <a16:creationId xmlns:a16="http://schemas.microsoft.com/office/drawing/2014/main" id="{59D4B551-4148-088A-5B01-4B4456A61F5E}"/>
              </a:ext>
            </a:extLst>
          </p:cNvPr>
          <p:cNvSpPr txBox="1"/>
          <p:nvPr/>
        </p:nvSpPr>
        <p:spPr>
          <a:xfrm>
            <a:off x="6040539" y="2710715"/>
            <a:ext cx="2161821" cy="369332"/>
          </a:xfrm>
          <a:prstGeom prst="rect">
            <a:avLst/>
          </a:prstGeom>
          <a:noFill/>
          <a:ln>
            <a:noFill/>
          </a:ln>
        </p:spPr>
        <p:txBody>
          <a:bodyPr wrap="square" rtlCol="0">
            <a:spAutoFit/>
          </a:bodyPr>
          <a:lstStyle/>
          <a:p>
            <a:pPr algn="ctr"/>
            <a:r>
              <a:rPr lang="en-US" b="1" dirty="0">
                <a:solidFill>
                  <a:srgbClr val="DB7575"/>
                </a:solidFill>
              </a:rPr>
              <a:t>MAP</a:t>
            </a:r>
            <a:r>
              <a:rPr lang="en-US" b="1" dirty="0"/>
              <a:t> </a:t>
            </a:r>
            <a:r>
              <a:rPr lang="en-US" dirty="0"/>
              <a:t>= </a:t>
            </a:r>
            <a:r>
              <a:rPr lang="en-US" dirty="0">
                <a:solidFill>
                  <a:schemeClr val="accent2"/>
                </a:solidFill>
              </a:rPr>
              <a:t>CO</a:t>
            </a:r>
            <a:r>
              <a:rPr lang="en-US" dirty="0"/>
              <a:t> x SVR</a:t>
            </a:r>
          </a:p>
        </p:txBody>
      </p:sp>
      <p:cxnSp>
        <p:nvCxnSpPr>
          <p:cNvPr id="77" name="Straight Connector 76">
            <a:extLst>
              <a:ext uri="{FF2B5EF4-FFF2-40B4-BE49-F238E27FC236}">
                <a16:creationId xmlns:a16="http://schemas.microsoft.com/office/drawing/2014/main" id="{FF99AA2B-DA9A-B393-3EB8-36A11EA4D16D}"/>
              </a:ext>
            </a:extLst>
          </p:cNvPr>
          <p:cNvCxnSpPr>
            <a:cxnSpLocks/>
            <a:endCxn id="83" idx="1"/>
          </p:cNvCxnSpPr>
          <p:nvPr/>
        </p:nvCxnSpPr>
        <p:spPr>
          <a:xfrm flipV="1">
            <a:off x="10176662" y="4609445"/>
            <a:ext cx="597668" cy="157785"/>
          </a:xfrm>
          <a:prstGeom prst="line">
            <a:avLst/>
          </a:prstGeom>
        </p:spPr>
        <p:style>
          <a:lnRef idx="1">
            <a:schemeClr val="dk1"/>
          </a:lnRef>
          <a:fillRef idx="0">
            <a:schemeClr val="dk1"/>
          </a:fillRef>
          <a:effectRef idx="0">
            <a:schemeClr val="dk1"/>
          </a:effectRef>
          <a:fontRef idx="minor">
            <a:schemeClr val="tx1"/>
          </a:fontRef>
        </p:style>
      </p:cxnSp>
      <p:sp>
        <p:nvSpPr>
          <p:cNvPr id="83" name="TextBox 82">
            <a:extLst>
              <a:ext uri="{FF2B5EF4-FFF2-40B4-BE49-F238E27FC236}">
                <a16:creationId xmlns:a16="http://schemas.microsoft.com/office/drawing/2014/main" id="{42383602-E721-EBE6-23DB-59C3D97C6B02}"/>
              </a:ext>
            </a:extLst>
          </p:cNvPr>
          <p:cNvSpPr txBox="1"/>
          <p:nvPr/>
        </p:nvSpPr>
        <p:spPr>
          <a:xfrm>
            <a:off x="10774330" y="4424779"/>
            <a:ext cx="502921" cy="369332"/>
          </a:xfrm>
          <a:prstGeom prst="rect">
            <a:avLst/>
          </a:prstGeom>
          <a:noFill/>
          <a:ln>
            <a:noFill/>
          </a:ln>
        </p:spPr>
        <p:txBody>
          <a:bodyPr wrap="square" rtlCol="0">
            <a:spAutoFit/>
          </a:bodyPr>
          <a:lstStyle/>
          <a:p>
            <a:pPr algn="ctr"/>
            <a:r>
              <a:rPr lang="en-US" dirty="0">
                <a:solidFill>
                  <a:schemeClr val="accent2"/>
                </a:solidFill>
              </a:rPr>
              <a:t>CO</a:t>
            </a:r>
          </a:p>
        </p:txBody>
      </p:sp>
      <p:sp>
        <p:nvSpPr>
          <p:cNvPr id="89" name="CO">
            <a:extLst>
              <a:ext uri="{FF2B5EF4-FFF2-40B4-BE49-F238E27FC236}">
                <a16:creationId xmlns:a16="http://schemas.microsoft.com/office/drawing/2014/main" id="{396119DD-69A9-BDA8-6000-E9D0258F9864}"/>
              </a:ext>
            </a:extLst>
          </p:cNvPr>
          <p:cNvSpPr/>
          <p:nvPr/>
        </p:nvSpPr>
        <p:spPr>
          <a:xfrm>
            <a:off x="2716931" y="3726095"/>
            <a:ext cx="2488011" cy="652342"/>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determines cardiac output (</a:t>
            </a:r>
            <a:r>
              <a:rPr lang="en-US" dirty="0">
                <a:solidFill>
                  <a:schemeClr val="accent2"/>
                </a:solidFill>
              </a:rPr>
              <a:t>CO</a:t>
            </a:r>
            <a:r>
              <a:rPr lang="en-US" dirty="0">
                <a:solidFill>
                  <a:schemeClr val="tx1"/>
                </a:solidFill>
              </a:rPr>
              <a:t>)?  </a:t>
            </a:r>
          </a:p>
        </p:txBody>
      </p:sp>
      <p:pic>
        <p:nvPicPr>
          <p:cNvPr id="90" name="Graphic 89" descr="Cursor with solid fill">
            <a:extLst>
              <a:ext uri="{FF2B5EF4-FFF2-40B4-BE49-F238E27FC236}">
                <a16:creationId xmlns:a16="http://schemas.microsoft.com/office/drawing/2014/main" id="{1E868D66-DB43-CEC4-C51B-B473E7C8F71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68445" y="4244584"/>
            <a:ext cx="274320" cy="274320"/>
          </a:xfrm>
          <a:prstGeom prst="rect">
            <a:avLst/>
          </a:prstGeom>
        </p:spPr>
      </p:pic>
      <p:sp>
        <p:nvSpPr>
          <p:cNvPr id="91" name="TextBox 90">
            <a:extLst>
              <a:ext uri="{FF2B5EF4-FFF2-40B4-BE49-F238E27FC236}">
                <a16:creationId xmlns:a16="http://schemas.microsoft.com/office/drawing/2014/main" id="{4AFD72D6-1A24-E9F8-C4B4-07CF7E715124}"/>
              </a:ext>
            </a:extLst>
          </p:cNvPr>
          <p:cNvSpPr txBox="1"/>
          <p:nvPr/>
        </p:nvSpPr>
        <p:spPr>
          <a:xfrm>
            <a:off x="5346582" y="3850071"/>
            <a:ext cx="3549735" cy="369332"/>
          </a:xfrm>
          <a:prstGeom prst="rect">
            <a:avLst/>
          </a:prstGeom>
          <a:noFill/>
          <a:ln>
            <a:noFill/>
          </a:ln>
        </p:spPr>
        <p:txBody>
          <a:bodyPr wrap="square" rtlCol="0">
            <a:spAutoFit/>
          </a:bodyPr>
          <a:lstStyle/>
          <a:p>
            <a:pPr algn="ctr"/>
            <a:r>
              <a:rPr lang="en-US" b="1" dirty="0">
                <a:solidFill>
                  <a:schemeClr val="accent2"/>
                </a:solidFill>
              </a:rPr>
              <a:t>CO</a:t>
            </a:r>
            <a:r>
              <a:rPr lang="en-US" b="1" dirty="0"/>
              <a:t> </a:t>
            </a:r>
            <a:r>
              <a:rPr lang="en-US" dirty="0"/>
              <a:t>= HR x SV</a:t>
            </a:r>
          </a:p>
        </p:txBody>
      </p:sp>
      <p:cxnSp>
        <p:nvCxnSpPr>
          <p:cNvPr id="92" name="Straight Connector 91">
            <a:extLst>
              <a:ext uri="{FF2B5EF4-FFF2-40B4-BE49-F238E27FC236}">
                <a16:creationId xmlns:a16="http://schemas.microsoft.com/office/drawing/2014/main" id="{DC1DF595-0F2E-F705-7C7C-DE20BA649962}"/>
              </a:ext>
            </a:extLst>
          </p:cNvPr>
          <p:cNvCxnSpPr>
            <a:cxnSpLocks/>
          </p:cNvCxnSpPr>
          <p:nvPr/>
        </p:nvCxnSpPr>
        <p:spPr>
          <a:xfrm>
            <a:off x="10332454" y="5054600"/>
            <a:ext cx="441876" cy="250446"/>
          </a:xfrm>
          <a:prstGeom prst="line">
            <a:avLst/>
          </a:prstGeom>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8C020637-B0A3-58D9-E2AD-3B8B502FBC26}"/>
              </a:ext>
            </a:extLst>
          </p:cNvPr>
          <p:cNvCxnSpPr>
            <a:cxnSpLocks/>
            <a:stCxn id="145" idx="2"/>
            <a:endCxn id="129" idx="0"/>
          </p:cNvCxnSpPr>
          <p:nvPr/>
        </p:nvCxnSpPr>
        <p:spPr>
          <a:xfrm flipH="1">
            <a:off x="9530587" y="5829234"/>
            <a:ext cx="546206" cy="176226"/>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Connector 100">
            <a:extLst>
              <a:ext uri="{FF2B5EF4-FFF2-40B4-BE49-F238E27FC236}">
                <a16:creationId xmlns:a16="http://schemas.microsoft.com/office/drawing/2014/main" id="{555DD3A7-92A6-9E32-D4E3-B779F8274EEA}"/>
              </a:ext>
            </a:extLst>
          </p:cNvPr>
          <p:cNvCxnSpPr>
            <a:cxnSpLocks/>
            <a:stCxn id="145" idx="2"/>
            <a:endCxn id="64" idx="0"/>
          </p:cNvCxnSpPr>
          <p:nvPr/>
        </p:nvCxnSpPr>
        <p:spPr>
          <a:xfrm>
            <a:off x="10076793" y="5829234"/>
            <a:ext cx="652722" cy="170043"/>
          </a:xfrm>
          <a:prstGeom prst="line">
            <a:avLst/>
          </a:prstGeom>
        </p:spPr>
        <p:style>
          <a:lnRef idx="1">
            <a:schemeClr val="dk1"/>
          </a:lnRef>
          <a:fillRef idx="0">
            <a:schemeClr val="dk1"/>
          </a:fillRef>
          <a:effectRef idx="0">
            <a:schemeClr val="dk1"/>
          </a:effectRef>
          <a:fontRef idx="minor">
            <a:schemeClr val="tx1"/>
          </a:fontRef>
        </p:style>
      </p:cxnSp>
      <p:sp>
        <p:nvSpPr>
          <p:cNvPr id="129" name="TextBox 128">
            <a:extLst>
              <a:ext uri="{FF2B5EF4-FFF2-40B4-BE49-F238E27FC236}">
                <a16:creationId xmlns:a16="http://schemas.microsoft.com/office/drawing/2014/main" id="{019435A8-EB16-B553-ECBE-3C9052B7B1F4}"/>
              </a:ext>
            </a:extLst>
          </p:cNvPr>
          <p:cNvSpPr txBox="1"/>
          <p:nvPr/>
        </p:nvSpPr>
        <p:spPr>
          <a:xfrm>
            <a:off x="9111327" y="6005460"/>
            <a:ext cx="838520" cy="341722"/>
          </a:xfrm>
          <a:prstGeom prst="rect">
            <a:avLst/>
          </a:prstGeom>
          <a:noFill/>
          <a:ln>
            <a:noFill/>
          </a:ln>
        </p:spPr>
        <p:txBody>
          <a:bodyPr wrap="square" rtlCol="0">
            <a:spAutoFit/>
          </a:bodyPr>
          <a:lstStyle/>
          <a:p>
            <a:pPr algn="ctr"/>
            <a:r>
              <a:rPr lang="en-US" sz="1600" dirty="0"/>
              <a:t>preload</a:t>
            </a:r>
          </a:p>
        </p:txBody>
      </p:sp>
      <p:sp>
        <p:nvSpPr>
          <p:cNvPr id="137" name="SV">
            <a:extLst>
              <a:ext uri="{FF2B5EF4-FFF2-40B4-BE49-F238E27FC236}">
                <a16:creationId xmlns:a16="http://schemas.microsoft.com/office/drawing/2014/main" id="{D3322533-6723-521C-9309-3DB6827DA3F0}"/>
              </a:ext>
            </a:extLst>
          </p:cNvPr>
          <p:cNvSpPr/>
          <p:nvPr/>
        </p:nvSpPr>
        <p:spPr>
          <a:xfrm>
            <a:off x="2733417" y="4750559"/>
            <a:ext cx="2488011" cy="652342"/>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What determines cardiac output (CO)?  </a:t>
            </a:r>
          </a:p>
        </p:txBody>
      </p:sp>
      <p:sp>
        <p:nvSpPr>
          <p:cNvPr id="138" name="SV button">
            <a:extLst>
              <a:ext uri="{FF2B5EF4-FFF2-40B4-BE49-F238E27FC236}">
                <a16:creationId xmlns:a16="http://schemas.microsoft.com/office/drawing/2014/main" id="{1FE22C3F-CF7D-123F-88B4-AA13012AB7AB}"/>
              </a:ext>
            </a:extLst>
          </p:cNvPr>
          <p:cNvSpPr/>
          <p:nvPr/>
        </p:nvSpPr>
        <p:spPr>
          <a:xfrm>
            <a:off x="2729990" y="4750405"/>
            <a:ext cx="2488011" cy="652342"/>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determines stroke volume?  </a:t>
            </a:r>
          </a:p>
        </p:txBody>
      </p:sp>
      <p:pic>
        <p:nvPicPr>
          <p:cNvPr id="139" name="Graphic 138" descr="Cursor with solid fill">
            <a:extLst>
              <a:ext uri="{FF2B5EF4-FFF2-40B4-BE49-F238E27FC236}">
                <a16:creationId xmlns:a16="http://schemas.microsoft.com/office/drawing/2014/main" id="{71400BC5-2EA0-6191-9A97-6FCE9F7C9E4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1504" y="5268894"/>
            <a:ext cx="274320" cy="274320"/>
          </a:xfrm>
          <a:prstGeom prst="rect">
            <a:avLst/>
          </a:prstGeom>
        </p:spPr>
      </p:pic>
      <p:sp>
        <p:nvSpPr>
          <p:cNvPr id="141" name="TextBox 140">
            <a:extLst>
              <a:ext uri="{FF2B5EF4-FFF2-40B4-BE49-F238E27FC236}">
                <a16:creationId xmlns:a16="http://schemas.microsoft.com/office/drawing/2014/main" id="{BFB8F63E-5C2D-9517-253F-CE285F698050}"/>
              </a:ext>
            </a:extLst>
          </p:cNvPr>
          <p:cNvSpPr txBox="1"/>
          <p:nvPr/>
        </p:nvSpPr>
        <p:spPr>
          <a:xfrm>
            <a:off x="5505877" y="4772775"/>
            <a:ext cx="3231144" cy="646331"/>
          </a:xfrm>
          <a:prstGeom prst="rect">
            <a:avLst/>
          </a:prstGeom>
          <a:noFill/>
        </p:spPr>
        <p:txBody>
          <a:bodyPr wrap="square">
            <a:spAutoFit/>
          </a:bodyPr>
          <a:lstStyle/>
          <a:p>
            <a:pPr algn="ctr"/>
            <a:r>
              <a:rPr lang="en-US" dirty="0"/>
              <a:t>SV is impacted by preload, afterload (SVR) and contractility</a:t>
            </a:r>
          </a:p>
        </p:txBody>
      </p:sp>
      <p:cxnSp>
        <p:nvCxnSpPr>
          <p:cNvPr id="142" name="Straight Connector 141">
            <a:extLst>
              <a:ext uri="{FF2B5EF4-FFF2-40B4-BE49-F238E27FC236}">
                <a16:creationId xmlns:a16="http://schemas.microsoft.com/office/drawing/2014/main" id="{CF4C5245-FFE1-62E6-3BB3-BC846E8062B6}"/>
              </a:ext>
            </a:extLst>
          </p:cNvPr>
          <p:cNvCxnSpPr>
            <a:cxnSpLocks/>
            <a:endCxn id="145" idx="0"/>
          </p:cNvCxnSpPr>
          <p:nvPr/>
        </p:nvCxnSpPr>
        <p:spPr>
          <a:xfrm flipH="1">
            <a:off x="10076793" y="5054600"/>
            <a:ext cx="17943" cy="432912"/>
          </a:xfrm>
          <a:prstGeom prst="line">
            <a:avLst/>
          </a:prstGeom>
        </p:spPr>
        <p:style>
          <a:lnRef idx="1">
            <a:schemeClr val="dk1"/>
          </a:lnRef>
          <a:fillRef idx="0">
            <a:schemeClr val="dk1"/>
          </a:fillRef>
          <a:effectRef idx="0">
            <a:schemeClr val="dk1"/>
          </a:effectRef>
          <a:fontRef idx="minor">
            <a:schemeClr val="tx1"/>
          </a:fontRef>
        </p:style>
      </p:cxnSp>
      <p:sp>
        <p:nvSpPr>
          <p:cNvPr id="145" name="TextBox 144">
            <a:extLst>
              <a:ext uri="{FF2B5EF4-FFF2-40B4-BE49-F238E27FC236}">
                <a16:creationId xmlns:a16="http://schemas.microsoft.com/office/drawing/2014/main" id="{37FE2810-EBD2-0E7D-E7D1-99E4DB4C1415}"/>
              </a:ext>
            </a:extLst>
          </p:cNvPr>
          <p:cNvSpPr txBox="1"/>
          <p:nvPr/>
        </p:nvSpPr>
        <p:spPr>
          <a:xfrm>
            <a:off x="9657533" y="5487512"/>
            <a:ext cx="838520" cy="341722"/>
          </a:xfrm>
          <a:prstGeom prst="rect">
            <a:avLst/>
          </a:prstGeom>
          <a:noFill/>
          <a:ln>
            <a:noFill/>
          </a:ln>
        </p:spPr>
        <p:txBody>
          <a:bodyPr wrap="square" rtlCol="0">
            <a:spAutoFit/>
          </a:bodyPr>
          <a:lstStyle/>
          <a:p>
            <a:pPr algn="ctr"/>
            <a:r>
              <a:rPr lang="en-US" sz="1600" dirty="0"/>
              <a:t>SV</a:t>
            </a:r>
          </a:p>
        </p:txBody>
      </p:sp>
      <p:sp>
        <p:nvSpPr>
          <p:cNvPr id="2" name="Obj 2">
            <a:hlinkClick r:id="rId11" action="ppaction://hlinksldjump"/>
            <a:extLst>
              <a:ext uri="{FF2B5EF4-FFF2-40B4-BE49-F238E27FC236}">
                <a16:creationId xmlns:a16="http://schemas.microsoft.com/office/drawing/2014/main" id="{F4A25237-1ECB-D389-3030-17921920F2E5}"/>
              </a:ext>
            </a:extLst>
          </p:cNvPr>
          <p:cNvSpPr/>
          <p:nvPr/>
        </p:nvSpPr>
        <p:spPr>
          <a:xfrm>
            <a:off x="176803" y="3054133"/>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4" name="Graphic 3" descr="Cursor with solid fill">
            <a:extLst>
              <a:ext uri="{FF2B5EF4-FFF2-40B4-BE49-F238E27FC236}">
                <a16:creationId xmlns:a16="http://schemas.microsoft.com/office/drawing/2014/main" id="{2BFA023B-1B03-E83C-D28F-4083B1A99C21}"/>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304330"/>
            <a:ext cx="274320" cy="274320"/>
          </a:xfrm>
          <a:prstGeom prst="rect">
            <a:avLst/>
          </a:prstGeom>
        </p:spPr>
      </p:pic>
      <p:sp>
        <p:nvSpPr>
          <p:cNvPr id="5" name="Obj 2">
            <a:hlinkClick r:id="rId12" action="ppaction://hlinksldjump"/>
            <a:extLst>
              <a:ext uri="{FF2B5EF4-FFF2-40B4-BE49-F238E27FC236}">
                <a16:creationId xmlns:a16="http://schemas.microsoft.com/office/drawing/2014/main" id="{C66F6BF0-2E29-EE92-A0C8-45341D02A4E4}"/>
              </a:ext>
            </a:extLst>
          </p:cNvPr>
          <p:cNvSpPr/>
          <p:nvPr/>
        </p:nvSpPr>
        <p:spPr>
          <a:xfrm>
            <a:off x="176803" y="3622985"/>
            <a:ext cx="184489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6" name="Graphic 5" descr="Cursor with solid fill">
            <a:extLst>
              <a:ext uri="{FF2B5EF4-FFF2-40B4-BE49-F238E27FC236}">
                <a16:creationId xmlns:a16="http://schemas.microsoft.com/office/drawing/2014/main" id="{9970D65F-D478-A2EA-3565-B4F911CE638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86338" y="3873182"/>
            <a:ext cx="274320" cy="274320"/>
          </a:xfrm>
          <a:prstGeom prst="rect">
            <a:avLst/>
          </a:prstGeom>
        </p:spPr>
      </p:pic>
    </p:spTree>
    <p:extLst>
      <p:ext uri="{BB962C8B-B14F-4D97-AF65-F5344CB8AC3E}">
        <p14:creationId xmlns:p14="http://schemas.microsoft.com/office/powerpoint/2010/main" val="2033630583"/>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25"/>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17" restart="whenNotActive" fill="hold" evtFilter="cancelBubble" nodeType="interactiveSeq">
                <p:stCondLst>
                  <p:cond evt="onClick" delay="0">
                    <p:tgtEl>
                      <p:spTgt spid="6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68"/>
                                        </p:tgtEl>
                                        <p:attrNameLst>
                                          <p:attrName>style.visibility</p:attrName>
                                        </p:attrNameLst>
                                      </p:cBhvr>
                                      <p:to>
                                        <p:strVal val="hidden"/>
                                      </p:to>
                                    </p:set>
                                  </p:childTnLst>
                                </p:cTn>
                              </p:par>
                              <p:par>
                                <p:cTn id="22" presetID="1" presetClass="exit" presetSubtype="0" fill="hold" nodeType="withEffect">
                                  <p:stCondLst>
                                    <p:cond delay="0"/>
                                  </p:stCondLst>
                                  <p:childTnLst>
                                    <p:set>
                                      <p:cBhvr>
                                        <p:cTn id="23" dur="1" fill="hold">
                                          <p:stCondLst>
                                            <p:cond delay="0"/>
                                          </p:stCondLst>
                                        </p:cTn>
                                        <p:tgtEl>
                                          <p:spTgt spid="69"/>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7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8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77"/>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childTnLst>
                                </p:cTn>
                              </p:par>
                            </p:childTnLst>
                          </p:cTn>
                        </p:par>
                      </p:childTnLst>
                    </p:cTn>
                  </p:par>
                </p:childTnLst>
              </p:cTn>
              <p:nextCondLst>
                <p:cond evt="onClick" delay="0">
                  <p:tgtEl>
                    <p:spTgt spid="68"/>
                  </p:tgtEl>
                </p:cond>
              </p:nextCondLst>
            </p:seq>
            <p:seq concurrent="1" nextAc="seek">
              <p:cTn id="34" restart="whenNotActive" fill="hold" evtFilter="cancelBubble" nodeType="interactiveSeq">
                <p:stCondLst>
                  <p:cond evt="onClick" delay="0">
                    <p:tgtEl>
                      <p:spTgt spid="89"/>
                    </p:tgtEl>
                  </p:cond>
                </p:stCondLst>
                <p:endSync evt="end" delay="0">
                  <p:rtn val="all"/>
                </p:endSync>
                <p:childTnLst>
                  <p:par>
                    <p:cTn id="35" fill="hold">
                      <p:stCondLst>
                        <p:cond delay="0"/>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par>
                                <p:cTn id="39" presetID="1" presetClass="exit" presetSubtype="0" fill="hold" grpId="0" nodeType="withEffect">
                                  <p:stCondLst>
                                    <p:cond delay="0"/>
                                  </p:stCondLst>
                                  <p:childTnLst>
                                    <p:set>
                                      <p:cBhvr>
                                        <p:cTn id="40" dur="1" fill="hold">
                                          <p:stCondLst>
                                            <p:cond delay="0"/>
                                          </p:stCondLst>
                                        </p:cTn>
                                        <p:tgtEl>
                                          <p:spTgt spid="89"/>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90"/>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5"/>
                                        </p:tgtEl>
                                        <p:attrNameLst>
                                          <p:attrName>style.visibility</p:attrName>
                                        </p:attrNameLst>
                                      </p:cBhvr>
                                      <p:to>
                                        <p:strVal val="visible"/>
                                      </p:to>
                                    </p:set>
                                  </p:childTnLst>
                                </p:cTn>
                              </p:par>
                            </p:childTnLst>
                          </p:cTn>
                        </p:par>
                      </p:childTnLst>
                    </p:cTn>
                  </p:par>
                </p:childTnLst>
              </p:cTn>
              <p:nextCondLst>
                <p:cond evt="onClick" delay="0">
                  <p:tgtEl>
                    <p:spTgt spid="89"/>
                  </p:tgtEl>
                </p:cond>
              </p:nextCondLst>
            </p:seq>
            <p:seq concurrent="1" nextAc="seek">
              <p:cTn id="51" restart="whenNotActive" fill="hold" evtFilter="cancelBubble" nodeType="interactiveSeq">
                <p:stCondLst>
                  <p:cond evt="onClick" delay="0">
                    <p:tgtEl>
                      <p:spTgt spid="138"/>
                    </p:tgtEl>
                  </p:cond>
                </p:stCondLst>
                <p:endSync evt="end" delay="0">
                  <p:rtn val="all"/>
                </p:endSync>
                <p:childTnLst>
                  <p:par>
                    <p:cTn id="52" fill="hold">
                      <p:stCondLst>
                        <p:cond delay="0"/>
                      </p:stCondLst>
                      <p:childTnLst>
                        <p:par>
                          <p:cTn id="53" fill="hold">
                            <p:stCondLst>
                              <p:cond delay="0"/>
                            </p:stCondLst>
                            <p:childTnLst>
                              <p:par>
                                <p:cTn id="54" presetID="1" presetClass="entr" presetSubtype="0" fill="hold" grpId="0" nodeType="withEffect">
                                  <p:stCondLst>
                                    <p:cond delay="0"/>
                                  </p:stCondLst>
                                  <p:childTnLst>
                                    <p:set>
                                      <p:cBhvr>
                                        <p:cTn id="55" dur="1" fill="hold">
                                          <p:stCondLst>
                                            <p:cond delay="0"/>
                                          </p:stCondLst>
                                        </p:cTn>
                                        <p:tgtEl>
                                          <p:spTgt spid="141"/>
                                        </p:tgtEl>
                                        <p:attrNameLst>
                                          <p:attrName>style.visibility</p:attrName>
                                        </p:attrNameLst>
                                      </p:cBhvr>
                                      <p:to>
                                        <p:strVal val="visible"/>
                                      </p:to>
                                    </p:set>
                                  </p:childTnLst>
                                </p:cTn>
                              </p:par>
                              <p:par>
                                <p:cTn id="56" presetID="1" presetClass="exit" presetSubtype="0" fill="hold" grpId="0" nodeType="withEffect">
                                  <p:stCondLst>
                                    <p:cond delay="0"/>
                                  </p:stCondLst>
                                  <p:childTnLst>
                                    <p:set>
                                      <p:cBhvr>
                                        <p:cTn id="57" dur="1" fill="hold">
                                          <p:stCondLst>
                                            <p:cond delay="0"/>
                                          </p:stCondLst>
                                        </p:cTn>
                                        <p:tgtEl>
                                          <p:spTgt spid="138"/>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139"/>
                                        </p:tgtEl>
                                        <p:attrNameLst>
                                          <p:attrName>style.visibility</p:attrName>
                                        </p:attrNameLst>
                                      </p:cBhvr>
                                      <p:to>
                                        <p:strVal val="hidden"/>
                                      </p:to>
                                    </p:set>
                                  </p:childTnLst>
                                </p:cTn>
                              </p:par>
                              <p:par>
                                <p:cTn id="60" presetID="1" presetClass="entr" presetSubtype="0" fill="hold" nodeType="withEffect">
                                  <p:stCondLst>
                                    <p:cond delay="0"/>
                                  </p:stCondLst>
                                  <p:childTnLst>
                                    <p:set>
                                      <p:cBhvr>
                                        <p:cTn id="61" dur="1" fill="hold">
                                          <p:stCondLst>
                                            <p:cond delay="0"/>
                                          </p:stCondLst>
                                        </p:cTn>
                                        <p:tgtEl>
                                          <p:spTgt spid="9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29"/>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0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64"/>
                                        </p:tgtEl>
                                        <p:attrNameLst>
                                          <p:attrName>style.visibility</p:attrName>
                                        </p:attrNameLst>
                                      </p:cBhvr>
                                      <p:to>
                                        <p:strVal val="visible"/>
                                      </p:to>
                                    </p:set>
                                  </p:childTnLst>
                                </p:cTn>
                              </p:par>
                            </p:childTnLst>
                          </p:cTn>
                        </p:par>
                      </p:childTnLst>
                    </p:cTn>
                  </p:par>
                </p:childTnLst>
              </p:cTn>
              <p:nextCondLst>
                <p:cond evt="onClick" delay="0">
                  <p:tgtEl>
                    <p:spTgt spid="138"/>
                  </p:tgtEl>
                </p:cond>
              </p:nextCondLst>
            </p:seq>
          </p:childTnLst>
        </p:cTn>
      </p:par>
    </p:tnLst>
    <p:bldLst>
      <p:bldP spid="9" grpId="0" animBg="1"/>
      <p:bldP spid="55" grpId="0"/>
      <p:bldP spid="64" grpId="0"/>
      <p:bldP spid="44" grpId="0"/>
      <p:bldP spid="53" grpId="0"/>
      <p:bldP spid="62" grpId="0" animBg="1"/>
      <p:bldP spid="65" grpId="0"/>
      <p:bldP spid="68" grpId="0" animBg="1"/>
      <p:bldP spid="76" grpId="0"/>
      <p:bldP spid="83" grpId="0"/>
      <p:bldP spid="89" grpId="0" animBg="1"/>
      <p:bldP spid="91" grpId="0"/>
      <p:bldP spid="129" grpId="0"/>
      <p:bldP spid="138" grpId="0" animBg="1"/>
      <p:bldP spid="141" grpId="0"/>
      <p:bldP spid="1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PP">
            <a:extLst>
              <a:ext uri="{FF2B5EF4-FFF2-40B4-BE49-F238E27FC236}">
                <a16:creationId xmlns:a16="http://schemas.microsoft.com/office/drawing/2014/main" id="{0FDD353F-86B2-5E5B-A745-BAD3B5BB81ED}"/>
              </a:ext>
            </a:extLst>
          </p:cNvPr>
          <p:cNvSpPr/>
          <p:nvPr/>
        </p:nvSpPr>
        <p:spPr>
          <a:xfrm>
            <a:off x="3020494" y="1949277"/>
            <a:ext cx="457200"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35" name="MAP">
            <a:extLst>
              <a:ext uri="{FF2B5EF4-FFF2-40B4-BE49-F238E27FC236}">
                <a16:creationId xmlns:a16="http://schemas.microsoft.com/office/drawing/2014/main" id="{D749D61A-71FE-367A-E94E-6D2A0B6C52AF}"/>
              </a:ext>
            </a:extLst>
          </p:cNvPr>
          <p:cNvSpPr/>
          <p:nvPr/>
        </p:nvSpPr>
        <p:spPr>
          <a:xfrm>
            <a:off x="3020494" y="3062316"/>
            <a:ext cx="457200"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136" name="SV">
            <a:extLst>
              <a:ext uri="{FF2B5EF4-FFF2-40B4-BE49-F238E27FC236}">
                <a16:creationId xmlns:a16="http://schemas.microsoft.com/office/drawing/2014/main" id="{A41DC25B-E1A0-4C74-D4F8-BD46A36FA3B5}"/>
              </a:ext>
            </a:extLst>
          </p:cNvPr>
          <p:cNvSpPr/>
          <p:nvPr/>
        </p:nvSpPr>
        <p:spPr>
          <a:xfrm>
            <a:off x="3004882" y="4175509"/>
            <a:ext cx="457200"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9" name="1">
            <a:extLst>
              <a:ext uri="{FF2B5EF4-FFF2-40B4-BE49-F238E27FC236}">
                <a16:creationId xmlns:a16="http://schemas.microsoft.com/office/drawing/2014/main" id="{75961555-110B-874D-AE02-BF5638FEC345}"/>
              </a:ext>
            </a:extLst>
          </p:cNvPr>
          <p:cNvSpPr/>
          <p:nvPr/>
        </p:nvSpPr>
        <p:spPr>
          <a:xfrm>
            <a:off x="3017067" y="1949123"/>
            <a:ext cx="45720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8" name="TextBox 147">
            <a:extLst>
              <a:ext uri="{FF2B5EF4-FFF2-40B4-BE49-F238E27FC236}">
                <a16:creationId xmlns:a16="http://schemas.microsoft.com/office/drawing/2014/main" id="{F4ADD56A-EB89-5649-A63B-1B4FC5A534B6}"/>
              </a:ext>
            </a:extLst>
          </p:cNvPr>
          <p:cNvSpPr txBox="1"/>
          <p:nvPr/>
        </p:nvSpPr>
        <p:spPr>
          <a:xfrm>
            <a:off x="1308585" y="7554377"/>
            <a:ext cx="184731" cy="353609"/>
          </a:xfrm>
          <a:prstGeom prst="rect">
            <a:avLst/>
          </a:prstGeom>
          <a:noFill/>
        </p:spPr>
        <p:txBody>
          <a:bodyPr wrap="square" rtlCol="0">
            <a:spAutoFit/>
          </a:bodyPr>
          <a:lstStyle/>
          <a:p>
            <a:endParaRPr lang="en-US" dirty="0"/>
          </a:p>
        </p:txBody>
      </p:sp>
      <p:pic>
        <p:nvPicPr>
          <p:cNvPr id="225" name="Graphic 224" descr="Cursor with solid fill">
            <a:extLst>
              <a:ext uri="{FF2B5EF4-FFF2-40B4-BE49-F238E27FC236}">
                <a16:creationId xmlns:a16="http://schemas.microsoft.com/office/drawing/2014/main" id="{1047E1F4-A26C-4043-A08D-58F751DFF397}"/>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3087" y="2267747"/>
            <a:ext cx="274320" cy="274320"/>
          </a:xfrm>
          <a:prstGeom prst="rect">
            <a:avLst/>
          </a:prstGeom>
        </p:spPr>
      </p:pic>
      <p:sp>
        <p:nvSpPr>
          <p:cNvPr id="3" name="TextBox 2">
            <a:extLst>
              <a:ext uri="{FF2B5EF4-FFF2-40B4-BE49-F238E27FC236}">
                <a16:creationId xmlns:a16="http://schemas.microsoft.com/office/drawing/2014/main" id="{5EABC7F4-9022-1341-16E6-4414B3114684}"/>
              </a:ext>
            </a:extLst>
          </p:cNvPr>
          <p:cNvSpPr txBox="1"/>
          <p:nvPr/>
        </p:nvSpPr>
        <p:spPr>
          <a:xfrm>
            <a:off x="-3537" y="5937009"/>
            <a:ext cx="4132006" cy="954107"/>
          </a:xfrm>
          <a:prstGeom prst="rect">
            <a:avLst/>
          </a:prstGeom>
          <a:noFill/>
        </p:spPr>
        <p:txBody>
          <a:bodyPr wrap="square" rtlCol="0">
            <a:spAutoFit/>
          </a:bodyPr>
          <a:lstStyle/>
          <a:p>
            <a:r>
              <a:rPr lang="en-US" sz="1400" dirty="0"/>
              <a:t>MAP = mean arterial pressure</a:t>
            </a:r>
          </a:p>
          <a:p>
            <a:r>
              <a:rPr lang="en-US" sz="1400" dirty="0"/>
              <a:t>ICP = intracranial pressure</a:t>
            </a:r>
          </a:p>
          <a:p>
            <a:r>
              <a:rPr lang="en-US" sz="1400" dirty="0"/>
              <a:t>CO = cardiac output</a:t>
            </a:r>
          </a:p>
          <a:p>
            <a:r>
              <a:rPr lang="en-US" sz="1400" dirty="0"/>
              <a:t>SVR = systemic vascular resistance</a:t>
            </a:r>
          </a:p>
        </p:txBody>
      </p:sp>
      <p:sp>
        <p:nvSpPr>
          <p:cNvPr id="12" name="Obj 2">
            <a:hlinkClick r:id="rId5" action="ppaction://hlinksldjump"/>
            <a:extLst>
              <a:ext uri="{FF2B5EF4-FFF2-40B4-BE49-F238E27FC236}">
                <a16:creationId xmlns:a16="http://schemas.microsoft.com/office/drawing/2014/main" id="{AD3C38D3-D098-9D0E-288F-1A059E4669E6}"/>
              </a:ext>
            </a:extLst>
          </p:cNvPr>
          <p:cNvSpPr/>
          <p:nvPr/>
        </p:nvSpPr>
        <p:spPr>
          <a:xfrm>
            <a:off x="17680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13" name="Graphic 12" descr="Cursor with solid fill">
            <a:extLst>
              <a:ext uri="{FF2B5EF4-FFF2-40B4-BE49-F238E27FC236}">
                <a16:creationId xmlns:a16="http://schemas.microsoft.com/office/drawing/2014/main" id="{7AE7EBA9-048A-20E1-8756-625C0A02EA0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454521"/>
            <a:ext cx="274320" cy="274320"/>
          </a:xfrm>
          <a:prstGeom prst="rect">
            <a:avLst/>
          </a:prstGeom>
        </p:spPr>
      </p:pic>
      <p:sp>
        <p:nvSpPr>
          <p:cNvPr id="14" name="Obj 2">
            <a:hlinkClick r:id="rId6" action="ppaction://hlinksldjump"/>
            <a:extLst>
              <a:ext uri="{FF2B5EF4-FFF2-40B4-BE49-F238E27FC236}">
                <a16:creationId xmlns:a16="http://schemas.microsoft.com/office/drawing/2014/main" id="{9BCBDB3E-4003-29F5-51B7-D62BDD6E436D}"/>
              </a:ext>
            </a:extLst>
          </p:cNvPr>
          <p:cNvSpPr/>
          <p:nvPr/>
        </p:nvSpPr>
        <p:spPr>
          <a:xfrm>
            <a:off x="451413" y="773505"/>
            <a:ext cx="1593373"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CPP</a:t>
            </a:r>
          </a:p>
        </p:txBody>
      </p:sp>
      <p:pic>
        <p:nvPicPr>
          <p:cNvPr id="15" name="Graphic 14" descr="Cursor with solid fill">
            <a:extLst>
              <a:ext uri="{FF2B5EF4-FFF2-40B4-BE49-F238E27FC236}">
                <a16:creationId xmlns:a16="http://schemas.microsoft.com/office/drawing/2014/main" id="{1C3A6627-762D-1901-4CDC-225857870BF2}"/>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021974"/>
            <a:ext cx="274320" cy="274320"/>
          </a:xfrm>
          <a:prstGeom prst="rect">
            <a:avLst/>
          </a:prstGeom>
        </p:spPr>
      </p:pic>
      <p:sp>
        <p:nvSpPr>
          <p:cNvPr id="16" name="Obj 2">
            <a:extLst>
              <a:ext uri="{FF2B5EF4-FFF2-40B4-BE49-F238E27FC236}">
                <a16:creationId xmlns:a16="http://schemas.microsoft.com/office/drawing/2014/main" id="{8F2EE070-5B93-646A-0FF4-BE7F7A012197}"/>
              </a:ext>
            </a:extLst>
          </p:cNvPr>
          <p:cNvSpPr/>
          <p:nvPr/>
        </p:nvSpPr>
        <p:spPr>
          <a:xfrm>
            <a:off x="451413" y="1343662"/>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solidFill>
              </a:rPr>
              <a:t>Baro</a:t>
            </a:r>
            <a:r>
              <a:rPr lang="en-US" dirty="0">
                <a:solidFill>
                  <a:schemeClr val="bg1"/>
                </a:solidFill>
              </a:rPr>
              <a:t>-R Reflex</a:t>
            </a:r>
          </a:p>
        </p:txBody>
      </p:sp>
      <p:sp>
        <p:nvSpPr>
          <p:cNvPr id="18" name="Obj 2">
            <a:hlinkClick r:id="rId7" action="ppaction://hlinksldjump"/>
            <a:extLst>
              <a:ext uri="{FF2B5EF4-FFF2-40B4-BE49-F238E27FC236}">
                <a16:creationId xmlns:a16="http://schemas.microsoft.com/office/drawing/2014/main" id="{162CBA31-E911-A6B6-44D1-D54D0647481A}"/>
              </a:ext>
            </a:extLst>
          </p:cNvPr>
          <p:cNvSpPr/>
          <p:nvPr/>
        </p:nvSpPr>
        <p:spPr>
          <a:xfrm>
            <a:off x="176803" y="1913819"/>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pic>
        <p:nvPicPr>
          <p:cNvPr id="19" name="Graphic 18" descr="Cursor with solid fill">
            <a:extLst>
              <a:ext uri="{FF2B5EF4-FFF2-40B4-BE49-F238E27FC236}">
                <a16:creationId xmlns:a16="http://schemas.microsoft.com/office/drawing/2014/main" id="{B5BD3C76-3551-A662-7903-3F729C354C6B}"/>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170258"/>
            <a:ext cx="274320" cy="274320"/>
          </a:xfrm>
          <a:prstGeom prst="rect">
            <a:avLst/>
          </a:prstGeom>
        </p:spPr>
      </p:pic>
      <p:sp>
        <p:nvSpPr>
          <p:cNvPr id="20" name="Obj 2">
            <a:hlinkClick r:id="rId8" action="ppaction://hlinksldjump"/>
            <a:extLst>
              <a:ext uri="{FF2B5EF4-FFF2-40B4-BE49-F238E27FC236}">
                <a16:creationId xmlns:a16="http://schemas.microsoft.com/office/drawing/2014/main" id="{12D17DAD-A789-4B15-DA6C-469352A641D0}"/>
              </a:ext>
            </a:extLst>
          </p:cNvPr>
          <p:cNvSpPr/>
          <p:nvPr/>
        </p:nvSpPr>
        <p:spPr>
          <a:xfrm>
            <a:off x="176803" y="2483976"/>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pic>
        <p:nvPicPr>
          <p:cNvPr id="21" name="Graphic 20" descr="Cursor with solid fill">
            <a:extLst>
              <a:ext uri="{FF2B5EF4-FFF2-40B4-BE49-F238E27FC236}">
                <a16:creationId xmlns:a16="http://schemas.microsoft.com/office/drawing/2014/main" id="{5CFCC255-8CF3-4E3C-34D5-31BADF1025D3}"/>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742358"/>
            <a:ext cx="274320" cy="274320"/>
          </a:xfrm>
          <a:prstGeom prst="rect">
            <a:avLst/>
          </a:prstGeom>
        </p:spPr>
      </p:pic>
      <p:sp>
        <p:nvSpPr>
          <p:cNvPr id="22" name="Obj 2">
            <a:hlinkClick r:id="rId9" action="ppaction://hlinksldjump"/>
            <a:extLst>
              <a:ext uri="{FF2B5EF4-FFF2-40B4-BE49-F238E27FC236}">
                <a16:creationId xmlns:a16="http://schemas.microsoft.com/office/drawing/2014/main" id="{B44EA903-D85D-EACD-0465-E889BCFC534D}"/>
              </a:ext>
            </a:extLst>
          </p:cNvPr>
          <p:cNvSpPr/>
          <p:nvPr/>
        </p:nvSpPr>
        <p:spPr>
          <a:xfrm>
            <a:off x="176803" y="3054133"/>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23" name="Graphic 22" descr="Cursor with solid fill">
            <a:extLst>
              <a:ext uri="{FF2B5EF4-FFF2-40B4-BE49-F238E27FC236}">
                <a16:creationId xmlns:a16="http://schemas.microsoft.com/office/drawing/2014/main" id="{7589D7A8-971C-15BE-0D82-728F79BC8EDE}"/>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304330"/>
            <a:ext cx="274320" cy="274320"/>
          </a:xfrm>
          <a:prstGeom prst="rect">
            <a:avLst/>
          </a:prstGeom>
        </p:spPr>
      </p:pic>
      <p:cxnSp>
        <p:nvCxnSpPr>
          <p:cNvPr id="31" name="Connector: Elbow 30">
            <a:extLst>
              <a:ext uri="{FF2B5EF4-FFF2-40B4-BE49-F238E27FC236}">
                <a16:creationId xmlns:a16="http://schemas.microsoft.com/office/drawing/2014/main" id="{E6BA998A-070D-82AD-C6A1-FA221F3BEC98}"/>
              </a:ext>
            </a:extLst>
          </p:cNvPr>
          <p:cNvCxnSpPr>
            <a:endCxn id="14" idx="1"/>
          </p:cNvCxnSpPr>
          <p:nvPr/>
        </p:nvCxnSpPr>
        <p:spPr>
          <a:xfrm rot="16200000" flipH="1">
            <a:off x="169215" y="682265"/>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87B19BCB-F74A-5D22-677C-C202B745E603}"/>
              </a:ext>
            </a:extLst>
          </p:cNvPr>
          <p:cNvCxnSpPr>
            <a:cxnSpLocks/>
            <a:endCxn id="16" idx="1"/>
          </p:cNvCxnSpPr>
          <p:nvPr/>
        </p:nvCxnSpPr>
        <p:spPr>
          <a:xfrm rot="16200000" flipH="1">
            <a:off x="-115864" y="967343"/>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650849A-7669-AB95-82BA-3D4D7242B833}"/>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Physiology of Baroreceptor Response</a:t>
            </a:r>
          </a:p>
        </p:txBody>
      </p:sp>
      <p:sp>
        <p:nvSpPr>
          <p:cNvPr id="36" name="TextBox 35">
            <a:extLst>
              <a:ext uri="{FF2B5EF4-FFF2-40B4-BE49-F238E27FC236}">
                <a16:creationId xmlns:a16="http://schemas.microsoft.com/office/drawing/2014/main" id="{1B5759D4-A3FD-B3DF-2416-A8247C7A1293}"/>
              </a:ext>
            </a:extLst>
          </p:cNvPr>
          <p:cNvSpPr txBox="1"/>
          <p:nvPr/>
        </p:nvSpPr>
        <p:spPr>
          <a:xfrm>
            <a:off x="3641763" y="708828"/>
            <a:ext cx="4508273" cy="369332"/>
          </a:xfrm>
          <a:prstGeom prst="rect">
            <a:avLst/>
          </a:prstGeom>
          <a:noFill/>
        </p:spPr>
        <p:txBody>
          <a:bodyPr wrap="square">
            <a:spAutoFit/>
          </a:bodyPr>
          <a:lstStyle/>
          <a:p>
            <a:pPr algn="ctr"/>
            <a:r>
              <a:rPr lang="en-US" b="1" dirty="0"/>
              <a:t>What happens with positional change?</a:t>
            </a:r>
          </a:p>
        </p:txBody>
      </p:sp>
      <p:sp>
        <p:nvSpPr>
          <p:cNvPr id="68" name="2">
            <a:extLst>
              <a:ext uri="{FF2B5EF4-FFF2-40B4-BE49-F238E27FC236}">
                <a16:creationId xmlns:a16="http://schemas.microsoft.com/office/drawing/2014/main" id="{9E1A4D1A-38BE-D8B6-A1F9-356AB51D247D}"/>
              </a:ext>
            </a:extLst>
          </p:cNvPr>
          <p:cNvSpPr/>
          <p:nvPr/>
        </p:nvSpPr>
        <p:spPr>
          <a:xfrm>
            <a:off x="3017067" y="3062316"/>
            <a:ext cx="45720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pic>
        <p:nvPicPr>
          <p:cNvPr id="69" name="Graphic 68" descr="Cursor with solid fill">
            <a:extLst>
              <a:ext uri="{FF2B5EF4-FFF2-40B4-BE49-F238E27FC236}">
                <a16:creationId xmlns:a16="http://schemas.microsoft.com/office/drawing/2014/main" id="{0A82633E-B578-0682-E07F-8D70D0852602}"/>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37107" y="3380940"/>
            <a:ext cx="274320" cy="274320"/>
          </a:xfrm>
          <a:prstGeom prst="rect">
            <a:avLst/>
          </a:prstGeom>
        </p:spPr>
      </p:pic>
      <p:sp>
        <p:nvSpPr>
          <p:cNvPr id="89" name="3">
            <a:extLst>
              <a:ext uri="{FF2B5EF4-FFF2-40B4-BE49-F238E27FC236}">
                <a16:creationId xmlns:a16="http://schemas.microsoft.com/office/drawing/2014/main" id="{396119DD-69A9-BDA8-6000-E9D0258F9864}"/>
              </a:ext>
            </a:extLst>
          </p:cNvPr>
          <p:cNvSpPr/>
          <p:nvPr/>
        </p:nvSpPr>
        <p:spPr>
          <a:xfrm>
            <a:off x="3001455" y="4175509"/>
            <a:ext cx="45720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pic>
        <p:nvPicPr>
          <p:cNvPr id="90" name="Graphic 89" descr="Cursor with solid fill">
            <a:extLst>
              <a:ext uri="{FF2B5EF4-FFF2-40B4-BE49-F238E27FC236}">
                <a16:creationId xmlns:a16="http://schemas.microsoft.com/office/drawing/2014/main" id="{1E868D66-DB43-CEC4-C51B-B473E7C8F71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21495" y="4494133"/>
            <a:ext cx="274320" cy="274320"/>
          </a:xfrm>
          <a:prstGeom prst="rect">
            <a:avLst/>
          </a:prstGeom>
        </p:spPr>
      </p:pic>
      <p:sp>
        <p:nvSpPr>
          <p:cNvPr id="137" name="SV">
            <a:extLst>
              <a:ext uri="{FF2B5EF4-FFF2-40B4-BE49-F238E27FC236}">
                <a16:creationId xmlns:a16="http://schemas.microsoft.com/office/drawing/2014/main" id="{D3322533-6723-521C-9309-3DB6827DA3F0}"/>
              </a:ext>
            </a:extLst>
          </p:cNvPr>
          <p:cNvSpPr/>
          <p:nvPr/>
        </p:nvSpPr>
        <p:spPr>
          <a:xfrm>
            <a:off x="3017941" y="5288855"/>
            <a:ext cx="457200"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38" name="4">
            <a:extLst>
              <a:ext uri="{FF2B5EF4-FFF2-40B4-BE49-F238E27FC236}">
                <a16:creationId xmlns:a16="http://schemas.microsoft.com/office/drawing/2014/main" id="{1FE22C3F-CF7D-123F-88B4-AA13012AB7AB}"/>
              </a:ext>
            </a:extLst>
          </p:cNvPr>
          <p:cNvSpPr/>
          <p:nvPr/>
        </p:nvSpPr>
        <p:spPr>
          <a:xfrm>
            <a:off x="3014514" y="5288701"/>
            <a:ext cx="45720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pic>
        <p:nvPicPr>
          <p:cNvPr id="139" name="Graphic 138" descr="Cursor with solid fill">
            <a:extLst>
              <a:ext uri="{FF2B5EF4-FFF2-40B4-BE49-F238E27FC236}">
                <a16:creationId xmlns:a16="http://schemas.microsoft.com/office/drawing/2014/main" id="{71400BC5-2EA0-6191-9A97-6FCE9F7C9E4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40534" y="5607325"/>
            <a:ext cx="274320" cy="274320"/>
          </a:xfrm>
          <a:prstGeom prst="rect">
            <a:avLst/>
          </a:prstGeom>
        </p:spPr>
      </p:pic>
      <p:sp>
        <p:nvSpPr>
          <p:cNvPr id="147" name="TextBox 146">
            <a:extLst>
              <a:ext uri="{FF2B5EF4-FFF2-40B4-BE49-F238E27FC236}">
                <a16:creationId xmlns:a16="http://schemas.microsoft.com/office/drawing/2014/main" id="{CD7D87CC-20EA-DF39-4327-C0D6CE42ABBC}"/>
              </a:ext>
            </a:extLst>
          </p:cNvPr>
          <p:cNvSpPr txBox="1"/>
          <p:nvPr/>
        </p:nvSpPr>
        <p:spPr>
          <a:xfrm>
            <a:off x="10745180" y="5108827"/>
            <a:ext cx="502921" cy="372634"/>
          </a:xfrm>
          <a:prstGeom prst="rect">
            <a:avLst/>
          </a:prstGeom>
          <a:noFill/>
          <a:ln>
            <a:noFill/>
          </a:ln>
        </p:spPr>
        <p:txBody>
          <a:bodyPr wrap="square" rtlCol="0">
            <a:spAutoFit/>
          </a:bodyPr>
          <a:lstStyle/>
          <a:p>
            <a:pPr algn="ctr"/>
            <a:r>
              <a:rPr lang="en-US" dirty="0"/>
              <a:t>HR</a:t>
            </a:r>
          </a:p>
        </p:txBody>
      </p:sp>
      <p:sp>
        <p:nvSpPr>
          <p:cNvPr id="149" name="TextBox 148">
            <a:extLst>
              <a:ext uri="{FF2B5EF4-FFF2-40B4-BE49-F238E27FC236}">
                <a16:creationId xmlns:a16="http://schemas.microsoft.com/office/drawing/2014/main" id="{0407A9B1-BB36-1407-C68E-BC24395334FC}"/>
              </a:ext>
            </a:extLst>
          </p:cNvPr>
          <p:cNvSpPr txBox="1"/>
          <p:nvPr/>
        </p:nvSpPr>
        <p:spPr>
          <a:xfrm>
            <a:off x="10065328" y="5999277"/>
            <a:ext cx="1328374" cy="341722"/>
          </a:xfrm>
          <a:prstGeom prst="rect">
            <a:avLst/>
          </a:prstGeom>
          <a:noFill/>
          <a:ln>
            <a:noFill/>
          </a:ln>
        </p:spPr>
        <p:txBody>
          <a:bodyPr wrap="square" rtlCol="0">
            <a:spAutoFit/>
          </a:bodyPr>
          <a:lstStyle/>
          <a:p>
            <a:pPr algn="ctr"/>
            <a:r>
              <a:rPr lang="en-US" sz="1600" dirty="0"/>
              <a:t>contractility</a:t>
            </a:r>
          </a:p>
        </p:txBody>
      </p:sp>
      <p:pic>
        <p:nvPicPr>
          <p:cNvPr id="150" name="Picture 149" descr="A screenshot of a video game  Description automatically generated">
            <a:extLst>
              <a:ext uri="{FF2B5EF4-FFF2-40B4-BE49-F238E27FC236}">
                <a16:creationId xmlns:a16="http://schemas.microsoft.com/office/drawing/2014/main" id="{0600C835-5590-0AB3-9F24-0369553755A3}"/>
              </a:ext>
            </a:extLst>
          </p:cNvPr>
          <p:cNvPicPr>
            <a:picLocks noChangeAspect="1"/>
          </p:cNvPicPr>
          <p:nvPr/>
        </p:nvPicPr>
        <p:blipFill rotWithShape="1">
          <a:blip r:embed="rId10"/>
          <a:srcRect l="2581" t="21459" r="81092" b="16895"/>
          <a:stretch/>
        </p:blipFill>
        <p:spPr>
          <a:xfrm>
            <a:off x="8974739" y="664390"/>
            <a:ext cx="1926275" cy="5091033"/>
          </a:xfrm>
          <a:prstGeom prst="rect">
            <a:avLst/>
          </a:prstGeom>
        </p:spPr>
      </p:pic>
      <p:cxnSp>
        <p:nvCxnSpPr>
          <p:cNvPr id="151" name="Straight Connector 150">
            <a:extLst>
              <a:ext uri="{FF2B5EF4-FFF2-40B4-BE49-F238E27FC236}">
                <a16:creationId xmlns:a16="http://schemas.microsoft.com/office/drawing/2014/main" id="{B4334E73-519D-AB2E-6C17-28EDB4EBCEA2}"/>
              </a:ext>
            </a:extLst>
          </p:cNvPr>
          <p:cNvCxnSpPr>
            <a:cxnSpLocks/>
            <a:endCxn id="152" idx="1"/>
          </p:cNvCxnSpPr>
          <p:nvPr/>
        </p:nvCxnSpPr>
        <p:spPr>
          <a:xfrm flipV="1">
            <a:off x="9813181" y="3662663"/>
            <a:ext cx="903851" cy="532067"/>
          </a:xfrm>
          <a:prstGeom prst="line">
            <a:avLst/>
          </a:prstGeom>
        </p:spPr>
        <p:style>
          <a:lnRef idx="1">
            <a:schemeClr val="dk1"/>
          </a:lnRef>
          <a:fillRef idx="0">
            <a:schemeClr val="dk1"/>
          </a:fillRef>
          <a:effectRef idx="0">
            <a:schemeClr val="dk1"/>
          </a:effectRef>
          <a:fontRef idx="minor">
            <a:schemeClr val="tx1"/>
          </a:fontRef>
        </p:style>
      </p:cxnSp>
      <p:sp>
        <p:nvSpPr>
          <p:cNvPr id="152" name="Rectangle 151">
            <a:extLst>
              <a:ext uri="{FF2B5EF4-FFF2-40B4-BE49-F238E27FC236}">
                <a16:creationId xmlns:a16="http://schemas.microsoft.com/office/drawing/2014/main" id="{0F46F543-80E5-EC22-257E-9FC3644BFEDD}"/>
              </a:ext>
            </a:extLst>
          </p:cNvPr>
          <p:cNvSpPr/>
          <p:nvPr/>
        </p:nvSpPr>
        <p:spPr>
          <a:xfrm>
            <a:off x="10717032" y="3502643"/>
            <a:ext cx="617517"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SVR</a:t>
            </a:r>
          </a:p>
        </p:txBody>
      </p:sp>
      <p:cxnSp>
        <p:nvCxnSpPr>
          <p:cNvPr id="153" name="Straight Connector 152">
            <a:extLst>
              <a:ext uri="{FF2B5EF4-FFF2-40B4-BE49-F238E27FC236}">
                <a16:creationId xmlns:a16="http://schemas.microsoft.com/office/drawing/2014/main" id="{0F12ADFD-2B6F-DAFE-F39B-0807E341D294}"/>
              </a:ext>
            </a:extLst>
          </p:cNvPr>
          <p:cNvCxnSpPr>
            <a:cxnSpLocks/>
            <a:endCxn id="154" idx="1"/>
          </p:cNvCxnSpPr>
          <p:nvPr/>
        </p:nvCxnSpPr>
        <p:spPr>
          <a:xfrm flipV="1">
            <a:off x="9995085" y="3070904"/>
            <a:ext cx="664208" cy="919899"/>
          </a:xfrm>
          <a:prstGeom prst="line">
            <a:avLst/>
          </a:prstGeom>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06920260-8782-CFB0-F592-8B47085A4252}"/>
              </a:ext>
            </a:extLst>
          </p:cNvPr>
          <p:cNvSpPr/>
          <p:nvPr/>
        </p:nvSpPr>
        <p:spPr>
          <a:xfrm>
            <a:off x="10659293" y="2910884"/>
            <a:ext cx="732995"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DB7575"/>
                </a:solidFill>
              </a:rPr>
              <a:t>MAP</a:t>
            </a:r>
          </a:p>
        </p:txBody>
      </p:sp>
      <p:sp>
        <p:nvSpPr>
          <p:cNvPr id="155" name="Rectangle 154">
            <a:extLst>
              <a:ext uri="{FF2B5EF4-FFF2-40B4-BE49-F238E27FC236}">
                <a16:creationId xmlns:a16="http://schemas.microsoft.com/office/drawing/2014/main" id="{B8AB21EB-B829-4E67-6C22-37A2A8C0011E}"/>
              </a:ext>
            </a:extLst>
          </p:cNvPr>
          <p:cNvSpPr/>
          <p:nvPr/>
        </p:nvSpPr>
        <p:spPr>
          <a:xfrm>
            <a:off x="9624587" y="1344570"/>
            <a:ext cx="569514" cy="320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CPP</a:t>
            </a:r>
          </a:p>
        </p:txBody>
      </p:sp>
      <p:cxnSp>
        <p:nvCxnSpPr>
          <p:cNvPr id="156" name="Straight Connector 155">
            <a:extLst>
              <a:ext uri="{FF2B5EF4-FFF2-40B4-BE49-F238E27FC236}">
                <a16:creationId xmlns:a16="http://schemas.microsoft.com/office/drawing/2014/main" id="{3497A1A5-6676-0493-AA35-5930CCBAFE39}"/>
              </a:ext>
            </a:extLst>
          </p:cNvPr>
          <p:cNvCxnSpPr>
            <a:cxnSpLocks/>
            <a:endCxn id="157" idx="1"/>
          </p:cNvCxnSpPr>
          <p:nvPr/>
        </p:nvCxnSpPr>
        <p:spPr>
          <a:xfrm flipV="1">
            <a:off x="10176662" y="4609445"/>
            <a:ext cx="597668" cy="157785"/>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A0383932-4527-0786-294E-3D61F48215F9}"/>
              </a:ext>
            </a:extLst>
          </p:cNvPr>
          <p:cNvSpPr txBox="1"/>
          <p:nvPr/>
        </p:nvSpPr>
        <p:spPr>
          <a:xfrm>
            <a:off x="10774330" y="4424779"/>
            <a:ext cx="502921" cy="369332"/>
          </a:xfrm>
          <a:prstGeom prst="rect">
            <a:avLst/>
          </a:prstGeom>
          <a:noFill/>
          <a:ln>
            <a:noFill/>
          </a:ln>
        </p:spPr>
        <p:txBody>
          <a:bodyPr wrap="square" rtlCol="0">
            <a:spAutoFit/>
          </a:bodyPr>
          <a:lstStyle/>
          <a:p>
            <a:pPr algn="ctr"/>
            <a:r>
              <a:rPr lang="en-US" dirty="0">
                <a:solidFill>
                  <a:schemeClr val="accent2"/>
                </a:solidFill>
              </a:rPr>
              <a:t>CO</a:t>
            </a:r>
          </a:p>
        </p:txBody>
      </p:sp>
      <p:cxnSp>
        <p:nvCxnSpPr>
          <p:cNvPr id="158" name="Straight Connector 157">
            <a:extLst>
              <a:ext uri="{FF2B5EF4-FFF2-40B4-BE49-F238E27FC236}">
                <a16:creationId xmlns:a16="http://schemas.microsoft.com/office/drawing/2014/main" id="{D1042991-FAB4-1DFA-4771-834FEB4D878C}"/>
              </a:ext>
            </a:extLst>
          </p:cNvPr>
          <p:cNvCxnSpPr>
            <a:cxnSpLocks/>
          </p:cNvCxnSpPr>
          <p:nvPr/>
        </p:nvCxnSpPr>
        <p:spPr>
          <a:xfrm>
            <a:off x="10332454" y="5054600"/>
            <a:ext cx="441876" cy="250446"/>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FE78D1B8-2A16-7562-0BA9-1FE54FA22359}"/>
              </a:ext>
            </a:extLst>
          </p:cNvPr>
          <p:cNvCxnSpPr>
            <a:cxnSpLocks/>
            <a:stCxn id="163" idx="2"/>
            <a:endCxn id="161" idx="0"/>
          </p:cNvCxnSpPr>
          <p:nvPr/>
        </p:nvCxnSpPr>
        <p:spPr>
          <a:xfrm flipH="1">
            <a:off x="9530587" y="5829234"/>
            <a:ext cx="546206" cy="176226"/>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7A613A2F-77F5-D0A8-AA4D-D8B30E33EC6F}"/>
              </a:ext>
            </a:extLst>
          </p:cNvPr>
          <p:cNvCxnSpPr>
            <a:cxnSpLocks/>
            <a:stCxn id="163" idx="2"/>
            <a:endCxn id="149" idx="0"/>
          </p:cNvCxnSpPr>
          <p:nvPr/>
        </p:nvCxnSpPr>
        <p:spPr>
          <a:xfrm>
            <a:off x="10076793" y="5829234"/>
            <a:ext cx="652722" cy="170043"/>
          </a:xfrm>
          <a:prstGeom prst="line">
            <a:avLst/>
          </a:prstGeom>
        </p:spPr>
        <p:style>
          <a:lnRef idx="1">
            <a:schemeClr val="dk1"/>
          </a:lnRef>
          <a:fillRef idx="0">
            <a:schemeClr val="dk1"/>
          </a:fillRef>
          <a:effectRef idx="0">
            <a:schemeClr val="dk1"/>
          </a:effectRef>
          <a:fontRef idx="minor">
            <a:schemeClr val="tx1"/>
          </a:fontRef>
        </p:style>
      </p:cxnSp>
      <p:sp>
        <p:nvSpPr>
          <p:cNvPr id="161" name="TextBox 160">
            <a:extLst>
              <a:ext uri="{FF2B5EF4-FFF2-40B4-BE49-F238E27FC236}">
                <a16:creationId xmlns:a16="http://schemas.microsoft.com/office/drawing/2014/main" id="{478EBB60-0DDD-2CA6-8C47-482F5D0B45B4}"/>
              </a:ext>
            </a:extLst>
          </p:cNvPr>
          <p:cNvSpPr txBox="1"/>
          <p:nvPr/>
        </p:nvSpPr>
        <p:spPr>
          <a:xfrm>
            <a:off x="9111327" y="6005460"/>
            <a:ext cx="838520" cy="341722"/>
          </a:xfrm>
          <a:prstGeom prst="rect">
            <a:avLst/>
          </a:prstGeom>
          <a:noFill/>
          <a:ln>
            <a:noFill/>
          </a:ln>
        </p:spPr>
        <p:txBody>
          <a:bodyPr wrap="square" rtlCol="0">
            <a:spAutoFit/>
          </a:bodyPr>
          <a:lstStyle/>
          <a:p>
            <a:pPr algn="ctr"/>
            <a:r>
              <a:rPr lang="en-US" sz="1600" dirty="0"/>
              <a:t>preload</a:t>
            </a:r>
          </a:p>
        </p:txBody>
      </p:sp>
      <p:cxnSp>
        <p:nvCxnSpPr>
          <p:cNvPr id="162" name="Straight Connector 161">
            <a:extLst>
              <a:ext uri="{FF2B5EF4-FFF2-40B4-BE49-F238E27FC236}">
                <a16:creationId xmlns:a16="http://schemas.microsoft.com/office/drawing/2014/main" id="{5B783339-923C-AEB1-0F34-CAC7E34D6A60}"/>
              </a:ext>
            </a:extLst>
          </p:cNvPr>
          <p:cNvCxnSpPr>
            <a:cxnSpLocks/>
            <a:endCxn id="163" idx="0"/>
          </p:cNvCxnSpPr>
          <p:nvPr/>
        </p:nvCxnSpPr>
        <p:spPr>
          <a:xfrm flipH="1">
            <a:off x="10076793" y="5054600"/>
            <a:ext cx="17943" cy="432912"/>
          </a:xfrm>
          <a:prstGeom prst="line">
            <a:avLst/>
          </a:prstGeom>
        </p:spPr>
        <p:style>
          <a:lnRef idx="1">
            <a:schemeClr val="dk1"/>
          </a:lnRef>
          <a:fillRef idx="0">
            <a:schemeClr val="dk1"/>
          </a:fillRef>
          <a:effectRef idx="0">
            <a:schemeClr val="dk1"/>
          </a:effectRef>
          <a:fontRef idx="minor">
            <a:schemeClr val="tx1"/>
          </a:fontRef>
        </p:style>
      </p:cxnSp>
      <p:sp>
        <p:nvSpPr>
          <p:cNvPr id="163" name="TextBox 162">
            <a:extLst>
              <a:ext uri="{FF2B5EF4-FFF2-40B4-BE49-F238E27FC236}">
                <a16:creationId xmlns:a16="http://schemas.microsoft.com/office/drawing/2014/main" id="{0898C27F-1450-16B8-FBBA-F5B4D27400B6}"/>
              </a:ext>
            </a:extLst>
          </p:cNvPr>
          <p:cNvSpPr txBox="1"/>
          <p:nvPr/>
        </p:nvSpPr>
        <p:spPr>
          <a:xfrm>
            <a:off x="9657533" y="5487512"/>
            <a:ext cx="838520" cy="341722"/>
          </a:xfrm>
          <a:prstGeom prst="rect">
            <a:avLst/>
          </a:prstGeom>
          <a:noFill/>
          <a:ln>
            <a:noFill/>
          </a:ln>
        </p:spPr>
        <p:txBody>
          <a:bodyPr wrap="square" rtlCol="0">
            <a:spAutoFit/>
          </a:bodyPr>
          <a:lstStyle/>
          <a:p>
            <a:pPr algn="ctr"/>
            <a:r>
              <a:rPr lang="en-US" sz="1600" dirty="0"/>
              <a:t>SV</a:t>
            </a:r>
          </a:p>
        </p:txBody>
      </p:sp>
      <p:grpSp>
        <p:nvGrpSpPr>
          <p:cNvPr id="164" name="Group 163">
            <a:extLst>
              <a:ext uri="{FF2B5EF4-FFF2-40B4-BE49-F238E27FC236}">
                <a16:creationId xmlns:a16="http://schemas.microsoft.com/office/drawing/2014/main" id="{8684D159-BCDE-4C33-5B47-5C2151F0ED1B}"/>
              </a:ext>
            </a:extLst>
          </p:cNvPr>
          <p:cNvGrpSpPr/>
          <p:nvPr/>
        </p:nvGrpSpPr>
        <p:grpSpPr>
          <a:xfrm>
            <a:off x="7660858" y="872579"/>
            <a:ext cx="914400" cy="656510"/>
            <a:chOff x="2878844" y="5506875"/>
            <a:chExt cx="914400" cy="585009"/>
          </a:xfrm>
        </p:grpSpPr>
        <p:pic>
          <p:nvPicPr>
            <p:cNvPr id="166" name="Picture 165" descr="A picture containing night sky  Description automatically generated">
              <a:extLst>
                <a:ext uri="{FF2B5EF4-FFF2-40B4-BE49-F238E27FC236}">
                  <a16:creationId xmlns:a16="http://schemas.microsoft.com/office/drawing/2014/main" id="{50CA1653-46BB-4115-1E31-60878AE646B8}"/>
                </a:ext>
              </a:extLst>
            </p:cNvPr>
            <p:cNvPicPr>
              <a:picLocks noChangeAspect="1"/>
            </p:cNvPicPr>
            <p:nvPr/>
          </p:nvPicPr>
          <p:blipFill rotWithShape="1">
            <a:blip r:embed="rId11">
              <a:extLst>
                <a:ext uri="{28A0092B-C50C-407E-A947-70E740481C1C}">
                  <a14:useLocalDpi xmlns:a14="http://schemas.microsoft.com/office/drawing/2010/main" val="0"/>
                </a:ext>
              </a:extLst>
            </a:blip>
            <a:srcRect l="28490" t="11733" r="61671" b="56869"/>
            <a:stretch/>
          </p:blipFill>
          <p:spPr>
            <a:xfrm rot="16200000">
              <a:off x="3151162" y="5449802"/>
              <a:ext cx="369764" cy="914400"/>
            </a:xfrm>
            <a:prstGeom prst="rect">
              <a:avLst/>
            </a:prstGeom>
          </p:spPr>
        </p:pic>
        <p:sp>
          <p:nvSpPr>
            <p:cNvPr id="167" name="Bent Arrow 6">
              <a:extLst>
                <a:ext uri="{FF2B5EF4-FFF2-40B4-BE49-F238E27FC236}">
                  <a16:creationId xmlns:a16="http://schemas.microsoft.com/office/drawing/2014/main" id="{17C120F2-EECA-6908-D9A2-2B35C4D880A6}"/>
                </a:ext>
              </a:extLst>
            </p:cNvPr>
            <p:cNvSpPr/>
            <p:nvPr/>
          </p:nvSpPr>
          <p:spPr>
            <a:xfrm>
              <a:off x="3444444" y="5506875"/>
              <a:ext cx="296406" cy="255674"/>
            </a:xfrm>
            <a:prstGeom prst="ben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68" name="TextBox 167">
            <a:extLst>
              <a:ext uri="{FF2B5EF4-FFF2-40B4-BE49-F238E27FC236}">
                <a16:creationId xmlns:a16="http://schemas.microsoft.com/office/drawing/2014/main" id="{7F20CA33-5F66-D821-FB3E-AC202206AA96}"/>
              </a:ext>
            </a:extLst>
          </p:cNvPr>
          <p:cNvSpPr txBox="1"/>
          <p:nvPr/>
        </p:nvSpPr>
        <p:spPr>
          <a:xfrm>
            <a:off x="3645406" y="1833276"/>
            <a:ext cx="4725054" cy="646331"/>
          </a:xfrm>
          <a:prstGeom prst="rect">
            <a:avLst/>
          </a:prstGeom>
          <a:noFill/>
        </p:spPr>
        <p:txBody>
          <a:bodyPr wrap="square" rtlCol="0">
            <a:spAutoFit/>
          </a:bodyPr>
          <a:lstStyle/>
          <a:p>
            <a:pPr algn="ctr"/>
            <a:r>
              <a:rPr lang="en-US" dirty="0"/>
              <a:t>Blood pools in lower extremities → ↓ preload</a:t>
            </a:r>
          </a:p>
          <a:p>
            <a:pPr algn="ctr"/>
            <a:r>
              <a:rPr lang="en-US" dirty="0"/>
              <a:t>→ ↓ CO </a:t>
            </a:r>
          </a:p>
        </p:txBody>
      </p:sp>
      <p:sp>
        <p:nvSpPr>
          <p:cNvPr id="169" name="Arrow: Down 168">
            <a:extLst>
              <a:ext uri="{FF2B5EF4-FFF2-40B4-BE49-F238E27FC236}">
                <a16:creationId xmlns:a16="http://schemas.microsoft.com/office/drawing/2014/main" id="{804BC509-9859-9C9D-068B-A70E9F44C68A}"/>
              </a:ext>
            </a:extLst>
          </p:cNvPr>
          <p:cNvSpPr/>
          <p:nvPr/>
        </p:nvSpPr>
        <p:spPr>
          <a:xfrm>
            <a:off x="8948803" y="6097734"/>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Arrow: Down 169">
            <a:extLst>
              <a:ext uri="{FF2B5EF4-FFF2-40B4-BE49-F238E27FC236}">
                <a16:creationId xmlns:a16="http://schemas.microsoft.com/office/drawing/2014/main" id="{9CC354EA-B740-5A2C-7F80-8A5BD4023AEB}"/>
              </a:ext>
            </a:extLst>
          </p:cNvPr>
          <p:cNvSpPr/>
          <p:nvPr/>
        </p:nvSpPr>
        <p:spPr>
          <a:xfrm>
            <a:off x="11184134" y="4496671"/>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TextBox 170">
            <a:extLst>
              <a:ext uri="{FF2B5EF4-FFF2-40B4-BE49-F238E27FC236}">
                <a16:creationId xmlns:a16="http://schemas.microsoft.com/office/drawing/2014/main" id="{C5969765-619C-5FD9-4ABC-96886EFF4C9F}"/>
              </a:ext>
            </a:extLst>
          </p:cNvPr>
          <p:cNvSpPr txBox="1"/>
          <p:nvPr/>
        </p:nvSpPr>
        <p:spPr>
          <a:xfrm>
            <a:off x="3611427" y="3119664"/>
            <a:ext cx="4725054" cy="369332"/>
          </a:xfrm>
          <a:prstGeom prst="rect">
            <a:avLst/>
          </a:prstGeom>
          <a:noFill/>
        </p:spPr>
        <p:txBody>
          <a:bodyPr wrap="square" rtlCol="0">
            <a:spAutoFit/>
          </a:bodyPr>
          <a:lstStyle/>
          <a:p>
            <a:pPr algn="ctr"/>
            <a:r>
              <a:rPr lang="en-US" dirty="0"/>
              <a:t>↓ CO → ↓ MAP → ↓ CPP  </a:t>
            </a:r>
          </a:p>
        </p:txBody>
      </p:sp>
      <p:sp>
        <p:nvSpPr>
          <p:cNvPr id="172" name="Arrow: Down 171">
            <a:extLst>
              <a:ext uri="{FF2B5EF4-FFF2-40B4-BE49-F238E27FC236}">
                <a16:creationId xmlns:a16="http://schemas.microsoft.com/office/drawing/2014/main" id="{068E8D87-BF4B-E371-D46A-76D8BBCB479D}"/>
              </a:ext>
            </a:extLst>
          </p:cNvPr>
          <p:cNvSpPr/>
          <p:nvPr/>
        </p:nvSpPr>
        <p:spPr>
          <a:xfrm>
            <a:off x="11323896" y="2935112"/>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Arrow: Down 172">
            <a:extLst>
              <a:ext uri="{FF2B5EF4-FFF2-40B4-BE49-F238E27FC236}">
                <a16:creationId xmlns:a16="http://schemas.microsoft.com/office/drawing/2014/main" id="{A392B356-AB84-00E1-F29B-5E02A655BA28}"/>
              </a:ext>
            </a:extLst>
          </p:cNvPr>
          <p:cNvSpPr/>
          <p:nvPr/>
        </p:nvSpPr>
        <p:spPr>
          <a:xfrm>
            <a:off x="9359259" y="137948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TextBox 173">
            <a:extLst>
              <a:ext uri="{FF2B5EF4-FFF2-40B4-BE49-F238E27FC236}">
                <a16:creationId xmlns:a16="http://schemas.microsoft.com/office/drawing/2014/main" id="{D2EFAA5F-4098-A348-5157-38B9C2C08B00}"/>
              </a:ext>
            </a:extLst>
          </p:cNvPr>
          <p:cNvSpPr txBox="1"/>
          <p:nvPr/>
        </p:nvSpPr>
        <p:spPr>
          <a:xfrm>
            <a:off x="3424982" y="4059004"/>
            <a:ext cx="4725054" cy="646331"/>
          </a:xfrm>
          <a:prstGeom prst="rect">
            <a:avLst/>
          </a:prstGeom>
          <a:noFill/>
        </p:spPr>
        <p:txBody>
          <a:bodyPr wrap="square" rtlCol="0">
            <a:spAutoFit/>
          </a:bodyPr>
          <a:lstStyle/>
          <a:p>
            <a:pPr algn="ctr"/>
            <a:r>
              <a:rPr lang="en-US" dirty="0"/>
              <a:t>Baroreceptors sense ↓ MAP and alter sympathetic and parasympathetic systems</a:t>
            </a:r>
          </a:p>
        </p:txBody>
      </p:sp>
      <p:pic>
        <p:nvPicPr>
          <p:cNvPr id="177" name="Picture 176">
            <a:extLst>
              <a:ext uri="{FF2B5EF4-FFF2-40B4-BE49-F238E27FC236}">
                <a16:creationId xmlns:a16="http://schemas.microsoft.com/office/drawing/2014/main" id="{AF89438B-1958-E1EB-DA35-3F95E90FD5DB}"/>
              </a:ext>
            </a:extLst>
          </p:cNvPr>
          <p:cNvPicPr>
            <a:picLocks noChangeAspect="1"/>
          </p:cNvPicPr>
          <p:nvPr/>
        </p:nvPicPr>
        <p:blipFill rotWithShape="1">
          <a:blip r:embed="rId12">
            <a:extLst>
              <a:ext uri="{28A0092B-C50C-407E-A947-70E740481C1C}">
                <a14:useLocalDpi xmlns:a14="http://schemas.microsoft.com/office/drawing/2010/main" val="0"/>
              </a:ext>
            </a:extLst>
          </a:blip>
          <a:srcRect l="22027" t="24422" r="59669" b="51171"/>
          <a:stretch/>
        </p:blipFill>
        <p:spPr>
          <a:xfrm flipH="1">
            <a:off x="10566180" y="2070359"/>
            <a:ext cx="801313" cy="769901"/>
          </a:xfrm>
          <a:prstGeom prst="rect">
            <a:avLst/>
          </a:prstGeom>
        </p:spPr>
      </p:pic>
      <p:sp>
        <p:nvSpPr>
          <p:cNvPr id="199" name="Oval 198">
            <a:extLst>
              <a:ext uri="{FF2B5EF4-FFF2-40B4-BE49-F238E27FC236}">
                <a16:creationId xmlns:a16="http://schemas.microsoft.com/office/drawing/2014/main" id="{CA77C1F4-FC4D-4CB8-585D-B8F09196CCD9}"/>
              </a:ext>
            </a:extLst>
          </p:cNvPr>
          <p:cNvSpPr/>
          <p:nvPr/>
        </p:nvSpPr>
        <p:spPr>
          <a:xfrm>
            <a:off x="9592070" y="2767136"/>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TextBox 199">
            <a:extLst>
              <a:ext uri="{FF2B5EF4-FFF2-40B4-BE49-F238E27FC236}">
                <a16:creationId xmlns:a16="http://schemas.microsoft.com/office/drawing/2014/main" id="{EF592E47-50D6-9501-5FE5-CCBE37B3E76D}"/>
              </a:ext>
            </a:extLst>
          </p:cNvPr>
          <p:cNvSpPr txBox="1"/>
          <p:nvPr/>
        </p:nvSpPr>
        <p:spPr>
          <a:xfrm flipH="1">
            <a:off x="8370459" y="2684064"/>
            <a:ext cx="1246455" cy="307777"/>
          </a:xfrm>
          <a:prstGeom prst="rect">
            <a:avLst/>
          </a:prstGeom>
          <a:noFill/>
        </p:spPr>
        <p:txBody>
          <a:bodyPr wrap="square" rtlCol="0">
            <a:spAutoFit/>
          </a:bodyPr>
          <a:lstStyle/>
          <a:p>
            <a:pPr algn="ctr"/>
            <a:r>
              <a:rPr lang="en-US" sz="1400" dirty="0"/>
              <a:t>Carotid </a:t>
            </a:r>
            <a:r>
              <a:rPr lang="en-US" sz="1400" dirty="0" err="1"/>
              <a:t>baro</a:t>
            </a:r>
            <a:r>
              <a:rPr lang="en-US" sz="1400" dirty="0"/>
              <a:t>-R</a:t>
            </a:r>
          </a:p>
        </p:txBody>
      </p:sp>
      <p:sp>
        <p:nvSpPr>
          <p:cNvPr id="203" name="Oval 202">
            <a:extLst>
              <a:ext uri="{FF2B5EF4-FFF2-40B4-BE49-F238E27FC236}">
                <a16:creationId xmlns:a16="http://schemas.microsoft.com/office/drawing/2014/main" id="{051DA941-5F65-1DB7-9970-58F5F4D2C869}"/>
              </a:ext>
            </a:extLst>
          </p:cNvPr>
          <p:cNvSpPr/>
          <p:nvPr/>
        </p:nvSpPr>
        <p:spPr>
          <a:xfrm>
            <a:off x="10183684" y="2768520"/>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Arrow Connector 204">
            <a:extLst>
              <a:ext uri="{FF2B5EF4-FFF2-40B4-BE49-F238E27FC236}">
                <a16:creationId xmlns:a16="http://schemas.microsoft.com/office/drawing/2014/main" id="{BCF7DF99-991D-1AFF-B2DF-15845633233D}"/>
              </a:ext>
            </a:extLst>
          </p:cNvPr>
          <p:cNvCxnSpPr>
            <a:cxnSpLocks/>
          </p:cNvCxnSpPr>
          <p:nvPr/>
        </p:nvCxnSpPr>
        <p:spPr>
          <a:xfrm flipV="1">
            <a:off x="10368610" y="2620527"/>
            <a:ext cx="232033" cy="19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0" name="TextBox 209">
            <a:extLst>
              <a:ext uri="{FF2B5EF4-FFF2-40B4-BE49-F238E27FC236}">
                <a16:creationId xmlns:a16="http://schemas.microsoft.com/office/drawing/2014/main" id="{947F6F4E-2BE2-D38D-0730-719A14824EE8}"/>
              </a:ext>
            </a:extLst>
          </p:cNvPr>
          <p:cNvSpPr txBox="1"/>
          <p:nvPr/>
        </p:nvSpPr>
        <p:spPr>
          <a:xfrm>
            <a:off x="3611427" y="5229940"/>
            <a:ext cx="4574904" cy="646331"/>
          </a:xfrm>
          <a:prstGeom prst="rect">
            <a:avLst/>
          </a:prstGeom>
          <a:noFill/>
        </p:spPr>
        <p:txBody>
          <a:bodyPr wrap="square">
            <a:spAutoFit/>
          </a:bodyPr>
          <a:lstStyle/>
          <a:p>
            <a:pPr algn="ctr"/>
            <a:r>
              <a:rPr lang="en-US" sz="1800" dirty="0">
                <a:sym typeface="Wingdings" pitchFamily="2" charset="2"/>
              </a:rPr>
              <a:t>↑ sympathetic tone </a:t>
            </a:r>
            <a:r>
              <a:rPr lang="en-US" dirty="0"/>
              <a:t>→</a:t>
            </a:r>
            <a:r>
              <a:rPr lang="en-US" sz="1800" dirty="0">
                <a:sym typeface="Wingdings" pitchFamily="2" charset="2"/>
              </a:rPr>
              <a:t> ↑ CO and SVR </a:t>
            </a:r>
          </a:p>
          <a:p>
            <a:pPr algn="ctr"/>
            <a:r>
              <a:rPr lang="en-US" dirty="0"/>
              <a:t>→</a:t>
            </a:r>
            <a:r>
              <a:rPr lang="en-US" sz="1800" dirty="0">
                <a:sym typeface="Wingdings" pitchFamily="2" charset="2"/>
              </a:rPr>
              <a:t> ↑ </a:t>
            </a:r>
            <a:r>
              <a:rPr lang="en-US" sz="1800" dirty="0"/>
              <a:t>MAP and CPP</a:t>
            </a:r>
          </a:p>
        </p:txBody>
      </p:sp>
      <p:grpSp>
        <p:nvGrpSpPr>
          <p:cNvPr id="222" name="Group 221">
            <a:extLst>
              <a:ext uri="{FF2B5EF4-FFF2-40B4-BE49-F238E27FC236}">
                <a16:creationId xmlns:a16="http://schemas.microsoft.com/office/drawing/2014/main" id="{72950B73-822A-062A-CEFD-17666A55EA9F}"/>
              </a:ext>
            </a:extLst>
          </p:cNvPr>
          <p:cNvGrpSpPr/>
          <p:nvPr/>
        </p:nvGrpSpPr>
        <p:grpSpPr>
          <a:xfrm>
            <a:off x="11242225" y="2440408"/>
            <a:ext cx="758288" cy="2236372"/>
            <a:chOff x="11242225" y="2669008"/>
            <a:chExt cx="758288" cy="2236372"/>
          </a:xfrm>
        </p:grpSpPr>
        <p:cxnSp>
          <p:nvCxnSpPr>
            <p:cNvPr id="175" name="Straight Connector 174">
              <a:extLst>
                <a:ext uri="{FF2B5EF4-FFF2-40B4-BE49-F238E27FC236}">
                  <a16:creationId xmlns:a16="http://schemas.microsoft.com/office/drawing/2014/main" id="{2F7AA0BA-D306-25A4-0C5D-39805B2AD9E3}"/>
                </a:ext>
              </a:extLst>
            </p:cNvPr>
            <p:cNvCxnSpPr>
              <a:cxnSpLocks/>
            </p:cNvCxnSpPr>
            <p:nvPr/>
          </p:nvCxnSpPr>
          <p:spPr>
            <a:xfrm flipH="1" flipV="1">
              <a:off x="11242225" y="2669008"/>
              <a:ext cx="749143" cy="365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F904CB-765B-6A96-E319-F781F2B457A5}"/>
                </a:ext>
              </a:extLst>
            </p:cNvPr>
            <p:cNvCxnSpPr>
              <a:cxnSpLocks/>
            </p:cNvCxnSpPr>
            <p:nvPr/>
          </p:nvCxnSpPr>
          <p:spPr>
            <a:xfrm flipV="1">
              <a:off x="11991368" y="2669010"/>
              <a:ext cx="0" cy="2139671"/>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12" name="Group 211">
              <a:extLst>
                <a:ext uri="{FF2B5EF4-FFF2-40B4-BE49-F238E27FC236}">
                  <a16:creationId xmlns:a16="http://schemas.microsoft.com/office/drawing/2014/main" id="{FCBCF215-4A91-9202-CBF5-C9049C769588}"/>
                </a:ext>
              </a:extLst>
            </p:cNvPr>
            <p:cNvGrpSpPr/>
            <p:nvPr/>
          </p:nvGrpSpPr>
          <p:grpSpPr>
            <a:xfrm>
              <a:off x="11312467" y="3786148"/>
              <a:ext cx="688046" cy="180109"/>
              <a:chOff x="5075956" y="3857461"/>
              <a:chExt cx="2666038" cy="352960"/>
            </a:xfrm>
          </p:grpSpPr>
          <p:cxnSp>
            <p:nvCxnSpPr>
              <p:cNvPr id="213" name="Straight Connector 212">
                <a:extLst>
                  <a:ext uri="{FF2B5EF4-FFF2-40B4-BE49-F238E27FC236}">
                    <a16:creationId xmlns:a16="http://schemas.microsoft.com/office/drawing/2014/main" id="{F2D0D98C-F1CE-D2A0-24BE-525BD90A651E}"/>
                  </a:ext>
                </a:extLst>
              </p:cNvPr>
              <p:cNvCxnSpPr>
                <a:cxnSpLocks/>
              </p:cNvCxnSpPr>
              <p:nvPr/>
            </p:nvCxnSpPr>
            <p:spPr>
              <a:xfrm>
                <a:off x="5313438" y="4035578"/>
                <a:ext cx="2428556"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9BE6641-4097-0C18-6E2F-43E672A96424}"/>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CF379D5-1D6B-D178-3A33-65EB166BEE53}"/>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17" name="Group 216">
              <a:extLst>
                <a:ext uri="{FF2B5EF4-FFF2-40B4-BE49-F238E27FC236}">
                  <a16:creationId xmlns:a16="http://schemas.microsoft.com/office/drawing/2014/main" id="{78CBDDC5-A865-C34F-0FA9-17CC83BE96EC}"/>
                </a:ext>
              </a:extLst>
            </p:cNvPr>
            <p:cNvGrpSpPr/>
            <p:nvPr/>
          </p:nvGrpSpPr>
          <p:grpSpPr>
            <a:xfrm>
              <a:off x="11323896" y="4725271"/>
              <a:ext cx="676617" cy="180109"/>
              <a:chOff x="5075956" y="3857461"/>
              <a:chExt cx="2621753" cy="352960"/>
            </a:xfrm>
          </p:grpSpPr>
          <p:cxnSp>
            <p:nvCxnSpPr>
              <p:cNvPr id="218" name="Straight Connector 217">
                <a:extLst>
                  <a:ext uri="{FF2B5EF4-FFF2-40B4-BE49-F238E27FC236}">
                    <a16:creationId xmlns:a16="http://schemas.microsoft.com/office/drawing/2014/main" id="{9C1A255A-8A87-3E77-3983-EECD53D2511E}"/>
                  </a:ext>
                </a:extLst>
              </p:cNvPr>
              <p:cNvCxnSpPr>
                <a:cxnSpLocks/>
              </p:cNvCxnSpPr>
              <p:nvPr/>
            </p:nvCxnSpPr>
            <p:spPr>
              <a:xfrm>
                <a:off x="5313438" y="4035578"/>
                <a:ext cx="238427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F6D6DC5-7D4F-0BB0-4B98-DA6B95277CD1}"/>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78B1416-9EE4-CD7D-3824-F8EBE065A749}"/>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sp>
        <p:nvSpPr>
          <p:cNvPr id="228" name="Arrow: Down 227">
            <a:extLst>
              <a:ext uri="{FF2B5EF4-FFF2-40B4-BE49-F238E27FC236}">
                <a16:creationId xmlns:a16="http://schemas.microsoft.com/office/drawing/2014/main" id="{2A13BDEF-2A71-909D-A5F7-8FC926153094}"/>
              </a:ext>
            </a:extLst>
          </p:cNvPr>
          <p:cNvSpPr/>
          <p:nvPr/>
        </p:nvSpPr>
        <p:spPr>
          <a:xfrm flipV="1">
            <a:off x="10676414" y="4461473"/>
            <a:ext cx="209568" cy="285123"/>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Arrow: Down 228">
            <a:extLst>
              <a:ext uri="{FF2B5EF4-FFF2-40B4-BE49-F238E27FC236}">
                <a16:creationId xmlns:a16="http://schemas.microsoft.com/office/drawing/2014/main" id="{DBA9A4C3-7971-9FFA-4C82-7487221DED88}"/>
              </a:ext>
            </a:extLst>
          </p:cNvPr>
          <p:cNvSpPr/>
          <p:nvPr/>
        </p:nvSpPr>
        <p:spPr>
          <a:xfrm flipV="1">
            <a:off x="10586238" y="3505876"/>
            <a:ext cx="209568" cy="285123"/>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Arrow: Down 229">
            <a:extLst>
              <a:ext uri="{FF2B5EF4-FFF2-40B4-BE49-F238E27FC236}">
                <a16:creationId xmlns:a16="http://schemas.microsoft.com/office/drawing/2014/main" id="{CAEAA27F-179A-6C92-86D2-810A69D908AE}"/>
              </a:ext>
            </a:extLst>
          </p:cNvPr>
          <p:cNvSpPr/>
          <p:nvPr/>
        </p:nvSpPr>
        <p:spPr>
          <a:xfrm flipV="1">
            <a:off x="9359259" y="1361944"/>
            <a:ext cx="209568" cy="285123"/>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Arrow: Down 230">
            <a:extLst>
              <a:ext uri="{FF2B5EF4-FFF2-40B4-BE49-F238E27FC236}">
                <a16:creationId xmlns:a16="http://schemas.microsoft.com/office/drawing/2014/main" id="{3DCC1A1A-49B9-F35A-C09E-8643DC65FA6F}"/>
              </a:ext>
            </a:extLst>
          </p:cNvPr>
          <p:cNvSpPr/>
          <p:nvPr/>
        </p:nvSpPr>
        <p:spPr>
          <a:xfrm flipV="1">
            <a:off x="10564762" y="2906311"/>
            <a:ext cx="209568" cy="285123"/>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TextBox 231">
            <a:extLst>
              <a:ext uri="{FF2B5EF4-FFF2-40B4-BE49-F238E27FC236}">
                <a16:creationId xmlns:a16="http://schemas.microsoft.com/office/drawing/2014/main" id="{583E73A7-CEDF-DEE0-FCFB-57BA1B467BA5}"/>
              </a:ext>
            </a:extLst>
          </p:cNvPr>
          <p:cNvSpPr txBox="1"/>
          <p:nvPr/>
        </p:nvSpPr>
        <p:spPr>
          <a:xfrm flipH="1">
            <a:off x="11594550" y="4461336"/>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233" name="TextBox 232">
            <a:extLst>
              <a:ext uri="{FF2B5EF4-FFF2-40B4-BE49-F238E27FC236}">
                <a16:creationId xmlns:a16="http://schemas.microsoft.com/office/drawing/2014/main" id="{98090B74-081A-6010-99F2-5AB83AC1FC13}"/>
              </a:ext>
            </a:extLst>
          </p:cNvPr>
          <p:cNvSpPr txBox="1"/>
          <p:nvPr/>
        </p:nvSpPr>
        <p:spPr>
          <a:xfrm flipH="1">
            <a:off x="11594550" y="3509409"/>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234" name="TextBox 233">
            <a:extLst>
              <a:ext uri="{FF2B5EF4-FFF2-40B4-BE49-F238E27FC236}">
                <a16:creationId xmlns:a16="http://schemas.microsoft.com/office/drawing/2014/main" id="{E10596D1-8926-0456-1FB5-3C4CEFFED52C}"/>
              </a:ext>
            </a:extLst>
          </p:cNvPr>
          <p:cNvSpPr txBox="1"/>
          <p:nvPr/>
        </p:nvSpPr>
        <p:spPr>
          <a:xfrm flipH="1">
            <a:off x="11584063" y="2321920"/>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pic>
        <p:nvPicPr>
          <p:cNvPr id="2" name="Picture 1" descr="A picture containing night sky  Description automatically generated">
            <a:extLst>
              <a:ext uri="{FF2B5EF4-FFF2-40B4-BE49-F238E27FC236}">
                <a16:creationId xmlns:a16="http://schemas.microsoft.com/office/drawing/2014/main" id="{747C1C51-403E-61A8-4305-9D42F567D32F}"/>
              </a:ext>
            </a:extLst>
          </p:cNvPr>
          <p:cNvPicPr>
            <a:picLocks noChangeAspect="1"/>
          </p:cNvPicPr>
          <p:nvPr/>
        </p:nvPicPr>
        <p:blipFill rotWithShape="1">
          <a:blip r:embed="rId11">
            <a:extLst>
              <a:ext uri="{28A0092B-C50C-407E-A947-70E740481C1C}">
                <a14:useLocalDpi xmlns:a14="http://schemas.microsoft.com/office/drawing/2010/main" val="0"/>
              </a:ext>
            </a:extLst>
          </a:blip>
          <a:srcRect l="28490" t="11733" r="61671" b="56869"/>
          <a:stretch/>
        </p:blipFill>
        <p:spPr>
          <a:xfrm>
            <a:off x="8526335" y="554812"/>
            <a:ext cx="414957" cy="914400"/>
          </a:xfrm>
          <a:prstGeom prst="rect">
            <a:avLst/>
          </a:prstGeom>
        </p:spPr>
      </p:pic>
      <p:sp>
        <p:nvSpPr>
          <p:cNvPr id="4" name="Obj 2">
            <a:hlinkClick r:id="rId13" action="ppaction://hlinksldjump"/>
            <a:extLst>
              <a:ext uri="{FF2B5EF4-FFF2-40B4-BE49-F238E27FC236}">
                <a16:creationId xmlns:a16="http://schemas.microsoft.com/office/drawing/2014/main" id="{3B65C1C7-8DB6-DB4B-49BE-F6D76655865A}"/>
              </a:ext>
            </a:extLst>
          </p:cNvPr>
          <p:cNvSpPr/>
          <p:nvPr/>
        </p:nvSpPr>
        <p:spPr>
          <a:xfrm>
            <a:off x="176803" y="3622985"/>
            <a:ext cx="184489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5" name="Graphic 4" descr="Cursor with solid fill">
            <a:extLst>
              <a:ext uri="{FF2B5EF4-FFF2-40B4-BE49-F238E27FC236}">
                <a16:creationId xmlns:a16="http://schemas.microsoft.com/office/drawing/2014/main" id="{B8BC3BC5-BF9F-F9D3-21E5-7DBFC79B1EA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86338" y="3873182"/>
            <a:ext cx="274320" cy="274320"/>
          </a:xfrm>
          <a:prstGeom prst="rect">
            <a:avLst/>
          </a:prstGeom>
        </p:spPr>
      </p:pic>
    </p:spTree>
    <p:extLst>
      <p:ext uri="{BB962C8B-B14F-4D97-AF65-F5344CB8AC3E}">
        <p14:creationId xmlns:p14="http://schemas.microsoft.com/office/powerpoint/2010/main" val="4192409252"/>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25"/>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69"/>
                                        </p:tgtEl>
                                        <p:attrNameLst>
                                          <p:attrName>style.visibility</p:attrName>
                                        </p:attrNameLst>
                                      </p:cBhvr>
                                      <p:to>
                                        <p:strVal val="visible"/>
                                      </p:to>
                                    </p:set>
                                  </p:childTnLst>
                                </p:cTn>
                              </p:par>
                              <p:par>
                                <p:cTn id="13" presetID="1" presetClass="entr" presetSubtype="0" fill="hold" grpId="0" nodeType="withEffect">
                                  <p:stCondLst>
                                    <p:cond delay="500"/>
                                  </p:stCondLst>
                                  <p:childTnLst>
                                    <p:set>
                                      <p:cBhvr>
                                        <p:cTn id="14" dur="1" fill="hold">
                                          <p:stCondLst>
                                            <p:cond delay="0"/>
                                          </p:stCondLst>
                                        </p:cTn>
                                        <p:tgtEl>
                                          <p:spTgt spid="170"/>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15" restart="whenNotActive" fill="hold" evtFilter="cancelBubble" nodeType="interactiveSeq">
                <p:stCondLst>
                  <p:cond evt="onClick" delay="0">
                    <p:tgtEl>
                      <p:spTgt spid="68"/>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grpId="0" nodeType="withEffect">
                                  <p:stCondLst>
                                    <p:cond delay="0"/>
                                  </p:stCondLst>
                                  <p:childTnLst>
                                    <p:set>
                                      <p:cBhvr>
                                        <p:cTn id="19" dur="1" fill="hold">
                                          <p:stCondLst>
                                            <p:cond delay="0"/>
                                          </p:stCondLst>
                                        </p:cTn>
                                        <p:tgtEl>
                                          <p:spTgt spid="171"/>
                                        </p:tgtEl>
                                        <p:attrNameLst>
                                          <p:attrName>style.visibility</p:attrName>
                                        </p:attrNameLst>
                                      </p:cBhvr>
                                      <p:to>
                                        <p:strVal val="visible"/>
                                      </p:to>
                                    </p:set>
                                  </p:childTnLst>
                                </p:cTn>
                              </p:par>
                              <p:par>
                                <p:cTn id="20" presetID="1" presetClass="exit"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hidden"/>
                                      </p:to>
                                    </p:set>
                                  </p:childTnLst>
                                </p:cTn>
                              </p:par>
                              <p:par>
                                <p:cTn id="22" presetID="1" presetClass="exit" presetSubtype="0" fill="hold" nodeType="withEffect">
                                  <p:stCondLst>
                                    <p:cond delay="0"/>
                                  </p:stCondLst>
                                  <p:childTnLst>
                                    <p:set>
                                      <p:cBhvr>
                                        <p:cTn id="23" dur="1" fill="hold">
                                          <p:stCondLst>
                                            <p:cond delay="0"/>
                                          </p:stCondLst>
                                        </p:cTn>
                                        <p:tgtEl>
                                          <p:spTgt spid="69"/>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172"/>
                                        </p:tgtEl>
                                        <p:attrNameLst>
                                          <p:attrName>style.visibility</p:attrName>
                                        </p:attrNameLst>
                                      </p:cBhvr>
                                      <p:to>
                                        <p:strVal val="visible"/>
                                      </p:to>
                                    </p:set>
                                  </p:childTnLst>
                                </p:cTn>
                              </p:par>
                              <p:par>
                                <p:cTn id="26" presetID="1" presetClass="entr" presetSubtype="0" fill="hold" grpId="0" nodeType="withEffect">
                                  <p:stCondLst>
                                    <p:cond delay="500"/>
                                  </p:stCondLst>
                                  <p:childTnLst>
                                    <p:set>
                                      <p:cBhvr>
                                        <p:cTn id="27"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68"/>
                  </p:tgtEl>
                </p:cond>
              </p:nextCondLst>
            </p:seq>
            <p:seq concurrent="1" nextAc="seek">
              <p:cTn id="28" restart="whenNotActive" fill="hold" evtFilter="cancelBubble" nodeType="interactiveSeq">
                <p:stCondLst>
                  <p:cond evt="onClick" delay="0">
                    <p:tgtEl>
                      <p:spTgt spid="89"/>
                    </p:tgtEl>
                  </p:cond>
                </p:stCondLst>
                <p:endSync evt="end" delay="0">
                  <p:rtn val="all"/>
                </p:endSync>
                <p:childTnLst>
                  <p:par>
                    <p:cTn id="29" fill="hold">
                      <p:stCondLst>
                        <p:cond delay="0"/>
                      </p:stCondLst>
                      <p:childTnLst>
                        <p:par>
                          <p:cTn id="30" fill="hold">
                            <p:stCondLst>
                              <p:cond delay="0"/>
                            </p:stCondLst>
                            <p:childTnLst>
                              <p:par>
                                <p:cTn id="31" presetID="1" presetClass="exit" presetSubtype="0" fill="hold" grpId="1" nodeType="withEffect">
                                  <p:stCondLst>
                                    <p:cond delay="0"/>
                                  </p:stCondLst>
                                  <p:childTnLst>
                                    <p:set>
                                      <p:cBhvr>
                                        <p:cTn id="32" dur="1" fill="hold">
                                          <p:stCondLst>
                                            <p:cond delay="0"/>
                                          </p:stCondLst>
                                        </p:cTn>
                                        <p:tgtEl>
                                          <p:spTgt spid="17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69"/>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74"/>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72"/>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73"/>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89"/>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90"/>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17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22"/>
                                        </p:tgtEl>
                                        <p:attrNameLst>
                                          <p:attrName>style.visibility</p:attrName>
                                        </p:attrNameLst>
                                      </p:cBhvr>
                                      <p:to>
                                        <p:strVal val="visible"/>
                                      </p:to>
                                    </p:set>
                                  </p:childTnLst>
                                </p:cTn>
                              </p:par>
                            </p:childTnLst>
                          </p:cTn>
                        </p:par>
                      </p:childTnLst>
                    </p:cTn>
                  </p:par>
                </p:childTnLst>
              </p:cTn>
              <p:nextCondLst>
                <p:cond evt="onClick" delay="0">
                  <p:tgtEl>
                    <p:spTgt spid="89"/>
                  </p:tgtEl>
                </p:cond>
              </p:nextCondLst>
            </p:seq>
            <p:seq concurrent="1" nextAc="seek">
              <p:cTn id="51" restart="whenNotActive" fill="hold" evtFilter="cancelBubble" nodeType="interactiveSeq">
                <p:stCondLst>
                  <p:cond evt="onClick" delay="0">
                    <p:tgtEl>
                      <p:spTgt spid="138"/>
                    </p:tgtEl>
                  </p:cond>
                </p:stCondLst>
                <p:endSync evt="end" delay="0">
                  <p:rtn val="all"/>
                </p:endSync>
                <p:childTnLst>
                  <p:par>
                    <p:cTn id="52" fill="hold">
                      <p:stCondLst>
                        <p:cond delay="0"/>
                      </p:stCondLst>
                      <p:childTnLst>
                        <p:par>
                          <p:cTn id="53" fill="hold">
                            <p:stCondLst>
                              <p:cond delay="0"/>
                            </p:stCondLst>
                            <p:childTnLst>
                              <p:par>
                                <p:cTn id="54" presetID="1" presetClass="entr" presetSubtype="0" fill="hold" grpId="0" nodeType="withEffect">
                                  <p:stCondLst>
                                    <p:cond delay="0"/>
                                  </p:stCondLst>
                                  <p:childTnLst>
                                    <p:set>
                                      <p:cBhvr>
                                        <p:cTn id="55" dur="1" fill="hold">
                                          <p:stCondLst>
                                            <p:cond delay="0"/>
                                          </p:stCondLst>
                                        </p:cTn>
                                        <p:tgtEl>
                                          <p:spTgt spid="210"/>
                                        </p:tgtEl>
                                        <p:attrNameLst>
                                          <p:attrName>style.visibility</p:attrName>
                                        </p:attrNameLst>
                                      </p:cBhvr>
                                      <p:to>
                                        <p:strVal val="visible"/>
                                      </p:to>
                                    </p:set>
                                  </p:childTnLst>
                                </p:cTn>
                              </p:par>
                              <p:par>
                                <p:cTn id="56" presetID="1" presetClass="exit" presetSubtype="0" fill="hold" grpId="0" nodeType="withEffect">
                                  <p:stCondLst>
                                    <p:cond delay="0"/>
                                  </p:stCondLst>
                                  <p:childTnLst>
                                    <p:set>
                                      <p:cBhvr>
                                        <p:cTn id="57" dur="1" fill="hold">
                                          <p:stCondLst>
                                            <p:cond delay="0"/>
                                          </p:stCondLst>
                                        </p:cTn>
                                        <p:tgtEl>
                                          <p:spTgt spid="138"/>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139"/>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23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3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32"/>
                                        </p:tgtEl>
                                        <p:attrNameLst>
                                          <p:attrName>style.visibility</p:attrName>
                                        </p:attrNameLst>
                                      </p:cBhvr>
                                      <p:to>
                                        <p:strVal val="visible"/>
                                      </p:to>
                                    </p:set>
                                  </p:childTnLst>
                                </p:cTn>
                              </p:par>
                              <p:par>
                                <p:cTn id="66" presetID="1" presetClass="entr" presetSubtype="0" fill="hold" grpId="0" nodeType="withEffect">
                                  <p:stCondLst>
                                    <p:cond delay="500"/>
                                  </p:stCondLst>
                                  <p:childTnLst>
                                    <p:set>
                                      <p:cBhvr>
                                        <p:cTn id="67" dur="1" fill="hold">
                                          <p:stCondLst>
                                            <p:cond delay="0"/>
                                          </p:stCondLst>
                                        </p:cTn>
                                        <p:tgtEl>
                                          <p:spTgt spid="228"/>
                                        </p:tgtEl>
                                        <p:attrNameLst>
                                          <p:attrName>style.visibility</p:attrName>
                                        </p:attrNameLst>
                                      </p:cBhvr>
                                      <p:to>
                                        <p:strVal val="visible"/>
                                      </p:to>
                                    </p:set>
                                  </p:childTnLst>
                                </p:cTn>
                              </p:par>
                              <p:par>
                                <p:cTn id="68" presetID="1" presetClass="entr" presetSubtype="0" fill="hold" grpId="0" nodeType="withEffect">
                                  <p:stCondLst>
                                    <p:cond delay="500"/>
                                  </p:stCondLst>
                                  <p:childTnLst>
                                    <p:set>
                                      <p:cBhvr>
                                        <p:cTn id="69" dur="1" fill="hold">
                                          <p:stCondLst>
                                            <p:cond delay="0"/>
                                          </p:stCondLst>
                                        </p:cTn>
                                        <p:tgtEl>
                                          <p:spTgt spid="229"/>
                                        </p:tgtEl>
                                        <p:attrNameLst>
                                          <p:attrName>style.visibility</p:attrName>
                                        </p:attrNameLst>
                                      </p:cBhvr>
                                      <p:to>
                                        <p:strVal val="visible"/>
                                      </p:to>
                                    </p:set>
                                  </p:childTnLst>
                                </p:cTn>
                              </p:par>
                              <p:par>
                                <p:cTn id="70" presetID="1" presetClass="entr" presetSubtype="0" fill="hold" grpId="0" nodeType="withEffect">
                                  <p:stCondLst>
                                    <p:cond delay="1000"/>
                                  </p:stCondLst>
                                  <p:childTnLst>
                                    <p:set>
                                      <p:cBhvr>
                                        <p:cTn id="71" dur="1" fill="hold">
                                          <p:stCondLst>
                                            <p:cond delay="0"/>
                                          </p:stCondLst>
                                        </p:cTn>
                                        <p:tgtEl>
                                          <p:spTgt spid="231"/>
                                        </p:tgtEl>
                                        <p:attrNameLst>
                                          <p:attrName>style.visibility</p:attrName>
                                        </p:attrNameLst>
                                      </p:cBhvr>
                                      <p:to>
                                        <p:strVal val="visible"/>
                                      </p:to>
                                    </p:set>
                                  </p:childTnLst>
                                </p:cTn>
                              </p:par>
                              <p:par>
                                <p:cTn id="72" presetID="1" presetClass="entr" presetSubtype="0" fill="hold" grpId="0" nodeType="withEffect">
                                  <p:stCondLst>
                                    <p:cond delay="1500"/>
                                  </p:stCondLst>
                                  <p:childTnLst>
                                    <p:set>
                                      <p:cBhvr>
                                        <p:cTn id="73" dur="1" fill="hold">
                                          <p:stCondLst>
                                            <p:cond delay="0"/>
                                          </p:stCondLst>
                                        </p:cTn>
                                        <p:tgtEl>
                                          <p:spTgt spid="230"/>
                                        </p:tgtEl>
                                        <p:attrNameLst>
                                          <p:attrName>style.visibility</p:attrName>
                                        </p:attrNameLst>
                                      </p:cBhvr>
                                      <p:to>
                                        <p:strVal val="visible"/>
                                      </p:to>
                                    </p:set>
                                  </p:childTnLst>
                                </p:cTn>
                              </p:par>
                            </p:childTnLst>
                          </p:cTn>
                        </p:par>
                      </p:childTnLst>
                    </p:cTn>
                  </p:par>
                </p:childTnLst>
              </p:cTn>
              <p:nextCondLst>
                <p:cond evt="onClick" delay="0">
                  <p:tgtEl>
                    <p:spTgt spid="138"/>
                  </p:tgtEl>
                </p:cond>
              </p:nextCondLst>
            </p:seq>
          </p:childTnLst>
        </p:cTn>
      </p:par>
    </p:tnLst>
    <p:bldLst>
      <p:bldP spid="9" grpId="0" animBg="1"/>
      <p:bldP spid="68" grpId="0" animBg="1"/>
      <p:bldP spid="89" grpId="0" animBg="1"/>
      <p:bldP spid="138" grpId="0" animBg="1"/>
      <p:bldP spid="168" grpId="0"/>
      <p:bldP spid="169" grpId="0" animBg="1"/>
      <p:bldP spid="169" grpId="1" animBg="1"/>
      <p:bldP spid="170" grpId="0" animBg="1"/>
      <p:bldP spid="170" grpId="1" animBg="1"/>
      <p:bldP spid="171" grpId="0"/>
      <p:bldP spid="172" grpId="0" animBg="1"/>
      <p:bldP spid="172" grpId="1" animBg="1"/>
      <p:bldP spid="173" grpId="0" animBg="1"/>
      <p:bldP spid="173" grpId="1" animBg="1"/>
      <p:bldP spid="174" grpId="0"/>
      <p:bldP spid="210" grpId="0"/>
      <p:bldP spid="228" grpId="0" animBg="1"/>
      <p:bldP spid="229" grpId="0" animBg="1"/>
      <p:bldP spid="230" grpId="0" animBg="1"/>
      <p:bldP spid="231" grpId="0" animBg="1"/>
      <p:bldP spid="232" grpId="0" animBg="1"/>
      <p:bldP spid="233" grpId="0" animBg="1"/>
      <p:bldP spid="2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26B97244-8BE4-05C0-8AFE-547D6AA6DA7E}"/>
              </a:ext>
            </a:extLst>
          </p:cNvPr>
          <p:cNvGrpSpPr/>
          <p:nvPr/>
        </p:nvGrpSpPr>
        <p:grpSpPr>
          <a:xfrm>
            <a:off x="11314751" y="5182959"/>
            <a:ext cx="676617" cy="180109"/>
            <a:chOff x="5075956" y="3857461"/>
            <a:chExt cx="2621753" cy="352960"/>
          </a:xfrm>
        </p:grpSpPr>
        <p:cxnSp>
          <p:nvCxnSpPr>
            <p:cNvPr id="107" name="Straight Connector 106">
              <a:extLst>
                <a:ext uri="{FF2B5EF4-FFF2-40B4-BE49-F238E27FC236}">
                  <a16:creationId xmlns:a16="http://schemas.microsoft.com/office/drawing/2014/main" id="{0ABD24D8-AE91-720F-CEAC-1C0C35371928}"/>
                </a:ext>
              </a:extLst>
            </p:cNvPr>
            <p:cNvCxnSpPr>
              <a:cxnSpLocks/>
            </p:cNvCxnSpPr>
            <p:nvPr/>
          </p:nvCxnSpPr>
          <p:spPr>
            <a:xfrm>
              <a:off x="5313438" y="4035578"/>
              <a:ext cx="238427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AB0F17A-81E2-DBD7-6CE4-5164F53620F7}"/>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BDA16D60-D2C9-62DE-6C57-6163907BD2AA}"/>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10" name="TextBox 109">
            <a:extLst>
              <a:ext uri="{FF2B5EF4-FFF2-40B4-BE49-F238E27FC236}">
                <a16:creationId xmlns:a16="http://schemas.microsoft.com/office/drawing/2014/main" id="{5AB43EE4-E868-AD3E-67B1-84C895DDA395}"/>
              </a:ext>
            </a:extLst>
          </p:cNvPr>
          <p:cNvSpPr txBox="1"/>
          <p:nvPr/>
        </p:nvSpPr>
        <p:spPr>
          <a:xfrm flipH="1">
            <a:off x="11585405" y="5147624"/>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134" name="CPP">
            <a:extLst>
              <a:ext uri="{FF2B5EF4-FFF2-40B4-BE49-F238E27FC236}">
                <a16:creationId xmlns:a16="http://schemas.microsoft.com/office/drawing/2014/main" id="{0FDD353F-86B2-5E5B-A745-BAD3B5BB81ED}"/>
              </a:ext>
            </a:extLst>
          </p:cNvPr>
          <p:cNvSpPr/>
          <p:nvPr/>
        </p:nvSpPr>
        <p:spPr>
          <a:xfrm>
            <a:off x="2649247" y="2796198"/>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Sympathetic tone</a:t>
            </a:r>
          </a:p>
        </p:txBody>
      </p:sp>
      <p:sp>
        <p:nvSpPr>
          <p:cNvPr id="9" name="Low SNS">
            <a:extLst>
              <a:ext uri="{FF2B5EF4-FFF2-40B4-BE49-F238E27FC236}">
                <a16:creationId xmlns:a16="http://schemas.microsoft.com/office/drawing/2014/main" id="{75961555-110B-874D-AE02-BF5638FEC345}"/>
              </a:ext>
            </a:extLst>
          </p:cNvPr>
          <p:cNvSpPr/>
          <p:nvPr/>
        </p:nvSpPr>
        <p:spPr>
          <a:xfrm>
            <a:off x="2649247" y="2796198"/>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Sympathetic tone</a:t>
            </a:r>
          </a:p>
        </p:txBody>
      </p:sp>
      <p:sp>
        <p:nvSpPr>
          <p:cNvPr id="148" name="TextBox 147">
            <a:extLst>
              <a:ext uri="{FF2B5EF4-FFF2-40B4-BE49-F238E27FC236}">
                <a16:creationId xmlns:a16="http://schemas.microsoft.com/office/drawing/2014/main" id="{F4ADD56A-EB89-5649-A63B-1B4FC5A534B6}"/>
              </a:ext>
            </a:extLst>
          </p:cNvPr>
          <p:cNvSpPr txBox="1"/>
          <p:nvPr/>
        </p:nvSpPr>
        <p:spPr>
          <a:xfrm>
            <a:off x="1308585" y="7554377"/>
            <a:ext cx="184731" cy="353609"/>
          </a:xfrm>
          <a:prstGeom prst="rect">
            <a:avLst/>
          </a:prstGeom>
          <a:noFill/>
        </p:spPr>
        <p:txBody>
          <a:bodyPr wrap="square" rtlCol="0">
            <a:spAutoFit/>
          </a:bodyPr>
          <a:lstStyle/>
          <a:p>
            <a:endParaRPr lang="en-US" dirty="0"/>
          </a:p>
        </p:txBody>
      </p:sp>
      <p:pic>
        <p:nvPicPr>
          <p:cNvPr id="225" name="Graphic 224" descr="Cursor with solid fill">
            <a:extLst>
              <a:ext uri="{FF2B5EF4-FFF2-40B4-BE49-F238E27FC236}">
                <a16:creationId xmlns:a16="http://schemas.microsoft.com/office/drawing/2014/main" id="{1047E1F4-A26C-4043-A08D-58F751DFF397}"/>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65465" y="3286589"/>
            <a:ext cx="274320" cy="274320"/>
          </a:xfrm>
          <a:prstGeom prst="rect">
            <a:avLst/>
          </a:prstGeom>
        </p:spPr>
      </p:pic>
      <p:sp>
        <p:nvSpPr>
          <p:cNvPr id="35" name="TextBox 34">
            <a:extLst>
              <a:ext uri="{FF2B5EF4-FFF2-40B4-BE49-F238E27FC236}">
                <a16:creationId xmlns:a16="http://schemas.microsoft.com/office/drawing/2014/main" id="{1650849A-7669-AB95-82BA-3D4D7242B833}"/>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Classification - Orthostatic</a:t>
            </a:r>
          </a:p>
        </p:txBody>
      </p:sp>
      <p:sp>
        <p:nvSpPr>
          <p:cNvPr id="36" name="TextBox 35">
            <a:extLst>
              <a:ext uri="{FF2B5EF4-FFF2-40B4-BE49-F238E27FC236}">
                <a16:creationId xmlns:a16="http://schemas.microsoft.com/office/drawing/2014/main" id="{1B5759D4-A3FD-B3DF-2416-A8247C7A1293}"/>
              </a:ext>
            </a:extLst>
          </p:cNvPr>
          <p:cNvSpPr txBox="1"/>
          <p:nvPr/>
        </p:nvSpPr>
        <p:spPr>
          <a:xfrm>
            <a:off x="4121222" y="537319"/>
            <a:ext cx="4990105" cy="646331"/>
          </a:xfrm>
          <a:prstGeom prst="rect">
            <a:avLst/>
          </a:prstGeom>
          <a:noFill/>
        </p:spPr>
        <p:txBody>
          <a:bodyPr wrap="square">
            <a:spAutoFit/>
          </a:bodyPr>
          <a:lstStyle/>
          <a:p>
            <a:pPr algn="ctr"/>
            <a:r>
              <a:rPr lang="en-US" b="1" dirty="0"/>
              <a:t>Postural hypotension due to an </a:t>
            </a:r>
            <a:r>
              <a:rPr lang="en-US" b="1" i="1" dirty="0"/>
              <a:t>insufficient</a:t>
            </a:r>
            <a:r>
              <a:rPr lang="en-US" b="1" dirty="0"/>
              <a:t> autonomic response</a:t>
            </a:r>
          </a:p>
        </p:txBody>
      </p:sp>
      <p:sp>
        <p:nvSpPr>
          <p:cNvPr id="147" name="TextBox 146">
            <a:extLst>
              <a:ext uri="{FF2B5EF4-FFF2-40B4-BE49-F238E27FC236}">
                <a16:creationId xmlns:a16="http://schemas.microsoft.com/office/drawing/2014/main" id="{CD7D87CC-20EA-DF39-4327-C0D6CE42ABBC}"/>
              </a:ext>
            </a:extLst>
          </p:cNvPr>
          <p:cNvSpPr txBox="1"/>
          <p:nvPr/>
        </p:nvSpPr>
        <p:spPr>
          <a:xfrm>
            <a:off x="10745180" y="5108827"/>
            <a:ext cx="502921" cy="372634"/>
          </a:xfrm>
          <a:prstGeom prst="rect">
            <a:avLst/>
          </a:prstGeom>
          <a:noFill/>
          <a:ln>
            <a:noFill/>
          </a:ln>
        </p:spPr>
        <p:txBody>
          <a:bodyPr wrap="square" rtlCol="0">
            <a:spAutoFit/>
          </a:bodyPr>
          <a:lstStyle/>
          <a:p>
            <a:pPr algn="ctr"/>
            <a:r>
              <a:rPr lang="en-US" dirty="0"/>
              <a:t>HR</a:t>
            </a:r>
          </a:p>
        </p:txBody>
      </p:sp>
      <p:sp>
        <p:nvSpPr>
          <p:cNvPr id="149" name="TextBox 148">
            <a:extLst>
              <a:ext uri="{FF2B5EF4-FFF2-40B4-BE49-F238E27FC236}">
                <a16:creationId xmlns:a16="http://schemas.microsoft.com/office/drawing/2014/main" id="{0407A9B1-BB36-1407-C68E-BC24395334FC}"/>
              </a:ext>
            </a:extLst>
          </p:cNvPr>
          <p:cNvSpPr txBox="1"/>
          <p:nvPr/>
        </p:nvSpPr>
        <p:spPr>
          <a:xfrm>
            <a:off x="10065328" y="5999277"/>
            <a:ext cx="1328374" cy="341722"/>
          </a:xfrm>
          <a:prstGeom prst="rect">
            <a:avLst/>
          </a:prstGeom>
          <a:noFill/>
          <a:ln>
            <a:noFill/>
          </a:ln>
        </p:spPr>
        <p:txBody>
          <a:bodyPr wrap="square" rtlCol="0">
            <a:spAutoFit/>
          </a:bodyPr>
          <a:lstStyle/>
          <a:p>
            <a:pPr algn="ctr"/>
            <a:r>
              <a:rPr lang="en-US" sz="1600" dirty="0"/>
              <a:t>contractility</a:t>
            </a:r>
          </a:p>
        </p:txBody>
      </p:sp>
      <p:pic>
        <p:nvPicPr>
          <p:cNvPr id="150" name="Picture 149" descr="A screenshot of a video game  Description automatically generated">
            <a:extLst>
              <a:ext uri="{FF2B5EF4-FFF2-40B4-BE49-F238E27FC236}">
                <a16:creationId xmlns:a16="http://schemas.microsoft.com/office/drawing/2014/main" id="{0600C835-5590-0AB3-9F24-0369553755A3}"/>
              </a:ext>
            </a:extLst>
          </p:cNvPr>
          <p:cNvPicPr>
            <a:picLocks noChangeAspect="1"/>
          </p:cNvPicPr>
          <p:nvPr/>
        </p:nvPicPr>
        <p:blipFill rotWithShape="1">
          <a:blip r:embed="rId5"/>
          <a:srcRect l="2581" t="21459" r="81092" b="16895"/>
          <a:stretch/>
        </p:blipFill>
        <p:spPr>
          <a:xfrm>
            <a:off x="8974739" y="664390"/>
            <a:ext cx="1926275" cy="5091033"/>
          </a:xfrm>
          <a:prstGeom prst="rect">
            <a:avLst/>
          </a:prstGeom>
        </p:spPr>
      </p:pic>
      <p:cxnSp>
        <p:nvCxnSpPr>
          <p:cNvPr id="151" name="Straight Connector 150">
            <a:extLst>
              <a:ext uri="{FF2B5EF4-FFF2-40B4-BE49-F238E27FC236}">
                <a16:creationId xmlns:a16="http://schemas.microsoft.com/office/drawing/2014/main" id="{B4334E73-519D-AB2E-6C17-28EDB4EBCEA2}"/>
              </a:ext>
            </a:extLst>
          </p:cNvPr>
          <p:cNvCxnSpPr>
            <a:cxnSpLocks/>
            <a:endCxn id="152" idx="1"/>
          </p:cNvCxnSpPr>
          <p:nvPr/>
        </p:nvCxnSpPr>
        <p:spPr>
          <a:xfrm flipV="1">
            <a:off x="9813181" y="3662663"/>
            <a:ext cx="903851" cy="532067"/>
          </a:xfrm>
          <a:prstGeom prst="line">
            <a:avLst/>
          </a:prstGeom>
        </p:spPr>
        <p:style>
          <a:lnRef idx="1">
            <a:schemeClr val="dk1"/>
          </a:lnRef>
          <a:fillRef idx="0">
            <a:schemeClr val="dk1"/>
          </a:fillRef>
          <a:effectRef idx="0">
            <a:schemeClr val="dk1"/>
          </a:effectRef>
          <a:fontRef idx="minor">
            <a:schemeClr val="tx1"/>
          </a:fontRef>
        </p:style>
      </p:cxnSp>
      <p:sp>
        <p:nvSpPr>
          <p:cNvPr id="152" name="Rectangle 151">
            <a:extLst>
              <a:ext uri="{FF2B5EF4-FFF2-40B4-BE49-F238E27FC236}">
                <a16:creationId xmlns:a16="http://schemas.microsoft.com/office/drawing/2014/main" id="{0F46F543-80E5-EC22-257E-9FC3644BFEDD}"/>
              </a:ext>
            </a:extLst>
          </p:cNvPr>
          <p:cNvSpPr/>
          <p:nvPr/>
        </p:nvSpPr>
        <p:spPr>
          <a:xfrm>
            <a:off x="10717032" y="3502643"/>
            <a:ext cx="617517"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SVR</a:t>
            </a:r>
          </a:p>
        </p:txBody>
      </p:sp>
      <p:cxnSp>
        <p:nvCxnSpPr>
          <p:cNvPr id="153" name="Straight Connector 152">
            <a:extLst>
              <a:ext uri="{FF2B5EF4-FFF2-40B4-BE49-F238E27FC236}">
                <a16:creationId xmlns:a16="http://schemas.microsoft.com/office/drawing/2014/main" id="{0F12ADFD-2B6F-DAFE-F39B-0807E341D294}"/>
              </a:ext>
            </a:extLst>
          </p:cNvPr>
          <p:cNvCxnSpPr>
            <a:cxnSpLocks/>
            <a:endCxn id="154" idx="1"/>
          </p:cNvCxnSpPr>
          <p:nvPr/>
        </p:nvCxnSpPr>
        <p:spPr>
          <a:xfrm flipV="1">
            <a:off x="9995085" y="3070904"/>
            <a:ext cx="664208" cy="919899"/>
          </a:xfrm>
          <a:prstGeom prst="line">
            <a:avLst/>
          </a:prstGeom>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06920260-8782-CFB0-F592-8B47085A4252}"/>
              </a:ext>
            </a:extLst>
          </p:cNvPr>
          <p:cNvSpPr/>
          <p:nvPr/>
        </p:nvSpPr>
        <p:spPr>
          <a:xfrm>
            <a:off x="10659293" y="2910884"/>
            <a:ext cx="732995"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DB7575"/>
                </a:solidFill>
              </a:rPr>
              <a:t>MAP</a:t>
            </a:r>
          </a:p>
        </p:txBody>
      </p:sp>
      <p:sp>
        <p:nvSpPr>
          <p:cNvPr id="155" name="Rectangle 154">
            <a:extLst>
              <a:ext uri="{FF2B5EF4-FFF2-40B4-BE49-F238E27FC236}">
                <a16:creationId xmlns:a16="http://schemas.microsoft.com/office/drawing/2014/main" id="{B8AB21EB-B829-4E67-6C22-37A2A8C0011E}"/>
              </a:ext>
            </a:extLst>
          </p:cNvPr>
          <p:cNvSpPr/>
          <p:nvPr/>
        </p:nvSpPr>
        <p:spPr>
          <a:xfrm>
            <a:off x="9624587" y="1344570"/>
            <a:ext cx="569514" cy="320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CPP</a:t>
            </a:r>
          </a:p>
        </p:txBody>
      </p:sp>
      <p:cxnSp>
        <p:nvCxnSpPr>
          <p:cNvPr id="156" name="Straight Connector 155">
            <a:extLst>
              <a:ext uri="{FF2B5EF4-FFF2-40B4-BE49-F238E27FC236}">
                <a16:creationId xmlns:a16="http://schemas.microsoft.com/office/drawing/2014/main" id="{3497A1A5-6676-0493-AA35-5930CCBAFE39}"/>
              </a:ext>
            </a:extLst>
          </p:cNvPr>
          <p:cNvCxnSpPr>
            <a:cxnSpLocks/>
            <a:endCxn id="157" idx="1"/>
          </p:cNvCxnSpPr>
          <p:nvPr/>
        </p:nvCxnSpPr>
        <p:spPr>
          <a:xfrm flipV="1">
            <a:off x="10176662" y="4609445"/>
            <a:ext cx="597668" cy="157785"/>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A0383932-4527-0786-294E-3D61F48215F9}"/>
              </a:ext>
            </a:extLst>
          </p:cNvPr>
          <p:cNvSpPr txBox="1"/>
          <p:nvPr/>
        </p:nvSpPr>
        <p:spPr>
          <a:xfrm>
            <a:off x="10774330" y="4424779"/>
            <a:ext cx="502921" cy="369332"/>
          </a:xfrm>
          <a:prstGeom prst="rect">
            <a:avLst/>
          </a:prstGeom>
          <a:noFill/>
          <a:ln>
            <a:noFill/>
          </a:ln>
        </p:spPr>
        <p:txBody>
          <a:bodyPr wrap="square" rtlCol="0">
            <a:spAutoFit/>
          </a:bodyPr>
          <a:lstStyle/>
          <a:p>
            <a:pPr algn="ctr"/>
            <a:r>
              <a:rPr lang="en-US" dirty="0">
                <a:solidFill>
                  <a:schemeClr val="accent2"/>
                </a:solidFill>
              </a:rPr>
              <a:t>CO</a:t>
            </a:r>
          </a:p>
        </p:txBody>
      </p:sp>
      <p:cxnSp>
        <p:nvCxnSpPr>
          <p:cNvPr id="158" name="Straight Connector 157">
            <a:extLst>
              <a:ext uri="{FF2B5EF4-FFF2-40B4-BE49-F238E27FC236}">
                <a16:creationId xmlns:a16="http://schemas.microsoft.com/office/drawing/2014/main" id="{D1042991-FAB4-1DFA-4771-834FEB4D878C}"/>
              </a:ext>
            </a:extLst>
          </p:cNvPr>
          <p:cNvCxnSpPr>
            <a:cxnSpLocks/>
          </p:cNvCxnSpPr>
          <p:nvPr/>
        </p:nvCxnSpPr>
        <p:spPr>
          <a:xfrm>
            <a:off x="10332454" y="5054600"/>
            <a:ext cx="441876" cy="250446"/>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FE78D1B8-2A16-7562-0BA9-1FE54FA22359}"/>
              </a:ext>
            </a:extLst>
          </p:cNvPr>
          <p:cNvCxnSpPr>
            <a:cxnSpLocks/>
            <a:stCxn id="163" idx="2"/>
            <a:endCxn id="161" idx="0"/>
          </p:cNvCxnSpPr>
          <p:nvPr/>
        </p:nvCxnSpPr>
        <p:spPr>
          <a:xfrm flipH="1">
            <a:off x="9530587" y="5829234"/>
            <a:ext cx="546206" cy="176226"/>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7A613A2F-77F5-D0A8-AA4D-D8B30E33EC6F}"/>
              </a:ext>
            </a:extLst>
          </p:cNvPr>
          <p:cNvCxnSpPr>
            <a:cxnSpLocks/>
            <a:stCxn id="163" idx="2"/>
            <a:endCxn id="149" idx="0"/>
          </p:cNvCxnSpPr>
          <p:nvPr/>
        </p:nvCxnSpPr>
        <p:spPr>
          <a:xfrm>
            <a:off x="10076793" y="5829234"/>
            <a:ext cx="652722" cy="170043"/>
          </a:xfrm>
          <a:prstGeom prst="line">
            <a:avLst/>
          </a:prstGeom>
        </p:spPr>
        <p:style>
          <a:lnRef idx="1">
            <a:schemeClr val="dk1"/>
          </a:lnRef>
          <a:fillRef idx="0">
            <a:schemeClr val="dk1"/>
          </a:fillRef>
          <a:effectRef idx="0">
            <a:schemeClr val="dk1"/>
          </a:effectRef>
          <a:fontRef idx="minor">
            <a:schemeClr val="tx1"/>
          </a:fontRef>
        </p:style>
      </p:cxnSp>
      <p:sp>
        <p:nvSpPr>
          <p:cNvPr id="161" name="TextBox 160">
            <a:extLst>
              <a:ext uri="{FF2B5EF4-FFF2-40B4-BE49-F238E27FC236}">
                <a16:creationId xmlns:a16="http://schemas.microsoft.com/office/drawing/2014/main" id="{478EBB60-0DDD-2CA6-8C47-482F5D0B45B4}"/>
              </a:ext>
            </a:extLst>
          </p:cNvPr>
          <p:cNvSpPr txBox="1"/>
          <p:nvPr/>
        </p:nvSpPr>
        <p:spPr>
          <a:xfrm>
            <a:off x="9111327" y="6005460"/>
            <a:ext cx="838520" cy="341722"/>
          </a:xfrm>
          <a:prstGeom prst="rect">
            <a:avLst/>
          </a:prstGeom>
          <a:noFill/>
          <a:ln>
            <a:noFill/>
          </a:ln>
        </p:spPr>
        <p:txBody>
          <a:bodyPr wrap="square" rtlCol="0">
            <a:spAutoFit/>
          </a:bodyPr>
          <a:lstStyle/>
          <a:p>
            <a:pPr algn="ctr"/>
            <a:r>
              <a:rPr lang="en-US" sz="1600" dirty="0"/>
              <a:t>preload</a:t>
            </a:r>
          </a:p>
        </p:txBody>
      </p:sp>
      <p:cxnSp>
        <p:nvCxnSpPr>
          <p:cNvPr id="162" name="Straight Connector 161">
            <a:extLst>
              <a:ext uri="{FF2B5EF4-FFF2-40B4-BE49-F238E27FC236}">
                <a16:creationId xmlns:a16="http://schemas.microsoft.com/office/drawing/2014/main" id="{5B783339-923C-AEB1-0F34-CAC7E34D6A60}"/>
              </a:ext>
            </a:extLst>
          </p:cNvPr>
          <p:cNvCxnSpPr>
            <a:cxnSpLocks/>
            <a:endCxn id="163" idx="0"/>
          </p:cNvCxnSpPr>
          <p:nvPr/>
        </p:nvCxnSpPr>
        <p:spPr>
          <a:xfrm flipH="1">
            <a:off x="10076793" y="5054600"/>
            <a:ext cx="17943" cy="432912"/>
          </a:xfrm>
          <a:prstGeom prst="line">
            <a:avLst/>
          </a:prstGeom>
        </p:spPr>
        <p:style>
          <a:lnRef idx="1">
            <a:schemeClr val="dk1"/>
          </a:lnRef>
          <a:fillRef idx="0">
            <a:schemeClr val="dk1"/>
          </a:fillRef>
          <a:effectRef idx="0">
            <a:schemeClr val="dk1"/>
          </a:effectRef>
          <a:fontRef idx="minor">
            <a:schemeClr val="tx1"/>
          </a:fontRef>
        </p:style>
      </p:cxnSp>
      <p:sp>
        <p:nvSpPr>
          <p:cNvPr id="163" name="TextBox 162">
            <a:extLst>
              <a:ext uri="{FF2B5EF4-FFF2-40B4-BE49-F238E27FC236}">
                <a16:creationId xmlns:a16="http://schemas.microsoft.com/office/drawing/2014/main" id="{0898C27F-1450-16B8-FBBA-F5B4D27400B6}"/>
              </a:ext>
            </a:extLst>
          </p:cNvPr>
          <p:cNvSpPr txBox="1"/>
          <p:nvPr/>
        </p:nvSpPr>
        <p:spPr>
          <a:xfrm>
            <a:off x="9657533" y="5487512"/>
            <a:ext cx="838520" cy="341722"/>
          </a:xfrm>
          <a:prstGeom prst="rect">
            <a:avLst/>
          </a:prstGeom>
          <a:noFill/>
          <a:ln>
            <a:noFill/>
          </a:ln>
        </p:spPr>
        <p:txBody>
          <a:bodyPr wrap="square" rtlCol="0">
            <a:spAutoFit/>
          </a:bodyPr>
          <a:lstStyle/>
          <a:p>
            <a:pPr algn="ctr"/>
            <a:r>
              <a:rPr lang="en-US" sz="1600" dirty="0"/>
              <a:t>SV</a:t>
            </a:r>
          </a:p>
        </p:txBody>
      </p:sp>
      <p:sp>
        <p:nvSpPr>
          <p:cNvPr id="169" name="Arrow: Down 168">
            <a:extLst>
              <a:ext uri="{FF2B5EF4-FFF2-40B4-BE49-F238E27FC236}">
                <a16:creationId xmlns:a16="http://schemas.microsoft.com/office/drawing/2014/main" id="{804BC509-9859-9C9D-068B-A70E9F44C68A}"/>
              </a:ext>
            </a:extLst>
          </p:cNvPr>
          <p:cNvSpPr/>
          <p:nvPr/>
        </p:nvSpPr>
        <p:spPr>
          <a:xfrm>
            <a:off x="8960378" y="6086159"/>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Arrow: Down 169">
            <a:extLst>
              <a:ext uri="{FF2B5EF4-FFF2-40B4-BE49-F238E27FC236}">
                <a16:creationId xmlns:a16="http://schemas.microsoft.com/office/drawing/2014/main" id="{9CC354EA-B740-5A2C-7F80-8A5BD4023AEB}"/>
              </a:ext>
            </a:extLst>
          </p:cNvPr>
          <p:cNvSpPr/>
          <p:nvPr/>
        </p:nvSpPr>
        <p:spPr>
          <a:xfrm>
            <a:off x="10683521" y="4483952"/>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Arrow: Down 171">
            <a:extLst>
              <a:ext uri="{FF2B5EF4-FFF2-40B4-BE49-F238E27FC236}">
                <a16:creationId xmlns:a16="http://schemas.microsoft.com/office/drawing/2014/main" id="{068E8D87-BF4B-E371-D46A-76D8BBCB479D}"/>
              </a:ext>
            </a:extLst>
          </p:cNvPr>
          <p:cNvSpPr/>
          <p:nvPr/>
        </p:nvSpPr>
        <p:spPr>
          <a:xfrm>
            <a:off x="10570585" y="2936496"/>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Arrow: Down 172">
            <a:extLst>
              <a:ext uri="{FF2B5EF4-FFF2-40B4-BE49-F238E27FC236}">
                <a16:creationId xmlns:a16="http://schemas.microsoft.com/office/drawing/2014/main" id="{A392B356-AB84-00E1-F29B-5E02A655BA28}"/>
              </a:ext>
            </a:extLst>
          </p:cNvPr>
          <p:cNvSpPr/>
          <p:nvPr/>
        </p:nvSpPr>
        <p:spPr>
          <a:xfrm>
            <a:off x="9359259" y="137948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7" name="Picture 176">
            <a:extLst>
              <a:ext uri="{FF2B5EF4-FFF2-40B4-BE49-F238E27FC236}">
                <a16:creationId xmlns:a16="http://schemas.microsoft.com/office/drawing/2014/main" id="{AF89438B-1958-E1EB-DA35-3F95E90FD5DB}"/>
              </a:ext>
            </a:extLst>
          </p:cNvPr>
          <p:cNvPicPr>
            <a:picLocks noChangeAspect="1"/>
          </p:cNvPicPr>
          <p:nvPr/>
        </p:nvPicPr>
        <p:blipFill rotWithShape="1">
          <a:blip r:embed="rId6">
            <a:extLst>
              <a:ext uri="{28A0092B-C50C-407E-A947-70E740481C1C}">
                <a14:useLocalDpi xmlns:a14="http://schemas.microsoft.com/office/drawing/2010/main" val="0"/>
              </a:ext>
            </a:extLst>
          </a:blip>
          <a:srcRect l="22027" t="24422" r="59669" b="51171"/>
          <a:stretch/>
        </p:blipFill>
        <p:spPr>
          <a:xfrm flipH="1">
            <a:off x="10566180" y="2070359"/>
            <a:ext cx="801313" cy="769901"/>
          </a:xfrm>
          <a:prstGeom prst="rect">
            <a:avLst/>
          </a:prstGeom>
        </p:spPr>
      </p:pic>
      <p:sp>
        <p:nvSpPr>
          <p:cNvPr id="199" name="Oval 198">
            <a:extLst>
              <a:ext uri="{FF2B5EF4-FFF2-40B4-BE49-F238E27FC236}">
                <a16:creationId xmlns:a16="http://schemas.microsoft.com/office/drawing/2014/main" id="{CA77C1F4-FC4D-4CB8-585D-B8F09196CCD9}"/>
              </a:ext>
            </a:extLst>
          </p:cNvPr>
          <p:cNvSpPr/>
          <p:nvPr/>
        </p:nvSpPr>
        <p:spPr>
          <a:xfrm>
            <a:off x="9592070" y="2767136"/>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TextBox 199">
            <a:extLst>
              <a:ext uri="{FF2B5EF4-FFF2-40B4-BE49-F238E27FC236}">
                <a16:creationId xmlns:a16="http://schemas.microsoft.com/office/drawing/2014/main" id="{EF592E47-50D6-9501-5FE5-CCBE37B3E76D}"/>
              </a:ext>
            </a:extLst>
          </p:cNvPr>
          <p:cNvSpPr txBox="1"/>
          <p:nvPr/>
        </p:nvSpPr>
        <p:spPr>
          <a:xfrm flipH="1">
            <a:off x="8370459" y="2684064"/>
            <a:ext cx="1246455" cy="307777"/>
          </a:xfrm>
          <a:prstGeom prst="rect">
            <a:avLst/>
          </a:prstGeom>
          <a:noFill/>
        </p:spPr>
        <p:txBody>
          <a:bodyPr wrap="square" rtlCol="0">
            <a:spAutoFit/>
          </a:bodyPr>
          <a:lstStyle/>
          <a:p>
            <a:pPr algn="ctr"/>
            <a:r>
              <a:rPr lang="en-US" sz="1400" dirty="0"/>
              <a:t>Carotid </a:t>
            </a:r>
            <a:r>
              <a:rPr lang="en-US" sz="1400" dirty="0" err="1"/>
              <a:t>baro</a:t>
            </a:r>
            <a:r>
              <a:rPr lang="en-US" sz="1400" dirty="0"/>
              <a:t>-R</a:t>
            </a:r>
          </a:p>
        </p:txBody>
      </p:sp>
      <p:sp>
        <p:nvSpPr>
          <p:cNvPr id="203" name="Oval 202">
            <a:extLst>
              <a:ext uri="{FF2B5EF4-FFF2-40B4-BE49-F238E27FC236}">
                <a16:creationId xmlns:a16="http://schemas.microsoft.com/office/drawing/2014/main" id="{051DA941-5F65-1DB7-9970-58F5F4D2C869}"/>
              </a:ext>
            </a:extLst>
          </p:cNvPr>
          <p:cNvSpPr/>
          <p:nvPr/>
        </p:nvSpPr>
        <p:spPr>
          <a:xfrm>
            <a:off x="10183684" y="2768520"/>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Arrow Connector 204">
            <a:extLst>
              <a:ext uri="{FF2B5EF4-FFF2-40B4-BE49-F238E27FC236}">
                <a16:creationId xmlns:a16="http://schemas.microsoft.com/office/drawing/2014/main" id="{BCF7DF99-991D-1AFF-B2DF-15845633233D}"/>
              </a:ext>
            </a:extLst>
          </p:cNvPr>
          <p:cNvCxnSpPr>
            <a:cxnSpLocks/>
          </p:cNvCxnSpPr>
          <p:nvPr/>
        </p:nvCxnSpPr>
        <p:spPr>
          <a:xfrm flipV="1">
            <a:off x="10368610" y="2620527"/>
            <a:ext cx="232033" cy="19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F7AA0BA-D306-25A4-0C5D-39805B2AD9E3}"/>
              </a:ext>
            </a:extLst>
          </p:cNvPr>
          <p:cNvCxnSpPr>
            <a:cxnSpLocks/>
          </p:cNvCxnSpPr>
          <p:nvPr/>
        </p:nvCxnSpPr>
        <p:spPr>
          <a:xfrm flipH="1" flipV="1">
            <a:off x="11242225" y="2440408"/>
            <a:ext cx="749143" cy="365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F904CB-765B-6A96-E319-F781F2B457A5}"/>
              </a:ext>
            </a:extLst>
          </p:cNvPr>
          <p:cNvCxnSpPr>
            <a:cxnSpLocks/>
          </p:cNvCxnSpPr>
          <p:nvPr/>
        </p:nvCxnSpPr>
        <p:spPr>
          <a:xfrm flipV="1">
            <a:off x="11991368" y="2440410"/>
            <a:ext cx="0" cy="2139671"/>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12" name="Group 211">
            <a:extLst>
              <a:ext uri="{FF2B5EF4-FFF2-40B4-BE49-F238E27FC236}">
                <a16:creationId xmlns:a16="http://schemas.microsoft.com/office/drawing/2014/main" id="{FCBCF215-4A91-9202-CBF5-C9049C769588}"/>
              </a:ext>
            </a:extLst>
          </p:cNvPr>
          <p:cNvGrpSpPr/>
          <p:nvPr/>
        </p:nvGrpSpPr>
        <p:grpSpPr>
          <a:xfrm>
            <a:off x="11312467" y="3557548"/>
            <a:ext cx="688046" cy="180109"/>
            <a:chOff x="5075956" y="3857461"/>
            <a:chExt cx="2666038" cy="352960"/>
          </a:xfrm>
        </p:grpSpPr>
        <p:cxnSp>
          <p:nvCxnSpPr>
            <p:cNvPr id="213" name="Straight Connector 212">
              <a:extLst>
                <a:ext uri="{FF2B5EF4-FFF2-40B4-BE49-F238E27FC236}">
                  <a16:creationId xmlns:a16="http://schemas.microsoft.com/office/drawing/2014/main" id="{F2D0D98C-F1CE-D2A0-24BE-525BD90A651E}"/>
                </a:ext>
              </a:extLst>
            </p:cNvPr>
            <p:cNvCxnSpPr>
              <a:cxnSpLocks/>
            </p:cNvCxnSpPr>
            <p:nvPr/>
          </p:nvCxnSpPr>
          <p:spPr>
            <a:xfrm>
              <a:off x="5313438" y="4035578"/>
              <a:ext cx="2428556"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9BE6641-4097-0C18-6E2F-43E672A96424}"/>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CF379D5-1D6B-D178-3A33-65EB166BEE53}"/>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17" name="Group 216">
            <a:extLst>
              <a:ext uri="{FF2B5EF4-FFF2-40B4-BE49-F238E27FC236}">
                <a16:creationId xmlns:a16="http://schemas.microsoft.com/office/drawing/2014/main" id="{78CBDDC5-A865-C34F-0FA9-17CC83BE96EC}"/>
              </a:ext>
            </a:extLst>
          </p:cNvPr>
          <p:cNvGrpSpPr/>
          <p:nvPr/>
        </p:nvGrpSpPr>
        <p:grpSpPr>
          <a:xfrm>
            <a:off x="11323896" y="4496671"/>
            <a:ext cx="676617" cy="180109"/>
            <a:chOff x="5075956" y="3857461"/>
            <a:chExt cx="2621753" cy="352960"/>
          </a:xfrm>
        </p:grpSpPr>
        <p:cxnSp>
          <p:nvCxnSpPr>
            <p:cNvPr id="218" name="Straight Connector 217">
              <a:extLst>
                <a:ext uri="{FF2B5EF4-FFF2-40B4-BE49-F238E27FC236}">
                  <a16:creationId xmlns:a16="http://schemas.microsoft.com/office/drawing/2014/main" id="{9C1A255A-8A87-3E77-3983-EECD53D2511E}"/>
                </a:ext>
              </a:extLst>
            </p:cNvPr>
            <p:cNvCxnSpPr>
              <a:cxnSpLocks/>
            </p:cNvCxnSpPr>
            <p:nvPr/>
          </p:nvCxnSpPr>
          <p:spPr>
            <a:xfrm>
              <a:off x="5313438" y="4035578"/>
              <a:ext cx="238427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F6D6DC5-7D4F-0BB0-4B98-DA6B95277CD1}"/>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78B1416-9EE4-CD7D-3824-F8EBE065A749}"/>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 name="Obj 2">
            <a:hlinkClick r:id="rId7" action="ppaction://hlinksldjump"/>
            <a:extLst>
              <a:ext uri="{FF2B5EF4-FFF2-40B4-BE49-F238E27FC236}">
                <a16:creationId xmlns:a16="http://schemas.microsoft.com/office/drawing/2014/main" id="{DE33C87F-C864-CAD8-D8EE-C8A4E4B2F8DE}"/>
              </a:ext>
            </a:extLst>
          </p:cNvPr>
          <p:cNvSpPr/>
          <p:nvPr/>
        </p:nvSpPr>
        <p:spPr>
          <a:xfrm>
            <a:off x="17680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4" name="Graphic 3" descr="Cursor with solid fill">
            <a:extLst>
              <a:ext uri="{FF2B5EF4-FFF2-40B4-BE49-F238E27FC236}">
                <a16:creationId xmlns:a16="http://schemas.microsoft.com/office/drawing/2014/main" id="{708AC8B0-71DD-CA48-ED0B-007E43CBA89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454521"/>
            <a:ext cx="274320" cy="274320"/>
          </a:xfrm>
          <a:prstGeom prst="rect">
            <a:avLst/>
          </a:prstGeom>
        </p:spPr>
      </p:pic>
      <p:sp>
        <p:nvSpPr>
          <p:cNvPr id="5" name="Obj 2">
            <a:hlinkClick r:id="rId8" action="ppaction://hlinksldjump"/>
            <a:extLst>
              <a:ext uri="{FF2B5EF4-FFF2-40B4-BE49-F238E27FC236}">
                <a16:creationId xmlns:a16="http://schemas.microsoft.com/office/drawing/2014/main" id="{E254E3F3-EB9B-C440-8B5C-C3BC0CD687FC}"/>
              </a:ext>
            </a:extLst>
          </p:cNvPr>
          <p:cNvSpPr/>
          <p:nvPr/>
        </p:nvSpPr>
        <p:spPr>
          <a:xfrm>
            <a:off x="176803" y="773505"/>
            <a:ext cx="1867983"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Classification</a:t>
            </a:r>
          </a:p>
        </p:txBody>
      </p:sp>
      <p:sp>
        <p:nvSpPr>
          <p:cNvPr id="7" name="Obj 2">
            <a:hlinkClick r:id="rId8" action="ppaction://hlinksldjump"/>
            <a:extLst>
              <a:ext uri="{FF2B5EF4-FFF2-40B4-BE49-F238E27FC236}">
                <a16:creationId xmlns:a16="http://schemas.microsoft.com/office/drawing/2014/main" id="{5C405FA0-1C70-3C1A-0882-7109FA2C3D71}"/>
              </a:ext>
            </a:extLst>
          </p:cNvPr>
          <p:cNvSpPr/>
          <p:nvPr/>
        </p:nvSpPr>
        <p:spPr>
          <a:xfrm>
            <a:off x="451413" y="1343662"/>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Orthostatic</a:t>
            </a:r>
          </a:p>
        </p:txBody>
      </p:sp>
      <p:sp>
        <p:nvSpPr>
          <p:cNvPr id="10" name="Obj 2">
            <a:hlinkClick r:id="rId9" action="ppaction://hlinksldjump"/>
            <a:extLst>
              <a:ext uri="{FF2B5EF4-FFF2-40B4-BE49-F238E27FC236}">
                <a16:creationId xmlns:a16="http://schemas.microsoft.com/office/drawing/2014/main" id="{071046B3-3327-95E2-AE8C-7D0181334D62}"/>
              </a:ext>
            </a:extLst>
          </p:cNvPr>
          <p:cNvSpPr/>
          <p:nvPr/>
        </p:nvSpPr>
        <p:spPr>
          <a:xfrm>
            <a:off x="451413" y="1913819"/>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Reflex</a:t>
            </a:r>
          </a:p>
        </p:txBody>
      </p:sp>
      <p:pic>
        <p:nvPicPr>
          <p:cNvPr id="11" name="Graphic 10" descr="Cursor with solid fill">
            <a:extLst>
              <a:ext uri="{FF2B5EF4-FFF2-40B4-BE49-F238E27FC236}">
                <a16:creationId xmlns:a16="http://schemas.microsoft.com/office/drawing/2014/main" id="{CE35A298-A2E3-3F0B-E3AF-4287488D175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170258"/>
            <a:ext cx="274320" cy="274320"/>
          </a:xfrm>
          <a:prstGeom prst="rect">
            <a:avLst/>
          </a:prstGeom>
        </p:spPr>
      </p:pic>
      <p:sp>
        <p:nvSpPr>
          <p:cNvPr id="26" name="Obj 2">
            <a:hlinkClick r:id="rId10" action="ppaction://hlinksldjump"/>
            <a:extLst>
              <a:ext uri="{FF2B5EF4-FFF2-40B4-BE49-F238E27FC236}">
                <a16:creationId xmlns:a16="http://schemas.microsoft.com/office/drawing/2014/main" id="{79F12720-0522-6D5A-865F-7BBABFE82E0A}"/>
              </a:ext>
            </a:extLst>
          </p:cNvPr>
          <p:cNvSpPr/>
          <p:nvPr/>
        </p:nvSpPr>
        <p:spPr>
          <a:xfrm>
            <a:off x="451411" y="2483976"/>
            <a:ext cx="1593375"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Cardiac</a:t>
            </a:r>
          </a:p>
        </p:txBody>
      </p:sp>
      <p:pic>
        <p:nvPicPr>
          <p:cNvPr id="27" name="Graphic 26" descr="Cursor with solid fill">
            <a:extLst>
              <a:ext uri="{FF2B5EF4-FFF2-40B4-BE49-F238E27FC236}">
                <a16:creationId xmlns:a16="http://schemas.microsoft.com/office/drawing/2014/main" id="{B5A8A1ED-22B9-21C8-5062-B890A7268C9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742358"/>
            <a:ext cx="274320" cy="274320"/>
          </a:xfrm>
          <a:prstGeom prst="rect">
            <a:avLst/>
          </a:prstGeom>
        </p:spPr>
      </p:pic>
      <p:sp>
        <p:nvSpPr>
          <p:cNvPr id="28" name="Obj 2">
            <a:hlinkClick r:id="rId11" action="ppaction://hlinksldjump"/>
            <a:extLst>
              <a:ext uri="{FF2B5EF4-FFF2-40B4-BE49-F238E27FC236}">
                <a16:creationId xmlns:a16="http://schemas.microsoft.com/office/drawing/2014/main" id="{88CECEA2-A88E-817E-0642-F8F5EE635022}"/>
              </a:ext>
            </a:extLst>
          </p:cNvPr>
          <p:cNvSpPr/>
          <p:nvPr/>
        </p:nvSpPr>
        <p:spPr>
          <a:xfrm>
            <a:off x="176803" y="3054133"/>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pic>
        <p:nvPicPr>
          <p:cNvPr id="29" name="Graphic 28" descr="Cursor with solid fill">
            <a:extLst>
              <a:ext uri="{FF2B5EF4-FFF2-40B4-BE49-F238E27FC236}">
                <a16:creationId xmlns:a16="http://schemas.microsoft.com/office/drawing/2014/main" id="{E1CFBC79-AA92-C149-2C45-3E58A1C242F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304330"/>
            <a:ext cx="274320" cy="274320"/>
          </a:xfrm>
          <a:prstGeom prst="rect">
            <a:avLst/>
          </a:prstGeom>
        </p:spPr>
      </p:pic>
      <p:cxnSp>
        <p:nvCxnSpPr>
          <p:cNvPr id="38" name="Connector: Elbow 37">
            <a:extLst>
              <a:ext uri="{FF2B5EF4-FFF2-40B4-BE49-F238E27FC236}">
                <a16:creationId xmlns:a16="http://schemas.microsoft.com/office/drawing/2014/main" id="{4949EDEC-19C0-F8EA-6C84-2041D90F7676}"/>
              </a:ext>
            </a:extLst>
          </p:cNvPr>
          <p:cNvCxnSpPr/>
          <p:nvPr/>
        </p:nvCxnSpPr>
        <p:spPr>
          <a:xfrm rot="16200000" flipH="1">
            <a:off x="169215" y="1251399"/>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2270D9B1-EA71-18D0-13FC-E6EAD0DD8FE5}"/>
              </a:ext>
            </a:extLst>
          </p:cNvPr>
          <p:cNvCxnSpPr>
            <a:cxnSpLocks/>
          </p:cNvCxnSpPr>
          <p:nvPr/>
        </p:nvCxnSpPr>
        <p:spPr>
          <a:xfrm rot="16200000" flipH="1">
            <a:off x="-115864" y="1536477"/>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C1AC6B7F-8748-E5EF-198E-E8569ED59349}"/>
              </a:ext>
            </a:extLst>
          </p:cNvPr>
          <p:cNvCxnSpPr>
            <a:cxnSpLocks/>
            <a:endCxn id="26" idx="1"/>
          </p:cNvCxnSpPr>
          <p:nvPr/>
        </p:nvCxnSpPr>
        <p:spPr>
          <a:xfrm rot="16200000" flipH="1">
            <a:off x="-378611" y="1844912"/>
            <a:ext cx="1474850" cy="18519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B: definition of OH">
            <a:extLst>
              <a:ext uri="{FF2B5EF4-FFF2-40B4-BE49-F238E27FC236}">
                <a16:creationId xmlns:a16="http://schemas.microsoft.com/office/drawing/2014/main" id="{F52D61B8-808D-7A2D-8386-2410FEA00D7C}"/>
              </a:ext>
            </a:extLst>
          </p:cNvPr>
          <p:cNvSpPr txBox="1"/>
          <p:nvPr/>
        </p:nvSpPr>
        <p:spPr>
          <a:xfrm>
            <a:off x="4595850" y="1107507"/>
            <a:ext cx="3327593" cy="923330"/>
          </a:xfrm>
          <a:prstGeom prst="rect">
            <a:avLst/>
          </a:prstGeom>
          <a:noFill/>
        </p:spPr>
        <p:txBody>
          <a:bodyPr wrap="square" rtlCol="0">
            <a:spAutoFit/>
          </a:bodyPr>
          <a:lstStyle/>
          <a:p>
            <a:r>
              <a:rPr lang="en-US" dirty="0"/>
              <a:t>With postural change…</a:t>
            </a:r>
          </a:p>
          <a:p>
            <a:r>
              <a:rPr lang="en-US" dirty="0"/>
              <a:t>↓ SBP ≥ 20 or DBP ≥ 10</a:t>
            </a:r>
          </a:p>
          <a:p>
            <a:r>
              <a:rPr lang="en-US" dirty="0"/>
              <a:t>↓ SBP &lt; 90 with symptoms</a:t>
            </a:r>
          </a:p>
        </p:txBody>
      </p:sp>
      <p:sp>
        <p:nvSpPr>
          <p:cNvPr id="47" name="CPP">
            <a:extLst>
              <a:ext uri="{FF2B5EF4-FFF2-40B4-BE49-F238E27FC236}">
                <a16:creationId xmlns:a16="http://schemas.microsoft.com/office/drawing/2014/main" id="{962D3667-8891-5ADE-1024-EE1CFC06EB63}"/>
              </a:ext>
            </a:extLst>
          </p:cNvPr>
          <p:cNvSpPr/>
          <p:nvPr/>
        </p:nvSpPr>
        <p:spPr>
          <a:xfrm>
            <a:off x="3024199" y="1327369"/>
            <a:ext cx="1397329"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Definition</a:t>
            </a:r>
          </a:p>
        </p:txBody>
      </p:sp>
      <p:sp>
        <p:nvSpPr>
          <p:cNvPr id="48" name="Definition">
            <a:extLst>
              <a:ext uri="{FF2B5EF4-FFF2-40B4-BE49-F238E27FC236}">
                <a16:creationId xmlns:a16="http://schemas.microsoft.com/office/drawing/2014/main" id="{4B38ECD0-0319-1DA8-B1FA-6FA7792C8A9E}"/>
              </a:ext>
            </a:extLst>
          </p:cNvPr>
          <p:cNvSpPr/>
          <p:nvPr/>
        </p:nvSpPr>
        <p:spPr>
          <a:xfrm>
            <a:off x="3020773" y="1327215"/>
            <a:ext cx="1397329"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49" name="Graphic 48" descr="Cursor with solid fill">
            <a:extLst>
              <a:ext uri="{FF2B5EF4-FFF2-40B4-BE49-F238E27FC236}">
                <a16:creationId xmlns:a16="http://schemas.microsoft.com/office/drawing/2014/main" id="{E7CA729F-C5C6-1595-59D0-2D3DDC66FAA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0942" y="1645839"/>
            <a:ext cx="274320" cy="274320"/>
          </a:xfrm>
          <a:prstGeom prst="rect">
            <a:avLst/>
          </a:prstGeom>
        </p:spPr>
      </p:pic>
      <p:sp>
        <p:nvSpPr>
          <p:cNvPr id="53" name="TB: definition of OH">
            <a:extLst>
              <a:ext uri="{FF2B5EF4-FFF2-40B4-BE49-F238E27FC236}">
                <a16:creationId xmlns:a16="http://schemas.microsoft.com/office/drawing/2014/main" id="{B863563C-7495-E5CB-DD88-19E9E3A2C343}"/>
              </a:ext>
            </a:extLst>
          </p:cNvPr>
          <p:cNvSpPr txBox="1"/>
          <p:nvPr/>
        </p:nvSpPr>
        <p:spPr>
          <a:xfrm>
            <a:off x="2954880" y="2323590"/>
            <a:ext cx="4663883" cy="369332"/>
          </a:xfrm>
          <a:prstGeom prst="rect">
            <a:avLst/>
          </a:prstGeom>
          <a:noFill/>
        </p:spPr>
        <p:txBody>
          <a:bodyPr wrap="square" rtlCol="0">
            <a:spAutoFit/>
          </a:bodyPr>
          <a:lstStyle/>
          <a:p>
            <a:r>
              <a:rPr lang="en-US" b="1" dirty="0"/>
              <a:t>Orthostatic syncope is caused by </a:t>
            </a:r>
            <a:r>
              <a:rPr lang="en-US" b="1" i="1" dirty="0"/>
              <a:t>insufficient</a:t>
            </a:r>
            <a:r>
              <a:rPr lang="en-US" b="1" dirty="0"/>
              <a:t>…</a:t>
            </a:r>
          </a:p>
        </p:txBody>
      </p:sp>
      <p:sp>
        <p:nvSpPr>
          <p:cNvPr id="55" name="DDX SNS">
            <a:extLst>
              <a:ext uri="{FF2B5EF4-FFF2-40B4-BE49-F238E27FC236}">
                <a16:creationId xmlns:a16="http://schemas.microsoft.com/office/drawing/2014/main" id="{85859A7C-2AF9-EBAE-49FE-708FA8C970B8}"/>
              </a:ext>
            </a:extLst>
          </p:cNvPr>
          <p:cNvSpPr/>
          <p:nvPr/>
        </p:nvSpPr>
        <p:spPr>
          <a:xfrm>
            <a:off x="4720715" y="2806655"/>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56" name="Graphic 55" descr="Cursor with solid fill">
            <a:extLst>
              <a:ext uri="{FF2B5EF4-FFF2-40B4-BE49-F238E27FC236}">
                <a16:creationId xmlns:a16="http://schemas.microsoft.com/office/drawing/2014/main" id="{CCF6D5B2-664A-6BA6-5443-CB6B14A2DF7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39526" y="3286589"/>
            <a:ext cx="274320" cy="274320"/>
          </a:xfrm>
          <a:prstGeom prst="rect">
            <a:avLst/>
          </a:prstGeom>
        </p:spPr>
      </p:pic>
      <p:sp>
        <p:nvSpPr>
          <p:cNvPr id="57" name="CPP">
            <a:extLst>
              <a:ext uri="{FF2B5EF4-FFF2-40B4-BE49-F238E27FC236}">
                <a16:creationId xmlns:a16="http://schemas.microsoft.com/office/drawing/2014/main" id="{3C5BF1A4-39DB-278C-BFC0-418A7FD5600D}"/>
              </a:ext>
            </a:extLst>
          </p:cNvPr>
          <p:cNvSpPr/>
          <p:nvPr/>
        </p:nvSpPr>
        <p:spPr>
          <a:xfrm>
            <a:off x="2649247" y="3722783"/>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SVR</a:t>
            </a:r>
          </a:p>
        </p:txBody>
      </p:sp>
      <p:sp>
        <p:nvSpPr>
          <p:cNvPr id="58" name="Low SVR">
            <a:extLst>
              <a:ext uri="{FF2B5EF4-FFF2-40B4-BE49-F238E27FC236}">
                <a16:creationId xmlns:a16="http://schemas.microsoft.com/office/drawing/2014/main" id="{11437478-1806-6E19-AFAB-64B735CB5FD7}"/>
              </a:ext>
            </a:extLst>
          </p:cNvPr>
          <p:cNvSpPr/>
          <p:nvPr/>
        </p:nvSpPr>
        <p:spPr>
          <a:xfrm>
            <a:off x="2649247" y="3722783"/>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SVR</a:t>
            </a:r>
          </a:p>
        </p:txBody>
      </p:sp>
      <p:pic>
        <p:nvPicPr>
          <p:cNvPr id="59" name="Graphic 58" descr="Cursor with solid fill">
            <a:extLst>
              <a:ext uri="{FF2B5EF4-FFF2-40B4-BE49-F238E27FC236}">
                <a16:creationId xmlns:a16="http://schemas.microsoft.com/office/drawing/2014/main" id="{766C87E8-5B0D-F9A0-ECFE-5A15DC9835E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65465" y="4226676"/>
            <a:ext cx="274320" cy="274320"/>
          </a:xfrm>
          <a:prstGeom prst="rect">
            <a:avLst/>
          </a:prstGeom>
        </p:spPr>
      </p:pic>
      <p:sp>
        <p:nvSpPr>
          <p:cNvPr id="61" name="DDx SVR">
            <a:extLst>
              <a:ext uri="{FF2B5EF4-FFF2-40B4-BE49-F238E27FC236}">
                <a16:creationId xmlns:a16="http://schemas.microsoft.com/office/drawing/2014/main" id="{828B33DB-C085-4B6D-42DB-1545267C14C8}"/>
              </a:ext>
            </a:extLst>
          </p:cNvPr>
          <p:cNvSpPr/>
          <p:nvPr/>
        </p:nvSpPr>
        <p:spPr>
          <a:xfrm>
            <a:off x="4743239" y="3733240"/>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62" name="Graphic 61" descr="Cursor with solid fill">
            <a:extLst>
              <a:ext uri="{FF2B5EF4-FFF2-40B4-BE49-F238E27FC236}">
                <a16:creationId xmlns:a16="http://schemas.microsoft.com/office/drawing/2014/main" id="{C3EB4AA5-2406-E88D-5BD8-EB4613B2140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62050" y="4226676"/>
            <a:ext cx="274320" cy="274320"/>
          </a:xfrm>
          <a:prstGeom prst="rect">
            <a:avLst/>
          </a:prstGeom>
        </p:spPr>
      </p:pic>
      <p:sp>
        <p:nvSpPr>
          <p:cNvPr id="63" name="CPP">
            <a:extLst>
              <a:ext uri="{FF2B5EF4-FFF2-40B4-BE49-F238E27FC236}">
                <a16:creationId xmlns:a16="http://schemas.microsoft.com/office/drawing/2014/main" id="{41B66D21-0A49-1863-C9BA-E5EBE6181E54}"/>
              </a:ext>
            </a:extLst>
          </p:cNvPr>
          <p:cNvSpPr/>
          <p:nvPr/>
        </p:nvSpPr>
        <p:spPr>
          <a:xfrm>
            <a:off x="2649247" y="4664574"/>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HR</a:t>
            </a:r>
          </a:p>
        </p:txBody>
      </p:sp>
      <p:sp>
        <p:nvSpPr>
          <p:cNvPr id="64" name="Low HR">
            <a:extLst>
              <a:ext uri="{FF2B5EF4-FFF2-40B4-BE49-F238E27FC236}">
                <a16:creationId xmlns:a16="http://schemas.microsoft.com/office/drawing/2014/main" id="{56EAB253-0485-43B8-6422-02362A598BB8}"/>
              </a:ext>
            </a:extLst>
          </p:cNvPr>
          <p:cNvSpPr/>
          <p:nvPr/>
        </p:nvSpPr>
        <p:spPr>
          <a:xfrm>
            <a:off x="2649247" y="4664574"/>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HR</a:t>
            </a:r>
          </a:p>
        </p:txBody>
      </p:sp>
      <p:pic>
        <p:nvPicPr>
          <p:cNvPr id="65" name="Graphic 64" descr="Cursor with solid fill">
            <a:extLst>
              <a:ext uri="{FF2B5EF4-FFF2-40B4-BE49-F238E27FC236}">
                <a16:creationId xmlns:a16="http://schemas.microsoft.com/office/drawing/2014/main" id="{25375BDE-A608-F3D2-ADAF-2B969576FD4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65465" y="5145166"/>
            <a:ext cx="274320" cy="274320"/>
          </a:xfrm>
          <a:prstGeom prst="rect">
            <a:avLst/>
          </a:prstGeom>
        </p:spPr>
      </p:pic>
      <p:sp>
        <p:nvSpPr>
          <p:cNvPr id="66" name="CPP">
            <a:extLst>
              <a:ext uri="{FF2B5EF4-FFF2-40B4-BE49-F238E27FC236}">
                <a16:creationId xmlns:a16="http://schemas.microsoft.com/office/drawing/2014/main" id="{66EFFBFF-8CE5-37A7-E339-65058E8BAB47}"/>
              </a:ext>
            </a:extLst>
          </p:cNvPr>
          <p:cNvSpPr/>
          <p:nvPr/>
        </p:nvSpPr>
        <p:spPr>
          <a:xfrm>
            <a:off x="2649247" y="5596916"/>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Preload (SV)</a:t>
            </a:r>
          </a:p>
        </p:txBody>
      </p:sp>
      <p:sp>
        <p:nvSpPr>
          <p:cNvPr id="67" name="Low preload">
            <a:extLst>
              <a:ext uri="{FF2B5EF4-FFF2-40B4-BE49-F238E27FC236}">
                <a16:creationId xmlns:a16="http://schemas.microsoft.com/office/drawing/2014/main" id="{50307AF2-F5A0-D6A5-7375-3DCDF82A661B}"/>
              </a:ext>
            </a:extLst>
          </p:cNvPr>
          <p:cNvSpPr/>
          <p:nvPr/>
        </p:nvSpPr>
        <p:spPr>
          <a:xfrm>
            <a:off x="2649247" y="5596916"/>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Preload (SV)</a:t>
            </a:r>
          </a:p>
        </p:txBody>
      </p:sp>
      <p:pic>
        <p:nvPicPr>
          <p:cNvPr id="70" name="Graphic 69" descr="Cursor with solid fill">
            <a:extLst>
              <a:ext uri="{FF2B5EF4-FFF2-40B4-BE49-F238E27FC236}">
                <a16:creationId xmlns:a16="http://schemas.microsoft.com/office/drawing/2014/main" id="{BE32A7D8-9CDB-B6BA-7372-B9CA3A9819F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65465" y="6105739"/>
            <a:ext cx="274320" cy="274320"/>
          </a:xfrm>
          <a:prstGeom prst="rect">
            <a:avLst/>
          </a:prstGeom>
        </p:spPr>
      </p:pic>
      <p:sp>
        <p:nvSpPr>
          <p:cNvPr id="71" name="DDx HR">
            <a:extLst>
              <a:ext uri="{FF2B5EF4-FFF2-40B4-BE49-F238E27FC236}">
                <a16:creationId xmlns:a16="http://schemas.microsoft.com/office/drawing/2014/main" id="{BEC69101-73DE-6113-E467-DF49D57BC2C8}"/>
              </a:ext>
            </a:extLst>
          </p:cNvPr>
          <p:cNvSpPr/>
          <p:nvPr/>
        </p:nvSpPr>
        <p:spPr>
          <a:xfrm>
            <a:off x="4734611" y="4675031"/>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72" name="Graphic 71" descr="Cursor with solid fill">
            <a:extLst>
              <a:ext uri="{FF2B5EF4-FFF2-40B4-BE49-F238E27FC236}">
                <a16:creationId xmlns:a16="http://schemas.microsoft.com/office/drawing/2014/main" id="{895BA7E7-F8E5-E155-70D3-AEE155A4699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62667" y="5145166"/>
            <a:ext cx="274320" cy="274320"/>
          </a:xfrm>
          <a:prstGeom prst="rect">
            <a:avLst/>
          </a:prstGeom>
        </p:spPr>
      </p:pic>
      <p:sp>
        <p:nvSpPr>
          <p:cNvPr id="73" name="DDx SV">
            <a:extLst>
              <a:ext uri="{FF2B5EF4-FFF2-40B4-BE49-F238E27FC236}">
                <a16:creationId xmlns:a16="http://schemas.microsoft.com/office/drawing/2014/main" id="{923A16DB-3139-6047-DEA5-62682B8D8388}"/>
              </a:ext>
            </a:extLst>
          </p:cNvPr>
          <p:cNvSpPr/>
          <p:nvPr/>
        </p:nvSpPr>
        <p:spPr>
          <a:xfrm>
            <a:off x="4743239" y="5607373"/>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74" name="Graphic 73" descr="Cursor with solid fill">
            <a:extLst>
              <a:ext uri="{FF2B5EF4-FFF2-40B4-BE49-F238E27FC236}">
                <a16:creationId xmlns:a16="http://schemas.microsoft.com/office/drawing/2014/main" id="{1EF221CC-4EA9-A0F1-CB1C-4796C90EF36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62050" y="6105739"/>
            <a:ext cx="274320" cy="274320"/>
          </a:xfrm>
          <a:prstGeom prst="rect">
            <a:avLst/>
          </a:prstGeom>
        </p:spPr>
      </p:pic>
      <p:sp>
        <p:nvSpPr>
          <p:cNvPr id="75" name="Multiply 190">
            <a:extLst>
              <a:ext uri="{FF2B5EF4-FFF2-40B4-BE49-F238E27FC236}">
                <a16:creationId xmlns:a16="http://schemas.microsoft.com/office/drawing/2014/main" id="{039E6EF4-AA80-7328-54A8-1B66FF9FBDDE}"/>
              </a:ext>
            </a:extLst>
          </p:cNvPr>
          <p:cNvSpPr/>
          <p:nvPr/>
        </p:nvSpPr>
        <p:spPr>
          <a:xfrm>
            <a:off x="10566180" y="2093682"/>
            <a:ext cx="722376" cy="714438"/>
          </a:xfrm>
          <a:prstGeom prst="mathMultiply">
            <a:avLst>
              <a:gd name="adj1" fmla="val 15716"/>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41020DDE-53FB-51C3-3B1A-50E2C3B79D65}"/>
              </a:ext>
            </a:extLst>
          </p:cNvPr>
          <p:cNvSpPr txBox="1"/>
          <p:nvPr/>
        </p:nvSpPr>
        <p:spPr>
          <a:xfrm>
            <a:off x="4752259" y="2838974"/>
            <a:ext cx="3241963" cy="584775"/>
          </a:xfrm>
          <a:prstGeom prst="rect">
            <a:avLst/>
          </a:prstGeom>
          <a:noFill/>
        </p:spPr>
        <p:txBody>
          <a:bodyPr wrap="square" rtlCol="0">
            <a:spAutoFit/>
          </a:bodyPr>
          <a:lstStyle/>
          <a:p>
            <a:r>
              <a:rPr lang="en-US" sz="1600" dirty="0"/>
              <a:t>Autonomic dysfunction (neurodegenerative disease, DM)</a:t>
            </a:r>
          </a:p>
        </p:txBody>
      </p:sp>
      <p:sp>
        <p:nvSpPr>
          <p:cNvPr id="79" name="Arrow: Down 78">
            <a:extLst>
              <a:ext uri="{FF2B5EF4-FFF2-40B4-BE49-F238E27FC236}">
                <a16:creationId xmlns:a16="http://schemas.microsoft.com/office/drawing/2014/main" id="{273BE1EA-0000-313A-43BB-E90BD21B8B30}"/>
              </a:ext>
            </a:extLst>
          </p:cNvPr>
          <p:cNvSpPr/>
          <p:nvPr/>
        </p:nvSpPr>
        <p:spPr>
          <a:xfrm>
            <a:off x="10608194" y="3538683"/>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2C06D864-F41D-CBEA-21DD-F0276625E944}"/>
              </a:ext>
            </a:extLst>
          </p:cNvPr>
          <p:cNvSpPr txBox="1"/>
          <p:nvPr/>
        </p:nvSpPr>
        <p:spPr>
          <a:xfrm>
            <a:off x="4764780" y="3743699"/>
            <a:ext cx="2761917" cy="584775"/>
          </a:xfrm>
          <a:prstGeom prst="rect">
            <a:avLst/>
          </a:prstGeom>
          <a:noFill/>
        </p:spPr>
        <p:txBody>
          <a:bodyPr wrap="square" rtlCol="0">
            <a:spAutoFit/>
          </a:bodyPr>
          <a:lstStyle/>
          <a:p>
            <a:r>
              <a:rPr lang="en-US" sz="1600" dirty="0"/>
              <a:t>Adrenal insufficiency</a:t>
            </a:r>
          </a:p>
          <a:p>
            <a:r>
              <a:rPr lang="en-US" sz="1600" dirty="0"/>
              <a:t>Anti-hypertensives</a:t>
            </a:r>
          </a:p>
        </p:txBody>
      </p:sp>
      <p:sp>
        <p:nvSpPr>
          <p:cNvPr id="81" name="Multiply 190">
            <a:extLst>
              <a:ext uri="{FF2B5EF4-FFF2-40B4-BE49-F238E27FC236}">
                <a16:creationId xmlns:a16="http://schemas.microsoft.com/office/drawing/2014/main" id="{288DD433-E828-AE5C-2D7F-0D9914938E30}"/>
              </a:ext>
            </a:extLst>
          </p:cNvPr>
          <p:cNvSpPr/>
          <p:nvPr/>
        </p:nvSpPr>
        <p:spPr>
          <a:xfrm>
            <a:off x="10954884" y="4947827"/>
            <a:ext cx="722376" cy="714438"/>
          </a:xfrm>
          <a:prstGeom prst="mathMultiply">
            <a:avLst>
              <a:gd name="adj1" fmla="val 15716"/>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0568FC20-D6E4-09F1-6384-84EEF6195DC5}"/>
              </a:ext>
            </a:extLst>
          </p:cNvPr>
          <p:cNvCxnSpPr>
            <a:cxnSpLocks/>
          </p:cNvCxnSpPr>
          <p:nvPr/>
        </p:nvCxnSpPr>
        <p:spPr>
          <a:xfrm flipV="1">
            <a:off x="11985368" y="4261172"/>
            <a:ext cx="14352" cy="1389699"/>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ECDC23A-DC95-4B89-FC5D-38B158B66A77}"/>
              </a:ext>
            </a:extLst>
          </p:cNvPr>
          <p:cNvSpPr txBox="1"/>
          <p:nvPr/>
        </p:nvSpPr>
        <p:spPr>
          <a:xfrm>
            <a:off x="4752259" y="4807826"/>
            <a:ext cx="3508363" cy="338554"/>
          </a:xfrm>
          <a:prstGeom prst="rect">
            <a:avLst/>
          </a:prstGeom>
          <a:noFill/>
        </p:spPr>
        <p:txBody>
          <a:bodyPr wrap="square" rtlCol="0">
            <a:spAutoFit/>
          </a:bodyPr>
          <a:lstStyle/>
          <a:p>
            <a:r>
              <a:rPr lang="en-US" sz="1600" dirty="0"/>
              <a:t>AV nodal blockers (BB, CCB)</a:t>
            </a:r>
          </a:p>
        </p:txBody>
      </p:sp>
      <p:grpSp>
        <p:nvGrpSpPr>
          <p:cNvPr id="85" name="Group 84">
            <a:extLst>
              <a:ext uri="{FF2B5EF4-FFF2-40B4-BE49-F238E27FC236}">
                <a16:creationId xmlns:a16="http://schemas.microsoft.com/office/drawing/2014/main" id="{0A57C92A-D811-C649-31F9-4F53E4C71550}"/>
              </a:ext>
            </a:extLst>
          </p:cNvPr>
          <p:cNvGrpSpPr/>
          <p:nvPr/>
        </p:nvGrpSpPr>
        <p:grpSpPr>
          <a:xfrm>
            <a:off x="10457636" y="5552347"/>
            <a:ext cx="1542877" cy="180109"/>
            <a:chOff x="5075956" y="3857461"/>
            <a:chExt cx="5978334" cy="352960"/>
          </a:xfrm>
        </p:grpSpPr>
        <p:cxnSp>
          <p:nvCxnSpPr>
            <p:cNvPr id="86" name="Straight Connector 85">
              <a:extLst>
                <a:ext uri="{FF2B5EF4-FFF2-40B4-BE49-F238E27FC236}">
                  <a16:creationId xmlns:a16="http://schemas.microsoft.com/office/drawing/2014/main" id="{35D1AA31-B050-9CF4-65AC-21CF2DF245A4}"/>
                </a:ext>
              </a:extLst>
            </p:cNvPr>
            <p:cNvCxnSpPr>
              <a:cxnSpLocks/>
            </p:cNvCxnSpPr>
            <p:nvPr/>
          </p:nvCxnSpPr>
          <p:spPr>
            <a:xfrm flipV="1">
              <a:off x="5313438" y="4027855"/>
              <a:ext cx="5740852" cy="7723"/>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4EDB40-5B24-ADBC-E905-68C5131263D1}"/>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9932D19-B0BE-383E-78B7-A85C409AE94A}"/>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92" name="Arrow: Down 91">
            <a:extLst>
              <a:ext uri="{FF2B5EF4-FFF2-40B4-BE49-F238E27FC236}">
                <a16:creationId xmlns:a16="http://schemas.microsoft.com/office/drawing/2014/main" id="{8C88933C-1134-342F-6D29-67162399E882}"/>
              </a:ext>
            </a:extLst>
          </p:cNvPr>
          <p:cNvSpPr/>
          <p:nvPr/>
        </p:nvSpPr>
        <p:spPr>
          <a:xfrm>
            <a:off x="9738440" y="553342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Arrow: Down 94">
            <a:extLst>
              <a:ext uri="{FF2B5EF4-FFF2-40B4-BE49-F238E27FC236}">
                <a16:creationId xmlns:a16="http://schemas.microsoft.com/office/drawing/2014/main" id="{CE1F91FF-24A2-7D6D-970A-7A58720F9A97}"/>
              </a:ext>
            </a:extLst>
          </p:cNvPr>
          <p:cNvSpPr/>
          <p:nvPr/>
        </p:nvSpPr>
        <p:spPr>
          <a:xfrm>
            <a:off x="10640396" y="5169134"/>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112735EF-A316-D9C1-186F-F8D4810FD585}"/>
              </a:ext>
            </a:extLst>
          </p:cNvPr>
          <p:cNvSpPr txBox="1"/>
          <p:nvPr/>
        </p:nvSpPr>
        <p:spPr>
          <a:xfrm>
            <a:off x="4775119" y="5515751"/>
            <a:ext cx="3508363" cy="830997"/>
          </a:xfrm>
          <a:prstGeom prst="rect">
            <a:avLst/>
          </a:prstGeom>
          <a:noFill/>
        </p:spPr>
        <p:txBody>
          <a:bodyPr wrap="square" rtlCol="0">
            <a:spAutoFit/>
          </a:bodyPr>
          <a:lstStyle/>
          <a:p>
            <a:r>
              <a:rPr lang="en-US" sz="1600" dirty="0"/>
              <a:t>Diuretics </a:t>
            </a:r>
          </a:p>
          <a:p>
            <a:r>
              <a:rPr lang="en-US" sz="1600" dirty="0"/>
              <a:t>Hypovolemia</a:t>
            </a:r>
          </a:p>
          <a:p>
            <a:r>
              <a:rPr lang="en-US" sz="1600" dirty="0"/>
              <a:t>Venous pooling</a:t>
            </a:r>
          </a:p>
        </p:txBody>
      </p:sp>
      <p:sp>
        <p:nvSpPr>
          <p:cNvPr id="98" name="TextBox 97">
            <a:extLst>
              <a:ext uri="{FF2B5EF4-FFF2-40B4-BE49-F238E27FC236}">
                <a16:creationId xmlns:a16="http://schemas.microsoft.com/office/drawing/2014/main" id="{B78E3A61-EC98-D750-083A-0DA80EB9B592}"/>
              </a:ext>
            </a:extLst>
          </p:cNvPr>
          <p:cNvSpPr txBox="1"/>
          <p:nvPr/>
        </p:nvSpPr>
        <p:spPr>
          <a:xfrm flipH="1">
            <a:off x="11594550" y="4461336"/>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99" name="TextBox 98">
            <a:extLst>
              <a:ext uri="{FF2B5EF4-FFF2-40B4-BE49-F238E27FC236}">
                <a16:creationId xmlns:a16="http://schemas.microsoft.com/office/drawing/2014/main" id="{A093BA65-7896-517B-3B45-73B4E374DCEE}"/>
              </a:ext>
            </a:extLst>
          </p:cNvPr>
          <p:cNvSpPr txBox="1"/>
          <p:nvPr/>
        </p:nvSpPr>
        <p:spPr>
          <a:xfrm flipH="1">
            <a:off x="11594550" y="3509409"/>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100" name="TextBox 99">
            <a:extLst>
              <a:ext uri="{FF2B5EF4-FFF2-40B4-BE49-F238E27FC236}">
                <a16:creationId xmlns:a16="http://schemas.microsoft.com/office/drawing/2014/main" id="{A1D6A0A4-C120-3242-56DE-656893CBEC51}"/>
              </a:ext>
            </a:extLst>
          </p:cNvPr>
          <p:cNvSpPr txBox="1"/>
          <p:nvPr/>
        </p:nvSpPr>
        <p:spPr>
          <a:xfrm flipH="1">
            <a:off x="11584063" y="2332688"/>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101" name="TextBox 100">
            <a:extLst>
              <a:ext uri="{FF2B5EF4-FFF2-40B4-BE49-F238E27FC236}">
                <a16:creationId xmlns:a16="http://schemas.microsoft.com/office/drawing/2014/main" id="{9FDA0D38-C9A3-52F2-5ED8-83DDD210FBE3}"/>
              </a:ext>
            </a:extLst>
          </p:cNvPr>
          <p:cNvSpPr txBox="1"/>
          <p:nvPr/>
        </p:nvSpPr>
        <p:spPr>
          <a:xfrm flipH="1">
            <a:off x="11594550" y="5529304"/>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78" name="Multiply 190">
            <a:extLst>
              <a:ext uri="{FF2B5EF4-FFF2-40B4-BE49-F238E27FC236}">
                <a16:creationId xmlns:a16="http://schemas.microsoft.com/office/drawing/2014/main" id="{081DE365-4A9C-5ECE-4EC9-D0FF459E6FB9}"/>
              </a:ext>
            </a:extLst>
          </p:cNvPr>
          <p:cNvSpPr/>
          <p:nvPr/>
        </p:nvSpPr>
        <p:spPr>
          <a:xfrm>
            <a:off x="11079768" y="3323913"/>
            <a:ext cx="722376" cy="714438"/>
          </a:xfrm>
          <a:prstGeom prst="mathMultiply">
            <a:avLst>
              <a:gd name="adj1" fmla="val 15716"/>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teachIM logo" descr="Icon  Description automatically generated">
            <a:extLst>
              <a:ext uri="{FF2B5EF4-FFF2-40B4-BE49-F238E27FC236}">
                <a16:creationId xmlns:a16="http://schemas.microsoft.com/office/drawing/2014/main" id="{E981EB59-1E5A-455E-3FA2-08421D1D9CC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8" name="TextBox 7">
            <a:extLst>
              <a:ext uri="{FF2B5EF4-FFF2-40B4-BE49-F238E27FC236}">
                <a16:creationId xmlns:a16="http://schemas.microsoft.com/office/drawing/2014/main" id="{91BB593E-3D92-9E4D-F93B-CDC71AC0D6A1}"/>
              </a:ext>
            </a:extLst>
          </p:cNvPr>
          <p:cNvSpPr txBox="1"/>
          <p:nvPr/>
        </p:nvSpPr>
        <p:spPr>
          <a:xfrm>
            <a:off x="8328937" y="6383351"/>
            <a:ext cx="3740769" cy="369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algn="ctr">
              <a:spcBef>
                <a:spcPts val="0"/>
              </a:spcBef>
              <a:spcAft>
                <a:spcPts val="0"/>
              </a:spcAft>
            </a:pPr>
            <a:r>
              <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CO, HR, SVR → ↓ MAP → ↓ CPP </a:t>
            </a:r>
            <a:endParaRPr lang="en-US"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36760BC0-85F6-664E-3829-E6B92F8DABE7}"/>
              </a:ext>
            </a:extLst>
          </p:cNvPr>
          <p:cNvSpPr txBox="1"/>
          <p:nvPr/>
        </p:nvSpPr>
        <p:spPr>
          <a:xfrm>
            <a:off x="8328937" y="6383351"/>
            <a:ext cx="3740769" cy="369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algn="ctr">
              <a:spcBef>
                <a:spcPts val="0"/>
              </a:spcBef>
              <a:spcAft>
                <a:spcPts val="0"/>
              </a:spcAft>
            </a:pPr>
            <a:r>
              <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SVR → ↓ MAP → ↓ CPP </a:t>
            </a:r>
            <a:endParaRPr lang="en-US"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BFEF1D5B-1238-E6E8-367F-BD8C36143BFF}"/>
              </a:ext>
            </a:extLst>
          </p:cNvPr>
          <p:cNvSpPr txBox="1"/>
          <p:nvPr/>
        </p:nvSpPr>
        <p:spPr>
          <a:xfrm>
            <a:off x="8328937" y="6383351"/>
            <a:ext cx="3740769" cy="369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ctr"/>
            <a:r>
              <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HR → ↓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CO → ↓ </a:t>
            </a:r>
            <a:r>
              <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MAP → ↓ CPP </a:t>
            </a:r>
            <a:endParaRPr lang="en-US"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1382C3FE-2624-CAEC-BBB0-61C0BFA23140}"/>
              </a:ext>
            </a:extLst>
          </p:cNvPr>
          <p:cNvSpPr txBox="1"/>
          <p:nvPr/>
        </p:nvSpPr>
        <p:spPr>
          <a:xfrm>
            <a:off x="8328937" y="6383351"/>
            <a:ext cx="3740769" cy="369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ctr"/>
            <a:r>
              <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SV → ↓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CO → ↓ </a:t>
            </a:r>
            <a:r>
              <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MAP → ↓ CPP </a:t>
            </a:r>
            <a:endParaRPr lang="en-US" sz="2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Obj 2">
            <a:hlinkClick r:id="rId13" action="ppaction://hlinksldjump"/>
            <a:extLst>
              <a:ext uri="{FF2B5EF4-FFF2-40B4-BE49-F238E27FC236}">
                <a16:creationId xmlns:a16="http://schemas.microsoft.com/office/drawing/2014/main" id="{47E0E2DC-CB8F-D1A7-CBA2-AD57B843916A}"/>
              </a:ext>
            </a:extLst>
          </p:cNvPr>
          <p:cNvSpPr/>
          <p:nvPr/>
        </p:nvSpPr>
        <p:spPr>
          <a:xfrm>
            <a:off x="176803" y="3624290"/>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12" name="Graphic 11" descr="Cursor with solid fill">
            <a:extLst>
              <a:ext uri="{FF2B5EF4-FFF2-40B4-BE49-F238E27FC236}">
                <a16:creationId xmlns:a16="http://schemas.microsoft.com/office/drawing/2014/main" id="{930C7A75-1F19-6299-4486-7619F4B1627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875463"/>
            <a:ext cx="274320" cy="274320"/>
          </a:xfrm>
          <a:prstGeom prst="rect">
            <a:avLst/>
          </a:prstGeom>
        </p:spPr>
      </p:pic>
      <p:sp>
        <p:nvSpPr>
          <p:cNvPr id="16" name="Obj 2">
            <a:hlinkClick r:id="rId14" action="ppaction://hlinksldjump"/>
            <a:extLst>
              <a:ext uri="{FF2B5EF4-FFF2-40B4-BE49-F238E27FC236}">
                <a16:creationId xmlns:a16="http://schemas.microsoft.com/office/drawing/2014/main" id="{8658A0D4-6C78-061C-57C8-6E8A2359D5DC}"/>
              </a:ext>
            </a:extLst>
          </p:cNvPr>
          <p:cNvSpPr/>
          <p:nvPr/>
        </p:nvSpPr>
        <p:spPr>
          <a:xfrm>
            <a:off x="176802" y="4191732"/>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7" name="Graphic 16" descr="Cursor with solid fill">
            <a:extLst>
              <a:ext uri="{FF2B5EF4-FFF2-40B4-BE49-F238E27FC236}">
                <a16:creationId xmlns:a16="http://schemas.microsoft.com/office/drawing/2014/main" id="{F237809E-2518-A3E6-2A1A-67AB3F78D4B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7" y="4442905"/>
            <a:ext cx="274320" cy="274320"/>
          </a:xfrm>
          <a:prstGeom prst="rect">
            <a:avLst/>
          </a:prstGeom>
        </p:spPr>
      </p:pic>
    </p:spTree>
    <p:extLst>
      <p:ext uri="{BB962C8B-B14F-4D97-AF65-F5344CB8AC3E}">
        <p14:creationId xmlns:p14="http://schemas.microsoft.com/office/powerpoint/2010/main" val="1926302101"/>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9"/>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48"/>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withEffect">
                                  <p:stCondLst>
                                    <p:cond delay="0"/>
                                  </p:stCondLst>
                                  <p:childTnLst>
                                    <p:set>
                                      <p:cBhvr>
                                        <p:cTn id="15" dur="1" fill="hold">
                                          <p:stCondLst>
                                            <p:cond delay="0"/>
                                          </p:stCondLst>
                                        </p:cTn>
                                        <p:tgtEl>
                                          <p:spTgt spid="5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par>
                                <p:cTn id="18" presetID="1" presetClass="exit"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225"/>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7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100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grpId="1" nodeType="withEffect">
                                  <p:stCondLst>
                                    <p:cond delay="1000"/>
                                  </p:stCondLst>
                                  <p:childTnLst>
                                    <p:set>
                                      <p:cBhvr>
                                        <p:cTn id="30" dur="1" fill="hold">
                                          <p:stCondLst>
                                            <p:cond delay="0"/>
                                          </p:stCondLst>
                                        </p:cTn>
                                        <p:tgtEl>
                                          <p:spTgt spid="170"/>
                                        </p:tgtEl>
                                        <p:attrNameLst>
                                          <p:attrName>style.visibility</p:attrName>
                                        </p:attrNameLst>
                                      </p:cBhvr>
                                      <p:to>
                                        <p:strVal val="visible"/>
                                      </p:to>
                                    </p:set>
                                  </p:childTnLst>
                                </p:cTn>
                              </p:par>
                              <p:par>
                                <p:cTn id="31" presetID="1" presetClass="entr" presetSubtype="0" fill="hold" grpId="0" nodeType="withEffect">
                                  <p:stCondLst>
                                    <p:cond delay="1000"/>
                                  </p:stCondLst>
                                  <p:childTnLst>
                                    <p:set>
                                      <p:cBhvr>
                                        <p:cTn id="32" dur="1" fill="hold">
                                          <p:stCondLst>
                                            <p:cond delay="0"/>
                                          </p:stCondLst>
                                        </p:cTn>
                                        <p:tgtEl>
                                          <p:spTgt spid="95"/>
                                        </p:tgtEl>
                                        <p:attrNameLst>
                                          <p:attrName>style.visibility</p:attrName>
                                        </p:attrNameLst>
                                      </p:cBhvr>
                                      <p:to>
                                        <p:strVal val="visible"/>
                                      </p:to>
                                    </p:set>
                                  </p:childTnLst>
                                </p:cTn>
                              </p:par>
                            </p:childTnLst>
                          </p:cTn>
                        </p:par>
                        <p:par>
                          <p:cTn id="33" fill="hold">
                            <p:stCondLst>
                              <p:cond delay="1000"/>
                            </p:stCondLst>
                            <p:childTnLst>
                              <p:par>
                                <p:cTn id="34" presetID="1" presetClass="entr" presetSubtype="0" fill="hold" grpId="0" nodeType="afterEffect">
                                  <p:stCondLst>
                                    <p:cond delay="1000"/>
                                  </p:stCondLst>
                                  <p:childTnLst>
                                    <p:set>
                                      <p:cBhvr>
                                        <p:cTn id="35" dur="1" fill="hold">
                                          <p:stCondLst>
                                            <p:cond delay="0"/>
                                          </p:stCondLst>
                                        </p:cTn>
                                        <p:tgtEl>
                                          <p:spTgt spid="172"/>
                                        </p:tgtEl>
                                        <p:attrNameLst>
                                          <p:attrName>style.visibility</p:attrName>
                                        </p:attrNameLst>
                                      </p:cBhvr>
                                      <p:to>
                                        <p:strVal val="visible"/>
                                      </p:to>
                                    </p:set>
                                  </p:childTnLst>
                                </p:cTn>
                              </p:par>
                            </p:childTnLst>
                          </p:cTn>
                        </p:par>
                        <p:par>
                          <p:cTn id="36" fill="hold">
                            <p:stCondLst>
                              <p:cond delay="2000"/>
                            </p:stCondLst>
                            <p:childTnLst>
                              <p:par>
                                <p:cTn id="37" presetID="1" presetClass="entr" presetSubtype="0" fill="hold" grpId="0" nodeType="afterEffect">
                                  <p:stCondLst>
                                    <p:cond delay="1000"/>
                                  </p:stCondLst>
                                  <p:childTnLst>
                                    <p:set>
                                      <p:cBhvr>
                                        <p:cTn id="38"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39" restart="whenNotActive" fill="hold" evtFilter="cancelBubble" nodeType="interactiveSeq">
                <p:stCondLst>
                  <p:cond evt="onClick" delay="0">
                    <p:tgtEl>
                      <p:spTgt spid="55"/>
                    </p:tgtEl>
                  </p:cond>
                </p:stCondLst>
                <p:endSync evt="end" delay="0">
                  <p:rtn val="all"/>
                </p:endSync>
                <p:childTnLst>
                  <p:par>
                    <p:cTn id="40" fill="hold">
                      <p:stCondLst>
                        <p:cond delay="0"/>
                      </p:stCondLst>
                      <p:childTnLst>
                        <p:par>
                          <p:cTn id="41" fill="hold">
                            <p:stCondLst>
                              <p:cond delay="0"/>
                            </p:stCondLst>
                            <p:childTnLst>
                              <p:par>
                                <p:cTn id="42" presetID="1" presetClass="entr" presetSubtype="0" fill="hold" grpId="0" nodeType="withEffect">
                                  <p:stCondLst>
                                    <p:cond delay="0"/>
                                  </p:stCondLst>
                                  <p:childTnLst>
                                    <p:set>
                                      <p:cBhvr>
                                        <p:cTn id="43" dur="1" fill="hold">
                                          <p:stCondLst>
                                            <p:cond delay="0"/>
                                          </p:stCondLst>
                                        </p:cTn>
                                        <p:tgtEl>
                                          <p:spTgt spid="77"/>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55"/>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55"/>
                  </p:tgtEl>
                </p:cond>
              </p:nextCondLst>
            </p:seq>
            <p:seq concurrent="1" nextAc="seek">
              <p:cTn id="48" restart="whenNotActive" fill="hold" evtFilter="cancelBubble" nodeType="interactiveSeq">
                <p:stCondLst>
                  <p:cond evt="onClick" delay="0">
                    <p:tgtEl>
                      <p:spTgt spid="58"/>
                    </p:tgtEl>
                  </p:cond>
                </p:stCondLst>
                <p:endSync evt="end" delay="0">
                  <p:rtn val="all"/>
                </p:endSync>
                <p:childTnLst>
                  <p:par>
                    <p:cTn id="49" fill="hold">
                      <p:stCondLst>
                        <p:cond delay="0"/>
                      </p:stCondLst>
                      <p:childTnLst>
                        <p:par>
                          <p:cTn id="50" fill="hold">
                            <p:stCondLst>
                              <p:cond delay="0"/>
                            </p:stCondLst>
                            <p:childTnLst>
                              <p:par>
                                <p:cTn id="51" presetID="1" presetClass="exit"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59"/>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72"/>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79"/>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170"/>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95"/>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73"/>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75"/>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8"/>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grpId="2" nodeType="afterEffect">
                                  <p:stCondLst>
                                    <p:cond delay="1000"/>
                                  </p:stCondLst>
                                  <p:childTnLst>
                                    <p:set>
                                      <p:cBhvr>
                                        <p:cTn id="77" dur="1" fill="hold">
                                          <p:stCondLst>
                                            <p:cond delay="0"/>
                                          </p:stCondLst>
                                        </p:cTn>
                                        <p:tgtEl>
                                          <p:spTgt spid="79"/>
                                        </p:tgtEl>
                                        <p:attrNameLst>
                                          <p:attrName>style.visibility</p:attrName>
                                        </p:attrNameLst>
                                      </p:cBhvr>
                                      <p:to>
                                        <p:strVal val="visible"/>
                                      </p:to>
                                    </p:set>
                                  </p:childTnLst>
                                </p:cTn>
                              </p:par>
                            </p:childTnLst>
                          </p:cTn>
                        </p:par>
                        <p:par>
                          <p:cTn id="78" fill="hold">
                            <p:stCondLst>
                              <p:cond delay="1000"/>
                            </p:stCondLst>
                            <p:childTnLst>
                              <p:par>
                                <p:cTn id="79" presetID="1" presetClass="entr" presetSubtype="0" fill="hold" grpId="2" nodeType="afterEffect">
                                  <p:stCondLst>
                                    <p:cond delay="1000"/>
                                  </p:stCondLst>
                                  <p:childTnLst>
                                    <p:set>
                                      <p:cBhvr>
                                        <p:cTn id="80" dur="1" fill="hold">
                                          <p:stCondLst>
                                            <p:cond delay="0"/>
                                          </p:stCondLst>
                                        </p:cTn>
                                        <p:tgtEl>
                                          <p:spTgt spid="172"/>
                                        </p:tgtEl>
                                        <p:attrNameLst>
                                          <p:attrName>style.visibility</p:attrName>
                                        </p:attrNameLst>
                                      </p:cBhvr>
                                      <p:to>
                                        <p:strVal val="visible"/>
                                      </p:to>
                                    </p:set>
                                  </p:childTnLst>
                                </p:cTn>
                              </p:par>
                            </p:childTnLst>
                          </p:cTn>
                        </p:par>
                        <p:par>
                          <p:cTn id="81" fill="hold">
                            <p:stCondLst>
                              <p:cond delay="2000"/>
                            </p:stCondLst>
                            <p:childTnLst>
                              <p:par>
                                <p:cTn id="82" presetID="1" presetClass="entr" presetSubtype="0" fill="hold" grpId="2" nodeType="afterEffect">
                                  <p:stCondLst>
                                    <p:cond delay="1000"/>
                                  </p:stCondLst>
                                  <p:childTnLst>
                                    <p:set>
                                      <p:cBhvr>
                                        <p:cTn id="83"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84" restart="whenNotActive" fill="hold" evtFilter="cancelBubble" nodeType="interactiveSeq">
                <p:stCondLst>
                  <p:cond evt="onClick" delay="0">
                    <p:tgtEl>
                      <p:spTgt spid="61"/>
                    </p:tgtEl>
                  </p:cond>
                </p:stCondLst>
                <p:endSync evt="end" delay="0">
                  <p:rtn val="all"/>
                </p:endSync>
                <p:childTnLst>
                  <p:par>
                    <p:cTn id="85" fill="hold">
                      <p:stCondLst>
                        <p:cond delay="0"/>
                      </p:stCondLst>
                      <p:childTnLst>
                        <p:par>
                          <p:cTn id="86" fill="hold">
                            <p:stCondLst>
                              <p:cond delay="0"/>
                            </p:stCondLst>
                            <p:childTnLst>
                              <p:par>
                                <p:cTn id="87" presetID="1" presetClass="exit" presetSubtype="0" fill="hold" grpId="1" nodeType="withEffect">
                                  <p:stCondLst>
                                    <p:cond delay="0"/>
                                  </p:stCondLst>
                                  <p:childTnLst>
                                    <p:set>
                                      <p:cBhvr>
                                        <p:cTn id="88" dur="1" fill="hold">
                                          <p:stCondLst>
                                            <p:cond delay="0"/>
                                          </p:stCondLst>
                                        </p:cTn>
                                        <p:tgtEl>
                                          <p:spTgt spid="61"/>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62"/>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80"/>
                                        </p:tgtEl>
                                        <p:attrNameLst>
                                          <p:attrName>style.visibility</p:attrName>
                                        </p:attrNameLst>
                                      </p:cBhvr>
                                      <p:to>
                                        <p:strVal val="visible"/>
                                      </p:to>
                                    </p:set>
                                  </p:childTnLst>
                                </p:cTn>
                              </p:par>
                            </p:childTnLst>
                          </p:cTn>
                        </p:par>
                      </p:childTnLst>
                    </p:cTn>
                  </p:par>
                </p:childTnLst>
              </p:cTn>
              <p:nextCondLst>
                <p:cond evt="onClick" delay="0">
                  <p:tgtEl>
                    <p:spTgt spid="61"/>
                  </p:tgtEl>
                </p:cond>
              </p:nextCondLst>
            </p:seq>
            <p:seq concurrent="1" nextAc="seek">
              <p:cTn id="93" restart="whenNotActive" fill="hold" evtFilter="cancelBubble" nodeType="interactiveSeq">
                <p:stCondLst>
                  <p:cond evt="onClick" delay="0">
                    <p:tgtEl>
                      <p:spTgt spid="64"/>
                    </p:tgtEl>
                  </p:cond>
                </p:stCondLst>
                <p:endSync evt="end" delay="0">
                  <p:rtn val="all"/>
                </p:endSync>
                <p:childTnLst>
                  <p:par>
                    <p:cTn id="94" fill="hold">
                      <p:stCondLst>
                        <p:cond delay="0"/>
                      </p:stCondLst>
                      <p:childTnLst>
                        <p:par>
                          <p:cTn id="95" fill="hold">
                            <p:stCondLst>
                              <p:cond delay="0"/>
                            </p:stCondLst>
                            <p:childTnLst>
                              <p:par>
                                <p:cTn id="96" presetID="1" presetClass="exit" presetSubtype="0" fill="hold" grpId="0" nodeType="withEffect">
                                  <p:stCondLst>
                                    <p:cond delay="0"/>
                                  </p:stCondLst>
                                  <p:childTnLst>
                                    <p:set>
                                      <p:cBhvr>
                                        <p:cTn id="97" dur="1" fill="hold">
                                          <p:stCondLst>
                                            <p:cond delay="0"/>
                                          </p:stCondLst>
                                        </p:cTn>
                                        <p:tgtEl>
                                          <p:spTgt spid="64"/>
                                        </p:tgtEl>
                                        <p:attrNameLst>
                                          <p:attrName>style.visibility</p:attrName>
                                        </p:attrNameLst>
                                      </p:cBhvr>
                                      <p:to>
                                        <p:strVal val="hidden"/>
                                      </p:to>
                                    </p:set>
                                  </p:childTnLst>
                                </p:cTn>
                              </p:par>
                              <p:par>
                                <p:cTn id="98" presetID="1" presetClass="exit" presetSubtype="0" fill="hold" grpId="3" nodeType="withEffect">
                                  <p:stCondLst>
                                    <p:cond delay="0"/>
                                  </p:stCondLst>
                                  <p:childTnLst>
                                    <p:set>
                                      <p:cBhvr>
                                        <p:cTn id="99" dur="1" fill="hold">
                                          <p:stCondLst>
                                            <p:cond delay="0"/>
                                          </p:stCondLst>
                                        </p:cTn>
                                        <p:tgtEl>
                                          <p:spTgt spid="172"/>
                                        </p:tgtEl>
                                        <p:attrNameLst>
                                          <p:attrName>style.visibility</p:attrName>
                                        </p:attrNameLst>
                                      </p:cBhvr>
                                      <p:to>
                                        <p:strVal val="hidden"/>
                                      </p:to>
                                    </p:set>
                                  </p:childTnLst>
                                </p:cTn>
                              </p:par>
                              <p:par>
                                <p:cTn id="100" presetID="1" presetClass="exit" presetSubtype="0" fill="hold" grpId="3" nodeType="withEffect">
                                  <p:stCondLst>
                                    <p:cond delay="0"/>
                                  </p:stCondLst>
                                  <p:childTnLst>
                                    <p:set>
                                      <p:cBhvr>
                                        <p:cTn id="101" dur="1" fill="hold">
                                          <p:stCondLst>
                                            <p:cond delay="0"/>
                                          </p:stCondLst>
                                        </p:cTn>
                                        <p:tgtEl>
                                          <p:spTgt spid="79"/>
                                        </p:tgtEl>
                                        <p:attrNameLst>
                                          <p:attrName>style.visibility</p:attrName>
                                        </p:attrNameLst>
                                      </p:cBhvr>
                                      <p:to>
                                        <p:strVal val="hidden"/>
                                      </p:to>
                                    </p:set>
                                  </p:childTnLst>
                                </p:cTn>
                              </p:par>
                              <p:par>
                                <p:cTn id="102" presetID="1" presetClass="exit" presetSubtype="0" fill="hold" grpId="3" nodeType="withEffect">
                                  <p:stCondLst>
                                    <p:cond delay="0"/>
                                  </p:stCondLst>
                                  <p:childTnLst>
                                    <p:set>
                                      <p:cBhvr>
                                        <p:cTn id="103" dur="1" fill="hold">
                                          <p:stCondLst>
                                            <p:cond delay="0"/>
                                          </p:stCondLst>
                                        </p:cTn>
                                        <p:tgtEl>
                                          <p:spTgt spid="173"/>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78"/>
                                        </p:tgtEl>
                                        <p:attrNameLst>
                                          <p:attrName>style.visibility</p:attrName>
                                        </p:attrNameLst>
                                      </p:cBhvr>
                                      <p:to>
                                        <p:strVal val="hidden"/>
                                      </p:to>
                                    </p:set>
                                  </p:childTnLst>
                                </p:cTn>
                              </p:par>
                              <p:par>
                                <p:cTn id="106" presetID="1" presetClass="exit" presetSubtype="0" fill="hold" nodeType="withEffect">
                                  <p:stCondLst>
                                    <p:cond delay="0"/>
                                  </p:stCondLst>
                                  <p:childTnLst>
                                    <p:set>
                                      <p:cBhvr>
                                        <p:cTn id="107" dur="1" fill="hold">
                                          <p:stCondLst>
                                            <p:cond delay="0"/>
                                          </p:stCondLst>
                                        </p:cTn>
                                        <p:tgtEl>
                                          <p:spTgt spid="65"/>
                                        </p:tgtEl>
                                        <p:attrNameLst>
                                          <p:attrName>style.visibility</p:attrName>
                                        </p:attrNameLst>
                                      </p:cBhvr>
                                      <p:to>
                                        <p:strVal val="hidden"/>
                                      </p:to>
                                    </p:set>
                                  </p:childTnLst>
                                </p:cTn>
                              </p:par>
                              <p:par>
                                <p:cTn id="108" presetID="1" presetClass="entr" presetSubtype="0" fill="hold" grpId="0" nodeType="withEffect">
                                  <p:stCondLst>
                                    <p:cond delay="0"/>
                                  </p:stCondLst>
                                  <p:childTnLst>
                                    <p:set>
                                      <p:cBhvr>
                                        <p:cTn id="109" dur="1" fill="hold">
                                          <p:stCondLst>
                                            <p:cond delay="0"/>
                                          </p:stCondLst>
                                        </p:cTn>
                                        <p:tgtEl>
                                          <p:spTgt spid="71"/>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14"/>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72"/>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81"/>
                                        </p:tgtEl>
                                        <p:attrNameLst>
                                          <p:attrName>style.visibility</p:attrName>
                                        </p:attrNameLst>
                                      </p:cBhvr>
                                      <p:to>
                                        <p:strVal val="visible"/>
                                      </p:to>
                                    </p:set>
                                  </p:childTnLst>
                                </p:cTn>
                              </p:par>
                            </p:childTnLst>
                          </p:cTn>
                        </p:par>
                        <p:par>
                          <p:cTn id="116" fill="hold">
                            <p:stCondLst>
                              <p:cond delay="0"/>
                            </p:stCondLst>
                            <p:childTnLst>
                              <p:par>
                                <p:cTn id="117" presetID="1" presetClass="entr" presetSubtype="0" fill="hold" grpId="2" nodeType="afterEffect">
                                  <p:stCondLst>
                                    <p:cond delay="1000"/>
                                  </p:stCondLst>
                                  <p:childTnLst>
                                    <p:set>
                                      <p:cBhvr>
                                        <p:cTn id="118" dur="1" fill="hold">
                                          <p:stCondLst>
                                            <p:cond delay="0"/>
                                          </p:stCondLst>
                                        </p:cTn>
                                        <p:tgtEl>
                                          <p:spTgt spid="95"/>
                                        </p:tgtEl>
                                        <p:attrNameLst>
                                          <p:attrName>style.visibility</p:attrName>
                                        </p:attrNameLst>
                                      </p:cBhvr>
                                      <p:to>
                                        <p:strVal val="visible"/>
                                      </p:to>
                                    </p:set>
                                  </p:childTnLst>
                                </p:cTn>
                              </p:par>
                            </p:childTnLst>
                          </p:cTn>
                        </p:par>
                        <p:par>
                          <p:cTn id="119" fill="hold">
                            <p:stCondLst>
                              <p:cond delay="1000"/>
                            </p:stCondLst>
                            <p:childTnLst>
                              <p:par>
                                <p:cTn id="120" presetID="1" presetClass="entr" presetSubtype="0" fill="hold" grpId="0" nodeType="afterEffect">
                                  <p:stCondLst>
                                    <p:cond delay="1000"/>
                                  </p:stCondLst>
                                  <p:childTnLst>
                                    <p:set>
                                      <p:cBhvr>
                                        <p:cTn id="121" dur="1" fill="hold">
                                          <p:stCondLst>
                                            <p:cond delay="0"/>
                                          </p:stCondLst>
                                        </p:cTn>
                                        <p:tgtEl>
                                          <p:spTgt spid="170"/>
                                        </p:tgtEl>
                                        <p:attrNameLst>
                                          <p:attrName>style.visibility</p:attrName>
                                        </p:attrNameLst>
                                      </p:cBhvr>
                                      <p:to>
                                        <p:strVal val="visible"/>
                                      </p:to>
                                    </p:set>
                                  </p:childTnLst>
                                </p:cTn>
                              </p:par>
                            </p:childTnLst>
                          </p:cTn>
                        </p:par>
                        <p:par>
                          <p:cTn id="122" fill="hold">
                            <p:stCondLst>
                              <p:cond delay="2000"/>
                            </p:stCondLst>
                            <p:childTnLst>
                              <p:par>
                                <p:cTn id="123" presetID="1" presetClass="entr" presetSubtype="0" fill="hold" grpId="4" nodeType="afterEffect">
                                  <p:stCondLst>
                                    <p:cond delay="1000"/>
                                  </p:stCondLst>
                                  <p:childTnLst>
                                    <p:set>
                                      <p:cBhvr>
                                        <p:cTn id="124" dur="1" fill="hold">
                                          <p:stCondLst>
                                            <p:cond delay="0"/>
                                          </p:stCondLst>
                                        </p:cTn>
                                        <p:tgtEl>
                                          <p:spTgt spid="172"/>
                                        </p:tgtEl>
                                        <p:attrNameLst>
                                          <p:attrName>style.visibility</p:attrName>
                                        </p:attrNameLst>
                                      </p:cBhvr>
                                      <p:to>
                                        <p:strVal val="visible"/>
                                      </p:to>
                                    </p:set>
                                  </p:childTnLst>
                                </p:cTn>
                              </p:par>
                            </p:childTnLst>
                          </p:cTn>
                        </p:par>
                        <p:par>
                          <p:cTn id="125" fill="hold">
                            <p:stCondLst>
                              <p:cond delay="3000"/>
                            </p:stCondLst>
                            <p:childTnLst>
                              <p:par>
                                <p:cTn id="126" presetID="1" presetClass="entr" presetSubtype="0" fill="hold" grpId="4" nodeType="afterEffect">
                                  <p:stCondLst>
                                    <p:cond delay="1000"/>
                                  </p:stCondLst>
                                  <p:childTnLst>
                                    <p:set>
                                      <p:cBhvr>
                                        <p:cTn id="127"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128" restart="whenNotActive" fill="hold" evtFilter="cancelBubble" nodeType="interactiveSeq">
                <p:stCondLst>
                  <p:cond evt="onClick" delay="0">
                    <p:tgtEl>
                      <p:spTgt spid="71"/>
                    </p:tgtEl>
                  </p:cond>
                </p:stCondLst>
                <p:endSync evt="end" delay="0">
                  <p:rtn val="all"/>
                </p:endSync>
                <p:childTnLst>
                  <p:par>
                    <p:cTn id="129" fill="hold">
                      <p:stCondLst>
                        <p:cond delay="0"/>
                      </p:stCondLst>
                      <p:childTnLst>
                        <p:par>
                          <p:cTn id="130" fill="hold">
                            <p:stCondLst>
                              <p:cond delay="0"/>
                            </p:stCondLst>
                            <p:childTnLst>
                              <p:par>
                                <p:cTn id="131" presetID="1" presetClass="entr" presetSubtype="0" fill="hold" grpId="0" nodeType="withEffect">
                                  <p:stCondLst>
                                    <p:cond delay="0"/>
                                  </p:stCondLst>
                                  <p:childTnLst>
                                    <p:set>
                                      <p:cBhvr>
                                        <p:cTn id="132" dur="1" fill="hold">
                                          <p:stCondLst>
                                            <p:cond delay="0"/>
                                          </p:stCondLst>
                                        </p:cTn>
                                        <p:tgtEl>
                                          <p:spTgt spid="83"/>
                                        </p:tgtEl>
                                        <p:attrNameLst>
                                          <p:attrName>style.visibility</p:attrName>
                                        </p:attrNameLst>
                                      </p:cBhvr>
                                      <p:to>
                                        <p:strVal val="visible"/>
                                      </p:to>
                                    </p:set>
                                  </p:childTnLst>
                                </p:cTn>
                              </p:par>
                              <p:par>
                                <p:cTn id="133" presetID="1" presetClass="exit" presetSubtype="0" fill="hold" grpId="1" nodeType="withEffect">
                                  <p:stCondLst>
                                    <p:cond delay="0"/>
                                  </p:stCondLst>
                                  <p:childTnLst>
                                    <p:set>
                                      <p:cBhvr>
                                        <p:cTn id="134" dur="1" fill="hold">
                                          <p:stCondLst>
                                            <p:cond delay="0"/>
                                          </p:stCondLst>
                                        </p:cTn>
                                        <p:tgtEl>
                                          <p:spTgt spid="71"/>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72"/>
                                        </p:tgtEl>
                                        <p:attrNameLst>
                                          <p:attrName>style.visibility</p:attrName>
                                        </p:attrNameLst>
                                      </p:cBhvr>
                                      <p:to>
                                        <p:strVal val="hidden"/>
                                      </p:to>
                                    </p:set>
                                  </p:childTnLst>
                                </p:cTn>
                              </p:par>
                            </p:childTnLst>
                          </p:cTn>
                        </p:par>
                      </p:childTnLst>
                    </p:cTn>
                  </p:par>
                </p:childTnLst>
              </p:cTn>
              <p:nextCondLst>
                <p:cond evt="onClick" delay="0">
                  <p:tgtEl>
                    <p:spTgt spid="71"/>
                  </p:tgtEl>
                </p:cond>
              </p:nextCondLst>
            </p:seq>
            <p:seq concurrent="1" nextAc="seek">
              <p:cTn id="137" restart="whenNotActive" fill="hold" evtFilter="cancelBubble" nodeType="interactiveSeq">
                <p:stCondLst>
                  <p:cond evt="onClick" delay="0">
                    <p:tgtEl>
                      <p:spTgt spid="67"/>
                    </p:tgtEl>
                  </p:cond>
                </p:stCondLst>
                <p:endSync evt="end" delay="0">
                  <p:rtn val="all"/>
                </p:endSync>
                <p:childTnLst>
                  <p:par>
                    <p:cTn id="138" fill="hold">
                      <p:stCondLst>
                        <p:cond delay="0"/>
                      </p:stCondLst>
                      <p:childTnLst>
                        <p:par>
                          <p:cTn id="139" fill="hold">
                            <p:stCondLst>
                              <p:cond delay="0"/>
                            </p:stCondLst>
                            <p:childTnLst>
                              <p:par>
                                <p:cTn id="140" presetID="1" presetClass="exit" presetSubtype="0" fill="hold" grpId="5" nodeType="withEffect">
                                  <p:stCondLst>
                                    <p:cond delay="0"/>
                                  </p:stCondLst>
                                  <p:childTnLst>
                                    <p:set>
                                      <p:cBhvr>
                                        <p:cTn id="141" dur="1" fill="hold">
                                          <p:stCondLst>
                                            <p:cond delay="0"/>
                                          </p:stCondLst>
                                        </p:cTn>
                                        <p:tgtEl>
                                          <p:spTgt spid="172"/>
                                        </p:tgtEl>
                                        <p:attrNameLst>
                                          <p:attrName>style.visibility</p:attrName>
                                        </p:attrNameLst>
                                      </p:cBhvr>
                                      <p:to>
                                        <p:strVal val="hidden"/>
                                      </p:to>
                                    </p:set>
                                  </p:childTnLst>
                                </p:cTn>
                              </p:par>
                              <p:par>
                                <p:cTn id="142" presetID="1" presetClass="exit" presetSubtype="0" fill="hold" grpId="3" nodeType="withEffect">
                                  <p:stCondLst>
                                    <p:cond delay="0"/>
                                  </p:stCondLst>
                                  <p:childTnLst>
                                    <p:set>
                                      <p:cBhvr>
                                        <p:cTn id="143" dur="1" fill="hold">
                                          <p:stCondLst>
                                            <p:cond delay="0"/>
                                          </p:stCondLst>
                                        </p:cTn>
                                        <p:tgtEl>
                                          <p:spTgt spid="170"/>
                                        </p:tgtEl>
                                        <p:attrNameLst>
                                          <p:attrName>style.visibility</p:attrName>
                                        </p:attrNameLst>
                                      </p:cBhvr>
                                      <p:to>
                                        <p:strVal val="hidden"/>
                                      </p:to>
                                    </p:set>
                                  </p:childTnLst>
                                </p:cTn>
                              </p:par>
                              <p:par>
                                <p:cTn id="144" presetID="1" presetClass="exit" presetSubtype="0" fill="hold" grpId="3" nodeType="withEffect">
                                  <p:stCondLst>
                                    <p:cond delay="0"/>
                                  </p:stCondLst>
                                  <p:childTnLst>
                                    <p:set>
                                      <p:cBhvr>
                                        <p:cTn id="145" dur="1" fill="hold">
                                          <p:stCondLst>
                                            <p:cond delay="0"/>
                                          </p:stCondLst>
                                        </p:cTn>
                                        <p:tgtEl>
                                          <p:spTgt spid="95"/>
                                        </p:tgtEl>
                                        <p:attrNameLst>
                                          <p:attrName>style.visibility</p:attrName>
                                        </p:attrNameLst>
                                      </p:cBhvr>
                                      <p:to>
                                        <p:strVal val="hidden"/>
                                      </p:to>
                                    </p:set>
                                  </p:childTnLst>
                                </p:cTn>
                              </p:par>
                              <p:par>
                                <p:cTn id="146" presetID="1" presetClass="exit" presetSubtype="0" fill="hold" grpId="5" nodeType="withEffect">
                                  <p:stCondLst>
                                    <p:cond delay="0"/>
                                  </p:stCondLst>
                                  <p:childTnLst>
                                    <p:set>
                                      <p:cBhvr>
                                        <p:cTn id="147" dur="1" fill="hold">
                                          <p:stCondLst>
                                            <p:cond delay="0"/>
                                          </p:stCondLst>
                                        </p:cTn>
                                        <p:tgtEl>
                                          <p:spTgt spid="173"/>
                                        </p:tgtEl>
                                        <p:attrNameLst>
                                          <p:attrName>style.visibility</p:attrName>
                                        </p:attrNameLst>
                                      </p:cBhvr>
                                      <p:to>
                                        <p:strVal val="hidden"/>
                                      </p:to>
                                    </p:set>
                                  </p:childTnLst>
                                </p:cTn>
                              </p:par>
                              <p:par>
                                <p:cTn id="148" presetID="1" presetClass="exit" presetSubtype="0" fill="hold" grpId="1" nodeType="withEffect">
                                  <p:stCondLst>
                                    <p:cond delay="0"/>
                                  </p:stCondLst>
                                  <p:childTnLst>
                                    <p:set>
                                      <p:cBhvr>
                                        <p:cTn id="149" dur="1" fill="hold">
                                          <p:stCondLst>
                                            <p:cond delay="0"/>
                                          </p:stCondLst>
                                        </p:cTn>
                                        <p:tgtEl>
                                          <p:spTgt spid="81"/>
                                        </p:tgtEl>
                                        <p:attrNameLst>
                                          <p:attrName>style.visibility</p:attrName>
                                        </p:attrNameLst>
                                      </p:cBhvr>
                                      <p:to>
                                        <p:strVal val="hidden"/>
                                      </p:to>
                                    </p:set>
                                  </p:childTnLst>
                                </p:cTn>
                              </p:par>
                              <p:par>
                                <p:cTn id="150" presetID="1" presetClass="exit" presetSubtype="0" fill="hold" grpId="0" nodeType="withEffect">
                                  <p:stCondLst>
                                    <p:cond delay="0"/>
                                  </p:stCondLst>
                                  <p:childTnLst>
                                    <p:set>
                                      <p:cBhvr>
                                        <p:cTn id="151" dur="1" fill="hold">
                                          <p:stCondLst>
                                            <p:cond delay="0"/>
                                          </p:stCondLst>
                                        </p:cTn>
                                        <p:tgtEl>
                                          <p:spTgt spid="67"/>
                                        </p:tgtEl>
                                        <p:attrNameLst>
                                          <p:attrName>style.visibility</p:attrName>
                                        </p:attrNameLst>
                                      </p:cBhvr>
                                      <p:to>
                                        <p:strVal val="hidden"/>
                                      </p:to>
                                    </p:set>
                                  </p:childTnLst>
                                </p:cTn>
                              </p:par>
                              <p:par>
                                <p:cTn id="152" presetID="1" presetClass="exit" presetSubtype="0" fill="hold" nodeType="withEffect">
                                  <p:stCondLst>
                                    <p:cond delay="0"/>
                                  </p:stCondLst>
                                  <p:childTnLst>
                                    <p:set>
                                      <p:cBhvr>
                                        <p:cTn id="153" dur="1" fill="hold">
                                          <p:stCondLst>
                                            <p:cond delay="0"/>
                                          </p:stCondLst>
                                        </p:cTn>
                                        <p:tgtEl>
                                          <p:spTgt spid="70"/>
                                        </p:tgtEl>
                                        <p:attrNameLst>
                                          <p:attrName>style.visibility</p:attrName>
                                        </p:attrNameLst>
                                      </p:cBhvr>
                                      <p:to>
                                        <p:strVal val="hidden"/>
                                      </p:to>
                                    </p:set>
                                  </p:childTnLst>
                                </p:cTn>
                              </p:par>
                              <p:par>
                                <p:cTn id="154" presetID="1" presetClass="entr" presetSubtype="0" fill="hold" grpId="0" nodeType="withEffect">
                                  <p:stCondLst>
                                    <p:cond delay="0"/>
                                  </p:stCondLst>
                                  <p:childTnLst>
                                    <p:set>
                                      <p:cBhvr>
                                        <p:cTn id="155" dur="1" fill="hold">
                                          <p:stCondLst>
                                            <p:cond delay="0"/>
                                          </p:stCondLst>
                                        </p:cTn>
                                        <p:tgtEl>
                                          <p:spTgt spid="73"/>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15"/>
                                        </p:tgtEl>
                                        <p:attrNameLst>
                                          <p:attrName>style.visibility</p:attrName>
                                        </p:attrNameLst>
                                      </p:cBhvr>
                                      <p:to>
                                        <p:strVal val="visible"/>
                                      </p:to>
                                    </p:set>
                                  </p:childTnLst>
                                </p:cTn>
                              </p:par>
                              <p:par>
                                <p:cTn id="158" presetID="1" presetClass="entr" presetSubtype="0" fill="hold" nodeType="withEffect">
                                  <p:stCondLst>
                                    <p:cond delay="0"/>
                                  </p:stCondLst>
                                  <p:childTnLst>
                                    <p:set>
                                      <p:cBhvr>
                                        <p:cTn id="159" dur="1" fill="hold">
                                          <p:stCondLst>
                                            <p:cond delay="0"/>
                                          </p:stCondLst>
                                        </p:cTn>
                                        <p:tgtEl>
                                          <p:spTgt spid="74"/>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169"/>
                                        </p:tgtEl>
                                        <p:attrNameLst>
                                          <p:attrName>style.visibility</p:attrName>
                                        </p:attrNameLst>
                                      </p:cBhvr>
                                      <p:to>
                                        <p:strVal val="visible"/>
                                      </p:to>
                                    </p:set>
                                  </p:childTnLst>
                                </p:cTn>
                              </p:par>
                            </p:childTnLst>
                          </p:cTn>
                        </p:par>
                        <p:par>
                          <p:cTn id="162" fill="hold">
                            <p:stCondLst>
                              <p:cond delay="0"/>
                            </p:stCondLst>
                            <p:childTnLst>
                              <p:par>
                                <p:cTn id="163" presetID="1" presetClass="entr" presetSubtype="0" fill="hold" grpId="0" nodeType="afterEffect">
                                  <p:stCondLst>
                                    <p:cond delay="1000"/>
                                  </p:stCondLst>
                                  <p:childTnLst>
                                    <p:set>
                                      <p:cBhvr>
                                        <p:cTn id="164" dur="1" fill="hold">
                                          <p:stCondLst>
                                            <p:cond delay="0"/>
                                          </p:stCondLst>
                                        </p:cTn>
                                        <p:tgtEl>
                                          <p:spTgt spid="92"/>
                                        </p:tgtEl>
                                        <p:attrNameLst>
                                          <p:attrName>style.visibility</p:attrName>
                                        </p:attrNameLst>
                                      </p:cBhvr>
                                      <p:to>
                                        <p:strVal val="visible"/>
                                      </p:to>
                                    </p:set>
                                  </p:childTnLst>
                                </p:cTn>
                              </p:par>
                            </p:childTnLst>
                          </p:cTn>
                        </p:par>
                        <p:par>
                          <p:cTn id="165" fill="hold">
                            <p:stCondLst>
                              <p:cond delay="1000"/>
                            </p:stCondLst>
                            <p:childTnLst>
                              <p:par>
                                <p:cTn id="166" presetID="1" presetClass="entr" presetSubtype="0" fill="hold" grpId="4" nodeType="afterEffect">
                                  <p:stCondLst>
                                    <p:cond delay="1000"/>
                                  </p:stCondLst>
                                  <p:childTnLst>
                                    <p:set>
                                      <p:cBhvr>
                                        <p:cTn id="167" dur="1" fill="hold">
                                          <p:stCondLst>
                                            <p:cond delay="0"/>
                                          </p:stCondLst>
                                        </p:cTn>
                                        <p:tgtEl>
                                          <p:spTgt spid="170"/>
                                        </p:tgtEl>
                                        <p:attrNameLst>
                                          <p:attrName>style.visibility</p:attrName>
                                        </p:attrNameLst>
                                      </p:cBhvr>
                                      <p:to>
                                        <p:strVal val="visible"/>
                                      </p:to>
                                    </p:set>
                                  </p:childTnLst>
                                </p:cTn>
                              </p:par>
                            </p:childTnLst>
                          </p:cTn>
                        </p:par>
                        <p:par>
                          <p:cTn id="168" fill="hold">
                            <p:stCondLst>
                              <p:cond delay="2000"/>
                            </p:stCondLst>
                            <p:childTnLst>
                              <p:par>
                                <p:cTn id="169" presetID="1" presetClass="entr" presetSubtype="0" fill="hold" grpId="6" nodeType="afterEffect">
                                  <p:stCondLst>
                                    <p:cond delay="1000"/>
                                  </p:stCondLst>
                                  <p:childTnLst>
                                    <p:set>
                                      <p:cBhvr>
                                        <p:cTn id="170" dur="1" fill="hold">
                                          <p:stCondLst>
                                            <p:cond delay="0"/>
                                          </p:stCondLst>
                                        </p:cTn>
                                        <p:tgtEl>
                                          <p:spTgt spid="172"/>
                                        </p:tgtEl>
                                        <p:attrNameLst>
                                          <p:attrName>style.visibility</p:attrName>
                                        </p:attrNameLst>
                                      </p:cBhvr>
                                      <p:to>
                                        <p:strVal val="visible"/>
                                      </p:to>
                                    </p:set>
                                  </p:childTnLst>
                                </p:cTn>
                              </p:par>
                            </p:childTnLst>
                          </p:cTn>
                        </p:par>
                        <p:par>
                          <p:cTn id="171" fill="hold">
                            <p:stCondLst>
                              <p:cond delay="3000"/>
                            </p:stCondLst>
                            <p:childTnLst>
                              <p:par>
                                <p:cTn id="172" presetID="1" presetClass="entr" presetSubtype="0" fill="hold" grpId="6" nodeType="afterEffect">
                                  <p:stCondLst>
                                    <p:cond delay="1000"/>
                                  </p:stCondLst>
                                  <p:childTnLst>
                                    <p:set>
                                      <p:cBhvr>
                                        <p:cTn id="173"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67"/>
                  </p:tgtEl>
                </p:cond>
              </p:nextCondLst>
            </p:seq>
            <p:seq concurrent="1" nextAc="seek">
              <p:cTn id="174" restart="whenNotActive" fill="hold" evtFilter="cancelBubble" nodeType="interactiveSeq">
                <p:stCondLst>
                  <p:cond evt="onClick" delay="0">
                    <p:tgtEl>
                      <p:spTgt spid="73"/>
                    </p:tgtEl>
                  </p:cond>
                </p:stCondLst>
                <p:endSync evt="end" delay="0">
                  <p:rtn val="all"/>
                </p:endSync>
                <p:childTnLst>
                  <p:par>
                    <p:cTn id="175" fill="hold">
                      <p:stCondLst>
                        <p:cond delay="0"/>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97"/>
                                        </p:tgtEl>
                                        <p:attrNameLst>
                                          <p:attrName>style.visibility</p:attrName>
                                        </p:attrNameLst>
                                      </p:cBhvr>
                                      <p:to>
                                        <p:strVal val="visible"/>
                                      </p:to>
                                    </p:set>
                                  </p:childTnLst>
                                </p:cTn>
                              </p:par>
                              <p:par>
                                <p:cTn id="179" presetID="1" presetClass="exit" presetSubtype="0" fill="hold" grpId="1" nodeType="withEffect">
                                  <p:stCondLst>
                                    <p:cond delay="0"/>
                                  </p:stCondLst>
                                  <p:childTnLst>
                                    <p:set>
                                      <p:cBhvr>
                                        <p:cTn id="180" dur="1" fill="hold">
                                          <p:stCondLst>
                                            <p:cond delay="0"/>
                                          </p:stCondLst>
                                        </p:cTn>
                                        <p:tgtEl>
                                          <p:spTgt spid="73"/>
                                        </p:tgtEl>
                                        <p:attrNameLst>
                                          <p:attrName>style.visibility</p:attrName>
                                        </p:attrNameLst>
                                      </p:cBhvr>
                                      <p:to>
                                        <p:strVal val="hidden"/>
                                      </p:to>
                                    </p:set>
                                  </p:childTnLst>
                                </p:cTn>
                              </p:par>
                              <p:par>
                                <p:cTn id="181" presetID="1" presetClass="exit" presetSubtype="0" fill="hold" nodeType="withEffect">
                                  <p:stCondLst>
                                    <p:cond delay="0"/>
                                  </p:stCondLst>
                                  <p:childTnLst>
                                    <p:set>
                                      <p:cBhvr>
                                        <p:cTn id="182" dur="1" fill="hold">
                                          <p:stCondLst>
                                            <p:cond delay="0"/>
                                          </p:stCondLst>
                                        </p:cTn>
                                        <p:tgtEl>
                                          <p:spTgt spid="74"/>
                                        </p:tgtEl>
                                        <p:attrNameLst>
                                          <p:attrName>style.visibility</p:attrName>
                                        </p:attrNameLst>
                                      </p:cBhvr>
                                      <p:to>
                                        <p:strVal val="hidden"/>
                                      </p:to>
                                    </p:set>
                                  </p:childTnLst>
                                </p:cTn>
                              </p:par>
                            </p:childTnLst>
                          </p:cTn>
                        </p:par>
                      </p:childTnLst>
                    </p:cTn>
                  </p:par>
                </p:childTnLst>
              </p:cTn>
              <p:nextCondLst>
                <p:cond evt="onClick" delay="0">
                  <p:tgtEl>
                    <p:spTgt spid="73"/>
                  </p:tgtEl>
                </p:cond>
              </p:nextCondLst>
            </p:seq>
          </p:childTnLst>
        </p:cTn>
      </p:par>
    </p:tnLst>
    <p:bldLst>
      <p:bldP spid="9" grpId="0" animBg="1"/>
      <p:bldP spid="169" grpId="0" animBg="1"/>
      <p:bldP spid="170" grpId="0" animBg="1"/>
      <p:bldP spid="170" grpId="1" animBg="1"/>
      <p:bldP spid="170" grpId="2" animBg="1"/>
      <p:bldP spid="170" grpId="3" animBg="1"/>
      <p:bldP spid="170" grpId="4" animBg="1"/>
      <p:bldP spid="172" grpId="0" animBg="1"/>
      <p:bldP spid="172" grpId="1" animBg="1"/>
      <p:bldP spid="172" grpId="2" animBg="1"/>
      <p:bldP spid="172" grpId="3" animBg="1"/>
      <p:bldP spid="172" grpId="4" animBg="1"/>
      <p:bldP spid="172" grpId="5" animBg="1"/>
      <p:bldP spid="172" grpId="6" animBg="1"/>
      <p:bldP spid="173" grpId="0" animBg="1"/>
      <p:bldP spid="173" grpId="1" animBg="1"/>
      <p:bldP spid="173" grpId="2" animBg="1"/>
      <p:bldP spid="173" grpId="3" animBg="1"/>
      <p:bldP spid="173" grpId="4" animBg="1"/>
      <p:bldP spid="173" grpId="5" animBg="1"/>
      <p:bldP spid="173" grpId="6" animBg="1"/>
      <p:bldP spid="46" grpId="0"/>
      <p:bldP spid="48" grpId="0" animBg="1"/>
      <p:bldP spid="55" grpId="0" animBg="1"/>
      <p:bldP spid="55" grpId="1" animBg="1"/>
      <p:bldP spid="58" grpId="0" animBg="1"/>
      <p:bldP spid="61" grpId="0" animBg="1"/>
      <p:bldP spid="61" grpId="1" animBg="1"/>
      <p:bldP spid="64" grpId="0" animBg="1"/>
      <p:bldP spid="67" grpId="0" animBg="1"/>
      <p:bldP spid="71" grpId="0" animBg="1"/>
      <p:bldP spid="71" grpId="1" animBg="1"/>
      <p:bldP spid="73" grpId="0" animBg="1"/>
      <p:bldP spid="73" grpId="1" animBg="1"/>
      <p:bldP spid="75" grpId="0" animBg="1"/>
      <p:bldP spid="75" grpId="1" animBg="1"/>
      <p:bldP spid="77" grpId="0"/>
      <p:bldP spid="79" grpId="0" animBg="1"/>
      <p:bldP spid="79" grpId="1" animBg="1"/>
      <p:bldP spid="79" grpId="2" animBg="1"/>
      <p:bldP spid="79" grpId="3" animBg="1"/>
      <p:bldP spid="80" grpId="0"/>
      <p:bldP spid="81" grpId="0" animBg="1"/>
      <p:bldP spid="81" grpId="1" animBg="1"/>
      <p:bldP spid="83" grpId="0"/>
      <p:bldP spid="92" grpId="0" animBg="1"/>
      <p:bldP spid="95" grpId="0" animBg="1"/>
      <p:bldP spid="95" grpId="1" animBg="1"/>
      <p:bldP spid="95" grpId="2" animBg="1"/>
      <p:bldP spid="95" grpId="3" animBg="1"/>
      <p:bldP spid="97" grpId="0"/>
      <p:bldP spid="78" grpId="0" animBg="1"/>
      <p:bldP spid="78" grpId="1" animBg="1"/>
      <p:bldP spid="8"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Box 147">
            <a:extLst>
              <a:ext uri="{FF2B5EF4-FFF2-40B4-BE49-F238E27FC236}">
                <a16:creationId xmlns:a16="http://schemas.microsoft.com/office/drawing/2014/main" id="{F4ADD56A-EB89-5649-A63B-1B4FC5A534B6}"/>
              </a:ext>
            </a:extLst>
          </p:cNvPr>
          <p:cNvSpPr txBox="1"/>
          <p:nvPr/>
        </p:nvSpPr>
        <p:spPr>
          <a:xfrm>
            <a:off x="1308585" y="7554377"/>
            <a:ext cx="184731" cy="353609"/>
          </a:xfrm>
          <a:prstGeom prst="rect">
            <a:avLst/>
          </a:prstGeom>
          <a:noFill/>
        </p:spPr>
        <p:txBody>
          <a:bodyPr wrap="square" rtlCol="0">
            <a:spAutoFit/>
          </a:bodyPr>
          <a:lstStyle/>
          <a:p>
            <a:endParaRPr lang="en-US" dirty="0"/>
          </a:p>
        </p:txBody>
      </p:sp>
      <p:sp>
        <p:nvSpPr>
          <p:cNvPr id="35" name="TextBox 34">
            <a:extLst>
              <a:ext uri="{FF2B5EF4-FFF2-40B4-BE49-F238E27FC236}">
                <a16:creationId xmlns:a16="http://schemas.microsoft.com/office/drawing/2014/main" id="{1650849A-7669-AB95-82BA-3D4D7242B833}"/>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Classification - Reflex Syncope</a:t>
            </a:r>
          </a:p>
        </p:txBody>
      </p:sp>
      <p:sp>
        <p:nvSpPr>
          <p:cNvPr id="147" name="TextBox 146">
            <a:extLst>
              <a:ext uri="{FF2B5EF4-FFF2-40B4-BE49-F238E27FC236}">
                <a16:creationId xmlns:a16="http://schemas.microsoft.com/office/drawing/2014/main" id="{CD7D87CC-20EA-DF39-4327-C0D6CE42ABBC}"/>
              </a:ext>
            </a:extLst>
          </p:cNvPr>
          <p:cNvSpPr txBox="1"/>
          <p:nvPr/>
        </p:nvSpPr>
        <p:spPr>
          <a:xfrm>
            <a:off x="10745180" y="5108827"/>
            <a:ext cx="502921" cy="372634"/>
          </a:xfrm>
          <a:prstGeom prst="rect">
            <a:avLst/>
          </a:prstGeom>
          <a:noFill/>
          <a:ln>
            <a:noFill/>
          </a:ln>
        </p:spPr>
        <p:txBody>
          <a:bodyPr wrap="square" rtlCol="0">
            <a:spAutoFit/>
          </a:bodyPr>
          <a:lstStyle/>
          <a:p>
            <a:pPr algn="ctr"/>
            <a:r>
              <a:rPr lang="en-US" dirty="0"/>
              <a:t>HR</a:t>
            </a:r>
          </a:p>
        </p:txBody>
      </p:sp>
      <p:sp>
        <p:nvSpPr>
          <p:cNvPr id="149" name="TextBox 148">
            <a:extLst>
              <a:ext uri="{FF2B5EF4-FFF2-40B4-BE49-F238E27FC236}">
                <a16:creationId xmlns:a16="http://schemas.microsoft.com/office/drawing/2014/main" id="{0407A9B1-BB36-1407-C68E-BC24395334FC}"/>
              </a:ext>
            </a:extLst>
          </p:cNvPr>
          <p:cNvSpPr txBox="1"/>
          <p:nvPr/>
        </p:nvSpPr>
        <p:spPr>
          <a:xfrm>
            <a:off x="10065328" y="5999277"/>
            <a:ext cx="1328374" cy="341722"/>
          </a:xfrm>
          <a:prstGeom prst="rect">
            <a:avLst/>
          </a:prstGeom>
          <a:noFill/>
          <a:ln>
            <a:noFill/>
          </a:ln>
        </p:spPr>
        <p:txBody>
          <a:bodyPr wrap="square" rtlCol="0">
            <a:spAutoFit/>
          </a:bodyPr>
          <a:lstStyle/>
          <a:p>
            <a:pPr algn="ctr"/>
            <a:r>
              <a:rPr lang="en-US" sz="1600" dirty="0"/>
              <a:t>contractility</a:t>
            </a:r>
          </a:p>
        </p:txBody>
      </p:sp>
      <p:pic>
        <p:nvPicPr>
          <p:cNvPr id="150" name="Picture 149" descr="A screenshot of a video game  Description automatically generated">
            <a:extLst>
              <a:ext uri="{FF2B5EF4-FFF2-40B4-BE49-F238E27FC236}">
                <a16:creationId xmlns:a16="http://schemas.microsoft.com/office/drawing/2014/main" id="{0600C835-5590-0AB3-9F24-0369553755A3}"/>
              </a:ext>
            </a:extLst>
          </p:cNvPr>
          <p:cNvPicPr>
            <a:picLocks noChangeAspect="1"/>
          </p:cNvPicPr>
          <p:nvPr/>
        </p:nvPicPr>
        <p:blipFill rotWithShape="1">
          <a:blip r:embed="rId3"/>
          <a:srcRect l="2581" t="21459" r="81092" b="16895"/>
          <a:stretch/>
        </p:blipFill>
        <p:spPr>
          <a:xfrm>
            <a:off x="8974739" y="664390"/>
            <a:ext cx="1926275" cy="5091033"/>
          </a:xfrm>
          <a:prstGeom prst="rect">
            <a:avLst/>
          </a:prstGeom>
        </p:spPr>
      </p:pic>
      <p:cxnSp>
        <p:nvCxnSpPr>
          <p:cNvPr id="151" name="Straight Connector 150">
            <a:extLst>
              <a:ext uri="{FF2B5EF4-FFF2-40B4-BE49-F238E27FC236}">
                <a16:creationId xmlns:a16="http://schemas.microsoft.com/office/drawing/2014/main" id="{B4334E73-519D-AB2E-6C17-28EDB4EBCEA2}"/>
              </a:ext>
            </a:extLst>
          </p:cNvPr>
          <p:cNvCxnSpPr>
            <a:cxnSpLocks/>
            <a:endCxn id="152" idx="1"/>
          </p:cNvCxnSpPr>
          <p:nvPr/>
        </p:nvCxnSpPr>
        <p:spPr>
          <a:xfrm flipV="1">
            <a:off x="9813181" y="3662663"/>
            <a:ext cx="903851" cy="532067"/>
          </a:xfrm>
          <a:prstGeom prst="line">
            <a:avLst/>
          </a:prstGeom>
        </p:spPr>
        <p:style>
          <a:lnRef idx="1">
            <a:schemeClr val="dk1"/>
          </a:lnRef>
          <a:fillRef idx="0">
            <a:schemeClr val="dk1"/>
          </a:fillRef>
          <a:effectRef idx="0">
            <a:schemeClr val="dk1"/>
          </a:effectRef>
          <a:fontRef idx="minor">
            <a:schemeClr val="tx1"/>
          </a:fontRef>
        </p:style>
      </p:cxnSp>
      <p:sp>
        <p:nvSpPr>
          <p:cNvPr id="152" name="Rectangle 151">
            <a:extLst>
              <a:ext uri="{FF2B5EF4-FFF2-40B4-BE49-F238E27FC236}">
                <a16:creationId xmlns:a16="http://schemas.microsoft.com/office/drawing/2014/main" id="{0F46F543-80E5-EC22-257E-9FC3644BFEDD}"/>
              </a:ext>
            </a:extLst>
          </p:cNvPr>
          <p:cNvSpPr/>
          <p:nvPr/>
        </p:nvSpPr>
        <p:spPr>
          <a:xfrm>
            <a:off x="10717032" y="3502643"/>
            <a:ext cx="617517"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SVR</a:t>
            </a:r>
          </a:p>
        </p:txBody>
      </p:sp>
      <p:cxnSp>
        <p:nvCxnSpPr>
          <p:cNvPr id="153" name="Straight Connector 152">
            <a:extLst>
              <a:ext uri="{FF2B5EF4-FFF2-40B4-BE49-F238E27FC236}">
                <a16:creationId xmlns:a16="http://schemas.microsoft.com/office/drawing/2014/main" id="{0F12ADFD-2B6F-DAFE-F39B-0807E341D294}"/>
              </a:ext>
            </a:extLst>
          </p:cNvPr>
          <p:cNvCxnSpPr>
            <a:cxnSpLocks/>
            <a:endCxn id="154" idx="1"/>
          </p:cNvCxnSpPr>
          <p:nvPr/>
        </p:nvCxnSpPr>
        <p:spPr>
          <a:xfrm flipV="1">
            <a:off x="9995085" y="3070904"/>
            <a:ext cx="664208" cy="919899"/>
          </a:xfrm>
          <a:prstGeom prst="line">
            <a:avLst/>
          </a:prstGeom>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06920260-8782-CFB0-F592-8B47085A4252}"/>
              </a:ext>
            </a:extLst>
          </p:cNvPr>
          <p:cNvSpPr/>
          <p:nvPr/>
        </p:nvSpPr>
        <p:spPr>
          <a:xfrm>
            <a:off x="10659293" y="2910884"/>
            <a:ext cx="732995"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DB7575"/>
                </a:solidFill>
              </a:rPr>
              <a:t>MAP</a:t>
            </a:r>
          </a:p>
        </p:txBody>
      </p:sp>
      <p:sp>
        <p:nvSpPr>
          <p:cNvPr id="155" name="Rectangle 154">
            <a:extLst>
              <a:ext uri="{FF2B5EF4-FFF2-40B4-BE49-F238E27FC236}">
                <a16:creationId xmlns:a16="http://schemas.microsoft.com/office/drawing/2014/main" id="{B8AB21EB-B829-4E67-6C22-37A2A8C0011E}"/>
              </a:ext>
            </a:extLst>
          </p:cNvPr>
          <p:cNvSpPr/>
          <p:nvPr/>
        </p:nvSpPr>
        <p:spPr>
          <a:xfrm>
            <a:off x="9624587" y="1344570"/>
            <a:ext cx="569514" cy="320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CPP</a:t>
            </a:r>
          </a:p>
        </p:txBody>
      </p:sp>
      <p:cxnSp>
        <p:nvCxnSpPr>
          <p:cNvPr id="156" name="Straight Connector 155">
            <a:extLst>
              <a:ext uri="{FF2B5EF4-FFF2-40B4-BE49-F238E27FC236}">
                <a16:creationId xmlns:a16="http://schemas.microsoft.com/office/drawing/2014/main" id="{3497A1A5-6676-0493-AA35-5930CCBAFE39}"/>
              </a:ext>
            </a:extLst>
          </p:cNvPr>
          <p:cNvCxnSpPr>
            <a:cxnSpLocks/>
            <a:endCxn id="157" idx="1"/>
          </p:cNvCxnSpPr>
          <p:nvPr/>
        </p:nvCxnSpPr>
        <p:spPr>
          <a:xfrm flipV="1">
            <a:off x="10176662" y="4609445"/>
            <a:ext cx="597668" cy="157785"/>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A0383932-4527-0786-294E-3D61F48215F9}"/>
              </a:ext>
            </a:extLst>
          </p:cNvPr>
          <p:cNvSpPr txBox="1"/>
          <p:nvPr/>
        </p:nvSpPr>
        <p:spPr>
          <a:xfrm>
            <a:off x="10774330" y="4424779"/>
            <a:ext cx="502921" cy="369332"/>
          </a:xfrm>
          <a:prstGeom prst="rect">
            <a:avLst/>
          </a:prstGeom>
          <a:noFill/>
          <a:ln>
            <a:noFill/>
          </a:ln>
        </p:spPr>
        <p:txBody>
          <a:bodyPr wrap="square" rtlCol="0">
            <a:spAutoFit/>
          </a:bodyPr>
          <a:lstStyle/>
          <a:p>
            <a:pPr algn="ctr"/>
            <a:r>
              <a:rPr lang="en-US" dirty="0">
                <a:solidFill>
                  <a:schemeClr val="accent2"/>
                </a:solidFill>
              </a:rPr>
              <a:t>CO</a:t>
            </a:r>
          </a:p>
        </p:txBody>
      </p:sp>
      <p:cxnSp>
        <p:nvCxnSpPr>
          <p:cNvPr id="158" name="Straight Connector 157">
            <a:extLst>
              <a:ext uri="{FF2B5EF4-FFF2-40B4-BE49-F238E27FC236}">
                <a16:creationId xmlns:a16="http://schemas.microsoft.com/office/drawing/2014/main" id="{D1042991-FAB4-1DFA-4771-834FEB4D878C}"/>
              </a:ext>
            </a:extLst>
          </p:cNvPr>
          <p:cNvCxnSpPr>
            <a:cxnSpLocks/>
          </p:cNvCxnSpPr>
          <p:nvPr/>
        </p:nvCxnSpPr>
        <p:spPr>
          <a:xfrm>
            <a:off x="10332454" y="5054600"/>
            <a:ext cx="441876" cy="250446"/>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FE78D1B8-2A16-7562-0BA9-1FE54FA22359}"/>
              </a:ext>
            </a:extLst>
          </p:cNvPr>
          <p:cNvCxnSpPr>
            <a:cxnSpLocks/>
            <a:stCxn id="163" idx="2"/>
            <a:endCxn id="161" idx="0"/>
          </p:cNvCxnSpPr>
          <p:nvPr/>
        </p:nvCxnSpPr>
        <p:spPr>
          <a:xfrm flipH="1">
            <a:off x="9530587" y="5829234"/>
            <a:ext cx="546206" cy="176226"/>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7A613A2F-77F5-D0A8-AA4D-D8B30E33EC6F}"/>
              </a:ext>
            </a:extLst>
          </p:cNvPr>
          <p:cNvCxnSpPr>
            <a:cxnSpLocks/>
            <a:stCxn id="163" idx="2"/>
            <a:endCxn id="149" idx="0"/>
          </p:cNvCxnSpPr>
          <p:nvPr/>
        </p:nvCxnSpPr>
        <p:spPr>
          <a:xfrm>
            <a:off x="10076793" y="5829234"/>
            <a:ext cx="652722" cy="170043"/>
          </a:xfrm>
          <a:prstGeom prst="line">
            <a:avLst/>
          </a:prstGeom>
        </p:spPr>
        <p:style>
          <a:lnRef idx="1">
            <a:schemeClr val="dk1"/>
          </a:lnRef>
          <a:fillRef idx="0">
            <a:schemeClr val="dk1"/>
          </a:fillRef>
          <a:effectRef idx="0">
            <a:schemeClr val="dk1"/>
          </a:effectRef>
          <a:fontRef idx="minor">
            <a:schemeClr val="tx1"/>
          </a:fontRef>
        </p:style>
      </p:cxnSp>
      <p:sp>
        <p:nvSpPr>
          <p:cNvPr id="161" name="TextBox 160">
            <a:extLst>
              <a:ext uri="{FF2B5EF4-FFF2-40B4-BE49-F238E27FC236}">
                <a16:creationId xmlns:a16="http://schemas.microsoft.com/office/drawing/2014/main" id="{478EBB60-0DDD-2CA6-8C47-482F5D0B45B4}"/>
              </a:ext>
            </a:extLst>
          </p:cNvPr>
          <p:cNvSpPr txBox="1"/>
          <p:nvPr/>
        </p:nvSpPr>
        <p:spPr>
          <a:xfrm>
            <a:off x="9111327" y="6005460"/>
            <a:ext cx="838520" cy="341722"/>
          </a:xfrm>
          <a:prstGeom prst="rect">
            <a:avLst/>
          </a:prstGeom>
          <a:noFill/>
          <a:ln>
            <a:noFill/>
          </a:ln>
        </p:spPr>
        <p:txBody>
          <a:bodyPr wrap="square" rtlCol="0">
            <a:spAutoFit/>
          </a:bodyPr>
          <a:lstStyle/>
          <a:p>
            <a:pPr algn="ctr"/>
            <a:r>
              <a:rPr lang="en-US" sz="1600" dirty="0"/>
              <a:t>preload</a:t>
            </a:r>
          </a:p>
        </p:txBody>
      </p:sp>
      <p:cxnSp>
        <p:nvCxnSpPr>
          <p:cNvPr id="162" name="Straight Connector 161">
            <a:extLst>
              <a:ext uri="{FF2B5EF4-FFF2-40B4-BE49-F238E27FC236}">
                <a16:creationId xmlns:a16="http://schemas.microsoft.com/office/drawing/2014/main" id="{5B783339-923C-AEB1-0F34-CAC7E34D6A60}"/>
              </a:ext>
            </a:extLst>
          </p:cNvPr>
          <p:cNvCxnSpPr>
            <a:cxnSpLocks/>
            <a:endCxn id="163" idx="0"/>
          </p:cNvCxnSpPr>
          <p:nvPr/>
        </p:nvCxnSpPr>
        <p:spPr>
          <a:xfrm flipH="1">
            <a:off x="10076793" y="5054600"/>
            <a:ext cx="17943" cy="432912"/>
          </a:xfrm>
          <a:prstGeom prst="line">
            <a:avLst/>
          </a:prstGeom>
        </p:spPr>
        <p:style>
          <a:lnRef idx="1">
            <a:schemeClr val="dk1"/>
          </a:lnRef>
          <a:fillRef idx="0">
            <a:schemeClr val="dk1"/>
          </a:fillRef>
          <a:effectRef idx="0">
            <a:schemeClr val="dk1"/>
          </a:effectRef>
          <a:fontRef idx="minor">
            <a:schemeClr val="tx1"/>
          </a:fontRef>
        </p:style>
      </p:cxnSp>
      <p:sp>
        <p:nvSpPr>
          <p:cNvPr id="163" name="TextBox 162">
            <a:extLst>
              <a:ext uri="{FF2B5EF4-FFF2-40B4-BE49-F238E27FC236}">
                <a16:creationId xmlns:a16="http://schemas.microsoft.com/office/drawing/2014/main" id="{0898C27F-1450-16B8-FBBA-F5B4D27400B6}"/>
              </a:ext>
            </a:extLst>
          </p:cNvPr>
          <p:cNvSpPr txBox="1"/>
          <p:nvPr/>
        </p:nvSpPr>
        <p:spPr>
          <a:xfrm>
            <a:off x="9657533" y="5487512"/>
            <a:ext cx="838520" cy="341722"/>
          </a:xfrm>
          <a:prstGeom prst="rect">
            <a:avLst/>
          </a:prstGeom>
          <a:noFill/>
          <a:ln>
            <a:noFill/>
          </a:ln>
        </p:spPr>
        <p:txBody>
          <a:bodyPr wrap="square" rtlCol="0">
            <a:spAutoFit/>
          </a:bodyPr>
          <a:lstStyle/>
          <a:p>
            <a:pPr algn="ctr"/>
            <a:r>
              <a:rPr lang="en-US" sz="1600" dirty="0"/>
              <a:t>SV</a:t>
            </a:r>
          </a:p>
        </p:txBody>
      </p:sp>
      <p:sp>
        <p:nvSpPr>
          <p:cNvPr id="173" name="Arrow: Down 172">
            <a:extLst>
              <a:ext uri="{FF2B5EF4-FFF2-40B4-BE49-F238E27FC236}">
                <a16:creationId xmlns:a16="http://schemas.microsoft.com/office/drawing/2014/main" id="{A392B356-AB84-00E1-F29B-5E02A655BA28}"/>
              </a:ext>
            </a:extLst>
          </p:cNvPr>
          <p:cNvSpPr/>
          <p:nvPr/>
        </p:nvSpPr>
        <p:spPr>
          <a:xfrm>
            <a:off x="9359259" y="137948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7" name="Picture 176">
            <a:extLst>
              <a:ext uri="{FF2B5EF4-FFF2-40B4-BE49-F238E27FC236}">
                <a16:creationId xmlns:a16="http://schemas.microsoft.com/office/drawing/2014/main" id="{AF89438B-1958-E1EB-DA35-3F95E90FD5DB}"/>
              </a:ext>
            </a:extLst>
          </p:cNvPr>
          <p:cNvPicPr>
            <a:picLocks noChangeAspect="1"/>
          </p:cNvPicPr>
          <p:nvPr/>
        </p:nvPicPr>
        <p:blipFill rotWithShape="1">
          <a:blip r:embed="rId4">
            <a:extLst>
              <a:ext uri="{28A0092B-C50C-407E-A947-70E740481C1C}">
                <a14:useLocalDpi xmlns:a14="http://schemas.microsoft.com/office/drawing/2010/main" val="0"/>
              </a:ext>
            </a:extLst>
          </a:blip>
          <a:srcRect l="22027" t="24422" r="59669" b="51171"/>
          <a:stretch/>
        </p:blipFill>
        <p:spPr>
          <a:xfrm flipH="1">
            <a:off x="10566180" y="2070359"/>
            <a:ext cx="801313" cy="769901"/>
          </a:xfrm>
          <a:prstGeom prst="rect">
            <a:avLst/>
          </a:prstGeom>
        </p:spPr>
      </p:pic>
      <p:sp>
        <p:nvSpPr>
          <p:cNvPr id="199" name="Oval 198">
            <a:extLst>
              <a:ext uri="{FF2B5EF4-FFF2-40B4-BE49-F238E27FC236}">
                <a16:creationId xmlns:a16="http://schemas.microsoft.com/office/drawing/2014/main" id="{CA77C1F4-FC4D-4CB8-585D-B8F09196CCD9}"/>
              </a:ext>
            </a:extLst>
          </p:cNvPr>
          <p:cNvSpPr/>
          <p:nvPr/>
        </p:nvSpPr>
        <p:spPr>
          <a:xfrm>
            <a:off x="9592070" y="2767136"/>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TextBox 199">
            <a:extLst>
              <a:ext uri="{FF2B5EF4-FFF2-40B4-BE49-F238E27FC236}">
                <a16:creationId xmlns:a16="http://schemas.microsoft.com/office/drawing/2014/main" id="{EF592E47-50D6-9501-5FE5-CCBE37B3E76D}"/>
              </a:ext>
            </a:extLst>
          </p:cNvPr>
          <p:cNvSpPr txBox="1"/>
          <p:nvPr/>
        </p:nvSpPr>
        <p:spPr>
          <a:xfrm flipH="1">
            <a:off x="8370459" y="2684064"/>
            <a:ext cx="1246455" cy="307777"/>
          </a:xfrm>
          <a:prstGeom prst="rect">
            <a:avLst/>
          </a:prstGeom>
          <a:noFill/>
        </p:spPr>
        <p:txBody>
          <a:bodyPr wrap="square" rtlCol="0">
            <a:spAutoFit/>
          </a:bodyPr>
          <a:lstStyle/>
          <a:p>
            <a:pPr algn="ctr"/>
            <a:r>
              <a:rPr lang="en-US" sz="1400" dirty="0"/>
              <a:t>Carotid </a:t>
            </a:r>
            <a:r>
              <a:rPr lang="en-US" sz="1400" dirty="0" err="1"/>
              <a:t>baro</a:t>
            </a:r>
            <a:r>
              <a:rPr lang="en-US" sz="1400" dirty="0"/>
              <a:t>-R</a:t>
            </a:r>
          </a:p>
        </p:txBody>
      </p:sp>
      <p:sp>
        <p:nvSpPr>
          <p:cNvPr id="203" name="Oval 202">
            <a:extLst>
              <a:ext uri="{FF2B5EF4-FFF2-40B4-BE49-F238E27FC236}">
                <a16:creationId xmlns:a16="http://schemas.microsoft.com/office/drawing/2014/main" id="{051DA941-5F65-1DB7-9970-58F5F4D2C869}"/>
              </a:ext>
            </a:extLst>
          </p:cNvPr>
          <p:cNvSpPr/>
          <p:nvPr/>
        </p:nvSpPr>
        <p:spPr>
          <a:xfrm>
            <a:off x="10183684" y="2768520"/>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Arrow Connector 204">
            <a:extLst>
              <a:ext uri="{FF2B5EF4-FFF2-40B4-BE49-F238E27FC236}">
                <a16:creationId xmlns:a16="http://schemas.microsoft.com/office/drawing/2014/main" id="{BCF7DF99-991D-1AFF-B2DF-15845633233D}"/>
              </a:ext>
            </a:extLst>
          </p:cNvPr>
          <p:cNvCxnSpPr>
            <a:cxnSpLocks/>
          </p:cNvCxnSpPr>
          <p:nvPr/>
        </p:nvCxnSpPr>
        <p:spPr>
          <a:xfrm flipV="1">
            <a:off x="10368610" y="2620527"/>
            <a:ext cx="232033" cy="19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F7AA0BA-D306-25A4-0C5D-39805B2AD9E3}"/>
              </a:ext>
            </a:extLst>
          </p:cNvPr>
          <p:cNvCxnSpPr>
            <a:cxnSpLocks/>
          </p:cNvCxnSpPr>
          <p:nvPr/>
        </p:nvCxnSpPr>
        <p:spPr>
          <a:xfrm flipH="1" flipV="1">
            <a:off x="11206873" y="2544477"/>
            <a:ext cx="749143" cy="365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F904CB-765B-6A96-E319-F781F2B457A5}"/>
              </a:ext>
            </a:extLst>
          </p:cNvPr>
          <p:cNvCxnSpPr>
            <a:cxnSpLocks/>
          </p:cNvCxnSpPr>
          <p:nvPr/>
        </p:nvCxnSpPr>
        <p:spPr>
          <a:xfrm flipH="1" flipV="1">
            <a:off x="11956016" y="2544479"/>
            <a:ext cx="9145" cy="287447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12" name="Group 211">
            <a:extLst>
              <a:ext uri="{FF2B5EF4-FFF2-40B4-BE49-F238E27FC236}">
                <a16:creationId xmlns:a16="http://schemas.microsoft.com/office/drawing/2014/main" id="{FCBCF215-4A91-9202-CBF5-C9049C769588}"/>
              </a:ext>
            </a:extLst>
          </p:cNvPr>
          <p:cNvGrpSpPr/>
          <p:nvPr/>
        </p:nvGrpSpPr>
        <p:grpSpPr>
          <a:xfrm>
            <a:off x="11268677" y="3638186"/>
            <a:ext cx="688046" cy="180109"/>
            <a:chOff x="5075956" y="3857461"/>
            <a:chExt cx="2666038" cy="352960"/>
          </a:xfrm>
        </p:grpSpPr>
        <p:cxnSp>
          <p:nvCxnSpPr>
            <p:cNvPr id="213" name="Straight Connector 212">
              <a:extLst>
                <a:ext uri="{FF2B5EF4-FFF2-40B4-BE49-F238E27FC236}">
                  <a16:creationId xmlns:a16="http://schemas.microsoft.com/office/drawing/2014/main" id="{F2D0D98C-F1CE-D2A0-24BE-525BD90A651E}"/>
                </a:ext>
              </a:extLst>
            </p:cNvPr>
            <p:cNvCxnSpPr>
              <a:cxnSpLocks/>
            </p:cNvCxnSpPr>
            <p:nvPr/>
          </p:nvCxnSpPr>
          <p:spPr>
            <a:xfrm>
              <a:off x="5313438" y="4035578"/>
              <a:ext cx="2428556"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9BE6641-4097-0C18-6E2F-43E672A96424}"/>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CF379D5-1D6B-D178-3A33-65EB166BEE53}"/>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17" name="Group 216">
            <a:extLst>
              <a:ext uri="{FF2B5EF4-FFF2-40B4-BE49-F238E27FC236}">
                <a16:creationId xmlns:a16="http://schemas.microsoft.com/office/drawing/2014/main" id="{78CBDDC5-A865-C34F-0FA9-17CC83BE96EC}"/>
              </a:ext>
            </a:extLst>
          </p:cNvPr>
          <p:cNvGrpSpPr/>
          <p:nvPr/>
        </p:nvGrpSpPr>
        <p:grpSpPr>
          <a:xfrm>
            <a:off x="11288544" y="4577780"/>
            <a:ext cx="676617" cy="180109"/>
            <a:chOff x="5075956" y="3857461"/>
            <a:chExt cx="2621753" cy="352960"/>
          </a:xfrm>
        </p:grpSpPr>
        <p:cxnSp>
          <p:nvCxnSpPr>
            <p:cNvPr id="218" name="Straight Connector 217">
              <a:extLst>
                <a:ext uri="{FF2B5EF4-FFF2-40B4-BE49-F238E27FC236}">
                  <a16:creationId xmlns:a16="http://schemas.microsoft.com/office/drawing/2014/main" id="{9C1A255A-8A87-3E77-3983-EECD53D2511E}"/>
                </a:ext>
              </a:extLst>
            </p:cNvPr>
            <p:cNvCxnSpPr>
              <a:cxnSpLocks/>
            </p:cNvCxnSpPr>
            <p:nvPr/>
          </p:nvCxnSpPr>
          <p:spPr>
            <a:xfrm>
              <a:off x="5313438" y="4035578"/>
              <a:ext cx="238427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F6D6DC5-7D4F-0BB0-4B98-DA6B95277CD1}"/>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78B1416-9EE4-CD7D-3824-F8EBE065A749}"/>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 name="Obj 2">
            <a:hlinkClick r:id="rId5" action="ppaction://hlinksldjump"/>
            <a:extLst>
              <a:ext uri="{FF2B5EF4-FFF2-40B4-BE49-F238E27FC236}">
                <a16:creationId xmlns:a16="http://schemas.microsoft.com/office/drawing/2014/main" id="{FE0AD4B2-DB2A-475D-35A3-5322A1C66E4D}"/>
              </a:ext>
            </a:extLst>
          </p:cNvPr>
          <p:cNvSpPr/>
          <p:nvPr/>
        </p:nvSpPr>
        <p:spPr>
          <a:xfrm>
            <a:off x="17680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4" name="Graphic 3" descr="Cursor with solid fill">
            <a:extLst>
              <a:ext uri="{FF2B5EF4-FFF2-40B4-BE49-F238E27FC236}">
                <a16:creationId xmlns:a16="http://schemas.microsoft.com/office/drawing/2014/main" id="{9CEB472A-4FF6-FFF9-33E8-867DC5D52F9C}"/>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454521"/>
            <a:ext cx="274320" cy="274320"/>
          </a:xfrm>
          <a:prstGeom prst="rect">
            <a:avLst/>
          </a:prstGeom>
        </p:spPr>
      </p:pic>
      <p:sp>
        <p:nvSpPr>
          <p:cNvPr id="5" name="Obj 2">
            <a:hlinkClick r:id="rId8" action="ppaction://hlinksldjump"/>
            <a:extLst>
              <a:ext uri="{FF2B5EF4-FFF2-40B4-BE49-F238E27FC236}">
                <a16:creationId xmlns:a16="http://schemas.microsoft.com/office/drawing/2014/main" id="{E7D5C796-86E7-D8D3-B9CF-D6AAA78D8B3F}"/>
              </a:ext>
            </a:extLst>
          </p:cNvPr>
          <p:cNvSpPr/>
          <p:nvPr/>
        </p:nvSpPr>
        <p:spPr>
          <a:xfrm>
            <a:off x="176803" y="773505"/>
            <a:ext cx="1867983"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Classification</a:t>
            </a:r>
          </a:p>
        </p:txBody>
      </p:sp>
      <p:pic>
        <p:nvPicPr>
          <p:cNvPr id="6" name="Graphic 5" descr="Cursor with solid fill">
            <a:extLst>
              <a:ext uri="{FF2B5EF4-FFF2-40B4-BE49-F238E27FC236}">
                <a16:creationId xmlns:a16="http://schemas.microsoft.com/office/drawing/2014/main" id="{04DE4C49-BB4D-EF20-316A-0269E6BAE217}"/>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1021974"/>
            <a:ext cx="274320" cy="274320"/>
          </a:xfrm>
          <a:prstGeom prst="rect">
            <a:avLst/>
          </a:prstGeom>
        </p:spPr>
      </p:pic>
      <p:sp>
        <p:nvSpPr>
          <p:cNvPr id="7" name="Obj 2">
            <a:hlinkClick r:id="rId8" action="ppaction://hlinksldjump"/>
            <a:extLst>
              <a:ext uri="{FF2B5EF4-FFF2-40B4-BE49-F238E27FC236}">
                <a16:creationId xmlns:a16="http://schemas.microsoft.com/office/drawing/2014/main" id="{0ACFD3A4-3179-280C-DEFE-C9F2609B1095}"/>
              </a:ext>
            </a:extLst>
          </p:cNvPr>
          <p:cNvSpPr/>
          <p:nvPr/>
        </p:nvSpPr>
        <p:spPr>
          <a:xfrm>
            <a:off x="451413" y="1343662"/>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Orthostatic</a:t>
            </a:r>
          </a:p>
        </p:txBody>
      </p:sp>
      <p:pic>
        <p:nvPicPr>
          <p:cNvPr id="8" name="Graphic 7" descr="Cursor with solid fill">
            <a:extLst>
              <a:ext uri="{FF2B5EF4-FFF2-40B4-BE49-F238E27FC236}">
                <a16:creationId xmlns:a16="http://schemas.microsoft.com/office/drawing/2014/main" id="{6B6966EB-9681-82D0-3EFF-763C1B15E927}"/>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1593107"/>
            <a:ext cx="274320" cy="274320"/>
          </a:xfrm>
          <a:prstGeom prst="rect">
            <a:avLst/>
          </a:prstGeom>
        </p:spPr>
      </p:pic>
      <p:sp>
        <p:nvSpPr>
          <p:cNvPr id="10" name="Obj 2">
            <a:hlinkClick r:id="rId9" action="ppaction://hlinksldjump"/>
            <a:extLst>
              <a:ext uri="{FF2B5EF4-FFF2-40B4-BE49-F238E27FC236}">
                <a16:creationId xmlns:a16="http://schemas.microsoft.com/office/drawing/2014/main" id="{769C0B9B-1716-8FBF-1D32-576F7DAD5A5B}"/>
              </a:ext>
            </a:extLst>
          </p:cNvPr>
          <p:cNvSpPr/>
          <p:nvPr/>
        </p:nvSpPr>
        <p:spPr>
          <a:xfrm>
            <a:off x="451413" y="1913819"/>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Reflex</a:t>
            </a:r>
          </a:p>
        </p:txBody>
      </p:sp>
      <p:pic>
        <p:nvPicPr>
          <p:cNvPr id="11" name="Graphic 10" descr="Cursor with solid fill">
            <a:extLst>
              <a:ext uri="{FF2B5EF4-FFF2-40B4-BE49-F238E27FC236}">
                <a16:creationId xmlns:a16="http://schemas.microsoft.com/office/drawing/2014/main" id="{648C50E7-1153-DB1B-A191-5DBB2916E634}"/>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2170258"/>
            <a:ext cx="274320" cy="274320"/>
          </a:xfrm>
          <a:prstGeom prst="rect">
            <a:avLst/>
          </a:prstGeom>
        </p:spPr>
      </p:pic>
      <p:sp>
        <p:nvSpPr>
          <p:cNvPr id="26" name="Obj 2">
            <a:hlinkClick r:id="rId10" action="ppaction://hlinksldjump"/>
            <a:extLst>
              <a:ext uri="{FF2B5EF4-FFF2-40B4-BE49-F238E27FC236}">
                <a16:creationId xmlns:a16="http://schemas.microsoft.com/office/drawing/2014/main" id="{8CBA6D59-A3D2-C59D-7CE3-13410552C1D5}"/>
              </a:ext>
            </a:extLst>
          </p:cNvPr>
          <p:cNvSpPr/>
          <p:nvPr/>
        </p:nvSpPr>
        <p:spPr>
          <a:xfrm>
            <a:off x="451411" y="2483976"/>
            <a:ext cx="1593375"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Cardiac</a:t>
            </a:r>
          </a:p>
        </p:txBody>
      </p:sp>
      <p:pic>
        <p:nvPicPr>
          <p:cNvPr id="27" name="Graphic 26" descr="Cursor with solid fill">
            <a:extLst>
              <a:ext uri="{FF2B5EF4-FFF2-40B4-BE49-F238E27FC236}">
                <a16:creationId xmlns:a16="http://schemas.microsoft.com/office/drawing/2014/main" id="{FDA4B39C-1B36-65EF-B43E-7327046469E5}"/>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2742358"/>
            <a:ext cx="274320" cy="274320"/>
          </a:xfrm>
          <a:prstGeom prst="rect">
            <a:avLst/>
          </a:prstGeom>
        </p:spPr>
      </p:pic>
      <p:sp>
        <p:nvSpPr>
          <p:cNvPr id="28" name="Obj 2">
            <a:hlinkClick r:id="rId11" action="ppaction://hlinksldjump"/>
            <a:extLst>
              <a:ext uri="{FF2B5EF4-FFF2-40B4-BE49-F238E27FC236}">
                <a16:creationId xmlns:a16="http://schemas.microsoft.com/office/drawing/2014/main" id="{E4F4C03F-A6E0-8E59-A987-EF94CD43F9DF}"/>
              </a:ext>
            </a:extLst>
          </p:cNvPr>
          <p:cNvSpPr/>
          <p:nvPr/>
        </p:nvSpPr>
        <p:spPr>
          <a:xfrm>
            <a:off x="176803" y="3054133"/>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pic>
        <p:nvPicPr>
          <p:cNvPr id="29" name="Graphic 28" descr="Cursor with solid fill">
            <a:extLst>
              <a:ext uri="{FF2B5EF4-FFF2-40B4-BE49-F238E27FC236}">
                <a16:creationId xmlns:a16="http://schemas.microsoft.com/office/drawing/2014/main" id="{221969F0-FF7E-0D98-FC73-D80C056631E3}"/>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3304330"/>
            <a:ext cx="274320" cy="274320"/>
          </a:xfrm>
          <a:prstGeom prst="rect">
            <a:avLst/>
          </a:prstGeom>
        </p:spPr>
      </p:pic>
      <p:cxnSp>
        <p:nvCxnSpPr>
          <p:cNvPr id="34" name="Connector: Elbow 33">
            <a:extLst>
              <a:ext uri="{FF2B5EF4-FFF2-40B4-BE49-F238E27FC236}">
                <a16:creationId xmlns:a16="http://schemas.microsoft.com/office/drawing/2014/main" id="{C111B8F7-F156-3F3C-A647-08DBA2E9E503}"/>
              </a:ext>
            </a:extLst>
          </p:cNvPr>
          <p:cNvCxnSpPr/>
          <p:nvPr/>
        </p:nvCxnSpPr>
        <p:spPr>
          <a:xfrm rot="16200000" flipH="1">
            <a:off x="169215" y="1251399"/>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EE1295-AFA3-5238-F598-65F73F35130D}"/>
              </a:ext>
            </a:extLst>
          </p:cNvPr>
          <p:cNvCxnSpPr>
            <a:cxnSpLocks/>
          </p:cNvCxnSpPr>
          <p:nvPr/>
        </p:nvCxnSpPr>
        <p:spPr>
          <a:xfrm rot="16200000" flipH="1">
            <a:off x="-115864" y="1536477"/>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7D1238B-1CE4-F671-4B15-5DE0AEE7159C}"/>
              </a:ext>
            </a:extLst>
          </p:cNvPr>
          <p:cNvCxnSpPr>
            <a:cxnSpLocks/>
            <a:endCxn id="26" idx="1"/>
          </p:cNvCxnSpPr>
          <p:nvPr/>
        </p:nvCxnSpPr>
        <p:spPr>
          <a:xfrm rot="16200000" flipH="1">
            <a:off x="-378611" y="1844912"/>
            <a:ext cx="1474850" cy="18519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B: definition of OH">
            <a:extLst>
              <a:ext uri="{FF2B5EF4-FFF2-40B4-BE49-F238E27FC236}">
                <a16:creationId xmlns:a16="http://schemas.microsoft.com/office/drawing/2014/main" id="{9DE4DB83-F860-A4C8-C2EB-169F31C600CF}"/>
              </a:ext>
            </a:extLst>
          </p:cNvPr>
          <p:cNvSpPr txBox="1"/>
          <p:nvPr/>
        </p:nvSpPr>
        <p:spPr>
          <a:xfrm>
            <a:off x="4595850" y="1107507"/>
            <a:ext cx="3327593" cy="923330"/>
          </a:xfrm>
          <a:prstGeom prst="rect">
            <a:avLst/>
          </a:prstGeom>
          <a:noFill/>
        </p:spPr>
        <p:txBody>
          <a:bodyPr wrap="square" rtlCol="0">
            <a:spAutoFit/>
          </a:bodyPr>
          <a:lstStyle/>
          <a:p>
            <a:r>
              <a:rPr lang="en-US" i="1" dirty="0"/>
              <a:t>Inappropriate</a:t>
            </a:r>
            <a:r>
              <a:rPr lang="en-US" dirty="0"/>
              <a:t> autonomic response to a physiologic stimulus or trigger</a:t>
            </a:r>
          </a:p>
        </p:txBody>
      </p:sp>
      <p:sp>
        <p:nvSpPr>
          <p:cNvPr id="40" name="CPP">
            <a:extLst>
              <a:ext uri="{FF2B5EF4-FFF2-40B4-BE49-F238E27FC236}">
                <a16:creationId xmlns:a16="http://schemas.microsoft.com/office/drawing/2014/main" id="{2C182868-B081-AB73-ACBD-F8A4475BECAF}"/>
              </a:ext>
            </a:extLst>
          </p:cNvPr>
          <p:cNvSpPr/>
          <p:nvPr/>
        </p:nvSpPr>
        <p:spPr>
          <a:xfrm>
            <a:off x="3024199" y="1327369"/>
            <a:ext cx="1397329"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Definition</a:t>
            </a:r>
          </a:p>
        </p:txBody>
      </p:sp>
      <p:sp>
        <p:nvSpPr>
          <p:cNvPr id="41" name="Definition">
            <a:extLst>
              <a:ext uri="{FF2B5EF4-FFF2-40B4-BE49-F238E27FC236}">
                <a16:creationId xmlns:a16="http://schemas.microsoft.com/office/drawing/2014/main" id="{A9FA8F8A-C1DC-3DA8-3A79-9843F3153834}"/>
              </a:ext>
            </a:extLst>
          </p:cNvPr>
          <p:cNvSpPr/>
          <p:nvPr/>
        </p:nvSpPr>
        <p:spPr>
          <a:xfrm>
            <a:off x="3020773" y="1327215"/>
            <a:ext cx="1397329"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42" name="Graphic 41" descr="Cursor with solid fill">
            <a:extLst>
              <a:ext uri="{FF2B5EF4-FFF2-40B4-BE49-F238E27FC236}">
                <a16:creationId xmlns:a16="http://schemas.microsoft.com/office/drawing/2014/main" id="{0434FFF4-9478-F0B3-C0E0-35537F1F1AF2}"/>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0942" y="1645839"/>
            <a:ext cx="274320" cy="274320"/>
          </a:xfrm>
          <a:prstGeom prst="rect">
            <a:avLst/>
          </a:prstGeom>
        </p:spPr>
      </p:pic>
      <p:sp>
        <p:nvSpPr>
          <p:cNvPr id="43" name="CPP">
            <a:extLst>
              <a:ext uri="{FF2B5EF4-FFF2-40B4-BE49-F238E27FC236}">
                <a16:creationId xmlns:a16="http://schemas.microsoft.com/office/drawing/2014/main" id="{A31FB382-E193-44E2-3C77-5E6030F1B93B}"/>
              </a:ext>
            </a:extLst>
          </p:cNvPr>
          <p:cNvSpPr/>
          <p:nvPr/>
        </p:nvSpPr>
        <p:spPr>
          <a:xfrm>
            <a:off x="2822307" y="4377629"/>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Cardio-inhibitory</a:t>
            </a:r>
          </a:p>
        </p:txBody>
      </p:sp>
      <p:sp>
        <p:nvSpPr>
          <p:cNvPr id="44" name="Cardioinhibitory">
            <a:extLst>
              <a:ext uri="{FF2B5EF4-FFF2-40B4-BE49-F238E27FC236}">
                <a16:creationId xmlns:a16="http://schemas.microsoft.com/office/drawing/2014/main" id="{0BB3BCEB-5046-22A3-4EFE-967BC0F69996}"/>
              </a:ext>
            </a:extLst>
          </p:cNvPr>
          <p:cNvSpPr/>
          <p:nvPr/>
        </p:nvSpPr>
        <p:spPr>
          <a:xfrm>
            <a:off x="2822307" y="4377629"/>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Cardio-inhibitory</a:t>
            </a:r>
          </a:p>
        </p:txBody>
      </p:sp>
      <p:pic>
        <p:nvPicPr>
          <p:cNvPr id="45" name="Graphic 44" descr="Cursor with solid fill">
            <a:extLst>
              <a:ext uri="{FF2B5EF4-FFF2-40B4-BE49-F238E27FC236}">
                <a16:creationId xmlns:a16="http://schemas.microsoft.com/office/drawing/2014/main" id="{E026FE85-9FEF-8533-E592-0D988A01353B}"/>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8525" y="4867463"/>
            <a:ext cx="274320" cy="274320"/>
          </a:xfrm>
          <a:prstGeom prst="rect">
            <a:avLst/>
          </a:prstGeom>
        </p:spPr>
      </p:pic>
      <p:sp>
        <p:nvSpPr>
          <p:cNvPr id="46" name="TB: definition of OH">
            <a:extLst>
              <a:ext uri="{FF2B5EF4-FFF2-40B4-BE49-F238E27FC236}">
                <a16:creationId xmlns:a16="http://schemas.microsoft.com/office/drawing/2014/main" id="{9C637ADB-3E36-B33E-6588-F5065A780E1A}"/>
              </a:ext>
            </a:extLst>
          </p:cNvPr>
          <p:cNvSpPr txBox="1"/>
          <p:nvPr/>
        </p:nvSpPr>
        <p:spPr>
          <a:xfrm>
            <a:off x="3127940" y="3962896"/>
            <a:ext cx="3327593" cy="369332"/>
          </a:xfrm>
          <a:prstGeom prst="rect">
            <a:avLst/>
          </a:prstGeom>
          <a:noFill/>
        </p:spPr>
        <p:txBody>
          <a:bodyPr wrap="square" rtlCol="0">
            <a:spAutoFit/>
          </a:bodyPr>
          <a:lstStyle/>
          <a:p>
            <a:r>
              <a:rPr lang="en-US" b="1" dirty="0"/>
              <a:t>Mechanisms of reflex syncope</a:t>
            </a:r>
          </a:p>
        </p:txBody>
      </p:sp>
      <p:sp>
        <p:nvSpPr>
          <p:cNvPr id="49" name="CPP">
            <a:extLst>
              <a:ext uri="{FF2B5EF4-FFF2-40B4-BE49-F238E27FC236}">
                <a16:creationId xmlns:a16="http://schemas.microsoft.com/office/drawing/2014/main" id="{6ED376E4-DD00-298E-8CBD-B4E5309C2B03}"/>
              </a:ext>
            </a:extLst>
          </p:cNvPr>
          <p:cNvSpPr/>
          <p:nvPr/>
        </p:nvSpPr>
        <p:spPr>
          <a:xfrm>
            <a:off x="2822307" y="5327515"/>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Vaso-depressive</a:t>
            </a:r>
          </a:p>
        </p:txBody>
      </p:sp>
      <p:sp>
        <p:nvSpPr>
          <p:cNvPr id="50" name="Vasodepressive">
            <a:extLst>
              <a:ext uri="{FF2B5EF4-FFF2-40B4-BE49-F238E27FC236}">
                <a16:creationId xmlns:a16="http://schemas.microsoft.com/office/drawing/2014/main" id="{7CDE1AEE-F30F-6E4F-E10B-3737EB855F7E}"/>
              </a:ext>
            </a:extLst>
          </p:cNvPr>
          <p:cNvSpPr/>
          <p:nvPr/>
        </p:nvSpPr>
        <p:spPr>
          <a:xfrm>
            <a:off x="2822307" y="5327515"/>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Vaso-depressive</a:t>
            </a:r>
          </a:p>
        </p:txBody>
      </p:sp>
      <p:pic>
        <p:nvPicPr>
          <p:cNvPr id="51" name="Graphic 50" descr="Cursor with solid fill">
            <a:extLst>
              <a:ext uri="{FF2B5EF4-FFF2-40B4-BE49-F238E27FC236}">
                <a16:creationId xmlns:a16="http://schemas.microsoft.com/office/drawing/2014/main" id="{095E9E83-8A4E-631F-DDDF-D9EE52215EEB}"/>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8525" y="5819682"/>
            <a:ext cx="274320" cy="274320"/>
          </a:xfrm>
          <a:prstGeom prst="rect">
            <a:avLst/>
          </a:prstGeom>
        </p:spPr>
      </p:pic>
      <p:sp>
        <p:nvSpPr>
          <p:cNvPr id="54" name="TextBox 53">
            <a:extLst>
              <a:ext uri="{FF2B5EF4-FFF2-40B4-BE49-F238E27FC236}">
                <a16:creationId xmlns:a16="http://schemas.microsoft.com/office/drawing/2014/main" id="{5E3011F2-A784-8DD0-AD3B-95083B454FFC}"/>
              </a:ext>
            </a:extLst>
          </p:cNvPr>
          <p:cNvSpPr txBox="1"/>
          <p:nvPr/>
        </p:nvSpPr>
        <p:spPr>
          <a:xfrm>
            <a:off x="5045803" y="4420405"/>
            <a:ext cx="2100393" cy="584775"/>
          </a:xfrm>
          <a:prstGeom prst="rect">
            <a:avLst/>
          </a:prstGeom>
          <a:noFill/>
        </p:spPr>
        <p:txBody>
          <a:bodyPr wrap="square" rtlCol="0">
            <a:spAutoFit/>
          </a:bodyPr>
          <a:lstStyle/>
          <a:p>
            <a:pPr algn="ctr"/>
            <a:r>
              <a:rPr lang="en-US" sz="1600" dirty="0">
                <a:solidFill>
                  <a:schemeClr val="accent2"/>
                </a:solidFill>
              </a:rPr>
              <a:t>↑↑ vagal tone </a:t>
            </a:r>
            <a:r>
              <a:rPr lang="en-US" sz="1600" dirty="0">
                <a:solidFill>
                  <a:schemeClr val="accent2"/>
                </a:solidFill>
                <a:sym typeface="Wingdings" pitchFamily="2" charset="2"/>
              </a:rPr>
              <a:t> </a:t>
            </a:r>
            <a:r>
              <a:rPr lang="en-US" sz="1600" dirty="0">
                <a:solidFill>
                  <a:schemeClr val="accent2"/>
                </a:solidFill>
              </a:rPr>
              <a:t>↓ HR </a:t>
            </a:r>
            <a:r>
              <a:rPr lang="en-US" sz="1600" dirty="0">
                <a:solidFill>
                  <a:schemeClr val="accent2"/>
                </a:solidFill>
                <a:sym typeface="Wingdings" pitchFamily="2" charset="2"/>
              </a:rPr>
              <a:t> ↓ CO</a:t>
            </a:r>
            <a:endParaRPr lang="en-US" sz="1600" dirty="0">
              <a:solidFill>
                <a:schemeClr val="accent2"/>
              </a:solidFill>
            </a:endParaRPr>
          </a:p>
        </p:txBody>
      </p:sp>
      <p:sp>
        <p:nvSpPr>
          <p:cNvPr id="55" name="TextBox 54">
            <a:extLst>
              <a:ext uri="{FF2B5EF4-FFF2-40B4-BE49-F238E27FC236}">
                <a16:creationId xmlns:a16="http://schemas.microsoft.com/office/drawing/2014/main" id="{0FDB521E-C0B2-28D5-39BA-13303612C35C}"/>
              </a:ext>
            </a:extLst>
          </p:cNvPr>
          <p:cNvSpPr txBox="1"/>
          <p:nvPr/>
        </p:nvSpPr>
        <p:spPr>
          <a:xfrm>
            <a:off x="4909279" y="5359513"/>
            <a:ext cx="2373441" cy="584775"/>
          </a:xfrm>
          <a:prstGeom prst="rect">
            <a:avLst/>
          </a:prstGeom>
          <a:noFill/>
        </p:spPr>
        <p:txBody>
          <a:bodyPr wrap="square" rtlCol="0">
            <a:spAutoFit/>
          </a:bodyPr>
          <a:lstStyle/>
          <a:p>
            <a:pPr algn="ctr"/>
            <a:r>
              <a:rPr lang="en-US" sz="1600" dirty="0"/>
              <a:t>↓ sympathetic tone </a:t>
            </a:r>
            <a:r>
              <a:rPr lang="en-US" sz="1600" dirty="0">
                <a:sym typeface="Wingdings" pitchFamily="2" charset="2"/>
              </a:rPr>
              <a:t> </a:t>
            </a:r>
            <a:r>
              <a:rPr lang="en-US" sz="1600" dirty="0"/>
              <a:t>vasodilatation </a:t>
            </a:r>
            <a:r>
              <a:rPr lang="en-US" sz="1600" dirty="0">
                <a:sym typeface="Wingdings" pitchFamily="2" charset="2"/>
              </a:rPr>
              <a:t> </a:t>
            </a:r>
            <a:r>
              <a:rPr lang="en-US" sz="1600" dirty="0"/>
              <a:t>↓ SVR</a:t>
            </a:r>
          </a:p>
        </p:txBody>
      </p:sp>
      <p:cxnSp>
        <p:nvCxnSpPr>
          <p:cNvPr id="70" name="Straight Connector 69">
            <a:extLst>
              <a:ext uri="{FF2B5EF4-FFF2-40B4-BE49-F238E27FC236}">
                <a16:creationId xmlns:a16="http://schemas.microsoft.com/office/drawing/2014/main" id="{2AC3C48E-1FD3-816B-E34F-758FDFF85938}"/>
              </a:ext>
            </a:extLst>
          </p:cNvPr>
          <p:cNvCxnSpPr>
            <a:cxnSpLocks/>
          </p:cNvCxnSpPr>
          <p:nvPr/>
        </p:nvCxnSpPr>
        <p:spPr>
          <a:xfrm flipH="1" flipV="1">
            <a:off x="11256909" y="2279656"/>
            <a:ext cx="749143" cy="365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71" name="Straight Connector 70">
            <a:extLst>
              <a:ext uri="{FF2B5EF4-FFF2-40B4-BE49-F238E27FC236}">
                <a16:creationId xmlns:a16="http://schemas.microsoft.com/office/drawing/2014/main" id="{01CCEF85-3D46-0BCC-22BC-6AF6FE0D8E06}"/>
              </a:ext>
            </a:extLst>
          </p:cNvPr>
          <p:cNvCxnSpPr>
            <a:cxnSpLocks/>
          </p:cNvCxnSpPr>
          <p:nvPr/>
        </p:nvCxnSpPr>
        <p:spPr>
          <a:xfrm flipV="1">
            <a:off x="12006052" y="2279658"/>
            <a:ext cx="0" cy="2900165"/>
          </a:xfrm>
          <a:prstGeom prst="line">
            <a:avLst/>
          </a:prstGeom>
          <a:ln/>
        </p:spPr>
        <p:style>
          <a:lnRef idx="3">
            <a:schemeClr val="accent2"/>
          </a:lnRef>
          <a:fillRef idx="0">
            <a:schemeClr val="accent2"/>
          </a:fillRef>
          <a:effectRef idx="2">
            <a:schemeClr val="accent2"/>
          </a:effectRef>
          <a:fontRef idx="minor">
            <a:schemeClr val="tx1"/>
          </a:fontRef>
        </p:style>
      </p:cxnSp>
      <p:grpSp>
        <p:nvGrpSpPr>
          <p:cNvPr id="72" name="Group 71">
            <a:extLst>
              <a:ext uri="{FF2B5EF4-FFF2-40B4-BE49-F238E27FC236}">
                <a16:creationId xmlns:a16="http://schemas.microsoft.com/office/drawing/2014/main" id="{627ECAC9-ABEE-833B-405D-F441223EDB0A}"/>
              </a:ext>
            </a:extLst>
          </p:cNvPr>
          <p:cNvGrpSpPr/>
          <p:nvPr/>
        </p:nvGrpSpPr>
        <p:grpSpPr>
          <a:xfrm>
            <a:off x="11277251" y="3420177"/>
            <a:ext cx="728801" cy="180109"/>
            <a:chOff x="5075956" y="3857461"/>
            <a:chExt cx="2823955" cy="352960"/>
          </a:xfrm>
        </p:grpSpPr>
        <p:cxnSp>
          <p:nvCxnSpPr>
            <p:cNvPr id="77" name="Straight Connector 76">
              <a:extLst>
                <a:ext uri="{FF2B5EF4-FFF2-40B4-BE49-F238E27FC236}">
                  <a16:creationId xmlns:a16="http://schemas.microsoft.com/office/drawing/2014/main" id="{342B8E32-76A2-E852-5A0A-46ED4AD928A6}"/>
                </a:ext>
              </a:extLst>
            </p:cNvPr>
            <p:cNvCxnSpPr>
              <a:cxnSpLocks/>
            </p:cNvCxnSpPr>
            <p:nvPr/>
          </p:nvCxnSpPr>
          <p:spPr>
            <a:xfrm>
              <a:off x="5313438" y="4035578"/>
              <a:ext cx="2586473"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78" name="Straight Connector 77">
              <a:extLst>
                <a:ext uri="{FF2B5EF4-FFF2-40B4-BE49-F238E27FC236}">
                  <a16:creationId xmlns:a16="http://schemas.microsoft.com/office/drawing/2014/main" id="{13FF0C29-3EE7-4DBE-B48C-E28972BF4E21}"/>
                </a:ext>
              </a:extLst>
            </p:cNvPr>
            <p:cNvCxnSpPr>
              <a:cxnSpLocks/>
            </p:cNvCxnSpPr>
            <p:nvPr/>
          </p:nvCxnSpPr>
          <p:spPr>
            <a:xfrm flipV="1">
              <a:off x="5113098" y="4027855"/>
              <a:ext cx="236713" cy="182566"/>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79" name="Straight Connector 78">
              <a:extLst>
                <a:ext uri="{FF2B5EF4-FFF2-40B4-BE49-F238E27FC236}">
                  <a16:creationId xmlns:a16="http://schemas.microsoft.com/office/drawing/2014/main" id="{0EF0D455-7D33-2C16-FEFC-6B1CCD49B802}"/>
                </a:ext>
              </a:extLst>
            </p:cNvPr>
            <p:cNvCxnSpPr>
              <a:cxnSpLocks/>
            </p:cNvCxnSpPr>
            <p:nvPr/>
          </p:nvCxnSpPr>
          <p:spPr>
            <a:xfrm>
              <a:off x="5075956" y="3857461"/>
              <a:ext cx="252524" cy="159187"/>
            </a:xfrm>
            <a:prstGeom prst="line">
              <a:avLst/>
            </a:prstGeom>
            <a:ln/>
          </p:spPr>
          <p:style>
            <a:lnRef idx="3">
              <a:schemeClr val="accent2"/>
            </a:lnRef>
            <a:fillRef idx="0">
              <a:schemeClr val="accent2"/>
            </a:fillRef>
            <a:effectRef idx="2">
              <a:schemeClr val="accent2"/>
            </a:effectRef>
            <a:fontRef idx="minor">
              <a:schemeClr val="tx1"/>
            </a:fontRef>
          </p:style>
        </p:cxnSp>
      </p:grpSp>
      <p:grpSp>
        <p:nvGrpSpPr>
          <p:cNvPr id="73" name="Group 72">
            <a:extLst>
              <a:ext uri="{FF2B5EF4-FFF2-40B4-BE49-F238E27FC236}">
                <a16:creationId xmlns:a16="http://schemas.microsoft.com/office/drawing/2014/main" id="{4B808984-8BA9-CDDC-5CE4-A34479B303CC}"/>
              </a:ext>
            </a:extLst>
          </p:cNvPr>
          <p:cNvGrpSpPr/>
          <p:nvPr/>
        </p:nvGrpSpPr>
        <p:grpSpPr>
          <a:xfrm>
            <a:off x="11286837" y="4349753"/>
            <a:ext cx="726653" cy="180109"/>
            <a:chOff x="5075956" y="3857461"/>
            <a:chExt cx="2815632" cy="352960"/>
          </a:xfrm>
        </p:grpSpPr>
        <p:cxnSp>
          <p:nvCxnSpPr>
            <p:cNvPr id="74" name="Straight Connector 73">
              <a:extLst>
                <a:ext uri="{FF2B5EF4-FFF2-40B4-BE49-F238E27FC236}">
                  <a16:creationId xmlns:a16="http://schemas.microsoft.com/office/drawing/2014/main" id="{B223ABDF-3AAE-CA53-E55B-D8616DFAF1DD}"/>
                </a:ext>
              </a:extLst>
            </p:cNvPr>
            <p:cNvCxnSpPr>
              <a:cxnSpLocks/>
            </p:cNvCxnSpPr>
            <p:nvPr/>
          </p:nvCxnSpPr>
          <p:spPr>
            <a:xfrm>
              <a:off x="5313438" y="4035578"/>
              <a:ext cx="2578150" cy="1382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75" name="Straight Connector 74">
              <a:extLst>
                <a:ext uri="{FF2B5EF4-FFF2-40B4-BE49-F238E27FC236}">
                  <a16:creationId xmlns:a16="http://schemas.microsoft.com/office/drawing/2014/main" id="{8BEC8CA1-F52F-C59F-A809-77A748FF95A4}"/>
                </a:ext>
              </a:extLst>
            </p:cNvPr>
            <p:cNvCxnSpPr>
              <a:cxnSpLocks/>
            </p:cNvCxnSpPr>
            <p:nvPr/>
          </p:nvCxnSpPr>
          <p:spPr>
            <a:xfrm flipV="1">
              <a:off x="5113098" y="4027855"/>
              <a:ext cx="236713" cy="182566"/>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76" name="Straight Connector 75">
              <a:extLst>
                <a:ext uri="{FF2B5EF4-FFF2-40B4-BE49-F238E27FC236}">
                  <a16:creationId xmlns:a16="http://schemas.microsoft.com/office/drawing/2014/main" id="{78A432E7-6F1B-9144-FBB5-5F6A10238469}"/>
                </a:ext>
              </a:extLst>
            </p:cNvPr>
            <p:cNvCxnSpPr>
              <a:cxnSpLocks/>
            </p:cNvCxnSpPr>
            <p:nvPr/>
          </p:nvCxnSpPr>
          <p:spPr>
            <a:xfrm>
              <a:off x="5075956" y="3857461"/>
              <a:ext cx="252524" cy="159187"/>
            </a:xfrm>
            <a:prstGeom prst="line">
              <a:avLst/>
            </a:prstGeom>
            <a:ln/>
          </p:spPr>
          <p:style>
            <a:lnRef idx="3">
              <a:schemeClr val="accent2"/>
            </a:lnRef>
            <a:fillRef idx="0">
              <a:schemeClr val="accent2"/>
            </a:fillRef>
            <a:effectRef idx="2">
              <a:schemeClr val="accent2"/>
            </a:effectRef>
            <a:fontRef idx="minor">
              <a:schemeClr val="tx1"/>
            </a:fontRef>
          </p:style>
        </p:cxnSp>
      </p:grpSp>
      <p:sp>
        <p:nvSpPr>
          <p:cNvPr id="80" name="Arrow: Down 79">
            <a:extLst>
              <a:ext uri="{FF2B5EF4-FFF2-40B4-BE49-F238E27FC236}">
                <a16:creationId xmlns:a16="http://schemas.microsoft.com/office/drawing/2014/main" id="{5FCEF9A3-21FC-DAAB-BE51-0B2E2C5D5E8A}"/>
              </a:ext>
            </a:extLst>
          </p:cNvPr>
          <p:cNvSpPr/>
          <p:nvPr/>
        </p:nvSpPr>
        <p:spPr>
          <a:xfrm flipV="1">
            <a:off x="11318575" y="2145244"/>
            <a:ext cx="209568" cy="285123"/>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Arrow: Down 81">
            <a:extLst>
              <a:ext uri="{FF2B5EF4-FFF2-40B4-BE49-F238E27FC236}">
                <a16:creationId xmlns:a16="http://schemas.microsoft.com/office/drawing/2014/main" id="{6ACD28D6-AF18-110B-6526-2A131E30C114}"/>
              </a:ext>
            </a:extLst>
          </p:cNvPr>
          <p:cNvSpPr/>
          <p:nvPr/>
        </p:nvSpPr>
        <p:spPr>
          <a:xfrm>
            <a:off x="10640396" y="5136269"/>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Arrow: Down 171">
            <a:extLst>
              <a:ext uri="{FF2B5EF4-FFF2-40B4-BE49-F238E27FC236}">
                <a16:creationId xmlns:a16="http://schemas.microsoft.com/office/drawing/2014/main" id="{068E8D87-BF4B-E371-D46A-76D8BBCB479D}"/>
              </a:ext>
            </a:extLst>
          </p:cNvPr>
          <p:cNvSpPr/>
          <p:nvPr/>
        </p:nvSpPr>
        <p:spPr>
          <a:xfrm>
            <a:off x="11323301" y="2471396"/>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Arrow: Down 86">
            <a:extLst>
              <a:ext uri="{FF2B5EF4-FFF2-40B4-BE49-F238E27FC236}">
                <a16:creationId xmlns:a16="http://schemas.microsoft.com/office/drawing/2014/main" id="{5625D4B6-8B62-7955-127E-BD57DEED7494}"/>
              </a:ext>
            </a:extLst>
          </p:cNvPr>
          <p:cNvSpPr/>
          <p:nvPr/>
        </p:nvSpPr>
        <p:spPr>
          <a:xfrm>
            <a:off x="10636392" y="3559739"/>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B: definition of OH">
            <a:extLst>
              <a:ext uri="{FF2B5EF4-FFF2-40B4-BE49-F238E27FC236}">
                <a16:creationId xmlns:a16="http://schemas.microsoft.com/office/drawing/2014/main" id="{953873C4-7CE3-C6FA-F486-D96D3F4F8A89}"/>
              </a:ext>
            </a:extLst>
          </p:cNvPr>
          <p:cNvSpPr txBox="1"/>
          <p:nvPr/>
        </p:nvSpPr>
        <p:spPr>
          <a:xfrm>
            <a:off x="4611090" y="2258549"/>
            <a:ext cx="3327593" cy="923330"/>
          </a:xfrm>
          <a:prstGeom prst="rect">
            <a:avLst/>
          </a:prstGeom>
          <a:noFill/>
        </p:spPr>
        <p:txBody>
          <a:bodyPr wrap="square" rtlCol="0">
            <a:spAutoFit/>
          </a:bodyPr>
          <a:lstStyle/>
          <a:p>
            <a:r>
              <a:rPr lang="en-US" dirty="0"/>
              <a:t>Vasovagal</a:t>
            </a:r>
          </a:p>
          <a:p>
            <a:r>
              <a:rPr lang="en-US" dirty="0"/>
              <a:t>Situational</a:t>
            </a:r>
          </a:p>
          <a:p>
            <a:r>
              <a:rPr lang="en-US" dirty="0"/>
              <a:t>Carotid sinus hypersensitivity</a:t>
            </a:r>
          </a:p>
        </p:txBody>
      </p:sp>
      <p:sp>
        <p:nvSpPr>
          <p:cNvPr id="94" name="CPP">
            <a:extLst>
              <a:ext uri="{FF2B5EF4-FFF2-40B4-BE49-F238E27FC236}">
                <a16:creationId xmlns:a16="http://schemas.microsoft.com/office/drawing/2014/main" id="{6D0AD430-313F-AAAD-F3BF-9CF649706DA5}"/>
              </a:ext>
            </a:extLst>
          </p:cNvPr>
          <p:cNvSpPr/>
          <p:nvPr/>
        </p:nvSpPr>
        <p:spPr>
          <a:xfrm>
            <a:off x="3039439" y="2478411"/>
            <a:ext cx="1397329"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Differential</a:t>
            </a:r>
          </a:p>
        </p:txBody>
      </p:sp>
      <p:sp>
        <p:nvSpPr>
          <p:cNvPr id="95" name="DDx">
            <a:extLst>
              <a:ext uri="{FF2B5EF4-FFF2-40B4-BE49-F238E27FC236}">
                <a16:creationId xmlns:a16="http://schemas.microsoft.com/office/drawing/2014/main" id="{9E3C978F-10F3-E939-5AC2-406E672E3E27}"/>
              </a:ext>
            </a:extLst>
          </p:cNvPr>
          <p:cNvSpPr/>
          <p:nvPr/>
        </p:nvSpPr>
        <p:spPr>
          <a:xfrm>
            <a:off x="3036013" y="2478257"/>
            <a:ext cx="1397329"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96" name="Graphic 95" descr="Cursor with solid fill">
            <a:extLst>
              <a:ext uri="{FF2B5EF4-FFF2-40B4-BE49-F238E27FC236}">
                <a16:creationId xmlns:a16="http://schemas.microsoft.com/office/drawing/2014/main" id="{AD60BFA9-DADE-7FCA-DA66-ACE8122F2AED}"/>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96182" y="2796881"/>
            <a:ext cx="274320" cy="274320"/>
          </a:xfrm>
          <a:prstGeom prst="rect">
            <a:avLst/>
          </a:prstGeom>
        </p:spPr>
      </p:pic>
      <p:sp>
        <p:nvSpPr>
          <p:cNvPr id="99" name="TextBox 98">
            <a:extLst>
              <a:ext uri="{FF2B5EF4-FFF2-40B4-BE49-F238E27FC236}">
                <a16:creationId xmlns:a16="http://schemas.microsoft.com/office/drawing/2014/main" id="{A3F588DD-0911-4F17-6497-D4D3C8A22A5A}"/>
              </a:ext>
            </a:extLst>
          </p:cNvPr>
          <p:cNvSpPr txBox="1"/>
          <p:nvPr/>
        </p:nvSpPr>
        <p:spPr>
          <a:xfrm>
            <a:off x="10774330" y="1459501"/>
            <a:ext cx="1466022" cy="523220"/>
          </a:xfrm>
          <a:prstGeom prst="rect">
            <a:avLst/>
          </a:prstGeom>
          <a:noFill/>
        </p:spPr>
        <p:txBody>
          <a:bodyPr wrap="square" rtlCol="0">
            <a:spAutoFit/>
          </a:bodyPr>
          <a:lstStyle/>
          <a:p>
            <a:r>
              <a:rPr lang="en-US" sz="1400" dirty="0">
                <a:solidFill>
                  <a:schemeClr val="accent2"/>
                </a:solidFill>
              </a:rPr>
              <a:t>Parasympathetic</a:t>
            </a:r>
            <a:r>
              <a:rPr lang="en-US" sz="1400" dirty="0"/>
              <a:t> </a:t>
            </a:r>
          </a:p>
          <a:p>
            <a:r>
              <a:rPr lang="en-US" sz="1400" dirty="0">
                <a:solidFill>
                  <a:schemeClr val="accent4"/>
                </a:solidFill>
              </a:rPr>
              <a:t>Sympathetic</a:t>
            </a:r>
          </a:p>
        </p:txBody>
      </p:sp>
      <p:sp>
        <p:nvSpPr>
          <p:cNvPr id="170" name="Arrow: Down 169">
            <a:extLst>
              <a:ext uri="{FF2B5EF4-FFF2-40B4-BE49-F238E27FC236}">
                <a16:creationId xmlns:a16="http://schemas.microsoft.com/office/drawing/2014/main" id="{9CC354EA-B740-5A2C-7F80-8A5BD4023AEB}"/>
              </a:ext>
            </a:extLst>
          </p:cNvPr>
          <p:cNvSpPr/>
          <p:nvPr/>
        </p:nvSpPr>
        <p:spPr>
          <a:xfrm>
            <a:off x="10673684" y="4464564"/>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Arrow: Down 99">
            <a:extLst>
              <a:ext uri="{FF2B5EF4-FFF2-40B4-BE49-F238E27FC236}">
                <a16:creationId xmlns:a16="http://schemas.microsoft.com/office/drawing/2014/main" id="{4F8574D6-6ED9-D5B3-8F79-A94F18BF5D32}"/>
              </a:ext>
            </a:extLst>
          </p:cNvPr>
          <p:cNvSpPr/>
          <p:nvPr/>
        </p:nvSpPr>
        <p:spPr>
          <a:xfrm>
            <a:off x="10595431" y="2927561"/>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 name="Group 102">
            <a:extLst>
              <a:ext uri="{FF2B5EF4-FFF2-40B4-BE49-F238E27FC236}">
                <a16:creationId xmlns:a16="http://schemas.microsoft.com/office/drawing/2014/main" id="{42DAA635-D5A0-FEE0-8E07-93E69AC98373}"/>
              </a:ext>
            </a:extLst>
          </p:cNvPr>
          <p:cNvGrpSpPr/>
          <p:nvPr/>
        </p:nvGrpSpPr>
        <p:grpSpPr>
          <a:xfrm>
            <a:off x="11288907" y="5078357"/>
            <a:ext cx="719033" cy="172489"/>
            <a:chOff x="5105482" y="3872394"/>
            <a:chExt cx="2786106" cy="338027"/>
          </a:xfrm>
        </p:grpSpPr>
        <p:cxnSp>
          <p:nvCxnSpPr>
            <p:cNvPr id="104" name="Straight Connector 103">
              <a:extLst>
                <a:ext uri="{FF2B5EF4-FFF2-40B4-BE49-F238E27FC236}">
                  <a16:creationId xmlns:a16="http://schemas.microsoft.com/office/drawing/2014/main" id="{16C3806B-66B8-0F23-0ACC-123A505C0E54}"/>
                </a:ext>
              </a:extLst>
            </p:cNvPr>
            <p:cNvCxnSpPr>
              <a:cxnSpLocks/>
            </p:cNvCxnSpPr>
            <p:nvPr/>
          </p:nvCxnSpPr>
          <p:spPr>
            <a:xfrm>
              <a:off x="5313438" y="4035578"/>
              <a:ext cx="2578150" cy="1382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105" name="Straight Connector 104">
              <a:extLst>
                <a:ext uri="{FF2B5EF4-FFF2-40B4-BE49-F238E27FC236}">
                  <a16:creationId xmlns:a16="http://schemas.microsoft.com/office/drawing/2014/main" id="{0928DA9D-BB79-94A9-4F55-484F3AB7B932}"/>
                </a:ext>
              </a:extLst>
            </p:cNvPr>
            <p:cNvCxnSpPr>
              <a:cxnSpLocks/>
            </p:cNvCxnSpPr>
            <p:nvPr/>
          </p:nvCxnSpPr>
          <p:spPr>
            <a:xfrm flipV="1">
              <a:off x="5113098" y="4027855"/>
              <a:ext cx="236713" cy="182566"/>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106" name="Straight Connector 105">
              <a:extLst>
                <a:ext uri="{FF2B5EF4-FFF2-40B4-BE49-F238E27FC236}">
                  <a16:creationId xmlns:a16="http://schemas.microsoft.com/office/drawing/2014/main" id="{36BA8687-4B61-7AEF-038C-192CF1869C01}"/>
                </a:ext>
              </a:extLst>
            </p:cNvPr>
            <p:cNvCxnSpPr>
              <a:cxnSpLocks/>
            </p:cNvCxnSpPr>
            <p:nvPr/>
          </p:nvCxnSpPr>
          <p:spPr>
            <a:xfrm>
              <a:off x="5105482" y="3872394"/>
              <a:ext cx="252524" cy="159187"/>
            </a:xfrm>
            <a:prstGeom prst="line">
              <a:avLst/>
            </a:prstGeom>
            <a:ln/>
          </p:spPr>
          <p:style>
            <a:lnRef idx="3">
              <a:schemeClr val="accent2"/>
            </a:lnRef>
            <a:fillRef idx="0">
              <a:schemeClr val="accent2"/>
            </a:fillRef>
            <a:effectRef idx="2">
              <a:schemeClr val="accent2"/>
            </a:effectRef>
            <a:fontRef idx="minor">
              <a:schemeClr val="tx1"/>
            </a:fontRef>
          </p:style>
        </p:cxnSp>
      </p:grpSp>
      <p:grpSp>
        <p:nvGrpSpPr>
          <p:cNvPr id="108" name="Group 107">
            <a:extLst>
              <a:ext uri="{FF2B5EF4-FFF2-40B4-BE49-F238E27FC236}">
                <a16:creationId xmlns:a16="http://schemas.microsoft.com/office/drawing/2014/main" id="{D3D819A5-88DF-148F-2049-8385B6788E93}"/>
              </a:ext>
            </a:extLst>
          </p:cNvPr>
          <p:cNvGrpSpPr/>
          <p:nvPr/>
        </p:nvGrpSpPr>
        <p:grpSpPr>
          <a:xfrm>
            <a:off x="11288544" y="5309268"/>
            <a:ext cx="676617" cy="180109"/>
            <a:chOff x="5075956" y="3857461"/>
            <a:chExt cx="2621753" cy="352960"/>
          </a:xfrm>
        </p:grpSpPr>
        <p:cxnSp>
          <p:nvCxnSpPr>
            <p:cNvPr id="109" name="Straight Connector 108">
              <a:extLst>
                <a:ext uri="{FF2B5EF4-FFF2-40B4-BE49-F238E27FC236}">
                  <a16:creationId xmlns:a16="http://schemas.microsoft.com/office/drawing/2014/main" id="{CBDC4079-FE87-092F-638E-D30E41A8F32B}"/>
                </a:ext>
              </a:extLst>
            </p:cNvPr>
            <p:cNvCxnSpPr>
              <a:cxnSpLocks/>
            </p:cNvCxnSpPr>
            <p:nvPr/>
          </p:nvCxnSpPr>
          <p:spPr>
            <a:xfrm>
              <a:off x="5313438" y="4035578"/>
              <a:ext cx="238427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A9E4CF8-7255-42BE-9515-FAD719D24B02}"/>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CFD8292-D9F5-6B0C-4A57-05E3DFC9D9B7}"/>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13" name="TextBox 112">
            <a:extLst>
              <a:ext uri="{FF2B5EF4-FFF2-40B4-BE49-F238E27FC236}">
                <a16:creationId xmlns:a16="http://schemas.microsoft.com/office/drawing/2014/main" id="{D96AE5A2-7E20-41C7-2D35-A7F1CEAA4F2C}"/>
              </a:ext>
            </a:extLst>
          </p:cNvPr>
          <p:cNvSpPr txBox="1"/>
          <p:nvPr/>
        </p:nvSpPr>
        <p:spPr>
          <a:xfrm flipH="1">
            <a:off x="11665377" y="3624770"/>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114" name="TextBox 113">
            <a:extLst>
              <a:ext uri="{FF2B5EF4-FFF2-40B4-BE49-F238E27FC236}">
                <a16:creationId xmlns:a16="http://schemas.microsoft.com/office/drawing/2014/main" id="{CAFE746F-5DB7-BC28-6B30-5B98159FF1BA}"/>
              </a:ext>
            </a:extLst>
          </p:cNvPr>
          <p:cNvSpPr txBox="1"/>
          <p:nvPr/>
        </p:nvSpPr>
        <p:spPr>
          <a:xfrm flipH="1">
            <a:off x="11680808" y="4585596"/>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115" name="TextBox 114">
            <a:extLst>
              <a:ext uri="{FF2B5EF4-FFF2-40B4-BE49-F238E27FC236}">
                <a16:creationId xmlns:a16="http://schemas.microsoft.com/office/drawing/2014/main" id="{5D7184A2-C939-A64C-1A69-2B83911B89D1}"/>
              </a:ext>
            </a:extLst>
          </p:cNvPr>
          <p:cNvSpPr txBox="1"/>
          <p:nvPr/>
        </p:nvSpPr>
        <p:spPr>
          <a:xfrm flipH="1">
            <a:off x="11694970" y="5309268"/>
            <a:ext cx="141654" cy="21544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algn="ctr"/>
            <a:r>
              <a:rPr lang="en-US" sz="1400" dirty="0"/>
              <a:t>+</a:t>
            </a:r>
          </a:p>
        </p:txBody>
      </p:sp>
      <p:sp>
        <p:nvSpPr>
          <p:cNvPr id="116" name="TextBox 115">
            <a:extLst>
              <a:ext uri="{FF2B5EF4-FFF2-40B4-BE49-F238E27FC236}">
                <a16:creationId xmlns:a16="http://schemas.microsoft.com/office/drawing/2014/main" id="{9F667812-0FF2-2731-5DD8-69569C0E6504}"/>
              </a:ext>
            </a:extLst>
          </p:cNvPr>
          <p:cNvSpPr txBox="1"/>
          <p:nvPr/>
        </p:nvSpPr>
        <p:spPr>
          <a:xfrm flipH="1">
            <a:off x="11694970" y="5028547"/>
            <a:ext cx="141654" cy="215444"/>
          </a:xfrm>
          <a:prstGeom prst="rect">
            <a:avLst/>
          </a:prstGeom>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400" dirty="0"/>
              <a:t>-</a:t>
            </a:r>
          </a:p>
        </p:txBody>
      </p:sp>
      <p:sp>
        <p:nvSpPr>
          <p:cNvPr id="117" name="TextBox 116">
            <a:extLst>
              <a:ext uri="{FF2B5EF4-FFF2-40B4-BE49-F238E27FC236}">
                <a16:creationId xmlns:a16="http://schemas.microsoft.com/office/drawing/2014/main" id="{4E703173-B2A3-7AA1-EFF0-82362DC9FDBF}"/>
              </a:ext>
            </a:extLst>
          </p:cNvPr>
          <p:cNvSpPr txBox="1"/>
          <p:nvPr/>
        </p:nvSpPr>
        <p:spPr>
          <a:xfrm flipH="1">
            <a:off x="11679607" y="4317057"/>
            <a:ext cx="141654" cy="215444"/>
          </a:xfrm>
          <a:prstGeom prst="rect">
            <a:avLst/>
          </a:prstGeom>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400" dirty="0"/>
              <a:t>-</a:t>
            </a:r>
          </a:p>
        </p:txBody>
      </p:sp>
      <p:sp>
        <p:nvSpPr>
          <p:cNvPr id="118" name="TextBox 117">
            <a:extLst>
              <a:ext uri="{FF2B5EF4-FFF2-40B4-BE49-F238E27FC236}">
                <a16:creationId xmlns:a16="http://schemas.microsoft.com/office/drawing/2014/main" id="{AAA2DB19-882C-77EF-F8E6-AA5A8DABCB3D}"/>
              </a:ext>
            </a:extLst>
          </p:cNvPr>
          <p:cNvSpPr txBox="1"/>
          <p:nvPr/>
        </p:nvSpPr>
        <p:spPr>
          <a:xfrm flipH="1">
            <a:off x="11665377" y="3350022"/>
            <a:ext cx="141654" cy="215444"/>
          </a:xfrm>
          <a:prstGeom prst="rect">
            <a:avLst/>
          </a:prstGeom>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algn="ctr"/>
            <a:r>
              <a:rPr lang="en-US" sz="1400" dirty="0"/>
              <a:t>-</a:t>
            </a:r>
          </a:p>
        </p:txBody>
      </p:sp>
      <p:pic>
        <p:nvPicPr>
          <p:cNvPr id="3" name="teachIM logo" descr="Icon  Description automatically generated">
            <a:extLst>
              <a:ext uri="{FF2B5EF4-FFF2-40B4-BE49-F238E27FC236}">
                <a16:creationId xmlns:a16="http://schemas.microsoft.com/office/drawing/2014/main" id="{04C248B8-E9D6-4E7C-0D0F-A338B4FAF83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12" name="Obj 2">
            <a:hlinkClick r:id="rId13" action="ppaction://hlinksldjump"/>
            <a:extLst>
              <a:ext uri="{FF2B5EF4-FFF2-40B4-BE49-F238E27FC236}">
                <a16:creationId xmlns:a16="http://schemas.microsoft.com/office/drawing/2014/main" id="{05A401ED-3E88-0004-C0C4-42B499322DED}"/>
              </a:ext>
            </a:extLst>
          </p:cNvPr>
          <p:cNvSpPr/>
          <p:nvPr/>
        </p:nvSpPr>
        <p:spPr>
          <a:xfrm>
            <a:off x="176803" y="3624290"/>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13" name="Graphic 12" descr="Cursor with solid fill">
            <a:extLst>
              <a:ext uri="{FF2B5EF4-FFF2-40B4-BE49-F238E27FC236}">
                <a16:creationId xmlns:a16="http://schemas.microsoft.com/office/drawing/2014/main" id="{DA912869-7538-90C5-4561-FE4E5C0591E6}"/>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3875463"/>
            <a:ext cx="274320" cy="274320"/>
          </a:xfrm>
          <a:prstGeom prst="rect">
            <a:avLst/>
          </a:prstGeom>
        </p:spPr>
      </p:pic>
      <p:sp>
        <p:nvSpPr>
          <p:cNvPr id="14" name="Obj 2">
            <a:hlinkClick r:id="rId14" action="ppaction://hlinksldjump"/>
            <a:extLst>
              <a:ext uri="{FF2B5EF4-FFF2-40B4-BE49-F238E27FC236}">
                <a16:creationId xmlns:a16="http://schemas.microsoft.com/office/drawing/2014/main" id="{F7CABC94-9DEB-C2EE-117F-9F5A482CA256}"/>
              </a:ext>
            </a:extLst>
          </p:cNvPr>
          <p:cNvSpPr/>
          <p:nvPr/>
        </p:nvSpPr>
        <p:spPr>
          <a:xfrm>
            <a:off x="176802" y="4191732"/>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5" name="Graphic 14" descr="Cursor with solid fill">
            <a:extLst>
              <a:ext uri="{FF2B5EF4-FFF2-40B4-BE49-F238E27FC236}">
                <a16:creationId xmlns:a16="http://schemas.microsoft.com/office/drawing/2014/main" id="{8CACB256-B941-1E29-47AE-8DD0E44F1C74}"/>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7" y="4442905"/>
            <a:ext cx="274320" cy="274320"/>
          </a:xfrm>
          <a:prstGeom prst="rect">
            <a:avLst/>
          </a:prstGeom>
        </p:spPr>
      </p:pic>
    </p:spTree>
    <p:extLst>
      <p:ext uri="{BB962C8B-B14F-4D97-AF65-F5344CB8AC3E}">
        <p14:creationId xmlns:p14="http://schemas.microsoft.com/office/powerpoint/2010/main" val="3187788275"/>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1" restart="whenNotActive" fill="hold" evtFilter="cancelBubble" nodeType="interactiveSeq">
                <p:stCondLst>
                  <p:cond evt="onClick" delay="0">
                    <p:tgtEl>
                      <p:spTgt spid="95"/>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3"/>
                                        </p:tgtEl>
                                        <p:attrNameLst>
                                          <p:attrName>style.visibility</p:attrName>
                                        </p:attrNameLst>
                                      </p:cBhvr>
                                      <p:to>
                                        <p:strVal val="visible"/>
                                      </p:to>
                                    </p:set>
                                  </p:childTnLst>
                                </p:cTn>
                              </p:par>
                              <p:par>
                                <p:cTn id="16" presetID="1" presetClass="exit" presetSubtype="0" fill="hold" grpId="0" nodeType="withEffect">
                                  <p:stCondLst>
                                    <p:cond delay="0"/>
                                  </p:stCondLst>
                                  <p:childTnLst>
                                    <p:set>
                                      <p:cBhvr>
                                        <p:cTn id="17" dur="1" fill="hold">
                                          <p:stCondLst>
                                            <p:cond delay="0"/>
                                          </p:stCondLst>
                                        </p:cTn>
                                        <p:tgtEl>
                                          <p:spTgt spid="95"/>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96"/>
                                        </p:tgtEl>
                                        <p:attrNameLst>
                                          <p:attrName>style.visibility</p:attrName>
                                        </p:attrNameLst>
                                      </p:cBhvr>
                                      <p:to>
                                        <p:strVal val="hidden"/>
                                      </p:to>
                                    </p:set>
                                  </p:childTnLst>
                                </p:cTn>
                              </p:par>
                              <p:par>
                                <p:cTn id="20" presetID="1" presetClass="entr" presetSubtype="0" fill="hold" grpId="1" nodeType="withEffect">
                                  <p:stCondLst>
                                    <p:cond delay="0"/>
                                  </p:stCondLst>
                                  <p:childTnLst>
                                    <p:set>
                                      <p:cBhvr>
                                        <p:cTn id="21" dur="1" fill="hold">
                                          <p:stCondLst>
                                            <p:cond delay="0"/>
                                          </p:stCondLst>
                                        </p:cTn>
                                        <p:tgtEl>
                                          <p:spTgt spid="4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childTnLst>
                                </p:cTn>
                              </p:par>
                            </p:childTnLst>
                          </p:cTn>
                        </p:par>
                      </p:childTnLst>
                    </p:cTn>
                  </p:par>
                </p:childTnLst>
              </p:cTn>
              <p:nextCondLst>
                <p:cond evt="onClick" delay="0">
                  <p:tgtEl>
                    <p:spTgt spid="95"/>
                  </p:tgtEl>
                </p:cond>
              </p:nextCondLst>
            </p:seq>
            <p:seq concurrent="1" nextAc="seek">
              <p:cTn id="34" restart="whenNotActive" fill="hold" evtFilter="cancelBubble" nodeType="interactiveSeq">
                <p:stCondLst>
                  <p:cond evt="onClick" delay="0">
                    <p:tgtEl>
                      <p:spTgt spid="44"/>
                    </p:tgtEl>
                  </p:cond>
                </p:stCondLst>
                <p:endSync evt="end" delay="0">
                  <p:rtn val="all"/>
                </p:endSync>
                <p:childTnLst>
                  <p:par>
                    <p:cTn id="35" fill="hold">
                      <p:stCondLst>
                        <p:cond delay="0"/>
                      </p:stCondLst>
                      <p:childTnLst>
                        <p:par>
                          <p:cTn id="36" fill="hold">
                            <p:stCondLst>
                              <p:cond delay="0"/>
                            </p:stCondLst>
                            <p:childTnLst>
                              <p:par>
                                <p:cTn id="37" presetID="1" presetClass="exit"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45"/>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1000"/>
                                  </p:stCondLst>
                                  <p:childTnLst>
                                    <p:set>
                                      <p:cBhvr>
                                        <p:cTn id="47" dur="1" fill="hold">
                                          <p:stCondLst>
                                            <p:cond delay="0"/>
                                          </p:stCondLst>
                                        </p:cTn>
                                        <p:tgtEl>
                                          <p:spTgt spid="82"/>
                                        </p:tgtEl>
                                        <p:attrNameLst>
                                          <p:attrName>style.visibility</p:attrName>
                                        </p:attrNameLst>
                                      </p:cBhvr>
                                      <p:to>
                                        <p:strVal val="visible"/>
                                      </p:to>
                                    </p:set>
                                  </p:childTnLst>
                                </p:cTn>
                              </p:par>
                            </p:childTnLst>
                          </p:cTn>
                        </p:par>
                        <p:par>
                          <p:cTn id="48" fill="hold">
                            <p:stCondLst>
                              <p:cond delay="1000"/>
                            </p:stCondLst>
                            <p:childTnLst>
                              <p:par>
                                <p:cTn id="49" presetID="1" presetClass="entr" presetSubtype="0" fill="hold" grpId="0" nodeType="afterEffect">
                                  <p:stCondLst>
                                    <p:cond delay="1000"/>
                                  </p:stCondLst>
                                  <p:childTnLst>
                                    <p:set>
                                      <p:cBhvr>
                                        <p:cTn id="50" dur="1" fill="hold">
                                          <p:stCondLst>
                                            <p:cond delay="0"/>
                                          </p:stCondLst>
                                        </p:cTn>
                                        <p:tgtEl>
                                          <p:spTgt spid="170"/>
                                        </p:tgtEl>
                                        <p:attrNameLst>
                                          <p:attrName>style.visibility</p:attrName>
                                        </p:attrNameLst>
                                      </p:cBhvr>
                                      <p:to>
                                        <p:strVal val="visible"/>
                                      </p:to>
                                    </p:set>
                                  </p:childTnLst>
                                </p:cTn>
                              </p:par>
                            </p:childTnLst>
                          </p:cTn>
                        </p:par>
                        <p:par>
                          <p:cTn id="51" fill="hold">
                            <p:stCondLst>
                              <p:cond delay="2000"/>
                            </p:stCondLst>
                            <p:childTnLst>
                              <p:par>
                                <p:cTn id="52" presetID="1" presetClass="entr" presetSubtype="0" fill="hold" grpId="0" nodeType="afterEffect">
                                  <p:stCondLst>
                                    <p:cond delay="1000"/>
                                  </p:stCondLst>
                                  <p:childTnLst>
                                    <p:set>
                                      <p:cBhvr>
                                        <p:cTn id="53" dur="1" fill="hold">
                                          <p:stCondLst>
                                            <p:cond delay="0"/>
                                          </p:stCondLst>
                                        </p:cTn>
                                        <p:tgtEl>
                                          <p:spTgt spid="100"/>
                                        </p:tgtEl>
                                        <p:attrNameLst>
                                          <p:attrName>style.visibility</p:attrName>
                                        </p:attrNameLst>
                                      </p:cBhvr>
                                      <p:to>
                                        <p:strVal val="visible"/>
                                      </p:to>
                                    </p:set>
                                  </p:childTnLst>
                                </p:cTn>
                              </p:par>
                            </p:childTnLst>
                          </p:cTn>
                        </p:par>
                        <p:par>
                          <p:cTn id="54" fill="hold">
                            <p:stCondLst>
                              <p:cond delay="3000"/>
                            </p:stCondLst>
                            <p:childTnLst>
                              <p:par>
                                <p:cTn id="55" presetID="1" presetClass="entr" presetSubtype="0" fill="hold" grpId="0" nodeType="afterEffect">
                                  <p:stCondLst>
                                    <p:cond delay="1000"/>
                                  </p:stCondLst>
                                  <p:childTnLst>
                                    <p:set>
                                      <p:cBhvr>
                                        <p:cTn id="56"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seq concurrent="1" nextAc="seek">
              <p:cTn id="57" restart="whenNotActive" fill="hold" evtFilter="cancelBubble" nodeType="interactiveSeq">
                <p:stCondLst>
                  <p:cond evt="onClick" delay="0">
                    <p:tgtEl>
                      <p:spTgt spid="50"/>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50"/>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51"/>
                                        </p:tgtEl>
                                        <p:attrNameLst>
                                          <p:attrName>style.visibility</p:attrName>
                                        </p:attrNameLst>
                                      </p:cBhvr>
                                      <p:to>
                                        <p:strVal val="hidden"/>
                                      </p:to>
                                    </p:set>
                                  </p:childTnLst>
                                </p:cTn>
                              </p:par>
                              <p:par>
                                <p:cTn id="64" presetID="1" presetClass="exit" presetSubtype="0" fill="hold" grpId="1" nodeType="withEffect">
                                  <p:stCondLst>
                                    <p:cond delay="0"/>
                                  </p:stCondLst>
                                  <p:childTnLst>
                                    <p:set>
                                      <p:cBhvr>
                                        <p:cTn id="65" dur="1" fill="hold">
                                          <p:stCondLst>
                                            <p:cond delay="0"/>
                                          </p:stCondLst>
                                        </p:cTn>
                                        <p:tgtEl>
                                          <p:spTgt spid="80"/>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82"/>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170"/>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00"/>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173"/>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72"/>
                                        </p:tgtEl>
                                        <p:attrNameLst>
                                          <p:attrName>style.visibility</p:attrName>
                                        </p:attrNameLst>
                                      </p:cBhvr>
                                      <p:to>
                                        <p:strVal val="visible"/>
                                      </p:to>
                                    </p:set>
                                  </p:childTnLst>
                                </p:cTn>
                              </p:par>
                            </p:childTnLst>
                          </p:cTn>
                        </p:par>
                        <p:par>
                          <p:cTn id="78" fill="hold">
                            <p:stCondLst>
                              <p:cond delay="0"/>
                            </p:stCondLst>
                            <p:childTnLst>
                              <p:par>
                                <p:cTn id="79" presetID="1" presetClass="entr" presetSubtype="0" fill="hold" grpId="0" nodeType="afterEffect">
                                  <p:stCondLst>
                                    <p:cond delay="1000"/>
                                  </p:stCondLst>
                                  <p:childTnLst>
                                    <p:set>
                                      <p:cBhvr>
                                        <p:cTn id="80" dur="1" fill="hold">
                                          <p:stCondLst>
                                            <p:cond delay="0"/>
                                          </p:stCondLst>
                                        </p:cTn>
                                        <p:tgtEl>
                                          <p:spTgt spid="87"/>
                                        </p:tgtEl>
                                        <p:attrNameLst>
                                          <p:attrName>style.visibility</p:attrName>
                                        </p:attrNameLst>
                                      </p:cBhvr>
                                      <p:to>
                                        <p:strVal val="visible"/>
                                      </p:to>
                                    </p:set>
                                  </p:childTnLst>
                                </p:cTn>
                              </p:par>
                            </p:childTnLst>
                          </p:cTn>
                        </p:par>
                        <p:par>
                          <p:cTn id="81" fill="hold">
                            <p:stCondLst>
                              <p:cond delay="1000"/>
                            </p:stCondLst>
                            <p:childTnLst>
                              <p:par>
                                <p:cTn id="82" presetID="1" presetClass="entr" presetSubtype="0" fill="hold" grpId="2" nodeType="afterEffect">
                                  <p:stCondLst>
                                    <p:cond delay="1000"/>
                                  </p:stCondLst>
                                  <p:childTnLst>
                                    <p:set>
                                      <p:cBhvr>
                                        <p:cTn id="83" dur="1" fill="hold">
                                          <p:stCondLst>
                                            <p:cond delay="0"/>
                                          </p:stCondLst>
                                        </p:cTn>
                                        <p:tgtEl>
                                          <p:spTgt spid="100"/>
                                        </p:tgtEl>
                                        <p:attrNameLst>
                                          <p:attrName>style.visibility</p:attrName>
                                        </p:attrNameLst>
                                      </p:cBhvr>
                                      <p:to>
                                        <p:strVal val="visible"/>
                                      </p:to>
                                    </p:set>
                                  </p:childTnLst>
                                </p:cTn>
                              </p:par>
                            </p:childTnLst>
                          </p:cTn>
                        </p:par>
                        <p:par>
                          <p:cTn id="84" fill="hold">
                            <p:stCondLst>
                              <p:cond delay="2000"/>
                            </p:stCondLst>
                            <p:childTnLst>
                              <p:par>
                                <p:cTn id="85" presetID="1" presetClass="entr" presetSubtype="0" fill="hold" grpId="2" nodeType="afterEffect">
                                  <p:stCondLst>
                                    <p:cond delay="1000"/>
                                  </p:stCondLst>
                                  <p:childTnLst>
                                    <p:set>
                                      <p:cBhvr>
                                        <p:cTn id="86"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childTnLst>
        </p:cTn>
      </p:par>
    </p:tnLst>
    <p:bldLst>
      <p:bldP spid="173" grpId="0" animBg="1"/>
      <p:bldP spid="173" grpId="1" animBg="1"/>
      <p:bldP spid="173" grpId="2" animBg="1"/>
      <p:bldP spid="39" grpId="0"/>
      <p:bldP spid="41" grpId="0" animBg="1"/>
      <p:bldP spid="43" grpId="0" animBg="1"/>
      <p:bldP spid="44" grpId="0" animBg="1"/>
      <p:bldP spid="44" grpId="1" animBg="1"/>
      <p:bldP spid="46" grpId="0"/>
      <p:bldP spid="49" grpId="0" animBg="1"/>
      <p:bldP spid="50" grpId="0" animBg="1"/>
      <p:bldP spid="50" grpId="1" animBg="1"/>
      <p:bldP spid="54" grpId="0"/>
      <p:bldP spid="55" grpId="0"/>
      <p:bldP spid="80" grpId="0" animBg="1"/>
      <p:bldP spid="80" grpId="1" animBg="1"/>
      <p:bldP spid="82" grpId="0" animBg="1"/>
      <p:bldP spid="82" grpId="1" animBg="1"/>
      <p:bldP spid="172" grpId="0" animBg="1"/>
      <p:bldP spid="87" grpId="0" animBg="1"/>
      <p:bldP spid="93" grpId="0"/>
      <p:bldP spid="95" grpId="0" animBg="1"/>
      <p:bldP spid="170" grpId="0" animBg="1"/>
      <p:bldP spid="170" grpId="1" animBg="1"/>
      <p:bldP spid="100" grpId="0" animBg="1"/>
      <p:bldP spid="100" grpId="1" animBg="1"/>
      <p:bldP spid="100"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CPP">
            <a:extLst>
              <a:ext uri="{FF2B5EF4-FFF2-40B4-BE49-F238E27FC236}">
                <a16:creationId xmlns:a16="http://schemas.microsoft.com/office/drawing/2014/main" id="{0FDD353F-86B2-5E5B-A745-BAD3B5BB81ED}"/>
              </a:ext>
            </a:extLst>
          </p:cNvPr>
          <p:cNvSpPr/>
          <p:nvPr/>
        </p:nvSpPr>
        <p:spPr>
          <a:xfrm>
            <a:off x="2591206" y="1262505"/>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afterload</a:t>
            </a:r>
          </a:p>
        </p:txBody>
      </p:sp>
      <p:sp>
        <p:nvSpPr>
          <p:cNvPr id="9" name="Afterload">
            <a:extLst>
              <a:ext uri="{FF2B5EF4-FFF2-40B4-BE49-F238E27FC236}">
                <a16:creationId xmlns:a16="http://schemas.microsoft.com/office/drawing/2014/main" id="{75961555-110B-874D-AE02-BF5638FEC345}"/>
              </a:ext>
            </a:extLst>
          </p:cNvPr>
          <p:cNvSpPr/>
          <p:nvPr/>
        </p:nvSpPr>
        <p:spPr>
          <a:xfrm>
            <a:off x="2591206" y="1262505"/>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afterload</a:t>
            </a:r>
          </a:p>
        </p:txBody>
      </p:sp>
      <p:sp>
        <p:nvSpPr>
          <p:cNvPr id="148" name="TextBox 147">
            <a:extLst>
              <a:ext uri="{FF2B5EF4-FFF2-40B4-BE49-F238E27FC236}">
                <a16:creationId xmlns:a16="http://schemas.microsoft.com/office/drawing/2014/main" id="{F4ADD56A-EB89-5649-A63B-1B4FC5A534B6}"/>
              </a:ext>
            </a:extLst>
          </p:cNvPr>
          <p:cNvSpPr txBox="1"/>
          <p:nvPr/>
        </p:nvSpPr>
        <p:spPr>
          <a:xfrm>
            <a:off x="1308585" y="7554377"/>
            <a:ext cx="184731" cy="353609"/>
          </a:xfrm>
          <a:prstGeom prst="rect">
            <a:avLst/>
          </a:prstGeom>
          <a:noFill/>
        </p:spPr>
        <p:txBody>
          <a:bodyPr wrap="square" rtlCol="0">
            <a:spAutoFit/>
          </a:bodyPr>
          <a:lstStyle/>
          <a:p>
            <a:endParaRPr lang="en-US" dirty="0"/>
          </a:p>
        </p:txBody>
      </p:sp>
      <p:pic>
        <p:nvPicPr>
          <p:cNvPr id="225" name="Graphic 224" descr="Cursor with solid fill">
            <a:extLst>
              <a:ext uri="{FF2B5EF4-FFF2-40B4-BE49-F238E27FC236}">
                <a16:creationId xmlns:a16="http://schemas.microsoft.com/office/drawing/2014/main" id="{1047E1F4-A26C-4043-A08D-58F751DFF397}"/>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07424" y="1740764"/>
            <a:ext cx="274320" cy="274320"/>
          </a:xfrm>
          <a:prstGeom prst="rect">
            <a:avLst/>
          </a:prstGeom>
        </p:spPr>
      </p:pic>
      <p:sp>
        <p:nvSpPr>
          <p:cNvPr id="35" name="TextBox 34">
            <a:extLst>
              <a:ext uri="{FF2B5EF4-FFF2-40B4-BE49-F238E27FC236}">
                <a16:creationId xmlns:a16="http://schemas.microsoft.com/office/drawing/2014/main" id="{1650849A-7669-AB95-82BA-3D4D7242B833}"/>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Classification - Cardiac</a:t>
            </a:r>
          </a:p>
        </p:txBody>
      </p:sp>
      <p:sp>
        <p:nvSpPr>
          <p:cNvPr id="147" name="TextBox 146">
            <a:extLst>
              <a:ext uri="{FF2B5EF4-FFF2-40B4-BE49-F238E27FC236}">
                <a16:creationId xmlns:a16="http://schemas.microsoft.com/office/drawing/2014/main" id="{CD7D87CC-20EA-DF39-4327-C0D6CE42ABBC}"/>
              </a:ext>
            </a:extLst>
          </p:cNvPr>
          <p:cNvSpPr txBox="1"/>
          <p:nvPr/>
        </p:nvSpPr>
        <p:spPr>
          <a:xfrm>
            <a:off x="10745180" y="5108827"/>
            <a:ext cx="502921" cy="372634"/>
          </a:xfrm>
          <a:prstGeom prst="rect">
            <a:avLst/>
          </a:prstGeom>
          <a:noFill/>
          <a:ln>
            <a:noFill/>
          </a:ln>
        </p:spPr>
        <p:txBody>
          <a:bodyPr wrap="square" rtlCol="0">
            <a:spAutoFit/>
          </a:bodyPr>
          <a:lstStyle/>
          <a:p>
            <a:pPr algn="ctr"/>
            <a:r>
              <a:rPr lang="en-US" dirty="0"/>
              <a:t>HR</a:t>
            </a:r>
          </a:p>
        </p:txBody>
      </p:sp>
      <p:sp>
        <p:nvSpPr>
          <p:cNvPr id="149" name="TextBox 148">
            <a:extLst>
              <a:ext uri="{FF2B5EF4-FFF2-40B4-BE49-F238E27FC236}">
                <a16:creationId xmlns:a16="http://schemas.microsoft.com/office/drawing/2014/main" id="{0407A9B1-BB36-1407-C68E-BC24395334FC}"/>
              </a:ext>
            </a:extLst>
          </p:cNvPr>
          <p:cNvSpPr txBox="1"/>
          <p:nvPr/>
        </p:nvSpPr>
        <p:spPr>
          <a:xfrm>
            <a:off x="10065328" y="5999277"/>
            <a:ext cx="1328374" cy="341722"/>
          </a:xfrm>
          <a:prstGeom prst="rect">
            <a:avLst/>
          </a:prstGeom>
          <a:noFill/>
          <a:ln>
            <a:noFill/>
          </a:ln>
        </p:spPr>
        <p:txBody>
          <a:bodyPr wrap="square" rtlCol="0">
            <a:spAutoFit/>
          </a:bodyPr>
          <a:lstStyle/>
          <a:p>
            <a:pPr algn="ctr"/>
            <a:r>
              <a:rPr lang="en-US" sz="1600" dirty="0"/>
              <a:t>contractility</a:t>
            </a:r>
          </a:p>
        </p:txBody>
      </p:sp>
      <p:pic>
        <p:nvPicPr>
          <p:cNvPr id="150" name="Picture 149" descr="A screenshot of a video game  Description automatically generated">
            <a:extLst>
              <a:ext uri="{FF2B5EF4-FFF2-40B4-BE49-F238E27FC236}">
                <a16:creationId xmlns:a16="http://schemas.microsoft.com/office/drawing/2014/main" id="{0600C835-5590-0AB3-9F24-0369553755A3}"/>
              </a:ext>
            </a:extLst>
          </p:cNvPr>
          <p:cNvPicPr>
            <a:picLocks noChangeAspect="1"/>
          </p:cNvPicPr>
          <p:nvPr/>
        </p:nvPicPr>
        <p:blipFill rotWithShape="1">
          <a:blip r:embed="rId5"/>
          <a:srcRect l="2581" t="21459" r="81092" b="16895"/>
          <a:stretch/>
        </p:blipFill>
        <p:spPr>
          <a:xfrm>
            <a:off x="8974739" y="664390"/>
            <a:ext cx="1926275" cy="5091033"/>
          </a:xfrm>
          <a:prstGeom prst="rect">
            <a:avLst/>
          </a:prstGeom>
        </p:spPr>
      </p:pic>
      <p:cxnSp>
        <p:nvCxnSpPr>
          <p:cNvPr id="151" name="Straight Connector 150">
            <a:extLst>
              <a:ext uri="{FF2B5EF4-FFF2-40B4-BE49-F238E27FC236}">
                <a16:creationId xmlns:a16="http://schemas.microsoft.com/office/drawing/2014/main" id="{B4334E73-519D-AB2E-6C17-28EDB4EBCEA2}"/>
              </a:ext>
            </a:extLst>
          </p:cNvPr>
          <p:cNvCxnSpPr>
            <a:cxnSpLocks/>
            <a:endCxn id="152" idx="1"/>
          </p:cNvCxnSpPr>
          <p:nvPr/>
        </p:nvCxnSpPr>
        <p:spPr>
          <a:xfrm flipV="1">
            <a:off x="9813181" y="3662663"/>
            <a:ext cx="903851" cy="532067"/>
          </a:xfrm>
          <a:prstGeom prst="line">
            <a:avLst/>
          </a:prstGeom>
        </p:spPr>
        <p:style>
          <a:lnRef idx="1">
            <a:schemeClr val="dk1"/>
          </a:lnRef>
          <a:fillRef idx="0">
            <a:schemeClr val="dk1"/>
          </a:fillRef>
          <a:effectRef idx="0">
            <a:schemeClr val="dk1"/>
          </a:effectRef>
          <a:fontRef idx="minor">
            <a:schemeClr val="tx1"/>
          </a:fontRef>
        </p:style>
      </p:cxnSp>
      <p:sp>
        <p:nvSpPr>
          <p:cNvPr id="152" name="Rectangle 151">
            <a:extLst>
              <a:ext uri="{FF2B5EF4-FFF2-40B4-BE49-F238E27FC236}">
                <a16:creationId xmlns:a16="http://schemas.microsoft.com/office/drawing/2014/main" id="{0F46F543-80E5-EC22-257E-9FC3644BFEDD}"/>
              </a:ext>
            </a:extLst>
          </p:cNvPr>
          <p:cNvSpPr/>
          <p:nvPr/>
        </p:nvSpPr>
        <p:spPr>
          <a:xfrm>
            <a:off x="10717032" y="3502643"/>
            <a:ext cx="1139157"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afterload</a:t>
            </a:r>
          </a:p>
        </p:txBody>
      </p:sp>
      <p:cxnSp>
        <p:nvCxnSpPr>
          <p:cNvPr id="153" name="Straight Connector 152">
            <a:extLst>
              <a:ext uri="{FF2B5EF4-FFF2-40B4-BE49-F238E27FC236}">
                <a16:creationId xmlns:a16="http://schemas.microsoft.com/office/drawing/2014/main" id="{0F12ADFD-2B6F-DAFE-F39B-0807E341D294}"/>
              </a:ext>
            </a:extLst>
          </p:cNvPr>
          <p:cNvCxnSpPr>
            <a:cxnSpLocks/>
            <a:endCxn id="154" idx="1"/>
          </p:cNvCxnSpPr>
          <p:nvPr/>
        </p:nvCxnSpPr>
        <p:spPr>
          <a:xfrm flipV="1">
            <a:off x="9995085" y="3070904"/>
            <a:ext cx="664208" cy="919899"/>
          </a:xfrm>
          <a:prstGeom prst="line">
            <a:avLst/>
          </a:prstGeom>
        </p:spPr>
        <p:style>
          <a:lnRef idx="1">
            <a:schemeClr val="dk1"/>
          </a:lnRef>
          <a:fillRef idx="0">
            <a:schemeClr val="dk1"/>
          </a:fillRef>
          <a:effectRef idx="0">
            <a:schemeClr val="dk1"/>
          </a:effectRef>
          <a:fontRef idx="minor">
            <a:schemeClr val="tx1"/>
          </a:fontRef>
        </p:style>
      </p:cxnSp>
      <p:sp>
        <p:nvSpPr>
          <p:cNvPr id="154" name="Rectangle 153">
            <a:extLst>
              <a:ext uri="{FF2B5EF4-FFF2-40B4-BE49-F238E27FC236}">
                <a16:creationId xmlns:a16="http://schemas.microsoft.com/office/drawing/2014/main" id="{06920260-8782-CFB0-F592-8B47085A4252}"/>
              </a:ext>
            </a:extLst>
          </p:cNvPr>
          <p:cNvSpPr/>
          <p:nvPr/>
        </p:nvSpPr>
        <p:spPr>
          <a:xfrm>
            <a:off x="10659293" y="2910884"/>
            <a:ext cx="732995" cy="3200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DB7575"/>
                </a:solidFill>
              </a:rPr>
              <a:t>MAP</a:t>
            </a:r>
          </a:p>
        </p:txBody>
      </p:sp>
      <p:sp>
        <p:nvSpPr>
          <p:cNvPr id="155" name="Rectangle 154">
            <a:extLst>
              <a:ext uri="{FF2B5EF4-FFF2-40B4-BE49-F238E27FC236}">
                <a16:creationId xmlns:a16="http://schemas.microsoft.com/office/drawing/2014/main" id="{B8AB21EB-B829-4E67-6C22-37A2A8C0011E}"/>
              </a:ext>
            </a:extLst>
          </p:cNvPr>
          <p:cNvSpPr/>
          <p:nvPr/>
        </p:nvSpPr>
        <p:spPr>
          <a:xfrm>
            <a:off x="9624587" y="1344570"/>
            <a:ext cx="569514" cy="3200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CPP</a:t>
            </a:r>
          </a:p>
        </p:txBody>
      </p:sp>
      <p:cxnSp>
        <p:nvCxnSpPr>
          <p:cNvPr id="156" name="Straight Connector 155">
            <a:extLst>
              <a:ext uri="{FF2B5EF4-FFF2-40B4-BE49-F238E27FC236}">
                <a16:creationId xmlns:a16="http://schemas.microsoft.com/office/drawing/2014/main" id="{3497A1A5-6676-0493-AA35-5930CCBAFE39}"/>
              </a:ext>
            </a:extLst>
          </p:cNvPr>
          <p:cNvCxnSpPr>
            <a:cxnSpLocks/>
            <a:endCxn id="157" idx="1"/>
          </p:cNvCxnSpPr>
          <p:nvPr/>
        </p:nvCxnSpPr>
        <p:spPr>
          <a:xfrm flipV="1">
            <a:off x="10176662" y="4609445"/>
            <a:ext cx="597668" cy="157785"/>
          </a:xfrm>
          <a:prstGeom prst="line">
            <a:avLst/>
          </a:prstGeom>
        </p:spPr>
        <p:style>
          <a:lnRef idx="1">
            <a:schemeClr val="dk1"/>
          </a:lnRef>
          <a:fillRef idx="0">
            <a:schemeClr val="dk1"/>
          </a:fillRef>
          <a:effectRef idx="0">
            <a:schemeClr val="dk1"/>
          </a:effectRef>
          <a:fontRef idx="minor">
            <a:schemeClr val="tx1"/>
          </a:fontRef>
        </p:style>
      </p:cxnSp>
      <p:sp>
        <p:nvSpPr>
          <p:cNvPr id="157" name="TextBox 156">
            <a:extLst>
              <a:ext uri="{FF2B5EF4-FFF2-40B4-BE49-F238E27FC236}">
                <a16:creationId xmlns:a16="http://schemas.microsoft.com/office/drawing/2014/main" id="{A0383932-4527-0786-294E-3D61F48215F9}"/>
              </a:ext>
            </a:extLst>
          </p:cNvPr>
          <p:cNvSpPr txBox="1"/>
          <p:nvPr/>
        </p:nvSpPr>
        <p:spPr>
          <a:xfrm>
            <a:off x="10774330" y="4424779"/>
            <a:ext cx="502921" cy="369332"/>
          </a:xfrm>
          <a:prstGeom prst="rect">
            <a:avLst/>
          </a:prstGeom>
          <a:noFill/>
          <a:ln>
            <a:noFill/>
          </a:ln>
        </p:spPr>
        <p:txBody>
          <a:bodyPr wrap="square" rtlCol="0">
            <a:spAutoFit/>
          </a:bodyPr>
          <a:lstStyle/>
          <a:p>
            <a:pPr algn="ctr"/>
            <a:r>
              <a:rPr lang="en-US" dirty="0">
                <a:solidFill>
                  <a:schemeClr val="accent2"/>
                </a:solidFill>
              </a:rPr>
              <a:t>CO</a:t>
            </a:r>
          </a:p>
        </p:txBody>
      </p:sp>
      <p:cxnSp>
        <p:nvCxnSpPr>
          <p:cNvPr id="158" name="Straight Connector 157">
            <a:extLst>
              <a:ext uri="{FF2B5EF4-FFF2-40B4-BE49-F238E27FC236}">
                <a16:creationId xmlns:a16="http://schemas.microsoft.com/office/drawing/2014/main" id="{D1042991-FAB4-1DFA-4771-834FEB4D878C}"/>
              </a:ext>
            </a:extLst>
          </p:cNvPr>
          <p:cNvCxnSpPr>
            <a:cxnSpLocks/>
          </p:cNvCxnSpPr>
          <p:nvPr/>
        </p:nvCxnSpPr>
        <p:spPr>
          <a:xfrm>
            <a:off x="10332454" y="5054600"/>
            <a:ext cx="441876" cy="250446"/>
          </a:xfrm>
          <a:prstGeom prst="line">
            <a:avLst/>
          </a:prstGeom>
        </p:spPr>
        <p:style>
          <a:lnRef idx="1">
            <a:schemeClr val="dk1"/>
          </a:lnRef>
          <a:fillRef idx="0">
            <a:schemeClr val="dk1"/>
          </a:fillRef>
          <a:effectRef idx="0">
            <a:schemeClr val="dk1"/>
          </a:effectRef>
          <a:fontRef idx="minor">
            <a:schemeClr val="tx1"/>
          </a:fontRef>
        </p:style>
      </p:cxnSp>
      <p:cxnSp>
        <p:nvCxnSpPr>
          <p:cNvPr id="159" name="Straight Connector 158">
            <a:extLst>
              <a:ext uri="{FF2B5EF4-FFF2-40B4-BE49-F238E27FC236}">
                <a16:creationId xmlns:a16="http://schemas.microsoft.com/office/drawing/2014/main" id="{FE78D1B8-2A16-7562-0BA9-1FE54FA22359}"/>
              </a:ext>
            </a:extLst>
          </p:cNvPr>
          <p:cNvCxnSpPr>
            <a:cxnSpLocks/>
            <a:stCxn id="163" idx="2"/>
            <a:endCxn id="161" idx="0"/>
          </p:cNvCxnSpPr>
          <p:nvPr/>
        </p:nvCxnSpPr>
        <p:spPr>
          <a:xfrm flipH="1">
            <a:off x="9530587" y="5829234"/>
            <a:ext cx="546206" cy="176226"/>
          </a:xfrm>
          <a:prstGeom prst="line">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7A613A2F-77F5-D0A8-AA4D-D8B30E33EC6F}"/>
              </a:ext>
            </a:extLst>
          </p:cNvPr>
          <p:cNvCxnSpPr>
            <a:cxnSpLocks/>
            <a:stCxn id="163" idx="2"/>
            <a:endCxn id="149" idx="0"/>
          </p:cNvCxnSpPr>
          <p:nvPr/>
        </p:nvCxnSpPr>
        <p:spPr>
          <a:xfrm>
            <a:off x="10076793" y="5829234"/>
            <a:ext cx="652722" cy="170043"/>
          </a:xfrm>
          <a:prstGeom prst="line">
            <a:avLst/>
          </a:prstGeom>
        </p:spPr>
        <p:style>
          <a:lnRef idx="1">
            <a:schemeClr val="dk1"/>
          </a:lnRef>
          <a:fillRef idx="0">
            <a:schemeClr val="dk1"/>
          </a:fillRef>
          <a:effectRef idx="0">
            <a:schemeClr val="dk1"/>
          </a:effectRef>
          <a:fontRef idx="minor">
            <a:schemeClr val="tx1"/>
          </a:fontRef>
        </p:style>
      </p:cxnSp>
      <p:sp>
        <p:nvSpPr>
          <p:cNvPr id="161" name="TextBox 160">
            <a:extLst>
              <a:ext uri="{FF2B5EF4-FFF2-40B4-BE49-F238E27FC236}">
                <a16:creationId xmlns:a16="http://schemas.microsoft.com/office/drawing/2014/main" id="{478EBB60-0DDD-2CA6-8C47-482F5D0B45B4}"/>
              </a:ext>
            </a:extLst>
          </p:cNvPr>
          <p:cNvSpPr txBox="1"/>
          <p:nvPr/>
        </p:nvSpPr>
        <p:spPr>
          <a:xfrm>
            <a:off x="9111327" y="6005460"/>
            <a:ext cx="838520" cy="341722"/>
          </a:xfrm>
          <a:prstGeom prst="rect">
            <a:avLst/>
          </a:prstGeom>
          <a:noFill/>
          <a:ln>
            <a:noFill/>
          </a:ln>
        </p:spPr>
        <p:txBody>
          <a:bodyPr wrap="square" rtlCol="0">
            <a:spAutoFit/>
          </a:bodyPr>
          <a:lstStyle/>
          <a:p>
            <a:pPr algn="ctr"/>
            <a:r>
              <a:rPr lang="en-US" sz="1600" dirty="0"/>
              <a:t>preload</a:t>
            </a:r>
          </a:p>
        </p:txBody>
      </p:sp>
      <p:cxnSp>
        <p:nvCxnSpPr>
          <p:cNvPr id="162" name="Straight Connector 161">
            <a:extLst>
              <a:ext uri="{FF2B5EF4-FFF2-40B4-BE49-F238E27FC236}">
                <a16:creationId xmlns:a16="http://schemas.microsoft.com/office/drawing/2014/main" id="{5B783339-923C-AEB1-0F34-CAC7E34D6A60}"/>
              </a:ext>
            </a:extLst>
          </p:cNvPr>
          <p:cNvCxnSpPr>
            <a:cxnSpLocks/>
            <a:endCxn id="163" idx="0"/>
          </p:cNvCxnSpPr>
          <p:nvPr/>
        </p:nvCxnSpPr>
        <p:spPr>
          <a:xfrm flipH="1">
            <a:off x="10076793" y="5054600"/>
            <a:ext cx="17943" cy="432912"/>
          </a:xfrm>
          <a:prstGeom prst="line">
            <a:avLst/>
          </a:prstGeom>
        </p:spPr>
        <p:style>
          <a:lnRef idx="1">
            <a:schemeClr val="dk1"/>
          </a:lnRef>
          <a:fillRef idx="0">
            <a:schemeClr val="dk1"/>
          </a:fillRef>
          <a:effectRef idx="0">
            <a:schemeClr val="dk1"/>
          </a:effectRef>
          <a:fontRef idx="minor">
            <a:schemeClr val="tx1"/>
          </a:fontRef>
        </p:style>
      </p:cxnSp>
      <p:sp>
        <p:nvSpPr>
          <p:cNvPr id="163" name="TextBox 162">
            <a:extLst>
              <a:ext uri="{FF2B5EF4-FFF2-40B4-BE49-F238E27FC236}">
                <a16:creationId xmlns:a16="http://schemas.microsoft.com/office/drawing/2014/main" id="{0898C27F-1450-16B8-FBBA-F5B4D27400B6}"/>
              </a:ext>
            </a:extLst>
          </p:cNvPr>
          <p:cNvSpPr txBox="1"/>
          <p:nvPr/>
        </p:nvSpPr>
        <p:spPr>
          <a:xfrm>
            <a:off x="9657533" y="5487512"/>
            <a:ext cx="838520" cy="341722"/>
          </a:xfrm>
          <a:prstGeom prst="rect">
            <a:avLst/>
          </a:prstGeom>
          <a:noFill/>
          <a:ln>
            <a:noFill/>
          </a:ln>
        </p:spPr>
        <p:txBody>
          <a:bodyPr wrap="square" rtlCol="0">
            <a:spAutoFit/>
          </a:bodyPr>
          <a:lstStyle/>
          <a:p>
            <a:pPr algn="ctr"/>
            <a:r>
              <a:rPr lang="en-US" sz="1600" dirty="0"/>
              <a:t>SV</a:t>
            </a:r>
          </a:p>
        </p:txBody>
      </p:sp>
      <p:sp>
        <p:nvSpPr>
          <p:cNvPr id="169" name="Arrow: Down 168">
            <a:extLst>
              <a:ext uri="{FF2B5EF4-FFF2-40B4-BE49-F238E27FC236}">
                <a16:creationId xmlns:a16="http://schemas.microsoft.com/office/drawing/2014/main" id="{804BC509-9859-9C9D-068B-A70E9F44C68A}"/>
              </a:ext>
            </a:extLst>
          </p:cNvPr>
          <p:cNvSpPr/>
          <p:nvPr/>
        </p:nvSpPr>
        <p:spPr>
          <a:xfrm>
            <a:off x="8948803" y="6097734"/>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Arrow: Down 169">
            <a:extLst>
              <a:ext uri="{FF2B5EF4-FFF2-40B4-BE49-F238E27FC236}">
                <a16:creationId xmlns:a16="http://schemas.microsoft.com/office/drawing/2014/main" id="{9CC354EA-B740-5A2C-7F80-8A5BD4023AEB}"/>
              </a:ext>
            </a:extLst>
          </p:cNvPr>
          <p:cNvSpPr/>
          <p:nvPr/>
        </p:nvSpPr>
        <p:spPr>
          <a:xfrm>
            <a:off x="10683521" y="4483952"/>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Arrow: Down 171">
            <a:extLst>
              <a:ext uri="{FF2B5EF4-FFF2-40B4-BE49-F238E27FC236}">
                <a16:creationId xmlns:a16="http://schemas.microsoft.com/office/drawing/2014/main" id="{068E8D87-BF4B-E371-D46A-76D8BBCB479D}"/>
              </a:ext>
            </a:extLst>
          </p:cNvPr>
          <p:cNvSpPr/>
          <p:nvPr/>
        </p:nvSpPr>
        <p:spPr>
          <a:xfrm>
            <a:off x="10570585" y="2936496"/>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Arrow: Down 172">
            <a:extLst>
              <a:ext uri="{FF2B5EF4-FFF2-40B4-BE49-F238E27FC236}">
                <a16:creationId xmlns:a16="http://schemas.microsoft.com/office/drawing/2014/main" id="{A392B356-AB84-00E1-F29B-5E02A655BA28}"/>
              </a:ext>
            </a:extLst>
          </p:cNvPr>
          <p:cNvSpPr/>
          <p:nvPr/>
        </p:nvSpPr>
        <p:spPr>
          <a:xfrm>
            <a:off x="9359259" y="137948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7" name="Picture 176">
            <a:extLst>
              <a:ext uri="{FF2B5EF4-FFF2-40B4-BE49-F238E27FC236}">
                <a16:creationId xmlns:a16="http://schemas.microsoft.com/office/drawing/2014/main" id="{AF89438B-1958-E1EB-DA35-3F95E90FD5DB}"/>
              </a:ext>
            </a:extLst>
          </p:cNvPr>
          <p:cNvPicPr>
            <a:picLocks noChangeAspect="1"/>
          </p:cNvPicPr>
          <p:nvPr/>
        </p:nvPicPr>
        <p:blipFill rotWithShape="1">
          <a:blip r:embed="rId6">
            <a:extLst>
              <a:ext uri="{28A0092B-C50C-407E-A947-70E740481C1C}">
                <a14:useLocalDpi xmlns:a14="http://schemas.microsoft.com/office/drawing/2010/main" val="0"/>
              </a:ext>
            </a:extLst>
          </a:blip>
          <a:srcRect l="22027" t="24422" r="59669" b="51171"/>
          <a:stretch/>
        </p:blipFill>
        <p:spPr>
          <a:xfrm flipH="1">
            <a:off x="10566180" y="2070359"/>
            <a:ext cx="801313" cy="769901"/>
          </a:xfrm>
          <a:prstGeom prst="rect">
            <a:avLst/>
          </a:prstGeom>
        </p:spPr>
      </p:pic>
      <p:sp>
        <p:nvSpPr>
          <p:cNvPr id="199" name="Oval 198">
            <a:extLst>
              <a:ext uri="{FF2B5EF4-FFF2-40B4-BE49-F238E27FC236}">
                <a16:creationId xmlns:a16="http://schemas.microsoft.com/office/drawing/2014/main" id="{CA77C1F4-FC4D-4CB8-585D-B8F09196CCD9}"/>
              </a:ext>
            </a:extLst>
          </p:cNvPr>
          <p:cNvSpPr/>
          <p:nvPr/>
        </p:nvSpPr>
        <p:spPr>
          <a:xfrm>
            <a:off x="9592070" y="2767136"/>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TextBox 199">
            <a:extLst>
              <a:ext uri="{FF2B5EF4-FFF2-40B4-BE49-F238E27FC236}">
                <a16:creationId xmlns:a16="http://schemas.microsoft.com/office/drawing/2014/main" id="{EF592E47-50D6-9501-5FE5-CCBE37B3E76D}"/>
              </a:ext>
            </a:extLst>
          </p:cNvPr>
          <p:cNvSpPr txBox="1"/>
          <p:nvPr/>
        </p:nvSpPr>
        <p:spPr>
          <a:xfrm flipH="1">
            <a:off x="8370459" y="2684064"/>
            <a:ext cx="1246455" cy="307777"/>
          </a:xfrm>
          <a:prstGeom prst="rect">
            <a:avLst/>
          </a:prstGeom>
          <a:noFill/>
        </p:spPr>
        <p:txBody>
          <a:bodyPr wrap="square" rtlCol="0">
            <a:spAutoFit/>
          </a:bodyPr>
          <a:lstStyle/>
          <a:p>
            <a:pPr algn="ctr"/>
            <a:r>
              <a:rPr lang="en-US" sz="1400" dirty="0"/>
              <a:t>Carotid </a:t>
            </a:r>
            <a:r>
              <a:rPr lang="en-US" sz="1400" dirty="0" err="1"/>
              <a:t>baro</a:t>
            </a:r>
            <a:r>
              <a:rPr lang="en-US" sz="1400" dirty="0"/>
              <a:t>-R</a:t>
            </a:r>
          </a:p>
        </p:txBody>
      </p:sp>
      <p:sp>
        <p:nvSpPr>
          <p:cNvPr id="203" name="Oval 202">
            <a:extLst>
              <a:ext uri="{FF2B5EF4-FFF2-40B4-BE49-F238E27FC236}">
                <a16:creationId xmlns:a16="http://schemas.microsoft.com/office/drawing/2014/main" id="{051DA941-5F65-1DB7-9970-58F5F4D2C869}"/>
              </a:ext>
            </a:extLst>
          </p:cNvPr>
          <p:cNvSpPr/>
          <p:nvPr/>
        </p:nvSpPr>
        <p:spPr>
          <a:xfrm>
            <a:off x="10183684" y="2768520"/>
            <a:ext cx="88706" cy="16797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Arrow Connector 204">
            <a:extLst>
              <a:ext uri="{FF2B5EF4-FFF2-40B4-BE49-F238E27FC236}">
                <a16:creationId xmlns:a16="http://schemas.microsoft.com/office/drawing/2014/main" id="{BCF7DF99-991D-1AFF-B2DF-15845633233D}"/>
              </a:ext>
            </a:extLst>
          </p:cNvPr>
          <p:cNvCxnSpPr>
            <a:cxnSpLocks/>
          </p:cNvCxnSpPr>
          <p:nvPr/>
        </p:nvCxnSpPr>
        <p:spPr>
          <a:xfrm flipV="1">
            <a:off x="10368610" y="2620527"/>
            <a:ext cx="232033" cy="19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F7AA0BA-D306-25A4-0C5D-39805B2AD9E3}"/>
              </a:ext>
            </a:extLst>
          </p:cNvPr>
          <p:cNvCxnSpPr>
            <a:cxnSpLocks/>
          </p:cNvCxnSpPr>
          <p:nvPr/>
        </p:nvCxnSpPr>
        <p:spPr>
          <a:xfrm flipH="1" flipV="1">
            <a:off x="11242225" y="2440408"/>
            <a:ext cx="749143" cy="365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F904CB-765B-6A96-E319-F781F2B457A5}"/>
              </a:ext>
            </a:extLst>
          </p:cNvPr>
          <p:cNvCxnSpPr>
            <a:cxnSpLocks/>
          </p:cNvCxnSpPr>
          <p:nvPr/>
        </p:nvCxnSpPr>
        <p:spPr>
          <a:xfrm flipV="1">
            <a:off x="11991368" y="2440410"/>
            <a:ext cx="0" cy="2139671"/>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212" name="Group 211">
            <a:extLst>
              <a:ext uri="{FF2B5EF4-FFF2-40B4-BE49-F238E27FC236}">
                <a16:creationId xmlns:a16="http://schemas.microsoft.com/office/drawing/2014/main" id="{FCBCF215-4A91-9202-CBF5-C9049C769588}"/>
              </a:ext>
            </a:extLst>
          </p:cNvPr>
          <p:cNvGrpSpPr/>
          <p:nvPr/>
        </p:nvGrpSpPr>
        <p:grpSpPr>
          <a:xfrm>
            <a:off x="11815379" y="3551198"/>
            <a:ext cx="179771" cy="180109"/>
            <a:chOff x="7024668" y="3845017"/>
            <a:chExt cx="696577" cy="352960"/>
          </a:xfrm>
        </p:grpSpPr>
        <p:cxnSp>
          <p:nvCxnSpPr>
            <p:cNvPr id="213" name="Straight Connector 212">
              <a:extLst>
                <a:ext uri="{FF2B5EF4-FFF2-40B4-BE49-F238E27FC236}">
                  <a16:creationId xmlns:a16="http://schemas.microsoft.com/office/drawing/2014/main" id="{F2D0D98C-F1CE-D2A0-24BE-525BD90A651E}"/>
                </a:ext>
              </a:extLst>
            </p:cNvPr>
            <p:cNvCxnSpPr>
              <a:cxnSpLocks/>
            </p:cNvCxnSpPr>
            <p:nvPr/>
          </p:nvCxnSpPr>
          <p:spPr>
            <a:xfrm>
              <a:off x="7278355" y="4003757"/>
              <a:ext cx="442890"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9BE6641-4097-0C18-6E2F-43E672A96424}"/>
                </a:ext>
              </a:extLst>
            </p:cNvPr>
            <p:cNvCxnSpPr>
              <a:cxnSpLocks/>
            </p:cNvCxnSpPr>
            <p:nvPr/>
          </p:nvCxnSpPr>
          <p:spPr>
            <a:xfrm flipV="1">
              <a:off x="7061812" y="4015411"/>
              <a:ext cx="236712"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CF379D5-1D6B-D178-3A33-65EB166BEE53}"/>
                </a:ext>
              </a:extLst>
            </p:cNvPr>
            <p:cNvCxnSpPr>
              <a:cxnSpLocks/>
            </p:cNvCxnSpPr>
            <p:nvPr/>
          </p:nvCxnSpPr>
          <p:spPr>
            <a:xfrm>
              <a:off x="7024668" y="3845017"/>
              <a:ext cx="252525"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17" name="Group 216">
            <a:extLst>
              <a:ext uri="{FF2B5EF4-FFF2-40B4-BE49-F238E27FC236}">
                <a16:creationId xmlns:a16="http://schemas.microsoft.com/office/drawing/2014/main" id="{78CBDDC5-A865-C34F-0FA9-17CC83BE96EC}"/>
              </a:ext>
            </a:extLst>
          </p:cNvPr>
          <p:cNvGrpSpPr/>
          <p:nvPr/>
        </p:nvGrpSpPr>
        <p:grpSpPr>
          <a:xfrm>
            <a:off x="11323896" y="4496671"/>
            <a:ext cx="676617" cy="180109"/>
            <a:chOff x="5075956" y="3857461"/>
            <a:chExt cx="2621753" cy="352960"/>
          </a:xfrm>
        </p:grpSpPr>
        <p:cxnSp>
          <p:nvCxnSpPr>
            <p:cNvPr id="218" name="Straight Connector 217">
              <a:extLst>
                <a:ext uri="{FF2B5EF4-FFF2-40B4-BE49-F238E27FC236}">
                  <a16:creationId xmlns:a16="http://schemas.microsoft.com/office/drawing/2014/main" id="{9C1A255A-8A87-3E77-3983-EECD53D2511E}"/>
                </a:ext>
              </a:extLst>
            </p:cNvPr>
            <p:cNvCxnSpPr>
              <a:cxnSpLocks/>
            </p:cNvCxnSpPr>
            <p:nvPr/>
          </p:nvCxnSpPr>
          <p:spPr>
            <a:xfrm>
              <a:off x="5313438" y="4035578"/>
              <a:ext cx="2384271" cy="0"/>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F6D6DC5-7D4F-0BB0-4B98-DA6B95277CD1}"/>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78B1416-9EE4-CD7D-3824-F8EBE065A749}"/>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 name="Obj 2">
            <a:hlinkClick r:id="rId7" action="ppaction://hlinksldjump"/>
            <a:extLst>
              <a:ext uri="{FF2B5EF4-FFF2-40B4-BE49-F238E27FC236}">
                <a16:creationId xmlns:a16="http://schemas.microsoft.com/office/drawing/2014/main" id="{DE33C87F-C864-CAD8-D8EE-C8A4E4B2F8DE}"/>
              </a:ext>
            </a:extLst>
          </p:cNvPr>
          <p:cNvSpPr/>
          <p:nvPr/>
        </p:nvSpPr>
        <p:spPr>
          <a:xfrm>
            <a:off x="17680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pic>
        <p:nvPicPr>
          <p:cNvPr id="4" name="Graphic 3" descr="Cursor with solid fill">
            <a:extLst>
              <a:ext uri="{FF2B5EF4-FFF2-40B4-BE49-F238E27FC236}">
                <a16:creationId xmlns:a16="http://schemas.microsoft.com/office/drawing/2014/main" id="{708AC8B0-71DD-CA48-ED0B-007E43CBA89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454521"/>
            <a:ext cx="274320" cy="274320"/>
          </a:xfrm>
          <a:prstGeom prst="rect">
            <a:avLst/>
          </a:prstGeom>
        </p:spPr>
      </p:pic>
      <p:sp>
        <p:nvSpPr>
          <p:cNvPr id="5" name="Obj 2">
            <a:hlinkClick r:id="rId8" action="ppaction://hlinksldjump"/>
            <a:extLst>
              <a:ext uri="{FF2B5EF4-FFF2-40B4-BE49-F238E27FC236}">
                <a16:creationId xmlns:a16="http://schemas.microsoft.com/office/drawing/2014/main" id="{E254E3F3-EB9B-C440-8B5C-C3BC0CD687FC}"/>
              </a:ext>
            </a:extLst>
          </p:cNvPr>
          <p:cNvSpPr/>
          <p:nvPr/>
        </p:nvSpPr>
        <p:spPr>
          <a:xfrm>
            <a:off x="176803" y="773505"/>
            <a:ext cx="1867983"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Classification</a:t>
            </a:r>
          </a:p>
        </p:txBody>
      </p:sp>
      <p:sp>
        <p:nvSpPr>
          <p:cNvPr id="7" name="Obj 2">
            <a:hlinkClick r:id="rId8" action="ppaction://hlinksldjump"/>
            <a:extLst>
              <a:ext uri="{FF2B5EF4-FFF2-40B4-BE49-F238E27FC236}">
                <a16:creationId xmlns:a16="http://schemas.microsoft.com/office/drawing/2014/main" id="{5C405FA0-1C70-3C1A-0882-7109FA2C3D71}"/>
              </a:ext>
            </a:extLst>
          </p:cNvPr>
          <p:cNvSpPr/>
          <p:nvPr/>
        </p:nvSpPr>
        <p:spPr>
          <a:xfrm>
            <a:off x="451413" y="1343662"/>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Orthostatic</a:t>
            </a:r>
          </a:p>
        </p:txBody>
      </p:sp>
      <p:pic>
        <p:nvPicPr>
          <p:cNvPr id="8" name="Graphic 7" descr="Cursor with solid fill">
            <a:extLst>
              <a:ext uri="{FF2B5EF4-FFF2-40B4-BE49-F238E27FC236}">
                <a16:creationId xmlns:a16="http://schemas.microsoft.com/office/drawing/2014/main" id="{4717C2D5-87BA-E9DA-9044-4039717DF81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593107"/>
            <a:ext cx="274320" cy="274320"/>
          </a:xfrm>
          <a:prstGeom prst="rect">
            <a:avLst/>
          </a:prstGeom>
        </p:spPr>
      </p:pic>
      <p:sp>
        <p:nvSpPr>
          <p:cNvPr id="10" name="Obj 2">
            <a:hlinkClick r:id="rId9" action="ppaction://hlinksldjump"/>
            <a:extLst>
              <a:ext uri="{FF2B5EF4-FFF2-40B4-BE49-F238E27FC236}">
                <a16:creationId xmlns:a16="http://schemas.microsoft.com/office/drawing/2014/main" id="{071046B3-3327-95E2-AE8C-7D0181334D62}"/>
              </a:ext>
            </a:extLst>
          </p:cNvPr>
          <p:cNvSpPr/>
          <p:nvPr/>
        </p:nvSpPr>
        <p:spPr>
          <a:xfrm>
            <a:off x="451413" y="1913819"/>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Reflex</a:t>
            </a:r>
          </a:p>
        </p:txBody>
      </p:sp>
      <p:pic>
        <p:nvPicPr>
          <p:cNvPr id="11" name="Graphic 10" descr="Cursor with solid fill">
            <a:extLst>
              <a:ext uri="{FF2B5EF4-FFF2-40B4-BE49-F238E27FC236}">
                <a16:creationId xmlns:a16="http://schemas.microsoft.com/office/drawing/2014/main" id="{CE35A298-A2E3-3F0B-E3AF-4287488D175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2170258"/>
            <a:ext cx="274320" cy="274320"/>
          </a:xfrm>
          <a:prstGeom prst="rect">
            <a:avLst/>
          </a:prstGeom>
        </p:spPr>
      </p:pic>
      <p:sp>
        <p:nvSpPr>
          <p:cNvPr id="26" name="Obj 2">
            <a:extLst>
              <a:ext uri="{FF2B5EF4-FFF2-40B4-BE49-F238E27FC236}">
                <a16:creationId xmlns:a16="http://schemas.microsoft.com/office/drawing/2014/main" id="{79F12720-0522-6D5A-865F-7BBABFE82E0A}"/>
              </a:ext>
            </a:extLst>
          </p:cNvPr>
          <p:cNvSpPr/>
          <p:nvPr/>
        </p:nvSpPr>
        <p:spPr>
          <a:xfrm>
            <a:off x="451411" y="2483976"/>
            <a:ext cx="1593375"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Cardiac</a:t>
            </a:r>
          </a:p>
        </p:txBody>
      </p:sp>
      <p:sp>
        <p:nvSpPr>
          <p:cNvPr id="28" name="Obj 2">
            <a:hlinkClick r:id="rId10" action="ppaction://hlinksldjump"/>
            <a:extLst>
              <a:ext uri="{FF2B5EF4-FFF2-40B4-BE49-F238E27FC236}">
                <a16:creationId xmlns:a16="http://schemas.microsoft.com/office/drawing/2014/main" id="{88CECEA2-A88E-817E-0642-F8F5EE635022}"/>
              </a:ext>
            </a:extLst>
          </p:cNvPr>
          <p:cNvSpPr/>
          <p:nvPr/>
        </p:nvSpPr>
        <p:spPr>
          <a:xfrm>
            <a:off x="176803" y="3054133"/>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pic>
        <p:nvPicPr>
          <p:cNvPr id="29" name="Graphic 28" descr="Cursor with solid fill">
            <a:extLst>
              <a:ext uri="{FF2B5EF4-FFF2-40B4-BE49-F238E27FC236}">
                <a16:creationId xmlns:a16="http://schemas.microsoft.com/office/drawing/2014/main" id="{E1CFBC79-AA92-C149-2C45-3E58A1C242F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304330"/>
            <a:ext cx="274320" cy="274320"/>
          </a:xfrm>
          <a:prstGeom prst="rect">
            <a:avLst/>
          </a:prstGeom>
        </p:spPr>
      </p:pic>
      <p:sp>
        <p:nvSpPr>
          <p:cNvPr id="30" name="Obj 2">
            <a:hlinkClick r:id="rId11" action="ppaction://hlinksldjump"/>
            <a:extLst>
              <a:ext uri="{FF2B5EF4-FFF2-40B4-BE49-F238E27FC236}">
                <a16:creationId xmlns:a16="http://schemas.microsoft.com/office/drawing/2014/main" id="{BC8A11D2-8EDF-4F6E-FD12-1E3B6EBC0596}"/>
              </a:ext>
            </a:extLst>
          </p:cNvPr>
          <p:cNvSpPr/>
          <p:nvPr/>
        </p:nvSpPr>
        <p:spPr>
          <a:xfrm>
            <a:off x="176803" y="3624290"/>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33" name="Graphic 32" descr="Cursor with solid fill">
            <a:extLst>
              <a:ext uri="{FF2B5EF4-FFF2-40B4-BE49-F238E27FC236}">
                <a16:creationId xmlns:a16="http://schemas.microsoft.com/office/drawing/2014/main" id="{CFE94CE4-1BA0-F484-61FA-898405D552D2}"/>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3875463"/>
            <a:ext cx="274320" cy="274320"/>
          </a:xfrm>
          <a:prstGeom prst="rect">
            <a:avLst/>
          </a:prstGeom>
        </p:spPr>
      </p:pic>
      <p:cxnSp>
        <p:nvCxnSpPr>
          <p:cNvPr id="38" name="Connector: Elbow 37">
            <a:extLst>
              <a:ext uri="{FF2B5EF4-FFF2-40B4-BE49-F238E27FC236}">
                <a16:creationId xmlns:a16="http://schemas.microsoft.com/office/drawing/2014/main" id="{4949EDEC-19C0-F8EA-6C84-2041D90F7676}"/>
              </a:ext>
            </a:extLst>
          </p:cNvPr>
          <p:cNvCxnSpPr/>
          <p:nvPr/>
        </p:nvCxnSpPr>
        <p:spPr>
          <a:xfrm rot="16200000" flipH="1">
            <a:off x="169215" y="1251399"/>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2270D9B1-EA71-18D0-13FC-E6EAD0DD8FE5}"/>
              </a:ext>
            </a:extLst>
          </p:cNvPr>
          <p:cNvCxnSpPr>
            <a:cxnSpLocks/>
          </p:cNvCxnSpPr>
          <p:nvPr/>
        </p:nvCxnSpPr>
        <p:spPr>
          <a:xfrm rot="16200000" flipH="1">
            <a:off x="-115864" y="1536477"/>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C1AC6B7F-8748-E5EF-198E-E8569ED59349}"/>
              </a:ext>
            </a:extLst>
          </p:cNvPr>
          <p:cNvCxnSpPr>
            <a:cxnSpLocks/>
            <a:endCxn id="26" idx="1"/>
          </p:cNvCxnSpPr>
          <p:nvPr/>
        </p:nvCxnSpPr>
        <p:spPr>
          <a:xfrm rot="16200000" flipH="1">
            <a:off x="-378611" y="1844912"/>
            <a:ext cx="1474850" cy="18519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B: definition of OH">
            <a:extLst>
              <a:ext uri="{FF2B5EF4-FFF2-40B4-BE49-F238E27FC236}">
                <a16:creationId xmlns:a16="http://schemas.microsoft.com/office/drawing/2014/main" id="{B863563C-7495-E5CB-DD88-19E9E3A2C343}"/>
              </a:ext>
            </a:extLst>
          </p:cNvPr>
          <p:cNvSpPr txBox="1"/>
          <p:nvPr/>
        </p:nvSpPr>
        <p:spPr>
          <a:xfrm>
            <a:off x="2896839" y="847772"/>
            <a:ext cx="3327593" cy="369332"/>
          </a:xfrm>
          <a:prstGeom prst="rect">
            <a:avLst/>
          </a:prstGeom>
          <a:noFill/>
        </p:spPr>
        <p:txBody>
          <a:bodyPr wrap="square" rtlCol="0">
            <a:spAutoFit/>
          </a:bodyPr>
          <a:lstStyle/>
          <a:p>
            <a:r>
              <a:rPr lang="en-US" b="1" dirty="0"/>
              <a:t>Causes of cardiac syncope</a:t>
            </a:r>
          </a:p>
        </p:txBody>
      </p:sp>
      <p:sp>
        <p:nvSpPr>
          <p:cNvPr id="55" name="DDX afterload">
            <a:extLst>
              <a:ext uri="{FF2B5EF4-FFF2-40B4-BE49-F238E27FC236}">
                <a16:creationId xmlns:a16="http://schemas.microsoft.com/office/drawing/2014/main" id="{85859A7C-2AF9-EBAE-49FE-708FA8C970B8}"/>
              </a:ext>
            </a:extLst>
          </p:cNvPr>
          <p:cNvSpPr/>
          <p:nvPr/>
        </p:nvSpPr>
        <p:spPr>
          <a:xfrm>
            <a:off x="4662674" y="1272962"/>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56" name="Graphic 55" descr="Cursor with solid fill">
            <a:extLst>
              <a:ext uri="{FF2B5EF4-FFF2-40B4-BE49-F238E27FC236}">
                <a16:creationId xmlns:a16="http://schemas.microsoft.com/office/drawing/2014/main" id="{CCF6D5B2-664A-6BA6-5443-CB6B14A2DF7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81485" y="1752896"/>
            <a:ext cx="274320" cy="274320"/>
          </a:xfrm>
          <a:prstGeom prst="rect">
            <a:avLst/>
          </a:prstGeom>
        </p:spPr>
      </p:pic>
      <p:sp>
        <p:nvSpPr>
          <p:cNvPr id="57" name="CPP">
            <a:extLst>
              <a:ext uri="{FF2B5EF4-FFF2-40B4-BE49-F238E27FC236}">
                <a16:creationId xmlns:a16="http://schemas.microsoft.com/office/drawing/2014/main" id="{3C5BF1A4-39DB-278C-BFC0-418A7FD5600D}"/>
              </a:ext>
            </a:extLst>
          </p:cNvPr>
          <p:cNvSpPr/>
          <p:nvPr/>
        </p:nvSpPr>
        <p:spPr>
          <a:xfrm>
            <a:off x="2591206" y="2189090"/>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contractility</a:t>
            </a:r>
          </a:p>
        </p:txBody>
      </p:sp>
      <p:sp>
        <p:nvSpPr>
          <p:cNvPr id="58" name="Contractility">
            <a:extLst>
              <a:ext uri="{FF2B5EF4-FFF2-40B4-BE49-F238E27FC236}">
                <a16:creationId xmlns:a16="http://schemas.microsoft.com/office/drawing/2014/main" id="{11437478-1806-6E19-AFAB-64B735CB5FD7}"/>
              </a:ext>
            </a:extLst>
          </p:cNvPr>
          <p:cNvSpPr/>
          <p:nvPr/>
        </p:nvSpPr>
        <p:spPr>
          <a:xfrm>
            <a:off x="2591206" y="2189090"/>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contractility</a:t>
            </a:r>
          </a:p>
        </p:txBody>
      </p:sp>
      <p:pic>
        <p:nvPicPr>
          <p:cNvPr id="59" name="Graphic 58" descr="Cursor with solid fill">
            <a:extLst>
              <a:ext uri="{FF2B5EF4-FFF2-40B4-BE49-F238E27FC236}">
                <a16:creationId xmlns:a16="http://schemas.microsoft.com/office/drawing/2014/main" id="{766C87E8-5B0D-F9A0-ECFE-5A15DC9835E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07424" y="2692983"/>
            <a:ext cx="274320" cy="274320"/>
          </a:xfrm>
          <a:prstGeom prst="rect">
            <a:avLst/>
          </a:prstGeom>
        </p:spPr>
      </p:pic>
      <p:sp>
        <p:nvSpPr>
          <p:cNvPr id="61" name="DDx SVR">
            <a:extLst>
              <a:ext uri="{FF2B5EF4-FFF2-40B4-BE49-F238E27FC236}">
                <a16:creationId xmlns:a16="http://schemas.microsoft.com/office/drawing/2014/main" id="{828B33DB-C085-4B6D-42DB-1545267C14C8}"/>
              </a:ext>
            </a:extLst>
          </p:cNvPr>
          <p:cNvSpPr/>
          <p:nvPr/>
        </p:nvSpPr>
        <p:spPr>
          <a:xfrm>
            <a:off x="4685198" y="2199547"/>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62" name="Graphic 61" descr="Cursor with solid fill">
            <a:extLst>
              <a:ext uri="{FF2B5EF4-FFF2-40B4-BE49-F238E27FC236}">
                <a16:creationId xmlns:a16="http://schemas.microsoft.com/office/drawing/2014/main" id="{C3EB4AA5-2406-E88D-5BD8-EB4613B2140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04009" y="2680670"/>
            <a:ext cx="274320" cy="274320"/>
          </a:xfrm>
          <a:prstGeom prst="rect">
            <a:avLst/>
          </a:prstGeom>
        </p:spPr>
      </p:pic>
      <p:sp>
        <p:nvSpPr>
          <p:cNvPr id="63" name="CPP">
            <a:extLst>
              <a:ext uri="{FF2B5EF4-FFF2-40B4-BE49-F238E27FC236}">
                <a16:creationId xmlns:a16="http://schemas.microsoft.com/office/drawing/2014/main" id="{41B66D21-0A49-1863-C9BA-E5EBE6181E54}"/>
              </a:ext>
            </a:extLst>
          </p:cNvPr>
          <p:cNvSpPr/>
          <p:nvPr/>
        </p:nvSpPr>
        <p:spPr>
          <a:xfrm>
            <a:off x="2591206" y="3130881"/>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HR</a:t>
            </a:r>
          </a:p>
        </p:txBody>
      </p:sp>
      <p:sp>
        <p:nvSpPr>
          <p:cNvPr id="64" name="Low HR">
            <a:extLst>
              <a:ext uri="{FF2B5EF4-FFF2-40B4-BE49-F238E27FC236}">
                <a16:creationId xmlns:a16="http://schemas.microsoft.com/office/drawing/2014/main" id="{56EAB253-0485-43B8-6422-02362A598BB8}"/>
              </a:ext>
            </a:extLst>
          </p:cNvPr>
          <p:cNvSpPr/>
          <p:nvPr/>
        </p:nvSpPr>
        <p:spPr>
          <a:xfrm>
            <a:off x="2591206" y="3130881"/>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HR</a:t>
            </a:r>
          </a:p>
        </p:txBody>
      </p:sp>
      <p:pic>
        <p:nvPicPr>
          <p:cNvPr id="65" name="Graphic 64" descr="Cursor with solid fill">
            <a:extLst>
              <a:ext uri="{FF2B5EF4-FFF2-40B4-BE49-F238E27FC236}">
                <a16:creationId xmlns:a16="http://schemas.microsoft.com/office/drawing/2014/main" id="{25375BDE-A608-F3D2-ADAF-2B969576FD4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07424" y="3611473"/>
            <a:ext cx="274320" cy="274320"/>
          </a:xfrm>
          <a:prstGeom prst="rect">
            <a:avLst/>
          </a:prstGeom>
        </p:spPr>
      </p:pic>
      <p:sp>
        <p:nvSpPr>
          <p:cNvPr id="66" name="CPP">
            <a:extLst>
              <a:ext uri="{FF2B5EF4-FFF2-40B4-BE49-F238E27FC236}">
                <a16:creationId xmlns:a16="http://schemas.microsoft.com/office/drawing/2014/main" id="{66EFFBFF-8CE5-37A7-E339-65058E8BAB47}"/>
              </a:ext>
            </a:extLst>
          </p:cNvPr>
          <p:cNvSpPr/>
          <p:nvPr/>
        </p:nvSpPr>
        <p:spPr>
          <a:xfrm>
            <a:off x="2591206" y="4063223"/>
            <a:ext cx="1656588" cy="6400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preload</a:t>
            </a:r>
          </a:p>
        </p:txBody>
      </p:sp>
      <p:sp>
        <p:nvSpPr>
          <p:cNvPr id="67" name="Low preload">
            <a:extLst>
              <a:ext uri="{FF2B5EF4-FFF2-40B4-BE49-F238E27FC236}">
                <a16:creationId xmlns:a16="http://schemas.microsoft.com/office/drawing/2014/main" id="{50307AF2-F5A0-D6A5-7375-3DCDF82A661B}"/>
              </a:ext>
            </a:extLst>
          </p:cNvPr>
          <p:cNvSpPr/>
          <p:nvPr/>
        </p:nvSpPr>
        <p:spPr>
          <a:xfrm>
            <a:off x="2591206" y="4063223"/>
            <a:ext cx="1656588" cy="6400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preload</a:t>
            </a:r>
          </a:p>
        </p:txBody>
      </p:sp>
      <p:pic>
        <p:nvPicPr>
          <p:cNvPr id="70" name="Graphic 69" descr="Cursor with solid fill">
            <a:extLst>
              <a:ext uri="{FF2B5EF4-FFF2-40B4-BE49-F238E27FC236}">
                <a16:creationId xmlns:a16="http://schemas.microsoft.com/office/drawing/2014/main" id="{BE32A7D8-9CDB-B6BA-7372-B9CA3A9819F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07424" y="4549186"/>
            <a:ext cx="274320" cy="274320"/>
          </a:xfrm>
          <a:prstGeom prst="rect">
            <a:avLst/>
          </a:prstGeom>
        </p:spPr>
      </p:pic>
      <p:sp>
        <p:nvSpPr>
          <p:cNvPr id="71" name="DDx HR">
            <a:extLst>
              <a:ext uri="{FF2B5EF4-FFF2-40B4-BE49-F238E27FC236}">
                <a16:creationId xmlns:a16="http://schemas.microsoft.com/office/drawing/2014/main" id="{BEC69101-73DE-6113-E467-DF49D57BC2C8}"/>
              </a:ext>
            </a:extLst>
          </p:cNvPr>
          <p:cNvSpPr/>
          <p:nvPr/>
        </p:nvSpPr>
        <p:spPr>
          <a:xfrm>
            <a:off x="4676570" y="3141338"/>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72" name="Graphic 71" descr="Cursor with solid fill">
            <a:extLst>
              <a:ext uri="{FF2B5EF4-FFF2-40B4-BE49-F238E27FC236}">
                <a16:creationId xmlns:a16="http://schemas.microsoft.com/office/drawing/2014/main" id="{895BA7E7-F8E5-E155-70D3-AEE155A4699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95381" y="3621272"/>
            <a:ext cx="274320" cy="274320"/>
          </a:xfrm>
          <a:prstGeom prst="rect">
            <a:avLst/>
          </a:prstGeom>
        </p:spPr>
      </p:pic>
      <p:sp>
        <p:nvSpPr>
          <p:cNvPr id="73" name="DDx SV">
            <a:extLst>
              <a:ext uri="{FF2B5EF4-FFF2-40B4-BE49-F238E27FC236}">
                <a16:creationId xmlns:a16="http://schemas.microsoft.com/office/drawing/2014/main" id="{923A16DB-3139-6047-DEA5-62682B8D8388}"/>
              </a:ext>
            </a:extLst>
          </p:cNvPr>
          <p:cNvSpPr/>
          <p:nvPr/>
        </p:nvSpPr>
        <p:spPr>
          <a:xfrm>
            <a:off x="4685198" y="4073680"/>
            <a:ext cx="1656588" cy="61916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74" name="Graphic 73" descr="Cursor with solid fill">
            <a:extLst>
              <a:ext uri="{FF2B5EF4-FFF2-40B4-BE49-F238E27FC236}">
                <a16:creationId xmlns:a16="http://schemas.microsoft.com/office/drawing/2014/main" id="{1EF221CC-4EA9-A0F1-CB1C-4796C90EF36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04009" y="4538444"/>
            <a:ext cx="274320" cy="274320"/>
          </a:xfrm>
          <a:prstGeom prst="rect">
            <a:avLst/>
          </a:prstGeom>
        </p:spPr>
      </p:pic>
      <p:sp>
        <p:nvSpPr>
          <p:cNvPr id="77" name="TextBox 76">
            <a:extLst>
              <a:ext uri="{FF2B5EF4-FFF2-40B4-BE49-F238E27FC236}">
                <a16:creationId xmlns:a16="http://schemas.microsoft.com/office/drawing/2014/main" id="{41020DDE-53FB-51C3-3B1A-50E2C3B79D65}"/>
              </a:ext>
            </a:extLst>
          </p:cNvPr>
          <p:cNvSpPr txBox="1"/>
          <p:nvPr/>
        </p:nvSpPr>
        <p:spPr>
          <a:xfrm>
            <a:off x="4694218" y="1290158"/>
            <a:ext cx="3017520" cy="584775"/>
          </a:xfrm>
          <a:prstGeom prst="rect">
            <a:avLst/>
          </a:prstGeom>
          <a:noFill/>
        </p:spPr>
        <p:txBody>
          <a:bodyPr wrap="square" rtlCol="0">
            <a:spAutoFit/>
          </a:bodyPr>
          <a:lstStyle/>
          <a:p>
            <a:r>
              <a:rPr lang="en-US" sz="1600" dirty="0"/>
              <a:t>Aortic stenosis</a:t>
            </a:r>
          </a:p>
          <a:p>
            <a:r>
              <a:rPr lang="en-US" sz="1600" dirty="0"/>
              <a:t>HOCM</a:t>
            </a:r>
          </a:p>
        </p:txBody>
      </p:sp>
      <p:sp>
        <p:nvSpPr>
          <p:cNvPr id="80" name="TextBox 79">
            <a:extLst>
              <a:ext uri="{FF2B5EF4-FFF2-40B4-BE49-F238E27FC236}">
                <a16:creationId xmlns:a16="http://schemas.microsoft.com/office/drawing/2014/main" id="{2C06D864-F41D-CBEA-21DD-F0276625E944}"/>
              </a:ext>
            </a:extLst>
          </p:cNvPr>
          <p:cNvSpPr txBox="1"/>
          <p:nvPr/>
        </p:nvSpPr>
        <p:spPr>
          <a:xfrm>
            <a:off x="4706739" y="2216743"/>
            <a:ext cx="3017520" cy="584775"/>
          </a:xfrm>
          <a:prstGeom prst="rect">
            <a:avLst/>
          </a:prstGeom>
          <a:noFill/>
        </p:spPr>
        <p:txBody>
          <a:bodyPr wrap="square" rtlCol="0">
            <a:spAutoFit/>
          </a:bodyPr>
          <a:lstStyle/>
          <a:p>
            <a:r>
              <a:rPr lang="en-US" sz="1600" dirty="0"/>
              <a:t>MI</a:t>
            </a:r>
          </a:p>
          <a:p>
            <a:r>
              <a:rPr lang="en-US" sz="1600" dirty="0"/>
              <a:t>Ventricular arrhythmias</a:t>
            </a:r>
          </a:p>
        </p:txBody>
      </p:sp>
      <p:cxnSp>
        <p:nvCxnSpPr>
          <p:cNvPr id="82" name="Straight Connector 81">
            <a:extLst>
              <a:ext uri="{FF2B5EF4-FFF2-40B4-BE49-F238E27FC236}">
                <a16:creationId xmlns:a16="http://schemas.microsoft.com/office/drawing/2014/main" id="{0568FC20-D6E4-09F1-6384-84EEF6195DC5}"/>
              </a:ext>
            </a:extLst>
          </p:cNvPr>
          <p:cNvCxnSpPr>
            <a:cxnSpLocks/>
          </p:cNvCxnSpPr>
          <p:nvPr/>
        </p:nvCxnSpPr>
        <p:spPr>
          <a:xfrm flipV="1">
            <a:off x="11985368" y="4261172"/>
            <a:ext cx="14352" cy="1389699"/>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ECDC23A-DC95-4B89-FC5D-38B158B66A77}"/>
              </a:ext>
            </a:extLst>
          </p:cNvPr>
          <p:cNvSpPr txBox="1"/>
          <p:nvPr/>
        </p:nvSpPr>
        <p:spPr>
          <a:xfrm>
            <a:off x="4682779" y="3158534"/>
            <a:ext cx="3017520" cy="584775"/>
          </a:xfrm>
          <a:prstGeom prst="rect">
            <a:avLst/>
          </a:prstGeom>
          <a:noFill/>
        </p:spPr>
        <p:txBody>
          <a:bodyPr wrap="square" rtlCol="0">
            <a:spAutoFit/>
          </a:bodyPr>
          <a:lstStyle/>
          <a:p>
            <a:r>
              <a:rPr lang="en-US" sz="1600" dirty="0"/>
              <a:t>Heart block</a:t>
            </a:r>
          </a:p>
          <a:p>
            <a:r>
              <a:rPr lang="en-US" sz="1600" dirty="0"/>
              <a:t>Sinus node dysfunction</a:t>
            </a:r>
          </a:p>
        </p:txBody>
      </p:sp>
      <p:grpSp>
        <p:nvGrpSpPr>
          <p:cNvPr id="85" name="Group 84">
            <a:extLst>
              <a:ext uri="{FF2B5EF4-FFF2-40B4-BE49-F238E27FC236}">
                <a16:creationId xmlns:a16="http://schemas.microsoft.com/office/drawing/2014/main" id="{0A57C92A-D811-C649-31F9-4F53E4C71550}"/>
              </a:ext>
            </a:extLst>
          </p:cNvPr>
          <p:cNvGrpSpPr/>
          <p:nvPr/>
        </p:nvGrpSpPr>
        <p:grpSpPr>
          <a:xfrm>
            <a:off x="10457636" y="5552347"/>
            <a:ext cx="1542877" cy="180109"/>
            <a:chOff x="5075956" y="3857461"/>
            <a:chExt cx="5978334" cy="352960"/>
          </a:xfrm>
        </p:grpSpPr>
        <p:cxnSp>
          <p:nvCxnSpPr>
            <p:cNvPr id="86" name="Straight Connector 85">
              <a:extLst>
                <a:ext uri="{FF2B5EF4-FFF2-40B4-BE49-F238E27FC236}">
                  <a16:creationId xmlns:a16="http://schemas.microsoft.com/office/drawing/2014/main" id="{35D1AA31-B050-9CF4-65AC-21CF2DF245A4}"/>
                </a:ext>
              </a:extLst>
            </p:cNvPr>
            <p:cNvCxnSpPr>
              <a:cxnSpLocks/>
            </p:cNvCxnSpPr>
            <p:nvPr/>
          </p:nvCxnSpPr>
          <p:spPr>
            <a:xfrm flipV="1">
              <a:off x="5313438" y="4027855"/>
              <a:ext cx="5740852" cy="7723"/>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4EDB40-5B24-ADBC-E905-68C5131263D1}"/>
                </a:ext>
              </a:extLst>
            </p:cNvPr>
            <p:cNvCxnSpPr>
              <a:cxnSpLocks/>
            </p:cNvCxnSpPr>
            <p:nvPr/>
          </p:nvCxnSpPr>
          <p:spPr>
            <a:xfrm flipV="1">
              <a:off x="5113098" y="4027855"/>
              <a:ext cx="236713" cy="182566"/>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9932D19-B0BE-383E-78B7-A85C409AE94A}"/>
                </a:ext>
              </a:extLst>
            </p:cNvPr>
            <p:cNvCxnSpPr>
              <a:cxnSpLocks/>
            </p:cNvCxnSpPr>
            <p:nvPr/>
          </p:nvCxnSpPr>
          <p:spPr>
            <a:xfrm>
              <a:off x="5075956" y="3857461"/>
              <a:ext cx="252524" cy="159187"/>
            </a:xfrm>
            <a:prstGeom prst="line">
              <a:avLst/>
            </a:prstGeom>
            <a:ln w="381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92" name="Arrow: Down 91">
            <a:extLst>
              <a:ext uri="{FF2B5EF4-FFF2-40B4-BE49-F238E27FC236}">
                <a16:creationId xmlns:a16="http://schemas.microsoft.com/office/drawing/2014/main" id="{8C88933C-1134-342F-6D29-67162399E882}"/>
              </a:ext>
            </a:extLst>
          </p:cNvPr>
          <p:cNvSpPr/>
          <p:nvPr/>
        </p:nvSpPr>
        <p:spPr>
          <a:xfrm>
            <a:off x="9738440" y="553342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Arrow: Down 94">
            <a:extLst>
              <a:ext uri="{FF2B5EF4-FFF2-40B4-BE49-F238E27FC236}">
                <a16:creationId xmlns:a16="http://schemas.microsoft.com/office/drawing/2014/main" id="{CE1F91FF-24A2-7D6D-970A-7A58720F9A97}"/>
              </a:ext>
            </a:extLst>
          </p:cNvPr>
          <p:cNvSpPr/>
          <p:nvPr/>
        </p:nvSpPr>
        <p:spPr>
          <a:xfrm>
            <a:off x="10640396" y="5169134"/>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112735EF-A316-D9C1-186F-F8D4810FD585}"/>
              </a:ext>
            </a:extLst>
          </p:cNvPr>
          <p:cNvSpPr txBox="1"/>
          <p:nvPr/>
        </p:nvSpPr>
        <p:spPr>
          <a:xfrm>
            <a:off x="4694218" y="3982686"/>
            <a:ext cx="3017520" cy="830997"/>
          </a:xfrm>
          <a:prstGeom prst="rect">
            <a:avLst/>
          </a:prstGeom>
          <a:noFill/>
        </p:spPr>
        <p:txBody>
          <a:bodyPr wrap="square" rtlCol="0">
            <a:spAutoFit/>
          </a:bodyPr>
          <a:lstStyle/>
          <a:p>
            <a:r>
              <a:rPr lang="en-US" sz="1600" dirty="0"/>
              <a:t>Tachyarrhythmias (SVT) Tamponade, PE, pulmonary HTN</a:t>
            </a:r>
          </a:p>
          <a:p>
            <a:r>
              <a:rPr lang="en-US" sz="1600" dirty="0"/>
              <a:t>Aortic dissection</a:t>
            </a:r>
          </a:p>
        </p:txBody>
      </p:sp>
      <p:sp>
        <p:nvSpPr>
          <p:cNvPr id="3" name="Arrow: Down 2">
            <a:extLst>
              <a:ext uri="{FF2B5EF4-FFF2-40B4-BE49-F238E27FC236}">
                <a16:creationId xmlns:a16="http://schemas.microsoft.com/office/drawing/2014/main" id="{B44A84F3-0C67-8C49-EC7E-B7B72FF42E66}"/>
              </a:ext>
            </a:extLst>
          </p:cNvPr>
          <p:cNvSpPr/>
          <p:nvPr/>
        </p:nvSpPr>
        <p:spPr>
          <a:xfrm>
            <a:off x="10033400" y="6075077"/>
            <a:ext cx="209568" cy="285123"/>
          </a:xfrm>
          <a:prstGeom prst="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teachIM logo" descr="Icon  Description automatically generated">
            <a:extLst>
              <a:ext uri="{FF2B5EF4-FFF2-40B4-BE49-F238E27FC236}">
                <a16:creationId xmlns:a16="http://schemas.microsoft.com/office/drawing/2014/main" id="{A9875708-B287-D2A2-D99A-DCD90E21E30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12" name="Arrow: Down 11">
            <a:extLst>
              <a:ext uri="{FF2B5EF4-FFF2-40B4-BE49-F238E27FC236}">
                <a16:creationId xmlns:a16="http://schemas.microsoft.com/office/drawing/2014/main" id="{A471C8D7-880B-4F09-E341-A76156C5D12F}"/>
              </a:ext>
            </a:extLst>
          </p:cNvPr>
          <p:cNvSpPr/>
          <p:nvPr/>
        </p:nvSpPr>
        <p:spPr>
          <a:xfrm flipV="1">
            <a:off x="10624731" y="3511185"/>
            <a:ext cx="209568" cy="285123"/>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bj 2">
            <a:hlinkClick r:id="rId13" action="ppaction://hlinksldjump"/>
            <a:extLst>
              <a:ext uri="{FF2B5EF4-FFF2-40B4-BE49-F238E27FC236}">
                <a16:creationId xmlns:a16="http://schemas.microsoft.com/office/drawing/2014/main" id="{6B0FBA5F-9796-B6B6-5796-BF6E2D4B3600}"/>
              </a:ext>
            </a:extLst>
          </p:cNvPr>
          <p:cNvSpPr/>
          <p:nvPr/>
        </p:nvSpPr>
        <p:spPr>
          <a:xfrm>
            <a:off x="176802" y="4191732"/>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4" name="Graphic 13" descr="Cursor with solid fill">
            <a:extLst>
              <a:ext uri="{FF2B5EF4-FFF2-40B4-BE49-F238E27FC236}">
                <a16:creationId xmlns:a16="http://schemas.microsoft.com/office/drawing/2014/main" id="{B95B6247-6183-96F3-69C8-BD9D1DF49F8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7" y="4442905"/>
            <a:ext cx="274320" cy="274320"/>
          </a:xfrm>
          <a:prstGeom prst="rect">
            <a:avLst/>
          </a:prstGeom>
        </p:spPr>
      </p:pic>
    </p:spTree>
    <p:extLst>
      <p:ext uri="{BB962C8B-B14F-4D97-AF65-F5344CB8AC3E}">
        <p14:creationId xmlns:p14="http://schemas.microsoft.com/office/powerpoint/2010/main" val="368212441"/>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25"/>
                                        </p:tgtEl>
                                        <p:attrNameLst>
                                          <p:attrName>style.visibility</p:attrName>
                                        </p:attrNameLst>
                                      </p:cBhvr>
                                      <p:to>
                                        <p:strVal val="hidden"/>
                                      </p:to>
                                    </p:set>
                                  </p:childTnLst>
                                </p:cTn>
                              </p:par>
                              <p:par>
                                <p:cTn id="9" presetID="1" presetClass="entr" presetSubtype="0" fill="hold" grpId="1"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5" nodeType="afterEffect">
                                  <p:stCondLst>
                                    <p:cond delay="1000"/>
                                  </p:stCondLst>
                                  <p:childTnLst>
                                    <p:set>
                                      <p:cBhvr>
                                        <p:cTn id="17" dur="1" fill="hold">
                                          <p:stCondLst>
                                            <p:cond delay="0"/>
                                          </p:stCondLst>
                                        </p:cTn>
                                        <p:tgtEl>
                                          <p:spTgt spid="170"/>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grpId="2" nodeType="afterEffect">
                                  <p:stCondLst>
                                    <p:cond delay="1000"/>
                                  </p:stCondLst>
                                  <p:childTnLst>
                                    <p:set>
                                      <p:cBhvr>
                                        <p:cTn id="20" dur="1" fill="hold">
                                          <p:stCondLst>
                                            <p:cond delay="0"/>
                                          </p:stCondLst>
                                        </p:cTn>
                                        <p:tgtEl>
                                          <p:spTgt spid="172"/>
                                        </p:tgtEl>
                                        <p:attrNameLst>
                                          <p:attrName>style.visibility</p:attrName>
                                        </p:attrNameLst>
                                      </p:cBhvr>
                                      <p:to>
                                        <p:strVal val="visible"/>
                                      </p:to>
                                    </p:set>
                                  </p:childTnLst>
                                </p:cTn>
                              </p:par>
                            </p:childTnLst>
                          </p:cTn>
                        </p:par>
                        <p:par>
                          <p:cTn id="21" fill="hold">
                            <p:stCondLst>
                              <p:cond delay="2000"/>
                            </p:stCondLst>
                            <p:childTnLst>
                              <p:par>
                                <p:cTn id="22" presetID="1" presetClass="entr" presetSubtype="0" fill="hold" grpId="0" nodeType="afterEffect">
                                  <p:stCondLst>
                                    <p:cond delay="1000"/>
                                  </p:stCondLst>
                                  <p:childTnLst>
                                    <p:set>
                                      <p:cBhvr>
                                        <p:cTn id="23"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24" restart="whenNotActive" fill="hold" evtFilter="cancelBubble" nodeType="interactiveSeq">
                <p:stCondLst>
                  <p:cond evt="onClick" delay="0">
                    <p:tgtEl>
                      <p:spTgt spid="55"/>
                    </p:tgtEl>
                  </p:cond>
                </p:stCondLst>
                <p:endSync evt="end" delay="0">
                  <p:rtn val="all"/>
                </p:endSync>
                <p:childTnLst>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par>
                                <p:cTn id="29" presetID="1" presetClass="exit"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55"/>
                  </p:tgtEl>
                </p:cond>
              </p:nextCondLst>
            </p:seq>
            <p:seq concurrent="1" nextAc="seek">
              <p:cTn id="33" restart="whenNotActive" fill="hold" evtFilter="cancelBubble" nodeType="interactiveSeq">
                <p:stCondLst>
                  <p:cond evt="onClick" delay="0">
                    <p:tgtEl>
                      <p:spTgt spid="58"/>
                    </p:tgtEl>
                  </p:cond>
                </p:stCondLst>
                <p:endSync evt="end" delay="0">
                  <p:rtn val="all"/>
                </p:endSync>
                <p:childTnLst>
                  <p:par>
                    <p:cTn id="34" fill="hold">
                      <p:stCondLst>
                        <p:cond delay="0"/>
                      </p:stCondLst>
                      <p:childTnLst>
                        <p:par>
                          <p:cTn id="35" fill="hold">
                            <p:stCondLst>
                              <p:cond delay="0"/>
                            </p:stCondLst>
                            <p:childTnLst>
                              <p:par>
                                <p:cTn id="36" presetID="1" presetClass="exit" presetSubtype="0" fill="hold" grpId="0" nodeType="withEffect">
                                  <p:stCondLst>
                                    <p:cond delay="0"/>
                                  </p:stCondLst>
                                  <p:childTnLst>
                                    <p:set>
                                      <p:cBhvr>
                                        <p:cTn id="37" dur="1" fill="hold">
                                          <p:stCondLst>
                                            <p:cond delay="0"/>
                                          </p:stCondLst>
                                        </p:cTn>
                                        <p:tgtEl>
                                          <p:spTgt spid="58"/>
                                        </p:tgtEl>
                                        <p:attrNameLst>
                                          <p:attrName>style.visibility</p:attrName>
                                        </p:attrNameLst>
                                      </p:cBhvr>
                                      <p:to>
                                        <p:strVal val="hidden"/>
                                      </p:to>
                                    </p:set>
                                  </p:childTnLst>
                                </p:cTn>
                              </p:par>
                              <p:par>
                                <p:cTn id="38" presetID="1" presetClass="exit" presetSubtype="0" fill="hold" grpId="5" nodeType="withEffect">
                                  <p:stCondLst>
                                    <p:cond delay="0"/>
                                  </p:stCondLst>
                                  <p:childTnLst>
                                    <p:set>
                                      <p:cBhvr>
                                        <p:cTn id="39" dur="1" fill="hold">
                                          <p:stCondLst>
                                            <p:cond delay="0"/>
                                          </p:stCondLst>
                                        </p:cTn>
                                        <p:tgtEl>
                                          <p:spTgt spid="172"/>
                                        </p:tgtEl>
                                        <p:attrNameLst>
                                          <p:attrName>style.visibility</p:attrName>
                                        </p:attrNameLst>
                                      </p:cBhvr>
                                      <p:to>
                                        <p:strVal val="hidden"/>
                                      </p:to>
                                    </p:set>
                                  </p:childTnLst>
                                </p:cTn>
                              </p:par>
                              <p:par>
                                <p:cTn id="40" presetID="1" presetClass="exit" presetSubtype="0" fill="hold" grpId="2" nodeType="withEffect">
                                  <p:stCondLst>
                                    <p:cond delay="0"/>
                                  </p:stCondLst>
                                  <p:childTnLst>
                                    <p:set>
                                      <p:cBhvr>
                                        <p:cTn id="41" dur="1" fill="hold">
                                          <p:stCondLst>
                                            <p:cond delay="0"/>
                                          </p:stCondLst>
                                        </p:cTn>
                                        <p:tgtEl>
                                          <p:spTgt spid="173"/>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59"/>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12"/>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61"/>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grpId="0" nodeType="afterEffect">
                                  <p:stCondLst>
                                    <p:cond delay="1000"/>
                                  </p:stCondLst>
                                  <p:childTnLst>
                                    <p:set>
                                      <p:cBhvr>
                                        <p:cTn id="54" dur="1" fill="hold">
                                          <p:stCondLst>
                                            <p:cond delay="0"/>
                                          </p:stCondLst>
                                        </p:cTn>
                                        <p:tgtEl>
                                          <p:spTgt spid="92"/>
                                        </p:tgtEl>
                                        <p:attrNameLst>
                                          <p:attrName>style.visibility</p:attrName>
                                        </p:attrNameLst>
                                      </p:cBhvr>
                                      <p:to>
                                        <p:strVal val="visible"/>
                                      </p:to>
                                    </p:set>
                                  </p:childTnLst>
                                </p:cTn>
                              </p:par>
                            </p:childTnLst>
                          </p:cTn>
                        </p:par>
                        <p:par>
                          <p:cTn id="55" fill="hold">
                            <p:stCondLst>
                              <p:cond delay="1000"/>
                            </p:stCondLst>
                            <p:childTnLst>
                              <p:par>
                                <p:cTn id="56" presetID="1" presetClass="entr" presetSubtype="0" fill="hold" grpId="0" nodeType="afterEffect">
                                  <p:stCondLst>
                                    <p:cond delay="1000"/>
                                  </p:stCondLst>
                                  <p:childTnLst>
                                    <p:set>
                                      <p:cBhvr>
                                        <p:cTn id="57" dur="1" fill="hold">
                                          <p:stCondLst>
                                            <p:cond delay="0"/>
                                          </p:stCondLst>
                                        </p:cTn>
                                        <p:tgtEl>
                                          <p:spTgt spid="170"/>
                                        </p:tgtEl>
                                        <p:attrNameLst>
                                          <p:attrName>style.visibility</p:attrName>
                                        </p:attrNameLst>
                                      </p:cBhvr>
                                      <p:to>
                                        <p:strVal val="visible"/>
                                      </p:to>
                                    </p:set>
                                  </p:childTnLst>
                                </p:cTn>
                              </p:par>
                            </p:childTnLst>
                          </p:cTn>
                        </p:par>
                        <p:par>
                          <p:cTn id="58" fill="hold">
                            <p:stCondLst>
                              <p:cond delay="2000"/>
                            </p:stCondLst>
                            <p:childTnLst>
                              <p:par>
                                <p:cTn id="59" presetID="1" presetClass="entr" presetSubtype="0" fill="hold" grpId="0" nodeType="afterEffect">
                                  <p:stCondLst>
                                    <p:cond delay="1000"/>
                                  </p:stCondLst>
                                  <p:childTnLst>
                                    <p:set>
                                      <p:cBhvr>
                                        <p:cTn id="60" dur="1" fill="hold">
                                          <p:stCondLst>
                                            <p:cond delay="0"/>
                                          </p:stCondLst>
                                        </p:cTn>
                                        <p:tgtEl>
                                          <p:spTgt spid="172"/>
                                        </p:tgtEl>
                                        <p:attrNameLst>
                                          <p:attrName>style.visibility</p:attrName>
                                        </p:attrNameLst>
                                      </p:cBhvr>
                                      <p:to>
                                        <p:strVal val="visible"/>
                                      </p:to>
                                    </p:set>
                                  </p:childTnLst>
                                </p:cTn>
                              </p:par>
                            </p:childTnLst>
                          </p:cTn>
                        </p:par>
                        <p:par>
                          <p:cTn id="61" fill="hold">
                            <p:stCondLst>
                              <p:cond delay="3000"/>
                            </p:stCondLst>
                            <p:childTnLst>
                              <p:par>
                                <p:cTn id="62" presetID="1" presetClass="entr" presetSubtype="0" fill="hold" grpId="1" nodeType="afterEffect">
                                  <p:stCondLst>
                                    <p:cond delay="1000"/>
                                  </p:stCondLst>
                                  <p:childTnLst>
                                    <p:set>
                                      <p:cBhvr>
                                        <p:cTn id="63"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64" restart="whenNotActive" fill="hold" evtFilter="cancelBubble" nodeType="interactiveSeq">
                <p:stCondLst>
                  <p:cond evt="onClick" delay="0">
                    <p:tgtEl>
                      <p:spTgt spid="61"/>
                    </p:tgtEl>
                  </p:cond>
                </p:stCondLst>
                <p:endSync evt="end" delay="0">
                  <p:rtn val="all"/>
                </p:endSync>
                <p:childTnLst>
                  <p:par>
                    <p:cTn id="65" fill="hold">
                      <p:stCondLst>
                        <p:cond delay="0"/>
                      </p:stCondLst>
                      <p:childTnLst>
                        <p:par>
                          <p:cTn id="66" fill="hold">
                            <p:stCondLst>
                              <p:cond delay="0"/>
                            </p:stCondLst>
                            <p:childTnLst>
                              <p:par>
                                <p:cTn id="67" presetID="1" presetClass="exit" presetSubtype="0" fill="hold" grpId="1" nodeType="withEffect">
                                  <p:stCondLst>
                                    <p:cond delay="0"/>
                                  </p:stCondLst>
                                  <p:childTnLst>
                                    <p:set>
                                      <p:cBhvr>
                                        <p:cTn id="68" dur="1" fill="hold">
                                          <p:stCondLst>
                                            <p:cond delay="0"/>
                                          </p:stCondLst>
                                        </p:cTn>
                                        <p:tgtEl>
                                          <p:spTgt spid="61"/>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62"/>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80"/>
                                        </p:tgtEl>
                                        <p:attrNameLst>
                                          <p:attrName>style.visibility</p:attrName>
                                        </p:attrNameLst>
                                      </p:cBhvr>
                                      <p:to>
                                        <p:strVal val="visible"/>
                                      </p:to>
                                    </p:set>
                                  </p:childTnLst>
                                </p:cTn>
                              </p:par>
                            </p:childTnLst>
                          </p:cTn>
                        </p:par>
                      </p:childTnLst>
                    </p:cTn>
                  </p:par>
                </p:childTnLst>
              </p:cTn>
              <p:nextCondLst>
                <p:cond evt="onClick" delay="0">
                  <p:tgtEl>
                    <p:spTgt spid="61"/>
                  </p:tgtEl>
                </p:cond>
              </p:nextCondLst>
            </p:seq>
            <p:seq concurrent="1" nextAc="seek">
              <p:cTn id="73" restart="whenNotActive" fill="hold" evtFilter="cancelBubble" nodeType="interactiveSeq">
                <p:stCondLst>
                  <p:cond evt="onClick" delay="0">
                    <p:tgtEl>
                      <p:spTgt spid="64"/>
                    </p:tgtEl>
                  </p:cond>
                </p:stCondLst>
                <p:endSync evt="end" delay="0">
                  <p:rtn val="all"/>
                </p:endSync>
                <p:childTnLst>
                  <p:par>
                    <p:cTn id="74" fill="hold">
                      <p:stCondLst>
                        <p:cond delay="0"/>
                      </p:stCondLst>
                      <p:childTnLst>
                        <p:par>
                          <p:cTn id="75" fill="hold">
                            <p:stCondLst>
                              <p:cond delay="0"/>
                            </p:stCondLst>
                            <p:childTnLst>
                              <p:par>
                                <p:cTn id="76" presetID="1" presetClass="exit" presetSubtype="0" fill="hold" grpId="3" nodeType="clickEffect">
                                  <p:stCondLst>
                                    <p:cond delay="0"/>
                                  </p:stCondLst>
                                  <p:childTnLst>
                                    <p:set>
                                      <p:cBhvr>
                                        <p:cTn id="77" dur="1" fill="hold">
                                          <p:stCondLst>
                                            <p:cond delay="0"/>
                                          </p:stCondLst>
                                        </p:cTn>
                                        <p:tgtEl>
                                          <p:spTgt spid="173"/>
                                        </p:tgtEl>
                                        <p:attrNameLst>
                                          <p:attrName>style.visibility</p:attrName>
                                        </p:attrNameLst>
                                      </p:cBhvr>
                                      <p:to>
                                        <p:strVal val="hidden"/>
                                      </p:to>
                                    </p:set>
                                  </p:childTnLst>
                                </p:cTn>
                              </p:par>
                              <p:par>
                                <p:cTn id="78" presetID="1" presetClass="exit" presetSubtype="0" fill="hold" grpId="2" nodeType="withEffect">
                                  <p:stCondLst>
                                    <p:cond delay="0"/>
                                  </p:stCondLst>
                                  <p:childTnLst>
                                    <p:set>
                                      <p:cBhvr>
                                        <p:cTn id="79" dur="1" fill="hold">
                                          <p:stCondLst>
                                            <p:cond delay="0"/>
                                          </p:stCondLst>
                                        </p:cTn>
                                        <p:tgtEl>
                                          <p:spTgt spid="3"/>
                                        </p:tgtEl>
                                        <p:attrNameLst>
                                          <p:attrName>style.visibility</p:attrName>
                                        </p:attrNameLst>
                                      </p:cBhvr>
                                      <p:to>
                                        <p:strVal val="hidden"/>
                                      </p:to>
                                    </p:set>
                                  </p:childTnLst>
                                </p:cTn>
                              </p:par>
                              <p:par>
                                <p:cTn id="80" presetID="1" presetClass="exit" presetSubtype="0" fill="hold" grpId="3" nodeType="withEffect">
                                  <p:stCondLst>
                                    <p:cond delay="0"/>
                                  </p:stCondLst>
                                  <p:childTnLst>
                                    <p:set>
                                      <p:cBhvr>
                                        <p:cTn id="81" dur="1" fill="hold">
                                          <p:stCondLst>
                                            <p:cond delay="0"/>
                                          </p:stCondLst>
                                        </p:cTn>
                                        <p:tgtEl>
                                          <p:spTgt spid="92"/>
                                        </p:tgtEl>
                                        <p:attrNameLst>
                                          <p:attrName>style.visibility</p:attrName>
                                        </p:attrNameLst>
                                      </p:cBhvr>
                                      <p:to>
                                        <p:strVal val="hidden"/>
                                      </p:to>
                                    </p:set>
                                  </p:childTnLst>
                                </p:cTn>
                              </p:par>
                              <p:par>
                                <p:cTn id="82" presetID="1" presetClass="exit" presetSubtype="0" fill="hold" grpId="4" nodeType="withEffect">
                                  <p:stCondLst>
                                    <p:cond delay="0"/>
                                  </p:stCondLst>
                                  <p:childTnLst>
                                    <p:set>
                                      <p:cBhvr>
                                        <p:cTn id="83" dur="1" fill="hold">
                                          <p:stCondLst>
                                            <p:cond delay="0"/>
                                          </p:stCondLst>
                                        </p:cTn>
                                        <p:tgtEl>
                                          <p:spTgt spid="170"/>
                                        </p:tgtEl>
                                        <p:attrNameLst>
                                          <p:attrName>style.visibility</p:attrName>
                                        </p:attrNameLst>
                                      </p:cBhvr>
                                      <p:to>
                                        <p:strVal val="hidden"/>
                                      </p:to>
                                    </p:set>
                                  </p:childTnLst>
                                </p:cTn>
                              </p:par>
                              <p:par>
                                <p:cTn id="84" presetID="1" presetClass="exit" presetSubtype="0" fill="hold" grpId="6" nodeType="withEffect">
                                  <p:stCondLst>
                                    <p:cond delay="0"/>
                                  </p:stCondLst>
                                  <p:childTnLst>
                                    <p:set>
                                      <p:cBhvr>
                                        <p:cTn id="85" dur="1" fill="hold">
                                          <p:stCondLst>
                                            <p:cond delay="0"/>
                                          </p:stCondLst>
                                        </p:cTn>
                                        <p:tgtEl>
                                          <p:spTgt spid="172"/>
                                        </p:tgtEl>
                                        <p:attrNameLst>
                                          <p:attrName>style.visibility</p:attrName>
                                        </p:attrNameLst>
                                      </p:cBhvr>
                                      <p:to>
                                        <p:strVal val="hidden"/>
                                      </p:to>
                                    </p:set>
                                  </p:childTnLst>
                                </p:cTn>
                              </p:par>
                              <p:par>
                                <p:cTn id="86" presetID="1" presetClass="exit" presetSubtype="0" fill="hold" grpId="0" nodeType="withEffect">
                                  <p:stCondLst>
                                    <p:cond delay="0"/>
                                  </p:stCondLst>
                                  <p:childTnLst>
                                    <p:set>
                                      <p:cBhvr>
                                        <p:cTn id="87" dur="1" fill="hold">
                                          <p:stCondLst>
                                            <p:cond delay="0"/>
                                          </p:stCondLst>
                                        </p:cTn>
                                        <p:tgtEl>
                                          <p:spTgt spid="64"/>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65"/>
                                        </p:tgtEl>
                                        <p:attrNameLst>
                                          <p:attrName>style.visibility</p:attrName>
                                        </p:attrNameLst>
                                      </p:cBhvr>
                                      <p:to>
                                        <p:strVal val="hidden"/>
                                      </p:to>
                                    </p:set>
                                  </p:childTnLst>
                                </p:cTn>
                              </p:par>
                              <p:par>
                                <p:cTn id="90" presetID="1" presetClass="entr" presetSubtype="0" fill="hold" grpId="0" nodeType="withEffect">
                                  <p:stCondLst>
                                    <p:cond delay="0"/>
                                  </p:stCondLst>
                                  <p:childTnLst>
                                    <p:set>
                                      <p:cBhvr>
                                        <p:cTn id="91" dur="1" fill="hold">
                                          <p:stCondLst>
                                            <p:cond delay="0"/>
                                          </p:stCondLst>
                                        </p:cTn>
                                        <p:tgtEl>
                                          <p:spTgt spid="71"/>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95"/>
                                        </p:tgtEl>
                                        <p:attrNameLst>
                                          <p:attrName>style.visibility</p:attrName>
                                        </p:attrNameLst>
                                      </p:cBhvr>
                                      <p:to>
                                        <p:strVal val="visible"/>
                                      </p:to>
                                    </p:set>
                                  </p:childTnLst>
                                </p:cTn>
                              </p:par>
                            </p:childTnLst>
                          </p:cTn>
                        </p:par>
                        <p:par>
                          <p:cTn id="96" fill="hold">
                            <p:stCondLst>
                              <p:cond delay="0"/>
                            </p:stCondLst>
                            <p:childTnLst>
                              <p:par>
                                <p:cTn id="97" presetID="1" presetClass="entr" presetSubtype="0" fill="hold" grpId="2" nodeType="afterEffect">
                                  <p:stCondLst>
                                    <p:cond delay="1000"/>
                                  </p:stCondLst>
                                  <p:childTnLst>
                                    <p:set>
                                      <p:cBhvr>
                                        <p:cTn id="98" dur="1" fill="hold">
                                          <p:stCondLst>
                                            <p:cond delay="0"/>
                                          </p:stCondLst>
                                        </p:cTn>
                                        <p:tgtEl>
                                          <p:spTgt spid="170"/>
                                        </p:tgtEl>
                                        <p:attrNameLst>
                                          <p:attrName>style.visibility</p:attrName>
                                        </p:attrNameLst>
                                      </p:cBhvr>
                                      <p:to>
                                        <p:strVal val="visible"/>
                                      </p:to>
                                    </p:set>
                                  </p:childTnLst>
                                </p:cTn>
                              </p:par>
                            </p:childTnLst>
                          </p:cTn>
                        </p:par>
                        <p:par>
                          <p:cTn id="99" fill="hold">
                            <p:stCondLst>
                              <p:cond delay="1000"/>
                            </p:stCondLst>
                            <p:childTnLst>
                              <p:par>
                                <p:cTn id="100" presetID="1" presetClass="entr" presetSubtype="0" fill="hold" grpId="4" nodeType="afterEffect">
                                  <p:stCondLst>
                                    <p:cond delay="1000"/>
                                  </p:stCondLst>
                                  <p:childTnLst>
                                    <p:set>
                                      <p:cBhvr>
                                        <p:cTn id="101" dur="1" fill="hold">
                                          <p:stCondLst>
                                            <p:cond delay="0"/>
                                          </p:stCondLst>
                                        </p:cTn>
                                        <p:tgtEl>
                                          <p:spTgt spid="172"/>
                                        </p:tgtEl>
                                        <p:attrNameLst>
                                          <p:attrName>style.visibility</p:attrName>
                                        </p:attrNameLst>
                                      </p:cBhvr>
                                      <p:to>
                                        <p:strVal val="visible"/>
                                      </p:to>
                                    </p:set>
                                  </p:childTnLst>
                                </p:cTn>
                              </p:par>
                            </p:childTnLst>
                          </p:cTn>
                        </p:par>
                        <p:par>
                          <p:cTn id="102" fill="hold">
                            <p:stCondLst>
                              <p:cond delay="2000"/>
                            </p:stCondLst>
                            <p:childTnLst>
                              <p:par>
                                <p:cTn id="103" presetID="1" presetClass="entr" presetSubtype="0" fill="hold" grpId="4" nodeType="afterEffect">
                                  <p:stCondLst>
                                    <p:cond delay="1000"/>
                                  </p:stCondLst>
                                  <p:childTnLst>
                                    <p:set>
                                      <p:cBhvr>
                                        <p:cTn id="104"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105" restart="whenNotActive" fill="hold" evtFilter="cancelBubble" nodeType="interactiveSeq">
                <p:stCondLst>
                  <p:cond evt="onClick" delay="0">
                    <p:tgtEl>
                      <p:spTgt spid="71"/>
                    </p:tgtEl>
                  </p:cond>
                </p:stCondLst>
                <p:endSync evt="end" delay="0">
                  <p:rtn val="all"/>
                </p:endSync>
                <p:childTnLst>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83"/>
                                        </p:tgtEl>
                                        <p:attrNameLst>
                                          <p:attrName>style.visibility</p:attrName>
                                        </p:attrNameLst>
                                      </p:cBhvr>
                                      <p:to>
                                        <p:strVal val="visible"/>
                                      </p:to>
                                    </p:set>
                                  </p:childTnLst>
                                </p:cTn>
                              </p:par>
                              <p:par>
                                <p:cTn id="110" presetID="1" presetClass="exit" presetSubtype="0" fill="hold" grpId="1" nodeType="withEffect">
                                  <p:stCondLst>
                                    <p:cond delay="0"/>
                                  </p:stCondLst>
                                  <p:childTnLst>
                                    <p:set>
                                      <p:cBhvr>
                                        <p:cTn id="111" dur="1" fill="hold">
                                          <p:stCondLst>
                                            <p:cond delay="0"/>
                                          </p:stCondLst>
                                        </p:cTn>
                                        <p:tgtEl>
                                          <p:spTgt spid="71"/>
                                        </p:tgtEl>
                                        <p:attrNameLst>
                                          <p:attrName>style.visibility</p:attrName>
                                        </p:attrNameLst>
                                      </p:cBhvr>
                                      <p:to>
                                        <p:strVal val="hidden"/>
                                      </p:to>
                                    </p:set>
                                  </p:childTnLst>
                                </p:cTn>
                              </p:par>
                              <p:par>
                                <p:cTn id="112" presetID="1" presetClass="exit" presetSubtype="0" fill="hold" nodeType="withEffect">
                                  <p:stCondLst>
                                    <p:cond delay="0"/>
                                  </p:stCondLst>
                                  <p:childTnLst>
                                    <p:set>
                                      <p:cBhvr>
                                        <p:cTn id="113" dur="1" fill="hold">
                                          <p:stCondLst>
                                            <p:cond delay="0"/>
                                          </p:stCondLst>
                                        </p:cTn>
                                        <p:tgtEl>
                                          <p:spTgt spid="72"/>
                                        </p:tgtEl>
                                        <p:attrNameLst>
                                          <p:attrName>style.visibility</p:attrName>
                                        </p:attrNameLst>
                                      </p:cBhvr>
                                      <p:to>
                                        <p:strVal val="hidden"/>
                                      </p:to>
                                    </p:set>
                                  </p:childTnLst>
                                </p:cTn>
                              </p:par>
                            </p:childTnLst>
                          </p:cTn>
                        </p:par>
                      </p:childTnLst>
                    </p:cTn>
                  </p:par>
                </p:childTnLst>
              </p:cTn>
              <p:nextCondLst>
                <p:cond evt="onClick" delay="0">
                  <p:tgtEl>
                    <p:spTgt spid="71"/>
                  </p:tgtEl>
                </p:cond>
              </p:nextCondLst>
            </p:seq>
            <p:seq concurrent="1" nextAc="seek">
              <p:cTn id="114" restart="whenNotActive" fill="hold" evtFilter="cancelBubble" nodeType="interactiveSeq">
                <p:stCondLst>
                  <p:cond evt="onClick" delay="0">
                    <p:tgtEl>
                      <p:spTgt spid="67"/>
                    </p:tgtEl>
                  </p:cond>
                </p:stCondLst>
                <p:endSync evt="end" delay="0">
                  <p:rtn val="all"/>
                </p:endSync>
                <p:childTnLst>
                  <p:par>
                    <p:cTn id="115" fill="hold">
                      <p:stCondLst>
                        <p:cond delay="0"/>
                      </p:stCondLst>
                      <p:childTnLst>
                        <p:par>
                          <p:cTn id="116" fill="hold">
                            <p:stCondLst>
                              <p:cond delay="0"/>
                            </p:stCondLst>
                            <p:childTnLst>
                              <p:par>
                                <p:cTn id="117" presetID="1" presetClass="exit" presetSubtype="0" fill="hold" grpId="1" nodeType="withEffect">
                                  <p:stCondLst>
                                    <p:cond delay="0"/>
                                  </p:stCondLst>
                                  <p:childTnLst>
                                    <p:set>
                                      <p:cBhvr>
                                        <p:cTn id="118" dur="1" fill="hold">
                                          <p:stCondLst>
                                            <p:cond delay="0"/>
                                          </p:stCondLst>
                                        </p:cTn>
                                        <p:tgtEl>
                                          <p:spTgt spid="95"/>
                                        </p:tgtEl>
                                        <p:attrNameLst>
                                          <p:attrName>style.visibility</p:attrName>
                                        </p:attrNameLst>
                                      </p:cBhvr>
                                      <p:to>
                                        <p:strVal val="hidden"/>
                                      </p:to>
                                    </p:set>
                                  </p:childTnLst>
                                </p:cTn>
                              </p:par>
                              <p:par>
                                <p:cTn id="119" presetID="1" presetClass="exit" presetSubtype="0" fill="hold" grpId="0" nodeType="withEffect">
                                  <p:stCondLst>
                                    <p:cond delay="0"/>
                                  </p:stCondLst>
                                  <p:childTnLst>
                                    <p:set>
                                      <p:cBhvr>
                                        <p:cTn id="120" dur="1" fill="hold">
                                          <p:stCondLst>
                                            <p:cond delay="0"/>
                                          </p:stCondLst>
                                        </p:cTn>
                                        <p:tgtEl>
                                          <p:spTgt spid="67"/>
                                        </p:tgtEl>
                                        <p:attrNameLst>
                                          <p:attrName>style.visibility</p:attrName>
                                        </p:attrNameLst>
                                      </p:cBhvr>
                                      <p:to>
                                        <p:strVal val="hidden"/>
                                      </p:to>
                                    </p:set>
                                  </p:childTnLst>
                                </p:cTn>
                              </p:par>
                              <p:par>
                                <p:cTn id="121" presetID="1" presetClass="exit" presetSubtype="0" fill="hold" grpId="1" nodeType="withEffect">
                                  <p:stCondLst>
                                    <p:cond delay="0"/>
                                  </p:stCondLst>
                                  <p:childTnLst>
                                    <p:set>
                                      <p:cBhvr>
                                        <p:cTn id="122" dur="1" fill="hold">
                                          <p:stCondLst>
                                            <p:cond delay="0"/>
                                          </p:stCondLst>
                                        </p:cTn>
                                        <p:tgtEl>
                                          <p:spTgt spid="3"/>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0"/>
                                          </p:stCondLst>
                                        </p:cTn>
                                        <p:tgtEl>
                                          <p:spTgt spid="170"/>
                                        </p:tgtEl>
                                        <p:attrNameLst>
                                          <p:attrName>style.visibility</p:attrName>
                                        </p:attrNameLst>
                                      </p:cBhvr>
                                      <p:to>
                                        <p:strVal val="hidden"/>
                                      </p:to>
                                    </p:set>
                                  </p:childTnLst>
                                </p:cTn>
                              </p:par>
                              <p:par>
                                <p:cTn id="125" presetID="1" presetClass="exit" presetSubtype="0" fill="hold" grpId="1" nodeType="withEffect">
                                  <p:stCondLst>
                                    <p:cond delay="0"/>
                                  </p:stCondLst>
                                  <p:childTnLst>
                                    <p:set>
                                      <p:cBhvr>
                                        <p:cTn id="126" dur="1" fill="hold">
                                          <p:stCondLst>
                                            <p:cond delay="0"/>
                                          </p:stCondLst>
                                        </p:cTn>
                                        <p:tgtEl>
                                          <p:spTgt spid="92"/>
                                        </p:tgtEl>
                                        <p:attrNameLst>
                                          <p:attrName>style.visibility</p:attrName>
                                        </p:attrNameLst>
                                      </p:cBhvr>
                                      <p:to>
                                        <p:strVal val="hidden"/>
                                      </p:to>
                                    </p:set>
                                  </p:childTnLst>
                                </p:cTn>
                              </p:par>
                              <p:par>
                                <p:cTn id="127" presetID="1" presetClass="exit" presetSubtype="0" fill="hold" grpId="3" nodeType="withEffect">
                                  <p:stCondLst>
                                    <p:cond delay="0"/>
                                  </p:stCondLst>
                                  <p:childTnLst>
                                    <p:set>
                                      <p:cBhvr>
                                        <p:cTn id="128" dur="1" fill="hold">
                                          <p:stCondLst>
                                            <p:cond delay="0"/>
                                          </p:stCondLst>
                                        </p:cTn>
                                        <p:tgtEl>
                                          <p:spTgt spid="172"/>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70"/>
                                        </p:tgtEl>
                                        <p:attrNameLst>
                                          <p:attrName>style.visibility</p:attrName>
                                        </p:attrNameLst>
                                      </p:cBhvr>
                                      <p:to>
                                        <p:strVal val="hidden"/>
                                      </p:to>
                                    </p:set>
                                  </p:childTnLst>
                                </p:cTn>
                              </p:par>
                              <p:par>
                                <p:cTn id="131" presetID="1" presetClass="exit" presetSubtype="0" fill="hold" grpId="6" nodeType="withEffect">
                                  <p:stCondLst>
                                    <p:cond delay="0"/>
                                  </p:stCondLst>
                                  <p:childTnLst>
                                    <p:set>
                                      <p:cBhvr>
                                        <p:cTn id="132" dur="1" fill="hold">
                                          <p:stCondLst>
                                            <p:cond delay="0"/>
                                          </p:stCondLst>
                                        </p:cTn>
                                        <p:tgtEl>
                                          <p:spTgt spid="173"/>
                                        </p:tgtEl>
                                        <p:attrNameLst>
                                          <p:attrName>style.visibility</p:attrName>
                                        </p:attrNameLst>
                                      </p:cBhvr>
                                      <p:to>
                                        <p:strVal val="hidden"/>
                                      </p:to>
                                    </p:set>
                                  </p:childTnLst>
                                </p:cTn>
                              </p:par>
                              <p:par>
                                <p:cTn id="133" presetID="1"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7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69"/>
                                        </p:tgtEl>
                                        <p:attrNameLst>
                                          <p:attrName>style.visibility</p:attrName>
                                        </p:attrNameLst>
                                      </p:cBhvr>
                                      <p:to>
                                        <p:strVal val="visible"/>
                                      </p:to>
                                    </p:set>
                                  </p:childTnLst>
                                </p:cTn>
                              </p:par>
                            </p:childTnLst>
                          </p:cTn>
                        </p:par>
                        <p:par>
                          <p:cTn id="139" fill="hold">
                            <p:stCondLst>
                              <p:cond delay="0"/>
                            </p:stCondLst>
                            <p:childTnLst>
                              <p:par>
                                <p:cTn id="140" presetID="1" presetClass="entr" presetSubtype="0" fill="hold" grpId="2" nodeType="afterEffect">
                                  <p:stCondLst>
                                    <p:cond delay="1000"/>
                                  </p:stCondLst>
                                  <p:childTnLst>
                                    <p:set>
                                      <p:cBhvr>
                                        <p:cTn id="141" dur="1" fill="hold">
                                          <p:stCondLst>
                                            <p:cond delay="0"/>
                                          </p:stCondLst>
                                        </p:cTn>
                                        <p:tgtEl>
                                          <p:spTgt spid="92"/>
                                        </p:tgtEl>
                                        <p:attrNameLst>
                                          <p:attrName>style.visibility</p:attrName>
                                        </p:attrNameLst>
                                      </p:cBhvr>
                                      <p:to>
                                        <p:strVal val="visible"/>
                                      </p:to>
                                    </p:set>
                                  </p:childTnLst>
                                </p:cTn>
                              </p:par>
                            </p:childTnLst>
                          </p:cTn>
                        </p:par>
                        <p:par>
                          <p:cTn id="142" fill="hold">
                            <p:stCondLst>
                              <p:cond delay="1000"/>
                            </p:stCondLst>
                            <p:childTnLst>
                              <p:par>
                                <p:cTn id="143" presetID="1" presetClass="entr" presetSubtype="0" fill="hold" grpId="3" nodeType="afterEffect">
                                  <p:stCondLst>
                                    <p:cond delay="1000"/>
                                  </p:stCondLst>
                                  <p:childTnLst>
                                    <p:set>
                                      <p:cBhvr>
                                        <p:cTn id="144" dur="1" fill="hold">
                                          <p:stCondLst>
                                            <p:cond delay="0"/>
                                          </p:stCondLst>
                                        </p:cTn>
                                        <p:tgtEl>
                                          <p:spTgt spid="170"/>
                                        </p:tgtEl>
                                        <p:attrNameLst>
                                          <p:attrName>style.visibility</p:attrName>
                                        </p:attrNameLst>
                                      </p:cBhvr>
                                      <p:to>
                                        <p:strVal val="visible"/>
                                      </p:to>
                                    </p:set>
                                  </p:childTnLst>
                                </p:cTn>
                              </p:par>
                            </p:childTnLst>
                          </p:cTn>
                        </p:par>
                        <p:par>
                          <p:cTn id="145" fill="hold">
                            <p:stCondLst>
                              <p:cond delay="2000"/>
                            </p:stCondLst>
                            <p:childTnLst>
                              <p:par>
                                <p:cTn id="146" presetID="1" presetClass="entr" presetSubtype="0" fill="hold" grpId="1" nodeType="afterEffect">
                                  <p:stCondLst>
                                    <p:cond delay="1000"/>
                                  </p:stCondLst>
                                  <p:childTnLst>
                                    <p:set>
                                      <p:cBhvr>
                                        <p:cTn id="147" dur="1" fill="hold">
                                          <p:stCondLst>
                                            <p:cond delay="0"/>
                                          </p:stCondLst>
                                        </p:cTn>
                                        <p:tgtEl>
                                          <p:spTgt spid="172"/>
                                        </p:tgtEl>
                                        <p:attrNameLst>
                                          <p:attrName>style.visibility</p:attrName>
                                        </p:attrNameLst>
                                      </p:cBhvr>
                                      <p:to>
                                        <p:strVal val="visible"/>
                                      </p:to>
                                    </p:set>
                                  </p:childTnLst>
                                </p:cTn>
                              </p:par>
                            </p:childTnLst>
                          </p:cTn>
                        </p:par>
                        <p:par>
                          <p:cTn id="148" fill="hold">
                            <p:stCondLst>
                              <p:cond delay="3000"/>
                            </p:stCondLst>
                            <p:childTnLst>
                              <p:par>
                                <p:cTn id="149" presetID="1" presetClass="entr" presetSubtype="0" fill="hold" grpId="5" nodeType="afterEffect">
                                  <p:stCondLst>
                                    <p:cond delay="1000"/>
                                  </p:stCondLst>
                                  <p:childTnLst>
                                    <p:set>
                                      <p:cBhvr>
                                        <p:cTn id="150" dur="1" fill="hold">
                                          <p:stCondLst>
                                            <p:cond delay="0"/>
                                          </p:stCondLst>
                                        </p:cTn>
                                        <p:tgtEl>
                                          <p:spTgt spid="173"/>
                                        </p:tgtEl>
                                        <p:attrNameLst>
                                          <p:attrName>style.visibility</p:attrName>
                                        </p:attrNameLst>
                                      </p:cBhvr>
                                      <p:to>
                                        <p:strVal val="visible"/>
                                      </p:to>
                                    </p:set>
                                  </p:childTnLst>
                                </p:cTn>
                              </p:par>
                            </p:childTnLst>
                          </p:cTn>
                        </p:par>
                      </p:childTnLst>
                    </p:cTn>
                  </p:par>
                </p:childTnLst>
              </p:cTn>
              <p:nextCondLst>
                <p:cond evt="onClick" delay="0">
                  <p:tgtEl>
                    <p:spTgt spid="67"/>
                  </p:tgtEl>
                </p:cond>
              </p:nextCondLst>
            </p:seq>
            <p:seq concurrent="1" nextAc="seek">
              <p:cTn id="151" restart="whenNotActive" fill="hold" evtFilter="cancelBubble" nodeType="interactiveSeq">
                <p:stCondLst>
                  <p:cond evt="onClick" delay="0">
                    <p:tgtEl>
                      <p:spTgt spid="73"/>
                    </p:tgtEl>
                  </p:cond>
                </p:stCondLst>
                <p:endSync evt="end" delay="0">
                  <p:rtn val="all"/>
                </p:endSync>
                <p:childTnLst>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97"/>
                                        </p:tgtEl>
                                        <p:attrNameLst>
                                          <p:attrName>style.visibility</p:attrName>
                                        </p:attrNameLst>
                                      </p:cBhvr>
                                      <p:to>
                                        <p:strVal val="visible"/>
                                      </p:to>
                                    </p:set>
                                  </p:childTnLst>
                                </p:cTn>
                              </p:par>
                              <p:par>
                                <p:cTn id="156" presetID="1" presetClass="exit" presetSubtype="0" fill="hold" grpId="1" nodeType="withEffect">
                                  <p:stCondLst>
                                    <p:cond delay="0"/>
                                  </p:stCondLst>
                                  <p:childTnLst>
                                    <p:set>
                                      <p:cBhvr>
                                        <p:cTn id="157" dur="1" fill="hold">
                                          <p:stCondLst>
                                            <p:cond delay="0"/>
                                          </p:stCondLst>
                                        </p:cTn>
                                        <p:tgtEl>
                                          <p:spTgt spid="73"/>
                                        </p:tgtEl>
                                        <p:attrNameLst>
                                          <p:attrName>style.visibility</p:attrName>
                                        </p:attrNameLst>
                                      </p:cBhvr>
                                      <p:to>
                                        <p:strVal val="hidden"/>
                                      </p:to>
                                    </p:set>
                                  </p:childTnLst>
                                </p:cTn>
                              </p:par>
                              <p:par>
                                <p:cTn id="158" presetID="1" presetClass="exit" presetSubtype="0" fill="hold" nodeType="withEffect">
                                  <p:stCondLst>
                                    <p:cond delay="0"/>
                                  </p:stCondLst>
                                  <p:childTnLst>
                                    <p:set>
                                      <p:cBhvr>
                                        <p:cTn id="159" dur="1" fill="hold">
                                          <p:stCondLst>
                                            <p:cond delay="0"/>
                                          </p:stCondLst>
                                        </p:cTn>
                                        <p:tgtEl>
                                          <p:spTgt spid="74"/>
                                        </p:tgtEl>
                                        <p:attrNameLst>
                                          <p:attrName>style.visibility</p:attrName>
                                        </p:attrNameLst>
                                      </p:cBhvr>
                                      <p:to>
                                        <p:strVal val="hidden"/>
                                      </p:to>
                                    </p:set>
                                  </p:childTnLst>
                                </p:cTn>
                              </p:par>
                            </p:childTnLst>
                          </p:cTn>
                        </p:par>
                      </p:childTnLst>
                    </p:cTn>
                  </p:par>
                </p:childTnLst>
              </p:cTn>
              <p:nextCondLst>
                <p:cond evt="onClick" delay="0">
                  <p:tgtEl>
                    <p:spTgt spid="73"/>
                  </p:tgtEl>
                </p:cond>
              </p:nextCondLst>
            </p:seq>
          </p:childTnLst>
        </p:cTn>
      </p:par>
    </p:tnLst>
    <p:bldLst>
      <p:bldP spid="9" grpId="0" animBg="1"/>
      <p:bldP spid="169" grpId="0" animBg="1"/>
      <p:bldP spid="170" grpId="0" animBg="1"/>
      <p:bldP spid="170" grpId="1" animBg="1"/>
      <p:bldP spid="170" grpId="2" animBg="1"/>
      <p:bldP spid="170" grpId="3" animBg="1"/>
      <p:bldP spid="170" grpId="4" animBg="1"/>
      <p:bldP spid="170" grpId="5" animBg="1"/>
      <p:bldP spid="172" grpId="0" animBg="1"/>
      <p:bldP spid="172" grpId="1" animBg="1"/>
      <p:bldP spid="172" grpId="2" animBg="1"/>
      <p:bldP spid="172" grpId="3" animBg="1"/>
      <p:bldP spid="172" grpId="4" animBg="1"/>
      <p:bldP spid="172" grpId="5" animBg="1"/>
      <p:bldP spid="172" grpId="6" animBg="1"/>
      <p:bldP spid="173" grpId="0" animBg="1"/>
      <p:bldP spid="173" grpId="1" animBg="1"/>
      <p:bldP spid="173" grpId="2" animBg="1"/>
      <p:bldP spid="173" grpId="3" animBg="1"/>
      <p:bldP spid="173" grpId="4" animBg="1"/>
      <p:bldP spid="173" grpId="5" animBg="1"/>
      <p:bldP spid="173" grpId="6" animBg="1"/>
      <p:bldP spid="55" grpId="0" animBg="1"/>
      <p:bldP spid="55" grpId="1" animBg="1"/>
      <p:bldP spid="58" grpId="0" animBg="1"/>
      <p:bldP spid="61" grpId="0" animBg="1"/>
      <p:bldP spid="61" grpId="1" animBg="1"/>
      <p:bldP spid="64" grpId="0" animBg="1"/>
      <p:bldP spid="67" grpId="0" animBg="1"/>
      <p:bldP spid="71" grpId="0" animBg="1"/>
      <p:bldP spid="71" grpId="1" animBg="1"/>
      <p:bldP spid="73" grpId="0" animBg="1"/>
      <p:bldP spid="73" grpId="1" animBg="1"/>
      <p:bldP spid="77" grpId="0"/>
      <p:bldP spid="80" grpId="0"/>
      <p:bldP spid="83" grpId="0"/>
      <p:bldP spid="92" grpId="0" animBg="1"/>
      <p:bldP spid="92" grpId="1" animBg="1"/>
      <p:bldP spid="92" grpId="2" animBg="1"/>
      <p:bldP spid="92" grpId="3" animBg="1"/>
      <p:bldP spid="95" grpId="0" animBg="1"/>
      <p:bldP spid="95" grpId="1" animBg="1"/>
      <p:bldP spid="97" grpId="0"/>
      <p:bldP spid="3" grpId="0" animBg="1"/>
      <p:bldP spid="3" grpId="1" animBg="1"/>
      <p:bldP spid="3" grpId="2" animBg="1"/>
      <p:bldP spid="12" grpId="0" animBg="1"/>
      <p:bldP spid="1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64298701-FE9D-5707-67E1-AEBB63CF23D8}"/>
              </a:ext>
            </a:extLst>
          </p:cNvPr>
          <p:cNvSpPr txBox="1"/>
          <p:nvPr/>
        </p:nvSpPr>
        <p:spPr>
          <a:xfrm>
            <a:off x="4064645" y="5999560"/>
            <a:ext cx="6922426" cy="646331"/>
          </a:xfrm>
          <a:prstGeom prst="rect">
            <a:avLst/>
          </a:prstGeom>
          <a:noFill/>
        </p:spPr>
        <p:txBody>
          <a:bodyPr wrap="square" rtlCol="0">
            <a:spAutoFit/>
          </a:bodyPr>
          <a:lstStyle/>
          <a:p>
            <a:pPr algn="ctr"/>
            <a:r>
              <a:rPr lang="en-US" dirty="0">
                <a:solidFill>
                  <a:srgbClr val="FF0000"/>
                </a:solidFill>
              </a:rPr>
              <a:t>Patients with high-risk features (suggestive of cardiac syncope) require admission for observation and further evaluation</a:t>
            </a:r>
          </a:p>
        </p:txBody>
      </p:sp>
      <p:sp>
        <p:nvSpPr>
          <p:cNvPr id="4" name="Obj 2">
            <a:hlinkClick r:id="rId2" action="ppaction://hlinksldjump"/>
            <a:extLst>
              <a:ext uri="{FF2B5EF4-FFF2-40B4-BE49-F238E27FC236}">
                <a16:creationId xmlns:a16="http://schemas.microsoft.com/office/drawing/2014/main" id="{852D5BA6-804E-112F-6C80-0F3C94E38853}"/>
              </a:ext>
            </a:extLst>
          </p:cNvPr>
          <p:cNvSpPr/>
          <p:nvPr/>
        </p:nvSpPr>
        <p:spPr>
          <a:xfrm>
            <a:off x="18484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sp>
        <p:nvSpPr>
          <p:cNvPr id="5" name="Obj 2">
            <a:hlinkClick r:id="rId3" action="ppaction://hlinksldjump"/>
            <a:extLst>
              <a:ext uri="{FF2B5EF4-FFF2-40B4-BE49-F238E27FC236}">
                <a16:creationId xmlns:a16="http://schemas.microsoft.com/office/drawing/2014/main" id="{BDFEFFCE-AFF1-85B2-314B-BD117C680D2D}"/>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7" name="Obj 2">
            <a:hlinkClick r:id="rId4" action="ppaction://hlinksldjump"/>
            <a:extLst>
              <a:ext uri="{FF2B5EF4-FFF2-40B4-BE49-F238E27FC236}">
                <a16:creationId xmlns:a16="http://schemas.microsoft.com/office/drawing/2014/main" id="{DD0D0DDA-B0FA-CCFA-7BF0-C23142FA6665}"/>
              </a:ext>
            </a:extLst>
          </p:cNvPr>
          <p:cNvSpPr/>
          <p:nvPr/>
        </p:nvSpPr>
        <p:spPr>
          <a:xfrm>
            <a:off x="184843" y="1341796"/>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Evaluation</a:t>
            </a:r>
          </a:p>
        </p:txBody>
      </p:sp>
      <p:sp>
        <p:nvSpPr>
          <p:cNvPr id="8" name="Obj 2">
            <a:hlinkClick r:id="rId5" action="ppaction://hlinksldjump"/>
            <a:extLst>
              <a:ext uri="{FF2B5EF4-FFF2-40B4-BE49-F238E27FC236}">
                <a16:creationId xmlns:a16="http://schemas.microsoft.com/office/drawing/2014/main" id="{1D6B7458-046F-342F-8B24-973FB08A339B}"/>
              </a:ext>
            </a:extLst>
          </p:cNvPr>
          <p:cNvSpPr/>
          <p:nvPr/>
        </p:nvSpPr>
        <p:spPr>
          <a:xfrm>
            <a:off x="184843" y="3609164"/>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9" name="Graphic 8" descr="Cursor with solid fill">
            <a:extLst>
              <a:ext uri="{FF2B5EF4-FFF2-40B4-BE49-F238E27FC236}">
                <a16:creationId xmlns:a16="http://schemas.microsoft.com/office/drawing/2014/main" id="{BED1585C-62EA-13E2-B86E-A5A1948312F6}"/>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454521"/>
            <a:ext cx="274320" cy="274320"/>
          </a:xfrm>
          <a:prstGeom prst="rect">
            <a:avLst/>
          </a:prstGeom>
        </p:spPr>
      </p:pic>
      <p:pic>
        <p:nvPicPr>
          <p:cNvPr id="10" name="Graphic 9" descr="Cursor with solid fill">
            <a:extLst>
              <a:ext uri="{FF2B5EF4-FFF2-40B4-BE49-F238E27FC236}">
                <a16:creationId xmlns:a16="http://schemas.microsoft.com/office/drawing/2014/main" id="{B0208E64-7E68-5F26-7C29-F17AF5628346}"/>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8" y="1021974"/>
            <a:ext cx="274320" cy="274320"/>
          </a:xfrm>
          <a:prstGeom prst="rect">
            <a:avLst/>
          </a:prstGeom>
        </p:spPr>
      </p:pic>
      <p:sp>
        <p:nvSpPr>
          <p:cNvPr id="14" name="Obj 2">
            <a:hlinkClick r:id="rId4" action="ppaction://hlinksldjump"/>
            <a:extLst>
              <a:ext uri="{FF2B5EF4-FFF2-40B4-BE49-F238E27FC236}">
                <a16:creationId xmlns:a16="http://schemas.microsoft.com/office/drawing/2014/main" id="{82407CB2-C2DD-4990-10F6-4AD9329C2E5B}"/>
              </a:ext>
            </a:extLst>
          </p:cNvPr>
          <p:cNvSpPr/>
          <p:nvPr/>
        </p:nvSpPr>
        <p:spPr>
          <a:xfrm>
            <a:off x="451412" y="1911074"/>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History</a:t>
            </a:r>
          </a:p>
        </p:txBody>
      </p:sp>
      <p:pic>
        <p:nvPicPr>
          <p:cNvPr id="15" name="Graphic 14" descr="Cursor with solid fill">
            <a:extLst>
              <a:ext uri="{FF2B5EF4-FFF2-40B4-BE49-F238E27FC236}">
                <a16:creationId xmlns:a16="http://schemas.microsoft.com/office/drawing/2014/main" id="{899C75D2-C00D-8334-E2EC-31AD3D037122}"/>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7" y="3855927"/>
            <a:ext cx="274320" cy="274320"/>
          </a:xfrm>
          <a:prstGeom prst="rect">
            <a:avLst/>
          </a:prstGeom>
        </p:spPr>
      </p:pic>
      <p:sp>
        <p:nvSpPr>
          <p:cNvPr id="16" name="Obj 2">
            <a:hlinkClick r:id="rId8" action="ppaction://hlinksldjump"/>
            <a:extLst>
              <a:ext uri="{FF2B5EF4-FFF2-40B4-BE49-F238E27FC236}">
                <a16:creationId xmlns:a16="http://schemas.microsoft.com/office/drawing/2014/main" id="{355C02A3-CE0B-F4D4-7AC0-2A889AB61F75}"/>
              </a:ext>
            </a:extLst>
          </p:cNvPr>
          <p:cNvSpPr/>
          <p:nvPr/>
        </p:nvSpPr>
        <p:spPr>
          <a:xfrm>
            <a:off x="451412" y="2481231"/>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7" name="Graphic 16" descr="Cursor with solid fill">
            <a:extLst>
              <a:ext uri="{FF2B5EF4-FFF2-40B4-BE49-F238E27FC236}">
                <a16:creationId xmlns:a16="http://schemas.microsoft.com/office/drawing/2014/main" id="{50BDA775-C6A7-4ACD-4ED5-6DB2EC61E2B3}"/>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09427" y="2737670"/>
            <a:ext cx="274320" cy="274320"/>
          </a:xfrm>
          <a:prstGeom prst="rect">
            <a:avLst/>
          </a:prstGeom>
        </p:spPr>
      </p:pic>
      <p:cxnSp>
        <p:nvCxnSpPr>
          <p:cNvPr id="18" name="Connector: Elbow 17">
            <a:extLst>
              <a:ext uri="{FF2B5EF4-FFF2-40B4-BE49-F238E27FC236}">
                <a16:creationId xmlns:a16="http://schemas.microsoft.com/office/drawing/2014/main" id="{0D1C3185-57C9-5590-0A33-597967DE94D5}"/>
              </a:ext>
            </a:extLst>
          </p:cNvPr>
          <p:cNvCxnSpPr/>
          <p:nvPr/>
        </p:nvCxnSpPr>
        <p:spPr>
          <a:xfrm rot="16200000" flipH="1">
            <a:off x="169214" y="1818811"/>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2CEDD45F-43E0-CF82-0019-56408EAAAEC7}"/>
              </a:ext>
            </a:extLst>
          </p:cNvPr>
          <p:cNvCxnSpPr>
            <a:cxnSpLocks/>
          </p:cNvCxnSpPr>
          <p:nvPr/>
        </p:nvCxnSpPr>
        <p:spPr>
          <a:xfrm rot="16200000" flipH="1">
            <a:off x="-115865" y="2103889"/>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0465923-5B8C-5C36-82D2-1D4DE55A0F17}"/>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Evaluation - History</a:t>
            </a:r>
          </a:p>
        </p:txBody>
      </p:sp>
      <p:sp>
        <p:nvSpPr>
          <p:cNvPr id="21" name="Orthostatic">
            <a:extLst>
              <a:ext uri="{FF2B5EF4-FFF2-40B4-BE49-F238E27FC236}">
                <a16:creationId xmlns:a16="http://schemas.microsoft.com/office/drawing/2014/main" id="{B5199B1E-CB43-2084-0A8E-A85F86BA17B2}"/>
              </a:ext>
            </a:extLst>
          </p:cNvPr>
          <p:cNvSpPr/>
          <p:nvPr/>
        </p:nvSpPr>
        <p:spPr>
          <a:xfrm>
            <a:off x="4064645"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Orthostatic</a:t>
            </a:r>
          </a:p>
        </p:txBody>
      </p:sp>
      <p:sp>
        <p:nvSpPr>
          <p:cNvPr id="24" name="Orthostatic">
            <a:extLst>
              <a:ext uri="{FF2B5EF4-FFF2-40B4-BE49-F238E27FC236}">
                <a16:creationId xmlns:a16="http://schemas.microsoft.com/office/drawing/2014/main" id="{E3606975-F075-4E24-A1C2-378F85C610C4}"/>
              </a:ext>
            </a:extLst>
          </p:cNvPr>
          <p:cNvSpPr/>
          <p:nvPr/>
        </p:nvSpPr>
        <p:spPr>
          <a:xfrm>
            <a:off x="6914163"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Reflex</a:t>
            </a:r>
          </a:p>
        </p:txBody>
      </p:sp>
      <p:sp>
        <p:nvSpPr>
          <p:cNvPr id="26" name="Orthostatic">
            <a:extLst>
              <a:ext uri="{FF2B5EF4-FFF2-40B4-BE49-F238E27FC236}">
                <a16:creationId xmlns:a16="http://schemas.microsoft.com/office/drawing/2014/main" id="{8C0A5F90-AEBC-E158-39CD-2346BA7C150C}"/>
              </a:ext>
            </a:extLst>
          </p:cNvPr>
          <p:cNvSpPr/>
          <p:nvPr/>
        </p:nvSpPr>
        <p:spPr>
          <a:xfrm>
            <a:off x="9763681"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Cardiac</a:t>
            </a:r>
          </a:p>
        </p:txBody>
      </p:sp>
      <p:sp>
        <p:nvSpPr>
          <p:cNvPr id="35" name="TextBox 34">
            <a:extLst>
              <a:ext uri="{FF2B5EF4-FFF2-40B4-BE49-F238E27FC236}">
                <a16:creationId xmlns:a16="http://schemas.microsoft.com/office/drawing/2014/main" id="{83B17F29-92F3-4023-219D-3A304E06EADF}"/>
              </a:ext>
            </a:extLst>
          </p:cNvPr>
          <p:cNvSpPr txBox="1"/>
          <p:nvPr/>
        </p:nvSpPr>
        <p:spPr>
          <a:xfrm>
            <a:off x="2559267" y="1732609"/>
            <a:ext cx="636608" cy="369332"/>
          </a:xfrm>
          <a:prstGeom prst="rect">
            <a:avLst/>
          </a:prstGeom>
          <a:noFill/>
        </p:spPr>
        <p:txBody>
          <a:bodyPr wrap="square" rtlCol="0">
            <a:spAutoFit/>
          </a:bodyPr>
          <a:lstStyle/>
          <a:p>
            <a:pPr algn="ctr"/>
            <a:r>
              <a:rPr lang="en-US" b="1" dirty="0"/>
              <a:t>Who</a:t>
            </a:r>
          </a:p>
        </p:txBody>
      </p:sp>
      <p:sp>
        <p:nvSpPr>
          <p:cNvPr id="37" name="TextBox 36">
            <a:extLst>
              <a:ext uri="{FF2B5EF4-FFF2-40B4-BE49-F238E27FC236}">
                <a16:creationId xmlns:a16="http://schemas.microsoft.com/office/drawing/2014/main" id="{A08F0B5A-8B2B-2C74-991E-FBB4E4C1B838}"/>
              </a:ext>
            </a:extLst>
          </p:cNvPr>
          <p:cNvSpPr txBox="1"/>
          <p:nvPr/>
        </p:nvSpPr>
        <p:spPr>
          <a:xfrm>
            <a:off x="2166819" y="3256549"/>
            <a:ext cx="1421505" cy="646331"/>
          </a:xfrm>
          <a:prstGeom prst="rect">
            <a:avLst/>
          </a:prstGeom>
          <a:noFill/>
        </p:spPr>
        <p:txBody>
          <a:bodyPr wrap="square" rtlCol="0">
            <a:spAutoFit/>
          </a:bodyPr>
          <a:lstStyle/>
          <a:p>
            <a:pPr algn="ctr"/>
            <a:r>
              <a:rPr lang="en-US" b="1" dirty="0"/>
              <a:t>Where</a:t>
            </a:r>
            <a:br>
              <a:rPr lang="en-US" b="1" dirty="0"/>
            </a:br>
            <a:r>
              <a:rPr lang="en-US" b="1" dirty="0"/>
              <a:t>How </a:t>
            </a:r>
          </a:p>
        </p:txBody>
      </p:sp>
      <p:sp>
        <p:nvSpPr>
          <p:cNvPr id="38" name="TextBox 37">
            <a:extLst>
              <a:ext uri="{FF2B5EF4-FFF2-40B4-BE49-F238E27FC236}">
                <a16:creationId xmlns:a16="http://schemas.microsoft.com/office/drawing/2014/main" id="{19E05689-DF6F-A95E-566D-CB2CDD143A39}"/>
              </a:ext>
            </a:extLst>
          </p:cNvPr>
          <p:cNvSpPr txBox="1"/>
          <p:nvPr/>
        </p:nvSpPr>
        <p:spPr>
          <a:xfrm>
            <a:off x="2238023" y="4917093"/>
            <a:ext cx="1279099" cy="369332"/>
          </a:xfrm>
          <a:prstGeom prst="rect">
            <a:avLst/>
          </a:prstGeom>
          <a:noFill/>
        </p:spPr>
        <p:txBody>
          <a:bodyPr wrap="square" rtlCol="0">
            <a:spAutoFit/>
          </a:bodyPr>
          <a:lstStyle/>
          <a:p>
            <a:pPr algn="ctr"/>
            <a:r>
              <a:rPr lang="en-US" b="1" dirty="0"/>
              <a:t>Prodrome </a:t>
            </a:r>
          </a:p>
        </p:txBody>
      </p:sp>
      <p:sp>
        <p:nvSpPr>
          <p:cNvPr id="40" name="OH who">
            <a:extLst>
              <a:ext uri="{FF2B5EF4-FFF2-40B4-BE49-F238E27FC236}">
                <a16:creationId xmlns:a16="http://schemas.microsoft.com/office/drawing/2014/main" id="{FE9D6A30-5079-423D-BCD0-AC55048B423C}"/>
              </a:ext>
            </a:extLst>
          </p:cNvPr>
          <p:cNvSpPr/>
          <p:nvPr/>
        </p:nvSpPr>
        <p:spPr>
          <a:xfrm>
            <a:off x="4064645" y="1830169"/>
            <a:ext cx="1593374" cy="38191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Who?</a:t>
            </a:r>
          </a:p>
        </p:txBody>
      </p:sp>
      <p:pic>
        <p:nvPicPr>
          <p:cNvPr id="41" name="Graphic 40" descr="Cursor with solid fill">
            <a:extLst>
              <a:ext uri="{FF2B5EF4-FFF2-40B4-BE49-F238E27FC236}">
                <a16:creationId xmlns:a16="http://schemas.microsoft.com/office/drawing/2014/main" id="{A159C4F4-AF52-3240-CA0D-263DBF335BD2}"/>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22661" y="2057590"/>
            <a:ext cx="274320" cy="274320"/>
          </a:xfrm>
          <a:prstGeom prst="rect">
            <a:avLst/>
          </a:prstGeom>
        </p:spPr>
      </p:pic>
      <p:sp>
        <p:nvSpPr>
          <p:cNvPr id="42" name="Who Reflex">
            <a:extLst>
              <a:ext uri="{FF2B5EF4-FFF2-40B4-BE49-F238E27FC236}">
                <a16:creationId xmlns:a16="http://schemas.microsoft.com/office/drawing/2014/main" id="{CB68B7CE-39F9-657A-910A-D9A52CA4A0D8}"/>
              </a:ext>
            </a:extLst>
          </p:cNvPr>
          <p:cNvSpPr/>
          <p:nvPr/>
        </p:nvSpPr>
        <p:spPr>
          <a:xfrm>
            <a:off x="6914163" y="1830169"/>
            <a:ext cx="1593374" cy="381915"/>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Who?</a:t>
            </a:r>
          </a:p>
        </p:txBody>
      </p:sp>
      <p:pic>
        <p:nvPicPr>
          <p:cNvPr id="43" name="Graphic 42" descr="Cursor with solid fill">
            <a:extLst>
              <a:ext uri="{FF2B5EF4-FFF2-40B4-BE49-F238E27FC236}">
                <a16:creationId xmlns:a16="http://schemas.microsoft.com/office/drawing/2014/main" id="{B7BAB9F7-1AE4-EBB3-245C-BF57EE8CF274}"/>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72179" y="2057590"/>
            <a:ext cx="274320" cy="274320"/>
          </a:xfrm>
          <a:prstGeom prst="rect">
            <a:avLst/>
          </a:prstGeom>
        </p:spPr>
      </p:pic>
      <p:sp>
        <p:nvSpPr>
          <p:cNvPr id="44" name="Cardiac WHO">
            <a:extLst>
              <a:ext uri="{FF2B5EF4-FFF2-40B4-BE49-F238E27FC236}">
                <a16:creationId xmlns:a16="http://schemas.microsoft.com/office/drawing/2014/main" id="{7D931990-B784-6FD0-804C-8ECCD6E0C912}"/>
              </a:ext>
            </a:extLst>
          </p:cNvPr>
          <p:cNvSpPr/>
          <p:nvPr/>
        </p:nvSpPr>
        <p:spPr>
          <a:xfrm>
            <a:off x="9763681" y="1830169"/>
            <a:ext cx="1593374" cy="38191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Who?</a:t>
            </a:r>
          </a:p>
        </p:txBody>
      </p:sp>
      <p:pic>
        <p:nvPicPr>
          <p:cNvPr id="45" name="Graphic 44" descr="Cursor with solid fill">
            <a:extLst>
              <a:ext uri="{FF2B5EF4-FFF2-40B4-BE49-F238E27FC236}">
                <a16:creationId xmlns:a16="http://schemas.microsoft.com/office/drawing/2014/main" id="{C45F787B-5C5E-07C9-8F65-3E9647ED168F}"/>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21697" y="2057590"/>
            <a:ext cx="274320" cy="274320"/>
          </a:xfrm>
          <a:prstGeom prst="rect">
            <a:avLst/>
          </a:prstGeom>
        </p:spPr>
      </p:pic>
      <p:sp>
        <p:nvSpPr>
          <p:cNvPr id="46" name="Where OH">
            <a:extLst>
              <a:ext uri="{FF2B5EF4-FFF2-40B4-BE49-F238E27FC236}">
                <a16:creationId xmlns:a16="http://schemas.microsoft.com/office/drawing/2014/main" id="{C715F189-9322-80C6-4183-191426DAF2DD}"/>
              </a:ext>
            </a:extLst>
          </p:cNvPr>
          <p:cNvSpPr/>
          <p:nvPr/>
        </p:nvSpPr>
        <p:spPr>
          <a:xfrm>
            <a:off x="4064645" y="3349850"/>
            <a:ext cx="1593374" cy="38191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Where?</a:t>
            </a:r>
          </a:p>
        </p:txBody>
      </p:sp>
      <p:pic>
        <p:nvPicPr>
          <p:cNvPr id="47" name="Graphic 46" descr="Cursor with solid fill">
            <a:extLst>
              <a:ext uri="{FF2B5EF4-FFF2-40B4-BE49-F238E27FC236}">
                <a16:creationId xmlns:a16="http://schemas.microsoft.com/office/drawing/2014/main" id="{4C83AD39-B8CE-29B4-5EC7-E9AB120D78E3}"/>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22661" y="3565696"/>
            <a:ext cx="274320" cy="274320"/>
          </a:xfrm>
          <a:prstGeom prst="rect">
            <a:avLst/>
          </a:prstGeom>
        </p:spPr>
      </p:pic>
      <p:sp>
        <p:nvSpPr>
          <p:cNvPr id="48" name="Where Reflex">
            <a:extLst>
              <a:ext uri="{FF2B5EF4-FFF2-40B4-BE49-F238E27FC236}">
                <a16:creationId xmlns:a16="http://schemas.microsoft.com/office/drawing/2014/main" id="{EBBDDC93-D269-A8AA-E03E-969B022CF316}"/>
              </a:ext>
            </a:extLst>
          </p:cNvPr>
          <p:cNvSpPr/>
          <p:nvPr/>
        </p:nvSpPr>
        <p:spPr>
          <a:xfrm>
            <a:off x="6914163" y="3349850"/>
            <a:ext cx="1593374" cy="381915"/>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Where?</a:t>
            </a:r>
          </a:p>
        </p:txBody>
      </p:sp>
      <p:pic>
        <p:nvPicPr>
          <p:cNvPr id="49" name="Graphic 48" descr="Cursor with solid fill">
            <a:extLst>
              <a:ext uri="{FF2B5EF4-FFF2-40B4-BE49-F238E27FC236}">
                <a16:creationId xmlns:a16="http://schemas.microsoft.com/office/drawing/2014/main" id="{3F0B0484-44ED-54AE-C022-F0BD80B16CCE}"/>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72179" y="3565696"/>
            <a:ext cx="274320" cy="274320"/>
          </a:xfrm>
          <a:prstGeom prst="rect">
            <a:avLst/>
          </a:prstGeom>
        </p:spPr>
      </p:pic>
      <p:sp>
        <p:nvSpPr>
          <p:cNvPr id="50" name="where Cardiac">
            <a:extLst>
              <a:ext uri="{FF2B5EF4-FFF2-40B4-BE49-F238E27FC236}">
                <a16:creationId xmlns:a16="http://schemas.microsoft.com/office/drawing/2014/main" id="{7A3BFC95-6952-C07D-26D5-5A59BFF71625}"/>
              </a:ext>
            </a:extLst>
          </p:cNvPr>
          <p:cNvSpPr/>
          <p:nvPr/>
        </p:nvSpPr>
        <p:spPr>
          <a:xfrm>
            <a:off x="9763681" y="3349850"/>
            <a:ext cx="1593374" cy="38191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Where?</a:t>
            </a:r>
          </a:p>
        </p:txBody>
      </p:sp>
      <p:pic>
        <p:nvPicPr>
          <p:cNvPr id="51" name="Graphic 50" descr="Cursor with solid fill">
            <a:extLst>
              <a:ext uri="{FF2B5EF4-FFF2-40B4-BE49-F238E27FC236}">
                <a16:creationId xmlns:a16="http://schemas.microsoft.com/office/drawing/2014/main" id="{F31A2941-FEB9-C6D3-8329-A72230D1C629}"/>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21697" y="3565696"/>
            <a:ext cx="274320" cy="274320"/>
          </a:xfrm>
          <a:prstGeom prst="rect">
            <a:avLst/>
          </a:prstGeom>
        </p:spPr>
      </p:pic>
      <p:sp>
        <p:nvSpPr>
          <p:cNvPr id="52" name="Prodrome OH">
            <a:extLst>
              <a:ext uri="{FF2B5EF4-FFF2-40B4-BE49-F238E27FC236}">
                <a16:creationId xmlns:a16="http://schemas.microsoft.com/office/drawing/2014/main" id="{2B84D1AF-8120-104A-D4BC-306BDBB05C9A}"/>
              </a:ext>
            </a:extLst>
          </p:cNvPr>
          <p:cNvSpPr/>
          <p:nvPr/>
        </p:nvSpPr>
        <p:spPr>
          <a:xfrm>
            <a:off x="4078083" y="4816792"/>
            <a:ext cx="1593374" cy="38191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Prodrome?</a:t>
            </a:r>
          </a:p>
        </p:txBody>
      </p:sp>
      <p:pic>
        <p:nvPicPr>
          <p:cNvPr id="53" name="Graphic 52" descr="Cursor with solid fill">
            <a:extLst>
              <a:ext uri="{FF2B5EF4-FFF2-40B4-BE49-F238E27FC236}">
                <a16:creationId xmlns:a16="http://schemas.microsoft.com/office/drawing/2014/main" id="{BD788532-3B43-61C8-7B71-6DFD9390038E}"/>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36099" y="5070647"/>
            <a:ext cx="274320" cy="274320"/>
          </a:xfrm>
          <a:prstGeom prst="rect">
            <a:avLst/>
          </a:prstGeom>
        </p:spPr>
      </p:pic>
      <p:sp>
        <p:nvSpPr>
          <p:cNvPr id="54" name="Prodrome reflex">
            <a:extLst>
              <a:ext uri="{FF2B5EF4-FFF2-40B4-BE49-F238E27FC236}">
                <a16:creationId xmlns:a16="http://schemas.microsoft.com/office/drawing/2014/main" id="{9AEE675F-2C93-EAF4-5B6E-CEE793BF3871}"/>
              </a:ext>
            </a:extLst>
          </p:cNvPr>
          <p:cNvSpPr/>
          <p:nvPr/>
        </p:nvSpPr>
        <p:spPr>
          <a:xfrm>
            <a:off x="6927601" y="4820510"/>
            <a:ext cx="1593374" cy="381915"/>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Prodrome?</a:t>
            </a:r>
          </a:p>
        </p:txBody>
      </p:sp>
      <p:pic>
        <p:nvPicPr>
          <p:cNvPr id="55" name="Graphic 54" descr="Cursor with solid fill">
            <a:extLst>
              <a:ext uri="{FF2B5EF4-FFF2-40B4-BE49-F238E27FC236}">
                <a16:creationId xmlns:a16="http://schemas.microsoft.com/office/drawing/2014/main" id="{1F5BFC0F-C613-1408-C83E-E2F9F52433CC}"/>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5617" y="5074365"/>
            <a:ext cx="274320" cy="274320"/>
          </a:xfrm>
          <a:prstGeom prst="rect">
            <a:avLst/>
          </a:prstGeom>
        </p:spPr>
      </p:pic>
      <p:sp>
        <p:nvSpPr>
          <p:cNvPr id="56" name="Prodrome Cardiac">
            <a:extLst>
              <a:ext uri="{FF2B5EF4-FFF2-40B4-BE49-F238E27FC236}">
                <a16:creationId xmlns:a16="http://schemas.microsoft.com/office/drawing/2014/main" id="{6C5A21AC-B592-B43C-B37C-FA4A03C1094C}"/>
              </a:ext>
            </a:extLst>
          </p:cNvPr>
          <p:cNvSpPr/>
          <p:nvPr/>
        </p:nvSpPr>
        <p:spPr>
          <a:xfrm>
            <a:off x="9777119" y="4824163"/>
            <a:ext cx="1593374" cy="38191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Prodrome?</a:t>
            </a:r>
          </a:p>
        </p:txBody>
      </p:sp>
      <p:pic>
        <p:nvPicPr>
          <p:cNvPr id="57" name="Graphic 56" descr="Cursor with solid fill">
            <a:extLst>
              <a:ext uri="{FF2B5EF4-FFF2-40B4-BE49-F238E27FC236}">
                <a16:creationId xmlns:a16="http://schemas.microsoft.com/office/drawing/2014/main" id="{7C033071-A233-043B-29B1-5624866D9F48}"/>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35135" y="5078018"/>
            <a:ext cx="274320" cy="274320"/>
          </a:xfrm>
          <a:prstGeom prst="rect">
            <a:avLst/>
          </a:prstGeom>
        </p:spPr>
      </p:pic>
      <p:sp>
        <p:nvSpPr>
          <p:cNvPr id="65" name="TextBox 64">
            <a:extLst>
              <a:ext uri="{FF2B5EF4-FFF2-40B4-BE49-F238E27FC236}">
                <a16:creationId xmlns:a16="http://schemas.microsoft.com/office/drawing/2014/main" id="{67D52B86-FD91-E520-85CB-A21E9D20BEE3}"/>
              </a:ext>
            </a:extLst>
          </p:cNvPr>
          <p:cNvSpPr txBox="1"/>
          <p:nvPr/>
        </p:nvSpPr>
        <p:spPr>
          <a:xfrm>
            <a:off x="3622734" y="1359407"/>
            <a:ext cx="2628055" cy="1323439"/>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chemeClr val="accent6">
                    <a:lumMod val="75000"/>
                  </a:schemeClr>
                </a:solidFill>
              </a:rPr>
              <a:t>Age: Old</a:t>
            </a:r>
          </a:p>
          <a:p>
            <a:pPr marL="173038" indent="-173038">
              <a:buFont typeface="Arial" panose="020B0604020202020204" pitchFamily="34" charset="0"/>
              <a:buChar char="•"/>
            </a:pPr>
            <a:r>
              <a:rPr lang="en-US" sz="1600" dirty="0">
                <a:solidFill>
                  <a:schemeClr val="accent6">
                    <a:lumMod val="75000"/>
                  </a:schemeClr>
                </a:solidFill>
              </a:rPr>
              <a:t>PMH: </a:t>
            </a:r>
          </a:p>
          <a:p>
            <a:pPr marL="463550" lvl="1" indent="-173038">
              <a:buFont typeface="Arial" panose="020B0604020202020204" pitchFamily="34" charset="0"/>
              <a:buChar char="•"/>
            </a:pPr>
            <a:r>
              <a:rPr lang="en-US" sz="1600" dirty="0">
                <a:solidFill>
                  <a:schemeClr val="accent6">
                    <a:lumMod val="75000"/>
                  </a:schemeClr>
                </a:solidFill>
              </a:rPr>
              <a:t>Volume/ blood loss</a:t>
            </a:r>
          </a:p>
          <a:p>
            <a:pPr marL="463550" lvl="1" indent="-173038">
              <a:buFont typeface="Arial" panose="020B0604020202020204" pitchFamily="34" charset="0"/>
              <a:buChar char="•"/>
            </a:pPr>
            <a:r>
              <a:rPr lang="en-US" sz="1600" dirty="0">
                <a:solidFill>
                  <a:schemeClr val="accent6">
                    <a:lumMod val="75000"/>
                  </a:schemeClr>
                </a:solidFill>
              </a:rPr>
              <a:t>DM, neuro-degenerative disease</a:t>
            </a:r>
          </a:p>
        </p:txBody>
      </p:sp>
      <p:sp>
        <p:nvSpPr>
          <p:cNvPr id="66" name="TextBox 65">
            <a:extLst>
              <a:ext uri="{FF2B5EF4-FFF2-40B4-BE49-F238E27FC236}">
                <a16:creationId xmlns:a16="http://schemas.microsoft.com/office/drawing/2014/main" id="{872D07D0-0432-7F3F-76D6-667AAAADE503}"/>
              </a:ext>
            </a:extLst>
          </p:cNvPr>
          <p:cNvSpPr txBox="1"/>
          <p:nvPr/>
        </p:nvSpPr>
        <p:spPr>
          <a:xfrm>
            <a:off x="6517924" y="1728739"/>
            <a:ext cx="2628055" cy="584775"/>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rgbClr val="7030A0"/>
                </a:solidFill>
              </a:rPr>
              <a:t>Age: All</a:t>
            </a:r>
          </a:p>
          <a:p>
            <a:pPr marL="173038" indent="-173038">
              <a:buFont typeface="Arial" panose="020B0604020202020204" pitchFamily="34" charset="0"/>
              <a:buChar char="•"/>
            </a:pPr>
            <a:r>
              <a:rPr lang="en-US" sz="1600" dirty="0">
                <a:solidFill>
                  <a:srgbClr val="7030A0"/>
                </a:solidFill>
              </a:rPr>
              <a:t>PMH: Generally healthy</a:t>
            </a:r>
          </a:p>
        </p:txBody>
      </p:sp>
      <p:sp>
        <p:nvSpPr>
          <p:cNvPr id="69" name="TextBox 68">
            <a:extLst>
              <a:ext uri="{FF2B5EF4-FFF2-40B4-BE49-F238E27FC236}">
                <a16:creationId xmlns:a16="http://schemas.microsoft.com/office/drawing/2014/main" id="{0D7AEC43-3384-5093-CCC3-57631FC329F8}"/>
              </a:ext>
            </a:extLst>
          </p:cNvPr>
          <p:cNvSpPr txBox="1"/>
          <p:nvPr/>
        </p:nvSpPr>
        <p:spPr>
          <a:xfrm>
            <a:off x="9226836" y="1344018"/>
            <a:ext cx="2798028" cy="1354217"/>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chemeClr val="accent1"/>
                </a:solidFill>
              </a:rPr>
              <a:t>Age: Old</a:t>
            </a:r>
          </a:p>
          <a:p>
            <a:pPr marL="173038" indent="-173038">
              <a:buFont typeface="Arial" panose="020B0604020202020204" pitchFamily="34" charset="0"/>
              <a:buChar char="•"/>
            </a:pPr>
            <a:r>
              <a:rPr lang="en-US" sz="1600" dirty="0">
                <a:solidFill>
                  <a:schemeClr val="accent1"/>
                </a:solidFill>
              </a:rPr>
              <a:t>PMH: Structural heart disease, CAD/MI, valvular disease</a:t>
            </a:r>
          </a:p>
          <a:p>
            <a:pPr marL="173038" indent="-173038">
              <a:buFont typeface="Arial" panose="020B0604020202020204" pitchFamily="34" charset="0"/>
              <a:buChar char="•"/>
            </a:pPr>
            <a:r>
              <a:rPr lang="en-US" sz="1600" dirty="0">
                <a:solidFill>
                  <a:schemeClr val="accent1"/>
                </a:solidFill>
              </a:rPr>
              <a:t>FH: sudden cardiac death</a:t>
            </a:r>
          </a:p>
        </p:txBody>
      </p:sp>
      <p:sp>
        <p:nvSpPr>
          <p:cNvPr id="70" name="TextBox 69">
            <a:extLst>
              <a:ext uri="{FF2B5EF4-FFF2-40B4-BE49-F238E27FC236}">
                <a16:creationId xmlns:a16="http://schemas.microsoft.com/office/drawing/2014/main" id="{F8E5AEA0-5F00-8E70-81B3-99DB12D7EAA5}"/>
              </a:ext>
            </a:extLst>
          </p:cNvPr>
          <p:cNvSpPr txBox="1"/>
          <p:nvPr/>
        </p:nvSpPr>
        <p:spPr>
          <a:xfrm>
            <a:off x="3588324" y="3371530"/>
            <a:ext cx="2628055" cy="338554"/>
          </a:xfrm>
          <a:prstGeom prst="rect">
            <a:avLst/>
          </a:prstGeom>
          <a:noFill/>
        </p:spPr>
        <p:txBody>
          <a:bodyPr wrap="square" rtlCol="0">
            <a:spAutoFit/>
          </a:bodyPr>
          <a:lstStyle/>
          <a:p>
            <a:r>
              <a:rPr lang="en-US" sz="1600" dirty="0">
                <a:solidFill>
                  <a:schemeClr val="accent6">
                    <a:lumMod val="75000"/>
                  </a:schemeClr>
                </a:solidFill>
              </a:rPr>
              <a:t>With postural change</a:t>
            </a:r>
          </a:p>
        </p:txBody>
      </p:sp>
      <p:sp>
        <p:nvSpPr>
          <p:cNvPr id="71" name="TextBox 70">
            <a:extLst>
              <a:ext uri="{FF2B5EF4-FFF2-40B4-BE49-F238E27FC236}">
                <a16:creationId xmlns:a16="http://schemas.microsoft.com/office/drawing/2014/main" id="{B4CB7F51-3D5C-A389-3AC5-95C7BF6764D6}"/>
              </a:ext>
            </a:extLst>
          </p:cNvPr>
          <p:cNvSpPr txBox="1"/>
          <p:nvPr/>
        </p:nvSpPr>
        <p:spPr>
          <a:xfrm>
            <a:off x="6395021" y="2929378"/>
            <a:ext cx="2612504" cy="1323439"/>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rgbClr val="7030A0"/>
                </a:solidFill>
              </a:rPr>
              <a:t>Prolonged standing, urination/ defecation, coughing, vomiting</a:t>
            </a:r>
          </a:p>
          <a:p>
            <a:pPr marL="173038" indent="-173038">
              <a:buFont typeface="Arial" panose="020B0604020202020204" pitchFamily="34" charset="0"/>
              <a:buChar char="•"/>
            </a:pPr>
            <a:r>
              <a:rPr lang="en-US" sz="1600" dirty="0">
                <a:solidFill>
                  <a:srgbClr val="7030A0"/>
                </a:solidFill>
              </a:rPr>
              <a:t>Stressful stimulus</a:t>
            </a:r>
          </a:p>
          <a:p>
            <a:pPr marL="173038" indent="-173038">
              <a:buFont typeface="Arial" panose="020B0604020202020204" pitchFamily="34" charset="0"/>
              <a:buChar char="•"/>
            </a:pPr>
            <a:r>
              <a:rPr lang="en-US" sz="1600" dirty="0">
                <a:solidFill>
                  <a:srgbClr val="7030A0"/>
                </a:solidFill>
              </a:rPr>
              <a:t>Carotid stimulation</a:t>
            </a:r>
          </a:p>
        </p:txBody>
      </p:sp>
      <p:sp>
        <p:nvSpPr>
          <p:cNvPr id="72" name="TextBox 71">
            <a:extLst>
              <a:ext uri="{FF2B5EF4-FFF2-40B4-BE49-F238E27FC236}">
                <a16:creationId xmlns:a16="http://schemas.microsoft.com/office/drawing/2014/main" id="{266582F0-FE77-4759-1EE4-D5CD2ED5A30E}"/>
              </a:ext>
            </a:extLst>
          </p:cNvPr>
          <p:cNvSpPr txBox="1"/>
          <p:nvPr/>
        </p:nvSpPr>
        <p:spPr>
          <a:xfrm>
            <a:off x="9226836" y="3215347"/>
            <a:ext cx="2763618" cy="584775"/>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chemeClr val="accent1"/>
                </a:solidFill>
              </a:rPr>
              <a:t>Supine, sitting, or at rest</a:t>
            </a:r>
          </a:p>
          <a:p>
            <a:pPr marL="173038" indent="-173038">
              <a:buFont typeface="Arial" panose="020B0604020202020204" pitchFamily="34" charset="0"/>
              <a:buChar char="•"/>
            </a:pPr>
            <a:r>
              <a:rPr lang="en-US" sz="1600" dirty="0">
                <a:solidFill>
                  <a:schemeClr val="accent1"/>
                </a:solidFill>
              </a:rPr>
              <a:t>With exertion</a:t>
            </a:r>
          </a:p>
        </p:txBody>
      </p:sp>
      <p:sp>
        <p:nvSpPr>
          <p:cNvPr id="2" name="TextBox 1">
            <a:extLst>
              <a:ext uri="{FF2B5EF4-FFF2-40B4-BE49-F238E27FC236}">
                <a16:creationId xmlns:a16="http://schemas.microsoft.com/office/drawing/2014/main" id="{8A9B7199-B447-43DF-8A93-2498EE433AE5}"/>
              </a:ext>
            </a:extLst>
          </p:cNvPr>
          <p:cNvSpPr txBox="1"/>
          <p:nvPr/>
        </p:nvSpPr>
        <p:spPr>
          <a:xfrm>
            <a:off x="3588324" y="4617436"/>
            <a:ext cx="2628055" cy="830997"/>
          </a:xfrm>
          <a:prstGeom prst="rect">
            <a:avLst/>
          </a:prstGeom>
          <a:noFill/>
        </p:spPr>
        <p:txBody>
          <a:bodyPr wrap="square" rtlCol="0">
            <a:spAutoFit/>
          </a:bodyPr>
          <a:lstStyle/>
          <a:p>
            <a:r>
              <a:rPr lang="en-US" sz="1600" dirty="0">
                <a:solidFill>
                  <a:schemeClr val="accent6">
                    <a:lumMod val="75000"/>
                  </a:schemeClr>
                </a:solidFill>
              </a:rPr>
              <a:t>Lightheadedness, dizziness associated with postural change</a:t>
            </a:r>
          </a:p>
        </p:txBody>
      </p:sp>
      <p:sp>
        <p:nvSpPr>
          <p:cNvPr id="22" name="TextBox 21">
            <a:extLst>
              <a:ext uri="{FF2B5EF4-FFF2-40B4-BE49-F238E27FC236}">
                <a16:creationId xmlns:a16="http://schemas.microsoft.com/office/drawing/2014/main" id="{DC97152A-5CC0-91F4-4767-5D90E91B33D5}"/>
              </a:ext>
            </a:extLst>
          </p:cNvPr>
          <p:cNvSpPr txBox="1"/>
          <p:nvPr/>
        </p:nvSpPr>
        <p:spPr>
          <a:xfrm>
            <a:off x="9244041" y="4507712"/>
            <a:ext cx="2628055" cy="1077218"/>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chemeClr val="accent1"/>
                </a:solidFill>
              </a:rPr>
              <a:t>Chest pain, dyspnea, palpitations</a:t>
            </a:r>
          </a:p>
          <a:p>
            <a:pPr marL="173038" indent="-173038">
              <a:buFont typeface="Arial" panose="020B0604020202020204" pitchFamily="34" charset="0"/>
              <a:buChar char="•"/>
            </a:pPr>
            <a:r>
              <a:rPr lang="en-US" sz="1600" dirty="0">
                <a:solidFill>
                  <a:schemeClr val="accent1"/>
                </a:solidFill>
              </a:rPr>
              <a:t>No prodrome (i.e., unheralded syncope)</a:t>
            </a:r>
          </a:p>
        </p:txBody>
      </p:sp>
      <p:sp>
        <p:nvSpPr>
          <p:cNvPr id="23" name="TextBox 22">
            <a:extLst>
              <a:ext uri="{FF2B5EF4-FFF2-40B4-BE49-F238E27FC236}">
                <a16:creationId xmlns:a16="http://schemas.microsoft.com/office/drawing/2014/main" id="{F32D7B41-A4B4-D895-2B5A-3B9A40141DB5}"/>
              </a:ext>
            </a:extLst>
          </p:cNvPr>
          <p:cNvSpPr txBox="1"/>
          <p:nvPr/>
        </p:nvSpPr>
        <p:spPr>
          <a:xfrm>
            <a:off x="6574380" y="4640798"/>
            <a:ext cx="2214401" cy="830997"/>
          </a:xfrm>
          <a:prstGeom prst="rect">
            <a:avLst/>
          </a:prstGeom>
          <a:noFill/>
        </p:spPr>
        <p:txBody>
          <a:bodyPr wrap="square" rtlCol="0">
            <a:spAutoFit/>
          </a:bodyPr>
          <a:lstStyle/>
          <a:p>
            <a:r>
              <a:rPr lang="en-US" sz="1600" dirty="0">
                <a:solidFill>
                  <a:srgbClr val="7030A0"/>
                </a:solidFill>
              </a:rPr>
              <a:t>Nausea, diaphoresis, pallor</a:t>
            </a:r>
          </a:p>
          <a:p>
            <a:endParaRPr lang="en-US" sz="1600" dirty="0">
              <a:solidFill>
                <a:srgbClr val="7030A0"/>
              </a:solidFill>
            </a:endParaRPr>
          </a:p>
        </p:txBody>
      </p:sp>
      <p:grpSp>
        <p:nvGrpSpPr>
          <p:cNvPr id="36" name="Group 35">
            <a:extLst>
              <a:ext uri="{FF2B5EF4-FFF2-40B4-BE49-F238E27FC236}">
                <a16:creationId xmlns:a16="http://schemas.microsoft.com/office/drawing/2014/main" id="{DEECFC6A-FD05-2A84-4151-FAEAF076A252}"/>
              </a:ext>
            </a:extLst>
          </p:cNvPr>
          <p:cNvGrpSpPr/>
          <p:nvPr/>
        </p:nvGrpSpPr>
        <p:grpSpPr>
          <a:xfrm>
            <a:off x="3611520" y="771454"/>
            <a:ext cx="8260575" cy="5055573"/>
            <a:chOff x="3611520" y="771454"/>
            <a:chExt cx="8260575" cy="5055573"/>
          </a:xfrm>
        </p:grpSpPr>
        <p:grpSp>
          <p:nvGrpSpPr>
            <p:cNvPr id="31" name="Group 30">
              <a:extLst>
                <a:ext uri="{FF2B5EF4-FFF2-40B4-BE49-F238E27FC236}">
                  <a16:creationId xmlns:a16="http://schemas.microsoft.com/office/drawing/2014/main" id="{22FFE021-EF89-D3AD-B8D9-E1FE11CBD69B}"/>
                </a:ext>
              </a:extLst>
            </p:cNvPr>
            <p:cNvGrpSpPr/>
            <p:nvPr/>
          </p:nvGrpSpPr>
          <p:grpSpPr>
            <a:xfrm>
              <a:off x="3611520" y="1183020"/>
              <a:ext cx="8260575" cy="4644007"/>
              <a:chOff x="3611521" y="1183020"/>
              <a:chExt cx="7905508" cy="4644007"/>
            </a:xfrm>
          </p:grpSpPr>
          <p:cxnSp>
            <p:nvCxnSpPr>
              <p:cNvPr id="29" name="Straight Connector 28">
                <a:extLst>
                  <a:ext uri="{FF2B5EF4-FFF2-40B4-BE49-F238E27FC236}">
                    <a16:creationId xmlns:a16="http://schemas.microsoft.com/office/drawing/2014/main" id="{50B914D5-99CC-C84F-9C87-11910223A890}"/>
                  </a:ext>
                </a:extLst>
              </p:cNvPr>
              <p:cNvCxnSpPr>
                <a:cxnSpLocks/>
              </p:cNvCxnSpPr>
              <p:nvPr/>
            </p:nvCxnSpPr>
            <p:spPr>
              <a:xfrm>
                <a:off x="3611521" y="2785058"/>
                <a:ext cx="7905508" cy="0"/>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3A8D2C60-7FBF-E590-95B5-538E899B1206}"/>
                  </a:ext>
                </a:extLst>
              </p:cNvPr>
              <p:cNvCxnSpPr/>
              <p:nvPr/>
            </p:nvCxnSpPr>
            <p:spPr>
              <a:xfrm>
                <a:off x="3611521" y="4378202"/>
                <a:ext cx="7905508" cy="0"/>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CA2DB881-FFA6-2CD5-DF5F-ECF6D771C37C}"/>
                  </a:ext>
                </a:extLst>
              </p:cNvPr>
              <p:cNvCxnSpPr/>
              <p:nvPr/>
            </p:nvCxnSpPr>
            <p:spPr>
              <a:xfrm>
                <a:off x="3611521" y="5827027"/>
                <a:ext cx="7905508" cy="0"/>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0EF83D26-CC08-D8D5-B708-148DB864681D}"/>
                  </a:ext>
                </a:extLst>
              </p:cNvPr>
              <p:cNvCxnSpPr/>
              <p:nvPr/>
            </p:nvCxnSpPr>
            <p:spPr>
              <a:xfrm>
                <a:off x="3611521" y="1183020"/>
                <a:ext cx="7905508" cy="0"/>
              </a:xfrm>
              <a:prstGeom prst="line">
                <a:avLst/>
              </a:prstGeom>
            </p:spPr>
            <p:style>
              <a:lnRef idx="3">
                <a:schemeClr val="dk1"/>
              </a:lnRef>
              <a:fillRef idx="0">
                <a:schemeClr val="dk1"/>
              </a:fillRef>
              <a:effectRef idx="2">
                <a:schemeClr val="dk1"/>
              </a:effectRef>
              <a:fontRef idx="minor">
                <a:schemeClr val="tx1"/>
              </a:fontRef>
            </p:style>
          </p:cxnSp>
        </p:grpSp>
        <p:cxnSp>
          <p:nvCxnSpPr>
            <p:cNvPr id="27" name="Straight Connector 26">
              <a:extLst>
                <a:ext uri="{FF2B5EF4-FFF2-40B4-BE49-F238E27FC236}">
                  <a16:creationId xmlns:a16="http://schemas.microsoft.com/office/drawing/2014/main" id="{124DB624-DA67-8211-9257-52D8B0374F33}"/>
                </a:ext>
              </a:extLst>
            </p:cNvPr>
            <p:cNvCxnSpPr>
              <a:cxnSpLocks/>
            </p:cNvCxnSpPr>
            <p:nvPr/>
          </p:nvCxnSpPr>
          <p:spPr>
            <a:xfrm>
              <a:off x="6212521" y="775307"/>
              <a:ext cx="0" cy="5051720"/>
            </a:xfrm>
            <a:prstGeom prst="line">
              <a:avLst/>
            </a:prstGeom>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D1FFE38C-3D9C-5205-AA72-458039547279}"/>
                </a:ext>
              </a:extLst>
            </p:cNvPr>
            <p:cNvCxnSpPr>
              <a:cxnSpLocks/>
            </p:cNvCxnSpPr>
            <p:nvPr/>
          </p:nvCxnSpPr>
          <p:spPr>
            <a:xfrm>
              <a:off x="9145979" y="771454"/>
              <a:ext cx="0" cy="5051720"/>
            </a:xfrm>
            <a:prstGeom prst="line">
              <a:avLst/>
            </a:prstGeom>
          </p:spPr>
          <p:style>
            <a:lnRef idx="3">
              <a:schemeClr val="dk1"/>
            </a:lnRef>
            <a:fillRef idx="0">
              <a:schemeClr val="dk1"/>
            </a:fillRef>
            <a:effectRef idx="2">
              <a:schemeClr val="dk1"/>
            </a:effectRef>
            <a:fontRef idx="minor">
              <a:schemeClr val="tx1"/>
            </a:fontRef>
          </p:style>
        </p:cxnSp>
      </p:grpSp>
      <p:pic>
        <p:nvPicPr>
          <p:cNvPr id="3" name="teachIM logo" descr="Icon  Description automatically generated">
            <a:extLst>
              <a:ext uri="{FF2B5EF4-FFF2-40B4-BE49-F238E27FC236}">
                <a16:creationId xmlns:a16="http://schemas.microsoft.com/office/drawing/2014/main" id="{4D760502-4EEC-36D8-3EC8-EB5CB63071B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6" name="High risk features">
            <a:extLst>
              <a:ext uri="{FF2B5EF4-FFF2-40B4-BE49-F238E27FC236}">
                <a16:creationId xmlns:a16="http://schemas.microsoft.com/office/drawing/2014/main" id="{6FB95CD2-BCDA-0308-BCB2-405360D95752}"/>
              </a:ext>
            </a:extLst>
          </p:cNvPr>
          <p:cNvSpPr/>
          <p:nvPr/>
        </p:nvSpPr>
        <p:spPr>
          <a:xfrm>
            <a:off x="5176408" y="6137515"/>
            <a:ext cx="4600711" cy="381915"/>
          </a:xfrm>
          <a:prstGeom prst="roundRect">
            <a:avLst/>
          </a:prstGeom>
          <a:solidFill>
            <a:schemeClr val="bg1"/>
          </a:solidFill>
          <a:ln w="381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are high risk features?</a:t>
            </a:r>
          </a:p>
        </p:txBody>
      </p:sp>
      <p:pic>
        <p:nvPicPr>
          <p:cNvPr id="11" name="Graphic 10" descr="Cursor with solid fill">
            <a:extLst>
              <a:ext uri="{FF2B5EF4-FFF2-40B4-BE49-F238E27FC236}">
                <a16:creationId xmlns:a16="http://schemas.microsoft.com/office/drawing/2014/main" id="{250B4A25-22E8-0B29-6E55-82D53896BA14}"/>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39959" y="6385799"/>
            <a:ext cx="274320" cy="274320"/>
          </a:xfrm>
          <a:prstGeom prst="rect">
            <a:avLst/>
          </a:prstGeom>
        </p:spPr>
      </p:pic>
      <p:sp>
        <p:nvSpPr>
          <p:cNvPr id="25" name="Obj 2">
            <a:hlinkClick r:id="rId10" action="ppaction://hlinksldjump"/>
            <a:extLst>
              <a:ext uri="{FF2B5EF4-FFF2-40B4-BE49-F238E27FC236}">
                <a16:creationId xmlns:a16="http://schemas.microsoft.com/office/drawing/2014/main" id="{9F806F5B-B3E9-C6AD-7B23-F8C4C8D54182}"/>
              </a:ext>
            </a:extLst>
          </p:cNvPr>
          <p:cNvSpPr/>
          <p:nvPr/>
        </p:nvSpPr>
        <p:spPr>
          <a:xfrm>
            <a:off x="180147" y="305796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39" name="Graphic 38" descr="Cursor with solid fill">
            <a:extLst>
              <a:ext uri="{FF2B5EF4-FFF2-40B4-BE49-F238E27FC236}">
                <a16:creationId xmlns:a16="http://schemas.microsoft.com/office/drawing/2014/main" id="{C0D8E246-847C-CBB1-3A26-3C49D0366B0D}"/>
              </a:ext>
            </a:extLst>
          </p:cNvPr>
          <p:cNvPicPr>
            <a:picLocks/>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13795" y="3313128"/>
            <a:ext cx="274320" cy="274320"/>
          </a:xfrm>
          <a:prstGeom prst="rect">
            <a:avLst/>
          </a:prstGeom>
        </p:spPr>
      </p:pic>
    </p:spTree>
    <p:extLst>
      <p:ext uri="{BB962C8B-B14F-4D97-AF65-F5344CB8AC3E}">
        <p14:creationId xmlns:p14="http://schemas.microsoft.com/office/powerpoint/2010/main" val="2139991788"/>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43"/>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1" restart="whenNotActive" fill="hold" evtFilter="cancelBubble" nodeType="interactiveSeq">
                <p:stCondLst>
                  <p:cond evt="onClick" delay="0">
                    <p:tgtEl>
                      <p:spTgt spid="40"/>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nodeType="withEffect">
                                  <p:stCondLst>
                                    <p:cond delay="0"/>
                                  </p:stCondLst>
                                  <p:childTnLst>
                                    <p:set>
                                      <p:cBhvr>
                                        <p:cTn id="15" dur="1" fill="hold">
                                          <p:stCondLst>
                                            <p:cond delay="0"/>
                                          </p:stCondLst>
                                        </p:cTn>
                                        <p:tgtEl>
                                          <p:spTgt spid="41"/>
                                        </p:tgtEl>
                                        <p:attrNameLst>
                                          <p:attrName>style.visibility</p:attrName>
                                        </p:attrNameLst>
                                      </p:cBhvr>
                                      <p:to>
                                        <p:strVal val="hidden"/>
                                      </p:to>
                                    </p:set>
                                  </p:childTnLst>
                                </p:cTn>
                              </p:par>
                              <p:par>
                                <p:cTn id="16" presetID="1" presetClass="entr" presetSubtype="0" fill="hold" grpId="0" nodeType="withEffect">
                                  <p:stCondLst>
                                    <p:cond delay="0"/>
                                  </p:stCondLst>
                                  <p:childTnLst>
                                    <p:set>
                                      <p:cBhvr>
                                        <p:cTn id="17" dur="1" fill="hold">
                                          <p:stCondLst>
                                            <p:cond delay="0"/>
                                          </p:stCondLst>
                                        </p:cTn>
                                        <p:tgtEl>
                                          <p:spTgt spid="65"/>
                                        </p:tgtEl>
                                        <p:attrNameLst>
                                          <p:attrName>style.visibility</p:attrName>
                                        </p:attrNameLst>
                                      </p:cBhvr>
                                      <p:to>
                                        <p:strVal val="visible"/>
                                      </p:to>
                                    </p:set>
                                  </p:childTnLst>
                                </p:cTn>
                              </p:par>
                              <p:par>
                                <p:cTn id="18" presetID="1" presetClass="exit"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20" restart="whenNotActive" fill="hold" evtFilter="cancelBubble" nodeType="interactiveSeq">
                <p:stCondLst>
                  <p:cond evt="onClick" delay="0">
                    <p:tgtEl>
                      <p:spTgt spid="44"/>
                    </p:tgtEl>
                  </p:cond>
                </p:stCondLst>
                <p:endSync evt="end" delay="0">
                  <p:rtn val="all"/>
                </p:endSync>
                <p:childTnLst>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45"/>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seq concurrent="1" nextAc="seek">
              <p:cTn id="29" restart="whenNotActive" fill="hold" evtFilter="cancelBubble" nodeType="interactiveSeq">
                <p:stCondLst>
                  <p:cond evt="onClick" delay="0">
                    <p:tgtEl>
                      <p:spTgt spid="48"/>
                    </p:tgtEl>
                  </p:cond>
                </p:stCondLst>
                <p:endSync evt="end" delay="0">
                  <p:rtn val="all"/>
                </p:endSync>
                <p:childTnLst>
                  <p:par>
                    <p:cTn id="30" fill="hold">
                      <p:stCondLst>
                        <p:cond delay="0"/>
                      </p:stCondLst>
                      <p:childTnLst>
                        <p:par>
                          <p:cTn id="31" fill="hold">
                            <p:stCondLst>
                              <p:cond delay="0"/>
                            </p:stCondLst>
                            <p:childTnLst>
                              <p:par>
                                <p:cTn id="32" presetID="1" presetClass="exit"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49"/>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71"/>
                                        </p:tgtEl>
                                        <p:attrNameLst>
                                          <p:attrName>style.visibility</p:attrName>
                                        </p:attrNameLst>
                                      </p:cBhvr>
                                      <p:to>
                                        <p:strVal val="visible"/>
                                      </p:to>
                                    </p:set>
                                  </p:childTnLst>
                                </p:cTn>
                              </p:par>
                            </p:childTnLst>
                          </p:cTn>
                        </p:par>
                      </p:childTnLst>
                    </p:cTn>
                  </p:par>
                </p:childTnLst>
              </p:cTn>
              <p:nextCondLst>
                <p:cond evt="onClick" delay="0">
                  <p:tgtEl>
                    <p:spTgt spid="48"/>
                  </p:tgtEl>
                </p:cond>
              </p:nextCondLst>
            </p:seq>
            <p:seq concurrent="1" nextAc="seek">
              <p:cTn id="38" restart="whenNotActive" fill="hold" evtFilter="cancelBubble" nodeType="interactiveSeq">
                <p:stCondLst>
                  <p:cond evt="onClick" delay="0">
                    <p:tgtEl>
                      <p:spTgt spid="46"/>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par>
                                <p:cTn id="43" presetID="1" presetClass="exit"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47" restart="whenNotActive" fill="hold" evtFilter="cancelBubble" nodeType="interactiveSeq">
                <p:stCondLst>
                  <p:cond evt="onClick" delay="0">
                    <p:tgtEl>
                      <p:spTgt spid="50"/>
                    </p:tgtEl>
                  </p:cond>
                </p:stCondLst>
                <p:endSync evt="end" delay="0">
                  <p:rtn val="all"/>
                </p:endSync>
                <p:childTnLst>
                  <p:par>
                    <p:cTn id="48" fill="hold">
                      <p:stCondLst>
                        <p:cond delay="indefinite"/>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50"/>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51"/>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72"/>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seq concurrent="1" nextAc="seek">
              <p:cTn id="56" restart="whenNotActive" fill="hold" evtFilter="cancelBubble" nodeType="interactiveSeq">
                <p:stCondLst>
                  <p:cond evt="onClick" delay="0">
                    <p:tgtEl>
                      <p:spTgt spid="54"/>
                    </p:tgtEl>
                  </p:cond>
                </p:stCondLst>
                <p:endSync evt="end" delay="0">
                  <p:rtn val="all"/>
                </p:endSync>
                <p:childTnLst>
                  <p:par>
                    <p:cTn id="57" fill="hold">
                      <p:stCondLst>
                        <p:cond delay="0"/>
                      </p:stCondLst>
                      <p:childTnLst>
                        <p:par>
                          <p:cTn id="58" fill="hold">
                            <p:stCondLst>
                              <p:cond delay="0"/>
                            </p:stCondLst>
                            <p:childTnLst>
                              <p:par>
                                <p:cTn id="59" presetID="1" presetClass="exit"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55"/>
                                        </p:tgtEl>
                                        <p:attrNameLst>
                                          <p:attrName>style.visibility</p:attrName>
                                        </p:attrNameLst>
                                      </p:cBhvr>
                                      <p:to>
                                        <p:strVal val="hidden"/>
                                      </p:to>
                                    </p:set>
                                  </p:childTnLst>
                                </p:cTn>
                              </p:par>
                              <p:par>
                                <p:cTn id="63" presetID="1"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childTnLst>
                                </p:cTn>
                              </p:par>
                            </p:childTnLst>
                          </p:cTn>
                        </p:par>
                      </p:childTnLst>
                    </p:cTn>
                  </p:par>
                </p:childTnLst>
              </p:cTn>
              <p:nextCondLst>
                <p:cond evt="onClick" delay="0">
                  <p:tgtEl>
                    <p:spTgt spid="54"/>
                  </p:tgtEl>
                </p:cond>
              </p:nextCondLst>
            </p:seq>
            <p:seq concurrent="1" nextAc="seek">
              <p:cTn id="65" restart="whenNotActive" fill="hold" evtFilter="cancelBubble" nodeType="interactiveSeq">
                <p:stCondLst>
                  <p:cond evt="onClick" delay="0">
                    <p:tgtEl>
                      <p:spTgt spid="52"/>
                    </p:tgtEl>
                  </p:cond>
                </p:stCondLst>
                <p:endSync evt="end" delay="0">
                  <p:rtn val="all"/>
                </p:endSync>
                <p:childTnLst>
                  <p:par>
                    <p:cTn id="66" fill="hold">
                      <p:stCondLst>
                        <p:cond delay="0"/>
                      </p:stCondLst>
                      <p:childTnLst>
                        <p:par>
                          <p:cTn id="67" fill="hold">
                            <p:stCondLst>
                              <p:cond delay="0"/>
                            </p:stCondLst>
                            <p:childTnLst>
                              <p:par>
                                <p:cTn id="68" presetID="1" presetClass="exit" presetSubtype="0" fill="hold" grpId="0" nodeType="clickEffect">
                                  <p:stCondLst>
                                    <p:cond delay="0"/>
                                  </p:stCondLst>
                                  <p:childTnLst>
                                    <p:set>
                                      <p:cBhvr>
                                        <p:cTn id="69" dur="1" fill="hold">
                                          <p:stCondLst>
                                            <p:cond delay="0"/>
                                          </p:stCondLst>
                                        </p:cTn>
                                        <p:tgtEl>
                                          <p:spTgt spid="52"/>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53"/>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52"/>
                  </p:tgtEl>
                </p:cond>
              </p:nextCondLst>
            </p:seq>
            <p:seq concurrent="1" nextAc="seek">
              <p:cTn id="74" restart="whenNotActive" fill="hold" evtFilter="cancelBubble" nodeType="interactiveSeq">
                <p:stCondLst>
                  <p:cond evt="onClick" delay="0">
                    <p:tgtEl>
                      <p:spTgt spid="56"/>
                    </p:tgtEl>
                  </p:cond>
                </p:stCondLst>
                <p:endSync evt="end" delay="0">
                  <p:rtn val="all"/>
                </p:endSync>
                <p:childTnLst>
                  <p:par>
                    <p:cTn id="75" fill="hold">
                      <p:stCondLst>
                        <p:cond delay="0"/>
                      </p:stCondLst>
                      <p:childTnLst>
                        <p:par>
                          <p:cTn id="76" fill="hold">
                            <p:stCondLst>
                              <p:cond delay="0"/>
                            </p:stCondLst>
                            <p:childTnLst>
                              <p:par>
                                <p:cTn id="77" presetID="1" presetClass="exit" presetSubtype="0" fill="hold" grpId="0" nodeType="clickEffect">
                                  <p:stCondLst>
                                    <p:cond delay="0"/>
                                  </p:stCondLst>
                                  <p:childTnLst>
                                    <p:set>
                                      <p:cBhvr>
                                        <p:cTn id="78" dur="1" fill="hold">
                                          <p:stCondLst>
                                            <p:cond delay="0"/>
                                          </p:stCondLst>
                                        </p:cTn>
                                        <p:tgtEl>
                                          <p:spTgt spid="56"/>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83" restart="whenNotActive" fill="hold" evtFilter="cancelBubble" nodeType="interactiveSeq">
                <p:stCondLst>
                  <p:cond evt="onClick" delay="0">
                    <p:tgtEl>
                      <p:spTgt spid="6"/>
                    </p:tgtEl>
                  </p:cond>
                </p:stCondLst>
                <p:endSync evt="end" delay="0">
                  <p:rtn val="all"/>
                </p:endSync>
                <p:childTnLst>
                  <p:par>
                    <p:cTn id="84" fill="hold">
                      <p:stCondLst>
                        <p:cond delay="0"/>
                      </p:stCondLst>
                      <p:childTnLst>
                        <p:par>
                          <p:cTn id="85" fill="hold">
                            <p:stCondLst>
                              <p:cond delay="0"/>
                            </p:stCondLst>
                            <p:childTnLst>
                              <p:par>
                                <p:cTn id="86" presetID="1" presetClass="exit" presetSubtype="0" fill="hold" grpId="0" nodeType="clickEffect">
                                  <p:stCondLst>
                                    <p:cond delay="0"/>
                                  </p:stCondLst>
                                  <p:childTnLst>
                                    <p:set>
                                      <p:cBhvr>
                                        <p:cTn id="87" dur="1" fill="hold">
                                          <p:stCondLst>
                                            <p:cond delay="0"/>
                                          </p:stCondLst>
                                        </p:cTn>
                                        <p:tgtEl>
                                          <p:spTgt spid="6"/>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11"/>
                                        </p:tgtEl>
                                        <p:attrNameLst>
                                          <p:attrName>style.visibility</p:attrName>
                                        </p:attrNameLst>
                                      </p:cBhvr>
                                      <p:to>
                                        <p:strVal val="hidden"/>
                                      </p:to>
                                    </p:set>
                                  </p:childTnLst>
                                </p:cTn>
                              </p:par>
                              <p:par>
                                <p:cTn id="90" presetID="1" presetClass="entr" presetSubtype="0" fill="hold" grpId="0" nodeType="withEffect">
                                  <p:stCondLst>
                                    <p:cond delay="0"/>
                                  </p:stCondLst>
                                  <p:childTnLst>
                                    <p:set>
                                      <p:cBhvr>
                                        <p:cTn id="91" dur="1" fill="hold">
                                          <p:stCondLst>
                                            <p:cond delay="0"/>
                                          </p:stCondLst>
                                        </p:cTn>
                                        <p:tgtEl>
                                          <p:spTgt spid="13"/>
                                        </p:tgtEl>
                                        <p:attrNameLst>
                                          <p:attrName>style.visibility</p:attrName>
                                        </p:attrNameLst>
                                      </p:cBhvr>
                                      <p:to>
                                        <p:strVal val="visible"/>
                                      </p:to>
                                    </p:set>
                                  </p:childTnLst>
                                </p:cTn>
                              </p:par>
                              <p:par>
                                <p:cTn id="92" presetID="3" presetClass="emph" presetSubtype="2" fill="hold" grpId="1" nodeType="withEffect">
                                  <p:stCondLst>
                                    <p:cond delay="0"/>
                                  </p:stCondLst>
                                  <p:childTnLst>
                                    <p:animClr clrSpc="rgb" dir="cw">
                                      <p:cBhvr override="childStyle">
                                        <p:cTn id="93" dur="500" fill="hold"/>
                                        <p:tgtEl>
                                          <p:spTgt spid="69"/>
                                        </p:tgtEl>
                                        <p:attrNameLst>
                                          <p:attrName>style.color</p:attrName>
                                        </p:attrNameLst>
                                      </p:cBhvr>
                                      <p:to>
                                        <a:srgbClr val="FF0000"/>
                                      </p:to>
                                    </p:animClr>
                                  </p:childTnLst>
                                </p:cTn>
                              </p:par>
                              <p:par>
                                <p:cTn id="94" presetID="3" presetClass="emph" presetSubtype="2" fill="hold" grpId="1" nodeType="withEffect">
                                  <p:stCondLst>
                                    <p:cond delay="0"/>
                                  </p:stCondLst>
                                  <p:childTnLst>
                                    <p:animClr clrSpc="rgb" dir="cw">
                                      <p:cBhvr override="childStyle">
                                        <p:cTn id="95" dur="500" fill="hold"/>
                                        <p:tgtEl>
                                          <p:spTgt spid="72"/>
                                        </p:tgtEl>
                                        <p:attrNameLst>
                                          <p:attrName>style.color</p:attrName>
                                        </p:attrNameLst>
                                      </p:cBhvr>
                                      <p:to>
                                        <a:srgbClr val="FF0000"/>
                                      </p:to>
                                    </p:animClr>
                                  </p:childTnLst>
                                </p:cTn>
                              </p:par>
                              <p:par>
                                <p:cTn id="96" presetID="3" presetClass="emph" presetSubtype="2" fill="hold" grpId="1" nodeType="withEffect">
                                  <p:stCondLst>
                                    <p:cond delay="0"/>
                                  </p:stCondLst>
                                  <p:childTnLst>
                                    <p:animClr clrSpc="rgb" dir="cw">
                                      <p:cBhvr override="childStyle">
                                        <p:cTn id="97" dur="500" fill="hold"/>
                                        <p:tgtEl>
                                          <p:spTgt spid="22"/>
                                        </p:tgtEl>
                                        <p:attrNameLst>
                                          <p:attrName>style.color</p:attrName>
                                        </p:attrNameLst>
                                      </p:cBhvr>
                                      <p:to>
                                        <a:srgbClr val="FF0000"/>
                                      </p:to>
                                    </p:animClr>
                                  </p:childTnLst>
                                </p:cTn>
                              </p:par>
                            </p:childTnLst>
                          </p:cTn>
                        </p:par>
                      </p:childTnLst>
                    </p:cTn>
                  </p:par>
                </p:childTnLst>
              </p:cTn>
              <p:nextCondLst>
                <p:cond evt="onClick" delay="0">
                  <p:tgtEl>
                    <p:spTgt spid="6"/>
                  </p:tgtEl>
                </p:cond>
              </p:nextCondLst>
            </p:seq>
          </p:childTnLst>
        </p:cTn>
      </p:par>
    </p:tnLst>
    <p:bldLst>
      <p:bldP spid="13" grpId="0"/>
      <p:bldP spid="40" grpId="0" animBg="1"/>
      <p:bldP spid="42" grpId="0" animBg="1"/>
      <p:bldP spid="44" grpId="0" animBg="1"/>
      <p:bldP spid="46" grpId="0" animBg="1"/>
      <p:bldP spid="48" grpId="0" animBg="1"/>
      <p:bldP spid="50" grpId="0" animBg="1"/>
      <p:bldP spid="52" grpId="0" animBg="1"/>
      <p:bldP spid="54" grpId="0" animBg="1"/>
      <p:bldP spid="56" grpId="0" animBg="1"/>
      <p:bldP spid="65" grpId="0"/>
      <p:bldP spid="66" grpId="0"/>
      <p:bldP spid="69" grpId="0"/>
      <p:bldP spid="69" grpId="1"/>
      <p:bldP spid="70" grpId="0"/>
      <p:bldP spid="71" grpId="0"/>
      <p:bldP spid="72" grpId="0"/>
      <p:bldP spid="72" grpId="1"/>
      <p:bldP spid="2" grpId="0"/>
      <p:bldP spid="22" grpId="0"/>
      <p:bldP spid="22" grpId="1"/>
      <p:bldP spid="23" grpId="0"/>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3D8EE34-416F-B06B-95C1-3D1312B92A23}"/>
              </a:ext>
            </a:extLst>
          </p:cNvPr>
          <p:cNvSpPr txBox="1"/>
          <p:nvPr/>
        </p:nvSpPr>
        <p:spPr>
          <a:xfrm>
            <a:off x="4126452" y="2715295"/>
            <a:ext cx="6922426" cy="923330"/>
          </a:xfrm>
          <a:prstGeom prst="rect">
            <a:avLst/>
          </a:prstGeom>
          <a:noFill/>
        </p:spPr>
        <p:txBody>
          <a:bodyPr wrap="square" rtlCol="0">
            <a:spAutoFit/>
          </a:bodyPr>
          <a:lstStyle/>
          <a:p>
            <a:pPr algn="ctr"/>
            <a:r>
              <a:rPr lang="en-US" dirty="0"/>
              <a:t>Head imaging (unless head injury or neuro symptoms)</a:t>
            </a:r>
          </a:p>
          <a:p>
            <a:pPr algn="ctr"/>
            <a:r>
              <a:rPr lang="en-US" dirty="0"/>
              <a:t>EEG</a:t>
            </a:r>
          </a:p>
          <a:p>
            <a:pPr algn="ctr"/>
            <a:r>
              <a:rPr lang="en-US" dirty="0"/>
              <a:t>Carotid imaging</a:t>
            </a:r>
          </a:p>
        </p:txBody>
      </p:sp>
      <p:sp>
        <p:nvSpPr>
          <p:cNvPr id="13" name="TextBox 12">
            <a:extLst>
              <a:ext uri="{FF2B5EF4-FFF2-40B4-BE49-F238E27FC236}">
                <a16:creationId xmlns:a16="http://schemas.microsoft.com/office/drawing/2014/main" id="{3B8BBCFF-DD11-A189-E2D4-83565C0C88AE}"/>
              </a:ext>
            </a:extLst>
          </p:cNvPr>
          <p:cNvSpPr txBox="1"/>
          <p:nvPr/>
        </p:nvSpPr>
        <p:spPr>
          <a:xfrm>
            <a:off x="4155500" y="3727314"/>
            <a:ext cx="6922426" cy="646331"/>
          </a:xfrm>
          <a:prstGeom prst="rect">
            <a:avLst/>
          </a:prstGeom>
          <a:noFill/>
        </p:spPr>
        <p:txBody>
          <a:bodyPr wrap="square" rtlCol="0">
            <a:spAutoFit/>
          </a:bodyPr>
          <a:lstStyle/>
          <a:p>
            <a:pPr algn="ctr"/>
            <a:r>
              <a:rPr lang="en-US" dirty="0">
                <a:solidFill>
                  <a:srgbClr val="FF0000"/>
                </a:solidFill>
              </a:rPr>
              <a:t>Patients with high-risk features (suggestive of cardiac syncope) require admission for observation and further evaluation</a:t>
            </a:r>
          </a:p>
        </p:txBody>
      </p:sp>
      <p:cxnSp>
        <p:nvCxnSpPr>
          <p:cNvPr id="27" name="Straight Connector 26">
            <a:extLst>
              <a:ext uri="{FF2B5EF4-FFF2-40B4-BE49-F238E27FC236}">
                <a16:creationId xmlns:a16="http://schemas.microsoft.com/office/drawing/2014/main" id="{577CBBF7-42B3-176B-39BF-BD4A42D59B7B}"/>
              </a:ext>
            </a:extLst>
          </p:cNvPr>
          <p:cNvCxnSpPr>
            <a:cxnSpLocks/>
          </p:cNvCxnSpPr>
          <p:nvPr/>
        </p:nvCxnSpPr>
        <p:spPr>
          <a:xfrm>
            <a:off x="6212521" y="775307"/>
            <a:ext cx="0" cy="182880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87FCDA72-8F2F-DA6F-94BA-ABF8C65607C7}"/>
              </a:ext>
            </a:extLst>
          </p:cNvPr>
          <p:cNvCxnSpPr>
            <a:cxnSpLocks/>
          </p:cNvCxnSpPr>
          <p:nvPr/>
        </p:nvCxnSpPr>
        <p:spPr>
          <a:xfrm>
            <a:off x="9145979" y="771454"/>
            <a:ext cx="0" cy="1828800"/>
          </a:xfrm>
          <a:prstGeom prst="line">
            <a:avLst/>
          </a:prstGeom>
        </p:spPr>
        <p:style>
          <a:lnRef idx="3">
            <a:schemeClr val="dk1"/>
          </a:lnRef>
          <a:fillRef idx="0">
            <a:schemeClr val="dk1"/>
          </a:fillRef>
          <a:effectRef idx="2">
            <a:schemeClr val="dk1"/>
          </a:effectRef>
          <a:fontRef idx="minor">
            <a:schemeClr val="tx1"/>
          </a:fontRef>
        </p:style>
      </p:cxnSp>
      <p:sp>
        <p:nvSpPr>
          <p:cNvPr id="58" name="Rectangle 57">
            <a:extLst>
              <a:ext uri="{FF2B5EF4-FFF2-40B4-BE49-F238E27FC236}">
                <a16:creationId xmlns:a16="http://schemas.microsoft.com/office/drawing/2014/main" id="{0DE435B0-45B6-6F37-02AF-B5F26105C927}"/>
              </a:ext>
            </a:extLst>
          </p:cNvPr>
          <p:cNvSpPr/>
          <p:nvPr/>
        </p:nvSpPr>
        <p:spPr>
          <a:xfrm>
            <a:off x="3627621" y="1194532"/>
            <a:ext cx="8244474" cy="1398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0465923-5B8C-5C36-82D2-1D4DE55A0F17}"/>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Evaluation - Testing</a:t>
            </a:r>
          </a:p>
        </p:txBody>
      </p:sp>
      <p:sp>
        <p:nvSpPr>
          <p:cNvPr id="21" name="Orthostatic">
            <a:extLst>
              <a:ext uri="{FF2B5EF4-FFF2-40B4-BE49-F238E27FC236}">
                <a16:creationId xmlns:a16="http://schemas.microsoft.com/office/drawing/2014/main" id="{B5199B1E-CB43-2084-0A8E-A85F86BA17B2}"/>
              </a:ext>
            </a:extLst>
          </p:cNvPr>
          <p:cNvSpPr/>
          <p:nvPr/>
        </p:nvSpPr>
        <p:spPr>
          <a:xfrm>
            <a:off x="4064645"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Orthostatic</a:t>
            </a:r>
          </a:p>
        </p:txBody>
      </p:sp>
      <p:sp>
        <p:nvSpPr>
          <p:cNvPr id="24" name="Orthostatic">
            <a:extLst>
              <a:ext uri="{FF2B5EF4-FFF2-40B4-BE49-F238E27FC236}">
                <a16:creationId xmlns:a16="http://schemas.microsoft.com/office/drawing/2014/main" id="{E3606975-F075-4E24-A1C2-378F85C610C4}"/>
              </a:ext>
            </a:extLst>
          </p:cNvPr>
          <p:cNvSpPr/>
          <p:nvPr/>
        </p:nvSpPr>
        <p:spPr>
          <a:xfrm>
            <a:off x="6914163"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Reflex</a:t>
            </a:r>
          </a:p>
        </p:txBody>
      </p:sp>
      <p:sp>
        <p:nvSpPr>
          <p:cNvPr id="26" name="Orthostatic">
            <a:extLst>
              <a:ext uri="{FF2B5EF4-FFF2-40B4-BE49-F238E27FC236}">
                <a16:creationId xmlns:a16="http://schemas.microsoft.com/office/drawing/2014/main" id="{8C0A5F90-AEBC-E158-39CD-2346BA7C150C}"/>
              </a:ext>
            </a:extLst>
          </p:cNvPr>
          <p:cNvSpPr/>
          <p:nvPr/>
        </p:nvSpPr>
        <p:spPr>
          <a:xfrm>
            <a:off x="9763681"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Cardiac</a:t>
            </a:r>
          </a:p>
        </p:txBody>
      </p:sp>
      <p:sp>
        <p:nvSpPr>
          <p:cNvPr id="35" name="TextBox 34">
            <a:extLst>
              <a:ext uri="{FF2B5EF4-FFF2-40B4-BE49-F238E27FC236}">
                <a16:creationId xmlns:a16="http://schemas.microsoft.com/office/drawing/2014/main" id="{83B17F29-92F3-4023-219D-3A304E06EADF}"/>
              </a:ext>
            </a:extLst>
          </p:cNvPr>
          <p:cNvSpPr txBox="1"/>
          <p:nvPr/>
        </p:nvSpPr>
        <p:spPr>
          <a:xfrm>
            <a:off x="2330257" y="1740850"/>
            <a:ext cx="1263152" cy="369332"/>
          </a:xfrm>
          <a:prstGeom prst="rect">
            <a:avLst/>
          </a:prstGeom>
          <a:noFill/>
        </p:spPr>
        <p:txBody>
          <a:bodyPr wrap="square" rtlCol="0">
            <a:spAutoFit/>
          </a:bodyPr>
          <a:lstStyle/>
          <a:p>
            <a:pPr algn="ctr"/>
            <a:r>
              <a:rPr lang="en-US" b="1" dirty="0"/>
              <a:t>Evaluation</a:t>
            </a:r>
          </a:p>
        </p:txBody>
      </p:sp>
      <p:sp>
        <p:nvSpPr>
          <p:cNvPr id="42" name="Who Reflex">
            <a:extLst>
              <a:ext uri="{FF2B5EF4-FFF2-40B4-BE49-F238E27FC236}">
                <a16:creationId xmlns:a16="http://schemas.microsoft.com/office/drawing/2014/main" id="{CB68B7CE-39F9-657A-910A-D9A52CA4A0D8}"/>
              </a:ext>
            </a:extLst>
          </p:cNvPr>
          <p:cNvSpPr/>
          <p:nvPr/>
        </p:nvSpPr>
        <p:spPr>
          <a:xfrm>
            <a:off x="6914163" y="1554062"/>
            <a:ext cx="1593374" cy="682201"/>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Standard evaluation</a:t>
            </a:r>
          </a:p>
        </p:txBody>
      </p:sp>
      <p:pic>
        <p:nvPicPr>
          <p:cNvPr id="43" name="Graphic 42" descr="Cursor with solid fill">
            <a:extLst>
              <a:ext uri="{FF2B5EF4-FFF2-40B4-BE49-F238E27FC236}">
                <a16:creationId xmlns:a16="http://schemas.microsoft.com/office/drawing/2014/main" id="{B7BAB9F7-1AE4-EBB3-245C-BF57EE8CF274}"/>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2179" y="2081769"/>
            <a:ext cx="274320" cy="274320"/>
          </a:xfrm>
          <a:prstGeom prst="rect">
            <a:avLst/>
          </a:prstGeom>
        </p:spPr>
      </p:pic>
      <p:sp>
        <p:nvSpPr>
          <p:cNvPr id="69" name="TextBox 68">
            <a:extLst>
              <a:ext uri="{FF2B5EF4-FFF2-40B4-BE49-F238E27FC236}">
                <a16:creationId xmlns:a16="http://schemas.microsoft.com/office/drawing/2014/main" id="{0D7AEC43-3384-5093-CCC3-57631FC329F8}"/>
              </a:ext>
            </a:extLst>
          </p:cNvPr>
          <p:cNvSpPr txBox="1"/>
          <p:nvPr/>
        </p:nvSpPr>
        <p:spPr>
          <a:xfrm>
            <a:off x="4212484" y="1482564"/>
            <a:ext cx="2753705" cy="923330"/>
          </a:xfrm>
          <a:prstGeom prst="rect">
            <a:avLst/>
          </a:prstGeom>
          <a:noFill/>
        </p:spPr>
        <p:txBody>
          <a:bodyPr wrap="square" rtlCol="0">
            <a:spAutoFit/>
          </a:bodyPr>
          <a:lstStyle/>
          <a:p>
            <a:pPr marL="173038" indent="-173038">
              <a:buFont typeface="Arial" panose="020B0604020202020204" pitchFamily="34" charset="0"/>
              <a:buChar char="•"/>
            </a:pPr>
            <a:r>
              <a:rPr lang="en-US" dirty="0"/>
              <a:t>History</a:t>
            </a:r>
          </a:p>
          <a:p>
            <a:pPr marL="173038" indent="-173038">
              <a:buFont typeface="Arial" panose="020B0604020202020204" pitchFamily="34" charset="0"/>
              <a:buChar char="•"/>
            </a:pPr>
            <a:r>
              <a:rPr lang="en-US" dirty="0"/>
              <a:t>Physical exam</a:t>
            </a:r>
          </a:p>
          <a:p>
            <a:pPr marL="173038" indent="-173038">
              <a:buFont typeface="Arial" panose="020B0604020202020204" pitchFamily="34" charset="0"/>
              <a:buChar char="•"/>
            </a:pPr>
            <a:r>
              <a:rPr lang="en-US" dirty="0"/>
              <a:t>Vital signs (</a:t>
            </a:r>
            <a:r>
              <a:rPr lang="en-US" dirty="0" err="1"/>
              <a:t>orthostatics</a:t>
            </a:r>
            <a:r>
              <a:rPr lang="en-US" dirty="0"/>
              <a:t>)</a:t>
            </a:r>
            <a:endParaRPr lang="en-US" dirty="0">
              <a:solidFill>
                <a:schemeClr val="accent1"/>
              </a:solidFill>
            </a:endParaRPr>
          </a:p>
        </p:txBody>
      </p:sp>
      <p:sp>
        <p:nvSpPr>
          <p:cNvPr id="59" name="TextBox 58">
            <a:extLst>
              <a:ext uri="{FF2B5EF4-FFF2-40B4-BE49-F238E27FC236}">
                <a16:creationId xmlns:a16="http://schemas.microsoft.com/office/drawing/2014/main" id="{54B51FD4-D4A9-1732-20CE-B2221D77ACC0}"/>
              </a:ext>
            </a:extLst>
          </p:cNvPr>
          <p:cNvSpPr txBox="1"/>
          <p:nvPr/>
        </p:nvSpPr>
        <p:spPr>
          <a:xfrm>
            <a:off x="8037657" y="1664078"/>
            <a:ext cx="824254" cy="369332"/>
          </a:xfrm>
          <a:prstGeom prst="rect">
            <a:avLst/>
          </a:prstGeom>
          <a:noFill/>
        </p:spPr>
        <p:txBody>
          <a:bodyPr wrap="square" rtlCol="0">
            <a:spAutoFit/>
          </a:bodyPr>
          <a:lstStyle/>
          <a:p>
            <a:pPr marL="173038" indent="-173038">
              <a:buFont typeface="Arial" panose="020B0604020202020204" pitchFamily="34" charset="0"/>
              <a:buChar char="•"/>
            </a:pPr>
            <a:r>
              <a:rPr lang="en-US" dirty="0"/>
              <a:t>ECG</a:t>
            </a:r>
            <a:endParaRPr lang="en-US" dirty="0">
              <a:solidFill>
                <a:schemeClr val="accent1"/>
              </a:solidFill>
            </a:endParaRPr>
          </a:p>
        </p:txBody>
      </p:sp>
      <p:sp>
        <p:nvSpPr>
          <p:cNvPr id="60" name="Left Brace 59">
            <a:extLst>
              <a:ext uri="{FF2B5EF4-FFF2-40B4-BE49-F238E27FC236}">
                <a16:creationId xmlns:a16="http://schemas.microsoft.com/office/drawing/2014/main" id="{B02551F4-22D6-E454-F19D-759AAE7BCD32}"/>
              </a:ext>
            </a:extLst>
          </p:cNvPr>
          <p:cNvSpPr/>
          <p:nvPr/>
        </p:nvSpPr>
        <p:spPr>
          <a:xfrm>
            <a:off x="8848416" y="1283563"/>
            <a:ext cx="501847" cy="1215989"/>
          </a:xfrm>
          <a:prstGeom prst="leftBrace">
            <a:avLst>
              <a:gd name="adj1" fmla="val 0"/>
              <a:gd name="adj2" fmla="val 44289"/>
            </a:avLst>
          </a:prstGeom>
          <a:ln>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p:sp>
        <p:nvSpPr>
          <p:cNvPr id="61" name="TextBox 60">
            <a:extLst>
              <a:ext uri="{FF2B5EF4-FFF2-40B4-BE49-F238E27FC236}">
                <a16:creationId xmlns:a16="http://schemas.microsoft.com/office/drawing/2014/main" id="{3457F796-A167-1B42-5571-F86BA231FB0D}"/>
              </a:ext>
            </a:extLst>
          </p:cNvPr>
          <p:cNvSpPr txBox="1"/>
          <p:nvPr/>
        </p:nvSpPr>
        <p:spPr>
          <a:xfrm>
            <a:off x="9202684" y="1229839"/>
            <a:ext cx="2557743" cy="1323439"/>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rgbClr val="FF0000"/>
                </a:solidFill>
              </a:rPr>
              <a:t>Acute ischemia</a:t>
            </a:r>
          </a:p>
          <a:p>
            <a:pPr marL="173038" indent="-173038">
              <a:buFont typeface="Arial" panose="020B0604020202020204" pitchFamily="34" charset="0"/>
              <a:buChar char="•"/>
            </a:pPr>
            <a:r>
              <a:rPr lang="en-US" sz="1600" dirty="0">
                <a:solidFill>
                  <a:srgbClr val="FF0000"/>
                </a:solidFill>
              </a:rPr>
              <a:t>Structural heart disease</a:t>
            </a:r>
          </a:p>
          <a:p>
            <a:pPr marL="173038" indent="-173038">
              <a:buFont typeface="Arial" panose="020B0604020202020204" pitchFamily="34" charset="0"/>
              <a:buChar char="•"/>
            </a:pPr>
            <a:r>
              <a:rPr lang="en-US" sz="1600" dirty="0" err="1">
                <a:solidFill>
                  <a:srgbClr val="FF0000"/>
                </a:solidFill>
              </a:rPr>
              <a:t>Bradyarrhythmias</a:t>
            </a:r>
            <a:endParaRPr lang="en-US" sz="1600" dirty="0">
              <a:solidFill>
                <a:srgbClr val="FF0000"/>
              </a:solidFill>
            </a:endParaRPr>
          </a:p>
          <a:p>
            <a:pPr marL="173038" indent="-173038">
              <a:buFont typeface="Arial" panose="020B0604020202020204" pitchFamily="34" charset="0"/>
              <a:buChar char="•"/>
            </a:pPr>
            <a:r>
              <a:rPr lang="en-US" sz="1600" dirty="0">
                <a:solidFill>
                  <a:srgbClr val="FF0000"/>
                </a:solidFill>
              </a:rPr>
              <a:t>Arrhythmogenic pattern (</a:t>
            </a:r>
            <a:r>
              <a:rPr lang="en-US" sz="1600" dirty="0" err="1">
                <a:solidFill>
                  <a:srgbClr val="FF0000"/>
                </a:solidFill>
              </a:rPr>
              <a:t>Brugada</a:t>
            </a:r>
            <a:r>
              <a:rPr lang="en-US" sz="1600" dirty="0">
                <a:solidFill>
                  <a:srgbClr val="FF0000"/>
                </a:solidFill>
              </a:rPr>
              <a:t>, long/short QT) </a:t>
            </a:r>
          </a:p>
        </p:txBody>
      </p:sp>
      <p:sp>
        <p:nvSpPr>
          <p:cNvPr id="68" name="Obj 2">
            <a:hlinkClick r:id="rId4" action="ppaction://hlinksldjump"/>
            <a:extLst>
              <a:ext uri="{FF2B5EF4-FFF2-40B4-BE49-F238E27FC236}">
                <a16:creationId xmlns:a16="http://schemas.microsoft.com/office/drawing/2014/main" id="{4A467C39-0382-19D6-F74A-28005F4F7185}"/>
              </a:ext>
            </a:extLst>
          </p:cNvPr>
          <p:cNvSpPr/>
          <p:nvPr/>
        </p:nvSpPr>
        <p:spPr>
          <a:xfrm>
            <a:off x="18484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sp>
        <p:nvSpPr>
          <p:cNvPr id="73" name="Obj 2">
            <a:hlinkClick r:id="rId5" action="ppaction://hlinksldjump"/>
            <a:extLst>
              <a:ext uri="{FF2B5EF4-FFF2-40B4-BE49-F238E27FC236}">
                <a16:creationId xmlns:a16="http://schemas.microsoft.com/office/drawing/2014/main" id="{6E171241-4FE1-1C97-E136-FF9208569F84}"/>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74" name="Obj 2">
            <a:hlinkClick r:id="rId6" action="ppaction://hlinksldjump"/>
            <a:extLst>
              <a:ext uri="{FF2B5EF4-FFF2-40B4-BE49-F238E27FC236}">
                <a16:creationId xmlns:a16="http://schemas.microsoft.com/office/drawing/2014/main" id="{A2D6BB4C-05C7-E5BB-23F4-940C11B0AB9F}"/>
              </a:ext>
            </a:extLst>
          </p:cNvPr>
          <p:cNvSpPr/>
          <p:nvPr/>
        </p:nvSpPr>
        <p:spPr>
          <a:xfrm>
            <a:off x="184843" y="1341796"/>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Evaluation</a:t>
            </a:r>
          </a:p>
        </p:txBody>
      </p:sp>
      <p:pic>
        <p:nvPicPr>
          <p:cNvPr id="76" name="Graphic 75" descr="Cursor with solid fill">
            <a:extLst>
              <a:ext uri="{FF2B5EF4-FFF2-40B4-BE49-F238E27FC236}">
                <a16:creationId xmlns:a16="http://schemas.microsoft.com/office/drawing/2014/main" id="{D10D780B-5D8E-5D94-8888-33B1BC7AE621}"/>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454521"/>
            <a:ext cx="274320" cy="274320"/>
          </a:xfrm>
          <a:prstGeom prst="rect">
            <a:avLst/>
          </a:prstGeom>
        </p:spPr>
      </p:pic>
      <p:pic>
        <p:nvPicPr>
          <p:cNvPr id="79" name="Graphic 78" descr="Cursor with solid fill">
            <a:extLst>
              <a:ext uri="{FF2B5EF4-FFF2-40B4-BE49-F238E27FC236}">
                <a16:creationId xmlns:a16="http://schemas.microsoft.com/office/drawing/2014/main" id="{CA07605C-56E5-371E-133D-4E75145068C9}"/>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1021974"/>
            <a:ext cx="274320" cy="274320"/>
          </a:xfrm>
          <a:prstGeom prst="rect">
            <a:avLst/>
          </a:prstGeom>
        </p:spPr>
      </p:pic>
      <p:sp>
        <p:nvSpPr>
          <p:cNvPr id="86" name="Obj 2">
            <a:hlinkClick r:id="rId6" action="ppaction://hlinksldjump"/>
            <a:extLst>
              <a:ext uri="{FF2B5EF4-FFF2-40B4-BE49-F238E27FC236}">
                <a16:creationId xmlns:a16="http://schemas.microsoft.com/office/drawing/2014/main" id="{F113F6E6-40A5-F615-2F1C-419A02BE847C}"/>
              </a:ext>
            </a:extLst>
          </p:cNvPr>
          <p:cNvSpPr/>
          <p:nvPr/>
        </p:nvSpPr>
        <p:spPr>
          <a:xfrm>
            <a:off x="451412" y="1911074"/>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History</a:t>
            </a:r>
          </a:p>
        </p:txBody>
      </p:sp>
      <p:sp>
        <p:nvSpPr>
          <p:cNvPr id="88" name="Obj 2">
            <a:hlinkClick r:id="rId7" action="ppaction://hlinksldjump"/>
            <a:extLst>
              <a:ext uri="{FF2B5EF4-FFF2-40B4-BE49-F238E27FC236}">
                <a16:creationId xmlns:a16="http://schemas.microsoft.com/office/drawing/2014/main" id="{EF61DA96-333E-E262-C7F3-1A6E72D2C816}"/>
              </a:ext>
            </a:extLst>
          </p:cNvPr>
          <p:cNvSpPr/>
          <p:nvPr/>
        </p:nvSpPr>
        <p:spPr>
          <a:xfrm>
            <a:off x="451412" y="2481231"/>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Testing</a:t>
            </a:r>
          </a:p>
        </p:txBody>
      </p:sp>
      <p:cxnSp>
        <p:nvCxnSpPr>
          <p:cNvPr id="90" name="Connector: Elbow 89">
            <a:extLst>
              <a:ext uri="{FF2B5EF4-FFF2-40B4-BE49-F238E27FC236}">
                <a16:creationId xmlns:a16="http://schemas.microsoft.com/office/drawing/2014/main" id="{BC48E424-301E-66E4-4439-F1FE936237D1}"/>
              </a:ext>
            </a:extLst>
          </p:cNvPr>
          <p:cNvCxnSpPr/>
          <p:nvPr/>
        </p:nvCxnSpPr>
        <p:spPr>
          <a:xfrm rot="16200000" flipH="1">
            <a:off x="169214" y="1818811"/>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B7AB7848-55F5-04E1-1BE4-B64C63FCBB06}"/>
              </a:ext>
            </a:extLst>
          </p:cNvPr>
          <p:cNvCxnSpPr>
            <a:cxnSpLocks/>
          </p:cNvCxnSpPr>
          <p:nvPr/>
        </p:nvCxnSpPr>
        <p:spPr>
          <a:xfrm rot="16200000" flipH="1">
            <a:off x="-115865" y="2103889"/>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2" name="Graphic 91" descr="Cursor with solid fill">
            <a:extLst>
              <a:ext uri="{FF2B5EF4-FFF2-40B4-BE49-F238E27FC236}">
                <a16:creationId xmlns:a16="http://schemas.microsoft.com/office/drawing/2014/main" id="{F77E194E-A6C9-E372-712F-32E63CC13646}"/>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2164929"/>
            <a:ext cx="274320" cy="274320"/>
          </a:xfrm>
          <a:prstGeom prst="rect">
            <a:avLst/>
          </a:prstGeom>
        </p:spPr>
      </p:pic>
      <p:sp>
        <p:nvSpPr>
          <p:cNvPr id="4" name="High risk features">
            <a:extLst>
              <a:ext uri="{FF2B5EF4-FFF2-40B4-BE49-F238E27FC236}">
                <a16:creationId xmlns:a16="http://schemas.microsoft.com/office/drawing/2014/main" id="{E55AC176-E64B-17C7-8780-ABF7459A401A}"/>
              </a:ext>
            </a:extLst>
          </p:cNvPr>
          <p:cNvSpPr/>
          <p:nvPr/>
        </p:nvSpPr>
        <p:spPr>
          <a:xfrm>
            <a:off x="5316358" y="3867147"/>
            <a:ext cx="4600711" cy="381915"/>
          </a:xfrm>
          <a:prstGeom prst="roundRect">
            <a:avLst/>
          </a:prstGeom>
          <a:solidFill>
            <a:schemeClr val="bg1"/>
          </a:solidFill>
          <a:ln w="3810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are high risk features?</a:t>
            </a:r>
          </a:p>
        </p:txBody>
      </p:sp>
      <p:pic>
        <p:nvPicPr>
          <p:cNvPr id="5" name="Graphic 4" descr="Cursor with solid fill">
            <a:extLst>
              <a:ext uri="{FF2B5EF4-FFF2-40B4-BE49-F238E27FC236}">
                <a16:creationId xmlns:a16="http://schemas.microsoft.com/office/drawing/2014/main" id="{7CB941BB-B0E3-B2AD-5B01-CCFD111CB19E}"/>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79909" y="4115431"/>
            <a:ext cx="274320" cy="274320"/>
          </a:xfrm>
          <a:prstGeom prst="rect">
            <a:avLst/>
          </a:prstGeom>
        </p:spPr>
      </p:pic>
      <p:sp>
        <p:nvSpPr>
          <p:cNvPr id="6" name="TextBox 5">
            <a:extLst>
              <a:ext uri="{FF2B5EF4-FFF2-40B4-BE49-F238E27FC236}">
                <a16:creationId xmlns:a16="http://schemas.microsoft.com/office/drawing/2014/main" id="{F24372CC-7C2C-C194-1C7C-24DD1979CEEF}"/>
              </a:ext>
            </a:extLst>
          </p:cNvPr>
          <p:cNvSpPr txBox="1"/>
          <p:nvPr/>
        </p:nvSpPr>
        <p:spPr>
          <a:xfrm>
            <a:off x="5139856" y="1497400"/>
            <a:ext cx="1298396" cy="338554"/>
          </a:xfrm>
          <a:prstGeom prst="rect">
            <a:avLst/>
          </a:prstGeom>
          <a:noFill/>
        </p:spPr>
        <p:txBody>
          <a:bodyPr wrap="square" rtlCol="0">
            <a:spAutoFit/>
          </a:bodyPr>
          <a:lstStyle/>
          <a:p>
            <a:r>
              <a:rPr lang="en-US" sz="1600" dirty="0">
                <a:solidFill>
                  <a:srgbClr val="FF0000"/>
                </a:solidFill>
              </a:rPr>
              <a:t>(signs of GIB)</a:t>
            </a:r>
          </a:p>
        </p:txBody>
      </p:sp>
      <p:sp>
        <p:nvSpPr>
          <p:cNvPr id="7" name="TextBox 6">
            <a:extLst>
              <a:ext uri="{FF2B5EF4-FFF2-40B4-BE49-F238E27FC236}">
                <a16:creationId xmlns:a16="http://schemas.microsoft.com/office/drawing/2014/main" id="{15AA945A-E146-8309-88AC-221A25F4034E}"/>
              </a:ext>
            </a:extLst>
          </p:cNvPr>
          <p:cNvSpPr txBox="1"/>
          <p:nvPr/>
        </p:nvSpPr>
        <p:spPr>
          <a:xfrm>
            <a:off x="5748713" y="1771628"/>
            <a:ext cx="2482001" cy="338554"/>
          </a:xfrm>
          <a:prstGeom prst="rect">
            <a:avLst/>
          </a:prstGeom>
          <a:noFill/>
        </p:spPr>
        <p:txBody>
          <a:bodyPr wrap="square" rtlCol="0">
            <a:spAutoFit/>
          </a:bodyPr>
          <a:lstStyle/>
          <a:p>
            <a:r>
              <a:rPr lang="en-US" sz="1600" dirty="0">
                <a:solidFill>
                  <a:srgbClr val="FF0000"/>
                </a:solidFill>
              </a:rPr>
              <a:t>(SBP&lt;90, HR&lt;40, murmur)</a:t>
            </a:r>
          </a:p>
        </p:txBody>
      </p:sp>
      <p:sp>
        <p:nvSpPr>
          <p:cNvPr id="8" name="Obj 2">
            <a:hlinkClick r:id="rId8" action="ppaction://hlinksldjump"/>
            <a:extLst>
              <a:ext uri="{FF2B5EF4-FFF2-40B4-BE49-F238E27FC236}">
                <a16:creationId xmlns:a16="http://schemas.microsoft.com/office/drawing/2014/main" id="{73D995BE-F901-1CC3-C297-361D9637AF20}"/>
              </a:ext>
            </a:extLst>
          </p:cNvPr>
          <p:cNvSpPr/>
          <p:nvPr/>
        </p:nvSpPr>
        <p:spPr>
          <a:xfrm>
            <a:off x="184843" y="3609164"/>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9" name="Graphic 8" descr="Cursor with solid fill">
            <a:extLst>
              <a:ext uri="{FF2B5EF4-FFF2-40B4-BE49-F238E27FC236}">
                <a16:creationId xmlns:a16="http://schemas.microsoft.com/office/drawing/2014/main" id="{1E6E3ECC-4E4F-0FFA-96C4-415DF711B6F1}"/>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7" y="3855927"/>
            <a:ext cx="274320" cy="274320"/>
          </a:xfrm>
          <a:prstGeom prst="rect">
            <a:avLst/>
          </a:prstGeom>
        </p:spPr>
      </p:pic>
      <p:sp>
        <p:nvSpPr>
          <p:cNvPr id="10" name="Obj 2">
            <a:hlinkClick r:id="rId9" action="ppaction://hlinksldjump"/>
            <a:extLst>
              <a:ext uri="{FF2B5EF4-FFF2-40B4-BE49-F238E27FC236}">
                <a16:creationId xmlns:a16="http://schemas.microsoft.com/office/drawing/2014/main" id="{1BAC20D5-BEB6-10C8-C6BE-5A2D1ED89F22}"/>
              </a:ext>
            </a:extLst>
          </p:cNvPr>
          <p:cNvSpPr/>
          <p:nvPr/>
        </p:nvSpPr>
        <p:spPr>
          <a:xfrm>
            <a:off x="184843" y="3057967"/>
            <a:ext cx="1863288"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12" name="Graphic 11" descr="Cursor with solid fill">
            <a:extLst>
              <a:ext uri="{FF2B5EF4-FFF2-40B4-BE49-F238E27FC236}">
                <a16:creationId xmlns:a16="http://schemas.microsoft.com/office/drawing/2014/main" id="{CA5CCB5E-DA01-B3C6-41AB-174D50283262}"/>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13795" y="3313128"/>
            <a:ext cx="274320" cy="274320"/>
          </a:xfrm>
          <a:prstGeom prst="rect">
            <a:avLst/>
          </a:prstGeom>
        </p:spPr>
      </p:pic>
      <p:sp>
        <p:nvSpPr>
          <p:cNvPr id="14" name="High risk features">
            <a:hlinkClick r:id="rId10" action="ppaction://hlinksldjump"/>
            <a:extLst>
              <a:ext uri="{FF2B5EF4-FFF2-40B4-BE49-F238E27FC236}">
                <a16:creationId xmlns:a16="http://schemas.microsoft.com/office/drawing/2014/main" id="{89808AC0-31F2-B066-AF2B-7347DBD45F17}"/>
              </a:ext>
            </a:extLst>
          </p:cNvPr>
          <p:cNvSpPr/>
          <p:nvPr/>
        </p:nvSpPr>
        <p:spPr>
          <a:xfrm>
            <a:off x="5316358" y="4726868"/>
            <a:ext cx="4600711" cy="646331"/>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additional testing can help differentiate causes of syncope?</a:t>
            </a:r>
          </a:p>
        </p:txBody>
      </p:sp>
      <p:pic>
        <p:nvPicPr>
          <p:cNvPr id="15" name="Graphic 14" descr="Cursor with solid fill">
            <a:extLst>
              <a:ext uri="{FF2B5EF4-FFF2-40B4-BE49-F238E27FC236}">
                <a16:creationId xmlns:a16="http://schemas.microsoft.com/office/drawing/2014/main" id="{6D36AE6F-D195-B0B4-1BDA-538FFFA6156B}"/>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92729" y="5220740"/>
            <a:ext cx="274320" cy="274320"/>
          </a:xfrm>
          <a:prstGeom prst="rect">
            <a:avLst/>
          </a:prstGeom>
        </p:spPr>
      </p:pic>
      <p:cxnSp>
        <p:nvCxnSpPr>
          <p:cNvPr id="2" name="Straight Connector 1">
            <a:extLst>
              <a:ext uri="{FF2B5EF4-FFF2-40B4-BE49-F238E27FC236}">
                <a16:creationId xmlns:a16="http://schemas.microsoft.com/office/drawing/2014/main" id="{52E88AE4-F97F-2235-512B-37F2274A7B3E}"/>
              </a:ext>
            </a:extLst>
          </p:cNvPr>
          <p:cNvCxnSpPr>
            <a:cxnSpLocks/>
          </p:cNvCxnSpPr>
          <p:nvPr/>
        </p:nvCxnSpPr>
        <p:spPr>
          <a:xfrm>
            <a:off x="3611520" y="2615700"/>
            <a:ext cx="8260575" cy="0"/>
          </a:xfrm>
          <a:prstGeom prst="line">
            <a:avLst/>
          </a:prstGeom>
        </p:spPr>
        <p:style>
          <a:lnRef idx="3">
            <a:schemeClr val="dk1"/>
          </a:lnRef>
          <a:fillRef idx="0">
            <a:schemeClr val="dk1"/>
          </a:fillRef>
          <a:effectRef idx="2">
            <a:schemeClr val="dk1"/>
          </a:effectRef>
          <a:fontRef idx="minor">
            <a:schemeClr val="tx1"/>
          </a:fontRef>
        </p:style>
      </p:cxnSp>
      <p:cxnSp>
        <p:nvCxnSpPr>
          <p:cNvPr id="3" name="Straight Connector 2">
            <a:extLst>
              <a:ext uri="{FF2B5EF4-FFF2-40B4-BE49-F238E27FC236}">
                <a16:creationId xmlns:a16="http://schemas.microsoft.com/office/drawing/2014/main" id="{ED5A99DE-07B0-A148-7529-1E3D68F185C6}"/>
              </a:ext>
            </a:extLst>
          </p:cNvPr>
          <p:cNvCxnSpPr/>
          <p:nvPr/>
        </p:nvCxnSpPr>
        <p:spPr>
          <a:xfrm>
            <a:off x="3611520" y="1176333"/>
            <a:ext cx="8260575" cy="0"/>
          </a:xfrm>
          <a:prstGeom prst="line">
            <a:avLst/>
          </a:prstGeom>
        </p:spPr>
        <p:style>
          <a:lnRef idx="3">
            <a:schemeClr val="dk1"/>
          </a:lnRef>
          <a:fillRef idx="0">
            <a:schemeClr val="dk1"/>
          </a:fillRef>
          <a:effectRef idx="2">
            <a:schemeClr val="dk1"/>
          </a:effectRef>
          <a:fontRef idx="minor">
            <a:schemeClr val="tx1"/>
          </a:fontRef>
        </p:style>
      </p:cxnSp>
      <p:sp>
        <p:nvSpPr>
          <p:cNvPr id="11" name="High risk features">
            <a:extLst>
              <a:ext uri="{FF2B5EF4-FFF2-40B4-BE49-F238E27FC236}">
                <a16:creationId xmlns:a16="http://schemas.microsoft.com/office/drawing/2014/main" id="{ADD48C4B-0E83-C3BB-A85C-6BD4BD15E36E}"/>
              </a:ext>
            </a:extLst>
          </p:cNvPr>
          <p:cNvSpPr/>
          <p:nvPr/>
        </p:nvSpPr>
        <p:spPr>
          <a:xfrm>
            <a:off x="5287310" y="2957832"/>
            <a:ext cx="4600711"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What testing is not routinely useful?</a:t>
            </a:r>
          </a:p>
        </p:txBody>
      </p:sp>
      <p:pic>
        <p:nvPicPr>
          <p:cNvPr id="16" name="Graphic 15" descr="Cursor with solid fill">
            <a:extLst>
              <a:ext uri="{FF2B5EF4-FFF2-40B4-BE49-F238E27FC236}">
                <a16:creationId xmlns:a16="http://schemas.microsoft.com/office/drawing/2014/main" id="{41236E3E-0B53-AAAD-CA4D-98A19468F44F}"/>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0861" y="3206116"/>
            <a:ext cx="274320" cy="274320"/>
          </a:xfrm>
          <a:prstGeom prst="rect">
            <a:avLst/>
          </a:prstGeom>
        </p:spPr>
      </p:pic>
    </p:spTree>
    <p:extLst>
      <p:ext uri="{BB962C8B-B14F-4D97-AF65-F5344CB8AC3E}">
        <p14:creationId xmlns:p14="http://schemas.microsoft.com/office/powerpoint/2010/main" val="1945394783"/>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3"/>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13" restart="whenNotActive" fill="hold" evtFilter="cancelBubble" nodeType="interactiveSeq">
                <p:stCondLst>
                  <p:cond evt="onClick" delay="0">
                    <p:tgtEl>
                      <p:spTgt spid="4"/>
                    </p:tgtEl>
                  </p:cond>
                </p:stCondLst>
                <p:endSync evt="end" delay="0">
                  <p:rtn val="all"/>
                </p:endSync>
                <p:childTnLst>
                  <p:par>
                    <p:cTn id="14" fill="hold">
                      <p:stCondLst>
                        <p:cond delay="0"/>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5"/>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childTnLst>
              </p:cTn>
              <p:nextCondLst>
                <p:cond evt="onClick" delay="0">
                  <p:tgtEl>
                    <p:spTgt spid="4"/>
                  </p:tgtEl>
                </p:cond>
              </p:nextCondLst>
            </p:seq>
            <p:seq concurrent="1" nextAc="seek">
              <p:cTn id="34" restart="whenNotActive" fill="hold" evtFilter="cancelBubble" nodeType="interactiveSeq">
                <p:stCondLst>
                  <p:cond evt="onClick" delay="0">
                    <p:tgtEl>
                      <p:spTgt spid="11"/>
                    </p:tgtEl>
                  </p:cond>
                </p:stCondLst>
                <p:endSync evt="end" delay="0">
                  <p:rtn val="all"/>
                </p:endSync>
                <p:childTnLst>
                  <p:par>
                    <p:cTn id="35" fill="hold">
                      <p:stCondLst>
                        <p:cond delay="0"/>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childTnLst>
        </p:cTn>
      </p:par>
    </p:tnLst>
    <p:bldLst>
      <p:bldP spid="17" grpId="0"/>
      <p:bldP spid="13" grpId="0"/>
      <p:bldP spid="42" grpId="0" animBg="1"/>
      <p:bldP spid="69" grpId="0"/>
      <p:bldP spid="59" grpId="0"/>
      <p:bldP spid="60" grpId="0" animBg="1"/>
      <p:bldP spid="61" grpId="0"/>
      <p:bldP spid="4" grpId="0" animBg="1"/>
      <p:bldP spid="6" grpId="0"/>
      <p:bldP spid="7" grpId="0"/>
      <p:bldP spid="14"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035F3A7E-4D99-B7D8-1968-1445140CFCAB}"/>
              </a:ext>
            </a:extLst>
          </p:cNvPr>
          <p:cNvCxnSpPr>
            <a:cxnSpLocks/>
          </p:cNvCxnSpPr>
          <p:nvPr/>
        </p:nvCxnSpPr>
        <p:spPr>
          <a:xfrm>
            <a:off x="6212521" y="775226"/>
            <a:ext cx="0" cy="338328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08C027B0-DD1D-895C-91B4-E4033AE1B5CF}"/>
              </a:ext>
            </a:extLst>
          </p:cNvPr>
          <p:cNvCxnSpPr>
            <a:cxnSpLocks/>
          </p:cNvCxnSpPr>
          <p:nvPr/>
        </p:nvCxnSpPr>
        <p:spPr>
          <a:xfrm>
            <a:off x="9145979" y="771454"/>
            <a:ext cx="0" cy="3383280"/>
          </a:xfrm>
          <a:prstGeom prst="line">
            <a:avLst/>
          </a:prstGeom>
        </p:spPr>
        <p:style>
          <a:lnRef idx="3">
            <a:schemeClr val="dk1"/>
          </a:lnRef>
          <a:fillRef idx="0">
            <a:schemeClr val="dk1"/>
          </a:fillRef>
          <a:effectRef idx="2">
            <a:schemeClr val="dk1"/>
          </a:effectRef>
          <a:fontRef idx="minor">
            <a:schemeClr val="tx1"/>
          </a:fontRef>
        </p:style>
      </p:cxnSp>
      <p:sp>
        <p:nvSpPr>
          <p:cNvPr id="71" name="TextBox 70">
            <a:extLst>
              <a:ext uri="{FF2B5EF4-FFF2-40B4-BE49-F238E27FC236}">
                <a16:creationId xmlns:a16="http://schemas.microsoft.com/office/drawing/2014/main" id="{B4CB7F51-3D5C-A389-3AC5-95C7BF6764D6}"/>
              </a:ext>
            </a:extLst>
          </p:cNvPr>
          <p:cNvSpPr txBox="1"/>
          <p:nvPr/>
        </p:nvSpPr>
        <p:spPr>
          <a:xfrm>
            <a:off x="6381181" y="3074464"/>
            <a:ext cx="2612504" cy="646331"/>
          </a:xfrm>
          <a:prstGeom prst="rect">
            <a:avLst/>
          </a:prstGeom>
          <a:noFill/>
        </p:spPr>
        <p:txBody>
          <a:bodyPr wrap="square" rtlCol="0">
            <a:spAutoFit/>
          </a:bodyPr>
          <a:lstStyle/>
          <a:p>
            <a:pPr algn="ctr"/>
            <a:r>
              <a:rPr lang="en-US" dirty="0">
                <a:solidFill>
                  <a:srgbClr val="7030A0"/>
                </a:solidFill>
              </a:rPr>
              <a:t>Tilt table testing (if diagnosis is uncertain)</a:t>
            </a:r>
          </a:p>
        </p:txBody>
      </p:sp>
      <p:sp>
        <p:nvSpPr>
          <p:cNvPr id="70" name="TextBox 69">
            <a:extLst>
              <a:ext uri="{FF2B5EF4-FFF2-40B4-BE49-F238E27FC236}">
                <a16:creationId xmlns:a16="http://schemas.microsoft.com/office/drawing/2014/main" id="{F8E5AEA0-5F00-8E70-81B3-99DB12D7EAA5}"/>
              </a:ext>
            </a:extLst>
          </p:cNvPr>
          <p:cNvSpPr txBox="1"/>
          <p:nvPr/>
        </p:nvSpPr>
        <p:spPr>
          <a:xfrm>
            <a:off x="3623042" y="2803484"/>
            <a:ext cx="2628055" cy="1200329"/>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6">
                    <a:lumMod val="75000"/>
                  </a:schemeClr>
                </a:solidFill>
              </a:rPr>
              <a:t>BMP, CBC</a:t>
            </a:r>
          </a:p>
          <a:p>
            <a:pPr marL="173038" indent="-173038">
              <a:buFont typeface="Arial" panose="020B0604020202020204" pitchFamily="34" charset="0"/>
              <a:buChar char="•"/>
            </a:pPr>
            <a:r>
              <a:rPr lang="en-US" dirty="0">
                <a:solidFill>
                  <a:schemeClr val="accent6">
                    <a:lumMod val="75000"/>
                  </a:schemeClr>
                </a:solidFill>
              </a:rPr>
              <a:t>Orthostatic VS</a:t>
            </a:r>
          </a:p>
          <a:p>
            <a:pPr marL="173038" indent="-173038">
              <a:buFont typeface="Arial" panose="020B0604020202020204" pitchFamily="34" charset="0"/>
              <a:buChar char="•"/>
            </a:pPr>
            <a:r>
              <a:rPr lang="en-US" dirty="0">
                <a:solidFill>
                  <a:schemeClr val="accent6">
                    <a:lumMod val="75000"/>
                  </a:schemeClr>
                </a:solidFill>
              </a:rPr>
              <a:t>± autonomic failure evaluation</a:t>
            </a:r>
          </a:p>
        </p:txBody>
      </p:sp>
      <p:sp>
        <p:nvSpPr>
          <p:cNvPr id="58" name="Rectangle 57">
            <a:extLst>
              <a:ext uri="{FF2B5EF4-FFF2-40B4-BE49-F238E27FC236}">
                <a16:creationId xmlns:a16="http://schemas.microsoft.com/office/drawing/2014/main" id="{0DE435B0-45B6-6F37-02AF-B5F26105C927}"/>
              </a:ext>
            </a:extLst>
          </p:cNvPr>
          <p:cNvSpPr/>
          <p:nvPr/>
        </p:nvSpPr>
        <p:spPr>
          <a:xfrm>
            <a:off x="3627621" y="1185295"/>
            <a:ext cx="8244474" cy="14247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0465923-5B8C-5C36-82D2-1D4DE55A0F17}"/>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Evaluation - Testing</a:t>
            </a:r>
          </a:p>
        </p:txBody>
      </p:sp>
      <p:sp>
        <p:nvSpPr>
          <p:cNvPr id="21" name="Orthostatic">
            <a:extLst>
              <a:ext uri="{FF2B5EF4-FFF2-40B4-BE49-F238E27FC236}">
                <a16:creationId xmlns:a16="http://schemas.microsoft.com/office/drawing/2014/main" id="{B5199B1E-CB43-2084-0A8E-A85F86BA17B2}"/>
              </a:ext>
            </a:extLst>
          </p:cNvPr>
          <p:cNvSpPr/>
          <p:nvPr/>
        </p:nvSpPr>
        <p:spPr>
          <a:xfrm>
            <a:off x="4064645"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Orthostatic</a:t>
            </a:r>
          </a:p>
        </p:txBody>
      </p:sp>
      <p:sp>
        <p:nvSpPr>
          <p:cNvPr id="24" name="Orthostatic">
            <a:extLst>
              <a:ext uri="{FF2B5EF4-FFF2-40B4-BE49-F238E27FC236}">
                <a16:creationId xmlns:a16="http://schemas.microsoft.com/office/drawing/2014/main" id="{E3606975-F075-4E24-A1C2-378F85C610C4}"/>
              </a:ext>
            </a:extLst>
          </p:cNvPr>
          <p:cNvSpPr/>
          <p:nvPr/>
        </p:nvSpPr>
        <p:spPr>
          <a:xfrm>
            <a:off x="6914163"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Reflex</a:t>
            </a:r>
          </a:p>
        </p:txBody>
      </p:sp>
      <p:sp>
        <p:nvSpPr>
          <p:cNvPr id="26" name="Orthostatic">
            <a:extLst>
              <a:ext uri="{FF2B5EF4-FFF2-40B4-BE49-F238E27FC236}">
                <a16:creationId xmlns:a16="http://schemas.microsoft.com/office/drawing/2014/main" id="{8C0A5F90-AEBC-E158-39CD-2346BA7C150C}"/>
              </a:ext>
            </a:extLst>
          </p:cNvPr>
          <p:cNvSpPr/>
          <p:nvPr/>
        </p:nvSpPr>
        <p:spPr>
          <a:xfrm>
            <a:off x="9763681"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Cardiac</a:t>
            </a:r>
          </a:p>
        </p:txBody>
      </p:sp>
      <p:sp>
        <p:nvSpPr>
          <p:cNvPr id="35" name="TextBox 34">
            <a:extLst>
              <a:ext uri="{FF2B5EF4-FFF2-40B4-BE49-F238E27FC236}">
                <a16:creationId xmlns:a16="http://schemas.microsoft.com/office/drawing/2014/main" id="{83B17F29-92F3-4023-219D-3A304E06EADF}"/>
              </a:ext>
            </a:extLst>
          </p:cNvPr>
          <p:cNvSpPr txBox="1"/>
          <p:nvPr/>
        </p:nvSpPr>
        <p:spPr>
          <a:xfrm>
            <a:off x="2330257" y="1740850"/>
            <a:ext cx="1263152" cy="369332"/>
          </a:xfrm>
          <a:prstGeom prst="rect">
            <a:avLst/>
          </a:prstGeom>
          <a:noFill/>
        </p:spPr>
        <p:txBody>
          <a:bodyPr wrap="square" rtlCol="0">
            <a:spAutoFit/>
          </a:bodyPr>
          <a:lstStyle/>
          <a:p>
            <a:pPr algn="ctr"/>
            <a:r>
              <a:rPr lang="en-US" b="1" dirty="0"/>
              <a:t>Evaluation</a:t>
            </a:r>
          </a:p>
        </p:txBody>
      </p:sp>
      <p:sp>
        <p:nvSpPr>
          <p:cNvPr id="37" name="TextBox 36">
            <a:extLst>
              <a:ext uri="{FF2B5EF4-FFF2-40B4-BE49-F238E27FC236}">
                <a16:creationId xmlns:a16="http://schemas.microsoft.com/office/drawing/2014/main" id="{A08F0B5A-8B2B-2C74-991E-FBB4E4C1B838}"/>
              </a:ext>
            </a:extLst>
          </p:cNvPr>
          <p:cNvSpPr txBox="1"/>
          <p:nvPr/>
        </p:nvSpPr>
        <p:spPr>
          <a:xfrm>
            <a:off x="2166819" y="3256549"/>
            <a:ext cx="1421505" cy="646331"/>
          </a:xfrm>
          <a:prstGeom prst="rect">
            <a:avLst/>
          </a:prstGeom>
          <a:noFill/>
        </p:spPr>
        <p:txBody>
          <a:bodyPr wrap="square" rtlCol="0">
            <a:spAutoFit/>
          </a:bodyPr>
          <a:lstStyle/>
          <a:p>
            <a:pPr algn="ctr"/>
            <a:r>
              <a:rPr lang="en-US" b="1" dirty="0"/>
              <a:t>Targeted tests</a:t>
            </a:r>
          </a:p>
        </p:txBody>
      </p:sp>
      <p:sp>
        <p:nvSpPr>
          <p:cNvPr id="46" name="Where OH">
            <a:extLst>
              <a:ext uri="{FF2B5EF4-FFF2-40B4-BE49-F238E27FC236}">
                <a16:creationId xmlns:a16="http://schemas.microsoft.com/office/drawing/2014/main" id="{C715F189-9322-80C6-4183-191426DAF2DD}"/>
              </a:ext>
            </a:extLst>
          </p:cNvPr>
          <p:cNvSpPr/>
          <p:nvPr/>
        </p:nvSpPr>
        <p:spPr>
          <a:xfrm>
            <a:off x="4064645" y="3187803"/>
            <a:ext cx="1593374" cy="38191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Special tests?</a:t>
            </a:r>
          </a:p>
        </p:txBody>
      </p:sp>
      <p:pic>
        <p:nvPicPr>
          <p:cNvPr id="47" name="Graphic 46" descr="Cursor with solid fill">
            <a:extLst>
              <a:ext uri="{FF2B5EF4-FFF2-40B4-BE49-F238E27FC236}">
                <a16:creationId xmlns:a16="http://schemas.microsoft.com/office/drawing/2014/main" id="{4C83AD39-B8CE-29B4-5EC7-E9AB120D78E3}"/>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2661" y="3403649"/>
            <a:ext cx="274320" cy="274320"/>
          </a:xfrm>
          <a:prstGeom prst="rect">
            <a:avLst/>
          </a:prstGeom>
        </p:spPr>
      </p:pic>
      <p:sp>
        <p:nvSpPr>
          <p:cNvPr id="48" name="Where Reflex">
            <a:extLst>
              <a:ext uri="{FF2B5EF4-FFF2-40B4-BE49-F238E27FC236}">
                <a16:creationId xmlns:a16="http://schemas.microsoft.com/office/drawing/2014/main" id="{EBBDDC93-D269-A8AA-E03E-969B022CF316}"/>
              </a:ext>
            </a:extLst>
          </p:cNvPr>
          <p:cNvSpPr/>
          <p:nvPr/>
        </p:nvSpPr>
        <p:spPr>
          <a:xfrm>
            <a:off x="6914163" y="3187803"/>
            <a:ext cx="1593374" cy="381915"/>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Special tests?</a:t>
            </a:r>
          </a:p>
        </p:txBody>
      </p:sp>
      <p:pic>
        <p:nvPicPr>
          <p:cNvPr id="49" name="Graphic 48" descr="Cursor with solid fill">
            <a:extLst>
              <a:ext uri="{FF2B5EF4-FFF2-40B4-BE49-F238E27FC236}">
                <a16:creationId xmlns:a16="http://schemas.microsoft.com/office/drawing/2014/main" id="{3F0B0484-44ED-54AE-C022-F0BD80B16CCE}"/>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2179" y="3403649"/>
            <a:ext cx="274320" cy="274320"/>
          </a:xfrm>
          <a:prstGeom prst="rect">
            <a:avLst/>
          </a:prstGeom>
        </p:spPr>
      </p:pic>
      <p:sp>
        <p:nvSpPr>
          <p:cNvPr id="50" name="where Cardiac">
            <a:extLst>
              <a:ext uri="{FF2B5EF4-FFF2-40B4-BE49-F238E27FC236}">
                <a16:creationId xmlns:a16="http://schemas.microsoft.com/office/drawing/2014/main" id="{7A3BFC95-6952-C07D-26D5-5A59BFF71625}"/>
              </a:ext>
            </a:extLst>
          </p:cNvPr>
          <p:cNvSpPr/>
          <p:nvPr/>
        </p:nvSpPr>
        <p:spPr>
          <a:xfrm>
            <a:off x="9763681" y="3187803"/>
            <a:ext cx="1593374" cy="38191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Special tests?</a:t>
            </a:r>
          </a:p>
        </p:txBody>
      </p:sp>
      <p:pic>
        <p:nvPicPr>
          <p:cNvPr id="51" name="Graphic 50" descr="Cursor with solid fill">
            <a:extLst>
              <a:ext uri="{FF2B5EF4-FFF2-40B4-BE49-F238E27FC236}">
                <a16:creationId xmlns:a16="http://schemas.microsoft.com/office/drawing/2014/main" id="{F31A2941-FEB9-C6D3-8329-A72230D1C629}"/>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1697" y="3403649"/>
            <a:ext cx="274320" cy="274320"/>
          </a:xfrm>
          <a:prstGeom prst="rect">
            <a:avLst/>
          </a:prstGeom>
        </p:spPr>
      </p:pic>
      <p:sp>
        <p:nvSpPr>
          <p:cNvPr id="69" name="TextBox 68">
            <a:extLst>
              <a:ext uri="{FF2B5EF4-FFF2-40B4-BE49-F238E27FC236}">
                <a16:creationId xmlns:a16="http://schemas.microsoft.com/office/drawing/2014/main" id="{0D7AEC43-3384-5093-CCC3-57631FC329F8}"/>
              </a:ext>
            </a:extLst>
          </p:cNvPr>
          <p:cNvSpPr txBox="1"/>
          <p:nvPr/>
        </p:nvSpPr>
        <p:spPr>
          <a:xfrm>
            <a:off x="4212484" y="1482564"/>
            <a:ext cx="2753705" cy="923330"/>
          </a:xfrm>
          <a:prstGeom prst="rect">
            <a:avLst/>
          </a:prstGeom>
          <a:noFill/>
        </p:spPr>
        <p:txBody>
          <a:bodyPr wrap="square" rtlCol="0">
            <a:spAutoFit/>
          </a:bodyPr>
          <a:lstStyle/>
          <a:p>
            <a:pPr marL="173038" indent="-173038">
              <a:buFont typeface="Arial" panose="020B0604020202020204" pitchFamily="34" charset="0"/>
              <a:buChar char="•"/>
            </a:pPr>
            <a:r>
              <a:rPr lang="en-US" dirty="0"/>
              <a:t>History</a:t>
            </a:r>
          </a:p>
          <a:p>
            <a:pPr marL="173038" indent="-173038">
              <a:buFont typeface="Arial" panose="020B0604020202020204" pitchFamily="34" charset="0"/>
              <a:buChar char="•"/>
            </a:pPr>
            <a:r>
              <a:rPr lang="en-US" dirty="0"/>
              <a:t>Physical exam</a:t>
            </a:r>
          </a:p>
          <a:p>
            <a:pPr marL="173038" indent="-173038">
              <a:buFont typeface="Arial" panose="020B0604020202020204" pitchFamily="34" charset="0"/>
              <a:buChar char="•"/>
            </a:pPr>
            <a:r>
              <a:rPr lang="en-US" dirty="0"/>
              <a:t>Vital signs (</a:t>
            </a:r>
            <a:r>
              <a:rPr lang="en-US" dirty="0" err="1"/>
              <a:t>orthostatics</a:t>
            </a:r>
            <a:r>
              <a:rPr lang="en-US" dirty="0"/>
              <a:t>)</a:t>
            </a:r>
            <a:endParaRPr lang="en-US" dirty="0">
              <a:solidFill>
                <a:schemeClr val="accent1"/>
              </a:solidFill>
            </a:endParaRPr>
          </a:p>
        </p:txBody>
      </p:sp>
      <p:sp>
        <p:nvSpPr>
          <p:cNvPr id="59" name="TextBox 58">
            <a:extLst>
              <a:ext uri="{FF2B5EF4-FFF2-40B4-BE49-F238E27FC236}">
                <a16:creationId xmlns:a16="http://schemas.microsoft.com/office/drawing/2014/main" id="{54B51FD4-D4A9-1732-20CE-B2221D77ACC0}"/>
              </a:ext>
            </a:extLst>
          </p:cNvPr>
          <p:cNvSpPr txBox="1"/>
          <p:nvPr/>
        </p:nvSpPr>
        <p:spPr>
          <a:xfrm>
            <a:off x="8037657" y="1664078"/>
            <a:ext cx="824254" cy="369332"/>
          </a:xfrm>
          <a:prstGeom prst="rect">
            <a:avLst/>
          </a:prstGeom>
          <a:noFill/>
        </p:spPr>
        <p:txBody>
          <a:bodyPr wrap="square" rtlCol="0">
            <a:spAutoFit/>
          </a:bodyPr>
          <a:lstStyle/>
          <a:p>
            <a:pPr marL="173038" indent="-173038">
              <a:buFont typeface="Arial" panose="020B0604020202020204" pitchFamily="34" charset="0"/>
              <a:buChar char="•"/>
            </a:pPr>
            <a:r>
              <a:rPr lang="en-US" dirty="0"/>
              <a:t>ECG</a:t>
            </a:r>
            <a:endParaRPr lang="en-US" dirty="0">
              <a:solidFill>
                <a:schemeClr val="accent1"/>
              </a:solidFill>
            </a:endParaRPr>
          </a:p>
        </p:txBody>
      </p:sp>
      <p:sp>
        <p:nvSpPr>
          <p:cNvPr id="60" name="Left Brace 59">
            <a:extLst>
              <a:ext uri="{FF2B5EF4-FFF2-40B4-BE49-F238E27FC236}">
                <a16:creationId xmlns:a16="http://schemas.microsoft.com/office/drawing/2014/main" id="{B02551F4-22D6-E454-F19D-759AAE7BCD32}"/>
              </a:ext>
            </a:extLst>
          </p:cNvPr>
          <p:cNvSpPr/>
          <p:nvPr/>
        </p:nvSpPr>
        <p:spPr>
          <a:xfrm>
            <a:off x="8848416" y="1283563"/>
            <a:ext cx="501847" cy="1215989"/>
          </a:xfrm>
          <a:prstGeom prst="leftBrace">
            <a:avLst>
              <a:gd name="adj1" fmla="val 0"/>
              <a:gd name="adj2" fmla="val 44289"/>
            </a:avLst>
          </a:prstGeom>
          <a:ln>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p:sp>
        <p:nvSpPr>
          <p:cNvPr id="61" name="TextBox 60">
            <a:extLst>
              <a:ext uri="{FF2B5EF4-FFF2-40B4-BE49-F238E27FC236}">
                <a16:creationId xmlns:a16="http://schemas.microsoft.com/office/drawing/2014/main" id="{3457F796-A167-1B42-5571-F86BA231FB0D}"/>
              </a:ext>
            </a:extLst>
          </p:cNvPr>
          <p:cNvSpPr txBox="1"/>
          <p:nvPr/>
        </p:nvSpPr>
        <p:spPr>
          <a:xfrm>
            <a:off x="9202684" y="1229839"/>
            <a:ext cx="2557743" cy="1323439"/>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rgbClr val="FF0000"/>
                </a:solidFill>
              </a:rPr>
              <a:t>Acute ischemia</a:t>
            </a:r>
          </a:p>
          <a:p>
            <a:pPr marL="173038" indent="-173038">
              <a:buFont typeface="Arial" panose="020B0604020202020204" pitchFamily="34" charset="0"/>
              <a:buChar char="•"/>
            </a:pPr>
            <a:r>
              <a:rPr lang="en-US" sz="1600" dirty="0">
                <a:solidFill>
                  <a:srgbClr val="FF0000"/>
                </a:solidFill>
              </a:rPr>
              <a:t>Structural heart disease</a:t>
            </a:r>
          </a:p>
          <a:p>
            <a:pPr marL="173038" indent="-173038">
              <a:buFont typeface="Arial" panose="020B0604020202020204" pitchFamily="34" charset="0"/>
              <a:buChar char="•"/>
            </a:pPr>
            <a:r>
              <a:rPr lang="en-US" sz="1600" dirty="0" err="1">
                <a:solidFill>
                  <a:srgbClr val="FF0000"/>
                </a:solidFill>
              </a:rPr>
              <a:t>Bradyarrhythmias</a:t>
            </a:r>
            <a:endParaRPr lang="en-US" sz="1600" dirty="0">
              <a:solidFill>
                <a:srgbClr val="FF0000"/>
              </a:solidFill>
            </a:endParaRPr>
          </a:p>
          <a:p>
            <a:pPr marL="173038" indent="-173038">
              <a:buFont typeface="Arial" panose="020B0604020202020204" pitchFamily="34" charset="0"/>
              <a:buChar char="•"/>
            </a:pPr>
            <a:r>
              <a:rPr lang="en-US" sz="1600" dirty="0">
                <a:solidFill>
                  <a:srgbClr val="FF0000"/>
                </a:solidFill>
              </a:rPr>
              <a:t>Arrhythmogenic pattern (</a:t>
            </a:r>
            <a:r>
              <a:rPr lang="en-US" sz="1600" dirty="0" err="1">
                <a:solidFill>
                  <a:srgbClr val="FF0000"/>
                </a:solidFill>
              </a:rPr>
              <a:t>Brugada</a:t>
            </a:r>
            <a:r>
              <a:rPr lang="en-US" sz="1600" dirty="0">
                <a:solidFill>
                  <a:srgbClr val="FF0000"/>
                </a:solidFill>
              </a:rPr>
              <a:t>, long/short QT) </a:t>
            </a:r>
          </a:p>
        </p:txBody>
      </p:sp>
      <p:sp>
        <p:nvSpPr>
          <p:cNvPr id="68" name="Obj 2">
            <a:hlinkClick r:id="rId4" action="ppaction://hlinksldjump"/>
            <a:extLst>
              <a:ext uri="{FF2B5EF4-FFF2-40B4-BE49-F238E27FC236}">
                <a16:creationId xmlns:a16="http://schemas.microsoft.com/office/drawing/2014/main" id="{4A467C39-0382-19D6-F74A-28005F4F7185}"/>
              </a:ext>
            </a:extLst>
          </p:cNvPr>
          <p:cNvSpPr/>
          <p:nvPr/>
        </p:nvSpPr>
        <p:spPr>
          <a:xfrm>
            <a:off x="18484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sp>
        <p:nvSpPr>
          <p:cNvPr id="73" name="Obj 2">
            <a:hlinkClick r:id="rId5" action="ppaction://hlinksldjump"/>
            <a:extLst>
              <a:ext uri="{FF2B5EF4-FFF2-40B4-BE49-F238E27FC236}">
                <a16:creationId xmlns:a16="http://schemas.microsoft.com/office/drawing/2014/main" id="{6E171241-4FE1-1C97-E136-FF9208569F84}"/>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74" name="Obj 2">
            <a:hlinkClick r:id="rId6" action="ppaction://hlinksldjump"/>
            <a:extLst>
              <a:ext uri="{FF2B5EF4-FFF2-40B4-BE49-F238E27FC236}">
                <a16:creationId xmlns:a16="http://schemas.microsoft.com/office/drawing/2014/main" id="{A2D6BB4C-05C7-E5BB-23F4-940C11B0AB9F}"/>
              </a:ext>
            </a:extLst>
          </p:cNvPr>
          <p:cNvSpPr/>
          <p:nvPr/>
        </p:nvSpPr>
        <p:spPr>
          <a:xfrm>
            <a:off x="184843" y="1341796"/>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Evaluation</a:t>
            </a:r>
          </a:p>
        </p:txBody>
      </p:sp>
      <p:pic>
        <p:nvPicPr>
          <p:cNvPr id="76" name="Graphic 75" descr="Cursor with solid fill">
            <a:extLst>
              <a:ext uri="{FF2B5EF4-FFF2-40B4-BE49-F238E27FC236}">
                <a16:creationId xmlns:a16="http://schemas.microsoft.com/office/drawing/2014/main" id="{D10D780B-5D8E-5D94-8888-33B1BC7AE621}"/>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454521"/>
            <a:ext cx="274320" cy="274320"/>
          </a:xfrm>
          <a:prstGeom prst="rect">
            <a:avLst/>
          </a:prstGeom>
        </p:spPr>
      </p:pic>
      <p:pic>
        <p:nvPicPr>
          <p:cNvPr id="79" name="Graphic 78" descr="Cursor with solid fill">
            <a:extLst>
              <a:ext uri="{FF2B5EF4-FFF2-40B4-BE49-F238E27FC236}">
                <a16:creationId xmlns:a16="http://schemas.microsoft.com/office/drawing/2014/main" id="{CA07605C-56E5-371E-133D-4E75145068C9}"/>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1021974"/>
            <a:ext cx="274320" cy="274320"/>
          </a:xfrm>
          <a:prstGeom prst="rect">
            <a:avLst/>
          </a:prstGeom>
        </p:spPr>
      </p:pic>
      <p:sp>
        <p:nvSpPr>
          <p:cNvPr id="86" name="Obj 2">
            <a:hlinkClick r:id="rId6" action="ppaction://hlinksldjump"/>
            <a:extLst>
              <a:ext uri="{FF2B5EF4-FFF2-40B4-BE49-F238E27FC236}">
                <a16:creationId xmlns:a16="http://schemas.microsoft.com/office/drawing/2014/main" id="{F113F6E6-40A5-F615-2F1C-419A02BE847C}"/>
              </a:ext>
            </a:extLst>
          </p:cNvPr>
          <p:cNvSpPr/>
          <p:nvPr/>
        </p:nvSpPr>
        <p:spPr>
          <a:xfrm>
            <a:off x="451412" y="1911074"/>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History</a:t>
            </a:r>
          </a:p>
        </p:txBody>
      </p:sp>
      <p:sp>
        <p:nvSpPr>
          <p:cNvPr id="88" name="Obj 2">
            <a:hlinkClick r:id="rId7" action="ppaction://hlinksldjump"/>
            <a:extLst>
              <a:ext uri="{FF2B5EF4-FFF2-40B4-BE49-F238E27FC236}">
                <a16:creationId xmlns:a16="http://schemas.microsoft.com/office/drawing/2014/main" id="{EF61DA96-333E-E262-C7F3-1A6E72D2C816}"/>
              </a:ext>
            </a:extLst>
          </p:cNvPr>
          <p:cNvSpPr/>
          <p:nvPr/>
        </p:nvSpPr>
        <p:spPr>
          <a:xfrm>
            <a:off x="451412" y="2481231"/>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Testing</a:t>
            </a:r>
          </a:p>
        </p:txBody>
      </p:sp>
      <p:cxnSp>
        <p:nvCxnSpPr>
          <p:cNvPr id="90" name="Connector: Elbow 89">
            <a:extLst>
              <a:ext uri="{FF2B5EF4-FFF2-40B4-BE49-F238E27FC236}">
                <a16:creationId xmlns:a16="http://schemas.microsoft.com/office/drawing/2014/main" id="{BC48E424-301E-66E4-4439-F1FE936237D1}"/>
              </a:ext>
            </a:extLst>
          </p:cNvPr>
          <p:cNvCxnSpPr/>
          <p:nvPr/>
        </p:nvCxnSpPr>
        <p:spPr>
          <a:xfrm rot="16200000" flipH="1">
            <a:off x="169214" y="1818811"/>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B7AB7848-55F5-04E1-1BE4-B64C63FCBB06}"/>
              </a:ext>
            </a:extLst>
          </p:cNvPr>
          <p:cNvCxnSpPr>
            <a:cxnSpLocks/>
          </p:cNvCxnSpPr>
          <p:nvPr/>
        </p:nvCxnSpPr>
        <p:spPr>
          <a:xfrm rot="16200000" flipH="1">
            <a:off x="-115865" y="2103889"/>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2" name="Graphic 91" descr="Cursor with solid fill">
            <a:extLst>
              <a:ext uri="{FF2B5EF4-FFF2-40B4-BE49-F238E27FC236}">
                <a16:creationId xmlns:a16="http://schemas.microsoft.com/office/drawing/2014/main" id="{F77E194E-A6C9-E372-712F-32E63CC13646}"/>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2164929"/>
            <a:ext cx="274320" cy="274320"/>
          </a:xfrm>
          <a:prstGeom prst="rect">
            <a:avLst/>
          </a:prstGeom>
        </p:spPr>
      </p:pic>
      <p:sp>
        <p:nvSpPr>
          <p:cNvPr id="4" name="Obj 2">
            <a:hlinkClick r:id="rId8" action="ppaction://hlinksldjump"/>
            <a:extLst>
              <a:ext uri="{FF2B5EF4-FFF2-40B4-BE49-F238E27FC236}">
                <a16:creationId xmlns:a16="http://schemas.microsoft.com/office/drawing/2014/main" id="{DD226316-BF76-7E3A-14D8-77BFE18C08A3}"/>
              </a:ext>
            </a:extLst>
          </p:cNvPr>
          <p:cNvSpPr/>
          <p:nvPr/>
        </p:nvSpPr>
        <p:spPr>
          <a:xfrm>
            <a:off x="184843" y="3609164"/>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5" name="Graphic 4" descr="Cursor with solid fill">
            <a:extLst>
              <a:ext uri="{FF2B5EF4-FFF2-40B4-BE49-F238E27FC236}">
                <a16:creationId xmlns:a16="http://schemas.microsoft.com/office/drawing/2014/main" id="{AE846FC8-2C41-5902-5522-AE55ECD15F57}"/>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7" y="3855927"/>
            <a:ext cx="274320" cy="274320"/>
          </a:xfrm>
          <a:prstGeom prst="rect">
            <a:avLst/>
          </a:prstGeom>
        </p:spPr>
      </p:pic>
      <p:sp>
        <p:nvSpPr>
          <p:cNvPr id="6" name="Obj 2">
            <a:hlinkClick r:id="rId9" action="ppaction://hlinksldjump"/>
            <a:extLst>
              <a:ext uri="{FF2B5EF4-FFF2-40B4-BE49-F238E27FC236}">
                <a16:creationId xmlns:a16="http://schemas.microsoft.com/office/drawing/2014/main" id="{081FCE69-2E84-5622-A040-F1FBE9E4FC0E}"/>
              </a:ext>
            </a:extLst>
          </p:cNvPr>
          <p:cNvSpPr/>
          <p:nvPr/>
        </p:nvSpPr>
        <p:spPr>
          <a:xfrm>
            <a:off x="180147" y="305796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8" name="Graphic 7" descr="Cursor with solid fill">
            <a:extLst>
              <a:ext uri="{FF2B5EF4-FFF2-40B4-BE49-F238E27FC236}">
                <a16:creationId xmlns:a16="http://schemas.microsoft.com/office/drawing/2014/main" id="{403968A4-2D6B-D275-0EEB-74A606E0598C}"/>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13795" y="3313128"/>
            <a:ext cx="274320" cy="274320"/>
          </a:xfrm>
          <a:prstGeom prst="rect">
            <a:avLst/>
          </a:prstGeom>
        </p:spPr>
      </p:pic>
      <p:sp>
        <p:nvSpPr>
          <p:cNvPr id="9" name="TextBox 8">
            <a:extLst>
              <a:ext uri="{FF2B5EF4-FFF2-40B4-BE49-F238E27FC236}">
                <a16:creationId xmlns:a16="http://schemas.microsoft.com/office/drawing/2014/main" id="{ECDB27EE-A470-9607-242C-2E06EE101FD1}"/>
              </a:ext>
            </a:extLst>
          </p:cNvPr>
          <p:cNvSpPr txBox="1"/>
          <p:nvPr/>
        </p:nvSpPr>
        <p:spPr>
          <a:xfrm>
            <a:off x="5139856" y="1497400"/>
            <a:ext cx="1298396" cy="338554"/>
          </a:xfrm>
          <a:prstGeom prst="rect">
            <a:avLst/>
          </a:prstGeom>
          <a:noFill/>
        </p:spPr>
        <p:txBody>
          <a:bodyPr wrap="square" rtlCol="0">
            <a:spAutoFit/>
          </a:bodyPr>
          <a:lstStyle/>
          <a:p>
            <a:r>
              <a:rPr lang="en-US" sz="1600" dirty="0">
                <a:solidFill>
                  <a:srgbClr val="FF0000"/>
                </a:solidFill>
              </a:rPr>
              <a:t>(signs of GIB)</a:t>
            </a:r>
          </a:p>
        </p:txBody>
      </p:sp>
      <p:sp>
        <p:nvSpPr>
          <p:cNvPr id="10" name="TextBox 9">
            <a:extLst>
              <a:ext uri="{FF2B5EF4-FFF2-40B4-BE49-F238E27FC236}">
                <a16:creationId xmlns:a16="http://schemas.microsoft.com/office/drawing/2014/main" id="{DE08D396-FFB3-BEB6-31EB-3CBD96E057E7}"/>
              </a:ext>
            </a:extLst>
          </p:cNvPr>
          <p:cNvSpPr txBox="1"/>
          <p:nvPr/>
        </p:nvSpPr>
        <p:spPr>
          <a:xfrm>
            <a:off x="5748713" y="1771628"/>
            <a:ext cx="2482001" cy="338554"/>
          </a:xfrm>
          <a:prstGeom prst="rect">
            <a:avLst/>
          </a:prstGeom>
          <a:noFill/>
        </p:spPr>
        <p:txBody>
          <a:bodyPr wrap="square" rtlCol="0">
            <a:spAutoFit/>
          </a:bodyPr>
          <a:lstStyle/>
          <a:p>
            <a:r>
              <a:rPr lang="en-US" sz="1600" dirty="0">
                <a:solidFill>
                  <a:srgbClr val="FF0000"/>
                </a:solidFill>
              </a:rPr>
              <a:t>(SBP&lt;90, HR&lt;40, murmur)</a:t>
            </a:r>
          </a:p>
        </p:txBody>
      </p:sp>
      <p:sp>
        <p:nvSpPr>
          <p:cNvPr id="2" name="TextBox 1">
            <a:extLst>
              <a:ext uri="{FF2B5EF4-FFF2-40B4-BE49-F238E27FC236}">
                <a16:creationId xmlns:a16="http://schemas.microsoft.com/office/drawing/2014/main" id="{B1C683A9-425E-1DD3-8E8F-F1630D0A5442}"/>
              </a:ext>
            </a:extLst>
          </p:cNvPr>
          <p:cNvSpPr txBox="1"/>
          <p:nvPr/>
        </p:nvSpPr>
        <p:spPr>
          <a:xfrm>
            <a:off x="9191997" y="2652919"/>
            <a:ext cx="2763618" cy="1477328"/>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1"/>
                </a:solidFill>
              </a:rPr>
              <a:t>Telemetry / ambulatory ECG monitoring</a:t>
            </a:r>
          </a:p>
          <a:p>
            <a:pPr marL="173038" indent="-173038">
              <a:buFont typeface="Arial" panose="020B0604020202020204" pitchFamily="34" charset="0"/>
              <a:buChar char="•"/>
            </a:pPr>
            <a:r>
              <a:rPr lang="en-US" dirty="0">
                <a:solidFill>
                  <a:schemeClr val="accent1"/>
                </a:solidFill>
              </a:rPr>
              <a:t>TTE</a:t>
            </a:r>
          </a:p>
          <a:p>
            <a:pPr marL="173038" indent="-173038">
              <a:buFont typeface="Arial" panose="020B0604020202020204" pitchFamily="34" charset="0"/>
              <a:buChar char="•"/>
            </a:pPr>
            <a:r>
              <a:rPr lang="en-US" dirty="0">
                <a:solidFill>
                  <a:schemeClr val="accent1"/>
                </a:solidFill>
              </a:rPr>
              <a:t>Stress test (if exertional syncope)</a:t>
            </a:r>
          </a:p>
        </p:txBody>
      </p:sp>
      <p:cxnSp>
        <p:nvCxnSpPr>
          <p:cNvPr id="3" name="Straight Connector 2">
            <a:extLst>
              <a:ext uri="{FF2B5EF4-FFF2-40B4-BE49-F238E27FC236}">
                <a16:creationId xmlns:a16="http://schemas.microsoft.com/office/drawing/2014/main" id="{E4911D80-B315-4123-BB7D-F3448B13B36D}"/>
              </a:ext>
            </a:extLst>
          </p:cNvPr>
          <p:cNvCxnSpPr>
            <a:cxnSpLocks/>
          </p:cNvCxnSpPr>
          <p:nvPr/>
        </p:nvCxnSpPr>
        <p:spPr>
          <a:xfrm>
            <a:off x="3611520" y="2615700"/>
            <a:ext cx="8260575"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D0250FD7-92BD-AA52-7735-59281F60CBCA}"/>
              </a:ext>
            </a:extLst>
          </p:cNvPr>
          <p:cNvCxnSpPr/>
          <p:nvPr/>
        </p:nvCxnSpPr>
        <p:spPr>
          <a:xfrm>
            <a:off x="3611520" y="1176333"/>
            <a:ext cx="8260575" cy="0"/>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03EA5D97-3A82-9412-5B92-5C072647A625}"/>
              </a:ext>
            </a:extLst>
          </p:cNvPr>
          <p:cNvCxnSpPr/>
          <p:nvPr/>
        </p:nvCxnSpPr>
        <p:spPr>
          <a:xfrm>
            <a:off x="3611520" y="4165205"/>
            <a:ext cx="8260575"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63966995"/>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9"/>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childTnLst>
              </p:cTn>
              <p:nextCondLst>
                <p:cond evt="onClick" delay="0">
                  <p:tgtEl>
                    <p:spTgt spid="48"/>
                  </p:tgtEl>
                </p:cond>
              </p:nextCondLst>
            </p:seq>
            <p:seq concurrent="1" nextAc="seek">
              <p:cTn id="11" restart="whenNotActive" fill="hold" evtFilter="cancelBubble" nodeType="interactiveSeq">
                <p:stCondLst>
                  <p:cond evt="onClick" delay="0">
                    <p:tgtEl>
                      <p:spTgt spid="46"/>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withEffect">
                                  <p:stCondLst>
                                    <p:cond delay="0"/>
                                  </p:stCondLst>
                                  <p:childTnLst>
                                    <p:set>
                                      <p:cBhvr>
                                        <p:cTn id="15" dur="1" fill="hold">
                                          <p:stCondLst>
                                            <p:cond delay="0"/>
                                          </p:stCondLst>
                                        </p:cTn>
                                        <p:tgtEl>
                                          <p:spTgt spid="70"/>
                                        </p:tgtEl>
                                        <p:attrNameLst>
                                          <p:attrName>style.visibility</p:attrName>
                                        </p:attrNameLst>
                                      </p:cBhvr>
                                      <p:to>
                                        <p:strVal val="visible"/>
                                      </p:to>
                                    </p:set>
                                  </p:childTnLst>
                                </p:cTn>
                              </p:par>
                              <p:par>
                                <p:cTn id="16" presetID="1" presetClass="exit" presetSubtype="0" fill="hold" grpId="0" nodeType="withEffect">
                                  <p:stCondLst>
                                    <p:cond delay="0"/>
                                  </p:stCondLst>
                                  <p:childTnLst>
                                    <p:set>
                                      <p:cBhvr>
                                        <p:cTn id="17" dur="1" fill="hold">
                                          <p:stCondLst>
                                            <p:cond delay="0"/>
                                          </p:stCondLst>
                                        </p:cTn>
                                        <p:tgtEl>
                                          <p:spTgt spid="46"/>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20" restart="whenNotActive" fill="hold" evtFilter="cancelBubble" nodeType="interactiveSeq">
                <p:stCondLst>
                  <p:cond evt="onClick" delay="0">
                    <p:tgtEl>
                      <p:spTgt spid="50"/>
                    </p:tgtEl>
                  </p:cond>
                </p:stCondLst>
                <p:endSync evt="end" delay="0">
                  <p:rtn val="all"/>
                </p:endSync>
                <p:childTnLst>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51"/>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50"/>
                  </p:tgtEl>
                </p:cond>
              </p:nextCondLst>
            </p:seq>
          </p:childTnLst>
        </p:cTn>
      </p:par>
    </p:tnLst>
    <p:bldLst>
      <p:bldP spid="71" grpId="0"/>
      <p:bldP spid="70" grpId="0"/>
      <p:bldP spid="46" grpId="0" animBg="1"/>
      <p:bldP spid="48" grpId="0" animBg="1"/>
      <p:bldP spid="50" grpId="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1">
            <a:extLst>
              <a:ext uri="{FF2B5EF4-FFF2-40B4-BE49-F238E27FC236}">
                <a16:creationId xmlns:a16="http://schemas.microsoft.com/office/drawing/2014/main" id="{266582F0-FE77-4759-1EE4-D5CD2ED5A30E}"/>
              </a:ext>
            </a:extLst>
          </p:cNvPr>
          <p:cNvSpPr txBox="1"/>
          <p:nvPr/>
        </p:nvSpPr>
        <p:spPr>
          <a:xfrm>
            <a:off x="9191997" y="2652919"/>
            <a:ext cx="2763618" cy="1477328"/>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1"/>
                </a:solidFill>
              </a:rPr>
              <a:t>Telemetry/ ambulatory ECG monitoring</a:t>
            </a:r>
          </a:p>
          <a:p>
            <a:pPr marL="173038" indent="-173038">
              <a:buFont typeface="Arial" panose="020B0604020202020204" pitchFamily="34" charset="0"/>
              <a:buChar char="•"/>
            </a:pPr>
            <a:r>
              <a:rPr lang="en-US" dirty="0">
                <a:solidFill>
                  <a:schemeClr val="accent1"/>
                </a:solidFill>
              </a:rPr>
              <a:t>TTE</a:t>
            </a:r>
          </a:p>
          <a:p>
            <a:pPr marL="173038" indent="-173038">
              <a:buFont typeface="Arial" panose="020B0604020202020204" pitchFamily="34" charset="0"/>
              <a:buChar char="•"/>
            </a:pPr>
            <a:r>
              <a:rPr lang="en-US" dirty="0">
                <a:solidFill>
                  <a:schemeClr val="accent1"/>
                </a:solidFill>
              </a:rPr>
              <a:t>±</a:t>
            </a:r>
            <a:r>
              <a:rPr lang="en-US" dirty="0">
                <a:solidFill>
                  <a:schemeClr val="accent6">
                    <a:lumMod val="75000"/>
                  </a:schemeClr>
                </a:solidFill>
              </a:rPr>
              <a:t> </a:t>
            </a:r>
            <a:r>
              <a:rPr lang="en-US" dirty="0">
                <a:solidFill>
                  <a:schemeClr val="accent1"/>
                </a:solidFill>
              </a:rPr>
              <a:t>stress test (if exertional syncope)</a:t>
            </a:r>
          </a:p>
        </p:txBody>
      </p:sp>
      <p:sp>
        <p:nvSpPr>
          <p:cNvPr id="71" name="TextBox 70">
            <a:extLst>
              <a:ext uri="{FF2B5EF4-FFF2-40B4-BE49-F238E27FC236}">
                <a16:creationId xmlns:a16="http://schemas.microsoft.com/office/drawing/2014/main" id="{B4CB7F51-3D5C-A389-3AC5-95C7BF6764D6}"/>
              </a:ext>
            </a:extLst>
          </p:cNvPr>
          <p:cNvSpPr txBox="1"/>
          <p:nvPr/>
        </p:nvSpPr>
        <p:spPr>
          <a:xfrm>
            <a:off x="6381181" y="3074464"/>
            <a:ext cx="2612504" cy="646331"/>
          </a:xfrm>
          <a:prstGeom prst="rect">
            <a:avLst/>
          </a:prstGeom>
          <a:noFill/>
        </p:spPr>
        <p:txBody>
          <a:bodyPr wrap="square" rtlCol="0">
            <a:spAutoFit/>
          </a:bodyPr>
          <a:lstStyle/>
          <a:p>
            <a:pPr algn="ctr"/>
            <a:r>
              <a:rPr lang="en-US" dirty="0">
                <a:solidFill>
                  <a:srgbClr val="7030A0"/>
                </a:solidFill>
              </a:rPr>
              <a:t>Tilt table testing (if diagnosis is uncertain)</a:t>
            </a:r>
          </a:p>
        </p:txBody>
      </p:sp>
      <p:sp>
        <p:nvSpPr>
          <p:cNvPr id="2" name="TextBox 1">
            <a:extLst>
              <a:ext uri="{FF2B5EF4-FFF2-40B4-BE49-F238E27FC236}">
                <a16:creationId xmlns:a16="http://schemas.microsoft.com/office/drawing/2014/main" id="{8A9B7199-B447-43DF-8A93-2498EE433AE5}"/>
              </a:ext>
            </a:extLst>
          </p:cNvPr>
          <p:cNvSpPr txBox="1"/>
          <p:nvPr/>
        </p:nvSpPr>
        <p:spPr>
          <a:xfrm>
            <a:off x="3594719" y="4171060"/>
            <a:ext cx="2644856" cy="1200329"/>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6">
                    <a:lumMod val="75000"/>
                  </a:schemeClr>
                </a:solidFill>
              </a:rPr>
              <a:t>Volume resuscitate</a:t>
            </a:r>
          </a:p>
          <a:p>
            <a:pPr marL="173038" indent="-173038">
              <a:buFont typeface="Arial" panose="020B0604020202020204" pitchFamily="34" charset="0"/>
              <a:buChar char="•"/>
            </a:pPr>
            <a:r>
              <a:rPr lang="en-US" dirty="0">
                <a:solidFill>
                  <a:schemeClr val="accent6">
                    <a:lumMod val="75000"/>
                  </a:schemeClr>
                </a:solidFill>
              </a:rPr>
              <a:t>Stop offending meds </a:t>
            </a:r>
          </a:p>
          <a:p>
            <a:pPr marL="173038" indent="-173038">
              <a:buFont typeface="Arial" panose="020B0604020202020204" pitchFamily="34" charset="0"/>
              <a:buChar char="•"/>
            </a:pPr>
            <a:r>
              <a:rPr lang="en-US" dirty="0">
                <a:solidFill>
                  <a:schemeClr val="accent6">
                    <a:lumMod val="75000"/>
                  </a:schemeClr>
                </a:solidFill>
              </a:rPr>
              <a:t>Behaviors, counter pressure maneuvers</a:t>
            </a:r>
          </a:p>
        </p:txBody>
      </p:sp>
      <p:sp>
        <p:nvSpPr>
          <p:cNvPr id="22" name="TextBox 21">
            <a:extLst>
              <a:ext uri="{FF2B5EF4-FFF2-40B4-BE49-F238E27FC236}">
                <a16:creationId xmlns:a16="http://schemas.microsoft.com/office/drawing/2014/main" id="{DC97152A-5CC0-91F4-4767-5D90E91B33D5}"/>
              </a:ext>
            </a:extLst>
          </p:cNvPr>
          <p:cNvSpPr txBox="1"/>
          <p:nvPr/>
        </p:nvSpPr>
        <p:spPr>
          <a:xfrm>
            <a:off x="9191997" y="4171060"/>
            <a:ext cx="2628055" cy="923330"/>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1"/>
                </a:solidFill>
              </a:rPr>
              <a:t>Consult Cardiology (treatment is specialized based on etiology)</a:t>
            </a:r>
          </a:p>
        </p:txBody>
      </p:sp>
      <p:sp>
        <p:nvSpPr>
          <p:cNvPr id="23" name="TextBox 22">
            <a:extLst>
              <a:ext uri="{FF2B5EF4-FFF2-40B4-BE49-F238E27FC236}">
                <a16:creationId xmlns:a16="http://schemas.microsoft.com/office/drawing/2014/main" id="{F32D7B41-A4B4-D895-2B5A-3B9A40141DB5}"/>
              </a:ext>
            </a:extLst>
          </p:cNvPr>
          <p:cNvSpPr txBox="1"/>
          <p:nvPr/>
        </p:nvSpPr>
        <p:spPr>
          <a:xfrm>
            <a:off x="6239575" y="4171060"/>
            <a:ext cx="2906404" cy="1200329"/>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rgbClr val="7030A0"/>
                </a:solidFill>
              </a:rPr>
              <a:t>Reassurance</a:t>
            </a:r>
          </a:p>
          <a:p>
            <a:pPr marL="173038" indent="-173038">
              <a:buFont typeface="Arial" panose="020B0604020202020204" pitchFamily="34" charset="0"/>
              <a:buChar char="•"/>
            </a:pPr>
            <a:r>
              <a:rPr lang="en-US" dirty="0">
                <a:solidFill>
                  <a:srgbClr val="7030A0"/>
                </a:solidFill>
              </a:rPr>
              <a:t>Trigger avoidance</a:t>
            </a:r>
          </a:p>
          <a:p>
            <a:pPr marL="173038" indent="-173038">
              <a:buFont typeface="Arial" panose="020B0604020202020204" pitchFamily="34" charset="0"/>
              <a:buChar char="•"/>
            </a:pPr>
            <a:r>
              <a:rPr lang="en-US" dirty="0">
                <a:solidFill>
                  <a:srgbClr val="7030A0"/>
                </a:solidFill>
              </a:rPr>
              <a:t>Counter pressure maneuvers</a:t>
            </a:r>
          </a:p>
        </p:txBody>
      </p:sp>
      <p:sp>
        <p:nvSpPr>
          <p:cNvPr id="70" name="TextBox 69">
            <a:extLst>
              <a:ext uri="{FF2B5EF4-FFF2-40B4-BE49-F238E27FC236}">
                <a16:creationId xmlns:a16="http://schemas.microsoft.com/office/drawing/2014/main" id="{F8E5AEA0-5F00-8E70-81B3-99DB12D7EAA5}"/>
              </a:ext>
            </a:extLst>
          </p:cNvPr>
          <p:cNvSpPr txBox="1"/>
          <p:nvPr/>
        </p:nvSpPr>
        <p:spPr>
          <a:xfrm>
            <a:off x="3620398" y="2805586"/>
            <a:ext cx="2628055" cy="1200329"/>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6">
                    <a:lumMod val="75000"/>
                  </a:schemeClr>
                </a:solidFill>
              </a:rPr>
              <a:t>BMP, CBC</a:t>
            </a:r>
          </a:p>
          <a:p>
            <a:pPr marL="173038" indent="-173038">
              <a:buFont typeface="Arial" panose="020B0604020202020204" pitchFamily="34" charset="0"/>
              <a:buChar char="•"/>
            </a:pPr>
            <a:r>
              <a:rPr lang="en-US" dirty="0">
                <a:solidFill>
                  <a:schemeClr val="accent6">
                    <a:lumMod val="75000"/>
                  </a:schemeClr>
                </a:solidFill>
              </a:rPr>
              <a:t>Orthostatic VS</a:t>
            </a:r>
          </a:p>
          <a:p>
            <a:pPr marL="173038" indent="-173038">
              <a:buFont typeface="Arial" panose="020B0604020202020204" pitchFamily="34" charset="0"/>
              <a:buChar char="•"/>
            </a:pPr>
            <a:r>
              <a:rPr lang="en-US" dirty="0">
                <a:solidFill>
                  <a:schemeClr val="accent6">
                    <a:lumMod val="75000"/>
                  </a:schemeClr>
                </a:solidFill>
              </a:rPr>
              <a:t>± autonomic failure evaluation</a:t>
            </a:r>
          </a:p>
        </p:txBody>
      </p:sp>
      <p:grpSp>
        <p:nvGrpSpPr>
          <p:cNvPr id="3" name="Group 2">
            <a:extLst>
              <a:ext uri="{FF2B5EF4-FFF2-40B4-BE49-F238E27FC236}">
                <a16:creationId xmlns:a16="http://schemas.microsoft.com/office/drawing/2014/main" id="{FE1E0DC4-8436-A09D-CC31-642BFED06CCD}"/>
              </a:ext>
            </a:extLst>
          </p:cNvPr>
          <p:cNvGrpSpPr/>
          <p:nvPr/>
        </p:nvGrpSpPr>
        <p:grpSpPr>
          <a:xfrm>
            <a:off x="3611520" y="771453"/>
            <a:ext cx="8260575" cy="5855950"/>
            <a:chOff x="3611520" y="771453"/>
            <a:chExt cx="8260575" cy="5952661"/>
          </a:xfrm>
        </p:grpSpPr>
        <p:grpSp>
          <p:nvGrpSpPr>
            <p:cNvPr id="25" name="Group 24">
              <a:extLst>
                <a:ext uri="{FF2B5EF4-FFF2-40B4-BE49-F238E27FC236}">
                  <a16:creationId xmlns:a16="http://schemas.microsoft.com/office/drawing/2014/main" id="{E262E07F-5A52-FDB3-2325-659D5D2F1195}"/>
                </a:ext>
              </a:extLst>
            </p:cNvPr>
            <p:cNvGrpSpPr/>
            <p:nvPr/>
          </p:nvGrpSpPr>
          <p:grpSpPr>
            <a:xfrm>
              <a:off x="3611520" y="1183020"/>
              <a:ext cx="8260575" cy="4321382"/>
              <a:chOff x="3611521" y="1183020"/>
              <a:chExt cx="7905508" cy="4321382"/>
            </a:xfrm>
          </p:grpSpPr>
          <p:cxnSp>
            <p:nvCxnSpPr>
              <p:cNvPr id="30" name="Straight Connector 29">
                <a:extLst>
                  <a:ext uri="{FF2B5EF4-FFF2-40B4-BE49-F238E27FC236}">
                    <a16:creationId xmlns:a16="http://schemas.microsoft.com/office/drawing/2014/main" id="{6956D5C7-CC75-1072-422F-5479EDC2FFE4}"/>
                  </a:ext>
                </a:extLst>
              </p:cNvPr>
              <p:cNvCxnSpPr>
                <a:cxnSpLocks/>
              </p:cNvCxnSpPr>
              <p:nvPr/>
            </p:nvCxnSpPr>
            <p:spPr>
              <a:xfrm>
                <a:off x="3611521" y="2646158"/>
                <a:ext cx="7905508" cy="0"/>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DBA0DBB6-52CA-393B-8212-A9BE092FB063}"/>
                  </a:ext>
                </a:extLst>
              </p:cNvPr>
              <p:cNvCxnSpPr/>
              <p:nvPr/>
            </p:nvCxnSpPr>
            <p:spPr>
              <a:xfrm>
                <a:off x="3611521" y="4221253"/>
                <a:ext cx="7905508" cy="0"/>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054B00C1-F020-FF3F-9D6E-6D69FA54A5E5}"/>
                  </a:ext>
                </a:extLst>
              </p:cNvPr>
              <p:cNvCxnSpPr/>
              <p:nvPr/>
            </p:nvCxnSpPr>
            <p:spPr>
              <a:xfrm>
                <a:off x="3611521" y="5504402"/>
                <a:ext cx="7905508" cy="0"/>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12B6D078-1666-0CBF-1221-629E0F7A661E}"/>
                  </a:ext>
                </a:extLst>
              </p:cNvPr>
              <p:cNvCxnSpPr/>
              <p:nvPr/>
            </p:nvCxnSpPr>
            <p:spPr>
              <a:xfrm>
                <a:off x="3611521" y="1183020"/>
                <a:ext cx="7905508" cy="0"/>
              </a:xfrm>
              <a:prstGeom prst="line">
                <a:avLst/>
              </a:prstGeom>
            </p:spPr>
            <p:style>
              <a:lnRef idx="3">
                <a:schemeClr val="dk1"/>
              </a:lnRef>
              <a:fillRef idx="0">
                <a:schemeClr val="dk1"/>
              </a:fillRef>
              <a:effectRef idx="2">
                <a:schemeClr val="dk1"/>
              </a:effectRef>
              <a:fontRef idx="minor">
                <a:schemeClr val="tx1"/>
              </a:fontRef>
            </p:style>
          </p:cxnSp>
        </p:grpSp>
        <p:cxnSp>
          <p:nvCxnSpPr>
            <p:cNvPr id="27" name="Straight Connector 26">
              <a:extLst>
                <a:ext uri="{FF2B5EF4-FFF2-40B4-BE49-F238E27FC236}">
                  <a16:creationId xmlns:a16="http://schemas.microsoft.com/office/drawing/2014/main" id="{577CBBF7-42B3-176B-39BF-BD4A42D59B7B}"/>
                </a:ext>
              </a:extLst>
            </p:cNvPr>
            <p:cNvCxnSpPr>
              <a:cxnSpLocks/>
            </p:cNvCxnSpPr>
            <p:nvPr/>
          </p:nvCxnSpPr>
          <p:spPr>
            <a:xfrm>
              <a:off x="6212521" y="775306"/>
              <a:ext cx="0" cy="5948808"/>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87FCDA72-8F2F-DA6F-94BA-ABF8C65607C7}"/>
                </a:ext>
              </a:extLst>
            </p:cNvPr>
            <p:cNvCxnSpPr>
              <a:cxnSpLocks/>
            </p:cNvCxnSpPr>
            <p:nvPr/>
          </p:nvCxnSpPr>
          <p:spPr>
            <a:xfrm>
              <a:off x="9145979" y="771453"/>
              <a:ext cx="0" cy="5948808"/>
            </a:xfrm>
            <a:prstGeom prst="line">
              <a:avLst/>
            </a:prstGeom>
          </p:spPr>
          <p:style>
            <a:lnRef idx="3">
              <a:schemeClr val="dk1"/>
            </a:lnRef>
            <a:fillRef idx="0">
              <a:schemeClr val="dk1"/>
            </a:fillRef>
            <a:effectRef idx="2">
              <a:schemeClr val="dk1"/>
            </a:effectRef>
            <a:fontRef idx="minor">
              <a:schemeClr val="tx1"/>
            </a:fontRef>
          </p:style>
        </p:cxnSp>
      </p:grpSp>
      <p:sp>
        <p:nvSpPr>
          <p:cNvPr id="58" name="Rectangle 57">
            <a:extLst>
              <a:ext uri="{FF2B5EF4-FFF2-40B4-BE49-F238E27FC236}">
                <a16:creationId xmlns:a16="http://schemas.microsoft.com/office/drawing/2014/main" id="{0DE435B0-45B6-6F37-02AF-B5F26105C927}"/>
              </a:ext>
            </a:extLst>
          </p:cNvPr>
          <p:cNvSpPr/>
          <p:nvPr/>
        </p:nvSpPr>
        <p:spPr>
          <a:xfrm>
            <a:off x="3627621" y="1203768"/>
            <a:ext cx="8244474" cy="13912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0465923-5B8C-5C36-82D2-1D4DE55A0F17}"/>
              </a:ext>
            </a:extLst>
          </p:cNvPr>
          <p:cNvSpPr txBox="1"/>
          <p:nvPr/>
        </p:nvSpPr>
        <p:spPr>
          <a:xfrm>
            <a:off x="3517122" y="89014"/>
            <a:ext cx="6163654" cy="461665"/>
          </a:xfrm>
          <a:prstGeom prst="rect">
            <a:avLst/>
          </a:prstGeom>
          <a:noFill/>
        </p:spPr>
        <p:txBody>
          <a:bodyPr wrap="square" rtlCol="0">
            <a:spAutoFit/>
          </a:bodyPr>
          <a:lstStyle/>
          <a:p>
            <a:pPr algn="ctr"/>
            <a:r>
              <a:rPr lang="en-US" sz="2400" b="1" dirty="0"/>
              <a:t>Evaluation - Testing</a:t>
            </a:r>
          </a:p>
        </p:txBody>
      </p:sp>
      <p:sp>
        <p:nvSpPr>
          <p:cNvPr id="21" name="Orthostatic">
            <a:extLst>
              <a:ext uri="{FF2B5EF4-FFF2-40B4-BE49-F238E27FC236}">
                <a16:creationId xmlns:a16="http://schemas.microsoft.com/office/drawing/2014/main" id="{B5199B1E-CB43-2084-0A8E-A85F86BA17B2}"/>
              </a:ext>
            </a:extLst>
          </p:cNvPr>
          <p:cNvSpPr/>
          <p:nvPr/>
        </p:nvSpPr>
        <p:spPr>
          <a:xfrm>
            <a:off x="4064645"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Orthostatic</a:t>
            </a:r>
          </a:p>
        </p:txBody>
      </p:sp>
      <p:sp>
        <p:nvSpPr>
          <p:cNvPr id="24" name="Orthostatic">
            <a:extLst>
              <a:ext uri="{FF2B5EF4-FFF2-40B4-BE49-F238E27FC236}">
                <a16:creationId xmlns:a16="http://schemas.microsoft.com/office/drawing/2014/main" id="{E3606975-F075-4E24-A1C2-378F85C610C4}"/>
              </a:ext>
            </a:extLst>
          </p:cNvPr>
          <p:cNvSpPr/>
          <p:nvPr/>
        </p:nvSpPr>
        <p:spPr>
          <a:xfrm>
            <a:off x="6914163"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Reflex</a:t>
            </a:r>
          </a:p>
        </p:txBody>
      </p:sp>
      <p:sp>
        <p:nvSpPr>
          <p:cNvPr id="26" name="Orthostatic">
            <a:extLst>
              <a:ext uri="{FF2B5EF4-FFF2-40B4-BE49-F238E27FC236}">
                <a16:creationId xmlns:a16="http://schemas.microsoft.com/office/drawing/2014/main" id="{8C0A5F90-AEBC-E158-39CD-2346BA7C150C}"/>
              </a:ext>
            </a:extLst>
          </p:cNvPr>
          <p:cNvSpPr/>
          <p:nvPr/>
        </p:nvSpPr>
        <p:spPr>
          <a:xfrm>
            <a:off x="9763681" y="740754"/>
            <a:ext cx="1593374" cy="381915"/>
          </a:xfrm>
          <a:prstGeom prst="roundRect">
            <a:avLst/>
          </a:prstGeom>
          <a:no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Cardiac</a:t>
            </a:r>
          </a:p>
        </p:txBody>
      </p:sp>
      <p:sp>
        <p:nvSpPr>
          <p:cNvPr id="35" name="TextBox 34">
            <a:extLst>
              <a:ext uri="{FF2B5EF4-FFF2-40B4-BE49-F238E27FC236}">
                <a16:creationId xmlns:a16="http://schemas.microsoft.com/office/drawing/2014/main" id="{83B17F29-92F3-4023-219D-3A304E06EADF}"/>
              </a:ext>
            </a:extLst>
          </p:cNvPr>
          <p:cNvSpPr txBox="1"/>
          <p:nvPr/>
        </p:nvSpPr>
        <p:spPr>
          <a:xfrm>
            <a:off x="2330257" y="1740850"/>
            <a:ext cx="1263152" cy="369332"/>
          </a:xfrm>
          <a:prstGeom prst="rect">
            <a:avLst/>
          </a:prstGeom>
          <a:noFill/>
        </p:spPr>
        <p:txBody>
          <a:bodyPr wrap="square" rtlCol="0">
            <a:spAutoFit/>
          </a:bodyPr>
          <a:lstStyle/>
          <a:p>
            <a:pPr algn="ctr"/>
            <a:r>
              <a:rPr lang="en-US" b="1" dirty="0"/>
              <a:t>Evaluation</a:t>
            </a:r>
          </a:p>
        </p:txBody>
      </p:sp>
      <p:sp>
        <p:nvSpPr>
          <p:cNvPr id="37" name="TextBox 36">
            <a:extLst>
              <a:ext uri="{FF2B5EF4-FFF2-40B4-BE49-F238E27FC236}">
                <a16:creationId xmlns:a16="http://schemas.microsoft.com/office/drawing/2014/main" id="{A08F0B5A-8B2B-2C74-991E-FBB4E4C1B838}"/>
              </a:ext>
            </a:extLst>
          </p:cNvPr>
          <p:cNvSpPr txBox="1"/>
          <p:nvPr/>
        </p:nvSpPr>
        <p:spPr>
          <a:xfrm>
            <a:off x="2166819" y="3256549"/>
            <a:ext cx="1421505" cy="646331"/>
          </a:xfrm>
          <a:prstGeom prst="rect">
            <a:avLst/>
          </a:prstGeom>
          <a:noFill/>
        </p:spPr>
        <p:txBody>
          <a:bodyPr wrap="square" rtlCol="0">
            <a:spAutoFit/>
          </a:bodyPr>
          <a:lstStyle/>
          <a:p>
            <a:pPr algn="ctr"/>
            <a:r>
              <a:rPr lang="en-US" b="1" dirty="0"/>
              <a:t>Targeted tests</a:t>
            </a:r>
          </a:p>
        </p:txBody>
      </p:sp>
      <p:sp>
        <p:nvSpPr>
          <p:cNvPr id="38" name="TextBox 37">
            <a:extLst>
              <a:ext uri="{FF2B5EF4-FFF2-40B4-BE49-F238E27FC236}">
                <a16:creationId xmlns:a16="http://schemas.microsoft.com/office/drawing/2014/main" id="{19E05689-DF6F-A95E-566D-CB2CDD143A39}"/>
              </a:ext>
            </a:extLst>
          </p:cNvPr>
          <p:cNvSpPr txBox="1"/>
          <p:nvPr/>
        </p:nvSpPr>
        <p:spPr>
          <a:xfrm>
            <a:off x="2238023" y="4606370"/>
            <a:ext cx="1279099" cy="369332"/>
          </a:xfrm>
          <a:prstGeom prst="rect">
            <a:avLst/>
          </a:prstGeom>
          <a:noFill/>
        </p:spPr>
        <p:txBody>
          <a:bodyPr wrap="square" rtlCol="0">
            <a:spAutoFit/>
          </a:bodyPr>
          <a:lstStyle/>
          <a:p>
            <a:pPr algn="ctr"/>
            <a:r>
              <a:rPr lang="en-US" b="1" dirty="0"/>
              <a:t>Treatment </a:t>
            </a:r>
          </a:p>
        </p:txBody>
      </p:sp>
      <p:sp>
        <p:nvSpPr>
          <p:cNvPr id="52" name="Prodrome OH">
            <a:extLst>
              <a:ext uri="{FF2B5EF4-FFF2-40B4-BE49-F238E27FC236}">
                <a16:creationId xmlns:a16="http://schemas.microsoft.com/office/drawing/2014/main" id="{2B84D1AF-8120-104A-D4BC-306BDBB05C9A}"/>
              </a:ext>
            </a:extLst>
          </p:cNvPr>
          <p:cNvSpPr/>
          <p:nvPr/>
        </p:nvSpPr>
        <p:spPr>
          <a:xfrm>
            <a:off x="4078083" y="4509999"/>
            <a:ext cx="1593374" cy="38191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53" name="Graphic 52" descr="Cursor with solid fill">
            <a:extLst>
              <a:ext uri="{FF2B5EF4-FFF2-40B4-BE49-F238E27FC236}">
                <a16:creationId xmlns:a16="http://schemas.microsoft.com/office/drawing/2014/main" id="{BD788532-3B43-61C8-7B71-6DFD9390038E}"/>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6099" y="4763854"/>
            <a:ext cx="274320" cy="274320"/>
          </a:xfrm>
          <a:prstGeom prst="rect">
            <a:avLst/>
          </a:prstGeom>
        </p:spPr>
      </p:pic>
      <p:sp>
        <p:nvSpPr>
          <p:cNvPr id="54" name="Prodrome reflex">
            <a:extLst>
              <a:ext uri="{FF2B5EF4-FFF2-40B4-BE49-F238E27FC236}">
                <a16:creationId xmlns:a16="http://schemas.microsoft.com/office/drawing/2014/main" id="{9AEE675F-2C93-EAF4-5B6E-CEE793BF3871}"/>
              </a:ext>
            </a:extLst>
          </p:cNvPr>
          <p:cNvSpPr/>
          <p:nvPr/>
        </p:nvSpPr>
        <p:spPr>
          <a:xfrm>
            <a:off x="6927601" y="4513717"/>
            <a:ext cx="1593374" cy="381915"/>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55" name="Graphic 54" descr="Cursor with solid fill">
            <a:extLst>
              <a:ext uri="{FF2B5EF4-FFF2-40B4-BE49-F238E27FC236}">
                <a16:creationId xmlns:a16="http://schemas.microsoft.com/office/drawing/2014/main" id="{1F5BFC0F-C613-1408-C83E-E2F9F52433CC}"/>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5617" y="4767572"/>
            <a:ext cx="274320" cy="274320"/>
          </a:xfrm>
          <a:prstGeom prst="rect">
            <a:avLst/>
          </a:prstGeom>
        </p:spPr>
      </p:pic>
      <p:sp>
        <p:nvSpPr>
          <p:cNvPr id="56" name="Prodrome Cardiac">
            <a:extLst>
              <a:ext uri="{FF2B5EF4-FFF2-40B4-BE49-F238E27FC236}">
                <a16:creationId xmlns:a16="http://schemas.microsoft.com/office/drawing/2014/main" id="{6C5A21AC-B592-B43C-B37C-FA4A03C1094C}"/>
              </a:ext>
            </a:extLst>
          </p:cNvPr>
          <p:cNvSpPr/>
          <p:nvPr/>
        </p:nvSpPr>
        <p:spPr>
          <a:xfrm>
            <a:off x="9777119" y="4517370"/>
            <a:ext cx="1593374" cy="38191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57" name="Graphic 56" descr="Cursor with solid fill">
            <a:extLst>
              <a:ext uri="{FF2B5EF4-FFF2-40B4-BE49-F238E27FC236}">
                <a16:creationId xmlns:a16="http://schemas.microsoft.com/office/drawing/2014/main" id="{7C033071-A233-043B-29B1-5624866D9F48}"/>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35135" y="4771225"/>
            <a:ext cx="274320" cy="274320"/>
          </a:xfrm>
          <a:prstGeom prst="rect">
            <a:avLst/>
          </a:prstGeom>
        </p:spPr>
      </p:pic>
      <p:sp>
        <p:nvSpPr>
          <p:cNvPr id="69" name="TextBox 68">
            <a:extLst>
              <a:ext uri="{FF2B5EF4-FFF2-40B4-BE49-F238E27FC236}">
                <a16:creationId xmlns:a16="http://schemas.microsoft.com/office/drawing/2014/main" id="{0D7AEC43-3384-5093-CCC3-57631FC329F8}"/>
              </a:ext>
            </a:extLst>
          </p:cNvPr>
          <p:cNvSpPr txBox="1"/>
          <p:nvPr/>
        </p:nvSpPr>
        <p:spPr>
          <a:xfrm>
            <a:off x="4212484" y="1482564"/>
            <a:ext cx="2753705" cy="923330"/>
          </a:xfrm>
          <a:prstGeom prst="rect">
            <a:avLst/>
          </a:prstGeom>
          <a:noFill/>
        </p:spPr>
        <p:txBody>
          <a:bodyPr wrap="square" rtlCol="0">
            <a:spAutoFit/>
          </a:bodyPr>
          <a:lstStyle/>
          <a:p>
            <a:pPr marL="173038" indent="-173038">
              <a:buFont typeface="Arial" panose="020B0604020202020204" pitchFamily="34" charset="0"/>
              <a:buChar char="•"/>
            </a:pPr>
            <a:r>
              <a:rPr lang="en-US" dirty="0"/>
              <a:t>History</a:t>
            </a:r>
          </a:p>
          <a:p>
            <a:pPr marL="173038" indent="-173038">
              <a:buFont typeface="Arial" panose="020B0604020202020204" pitchFamily="34" charset="0"/>
              <a:buChar char="•"/>
            </a:pPr>
            <a:r>
              <a:rPr lang="en-US" dirty="0"/>
              <a:t>Physical exam</a:t>
            </a:r>
          </a:p>
          <a:p>
            <a:pPr marL="173038" indent="-173038">
              <a:buFont typeface="Arial" panose="020B0604020202020204" pitchFamily="34" charset="0"/>
              <a:buChar char="•"/>
            </a:pPr>
            <a:r>
              <a:rPr lang="en-US" dirty="0"/>
              <a:t>Vital signs (</a:t>
            </a:r>
            <a:r>
              <a:rPr lang="en-US" dirty="0" err="1"/>
              <a:t>orthostatics</a:t>
            </a:r>
            <a:r>
              <a:rPr lang="en-US" dirty="0"/>
              <a:t>)</a:t>
            </a:r>
            <a:endParaRPr lang="en-US" dirty="0">
              <a:solidFill>
                <a:schemeClr val="accent1"/>
              </a:solidFill>
            </a:endParaRPr>
          </a:p>
        </p:txBody>
      </p:sp>
      <p:sp>
        <p:nvSpPr>
          <p:cNvPr id="59" name="TextBox 58">
            <a:extLst>
              <a:ext uri="{FF2B5EF4-FFF2-40B4-BE49-F238E27FC236}">
                <a16:creationId xmlns:a16="http://schemas.microsoft.com/office/drawing/2014/main" id="{54B51FD4-D4A9-1732-20CE-B2221D77ACC0}"/>
              </a:ext>
            </a:extLst>
          </p:cNvPr>
          <p:cNvSpPr txBox="1"/>
          <p:nvPr/>
        </p:nvSpPr>
        <p:spPr>
          <a:xfrm>
            <a:off x="8037657" y="1664078"/>
            <a:ext cx="824254" cy="369332"/>
          </a:xfrm>
          <a:prstGeom prst="rect">
            <a:avLst/>
          </a:prstGeom>
          <a:noFill/>
        </p:spPr>
        <p:txBody>
          <a:bodyPr wrap="square" rtlCol="0">
            <a:spAutoFit/>
          </a:bodyPr>
          <a:lstStyle/>
          <a:p>
            <a:pPr marL="173038" indent="-173038">
              <a:buFont typeface="Arial" panose="020B0604020202020204" pitchFamily="34" charset="0"/>
              <a:buChar char="•"/>
            </a:pPr>
            <a:r>
              <a:rPr lang="en-US" dirty="0"/>
              <a:t>ECG</a:t>
            </a:r>
            <a:endParaRPr lang="en-US" dirty="0">
              <a:solidFill>
                <a:schemeClr val="accent1"/>
              </a:solidFill>
            </a:endParaRPr>
          </a:p>
        </p:txBody>
      </p:sp>
      <p:sp>
        <p:nvSpPr>
          <p:cNvPr id="60" name="Left Brace 59">
            <a:extLst>
              <a:ext uri="{FF2B5EF4-FFF2-40B4-BE49-F238E27FC236}">
                <a16:creationId xmlns:a16="http://schemas.microsoft.com/office/drawing/2014/main" id="{B02551F4-22D6-E454-F19D-759AAE7BCD32}"/>
              </a:ext>
            </a:extLst>
          </p:cNvPr>
          <p:cNvSpPr/>
          <p:nvPr/>
        </p:nvSpPr>
        <p:spPr>
          <a:xfrm>
            <a:off x="8848416" y="1283563"/>
            <a:ext cx="501847" cy="1215989"/>
          </a:xfrm>
          <a:prstGeom prst="leftBrace">
            <a:avLst>
              <a:gd name="adj1" fmla="val 0"/>
              <a:gd name="adj2" fmla="val 44289"/>
            </a:avLst>
          </a:prstGeom>
          <a:ln>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3457F796-A167-1B42-5571-F86BA231FB0D}"/>
              </a:ext>
            </a:extLst>
          </p:cNvPr>
          <p:cNvSpPr txBox="1"/>
          <p:nvPr/>
        </p:nvSpPr>
        <p:spPr>
          <a:xfrm>
            <a:off x="9202684" y="1229839"/>
            <a:ext cx="2557743" cy="1323439"/>
          </a:xfrm>
          <a:prstGeom prst="rect">
            <a:avLst/>
          </a:prstGeom>
          <a:noFill/>
        </p:spPr>
        <p:txBody>
          <a:bodyPr wrap="square" rtlCol="0">
            <a:spAutoFit/>
          </a:bodyPr>
          <a:lstStyle/>
          <a:p>
            <a:pPr marL="173038" indent="-173038">
              <a:buFont typeface="Arial" panose="020B0604020202020204" pitchFamily="34" charset="0"/>
              <a:buChar char="•"/>
            </a:pPr>
            <a:r>
              <a:rPr lang="en-US" sz="1600" dirty="0">
                <a:solidFill>
                  <a:srgbClr val="FF0000"/>
                </a:solidFill>
              </a:rPr>
              <a:t>Acute ischemia</a:t>
            </a:r>
          </a:p>
          <a:p>
            <a:pPr marL="173038" indent="-173038">
              <a:buFont typeface="Arial" panose="020B0604020202020204" pitchFamily="34" charset="0"/>
              <a:buChar char="•"/>
            </a:pPr>
            <a:r>
              <a:rPr lang="en-US" sz="1600" dirty="0">
                <a:solidFill>
                  <a:srgbClr val="FF0000"/>
                </a:solidFill>
              </a:rPr>
              <a:t>Structural heart disease</a:t>
            </a:r>
          </a:p>
          <a:p>
            <a:pPr marL="173038" indent="-173038">
              <a:buFont typeface="Arial" panose="020B0604020202020204" pitchFamily="34" charset="0"/>
              <a:buChar char="•"/>
            </a:pPr>
            <a:r>
              <a:rPr lang="en-US" sz="1600" dirty="0" err="1">
                <a:solidFill>
                  <a:srgbClr val="FF0000"/>
                </a:solidFill>
              </a:rPr>
              <a:t>Bradyarrhythmias</a:t>
            </a:r>
            <a:endParaRPr lang="en-US" sz="1600" dirty="0">
              <a:solidFill>
                <a:srgbClr val="FF0000"/>
              </a:solidFill>
            </a:endParaRPr>
          </a:p>
          <a:p>
            <a:pPr marL="173038" indent="-173038">
              <a:buFont typeface="Arial" panose="020B0604020202020204" pitchFamily="34" charset="0"/>
              <a:buChar char="•"/>
            </a:pPr>
            <a:r>
              <a:rPr lang="en-US" sz="1600" dirty="0">
                <a:solidFill>
                  <a:srgbClr val="FF0000"/>
                </a:solidFill>
              </a:rPr>
              <a:t>Arrhythmogenic pattern (</a:t>
            </a:r>
            <a:r>
              <a:rPr lang="en-US" sz="1600" dirty="0" err="1">
                <a:solidFill>
                  <a:srgbClr val="FF0000"/>
                </a:solidFill>
              </a:rPr>
              <a:t>Brugada</a:t>
            </a:r>
            <a:r>
              <a:rPr lang="en-US" sz="1600" dirty="0">
                <a:solidFill>
                  <a:srgbClr val="FF0000"/>
                </a:solidFill>
              </a:rPr>
              <a:t>, long/short QT) </a:t>
            </a:r>
          </a:p>
        </p:txBody>
      </p:sp>
      <p:sp>
        <p:nvSpPr>
          <p:cNvPr id="77" name="TextBox 76">
            <a:extLst>
              <a:ext uri="{FF2B5EF4-FFF2-40B4-BE49-F238E27FC236}">
                <a16:creationId xmlns:a16="http://schemas.microsoft.com/office/drawing/2014/main" id="{26D30CCC-8290-37B1-5F05-8564F9CB27FC}"/>
              </a:ext>
            </a:extLst>
          </p:cNvPr>
          <p:cNvSpPr txBox="1"/>
          <p:nvPr/>
        </p:nvSpPr>
        <p:spPr>
          <a:xfrm>
            <a:off x="2238023" y="5697349"/>
            <a:ext cx="1279099" cy="646331"/>
          </a:xfrm>
          <a:prstGeom prst="rect">
            <a:avLst/>
          </a:prstGeom>
          <a:noFill/>
        </p:spPr>
        <p:txBody>
          <a:bodyPr wrap="square" rtlCol="0">
            <a:spAutoFit/>
          </a:bodyPr>
          <a:lstStyle/>
          <a:p>
            <a:pPr algn="ctr"/>
            <a:r>
              <a:rPr lang="en-US" b="1" dirty="0"/>
              <a:t>Second line treatment </a:t>
            </a:r>
          </a:p>
        </p:txBody>
      </p:sp>
      <p:sp>
        <p:nvSpPr>
          <p:cNvPr id="78" name="TextBox 77">
            <a:extLst>
              <a:ext uri="{FF2B5EF4-FFF2-40B4-BE49-F238E27FC236}">
                <a16:creationId xmlns:a16="http://schemas.microsoft.com/office/drawing/2014/main" id="{3C6EAD83-A2C9-DD37-4770-DF46546FF890}"/>
              </a:ext>
            </a:extLst>
          </p:cNvPr>
          <p:cNvSpPr txBox="1"/>
          <p:nvPr/>
        </p:nvSpPr>
        <p:spPr>
          <a:xfrm>
            <a:off x="3572117" y="5627775"/>
            <a:ext cx="2628055" cy="646331"/>
          </a:xfrm>
          <a:prstGeom prst="rect">
            <a:avLst/>
          </a:prstGeom>
          <a:noFill/>
        </p:spPr>
        <p:txBody>
          <a:bodyPr wrap="square" rtlCol="0">
            <a:spAutoFit/>
          </a:bodyPr>
          <a:lstStyle/>
          <a:p>
            <a:pPr marL="173038" indent="-173038">
              <a:buFont typeface="Arial" panose="020B0604020202020204" pitchFamily="34" charset="0"/>
              <a:buChar char="•"/>
            </a:pPr>
            <a:r>
              <a:rPr lang="en-US" dirty="0">
                <a:solidFill>
                  <a:schemeClr val="accent6">
                    <a:lumMod val="75000"/>
                  </a:schemeClr>
                </a:solidFill>
              </a:rPr>
              <a:t>Midodrine</a:t>
            </a:r>
          </a:p>
          <a:p>
            <a:pPr marL="173038" indent="-173038">
              <a:buFont typeface="Arial" panose="020B0604020202020204" pitchFamily="34" charset="0"/>
              <a:buChar char="•"/>
            </a:pPr>
            <a:r>
              <a:rPr lang="en-US" dirty="0">
                <a:solidFill>
                  <a:schemeClr val="accent6">
                    <a:lumMod val="75000"/>
                  </a:schemeClr>
                </a:solidFill>
              </a:rPr>
              <a:t>Fludrocortisone</a:t>
            </a:r>
          </a:p>
        </p:txBody>
      </p:sp>
      <p:sp>
        <p:nvSpPr>
          <p:cNvPr id="80" name="TextBox 79">
            <a:extLst>
              <a:ext uri="{FF2B5EF4-FFF2-40B4-BE49-F238E27FC236}">
                <a16:creationId xmlns:a16="http://schemas.microsoft.com/office/drawing/2014/main" id="{275DEBE2-7D93-59BF-C194-2356F9168C16}"/>
              </a:ext>
            </a:extLst>
          </p:cNvPr>
          <p:cNvSpPr txBox="1"/>
          <p:nvPr/>
        </p:nvSpPr>
        <p:spPr>
          <a:xfrm>
            <a:off x="6228888" y="5441739"/>
            <a:ext cx="2917091" cy="1107996"/>
          </a:xfrm>
          <a:prstGeom prst="rect">
            <a:avLst/>
          </a:prstGeom>
          <a:noFill/>
        </p:spPr>
        <p:txBody>
          <a:bodyPr wrap="square" rtlCol="0">
            <a:spAutoFit/>
          </a:bodyPr>
          <a:lstStyle/>
          <a:p>
            <a:pPr algn="ctr"/>
            <a:r>
              <a:rPr lang="en-US" dirty="0">
                <a:solidFill>
                  <a:srgbClr val="7030A0"/>
                </a:solidFill>
              </a:rPr>
              <a:t>Consider pacemaker </a:t>
            </a:r>
          </a:p>
          <a:p>
            <a:pPr algn="ctr"/>
            <a:r>
              <a:rPr lang="en-US" sz="1600" dirty="0">
                <a:solidFill>
                  <a:srgbClr val="7030A0"/>
                </a:solidFill>
              </a:rPr>
              <a:t>(&gt;40 </a:t>
            </a:r>
            <a:r>
              <a:rPr lang="en-US" sz="1600" dirty="0" err="1">
                <a:solidFill>
                  <a:srgbClr val="7030A0"/>
                </a:solidFill>
              </a:rPr>
              <a:t>yo</a:t>
            </a:r>
            <a:r>
              <a:rPr lang="en-US" sz="1600" dirty="0">
                <a:solidFill>
                  <a:srgbClr val="7030A0"/>
                </a:solidFill>
              </a:rPr>
              <a:t> + cardioinhibitory (TTT) + frequent &amp; unpredictable syncope)</a:t>
            </a:r>
            <a:endParaRPr lang="en-US" dirty="0">
              <a:solidFill>
                <a:srgbClr val="7030A0"/>
              </a:solidFill>
            </a:endParaRPr>
          </a:p>
        </p:txBody>
      </p:sp>
      <p:sp>
        <p:nvSpPr>
          <p:cNvPr id="81" name="Prodrome OH">
            <a:extLst>
              <a:ext uri="{FF2B5EF4-FFF2-40B4-BE49-F238E27FC236}">
                <a16:creationId xmlns:a16="http://schemas.microsoft.com/office/drawing/2014/main" id="{B274F1FD-FFDF-A01F-5C37-B6304B017171}"/>
              </a:ext>
            </a:extLst>
          </p:cNvPr>
          <p:cNvSpPr/>
          <p:nvPr/>
        </p:nvSpPr>
        <p:spPr>
          <a:xfrm>
            <a:off x="4078083" y="5713392"/>
            <a:ext cx="1593374" cy="381915"/>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r>
              <a:rPr lang="en-US" baseline="30000" dirty="0">
                <a:solidFill>
                  <a:schemeClr val="tx1"/>
                </a:solidFill>
              </a:rPr>
              <a:t>nd</a:t>
            </a:r>
            <a:r>
              <a:rPr lang="en-US" dirty="0">
                <a:solidFill>
                  <a:schemeClr val="tx1"/>
                </a:solidFill>
              </a:rPr>
              <a:t> line?</a:t>
            </a:r>
          </a:p>
        </p:txBody>
      </p:sp>
      <p:pic>
        <p:nvPicPr>
          <p:cNvPr id="82" name="Graphic 81" descr="Cursor with solid fill">
            <a:extLst>
              <a:ext uri="{FF2B5EF4-FFF2-40B4-BE49-F238E27FC236}">
                <a16:creationId xmlns:a16="http://schemas.microsoft.com/office/drawing/2014/main" id="{B7575171-6715-2EF9-13B9-D751A4CD6961}"/>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36099" y="5967247"/>
            <a:ext cx="274320" cy="274320"/>
          </a:xfrm>
          <a:prstGeom prst="rect">
            <a:avLst/>
          </a:prstGeom>
        </p:spPr>
      </p:pic>
      <p:sp>
        <p:nvSpPr>
          <p:cNvPr id="83" name="Prodrome reflex">
            <a:extLst>
              <a:ext uri="{FF2B5EF4-FFF2-40B4-BE49-F238E27FC236}">
                <a16:creationId xmlns:a16="http://schemas.microsoft.com/office/drawing/2014/main" id="{4998992C-E8BF-7CEA-5DBC-11CD9D09FE3C}"/>
              </a:ext>
            </a:extLst>
          </p:cNvPr>
          <p:cNvSpPr/>
          <p:nvPr/>
        </p:nvSpPr>
        <p:spPr>
          <a:xfrm>
            <a:off x="6927601" y="5717110"/>
            <a:ext cx="1593374" cy="381915"/>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r>
              <a:rPr lang="en-US" baseline="30000" dirty="0">
                <a:solidFill>
                  <a:schemeClr val="tx1"/>
                </a:solidFill>
              </a:rPr>
              <a:t>nd</a:t>
            </a:r>
            <a:r>
              <a:rPr lang="en-US" dirty="0">
                <a:solidFill>
                  <a:schemeClr val="tx1"/>
                </a:solidFill>
              </a:rPr>
              <a:t> line?</a:t>
            </a:r>
          </a:p>
        </p:txBody>
      </p:sp>
      <p:pic>
        <p:nvPicPr>
          <p:cNvPr id="84" name="Graphic 83" descr="Cursor with solid fill">
            <a:extLst>
              <a:ext uri="{FF2B5EF4-FFF2-40B4-BE49-F238E27FC236}">
                <a16:creationId xmlns:a16="http://schemas.microsoft.com/office/drawing/2014/main" id="{D9C301E2-1930-E860-B400-F89F04B15B8D}"/>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5617" y="5970965"/>
            <a:ext cx="274320" cy="274320"/>
          </a:xfrm>
          <a:prstGeom prst="rect">
            <a:avLst/>
          </a:prstGeom>
        </p:spPr>
      </p:pic>
      <p:sp>
        <p:nvSpPr>
          <p:cNvPr id="68" name="Obj 2">
            <a:hlinkClick r:id="rId4" action="ppaction://hlinksldjump"/>
            <a:extLst>
              <a:ext uri="{FF2B5EF4-FFF2-40B4-BE49-F238E27FC236}">
                <a16:creationId xmlns:a16="http://schemas.microsoft.com/office/drawing/2014/main" id="{4A467C39-0382-19D6-F74A-28005F4F7185}"/>
              </a:ext>
            </a:extLst>
          </p:cNvPr>
          <p:cNvSpPr/>
          <p:nvPr/>
        </p:nvSpPr>
        <p:spPr>
          <a:xfrm>
            <a:off x="18484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sp>
        <p:nvSpPr>
          <p:cNvPr id="73" name="Obj 2">
            <a:hlinkClick r:id="rId5" action="ppaction://hlinksldjump"/>
            <a:extLst>
              <a:ext uri="{FF2B5EF4-FFF2-40B4-BE49-F238E27FC236}">
                <a16:creationId xmlns:a16="http://schemas.microsoft.com/office/drawing/2014/main" id="{6E171241-4FE1-1C97-E136-FF9208569F84}"/>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74" name="Obj 2">
            <a:hlinkClick r:id="rId6" action="ppaction://hlinksldjump"/>
            <a:extLst>
              <a:ext uri="{FF2B5EF4-FFF2-40B4-BE49-F238E27FC236}">
                <a16:creationId xmlns:a16="http://schemas.microsoft.com/office/drawing/2014/main" id="{A2D6BB4C-05C7-E5BB-23F4-940C11B0AB9F}"/>
              </a:ext>
            </a:extLst>
          </p:cNvPr>
          <p:cNvSpPr/>
          <p:nvPr/>
        </p:nvSpPr>
        <p:spPr>
          <a:xfrm>
            <a:off x="184843" y="1341796"/>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Evaluation</a:t>
            </a:r>
          </a:p>
        </p:txBody>
      </p:sp>
      <p:pic>
        <p:nvPicPr>
          <p:cNvPr id="76" name="Graphic 75" descr="Cursor with solid fill">
            <a:extLst>
              <a:ext uri="{FF2B5EF4-FFF2-40B4-BE49-F238E27FC236}">
                <a16:creationId xmlns:a16="http://schemas.microsoft.com/office/drawing/2014/main" id="{D10D780B-5D8E-5D94-8888-33B1BC7AE621}"/>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454521"/>
            <a:ext cx="274320" cy="274320"/>
          </a:xfrm>
          <a:prstGeom prst="rect">
            <a:avLst/>
          </a:prstGeom>
        </p:spPr>
      </p:pic>
      <p:pic>
        <p:nvPicPr>
          <p:cNvPr id="79" name="Graphic 78" descr="Cursor with solid fill">
            <a:extLst>
              <a:ext uri="{FF2B5EF4-FFF2-40B4-BE49-F238E27FC236}">
                <a16:creationId xmlns:a16="http://schemas.microsoft.com/office/drawing/2014/main" id="{CA07605C-56E5-371E-133D-4E75145068C9}"/>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1021974"/>
            <a:ext cx="274320" cy="274320"/>
          </a:xfrm>
          <a:prstGeom prst="rect">
            <a:avLst/>
          </a:prstGeom>
        </p:spPr>
      </p:pic>
      <p:sp>
        <p:nvSpPr>
          <p:cNvPr id="86" name="Obj 2">
            <a:hlinkClick r:id="rId6" action="ppaction://hlinksldjump"/>
            <a:extLst>
              <a:ext uri="{FF2B5EF4-FFF2-40B4-BE49-F238E27FC236}">
                <a16:creationId xmlns:a16="http://schemas.microsoft.com/office/drawing/2014/main" id="{F113F6E6-40A5-F615-2F1C-419A02BE847C}"/>
              </a:ext>
            </a:extLst>
          </p:cNvPr>
          <p:cNvSpPr/>
          <p:nvPr/>
        </p:nvSpPr>
        <p:spPr>
          <a:xfrm>
            <a:off x="451412" y="1911074"/>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History</a:t>
            </a:r>
          </a:p>
        </p:txBody>
      </p:sp>
      <p:cxnSp>
        <p:nvCxnSpPr>
          <p:cNvPr id="90" name="Connector: Elbow 89">
            <a:extLst>
              <a:ext uri="{FF2B5EF4-FFF2-40B4-BE49-F238E27FC236}">
                <a16:creationId xmlns:a16="http://schemas.microsoft.com/office/drawing/2014/main" id="{BC48E424-301E-66E4-4439-F1FE936237D1}"/>
              </a:ext>
            </a:extLst>
          </p:cNvPr>
          <p:cNvCxnSpPr/>
          <p:nvPr/>
        </p:nvCxnSpPr>
        <p:spPr>
          <a:xfrm rot="16200000" flipH="1">
            <a:off x="169214" y="1818811"/>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B7AB7848-55F5-04E1-1BE4-B64C63FCBB06}"/>
              </a:ext>
            </a:extLst>
          </p:cNvPr>
          <p:cNvCxnSpPr>
            <a:cxnSpLocks/>
          </p:cNvCxnSpPr>
          <p:nvPr/>
        </p:nvCxnSpPr>
        <p:spPr>
          <a:xfrm rot="16200000" flipH="1">
            <a:off x="-115865" y="2103889"/>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2" name="Graphic 91" descr="Cursor with solid fill">
            <a:extLst>
              <a:ext uri="{FF2B5EF4-FFF2-40B4-BE49-F238E27FC236}">
                <a16:creationId xmlns:a16="http://schemas.microsoft.com/office/drawing/2014/main" id="{F77E194E-A6C9-E372-712F-32E63CC13646}"/>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8" y="2164929"/>
            <a:ext cx="274320" cy="274320"/>
          </a:xfrm>
          <a:prstGeom prst="rect">
            <a:avLst/>
          </a:prstGeom>
        </p:spPr>
      </p:pic>
      <p:sp>
        <p:nvSpPr>
          <p:cNvPr id="4" name="Obj 2">
            <a:hlinkClick r:id="rId7" action="ppaction://hlinksldjump"/>
            <a:extLst>
              <a:ext uri="{FF2B5EF4-FFF2-40B4-BE49-F238E27FC236}">
                <a16:creationId xmlns:a16="http://schemas.microsoft.com/office/drawing/2014/main" id="{8F69575F-1029-6805-361A-A1FCD83D4ED5}"/>
              </a:ext>
            </a:extLst>
          </p:cNvPr>
          <p:cNvSpPr/>
          <p:nvPr/>
        </p:nvSpPr>
        <p:spPr>
          <a:xfrm>
            <a:off x="184843" y="3609164"/>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5" name="Graphic 4" descr="Cursor with solid fill">
            <a:extLst>
              <a:ext uri="{FF2B5EF4-FFF2-40B4-BE49-F238E27FC236}">
                <a16:creationId xmlns:a16="http://schemas.microsoft.com/office/drawing/2014/main" id="{A4B47FCA-4F8B-B31B-7AAC-B2D580F18370}"/>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7" y="3855927"/>
            <a:ext cx="274320" cy="274320"/>
          </a:xfrm>
          <a:prstGeom prst="rect">
            <a:avLst/>
          </a:prstGeom>
        </p:spPr>
      </p:pic>
      <p:sp>
        <p:nvSpPr>
          <p:cNvPr id="6" name="Obj 2">
            <a:hlinkClick r:id="rId8" action="ppaction://hlinksldjump"/>
            <a:extLst>
              <a:ext uri="{FF2B5EF4-FFF2-40B4-BE49-F238E27FC236}">
                <a16:creationId xmlns:a16="http://schemas.microsoft.com/office/drawing/2014/main" id="{6EAEA5C6-CCE7-2084-47F6-BA319A44568D}"/>
              </a:ext>
            </a:extLst>
          </p:cNvPr>
          <p:cNvSpPr/>
          <p:nvPr/>
        </p:nvSpPr>
        <p:spPr>
          <a:xfrm>
            <a:off x="180147" y="3057967"/>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Management</a:t>
            </a:r>
          </a:p>
        </p:txBody>
      </p:sp>
      <p:sp>
        <p:nvSpPr>
          <p:cNvPr id="7" name="Obj 2">
            <a:hlinkClick r:id="rId9" action="ppaction://hlinksldjump"/>
            <a:extLst>
              <a:ext uri="{FF2B5EF4-FFF2-40B4-BE49-F238E27FC236}">
                <a16:creationId xmlns:a16="http://schemas.microsoft.com/office/drawing/2014/main" id="{3654DD8E-183A-7B5A-6EC9-6155E55DF77B}"/>
              </a:ext>
            </a:extLst>
          </p:cNvPr>
          <p:cNvSpPr/>
          <p:nvPr/>
        </p:nvSpPr>
        <p:spPr>
          <a:xfrm>
            <a:off x="451412" y="2481231"/>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9" name="Graphic 8" descr="Cursor with solid fill">
            <a:extLst>
              <a:ext uri="{FF2B5EF4-FFF2-40B4-BE49-F238E27FC236}">
                <a16:creationId xmlns:a16="http://schemas.microsoft.com/office/drawing/2014/main" id="{B6F8B3B7-7F1C-5229-36E3-3EC007C6AA6F}"/>
              </a:ext>
            </a:extLst>
          </p:cNvPr>
          <p:cNvPicPr>
            <a:picLocks/>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09427" y="2737670"/>
            <a:ext cx="274320" cy="274320"/>
          </a:xfrm>
          <a:prstGeom prst="rect">
            <a:avLst/>
          </a:prstGeom>
        </p:spPr>
      </p:pic>
      <p:sp>
        <p:nvSpPr>
          <p:cNvPr id="10" name="TextBox 9">
            <a:extLst>
              <a:ext uri="{FF2B5EF4-FFF2-40B4-BE49-F238E27FC236}">
                <a16:creationId xmlns:a16="http://schemas.microsoft.com/office/drawing/2014/main" id="{B41E4D69-B38F-F30D-EF06-AFC70780FCFE}"/>
              </a:ext>
            </a:extLst>
          </p:cNvPr>
          <p:cNvSpPr txBox="1"/>
          <p:nvPr/>
        </p:nvSpPr>
        <p:spPr>
          <a:xfrm>
            <a:off x="5139856" y="1497400"/>
            <a:ext cx="1298396" cy="338554"/>
          </a:xfrm>
          <a:prstGeom prst="rect">
            <a:avLst/>
          </a:prstGeom>
          <a:noFill/>
        </p:spPr>
        <p:txBody>
          <a:bodyPr wrap="square" rtlCol="0">
            <a:spAutoFit/>
          </a:bodyPr>
          <a:lstStyle/>
          <a:p>
            <a:r>
              <a:rPr lang="en-US" sz="1600" dirty="0">
                <a:solidFill>
                  <a:srgbClr val="FF0000"/>
                </a:solidFill>
              </a:rPr>
              <a:t>(signs of GIB)</a:t>
            </a:r>
          </a:p>
        </p:txBody>
      </p:sp>
      <p:sp>
        <p:nvSpPr>
          <p:cNvPr id="11" name="TextBox 10">
            <a:extLst>
              <a:ext uri="{FF2B5EF4-FFF2-40B4-BE49-F238E27FC236}">
                <a16:creationId xmlns:a16="http://schemas.microsoft.com/office/drawing/2014/main" id="{024C1FB7-F504-DF03-2A06-2074A85281E5}"/>
              </a:ext>
            </a:extLst>
          </p:cNvPr>
          <p:cNvSpPr txBox="1"/>
          <p:nvPr/>
        </p:nvSpPr>
        <p:spPr>
          <a:xfrm>
            <a:off x="5748713" y="1771628"/>
            <a:ext cx="2482001" cy="338554"/>
          </a:xfrm>
          <a:prstGeom prst="rect">
            <a:avLst/>
          </a:prstGeom>
          <a:noFill/>
        </p:spPr>
        <p:txBody>
          <a:bodyPr wrap="square" rtlCol="0">
            <a:spAutoFit/>
          </a:bodyPr>
          <a:lstStyle/>
          <a:p>
            <a:r>
              <a:rPr lang="en-US" sz="1600" dirty="0">
                <a:solidFill>
                  <a:srgbClr val="FF0000"/>
                </a:solidFill>
              </a:rPr>
              <a:t>(SBP&lt;90, HR&lt;40, murmur)</a:t>
            </a:r>
          </a:p>
        </p:txBody>
      </p:sp>
      <p:cxnSp>
        <p:nvCxnSpPr>
          <p:cNvPr id="12" name="Straight Connector 11">
            <a:extLst>
              <a:ext uri="{FF2B5EF4-FFF2-40B4-BE49-F238E27FC236}">
                <a16:creationId xmlns:a16="http://schemas.microsoft.com/office/drawing/2014/main" id="{848554C9-A390-8979-4462-94C18CD94E22}"/>
              </a:ext>
            </a:extLst>
          </p:cNvPr>
          <p:cNvCxnSpPr/>
          <p:nvPr/>
        </p:nvCxnSpPr>
        <p:spPr>
          <a:xfrm>
            <a:off x="3627621" y="6618508"/>
            <a:ext cx="8260575"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9975450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4"/>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5"/>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nextCondLst>
                <p:cond evt="onClick" delay="0">
                  <p:tgtEl>
                    <p:spTgt spid="54"/>
                  </p:tgtEl>
                </p:cond>
              </p:nextCondLst>
            </p:seq>
            <p:seq concurrent="1" nextAc="seek">
              <p:cTn id="11" restart="whenNotActive" fill="hold" evtFilter="cancelBubble" nodeType="interactiveSeq">
                <p:stCondLst>
                  <p:cond evt="onClick" delay="0">
                    <p:tgtEl>
                      <p:spTgt spid="52"/>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52"/>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53"/>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52"/>
                  </p:tgtEl>
                </p:cond>
              </p:nextCondLst>
            </p:seq>
            <p:seq concurrent="1" nextAc="seek">
              <p:cTn id="20" restart="whenNotActive" fill="hold" evtFilter="cancelBubble" nodeType="interactiveSeq">
                <p:stCondLst>
                  <p:cond evt="onClick" delay="0">
                    <p:tgtEl>
                      <p:spTgt spid="56"/>
                    </p:tgtEl>
                  </p:cond>
                </p:stCondLst>
                <p:endSync evt="end" delay="0">
                  <p:rtn val="all"/>
                </p:endSync>
                <p:childTnLst>
                  <p:par>
                    <p:cTn id="21" fill="hold">
                      <p:stCondLst>
                        <p:cond delay="0"/>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56"/>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57"/>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29" restart="whenNotActive" fill="hold" evtFilter="cancelBubble" nodeType="interactiveSeq">
                <p:stCondLst>
                  <p:cond evt="onClick" delay="0">
                    <p:tgtEl>
                      <p:spTgt spid="83"/>
                    </p:tgtEl>
                  </p:cond>
                </p:stCondLst>
                <p:endSync evt="end" delay="0">
                  <p:rtn val="all"/>
                </p:endSync>
                <p:childTnLst>
                  <p:par>
                    <p:cTn id="30" fill="hold">
                      <p:stCondLst>
                        <p:cond delay="0"/>
                      </p:stCondLst>
                      <p:childTnLst>
                        <p:par>
                          <p:cTn id="31" fill="hold">
                            <p:stCondLst>
                              <p:cond delay="0"/>
                            </p:stCondLst>
                            <p:childTnLst>
                              <p:par>
                                <p:cTn id="32" presetID="1" presetClass="exit" presetSubtype="0" fill="hold" grpId="0" nodeType="clickEffect">
                                  <p:stCondLst>
                                    <p:cond delay="0"/>
                                  </p:stCondLst>
                                  <p:childTnLst>
                                    <p:set>
                                      <p:cBhvr>
                                        <p:cTn id="33" dur="1" fill="hold">
                                          <p:stCondLst>
                                            <p:cond delay="0"/>
                                          </p:stCondLst>
                                        </p:cTn>
                                        <p:tgtEl>
                                          <p:spTgt spid="83"/>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84"/>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childTnLst>
                                </p:cTn>
                              </p:par>
                            </p:childTnLst>
                          </p:cTn>
                        </p:par>
                      </p:childTnLst>
                    </p:cTn>
                  </p:par>
                </p:childTnLst>
              </p:cTn>
              <p:nextCondLst>
                <p:cond evt="onClick" delay="0">
                  <p:tgtEl>
                    <p:spTgt spid="83"/>
                  </p:tgtEl>
                </p:cond>
              </p:nextCondLst>
            </p:seq>
            <p:seq concurrent="1" nextAc="seek">
              <p:cTn id="38" restart="whenNotActive" fill="hold" evtFilter="cancelBubble" nodeType="interactiveSeq">
                <p:stCondLst>
                  <p:cond evt="onClick" delay="0">
                    <p:tgtEl>
                      <p:spTgt spid="81"/>
                    </p:tgtEl>
                  </p:cond>
                </p:stCondLst>
                <p:endSync evt="end" delay="0">
                  <p:rtn val="all"/>
                </p:endSync>
                <p:childTnLst>
                  <p:par>
                    <p:cTn id="39" fill="hold">
                      <p:stCondLst>
                        <p:cond delay="0"/>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81"/>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82"/>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childTnLst>
              </p:cTn>
              <p:nextCondLst>
                <p:cond evt="onClick" delay="0">
                  <p:tgtEl>
                    <p:spTgt spid="81"/>
                  </p:tgtEl>
                </p:cond>
              </p:nextCondLst>
            </p:seq>
          </p:childTnLst>
        </p:cTn>
      </p:par>
    </p:tnLst>
    <p:bldLst>
      <p:bldP spid="2" grpId="0"/>
      <p:bldP spid="22" grpId="0"/>
      <p:bldP spid="23" grpId="0"/>
      <p:bldP spid="52" grpId="0" animBg="1"/>
      <p:bldP spid="54" grpId="0" animBg="1"/>
      <p:bldP spid="56" grpId="0" animBg="1"/>
      <p:bldP spid="78" grpId="0"/>
      <p:bldP spid="80" grpId="0"/>
      <p:bldP spid="81" grpId="0" animBg="1"/>
      <p:bldP spid="83"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01D6065-995E-5E14-0579-538274AD320D}"/>
              </a:ext>
            </a:extLst>
          </p:cNvPr>
          <p:cNvGraphicFramePr>
            <a:graphicFrameLocks noGrp="1"/>
          </p:cNvGraphicFramePr>
          <p:nvPr>
            <p:extLst>
              <p:ext uri="{D42A27DB-BD31-4B8C-83A1-F6EECF244321}">
                <p14:modId xmlns:p14="http://schemas.microsoft.com/office/powerpoint/2010/main" val="2266625089"/>
              </p:ext>
            </p:extLst>
          </p:nvPr>
        </p:nvGraphicFramePr>
        <p:xfrm>
          <a:off x="870314" y="392697"/>
          <a:ext cx="10661714" cy="6072605"/>
        </p:xfrm>
        <a:graphic>
          <a:graphicData uri="http://schemas.openxmlformats.org/drawingml/2006/table">
            <a:tbl>
              <a:tblPr firstRow="1" firstCol="1" bandRow="1">
                <a:tableStyleId>{9D7B26C5-4107-4FEC-AEDC-1716B250A1EF}</a:tableStyleId>
              </a:tblPr>
              <a:tblGrid>
                <a:gridCol w="1896352">
                  <a:extLst>
                    <a:ext uri="{9D8B030D-6E8A-4147-A177-3AD203B41FA5}">
                      <a16:colId xmlns:a16="http://schemas.microsoft.com/office/drawing/2014/main" val="1312730621"/>
                    </a:ext>
                  </a:extLst>
                </a:gridCol>
                <a:gridCol w="1896352">
                  <a:extLst>
                    <a:ext uri="{9D8B030D-6E8A-4147-A177-3AD203B41FA5}">
                      <a16:colId xmlns:a16="http://schemas.microsoft.com/office/drawing/2014/main" val="3694908829"/>
                    </a:ext>
                  </a:extLst>
                </a:gridCol>
                <a:gridCol w="3581998">
                  <a:extLst>
                    <a:ext uri="{9D8B030D-6E8A-4147-A177-3AD203B41FA5}">
                      <a16:colId xmlns:a16="http://schemas.microsoft.com/office/drawing/2014/main" val="318987929"/>
                    </a:ext>
                  </a:extLst>
                </a:gridCol>
                <a:gridCol w="3287012">
                  <a:extLst>
                    <a:ext uri="{9D8B030D-6E8A-4147-A177-3AD203B41FA5}">
                      <a16:colId xmlns:a16="http://schemas.microsoft.com/office/drawing/2014/main" val="3391333252"/>
                    </a:ext>
                  </a:extLst>
                </a:gridCol>
              </a:tblGrid>
              <a:tr h="768687">
                <a:tc>
                  <a:txBody>
                    <a:bodyPr/>
                    <a:lstStyle/>
                    <a:p>
                      <a:pPr marL="0" marR="0" algn="ctr">
                        <a:spcBef>
                          <a:spcPts val="0"/>
                        </a:spcBef>
                        <a:spcAft>
                          <a:spcPts val="0"/>
                        </a:spcAft>
                      </a:pPr>
                      <a:r>
                        <a:rPr lang="en-US" sz="1800" b="1" dirty="0">
                          <a:effectLst/>
                        </a:rPr>
                        <a:t>Type of monitor</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1" dirty="0">
                          <a:effectLst/>
                        </a:rPr>
                        <a:t>Duration of recording</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1" dirty="0">
                          <a:effectLst/>
                        </a:rPr>
                        <a:t>Details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1" dirty="0">
                          <a:effectLst/>
                        </a:rPr>
                        <a:t>Patient indications</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403998"/>
                  </a:ext>
                </a:extLst>
              </a:tr>
              <a:tr h="768687">
                <a:tc>
                  <a:txBody>
                    <a:bodyPr/>
                    <a:lstStyle/>
                    <a:p>
                      <a:pPr marL="0" marR="0" algn="ctr">
                        <a:spcBef>
                          <a:spcPts val="0"/>
                        </a:spcBef>
                        <a:spcAft>
                          <a:spcPts val="0"/>
                        </a:spcAft>
                      </a:pPr>
                      <a:r>
                        <a:rPr lang="en-US" sz="1800" b="0">
                          <a:effectLst/>
                        </a:rPr>
                        <a:t>Holter monitor</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24-72h</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Continuous recording</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Frequent symptoms likely to recur in 24-72h</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09195816"/>
                  </a:ext>
                </a:extLst>
              </a:tr>
              <a:tr h="1153030">
                <a:tc>
                  <a:txBody>
                    <a:bodyPr/>
                    <a:lstStyle/>
                    <a:p>
                      <a:pPr marL="0" marR="0" algn="ctr">
                        <a:spcBef>
                          <a:spcPts val="0"/>
                        </a:spcBef>
                        <a:spcAft>
                          <a:spcPts val="0"/>
                        </a:spcAft>
                      </a:pPr>
                      <a:r>
                        <a:rPr lang="en-US" sz="1800" b="0">
                          <a:effectLst/>
                        </a:rPr>
                        <a:t>Event (loop) monitor</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2-6 weeks</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Patient activated for events. </a:t>
                      </a:r>
                    </a:p>
                    <a:p>
                      <a:pPr marL="0" marR="0" algn="ctr">
                        <a:spcBef>
                          <a:spcPts val="0"/>
                        </a:spcBef>
                        <a:spcAft>
                          <a:spcPts val="0"/>
                        </a:spcAft>
                      </a:pPr>
                      <a:r>
                        <a:rPr lang="en-US" sz="1800" b="0">
                          <a:effectLst/>
                        </a:rPr>
                        <a:t> </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Frequent spontaneous symptoms + prodromal symptoms.</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16019536"/>
                  </a:ext>
                </a:extLst>
              </a:tr>
              <a:tr h="2229171">
                <a:tc>
                  <a:txBody>
                    <a:bodyPr/>
                    <a:lstStyle/>
                    <a:p>
                      <a:pPr marL="0" marR="0" algn="ctr">
                        <a:spcBef>
                          <a:spcPts val="0"/>
                        </a:spcBef>
                        <a:spcAft>
                          <a:spcPts val="0"/>
                        </a:spcAft>
                      </a:pPr>
                      <a:r>
                        <a:rPr lang="en-US" sz="1800" b="0">
                          <a:effectLst/>
                        </a:rPr>
                        <a:t>Patch monitor</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2 weeks</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dirty="0">
                          <a:effectLst/>
                        </a:rPr>
                        <a:t>Continuously records with patient trigger ability.</a:t>
                      </a:r>
                    </a:p>
                    <a:p>
                      <a:pPr marL="0" marR="0" algn="ctr">
                        <a:spcBef>
                          <a:spcPts val="0"/>
                        </a:spcBef>
                        <a:spcAft>
                          <a:spcPts val="0"/>
                        </a:spcAft>
                      </a:pPr>
                      <a:r>
                        <a:rPr lang="en-US" sz="1800" b="0" dirty="0">
                          <a:effectLst/>
                        </a:rPr>
                        <a:t>Less bulky and more comfortable</a:t>
                      </a:r>
                    </a:p>
                    <a:p>
                      <a:pPr marL="0" marR="0" algn="ctr">
                        <a:spcBef>
                          <a:spcPts val="0"/>
                        </a:spcBef>
                        <a:spcAft>
                          <a:spcPts val="0"/>
                        </a:spcAft>
                      </a:pPr>
                      <a:r>
                        <a:rPr lang="en-US" sz="1800" b="0" dirty="0">
                          <a:effectLst/>
                        </a:rPr>
                        <a:t>Only offers 1 lead recording</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Frequent spontaneous symptoms + prodromal symptoms.</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62847024"/>
                  </a:ext>
                </a:extLst>
              </a:tr>
              <a:tr h="1153030">
                <a:tc>
                  <a:txBody>
                    <a:bodyPr/>
                    <a:lstStyle/>
                    <a:p>
                      <a:pPr marL="0" marR="0" algn="ctr">
                        <a:spcBef>
                          <a:spcPts val="0"/>
                        </a:spcBef>
                        <a:spcAft>
                          <a:spcPts val="0"/>
                        </a:spcAft>
                      </a:pPr>
                      <a:r>
                        <a:rPr lang="en-US" sz="1800" b="0">
                          <a:effectLst/>
                        </a:rPr>
                        <a:t>Implantable loop recorder</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dirty="0">
                          <a:effectLst/>
                        </a:rPr>
                        <a:t>Years</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a:effectLst/>
                        </a:rPr>
                        <a:t>Requires surgery, subcutaneously implanted.</a:t>
                      </a:r>
                    </a:p>
                    <a:p>
                      <a:pPr marL="0" marR="0" algn="ctr">
                        <a:spcBef>
                          <a:spcPts val="0"/>
                        </a:spcBef>
                        <a:spcAft>
                          <a:spcPts val="0"/>
                        </a:spcAft>
                      </a:pPr>
                      <a:r>
                        <a:rPr lang="en-US" sz="1800" b="0">
                          <a:effectLst/>
                        </a:rPr>
                        <a:t>Triggered by patient/family </a:t>
                      </a:r>
                      <a:endParaRPr lang="en-US" sz="18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800" b="0" dirty="0">
                          <a:effectLst/>
                        </a:rPr>
                        <a:t>Recurrent, infrequent, unexplained syncope </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62191251"/>
                  </a:ext>
                </a:extLst>
              </a:tr>
            </a:tbl>
          </a:graphicData>
        </a:graphic>
      </p:graphicFrame>
    </p:spTree>
    <p:extLst>
      <p:ext uri="{BB962C8B-B14F-4D97-AF65-F5344CB8AC3E}">
        <p14:creationId xmlns:p14="http://schemas.microsoft.com/office/powerpoint/2010/main" val="219112270"/>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a:extLst>
              <a:ext uri="{FF2B5EF4-FFF2-40B4-BE49-F238E27FC236}">
                <a16:creationId xmlns:a16="http://schemas.microsoft.com/office/drawing/2014/main" id="{C5D94E4E-7F55-C644-B50A-24159D006B2F}"/>
              </a:ext>
            </a:extLst>
          </p:cNvPr>
          <p:cNvSpPr txBox="1"/>
          <p:nvPr/>
        </p:nvSpPr>
        <p:spPr>
          <a:xfrm>
            <a:off x="1308585" y="7554377"/>
            <a:ext cx="184731" cy="353609"/>
          </a:xfrm>
          <a:prstGeom prst="rect">
            <a:avLst/>
          </a:prstGeom>
          <a:noFill/>
        </p:spPr>
        <p:txBody>
          <a:bodyPr wrap="square" rtlCol="0">
            <a:spAutoFit/>
          </a:bodyPr>
          <a:lstStyle/>
          <a:p>
            <a:endParaRPr lang="en-US" dirty="0"/>
          </a:p>
        </p:txBody>
      </p:sp>
      <p:sp>
        <p:nvSpPr>
          <p:cNvPr id="155" name="Case 1">
            <a:extLst>
              <a:ext uri="{FF2B5EF4-FFF2-40B4-BE49-F238E27FC236}">
                <a16:creationId xmlns:a16="http://schemas.microsoft.com/office/drawing/2014/main" id="{C6994EAC-23D7-9744-A751-4C69C8FC93D4}"/>
              </a:ext>
            </a:extLst>
          </p:cNvPr>
          <p:cNvSpPr/>
          <p:nvPr/>
        </p:nvSpPr>
        <p:spPr>
          <a:xfrm>
            <a:off x="4189458" y="141458"/>
            <a:ext cx="1220024"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Case 1</a:t>
            </a:r>
          </a:p>
        </p:txBody>
      </p:sp>
      <p:cxnSp>
        <p:nvCxnSpPr>
          <p:cNvPr id="159" name="Straight Connector 158">
            <a:extLst>
              <a:ext uri="{FF2B5EF4-FFF2-40B4-BE49-F238E27FC236}">
                <a16:creationId xmlns:a16="http://schemas.microsoft.com/office/drawing/2014/main" id="{7FCB5360-731A-3F4B-8041-D08AFC4EE38D}"/>
              </a:ext>
            </a:extLst>
          </p:cNvPr>
          <p:cNvCxnSpPr>
            <a:cxnSpLocks/>
          </p:cNvCxnSpPr>
          <p:nvPr/>
        </p:nvCxnSpPr>
        <p:spPr>
          <a:xfrm>
            <a:off x="7081405" y="291131"/>
            <a:ext cx="0" cy="6451205"/>
          </a:xfrm>
          <a:prstGeom prst="line">
            <a:avLst/>
          </a:prstGeom>
          <a:ln w="38100"/>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E6ECDA44-EF05-AD4C-B1FF-67997EFEAA87}"/>
              </a:ext>
            </a:extLst>
          </p:cNvPr>
          <p:cNvSpPr txBox="1"/>
          <p:nvPr/>
        </p:nvSpPr>
        <p:spPr>
          <a:xfrm>
            <a:off x="2608149" y="599038"/>
            <a:ext cx="4297680" cy="738664"/>
          </a:xfrm>
          <a:prstGeom prst="rect">
            <a:avLst/>
          </a:prstGeom>
          <a:noFill/>
        </p:spPr>
        <p:txBody>
          <a:bodyPr wrap="square" rtlCol="0">
            <a:spAutoFit/>
          </a:bodyPr>
          <a:lstStyle/>
          <a:p>
            <a:r>
              <a:rPr lang="en-US" sz="1400" dirty="0"/>
              <a:t>21-year-old presents for syncope.</a:t>
            </a:r>
          </a:p>
          <a:p>
            <a:r>
              <a:rPr lang="en-US" sz="1400" dirty="0"/>
              <a:t>VS: 36.5C, HR 82, BP 112/87</a:t>
            </a:r>
          </a:p>
          <a:p>
            <a:r>
              <a:rPr lang="en-US" sz="1400" dirty="0"/>
              <a:t>Exam: no murmurs, otherwise normal</a:t>
            </a:r>
          </a:p>
        </p:txBody>
      </p:sp>
      <p:sp>
        <p:nvSpPr>
          <p:cNvPr id="200" name="TextBox 199">
            <a:extLst>
              <a:ext uri="{FF2B5EF4-FFF2-40B4-BE49-F238E27FC236}">
                <a16:creationId xmlns:a16="http://schemas.microsoft.com/office/drawing/2014/main" id="{47AE6318-B190-8543-ADDF-7E3909474C6F}"/>
              </a:ext>
            </a:extLst>
          </p:cNvPr>
          <p:cNvSpPr txBox="1"/>
          <p:nvPr/>
        </p:nvSpPr>
        <p:spPr>
          <a:xfrm>
            <a:off x="2567589" y="1845403"/>
            <a:ext cx="4223769" cy="954107"/>
          </a:xfrm>
          <a:prstGeom prst="rect">
            <a:avLst/>
          </a:prstGeom>
          <a:noFill/>
        </p:spPr>
        <p:txBody>
          <a:bodyPr wrap="square" rtlCol="0">
            <a:spAutoFit/>
          </a:bodyPr>
          <a:lstStyle/>
          <a:p>
            <a:pPr marL="173038" indent="-173038">
              <a:buFont typeface="Arial" panose="020B0604020202020204" pitchFamily="34" charset="0"/>
              <a:buChar char="•"/>
            </a:pPr>
            <a:r>
              <a:rPr lang="en-US" sz="1400" i="1" dirty="0"/>
              <a:t>Who</a:t>
            </a:r>
            <a:r>
              <a:rPr lang="en-US" sz="1400" dirty="0"/>
              <a:t>: history of depression on escitalopram</a:t>
            </a:r>
          </a:p>
          <a:p>
            <a:pPr marL="173038" indent="-173038">
              <a:buFont typeface="Arial" panose="020B0604020202020204" pitchFamily="34" charset="0"/>
              <a:buChar char="•"/>
            </a:pPr>
            <a:r>
              <a:rPr lang="en-US" sz="1400" i="1" dirty="0"/>
              <a:t>Where/how: </a:t>
            </a:r>
            <a:r>
              <a:rPr lang="en-US" sz="1400" dirty="0"/>
              <a:t>Occurred standing in line at the grocery store</a:t>
            </a:r>
          </a:p>
          <a:p>
            <a:pPr marL="173038" indent="-173038">
              <a:buFont typeface="Arial" panose="020B0604020202020204" pitchFamily="34" charset="0"/>
              <a:buChar char="•"/>
            </a:pPr>
            <a:r>
              <a:rPr lang="en-US" sz="1400" i="1" dirty="0"/>
              <a:t>Prodrome</a:t>
            </a:r>
            <a:r>
              <a:rPr lang="en-US" sz="1400" b="1" dirty="0"/>
              <a:t>: </a:t>
            </a:r>
            <a:r>
              <a:rPr lang="en-US" sz="1400" dirty="0"/>
              <a:t>Clamminess, tunnel vision</a:t>
            </a:r>
          </a:p>
        </p:txBody>
      </p:sp>
      <p:sp>
        <p:nvSpPr>
          <p:cNvPr id="12" name="TextBox 11">
            <a:extLst>
              <a:ext uri="{FF2B5EF4-FFF2-40B4-BE49-F238E27FC236}">
                <a16:creationId xmlns:a16="http://schemas.microsoft.com/office/drawing/2014/main" id="{03B547D2-5773-B14C-8164-8844188F4328}"/>
              </a:ext>
            </a:extLst>
          </p:cNvPr>
          <p:cNvSpPr txBox="1"/>
          <p:nvPr/>
        </p:nvSpPr>
        <p:spPr>
          <a:xfrm>
            <a:off x="2556320" y="3499492"/>
            <a:ext cx="4253611" cy="738664"/>
          </a:xfrm>
          <a:prstGeom prst="rect">
            <a:avLst/>
          </a:prstGeom>
          <a:noFill/>
        </p:spPr>
        <p:txBody>
          <a:bodyPr wrap="square" rtlCol="0">
            <a:spAutoFit/>
          </a:bodyPr>
          <a:lstStyle/>
          <a:p>
            <a:pPr algn="ctr"/>
            <a:r>
              <a:rPr lang="en-US" sz="1400" b="1" dirty="0"/>
              <a:t>EKG: </a:t>
            </a:r>
            <a:r>
              <a:rPr lang="en-US" sz="1400" dirty="0"/>
              <a:t>normal sinus rhythm with normal intervals, no signs of chamber hypertrophy or prior ischemia. </a:t>
            </a:r>
          </a:p>
          <a:p>
            <a:pPr algn="ctr"/>
            <a:r>
              <a:rPr lang="en-US" sz="1400" dirty="0"/>
              <a:t>Routine labs are not needed. </a:t>
            </a:r>
            <a:endParaRPr lang="en-US" sz="1400" b="1" dirty="0"/>
          </a:p>
        </p:txBody>
      </p:sp>
      <p:sp>
        <p:nvSpPr>
          <p:cNvPr id="13" name="TextBox 12">
            <a:extLst>
              <a:ext uri="{FF2B5EF4-FFF2-40B4-BE49-F238E27FC236}">
                <a16:creationId xmlns:a16="http://schemas.microsoft.com/office/drawing/2014/main" id="{25CEE8F0-D301-204A-8CE9-4265A8BCD5F2}"/>
              </a:ext>
            </a:extLst>
          </p:cNvPr>
          <p:cNvSpPr txBox="1"/>
          <p:nvPr/>
        </p:nvSpPr>
        <p:spPr>
          <a:xfrm>
            <a:off x="2592748" y="4731360"/>
            <a:ext cx="4313081" cy="307777"/>
          </a:xfrm>
          <a:prstGeom prst="rect">
            <a:avLst/>
          </a:prstGeom>
          <a:noFill/>
        </p:spPr>
        <p:txBody>
          <a:bodyPr wrap="square" rtlCol="0">
            <a:spAutoFit/>
          </a:bodyPr>
          <a:lstStyle/>
          <a:p>
            <a:pPr algn="ctr"/>
            <a:r>
              <a:rPr lang="en-US" sz="1400" dirty="0"/>
              <a:t>Vasovagal</a:t>
            </a:r>
            <a:r>
              <a:rPr lang="en-US" sz="1400" b="1" dirty="0"/>
              <a:t> </a:t>
            </a:r>
            <a:r>
              <a:rPr lang="en-US" sz="1400" dirty="0"/>
              <a:t>syncope</a:t>
            </a:r>
          </a:p>
        </p:txBody>
      </p:sp>
      <p:sp>
        <p:nvSpPr>
          <p:cNvPr id="174" name="History">
            <a:extLst>
              <a:ext uri="{FF2B5EF4-FFF2-40B4-BE49-F238E27FC236}">
                <a16:creationId xmlns:a16="http://schemas.microsoft.com/office/drawing/2014/main" id="{C29582F2-6621-004F-9A56-7A6FD49A8FB5}"/>
              </a:ext>
            </a:extLst>
          </p:cNvPr>
          <p:cNvSpPr/>
          <p:nvPr/>
        </p:nvSpPr>
        <p:spPr>
          <a:xfrm>
            <a:off x="2562754" y="1380068"/>
            <a:ext cx="4297680" cy="365760"/>
          </a:xfrm>
          <a:prstGeom prst="roundRect">
            <a:avLst>
              <a:gd name="adj" fmla="val 9856"/>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history is important to obtain?</a:t>
            </a:r>
          </a:p>
        </p:txBody>
      </p:sp>
      <p:sp>
        <p:nvSpPr>
          <p:cNvPr id="22" name="TextBox 21">
            <a:extLst>
              <a:ext uri="{FF2B5EF4-FFF2-40B4-BE49-F238E27FC236}">
                <a16:creationId xmlns:a16="http://schemas.microsoft.com/office/drawing/2014/main" id="{FA7B76B2-E243-C34B-8E36-F139A71BE1DE}"/>
              </a:ext>
            </a:extLst>
          </p:cNvPr>
          <p:cNvSpPr txBox="1"/>
          <p:nvPr/>
        </p:nvSpPr>
        <p:spPr>
          <a:xfrm>
            <a:off x="2608148" y="6455570"/>
            <a:ext cx="4201783" cy="307777"/>
          </a:xfrm>
          <a:prstGeom prst="rect">
            <a:avLst/>
          </a:prstGeom>
          <a:noFill/>
        </p:spPr>
        <p:txBody>
          <a:bodyPr wrap="square" rtlCol="0">
            <a:spAutoFit/>
          </a:bodyPr>
          <a:lstStyle/>
          <a:p>
            <a:pPr algn="ctr"/>
            <a:r>
              <a:rPr lang="en-US" sz="1400" dirty="0"/>
              <a:t>Provide reassurance</a:t>
            </a:r>
          </a:p>
        </p:txBody>
      </p:sp>
      <p:sp>
        <p:nvSpPr>
          <p:cNvPr id="23" name="TextBox 22">
            <a:extLst>
              <a:ext uri="{FF2B5EF4-FFF2-40B4-BE49-F238E27FC236}">
                <a16:creationId xmlns:a16="http://schemas.microsoft.com/office/drawing/2014/main" id="{3BE5CD57-A12D-FC44-AE5F-94FCBE4FD363}"/>
              </a:ext>
            </a:extLst>
          </p:cNvPr>
          <p:cNvSpPr txBox="1"/>
          <p:nvPr/>
        </p:nvSpPr>
        <p:spPr>
          <a:xfrm>
            <a:off x="2608149" y="5636023"/>
            <a:ext cx="4229967" cy="307777"/>
          </a:xfrm>
          <a:prstGeom prst="rect">
            <a:avLst/>
          </a:prstGeom>
          <a:noFill/>
        </p:spPr>
        <p:txBody>
          <a:bodyPr wrap="square" rtlCol="0">
            <a:spAutoFit/>
          </a:bodyPr>
          <a:lstStyle/>
          <a:p>
            <a:pPr algn="ctr"/>
            <a:r>
              <a:rPr lang="en-US" sz="1400" dirty="0"/>
              <a:t>Outpatient </a:t>
            </a:r>
          </a:p>
        </p:txBody>
      </p:sp>
      <p:sp>
        <p:nvSpPr>
          <p:cNvPr id="176" name="Initial tests">
            <a:extLst>
              <a:ext uri="{FF2B5EF4-FFF2-40B4-BE49-F238E27FC236}">
                <a16:creationId xmlns:a16="http://schemas.microsoft.com/office/drawing/2014/main" id="{2C16EDF7-8C7D-FB47-A9A3-84F35C22870A}"/>
              </a:ext>
            </a:extLst>
          </p:cNvPr>
          <p:cNvSpPr/>
          <p:nvPr/>
        </p:nvSpPr>
        <p:spPr>
          <a:xfrm>
            <a:off x="2562754" y="3055814"/>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initial tests would you order?</a:t>
            </a:r>
          </a:p>
        </p:txBody>
      </p:sp>
      <p:sp>
        <p:nvSpPr>
          <p:cNvPr id="239" name="What is the diagnosis">
            <a:extLst>
              <a:ext uri="{FF2B5EF4-FFF2-40B4-BE49-F238E27FC236}">
                <a16:creationId xmlns:a16="http://schemas.microsoft.com/office/drawing/2014/main" id="{8EEDD259-F2D2-C940-97B8-723333BE132F}"/>
              </a:ext>
            </a:extLst>
          </p:cNvPr>
          <p:cNvSpPr/>
          <p:nvPr/>
        </p:nvSpPr>
        <p:spPr>
          <a:xfrm>
            <a:off x="2562754" y="4306574"/>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is the most likely diagnosis?</a:t>
            </a:r>
          </a:p>
        </p:txBody>
      </p:sp>
      <p:sp>
        <p:nvSpPr>
          <p:cNvPr id="241" name="Wouldl you admit">
            <a:extLst>
              <a:ext uri="{FF2B5EF4-FFF2-40B4-BE49-F238E27FC236}">
                <a16:creationId xmlns:a16="http://schemas.microsoft.com/office/drawing/2014/main" id="{E736528C-8F05-1148-B0A3-143AC8390894}"/>
              </a:ext>
            </a:extLst>
          </p:cNvPr>
          <p:cNvSpPr/>
          <p:nvPr/>
        </p:nvSpPr>
        <p:spPr>
          <a:xfrm>
            <a:off x="2562754" y="6010648"/>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How would you treat this patient?</a:t>
            </a:r>
          </a:p>
        </p:txBody>
      </p:sp>
      <p:sp>
        <p:nvSpPr>
          <p:cNvPr id="243" name="How would you treat">
            <a:extLst>
              <a:ext uri="{FF2B5EF4-FFF2-40B4-BE49-F238E27FC236}">
                <a16:creationId xmlns:a16="http://schemas.microsoft.com/office/drawing/2014/main" id="{5B079610-7AD9-4D49-9082-F8E533C194C6}"/>
              </a:ext>
            </a:extLst>
          </p:cNvPr>
          <p:cNvSpPr/>
          <p:nvPr/>
        </p:nvSpPr>
        <p:spPr>
          <a:xfrm>
            <a:off x="2562754" y="5185548"/>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Where would you treat this patient?</a:t>
            </a:r>
          </a:p>
        </p:txBody>
      </p:sp>
      <p:pic>
        <p:nvPicPr>
          <p:cNvPr id="3" name="Graphic 2" descr="Cursor with solid fill">
            <a:extLst>
              <a:ext uri="{FF2B5EF4-FFF2-40B4-BE49-F238E27FC236}">
                <a16:creationId xmlns:a16="http://schemas.microsoft.com/office/drawing/2014/main" id="{761255CF-5287-1256-A8A6-3A70ED545EB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3311901"/>
            <a:ext cx="274320" cy="274320"/>
          </a:xfrm>
          <a:prstGeom prst="rect">
            <a:avLst/>
          </a:prstGeom>
        </p:spPr>
      </p:pic>
      <p:pic>
        <p:nvPicPr>
          <p:cNvPr id="6" name="Graphic 5" descr="Cursor with solid fill">
            <a:extLst>
              <a:ext uri="{FF2B5EF4-FFF2-40B4-BE49-F238E27FC236}">
                <a16:creationId xmlns:a16="http://schemas.microsoft.com/office/drawing/2014/main" id="{D4F5F054-57DD-A659-A2A7-5EF08F9F54D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6284242"/>
            <a:ext cx="274320" cy="274320"/>
          </a:xfrm>
          <a:prstGeom prst="rect">
            <a:avLst/>
          </a:prstGeom>
        </p:spPr>
      </p:pic>
      <p:pic>
        <p:nvPicPr>
          <p:cNvPr id="7" name="Graphic 6" descr="Cursor with solid fill">
            <a:extLst>
              <a:ext uri="{FF2B5EF4-FFF2-40B4-BE49-F238E27FC236}">
                <a16:creationId xmlns:a16="http://schemas.microsoft.com/office/drawing/2014/main" id="{953B92AE-1BA6-2E56-4B01-2095C0C66ED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5460938"/>
            <a:ext cx="274320" cy="274320"/>
          </a:xfrm>
          <a:prstGeom prst="rect">
            <a:avLst/>
          </a:prstGeom>
        </p:spPr>
      </p:pic>
      <p:pic>
        <p:nvPicPr>
          <p:cNvPr id="8" name="Graphic 7" descr="Cursor with solid fill">
            <a:extLst>
              <a:ext uri="{FF2B5EF4-FFF2-40B4-BE49-F238E27FC236}">
                <a16:creationId xmlns:a16="http://schemas.microsoft.com/office/drawing/2014/main" id="{FB59639C-690A-1F3C-60DD-0CD9141CFF3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4573558"/>
            <a:ext cx="274320" cy="274320"/>
          </a:xfrm>
          <a:prstGeom prst="rect">
            <a:avLst/>
          </a:prstGeom>
        </p:spPr>
      </p:pic>
      <p:pic>
        <p:nvPicPr>
          <p:cNvPr id="10" name="Graphic 9" descr="Cursor with solid fill">
            <a:extLst>
              <a:ext uri="{FF2B5EF4-FFF2-40B4-BE49-F238E27FC236}">
                <a16:creationId xmlns:a16="http://schemas.microsoft.com/office/drawing/2014/main" id="{B36BF02D-A3FE-2900-418A-7AFDBC2CA71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1644272"/>
            <a:ext cx="274320" cy="274320"/>
          </a:xfrm>
          <a:prstGeom prst="rect">
            <a:avLst/>
          </a:prstGeom>
        </p:spPr>
      </p:pic>
      <p:pic>
        <p:nvPicPr>
          <p:cNvPr id="18" name="Graphic 17" descr="Cursor with solid fill">
            <a:extLst>
              <a:ext uri="{FF2B5EF4-FFF2-40B4-BE49-F238E27FC236}">
                <a16:creationId xmlns:a16="http://schemas.microsoft.com/office/drawing/2014/main" id="{8F14197F-7478-1AF5-9FAD-17AB5E72B9B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1212" y="385045"/>
            <a:ext cx="274320" cy="274320"/>
          </a:xfrm>
          <a:prstGeom prst="rect">
            <a:avLst/>
          </a:prstGeom>
        </p:spPr>
      </p:pic>
      <p:sp>
        <p:nvSpPr>
          <p:cNvPr id="5" name="Obj 2">
            <a:hlinkClick r:id="rId5" action="ppaction://hlinksldjump"/>
            <a:extLst>
              <a:ext uri="{FF2B5EF4-FFF2-40B4-BE49-F238E27FC236}">
                <a16:creationId xmlns:a16="http://schemas.microsoft.com/office/drawing/2014/main" id="{CA92FB1F-FDB1-367B-8B1E-A8CCFAFD29CF}"/>
              </a:ext>
            </a:extLst>
          </p:cNvPr>
          <p:cNvSpPr/>
          <p:nvPr/>
        </p:nvSpPr>
        <p:spPr>
          <a:xfrm>
            <a:off x="18484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sp>
        <p:nvSpPr>
          <p:cNvPr id="14" name="Obj 2">
            <a:hlinkClick r:id="rId6" action="ppaction://hlinksldjump"/>
            <a:extLst>
              <a:ext uri="{FF2B5EF4-FFF2-40B4-BE49-F238E27FC236}">
                <a16:creationId xmlns:a16="http://schemas.microsoft.com/office/drawing/2014/main" id="{61AC4C77-4DC6-68D4-B81E-07057558505C}"/>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20" name="Obj 2">
            <a:hlinkClick r:id="rId7" action="ppaction://hlinksldjump"/>
            <a:extLst>
              <a:ext uri="{FF2B5EF4-FFF2-40B4-BE49-F238E27FC236}">
                <a16:creationId xmlns:a16="http://schemas.microsoft.com/office/drawing/2014/main" id="{23AA5EEA-1290-5459-54DC-AD0D77804EE5}"/>
              </a:ext>
            </a:extLst>
          </p:cNvPr>
          <p:cNvSpPr/>
          <p:nvPr/>
        </p:nvSpPr>
        <p:spPr>
          <a:xfrm>
            <a:off x="184843" y="1347266"/>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sp>
        <p:nvSpPr>
          <p:cNvPr id="24" name="Obj 2">
            <a:hlinkClick r:id="rId8" action="ppaction://hlinksldjump"/>
            <a:extLst>
              <a:ext uri="{FF2B5EF4-FFF2-40B4-BE49-F238E27FC236}">
                <a16:creationId xmlns:a16="http://schemas.microsoft.com/office/drawing/2014/main" id="{F927C624-7B6D-B8E4-00DB-B38249ABCE76}"/>
              </a:ext>
            </a:extLst>
          </p:cNvPr>
          <p:cNvSpPr/>
          <p:nvPr/>
        </p:nvSpPr>
        <p:spPr>
          <a:xfrm>
            <a:off x="172579" y="2489886"/>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Cases</a:t>
            </a:r>
          </a:p>
        </p:txBody>
      </p:sp>
      <p:pic>
        <p:nvPicPr>
          <p:cNvPr id="25" name="Graphic 24" descr="Cursor with solid fill">
            <a:extLst>
              <a:ext uri="{FF2B5EF4-FFF2-40B4-BE49-F238E27FC236}">
                <a16:creationId xmlns:a16="http://schemas.microsoft.com/office/drawing/2014/main" id="{1F09A3E4-D697-20E2-41C6-0F139793904F}"/>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454521"/>
            <a:ext cx="274320" cy="274320"/>
          </a:xfrm>
          <a:prstGeom prst="rect">
            <a:avLst/>
          </a:prstGeom>
        </p:spPr>
      </p:pic>
      <p:pic>
        <p:nvPicPr>
          <p:cNvPr id="26" name="Graphic 25" descr="Cursor with solid fill">
            <a:extLst>
              <a:ext uri="{FF2B5EF4-FFF2-40B4-BE49-F238E27FC236}">
                <a16:creationId xmlns:a16="http://schemas.microsoft.com/office/drawing/2014/main" id="{CD79AAA5-4F58-4D9B-33CF-75E702DA82BD}"/>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021974"/>
            <a:ext cx="274320" cy="274320"/>
          </a:xfrm>
          <a:prstGeom prst="rect">
            <a:avLst/>
          </a:prstGeom>
        </p:spPr>
      </p:pic>
      <p:pic>
        <p:nvPicPr>
          <p:cNvPr id="27" name="Graphic 26" descr="Cursor with solid fill">
            <a:extLst>
              <a:ext uri="{FF2B5EF4-FFF2-40B4-BE49-F238E27FC236}">
                <a16:creationId xmlns:a16="http://schemas.microsoft.com/office/drawing/2014/main" id="{98F44183-F642-450D-C675-0404B8AE7C68}"/>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593107"/>
            <a:ext cx="274320" cy="274320"/>
          </a:xfrm>
          <a:prstGeom prst="rect">
            <a:avLst/>
          </a:prstGeom>
        </p:spPr>
      </p:pic>
      <p:sp>
        <p:nvSpPr>
          <p:cNvPr id="32" name="Case 1">
            <a:extLst>
              <a:ext uri="{FF2B5EF4-FFF2-40B4-BE49-F238E27FC236}">
                <a16:creationId xmlns:a16="http://schemas.microsoft.com/office/drawing/2014/main" id="{E8876099-2A30-9284-A391-0F1446B9A3FE}"/>
              </a:ext>
            </a:extLst>
          </p:cNvPr>
          <p:cNvSpPr/>
          <p:nvPr/>
        </p:nvSpPr>
        <p:spPr>
          <a:xfrm>
            <a:off x="8951397" y="140993"/>
            <a:ext cx="1220024"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Case 2</a:t>
            </a:r>
          </a:p>
        </p:txBody>
      </p:sp>
      <p:sp>
        <p:nvSpPr>
          <p:cNvPr id="34" name="TextBox 33">
            <a:extLst>
              <a:ext uri="{FF2B5EF4-FFF2-40B4-BE49-F238E27FC236}">
                <a16:creationId xmlns:a16="http://schemas.microsoft.com/office/drawing/2014/main" id="{E3089DBA-70FD-A02D-557E-2B5B94AD7927}"/>
              </a:ext>
            </a:extLst>
          </p:cNvPr>
          <p:cNvSpPr txBox="1"/>
          <p:nvPr/>
        </p:nvSpPr>
        <p:spPr>
          <a:xfrm>
            <a:off x="7370088" y="598573"/>
            <a:ext cx="4297680" cy="1000274"/>
          </a:xfrm>
          <a:prstGeom prst="rect">
            <a:avLst/>
          </a:prstGeom>
          <a:noFill/>
        </p:spPr>
        <p:txBody>
          <a:bodyPr wrap="square" rtlCol="0">
            <a:spAutoFit/>
          </a:bodyPr>
          <a:lstStyle/>
          <a:p>
            <a:r>
              <a:rPr lang="en-US" sz="1400" dirty="0"/>
              <a:t>56-year-old with HTN, chronic venous stasis presents with syncope. VS: 36.5C, HR 112, BP 112/87</a:t>
            </a:r>
          </a:p>
          <a:p>
            <a:endParaRPr lang="en-US" sz="300" dirty="0"/>
          </a:p>
          <a:p>
            <a:r>
              <a:rPr lang="en-US" sz="1400" dirty="0"/>
              <a:t>Exam: no murmurs, dry mucus membranes, poor skin turgor.</a:t>
            </a:r>
          </a:p>
        </p:txBody>
      </p:sp>
      <p:sp>
        <p:nvSpPr>
          <p:cNvPr id="35" name="TextBox 34">
            <a:extLst>
              <a:ext uri="{FF2B5EF4-FFF2-40B4-BE49-F238E27FC236}">
                <a16:creationId xmlns:a16="http://schemas.microsoft.com/office/drawing/2014/main" id="{067E4DE3-DC67-0FB1-A9DA-C45B2EACAA5D}"/>
              </a:ext>
            </a:extLst>
          </p:cNvPr>
          <p:cNvSpPr txBox="1"/>
          <p:nvPr/>
        </p:nvSpPr>
        <p:spPr>
          <a:xfrm>
            <a:off x="7348101" y="2077071"/>
            <a:ext cx="4223769" cy="738664"/>
          </a:xfrm>
          <a:prstGeom prst="rect">
            <a:avLst/>
          </a:prstGeom>
          <a:noFill/>
        </p:spPr>
        <p:txBody>
          <a:bodyPr wrap="square" rtlCol="0">
            <a:spAutoFit/>
          </a:bodyPr>
          <a:lstStyle/>
          <a:p>
            <a:pPr marL="173038" indent="-173038">
              <a:buFont typeface="Arial" panose="020B0604020202020204" pitchFamily="34" charset="0"/>
              <a:buChar char="•"/>
            </a:pPr>
            <a:r>
              <a:rPr lang="en-US" sz="1400" i="1" dirty="0"/>
              <a:t>Who</a:t>
            </a:r>
            <a:r>
              <a:rPr lang="en-US" sz="1400" dirty="0"/>
              <a:t>: history of HTN on lisinopril. Recent GI illness. </a:t>
            </a:r>
          </a:p>
          <a:p>
            <a:pPr marL="173038" indent="-173038">
              <a:buFont typeface="Arial" panose="020B0604020202020204" pitchFamily="34" charset="0"/>
              <a:buChar char="•"/>
            </a:pPr>
            <a:r>
              <a:rPr lang="en-US" sz="1400" i="1" dirty="0"/>
              <a:t>Where/how: </a:t>
            </a:r>
            <a:r>
              <a:rPr lang="en-US" sz="1400" dirty="0"/>
              <a:t>Occurred while standing up</a:t>
            </a:r>
          </a:p>
          <a:p>
            <a:pPr marL="173038" indent="-173038">
              <a:buFont typeface="Arial" panose="020B0604020202020204" pitchFamily="34" charset="0"/>
              <a:buChar char="•"/>
            </a:pPr>
            <a:r>
              <a:rPr lang="en-US" sz="1400" i="1" dirty="0"/>
              <a:t>Prodrome</a:t>
            </a:r>
            <a:r>
              <a:rPr lang="en-US" sz="1400" b="1" dirty="0"/>
              <a:t>: </a:t>
            </a:r>
            <a:r>
              <a:rPr lang="en-US" sz="1400" dirty="0"/>
              <a:t>light-headedness and dizziness</a:t>
            </a:r>
          </a:p>
        </p:txBody>
      </p:sp>
      <p:sp>
        <p:nvSpPr>
          <p:cNvPr id="36" name="TextBox 35">
            <a:extLst>
              <a:ext uri="{FF2B5EF4-FFF2-40B4-BE49-F238E27FC236}">
                <a16:creationId xmlns:a16="http://schemas.microsoft.com/office/drawing/2014/main" id="{81243F15-7265-96B9-227F-EFEE02DD4472}"/>
              </a:ext>
            </a:extLst>
          </p:cNvPr>
          <p:cNvSpPr txBox="1"/>
          <p:nvPr/>
        </p:nvSpPr>
        <p:spPr>
          <a:xfrm>
            <a:off x="7234320" y="3363684"/>
            <a:ext cx="4570752" cy="738664"/>
          </a:xfrm>
          <a:prstGeom prst="rect">
            <a:avLst/>
          </a:prstGeom>
          <a:noFill/>
        </p:spPr>
        <p:txBody>
          <a:bodyPr wrap="square" rtlCol="0">
            <a:spAutoFit/>
          </a:bodyPr>
          <a:lstStyle/>
          <a:p>
            <a:pPr algn="ctr"/>
            <a:r>
              <a:rPr lang="en-US" sz="1400" b="1" dirty="0" err="1"/>
              <a:t>Orthostatics</a:t>
            </a:r>
            <a:r>
              <a:rPr lang="en-US" sz="1400" b="1" dirty="0"/>
              <a:t>: </a:t>
            </a:r>
            <a:r>
              <a:rPr lang="en-US" sz="1400" dirty="0"/>
              <a:t>HR 112, BP 112/70 </a:t>
            </a:r>
            <a:r>
              <a:rPr lang="en-US" sz="1400" dirty="0">
                <a:sym typeface="Wingdings" pitchFamily="2" charset="2"/>
              </a:rPr>
              <a:t> HR 130, BP 85/40 </a:t>
            </a:r>
          </a:p>
          <a:p>
            <a:pPr algn="ctr"/>
            <a:r>
              <a:rPr lang="en-US" sz="1400" b="1" dirty="0"/>
              <a:t>ECG</a:t>
            </a:r>
            <a:r>
              <a:rPr lang="en-US" sz="1400" dirty="0"/>
              <a:t>: sinus tachycardia </a:t>
            </a:r>
          </a:p>
          <a:p>
            <a:pPr algn="ctr"/>
            <a:r>
              <a:rPr lang="en-US" sz="1400" b="1" dirty="0"/>
              <a:t>CBC</a:t>
            </a:r>
            <a:r>
              <a:rPr lang="en-US" sz="1400" dirty="0"/>
              <a:t> normal, Na 132, K 3.2, bicarb 18, Cr 1.8, lactate 2.5</a:t>
            </a:r>
          </a:p>
        </p:txBody>
      </p:sp>
      <p:sp>
        <p:nvSpPr>
          <p:cNvPr id="37" name="TextBox 36">
            <a:extLst>
              <a:ext uri="{FF2B5EF4-FFF2-40B4-BE49-F238E27FC236}">
                <a16:creationId xmlns:a16="http://schemas.microsoft.com/office/drawing/2014/main" id="{4C7CE037-05D5-316A-D5D7-D81B4AB352FC}"/>
              </a:ext>
            </a:extLst>
          </p:cNvPr>
          <p:cNvSpPr txBox="1"/>
          <p:nvPr/>
        </p:nvSpPr>
        <p:spPr>
          <a:xfrm>
            <a:off x="7354687" y="4583331"/>
            <a:ext cx="4313081" cy="307777"/>
          </a:xfrm>
          <a:prstGeom prst="rect">
            <a:avLst/>
          </a:prstGeom>
          <a:noFill/>
        </p:spPr>
        <p:txBody>
          <a:bodyPr wrap="square" rtlCol="0">
            <a:spAutoFit/>
          </a:bodyPr>
          <a:lstStyle/>
          <a:p>
            <a:pPr algn="ctr"/>
            <a:r>
              <a:rPr lang="en-US" sz="1400" dirty="0"/>
              <a:t>Orthostatic hypotension</a:t>
            </a:r>
          </a:p>
        </p:txBody>
      </p:sp>
      <p:sp>
        <p:nvSpPr>
          <p:cNvPr id="38" name="History">
            <a:extLst>
              <a:ext uri="{FF2B5EF4-FFF2-40B4-BE49-F238E27FC236}">
                <a16:creationId xmlns:a16="http://schemas.microsoft.com/office/drawing/2014/main" id="{F5E0B21F-55C8-5406-548E-6963CAE5C1F0}"/>
              </a:ext>
            </a:extLst>
          </p:cNvPr>
          <p:cNvSpPr/>
          <p:nvPr/>
        </p:nvSpPr>
        <p:spPr>
          <a:xfrm>
            <a:off x="7324693" y="1658822"/>
            <a:ext cx="4297680" cy="365760"/>
          </a:xfrm>
          <a:prstGeom prst="roundRect">
            <a:avLst>
              <a:gd name="adj" fmla="val 9856"/>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history is important to obtain?</a:t>
            </a:r>
          </a:p>
        </p:txBody>
      </p:sp>
      <p:sp>
        <p:nvSpPr>
          <p:cNvPr id="39" name="TextBox 38">
            <a:extLst>
              <a:ext uri="{FF2B5EF4-FFF2-40B4-BE49-F238E27FC236}">
                <a16:creationId xmlns:a16="http://schemas.microsoft.com/office/drawing/2014/main" id="{56495BB3-AEC6-C607-1512-D4F6E671259A}"/>
              </a:ext>
            </a:extLst>
          </p:cNvPr>
          <p:cNvSpPr txBox="1"/>
          <p:nvPr/>
        </p:nvSpPr>
        <p:spPr>
          <a:xfrm>
            <a:off x="7370087" y="6385269"/>
            <a:ext cx="4201783" cy="307777"/>
          </a:xfrm>
          <a:prstGeom prst="rect">
            <a:avLst/>
          </a:prstGeom>
          <a:noFill/>
        </p:spPr>
        <p:txBody>
          <a:bodyPr wrap="square" rtlCol="0">
            <a:spAutoFit/>
          </a:bodyPr>
          <a:lstStyle/>
          <a:p>
            <a:pPr algn="ctr"/>
            <a:r>
              <a:rPr lang="en-US" sz="1400" dirty="0"/>
              <a:t>IVF resuscitation, hold BP medications</a:t>
            </a:r>
          </a:p>
        </p:txBody>
      </p:sp>
      <p:sp>
        <p:nvSpPr>
          <p:cNvPr id="40" name="TextBox 39">
            <a:extLst>
              <a:ext uri="{FF2B5EF4-FFF2-40B4-BE49-F238E27FC236}">
                <a16:creationId xmlns:a16="http://schemas.microsoft.com/office/drawing/2014/main" id="{6AF67890-3FCD-C135-75F5-670DAD9F42F0}"/>
              </a:ext>
            </a:extLst>
          </p:cNvPr>
          <p:cNvSpPr txBox="1"/>
          <p:nvPr/>
        </p:nvSpPr>
        <p:spPr>
          <a:xfrm>
            <a:off x="7348101" y="5397696"/>
            <a:ext cx="4223769" cy="523220"/>
          </a:xfrm>
          <a:prstGeom prst="rect">
            <a:avLst/>
          </a:prstGeom>
          <a:noFill/>
        </p:spPr>
        <p:txBody>
          <a:bodyPr wrap="square" rtlCol="0">
            <a:spAutoFit/>
          </a:bodyPr>
          <a:lstStyle/>
          <a:p>
            <a:pPr algn="ctr"/>
            <a:r>
              <a:rPr lang="en-US" sz="1400" dirty="0"/>
              <a:t>Urgent care or ED, consider observation depending on response to treatment </a:t>
            </a:r>
          </a:p>
        </p:txBody>
      </p:sp>
      <p:sp>
        <p:nvSpPr>
          <p:cNvPr id="41" name="Initial tests">
            <a:extLst>
              <a:ext uri="{FF2B5EF4-FFF2-40B4-BE49-F238E27FC236}">
                <a16:creationId xmlns:a16="http://schemas.microsoft.com/office/drawing/2014/main" id="{A2CCC9EB-2162-4188-27C9-D30155FD21CE}"/>
              </a:ext>
            </a:extLst>
          </p:cNvPr>
          <p:cNvSpPr/>
          <p:nvPr/>
        </p:nvSpPr>
        <p:spPr>
          <a:xfrm>
            <a:off x="7324693" y="2907210"/>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initial tests would you order?</a:t>
            </a:r>
          </a:p>
        </p:txBody>
      </p:sp>
      <p:sp>
        <p:nvSpPr>
          <p:cNvPr id="42" name="What is the diagnosis">
            <a:extLst>
              <a:ext uri="{FF2B5EF4-FFF2-40B4-BE49-F238E27FC236}">
                <a16:creationId xmlns:a16="http://schemas.microsoft.com/office/drawing/2014/main" id="{54154741-FB19-3785-9873-D70262C0BB31}"/>
              </a:ext>
            </a:extLst>
          </p:cNvPr>
          <p:cNvSpPr/>
          <p:nvPr/>
        </p:nvSpPr>
        <p:spPr>
          <a:xfrm>
            <a:off x="7324693" y="4158545"/>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is the diagnosis?</a:t>
            </a:r>
          </a:p>
        </p:txBody>
      </p:sp>
      <p:sp>
        <p:nvSpPr>
          <p:cNvPr id="43" name="Wouldl you admit">
            <a:extLst>
              <a:ext uri="{FF2B5EF4-FFF2-40B4-BE49-F238E27FC236}">
                <a16:creationId xmlns:a16="http://schemas.microsoft.com/office/drawing/2014/main" id="{F0C17D48-D9F0-DFFA-E7B1-B1F09DD531E4}"/>
              </a:ext>
            </a:extLst>
          </p:cNvPr>
          <p:cNvSpPr/>
          <p:nvPr/>
        </p:nvSpPr>
        <p:spPr>
          <a:xfrm>
            <a:off x="7324693" y="5940347"/>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How would you treat this patient?</a:t>
            </a:r>
          </a:p>
        </p:txBody>
      </p:sp>
      <p:sp>
        <p:nvSpPr>
          <p:cNvPr id="44" name="How would you treat">
            <a:extLst>
              <a:ext uri="{FF2B5EF4-FFF2-40B4-BE49-F238E27FC236}">
                <a16:creationId xmlns:a16="http://schemas.microsoft.com/office/drawing/2014/main" id="{926D69B1-0A53-7227-1D7C-2AF9C4C5A789}"/>
              </a:ext>
            </a:extLst>
          </p:cNvPr>
          <p:cNvSpPr/>
          <p:nvPr/>
        </p:nvSpPr>
        <p:spPr>
          <a:xfrm>
            <a:off x="7324693" y="4981822"/>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Where would you treat this patient?</a:t>
            </a:r>
          </a:p>
        </p:txBody>
      </p:sp>
      <p:pic>
        <p:nvPicPr>
          <p:cNvPr id="45" name="Graphic 44" descr="Cursor with solid fill">
            <a:extLst>
              <a:ext uri="{FF2B5EF4-FFF2-40B4-BE49-F238E27FC236}">
                <a16:creationId xmlns:a16="http://schemas.microsoft.com/office/drawing/2014/main" id="{D39EFF66-BF05-5713-A147-4CD4AC8EC2C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872" y="3163297"/>
            <a:ext cx="274320" cy="274320"/>
          </a:xfrm>
          <a:prstGeom prst="rect">
            <a:avLst/>
          </a:prstGeom>
        </p:spPr>
      </p:pic>
      <p:pic>
        <p:nvPicPr>
          <p:cNvPr id="46" name="Graphic 45" descr="Cursor with solid fill">
            <a:extLst>
              <a:ext uri="{FF2B5EF4-FFF2-40B4-BE49-F238E27FC236}">
                <a16:creationId xmlns:a16="http://schemas.microsoft.com/office/drawing/2014/main" id="{E3CCEC26-0B09-87F0-F792-03859452C91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872" y="6213941"/>
            <a:ext cx="274320" cy="274320"/>
          </a:xfrm>
          <a:prstGeom prst="rect">
            <a:avLst/>
          </a:prstGeom>
        </p:spPr>
      </p:pic>
      <p:pic>
        <p:nvPicPr>
          <p:cNvPr id="47" name="Graphic 46" descr="Cursor with solid fill">
            <a:extLst>
              <a:ext uri="{FF2B5EF4-FFF2-40B4-BE49-F238E27FC236}">
                <a16:creationId xmlns:a16="http://schemas.microsoft.com/office/drawing/2014/main" id="{83F38CB2-CFC7-89F3-4ED5-B243D6CD1AA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872" y="5257212"/>
            <a:ext cx="274320" cy="274320"/>
          </a:xfrm>
          <a:prstGeom prst="rect">
            <a:avLst/>
          </a:prstGeom>
        </p:spPr>
      </p:pic>
      <p:pic>
        <p:nvPicPr>
          <p:cNvPr id="48" name="Graphic 47" descr="Cursor with solid fill">
            <a:extLst>
              <a:ext uri="{FF2B5EF4-FFF2-40B4-BE49-F238E27FC236}">
                <a16:creationId xmlns:a16="http://schemas.microsoft.com/office/drawing/2014/main" id="{ED29B033-4D49-6DE8-4FF1-5EAAF22230A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872" y="4425529"/>
            <a:ext cx="274320" cy="274320"/>
          </a:xfrm>
          <a:prstGeom prst="rect">
            <a:avLst/>
          </a:prstGeom>
        </p:spPr>
      </p:pic>
      <p:pic>
        <p:nvPicPr>
          <p:cNvPr id="49" name="Graphic 48" descr="Cursor with solid fill">
            <a:extLst>
              <a:ext uri="{FF2B5EF4-FFF2-40B4-BE49-F238E27FC236}">
                <a16:creationId xmlns:a16="http://schemas.microsoft.com/office/drawing/2014/main" id="{6BD31847-4F4C-905E-5E34-87D0C445BBD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872" y="1887422"/>
            <a:ext cx="274320" cy="274320"/>
          </a:xfrm>
          <a:prstGeom prst="rect">
            <a:avLst/>
          </a:prstGeom>
        </p:spPr>
      </p:pic>
      <p:pic>
        <p:nvPicPr>
          <p:cNvPr id="50" name="Graphic 49" descr="Cursor with solid fill">
            <a:extLst>
              <a:ext uri="{FF2B5EF4-FFF2-40B4-BE49-F238E27FC236}">
                <a16:creationId xmlns:a16="http://schemas.microsoft.com/office/drawing/2014/main" id="{14E292FD-E430-EA57-9D5F-85FE09F70218}"/>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63151" y="384580"/>
            <a:ext cx="274320" cy="274320"/>
          </a:xfrm>
          <a:prstGeom prst="rect">
            <a:avLst/>
          </a:prstGeom>
        </p:spPr>
      </p:pic>
      <p:sp>
        <p:nvSpPr>
          <p:cNvPr id="2" name="Obj 2">
            <a:hlinkClick r:id="rId8" action="ppaction://hlinksldjump"/>
            <a:extLst>
              <a:ext uri="{FF2B5EF4-FFF2-40B4-BE49-F238E27FC236}">
                <a16:creationId xmlns:a16="http://schemas.microsoft.com/office/drawing/2014/main" id="{6BDFEC2E-9996-EAC4-96F8-65196F7EC273}"/>
              </a:ext>
            </a:extLst>
          </p:cNvPr>
          <p:cNvSpPr/>
          <p:nvPr/>
        </p:nvSpPr>
        <p:spPr>
          <a:xfrm>
            <a:off x="429451" y="3059136"/>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1-2</a:t>
            </a:r>
          </a:p>
        </p:txBody>
      </p:sp>
      <p:sp>
        <p:nvSpPr>
          <p:cNvPr id="9" name="Obj 2">
            <a:hlinkClick r:id="rId9" action="ppaction://hlinksldjump"/>
            <a:extLst>
              <a:ext uri="{FF2B5EF4-FFF2-40B4-BE49-F238E27FC236}">
                <a16:creationId xmlns:a16="http://schemas.microsoft.com/office/drawing/2014/main" id="{379A97BD-7BDD-534B-1E3B-0C248883129D}"/>
              </a:ext>
            </a:extLst>
          </p:cNvPr>
          <p:cNvSpPr/>
          <p:nvPr/>
        </p:nvSpPr>
        <p:spPr>
          <a:xfrm>
            <a:off x="429451" y="3629293"/>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pic>
        <p:nvPicPr>
          <p:cNvPr id="11" name="Graphic 10" descr="Cursor with solid fill">
            <a:extLst>
              <a:ext uri="{FF2B5EF4-FFF2-40B4-BE49-F238E27FC236}">
                <a16:creationId xmlns:a16="http://schemas.microsoft.com/office/drawing/2014/main" id="{06D360D6-E0C7-B8D8-4DA1-8FF7E87369D8}"/>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87466" y="3885732"/>
            <a:ext cx="274320" cy="274320"/>
          </a:xfrm>
          <a:prstGeom prst="rect">
            <a:avLst/>
          </a:prstGeom>
        </p:spPr>
      </p:pic>
      <p:cxnSp>
        <p:nvCxnSpPr>
          <p:cNvPr id="15" name="Connector: Elbow 14">
            <a:extLst>
              <a:ext uri="{FF2B5EF4-FFF2-40B4-BE49-F238E27FC236}">
                <a16:creationId xmlns:a16="http://schemas.microsoft.com/office/drawing/2014/main" id="{DC87BEF3-12F6-36E9-0BA8-2582A2B07692}"/>
              </a:ext>
            </a:extLst>
          </p:cNvPr>
          <p:cNvCxnSpPr/>
          <p:nvPr/>
        </p:nvCxnSpPr>
        <p:spPr>
          <a:xfrm rot="16200000" flipH="1">
            <a:off x="147253" y="2966873"/>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205E5A5E-0C16-5A90-BEF4-DD3CD798C522}"/>
              </a:ext>
            </a:extLst>
          </p:cNvPr>
          <p:cNvCxnSpPr>
            <a:cxnSpLocks/>
          </p:cNvCxnSpPr>
          <p:nvPr/>
        </p:nvCxnSpPr>
        <p:spPr>
          <a:xfrm rot="16200000" flipH="1">
            <a:off x="-137826" y="3251951"/>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9" name="teachIM logo" descr="Icon  Description automatically generated">
            <a:extLst>
              <a:ext uri="{FF2B5EF4-FFF2-40B4-BE49-F238E27FC236}">
                <a16:creationId xmlns:a16="http://schemas.microsoft.com/office/drawing/2014/main" id="{9C657B37-25A4-26BB-BBE3-FBF5E2A9741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17" name="Obj 2">
            <a:hlinkClick r:id="rId11" action="ppaction://hlinksldjump"/>
            <a:extLst>
              <a:ext uri="{FF2B5EF4-FFF2-40B4-BE49-F238E27FC236}">
                <a16:creationId xmlns:a16="http://schemas.microsoft.com/office/drawing/2014/main" id="{700FA7D7-21B1-7416-6A90-A5263995515F}"/>
              </a:ext>
            </a:extLst>
          </p:cNvPr>
          <p:cNvSpPr/>
          <p:nvPr/>
        </p:nvSpPr>
        <p:spPr>
          <a:xfrm>
            <a:off x="171554" y="1914842"/>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21" name="Graphic 20" descr="Cursor with solid fill">
            <a:extLst>
              <a:ext uri="{FF2B5EF4-FFF2-40B4-BE49-F238E27FC236}">
                <a16:creationId xmlns:a16="http://schemas.microsoft.com/office/drawing/2014/main" id="{6A41CFC0-40B7-D697-C5E9-29B954F1F94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6139" y="2160683"/>
            <a:ext cx="274320" cy="274320"/>
          </a:xfrm>
          <a:prstGeom prst="rect">
            <a:avLst/>
          </a:prstGeom>
        </p:spPr>
      </p:pic>
    </p:spTree>
    <p:extLst>
      <p:ext uri="{BB962C8B-B14F-4D97-AF65-F5344CB8AC3E}">
        <p14:creationId xmlns:p14="http://schemas.microsoft.com/office/powerpoint/2010/main" val="80528150"/>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55"/>
                  </p:tgtEl>
                </p:cond>
              </p:nextCondLst>
            </p:seq>
            <p:seq concurrent="1" nextAc="seek">
              <p:cTn id="29" restart="whenNotActive" fill="hold" evtFilter="cancelBubble" nodeType="interactiveSeq">
                <p:stCondLst>
                  <p:cond evt="onClick" delay="0">
                    <p:tgtEl>
                      <p:spTgt spid="174"/>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00"/>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74"/>
                  </p:tgtEl>
                </p:cond>
              </p:nextCondLst>
            </p:seq>
            <p:seq concurrent="1" nextAc="seek">
              <p:cTn id="36" restart="whenNotActive" fill="hold" evtFilter="cancelBubble" nodeType="interactiveSeq">
                <p:stCondLst>
                  <p:cond evt="onClick" delay="0">
                    <p:tgtEl>
                      <p:spTgt spid="176"/>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176"/>
                  </p:tgtEl>
                </p:cond>
              </p:nextCondLst>
            </p:seq>
            <p:seq concurrent="1" nextAc="seek">
              <p:cTn id="43" restart="whenNotActive" fill="hold" evtFilter="cancelBubble" nodeType="interactiveSeq">
                <p:stCondLst>
                  <p:cond evt="onClick" delay="0">
                    <p:tgtEl>
                      <p:spTgt spid="239"/>
                    </p:tgtEl>
                  </p:cond>
                </p:stCondLst>
                <p:endSync evt="end" delay="0">
                  <p:rtn val="all"/>
                </p:endSync>
                <p:childTnLst>
                  <p:par>
                    <p:cTn id="44" fill="hold">
                      <p:stCondLst>
                        <p:cond delay="0"/>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239"/>
                  </p:tgtEl>
                </p:cond>
              </p:nextCondLst>
            </p:seq>
            <p:seq concurrent="1" nextAc="seek">
              <p:cTn id="50" restart="whenNotActive" fill="hold" evtFilter="cancelBubble" nodeType="interactiveSeq">
                <p:stCondLst>
                  <p:cond evt="onClick" delay="0">
                    <p:tgtEl>
                      <p:spTgt spid="243"/>
                    </p:tgtEl>
                  </p:cond>
                </p:stCondLst>
                <p:endSync evt="end" delay="0">
                  <p:rtn val="all"/>
                </p:endSync>
                <p:childTnLst>
                  <p:par>
                    <p:cTn id="51" fill="hold">
                      <p:stCondLst>
                        <p:cond delay="0"/>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243"/>
                  </p:tgtEl>
                </p:cond>
              </p:nextCondLst>
            </p:seq>
            <p:seq concurrent="1" nextAc="seek">
              <p:cTn id="57" restart="whenNotActive" fill="hold" evtFilter="cancelBubble" nodeType="interactiveSeq">
                <p:stCondLst>
                  <p:cond evt="onClick" delay="0">
                    <p:tgtEl>
                      <p:spTgt spid="241"/>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241"/>
                  </p:tgtEl>
                </p:cond>
              </p:nextCondLst>
            </p:seq>
            <p:seq concurrent="1" nextAc="seek">
              <p:cTn id="64" restart="whenNotActive" fill="hold" evtFilter="cancelBubble" nodeType="interactiveSeq">
                <p:stCondLst>
                  <p:cond evt="onClick" delay="0">
                    <p:tgtEl>
                      <p:spTgt spid="32"/>
                    </p:tgtEl>
                  </p:cond>
                </p:stCondLst>
                <p:endSync evt="end" delay="0">
                  <p:rtn val="all"/>
                </p:endSync>
                <p:childTnLst>
                  <p:par>
                    <p:cTn id="65" fill="hold">
                      <p:stCondLst>
                        <p:cond delay="0"/>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91" restart="whenNotActive" fill="hold" evtFilter="cancelBubble" nodeType="interactiveSeq">
                <p:stCondLst>
                  <p:cond evt="onClick" delay="0">
                    <p:tgtEl>
                      <p:spTgt spid="38"/>
                    </p:tgtEl>
                  </p:cond>
                </p:stCondLst>
                <p:endSync evt="end" delay="0">
                  <p:rtn val="all"/>
                </p:endSync>
                <p:childTnLst>
                  <p:par>
                    <p:cTn id="92" fill="hold">
                      <p:stCondLst>
                        <p:cond delay="0"/>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35"/>
                                        </p:tgtEl>
                                        <p:attrNameLst>
                                          <p:attrName>style.visibility</p:attrName>
                                        </p:attrNameLst>
                                      </p:cBhvr>
                                      <p:to>
                                        <p:strVal val="visible"/>
                                      </p:to>
                                    </p:set>
                                  </p:childTnLst>
                                </p:cTn>
                              </p:par>
                              <p:par>
                                <p:cTn id="96" presetID="1" presetClass="exit" presetSubtype="0" fill="hold" nodeType="withEffect">
                                  <p:stCondLst>
                                    <p:cond delay="0"/>
                                  </p:stCondLst>
                                  <p:childTnLst>
                                    <p:set>
                                      <p:cBhvr>
                                        <p:cTn id="97" dur="1" fill="hold">
                                          <p:stCondLst>
                                            <p:cond delay="0"/>
                                          </p:stCondLst>
                                        </p:cTn>
                                        <p:tgtEl>
                                          <p:spTgt spid="49"/>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98" restart="whenNotActive" fill="hold" evtFilter="cancelBubble" nodeType="interactiveSeq">
                <p:stCondLst>
                  <p:cond evt="onClick" delay="0">
                    <p:tgtEl>
                      <p:spTgt spid="41"/>
                    </p:tgtEl>
                  </p:cond>
                </p:stCondLst>
                <p:endSync evt="end" delay="0">
                  <p:rtn val="all"/>
                </p:endSync>
                <p:childTnLst>
                  <p:par>
                    <p:cTn id="99" fill="hold">
                      <p:stCondLst>
                        <p:cond delay="0"/>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6"/>
                                        </p:tgtEl>
                                        <p:attrNameLst>
                                          <p:attrName>style.visibility</p:attrName>
                                        </p:attrNameLst>
                                      </p:cBhvr>
                                      <p:to>
                                        <p:strVal val="visible"/>
                                      </p:to>
                                    </p:set>
                                  </p:childTnLst>
                                </p:cTn>
                              </p:par>
                              <p:par>
                                <p:cTn id="103" presetID="1" presetClass="exit" presetSubtype="0" fill="hold" nodeType="withEffect">
                                  <p:stCondLst>
                                    <p:cond delay="0"/>
                                  </p:stCondLst>
                                  <p:childTnLst>
                                    <p:set>
                                      <p:cBhvr>
                                        <p:cTn id="104" dur="1" fill="hold">
                                          <p:stCondLst>
                                            <p:cond delay="0"/>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05" restart="whenNotActive" fill="hold" evtFilter="cancelBubble" nodeType="interactiveSeq">
                <p:stCondLst>
                  <p:cond evt="onClick" delay="0">
                    <p:tgtEl>
                      <p:spTgt spid="42"/>
                    </p:tgtEl>
                  </p:cond>
                </p:stCondLst>
                <p:endSync evt="end" delay="0">
                  <p:rtn val="all"/>
                </p:endSync>
                <p:childTnLst>
                  <p:par>
                    <p:cTn id="106" fill="hold">
                      <p:stCondLst>
                        <p:cond delay="0"/>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37"/>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12" restart="whenNotActive" fill="hold" evtFilter="cancelBubble" nodeType="interactiveSeq">
                <p:stCondLst>
                  <p:cond evt="onClick" delay="0">
                    <p:tgtEl>
                      <p:spTgt spid="44"/>
                    </p:tgtEl>
                  </p:cond>
                </p:stCondLst>
                <p:endSync evt="end" delay="0">
                  <p:rtn val="all"/>
                </p:endSync>
                <p:childTnLst>
                  <p:par>
                    <p:cTn id="113" fill="hold">
                      <p:stCondLst>
                        <p:cond delay="0"/>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119" restart="whenNotActive" fill="hold" evtFilter="cancelBubble" nodeType="interactiveSeq">
                <p:stCondLst>
                  <p:cond evt="onClick" delay="0">
                    <p:tgtEl>
                      <p:spTgt spid="43"/>
                    </p:tgtEl>
                  </p:cond>
                </p:stCondLst>
                <p:endSync evt="end" delay="0">
                  <p:rtn val="all"/>
                </p:endSync>
                <p:childTnLst>
                  <p:par>
                    <p:cTn id="120" fill="hold">
                      <p:stCondLst>
                        <p:cond delay="0"/>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39"/>
                                        </p:tgtEl>
                                        <p:attrNameLst>
                                          <p:attrName>style.visibility</p:attrName>
                                        </p:attrNameLst>
                                      </p:cBhvr>
                                      <p:to>
                                        <p:strVal val="visible"/>
                                      </p:to>
                                    </p:set>
                                  </p:childTnLst>
                                </p:cTn>
                              </p:par>
                              <p:par>
                                <p:cTn id="124" presetID="1" presetClass="exit" presetSubtype="0" fill="hold" nodeType="withEffect">
                                  <p:stCondLst>
                                    <p:cond delay="0"/>
                                  </p:stCondLst>
                                  <p:childTnLst>
                                    <p:set>
                                      <p:cBhvr>
                                        <p:cTn id="125" dur="1" fill="hold">
                                          <p:stCondLst>
                                            <p:cond delay="0"/>
                                          </p:stCondLst>
                                        </p:cTn>
                                        <p:tgtEl>
                                          <p:spTgt spid="46"/>
                                        </p:tgtEl>
                                        <p:attrNameLst>
                                          <p:attrName>style.visibility</p:attrName>
                                        </p:attrNameLst>
                                      </p:cBhvr>
                                      <p:to>
                                        <p:strVal val="hidden"/>
                                      </p:to>
                                    </p:set>
                                  </p:childTnLst>
                                </p:cTn>
                              </p:par>
                            </p:childTnLst>
                          </p:cTn>
                        </p:par>
                      </p:childTnLst>
                    </p:cTn>
                  </p:par>
                </p:childTnLst>
              </p:cTn>
              <p:nextCondLst>
                <p:cond evt="onClick" delay="0">
                  <p:tgtEl>
                    <p:spTgt spid="43"/>
                  </p:tgtEl>
                </p:cond>
              </p:nextCondLst>
            </p:seq>
          </p:childTnLst>
        </p:cTn>
      </p:par>
    </p:tnLst>
    <p:bldLst>
      <p:bldP spid="4" grpId="0"/>
      <p:bldP spid="200" grpId="0"/>
      <p:bldP spid="12" grpId="0"/>
      <p:bldP spid="13" grpId="0"/>
      <p:bldP spid="174" grpId="0" animBg="1"/>
      <p:bldP spid="22" grpId="0"/>
      <p:bldP spid="23" grpId="0"/>
      <p:bldP spid="176" grpId="0" animBg="1"/>
      <p:bldP spid="239" grpId="0" animBg="1"/>
      <p:bldP spid="241" grpId="0" animBg="1"/>
      <p:bldP spid="243" grpId="0" animBg="1"/>
      <p:bldP spid="34" grpId="0"/>
      <p:bldP spid="35" grpId="0"/>
      <p:bldP spid="36" grpId="0"/>
      <p:bldP spid="37" grpId="0"/>
      <p:bldP spid="38" grpId="0" animBg="1"/>
      <p:bldP spid="39" grpId="0"/>
      <p:bldP spid="40" grpId="0"/>
      <p:bldP spid="41" grpId="0" animBg="1"/>
      <p:bldP spid="42" grpId="0" animBg="1"/>
      <p:bldP spid="43"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a:extLst>
              <a:ext uri="{FF2B5EF4-FFF2-40B4-BE49-F238E27FC236}">
                <a16:creationId xmlns:a16="http://schemas.microsoft.com/office/drawing/2014/main" id="{C5D94E4E-7F55-C644-B50A-24159D006B2F}"/>
              </a:ext>
            </a:extLst>
          </p:cNvPr>
          <p:cNvSpPr txBox="1"/>
          <p:nvPr/>
        </p:nvSpPr>
        <p:spPr>
          <a:xfrm>
            <a:off x="1308585" y="7554377"/>
            <a:ext cx="184731" cy="353609"/>
          </a:xfrm>
          <a:prstGeom prst="rect">
            <a:avLst/>
          </a:prstGeom>
          <a:noFill/>
        </p:spPr>
        <p:txBody>
          <a:bodyPr wrap="square" rtlCol="0">
            <a:spAutoFit/>
          </a:bodyPr>
          <a:lstStyle/>
          <a:p>
            <a:endParaRPr lang="en-US" dirty="0"/>
          </a:p>
        </p:txBody>
      </p:sp>
      <p:sp>
        <p:nvSpPr>
          <p:cNvPr id="155" name="Case 1">
            <a:extLst>
              <a:ext uri="{FF2B5EF4-FFF2-40B4-BE49-F238E27FC236}">
                <a16:creationId xmlns:a16="http://schemas.microsoft.com/office/drawing/2014/main" id="{C6994EAC-23D7-9744-A751-4C69C8FC93D4}"/>
              </a:ext>
            </a:extLst>
          </p:cNvPr>
          <p:cNvSpPr/>
          <p:nvPr/>
        </p:nvSpPr>
        <p:spPr>
          <a:xfrm>
            <a:off x="4189458" y="141458"/>
            <a:ext cx="1220024"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Case 3</a:t>
            </a:r>
          </a:p>
        </p:txBody>
      </p:sp>
      <p:cxnSp>
        <p:nvCxnSpPr>
          <p:cNvPr id="159" name="Straight Connector 158">
            <a:extLst>
              <a:ext uri="{FF2B5EF4-FFF2-40B4-BE49-F238E27FC236}">
                <a16:creationId xmlns:a16="http://schemas.microsoft.com/office/drawing/2014/main" id="{7FCB5360-731A-3F4B-8041-D08AFC4EE38D}"/>
              </a:ext>
            </a:extLst>
          </p:cNvPr>
          <p:cNvCxnSpPr>
            <a:cxnSpLocks/>
          </p:cNvCxnSpPr>
          <p:nvPr/>
        </p:nvCxnSpPr>
        <p:spPr>
          <a:xfrm>
            <a:off x="7081405" y="291131"/>
            <a:ext cx="0" cy="6451205"/>
          </a:xfrm>
          <a:prstGeom prst="line">
            <a:avLst/>
          </a:prstGeom>
          <a:ln w="38100"/>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E6ECDA44-EF05-AD4C-B1FF-67997EFEAA87}"/>
              </a:ext>
            </a:extLst>
          </p:cNvPr>
          <p:cNvSpPr txBox="1"/>
          <p:nvPr/>
        </p:nvSpPr>
        <p:spPr>
          <a:xfrm>
            <a:off x="2608149" y="599038"/>
            <a:ext cx="4297680" cy="1477328"/>
          </a:xfrm>
          <a:prstGeom prst="rect">
            <a:avLst/>
          </a:prstGeom>
          <a:noFill/>
        </p:spPr>
        <p:txBody>
          <a:bodyPr wrap="square" rtlCol="0">
            <a:spAutoFit/>
          </a:bodyPr>
          <a:lstStyle/>
          <a:p>
            <a:r>
              <a:rPr lang="en-US" sz="1400" dirty="0"/>
              <a:t>65-year-old with CAD s/p PCI (2 years prior), </a:t>
            </a:r>
            <a:r>
              <a:rPr lang="en-US" sz="1400" dirty="0" err="1"/>
              <a:t>HFrEF</a:t>
            </a:r>
            <a:r>
              <a:rPr lang="en-US" sz="1400" dirty="0"/>
              <a:t> 2/2 ischemic cardiomyopathy, HTN, DM type II presents with loss of consciousness + convulsions. </a:t>
            </a:r>
          </a:p>
          <a:p>
            <a:endParaRPr lang="en-US" sz="300" dirty="0"/>
          </a:p>
          <a:p>
            <a:r>
              <a:rPr lang="en-US" sz="1400" dirty="0"/>
              <a:t>VS: 36.5C, HR 72, BP 112/87</a:t>
            </a:r>
          </a:p>
          <a:p>
            <a:endParaRPr lang="en-US" sz="300" dirty="0"/>
          </a:p>
          <a:p>
            <a:r>
              <a:rPr lang="en-US" sz="1400" dirty="0"/>
              <a:t>Exam: normal heart rate but note occasional irregular beats, no murmurs, appears euvolemic</a:t>
            </a:r>
          </a:p>
        </p:txBody>
      </p:sp>
      <p:sp>
        <p:nvSpPr>
          <p:cNvPr id="200" name="TextBox 199">
            <a:extLst>
              <a:ext uri="{FF2B5EF4-FFF2-40B4-BE49-F238E27FC236}">
                <a16:creationId xmlns:a16="http://schemas.microsoft.com/office/drawing/2014/main" id="{47AE6318-B190-8543-ADDF-7E3909474C6F}"/>
              </a:ext>
            </a:extLst>
          </p:cNvPr>
          <p:cNvSpPr txBox="1"/>
          <p:nvPr/>
        </p:nvSpPr>
        <p:spPr>
          <a:xfrm>
            <a:off x="2590941" y="2657974"/>
            <a:ext cx="4223769" cy="2246769"/>
          </a:xfrm>
          <a:prstGeom prst="rect">
            <a:avLst/>
          </a:prstGeom>
          <a:noFill/>
        </p:spPr>
        <p:txBody>
          <a:bodyPr wrap="square" rtlCol="0">
            <a:spAutoFit/>
          </a:bodyPr>
          <a:lstStyle/>
          <a:p>
            <a:pPr marL="173038" indent="-173038">
              <a:buFont typeface="Arial" panose="020B0604020202020204" pitchFamily="34" charset="0"/>
              <a:buChar char="•"/>
            </a:pPr>
            <a:r>
              <a:rPr lang="en-US" sz="1400" i="1" dirty="0"/>
              <a:t>Who</a:t>
            </a:r>
            <a:r>
              <a:rPr lang="en-US" sz="1400" dirty="0"/>
              <a:t>: 65-year-old with significant cardiac history on furosemide, carvedilol, sacubitril-valsartan, spironolactone, empagliflozin, aspirin, metformin.</a:t>
            </a:r>
            <a:br>
              <a:rPr lang="en-US" sz="1400" dirty="0"/>
            </a:br>
            <a:r>
              <a:rPr lang="en-US" sz="1400" dirty="0"/>
              <a:t>History of episodic palpitations and lightheadedness x 2 weeks that come on at rest.</a:t>
            </a:r>
          </a:p>
          <a:p>
            <a:pPr marL="173038" indent="-173038">
              <a:buFont typeface="Arial" panose="020B0604020202020204" pitchFamily="34" charset="0"/>
              <a:buChar char="•"/>
            </a:pPr>
            <a:r>
              <a:rPr lang="en-US" sz="1400" i="1" dirty="0"/>
              <a:t>Where/how: </a:t>
            </a:r>
            <a:r>
              <a:rPr lang="en-US" sz="1400" dirty="0"/>
              <a:t>Occurred while watching TV when they became unresponsive x 20 s. Had witnessed whole-body convulsions. EMS arrived after they had regained consciousness. He denied any confusion. </a:t>
            </a:r>
          </a:p>
          <a:p>
            <a:pPr marL="173038" indent="-173038">
              <a:buFont typeface="Arial" panose="020B0604020202020204" pitchFamily="34" charset="0"/>
              <a:buChar char="•"/>
            </a:pPr>
            <a:r>
              <a:rPr lang="en-US" sz="1400" i="1" dirty="0"/>
              <a:t>Prodrome</a:t>
            </a:r>
            <a:r>
              <a:rPr lang="en-US" sz="1400" dirty="0"/>
              <a:t>: none</a:t>
            </a:r>
            <a:endParaRPr lang="en-US" sz="1400" i="1" dirty="0"/>
          </a:p>
        </p:txBody>
      </p:sp>
      <p:sp>
        <p:nvSpPr>
          <p:cNvPr id="174" name="History">
            <a:extLst>
              <a:ext uri="{FF2B5EF4-FFF2-40B4-BE49-F238E27FC236}">
                <a16:creationId xmlns:a16="http://schemas.microsoft.com/office/drawing/2014/main" id="{C29582F2-6621-004F-9A56-7A6FD49A8FB5}"/>
              </a:ext>
            </a:extLst>
          </p:cNvPr>
          <p:cNvSpPr/>
          <p:nvPr/>
        </p:nvSpPr>
        <p:spPr>
          <a:xfrm>
            <a:off x="2562754" y="2176840"/>
            <a:ext cx="4297680" cy="365760"/>
          </a:xfrm>
          <a:prstGeom prst="roundRect">
            <a:avLst>
              <a:gd name="adj" fmla="val 9856"/>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history is important to obtain?</a:t>
            </a:r>
          </a:p>
        </p:txBody>
      </p:sp>
      <p:sp>
        <p:nvSpPr>
          <p:cNvPr id="23" name="TextBox 22">
            <a:extLst>
              <a:ext uri="{FF2B5EF4-FFF2-40B4-BE49-F238E27FC236}">
                <a16:creationId xmlns:a16="http://schemas.microsoft.com/office/drawing/2014/main" id="{3BE5CD57-A12D-FC44-AE5F-94FCBE4FD363}"/>
              </a:ext>
            </a:extLst>
          </p:cNvPr>
          <p:cNvSpPr txBox="1"/>
          <p:nvPr/>
        </p:nvSpPr>
        <p:spPr>
          <a:xfrm>
            <a:off x="2562754" y="5523238"/>
            <a:ext cx="4275364" cy="738664"/>
          </a:xfrm>
          <a:prstGeom prst="rect">
            <a:avLst/>
          </a:prstGeom>
          <a:noFill/>
        </p:spPr>
        <p:txBody>
          <a:bodyPr wrap="square" rtlCol="0">
            <a:spAutoFit/>
          </a:bodyPr>
          <a:lstStyle/>
          <a:p>
            <a:pPr algn="ctr"/>
            <a:r>
              <a:rPr lang="en-US" sz="1400" dirty="0"/>
              <a:t>CBC, BMP. Troponin and BNP.</a:t>
            </a:r>
          </a:p>
          <a:p>
            <a:pPr algn="ctr"/>
            <a:r>
              <a:rPr lang="en-US" sz="1400" dirty="0"/>
              <a:t>ECG</a:t>
            </a:r>
          </a:p>
          <a:p>
            <a:pPr algn="ctr"/>
            <a:r>
              <a:rPr lang="en-US" sz="1400" dirty="0"/>
              <a:t>Orthostatic vital signs </a:t>
            </a:r>
          </a:p>
        </p:txBody>
      </p:sp>
      <p:sp>
        <p:nvSpPr>
          <p:cNvPr id="243" name="How would you treat">
            <a:extLst>
              <a:ext uri="{FF2B5EF4-FFF2-40B4-BE49-F238E27FC236}">
                <a16:creationId xmlns:a16="http://schemas.microsoft.com/office/drawing/2014/main" id="{5B079610-7AD9-4D49-9082-F8E533C194C6}"/>
              </a:ext>
            </a:extLst>
          </p:cNvPr>
          <p:cNvSpPr/>
          <p:nvPr/>
        </p:nvSpPr>
        <p:spPr>
          <a:xfrm>
            <a:off x="2562754" y="5072763"/>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initial tests would you order?</a:t>
            </a:r>
          </a:p>
        </p:txBody>
      </p:sp>
      <p:pic>
        <p:nvPicPr>
          <p:cNvPr id="7" name="Graphic 6" descr="Cursor with solid fill">
            <a:extLst>
              <a:ext uri="{FF2B5EF4-FFF2-40B4-BE49-F238E27FC236}">
                <a16:creationId xmlns:a16="http://schemas.microsoft.com/office/drawing/2014/main" id="{953B92AE-1BA6-2E56-4B01-2095C0C66ED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5348153"/>
            <a:ext cx="274320" cy="274320"/>
          </a:xfrm>
          <a:prstGeom prst="rect">
            <a:avLst/>
          </a:prstGeom>
        </p:spPr>
      </p:pic>
      <p:pic>
        <p:nvPicPr>
          <p:cNvPr id="10" name="Graphic 9" descr="Cursor with solid fill">
            <a:extLst>
              <a:ext uri="{FF2B5EF4-FFF2-40B4-BE49-F238E27FC236}">
                <a16:creationId xmlns:a16="http://schemas.microsoft.com/office/drawing/2014/main" id="{B36BF02D-A3FE-2900-418A-7AFDBC2CA71A}"/>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25933" y="2441044"/>
            <a:ext cx="274320" cy="274320"/>
          </a:xfrm>
          <a:prstGeom prst="rect">
            <a:avLst/>
          </a:prstGeom>
        </p:spPr>
      </p:pic>
      <p:pic>
        <p:nvPicPr>
          <p:cNvPr id="18" name="Graphic 17" descr="Cursor with solid fill">
            <a:extLst>
              <a:ext uri="{FF2B5EF4-FFF2-40B4-BE49-F238E27FC236}">
                <a16:creationId xmlns:a16="http://schemas.microsoft.com/office/drawing/2014/main" id="{8F14197F-7478-1AF5-9FAD-17AB5E72B9B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01212" y="385045"/>
            <a:ext cx="274320" cy="274320"/>
          </a:xfrm>
          <a:prstGeom prst="rect">
            <a:avLst/>
          </a:prstGeom>
        </p:spPr>
      </p:pic>
      <p:sp>
        <p:nvSpPr>
          <p:cNvPr id="32" name="Case 1">
            <a:extLst>
              <a:ext uri="{FF2B5EF4-FFF2-40B4-BE49-F238E27FC236}">
                <a16:creationId xmlns:a16="http://schemas.microsoft.com/office/drawing/2014/main" id="{E8876099-2A30-9284-A391-0F1446B9A3FE}"/>
              </a:ext>
            </a:extLst>
          </p:cNvPr>
          <p:cNvSpPr/>
          <p:nvPr/>
        </p:nvSpPr>
        <p:spPr>
          <a:xfrm>
            <a:off x="8776654" y="140993"/>
            <a:ext cx="1644475"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Case 3 </a:t>
            </a:r>
            <a:r>
              <a:rPr lang="en-US" sz="1500" dirty="0" err="1">
                <a:solidFill>
                  <a:schemeClr val="bg1"/>
                </a:solidFill>
              </a:rPr>
              <a:t>cont</a:t>
            </a:r>
            <a:r>
              <a:rPr lang="en-US" sz="1500" dirty="0">
                <a:solidFill>
                  <a:schemeClr val="bg1"/>
                </a:solidFill>
              </a:rPr>
              <a:t>…</a:t>
            </a:r>
          </a:p>
        </p:txBody>
      </p:sp>
      <p:sp>
        <p:nvSpPr>
          <p:cNvPr id="34" name="TextBox 33">
            <a:extLst>
              <a:ext uri="{FF2B5EF4-FFF2-40B4-BE49-F238E27FC236}">
                <a16:creationId xmlns:a16="http://schemas.microsoft.com/office/drawing/2014/main" id="{E3089DBA-70FD-A02D-557E-2B5B94AD7927}"/>
              </a:ext>
            </a:extLst>
          </p:cNvPr>
          <p:cNvSpPr txBox="1"/>
          <p:nvPr/>
        </p:nvSpPr>
        <p:spPr>
          <a:xfrm>
            <a:off x="7370088" y="598573"/>
            <a:ext cx="4297680" cy="1600438"/>
          </a:xfrm>
          <a:prstGeom prst="rect">
            <a:avLst/>
          </a:prstGeom>
          <a:noFill/>
        </p:spPr>
        <p:txBody>
          <a:bodyPr wrap="square" rtlCol="0">
            <a:spAutoFit/>
          </a:bodyPr>
          <a:lstStyle/>
          <a:p>
            <a:pPr marL="173038" indent="-173038">
              <a:buFont typeface="Arial" panose="020B0604020202020204" pitchFamily="34" charset="0"/>
              <a:buChar char="•"/>
            </a:pPr>
            <a:r>
              <a:rPr lang="en-US" sz="1400" dirty="0" err="1"/>
              <a:t>Orthostatics</a:t>
            </a:r>
            <a:r>
              <a:rPr lang="en-US" sz="1400" b="1" dirty="0"/>
              <a:t>: </a:t>
            </a:r>
            <a:r>
              <a:rPr lang="en-US" sz="1400" dirty="0"/>
              <a:t>HR 72, BP 112/70 </a:t>
            </a:r>
            <a:r>
              <a:rPr lang="en-US" sz="1400" dirty="0">
                <a:sym typeface="Wingdings" pitchFamily="2" charset="2"/>
              </a:rPr>
              <a:t> HR 85, BP 115/65</a:t>
            </a:r>
            <a:endParaRPr lang="en-US" sz="1400" dirty="0"/>
          </a:p>
          <a:p>
            <a:pPr marL="173038" indent="-173038">
              <a:buFont typeface="Arial" panose="020B0604020202020204" pitchFamily="34" charset="0"/>
              <a:buChar char="•"/>
            </a:pPr>
            <a:r>
              <a:rPr lang="en-US" sz="1400" dirty="0"/>
              <a:t>BMP: Na 132, K 3.2, Cl 110, Cr 0.8, BUN 15</a:t>
            </a:r>
          </a:p>
          <a:p>
            <a:pPr marL="173038" indent="-173038">
              <a:buFont typeface="Arial" panose="020B0604020202020204" pitchFamily="34" charset="0"/>
              <a:buChar char="•"/>
            </a:pPr>
            <a:r>
              <a:rPr lang="en-US" sz="1400" dirty="0"/>
              <a:t>CBC: WBC 10.2, Hgb 12.8, </a:t>
            </a:r>
            <a:r>
              <a:rPr lang="en-US" sz="1400" dirty="0" err="1"/>
              <a:t>plt</a:t>
            </a:r>
            <a:r>
              <a:rPr lang="en-US" sz="1400" dirty="0"/>
              <a:t> 152k</a:t>
            </a:r>
          </a:p>
          <a:p>
            <a:pPr marL="173038" indent="-173038">
              <a:buFont typeface="Arial" panose="020B0604020202020204" pitchFamily="34" charset="0"/>
              <a:buChar char="•"/>
            </a:pPr>
            <a:r>
              <a:rPr lang="en-US" sz="1400" dirty="0" err="1"/>
              <a:t>hsTroponin</a:t>
            </a:r>
            <a:r>
              <a:rPr lang="en-US" sz="1400" dirty="0"/>
              <a:t> I: 140 → 100 ng/L</a:t>
            </a:r>
          </a:p>
          <a:p>
            <a:pPr marL="173038" indent="-173038">
              <a:buFont typeface="Arial" panose="020B0604020202020204" pitchFamily="34" charset="0"/>
              <a:buChar char="•"/>
            </a:pPr>
            <a:r>
              <a:rPr lang="en-US" sz="1400" dirty="0"/>
              <a:t>ECG: normal sinus rhythm with Q waves in anterolateral leads, no BBB, frequent PVCs, no new ischemic change</a:t>
            </a:r>
          </a:p>
        </p:txBody>
      </p:sp>
      <p:sp>
        <p:nvSpPr>
          <p:cNvPr id="36" name="TextBox 35">
            <a:extLst>
              <a:ext uri="{FF2B5EF4-FFF2-40B4-BE49-F238E27FC236}">
                <a16:creationId xmlns:a16="http://schemas.microsoft.com/office/drawing/2014/main" id="{81243F15-7265-96B9-227F-EFEE02DD4472}"/>
              </a:ext>
            </a:extLst>
          </p:cNvPr>
          <p:cNvSpPr txBox="1"/>
          <p:nvPr/>
        </p:nvSpPr>
        <p:spPr>
          <a:xfrm>
            <a:off x="7239440" y="2739589"/>
            <a:ext cx="4570752" cy="523220"/>
          </a:xfrm>
          <a:prstGeom prst="rect">
            <a:avLst/>
          </a:prstGeom>
          <a:noFill/>
        </p:spPr>
        <p:txBody>
          <a:bodyPr wrap="square" rtlCol="0">
            <a:spAutoFit/>
          </a:bodyPr>
          <a:lstStyle/>
          <a:p>
            <a:pPr algn="ctr"/>
            <a:r>
              <a:rPr lang="en-US" sz="1400" dirty="0"/>
              <a:t>Cardiac syncope. Further testing is needed to clarify diagnosis.</a:t>
            </a:r>
          </a:p>
        </p:txBody>
      </p:sp>
      <p:sp>
        <p:nvSpPr>
          <p:cNvPr id="37" name="TextBox 36">
            <a:extLst>
              <a:ext uri="{FF2B5EF4-FFF2-40B4-BE49-F238E27FC236}">
                <a16:creationId xmlns:a16="http://schemas.microsoft.com/office/drawing/2014/main" id="{4C7CE037-05D5-316A-D5D7-D81B4AB352FC}"/>
              </a:ext>
            </a:extLst>
          </p:cNvPr>
          <p:cNvSpPr txBox="1"/>
          <p:nvPr/>
        </p:nvSpPr>
        <p:spPr>
          <a:xfrm>
            <a:off x="7359807" y="3830516"/>
            <a:ext cx="4313081" cy="307777"/>
          </a:xfrm>
          <a:prstGeom prst="rect">
            <a:avLst/>
          </a:prstGeom>
          <a:noFill/>
        </p:spPr>
        <p:txBody>
          <a:bodyPr wrap="square" rtlCol="0">
            <a:spAutoFit/>
          </a:bodyPr>
          <a:lstStyle/>
          <a:p>
            <a:pPr algn="ctr"/>
            <a:r>
              <a:rPr lang="en-US" sz="1400" dirty="0"/>
              <a:t>In the hospital.</a:t>
            </a:r>
          </a:p>
        </p:txBody>
      </p:sp>
      <p:sp>
        <p:nvSpPr>
          <p:cNvPr id="39" name="TextBox 38">
            <a:extLst>
              <a:ext uri="{FF2B5EF4-FFF2-40B4-BE49-F238E27FC236}">
                <a16:creationId xmlns:a16="http://schemas.microsoft.com/office/drawing/2014/main" id="{56495BB3-AEC6-C607-1512-D4F6E671259A}"/>
              </a:ext>
            </a:extLst>
          </p:cNvPr>
          <p:cNvSpPr txBox="1"/>
          <p:nvPr/>
        </p:nvSpPr>
        <p:spPr>
          <a:xfrm>
            <a:off x="7370087" y="6319531"/>
            <a:ext cx="4201783" cy="307777"/>
          </a:xfrm>
          <a:prstGeom prst="rect">
            <a:avLst/>
          </a:prstGeom>
          <a:noFill/>
        </p:spPr>
        <p:txBody>
          <a:bodyPr wrap="square" rtlCol="0">
            <a:spAutoFit/>
          </a:bodyPr>
          <a:lstStyle/>
          <a:p>
            <a:pPr algn="ctr"/>
            <a:r>
              <a:rPr lang="en-US" sz="1400" dirty="0"/>
              <a:t>Consult cardiology! Etiology is </a:t>
            </a:r>
            <a:r>
              <a:rPr lang="en-US" sz="1400"/>
              <a:t>most likely NSVT.</a:t>
            </a:r>
            <a:endParaRPr lang="en-US" sz="1400" dirty="0"/>
          </a:p>
        </p:txBody>
      </p:sp>
      <p:sp>
        <p:nvSpPr>
          <p:cNvPr id="40" name="TextBox 39">
            <a:extLst>
              <a:ext uri="{FF2B5EF4-FFF2-40B4-BE49-F238E27FC236}">
                <a16:creationId xmlns:a16="http://schemas.microsoft.com/office/drawing/2014/main" id="{6AF67890-3FCD-C135-75F5-670DAD9F42F0}"/>
              </a:ext>
            </a:extLst>
          </p:cNvPr>
          <p:cNvSpPr txBox="1"/>
          <p:nvPr/>
        </p:nvSpPr>
        <p:spPr>
          <a:xfrm>
            <a:off x="7353221" y="4647147"/>
            <a:ext cx="4223769" cy="307777"/>
          </a:xfrm>
          <a:prstGeom prst="rect">
            <a:avLst/>
          </a:prstGeom>
          <a:noFill/>
        </p:spPr>
        <p:txBody>
          <a:bodyPr wrap="square" rtlCol="0">
            <a:spAutoFit/>
          </a:bodyPr>
          <a:lstStyle/>
          <a:p>
            <a:pPr algn="ctr"/>
            <a:r>
              <a:rPr lang="en-US" sz="1400" dirty="0"/>
              <a:t>TTE, telemetry </a:t>
            </a:r>
          </a:p>
        </p:txBody>
      </p:sp>
      <p:sp>
        <p:nvSpPr>
          <p:cNvPr id="41" name="Initial tests">
            <a:extLst>
              <a:ext uri="{FF2B5EF4-FFF2-40B4-BE49-F238E27FC236}">
                <a16:creationId xmlns:a16="http://schemas.microsoft.com/office/drawing/2014/main" id="{A2CCC9EB-2162-4188-27C9-D30155FD21CE}"/>
              </a:ext>
            </a:extLst>
          </p:cNvPr>
          <p:cNvSpPr/>
          <p:nvPr/>
        </p:nvSpPr>
        <p:spPr>
          <a:xfrm>
            <a:off x="7329813" y="2283115"/>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is the most likely cause of syncope?</a:t>
            </a:r>
          </a:p>
        </p:txBody>
      </p:sp>
      <p:sp>
        <p:nvSpPr>
          <p:cNvPr id="42" name="What is the diagnosis">
            <a:extLst>
              <a:ext uri="{FF2B5EF4-FFF2-40B4-BE49-F238E27FC236}">
                <a16:creationId xmlns:a16="http://schemas.microsoft.com/office/drawing/2014/main" id="{54154741-FB19-3785-9873-D70262C0BB31}"/>
              </a:ext>
            </a:extLst>
          </p:cNvPr>
          <p:cNvSpPr/>
          <p:nvPr/>
        </p:nvSpPr>
        <p:spPr>
          <a:xfrm>
            <a:off x="7329813" y="3405730"/>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Where would you treat this patient?</a:t>
            </a:r>
          </a:p>
        </p:txBody>
      </p:sp>
      <p:sp>
        <p:nvSpPr>
          <p:cNvPr id="43" name="Wouldl you admit">
            <a:extLst>
              <a:ext uri="{FF2B5EF4-FFF2-40B4-BE49-F238E27FC236}">
                <a16:creationId xmlns:a16="http://schemas.microsoft.com/office/drawing/2014/main" id="{F0C17D48-D9F0-DFFA-E7B1-B1F09DD531E4}"/>
              </a:ext>
            </a:extLst>
          </p:cNvPr>
          <p:cNvSpPr/>
          <p:nvPr/>
        </p:nvSpPr>
        <p:spPr>
          <a:xfrm>
            <a:off x="7329813" y="5884504"/>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What is your next step in management?</a:t>
            </a:r>
          </a:p>
        </p:txBody>
      </p:sp>
      <p:sp>
        <p:nvSpPr>
          <p:cNvPr id="44" name="How would you treat">
            <a:extLst>
              <a:ext uri="{FF2B5EF4-FFF2-40B4-BE49-F238E27FC236}">
                <a16:creationId xmlns:a16="http://schemas.microsoft.com/office/drawing/2014/main" id="{926D69B1-0A53-7227-1D7C-2AF9C4C5A789}"/>
              </a:ext>
            </a:extLst>
          </p:cNvPr>
          <p:cNvSpPr/>
          <p:nvPr/>
        </p:nvSpPr>
        <p:spPr>
          <a:xfrm>
            <a:off x="7329813" y="4231273"/>
            <a:ext cx="429768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rPr>
              <a:t>How would you further evaluate this patient?</a:t>
            </a:r>
          </a:p>
        </p:txBody>
      </p:sp>
      <p:pic>
        <p:nvPicPr>
          <p:cNvPr id="45" name="Graphic 44" descr="Cursor with solid fill">
            <a:extLst>
              <a:ext uri="{FF2B5EF4-FFF2-40B4-BE49-F238E27FC236}">
                <a16:creationId xmlns:a16="http://schemas.microsoft.com/office/drawing/2014/main" id="{D39EFF66-BF05-5713-A147-4CD4AC8EC2CC}"/>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92992" y="2539202"/>
            <a:ext cx="274320" cy="274320"/>
          </a:xfrm>
          <a:prstGeom prst="rect">
            <a:avLst/>
          </a:prstGeom>
        </p:spPr>
      </p:pic>
      <p:pic>
        <p:nvPicPr>
          <p:cNvPr id="46" name="Graphic 45" descr="Cursor with solid fill">
            <a:extLst>
              <a:ext uri="{FF2B5EF4-FFF2-40B4-BE49-F238E27FC236}">
                <a16:creationId xmlns:a16="http://schemas.microsoft.com/office/drawing/2014/main" id="{E3CCEC26-0B09-87F0-F792-03859452C910}"/>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92992" y="6158098"/>
            <a:ext cx="274320" cy="274320"/>
          </a:xfrm>
          <a:prstGeom prst="rect">
            <a:avLst/>
          </a:prstGeom>
        </p:spPr>
      </p:pic>
      <p:pic>
        <p:nvPicPr>
          <p:cNvPr id="47" name="Graphic 46" descr="Cursor with solid fill">
            <a:extLst>
              <a:ext uri="{FF2B5EF4-FFF2-40B4-BE49-F238E27FC236}">
                <a16:creationId xmlns:a16="http://schemas.microsoft.com/office/drawing/2014/main" id="{83F38CB2-CFC7-89F3-4ED5-B243D6CD1AA4}"/>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92992" y="4506663"/>
            <a:ext cx="274320" cy="274320"/>
          </a:xfrm>
          <a:prstGeom prst="rect">
            <a:avLst/>
          </a:prstGeom>
        </p:spPr>
      </p:pic>
      <p:pic>
        <p:nvPicPr>
          <p:cNvPr id="48" name="Graphic 47" descr="Cursor with solid fill">
            <a:extLst>
              <a:ext uri="{FF2B5EF4-FFF2-40B4-BE49-F238E27FC236}">
                <a16:creationId xmlns:a16="http://schemas.microsoft.com/office/drawing/2014/main" id="{ED29B033-4D49-6DE8-4FF1-5EAAF22230A9}"/>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92992" y="3672714"/>
            <a:ext cx="274320" cy="274320"/>
          </a:xfrm>
          <a:prstGeom prst="rect">
            <a:avLst/>
          </a:prstGeom>
        </p:spPr>
      </p:pic>
      <p:pic>
        <p:nvPicPr>
          <p:cNvPr id="50" name="Graphic 49" descr="Cursor with solid fill">
            <a:extLst>
              <a:ext uri="{FF2B5EF4-FFF2-40B4-BE49-F238E27FC236}">
                <a16:creationId xmlns:a16="http://schemas.microsoft.com/office/drawing/2014/main" id="{14E292FD-E430-EA57-9D5F-85FE09F70218}"/>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2859" y="384580"/>
            <a:ext cx="274320" cy="274320"/>
          </a:xfrm>
          <a:prstGeom prst="rect">
            <a:avLst/>
          </a:prstGeom>
        </p:spPr>
      </p:pic>
      <p:sp>
        <p:nvSpPr>
          <p:cNvPr id="8" name="TextBox 7">
            <a:extLst>
              <a:ext uri="{FF2B5EF4-FFF2-40B4-BE49-F238E27FC236}">
                <a16:creationId xmlns:a16="http://schemas.microsoft.com/office/drawing/2014/main" id="{39E42CC5-9BA9-3791-D69C-A22FA48509CF}"/>
              </a:ext>
            </a:extLst>
          </p:cNvPr>
          <p:cNvSpPr txBox="1"/>
          <p:nvPr/>
        </p:nvSpPr>
        <p:spPr>
          <a:xfrm>
            <a:off x="7239441" y="5096682"/>
            <a:ext cx="4775082" cy="738664"/>
          </a:xfrm>
          <a:prstGeom prst="rect">
            <a:avLst/>
          </a:prstGeom>
          <a:noFill/>
        </p:spPr>
        <p:txBody>
          <a:bodyPr wrap="square">
            <a:spAutoFit/>
          </a:bodyPr>
          <a:lstStyle/>
          <a:p>
            <a:r>
              <a:rPr lang="en-US" sz="1400" dirty="0"/>
              <a:t>…TTE shows left ventricular wall motion abnormalities, LVEF 30%. Mild aortic stenosis. Telemetry with frequent symptomatic NSVT.</a:t>
            </a:r>
          </a:p>
        </p:txBody>
      </p:sp>
      <p:sp>
        <p:nvSpPr>
          <p:cNvPr id="2" name="Obj 2">
            <a:hlinkClick r:id="rId5" action="ppaction://hlinksldjump"/>
            <a:extLst>
              <a:ext uri="{FF2B5EF4-FFF2-40B4-BE49-F238E27FC236}">
                <a16:creationId xmlns:a16="http://schemas.microsoft.com/office/drawing/2014/main" id="{302673E4-4A26-94E6-4BE4-4AE0DCD6F89A}"/>
              </a:ext>
            </a:extLst>
          </p:cNvPr>
          <p:cNvSpPr/>
          <p:nvPr/>
        </p:nvSpPr>
        <p:spPr>
          <a:xfrm>
            <a:off x="184843" y="203348"/>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Definition</a:t>
            </a:r>
          </a:p>
        </p:txBody>
      </p:sp>
      <p:sp>
        <p:nvSpPr>
          <p:cNvPr id="3" name="Obj 2">
            <a:hlinkClick r:id="rId6" action="ppaction://hlinksldjump"/>
            <a:extLst>
              <a:ext uri="{FF2B5EF4-FFF2-40B4-BE49-F238E27FC236}">
                <a16:creationId xmlns:a16="http://schemas.microsoft.com/office/drawing/2014/main" id="{7906D78C-7FA7-2D51-E742-1A7BC0B359A4}"/>
              </a:ext>
            </a:extLst>
          </p:cNvPr>
          <p:cNvSpPr/>
          <p:nvPr/>
        </p:nvSpPr>
        <p:spPr>
          <a:xfrm>
            <a:off x="184843" y="775307"/>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Classification</a:t>
            </a:r>
          </a:p>
        </p:txBody>
      </p:sp>
      <p:sp>
        <p:nvSpPr>
          <p:cNvPr id="5" name="Obj 2">
            <a:hlinkClick r:id="rId7" action="ppaction://hlinksldjump"/>
            <a:extLst>
              <a:ext uri="{FF2B5EF4-FFF2-40B4-BE49-F238E27FC236}">
                <a16:creationId xmlns:a16="http://schemas.microsoft.com/office/drawing/2014/main" id="{6B63AE22-0D83-23E5-3067-787A5EAB0163}"/>
              </a:ext>
            </a:extLst>
          </p:cNvPr>
          <p:cNvSpPr/>
          <p:nvPr/>
        </p:nvSpPr>
        <p:spPr>
          <a:xfrm>
            <a:off x="184843" y="1347266"/>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Evaluation</a:t>
            </a:r>
          </a:p>
        </p:txBody>
      </p:sp>
      <p:sp>
        <p:nvSpPr>
          <p:cNvPr id="6" name="Obj 2">
            <a:hlinkClick r:id="rId8" action="ppaction://hlinksldjump"/>
            <a:extLst>
              <a:ext uri="{FF2B5EF4-FFF2-40B4-BE49-F238E27FC236}">
                <a16:creationId xmlns:a16="http://schemas.microsoft.com/office/drawing/2014/main" id="{A19A9CF9-0372-824E-1486-BCBD9675D741}"/>
              </a:ext>
            </a:extLst>
          </p:cNvPr>
          <p:cNvSpPr/>
          <p:nvPr/>
        </p:nvSpPr>
        <p:spPr>
          <a:xfrm>
            <a:off x="184843" y="2482418"/>
            <a:ext cx="186798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Cases</a:t>
            </a:r>
          </a:p>
        </p:txBody>
      </p:sp>
      <p:pic>
        <p:nvPicPr>
          <p:cNvPr id="9" name="Graphic 8" descr="Cursor with solid fill">
            <a:extLst>
              <a:ext uri="{FF2B5EF4-FFF2-40B4-BE49-F238E27FC236}">
                <a16:creationId xmlns:a16="http://schemas.microsoft.com/office/drawing/2014/main" id="{1B507C11-930C-D150-DD7D-8A7CFD17415D}"/>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454521"/>
            <a:ext cx="274320" cy="274320"/>
          </a:xfrm>
          <a:prstGeom prst="rect">
            <a:avLst/>
          </a:prstGeom>
        </p:spPr>
      </p:pic>
      <p:pic>
        <p:nvPicPr>
          <p:cNvPr id="11" name="Graphic 10" descr="Cursor with solid fill">
            <a:extLst>
              <a:ext uri="{FF2B5EF4-FFF2-40B4-BE49-F238E27FC236}">
                <a16:creationId xmlns:a16="http://schemas.microsoft.com/office/drawing/2014/main" id="{EFBE4F1F-2B00-CCF2-0EA7-7DF8F09939F2}"/>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021974"/>
            <a:ext cx="274320" cy="274320"/>
          </a:xfrm>
          <a:prstGeom prst="rect">
            <a:avLst/>
          </a:prstGeom>
        </p:spPr>
      </p:pic>
      <p:pic>
        <p:nvPicPr>
          <p:cNvPr id="14" name="Graphic 13" descr="Cursor with solid fill">
            <a:extLst>
              <a:ext uri="{FF2B5EF4-FFF2-40B4-BE49-F238E27FC236}">
                <a16:creationId xmlns:a16="http://schemas.microsoft.com/office/drawing/2014/main" id="{CAB6B30F-40B0-B0CC-A91C-4AB6CB322F63}"/>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9428" y="1593107"/>
            <a:ext cx="274320" cy="274320"/>
          </a:xfrm>
          <a:prstGeom prst="rect">
            <a:avLst/>
          </a:prstGeom>
        </p:spPr>
      </p:pic>
      <p:sp>
        <p:nvSpPr>
          <p:cNvPr id="16" name="Obj 2">
            <a:hlinkClick r:id="rId8" action="ppaction://hlinksldjump"/>
            <a:extLst>
              <a:ext uri="{FF2B5EF4-FFF2-40B4-BE49-F238E27FC236}">
                <a16:creationId xmlns:a16="http://schemas.microsoft.com/office/drawing/2014/main" id="{BD31757D-6A47-7025-C99C-D88781B6FF4A}"/>
              </a:ext>
            </a:extLst>
          </p:cNvPr>
          <p:cNvSpPr/>
          <p:nvPr/>
        </p:nvSpPr>
        <p:spPr>
          <a:xfrm>
            <a:off x="441715" y="3051668"/>
            <a:ext cx="159337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7" name="Obj 2">
            <a:hlinkClick r:id="rId9" action="ppaction://hlinksldjump"/>
            <a:extLst>
              <a:ext uri="{FF2B5EF4-FFF2-40B4-BE49-F238E27FC236}">
                <a16:creationId xmlns:a16="http://schemas.microsoft.com/office/drawing/2014/main" id="{E2400972-384D-6BF5-A77A-D98CB3F9840B}"/>
              </a:ext>
            </a:extLst>
          </p:cNvPr>
          <p:cNvSpPr/>
          <p:nvPr/>
        </p:nvSpPr>
        <p:spPr>
          <a:xfrm>
            <a:off x="441715" y="3621825"/>
            <a:ext cx="1593374" cy="381915"/>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cxnSp>
        <p:nvCxnSpPr>
          <p:cNvPr id="21" name="Connector: Elbow 20">
            <a:extLst>
              <a:ext uri="{FF2B5EF4-FFF2-40B4-BE49-F238E27FC236}">
                <a16:creationId xmlns:a16="http://schemas.microsoft.com/office/drawing/2014/main" id="{64E2D6CE-A357-F2DA-A077-A081E577C61A}"/>
              </a:ext>
            </a:extLst>
          </p:cNvPr>
          <p:cNvCxnSpPr/>
          <p:nvPr/>
        </p:nvCxnSpPr>
        <p:spPr>
          <a:xfrm rot="16200000" flipH="1">
            <a:off x="159517" y="2959405"/>
            <a:ext cx="379200" cy="185195"/>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537339E9-8E12-579B-4529-7C16706A4AE8}"/>
              </a:ext>
            </a:extLst>
          </p:cNvPr>
          <p:cNvCxnSpPr>
            <a:cxnSpLocks/>
          </p:cNvCxnSpPr>
          <p:nvPr/>
        </p:nvCxnSpPr>
        <p:spPr>
          <a:xfrm rot="16200000" flipH="1">
            <a:off x="-125562" y="3244483"/>
            <a:ext cx="949358" cy="18519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Graphic 23" descr="Cursor with solid fill">
            <a:extLst>
              <a:ext uri="{FF2B5EF4-FFF2-40B4-BE49-F238E27FC236}">
                <a16:creationId xmlns:a16="http://schemas.microsoft.com/office/drawing/2014/main" id="{CCDC21AE-D19F-9C08-32C1-F0508E19EA7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9731" y="3305523"/>
            <a:ext cx="274320" cy="274320"/>
          </a:xfrm>
          <a:prstGeom prst="rect">
            <a:avLst/>
          </a:prstGeom>
        </p:spPr>
      </p:pic>
      <p:pic>
        <p:nvPicPr>
          <p:cNvPr id="25" name="teachIM logo" descr="Icon  Description automatically generated">
            <a:extLst>
              <a:ext uri="{FF2B5EF4-FFF2-40B4-BE49-F238E27FC236}">
                <a16:creationId xmlns:a16="http://schemas.microsoft.com/office/drawing/2014/main" id="{5F66DE81-C5EB-0395-E9A6-E395DCF5A32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13" name="Obj 2">
            <a:hlinkClick r:id="rId7" action="ppaction://hlinksldjump"/>
            <a:extLst>
              <a:ext uri="{FF2B5EF4-FFF2-40B4-BE49-F238E27FC236}">
                <a16:creationId xmlns:a16="http://schemas.microsoft.com/office/drawing/2014/main" id="{6B196750-D6F2-264B-A6F2-075D2211DDF5}"/>
              </a:ext>
            </a:extLst>
          </p:cNvPr>
          <p:cNvSpPr/>
          <p:nvPr/>
        </p:nvSpPr>
        <p:spPr>
          <a:xfrm>
            <a:off x="171554" y="1914842"/>
            <a:ext cx="1867984" cy="38191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Management</a:t>
            </a:r>
          </a:p>
        </p:txBody>
      </p:sp>
      <p:pic>
        <p:nvPicPr>
          <p:cNvPr id="15" name="Graphic 14" descr="Cursor with solid fill">
            <a:extLst>
              <a:ext uri="{FF2B5EF4-FFF2-40B4-BE49-F238E27FC236}">
                <a16:creationId xmlns:a16="http://schemas.microsoft.com/office/drawing/2014/main" id="{19E688E0-68B5-B6A3-4E85-5D926AF40B15}"/>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96139" y="2160683"/>
            <a:ext cx="274320" cy="274320"/>
          </a:xfrm>
          <a:prstGeom prst="rect">
            <a:avLst/>
          </a:prstGeom>
        </p:spPr>
      </p:pic>
    </p:spTree>
    <p:extLst>
      <p:ext uri="{BB962C8B-B14F-4D97-AF65-F5344CB8AC3E}">
        <p14:creationId xmlns:p14="http://schemas.microsoft.com/office/powerpoint/2010/main" val="878638946"/>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55"/>
                  </p:tgtEl>
                </p:cond>
              </p:nextCondLst>
            </p:seq>
            <p:seq concurrent="1" nextAc="seek">
              <p:cTn id="17" restart="whenNotActive" fill="hold" evtFilter="cancelBubble" nodeType="interactiveSeq">
                <p:stCondLst>
                  <p:cond evt="onClick" delay="0">
                    <p:tgtEl>
                      <p:spTgt spid="174"/>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0"/>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74"/>
                  </p:tgtEl>
                </p:cond>
              </p:nextCondLst>
            </p:seq>
            <p:seq concurrent="1" nextAc="seek">
              <p:cTn id="24" restart="whenNotActive" fill="hold" evtFilter="cancelBubble" nodeType="interactiveSeq">
                <p:stCondLst>
                  <p:cond evt="onClick" delay="0">
                    <p:tgtEl>
                      <p:spTgt spid="243"/>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243"/>
                  </p:tgtEl>
                </p:cond>
              </p:nextCondLst>
            </p:seq>
            <p:seq concurrent="1" nextAc="seek">
              <p:cTn id="31" restart="whenNotActive" fill="hold" evtFilter="cancelBubble" nodeType="interactiveSeq">
                <p:stCondLst>
                  <p:cond evt="onClick" delay="0">
                    <p:tgtEl>
                      <p:spTgt spid="32"/>
                    </p:tgtEl>
                  </p:cond>
                </p:stCondLst>
                <p:endSync evt="end" delay="0">
                  <p:rtn val="all"/>
                </p:endSync>
                <p:childTnLst>
                  <p:par>
                    <p:cTn id="32" fill="hold">
                      <p:stCondLst>
                        <p:cond delay="0"/>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32"/>
                  </p:tgtEl>
                </p:cond>
              </p:nextCondLst>
            </p:seq>
            <p:seq concurrent="1" nextAc="seek">
              <p:cTn id="54" restart="whenNotActive" fill="hold" evtFilter="cancelBubble" nodeType="interactiveSeq">
                <p:stCondLst>
                  <p:cond evt="onClick" delay="0">
                    <p:tgtEl>
                      <p:spTgt spid="41"/>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61" restart="whenNotActive" fill="hold" evtFilter="cancelBubble" nodeType="interactiveSeq">
                <p:stCondLst>
                  <p:cond evt="onClick" delay="0">
                    <p:tgtEl>
                      <p:spTgt spid="42"/>
                    </p:tgtEl>
                  </p:cond>
                </p:stCondLst>
                <p:endSync evt="end" delay="0">
                  <p:rtn val="all"/>
                </p:endSync>
                <p:childTnLst>
                  <p:par>
                    <p:cTn id="62" fill="hold">
                      <p:stCondLst>
                        <p:cond delay="0"/>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7"/>
                                        </p:tgtEl>
                                        <p:attrNameLst>
                                          <p:attrName>style.visibility</p:attrName>
                                        </p:attrNameLst>
                                      </p:cBhvr>
                                      <p:to>
                                        <p:strVal val="visible"/>
                                      </p:to>
                                    </p:set>
                                  </p:childTnLst>
                                </p:cTn>
                              </p:par>
                              <p:par>
                                <p:cTn id="66" presetID="1" presetClass="exit" presetSubtype="0" fill="hold" nodeType="withEffect">
                                  <p:stCondLst>
                                    <p:cond delay="0"/>
                                  </p:stCondLst>
                                  <p:childTnLst>
                                    <p:set>
                                      <p:cBhvr>
                                        <p:cTn id="67"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68" restart="whenNotActive" fill="hold" evtFilter="cancelBubble" nodeType="interactiveSeq">
                <p:stCondLst>
                  <p:cond evt="onClick" delay="0">
                    <p:tgtEl>
                      <p:spTgt spid="44"/>
                    </p:tgtEl>
                  </p:cond>
                </p:stCondLst>
                <p:endSync evt="end" delay="0">
                  <p:rtn val="all"/>
                </p:endSync>
                <p:childTnLst>
                  <p:par>
                    <p:cTn id="69" fill="hold">
                      <p:stCondLst>
                        <p:cond delay="0"/>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47"/>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seq concurrent="1" nextAc="seek">
              <p:cTn id="77" restart="whenNotActive" fill="hold" evtFilter="cancelBubble" nodeType="interactiveSeq">
                <p:stCondLst>
                  <p:cond evt="onClick" delay="0">
                    <p:tgtEl>
                      <p:spTgt spid="43"/>
                    </p:tgtEl>
                  </p:cond>
                </p:stCondLst>
                <p:endSync evt="end" delay="0">
                  <p:rtn val="all"/>
                </p:endSync>
                <p:childTnLst>
                  <p:par>
                    <p:cTn id="78" fill="hold">
                      <p:stCondLst>
                        <p:cond delay="0"/>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9"/>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46"/>
                                        </p:tgtEl>
                                        <p:attrNameLst>
                                          <p:attrName>style.visibility</p:attrName>
                                        </p:attrNameLst>
                                      </p:cBhvr>
                                      <p:to>
                                        <p:strVal val="hidden"/>
                                      </p:to>
                                    </p:set>
                                  </p:childTnLst>
                                </p:cTn>
                              </p:par>
                            </p:childTnLst>
                          </p:cTn>
                        </p:par>
                      </p:childTnLst>
                    </p:cTn>
                  </p:par>
                </p:childTnLst>
              </p:cTn>
              <p:nextCondLst>
                <p:cond evt="onClick" delay="0">
                  <p:tgtEl>
                    <p:spTgt spid="43"/>
                  </p:tgtEl>
                </p:cond>
              </p:nextCondLst>
            </p:seq>
          </p:childTnLst>
        </p:cTn>
      </p:par>
    </p:tnLst>
    <p:bldLst>
      <p:bldP spid="4" grpId="0"/>
      <p:bldP spid="200" grpId="0"/>
      <p:bldP spid="174" grpId="0" animBg="1"/>
      <p:bldP spid="23" grpId="0"/>
      <p:bldP spid="243" grpId="0" animBg="1"/>
      <p:bldP spid="34" grpId="0"/>
      <p:bldP spid="36" grpId="0"/>
      <p:bldP spid="37" grpId="0"/>
      <p:bldP spid="39" grpId="0"/>
      <p:bldP spid="40" grpId="0"/>
      <p:bldP spid="41" grpId="0" animBg="1"/>
      <p:bldP spid="42" grpId="0" animBg="1"/>
      <p:bldP spid="43" grpId="0" animBg="1"/>
      <p:bldP spid="44" grpId="0" animBg="1"/>
      <p:bldP spid="8" grpId="0"/>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46304"/>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720" cy="640080"/>
          </a:xfrm>
          <a:prstGeom prst="rect">
            <a:avLst/>
          </a:prstGeom>
          <a:noFill/>
        </p:spPr>
        <p:txBody>
          <a:bodyPr wrap="square" anchor="t" lIns="0" rIns="0" tIns="0" bIns="0">
            <a:spAutoFit/>
          </a:bodyPr>
          <a:lstStyle/>
          <a:p>
            <a:pPr algn="l">
              <a:spcAft>
                <a:spcPts val="600"/>
              </a:spcAft>
            </a:pPr>
            <a:r>
              <a:rPr sz="3000" b="1" i="0">
                <a:solidFill>
                  <a:srgbClr val="0E6E8C"/>
                </a:solidFill>
                <a:latin typeface="Calibri"/>
              </a:rPr>
              <a:t>Take-Home Points</a:t>
            </a:r>
          </a:p>
        </p:txBody>
      </p:sp>
      <p:sp>
        <p:nvSpPr>
          <p:cNvPr id="4" name="Rectangle 3"/>
          <p:cNvSpPr/>
          <p:nvPr/>
        </p:nvSpPr>
        <p:spPr>
          <a:xfrm>
            <a:off x="548640" y="1234440"/>
            <a:ext cx="11094720" cy="1078992"/>
          </a:xfrm>
          <a:prstGeom prst="rect">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44168"/>
            <a:ext cx="457200" cy="868680"/>
          </a:xfrm>
          <a:prstGeom prst="rect">
            <a:avLst/>
          </a:prstGeom>
          <a:noFill/>
        </p:spPr>
        <p:txBody>
          <a:bodyPr wrap="square" anchor="ctr" lIns="0" rIns="0" tIns="0" bIns="0">
            <a:spAutoFit/>
          </a:bodyPr>
          <a:lstStyle/>
          <a:p>
            <a:pPr algn="l">
              <a:spcAft>
                <a:spcPts val="600"/>
              </a:spcAft>
            </a:pPr>
            <a:r>
              <a:rPr sz="2600" b="1" i="0">
                <a:solidFill>
                  <a:srgbClr val="0E6E8C"/>
                </a:solidFill>
                <a:latin typeface="Calibri"/>
              </a:rPr>
              <a:t>1</a:t>
            </a:r>
          </a:p>
        </p:txBody>
      </p:sp>
      <p:sp>
        <p:nvSpPr>
          <p:cNvPr id="6" name="TextBox 5"/>
          <p:cNvSpPr txBox="1"/>
          <p:nvPr/>
        </p:nvSpPr>
        <p:spPr>
          <a:xfrm>
            <a:off x="1371600" y="1362456"/>
            <a:ext cx="9997440" cy="365760"/>
          </a:xfrm>
          <a:prstGeom prst="rect">
            <a:avLst/>
          </a:prstGeom>
          <a:noFill/>
        </p:spPr>
        <p:txBody>
          <a:bodyPr wrap="square" anchor="t" lIns="0" rIns="0" tIns="0" bIns="0">
            <a:spAutoFit/>
          </a:bodyPr>
          <a:lstStyle/>
          <a:p>
            <a:pPr algn="l">
              <a:spcAft>
                <a:spcPts val="600"/>
              </a:spcAft>
            </a:pPr>
            <a:r>
              <a:rPr sz="1500" b="1" i="0">
                <a:solidFill>
                  <a:srgbClr val="1A2433"/>
                </a:solidFill>
                <a:latin typeface="Calibri"/>
              </a:rPr>
              <a:t>Syncope = global cerebral hypoperfusion</a:t>
            </a:r>
          </a:p>
        </p:txBody>
      </p:sp>
      <p:sp>
        <p:nvSpPr>
          <p:cNvPr id="7" name="TextBox 6"/>
          <p:cNvSpPr txBox="1"/>
          <p:nvPr/>
        </p:nvSpPr>
        <p:spPr>
          <a:xfrm>
            <a:off x="1371600" y="1746504"/>
            <a:ext cx="9997440" cy="502920"/>
          </a:xfrm>
          <a:prstGeom prst="rect">
            <a:avLst/>
          </a:prstGeom>
          <a:noFill/>
        </p:spPr>
        <p:txBody>
          <a:bodyPr wrap="square" anchor="t" lIns="0" rIns="0" tIns="0" bIns="0">
            <a:spAutoFit/>
          </a:bodyPr>
          <a:lstStyle/>
          <a:p>
            <a:pPr algn="l">
              <a:spcAft>
                <a:spcPts val="600"/>
              </a:spcAft>
            </a:pPr>
            <a:r>
              <a:rPr sz="1250" b="0" i="0">
                <a:solidFill>
                  <a:srgbClr val="1A2433"/>
                </a:solidFill>
                <a:latin typeface="Calibri"/>
              </a:rPr>
              <a:t>Pathophysiology defines it and separates it from other transient loss of consciousness (seizure, hypoglycemia, TIA — the three big mimics).</a:t>
            </a:r>
          </a:p>
        </p:txBody>
      </p:sp>
      <p:sp>
        <p:nvSpPr>
          <p:cNvPr id="8" name="Rectangle 7"/>
          <p:cNvSpPr/>
          <p:nvPr/>
        </p:nvSpPr>
        <p:spPr>
          <a:xfrm>
            <a:off x="548640" y="2450592"/>
            <a:ext cx="11094720" cy="1078992"/>
          </a:xfrm>
          <a:prstGeom prst="rect">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60320"/>
            <a:ext cx="457200" cy="868680"/>
          </a:xfrm>
          <a:prstGeom prst="rect">
            <a:avLst/>
          </a:prstGeom>
          <a:noFill/>
        </p:spPr>
        <p:txBody>
          <a:bodyPr wrap="square" anchor="ctr" lIns="0" rIns="0" tIns="0" bIns="0">
            <a:spAutoFit/>
          </a:bodyPr>
          <a:lstStyle/>
          <a:p>
            <a:pPr algn="l">
              <a:spcAft>
                <a:spcPts val="600"/>
              </a:spcAft>
            </a:pPr>
            <a:r>
              <a:rPr sz="2600" b="1" i="0">
                <a:solidFill>
                  <a:srgbClr val="0E6E8C"/>
                </a:solidFill>
                <a:latin typeface="Calibri"/>
              </a:rPr>
              <a:t>2</a:t>
            </a:r>
          </a:p>
        </p:txBody>
      </p:sp>
      <p:sp>
        <p:nvSpPr>
          <p:cNvPr id="10" name="TextBox 9"/>
          <p:cNvSpPr txBox="1"/>
          <p:nvPr/>
        </p:nvSpPr>
        <p:spPr>
          <a:xfrm>
            <a:off x="1371600" y="2578608"/>
            <a:ext cx="9997440" cy="365760"/>
          </a:xfrm>
          <a:prstGeom prst="rect">
            <a:avLst/>
          </a:prstGeom>
          <a:noFill/>
        </p:spPr>
        <p:txBody>
          <a:bodyPr wrap="square" anchor="t" lIns="0" rIns="0" tIns="0" bIns="0">
            <a:spAutoFit/>
          </a:bodyPr>
          <a:lstStyle/>
          <a:p>
            <a:pPr algn="l">
              <a:spcAft>
                <a:spcPts val="600"/>
              </a:spcAft>
            </a:pPr>
            <a:r>
              <a:rPr sz="1500" b="1" i="0">
                <a:solidFill>
                  <a:srgbClr val="1A2433"/>
                </a:solidFill>
                <a:latin typeface="Calibri"/>
              </a:rPr>
              <a:t>Three classifications</a:t>
            </a:r>
          </a:p>
        </p:txBody>
      </p:sp>
      <p:sp>
        <p:nvSpPr>
          <p:cNvPr id="11" name="TextBox 10"/>
          <p:cNvSpPr txBox="1"/>
          <p:nvPr/>
        </p:nvSpPr>
        <p:spPr>
          <a:xfrm>
            <a:off x="1371600" y="2962656"/>
            <a:ext cx="9997440" cy="502920"/>
          </a:xfrm>
          <a:prstGeom prst="rect">
            <a:avLst/>
          </a:prstGeom>
          <a:noFill/>
        </p:spPr>
        <p:txBody>
          <a:bodyPr wrap="square" anchor="t" lIns="0" rIns="0" tIns="0" bIns="0">
            <a:spAutoFit/>
          </a:bodyPr>
          <a:lstStyle/>
          <a:p>
            <a:pPr algn="l">
              <a:spcAft>
                <a:spcPts val="600"/>
              </a:spcAft>
            </a:pPr>
            <a:r>
              <a:rPr sz="1250" b="0" i="0">
                <a:solidFill>
                  <a:srgbClr val="1A2433"/>
                </a:solidFill>
                <a:latin typeface="Calibri"/>
              </a:rPr>
              <a:t>Orthostatic hypotension (insufficient autonomic response), reflex (inappropriate response to a trigger), cardiac (low CO — the one that kills).</a:t>
            </a:r>
          </a:p>
        </p:txBody>
      </p:sp>
      <p:sp>
        <p:nvSpPr>
          <p:cNvPr id="12" name="Rectangle 11"/>
          <p:cNvSpPr/>
          <p:nvPr/>
        </p:nvSpPr>
        <p:spPr>
          <a:xfrm>
            <a:off x="548640" y="3666744"/>
            <a:ext cx="11094720" cy="1078992"/>
          </a:xfrm>
          <a:prstGeom prst="rect">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76472"/>
            <a:ext cx="457200" cy="868680"/>
          </a:xfrm>
          <a:prstGeom prst="rect">
            <a:avLst/>
          </a:prstGeom>
          <a:noFill/>
        </p:spPr>
        <p:txBody>
          <a:bodyPr wrap="square" anchor="ctr" lIns="0" rIns="0" tIns="0" bIns="0">
            <a:spAutoFit/>
          </a:bodyPr>
          <a:lstStyle/>
          <a:p>
            <a:pPr algn="l">
              <a:spcAft>
                <a:spcPts val="600"/>
              </a:spcAft>
            </a:pPr>
            <a:r>
              <a:rPr sz="2600" b="1" i="0">
                <a:solidFill>
                  <a:srgbClr val="0E6E8C"/>
                </a:solidFill>
                <a:latin typeface="Calibri"/>
              </a:rPr>
              <a:t>3</a:t>
            </a:r>
          </a:p>
        </p:txBody>
      </p:sp>
      <p:sp>
        <p:nvSpPr>
          <p:cNvPr id="14" name="TextBox 13"/>
          <p:cNvSpPr txBox="1"/>
          <p:nvPr/>
        </p:nvSpPr>
        <p:spPr>
          <a:xfrm>
            <a:off x="1371600" y="3794759"/>
            <a:ext cx="9997440" cy="365760"/>
          </a:xfrm>
          <a:prstGeom prst="rect">
            <a:avLst/>
          </a:prstGeom>
          <a:noFill/>
        </p:spPr>
        <p:txBody>
          <a:bodyPr wrap="square" anchor="t" lIns="0" rIns="0" tIns="0" bIns="0">
            <a:spAutoFit/>
          </a:bodyPr>
          <a:lstStyle/>
          <a:p>
            <a:pPr algn="l">
              <a:spcAft>
                <a:spcPts val="600"/>
              </a:spcAft>
            </a:pPr>
            <a:r>
              <a:rPr sz="1500" b="1" i="0">
                <a:solidFill>
                  <a:srgbClr val="1A2433"/>
                </a:solidFill>
                <a:latin typeface="Calibri"/>
              </a:rPr>
              <a:t>History does the heavy lifting</a:t>
            </a:r>
          </a:p>
        </p:txBody>
      </p:sp>
      <p:sp>
        <p:nvSpPr>
          <p:cNvPr id="15" name="TextBox 14"/>
          <p:cNvSpPr txBox="1"/>
          <p:nvPr/>
        </p:nvSpPr>
        <p:spPr>
          <a:xfrm>
            <a:off x="1371600" y="4178808"/>
            <a:ext cx="9997440" cy="502920"/>
          </a:xfrm>
          <a:prstGeom prst="rect">
            <a:avLst/>
          </a:prstGeom>
          <a:noFill/>
        </p:spPr>
        <p:txBody>
          <a:bodyPr wrap="square" anchor="t" lIns="0" rIns="0" tIns="0" bIns="0">
            <a:spAutoFit/>
          </a:bodyPr>
          <a:lstStyle/>
          <a:p>
            <a:pPr algn="l">
              <a:spcAft>
                <a:spcPts val="600"/>
              </a:spcAft>
            </a:pPr>
            <a:r>
              <a:rPr sz="1250" b="0" i="0">
                <a:solidFill>
                  <a:srgbClr val="1A2433"/>
                </a:solidFill>
                <a:latin typeface="Calibri"/>
              </a:rPr>
              <a:t>Who + where/how + prodrome + medications distinguish the three types in most patients.</a:t>
            </a:r>
          </a:p>
        </p:txBody>
      </p:sp>
      <p:sp>
        <p:nvSpPr>
          <p:cNvPr id="16" name="Rectangle 15"/>
          <p:cNvSpPr/>
          <p:nvPr/>
        </p:nvSpPr>
        <p:spPr>
          <a:xfrm>
            <a:off x="548640" y="4882896"/>
            <a:ext cx="11094720" cy="1078992"/>
          </a:xfrm>
          <a:prstGeom prst="rect">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92624"/>
            <a:ext cx="457200" cy="868680"/>
          </a:xfrm>
          <a:prstGeom prst="rect">
            <a:avLst/>
          </a:prstGeom>
          <a:noFill/>
        </p:spPr>
        <p:txBody>
          <a:bodyPr wrap="square" anchor="ctr" lIns="0" rIns="0" tIns="0" bIns="0">
            <a:spAutoFit/>
          </a:bodyPr>
          <a:lstStyle/>
          <a:p>
            <a:pPr algn="l">
              <a:spcAft>
                <a:spcPts val="600"/>
              </a:spcAft>
            </a:pPr>
            <a:r>
              <a:rPr sz="2600" b="1" i="0">
                <a:solidFill>
                  <a:srgbClr val="0E6E8C"/>
                </a:solidFill>
                <a:latin typeface="Calibri"/>
              </a:rPr>
              <a:t>4</a:t>
            </a:r>
          </a:p>
        </p:txBody>
      </p:sp>
      <p:sp>
        <p:nvSpPr>
          <p:cNvPr id="18" name="TextBox 17"/>
          <p:cNvSpPr txBox="1"/>
          <p:nvPr/>
        </p:nvSpPr>
        <p:spPr>
          <a:xfrm>
            <a:off x="1371600" y="5010912"/>
            <a:ext cx="9997440" cy="365760"/>
          </a:xfrm>
          <a:prstGeom prst="rect">
            <a:avLst/>
          </a:prstGeom>
          <a:noFill/>
        </p:spPr>
        <p:txBody>
          <a:bodyPr wrap="square" anchor="t" lIns="0" rIns="0" tIns="0" bIns="0">
            <a:spAutoFit/>
          </a:bodyPr>
          <a:lstStyle/>
          <a:p>
            <a:pPr algn="l">
              <a:spcAft>
                <a:spcPts val="600"/>
              </a:spcAft>
            </a:pPr>
            <a:r>
              <a:rPr sz="1500" b="1" i="0">
                <a:solidFill>
                  <a:srgbClr val="1A2433"/>
                </a:solidFill>
                <a:latin typeface="Calibri"/>
              </a:rPr>
              <a:t>Everyone gets four things</a:t>
            </a:r>
          </a:p>
        </p:txBody>
      </p:sp>
      <p:sp>
        <p:nvSpPr>
          <p:cNvPr id="19" name="TextBox 18"/>
          <p:cNvSpPr txBox="1"/>
          <p:nvPr/>
        </p:nvSpPr>
        <p:spPr>
          <a:xfrm>
            <a:off x="1371600" y="5394960"/>
            <a:ext cx="9997440" cy="502920"/>
          </a:xfrm>
          <a:prstGeom prst="rect">
            <a:avLst/>
          </a:prstGeom>
          <a:noFill/>
        </p:spPr>
        <p:txBody>
          <a:bodyPr wrap="square" anchor="t" lIns="0" rIns="0" tIns="0" bIns="0">
            <a:spAutoFit/>
          </a:bodyPr>
          <a:lstStyle/>
          <a:p>
            <a:pPr algn="l">
              <a:spcAft>
                <a:spcPts val="600"/>
              </a:spcAft>
            </a:pPr>
            <a:r>
              <a:rPr sz="1250" b="0" i="0">
                <a:solidFill>
                  <a:srgbClr val="1A2433"/>
                </a:solidFill>
                <a:latin typeface="Calibri"/>
              </a:rPr>
              <a:t>History, physical exam, orthostatic vitals, ECG. Everything beyond that is individualized; high-risk features → admit.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46304"/>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94720" cy="640080"/>
          </a:xfrm>
          <a:prstGeom prst="rect">
            <a:avLst/>
          </a:prstGeom>
          <a:noFill/>
        </p:spPr>
        <p:txBody>
          <a:bodyPr wrap="square" anchor="t" lIns="0" rIns="0" tIns="0" bIns="0">
            <a:spAutoFit/>
          </a:bodyPr>
          <a:lstStyle/>
          <a:p>
            <a:pPr algn="l">
              <a:spcAft>
                <a:spcPts val="600"/>
              </a:spcAft>
            </a:pPr>
            <a:r>
              <a:rPr sz="2800" b="1" i="0">
                <a:solidFill>
                  <a:srgbClr val="0E6E8C"/>
                </a:solidFill>
                <a:latin typeface="Calibri"/>
              </a:rPr>
              <a:t>About This Optimized Edition</a:t>
            </a:r>
          </a:p>
        </p:txBody>
      </p:sp>
      <p:sp>
        <p:nvSpPr>
          <p:cNvPr id="4" name="TextBox 3"/>
          <p:cNvSpPr txBox="1"/>
          <p:nvPr/>
        </p:nvSpPr>
        <p:spPr>
          <a:xfrm>
            <a:off x="548640" y="1188720"/>
            <a:ext cx="11094720" cy="4114800"/>
          </a:xfrm>
          <a:prstGeom prst="rect">
            <a:avLst/>
          </a:prstGeom>
          <a:noFill/>
        </p:spPr>
        <p:txBody>
          <a:bodyPr wrap="square" anchor="t" lIns="0" rIns="0" tIns="0" bIns="0">
            <a:spAutoFit/>
          </a:bodyPr>
          <a:lstStyle/>
          <a:p>
            <a:pPr algn="l">
              <a:spcAft>
                <a:spcPts val="1200"/>
              </a:spcAft>
            </a:pPr>
            <a:r>
              <a:rPr sz="1300" b="1" i="0">
                <a:solidFill>
                  <a:srgbClr val="1A2433"/>
                </a:solidFill>
                <a:latin typeface="Calibri"/>
              </a:rPr>
              <a:t>Original: </a:t>
            </a:r>
            <a:r>
              <a:rPr sz="1300" b="0" i="0">
                <a:solidFill>
                  <a:srgbClr val="1A2433"/>
                </a:solidFill>
                <a:latin typeface="Calibri"/>
              </a:rPr>
              <a:t>“Syncope” — TeachIM.org. Hibshman M, Dietsche C; eds. Zhang Y, Fainstad B (Univ. of Colorado / Univ. of Washington). Published October 2023.</a:t>
            </a:r>
          </a:p>
          <a:p>
            <a:pPr algn="l">
              <a:spcAft>
                <a:spcPts val="1200"/>
              </a:spcAft>
            </a:pPr>
            <a:r>
              <a:rPr sz="1300" b="1" i="0">
                <a:solidFill>
                  <a:srgbClr val="1A2433"/>
                </a:solidFill>
                <a:latin typeface="Calibri"/>
              </a:rPr>
              <a:t>License: </a:t>
            </a:r>
            <a:r>
              <a:rPr sz="1300" b="0" i="0">
                <a:solidFill>
                  <a:srgbClr val="1A2433"/>
                </a:solidFill>
                <a:latin typeface="Calibri"/>
              </a:rPr>
              <a:t>Creative Commons Attribution-NonCommercial 4.0 (CC BY-NC 4.0). Educational use only — not medical advice.</a:t>
            </a:r>
          </a:p>
          <a:p>
            <a:pPr algn="l">
              <a:spcAft>
                <a:spcPts val="1200"/>
              </a:spcAft>
            </a:pPr>
            <a:r>
              <a:rPr sz="1300" b="1" i="0">
                <a:solidFill>
                  <a:srgbClr val="1A2433"/>
                </a:solidFill>
                <a:latin typeface="Calibri"/>
              </a:rPr>
              <a:t>Guideline currency (verified June 2026): </a:t>
            </a:r>
            <a:r>
              <a:rPr sz="1300" b="0" i="0">
                <a:solidFill>
                  <a:srgbClr val="1A2433"/>
                </a:solidFill>
                <a:latin typeface="Calibri"/>
              </a:rPr>
              <a:t>2017 ACC/AHA/HRS and 2018 ESC syncope guidelines remain the standing references; core content confirmed current.</a:t>
            </a:r>
          </a:p>
          <a:p>
            <a:pPr algn="l">
              <a:spcAft>
                <a:spcPts val="1200"/>
              </a:spcAft>
            </a:pPr>
            <a:r>
              <a:rPr sz="1300" b="1" i="0">
                <a:solidFill>
                  <a:srgbClr val="1A2433"/>
                </a:solidFill>
                <a:latin typeface="Calibri"/>
              </a:rPr>
              <a:t>Corrections in this edition: </a:t>
            </a:r>
            <a:r>
              <a:rPr sz="1300" b="0" i="0">
                <a:solidFill>
                  <a:srgbClr val="1A2433"/>
                </a:solidFill>
                <a:latin typeface="Calibri"/>
              </a:rPr>
              <a:t>Case 3 orthostatic heart rate “HR 850” → “HR 85”; high-sensitivity troponin units “ng/dL” → “ng/L” (standard hs-cTn reporting).</a:t>
            </a:r>
          </a:p>
          <a:p>
            <a:pPr algn="l">
              <a:spcAft>
                <a:spcPts val="1200"/>
              </a:spcAft>
            </a:pPr>
            <a:r>
              <a:rPr sz="1300" b="1" i="0">
                <a:solidFill>
                  <a:srgbClr val="1A2433"/>
                </a:solidFill>
                <a:latin typeface="Calibri"/>
              </a:rPr>
              <a:t>Newer context (see lesson package): </a:t>
            </a:r>
            <a:r>
              <a:rPr sz="1300" b="0" i="0">
                <a:solidFill>
                  <a:srgbClr val="1A2433"/>
                </a:solidFill>
                <a:latin typeface="Calibri"/>
              </a:rPr>
              <a:t>2021 ESC pacing guideline + BIOSync strengthened support for dual-chamber (CLS) pacing in patients &gt;40 with severe recurrent cardioinhibitory reflex syncope; cardioneuroablation is an emerging device-free option under study.</a:t>
            </a:r>
          </a:p>
          <a:p>
            <a:pPr algn="l">
              <a:spcAft>
                <a:spcPts val="1200"/>
              </a:spcAft>
            </a:pPr>
            <a:r>
              <a:rPr sz="1300" b="1" i="0">
                <a:solidFill>
                  <a:srgbClr val="1A2433"/>
                </a:solidFill>
                <a:latin typeface="Calibri"/>
              </a:rPr>
              <a:t>Companion files: </a:t>
            </a:r>
            <a:r>
              <a:rPr sz="1300" b="0" i="0">
                <a:solidFill>
                  <a:srgbClr val="1A2433"/>
                </a:solidFill>
                <a:latin typeface="Calibri"/>
              </a:rPr>
              <a:t>Syncope_Lesson_Package.html (pre-work, teaching script, MCQs, case answers) · Syncope_Anki_Cards.txt</a:t>
            </a:r>
          </a:p>
        </p:txBody>
      </p:sp>
      <p:sp>
        <p:nvSpPr>
          <p:cNvPr id="5" name="TextBox 4"/>
          <p:cNvSpPr txBox="1"/>
          <p:nvPr/>
        </p:nvSpPr>
        <p:spPr>
          <a:xfrm>
            <a:off x="548640" y="6355080"/>
            <a:ext cx="11094720" cy="365760"/>
          </a:xfrm>
          <a:prstGeom prst="rect">
            <a:avLst/>
          </a:prstGeom>
          <a:noFill/>
        </p:spPr>
        <p:txBody>
          <a:bodyPr wrap="square" anchor="t" lIns="0" rIns="0" tIns="0" bIns="0">
            <a:spAutoFit/>
          </a:bodyPr>
          <a:lstStyle/>
          <a:p>
            <a:pPr algn="l">
              <a:spcAft>
                <a:spcPts val="600"/>
              </a:spcAft>
            </a:pPr>
            <a:r>
              <a:rPr sz="1050" b="0" i="0">
                <a:solidFill>
                  <a:srgbClr val="5A6877"/>
                </a:solidFill>
                <a:latin typeface="Calibri"/>
              </a:rPr>
              <a:t>Optimized edition prepared June 2026 · verify doses and recommendations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51418</TotalTime>
  <Words>2085</Words>
  <Application>Microsoft Office PowerPoint</Application>
  <PresentationFormat>Widescreen</PresentationFormat>
  <Paragraphs>508</Paragraphs>
  <Slides>14</Slides>
  <Notes>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Syncope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Hibshman, Madison</dc:creator>
  <cp:lastModifiedBy>Yilin Zhang</cp:lastModifiedBy>
  <cp:revision>126</cp:revision>
  <dcterms:created xsi:type="dcterms:W3CDTF">2023-02-23T00:51:16Z</dcterms:created>
  <dcterms:modified xsi:type="dcterms:W3CDTF">2023-09-29T18:49:13Z</dcterms:modified>
</cp:coreProperties>
</file>