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Acute Decompensated Heart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Inpatient management for IM residents — profile, decongest, optimize, discharge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Grounded in AHA/ACC/HFSA 2022 &amp; ESC 2021/2023 · DOSE · ADVOR · EMPULSE · STRONG-HF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Profile: congestion × perfusion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Two bedside axes drive the first orders — not the EF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29913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029913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487113" y="1143000"/>
            <a:ext cx="4623690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13" y="1143000"/>
            <a:ext cx="462369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0803" y="1143000"/>
            <a:ext cx="4623690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0803" y="1143000"/>
            <a:ext cx="462369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Wet (congested)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2029913" cy="1997964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2029913" cy="19979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A2433"/>
                </a:solidFill>
                <a:latin typeface="Calibri"/>
              </a:rPr>
              <a:t>Warm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13" y="1600200"/>
            <a:ext cx="4623690" cy="1997964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13" y="1600200"/>
            <a:ext cx="4623690" cy="19979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Compensated — optimize GDMT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0803" y="1600200"/>
            <a:ext cx="4623690" cy="1997964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0803" y="1600200"/>
            <a:ext cx="4623690" cy="19979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A2433"/>
                </a:solidFill>
                <a:latin typeface="Calibri"/>
              </a:rPr>
              <a:t>WARM–WET: IV loop diuretic — the classic admit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2029913" cy="1997964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2029913" cy="19979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A2433"/>
                </a:solidFill>
                <a:latin typeface="Calibri"/>
              </a:rPr>
              <a:t>Cold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7113" y="3598164"/>
            <a:ext cx="4623690" cy="1997964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7113" y="3598164"/>
            <a:ext cx="4623690" cy="19979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Cautious fluid / inotrope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0803" y="3598164"/>
            <a:ext cx="4623690" cy="1997964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0803" y="3598164"/>
            <a:ext cx="4623690" cy="19979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A2433"/>
                </a:solidFill>
                <a:latin typeface="Calibri"/>
              </a:rPr>
              <a:t>COLD–WET: diuresis + inotrope/vasodilator; ICU-level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Hypoperfusion ≠ hypotension: narrow pulse pressure, cool extremities, ↑lactate/Cr, somnolence.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Congestion vs perfusion — the 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WET (congestion)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JVD, orthopnea, PND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Peripheral edema, weight gain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B-lines / IVC plethora on POCUS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S3 gallop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COLD (hypoperfusion)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Narrow pulse pressure (&lt;25% SBP)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Cool, mottled extremities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Rising lactate and creatinine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Somnolence, low urine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Most ward HF admits are warm-and-wet → diuresis alone. Cold-and-wet → higher acuity.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Decongest with IV loop diuretics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Dose by home dose, confirm by natriuretic response (DOSE trial)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Give IV, not PO — gut edema cripples oral absorption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Start IV furosemide ≈ 1–2.5× total home daily PO dose, IV BID (naive: 40–80 mg)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0E6E8C"/>
                </a:solidFill>
                <a:latin typeface="Calibri"/>
              </a:rPr>
              <a:t>     –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Reassess at 2 h: spot urine Na &gt;50–70 mmol/L or UOP &gt;100–150 mL/h = adequate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0E6E8C"/>
                </a:solidFill>
                <a:latin typeface="Calibri"/>
              </a:rPr>
              <a:t>     –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If inadequate — double the dose now; don't wait a day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Resistant: add thiazide (metolazone / IV chlorothiazide); consider acetazolamide (ADVOR), early SGLT2i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Daily weights, strict I/O, BMP q12–24h; target net −1–2 L/day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 rising Cr during effective diuresis in a still-wet, urine-making patient is usually hemoconcentration — keep going.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Start GDMT before discharge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four pillars of HFrEF — the admission is the intervention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481004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48100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Pillar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938204" y="1143000"/>
            <a:ext cx="3383188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8204" y="1143000"/>
            <a:ext cx="3383188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1392" y="1143000"/>
            <a:ext cx="5413101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1392" y="1143000"/>
            <a:ext cx="5413101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Inpatient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248100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ARNI / ACEi / ARB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8204" y="1600200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8204" y="1600200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sacubitril-valsartan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1392" y="1600200"/>
            <a:ext cx="5413101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1392" y="1600200"/>
            <a:ext cx="5413101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Hold SBP&lt;90, K&gt;5.5, AKI; 36 h ACEi washout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99182"/>
            <a:ext cx="248100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99182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Beta-blocker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38204" y="2599182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8204" y="2599182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carvedilol, metoprolol succ.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1392" y="2599182"/>
            <a:ext cx="5413101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1392" y="2599182"/>
            <a:ext cx="5413101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Continue if warm; don't start until euvolemic &amp; off inotropes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98164"/>
            <a:ext cx="248100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98164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38204" y="3598164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8204" y="3598164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spironolactone, eplerenone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1392" y="3598164"/>
            <a:ext cx="5413101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1392" y="3598164"/>
            <a:ext cx="5413101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K&lt;5.0, eGFR&gt;30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97146"/>
            <a:ext cx="248100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7146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SGLT2 inhibitor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38204" y="4597146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8204" y="4597146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dapagliflozin, empagliflozin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1392" y="4597146"/>
            <a:ext cx="5413101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1392" y="4597146"/>
            <a:ext cx="5413101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Start in-hospital — safe, speeds decongestion (EMPULSE)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STRONG-HF: rapid in-hospital initiation + up-titration with close follow-up improves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Find the precipitant —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F — Forgot meds / Fluid &amp; salt excess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 — Arrhythmia (AF with RVR)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 — Ischemia / Infection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L — Lifestyle (dietary sodium, alcohol)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U — Upregulation (thyroid, anemia, pregnancy)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R — Renal failure / Rx (NSAIDs, non-DHP CCB, TZD)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 — Embolus (pulmonary embolism)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Work-up: ECG + troponin, BNP/NT-proBNP, CBC, BMP, TSH, CXR; echo if no recent EF.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Discharge bundle — cut the readmission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Transition IV→PO diuretic, observe 24 h euvolemic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Document EF, dry weight, diuretic dose, 4 pillars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Teach daily weights &amp; low-Na diet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Arrange 7-day follow-up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Discharging still-congested ('looks better')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NSAIDs, TZDs, non-DHP CCB in HFrEF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Starting/up-titrating BB while wet or cold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No follow-up scheduled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Residual congestion at discharge is a leading driver of 30-day readmission.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Profile on two axes (wet/dry × warm/cold) before the EF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IV loops dosed to a measured 2-h natriuretic response; double if short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Don't stop diuresis for a small Cr bump in a still-wet patient making urine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Start all four GDMT pillars in-house; hold only BB initiation while wet/cold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Discharge euvolemic, precipitant named, GDMT documented, 7-day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