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2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5" r:id="rId4"/>
    <p:sldId id="266" r:id="rId9"/>
    <p:sldId id="267" r:id="rId10"/>
    <p:sldId id="268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04" autoAdjust="0"/>
    <p:restoredTop sz="93899" autoAdjust="0"/>
  </p:normalViewPr>
  <p:slideViewPr>
    <p:cSldViewPr snapToGrid="0">
      <p:cViewPr varScale="1">
        <p:scale>
          <a:sx n="79" d="100"/>
          <a:sy n="79" d="100"/>
        </p:scale>
        <p:origin x="102" y="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9658C-324A-4255-BEA1-398E1A61C3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395932-DFB4-4631-B2FA-C1AEBD136D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27ACA7-0A1B-4049-A72C-3A4CA7B111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5AAFE-077E-478B-8231-3B372C0B3B57}" type="datetimeFigureOut">
              <a:rPr lang="en-US" smtClean="0"/>
              <a:t>12/20/2020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930E79-0BB9-4DCC-8DEF-FE0038E41D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AD0FEF-3D6C-4C78-9F9A-3CCB70C0C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E19D7-581E-4054-B412-3579537E51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8506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B38F2-85E8-45AF-B9C7-6F6DCAE01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11422C-A719-4C0A-A121-8C56B3BD5B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3428F2-AD9F-400C-8321-C0DCDB7D3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5AAFE-077E-478B-8231-3B372C0B3B57}" type="datetimeFigureOut">
              <a:rPr lang="en-US" smtClean="0"/>
              <a:t>12/20/2020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A85EC4-4F11-4CF5-9AF4-138BF37CE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4D31A4-CCA2-4370-A2B6-130E3DCB1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E19D7-581E-4054-B412-3579537E51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2691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CFB88-9E52-4705-915E-30C1CF9F1B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2225B5-21B9-4FF4-836E-EFD956CF7B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BCF21B-BCB1-4047-ADA9-B64D7F194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5AAFE-077E-478B-8231-3B372C0B3B57}" type="datetimeFigureOut">
              <a:rPr lang="en-US" smtClean="0"/>
              <a:t>12/20/2020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960C3A-9ACC-4756-BB49-C99A07674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CC0435-82EB-4905-98EF-CC87CB7D6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E19D7-581E-4054-B412-3579537E51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5927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B8071-2C54-4975-99EA-A203DA779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6EB21E-823B-458D-8EAB-4357206274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44ABF3-753D-4834-B2DE-D246F37CA5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360745-8E6C-49A3-9498-7F563DFE6C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5AAFE-077E-478B-8231-3B372C0B3B57}" type="datetimeFigureOut">
              <a:rPr lang="en-US" smtClean="0"/>
              <a:t>12/20/2020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DF5E05-54AF-4C8F-9953-517AF67784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25A950-AF10-4552-9625-781F4481B5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E19D7-581E-4054-B412-3579537E51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713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857F0-6654-4E2F-A37F-88586A515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307AC8-C5AD-4198-9627-0B5530C839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3FDD0C-264B-4339-8FA7-409A391C8D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7AA6E3-F6F1-408C-A971-5B31FDD178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757FF5-90A0-42C0-83DF-6F1F23DD62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13774FF-A7A2-4FAD-8DDA-991056AB0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5AAFE-077E-478B-8231-3B372C0B3B57}" type="datetimeFigureOut">
              <a:rPr lang="en-US" smtClean="0"/>
              <a:t>12/20/2020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C904C52-80A1-4367-BD94-8E44B1290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2C83298-E3F4-41E2-B560-E61489991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E19D7-581E-4054-B412-3579537E51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1804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27FBB-FBDF-4A71-8CF3-C26A396EF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F7B56F-88DB-49FF-A93D-C96C95B75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5AAFE-077E-478B-8231-3B372C0B3B57}" type="datetimeFigureOut">
              <a:rPr lang="en-US" smtClean="0"/>
              <a:t>12/20/2020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E55A3D-F686-4659-884D-7BCA9CE23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142E81-3950-4C17-9C68-8D6B39989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E19D7-581E-4054-B412-3579537E51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8737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7B6C676-1ECA-4DA0-B822-7E40F8449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5AAFE-077E-478B-8231-3B372C0B3B57}" type="datetimeFigureOut">
              <a:rPr lang="en-US" smtClean="0"/>
              <a:t>12/20/2020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22F68B-196D-4901-AF0A-7936662F3E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B7C254-4258-4E2E-BDB5-3F3971C56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E19D7-581E-4054-B412-3579537E51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0696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811BCB-8580-4840-B961-081C8AA8D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883889-0101-422E-9981-2C0AD30912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BA7D76-D16B-4097-94F0-1A4EABC974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EF6783-B838-4849-B09D-48286BAF8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5AAFE-077E-478B-8231-3B372C0B3B57}" type="datetimeFigureOut">
              <a:rPr lang="en-US" smtClean="0"/>
              <a:t>12/20/2020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52B85A-B73C-4C87-89A9-8A6D6C77DF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AF6018-8FF1-4539-AE47-363F370BE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E19D7-581E-4054-B412-3579537E51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3141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BCA55-FFA9-4F79-9858-9AAFED0F0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CAED3F-31D0-4180-A035-A96DFDC062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2D2950-2556-4F9C-94C6-C3D989D5CC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27CBFA-AC95-40F1-9CCE-74931FA64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5AAFE-077E-478B-8231-3B372C0B3B57}" type="datetimeFigureOut">
              <a:rPr lang="en-US" smtClean="0"/>
              <a:t>12/20/2020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C707D4-B923-4DAD-B308-1A0DCFB07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9FAB57-CEFD-4239-B82C-0160B138F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E19D7-581E-4054-B412-3579537E51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31773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61E70-F24D-4B26-82F0-DB8ED7C7AB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93F3C6-5CF3-4A26-A01B-DDFBE74BB1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B5A0DB-D2A8-4020-8136-4CD1302FC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5AAFE-077E-478B-8231-3B372C0B3B57}" type="datetimeFigureOut">
              <a:rPr lang="en-US" smtClean="0"/>
              <a:t>12/20/2020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8AC8DD-550C-4B54-88C8-89EBA2D92A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F2D503-7B89-42C2-AFA1-240BD1EA4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E19D7-581E-4054-B412-3579537E51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4370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9373C4-F330-480C-95C7-7F38D20A46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860377-2BEF-413D-A9AF-5AC3124B43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1DABF8-7AC5-4E66-A648-614C3A03A2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5AAFE-077E-478B-8231-3B372C0B3B57}" type="datetimeFigureOut">
              <a:rPr lang="en-US" smtClean="0"/>
              <a:t>12/20/2020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7742D2-3DE4-4A80-BCD1-162D6D6AC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3D2151-A387-4716-95F8-B7856A3D6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E19D7-581E-4054-B412-3579537E51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82689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F8CB1B4-D5DF-4487-AFF5-A459F32AF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9EBA00-56B7-46F9-9168-A84B06EB38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A60212-3029-4F3F-A633-AA1CF3E05B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55AAFE-077E-478B-8231-3B372C0B3B57}" type="datetimeFigureOut">
              <a:rPr lang="en-US" smtClean="0"/>
              <a:t>12/20/2020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E544B-BF38-488A-A598-DA7C530EE0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F008AD-4864-41ED-BCAE-5618D4E028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1E19D7-581E-4054-B412-3579537E51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819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Relationship Id="rId3" Type="http://schemas.openxmlformats.org/officeDocument/2006/relationships/slide" Target="slide3.xml"/><Relationship Id="rId4" Type="http://schemas.openxmlformats.org/officeDocument/2006/relationships/image" Target="../media/image1.png"/><Relationship Id="rId5" Type="http://schemas.openxmlformats.org/officeDocument/2006/relationships/image" Target="../media/image2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3.xml"/><Relationship Id="rId4" Type="http://schemas.openxmlformats.org/officeDocument/2006/relationships/image" Target="../media/image1.png"/><Relationship Id="rId5" Type="http://schemas.openxmlformats.org/officeDocument/2006/relationships/image" Target="../media/image2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2.xml"/><Relationship Id="rId4" Type="http://schemas.openxmlformats.org/officeDocument/2006/relationships/image" Target="../media/image1.png"/><Relationship Id="rId5" Type="http://schemas.openxmlformats.org/officeDocument/2006/relationships/image" Target="../media/image2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3FE90FD-3D94-48A0-9F82-FB5C6F0A4D53}"/>
              </a:ext>
            </a:extLst>
          </p:cNvPr>
          <p:cNvSpPr txBox="1"/>
          <p:nvPr/>
        </p:nvSpPr>
        <p:spPr>
          <a:xfrm>
            <a:off x="3277542" y="126369"/>
            <a:ext cx="45228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TRANSPLANT MEDICINE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27E1E38-B034-4984-8F6E-BE40FFEFC0FB}"/>
              </a:ext>
            </a:extLst>
          </p:cNvPr>
          <p:cNvSpPr/>
          <p:nvPr/>
        </p:nvSpPr>
        <p:spPr>
          <a:xfrm>
            <a:off x="8700755" y="-2"/>
            <a:ext cx="3491245" cy="328083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7B41D57-4C13-4F8F-88FD-2E7194187A8E}"/>
              </a:ext>
            </a:extLst>
          </p:cNvPr>
          <p:cNvSpPr txBox="1"/>
          <p:nvPr/>
        </p:nvSpPr>
        <p:spPr>
          <a:xfrm>
            <a:off x="8792982" y="1422367"/>
            <a:ext cx="11503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FF0000"/>
                </a:solidFill>
              </a:rPr>
              <a:t>Rejection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5132B5D-5A43-48E6-93A4-CEE7AC66E21C}"/>
              </a:ext>
            </a:extLst>
          </p:cNvPr>
          <p:cNvSpPr txBox="1"/>
          <p:nvPr/>
        </p:nvSpPr>
        <p:spPr>
          <a:xfrm>
            <a:off x="10886024" y="1299542"/>
            <a:ext cx="11503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accent1"/>
                </a:solidFill>
              </a:rPr>
              <a:t>Infection</a:t>
            </a:r>
          </a:p>
          <a:p>
            <a:pPr algn="ctr"/>
            <a:r>
              <a:rPr lang="en-US" sz="1600" dirty="0">
                <a:solidFill>
                  <a:schemeClr val="accent1"/>
                </a:solidFill>
              </a:rPr>
              <a:t>Cancer</a:t>
            </a:r>
          </a:p>
        </p:txBody>
      </p:sp>
      <p:sp>
        <p:nvSpPr>
          <p:cNvPr id="25" name="Isosceles Triangle 24">
            <a:extLst>
              <a:ext uri="{FF2B5EF4-FFF2-40B4-BE49-F238E27FC236}">
                <a16:creationId xmlns:a16="http://schemas.microsoft.com/office/drawing/2014/main" id="{4AD08C33-01F6-4E38-B66C-357F9FFE99FA}"/>
              </a:ext>
            </a:extLst>
          </p:cNvPr>
          <p:cNvSpPr/>
          <p:nvPr/>
        </p:nvSpPr>
        <p:spPr>
          <a:xfrm>
            <a:off x="10066256" y="755336"/>
            <a:ext cx="722670" cy="544202"/>
          </a:xfrm>
          <a:prstGeom prst="triangl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1D1E0AA-0499-41DF-B367-F2E40CF9C88A}"/>
              </a:ext>
            </a:extLst>
          </p:cNvPr>
          <p:cNvCxnSpPr>
            <a:cxnSpLocks/>
          </p:cNvCxnSpPr>
          <p:nvPr/>
        </p:nvCxnSpPr>
        <p:spPr>
          <a:xfrm>
            <a:off x="9870228" y="1591927"/>
            <a:ext cx="1162664" cy="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FBF2086A-52B8-4FB7-8CD0-4E9165C15014}"/>
              </a:ext>
            </a:extLst>
          </p:cNvPr>
          <p:cNvSpPr txBox="1"/>
          <p:nvPr/>
        </p:nvSpPr>
        <p:spPr>
          <a:xfrm>
            <a:off x="9285435" y="78645"/>
            <a:ext cx="22326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Immunosuppression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12CBE54-0AAF-4FA3-9E0D-C4DC3352AC64}"/>
              </a:ext>
            </a:extLst>
          </p:cNvPr>
          <p:cNvSpPr/>
          <p:nvPr/>
        </p:nvSpPr>
        <p:spPr>
          <a:xfrm>
            <a:off x="150210" y="130162"/>
            <a:ext cx="2505702" cy="276378"/>
          </a:xfrm>
          <a:prstGeom prst="roundRect">
            <a:avLst/>
          </a:prstGeom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Balancing immunosuppression</a:t>
            </a:r>
          </a:p>
        </p:txBody>
      </p:sp>
      <p:sp>
        <p:nvSpPr>
          <p:cNvPr id="26" name="Rectangle: Rounded Corners 25">
            <a:hlinkClick r:id="rId2" action="ppaction://hlinksldjump"/>
            <a:extLst>
              <a:ext uri="{FF2B5EF4-FFF2-40B4-BE49-F238E27FC236}">
                <a16:creationId xmlns:a16="http://schemas.microsoft.com/office/drawing/2014/main" id="{C682FC29-2728-4DDF-972D-01FCA094D24B}"/>
              </a:ext>
            </a:extLst>
          </p:cNvPr>
          <p:cNvSpPr/>
          <p:nvPr/>
        </p:nvSpPr>
        <p:spPr>
          <a:xfrm>
            <a:off x="152202" y="439292"/>
            <a:ext cx="2224966" cy="276378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Induction vs. maintenance</a:t>
            </a:r>
          </a:p>
        </p:txBody>
      </p:sp>
      <p:sp>
        <p:nvSpPr>
          <p:cNvPr id="28" name="Rectangle: Rounded Corners 27">
            <a:hlinkClick r:id="rId3" action="ppaction://hlinksldjump"/>
            <a:extLst>
              <a:ext uri="{FF2B5EF4-FFF2-40B4-BE49-F238E27FC236}">
                <a16:creationId xmlns:a16="http://schemas.microsoft.com/office/drawing/2014/main" id="{B3F187C7-7E47-40B0-A6B2-479134CB6720}"/>
              </a:ext>
            </a:extLst>
          </p:cNvPr>
          <p:cNvSpPr/>
          <p:nvPr/>
        </p:nvSpPr>
        <p:spPr>
          <a:xfrm>
            <a:off x="148322" y="758064"/>
            <a:ext cx="1313704" cy="276378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Complications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782C272-3F9E-451C-9FE5-B958DC35F50C}"/>
              </a:ext>
            </a:extLst>
          </p:cNvPr>
          <p:cNvSpPr txBox="1"/>
          <p:nvPr/>
        </p:nvSpPr>
        <p:spPr>
          <a:xfrm>
            <a:off x="9778001" y="2328874"/>
            <a:ext cx="15645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Heart/ Kidney </a:t>
            </a: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A5BEDE30-AB97-40CD-B3C5-4921C7072676}"/>
              </a:ext>
            </a:extLst>
          </p:cNvPr>
          <p:cNvGrpSpPr/>
          <p:nvPr/>
        </p:nvGrpSpPr>
        <p:grpSpPr>
          <a:xfrm>
            <a:off x="9062234" y="2319389"/>
            <a:ext cx="1023458" cy="348039"/>
            <a:chOff x="9053388" y="2319389"/>
            <a:chExt cx="969751" cy="348039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762329B8-4556-48AA-8DE7-CCEEE3C8CA6D}"/>
                </a:ext>
              </a:extLst>
            </p:cNvPr>
            <p:cNvSpPr txBox="1"/>
            <p:nvPr/>
          </p:nvSpPr>
          <p:spPr>
            <a:xfrm>
              <a:off x="9053388" y="2328874"/>
              <a:ext cx="65948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Lung 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46F65011-AC9D-4BD1-A38D-9F3A7AAF41C3}"/>
                </a:ext>
              </a:extLst>
            </p:cNvPr>
            <p:cNvSpPr txBox="1"/>
            <p:nvPr/>
          </p:nvSpPr>
          <p:spPr>
            <a:xfrm>
              <a:off x="9541359" y="2319389"/>
              <a:ext cx="48178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&gt;</a:t>
              </a:r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B7828C67-12D3-4019-867D-77251027C2B9}"/>
              </a:ext>
            </a:extLst>
          </p:cNvPr>
          <p:cNvGrpSpPr/>
          <p:nvPr/>
        </p:nvGrpSpPr>
        <p:grpSpPr>
          <a:xfrm>
            <a:off x="11069481" y="2323326"/>
            <a:ext cx="986670" cy="344102"/>
            <a:chOff x="11069481" y="2323326"/>
            <a:chExt cx="986670" cy="344102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E149F6EB-27BB-4E4D-9923-BB00EE30AC1E}"/>
                </a:ext>
              </a:extLst>
            </p:cNvPr>
            <p:cNvSpPr txBox="1"/>
            <p:nvPr/>
          </p:nvSpPr>
          <p:spPr>
            <a:xfrm>
              <a:off x="11391781" y="2328874"/>
              <a:ext cx="66437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Liver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FB3DD55E-9507-440C-BF8E-1B939144CAA2}"/>
                </a:ext>
              </a:extLst>
            </p:cNvPr>
            <p:cNvSpPr txBox="1"/>
            <p:nvPr/>
          </p:nvSpPr>
          <p:spPr>
            <a:xfrm>
              <a:off x="11069481" y="2323326"/>
              <a:ext cx="41864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&gt;</a:t>
              </a:r>
            </a:p>
          </p:txBody>
        </p:sp>
      </p:grpSp>
      <p:sp>
        <p:nvSpPr>
          <p:cNvPr id="6" name="Oversuppression">
            <a:extLst>
              <a:ext uri="{FF2B5EF4-FFF2-40B4-BE49-F238E27FC236}">
                <a16:creationId xmlns:a16="http://schemas.microsoft.com/office/drawing/2014/main" id="{CFEA330D-825A-462A-918B-A60474EF5E98}"/>
              </a:ext>
            </a:extLst>
          </p:cNvPr>
          <p:cNvSpPr/>
          <p:nvPr/>
        </p:nvSpPr>
        <p:spPr>
          <a:xfrm>
            <a:off x="4181856" y="1240026"/>
            <a:ext cx="2377439" cy="461665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Oversuppression</a:t>
            </a:r>
            <a:endParaRPr lang="en-US" dirty="0"/>
          </a:p>
        </p:txBody>
      </p:sp>
      <p:sp>
        <p:nvSpPr>
          <p:cNvPr id="43" name="Undersuppression">
            <a:extLst>
              <a:ext uri="{FF2B5EF4-FFF2-40B4-BE49-F238E27FC236}">
                <a16:creationId xmlns:a16="http://schemas.microsoft.com/office/drawing/2014/main" id="{2A18531E-EA41-4287-A3A0-69520357E5A6}"/>
              </a:ext>
            </a:extLst>
          </p:cNvPr>
          <p:cNvSpPr/>
          <p:nvPr/>
        </p:nvSpPr>
        <p:spPr>
          <a:xfrm>
            <a:off x="4181856" y="1838570"/>
            <a:ext cx="2377439" cy="461665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Undersuppression</a:t>
            </a:r>
            <a:endParaRPr lang="en-US" dirty="0"/>
          </a:p>
        </p:txBody>
      </p:sp>
      <p:grpSp>
        <p:nvGrpSpPr>
          <p:cNvPr id="9" name="Tip towards Rejection">
            <a:extLst>
              <a:ext uri="{FF2B5EF4-FFF2-40B4-BE49-F238E27FC236}">
                <a16:creationId xmlns:a16="http://schemas.microsoft.com/office/drawing/2014/main" id="{F0216087-0861-4D09-813F-001C488C7D15}"/>
              </a:ext>
            </a:extLst>
          </p:cNvPr>
          <p:cNvGrpSpPr/>
          <p:nvPr/>
        </p:nvGrpSpPr>
        <p:grpSpPr>
          <a:xfrm>
            <a:off x="9701539" y="504919"/>
            <a:ext cx="1452101" cy="421689"/>
            <a:chOff x="9815056" y="516646"/>
            <a:chExt cx="1452101" cy="421689"/>
          </a:xfrm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54D5FEC2-B022-4995-B86E-3DD74DE613E0}"/>
                </a:ext>
              </a:extLst>
            </p:cNvPr>
            <p:cNvCxnSpPr/>
            <p:nvPr/>
          </p:nvCxnSpPr>
          <p:spPr>
            <a:xfrm>
              <a:off x="9815056" y="565955"/>
              <a:ext cx="1452101" cy="37238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E4EB150D-7C80-4F87-AB65-87CF7F0CB27B}"/>
                </a:ext>
              </a:extLst>
            </p:cNvPr>
            <p:cNvCxnSpPr/>
            <p:nvPr/>
          </p:nvCxnSpPr>
          <p:spPr>
            <a:xfrm flipV="1">
              <a:off x="9824889" y="650671"/>
              <a:ext cx="0" cy="287664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190225EA-D4F8-4021-B78C-BEF9448379C9}"/>
                </a:ext>
              </a:extLst>
            </p:cNvPr>
            <p:cNvCxnSpPr>
              <a:cxnSpLocks/>
            </p:cNvCxnSpPr>
            <p:nvPr/>
          </p:nvCxnSpPr>
          <p:spPr>
            <a:xfrm>
              <a:off x="11179393" y="516646"/>
              <a:ext cx="0" cy="286425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46" name="Balanced">
            <a:extLst>
              <a:ext uri="{FF2B5EF4-FFF2-40B4-BE49-F238E27FC236}">
                <a16:creationId xmlns:a16="http://schemas.microsoft.com/office/drawing/2014/main" id="{22AE658D-935D-4C49-9A17-3CC0173FD042}"/>
              </a:ext>
            </a:extLst>
          </p:cNvPr>
          <p:cNvCxnSpPr>
            <a:cxnSpLocks/>
          </p:cNvCxnSpPr>
          <p:nvPr/>
        </p:nvCxnSpPr>
        <p:spPr>
          <a:xfrm>
            <a:off x="9572163" y="741910"/>
            <a:ext cx="1685416" cy="2957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53" name="Tip towards Infection">
            <a:extLst>
              <a:ext uri="{FF2B5EF4-FFF2-40B4-BE49-F238E27FC236}">
                <a16:creationId xmlns:a16="http://schemas.microsoft.com/office/drawing/2014/main" id="{67F1B1CA-8115-409C-81AE-9141F0E69921}"/>
              </a:ext>
            </a:extLst>
          </p:cNvPr>
          <p:cNvGrpSpPr/>
          <p:nvPr/>
        </p:nvGrpSpPr>
        <p:grpSpPr>
          <a:xfrm flipH="1">
            <a:off x="9701539" y="514586"/>
            <a:ext cx="1452101" cy="421689"/>
            <a:chOff x="9815056" y="516646"/>
            <a:chExt cx="1452101" cy="421689"/>
          </a:xfrm>
        </p:grpSpPr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EBCF2D65-867E-4863-94B8-555BE290CDBD}"/>
                </a:ext>
              </a:extLst>
            </p:cNvPr>
            <p:cNvCxnSpPr/>
            <p:nvPr/>
          </p:nvCxnSpPr>
          <p:spPr>
            <a:xfrm>
              <a:off x="9815056" y="565955"/>
              <a:ext cx="1452101" cy="37238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1AF9CA50-9912-4F65-BBCB-9E91DEEF4534}"/>
                </a:ext>
              </a:extLst>
            </p:cNvPr>
            <p:cNvCxnSpPr/>
            <p:nvPr/>
          </p:nvCxnSpPr>
          <p:spPr>
            <a:xfrm flipV="1">
              <a:off x="9824889" y="650671"/>
              <a:ext cx="0" cy="287664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5241393D-5988-4FC6-8BDE-C98D350A4B46}"/>
                </a:ext>
              </a:extLst>
            </p:cNvPr>
            <p:cNvCxnSpPr>
              <a:cxnSpLocks/>
            </p:cNvCxnSpPr>
            <p:nvPr/>
          </p:nvCxnSpPr>
          <p:spPr>
            <a:xfrm>
              <a:off x="11179393" y="516646"/>
              <a:ext cx="0" cy="286425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7" name="Arrow: Right 46">
            <a:extLst>
              <a:ext uri="{FF2B5EF4-FFF2-40B4-BE49-F238E27FC236}">
                <a16:creationId xmlns:a16="http://schemas.microsoft.com/office/drawing/2014/main" id="{C7A65059-C7DC-4CFE-A656-211895164390}"/>
              </a:ext>
            </a:extLst>
          </p:cNvPr>
          <p:cNvSpPr/>
          <p:nvPr/>
        </p:nvSpPr>
        <p:spPr>
          <a:xfrm flipH="1">
            <a:off x="8849942" y="1838570"/>
            <a:ext cx="3186455" cy="514560"/>
          </a:xfrm>
          <a:prstGeom prst="rightArrow">
            <a:avLst>
              <a:gd name="adj1" fmla="val 61162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Degree of immunosuppression</a:t>
            </a:r>
          </a:p>
        </p:txBody>
      </p:sp>
      <p:pic>
        <p:nvPicPr>
          <p:cNvPr id="39" name="Graphic 38" descr="Cursor">
            <a:extLst>
              <a:ext uri="{FF2B5EF4-FFF2-40B4-BE49-F238E27FC236}">
                <a16:creationId xmlns:a16="http://schemas.microsoft.com/office/drawing/2014/main" id="{AC31B8FE-C14B-46CD-BCF5-32ABDB511F5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33183" y="1575579"/>
            <a:ext cx="252224" cy="252224"/>
          </a:xfrm>
          <a:prstGeom prst="rect">
            <a:avLst/>
          </a:prstGeom>
        </p:spPr>
      </p:pic>
      <p:pic>
        <p:nvPicPr>
          <p:cNvPr id="40" name="Graphic 39" descr="Cursor">
            <a:extLst>
              <a:ext uri="{FF2B5EF4-FFF2-40B4-BE49-F238E27FC236}">
                <a16:creationId xmlns:a16="http://schemas.microsoft.com/office/drawing/2014/main" id="{8106821D-2859-40FC-9202-8546AE42AB4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43060" y="2193277"/>
            <a:ext cx="252224" cy="252224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C3D8FAE3-0699-495C-B387-1C75791F67C2}"/>
              </a:ext>
            </a:extLst>
          </p:cNvPr>
          <p:cNvGrpSpPr/>
          <p:nvPr/>
        </p:nvGrpSpPr>
        <p:grpSpPr>
          <a:xfrm>
            <a:off x="3833174" y="2538623"/>
            <a:ext cx="3411573" cy="480304"/>
            <a:chOff x="3755136" y="2689236"/>
            <a:chExt cx="3411573" cy="480304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D191B73-049E-4C42-A98D-ECFAAB005427}"/>
                </a:ext>
              </a:extLst>
            </p:cNvPr>
            <p:cNvSpPr txBox="1"/>
            <p:nvPr/>
          </p:nvSpPr>
          <p:spPr>
            <a:xfrm>
              <a:off x="4189959" y="2800208"/>
              <a:ext cx="29767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Click anywhere to continue.</a:t>
              </a:r>
            </a:p>
          </p:txBody>
        </p:sp>
        <p:sp>
          <p:nvSpPr>
            <p:cNvPr id="7" name="Star: 5 Points 6">
              <a:extLst>
                <a:ext uri="{FF2B5EF4-FFF2-40B4-BE49-F238E27FC236}">
                  <a16:creationId xmlns:a16="http://schemas.microsoft.com/office/drawing/2014/main" id="{DB4CC5A3-F65C-4B65-AD2F-8E3592CF1586}"/>
                </a:ext>
              </a:extLst>
            </p:cNvPr>
            <p:cNvSpPr/>
            <p:nvPr/>
          </p:nvSpPr>
          <p:spPr>
            <a:xfrm>
              <a:off x="3755136" y="2689236"/>
              <a:ext cx="426720" cy="461665"/>
            </a:xfrm>
            <a:prstGeom prst="star5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9449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seq concurrent="1" nextAc="seek">
              <p:cTn id="22" restart="whenNotActive" fill="hold" evtFilter="cancelBubble" nodeType="interactiveSeq">
                <p:stCondLst>
                  <p:cond evt="onClick" delay="0">
                    <p:tgtEl>
                      <p:spTgt spid="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3"/>
                  </p:tgtEl>
                </p:cond>
              </p:nextCondLst>
            </p:seq>
          </p:childTnLst>
        </p:cTn>
      </p:par>
    </p:tnLst>
    <p:bldLst>
      <p:bldP spid="3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Rectangle: Rounded Corners 53">
            <a:hlinkClick r:id="rId2" action="ppaction://hlinksldjump"/>
            <a:extLst>
              <a:ext uri="{FF2B5EF4-FFF2-40B4-BE49-F238E27FC236}">
                <a16:creationId xmlns:a16="http://schemas.microsoft.com/office/drawing/2014/main" id="{59407DAA-8B4F-4F8A-9A2B-B4E8B93809B2}"/>
              </a:ext>
            </a:extLst>
          </p:cNvPr>
          <p:cNvSpPr/>
          <p:nvPr/>
        </p:nvSpPr>
        <p:spPr>
          <a:xfrm>
            <a:off x="150210" y="130162"/>
            <a:ext cx="2505702" cy="276378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Balancing immunosuppression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FA6C6A86-3567-4A9E-A3B9-37423F02567C}"/>
              </a:ext>
            </a:extLst>
          </p:cNvPr>
          <p:cNvSpPr/>
          <p:nvPr/>
        </p:nvSpPr>
        <p:spPr>
          <a:xfrm>
            <a:off x="152202" y="439292"/>
            <a:ext cx="2224966" cy="27637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Induction vs. maintenance</a:t>
            </a:r>
          </a:p>
        </p:txBody>
      </p:sp>
      <p:sp>
        <p:nvSpPr>
          <p:cNvPr id="57" name="Rectangle: Rounded Corners 56">
            <a:hlinkClick r:id="rId3" action="ppaction://hlinksldjump"/>
            <a:extLst>
              <a:ext uri="{FF2B5EF4-FFF2-40B4-BE49-F238E27FC236}">
                <a16:creationId xmlns:a16="http://schemas.microsoft.com/office/drawing/2014/main" id="{8BFDD2CC-549A-4ECA-840A-BFF7A8A35EF4}"/>
              </a:ext>
            </a:extLst>
          </p:cNvPr>
          <p:cNvSpPr/>
          <p:nvPr/>
        </p:nvSpPr>
        <p:spPr>
          <a:xfrm>
            <a:off x="148322" y="758064"/>
            <a:ext cx="1313704" cy="276378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hlinkClick r:id="rId3" action="ppaction://hlinksldjump"/>
              </a:rPr>
              <a:t>Complications</a:t>
            </a:r>
            <a:endParaRPr lang="en-US" sz="1400" dirty="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0EDE3321-1A90-4ABA-9850-83470B02DE49}"/>
              </a:ext>
            </a:extLst>
          </p:cNvPr>
          <p:cNvSpPr/>
          <p:nvPr/>
        </p:nvSpPr>
        <p:spPr>
          <a:xfrm>
            <a:off x="8700755" y="-2"/>
            <a:ext cx="3491245" cy="328083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6A5BF2E-98D6-46B5-9B7A-AF4D94CA1F27}"/>
              </a:ext>
            </a:extLst>
          </p:cNvPr>
          <p:cNvSpPr txBox="1"/>
          <p:nvPr/>
        </p:nvSpPr>
        <p:spPr>
          <a:xfrm>
            <a:off x="8792982" y="1422367"/>
            <a:ext cx="11503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FF0000"/>
                </a:solidFill>
              </a:rPr>
              <a:t>Rejection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E41F664-FE27-4094-8A73-EC43AC4E1C85}"/>
              </a:ext>
            </a:extLst>
          </p:cNvPr>
          <p:cNvSpPr txBox="1"/>
          <p:nvPr/>
        </p:nvSpPr>
        <p:spPr>
          <a:xfrm>
            <a:off x="10886024" y="1299542"/>
            <a:ext cx="11503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accent1"/>
                </a:solidFill>
              </a:rPr>
              <a:t>Infection</a:t>
            </a:r>
          </a:p>
          <a:p>
            <a:pPr algn="ctr"/>
            <a:r>
              <a:rPr lang="en-US" sz="1600" dirty="0">
                <a:solidFill>
                  <a:schemeClr val="accent1"/>
                </a:solidFill>
              </a:rPr>
              <a:t>Cancer</a:t>
            </a:r>
          </a:p>
        </p:txBody>
      </p:sp>
      <p:sp>
        <p:nvSpPr>
          <p:cNvPr id="65" name="Isosceles Triangle 64">
            <a:extLst>
              <a:ext uri="{FF2B5EF4-FFF2-40B4-BE49-F238E27FC236}">
                <a16:creationId xmlns:a16="http://schemas.microsoft.com/office/drawing/2014/main" id="{17337699-2655-4E5A-88C8-ED90B1D3C16C}"/>
              </a:ext>
            </a:extLst>
          </p:cNvPr>
          <p:cNvSpPr/>
          <p:nvPr/>
        </p:nvSpPr>
        <p:spPr>
          <a:xfrm>
            <a:off x="10066256" y="755336"/>
            <a:ext cx="722670" cy="544202"/>
          </a:xfrm>
          <a:prstGeom prst="triangl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F24DF5FF-DABF-4478-AE90-80C21389D214}"/>
              </a:ext>
            </a:extLst>
          </p:cNvPr>
          <p:cNvCxnSpPr>
            <a:cxnSpLocks/>
          </p:cNvCxnSpPr>
          <p:nvPr/>
        </p:nvCxnSpPr>
        <p:spPr>
          <a:xfrm>
            <a:off x="9870228" y="1591927"/>
            <a:ext cx="1162664" cy="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38AF5851-33D1-4A7C-88D4-850748A722B7}"/>
              </a:ext>
            </a:extLst>
          </p:cNvPr>
          <p:cNvSpPr txBox="1"/>
          <p:nvPr/>
        </p:nvSpPr>
        <p:spPr>
          <a:xfrm>
            <a:off x="9285435" y="78645"/>
            <a:ext cx="22326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Immunosuppression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AE40321-F855-4804-8D89-CB0304B7E04F}"/>
              </a:ext>
            </a:extLst>
          </p:cNvPr>
          <p:cNvSpPr txBox="1"/>
          <p:nvPr/>
        </p:nvSpPr>
        <p:spPr>
          <a:xfrm>
            <a:off x="9778001" y="2328874"/>
            <a:ext cx="15645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Heart/ Kidney </a:t>
            </a:r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AF543B03-2F73-4C35-BE80-F58C81DDBA6A}"/>
              </a:ext>
            </a:extLst>
          </p:cNvPr>
          <p:cNvGrpSpPr/>
          <p:nvPr/>
        </p:nvGrpSpPr>
        <p:grpSpPr>
          <a:xfrm>
            <a:off x="9062234" y="2319389"/>
            <a:ext cx="1023458" cy="348039"/>
            <a:chOff x="9053388" y="2319389"/>
            <a:chExt cx="969751" cy="348039"/>
          </a:xfrm>
        </p:grpSpPr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DF4703E6-A54E-4624-9B08-31CF2BF3286A}"/>
                </a:ext>
              </a:extLst>
            </p:cNvPr>
            <p:cNvSpPr txBox="1"/>
            <p:nvPr/>
          </p:nvSpPr>
          <p:spPr>
            <a:xfrm>
              <a:off x="9053388" y="2328874"/>
              <a:ext cx="65948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Lung 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41FE7987-7C32-42EC-98AD-CC6F201FE741}"/>
                </a:ext>
              </a:extLst>
            </p:cNvPr>
            <p:cNvSpPr txBox="1"/>
            <p:nvPr/>
          </p:nvSpPr>
          <p:spPr>
            <a:xfrm>
              <a:off x="9541359" y="2319389"/>
              <a:ext cx="48178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&gt;</a:t>
              </a:r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53087CB0-385B-4156-9E03-38FEE140BEDD}"/>
              </a:ext>
            </a:extLst>
          </p:cNvPr>
          <p:cNvGrpSpPr/>
          <p:nvPr/>
        </p:nvGrpSpPr>
        <p:grpSpPr>
          <a:xfrm>
            <a:off x="11069481" y="2323326"/>
            <a:ext cx="986670" cy="344102"/>
            <a:chOff x="11069481" y="2323326"/>
            <a:chExt cx="986670" cy="344102"/>
          </a:xfrm>
        </p:grpSpPr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497F671A-0986-4458-AF21-2D6EF1217C96}"/>
                </a:ext>
              </a:extLst>
            </p:cNvPr>
            <p:cNvSpPr txBox="1"/>
            <p:nvPr/>
          </p:nvSpPr>
          <p:spPr>
            <a:xfrm>
              <a:off x="11391781" y="2328874"/>
              <a:ext cx="66437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Liver</a:t>
              </a: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E3F20A91-B8C8-4C5C-8B17-0FE8EB3D4A43}"/>
                </a:ext>
              </a:extLst>
            </p:cNvPr>
            <p:cNvSpPr txBox="1"/>
            <p:nvPr/>
          </p:nvSpPr>
          <p:spPr>
            <a:xfrm>
              <a:off x="11069481" y="2323326"/>
              <a:ext cx="41864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&gt;</a:t>
              </a:r>
            </a:p>
          </p:txBody>
        </p:sp>
      </p:grpSp>
      <p:sp>
        <p:nvSpPr>
          <p:cNvPr id="75" name="Lung treatment">
            <a:extLst>
              <a:ext uri="{FF2B5EF4-FFF2-40B4-BE49-F238E27FC236}">
                <a16:creationId xmlns:a16="http://schemas.microsoft.com/office/drawing/2014/main" id="{7D564AC8-1867-4F1C-B9EB-0B949F1786D4}"/>
              </a:ext>
            </a:extLst>
          </p:cNvPr>
          <p:cNvSpPr txBox="1"/>
          <p:nvPr/>
        </p:nvSpPr>
        <p:spPr>
          <a:xfrm>
            <a:off x="8935498" y="2629292"/>
            <a:ext cx="91071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US" sz="1200" dirty="0">
                <a:solidFill>
                  <a:schemeClr val="accent1"/>
                </a:solidFill>
              </a:rPr>
              <a:t>CNI</a:t>
            </a:r>
          </a:p>
          <a:p>
            <a:pPr algn="ctr">
              <a:lnSpc>
                <a:spcPts val="1200"/>
              </a:lnSpc>
            </a:pPr>
            <a:r>
              <a:rPr lang="en-US" sz="1200" dirty="0">
                <a:solidFill>
                  <a:schemeClr val="accent1"/>
                </a:solidFill>
              </a:rPr>
              <a:t>Anti-met</a:t>
            </a:r>
          </a:p>
          <a:p>
            <a:pPr algn="ctr">
              <a:lnSpc>
                <a:spcPts val="1200"/>
              </a:lnSpc>
            </a:pPr>
            <a:r>
              <a:rPr lang="en-US" sz="1200" dirty="0" err="1">
                <a:solidFill>
                  <a:schemeClr val="accent1"/>
                </a:solidFill>
              </a:rPr>
              <a:t>Pred</a:t>
            </a:r>
            <a:endParaRPr lang="en-US" sz="1200" dirty="0">
              <a:solidFill>
                <a:schemeClr val="accent1"/>
              </a:solidFill>
            </a:endParaRPr>
          </a:p>
        </p:txBody>
      </p:sp>
      <p:sp>
        <p:nvSpPr>
          <p:cNvPr id="76" name="Heart/Kidney treatment">
            <a:extLst>
              <a:ext uri="{FF2B5EF4-FFF2-40B4-BE49-F238E27FC236}">
                <a16:creationId xmlns:a16="http://schemas.microsoft.com/office/drawing/2014/main" id="{DD7861D2-8025-444E-9318-FAB960E7C032}"/>
              </a:ext>
            </a:extLst>
          </p:cNvPr>
          <p:cNvSpPr txBox="1"/>
          <p:nvPr/>
        </p:nvSpPr>
        <p:spPr>
          <a:xfrm>
            <a:off x="10085693" y="2637106"/>
            <a:ext cx="91071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US" sz="1200" dirty="0">
                <a:solidFill>
                  <a:schemeClr val="accent1"/>
                </a:solidFill>
              </a:rPr>
              <a:t>CNI</a:t>
            </a:r>
          </a:p>
          <a:p>
            <a:pPr algn="ctr">
              <a:lnSpc>
                <a:spcPts val="1200"/>
              </a:lnSpc>
            </a:pPr>
            <a:r>
              <a:rPr lang="en-US" sz="1200" dirty="0">
                <a:solidFill>
                  <a:schemeClr val="accent1"/>
                </a:solidFill>
              </a:rPr>
              <a:t>Anti-met</a:t>
            </a:r>
          </a:p>
          <a:p>
            <a:pPr algn="ctr">
              <a:lnSpc>
                <a:spcPts val="1200"/>
              </a:lnSpc>
            </a:pPr>
            <a:r>
              <a:rPr lang="en-US" sz="1200" dirty="0">
                <a:solidFill>
                  <a:schemeClr val="accent1"/>
                </a:solidFill>
              </a:rPr>
              <a:t>± </a:t>
            </a:r>
            <a:r>
              <a:rPr lang="en-US" sz="1200" dirty="0" err="1">
                <a:solidFill>
                  <a:schemeClr val="accent1"/>
                </a:solidFill>
              </a:rPr>
              <a:t>Pred</a:t>
            </a:r>
            <a:endParaRPr lang="en-US" sz="1200" dirty="0">
              <a:solidFill>
                <a:schemeClr val="accent1"/>
              </a:solidFill>
            </a:endParaRPr>
          </a:p>
        </p:txBody>
      </p:sp>
      <p:sp>
        <p:nvSpPr>
          <p:cNvPr id="77" name="Liver treatment">
            <a:extLst>
              <a:ext uri="{FF2B5EF4-FFF2-40B4-BE49-F238E27FC236}">
                <a16:creationId xmlns:a16="http://schemas.microsoft.com/office/drawing/2014/main" id="{B4CCE1EA-8EC5-44DA-9E09-85A530D24241}"/>
              </a:ext>
            </a:extLst>
          </p:cNvPr>
          <p:cNvSpPr txBox="1"/>
          <p:nvPr/>
        </p:nvSpPr>
        <p:spPr>
          <a:xfrm>
            <a:off x="11251612" y="2587935"/>
            <a:ext cx="9107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accent1"/>
                </a:solidFill>
              </a:rPr>
              <a:t>CNI</a:t>
            </a:r>
          </a:p>
        </p:txBody>
      </p:sp>
      <p:cxnSp>
        <p:nvCxnSpPr>
          <p:cNvPr id="82" name="Balanced">
            <a:extLst>
              <a:ext uri="{FF2B5EF4-FFF2-40B4-BE49-F238E27FC236}">
                <a16:creationId xmlns:a16="http://schemas.microsoft.com/office/drawing/2014/main" id="{5DDD746B-318F-480F-92AF-6C48BB57263F}"/>
              </a:ext>
            </a:extLst>
          </p:cNvPr>
          <p:cNvCxnSpPr>
            <a:cxnSpLocks/>
          </p:cNvCxnSpPr>
          <p:nvPr/>
        </p:nvCxnSpPr>
        <p:spPr>
          <a:xfrm>
            <a:off x="9577230" y="755336"/>
            <a:ext cx="1674382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7" name="Arrow: Right 86">
            <a:extLst>
              <a:ext uri="{FF2B5EF4-FFF2-40B4-BE49-F238E27FC236}">
                <a16:creationId xmlns:a16="http://schemas.microsoft.com/office/drawing/2014/main" id="{71A3EFE4-173C-429C-8F01-4C251068AC91}"/>
              </a:ext>
            </a:extLst>
          </p:cNvPr>
          <p:cNvSpPr/>
          <p:nvPr/>
        </p:nvSpPr>
        <p:spPr>
          <a:xfrm flipH="1">
            <a:off x="8849942" y="1838570"/>
            <a:ext cx="3186455" cy="514560"/>
          </a:xfrm>
          <a:prstGeom prst="rightArrow">
            <a:avLst>
              <a:gd name="adj1" fmla="val 61162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Degree of immunosuppression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78E08DF-F249-4B48-88D0-7D7DE16D3B58}"/>
              </a:ext>
            </a:extLst>
          </p:cNvPr>
          <p:cNvCxnSpPr>
            <a:cxnSpLocks/>
          </p:cNvCxnSpPr>
          <p:nvPr/>
        </p:nvCxnSpPr>
        <p:spPr>
          <a:xfrm flipV="1">
            <a:off x="2673170" y="1258529"/>
            <a:ext cx="0" cy="1858296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B4B15B4-722F-4824-B573-7EB363307160}"/>
              </a:ext>
            </a:extLst>
          </p:cNvPr>
          <p:cNvCxnSpPr>
            <a:cxnSpLocks/>
          </p:cNvCxnSpPr>
          <p:nvPr/>
        </p:nvCxnSpPr>
        <p:spPr>
          <a:xfrm flipV="1">
            <a:off x="2673170" y="3116826"/>
            <a:ext cx="5948516" cy="1"/>
          </a:xfrm>
          <a:prstGeom prst="line">
            <a:avLst/>
          </a:prstGeom>
          <a:ln w="1270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454524F6-3F22-4B46-8DC3-D7881A8DBE0E}"/>
              </a:ext>
            </a:extLst>
          </p:cNvPr>
          <p:cNvSpPr txBox="1"/>
          <p:nvPr/>
        </p:nvSpPr>
        <p:spPr>
          <a:xfrm>
            <a:off x="2833036" y="889197"/>
            <a:ext cx="18594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INDUCTION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1F49E96-44AC-43F5-8AD9-9236808CA8AA}"/>
              </a:ext>
            </a:extLst>
          </p:cNvPr>
          <p:cNvSpPr txBox="1"/>
          <p:nvPr/>
        </p:nvSpPr>
        <p:spPr>
          <a:xfrm>
            <a:off x="4817804" y="889196"/>
            <a:ext cx="20905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MAINTENANCE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C73713D-33EB-4737-A7D5-E7BB491C08D0}"/>
              </a:ext>
            </a:extLst>
          </p:cNvPr>
          <p:cNvSpPr txBox="1"/>
          <p:nvPr/>
        </p:nvSpPr>
        <p:spPr>
          <a:xfrm rot="16200000">
            <a:off x="1331382" y="2063562"/>
            <a:ext cx="22515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/>
              <a:t>Allogenicity</a:t>
            </a:r>
            <a:endParaRPr lang="en-US" sz="1600" dirty="0"/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A883CCA9-DF42-4B7F-8A17-666FB505D5B9}"/>
              </a:ext>
            </a:extLst>
          </p:cNvPr>
          <p:cNvCxnSpPr>
            <a:cxnSpLocks/>
          </p:cNvCxnSpPr>
          <p:nvPr/>
        </p:nvCxnSpPr>
        <p:spPr>
          <a:xfrm>
            <a:off x="4817804" y="1301340"/>
            <a:ext cx="0" cy="181114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34A727FC-C69E-47DD-B734-744FAFC2635F}"/>
              </a:ext>
            </a:extLst>
          </p:cNvPr>
          <p:cNvCxnSpPr>
            <a:cxnSpLocks/>
          </p:cNvCxnSpPr>
          <p:nvPr/>
        </p:nvCxnSpPr>
        <p:spPr>
          <a:xfrm>
            <a:off x="6908401" y="1301340"/>
            <a:ext cx="0" cy="181114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F864F31A-6FC8-4D08-B7D2-F0651EF6677B}"/>
              </a:ext>
            </a:extLst>
          </p:cNvPr>
          <p:cNvSpPr txBox="1"/>
          <p:nvPr/>
        </p:nvSpPr>
        <p:spPr>
          <a:xfrm>
            <a:off x="446802" y="2024841"/>
            <a:ext cx="20254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MEDICATIONS</a:t>
            </a:r>
          </a:p>
        </p:txBody>
      </p:sp>
      <p:sp>
        <p:nvSpPr>
          <p:cNvPr id="88" name="Freeform: Shape 87">
            <a:extLst>
              <a:ext uri="{FF2B5EF4-FFF2-40B4-BE49-F238E27FC236}">
                <a16:creationId xmlns:a16="http://schemas.microsoft.com/office/drawing/2014/main" id="{B0DC3844-3B53-4725-970E-9C4A8848C091}"/>
              </a:ext>
            </a:extLst>
          </p:cNvPr>
          <p:cNvSpPr/>
          <p:nvPr/>
        </p:nvSpPr>
        <p:spPr>
          <a:xfrm>
            <a:off x="2723536" y="1269631"/>
            <a:ext cx="5869858" cy="1807865"/>
          </a:xfrm>
          <a:custGeom>
            <a:avLst/>
            <a:gdLst>
              <a:gd name="connsiteX0" fmla="*/ 0 w 5899355"/>
              <a:gd name="connsiteY0" fmla="*/ 1826975 h 1826975"/>
              <a:gd name="connsiteX1" fmla="*/ 462116 w 5899355"/>
              <a:gd name="connsiteY1" fmla="*/ 942071 h 1826975"/>
              <a:gd name="connsiteX2" fmla="*/ 845574 w 5899355"/>
              <a:gd name="connsiteY2" fmla="*/ 116162 h 1826975"/>
              <a:gd name="connsiteX3" fmla="*/ 1199535 w 5899355"/>
              <a:gd name="connsiteY3" fmla="*/ 86665 h 1826975"/>
              <a:gd name="connsiteX4" fmla="*/ 1927122 w 5899355"/>
              <a:gd name="connsiteY4" fmla="*/ 873246 h 1826975"/>
              <a:gd name="connsiteX5" fmla="*/ 2467896 w 5899355"/>
              <a:gd name="connsiteY5" fmla="*/ 1404187 h 1826975"/>
              <a:gd name="connsiteX6" fmla="*/ 3893574 w 5899355"/>
              <a:gd name="connsiteY6" fmla="*/ 1610665 h 1826975"/>
              <a:gd name="connsiteX7" fmla="*/ 4866967 w 5899355"/>
              <a:gd name="connsiteY7" fmla="*/ 1679491 h 1826975"/>
              <a:gd name="connsiteX8" fmla="*/ 5899355 w 5899355"/>
              <a:gd name="connsiteY8" fmla="*/ 1689323 h 1826975"/>
              <a:gd name="connsiteX0" fmla="*/ 0 w 5899355"/>
              <a:gd name="connsiteY0" fmla="*/ 1826975 h 1826975"/>
              <a:gd name="connsiteX1" fmla="*/ 462116 w 5899355"/>
              <a:gd name="connsiteY1" fmla="*/ 942071 h 1826975"/>
              <a:gd name="connsiteX2" fmla="*/ 845574 w 5899355"/>
              <a:gd name="connsiteY2" fmla="*/ 116162 h 1826975"/>
              <a:gd name="connsiteX3" fmla="*/ 1199535 w 5899355"/>
              <a:gd name="connsiteY3" fmla="*/ 86665 h 1826975"/>
              <a:gd name="connsiteX4" fmla="*/ 1927122 w 5899355"/>
              <a:gd name="connsiteY4" fmla="*/ 873246 h 1826975"/>
              <a:gd name="connsiteX5" fmla="*/ 2448231 w 5899355"/>
              <a:gd name="connsiteY5" fmla="*/ 1276368 h 1826975"/>
              <a:gd name="connsiteX6" fmla="*/ 3893574 w 5899355"/>
              <a:gd name="connsiteY6" fmla="*/ 1610665 h 1826975"/>
              <a:gd name="connsiteX7" fmla="*/ 4866967 w 5899355"/>
              <a:gd name="connsiteY7" fmla="*/ 1679491 h 1826975"/>
              <a:gd name="connsiteX8" fmla="*/ 5899355 w 5899355"/>
              <a:gd name="connsiteY8" fmla="*/ 1689323 h 1826975"/>
              <a:gd name="connsiteX0" fmla="*/ 0 w 5899355"/>
              <a:gd name="connsiteY0" fmla="*/ 1820453 h 1820453"/>
              <a:gd name="connsiteX1" fmla="*/ 462116 w 5899355"/>
              <a:gd name="connsiteY1" fmla="*/ 935549 h 1820453"/>
              <a:gd name="connsiteX2" fmla="*/ 845574 w 5899355"/>
              <a:gd name="connsiteY2" fmla="*/ 109640 h 1820453"/>
              <a:gd name="connsiteX3" fmla="*/ 1199535 w 5899355"/>
              <a:gd name="connsiteY3" fmla="*/ 80143 h 1820453"/>
              <a:gd name="connsiteX4" fmla="*/ 1848464 w 5899355"/>
              <a:gd name="connsiteY4" fmla="*/ 768401 h 1820453"/>
              <a:gd name="connsiteX5" fmla="*/ 2448231 w 5899355"/>
              <a:gd name="connsiteY5" fmla="*/ 1269846 h 1820453"/>
              <a:gd name="connsiteX6" fmla="*/ 3893574 w 5899355"/>
              <a:gd name="connsiteY6" fmla="*/ 1604143 h 1820453"/>
              <a:gd name="connsiteX7" fmla="*/ 4866967 w 5899355"/>
              <a:gd name="connsiteY7" fmla="*/ 1672969 h 1820453"/>
              <a:gd name="connsiteX8" fmla="*/ 5899355 w 5899355"/>
              <a:gd name="connsiteY8" fmla="*/ 1682801 h 1820453"/>
              <a:gd name="connsiteX0" fmla="*/ 0 w 5899355"/>
              <a:gd name="connsiteY0" fmla="*/ 1820453 h 1820453"/>
              <a:gd name="connsiteX1" fmla="*/ 412955 w 5899355"/>
              <a:gd name="connsiteY1" fmla="*/ 935549 h 1820453"/>
              <a:gd name="connsiteX2" fmla="*/ 845574 w 5899355"/>
              <a:gd name="connsiteY2" fmla="*/ 109640 h 1820453"/>
              <a:gd name="connsiteX3" fmla="*/ 1199535 w 5899355"/>
              <a:gd name="connsiteY3" fmla="*/ 80143 h 1820453"/>
              <a:gd name="connsiteX4" fmla="*/ 1848464 w 5899355"/>
              <a:gd name="connsiteY4" fmla="*/ 768401 h 1820453"/>
              <a:gd name="connsiteX5" fmla="*/ 2448231 w 5899355"/>
              <a:gd name="connsiteY5" fmla="*/ 1269846 h 1820453"/>
              <a:gd name="connsiteX6" fmla="*/ 3893574 w 5899355"/>
              <a:gd name="connsiteY6" fmla="*/ 1604143 h 1820453"/>
              <a:gd name="connsiteX7" fmla="*/ 4866967 w 5899355"/>
              <a:gd name="connsiteY7" fmla="*/ 1672969 h 1820453"/>
              <a:gd name="connsiteX8" fmla="*/ 5899355 w 5899355"/>
              <a:gd name="connsiteY8" fmla="*/ 1682801 h 1820453"/>
              <a:gd name="connsiteX0" fmla="*/ 0 w 5899355"/>
              <a:gd name="connsiteY0" fmla="*/ 1825752 h 1825752"/>
              <a:gd name="connsiteX1" fmla="*/ 412955 w 5899355"/>
              <a:gd name="connsiteY1" fmla="*/ 940848 h 1825752"/>
              <a:gd name="connsiteX2" fmla="*/ 766916 w 5899355"/>
              <a:gd name="connsiteY2" fmla="*/ 105107 h 1825752"/>
              <a:gd name="connsiteX3" fmla="*/ 1199535 w 5899355"/>
              <a:gd name="connsiteY3" fmla="*/ 85442 h 1825752"/>
              <a:gd name="connsiteX4" fmla="*/ 1848464 w 5899355"/>
              <a:gd name="connsiteY4" fmla="*/ 773700 h 1825752"/>
              <a:gd name="connsiteX5" fmla="*/ 2448231 w 5899355"/>
              <a:gd name="connsiteY5" fmla="*/ 1275145 h 1825752"/>
              <a:gd name="connsiteX6" fmla="*/ 3893574 w 5899355"/>
              <a:gd name="connsiteY6" fmla="*/ 1609442 h 1825752"/>
              <a:gd name="connsiteX7" fmla="*/ 4866967 w 5899355"/>
              <a:gd name="connsiteY7" fmla="*/ 1678268 h 1825752"/>
              <a:gd name="connsiteX8" fmla="*/ 5899355 w 5899355"/>
              <a:gd name="connsiteY8" fmla="*/ 1688100 h 1825752"/>
              <a:gd name="connsiteX0" fmla="*/ 0 w 5899355"/>
              <a:gd name="connsiteY0" fmla="*/ 1825752 h 1825752"/>
              <a:gd name="connsiteX1" fmla="*/ 363794 w 5899355"/>
              <a:gd name="connsiteY1" fmla="*/ 940848 h 1825752"/>
              <a:gd name="connsiteX2" fmla="*/ 766916 w 5899355"/>
              <a:gd name="connsiteY2" fmla="*/ 105107 h 1825752"/>
              <a:gd name="connsiteX3" fmla="*/ 1199535 w 5899355"/>
              <a:gd name="connsiteY3" fmla="*/ 85442 h 1825752"/>
              <a:gd name="connsiteX4" fmla="*/ 1848464 w 5899355"/>
              <a:gd name="connsiteY4" fmla="*/ 773700 h 1825752"/>
              <a:gd name="connsiteX5" fmla="*/ 2448231 w 5899355"/>
              <a:gd name="connsiteY5" fmla="*/ 1275145 h 1825752"/>
              <a:gd name="connsiteX6" fmla="*/ 3893574 w 5899355"/>
              <a:gd name="connsiteY6" fmla="*/ 1609442 h 1825752"/>
              <a:gd name="connsiteX7" fmla="*/ 4866967 w 5899355"/>
              <a:gd name="connsiteY7" fmla="*/ 1678268 h 1825752"/>
              <a:gd name="connsiteX8" fmla="*/ 5899355 w 5899355"/>
              <a:gd name="connsiteY8" fmla="*/ 1688100 h 1825752"/>
              <a:gd name="connsiteX0" fmla="*/ 0 w 5938684"/>
              <a:gd name="connsiteY0" fmla="*/ 1825752 h 1825752"/>
              <a:gd name="connsiteX1" fmla="*/ 403123 w 5938684"/>
              <a:gd name="connsiteY1" fmla="*/ 940848 h 1825752"/>
              <a:gd name="connsiteX2" fmla="*/ 806245 w 5938684"/>
              <a:gd name="connsiteY2" fmla="*/ 105107 h 1825752"/>
              <a:gd name="connsiteX3" fmla="*/ 1238864 w 5938684"/>
              <a:gd name="connsiteY3" fmla="*/ 85442 h 1825752"/>
              <a:gd name="connsiteX4" fmla="*/ 1887793 w 5938684"/>
              <a:gd name="connsiteY4" fmla="*/ 773700 h 1825752"/>
              <a:gd name="connsiteX5" fmla="*/ 2487560 w 5938684"/>
              <a:gd name="connsiteY5" fmla="*/ 1275145 h 1825752"/>
              <a:gd name="connsiteX6" fmla="*/ 3932903 w 5938684"/>
              <a:gd name="connsiteY6" fmla="*/ 1609442 h 1825752"/>
              <a:gd name="connsiteX7" fmla="*/ 4906296 w 5938684"/>
              <a:gd name="connsiteY7" fmla="*/ 1678268 h 1825752"/>
              <a:gd name="connsiteX8" fmla="*/ 5938684 w 5938684"/>
              <a:gd name="connsiteY8" fmla="*/ 1688100 h 1825752"/>
              <a:gd name="connsiteX0" fmla="*/ 0 w 5919020"/>
              <a:gd name="connsiteY0" fmla="*/ 1727429 h 1727429"/>
              <a:gd name="connsiteX1" fmla="*/ 383459 w 5919020"/>
              <a:gd name="connsiteY1" fmla="*/ 940848 h 1727429"/>
              <a:gd name="connsiteX2" fmla="*/ 786581 w 5919020"/>
              <a:gd name="connsiteY2" fmla="*/ 105107 h 1727429"/>
              <a:gd name="connsiteX3" fmla="*/ 1219200 w 5919020"/>
              <a:gd name="connsiteY3" fmla="*/ 85442 h 1727429"/>
              <a:gd name="connsiteX4" fmla="*/ 1868129 w 5919020"/>
              <a:gd name="connsiteY4" fmla="*/ 773700 h 1727429"/>
              <a:gd name="connsiteX5" fmla="*/ 2467896 w 5919020"/>
              <a:gd name="connsiteY5" fmla="*/ 1275145 h 1727429"/>
              <a:gd name="connsiteX6" fmla="*/ 3913239 w 5919020"/>
              <a:gd name="connsiteY6" fmla="*/ 1609442 h 1727429"/>
              <a:gd name="connsiteX7" fmla="*/ 4886632 w 5919020"/>
              <a:gd name="connsiteY7" fmla="*/ 1678268 h 1727429"/>
              <a:gd name="connsiteX8" fmla="*/ 5919020 w 5919020"/>
              <a:gd name="connsiteY8" fmla="*/ 1688100 h 1727429"/>
              <a:gd name="connsiteX0" fmla="*/ 0 w 5869858"/>
              <a:gd name="connsiteY0" fmla="*/ 1796255 h 1796255"/>
              <a:gd name="connsiteX1" fmla="*/ 334297 w 5869858"/>
              <a:gd name="connsiteY1" fmla="*/ 940848 h 1796255"/>
              <a:gd name="connsiteX2" fmla="*/ 737419 w 5869858"/>
              <a:gd name="connsiteY2" fmla="*/ 105107 h 1796255"/>
              <a:gd name="connsiteX3" fmla="*/ 1170038 w 5869858"/>
              <a:gd name="connsiteY3" fmla="*/ 85442 h 1796255"/>
              <a:gd name="connsiteX4" fmla="*/ 1818967 w 5869858"/>
              <a:gd name="connsiteY4" fmla="*/ 773700 h 1796255"/>
              <a:gd name="connsiteX5" fmla="*/ 2418734 w 5869858"/>
              <a:gd name="connsiteY5" fmla="*/ 1275145 h 1796255"/>
              <a:gd name="connsiteX6" fmla="*/ 3864077 w 5869858"/>
              <a:gd name="connsiteY6" fmla="*/ 1609442 h 1796255"/>
              <a:gd name="connsiteX7" fmla="*/ 4837470 w 5869858"/>
              <a:gd name="connsiteY7" fmla="*/ 1678268 h 1796255"/>
              <a:gd name="connsiteX8" fmla="*/ 5869858 w 5869858"/>
              <a:gd name="connsiteY8" fmla="*/ 1688100 h 1796255"/>
              <a:gd name="connsiteX0" fmla="*/ 0 w 5869858"/>
              <a:gd name="connsiteY0" fmla="*/ 1785760 h 1785760"/>
              <a:gd name="connsiteX1" fmla="*/ 422788 w 5869858"/>
              <a:gd name="connsiteY1" fmla="*/ 753373 h 1785760"/>
              <a:gd name="connsiteX2" fmla="*/ 737419 w 5869858"/>
              <a:gd name="connsiteY2" fmla="*/ 94612 h 1785760"/>
              <a:gd name="connsiteX3" fmla="*/ 1170038 w 5869858"/>
              <a:gd name="connsiteY3" fmla="*/ 74947 h 1785760"/>
              <a:gd name="connsiteX4" fmla="*/ 1818967 w 5869858"/>
              <a:gd name="connsiteY4" fmla="*/ 763205 h 1785760"/>
              <a:gd name="connsiteX5" fmla="*/ 2418734 w 5869858"/>
              <a:gd name="connsiteY5" fmla="*/ 1264650 h 1785760"/>
              <a:gd name="connsiteX6" fmla="*/ 3864077 w 5869858"/>
              <a:gd name="connsiteY6" fmla="*/ 1598947 h 1785760"/>
              <a:gd name="connsiteX7" fmla="*/ 4837470 w 5869858"/>
              <a:gd name="connsiteY7" fmla="*/ 1667773 h 1785760"/>
              <a:gd name="connsiteX8" fmla="*/ 5869858 w 5869858"/>
              <a:gd name="connsiteY8" fmla="*/ 1677605 h 1785760"/>
              <a:gd name="connsiteX0" fmla="*/ 0 w 5869858"/>
              <a:gd name="connsiteY0" fmla="*/ 1785760 h 1785760"/>
              <a:gd name="connsiteX1" fmla="*/ 383459 w 5869858"/>
              <a:gd name="connsiteY1" fmla="*/ 753373 h 1785760"/>
              <a:gd name="connsiteX2" fmla="*/ 737419 w 5869858"/>
              <a:gd name="connsiteY2" fmla="*/ 94612 h 1785760"/>
              <a:gd name="connsiteX3" fmla="*/ 1170038 w 5869858"/>
              <a:gd name="connsiteY3" fmla="*/ 74947 h 1785760"/>
              <a:gd name="connsiteX4" fmla="*/ 1818967 w 5869858"/>
              <a:gd name="connsiteY4" fmla="*/ 763205 h 1785760"/>
              <a:gd name="connsiteX5" fmla="*/ 2418734 w 5869858"/>
              <a:gd name="connsiteY5" fmla="*/ 1264650 h 1785760"/>
              <a:gd name="connsiteX6" fmla="*/ 3864077 w 5869858"/>
              <a:gd name="connsiteY6" fmla="*/ 1598947 h 1785760"/>
              <a:gd name="connsiteX7" fmla="*/ 4837470 w 5869858"/>
              <a:gd name="connsiteY7" fmla="*/ 1667773 h 1785760"/>
              <a:gd name="connsiteX8" fmla="*/ 5869858 w 5869858"/>
              <a:gd name="connsiteY8" fmla="*/ 1677605 h 1785760"/>
              <a:gd name="connsiteX0" fmla="*/ 0 w 5869858"/>
              <a:gd name="connsiteY0" fmla="*/ 1785760 h 1785760"/>
              <a:gd name="connsiteX1" fmla="*/ 383459 w 5869858"/>
              <a:gd name="connsiteY1" fmla="*/ 753373 h 1785760"/>
              <a:gd name="connsiteX2" fmla="*/ 737419 w 5869858"/>
              <a:gd name="connsiteY2" fmla="*/ 94612 h 1785760"/>
              <a:gd name="connsiteX3" fmla="*/ 1170038 w 5869858"/>
              <a:gd name="connsiteY3" fmla="*/ 74947 h 1785760"/>
              <a:gd name="connsiteX4" fmla="*/ 1818967 w 5869858"/>
              <a:gd name="connsiteY4" fmla="*/ 763205 h 1785760"/>
              <a:gd name="connsiteX5" fmla="*/ 2418734 w 5869858"/>
              <a:gd name="connsiteY5" fmla="*/ 1264650 h 1785760"/>
              <a:gd name="connsiteX6" fmla="*/ 3864077 w 5869858"/>
              <a:gd name="connsiteY6" fmla="*/ 1598947 h 1785760"/>
              <a:gd name="connsiteX7" fmla="*/ 4837470 w 5869858"/>
              <a:gd name="connsiteY7" fmla="*/ 1667773 h 1785760"/>
              <a:gd name="connsiteX8" fmla="*/ 5869858 w 5869858"/>
              <a:gd name="connsiteY8" fmla="*/ 1677605 h 1785760"/>
              <a:gd name="connsiteX0" fmla="*/ 0 w 5869858"/>
              <a:gd name="connsiteY0" fmla="*/ 1796231 h 1796231"/>
              <a:gd name="connsiteX1" fmla="*/ 383459 w 5869858"/>
              <a:gd name="connsiteY1" fmla="*/ 763844 h 1796231"/>
              <a:gd name="connsiteX2" fmla="*/ 688258 w 5869858"/>
              <a:gd name="connsiteY2" fmla="*/ 85419 h 1796231"/>
              <a:gd name="connsiteX3" fmla="*/ 1170038 w 5869858"/>
              <a:gd name="connsiteY3" fmla="*/ 85418 h 1796231"/>
              <a:gd name="connsiteX4" fmla="*/ 1818967 w 5869858"/>
              <a:gd name="connsiteY4" fmla="*/ 773676 h 1796231"/>
              <a:gd name="connsiteX5" fmla="*/ 2418734 w 5869858"/>
              <a:gd name="connsiteY5" fmla="*/ 1275121 h 1796231"/>
              <a:gd name="connsiteX6" fmla="*/ 3864077 w 5869858"/>
              <a:gd name="connsiteY6" fmla="*/ 1609418 h 1796231"/>
              <a:gd name="connsiteX7" fmla="*/ 4837470 w 5869858"/>
              <a:gd name="connsiteY7" fmla="*/ 1678244 h 1796231"/>
              <a:gd name="connsiteX8" fmla="*/ 5869858 w 5869858"/>
              <a:gd name="connsiteY8" fmla="*/ 1688076 h 1796231"/>
              <a:gd name="connsiteX0" fmla="*/ 0 w 5869858"/>
              <a:gd name="connsiteY0" fmla="*/ 1796231 h 1796231"/>
              <a:gd name="connsiteX1" fmla="*/ 383459 w 5869858"/>
              <a:gd name="connsiteY1" fmla="*/ 763844 h 1796231"/>
              <a:gd name="connsiteX2" fmla="*/ 688258 w 5869858"/>
              <a:gd name="connsiteY2" fmla="*/ 85419 h 1796231"/>
              <a:gd name="connsiteX3" fmla="*/ 1199535 w 5869858"/>
              <a:gd name="connsiteY3" fmla="*/ 85418 h 1796231"/>
              <a:gd name="connsiteX4" fmla="*/ 1818967 w 5869858"/>
              <a:gd name="connsiteY4" fmla="*/ 773676 h 1796231"/>
              <a:gd name="connsiteX5" fmla="*/ 2418734 w 5869858"/>
              <a:gd name="connsiteY5" fmla="*/ 1275121 h 1796231"/>
              <a:gd name="connsiteX6" fmla="*/ 3864077 w 5869858"/>
              <a:gd name="connsiteY6" fmla="*/ 1609418 h 1796231"/>
              <a:gd name="connsiteX7" fmla="*/ 4837470 w 5869858"/>
              <a:gd name="connsiteY7" fmla="*/ 1678244 h 1796231"/>
              <a:gd name="connsiteX8" fmla="*/ 5869858 w 5869858"/>
              <a:gd name="connsiteY8" fmla="*/ 1688076 h 1796231"/>
              <a:gd name="connsiteX0" fmla="*/ 0 w 5869858"/>
              <a:gd name="connsiteY0" fmla="*/ 1807865 h 1807865"/>
              <a:gd name="connsiteX1" fmla="*/ 383459 w 5869858"/>
              <a:gd name="connsiteY1" fmla="*/ 775478 h 1807865"/>
              <a:gd name="connsiteX2" fmla="*/ 688258 w 5869858"/>
              <a:gd name="connsiteY2" fmla="*/ 97053 h 1807865"/>
              <a:gd name="connsiteX3" fmla="*/ 1219200 w 5869858"/>
              <a:gd name="connsiteY3" fmla="*/ 77387 h 1807865"/>
              <a:gd name="connsiteX4" fmla="*/ 1818967 w 5869858"/>
              <a:gd name="connsiteY4" fmla="*/ 785310 h 1807865"/>
              <a:gd name="connsiteX5" fmla="*/ 2418734 w 5869858"/>
              <a:gd name="connsiteY5" fmla="*/ 1286755 h 1807865"/>
              <a:gd name="connsiteX6" fmla="*/ 3864077 w 5869858"/>
              <a:gd name="connsiteY6" fmla="*/ 1621052 h 1807865"/>
              <a:gd name="connsiteX7" fmla="*/ 4837470 w 5869858"/>
              <a:gd name="connsiteY7" fmla="*/ 1689878 h 1807865"/>
              <a:gd name="connsiteX8" fmla="*/ 5869858 w 5869858"/>
              <a:gd name="connsiteY8" fmla="*/ 1699710 h 1807865"/>
              <a:gd name="connsiteX0" fmla="*/ 0 w 5869858"/>
              <a:gd name="connsiteY0" fmla="*/ 1807865 h 1807865"/>
              <a:gd name="connsiteX1" fmla="*/ 383459 w 5869858"/>
              <a:gd name="connsiteY1" fmla="*/ 775478 h 1807865"/>
              <a:gd name="connsiteX2" fmla="*/ 688258 w 5869858"/>
              <a:gd name="connsiteY2" fmla="*/ 97053 h 1807865"/>
              <a:gd name="connsiteX3" fmla="*/ 1219200 w 5869858"/>
              <a:gd name="connsiteY3" fmla="*/ 77387 h 1807865"/>
              <a:gd name="connsiteX4" fmla="*/ 1818967 w 5869858"/>
              <a:gd name="connsiteY4" fmla="*/ 785310 h 1807865"/>
              <a:gd name="connsiteX5" fmla="*/ 2458063 w 5869858"/>
              <a:gd name="connsiteY5" fmla="*/ 1296587 h 1807865"/>
              <a:gd name="connsiteX6" fmla="*/ 3864077 w 5869858"/>
              <a:gd name="connsiteY6" fmla="*/ 1621052 h 1807865"/>
              <a:gd name="connsiteX7" fmla="*/ 4837470 w 5869858"/>
              <a:gd name="connsiteY7" fmla="*/ 1689878 h 1807865"/>
              <a:gd name="connsiteX8" fmla="*/ 5869858 w 5869858"/>
              <a:gd name="connsiteY8" fmla="*/ 1699710 h 1807865"/>
              <a:gd name="connsiteX0" fmla="*/ 0 w 5869858"/>
              <a:gd name="connsiteY0" fmla="*/ 1807865 h 1807865"/>
              <a:gd name="connsiteX1" fmla="*/ 383459 w 5869858"/>
              <a:gd name="connsiteY1" fmla="*/ 775478 h 1807865"/>
              <a:gd name="connsiteX2" fmla="*/ 688258 w 5869858"/>
              <a:gd name="connsiteY2" fmla="*/ 97053 h 1807865"/>
              <a:gd name="connsiteX3" fmla="*/ 1219200 w 5869858"/>
              <a:gd name="connsiteY3" fmla="*/ 77387 h 1807865"/>
              <a:gd name="connsiteX4" fmla="*/ 1818967 w 5869858"/>
              <a:gd name="connsiteY4" fmla="*/ 785310 h 1807865"/>
              <a:gd name="connsiteX5" fmla="*/ 2458063 w 5869858"/>
              <a:gd name="connsiteY5" fmla="*/ 1296587 h 1807865"/>
              <a:gd name="connsiteX6" fmla="*/ 3864077 w 5869858"/>
              <a:gd name="connsiteY6" fmla="*/ 1621052 h 1807865"/>
              <a:gd name="connsiteX7" fmla="*/ 4837470 w 5869858"/>
              <a:gd name="connsiteY7" fmla="*/ 1689878 h 1807865"/>
              <a:gd name="connsiteX8" fmla="*/ 5869858 w 5869858"/>
              <a:gd name="connsiteY8" fmla="*/ 1699710 h 18078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869858" h="1807865">
                <a:moveTo>
                  <a:pt x="0" y="1807865"/>
                </a:moveTo>
                <a:cubicBezTo>
                  <a:pt x="160593" y="1507980"/>
                  <a:pt x="268749" y="1060613"/>
                  <a:pt x="383459" y="775478"/>
                </a:cubicBezTo>
                <a:cubicBezTo>
                  <a:pt x="498169" y="490343"/>
                  <a:pt x="548968" y="213401"/>
                  <a:pt x="688258" y="97053"/>
                </a:cubicBezTo>
                <a:cubicBezTo>
                  <a:pt x="827548" y="-19295"/>
                  <a:pt x="1030749" y="-37322"/>
                  <a:pt x="1219200" y="77387"/>
                </a:cubicBezTo>
                <a:cubicBezTo>
                  <a:pt x="1407651" y="192096"/>
                  <a:pt x="1612490" y="582110"/>
                  <a:pt x="1818967" y="785310"/>
                </a:cubicBezTo>
                <a:cubicBezTo>
                  <a:pt x="2025444" y="988510"/>
                  <a:pt x="2077882" y="1137633"/>
                  <a:pt x="2458063" y="1296587"/>
                </a:cubicBezTo>
                <a:cubicBezTo>
                  <a:pt x="2838244" y="1455541"/>
                  <a:pt x="3467509" y="1555504"/>
                  <a:pt x="3864077" y="1621052"/>
                </a:cubicBezTo>
                <a:cubicBezTo>
                  <a:pt x="4260645" y="1686600"/>
                  <a:pt x="4503173" y="1676768"/>
                  <a:pt x="4837470" y="1689878"/>
                </a:cubicBezTo>
                <a:cubicBezTo>
                  <a:pt x="5171767" y="1702988"/>
                  <a:pt x="5520812" y="1701349"/>
                  <a:pt x="5869858" y="1699710"/>
                </a:cubicBezTo>
              </a:path>
            </a:pathLst>
          </a:cu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/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0749D63D-7305-404A-8246-79231ED139C2}"/>
              </a:ext>
            </a:extLst>
          </p:cNvPr>
          <p:cNvSpPr txBox="1"/>
          <p:nvPr/>
        </p:nvSpPr>
        <p:spPr>
          <a:xfrm>
            <a:off x="5028155" y="1595090"/>
            <a:ext cx="1643246" cy="9900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400"/>
              </a:lnSpc>
            </a:pPr>
            <a:r>
              <a:rPr lang="en-US" sz="1400" dirty="0">
                <a:solidFill>
                  <a:schemeClr val="accent1"/>
                </a:solidFill>
              </a:rPr>
              <a:t>CNI</a:t>
            </a:r>
          </a:p>
          <a:p>
            <a:pPr algn="ctr">
              <a:lnSpc>
                <a:spcPts val="1400"/>
              </a:lnSpc>
            </a:pPr>
            <a:r>
              <a:rPr lang="en-US" sz="1400" dirty="0">
                <a:solidFill>
                  <a:schemeClr val="accent1"/>
                </a:solidFill>
              </a:rPr>
              <a:t>+</a:t>
            </a:r>
          </a:p>
          <a:p>
            <a:pPr algn="ctr">
              <a:lnSpc>
                <a:spcPts val="1400"/>
              </a:lnSpc>
            </a:pPr>
            <a:r>
              <a:rPr lang="en-US" sz="1400" dirty="0">
                <a:solidFill>
                  <a:schemeClr val="accent1"/>
                </a:solidFill>
              </a:rPr>
              <a:t>Anti-metabolites</a:t>
            </a:r>
          </a:p>
          <a:p>
            <a:pPr algn="ctr">
              <a:lnSpc>
                <a:spcPts val="1400"/>
              </a:lnSpc>
            </a:pPr>
            <a:r>
              <a:rPr lang="en-US" sz="1400" dirty="0">
                <a:solidFill>
                  <a:schemeClr val="accent1"/>
                </a:solidFill>
              </a:rPr>
              <a:t>+</a:t>
            </a:r>
          </a:p>
          <a:p>
            <a:pPr algn="ctr">
              <a:lnSpc>
                <a:spcPts val="1400"/>
              </a:lnSpc>
            </a:pPr>
            <a:r>
              <a:rPr lang="en-US" sz="1400" dirty="0">
                <a:solidFill>
                  <a:schemeClr val="accent1"/>
                </a:solidFill>
              </a:rPr>
              <a:t>prednisone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543FCED5-C1A4-48C6-8E6F-AD8E9C14BFC5}"/>
              </a:ext>
            </a:extLst>
          </p:cNvPr>
          <p:cNvSpPr txBox="1"/>
          <p:nvPr/>
        </p:nvSpPr>
        <p:spPr>
          <a:xfrm>
            <a:off x="2989238" y="1600132"/>
            <a:ext cx="1514740" cy="9900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400"/>
              </a:lnSpc>
            </a:pPr>
            <a:r>
              <a:rPr lang="en-US" sz="1400" dirty="0">
                <a:solidFill>
                  <a:schemeClr val="accent1">
                    <a:lumMod val="75000"/>
                  </a:schemeClr>
                </a:solidFill>
              </a:rPr>
              <a:t>Anti-lymphocytes/ anti- IL-2 Ab’s</a:t>
            </a:r>
          </a:p>
          <a:p>
            <a:pPr algn="ctr">
              <a:lnSpc>
                <a:spcPts val="1400"/>
              </a:lnSpc>
            </a:pPr>
            <a:r>
              <a:rPr lang="en-US" sz="1400" dirty="0">
                <a:solidFill>
                  <a:schemeClr val="accent1">
                    <a:lumMod val="75000"/>
                  </a:schemeClr>
                </a:solidFill>
              </a:rPr>
              <a:t>+</a:t>
            </a:r>
          </a:p>
          <a:p>
            <a:pPr algn="ctr">
              <a:lnSpc>
                <a:spcPts val="1400"/>
              </a:lnSpc>
            </a:pPr>
            <a:r>
              <a:rPr lang="en-US" sz="1400" dirty="0">
                <a:solidFill>
                  <a:schemeClr val="accent1">
                    <a:lumMod val="75000"/>
                  </a:schemeClr>
                </a:solidFill>
              </a:rPr>
              <a:t>Steroids </a:t>
            </a:r>
          </a:p>
        </p:txBody>
      </p:sp>
      <p:sp>
        <p:nvSpPr>
          <p:cNvPr id="95" name="Induction">
            <a:extLst>
              <a:ext uri="{FF2B5EF4-FFF2-40B4-BE49-F238E27FC236}">
                <a16:creationId xmlns:a16="http://schemas.microsoft.com/office/drawing/2014/main" id="{8A083823-C497-46D6-839A-4328C4584FCD}"/>
              </a:ext>
            </a:extLst>
          </p:cNvPr>
          <p:cNvSpPr/>
          <p:nvPr/>
        </p:nvSpPr>
        <p:spPr>
          <a:xfrm>
            <a:off x="2972771" y="792047"/>
            <a:ext cx="1537207" cy="421105"/>
          </a:xfrm>
          <a:prstGeom prst="roundRect">
            <a:avLst/>
          </a:prstGeom>
          <a:solidFill>
            <a:schemeClr val="accent1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INDUCTION</a:t>
            </a:r>
          </a:p>
        </p:txBody>
      </p:sp>
      <p:sp>
        <p:nvSpPr>
          <p:cNvPr id="96" name="Maintenance">
            <a:extLst>
              <a:ext uri="{FF2B5EF4-FFF2-40B4-BE49-F238E27FC236}">
                <a16:creationId xmlns:a16="http://schemas.microsoft.com/office/drawing/2014/main" id="{00E8F683-C9AE-43DE-B438-9A86EC8F946D}"/>
              </a:ext>
            </a:extLst>
          </p:cNvPr>
          <p:cNvSpPr/>
          <p:nvPr/>
        </p:nvSpPr>
        <p:spPr>
          <a:xfrm>
            <a:off x="4949065" y="780288"/>
            <a:ext cx="1722336" cy="456859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MAINTENANCE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AA8BB894-E7DF-4D20-B08F-F1D5E30F5256}"/>
              </a:ext>
            </a:extLst>
          </p:cNvPr>
          <p:cNvSpPr txBox="1"/>
          <p:nvPr/>
        </p:nvSpPr>
        <p:spPr>
          <a:xfrm>
            <a:off x="3277542" y="126369"/>
            <a:ext cx="45228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TRANSPLANT MEDICINE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E38AC69-8200-4900-9592-031A35FD123E}"/>
              </a:ext>
            </a:extLst>
          </p:cNvPr>
          <p:cNvSpPr txBox="1"/>
          <p:nvPr/>
        </p:nvSpPr>
        <p:spPr>
          <a:xfrm>
            <a:off x="6262703" y="3112485"/>
            <a:ext cx="694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6 </a:t>
            </a:r>
            <a:r>
              <a:rPr lang="en-US" sz="1400" dirty="0" err="1"/>
              <a:t>mos</a:t>
            </a:r>
            <a:endParaRPr lang="en-US" sz="1400" dirty="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12AC8C4-9B76-4A79-9292-44878E9828A4}"/>
              </a:ext>
            </a:extLst>
          </p:cNvPr>
          <p:cNvSpPr txBox="1"/>
          <p:nvPr/>
        </p:nvSpPr>
        <p:spPr>
          <a:xfrm>
            <a:off x="4193394" y="3112574"/>
            <a:ext cx="694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1 </a:t>
            </a:r>
            <a:r>
              <a:rPr lang="en-US" sz="1400" dirty="0" err="1"/>
              <a:t>mo</a:t>
            </a:r>
            <a:endParaRPr lang="en-US" sz="1400" dirty="0"/>
          </a:p>
        </p:txBody>
      </p:sp>
      <p:pic>
        <p:nvPicPr>
          <p:cNvPr id="52" name="Graphic 51" descr="Cursor">
            <a:extLst>
              <a:ext uri="{FF2B5EF4-FFF2-40B4-BE49-F238E27FC236}">
                <a16:creationId xmlns:a16="http://schemas.microsoft.com/office/drawing/2014/main" id="{E525BA9E-BEFD-44DE-9C45-B0D462B401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79487" y="1104535"/>
            <a:ext cx="252224" cy="252224"/>
          </a:xfrm>
          <a:prstGeom prst="rect">
            <a:avLst/>
          </a:prstGeom>
        </p:spPr>
      </p:pic>
      <p:pic>
        <p:nvPicPr>
          <p:cNvPr id="53" name="Graphic 52" descr="Cursor">
            <a:extLst>
              <a:ext uri="{FF2B5EF4-FFF2-40B4-BE49-F238E27FC236}">
                <a16:creationId xmlns:a16="http://schemas.microsoft.com/office/drawing/2014/main" id="{ACF49C32-6A2E-43AD-B9C7-5D8AD3616E1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26356" y="1104535"/>
            <a:ext cx="252224" cy="252224"/>
          </a:xfrm>
          <a:prstGeom prst="rect">
            <a:avLst/>
          </a:prstGeom>
        </p:spPr>
      </p:pic>
      <p:grpSp>
        <p:nvGrpSpPr>
          <p:cNvPr id="62" name="Group 61">
            <a:extLst>
              <a:ext uri="{FF2B5EF4-FFF2-40B4-BE49-F238E27FC236}">
                <a16:creationId xmlns:a16="http://schemas.microsoft.com/office/drawing/2014/main" id="{248D5B95-F79B-41F4-A77F-F4C4FBE50AAA}"/>
              </a:ext>
            </a:extLst>
          </p:cNvPr>
          <p:cNvGrpSpPr/>
          <p:nvPr/>
        </p:nvGrpSpPr>
        <p:grpSpPr>
          <a:xfrm>
            <a:off x="3941641" y="3623711"/>
            <a:ext cx="3411573" cy="480304"/>
            <a:chOff x="3755136" y="2689236"/>
            <a:chExt cx="3411573" cy="480304"/>
          </a:xfrm>
        </p:grpSpPr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35A4EFE4-AEB9-4AF2-81DA-86C703227796}"/>
                </a:ext>
              </a:extLst>
            </p:cNvPr>
            <p:cNvSpPr txBox="1"/>
            <p:nvPr/>
          </p:nvSpPr>
          <p:spPr>
            <a:xfrm>
              <a:off x="4189959" y="2800208"/>
              <a:ext cx="29767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Click anywhere to continue.</a:t>
              </a:r>
            </a:p>
          </p:txBody>
        </p:sp>
        <p:sp>
          <p:nvSpPr>
            <p:cNvPr id="79" name="Star: 5 Points 78">
              <a:extLst>
                <a:ext uri="{FF2B5EF4-FFF2-40B4-BE49-F238E27FC236}">
                  <a16:creationId xmlns:a16="http://schemas.microsoft.com/office/drawing/2014/main" id="{811452C2-C177-434C-81E0-892A0B11451B}"/>
                </a:ext>
              </a:extLst>
            </p:cNvPr>
            <p:cNvSpPr/>
            <p:nvPr/>
          </p:nvSpPr>
          <p:spPr>
            <a:xfrm>
              <a:off x="3755136" y="2689236"/>
              <a:ext cx="426720" cy="461665"/>
            </a:xfrm>
            <a:prstGeom prst="star5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5073672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9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"/>
                  </p:tgtEl>
                </p:cond>
              </p:nextCondLst>
            </p:seq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9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"/>
                  </p:tgtEl>
                </p:cond>
              </p:nextCondLst>
            </p:seq>
          </p:childTnLst>
        </p:cTn>
      </p:par>
    </p:tnLst>
    <p:bldLst>
      <p:bldP spid="75" grpId="0"/>
      <p:bldP spid="75" grpId="1"/>
      <p:bldP spid="76" grpId="0"/>
      <p:bldP spid="76" grpId="1"/>
      <p:bldP spid="77" grpId="0"/>
      <p:bldP spid="77" grpId="1"/>
      <p:bldP spid="89" grpId="0"/>
      <p:bldP spid="9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6" name="Group 125">
            <a:extLst>
              <a:ext uri="{FF2B5EF4-FFF2-40B4-BE49-F238E27FC236}">
                <a16:creationId xmlns:a16="http://schemas.microsoft.com/office/drawing/2014/main" id="{84E44470-1E1E-44C6-B573-52D020EB81B3}"/>
              </a:ext>
            </a:extLst>
          </p:cNvPr>
          <p:cNvGrpSpPr/>
          <p:nvPr/>
        </p:nvGrpSpPr>
        <p:grpSpPr>
          <a:xfrm>
            <a:off x="439588" y="894912"/>
            <a:ext cx="8181670" cy="5884540"/>
            <a:chOff x="440016" y="889196"/>
            <a:chExt cx="8181670" cy="5884540"/>
          </a:xfrm>
        </p:grpSpPr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75F54D8F-4EDF-4F28-ADE6-2AB9142A52C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73170" y="1258529"/>
              <a:ext cx="0" cy="1858296"/>
            </a:xfrm>
            <a:prstGeom prst="line">
              <a:avLst/>
            </a:prstGeom>
            <a:ln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22EBA8B6-7B0A-4812-B798-C128C7FE5A6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73170" y="3116826"/>
              <a:ext cx="5948516" cy="1"/>
            </a:xfrm>
            <a:prstGeom prst="line">
              <a:avLst/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D3AFB54E-4EBA-4D14-80F3-086290A846D6}"/>
                </a:ext>
              </a:extLst>
            </p:cNvPr>
            <p:cNvSpPr txBox="1"/>
            <p:nvPr/>
          </p:nvSpPr>
          <p:spPr>
            <a:xfrm>
              <a:off x="2833036" y="889197"/>
              <a:ext cx="18594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INDUCTION</a:t>
              </a:r>
            </a:p>
          </p:txBody>
        </p:sp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EE4BF840-EE07-474C-A494-68FBE8505FA1}"/>
                </a:ext>
              </a:extLst>
            </p:cNvPr>
            <p:cNvSpPr txBox="1"/>
            <p:nvPr/>
          </p:nvSpPr>
          <p:spPr>
            <a:xfrm>
              <a:off x="4817804" y="889196"/>
              <a:ext cx="20905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MAINTENANCE</a:t>
              </a: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936C6C56-CC82-4DFC-B9F5-3AD66B688FEE}"/>
                </a:ext>
              </a:extLst>
            </p:cNvPr>
            <p:cNvSpPr txBox="1"/>
            <p:nvPr/>
          </p:nvSpPr>
          <p:spPr>
            <a:xfrm rot="16200000">
              <a:off x="1331382" y="2063562"/>
              <a:ext cx="225158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 err="1"/>
                <a:t>Allogenicity</a:t>
              </a:r>
              <a:endParaRPr lang="en-US" sz="1600" dirty="0"/>
            </a:p>
          </p:txBody>
        </p: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055ABDD8-C828-41A3-A7A8-434644FD874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02178" y="1301340"/>
              <a:ext cx="15626" cy="5472396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C5779225-6152-407F-ADA8-F27F341CE731}"/>
                </a:ext>
              </a:extLst>
            </p:cNvPr>
            <p:cNvCxnSpPr>
              <a:cxnSpLocks/>
            </p:cNvCxnSpPr>
            <p:nvPr/>
          </p:nvCxnSpPr>
          <p:spPr>
            <a:xfrm>
              <a:off x="6908401" y="1301340"/>
              <a:ext cx="8563" cy="5472396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0570C249-E5A6-4829-8083-3980D106C23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73169" y="3077496"/>
              <a:ext cx="1" cy="3676099"/>
            </a:xfrm>
            <a:prstGeom prst="line">
              <a:avLst/>
            </a:prstGeom>
            <a:ln w="63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8625E11E-FE56-4504-81CC-0F60CD18BEED}"/>
                </a:ext>
              </a:extLst>
            </p:cNvPr>
            <p:cNvSpPr txBox="1"/>
            <p:nvPr/>
          </p:nvSpPr>
          <p:spPr>
            <a:xfrm>
              <a:off x="446802" y="2024841"/>
              <a:ext cx="20254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accent1"/>
                  </a:solidFill>
                </a:rPr>
                <a:t>MEDICATIONS</a:t>
              </a:r>
            </a:p>
          </p:txBody>
        </p: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B9D10671-8C09-4E8D-BAE8-FC1BEAAEBFE1}"/>
                </a:ext>
              </a:extLst>
            </p:cNvPr>
            <p:cNvSpPr txBox="1"/>
            <p:nvPr/>
          </p:nvSpPr>
          <p:spPr>
            <a:xfrm>
              <a:off x="6262915" y="3107093"/>
              <a:ext cx="6942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6 </a:t>
              </a:r>
              <a:r>
                <a:rPr lang="en-US" sz="1400" dirty="0" err="1"/>
                <a:t>mos</a:t>
              </a:r>
              <a:endParaRPr lang="en-US" sz="1400" dirty="0"/>
            </a:p>
          </p:txBody>
        </p:sp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id="{B2808B8D-E59C-4CDB-9BDF-DEA15BC466BA}"/>
                </a:ext>
              </a:extLst>
            </p:cNvPr>
            <p:cNvSpPr txBox="1"/>
            <p:nvPr/>
          </p:nvSpPr>
          <p:spPr>
            <a:xfrm>
              <a:off x="4193606" y="3107182"/>
              <a:ext cx="6942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1 </a:t>
              </a:r>
              <a:r>
                <a:rPr lang="en-US" sz="1400" dirty="0" err="1"/>
                <a:t>mo</a:t>
              </a:r>
              <a:endParaRPr lang="en-US" sz="1400" dirty="0"/>
            </a:p>
          </p:txBody>
        </p: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38AC8DED-DB4A-464C-9DA3-F91428B38AEF}"/>
                </a:ext>
              </a:extLst>
            </p:cNvPr>
            <p:cNvSpPr txBox="1"/>
            <p:nvPr/>
          </p:nvSpPr>
          <p:spPr>
            <a:xfrm>
              <a:off x="440016" y="3122059"/>
              <a:ext cx="20254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COMPLICATIONS</a:t>
              </a:r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BFEAE051-4438-4B74-9C81-B2D373375CFD}"/>
                </a:ext>
              </a:extLst>
            </p:cNvPr>
            <p:cNvSpPr/>
            <p:nvPr/>
          </p:nvSpPr>
          <p:spPr>
            <a:xfrm>
              <a:off x="2723536" y="1269631"/>
              <a:ext cx="5869858" cy="1807865"/>
            </a:xfrm>
            <a:custGeom>
              <a:avLst/>
              <a:gdLst>
                <a:gd name="connsiteX0" fmla="*/ 0 w 5899355"/>
                <a:gd name="connsiteY0" fmla="*/ 1826975 h 1826975"/>
                <a:gd name="connsiteX1" fmla="*/ 462116 w 5899355"/>
                <a:gd name="connsiteY1" fmla="*/ 942071 h 1826975"/>
                <a:gd name="connsiteX2" fmla="*/ 845574 w 5899355"/>
                <a:gd name="connsiteY2" fmla="*/ 116162 h 1826975"/>
                <a:gd name="connsiteX3" fmla="*/ 1199535 w 5899355"/>
                <a:gd name="connsiteY3" fmla="*/ 86665 h 1826975"/>
                <a:gd name="connsiteX4" fmla="*/ 1927122 w 5899355"/>
                <a:gd name="connsiteY4" fmla="*/ 873246 h 1826975"/>
                <a:gd name="connsiteX5" fmla="*/ 2467896 w 5899355"/>
                <a:gd name="connsiteY5" fmla="*/ 1404187 h 1826975"/>
                <a:gd name="connsiteX6" fmla="*/ 3893574 w 5899355"/>
                <a:gd name="connsiteY6" fmla="*/ 1610665 h 1826975"/>
                <a:gd name="connsiteX7" fmla="*/ 4866967 w 5899355"/>
                <a:gd name="connsiteY7" fmla="*/ 1679491 h 1826975"/>
                <a:gd name="connsiteX8" fmla="*/ 5899355 w 5899355"/>
                <a:gd name="connsiteY8" fmla="*/ 1689323 h 1826975"/>
                <a:gd name="connsiteX0" fmla="*/ 0 w 5899355"/>
                <a:gd name="connsiteY0" fmla="*/ 1826975 h 1826975"/>
                <a:gd name="connsiteX1" fmla="*/ 462116 w 5899355"/>
                <a:gd name="connsiteY1" fmla="*/ 942071 h 1826975"/>
                <a:gd name="connsiteX2" fmla="*/ 845574 w 5899355"/>
                <a:gd name="connsiteY2" fmla="*/ 116162 h 1826975"/>
                <a:gd name="connsiteX3" fmla="*/ 1199535 w 5899355"/>
                <a:gd name="connsiteY3" fmla="*/ 86665 h 1826975"/>
                <a:gd name="connsiteX4" fmla="*/ 1927122 w 5899355"/>
                <a:gd name="connsiteY4" fmla="*/ 873246 h 1826975"/>
                <a:gd name="connsiteX5" fmla="*/ 2448231 w 5899355"/>
                <a:gd name="connsiteY5" fmla="*/ 1276368 h 1826975"/>
                <a:gd name="connsiteX6" fmla="*/ 3893574 w 5899355"/>
                <a:gd name="connsiteY6" fmla="*/ 1610665 h 1826975"/>
                <a:gd name="connsiteX7" fmla="*/ 4866967 w 5899355"/>
                <a:gd name="connsiteY7" fmla="*/ 1679491 h 1826975"/>
                <a:gd name="connsiteX8" fmla="*/ 5899355 w 5899355"/>
                <a:gd name="connsiteY8" fmla="*/ 1689323 h 1826975"/>
                <a:gd name="connsiteX0" fmla="*/ 0 w 5899355"/>
                <a:gd name="connsiteY0" fmla="*/ 1820453 h 1820453"/>
                <a:gd name="connsiteX1" fmla="*/ 462116 w 5899355"/>
                <a:gd name="connsiteY1" fmla="*/ 935549 h 1820453"/>
                <a:gd name="connsiteX2" fmla="*/ 845574 w 5899355"/>
                <a:gd name="connsiteY2" fmla="*/ 109640 h 1820453"/>
                <a:gd name="connsiteX3" fmla="*/ 1199535 w 5899355"/>
                <a:gd name="connsiteY3" fmla="*/ 80143 h 1820453"/>
                <a:gd name="connsiteX4" fmla="*/ 1848464 w 5899355"/>
                <a:gd name="connsiteY4" fmla="*/ 768401 h 1820453"/>
                <a:gd name="connsiteX5" fmla="*/ 2448231 w 5899355"/>
                <a:gd name="connsiteY5" fmla="*/ 1269846 h 1820453"/>
                <a:gd name="connsiteX6" fmla="*/ 3893574 w 5899355"/>
                <a:gd name="connsiteY6" fmla="*/ 1604143 h 1820453"/>
                <a:gd name="connsiteX7" fmla="*/ 4866967 w 5899355"/>
                <a:gd name="connsiteY7" fmla="*/ 1672969 h 1820453"/>
                <a:gd name="connsiteX8" fmla="*/ 5899355 w 5899355"/>
                <a:gd name="connsiteY8" fmla="*/ 1682801 h 1820453"/>
                <a:gd name="connsiteX0" fmla="*/ 0 w 5899355"/>
                <a:gd name="connsiteY0" fmla="*/ 1820453 h 1820453"/>
                <a:gd name="connsiteX1" fmla="*/ 412955 w 5899355"/>
                <a:gd name="connsiteY1" fmla="*/ 935549 h 1820453"/>
                <a:gd name="connsiteX2" fmla="*/ 845574 w 5899355"/>
                <a:gd name="connsiteY2" fmla="*/ 109640 h 1820453"/>
                <a:gd name="connsiteX3" fmla="*/ 1199535 w 5899355"/>
                <a:gd name="connsiteY3" fmla="*/ 80143 h 1820453"/>
                <a:gd name="connsiteX4" fmla="*/ 1848464 w 5899355"/>
                <a:gd name="connsiteY4" fmla="*/ 768401 h 1820453"/>
                <a:gd name="connsiteX5" fmla="*/ 2448231 w 5899355"/>
                <a:gd name="connsiteY5" fmla="*/ 1269846 h 1820453"/>
                <a:gd name="connsiteX6" fmla="*/ 3893574 w 5899355"/>
                <a:gd name="connsiteY6" fmla="*/ 1604143 h 1820453"/>
                <a:gd name="connsiteX7" fmla="*/ 4866967 w 5899355"/>
                <a:gd name="connsiteY7" fmla="*/ 1672969 h 1820453"/>
                <a:gd name="connsiteX8" fmla="*/ 5899355 w 5899355"/>
                <a:gd name="connsiteY8" fmla="*/ 1682801 h 1820453"/>
                <a:gd name="connsiteX0" fmla="*/ 0 w 5899355"/>
                <a:gd name="connsiteY0" fmla="*/ 1825752 h 1825752"/>
                <a:gd name="connsiteX1" fmla="*/ 412955 w 5899355"/>
                <a:gd name="connsiteY1" fmla="*/ 940848 h 1825752"/>
                <a:gd name="connsiteX2" fmla="*/ 766916 w 5899355"/>
                <a:gd name="connsiteY2" fmla="*/ 105107 h 1825752"/>
                <a:gd name="connsiteX3" fmla="*/ 1199535 w 5899355"/>
                <a:gd name="connsiteY3" fmla="*/ 85442 h 1825752"/>
                <a:gd name="connsiteX4" fmla="*/ 1848464 w 5899355"/>
                <a:gd name="connsiteY4" fmla="*/ 773700 h 1825752"/>
                <a:gd name="connsiteX5" fmla="*/ 2448231 w 5899355"/>
                <a:gd name="connsiteY5" fmla="*/ 1275145 h 1825752"/>
                <a:gd name="connsiteX6" fmla="*/ 3893574 w 5899355"/>
                <a:gd name="connsiteY6" fmla="*/ 1609442 h 1825752"/>
                <a:gd name="connsiteX7" fmla="*/ 4866967 w 5899355"/>
                <a:gd name="connsiteY7" fmla="*/ 1678268 h 1825752"/>
                <a:gd name="connsiteX8" fmla="*/ 5899355 w 5899355"/>
                <a:gd name="connsiteY8" fmla="*/ 1688100 h 1825752"/>
                <a:gd name="connsiteX0" fmla="*/ 0 w 5899355"/>
                <a:gd name="connsiteY0" fmla="*/ 1825752 h 1825752"/>
                <a:gd name="connsiteX1" fmla="*/ 363794 w 5899355"/>
                <a:gd name="connsiteY1" fmla="*/ 940848 h 1825752"/>
                <a:gd name="connsiteX2" fmla="*/ 766916 w 5899355"/>
                <a:gd name="connsiteY2" fmla="*/ 105107 h 1825752"/>
                <a:gd name="connsiteX3" fmla="*/ 1199535 w 5899355"/>
                <a:gd name="connsiteY3" fmla="*/ 85442 h 1825752"/>
                <a:gd name="connsiteX4" fmla="*/ 1848464 w 5899355"/>
                <a:gd name="connsiteY4" fmla="*/ 773700 h 1825752"/>
                <a:gd name="connsiteX5" fmla="*/ 2448231 w 5899355"/>
                <a:gd name="connsiteY5" fmla="*/ 1275145 h 1825752"/>
                <a:gd name="connsiteX6" fmla="*/ 3893574 w 5899355"/>
                <a:gd name="connsiteY6" fmla="*/ 1609442 h 1825752"/>
                <a:gd name="connsiteX7" fmla="*/ 4866967 w 5899355"/>
                <a:gd name="connsiteY7" fmla="*/ 1678268 h 1825752"/>
                <a:gd name="connsiteX8" fmla="*/ 5899355 w 5899355"/>
                <a:gd name="connsiteY8" fmla="*/ 1688100 h 1825752"/>
                <a:gd name="connsiteX0" fmla="*/ 0 w 5938684"/>
                <a:gd name="connsiteY0" fmla="*/ 1825752 h 1825752"/>
                <a:gd name="connsiteX1" fmla="*/ 403123 w 5938684"/>
                <a:gd name="connsiteY1" fmla="*/ 940848 h 1825752"/>
                <a:gd name="connsiteX2" fmla="*/ 806245 w 5938684"/>
                <a:gd name="connsiteY2" fmla="*/ 105107 h 1825752"/>
                <a:gd name="connsiteX3" fmla="*/ 1238864 w 5938684"/>
                <a:gd name="connsiteY3" fmla="*/ 85442 h 1825752"/>
                <a:gd name="connsiteX4" fmla="*/ 1887793 w 5938684"/>
                <a:gd name="connsiteY4" fmla="*/ 773700 h 1825752"/>
                <a:gd name="connsiteX5" fmla="*/ 2487560 w 5938684"/>
                <a:gd name="connsiteY5" fmla="*/ 1275145 h 1825752"/>
                <a:gd name="connsiteX6" fmla="*/ 3932903 w 5938684"/>
                <a:gd name="connsiteY6" fmla="*/ 1609442 h 1825752"/>
                <a:gd name="connsiteX7" fmla="*/ 4906296 w 5938684"/>
                <a:gd name="connsiteY7" fmla="*/ 1678268 h 1825752"/>
                <a:gd name="connsiteX8" fmla="*/ 5938684 w 5938684"/>
                <a:gd name="connsiteY8" fmla="*/ 1688100 h 1825752"/>
                <a:gd name="connsiteX0" fmla="*/ 0 w 5919020"/>
                <a:gd name="connsiteY0" fmla="*/ 1727429 h 1727429"/>
                <a:gd name="connsiteX1" fmla="*/ 383459 w 5919020"/>
                <a:gd name="connsiteY1" fmla="*/ 940848 h 1727429"/>
                <a:gd name="connsiteX2" fmla="*/ 786581 w 5919020"/>
                <a:gd name="connsiteY2" fmla="*/ 105107 h 1727429"/>
                <a:gd name="connsiteX3" fmla="*/ 1219200 w 5919020"/>
                <a:gd name="connsiteY3" fmla="*/ 85442 h 1727429"/>
                <a:gd name="connsiteX4" fmla="*/ 1868129 w 5919020"/>
                <a:gd name="connsiteY4" fmla="*/ 773700 h 1727429"/>
                <a:gd name="connsiteX5" fmla="*/ 2467896 w 5919020"/>
                <a:gd name="connsiteY5" fmla="*/ 1275145 h 1727429"/>
                <a:gd name="connsiteX6" fmla="*/ 3913239 w 5919020"/>
                <a:gd name="connsiteY6" fmla="*/ 1609442 h 1727429"/>
                <a:gd name="connsiteX7" fmla="*/ 4886632 w 5919020"/>
                <a:gd name="connsiteY7" fmla="*/ 1678268 h 1727429"/>
                <a:gd name="connsiteX8" fmla="*/ 5919020 w 5919020"/>
                <a:gd name="connsiteY8" fmla="*/ 1688100 h 1727429"/>
                <a:gd name="connsiteX0" fmla="*/ 0 w 5869858"/>
                <a:gd name="connsiteY0" fmla="*/ 1796255 h 1796255"/>
                <a:gd name="connsiteX1" fmla="*/ 334297 w 5869858"/>
                <a:gd name="connsiteY1" fmla="*/ 940848 h 1796255"/>
                <a:gd name="connsiteX2" fmla="*/ 737419 w 5869858"/>
                <a:gd name="connsiteY2" fmla="*/ 105107 h 1796255"/>
                <a:gd name="connsiteX3" fmla="*/ 1170038 w 5869858"/>
                <a:gd name="connsiteY3" fmla="*/ 85442 h 1796255"/>
                <a:gd name="connsiteX4" fmla="*/ 1818967 w 5869858"/>
                <a:gd name="connsiteY4" fmla="*/ 773700 h 1796255"/>
                <a:gd name="connsiteX5" fmla="*/ 2418734 w 5869858"/>
                <a:gd name="connsiteY5" fmla="*/ 1275145 h 1796255"/>
                <a:gd name="connsiteX6" fmla="*/ 3864077 w 5869858"/>
                <a:gd name="connsiteY6" fmla="*/ 1609442 h 1796255"/>
                <a:gd name="connsiteX7" fmla="*/ 4837470 w 5869858"/>
                <a:gd name="connsiteY7" fmla="*/ 1678268 h 1796255"/>
                <a:gd name="connsiteX8" fmla="*/ 5869858 w 5869858"/>
                <a:gd name="connsiteY8" fmla="*/ 1688100 h 1796255"/>
                <a:gd name="connsiteX0" fmla="*/ 0 w 5869858"/>
                <a:gd name="connsiteY0" fmla="*/ 1785760 h 1785760"/>
                <a:gd name="connsiteX1" fmla="*/ 422788 w 5869858"/>
                <a:gd name="connsiteY1" fmla="*/ 753373 h 1785760"/>
                <a:gd name="connsiteX2" fmla="*/ 737419 w 5869858"/>
                <a:gd name="connsiteY2" fmla="*/ 94612 h 1785760"/>
                <a:gd name="connsiteX3" fmla="*/ 1170038 w 5869858"/>
                <a:gd name="connsiteY3" fmla="*/ 74947 h 1785760"/>
                <a:gd name="connsiteX4" fmla="*/ 1818967 w 5869858"/>
                <a:gd name="connsiteY4" fmla="*/ 763205 h 1785760"/>
                <a:gd name="connsiteX5" fmla="*/ 2418734 w 5869858"/>
                <a:gd name="connsiteY5" fmla="*/ 1264650 h 1785760"/>
                <a:gd name="connsiteX6" fmla="*/ 3864077 w 5869858"/>
                <a:gd name="connsiteY6" fmla="*/ 1598947 h 1785760"/>
                <a:gd name="connsiteX7" fmla="*/ 4837470 w 5869858"/>
                <a:gd name="connsiteY7" fmla="*/ 1667773 h 1785760"/>
                <a:gd name="connsiteX8" fmla="*/ 5869858 w 5869858"/>
                <a:gd name="connsiteY8" fmla="*/ 1677605 h 1785760"/>
                <a:gd name="connsiteX0" fmla="*/ 0 w 5869858"/>
                <a:gd name="connsiteY0" fmla="*/ 1785760 h 1785760"/>
                <a:gd name="connsiteX1" fmla="*/ 383459 w 5869858"/>
                <a:gd name="connsiteY1" fmla="*/ 753373 h 1785760"/>
                <a:gd name="connsiteX2" fmla="*/ 737419 w 5869858"/>
                <a:gd name="connsiteY2" fmla="*/ 94612 h 1785760"/>
                <a:gd name="connsiteX3" fmla="*/ 1170038 w 5869858"/>
                <a:gd name="connsiteY3" fmla="*/ 74947 h 1785760"/>
                <a:gd name="connsiteX4" fmla="*/ 1818967 w 5869858"/>
                <a:gd name="connsiteY4" fmla="*/ 763205 h 1785760"/>
                <a:gd name="connsiteX5" fmla="*/ 2418734 w 5869858"/>
                <a:gd name="connsiteY5" fmla="*/ 1264650 h 1785760"/>
                <a:gd name="connsiteX6" fmla="*/ 3864077 w 5869858"/>
                <a:gd name="connsiteY6" fmla="*/ 1598947 h 1785760"/>
                <a:gd name="connsiteX7" fmla="*/ 4837470 w 5869858"/>
                <a:gd name="connsiteY7" fmla="*/ 1667773 h 1785760"/>
                <a:gd name="connsiteX8" fmla="*/ 5869858 w 5869858"/>
                <a:gd name="connsiteY8" fmla="*/ 1677605 h 1785760"/>
                <a:gd name="connsiteX0" fmla="*/ 0 w 5869858"/>
                <a:gd name="connsiteY0" fmla="*/ 1785760 h 1785760"/>
                <a:gd name="connsiteX1" fmla="*/ 383459 w 5869858"/>
                <a:gd name="connsiteY1" fmla="*/ 753373 h 1785760"/>
                <a:gd name="connsiteX2" fmla="*/ 737419 w 5869858"/>
                <a:gd name="connsiteY2" fmla="*/ 94612 h 1785760"/>
                <a:gd name="connsiteX3" fmla="*/ 1170038 w 5869858"/>
                <a:gd name="connsiteY3" fmla="*/ 74947 h 1785760"/>
                <a:gd name="connsiteX4" fmla="*/ 1818967 w 5869858"/>
                <a:gd name="connsiteY4" fmla="*/ 763205 h 1785760"/>
                <a:gd name="connsiteX5" fmla="*/ 2418734 w 5869858"/>
                <a:gd name="connsiteY5" fmla="*/ 1264650 h 1785760"/>
                <a:gd name="connsiteX6" fmla="*/ 3864077 w 5869858"/>
                <a:gd name="connsiteY6" fmla="*/ 1598947 h 1785760"/>
                <a:gd name="connsiteX7" fmla="*/ 4837470 w 5869858"/>
                <a:gd name="connsiteY7" fmla="*/ 1667773 h 1785760"/>
                <a:gd name="connsiteX8" fmla="*/ 5869858 w 5869858"/>
                <a:gd name="connsiteY8" fmla="*/ 1677605 h 1785760"/>
                <a:gd name="connsiteX0" fmla="*/ 0 w 5869858"/>
                <a:gd name="connsiteY0" fmla="*/ 1796231 h 1796231"/>
                <a:gd name="connsiteX1" fmla="*/ 383459 w 5869858"/>
                <a:gd name="connsiteY1" fmla="*/ 763844 h 1796231"/>
                <a:gd name="connsiteX2" fmla="*/ 688258 w 5869858"/>
                <a:gd name="connsiteY2" fmla="*/ 85419 h 1796231"/>
                <a:gd name="connsiteX3" fmla="*/ 1170038 w 5869858"/>
                <a:gd name="connsiteY3" fmla="*/ 85418 h 1796231"/>
                <a:gd name="connsiteX4" fmla="*/ 1818967 w 5869858"/>
                <a:gd name="connsiteY4" fmla="*/ 773676 h 1796231"/>
                <a:gd name="connsiteX5" fmla="*/ 2418734 w 5869858"/>
                <a:gd name="connsiteY5" fmla="*/ 1275121 h 1796231"/>
                <a:gd name="connsiteX6" fmla="*/ 3864077 w 5869858"/>
                <a:gd name="connsiteY6" fmla="*/ 1609418 h 1796231"/>
                <a:gd name="connsiteX7" fmla="*/ 4837470 w 5869858"/>
                <a:gd name="connsiteY7" fmla="*/ 1678244 h 1796231"/>
                <a:gd name="connsiteX8" fmla="*/ 5869858 w 5869858"/>
                <a:gd name="connsiteY8" fmla="*/ 1688076 h 1796231"/>
                <a:gd name="connsiteX0" fmla="*/ 0 w 5869858"/>
                <a:gd name="connsiteY0" fmla="*/ 1796231 h 1796231"/>
                <a:gd name="connsiteX1" fmla="*/ 383459 w 5869858"/>
                <a:gd name="connsiteY1" fmla="*/ 763844 h 1796231"/>
                <a:gd name="connsiteX2" fmla="*/ 688258 w 5869858"/>
                <a:gd name="connsiteY2" fmla="*/ 85419 h 1796231"/>
                <a:gd name="connsiteX3" fmla="*/ 1199535 w 5869858"/>
                <a:gd name="connsiteY3" fmla="*/ 85418 h 1796231"/>
                <a:gd name="connsiteX4" fmla="*/ 1818967 w 5869858"/>
                <a:gd name="connsiteY4" fmla="*/ 773676 h 1796231"/>
                <a:gd name="connsiteX5" fmla="*/ 2418734 w 5869858"/>
                <a:gd name="connsiteY5" fmla="*/ 1275121 h 1796231"/>
                <a:gd name="connsiteX6" fmla="*/ 3864077 w 5869858"/>
                <a:gd name="connsiteY6" fmla="*/ 1609418 h 1796231"/>
                <a:gd name="connsiteX7" fmla="*/ 4837470 w 5869858"/>
                <a:gd name="connsiteY7" fmla="*/ 1678244 h 1796231"/>
                <a:gd name="connsiteX8" fmla="*/ 5869858 w 5869858"/>
                <a:gd name="connsiteY8" fmla="*/ 1688076 h 1796231"/>
                <a:gd name="connsiteX0" fmla="*/ 0 w 5869858"/>
                <a:gd name="connsiteY0" fmla="*/ 1807865 h 1807865"/>
                <a:gd name="connsiteX1" fmla="*/ 383459 w 5869858"/>
                <a:gd name="connsiteY1" fmla="*/ 775478 h 1807865"/>
                <a:gd name="connsiteX2" fmla="*/ 688258 w 5869858"/>
                <a:gd name="connsiteY2" fmla="*/ 97053 h 1807865"/>
                <a:gd name="connsiteX3" fmla="*/ 1219200 w 5869858"/>
                <a:gd name="connsiteY3" fmla="*/ 77387 h 1807865"/>
                <a:gd name="connsiteX4" fmla="*/ 1818967 w 5869858"/>
                <a:gd name="connsiteY4" fmla="*/ 785310 h 1807865"/>
                <a:gd name="connsiteX5" fmla="*/ 2418734 w 5869858"/>
                <a:gd name="connsiteY5" fmla="*/ 1286755 h 1807865"/>
                <a:gd name="connsiteX6" fmla="*/ 3864077 w 5869858"/>
                <a:gd name="connsiteY6" fmla="*/ 1621052 h 1807865"/>
                <a:gd name="connsiteX7" fmla="*/ 4837470 w 5869858"/>
                <a:gd name="connsiteY7" fmla="*/ 1689878 h 1807865"/>
                <a:gd name="connsiteX8" fmla="*/ 5869858 w 5869858"/>
                <a:gd name="connsiteY8" fmla="*/ 1699710 h 1807865"/>
                <a:gd name="connsiteX0" fmla="*/ 0 w 5869858"/>
                <a:gd name="connsiteY0" fmla="*/ 1807865 h 1807865"/>
                <a:gd name="connsiteX1" fmla="*/ 383459 w 5869858"/>
                <a:gd name="connsiteY1" fmla="*/ 775478 h 1807865"/>
                <a:gd name="connsiteX2" fmla="*/ 688258 w 5869858"/>
                <a:gd name="connsiteY2" fmla="*/ 97053 h 1807865"/>
                <a:gd name="connsiteX3" fmla="*/ 1219200 w 5869858"/>
                <a:gd name="connsiteY3" fmla="*/ 77387 h 1807865"/>
                <a:gd name="connsiteX4" fmla="*/ 1818967 w 5869858"/>
                <a:gd name="connsiteY4" fmla="*/ 785310 h 1807865"/>
                <a:gd name="connsiteX5" fmla="*/ 2458063 w 5869858"/>
                <a:gd name="connsiteY5" fmla="*/ 1296587 h 1807865"/>
                <a:gd name="connsiteX6" fmla="*/ 3864077 w 5869858"/>
                <a:gd name="connsiteY6" fmla="*/ 1621052 h 1807865"/>
                <a:gd name="connsiteX7" fmla="*/ 4837470 w 5869858"/>
                <a:gd name="connsiteY7" fmla="*/ 1689878 h 1807865"/>
                <a:gd name="connsiteX8" fmla="*/ 5869858 w 5869858"/>
                <a:gd name="connsiteY8" fmla="*/ 1699710 h 1807865"/>
                <a:gd name="connsiteX0" fmla="*/ 0 w 5869858"/>
                <a:gd name="connsiteY0" fmla="*/ 1807865 h 1807865"/>
                <a:gd name="connsiteX1" fmla="*/ 383459 w 5869858"/>
                <a:gd name="connsiteY1" fmla="*/ 775478 h 1807865"/>
                <a:gd name="connsiteX2" fmla="*/ 688258 w 5869858"/>
                <a:gd name="connsiteY2" fmla="*/ 97053 h 1807865"/>
                <a:gd name="connsiteX3" fmla="*/ 1219200 w 5869858"/>
                <a:gd name="connsiteY3" fmla="*/ 77387 h 1807865"/>
                <a:gd name="connsiteX4" fmla="*/ 1818967 w 5869858"/>
                <a:gd name="connsiteY4" fmla="*/ 785310 h 1807865"/>
                <a:gd name="connsiteX5" fmla="*/ 2458063 w 5869858"/>
                <a:gd name="connsiteY5" fmla="*/ 1296587 h 1807865"/>
                <a:gd name="connsiteX6" fmla="*/ 3864077 w 5869858"/>
                <a:gd name="connsiteY6" fmla="*/ 1621052 h 1807865"/>
                <a:gd name="connsiteX7" fmla="*/ 4837470 w 5869858"/>
                <a:gd name="connsiteY7" fmla="*/ 1689878 h 1807865"/>
                <a:gd name="connsiteX8" fmla="*/ 5869858 w 5869858"/>
                <a:gd name="connsiteY8" fmla="*/ 1699710 h 18078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69858" h="1807865">
                  <a:moveTo>
                    <a:pt x="0" y="1807865"/>
                  </a:moveTo>
                  <a:cubicBezTo>
                    <a:pt x="160593" y="1507980"/>
                    <a:pt x="268749" y="1060613"/>
                    <a:pt x="383459" y="775478"/>
                  </a:cubicBezTo>
                  <a:cubicBezTo>
                    <a:pt x="498169" y="490343"/>
                    <a:pt x="548968" y="213401"/>
                    <a:pt x="688258" y="97053"/>
                  </a:cubicBezTo>
                  <a:cubicBezTo>
                    <a:pt x="827548" y="-19295"/>
                    <a:pt x="1030749" y="-37322"/>
                    <a:pt x="1219200" y="77387"/>
                  </a:cubicBezTo>
                  <a:cubicBezTo>
                    <a:pt x="1407651" y="192096"/>
                    <a:pt x="1612490" y="582110"/>
                    <a:pt x="1818967" y="785310"/>
                  </a:cubicBezTo>
                  <a:cubicBezTo>
                    <a:pt x="2025444" y="988510"/>
                    <a:pt x="2077882" y="1137633"/>
                    <a:pt x="2458063" y="1296587"/>
                  </a:cubicBezTo>
                  <a:cubicBezTo>
                    <a:pt x="2838244" y="1455541"/>
                    <a:pt x="3467509" y="1555504"/>
                    <a:pt x="3864077" y="1621052"/>
                  </a:cubicBezTo>
                  <a:cubicBezTo>
                    <a:pt x="4260645" y="1686600"/>
                    <a:pt x="4503173" y="1676768"/>
                    <a:pt x="4837470" y="1689878"/>
                  </a:cubicBezTo>
                  <a:cubicBezTo>
                    <a:pt x="5171767" y="1702988"/>
                    <a:pt x="5520812" y="1701349"/>
                    <a:pt x="5869858" y="1699710"/>
                  </a:cubicBezTo>
                </a:path>
              </a:pathLst>
            </a:cu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6"/>
                </a:solidFill>
              </a:endParaRPr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70587AD1-7D49-486D-A14D-BB36FCCF590A}"/>
                </a:ext>
              </a:extLst>
            </p:cNvPr>
            <p:cNvSpPr txBox="1"/>
            <p:nvPr/>
          </p:nvSpPr>
          <p:spPr>
            <a:xfrm>
              <a:off x="5028155" y="1595090"/>
              <a:ext cx="1643246" cy="9925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1400"/>
                </a:lnSpc>
              </a:pPr>
              <a:r>
                <a:rPr lang="en-US" sz="1600" dirty="0">
                  <a:solidFill>
                    <a:schemeClr val="accent1"/>
                  </a:solidFill>
                </a:rPr>
                <a:t>CNI</a:t>
              </a:r>
            </a:p>
            <a:p>
              <a:pPr algn="ctr">
                <a:lnSpc>
                  <a:spcPts val="1400"/>
                </a:lnSpc>
              </a:pPr>
              <a:endParaRPr lang="en-US" sz="1600" dirty="0">
                <a:solidFill>
                  <a:schemeClr val="accent1"/>
                </a:solidFill>
              </a:endParaRPr>
            </a:p>
            <a:p>
              <a:pPr algn="ctr">
                <a:lnSpc>
                  <a:spcPts val="1400"/>
                </a:lnSpc>
              </a:pPr>
              <a:r>
                <a:rPr lang="en-US" sz="1600" dirty="0">
                  <a:solidFill>
                    <a:schemeClr val="accent1"/>
                  </a:solidFill>
                </a:rPr>
                <a:t>Anti-metabolites</a:t>
              </a:r>
            </a:p>
            <a:p>
              <a:pPr algn="ctr">
                <a:lnSpc>
                  <a:spcPts val="1400"/>
                </a:lnSpc>
              </a:pPr>
              <a:endParaRPr lang="en-US" sz="1600" dirty="0">
                <a:solidFill>
                  <a:schemeClr val="accent1"/>
                </a:solidFill>
              </a:endParaRPr>
            </a:p>
            <a:p>
              <a:pPr algn="ctr">
                <a:lnSpc>
                  <a:spcPts val="1400"/>
                </a:lnSpc>
              </a:pPr>
              <a:r>
                <a:rPr lang="en-US" sz="1600" dirty="0">
                  <a:solidFill>
                    <a:schemeClr val="accent1"/>
                  </a:solidFill>
                </a:rPr>
                <a:t>prednisone</a:t>
              </a:r>
            </a:p>
          </p:txBody>
        </p: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3A41A0F8-4EF0-4BC9-8210-6FB1C2734265}"/>
                </a:ext>
              </a:extLst>
            </p:cNvPr>
            <p:cNvSpPr txBox="1"/>
            <p:nvPr/>
          </p:nvSpPr>
          <p:spPr>
            <a:xfrm>
              <a:off x="2989238" y="1600132"/>
              <a:ext cx="1514740" cy="9900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1400"/>
                </a:lnSpc>
              </a:pPr>
              <a:r>
                <a:rPr lang="en-US" sz="1400" dirty="0">
                  <a:solidFill>
                    <a:schemeClr val="accent1"/>
                  </a:solidFill>
                </a:rPr>
                <a:t>Anti-lymphocytes/ anti- IL-2 Ab’s</a:t>
              </a:r>
            </a:p>
            <a:p>
              <a:pPr algn="ctr">
                <a:lnSpc>
                  <a:spcPts val="1400"/>
                </a:lnSpc>
              </a:pPr>
              <a:r>
                <a:rPr lang="en-US" sz="1400" dirty="0">
                  <a:solidFill>
                    <a:schemeClr val="accent1"/>
                  </a:solidFill>
                </a:rPr>
                <a:t>+</a:t>
              </a:r>
            </a:p>
            <a:p>
              <a:pPr algn="ctr">
                <a:lnSpc>
                  <a:spcPts val="1400"/>
                </a:lnSpc>
              </a:pPr>
              <a:r>
                <a:rPr lang="en-US" sz="1400" dirty="0">
                  <a:solidFill>
                    <a:schemeClr val="accent1"/>
                  </a:solidFill>
                </a:rPr>
                <a:t>Steroids </a:t>
              </a:r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298B3F85-CCB0-42FA-915F-85DA56A91D20}"/>
              </a:ext>
            </a:extLst>
          </p:cNvPr>
          <p:cNvGrpSpPr/>
          <p:nvPr/>
        </p:nvGrpSpPr>
        <p:grpSpPr>
          <a:xfrm>
            <a:off x="2672740" y="3266952"/>
            <a:ext cx="6026138" cy="633443"/>
            <a:chOff x="2683443" y="3450169"/>
            <a:chExt cx="6026138" cy="633443"/>
          </a:xfrm>
        </p:grpSpPr>
        <p:cxnSp>
          <p:nvCxnSpPr>
            <p:cNvPr id="86" name="Straight Arrow Connector 85">
              <a:extLst>
                <a:ext uri="{FF2B5EF4-FFF2-40B4-BE49-F238E27FC236}">
                  <a16:creationId xmlns:a16="http://schemas.microsoft.com/office/drawing/2014/main" id="{3588417C-11E8-4B6C-9244-7B28FDE557C9}"/>
                </a:ext>
              </a:extLst>
            </p:cNvPr>
            <p:cNvCxnSpPr>
              <a:cxnSpLocks/>
            </p:cNvCxnSpPr>
            <p:nvPr/>
          </p:nvCxnSpPr>
          <p:spPr>
            <a:xfrm>
              <a:off x="2683443" y="3814532"/>
              <a:ext cx="4212446" cy="0"/>
            </a:xfrm>
            <a:prstGeom prst="straightConnector1">
              <a:avLst/>
            </a:prstGeom>
            <a:ln>
              <a:solidFill>
                <a:srgbClr val="FF000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05200443-A11C-4F5A-AB95-76EE60494672}"/>
                </a:ext>
              </a:extLst>
            </p:cNvPr>
            <p:cNvSpPr txBox="1"/>
            <p:nvPr/>
          </p:nvSpPr>
          <p:spPr>
            <a:xfrm>
              <a:off x="4203095" y="3606530"/>
              <a:ext cx="1414600" cy="451406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1400"/>
                </a:lnSpc>
              </a:pPr>
              <a:r>
                <a:rPr lang="en-US" sz="1400" dirty="0">
                  <a:solidFill>
                    <a:srgbClr val="FF0000"/>
                  </a:solidFill>
                </a:rPr>
                <a:t>~ 25% with acute rejection</a:t>
              </a:r>
            </a:p>
          </p:txBody>
        </p:sp>
        <p:cxnSp>
          <p:nvCxnSpPr>
            <p:cNvPr id="99" name="Straight Arrow Connector 98">
              <a:extLst>
                <a:ext uri="{FF2B5EF4-FFF2-40B4-BE49-F238E27FC236}">
                  <a16:creationId xmlns:a16="http://schemas.microsoft.com/office/drawing/2014/main" id="{2C5778DA-4546-44E2-A06E-056B75751E1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07132" y="3807933"/>
              <a:ext cx="1902449" cy="6402"/>
            </a:xfrm>
            <a:prstGeom prst="straightConnector1">
              <a:avLst/>
            </a:prstGeom>
            <a:ln>
              <a:solidFill>
                <a:srgbClr val="FF0000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FA57F96E-6749-4372-A06B-01276DD89B72}"/>
                </a:ext>
              </a:extLst>
            </p:cNvPr>
            <p:cNvSpPr txBox="1"/>
            <p:nvPr/>
          </p:nvSpPr>
          <p:spPr>
            <a:xfrm>
              <a:off x="7098664" y="3450169"/>
              <a:ext cx="1440150" cy="63344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1400"/>
                </a:lnSpc>
              </a:pPr>
              <a:r>
                <a:rPr lang="en-US" sz="1400" dirty="0">
                  <a:solidFill>
                    <a:srgbClr val="FF0000"/>
                  </a:solidFill>
                </a:rPr>
                <a:t>Uncommon &gt; 6 </a:t>
              </a:r>
              <a:r>
                <a:rPr lang="en-US" sz="1400" dirty="0" err="1">
                  <a:solidFill>
                    <a:srgbClr val="FF0000"/>
                  </a:solidFill>
                </a:rPr>
                <a:t>mos</a:t>
              </a:r>
              <a:r>
                <a:rPr lang="en-US" sz="1400" dirty="0">
                  <a:solidFill>
                    <a:srgbClr val="FF0000"/>
                  </a:solidFill>
                </a:rPr>
                <a:t> unless med non-compliance </a:t>
              </a:r>
            </a:p>
          </p:txBody>
        </p: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D588004B-53CA-4104-9662-FD2A9C2C995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16536" y="3645058"/>
              <a:ext cx="0" cy="338554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2" name="TextBox 101">
            <a:extLst>
              <a:ext uri="{FF2B5EF4-FFF2-40B4-BE49-F238E27FC236}">
                <a16:creationId xmlns:a16="http://schemas.microsoft.com/office/drawing/2014/main" id="{47723F92-FCFE-4EBA-83A4-4317EA1C1141}"/>
              </a:ext>
            </a:extLst>
          </p:cNvPr>
          <p:cNvSpPr txBox="1"/>
          <p:nvPr/>
        </p:nvSpPr>
        <p:spPr>
          <a:xfrm>
            <a:off x="3000844" y="4431314"/>
            <a:ext cx="1394917" cy="63094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lnSpc>
                <a:spcPts val="1400"/>
              </a:lnSpc>
            </a:pPr>
            <a:r>
              <a:rPr lang="en-US" sz="1400" dirty="0">
                <a:solidFill>
                  <a:schemeClr val="accent5"/>
                </a:solidFill>
              </a:rPr>
              <a:t>Donor/ recipient</a:t>
            </a:r>
          </a:p>
          <a:p>
            <a:pPr algn="ctr">
              <a:lnSpc>
                <a:spcPts val="1400"/>
              </a:lnSpc>
            </a:pPr>
            <a:r>
              <a:rPr lang="en-US" sz="1400" dirty="0">
                <a:solidFill>
                  <a:schemeClr val="accent5"/>
                </a:solidFill>
              </a:rPr>
              <a:t>+</a:t>
            </a:r>
          </a:p>
          <a:p>
            <a:pPr algn="ctr">
              <a:lnSpc>
                <a:spcPts val="1400"/>
              </a:lnSpc>
            </a:pPr>
            <a:r>
              <a:rPr lang="en-US" sz="1400" dirty="0">
                <a:solidFill>
                  <a:schemeClr val="accent5"/>
                </a:solidFill>
              </a:rPr>
              <a:t>Nosocomial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DF754927-15AC-47DF-8519-4EFB4313680C}"/>
              </a:ext>
            </a:extLst>
          </p:cNvPr>
          <p:cNvSpPr txBox="1"/>
          <p:nvPr/>
        </p:nvSpPr>
        <p:spPr>
          <a:xfrm>
            <a:off x="4946902" y="4261670"/>
            <a:ext cx="1869704" cy="99001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lnSpc>
                <a:spcPts val="1400"/>
              </a:lnSpc>
            </a:pPr>
            <a:r>
              <a:rPr lang="en-US" sz="1400" dirty="0">
                <a:solidFill>
                  <a:schemeClr val="accent5"/>
                </a:solidFill>
              </a:rPr>
              <a:t>Reactivation </a:t>
            </a:r>
          </a:p>
          <a:p>
            <a:pPr algn="ctr">
              <a:lnSpc>
                <a:spcPts val="1400"/>
              </a:lnSpc>
            </a:pPr>
            <a:r>
              <a:rPr lang="en-US" sz="1400" dirty="0">
                <a:solidFill>
                  <a:schemeClr val="accent5"/>
                </a:solidFill>
              </a:rPr>
              <a:t>(TB, HBV, HSV/VZV, CMV, BK)</a:t>
            </a:r>
          </a:p>
          <a:p>
            <a:pPr algn="ctr">
              <a:lnSpc>
                <a:spcPts val="1400"/>
              </a:lnSpc>
            </a:pPr>
            <a:r>
              <a:rPr lang="en-US" sz="1400" dirty="0">
                <a:solidFill>
                  <a:schemeClr val="accent5"/>
                </a:solidFill>
              </a:rPr>
              <a:t>+</a:t>
            </a:r>
          </a:p>
          <a:p>
            <a:pPr algn="ctr">
              <a:lnSpc>
                <a:spcPts val="1400"/>
              </a:lnSpc>
            </a:pPr>
            <a:r>
              <a:rPr lang="en-US" sz="1400" dirty="0">
                <a:solidFill>
                  <a:schemeClr val="accent5"/>
                </a:solidFill>
              </a:rPr>
              <a:t>OIs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B00CF72F-FD73-4EA3-9844-35D835622019}"/>
              </a:ext>
            </a:extLst>
          </p:cNvPr>
          <p:cNvSpPr txBox="1"/>
          <p:nvPr/>
        </p:nvSpPr>
        <p:spPr>
          <a:xfrm>
            <a:off x="6951434" y="4436091"/>
            <a:ext cx="2021552" cy="63094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lnSpc>
                <a:spcPts val="1400"/>
              </a:lnSpc>
            </a:pPr>
            <a:r>
              <a:rPr lang="en-US" sz="1400" dirty="0">
                <a:solidFill>
                  <a:schemeClr val="accent5"/>
                </a:solidFill>
              </a:rPr>
              <a:t>Community acquired &gt;&gt; OIs</a:t>
            </a:r>
          </a:p>
          <a:p>
            <a:pPr algn="ctr">
              <a:lnSpc>
                <a:spcPts val="1400"/>
              </a:lnSpc>
            </a:pPr>
            <a:r>
              <a:rPr lang="en-US" sz="1400" dirty="0">
                <a:solidFill>
                  <a:schemeClr val="accent5"/>
                </a:solidFill>
              </a:rPr>
              <a:t>(molds, </a:t>
            </a:r>
            <a:r>
              <a:rPr lang="en-US" sz="1400" dirty="0" err="1">
                <a:solidFill>
                  <a:schemeClr val="accent5"/>
                </a:solidFill>
              </a:rPr>
              <a:t>Mucor</a:t>
            </a:r>
            <a:r>
              <a:rPr lang="en-US" sz="1400" dirty="0">
                <a:solidFill>
                  <a:schemeClr val="accent5"/>
                </a:solidFill>
              </a:rPr>
              <a:t>, late viral)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7083B45B-7F2A-4BC0-9BC7-D3242A14AD04}"/>
              </a:ext>
            </a:extLst>
          </p:cNvPr>
          <p:cNvSpPr txBox="1"/>
          <p:nvPr/>
        </p:nvSpPr>
        <p:spPr>
          <a:xfrm>
            <a:off x="3277542" y="126369"/>
            <a:ext cx="45228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TRANSPLANT MEDICINE</a:t>
            </a:r>
          </a:p>
        </p:txBody>
      </p:sp>
      <p:sp>
        <p:nvSpPr>
          <p:cNvPr id="41" name="Rejection">
            <a:extLst>
              <a:ext uri="{FF2B5EF4-FFF2-40B4-BE49-F238E27FC236}">
                <a16:creationId xmlns:a16="http://schemas.microsoft.com/office/drawing/2014/main" id="{39064210-E44E-4882-A3F1-AD7146BD1798}"/>
              </a:ext>
            </a:extLst>
          </p:cNvPr>
          <p:cNvSpPr txBox="1"/>
          <p:nvPr/>
        </p:nvSpPr>
        <p:spPr>
          <a:xfrm>
            <a:off x="1046335" y="3620648"/>
            <a:ext cx="1150374" cy="374571"/>
          </a:xfrm>
          <a:prstGeom prst="roundRect">
            <a:avLst/>
          </a:prstGeom>
          <a:solidFill>
            <a:srgbClr val="FF0000"/>
          </a:solidFill>
          <a:ln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Rejection</a:t>
            </a:r>
          </a:p>
        </p:txBody>
      </p:sp>
      <p:sp>
        <p:nvSpPr>
          <p:cNvPr id="42" name="Infections">
            <a:extLst>
              <a:ext uri="{FF2B5EF4-FFF2-40B4-BE49-F238E27FC236}">
                <a16:creationId xmlns:a16="http://schemas.microsoft.com/office/drawing/2014/main" id="{B6D7BF53-D49F-4974-B493-C7C7B415D3ED}"/>
              </a:ext>
            </a:extLst>
          </p:cNvPr>
          <p:cNvSpPr txBox="1"/>
          <p:nvPr/>
        </p:nvSpPr>
        <p:spPr>
          <a:xfrm>
            <a:off x="1053116" y="4559499"/>
            <a:ext cx="1150374" cy="374571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Infections </a:t>
            </a:r>
          </a:p>
        </p:txBody>
      </p:sp>
      <p:sp>
        <p:nvSpPr>
          <p:cNvPr id="44" name="Surgical">
            <a:extLst>
              <a:ext uri="{FF2B5EF4-FFF2-40B4-BE49-F238E27FC236}">
                <a16:creationId xmlns:a16="http://schemas.microsoft.com/office/drawing/2014/main" id="{2FDD95E0-EA21-4722-8D46-D9C300B177A7}"/>
              </a:ext>
            </a:extLst>
          </p:cNvPr>
          <p:cNvSpPr txBox="1"/>
          <p:nvPr/>
        </p:nvSpPr>
        <p:spPr>
          <a:xfrm>
            <a:off x="1046335" y="6254884"/>
            <a:ext cx="1179401" cy="374571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Surgical</a:t>
            </a:r>
          </a:p>
        </p:txBody>
      </p:sp>
      <p:sp>
        <p:nvSpPr>
          <p:cNvPr id="45" name="Medication effects">
            <a:extLst>
              <a:ext uri="{FF2B5EF4-FFF2-40B4-BE49-F238E27FC236}">
                <a16:creationId xmlns:a16="http://schemas.microsoft.com/office/drawing/2014/main" id="{D20EA066-23FD-4BC0-952F-89885B4765CD}"/>
              </a:ext>
            </a:extLst>
          </p:cNvPr>
          <p:cNvSpPr txBox="1"/>
          <p:nvPr/>
        </p:nvSpPr>
        <p:spPr>
          <a:xfrm>
            <a:off x="8154245" y="897862"/>
            <a:ext cx="1936019" cy="374571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Medication Effects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5D08241B-2BDD-412F-BE6A-9044E47BE2B8}"/>
              </a:ext>
            </a:extLst>
          </p:cNvPr>
          <p:cNvGrpSpPr/>
          <p:nvPr/>
        </p:nvGrpSpPr>
        <p:grpSpPr>
          <a:xfrm>
            <a:off x="5230146" y="1336226"/>
            <a:ext cx="6101576" cy="1300372"/>
            <a:chOff x="5230146" y="1336226"/>
            <a:chExt cx="6101576" cy="1300372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03CCC700-D757-4F53-BAD6-B22D39D29AF4}"/>
                </a:ext>
              </a:extLst>
            </p:cNvPr>
            <p:cNvCxnSpPr>
              <a:cxnSpLocks/>
            </p:cNvCxnSpPr>
            <p:nvPr/>
          </p:nvCxnSpPr>
          <p:spPr>
            <a:xfrm>
              <a:off x="5230146" y="1867669"/>
              <a:ext cx="5992036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F79960F0-2853-4385-82B8-141B28576ECD}"/>
                </a:ext>
              </a:extLst>
            </p:cNvPr>
            <p:cNvCxnSpPr>
              <a:cxnSpLocks/>
            </p:cNvCxnSpPr>
            <p:nvPr/>
          </p:nvCxnSpPr>
          <p:spPr>
            <a:xfrm>
              <a:off x="5230146" y="2278833"/>
              <a:ext cx="5992036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DC1072DB-EBD9-46A2-A8F5-DDC915D011BA}"/>
                </a:ext>
              </a:extLst>
            </p:cNvPr>
            <p:cNvSpPr txBox="1"/>
            <p:nvPr/>
          </p:nvSpPr>
          <p:spPr>
            <a:xfrm>
              <a:off x="6956737" y="1336226"/>
              <a:ext cx="433911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Nephrotoxicity, neurotoxicity, </a:t>
              </a:r>
              <a:r>
                <a:rPr lang="en-US" sz="1600" dirty="0">
                  <a:sym typeface="Wingdings" panose="05000000000000000000" pitchFamily="2" charset="2"/>
                </a:rPr>
                <a:t> K and uric acid, metabolic syndrome</a:t>
              </a:r>
              <a:r>
                <a:rPr lang="en-US" sz="1600" dirty="0"/>
                <a:t> 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6D27AF8F-ECEC-4F56-BED3-B6B8017BDE1A}"/>
                </a:ext>
              </a:extLst>
            </p:cNvPr>
            <p:cNvSpPr txBox="1"/>
            <p:nvPr/>
          </p:nvSpPr>
          <p:spPr>
            <a:xfrm>
              <a:off x="6924181" y="1904378"/>
              <a:ext cx="439614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Bone marrow suppression, </a:t>
              </a:r>
              <a:r>
                <a:rPr lang="en-US" sz="1600" dirty="0">
                  <a:sym typeface="Wingdings" panose="05000000000000000000" pitchFamily="2" charset="2"/>
                </a:rPr>
                <a:t>GI side effects (colitis)</a:t>
              </a:r>
              <a:endParaRPr lang="en-US" sz="1600" dirty="0"/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821A7257-F42A-4F45-B8A4-6F4A69E89B1D}"/>
                </a:ext>
              </a:extLst>
            </p:cNvPr>
            <p:cNvSpPr txBox="1"/>
            <p:nvPr/>
          </p:nvSpPr>
          <p:spPr>
            <a:xfrm>
              <a:off x="6935573" y="2298044"/>
              <a:ext cx="439614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Metabolic syndrome</a:t>
              </a:r>
            </a:p>
          </p:txBody>
        </p:sp>
      </p:grpSp>
      <p:sp>
        <p:nvSpPr>
          <p:cNvPr id="43" name="Malignancy">
            <a:extLst>
              <a:ext uri="{FF2B5EF4-FFF2-40B4-BE49-F238E27FC236}">
                <a16:creationId xmlns:a16="http://schemas.microsoft.com/office/drawing/2014/main" id="{998A2006-5016-4509-ABB1-C0C287129BE5}"/>
              </a:ext>
            </a:extLst>
          </p:cNvPr>
          <p:cNvSpPr txBox="1"/>
          <p:nvPr/>
        </p:nvSpPr>
        <p:spPr>
          <a:xfrm>
            <a:off x="1007226" y="5515898"/>
            <a:ext cx="1271179" cy="374571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Malignancy</a:t>
            </a:r>
          </a:p>
        </p:txBody>
      </p:sp>
      <p:grpSp>
        <p:nvGrpSpPr>
          <p:cNvPr id="66" name="Group 65">
            <a:extLst>
              <a:ext uri="{FF2B5EF4-FFF2-40B4-BE49-F238E27FC236}">
                <a16:creationId xmlns:a16="http://schemas.microsoft.com/office/drawing/2014/main" id="{A647B3E7-C2AA-43A5-BD3E-AC3751FD8D57}"/>
              </a:ext>
            </a:extLst>
          </p:cNvPr>
          <p:cNvGrpSpPr/>
          <p:nvPr/>
        </p:nvGrpSpPr>
        <p:grpSpPr>
          <a:xfrm>
            <a:off x="2847411" y="5164714"/>
            <a:ext cx="5815897" cy="1109295"/>
            <a:chOff x="2840630" y="5098266"/>
            <a:chExt cx="5815897" cy="1109295"/>
          </a:xfrm>
        </p:grpSpPr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28609D83-2076-44A3-B706-7B3A455A32C0}"/>
                </a:ext>
              </a:extLst>
            </p:cNvPr>
            <p:cNvSpPr txBox="1"/>
            <p:nvPr/>
          </p:nvSpPr>
          <p:spPr>
            <a:xfrm>
              <a:off x="7310892" y="5098266"/>
              <a:ext cx="1130357" cy="52322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chemeClr val="accent4"/>
                  </a:solidFill>
                </a:rPr>
                <a:t>Skin cancer, anogenital  </a:t>
              </a: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2696670A-B531-4DDF-8600-F93A0D17D59F}"/>
                </a:ext>
              </a:extLst>
            </p:cNvPr>
            <p:cNvSpPr txBox="1"/>
            <p:nvPr/>
          </p:nvSpPr>
          <p:spPr>
            <a:xfrm>
              <a:off x="2840630" y="5348179"/>
              <a:ext cx="1793231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600" dirty="0">
                  <a:solidFill>
                    <a:schemeClr val="accent4"/>
                  </a:solidFill>
                </a:rPr>
                <a:t>Overall 2x as likely.</a:t>
              </a: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F205F823-C461-4E59-ABCD-0DD7EEAFBE82}"/>
                </a:ext>
              </a:extLst>
            </p:cNvPr>
            <p:cNvSpPr txBox="1"/>
            <p:nvPr/>
          </p:nvSpPr>
          <p:spPr>
            <a:xfrm>
              <a:off x="4865754" y="5468897"/>
              <a:ext cx="2001913" cy="73866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chemeClr val="accent4"/>
                  </a:solidFill>
                </a:rPr>
                <a:t>PTLD</a:t>
              </a:r>
            </a:p>
            <a:p>
              <a:pPr algn="ctr"/>
              <a:r>
                <a:rPr lang="en-US" sz="1400" dirty="0">
                  <a:solidFill>
                    <a:schemeClr val="accent4"/>
                  </a:solidFill>
                </a:rPr>
                <a:t>(multiorgan/ SB &gt; lung &gt; kidney/heart &gt; liver)</a:t>
              </a:r>
            </a:p>
          </p:txBody>
        </p: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9BFB7B6E-6B3B-4807-AF59-D96F0A7C9BC7}"/>
                </a:ext>
              </a:extLst>
            </p:cNvPr>
            <p:cNvCxnSpPr>
              <a:cxnSpLocks/>
              <a:stCxn id="77" idx="3"/>
            </p:cNvCxnSpPr>
            <p:nvPr/>
          </p:nvCxnSpPr>
          <p:spPr>
            <a:xfrm>
              <a:off x="6867667" y="5838229"/>
              <a:ext cx="636704" cy="0"/>
            </a:xfrm>
            <a:prstGeom prst="line">
              <a:avLst/>
            </a:prstGeom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BE80E210-511A-46C7-89A5-DF1FF47924B0}"/>
                </a:ext>
              </a:extLst>
            </p:cNvPr>
            <p:cNvCxnSpPr>
              <a:cxnSpLocks/>
            </p:cNvCxnSpPr>
            <p:nvPr/>
          </p:nvCxnSpPr>
          <p:spPr>
            <a:xfrm>
              <a:off x="7474625" y="5838229"/>
              <a:ext cx="1181902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223C856A-5FA0-4956-A5F0-FD20FE09014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10892" y="5712132"/>
              <a:ext cx="0" cy="252194"/>
            </a:xfrm>
            <a:prstGeom prst="line">
              <a:avLst/>
            </a:prstGeom>
            <a:ln/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700E3C1E-BE7B-4A65-B34B-4B0A63917DCD}"/>
                </a:ext>
              </a:extLst>
            </p:cNvPr>
            <p:cNvCxnSpPr>
              <a:cxnSpLocks/>
              <a:stCxn id="106" idx="3"/>
            </p:cNvCxnSpPr>
            <p:nvPr/>
          </p:nvCxnSpPr>
          <p:spPr>
            <a:xfrm>
              <a:off x="8441249" y="5359876"/>
              <a:ext cx="19272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D8AB42DD-4CF4-4DB5-9097-6EEC28FC0FDE}"/>
              </a:ext>
            </a:extLst>
          </p:cNvPr>
          <p:cNvGrpSpPr/>
          <p:nvPr/>
        </p:nvGrpSpPr>
        <p:grpSpPr>
          <a:xfrm>
            <a:off x="5870448" y="3866977"/>
            <a:ext cx="2827093" cy="274370"/>
            <a:chOff x="5870448" y="3866977"/>
            <a:chExt cx="2827093" cy="274370"/>
          </a:xfrm>
        </p:grpSpPr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4ECECBC4-CBB2-426F-B7B9-890AFDDD5D46}"/>
                </a:ext>
              </a:extLst>
            </p:cNvPr>
            <p:cNvCxnSpPr>
              <a:cxnSpLocks/>
            </p:cNvCxnSpPr>
            <p:nvPr/>
          </p:nvCxnSpPr>
          <p:spPr>
            <a:xfrm>
              <a:off x="5870448" y="3982933"/>
              <a:ext cx="2827093" cy="0"/>
            </a:xfrm>
            <a:prstGeom prst="straightConnector1">
              <a:avLst/>
            </a:prstGeom>
            <a:ln>
              <a:solidFill>
                <a:srgbClr val="FF000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197C2ECD-A17C-4CD9-90EE-DDD284B956A1}"/>
                </a:ext>
              </a:extLst>
            </p:cNvPr>
            <p:cNvSpPr txBox="1"/>
            <p:nvPr/>
          </p:nvSpPr>
          <p:spPr>
            <a:xfrm>
              <a:off x="6215564" y="3866977"/>
              <a:ext cx="1535463" cy="27437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1400"/>
                </a:lnSpc>
              </a:pPr>
              <a:r>
                <a:rPr lang="en-US" sz="1400" dirty="0">
                  <a:solidFill>
                    <a:srgbClr val="FF0000"/>
                  </a:solidFill>
                </a:rPr>
                <a:t>Chronic rejection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015E9DAF-ABE7-4596-B5DD-16CBD8866E93}"/>
              </a:ext>
            </a:extLst>
          </p:cNvPr>
          <p:cNvGrpSpPr/>
          <p:nvPr/>
        </p:nvGrpSpPr>
        <p:grpSpPr>
          <a:xfrm>
            <a:off x="2749328" y="6318685"/>
            <a:ext cx="5913980" cy="310770"/>
            <a:chOff x="2749328" y="6318685"/>
            <a:chExt cx="5913980" cy="310770"/>
          </a:xfrm>
        </p:grpSpPr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C69CE812-BB47-43EE-9583-1F2E91FACE0D}"/>
                </a:ext>
              </a:extLst>
            </p:cNvPr>
            <p:cNvGrpSpPr/>
            <p:nvPr/>
          </p:nvGrpSpPr>
          <p:grpSpPr>
            <a:xfrm>
              <a:off x="2749328" y="6318685"/>
              <a:ext cx="3965408" cy="310770"/>
              <a:chOff x="2749328" y="6318685"/>
              <a:chExt cx="3965408" cy="310770"/>
            </a:xfrm>
          </p:grpSpPr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0ED16C1B-0AE1-47B6-9672-83A435C36DEF}"/>
                  </a:ext>
                </a:extLst>
              </p:cNvPr>
              <p:cNvSpPr txBox="1"/>
              <p:nvPr/>
            </p:nvSpPr>
            <p:spPr>
              <a:xfrm>
                <a:off x="2749328" y="6318685"/>
                <a:ext cx="1916496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>
                    <a:solidFill>
                      <a:schemeClr val="accent6">
                        <a:lumMod val="75000"/>
                      </a:schemeClr>
                    </a:solidFill>
                  </a:rPr>
                  <a:t>Leaks and kinks</a:t>
                </a:r>
              </a:p>
            </p:txBody>
          </p:sp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97D1CE6A-0BC7-4364-A1FE-C9A2EC710C6A}"/>
                  </a:ext>
                </a:extLst>
              </p:cNvPr>
              <p:cNvSpPr txBox="1"/>
              <p:nvPr/>
            </p:nvSpPr>
            <p:spPr>
              <a:xfrm>
                <a:off x="4899692" y="6321678"/>
                <a:ext cx="1815044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>
                    <a:solidFill>
                      <a:schemeClr val="accent6">
                        <a:lumMod val="75000"/>
                      </a:schemeClr>
                    </a:solidFill>
                  </a:rPr>
                  <a:t>Fistulas and </a:t>
                </a:r>
                <a:r>
                  <a:rPr lang="en-US" sz="1400" dirty="0" err="1">
                    <a:solidFill>
                      <a:schemeClr val="accent6">
                        <a:lumMod val="75000"/>
                      </a:schemeClr>
                    </a:solidFill>
                  </a:rPr>
                  <a:t>stenoses</a:t>
                </a:r>
                <a:endParaRPr lang="en-US" sz="1400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p:grp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CBF26B90-3626-462E-9773-F50B6CC04B9A}"/>
                </a:ext>
              </a:extLst>
            </p:cNvPr>
            <p:cNvCxnSpPr>
              <a:stCxn id="108" idx="3"/>
            </p:cNvCxnSpPr>
            <p:nvPr/>
          </p:nvCxnSpPr>
          <p:spPr>
            <a:xfrm flipV="1">
              <a:off x="6714736" y="6472573"/>
              <a:ext cx="1948572" cy="299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sp>
        <p:nvSpPr>
          <p:cNvPr id="64" name="Rectangle: Rounded Corners 63">
            <a:hlinkClick r:id="rId2" action="ppaction://hlinksldjump"/>
            <a:extLst>
              <a:ext uri="{FF2B5EF4-FFF2-40B4-BE49-F238E27FC236}">
                <a16:creationId xmlns:a16="http://schemas.microsoft.com/office/drawing/2014/main" id="{ADC8CB5C-2B85-4324-8447-AF6794BD1C68}"/>
              </a:ext>
            </a:extLst>
          </p:cNvPr>
          <p:cNvSpPr/>
          <p:nvPr/>
        </p:nvSpPr>
        <p:spPr>
          <a:xfrm>
            <a:off x="150210" y="130162"/>
            <a:ext cx="2505702" cy="276378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Balancing immunosuppression</a:t>
            </a:r>
          </a:p>
        </p:txBody>
      </p:sp>
      <p:sp>
        <p:nvSpPr>
          <p:cNvPr id="70" name="Rectangle: Rounded Corners 69">
            <a:hlinkClick r:id="rId3" action="ppaction://hlinksldjump"/>
            <a:extLst>
              <a:ext uri="{FF2B5EF4-FFF2-40B4-BE49-F238E27FC236}">
                <a16:creationId xmlns:a16="http://schemas.microsoft.com/office/drawing/2014/main" id="{E0A8B69E-FEC6-4255-BB7C-D011E0EE7DBA}"/>
              </a:ext>
            </a:extLst>
          </p:cNvPr>
          <p:cNvSpPr/>
          <p:nvPr/>
        </p:nvSpPr>
        <p:spPr>
          <a:xfrm>
            <a:off x="152202" y="439292"/>
            <a:ext cx="2224966" cy="276378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Induction vs. maintenance</a:t>
            </a:r>
          </a:p>
        </p:txBody>
      </p:sp>
      <p:sp>
        <p:nvSpPr>
          <p:cNvPr id="71" name="Rectangle: Rounded Corners 70">
            <a:extLst>
              <a:ext uri="{FF2B5EF4-FFF2-40B4-BE49-F238E27FC236}">
                <a16:creationId xmlns:a16="http://schemas.microsoft.com/office/drawing/2014/main" id="{9CED3ADB-6575-4576-ADF7-9B3BA88E5F34}"/>
              </a:ext>
            </a:extLst>
          </p:cNvPr>
          <p:cNvSpPr/>
          <p:nvPr/>
        </p:nvSpPr>
        <p:spPr>
          <a:xfrm>
            <a:off x="148322" y="758064"/>
            <a:ext cx="1313704" cy="27637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Complications</a:t>
            </a:r>
          </a:p>
        </p:txBody>
      </p:sp>
      <p:pic>
        <p:nvPicPr>
          <p:cNvPr id="73" name="Graphic 72" descr="Cursor">
            <a:extLst>
              <a:ext uri="{FF2B5EF4-FFF2-40B4-BE49-F238E27FC236}">
                <a16:creationId xmlns:a16="http://schemas.microsoft.com/office/drawing/2014/main" id="{72B96255-0586-4DB0-811F-28A95ED1509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07533" y="6515076"/>
            <a:ext cx="252224" cy="252224"/>
          </a:xfrm>
          <a:prstGeom prst="rect">
            <a:avLst/>
          </a:prstGeom>
        </p:spPr>
      </p:pic>
      <p:pic>
        <p:nvPicPr>
          <p:cNvPr id="74" name="Graphic 73" descr="Cursor">
            <a:extLst>
              <a:ext uri="{FF2B5EF4-FFF2-40B4-BE49-F238E27FC236}">
                <a16:creationId xmlns:a16="http://schemas.microsoft.com/office/drawing/2014/main" id="{85F16640-A15F-4E10-84F8-62F5E0564C6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37913" y="5778550"/>
            <a:ext cx="252224" cy="252224"/>
          </a:xfrm>
          <a:prstGeom prst="rect">
            <a:avLst/>
          </a:prstGeom>
        </p:spPr>
      </p:pic>
      <p:pic>
        <p:nvPicPr>
          <p:cNvPr id="75" name="Graphic 74" descr="Cursor">
            <a:extLst>
              <a:ext uri="{FF2B5EF4-FFF2-40B4-BE49-F238E27FC236}">
                <a16:creationId xmlns:a16="http://schemas.microsoft.com/office/drawing/2014/main" id="{F5F34BD6-8763-468C-B318-69ADCEC4EEE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089113" y="4814809"/>
            <a:ext cx="252224" cy="252224"/>
          </a:xfrm>
          <a:prstGeom prst="rect">
            <a:avLst/>
          </a:prstGeom>
        </p:spPr>
      </p:pic>
      <p:pic>
        <p:nvPicPr>
          <p:cNvPr id="78" name="Graphic 77" descr="Cursor">
            <a:extLst>
              <a:ext uri="{FF2B5EF4-FFF2-40B4-BE49-F238E27FC236}">
                <a16:creationId xmlns:a16="http://schemas.microsoft.com/office/drawing/2014/main" id="{6C130DBF-EA60-438B-AAD9-5C3F97EC2D5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089113" y="3861522"/>
            <a:ext cx="252224" cy="252224"/>
          </a:xfrm>
          <a:prstGeom prst="rect">
            <a:avLst/>
          </a:prstGeom>
        </p:spPr>
      </p:pic>
      <p:pic>
        <p:nvPicPr>
          <p:cNvPr id="79" name="Graphic 78" descr="Cursor">
            <a:extLst>
              <a:ext uri="{FF2B5EF4-FFF2-40B4-BE49-F238E27FC236}">
                <a16:creationId xmlns:a16="http://schemas.microsoft.com/office/drawing/2014/main" id="{4D5A3AE9-D7FB-4ED1-B939-10D0A8FAB29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947658" y="1160894"/>
            <a:ext cx="252224" cy="252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40802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5"/>
                  </p:tgtEl>
                </p:cond>
              </p:nextCondLst>
            </p:seq>
            <p:seq concurrent="1" nextAc="seek">
              <p:cTn id="9" restart="whenNotActive" fill="hold" evtFilter="cancelBubble" nodeType="interactiveSeq">
                <p:stCondLst>
                  <p:cond evt="onClick" delay="0">
                    <p:tgtEl>
                      <p:spTgt spid="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4"/>
                  </p:tgtEl>
                </p:cond>
              </p:nextCondLst>
            </p:seq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1"/>
                  </p:tgtEl>
                </p:cond>
              </p:nextCondLst>
            </p:seq>
            <p:seq concurrent="1" nextAc="seek">
              <p:cTn id="25" restart="whenNotActive" fill="hold" evtFilter="cancelBubble" nodeType="interactiveSeq">
                <p:stCondLst>
                  <p:cond evt="onClick" delay="0">
                    <p:tgtEl>
                      <p:spTgt spid="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" fill="hold">
                      <p:stCondLst>
                        <p:cond delay="0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2"/>
                  </p:tgtEl>
                </p:cond>
              </p:nextCondLst>
            </p:seq>
            <p:seq concurrent="1" nextAc="seek">
              <p:cTn id="36" restart="whenNotActive" fill="hold" evtFilter="cancelBubble" nodeType="interactiveSeq">
                <p:stCondLst>
                  <p:cond evt="onClick" delay="0">
                    <p:tgtEl>
                      <p:spTgt spid="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" fill="hold">
                      <p:stCondLst>
                        <p:cond delay="0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3"/>
                  </p:tgtEl>
                </p:cond>
              </p:nextCondLst>
            </p:seq>
          </p:childTnLst>
        </p:cTn>
      </p:par>
    </p:tnLst>
    <p:bldLst>
      <p:bldP spid="102" grpId="0" animBg="1"/>
      <p:bldP spid="103" grpId="0" animBg="1"/>
      <p:bldP spid="104" grpId="0" animBg="1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02920"/>
          </a:xfrm>
          <a:prstGeom prst="rect">
            <a:avLst/>
          </a:prstGeom>
          <a:solidFill>
            <a:srgbClr val="0E6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wrap="square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Newer Context (2011–2023)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1277600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1">
                <a:solidFill>
                  <a:srgbClr val="202020"/>
                </a:solidFill>
                <a:latin typeface="Calibri"/>
              </a:rPr>
              <a:t>Belatacept (Nulojix, FDA 2011) — CNI-sparing maintenance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202020"/>
                </a:solidFill>
                <a:latin typeface="Calibri"/>
              </a:rPr>
              <a:t>CD28/CD80-86 costimulation blocker; better long-term GFR &amp; fewer donor-specific Abs vs CNI (BENEFIT). CONTRAINDICATED if EBV-seronegative (PTLD/CNS-PTLD, PML risk).</a:t>
            </a:r>
          </a:p>
          <a:p>
            <a:pPr>
              <a:spcAft>
                <a:spcPts val="500"/>
              </a:spcAft>
            </a:pPr>
            <a:r>
              <a:rPr sz="1500" b="1">
                <a:solidFill>
                  <a:srgbClr val="202020"/>
                </a:solidFill>
                <a:latin typeface="Calibri"/>
              </a:rPr>
              <a:t>Induction depleting agents have shifted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202020"/>
                </a:solidFill>
                <a:latin typeface="Calibri"/>
              </a:rPr>
              <a:t>OKT3 / muromonab-CD3 discontinued 2010; current depleting agents = rabbit ATG, alemtuzumab. Non-depleting = basiliximab (anti–IL-2R).</a:t>
            </a:r>
          </a:p>
          <a:p>
            <a:pPr>
              <a:spcAft>
                <a:spcPts val="500"/>
              </a:spcAft>
            </a:pPr>
            <a:r>
              <a:rPr sz="1500" b="1">
                <a:solidFill>
                  <a:srgbClr val="202020"/>
                </a:solidFill>
                <a:latin typeface="Calibri"/>
              </a:rPr>
              <a:t>CMV prophylaxis options expanded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202020"/>
                </a:solidFill>
                <a:latin typeface="Calibri"/>
              </a:rPr>
              <a:t>Letermovir (Prevymis) FDA-approved Jun 2023 for high-risk (D+/R–) kidney transplant — alternative to valganciclovir with less myelosuppression. Maribavir (Livtencity, FDA 2021) for refractory/resistant CMV.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7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707070"/>
                </a:solidFill>
                <a:latin typeface="Calibri"/>
              </a:rPr>
              <a:t>Sources: Archdeacon Am J Transplant 2012; FDA/Merck Jun 2023; LiverTox/Muromonab-CD3 2010. Standing framework (induction vs maintenance, complication timeline) unchanged.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02920"/>
          </a:xfrm>
          <a:prstGeom prst="rect">
            <a:avLst/>
          </a:prstGeom>
          <a:solidFill>
            <a:srgbClr val="0E6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wrap="square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Take-Home 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1277600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202020"/>
                </a:solidFill>
                <a:latin typeface="Calibri"/>
              </a:rPr>
              <a:t>Immunosuppression is a constant balance: less rejection vs. more infection, cancer, and drug toxicity.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202020"/>
                </a:solidFill>
                <a:latin typeface="Calibri"/>
              </a:rPr>
              <a:t>Allogenicity (rejection risk) is highest in the first month and falls over time — so does the intensity of immunosuppression. Lung &gt; heart/kidney &gt; liver.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202020"/>
                </a:solidFill>
                <a:latin typeface="Calibri"/>
              </a:rPr>
              <a:t>Assuming adherence, a FIRST episode of acute rejection beyond 6 months is highly unlikely.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202020"/>
                </a:solidFill>
                <a:latin typeface="Calibri"/>
              </a:rPr>
              <a:t>Reactivation infections (CMV, BK, HSV/VZV, TB, HBV) cluster at 1–6 months; nosocomial/donor-derived &lt;1 month; community-acquired &gt;6 months.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202020"/>
                </a:solidFill>
                <a:latin typeface="Calibri"/>
              </a:rPr>
              <a:t>PTLD occurs early (first year, EBV-driven); most other malignancies appear late. Overall cancer risk ~2× general population.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02920"/>
          </a:xfrm>
          <a:prstGeom prst="rect">
            <a:avLst/>
          </a:prstGeom>
          <a:solidFill>
            <a:srgbClr val="0E6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wrap="square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Attribution &amp; Changelog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1277600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202020"/>
                </a:solidFill>
                <a:latin typeface="Calibri"/>
              </a:rPr>
              <a:t>Adapted from TeachIM.org — “Transplant Medicine” (Yilin Zhang MD, Brandon Fainstad MD; published Dec 2020).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202020"/>
                </a:solidFill>
                <a:latin typeface="Calibri"/>
              </a:rPr>
              <a:t>https://teachim.org/teaching_material/transplant-medicine-2/  ·  Licensed CC BY-NC 4.0 (non-commercial, attribution required).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202020"/>
                </a:solidFill>
                <a:latin typeface="Calibri"/>
              </a:rPr>
              <a:t>Optimized 2026-06-11. Corrections (learner board): “mycophenylate”→“mycophenolate”; “bortezumab”→“bortezomib”. Presenter board: no text errors found.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202020"/>
                </a:solidFill>
                <a:latin typeface="Calibri"/>
              </a:rPr>
              <a:t>Added a newer-context slide (belatacept; OKT3 discontinued; letermovir/maribavir CMV) — standing teaching unchanged. All original click-to-reveal animations/graphics preserved.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202020"/>
                </a:solidFill>
                <a:latin typeface="Calibri"/>
              </a:rPr>
              <a:t>Companion files: Transplant-Medicine-Handout.docx; Transplant-Medicine-Learner-Board-1.pptx (corrected). Educational use only — clinician-review before teaching.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5990</TotalTime>
  <Words>223</Words>
  <Application>Microsoft Office PowerPoint</Application>
  <PresentationFormat>Widescreen</PresentationFormat>
  <Paragraphs>100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Yilin Zhang</dc:creator>
  <cp:lastModifiedBy>Yilin Zhang</cp:lastModifiedBy>
  <cp:revision>41</cp:revision>
  <dcterms:created xsi:type="dcterms:W3CDTF">2017-07-14T07:46:15Z</dcterms:created>
  <dcterms:modified xsi:type="dcterms:W3CDTF">2020-12-20T19:43:50Z</dcterms:modified>
</cp:coreProperties>
</file>