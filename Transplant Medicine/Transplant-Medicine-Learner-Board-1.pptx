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6" r:id="rId4"/>
    <p:sldId id="267" r:id="rId5"/>
    <p:sldId id="268"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4" autoAdjust="0"/>
    <p:restoredTop sz="93899" autoAdjust="0"/>
  </p:normalViewPr>
  <p:slideViewPr>
    <p:cSldViewPr snapToGrid="0">
      <p:cViewPr varScale="1">
        <p:scale>
          <a:sx n="105" d="100"/>
          <a:sy n="105" d="100"/>
        </p:scale>
        <p:origin x="5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658C-324A-4255-BEA1-398E1A61C3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395932-DFB4-4631-B2FA-C1AEBD136D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27ACA7-0A1B-4049-A72C-3A4CA7B11109}"/>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CF930E79-0BB9-4DCC-8DEF-FE0038E41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D0FEF-3D6C-4C78-9F9A-3CCB70C0CD58}"/>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316985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38F2-85E8-45AF-B9C7-6F6DCAE019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1422C-A719-4C0A-A121-8C56B3BD5B2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3428F2-AD9F-400C-8321-C0DCDB7D3421}"/>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36A85EC4-4F11-4CF5-9AF4-138BF37CE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D31A4-CCA2-4370-A2B6-130E3DCB199A}"/>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1777269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CFB88-9E52-4705-915E-30C1CF9F1B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2225B5-21B9-4FF4-836E-EFD956CF7B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9BCF21B-BCB1-4047-ADA9-B64D7F1946D4}"/>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E2960C3A-9ACC-4756-BB49-C99A07674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C0435-82EB-4905-98EF-CC87CB7D68A3}"/>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3368592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B8071-2C54-4975-99EA-A203DA779B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B21E-823B-458D-8EAB-4357206274A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44ABF3-753D-4834-B2DE-D246F37CA56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360745-8E6C-49A3-9498-7F563DFE6C98}"/>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6" name="Footer Placeholder 5">
            <a:extLst>
              <a:ext uri="{FF2B5EF4-FFF2-40B4-BE49-F238E27FC236}">
                <a16:creationId xmlns:a16="http://schemas.microsoft.com/office/drawing/2014/main" id="{BADF5E05-54AF-4C8F-9953-517AF67784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25A950-AF10-4552-9625-781F4481B598}"/>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179771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857F0-6654-4E2F-A37F-88586A5153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307AC8-C5AD-4198-9627-0B5530C839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C3FDD0C-264B-4339-8FA7-409A391C8D1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7AA6E3-F6F1-408C-A971-5B31FDD178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1757FF5-90A0-42C0-83DF-6F1F23DD62D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3774FF-A7A2-4FAD-8DDA-991056AB0E03}"/>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8" name="Footer Placeholder 7">
            <a:extLst>
              <a:ext uri="{FF2B5EF4-FFF2-40B4-BE49-F238E27FC236}">
                <a16:creationId xmlns:a16="http://schemas.microsoft.com/office/drawing/2014/main" id="{5C904C52-80A1-4367-BD94-8E44B12903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C83298-E3F4-41E2-B560-E6148999176C}"/>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2075180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7FBB-FBDF-4A71-8CF3-C26A396EF7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7B56F-88DB-49FF-A93D-C96C95B75A48}"/>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4" name="Footer Placeholder 3">
            <a:extLst>
              <a:ext uri="{FF2B5EF4-FFF2-40B4-BE49-F238E27FC236}">
                <a16:creationId xmlns:a16="http://schemas.microsoft.com/office/drawing/2014/main" id="{24E55A3D-F686-4659-884D-7BCA9CE236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142E81-3950-4C17-9C68-8D6B399894DE}"/>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111687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B6C676-1ECA-4DA0-B822-7E40F84493B5}"/>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3" name="Footer Placeholder 2">
            <a:extLst>
              <a:ext uri="{FF2B5EF4-FFF2-40B4-BE49-F238E27FC236}">
                <a16:creationId xmlns:a16="http://schemas.microsoft.com/office/drawing/2014/main" id="{2F22F68B-196D-4901-AF0A-7936662F3E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B7C254-4258-4E2E-BDB5-3F3971C56928}"/>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3443069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1BCB-8580-4840-B961-081C8AA8D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883889-0101-422E-9981-2C0AD30912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BA7D76-D16B-4097-94F0-1A4EABC97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EEF6783-B838-4849-B09D-48286BAF8DE0}"/>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6" name="Footer Placeholder 5">
            <a:extLst>
              <a:ext uri="{FF2B5EF4-FFF2-40B4-BE49-F238E27FC236}">
                <a16:creationId xmlns:a16="http://schemas.microsoft.com/office/drawing/2014/main" id="{1452B85A-B73C-4C87-89A9-8A6D6C77DF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AF6018-8FF1-4539-AE47-363F370BE66A}"/>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1677314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BCA55-FFA9-4F79-9858-9AAFED0F0D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AED3F-31D0-4180-A035-A96DFDC062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2D2950-2556-4F9C-94C6-C3D989D5C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27CBFA-AC95-40F1-9CCE-74931FA6409F}"/>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6" name="Footer Placeholder 5">
            <a:extLst>
              <a:ext uri="{FF2B5EF4-FFF2-40B4-BE49-F238E27FC236}">
                <a16:creationId xmlns:a16="http://schemas.microsoft.com/office/drawing/2014/main" id="{69C707D4-B923-4DAD-B308-1A0DCFB07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9FAB57-CEFD-4239-B82C-0160B138F7B8}"/>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3583177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1E70-F24D-4B26-82F0-DB8ED7C7AB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93F3C6-5CF3-4A26-A01B-DDFBE74BB15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5A0DB-D2A8-4020-8136-4CD1302FCCB1}"/>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D78AC8DD-550C-4B54-88C8-89EBA2D92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F2D503-7B89-42C2-AFA1-240BD1EA4638}"/>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2891437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9373C4-F330-480C-95C7-7F38D20A46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860377-2BEF-413D-A9AF-5AC3124B43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DABF8-7AC5-4E66-A648-614C3A03A2D3}"/>
              </a:ext>
            </a:extLst>
          </p:cNvPr>
          <p:cNvSpPr>
            <a:spLocks noGrp="1"/>
          </p:cNvSpPr>
          <p:nvPr>
            <p:ph type="dt" sz="half" idx="10"/>
          </p:nvPr>
        </p:nvSpPr>
        <p:spPr/>
        <p:txBody>
          <a:body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D27742D2-3DE4-4A80-BCD1-162D6D6AC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D2151-A387-4716-95F8-B7856A3D6B91}"/>
              </a:ext>
            </a:extLst>
          </p:cNvPr>
          <p:cNvSpPr>
            <a:spLocks noGrp="1"/>
          </p:cNvSpPr>
          <p:nvPr>
            <p:ph type="sldNum" sz="quarter" idx="12"/>
          </p:nvPr>
        </p:nvSpPr>
        <p:spPr/>
        <p:txBody>
          <a:bodyPr/>
          <a:lstStyle/>
          <a:p>
            <a:fld id="{591E19D7-581E-4054-B412-3579537E518E}" type="slidenum">
              <a:rPr lang="en-US" smtClean="0"/>
              <a:t>‹#›</a:t>
            </a:fld>
            <a:endParaRPr lang="en-US"/>
          </a:p>
        </p:txBody>
      </p:sp>
    </p:spTree>
    <p:extLst>
      <p:ext uri="{BB962C8B-B14F-4D97-AF65-F5344CB8AC3E}">
        <p14:creationId xmlns:p14="http://schemas.microsoft.com/office/powerpoint/2010/main" val="1122826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8CB1B4-D5DF-4487-AFF5-A459F32AF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9EBA00-56B7-46F9-9168-A84B06EB38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A60212-3029-4F3F-A633-AA1CF3E05B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55AAFE-077E-478B-8231-3B372C0B3B57}" type="datetimeFigureOut">
              <a:rPr lang="en-US" smtClean="0"/>
              <a:t>12/20/2020</a:t>
            </a:fld>
            <a:endParaRPr lang="en-US"/>
          </a:p>
        </p:txBody>
      </p:sp>
      <p:sp>
        <p:nvSpPr>
          <p:cNvPr id="5" name="Footer Placeholder 4">
            <a:extLst>
              <a:ext uri="{FF2B5EF4-FFF2-40B4-BE49-F238E27FC236}">
                <a16:creationId xmlns:a16="http://schemas.microsoft.com/office/drawing/2014/main" id="{5D1E544B-BF38-488A-A598-DA7C530EE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F008AD-4864-41ED-BCAE-5618D4E028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E19D7-581E-4054-B412-3579537E518E}" type="slidenum">
              <a:rPr lang="en-US" smtClean="0"/>
              <a:t>‹#›</a:t>
            </a:fld>
            <a:endParaRPr lang="en-US"/>
          </a:p>
        </p:txBody>
      </p:sp>
    </p:spTree>
    <p:extLst>
      <p:ext uri="{BB962C8B-B14F-4D97-AF65-F5344CB8AC3E}">
        <p14:creationId xmlns:p14="http://schemas.microsoft.com/office/powerpoint/2010/main" val="327781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svg"/><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slide" Target="slide5.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FE90FD-3D94-48A0-9F82-FB5C6F0A4D53}"/>
              </a:ext>
            </a:extLst>
          </p:cNvPr>
          <p:cNvSpPr txBox="1"/>
          <p:nvPr/>
        </p:nvSpPr>
        <p:spPr>
          <a:xfrm>
            <a:off x="3277542" y="126369"/>
            <a:ext cx="4522839" cy="461665"/>
          </a:xfrm>
          <a:prstGeom prst="rect">
            <a:avLst/>
          </a:prstGeom>
          <a:noFill/>
        </p:spPr>
        <p:txBody>
          <a:bodyPr wrap="square" rtlCol="0">
            <a:spAutoFit/>
          </a:bodyPr>
          <a:lstStyle/>
          <a:p>
            <a:pPr algn="ctr"/>
            <a:r>
              <a:rPr lang="en-US" sz="2400" dirty="0"/>
              <a:t>TRANSPLANT MEDICINE</a:t>
            </a:r>
          </a:p>
        </p:txBody>
      </p:sp>
      <p:sp>
        <p:nvSpPr>
          <p:cNvPr id="15" name="TextBox 14">
            <a:extLst>
              <a:ext uri="{FF2B5EF4-FFF2-40B4-BE49-F238E27FC236}">
                <a16:creationId xmlns:a16="http://schemas.microsoft.com/office/drawing/2014/main" id="{01F49E96-44AC-43F5-8AD9-9236808CA8AA}"/>
              </a:ext>
            </a:extLst>
          </p:cNvPr>
          <p:cNvSpPr txBox="1"/>
          <p:nvPr/>
        </p:nvSpPr>
        <p:spPr>
          <a:xfrm>
            <a:off x="2930558" y="1205383"/>
            <a:ext cx="5244504"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One of the core principles of transplant medicine is balancing immunosuppression. </a:t>
            </a:r>
          </a:p>
          <a:p>
            <a:pPr marL="285750" indent="-285750">
              <a:buFont typeface="Arial" panose="020B0604020202020204" pitchFamily="34" charset="0"/>
              <a:buChar char="•"/>
            </a:pPr>
            <a:r>
              <a:rPr lang="en-US" sz="1600" dirty="0" err="1"/>
              <a:t>Oversuppression</a:t>
            </a:r>
            <a:r>
              <a:rPr lang="en-US" sz="1600" dirty="0"/>
              <a:t>  (</a:t>
            </a:r>
            <a:r>
              <a:rPr lang="en-US" sz="1600" i="1" dirty="0"/>
              <a:t>click</a:t>
            </a:r>
            <a:r>
              <a:rPr lang="en-US" sz="1600" dirty="0"/>
              <a:t>) of the immune system leads to  infection/cancer. </a:t>
            </a:r>
          </a:p>
          <a:p>
            <a:pPr marL="285750" indent="-285750">
              <a:buFont typeface="Arial" panose="020B0604020202020204" pitchFamily="34" charset="0"/>
              <a:buChar char="•"/>
            </a:pPr>
            <a:r>
              <a:rPr lang="en-US" sz="1600" dirty="0" err="1"/>
              <a:t>Undersuppression</a:t>
            </a:r>
            <a:r>
              <a:rPr lang="en-US" sz="1600" dirty="0"/>
              <a:t>  (</a:t>
            </a:r>
            <a:r>
              <a:rPr lang="en-US" sz="1600" i="1" dirty="0"/>
              <a:t>click</a:t>
            </a:r>
            <a:r>
              <a:rPr lang="en-US" sz="1600" dirty="0"/>
              <a:t>) puts patients at risk of organ rejection. </a:t>
            </a:r>
          </a:p>
        </p:txBody>
      </p:sp>
      <p:sp>
        <p:nvSpPr>
          <p:cNvPr id="20" name="Rectangle 19">
            <a:extLst>
              <a:ext uri="{FF2B5EF4-FFF2-40B4-BE49-F238E27FC236}">
                <a16:creationId xmlns:a16="http://schemas.microsoft.com/office/drawing/2014/main" id="{D27E1E38-B034-4984-8F6E-BE40FFEFC0FB}"/>
              </a:ext>
            </a:extLst>
          </p:cNvPr>
          <p:cNvSpPr/>
          <p:nvPr/>
        </p:nvSpPr>
        <p:spPr>
          <a:xfrm>
            <a:off x="8700755" y="-2"/>
            <a:ext cx="3491245" cy="32808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67B41D57-4C13-4F8F-88FD-2E7194187A8E}"/>
              </a:ext>
            </a:extLst>
          </p:cNvPr>
          <p:cNvSpPr txBox="1"/>
          <p:nvPr/>
        </p:nvSpPr>
        <p:spPr>
          <a:xfrm>
            <a:off x="8792982" y="1422367"/>
            <a:ext cx="1150374" cy="338554"/>
          </a:xfrm>
          <a:prstGeom prst="rect">
            <a:avLst/>
          </a:prstGeom>
          <a:noFill/>
        </p:spPr>
        <p:txBody>
          <a:bodyPr wrap="square" rtlCol="0">
            <a:spAutoFit/>
          </a:bodyPr>
          <a:lstStyle/>
          <a:p>
            <a:pPr algn="ctr"/>
            <a:r>
              <a:rPr lang="en-US" sz="1600" dirty="0">
                <a:solidFill>
                  <a:srgbClr val="FF0000"/>
                </a:solidFill>
              </a:rPr>
              <a:t>Rejection</a:t>
            </a:r>
          </a:p>
        </p:txBody>
      </p:sp>
      <p:sp>
        <p:nvSpPr>
          <p:cNvPr id="24" name="TextBox 23">
            <a:extLst>
              <a:ext uri="{FF2B5EF4-FFF2-40B4-BE49-F238E27FC236}">
                <a16:creationId xmlns:a16="http://schemas.microsoft.com/office/drawing/2014/main" id="{45132B5D-5A43-48E6-93A4-CEE7AC66E21C}"/>
              </a:ext>
            </a:extLst>
          </p:cNvPr>
          <p:cNvSpPr txBox="1"/>
          <p:nvPr/>
        </p:nvSpPr>
        <p:spPr>
          <a:xfrm>
            <a:off x="10886024" y="1299542"/>
            <a:ext cx="1150374" cy="584775"/>
          </a:xfrm>
          <a:prstGeom prst="rect">
            <a:avLst/>
          </a:prstGeom>
          <a:noFill/>
        </p:spPr>
        <p:txBody>
          <a:bodyPr wrap="square" rtlCol="0">
            <a:spAutoFit/>
          </a:bodyPr>
          <a:lstStyle/>
          <a:p>
            <a:pPr algn="ctr"/>
            <a:r>
              <a:rPr lang="en-US" sz="1600" dirty="0">
                <a:solidFill>
                  <a:schemeClr val="accent1"/>
                </a:solidFill>
              </a:rPr>
              <a:t>Infection</a:t>
            </a:r>
          </a:p>
          <a:p>
            <a:pPr algn="ctr"/>
            <a:r>
              <a:rPr lang="en-US" sz="1600" dirty="0">
                <a:solidFill>
                  <a:schemeClr val="accent1"/>
                </a:solidFill>
              </a:rPr>
              <a:t>Cancer</a:t>
            </a:r>
          </a:p>
        </p:txBody>
      </p:sp>
      <p:sp>
        <p:nvSpPr>
          <p:cNvPr id="25" name="Isosceles Triangle 24">
            <a:extLst>
              <a:ext uri="{FF2B5EF4-FFF2-40B4-BE49-F238E27FC236}">
                <a16:creationId xmlns:a16="http://schemas.microsoft.com/office/drawing/2014/main" id="{4AD08C33-01F6-4E38-B66C-357F9FFE99FA}"/>
              </a:ext>
            </a:extLst>
          </p:cNvPr>
          <p:cNvSpPr/>
          <p:nvPr/>
        </p:nvSpPr>
        <p:spPr>
          <a:xfrm>
            <a:off x="10066256" y="755336"/>
            <a:ext cx="722670" cy="5442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1D1E0AA-0499-41DF-B367-F2E40CF9C88A}"/>
              </a:ext>
            </a:extLst>
          </p:cNvPr>
          <p:cNvCxnSpPr>
            <a:cxnSpLocks/>
          </p:cNvCxnSpPr>
          <p:nvPr/>
        </p:nvCxnSpPr>
        <p:spPr>
          <a:xfrm>
            <a:off x="9870228" y="1591927"/>
            <a:ext cx="1162664"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FBF2086A-52B8-4FB7-8CD0-4E9165C15014}"/>
              </a:ext>
            </a:extLst>
          </p:cNvPr>
          <p:cNvSpPr txBox="1"/>
          <p:nvPr/>
        </p:nvSpPr>
        <p:spPr>
          <a:xfrm>
            <a:off x="9285435" y="78645"/>
            <a:ext cx="2232692" cy="338554"/>
          </a:xfrm>
          <a:prstGeom prst="rect">
            <a:avLst/>
          </a:prstGeom>
          <a:noFill/>
        </p:spPr>
        <p:txBody>
          <a:bodyPr wrap="square" rtlCol="0">
            <a:spAutoFit/>
          </a:bodyPr>
          <a:lstStyle/>
          <a:p>
            <a:pPr algn="ctr"/>
            <a:r>
              <a:rPr lang="en-US" sz="1600" dirty="0"/>
              <a:t>Immunosuppression</a:t>
            </a:r>
          </a:p>
        </p:txBody>
      </p:sp>
      <p:sp>
        <p:nvSpPr>
          <p:cNvPr id="4" name="Rectangle: Rounded Corners 3">
            <a:extLst>
              <a:ext uri="{FF2B5EF4-FFF2-40B4-BE49-F238E27FC236}">
                <a16:creationId xmlns:a16="http://schemas.microsoft.com/office/drawing/2014/main" id="{F12CBE54-0AAF-4FA3-9E0D-C4DC3352AC64}"/>
              </a:ext>
            </a:extLst>
          </p:cNvPr>
          <p:cNvSpPr/>
          <p:nvPr/>
        </p:nvSpPr>
        <p:spPr>
          <a:xfrm>
            <a:off x="150210" y="130162"/>
            <a:ext cx="2505702" cy="276378"/>
          </a:xfrm>
          <a:prstGeom prst="roundRect">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Balancing immunosuppression</a:t>
            </a:r>
          </a:p>
        </p:txBody>
      </p:sp>
      <p:sp>
        <p:nvSpPr>
          <p:cNvPr id="26" name="Rectangle: Rounded Corners 25">
            <a:hlinkClick r:id="rId2" action="ppaction://hlinksldjump"/>
            <a:extLst>
              <a:ext uri="{FF2B5EF4-FFF2-40B4-BE49-F238E27FC236}">
                <a16:creationId xmlns:a16="http://schemas.microsoft.com/office/drawing/2014/main" id="{C682FC29-2728-4DDF-972D-01FCA094D24B}"/>
              </a:ext>
            </a:extLst>
          </p:cNvPr>
          <p:cNvSpPr/>
          <p:nvPr/>
        </p:nvSpPr>
        <p:spPr>
          <a:xfrm>
            <a:off x="152202" y="439292"/>
            <a:ext cx="2224966"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Induction vs. maintenance</a:t>
            </a:r>
          </a:p>
        </p:txBody>
      </p:sp>
      <p:sp>
        <p:nvSpPr>
          <p:cNvPr id="28" name="Rectangle: Rounded Corners 27">
            <a:hlinkClick r:id="rId3" action="ppaction://hlinksldjump"/>
            <a:extLst>
              <a:ext uri="{FF2B5EF4-FFF2-40B4-BE49-F238E27FC236}">
                <a16:creationId xmlns:a16="http://schemas.microsoft.com/office/drawing/2014/main" id="{B3F187C7-7E47-40B0-A6B2-479134CB6720}"/>
              </a:ext>
            </a:extLst>
          </p:cNvPr>
          <p:cNvSpPr/>
          <p:nvPr/>
        </p:nvSpPr>
        <p:spPr>
          <a:xfrm>
            <a:off x="148322" y="758064"/>
            <a:ext cx="1313704"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Complications</a:t>
            </a:r>
          </a:p>
        </p:txBody>
      </p:sp>
      <p:sp>
        <p:nvSpPr>
          <p:cNvPr id="35" name="TextBox 34">
            <a:extLst>
              <a:ext uri="{FF2B5EF4-FFF2-40B4-BE49-F238E27FC236}">
                <a16:creationId xmlns:a16="http://schemas.microsoft.com/office/drawing/2014/main" id="{7782C272-3F9E-451C-9FE5-B958DC35F50C}"/>
              </a:ext>
            </a:extLst>
          </p:cNvPr>
          <p:cNvSpPr txBox="1"/>
          <p:nvPr/>
        </p:nvSpPr>
        <p:spPr>
          <a:xfrm>
            <a:off x="9778001" y="2328874"/>
            <a:ext cx="1564558" cy="338554"/>
          </a:xfrm>
          <a:prstGeom prst="rect">
            <a:avLst/>
          </a:prstGeom>
          <a:noFill/>
        </p:spPr>
        <p:txBody>
          <a:bodyPr wrap="square" rtlCol="0">
            <a:spAutoFit/>
          </a:bodyPr>
          <a:lstStyle/>
          <a:p>
            <a:pPr algn="ctr"/>
            <a:r>
              <a:rPr lang="en-US" sz="1600" dirty="0"/>
              <a:t>Heart/ Kidney </a:t>
            </a:r>
          </a:p>
        </p:txBody>
      </p:sp>
      <p:grpSp>
        <p:nvGrpSpPr>
          <p:cNvPr id="48" name="Group 47">
            <a:extLst>
              <a:ext uri="{FF2B5EF4-FFF2-40B4-BE49-F238E27FC236}">
                <a16:creationId xmlns:a16="http://schemas.microsoft.com/office/drawing/2014/main" id="{A5BEDE30-AB97-40CD-B3C5-4921C7072676}"/>
              </a:ext>
            </a:extLst>
          </p:cNvPr>
          <p:cNvGrpSpPr/>
          <p:nvPr/>
        </p:nvGrpSpPr>
        <p:grpSpPr>
          <a:xfrm>
            <a:off x="9062234" y="2319389"/>
            <a:ext cx="1023458" cy="348039"/>
            <a:chOff x="9053388" y="2319389"/>
            <a:chExt cx="969751" cy="348039"/>
          </a:xfrm>
        </p:grpSpPr>
        <p:sp>
          <p:nvSpPr>
            <p:cNvPr id="34" name="TextBox 33">
              <a:extLst>
                <a:ext uri="{FF2B5EF4-FFF2-40B4-BE49-F238E27FC236}">
                  <a16:creationId xmlns:a16="http://schemas.microsoft.com/office/drawing/2014/main" id="{762329B8-4556-48AA-8DE7-CCEEE3C8CA6D}"/>
                </a:ext>
              </a:extLst>
            </p:cNvPr>
            <p:cNvSpPr txBox="1"/>
            <p:nvPr/>
          </p:nvSpPr>
          <p:spPr>
            <a:xfrm>
              <a:off x="9053388" y="2328874"/>
              <a:ext cx="659486" cy="338554"/>
            </a:xfrm>
            <a:prstGeom prst="rect">
              <a:avLst/>
            </a:prstGeom>
            <a:noFill/>
          </p:spPr>
          <p:txBody>
            <a:bodyPr wrap="square" rtlCol="0">
              <a:spAutoFit/>
            </a:bodyPr>
            <a:lstStyle/>
            <a:p>
              <a:pPr algn="ctr"/>
              <a:r>
                <a:rPr lang="en-US" sz="1600" dirty="0"/>
                <a:t>Lung </a:t>
              </a:r>
            </a:p>
          </p:txBody>
        </p:sp>
        <p:sp>
          <p:nvSpPr>
            <p:cNvPr id="37" name="TextBox 36">
              <a:extLst>
                <a:ext uri="{FF2B5EF4-FFF2-40B4-BE49-F238E27FC236}">
                  <a16:creationId xmlns:a16="http://schemas.microsoft.com/office/drawing/2014/main" id="{46F65011-AC9D-4BD1-A38D-9F3A7AAF41C3}"/>
                </a:ext>
              </a:extLst>
            </p:cNvPr>
            <p:cNvSpPr txBox="1"/>
            <p:nvPr/>
          </p:nvSpPr>
          <p:spPr>
            <a:xfrm>
              <a:off x="9541359" y="2319389"/>
              <a:ext cx="481780" cy="338554"/>
            </a:xfrm>
            <a:prstGeom prst="rect">
              <a:avLst/>
            </a:prstGeom>
            <a:noFill/>
          </p:spPr>
          <p:txBody>
            <a:bodyPr wrap="square" rtlCol="0">
              <a:spAutoFit/>
            </a:bodyPr>
            <a:lstStyle/>
            <a:p>
              <a:pPr algn="ctr"/>
              <a:r>
                <a:rPr lang="en-US" sz="1600" dirty="0"/>
                <a:t>&gt;</a:t>
              </a:r>
            </a:p>
          </p:txBody>
        </p:sp>
      </p:grpSp>
      <p:grpSp>
        <p:nvGrpSpPr>
          <p:cNvPr id="52" name="Group 51">
            <a:extLst>
              <a:ext uri="{FF2B5EF4-FFF2-40B4-BE49-F238E27FC236}">
                <a16:creationId xmlns:a16="http://schemas.microsoft.com/office/drawing/2014/main" id="{B7828C67-12D3-4019-867D-77251027C2B9}"/>
              </a:ext>
            </a:extLst>
          </p:cNvPr>
          <p:cNvGrpSpPr/>
          <p:nvPr/>
        </p:nvGrpSpPr>
        <p:grpSpPr>
          <a:xfrm>
            <a:off x="11069481" y="2323326"/>
            <a:ext cx="986670" cy="344102"/>
            <a:chOff x="11069481" y="2323326"/>
            <a:chExt cx="986670" cy="344102"/>
          </a:xfrm>
        </p:grpSpPr>
        <p:sp>
          <p:nvSpPr>
            <p:cNvPr id="36" name="TextBox 35">
              <a:extLst>
                <a:ext uri="{FF2B5EF4-FFF2-40B4-BE49-F238E27FC236}">
                  <a16:creationId xmlns:a16="http://schemas.microsoft.com/office/drawing/2014/main" id="{E149F6EB-27BB-4E4D-9923-BB00EE30AC1E}"/>
                </a:ext>
              </a:extLst>
            </p:cNvPr>
            <p:cNvSpPr txBox="1"/>
            <p:nvPr/>
          </p:nvSpPr>
          <p:spPr>
            <a:xfrm>
              <a:off x="11391781" y="2328874"/>
              <a:ext cx="664370" cy="338554"/>
            </a:xfrm>
            <a:prstGeom prst="rect">
              <a:avLst/>
            </a:prstGeom>
            <a:noFill/>
          </p:spPr>
          <p:txBody>
            <a:bodyPr wrap="square" rtlCol="0">
              <a:spAutoFit/>
            </a:bodyPr>
            <a:lstStyle/>
            <a:p>
              <a:pPr algn="ctr"/>
              <a:r>
                <a:rPr lang="en-US" sz="1600" dirty="0"/>
                <a:t>Liver</a:t>
              </a:r>
            </a:p>
          </p:txBody>
        </p:sp>
        <p:sp>
          <p:nvSpPr>
            <p:cNvPr id="38" name="TextBox 37">
              <a:extLst>
                <a:ext uri="{FF2B5EF4-FFF2-40B4-BE49-F238E27FC236}">
                  <a16:creationId xmlns:a16="http://schemas.microsoft.com/office/drawing/2014/main" id="{FB3DD55E-9507-440C-BF8E-1B939144CAA2}"/>
                </a:ext>
              </a:extLst>
            </p:cNvPr>
            <p:cNvSpPr txBox="1"/>
            <p:nvPr/>
          </p:nvSpPr>
          <p:spPr>
            <a:xfrm>
              <a:off x="11069481" y="2323326"/>
              <a:ext cx="418641" cy="338554"/>
            </a:xfrm>
            <a:prstGeom prst="rect">
              <a:avLst/>
            </a:prstGeom>
            <a:noFill/>
          </p:spPr>
          <p:txBody>
            <a:bodyPr wrap="square" rtlCol="0">
              <a:spAutoFit/>
            </a:bodyPr>
            <a:lstStyle/>
            <a:p>
              <a:pPr algn="ctr"/>
              <a:r>
                <a:rPr lang="en-US" sz="1600" dirty="0"/>
                <a:t>&gt;</a:t>
              </a:r>
            </a:p>
          </p:txBody>
        </p:sp>
      </p:grpSp>
      <p:sp>
        <p:nvSpPr>
          <p:cNvPr id="42" name="TextBox 41">
            <a:extLst>
              <a:ext uri="{FF2B5EF4-FFF2-40B4-BE49-F238E27FC236}">
                <a16:creationId xmlns:a16="http://schemas.microsoft.com/office/drawing/2014/main" id="{055B0760-2FE6-4F4E-B2EC-4085CEFD955B}"/>
              </a:ext>
            </a:extLst>
          </p:cNvPr>
          <p:cNvSpPr txBox="1"/>
          <p:nvPr/>
        </p:nvSpPr>
        <p:spPr>
          <a:xfrm>
            <a:off x="2910774" y="2992579"/>
            <a:ext cx="5244504"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The likelihood of an organ to reject directly correlates with the degree of immunosuppression that a patient will require long term. Lung transplants are the most likely reject. Fifty percent of lung transplant patients experience rejection in 5 years. Liver transplants are least likely to reject. </a:t>
            </a:r>
          </a:p>
        </p:txBody>
      </p:sp>
      <p:sp>
        <p:nvSpPr>
          <p:cNvPr id="6" name="Oversuppression">
            <a:extLst>
              <a:ext uri="{FF2B5EF4-FFF2-40B4-BE49-F238E27FC236}">
                <a16:creationId xmlns:a16="http://schemas.microsoft.com/office/drawing/2014/main" id="{CFEA330D-825A-462A-918B-A60474EF5E98}"/>
              </a:ext>
            </a:extLst>
          </p:cNvPr>
          <p:cNvSpPr/>
          <p:nvPr/>
        </p:nvSpPr>
        <p:spPr>
          <a:xfrm>
            <a:off x="3108961" y="1742623"/>
            <a:ext cx="1617478" cy="248957"/>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Oversuppression</a:t>
            </a:r>
            <a:endParaRPr lang="en-US" sz="1600" dirty="0"/>
          </a:p>
        </p:txBody>
      </p:sp>
      <p:sp>
        <p:nvSpPr>
          <p:cNvPr id="43" name="Undersuppression">
            <a:extLst>
              <a:ext uri="{FF2B5EF4-FFF2-40B4-BE49-F238E27FC236}">
                <a16:creationId xmlns:a16="http://schemas.microsoft.com/office/drawing/2014/main" id="{2A18531E-EA41-4287-A3A0-69520357E5A6}"/>
              </a:ext>
            </a:extLst>
          </p:cNvPr>
          <p:cNvSpPr/>
          <p:nvPr/>
        </p:nvSpPr>
        <p:spPr>
          <a:xfrm>
            <a:off x="3108960" y="2209116"/>
            <a:ext cx="1737359" cy="248957"/>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Undersuppression</a:t>
            </a:r>
            <a:endParaRPr lang="en-US" sz="1600" dirty="0"/>
          </a:p>
        </p:txBody>
      </p:sp>
      <p:grpSp>
        <p:nvGrpSpPr>
          <p:cNvPr id="9" name="Tip towards Rejection">
            <a:extLst>
              <a:ext uri="{FF2B5EF4-FFF2-40B4-BE49-F238E27FC236}">
                <a16:creationId xmlns:a16="http://schemas.microsoft.com/office/drawing/2014/main" id="{F0216087-0861-4D09-813F-001C488C7D15}"/>
              </a:ext>
            </a:extLst>
          </p:cNvPr>
          <p:cNvGrpSpPr/>
          <p:nvPr/>
        </p:nvGrpSpPr>
        <p:grpSpPr>
          <a:xfrm>
            <a:off x="9701539" y="504919"/>
            <a:ext cx="1452101" cy="421689"/>
            <a:chOff x="9815056" y="516646"/>
            <a:chExt cx="1452101" cy="421689"/>
          </a:xfrm>
        </p:grpSpPr>
        <p:cxnSp>
          <p:nvCxnSpPr>
            <p:cNvPr id="30" name="Straight Connector 29">
              <a:extLst>
                <a:ext uri="{FF2B5EF4-FFF2-40B4-BE49-F238E27FC236}">
                  <a16:creationId xmlns:a16="http://schemas.microsoft.com/office/drawing/2014/main" id="{54D5FEC2-B022-4995-B86E-3DD74DE613E0}"/>
                </a:ext>
              </a:extLst>
            </p:cNvPr>
            <p:cNvCxnSpPr/>
            <p:nvPr/>
          </p:nvCxnSpPr>
          <p:spPr>
            <a:xfrm>
              <a:off x="9815056" y="565955"/>
              <a:ext cx="1452101" cy="37238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E4EB150D-7C80-4F87-AB65-87CF7F0CB27B}"/>
                </a:ext>
              </a:extLst>
            </p:cNvPr>
            <p:cNvCxnSpPr/>
            <p:nvPr/>
          </p:nvCxnSpPr>
          <p:spPr>
            <a:xfrm flipV="1">
              <a:off x="9824889" y="650671"/>
              <a:ext cx="0" cy="2876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190225EA-D4F8-4021-B78C-BEF9448379C9}"/>
                </a:ext>
              </a:extLst>
            </p:cNvPr>
            <p:cNvCxnSpPr>
              <a:cxnSpLocks/>
            </p:cNvCxnSpPr>
            <p:nvPr/>
          </p:nvCxnSpPr>
          <p:spPr>
            <a:xfrm>
              <a:off x="11179393" y="516646"/>
              <a:ext cx="0" cy="286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46" name="Balanced">
            <a:extLst>
              <a:ext uri="{FF2B5EF4-FFF2-40B4-BE49-F238E27FC236}">
                <a16:creationId xmlns:a16="http://schemas.microsoft.com/office/drawing/2014/main" id="{22AE658D-935D-4C49-9A17-3CC0173FD042}"/>
              </a:ext>
            </a:extLst>
          </p:cNvPr>
          <p:cNvCxnSpPr>
            <a:cxnSpLocks/>
          </p:cNvCxnSpPr>
          <p:nvPr/>
        </p:nvCxnSpPr>
        <p:spPr>
          <a:xfrm>
            <a:off x="9572163" y="741910"/>
            <a:ext cx="1685416" cy="29578"/>
          </a:xfrm>
          <a:prstGeom prst="line">
            <a:avLst/>
          </a:prstGeom>
        </p:spPr>
        <p:style>
          <a:lnRef idx="3">
            <a:schemeClr val="dk1"/>
          </a:lnRef>
          <a:fillRef idx="0">
            <a:schemeClr val="dk1"/>
          </a:fillRef>
          <a:effectRef idx="2">
            <a:schemeClr val="dk1"/>
          </a:effectRef>
          <a:fontRef idx="minor">
            <a:schemeClr val="tx1"/>
          </a:fontRef>
        </p:style>
      </p:cxnSp>
      <p:grpSp>
        <p:nvGrpSpPr>
          <p:cNvPr id="53" name="Tip towards Infection">
            <a:extLst>
              <a:ext uri="{FF2B5EF4-FFF2-40B4-BE49-F238E27FC236}">
                <a16:creationId xmlns:a16="http://schemas.microsoft.com/office/drawing/2014/main" id="{67F1B1CA-8115-409C-81AE-9141F0E69921}"/>
              </a:ext>
            </a:extLst>
          </p:cNvPr>
          <p:cNvGrpSpPr/>
          <p:nvPr/>
        </p:nvGrpSpPr>
        <p:grpSpPr>
          <a:xfrm flipH="1">
            <a:off x="9701539" y="514586"/>
            <a:ext cx="1452101" cy="421689"/>
            <a:chOff x="9815056" y="516646"/>
            <a:chExt cx="1452101" cy="421689"/>
          </a:xfrm>
        </p:grpSpPr>
        <p:cxnSp>
          <p:nvCxnSpPr>
            <p:cNvPr id="54" name="Straight Connector 53">
              <a:extLst>
                <a:ext uri="{FF2B5EF4-FFF2-40B4-BE49-F238E27FC236}">
                  <a16:creationId xmlns:a16="http://schemas.microsoft.com/office/drawing/2014/main" id="{EBCF2D65-867E-4863-94B8-555BE290CDBD}"/>
                </a:ext>
              </a:extLst>
            </p:cNvPr>
            <p:cNvCxnSpPr/>
            <p:nvPr/>
          </p:nvCxnSpPr>
          <p:spPr>
            <a:xfrm>
              <a:off x="9815056" y="565955"/>
              <a:ext cx="1452101" cy="372380"/>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Arrow Connector 54">
              <a:extLst>
                <a:ext uri="{FF2B5EF4-FFF2-40B4-BE49-F238E27FC236}">
                  <a16:creationId xmlns:a16="http://schemas.microsoft.com/office/drawing/2014/main" id="{1AF9CA50-9912-4F65-BBCB-9E91DEEF4534}"/>
                </a:ext>
              </a:extLst>
            </p:cNvPr>
            <p:cNvCxnSpPr/>
            <p:nvPr/>
          </p:nvCxnSpPr>
          <p:spPr>
            <a:xfrm flipV="1">
              <a:off x="9824889" y="650671"/>
              <a:ext cx="0" cy="2876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a:extLst>
                <a:ext uri="{FF2B5EF4-FFF2-40B4-BE49-F238E27FC236}">
                  <a16:creationId xmlns:a16="http://schemas.microsoft.com/office/drawing/2014/main" id="{5241393D-5988-4FC6-8BDE-C98D350A4B46}"/>
                </a:ext>
              </a:extLst>
            </p:cNvPr>
            <p:cNvCxnSpPr>
              <a:cxnSpLocks/>
            </p:cNvCxnSpPr>
            <p:nvPr/>
          </p:nvCxnSpPr>
          <p:spPr>
            <a:xfrm>
              <a:off x="11179393" y="516646"/>
              <a:ext cx="0" cy="286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47" name="Arrow: Right 46">
            <a:extLst>
              <a:ext uri="{FF2B5EF4-FFF2-40B4-BE49-F238E27FC236}">
                <a16:creationId xmlns:a16="http://schemas.microsoft.com/office/drawing/2014/main" id="{C7A65059-C7DC-4CFE-A656-211895164390}"/>
              </a:ext>
            </a:extLst>
          </p:cNvPr>
          <p:cNvSpPr/>
          <p:nvPr/>
        </p:nvSpPr>
        <p:spPr>
          <a:xfrm flipH="1">
            <a:off x="8849942" y="1838570"/>
            <a:ext cx="3186455" cy="514560"/>
          </a:xfrm>
          <a:prstGeom prst="rightArrow">
            <a:avLst>
              <a:gd name="adj1" fmla="val 6116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Degree of immunosuppression</a:t>
            </a:r>
          </a:p>
        </p:txBody>
      </p:sp>
      <p:grpSp>
        <p:nvGrpSpPr>
          <p:cNvPr id="59" name="Group 58">
            <a:extLst>
              <a:ext uri="{FF2B5EF4-FFF2-40B4-BE49-F238E27FC236}">
                <a16:creationId xmlns:a16="http://schemas.microsoft.com/office/drawing/2014/main" id="{D24B2207-6669-49C5-A19D-4875550AA095}"/>
              </a:ext>
            </a:extLst>
          </p:cNvPr>
          <p:cNvGrpSpPr/>
          <p:nvPr/>
        </p:nvGrpSpPr>
        <p:grpSpPr>
          <a:xfrm>
            <a:off x="2377168" y="4541138"/>
            <a:ext cx="6677148" cy="646331"/>
            <a:chOff x="3108960" y="4617196"/>
            <a:chExt cx="6677148" cy="646331"/>
          </a:xfrm>
        </p:grpSpPr>
        <p:sp>
          <p:nvSpPr>
            <p:cNvPr id="57" name="Star: 5 Points 56">
              <a:extLst>
                <a:ext uri="{FF2B5EF4-FFF2-40B4-BE49-F238E27FC236}">
                  <a16:creationId xmlns:a16="http://schemas.microsoft.com/office/drawing/2014/main" id="{33341AA3-3DA6-4238-8E17-9EC2858E6654}"/>
                </a:ext>
              </a:extLst>
            </p:cNvPr>
            <p:cNvSpPr/>
            <p:nvPr/>
          </p:nvSpPr>
          <p:spPr>
            <a:xfrm>
              <a:off x="3108960" y="4733097"/>
              <a:ext cx="438912" cy="414528"/>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i="1"/>
            </a:p>
          </p:txBody>
        </p:sp>
        <p:sp>
          <p:nvSpPr>
            <p:cNvPr id="58" name="TextBox 57">
              <a:extLst>
                <a:ext uri="{FF2B5EF4-FFF2-40B4-BE49-F238E27FC236}">
                  <a16:creationId xmlns:a16="http://schemas.microsoft.com/office/drawing/2014/main" id="{CD401A2D-B5E1-49FB-89D5-158038EBE1A8}"/>
                </a:ext>
              </a:extLst>
            </p:cNvPr>
            <p:cNvSpPr txBox="1"/>
            <p:nvPr/>
          </p:nvSpPr>
          <p:spPr>
            <a:xfrm>
              <a:off x="3547872" y="4617196"/>
              <a:ext cx="6238236" cy="646331"/>
            </a:xfrm>
            <a:prstGeom prst="rect">
              <a:avLst/>
            </a:prstGeom>
            <a:noFill/>
          </p:spPr>
          <p:txBody>
            <a:bodyPr wrap="square" rtlCol="0">
              <a:spAutoFit/>
            </a:bodyPr>
            <a:lstStyle/>
            <a:p>
              <a:r>
                <a:rPr lang="en-US" i="1" dirty="0"/>
                <a:t>Click on the “</a:t>
              </a:r>
              <a:r>
                <a:rPr lang="en-US" i="1" dirty="0" err="1"/>
                <a:t>Oversuppression</a:t>
              </a:r>
              <a:r>
                <a:rPr lang="en-US" i="1" dirty="0"/>
                <a:t>” and “</a:t>
              </a:r>
              <a:r>
                <a:rPr lang="en-US" i="1" dirty="0" err="1"/>
                <a:t>Undersuppression</a:t>
              </a:r>
              <a:r>
                <a:rPr lang="en-US" i="1" dirty="0"/>
                <a:t>” buttons.</a:t>
              </a:r>
            </a:p>
            <a:p>
              <a:r>
                <a:rPr lang="en-US" i="1" dirty="0"/>
                <a:t>Then click anywhere to continue. </a:t>
              </a:r>
            </a:p>
          </p:txBody>
        </p:sp>
      </p:grpSp>
    </p:spTree>
    <p:extLst>
      <p:ext uri="{BB962C8B-B14F-4D97-AF65-F5344CB8AC3E}">
        <p14:creationId xmlns:p14="http://schemas.microsoft.com/office/powerpoint/2010/main" val="299449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6"/>
                    </p:tgtEl>
                  </p:cond>
                </p:stCondLst>
                <p:endSync evt="end" delay="0">
                  <p:rtn val="all"/>
                </p:endSync>
                <p:childTnLst>
                  <p:par>
                    <p:cTn id="20" fill="hold">
                      <p:stCondLst>
                        <p:cond delay="0"/>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46"/>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childTnLst>
                          </p:cTn>
                        </p:par>
                      </p:childTnLst>
                    </p:cTn>
                  </p:par>
                </p:childTnLst>
              </p:cTn>
              <p:nextCondLst>
                <p:cond evt="onClick" delay="0">
                  <p:tgtEl>
                    <p:spTgt spid="6"/>
                  </p:tgtEl>
                </p:cond>
              </p:nextCondLst>
            </p:seq>
            <p:seq concurrent="1" nextAc="seek">
              <p:cTn id="26" restart="whenNotActive" fill="hold" evtFilter="cancelBubble" nodeType="interactiveSeq">
                <p:stCondLst>
                  <p:cond evt="onClick" delay="0">
                    <p:tgtEl>
                      <p:spTgt spid="43"/>
                    </p:tgtEl>
                  </p:cond>
                </p:stCondLst>
                <p:endSync evt="end" delay="0">
                  <p:rtn val="all"/>
                </p:endSync>
                <p:childTnLst>
                  <p:par>
                    <p:cTn id="27" fill="hold">
                      <p:stCondLst>
                        <p:cond delay="0"/>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5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childTnLst>
        </p:cTn>
      </p:par>
    </p:tnLst>
    <p:bldLst>
      <p:bldP spid="15" grpId="0" animBg="1"/>
      <p:bldP spid="35" grpId="0"/>
      <p:bldP spid="42" grpId="0" animBg="1"/>
      <p:bldP spid="6" grpId="0" animBg="1"/>
      <p:bldP spid="4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Rounded Corners 53">
            <a:hlinkClick r:id="rId2" action="ppaction://hlinksldjump"/>
            <a:extLst>
              <a:ext uri="{FF2B5EF4-FFF2-40B4-BE49-F238E27FC236}">
                <a16:creationId xmlns:a16="http://schemas.microsoft.com/office/drawing/2014/main" id="{59407DAA-8B4F-4F8A-9A2B-B4E8B93809B2}"/>
              </a:ext>
            </a:extLst>
          </p:cNvPr>
          <p:cNvSpPr/>
          <p:nvPr/>
        </p:nvSpPr>
        <p:spPr>
          <a:xfrm>
            <a:off x="150210" y="130162"/>
            <a:ext cx="2505702"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Balancing immunosuppression</a:t>
            </a:r>
          </a:p>
        </p:txBody>
      </p:sp>
      <p:sp>
        <p:nvSpPr>
          <p:cNvPr id="56" name="Rectangle: Rounded Corners 55">
            <a:extLst>
              <a:ext uri="{FF2B5EF4-FFF2-40B4-BE49-F238E27FC236}">
                <a16:creationId xmlns:a16="http://schemas.microsoft.com/office/drawing/2014/main" id="{FA6C6A86-3567-4A9E-A3B9-37423F02567C}"/>
              </a:ext>
            </a:extLst>
          </p:cNvPr>
          <p:cNvSpPr/>
          <p:nvPr/>
        </p:nvSpPr>
        <p:spPr>
          <a:xfrm>
            <a:off x="152202" y="439292"/>
            <a:ext cx="2224966" cy="2763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Induction vs. maintenance</a:t>
            </a:r>
          </a:p>
        </p:txBody>
      </p:sp>
      <p:sp>
        <p:nvSpPr>
          <p:cNvPr id="57" name="Rectangle: Rounded Corners 56">
            <a:hlinkClick r:id="rId3" action="ppaction://hlinksldjump"/>
            <a:extLst>
              <a:ext uri="{FF2B5EF4-FFF2-40B4-BE49-F238E27FC236}">
                <a16:creationId xmlns:a16="http://schemas.microsoft.com/office/drawing/2014/main" id="{8BFDD2CC-549A-4ECA-840A-BFF7A8A35EF4}"/>
              </a:ext>
            </a:extLst>
          </p:cNvPr>
          <p:cNvSpPr/>
          <p:nvPr/>
        </p:nvSpPr>
        <p:spPr>
          <a:xfrm>
            <a:off x="148322" y="758064"/>
            <a:ext cx="1313704"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Complications</a:t>
            </a:r>
          </a:p>
        </p:txBody>
      </p:sp>
      <p:sp>
        <p:nvSpPr>
          <p:cNvPr id="59" name="Rectangle 58">
            <a:extLst>
              <a:ext uri="{FF2B5EF4-FFF2-40B4-BE49-F238E27FC236}">
                <a16:creationId xmlns:a16="http://schemas.microsoft.com/office/drawing/2014/main" id="{0EDE3321-1A90-4ABA-9850-83470B02DE49}"/>
              </a:ext>
            </a:extLst>
          </p:cNvPr>
          <p:cNvSpPr/>
          <p:nvPr/>
        </p:nvSpPr>
        <p:spPr>
          <a:xfrm>
            <a:off x="8700755" y="-2"/>
            <a:ext cx="3491245" cy="32808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TextBox 59">
            <a:extLst>
              <a:ext uri="{FF2B5EF4-FFF2-40B4-BE49-F238E27FC236}">
                <a16:creationId xmlns:a16="http://schemas.microsoft.com/office/drawing/2014/main" id="{96A5BF2E-98D6-46B5-9B7A-AF4D94CA1F27}"/>
              </a:ext>
            </a:extLst>
          </p:cNvPr>
          <p:cNvSpPr txBox="1"/>
          <p:nvPr/>
        </p:nvSpPr>
        <p:spPr>
          <a:xfrm>
            <a:off x="8792982" y="1422367"/>
            <a:ext cx="1150374" cy="338554"/>
          </a:xfrm>
          <a:prstGeom prst="rect">
            <a:avLst/>
          </a:prstGeom>
          <a:noFill/>
        </p:spPr>
        <p:txBody>
          <a:bodyPr wrap="square" rtlCol="0">
            <a:spAutoFit/>
          </a:bodyPr>
          <a:lstStyle/>
          <a:p>
            <a:pPr algn="ctr"/>
            <a:r>
              <a:rPr lang="en-US" sz="1600" dirty="0">
                <a:solidFill>
                  <a:srgbClr val="FF0000"/>
                </a:solidFill>
              </a:rPr>
              <a:t>Rejection</a:t>
            </a:r>
          </a:p>
        </p:txBody>
      </p:sp>
      <p:sp>
        <p:nvSpPr>
          <p:cNvPr id="61" name="TextBox 60">
            <a:extLst>
              <a:ext uri="{FF2B5EF4-FFF2-40B4-BE49-F238E27FC236}">
                <a16:creationId xmlns:a16="http://schemas.microsoft.com/office/drawing/2014/main" id="{2E41F664-FE27-4094-8A73-EC43AC4E1C85}"/>
              </a:ext>
            </a:extLst>
          </p:cNvPr>
          <p:cNvSpPr txBox="1"/>
          <p:nvPr/>
        </p:nvSpPr>
        <p:spPr>
          <a:xfrm>
            <a:off x="10886024" y="1299542"/>
            <a:ext cx="1150374" cy="584775"/>
          </a:xfrm>
          <a:prstGeom prst="rect">
            <a:avLst/>
          </a:prstGeom>
          <a:noFill/>
        </p:spPr>
        <p:txBody>
          <a:bodyPr wrap="square" rtlCol="0">
            <a:spAutoFit/>
          </a:bodyPr>
          <a:lstStyle/>
          <a:p>
            <a:pPr algn="ctr"/>
            <a:r>
              <a:rPr lang="en-US" sz="1600" dirty="0">
                <a:solidFill>
                  <a:schemeClr val="accent1"/>
                </a:solidFill>
              </a:rPr>
              <a:t>Infection</a:t>
            </a:r>
          </a:p>
          <a:p>
            <a:pPr algn="ctr"/>
            <a:r>
              <a:rPr lang="en-US" sz="1600" dirty="0">
                <a:solidFill>
                  <a:schemeClr val="accent1"/>
                </a:solidFill>
              </a:rPr>
              <a:t>Cancer</a:t>
            </a:r>
          </a:p>
        </p:txBody>
      </p:sp>
      <p:sp>
        <p:nvSpPr>
          <p:cNvPr id="65" name="Isosceles Triangle 64">
            <a:extLst>
              <a:ext uri="{FF2B5EF4-FFF2-40B4-BE49-F238E27FC236}">
                <a16:creationId xmlns:a16="http://schemas.microsoft.com/office/drawing/2014/main" id="{17337699-2655-4E5A-88C8-ED90B1D3C16C}"/>
              </a:ext>
            </a:extLst>
          </p:cNvPr>
          <p:cNvSpPr/>
          <p:nvPr/>
        </p:nvSpPr>
        <p:spPr>
          <a:xfrm>
            <a:off x="10066256" y="755336"/>
            <a:ext cx="722670" cy="5442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F24DF5FF-DABF-4478-AE90-80C21389D214}"/>
              </a:ext>
            </a:extLst>
          </p:cNvPr>
          <p:cNvCxnSpPr>
            <a:cxnSpLocks/>
          </p:cNvCxnSpPr>
          <p:nvPr/>
        </p:nvCxnSpPr>
        <p:spPr>
          <a:xfrm>
            <a:off x="9870228" y="1591927"/>
            <a:ext cx="1162664"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38AF5851-33D1-4A7C-88D4-850748A722B7}"/>
              </a:ext>
            </a:extLst>
          </p:cNvPr>
          <p:cNvSpPr txBox="1"/>
          <p:nvPr/>
        </p:nvSpPr>
        <p:spPr>
          <a:xfrm>
            <a:off x="9285435" y="78645"/>
            <a:ext cx="2232692" cy="338554"/>
          </a:xfrm>
          <a:prstGeom prst="rect">
            <a:avLst/>
          </a:prstGeom>
          <a:noFill/>
        </p:spPr>
        <p:txBody>
          <a:bodyPr wrap="square" rtlCol="0">
            <a:spAutoFit/>
          </a:bodyPr>
          <a:lstStyle/>
          <a:p>
            <a:pPr algn="ctr"/>
            <a:r>
              <a:rPr lang="en-US" sz="1600" dirty="0"/>
              <a:t>Immunosuppression</a:t>
            </a:r>
          </a:p>
        </p:txBody>
      </p:sp>
      <p:sp>
        <p:nvSpPr>
          <p:cNvPr id="68" name="TextBox 67">
            <a:extLst>
              <a:ext uri="{FF2B5EF4-FFF2-40B4-BE49-F238E27FC236}">
                <a16:creationId xmlns:a16="http://schemas.microsoft.com/office/drawing/2014/main" id="{1AE40321-F855-4804-8D89-CB0304B7E04F}"/>
              </a:ext>
            </a:extLst>
          </p:cNvPr>
          <p:cNvSpPr txBox="1"/>
          <p:nvPr/>
        </p:nvSpPr>
        <p:spPr>
          <a:xfrm>
            <a:off x="9778001" y="2328874"/>
            <a:ext cx="1564558" cy="338554"/>
          </a:xfrm>
          <a:prstGeom prst="rect">
            <a:avLst/>
          </a:prstGeom>
          <a:noFill/>
        </p:spPr>
        <p:txBody>
          <a:bodyPr wrap="square" rtlCol="0">
            <a:spAutoFit/>
          </a:bodyPr>
          <a:lstStyle/>
          <a:p>
            <a:pPr algn="ctr"/>
            <a:r>
              <a:rPr lang="en-US" sz="1600" dirty="0"/>
              <a:t>Heart/ Kidney </a:t>
            </a:r>
          </a:p>
        </p:txBody>
      </p:sp>
      <p:grpSp>
        <p:nvGrpSpPr>
          <p:cNvPr id="69" name="Group 68">
            <a:extLst>
              <a:ext uri="{FF2B5EF4-FFF2-40B4-BE49-F238E27FC236}">
                <a16:creationId xmlns:a16="http://schemas.microsoft.com/office/drawing/2014/main" id="{AF543B03-2F73-4C35-BE80-F58C81DDBA6A}"/>
              </a:ext>
            </a:extLst>
          </p:cNvPr>
          <p:cNvGrpSpPr/>
          <p:nvPr/>
        </p:nvGrpSpPr>
        <p:grpSpPr>
          <a:xfrm>
            <a:off x="9062234" y="2319389"/>
            <a:ext cx="1023458" cy="348039"/>
            <a:chOff x="9053388" y="2319389"/>
            <a:chExt cx="969751" cy="348039"/>
          </a:xfrm>
        </p:grpSpPr>
        <p:sp>
          <p:nvSpPr>
            <p:cNvPr id="70" name="TextBox 69">
              <a:extLst>
                <a:ext uri="{FF2B5EF4-FFF2-40B4-BE49-F238E27FC236}">
                  <a16:creationId xmlns:a16="http://schemas.microsoft.com/office/drawing/2014/main" id="{DF4703E6-A54E-4624-9B08-31CF2BF3286A}"/>
                </a:ext>
              </a:extLst>
            </p:cNvPr>
            <p:cNvSpPr txBox="1"/>
            <p:nvPr/>
          </p:nvSpPr>
          <p:spPr>
            <a:xfrm>
              <a:off x="9053388" y="2328874"/>
              <a:ext cx="659486" cy="338554"/>
            </a:xfrm>
            <a:prstGeom prst="rect">
              <a:avLst/>
            </a:prstGeom>
            <a:noFill/>
          </p:spPr>
          <p:txBody>
            <a:bodyPr wrap="square" rtlCol="0">
              <a:spAutoFit/>
            </a:bodyPr>
            <a:lstStyle/>
            <a:p>
              <a:pPr algn="ctr"/>
              <a:r>
                <a:rPr lang="en-US" sz="1600" dirty="0"/>
                <a:t>Lung </a:t>
              </a:r>
            </a:p>
          </p:txBody>
        </p:sp>
        <p:sp>
          <p:nvSpPr>
            <p:cNvPr id="71" name="TextBox 70">
              <a:extLst>
                <a:ext uri="{FF2B5EF4-FFF2-40B4-BE49-F238E27FC236}">
                  <a16:creationId xmlns:a16="http://schemas.microsoft.com/office/drawing/2014/main" id="{41FE7987-7C32-42EC-98AD-CC6F201FE741}"/>
                </a:ext>
              </a:extLst>
            </p:cNvPr>
            <p:cNvSpPr txBox="1"/>
            <p:nvPr/>
          </p:nvSpPr>
          <p:spPr>
            <a:xfrm>
              <a:off x="9541359" y="2319389"/>
              <a:ext cx="481780" cy="338554"/>
            </a:xfrm>
            <a:prstGeom prst="rect">
              <a:avLst/>
            </a:prstGeom>
            <a:noFill/>
          </p:spPr>
          <p:txBody>
            <a:bodyPr wrap="square" rtlCol="0">
              <a:spAutoFit/>
            </a:bodyPr>
            <a:lstStyle/>
            <a:p>
              <a:pPr algn="ctr"/>
              <a:r>
                <a:rPr lang="en-US" sz="1600" dirty="0"/>
                <a:t>&gt;</a:t>
              </a:r>
            </a:p>
          </p:txBody>
        </p:sp>
      </p:grpSp>
      <p:grpSp>
        <p:nvGrpSpPr>
          <p:cNvPr id="72" name="Group 71">
            <a:extLst>
              <a:ext uri="{FF2B5EF4-FFF2-40B4-BE49-F238E27FC236}">
                <a16:creationId xmlns:a16="http://schemas.microsoft.com/office/drawing/2014/main" id="{53087CB0-385B-4156-9E03-38FEE140BEDD}"/>
              </a:ext>
            </a:extLst>
          </p:cNvPr>
          <p:cNvGrpSpPr/>
          <p:nvPr/>
        </p:nvGrpSpPr>
        <p:grpSpPr>
          <a:xfrm>
            <a:off x="11069481" y="2323326"/>
            <a:ext cx="986670" cy="344102"/>
            <a:chOff x="11069481" y="2323326"/>
            <a:chExt cx="986670" cy="344102"/>
          </a:xfrm>
        </p:grpSpPr>
        <p:sp>
          <p:nvSpPr>
            <p:cNvPr id="73" name="TextBox 72">
              <a:extLst>
                <a:ext uri="{FF2B5EF4-FFF2-40B4-BE49-F238E27FC236}">
                  <a16:creationId xmlns:a16="http://schemas.microsoft.com/office/drawing/2014/main" id="{497F671A-0986-4458-AF21-2D6EF1217C96}"/>
                </a:ext>
              </a:extLst>
            </p:cNvPr>
            <p:cNvSpPr txBox="1"/>
            <p:nvPr/>
          </p:nvSpPr>
          <p:spPr>
            <a:xfrm>
              <a:off x="11391781" y="2328874"/>
              <a:ext cx="664370" cy="338554"/>
            </a:xfrm>
            <a:prstGeom prst="rect">
              <a:avLst/>
            </a:prstGeom>
            <a:noFill/>
          </p:spPr>
          <p:txBody>
            <a:bodyPr wrap="square" rtlCol="0">
              <a:spAutoFit/>
            </a:bodyPr>
            <a:lstStyle/>
            <a:p>
              <a:pPr algn="ctr"/>
              <a:r>
                <a:rPr lang="en-US" sz="1600" dirty="0"/>
                <a:t>Liver</a:t>
              </a:r>
            </a:p>
          </p:txBody>
        </p:sp>
        <p:sp>
          <p:nvSpPr>
            <p:cNvPr id="74" name="TextBox 73">
              <a:extLst>
                <a:ext uri="{FF2B5EF4-FFF2-40B4-BE49-F238E27FC236}">
                  <a16:creationId xmlns:a16="http://schemas.microsoft.com/office/drawing/2014/main" id="{E3F20A91-B8C8-4C5C-8B17-0FE8EB3D4A43}"/>
                </a:ext>
              </a:extLst>
            </p:cNvPr>
            <p:cNvSpPr txBox="1"/>
            <p:nvPr/>
          </p:nvSpPr>
          <p:spPr>
            <a:xfrm>
              <a:off x="11069481" y="2323326"/>
              <a:ext cx="418641" cy="338554"/>
            </a:xfrm>
            <a:prstGeom prst="rect">
              <a:avLst/>
            </a:prstGeom>
            <a:noFill/>
          </p:spPr>
          <p:txBody>
            <a:bodyPr wrap="square" rtlCol="0">
              <a:spAutoFit/>
            </a:bodyPr>
            <a:lstStyle/>
            <a:p>
              <a:pPr algn="ctr"/>
              <a:r>
                <a:rPr lang="en-US" sz="1600" dirty="0"/>
                <a:t>&gt;</a:t>
              </a:r>
            </a:p>
          </p:txBody>
        </p:sp>
      </p:grpSp>
      <p:sp>
        <p:nvSpPr>
          <p:cNvPr id="75" name="Lung treatment">
            <a:extLst>
              <a:ext uri="{FF2B5EF4-FFF2-40B4-BE49-F238E27FC236}">
                <a16:creationId xmlns:a16="http://schemas.microsoft.com/office/drawing/2014/main" id="{7D564AC8-1867-4F1C-B9EB-0B949F1786D4}"/>
              </a:ext>
            </a:extLst>
          </p:cNvPr>
          <p:cNvSpPr txBox="1"/>
          <p:nvPr/>
        </p:nvSpPr>
        <p:spPr>
          <a:xfrm>
            <a:off x="8935498" y="2629292"/>
            <a:ext cx="910712" cy="553998"/>
          </a:xfrm>
          <a:prstGeom prst="rect">
            <a:avLst/>
          </a:prstGeom>
          <a:noFill/>
        </p:spPr>
        <p:txBody>
          <a:bodyPr wrap="square" rtlCol="0">
            <a:spAutoFit/>
          </a:bodyPr>
          <a:lstStyle/>
          <a:p>
            <a:pPr algn="ctr">
              <a:lnSpc>
                <a:spcPts val="1200"/>
              </a:lnSpc>
            </a:pPr>
            <a:r>
              <a:rPr lang="en-US" sz="1200" dirty="0">
                <a:solidFill>
                  <a:schemeClr val="accent1"/>
                </a:solidFill>
              </a:rPr>
              <a:t>CNI</a:t>
            </a:r>
          </a:p>
          <a:p>
            <a:pPr algn="ctr">
              <a:lnSpc>
                <a:spcPts val="1200"/>
              </a:lnSpc>
            </a:pPr>
            <a:r>
              <a:rPr lang="en-US" sz="1200" dirty="0">
                <a:solidFill>
                  <a:schemeClr val="accent1"/>
                </a:solidFill>
              </a:rPr>
              <a:t>Anti-met</a:t>
            </a:r>
          </a:p>
          <a:p>
            <a:pPr algn="ctr">
              <a:lnSpc>
                <a:spcPts val="1200"/>
              </a:lnSpc>
            </a:pPr>
            <a:r>
              <a:rPr lang="en-US" sz="1200" dirty="0" err="1">
                <a:solidFill>
                  <a:schemeClr val="accent1"/>
                </a:solidFill>
              </a:rPr>
              <a:t>Pred</a:t>
            </a:r>
            <a:endParaRPr lang="en-US" sz="1200" dirty="0">
              <a:solidFill>
                <a:schemeClr val="accent1"/>
              </a:solidFill>
            </a:endParaRPr>
          </a:p>
        </p:txBody>
      </p:sp>
      <p:sp>
        <p:nvSpPr>
          <p:cNvPr id="76" name="Heart/Kidney treatment">
            <a:extLst>
              <a:ext uri="{FF2B5EF4-FFF2-40B4-BE49-F238E27FC236}">
                <a16:creationId xmlns:a16="http://schemas.microsoft.com/office/drawing/2014/main" id="{DD7861D2-8025-444E-9318-FAB960E7C032}"/>
              </a:ext>
            </a:extLst>
          </p:cNvPr>
          <p:cNvSpPr txBox="1"/>
          <p:nvPr/>
        </p:nvSpPr>
        <p:spPr>
          <a:xfrm>
            <a:off x="10085693" y="2637106"/>
            <a:ext cx="910712" cy="553998"/>
          </a:xfrm>
          <a:prstGeom prst="rect">
            <a:avLst/>
          </a:prstGeom>
          <a:noFill/>
        </p:spPr>
        <p:txBody>
          <a:bodyPr wrap="square" rtlCol="0">
            <a:spAutoFit/>
          </a:bodyPr>
          <a:lstStyle/>
          <a:p>
            <a:pPr algn="ctr">
              <a:lnSpc>
                <a:spcPts val="1200"/>
              </a:lnSpc>
            </a:pPr>
            <a:r>
              <a:rPr lang="en-US" sz="1200" dirty="0">
                <a:solidFill>
                  <a:schemeClr val="accent1"/>
                </a:solidFill>
              </a:rPr>
              <a:t>CNI</a:t>
            </a:r>
          </a:p>
          <a:p>
            <a:pPr algn="ctr">
              <a:lnSpc>
                <a:spcPts val="1200"/>
              </a:lnSpc>
            </a:pPr>
            <a:r>
              <a:rPr lang="en-US" sz="1200" dirty="0">
                <a:solidFill>
                  <a:schemeClr val="accent1"/>
                </a:solidFill>
              </a:rPr>
              <a:t>Anti-met</a:t>
            </a:r>
          </a:p>
          <a:p>
            <a:pPr algn="ctr">
              <a:lnSpc>
                <a:spcPts val="1200"/>
              </a:lnSpc>
            </a:pPr>
            <a:r>
              <a:rPr lang="en-US" sz="1200" dirty="0">
                <a:solidFill>
                  <a:schemeClr val="accent1"/>
                </a:solidFill>
              </a:rPr>
              <a:t>± </a:t>
            </a:r>
            <a:r>
              <a:rPr lang="en-US" sz="1200" dirty="0" err="1">
                <a:solidFill>
                  <a:schemeClr val="accent1"/>
                </a:solidFill>
              </a:rPr>
              <a:t>Pred</a:t>
            </a:r>
            <a:endParaRPr lang="en-US" sz="1200" dirty="0">
              <a:solidFill>
                <a:schemeClr val="accent1"/>
              </a:solidFill>
            </a:endParaRPr>
          </a:p>
        </p:txBody>
      </p:sp>
      <p:sp>
        <p:nvSpPr>
          <p:cNvPr id="77" name="Liver treatment">
            <a:extLst>
              <a:ext uri="{FF2B5EF4-FFF2-40B4-BE49-F238E27FC236}">
                <a16:creationId xmlns:a16="http://schemas.microsoft.com/office/drawing/2014/main" id="{B4CCE1EA-8EC5-44DA-9E09-85A530D24241}"/>
              </a:ext>
            </a:extLst>
          </p:cNvPr>
          <p:cNvSpPr txBox="1"/>
          <p:nvPr/>
        </p:nvSpPr>
        <p:spPr>
          <a:xfrm>
            <a:off x="11251612" y="2587935"/>
            <a:ext cx="910712" cy="276999"/>
          </a:xfrm>
          <a:prstGeom prst="rect">
            <a:avLst/>
          </a:prstGeom>
          <a:noFill/>
        </p:spPr>
        <p:txBody>
          <a:bodyPr wrap="square" rtlCol="0">
            <a:spAutoFit/>
          </a:bodyPr>
          <a:lstStyle/>
          <a:p>
            <a:pPr algn="ctr"/>
            <a:r>
              <a:rPr lang="en-US" sz="1200" dirty="0">
                <a:solidFill>
                  <a:schemeClr val="accent1"/>
                </a:solidFill>
              </a:rPr>
              <a:t>CNI</a:t>
            </a:r>
          </a:p>
        </p:txBody>
      </p:sp>
      <p:cxnSp>
        <p:nvCxnSpPr>
          <p:cNvPr id="82" name="Balanced">
            <a:extLst>
              <a:ext uri="{FF2B5EF4-FFF2-40B4-BE49-F238E27FC236}">
                <a16:creationId xmlns:a16="http://schemas.microsoft.com/office/drawing/2014/main" id="{5DDD746B-318F-480F-92AF-6C48BB57263F}"/>
              </a:ext>
            </a:extLst>
          </p:cNvPr>
          <p:cNvCxnSpPr>
            <a:cxnSpLocks/>
          </p:cNvCxnSpPr>
          <p:nvPr/>
        </p:nvCxnSpPr>
        <p:spPr>
          <a:xfrm>
            <a:off x="9577230" y="755336"/>
            <a:ext cx="1674382" cy="0"/>
          </a:xfrm>
          <a:prstGeom prst="line">
            <a:avLst/>
          </a:prstGeom>
        </p:spPr>
        <p:style>
          <a:lnRef idx="3">
            <a:schemeClr val="dk1"/>
          </a:lnRef>
          <a:fillRef idx="0">
            <a:schemeClr val="dk1"/>
          </a:fillRef>
          <a:effectRef idx="2">
            <a:schemeClr val="dk1"/>
          </a:effectRef>
          <a:fontRef idx="minor">
            <a:schemeClr val="tx1"/>
          </a:fontRef>
        </p:style>
      </p:cxnSp>
      <p:sp>
        <p:nvSpPr>
          <p:cNvPr id="87" name="Arrow: Right 86">
            <a:extLst>
              <a:ext uri="{FF2B5EF4-FFF2-40B4-BE49-F238E27FC236}">
                <a16:creationId xmlns:a16="http://schemas.microsoft.com/office/drawing/2014/main" id="{71A3EFE4-173C-429C-8F01-4C251068AC91}"/>
              </a:ext>
            </a:extLst>
          </p:cNvPr>
          <p:cNvSpPr/>
          <p:nvPr/>
        </p:nvSpPr>
        <p:spPr>
          <a:xfrm flipH="1">
            <a:off x="8849942" y="1838570"/>
            <a:ext cx="3186455" cy="514560"/>
          </a:xfrm>
          <a:prstGeom prst="rightArrow">
            <a:avLst>
              <a:gd name="adj1" fmla="val 6116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Degree of immunosuppression</a:t>
            </a:r>
          </a:p>
        </p:txBody>
      </p:sp>
      <p:cxnSp>
        <p:nvCxnSpPr>
          <p:cNvPr id="5" name="Straight Connector 4">
            <a:extLst>
              <a:ext uri="{FF2B5EF4-FFF2-40B4-BE49-F238E27FC236}">
                <a16:creationId xmlns:a16="http://schemas.microsoft.com/office/drawing/2014/main" id="{C78E08DF-F249-4B48-88D0-7D7DE16D3B58}"/>
              </a:ext>
            </a:extLst>
          </p:cNvPr>
          <p:cNvCxnSpPr>
            <a:cxnSpLocks/>
          </p:cNvCxnSpPr>
          <p:nvPr/>
        </p:nvCxnSpPr>
        <p:spPr>
          <a:xfrm flipV="1">
            <a:off x="2673170" y="1258529"/>
            <a:ext cx="0" cy="185829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4B4B15B4-722F-4824-B573-7EB363307160}"/>
              </a:ext>
            </a:extLst>
          </p:cNvPr>
          <p:cNvCxnSpPr>
            <a:cxnSpLocks/>
          </p:cNvCxnSpPr>
          <p:nvPr/>
        </p:nvCxnSpPr>
        <p:spPr>
          <a:xfrm flipV="1">
            <a:off x="2673170" y="3116826"/>
            <a:ext cx="5948516" cy="1"/>
          </a:xfrm>
          <a:prstGeom prst="line">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454524F6-3F22-4B46-8DC3-D7881A8DBE0E}"/>
              </a:ext>
            </a:extLst>
          </p:cNvPr>
          <p:cNvSpPr txBox="1"/>
          <p:nvPr/>
        </p:nvSpPr>
        <p:spPr>
          <a:xfrm>
            <a:off x="2833036" y="889197"/>
            <a:ext cx="1859423" cy="369332"/>
          </a:xfrm>
          <a:prstGeom prst="rect">
            <a:avLst/>
          </a:prstGeom>
          <a:noFill/>
        </p:spPr>
        <p:txBody>
          <a:bodyPr wrap="square" rtlCol="0">
            <a:spAutoFit/>
          </a:bodyPr>
          <a:lstStyle/>
          <a:p>
            <a:pPr algn="ctr"/>
            <a:r>
              <a:rPr lang="en-US" dirty="0"/>
              <a:t>INDUCTION</a:t>
            </a:r>
          </a:p>
        </p:txBody>
      </p:sp>
      <p:sp>
        <p:nvSpPr>
          <p:cNvPr id="15" name="TextBox 14">
            <a:extLst>
              <a:ext uri="{FF2B5EF4-FFF2-40B4-BE49-F238E27FC236}">
                <a16:creationId xmlns:a16="http://schemas.microsoft.com/office/drawing/2014/main" id="{01F49E96-44AC-43F5-8AD9-9236808CA8AA}"/>
              </a:ext>
            </a:extLst>
          </p:cNvPr>
          <p:cNvSpPr txBox="1"/>
          <p:nvPr/>
        </p:nvSpPr>
        <p:spPr>
          <a:xfrm>
            <a:off x="4817804" y="889196"/>
            <a:ext cx="2090597" cy="369332"/>
          </a:xfrm>
          <a:prstGeom prst="rect">
            <a:avLst/>
          </a:prstGeom>
          <a:noFill/>
        </p:spPr>
        <p:txBody>
          <a:bodyPr wrap="square" rtlCol="0">
            <a:spAutoFit/>
          </a:bodyPr>
          <a:lstStyle/>
          <a:p>
            <a:pPr algn="ctr"/>
            <a:r>
              <a:rPr lang="en-US" dirty="0"/>
              <a:t>MAINTENANCE</a:t>
            </a:r>
          </a:p>
        </p:txBody>
      </p:sp>
      <p:sp>
        <p:nvSpPr>
          <p:cNvPr id="45" name="TextBox 44">
            <a:extLst>
              <a:ext uri="{FF2B5EF4-FFF2-40B4-BE49-F238E27FC236}">
                <a16:creationId xmlns:a16="http://schemas.microsoft.com/office/drawing/2014/main" id="{7C73713D-33EB-4737-A7D5-E7BB491C08D0}"/>
              </a:ext>
            </a:extLst>
          </p:cNvPr>
          <p:cNvSpPr txBox="1"/>
          <p:nvPr/>
        </p:nvSpPr>
        <p:spPr>
          <a:xfrm rot="16200000">
            <a:off x="1331382" y="2063562"/>
            <a:ext cx="2251587" cy="338554"/>
          </a:xfrm>
          <a:prstGeom prst="rect">
            <a:avLst/>
          </a:prstGeom>
          <a:noFill/>
        </p:spPr>
        <p:txBody>
          <a:bodyPr wrap="square" rtlCol="0">
            <a:spAutoFit/>
          </a:bodyPr>
          <a:lstStyle/>
          <a:p>
            <a:pPr algn="ctr"/>
            <a:r>
              <a:rPr lang="en-US" sz="1600" dirty="0" err="1"/>
              <a:t>Allogenicity</a:t>
            </a:r>
            <a:endParaRPr lang="en-US" sz="1600" dirty="0"/>
          </a:p>
        </p:txBody>
      </p:sp>
      <p:cxnSp>
        <p:nvCxnSpPr>
          <p:cNvPr id="49" name="Straight Connector 48">
            <a:extLst>
              <a:ext uri="{FF2B5EF4-FFF2-40B4-BE49-F238E27FC236}">
                <a16:creationId xmlns:a16="http://schemas.microsoft.com/office/drawing/2014/main" id="{A883CCA9-DF42-4B7F-8A17-666FB505D5B9}"/>
              </a:ext>
            </a:extLst>
          </p:cNvPr>
          <p:cNvCxnSpPr>
            <a:cxnSpLocks/>
          </p:cNvCxnSpPr>
          <p:nvPr/>
        </p:nvCxnSpPr>
        <p:spPr>
          <a:xfrm>
            <a:off x="4817804" y="1301340"/>
            <a:ext cx="0" cy="1811145"/>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34A727FC-C69E-47DD-B734-744FAFC2635F}"/>
              </a:ext>
            </a:extLst>
          </p:cNvPr>
          <p:cNvCxnSpPr>
            <a:cxnSpLocks/>
          </p:cNvCxnSpPr>
          <p:nvPr/>
        </p:nvCxnSpPr>
        <p:spPr>
          <a:xfrm>
            <a:off x="6908401" y="1301340"/>
            <a:ext cx="0" cy="1811145"/>
          </a:xfrm>
          <a:prstGeom prst="line">
            <a:avLst/>
          </a:prstGeom>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F864F31A-6FC8-4D08-B7D2-F0651EF6677B}"/>
              </a:ext>
            </a:extLst>
          </p:cNvPr>
          <p:cNvSpPr txBox="1"/>
          <p:nvPr/>
        </p:nvSpPr>
        <p:spPr>
          <a:xfrm>
            <a:off x="446802" y="2024841"/>
            <a:ext cx="2025446" cy="369332"/>
          </a:xfrm>
          <a:prstGeom prst="rect">
            <a:avLst/>
          </a:prstGeom>
          <a:noFill/>
        </p:spPr>
        <p:txBody>
          <a:bodyPr wrap="square" rtlCol="0">
            <a:spAutoFit/>
          </a:bodyPr>
          <a:lstStyle/>
          <a:p>
            <a:pPr algn="ctr"/>
            <a:r>
              <a:rPr lang="en-US" dirty="0">
                <a:solidFill>
                  <a:schemeClr val="accent1"/>
                </a:solidFill>
              </a:rPr>
              <a:t>MEDICATIONS</a:t>
            </a:r>
          </a:p>
        </p:txBody>
      </p:sp>
      <p:sp>
        <p:nvSpPr>
          <p:cNvPr id="88" name="Freeform: Shape 87">
            <a:extLst>
              <a:ext uri="{FF2B5EF4-FFF2-40B4-BE49-F238E27FC236}">
                <a16:creationId xmlns:a16="http://schemas.microsoft.com/office/drawing/2014/main" id="{B0DC3844-3B53-4725-970E-9C4A8848C091}"/>
              </a:ext>
            </a:extLst>
          </p:cNvPr>
          <p:cNvSpPr/>
          <p:nvPr/>
        </p:nvSpPr>
        <p:spPr>
          <a:xfrm>
            <a:off x="2723536" y="1269631"/>
            <a:ext cx="5869858" cy="1807865"/>
          </a:xfrm>
          <a:custGeom>
            <a:avLst/>
            <a:gdLst>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67896 w 5899355"/>
              <a:gd name="connsiteY5" fmla="*/ 1404187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48231 w 5899355"/>
              <a:gd name="connsiteY5" fmla="*/ 1276368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0453 h 1820453"/>
              <a:gd name="connsiteX1" fmla="*/ 462116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0453 h 1820453"/>
              <a:gd name="connsiteX1" fmla="*/ 412955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5752 h 1825752"/>
              <a:gd name="connsiteX1" fmla="*/ 412955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899355"/>
              <a:gd name="connsiteY0" fmla="*/ 1825752 h 1825752"/>
              <a:gd name="connsiteX1" fmla="*/ 363794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938684"/>
              <a:gd name="connsiteY0" fmla="*/ 1825752 h 1825752"/>
              <a:gd name="connsiteX1" fmla="*/ 403123 w 5938684"/>
              <a:gd name="connsiteY1" fmla="*/ 940848 h 1825752"/>
              <a:gd name="connsiteX2" fmla="*/ 806245 w 5938684"/>
              <a:gd name="connsiteY2" fmla="*/ 105107 h 1825752"/>
              <a:gd name="connsiteX3" fmla="*/ 1238864 w 5938684"/>
              <a:gd name="connsiteY3" fmla="*/ 85442 h 1825752"/>
              <a:gd name="connsiteX4" fmla="*/ 1887793 w 5938684"/>
              <a:gd name="connsiteY4" fmla="*/ 773700 h 1825752"/>
              <a:gd name="connsiteX5" fmla="*/ 2487560 w 5938684"/>
              <a:gd name="connsiteY5" fmla="*/ 1275145 h 1825752"/>
              <a:gd name="connsiteX6" fmla="*/ 3932903 w 5938684"/>
              <a:gd name="connsiteY6" fmla="*/ 1609442 h 1825752"/>
              <a:gd name="connsiteX7" fmla="*/ 4906296 w 5938684"/>
              <a:gd name="connsiteY7" fmla="*/ 1678268 h 1825752"/>
              <a:gd name="connsiteX8" fmla="*/ 5938684 w 5938684"/>
              <a:gd name="connsiteY8" fmla="*/ 1688100 h 1825752"/>
              <a:gd name="connsiteX0" fmla="*/ 0 w 5919020"/>
              <a:gd name="connsiteY0" fmla="*/ 1727429 h 1727429"/>
              <a:gd name="connsiteX1" fmla="*/ 383459 w 5919020"/>
              <a:gd name="connsiteY1" fmla="*/ 940848 h 1727429"/>
              <a:gd name="connsiteX2" fmla="*/ 786581 w 5919020"/>
              <a:gd name="connsiteY2" fmla="*/ 105107 h 1727429"/>
              <a:gd name="connsiteX3" fmla="*/ 1219200 w 5919020"/>
              <a:gd name="connsiteY3" fmla="*/ 85442 h 1727429"/>
              <a:gd name="connsiteX4" fmla="*/ 1868129 w 5919020"/>
              <a:gd name="connsiteY4" fmla="*/ 773700 h 1727429"/>
              <a:gd name="connsiteX5" fmla="*/ 2467896 w 5919020"/>
              <a:gd name="connsiteY5" fmla="*/ 1275145 h 1727429"/>
              <a:gd name="connsiteX6" fmla="*/ 3913239 w 5919020"/>
              <a:gd name="connsiteY6" fmla="*/ 1609442 h 1727429"/>
              <a:gd name="connsiteX7" fmla="*/ 4886632 w 5919020"/>
              <a:gd name="connsiteY7" fmla="*/ 1678268 h 1727429"/>
              <a:gd name="connsiteX8" fmla="*/ 5919020 w 5919020"/>
              <a:gd name="connsiteY8" fmla="*/ 1688100 h 1727429"/>
              <a:gd name="connsiteX0" fmla="*/ 0 w 5869858"/>
              <a:gd name="connsiteY0" fmla="*/ 1796255 h 1796255"/>
              <a:gd name="connsiteX1" fmla="*/ 334297 w 5869858"/>
              <a:gd name="connsiteY1" fmla="*/ 940848 h 1796255"/>
              <a:gd name="connsiteX2" fmla="*/ 737419 w 5869858"/>
              <a:gd name="connsiteY2" fmla="*/ 105107 h 1796255"/>
              <a:gd name="connsiteX3" fmla="*/ 1170038 w 5869858"/>
              <a:gd name="connsiteY3" fmla="*/ 85442 h 1796255"/>
              <a:gd name="connsiteX4" fmla="*/ 1818967 w 5869858"/>
              <a:gd name="connsiteY4" fmla="*/ 773700 h 1796255"/>
              <a:gd name="connsiteX5" fmla="*/ 2418734 w 5869858"/>
              <a:gd name="connsiteY5" fmla="*/ 1275145 h 1796255"/>
              <a:gd name="connsiteX6" fmla="*/ 3864077 w 5869858"/>
              <a:gd name="connsiteY6" fmla="*/ 1609442 h 1796255"/>
              <a:gd name="connsiteX7" fmla="*/ 4837470 w 5869858"/>
              <a:gd name="connsiteY7" fmla="*/ 1678268 h 1796255"/>
              <a:gd name="connsiteX8" fmla="*/ 5869858 w 5869858"/>
              <a:gd name="connsiteY8" fmla="*/ 1688100 h 1796255"/>
              <a:gd name="connsiteX0" fmla="*/ 0 w 5869858"/>
              <a:gd name="connsiteY0" fmla="*/ 1785760 h 1785760"/>
              <a:gd name="connsiteX1" fmla="*/ 422788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96231 h 1796231"/>
              <a:gd name="connsiteX1" fmla="*/ 383459 w 5869858"/>
              <a:gd name="connsiteY1" fmla="*/ 763844 h 1796231"/>
              <a:gd name="connsiteX2" fmla="*/ 688258 w 5869858"/>
              <a:gd name="connsiteY2" fmla="*/ 85419 h 1796231"/>
              <a:gd name="connsiteX3" fmla="*/ 1170038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796231 h 1796231"/>
              <a:gd name="connsiteX1" fmla="*/ 383459 w 5869858"/>
              <a:gd name="connsiteY1" fmla="*/ 763844 h 1796231"/>
              <a:gd name="connsiteX2" fmla="*/ 688258 w 5869858"/>
              <a:gd name="connsiteY2" fmla="*/ 85419 h 1796231"/>
              <a:gd name="connsiteX3" fmla="*/ 1199535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18734 w 5869858"/>
              <a:gd name="connsiteY5" fmla="*/ 1286755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9858" h="1807865">
                <a:moveTo>
                  <a:pt x="0" y="1807865"/>
                </a:moveTo>
                <a:cubicBezTo>
                  <a:pt x="160593" y="1507980"/>
                  <a:pt x="268749" y="1060613"/>
                  <a:pt x="383459" y="775478"/>
                </a:cubicBezTo>
                <a:cubicBezTo>
                  <a:pt x="498169" y="490343"/>
                  <a:pt x="548968" y="213401"/>
                  <a:pt x="688258" y="97053"/>
                </a:cubicBezTo>
                <a:cubicBezTo>
                  <a:pt x="827548" y="-19295"/>
                  <a:pt x="1030749" y="-37322"/>
                  <a:pt x="1219200" y="77387"/>
                </a:cubicBezTo>
                <a:cubicBezTo>
                  <a:pt x="1407651" y="192096"/>
                  <a:pt x="1612490" y="582110"/>
                  <a:pt x="1818967" y="785310"/>
                </a:cubicBezTo>
                <a:cubicBezTo>
                  <a:pt x="2025444" y="988510"/>
                  <a:pt x="2077882" y="1137633"/>
                  <a:pt x="2458063" y="1296587"/>
                </a:cubicBezTo>
                <a:cubicBezTo>
                  <a:pt x="2838244" y="1455541"/>
                  <a:pt x="3467509" y="1555504"/>
                  <a:pt x="3864077" y="1621052"/>
                </a:cubicBezTo>
                <a:cubicBezTo>
                  <a:pt x="4260645" y="1686600"/>
                  <a:pt x="4503173" y="1676768"/>
                  <a:pt x="4837470" y="1689878"/>
                </a:cubicBezTo>
                <a:cubicBezTo>
                  <a:pt x="5171767" y="1702988"/>
                  <a:pt x="5520812" y="1701349"/>
                  <a:pt x="5869858" y="1699710"/>
                </a:cubicBez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accent6"/>
              </a:solidFill>
            </a:endParaRPr>
          </a:p>
        </p:txBody>
      </p:sp>
      <p:sp>
        <p:nvSpPr>
          <p:cNvPr id="89" name="TextBox 88">
            <a:extLst>
              <a:ext uri="{FF2B5EF4-FFF2-40B4-BE49-F238E27FC236}">
                <a16:creationId xmlns:a16="http://schemas.microsoft.com/office/drawing/2014/main" id="{0749D63D-7305-404A-8246-79231ED139C2}"/>
              </a:ext>
            </a:extLst>
          </p:cNvPr>
          <p:cNvSpPr txBox="1"/>
          <p:nvPr/>
        </p:nvSpPr>
        <p:spPr>
          <a:xfrm>
            <a:off x="5028155" y="1595090"/>
            <a:ext cx="1643246" cy="990015"/>
          </a:xfrm>
          <a:prstGeom prst="rect">
            <a:avLst/>
          </a:prstGeom>
          <a:noFill/>
        </p:spPr>
        <p:txBody>
          <a:bodyPr wrap="square" rtlCol="0">
            <a:spAutoFit/>
          </a:bodyPr>
          <a:lstStyle/>
          <a:p>
            <a:pPr algn="ctr">
              <a:lnSpc>
                <a:spcPts val="1400"/>
              </a:lnSpc>
            </a:pPr>
            <a:r>
              <a:rPr lang="en-US" sz="1400" dirty="0">
                <a:solidFill>
                  <a:schemeClr val="accent1"/>
                </a:solidFill>
              </a:rPr>
              <a:t>CNI</a:t>
            </a:r>
          </a:p>
          <a:p>
            <a:pPr algn="ctr">
              <a:lnSpc>
                <a:spcPts val="1400"/>
              </a:lnSpc>
            </a:pPr>
            <a:r>
              <a:rPr lang="en-US" sz="1400" dirty="0">
                <a:solidFill>
                  <a:schemeClr val="accent1"/>
                </a:solidFill>
              </a:rPr>
              <a:t>+</a:t>
            </a:r>
          </a:p>
          <a:p>
            <a:pPr algn="ctr">
              <a:lnSpc>
                <a:spcPts val="1400"/>
              </a:lnSpc>
            </a:pPr>
            <a:r>
              <a:rPr lang="en-US" sz="1400" dirty="0">
                <a:solidFill>
                  <a:schemeClr val="accent1"/>
                </a:solidFill>
              </a:rPr>
              <a:t>Anti-metabolites</a:t>
            </a:r>
          </a:p>
          <a:p>
            <a:pPr algn="ctr">
              <a:lnSpc>
                <a:spcPts val="1400"/>
              </a:lnSpc>
            </a:pPr>
            <a:r>
              <a:rPr lang="en-US" sz="1400" dirty="0">
                <a:solidFill>
                  <a:schemeClr val="accent1"/>
                </a:solidFill>
              </a:rPr>
              <a:t>+</a:t>
            </a:r>
          </a:p>
          <a:p>
            <a:pPr algn="ctr">
              <a:lnSpc>
                <a:spcPts val="1400"/>
              </a:lnSpc>
            </a:pPr>
            <a:r>
              <a:rPr lang="en-US" sz="1400" dirty="0">
                <a:solidFill>
                  <a:schemeClr val="accent1"/>
                </a:solidFill>
              </a:rPr>
              <a:t>prednisone</a:t>
            </a:r>
          </a:p>
        </p:txBody>
      </p:sp>
      <p:sp>
        <p:nvSpPr>
          <p:cNvPr id="90" name="TextBox 89">
            <a:extLst>
              <a:ext uri="{FF2B5EF4-FFF2-40B4-BE49-F238E27FC236}">
                <a16:creationId xmlns:a16="http://schemas.microsoft.com/office/drawing/2014/main" id="{543FCED5-C1A4-48C6-8E6F-AD8E9C14BFC5}"/>
              </a:ext>
            </a:extLst>
          </p:cNvPr>
          <p:cNvSpPr txBox="1"/>
          <p:nvPr/>
        </p:nvSpPr>
        <p:spPr>
          <a:xfrm>
            <a:off x="2989238" y="1600132"/>
            <a:ext cx="1514740" cy="990015"/>
          </a:xfrm>
          <a:prstGeom prst="rect">
            <a:avLst/>
          </a:prstGeom>
          <a:noFill/>
        </p:spPr>
        <p:txBody>
          <a:bodyPr wrap="square" rtlCol="0">
            <a:spAutoFit/>
          </a:bodyPr>
          <a:lstStyle/>
          <a:p>
            <a:pPr algn="ctr">
              <a:lnSpc>
                <a:spcPts val="1400"/>
              </a:lnSpc>
            </a:pPr>
            <a:r>
              <a:rPr lang="en-US" sz="1400" dirty="0">
                <a:solidFill>
                  <a:schemeClr val="accent1">
                    <a:lumMod val="75000"/>
                  </a:schemeClr>
                </a:solidFill>
              </a:rPr>
              <a:t>Anti-lymphocytes/ anti- IL-2 Ab’s</a:t>
            </a:r>
          </a:p>
          <a:p>
            <a:pPr algn="ctr">
              <a:lnSpc>
                <a:spcPts val="1400"/>
              </a:lnSpc>
            </a:pPr>
            <a:r>
              <a:rPr lang="en-US" sz="1400" dirty="0">
                <a:solidFill>
                  <a:schemeClr val="accent1">
                    <a:lumMod val="75000"/>
                  </a:schemeClr>
                </a:solidFill>
              </a:rPr>
              <a:t>+</a:t>
            </a:r>
          </a:p>
          <a:p>
            <a:pPr algn="ctr">
              <a:lnSpc>
                <a:spcPts val="1400"/>
              </a:lnSpc>
            </a:pPr>
            <a:r>
              <a:rPr lang="en-US" sz="1400" dirty="0">
                <a:solidFill>
                  <a:schemeClr val="accent1">
                    <a:lumMod val="75000"/>
                  </a:schemeClr>
                </a:solidFill>
              </a:rPr>
              <a:t>Steroids </a:t>
            </a:r>
          </a:p>
        </p:txBody>
      </p:sp>
      <p:sp>
        <p:nvSpPr>
          <p:cNvPr id="91" name="TextBox 90">
            <a:extLst>
              <a:ext uri="{FF2B5EF4-FFF2-40B4-BE49-F238E27FC236}">
                <a16:creationId xmlns:a16="http://schemas.microsoft.com/office/drawing/2014/main" id="{CD210524-3BDD-4521-BC34-2F3881D4BD90}"/>
              </a:ext>
            </a:extLst>
          </p:cNvPr>
          <p:cNvSpPr txBox="1"/>
          <p:nvPr/>
        </p:nvSpPr>
        <p:spPr>
          <a:xfrm>
            <a:off x="440016" y="3557991"/>
            <a:ext cx="7656167" cy="280076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The “</a:t>
            </a:r>
            <a:r>
              <a:rPr lang="en-US" sz="1600" dirty="0" err="1"/>
              <a:t>allogenicity</a:t>
            </a:r>
            <a:r>
              <a:rPr lang="en-US" sz="1600" dirty="0"/>
              <a:t>” of a transplant can be thought of as the likelihood of rejection. Immediately after transplant this is very high. </a:t>
            </a:r>
          </a:p>
          <a:p>
            <a:pPr marL="285750" indent="-285750">
              <a:buFont typeface="Arial" panose="020B0604020202020204" pitchFamily="34" charset="0"/>
              <a:buChar char="•"/>
            </a:pPr>
            <a:r>
              <a:rPr lang="en-US" sz="1600" dirty="0"/>
              <a:t>Induction -  (</a:t>
            </a:r>
            <a:r>
              <a:rPr lang="en-US" sz="1600" i="1" dirty="0"/>
              <a:t>click</a:t>
            </a:r>
            <a:r>
              <a:rPr lang="en-US" sz="1600" dirty="0"/>
              <a:t>) immunosuppression is used immediately after a transplant. This typically consists of anti-lymphocyte antibodies (e.g., anti-thymocyte globulin) or anti-IL-2 antibodies in addition to high dose steroids. The exact regimen depends on the transplant. </a:t>
            </a:r>
          </a:p>
          <a:p>
            <a:pPr marL="285750" indent="-285750">
              <a:buFont typeface="Arial" panose="020B0604020202020204" pitchFamily="34" charset="0"/>
              <a:buChar char="•"/>
            </a:pPr>
            <a:r>
              <a:rPr lang="en-US" sz="1600" dirty="0"/>
              <a:t>Maintenance   (</a:t>
            </a:r>
            <a:r>
              <a:rPr lang="en-US" sz="1600" i="1" dirty="0"/>
              <a:t>click</a:t>
            </a:r>
            <a:r>
              <a:rPr lang="en-US" sz="1600" dirty="0"/>
              <a:t>) immunosuppression consists predominantly of 3 med classes. </a:t>
            </a:r>
          </a:p>
          <a:p>
            <a:pPr marL="573088" lvl="1" indent="-115888">
              <a:buFont typeface="Arial" panose="020B0604020202020204" pitchFamily="34" charset="0"/>
              <a:buChar char="•"/>
            </a:pPr>
            <a:r>
              <a:rPr lang="en-US" sz="1600" dirty="0"/>
              <a:t>Calcineurin inhibitors – tacrolimus, cyclosporine</a:t>
            </a:r>
          </a:p>
          <a:p>
            <a:pPr marL="573088" lvl="1" indent="-115888">
              <a:buFont typeface="Arial" panose="020B0604020202020204" pitchFamily="34" charset="0"/>
              <a:buChar char="•"/>
            </a:pPr>
            <a:r>
              <a:rPr lang="en-US" sz="1600" dirty="0"/>
              <a:t>Anti-metabolites – azathioprine, </a:t>
            </a:r>
            <a:r>
              <a:rPr lang="en-US" sz="1600" dirty="0" err="1"/>
              <a:t>mycophenolate</a:t>
            </a:r>
            <a:r>
              <a:rPr lang="en-US" sz="1600" dirty="0"/>
              <a:t> </a:t>
            </a:r>
          </a:p>
          <a:p>
            <a:pPr marL="573088" lvl="1" indent="-115888">
              <a:buFont typeface="Arial" panose="020B0604020202020204" pitchFamily="34" charset="0"/>
              <a:buChar char="•"/>
            </a:pPr>
            <a:r>
              <a:rPr lang="en-US" sz="1600" dirty="0"/>
              <a:t>Steroids – predominantly prednisone</a:t>
            </a:r>
          </a:p>
          <a:p>
            <a:pPr marL="573088" lvl="1" indent="-115888">
              <a:buFont typeface="Arial" panose="020B0604020202020204" pitchFamily="34" charset="0"/>
              <a:buChar char="•"/>
            </a:pPr>
            <a:r>
              <a:rPr lang="en-US" sz="1600" dirty="0"/>
              <a:t>Other classes include mTOR inhibitors (</a:t>
            </a:r>
            <a:r>
              <a:rPr lang="en-US" sz="1600" dirty="0" err="1"/>
              <a:t>everolimus</a:t>
            </a:r>
            <a:r>
              <a:rPr lang="en-US" sz="1600" dirty="0"/>
              <a:t>, sirolimus)</a:t>
            </a:r>
          </a:p>
        </p:txBody>
      </p:sp>
      <p:grpSp>
        <p:nvGrpSpPr>
          <p:cNvPr id="92" name="Group 91">
            <a:extLst>
              <a:ext uri="{FF2B5EF4-FFF2-40B4-BE49-F238E27FC236}">
                <a16:creationId xmlns:a16="http://schemas.microsoft.com/office/drawing/2014/main" id="{1EAC96C3-1B81-4310-8F89-C7D9A57892B7}"/>
              </a:ext>
            </a:extLst>
          </p:cNvPr>
          <p:cNvGrpSpPr/>
          <p:nvPr/>
        </p:nvGrpSpPr>
        <p:grpSpPr>
          <a:xfrm>
            <a:off x="8224862" y="4483042"/>
            <a:ext cx="3811536" cy="923330"/>
            <a:chOff x="2988182" y="4617196"/>
            <a:chExt cx="4025715" cy="923330"/>
          </a:xfrm>
        </p:grpSpPr>
        <p:sp>
          <p:nvSpPr>
            <p:cNvPr id="93" name="Star: 5 Points 92">
              <a:extLst>
                <a:ext uri="{FF2B5EF4-FFF2-40B4-BE49-F238E27FC236}">
                  <a16:creationId xmlns:a16="http://schemas.microsoft.com/office/drawing/2014/main" id="{1D656C61-9965-4587-8B62-75BC901F382F}"/>
                </a:ext>
              </a:extLst>
            </p:cNvPr>
            <p:cNvSpPr/>
            <p:nvPr/>
          </p:nvSpPr>
          <p:spPr>
            <a:xfrm>
              <a:off x="2988182" y="4827593"/>
              <a:ext cx="438912" cy="414528"/>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i="1"/>
            </a:p>
          </p:txBody>
        </p:sp>
        <p:sp>
          <p:nvSpPr>
            <p:cNvPr id="94" name="TextBox 93">
              <a:extLst>
                <a:ext uri="{FF2B5EF4-FFF2-40B4-BE49-F238E27FC236}">
                  <a16:creationId xmlns:a16="http://schemas.microsoft.com/office/drawing/2014/main" id="{1BDF2D29-750C-4DDC-9EBE-31F47C804C5C}"/>
                </a:ext>
              </a:extLst>
            </p:cNvPr>
            <p:cNvSpPr txBox="1"/>
            <p:nvPr/>
          </p:nvSpPr>
          <p:spPr>
            <a:xfrm>
              <a:off x="3547872" y="4617196"/>
              <a:ext cx="3466025" cy="923330"/>
            </a:xfrm>
            <a:prstGeom prst="rect">
              <a:avLst/>
            </a:prstGeom>
            <a:noFill/>
          </p:spPr>
          <p:txBody>
            <a:bodyPr wrap="square" rtlCol="0">
              <a:spAutoFit/>
            </a:bodyPr>
            <a:lstStyle/>
            <a:p>
              <a:r>
                <a:rPr lang="en-US" i="1" dirty="0"/>
                <a:t>Click on the “Induction” and “Maintenance” buttons.</a:t>
              </a:r>
            </a:p>
            <a:p>
              <a:r>
                <a:rPr lang="en-US" i="1" dirty="0"/>
                <a:t>Then click anywhere to continue. </a:t>
              </a:r>
            </a:p>
          </p:txBody>
        </p:sp>
      </p:grpSp>
      <p:sp>
        <p:nvSpPr>
          <p:cNvPr id="95" name="Induction">
            <a:extLst>
              <a:ext uri="{FF2B5EF4-FFF2-40B4-BE49-F238E27FC236}">
                <a16:creationId xmlns:a16="http://schemas.microsoft.com/office/drawing/2014/main" id="{8A083823-C497-46D6-839A-4328C4584FCD}"/>
              </a:ext>
            </a:extLst>
          </p:cNvPr>
          <p:cNvSpPr/>
          <p:nvPr/>
        </p:nvSpPr>
        <p:spPr>
          <a:xfrm>
            <a:off x="651710" y="4075349"/>
            <a:ext cx="1082012" cy="250037"/>
          </a:xfrm>
          <a:prstGeom prst="roundRect">
            <a:avLst/>
          </a:prstGeom>
          <a:solidFill>
            <a:schemeClr val="accent1">
              <a:lumMod val="75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Induction</a:t>
            </a:r>
          </a:p>
        </p:txBody>
      </p:sp>
      <p:sp>
        <p:nvSpPr>
          <p:cNvPr id="96" name="Maintenance">
            <a:extLst>
              <a:ext uri="{FF2B5EF4-FFF2-40B4-BE49-F238E27FC236}">
                <a16:creationId xmlns:a16="http://schemas.microsoft.com/office/drawing/2014/main" id="{00E8F683-C9AE-43DE-B438-9A86EC8F946D}"/>
              </a:ext>
            </a:extLst>
          </p:cNvPr>
          <p:cNvSpPr/>
          <p:nvPr/>
        </p:nvSpPr>
        <p:spPr>
          <a:xfrm>
            <a:off x="654832" y="5078972"/>
            <a:ext cx="1316533" cy="237651"/>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Maintenance</a:t>
            </a:r>
          </a:p>
        </p:txBody>
      </p:sp>
      <p:sp>
        <p:nvSpPr>
          <p:cNvPr id="97" name="TextBox 96">
            <a:extLst>
              <a:ext uri="{FF2B5EF4-FFF2-40B4-BE49-F238E27FC236}">
                <a16:creationId xmlns:a16="http://schemas.microsoft.com/office/drawing/2014/main" id="{4AFA88FF-B044-4947-8517-5B46104A9A08}"/>
              </a:ext>
            </a:extLst>
          </p:cNvPr>
          <p:cNvSpPr txBox="1"/>
          <p:nvPr/>
        </p:nvSpPr>
        <p:spPr>
          <a:xfrm>
            <a:off x="8207787" y="3434880"/>
            <a:ext cx="3828610" cy="30469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The likelihood of rejection decreases over time and the degree of immunosuppression can be decreased accordingly. </a:t>
            </a:r>
          </a:p>
          <a:p>
            <a:pPr marL="285750" indent="-176213">
              <a:buFont typeface="Arial" panose="020B0604020202020204" pitchFamily="34" charset="0"/>
              <a:buChar char="•"/>
            </a:pPr>
            <a:r>
              <a:rPr lang="en-US" sz="1600" dirty="0"/>
              <a:t>Because lung transplants are most likely to reject, these patients are typically on all 3 classes of immunosuppressants even years after a transplant.</a:t>
            </a:r>
          </a:p>
          <a:p>
            <a:pPr marL="285750" indent="-176213">
              <a:buFont typeface="Arial" panose="020B0604020202020204" pitchFamily="34" charset="0"/>
              <a:buChar char="•"/>
            </a:pPr>
            <a:r>
              <a:rPr lang="en-US" sz="1600" dirty="0"/>
              <a:t>Heart/kidney transplant patients will typically be on a CNI, anti-metabolite, and sometimes a steroid. </a:t>
            </a:r>
          </a:p>
          <a:p>
            <a:pPr marL="285750" indent="-176213">
              <a:buFont typeface="Arial" panose="020B0604020202020204" pitchFamily="34" charset="0"/>
              <a:buChar char="•"/>
            </a:pPr>
            <a:r>
              <a:rPr lang="en-US" sz="1600" dirty="0"/>
              <a:t>Liver transplant patients may only be on a CNI several years after transplant. </a:t>
            </a:r>
          </a:p>
        </p:txBody>
      </p:sp>
      <p:sp>
        <p:nvSpPr>
          <p:cNvPr id="98" name="TextBox 97">
            <a:extLst>
              <a:ext uri="{FF2B5EF4-FFF2-40B4-BE49-F238E27FC236}">
                <a16:creationId xmlns:a16="http://schemas.microsoft.com/office/drawing/2014/main" id="{AA8BB894-E7DF-4D20-B08F-F1D5E30F5256}"/>
              </a:ext>
            </a:extLst>
          </p:cNvPr>
          <p:cNvSpPr txBox="1"/>
          <p:nvPr/>
        </p:nvSpPr>
        <p:spPr>
          <a:xfrm>
            <a:off x="3277542" y="126369"/>
            <a:ext cx="4522839" cy="461665"/>
          </a:xfrm>
          <a:prstGeom prst="rect">
            <a:avLst/>
          </a:prstGeom>
          <a:noFill/>
        </p:spPr>
        <p:txBody>
          <a:bodyPr wrap="square" rtlCol="0">
            <a:spAutoFit/>
          </a:bodyPr>
          <a:lstStyle/>
          <a:p>
            <a:pPr algn="ctr"/>
            <a:r>
              <a:rPr lang="en-US" sz="2400" dirty="0"/>
              <a:t>TRANSPLANT MEDICINE</a:t>
            </a:r>
          </a:p>
        </p:txBody>
      </p:sp>
      <p:sp>
        <p:nvSpPr>
          <p:cNvPr id="64" name="TextBox 63">
            <a:extLst>
              <a:ext uri="{FF2B5EF4-FFF2-40B4-BE49-F238E27FC236}">
                <a16:creationId xmlns:a16="http://schemas.microsoft.com/office/drawing/2014/main" id="{8E38AC69-8200-4900-9592-031A35FD123E}"/>
              </a:ext>
            </a:extLst>
          </p:cNvPr>
          <p:cNvSpPr txBox="1"/>
          <p:nvPr/>
        </p:nvSpPr>
        <p:spPr>
          <a:xfrm>
            <a:off x="6262703" y="3112485"/>
            <a:ext cx="694250" cy="307777"/>
          </a:xfrm>
          <a:prstGeom prst="rect">
            <a:avLst/>
          </a:prstGeom>
          <a:noFill/>
        </p:spPr>
        <p:txBody>
          <a:bodyPr wrap="square" rtlCol="0">
            <a:spAutoFit/>
          </a:bodyPr>
          <a:lstStyle/>
          <a:p>
            <a:pPr algn="ctr"/>
            <a:r>
              <a:rPr lang="en-US" sz="1400" dirty="0"/>
              <a:t>6 </a:t>
            </a:r>
            <a:r>
              <a:rPr lang="en-US" sz="1400" dirty="0" err="1"/>
              <a:t>mos</a:t>
            </a:r>
            <a:endParaRPr lang="en-US" sz="1400" dirty="0"/>
          </a:p>
        </p:txBody>
      </p:sp>
      <p:sp>
        <p:nvSpPr>
          <p:cNvPr id="78" name="TextBox 77">
            <a:extLst>
              <a:ext uri="{FF2B5EF4-FFF2-40B4-BE49-F238E27FC236}">
                <a16:creationId xmlns:a16="http://schemas.microsoft.com/office/drawing/2014/main" id="{112AC8C4-9B76-4A79-9292-44878E9828A4}"/>
              </a:ext>
            </a:extLst>
          </p:cNvPr>
          <p:cNvSpPr txBox="1"/>
          <p:nvPr/>
        </p:nvSpPr>
        <p:spPr>
          <a:xfrm>
            <a:off x="4193394" y="3112574"/>
            <a:ext cx="694250" cy="307777"/>
          </a:xfrm>
          <a:prstGeom prst="rect">
            <a:avLst/>
          </a:prstGeom>
          <a:noFill/>
        </p:spPr>
        <p:txBody>
          <a:bodyPr wrap="square" rtlCol="0">
            <a:spAutoFit/>
          </a:bodyPr>
          <a:lstStyle/>
          <a:p>
            <a:pPr algn="ctr"/>
            <a:r>
              <a:rPr lang="en-US" sz="1400" dirty="0"/>
              <a:t>1 </a:t>
            </a:r>
            <a:r>
              <a:rPr lang="en-US" sz="1400" dirty="0" err="1"/>
              <a:t>mo</a:t>
            </a:r>
            <a:endParaRPr lang="en-US" sz="1400" dirty="0"/>
          </a:p>
        </p:txBody>
      </p:sp>
    </p:spTree>
    <p:extLst>
      <p:ext uri="{BB962C8B-B14F-4D97-AF65-F5344CB8AC3E}">
        <p14:creationId xmlns:p14="http://schemas.microsoft.com/office/powerpoint/2010/main" val="350736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9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96"/>
                                        </p:tgtEl>
                                        <p:attrNameLst>
                                          <p:attrName>style.visibility</p:attrName>
                                        </p:attrNameLst>
                                      </p:cBhvr>
                                      <p:to>
                                        <p:strVal val="hidden"/>
                                      </p:to>
                                    </p:set>
                                  </p:childTnLst>
                                </p:cTn>
                              </p:par>
                              <p:par>
                                <p:cTn id="11" presetID="1" presetClass="entr" presetSubtype="0" fill="hold" grpId="1" nodeType="withEffect">
                                  <p:stCondLst>
                                    <p:cond delay="0"/>
                                  </p:stCondLst>
                                  <p:childTnLst>
                                    <p:set>
                                      <p:cBhvr>
                                        <p:cTn id="12" dur="1" fill="hold">
                                          <p:stCondLst>
                                            <p:cond delay="0"/>
                                          </p:stCondLst>
                                        </p:cTn>
                                        <p:tgtEl>
                                          <p:spTgt spid="9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92"/>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1" restart="whenNotActive" fill="hold" evtFilter="cancelBubble" nodeType="interactiveSeq">
                <p:stCondLst>
                  <p:cond evt="onClick" delay="0">
                    <p:tgtEl>
                      <p:spTgt spid="95"/>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0"/>
                                        </p:tgtEl>
                                        <p:attrNameLst>
                                          <p:attrName>style.visibility</p:attrName>
                                        </p:attrNameLst>
                                      </p:cBhvr>
                                      <p:to>
                                        <p:strVal val="visible"/>
                                      </p:to>
                                    </p:set>
                                  </p:childTnLst>
                                </p:cTn>
                              </p:par>
                            </p:childTnLst>
                          </p:cTn>
                        </p:par>
                      </p:childTnLst>
                    </p:cTn>
                  </p:par>
                </p:childTnLst>
              </p:cTn>
              <p:nextCondLst>
                <p:cond evt="onClick" delay="0">
                  <p:tgtEl>
                    <p:spTgt spid="95"/>
                  </p:tgtEl>
                </p:cond>
              </p:nextCondLst>
            </p:seq>
            <p:seq concurrent="1" nextAc="seek">
              <p:cTn id="26" restart="whenNotActive" fill="hold" evtFilter="cancelBubble" nodeType="interactiveSeq">
                <p:stCondLst>
                  <p:cond evt="onClick" delay="0">
                    <p:tgtEl>
                      <p:spTgt spid="96"/>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childTnLst>
              </p:cTn>
              <p:nextCondLst>
                <p:cond evt="onClick" delay="0">
                  <p:tgtEl>
                    <p:spTgt spid="96"/>
                  </p:tgtEl>
                </p:cond>
              </p:nextCondLst>
            </p:seq>
          </p:childTnLst>
        </p:cTn>
      </p:par>
    </p:tnLst>
    <p:bldLst>
      <p:bldP spid="75" grpId="0"/>
      <p:bldP spid="76" grpId="0"/>
      <p:bldP spid="77" grpId="0"/>
      <p:bldP spid="89" grpId="0"/>
      <p:bldP spid="90" grpId="0"/>
      <p:bldP spid="91" grpId="0" animBg="1"/>
      <p:bldP spid="95" grpId="0" animBg="1"/>
      <p:bldP spid="96" grpId="0" animBg="1"/>
      <p:bldP spid="9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125">
            <a:extLst>
              <a:ext uri="{FF2B5EF4-FFF2-40B4-BE49-F238E27FC236}">
                <a16:creationId xmlns:a16="http://schemas.microsoft.com/office/drawing/2014/main" id="{84E44470-1E1E-44C6-B573-52D020EB81B3}"/>
              </a:ext>
            </a:extLst>
          </p:cNvPr>
          <p:cNvGrpSpPr/>
          <p:nvPr/>
        </p:nvGrpSpPr>
        <p:grpSpPr>
          <a:xfrm>
            <a:off x="439588" y="894912"/>
            <a:ext cx="8181670" cy="5884540"/>
            <a:chOff x="440016" y="889196"/>
            <a:chExt cx="8181670" cy="5884540"/>
          </a:xfrm>
        </p:grpSpPr>
        <p:cxnSp>
          <p:nvCxnSpPr>
            <p:cNvPr id="127" name="Straight Connector 126">
              <a:extLst>
                <a:ext uri="{FF2B5EF4-FFF2-40B4-BE49-F238E27FC236}">
                  <a16:creationId xmlns:a16="http://schemas.microsoft.com/office/drawing/2014/main" id="{75F54D8F-4EDF-4F28-ADE6-2AB9142A52C2}"/>
                </a:ext>
              </a:extLst>
            </p:cNvPr>
            <p:cNvCxnSpPr>
              <a:cxnSpLocks/>
            </p:cNvCxnSpPr>
            <p:nvPr/>
          </p:nvCxnSpPr>
          <p:spPr>
            <a:xfrm flipV="1">
              <a:off x="2673170" y="1258529"/>
              <a:ext cx="0" cy="185829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22EBA8B6-7B0A-4812-B798-C128C7FE5A6C}"/>
                </a:ext>
              </a:extLst>
            </p:cNvPr>
            <p:cNvCxnSpPr>
              <a:cxnSpLocks/>
            </p:cNvCxnSpPr>
            <p:nvPr/>
          </p:nvCxnSpPr>
          <p:spPr>
            <a:xfrm flipV="1">
              <a:off x="2673170" y="3116826"/>
              <a:ext cx="5948516" cy="1"/>
            </a:xfrm>
            <a:prstGeom prst="line">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29" name="TextBox 128">
              <a:extLst>
                <a:ext uri="{FF2B5EF4-FFF2-40B4-BE49-F238E27FC236}">
                  <a16:creationId xmlns:a16="http://schemas.microsoft.com/office/drawing/2014/main" id="{D3AFB54E-4EBA-4D14-80F3-086290A846D6}"/>
                </a:ext>
              </a:extLst>
            </p:cNvPr>
            <p:cNvSpPr txBox="1"/>
            <p:nvPr/>
          </p:nvSpPr>
          <p:spPr>
            <a:xfrm>
              <a:off x="2833036" y="889197"/>
              <a:ext cx="1859423" cy="369332"/>
            </a:xfrm>
            <a:prstGeom prst="rect">
              <a:avLst/>
            </a:prstGeom>
            <a:noFill/>
          </p:spPr>
          <p:txBody>
            <a:bodyPr wrap="square" rtlCol="0">
              <a:spAutoFit/>
            </a:bodyPr>
            <a:lstStyle/>
            <a:p>
              <a:pPr algn="ctr"/>
              <a:r>
                <a:rPr lang="en-US" dirty="0"/>
                <a:t>INDUCTION</a:t>
              </a:r>
            </a:p>
          </p:txBody>
        </p:sp>
        <p:sp>
          <p:nvSpPr>
            <p:cNvPr id="130" name="TextBox 129">
              <a:extLst>
                <a:ext uri="{FF2B5EF4-FFF2-40B4-BE49-F238E27FC236}">
                  <a16:creationId xmlns:a16="http://schemas.microsoft.com/office/drawing/2014/main" id="{EE4BF840-EE07-474C-A494-68FBE8505FA1}"/>
                </a:ext>
              </a:extLst>
            </p:cNvPr>
            <p:cNvSpPr txBox="1"/>
            <p:nvPr/>
          </p:nvSpPr>
          <p:spPr>
            <a:xfrm>
              <a:off x="4817804" y="889196"/>
              <a:ext cx="2090597" cy="369332"/>
            </a:xfrm>
            <a:prstGeom prst="rect">
              <a:avLst/>
            </a:prstGeom>
            <a:noFill/>
          </p:spPr>
          <p:txBody>
            <a:bodyPr wrap="square" rtlCol="0">
              <a:spAutoFit/>
            </a:bodyPr>
            <a:lstStyle/>
            <a:p>
              <a:pPr algn="ctr"/>
              <a:r>
                <a:rPr lang="en-US" dirty="0"/>
                <a:t>MAINTENANCE</a:t>
              </a:r>
            </a:p>
          </p:txBody>
        </p:sp>
        <p:sp>
          <p:nvSpPr>
            <p:cNvPr id="131" name="TextBox 130">
              <a:extLst>
                <a:ext uri="{FF2B5EF4-FFF2-40B4-BE49-F238E27FC236}">
                  <a16:creationId xmlns:a16="http://schemas.microsoft.com/office/drawing/2014/main" id="{936C6C56-CC82-4DFC-B9F5-3AD66B688FEE}"/>
                </a:ext>
              </a:extLst>
            </p:cNvPr>
            <p:cNvSpPr txBox="1"/>
            <p:nvPr/>
          </p:nvSpPr>
          <p:spPr>
            <a:xfrm rot="16200000">
              <a:off x="1331382" y="2063562"/>
              <a:ext cx="2251587" cy="338554"/>
            </a:xfrm>
            <a:prstGeom prst="rect">
              <a:avLst/>
            </a:prstGeom>
            <a:noFill/>
          </p:spPr>
          <p:txBody>
            <a:bodyPr wrap="square" rtlCol="0">
              <a:spAutoFit/>
            </a:bodyPr>
            <a:lstStyle/>
            <a:p>
              <a:pPr algn="ctr"/>
              <a:r>
                <a:rPr lang="en-US" sz="1600" dirty="0" err="1"/>
                <a:t>Allogenicity</a:t>
              </a:r>
              <a:endParaRPr lang="en-US" sz="1600" dirty="0"/>
            </a:p>
          </p:txBody>
        </p:sp>
        <p:cxnSp>
          <p:nvCxnSpPr>
            <p:cNvPr id="132" name="Straight Connector 131">
              <a:extLst>
                <a:ext uri="{FF2B5EF4-FFF2-40B4-BE49-F238E27FC236}">
                  <a16:creationId xmlns:a16="http://schemas.microsoft.com/office/drawing/2014/main" id="{055ABDD8-C828-41A3-A7A8-434644FD8745}"/>
                </a:ext>
              </a:extLst>
            </p:cNvPr>
            <p:cNvCxnSpPr>
              <a:cxnSpLocks/>
            </p:cNvCxnSpPr>
            <p:nvPr/>
          </p:nvCxnSpPr>
          <p:spPr>
            <a:xfrm flipH="1">
              <a:off x="4802178" y="1301340"/>
              <a:ext cx="15626" cy="5472396"/>
            </a:xfrm>
            <a:prstGeom prst="line">
              <a:avLst/>
            </a:prstGeom>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C5779225-6152-407F-ADA8-F27F341CE731}"/>
                </a:ext>
              </a:extLst>
            </p:cNvPr>
            <p:cNvCxnSpPr>
              <a:cxnSpLocks/>
            </p:cNvCxnSpPr>
            <p:nvPr/>
          </p:nvCxnSpPr>
          <p:spPr>
            <a:xfrm>
              <a:off x="6908401" y="1301340"/>
              <a:ext cx="8563" cy="5472396"/>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0570C249-E5A6-4829-8083-3980D106C239}"/>
                </a:ext>
              </a:extLst>
            </p:cNvPr>
            <p:cNvCxnSpPr>
              <a:cxnSpLocks/>
            </p:cNvCxnSpPr>
            <p:nvPr/>
          </p:nvCxnSpPr>
          <p:spPr>
            <a:xfrm flipH="1">
              <a:off x="2673169" y="3077496"/>
              <a:ext cx="1" cy="3676099"/>
            </a:xfrm>
            <a:prstGeom prst="line">
              <a:avLst/>
            </a:prstGeom>
            <a:ln w="6350"/>
          </p:spPr>
          <p:style>
            <a:lnRef idx="1">
              <a:schemeClr val="dk1"/>
            </a:lnRef>
            <a:fillRef idx="0">
              <a:schemeClr val="dk1"/>
            </a:fillRef>
            <a:effectRef idx="0">
              <a:schemeClr val="dk1"/>
            </a:effectRef>
            <a:fontRef idx="minor">
              <a:schemeClr val="tx1"/>
            </a:fontRef>
          </p:style>
        </p:cxnSp>
        <p:sp>
          <p:nvSpPr>
            <p:cNvPr id="135" name="TextBox 134">
              <a:extLst>
                <a:ext uri="{FF2B5EF4-FFF2-40B4-BE49-F238E27FC236}">
                  <a16:creationId xmlns:a16="http://schemas.microsoft.com/office/drawing/2014/main" id="{8625E11E-FE56-4504-81CC-0F60CD18BEED}"/>
                </a:ext>
              </a:extLst>
            </p:cNvPr>
            <p:cNvSpPr txBox="1"/>
            <p:nvPr/>
          </p:nvSpPr>
          <p:spPr>
            <a:xfrm>
              <a:off x="446802" y="2024841"/>
              <a:ext cx="2025446" cy="369332"/>
            </a:xfrm>
            <a:prstGeom prst="rect">
              <a:avLst/>
            </a:prstGeom>
            <a:noFill/>
          </p:spPr>
          <p:txBody>
            <a:bodyPr wrap="square" rtlCol="0">
              <a:spAutoFit/>
            </a:bodyPr>
            <a:lstStyle/>
            <a:p>
              <a:pPr algn="ctr"/>
              <a:r>
                <a:rPr lang="en-US" dirty="0">
                  <a:solidFill>
                    <a:schemeClr val="accent1"/>
                  </a:solidFill>
                </a:rPr>
                <a:t>MEDICATIONS</a:t>
              </a:r>
            </a:p>
          </p:txBody>
        </p:sp>
        <p:sp>
          <p:nvSpPr>
            <p:cNvPr id="136" name="TextBox 135">
              <a:extLst>
                <a:ext uri="{FF2B5EF4-FFF2-40B4-BE49-F238E27FC236}">
                  <a16:creationId xmlns:a16="http://schemas.microsoft.com/office/drawing/2014/main" id="{B9D10671-8C09-4E8D-BAE8-FC1BEAAEBFE1}"/>
                </a:ext>
              </a:extLst>
            </p:cNvPr>
            <p:cNvSpPr txBox="1"/>
            <p:nvPr/>
          </p:nvSpPr>
          <p:spPr>
            <a:xfrm>
              <a:off x="6262915" y="3107093"/>
              <a:ext cx="694250" cy="307777"/>
            </a:xfrm>
            <a:prstGeom prst="rect">
              <a:avLst/>
            </a:prstGeom>
            <a:noFill/>
          </p:spPr>
          <p:txBody>
            <a:bodyPr wrap="square" rtlCol="0">
              <a:spAutoFit/>
            </a:bodyPr>
            <a:lstStyle/>
            <a:p>
              <a:pPr algn="ctr"/>
              <a:r>
                <a:rPr lang="en-US" sz="1400" dirty="0"/>
                <a:t>6 </a:t>
              </a:r>
              <a:r>
                <a:rPr lang="en-US" sz="1400" dirty="0" err="1"/>
                <a:t>mos</a:t>
              </a:r>
              <a:endParaRPr lang="en-US" sz="1400" dirty="0"/>
            </a:p>
          </p:txBody>
        </p:sp>
        <p:sp>
          <p:nvSpPr>
            <p:cNvPr id="137" name="TextBox 136">
              <a:extLst>
                <a:ext uri="{FF2B5EF4-FFF2-40B4-BE49-F238E27FC236}">
                  <a16:creationId xmlns:a16="http://schemas.microsoft.com/office/drawing/2014/main" id="{B2808B8D-E59C-4CDB-9BDF-DEA15BC466BA}"/>
                </a:ext>
              </a:extLst>
            </p:cNvPr>
            <p:cNvSpPr txBox="1"/>
            <p:nvPr/>
          </p:nvSpPr>
          <p:spPr>
            <a:xfrm>
              <a:off x="4193606" y="3107182"/>
              <a:ext cx="694250" cy="307777"/>
            </a:xfrm>
            <a:prstGeom prst="rect">
              <a:avLst/>
            </a:prstGeom>
            <a:noFill/>
          </p:spPr>
          <p:txBody>
            <a:bodyPr wrap="square" rtlCol="0">
              <a:spAutoFit/>
            </a:bodyPr>
            <a:lstStyle/>
            <a:p>
              <a:pPr algn="ctr"/>
              <a:r>
                <a:rPr lang="en-US" sz="1400" dirty="0"/>
                <a:t>1 </a:t>
              </a:r>
              <a:r>
                <a:rPr lang="en-US" sz="1400" dirty="0" err="1"/>
                <a:t>mo</a:t>
              </a:r>
              <a:endParaRPr lang="en-US" sz="1400" dirty="0"/>
            </a:p>
          </p:txBody>
        </p:sp>
        <p:sp>
          <p:nvSpPr>
            <p:cNvPr id="138" name="TextBox 137">
              <a:extLst>
                <a:ext uri="{FF2B5EF4-FFF2-40B4-BE49-F238E27FC236}">
                  <a16:creationId xmlns:a16="http://schemas.microsoft.com/office/drawing/2014/main" id="{38AC8DED-DB4A-464C-9DA3-F91428B38AEF}"/>
                </a:ext>
              </a:extLst>
            </p:cNvPr>
            <p:cNvSpPr txBox="1"/>
            <p:nvPr/>
          </p:nvSpPr>
          <p:spPr>
            <a:xfrm>
              <a:off x="440016" y="3122059"/>
              <a:ext cx="2025446" cy="369332"/>
            </a:xfrm>
            <a:prstGeom prst="rect">
              <a:avLst/>
            </a:prstGeom>
            <a:noFill/>
          </p:spPr>
          <p:txBody>
            <a:bodyPr wrap="square" rtlCol="0">
              <a:spAutoFit/>
            </a:bodyPr>
            <a:lstStyle/>
            <a:p>
              <a:pPr algn="ctr"/>
              <a:r>
                <a:rPr lang="en-US" dirty="0"/>
                <a:t>COMPLICATIONS</a:t>
              </a:r>
            </a:p>
          </p:txBody>
        </p:sp>
        <p:sp>
          <p:nvSpPr>
            <p:cNvPr id="139" name="Freeform: Shape 138">
              <a:extLst>
                <a:ext uri="{FF2B5EF4-FFF2-40B4-BE49-F238E27FC236}">
                  <a16:creationId xmlns:a16="http://schemas.microsoft.com/office/drawing/2014/main" id="{BFEAE051-4438-4B74-9C81-B2D373375CFD}"/>
                </a:ext>
              </a:extLst>
            </p:cNvPr>
            <p:cNvSpPr/>
            <p:nvPr/>
          </p:nvSpPr>
          <p:spPr>
            <a:xfrm>
              <a:off x="2723536" y="1269631"/>
              <a:ext cx="5869858" cy="1807865"/>
            </a:xfrm>
            <a:custGeom>
              <a:avLst/>
              <a:gdLst>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67896 w 5899355"/>
                <a:gd name="connsiteY5" fmla="*/ 1404187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48231 w 5899355"/>
                <a:gd name="connsiteY5" fmla="*/ 1276368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0453 h 1820453"/>
                <a:gd name="connsiteX1" fmla="*/ 462116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0453 h 1820453"/>
                <a:gd name="connsiteX1" fmla="*/ 412955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5752 h 1825752"/>
                <a:gd name="connsiteX1" fmla="*/ 412955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899355"/>
                <a:gd name="connsiteY0" fmla="*/ 1825752 h 1825752"/>
                <a:gd name="connsiteX1" fmla="*/ 363794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938684"/>
                <a:gd name="connsiteY0" fmla="*/ 1825752 h 1825752"/>
                <a:gd name="connsiteX1" fmla="*/ 403123 w 5938684"/>
                <a:gd name="connsiteY1" fmla="*/ 940848 h 1825752"/>
                <a:gd name="connsiteX2" fmla="*/ 806245 w 5938684"/>
                <a:gd name="connsiteY2" fmla="*/ 105107 h 1825752"/>
                <a:gd name="connsiteX3" fmla="*/ 1238864 w 5938684"/>
                <a:gd name="connsiteY3" fmla="*/ 85442 h 1825752"/>
                <a:gd name="connsiteX4" fmla="*/ 1887793 w 5938684"/>
                <a:gd name="connsiteY4" fmla="*/ 773700 h 1825752"/>
                <a:gd name="connsiteX5" fmla="*/ 2487560 w 5938684"/>
                <a:gd name="connsiteY5" fmla="*/ 1275145 h 1825752"/>
                <a:gd name="connsiteX6" fmla="*/ 3932903 w 5938684"/>
                <a:gd name="connsiteY6" fmla="*/ 1609442 h 1825752"/>
                <a:gd name="connsiteX7" fmla="*/ 4906296 w 5938684"/>
                <a:gd name="connsiteY7" fmla="*/ 1678268 h 1825752"/>
                <a:gd name="connsiteX8" fmla="*/ 5938684 w 5938684"/>
                <a:gd name="connsiteY8" fmla="*/ 1688100 h 1825752"/>
                <a:gd name="connsiteX0" fmla="*/ 0 w 5919020"/>
                <a:gd name="connsiteY0" fmla="*/ 1727429 h 1727429"/>
                <a:gd name="connsiteX1" fmla="*/ 383459 w 5919020"/>
                <a:gd name="connsiteY1" fmla="*/ 940848 h 1727429"/>
                <a:gd name="connsiteX2" fmla="*/ 786581 w 5919020"/>
                <a:gd name="connsiteY2" fmla="*/ 105107 h 1727429"/>
                <a:gd name="connsiteX3" fmla="*/ 1219200 w 5919020"/>
                <a:gd name="connsiteY3" fmla="*/ 85442 h 1727429"/>
                <a:gd name="connsiteX4" fmla="*/ 1868129 w 5919020"/>
                <a:gd name="connsiteY4" fmla="*/ 773700 h 1727429"/>
                <a:gd name="connsiteX5" fmla="*/ 2467896 w 5919020"/>
                <a:gd name="connsiteY5" fmla="*/ 1275145 h 1727429"/>
                <a:gd name="connsiteX6" fmla="*/ 3913239 w 5919020"/>
                <a:gd name="connsiteY6" fmla="*/ 1609442 h 1727429"/>
                <a:gd name="connsiteX7" fmla="*/ 4886632 w 5919020"/>
                <a:gd name="connsiteY7" fmla="*/ 1678268 h 1727429"/>
                <a:gd name="connsiteX8" fmla="*/ 5919020 w 5919020"/>
                <a:gd name="connsiteY8" fmla="*/ 1688100 h 1727429"/>
                <a:gd name="connsiteX0" fmla="*/ 0 w 5869858"/>
                <a:gd name="connsiteY0" fmla="*/ 1796255 h 1796255"/>
                <a:gd name="connsiteX1" fmla="*/ 334297 w 5869858"/>
                <a:gd name="connsiteY1" fmla="*/ 940848 h 1796255"/>
                <a:gd name="connsiteX2" fmla="*/ 737419 w 5869858"/>
                <a:gd name="connsiteY2" fmla="*/ 105107 h 1796255"/>
                <a:gd name="connsiteX3" fmla="*/ 1170038 w 5869858"/>
                <a:gd name="connsiteY3" fmla="*/ 85442 h 1796255"/>
                <a:gd name="connsiteX4" fmla="*/ 1818967 w 5869858"/>
                <a:gd name="connsiteY4" fmla="*/ 773700 h 1796255"/>
                <a:gd name="connsiteX5" fmla="*/ 2418734 w 5869858"/>
                <a:gd name="connsiteY5" fmla="*/ 1275145 h 1796255"/>
                <a:gd name="connsiteX6" fmla="*/ 3864077 w 5869858"/>
                <a:gd name="connsiteY6" fmla="*/ 1609442 h 1796255"/>
                <a:gd name="connsiteX7" fmla="*/ 4837470 w 5869858"/>
                <a:gd name="connsiteY7" fmla="*/ 1678268 h 1796255"/>
                <a:gd name="connsiteX8" fmla="*/ 5869858 w 5869858"/>
                <a:gd name="connsiteY8" fmla="*/ 1688100 h 1796255"/>
                <a:gd name="connsiteX0" fmla="*/ 0 w 5869858"/>
                <a:gd name="connsiteY0" fmla="*/ 1785760 h 1785760"/>
                <a:gd name="connsiteX1" fmla="*/ 422788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96231 h 1796231"/>
                <a:gd name="connsiteX1" fmla="*/ 383459 w 5869858"/>
                <a:gd name="connsiteY1" fmla="*/ 763844 h 1796231"/>
                <a:gd name="connsiteX2" fmla="*/ 688258 w 5869858"/>
                <a:gd name="connsiteY2" fmla="*/ 85419 h 1796231"/>
                <a:gd name="connsiteX3" fmla="*/ 1170038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796231 h 1796231"/>
                <a:gd name="connsiteX1" fmla="*/ 383459 w 5869858"/>
                <a:gd name="connsiteY1" fmla="*/ 763844 h 1796231"/>
                <a:gd name="connsiteX2" fmla="*/ 688258 w 5869858"/>
                <a:gd name="connsiteY2" fmla="*/ 85419 h 1796231"/>
                <a:gd name="connsiteX3" fmla="*/ 1199535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18734 w 5869858"/>
                <a:gd name="connsiteY5" fmla="*/ 1286755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9858" h="1807865">
                  <a:moveTo>
                    <a:pt x="0" y="1807865"/>
                  </a:moveTo>
                  <a:cubicBezTo>
                    <a:pt x="160593" y="1507980"/>
                    <a:pt x="268749" y="1060613"/>
                    <a:pt x="383459" y="775478"/>
                  </a:cubicBezTo>
                  <a:cubicBezTo>
                    <a:pt x="498169" y="490343"/>
                    <a:pt x="548968" y="213401"/>
                    <a:pt x="688258" y="97053"/>
                  </a:cubicBezTo>
                  <a:cubicBezTo>
                    <a:pt x="827548" y="-19295"/>
                    <a:pt x="1030749" y="-37322"/>
                    <a:pt x="1219200" y="77387"/>
                  </a:cubicBezTo>
                  <a:cubicBezTo>
                    <a:pt x="1407651" y="192096"/>
                    <a:pt x="1612490" y="582110"/>
                    <a:pt x="1818967" y="785310"/>
                  </a:cubicBezTo>
                  <a:cubicBezTo>
                    <a:pt x="2025444" y="988510"/>
                    <a:pt x="2077882" y="1137633"/>
                    <a:pt x="2458063" y="1296587"/>
                  </a:cubicBezTo>
                  <a:cubicBezTo>
                    <a:pt x="2838244" y="1455541"/>
                    <a:pt x="3467509" y="1555504"/>
                    <a:pt x="3864077" y="1621052"/>
                  </a:cubicBezTo>
                  <a:cubicBezTo>
                    <a:pt x="4260645" y="1686600"/>
                    <a:pt x="4503173" y="1676768"/>
                    <a:pt x="4837470" y="1689878"/>
                  </a:cubicBezTo>
                  <a:cubicBezTo>
                    <a:pt x="5171767" y="1702988"/>
                    <a:pt x="5520812" y="1701349"/>
                    <a:pt x="5869858" y="1699710"/>
                  </a:cubicBez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accent6"/>
                </a:solidFill>
              </a:endParaRPr>
            </a:p>
          </p:txBody>
        </p:sp>
        <p:sp>
          <p:nvSpPr>
            <p:cNvPr id="140" name="TextBox 139">
              <a:extLst>
                <a:ext uri="{FF2B5EF4-FFF2-40B4-BE49-F238E27FC236}">
                  <a16:creationId xmlns:a16="http://schemas.microsoft.com/office/drawing/2014/main" id="{70587AD1-7D49-486D-A14D-BB36FCCF590A}"/>
                </a:ext>
              </a:extLst>
            </p:cNvPr>
            <p:cNvSpPr txBox="1"/>
            <p:nvPr/>
          </p:nvSpPr>
          <p:spPr>
            <a:xfrm>
              <a:off x="5028155" y="1595090"/>
              <a:ext cx="1643246" cy="992516"/>
            </a:xfrm>
            <a:prstGeom prst="rect">
              <a:avLst/>
            </a:prstGeom>
            <a:noFill/>
          </p:spPr>
          <p:txBody>
            <a:bodyPr wrap="square" rtlCol="0">
              <a:spAutoFit/>
            </a:bodyPr>
            <a:lstStyle/>
            <a:p>
              <a:pPr algn="ctr">
                <a:lnSpc>
                  <a:spcPts val="1400"/>
                </a:lnSpc>
              </a:pPr>
              <a:r>
                <a:rPr lang="en-US" sz="1600" dirty="0">
                  <a:solidFill>
                    <a:schemeClr val="accent1"/>
                  </a:solidFill>
                </a:rPr>
                <a:t>CNI</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Anti-metabolites</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prednisone</a:t>
              </a:r>
            </a:p>
          </p:txBody>
        </p:sp>
        <p:sp>
          <p:nvSpPr>
            <p:cNvPr id="141" name="TextBox 140">
              <a:extLst>
                <a:ext uri="{FF2B5EF4-FFF2-40B4-BE49-F238E27FC236}">
                  <a16:creationId xmlns:a16="http://schemas.microsoft.com/office/drawing/2014/main" id="{3A41A0F8-4EF0-4BC9-8210-6FB1C2734265}"/>
                </a:ext>
              </a:extLst>
            </p:cNvPr>
            <p:cNvSpPr txBox="1"/>
            <p:nvPr/>
          </p:nvSpPr>
          <p:spPr>
            <a:xfrm>
              <a:off x="2989238" y="1600132"/>
              <a:ext cx="1514740" cy="990015"/>
            </a:xfrm>
            <a:prstGeom prst="rect">
              <a:avLst/>
            </a:prstGeom>
            <a:noFill/>
          </p:spPr>
          <p:txBody>
            <a:bodyPr wrap="square" rtlCol="0">
              <a:spAutoFit/>
            </a:bodyPr>
            <a:lstStyle/>
            <a:p>
              <a:pPr algn="ctr">
                <a:lnSpc>
                  <a:spcPts val="1400"/>
                </a:lnSpc>
              </a:pPr>
              <a:r>
                <a:rPr lang="en-US" sz="1400" dirty="0">
                  <a:solidFill>
                    <a:schemeClr val="accent1"/>
                  </a:solidFill>
                </a:rPr>
                <a:t>Anti-lymphocytes/ anti- IL-2 Ab’s</a:t>
              </a:r>
            </a:p>
            <a:p>
              <a:pPr algn="ctr">
                <a:lnSpc>
                  <a:spcPts val="1400"/>
                </a:lnSpc>
              </a:pPr>
              <a:r>
                <a:rPr lang="en-US" sz="1400" dirty="0">
                  <a:solidFill>
                    <a:schemeClr val="accent1"/>
                  </a:solidFill>
                </a:rPr>
                <a:t>+</a:t>
              </a:r>
            </a:p>
            <a:p>
              <a:pPr algn="ctr">
                <a:lnSpc>
                  <a:spcPts val="1400"/>
                </a:lnSpc>
              </a:pPr>
              <a:r>
                <a:rPr lang="en-US" sz="1400" dirty="0">
                  <a:solidFill>
                    <a:schemeClr val="accent1"/>
                  </a:solidFill>
                </a:rPr>
                <a:t>Steroids </a:t>
              </a:r>
            </a:p>
          </p:txBody>
        </p:sp>
      </p:grpSp>
      <p:sp>
        <p:nvSpPr>
          <p:cNvPr id="54" name="Rectangle: Rounded Corners 53">
            <a:hlinkClick r:id="rId2" action="ppaction://hlinksldjump"/>
            <a:extLst>
              <a:ext uri="{FF2B5EF4-FFF2-40B4-BE49-F238E27FC236}">
                <a16:creationId xmlns:a16="http://schemas.microsoft.com/office/drawing/2014/main" id="{59407DAA-8B4F-4F8A-9A2B-B4E8B93809B2}"/>
              </a:ext>
            </a:extLst>
          </p:cNvPr>
          <p:cNvSpPr/>
          <p:nvPr/>
        </p:nvSpPr>
        <p:spPr>
          <a:xfrm>
            <a:off x="150210" y="130162"/>
            <a:ext cx="2505702"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Balancing immunosuppression</a:t>
            </a:r>
          </a:p>
        </p:txBody>
      </p:sp>
      <p:sp>
        <p:nvSpPr>
          <p:cNvPr id="56" name="Rectangle: Rounded Corners 55">
            <a:hlinkClick r:id="rId3" action="ppaction://hlinksldjump"/>
            <a:extLst>
              <a:ext uri="{FF2B5EF4-FFF2-40B4-BE49-F238E27FC236}">
                <a16:creationId xmlns:a16="http://schemas.microsoft.com/office/drawing/2014/main" id="{FA6C6A86-3567-4A9E-A3B9-37423F02567C}"/>
              </a:ext>
            </a:extLst>
          </p:cNvPr>
          <p:cNvSpPr/>
          <p:nvPr/>
        </p:nvSpPr>
        <p:spPr>
          <a:xfrm>
            <a:off x="152202" y="439292"/>
            <a:ext cx="2224966"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Induction vs. maintenance</a:t>
            </a:r>
          </a:p>
        </p:txBody>
      </p:sp>
      <p:sp>
        <p:nvSpPr>
          <p:cNvPr id="57" name="Rectangle: Rounded Corners 56">
            <a:extLst>
              <a:ext uri="{FF2B5EF4-FFF2-40B4-BE49-F238E27FC236}">
                <a16:creationId xmlns:a16="http://schemas.microsoft.com/office/drawing/2014/main" id="{8BFDD2CC-549A-4ECA-840A-BFF7A8A35EF4}"/>
              </a:ext>
            </a:extLst>
          </p:cNvPr>
          <p:cNvSpPr/>
          <p:nvPr/>
        </p:nvSpPr>
        <p:spPr>
          <a:xfrm>
            <a:off x="148322" y="758064"/>
            <a:ext cx="1313704" cy="2763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Complications</a:t>
            </a:r>
          </a:p>
        </p:txBody>
      </p:sp>
      <p:grpSp>
        <p:nvGrpSpPr>
          <p:cNvPr id="68" name="Group 67">
            <a:extLst>
              <a:ext uri="{FF2B5EF4-FFF2-40B4-BE49-F238E27FC236}">
                <a16:creationId xmlns:a16="http://schemas.microsoft.com/office/drawing/2014/main" id="{298B3F85-CCB0-42FA-915F-85DA56A91D20}"/>
              </a:ext>
            </a:extLst>
          </p:cNvPr>
          <p:cNvGrpSpPr/>
          <p:nvPr/>
        </p:nvGrpSpPr>
        <p:grpSpPr>
          <a:xfrm>
            <a:off x="2672740" y="3266952"/>
            <a:ext cx="6026138" cy="633443"/>
            <a:chOff x="2683443" y="3450169"/>
            <a:chExt cx="6026138" cy="633443"/>
          </a:xfrm>
        </p:grpSpPr>
        <p:cxnSp>
          <p:nvCxnSpPr>
            <p:cNvPr id="86" name="Straight Arrow Connector 85">
              <a:extLst>
                <a:ext uri="{FF2B5EF4-FFF2-40B4-BE49-F238E27FC236}">
                  <a16:creationId xmlns:a16="http://schemas.microsoft.com/office/drawing/2014/main" id="{3588417C-11E8-4B6C-9244-7B28FDE557C9}"/>
                </a:ext>
              </a:extLst>
            </p:cNvPr>
            <p:cNvCxnSpPr>
              <a:cxnSpLocks/>
            </p:cNvCxnSpPr>
            <p:nvPr/>
          </p:nvCxnSpPr>
          <p:spPr>
            <a:xfrm>
              <a:off x="2683443" y="3814532"/>
              <a:ext cx="4212446"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05200443-A11C-4F5A-AB95-76EE60494672}"/>
                </a:ext>
              </a:extLst>
            </p:cNvPr>
            <p:cNvSpPr txBox="1"/>
            <p:nvPr/>
          </p:nvSpPr>
          <p:spPr>
            <a:xfrm>
              <a:off x="4203095" y="3606530"/>
              <a:ext cx="1414600" cy="451406"/>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 25% with acute rejection</a:t>
              </a:r>
            </a:p>
          </p:txBody>
        </p:sp>
        <p:cxnSp>
          <p:nvCxnSpPr>
            <p:cNvPr id="99" name="Straight Arrow Connector 98">
              <a:extLst>
                <a:ext uri="{FF2B5EF4-FFF2-40B4-BE49-F238E27FC236}">
                  <a16:creationId xmlns:a16="http://schemas.microsoft.com/office/drawing/2014/main" id="{2C5778DA-4546-44E2-A06E-056B75751E15}"/>
                </a:ext>
              </a:extLst>
            </p:cNvPr>
            <p:cNvCxnSpPr>
              <a:cxnSpLocks/>
            </p:cNvCxnSpPr>
            <p:nvPr/>
          </p:nvCxnSpPr>
          <p:spPr>
            <a:xfrm flipV="1">
              <a:off x="6807132" y="3807933"/>
              <a:ext cx="1902449" cy="6402"/>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FA57F96E-6749-4372-A06B-01276DD89B72}"/>
                </a:ext>
              </a:extLst>
            </p:cNvPr>
            <p:cNvSpPr txBox="1"/>
            <p:nvPr/>
          </p:nvSpPr>
          <p:spPr>
            <a:xfrm>
              <a:off x="7098664" y="3450169"/>
              <a:ext cx="1440150" cy="633443"/>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Uncommon &gt; 6 </a:t>
              </a:r>
              <a:r>
                <a:rPr lang="en-US" sz="1400" dirty="0" err="1">
                  <a:solidFill>
                    <a:srgbClr val="FF0000"/>
                  </a:solidFill>
                </a:rPr>
                <a:t>mos</a:t>
              </a:r>
              <a:r>
                <a:rPr lang="en-US" sz="1400" dirty="0">
                  <a:solidFill>
                    <a:srgbClr val="FF0000"/>
                  </a:solidFill>
                </a:rPr>
                <a:t> unless med non-compliance </a:t>
              </a:r>
            </a:p>
          </p:txBody>
        </p:sp>
        <p:cxnSp>
          <p:nvCxnSpPr>
            <p:cNvPr id="101" name="Straight Connector 100">
              <a:extLst>
                <a:ext uri="{FF2B5EF4-FFF2-40B4-BE49-F238E27FC236}">
                  <a16:creationId xmlns:a16="http://schemas.microsoft.com/office/drawing/2014/main" id="{D588004B-53CA-4104-9662-FD2A9C2C9958}"/>
                </a:ext>
              </a:extLst>
            </p:cNvPr>
            <p:cNvCxnSpPr>
              <a:cxnSpLocks/>
            </p:cNvCxnSpPr>
            <p:nvPr/>
          </p:nvCxnSpPr>
          <p:spPr>
            <a:xfrm flipV="1">
              <a:off x="6916536" y="3645058"/>
              <a:ext cx="0" cy="33855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43" name="TextBox 142">
            <a:extLst>
              <a:ext uri="{FF2B5EF4-FFF2-40B4-BE49-F238E27FC236}">
                <a16:creationId xmlns:a16="http://schemas.microsoft.com/office/drawing/2014/main" id="{7083B45B-7F2A-4BC0-9BC7-D3242A14AD04}"/>
              </a:ext>
            </a:extLst>
          </p:cNvPr>
          <p:cNvSpPr txBox="1"/>
          <p:nvPr/>
        </p:nvSpPr>
        <p:spPr>
          <a:xfrm>
            <a:off x="3277542" y="126369"/>
            <a:ext cx="4522839" cy="461665"/>
          </a:xfrm>
          <a:prstGeom prst="rect">
            <a:avLst/>
          </a:prstGeom>
          <a:noFill/>
        </p:spPr>
        <p:txBody>
          <a:bodyPr wrap="square" rtlCol="0">
            <a:spAutoFit/>
          </a:bodyPr>
          <a:lstStyle/>
          <a:p>
            <a:pPr algn="ctr"/>
            <a:r>
              <a:rPr lang="en-US" sz="2400" dirty="0"/>
              <a:t>TRANSPLANT MEDICINE</a:t>
            </a:r>
          </a:p>
        </p:txBody>
      </p:sp>
      <p:sp>
        <p:nvSpPr>
          <p:cNvPr id="41" name="Rejection">
            <a:extLst>
              <a:ext uri="{FF2B5EF4-FFF2-40B4-BE49-F238E27FC236}">
                <a16:creationId xmlns:a16="http://schemas.microsoft.com/office/drawing/2014/main" id="{39064210-E44E-4882-A3F1-AD7146BD1798}"/>
              </a:ext>
            </a:extLst>
          </p:cNvPr>
          <p:cNvSpPr txBox="1"/>
          <p:nvPr/>
        </p:nvSpPr>
        <p:spPr>
          <a:xfrm>
            <a:off x="1046335" y="3620648"/>
            <a:ext cx="1150374" cy="374571"/>
          </a:xfrm>
          <a:prstGeom prst="roundRect">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Rejection</a:t>
            </a:r>
          </a:p>
        </p:txBody>
      </p:sp>
      <p:sp>
        <p:nvSpPr>
          <p:cNvPr id="42" name="Infections">
            <a:hlinkClick r:id="rId4" action="ppaction://hlinksldjump"/>
            <a:extLst>
              <a:ext uri="{FF2B5EF4-FFF2-40B4-BE49-F238E27FC236}">
                <a16:creationId xmlns:a16="http://schemas.microsoft.com/office/drawing/2014/main" id="{B6D7BF53-D49F-4974-B493-C7C7B415D3ED}"/>
              </a:ext>
            </a:extLst>
          </p:cNvPr>
          <p:cNvSpPr txBox="1"/>
          <p:nvPr/>
        </p:nvSpPr>
        <p:spPr>
          <a:xfrm>
            <a:off x="1053116" y="4559499"/>
            <a:ext cx="1150374" cy="374571"/>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n-US" sz="1600" dirty="0">
                <a:solidFill>
                  <a:schemeClr val="bg1"/>
                </a:solidFill>
              </a:rPr>
              <a:t>Infections </a:t>
            </a:r>
          </a:p>
        </p:txBody>
      </p:sp>
      <p:sp>
        <p:nvSpPr>
          <p:cNvPr id="44" name="Surgical">
            <a:extLst>
              <a:ext uri="{FF2B5EF4-FFF2-40B4-BE49-F238E27FC236}">
                <a16:creationId xmlns:a16="http://schemas.microsoft.com/office/drawing/2014/main" id="{2FDD95E0-EA21-4722-8D46-D9C300B177A7}"/>
              </a:ext>
            </a:extLst>
          </p:cNvPr>
          <p:cNvSpPr txBox="1"/>
          <p:nvPr/>
        </p:nvSpPr>
        <p:spPr>
          <a:xfrm>
            <a:off x="1046335" y="6254884"/>
            <a:ext cx="1179401" cy="374571"/>
          </a:xfrm>
          <a:prstGeom prst="roundRect">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600" dirty="0">
                <a:solidFill>
                  <a:schemeClr val="bg1"/>
                </a:solidFill>
              </a:rPr>
              <a:t>Surgical</a:t>
            </a:r>
          </a:p>
        </p:txBody>
      </p:sp>
      <p:sp>
        <p:nvSpPr>
          <p:cNvPr id="45" name="Medication effects">
            <a:extLst>
              <a:ext uri="{FF2B5EF4-FFF2-40B4-BE49-F238E27FC236}">
                <a16:creationId xmlns:a16="http://schemas.microsoft.com/office/drawing/2014/main" id="{D20EA066-23FD-4BC0-952F-89885B4765CD}"/>
              </a:ext>
            </a:extLst>
          </p:cNvPr>
          <p:cNvSpPr txBox="1"/>
          <p:nvPr/>
        </p:nvSpPr>
        <p:spPr>
          <a:xfrm>
            <a:off x="8154245" y="897862"/>
            <a:ext cx="1936019" cy="374571"/>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Medication Effects</a:t>
            </a:r>
          </a:p>
        </p:txBody>
      </p:sp>
      <p:grpSp>
        <p:nvGrpSpPr>
          <p:cNvPr id="27" name="Group 26">
            <a:extLst>
              <a:ext uri="{FF2B5EF4-FFF2-40B4-BE49-F238E27FC236}">
                <a16:creationId xmlns:a16="http://schemas.microsoft.com/office/drawing/2014/main" id="{5D08241B-2BDD-412F-BE6A-9044E47BE2B8}"/>
              </a:ext>
            </a:extLst>
          </p:cNvPr>
          <p:cNvGrpSpPr/>
          <p:nvPr/>
        </p:nvGrpSpPr>
        <p:grpSpPr>
          <a:xfrm>
            <a:off x="5230146" y="1336226"/>
            <a:ext cx="6101576" cy="1300372"/>
            <a:chOff x="5230146" y="1336226"/>
            <a:chExt cx="6101576" cy="1300372"/>
          </a:xfrm>
        </p:grpSpPr>
        <p:cxnSp>
          <p:nvCxnSpPr>
            <p:cNvPr id="14" name="Straight Connector 13">
              <a:extLst>
                <a:ext uri="{FF2B5EF4-FFF2-40B4-BE49-F238E27FC236}">
                  <a16:creationId xmlns:a16="http://schemas.microsoft.com/office/drawing/2014/main" id="{03CCC700-D757-4F53-BAD6-B22D39D29AF4}"/>
                </a:ext>
              </a:extLst>
            </p:cNvPr>
            <p:cNvCxnSpPr>
              <a:cxnSpLocks/>
            </p:cNvCxnSpPr>
            <p:nvPr/>
          </p:nvCxnSpPr>
          <p:spPr>
            <a:xfrm>
              <a:off x="5230146" y="1867669"/>
              <a:ext cx="5992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79960F0-2853-4385-82B8-141B28576ECD}"/>
                </a:ext>
              </a:extLst>
            </p:cNvPr>
            <p:cNvCxnSpPr>
              <a:cxnSpLocks/>
            </p:cNvCxnSpPr>
            <p:nvPr/>
          </p:nvCxnSpPr>
          <p:spPr>
            <a:xfrm>
              <a:off x="5230146" y="2278833"/>
              <a:ext cx="5992036"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1072DB-EBD9-46A2-A8F5-DDC915D011BA}"/>
                </a:ext>
              </a:extLst>
            </p:cNvPr>
            <p:cNvSpPr txBox="1"/>
            <p:nvPr/>
          </p:nvSpPr>
          <p:spPr>
            <a:xfrm>
              <a:off x="6956737" y="1336226"/>
              <a:ext cx="4339116" cy="584775"/>
            </a:xfrm>
            <a:prstGeom prst="rect">
              <a:avLst/>
            </a:prstGeom>
            <a:noFill/>
          </p:spPr>
          <p:txBody>
            <a:bodyPr wrap="square" rtlCol="0">
              <a:spAutoFit/>
            </a:bodyPr>
            <a:lstStyle/>
            <a:p>
              <a:pPr algn="ctr"/>
              <a:r>
                <a:rPr lang="en-US" sz="1600" dirty="0"/>
                <a:t>Nephrotoxicity, neurotoxicity, </a:t>
              </a:r>
              <a:r>
                <a:rPr lang="en-US" sz="1600" dirty="0">
                  <a:sym typeface="Wingdings" panose="05000000000000000000" pitchFamily="2" charset="2"/>
                </a:rPr>
                <a:t> K and uric acid, metabolic syndrome</a:t>
              </a:r>
              <a:r>
                <a:rPr lang="en-US" sz="1600" dirty="0"/>
                <a:t> </a:t>
              </a:r>
            </a:p>
          </p:txBody>
        </p:sp>
        <p:sp>
          <p:nvSpPr>
            <p:cNvPr id="65" name="TextBox 64">
              <a:extLst>
                <a:ext uri="{FF2B5EF4-FFF2-40B4-BE49-F238E27FC236}">
                  <a16:creationId xmlns:a16="http://schemas.microsoft.com/office/drawing/2014/main" id="{6D27AF8F-ECEC-4F56-BED3-B6B8017BDE1A}"/>
                </a:ext>
              </a:extLst>
            </p:cNvPr>
            <p:cNvSpPr txBox="1"/>
            <p:nvPr/>
          </p:nvSpPr>
          <p:spPr>
            <a:xfrm>
              <a:off x="6924181" y="1904378"/>
              <a:ext cx="4396149" cy="338554"/>
            </a:xfrm>
            <a:prstGeom prst="rect">
              <a:avLst/>
            </a:prstGeom>
            <a:noFill/>
          </p:spPr>
          <p:txBody>
            <a:bodyPr wrap="square" rtlCol="0">
              <a:spAutoFit/>
            </a:bodyPr>
            <a:lstStyle/>
            <a:p>
              <a:pPr algn="ctr"/>
              <a:r>
                <a:rPr lang="en-US" sz="1600" dirty="0"/>
                <a:t>Bone marrow suppression, </a:t>
              </a:r>
              <a:r>
                <a:rPr lang="en-US" sz="1600" dirty="0">
                  <a:sym typeface="Wingdings" panose="05000000000000000000" pitchFamily="2" charset="2"/>
                </a:rPr>
                <a:t>GI side effects (colitis)</a:t>
              </a:r>
              <a:endParaRPr lang="en-US" sz="1600" dirty="0"/>
            </a:p>
          </p:txBody>
        </p:sp>
        <p:sp>
          <p:nvSpPr>
            <p:cNvPr id="72" name="TextBox 71">
              <a:extLst>
                <a:ext uri="{FF2B5EF4-FFF2-40B4-BE49-F238E27FC236}">
                  <a16:creationId xmlns:a16="http://schemas.microsoft.com/office/drawing/2014/main" id="{821A7257-F42A-4F45-B8A4-6F4A69E89B1D}"/>
                </a:ext>
              </a:extLst>
            </p:cNvPr>
            <p:cNvSpPr txBox="1"/>
            <p:nvPr/>
          </p:nvSpPr>
          <p:spPr>
            <a:xfrm>
              <a:off x="6935573" y="2298044"/>
              <a:ext cx="4396149" cy="338554"/>
            </a:xfrm>
            <a:prstGeom prst="rect">
              <a:avLst/>
            </a:prstGeom>
            <a:noFill/>
          </p:spPr>
          <p:txBody>
            <a:bodyPr wrap="square" rtlCol="0">
              <a:spAutoFit/>
            </a:bodyPr>
            <a:lstStyle/>
            <a:p>
              <a:pPr algn="ctr"/>
              <a:r>
                <a:rPr lang="en-US" sz="1600" dirty="0"/>
                <a:t>Metabolic syndrome</a:t>
              </a:r>
            </a:p>
          </p:txBody>
        </p:sp>
      </p:grpSp>
      <p:sp>
        <p:nvSpPr>
          <p:cNvPr id="43" name="Malignancy">
            <a:hlinkClick r:id="rId5" action="ppaction://hlinksldjump"/>
            <a:extLst>
              <a:ext uri="{FF2B5EF4-FFF2-40B4-BE49-F238E27FC236}">
                <a16:creationId xmlns:a16="http://schemas.microsoft.com/office/drawing/2014/main" id="{998A2006-5016-4509-ABB1-C0C287129BE5}"/>
              </a:ext>
            </a:extLst>
          </p:cNvPr>
          <p:cNvSpPr txBox="1"/>
          <p:nvPr/>
        </p:nvSpPr>
        <p:spPr>
          <a:xfrm>
            <a:off x="1007226" y="5515898"/>
            <a:ext cx="1271179" cy="374571"/>
          </a:xfrm>
          <a:prstGeom prst="roundRect">
            <a:avLst/>
          </a:prstGeom>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sz="1600" dirty="0">
                <a:solidFill>
                  <a:schemeClr val="bg1"/>
                </a:solidFill>
              </a:rPr>
              <a:t>Malignancy</a:t>
            </a:r>
          </a:p>
        </p:txBody>
      </p:sp>
      <p:sp>
        <p:nvSpPr>
          <p:cNvPr id="59" name="TextBox 58">
            <a:extLst>
              <a:ext uri="{FF2B5EF4-FFF2-40B4-BE49-F238E27FC236}">
                <a16:creationId xmlns:a16="http://schemas.microsoft.com/office/drawing/2014/main" id="{CE26D5E7-F2E6-421F-B722-567BFFD41690}"/>
              </a:ext>
            </a:extLst>
          </p:cNvPr>
          <p:cNvSpPr txBox="1"/>
          <p:nvPr/>
        </p:nvSpPr>
        <p:spPr>
          <a:xfrm>
            <a:off x="8933036" y="2747579"/>
            <a:ext cx="3095535" cy="403187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Rejection can be divided into acute rejection and chronic rejection. </a:t>
            </a:r>
          </a:p>
          <a:p>
            <a:pPr marL="119063" indent="-119063">
              <a:buFont typeface="Arial" panose="020B0604020202020204" pitchFamily="34" charset="0"/>
              <a:buChar char="•"/>
            </a:pPr>
            <a:r>
              <a:rPr lang="en-US" sz="1600" dirty="0"/>
              <a:t>Acute rejection is further separated into cellular and humoral rejection. </a:t>
            </a:r>
          </a:p>
          <a:p>
            <a:pPr marL="576263" lvl="1" indent="-119063">
              <a:buFont typeface="Arial" panose="020B0604020202020204" pitchFamily="34" charset="0"/>
              <a:buChar char="•"/>
            </a:pPr>
            <a:r>
              <a:rPr lang="en-US" sz="1600" dirty="0"/>
              <a:t>Acute cellular rejection is T-cell mediated and is diagnosed on biopsy. </a:t>
            </a:r>
          </a:p>
          <a:p>
            <a:pPr marL="576263" lvl="1" indent="-119063">
              <a:buFont typeface="Arial" panose="020B0604020202020204" pitchFamily="34" charset="0"/>
              <a:buChar char="•"/>
            </a:pPr>
            <a:r>
              <a:rPr lang="en-US" sz="1600" dirty="0"/>
              <a:t>Acute humoral rejection is antibody mediated and can be diagnosed on biopsy or by presence of donor-specific antibodies. </a:t>
            </a:r>
          </a:p>
          <a:p>
            <a:pPr marL="119063" indent="-119063">
              <a:buFont typeface="Arial" panose="020B0604020202020204" pitchFamily="34" charset="0"/>
              <a:buChar char="•"/>
            </a:pPr>
            <a:r>
              <a:rPr lang="en-US" sz="1600" dirty="0"/>
              <a:t>Chronic rejection can occur in certain organ transplants (lung and kidney are common).</a:t>
            </a:r>
          </a:p>
        </p:txBody>
      </p:sp>
      <p:grpSp>
        <p:nvGrpSpPr>
          <p:cNvPr id="3" name="Group 2">
            <a:extLst>
              <a:ext uri="{FF2B5EF4-FFF2-40B4-BE49-F238E27FC236}">
                <a16:creationId xmlns:a16="http://schemas.microsoft.com/office/drawing/2014/main" id="{D8AB42DD-4CF4-4DB5-9097-6EEC28FC0FDE}"/>
              </a:ext>
            </a:extLst>
          </p:cNvPr>
          <p:cNvGrpSpPr/>
          <p:nvPr/>
        </p:nvGrpSpPr>
        <p:grpSpPr>
          <a:xfrm>
            <a:off x="5870448" y="3866977"/>
            <a:ext cx="2827093" cy="274370"/>
            <a:chOff x="5870448" y="3866977"/>
            <a:chExt cx="2827093" cy="274370"/>
          </a:xfrm>
        </p:grpSpPr>
        <p:cxnSp>
          <p:nvCxnSpPr>
            <p:cNvPr id="60" name="Straight Arrow Connector 59">
              <a:extLst>
                <a:ext uri="{FF2B5EF4-FFF2-40B4-BE49-F238E27FC236}">
                  <a16:creationId xmlns:a16="http://schemas.microsoft.com/office/drawing/2014/main" id="{4ECECBC4-CBB2-426F-B7B9-890AFDDD5D46}"/>
                </a:ext>
              </a:extLst>
            </p:cNvPr>
            <p:cNvCxnSpPr>
              <a:cxnSpLocks/>
            </p:cNvCxnSpPr>
            <p:nvPr/>
          </p:nvCxnSpPr>
          <p:spPr>
            <a:xfrm>
              <a:off x="5870448" y="3982933"/>
              <a:ext cx="2827093"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97C2ECD-A17C-4CD9-90EE-DDD284B956A1}"/>
                </a:ext>
              </a:extLst>
            </p:cNvPr>
            <p:cNvSpPr txBox="1"/>
            <p:nvPr/>
          </p:nvSpPr>
          <p:spPr>
            <a:xfrm>
              <a:off x="6215564" y="3866977"/>
              <a:ext cx="1535463" cy="274370"/>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Chronic rejection</a:t>
              </a:r>
            </a:p>
          </p:txBody>
        </p:sp>
      </p:grpSp>
      <p:grpSp>
        <p:nvGrpSpPr>
          <p:cNvPr id="7" name="Group 6">
            <a:extLst>
              <a:ext uri="{FF2B5EF4-FFF2-40B4-BE49-F238E27FC236}">
                <a16:creationId xmlns:a16="http://schemas.microsoft.com/office/drawing/2014/main" id="{015E9DAF-ABE7-4596-B5DD-16CBD8866E93}"/>
              </a:ext>
            </a:extLst>
          </p:cNvPr>
          <p:cNvGrpSpPr/>
          <p:nvPr/>
        </p:nvGrpSpPr>
        <p:grpSpPr>
          <a:xfrm>
            <a:off x="2749328" y="6318685"/>
            <a:ext cx="5913980" cy="310770"/>
            <a:chOff x="2749328" y="6318685"/>
            <a:chExt cx="5913980" cy="310770"/>
          </a:xfrm>
        </p:grpSpPr>
        <p:grpSp>
          <p:nvGrpSpPr>
            <p:cNvPr id="67" name="Group 66">
              <a:extLst>
                <a:ext uri="{FF2B5EF4-FFF2-40B4-BE49-F238E27FC236}">
                  <a16:creationId xmlns:a16="http://schemas.microsoft.com/office/drawing/2014/main" id="{C69CE812-BB47-43EE-9583-1F2E91FACE0D}"/>
                </a:ext>
              </a:extLst>
            </p:cNvPr>
            <p:cNvGrpSpPr/>
            <p:nvPr/>
          </p:nvGrpSpPr>
          <p:grpSpPr>
            <a:xfrm>
              <a:off x="2749328" y="6318685"/>
              <a:ext cx="3965408" cy="310770"/>
              <a:chOff x="2749328" y="6318685"/>
              <a:chExt cx="3965408" cy="310770"/>
            </a:xfrm>
          </p:grpSpPr>
          <p:sp>
            <p:nvSpPr>
              <p:cNvPr id="107" name="TextBox 106">
                <a:extLst>
                  <a:ext uri="{FF2B5EF4-FFF2-40B4-BE49-F238E27FC236}">
                    <a16:creationId xmlns:a16="http://schemas.microsoft.com/office/drawing/2014/main" id="{0ED16C1B-0AE1-47B6-9672-83A435C36DEF}"/>
                  </a:ext>
                </a:extLst>
              </p:cNvPr>
              <p:cNvSpPr txBox="1"/>
              <p:nvPr/>
            </p:nvSpPr>
            <p:spPr>
              <a:xfrm>
                <a:off x="2749328" y="6318685"/>
                <a:ext cx="1916496"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Leaks and kinks</a:t>
                </a:r>
              </a:p>
            </p:txBody>
          </p:sp>
          <p:sp>
            <p:nvSpPr>
              <p:cNvPr id="108" name="TextBox 107">
                <a:extLst>
                  <a:ext uri="{FF2B5EF4-FFF2-40B4-BE49-F238E27FC236}">
                    <a16:creationId xmlns:a16="http://schemas.microsoft.com/office/drawing/2014/main" id="{97D1CE6A-0BC7-4364-A1FE-C9A2EC710C6A}"/>
                  </a:ext>
                </a:extLst>
              </p:cNvPr>
              <p:cNvSpPr txBox="1"/>
              <p:nvPr/>
            </p:nvSpPr>
            <p:spPr>
              <a:xfrm>
                <a:off x="4899692" y="6321678"/>
                <a:ext cx="1815044"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Fistulas and </a:t>
                </a:r>
                <a:r>
                  <a:rPr lang="en-US" sz="1400" dirty="0" err="1">
                    <a:solidFill>
                      <a:schemeClr val="accent6">
                        <a:lumMod val="75000"/>
                      </a:schemeClr>
                    </a:solidFill>
                  </a:rPr>
                  <a:t>stenoses</a:t>
                </a:r>
                <a:endParaRPr lang="en-US" sz="1400" dirty="0">
                  <a:solidFill>
                    <a:schemeClr val="accent6">
                      <a:lumMod val="75000"/>
                    </a:schemeClr>
                  </a:solidFill>
                </a:endParaRPr>
              </a:p>
            </p:txBody>
          </p:sp>
        </p:grpSp>
        <p:cxnSp>
          <p:nvCxnSpPr>
            <p:cNvPr id="6" name="Straight Arrow Connector 5">
              <a:extLst>
                <a:ext uri="{FF2B5EF4-FFF2-40B4-BE49-F238E27FC236}">
                  <a16:creationId xmlns:a16="http://schemas.microsoft.com/office/drawing/2014/main" id="{CBF26B90-3626-462E-9773-F50B6CC04B9A}"/>
                </a:ext>
              </a:extLst>
            </p:cNvPr>
            <p:cNvCxnSpPr>
              <a:cxnSpLocks/>
              <a:stCxn id="108" idx="3"/>
            </p:cNvCxnSpPr>
            <p:nvPr/>
          </p:nvCxnSpPr>
          <p:spPr>
            <a:xfrm flipV="1">
              <a:off x="6714736" y="6472573"/>
              <a:ext cx="1948572" cy="299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pic>
        <p:nvPicPr>
          <p:cNvPr id="9" name="Graphic 8" descr="Cursor">
            <a:extLst>
              <a:ext uri="{FF2B5EF4-FFF2-40B4-BE49-F238E27FC236}">
                <a16:creationId xmlns:a16="http://schemas.microsoft.com/office/drawing/2014/main" id="{E0258B5C-1B7A-4724-A045-C2F29DB7393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76391" y="1138132"/>
            <a:ext cx="252224" cy="252224"/>
          </a:xfrm>
          <a:prstGeom prst="rect">
            <a:avLst/>
          </a:prstGeom>
        </p:spPr>
      </p:pic>
      <p:pic>
        <p:nvPicPr>
          <p:cNvPr id="70" name="Graphic 69" descr="Cursor">
            <a:extLst>
              <a:ext uri="{FF2B5EF4-FFF2-40B4-BE49-F238E27FC236}">
                <a16:creationId xmlns:a16="http://schemas.microsoft.com/office/drawing/2014/main" id="{9814D9D3-9930-459B-91D3-8C72EEDC0B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2233" y="3890677"/>
            <a:ext cx="252224" cy="252224"/>
          </a:xfrm>
          <a:prstGeom prst="rect">
            <a:avLst/>
          </a:prstGeom>
        </p:spPr>
      </p:pic>
      <p:pic>
        <p:nvPicPr>
          <p:cNvPr id="71" name="Graphic 70" descr="Cursor">
            <a:extLst>
              <a:ext uri="{FF2B5EF4-FFF2-40B4-BE49-F238E27FC236}">
                <a16:creationId xmlns:a16="http://schemas.microsoft.com/office/drawing/2014/main" id="{85E697A6-0F25-4878-B6B9-C9B7F73A6C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86897" y="4807958"/>
            <a:ext cx="252224" cy="252224"/>
          </a:xfrm>
          <a:prstGeom prst="rect">
            <a:avLst/>
          </a:prstGeom>
        </p:spPr>
      </p:pic>
      <p:pic>
        <p:nvPicPr>
          <p:cNvPr id="73" name="Graphic 72" descr="Cursor">
            <a:extLst>
              <a:ext uri="{FF2B5EF4-FFF2-40B4-BE49-F238E27FC236}">
                <a16:creationId xmlns:a16="http://schemas.microsoft.com/office/drawing/2014/main" id="{3283DFA8-D621-4E00-9144-D5C5CD60541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46082" y="5752548"/>
            <a:ext cx="252224" cy="252224"/>
          </a:xfrm>
          <a:prstGeom prst="rect">
            <a:avLst/>
          </a:prstGeom>
        </p:spPr>
      </p:pic>
      <p:pic>
        <p:nvPicPr>
          <p:cNvPr id="74" name="Graphic 73" descr="Cursor">
            <a:extLst>
              <a:ext uri="{FF2B5EF4-FFF2-40B4-BE49-F238E27FC236}">
                <a16:creationId xmlns:a16="http://schemas.microsoft.com/office/drawing/2014/main" id="{FAF0557F-A086-4E86-B701-86AED0B5B6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07533" y="6515076"/>
            <a:ext cx="252224" cy="252224"/>
          </a:xfrm>
          <a:prstGeom prst="rect">
            <a:avLst/>
          </a:prstGeom>
        </p:spPr>
      </p:pic>
    </p:spTree>
    <p:extLst>
      <p:ext uri="{BB962C8B-B14F-4D97-AF65-F5344CB8AC3E}">
        <p14:creationId xmlns:p14="http://schemas.microsoft.com/office/powerpoint/2010/main" val="379437042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9" restart="whenNotActive" fill="hold" evtFilter="cancelBubble" nodeType="interactiveSeq">
                <p:stCondLst>
                  <p:cond evt="onClick" delay="0">
                    <p:tgtEl>
                      <p:spTgt spid="41"/>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20" restart="whenNotActive" fill="hold" evtFilter="cancelBubble" nodeType="interactiveSeq">
                <p:stCondLst>
                  <p:cond evt="onClick" delay="0">
                    <p:tgtEl>
                      <p:spTgt spid="44"/>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childTnLst>
        </p:cTn>
      </p:par>
    </p:tnLst>
    <p:bldLst>
      <p:bldP spid="5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125">
            <a:extLst>
              <a:ext uri="{FF2B5EF4-FFF2-40B4-BE49-F238E27FC236}">
                <a16:creationId xmlns:a16="http://schemas.microsoft.com/office/drawing/2014/main" id="{84E44470-1E1E-44C6-B573-52D020EB81B3}"/>
              </a:ext>
            </a:extLst>
          </p:cNvPr>
          <p:cNvGrpSpPr/>
          <p:nvPr/>
        </p:nvGrpSpPr>
        <p:grpSpPr>
          <a:xfrm>
            <a:off x="439588" y="894912"/>
            <a:ext cx="8181670" cy="5884540"/>
            <a:chOff x="440016" y="889196"/>
            <a:chExt cx="8181670" cy="5884540"/>
          </a:xfrm>
        </p:grpSpPr>
        <p:cxnSp>
          <p:nvCxnSpPr>
            <p:cNvPr id="127" name="Straight Connector 126">
              <a:extLst>
                <a:ext uri="{FF2B5EF4-FFF2-40B4-BE49-F238E27FC236}">
                  <a16:creationId xmlns:a16="http://schemas.microsoft.com/office/drawing/2014/main" id="{75F54D8F-4EDF-4F28-ADE6-2AB9142A52C2}"/>
                </a:ext>
              </a:extLst>
            </p:cNvPr>
            <p:cNvCxnSpPr>
              <a:cxnSpLocks/>
            </p:cNvCxnSpPr>
            <p:nvPr/>
          </p:nvCxnSpPr>
          <p:spPr>
            <a:xfrm flipV="1">
              <a:off x="2673170" y="1258529"/>
              <a:ext cx="0" cy="185829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22EBA8B6-7B0A-4812-B798-C128C7FE5A6C}"/>
                </a:ext>
              </a:extLst>
            </p:cNvPr>
            <p:cNvCxnSpPr>
              <a:cxnSpLocks/>
            </p:cNvCxnSpPr>
            <p:nvPr/>
          </p:nvCxnSpPr>
          <p:spPr>
            <a:xfrm flipV="1">
              <a:off x="2673170" y="3116826"/>
              <a:ext cx="5948516" cy="1"/>
            </a:xfrm>
            <a:prstGeom prst="line">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29" name="TextBox 128">
              <a:extLst>
                <a:ext uri="{FF2B5EF4-FFF2-40B4-BE49-F238E27FC236}">
                  <a16:creationId xmlns:a16="http://schemas.microsoft.com/office/drawing/2014/main" id="{D3AFB54E-4EBA-4D14-80F3-086290A846D6}"/>
                </a:ext>
              </a:extLst>
            </p:cNvPr>
            <p:cNvSpPr txBox="1"/>
            <p:nvPr/>
          </p:nvSpPr>
          <p:spPr>
            <a:xfrm>
              <a:off x="2833036" y="889197"/>
              <a:ext cx="1859423" cy="369332"/>
            </a:xfrm>
            <a:prstGeom prst="rect">
              <a:avLst/>
            </a:prstGeom>
            <a:noFill/>
          </p:spPr>
          <p:txBody>
            <a:bodyPr wrap="square" rtlCol="0">
              <a:spAutoFit/>
            </a:bodyPr>
            <a:lstStyle/>
            <a:p>
              <a:pPr algn="ctr"/>
              <a:r>
                <a:rPr lang="en-US" dirty="0"/>
                <a:t>INDUCTION</a:t>
              </a:r>
            </a:p>
          </p:txBody>
        </p:sp>
        <p:sp>
          <p:nvSpPr>
            <p:cNvPr id="130" name="TextBox 129">
              <a:extLst>
                <a:ext uri="{FF2B5EF4-FFF2-40B4-BE49-F238E27FC236}">
                  <a16:creationId xmlns:a16="http://schemas.microsoft.com/office/drawing/2014/main" id="{EE4BF840-EE07-474C-A494-68FBE8505FA1}"/>
                </a:ext>
              </a:extLst>
            </p:cNvPr>
            <p:cNvSpPr txBox="1"/>
            <p:nvPr/>
          </p:nvSpPr>
          <p:spPr>
            <a:xfrm>
              <a:off x="4817804" y="889196"/>
              <a:ext cx="2090597" cy="369332"/>
            </a:xfrm>
            <a:prstGeom prst="rect">
              <a:avLst/>
            </a:prstGeom>
            <a:noFill/>
          </p:spPr>
          <p:txBody>
            <a:bodyPr wrap="square" rtlCol="0">
              <a:spAutoFit/>
            </a:bodyPr>
            <a:lstStyle/>
            <a:p>
              <a:pPr algn="ctr"/>
              <a:r>
                <a:rPr lang="en-US" dirty="0"/>
                <a:t>MAINTENANCE</a:t>
              </a:r>
            </a:p>
          </p:txBody>
        </p:sp>
        <p:sp>
          <p:nvSpPr>
            <p:cNvPr id="131" name="TextBox 130">
              <a:extLst>
                <a:ext uri="{FF2B5EF4-FFF2-40B4-BE49-F238E27FC236}">
                  <a16:creationId xmlns:a16="http://schemas.microsoft.com/office/drawing/2014/main" id="{936C6C56-CC82-4DFC-B9F5-3AD66B688FEE}"/>
                </a:ext>
              </a:extLst>
            </p:cNvPr>
            <p:cNvSpPr txBox="1"/>
            <p:nvPr/>
          </p:nvSpPr>
          <p:spPr>
            <a:xfrm rot="16200000">
              <a:off x="1331382" y="2063562"/>
              <a:ext cx="2251587" cy="338554"/>
            </a:xfrm>
            <a:prstGeom prst="rect">
              <a:avLst/>
            </a:prstGeom>
            <a:noFill/>
          </p:spPr>
          <p:txBody>
            <a:bodyPr wrap="square" rtlCol="0">
              <a:spAutoFit/>
            </a:bodyPr>
            <a:lstStyle/>
            <a:p>
              <a:pPr algn="ctr"/>
              <a:r>
                <a:rPr lang="en-US" sz="1600" dirty="0" err="1"/>
                <a:t>Allogenicity</a:t>
              </a:r>
              <a:endParaRPr lang="en-US" sz="1600" dirty="0"/>
            </a:p>
          </p:txBody>
        </p:sp>
        <p:cxnSp>
          <p:nvCxnSpPr>
            <p:cNvPr id="132" name="Straight Connector 131">
              <a:extLst>
                <a:ext uri="{FF2B5EF4-FFF2-40B4-BE49-F238E27FC236}">
                  <a16:creationId xmlns:a16="http://schemas.microsoft.com/office/drawing/2014/main" id="{055ABDD8-C828-41A3-A7A8-434644FD8745}"/>
                </a:ext>
              </a:extLst>
            </p:cNvPr>
            <p:cNvCxnSpPr>
              <a:cxnSpLocks/>
            </p:cNvCxnSpPr>
            <p:nvPr/>
          </p:nvCxnSpPr>
          <p:spPr>
            <a:xfrm flipH="1">
              <a:off x="4802178" y="1301340"/>
              <a:ext cx="15626" cy="5472396"/>
            </a:xfrm>
            <a:prstGeom prst="line">
              <a:avLst/>
            </a:prstGeom>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C5779225-6152-407F-ADA8-F27F341CE731}"/>
                </a:ext>
              </a:extLst>
            </p:cNvPr>
            <p:cNvCxnSpPr>
              <a:cxnSpLocks/>
            </p:cNvCxnSpPr>
            <p:nvPr/>
          </p:nvCxnSpPr>
          <p:spPr>
            <a:xfrm>
              <a:off x="6908401" y="1301340"/>
              <a:ext cx="8563" cy="5472396"/>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0570C249-E5A6-4829-8083-3980D106C239}"/>
                </a:ext>
              </a:extLst>
            </p:cNvPr>
            <p:cNvCxnSpPr>
              <a:cxnSpLocks/>
            </p:cNvCxnSpPr>
            <p:nvPr/>
          </p:nvCxnSpPr>
          <p:spPr>
            <a:xfrm flipH="1">
              <a:off x="2673169" y="3077496"/>
              <a:ext cx="1" cy="3676099"/>
            </a:xfrm>
            <a:prstGeom prst="line">
              <a:avLst/>
            </a:prstGeom>
            <a:ln w="6350"/>
          </p:spPr>
          <p:style>
            <a:lnRef idx="1">
              <a:schemeClr val="dk1"/>
            </a:lnRef>
            <a:fillRef idx="0">
              <a:schemeClr val="dk1"/>
            </a:fillRef>
            <a:effectRef idx="0">
              <a:schemeClr val="dk1"/>
            </a:effectRef>
            <a:fontRef idx="minor">
              <a:schemeClr val="tx1"/>
            </a:fontRef>
          </p:style>
        </p:cxnSp>
        <p:sp>
          <p:nvSpPr>
            <p:cNvPr id="135" name="TextBox 134">
              <a:extLst>
                <a:ext uri="{FF2B5EF4-FFF2-40B4-BE49-F238E27FC236}">
                  <a16:creationId xmlns:a16="http://schemas.microsoft.com/office/drawing/2014/main" id="{8625E11E-FE56-4504-81CC-0F60CD18BEED}"/>
                </a:ext>
              </a:extLst>
            </p:cNvPr>
            <p:cNvSpPr txBox="1"/>
            <p:nvPr/>
          </p:nvSpPr>
          <p:spPr>
            <a:xfrm>
              <a:off x="446802" y="2024841"/>
              <a:ext cx="2025446" cy="369332"/>
            </a:xfrm>
            <a:prstGeom prst="rect">
              <a:avLst/>
            </a:prstGeom>
            <a:noFill/>
          </p:spPr>
          <p:txBody>
            <a:bodyPr wrap="square" rtlCol="0">
              <a:spAutoFit/>
            </a:bodyPr>
            <a:lstStyle/>
            <a:p>
              <a:pPr algn="ctr"/>
              <a:r>
                <a:rPr lang="en-US" dirty="0">
                  <a:solidFill>
                    <a:schemeClr val="accent1"/>
                  </a:solidFill>
                </a:rPr>
                <a:t>MEDICATIONS</a:t>
              </a:r>
            </a:p>
          </p:txBody>
        </p:sp>
        <p:sp>
          <p:nvSpPr>
            <p:cNvPr id="136" name="TextBox 135">
              <a:extLst>
                <a:ext uri="{FF2B5EF4-FFF2-40B4-BE49-F238E27FC236}">
                  <a16:creationId xmlns:a16="http://schemas.microsoft.com/office/drawing/2014/main" id="{B9D10671-8C09-4E8D-BAE8-FC1BEAAEBFE1}"/>
                </a:ext>
              </a:extLst>
            </p:cNvPr>
            <p:cNvSpPr txBox="1"/>
            <p:nvPr/>
          </p:nvSpPr>
          <p:spPr>
            <a:xfrm>
              <a:off x="6262915" y="3107093"/>
              <a:ext cx="694250" cy="307777"/>
            </a:xfrm>
            <a:prstGeom prst="rect">
              <a:avLst/>
            </a:prstGeom>
            <a:noFill/>
          </p:spPr>
          <p:txBody>
            <a:bodyPr wrap="square" rtlCol="0">
              <a:spAutoFit/>
            </a:bodyPr>
            <a:lstStyle/>
            <a:p>
              <a:pPr algn="ctr"/>
              <a:r>
                <a:rPr lang="en-US" sz="1400" dirty="0"/>
                <a:t>6 </a:t>
              </a:r>
              <a:r>
                <a:rPr lang="en-US" sz="1400" dirty="0" err="1"/>
                <a:t>mos</a:t>
              </a:r>
              <a:endParaRPr lang="en-US" sz="1400" dirty="0"/>
            </a:p>
          </p:txBody>
        </p:sp>
        <p:sp>
          <p:nvSpPr>
            <p:cNvPr id="137" name="TextBox 136">
              <a:extLst>
                <a:ext uri="{FF2B5EF4-FFF2-40B4-BE49-F238E27FC236}">
                  <a16:creationId xmlns:a16="http://schemas.microsoft.com/office/drawing/2014/main" id="{B2808B8D-E59C-4CDB-9BDF-DEA15BC466BA}"/>
                </a:ext>
              </a:extLst>
            </p:cNvPr>
            <p:cNvSpPr txBox="1"/>
            <p:nvPr/>
          </p:nvSpPr>
          <p:spPr>
            <a:xfrm>
              <a:off x="4193606" y="3107182"/>
              <a:ext cx="694250" cy="307777"/>
            </a:xfrm>
            <a:prstGeom prst="rect">
              <a:avLst/>
            </a:prstGeom>
            <a:noFill/>
          </p:spPr>
          <p:txBody>
            <a:bodyPr wrap="square" rtlCol="0">
              <a:spAutoFit/>
            </a:bodyPr>
            <a:lstStyle/>
            <a:p>
              <a:pPr algn="ctr"/>
              <a:r>
                <a:rPr lang="en-US" sz="1400" dirty="0"/>
                <a:t>1 </a:t>
              </a:r>
              <a:r>
                <a:rPr lang="en-US" sz="1400" dirty="0" err="1"/>
                <a:t>mo</a:t>
              </a:r>
              <a:endParaRPr lang="en-US" sz="1400" dirty="0"/>
            </a:p>
          </p:txBody>
        </p:sp>
        <p:sp>
          <p:nvSpPr>
            <p:cNvPr id="138" name="TextBox 137">
              <a:extLst>
                <a:ext uri="{FF2B5EF4-FFF2-40B4-BE49-F238E27FC236}">
                  <a16:creationId xmlns:a16="http://schemas.microsoft.com/office/drawing/2014/main" id="{38AC8DED-DB4A-464C-9DA3-F91428B38AEF}"/>
                </a:ext>
              </a:extLst>
            </p:cNvPr>
            <p:cNvSpPr txBox="1"/>
            <p:nvPr/>
          </p:nvSpPr>
          <p:spPr>
            <a:xfrm>
              <a:off x="440016" y="3122059"/>
              <a:ext cx="2025446" cy="369332"/>
            </a:xfrm>
            <a:prstGeom prst="rect">
              <a:avLst/>
            </a:prstGeom>
            <a:noFill/>
          </p:spPr>
          <p:txBody>
            <a:bodyPr wrap="square" rtlCol="0">
              <a:spAutoFit/>
            </a:bodyPr>
            <a:lstStyle/>
            <a:p>
              <a:pPr algn="ctr"/>
              <a:r>
                <a:rPr lang="en-US" dirty="0"/>
                <a:t>COMPLICATIONS</a:t>
              </a:r>
            </a:p>
          </p:txBody>
        </p:sp>
        <p:sp>
          <p:nvSpPr>
            <p:cNvPr id="139" name="Freeform: Shape 138">
              <a:extLst>
                <a:ext uri="{FF2B5EF4-FFF2-40B4-BE49-F238E27FC236}">
                  <a16:creationId xmlns:a16="http://schemas.microsoft.com/office/drawing/2014/main" id="{BFEAE051-4438-4B74-9C81-B2D373375CFD}"/>
                </a:ext>
              </a:extLst>
            </p:cNvPr>
            <p:cNvSpPr/>
            <p:nvPr/>
          </p:nvSpPr>
          <p:spPr>
            <a:xfrm>
              <a:off x="2723536" y="1269631"/>
              <a:ext cx="5869858" cy="1807865"/>
            </a:xfrm>
            <a:custGeom>
              <a:avLst/>
              <a:gdLst>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67896 w 5899355"/>
                <a:gd name="connsiteY5" fmla="*/ 1404187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48231 w 5899355"/>
                <a:gd name="connsiteY5" fmla="*/ 1276368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0453 h 1820453"/>
                <a:gd name="connsiteX1" fmla="*/ 462116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0453 h 1820453"/>
                <a:gd name="connsiteX1" fmla="*/ 412955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5752 h 1825752"/>
                <a:gd name="connsiteX1" fmla="*/ 412955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899355"/>
                <a:gd name="connsiteY0" fmla="*/ 1825752 h 1825752"/>
                <a:gd name="connsiteX1" fmla="*/ 363794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938684"/>
                <a:gd name="connsiteY0" fmla="*/ 1825752 h 1825752"/>
                <a:gd name="connsiteX1" fmla="*/ 403123 w 5938684"/>
                <a:gd name="connsiteY1" fmla="*/ 940848 h 1825752"/>
                <a:gd name="connsiteX2" fmla="*/ 806245 w 5938684"/>
                <a:gd name="connsiteY2" fmla="*/ 105107 h 1825752"/>
                <a:gd name="connsiteX3" fmla="*/ 1238864 w 5938684"/>
                <a:gd name="connsiteY3" fmla="*/ 85442 h 1825752"/>
                <a:gd name="connsiteX4" fmla="*/ 1887793 w 5938684"/>
                <a:gd name="connsiteY4" fmla="*/ 773700 h 1825752"/>
                <a:gd name="connsiteX5" fmla="*/ 2487560 w 5938684"/>
                <a:gd name="connsiteY5" fmla="*/ 1275145 h 1825752"/>
                <a:gd name="connsiteX6" fmla="*/ 3932903 w 5938684"/>
                <a:gd name="connsiteY6" fmla="*/ 1609442 h 1825752"/>
                <a:gd name="connsiteX7" fmla="*/ 4906296 w 5938684"/>
                <a:gd name="connsiteY7" fmla="*/ 1678268 h 1825752"/>
                <a:gd name="connsiteX8" fmla="*/ 5938684 w 5938684"/>
                <a:gd name="connsiteY8" fmla="*/ 1688100 h 1825752"/>
                <a:gd name="connsiteX0" fmla="*/ 0 w 5919020"/>
                <a:gd name="connsiteY0" fmla="*/ 1727429 h 1727429"/>
                <a:gd name="connsiteX1" fmla="*/ 383459 w 5919020"/>
                <a:gd name="connsiteY1" fmla="*/ 940848 h 1727429"/>
                <a:gd name="connsiteX2" fmla="*/ 786581 w 5919020"/>
                <a:gd name="connsiteY2" fmla="*/ 105107 h 1727429"/>
                <a:gd name="connsiteX3" fmla="*/ 1219200 w 5919020"/>
                <a:gd name="connsiteY3" fmla="*/ 85442 h 1727429"/>
                <a:gd name="connsiteX4" fmla="*/ 1868129 w 5919020"/>
                <a:gd name="connsiteY4" fmla="*/ 773700 h 1727429"/>
                <a:gd name="connsiteX5" fmla="*/ 2467896 w 5919020"/>
                <a:gd name="connsiteY5" fmla="*/ 1275145 h 1727429"/>
                <a:gd name="connsiteX6" fmla="*/ 3913239 w 5919020"/>
                <a:gd name="connsiteY6" fmla="*/ 1609442 h 1727429"/>
                <a:gd name="connsiteX7" fmla="*/ 4886632 w 5919020"/>
                <a:gd name="connsiteY7" fmla="*/ 1678268 h 1727429"/>
                <a:gd name="connsiteX8" fmla="*/ 5919020 w 5919020"/>
                <a:gd name="connsiteY8" fmla="*/ 1688100 h 1727429"/>
                <a:gd name="connsiteX0" fmla="*/ 0 w 5869858"/>
                <a:gd name="connsiteY0" fmla="*/ 1796255 h 1796255"/>
                <a:gd name="connsiteX1" fmla="*/ 334297 w 5869858"/>
                <a:gd name="connsiteY1" fmla="*/ 940848 h 1796255"/>
                <a:gd name="connsiteX2" fmla="*/ 737419 w 5869858"/>
                <a:gd name="connsiteY2" fmla="*/ 105107 h 1796255"/>
                <a:gd name="connsiteX3" fmla="*/ 1170038 w 5869858"/>
                <a:gd name="connsiteY3" fmla="*/ 85442 h 1796255"/>
                <a:gd name="connsiteX4" fmla="*/ 1818967 w 5869858"/>
                <a:gd name="connsiteY4" fmla="*/ 773700 h 1796255"/>
                <a:gd name="connsiteX5" fmla="*/ 2418734 w 5869858"/>
                <a:gd name="connsiteY5" fmla="*/ 1275145 h 1796255"/>
                <a:gd name="connsiteX6" fmla="*/ 3864077 w 5869858"/>
                <a:gd name="connsiteY6" fmla="*/ 1609442 h 1796255"/>
                <a:gd name="connsiteX7" fmla="*/ 4837470 w 5869858"/>
                <a:gd name="connsiteY7" fmla="*/ 1678268 h 1796255"/>
                <a:gd name="connsiteX8" fmla="*/ 5869858 w 5869858"/>
                <a:gd name="connsiteY8" fmla="*/ 1688100 h 1796255"/>
                <a:gd name="connsiteX0" fmla="*/ 0 w 5869858"/>
                <a:gd name="connsiteY0" fmla="*/ 1785760 h 1785760"/>
                <a:gd name="connsiteX1" fmla="*/ 422788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96231 h 1796231"/>
                <a:gd name="connsiteX1" fmla="*/ 383459 w 5869858"/>
                <a:gd name="connsiteY1" fmla="*/ 763844 h 1796231"/>
                <a:gd name="connsiteX2" fmla="*/ 688258 w 5869858"/>
                <a:gd name="connsiteY2" fmla="*/ 85419 h 1796231"/>
                <a:gd name="connsiteX3" fmla="*/ 1170038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796231 h 1796231"/>
                <a:gd name="connsiteX1" fmla="*/ 383459 w 5869858"/>
                <a:gd name="connsiteY1" fmla="*/ 763844 h 1796231"/>
                <a:gd name="connsiteX2" fmla="*/ 688258 w 5869858"/>
                <a:gd name="connsiteY2" fmla="*/ 85419 h 1796231"/>
                <a:gd name="connsiteX3" fmla="*/ 1199535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18734 w 5869858"/>
                <a:gd name="connsiteY5" fmla="*/ 1286755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9858" h="1807865">
                  <a:moveTo>
                    <a:pt x="0" y="1807865"/>
                  </a:moveTo>
                  <a:cubicBezTo>
                    <a:pt x="160593" y="1507980"/>
                    <a:pt x="268749" y="1060613"/>
                    <a:pt x="383459" y="775478"/>
                  </a:cubicBezTo>
                  <a:cubicBezTo>
                    <a:pt x="498169" y="490343"/>
                    <a:pt x="548968" y="213401"/>
                    <a:pt x="688258" y="97053"/>
                  </a:cubicBezTo>
                  <a:cubicBezTo>
                    <a:pt x="827548" y="-19295"/>
                    <a:pt x="1030749" y="-37322"/>
                    <a:pt x="1219200" y="77387"/>
                  </a:cubicBezTo>
                  <a:cubicBezTo>
                    <a:pt x="1407651" y="192096"/>
                    <a:pt x="1612490" y="582110"/>
                    <a:pt x="1818967" y="785310"/>
                  </a:cubicBezTo>
                  <a:cubicBezTo>
                    <a:pt x="2025444" y="988510"/>
                    <a:pt x="2077882" y="1137633"/>
                    <a:pt x="2458063" y="1296587"/>
                  </a:cubicBezTo>
                  <a:cubicBezTo>
                    <a:pt x="2838244" y="1455541"/>
                    <a:pt x="3467509" y="1555504"/>
                    <a:pt x="3864077" y="1621052"/>
                  </a:cubicBezTo>
                  <a:cubicBezTo>
                    <a:pt x="4260645" y="1686600"/>
                    <a:pt x="4503173" y="1676768"/>
                    <a:pt x="4837470" y="1689878"/>
                  </a:cubicBezTo>
                  <a:cubicBezTo>
                    <a:pt x="5171767" y="1702988"/>
                    <a:pt x="5520812" y="1701349"/>
                    <a:pt x="5869858" y="1699710"/>
                  </a:cubicBez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accent6"/>
                </a:solidFill>
              </a:endParaRPr>
            </a:p>
          </p:txBody>
        </p:sp>
        <p:sp>
          <p:nvSpPr>
            <p:cNvPr id="140" name="TextBox 139">
              <a:extLst>
                <a:ext uri="{FF2B5EF4-FFF2-40B4-BE49-F238E27FC236}">
                  <a16:creationId xmlns:a16="http://schemas.microsoft.com/office/drawing/2014/main" id="{70587AD1-7D49-486D-A14D-BB36FCCF590A}"/>
                </a:ext>
              </a:extLst>
            </p:cNvPr>
            <p:cNvSpPr txBox="1"/>
            <p:nvPr/>
          </p:nvSpPr>
          <p:spPr>
            <a:xfrm>
              <a:off x="5028155" y="1595090"/>
              <a:ext cx="1643246" cy="992516"/>
            </a:xfrm>
            <a:prstGeom prst="rect">
              <a:avLst/>
            </a:prstGeom>
            <a:noFill/>
          </p:spPr>
          <p:txBody>
            <a:bodyPr wrap="square" rtlCol="0">
              <a:spAutoFit/>
            </a:bodyPr>
            <a:lstStyle/>
            <a:p>
              <a:pPr algn="ctr">
                <a:lnSpc>
                  <a:spcPts val="1400"/>
                </a:lnSpc>
              </a:pPr>
              <a:r>
                <a:rPr lang="en-US" sz="1600" dirty="0">
                  <a:solidFill>
                    <a:schemeClr val="accent1"/>
                  </a:solidFill>
                </a:rPr>
                <a:t>CNI</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Anti-metabolites</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prednisone</a:t>
              </a:r>
            </a:p>
          </p:txBody>
        </p:sp>
        <p:sp>
          <p:nvSpPr>
            <p:cNvPr id="141" name="TextBox 140">
              <a:extLst>
                <a:ext uri="{FF2B5EF4-FFF2-40B4-BE49-F238E27FC236}">
                  <a16:creationId xmlns:a16="http://schemas.microsoft.com/office/drawing/2014/main" id="{3A41A0F8-4EF0-4BC9-8210-6FB1C2734265}"/>
                </a:ext>
              </a:extLst>
            </p:cNvPr>
            <p:cNvSpPr txBox="1"/>
            <p:nvPr/>
          </p:nvSpPr>
          <p:spPr>
            <a:xfrm>
              <a:off x="2989238" y="1600132"/>
              <a:ext cx="1514740" cy="990015"/>
            </a:xfrm>
            <a:prstGeom prst="rect">
              <a:avLst/>
            </a:prstGeom>
            <a:noFill/>
          </p:spPr>
          <p:txBody>
            <a:bodyPr wrap="square" rtlCol="0">
              <a:spAutoFit/>
            </a:bodyPr>
            <a:lstStyle/>
            <a:p>
              <a:pPr algn="ctr">
                <a:lnSpc>
                  <a:spcPts val="1400"/>
                </a:lnSpc>
              </a:pPr>
              <a:r>
                <a:rPr lang="en-US" sz="1400" dirty="0">
                  <a:solidFill>
                    <a:schemeClr val="accent1"/>
                  </a:solidFill>
                </a:rPr>
                <a:t>Anti-lymphocytes/ anti- IL-2 Ab’s</a:t>
              </a:r>
            </a:p>
            <a:p>
              <a:pPr algn="ctr">
                <a:lnSpc>
                  <a:spcPts val="1400"/>
                </a:lnSpc>
              </a:pPr>
              <a:r>
                <a:rPr lang="en-US" sz="1400" dirty="0">
                  <a:solidFill>
                    <a:schemeClr val="accent1"/>
                  </a:solidFill>
                </a:rPr>
                <a:t>+</a:t>
              </a:r>
            </a:p>
            <a:p>
              <a:pPr algn="ctr">
                <a:lnSpc>
                  <a:spcPts val="1400"/>
                </a:lnSpc>
              </a:pPr>
              <a:r>
                <a:rPr lang="en-US" sz="1400" dirty="0">
                  <a:solidFill>
                    <a:schemeClr val="accent1"/>
                  </a:solidFill>
                </a:rPr>
                <a:t>Steroids </a:t>
              </a:r>
            </a:p>
          </p:txBody>
        </p:sp>
      </p:grpSp>
      <p:grpSp>
        <p:nvGrpSpPr>
          <p:cNvPr id="68" name="Group 67">
            <a:extLst>
              <a:ext uri="{FF2B5EF4-FFF2-40B4-BE49-F238E27FC236}">
                <a16:creationId xmlns:a16="http://schemas.microsoft.com/office/drawing/2014/main" id="{298B3F85-CCB0-42FA-915F-85DA56A91D20}"/>
              </a:ext>
            </a:extLst>
          </p:cNvPr>
          <p:cNvGrpSpPr/>
          <p:nvPr/>
        </p:nvGrpSpPr>
        <p:grpSpPr>
          <a:xfrm>
            <a:off x="2672740" y="3266952"/>
            <a:ext cx="6026138" cy="633443"/>
            <a:chOff x="2683443" y="3450169"/>
            <a:chExt cx="6026138" cy="633443"/>
          </a:xfrm>
        </p:grpSpPr>
        <p:cxnSp>
          <p:nvCxnSpPr>
            <p:cNvPr id="86" name="Straight Arrow Connector 85">
              <a:extLst>
                <a:ext uri="{FF2B5EF4-FFF2-40B4-BE49-F238E27FC236}">
                  <a16:creationId xmlns:a16="http://schemas.microsoft.com/office/drawing/2014/main" id="{3588417C-11E8-4B6C-9244-7B28FDE557C9}"/>
                </a:ext>
              </a:extLst>
            </p:cNvPr>
            <p:cNvCxnSpPr>
              <a:cxnSpLocks/>
            </p:cNvCxnSpPr>
            <p:nvPr/>
          </p:nvCxnSpPr>
          <p:spPr>
            <a:xfrm>
              <a:off x="2683443" y="3814532"/>
              <a:ext cx="4212446"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05200443-A11C-4F5A-AB95-76EE60494672}"/>
                </a:ext>
              </a:extLst>
            </p:cNvPr>
            <p:cNvSpPr txBox="1"/>
            <p:nvPr/>
          </p:nvSpPr>
          <p:spPr>
            <a:xfrm>
              <a:off x="4203095" y="3606530"/>
              <a:ext cx="1414600" cy="451406"/>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 25% with acute rejection</a:t>
              </a:r>
            </a:p>
          </p:txBody>
        </p:sp>
        <p:cxnSp>
          <p:nvCxnSpPr>
            <p:cNvPr id="99" name="Straight Arrow Connector 98">
              <a:extLst>
                <a:ext uri="{FF2B5EF4-FFF2-40B4-BE49-F238E27FC236}">
                  <a16:creationId xmlns:a16="http://schemas.microsoft.com/office/drawing/2014/main" id="{2C5778DA-4546-44E2-A06E-056B75751E15}"/>
                </a:ext>
              </a:extLst>
            </p:cNvPr>
            <p:cNvCxnSpPr>
              <a:cxnSpLocks/>
            </p:cNvCxnSpPr>
            <p:nvPr/>
          </p:nvCxnSpPr>
          <p:spPr>
            <a:xfrm flipV="1">
              <a:off x="6807132" y="3807933"/>
              <a:ext cx="1902449" cy="6402"/>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FA57F96E-6749-4372-A06B-01276DD89B72}"/>
                </a:ext>
              </a:extLst>
            </p:cNvPr>
            <p:cNvSpPr txBox="1"/>
            <p:nvPr/>
          </p:nvSpPr>
          <p:spPr>
            <a:xfrm>
              <a:off x="7098664" y="3450169"/>
              <a:ext cx="1440150" cy="633443"/>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Uncommon &gt; 6 </a:t>
              </a:r>
              <a:r>
                <a:rPr lang="en-US" sz="1400" dirty="0" err="1">
                  <a:solidFill>
                    <a:srgbClr val="FF0000"/>
                  </a:solidFill>
                </a:rPr>
                <a:t>mos</a:t>
              </a:r>
              <a:r>
                <a:rPr lang="en-US" sz="1400" dirty="0">
                  <a:solidFill>
                    <a:srgbClr val="FF0000"/>
                  </a:solidFill>
                </a:rPr>
                <a:t> unless med non-compliance </a:t>
              </a:r>
            </a:p>
          </p:txBody>
        </p:sp>
        <p:cxnSp>
          <p:nvCxnSpPr>
            <p:cNvPr id="101" name="Straight Connector 100">
              <a:extLst>
                <a:ext uri="{FF2B5EF4-FFF2-40B4-BE49-F238E27FC236}">
                  <a16:creationId xmlns:a16="http://schemas.microsoft.com/office/drawing/2014/main" id="{D588004B-53CA-4104-9662-FD2A9C2C9958}"/>
                </a:ext>
              </a:extLst>
            </p:cNvPr>
            <p:cNvCxnSpPr>
              <a:cxnSpLocks/>
            </p:cNvCxnSpPr>
            <p:nvPr/>
          </p:nvCxnSpPr>
          <p:spPr>
            <a:xfrm flipV="1">
              <a:off x="6916536" y="3645058"/>
              <a:ext cx="0" cy="33855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2" name="TextBox 101">
            <a:extLst>
              <a:ext uri="{FF2B5EF4-FFF2-40B4-BE49-F238E27FC236}">
                <a16:creationId xmlns:a16="http://schemas.microsoft.com/office/drawing/2014/main" id="{47723F92-FCFE-4EBA-83A4-4317EA1C1141}"/>
              </a:ext>
            </a:extLst>
          </p:cNvPr>
          <p:cNvSpPr txBox="1"/>
          <p:nvPr/>
        </p:nvSpPr>
        <p:spPr>
          <a:xfrm>
            <a:off x="3000844" y="4431314"/>
            <a:ext cx="1394917" cy="630942"/>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Donor/ recipient</a:t>
            </a:r>
          </a:p>
          <a:p>
            <a:pPr algn="ctr">
              <a:lnSpc>
                <a:spcPts val="1400"/>
              </a:lnSpc>
            </a:pPr>
            <a:r>
              <a:rPr lang="en-US" sz="1400" dirty="0">
                <a:solidFill>
                  <a:schemeClr val="accent5"/>
                </a:solidFill>
              </a:rPr>
              <a:t>+</a:t>
            </a:r>
          </a:p>
          <a:p>
            <a:pPr algn="ctr">
              <a:lnSpc>
                <a:spcPts val="1400"/>
              </a:lnSpc>
            </a:pPr>
            <a:r>
              <a:rPr lang="en-US" sz="1400" dirty="0">
                <a:solidFill>
                  <a:schemeClr val="accent5"/>
                </a:solidFill>
              </a:rPr>
              <a:t>Nosocomial</a:t>
            </a:r>
          </a:p>
        </p:txBody>
      </p:sp>
      <p:sp>
        <p:nvSpPr>
          <p:cNvPr id="103" name="TextBox 102">
            <a:extLst>
              <a:ext uri="{FF2B5EF4-FFF2-40B4-BE49-F238E27FC236}">
                <a16:creationId xmlns:a16="http://schemas.microsoft.com/office/drawing/2014/main" id="{DF754927-15AC-47DF-8519-4EFB4313680C}"/>
              </a:ext>
            </a:extLst>
          </p:cNvPr>
          <p:cNvSpPr txBox="1"/>
          <p:nvPr/>
        </p:nvSpPr>
        <p:spPr>
          <a:xfrm>
            <a:off x="4946902" y="4261670"/>
            <a:ext cx="1869704" cy="990015"/>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Reactivation </a:t>
            </a:r>
          </a:p>
          <a:p>
            <a:pPr algn="ctr">
              <a:lnSpc>
                <a:spcPts val="1400"/>
              </a:lnSpc>
            </a:pPr>
            <a:r>
              <a:rPr lang="en-US" sz="1400" dirty="0">
                <a:solidFill>
                  <a:schemeClr val="accent5"/>
                </a:solidFill>
              </a:rPr>
              <a:t>(TB, HBV, HSV/VZV, CMV, BK)</a:t>
            </a:r>
          </a:p>
          <a:p>
            <a:pPr algn="ctr">
              <a:lnSpc>
                <a:spcPts val="1400"/>
              </a:lnSpc>
            </a:pPr>
            <a:r>
              <a:rPr lang="en-US" sz="1400" dirty="0">
                <a:solidFill>
                  <a:schemeClr val="accent5"/>
                </a:solidFill>
              </a:rPr>
              <a:t>+</a:t>
            </a:r>
          </a:p>
          <a:p>
            <a:pPr algn="ctr">
              <a:lnSpc>
                <a:spcPts val="1400"/>
              </a:lnSpc>
            </a:pPr>
            <a:r>
              <a:rPr lang="en-US" sz="1400" dirty="0">
                <a:solidFill>
                  <a:schemeClr val="accent5"/>
                </a:solidFill>
              </a:rPr>
              <a:t>OIs</a:t>
            </a:r>
          </a:p>
        </p:txBody>
      </p:sp>
      <p:sp>
        <p:nvSpPr>
          <p:cNvPr id="104" name="TextBox 103">
            <a:extLst>
              <a:ext uri="{FF2B5EF4-FFF2-40B4-BE49-F238E27FC236}">
                <a16:creationId xmlns:a16="http://schemas.microsoft.com/office/drawing/2014/main" id="{B00CF72F-FD73-4EA3-9844-35D835622019}"/>
              </a:ext>
            </a:extLst>
          </p:cNvPr>
          <p:cNvSpPr txBox="1"/>
          <p:nvPr/>
        </p:nvSpPr>
        <p:spPr>
          <a:xfrm>
            <a:off x="6951434" y="4436091"/>
            <a:ext cx="2021552" cy="630942"/>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Community acquired &gt;&gt; OIs</a:t>
            </a:r>
          </a:p>
          <a:p>
            <a:pPr algn="ctr">
              <a:lnSpc>
                <a:spcPts val="1400"/>
              </a:lnSpc>
            </a:pPr>
            <a:r>
              <a:rPr lang="en-US" sz="1400" dirty="0">
                <a:solidFill>
                  <a:schemeClr val="accent5"/>
                </a:solidFill>
              </a:rPr>
              <a:t>(molds, </a:t>
            </a:r>
            <a:r>
              <a:rPr lang="en-US" sz="1400" dirty="0" err="1">
                <a:solidFill>
                  <a:schemeClr val="accent5"/>
                </a:solidFill>
              </a:rPr>
              <a:t>Mucor</a:t>
            </a:r>
            <a:r>
              <a:rPr lang="en-US" sz="1400" dirty="0">
                <a:solidFill>
                  <a:schemeClr val="accent5"/>
                </a:solidFill>
              </a:rPr>
              <a:t>, late viral)</a:t>
            </a:r>
          </a:p>
        </p:txBody>
      </p:sp>
      <p:sp>
        <p:nvSpPr>
          <p:cNvPr id="143" name="TextBox 142">
            <a:extLst>
              <a:ext uri="{FF2B5EF4-FFF2-40B4-BE49-F238E27FC236}">
                <a16:creationId xmlns:a16="http://schemas.microsoft.com/office/drawing/2014/main" id="{7083B45B-7F2A-4BC0-9BC7-D3242A14AD04}"/>
              </a:ext>
            </a:extLst>
          </p:cNvPr>
          <p:cNvSpPr txBox="1"/>
          <p:nvPr/>
        </p:nvSpPr>
        <p:spPr>
          <a:xfrm>
            <a:off x="3277542" y="126369"/>
            <a:ext cx="4522839" cy="461665"/>
          </a:xfrm>
          <a:prstGeom prst="rect">
            <a:avLst/>
          </a:prstGeom>
          <a:noFill/>
        </p:spPr>
        <p:txBody>
          <a:bodyPr wrap="square" rtlCol="0">
            <a:spAutoFit/>
          </a:bodyPr>
          <a:lstStyle/>
          <a:p>
            <a:pPr algn="ctr"/>
            <a:r>
              <a:rPr lang="en-US" sz="2400" dirty="0"/>
              <a:t>TRANSPLANT MEDICINE</a:t>
            </a:r>
          </a:p>
        </p:txBody>
      </p:sp>
      <p:sp>
        <p:nvSpPr>
          <p:cNvPr id="41" name="Rejection">
            <a:extLst>
              <a:ext uri="{FF2B5EF4-FFF2-40B4-BE49-F238E27FC236}">
                <a16:creationId xmlns:a16="http://schemas.microsoft.com/office/drawing/2014/main" id="{39064210-E44E-4882-A3F1-AD7146BD1798}"/>
              </a:ext>
            </a:extLst>
          </p:cNvPr>
          <p:cNvSpPr txBox="1"/>
          <p:nvPr/>
        </p:nvSpPr>
        <p:spPr>
          <a:xfrm>
            <a:off x="1046335" y="3620648"/>
            <a:ext cx="1150374" cy="374571"/>
          </a:xfrm>
          <a:prstGeom prst="roundRect">
            <a:avLst/>
          </a:prstGeom>
          <a:solidFill>
            <a:srgbClr val="FF0000"/>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Rejection</a:t>
            </a:r>
          </a:p>
        </p:txBody>
      </p:sp>
      <p:sp>
        <p:nvSpPr>
          <p:cNvPr id="42" name="Infections">
            <a:extLst>
              <a:ext uri="{FF2B5EF4-FFF2-40B4-BE49-F238E27FC236}">
                <a16:creationId xmlns:a16="http://schemas.microsoft.com/office/drawing/2014/main" id="{B6D7BF53-D49F-4974-B493-C7C7B415D3ED}"/>
              </a:ext>
            </a:extLst>
          </p:cNvPr>
          <p:cNvSpPr txBox="1"/>
          <p:nvPr/>
        </p:nvSpPr>
        <p:spPr>
          <a:xfrm>
            <a:off x="1053116" y="4559499"/>
            <a:ext cx="1150374" cy="374571"/>
          </a:xfrm>
          <a:prstGeom prst="roundRect">
            <a:avLst/>
          </a:prstGeom>
          <a:effectLst/>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n-US" sz="1600" dirty="0">
                <a:solidFill>
                  <a:schemeClr val="bg1"/>
                </a:solidFill>
              </a:rPr>
              <a:t>Infections </a:t>
            </a:r>
          </a:p>
        </p:txBody>
      </p:sp>
      <p:sp>
        <p:nvSpPr>
          <p:cNvPr id="44" name="Surgical">
            <a:extLst>
              <a:ext uri="{FF2B5EF4-FFF2-40B4-BE49-F238E27FC236}">
                <a16:creationId xmlns:a16="http://schemas.microsoft.com/office/drawing/2014/main" id="{2FDD95E0-EA21-4722-8D46-D9C300B177A7}"/>
              </a:ext>
            </a:extLst>
          </p:cNvPr>
          <p:cNvSpPr txBox="1"/>
          <p:nvPr/>
        </p:nvSpPr>
        <p:spPr>
          <a:xfrm>
            <a:off x="1046335" y="6254884"/>
            <a:ext cx="1179401" cy="374571"/>
          </a:xfrm>
          <a:prstGeom prst="roundRect">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600" dirty="0">
                <a:solidFill>
                  <a:schemeClr val="bg1"/>
                </a:solidFill>
              </a:rPr>
              <a:t>Surgical</a:t>
            </a:r>
          </a:p>
        </p:txBody>
      </p:sp>
      <p:sp>
        <p:nvSpPr>
          <p:cNvPr id="45" name="Medication effects">
            <a:extLst>
              <a:ext uri="{FF2B5EF4-FFF2-40B4-BE49-F238E27FC236}">
                <a16:creationId xmlns:a16="http://schemas.microsoft.com/office/drawing/2014/main" id="{D20EA066-23FD-4BC0-952F-89885B4765CD}"/>
              </a:ext>
            </a:extLst>
          </p:cNvPr>
          <p:cNvSpPr txBox="1"/>
          <p:nvPr/>
        </p:nvSpPr>
        <p:spPr>
          <a:xfrm>
            <a:off x="8154245" y="897862"/>
            <a:ext cx="1936019" cy="374571"/>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Medication Effects</a:t>
            </a:r>
          </a:p>
        </p:txBody>
      </p:sp>
      <p:sp>
        <p:nvSpPr>
          <p:cNvPr id="43" name="Malignancy">
            <a:hlinkClick r:id="rId2" action="ppaction://hlinksldjump"/>
            <a:extLst>
              <a:ext uri="{FF2B5EF4-FFF2-40B4-BE49-F238E27FC236}">
                <a16:creationId xmlns:a16="http://schemas.microsoft.com/office/drawing/2014/main" id="{998A2006-5016-4509-ABB1-C0C287129BE5}"/>
              </a:ext>
            </a:extLst>
          </p:cNvPr>
          <p:cNvSpPr txBox="1"/>
          <p:nvPr/>
        </p:nvSpPr>
        <p:spPr>
          <a:xfrm>
            <a:off x="1007226" y="5515898"/>
            <a:ext cx="1271179" cy="374571"/>
          </a:xfrm>
          <a:prstGeom prst="roundRect">
            <a:avLst/>
          </a:prstGeom>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sz="1600" dirty="0">
                <a:solidFill>
                  <a:schemeClr val="bg1"/>
                </a:solidFill>
              </a:rPr>
              <a:t>Malignancy</a:t>
            </a:r>
          </a:p>
        </p:txBody>
      </p:sp>
      <p:grpSp>
        <p:nvGrpSpPr>
          <p:cNvPr id="3" name="Group 2">
            <a:extLst>
              <a:ext uri="{FF2B5EF4-FFF2-40B4-BE49-F238E27FC236}">
                <a16:creationId xmlns:a16="http://schemas.microsoft.com/office/drawing/2014/main" id="{D8AB42DD-4CF4-4DB5-9097-6EEC28FC0FDE}"/>
              </a:ext>
            </a:extLst>
          </p:cNvPr>
          <p:cNvGrpSpPr/>
          <p:nvPr/>
        </p:nvGrpSpPr>
        <p:grpSpPr>
          <a:xfrm>
            <a:off x="5870448" y="3866977"/>
            <a:ext cx="2827093" cy="274370"/>
            <a:chOff x="5870448" y="3866977"/>
            <a:chExt cx="2827093" cy="274370"/>
          </a:xfrm>
        </p:grpSpPr>
        <p:cxnSp>
          <p:nvCxnSpPr>
            <p:cNvPr id="60" name="Straight Arrow Connector 59">
              <a:extLst>
                <a:ext uri="{FF2B5EF4-FFF2-40B4-BE49-F238E27FC236}">
                  <a16:creationId xmlns:a16="http://schemas.microsoft.com/office/drawing/2014/main" id="{4ECECBC4-CBB2-426F-B7B9-890AFDDD5D46}"/>
                </a:ext>
              </a:extLst>
            </p:cNvPr>
            <p:cNvCxnSpPr>
              <a:cxnSpLocks/>
            </p:cNvCxnSpPr>
            <p:nvPr/>
          </p:nvCxnSpPr>
          <p:spPr>
            <a:xfrm>
              <a:off x="5870448" y="3982933"/>
              <a:ext cx="2827093"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97C2ECD-A17C-4CD9-90EE-DDD284B956A1}"/>
                </a:ext>
              </a:extLst>
            </p:cNvPr>
            <p:cNvSpPr txBox="1"/>
            <p:nvPr/>
          </p:nvSpPr>
          <p:spPr>
            <a:xfrm>
              <a:off x="6215564" y="3866977"/>
              <a:ext cx="1535463" cy="274370"/>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Chronic rejection</a:t>
              </a:r>
            </a:p>
          </p:txBody>
        </p:sp>
      </p:grpSp>
      <p:sp>
        <p:nvSpPr>
          <p:cNvPr id="63" name="TextBox 62">
            <a:extLst>
              <a:ext uri="{FF2B5EF4-FFF2-40B4-BE49-F238E27FC236}">
                <a16:creationId xmlns:a16="http://schemas.microsoft.com/office/drawing/2014/main" id="{32D6C4E4-FE58-493F-AD49-635C048E68CE}"/>
              </a:ext>
            </a:extLst>
          </p:cNvPr>
          <p:cNvSpPr txBox="1"/>
          <p:nvPr/>
        </p:nvSpPr>
        <p:spPr>
          <a:xfrm>
            <a:off x="8972986" y="1430649"/>
            <a:ext cx="3095535" cy="526297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Infections can be divided by time from transplant and is a result of varying immunosuppression. </a:t>
            </a:r>
          </a:p>
          <a:p>
            <a:pPr marL="109538" indent="-109538">
              <a:buFont typeface="Arial" panose="020B0604020202020204" pitchFamily="34" charset="0"/>
              <a:buChar char="•"/>
            </a:pPr>
            <a:r>
              <a:rPr lang="en-US" sz="1600" u="sng" dirty="0"/>
              <a:t>&lt;1 </a:t>
            </a:r>
            <a:r>
              <a:rPr lang="en-US" sz="1600" u="sng" dirty="0" err="1"/>
              <a:t>mo</a:t>
            </a:r>
            <a:r>
              <a:rPr lang="en-US" sz="1600" dirty="0"/>
              <a:t>: Nosocomial infections are common given hospitalization. Recipient derived infections are related to colonization by organisms (</a:t>
            </a:r>
            <a:r>
              <a:rPr lang="en-US" sz="1600" i="1" dirty="0"/>
              <a:t>Aspergillus, Pseudomonas</a:t>
            </a:r>
            <a:r>
              <a:rPr lang="en-US" sz="1600" dirty="0"/>
              <a:t>) that become pathogenic in the setting of immunosuppression. Donor-derived are uncommon (HSV, West </a:t>
            </a:r>
            <a:r>
              <a:rPr lang="en-US" sz="1600" dirty="0" err="1"/>
              <a:t>nile</a:t>
            </a:r>
            <a:r>
              <a:rPr lang="en-US" sz="1600" dirty="0"/>
              <a:t>)</a:t>
            </a:r>
          </a:p>
          <a:p>
            <a:pPr marL="109538" indent="-109538">
              <a:buFont typeface="Arial" panose="020B0604020202020204" pitchFamily="34" charset="0"/>
              <a:buChar char="•"/>
            </a:pPr>
            <a:r>
              <a:rPr lang="en-US" sz="1600" u="sng" dirty="0"/>
              <a:t>1-6 </a:t>
            </a:r>
            <a:r>
              <a:rPr lang="en-US" sz="1600" u="sng" dirty="0" err="1"/>
              <a:t>mos</a:t>
            </a:r>
            <a:r>
              <a:rPr lang="en-US" sz="1600" dirty="0"/>
              <a:t>: Opportunistic infections such as PJP, Cryptococcus, CMV, toxoplasmosis are common. The incidence is reduced with prophylaxis. </a:t>
            </a:r>
          </a:p>
          <a:p>
            <a:pPr marL="109538" indent="-109538">
              <a:buFont typeface="Arial" panose="020B0604020202020204" pitchFamily="34" charset="0"/>
              <a:buChar char="•"/>
            </a:pPr>
            <a:r>
              <a:rPr lang="en-US" sz="1600" u="sng" dirty="0"/>
              <a:t>&gt;6 </a:t>
            </a:r>
            <a:r>
              <a:rPr lang="en-US" sz="1600" u="sng" dirty="0" err="1"/>
              <a:t>mos</a:t>
            </a:r>
            <a:r>
              <a:rPr lang="en-US" sz="1600" dirty="0"/>
              <a:t>: Community acquired infections and late viral infections (HSV, HBV, HCV, CMV). </a:t>
            </a:r>
          </a:p>
        </p:txBody>
      </p:sp>
      <p:grpSp>
        <p:nvGrpSpPr>
          <p:cNvPr id="7" name="Group 6">
            <a:extLst>
              <a:ext uri="{FF2B5EF4-FFF2-40B4-BE49-F238E27FC236}">
                <a16:creationId xmlns:a16="http://schemas.microsoft.com/office/drawing/2014/main" id="{015E9DAF-ABE7-4596-B5DD-16CBD8866E93}"/>
              </a:ext>
            </a:extLst>
          </p:cNvPr>
          <p:cNvGrpSpPr/>
          <p:nvPr/>
        </p:nvGrpSpPr>
        <p:grpSpPr>
          <a:xfrm>
            <a:off x="2749328" y="6318685"/>
            <a:ext cx="5913980" cy="310770"/>
            <a:chOff x="2749328" y="6318685"/>
            <a:chExt cx="5913980" cy="310770"/>
          </a:xfrm>
        </p:grpSpPr>
        <p:grpSp>
          <p:nvGrpSpPr>
            <p:cNvPr id="67" name="Group 66">
              <a:extLst>
                <a:ext uri="{FF2B5EF4-FFF2-40B4-BE49-F238E27FC236}">
                  <a16:creationId xmlns:a16="http://schemas.microsoft.com/office/drawing/2014/main" id="{C69CE812-BB47-43EE-9583-1F2E91FACE0D}"/>
                </a:ext>
              </a:extLst>
            </p:cNvPr>
            <p:cNvGrpSpPr/>
            <p:nvPr/>
          </p:nvGrpSpPr>
          <p:grpSpPr>
            <a:xfrm>
              <a:off x="2749328" y="6318685"/>
              <a:ext cx="3965408" cy="310770"/>
              <a:chOff x="2749328" y="6318685"/>
              <a:chExt cx="3965408" cy="310770"/>
            </a:xfrm>
          </p:grpSpPr>
          <p:sp>
            <p:nvSpPr>
              <p:cNvPr id="107" name="TextBox 106">
                <a:extLst>
                  <a:ext uri="{FF2B5EF4-FFF2-40B4-BE49-F238E27FC236}">
                    <a16:creationId xmlns:a16="http://schemas.microsoft.com/office/drawing/2014/main" id="{0ED16C1B-0AE1-47B6-9672-83A435C36DEF}"/>
                  </a:ext>
                </a:extLst>
              </p:cNvPr>
              <p:cNvSpPr txBox="1"/>
              <p:nvPr/>
            </p:nvSpPr>
            <p:spPr>
              <a:xfrm>
                <a:off x="2749328" y="6318685"/>
                <a:ext cx="1916496"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Leaks and kinks</a:t>
                </a:r>
              </a:p>
            </p:txBody>
          </p:sp>
          <p:sp>
            <p:nvSpPr>
              <p:cNvPr id="108" name="TextBox 107">
                <a:extLst>
                  <a:ext uri="{FF2B5EF4-FFF2-40B4-BE49-F238E27FC236}">
                    <a16:creationId xmlns:a16="http://schemas.microsoft.com/office/drawing/2014/main" id="{97D1CE6A-0BC7-4364-A1FE-C9A2EC710C6A}"/>
                  </a:ext>
                </a:extLst>
              </p:cNvPr>
              <p:cNvSpPr txBox="1"/>
              <p:nvPr/>
            </p:nvSpPr>
            <p:spPr>
              <a:xfrm>
                <a:off x="4899692" y="6321678"/>
                <a:ext cx="1815044"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Fistulas and </a:t>
                </a:r>
                <a:r>
                  <a:rPr lang="en-US" sz="1400" dirty="0" err="1">
                    <a:solidFill>
                      <a:schemeClr val="accent6">
                        <a:lumMod val="75000"/>
                      </a:schemeClr>
                    </a:solidFill>
                  </a:rPr>
                  <a:t>stenoses</a:t>
                </a:r>
                <a:endParaRPr lang="en-US" sz="1400" dirty="0">
                  <a:solidFill>
                    <a:schemeClr val="accent6">
                      <a:lumMod val="75000"/>
                    </a:schemeClr>
                  </a:solidFill>
                </a:endParaRPr>
              </a:p>
            </p:txBody>
          </p:sp>
        </p:grpSp>
        <p:cxnSp>
          <p:nvCxnSpPr>
            <p:cNvPr id="6" name="Straight Arrow Connector 5">
              <a:extLst>
                <a:ext uri="{FF2B5EF4-FFF2-40B4-BE49-F238E27FC236}">
                  <a16:creationId xmlns:a16="http://schemas.microsoft.com/office/drawing/2014/main" id="{CBF26B90-3626-462E-9773-F50B6CC04B9A}"/>
                </a:ext>
              </a:extLst>
            </p:cNvPr>
            <p:cNvCxnSpPr>
              <a:stCxn id="108" idx="3"/>
            </p:cNvCxnSpPr>
            <p:nvPr/>
          </p:nvCxnSpPr>
          <p:spPr>
            <a:xfrm flipV="1">
              <a:off x="6714736" y="6472573"/>
              <a:ext cx="1948572" cy="299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sp>
        <p:nvSpPr>
          <p:cNvPr id="64" name="Rectangle: Rounded Corners 63">
            <a:hlinkClick r:id="rId3" action="ppaction://hlinksldjump"/>
            <a:extLst>
              <a:ext uri="{FF2B5EF4-FFF2-40B4-BE49-F238E27FC236}">
                <a16:creationId xmlns:a16="http://schemas.microsoft.com/office/drawing/2014/main" id="{B285C684-0AD9-4C95-9C8D-26E5C666D9F8}"/>
              </a:ext>
            </a:extLst>
          </p:cNvPr>
          <p:cNvSpPr/>
          <p:nvPr/>
        </p:nvSpPr>
        <p:spPr>
          <a:xfrm>
            <a:off x="150210" y="130162"/>
            <a:ext cx="2505702"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Balancing immunosuppression</a:t>
            </a:r>
          </a:p>
        </p:txBody>
      </p:sp>
      <p:sp>
        <p:nvSpPr>
          <p:cNvPr id="70" name="Rectangle: Rounded Corners 69">
            <a:hlinkClick r:id="rId4" action="ppaction://hlinksldjump"/>
            <a:extLst>
              <a:ext uri="{FF2B5EF4-FFF2-40B4-BE49-F238E27FC236}">
                <a16:creationId xmlns:a16="http://schemas.microsoft.com/office/drawing/2014/main" id="{34016AD0-C07F-47A1-AE2C-0D7E8AE64F8E}"/>
              </a:ext>
            </a:extLst>
          </p:cNvPr>
          <p:cNvSpPr/>
          <p:nvPr/>
        </p:nvSpPr>
        <p:spPr>
          <a:xfrm>
            <a:off x="152202" y="439292"/>
            <a:ext cx="2224966"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Induction vs. maintenance</a:t>
            </a:r>
          </a:p>
        </p:txBody>
      </p:sp>
      <p:sp>
        <p:nvSpPr>
          <p:cNvPr id="71" name="Rectangle: Rounded Corners 70">
            <a:extLst>
              <a:ext uri="{FF2B5EF4-FFF2-40B4-BE49-F238E27FC236}">
                <a16:creationId xmlns:a16="http://schemas.microsoft.com/office/drawing/2014/main" id="{E3F5E5BD-A55C-459D-A62B-A1DBA5397A60}"/>
              </a:ext>
            </a:extLst>
          </p:cNvPr>
          <p:cNvSpPr/>
          <p:nvPr/>
        </p:nvSpPr>
        <p:spPr>
          <a:xfrm>
            <a:off x="148322" y="758064"/>
            <a:ext cx="1313704" cy="2763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Complications</a:t>
            </a:r>
          </a:p>
        </p:txBody>
      </p:sp>
      <p:pic>
        <p:nvPicPr>
          <p:cNvPr id="75" name="Graphic 74" descr="Cursor">
            <a:extLst>
              <a:ext uri="{FF2B5EF4-FFF2-40B4-BE49-F238E27FC236}">
                <a16:creationId xmlns:a16="http://schemas.microsoft.com/office/drawing/2014/main" id="{6E566049-AE4B-42A3-A677-1041EA33519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46082" y="5752548"/>
            <a:ext cx="252224" cy="252224"/>
          </a:xfrm>
          <a:prstGeom prst="rect">
            <a:avLst/>
          </a:prstGeom>
        </p:spPr>
      </p:pic>
      <p:pic>
        <p:nvPicPr>
          <p:cNvPr id="78" name="Graphic 77" descr="Cursor">
            <a:extLst>
              <a:ext uri="{FF2B5EF4-FFF2-40B4-BE49-F238E27FC236}">
                <a16:creationId xmlns:a16="http://schemas.microsoft.com/office/drawing/2014/main" id="{21A66367-4092-4C0D-9675-74579E7512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07533" y="6515076"/>
            <a:ext cx="252224" cy="252224"/>
          </a:xfrm>
          <a:prstGeom prst="rect">
            <a:avLst/>
          </a:prstGeom>
        </p:spPr>
      </p:pic>
      <p:pic>
        <p:nvPicPr>
          <p:cNvPr id="79" name="Graphic 78" descr="Cursor">
            <a:extLst>
              <a:ext uri="{FF2B5EF4-FFF2-40B4-BE49-F238E27FC236}">
                <a16:creationId xmlns:a16="http://schemas.microsoft.com/office/drawing/2014/main" id="{EBB6E7D7-72EE-4B55-A09A-9D2D3024B9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72327" y="1135586"/>
            <a:ext cx="252224" cy="252224"/>
          </a:xfrm>
          <a:prstGeom prst="rect">
            <a:avLst/>
          </a:prstGeom>
        </p:spPr>
      </p:pic>
      <p:grpSp>
        <p:nvGrpSpPr>
          <p:cNvPr id="80" name="Group 79">
            <a:extLst>
              <a:ext uri="{FF2B5EF4-FFF2-40B4-BE49-F238E27FC236}">
                <a16:creationId xmlns:a16="http://schemas.microsoft.com/office/drawing/2014/main" id="{B97C6557-67F0-4283-850F-48BB0E65BA1F}"/>
              </a:ext>
            </a:extLst>
          </p:cNvPr>
          <p:cNvGrpSpPr/>
          <p:nvPr/>
        </p:nvGrpSpPr>
        <p:grpSpPr>
          <a:xfrm>
            <a:off x="5230146" y="1336226"/>
            <a:ext cx="6101576" cy="1300372"/>
            <a:chOff x="5230146" y="1336226"/>
            <a:chExt cx="6101576" cy="1300372"/>
          </a:xfrm>
        </p:grpSpPr>
        <p:cxnSp>
          <p:nvCxnSpPr>
            <p:cNvPr id="81" name="Straight Connector 80">
              <a:extLst>
                <a:ext uri="{FF2B5EF4-FFF2-40B4-BE49-F238E27FC236}">
                  <a16:creationId xmlns:a16="http://schemas.microsoft.com/office/drawing/2014/main" id="{B7B4B987-AA79-49AB-B626-0E73A0D96C57}"/>
                </a:ext>
              </a:extLst>
            </p:cNvPr>
            <p:cNvCxnSpPr>
              <a:cxnSpLocks/>
            </p:cNvCxnSpPr>
            <p:nvPr/>
          </p:nvCxnSpPr>
          <p:spPr>
            <a:xfrm>
              <a:off x="5230146" y="1867669"/>
              <a:ext cx="5992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E885646-174A-4E01-BE35-94DAA12B8CAA}"/>
                </a:ext>
              </a:extLst>
            </p:cNvPr>
            <p:cNvCxnSpPr>
              <a:cxnSpLocks/>
            </p:cNvCxnSpPr>
            <p:nvPr/>
          </p:nvCxnSpPr>
          <p:spPr>
            <a:xfrm>
              <a:off x="5230146" y="2278833"/>
              <a:ext cx="5992036" cy="0"/>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386FF953-D410-4E78-A5DD-6585567E6668}"/>
                </a:ext>
              </a:extLst>
            </p:cNvPr>
            <p:cNvSpPr txBox="1"/>
            <p:nvPr/>
          </p:nvSpPr>
          <p:spPr>
            <a:xfrm>
              <a:off x="6956737" y="1336226"/>
              <a:ext cx="4339116" cy="584775"/>
            </a:xfrm>
            <a:prstGeom prst="rect">
              <a:avLst/>
            </a:prstGeom>
            <a:noFill/>
          </p:spPr>
          <p:txBody>
            <a:bodyPr wrap="square" rtlCol="0">
              <a:spAutoFit/>
            </a:bodyPr>
            <a:lstStyle/>
            <a:p>
              <a:pPr algn="ctr"/>
              <a:r>
                <a:rPr lang="en-US" sz="1600" dirty="0"/>
                <a:t>Nephrotoxicity, neurotoxicity, </a:t>
              </a:r>
              <a:r>
                <a:rPr lang="en-US" sz="1600" dirty="0">
                  <a:sym typeface="Wingdings" panose="05000000000000000000" pitchFamily="2" charset="2"/>
                </a:rPr>
                <a:t> K and uric acid, metabolic syndrome</a:t>
              </a:r>
              <a:r>
                <a:rPr lang="en-US" sz="1600" dirty="0"/>
                <a:t> </a:t>
              </a:r>
            </a:p>
          </p:txBody>
        </p:sp>
        <p:sp>
          <p:nvSpPr>
            <p:cNvPr id="84" name="TextBox 83">
              <a:extLst>
                <a:ext uri="{FF2B5EF4-FFF2-40B4-BE49-F238E27FC236}">
                  <a16:creationId xmlns:a16="http://schemas.microsoft.com/office/drawing/2014/main" id="{152BB9F5-6542-4782-8CB7-E3AC8CF6EFAF}"/>
                </a:ext>
              </a:extLst>
            </p:cNvPr>
            <p:cNvSpPr txBox="1"/>
            <p:nvPr/>
          </p:nvSpPr>
          <p:spPr>
            <a:xfrm>
              <a:off x="6924181" y="1904378"/>
              <a:ext cx="4396149" cy="338554"/>
            </a:xfrm>
            <a:prstGeom prst="rect">
              <a:avLst/>
            </a:prstGeom>
            <a:noFill/>
          </p:spPr>
          <p:txBody>
            <a:bodyPr wrap="square" rtlCol="0">
              <a:spAutoFit/>
            </a:bodyPr>
            <a:lstStyle/>
            <a:p>
              <a:pPr algn="ctr"/>
              <a:r>
                <a:rPr lang="en-US" sz="1600" dirty="0"/>
                <a:t>Bone marrow suppression, </a:t>
              </a:r>
              <a:r>
                <a:rPr lang="en-US" sz="1600" dirty="0">
                  <a:sym typeface="Wingdings" panose="05000000000000000000" pitchFamily="2" charset="2"/>
                </a:rPr>
                <a:t>GI side effects (colitis)</a:t>
              </a:r>
              <a:endParaRPr lang="en-US" sz="1600" dirty="0"/>
            </a:p>
          </p:txBody>
        </p:sp>
        <p:sp>
          <p:nvSpPr>
            <p:cNvPr id="85" name="TextBox 84">
              <a:extLst>
                <a:ext uri="{FF2B5EF4-FFF2-40B4-BE49-F238E27FC236}">
                  <a16:creationId xmlns:a16="http://schemas.microsoft.com/office/drawing/2014/main" id="{4FF1003A-CBB1-4CE6-A188-85A285F9A357}"/>
                </a:ext>
              </a:extLst>
            </p:cNvPr>
            <p:cNvSpPr txBox="1"/>
            <p:nvPr/>
          </p:nvSpPr>
          <p:spPr>
            <a:xfrm>
              <a:off x="6935573" y="2298044"/>
              <a:ext cx="4396149" cy="338554"/>
            </a:xfrm>
            <a:prstGeom prst="rect">
              <a:avLst/>
            </a:prstGeom>
            <a:noFill/>
          </p:spPr>
          <p:txBody>
            <a:bodyPr wrap="square" rtlCol="0">
              <a:spAutoFit/>
            </a:bodyPr>
            <a:lstStyle/>
            <a:p>
              <a:pPr algn="ctr"/>
              <a:r>
                <a:rPr lang="en-US" sz="1600" dirty="0"/>
                <a:t>Metabolic syndrome</a:t>
              </a:r>
            </a:p>
          </p:txBody>
        </p:sp>
      </p:grpSp>
    </p:spTree>
    <p:extLst>
      <p:ext uri="{BB962C8B-B14F-4D97-AF65-F5344CB8AC3E}">
        <p14:creationId xmlns:p14="http://schemas.microsoft.com/office/powerpoint/2010/main" val="21323214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8"/>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9" restart="whenNotActive" fill="hold" evtFilter="cancelBubble" nodeType="interactiveSeq">
                <p:stCondLst>
                  <p:cond evt="onClick" delay="0">
                    <p:tgtEl>
                      <p:spTgt spid="45"/>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withEffect">
                                  <p:stCondLst>
                                    <p:cond delay="0"/>
                                  </p:stCondLst>
                                  <p:childTnLst>
                                    <p:set>
                                      <p:cBhvr>
                                        <p:cTn id="13" dur="1" fill="hold">
                                          <p:stCondLst>
                                            <p:cond delay="0"/>
                                          </p:stCondLst>
                                        </p:cTn>
                                        <p:tgtEl>
                                          <p:spTgt spid="80"/>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79"/>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 name="Group 125">
            <a:extLst>
              <a:ext uri="{FF2B5EF4-FFF2-40B4-BE49-F238E27FC236}">
                <a16:creationId xmlns:a16="http://schemas.microsoft.com/office/drawing/2014/main" id="{84E44470-1E1E-44C6-B573-52D020EB81B3}"/>
              </a:ext>
            </a:extLst>
          </p:cNvPr>
          <p:cNvGrpSpPr/>
          <p:nvPr/>
        </p:nvGrpSpPr>
        <p:grpSpPr>
          <a:xfrm>
            <a:off x="439588" y="894912"/>
            <a:ext cx="8181670" cy="5884540"/>
            <a:chOff x="440016" y="889196"/>
            <a:chExt cx="8181670" cy="5884540"/>
          </a:xfrm>
        </p:grpSpPr>
        <p:cxnSp>
          <p:nvCxnSpPr>
            <p:cNvPr id="127" name="Straight Connector 126">
              <a:extLst>
                <a:ext uri="{FF2B5EF4-FFF2-40B4-BE49-F238E27FC236}">
                  <a16:creationId xmlns:a16="http://schemas.microsoft.com/office/drawing/2014/main" id="{75F54D8F-4EDF-4F28-ADE6-2AB9142A52C2}"/>
                </a:ext>
              </a:extLst>
            </p:cNvPr>
            <p:cNvCxnSpPr>
              <a:cxnSpLocks/>
            </p:cNvCxnSpPr>
            <p:nvPr/>
          </p:nvCxnSpPr>
          <p:spPr>
            <a:xfrm flipV="1">
              <a:off x="2673170" y="1258529"/>
              <a:ext cx="0" cy="1858296"/>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22EBA8B6-7B0A-4812-B798-C128C7FE5A6C}"/>
                </a:ext>
              </a:extLst>
            </p:cNvPr>
            <p:cNvCxnSpPr>
              <a:cxnSpLocks/>
            </p:cNvCxnSpPr>
            <p:nvPr/>
          </p:nvCxnSpPr>
          <p:spPr>
            <a:xfrm flipV="1">
              <a:off x="2673170" y="3116826"/>
              <a:ext cx="5948516" cy="1"/>
            </a:xfrm>
            <a:prstGeom prst="line">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29" name="TextBox 128">
              <a:extLst>
                <a:ext uri="{FF2B5EF4-FFF2-40B4-BE49-F238E27FC236}">
                  <a16:creationId xmlns:a16="http://schemas.microsoft.com/office/drawing/2014/main" id="{D3AFB54E-4EBA-4D14-80F3-086290A846D6}"/>
                </a:ext>
              </a:extLst>
            </p:cNvPr>
            <p:cNvSpPr txBox="1"/>
            <p:nvPr/>
          </p:nvSpPr>
          <p:spPr>
            <a:xfrm>
              <a:off x="2833036" y="889197"/>
              <a:ext cx="1859423" cy="369332"/>
            </a:xfrm>
            <a:prstGeom prst="rect">
              <a:avLst/>
            </a:prstGeom>
            <a:noFill/>
          </p:spPr>
          <p:txBody>
            <a:bodyPr wrap="square" rtlCol="0">
              <a:spAutoFit/>
            </a:bodyPr>
            <a:lstStyle/>
            <a:p>
              <a:pPr algn="ctr"/>
              <a:r>
                <a:rPr lang="en-US" dirty="0"/>
                <a:t>INDUCTION</a:t>
              </a:r>
            </a:p>
          </p:txBody>
        </p:sp>
        <p:sp>
          <p:nvSpPr>
            <p:cNvPr id="130" name="TextBox 129">
              <a:extLst>
                <a:ext uri="{FF2B5EF4-FFF2-40B4-BE49-F238E27FC236}">
                  <a16:creationId xmlns:a16="http://schemas.microsoft.com/office/drawing/2014/main" id="{EE4BF840-EE07-474C-A494-68FBE8505FA1}"/>
                </a:ext>
              </a:extLst>
            </p:cNvPr>
            <p:cNvSpPr txBox="1"/>
            <p:nvPr/>
          </p:nvSpPr>
          <p:spPr>
            <a:xfrm>
              <a:off x="4817804" y="889196"/>
              <a:ext cx="2090597" cy="369332"/>
            </a:xfrm>
            <a:prstGeom prst="rect">
              <a:avLst/>
            </a:prstGeom>
            <a:noFill/>
          </p:spPr>
          <p:txBody>
            <a:bodyPr wrap="square" rtlCol="0">
              <a:spAutoFit/>
            </a:bodyPr>
            <a:lstStyle/>
            <a:p>
              <a:pPr algn="ctr"/>
              <a:r>
                <a:rPr lang="en-US" dirty="0"/>
                <a:t>MAINTENANCE</a:t>
              </a:r>
            </a:p>
          </p:txBody>
        </p:sp>
        <p:sp>
          <p:nvSpPr>
            <p:cNvPr id="131" name="TextBox 130">
              <a:extLst>
                <a:ext uri="{FF2B5EF4-FFF2-40B4-BE49-F238E27FC236}">
                  <a16:creationId xmlns:a16="http://schemas.microsoft.com/office/drawing/2014/main" id="{936C6C56-CC82-4DFC-B9F5-3AD66B688FEE}"/>
                </a:ext>
              </a:extLst>
            </p:cNvPr>
            <p:cNvSpPr txBox="1"/>
            <p:nvPr/>
          </p:nvSpPr>
          <p:spPr>
            <a:xfrm rot="16200000">
              <a:off x="1331382" y="2063562"/>
              <a:ext cx="2251587" cy="338554"/>
            </a:xfrm>
            <a:prstGeom prst="rect">
              <a:avLst/>
            </a:prstGeom>
            <a:noFill/>
          </p:spPr>
          <p:txBody>
            <a:bodyPr wrap="square" rtlCol="0">
              <a:spAutoFit/>
            </a:bodyPr>
            <a:lstStyle/>
            <a:p>
              <a:pPr algn="ctr"/>
              <a:r>
                <a:rPr lang="en-US" sz="1600" dirty="0" err="1"/>
                <a:t>Allogenicity</a:t>
              </a:r>
              <a:endParaRPr lang="en-US" sz="1600" dirty="0"/>
            </a:p>
          </p:txBody>
        </p:sp>
        <p:cxnSp>
          <p:nvCxnSpPr>
            <p:cNvPr id="132" name="Straight Connector 131">
              <a:extLst>
                <a:ext uri="{FF2B5EF4-FFF2-40B4-BE49-F238E27FC236}">
                  <a16:creationId xmlns:a16="http://schemas.microsoft.com/office/drawing/2014/main" id="{055ABDD8-C828-41A3-A7A8-434644FD8745}"/>
                </a:ext>
              </a:extLst>
            </p:cNvPr>
            <p:cNvCxnSpPr>
              <a:cxnSpLocks/>
            </p:cNvCxnSpPr>
            <p:nvPr/>
          </p:nvCxnSpPr>
          <p:spPr>
            <a:xfrm flipH="1">
              <a:off x="4802178" y="1301340"/>
              <a:ext cx="15626" cy="5472396"/>
            </a:xfrm>
            <a:prstGeom prst="line">
              <a:avLst/>
            </a:prstGeom>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C5779225-6152-407F-ADA8-F27F341CE731}"/>
                </a:ext>
              </a:extLst>
            </p:cNvPr>
            <p:cNvCxnSpPr>
              <a:cxnSpLocks/>
            </p:cNvCxnSpPr>
            <p:nvPr/>
          </p:nvCxnSpPr>
          <p:spPr>
            <a:xfrm>
              <a:off x="6908401" y="1301340"/>
              <a:ext cx="8563" cy="5472396"/>
            </a:xfrm>
            <a:prstGeom prst="line">
              <a:avLst/>
            </a:prstGeom>
          </p:spPr>
          <p:style>
            <a:lnRef idx="1">
              <a:schemeClr val="dk1"/>
            </a:lnRef>
            <a:fillRef idx="0">
              <a:schemeClr val="dk1"/>
            </a:fillRef>
            <a:effectRef idx="0">
              <a:schemeClr val="dk1"/>
            </a:effectRef>
            <a:fontRef idx="minor">
              <a:schemeClr val="tx1"/>
            </a:fontRef>
          </p:style>
        </p:cxnSp>
        <p:cxnSp>
          <p:nvCxnSpPr>
            <p:cNvPr id="134" name="Straight Connector 133">
              <a:extLst>
                <a:ext uri="{FF2B5EF4-FFF2-40B4-BE49-F238E27FC236}">
                  <a16:creationId xmlns:a16="http://schemas.microsoft.com/office/drawing/2014/main" id="{0570C249-E5A6-4829-8083-3980D106C239}"/>
                </a:ext>
              </a:extLst>
            </p:cNvPr>
            <p:cNvCxnSpPr>
              <a:cxnSpLocks/>
            </p:cNvCxnSpPr>
            <p:nvPr/>
          </p:nvCxnSpPr>
          <p:spPr>
            <a:xfrm flipH="1">
              <a:off x="2673169" y="3077496"/>
              <a:ext cx="1" cy="3676099"/>
            </a:xfrm>
            <a:prstGeom prst="line">
              <a:avLst/>
            </a:prstGeom>
            <a:ln w="6350"/>
          </p:spPr>
          <p:style>
            <a:lnRef idx="1">
              <a:schemeClr val="dk1"/>
            </a:lnRef>
            <a:fillRef idx="0">
              <a:schemeClr val="dk1"/>
            </a:fillRef>
            <a:effectRef idx="0">
              <a:schemeClr val="dk1"/>
            </a:effectRef>
            <a:fontRef idx="minor">
              <a:schemeClr val="tx1"/>
            </a:fontRef>
          </p:style>
        </p:cxnSp>
        <p:sp>
          <p:nvSpPr>
            <p:cNvPr id="135" name="TextBox 134">
              <a:extLst>
                <a:ext uri="{FF2B5EF4-FFF2-40B4-BE49-F238E27FC236}">
                  <a16:creationId xmlns:a16="http://schemas.microsoft.com/office/drawing/2014/main" id="{8625E11E-FE56-4504-81CC-0F60CD18BEED}"/>
                </a:ext>
              </a:extLst>
            </p:cNvPr>
            <p:cNvSpPr txBox="1"/>
            <p:nvPr/>
          </p:nvSpPr>
          <p:spPr>
            <a:xfrm>
              <a:off x="446802" y="2024841"/>
              <a:ext cx="2025446" cy="369332"/>
            </a:xfrm>
            <a:prstGeom prst="rect">
              <a:avLst/>
            </a:prstGeom>
            <a:noFill/>
          </p:spPr>
          <p:txBody>
            <a:bodyPr wrap="square" rtlCol="0">
              <a:spAutoFit/>
            </a:bodyPr>
            <a:lstStyle/>
            <a:p>
              <a:pPr algn="ctr"/>
              <a:r>
                <a:rPr lang="en-US" dirty="0">
                  <a:solidFill>
                    <a:schemeClr val="accent1"/>
                  </a:solidFill>
                </a:rPr>
                <a:t>MEDICATIONS</a:t>
              </a:r>
            </a:p>
          </p:txBody>
        </p:sp>
        <p:sp>
          <p:nvSpPr>
            <p:cNvPr id="136" name="TextBox 135">
              <a:extLst>
                <a:ext uri="{FF2B5EF4-FFF2-40B4-BE49-F238E27FC236}">
                  <a16:creationId xmlns:a16="http://schemas.microsoft.com/office/drawing/2014/main" id="{B9D10671-8C09-4E8D-BAE8-FC1BEAAEBFE1}"/>
                </a:ext>
              </a:extLst>
            </p:cNvPr>
            <p:cNvSpPr txBox="1"/>
            <p:nvPr/>
          </p:nvSpPr>
          <p:spPr>
            <a:xfrm>
              <a:off x="6262915" y="3107093"/>
              <a:ext cx="694250" cy="307777"/>
            </a:xfrm>
            <a:prstGeom prst="rect">
              <a:avLst/>
            </a:prstGeom>
            <a:noFill/>
          </p:spPr>
          <p:txBody>
            <a:bodyPr wrap="square" rtlCol="0">
              <a:spAutoFit/>
            </a:bodyPr>
            <a:lstStyle/>
            <a:p>
              <a:pPr algn="ctr"/>
              <a:r>
                <a:rPr lang="en-US" sz="1400" dirty="0"/>
                <a:t>6 </a:t>
              </a:r>
              <a:r>
                <a:rPr lang="en-US" sz="1400" dirty="0" err="1"/>
                <a:t>mos</a:t>
              </a:r>
              <a:endParaRPr lang="en-US" sz="1400" dirty="0"/>
            </a:p>
          </p:txBody>
        </p:sp>
        <p:sp>
          <p:nvSpPr>
            <p:cNvPr id="137" name="TextBox 136">
              <a:extLst>
                <a:ext uri="{FF2B5EF4-FFF2-40B4-BE49-F238E27FC236}">
                  <a16:creationId xmlns:a16="http://schemas.microsoft.com/office/drawing/2014/main" id="{B2808B8D-E59C-4CDB-9BDF-DEA15BC466BA}"/>
                </a:ext>
              </a:extLst>
            </p:cNvPr>
            <p:cNvSpPr txBox="1"/>
            <p:nvPr/>
          </p:nvSpPr>
          <p:spPr>
            <a:xfrm>
              <a:off x="4193606" y="3107182"/>
              <a:ext cx="694250" cy="307777"/>
            </a:xfrm>
            <a:prstGeom prst="rect">
              <a:avLst/>
            </a:prstGeom>
            <a:noFill/>
          </p:spPr>
          <p:txBody>
            <a:bodyPr wrap="square" rtlCol="0">
              <a:spAutoFit/>
            </a:bodyPr>
            <a:lstStyle/>
            <a:p>
              <a:pPr algn="ctr"/>
              <a:r>
                <a:rPr lang="en-US" sz="1400" dirty="0"/>
                <a:t>1 </a:t>
              </a:r>
              <a:r>
                <a:rPr lang="en-US" sz="1400" dirty="0" err="1"/>
                <a:t>mo</a:t>
              </a:r>
              <a:endParaRPr lang="en-US" sz="1400" dirty="0"/>
            </a:p>
          </p:txBody>
        </p:sp>
        <p:sp>
          <p:nvSpPr>
            <p:cNvPr id="138" name="TextBox 137">
              <a:extLst>
                <a:ext uri="{FF2B5EF4-FFF2-40B4-BE49-F238E27FC236}">
                  <a16:creationId xmlns:a16="http://schemas.microsoft.com/office/drawing/2014/main" id="{38AC8DED-DB4A-464C-9DA3-F91428B38AEF}"/>
                </a:ext>
              </a:extLst>
            </p:cNvPr>
            <p:cNvSpPr txBox="1"/>
            <p:nvPr/>
          </p:nvSpPr>
          <p:spPr>
            <a:xfrm>
              <a:off x="440016" y="3122059"/>
              <a:ext cx="2025446" cy="369332"/>
            </a:xfrm>
            <a:prstGeom prst="rect">
              <a:avLst/>
            </a:prstGeom>
            <a:noFill/>
          </p:spPr>
          <p:txBody>
            <a:bodyPr wrap="square" rtlCol="0">
              <a:spAutoFit/>
            </a:bodyPr>
            <a:lstStyle/>
            <a:p>
              <a:pPr algn="ctr"/>
              <a:r>
                <a:rPr lang="en-US" dirty="0"/>
                <a:t>COMPLICATIONS</a:t>
              </a:r>
            </a:p>
          </p:txBody>
        </p:sp>
        <p:sp>
          <p:nvSpPr>
            <p:cNvPr id="139" name="Freeform: Shape 138">
              <a:extLst>
                <a:ext uri="{FF2B5EF4-FFF2-40B4-BE49-F238E27FC236}">
                  <a16:creationId xmlns:a16="http://schemas.microsoft.com/office/drawing/2014/main" id="{BFEAE051-4438-4B74-9C81-B2D373375CFD}"/>
                </a:ext>
              </a:extLst>
            </p:cNvPr>
            <p:cNvSpPr/>
            <p:nvPr/>
          </p:nvSpPr>
          <p:spPr>
            <a:xfrm>
              <a:off x="2723536" y="1269631"/>
              <a:ext cx="5869858" cy="1807865"/>
            </a:xfrm>
            <a:custGeom>
              <a:avLst/>
              <a:gdLst>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67896 w 5899355"/>
                <a:gd name="connsiteY5" fmla="*/ 1404187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6975 h 1826975"/>
                <a:gd name="connsiteX1" fmla="*/ 462116 w 5899355"/>
                <a:gd name="connsiteY1" fmla="*/ 942071 h 1826975"/>
                <a:gd name="connsiteX2" fmla="*/ 845574 w 5899355"/>
                <a:gd name="connsiteY2" fmla="*/ 116162 h 1826975"/>
                <a:gd name="connsiteX3" fmla="*/ 1199535 w 5899355"/>
                <a:gd name="connsiteY3" fmla="*/ 86665 h 1826975"/>
                <a:gd name="connsiteX4" fmla="*/ 1927122 w 5899355"/>
                <a:gd name="connsiteY4" fmla="*/ 873246 h 1826975"/>
                <a:gd name="connsiteX5" fmla="*/ 2448231 w 5899355"/>
                <a:gd name="connsiteY5" fmla="*/ 1276368 h 1826975"/>
                <a:gd name="connsiteX6" fmla="*/ 3893574 w 5899355"/>
                <a:gd name="connsiteY6" fmla="*/ 1610665 h 1826975"/>
                <a:gd name="connsiteX7" fmla="*/ 4866967 w 5899355"/>
                <a:gd name="connsiteY7" fmla="*/ 1679491 h 1826975"/>
                <a:gd name="connsiteX8" fmla="*/ 5899355 w 5899355"/>
                <a:gd name="connsiteY8" fmla="*/ 1689323 h 1826975"/>
                <a:gd name="connsiteX0" fmla="*/ 0 w 5899355"/>
                <a:gd name="connsiteY0" fmla="*/ 1820453 h 1820453"/>
                <a:gd name="connsiteX1" fmla="*/ 462116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0453 h 1820453"/>
                <a:gd name="connsiteX1" fmla="*/ 412955 w 5899355"/>
                <a:gd name="connsiteY1" fmla="*/ 935549 h 1820453"/>
                <a:gd name="connsiteX2" fmla="*/ 845574 w 5899355"/>
                <a:gd name="connsiteY2" fmla="*/ 109640 h 1820453"/>
                <a:gd name="connsiteX3" fmla="*/ 1199535 w 5899355"/>
                <a:gd name="connsiteY3" fmla="*/ 80143 h 1820453"/>
                <a:gd name="connsiteX4" fmla="*/ 1848464 w 5899355"/>
                <a:gd name="connsiteY4" fmla="*/ 768401 h 1820453"/>
                <a:gd name="connsiteX5" fmla="*/ 2448231 w 5899355"/>
                <a:gd name="connsiteY5" fmla="*/ 1269846 h 1820453"/>
                <a:gd name="connsiteX6" fmla="*/ 3893574 w 5899355"/>
                <a:gd name="connsiteY6" fmla="*/ 1604143 h 1820453"/>
                <a:gd name="connsiteX7" fmla="*/ 4866967 w 5899355"/>
                <a:gd name="connsiteY7" fmla="*/ 1672969 h 1820453"/>
                <a:gd name="connsiteX8" fmla="*/ 5899355 w 5899355"/>
                <a:gd name="connsiteY8" fmla="*/ 1682801 h 1820453"/>
                <a:gd name="connsiteX0" fmla="*/ 0 w 5899355"/>
                <a:gd name="connsiteY0" fmla="*/ 1825752 h 1825752"/>
                <a:gd name="connsiteX1" fmla="*/ 412955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899355"/>
                <a:gd name="connsiteY0" fmla="*/ 1825752 h 1825752"/>
                <a:gd name="connsiteX1" fmla="*/ 363794 w 5899355"/>
                <a:gd name="connsiteY1" fmla="*/ 940848 h 1825752"/>
                <a:gd name="connsiteX2" fmla="*/ 766916 w 5899355"/>
                <a:gd name="connsiteY2" fmla="*/ 105107 h 1825752"/>
                <a:gd name="connsiteX3" fmla="*/ 1199535 w 5899355"/>
                <a:gd name="connsiteY3" fmla="*/ 85442 h 1825752"/>
                <a:gd name="connsiteX4" fmla="*/ 1848464 w 5899355"/>
                <a:gd name="connsiteY4" fmla="*/ 773700 h 1825752"/>
                <a:gd name="connsiteX5" fmla="*/ 2448231 w 5899355"/>
                <a:gd name="connsiteY5" fmla="*/ 1275145 h 1825752"/>
                <a:gd name="connsiteX6" fmla="*/ 3893574 w 5899355"/>
                <a:gd name="connsiteY6" fmla="*/ 1609442 h 1825752"/>
                <a:gd name="connsiteX7" fmla="*/ 4866967 w 5899355"/>
                <a:gd name="connsiteY7" fmla="*/ 1678268 h 1825752"/>
                <a:gd name="connsiteX8" fmla="*/ 5899355 w 5899355"/>
                <a:gd name="connsiteY8" fmla="*/ 1688100 h 1825752"/>
                <a:gd name="connsiteX0" fmla="*/ 0 w 5938684"/>
                <a:gd name="connsiteY0" fmla="*/ 1825752 h 1825752"/>
                <a:gd name="connsiteX1" fmla="*/ 403123 w 5938684"/>
                <a:gd name="connsiteY1" fmla="*/ 940848 h 1825752"/>
                <a:gd name="connsiteX2" fmla="*/ 806245 w 5938684"/>
                <a:gd name="connsiteY2" fmla="*/ 105107 h 1825752"/>
                <a:gd name="connsiteX3" fmla="*/ 1238864 w 5938684"/>
                <a:gd name="connsiteY3" fmla="*/ 85442 h 1825752"/>
                <a:gd name="connsiteX4" fmla="*/ 1887793 w 5938684"/>
                <a:gd name="connsiteY4" fmla="*/ 773700 h 1825752"/>
                <a:gd name="connsiteX5" fmla="*/ 2487560 w 5938684"/>
                <a:gd name="connsiteY5" fmla="*/ 1275145 h 1825752"/>
                <a:gd name="connsiteX6" fmla="*/ 3932903 w 5938684"/>
                <a:gd name="connsiteY6" fmla="*/ 1609442 h 1825752"/>
                <a:gd name="connsiteX7" fmla="*/ 4906296 w 5938684"/>
                <a:gd name="connsiteY7" fmla="*/ 1678268 h 1825752"/>
                <a:gd name="connsiteX8" fmla="*/ 5938684 w 5938684"/>
                <a:gd name="connsiteY8" fmla="*/ 1688100 h 1825752"/>
                <a:gd name="connsiteX0" fmla="*/ 0 w 5919020"/>
                <a:gd name="connsiteY0" fmla="*/ 1727429 h 1727429"/>
                <a:gd name="connsiteX1" fmla="*/ 383459 w 5919020"/>
                <a:gd name="connsiteY1" fmla="*/ 940848 h 1727429"/>
                <a:gd name="connsiteX2" fmla="*/ 786581 w 5919020"/>
                <a:gd name="connsiteY2" fmla="*/ 105107 h 1727429"/>
                <a:gd name="connsiteX3" fmla="*/ 1219200 w 5919020"/>
                <a:gd name="connsiteY3" fmla="*/ 85442 h 1727429"/>
                <a:gd name="connsiteX4" fmla="*/ 1868129 w 5919020"/>
                <a:gd name="connsiteY4" fmla="*/ 773700 h 1727429"/>
                <a:gd name="connsiteX5" fmla="*/ 2467896 w 5919020"/>
                <a:gd name="connsiteY5" fmla="*/ 1275145 h 1727429"/>
                <a:gd name="connsiteX6" fmla="*/ 3913239 w 5919020"/>
                <a:gd name="connsiteY6" fmla="*/ 1609442 h 1727429"/>
                <a:gd name="connsiteX7" fmla="*/ 4886632 w 5919020"/>
                <a:gd name="connsiteY7" fmla="*/ 1678268 h 1727429"/>
                <a:gd name="connsiteX8" fmla="*/ 5919020 w 5919020"/>
                <a:gd name="connsiteY8" fmla="*/ 1688100 h 1727429"/>
                <a:gd name="connsiteX0" fmla="*/ 0 w 5869858"/>
                <a:gd name="connsiteY0" fmla="*/ 1796255 h 1796255"/>
                <a:gd name="connsiteX1" fmla="*/ 334297 w 5869858"/>
                <a:gd name="connsiteY1" fmla="*/ 940848 h 1796255"/>
                <a:gd name="connsiteX2" fmla="*/ 737419 w 5869858"/>
                <a:gd name="connsiteY2" fmla="*/ 105107 h 1796255"/>
                <a:gd name="connsiteX3" fmla="*/ 1170038 w 5869858"/>
                <a:gd name="connsiteY3" fmla="*/ 85442 h 1796255"/>
                <a:gd name="connsiteX4" fmla="*/ 1818967 w 5869858"/>
                <a:gd name="connsiteY4" fmla="*/ 773700 h 1796255"/>
                <a:gd name="connsiteX5" fmla="*/ 2418734 w 5869858"/>
                <a:gd name="connsiteY5" fmla="*/ 1275145 h 1796255"/>
                <a:gd name="connsiteX6" fmla="*/ 3864077 w 5869858"/>
                <a:gd name="connsiteY6" fmla="*/ 1609442 h 1796255"/>
                <a:gd name="connsiteX7" fmla="*/ 4837470 w 5869858"/>
                <a:gd name="connsiteY7" fmla="*/ 1678268 h 1796255"/>
                <a:gd name="connsiteX8" fmla="*/ 5869858 w 5869858"/>
                <a:gd name="connsiteY8" fmla="*/ 1688100 h 1796255"/>
                <a:gd name="connsiteX0" fmla="*/ 0 w 5869858"/>
                <a:gd name="connsiteY0" fmla="*/ 1785760 h 1785760"/>
                <a:gd name="connsiteX1" fmla="*/ 422788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85760 h 1785760"/>
                <a:gd name="connsiteX1" fmla="*/ 383459 w 5869858"/>
                <a:gd name="connsiteY1" fmla="*/ 753373 h 1785760"/>
                <a:gd name="connsiteX2" fmla="*/ 737419 w 5869858"/>
                <a:gd name="connsiteY2" fmla="*/ 94612 h 1785760"/>
                <a:gd name="connsiteX3" fmla="*/ 1170038 w 5869858"/>
                <a:gd name="connsiteY3" fmla="*/ 74947 h 1785760"/>
                <a:gd name="connsiteX4" fmla="*/ 1818967 w 5869858"/>
                <a:gd name="connsiteY4" fmla="*/ 763205 h 1785760"/>
                <a:gd name="connsiteX5" fmla="*/ 2418734 w 5869858"/>
                <a:gd name="connsiteY5" fmla="*/ 1264650 h 1785760"/>
                <a:gd name="connsiteX6" fmla="*/ 3864077 w 5869858"/>
                <a:gd name="connsiteY6" fmla="*/ 1598947 h 1785760"/>
                <a:gd name="connsiteX7" fmla="*/ 4837470 w 5869858"/>
                <a:gd name="connsiteY7" fmla="*/ 1667773 h 1785760"/>
                <a:gd name="connsiteX8" fmla="*/ 5869858 w 5869858"/>
                <a:gd name="connsiteY8" fmla="*/ 1677605 h 1785760"/>
                <a:gd name="connsiteX0" fmla="*/ 0 w 5869858"/>
                <a:gd name="connsiteY0" fmla="*/ 1796231 h 1796231"/>
                <a:gd name="connsiteX1" fmla="*/ 383459 w 5869858"/>
                <a:gd name="connsiteY1" fmla="*/ 763844 h 1796231"/>
                <a:gd name="connsiteX2" fmla="*/ 688258 w 5869858"/>
                <a:gd name="connsiteY2" fmla="*/ 85419 h 1796231"/>
                <a:gd name="connsiteX3" fmla="*/ 1170038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796231 h 1796231"/>
                <a:gd name="connsiteX1" fmla="*/ 383459 w 5869858"/>
                <a:gd name="connsiteY1" fmla="*/ 763844 h 1796231"/>
                <a:gd name="connsiteX2" fmla="*/ 688258 w 5869858"/>
                <a:gd name="connsiteY2" fmla="*/ 85419 h 1796231"/>
                <a:gd name="connsiteX3" fmla="*/ 1199535 w 5869858"/>
                <a:gd name="connsiteY3" fmla="*/ 85418 h 1796231"/>
                <a:gd name="connsiteX4" fmla="*/ 1818967 w 5869858"/>
                <a:gd name="connsiteY4" fmla="*/ 773676 h 1796231"/>
                <a:gd name="connsiteX5" fmla="*/ 2418734 w 5869858"/>
                <a:gd name="connsiteY5" fmla="*/ 1275121 h 1796231"/>
                <a:gd name="connsiteX6" fmla="*/ 3864077 w 5869858"/>
                <a:gd name="connsiteY6" fmla="*/ 1609418 h 1796231"/>
                <a:gd name="connsiteX7" fmla="*/ 4837470 w 5869858"/>
                <a:gd name="connsiteY7" fmla="*/ 1678244 h 1796231"/>
                <a:gd name="connsiteX8" fmla="*/ 5869858 w 5869858"/>
                <a:gd name="connsiteY8" fmla="*/ 1688076 h 1796231"/>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18734 w 5869858"/>
                <a:gd name="connsiteY5" fmla="*/ 1286755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 name="connsiteX0" fmla="*/ 0 w 5869858"/>
                <a:gd name="connsiteY0" fmla="*/ 1807865 h 1807865"/>
                <a:gd name="connsiteX1" fmla="*/ 383459 w 5869858"/>
                <a:gd name="connsiteY1" fmla="*/ 775478 h 1807865"/>
                <a:gd name="connsiteX2" fmla="*/ 688258 w 5869858"/>
                <a:gd name="connsiteY2" fmla="*/ 97053 h 1807865"/>
                <a:gd name="connsiteX3" fmla="*/ 1219200 w 5869858"/>
                <a:gd name="connsiteY3" fmla="*/ 77387 h 1807865"/>
                <a:gd name="connsiteX4" fmla="*/ 1818967 w 5869858"/>
                <a:gd name="connsiteY4" fmla="*/ 785310 h 1807865"/>
                <a:gd name="connsiteX5" fmla="*/ 2458063 w 5869858"/>
                <a:gd name="connsiteY5" fmla="*/ 1296587 h 1807865"/>
                <a:gd name="connsiteX6" fmla="*/ 3864077 w 5869858"/>
                <a:gd name="connsiteY6" fmla="*/ 1621052 h 1807865"/>
                <a:gd name="connsiteX7" fmla="*/ 4837470 w 5869858"/>
                <a:gd name="connsiteY7" fmla="*/ 1689878 h 1807865"/>
                <a:gd name="connsiteX8" fmla="*/ 5869858 w 5869858"/>
                <a:gd name="connsiteY8" fmla="*/ 1699710 h 180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9858" h="1807865">
                  <a:moveTo>
                    <a:pt x="0" y="1807865"/>
                  </a:moveTo>
                  <a:cubicBezTo>
                    <a:pt x="160593" y="1507980"/>
                    <a:pt x="268749" y="1060613"/>
                    <a:pt x="383459" y="775478"/>
                  </a:cubicBezTo>
                  <a:cubicBezTo>
                    <a:pt x="498169" y="490343"/>
                    <a:pt x="548968" y="213401"/>
                    <a:pt x="688258" y="97053"/>
                  </a:cubicBezTo>
                  <a:cubicBezTo>
                    <a:pt x="827548" y="-19295"/>
                    <a:pt x="1030749" y="-37322"/>
                    <a:pt x="1219200" y="77387"/>
                  </a:cubicBezTo>
                  <a:cubicBezTo>
                    <a:pt x="1407651" y="192096"/>
                    <a:pt x="1612490" y="582110"/>
                    <a:pt x="1818967" y="785310"/>
                  </a:cubicBezTo>
                  <a:cubicBezTo>
                    <a:pt x="2025444" y="988510"/>
                    <a:pt x="2077882" y="1137633"/>
                    <a:pt x="2458063" y="1296587"/>
                  </a:cubicBezTo>
                  <a:cubicBezTo>
                    <a:pt x="2838244" y="1455541"/>
                    <a:pt x="3467509" y="1555504"/>
                    <a:pt x="3864077" y="1621052"/>
                  </a:cubicBezTo>
                  <a:cubicBezTo>
                    <a:pt x="4260645" y="1686600"/>
                    <a:pt x="4503173" y="1676768"/>
                    <a:pt x="4837470" y="1689878"/>
                  </a:cubicBezTo>
                  <a:cubicBezTo>
                    <a:pt x="5171767" y="1702988"/>
                    <a:pt x="5520812" y="1701349"/>
                    <a:pt x="5869858" y="1699710"/>
                  </a:cubicBez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en-US">
                <a:solidFill>
                  <a:schemeClr val="accent6"/>
                </a:solidFill>
              </a:endParaRPr>
            </a:p>
          </p:txBody>
        </p:sp>
        <p:sp>
          <p:nvSpPr>
            <p:cNvPr id="140" name="TextBox 139">
              <a:extLst>
                <a:ext uri="{FF2B5EF4-FFF2-40B4-BE49-F238E27FC236}">
                  <a16:creationId xmlns:a16="http://schemas.microsoft.com/office/drawing/2014/main" id="{70587AD1-7D49-486D-A14D-BB36FCCF590A}"/>
                </a:ext>
              </a:extLst>
            </p:cNvPr>
            <p:cNvSpPr txBox="1"/>
            <p:nvPr/>
          </p:nvSpPr>
          <p:spPr>
            <a:xfrm>
              <a:off x="5028155" y="1595090"/>
              <a:ext cx="1643246" cy="992516"/>
            </a:xfrm>
            <a:prstGeom prst="rect">
              <a:avLst/>
            </a:prstGeom>
            <a:noFill/>
          </p:spPr>
          <p:txBody>
            <a:bodyPr wrap="square" rtlCol="0">
              <a:spAutoFit/>
            </a:bodyPr>
            <a:lstStyle/>
            <a:p>
              <a:pPr algn="ctr">
                <a:lnSpc>
                  <a:spcPts val="1400"/>
                </a:lnSpc>
              </a:pPr>
              <a:r>
                <a:rPr lang="en-US" sz="1600" dirty="0">
                  <a:solidFill>
                    <a:schemeClr val="accent1"/>
                  </a:solidFill>
                </a:rPr>
                <a:t>CNI</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Anti-metabolites</a:t>
              </a:r>
            </a:p>
            <a:p>
              <a:pPr algn="ctr">
                <a:lnSpc>
                  <a:spcPts val="1400"/>
                </a:lnSpc>
              </a:pPr>
              <a:endParaRPr lang="en-US" sz="1600" dirty="0">
                <a:solidFill>
                  <a:schemeClr val="accent1"/>
                </a:solidFill>
              </a:endParaRPr>
            </a:p>
            <a:p>
              <a:pPr algn="ctr">
                <a:lnSpc>
                  <a:spcPts val="1400"/>
                </a:lnSpc>
              </a:pPr>
              <a:r>
                <a:rPr lang="en-US" sz="1600" dirty="0">
                  <a:solidFill>
                    <a:schemeClr val="accent1"/>
                  </a:solidFill>
                </a:rPr>
                <a:t>prednisone</a:t>
              </a:r>
            </a:p>
          </p:txBody>
        </p:sp>
        <p:sp>
          <p:nvSpPr>
            <p:cNvPr id="141" name="TextBox 140">
              <a:extLst>
                <a:ext uri="{FF2B5EF4-FFF2-40B4-BE49-F238E27FC236}">
                  <a16:creationId xmlns:a16="http://schemas.microsoft.com/office/drawing/2014/main" id="{3A41A0F8-4EF0-4BC9-8210-6FB1C2734265}"/>
                </a:ext>
              </a:extLst>
            </p:cNvPr>
            <p:cNvSpPr txBox="1"/>
            <p:nvPr/>
          </p:nvSpPr>
          <p:spPr>
            <a:xfrm>
              <a:off x="2989238" y="1600132"/>
              <a:ext cx="1514740" cy="990015"/>
            </a:xfrm>
            <a:prstGeom prst="rect">
              <a:avLst/>
            </a:prstGeom>
            <a:noFill/>
          </p:spPr>
          <p:txBody>
            <a:bodyPr wrap="square" rtlCol="0">
              <a:spAutoFit/>
            </a:bodyPr>
            <a:lstStyle/>
            <a:p>
              <a:pPr algn="ctr">
                <a:lnSpc>
                  <a:spcPts val="1400"/>
                </a:lnSpc>
              </a:pPr>
              <a:r>
                <a:rPr lang="en-US" sz="1400" dirty="0">
                  <a:solidFill>
                    <a:schemeClr val="accent1"/>
                  </a:solidFill>
                </a:rPr>
                <a:t>Anti-lymphocytes/ anti- IL-2 Ab’s</a:t>
              </a:r>
            </a:p>
            <a:p>
              <a:pPr algn="ctr">
                <a:lnSpc>
                  <a:spcPts val="1400"/>
                </a:lnSpc>
              </a:pPr>
              <a:r>
                <a:rPr lang="en-US" sz="1400" dirty="0">
                  <a:solidFill>
                    <a:schemeClr val="accent1"/>
                  </a:solidFill>
                </a:rPr>
                <a:t>+</a:t>
              </a:r>
            </a:p>
            <a:p>
              <a:pPr algn="ctr">
                <a:lnSpc>
                  <a:spcPts val="1400"/>
                </a:lnSpc>
              </a:pPr>
              <a:r>
                <a:rPr lang="en-US" sz="1400" dirty="0">
                  <a:solidFill>
                    <a:schemeClr val="accent1"/>
                  </a:solidFill>
                </a:rPr>
                <a:t>Steroids </a:t>
              </a:r>
            </a:p>
          </p:txBody>
        </p:sp>
      </p:grpSp>
      <p:grpSp>
        <p:nvGrpSpPr>
          <p:cNvPr id="68" name="Group 67">
            <a:extLst>
              <a:ext uri="{FF2B5EF4-FFF2-40B4-BE49-F238E27FC236}">
                <a16:creationId xmlns:a16="http://schemas.microsoft.com/office/drawing/2014/main" id="{298B3F85-CCB0-42FA-915F-85DA56A91D20}"/>
              </a:ext>
            </a:extLst>
          </p:cNvPr>
          <p:cNvGrpSpPr/>
          <p:nvPr/>
        </p:nvGrpSpPr>
        <p:grpSpPr>
          <a:xfrm>
            <a:off x="2672740" y="3266952"/>
            <a:ext cx="6026138" cy="633443"/>
            <a:chOff x="2683443" y="3450169"/>
            <a:chExt cx="6026138" cy="633443"/>
          </a:xfrm>
        </p:grpSpPr>
        <p:cxnSp>
          <p:nvCxnSpPr>
            <p:cNvPr id="86" name="Straight Arrow Connector 85">
              <a:extLst>
                <a:ext uri="{FF2B5EF4-FFF2-40B4-BE49-F238E27FC236}">
                  <a16:creationId xmlns:a16="http://schemas.microsoft.com/office/drawing/2014/main" id="{3588417C-11E8-4B6C-9244-7B28FDE557C9}"/>
                </a:ext>
              </a:extLst>
            </p:cNvPr>
            <p:cNvCxnSpPr>
              <a:cxnSpLocks/>
            </p:cNvCxnSpPr>
            <p:nvPr/>
          </p:nvCxnSpPr>
          <p:spPr>
            <a:xfrm>
              <a:off x="2683443" y="3814532"/>
              <a:ext cx="4212446"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05200443-A11C-4F5A-AB95-76EE60494672}"/>
                </a:ext>
              </a:extLst>
            </p:cNvPr>
            <p:cNvSpPr txBox="1"/>
            <p:nvPr/>
          </p:nvSpPr>
          <p:spPr>
            <a:xfrm>
              <a:off x="4203095" y="3606530"/>
              <a:ext cx="1414600" cy="451406"/>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 25% with acute rejection</a:t>
              </a:r>
            </a:p>
          </p:txBody>
        </p:sp>
        <p:cxnSp>
          <p:nvCxnSpPr>
            <p:cNvPr id="99" name="Straight Arrow Connector 98">
              <a:extLst>
                <a:ext uri="{FF2B5EF4-FFF2-40B4-BE49-F238E27FC236}">
                  <a16:creationId xmlns:a16="http://schemas.microsoft.com/office/drawing/2014/main" id="{2C5778DA-4546-44E2-A06E-056B75751E15}"/>
                </a:ext>
              </a:extLst>
            </p:cNvPr>
            <p:cNvCxnSpPr>
              <a:cxnSpLocks/>
            </p:cNvCxnSpPr>
            <p:nvPr/>
          </p:nvCxnSpPr>
          <p:spPr>
            <a:xfrm flipV="1">
              <a:off x="6807132" y="3807933"/>
              <a:ext cx="1902449" cy="6402"/>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FA57F96E-6749-4372-A06B-01276DD89B72}"/>
                </a:ext>
              </a:extLst>
            </p:cNvPr>
            <p:cNvSpPr txBox="1"/>
            <p:nvPr/>
          </p:nvSpPr>
          <p:spPr>
            <a:xfrm>
              <a:off x="7098664" y="3450169"/>
              <a:ext cx="1440150" cy="633443"/>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Uncommon &gt; 6 </a:t>
              </a:r>
              <a:r>
                <a:rPr lang="en-US" sz="1400" dirty="0" err="1">
                  <a:solidFill>
                    <a:srgbClr val="FF0000"/>
                  </a:solidFill>
                </a:rPr>
                <a:t>mos</a:t>
              </a:r>
              <a:r>
                <a:rPr lang="en-US" sz="1400" dirty="0">
                  <a:solidFill>
                    <a:srgbClr val="FF0000"/>
                  </a:solidFill>
                </a:rPr>
                <a:t> unless med non-compliance </a:t>
              </a:r>
            </a:p>
          </p:txBody>
        </p:sp>
        <p:cxnSp>
          <p:nvCxnSpPr>
            <p:cNvPr id="101" name="Straight Connector 100">
              <a:extLst>
                <a:ext uri="{FF2B5EF4-FFF2-40B4-BE49-F238E27FC236}">
                  <a16:creationId xmlns:a16="http://schemas.microsoft.com/office/drawing/2014/main" id="{D588004B-53CA-4104-9662-FD2A9C2C9958}"/>
                </a:ext>
              </a:extLst>
            </p:cNvPr>
            <p:cNvCxnSpPr>
              <a:cxnSpLocks/>
            </p:cNvCxnSpPr>
            <p:nvPr/>
          </p:nvCxnSpPr>
          <p:spPr>
            <a:xfrm flipV="1">
              <a:off x="6916536" y="3645058"/>
              <a:ext cx="0" cy="33855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2" name="TextBox 101">
            <a:extLst>
              <a:ext uri="{FF2B5EF4-FFF2-40B4-BE49-F238E27FC236}">
                <a16:creationId xmlns:a16="http://schemas.microsoft.com/office/drawing/2014/main" id="{47723F92-FCFE-4EBA-83A4-4317EA1C1141}"/>
              </a:ext>
            </a:extLst>
          </p:cNvPr>
          <p:cNvSpPr txBox="1"/>
          <p:nvPr/>
        </p:nvSpPr>
        <p:spPr>
          <a:xfrm>
            <a:off x="3000844" y="4431314"/>
            <a:ext cx="1394917" cy="630942"/>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Donor/ recipient</a:t>
            </a:r>
          </a:p>
          <a:p>
            <a:pPr algn="ctr">
              <a:lnSpc>
                <a:spcPts val="1400"/>
              </a:lnSpc>
            </a:pPr>
            <a:r>
              <a:rPr lang="en-US" sz="1400" dirty="0">
                <a:solidFill>
                  <a:schemeClr val="accent5"/>
                </a:solidFill>
              </a:rPr>
              <a:t>+</a:t>
            </a:r>
          </a:p>
          <a:p>
            <a:pPr algn="ctr">
              <a:lnSpc>
                <a:spcPts val="1400"/>
              </a:lnSpc>
            </a:pPr>
            <a:r>
              <a:rPr lang="en-US" sz="1400" dirty="0">
                <a:solidFill>
                  <a:schemeClr val="accent5"/>
                </a:solidFill>
              </a:rPr>
              <a:t>Nosocomial</a:t>
            </a:r>
          </a:p>
        </p:txBody>
      </p:sp>
      <p:sp>
        <p:nvSpPr>
          <p:cNvPr id="103" name="TextBox 102">
            <a:extLst>
              <a:ext uri="{FF2B5EF4-FFF2-40B4-BE49-F238E27FC236}">
                <a16:creationId xmlns:a16="http://schemas.microsoft.com/office/drawing/2014/main" id="{DF754927-15AC-47DF-8519-4EFB4313680C}"/>
              </a:ext>
            </a:extLst>
          </p:cNvPr>
          <p:cNvSpPr txBox="1"/>
          <p:nvPr/>
        </p:nvSpPr>
        <p:spPr>
          <a:xfrm>
            <a:off x="4946902" y="4261670"/>
            <a:ext cx="1869704" cy="990015"/>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Reactivation </a:t>
            </a:r>
          </a:p>
          <a:p>
            <a:pPr algn="ctr">
              <a:lnSpc>
                <a:spcPts val="1400"/>
              </a:lnSpc>
            </a:pPr>
            <a:r>
              <a:rPr lang="en-US" sz="1400" dirty="0">
                <a:solidFill>
                  <a:schemeClr val="accent5"/>
                </a:solidFill>
              </a:rPr>
              <a:t>(TB, HBV, HSV/VZV, CMV, BK)</a:t>
            </a:r>
          </a:p>
          <a:p>
            <a:pPr algn="ctr">
              <a:lnSpc>
                <a:spcPts val="1400"/>
              </a:lnSpc>
            </a:pPr>
            <a:r>
              <a:rPr lang="en-US" sz="1400" dirty="0">
                <a:solidFill>
                  <a:schemeClr val="accent5"/>
                </a:solidFill>
              </a:rPr>
              <a:t>+</a:t>
            </a:r>
          </a:p>
          <a:p>
            <a:pPr algn="ctr">
              <a:lnSpc>
                <a:spcPts val="1400"/>
              </a:lnSpc>
            </a:pPr>
            <a:r>
              <a:rPr lang="en-US" sz="1400" dirty="0">
                <a:solidFill>
                  <a:schemeClr val="accent5"/>
                </a:solidFill>
              </a:rPr>
              <a:t>OIs</a:t>
            </a:r>
          </a:p>
        </p:txBody>
      </p:sp>
      <p:sp>
        <p:nvSpPr>
          <p:cNvPr id="104" name="TextBox 103">
            <a:extLst>
              <a:ext uri="{FF2B5EF4-FFF2-40B4-BE49-F238E27FC236}">
                <a16:creationId xmlns:a16="http://schemas.microsoft.com/office/drawing/2014/main" id="{B00CF72F-FD73-4EA3-9844-35D835622019}"/>
              </a:ext>
            </a:extLst>
          </p:cNvPr>
          <p:cNvSpPr txBox="1"/>
          <p:nvPr/>
        </p:nvSpPr>
        <p:spPr>
          <a:xfrm>
            <a:off x="6951434" y="4436091"/>
            <a:ext cx="2021552" cy="630942"/>
          </a:xfrm>
          <a:prstGeom prst="rect">
            <a:avLst/>
          </a:prstGeom>
          <a:solidFill>
            <a:schemeClr val="bg1"/>
          </a:solidFill>
        </p:spPr>
        <p:txBody>
          <a:bodyPr wrap="square" rtlCol="0">
            <a:spAutoFit/>
          </a:bodyPr>
          <a:lstStyle/>
          <a:p>
            <a:pPr algn="ctr">
              <a:lnSpc>
                <a:spcPts val="1400"/>
              </a:lnSpc>
            </a:pPr>
            <a:r>
              <a:rPr lang="en-US" sz="1400" dirty="0">
                <a:solidFill>
                  <a:schemeClr val="accent5"/>
                </a:solidFill>
              </a:rPr>
              <a:t>Community acquired &gt;&gt; OIs</a:t>
            </a:r>
          </a:p>
          <a:p>
            <a:pPr algn="ctr">
              <a:lnSpc>
                <a:spcPts val="1400"/>
              </a:lnSpc>
            </a:pPr>
            <a:r>
              <a:rPr lang="en-US" sz="1400" dirty="0">
                <a:solidFill>
                  <a:schemeClr val="accent5"/>
                </a:solidFill>
              </a:rPr>
              <a:t>(molds, </a:t>
            </a:r>
            <a:r>
              <a:rPr lang="en-US" sz="1400" dirty="0" err="1">
                <a:solidFill>
                  <a:schemeClr val="accent5"/>
                </a:solidFill>
              </a:rPr>
              <a:t>Mucor</a:t>
            </a:r>
            <a:r>
              <a:rPr lang="en-US" sz="1400" dirty="0">
                <a:solidFill>
                  <a:schemeClr val="accent5"/>
                </a:solidFill>
              </a:rPr>
              <a:t>, late viral)</a:t>
            </a:r>
          </a:p>
        </p:txBody>
      </p:sp>
      <p:sp>
        <p:nvSpPr>
          <p:cNvPr id="143" name="TextBox 142">
            <a:extLst>
              <a:ext uri="{FF2B5EF4-FFF2-40B4-BE49-F238E27FC236}">
                <a16:creationId xmlns:a16="http://schemas.microsoft.com/office/drawing/2014/main" id="{7083B45B-7F2A-4BC0-9BC7-D3242A14AD04}"/>
              </a:ext>
            </a:extLst>
          </p:cNvPr>
          <p:cNvSpPr txBox="1"/>
          <p:nvPr/>
        </p:nvSpPr>
        <p:spPr>
          <a:xfrm>
            <a:off x="3277542" y="126369"/>
            <a:ext cx="4522839" cy="461665"/>
          </a:xfrm>
          <a:prstGeom prst="rect">
            <a:avLst/>
          </a:prstGeom>
          <a:noFill/>
        </p:spPr>
        <p:txBody>
          <a:bodyPr wrap="square" rtlCol="0">
            <a:spAutoFit/>
          </a:bodyPr>
          <a:lstStyle/>
          <a:p>
            <a:pPr algn="ctr"/>
            <a:r>
              <a:rPr lang="en-US" sz="2400" dirty="0"/>
              <a:t>TRANSPLANT MEDICINE</a:t>
            </a:r>
          </a:p>
        </p:txBody>
      </p:sp>
      <p:sp>
        <p:nvSpPr>
          <p:cNvPr id="41" name="Rejection">
            <a:extLst>
              <a:ext uri="{FF2B5EF4-FFF2-40B4-BE49-F238E27FC236}">
                <a16:creationId xmlns:a16="http://schemas.microsoft.com/office/drawing/2014/main" id="{39064210-E44E-4882-A3F1-AD7146BD1798}"/>
              </a:ext>
            </a:extLst>
          </p:cNvPr>
          <p:cNvSpPr txBox="1"/>
          <p:nvPr/>
        </p:nvSpPr>
        <p:spPr>
          <a:xfrm>
            <a:off x="1046335" y="3620648"/>
            <a:ext cx="1150374" cy="374571"/>
          </a:xfrm>
          <a:prstGeom prst="roundRect">
            <a:avLst/>
          </a:prstGeom>
          <a:solidFill>
            <a:srgbClr val="FF0000"/>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Rejection</a:t>
            </a:r>
          </a:p>
        </p:txBody>
      </p:sp>
      <p:sp>
        <p:nvSpPr>
          <p:cNvPr id="42" name="Infections">
            <a:extLst>
              <a:ext uri="{FF2B5EF4-FFF2-40B4-BE49-F238E27FC236}">
                <a16:creationId xmlns:a16="http://schemas.microsoft.com/office/drawing/2014/main" id="{B6D7BF53-D49F-4974-B493-C7C7B415D3ED}"/>
              </a:ext>
            </a:extLst>
          </p:cNvPr>
          <p:cNvSpPr txBox="1"/>
          <p:nvPr/>
        </p:nvSpPr>
        <p:spPr>
          <a:xfrm>
            <a:off x="1053116" y="4559499"/>
            <a:ext cx="1150374" cy="374571"/>
          </a:xfrm>
          <a:prstGeom prst="roundRect">
            <a:avLst/>
          </a:prstGeom>
          <a:effectLst/>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n-US" sz="1600" dirty="0">
                <a:solidFill>
                  <a:schemeClr val="bg1"/>
                </a:solidFill>
              </a:rPr>
              <a:t>Infections </a:t>
            </a:r>
          </a:p>
        </p:txBody>
      </p:sp>
      <p:sp>
        <p:nvSpPr>
          <p:cNvPr id="44" name="Surgical">
            <a:extLst>
              <a:ext uri="{FF2B5EF4-FFF2-40B4-BE49-F238E27FC236}">
                <a16:creationId xmlns:a16="http://schemas.microsoft.com/office/drawing/2014/main" id="{2FDD95E0-EA21-4722-8D46-D9C300B177A7}"/>
              </a:ext>
            </a:extLst>
          </p:cNvPr>
          <p:cNvSpPr txBox="1"/>
          <p:nvPr/>
        </p:nvSpPr>
        <p:spPr>
          <a:xfrm>
            <a:off x="1046335" y="6254884"/>
            <a:ext cx="1179401" cy="374571"/>
          </a:xfrm>
          <a:prstGeom prst="roundRect">
            <a:avLst/>
          </a:prstGeom>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1600" dirty="0">
                <a:solidFill>
                  <a:schemeClr val="bg1"/>
                </a:solidFill>
              </a:rPr>
              <a:t>Surgical</a:t>
            </a:r>
          </a:p>
        </p:txBody>
      </p:sp>
      <p:sp>
        <p:nvSpPr>
          <p:cNvPr id="45" name="Medication effects">
            <a:extLst>
              <a:ext uri="{FF2B5EF4-FFF2-40B4-BE49-F238E27FC236}">
                <a16:creationId xmlns:a16="http://schemas.microsoft.com/office/drawing/2014/main" id="{D20EA066-23FD-4BC0-952F-89885B4765CD}"/>
              </a:ext>
            </a:extLst>
          </p:cNvPr>
          <p:cNvSpPr txBox="1"/>
          <p:nvPr/>
        </p:nvSpPr>
        <p:spPr>
          <a:xfrm>
            <a:off x="8154245" y="897862"/>
            <a:ext cx="1936019" cy="374571"/>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600" dirty="0">
                <a:solidFill>
                  <a:schemeClr val="bg1"/>
                </a:solidFill>
              </a:rPr>
              <a:t>Medication Effects</a:t>
            </a:r>
          </a:p>
        </p:txBody>
      </p:sp>
      <p:grpSp>
        <p:nvGrpSpPr>
          <p:cNvPr id="27" name="Group 26">
            <a:extLst>
              <a:ext uri="{FF2B5EF4-FFF2-40B4-BE49-F238E27FC236}">
                <a16:creationId xmlns:a16="http://schemas.microsoft.com/office/drawing/2014/main" id="{5D08241B-2BDD-412F-BE6A-9044E47BE2B8}"/>
              </a:ext>
            </a:extLst>
          </p:cNvPr>
          <p:cNvGrpSpPr/>
          <p:nvPr/>
        </p:nvGrpSpPr>
        <p:grpSpPr>
          <a:xfrm>
            <a:off x="5230146" y="1336226"/>
            <a:ext cx="6101576" cy="1300372"/>
            <a:chOff x="5230146" y="1336226"/>
            <a:chExt cx="6101576" cy="1300372"/>
          </a:xfrm>
        </p:grpSpPr>
        <p:cxnSp>
          <p:nvCxnSpPr>
            <p:cNvPr id="14" name="Straight Connector 13">
              <a:extLst>
                <a:ext uri="{FF2B5EF4-FFF2-40B4-BE49-F238E27FC236}">
                  <a16:creationId xmlns:a16="http://schemas.microsoft.com/office/drawing/2014/main" id="{03CCC700-D757-4F53-BAD6-B22D39D29AF4}"/>
                </a:ext>
              </a:extLst>
            </p:cNvPr>
            <p:cNvCxnSpPr>
              <a:cxnSpLocks/>
            </p:cNvCxnSpPr>
            <p:nvPr/>
          </p:nvCxnSpPr>
          <p:spPr>
            <a:xfrm>
              <a:off x="5230146" y="1867669"/>
              <a:ext cx="59920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79960F0-2853-4385-82B8-141B28576ECD}"/>
                </a:ext>
              </a:extLst>
            </p:cNvPr>
            <p:cNvCxnSpPr>
              <a:cxnSpLocks/>
            </p:cNvCxnSpPr>
            <p:nvPr/>
          </p:nvCxnSpPr>
          <p:spPr>
            <a:xfrm>
              <a:off x="5230146" y="2278833"/>
              <a:ext cx="5992036"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1072DB-EBD9-46A2-A8F5-DDC915D011BA}"/>
                </a:ext>
              </a:extLst>
            </p:cNvPr>
            <p:cNvSpPr txBox="1"/>
            <p:nvPr/>
          </p:nvSpPr>
          <p:spPr>
            <a:xfrm>
              <a:off x="6956737" y="1336226"/>
              <a:ext cx="4339116" cy="584775"/>
            </a:xfrm>
            <a:prstGeom prst="rect">
              <a:avLst/>
            </a:prstGeom>
            <a:noFill/>
          </p:spPr>
          <p:txBody>
            <a:bodyPr wrap="square" rtlCol="0">
              <a:spAutoFit/>
            </a:bodyPr>
            <a:lstStyle/>
            <a:p>
              <a:pPr algn="ctr"/>
              <a:r>
                <a:rPr lang="en-US" sz="1600" dirty="0"/>
                <a:t>Nephrotoxicity, neurotoxicity, </a:t>
              </a:r>
              <a:r>
                <a:rPr lang="en-US" sz="1600" dirty="0">
                  <a:sym typeface="Wingdings" panose="05000000000000000000" pitchFamily="2" charset="2"/>
                </a:rPr>
                <a:t> K and uric acid, metabolic syndrome</a:t>
              </a:r>
              <a:r>
                <a:rPr lang="en-US" sz="1600" dirty="0"/>
                <a:t> </a:t>
              </a:r>
            </a:p>
          </p:txBody>
        </p:sp>
        <p:sp>
          <p:nvSpPr>
            <p:cNvPr id="65" name="TextBox 64">
              <a:extLst>
                <a:ext uri="{FF2B5EF4-FFF2-40B4-BE49-F238E27FC236}">
                  <a16:creationId xmlns:a16="http://schemas.microsoft.com/office/drawing/2014/main" id="{6D27AF8F-ECEC-4F56-BED3-B6B8017BDE1A}"/>
                </a:ext>
              </a:extLst>
            </p:cNvPr>
            <p:cNvSpPr txBox="1"/>
            <p:nvPr/>
          </p:nvSpPr>
          <p:spPr>
            <a:xfrm>
              <a:off x="6924181" y="1904378"/>
              <a:ext cx="4396149" cy="338554"/>
            </a:xfrm>
            <a:prstGeom prst="rect">
              <a:avLst/>
            </a:prstGeom>
            <a:noFill/>
          </p:spPr>
          <p:txBody>
            <a:bodyPr wrap="square" rtlCol="0">
              <a:spAutoFit/>
            </a:bodyPr>
            <a:lstStyle/>
            <a:p>
              <a:pPr algn="ctr"/>
              <a:r>
                <a:rPr lang="en-US" sz="1600" dirty="0"/>
                <a:t>Bone marrow suppression, </a:t>
              </a:r>
              <a:r>
                <a:rPr lang="en-US" sz="1600" dirty="0">
                  <a:sym typeface="Wingdings" panose="05000000000000000000" pitchFamily="2" charset="2"/>
                </a:rPr>
                <a:t>GI side effects (colitis)</a:t>
              </a:r>
              <a:endParaRPr lang="en-US" sz="1600" dirty="0"/>
            </a:p>
          </p:txBody>
        </p:sp>
        <p:sp>
          <p:nvSpPr>
            <p:cNvPr id="72" name="TextBox 71">
              <a:extLst>
                <a:ext uri="{FF2B5EF4-FFF2-40B4-BE49-F238E27FC236}">
                  <a16:creationId xmlns:a16="http://schemas.microsoft.com/office/drawing/2014/main" id="{821A7257-F42A-4F45-B8A4-6F4A69E89B1D}"/>
                </a:ext>
              </a:extLst>
            </p:cNvPr>
            <p:cNvSpPr txBox="1"/>
            <p:nvPr/>
          </p:nvSpPr>
          <p:spPr>
            <a:xfrm>
              <a:off x="6935573" y="2298044"/>
              <a:ext cx="4396149" cy="338554"/>
            </a:xfrm>
            <a:prstGeom prst="rect">
              <a:avLst/>
            </a:prstGeom>
            <a:noFill/>
          </p:spPr>
          <p:txBody>
            <a:bodyPr wrap="square" rtlCol="0">
              <a:spAutoFit/>
            </a:bodyPr>
            <a:lstStyle/>
            <a:p>
              <a:pPr algn="ctr"/>
              <a:r>
                <a:rPr lang="en-US" sz="1600" dirty="0"/>
                <a:t>Metabolic syndrome</a:t>
              </a:r>
            </a:p>
          </p:txBody>
        </p:sp>
      </p:grpSp>
      <p:sp>
        <p:nvSpPr>
          <p:cNvPr id="43" name="Malignancy">
            <a:extLst>
              <a:ext uri="{FF2B5EF4-FFF2-40B4-BE49-F238E27FC236}">
                <a16:creationId xmlns:a16="http://schemas.microsoft.com/office/drawing/2014/main" id="{998A2006-5016-4509-ABB1-C0C287129BE5}"/>
              </a:ext>
            </a:extLst>
          </p:cNvPr>
          <p:cNvSpPr txBox="1"/>
          <p:nvPr/>
        </p:nvSpPr>
        <p:spPr>
          <a:xfrm>
            <a:off x="1007226" y="5515898"/>
            <a:ext cx="1271179" cy="374571"/>
          </a:xfrm>
          <a:prstGeom prst="roundRect">
            <a:avLst/>
          </a:prstGeom>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sz="1600" dirty="0">
                <a:solidFill>
                  <a:schemeClr val="bg1"/>
                </a:solidFill>
              </a:rPr>
              <a:t>Malignancy</a:t>
            </a:r>
          </a:p>
        </p:txBody>
      </p:sp>
      <p:grpSp>
        <p:nvGrpSpPr>
          <p:cNvPr id="66" name="Group 65">
            <a:extLst>
              <a:ext uri="{FF2B5EF4-FFF2-40B4-BE49-F238E27FC236}">
                <a16:creationId xmlns:a16="http://schemas.microsoft.com/office/drawing/2014/main" id="{A647B3E7-C2AA-43A5-BD3E-AC3751FD8D57}"/>
              </a:ext>
            </a:extLst>
          </p:cNvPr>
          <p:cNvGrpSpPr/>
          <p:nvPr/>
        </p:nvGrpSpPr>
        <p:grpSpPr>
          <a:xfrm>
            <a:off x="2847411" y="5164714"/>
            <a:ext cx="5815897" cy="1109295"/>
            <a:chOff x="2840630" y="5098266"/>
            <a:chExt cx="5815897" cy="1109295"/>
          </a:xfrm>
        </p:grpSpPr>
        <p:sp>
          <p:nvSpPr>
            <p:cNvPr id="106" name="TextBox 105">
              <a:extLst>
                <a:ext uri="{FF2B5EF4-FFF2-40B4-BE49-F238E27FC236}">
                  <a16:creationId xmlns:a16="http://schemas.microsoft.com/office/drawing/2014/main" id="{28609D83-2076-44A3-B706-7B3A455A32C0}"/>
                </a:ext>
              </a:extLst>
            </p:cNvPr>
            <p:cNvSpPr txBox="1"/>
            <p:nvPr/>
          </p:nvSpPr>
          <p:spPr>
            <a:xfrm>
              <a:off x="7310892" y="5098266"/>
              <a:ext cx="1130357" cy="523220"/>
            </a:xfrm>
            <a:prstGeom prst="rect">
              <a:avLst/>
            </a:prstGeom>
            <a:solidFill>
              <a:schemeClr val="bg1"/>
            </a:solidFill>
          </p:spPr>
          <p:txBody>
            <a:bodyPr wrap="square" rtlCol="0">
              <a:spAutoFit/>
            </a:bodyPr>
            <a:lstStyle/>
            <a:p>
              <a:pPr algn="ctr"/>
              <a:r>
                <a:rPr lang="en-US" sz="1400" dirty="0">
                  <a:solidFill>
                    <a:schemeClr val="accent4"/>
                  </a:solidFill>
                </a:rPr>
                <a:t>Skin cancer, anogenital  </a:t>
              </a:r>
            </a:p>
          </p:txBody>
        </p:sp>
        <p:sp>
          <p:nvSpPr>
            <p:cNvPr id="76" name="TextBox 75">
              <a:extLst>
                <a:ext uri="{FF2B5EF4-FFF2-40B4-BE49-F238E27FC236}">
                  <a16:creationId xmlns:a16="http://schemas.microsoft.com/office/drawing/2014/main" id="{2696670A-B531-4DDF-8600-F93A0D17D59F}"/>
                </a:ext>
              </a:extLst>
            </p:cNvPr>
            <p:cNvSpPr txBox="1"/>
            <p:nvPr/>
          </p:nvSpPr>
          <p:spPr>
            <a:xfrm>
              <a:off x="2840630" y="5348179"/>
              <a:ext cx="1793231" cy="338554"/>
            </a:xfrm>
            <a:prstGeom prst="rect">
              <a:avLst/>
            </a:prstGeom>
            <a:noFill/>
          </p:spPr>
          <p:txBody>
            <a:bodyPr wrap="square">
              <a:spAutoFit/>
            </a:bodyPr>
            <a:lstStyle/>
            <a:p>
              <a:r>
                <a:rPr lang="en-US" sz="1600" dirty="0">
                  <a:solidFill>
                    <a:schemeClr val="accent4"/>
                  </a:solidFill>
                </a:rPr>
                <a:t>Overall 2x as likely.</a:t>
              </a:r>
            </a:p>
          </p:txBody>
        </p:sp>
        <p:sp>
          <p:nvSpPr>
            <p:cNvPr id="77" name="TextBox 76">
              <a:extLst>
                <a:ext uri="{FF2B5EF4-FFF2-40B4-BE49-F238E27FC236}">
                  <a16:creationId xmlns:a16="http://schemas.microsoft.com/office/drawing/2014/main" id="{F205F823-C461-4E59-ABCD-0DD7EEAFBE82}"/>
                </a:ext>
              </a:extLst>
            </p:cNvPr>
            <p:cNvSpPr txBox="1"/>
            <p:nvPr/>
          </p:nvSpPr>
          <p:spPr>
            <a:xfrm>
              <a:off x="4865754" y="5468897"/>
              <a:ext cx="2001913" cy="738664"/>
            </a:xfrm>
            <a:prstGeom prst="rect">
              <a:avLst/>
            </a:prstGeom>
            <a:solidFill>
              <a:schemeClr val="bg1"/>
            </a:solidFill>
          </p:spPr>
          <p:txBody>
            <a:bodyPr wrap="square" rtlCol="0">
              <a:spAutoFit/>
            </a:bodyPr>
            <a:lstStyle/>
            <a:p>
              <a:pPr algn="ctr"/>
              <a:r>
                <a:rPr lang="en-US" sz="1400" dirty="0">
                  <a:solidFill>
                    <a:schemeClr val="accent4"/>
                  </a:solidFill>
                </a:rPr>
                <a:t>PTLD</a:t>
              </a:r>
            </a:p>
            <a:p>
              <a:pPr algn="ctr"/>
              <a:r>
                <a:rPr lang="en-US" sz="1400" dirty="0">
                  <a:solidFill>
                    <a:schemeClr val="accent4"/>
                  </a:solidFill>
                </a:rPr>
                <a:t>(multiorgan/ SB &gt; lung &gt; kidney/heart &gt; liver)</a:t>
              </a:r>
            </a:p>
          </p:txBody>
        </p:sp>
        <p:cxnSp>
          <p:nvCxnSpPr>
            <p:cNvPr id="36" name="Straight Connector 35">
              <a:extLst>
                <a:ext uri="{FF2B5EF4-FFF2-40B4-BE49-F238E27FC236}">
                  <a16:creationId xmlns:a16="http://schemas.microsoft.com/office/drawing/2014/main" id="{9BFB7B6E-6B3B-4807-AF59-D96F0A7C9BC7}"/>
                </a:ext>
              </a:extLst>
            </p:cNvPr>
            <p:cNvCxnSpPr>
              <a:cxnSpLocks/>
              <a:stCxn id="77" idx="3"/>
            </p:cNvCxnSpPr>
            <p:nvPr/>
          </p:nvCxnSpPr>
          <p:spPr>
            <a:xfrm>
              <a:off x="6867667" y="5838229"/>
              <a:ext cx="636704" cy="0"/>
            </a:xfrm>
            <a:prstGeom prst="line">
              <a:avLst/>
            </a:prstGeom>
          </p:spPr>
          <p:style>
            <a:lnRef idx="1">
              <a:schemeClr val="accent4"/>
            </a:lnRef>
            <a:fillRef idx="0">
              <a:schemeClr val="accent4"/>
            </a:fillRef>
            <a:effectRef idx="0">
              <a:schemeClr val="accent4"/>
            </a:effectRef>
            <a:fontRef idx="minor">
              <a:schemeClr val="tx1"/>
            </a:fontRef>
          </p:style>
        </p:cxnSp>
        <p:cxnSp>
          <p:nvCxnSpPr>
            <p:cNvPr id="38" name="Straight Arrow Connector 37">
              <a:extLst>
                <a:ext uri="{FF2B5EF4-FFF2-40B4-BE49-F238E27FC236}">
                  <a16:creationId xmlns:a16="http://schemas.microsoft.com/office/drawing/2014/main" id="{BE80E210-511A-46C7-89A5-DF1FF47924B0}"/>
                </a:ext>
              </a:extLst>
            </p:cNvPr>
            <p:cNvCxnSpPr>
              <a:cxnSpLocks/>
            </p:cNvCxnSpPr>
            <p:nvPr/>
          </p:nvCxnSpPr>
          <p:spPr>
            <a:xfrm>
              <a:off x="7474625" y="5838229"/>
              <a:ext cx="1181902"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8" name="Straight Connector 87">
              <a:extLst>
                <a:ext uri="{FF2B5EF4-FFF2-40B4-BE49-F238E27FC236}">
                  <a16:creationId xmlns:a16="http://schemas.microsoft.com/office/drawing/2014/main" id="{223C856A-5FA0-4956-A5F0-FD20FE090145}"/>
                </a:ext>
              </a:extLst>
            </p:cNvPr>
            <p:cNvCxnSpPr>
              <a:cxnSpLocks/>
            </p:cNvCxnSpPr>
            <p:nvPr/>
          </p:nvCxnSpPr>
          <p:spPr>
            <a:xfrm flipV="1">
              <a:off x="7310892" y="5712132"/>
              <a:ext cx="0" cy="252194"/>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51" name="Straight Arrow Connector 50">
              <a:extLst>
                <a:ext uri="{FF2B5EF4-FFF2-40B4-BE49-F238E27FC236}">
                  <a16:creationId xmlns:a16="http://schemas.microsoft.com/office/drawing/2014/main" id="{700E3C1E-BE7B-4A65-B34B-4B0A63917DCD}"/>
                </a:ext>
              </a:extLst>
            </p:cNvPr>
            <p:cNvCxnSpPr>
              <a:cxnSpLocks/>
              <a:stCxn id="106" idx="3"/>
            </p:cNvCxnSpPr>
            <p:nvPr/>
          </p:nvCxnSpPr>
          <p:spPr>
            <a:xfrm>
              <a:off x="8441249" y="5359876"/>
              <a:ext cx="192722"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3" name="Group 2">
            <a:extLst>
              <a:ext uri="{FF2B5EF4-FFF2-40B4-BE49-F238E27FC236}">
                <a16:creationId xmlns:a16="http://schemas.microsoft.com/office/drawing/2014/main" id="{D8AB42DD-4CF4-4DB5-9097-6EEC28FC0FDE}"/>
              </a:ext>
            </a:extLst>
          </p:cNvPr>
          <p:cNvGrpSpPr/>
          <p:nvPr/>
        </p:nvGrpSpPr>
        <p:grpSpPr>
          <a:xfrm>
            <a:off x="5870448" y="3866977"/>
            <a:ext cx="2827093" cy="274370"/>
            <a:chOff x="5870448" y="3866977"/>
            <a:chExt cx="2827093" cy="274370"/>
          </a:xfrm>
        </p:grpSpPr>
        <p:cxnSp>
          <p:nvCxnSpPr>
            <p:cNvPr id="60" name="Straight Arrow Connector 59">
              <a:extLst>
                <a:ext uri="{FF2B5EF4-FFF2-40B4-BE49-F238E27FC236}">
                  <a16:creationId xmlns:a16="http://schemas.microsoft.com/office/drawing/2014/main" id="{4ECECBC4-CBB2-426F-B7B9-890AFDDD5D46}"/>
                </a:ext>
              </a:extLst>
            </p:cNvPr>
            <p:cNvCxnSpPr>
              <a:cxnSpLocks/>
            </p:cNvCxnSpPr>
            <p:nvPr/>
          </p:nvCxnSpPr>
          <p:spPr>
            <a:xfrm>
              <a:off x="5870448" y="3982933"/>
              <a:ext cx="2827093"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97C2ECD-A17C-4CD9-90EE-DDD284B956A1}"/>
                </a:ext>
              </a:extLst>
            </p:cNvPr>
            <p:cNvSpPr txBox="1"/>
            <p:nvPr/>
          </p:nvSpPr>
          <p:spPr>
            <a:xfrm>
              <a:off x="6215564" y="3866977"/>
              <a:ext cx="1535463" cy="274370"/>
            </a:xfrm>
            <a:prstGeom prst="rect">
              <a:avLst/>
            </a:prstGeom>
            <a:solidFill>
              <a:schemeClr val="bg1"/>
            </a:solidFill>
          </p:spPr>
          <p:txBody>
            <a:bodyPr wrap="square" rtlCol="0">
              <a:spAutoFit/>
            </a:bodyPr>
            <a:lstStyle/>
            <a:p>
              <a:pPr algn="ctr">
                <a:lnSpc>
                  <a:spcPts val="1400"/>
                </a:lnSpc>
              </a:pPr>
              <a:r>
                <a:rPr lang="en-US" sz="1400" dirty="0">
                  <a:solidFill>
                    <a:srgbClr val="FF0000"/>
                  </a:solidFill>
                </a:rPr>
                <a:t>Chronic rejection</a:t>
              </a:r>
            </a:p>
          </p:txBody>
        </p:sp>
      </p:grpSp>
      <p:grpSp>
        <p:nvGrpSpPr>
          <p:cNvPr id="7" name="Group 6">
            <a:extLst>
              <a:ext uri="{FF2B5EF4-FFF2-40B4-BE49-F238E27FC236}">
                <a16:creationId xmlns:a16="http://schemas.microsoft.com/office/drawing/2014/main" id="{015E9DAF-ABE7-4596-B5DD-16CBD8866E93}"/>
              </a:ext>
            </a:extLst>
          </p:cNvPr>
          <p:cNvGrpSpPr/>
          <p:nvPr/>
        </p:nvGrpSpPr>
        <p:grpSpPr>
          <a:xfrm>
            <a:off x="2749328" y="6318685"/>
            <a:ext cx="5913980" cy="310770"/>
            <a:chOff x="2749328" y="6318685"/>
            <a:chExt cx="5913980" cy="310770"/>
          </a:xfrm>
        </p:grpSpPr>
        <p:grpSp>
          <p:nvGrpSpPr>
            <p:cNvPr id="67" name="Group 66">
              <a:extLst>
                <a:ext uri="{FF2B5EF4-FFF2-40B4-BE49-F238E27FC236}">
                  <a16:creationId xmlns:a16="http://schemas.microsoft.com/office/drawing/2014/main" id="{C69CE812-BB47-43EE-9583-1F2E91FACE0D}"/>
                </a:ext>
              </a:extLst>
            </p:cNvPr>
            <p:cNvGrpSpPr/>
            <p:nvPr/>
          </p:nvGrpSpPr>
          <p:grpSpPr>
            <a:xfrm>
              <a:off x="2749328" y="6318685"/>
              <a:ext cx="3965408" cy="310770"/>
              <a:chOff x="2749328" y="6318685"/>
              <a:chExt cx="3965408" cy="310770"/>
            </a:xfrm>
          </p:grpSpPr>
          <p:sp>
            <p:nvSpPr>
              <p:cNvPr id="107" name="TextBox 106">
                <a:extLst>
                  <a:ext uri="{FF2B5EF4-FFF2-40B4-BE49-F238E27FC236}">
                    <a16:creationId xmlns:a16="http://schemas.microsoft.com/office/drawing/2014/main" id="{0ED16C1B-0AE1-47B6-9672-83A435C36DEF}"/>
                  </a:ext>
                </a:extLst>
              </p:cNvPr>
              <p:cNvSpPr txBox="1"/>
              <p:nvPr/>
            </p:nvSpPr>
            <p:spPr>
              <a:xfrm>
                <a:off x="2749328" y="6318685"/>
                <a:ext cx="1916496"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Leaks and kinks</a:t>
                </a:r>
              </a:p>
            </p:txBody>
          </p:sp>
          <p:sp>
            <p:nvSpPr>
              <p:cNvPr id="108" name="TextBox 107">
                <a:extLst>
                  <a:ext uri="{FF2B5EF4-FFF2-40B4-BE49-F238E27FC236}">
                    <a16:creationId xmlns:a16="http://schemas.microsoft.com/office/drawing/2014/main" id="{97D1CE6A-0BC7-4364-A1FE-C9A2EC710C6A}"/>
                  </a:ext>
                </a:extLst>
              </p:cNvPr>
              <p:cNvSpPr txBox="1"/>
              <p:nvPr/>
            </p:nvSpPr>
            <p:spPr>
              <a:xfrm>
                <a:off x="4899692" y="6321678"/>
                <a:ext cx="1815044" cy="307777"/>
              </a:xfrm>
              <a:prstGeom prst="rect">
                <a:avLst/>
              </a:prstGeom>
              <a:solidFill>
                <a:schemeClr val="bg1"/>
              </a:solidFill>
            </p:spPr>
            <p:txBody>
              <a:bodyPr wrap="square" rtlCol="0">
                <a:spAutoFit/>
              </a:bodyPr>
              <a:lstStyle/>
              <a:p>
                <a:pPr algn="ctr"/>
                <a:r>
                  <a:rPr lang="en-US" sz="1400" dirty="0">
                    <a:solidFill>
                      <a:schemeClr val="accent6">
                        <a:lumMod val="75000"/>
                      </a:schemeClr>
                    </a:solidFill>
                  </a:rPr>
                  <a:t>Fistulas and </a:t>
                </a:r>
                <a:r>
                  <a:rPr lang="en-US" sz="1400" dirty="0" err="1">
                    <a:solidFill>
                      <a:schemeClr val="accent6">
                        <a:lumMod val="75000"/>
                      </a:schemeClr>
                    </a:solidFill>
                  </a:rPr>
                  <a:t>stenoses</a:t>
                </a:r>
                <a:endParaRPr lang="en-US" sz="1400" dirty="0">
                  <a:solidFill>
                    <a:schemeClr val="accent6">
                      <a:lumMod val="75000"/>
                    </a:schemeClr>
                  </a:solidFill>
                </a:endParaRPr>
              </a:p>
            </p:txBody>
          </p:sp>
        </p:grpSp>
        <p:cxnSp>
          <p:nvCxnSpPr>
            <p:cNvPr id="6" name="Straight Arrow Connector 5">
              <a:extLst>
                <a:ext uri="{FF2B5EF4-FFF2-40B4-BE49-F238E27FC236}">
                  <a16:creationId xmlns:a16="http://schemas.microsoft.com/office/drawing/2014/main" id="{CBF26B90-3626-462E-9773-F50B6CC04B9A}"/>
                </a:ext>
              </a:extLst>
            </p:cNvPr>
            <p:cNvCxnSpPr>
              <a:stCxn id="108" idx="3"/>
            </p:cNvCxnSpPr>
            <p:nvPr/>
          </p:nvCxnSpPr>
          <p:spPr>
            <a:xfrm flipV="1">
              <a:off x="6714736" y="6472573"/>
              <a:ext cx="1948572" cy="299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sp>
        <p:nvSpPr>
          <p:cNvPr id="69" name="TextBox 68">
            <a:extLst>
              <a:ext uri="{FF2B5EF4-FFF2-40B4-BE49-F238E27FC236}">
                <a16:creationId xmlns:a16="http://schemas.microsoft.com/office/drawing/2014/main" id="{EC0266DB-3E8C-46AB-AAFC-29BB44A81BE7}"/>
              </a:ext>
            </a:extLst>
          </p:cNvPr>
          <p:cNvSpPr txBox="1"/>
          <p:nvPr/>
        </p:nvSpPr>
        <p:spPr>
          <a:xfrm>
            <a:off x="8949360" y="2947525"/>
            <a:ext cx="3095535" cy="37856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Overall, the risk of malignancy in transplant patients is 2-fold higher than the general population. They are at particular risk of virally mediated cancers (lymphomas, liver cancer, skin and anogenital cancers). Most of these cancer appear late (after several years of immunosuppression) except for posttransplant lymphoproliferative disorder (PTLD). PTLD typically occurs in the first year. EBV positivity and degree of immunosuppression are risk factors for PTLD. </a:t>
            </a:r>
          </a:p>
        </p:txBody>
      </p:sp>
      <p:sp>
        <p:nvSpPr>
          <p:cNvPr id="64" name="Rectangle: Rounded Corners 63">
            <a:hlinkClick r:id="rId2" action="ppaction://hlinksldjump"/>
            <a:extLst>
              <a:ext uri="{FF2B5EF4-FFF2-40B4-BE49-F238E27FC236}">
                <a16:creationId xmlns:a16="http://schemas.microsoft.com/office/drawing/2014/main" id="{ADC8CB5C-2B85-4324-8447-AF6794BD1C68}"/>
              </a:ext>
            </a:extLst>
          </p:cNvPr>
          <p:cNvSpPr/>
          <p:nvPr/>
        </p:nvSpPr>
        <p:spPr>
          <a:xfrm>
            <a:off x="150210" y="130162"/>
            <a:ext cx="2505702"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Balancing immunosuppression</a:t>
            </a:r>
          </a:p>
        </p:txBody>
      </p:sp>
      <p:sp>
        <p:nvSpPr>
          <p:cNvPr id="70" name="Rectangle: Rounded Corners 69">
            <a:hlinkClick r:id="rId3" action="ppaction://hlinksldjump"/>
            <a:extLst>
              <a:ext uri="{FF2B5EF4-FFF2-40B4-BE49-F238E27FC236}">
                <a16:creationId xmlns:a16="http://schemas.microsoft.com/office/drawing/2014/main" id="{E0A8B69E-FEC6-4255-BB7C-D011E0EE7DBA}"/>
              </a:ext>
            </a:extLst>
          </p:cNvPr>
          <p:cNvSpPr/>
          <p:nvPr/>
        </p:nvSpPr>
        <p:spPr>
          <a:xfrm>
            <a:off x="152202" y="439292"/>
            <a:ext cx="2224966" cy="27637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Induction vs. maintenance</a:t>
            </a:r>
          </a:p>
        </p:txBody>
      </p:sp>
      <p:sp>
        <p:nvSpPr>
          <p:cNvPr id="71" name="Rectangle: Rounded Corners 70">
            <a:extLst>
              <a:ext uri="{FF2B5EF4-FFF2-40B4-BE49-F238E27FC236}">
                <a16:creationId xmlns:a16="http://schemas.microsoft.com/office/drawing/2014/main" id="{9CED3ADB-6575-4576-ADF7-9B3BA88E5F34}"/>
              </a:ext>
            </a:extLst>
          </p:cNvPr>
          <p:cNvSpPr/>
          <p:nvPr/>
        </p:nvSpPr>
        <p:spPr>
          <a:xfrm>
            <a:off x="148322" y="758064"/>
            <a:ext cx="1313704" cy="2763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Complications</a:t>
            </a:r>
          </a:p>
        </p:txBody>
      </p:sp>
      <p:pic>
        <p:nvPicPr>
          <p:cNvPr id="73" name="Graphic 72" descr="Cursor">
            <a:extLst>
              <a:ext uri="{FF2B5EF4-FFF2-40B4-BE49-F238E27FC236}">
                <a16:creationId xmlns:a16="http://schemas.microsoft.com/office/drawing/2014/main" id="{72B96255-0586-4DB0-811F-28A95ED150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7533" y="6515076"/>
            <a:ext cx="252224" cy="252224"/>
          </a:xfrm>
          <a:prstGeom prst="rect">
            <a:avLst/>
          </a:prstGeom>
        </p:spPr>
      </p:pic>
    </p:spTree>
    <p:extLst>
      <p:ext uri="{BB962C8B-B14F-4D97-AF65-F5344CB8AC3E}">
        <p14:creationId xmlns:p14="http://schemas.microsoft.com/office/powerpoint/2010/main" val="3239528096"/>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5"/>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childTnLst>
                                </p:cTn>
                              </p:par>
                            </p:childTnLst>
                          </p:cTn>
                        </p:par>
                      </p:childTnLst>
                    </p:cTn>
                  </p:par>
                </p:childTnLst>
              </p:cTn>
              <p:nextCondLst>
                <p:cond evt="onClick" delay="0">
                  <p:tgtEl>
                    <p:spTgt spid="45"/>
                  </p:tgtEl>
                </p:cond>
              </p:nextCondLst>
            </p:seq>
            <p:seq concurrent="1" nextAc="seek">
              <p:cTn id="12" restart="whenNotActive" fill="hold" evtFilter="cancelBubble" nodeType="interactiveSeq">
                <p:stCondLst>
                  <p:cond evt="onClick" delay="0">
                    <p:tgtEl>
                      <p:spTgt spid="44"/>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75C3C0-DDC1-40EB-8FC2-49B648429968}"/>
              </a:ext>
            </a:extLst>
          </p:cNvPr>
          <p:cNvSpPr txBox="1"/>
          <p:nvPr/>
        </p:nvSpPr>
        <p:spPr>
          <a:xfrm>
            <a:off x="3726426" y="147485"/>
            <a:ext cx="4522839" cy="369332"/>
          </a:xfrm>
          <a:prstGeom prst="rect">
            <a:avLst/>
          </a:prstGeom>
          <a:noFill/>
        </p:spPr>
        <p:txBody>
          <a:bodyPr wrap="square" rtlCol="0">
            <a:spAutoFit/>
          </a:bodyPr>
          <a:lstStyle/>
          <a:p>
            <a:pPr algn="ctr"/>
            <a:r>
              <a:rPr lang="en-US" dirty="0"/>
              <a:t>REJECTION</a:t>
            </a:r>
          </a:p>
        </p:txBody>
      </p:sp>
      <p:graphicFrame>
        <p:nvGraphicFramePr>
          <p:cNvPr id="4" name="Table 3">
            <a:extLst>
              <a:ext uri="{FF2B5EF4-FFF2-40B4-BE49-F238E27FC236}">
                <a16:creationId xmlns:a16="http://schemas.microsoft.com/office/drawing/2014/main" id="{1F1A7189-9530-48FD-B391-F355DD70506C}"/>
              </a:ext>
            </a:extLst>
          </p:cNvPr>
          <p:cNvGraphicFramePr>
            <a:graphicFrameLocks noGrp="1"/>
          </p:cNvGraphicFramePr>
          <p:nvPr>
            <p:extLst>
              <p:ext uri="{D42A27DB-BD31-4B8C-83A1-F6EECF244321}">
                <p14:modId xmlns:p14="http://schemas.microsoft.com/office/powerpoint/2010/main" val="1375942987"/>
              </p:ext>
            </p:extLst>
          </p:nvPr>
        </p:nvGraphicFramePr>
        <p:xfrm>
          <a:off x="147483" y="516817"/>
          <a:ext cx="11680724" cy="5984377"/>
        </p:xfrm>
        <a:graphic>
          <a:graphicData uri="http://schemas.openxmlformats.org/drawingml/2006/table">
            <a:tbl>
              <a:tblPr firstRow="1" bandRow="1">
                <a:tableStyleId>{5940675A-B579-460E-94D1-54222C63F5DA}</a:tableStyleId>
              </a:tblPr>
              <a:tblGrid>
                <a:gridCol w="2893668">
                  <a:extLst>
                    <a:ext uri="{9D8B030D-6E8A-4147-A177-3AD203B41FA5}">
                      <a16:colId xmlns:a16="http://schemas.microsoft.com/office/drawing/2014/main" val="3065171901"/>
                    </a:ext>
                  </a:extLst>
                </a:gridCol>
                <a:gridCol w="2946694">
                  <a:extLst>
                    <a:ext uri="{9D8B030D-6E8A-4147-A177-3AD203B41FA5}">
                      <a16:colId xmlns:a16="http://schemas.microsoft.com/office/drawing/2014/main" val="2097894797"/>
                    </a:ext>
                  </a:extLst>
                </a:gridCol>
                <a:gridCol w="2920181">
                  <a:extLst>
                    <a:ext uri="{9D8B030D-6E8A-4147-A177-3AD203B41FA5}">
                      <a16:colId xmlns:a16="http://schemas.microsoft.com/office/drawing/2014/main" val="3196068420"/>
                    </a:ext>
                  </a:extLst>
                </a:gridCol>
                <a:gridCol w="2920181">
                  <a:extLst>
                    <a:ext uri="{9D8B030D-6E8A-4147-A177-3AD203B41FA5}">
                      <a16:colId xmlns:a16="http://schemas.microsoft.com/office/drawing/2014/main" val="3815741954"/>
                    </a:ext>
                  </a:extLst>
                </a:gridCol>
              </a:tblGrid>
              <a:tr h="381547">
                <a:tc>
                  <a:txBody>
                    <a:bodyPr/>
                    <a:lstStyle/>
                    <a:p>
                      <a:pPr algn="ctr"/>
                      <a:r>
                        <a:rPr lang="en-US" dirty="0"/>
                        <a:t>Type</a:t>
                      </a:r>
                    </a:p>
                  </a:txBody>
                  <a:tcPr/>
                </a:tc>
                <a:tc>
                  <a:txBody>
                    <a:bodyPr/>
                    <a:lstStyle/>
                    <a:p>
                      <a:pPr algn="ctr"/>
                      <a:r>
                        <a:rPr lang="en-US" dirty="0"/>
                        <a:t>Signs/Symptoms</a:t>
                      </a:r>
                    </a:p>
                  </a:txBody>
                  <a:tcPr/>
                </a:tc>
                <a:tc>
                  <a:txBody>
                    <a:bodyPr/>
                    <a:lstStyle/>
                    <a:p>
                      <a:pPr algn="ctr"/>
                      <a:r>
                        <a:rPr lang="en-US" dirty="0"/>
                        <a:t>Diagnosis</a:t>
                      </a:r>
                    </a:p>
                  </a:txBody>
                  <a:tcPr/>
                </a:tc>
                <a:tc>
                  <a:txBody>
                    <a:bodyPr/>
                    <a:lstStyle/>
                    <a:p>
                      <a:pPr algn="ctr"/>
                      <a:r>
                        <a:rPr lang="en-US" dirty="0"/>
                        <a:t>Treatment</a:t>
                      </a:r>
                    </a:p>
                    <a:p>
                      <a:pPr algn="ctr"/>
                      <a:r>
                        <a:rPr lang="en-US" sz="1400" dirty="0"/>
                        <a:t>(histology, # of prior episodes, degree of graft dysfunction)</a:t>
                      </a:r>
                    </a:p>
                  </a:txBody>
                  <a:tcPr/>
                </a:tc>
                <a:extLst>
                  <a:ext uri="{0D108BD9-81ED-4DB2-BD59-A6C34878D82A}">
                    <a16:rowId xmlns:a16="http://schemas.microsoft.com/office/drawing/2014/main" val="1700293086"/>
                  </a:ext>
                </a:extLst>
              </a:tr>
              <a:tr h="894217">
                <a:tc>
                  <a:txBody>
                    <a:bodyPr/>
                    <a:lstStyle/>
                    <a:p>
                      <a:r>
                        <a:rPr lang="en-US" dirty="0"/>
                        <a:t>*Acute cellular</a:t>
                      </a:r>
                    </a:p>
                  </a:txBody>
                  <a:tcPr/>
                </a:tc>
                <a:tc rowSpan="2">
                  <a:txBody>
                    <a:bodyPr/>
                    <a:lstStyle/>
                    <a:p>
                      <a:pPr algn="ctr"/>
                      <a:r>
                        <a:rPr lang="en-US" sz="1600" dirty="0">
                          <a:solidFill>
                            <a:srgbClr val="FF0000"/>
                          </a:solidFill>
                        </a:rPr>
                        <a:t>Fatigue, nausea/vomiting</a:t>
                      </a:r>
                    </a:p>
                    <a:p>
                      <a:pPr algn="ctr"/>
                      <a:r>
                        <a:rPr lang="en-US" sz="1600" dirty="0">
                          <a:solidFill>
                            <a:srgbClr val="FF0000"/>
                          </a:solidFill>
                        </a:rPr>
                        <a:t>Fevers/chills</a:t>
                      </a:r>
                    </a:p>
                    <a:p>
                      <a:pPr algn="ctr"/>
                      <a:r>
                        <a:rPr lang="en-US" sz="1600" dirty="0">
                          <a:solidFill>
                            <a:srgbClr val="FF0000"/>
                          </a:solidFill>
                        </a:rPr>
                        <a:t>Great tenderness/pain</a:t>
                      </a:r>
                    </a:p>
                    <a:p>
                      <a:pPr algn="ctr"/>
                      <a:r>
                        <a:rPr lang="en-US" sz="1600" dirty="0">
                          <a:solidFill>
                            <a:srgbClr val="FF0000"/>
                          </a:solidFill>
                        </a:rPr>
                        <a:t>Graft dysfunction</a:t>
                      </a:r>
                    </a:p>
                  </a:txBody>
                  <a:tcPr anchor="ctr"/>
                </a:tc>
                <a:tc>
                  <a:txBody>
                    <a:bodyPr/>
                    <a:lstStyle/>
                    <a:p>
                      <a:pPr marL="285750" indent="-285750">
                        <a:buFont typeface="Arial" panose="020B0604020202020204" pitchFamily="34" charset="0"/>
                        <a:buChar char="•"/>
                      </a:pPr>
                      <a:r>
                        <a:rPr lang="en-US" sz="1600" dirty="0">
                          <a:solidFill>
                            <a:schemeClr val="accent1"/>
                          </a:solidFill>
                        </a:rPr>
                        <a:t>R/o </a:t>
                      </a:r>
                      <a:r>
                        <a:rPr lang="en-US" sz="1600" dirty="0" err="1">
                          <a:solidFill>
                            <a:schemeClr val="accent1"/>
                          </a:solidFill>
                        </a:rPr>
                        <a:t>DDx</a:t>
                      </a:r>
                      <a:endParaRPr lang="en-US" sz="1600" dirty="0">
                        <a:solidFill>
                          <a:schemeClr val="accent1"/>
                        </a:solidFill>
                      </a:endParaRPr>
                    </a:p>
                    <a:p>
                      <a:pPr marL="285750" indent="-285750">
                        <a:buFont typeface="Arial" panose="020B0604020202020204" pitchFamily="34" charset="0"/>
                        <a:buChar char="•"/>
                      </a:pPr>
                      <a:r>
                        <a:rPr lang="en-US" sz="1600" dirty="0">
                          <a:solidFill>
                            <a:schemeClr val="accent1"/>
                          </a:solidFill>
                        </a:rPr>
                        <a:t>Biopsy (lymphocytes + inflammatory infiltrate)</a:t>
                      </a:r>
                    </a:p>
                  </a:txBody>
                  <a:tcPr/>
                </a:tc>
                <a:tc>
                  <a:txBody>
                    <a:bodyPr/>
                    <a:lstStyle/>
                    <a:p>
                      <a:pPr marL="285750" indent="-285750">
                        <a:buFont typeface="Arial" panose="020B0604020202020204" pitchFamily="34" charset="0"/>
                        <a:buChar char="•"/>
                      </a:pPr>
                      <a:r>
                        <a:rPr lang="en-US" sz="1600" dirty="0" err="1">
                          <a:solidFill>
                            <a:schemeClr val="accent6"/>
                          </a:solidFill>
                        </a:rPr>
                        <a:t>Methylpred</a:t>
                      </a:r>
                      <a:r>
                        <a:rPr lang="en-US" sz="1600" dirty="0">
                          <a:solidFill>
                            <a:schemeClr val="accent6"/>
                          </a:solidFill>
                        </a:rPr>
                        <a:t> 1 g x 3 day ±</a:t>
                      </a:r>
                    </a:p>
                    <a:p>
                      <a:pPr marL="514350" indent="-285750">
                        <a:buFont typeface="Arial" panose="020B0604020202020204" pitchFamily="34" charset="0"/>
                        <a:buChar char="•"/>
                      </a:pPr>
                      <a:r>
                        <a:rPr lang="en-US" sz="1600" dirty="0">
                          <a:solidFill>
                            <a:schemeClr val="accent6"/>
                          </a:solidFill>
                        </a:rPr>
                        <a:t>Anti-lymphocyte/IL-2 Ab (ATG or OKT3)</a:t>
                      </a:r>
                    </a:p>
                  </a:txBody>
                  <a:tcPr/>
                </a:tc>
                <a:extLst>
                  <a:ext uri="{0D108BD9-81ED-4DB2-BD59-A6C34878D82A}">
                    <a16:rowId xmlns:a16="http://schemas.microsoft.com/office/drawing/2014/main" val="1488104304"/>
                  </a:ext>
                </a:extLst>
              </a:tr>
              <a:tr h="1296028">
                <a:tc>
                  <a:txBody>
                    <a:bodyPr/>
                    <a:lstStyle/>
                    <a:p>
                      <a:pPr marL="117475" indent="0"/>
                      <a:r>
                        <a:rPr lang="en-US" dirty="0"/>
                        <a:t>Acute humoral</a:t>
                      </a:r>
                    </a:p>
                    <a:p>
                      <a:pPr marL="344488" indent="0"/>
                      <a:r>
                        <a:rPr lang="en-US" sz="1600" dirty="0"/>
                        <a:t>*kidney </a:t>
                      </a:r>
                    </a:p>
                    <a:p>
                      <a:pPr marL="344488" indent="0"/>
                      <a:r>
                        <a:rPr lang="en-US" sz="1600" dirty="0"/>
                        <a:t>controversial in lung/heart</a:t>
                      </a:r>
                    </a:p>
                    <a:p>
                      <a:pPr marL="344488" indent="0"/>
                      <a:r>
                        <a:rPr lang="en-US" sz="1600" dirty="0"/>
                        <a:t>x liver</a:t>
                      </a:r>
                      <a:endParaRPr lang="en-US" dirty="0"/>
                    </a:p>
                  </a:txBody>
                  <a:tcPr/>
                </a:tc>
                <a:tc vMerge="1">
                  <a:txBody>
                    <a:bodyPr/>
                    <a:lstStyle/>
                    <a:p>
                      <a:endParaRPr lang="en-US"/>
                    </a:p>
                  </a:txBody>
                  <a:tcPr/>
                </a:tc>
                <a:tc>
                  <a:txBody>
                    <a:bodyPr/>
                    <a:lstStyle/>
                    <a:p>
                      <a:pPr marL="285750" indent="-285750">
                        <a:buFont typeface="Arial" panose="020B0604020202020204" pitchFamily="34" charset="0"/>
                        <a:buChar char="•"/>
                      </a:pPr>
                      <a:r>
                        <a:rPr lang="en-US" sz="1600" dirty="0">
                          <a:solidFill>
                            <a:schemeClr val="accent1"/>
                          </a:solidFill>
                        </a:rPr>
                        <a:t>Biopsy (C4d deposition)</a:t>
                      </a:r>
                    </a:p>
                    <a:p>
                      <a:pPr marL="285750" indent="-285750">
                        <a:buFont typeface="Arial" panose="020B0604020202020204" pitchFamily="34" charset="0"/>
                        <a:buChar char="•"/>
                      </a:pPr>
                      <a:r>
                        <a:rPr lang="en-US" sz="1600" dirty="0">
                          <a:solidFill>
                            <a:schemeClr val="accent1"/>
                          </a:solidFill>
                        </a:rPr>
                        <a:t>Donor specific antibodies (DSAs)</a:t>
                      </a:r>
                    </a:p>
                  </a:txBody>
                  <a:tcPr/>
                </a:tc>
                <a:tc>
                  <a:txBody>
                    <a:bodyPr/>
                    <a:lstStyle/>
                    <a:p>
                      <a:pPr marL="285750" indent="-285750">
                        <a:buFont typeface="Arial" panose="020B0604020202020204" pitchFamily="34" charset="0"/>
                        <a:buChar char="•"/>
                      </a:pPr>
                      <a:r>
                        <a:rPr lang="en-US" sz="1600" dirty="0">
                          <a:solidFill>
                            <a:schemeClr val="accent6"/>
                          </a:solidFill>
                        </a:rPr>
                        <a:t>Optimize/↑ immunosuppression</a:t>
                      </a:r>
                    </a:p>
                    <a:p>
                      <a:pPr marL="285750" indent="-285750">
                        <a:buFont typeface="Arial" panose="020B0604020202020204" pitchFamily="34" charset="0"/>
                        <a:buChar char="•"/>
                      </a:pPr>
                      <a:r>
                        <a:rPr lang="en-US" sz="1600" dirty="0">
                          <a:solidFill>
                            <a:schemeClr val="accent6"/>
                          </a:solidFill>
                        </a:rPr>
                        <a:t>Steroids ± </a:t>
                      </a:r>
                    </a:p>
                    <a:p>
                      <a:pPr marL="514350" indent="-285750">
                        <a:buFont typeface="Arial" panose="020B0604020202020204" pitchFamily="34" charset="0"/>
                        <a:buChar char="•"/>
                      </a:pPr>
                      <a:r>
                        <a:rPr lang="en-US" sz="1600" dirty="0">
                          <a:solidFill>
                            <a:schemeClr val="accent6"/>
                          </a:solidFill>
                        </a:rPr>
                        <a:t>ATG, </a:t>
                      </a:r>
                      <a:r>
                        <a:rPr lang="en-US" sz="1600" dirty="0" err="1">
                          <a:solidFill>
                            <a:schemeClr val="accent6"/>
                          </a:solidFill>
                        </a:rPr>
                        <a:t>IVIg</a:t>
                      </a:r>
                      <a:r>
                        <a:rPr lang="en-US" sz="1600" dirty="0">
                          <a:solidFill>
                            <a:schemeClr val="accent6"/>
                          </a:solidFill>
                        </a:rPr>
                        <a:t>, plasmapheresis, rituximab, </a:t>
                      </a:r>
                      <a:r>
                        <a:rPr lang="en-US" sz="1600" dirty="0" err="1">
                          <a:solidFill>
                            <a:schemeClr val="accent6"/>
                          </a:solidFill>
                        </a:rPr>
                        <a:t>bortezomib</a:t>
                      </a:r>
                      <a:r>
                        <a:rPr lang="en-US" sz="1600" dirty="0">
                          <a:solidFill>
                            <a:schemeClr val="accent6"/>
                          </a:solidFill>
                        </a:rPr>
                        <a:t>, eculizumab</a:t>
                      </a:r>
                    </a:p>
                  </a:txBody>
                  <a:tcPr/>
                </a:tc>
                <a:extLst>
                  <a:ext uri="{0D108BD9-81ED-4DB2-BD59-A6C34878D82A}">
                    <a16:rowId xmlns:a16="http://schemas.microsoft.com/office/drawing/2014/main" val="2752201036"/>
                  </a:ext>
                </a:extLst>
              </a:tr>
              <a:tr h="245095">
                <a:tc>
                  <a:txBody>
                    <a:bodyPr/>
                    <a:lstStyle/>
                    <a:p>
                      <a:pPr marL="117475" indent="0"/>
                      <a:r>
                        <a:rPr lang="en-US" dirty="0"/>
                        <a:t>Chronic</a:t>
                      </a:r>
                    </a:p>
                  </a:txBody>
                  <a:tcPr>
                    <a:lnB w="12700" cap="flat" cmpd="sng" algn="ctr">
                      <a:solidFill>
                        <a:schemeClr val="bg1"/>
                      </a:solidFill>
                      <a:prstDash val="solid"/>
                      <a:round/>
                      <a:headEnd type="none" w="med" len="med"/>
                      <a:tailEnd type="none" w="med" len="med"/>
                    </a:lnB>
                  </a:tcPr>
                </a:tc>
                <a:tc>
                  <a:txBody>
                    <a:bodyPr/>
                    <a:lstStyle/>
                    <a:p>
                      <a:endParaRPr lang="en-US" dirty="0"/>
                    </a:p>
                  </a:txBody>
                  <a:tcPr>
                    <a:lnB w="12700" cap="flat" cmpd="sng" algn="ctr">
                      <a:solidFill>
                        <a:schemeClr val="bg1"/>
                      </a:solidFill>
                      <a:prstDash val="solid"/>
                      <a:round/>
                      <a:headEnd type="none" w="med" len="med"/>
                      <a:tailEnd type="none" w="med" len="med"/>
                    </a:lnB>
                  </a:tcPr>
                </a:tc>
                <a:tc>
                  <a:txBody>
                    <a:bodyPr/>
                    <a:lstStyle/>
                    <a:p>
                      <a:endParaRPr lang="en-US" sz="1600" dirty="0"/>
                    </a:p>
                  </a:txBody>
                  <a:tcPr>
                    <a:lnB w="12700" cap="flat" cmpd="sng" algn="ctr">
                      <a:solidFill>
                        <a:schemeClr val="bg1"/>
                      </a:solidFill>
                      <a:prstDash val="solid"/>
                      <a:round/>
                      <a:headEnd type="none" w="med" len="med"/>
                      <a:tailEnd type="none" w="med" len="med"/>
                    </a:lnB>
                  </a:tcPr>
                </a:tc>
                <a:tc>
                  <a:txBody>
                    <a:bodyPr/>
                    <a:lstStyle/>
                    <a:p>
                      <a:endParaRPr lang="en-US" dirty="0"/>
                    </a:p>
                  </a:txBody>
                  <a:tcP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97753088"/>
                  </a:ext>
                </a:extLst>
              </a:tr>
              <a:tr h="431515">
                <a:tc>
                  <a:txBody>
                    <a:bodyPr/>
                    <a:lstStyle/>
                    <a:p>
                      <a:pPr marL="339725" indent="0"/>
                      <a:r>
                        <a:rPr lang="en-US" sz="1600" dirty="0"/>
                        <a:t>Lung (bronchiolitis obliterans syndrome)</a:t>
                      </a:r>
                    </a:p>
                    <a:p>
                      <a:pPr marL="339725" indent="0"/>
                      <a:endParaRPr lang="en-US" sz="1600" dirty="0"/>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600" dirty="0">
                          <a:solidFill>
                            <a:srgbClr val="FF0000"/>
                          </a:solidFill>
                        </a:rPr>
                        <a:t>DOE, dry cough</a:t>
                      </a:r>
                    </a:p>
                    <a:p>
                      <a:pPr marL="285750" indent="-285750">
                        <a:buFont typeface="Arial" panose="020B0604020202020204" pitchFamily="34" charset="0"/>
                        <a:buChar char="•"/>
                      </a:pPr>
                      <a:r>
                        <a:rPr lang="en-US" sz="1600" dirty="0">
                          <a:solidFill>
                            <a:srgbClr val="FF0000"/>
                          </a:solidFill>
                        </a:rPr>
                        <a:t>CXR normal → hyperinflation/ bronchiectasis</a:t>
                      </a:r>
                    </a:p>
                    <a:p>
                      <a:pPr marL="285750" indent="-285750">
                        <a:buFont typeface="Arial" panose="020B0604020202020204" pitchFamily="34" charset="0"/>
                        <a:buChar char="•"/>
                      </a:pPr>
                      <a:r>
                        <a:rPr lang="en-US" sz="1600" dirty="0">
                          <a:solidFill>
                            <a:srgbClr val="FF0000"/>
                          </a:solidFill>
                        </a:rPr>
                        <a:t>PFTs → obstructive, FEV</a:t>
                      </a:r>
                      <a:r>
                        <a:rPr lang="en-US" sz="1600" baseline="-25000" dirty="0">
                          <a:solidFill>
                            <a:srgbClr val="FF0000"/>
                          </a:solidFill>
                        </a:rPr>
                        <a:t>1</a:t>
                      </a:r>
                      <a:r>
                        <a:rPr lang="en-US" sz="1600" dirty="0">
                          <a:solidFill>
                            <a:srgbClr val="FF0000"/>
                          </a:solidFill>
                        </a:rPr>
                        <a:t> ↓</a:t>
                      </a:r>
                    </a:p>
                  </a:txBody>
                  <a:tcP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600" dirty="0" err="1">
                          <a:solidFill>
                            <a:schemeClr val="accent1"/>
                          </a:solidFill>
                        </a:rPr>
                        <a:t>Bronch</a:t>
                      </a:r>
                      <a:r>
                        <a:rPr lang="en-US" sz="1600" dirty="0">
                          <a:solidFill>
                            <a:schemeClr val="accent1"/>
                          </a:solidFill>
                        </a:rPr>
                        <a:t> – r/o stenosis and infection</a:t>
                      </a:r>
                    </a:p>
                    <a:p>
                      <a:pPr marL="285750" indent="-285750">
                        <a:buFont typeface="Arial" panose="020B0604020202020204" pitchFamily="34" charset="0"/>
                        <a:buChar char="•"/>
                      </a:pPr>
                      <a:r>
                        <a:rPr lang="en-US" sz="1600" dirty="0" err="1">
                          <a:solidFill>
                            <a:schemeClr val="accent1"/>
                          </a:solidFill>
                        </a:rPr>
                        <a:t>Bx</a:t>
                      </a:r>
                      <a:r>
                        <a:rPr lang="en-US" sz="1600" dirty="0">
                          <a:solidFill>
                            <a:schemeClr val="accent1"/>
                          </a:solidFill>
                        </a:rPr>
                        <a:t> – fibrous scarring of small airways</a:t>
                      </a:r>
                    </a:p>
                  </a:txBody>
                  <a:tcP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600" dirty="0">
                          <a:solidFill>
                            <a:schemeClr val="accent6"/>
                          </a:solidFill>
                        </a:rPr>
                        <a:t>Optimize immunosuppression</a:t>
                      </a:r>
                    </a:p>
                    <a:p>
                      <a:pPr marL="285750" indent="-285750">
                        <a:buFont typeface="Arial" panose="020B0604020202020204" pitchFamily="34" charset="0"/>
                        <a:buChar char="•"/>
                      </a:pPr>
                      <a:r>
                        <a:rPr lang="en-US" sz="1600" dirty="0">
                          <a:solidFill>
                            <a:schemeClr val="accent6"/>
                          </a:solidFill>
                        </a:rPr>
                        <a:t>*Azithromycin 3x/week ±</a:t>
                      </a:r>
                    </a:p>
                    <a:p>
                      <a:pPr marL="285750" indent="-285750">
                        <a:buFont typeface="Arial" panose="020B0604020202020204" pitchFamily="34" charset="0"/>
                        <a:buChar char="•"/>
                      </a:pPr>
                      <a:r>
                        <a:rPr lang="en-US" sz="1600" dirty="0">
                          <a:solidFill>
                            <a:schemeClr val="accent6"/>
                          </a:solidFill>
                        </a:rPr>
                        <a:t>Montelukast, sirolimus, ECP, anti-lymphocyte/ thymocyte Ab</a:t>
                      </a:r>
                    </a:p>
                  </a:txBody>
                  <a:tcP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338988"/>
                  </a:ext>
                </a:extLst>
              </a:tr>
              <a:tr h="420670">
                <a:tc>
                  <a:txBody>
                    <a:bodyPr/>
                    <a:lstStyle/>
                    <a:p>
                      <a:pPr marL="339725" marR="0" lvl="0" indent="0" algn="l" defTabSz="914400" rtl="0" eaLnBrk="1" fontAlgn="auto" latinLnBrk="0" hangingPunct="1">
                        <a:lnSpc>
                          <a:spcPct val="100000"/>
                        </a:lnSpc>
                        <a:spcBef>
                          <a:spcPts val="0"/>
                        </a:spcBef>
                        <a:spcAft>
                          <a:spcPts val="0"/>
                        </a:spcAft>
                        <a:buClrTx/>
                        <a:buSzTx/>
                        <a:buFontTx/>
                        <a:buNone/>
                        <a:tabLst/>
                        <a:defRPr/>
                      </a:pPr>
                      <a:r>
                        <a:rPr lang="en-US" sz="1600" dirty="0"/>
                        <a:t>Kidney (chronic renal allograft dysfunction)</a:t>
                      </a:r>
                    </a:p>
                  </a:txBody>
                  <a:tcPr>
                    <a:lnT w="12700" cap="flat" cmpd="sng" algn="ctr">
                      <a:solidFill>
                        <a:schemeClr val="bg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FF0000"/>
                          </a:solidFill>
                        </a:rPr>
                        <a:t>Slowly ↑ Cr, proteinuria, HTN</a:t>
                      </a:r>
                    </a:p>
                  </a:txBody>
                  <a:tcPr>
                    <a:lnT w="12700" cap="flat" cmpd="sng" algn="ctr">
                      <a:solidFill>
                        <a:schemeClr val="tx1"/>
                      </a:solidFill>
                      <a:prstDash val="solid"/>
                      <a:round/>
                      <a:headEnd type="none" w="med" len="med"/>
                      <a:tailEnd type="none" w="med" len="med"/>
                    </a:lnT>
                  </a:tcPr>
                </a:tc>
                <a:tc>
                  <a:txBody>
                    <a:bodyPr/>
                    <a:lstStyle/>
                    <a:p>
                      <a:r>
                        <a:rPr lang="en-US" sz="1600" dirty="0">
                          <a:solidFill>
                            <a:schemeClr val="accent1"/>
                          </a:solidFill>
                        </a:rPr>
                        <a:t>Biopsy – tubular atrophy, interstitial fibrosis, double contour glomeruli</a:t>
                      </a:r>
                    </a:p>
                  </a:txBody>
                  <a:tcPr>
                    <a:lnT w="12700" cap="flat" cmpd="sng" algn="ctr">
                      <a:solidFill>
                        <a:schemeClr val="tx1"/>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sz="1600" dirty="0">
                          <a:solidFill>
                            <a:schemeClr val="accent6"/>
                          </a:solidFill>
                        </a:rPr>
                        <a:t>Optimize immunosuppression</a:t>
                      </a:r>
                    </a:p>
                    <a:p>
                      <a:pPr marL="285750" indent="-285750">
                        <a:buFont typeface="Arial" panose="020B0604020202020204" pitchFamily="34" charset="0"/>
                        <a:buChar char="•"/>
                      </a:pPr>
                      <a:r>
                        <a:rPr lang="en-US" sz="1600" dirty="0">
                          <a:solidFill>
                            <a:schemeClr val="accent6"/>
                          </a:solidFill>
                        </a:rPr>
                        <a:t>Manage HTN/HLD</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16812897"/>
                  </a:ext>
                </a:extLst>
              </a:tr>
            </a:tbl>
          </a:graphicData>
        </a:graphic>
      </p:graphicFrame>
      <p:sp>
        <p:nvSpPr>
          <p:cNvPr id="9" name="TextBox 8">
            <a:extLst>
              <a:ext uri="{FF2B5EF4-FFF2-40B4-BE49-F238E27FC236}">
                <a16:creationId xmlns:a16="http://schemas.microsoft.com/office/drawing/2014/main" id="{89F14FB3-1371-49B4-82EB-3A3A67A75564}"/>
              </a:ext>
            </a:extLst>
          </p:cNvPr>
          <p:cNvSpPr txBox="1"/>
          <p:nvPr/>
        </p:nvSpPr>
        <p:spPr>
          <a:xfrm>
            <a:off x="147483" y="6608916"/>
            <a:ext cx="9969500" cy="261610"/>
          </a:xfrm>
          <a:prstGeom prst="rect">
            <a:avLst/>
          </a:prstGeom>
          <a:noFill/>
        </p:spPr>
        <p:txBody>
          <a:bodyPr wrap="square" rtlCol="0">
            <a:spAutoFit/>
          </a:bodyPr>
          <a:lstStyle/>
          <a:p>
            <a:r>
              <a:rPr lang="en-US" sz="1050" dirty="0"/>
              <a:t>ATG = anti-thymocyte globulin, ECP = extracorporeal psoralen </a:t>
            </a:r>
            <a:r>
              <a:rPr lang="en-US" sz="1050" dirty="0" err="1"/>
              <a:t>photopheresis</a:t>
            </a:r>
            <a:r>
              <a:rPr lang="en-US" sz="1050" dirty="0"/>
              <a:t> </a:t>
            </a:r>
          </a:p>
        </p:txBody>
      </p:sp>
    </p:spTree>
    <p:extLst>
      <p:ext uri="{BB962C8B-B14F-4D97-AF65-F5344CB8AC3E}">
        <p14:creationId xmlns:p14="http://schemas.microsoft.com/office/powerpoint/2010/main" val="1397279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5956</TotalTime>
  <Words>1159</Words>
  <Application>Microsoft Office PowerPoint</Application>
  <PresentationFormat>Widescreen</PresentationFormat>
  <Paragraphs>240</Paragraphs>
  <Slides>6</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Yilin Zhang</dc:creator>
  <cp:lastModifiedBy>Yilin Zhang</cp:lastModifiedBy>
  <cp:revision>40</cp:revision>
  <dcterms:created xsi:type="dcterms:W3CDTF">2017-07-14T07:46:15Z</dcterms:created>
  <dcterms:modified xsi:type="dcterms:W3CDTF">2020-12-20T19:16:37Z</dcterms:modified>
</cp:coreProperties>
</file>