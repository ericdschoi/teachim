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commentAuthors.xml" ContentType="application/vnd.openxmlformats-officedocument.presentationml.commentAuthor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6"/>
  </p:notesMasterIdLst>
  <p:handoutMasterIdLst>
    <p:handoutMasterId r:id="rId17"/>
  </p:handoutMasterIdLst>
  <p:sldIdLst>
    <p:sldId id="361" r:id="rId5"/>
    <p:sldId id="365" r:id="rId6"/>
    <p:sldId id="354" r:id="rId7"/>
    <p:sldId id="364" r:id="rId8"/>
    <p:sldId id="355" r:id="rId9"/>
    <p:sldId id="357" r:id="rId10"/>
    <p:sldId id="358" r:id="rId11"/>
    <p:sldId id="359" r:id="rId12"/>
    <p:sldId id="367" r:id="rId13"/>
    <p:sldId id="363" r:id="rId14"/>
    <p:sldId id="341" r:id="rId15"/>
    <p:sldId id="368" r:id="rId25"/>
    <p:sldId id="369" r:id="rId26"/>
    <p:sldId id="370"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0012328-FF69-4151-8E5A-49B14093E184}">
          <p14:sldIdLst>
            <p14:sldId id="361"/>
            <p14:sldId id="365"/>
            <p14:sldId id="354"/>
            <p14:sldId id="364"/>
            <p14:sldId id="355"/>
            <p14:sldId id="357"/>
            <p14:sldId id="358"/>
            <p14:sldId id="359"/>
            <p14:sldId id="367"/>
            <p14:sldId id="363"/>
            <p14:sldId id="34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elton, Meara A2" initials="MMA" lastIdx="1" clrIdx="0">
    <p:extLst>
      <p:ext uri="{19B8F6BF-5375-455C-9EA6-DF929625EA0E}">
        <p15:presenceInfo xmlns:p15="http://schemas.microsoft.com/office/powerpoint/2012/main" userId="Melton, Meara A2"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9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049E40-AD76-45A4-BCFF-C4BAF063AA21}" v="1" dt="2025-06-27T17:08:55.411"/>
  </p1510:revLst>
</p1510:revInfo>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4" autoAdjust="0"/>
    <p:restoredTop sz="82915" autoAdjust="0"/>
  </p:normalViewPr>
  <p:slideViewPr>
    <p:cSldViewPr snapToGrid="0">
      <p:cViewPr varScale="1">
        <p:scale>
          <a:sx n="82" d="100"/>
          <a:sy n="82" d="100"/>
        </p:scale>
        <p:origin x="978" y="96"/>
      </p:cViewPr>
      <p:guideLst/>
    </p:cSldViewPr>
  </p:slideViewPr>
  <p:notesTextViewPr>
    <p:cViewPr>
      <p:scale>
        <a:sx n="3" d="2"/>
        <a:sy n="3" d="2"/>
      </p:scale>
      <p:origin x="0" y="0"/>
    </p:cViewPr>
  </p:notesTextViewPr>
  <p:notesViewPr>
    <p:cSldViewPr snapToGrid="0">
      <p:cViewPr varScale="1">
        <p:scale>
          <a:sx n="51" d="100"/>
          <a:sy n="51" d="100"/>
        </p:scale>
        <p:origin x="1824" y="2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notesMaster" Target="notesMasters/notesMaster1.xml"/><Relationship Id="rId17" Type="http://schemas.openxmlformats.org/officeDocument/2006/relationships/handoutMaster" Target="handoutMasters/handoutMaster1.xml"/><Relationship Id="rId18" Type="http://schemas.openxmlformats.org/officeDocument/2006/relationships/commentAuthors" Target="commentAuthors.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microsoft.com/office/2016/11/relationships/changesInfo" Target="changesInfos/changesInfo1.xml"/><Relationship Id="rId24" Type="http://schemas.microsoft.com/office/2015/10/relationships/revisionInfo" Target="revisionInfo.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ett, Molly S." userId="2c7ef713-0d44-4b24-8d77-1664667b3b99" providerId="ADAL" clId="{36049E40-AD76-45A4-BCFF-C4BAF063AA21}"/>
    <pc:docChg chg="addSld delSld modSld modSection">
      <pc:chgData name="Brett, Molly S." userId="2c7ef713-0d44-4b24-8d77-1664667b3b99" providerId="ADAL" clId="{36049E40-AD76-45A4-BCFF-C4BAF063AA21}" dt="2025-06-27T17:08:57.172" v="4" actId="47"/>
      <pc:docMkLst>
        <pc:docMk/>
      </pc:docMkLst>
      <pc:sldChg chg="add del">
        <pc:chgData name="Brett, Molly S." userId="2c7ef713-0d44-4b24-8d77-1664667b3b99" providerId="ADAL" clId="{36049E40-AD76-45A4-BCFF-C4BAF063AA21}" dt="2025-06-27T17:08:55.407" v="3"/>
        <pc:sldMkLst>
          <pc:docMk/>
          <pc:sldMk cId="655415268" sldId="341"/>
        </pc:sldMkLst>
      </pc:sldChg>
      <pc:sldChg chg="del">
        <pc:chgData name="Brett, Molly S." userId="2c7ef713-0d44-4b24-8d77-1664667b3b99" providerId="ADAL" clId="{36049E40-AD76-45A4-BCFF-C4BAF063AA21}" dt="2025-06-27T17:07:07.870" v="0" actId="47"/>
        <pc:sldMkLst>
          <pc:docMk/>
          <pc:sldMk cId="2639748652" sldId="360"/>
        </pc:sldMkLst>
      </pc:sldChg>
      <pc:sldChg chg="new del">
        <pc:chgData name="Brett, Molly S." userId="2c7ef713-0d44-4b24-8d77-1664667b3b99" providerId="ADAL" clId="{36049E40-AD76-45A4-BCFF-C4BAF063AA21}" dt="2025-06-27T17:08:57.172" v="4" actId="47"/>
        <pc:sldMkLst>
          <pc:docMk/>
          <pc:sldMk cId="1199470551" sldId="368"/>
        </pc:sldMkLst>
      </pc:sldChg>
    </pc:docChg>
  </pc:docChgLst>
</pc:chgInfo>
</file>

<file path=ppt/diagrams/_rels/data1.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slide" Target="../slides/slide10.xml"/><Relationship Id="rId3" Type="http://schemas.openxmlformats.org/officeDocument/2006/relationships/slide" Target="../slides/slide6.xml"/><Relationship Id="rId4"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34D04E3-B8A1-4C78-A635-5D2AA8625014}" type="doc">
      <dgm:prSet loTypeId="urn:microsoft.com/office/officeart/2005/8/layout/cycle6" loCatId="relationship" qsTypeId="urn:microsoft.com/office/officeart/2005/8/quickstyle/simple1" qsCatId="simple" csTypeId="urn:microsoft.com/office/officeart/2005/8/colors/accent1_2" csCatId="accent1" phldr="1"/>
      <dgm:spPr/>
      <dgm:t>
        <a:bodyPr/>
        <a:lstStyle/>
        <a:p>
          <a:endParaRPr lang="en-US"/>
        </a:p>
      </dgm:t>
    </dgm:pt>
    <dgm:pt modelId="{27BC0F7A-0CC6-45A7-BC12-06E7E5CE59DF}">
      <dgm:prSet phldrT="[Text]"/>
      <dgm:spPr>
        <a:ln w="28575"/>
        <a:effectLst>
          <a:outerShdw blurRad="50800" dist="38100" dir="2700000" algn="tl" rotWithShape="0">
            <a:prstClr val="black">
              <a:alpha val="40000"/>
            </a:prstClr>
          </a:outerShdw>
        </a:effectLst>
      </dgm:spPr>
      <dgm:t>
        <a:bodyPr/>
        <a:lstStyle/>
        <a:p>
          <a:r>
            <a:rPr lang="en-US" dirty="0"/>
            <a:t>Cancer</a:t>
          </a:r>
        </a:p>
      </dgm:t>
      <dgm:extLst>
        <a:ext uri="{E40237B7-FDA0-4F09-8148-C483321AD2D9}">
          <dgm14:cNvPr xmlns:dgm14="http://schemas.microsoft.com/office/drawing/2010/diagram" id="0" name="">
            <a:hlinkClick xmlns:r="http://schemas.openxmlformats.org/officeDocument/2006/relationships" r:id="rId1" action="ppaction://hlinksldjump"/>
          </dgm14:cNvPr>
        </a:ext>
      </dgm:extLst>
    </dgm:pt>
    <dgm:pt modelId="{93E3BD00-7EB6-49DB-8AA6-DE88E82014C2}" type="parTrans" cxnId="{3CF2DD24-9114-4F15-ABEA-797741481AE8}">
      <dgm:prSet/>
      <dgm:spPr/>
      <dgm:t>
        <a:bodyPr/>
        <a:lstStyle/>
        <a:p>
          <a:endParaRPr lang="en-US"/>
        </a:p>
      </dgm:t>
    </dgm:pt>
    <dgm:pt modelId="{4DA5F42F-5B6F-4A15-9D8C-5BC34DA3BE2E}" type="sibTrans" cxnId="{3CF2DD24-9114-4F15-ABEA-797741481AE8}">
      <dgm:prSet/>
      <dgm:spPr/>
      <dgm:t>
        <a:bodyPr/>
        <a:lstStyle/>
        <a:p>
          <a:endParaRPr lang="en-US"/>
        </a:p>
      </dgm:t>
    </dgm:pt>
    <dgm:pt modelId="{9F786CB4-A020-494C-960A-23DAACE50DB2}">
      <dgm:prSet phldrT="[Text]"/>
      <dgm:spPr>
        <a:solidFill>
          <a:schemeClr val="accent2"/>
        </a:solidFill>
        <a:ln w="28575"/>
        <a:effectLst>
          <a:outerShdw blurRad="50800" dist="38100" dir="2700000" algn="tl" rotWithShape="0">
            <a:prstClr val="black">
              <a:alpha val="40000"/>
            </a:prstClr>
          </a:outerShdw>
        </a:effectLst>
      </dgm:spPr>
      <dgm:t>
        <a:bodyPr/>
        <a:lstStyle/>
        <a:p>
          <a:r>
            <a:rPr lang="en-US"/>
            <a:t>Infectious Disease</a:t>
          </a:r>
        </a:p>
      </dgm:t>
      <dgm:extLst>
        <a:ext uri="{E40237B7-FDA0-4F09-8148-C483321AD2D9}">
          <dgm14:cNvPr xmlns:dgm14="http://schemas.microsoft.com/office/drawing/2010/diagram" id="0" name="">
            <a:hlinkClick xmlns:r="http://schemas.openxmlformats.org/officeDocument/2006/relationships" r:id="rId2" action="ppaction://hlinksldjump"/>
          </dgm14:cNvPr>
        </a:ext>
      </dgm:extLst>
    </dgm:pt>
    <dgm:pt modelId="{8F5D0499-2193-4150-803C-2F4876F65CD4}" type="parTrans" cxnId="{A3F57FE9-0230-43FE-A61B-6C1AB400BE4A}">
      <dgm:prSet/>
      <dgm:spPr/>
      <dgm:t>
        <a:bodyPr/>
        <a:lstStyle/>
        <a:p>
          <a:endParaRPr lang="en-US"/>
        </a:p>
      </dgm:t>
    </dgm:pt>
    <dgm:pt modelId="{03602650-4597-4FF6-B19C-E72A57603F05}" type="sibTrans" cxnId="{A3F57FE9-0230-43FE-A61B-6C1AB400BE4A}">
      <dgm:prSet/>
      <dgm:spPr/>
      <dgm:t>
        <a:bodyPr/>
        <a:lstStyle/>
        <a:p>
          <a:endParaRPr lang="en-US"/>
        </a:p>
      </dgm:t>
    </dgm:pt>
    <dgm:pt modelId="{04C7D834-7AAC-4839-B0AB-D18B6500B390}">
      <dgm:prSet phldrT="[Text]"/>
      <dgm:spPr>
        <a:solidFill>
          <a:schemeClr val="accent5"/>
        </a:solidFill>
        <a:ln w="28575"/>
        <a:effectLst>
          <a:outerShdw blurRad="50800" dist="38100" dir="2700000" algn="tl" rotWithShape="0">
            <a:prstClr val="black">
              <a:alpha val="40000"/>
            </a:prstClr>
          </a:outerShdw>
        </a:effectLst>
      </dgm:spPr>
      <dgm:t>
        <a:bodyPr/>
        <a:lstStyle/>
        <a:p>
          <a:r>
            <a:rPr lang="en-US" dirty="0"/>
            <a:t>Psychosocial</a:t>
          </a:r>
        </a:p>
        <a:p>
          <a:r>
            <a:rPr lang="en-US" dirty="0"/>
            <a:t>(See </a:t>
          </a:r>
          <a:r>
            <a:rPr lang="en-US" dirty="0" err="1"/>
            <a:t>Prev</a:t>
          </a:r>
          <a:r>
            <a:rPr lang="en-US" dirty="0"/>
            <a:t> 2)</a:t>
          </a:r>
        </a:p>
      </dgm:t>
      <dgm:extLst>
        <a:ext uri="{E40237B7-FDA0-4F09-8148-C483321AD2D9}">
          <dgm14:cNvPr xmlns:dgm14="http://schemas.microsoft.com/office/drawing/2010/diagram" id="0" name="">
            <a:hlinkClick xmlns:r="http://schemas.openxmlformats.org/officeDocument/2006/relationships" r:id="rId1" action="ppaction://hlinksldjump"/>
          </dgm14:cNvPr>
        </a:ext>
      </dgm:extLst>
    </dgm:pt>
    <dgm:pt modelId="{444EA6FD-3114-4341-AD67-097DFF773E6D}" type="parTrans" cxnId="{20CB291B-7DF7-4ECB-B05B-91642676600D}">
      <dgm:prSet/>
      <dgm:spPr/>
      <dgm:t>
        <a:bodyPr/>
        <a:lstStyle/>
        <a:p>
          <a:endParaRPr lang="en-US"/>
        </a:p>
      </dgm:t>
    </dgm:pt>
    <dgm:pt modelId="{E07DD3F4-29EB-4E27-9866-64A61322F5BF}" type="sibTrans" cxnId="{20CB291B-7DF7-4ECB-B05B-91642676600D}">
      <dgm:prSet/>
      <dgm:spPr/>
      <dgm:t>
        <a:bodyPr/>
        <a:lstStyle/>
        <a:p>
          <a:endParaRPr lang="en-US"/>
        </a:p>
      </dgm:t>
    </dgm:pt>
    <dgm:pt modelId="{6211D0A6-A724-4053-B536-34343BC38EF2}">
      <dgm:prSet phldrT="[Text]"/>
      <dgm:spPr>
        <a:solidFill>
          <a:srgbClr val="C00000"/>
        </a:solidFill>
        <a:ln w="28575"/>
        <a:effectLst>
          <a:outerShdw blurRad="50800" dist="38100" dir="2700000" algn="tl" rotWithShape="0">
            <a:prstClr val="black">
              <a:alpha val="40000"/>
            </a:prstClr>
          </a:outerShdw>
        </a:effectLst>
      </dgm:spPr>
      <dgm:t>
        <a:bodyPr/>
        <a:lstStyle/>
        <a:p>
          <a:r>
            <a:rPr lang="en-US" dirty="0"/>
            <a:t>Cardiovascular disease</a:t>
          </a:r>
        </a:p>
        <a:p>
          <a:r>
            <a:rPr lang="en-US" dirty="0"/>
            <a:t>(See </a:t>
          </a:r>
          <a:r>
            <a:rPr lang="en-US" dirty="0" err="1"/>
            <a:t>Prev</a:t>
          </a:r>
          <a:r>
            <a:rPr lang="en-US" dirty="0"/>
            <a:t> 2)</a:t>
          </a:r>
        </a:p>
      </dgm:t>
      <dgm:extLst>
        <a:ext uri="{E40237B7-FDA0-4F09-8148-C483321AD2D9}">
          <dgm14:cNvPr xmlns:dgm14="http://schemas.microsoft.com/office/drawing/2010/diagram" id="0" name="">
            <a:hlinkClick xmlns:r="http://schemas.openxmlformats.org/officeDocument/2006/relationships" r:id="rId3" action="ppaction://hlinksldjump"/>
          </dgm14:cNvPr>
        </a:ext>
      </dgm:extLst>
    </dgm:pt>
    <dgm:pt modelId="{66BEF17A-9A81-417E-BF99-54381F961749}" type="parTrans" cxnId="{86DAAAF0-AAAD-4F20-8BB9-253520EC5E6C}">
      <dgm:prSet/>
      <dgm:spPr/>
      <dgm:t>
        <a:bodyPr/>
        <a:lstStyle/>
        <a:p>
          <a:endParaRPr lang="en-US"/>
        </a:p>
      </dgm:t>
    </dgm:pt>
    <dgm:pt modelId="{FE406E9A-051C-4A81-AB7A-ABABE22C3579}" type="sibTrans" cxnId="{86DAAAF0-AAAD-4F20-8BB9-253520EC5E6C}">
      <dgm:prSet/>
      <dgm:spPr/>
      <dgm:t>
        <a:bodyPr/>
        <a:lstStyle/>
        <a:p>
          <a:endParaRPr lang="en-US"/>
        </a:p>
      </dgm:t>
    </dgm:pt>
    <dgm:pt modelId="{A2649B45-85BA-4A90-BAD5-84CA586F3A93}">
      <dgm:prSet phldrT="[Text]"/>
      <dgm:spPr>
        <a:solidFill>
          <a:schemeClr val="accent6"/>
        </a:solidFill>
        <a:ln w="28575"/>
        <a:effectLst>
          <a:outerShdw blurRad="50800" dist="38100" dir="2700000" algn="tl" rotWithShape="0">
            <a:prstClr val="black">
              <a:alpha val="40000"/>
            </a:prstClr>
          </a:outerShdw>
        </a:effectLst>
      </dgm:spPr>
      <dgm:t>
        <a:bodyPr/>
        <a:lstStyle/>
        <a:p>
          <a:r>
            <a:rPr lang="en-US" dirty="0"/>
            <a:t>Family/Safety</a:t>
          </a:r>
        </a:p>
        <a:p>
          <a:r>
            <a:rPr lang="en-US" dirty="0"/>
            <a:t>(See </a:t>
          </a:r>
          <a:r>
            <a:rPr lang="en-US" dirty="0" err="1"/>
            <a:t>Prev</a:t>
          </a:r>
          <a:r>
            <a:rPr lang="en-US" dirty="0"/>
            <a:t> 2)</a:t>
          </a:r>
        </a:p>
      </dgm:t>
      <dgm:extLst>
        <a:ext uri="{E40237B7-FDA0-4F09-8148-C483321AD2D9}">
          <dgm14:cNvPr xmlns:dgm14="http://schemas.microsoft.com/office/drawing/2010/diagram" id="0" name="">
            <a:hlinkClick xmlns:r="http://schemas.openxmlformats.org/officeDocument/2006/relationships" r:id="rId4" action="ppaction://hlinksldjump"/>
          </dgm14:cNvPr>
        </a:ext>
      </dgm:extLst>
    </dgm:pt>
    <dgm:pt modelId="{222569F1-4604-436F-AFCA-F86C7AB05F25}" type="parTrans" cxnId="{2A1D2BC8-B4E9-46C2-BF1E-7C57B5862D20}">
      <dgm:prSet/>
      <dgm:spPr/>
      <dgm:t>
        <a:bodyPr/>
        <a:lstStyle/>
        <a:p>
          <a:endParaRPr lang="en-US"/>
        </a:p>
      </dgm:t>
    </dgm:pt>
    <dgm:pt modelId="{AEF3A373-B117-44B3-B68A-4F4E3EBF67F1}" type="sibTrans" cxnId="{2A1D2BC8-B4E9-46C2-BF1E-7C57B5862D20}">
      <dgm:prSet/>
      <dgm:spPr/>
      <dgm:t>
        <a:bodyPr/>
        <a:lstStyle/>
        <a:p>
          <a:endParaRPr lang="en-US"/>
        </a:p>
      </dgm:t>
    </dgm:pt>
    <dgm:pt modelId="{5139865C-5838-4BB8-9081-65BD4CE7579B}" type="pres">
      <dgm:prSet presAssocID="{C34D04E3-B8A1-4C78-A635-5D2AA8625014}" presName="cycle" presStyleCnt="0">
        <dgm:presLayoutVars>
          <dgm:dir/>
          <dgm:resizeHandles val="exact"/>
        </dgm:presLayoutVars>
      </dgm:prSet>
      <dgm:spPr/>
    </dgm:pt>
    <dgm:pt modelId="{E5074A74-D706-4E7E-A812-E593917EF587}" type="pres">
      <dgm:prSet presAssocID="{27BC0F7A-0CC6-45A7-BC12-06E7E5CE59DF}" presName="node" presStyleLbl="node1" presStyleIdx="0" presStyleCnt="5">
        <dgm:presLayoutVars>
          <dgm:bulletEnabled val="1"/>
        </dgm:presLayoutVars>
      </dgm:prSet>
      <dgm:spPr/>
    </dgm:pt>
    <dgm:pt modelId="{42775C88-084B-43B1-857C-FD29D6140585}" type="pres">
      <dgm:prSet presAssocID="{27BC0F7A-0CC6-45A7-BC12-06E7E5CE59DF}" presName="spNode" presStyleCnt="0"/>
      <dgm:spPr/>
    </dgm:pt>
    <dgm:pt modelId="{50315BBD-645D-46B5-B225-A264183E24F8}" type="pres">
      <dgm:prSet presAssocID="{4DA5F42F-5B6F-4A15-9D8C-5BC34DA3BE2E}" presName="sibTrans" presStyleLbl="sibTrans1D1" presStyleIdx="0" presStyleCnt="5"/>
      <dgm:spPr/>
    </dgm:pt>
    <dgm:pt modelId="{57D37ACF-9CF9-4020-A0BE-D7AFDFD30B39}" type="pres">
      <dgm:prSet presAssocID="{9F786CB4-A020-494C-960A-23DAACE50DB2}" presName="node" presStyleLbl="node1" presStyleIdx="1" presStyleCnt="5" custRadScaleRad="101886" custRadScaleInc="1759">
        <dgm:presLayoutVars>
          <dgm:bulletEnabled val="1"/>
        </dgm:presLayoutVars>
      </dgm:prSet>
      <dgm:spPr/>
    </dgm:pt>
    <dgm:pt modelId="{073BEDD8-8A51-4DF4-BCCF-D18A42A2EE12}" type="pres">
      <dgm:prSet presAssocID="{9F786CB4-A020-494C-960A-23DAACE50DB2}" presName="spNode" presStyleCnt="0"/>
      <dgm:spPr/>
    </dgm:pt>
    <dgm:pt modelId="{C27590CA-F935-48E3-9FF4-A029534BC409}" type="pres">
      <dgm:prSet presAssocID="{03602650-4597-4FF6-B19C-E72A57603F05}" presName="sibTrans" presStyleLbl="sibTrans1D1" presStyleIdx="1" presStyleCnt="5"/>
      <dgm:spPr/>
    </dgm:pt>
    <dgm:pt modelId="{D98060B8-E9C5-4E28-8E5F-D4B943B9E6B6}" type="pres">
      <dgm:prSet presAssocID="{04C7D834-7AAC-4839-B0AB-D18B6500B390}" presName="node" presStyleLbl="node1" presStyleIdx="2" presStyleCnt="5">
        <dgm:presLayoutVars>
          <dgm:bulletEnabled val="1"/>
        </dgm:presLayoutVars>
      </dgm:prSet>
      <dgm:spPr/>
    </dgm:pt>
    <dgm:pt modelId="{5E2F2AC1-B196-4647-96AA-0359CC5325E6}" type="pres">
      <dgm:prSet presAssocID="{04C7D834-7AAC-4839-B0AB-D18B6500B390}" presName="spNode" presStyleCnt="0"/>
      <dgm:spPr/>
    </dgm:pt>
    <dgm:pt modelId="{0B0645EC-699F-4965-A236-9B824FDA953E}" type="pres">
      <dgm:prSet presAssocID="{E07DD3F4-29EB-4E27-9866-64A61322F5BF}" presName="sibTrans" presStyleLbl="sibTrans1D1" presStyleIdx="2" presStyleCnt="5"/>
      <dgm:spPr/>
    </dgm:pt>
    <dgm:pt modelId="{8861E35F-9277-47D5-AD83-0380733115EF}" type="pres">
      <dgm:prSet presAssocID="{6211D0A6-A724-4053-B536-34343BC38EF2}" presName="node" presStyleLbl="node1" presStyleIdx="3" presStyleCnt="5">
        <dgm:presLayoutVars>
          <dgm:bulletEnabled val="1"/>
        </dgm:presLayoutVars>
      </dgm:prSet>
      <dgm:spPr/>
    </dgm:pt>
    <dgm:pt modelId="{417A28B2-FC4B-4925-B416-366E2B97D7A7}" type="pres">
      <dgm:prSet presAssocID="{6211D0A6-A724-4053-B536-34343BC38EF2}" presName="spNode" presStyleCnt="0"/>
      <dgm:spPr/>
    </dgm:pt>
    <dgm:pt modelId="{9EFE2281-156C-44F1-840F-90FD41B403B3}" type="pres">
      <dgm:prSet presAssocID="{FE406E9A-051C-4A81-AB7A-ABABE22C3579}" presName="sibTrans" presStyleLbl="sibTrans1D1" presStyleIdx="3" presStyleCnt="5"/>
      <dgm:spPr/>
    </dgm:pt>
    <dgm:pt modelId="{431513E3-0722-4045-8992-01EC61EDD9BF}" type="pres">
      <dgm:prSet presAssocID="{A2649B45-85BA-4A90-BAD5-84CA586F3A93}" presName="node" presStyleLbl="node1" presStyleIdx="4" presStyleCnt="5">
        <dgm:presLayoutVars>
          <dgm:bulletEnabled val="1"/>
        </dgm:presLayoutVars>
      </dgm:prSet>
      <dgm:spPr/>
    </dgm:pt>
    <dgm:pt modelId="{51B021C4-9097-461F-B37F-ED4EEC756B0D}" type="pres">
      <dgm:prSet presAssocID="{A2649B45-85BA-4A90-BAD5-84CA586F3A93}" presName="spNode" presStyleCnt="0"/>
      <dgm:spPr/>
    </dgm:pt>
    <dgm:pt modelId="{27FE422A-4810-46B5-B29E-74974DAC8ED9}" type="pres">
      <dgm:prSet presAssocID="{AEF3A373-B117-44B3-B68A-4F4E3EBF67F1}" presName="sibTrans" presStyleLbl="sibTrans1D1" presStyleIdx="4" presStyleCnt="5"/>
      <dgm:spPr/>
    </dgm:pt>
  </dgm:ptLst>
  <dgm:cxnLst>
    <dgm:cxn modelId="{20CB291B-7DF7-4ECB-B05B-91642676600D}" srcId="{C34D04E3-B8A1-4C78-A635-5D2AA8625014}" destId="{04C7D834-7AAC-4839-B0AB-D18B6500B390}" srcOrd="2" destOrd="0" parTransId="{444EA6FD-3114-4341-AD67-097DFF773E6D}" sibTransId="{E07DD3F4-29EB-4E27-9866-64A61322F5BF}"/>
    <dgm:cxn modelId="{3CF2DD24-9114-4F15-ABEA-797741481AE8}" srcId="{C34D04E3-B8A1-4C78-A635-5D2AA8625014}" destId="{27BC0F7A-0CC6-45A7-BC12-06E7E5CE59DF}" srcOrd="0" destOrd="0" parTransId="{93E3BD00-7EB6-49DB-8AA6-DE88E82014C2}" sibTransId="{4DA5F42F-5B6F-4A15-9D8C-5BC34DA3BE2E}"/>
    <dgm:cxn modelId="{BF34BC2E-8D01-4FFF-819D-7AC1DAD5CF6B}" type="presOf" srcId="{4DA5F42F-5B6F-4A15-9D8C-5BC34DA3BE2E}" destId="{50315BBD-645D-46B5-B225-A264183E24F8}" srcOrd="0" destOrd="0" presId="urn:microsoft.com/office/officeart/2005/8/layout/cycle6"/>
    <dgm:cxn modelId="{93EA4B6A-92C9-4648-A7E6-9E4E5F27B475}" type="presOf" srcId="{04C7D834-7AAC-4839-B0AB-D18B6500B390}" destId="{D98060B8-E9C5-4E28-8E5F-D4B943B9E6B6}" srcOrd="0" destOrd="0" presId="urn:microsoft.com/office/officeart/2005/8/layout/cycle6"/>
    <dgm:cxn modelId="{51A03475-6177-45B3-B7F8-E0750FB8A805}" type="presOf" srcId="{03602650-4597-4FF6-B19C-E72A57603F05}" destId="{C27590CA-F935-48E3-9FF4-A029534BC409}" srcOrd="0" destOrd="0" presId="urn:microsoft.com/office/officeart/2005/8/layout/cycle6"/>
    <dgm:cxn modelId="{2ABCF489-645A-47FD-A447-362F69BFB10F}" type="presOf" srcId="{A2649B45-85BA-4A90-BAD5-84CA586F3A93}" destId="{431513E3-0722-4045-8992-01EC61EDD9BF}" srcOrd="0" destOrd="0" presId="urn:microsoft.com/office/officeart/2005/8/layout/cycle6"/>
    <dgm:cxn modelId="{E68005B2-1330-4620-9531-1DCE89316639}" type="presOf" srcId="{6211D0A6-A724-4053-B536-34343BC38EF2}" destId="{8861E35F-9277-47D5-AD83-0380733115EF}" srcOrd="0" destOrd="0" presId="urn:microsoft.com/office/officeart/2005/8/layout/cycle6"/>
    <dgm:cxn modelId="{464D49B5-E3AB-455E-B4AD-198B9D3CD8D4}" type="presOf" srcId="{27BC0F7A-0CC6-45A7-BC12-06E7E5CE59DF}" destId="{E5074A74-D706-4E7E-A812-E593917EF587}" srcOrd="0" destOrd="0" presId="urn:microsoft.com/office/officeart/2005/8/layout/cycle6"/>
    <dgm:cxn modelId="{2A1D2BC8-B4E9-46C2-BF1E-7C57B5862D20}" srcId="{C34D04E3-B8A1-4C78-A635-5D2AA8625014}" destId="{A2649B45-85BA-4A90-BAD5-84CA586F3A93}" srcOrd="4" destOrd="0" parTransId="{222569F1-4604-436F-AFCA-F86C7AB05F25}" sibTransId="{AEF3A373-B117-44B3-B68A-4F4E3EBF67F1}"/>
    <dgm:cxn modelId="{6AF6B6D5-1349-4019-A2FE-7EB268486338}" type="presOf" srcId="{C34D04E3-B8A1-4C78-A635-5D2AA8625014}" destId="{5139865C-5838-4BB8-9081-65BD4CE7579B}" srcOrd="0" destOrd="0" presId="urn:microsoft.com/office/officeart/2005/8/layout/cycle6"/>
    <dgm:cxn modelId="{BCBC18D7-2A6F-440D-8FFE-7E9A8674FE9A}" type="presOf" srcId="{9F786CB4-A020-494C-960A-23DAACE50DB2}" destId="{57D37ACF-9CF9-4020-A0BE-D7AFDFD30B39}" srcOrd="0" destOrd="0" presId="urn:microsoft.com/office/officeart/2005/8/layout/cycle6"/>
    <dgm:cxn modelId="{A3F57FE9-0230-43FE-A61B-6C1AB400BE4A}" srcId="{C34D04E3-B8A1-4C78-A635-5D2AA8625014}" destId="{9F786CB4-A020-494C-960A-23DAACE50DB2}" srcOrd="1" destOrd="0" parTransId="{8F5D0499-2193-4150-803C-2F4876F65CD4}" sibTransId="{03602650-4597-4FF6-B19C-E72A57603F05}"/>
    <dgm:cxn modelId="{B83B1EEE-8F49-40B2-997B-615C6EA9FCE9}" type="presOf" srcId="{E07DD3F4-29EB-4E27-9866-64A61322F5BF}" destId="{0B0645EC-699F-4965-A236-9B824FDA953E}" srcOrd="0" destOrd="0" presId="urn:microsoft.com/office/officeart/2005/8/layout/cycle6"/>
    <dgm:cxn modelId="{12990EF0-B806-4481-B254-56754058513C}" type="presOf" srcId="{AEF3A373-B117-44B3-B68A-4F4E3EBF67F1}" destId="{27FE422A-4810-46B5-B29E-74974DAC8ED9}" srcOrd="0" destOrd="0" presId="urn:microsoft.com/office/officeart/2005/8/layout/cycle6"/>
    <dgm:cxn modelId="{86DAAAF0-AAAD-4F20-8BB9-253520EC5E6C}" srcId="{C34D04E3-B8A1-4C78-A635-5D2AA8625014}" destId="{6211D0A6-A724-4053-B536-34343BC38EF2}" srcOrd="3" destOrd="0" parTransId="{66BEF17A-9A81-417E-BF99-54381F961749}" sibTransId="{FE406E9A-051C-4A81-AB7A-ABABE22C3579}"/>
    <dgm:cxn modelId="{F441D5F8-226A-4FAB-9D60-302FC93D627C}" type="presOf" srcId="{FE406E9A-051C-4A81-AB7A-ABABE22C3579}" destId="{9EFE2281-156C-44F1-840F-90FD41B403B3}" srcOrd="0" destOrd="0" presId="urn:microsoft.com/office/officeart/2005/8/layout/cycle6"/>
    <dgm:cxn modelId="{AFBC750B-64FA-4660-9AB4-99808664E443}" type="presParOf" srcId="{5139865C-5838-4BB8-9081-65BD4CE7579B}" destId="{E5074A74-D706-4E7E-A812-E593917EF587}" srcOrd="0" destOrd="0" presId="urn:microsoft.com/office/officeart/2005/8/layout/cycle6"/>
    <dgm:cxn modelId="{F9775125-C0EC-4248-8DDD-A60FDB618ECF}" type="presParOf" srcId="{5139865C-5838-4BB8-9081-65BD4CE7579B}" destId="{42775C88-084B-43B1-857C-FD29D6140585}" srcOrd="1" destOrd="0" presId="urn:microsoft.com/office/officeart/2005/8/layout/cycle6"/>
    <dgm:cxn modelId="{503FCFBD-6C49-4FDE-A665-2F776F2566DA}" type="presParOf" srcId="{5139865C-5838-4BB8-9081-65BD4CE7579B}" destId="{50315BBD-645D-46B5-B225-A264183E24F8}" srcOrd="2" destOrd="0" presId="urn:microsoft.com/office/officeart/2005/8/layout/cycle6"/>
    <dgm:cxn modelId="{B42B6F8A-CB8A-45AB-859C-31F98A066530}" type="presParOf" srcId="{5139865C-5838-4BB8-9081-65BD4CE7579B}" destId="{57D37ACF-9CF9-4020-A0BE-D7AFDFD30B39}" srcOrd="3" destOrd="0" presId="urn:microsoft.com/office/officeart/2005/8/layout/cycle6"/>
    <dgm:cxn modelId="{B98D301B-0AD9-4462-8188-F262542226C0}" type="presParOf" srcId="{5139865C-5838-4BB8-9081-65BD4CE7579B}" destId="{073BEDD8-8A51-4DF4-BCCF-D18A42A2EE12}" srcOrd="4" destOrd="0" presId="urn:microsoft.com/office/officeart/2005/8/layout/cycle6"/>
    <dgm:cxn modelId="{54DBE196-D793-4FC8-A17E-F28BD0D8C5DD}" type="presParOf" srcId="{5139865C-5838-4BB8-9081-65BD4CE7579B}" destId="{C27590CA-F935-48E3-9FF4-A029534BC409}" srcOrd="5" destOrd="0" presId="urn:microsoft.com/office/officeart/2005/8/layout/cycle6"/>
    <dgm:cxn modelId="{FC754D87-C1B8-4446-9F37-32AC7CE589FD}" type="presParOf" srcId="{5139865C-5838-4BB8-9081-65BD4CE7579B}" destId="{D98060B8-E9C5-4E28-8E5F-D4B943B9E6B6}" srcOrd="6" destOrd="0" presId="urn:microsoft.com/office/officeart/2005/8/layout/cycle6"/>
    <dgm:cxn modelId="{330133C9-A2CE-497A-BE52-B3A5319152D1}" type="presParOf" srcId="{5139865C-5838-4BB8-9081-65BD4CE7579B}" destId="{5E2F2AC1-B196-4647-96AA-0359CC5325E6}" srcOrd="7" destOrd="0" presId="urn:microsoft.com/office/officeart/2005/8/layout/cycle6"/>
    <dgm:cxn modelId="{DE6DCDCE-AE47-415B-9C6F-B4DFD0E53F64}" type="presParOf" srcId="{5139865C-5838-4BB8-9081-65BD4CE7579B}" destId="{0B0645EC-699F-4965-A236-9B824FDA953E}" srcOrd="8" destOrd="0" presId="urn:microsoft.com/office/officeart/2005/8/layout/cycle6"/>
    <dgm:cxn modelId="{39DE7C71-F9EE-4532-A665-11945C95DA06}" type="presParOf" srcId="{5139865C-5838-4BB8-9081-65BD4CE7579B}" destId="{8861E35F-9277-47D5-AD83-0380733115EF}" srcOrd="9" destOrd="0" presId="urn:microsoft.com/office/officeart/2005/8/layout/cycle6"/>
    <dgm:cxn modelId="{D24AEC6A-8F9B-477E-BB20-8CB2D156AD45}" type="presParOf" srcId="{5139865C-5838-4BB8-9081-65BD4CE7579B}" destId="{417A28B2-FC4B-4925-B416-366E2B97D7A7}" srcOrd="10" destOrd="0" presId="urn:microsoft.com/office/officeart/2005/8/layout/cycle6"/>
    <dgm:cxn modelId="{FCD4DBB3-651C-46A8-BBAA-289F5DD1773A}" type="presParOf" srcId="{5139865C-5838-4BB8-9081-65BD4CE7579B}" destId="{9EFE2281-156C-44F1-840F-90FD41B403B3}" srcOrd="11" destOrd="0" presId="urn:microsoft.com/office/officeart/2005/8/layout/cycle6"/>
    <dgm:cxn modelId="{40D1A67B-846A-4DB0-87D5-62AFD783F2FF}" type="presParOf" srcId="{5139865C-5838-4BB8-9081-65BD4CE7579B}" destId="{431513E3-0722-4045-8992-01EC61EDD9BF}" srcOrd="12" destOrd="0" presId="urn:microsoft.com/office/officeart/2005/8/layout/cycle6"/>
    <dgm:cxn modelId="{C4158F5C-E2A5-461A-B125-4B9BE9224627}" type="presParOf" srcId="{5139865C-5838-4BB8-9081-65BD4CE7579B}" destId="{51B021C4-9097-461F-B37F-ED4EEC756B0D}" srcOrd="13" destOrd="0" presId="urn:microsoft.com/office/officeart/2005/8/layout/cycle6"/>
    <dgm:cxn modelId="{C9296059-FD9E-41F7-91B0-88DDF88080B7}" type="presParOf" srcId="{5139865C-5838-4BB8-9081-65BD4CE7579B}" destId="{27FE422A-4810-46B5-B29E-74974DAC8ED9}" srcOrd="14" destOrd="0" presId="urn:microsoft.com/office/officeart/2005/8/layout/cycle6"/>
  </dgm:cxnLst>
  <dgm:bg>
    <a:effectLst>
      <a:outerShdw blurRad="50800" dist="38100" dir="2700000" algn="tl" rotWithShape="0">
        <a:prstClr val="black">
          <a:alpha val="40000"/>
        </a:prstClr>
      </a:outerShdw>
    </a:effect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074A74-D706-4E7E-A812-E593917EF587}">
      <dsp:nvSpPr>
        <dsp:cNvPr id="0" name=""/>
        <dsp:cNvSpPr/>
      </dsp:nvSpPr>
      <dsp:spPr>
        <a:xfrm>
          <a:off x="3174007" y="3160"/>
          <a:ext cx="1779984" cy="1156989"/>
        </a:xfrm>
        <a:prstGeom prst="roundRect">
          <a:avLst/>
        </a:prstGeom>
        <a:solidFill>
          <a:schemeClr val="accent1">
            <a:hueOff val="0"/>
            <a:satOff val="0"/>
            <a:lumOff val="0"/>
            <a:alphaOff val="0"/>
          </a:schemeClr>
        </a:solidFill>
        <a:ln w="28575" cap="flat" cmpd="sng" algn="ctr">
          <a:solidFill>
            <a:scrgbClr r="0" g="0" b="0"/>
          </a:solidFill>
          <a:prstDash val="solid"/>
          <a:miter lim="800000"/>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Cancer</a:t>
          </a:r>
        </a:p>
      </dsp:txBody>
      <dsp:txXfrm>
        <a:off x="3230487" y="59640"/>
        <a:ext cx="1667024" cy="1044029"/>
      </dsp:txXfrm>
    </dsp:sp>
    <dsp:sp modelId="{50315BBD-645D-46B5-B225-A264183E24F8}">
      <dsp:nvSpPr>
        <dsp:cNvPr id="0" name=""/>
        <dsp:cNvSpPr/>
      </dsp:nvSpPr>
      <dsp:spPr>
        <a:xfrm>
          <a:off x="1825703" y="610241"/>
          <a:ext cx="4620252" cy="4620252"/>
        </a:xfrm>
        <a:custGeom>
          <a:avLst/>
          <a:gdLst/>
          <a:ahLst/>
          <a:cxnLst/>
          <a:rect l="0" t="0" r="0" b="0"/>
          <a:pathLst>
            <a:path>
              <a:moveTo>
                <a:pt x="3141077" y="154620"/>
              </a:moveTo>
              <a:arcTo wR="2310126" hR="2310126" stAng="17464905" swAng="2027665"/>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57D37ACF-9CF9-4020-A0BE-D7AFDFD30B39}">
      <dsp:nvSpPr>
        <dsp:cNvPr id="0" name=""/>
        <dsp:cNvSpPr/>
      </dsp:nvSpPr>
      <dsp:spPr>
        <a:xfrm>
          <a:off x="5417803" y="1602468"/>
          <a:ext cx="1779984" cy="1156989"/>
        </a:xfrm>
        <a:prstGeom prst="roundRect">
          <a:avLst/>
        </a:prstGeom>
        <a:solidFill>
          <a:schemeClr val="accent2"/>
        </a:solidFill>
        <a:ln w="28575" cap="flat" cmpd="sng" algn="ctr">
          <a:solidFill>
            <a:scrgbClr r="0" g="0" b="0"/>
          </a:solidFill>
          <a:prstDash val="solid"/>
          <a:miter lim="800000"/>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Infectious Disease</a:t>
          </a:r>
        </a:p>
      </dsp:txBody>
      <dsp:txXfrm>
        <a:off x="5474283" y="1658948"/>
        <a:ext cx="1667024" cy="1044029"/>
      </dsp:txXfrm>
    </dsp:sp>
    <dsp:sp modelId="{C27590CA-F935-48E3-9FF4-A029534BC409}">
      <dsp:nvSpPr>
        <dsp:cNvPr id="0" name=""/>
        <dsp:cNvSpPr/>
      </dsp:nvSpPr>
      <dsp:spPr>
        <a:xfrm>
          <a:off x="1794887" y="522753"/>
          <a:ext cx="4620252" cy="4620252"/>
        </a:xfrm>
        <a:custGeom>
          <a:avLst/>
          <a:gdLst/>
          <a:ahLst/>
          <a:cxnLst/>
          <a:rect l="0" t="0" r="0" b="0"/>
          <a:pathLst>
            <a:path>
              <a:moveTo>
                <a:pt x="4619509" y="2251573"/>
              </a:moveTo>
              <a:arcTo wR="2310126" hR="2310126" stAng="21512857" swAng="2209364"/>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D98060B8-E9C5-4E28-8E5F-D4B943B9E6B6}">
      <dsp:nvSpPr>
        <dsp:cNvPr id="0" name=""/>
        <dsp:cNvSpPr/>
      </dsp:nvSpPr>
      <dsp:spPr>
        <a:xfrm>
          <a:off x="4531865" y="4182218"/>
          <a:ext cx="1779984" cy="1156989"/>
        </a:xfrm>
        <a:prstGeom prst="roundRect">
          <a:avLst/>
        </a:prstGeom>
        <a:solidFill>
          <a:schemeClr val="accent5"/>
        </a:solidFill>
        <a:ln w="28575" cap="flat" cmpd="sng" algn="ctr">
          <a:solidFill>
            <a:scrgbClr r="0" g="0" b="0"/>
          </a:solidFill>
          <a:prstDash val="solid"/>
          <a:miter lim="800000"/>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Psychosocial</a:t>
          </a:r>
        </a:p>
        <a:p>
          <a:pPr marL="0" lvl="0" indent="0" algn="ctr" defTabSz="844550">
            <a:lnSpc>
              <a:spcPct val="90000"/>
            </a:lnSpc>
            <a:spcBef>
              <a:spcPct val="0"/>
            </a:spcBef>
            <a:spcAft>
              <a:spcPct val="35000"/>
            </a:spcAft>
            <a:buNone/>
          </a:pPr>
          <a:r>
            <a:rPr lang="en-US" sz="1900" kern="1200" dirty="0"/>
            <a:t>(See </a:t>
          </a:r>
          <a:r>
            <a:rPr lang="en-US" sz="1900" kern="1200" dirty="0" err="1"/>
            <a:t>Prev</a:t>
          </a:r>
          <a:r>
            <a:rPr lang="en-US" sz="1900" kern="1200" dirty="0"/>
            <a:t> 2)</a:t>
          </a:r>
        </a:p>
      </dsp:txBody>
      <dsp:txXfrm>
        <a:off x="4588345" y="4238698"/>
        <a:ext cx="1667024" cy="1044029"/>
      </dsp:txXfrm>
    </dsp:sp>
    <dsp:sp modelId="{0B0645EC-699F-4965-A236-9B824FDA953E}">
      <dsp:nvSpPr>
        <dsp:cNvPr id="0" name=""/>
        <dsp:cNvSpPr/>
      </dsp:nvSpPr>
      <dsp:spPr>
        <a:xfrm>
          <a:off x="1753873" y="581655"/>
          <a:ext cx="4620252" cy="4620252"/>
        </a:xfrm>
        <a:custGeom>
          <a:avLst/>
          <a:gdLst/>
          <a:ahLst/>
          <a:cxnLst/>
          <a:rect l="0" t="0" r="0" b="0"/>
          <a:pathLst>
            <a:path>
              <a:moveTo>
                <a:pt x="2768824" y="4574254"/>
              </a:moveTo>
              <a:arcTo wR="2310126" hR="2310126" stAng="4712834" swAng="1374332"/>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8861E35F-9277-47D5-AD83-0380733115EF}">
      <dsp:nvSpPr>
        <dsp:cNvPr id="0" name=""/>
        <dsp:cNvSpPr/>
      </dsp:nvSpPr>
      <dsp:spPr>
        <a:xfrm>
          <a:off x="1816149" y="4182218"/>
          <a:ext cx="1779984" cy="1156989"/>
        </a:xfrm>
        <a:prstGeom prst="roundRect">
          <a:avLst/>
        </a:prstGeom>
        <a:solidFill>
          <a:srgbClr val="C00000"/>
        </a:solidFill>
        <a:ln w="28575" cap="flat" cmpd="sng" algn="ctr">
          <a:solidFill>
            <a:scrgbClr r="0" g="0" b="0"/>
          </a:solidFill>
          <a:prstDash val="solid"/>
          <a:miter lim="800000"/>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Cardiovascular disease</a:t>
          </a:r>
        </a:p>
        <a:p>
          <a:pPr marL="0" lvl="0" indent="0" algn="ctr" defTabSz="844550">
            <a:lnSpc>
              <a:spcPct val="90000"/>
            </a:lnSpc>
            <a:spcBef>
              <a:spcPct val="0"/>
            </a:spcBef>
            <a:spcAft>
              <a:spcPct val="35000"/>
            </a:spcAft>
            <a:buNone/>
          </a:pPr>
          <a:r>
            <a:rPr lang="en-US" sz="1900" kern="1200" dirty="0"/>
            <a:t>(See </a:t>
          </a:r>
          <a:r>
            <a:rPr lang="en-US" sz="1900" kern="1200" dirty="0" err="1"/>
            <a:t>Prev</a:t>
          </a:r>
          <a:r>
            <a:rPr lang="en-US" sz="1900" kern="1200" dirty="0"/>
            <a:t> 2)</a:t>
          </a:r>
        </a:p>
      </dsp:txBody>
      <dsp:txXfrm>
        <a:off x="1872629" y="4238698"/>
        <a:ext cx="1667024" cy="1044029"/>
      </dsp:txXfrm>
    </dsp:sp>
    <dsp:sp modelId="{9EFE2281-156C-44F1-840F-90FD41B403B3}">
      <dsp:nvSpPr>
        <dsp:cNvPr id="0" name=""/>
        <dsp:cNvSpPr/>
      </dsp:nvSpPr>
      <dsp:spPr>
        <a:xfrm>
          <a:off x="1753873" y="581655"/>
          <a:ext cx="4620252" cy="4620252"/>
        </a:xfrm>
        <a:custGeom>
          <a:avLst/>
          <a:gdLst/>
          <a:ahLst/>
          <a:cxnLst/>
          <a:rect l="0" t="0" r="0" b="0"/>
          <a:pathLst>
            <a:path>
              <a:moveTo>
                <a:pt x="385803" y="3588275"/>
              </a:moveTo>
              <a:arcTo wR="2310126" hR="2310126" stAng="8784456" swAng="2195114"/>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431513E3-0722-4045-8992-01EC61EDD9BF}">
      <dsp:nvSpPr>
        <dsp:cNvPr id="0" name=""/>
        <dsp:cNvSpPr/>
      </dsp:nvSpPr>
      <dsp:spPr>
        <a:xfrm>
          <a:off x="976947" y="1599418"/>
          <a:ext cx="1779984" cy="1156989"/>
        </a:xfrm>
        <a:prstGeom prst="roundRect">
          <a:avLst/>
        </a:prstGeom>
        <a:solidFill>
          <a:schemeClr val="accent6"/>
        </a:solidFill>
        <a:ln w="28575" cap="flat" cmpd="sng" algn="ctr">
          <a:solidFill>
            <a:scrgbClr r="0" g="0" b="0"/>
          </a:solidFill>
          <a:prstDash val="solid"/>
          <a:miter lim="800000"/>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Family/Safety</a:t>
          </a:r>
        </a:p>
        <a:p>
          <a:pPr marL="0" lvl="0" indent="0" algn="ctr" defTabSz="844550">
            <a:lnSpc>
              <a:spcPct val="90000"/>
            </a:lnSpc>
            <a:spcBef>
              <a:spcPct val="0"/>
            </a:spcBef>
            <a:spcAft>
              <a:spcPct val="35000"/>
            </a:spcAft>
            <a:buNone/>
          </a:pPr>
          <a:r>
            <a:rPr lang="en-US" sz="1900" kern="1200" dirty="0"/>
            <a:t>(See </a:t>
          </a:r>
          <a:r>
            <a:rPr lang="en-US" sz="1900" kern="1200" dirty="0" err="1"/>
            <a:t>Prev</a:t>
          </a:r>
          <a:r>
            <a:rPr lang="en-US" sz="1900" kern="1200" dirty="0"/>
            <a:t> 2)</a:t>
          </a:r>
        </a:p>
      </dsp:txBody>
      <dsp:txXfrm>
        <a:off x="1033427" y="1655898"/>
        <a:ext cx="1667024" cy="1044029"/>
      </dsp:txXfrm>
    </dsp:sp>
    <dsp:sp modelId="{27FE422A-4810-46B5-B29E-74974DAC8ED9}">
      <dsp:nvSpPr>
        <dsp:cNvPr id="0" name=""/>
        <dsp:cNvSpPr/>
      </dsp:nvSpPr>
      <dsp:spPr>
        <a:xfrm>
          <a:off x="1753873" y="581655"/>
          <a:ext cx="4620252" cy="4620252"/>
        </a:xfrm>
        <a:custGeom>
          <a:avLst/>
          <a:gdLst/>
          <a:ahLst/>
          <a:cxnLst/>
          <a:rect l="0" t="0" r="0" b="0"/>
          <a:pathLst>
            <a:path>
              <a:moveTo>
                <a:pt x="402763" y="1006803"/>
              </a:moveTo>
              <a:arcTo wR="2310126" hR="2310126" stAng="12860714" swAng="1959991"/>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44A994B-294D-4E4D-9792-4298A1B043A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15E0037-629D-4F8A-9B14-C89238E7A03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993DA95-F814-4776-9AD7-7A2B9BD82B30}" type="datetimeFigureOut">
              <a:rPr lang="en-US" smtClean="0"/>
              <a:t>6/27/2025</a:t>
            </a:fld>
            <a:endParaRPr lang="en-US"/>
          </a:p>
        </p:txBody>
      </p:sp>
      <p:sp>
        <p:nvSpPr>
          <p:cNvPr id="4" name="Footer Placeholder 3">
            <a:extLst>
              <a:ext uri="{FF2B5EF4-FFF2-40B4-BE49-F238E27FC236}">
                <a16:creationId xmlns:a16="http://schemas.microsoft.com/office/drawing/2014/main" id="{AC0D92EA-3D6B-416D-9B3A-36D278CDC0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6197FA6-D0B6-4153-A884-D9054A586D6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99DB65-7DD9-4F2C-8B6C-35CFB48B02D4}" type="slidenum">
              <a:rPr lang="en-US" smtClean="0"/>
              <a:t>‹#›</a:t>
            </a:fld>
            <a:endParaRPr lang="en-US"/>
          </a:p>
        </p:txBody>
      </p:sp>
    </p:spTree>
    <p:extLst>
      <p:ext uri="{BB962C8B-B14F-4D97-AF65-F5344CB8AC3E}">
        <p14:creationId xmlns:p14="http://schemas.microsoft.com/office/powerpoint/2010/main" val="33830571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D33424-7696-4EBE-AA21-52B32DF5E9B0}" type="datetimeFigureOut">
              <a:rPr lang="en-US" smtClean="0"/>
              <a:t>6/27/2025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8782A6-F165-4588-9224-AE9ADFA07F53}" type="slidenum">
              <a:rPr lang="en-US" smtClean="0"/>
              <a:t>‹#›</a:t>
            </a:fld>
            <a:endParaRPr lang="en-US"/>
          </a:p>
        </p:txBody>
      </p:sp>
    </p:spTree>
    <p:extLst>
      <p:ext uri="{BB962C8B-B14F-4D97-AF65-F5344CB8AC3E}">
        <p14:creationId xmlns:p14="http://schemas.microsoft.com/office/powerpoint/2010/main" val="14557549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8782A6-F165-4588-9224-AE9ADFA07F53}" type="slidenum">
              <a:rPr lang="en-US" smtClean="0"/>
              <a:t>1</a:t>
            </a:fld>
            <a:endParaRPr lang="en-US"/>
          </a:p>
        </p:txBody>
      </p:sp>
    </p:spTree>
    <p:extLst>
      <p:ext uri="{BB962C8B-B14F-4D97-AF65-F5344CB8AC3E}">
        <p14:creationId xmlns:p14="http://schemas.microsoft.com/office/powerpoint/2010/main" val="22984926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8782A6-F165-4588-9224-AE9ADFA07F53}" type="slidenum">
              <a:rPr lang="en-US" smtClean="0"/>
              <a:t>2</a:t>
            </a:fld>
            <a:endParaRPr lang="en-US"/>
          </a:p>
        </p:txBody>
      </p:sp>
    </p:spTree>
    <p:extLst>
      <p:ext uri="{BB962C8B-B14F-4D97-AF65-F5344CB8AC3E}">
        <p14:creationId xmlns:p14="http://schemas.microsoft.com/office/powerpoint/2010/main" val="5362187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8782A6-F165-4588-9224-AE9ADFA07F53}" type="slidenum">
              <a:rPr lang="en-US" smtClean="0"/>
              <a:t>3</a:t>
            </a:fld>
            <a:endParaRPr lang="en-US"/>
          </a:p>
        </p:txBody>
      </p:sp>
    </p:spTree>
    <p:extLst>
      <p:ext uri="{BB962C8B-B14F-4D97-AF65-F5344CB8AC3E}">
        <p14:creationId xmlns:p14="http://schemas.microsoft.com/office/powerpoint/2010/main" val="5605027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8782A6-F165-4588-9224-AE9ADFA07F53}" type="slidenum">
              <a:rPr lang="en-US" smtClean="0"/>
              <a:t>4</a:t>
            </a:fld>
            <a:endParaRPr lang="en-US"/>
          </a:p>
        </p:txBody>
      </p:sp>
    </p:spTree>
    <p:extLst>
      <p:ext uri="{BB962C8B-B14F-4D97-AF65-F5344CB8AC3E}">
        <p14:creationId xmlns:p14="http://schemas.microsoft.com/office/powerpoint/2010/main" val="13043071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8782A6-F165-4588-9224-AE9ADFA07F53}" type="slidenum">
              <a:rPr lang="en-US" smtClean="0"/>
              <a:t>5</a:t>
            </a:fld>
            <a:endParaRPr lang="en-US"/>
          </a:p>
        </p:txBody>
      </p:sp>
    </p:spTree>
    <p:extLst>
      <p:ext uri="{BB962C8B-B14F-4D97-AF65-F5344CB8AC3E}">
        <p14:creationId xmlns:p14="http://schemas.microsoft.com/office/powerpoint/2010/main" val="30732197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 in progress</a:t>
            </a:r>
          </a:p>
        </p:txBody>
      </p:sp>
      <p:sp>
        <p:nvSpPr>
          <p:cNvPr id="4" name="Slide Number Placeholder 3"/>
          <p:cNvSpPr>
            <a:spLocks noGrp="1"/>
          </p:cNvSpPr>
          <p:nvPr>
            <p:ph type="sldNum" sz="quarter" idx="5"/>
          </p:nvPr>
        </p:nvSpPr>
        <p:spPr/>
        <p:txBody>
          <a:bodyPr/>
          <a:lstStyle/>
          <a:p>
            <a:fld id="{EF8782A6-F165-4588-9224-AE9ADFA07F53}" type="slidenum">
              <a:rPr lang="en-US" smtClean="0"/>
              <a:t>6</a:t>
            </a:fld>
            <a:endParaRPr lang="en-US"/>
          </a:p>
        </p:txBody>
      </p:sp>
    </p:spTree>
    <p:extLst>
      <p:ext uri="{BB962C8B-B14F-4D97-AF65-F5344CB8AC3E}">
        <p14:creationId xmlns:p14="http://schemas.microsoft.com/office/powerpoint/2010/main" val="33677381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Medicare documentation needs to include:</a:t>
            </a:r>
          </a:p>
          <a:p>
            <a:pPr marL="342900" indent="-342900">
              <a:buAutoNum type="arabicParenR"/>
            </a:pPr>
            <a:r>
              <a:rPr lang="en-US" dirty="0"/>
              <a:t>Documentation of eligibility for screening</a:t>
            </a:r>
          </a:p>
          <a:p>
            <a:pPr marL="342900" indent="-342900">
              <a:buAutoNum type="arabicParenR"/>
            </a:pPr>
            <a:r>
              <a:rPr lang="en-US" dirty="0"/>
              <a:t>Use of a decision aid</a:t>
            </a:r>
          </a:p>
          <a:p>
            <a:pPr marL="342900" indent="-342900">
              <a:buAutoNum type="arabicParenR"/>
            </a:pPr>
            <a:r>
              <a:rPr lang="en-US" dirty="0"/>
              <a:t>Counseling on adherence to annual LDCT, impact of comorbidities, and ability or willingness to undergo diagnosis and treatment</a:t>
            </a:r>
          </a:p>
          <a:p>
            <a:pPr marL="342900" indent="-342900">
              <a:buAutoNum type="arabicParenR"/>
            </a:pPr>
            <a:r>
              <a:rPr lang="en-US" dirty="0"/>
              <a:t>Counseling on smoking cessation</a:t>
            </a:r>
          </a:p>
        </p:txBody>
      </p:sp>
      <p:sp>
        <p:nvSpPr>
          <p:cNvPr id="4" name="Slide Number Placeholder 3"/>
          <p:cNvSpPr>
            <a:spLocks noGrp="1"/>
          </p:cNvSpPr>
          <p:nvPr>
            <p:ph type="sldNum" sz="quarter" idx="5"/>
          </p:nvPr>
        </p:nvSpPr>
        <p:spPr/>
        <p:txBody>
          <a:bodyPr/>
          <a:lstStyle/>
          <a:p>
            <a:fld id="{EF8782A6-F165-4588-9224-AE9ADFA07F53}" type="slidenum">
              <a:rPr lang="en-US" smtClean="0"/>
              <a:t>7</a:t>
            </a:fld>
            <a:endParaRPr lang="en-US"/>
          </a:p>
        </p:txBody>
      </p:sp>
    </p:spTree>
    <p:extLst>
      <p:ext uri="{BB962C8B-B14F-4D97-AF65-F5344CB8AC3E}">
        <p14:creationId xmlns:p14="http://schemas.microsoft.com/office/powerpoint/2010/main" val="8840416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 in progress</a:t>
            </a:r>
          </a:p>
        </p:txBody>
      </p:sp>
      <p:sp>
        <p:nvSpPr>
          <p:cNvPr id="4" name="Slide Number Placeholder 3"/>
          <p:cNvSpPr>
            <a:spLocks noGrp="1"/>
          </p:cNvSpPr>
          <p:nvPr>
            <p:ph type="sldNum" sz="quarter" idx="5"/>
          </p:nvPr>
        </p:nvSpPr>
        <p:spPr/>
        <p:txBody>
          <a:bodyPr/>
          <a:lstStyle/>
          <a:p>
            <a:fld id="{EF8782A6-F165-4588-9224-AE9ADFA07F53}" type="slidenum">
              <a:rPr lang="en-US" smtClean="0"/>
              <a:t>8</a:t>
            </a:fld>
            <a:endParaRPr lang="en-US"/>
          </a:p>
        </p:txBody>
      </p:sp>
    </p:spTree>
    <p:extLst>
      <p:ext uri="{BB962C8B-B14F-4D97-AF65-F5344CB8AC3E}">
        <p14:creationId xmlns:p14="http://schemas.microsoft.com/office/powerpoint/2010/main" val="37066903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Could do pcv15 (would need additional </a:t>
            </a:r>
            <a:r>
              <a:rPr lang="en-US" dirty="0" err="1"/>
              <a:t>vacc</a:t>
            </a:r>
            <a:r>
              <a:rPr lang="en-US" dirty="0"/>
              <a:t> with ppsv23)…could use pcv20</a:t>
            </a:r>
          </a:p>
          <a:p>
            <a:r>
              <a:rPr lang="en-US" b="0" i="0" dirty="0">
                <a:solidFill>
                  <a:srgbClr val="1C1D1F"/>
                </a:solidFill>
                <a:effectLst/>
                <a:latin typeface="Nunito" panose="020F0502020204030204" pitchFamily="2" charset="0"/>
              </a:rPr>
              <a:t>Based on shared clinical decision-making, adults </a:t>
            </a:r>
            <a:r>
              <a:rPr lang="en-US" b="1" i="0" dirty="0">
                <a:solidFill>
                  <a:srgbClr val="1C1D1F"/>
                </a:solidFill>
                <a:effectLst/>
                <a:latin typeface="Nunito" panose="020F0502020204030204" pitchFamily="2" charset="0"/>
              </a:rPr>
              <a:t>65 years or older</a:t>
            </a:r>
            <a:r>
              <a:rPr lang="en-US" b="0" i="0" dirty="0">
                <a:solidFill>
                  <a:srgbClr val="1C1D1F"/>
                </a:solidFill>
                <a:effectLst/>
                <a:latin typeface="Nunito" panose="020F0502020204030204" pitchFamily="2" charset="0"/>
              </a:rPr>
              <a:t> have the option to get PCV20 or PCV21, or to not get additional pneumococcal vaccines. They can get PCV20 or PCV21 if they have received both</a:t>
            </a:r>
            <a:endParaRPr lang="en-US" dirty="0"/>
          </a:p>
        </p:txBody>
      </p:sp>
      <p:sp>
        <p:nvSpPr>
          <p:cNvPr id="4" name="Slide Number Placeholder 3"/>
          <p:cNvSpPr>
            <a:spLocks noGrp="1"/>
          </p:cNvSpPr>
          <p:nvPr>
            <p:ph type="sldNum" sz="quarter" idx="5"/>
          </p:nvPr>
        </p:nvSpPr>
        <p:spPr/>
        <p:txBody>
          <a:bodyPr/>
          <a:lstStyle/>
          <a:p>
            <a:fld id="{AD96ED7E-FF1E-4D25-86CE-095ABFC432C0}" type="slidenum">
              <a:rPr lang="en-US" smtClean="0"/>
              <a:t>9</a:t>
            </a:fld>
            <a:endParaRPr lang="en-US"/>
          </a:p>
        </p:txBody>
      </p:sp>
    </p:spTree>
    <p:extLst>
      <p:ext uri="{BB962C8B-B14F-4D97-AF65-F5344CB8AC3E}">
        <p14:creationId xmlns:p14="http://schemas.microsoft.com/office/powerpoint/2010/main" val="6587823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GC/CT screening </a:t>
            </a:r>
          </a:p>
          <a:p>
            <a:pPr marL="171450" indent="-171450">
              <a:buFontTx/>
              <a:buChar char="-"/>
            </a:pPr>
            <a:r>
              <a:rPr lang="en-US" dirty="0"/>
              <a:t>sexually active women &lt; 24 (B)</a:t>
            </a:r>
          </a:p>
          <a:p>
            <a:pPr marL="171450" indent="-171450">
              <a:buFontTx/>
              <a:buChar char="-"/>
            </a:pPr>
            <a:r>
              <a:rPr lang="en-US" b="0" i="0" dirty="0">
                <a:solidFill>
                  <a:srgbClr val="333333"/>
                </a:solidFill>
                <a:effectLst/>
                <a:latin typeface="Montserrat"/>
              </a:rPr>
              <a:t>At risk = new or multiple sex partners, a sex partner with concurrent partners, or a sex partner with a sexually transmitted infection (STI); inconsistent condom use among persons who are not in mutually monogamous relationships; previous or concurrent STI; and exchanging sex for money or drugs.</a:t>
            </a:r>
          </a:p>
          <a:p>
            <a:pPr marL="0" indent="0">
              <a:buFontTx/>
              <a:buNone/>
            </a:pPr>
            <a:endParaRPr lang="en-US" b="0" i="0" dirty="0">
              <a:solidFill>
                <a:srgbClr val="333333"/>
              </a:solidFill>
              <a:effectLst/>
              <a:latin typeface="Montserrat"/>
            </a:endParaRPr>
          </a:p>
          <a:p>
            <a:pPr marL="0" indent="0">
              <a:buFontTx/>
              <a:buNone/>
            </a:pPr>
            <a:r>
              <a:rPr lang="en-US" b="0" i="0" dirty="0">
                <a:solidFill>
                  <a:srgbClr val="333333"/>
                </a:solidFill>
                <a:effectLst/>
                <a:latin typeface="Montserrat"/>
              </a:rPr>
              <a:t>HIV (A)</a:t>
            </a:r>
          </a:p>
          <a:p>
            <a:pPr marL="171450" indent="-171450">
              <a:buFontTx/>
              <a:buChar char="-"/>
            </a:pPr>
            <a:r>
              <a:rPr lang="en-US" b="0" i="0" dirty="0">
                <a:solidFill>
                  <a:srgbClr val="333333"/>
                </a:solidFill>
                <a:effectLst/>
                <a:latin typeface="Montserrat"/>
              </a:rPr>
              <a:t>All 15-64</a:t>
            </a:r>
          </a:p>
          <a:p>
            <a:pPr marL="171450" indent="-171450">
              <a:buFontTx/>
              <a:buChar char="-"/>
            </a:pPr>
            <a:r>
              <a:rPr lang="en-US" b="0" i="0" dirty="0">
                <a:solidFill>
                  <a:srgbClr val="333333"/>
                </a:solidFill>
                <a:effectLst/>
                <a:latin typeface="Montserrat"/>
              </a:rPr>
              <a:t>At risk: Most new diagnoses of HIV infection are attributed to male-to-male sexual contact; injection drug use is another important risk factor. Additional risk factors include having anal intercourse without a condom, having vaginal intercourse without a condom and with more than 1 partner whose HIV status is unknown, exchanging sex for drugs or money (transactional sex), having other STIs or a sex partner with an STI, and having a sex partner who is living with HIV or is in a high-risk category. Persons who request testing for STIs, including HIV, are also considered to be at increased risk.</a:t>
            </a:r>
          </a:p>
          <a:p>
            <a:pPr marL="0" indent="0">
              <a:buFontTx/>
              <a:buNone/>
            </a:pPr>
            <a:endParaRPr lang="en-US" dirty="0"/>
          </a:p>
          <a:p>
            <a:pPr marL="0" indent="0">
              <a:buFontTx/>
              <a:buNone/>
            </a:pPr>
            <a:r>
              <a:rPr lang="en-US" dirty="0"/>
              <a:t>Hep C </a:t>
            </a:r>
          </a:p>
          <a:p>
            <a:pPr marL="0" indent="0">
              <a:buFontTx/>
              <a:buNone/>
            </a:pPr>
            <a:endParaRPr lang="en-US" dirty="0"/>
          </a:p>
          <a:p>
            <a:pPr marL="0" indent="0">
              <a:buFontTx/>
              <a:buNone/>
            </a:pPr>
            <a:endParaRPr lang="en-US" dirty="0"/>
          </a:p>
          <a:p>
            <a:r>
              <a:rPr lang="en-US" dirty="0" err="1"/>
              <a:t>Syphillis</a:t>
            </a:r>
            <a:r>
              <a:rPr lang="en-US" dirty="0"/>
              <a:t> screening  (A)</a:t>
            </a:r>
          </a:p>
          <a:p>
            <a:pPr marL="171450" indent="-171450">
              <a:buFontTx/>
              <a:buChar char="-"/>
            </a:pPr>
            <a:r>
              <a:rPr lang="en-US" b="0" i="0" dirty="0">
                <a:solidFill>
                  <a:srgbClr val="333333"/>
                </a:solidFill>
                <a:effectLst/>
                <a:latin typeface="Montserrat"/>
              </a:rPr>
              <a:t>Men who have sex with men and persons living with HIV have the highest risk for syphilis infection. Other factors that are also associated with increased prevalence rates include a history of incarceration or commercial sex work, geography, race/ethnicity, and being a male younger than 29 years. Screening in asymptomatic patients is recommended for all pregnant patients, MSM, HIV, history of incarceration or commercial sex work, high risk sexual behaviors (e.g., diagnosed with STI, exchange sex for money or drugs, multiple unprotected sexual partners). </a:t>
            </a:r>
          </a:p>
          <a:p>
            <a:pPr marL="171450" indent="-171450">
              <a:buFontTx/>
              <a:buChar char="-"/>
            </a:pPr>
            <a:endParaRPr lang="en-US" b="0" i="0" dirty="0">
              <a:solidFill>
                <a:srgbClr val="333333"/>
              </a:solidFill>
              <a:effectLst/>
              <a:latin typeface="Montserrat"/>
            </a:endParaRPr>
          </a:p>
          <a:p>
            <a:pPr marL="0" indent="0">
              <a:buFontTx/>
              <a:buNone/>
            </a:pPr>
            <a:r>
              <a:rPr lang="en-US" b="0" i="0" dirty="0">
                <a:solidFill>
                  <a:srgbClr val="333333"/>
                </a:solidFill>
                <a:effectLst/>
                <a:latin typeface="Montserrat"/>
              </a:rPr>
              <a:t>Hepatitis B (B)</a:t>
            </a:r>
          </a:p>
          <a:p>
            <a:pPr algn="l">
              <a:buFont typeface="Arial" panose="020B0604020202020204" pitchFamily="34" charset="0"/>
              <a:buNone/>
            </a:pPr>
            <a:r>
              <a:rPr lang="en-US" b="0" i="0" dirty="0">
                <a:solidFill>
                  <a:srgbClr val="333333"/>
                </a:solidFill>
                <a:effectLst/>
                <a:latin typeface="Montserrat"/>
              </a:rPr>
              <a:t>- Persons born in countries and regions with a high prevalence of HBV infection (≥2%), such as Asia, Africa, the Pacific Islands, and parts of South America</a:t>
            </a:r>
          </a:p>
          <a:p>
            <a:pPr algn="l">
              <a:buFont typeface="Arial" panose="020B0604020202020204" pitchFamily="34" charset="0"/>
              <a:buNone/>
            </a:pPr>
            <a:r>
              <a:rPr lang="en-US" b="0" i="0" dirty="0">
                <a:solidFill>
                  <a:srgbClr val="333333"/>
                </a:solidFill>
                <a:effectLst/>
                <a:latin typeface="Montserrat"/>
              </a:rPr>
              <a:t>- US-born persons not vaccinated as infants whose parents were born in regions with a very high prevalence of HBV infection (≥8%)</a:t>
            </a:r>
          </a:p>
          <a:p>
            <a:pPr algn="l">
              <a:buFont typeface="Arial" panose="020B0604020202020204" pitchFamily="34" charset="0"/>
              <a:buNone/>
            </a:pPr>
            <a:r>
              <a:rPr lang="en-US" b="0" i="0" dirty="0">
                <a:solidFill>
                  <a:srgbClr val="333333"/>
                </a:solidFill>
                <a:effectLst/>
                <a:latin typeface="Montserrat"/>
              </a:rPr>
              <a:t>- HIV-positive persons</a:t>
            </a:r>
          </a:p>
          <a:p>
            <a:pPr algn="l">
              <a:buFont typeface="Arial" panose="020B0604020202020204" pitchFamily="34" charset="0"/>
              <a:buNone/>
            </a:pPr>
            <a:r>
              <a:rPr lang="en-US" b="0" i="0" dirty="0">
                <a:solidFill>
                  <a:srgbClr val="333333"/>
                </a:solidFill>
                <a:effectLst/>
                <a:latin typeface="Montserrat"/>
              </a:rPr>
              <a:t>- Persons with injection drug use</a:t>
            </a:r>
          </a:p>
          <a:p>
            <a:pPr algn="l">
              <a:buFont typeface="Arial" panose="020B0604020202020204" pitchFamily="34" charset="0"/>
              <a:buNone/>
            </a:pPr>
            <a:r>
              <a:rPr lang="en-US" b="0" i="0" dirty="0">
                <a:solidFill>
                  <a:srgbClr val="333333"/>
                </a:solidFill>
                <a:effectLst/>
                <a:latin typeface="Montserrat"/>
              </a:rPr>
              <a:t>- Men who have sex with men</a:t>
            </a:r>
          </a:p>
          <a:p>
            <a:pPr algn="l">
              <a:buFont typeface="Arial" panose="020B0604020202020204" pitchFamily="34" charset="0"/>
              <a:buNone/>
            </a:pPr>
            <a:r>
              <a:rPr lang="en-US" b="0" i="0" dirty="0">
                <a:solidFill>
                  <a:srgbClr val="333333"/>
                </a:solidFill>
                <a:effectLst/>
                <a:latin typeface="Montserrat"/>
              </a:rPr>
              <a:t>- Household contacts or sexual partners of persons with HBV infection</a:t>
            </a:r>
          </a:p>
          <a:p>
            <a:pPr marL="0" indent="0">
              <a:buFontTx/>
              <a:buNone/>
            </a:pPr>
            <a:endParaRPr lang="en-US" b="0" i="0" dirty="0">
              <a:solidFill>
                <a:srgbClr val="333333"/>
              </a:solidFill>
              <a:effectLst/>
              <a:latin typeface="Montserrat"/>
            </a:endParaRPr>
          </a:p>
          <a:p>
            <a:pPr marL="0" indent="0">
              <a:buFontTx/>
              <a:buNone/>
            </a:pPr>
            <a:r>
              <a:rPr lang="en-US" b="0" i="0" dirty="0">
                <a:solidFill>
                  <a:srgbClr val="333333"/>
                </a:solidFill>
                <a:effectLst/>
                <a:latin typeface="Montserrat"/>
              </a:rPr>
              <a:t>Latent TB (B)</a:t>
            </a:r>
          </a:p>
          <a:p>
            <a:pPr marL="0" indent="0">
              <a:buFontTx/>
              <a:buNone/>
            </a:pPr>
            <a:r>
              <a:rPr lang="en-US" b="0" i="0" dirty="0">
                <a:solidFill>
                  <a:srgbClr val="333333"/>
                </a:solidFill>
                <a:effectLst/>
                <a:latin typeface="Montserrat"/>
              </a:rPr>
              <a:t>-  born in, or are former residents of, countries with increased tuberculosis prevalence and persons who live in, or have lived in, high-risk congregate settings (</a:t>
            </a:r>
            <a:r>
              <a:rPr lang="en-US" b="0" i="0" dirty="0" err="1">
                <a:solidFill>
                  <a:srgbClr val="333333"/>
                </a:solidFill>
                <a:effectLst/>
                <a:latin typeface="Montserrat"/>
              </a:rPr>
              <a:t>eg</a:t>
            </a:r>
            <a:r>
              <a:rPr lang="en-US" b="0" i="0" dirty="0">
                <a:solidFill>
                  <a:srgbClr val="333333"/>
                </a:solidFill>
                <a:effectLst/>
                <a:latin typeface="Montserrat"/>
              </a:rPr>
              <a:t>, homeless shelters and correctional facilities). Local demographic patterns may vary across the United States; clinicians can consult their local or state health departments for more information about populations at risk in their community.</a:t>
            </a:r>
          </a:p>
          <a:p>
            <a:pPr marL="0" indent="0">
              <a:buFontTx/>
              <a:buNone/>
            </a:pPr>
            <a:endParaRPr lang="en-US" b="0" i="0" dirty="0">
              <a:solidFill>
                <a:srgbClr val="333333"/>
              </a:solidFill>
              <a:effectLst/>
              <a:latin typeface="Montserrat"/>
            </a:endParaRPr>
          </a:p>
        </p:txBody>
      </p:sp>
      <p:sp>
        <p:nvSpPr>
          <p:cNvPr id="4" name="Slide Number Placeholder 3"/>
          <p:cNvSpPr>
            <a:spLocks noGrp="1"/>
          </p:cNvSpPr>
          <p:nvPr>
            <p:ph type="sldNum" sz="quarter" idx="5"/>
          </p:nvPr>
        </p:nvSpPr>
        <p:spPr/>
        <p:txBody>
          <a:bodyPr/>
          <a:lstStyle/>
          <a:p>
            <a:fld id="{AD96ED7E-FF1E-4D25-86CE-095ABFC432C0}" type="slidenum">
              <a:rPr lang="en-US" smtClean="0"/>
              <a:t>10</a:t>
            </a:fld>
            <a:endParaRPr lang="en-US"/>
          </a:p>
        </p:txBody>
      </p:sp>
    </p:spTree>
    <p:extLst>
      <p:ext uri="{BB962C8B-B14F-4D97-AF65-F5344CB8AC3E}">
        <p14:creationId xmlns:p14="http://schemas.microsoft.com/office/powerpoint/2010/main" val="4401382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8782A6-F165-4588-9224-AE9ADFA07F53}" type="slidenum">
              <a:rPr lang="en-US" smtClean="0"/>
              <a:t>11</a:t>
            </a:fld>
            <a:endParaRPr lang="en-US"/>
          </a:p>
        </p:txBody>
      </p:sp>
    </p:spTree>
    <p:extLst>
      <p:ext uri="{BB962C8B-B14F-4D97-AF65-F5344CB8AC3E}">
        <p14:creationId xmlns:p14="http://schemas.microsoft.com/office/powerpoint/2010/main" val="42192177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A47A9-D53B-43D9-8708-4A4F9CD95E1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B6AC791-CF7B-4E5A-829B-C1FEA7278E4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E8A3820-9C64-4254-B706-D7655C8874F1}"/>
              </a:ext>
            </a:extLst>
          </p:cNvPr>
          <p:cNvSpPr>
            <a:spLocks noGrp="1"/>
          </p:cNvSpPr>
          <p:nvPr>
            <p:ph type="dt" sz="half" idx="10"/>
          </p:nvPr>
        </p:nvSpPr>
        <p:spPr/>
        <p:txBody>
          <a:bodyPr/>
          <a:lstStyle/>
          <a:p>
            <a:fld id="{0F84F14A-D76B-40B9-B3E4-3854EC9865A5}" type="datetimeFigureOut">
              <a:rPr lang="en-US" smtClean="0"/>
              <a:t>6/27/2025</a:t>
            </a:fld>
            <a:endParaRPr lang="en-US"/>
          </a:p>
        </p:txBody>
      </p:sp>
      <p:sp>
        <p:nvSpPr>
          <p:cNvPr id="5" name="Footer Placeholder 4">
            <a:extLst>
              <a:ext uri="{FF2B5EF4-FFF2-40B4-BE49-F238E27FC236}">
                <a16:creationId xmlns:a16="http://schemas.microsoft.com/office/drawing/2014/main" id="{DF6A3BB0-232D-4C30-81EA-22F1684365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054119-109B-45F1-AE71-24E5326EF81B}"/>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1252081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4F50C-21F5-4629-9EC6-785D86A735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558CE0E-9445-461F-9ECE-DDFCB30DE2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5AAB52-45BA-4DA5-8D42-A08F5258C10D}"/>
              </a:ext>
            </a:extLst>
          </p:cNvPr>
          <p:cNvSpPr>
            <a:spLocks noGrp="1"/>
          </p:cNvSpPr>
          <p:nvPr>
            <p:ph type="dt" sz="half" idx="10"/>
          </p:nvPr>
        </p:nvSpPr>
        <p:spPr/>
        <p:txBody>
          <a:bodyPr/>
          <a:lstStyle/>
          <a:p>
            <a:fld id="{0F84F14A-D76B-40B9-B3E4-3854EC9865A5}" type="datetimeFigureOut">
              <a:rPr lang="en-US" smtClean="0"/>
              <a:t>6/27/2025</a:t>
            </a:fld>
            <a:endParaRPr lang="en-US"/>
          </a:p>
        </p:txBody>
      </p:sp>
      <p:sp>
        <p:nvSpPr>
          <p:cNvPr id="5" name="Footer Placeholder 4">
            <a:extLst>
              <a:ext uri="{FF2B5EF4-FFF2-40B4-BE49-F238E27FC236}">
                <a16:creationId xmlns:a16="http://schemas.microsoft.com/office/drawing/2014/main" id="{1282237F-3FF5-4808-8FD5-00EF68EB1D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7A63D9-4B9C-4C5F-9F78-072EDC354ED5}"/>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34813013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EFD5A-4224-4D3C-B1F1-B90A847A5CB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7EB6431-F589-4041-83A9-477647B3D21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06F8E7-1AA6-4BD7-A388-9A352EFFA539}"/>
              </a:ext>
            </a:extLst>
          </p:cNvPr>
          <p:cNvSpPr>
            <a:spLocks noGrp="1"/>
          </p:cNvSpPr>
          <p:nvPr>
            <p:ph type="dt" sz="half" idx="10"/>
          </p:nvPr>
        </p:nvSpPr>
        <p:spPr/>
        <p:txBody>
          <a:bodyPr/>
          <a:lstStyle/>
          <a:p>
            <a:fld id="{0F84F14A-D76B-40B9-B3E4-3854EC9865A5}" type="datetimeFigureOut">
              <a:rPr lang="en-US" smtClean="0"/>
              <a:t>6/27/2025</a:t>
            </a:fld>
            <a:endParaRPr lang="en-US"/>
          </a:p>
        </p:txBody>
      </p:sp>
      <p:sp>
        <p:nvSpPr>
          <p:cNvPr id="5" name="Footer Placeholder 4">
            <a:extLst>
              <a:ext uri="{FF2B5EF4-FFF2-40B4-BE49-F238E27FC236}">
                <a16:creationId xmlns:a16="http://schemas.microsoft.com/office/drawing/2014/main" id="{47D54B6F-EDE8-4FBE-9CCD-D1DA25653B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4CB8CD-7770-4694-A186-17FB1A0452A4}"/>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1460745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1048C-8CE6-4F5C-9D54-EEF648B5D0B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D51A9E7-68D0-4CAE-8EED-7E16296A619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893C60E-E3A3-43C5-9B70-2947682C4F6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661302-CA24-440A-B4FF-2A215B8036C7}"/>
              </a:ext>
            </a:extLst>
          </p:cNvPr>
          <p:cNvSpPr>
            <a:spLocks noGrp="1"/>
          </p:cNvSpPr>
          <p:nvPr>
            <p:ph type="dt" sz="half" idx="10"/>
          </p:nvPr>
        </p:nvSpPr>
        <p:spPr/>
        <p:txBody>
          <a:bodyPr/>
          <a:lstStyle/>
          <a:p>
            <a:fld id="{0F84F14A-D76B-40B9-B3E4-3854EC9865A5}" type="datetimeFigureOut">
              <a:rPr lang="en-US" smtClean="0"/>
              <a:t>6/27/2025</a:t>
            </a:fld>
            <a:endParaRPr lang="en-US"/>
          </a:p>
        </p:txBody>
      </p:sp>
      <p:sp>
        <p:nvSpPr>
          <p:cNvPr id="6" name="Footer Placeholder 5">
            <a:extLst>
              <a:ext uri="{FF2B5EF4-FFF2-40B4-BE49-F238E27FC236}">
                <a16:creationId xmlns:a16="http://schemas.microsoft.com/office/drawing/2014/main" id="{4C7EEBFF-4BF8-4D9A-877C-4E5B15B3B2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B3C224-531D-4D5F-B138-C8C2DF558B55}"/>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39773823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275BB-BA8C-4CC9-93B3-4A118DAD385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4A6F770-99FF-4877-A6E4-801BCDCA79A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0173736-8DED-4689-9646-4FBAC9D97A5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D948A43-C6BB-4B91-88F4-AA4F08A7F1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F14354-CC40-406E-99F5-5BC15D383A4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E7D4896-9FCB-4EF0-BFDF-E1D1B2FC7BF2}"/>
              </a:ext>
            </a:extLst>
          </p:cNvPr>
          <p:cNvSpPr>
            <a:spLocks noGrp="1"/>
          </p:cNvSpPr>
          <p:nvPr>
            <p:ph type="dt" sz="half" idx="10"/>
          </p:nvPr>
        </p:nvSpPr>
        <p:spPr/>
        <p:txBody>
          <a:bodyPr/>
          <a:lstStyle/>
          <a:p>
            <a:fld id="{0F84F14A-D76B-40B9-B3E4-3854EC9865A5}" type="datetimeFigureOut">
              <a:rPr lang="en-US" smtClean="0"/>
              <a:t>6/27/2025</a:t>
            </a:fld>
            <a:endParaRPr lang="en-US"/>
          </a:p>
        </p:txBody>
      </p:sp>
      <p:sp>
        <p:nvSpPr>
          <p:cNvPr id="8" name="Footer Placeholder 7">
            <a:extLst>
              <a:ext uri="{FF2B5EF4-FFF2-40B4-BE49-F238E27FC236}">
                <a16:creationId xmlns:a16="http://schemas.microsoft.com/office/drawing/2014/main" id="{7B12BA49-F00F-4AFE-AB38-3A00DBD1247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0F7A29B-38B0-4F09-BE1C-9FA194FABC25}"/>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121202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EDF8A-24FB-44E0-9F17-99FE29456C6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F4F6B9C-BC36-4C97-A0C2-298B31B7F242}"/>
              </a:ext>
            </a:extLst>
          </p:cNvPr>
          <p:cNvSpPr>
            <a:spLocks noGrp="1"/>
          </p:cNvSpPr>
          <p:nvPr>
            <p:ph type="dt" sz="half" idx="10"/>
          </p:nvPr>
        </p:nvSpPr>
        <p:spPr/>
        <p:txBody>
          <a:bodyPr/>
          <a:lstStyle/>
          <a:p>
            <a:fld id="{0F84F14A-D76B-40B9-B3E4-3854EC9865A5}" type="datetimeFigureOut">
              <a:rPr lang="en-US" smtClean="0"/>
              <a:t>6/27/2025</a:t>
            </a:fld>
            <a:endParaRPr lang="en-US"/>
          </a:p>
        </p:txBody>
      </p:sp>
      <p:sp>
        <p:nvSpPr>
          <p:cNvPr id="4" name="Footer Placeholder 3">
            <a:extLst>
              <a:ext uri="{FF2B5EF4-FFF2-40B4-BE49-F238E27FC236}">
                <a16:creationId xmlns:a16="http://schemas.microsoft.com/office/drawing/2014/main" id="{D275006E-543E-470E-A609-8F2C7C4FA14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E5B6329-5671-4FC1-9965-4613377B21FF}"/>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26570714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27B9BC-B772-43F8-B4FC-CF88D87B4201}"/>
              </a:ext>
            </a:extLst>
          </p:cNvPr>
          <p:cNvSpPr>
            <a:spLocks noGrp="1"/>
          </p:cNvSpPr>
          <p:nvPr>
            <p:ph type="dt" sz="half" idx="10"/>
          </p:nvPr>
        </p:nvSpPr>
        <p:spPr/>
        <p:txBody>
          <a:bodyPr/>
          <a:lstStyle/>
          <a:p>
            <a:fld id="{0F84F14A-D76B-40B9-B3E4-3854EC9865A5}" type="datetimeFigureOut">
              <a:rPr lang="en-US" smtClean="0"/>
              <a:t>6/27/2025</a:t>
            </a:fld>
            <a:endParaRPr lang="en-US"/>
          </a:p>
        </p:txBody>
      </p:sp>
      <p:sp>
        <p:nvSpPr>
          <p:cNvPr id="3" name="Footer Placeholder 2">
            <a:extLst>
              <a:ext uri="{FF2B5EF4-FFF2-40B4-BE49-F238E27FC236}">
                <a16:creationId xmlns:a16="http://schemas.microsoft.com/office/drawing/2014/main" id="{6148AABF-8B66-415F-B026-058588D738E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9B94FAD-0F36-4D49-8D81-BC7EBBED37D3}"/>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37885630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4225D-6212-45BF-9127-F3496C1950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C776053-9083-4DB1-AC75-EEAFE66D1A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DFCAA03-47AC-448C-BD62-44DFDB1CAF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7466D0-E4EF-4DF9-8096-64AA0A64889E}"/>
              </a:ext>
            </a:extLst>
          </p:cNvPr>
          <p:cNvSpPr>
            <a:spLocks noGrp="1"/>
          </p:cNvSpPr>
          <p:nvPr>
            <p:ph type="dt" sz="half" idx="10"/>
          </p:nvPr>
        </p:nvSpPr>
        <p:spPr/>
        <p:txBody>
          <a:bodyPr/>
          <a:lstStyle/>
          <a:p>
            <a:fld id="{0F84F14A-D76B-40B9-B3E4-3854EC9865A5}" type="datetimeFigureOut">
              <a:rPr lang="en-US" smtClean="0"/>
              <a:t>6/27/2025</a:t>
            </a:fld>
            <a:endParaRPr lang="en-US"/>
          </a:p>
        </p:txBody>
      </p:sp>
      <p:sp>
        <p:nvSpPr>
          <p:cNvPr id="6" name="Footer Placeholder 5">
            <a:extLst>
              <a:ext uri="{FF2B5EF4-FFF2-40B4-BE49-F238E27FC236}">
                <a16:creationId xmlns:a16="http://schemas.microsoft.com/office/drawing/2014/main" id="{9BD45805-0774-4915-B57B-553C8A9B7F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04D829-266E-48F1-BED7-DD6BB3E4B33F}"/>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3542342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66985-27E5-4F8C-BF91-22DEDCF51D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E4F96F4-60CE-40AC-AE3F-7773EA44475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8A837F7-B670-4DDC-AFE1-EBA1784FB4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C39E62-6360-48A5-B5FE-258587AB417D}"/>
              </a:ext>
            </a:extLst>
          </p:cNvPr>
          <p:cNvSpPr>
            <a:spLocks noGrp="1"/>
          </p:cNvSpPr>
          <p:nvPr>
            <p:ph type="dt" sz="half" idx="10"/>
          </p:nvPr>
        </p:nvSpPr>
        <p:spPr/>
        <p:txBody>
          <a:bodyPr/>
          <a:lstStyle/>
          <a:p>
            <a:fld id="{0F84F14A-D76B-40B9-B3E4-3854EC9865A5}" type="datetimeFigureOut">
              <a:rPr lang="en-US" smtClean="0"/>
              <a:t>6/27/2025</a:t>
            </a:fld>
            <a:endParaRPr lang="en-US"/>
          </a:p>
        </p:txBody>
      </p:sp>
      <p:sp>
        <p:nvSpPr>
          <p:cNvPr id="6" name="Footer Placeholder 5">
            <a:extLst>
              <a:ext uri="{FF2B5EF4-FFF2-40B4-BE49-F238E27FC236}">
                <a16:creationId xmlns:a16="http://schemas.microsoft.com/office/drawing/2014/main" id="{E5728423-8843-4CD6-A271-610D923268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BC43CA-DAE0-4E68-99E5-FF49B44A1558}"/>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41817103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8CC0A-32B2-4D6B-A976-152A5A6BB2D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3C7FAE1-E8C3-4A04-99E1-FC26CF51F31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0D4EBF-9BC0-48F9-BBA1-256AA7B449F0}"/>
              </a:ext>
            </a:extLst>
          </p:cNvPr>
          <p:cNvSpPr>
            <a:spLocks noGrp="1"/>
          </p:cNvSpPr>
          <p:nvPr>
            <p:ph type="dt" sz="half" idx="10"/>
          </p:nvPr>
        </p:nvSpPr>
        <p:spPr/>
        <p:txBody>
          <a:bodyPr/>
          <a:lstStyle/>
          <a:p>
            <a:fld id="{0F84F14A-D76B-40B9-B3E4-3854EC9865A5}" type="datetimeFigureOut">
              <a:rPr lang="en-US" smtClean="0"/>
              <a:t>6/27/2025</a:t>
            </a:fld>
            <a:endParaRPr lang="en-US"/>
          </a:p>
        </p:txBody>
      </p:sp>
      <p:sp>
        <p:nvSpPr>
          <p:cNvPr id="5" name="Footer Placeholder 4">
            <a:extLst>
              <a:ext uri="{FF2B5EF4-FFF2-40B4-BE49-F238E27FC236}">
                <a16:creationId xmlns:a16="http://schemas.microsoft.com/office/drawing/2014/main" id="{409FBAC2-A8AA-4365-8035-E8139DCAB9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A6C765-A941-41A8-ACE1-FC7EEB923CF8}"/>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1759857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BA6490-5CB4-4007-BF9C-C0B9BBFD82C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AEA637B-55D1-4FD6-8826-8107FE69545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F3F6E6-4340-45E1-8E17-57FEF9878CE3}"/>
              </a:ext>
            </a:extLst>
          </p:cNvPr>
          <p:cNvSpPr>
            <a:spLocks noGrp="1"/>
          </p:cNvSpPr>
          <p:nvPr>
            <p:ph type="dt" sz="half" idx="10"/>
          </p:nvPr>
        </p:nvSpPr>
        <p:spPr/>
        <p:txBody>
          <a:bodyPr/>
          <a:lstStyle/>
          <a:p>
            <a:fld id="{0F84F14A-D76B-40B9-B3E4-3854EC9865A5}" type="datetimeFigureOut">
              <a:rPr lang="en-US" smtClean="0"/>
              <a:t>6/27/2025</a:t>
            </a:fld>
            <a:endParaRPr lang="en-US"/>
          </a:p>
        </p:txBody>
      </p:sp>
      <p:sp>
        <p:nvSpPr>
          <p:cNvPr id="5" name="Footer Placeholder 4">
            <a:extLst>
              <a:ext uri="{FF2B5EF4-FFF2-40B4-BE49-F238E27FC236}">
                <a16:creationId xmlns:a16="http://schemas.microsoft.com/office/drawing/2014/main" id="{ECF51AFE-9DEF-42C3-B256-8BF6A263A4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E1D9F0-0590-4283-85CE-FDF9A9299B6D}"/>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250808542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A8B2958-4B36-4099-B770-95CB160AB6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1895D57-598D-40AC-A83B-119200F92E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0F33C1-0465-4F25-B77C-BB92D54D44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84F14A-D76B-40B9-B3E4-3854EC9865A5}" type="datetimeFigureOut">
              <a:rPr lang="en-US" smtClean="0"/>
              <a:t>6/27/2025</a:t>
            </a:fld>
            <a:endParaRPr lang="en-US"/>
          </a:p>
        </p:txBody>
      </p:sp>
      <p:sp>
        <p:nvSpPr>
          <p:cNvPr id="5" name="Footer Placeholder 4">
            <a:extLst>
              <a:ext uri="{FF2B5EF4-FFF2-40B4-BE49-F238E27FC236}">
                <a16:creationId xmlns:a16="http://schemas.microsoft.com/office/drawing/2014/main" id="{BB0183EC-0D02-4E7B-AF4B-BCEBEC8047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385E90E-61B1-441D-88BB-8B212DF7DC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AEE272-2248-4504-8802-E524313AA46D}" type="slidenum">
              <a:rPr lang="en-US" smtClean="0"/>
              <a:t>‹#›</a:t>
            </a:fld>
            <a:endParaRPr lang="en-US"/>
          </a:p>
        </p:txBody>
      </p:sp>
    </p:spTree>
    <p:extLst>
      <p:ext uri="{BB962C8B-B14F-4D97-AF65-F5344CB8AC3E}">
        <p14:creationId xmlns:p14="http://schemas.microsoft.com/office/powerpoint/2010/main" val="11613623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image" Target="../media/image2.png"/><Relationship Id="rId7" Type="http://schemas.openxmlformats.org/officeDocument/2006/relationships/image" Target="../media/image3.svg"/><Relationship Id="rId8" Type="http://schemas.openxmlformats.org/officeDocument/2006/relationships/slide" Target="slide11.xml"/><Relationship Id="rId9" Type="http://schemas.openxmlformats.org/officeDocument/2006/relationships/slide" Target="slide10.xml"/><Relationship Id="rId10"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slide" Target="slide3.xml"/><Relationship Id="rId4" Type="http://schemas.openxmlformats.org/officeDocument/2006/relationships/image" Target="../media/image2.png"/><Relationship Id="rId5" Type="http://schemas.openxmlformats.org/officeDocument/2006/relationships/image" Target="../media/image3.svg"/><Relationship Id="rId6" Type="http://schemas.openxmlformats.org/officeDocument/2006/relationships/slide" Target="slide11.xml"/><Relationship Id="rId7" Type="http://schemas.openxmlformats.org/officeDocument/2006/relationships/image" Target="../media/image5.png"/><Relationship Id="rId8" Type="http://schemas.openxmlformats.org/officeDocument/2006/relationships/slide" Target="slide4.xml"/><Relationship Id="rId9" Type="http://schemas.openxmlformats.org/officeDocument/2006/relationships/slide" Target="slide10.xml"/><Relationship Id="rId10" Type="http://schemas.openxmlformats.org/officeDocument/2006/relationships/slide" Target="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 Id="rId8" Type="http://schemas.openxmlformats.org/officeDocument/2006/relationships/image" Target="../media/image6.png"/><Relationship Id="rId9" Type="http://schemas.openxmlformats.org/officeDocument/2006/relationships/slide" Target="slide1.xml"/><Relationship Id="rId10" Type="http://schemas.openxmlformats.org/officeDocument/2006/relationships/image" Target="../media/image2.png"/><Relationship Id="rId11" Type="http://schemas.openxmlformats.org/officeDocument/2006/relationships/image" Target="../media/image3.svg"/><Relationship Id="rId12" Type="http://schemas.openxmlformats.org/officeDocument/2006/relationships/slide" Target="slide11.xml"/><Relationship Id="rId13" Type="http://schemas.openxmlformats.org/officeDocument/2006/relationships/slide" Target="slide10.xml"/><Relationship Id="rId14"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slide" Target="slide3.xml"/><Relationship Id="rId4" Type="http://schemas.openxmlformats.org/officeDocument/2006/relationships/slide" Target="slide5.xml"/><Relationship Id="rId5" Type="http://schemas.openxmlformats.org/officeDocument/2006/relationships/slide" Target="slide7.xml"/><Relationship Id="rId6" Type="http://schemas.openxmlformats.org/officeDocument/2006/relationships/slide" Target="slide8.xml"/><Relationship Id="rId7" Type="http://schemas.openxmlformats.org/officeDocument/2006/relationships/image" Target="../media/image2.png"/><Relationship Id="rId8" Type="http://schemas.openxmlformats.org/officeDocument/2006/relationships/image" Target="../media/image3.svg"/><Relationship Id="rId9" Type="http://schemas.openxmlformats.org/officeDocument/2006/relationships/slide" Target="slide11.xml"/><Relationship Id="rId10" Type="http://schemas.openxmlformats.org/officeDocument/2006/relationships/slide" Target="slide10.xml"/><Relationship Id="rId11" Type="http://schemas.openxmlformats.org/officeDocument/2006/relationships/slide" Target="slide6.xml"/><Relationship Id="rId12" Type="http://schemas.openxmlformats.org/officeDocument/2006/relationships/slide" Target="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slide" Target="slide7.xml"/><Relationship Id="rId6" Type="http://schemas.openxmlformats.org/officeDocument/2006/relationships/slide" Target="slide8.xml"/><Relationship Id="rId7" Type="http://schemas.openxmlformats.org/officeDocument/2006/relationships/slide" Target="slide11.xml"/><Relationship Id="rId8" Type="http://schemas.openxmlformats.org/officeDocument/2006/relationships/image" Target="../media/image2.png"/><Relationship Id="rId9" Type="http://schemas.openxmlformats.org/officeDocument/2006/relationships/image" Target="../media/image3.svg"/><Relationship Id="rId10" Type="http://schemas.openxmlformats.org/officeDocument/2006/relationships/slide" Target="slide10.xml"/><Relationship Id="rId11" Type="http://schemas.openxmlformats.org/officeDocument/2006/relationships/slide" Target="slide2.xml"/><Relationship Id="rId12" Type="http://schemas.openxmlformats.org/officeDocument/2006/relationships/slide" Target="slide3.xml"/><Relationship Id="rId13" Type="http://schemas.openxmlformats.org/officeDocument/2006/relationships/slide" Target="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7.xml"/><Relationship Id="rId6" Type="http://schemas.openxmlformats.org/officeDocument/2006/relationships/slide" Target="slide8.xml"/><Relationship Id="rId7" Type="http://schemas.openxmlformats.org/officeDocument/2006/relationships/image" Target="../media/image2.png"/><Relationship Id="rId8" Type="http://schemas.openxmlformats.org/officeDocument/2006/relationships/image" Target="../media/image3.svg"/><Relationship Id="rId9" Type="http://schemas.openxmlformats.org/officeDocument/2006/relationships/slide" Target="slide11.xml"/><Relationship Id="rId10" Type="http://schemas.openxmlformats.org/officeDocument/2006/relationships/slide" Target="slide6.xml"/><Relationship Id="rId11" Type="http://schemas.openxmlformats.org/officeDocument/2006/relationships/slide" Target="slide10.xml"/><Relationship Id="rId12" Type="http://schemas.openxmlformats.org/officeDocument/2006/relationships/slide" Target="slide2.xml"/><Relationship Id="rId13" Type="http://schemas.openxmlformats.org/officeDocument/2006/relationships/slide" Target="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slide" Target="slide7.xml"/><Relationship Id="rId6" Type="http://schemas.openxmlformats.org/officeDocument/2006/relationships/slide" Target="slide8.xml"/><Relationship Id="rId7" Type="http://schemas.openxmlformats.org/officeDocument/2006/relationships/image" Target="../media/image2.png"/><Relationship Id="rId8" Type="http://schemas.openxmlformats.org/officeDocument/2006/relationships/image" Target="../media/image3.svg"/><Relationship Id="rId9" Type="http://schemas.openxmlformats.org/officeDocument/2006/relationships/slide" Target="slide11.xml"/><Relationship Id="rId10" Type="http://schemas.openxmlformats.org/officeDocument/2006/relationships/slide" Target="slide10.xml"/><Relationship Id="rId11" Type="http://schemas.openxmlformats.org/officeDocument/2006/relationships/slide" Target="slide2.xml"/><Relationship Id="rId12" Type="http://schemas.openxmlformats.org/officeDocument/2006/relationships/slide" Target="slide3.xml"/><Relationship Id="rId13" Type="http://schemas.openxmlformats.org/officeDocument/2006/relationships/slide" Target="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slide" Target="slide7.xml"/><Relationship Id="rId6" Type="http://schemas.openxmlformats.org/officeDocument/2006/relationships/slide" Target="slide8.xml"/><Relationship Id="rId7" Type="http://schemas.openxmlformats.org/officeDocument/2006/relationships/image" Target="../media/image2.png"/><Relationship Id="rId8" Type="http://schemas.openxmlformats.org/officeDocument/2006/relationships/image" Target="../media/image3.svg"/><Relationship Id="rId9" Type="http://schemas.openxmlformats.org/officeDocument/2006/relationships/slide" Target="slide11.xml"/><Relationship Id="rId10" Type="http://schemas.openxmlformats.org/officeDocument/2006/relationships/slide" Target="slide10.xml"/><Relationship Id="rId11" Type="http://schemas.openxmlformats.org/officeDocument/2006/relationships/slide" Target="slide2.xml"/><Relationship Id="rId12" Type="http://schemas.openxmlformats.org/officeDocument/2006/relationships/slide" Target="slide3.xml"/><Relationship Id="rId13" Type="http://schemas.openxmlformats.org/officeDocument/2006/relationships/slide" Target="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slide" Target="slide10.xml"/><Relationship Id="rId4" Type="http://schemas.openxmlformats.org/officeDocument/2006/relationships/image" Target="../media/image2.png"/><Relationship Id="rId5" Type="http://schemas.openxmlformats.org/officeDocument/2006/relationships/image" Target="../media/image3.svg"/><Relationship Id="rId6" Type="http://schemas.openxmlformats.org/officeDocument/2006/relationships/slide" Target="slide2.xml"/><Relationship Id="rId7" Type="http://schemas.openxmlformats.org/officeDocument/2006/relationships/slide" Target="slide3.xml"/><Relationship Id="rId8" Type="http://schemas.openxmlformats.org/officeDocument/2006/relationships/slide" Target="slide4.xml"/><Relationship Id="rId9" Type="http://schemas.openxmlformats.org/officeDocument/2006/relationships/slide" Target="slide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slide" Target="slide10.xml"/><Relationship Id="rId6" Type="http://schemas.openxmlformats.org/officeDocument/2006/relationships/slide" Target="slide4.xml"/><Relationship Id="rId7" Type="http://schemas.openxmlformats.org/officeDocument/2006/relationships/slide" Target="slide11.xml"/><Relationship Id="rId8" Type="http://schemas.openxmlformats.org/officeDocument/2006/relationships/slide" Target="slide2.xml"/><Relationship Id="rId9" Type="http://schemas.openxmlformats.org/officeDocument/2006/relationships/slide" Target="slid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s://shouldiscreen.com/English/home" TargetMode="External"/><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hyperlink" Target="https://app.asccp.org/" TargetMode="External"/><Relationship Id="rId8" Type="http://schemas.openxmlformats.org/officeDocument/2006/relationships/slide" Target="slide10.xml"/><Relationship Id="rId9" Type="http://schemas.openxmlformats.org/officeDocument/2006/relationships/slide" Target="slide4.xml"/><Relationship Id="rId10" Type="http://schemas.openxmlformats.org/officeDocument/2006/relationships/slide" Target="slide11.xml"/><Relationship Id="rId11" Type="http://schemas.openxmlformats.org/officeDocument/2006/relationships/slide" Target="slide2.xml"/><Relationship Id="rId12" Type="http://schemas.openxmlformats.org/officeDocument/2006/relationships/slide" Target="slid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teachIM logo" descr="Icon&#10;&#10;Description automatically generated">
            <a:extLst>
              <a:ext uri="{FF2B5EF4-FFF2-40B4-BE49-F238E27FC236}">
                <a16:creationId xmlns:a16="http://schemas.microsoft.com/office/drawing/2014/main" id="{9941794D-0E4C-4929-897A-E61CE338C3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51397" y="6173101"/>
            <a:ext cx="1387970" cy="528106"/>
          </a:xfrm>
          <a:prstGeom prst="rect">
            <a:avLst/>
          </a:prstGeom>
        </p:spPr>
      </p:pic>
      <p:sp>
        <p:nvSpPr>
          <p:cNvPr id="28" name="Question 2">
            <a:hlinkClick r:id="rId4" action="ppaction://hlinksldjump"/>
            <a:extLst>
              <a:ext uri="{FF2B5EF4-FFF2-40B4-BE49-F238E27FC236}">
                <a16:creationId xmlns:a16="http://schemas.microsoft.com/office/drawing/2014/main" id="{0FE785E7-F4B2-44AE-A961-45549306C904}"/>
              </a:ext>
            </a:extLst>
          </p:cNvPr>
          <p:cNvSpPr txBox="1"/>
          <p:nvPr/>
        </p:nvSpPr>
        <p:spPr>
          <a:xfrm>
            <a:off x="248728" y="169225"/>
            <a:ext cx="2404590" cy="408623"/>
          </a:xfrm>
          <a:prstGeom prst="roundRect">
            <a:avLst/>
          </a:prstGeom>
          <a:solidFill>
            <a:schemeClr val="bg1"/>
          </a:solidFill>
          <a:ln w="28575"/>
          <a:effectLst>
            <a:outerShdw blurRad="50800" dist="38100" dir="2700000" algn="tl"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ctr"/>
            <a:r>
              <a:rPr lang="en-US" dirty="0">
                <a:solidFill>
                  <a:schemeClr val="tx1"/>
                </a:solidFill>
              </a:rPr>
              <a:t>When to screen?</a:t>
            </a:r>
          </a:p>
        </p:txBody>
      </p:sp>
      <p:sp>
        <p:nvSpPr>
          <p:cNvPr id="31" name="Question 2">
            <a:hlinkClick r:id="rId5" action="ppaction://hlinksldjump"/>
            <a:extLst>
              <a:ext uri="{FF2B5EF4-FFF2-40B4-BE49-F238E27FC236}">
                <a16:creationId xmlns:a16="http://schemas.microsoft.com/office/drawing/2014/main" id="{E4A76566-6E76-4F10-B318-E3958E49FAE5}"/>
              </a:ext>
            </a:extLst>
          </p:cNvPr>
          <p:cNvSpPr txBox="1"/>
          <p:nvPr/>
        </p:nvSpPr>
        <p:spPr>
          <a:xfrm>
            <a:off x="250666" y="757570"/>
            <a:ext cx="2404590" cy="715089"/>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5 domains of prevention/screening </a:t>
            </a:r>
          </a:p>
        </p:txBody>
      </p:sp>
      <p:pic>
        <p:nvPicPr>
          <p:cNvPr id="32" name="Graphic 31" descr="Cursor with solid fill">
            <a:extLst>
              <a:ext uri="{FF2B5EF4-FFF2-40B4-BE49-F238E27FC236}">
                <a16:creationId xmlns:a16="http://schemas.microsoft.com/office/drawing/2014/main" id="{12D87035-0917-404A-9621-3DF68B83627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455681" y="1275022"/>
            <a:ext cx="395274" cy="395274"/>
          </a:xfrm>
          <a:prstGeom prst="rect">
            <a:avLst/>
          </a:prstGeom>
        </p:spPr>
      </p:pic>
      <p:sp>
        <p:nvSpPr>
          <p:cNvPr id="45" name="Cases">
            <a:hlinkClick r:id="rId8" action="ppaction://hlinksldjump"/>
            <a:extLst>
              <a:ext uri="{FF2B5EF4-FFF2-40B4-BE49-F238E27FC236}">
                <a16:creationId xmlns:a16="http://schemas.microsoft.com/office/drawing/2014/main" id="{84769D4E-6FDB-47F9-8D35-A8F53E823F4A}"/>
              </a:ext>
            </a:extLst>
          </p:cNvPr>
          <p:cNvSpPr txBox="1"/>
          <p:nvPr/>
        </p:nvSpPr>
        <p:spPr>
          <a:xfrm>
            <a:off x="307848" y="6121182"/>
            <a:ext cx="1910096"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CASES</a:t>
            </a:r>
          </a:p>
        </p:txBody>
      </p:sp>
      <p:pic>
        <p:nvPicPr>
          <p:cNvPr id="46" name="Graphic 45" descr="Cursor with solid fill">
            <a:hlinkClick r:id="rId8" action="ppaction://hlinksldjump"/>
            <a:extLst>
              <a:ext uri="{FF2B5EF4-FFF2-40B4-BE49-F238E27FC236}">
                <a16:creationId xmlns:a16="http://schemas.microsoft.com/office/drawing/2014/main" id="{3E5C3589-5806-40DD-A262-A415131257E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995513" y="6332168"/>
            <a:ext cx="395274" cy="395274"/>
          </a:xfrm>
          <a:prstGeom prst="rect">
            <a:avLst/>
          </a:prstGeom>
        </p:spPr>
      </p:pic>
      <p:sp>
        <p:nvSpPr>
          <p:cNvPr id="95" name="cancer screening text">
            <a:extLst>
              <a:ext uri="{FF2B5EF4-FFF2-40B4-BE49-F238E27FC236}">
                <a16:creationId xmlns:a16="http://schemas.microsoft.com/office/drawing/2014/main" id="{EF37F650-9CB3-4040-8F38-DD018C5B72C1}"/>
              </a:ext>
            </a:extLst>
          </p:cNvPr>
          <p:cNvSpPr txBox="1"/>
          <p:nvPr/>
        </p:nvSpPr>
        <p:spPr>
          <a:xfrm>
            <a:off x="250666" y="1662473"/>
            <a:ext cx="1967278" cy="408623"/>
          </a:xfrm>
          <a:prstGeom prst="roundRect">
            <a:avLst/>
          </a:prstGeom>
          <a:ln w="38100">
            <a:solidFill>
              <a:schemeClr val="accent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Cancer Screening</a:t>
            </a:r>
          </a:p>
        </p:txBody>
      </p:sp>
      <p:sp>
        <p:nvSpPr>
          <p:cNvPr id="118" name="Rectangle 117">
            <a:extLst>
              <a:ext uri="{FF2B5EF4-FFF2-40B4-BE49-F238E27FC236}">
                <a16:creationId xmlns:a16="http://schemas.microsoft.com/office/drawing/2014/main" id="{2C6C14DE-D8FB-4080-B355-5CF3514FC095}"/>
              </a:ext>
            </a:extLst>
          </p:cNvPr>
          <p:cNvSpPr/>
          <p:nvPr/>
        </p:nvSpPr>
        <p:spPr>
          <a:xfrm>
            <a:off x="3088692" y="795518"/>
            <a:ext cx="8586237" cy="63919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Adult Disease Prevention</a:t>
            </a:r>
          </a:p>
          <a:p>
            <a:pPr algn="ctr"/>
            <a:r>
              <a:rPr lang="en-US" sz="2400" b="1" dirty="0">
                <a:solidFill>
                  <a:schemeClr val="tx1"/>
                </a:solidFill>
              </a:rPr>
              <a:t>Part 1 – Cancer Screening and Immunizations</a:t>
            </a:r>
          </a:p>
        </p:txBody>
      </p:sp>
      <p:sp>
        <p:nvSpPr>
          <p:cNvPr id="41" name="cancer screening text">
            <a:hlinkClick r:id="rId9" action="ppaction://hlinksldjump"/>
            <a:extLst>
              <a:ext uri="{FF2B5EF4-FFF2-40B4-BE49-F238E27FC236}">
                <a16:creationId xmlns:a16="http://schemas.microsoft.com/office/drawing/2014/main" id="{EE5E81DE-F3DD-4D3C-9C32-9092FE1D5ACF}"/>
              </a:ext>
            </a:extLst>
          </p:cNvPr>
          <p:cNvSpPr txBox="1"/>
          <p:nvPr/>
        </p:nvSpPr>
        <p:spPr>
          <a:xfrm>
            <a:off x="250665" y="2284943"/>
            <a:ext cx="1967278" cy="408623"/>
          </a:xfrm>
          <a:prstGeom prst="roundRect">
            <a:avLst/>
          </a:prstGeom>
          <a:ln w="38100">
            <a:solidFill>
              <a:schemeClr val="accent2"/>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Infectious Disease</a:t>
            </a:r>
          </a:p>
        </p:txBody>
      </p:sp>
      <p:pic>
        <p:nvPicPr>
          <p:cNvPr id="42" name="Graphic 41" descr="Cursor with solid fill">
            <a:extLst>
              <a:ext uri="{FF2B5EF4-FFF2-40B4-BE49-F238E27FC236}">
                <a16:creationId xmlns:a16="http://schemas.microsoft.com/office/drawing/2014/main" id="{4C429A25-87EB-4CD8-A1AB-D21EE9206E8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60407" y="2478014"/>
            <a:ext cx="395274" cy="395274"/>
          </a:xfrm>
          <a:prstGeom prst="rect">
            <a:avLst/>
          </a:prstGeom>
        </p:spPr>
      </p:pic>
      <p:pic>
        <p:nvPicPr>
          <p:cNvPr id="43" name="Graphic 42" descr="Cursor with solid fill">
            <a:extLst>
              <a:ext uri="{FF2B5EF4-FFF2-40B4-BE49-F238E27FC236}">
                <a16:creationId xmlns:a16="http://schemas.microsoft.com/office/drawing/2014/main" id="{E12568A0-8D9E-4366-A026-CB9B2687D44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60407" y="1868595"/>
            <a:ext cx="395274" cy="395274"/>
          </a:xfrm>
          <a:prstGeom prst="rect">
            <a:avLst/>
          </a:prstGeom>
        </p:spPr>
      </p:pic>
      <p:pic>
        <p:nvPicPr>
          <p:cNvPr id="23" name="Graphic 22" descr="Cursor with solid fill">
            <a:extLst>
              <a:ext uri="{FF2B5EF4-FFF2-40B4-BE49-F238E27FC236}">
                <a16:creationId xmlns:a16="http://schemas.microsoft.com/office/drawing/2014/main" id="{7085A16E-B332-455A-B75E-C3D98CE816A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455681" y="380211"/>
            <a:ext cx="395274" cy="395274"/>
          </a:xfrm>
          <a:prstGeom prst="rect">
            <a:avLst/>
          </a:prstGeom>
        </p:spPr>
      </p:pic>
      <p:pic>
        <p:nvPicPr>
          <p:cNvPr id="3" name="Picture 2">
            <a:extLst>
              <a:ext uri="{FF2B5EF4-FFF2-40B4-BE49-F238E27FC236}">
                <a16:creationId xmlns:a16="http://schemas.microsoft.com/office/drawing/2014/main" id="{C82EB2D7-5264-4DB5-BF98-FE94155B04DE}"/>
              </a:ext>
            </a:extLst>
          </p:cNvPr>
          <p:cNvPicPr>
            <a:picLocks noChangeAspect="1"/>
          </p:cNvPicPr>
          <p:nvPr/>
        </p:nvPicPr>
        <p:blipFill rotWithShape="1">
          <a:blip r:embed="rId10">
            <a:extLst>
              <a:ext uri="{28A0092B-C50C-407E-A947-70E740481C1C}">
                <a14:useLocalDpi xmlns:a14="http://schemas.microsoft.com/office/drawing/2010/main" val="0"/>
              </a:ext>
            </a:extLst>
          </a:blip>
          <a:srcRect r="34161"/>
          <a:stretch/>
        </p:blipFill>
        <p:spPr>
          <a:xfrm>
            <a:off x="5289026" y="1866784"/>
            <a:ext cx="4185567" cy="4450087"/>
          </a:xfrm>
          <a:prstGeom prst="rect">
            <a:avLst/>
          </a:prstGeom>
        </p:spPr>
      </p:pic>
      <p:sp>
        <p:nvSpPr>
          <p:cNvPr id="4" name="TextBox 3">
            <a:extLst>
              <a:ext uri="{FF2B5EF4-FFF2-40B4-BE49-F238E27FC236}">
                <a16:creationId xmlns:a16="http://schemas.microsoft.com/office/drawing/2014/main" id="{D9E54312-41E0-4424-9478-467BB512E89B}"/>
              </a:ext>
            </a:extLst>
          </p:cNvPr>
          <p:cNvSpPr txBox="1"/>
          <p:nvPr/>
        </p:nvSpPr>
        <p:spPr>
          <a:xfrm>
            <a:off x="6454439" y="6588942"/>
            <a:ext cx="1854739" cy="276999"/>
          </a:xfrm>
          <a:prstGeom prst="rect">
            <a:avLst/>
          </a:prstGeom>
          <a:noFill/>
        </p:spPr>
        <p:txBody>
          <a:bodyPr wrap="none" rtlCol="0">
            <a:spAutoFit/>
          </a:bodyPr>
          <a:lstStyle/>
          <a:p>
            <a:r>
              <a:rPr lang="en-US" sz="1200" dirty="0"/>
              <a:t>Graphics by biorender.com</a:t>
            </a:r>
          </a:p>
        </p:txBody>
      </p:sp>
    </p:spTree>
    <p:extLst>
      <p:ext uri="{BB962C8B-B14F-4D97-AF65-F5344CB8AC3E}">
        <p14:creationId xmlns:p14="http://schemas.microsoft.com/office/powerpoint/2010/main" val="327629451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extLst>
    <p:ext uri="{E180D4A7-C9FB-4DFB-919C-405C955672EB}">
      <p14:showEvtLst xmlns:p14="http://schemas.microsoft.com/office/powerpoint/2010/main">
        <p14:triggerEvt type="onClick" time="55928" objId="75"/>
        <p14:triggerEvt type="onClick" time="59552" objId="78"/>
        <p14:triggerEvt type="onClick" time="61370" objId="81"/>
      </p14:showEvtLst>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Question 2">
            <a:hlinkClick r:id="rId3" action="ppaction://hlinksldjump"/>
            <a:extLst>
              <a:ext uri="{FF2B5EF4-FFF2-40B4-BE49-F238E27FC236}">
                <a16:creationId xmlns:a16="http://schemas.microsoft.com/office/drawing/2014/main" id="{E4A76566-6E76-4F10-B318-E3958E49FAE5}"/>
              </a:ext>
            </a:extLst>
          </p:cNvPr>
          <p:cNvSpPr txBox="1"/>
          <p:nvPr/>
        </p:nvSpPr>
        <p:spPr>
          <a:xfrm>
            <a:off x="250666" y="757570"/>
            <a:ext cx="2404590" cy="715089"/>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5 domains of prevention/screening </a:t>
            </a:r>
          </a:p>
        </p:txBody>
      </p:sp>
      <p:pic>
        <p:nvPicPr>
          <p:cNvPr id="32" name="Graphic 31" descr="Cursor with solid fill">
            <a:extLst>
              <a:ext uri="{FF2B5EF4-FFF2-40B4-BE49-F238E27FC236}">
                <a16:creationId xmlns:a16="http://schemas.microsoft.com/office/drawing/2014/main" id="{12D87035-0917-404A-9621-3DF68B83627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455681" y="1275022"/>
            <a:ext cx="395274" cy="395274"/>
          </a:xfrm>
          <a:prstGeom prst="rect">
            <a:avLst/>
          </a:prstGeom>
        </p:spPr>
      </p:pic>
      <p:sp>
        <p:nvSpPr>
          <p:cNvPr id="45" name="Cases">
            <a:hlinkClick r:id="rId6" action="ppaction://hlinksldjump"/>
            <a:extLst>
              <a:ext uri="{FF2B5EF4-FFF2-40B4-BE49-F238E27FC236}">
                <a16:creationId xmlns:a16="http://schemas.microsoft.com/office/drawing/2014/main" id="{84769D4E-6FDB-47F9-8D35-A8F53E823F4A}"/>
              </a:ext>
            </a:extLst>
          </p:cNvPr>
          <p:cNvSpPr txBox="1"/>
          <p:nvPr/>
        </p:nvSpPr>
        <p:spPr>
          <a:xfrm>
            <a:off x="307848" y="6121182"/>
            <a:ext cx="1910096"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CASES</a:t>
            </a:r>
          </a:p>
        </p:txBody>
      </p:sp>
      <p:pic>
        <p:nvPicPr>
          <p:cNvPr id="46" name="Graphic 45" descr="Cursor with solid fill">
            <a:hlinkClick r:id="rId6" action="ppaction://hlinksldjump"/>
            <a:extLst>
              <a:ext uri="{FF2B5EF4-FFF2-40B4-BE49-F238E27FC236}">
                <a16:creationId xmlns:a16="http://schemas.microsoft.com/office/drawing/2014/main" id="{3E5C3589-5806-40DD-A262-A415131257E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995513" y="6332168"/>
            <a:ext cx="395274" cy="395274"/>
          </a:xfrm>
          <a:prstGeom prst="rect">
            <a:avLst/>
          </a:prstGeom>
        </p:spPr>
      </p:pic>
      <p:pic>
        <p:nvPicPr>
          <p:cNvPr id="73" name="Picture 72">
            <a:extLst>
              <a:ext uri="{FF2B5EF4-FFF2-40B4-BE49-F238E27FC236}">
                <a16:creationId xmlns:a16="http://schemas.microsoft.com/office/drawing/2014/main" id="{E251C34D-60B6-4BBE-912F-642040A9BEBE}"/>
              </a:ext>
            </a:extLst>
          </p:cNvPr>
          <p:cNvPicPr>
            <a:picLocks noChangeAspect="1"/>
          </p:cNvPicPr>
          <p:nvPr/>
        </p:nvPicPr>
        <p:blipFill rotWithShape="1">
          <a:blip r:embed="rId7"/>
          <a:srcRect b="12612"/>
          <a:stretch/>
        </p:blipFill>
        <p:spPr>
          <a:xfrm>
            <a:off x="6229857" y="4036515"/>
            <a:ext cx="2356421" cy="1746105"/>
          </a:xfrm>
          <a:prstGeom prst="rect">
            <a:avLst/>
          </a:prstGeom>
        </p:spPr>
      </p:pic>
      <p:sp>
        <p:nvSpPr>
          <p:cNvPr id="75" name="Effective screening?">
            <a:extLst>
              <a:ext uri="{FF2B5EF4-FFF2-40B4-BE49-F238E27FC236}">
                <a16:creationId xmlns:a16="http://schemas.microsoft.com/office/drawing/2014/main" id="{A200E2BF-E8C2-43FD-9757-C75ABF2C1EE1}"/>
              </a:ext>
            </a:extLst>
          </p:cNvPr>
          <p:cNvSpPr txBox="1"/>
          <p:nvPr/>
        </p:nvSpPr>
        <p:spPr>
          <a:xfrm>
            <a:off x="4738050" y="510103"/>
            <a:ext cx="5115832" cy="461665"/>
          </a:xfrm>
          <a:prstGeom prst="rect">
            <a:avLst/>
          </a:prstGeom>
          <a:solidFill>
            <a:schemeClr val="bg1"/>
          </a:solidFill>
          <a:ln w="28575">
            <a:noFill/>
          </a:ln>
          <a:effectLst/>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2400" b="1" dirty="0"/>
              <a:t>Conditions for Effective Screening</a:t>
            </a:r>
          </a:p>
        </p:txBody>
      </p:sp>
      <p:sp>
        <p:nvSpPr>
          <p:cNvPr id="78" name="Disease">
            <a:extLst>
              <a:ext uri="{FF2B5EF4-FFF2-40B4-BE49-F238E27FC236}">
                <a16:creationId xmlns:a16="http://schemas.microsoft.com/office/drawing/2014/main" id="{C7AA444C-1718-46CC-BC12-EC7E57322DAA}"/>
              </a:ext>
            </a:extLst>
          </p:cNvPr>
          <p:cNvSpPr txBox="1"/>
          <p:nvPr/>
        </p:nvSpPr>
        <p:spPr>
          <a:xfrm>
            <a:off x="3683911" y="1662473"/>
            <a:ext cx="2437525" cy="814691"/>
          </a:xfrm>
          <a:prstGeom prst="roundRect">
            <a:avLst/>
          </a:prstGeom>
          <a:ln w="28575"/>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rtlCol="0">
            <a:spAutoFit/>
          </a:bodyPr>
          <a:lstStyle/>
          <a:p>
            <a:pPr marR="0" lvl="0" algn="ctr">
              <a:lnSpc>
                <a:spcPct val="107000"/>
              </a:lnSpc>
              <a:spcBef>
                <a:spcPts val="0"/>
              </a:spcBef>
              <a:spcAft>
                <a:spcPts val="0"/>
              </a:spcAft>
            </a:pPr>
            <a:r>
              <a:rPr lang="en-US" sz="2000" b="1" dirty="0">
                <a:latin typeface="Calibri" panose="020F0502020204030204" pitchFamily="34" charset="0"/>
                <a:ea typeface="Calibri" panose="020F0502020204030204" pitchFamily="34" charset="0"/>
                <a:cs typeface="Times New Roman" panose="02020603050405020304" pitchFamily="18" charset="0"/>
              </a:rPr>
              <a:t>DISEASE CHARACTERISTICS?</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1" name="Screening test">
            <a:extLst>
              <a:ext uri="{FF2B5EF4-FFF2-40B4-BE49-F238E27FC236}">
                <a16:creationId xmlns:a16="http://schemas.microsoft.com/office/drawing/2014/main" id="{2BC35C8C-4F1F-4CA5-A316-D9EE9576FCAA}"/>
              </a:ext>
            </a:extLst>
          </p:cNvPr>
          <p:cNvSpPr txBox="1"/>
          <p:nvPr/>
        </p:nvSpPr>
        <p:spPr>
          <a:xfrm>
            <a:off x="8586278" y="1660557"/>
            <a:ext cx="2437526" cy="814691"/>
          </a:xfrm>
          <a:prstGeom prst="roundRect">
            <a:avLst/>
          </a:prstGeom>
          <a:ln w="28575"/>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rtlCol="0">
            <a:spAutoFit/>
          </a:bodyPr>
          <a:lstStyle/>
          <a:p>
            <a:pPr marR="0" lvl="0" algn="ctr">
              <a:lnSpc>
                <a:spcPct val="107000"/>
              </a:lnSpc>
              <a:spcBef>
                <a:spcPts val="0"/>
              </a:spcBef>
              <a:spcAft>
                <a:spcPts val="0"/>
              </a:spcAft>
            </a:pPr>
            <a:r>
              <a:rPr lang="en-US" sz="2000" b="1" dirty="0">
                <a:latin typeface="Calibri" panose="020F0502020204030204" pitchFamily="34" charset="0"/>
                <a:ea typeface="Times New Roman" panose="02020603050405020304" pitchFamily="18" charset="0"/>
                <a:cs typeface="Times New Roman" panose="02020603050405020304" pitchFamily="18" charset="0"/>
              </a:rPr>
              <a:t>SCREENING TEST</a:t>
            </a:r>
          </a:p>
          <a:p>
            <a:pPr marR="0" lvl="0" algn="ctr">
              <a:lnSpc>
                <a:spcPct val="107000"/>
              </a:lnSpc>
              <a:spcBef>
                <a:spcPts val="0"/>
              </a:spcBef>
              <a:spcAft>
                <a:spcPts val="0"/>
              </a:spcAft>
            </a:pPr>
            <a:r>
              <a:rPr lang="en-US" sz="2000" b="1" dirty="0">
                <a:latin typeface="Calibri" panose="020F0502020204030204" pitchFamily="34" charset="0"/>
                <a:ea typeface="Times New Roman" panose="02020603050405020304" pitchFamily="18" charset="0"/>
                <a:cs typeface="Times New Roman" panose="02020603050405020304" pitchFamily="18" charset="0"/>
              </a:rPr>
              <a:t>CHARACTERISTICS?</a:t>
            </a:r>
          </a:p>
        </p:txBody>
      </p:sp>
      <p:pic>
        <p:nvPicPr>
          <p:cNvPr id="79" name="Arrow" descr="Cursor with solid fill">
            <a:extLst>
              <a:ext uri="{FF2B5EF4-FFF2-40B4-BE49-F238E27FC236}">
                <a16:creationId xmlns:a16="http://schemas.microsoft.com/office/drawing/2014/main" id="{3D3DDDAC-9307-4CB6-AE0E-0529F0F9960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828194" y="2277611"/>
            <a:ext cx="395274" cy="395274"/>
          </a:xfrm>
          <a:prstGeom prst="rect">
            <a:avLst/>
          </a:prstGeom>
        </p:spPr>
      </p:pic>
      <p:pic>
        <p:nvPicPr>
          <p:cNvPr id="91" name="Arrow" descr="Cursor with solid fill">
            <a:extLst>
              <a:ext uri="{FF2B5EF4-FFF2-40B4-BE49-F238E27FC236}">
                <a16:creationId xmlns:a16="http://schemas.microsoft.com/office/drawing/2014/main" id="{30257798-736A-4ABE-9F2E-5C6BE21B16A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903591" y="2305435"/>
            <a:ext cx="395274" cy="395274"/>
          </a:xfrm>
          <a:prstGeom prst="rect">
            <a:avLst/>
          </a:prstGeom>
        </p:spPr>
      </p:pic>
      <p:sp>
        <p:nvSpPr>
          <p:cNvPr id="3" name="TextBox 2">
            <a:extLst>
              <a:ext uri="{FF2B5EF4-FFF2-40B4-BE49-F238E27FC236}">
                <a16:creationId xmlns:a16="http://schemas.microsoft.com/office/drawing/2014/main" id="{392E8582-CE45-4B1B-BA49-E50368B098ED}"/>
              </a:ext>
            </a:extLst>
          </p:cNvPr>
          <p:cNvSpPr txBox="1"/>
          <p:nvPr/>
        </p:nvSpPr>
        <p:spPr>
          <a:xfrm>
            <a:off x="3088692" y="2649472"/>
            <a:ext cx="3752481" cy="1015663"/>
          </a:xfrm>
          <a:prstGeom prst="rect">
            <a:avLst/>
          </a:prstGeom>
          <a:noFill/>
        </p:spPr>
        <p:txBody>
          <a:bodyPr wrap="square" rtlCol="0">
            <a:spAutoFit/>
          </a:bodyPr>
          <a:lstStyle/>
          <a:p>
            <a:pPr algn="ctr"/>
            <a:r>
              <a:rPr lang="en-US" sz="2000" dirty="0"/>
              <a:t>Common</a:t>
            </a:r>
          </a:p>
          <a:p>
            <a:pPr algn="ctr"/>
            <a:r>
              <a:rPr lang="en-US" sz="2000" dirty="0"/>
              <a:t>Asymptomatic period</a:t>
            </a:r>
          </a:p>
          <a:p>
            <a:pPr algn="ctr"/>
            <a:r>
              <a:rPr lang="en-US" sz="2000" dirty="0"/>
              <a:t>Early &gt; Late treatment</a:t>
            </a:r>
          </a:p>
        </p:txBody>
      </p:sp>
      <p:sp>
        <p:nvSpPr>
          <p:cNvPr id="94" name="TextBox 93">
            <a:extLst>
              <a:ext uri="{FF2B5EF4-FFF2-40B4-BE49-F238E27FC236}">
                <a16:creationId xmlns:a16="http://schemas.microsoft.com/office/drawing/2014/main" id="{90A2A2D2-0886-465D-B9A3-D6D5BF7B5996}"/>
              </a:ext>
            </a:extLst>
          </p:cNvPr>
          <p:cNvSpPr txBox="1"/>
          <p:nvPr/>
        </p:nvSpPr>
        <p:spPr>
          <a:xfrm>
            <a:off x="7928800" y="2665795"/>
            <a:ext cx="3752481" cy="1323439"/>
          </a:xfrm>
          <a:prstGeom prst="rect">
            <a:avLst/>
          </a:prstGeom>
          <a:noFill/>
        </p:spPr>
        <p:txBody>
          <a:bodyPr wrap="square" rtlCol="0">
            <a:spAutoFit/>
          </a:bodyPr>
          <a:lstStyle/>
          <a:p>
            <a:pPr algn="ctr"/>
            <a:r>
              <a:rPr lang="en-US" sz="2000" dirty="0"/>
              <a:t>Acceptable sensitivity/specificity</a:t>
            </a:r>
          </a:p>
          <a:p>
            <a:pPr algn="ctr"/>
            <a:r>
              <a:rPr lang="en-US" sz="2000" dirty="0"/>
              <a:t>Low-cost</a:t>
            </a:r>
          </a:p>
          <a:p>
            <a:pPr algn="ctr"/>
            <a:r>
              <a:rPr lang="en-US" sz="2000" dirty="0"/>
              <a:t>Easy to complete</a:t>
            </a:r>
          </a:p>
          <a:p>
            <a:pPr algn="ctr"/>
            <a:r>
              <a:rPr lang="en-US" sz="2000" dirty="0"/>
              <a:t>Minimal patient harm</a:t>
            </a:r>
          </a:p>
        </p:txBody>
      </p:sp>
      <p:sp>
        <p:nvSpPr>
          <p:cNvPr id="72" name="TextBox 71">
            <a:extLst>
              <a:ext uri="{FF2B5EF4-FFF2-40B4-BE49-F238E27FC236}">
                <a16:creationId xmlns:a16="http://schemas.microsoft.com/office/drawing/2014/main" id="{A1880EEB-605F-461A-AC00-8B9C1DDAD8AB}"/>
              </a:ext>
            </a:extLst>
          </p:cNvPr>
          <p:cNvSpPr txBox="1"/>
          <p:nvPr/>
        </p:nvSpPr>
        <p:spPr>
          <a:xfrm>
            <a:off x="5560262" y="5782620"/>
            <a:ext cx="3695612" cy="830997"/>
          </a:xfrm>
          <a:prstGeom prst="rect">
            <a:avLst/>
          </a:prstGeom>
          <a:noFill/>
        </p:spPr>
        <p:txBody>
          <a:bodyPr wrap="square" rtlCol="0">
            <a:spAutoFit/>
          </a:bodyPr>
          <a:lstStyle/>
          <a:p>
            <a:pPr algn="ctr"/>
            <a:r>
              <a:rPr lang="en-US" sz="2400" b="1" dirty="0"/>
              <a:t>BOTTOM LINE: </a:t>
            </a:r>
          </a:p>
          <a:p>
            <a:pPr algn="ctr"/>
            <a:r>
              <a:rPr lang="en-US" sz="2400" b="1" dirty="0">
                <a:solidFill>
                  <a:srgbClr val="C00000"/>
                </a:solidFill>
              </a:rPr>
              <a:t>BENEFITS &gt; RISKS/HARMS</a:t>
            </a:r>
          </a:p>
        </p:txBody>
      </p:sp>
      <p:sp>
        <p:nvSpPr>
          <p:cNvPr id="95" name="cancer screening text">
            <a:hlinkClick r:id="rId8" action="ppaction://hlinksldjump"/>
            <a:extLst>
              <a:ext uri="{FF2B5EF4-FFF2-40B4-BE49-F238E27FC236}">
                <a16:creationId xmlns:a16="http://schemas.microsoft.com/office/drawing/2014/main" id="{EF37F650-9CB3-4040-8F38-DD018C5B72C1}"/>
              </a:ext>
            </a:extLst>
          </p:cNvPr>
          <p:cNvSpPr txBox="1"/>
          <p:nvPr/>
        </p:nvSpPr>
        <p:spPr>
          <a:xfrm>
            <a:off x="250666" y="1662473"/>
            <a:ext cx="1967278" cy="408623"/>
          </a:xfrm>
          <a:prstGeom prst="roundRect">
            <a:avLst/>
          </a:prstGeom>
          <a:ln w="38100">
            <a:solidFill>
              <a:schemeClr val="accent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Cancer Screening</a:t>
            </a:r>
          </a:p>
        </p:txBody>
      </p:sp>
      <p:sp>
        <p:nvSpPr>
          <p:cNvPr id="41" name="cancer screening text">
            <a:hlinkClick r:id="rId9" action="ppaction://hlinksldjump"/>
            <a:extLst>
              <a:ext uri="{FF2B5EF4-FFF2-40B4-BE49-F238E27FC236}">
                <a16:creationId xmlns:a16="http://schemas.microsoft.com/office/drawing/2014/main" id="{EE5E81DE-F3DD-4D3C-9C32-9092FE1D5ACF}"/>
              </a:ext>
            </a:extLst>
          </p:cNvPr>
          <p:cNvSpPr txBox="1"/>
          <p:nvPr/>
        </p:nvSpPr>
        <p:spPr>
          <a:xfrm>
            <a:off x="250665" y="2284943"/>
            <a:ext cx="1967278" cy="408623"/>
          </a:xfrm>
          <a:prstGeom prst="roundRect">
            <a:avLst/>
          </a:prstGeom>
          <a:ln w="38100">
            <a:solidFill>
              <a:schemeClr val="accent2"/>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Infectious Disease</a:t>
            </a:r>
          </a:p>
        </p:txBody>
      </p:sp>
      <p:pic>
        <p:nvPicPr>
          <p:cNvPr id="42" name="Graphic 41" descr="Cursor with solid fill">
            <a:extLst>
              <a:ext uri="{FF2B5EF4-FFF2-40B4-BE49-F238E27FC236}">
                <a16:creationId xmlns:a16="http://schemas.microsoft.com/office/drawing/2014/main" id="{4C429A25-87EB-4CD8-A1AB-D21EE9206E8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60407" y="2478014"/>
            <a:ext cx="395274" cy="395274"/>
          </a:xfrm>
          <a:prstGeom prst="rect">
            <a:avLst/>
          </a:prstGeom>
        </p:spPr>
      </p:pic>
      <p:pic>
        <p:nvPicPr>
          <p:cNvPr id="43" name="Graphic 42" descr="Cursor with solid fill">
            <a:extLst>
              <a:ext uri="{FF2B5EF4-FFF2-40B4-BE49-F238E27FC236}">
                <a16:creationId xmlns:a16="http://schemas.microsoft.com/office/drawing/2014/main" id="{E12568A0-8D9E-4366-A026-CB9B2687D44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60407" y="1868595"/>
            <a:ext cx="395274" cy="395274"/>
          </a:xfrm>
          <a:prstGeom prst="rect">
            <a:avLst/>
          </a:prstGeom>
        </p:spPr>
      </p:pic>
      <p:sp>
        <p:nvSpPr>
          <p:cNvPr id="23" name="Screen white" hidden="1">
            <a:hlinkClick r:id="rId10" action="ppaction://hlinksldjump"/>
            <a:extLst>
              <a:ext uri="{FF2B5EF4-FFF2-40B4-BE49-F238E27FC236}">
                <a16:creationId xmlns:a16="http://schemas.microsoft.com/office/drawing/2014/main" id="{A77EDF2D-609C-4EFA-8526-968372629A16}"/>
              </a:ext>
            </a:extLst>
          </p:cNvPr>
          <p:cNvSpPr txBox="1"/>
          <p:nvPr/>
        </p:nvSpPr>
        <p:spPr>
          <a:xfrm>
            <a:off x="248728" y="185554"/>
            <a:ext cx="2404590" cy="408623"/>
          </a:xfrm>
          <a:prstGeom prst="roundRect">
            <a:avLst/>
          </a:prstGeom>
          <a:solidFill>
            <a:schemeClr val="bg1"/>
          </a:solidFill>
          <a:ln w="28575"/>
          <a:effectLst>
            <a:outerShdw blurRad="50800" dist="38100" dir="2700000" algn="tl"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ctr"/>
            <a:r>
              <a:rPr lang="en-US" dirty="0">
                <a:solidFill>
                  <a:schemeClr val="tx1"/>
                </a:solidFill>
              </a:rPr>
              <a:t>When to screen?</a:t>
            </a:r>
          </a:p>
        </p:txBody>
      </p:sp>
      <p:pic>
        <p:nvPicPr>
          <p:cNvPr id="24" name="Graphic 23" descr="Cursor with solid fill">
            <a:extLst>
              <a:ext uri="{FF2B5EF4-FFF2-40B4-BE49-F238E27FC236}">
                <a16:creationId xmlns:a16="http://schemas.microsoft.com/office/drawing/2014/main" id="{E5B2A788-C490-4359-BBB8-E14284ECCEA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455681" y="380211"/>
            <a:ext cx="395274" cy="395274"/>
          </a:xfrm>
          <a:prstGeom prst="rect">
            <a:avLst/>
          </a:prstGeom>
        </p:spPr>
      </p:pic>
      <p:sp>
        <p:nvSpPr>
          <p:cNvPr id="28" name="screen black">
            <a:hlinkClick r:id="" action="ppaction://hlinkshowjump?jump=firstslide"/>
            <a:extLst>
              <a:ext uri="{FF2B5EF4-FFF2-40B4-BE49-F238E27FC236}">
                <a16:creationId xmlns:a16="http://schemas.microsoft.com/office/drawing/2014/main" id="{0FE785E7-F4B2-44AE-A961-45549306C904}"/>
              </a:ext>
            </a:extLst>
          </p:cNvPr>
          <p:cNvSpPr txBox="1"/>
          <p:nvPr/>
        </p:nvSpPr>
        <p:spPr>
          <a:xfrm>
            <a:off x="248728" y="175817"/>
            <a:ext cx="2404590" cy="408623"/>
          </a:xfrm>
          <a:prstGeom prst="roundRect">
            <a:avLst/>
          </a:prstGeom>
          <a:ln/>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ctr"/>
            <a:r>
              <a:rPr lang="en-US" dirty="0">
                <a:solidFill>
                  <a:schemeClr val="bg1"/>
                </a:solidFill>
              </a:rPr>
              <a:t>When to screen?</a:t>
            </a:r>
          </a:p>
        </p:txBody>
      </p:sp>
    </p:spTree>
    <p:extLst>
      <p:ext uri="{BB962C8B-B14F-4D97-AF65-F5344CB8AC3E}">
        <p14:creationId xmlns:p14="http://schemas.microsoft.com/office/powerpoint/2010/main" val="346076613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78"/>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nextCondLst>
                <p:cond evt="onClick" delay="0">
                  <p:tgtEl>
                    <p:spTgt spid="78"/>
                  </p:tgtEl>
                </p:cond>
              </p:nextCondLst>
            </p:seq>
            <p:seq concurrent="1" nextAc="seek">
              <p:cTn id="7" restart="whenNotActive" fill="hold" evtFilter="cancelBubble" nodeType="interactiveSeq">
                <p:stCondLst>
                  <p:cond evt="onClick" delay="0">
                    <p:tgtEl>
                      <p:spTgt spid="81"/>
                    </p:tgtEl>
                  </p:cond>
                </p:stCondLst>
                <p:endSync evt="end" delay="0">
                  <p:rtn val="all"/>
                </p:endSync>
                <p:childTnLst>
                  <p:par>
                    <p:cTn id="8" fill="hold">
                      <p:stCondLst>
                        <p:cond delay="0"/>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94"/>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73"/>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72"/>
                                        </p:tgtEl>
                                        <p:attrNameLst>
                                          <p:attrName>style.visibility</p:attrName>
                                        </p:attrNameLst>
                                      </p:cBhvr>
                                      <p:to>
                                        <p:strVal val="visible"/>
                                      </p:to>
                                    </p:set>
                                  </p:childTnLst>
                                </p:cTn>
                              </p:par>
                            </p:childTnLst>
                          </p:cTn>
                        </p:par>
                      </p:childTnLst>
                    </p:cTn>
                  </p:par>
                </p:childTnLst>
              </p:cTn>
              <p:nextCondLst>
                <p:cond evt="onClick" delay="0">
                  <p:tgtEl>
                    <p:spTgt spid="81"/>
                  </p:tgtEl>
                </p:cond>
              </p:nextCondLst>
            </p:seq>
          </p:childTnLst>
        </p:cTn>
      </p:par>
    </p:tnLst>
    <p:bldLst>
      <p:bldP spid="3" grpId="0"/>
      <p:bldP spid="94" grpId="0"/>
      <p:bldP spid="72" grpId="0"/>
    </p:bldLst>
  </p:timing>
  <p:extLst>
    <p:ext uri="{E180D4A7-C9FB-4DFB-919C-405C955672EB}">
      <p14:showEvtLst xmlns:p14="http://schemas.microsoft.com/office/powerpoint/2010/main">
        <p14:triggerEvt type="onClick" time="55928" objId="75"/>
        <p14:triggerEvt type="onClick" time="59552" objId="78"/>
        <p14:triggerEvt type="onClick" time="61370" objId="81"/>
      </p14:showEvtLst>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2" name="Cancer">
            <a:extLst>
              <a:ext uri="{FF2B5EF4-FFF2-40B4-BE49-F238E27FC236}">
                <a16:creationId xmlns:a16="http://schemas.microsoft.com/office/drawing/2014/main" id="{063D5FF2-E9EB-42F7-9BBD-DBC718304591}"/>
              </a:ext>
            </a:extLst>
          </p:cNvPr>
          <p:cNvGraphicFramePr/>
          <p:nvPr>
            <p:extLst>
              <p:ext uri="{D42A27DB-BD31-4B8C-83A1-F6EECF244321}">
                <p14:modId xmlns:p14="http://schemas.microsoft.com/office/powerpoint/2010/main" val="458416352"/>
              </p:ext>
            </p:extLst>
          </p:nvPr>
        </p:nvGraphicFramePr>
        <p:xfrm>
          <a:off x="2031999" y="1001604"/>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2" name="Group 1">
            <a:extLst>
              <a:ext uri="{FF2B5EF4-FFF2-40B4-BE49-F238E27FC236}">
                <a16:creationId xmlns:a16="http://schemas.microsoft.com/office/drawing/2014/main" id="{D562EB20-1DB4-482A-9929-E72C35CEA979}"/>
              </a:ext>
            </a:extLst>
          </p:cNvPr>
          <p:cNvGrpSpPr/>
          <p:nvPr/>
        </p:nvGrpSpPr>
        <p:grpSpPr>
          <a:xfrm>
            <a:off x="9531384" y="4091248"/>
            <a:ext cx="2404590" cy="2329023"/>
            <a:chOff x="4907482" y="2761937"/>
            <a:chExt cx="2437045" cy="2678895"/>
          </a:xfrm>
        </p:grpSpPr>
        <p:pic>
          <p:nvPicPr>
            <p:cNvPr id="33" name="Picture 32" descr="Qr code&#10;&#10;Description automatically generated">
              <a:extLst>
                <a:ext uri="{FF2B5EF4-FFF2-40B4-BE49-F238E27FC236}">
                  <a16:creationId xmlns:a16="http://schemas.microsoft.com/office/drawing/2014/main" id="{659A0D15-422C-4F46-9A15-4F552ABD37B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070200" y="3364763"/>
              <a:ext cx="2076069" cy="2076069"/>
            </a:xfrm>
            <a:prstGeom prst="rect">
              <a:avLst/>
            </a:prstGeom>
          </p:spPr>
        </p:pic>
        <p:sp>
          <p:nvSpPr>
            <p:cNvPr id="38" name="TextBox 37">
              <a:extLst>
                <a:ext uri="{FF2B5EF4-FFF2-40B4-BE49-F238E27FC236}">
                  <a16:creationId xmlns:a16="http://schemas.microsoft.com/office/drawing/2014/main" id="{F60E308C-82D8-4842-81EC-741A001A43F6}"/>
                </a:ext>
              </a:extLst>
            </p:cNvPr>
            <p:cNvSpPr txBox="1"/>
            <p:nvPr/>
          </p:nvSpPr>
          <p:spPr>
            <a:xfrm>
              <a:off x="4907482" y="2761937"/>
              <a:ext cx="2437045" cy="424814"/>
            </a:xfrm>
            <a:prstGeom prst="rect">
              <a:avLst/>
            </a:prstGeom>
            <a:noFill/>
          </p:spPr>
          <p:txBody>
            <a:bodyPr wrap="square" rtlCol="0">
              <a:spAutoFit/>
            </a:bodyPr>
            <a:lstStyle/>
            <a:p>
              <a:pPr algn="ctr"/>
              <a:r>
                <a:rPr lang="en-US" dirty="0"/>
                <a:t>Use the USPSTF Tool</a:t>
              </a:r>
            </a:p>
          </p:txBody>
        </p:sp>
      </p:grpSp>
      <p:sp>
        <p:nvSpPr>
          <p:cNvPr id="78" name="Question 2">
            <a:hlinkClick r:id="rId9" action="ppaction://hlinksldjump"/>
            <a:extLst>
              <a:ext uri="{FF2B5EF4-FFF2-40B4-BE49-F238E27FC236}">
                <a16:creationId xmlns:a16="http://schemas.microsoft.com/office/drawing/2014/main" id="{CCF52522-101F-4A08-A2CE-5E2F0C9C60C6}"/>
              </a:ext>
            </a:extLst>
          </p:cNvPr>
          <p:cNvSpPr txBox="1"/>
          <p:nvPr/>
        </p:nvSpPr>
        <p:spPr>
          <a:xfrm>
            <a:off x="250666" y="118378"/>
            <a:ext cx="2404590"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When to screen?</a:t>
            </a:r>
          </a:p>
        </p:txBody>
      </p:sp>
      <p:pic>
        <p:nvPicPr>
          <p:cNvPr id="79" name="Graphic 78" descr="Cursor with solid fill">
            <a:extLst>
              <a:ext uri="{FF2B5EF4-FFF2-40B4-BE49-F238E27FC236}">
                <a16:creationId xmlns:a16="http://schemas.microsoft.com/office/drawing/2014/main" id="{CC72C21D-5F3E-452D-8592-2C2C485F216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487009" y="365094"/>
            <a:ext cx="395274" cy="395274"/>
          </a:xfrm>
          <a:prstGeom prst="rect">
            <a:avLst/>
          </a:prstGeom>
        </p:spPr>
      </p:pic>
      <p:sp>
        <p:nvSpPr>
          <p:cNvPr id="81" name="Question 2">
            <a:extLst>
              <a:ext uri="{FF2B5EF4-FFF2-40B4-BE49-F238E27FC236}">
                <a16:creationId xmlns:a16="http://schemas.microsoft.com/office/drawing/2014/main" id="{6ED174AB-49C2-4B23-9083-D4D6AAE9ED1F}"/>
              </a:ext>
            </a:extLst>
          </p:cNvPr>
          <p:cNvSpPr txBox="1"/>
          <p:nvPr/>
        </p:nvSpPr>
        <p:spPr>
          <a:xfrm>
            <a:off x="250666" y="757570"/>
            <a:ext cx="2404590" cy="715089"/>
          </a:xfrm>
          <a:prstGeom prst="roundRect">
            <a:avLst/>
          </a:prstGeom>
          <a:ln/>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ctr"/>
            <a:r>
              <a:rPr lang="en-US" dirty="0">
                <a:solidFill>
                  <a:schemeClr val="bg1"/>
                </a:solidFill>
              </a:rPr>
              <a:t>5 domains of prevention/screening </a:t>
            </a:r>
          </a:p>
        </p:txBody>
      </p:sp>
      <p:sp>
        <p:nvSpPr>
          <p:cNvPr id="116" name="Prioritize screening">
            <a:extLst>
              <a:ext uri="{FF2B5EF4-FFF2-40B4-BE49-F238E27FC236}">
                <a16:creationId xmlns:a16="http://schemas.microsoft.com/office/drawing/2014/main" id="{5452F048-3851-49AD-973A-CF9FCCDE691E}"/>
              </a:ext>
            </a:extLst>
          </p:cNvPr>
          <p:cNvSpPr txBox="1"/>
          <p:nvPr/>
        </p:nvSpPr>
        <p:spPr>
          <a:xfrm>
            <a:off x="9706431" y="1478457"/>
            <a:ext cx="2168330" cy="1822192"/>
          </a:xfrm>
          <a:prstGeom prst="rect">
            <a:avLst/>
          </a:prstGeom>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b="1" dirty="0"/>
              <a:t>Prioritize Screening and Prevention Based On: </a:t>
            </a:r>
          </a:p>
          <a:p>
            <a:pPr marL="342900" indent="-342900" algn="ctr">
              <a:buFont typeface="+mj-lt"/>
              <a:buAutoNum type="arabicPeriod"/>
            </a:pPr>
            <a:r>
              <a:rPr lang="en-US" b="1" dirty="0">
                <a:solidFill>
                  <a:srgbClr val="FF0000"/>
                </a:solidFill>
              </a:rPr>
              <a:t>Age</a:t>
            </a:r>
          </a:p>
          <a:p>
            <a:pPr marL="342900" indent="-342900" algn="ctr">
              <a:buFont typeface="+mj-lt"/>
              <a:buAutoNum type="arabicPeriod"/>
            </a:pPr>
            <a:r>
              <a:rPr lang="en-US" b="1" dirty="0">
                <a:solidFill>
                  <a:srgbClr val="FF0000"/>
                </a:solidFill>
              </a:rPr>
              <a:t>Sex</a:t>
            </a:r>
          </a:p>
          <a:p>
            <a:pPr marL="342900" indent="-342900" algn="ctr">
              <a:buFont typeface="+mj-lt"/>
              <a:buAutoNum type="arabicPeriod"/>
            </a:pPr>
            <a:r>
              <a:rPr lang="en-US" b="1" dirty="0">
                <a:solidFill>
                  <a:srgbClr val="FF0000"/>
                </a:solidFill>
              </a:rPr>
              <a:t>Risk Factors</a:t>
            </a:r>
            <a:endParaRPr lang="en-US" dirty="0">
              <a:solidFill>
                <a:sysClr val="windowText" lastClr="000000"/>
              </a:solidFill>
            </a:endParaRPr>
          </a:p>
        </p:txBody>
      </p:sp>
      <p:sp>
        <p:nvSpPr>
          <p:cNvPr id="118" name="Cases">
            <a:hlinkClick r:id="rId12" action="ppaction://hlinksldjump"/>
            <a:extLst>
              <a:ext uri="{FF2B5EF4-FFF2-40B4-BE49-F238E27FC236}">
                <a16:creationId xmlns:a16="http://schemas.microsoft.com/office/drawing/2014/main" id="{C7C76EB7-22E7-4595-ABB0-CE21F1CD46CE}"/>
              </a:ext>
            </a:extLst>
          </p:cNvPr>
          <p:cNvSpPr txBox="1"/>
          <p:nvPr/>
        </p:nvSpPr>
        <p:spPr>
          <a:xfrm>
            <a:off x="307848" y="6121182"/>
            <a:ext cx="1910096"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CASES</a:t>
            </a:r>
          </a:p>
        </p:txBody>
      </p:sp>
      <p:pic>
        <p:nvPicPr>
          <p:cNvPr id="119" name="Graphic 118" descr="Cursor with solid fill">
            <a:hlinkClick r:id="rId12" action="ppaction://hlinksldjump"/>
            <a:extLst>
              <a:ext uri="{FF2B5EF4-FFF2-40B4-BE49-F238E27FC236}">
                <a16:creationId xmlns:a16="http://schemas.microsoft.com/office/drawing/2014/main" id="{EA19ABCE-73FC-4102-82FE-ADCFA9DC98B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995513" y="6332168"/>
            <a:ext cx="395274" cy="395274"/>
          </a:xfrm>
          <a:prstGeom prst="rect">
            <a:avLst/>
          </a:prstGeom>
        </p:spPr>
      </p:pic>
      <p:sp>
        <p:nvSpPr>
          <p:cNvPr id="37" name="Rectangle 36">
            <a:extLst>
              <a:ext uri="{FF2B5EF4-FFF2-40B4-BE49-F238E27FC236}">
                <a16:creationId xmlns:a16="http://schemas.microsoft.com/office/drawing/2014/main" id="{2FE1B08A-9514-4F4C-8B09-F4919F64EF5A}"/>
              </a:ext>
            </a:extLst>
          </p:cNvPr>
          <p:cNvSpPr/>
          <p:nvPr/>
        </p:nvSpPr>
        <p:spPr>
          <a:xfrm>
            <a:off x="2882283" y="191038"/>
            <a:ext cx="6427433" cy="63919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Adult Disease Prevention – Average Risk Patient</a:t>
            </a:r>
          </a:p>
        </p:txBody>
      </p:sp>
      <p:sp>
        <p:nvSpPr>
          <p:cNvPr id="39" name="Question 2">
            <a:extLst>
              <a:ext uri="{FF2B5EF4-FFF2-40B4-BE49-F238E27FC236}">
                <a16:creationId xmlns:a16="http://schemas.microsoft.com/office/drawing/2014/main" id="{CD63870F-9FA8-4E17-A018-274A382FD0FB}"/>
              </a:ext>
            </a:extLst>
          </p:cNvPr>
          <p:cNvSpPr txBox="1"/>
          <p:nvPr/>
        </p:nvSpPr>
        <p:spPr>
          <a:xfrm>
            <a:off x="4975713" y="3684684"/>
            <a:ext cx="2404590" cy="923330"/>
          </a:xfrm>
          <a:prstGeom prst="rect">
            <a:avLst/>
          </a:prstGeom>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1800" b="1" dirty="0"/>
              <a:t>ADULT DISEASE SCREENING &amp; PREVENTION</a:t>
            </a:r>
          </a:p>
        </p:txBody>
      </p:sp>
      <p:pic>
        <p:nvPicPr>
          <p:cNvPr id="40" name="Graphic 39" descr="Cursor with solid fill">
            <a:hlinkClick r:id="rId13" action="ppaction://hlinksldjump"/>
            <a:extLst>
              <a:ext uri="{FF2B5EF4-FFF2-40B4-BE49-F238E27FC236}">
                <a16:creationId xmlns:a16="http://schemas.microsoft.com/office/drawing/2014/main" id="{1BA188CE-ADD5-420D-A198-E2C8521CDBA7}"/>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773614" y="1900022"/>
            <a:ext cx="395274" cy="395274"/>
          </a:xfrm>
          <a:prstGeom prst="rect">
            <a:avLst/>
          </a:prstGeom>
        </p:spPr>
      </p:pic>
      <p:pic>
        <p:nvPicPr>
          <p:cNvPr id="41" name="Graphic 40" descr="Cursor with solid fill">
            <a:hlinkClick r:id="rId13" action="ppaction://hlinksldjump"/>
            <a:extLst>
              <a:ext uri="{FF2B5EF4-FFF2-40B4-BE49-F238E27FC236}">
                <a16:creationId xmlns:a16="http://schemas.microsoft.com/office/drawing/2014/main" id="{4AD11846-BCE6-4C7F-A568-016E59118A19}"/>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038303" y="3513300"/>
            <a:ext cx="395274" cy="395274"/>
          </a:xfrm>
          <a:prstGeom prst="rect">
            <a:avLst/>
          </a:prstGeom>
        </p:spPr>
      </p:pic>
      <p:sp>
        <p:nvSpPr>
          <p:cNvPr id="53" name="cancer screening text">
            <a:hlinkClick r:id="rId14" action="ppaction://hlinksldjump"/>
            <a:extLst>
              <a:ext uri="{FF2B5EF4-FFF2-40B4-BE49-F238E27FC236}">
                <a16:creationId xmlns:a16="http://schemas.microsoft.com/office/drawing/2014/main" id="{38088CCE-D082-4965-A88D-8AFC6B0D4742}"/>
              </a:ext>
            </a:extLst>
          </p:cNvPr>
          <p:cNvSpPr txBox="1"/>
          <p:nvPr/>
        </p:nvSpPr>
        <p:spPr>
          <a:xfrm>
            <a:off x="250666" y="1662473"/>
            <a:ext cx="1967278" cy="408623"/>
          </a:xfrm>
          <a:prstGeom prst="roundRect">
            <a:avLst/>
          </a:prstGeom>
          <a:ln w="38100">
            <a:solidFill>
              <a:schemeClr val="accent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Cancer Screening</a:t>
            </a:r>
          </a:p>
        </p:txBody>
      </p:sp>
      <p:sp>
        <p:nvSpPr>
          <p:cNvPr id="54" name="cancer screening text">
            <a:hlinkClick r:id="rId13" action="ppaction://hlinksldjump"/>
            <a:extLst>
              <a:ext uri="{FF2B5EF4-FFF2-40B4-BE49-F238E27FC236}">
                <a16:creationId xmlns:a16="http://schemas.microsoft.com/office/drawing/2014/main" id="{16D045A8-897E-4BCD-8B3F-77933EC53C86}"/>
              </a:ext>
            </a:extLst>
          </p:cNvPr>
          <p:cNvSpPr txBox="1"/>
          <p:nvPr/>
        </p:nvSpPr>
        <p:spPr>
          <a:xfrm>
            <a:off x="250665" y="2284943"/>
            <a:ext cx="1967278" cy="408623"/>
          </a:xfrm>
          <a:prstGeom prst="roundRect">
            <a:avLst/>
          </a:prstGeom>
          <a:ln w="38100">
            <a:solidFill>
              <a:schemeClr val="accent2"/>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Infectious Disease</a:t>
            </a:r>
          </a:p>
        </p:txBody>
      </p:sp>
      <p:pic>
        <p:nvPicPr>
          <p:cNvPr id="55" name="Graphic 54" descr="Cursor with solid fill">
            <a:extLst>
              <a:ext uri="{FF2B5EF4-FFF2-40B4-BE49-F238E27FC236}">
                <a16:creationId xmlns:a16="http://schemas.microsoft.com/office/drawing/2014/main" id="{B3DC1487-3D0F-48EF-85E8-59223D5A876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060407" y="2478014"/>
            <a:ext cx="395274" cy="395274"/>
          </a:xfrm>
          <a:prstGeom prst="rect">
            <a:avLst/>
          </a:prstGeom>
        </p:spPr>
      </p:pic>
      <p:pic>
        <p:nvPicPr>
          <p:cNvPr id="56" name="Graphic 55" descr="Cursor with solid fill">
            <a:extLst>
              <a:ext uri="{FF2B5EF4-FFF2-40B4-BE49-F238E27FC236}">
                <a16:creationId xmlns:a16="http://schemas.microsoft.com/office/drawing/2014/main" id="{F3172C82-AF2F-42CE-BA9B-5B01DD6B553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060407" y="1868595"/>
            <a:ext cx="395274" cy="395274"/>
          </a:xfrm>
          <a:prstGeom prst="rect">
            <a:avLst/>
          </a:prstGeom>
        </p:spPr>
      </p:pic>
      <p:sp>
        <p:nvSpPr>
          <p:cNvPr id="3" name="keep it straight button">
            <a:extLst>
              <a:ext uri="{FF2B5EF4-FFF2-40B4-BE49-F238E27FC236}">
                <a16:creationId xmlns:a16="http://schemas.microsoft.com/office/drawing/2014/main" id="{5CF5006B-E251-4DBF-BEE5-2C6FF41FE723}"/>
              </a:ext>
            </a:extLst>
          </p:cNvPr>
          <p:cNvSpPr/>
          <p:nvPr/>
        </p:nvSpPr>
        <p:spPr>
          <a:xfrm>
            <a:off x="9592598" y="3455412"/>
            <a:ext cx="2345539" cy="408623"/>
          </a:xfrm>
          <a:prstGeom prst="roundRect">
            <a:avLst/>
          </a:prstGeom>
          <a:solidFill>
            <a:schemeClr val="bg1"/>
          </a:solidFill>
          <a:ln w="28575">
            <a:solidFill>
              <a:schemeClr val="tx1"/>
            </a:solidFill>
          </a:ln>
          <a:effectLst>
            <a:outerShdw blurRad="50800" dist="38100" dir="2700000" algn="tl" rotWithShape="0">
              <a:prstClr val="black">
                <a:alpha val="40000"/>
              </a:prstClr>
            </a:outerShdw>
          </a:effectLst>
        </p:spPr>
        <p:txBody>
          <a:bodyPr wrap="none">
            <a:spAutoFit/>
          </a:bodyPr>
          <a:lstStyle/>
          <a:p>
            <a:r>
              <a:rPr lang="en-US" b="1" dirty="0"/>
              <a:t>Can’t keep it straight? </a:t>
            </a:r>
          </a:p>
        </p:txBody>
      </p:sp>
      <p:pic>
        <p:nvPicPr>
          <p:cNvPr id="21" name="Graphic 20" descr="Cursor with solid fill">
            <a:hlinkClick r:id="rId13" action="ppaction://hlinksldjump"/>
            <a:extLst>
              <a:ext uri="{FF2B5EF4-FFF2-40B4-BE49-F238E27FC236}">
                <a16:creationId xmlns:a16="http://schemas.microsoft.com/office/drawing/2014/main" id="{D353329B-4E37-49C7-B846-2007E8936637}"/>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1796726" y="3684684"/>
            <a:ext cx="395274" cy="395274"/>
          </a:xfrm>
          <a:prstGeom prst="rect">
            <a:avLst/>
          </a:prstGeom>
        </p:spPr>
      </p:pic>
    </p:spTree>
    <p:extLst>
      <p:ext uri="{BB962C8B-B14F-4D97-AF65-F5344CB8AC3E}">
        <p14:creationId xmlns:p14="http://schemas.microsoft.com/office/powerpoint/2010/main" val="222803439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3"/>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nextCondLst>
                <p:cond evt="onClick" delay="0">
                  <p:tgtEl>
                    <p:spTgt spid="3"/>
                  </p:tgtEl>
                </p:cond>
              </p:nextCondLst>
            </p:seq>
          </p:childTnLst>
        </p:cTn>
      </p:par>
    </p:tnLst>
  </p:timing>
  <p:extLst>
    <p:ext uri="{E180D4A7-C9FB-4DFB-919C-405C955672EB}">
      <p14:showEvtLst xmlns:p14="http://schemas.microsoft.com/office/powerpoint/2010/main">
        <p14:triggerEvt type="onClick" time="45148" objId="116"/>
      </p14:showEvtLst>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Rectangle 96">
            <a:extLst>
              <a:ext uri="{FF2B5EF4-FFF2-40B4-BE49-F238E27FC236}">
                <a16:creationId xmlns:a16="http://schemas.microsoft.com/office/drawing/2014/main" id="{60FD2C94-23AD-453C-A55F-38ABF773540E}"/>
              </a:ext>
            </a:extLst>
          </p:cNvPr>
          <p:cNvSpPr/>
          <p:nvPr/>
        </p:nvSpPr>
        <p:spPr>
          <a:xfrm>
            <a:off x="2902349" y="118378"/>
            <a:ext cx="6889263" cy="63919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Breast Cancer Screening</a:t>
            </a:r>
          </a:p>
        </p:txBody>
      </p:sp>
      <p:sp>
        <p:nvSpPr>
          <p:cNvPr id="98" name="cancer screening text">
            <a:extLst>
              <a:ext uri="{FF2B5EF4-FFF2-40B4-BE49-F238E27FC236}">
                <a16:creationId xmlns:a16="http://schemas.microsoft.com/office/drawing/2014/main" id="{9ECC0811-677B-4C06-9A05-086F177CD50A}"/>
              </a:ext>
            </a:extLst>
          </p:cNvPr>
          <p:cNvSpPr txBox="1"/>
          <p:nvPr/>
        </p:nvSpPr>
        <p:spPr>
          <a:xfrm>
            <a:off x="250666" y="1662473"/>
            <a:ext cx="1967278" cy="408623"/>
          </a:xfrm>
          <a:prstGeom prst="roundRect">
            <a:avLst/>
          </a:prstGeom>
          <a:solidFill>
            <a:schemeClr val="accent1"/>
          </a:solidFill>
          <a:ln w="38100">
            <a:solidFill>
              <a:schemeClr val="accent1"/>
            </a:solidFill>
          </a:ln>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bg1"/>
                </a:solidFill>
              </a:rPr>
              <a:t>Cancer Screening</a:t>
            </a:r>
          </a:p>
        </p:txBody>
      </p:sp>
      <p:sp>
        <p:nvSpPr>
          <p:cNvPr id="100" name="sub-q 1 button">
            <a:hlinkClick r:id="rId3" action="ppaction://hlinksldjump"/>
            <a:extLst>
              <a:ext uri="{FF2B5EF4-FFF2-40B4-BE49-F238E27FC236}">
                <a16:creationId xmlns:a16="http://schemas.microsoft.com/office/drawing/2014/main" id="{1136886D-D2D3-4E94-AF5E-F8296D0CC77C}"/>
              </a:ext>
            </a:extLst>
          </p:cNvPr>
          <p:cNvSpPr txBox="1"/>
          <p:nvPr/>
        </p:nvSpPr>
        <p:spPr>
          <a:xfrm>
            <a:off x="498239" y="2220595"/>
            <a:ext cx="1614098" cy="408623"/>
          </a:xfrm>
          <a:prstGeom prst="roundRect">
            <a:avLst/>
          </a:prstGeom>
          <a:solidFill>
            <a:schemeClr val="accent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bg1"/>
                </a:solidFill>
              </a:rPr>
              <a:t>Breast</a:t>
            </a:r>
          </a:p>
        </p:txBody>
      </p:sp>
      <p:sp>
        <p:nvSpPr>
          <p:cNvPr id="102" name="sub-q 2">
            <a:hlinkClick r:id="rId4" action="ppaction://hlinksldjump"/>
            <a:extLst>
              <a:ext uri="{FF2B5EF4-FFF2-40B4-BE49-F238E27FC236}">
                <a16:creationId xmlns:a16="http://schemas.microsoft.com/office/drawing/2014/main" id="{282418AB-781B-4F8A-B21E-B7950DDC1D8D}"/>
              </a:ext>
            </a:extLst>
          </p:cNvPr>
          <p:cNvSpPr txBox="1"/>
          <p:nvPr/>
        </p:nvSpPr>
        <p:spPr>
          <a:xfrm>
            <a:off x="498238" y="2771697"/>
            <a:ext cx="1608491"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Colon</a:t>
            </a:r>
          </a:p>
        </p:txBody>
      </p:sp>
      <p:grpSp>
        <p:nvGrpSpPr>
          <p:cNvPr id="104" name="sub-group arrows">
            <a:extLst>
              <a:ext uri="{FF2B5EF4-FFF2-40B4-BE49-F238E27FC236}">
                <a16:creationId xmlns:a16="http://schemas.microsoft.com/office/drawing/2014/main" id="{C022DF5B-D367-49E3-A4B3-8635B54D9F9A}"/>
              </a:ext>
            </a:extLst>
          </p:cNvPr>
          <p:cNvGrpSpPr/>
          <p:nvPr/>
        </p:nvGrpSpPr>
        <p:grpSpPr>
          <a:xfrm>
            <a:off x="325393" y="2072495"/>
            <a:ext cx="172846" cy="903514"/>
            <a:chOff x="325393" y="2072495"/>
            <a:chExt cx="172846" cy="903514"/>
          </a:xfrm>
        </p:grpSpPr>
        <p:cxnSp>
          <p:nvCxnSpPr>
            <p:cNvPr id="105" name="Connector: Elbow 104">
              <a:extLst>
                <a:ext uri="{FF2B5EF4-FFF2-40B4-BE49-F238E27FC236}">
                  <a16:creationId xmlns:a16="http://schemas.microsoft.com/office/drawing/2014/main" id="{7FE0C69F-2808-4909-84F5-B8C3E90937F4}"/>
                </a:ext>
              </a:extLst>
            </p:cNvPr>
            <p:cNvCxnSpPr>
              <a:cxnSpLocks/>
              <a:endCxn id="100" idx="1"/>
            </p:cNvCxnSpPr>
            <p:nvPr/>
          </p:nvCxnSpPr>
          <p:spPr>
            <a:xfrm rot="16200000" flipH="1">
              <a:off x="235610" y="2162278"/>
              <a:ext cx="352412" cy="172846"/>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106" name="Connector: Elbow 105">
              <a:extLst>
                <a:ext uri="{FF2B5EF4-FFF2-40B4-BE49-F238E27FC236}">
                  <a16:creationId xmlns:a16="http://schemas.microsoft.com/office/drawing/2014/main" id="{3AD695DD-9EAA-4BBD-88D3-F25597066B2C}"/>
                </a:ext>
              </a:extLst>
            </p:cNvPr>
            <p:cNvCxnSpPr>
              <a:cxnSpLocks/>
              <a:endCxn id="102" idx="1"/>
            </p:cNvCxnSpPr>
            <p:nvPr/>
          </p:nvCxnSpPr>
          <p:spPr>
            <a:xfrm rot="16200000" flipH="1">
              <a:off x="-35902" y="2441869"/>
              <a:ext cx="895436" cy="172844"/>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grpSp>
      <p:grpSp>
        <p:nvGrpSpPr>
          <p:cNvPr id="107" name="sub-group arrows">
            <a:extLst>
              <a:ext uri="{FF2B5EF4-FFF2-40B4-BE49-F238E27FC236}">
                <a16:creationId xmlns:a16="http://schemas.microsoft.com/office/drawing/2014/main" id="{71F7B2B2-6A70-412C-A452-BAC8E0192B1A}"/>
              </a:ext>
            </a:extLst>
          </p:cNvPr>
          <p:cNvGrpSpPr/>
          <p:nvPr/>
        </p:nvGrpSpPr>
        <p:grpSpPr>
          <a:xfrm>
            <a:off x="325394" y="3169916"/>
            <a:ext cx="172844" cy="904913"/>
            <a:chOff x="479213" y="1473534"/>
            <a:chExt cx="172844" cy="904913"/>
          </a:xfrm>
        </p:grpSpPr>
        <p:cxnSp>
          <p:nvCxnSpPr>
            <p:cNvPr id="108" name="Connector: Elbow 107">
              <a:extLst>
                <a:ext uri="{FF2B5EF4-FFF2-40B4-BE49-F238E27FC236}">
                  <a16:creationId xmlns:a16="http://schemas.microsoft.com/office/drawing/2014/main" id="{1B0149C1-77F1-4DD5-8376-5FE4E26EF408}"/>
                </a:ext>
              </a:extLst>
            </p:cNvPr>
            <p:cNvCxnSpPr>
              <a:cxnSpLocks/>
            </p:cNvCxnSpPr>
            <p:nvPr/>
          </p:nvCxnSpPr>
          <p:spPr>
            <a:xfrm rot="16200000" flipH="1">
              <a:off x="389429" y="1563318"/>
              <a:ext cx="352412" cy="172843"/>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109" name="Connector: Elbow 108">
              <a:extLst>
                <a:ext uri="{FF2B5EF4-FFF2-40B4-BE49-F238E27FC236}">
                  <a16:creationId xmlns:a16="http://schemas.microsoft.com/office/drawing/2014/main" id="{8F262EC8-3528-4103-B7D4-36F10F56B6B0}"/>
                </a:ext>
              </a:extLst>
            </p:cNvPr>
            <p:cNvCxnSpPr>
              <a:cxnSpLocks/>
            </p:cNvCxnSpPr>
            <p:nvPr/>
          </p:nvCxnSpPr>
          <p:spPr>
            <a:xfrm rot="16200000" flipH="1">
              <a:off x="117918" y="1844308"/>
              <a:ext cx="895435" cy="172843"/>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grpSp>
      <p:sp>
        <p:nvSpPr>
          <p:cNvPr id="110" name="sub-q 2">
            <a:hlinkClick r:id="rId5" action="ppaction://hlinksldjump"/>
            <a:extLst>
              <a:ext uri="{FF2B5EF4-FFF2-40B4-BE49-F238E27FC236}">
                <a16:creationId xmlns:a16="http://schemas.microsoft.com/office/drawing/2014/main" id="{E5B8EC3E-2FE4-4B6E-94F7-1A413E77D069}"/>
              </a:ext>
            </a:extLst>
          </p:cNvPr>
          <p:cNvSpPr txBox="1"/>
          <p:nvPr/>
        </p:nvSpPr>
        <p:spPr>
          <a:xfrm>
            <a:off x="504771" y="3324199"/>
            <a:ext cx="1608491"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Cervical</a:t>
            </a:r>
          </a:p>
        </p:txBody>
      </p:sp>
      <p:cxnSp>
        <p:nvCxnSpPr>
          <p:cNvPr id="112" name="Straight Connector 111">
            <a:extLst>
              <a:ext uri="{FF2B5EF4-FFF2-40B4-BE49-F238E27FC236}">
                <a16:creationId xmlns:a16="http://schemas.microsoft.com/office/drawing/2014/main" id="{D96ED0B0-F461-4CE0-93BC-E857256CC465}"/>
              </a:ext>
            </a:extLst>
          </p:cNvPr>
          <p:cNvCxnSpPr/>
          <p:nvPr/>
        </p:nvCxnSpPr>
        <p:spPr>
          <a:xfrm>
            <a:off x="325394" y="2976008"/>
            <a:ext cx="0" cy="34819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3" name="sub-group arrows">
            <a:extLst>
              <a:ext uri="{FF2B5EF4-FFF2-40B4-BE49-F238E27FC236}">
                <a16:creationId xmlns:a16="http://schemas.microsoft.com/office/drawing/2014/main" id="{8AA2B209-5C9B-4ABA-AD44-1BB9FFC388C8}"/>
              </a:ext>
            </a:extLst>
          </p:cNvPr>
          <p:cNvGrpSpPr/>
          <p:nvPr/>
        </p:nvGrpSpPr>
        <p:grpSpPr>
          <a:xfrm>
            <a:off x="325213" y="3735583"/>
            <a:ext cx="172844" cy="904913"/>
            <a:chOff x="479213" y="1473534"/>
            <a:chExt cx="172844" cy="904913"/>
          </a:xfrm>
        </p:grpSpPr>
        <p:cxnSp>
          <p:nvCxnSpPr>
            <p:cNvPr id="114" name="Connector: Elbow 113">
              <a:extLst>
                <a:ext uri="{FF2B5EF4-FFF2-40B4-BE49-F238E27FC236}">
                  <a16:creationId xmlns:a16="http://schemas.microsoft.com/office/drawing/2014/main" id="{3F2212A7-817C-4C37-9289-4470ECCD973D}"/>
                </a:ext>
              </a:extLst>
            </p:cNvPr>
            <p:cNvCxnSpPr>
              <a:cxnSpLocks/>
            </p:cNvCxnSpPr>
            <p:nvPr/>
          </p:nvCxnSpPr>
          <p:spPr>
            <a:xfrm rot="16200000" flipH="1">
              <a:off x="389429" y="1563318"/>
              <a:ext cx="352412" cy="172843"/>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115" name="Connector: Elbow 114">
              <a:extLst>
                <a:ext uri="{FF2B5EF4-FFF2-40B4-BE49-F238E27FC236}">
                  <a16:creationId xmlns:a16="http://schemas.microsoft.com/office/drawing/2014/main" id="{6CB6C2D1-D720-43A7-BC5C-66281ED4FAAC}"/>
                </a:ext>
              </a:extLst>
            </p:cNvPr>
            <p:cNvCxnSpPr>
              <a:cxnSpLocks/>
            </p:cNvCxnSpPr>
            <p:nvPr/>
          </p:nvCxnSpPr>
          <p:spPr>
            <a:xfrm rot="16200000" flipH="1">
              <a:off x="117918" y="1844308"/>
              <a:ext cx="895435" cy="172843"/>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grpSp>
      <p:cxnSp>
        <p:nvCxnSpPr>
          <p:cNvPr id="116" name="Straight Connector 115">
            <a:extLst>
              <a:ext uri="{FF2B5EF4-FFF2-40B4-BE49-F238E27FC236}">
                <a16:creationId xmlns:a16="http://schemas.microsoft.com/office/drawing/2014/main" id="{3AD7F41E-1873-476A-83B0-49CEEE94023B}"/>
              </a:ext>
            </a:extLst>
          </p:cNvPr>
          <p:cNvCxnSpPr/>
          <p:nvPr/>
        </p:nvCxnSpPr>
        <p:spPr>
          <a:xfrm>
            <a:off x="325394" y="4070143"/>
            <a:ext cx="0" cy="34819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7" name="sub-q 2">
            <a:hlinkClick r:id="rId6" action="ppaction://hlinksldjump"/>
            <a:extLst>
              <a:ext uri="{FF2B5EF4-FFF2-40B4-BE49-F238E27FC236}">
                <a16:creationId xmlns:a16="http://schemas.microsoft.com/office/drawing/2014/main" id="{6E4D1D00-BCE5-4EEE-84FF-8FC0997515D3}"/>
              </a:ext>
            </a:extLst>
          </p:cNvPr>
          <p:cNvSpPr txBox="1"/>
          <p:nvPr/>
        </p:nvSpPr>
        <p:spPr>
          <a:xfrm>
            <a:off x="504771" y="3905327"/>
            <a:ext cx="1608491"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Lung</a:t>
            </a:r>
          </a:p>
        </p:txBody>
      </p:sp>
      <p:sp>
        <p:nvSpPr>
          <p:cNvPr id="119" name="sub-q 2">
            <a:hlinkClick r:id="rId6" action="ppaction://hlinksldjump"/>
            <a:extLst>
              <a:ext uri="{FF2B5EF4-FFF2-40B4-BE49-F238E27FC236}">
                <a16:creationId xmlns:a16="http://schemas.microsoft.com/office/drawing/2014/main" id="{382F7AEA-F32D-496E-81BD-F9A8D0B51B8E}"/>
              </a:ext>
            </a:extLst>
          </p:cNvPr>
          <p:cNvSpPr txBox="1"/>
          <p:nvPr/>
        </p:nvSpPr>
        <p:spPr>
          <a:xfrm>
            <a:off x="504771" y="4474545"/>
            <a:ext cx="1608491"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Prostate</a:t>
            </a:r>
          </a:p>
        </p:txBody>
      </p:sp>
      <p:sp>
        <p:nvSpPr>
          <p:cNvPr id="121" name="Rectangle: Rounded Corners 120">
            <a:extLst>
              <a:ext uri="{FF2B5EF4-FFF2-40B4-BE49-F238E27FC236}">
                <a16:creationId xmlns:a16="http://schemas.microsoft.com/office/drawing/2014/main" id="{C99F06D1-A87E-4CB3-A4ED-4F03EF3C50BA}"/>
              </a:ext>
            </a:extLst>
          </p:cNvPr>
          <p:cNvSpPr/>
          <p:nvPr/>
        </p:nvSpPr>
        <p:spPr>
          <a:xfrm>
            <a:off x="3140359" y="1183085"/>
            <a:ext cx="2531092" cy="629768"/>
          </a:xfrm>
          <a:prstGeom prst="roundRect">
            <a:avLst/>
          </a:prstGeom>
          <a:ln w="38100">
            <a:solidFill>
              <a:schemeClr val="accent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Population?</a:t>
            </a:r>
          </a:p>
        </p:txBody>
      </p:sp>
      <p:sp>
        <p:nvSpPr>
          <p:cNvPr id="122" name="Interval">
            <a:extLst>
              <a:ext uri="{FF2B5EF4-FFF2-40B4-BE49-F238E27FC236}">
                <a16:creationId xmlns:a16="http://schemas.microsoft.com/office/drawing/2014/main" id="{AA5500C0-A28E-4C0E-9A2C-4738B3A5C521}"/>
              </a:ext>
            </a:extLst>
          </p:cNvPr>
          <p:cNvSpPr/>
          <p:nvPr/>
        </p:nvSpPr>
        <p:spPr>
          <a:xfrm>
            <a:off x="6142445" y="1174751"/>
            <a:ext cx="2753832" cy="639192"/>
          </a:xfrm>
          <a:prstGeom prst="roundRect">
            <a:avLst/>
          </a:prstGeom>
          <a:ln w="38100">
            <a:solidFill>
              <a:schemeClr val="accent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Modality and Interval?</a:t>
            </a:r>
          </a:p>
        </p:txBody>
      </p:sp>
      <p:sp>
        <p:nvSpPr>
          <p:cNvPr id="123" name="Discontinuation">
            <a:extLst>
              <a:ext uri="{FF2B5EF4-FFF2-40B4-BE49-F238E27FC236}">
                <a16:creationId xmlns:a16="http://schemas.microsoft.com/office/drawing/2014/main" id="{9764FED7-14C9-4958-9BC5-8C9606B04315}"/>
              </a:ext>
            </a:extLst>
          </p:cNvPr>
          <p:cNvSpPr/>
          <p:nvPr/>
        </p:nvSpPr>
        <p:spPr>
          <a:xfrm>
            <a:off x="9469285" y="1179416"/>
            <a:ext cx="2171371" cy="639192"/>
          </a:xfrm>
          <a:prstGeom prst="roundRect">
            <a:avLst/>
          </a:prstGeom>
          <a:ln w="38100">
            <a:solidFill>
              <a:schemeClr val="accent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Discontinuation?</a:t>
            </a:r>
          </a:p>
        </p:txBody>
      </p:sp>
      <p:pic>
        <p:nvPicPr>
          <p:cNvPr id="124" name="Graphic 123" descr="Cursor with solid fill">
            <a:extLst>
              <a:ext uri="{FF2B5EF4-FFF2-40B4-BE49-F238E27FC236}">
                <a16:creationId xmlns:a16="http://schemas.microsoft.com/office/drawing/2014/main" id="{AEED258D-0461-4023-BD78-16CE936F8E7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458928" y="1577389"/>
            <a:ext cx="395274" cy="395274"/>
          </a:xfrm>
          <a:prstGeom prst="rect">
            <a:avLst/>
          </a:prstGeom>
        </p:spPr>
      </p:pic>
      <p:pic>
        <p:nvPicPr>
          <p:cNvPr id="125" name="Graphic 124" descr="Cursor with solid fill">
            <a:extLst>
              <a:ext uri="{FF2B5EF4-FFF2-40B4-BE49-F238E27FC236}">
                <a16:creationId xmlns:a16="http://schemas.microsoft.com/office/drawing/2014/main" id="{5E3F3D47-0492-4537-B1F8-4074F3EF48C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698640" y="1589771"/>
            <a:ext cx="395274" cy="395274"/>
          </a:xfrm>
          <a:prstGeom prst="rect">
            <a:avLst/>
          </a:prstGeom>
        </p:spPr>
      </p:pic>
      <p:pic>
        <p:nvPicPr>
          <p:cNvPr id="126" name="Graphic 125" descr="Cursor with solid fill">
            <a:extLst>
              <a:ext uri="{FF2B5EF4-FFF2-40B4-BE49-F238E27FC236}">
                <a16:creationId xmlns:a16="http://schemas.microsoft.com/office/drawing/2014/main" id="{084C6D4E-B543-4114-A3AE-8363191AFBC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1426311" y="1575265"/>
            <a:ext cx="395274" cy="395274"/>
          </a:xfrm>
          <a:prstGeom prst="rect">
            <a:avLst/>
          </a:prstGeom>
        </p:spPr>
      </p:pic>
      <p:sp>
        <p:nvSpPr>
          <p:cNvPr id="127" name="TextBox 126">
            <a:extLst>
              <a:ext uri="{FF2B5EF4-FFF2-40B4-BE49-F238E27FC236}">
                <a16:creationId xmlns:a16="http://schemas.microsoft.com/office/drawing/2014/main" id="{8C9C447A-908F-486E-9702-DDCF08510D13}"/>
              </a:ext>
            </a:extLst>
          </p:cNvPr>
          <p:cNvSpPr txBox="1"/>
          <p:nvPr/>
        </p:nvSpPr>
        <p:spPr>
          <a:xfrm>
            <a:off x="2850955" y="1979565"/>
            <a:ext cx="3279911" cy="646331"/>
          </a:xfrm>
          <a:prstGeom prst="rect">
            <a:avLst/>
          </a:prstGeom>
          <a:noFill/>
        </p:spPr>
        <p:txBody>
          <a:bodyPr wrap="square" rtlCol="0">
            <a:spAutoFit/>
          </a:bodyPr>
          <a:lstStyle/>
          <a:p>
            <a:pPr rtl="0" fontAlgn="base"/>
            <a:r>
              <a:rPr lang="en-US" sz="1800" b="0" dirty="0">
                <a:solidFill>
                  <a:srgbClr val="000000"/>
                </a:solidFill>
                <a:effectLst/>
              </a:rPr>
              <a:t>All average-risk females ages 40-74 (Grade B)</a:t>
            </a:r>
          </a:p>
        </p:txBody>
      </p:sp>
      <p:sp>
        <p:nvSpPr>
          <p:cNvPr id="128" name="TextBox 127">
            <a:extLst>
              <a:ext uri="{FF2B5EF4-FFF2-40B4-BE49-F238E27FC236}">
                <a16:creationId xmlns:a16="http://schemas.microsoft.com/office/drawing/2014/main" id="{875C0120-ADC1-4239-8E11-CADB13CAB358}"/>
              </a:ext>
            </a:extLst>
          </p:cNvPr>
          <p:cNvSpPr txBox="1"/>
          <p:nvPr/>
        </p:nvSpPr>
        <p:spPr>
          <a:xfrm>
            <a:off x="6130866" y="1991947"/>
            <a:ext cx="2765411" cy="369332"/>
          </a:xfrm>
          <a:prstGeom prst="rect">
            <a:avLst/>
          </a:prstGeom>
          <a:noFill/>
        </p:spPr>
        <p:txBody>
          <a:bodyPr wrap="square" rtlCol="0">
            <a:spAutoFit/>
          </a:bodyPr>
          <a:lstStyle/>
          <a:p>
            <a:pPr algn="ctr" fontAlgn="base"/>
            <a:r>
              <a:rPr lang="en-US" sz="1800" b="0" dirty="0">
                <a:solidFill>
                  <a:srgbClr val="000000"/>
                </a:solidFill>
                <a:effectLst/>
              </a:rPr>
              <a:t>Mammogram every 2y​</a:t>
            </a:r>
            <a:endParaRPr lang="en-US" sz="1800" b="0" i="0" dirty="0">
              <a:solidFill>
                <a:srgbClr val="000000"/>
              </a:solidFill>
              <a:effectLst/>
            </a:endParaRPr>
          </a:p>
        </p:txBody>
      </p:sp>
      <p:sp>
        <p:nvSpPr>
          <p:cNvPr id="129" name="TextBox 128">
            <a:extLst>
              <a:ext uri="{FF2B5EF4-FFF2-40B4-BE49-F238E27FC236}">
                <a16:creationId xmlns:a16="http://schemas.microsoft.com/office/drawing/2014/main" id="{C618AD95-617B-4D80-B208-3AB6A8AD1681}"/>
              </a:ext>
            </a:extLst>
          </p:cNvPr>
          <p:cNvSpPr txBox="1"/>
          <p:nvPr/>
        </p:nvSpPr>
        <p:spPr>
          <a:xfrm>
            <a:off x="9077206" y="1970539"/>
            <a:ext cx="2789400" cy="923330"/>
          </a:xfrm>
          <a:prstGeom prst="rect">
            <a:avLst/>
          </a:prstGeom>
          <a:noFill/>
        </p:spPr>
        <p:txBody>
          <a:bodyPr wrap="square" rtlCol="0">
            <a:spAutoFit/>
          </a:bodyPr>
          <a:lstStyle/>
          <a:p>
            <a:pPr algn="ctr" fontAlgn="base"/>
            <a:r>
              <a:rPr lang="en-US" sz="1800" b="0" dirty="0">
                <a:solidFill>
                  <a:srgbClr val="000000"/>
                </a:solidFill>
                <a:effectLst/>
              </a:rPr>
              <a:t>If life expectancy is &lt;10y </a:t>
            </a:r>
          </a:p>
          <a:p>
            <a:pPr algn="ctr" fontAlgn="base"/>
            <a:r>
              <a:rPr lang="en-US" dirty="0">
                <a:solidFill>
                  <a:srgbClr val="000000"/>
                </a:solidFill>
              </a:rPr>
              <a:t>OR</a:t>
            </a:r>
          </a:p>
          <a:p>
            <a:pPr algn="ctr" fontAlgn="base"/>
            <a:r>
              <a:rPr lang="en-US" sz="1800" b="0" dirty="0">
                <a:solidFill>
                  <a:srgbClr val="000000"/>
                </a:solidFill>
                <a:effectLst/>
              </a:rPr>
              <a:t>&gt;74</a:t>
            </a:r>
            <a:endParaRPr lang="en-US" sz="1800" b="0" i="0" dirty="0">
              <a:solidFill>
                <a:srgbClr val="000000"/>
              </a:solidFill>
              <a:effectLst/>
            </a:endParaRPr>
          </a:p>
        </p:txBody>
      </p:sp>
      <p:grpSp>
        <p:nvGrpSpPr>
          <p:cNvPr id="130" name="Cases button">
            <a:extLst>
              <a:ext uri="{FF2B5EF4-FFF2-40B4-BE49-F238E27FC236}">
                <a16:creationId xmlns:a16="http://schemas.microsoft.com/office/drawing/2014/main" id="{A01D1F49-3BB8-493C-839D-702AFE61B2A2}"/>
              </a:ext>
            </a:extLst>
          </p:cNvPr>
          <p:cNvGrpSpPr/>
          <p:nvPr/>
        </p:nvGrpSpPr>
        <p:grpSpPr>
          <a:xfrm>
            <a:off x="307848" y="6121182"/>
            <a:ext cx="2082939" cy="606260"/>
            <a:chOff x="207505" y="5523621"/>
            <a:chExt cx="2082939" cy="606260"/>
          </a:xfrm>
        </p:grpSpPr>
        <p:sp>
          <p:nvSpPr>
            <p:cNvPr id="131" name="Cases">
              <a:hlinkClick r:id="rId9" action="ppaction://hlinksldjump"/>
              <a:extLst>
                <a:ext uri="{FF2B5EF4-FFF2-40B4-BE49-F238E27FC236}">
                  <a16:creationId xmlns:a16="http://schemas.microsoft.com/office/drawing/2014/main" id="{9FDE6818-2E06-42F5-A5BD-0248B89DA2AD}"/>
                </a:ext>
              </a:extLst>
            </p:cNvPr>
            <p:cNvSpPr txBox="1"/>
            <p:nvPr/>
          </p:nvSpPr>
          <p:spPr>
            <a:xfrm>
              <a:off x="207505" y="5523621"/>
              <a:ext cx="1910096"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CASES</a:t>
              </a:r>
            </a:p>
          </p:txBody>
        </p:sp>
        <p:pic>
          <p:nvPicPr>
            <p:cNvPr id="132" name="Graphic 131" descr="Cursor with solid fill">
              <a:hlinkClick r:id="rId9" action="ppaction://hlinksldjump"/>
              <a:extLst>
                <a:ext uri="{FF2B5EF4-FFF2-40B4-BE49-F238E27FC236}">
                  <a16:creationId xmlns:a16="http://schemas.microsoft.com/office/drawing/2014/main" id="{DE769F3A-D886-4C47-BD41-97359F0A927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895170" y="5734607"/>
              <a:ext cx="395274" cy="395274"/>
            </a:xfrm>
            <a:prstGeom prst="rect">
              <a:avLst/>
            </a:prstGeom>
          </p:spPr>
        </p:pic>
      </p:grpSp>
      <p:grpSp>
        <p:nvGrpSpPr>
          <p:cNvPr id="7" name="Group 6">
            <a:extLst>
              <a:ext uri="{FF2B5EF4-FFF2-40B4-BE49-F238E27FC236}">
                <a16:creationId xmlns:a16="http://schemas.microsoft.com/office/drawing/2014/main" id="{DDFD811C-3DE6-4176-AC54-D156D68BBC17}"/>
              </a:ext>
            </a:extLst>
          </p:cNvPr>
          <p:cNvGrpSpPr/>
          <p:nvPr/>
        </p:nvGrpSpPr>
        <p:grpSpPr>
          <a:xfrm>
            <a:off x="2737307" y="5249771"/>
            <a:ext cx="8884593" cy="946852"/>
            <a:chOff x="2737307" y="4931856"/>
            <a:chExt cx="8884593" cy="1264767"/>
          </a:xfrm>
        </p:grpSpPr>
        <p:sp>
          <p:nvSpPr>
            <p:cNvPr id="3" name="Arrow: Right 2">
              <a:extLst>
                <a:ext uri="{FF2B5EF4-FFF2-40B4-BE49-F238E27FC236}">
                  <a16:creationId xmlns:a16="http://schemas.microsoft.com/office/drawing/2014/main" id="{41A6F901-4BC8-4295-B7FF-4B61D3BF5537}"/>
                </a:ext>
              </a:extLst>
            </p:cNvPr>
            <p:cNvSpPr/>
            <p:nvPr/>
          </p:nvSpPr>
          <p:spPr>
            <a:xfrm>
              <a:off x="2959778" y="4931856"/>
              <a:ext cx="8662122" cy="895435"/>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Connector 4">
              <a:extLst>
                <a:ext uri="{FF2B5EF4-FFF2-40B4-BE49-F238E27FC236}">
                  <a16:creationId xmlns:a16="http://schemas.microsoft.com/office/drawing/2014/main" id="{915035F1-61E2-4602-B30B-125CE99FC67F}"/>
                </a:ext>
              </a:extLst>
            </p:cNvPr>
            <p:cNvCxnSpPr/>
            <p:nvPr/>
          </p:nvCxnSpPr>
          <p:spPr>
            <a:xfrm>
              <a:off x="2959778" y="5034892"/>
              <a:ext cx="0" cy="79239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22F5A0-2B1D-4C7C-9CCA-18C54F0FBC94}"/>
                </a:ext>
              </a:extLst>
            </p:cNvPr>
            <p:cNvSpPr txBox="1"/>
            <p:nvPr/>
          </p:nvSpPr>
          <p:spPr>
            <a:xfrm>
              <a:off x="2737307" y="5827291"/>
              <a:ext cx="505609" cy="369332"/>
            </a:xfrm>
            <a:prstGeom prst="rect">
              <a:avLst/>
            </a:prstGeom>
            <a:noFill/>
          </p:spPr>
          <p:txBody>
            <a:bodyPr wrap="square" rtlCol="0">
              <a:spAutoFit/>
            </a:bodyPr>
            <a:lstStyle/>
            <a:p>
              <a:r>
                <a:rPr lang="en-US" dirty="0"/>
                <a:t>20</a:t>
              </a:r>
            </a:p>
          </p:txBody>
        </p:sp>
        <p:cxnSp>
          <p:nvCxnSpPr>
            <p:cNvPr id="46" name="Straight Connector 45">
              <a:extLst>
                <a:ext uri="{FF2B5EF4-FFF2-40B4-BE49-F238E27FC236}">
                  <a16:creationId xmlns:a16="http://schemas.microsoft.com/office/drawing/2014/main" id="{D1F0FE33-62DB-467C-86CE-58590998496C}"/>
                </a:ext>
              </a:extLst>
            </p:cNvPr>
            <p:cNvCxnSpPr/>
            <p:nvPr/>
          </p:nvCxnSpPr>
          <p:spPr>
            <a:xfrm>
              <a:off x="3929759" y="5034892"/>
              <a:ext cx="0" cy="79239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D90061DB-B899-40D2-8A3D-848F01ED707B}"/>
                </a:ext>
              </a:extLst>
            </p:cNvPr>
            <p:cNvSpPr txBox="1"/>
            <p:nvPr/>
          </p:nvSpPr>
          <p:spPr>
            <a:xfrm>
              <a:off x="3676954" y="5827291"/>
              <a:ext cx="505609" cy="369332"/>
            </a:xfrm>
            <a:prstGeom prst="rect">
              <a:avLst/>
            </a:prstGeom>
            <a:noFill/>
          </p:spPr>
          <p:txBody>
            <a:bodyPr wrap="square" rtlCol="0">
              <a:spAutoFit/>
            </a:bodyPr>
            <a:lstStyle/>
            <a:p>
              <a:pPr algn="ctr"/>
              <a:r>
                <a:rPr lang="en-US" dirty="0"/>
                <a:t>30</a:t>
              </a:r>
            </a:p>
          </p:txBody>
        </p:sp>
        <p:cxnSp>
          <p:nvCxnSpPr>
            <p:cNvPr id="49" name="Straight Connector 48">
              <a:extLst>
                <a:ext uri="{FF2B5EF4-FFF2-40B4-BE49-F238E27FC236}">
                  <a16:creationId xmlns:a16="http://schemas.microsoft.com/office/drawing/2014/main" id="{6CDD4384-9D5D-4EFD-9A81-83357E40BF6E}"/>
                </a:ext>
              </a:extLst>
            </p:cNvPr>
            <p:cNvCxnSpPr/>
            <p:nvPr/>
          </p:nvCxnSpPr>
          <p:spPr>
            <a:xfrm>
              <a:off x="4869406" y="5027506"/>
              <a:ext cx="0" cy="79239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AFD2D9A7-2805-42EA-B19C-F37B671D8F33}"/>
                </a:ext>
              </a:extLst>
            </p:cNvPr>
            <p:cNvSpPr txBox="1"/>
            <p:nvPr/>
          </p:nvSpPr>
          <p:spPr>
            <a:xfrm>
              <a:off x="4616601" y="5819905"/>
              <a:ext cx="505609" cy="369332"/>
            </a:xfrm>
            <a:prstGeom prst="rect">
              <a:avLst/>
            </a:prstGeom>
            <a:noFill/>
          </p:spPr>
          <p:txBody>
            <a:bodyPr wrap="square" rtlCol="0">
              <a:spAutoFit/>
            </a:bodyPr>
            <a:lstStyle/>
            <a:p>
              <a:pPr algn="ctr"/>
              <a:r>
                <a:rPr lang="en-US" dirty="0"/>
                <a:t>40</a:t>
              </a:r>
            </a:p>
          </p:txBody>
        </p:sp>
        <p:cxnSp>
          <p:nvCxnSpPr>
            <p:cNvPr id="51" name="Straight Connector 50">
              <a:extLst>
                <a:ext uri="{FF2B5EF4-FFF2-40B4-BE49-F238E27FC236}">
                  <a16:creationId xmlns:a16="http://schemas.microsoft.com/office/drawing/2014/main" id="{8FC30DF2-4A51-475E-BFA4-A40FB00E0A78}"/>
                </a:ext>
              </a:extLst>
            </p:cNvPr>
            <p:cNvCxnSpPr/>
            <p:nvPr/>
          </p:nvCxnSpPr>
          <p:spPr>
            <a:xfrm>
              <a:off x="6500481" y="5023131"/>
              <a:ext cx="0" cy="79239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B6C5A8CE-A759-4F68-B69D-E0AEC7FCB2D0}"/>
                </a:ext>
              </a:extLst>
            </p:cNvPr>
            <p:cNvSpPr txBox="1"/>
            <p:nvPr/>
          </p:nvSpPr>
          <p:spPr>
            <a:xfrm>
              <a:off x="6247676" y="5815530"/>
              <a:ext cx="505609" cy="369332"/>
            </a:xfrm>
            <a:prstGeom prst="rect">
              <a:avLst/>
            </a:prstGeom>
            <a:noFill/>
          </p:spPr>
          <p:txBody>
            <a:bodyPr wrap="square" rtlCol="0">
              <a:spAutoFit/>
            </a:bodyPr>
            <a:lstStyle/>
            <a:p>
              <a:pPr algn="ctr"/>
              <a:r>
                <a:rPr lang="en-US" dirty="0"/>
                <a:t>50</a:t>
              </a:r>
            </a:p>
          </p:txBody>
        </p:sp>
        <p:cxnSp>
          <p:nvCxnSpPr>
            <p:cNvPr id="53" name="Straight Connector 52">
              <a:extLst>
                <a:ext uri="{FF2B5EF4-FFF2-40B4-BE49-F238E27FC236}">
                  <a16:creationId xmlns:a16="http://schemas.microsoft.com/office/drawing/2014/main" id="{FF434A53-AA6B-4213-AAA2-28055EBB4534}"/>
                </a:ext>
              </a:extLst>
            </p:cNvPr>
            <p:cNvCxnSpPr/>
            <p:nvPr/>
          </p:nvCxnSpPr>
          <p:spPr>
            <a:xfrm>
              <a:off x="8106945" y="5011370"/>
              <a:ext cx="0" cy="79239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541BDE63-80C3-48DA-AA01-54DA0A503666}"/>
                </a:ext>
              </a:extLst>
            </p:cNvPr>
            <p:cNvSpPr txBox="1"/>
            <p:nvPr/>
          </p:nvSpPr>
          <p:spPr>
            <a:xfrm>
              <a:off x="7854140" y="5803769"/>
              <a:ext cx="505609" cy="369332"/>
            </a:xfrm>
            <a:prstGeom prst="rect">
              <a:avLst/>
            </a:prstGeom>
            <a:noFill/>
          </p:spPr>
          <p:txBody>
            <a:bodyPr wrap="square" rtlCol="0">
              <a:spAutoFit/>
            </a:bodyPr>
            <a:lstStyle/>
            <a:p>
              <a:pPr algn="ctr"/>
              <a:r>
                <a:rPr lang="en-US" dirty="0"/>
                <a:t>60</a:t>
              </a:r>
            </a:p>
          </p:txBody>
        </p:sp>
        <p:cxnSp>
          <p:nvCxnSpPr>
            <p:cNvPr id="55" name="Straight Connector 54">
              <a:extLst>
                <a:ext uri="{FF2B5EF4-FFF2-40B4-BE49-F238E27FC236}">
                  <a16:creationId xmlns:a16="http://schemas.microsoft.com/office/drawing/2014/main" id="{A6C307E2-E88D-4150-B0C5-5571A4A7E6CD}"/>
                </a:ext>
              </a:extLst>
            </p:cNvPr>
            <p:cNvCxnSpPr/>
            <p:nvPr/>
          </p:nvCxnSpPr>
          <p:spPr>
            <a:xfrm>
              <a:off x="9526425" y="5011370"/>
              <a:ext cx="0" cy="79239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F59F31CB-EFA1-4468-899C-1624EF7B1419}"/>
                </a:ext>
              </a:extLst>
            </p:cNvPr>
            <p:cNvSpPr txBox="1"/>
            <p:nvPr/>
          </p:nvSpPr>
          <p:spPr>
            <a:xfrm>
              <a:off x="9273620" y="5803769"/>
              <a:ext cx="505609" cy="369332"/>
            </a:xfrm>
            <a:prstGeom prst="rect">
              <a:avLst/>
            </a:prstGeom>
            <a:noFill/>
          </p:spPr>
          <p:txBody>
            <a:bodyPr wrap="square" rtlCol="0">
              <a:spAutoFit/>
            </a:bodyPr>
            <a:lstStyle/>
            <a:p>
              <a:pPr algn="ctr"/>
              <a:r>
                <a:rPr lang="en-US" dirty="0"/>
                <a:t>70</a:t>
              </a:r>
            </a:p>
          </p:txBody>
        </p:sp>
        <p:cxnSp>
          <p:nvCxnSpPr>
            <p:cNvPr id="58" name="Straight Connector 57">
              <a:extLst>
                <a:ext uri="{FF2B5EF4-FFF2-40B4-BE49-F238E27FC236}">
                  <a16:creationId xmlns:a16="http://schemas.microsoft.com/office/drawing/2014/main" id="{527E17DF-0A6A-4FF7-BB8A-654B430D99A3}"/>
                </a:ext>
              </a:extLst>
            </p:cNvPr>
            <p:cNvCxnSpPr/>
            <p:nvPr/>
          </p:nvCxnSpPr>
          <p:spPr>
            <a:xfrm>
              <a:off x="10792696" y="5034892"/>
              <a:ext cx="0" cy="79239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AA6D296A-6619-4498-9A99-B01B591B8A3B}"/>
                </a:ext>
              </a:extLst>
            </p:cNvPr>
            <p:cNvSpPr txBox="1"/>
            <p:nvPr/>
          </p:nvSpPr>
          <p:spPr>
            <a:xfrm>
              <a:off x="10539891" y="5827291"/>
              <a:ext cx="505609" cy="369332"/>
            </a:xfrm>
            <a:prstGeom prst="rect">
              <a:avLst/>
            </a:prstGeom>
            <a:noFill/>
          </p:spPr>
          <p:txBody>
            <a:bodyPr wrap="square" rtlCol="0">
              <a:spAutoFit/>
            </a:bodyPr>
            <a:lstStyle/>
            <a:p>
              <a:pPr algn="ctr"/>
              <a:r>
                <a:rPr lang="en-US" dirty="0"/>
                <a:t>80</a:t>
              </a:r>
            </a:p>
          </p:txBody>
        </p:sp>
      </p:grpSp>
      <p:sp>
        <p:nvSpPr>
          <p:cNvPr id="8" name="Rectangle 7">
            <a:extLst>
              <a:ext uri="{FF2B5EF4-FFF2-40B4-BE49-F238E27FC236}">
                <a16:creationId xmlns:a16="http://schemas.microsoft.com/office/drawing/2014/main" id="{915DCBB4-98B5-4001-8FF4-A89733A77414}"/>
              </a:ext>
            </a:extLst>
          </p:cNvPr>
          <p:cNvSpPr/>
          <p:nvPr/>
        </p:nvSpPr>
        <p:spPr>
          <a:xfrm>
            <a:off x="4869406" y="4717718"/>
            <a:ext cx="5178834" cy="5325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E9D39DBA-B478-45CB-8C86-9FEBB99C9F40}"/>
              </a:ext>
            </a:extLst>
          </p:cNvPr>
          <p:cNvSpPr/>
          <p:nvPr/>
        </p:nvSpPr>
        <p:spPr>
          <a:xfrm>
            <a:off x="4091152" y="4606868"/>
            <a:ext cx="542208" cy="698439"/>
          </a:xfrm>
          <a:custGeom>
            <a:avLst/>
            <a:gdLst>
              <a:gd name="connsiteX0" fmla="*/ 205599 w 582390"/>
              <a:gd name="connsiteY0" fmla="*/ 12421 h 703345"/>
              <a:gd name="connsiteX1" fmla="*/ 259387 w 582390"/>
              <a:gd name="connsiteY1" fmla="*/ 141513 h 703345"/>
              <a:gd name="connsiteX2" fmla="*/ 442267 w 582390"/>
              <a:gd name="connsiteY2" fmla="*/ 292120 h 703345"/>
              <a:gd name="connsiteX3" fmla="*/ 496056 w 582390"/>
              <a:gd name="connsiteY3" fmla="*/ 367423 h 703345"/>
              <a:gd name="connsiteX4" fmla="*/ 582117 w 582390"/>
              <a:gd name="connsiteY4" fmla="*/ 421212 h 703345"/>
              <a:gd name="connsiteX5" fmla="*/ 517571 w 582390"/>
              <a:gd name="connsiteY5" fmla="*/ 453485 h 703345"/>
              <a:gd name="connsiteX6" fmla="*/ 366964 w 582390"/>
              <a:gd name="connsiteY6" fmla="*/ 604092 h 703345"/>
              <a:gd name="connsiteX7" fmla="*/ 248630 w 582390"/>
              <a:gd name="connsiteY7" fmla="*/ 614849 h 703345"/>
              <a:gd name="connsiteX8" fmla="*/ 184084 w 582390"/>
              <a:gd name="connsiteY8" fmla="*/ 657880 h 703345"/>
              <a:gd name="connsiteX9" fmla="*/ 11961 w 582390"/>
              <a:gd name="connsiteY9" fmla="*/ 657880 h 703345"/>
              <a:gd name="connsiteX10" fmla="*/ 22719 w 582390"/>
              <a:gd name="connsiteY10" fmla="*/ 66209 h 703345"/>
              <a:gd name="connsiteX11" fmla="*/ 87265 w 582390"/>
              <a:gd name="connsiteY11" fmla="*/ 12421 h 703345"/>
              <a:gd name="connsiteX12" fmla="*/ 205599 w 582390"/>
              <a:gd name="connsiteY12" fmla="*/ 12421 h 703345"/>
              <a:gd name="connsiteX0" fmla="*/ 205599 w 557363"/>
              <a:gd name="connsiteY0" fmla="*/ 12421 h 703345"/>
              <a:gd name="connsiteX1" fmla="*/ 259387 w 557363"/>
              <a:gd name="connsiteY1" fmla="*/ 141513 h 703345"/>
              <a:gd name="connsiteX2" fmla="*/ 442267 w 557363"/>
              <a:gd name="connsiteY2" fmla="*/ 292120 h 703345"/>
              <a:gd name="connsiteX3" fmla="*/ 496056 w 557363"/>
              <a:gd name="connsiteY3" fmla="*/ 367423 h 703345"/>
              <a:gd name="connsiteX4" fmla="*/ 556717 w 557363"/>
              <a:gd name="connsiteY4" fmla="*/ 426292 h 703345"/>
              <a:gd name="connsiteX5" fmla="*/ 517571 w 557363"/>
              <a:gd name="connsiteY5" fmla="*/ 453485 h 703345"/>
              <a:gd name="connsiteX6" fmla="*/ 366964 w 557363"/>
              <a:gd name="connsiteY6" fmla="*/ 604092 h 703345"/>
              <a:gd name="connsiteX7" fmla="*/ 248630 w 557363"/>
              <a:gd name="connsiteY7" fmla="*/ 614849 h 703345"/>
              <a:gd name="connsiteX8" fmla="*/ 184084 w 557363"/>
              <a:gd name="connsiteY8" fmla="*/ 657880 h 703345"/>
              <a:gd name="connsiteX9" fmla="*/ 11961 w 557363"/>
              <a:gd name="connsiteY9" fmla="*/ 657880 h 703345"/>
              <a:gd name="connsiteX10" fmla="*/ 22719 w 557363"/>
              <a:gd name="connsiteY10" fmla="*/ 66209 h 703345"/>
              <a:gd name="connsiteX11" fmla="*/ 87265 w 557363"/>
              <a:gd name="connsiteY11" fmla="*/ 12421 h 703345"/>
              <a:gd name="connsiteX12" fmla="*/ 205599 w 557363"/>
              <a:gd name="connsiteY12" fmla="*/ 12421 h 703345"/>
              <a:gd name="connsiteX0" fmla="*/ 205599 w 556906"/>
              <a:gd name="connsiteY0" fmla="*/ 12421 h 703345"/>
              <a:gd name="connsiteX1" fmla="*/ 259387 w 556906"/>
              <a:gd name="connsiteY1" fmla="*/ 141513 h 703345"/>
              <a:gd name="connsiteX2" fmla="*/ 442267 w 556906"/>
              <a:gd name="connsiteY2" fmla="*/ 292120 h 703345"/>
              <a:gd name="connsiteX3" fmla="*/ 496056 w 556906"/>
              <a:gd name="connsiteY3" fmla="*/ 367423 h 703345"/>
              <a:gd name="connsiteX4" fmla="*/ 556717 w 556906"/>
              <a:gd name="connsiteY4" fmla="*/ 426292 h 703345"/>
              <a:gd name="connsiteX5" fmla="*/ 517571 w 556906"/>
              <a:gd name="connsiteY5" fmla="*/ 453485 h 703345"/>
              <a:gd name="connsiteX6" fmla="*/ 366964 w 556906"/>
              <a:gd name="connsiteY6" fmla="*/ 604092 h 703345"/>
              <a:gd name="connsiteX7" fmla="*/ 248630 w 556906"/>
              <a:gd name="connsiteY7" fmla="*/ 614849 h 703345"/>
              <a:gd name="connsiteX8" fmla="*/ 184084 w 556906"/>
              <a:gd name="connsiteY8" fmla="*/ 657880 h 703345"/>
              <a:gd name="connsiteX9" fmla="*/ 11961 w 556906"/>
              <a:gd name="connsiteY9" fmla="*/ 657880 h 703345"/>
              <a:gd name="connsiteX10" fmla="*/ 22719 w 556906"/>
              <a:gd name="connsiteY10" fmla="*/ 66209 h 703345"/>
              <a:gd name="connsiteX11" fmla="*/ 87265 w 556906"/>
              <a:gd name="connsiteY11" fmla="*/ 12421 h 703345"/>
              <a:gd name="connsiteX12" fmla="*/ 205599 w 556906"/>
              <a:gd name="connsiteY12" fmla="*/ 12421 h 703345"/>
              <a:gd name="connsiteX0" fmla="*/ 205599 w 556906"/>
              <a:gd name="connsiteY0" fmla="*/ 12421 h 703345"/>
              <a:gd name="connsiteX1" fmla="*/ 259387 w 556906"/>
              <a:gd name="connsiteY1" fmla="*/ 141513 h 703345"/>
              <a:gd name="connsiteX2" fmla="*/ 442267 w 556906"/>
              <a:gd name="connsiteY2" fmla="*/ 292120 h 703345"/>
              <a:gd name="connsiteX3" fmla="*/ 496056 w 556906"/>
              <a:gd name="connsiteY3" fmla="*/ 367423 h 703345"/>
              <a:gd name="connsiteX4" fmla="*/ 556717 w 556906"/>
              <a:gd name="connsiteY4" fmla="*/ 426292 h 703345"/>
              <a:gd name="connsiteX5" fmla="*/ 517571 w 556906"/>
              <a:gd name="connsiteY5" fmla="*/ 453485 h 703345"/>
              <a:gd name="connsiteX6" fmla="*/ 366964 w 556906"/>
              <a:gd name="connsiteY6" fmla="*/ 604092 h 703345"/>
              <a:gd name="connsiteX7" fmla="*/ 248630 w 556906"/>
              <a:gd name="connsiteY7" fmla="*/ 614849 h 703345"/>
              <a:gd name="connsiteX8" fmla="*/ 184084 w 556906"/>
              <a:gd name="connsiteY8" fmla="*/ 657880 h 703345"/>
              <a:gd name="connsiteX9" fmla="*/ 11961 w 556906"/>
              <a:gd name="connsiteY9" fmla="*/ 657880 h 703345"/>
              <a:gd name="connsiteX10" fmla="*/ 22719 w 556906"/>
              <a:gd name="connsiteY10" fmla="*/ 66209 h 703345"/>
              <a:gd name="connsiteX11" fmla="*/ 87265 w 556906"/>
              <a:gd name="connsiteY11" fmla="*/ 12421 h 703345"/>
              <a:gd name="connsiteX12" fmla="*/ 205599 w 556906"/>
              <a:gd name="connsiteY12" fmla="*/ 12421 h 703345"/>
              <a:gd name="connsiteX0" fmla="*/ 205599 w 535732"/>
              <a:gd name="connsiteY0" fmla="*/ 12421 h 703345"/>
              <a:gd name="connsiteX1" fmla="*/ 259387 w 535732"/>
              <a:gd name="connsiteY1" fmla="*/ 141513 h 703345"/>
              <a:gd name="connsiteX2" fmla="*/ 442267 w 535732"/>
              <a:gd name="connsiteY2" fmla="*/ 292120 h 703345"/>
              <a:gd name="connsiteX3" fmla="*/ 496056 w 535732"/>
              <a:gd name="connsiteY3" fmla="*/ 367423 h 703345"/>
              <a:gd name="connsiteX4" fmla="*/ 531952 w 535732"/>
              <a:gd name="connsiteY4" fmla="*/ 407242 h 703345"/>
              <a:gd name="connsiteX5" fmla="*/ 517571 w 535732"/>
              <a:gd name="connsiteY5" fmla="*/ 453485 h 703345"/>
              <a:gd name="connsiteX6" fmla="*/ 366964 w 535732"/>
              <a:gd name="connsiteY6" fmla="*/ 604092 h 703345"/>
              <a:gd name="connsiteX7" fmla="*/ 248630 w 535732"/>
              <a:gd name="connsiteY7" fmla="*/ 614849 h 703345"/>
              <a:gd name="connsiteX8" fmla="*/ 184084 w 535732"/>
              <a:gd name="connsiteY8" fmla="*/ 657880 h 703345"/>
              <a:gd name="connsiteX9" fmla="*/ 11961 w 535732"/>
              <a:gd name="connsiteY9" fmla="*/ 657880 h 703345"/>
              <a:gd name="connsiteX10" fmla="*/ 22719 w 535732"/>
              <a:gd name="connsiteY10" fmla="*/ 66209 h 703345"/>
              <a:gd name="connsiteX11" fmla="*/ 87265 w 535732"/>
              <a:gd name="connsiteY11" fmla="*/ 12421 h 703345"/>
              <a:gd name="connsiteX12" fmla="*/ 205599 w 535732"/>
              <a:gd name="connsiteY12" fmla="*/ 12421 h 703345"/>
              <a:gd name="connsiteX0" fmla="*/ 205599 w 532926"/>
              <a:gd name="connsiteY0" fmla="*/ 12421 h 703345"/>
              <a:gd name="connsiteX1" fmla="*/ 259387 w 532926"/>
              <a:gd name="connsiteY1" fmla="*/ 141513 h 703345"/>
              <a:gd name="connsiteX2" fmla="*/ 442267 w 532926"/>
              <a:gd name="connsiteY2" fmla="*/ 292120 h 703345"/>
              <a:gd name="connsiteX3" fmla="*/ 496056 w 532926"/>
              <a:gd name="connsiteY3" fmla="*/ 367423 h 703345"/>
              <a:gd name="connsiteX4" fmla="*/ 531952 w 532926"/>
              <a:gd name="connsiteY4" fmla="*/ 407242 h 703345"/>
              <a:gd name="connsiteX5" fmla="*/ 508046 w 532926"/>
              <a:gd name="connsiteY5" fmla="*/ 453485 h 703345"/>
              <a:gd name="connsiteX6" fmla="*/ 366964 w 532926"/>
              <a:gd name="connsiteY6" fmla="*/ 604092 h 703345"/>
              <a:gd name="connsiteX7" fmla="*/ 248630 w 532926"/>
              <a:gd name="connsiteY7" fmla="*/ 614849 h 703345"/>
              <a:gd name="connsiteX8" fmla="*/ 184084 w 532926"/>
              <a:gd name="connsiteY8" fmla="*/ 657880 h 703345"/>
              <a:gd name="connsiteX9" fmla="*/ 11961 w 532926"/>
              <a:gd name="connsiteY9" fmla="*/ 657880 h 703345"/>
              <a:gd name="connsiteX10" fmla="*/ 22719 w 532926"/>
              <a:gd name="connsiteY10" fmla="*/ 66209 h 703345"/>
              <a:gd name="connsiteX11" fmla="*/ 87265 w 532926"/>
              <a:gd name="connsiteY11" fmla="*/ 12421 h 703345"/>
              <a:gd name="connsiteX12" fmla="*/ 205599 w 532926"/>
              <a:gd name="connsiteY12" fmla="*/ 12421 h 703345"/>
              <a:gd name="connsiteX0" fmla="*/ 205599 w 532253"/>
              <a:gd name="connsiteY0" fmla="*/ 12421 h 703345"/>
              <a:gd name="connsiteX1" fmla="*/ 259387 w 532253"/>
              <a:gd name="connsiteY1" fmla="*/ 141513 h 703345"/>
              <a:gd name="connsiteX2" fmla="*/ 442267 w 532253"/>
              <a:gd name="connsiteY2" fmla="*/ 292120 h 703345"/>
              <a:gd name="connsiteX3" fmla="*/ 496056 w 532253"/>
              <a:gd name="connsiteY3" fmla="*/ 367423 h 703345"/>
              <a:gd name="connsiteX4" fmla="*/ 531952 w 532253"/>
              <a:gd name="connsiteY4" fmla="*/ 407242 h 703345"/>
              <a:gd name="connsiteX5" fmla="*/ 508046 w 532253"/>
              <a:gd name="connsiteY5" fmla="*/ 453485 h 703345"/>
              <a:gd name="connsiteX6" fmla="*/ 366964 w 532253"/>
              <a:gd name="connsiteY6" fmla="*/ 604092 h 703345"/>
              <a:gd name="connsiteX7" fmla="*/ 248630 w 532253"/>
              <a:gd name="connsiteY7" fmla="*/ 614849 h 703345"/>
              <a:gd name="connsiteX8" fmla="*/ 184084 w 532253"/>
              <a:gd name="connsiteY8" fmla="*/ 657880 h 703345"/>
              <a:gd name="connsiteX9" fmla="*/ 11961 w 532253"/>
              <a:gd name="connsiteY9" fmla="*/ 657880 h 703345"/>
              <a:gd name="connsiteX10" fmla="*/ 22719 w 532253"/>
              <a:gd name="connsiteY10" fmla="*/ 66209 h 703345"/>
              <a:gd name="connsiteX11" fmla="*/ 87265 w 532253"/>
              <a:gd name="connsiteY11" fmla="*/ 12421 h 703345"/>
              <a:gd name="connsiteX12" fmla="*/ 205599 w 532253"/>
              <a:gd name="connsiteY12" fmla="*/ 12421 h 703345"/>
              <a:gd name="connsiteX0" fmla="*/ 205599 w 532253"/>
              <a:gd name="connsiteY0" fmla="*/ 12421 h 703345"/>
              <a:gd name="connsiteX1" fmla="*/ 259387 w 532253"/>
              <a:gd name="connsiteY1" fmla="*/ 141513 h 703345"/>
              <a:gd name="connsiteX2" fmla="*/ 440362 w 532253"/>
              <a:gd name="connsiteY2" fmla="*/ 271165 h 703345"/>
              <a:gd name="connsiteX3" fmla="*/ 496056 w 532253"/>
              <a:gd name="connsiteY3" fmla="*/ 367423 h 703345"/>
              <a:gd name="connsiteX4" fmla="*/ 531952 w 532253"/>
              <a:gd name="connsiteY4" fmla="*/ 407242 h 703345"/>
              <a:gd name="connsiteX5" fmla="*/ 508046 w 532253"/>
              <a:gd name="connsiteY5" fmla="*/ 453485 h 703345"/>
              <a:gd name="connsiteX6" fmla="*/ 366964 w 532253"/>
              <a:gd name="connsiteY6" fmla="*/ 604092 h 703345"/>
              <a:gd name="connsiteX7" fmla="*/ 248630 w 532253"/>
              <a:gd name="connsiteY7" fmla="*/ 614849 h 703345"/>
              <a:gd name="connsiteX8" fmla="*/ 184084 w 532253"/>
              <a:gd name="connsiteY8" fmla="*/ 657880 h 703345"/>
              <a:gd name="connsiteX9" fmla="*/ 11961 w 532253"/>
              <a:gd name="connsiteY9" fmla="*/ 657880 h 703345"/>
              <a:gd name="connsiteX10" fmla="*/ 22719 w 532253"/>
              <a:gd name="connsiteY10" fmla="*/ 66209 h 703345"/>
              <a:gd name="connsiteX11" fmla="*/ 87265 w 532253"/>
              <a:gd name="connsiteY11" fmla="*/ 12421 h 703345"/>
              <a:gd name="connsiteX12" fmla="*/ 205599 w 532253"/>
              <a:gd name="connsiteY12" fmla="*/ 12421 h 703345"/>
              <a:gd name="connsiteX0" fmla="*/ 205599 w 532111"/>
              <a:gd name="connsiteY0" fmla="*/ 12421 h 703345"/>
              <a:gd name="connsiteX1" fmla="*/ 259387 w 532111"/>
              <a:gd name="connsiteY1" fmla="*/ 141513 h 703345"/>
              <a:gd name="connsiteX2" fmla="*/ 440362 w 532111"/>
              <a:gd name="connsiteY2" fmla="*/ 271165 h 703345"/>
              <a:gd name="connsiteX3" fmla="*/ 499866 w 532111"/>
              <a:gd name="connsiteY3" fmla="*/ 357898 h 703345"/>
              <a:gd name="connsiteX4" fmla="*/ 531952 w 532111"/>
              <a:gd name="connsiteY4" fmla="*/ 407242 h 703345"/>
              <a:gd name="connsiteX5" fmla="*/ 508046 w 532111"/>
              <a:gd name="connsiteY5" fmla="*/ 453485 h 703345"/>
              <a:gd name="connsiteX6" fmla="*/ 366964 w 532111"/>
              <a:gd name="connsiteY6" fmla="*/ 604092 h 703345"/>
              <a:gd name="connsiteX7" fmla="*/ 248630 w 532111"/>
              <a:gd name="connsiteY7" fmla="*/ 614849 h 703345"/>
              <a:gd name="connsiteX8" fmla="*/ 184084 w 532111"/>
              <a:gd name="connsiteY8" fmla="*/ 657880 h 703345"/>
              <a:gd name="connsiteX9" fmla="*/ 11961 w 532111"/>
              <a:gd name="connsiteY9" fmla="*/ 657880 h 703345"/>
              <a:gd name="connsiteX10" fmla="*/ 22719 w 532111"/>
              <a:gd name="connsiteY10" fmla="*/ 66209 h 703345"/>
              <a:gd name="connsiteX11" fmla="*/ 87265 w 532111"/>
              <a:gd name="connsiteY11" fmla="*/ 12421 h 703345"/>
              <a:gd name="connsiteX12" fmla="*/ 205599 w 532111"/>
              <a:gd name="connsiteY12" fmla="*/ 12421 h 703345"/>
              <a:gd name="connsiteX0" fmla="*/ 205599 w 532279"/>
              <a:gd name="connsiteY0" fmla="*/ 12421 h 703345"/>
              <a:gd name="connsiteX1" fmla="*/ 259387 w 532279"/>
              <a:gd name="connsiteY1" fmla="*/ 141513 h 703345"/>
              <a:gd name="connsiteX2" fmla="*/ 440362 w 532279"/>
              <a:gd name="connsiteY2" fmla="*/ 271165 h 703345"/>
              <a:gd name="connsiteX3" fmla="*/ 499866 w 532279"/>
              <a:gd name="connsiteY3" fmla="*/ 357898 h 703345"/>
              <a:gd name="connsiteX4" fmla="*/ 531952 w 532279"/>
              <a:gd name="connsiteY4" fmla="*/ 407242 h 703345"/>
              <a:gd name="connsiteX5" fmla="*/ 516004 w 532279"/>
              <a:gd name="connsiteY5" fmla="*/ 431521 h 703345"/>
              <a:gd name="connsiteX6" fmla="*/ 508046 w 532279"/>
              <a:gd name="connsiteY6" fmla="*/ 453485 h 703345"/>
              <a:gd name="connsiteX7" fmla="*/ 366964 w 532279"/>
              <a:gd name="connsiteY7" fmla="*/ 604092 h 703345"/>
              <a:gd name="connsiteX8" fmla="*/ 248630 w 532279"/>
              <a:gd name="connsiteY8" fmla="*/ 614849 h 703345"/>
              <a:gd name="connsiteX9" fmla="*/ 184084 w 532279"/>
              <a:gd name="connsiteY9" fmla="*/ 657880 h 703345"/>
              <a:gd name="connsiteX10" fmla="*/ 11961 w 532279"/>
              <a:gd name="connsiteY10" fmla="*/ 657880 h 703345"/>
              <a:gd name="connsiteX11" fmla="*/ 22719 w 532279"/>
              <a:gd name="connsiteY11" fmla="*/ 66209 h 703345"/>
              <a:gd name="connsiteX12" fmla="*/ 87265 w 532279"/>
              <a:gd name="connsiteY12" fmla="*/ 12421 h 703345"/>
              <a:gd name="connsiteX13" fmla="*/ 205599 w 532279"/>
              <a:gd name="connsiteY13" fmla="*/ 12421 h 703345"/>
              <a:gd name="connsiteX0" fmla="*/ 205599 w 532279"/>
              <a:gd name="connsiteY0" fmla="*/ 12421 h 703345"/>
              <a:gd name="connsiteX1" fmla="*/ 259387 w 532279"/>
              <a:gd name="connsiteY1" fmla="*/ 141513 h 703345"/>
              <a:gd name="connsiteX2" fmla="*/ 440362 w 532279"/>
              <a:gd name="connsiteY2" fmla="*/ 271165 h 703345"/>
              <a:gd name="connsiteX3" fmla="*/ 499866 w 532279"/>
              <a:gd name="connsiteY3" fmla="*/ 357898 h 703345"/>
              <a:gd name="connsiteX4" fmla="*/ 531952 w 532279"/>
              <a:gd name="connsiteY4" fmla="*/ 407242 h 703345"/>
              <a:gd name="connsiteX5" fmla="*/ 516004 w 532279"/>
              <a:gd name="connsiteY5" fmla="*/ 431521 h 703345"/>
              <a:gd name="connsiteX6" fmla="*/ 508046 w 532279"/>
              <a:gd name="connsiteY6" fmla="*/ 453485 h 703345"/>
              <a:gd name="connsiteX7" fmla="*/ 366964 w 532279"/>
              <a:gd name="connsiteY7" fmla="*/ 604092 h 703345"/>
              <a:gd name="connsiteX8" fmla="*/ 248630 w 532279"/>
              <a:gd name="connsiteY8" fmla="*/ 614849 h 703345"/>
              <a:gd name="connsiteX9" fmla="*/ 184084 w 532279"/>
              <a:gd name="connsiteY9" fmla="*/ 657880 h 703345"/>
              <a:gd name="connsiteX10" fmla="*/ 11961 w 532279"/>
              <a:gd name="connsiteY10" fmla="*/ 657880 h 703345"/>
              <a:gd name="connsiteX11" fmla="*/ 22719 w 532279"/>
              <a:gd name="connsiteY11" fmla="*/ 66209 h 703345"/>
              <a:gd name="connsiteX12" fmla="*/ 87265 w 532279"/>
              <a:gd name="connsiteY12" fmla="*/ 12421 h 703345"/>
              <a:gd name="connsiteX13" fmla="*/ 205599 w 532279"/>
              <a:gd name="connsiteY13" fmla="*/ 12421 h 703345"/>
              <a:gd name="connsiteX0" fmla="*/ 205599 w 531960"/>
              <a:gd name="connsiteY0" fmla="*/ 12421 h 703345"/>
              <a:gd name="connsiteX1" fmla="*/ 259387 w 531960"/>
              <a:gd name="connsiteY1" fmla="*/ 141513 h 703345"/>
              <a:gd name="connsiteX2" fmla="*/ 440362 w 531960"/>
              <a:gd name="connsiteY2" fmla="*/ 271165 h 703345"/>
              <a:gd name="connsiteX3" fmla="*/ 499866 w 531960"/>
              <a:gd name="connsiteY3" fmla="*/ 357898 h 703345"/>
              <a:gd name="connsiteX4" fmla="*/ 517909 w 531960"/>
              <a:gd name="connsiteY4" fmla="*/ 380086 h 703345"/>
              <a:gd name="connsiteX5" fmla="*/ 531952 w 531960"/>
              <a:gd name="connsiteY5" fmla="*/ 407242 h 703345"/>
              <a:gd name="connsiteX6" fmla="*/ 516004 w 531960"/>
              <a:gd name="connsiteY6" fmla="*/ 431521 h 703345"/>
              <a:gd name="connsiteX7" fmla="*/ 508046 w 531960"/>
              <a:gd name="connsiteY7" fmla="*/ 453485 h 703345"/>
              <a:gd name="connsiteX8" fmla="*/ 366964 w 531960"/>
              <a:gd name="connsiteY8" fmla="*/ 604092 h 703345"/>
              <a:gd name="connsiteX9" fmla="*/ 248630 w 531960"/>
              <a:gd name="connsiteY9" fmla="*/ 614849 h 703345"/>
              <a:gd name="connsiteX10" fmla="*/ 184084 w 531960"/>
              <a:gd name="connsiteY10" fmla="*/ 657880 h 703345"/>
              <a:gd name="connsiteX11" fmla="*/ 11961 w 531960"/>
              <a:gd name="connsiteY11" fmla="*/ 657880 h 703345"/>
              <a:gd name="connsiteX12" fmla="*/ 22719 w 531960"/>
              <a:gd name="connsiteY12" fmla="*/ 66209 h 703345"/>
              <a:gd name="connsiteX13" fmla="*/ 87265 w 531960"/>
              <a:gd name="connsiteY13" fmla="*/ 12421 h 703345"/>
              <a:gd name="connsiteX14" fmla="*/ 205599 w 531960"/>
              <a:gd name="connsiteY14" fmla="*/ 12421 h 703345"/>
              <a:gd name="connsiteX0" fmla="*/ 205599 w 531960"/>
              <a:gd name="connsiteY0" fmla="*/ 12421 h 703345"/>
              <a:gd name="connsiteX1" fmla="*/ 259387 w 531960"/>
              <a:gd name="connsiteY1" fmla="*/ 141513 h 703345"/>
              <a:gd name="connsiteX2" fmla="*/ 440362 w 531960"/>
              <a:gd name="connsiteY2" fmla="*/ 271165 h 703345"/>
              <a:gd name="connsiteX3" fmla="*/ 499866 w 531960"/>
              <a:gd name="connsiteY3" fmla="*/ 357898 h 703345"/>
              <a:gd name="connsiteX4" fmla="*/ 517909 w 531960"/>
              <a:gd name="connsiteY4" fmla="*/ 380086 h 703345"/>
              <a:gd name="connsiteX5" fmla="*/ 531952 w 531960"/>
              <a:gd name="connsiteY5" fmla="*/ 407242 h 703345"/>
              <a:gd name="connsiteX6" fmla="*/ 516004 w 531960"/>
              <a:gd name="connsiteY6" fmla="*/ 431521 h 703345"/>
              <a:gd name="connsiteX7" fmla="*/ 492806 w 531960"/>
              <a:gd name="connsiteY7" fmla="*/ 495395 h 703345"/>
              <a:gd name="connsiteX8" fmla="*/ 366964 w 531960"/>
              <a:gd name="connsiteY8" fmla="*/ 604092 h 703345"/>
              <a:gd name="connsiteX9" fmla="*/ 248630 w 531960"/>
              <a:gd name="connsiteY9" fmla="*/ 614849 h 703345"/>
              <a:gd name="connsiteX10" fmla="*/ 184084 w 531960"/>
              <a:gd name="connsiteY10" fmla="*/ 657880 h 703345"/>
              <a:gd name="connsiteX11" fmla="*/ 11961 w 531960"/>
              <a:gd name="connsiteY11" fmla="*/ 657880 h 703345"/>
              <a:gd name="connsiteX12" fmla="*/ 22719 w 531960"/>
              <a:gd name="connsiteY12" fmla="*/ 66209 h 703345"/>
              <a:gd name="connsiteX13" fmla="*/ 87265 w 531960"/>
              <a:gd name="connsiteY13" fmla="*/ 12421 h 703345"/>
              <a:gd name="connsiteX14" fmla="*/ 205599 w 531960"/>
              <a:gd name="connsiteY14" fmla="*/ 12421 h 703345"/>
              <a:gd name="connsiteX0" fmla="*/ 205599 w 531960"/>
              <a:gd name="connsiteY0" fmla="*/ 12421 h 703345"/>
              <a:gd name="connsiteX1" fmla="*/ 259387 w 531960"/>
              <a:gd name="connsiteY1" fmla="*/ 141513 h 703345"/>
              <a:gd name="connsiteX2" fmla="*/ 440362 w 531960"/>
              <a:gd name="connsiteY2" fmla="*/ 271165 h 703345"/>
              <a:gd name="connsiteX3" fmla="*/ 499866 w 531960"/>
              <a:gd name="connsiteY3" fmla="*/ 357898 h 703345"/>
              <a:gd name="connsiteX4" fmla="*/ 517909 w 531960"/>
              <a:gd name="connsiteY4" fmla="*/ 380086 h 703345"/>
              <a:gd name="connsiteX5" fmla="*/ 531952 w 531960"/>
              <a:gd name="connsiteY5" fmla="*/ 407242 h 703345"/>
              <a:gd name="connsiteX6" fmla="*/ 516004 w 531960"/>
              <a:gd name="connsiteY6" fmla="*/ 431521 h 703345"/>
              <a:gd name="connsiteX7" fmla="*/ 485186 w 531960"/>
              <a:gd name="connsiteY7" fmla="*/ 510635 h 703345"/>
              <a:gd name="connsiteX8" fmla="*/ 366964 w 531960"/>
              <a:gd name="connsiteY8" fmla="*/ 604092 h 703345"/>
              <a:gd name="connsiteX9" fmla="*/ 248630 w 531960"/>
              <a:gd name="connsiteY9" fmla="*/ 614849 h 703345"/>
              <a:gd name="connsiteX10" fmla="*/ 184084 w 531960"/>
              <a:gd name="connsiteY10" fmla="*/ 657880 h 703345"/>
              <a:gd name="connsiteX11" fmla="*/ 11961 w 531960"/>
              <a:gd name="connsiteY11" fmla="*/ 657880 h 703345"/>
              <a:gd name="connsiteX12" fmla="*/ 22719 w 531960"/>
              <a:gd name="connsiteY12" fmla="*/ 66209 h 703345"/>
              <a:gd name="connsiteX13" fmla="*/ 87265 w 531960"/>
              <a:gd name="connsiteY13" fmla="*/ 12421 h 703345"/>
              <a:gd name="connsiteX14" fmla="*/ 205599 w 531960"/>
              <a:gd name="connsiteY14" fmla="*/ 12421 h 703345"/>
              <a:gd name="connsiteX0" fmla="*/ 205599 w 531960"/>
              <a:gd name="connsiteY0" fmla="*/ 12421 h 703122"/>
              <a:gd name="connsiteX1" fmla="*/ 259387 w 531960"/>
              <a:gd name="connsiteY1" fmla="*/ 141513 h 703122"/>
              <a:gd name="connsiteX2" fmla="*/ 440362 w 531960"/>
              <a:gd name="connsiteY2" fmla="*/ 271165 h 703122"/>
              <a:gd name="connsiteX3" fmla="*/ 499866 w 531960"/>
              <a:gd name="connsiteY3" fmla="*/ 357898 h 703122"/>
              <a:gd name="connsiteX4" fmla="*/ 517909 w 531960"/>
              <a:gd name="connsiteY4" fmla="*/ 380086 h 703122"/>
              <a:gd name="connsiteX5" fmla="*/ 531952 w 531960"/>
              <a:gd name="connsiteY5" fmla="*/ 407242 h 703122"/>
              <a:gd name="connsiteX6" fmla="*/ 516004 w 531960"/>
              <a:gd name="connsiteY6" fmla="*/ 431521 h 703122"/>
              <a:gd name="connsiteX7" fmla="*/ 485186 w 531960"/>
              <a:gd name="connsiteY7" fmla="*/ 510635 h 703122"/>
              <a:gd name="connsiteX8" fmla="*/ 366964 w 531960"/>
              <a:gd name="connsiteY8" fmla="*/ 604092 h 703122"/>
              <a:gd name="connsiteX9" fmla="*/ 248630 w 531960"/>
              <a:gd name="connsiteY9" fmla="*/ 620564 h 703122"/>
              <a:gd name="connsiteX10" fmla="*/ 184084 w 531960"/>
              <a:gd name="connsiteY10" fmla="*/ 657880 h 703122"/>
              <a:gd name="connsiteX11" fmla="*/ 11961 w 531960"/>
              <a:gd name="connsiteY11" fmla="*/ 657880 h 703122"/>
              <a:gd name="connsiteX12" fmla="*/ 22719 w 531960"/>
              <a:gd name="connsiteY12" fmla="*/ 66209 h 703122"/>
              <a:gd name="connsiteX13" fmla="*/ 87265 w 531960"/>
              <a:gd name="connsiteY13" fmla="*/ 12421 h 703122"/>
              <a:gd name="connsiteX14" fmla="*/ 205599 w 531960"/>
              <a:gd name="connsiteY14" fmla="*/ 12421 h 703122"/>
              <a:gd name="connsiteX0" fmla="*/ 203626 w 529987"/>
              <a:gd name="connsiteY0" fmla="*/ 12421 h 718085"/>
              <a:gd name="connsiteX1" fmla="*/ 257414 w 529987"/>
              <a:gd name="connsiteY1" fmla="*/ 141513 h 718085"/>
              <a:gd name="connsiteX2" fmla="*/ 438389 w 529987"/>
              <a:gd name="connsiteY2" fmla="*/ 271165 h 718085"/>
              <a:gd name="connsiteX3" fmla="*/ 497893 w 529987"/>
              <a:gd name="connsiteY3" fmla="*/ 357898 h 718085"/>
              <a:gd name="connsiteX4" fmla="*/ 515936 w 529987"/>
              <a:gd name="connsiteY4" fmla="*/ 380086 h 718085"/>
              <a:gd name="connsiteX5" fmla="*/ 529979 w 529987"/>
              <a:gd name="connsiteY5" fmla="*/ 407242 h 718085"/>
              <a:gd name="connsiteX6" fmla="*/ 514031 w 529987"/>
              <a:gd name="connsiteY6" fmla="*/ 431521 h 718085"/>
              <a:gd name="connsiteX7" fmla="*/ 483213 w 529987"/>
              <a:gd name="connsiteY7" fmla="*/ 510635 h 718085"/>
              <a:gd name="connsiteX8" fmla="*/ 364991 w 529987"/>
              <a:gd name="connsiteY8" fmla="*/ 604092 h 718085"/>
              <a:gd name="connsiteX9" fmla="*/ 246657 w 529987"/>
              <a:gd name="connsiteY9" fmla="*/ 620564 h 718085"/>
              <a:gd name="connsiteX10" fmla="*/ 155441 w 529987"/>
              <a:gd name="connsiteY10" fmla="*/ 694075 h 718085"/>
              <a:gd name="connsiteX11" fmla="*/ 9988 w 529987"/>
              <a:gd name="connsiteY11" fmla="*/ 657880 h 718085"/>
              <a:gd name="connsiteX12" fmla="*/ 20746 w 529987"/>
              <a:gd name="connsiteY12" fmla="*/ 66209 h 718085"/>
              <a:gd name="connsiteX13" fmla="*/ 85292 w 529987"/>
              <a:gd name="connsiteY13" fmla="*/ 12421 h 718085"/>
              <a:gd name="connsiteX14" fmla="*/ 203626 w 529987"/>
              <a:gd name="connsiteY14" fmla="*/ 12421 h 718085"/>
              <a:gd name="connsiteX0" fmla="*/ 203626 w 529987"/>
              <a:gd name="connsiteY0" fmla="*/ 12421 h 716837"/>
              <a:gd name="connsiteX1" fmla="*/ 257414 w 529987"/>
              <a:gd name="connsiteY1" fmla="*/ 141513 h 716837"/>
              <a:gd name="connsiteX2" fmla="*/ 438389 w 529987"/>
              <a:gd name="connsiteY2" fmla="*/ 271165 h 716837"/>
              <a:gd name="connsiteX3" fmla="*/ 497893 w 529987"/>
              <a:gd name="connsiteY3" fmla="*/ 357898 h 716837"/>
              <a:gd name="connsiteX4" fmla="*/ 515936 w 529987"/>
              <a:gd name="connsiteY4" fmla="*/ 380086 h 716837"/>
              <a:gd name="connsiteX5" fmla="*/ 529979 w 529987"/>
              <a:gd name="connsiteY5" fmla="*/ 407242 h 716837"/>
              <a:gd name="connsiteX6" fmla="*/ 514031 w 529987"/>
              <a:gd name="connsiteY6" fmla="*/ 431521 h 716837"/>
              <a:gd name="connsiteX7" fmla="*/ 483213 w 529987"/>
              <a:gd name="connsiteY7" fmla="*/ 510635 h 716837"/>
              <a:gd name="connsiteX8" fmla="*/ 364991 w 529987"/>
              <a:gd name="connsiteY8" fmla="*/ 604092 h 716837"/>
              <a:gd name="connsiteX9" fmla="*/ 246657 w 529987"/>
              <a:gd name="connsiteY9" fmla="*/ 620564 h 716837"/>
              <a:gd name="connsiteX10" fmla="*/ 155441 w 529987"/>
              <a:gd name="connsiteY10" fmla="*/ 694075 h 716837"/>
              <a:gd name="connsiteX11" fmla="*/ 9988 w 529987"/>
              <a:gd name="connsiteY11" fmla="*/ 657880 h 716837"/>
              <a:gd name="connsiteX12" fmla="*/ 20746 w 529987"/>
              <a:gd name="connsiteY12" fmla="*/ 66209 h 716837"/>
              <a:gd name="connsiteX13" fmla="*/ 85292 w 529987"/>
              <a:gd name="connsiteY13" fmla="*/ 12421 h 716837"/>
              <a:gd name="connsiteX14" fmla="*/ 203626 w 529987"/>
              <a:gd name="connsiteY14" fmla="*/ 12421 h 716837"/>
              <a:gd name="connsiteX0" fmla="*/ 203626 w 529987"/>
              <a:gd name="connsiteY0" fmla="*/ 12421 h 695073"/>
              <a:gd name="connsiteX1" fmla="*/ 257414 w 529987"/>
              <a:gd name="connsiteY1" fmla="*/ 141513 h 695073"/>
              <a:gd name="connsiteX2" fmla="*/ 438389 w 529987"/>
              <a:gd name="connsiteY2" fmla="*/ 271165 h 695073"/>
              <a:gd name="connsiteX3" fmla="*/ 497893 w 529987"/>
              <a:gd name="connsiteY3" fmla="*/ 357898 h 695073"/>
              <a:gd name="connsiteX4" fmla="*/ 515936 w 529987"/>
              <a:gd name="connsiteY4" fmla="*/ 380086 h 695073"/>
              <a:gd name="connsiteX5" fmla="*/ 529979 w 529987"/>
              <a:gd name="connsiteY5" fmla="*/ 407242 h 695073"/>
              <a:gd name="connsiteX6" fmla="*/ 514031 w 529987"/>
              <a:gd name="connsiteY6" fmla="*/ 431521 h 695073"/>
              <a:gd name="connsiteX7" fmla="*/ 483213 w 529987"/>
              <a:gd name="connsiteY7" fmla="*/ 510635 h 695073"/>
              <a:gd name="connsiteX8" fmla="*/ 364991 w 529987"/>
              <a:gd name="connsiteY8" fmla="*/ 604092 h 695073"/>
              <a:gd name="connsiteX9" fmla="*/ 246657 w 529987"/>
              <a:gd name="connsiteY9" fmla="*/ 620564 h 695073"/>
              <a:gd name="connsiteX10" fmla="*/ 155441 w 529987"/>
              <a:gd name="connsiteY10" fmla="*/ 694075 h 695073"/>
              <a:gd name="connsiteX11" fmla="*/ 9988 w 529987"/>
              <a:gd name="connsiteY11" fmla="*/ 657880 h 695073"/>
              <a:gd name="connsiteX12" fmla="*/ 20746 w 529987"/>
              <a:gd name="connsiteY12" fmla="*/ 66209 h 695073"/>
              <a:gd name="connsiteX13" fmla="*/ 85292 w 529987"/>
              <a:gd name="connsiteY13" fmla="*/ 12421 h 695073"/>
              <a:gd name="connsiteX14" fmla="*/ 203626 w 529987"/>
              <a:gd name="connsiteY14" fmla="*/ 12421 h 695073"/>
              <a:gd name="connsiteX0" fmla="*/ 204048 w 530409"/>
              <a:gd name="connsiteY0" fmla="*/ 12421 h 711675"/>
              <a:gd name="connsiteX1" fmla="*/ 257836 w 530409"/>
              <a:gd name="connsiteY1" fmla="*/ 141513 h 711675"/>
              <a:gd name="connsiteX2" fmla="*/ 438811 w 530409"/>
              <a:gd name="connsiteY2" fmla="*/ 271165 h 711675"/>
              <a:gd name="connsiteX3" fmla="*/ 498315 w 530409"/>
              <a:gd name="connsiteY3" fmla="*/ 357898 h 711675"/>
              <a:gd name="connsiteX4" fmla="*/ 516358 w 530409"/>
              <a:gd name="connsiteY4" fmla="*/ 380086 h 711675"/>
              <a:gd name="connsiteX5" fmla="*/ 530401 w 530409"/>
              <a:gd name="connsiteY5" fmla="*/ 407242 h 711675"/>
              <a:gd name="connsiteX6" fmla="*/ 514453 w 530409"/>
              <a:gd name="connsiteY6" fmla="*/ 431521 h 711675"/>
              <a:gd name="connsiteX7" fmla="*/ 483635 w 530409"/>
              <a:gd name="connsiteY7" fmla="*/ 510635 h 711675"/>
              <a:gd name="connsiteX8" fmla="*/ 365413 w 530409"/>
              <a:gd name="connsiteY8" fmla="*/ 604092 h 711675"/>
              <a:gd name="connsiteX9" fmla="*/ 247079 w 530409"/>
              <a:gd name="connsiteY9" fmla="*/ 620564 h 711675"/>
              <a:gd name="connsiteX10" fmla="*/ 161578 w 530409"/>
              <a:gd name="connsiteY10" fmla="*/ 682645 h 711675"/>
              <a:gd name="connsiteX11" fmla="*/ 10410 w 530409"/>
              <a:gd name="connsiteY11" fmla="*/ 657880 h 711675"/>
              <a:gd name="connsiteX12" fmla="*/ 21168 w 530409"/>
              <a:gd name="connsiteY12" fmla="*/ 66209 h 711675"/>
              <a:gd name="connsiteX13" fmla="*/ 85714 w 530409"/>
              <a:gd name="connsiteY13" fmla="*/ 12421 h 711675"/>
              <a:gd name="connsiteX14" fmla="*/ 204048 w 530409"/>
              <a:gd name="connsiteY14" fmla="*/ 12421 h 711675"/>
              <a:gd name="connsiteX0" fmla="*/ 200666 w 527027"/>
              <a:gd name="connsiteY0" fmla="*/ 12421 h 685903"/>
              <a:gd name="connsiteX1" fmla="*/ 254454 w 527027"/>
              <a:gd name="connsiteY1" fmla="*/ 141513 h 685903"/>
              <a:gd name="connsiteX2" fmla="*/ 435429 w 527027"/>
              <a:gd name="connsiteY2" fmla="*/ 271165 h 685903"/>
              <a:gd name="connsiteX3" fmla="*/ 494933 w 527027"/>
              <a:gd name="connsiteY3" fmla="*/ 357898 h 685903"/>
              <a:gd name="connsiteX4" fmla="*/ 512976 w 527027"/>
              <a:gd name="connsiteY4" fmla="*/ 380086 h 685903"/>
              <a:gd name="connsiteX5" fmla="*/ 527019 w 527027"/>
              <a:gd name="connsiteY5" fmla="*/ 407242 h 685903"/>
              <a:gd name="connsiteX6" fmla="*/ 511071 w 527027"/>
              <a:gd name="connsiteY6" fmla="*/ 431521 h 685903"/>
              <a:gd name="connsiteX7" fmla="*/ 480253 w 527027"/>
              <a:gd name="connsiteY7" fmla="*/ 510635 h 685903"/>
              <a:gd name="connsiteX8" fmla="*/ 362031 w 527027"/>
              <a:gd name="connsiteY8" fmla="*/ 604092 h 685903"/>
              <a:gd name="connsiteX9" fmla="*/ 243697 w 527027"/>
              <a:gd name="connsiteY9" fmla="*/ 620564 h 685903"/>
              <a:gd name="connsiteX10" fmla="*/ 158196 w 527027"/>
              <a:gd name="connsiteY10" fmla="*/ 682645 h 685903"/>
              <a:gd name="connsiteX11" fmla="*/ 7028 w 527027"/>
              <a:gd name="connsiteY11" fmla="*/ 657880 h 685903"/>
              <a:gd name="connsiteX12" fmla="*/ 17786 w 527027"/>
              <a:gd name="connsiteY12" fmla="*/ 66209 h 685903"/>
              <a:gd name="connsiteX13" fmla="*/ 82332 w 527027"/>
              <a:gd name="connsiteY13" fmla="*/ 12421 h 685903"/>
              <a:gd name="connsiteX14" fmla="*/ 200666 w 527027"/>
              <a:gd name="connsiteY14" fmla="*/ 12421 h 685903"/>
              <a:gd name="connsiteX0" fmla="*/ 200666 w 527027"/>
              <a:gd name="connsiteY0" fmla="*/ 20125 h 693607"/>
              <a:gd name="connsiteX1" fmla="*/ 254454 w 527027"/>
              <a:gd name="connsiteY1" fmla="*/ 149217 h 693607"/>
              <a:gd name="connsiteX2" fmla="*/ 435429 w 527027"/>
              <a:gd name="connsiteY2" fmla="*/ 278869 h 693607"/>
              <a:gd name="connsiteX3" fmla="*/ 494933 w 527027"/>
              <a:gd name="connsiteY3" fmla="*/ 365602 h 693607"/>
              <a:gd name="connsiteX4" fmla="*/ 512976 w 527027"/>
              <a:gd name="connsiteY4" fmla="*/ 387790 h 693607"/>
              <a:gd name="connsiteX5" fmla="*/ 527019 w 527027"/>
              <a:gd name="connsiteY5" fmla="*/ 414946 h 693607"/>
              <a:gd name="connsiteX6" fmla="*/ 511071 w 527027"/>
              <a:gd name="connsiteY6" fmla="*/ 439225 h 693607"/>
              <a:gd name="connsiteX7" fmla="*/ 480253 w 527027"/>
              <a:gd name="connsiteY7" fmla="*/ 518339 h 693607"/>
              <a:gd name="connsiteX8" fmla="*/ 362031 w 527027"/>
              <a:gd name="connsiteY8" fmla="*/ 611796 h 693607"/>
              <a:gd name="connsiteX9" fmla="*/ 243697 w 527027"/>
              <a:gd name="connsiteY9" fmla="*/ 628268 h 693607"/>
              <a:gd name="connsiteX10" fmla="*/ 158196 w 527027"/>
              <a:gd name="connsiteY10" fmla="*/ 690349 h 693607"/>
              <a:gd name="connsiteX11" fmla="*/ 7028 w 527027"/>
              <a:gd name="connsiteY11" fmla="*/ 665584 h 693607"/>
              <a:gd name="connsiteX12" fmla="*/ 17786 w 527027"/>
              <a:gd name="connsiteY12" fmla="*/ 73913 h 693607"/>
              <a:gd name="connsiteX13" fmla="*/ 82332 w 527027"/>
              <a:gd name="connsiteY13" fmla="*/ 6790 h 693607"/>
              <a:gd name="connsiteX14" fmla="*/ 200666 w 527027"/>
              <a:gd name="connsiteY14" fmla="*/ 20125 h 693607"/>
              <a:gd name="connsiteX0" fmla="*/ 200666 w 527027"/>
              <a:gd name="connsiteY0" fmla="*/ 20125 h 693607"/>
              <a:gd name="connsiteX1" fmla="*/ 254454 w 527027"/>
              <a:gd name="connsiteY1" fmla="*/ 149217 h 693607"/>
              <a:gd name="connsiteX2" fmla="*/ 435429 w 527027"/>
              <a:gd name="connsiteY2" fmla="*/ 278869 h 693607"/>
              <a:gd name="connsiteX3" fmla="*/ 494933 w 527027"/>
              <a:gd name="connsiteY3" fmla="*/ 365602 h 693607"/>
              <a:gd name="connsiteX4" fmla="*/ 512976 w 527027"/>
              <a:gd name="connsiteY4" fmla="*/ 387790 h 693607"/>
              <a:gd name="connsiteX5" fmla="*/ 527019 w 527027"/>
              <a:gd name="connsiteY5" fmla="*/ 414946 h 693607"/>
              <a:gd name="connsiteX6" fmla="*/ 511071 w 527027"/>
              <a:gd name="connsiteY6" fmla="*/ 439225 h 693607"/>
              <a:gd name="connsiteX7" fmla="*/ 480253 w 527027"/>
              <a:gd name="connsiteY7" fmla="*/ 518339 h 693607"/>
              <a:gd name="connsiteX8" fmla="*/ 362031 w 527027"/>
              <a:gd name="connsiteY8" fmla="*/ 611796 h 693607"/>
              <a:gd name="connsiteX9" fmla="*/ 243697 w 527027"/>
              <a:gd name="connsiteY9" fmla="*/ 628268 h 693607"/>
              <a:gd name="connsiteX10" fmla="*/ 158196 w 527027"/>
              <a:gd name="connsiteY10" fmla="*/ 690349 h 693607"/>
              <a:gd name="connsiteX11" fmla="*/ 7028 w 527027"/>
              <a:gd name="connsiteY11" fmla="*/ 665584 h 693607"/>
              <a:gd name="connsiteX12" fmla="*/ 17786 w 527027"/>
              <a:gd name="connsiteY12" fmla="*/ 73913 h 693607"/>
              <a:gd name="connsiteX13" fmla="*/ 82332 w 527027"/>
              <a:gd name="connsiteY13" fmla="*/ 6790 h 693607"/>
              <a:gd name="connsiteX14" fmla="*/ 200666 w 527027"/>
              <a:gd name="connsiteY14" fmla="*/ 20125 h 693607"/>
              <a:gd name="connsiteX0" fmla="*/ 200666 w 527027"/>
              <a:gd name="connsiteY0" fmla="*/ 27462 h 700944"/>
              <a:gd name="connsiteX1" fmla="*/ 254454 w 527027"/>
              <a:gd name="connsiteY1" fmla="*/ 156554 h 700944"/>
              <a:gd name="connsiteX2" fmla="*/ 435429 w 527027"/>
              <a:gd name="connsiteY2" fmla="*/ 286206 h 700944"/>
              <a:gd name="connsiteX3" fmla="*/ 494933 w 527027"/>
              <a:gd name="connsiteY3" fmla="*/ 372939 h 700944"/>
              <a:gd name="connsiteX4" fmla="*/ 512976 w 527027"/>
              <a:gd name="connsiteY4" fmla="*/ 395127 h 700944"/>
              <a:gd name="connsiteX5" fmla="*/ 527019 w 527027"/>
              <a:gd name="connsiteY5" fmla="*/ 422283 h 700944"/>
              <a:gd name="connsiteX6" fmla="*/ 511071 w 527027"/>
              <a:gd name="connsiteY6" fmla="*/ 446562 h 700944"/>
              <a:gd name="connsiteX7" fmla="*/ 480253 w 527027"/>
              <a:gd name="connsiteY7" fmla="*/ 525676 h 700944"/>
              <a:gd name="connsiteX8" fmla="*/ 362031 w 527027"/>
              <a:gd name="connsiteY8" fmla="*/ 619133 h 700944"/>
              <a:gd name="connsiteX9" fmla="*/ 243697 w 527027"/>
              <a:gd name="connsiteY9" fmla="*/ 635605 h 700944"/>
              <a:gd name="connsiteX10" fmla="*/ 158196 w 527027"/>
              <a:gd name="connsiteY10" fmla="*/ 697686 h 700944"/>
              <a:gd name="connsiteX11" fmla="*/ 7028 w 527027"/>
              <a:gd name="connsiteY11" fmla="*/ 672921 h 700944"/>
              <a:gd name="connsiteX12" fmla="*/ 17786 w 527027"/>
              <a:gd name="connsiteY12" fmla="*/ 81250 h 700944"/>
              <a:gd name="connsiteX13" fmla="*/ 82332 w 527027"/>
              <a:gd name="connsiteY13" fmla="*/ 4602 h 700944"/>
              <a:gd name="connsiteX14" fmla="*/ 200666 w 527027"/>
              <a:gd name="connsiteY14" fmla="*/ 27462 h 700944"/>
              <a:gd name="connsiteX0" fmla="*/ 200666 w 527027"/>
              <a:gd name="connsiteY0" fmla="*/ 26438 h 699920"/>
              <a:gd name="connsiteX1" fmla="*/ 254454 w 527027"/>
              <a:gd name="connsiteY1" fmla="*/ 155530 h 699920"/>
              <a:gd name="connsiteX2" fmla="*/ 435429 w 527027"/>
              <a:gd name="connsiteY2" fmla="*/ 285182 h 699920"/>
              <a:gd name="connsiteX3" fmla="*/ 494933 w 527027"/>
              <a:gd name="connsiteY3" fmla="*/ 371915 h 699920"/>
              <a:gd name="connsiteX4" fmla="*/ 512976 w 527027"/>
              <a:gd name="connsiteY4" fmla="*/ 394103 h 699920"/>
              <a:gd name="connsiteX5" fmla="*/ 527019 w 527027"/>
              <a:gd name="connsiteY5" fmla="*/ 421259 h 699920"/>
              <a:gd name="connsiteX6" fmla="*/ 511071 w 527027"/>
              <a:gd name="connsiteY6" fmla="*/ 445538 h 699920"/>
              <a:gd name="connsiteX7" fmla="*/ 480253 w 527027"/>
              <a:gd name="connsiteY7" fmla="*/ 524652 h 699920"/>
              <a:gd name="connsiteX8" fmla="*/ 362031 w 527027"/>
              <a:gd name="connsiteY8" fmla="*/ 618109 h 699920"/>
              <a:gd name="connsiteX9" fmla="*/ 243697 w 527027"/>
              <a:gd name="connsiteY9" fmla="*/ 634581 h 699920"/>
              <a:gd name="connsiteX10" fmla="*/ 158196 w 527027"/>
              <a:gd name="connsiteY10" fmla="*/ 696662 h 699920"/>
              <a:gd name="connsiteX11" fmla="*/ 7028 w 527027"/>
              <a:gd name="connsiteY11" fmla="*/ 671897 h 699920"/>
              <a:gd name="connsiteX12" fmla="*/ 17786 w 527027"/>
              <a:gd name="connsiteY12" fmla="*/ 80226 h 699920"/>
              <a:gd name="connsiteX13" fmla="*/ 82332 w 527027"/>
              <a:gd name="connsiteY13" fmla="*/ 3578 h 699920"/>
              <a:gd name="connsiteX14" fmla="*/ 200666 w 527027"/>
              <a:gd name="connsiteY14" fmla="*/ 26438 h 699920"/>
              <a:gd name="connsiteX0" fmla="*/ 200666 w 527027"/>
              <a:gd name="connsiteY0" fmla="*/ 24983 h 698465"/>
              <a:gd name="connsiteX1" fmla="*/ 254454 w 527027"/>
              <a:gd name="connsiteY1" fmla="*/ 154075 h 698465"/>
              <a:gd name="connsiteX2" fmla="*/ 435429 w 527027"/>
              <a:gd name="connsiteY2" fmla="*/ 283727 h 698465"/>
              <a:gd name="connsiteX3" fmla="*/ 494933 w 527027"/>
              <a:gd name="connsiteY3" fmla="*/ 370460 h 698465"/>
              <a:gd name="connsiteX4" fmla="*/ 512976 w 527027"/>
              <a:gd name="connsiteY4" fmla="*/ 392648 h 698465"/>
              <a:gd name="connsiteX5" fmla="*/ 527019 w 527027"/>
              <a:gd name="connsiteY5" fmla="*/ 419804 h 698465"/>
              <a:gd name="connsiteX6" fmla="*/ 511071 w 527027"/>
              <a:gd name="connsiteY6" fmla="*/ 444083 h 698465"/>
              <a:gd name="connsiteX7" fmla="*/ 480253 w 527027"/>
              <a:gd name="connsiteY7" fmla="*/ 523197 h 698465"/>
              <a:gd name="connsiteX8" fmla="*/ 362031 w 527027"/>
              <a:gd name="connsiteY8" fmla="*/ 616654 h 698465"/>
              <a:gd name="connsiteX9" fmla="*/ 243697 w 527027"/>
              <a:gd name="connsiteY9" fmla="*/ 633126 h 698465"/>
              <a:gd name="connsiteX10" fmla="*/ 158196 w 527027"/>
              <a:gd name="connsiteY10" fmla="*/ 695207 h 698465"/>
              <a:gd name="connsiteX11" fmla="*/ 7028 w 527027"/>
              <a:gd name="connsiteY11" fmla="*/ 670442 h 698465"/>
              <a:gd name="connsiteX12" fmla="*/ 17786 w 527027"/>
              <a:gd name="connsiteY12" fmla="*/ 78771 h 698465"/>
              <a:gd name="connsiteX13" fmla="*/ 82332 w 527027"/>
              <a:gd name="connsiteY13" fmla="*/ 2123 h 698465"/>
              <a:gd name="connsiteX14" fmla="*/ 200666 w 527027"/>
              <a:gd name="connsiteY14" fmla="*/ 24983 h 698465"/>
              <a:gd name="connsiteX0" fmla="*/ 199088 w 525449"/>
              <a:gd name="connsiteY0" fmla="*/ 24957 h 698439"/>
              <a:gd name="connsiteX1" fmla="*/ 252876 w 525449"/>
              <a:gd name="connsiteY1" fmla="*/ 154049 h 698439"/>
              <a:gd name="connsiteX2" fmla="*/ 433851 w 525449"/>
              <a:gd name="connsiteY2" fmla="*/ 283701 h 698439"/>
              <a:gd name="connsiteX3" fmla="*/ 493355 w 525449"/>
              <a:gd name="connsiteY3" fmla="*/ 370434 h 698439"/>
              <a:gd name="connsiteX4" fmla="*/ 511398 w 525449"/>
              <a:gd name="connsiteY4" fmla="*/ 392622 h 698439"/>
              <a:gd name="connsiteX5" fmla="*/ 525441 w 525449"/>
              <a:gd name="connsiteY5" fmla="*/ 419778 h 698439"/>
              <a:gd name="connsiteX6" fmla="*/ 509493 w 525449"/>
              <a:gd name="connsiteY6" fmla="*/ 444057 h 698439"/>
              <a:gd name="connsiteX7" fmla="*/ 478675 w 525449"/>
              <a:gd name="connsiteY7" fmla="*/ 523171 h 698439"/>
              <a:gd name="connsiteX8" fmla="*/ 360453 w 525449"/>
              <a:gd name="connsiteY8" fmla="*/ 616628 h 698439"/>
              <a:gd name="connsiteX9" fmla="*/ 242119 w 525449"/>
              <a:gd name="connsiteY9" fmla="*/ 633100 h 698439"/>
              <a:gd name="connsiteX10" fmla="*/ 156618 w 525449"/>
              <a:gd name="connsiteY10" fmla="*/ 695181 h 698439"/>
              <a:gd name="connsiteX11" fmla="*/ 5450 w 525449"/>
              <a:gd name="connsiteY11" fmla="*/ 670416 h 698439"/>
              <a:gd name="connsiteX12" fmla="*/ 16208 w 525449"/>
              <a:gd name="connsiteY12" fmla="*/ 78745 h 698439"/>
              <a:gd name="connsiteX13" fmla="*/ 25623 w 525449"/>
              <a:gd name="connsiteY13" fmla="*/ 9717 h 698439"/>
              <a:gd name="connsiteX14" fmla="*/ 80754 w 525449"/>
              <a:gd name="connsiteY14" fmla="*/ 2097 h 698439"/>
              <a:gd name="connsiteX15" fmla="*/ 199088 w 525449"/>
              <a:gd name="connsiteY15" fmla="*/ 24957 h 69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5449" h="698439">
                <a:moveTo>
                  <a:pt x="199088" y="24957"/>
                </a:moveTo>
                <a:cubicBezTo>
                  <a:pt x="227775" y="50282"/>
                  <a:pt x="213749" y="110925"/>
                  <a:pt x="252876" y="154049"/>
                </a:cubicBezTo>
                <a:cubicBezTo>
                  <a:pt x="292003" y="197173"/>
                  <a:pt x="393771" y="247637"/>
                  <a:pt x="433851" y="283701"/>
                </a:cubicBezTo>
                <a:cubicBezTo>
                  <a:pt x="473931" y="319765"/>
                  <a:pt x="480431" y="352281"/>
                  <a:pt x="493355" y="370434"/>
                </a:cubicBezTo>
                <a:cubicBezTo>
                  <a:pt x="506279" y="388587"/>
                  <a:pt x="506050" y="384398"/>
                  <a:pt x="511398" y="392622"/>
                </a:cubicBezTo>
                <a:cubicBezTo>
                  <a:pt x="516746" y="400846"/>
                  <a:pt x="525758" y="411206"/>
                  <a:pt x="525441" y="419778"/>
                </a:cubicBezTo>
                <a:cubicBezTo>
                  <a:pt x="525124" y="428350"/>
                  <a:pt x="513477" y="436350"/>
                  <a:pt x="509493" y="444057"/>
                </a:cubicBezTo>
                <a:cubicBezTo>
                  <a:pt x="505509" y="451764"/>
                  <a:pt x="503515" y="494409"/>
                  <a:pt x="478675" y="523171"/>
                </a:cubicBezTo>
                <a:cubicBezTo>
                  <a:pt x="453835" y="551933"/>
                  <a:pt x="399879" y="598307"/>
                  <a:pt x="360453" y="616628"/>
                </a:cubicBezTo>
                <a:cubicBezTo>
                  <a:pt x="321027" y="634949"/>
                  <a:pt x="276092" y="620008"/>
                  <a:pt x="242119" y="633100"/>
                </a:cubicBezTo>
                <a:cubicBezTo>
                  <a:pt x="208147" y="646192"/>
                  <a:pt x="184633" y="692772"/>
                  <a:pt x="156618" y="695181"/>
                </a:cubicBezTo>
                <a:cubicBezTo>
                  <a:pt x="128603" y="697590"/>
                  <a:pt x="21232" y="708385"/>
                  <a:pt x="5450" y="670416"/>
                </a:cubicBezTo>
                <a:cubicBezTo>
                  <a:pt x="-10332" y="632447"/>
                  <a:pt x="12846" y="188861"/>
                  <a:pt x="16208" y="78745"/>
                </a:cubicBezTo>
                <a:cubicBezTo>
                  <a:pt x="19570" y="-31371"/>
                  <a:pt x="14865" y="22492"/>
                  <a:pt x="25623" y="9717"/>
                </a:cubicBezTo>
                <a:cubicBezTo>
                  <a:pt x="36381" y="-3058"/>
                  <a:pt x="51843" y="-443"/>
                  <a:pt x="80754" y="2097"/>
                </a:cubicBezTo>
                <a:cubicBezTo>
                  <a:pt x="109665" y="4637"/>
                  <a:pt x="170401" y="-368"/>
                  <a:pt x="199088" y="24957"/>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5E84389F-63F3-484F-8999-8FBB49010D4B}"/>
              </a:ext>
            </a:extLst>
          </p:cNvPr>
          <p:cNvSpPr txBox="1"/>
          <p:nvPr/>
        </p:nvSpPr>
        <p:spPr>
          <a:xfrm>
            <a:off x="6865641" y="4779946"/>
            <a:ext cx="2765411" cy="369332"/>
          </a:xfrm>
          <a:prstGeom prst="rect">
            <a:avLst/>
          </a:prstGeom>
          <a:noFill/>
        </p:spPr>
        <p:txBody>
          <a:bodyPr wrap="square" rtlCol="0">
            <a:spAutoFit/>
          </a:bodyPr>
          <a:lstStyle/>
          <a:p>
            <a:pPr algn="ctr"/>
            <a:r>
              <a:rPr lang="en-US">
                <a:solidFill>
                  <a:schemeClr val="bg1"/>
                </a:solidFill>
              </a:rPr>
              <a:t>Mammogram q2y</a:t>
            </a:r>
            <a:endParaRPr lang="en-US" dirty="0">
              <a:solidFill>
                <a:schemeClr val="bg1"/>
              </a:solidFill>
            </a:endParaRPr>
          </a:p>
        </p:txBody>
      </p:sp>
      <p:sp>
        <p:nvSpPr>
          <p:cNvPr id="61" name="cancer screening text">
            <a:hlinkClick r:id="rId10" action="ppaction://hlinksldjump"/>
            <a:extLst>
              <a:ext uri="{FF2B5EF4-FFF2-40B4-BE49-F238E27FC236}">
                <a16:creationId xmlns:a16="http://schemas.microsoft.com/office/drawing/2014/main" id="{7D3EBD09-0A5B-4D1E-B51C-44E3DB5DC019}"/>
              </a:ext>
            </a:extLst>
          </p:cNvPr>
          <p:cNvSpPr txBox="1"/>
          <p:nvPr/>
        </p:nvSpPr>
        <p:spPr>
          <a:xfrm>
            <a:off x="250665" y="5045459"/>
            <a:ext cx="1967278" cy="408623"/>
          </a:xfrm>
          <a:prstGeom prst="roundRect">
            <a:avLst/>
          </a:prstGeom>
          <a:ln w="38100">
            <a:solidFill>
              <a:schemeClr val="accent2"/>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Infectious Disease</a:t>
            </a:r>
          </a:p>
        </p:txBody>
      </p:sp>
      <p:pic>
        <p:nvPicPr>
          <p:cNvPr id="62" name="Graphic 61" descr="Cursor with solid fill">
            <a:extLst>
              <a:ext uri="{FF2B5EF4-FFF2-40B4-BE49-F238E27FC236}">
                <a16:creationId xmlns:a16="http://schemas.microsoft.com/office/drawing/2014/main" id="{B3ED86CB-D3B6-4A45-BE8E-ED730526056C}"/>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060407" y="5238530"/>
            <a:ext cx="395274" cy="395274"/>
          </a:xfrm>
          <a:prstGeom prst="rect">
            <a:avLst/>
          </a:prstGeom>
        </p:spPr>
      </p:pic>
      <p:pic>
        <p:nvPicPr>
          <p:cNvPr id="65" name="Graphic 64" descr="Cursor with solid fill">
            <a:hlinkClick r:id="rId11" action="ppaction://hlinksldjump"/>
            <a:extLst>
              <a:ext uri="{FF2B5EF4-FFF2-40B4-BE49-F238E27FC236}">
                <a16:creationId xmlns:a16="http://schemas.microsoft.com/office/drawing/2014/main" id="{3FD1D261-7255-437E-B091-D3F74F9A9E9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938530" y="3545310"/>
            <a:ext cx="395274" cy="395274"/>
          </a:xfrm>
          <a:prstGeom prst="rect">
            <a:avLst/>
          </a:prstGeom>
        </p:spPr>
      </p:pic>
      <p:pic>
        <p:nvPicPr>
          <p:cNvPr id="66" name="Graphic 65" descr="Cursor with solid fill">
            <a:hlinkClick r:id="rId6" action="ppaction://hlinksldjump"/>
            <a:extLst>
              <a:ext uri="{FF2B5EF4-FFF2-40B4-BE49-F238E27FC236}">
                <a16:creationId xmlns:a16="http://schemas.microsoft.com/office/drawing/2014/main" id="{EBFAAB54-9348-45B7-999C-760D3443D2E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938530" y="4114933"/>
            <a:ext cx="395274" cy="395274"/>
          </a:xfrm>
          <a:prstGeom prst="rect">
            <a:avLst/>
          </a:prstGeom>
        </p:spPr>
      </p:pic>
      <p:pic>
        <p:nvPicPr>
          <p:cNvPr id="67" name="Graphic 66" descr="Cursor with solid fill">
            <a:hlinkClick r:id="rId11" action="ppaction://hlinksldjump"/>
            <a:extLst>
              <a:ext uri="{FF2B5EF4-FFF2-40B4-BE49-F238E27FC236}">
                <a16:creationId xmlns:a16="http://schemas.microsoft.com/office/drawing/2014/main" id="{80035A60-42D6-409A-9ABD-4C79856638E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938530" y="2952399"/>
            <a:ext cx="395274" cy="395274"/>
          </a:xfrm>
          <a:prstGeom prst="rect">
            <a:avLst/>
          </a:prstGeom>
        </p:spPr>
      </p:pic>
      <p:pic>
        <p:nvPicPr>
          <p:cNvPr id="68" name="Graphic 67" descr="Cursor with solid fill">
            <a:hlinkClick r:id="rId5" action="ppaction://hlinksldjump"/>
            <a:extLst>
              <a:ext uri="{FF2B5EF4-FFF2-40B4-BE49-F238E27FC236}">
                <a16:creationId xmlns:a16="http://schemas.microsoft.com/office/drawing/2014/main" id="{3F642D1C-4810-489F-BC2E-4DD88C50C77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938530" y="4698668"/>
            <a:ext cx="395274" cy="395274"/>
          </a:xfrm>
          <a:prstGeom prst="rect">
            <a:avLst/>
          </a:prstGeom>
        </p:spPr>
      </p:pic>
      <p:grpSp>
        <p:nvGrpSpPr>
          <p:cNvPr id="69" name="Question 2 button">
            <a:extLst>
              <a:ext uri="{FF2B5EF4-FFF2-40B4-BE49-F238E27FC236}">
                <a16:creationId xmlns:a16="http://schemas.microsoft.com/office/drawing/2014/main" id="{4F129958-93C4-464F-B627-8E7FF9277E77}"/>
              </a:ext>
            </a:extLst>
          </p:cNvPr>
          <p:cNvGrpSpPr/>
          <p:nvPr/>
        </p:nvGrpSpPr>
        <p:grpSpPr>
          <a:xfrm>
            <a:off x="250666" y="118378"/>
            <a:ext cx="2631617" cy="641990"/>
            <a:chOff x="111732" y="1020981"/>
            <a:chExt cx="2631617" cy="641990"/>
          </a:xfrm>
        </p:grpSpPr>
        <p:sp>
          <p:nvSpPr>
            <p:cNvPr id="70" name="Question 2">
              <a:hlinkClick r:id="rId12" action="ppaction://hlinksldjump"/>
              <a:extLst>
                <a:ext uri="{FF2B5EF4-FFF2-40B4-BE49-F238E27FC236}">
                  <a16:creationId xmlns:a16="http://schemas.microsoft.com/office/drawing/2014/main" id="{DF19625E-3647-4358-80ED-6ED85AD4D6FD}"/>
                </a:ext>
              </a:extLst>
            </p:cNvPr>
            <p:cNvSpPr txBox="1"/>
            <p:nvPr/>
          </p:nvSpPr>
          <p:spPr>
            <a:xfrm>
              <a:off x="111732" y="1020981"/>
              <a:ext cx="2404590"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When to screen?</a:t>
              </a:r>
            </a:p>
          </p:txBody>
        </p:sp>
        <p:pic>
          <p:nvPicPr>
            <p:cNvPr id="71" name="Graphic 70" descr="Cursor with solid fill">
              <a:extLst>
                <a:ext uri="{FF2B5EF4-FFF2-40B4-BE49-F238E27FC236}">
                  <a16:creationId xmlns:a16="http://schemas.microsoft.com/office/drawing/2014/main" id="{37936EA1-281A-41CC-895F-5C84D10D471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348075" y="1267697"/>
              <a:ext cx="395274" cy="395274"/>
            </a:xfrm>
            <a:prstGeom prst="rect">
              <a:avLst/>
            </a:prstGeom>
          </p:spPr>
        </p:pic>
      </p:grpSp>
      <p:grpSp>
        <p:nvGrpSpPr>
          <p:cNvPr id="72" name="Question 2 button">
            <a:extLst>
              <a:ext uri="{FF2B5EF4-FFF2-40B4-BE49-F238E27FC236}">
                <a16:creationId xmlns:a16="http://schemas.microsoft.com/office/drawing/2014/main" id="{EF68DDEA-8869-4017-BD72-6B6E71A23C49}"/>
              </a:ext>
            </a:extLst>
          </p:cNvPr>
          <p:cNvGrpSpPr/>
          <p:nvPr/>
        </p:nvGrpSpPr>
        <p:grpSpPr>
          <a:xfrm>
            <a:off x="250666" y="757570"/>
            <a:ext cx="2600289" cy="912726"/>
            <a:chOff x="197047" y="1133988"/>
            <a:chExt cx="2600289" cy="912726"/>
          </a:xfrm>
        </p:grpSpPr>
        <p:sp>
          <p:nvSpPr>
            <p:cNvPr id="73" name="Question 2">
              <a:hlinkClick r:id="rId3" action="ppaction://hlinksldjump"/>
              <a:extLst>
                <a:ext uri="{FF2B5EF4-FFF2-40B4-BE49-F238E27FC236}">
                  <a16:creationId xmlns:a16="http://schemas.microsoft.com/office/drawing/2014/main" id="{9021C8D8-0F63-46A3-A900-EF81694F2DEE}"/>
                </a:ext>
              </a:extLst>
            </p:cNvPr>
            <p:cNvSpPr txBox="1"/>
            <p:nvPr/>
          </p:nvSpPr>
          <p:spPr>
            <a:xfrm>
              <a:off x="197047" y="1133988"/>
              <a:ext cx="2404590" cy="715089"/>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5 domains of prevention/screening </a:t>
              </a:r>
            </a:p>
          </p:txBody>
        </p:sp>
        <p:pic>
          <p:nvPicPr>
            <p:cNvPr id="74" name="Graphic 73" descr="Cursor with solid fill">
              <a:extLst>
                <a:ext uri="{FF2B5EF4-FFF2-40B4-BE49-F238E27FC236}">
                  <a16:creationId xmlns:a16="http://schemas.microsoft.com/office/drawing/2014/main" id="{B04CC492-9215-4B71-8BA5-61B926C8A6A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402062" y="1651440"/>
              <a:ext cx="395274" cy="395274"/>
            </a:xfrm>
            <a:prstGeom prst="rect">
              <a:avLst/>
            </a:prstGeom>
          </p:spPr>
        </p:pic>
      </p:grpSp>
    </p:spTree>
    <p:extLst>
      <p:ext uri="{BB962C8B-B14F-4D97-AF65-F5344CB8AC3E}">
        <p14:creationId xmlns:p14="http://schemas.microsoft.com/office/powerpoint/2010/main" val="114408542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21"/>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7"/>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124"/>
                                        </p:tgtEl>
                                        <p:attrNameLst>
                                          <p:attrName>style.visibility</p:attrName>
                                        </p:attrNameLst>
                                      </p:cBhvr>
                                      <p:to>
                                        <p:strVal val="hidden"/>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nextCondLst>
                <p:cond evt="onClick" delay="0">
                  <p:tgtEl>
                    <p:spTgt spid="121"/>
                  </p:tgtEl>
                </p:cond>
              </p:nextCondLst>
            </p:seq>
            <p:seq concurrent="1" nextAc="seek">
              <p:cTn id="11" restart="whenNotActive" fill="hold" evtFilter="cancelBubble" nodeType="interactiveSeq">
                <p:stCondLst>
                  <p:cond evt="onClick" delay="0">
                    <p:tgtEl>
                      <p:spTgt spid="122"/>
                    </p:tgtEl>
                  </p:cond>
                </p:stCondLst>
                <p:endSync evt="end" delay="0">
                  <p:rtn val="all"/>
                </p:endSync>
                <p:childTnLst>
                  <p:par>
                    <p:cTn id="12" fill="hold">
                      <p:stCondLst>
                        <p:cond delay="0"/>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28"/>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childTnLst>
                                </p:cTn>
                              </p:par>
                              <p:par>
                                <p:cTn id="18" presetID="1" presetClass="exit" presetSubtype="0" fill="hold" nodeType="withEffect">
                                  <p:stCondLst>
                                    <p:cond delay="0"/>
                                  </p:stCondLst>
                                  <p:childTnLst>
                                    <p:set>
                                      <p:cBhvr>
                                        <p:cTn id="19" dur="1" fill="hold">
                                          <p:stCondLst>
                                            <p:cond delay="0"/>
                                          </p:stCondLst>
                                        </p:cTn>
                                        <p:tgtEl>
                                          <p:spTgt spid="125"/>
                                        </p:tgtEl>
                                        <p:attrNameLst>
                                          <p:attrName>style.visibility</p:attrName>
                                        </p:attrNameLst>
                                      </p:cBhvr>
                                      <p:to>
                                        <p:strVal val="hidden"/>
                                      </p:to>
                                    </p:set>
                                  </p:childTnLst>
                                </p:cTn>
                              </p:par>
                            </p:childTnLst>
                          </p:cTn>
                        </p:par>
                      </p:childTnLst>
                    </p:cTn>
                  </p:par>
                </p:childTnLst>
              </p:cTn>
              <p:nextCondLst>
                <p:cond evt="onClick" delay="0">
                  <p:tgtEl>
                    <p:spTgt spid="122"/>
                  </p:tgtEl>
                </p:cond>
              </p:nextCondLst>
            </p:seq>
            <p:seq concurrent="1" nextAc="seek">
              <p:cTn id="20" restart="whenNotActive" fill="hold" evtFilter="cancelBubble" nodeType="interactiveSeq">
                <p:stCondLst>
                  <p:cond evt="onClick" delay="0">
                    <p:tgtEl>
                      <p:spTgt spid="123"/>
                    </p:tgtEl>
                  </p:cond>
                </p:stCondLst>
                <p:endSync evt="end" delay="0">
                  <p:rtn val="all"/>
                </p:endSync>
                <p:childTnLst>
                  <p:par>
                    <p:cTn id="21" fill="hold">
                      <p:stCondLst>
                        <p:cond delay="0"/>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9"/>
                                        </p:tgtEl>
                                        <p:attrNameLst>
                                          <p:attrName>style.visibility</p:attrName>
                                        </p:attrNameLst>
                                      </p:cBhvr>
                                      <p:to>
                                        <p:strVal val="visible"/>
                                      </p:to>
                                    </p:set>
                                  </p:childTnLst>
                                </p:cTn>
                              </p:par>
                              <p:par>
                                <p:cTn id="25" presetID="1" presetClass="exit" presetSubtype="0" fill="hold" nodeType="withEffect">
                                  <p:stCondLst>
                                    <p:cond delay="0"/>
                                  </p:stCondLst>
                                  <p:childTnLst>
                                    <p:set>
                                      <p:cBhvr>
                                        <p:cTn id="26" dur="1" fill="hold">
                                          <p:stCondLst>
                                            <p:cond delay="0"/>
                                          </p:stCondLst>
                                        </p:cTn>
                                        <p:tgtEl>
                                          <p:spTgt spid="126"/>
                                        </p:tgtEl>
                                        <p:attrNameLst>
                                          <p:attrName>style.visibility</p:attrName>
                                        </p:attrNameLst>
                                      </p:cBhvr>
                                      <p:to>
                                        <p:strVal val="hidden"/>
                                      </p:to>
                                    </p:set>
                                  </p:childTnLst>
                                </p:cTn>
                              </p:par>
                            </p:childTnLst>
                          </p:cTn>
                        </p:par>
                      </p:childTnLst>
                    </p:cTn>
                  </p:par>
                </p:childTnLst>
              </p:cTn>
              <p:nextCondLst>
                <p:cond evt="onClick" delay="0">
                  <p:tgtEl>
                    <p:spTgt spid="123"/>
                  </p:tgtEl>
                </p:cond>
              </p:nextCondLst>
            </p:seq>
          </p:childTnLst>
        </p:cTn>
      </p:par>
    </p:tnLst>
    <p:bldLst>
      <p:bldP spid="127" grpId="0"/>
      <p:bldP spid="128" grpId="0"/>
      <p:bldP spid="129" grpId="0"/>
      <p:bldP spid="8" grpId="0" animBg="1"/>
      <p:bldP spid="11" grpId="0"/>
    </p:bldLst>
  </p:timing>
  <p:extLst>
    <p:ext uri="{E180D4A7-C9FB-4DFB-919C-405C955672EB}">
      <p14:showEvtLst xmlns:p14="http://schemas.microsoft.com/office/powerpoint/2010/main">
        <p14:triggerEvt type="onClick" time="19411" objId="121"/>
        <p14:triggerEvt type="onClick" time="28853" objId="122"/>
        <p14:triggerEvt type="onClick" time="32536" objId="123"/>
      </p14:showEvtLst>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Rectangle 96">
            <a:extLst>
              <a:ext uri="{FF2B5EF4-FFF2-40B4-BE49-F238E27FC236}">
                <a16:creationId xmlns:a16="http://schemas.microsoft.com/office/drawing/2014/main" id="{60FD2C94-23AD-453C-A55F-38ABF773540E}"/>
              </a:ext>
            </a:extLst>
          </p:cNvPr>
          <p:cNvSpPr/>
          <p:nvPr/>
        </p:nvSpPr>
        <p:spPr>
          <a:xfrm>
            <a:off x="2902349" y="118378"/>
            <a:ext cx="6889263" cy="63919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Colon Cancer Screening </a:t>
            </a:r>
          </a:p>
        </p:txBody>
      </p:sp>
      <p:sp>
        <p:nvSpPr>
          <p:cNvPr id="98" name="cancer screening text">
            <a:extLst>
              <a:ext uri="{FF2B5EF4-FFF2-40B4-BE49-F238E27FC236}">
                <a16:creationId xmlns:a16="http://schemas.microsoft.com/office/drawing/2014/main" id="{9ECC0811-677B-4C06-9A05-086F177CD50A}"/>
              </a:ext>
            </a:extLst>
          </p:cNvPr>
          <p:cNvSpPr txBox="1"/>
          <p:nvPr/>
        </p:nvSpPr>
        <p:spPr>
          <a:xfrm>
            <a:off x="250666" y="1662473"/>
            <a:ext cx="1967278" cy="408623"/>
          </a:xfrm>
          <a:prstGeom prst="roundRect">
            <a:avLst/>
          </a:prstGeom>
          <a:solidFill>
            <a:schemeClr val="accent1"/>
          </a:solidFill>
          <a:ln w="38100">
            <a:solidFill>
              <a:schemeClr val="accent1"/>
            </a:solidFill>
          </a:ln>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bg1"/>
                </a:solidFill>
              </a:rPr>
              <a:t>Cancer Screening</a:t>
            </a:r>
          </a:p>
        </p:txBody>
      </p:sp>
      <p:sp>
        <p:nvSpPr>
          <p:cNvPr id="102" name="sub-q 2">
            <a:hlinkClick r:id="rId3" action="ppaction://hlinksldjump"/>
            <a:extLst>
              <a:ext uri="{FF2B5EF4-FFF2-40B4-BE49-F238E27FC236}">
                <a16:creationId xmlns:a16="http://schemas.microsoft.com/office/drawing/2014/main" id="{282418AB-781B-4F8A-B21E-B7950DDC1D8D}"/>
              </a:ext>
            </a:extLst>
          </p:cNvPr>
          <p:cNvSpPr txBox="1"/>
          <p:nvPr/>
        </p:nvSpPr>
        <p:spPr>
          <a:xfrm>
            <a:off x="498238" y="2771697"/>
            <a:ext cx="1608491" cy="408623"/>
          </a:xfrm>
          <a:prstGeom prst="roundRect">
            <a:avLst/>
          </a:prstGeom>
          <a:solidFill>
            <a:schemeClr val="accent6"/>
          </a:solidFill>
          <a:ln w="38100"/>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ctr"/>
            <a:r>
              <a:rPr lang="en-US" dirty="0"/>
              <a:t>Colon</a:t>
            </a:r>
          </a:p>
        </p:txBody>
      </p:sp>
      <p:grpSp>
        <p:nvGrpSpPr>
          <p:cNvPr id="104" name="sub-group arrows">
            <a:extLst>
              <a:ext uri="{FF2B5EF4-FFF2-40B4-BE49-F238E27FC236}">
                <a16:creationId xmlns:a16="http://schemas.microsoft.com/office/drawing/2014/main" id="{C022DF5B-D367-49E3-A4B3-8635B54D9F9A}"/>
              </a:ext>
            </a:extLst>
          </p:cNvPr>
          <p:cNvGrpSpPr/>
          <p:nvPr/>
        </p:nvGrpSpPr>
        <p:grpSpPr>
          <a:xfrm>
            <a:off x="325393" y="2072495"/>
            <a:ext cx="172846" cy="903514"/>
            <a:chOff x="325393" y="2072495"/>
            <a:chExt cx="172846" cy="903514"/>
          </a:xfrm>
        </p:grpSpPr>
        <p:cxnSp>
          <p:nvCxnSpPr>
            <p:cNvPr id="105" name="Connector: Elbow 104">
              <a:extLst>
                <a:ext uri="{FF2B5EF4-FFF2-40B4-BE49-F238E27FC236}">
                  <a16:creationId xmlns:a16="http://schemas.microsoft.com/office/drawing/2014/main" id="{7FE0C69F-2808-4909-84F5-B8C3E90937F4}"/>
                </a:ext>
              </a:extLst>
            </p:cNvPr>
            <p:cNvCxnSpPr>
              <a:cxnSpLocks/>
            </p:cNvCxnSpPr>
            <p:nvPr/>
          </p:nvCxnSpPr>
          <p:spPr>
            <a:xfrm rot="16200000" flipH="1">
              <a:off x="235610" y="2162278"/>
              <a:ext cx="352412" cy="172846"/>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106" name="Connector: Elbow 105">
              <a:extLst>
                <a:ext uri="{FF2B5EF4-FFF2-40B4-BE49-F238E27FC236}">
                  <a16:creationId xmlns:a16="http://schemas.microsoft.com/office/drawing/2014/main" id="{3AD695DD-9EAA-4BBD-88D3-F25597066B2C}"/>
                </a:ext>
              </a:extLst>
            </p:cNvPr>
            <p:cNvCxnSpPr>
              <a:cxnSpLocks/>
              <a:endCxn id="102" idx="1"/>
            </p:cNvCxnSpPr>
            <p:nvPr/>
          </p:nvCxnSpPr>
          <p:spPr>
            <a:xfrm rot="16200000" flipH="1">
              <a:off x="-35902" y="2441869"/>
              <a:ext cx="895436" cy="172844"/>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grpSp>
      <p:grpSp>
        <p:nvGrpSpPr>
          <p:cNvPr id="107" name="sub-group arrows">
            <a:extLst>
              <a:ext uri="{FF2B5EF4-FFF2-40B4-BE49-F238E27FC236}">
                <a16:creationId xmlns:a16="http://schemas.microsoft.com/office/drawing/2014/main" id="{71F7B2B2-6A70-412C-A452-BAC8E0192B1A}"/>
              </a:ext>
            </a:extLst>
          </p:cNvPr>
          <p:cNvGrpSpPr/>
          <p:nvPr/>
        </p:nvGrpSpPr>
        <p:grpSpPr>
          <a:xfrm>
            <a:off x="325394" y="3169916"/>
            <a:ext cx="172844" cy="904913"/>
            <a:chOff x="479213" y="1473534"/>
            <a:chExt cx="172844" cy="904913"/>
          </a:xfrm>
        </p:grpSpPr>
        <p:cxnSp>
          <p:nvCxnSpPr>
            <p:cNvPr id="108" name="Connector: Elbow 107">
              <a:extLst>
                <a:ext uri="{FF2B5EF4-FFF2-40B4-BE49-F238E27FC236}">
                  <a16:creationId xmlns:a16="http://schemas.microsoft.com/office/drawing/2014/main" id="{1B0149C1-77F1-4DD5-8376-5FE4E26EF408}"/>
                </a:ext>
              </a:extLst>
            </p:cNvPr>
            <p:cNvCxnSpPr>
              <a:cxnSpLocks/>
            </p:cNvCxnSpPr>
            <p:nvPr/>
          </p:nvCxnSpPr>
          <p:spPr>
            <a:xfrm rot="16200000" flipH="1">
              <a:off x="389429" y="1563318"/>
              <a:ext cx="352412" cy="172843"/>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109" name="Connector: Elbow 108">
              <a:extLst>
                <a:ext uri="{FF2B5EF4-FFF2-40B4-BE49-F238E27FC236}">
                  <a16:creationId xmlns:a16="http://schemas.microsoft.com/office/drawing/2014/main" id="{8F262EC8-3528-4103-B7D4-36F10F56B6B0}"/>
                </a:ext>
              </a:extLst>
            </p:cNvPr>
            <p:cNvCxnSpPr>
              <a:cxnSpLocks/>
            </p:cNvCxnSpPr>
            <p:nvPr/>
          </p:nvCxnSpPr>
          <p:spPr>
            <a:xfrm rot="16200000" flipH="1">
              <a:off x="117918" y="1844308"/>
              <a:ext cx="895435" cy="172843"/>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grpSp>
      <p:sp>
        <p:nvSpPr>
          <p:cNvPr id="110" name="sub-q 2">
            <a:hlinkClick r:id="rId4" action="ppaction://hlinksldjump"/>
            <a:extLst>
              <a:ext uri="{FF2B5EF4-FFF2-40B4-BE49-F238E27FC236}">
                <a16:creationId xmlns:a16="http://schemas.microsoft.com/office/drawing/2014/main" id="{E5B8EC3E-2FE4-4B6E-94F7-1A413E77D069}"/>
              </a:ext>
            </a:extLst>
          </p:cNvPr>
          <p:cNvSpPr txBox="1"/>
          <p:nvPr/>
        </p:nvSpPr>
        <p:spPr>
          <a:xfrm>
            <a:off x="504771" y="3324199"/>
            <a:ext cx="1608491"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Cervical</a:t>
            </a:r>
          </a:p>
        </p:txBody>
      </p:sp>
      <p:cxnSp>
        <p:nvCxnSpPr>
          <p:cNvPr id="112" name="Straight Connector 111">
            <a:extLst>
              <a:ext uri="{FF2B5EF4-FFF2-40B4-BE49-F238E27FC236}">
                <a16:creationId xmlns:a16="http://schemas.microsoft.com/office/drawing/2014/main" id="{D96ED0B0-F461-4CE0-93BC-E857256CC465}"/>
              </a:ext>
            </a:extLst>
          </p:cNvPr>
          <p:cNvCxnSpPr/>
          <p:nvPr/>
        </p:nvCxnSpPr>
        <p:spPr>
          <a:xfrm>
            <a:off x="325394" y="2976008"/>
            <a:ext cx="0" cy="34819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3" name="sub-group arrows">
            <a:extLst>
              <a:ext uri="{FF2B5EF4-FFF2-40B4-BE49-F238E27FC236}">
                <a16:creationId xmlns:a16="http://schemas.microsoft.com/office/drawing/2014/main" id="{8AA2B209-5C9B-4ABA-AD44-1BB9FFC388C8}"/>
              </a:ext>
            </a:extLst>
          </p:cNvPr>
          <p:cNvGrpSpPr/>
          <p:nvPr/>
        </p:nvGrpSpPr>
        <p:grpSpPr>
          <a:xfrm>
            <a:off x="325213" y="3735583"/>
            <a:ext cx="172844" cy="904913"/>
            <a:chOff x="479213" y="1473534"/>
            <a:chExt cx="172844" cy="904913"/>
          </a:xfrm>
        </p:grpSpPr>
        <p:cxnSp>
          <p:nvCxnSpPr>
            <p:cNvPr id="114" name="Connector: Elbow 113">
              <a:extLst>
                <a:ext uri="{FF2B5EF4-FFF2-40B4-BE49-F238E27FC236}">
                  <a16:creationId xmlns:a16="http://schemas.microsoft.com/office/drawing/2014/main" id="{3F2212A7-817C-4C37-9289-4470ECCD973D}"/>
                </a:ext>
              </a:extLst>
            </p:cNvPr>
            <p:cNvCxnSpPr>
              <a:cxnSpLocks/>
            </p:cNvCxnSpPr>
            <p:nvPr/>
          </p:nvCxnSpPr>
          <p:spPr>
            <a:xfrm rot="16200000" flipH="1">
              <a:off x="389429" y="1563318"/>
              <a:ext cx="352412" cy="172843"/>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115" name="Connector: Elbow 114">
              <a:extLst>
                <a:ext uri="{FF2B5EF4-FFF2-40B4-BE49-F238E27FC236}">
                  <a16:creationId xmlns:a16="http://schemas.microsoft.com/office/drawing/2014/main" id="{6CB6C2D1-D720-43A7-BC5C-66281ED4FAAC}"/>
                </a:ext>
              </a:extLst>
            </p:cNvPr>
            <p:cNvCxnSpPr>
              <a:cxnSpLocks/>
            </p:cNvCxnSpPr>
            <p:nvPr/>
          </p:nvCxnSpPr>
          <p:spPr>
            <a:xfrm rot="16200000" flipH="1">
              <a:off x="117918" y="1844308"/>
              <a:ext cx="895435" cy="172843"/>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grpSp>
      <p:cxnSp>
        <p:nvCxnSpPr>
          <p:cNvPr id="116" name="Straight Connector 115">
            <a:extLst>
              <a:ext uri="{FF2B5EF4-FFF2-40B4-BE49-F238E27FC236}">
                <a16:creationId xmlns:a16="http://schemas.microsoft.com/office/drawing/2014/main" id="{3AD7F41E-1873-476A-83B0-49CEEE94023B}"/>
              </a:ext>
            </a:extLst>
          </p:cNvPr>
          <p:cNvCxnSpPr/>
          <p:nvPr/>
        </p:nvCxnSpPr>
        <p:spPr>
          <a:xfrm>
            <a:off x="325394" y="4070143"/>
            <a:ext cx="0" cy="34819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7" name="sub-q 2">
            <a:hlinkClick r:id="rId5" action="ppaction://hlinksldjump"/>
            <a:extLst>
              <a:ext uri="{FF2B5EF4-FFF2-40B4-BE49-F238E27FC236}">
                <a16:creationId xmlns:a16="http://schemas.microsoft.com/office/drawing/2014/main" id="{6E4D1D00-BCE5-4EEE-84FF-8FC0997515D3}"/>
              </a:ext>
            </a:extLst>
          </p:cNvPr>
          <p:cNvSpPr txBox="1"/>
          <p:nvPr/>
        </p:nvSpPr>
        <p:spPr>
          <a:xfrm>
            <a:off x="504771" y="3905327"/>
            <a:ext cx="1608491"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Lung</a:t>
            </a:r>
          </a:p>
        </p:txBody>
      </p:sp>
      <p:sp>
        <p:nvSpPr>
          <p:cNvPr id="119" name="sub-q 2">
            <a:hlinkClick r:id="rId6" action="ppaction://hlinksldjump"/>
            <a:extLst>
              <a:ext uri="{FF2B5EF4-FFF2-40B4-BE49-F238E27FC236}">
                <a16:creationId xmlns:a16="http://schemas.microsoft.com/office/drawing/2014/main" id="{382F7AEA-F32D-496E-81BD-F9A8D0B51B8E}"/>
              </a:ext>
            </a:extLst>
          </p:cNvPr>
          <p:cNvSpPr txBox="1"/>
          <p:nvPr/>
        </p:nvSpPr>
        <p:spPr>
          <a:xfrm>
            <a:off x="504771" y="4474545"/>
            <a:ext cx="1608491"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Prostate</a:t>
            </a:r>
          </a:p>
        </p:txBody>
      </p:sp>
      <p:pic>
        <p:nvPicPr>
          <p:cNvPr id="120" name="Graphic 119" descr="Cursor with solid fill">
            <a:hlinkClick r:id="rId7" action="ppaction://hlinksldjump"/>
            <a:extLst>
              <a:ext uri="{FF2B5EF4-FFF2-40B4-BE49-F238E27FC236}">
                <a16:creationId xmlns:a16="http://schemas.microsoft.com/office/drawing/2014/main" id="{1E98EE28-1D37-40B8-9D24-00B32C46E43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933070" y="4698668"/>
            <a:ext cx="395274" cy="395274"/>
          </a:xfrm>
          <a:prstGeom prst="rect">
            <a:avLst/>
          </a:prstGeom>
        </p:spPr>
      </p:pic>
      <p:sp>
        <p:nvSpPr>
          <p:cNvPr id="121" name="Population">
            <a:extLst>
              <a:ext uri="{FF2B5EF4-FFF2-40B4-BE49-F238E27FC236}">
                <a16:creationId xmlns:a16="http://schemas.microsoft.com/office/drawing/2014/main" id="{C99F06D1-A87E-4CB3-A4ED-4F03EF3C50BA}"/>
              </a:ext>
            </a:extLst>
          </p:cNvPr>
          <p:cNvSpPr/>
          <p:nvPr/>
        </p:nvSpPr>
        <p:spPr>
          <a:xfrm>
            <a:off x="3140359" y="1183085"/>
            <a:ext cx="2531092" cy="629768"/>
          </a:xfrm>
          <a:prstGeom prst="roundRect">
            <a:avLst/>
          </a:prstGeom>
          <a:solidFill>
            <a:schemeClr val="accent6"/>
          </a:solidFill>
          <a:ln w="38100">
            <a:solidFill>
              <a:schemeClr val="accent6">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Population?</a:t>
            </a:r>
          </a:p>
        </p:txBody>
      </p:sp>
      <p:sp>
        <p:nvSpPr>
          <p:cNvPr id="122" name="Interval">
            <a:extLst>
              <a:ext uri="{FF2B5EF4-FFF2-40B4-BE49-F238E27FC236}">
                <a16:creationId xmlns:a16="http://schemas.microsoft.com/office/drawing/2014/main" id="{AA5500C0-A28E-4C0E-9A2C-4738B3A5C521}"/>
              </a:ext>
            </a:extLst>
          </p:cNvPr>
          <p:cNvSpPr/>
          <p:nvPr/>
        </p:nvSpPr>
        <p:spPr>
          <a:xfrm>
            <a:off x="6142445" y="1174751"/>
            <a:ext cx="2753832" cy="639192"/>
          </a:xfrm>
          <a:prstGeom prst="roundRect">
            <a:avLst/>
          </a:prstGeom>
          <a:solidFill>
            <a:schemeClr val="accent6"/>
          </a:solidFill>
          <a:ln w="38100">
            <a:solidFill>
              <a:schemeClr val="accent6">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Modality and Interval?</a:t>
            </a:r>
          </a:p>
        </p:txBody>
      </p:sp>
      <p:sp>
        <p:nvSpPr>
          <p:cNvPr id="123" name="Discontinuation">
            <a:extLst>
              <a:ext uri="{FF2B5EF4-FFF2-40B4-BE49-F238E27FC236}">
                <a16:creationId xmlns:a16="http://schemas.microsoft.com/office/drawing/2014/main" id="{9764FED7-14C9-4958-9BC5-8C9606B04315}"/>
              </a:ext>
            </a:extLst>
          </p:cNvPr>
          <p:cNvSpPr/>
          <p:nvPr/>
        </p:nvSpPr>
        <p:spPr>
          <a:xfrm>
            <a:off x="9469285" y="1179416"/>
            <a:ext cx="2171371" cy="639192"/>
          </a:xfrm>
          <a:prstGeom prst="roundRect">
            <a:avLst/>
          </a:prstGeom>
          <a:solidFill>
            <a:schemeClr val="accent6"/>
          </a:solidFill>
          <a:ln w="38100">
            <a:solidFill>
              <a:schemeClr val="accent6">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Discontinuation?</a:t>
            </a:r>
          </a:p>
        </p:txBody>
      </p:sp>
      <p:pic>
        <p:nvPicPr>
          <p:cNvPr id="124" name="Graphic 123" descr="Cursor with solid fill">
            <a:extLst>
              <a:ext uri="{FF2B5EF4-FFF2-40B4-BE49-F238E27FC236}">
                <a16:creationId xmlns:a16="http://schemas.microsoft.com/office/drawing/2014/main" id="{AEED258D-0461-4023-BD78-16CE936F8E79}"/>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458928" y="1577389"/>
            <a:ext cx="395274" cy="395274"/>
          </a:xfrm>
          <a:prstGeom prst="rect">
            <a:avLst/>
          </a:prstGeom>
        </p:spPr>
      </p:pic>
      <p:pic>
        <p:nvPicPr>
          <p:cNvPr id="125" name="Graphic 124" descr="Cursor with solid fill">
            <a:extLst>
              <a:ext uri="{FF2B5EF4-FFF2-40B4-BE49-F238E27FC236}">
                <a16:creationId xmlns:a16="http://schemas.microsoft.com/office/drawing/2014/main" id="{5E3F3D47-0492-4537-B1F8-4074F3EF48C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698640" y="1589771"/>
            <a:ext cx="395274" cy="395274"/>
          </a:xfrm>
          <a:prstGeom prst="rect">
            <a:avLst/>
          </a:prstGeom>
        </p:spPr>
      </p:pic>
      <p:pic>
        <p:nvPicPr>
          <p:cNvPr id="126" name="Graphic 125" descr="Cursor with solid fill">
            <a:extLst>
              <a:ext uri="{FF2B5EF4-FFF2-40B4-BE49-F238E27FC236}">
                <a16:creationId xmlns:a16="http://schemas.microsoft.com/office/drawing/2014/main" id="{084C6D4E-B543-4114-A3AE-8363191AFBC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1426311" y="1575265"/>
            <a:ext cx="395274" cy="395274"/>
          </a:xfrm>
          <a:prstGeom prst="rect">
            <a:avLst/>
          </a:prstGeom>
        </p:spPr>
      </p:pic>
      <p:grpSp>
        <p:nvGrpSpPr>
          <p:cNvPr id="46" name="Cases button">
            <a:extLst>
              <a:ext uri="{FF2B5EF4-FFF2-40B4-BE49-F238E27FC236}">
                <a16:creationId xmlns:a16="http://schemas.microsoft.com/office/drawing/2014/main" id="{B348D0F5-E0BE-4528-8EB7-613681A18179}"/>
              </a:ext>
            </a:extLst>
          </p:cNvPr>
          <p:cNvGrpSpPr/>
          <p:nvPr/>
        </p:nvGrpSpPr>
        <p:grpSpPr>
          <a:xfrm>
            <a:off x="307848" y="6121182"/>
            <a:ext cx="2082939" cy="606260"/>
            <a:chOff x="207505" y="5523621"/>
            <a:chExt cx="2082939" cy="606260"/>
          </a:xfrm>
        </p:grpSpPr>
        <p:sp>
          <p:nvSpPr>
            <p:cNvPr id="47" name="Cases">
              <a:hlinkClick r:id="rId7" action="ppaction://hlinksldjump"/>
              <a:extLst>
                <a:ext uri="{FF2B5EF4-FFF2-40B4-BE49-F238E27FC236}">
                  <a16:creationId xmlns:a16="http://schemas.microsoft.com/office/drawing/2014/main" id="{DEBA13C2-BD67-445E-AE63-089F0F290629}"/>
                </a:ext>
              </a:extLst>
            </p:cNvPr>
            <p:cNvSpPr txBox="1"/>
            <p:nvPr/>
          </p:nvSpPr>
          <p:spPr>
            <a:xfrm>
              <a:off x="207505" y="5523621"/>
              <a:ext cx="1910096"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CASES</a:t>
              </a:r>
            </a:p>
          </p:txBody>
        </p:sp>
        <p:pic>
          <p:nvPicPr>
            <p:cNvPr id="48" name="Graphic 47" descr="Cursor with solid fill">
              <a:hlinkClick r:id="rId7" action="ppaction://hlinksldjump"/>
              <a:extLst>
                <a:ext uri="{FF2B5EF4-FFF2-40B4-BE49-F238E27FC236}">
                  <a16:creationId xmlns:a16="http://schemas.microsoft.com/office/drawing/2014/main" id="{8FB71CA2-D730-48A5-BAE9-4747C6E3DE0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895170" y="5734607"/>
              <a:ext cx="395274" cy="395274"/>
            </a:xfrm>
            <a:prstGeom prst="rect">
              <a:avLst/>
            </a:prstGeom>
          </p:spPr>
        </p:pic>
      </p:grpSp>
      <p:sp>
        <p:nvSpPr>
          <p:cNvPr id="49" name="TextBox 48">
            <a:extLst>
              <a:ext uri="{FF2B5EF4-FFF2-40B4-BE49-F238E27FC236}">
                <a16:creationId xmlns:a16="http://schemas.microsoft.com/office/drawing/2014/main" id="{5FE4865C-48CD-4511-9789-DACF01CD023C}"/>
              </a:ext>
            </a:extLst>
          </p:cNvPr>
          <p:cNvSpPr txBox="1"/>
          <p:nvPr/>
        </p:nvSpPr>
        <p:spPr>
          <a:xfrm>
            <a:off x="2751027" y="2016015"/>
            <a:ext cx="3244030" cy="923330"/>
          </a:xfrm>
          <a:prstGeom prst="rect">
            <a:avLst/>
          </a:prstGeom>
          <a:noFill/>
        </p:spPr>
        <p:txBody>
          <a:bodyPr wrap="square" rtlCol="0">
            <a:spAutoFit/>
          </a:bodyPr>
          <a:lstStyle/>
          <a:p>
            <a:pPr algn="ctr" rtl="0" fontAlgn="base"/>
            <a:r>
              <a:rPr lang="en-US" dirty="0">
                <a:solidFill>
                  <a:srgbClr val="000000"/>
                </a:solidFill>
              </a:rPr>
              <a:t>Average-risk patients ages 45-79</a:t>
            </a:r>
          </a:p>
          <a:p>
            <a:pPr algn="ctr" rtl="0" fontAlgn="base"/>
            <a:r>
              <a:rPr lang="en-US" dirty="0">
                <a:solidFill>
                  <a:srgbClr val="000000"/>
                </a:solidFill>
              </a:rPr>
              <a:t>(age 45-49 is Grade B)</a:t>
            </a:r>
          </a:p>
          <a:p>
            <a:pPr algn="ctr" rtl="0" fontAlgn="base"/>
            <a:r>
              <a:rPr lang="en-US" dirty="0">
                <a:solidFill>
                  <a:srgbClr val="000000"/>
                </a:solidFill>
              </a:rPr>
              <a:t>(age 76-84 is Grade C)</a:t>
            </a:r>
            <a:endParaRPr lang="en-US" sz="1800" b="0" i="0" dirty="0">
              <a:solidFill>
                <a:srgbClr val="000000"/>
              </a:solidFill>
              <a:effectLst/>
            </a:endParaRPr>
          </a:p>
        </p:txBody>
      </p:sp>
      <p:sp>
        <p:nvSpPr>
          <p:cNvPr id="51" name="TextBox 50">
            <a:extLst>
              <a:ext uri="{FF2B5EF4-FFF2-40B4-BE49-F238E27FC236}">
                <a16:creationId xmlns:a16="http://schemas.microsoft.com/office/drawing/2014/main" id="{E818D3B8-20B3-4693-87B1-F20E281D2798}"/>
              </a:ext>
            </a:extLst>
          </p:cNvPr>
          <p:cNvSpPr txBox="1"/>
          <p:nvPr/>
        </p:nvSpPr>
        <p:spPr>
          <a:xfrm>
            <a:off x="9231583" y="1976580"/>
            <a:ext cx="2639627" cy="923330"/>
          </a:xfrm>
          <a:prstGeom prst="rect">
            <a:avLst/>
          </a:prstGeom>
          <a:noFill/>
        </p:spPr>
        <p:txBody>
          <a:bodyPr wrap="square" rtlCol="0">
            <a:spAutoFit/>
          </a:bodyPr>
          <a:lstStyle/>
          <a:p>
            <a:pPr algn="ctr" fontAlgn="base"/>
            <a:r>
              <a:rPr lang="en-US" b="0" i="0" dirty="0">
                <a:solidFill>
                  <a:srgbClr val="000000"/>
                </a:solidFill>
                <a:effectLst/>
                <a:latin typeface="Calibri" panose="020F0502020204030204" pitchFamily="34" charset="0"/>
              </a:rPr>
              <a:t>Selectively offer in patients age 75 to 85 based on patient factors. </a:t>
            </a:r>
            <a:endParaRPr lang="en-US" sz="1800" b="0" i="0" dirty="0">
              <a:solidFill>
                <a:srgbClr val="000000"/>
              </a:solidFill>
              <a:effectLst/>
            </a:endParaRPr>
          </a:p>
        </p:txBody>
      </p:sp>
      <p:grpSp>
        <p:nvGrpSpPr>
          <p:cNvPr id="45" name="Group 44">
            <a:extLst>
              <a:ext uri="{FF2B5EF4-FFF2-40B4-BE49-F238E27FC236}">
                <a16:creationId xmlns:a16="http://schemas.microsoft.com/office/drawing/2014/main" id="{1A75DF44-6FC7-4096-975D-01DFBA0A3A7F}"/>
              </a:ext>
            </a:extLst>
          </p:cNvPr>
          <p:cNvGrpSpPr/>
          <p:nvPr/>
        </p:nvGrpSpPr>
        <p:grpSpPr>
          <a:xfrm>
            <a:off x="2737307" y="5249771"/>
            <a:ext cx="8884593" cy="946852"/>
            <a:chOff x="2737307" y="4931856"/>
            <a:chExt cx="8884593" cy="1264767"/>
          </a:xfrm>
        </p:grpSpPr>
        <p:sp>
          <p:nvSpPr>
            <p:cNvPr id="52" name="Arrow: Right 51">
              <a:extLst>
                <a:ext uri="{FF2B5EF4-FFF2-40B4-BE49-F238E27FC236}">
                  <a16:creationId xmlns:a16="http://schemas.microsoft.com/office/drawing/2014/main" id="{0E510143-3BD6-4296-A3EF-152E2F1B8A5B}"/>
                </a:ext>
              </a:extLst>
            </p:cNvPr>
            <p:cNvSpPr/>
            <p:nvPr/>
          </p:nvSpPr>
          <p:spPr>
            <a:xfrm>
              <a:off x="2959778" y="4931856"/>
              <a:ext cx="8662122" cy="895435"/>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Connector 52">
              <a:extLst>
                <a:ext uri="{FF2B5EF4-FFF2-40B4-BE49-F238E27FC236}">
                  <a16:creationId xmlns:a16="http://schemas.microsoft.com/office/drawing/2014/main" id="{7324E659-A10D-4DC1-A202-CE6C70232742}"/>
                </a:ext>
              </a:extLst>
            </p:cNvPr>
            <p:cNvCxnSpPr/>
            <p:nvPr/>
          </p:nvCxnSpPr>
          <p:spPr>
            <a:xfrm>
              <a:off x="2959778" y="5034892"/>
              <a:ext cx="0" cy="79239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7DCFD62B-C829-4DC8-BA2F-522CEB4FFA34}"/>
                </a:ext>
              </a:extLst>
            </p:cNvPr>
            <p:cNvSpPr txBox="1"/>
            <p:nvPr/>
          </p:nvSpPr>
          <p:spPr>
            <a:xfrm>
              <a:off x="2737307" y="5827291"/>
              <a:ext cx="505609" cy="369332"/>
            </a:xfrm>
            <a:prstGeom prst="rect">
              <a:avLst/>
            </a:prstGeom>
            <a:noFill/>
          </p:spPr>
          <p:txBody>
            <a:bodyPr wrap="square" rtlCol="0">
              <a:spAutoFit/>
            </a:bodyPr>
            <a:lstStyle/>
            <a:p>
              <a:r>
                <a:rPr lang="en-US" dirty="0"/>
                <a:t>20</a:t>
              </a:r>
            </a:p>
          </p:txBody>
        </p:sp>
        <p:cxnSp>
          <p:nvCxnSpPr>
            <p:cNvPr id="55" name="Straight Connector 54">
              <a:extLst>
                <a:ext uri="{FF2B5EF4-FFF2-40B4-BE49-F238E27FC236}">
                  <a16:creationId xmlns:a16="http://schemas.microsoft.com/office/drawing/2014/main" id="{738CC728-1DA2-49C5-8FC6-1780ABC79738}"/>
                </a:ext>
              </a:extLst>
            </p:cNvPr>
            <p:cNvCxnSpPr/>
            <p:nvPr/>
          </p:nvCxnSpPr>
          <p:spPr>
            <a:xfrm>
              <a:off x="3929759" y="5034892"/>
              <a:ext cx="0" cy="79239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EF536949-71C1-493E-BA3B-84F69297EA0A}"/>
                </a:ext>
              </a:extLst>
            </p:cNvPr>
            <p:cNvSpPr txBox="1"/>
            <p:nvPr/>
          </p:nvSpPr>
          <p:spPr>
            <a:xfrm>
              <a:off x="3676954" y="5827291"/>
              <a:ext cx="505609" cy="369332"/>
            </a:xfrm>
            <a:prstGeom prst="rect">
              <a:avLst/>
            </a:prstGeom>
            <a:noFill/>
          </p:spPr>
          <p:txBody>
            <a:bodyPr wrap="square" rtlCol="0">
              <a:spAutoFit/>
            </a:bodyPr>
            <a:lstStyle/>
            <a:p>
              <a:pPr algn="ctr"/>
              <a:r>
                <a:rPr lang="en-US" dirty="0"/>
                <a:t>30</a:t>
              </a:r>
            </a:p>
          </p:txBody>
        </p:sp>
        <p:cxnSp>
          <p:nvCxnSpPr>
            <p:cNvPr id="60" name="Straight Connector 59">
              <a:extLst>
                <a:ext uri="{FF2B5EF4-FFF2-40B4-BE49-F238E27FC236}">
                  <a16:creationId xmlns:a16="http://schemas.microsoft.com/office/drawing/2014/main" id="{4910AA11-0FE9-4443-99AE-6AAA11C7482E}"/>
                </a:ext>
              </a:extLst>
            </p:cNvPr>
            <p:cNvCxnSpPr/>
            <p:nvPr/>
          </p:nvCxnSpPr>
          <p:spPr>
            <a:xfrm>
              <a:off x="4869406" y="5027506"/>
              <a:ext cx="0" cy="79239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DF0072E9-907C-4F8F-B7AE-DE147C7CD9F6}"/>
                </a:ext>
              </a:extLst>
            </p:cNvPr>
            <p:cNvSpPr txBox="1"/>
            <p:nvPr/>
          </p:nvSpPr>
          <p:spPr>
            <a:xfrm>
              <a:off x="4616601" y="5819905"/>
              <a:ext cx="505609" cy="369332"/>
            </a:xfrm>
            <a:prstGeom prst="rect">
              <a:avLst/>
            </a:prstGeom>
            <a:noFill/>
          </p:spPr>
          <p:txBody>
            <a:bodyPr wrap="square" rtlCol="0">
              <a:spAutoFit/>
            </a:bodyPr>
            <a:lstStyle/>
            <a:p>
              <a:pPr algn="ctr"/>
              <a:r>
                <a:rPr lang="en-US" dirty="0"/>
                <a:t>40</a:t>
              </a:r>
            </a:p>
          </p:txBody>
        </p:sp>
        <p:cxnSp>
          <p:nvCxnSpPr>
            <p:cNvPr id="65" name="Straight Connector 64">
              <a:extLst>
                <a:ext uri="{FF2B5EF4-FFF2-40B4-BE49-F238E27FC236}">
                  <a16:creationId xmlns:a16="http://schemas.microsoft.com/office/drawing/2014/main" id="{39274D22-BE00-4B50-821D-97918084D818}"/>
                </a:ext>
              </a:extLst>
            </p:cNvPr>
            <p:cNvCxnSpPr/>
            <p:nvPr/>
          </p:nvCxnSpPr>
          <p:spPr>
            <a:xfrm>
              <a:off x="6500481" y="5023131"/>
              <a:ext cx="0" cy="79239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D9586AD-1EA8-432F-9620-2A386A25918C}"/>
                </a:ext>
              </a:extLst>
            </p:cNvPr>
            <p:cNvSpPr txBox="1"/>
            <p:nvPr/>
          </p:nvSpPr>
          <p:spPr>
            <a:xfrm>
              <a:off x="6247676" y="5815530"/>
              <a:ext cx="505609" cy="369332"/>
            </a:xfrm>
            <a:prstGeom prst="rect">
              <a:avLst/>
            </a:prstGeom>
            <a:noFill/>
          </p:spPr>
          <p:txBody>
            <a:bodyPr wrap="square" rtlCol="0">
              <a:spAutoFit/>
            </a:bodyPr>
            <a:lstStyle/>
            <a:p>
              <a:pPr algn="ctr"/>
              <a:r>
                <a:rPr lang="en-US" dirty="0"/>
                <a:t>50</a:t>
              </a:r>
            </a:p>
          </p:txBody>
        </p:sp>
        <p:cxnSp>
          <p:nvCxnSpPr>
            <p:cNvPr id="67" name="Straight Connector 66">
              <a:extLst>
                <a:ext uri="{FF2B5EF4-FFF2-40B4-BE49-F238E27FC236}">
                  <a16:creationId xmlns:a16="http://schemas.microsoft.com/office/drawing/2014/main" id="{27F7AE8E-9636-4E10-9917-6320366909AD}"/>
                </a:ext>
              </a:extLst>
            </p:cNvPr>
            <p:cNvCxnSpPr/>
            <p:nvPr/>
          </p:nvCxnSpPr>
          <p:spPr>
            <a:xfrm>
              <a:off x="8106945" y="5011370"/>
              <a:ext cx="0" cy="79239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A5447EEA-065D-40E7-B73D-2F97AB87B9CF}"/>
                </a:ext>
              </a:extLst>
            </p:cNvPr>
            <p:cNvSpPr txBox="1"/>
            <p:nvPr/>
          </p:nvSpPr>
          <p:spPr>
            <a:xfrm>
              <a:off x="7854140" y="5803769"/>
              <a:ext cx="505609" cy="369332"/>
            </a:xfrm>
            <a:prstGeom prst="rect">
              <a:avLst/>
            </a:prstGeom>
            <a:noFill/>
          </p:spPr>
          <p:txBody>
            <a:bodyPr wrap="square" rtlCol="0">
              <a:spAutoFit/>
            </a:bodyPr>
            <a:lstStyle/>
            <a:p>
              <a:pPr algn="ctr"/>
              <a:r>
                <a:rPr lang="en-US" dirty="0"/>
                <a:t>60</a:t>
              </a:r>
            </a:p>
          </p:txBody>
        </p:sp>
        <p:cxnSp>
          <p:nvCxnSpPr>
            <p:cNvPr id="69" name="Straight Connector 68">
              <a:extLst>
                <a:ext uri="{FF2B5EF4-FFF2-40B4-BE49-F238E27FC236}">
                  <a16:creationId xmlns:a16="http://schemas.microsoft.com/office/drawing/2014/main" id="{F667DDB6-A068-48D9-A729-91A1CD9BD522}"/>
                </a:ext>
              </a:extLst>
            </p:cNvPr>
            <p:cNvCxnSpPr/>
            <p:nvPr/>
          </p:nvCxnSpPr>
          <p:spPr>
            <a:xfrm>
              <a:off x="9526425" y="5011370"/>
              <a:ext cx="0" cy="79239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54318519-4816-4D96-9679-FF7B84E30BBC}"/>
                </a:ext>
              </a:extLst>
            </p:cNvPr>
            <p:cNvSpPr txBox="1"/>
            <p:nvPr/>
          </p:nvSpPr>
          <p:spPr>
            <a:xfrm>
              <a:off x="9273620" y="5803769"/>
              <a:ext cx="505609" cy="369332"/>
            </a:xfrm>
            <a:prstGeom prst="rect">
              <a:avLst/>
            </a:prstGeom>
            <a:noFill/>
          </p:spPr>
          <p:txBody>
            <a:bodyPr wrap="square" rtlCol="0">
              <a:spAutoFit/>
            </a:bodyPr>
            <a:lstStyle/>
            <a:p>
              <a:pPr algn="ctr"/>
              <a:r>
                <a:rPr lang="en-US" dirty="0"/>
                <a:t>70</a:t>
              </a:r>
            </a:p>
          </p:txBody>
        </p:sp>
        <p:cxnSp>
          <p:nvCxnSpPr>
            <p:cNvPr id="71" name="Straight Connector 70">
              <a:extLst>
                <a:ext uri="{FF2B5EF4-FFF2-40B4-BE49-F238E27FC236}">
                  <a16:creationId xmlns:a16="http://schemas.microsoft.com/office/drawing/2014/main" id="{39C78294-4FA0-41AA-A2E0-9352E76F8991}"/>
                </a:ext>
              </a:extLst>
            </p:cNvPr>
            <p:cNvCxnSpPr/>
            <p:nvPr/>
          </p:nvCxnSpPr>
          <p:spPr>
            <a:xfrm>
              <a:off x="10792696" y="5034892"/>
              <a:ext cx="0" cy="79239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70E8CC7A-228C-4661-A30E-30C299E8DF17}"/>
                </a:ext>
              </a:extLst>
            </p:cNvPr>
            <p:cNvSpPr txBox="1"/>
            <p:nvPr/>
          </p:nvSpPr>
          <p:spPr>
            <a:xfrm>
              <a:off x="10539891" y="5827291"/>
              <a:ext cx="505609" cy="369332"/>
            </a:xfrm>
            <a:prstGeom prst="rect">
              <a:avLst/>
            </a:prstGeom>
            <a:noFill/>
          </p:spPr>
          <p:txBody>
            <a:bodyPr wrap="square" rtlCol="0">
              <a:spAutoFit/>
            </a:bodyPr>
            <a:lstStyle/>
            <a:p>
              <a:pPr algn="ctr"/>
              <a:r>
                <a:rPr lang="en-US" dirty="0"/>
                <a:t>80</a:t>
              </a:r>
            </a:p>
          </p:txBody>
        </p:sp>
      </p:grpSp>
      <p:sp>
        <p:nvSpPr>
          <p:cNvPr id="73" name="Rectangle 72">
            <a:extLst>
              <a:ext uri="{FF2B5EF4-FFF2-40B4-BE49-F238E27FC236}">
                <a16:creationId xmlns:a16="http://schemas.microsoft.com/office/drawing/2014/main" id="{94DC20D4-0E64-45AA-AA5E-2784DE46BF2A}"/>
              </a:ext>
            </a:extLst>
          </p:cNvPr>
          <p:cNvSpPr/>
          <p:nvPr/>
        </p:nvSpPr>
        <p:spPr>
          <a:xfrm>
            <a:off x="5773481" y="3958091"/>
            <a:ext cx="4373078" cy="129221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Freeform: Shape 1">
            <a:extLst>
              <a:ext uri="{FF2B5EF4-FFF2-40B4-BE49-F238E27FC236}">
                <a16:creationId xmlns:a16="http://schemas.microsoft.com/office/drawing/2014/main" id="{E3BDA640-D7E9-4321-82C6-33C50F663C20}"/>
              </a:ext>
            </a:extLst>
          </p:cNvPr>
          <p:cNvSpPr/>
          <p:nvPr/>
        </p:nvSpPr>
        <p:spPr>
          <a:xfrm>
            <a:off x="3273497" y="4012348"/>
            <a:ext cx="1237911" cy="1192593"/>
          </a:xfrm>
          <a:custGeom>
            <a:avLst/>
            <a:gdLst>
              <a:gd name="connsiteX0" fmla="*/ 179635 w 1240874"/>
              <a:gd name="connsiteY0" fmla="*/ 892178 h 1157541"/>
              <a:gd name="connsiteX1" fmla="*/ 27235 w 1240874"/>
              <a:gd name="connsiteY1" fmla="*/ 770258 h 1157541"/>
              <a:gd name="connsiteX2" fmla="*/ 37395 w 1240874"/>
              <a:gd name="connsiteY2" fmla="*/ 546738 h 1157541"/>
              <a:gd name="connsiteX3" fmla="*/ 6915 w 1240874"/>
              <a:gd name="connsiteY3" fmla="*/ 201298 h 1157541"/>
              <a:gd name="connsiteX4" fmla="*/ 189795 w 1240874"/>
              <a:gd name="connsiteY4" fmla="*/ 38738 h 1157541"/>
              <a:gd name="connsiteX5" fmla="*/ 707955 w 1240874"/>
              <a:gd name="connsiteY5" fmla="*/ 8258 h 1157541"/>
              <a:gd name="connsiteX6" fmla="*/ 1094035 w 1240874"/>
              <a:gd name="connsiteY6" fmla="*/ 48898 h 1157541"/>
              <a:gd name="connsiteX7" fmla="*/ 1236275 w 1240874"/>
              <a:gd name="connsiteY7" fmla="*/ 475618 h 1157541"/>
              <a:gd name="connsiteX8" fmla="*/ 1175315 w 1240874"/>
              <a:gd name="connsiteY8" fmla="*/ 851538 h 1157541"/>
              <a:gd name="connsiteX9" fmla="*/ 880675 w 1240874"/>
              <a:gd name="connsiteY9" fmla="*/ 932818 h 1157541"/>
              <a:gd name="connsiteX10" fmla="*/ 748595 w 1240874"/>
              <a:gd name="connsiteY10" fmla="*/ 1054738 h 1157541"/>
              <a:gd name="connsiteX11" fmla="*/ 667315 w 1240874"/>
              <a:gd name="connsiteY11" fmla="*/ 1156338 h 1157541"/>
              <a:gd name="connsiteX12" fmla="*/ 535235 w 1240874"/>
              <a:gd name="connsiteY12" fmla="*/ 1095378 h 1157541"/>
              <a:gd name="connsiteX13" fmla="*/ 504755 w 1240874"/>
              <a:gd name="connsiteY13" fmla="*/ 882018 h 1157541"/>
              <a:gd name="connsiteX14" fmla="*/ 687635 w 1240874"/>
              <a:gd name="connsiteY14" fmla="*/ 780418 h 1157541"/>
              <a:gd name="connsiteX15" fmla="*/ 911155 w 1240874"/>
              <a:gd name="connsiteY15" fmla="*/ 760098 h 1157541"/>
              <a:gd name="connsiteX16" fmla="*/ 961955 w 1240874"/>
              <a:gd name="connsiteY16" fmla="*/ 506098 h 1157541"/>
              <a:gd name="connsiteX17" fmla="*/ 931475 w 1240874"/>
              <a:gd name="connsiteY17" fmla="*/ 302898 h 1157541"/>
              <a:gd name="connsiteX18" fmla="*/ 728275 w 1240874"/>
              <a:gd name="connsiteY18" fmla="*/ 272418 h 1157541"/>
              <a:gd name="connsiteX19" fmla="*/ 372675 w 1240874"/>
              <a:gd name="connsiteY19" fmla="*/ 282578 h 1157541"/>
              <a:gd name="connsiteX20" fmla="*/ 260915 w 1240874"/>
              <a:gd name="connsiteY20" fmla="*/ 434978 h 1157541"/>
              <a:gd name="connsiteX21" fmla="*/ 291395 w 1240874"/>
              <a:gd name="connsiteY21" fmla="*/ 719458 h 1157541"/>
              <a:gd name="connsiteX22" fmla="*/ 352355 w 1240874"/>
              <a:gd name="connsiteY22" fmla="*/ 882018 h 1157541"/>
              <a:gd name="connsiteX23" fmla="*/ 240595 w 1240874"/>
              <a:gd name="connsiteY23" fmla="*/ 953138 h 1157541"/>
              <a:gd name="connsiteX24" fmla="*/ 179635 w 1240874"/>
              <a:gd name="connsiteY24" fmla="*/ 892178 h 1157541"/>
              <a:gd name="connsiteX0" fmla="*/ 179635 w 1240206"/>
              <a:gd name="connsiteY0" fmla="*/ 892178 h 1157541"/>
              <a:gd name="connsiteX1" fmla="*/ 27235 w 1240206"/>
              <a:gd name="connsiteY1" fmla="*/ 770258 h 1157541"/>
              <a:gd name="connsiteX2" fmla="*/ 37395 w 1240206"/>
              <a:gd name="connsiteY2" fmla="*/ 546738 h 1157541"/>
              <a:gd name="connsiteX3" fmla="*/ 6915 w 1240206"/>
              <a:gd name="connsiteY3" fmla="*/ 201298 h 1157541"/>
              <a:gd name="connsiteX4" fmla="*/ 189795 w 1240206"/>
              <a:gd name="connsiteY4" fmla="*/ 38738 h 1157541"/>
              <a:gd name="connsiteX5" fmla="*/ 707955 w 1240206"/>
              <a:gd name="connsiteY5" fmla="*/ 8258 h 1157541"/>
              <a:gd name="connsiteX6" fmla="*/ 1175315 w 1240206"/>
              <a:gd name="connsiteY6" fmla="*/ 48898 h 1157541"/>
              <a:gd name="connsiteX7" fmla="*/ 1236275 w 1240206"/>
              <a:gd name="connsiteY7" fmla="*/ 475618 h 1157541"/>
              <a:gd name="connsiteX8" fmla="*/ 1175315 w 1240206"/>
              <a:gd name="connsiteY8" fmla="*/ 851538 h 1157541"/>
              <a:gd name="connsiteX9" fmla="*/ 880675 w 1240206"/>
              <a:gd name="connsiteY9" fmla="*/ 932818 h 1157541"/>
              <a:gd name="connsiteX10" fmla="*/ 748595 w 1240206"/>
              <a:gd name="connsiteY10" fmla="*/ 1054738 h 1157541"/>
              <a:gd name="connsiteX11" fmla="*/ 667315 w 1240206"/>
              <a:gd name="connsiteY11" fmla="*/ 1156338 h 1157541"/>
              <a:gd name="connsiteX12" fmla="*/ 535235 w 1240206"/>
              <a:gd name="connsiteY12" fmla="*/ 1095378 h 1157541"/>
              <a:gd name="connsiteX13" fmla="*/ 504755 w 1240206"/>
              <a:gd name="connsiteY13" fmla="*/ 882018 h 1157541"/>
              <a:gd name="connsiteX14" fmla="*/ 687635 w 1240206"/>
              <a:gd name="connsiteY14" fmla="*/ 780418 h 1157541"/>
              <a:gd name="connsiteX15" fmla="*/ 911155 w 1240206"/>
              <a:gd name="connsiteY15" fmla="*/ 760098 h 1157541"/>
              <a:gd name="connsiteX16" fmla="*/ 961955 w 1240206"/>
              <a:gd name="connsiteY16" fmla="*/ 506098 h 1157541"/>
              <a:gd name="connsiteX17" fmla="*/ 931475 w 1240206"/>
              <a:gd name="connsiteY17" fmla="*/ 302898 h 1157541"/>
              <a:gd name="connsiteX18" fmla="*/ 728275 w 1240206"/>
              <a:gd name="connsiteY18" fmla="*/ 272418 h 1157541"/>
              <a:gd name="connsiteX19" fmla="*/ 372675 w 1240206"/>
              <a:gd name="connsiteY19" fmla="*/ 282578 h 1157541"/>
              <a:gd name="connsiteX20" fmla="*/ 260915 w 1240206"/>
              <a:gd name="connsiteY20" fmla="*/ 434978 h 1157541"/>
              <a:gd name="connsiteX21" fmla="*/ 291395 w 1240206"/>
              <a:gd name="connsiteY21" fmla="*/ 719458 h 1157541"/>
              <a:gd name="connsiteX22" fmla="*/ 352355 w 1240206"/>
              <a:gd name="connsiteY22" fmla="*/ 882018 h 1157541"/>
              <a:gd name="connsiteX23" fmla="*/ 240595 w 1240206"/>
              <a:gd name="connsiteY23" fmla="*/ 953138 h 1157541"/>
              <a:gd name="connsiteX24" fmla="*/ 179635 w 1240206"/>
              <a:gd name="connsiteY24" fmla="*/ 892178 h 1157541"/>
              <a:gd name="connsiteX0" fmla="*/ 180279 w 1240850"/>
              <a:gd name="connsiteY0" fmla="*/ 924917 h 1190280"/>
              <a:gd name="connsiteX1" fmla="*/ 27879 w 1240850"/>
              <a:gd name="connsiteY1" fmla="*/ 802997 h 1190280"/>
              <a:gd name="connsiteX2" fmla="*/ 38039 w 1240850"/>
              <a:gd name="connsiteY2" fmla="*/ 579477 h 1190280"/>
              <a:gd name="connsiteX3" fmla="*/ 7559 w 1240850"/>
              <a:gd name="connsiteY3" fmla="*/ 234037 h 1190280"/>
              <a:gd name="connsiteX4" fmla="*/ 200599 w 1240850"/>
              <a:gd name="connsiteY4" fmla="*/ 10517 h 1190280"/>
              <a:gd name="connsiteX5" fmla="*/ 708599 w 1240850"/>
              <a:gd name="connsiteY5" fmla="*/ 40997 h 1190280"/>
              <a:gd name="connsiteX6" fmla="*/ 1175959 w 1240850"/>
              <a:gd name="connsiteY6" fmla="*/ 81637 h 1190280"/>
              <a:gd name="connsiteX7" fmla="*/ 1236919 w 1240850"/>
              <a:gd name="connsiteY7" fmla="*/ 508357 h 1190280"/>
              <a:gd name="connsiteX8" fmla="*/ 1175959 w 1240850"/>
              <a:gd name="connsiteY8" fmla="*/ 884277 h 1190280"/>
              <a:gd name="connsiteX9" fmla="*/ 881319 w 1240850"/>
              <a:gd name="connsiteY9" fmla="*/ 965557 h 1190280"/>
              <a:gd name="connsiteX10" fmla="*/ 749239 w 1240850"/>
              <a:gd name="connsiteY10" fmla="*/ 1087477 h 1190280"/>
              <a:gd name="connsiteX11" fmla="*/ 667959 w 1240850"/>
              <a:gd name="connsiteY11" fmla="*/ 1189077 h 1190280"/>
              <a:gd name="connsiteX12" fmla="*/ 535879 w 1240850"/>
              <a:gd name="connsiteY12" fmla="*/ 1128117 h 1190280"/>
              <a:gd name="connsiteX13" fmla="*/ 505399 w 1240850"/>
              <a:gd name="connsiteY13" fmla="*/ 914757 h 1190280"/>
              <a:gd name="connsiteX14" fmla="*/ 688279 w 1240850"/>
              <a:gd name="connsiteY14" fmla="*/ 813157 h 1190280"/>
              <a:gd name="connsiteX15" fmla="*/ 911799 w 1240850"/>
              <a:gd name="connsiteY15" fmla="*/ 792837 h 1190280"/>
              <a:gd name="connsiteX16" fmla="*/ 962599 w 1240850"/>
              <a:gd name="connsiteY16" fmla="*/ 538837 h 1190280"/>
              <a:gd name="connsiteX17" fmla="*/ 932119 w 1240850"/>
              <a:gd name="connsiteY17" fmla="*/ 335637 h 1190280"/>
              <a:gd name="connsiteX18" fmla="*/ 728919 w 1240850"/>
              <a:gd name="connsiteY18" fmla="*/ 305157 h 1190280"/>
              <a:gd name="connsiteX19" fmla="*/ 373319 w 1240850"/>
              <a:gd name="connsiteY19" fmla="*/ 315317 h 1190280"/>
              <a:gd name="connsiteX20" fmla="*/ 261559 w 1240850"/>
              <a:gd name="connsiteY20" fmla="*/ 467717 h 1190280"/>
              <a:gd name="connsiteX21" fmla="*/ 292039 w 1240850"/>
              <a:gd name="connsiteY21" fmla="*/ 752197 h 1190280"/>
              <a:gd name="connsiteX22" fmla="*/ 352999 w 1240850"/>
              <a:gd name="connsiteY22" fmla="*/ 914757 h 1190280"/>
              <a:gd name="connsiteX23" fmla="*/ 241239 w 1240850"/>
              <a:gd name="connsiteY23" fmla="*/ 985877 h 1190280"/>
              <a:gd name="connsiteX24" fmla="*/ 180279 w 1240850"/>
              <a:gd name="connsiteY24" fmla="*/ 924917 h 1190280"/>
              <a:gd name="connsiteX0" fmla="*/ 180279 w 1240850"/>
              <a:gd name="connsiteY0" fmla="*/ 920828 h 1186191"/>
              <a:gd name="connsiteX1" fmla="*/ 27879 w 1240850"/>
              <a:gd name="connsiteY1" fmla="*/ 798908 h 1186191"/>
              <a:gd name="connsiteX2" fmla="*/ 38039 w 1240850"/>
              <a:gd name="connsiteY2" fmla="*/ 575388 h 1186191"/>
              <a:gd name="connsiteX3" fmla="*/ 7559 w 1240850"/>
              <a:gd name="connsiteY3" fmla="*/ 168988 h 1186191"/>
              <a:gd name="connsiteX4" fmla="*/ 200599 w 1240850"/>
              <a:gd name="connsiteY4" fmla="*/ 6428 h 1186191"/>
              <a:gd name="connsiteX5" fmla="*/ 708599 w 1240850"/>
              <a:gd name="connsiteY5" fmla="*/ 36908 h 1186191"/>
              <a:gd name="connsiteX6" fmla="*/ 1175959 w 1240850"/>
              <a:gd name="connsiteY6" fmla="*/ 77548 h 1186191"/>
              <a:gd name="connsiteX7" fmla="*/ 1236919 w 1240850"/>
              <a:gd name="connsiteY7" fmla="*/ 504268 h 1186191"/>
              <a:gd name="connsiteX8" fmla="*/ 1175959 w 1240850"/>
              <a:gd name="connsiteY8" fmla="*/ 880188 h 1186191"/>
              <a:gd name="connsiteX9" fmla="*/ 881319 w 1240850"/>
              <a:gd name="connsiteY9" fmla="*/ 961468 h 1186191"/>
              <a:gd name="connsiteX10" fmla="*/ 749239 w 1240850"/>
              <a:gd name="connsiteY10" fmla="*/ 1083388 h 1186191"/>
              <a:gd name="connsiteX11" fmla="*/ 667959 w 1240850"/>
              <a:gd name="connsiteY11" fmla="*/ 1184988 h 1186191"/>
              <a:gd name="connsiteX12" fmla="*/ 535879 w 1240850"/>
              <a:gd name="connsiteY12" fmla="*/ 1124028 h 1186191"/>
              <a:gd name="connsiteX13" fmla="*/ 505399 w 1240850"/>
              <a:gd name="connsiteY13" fmla="*/ 910668 h 1186191"/>
              <a:gd name="connsiteX14" fmla="*/ 688279 w 1240850"/>
              <a:gd name="connsiteY14" fmla="*/ 809068 h 1186191"/>
              <a:gd name="connsiteX15" fmla="*/ 911799 w 1240850"/>
              <a:gd name="connsiteY15" fmla="*/ 788748 h 1186191"/>
              <a:gd name="connsiteX16" fmla="*/ 962599 w 1240850"/>
              <a:gd name="connsiteY16" fmla="*/ 534748 h 1186191"/>
              <a:gd name="connsiteX17" fmla="*/ 932119 w 1240850"/>
              <a:gd name="connsiteY17" fmla="*/ 331548 h 1186191"/>
              <a:gd name="connsiteX18" fmla="*/ 728919 w 1240850"/>
              <a:gd name="connsiteY18" fmla="*/ 301068 h 1186191"/>
              <a:gd name="connsiteX19" fmla="*/ 373319 w 1240850"/>
              <a:gd name="connsiteY19" fmla="*/ 311228 h 1186191"/>
              <a:gd name="connsiteX20" fmla="*/ 261559 w 1240850"/>
              <a:gd name="connsiteY20" fmla="*/ 463628 h 1186191"/>
              <a:gd name="connsiteX21" fmla="*/ 292039 w 1240850"/>
              <a:gd name="connsiteY21" fmla="*/ 748108 h 1186191"/>
              <a:gd name="connsiteX22" fmla="*/ 352999 w 1240850"/>
              <a:gd name="connsiteY22" fmla="*/ 910668 h 1186191"/>
              <a:gd name="connsiteX23" fmla="*/ 241239 w 1240850"/>
              <a:gd name="connsiteY23" fmla="*/ 981788 h 1186191"/>
              <a:gd name="connsiteX24" fmla="*/ 180279 w 1240850"/>
              <a:gd name="connsiteY24" fmla="*/ 920828 h 1186191"/>
              <a:gd name="connsiteX0" fmla="*/ 180279 w 1242798"/>
              <a:gd name="connsiteY0" fmla="*/ 929527 h 1194890"/>
              <a:gd name="connsiteX1" fmla="*/ 27879 w 1242798"/>
              <a:gd name="connsiteY1" fmla="*/ 807607 h 1194890"/>
              <a:gd name="connsiteX2" fmla="*/ 38039 w 1242798"/>
              <a:gd name="connsiteY2" fmla="*/ 584087 h 1194890"/>
              <a:gd name="connsiteX3" fmla="*/ 7559 w 1242798"/>
              <a:gd name="connsiteY3" fmla="*/ 177687 h 1194890"/>
              <a:gd name="connsiteX4" fmla="*/ 200599 w 1242798"/>
              <a:gd name="connsiteY4" fmla="*/ 15127 h 1194890"/>
              <a:gd name="connsiteX5" fmla="*/ 667959 w 1242798"/>
              <a:gd name="connsiteY5" fmla="*/ 15127 h 1194890"/>
              <a:gd name="connsiteX6" fmla="*/ 1175959 w 1242798"/>
              <a:gd name="connsiteY6" fmla="*/ 86247 h 1194890"/>
              <a:gd name="connsiteX7" fmla="*/ 1236919 w 1242798"/>
              <a:gd name="connsiteY7" fmla="*/ 512967 h 1194890"/>
              <a:gd name="connsiteX8" fmla="*/ 1175959 w 1242798"/>
              <a:gd name="connsiteY8" fmla="*/ 888887 h 1194890"/>
              <a:gd name="connsiteX9" fmla="*/ 881319 w 1242798"/>
              <a:gd name="connsiteY9" fmla="*/ 970167 h 1194890"/>
              <a:gd name="connsiteX10" fmla="*/ 749239 w 1242798"/>
              <a:gd name="connsiteY10" fmla="*/ 1092087 h 1194890"/>
              <a:gd name="connsiteX11" fmla="*/ 667959 w 1242798"/>
              <a:gd name="connsiteY11" fmla="*/ 1193687 h 1194890"/>
              <a:gd name="connsiteX12" fmla="*/ 535879 w 1242798"/>
              <a:gd name="connsiteY12" fmla="*/ 1132727 h 1194890"/>
              <a:gd name="connsiteX13" fmla="*/ 505399 w 1242798"/>
              <a:gd name="connsiteY13" fmla="*/ 919367 h 1194890"/>
              <a:gd name="connsiteX14" fmla="*/ 688279 w 1242798"/>
              <a:gd name="connsiteY14" fmla="*/ 817767 h 1194890"/>
              <a:gd name="connsiteX15" fmla="*/ 911799 w 1242798"/>
              <a:gd name="connsiteY15" fmla="*/ 797447 h 1194890"/>
              <a:gd name="connsiteX16" fmla="*/ 962599 w 1242798"/>
              <a:gd name="connsiteY16" fmla="*/ 543447 h 1194890"/>
              <a:gd name="connsiteX17" fmla="*/ 932119 w 1242798"/>
              <a:gd name="connsiteY17" fmla="*/ 340247 h 1194890"/>
              <a:gd name="connsiteX18" fmla="*/ 728919 w 1242798"/>
              <a:gd name="connsiteY18" fmla="*/ 309767 h 1194890"/>
              <a:gd name="connsiteX19" fmla="*/ 373319 w 1242798"/>
              <a:gd name="connsiteY19" fmla="*/ 319927 h 1194890"/>
              <a:gd name="connsiteX20" fmla="*/ 261559 w 1242798"/>
              <a:gd name="connsiteY20" fmla="*/ 472327 h 1194890"/>
              <a:gd name="connsiteX21" fmla="*/ 292039 w 1242798"/>
              <a:gd name="connsiteY21" fmla="*/ 756807 h 1194890"/>
              <a:gd name="connsiteX22" fmla="*/ 352999 w 1242798"/>
              <a:gd name="connsiteY22" fmla="*/ 919367 h 1194890"/>
              <a:gd name="connsiteX23" fmla="*/ 241239 w 1242798"/>
              <a:gd name="connsiteY23" fmla="*/ 990487 h 1194890"/>
              <a:gd name="connsiteX24" fmla="*/ 180279 w 1242798"/>
              <a:gd name="connsiteY24" fmla="*/ 929527 h 1194890"/>
              <a:gd name="connsiteX0" fmla="*/ 180279 w 1242798"/>
              <a:gd name="connsiteY0" fmla="*/ 929527 h 1194890"/>
              <a:gd name="connsiteX1" fmla="*/ 27879 w 1242798"/>
              <a:gd name="connsiteY1" fmla="*/ 807607 h 1194890"/>
              <a:gd name="connsiteX2" fmla="*/ 38039 w 1242798"/>
              <a:gd name="connsiteY2" fmla="*/ 584087 h 1194890"/>
              <a:gd name="connsiteX3" fmla="*/ 7559 w 1242798"/>
              <a:gd name="connsiteY3" fmla="*/ 177687 h 1194890"/>
              <a:gd name="connsiteX4" fmla="*/ 200599 w 1242798"/>
              <a:gd name="connsiteY4" fmla="*/ 15127 h 1194890"/>
              <a:gd name="connsiteX5" fmla="*/ 667959 w 1242798"/>
              <a:gd name="connsiteY5" fmla="*/ 15127 h 1194890"/>
              <a:gd name="connsiteX6" fmla="*/ 1175959 w 1242798"/>
              <a:gd name="connsiteY6" fmla="*/ 86247 h 1194890"/>
              <a:gd name="connsiteX7" fmla="*/ 1236919 w 1242798"/>
              <a:gd name="connsiteY7" fmla="*/ 512967 h 1194890"/>
              <a:gd name="connsiteX8" fmla="*/ 1175959 w 1242798"/>
              <a:gd name="connsiteY8" fmla="*/ 888887 h 1194890"/>
              <a:gd name="connsiteX9" fmla="*/ 881319 w 1242798"/>
              <a:gd name="connsiteY9" fmla="*/ 970167 h 1194890"/>
              <a:gd name="connsiteX10" fmla="*/ 749239 w 1242798"/>
              <a:gd name="connsiteY10" fmla="*/ 1092087 h 1194890"/>
              <a:gd name="connsiteX11" fmla="*/ 667959 w 1242798"/>
              <a:gd name="connsiteY11" fmla="*/ 1193687 h 1194890"/>
              <a:gd name="connsiteX12" fmla="*/ 535879 w 1242798"/>
              <a:gd name="connsiteY12" fmla="*/ 1132727 h 1194890"/>
              <a:gd name="connsiteX13" fmla="*/ 505399 w 1242798"/>
              <a:gd name="connsiteY13" fmla="*/ 919367 h 1194890"/>
              <a:gd name="connsiteX14" fmla="*/ 688279 w 1242798"/>
              <a:gd name="connsiteY14" fmla="*/ 817767 h 1194890"/>
              <a:gd name="connsiteX15" fmla="*/ 911799 w 1242798"/>
              <a:gd name="connsiteY15" fmla="*/ 797447 h 1194890"/>
              <a:gd name="connsiteX16" fmla="*/ 962599 w 1242798"/>
              <a:gd name="connsiteY16" fmla="*/ 543447 h 1194890"/>
              <a:gd name="connsiteX17" fmla="*/ 932119 w 1242798"/>
              <a:gd name="connsiteY17" fmla="*/ 340247 h 1194890"/>
              <a:gd name="connsiteX18" fmla="*/ 708599 w 1242798"/>
              <a:gd name="connsiteY18" fmla="*/ 258967 h 1194890"/>
              <a:gd name="connsiteX19" fmla="*/ 373319 w 1242798"/>
              <a:gd name="connsiteY19" fmla="*/ 319927 h 1194890"/>
              <a:gd name="connsiteX20" fmla="*/ 261559 w 1242798"/>
              <a:gd name="connsiteY20" fmla="*/ 472327 h 1194890"/>
              <a:gd name="connsiteX21" fmla="*/ 292039 w 1242798"/>
              <a:gd name="connsiteY21" fmla="*/ 756807 h 1194890"/>
              <a:gd name="connsiteX22" fmla="*/ 352999 w 1242798"/>
              <a:gd name="connsiteY22" fmla="*/ 919367 h 1194890"/>
              <a:gd name="connsiteX23" fmla="*/ 241239 w 1242798"/>
              <a:gd name="connsiteY23" fmla="*/ 990487 h 1194890"/>
              <a:gd name="connsiteX24" fmla="*/ 180279 w 1242798"/>
              <a:gd name="connsiteY24" fmla="*/ 929527 h 1194890"/>
              <a:gd name="connsiteX0" fmla="*/ 180279 w 1242798"/>
              <a:gd name="connsiteY0" fmla="*/ 929527 h 1194890"/>
              <a:gd name="connsiteX1" fmla="*/ 27879 w 1242798"/>
              <a:gd name="connsiteY1" fmla="*/ 807607 h 1194890"/>
              <a:gd name="connsiteX2" fmla="*/ 38039 w 1242798"/>
              <a:gd name="connsiteY2" fmla="*/ 584087 h 1194890"/>
              <a:gd name="connsiteX3" fmla="*/ 7559 w 1242798"/>
              <a:gd name="connsiteY3" fmla="*/ 177687 h 1194890"/>
              <a:gd name="connsiteX4" fmla="*/ 200599 w 1242798"/>
              <a:gd name="connsiteY4" fmla="*/ 15127 h 1194890"/>
              <a:gd name="connsiteX5" fmla="*/ 667959 w 1242798"/>
              <a:gd name="connsiteY5" fmla="*/ 15127 h 1194890"/>
              <a:gd name="connsiteX6" fmla="*/ 1175959 w 1242798"/>
              <a:gd name="connsiteY6" fmla="*/ 86247 h 1194890"/>
              <a:gd name="connsiteX7" fmla="*/ 1236919 w 1242798"/>
              <a:gd name="connsiteY7" fmla="*/ 512967 h 1194890"/>
              <a:gd name="connsiteX8" fmla="*/ 1175959 w 1242798"/>
              <a:gd name="connsiteY8" fmla="*/ 888887 h 1194890"/>
              <a:gd name="connsiteX9" fmla="*/ 881319 w 1242798"/>
              <a:gd name="connsiteY9" fmla="*/ 970167 h 1194890"/>
              <a:gd name="connsiteX10" fmla="*/ 749239 w 1242798"/>
              <a:gd name="connsiteY10" fmla="*/ 1092087 h 1194890"/>
              <a:gd name="connsiteX11" fmla="*/ 667959 w 1242798"/>
              <a:gd name="connsiteY11" fmla="*/ 1193687 h 1194890"/>
              <a:gd name="connsiteX12" fmla="*/ 535879 w 1242798"/>
              <a:gd name="connsiteY12" fmla="*/ 1132727 h 1194890"/>
              <a:gd name="connsiteX13" fmla="*/ 505399 w 1242798"/>
              <a:gd name="connsiteY13" fmla="*/ 919367 h 1194890"/>
              <a:gd name="connsiteX14" fmla="*/ 688279 w 1242798"/>
              <a:gd name="connsiteY14" fmla="*/ 817767 h 1194890"/>
              <a:gd name="connsiteX15" fmla="*/ 911799 w 1242798"/>
              <a:gd name="connsiteY15" fmla="*/ 797447 h 1194890"/>
              <a:gd name="connsiteX16" fmla="*/ 962599 w 1242798"/>
              <a:gd name="connsiteY16" fmla="*/ 543447 h 1194890"/>
              <a:gd name="connsiteX17" fmla="*/ 932119 w 1242798"/>
              <a:gd name="connsiteY17" fmla="*/ 340247 h 1194890"/>
              <a:gd name="connsiteX18" fmla="*/ 708599 w 1242798"/>
              <a:gd name="connsiteY18" fmla="*/ 258967 h 1194890"/>
              <a:gd name="connsiteX19" fmla="*/ 322519 w 1242798"/>
              <a:gd name="connsiteY19" fmla="*/ 340247 h 1194890"/>
              <a:gd name="connsiteX20" fmla="*/ 261559 w 1242798"/>
              <a:gd name="connsiteY20" fmla="*/ 472327 h 1194890"/>
              <a:gd name="connsiteX21" fmla="*/ 292039 w 1242798"/>
              <a:gd name="connsiteY21" fmla="*/ 756807 h 1194890"/>
              <a:gd name="connsiteX22" fmla="*/ 352999 w 1242798"/>
              <a:gd name="connsiteY22" fmla="*/ 919367 h 1194890"/>
              <a:gd name="connsiteX23" fmla="*/ 241239 w 1242798"/>
              <a:gd name="connsiteY23" fmla="*/ 990487 h 1194890"/>
              <a:gd name="connsiteX24" fmla="*/ 180279 w 1242798"/>
              <a:gd name="connsiteY24" fmla="*/ 929527 h 1194890"/>
              <a:gd name="connsiteX0" fmla="*/ 180279 w 1242798"/>
              <a:gd name="connsiteY0" fmla="*/ 929527 h 1194890"/>
              <a:gd name="connsiteX1" fmla="*/ 27879 w 1242798"/>
              <a:gd name="connsiteY1" fmla="*/ 807607 h 1194890"/>
              <a:gd name="connsiteX2" fmla="*/ 38039 w 1242798"/>
              <a:gd name="connsiteY2" fmla="*/ 584087 h 1194890"/>
              <a:gd name="connsiteX3" fmla="*/ 7559 w 1242798"/>
              <a:gd name="connsiteY3" fmla="*/ 177687 h 1194890"/>
              <a:gd name="connsiteX4" fmla="*/ 200599 w 1242798"/>
              <a:gd name="connsiteY4" fmla="*/ 15127 h 1194890"/>
              <a:gd name="connsiteX5" fmla="*/ 667959 w 1242798"/>
              <a:gd name="connsiteY5" fmla="*/ 15127 h 1194890"/>
              <a:gd name="connsiteX6" fmla="*/ 1175959 w 1242798"/>
              <a:gd name="connsiteY6" fmla="*/ 86247 h 1194890"/>
              <a:gd name="connsiteX7" fmla="*/ 1236919 w 1242798"/>
              <a:gd name="connsiteY7" fmla="*/ 512967 h 1194890"/>
              <a:gd name="connsiteX8" fmla="*/ 1175959 w 1242798"/>
              <a:gd name="connsiteY8" fmla="*/ 888887 h 1194890"/>
              <a:gd name="connsiteX9" fmla="*/ 881319 w 1242798"/>
              <a:gd name="connsiteY9" fmla="*/ 970167 h 1194890"/>
              <a:gd name="connsiteX10" fmla="*/ 749239 w 1242798"/>
              <a:gd name="connsiteY10" fmla="*/ 1092087 h 1194890"/>
              <a:gd name="connsiteX11" fmla="*/ 667959 w 1242798"/>
              <a:gd name="connsiteY11" fmla="*/ 1193687 h 1194890"/>
              <a:gd name="connsiteX12" fmla="*/ 535879 w 1242798"/>
              <a:gd name="connsiteY12" fmla="*/ 1132727 h 1194890"/>
              <a:gd name="connsiteX13" fmla="*/ 505399 w 1242798"/>
              <a:gd name="connsiteY13" fmla="*/ 919367 h 1194890"/>
              <a:gd name="connsiteX14" fmla="*/ 688279 w 1242798"/>
              <a:gd name="connsiteY14" fmla="*/ 817767 h 1194890"/>
              <a:gd name="connsiteX15" fmla="*/ 911799 w 1242798"/>
              <a:gd name="connsiteY15" fmla="*/ 797447 h 1194890"/>
              <a:gd name="connsiteX16" fmla="*/ 962599 w 1242798"/>
              <a:gd name="connsiteY16" fmla="*/ 543447 h 1194890"/>
              <a:gd name="connsiteX17" fmla="*/ 932119 w 1242798"/>
              <a:gd name="connsiteY17" fmla="*/ 340247 h 1194890"/>
              <a:gd name="connsiteX18" fmla="*/ 728919 w 1242798"/>
              <a:gd name="connsiteY18" fmla="*/ 319927 h 1194890"/>
              <a:gd name="connsiteX19" fmla="*/ 322519 w 1242798"/>
              <a:gd name="connsiteY19" fmla="*/ 340247 h 1194890"/>
              <a:gd name="connsiteX20" fmla="*/ 261559 w 1242798"/>
              <a:gd name="connsiteY20" fmla="*/ 472327 h 1194890"/>
              <a:gd name="connsiteX21" fmla="*/ 292039 w 1242798"/>
              <a:gd name="connsiteY21" fmla="*/ 756807 h 1194890"/>
              <a:gd name="connsiteX22" fmla="*/ 352999 w 1242798"/>
              <a:gd name="connsiteY22" fmla="*/ 919367 h 1194890"/>
              <a:gd name="connsiteX23" fmla="*/ 241239 w 1242798"/>
              <a:gd name="connsiteY23" fmla="*/ 990487 h 1194890"/>
              <a:gd name="connsiteX24" fmla="*/ 180279 w 1242798"/>
              <a:gd name="connsiteY24" fmla="*/ 929527 h 1194890"/>
              <a:gd name="connsiteX0" fmla="*/ 180279 w 1237718"/>
              <a:gd name="connsiteY0" fmla="*/ 936121 h 1201484"/>
              <a:gd name="connsiteX1" fmla="*/ 27879 w 1237718"/>
              <a:gd name="connsiteY1" fmla="*/ 814201 h 1201484"/>
              <a:gd name="connsiteX2" fmla="*/ 38039 w 1237718"/>
              <a:gd name="connsiteY2" fmla="*/ 590681 h 1201484"/>
              <a:gd name="connsiteX3" fmla="*/ 7559 w 1237718"/>
              <a:gd name="connsiteY3" fmla="*/ 184281 h 1201484"/>
              <a:gd name="connsiteX4" fmla="*/ 200599 w 1237718"/>
              <a:gd name="connsiteY4" fmla="*/ 21721 h 1201484"/>
              <a:gd name="connsiteX5" fmla="*/ 667959 w 1237718"/>
              <a:gd name="connsiteY5" fmla="*/ 21721 h 1201484"/>
              <a:gd name="connsiteX6" fmla="*/ 1155639 w 1237718"/>
              <a:gd name="connsiteY6" fmla="*/ 42041 h 1201484"/>
              <a:gd name="connsiteX7" fmla="*/ 1236919 w 1237718"/>
              <a:gd name="connsiteY7" fmla="*/ 519561 h 1201484"/>
              <a:gd name="connsiteX8" fmla="*/ 1175959 w 1237718"/>
              <a:gd name="connsiteY8" fmla="*/ 895481 h 1201484"/>
              <a:gd name="connsiteX9" fmla="*/ 881319 w 1237718"/>
              <a:gd name="connsiteY9" fmla="*/ 976761 h 1201484"/>
              <a:gd name="connsiteX10" fmla="*/ 749239 w 1237718"/>
              <a:gd name="connsiteY10" fmla="*/ 1098681 h 1201484"/>
              <a:gd name="connsiteX11" fmla="*/ 667959 w 1237718"/>
              <a:gd name="connsiteY11" fmla="*/ 1200281 h 1201484"/>
              <a:gd name="connsiteX12" fmla="*/ 535879 w 1237718"/>
              <a:gd name="connsiteY12" fmla="*/ 1139321 h 1201484"/>
              <a:gd name="connsiteX13" fmla="*/ 505399 w 1237718"/>
              <a:gd name="connsiteY13" fmla="*/ 925961 h 1201484"/>
              <a:gd name="connsiteX14" fmla="*/ 688279 w 1237718"/>
              <a:gd name="connsiteY14" fmla="*/ 824361 h 1201484"/>
              <a:gd name="connsiteX15" fmla="*/ 911799 w 1237718"/>
              <a:gd name="connsiteY15" fmla="*/ 804041 h 1201484"/>
              <a:gd name="connsiteX16" fmla="*/ 962599 w 1237718"/>
              <a:gd name="connsiteY16" fmla="*/ 550041 h 1201484"/>
              <a:gd name="connsiteX17" fmla="*/ 932119 w 1237718"/>
              <a:gd name="connsiteY17" fmla="*/ 346841 h 1201484"/>
              <a:gd name="connsiteX18" fmla="*/ 728919 w 1237718"/>
              <a:gd name="connsiteY18" fmla="*/ 326521 h 1201484"/>
              <a:gd name="connsiteX19" fmla="*/ 322519 w 1237718"/>
              <a:gd name="connsiteY19" fmla="*/ 346841 h 1201484"/>
              <a:gd name="connsiteX20" fmla="*/ 261559 w 1237718"/>
              <a:gd name="connsiteY20" fmla="*/ 478921 h 1201484"/>
              <a:gd name="connsiteX21" fmla="*/ 292039 w 1237718"/>
              <a:gd name="connsiteY21" fmla="*/ 763401 h 1201484"/>
              <a:gd name="connsiteX22" fmla="*/ 352999 w 1237718"/>
              <a:gd name="connsiteY22" fmla="*/ 925961 h 1201484"/>
              <a:gd name="connsiteX23" fmla="*/ 241239 w 1237718"/>
              <a:gd name="connsiteY23" fmla="*/ 997081 h 1201484"/>
              <a:gd name="connsiteX24" fmla="*/ 180279 w 1237718"/>
              <a:gd name="connsiteY24" fmla="*/ 936121 h 1201484"/>
              <a:gd name="connsiteX0" fmla="*/ 180279 w 1237718"/>
              <a:gd name="connsiteY0" fmla="*/ 936121 h 1201484"/>
              <a:gd name="connsiteX1" fmla="*/ 27879 w 1237718"/>
              <a:gd name="connsiteY1" fmla="*/ 814201 h 1201484"/>
              <a:gd name="connsiteX2" fmla="*/ 38039 w 1237718"/>
              <a:gd name="connsiteY2" fmla="*/ 590681 h 1201484"/>
              <a:gd name="connsiteX3" fmla="*/ 7559 w 1237718"/>
              <a:gd name="connsiteY3" fmla="*/ 184281 h 1201484"/>
              <a:gd name="connsiteX4" fmla="*/ 200599 w 1237718"/>
              <a:gd name="connsiteY4" fmla="*/ 21721 h 1201484"/>
              <a:gd name="connsiteX5" fmla="*/ 667959 w 1237718"/>
              <a:gd name="connsiteY5" fmla="*/ 21721 h 1201484"/>
              <a:gd name="connsiteX6" fmla="*/ 1155639 w 1237718"/>
              <a:gd name="connsiteY6" fmla="*/ 42041 h 1201484"/>
              <a:gd name="connsiteX7" fmla="*/ 1236919 w 1237718"/>
              <a:gd name="connsiteY7" fmla="*/ 519561 h 1201484"/>
              <a:gd name="connsiteX8" fmla="*/ 1175959 w 1237718"/>
              <a:gd name="connsiteY8" fmla="*/ 895481 h 1201484"/>
              <a:gd name="connsiteX9" fmla="*/ 881319 w 1237718"/>
              <a:gd name="connsiteY9" fmla="*/ 976761 h 1201484"/>
              <a:gd name="connsiteX10" fmla="*/ 749239 w 1237718"/>
              <a:gd name="connsiteY10" fmla="*/ 1098681 h 1201484"/>
              <a:gd name="connsiteX11" fmla="*/ 667959 w 1237718"/>
              <a:gd name="connsiteY11" fmla="*/ 1200281 h 1201484"/>
              <a:gd name="connsiteX12" fmla="*/ 535879 w 1237718"/>
              <a:gd name="connsiteY12" fmla="*/ 1139321 h 1201484"/>
              <a:gd name="connsiteX13" fmla="*/ 505399 w 1237718"/>
              <a:gd name="connsiteY13" fmla="*/ 925961 h 1201484"/>
              <a:gd name="connsiteX14" fmla="*/ 688279 w 1237718"/>
              <a:gd name="connsiteY14" fmla="*/ 824361 h 1201484"/>
              <a:gd name="connsiteX15" fmla="*/ 911799 w 1237718"/>
              <a:gd name="connsiteY15" fmla="*/ 804041 h 1201484"/>
              <a:gd name="connsiteX16" fmla="*/ 962599 w 1237718"/>
              <a:gd name="connsiteY16" fmla="*/ 550041 h 1201484"/>
              <a:gd name="connsiteX17" fmla="*/ 932119 w 1237718"/>
              <a:gd name="connsiteY17" fmla="*/ 346841 h 1201484"/>
              <a:gd name="connsiteX18" fmla="*/ 728919 w 1237718"/>
              <a:gd name="connsiteY18" fmla="*/ 326521 h 1201484"/>
              <a:gd name="connsiteX19" fmla="*/ 286959 w 1237718"/>
              <a:gd name="connsiteY19" fmla="*/ 316361 h 1201484"/>
              <a:gd name="connsiteX20" fmla="*/ 261559 w 1237718"/>
              <a:gd name="connsiteY20" fmla="*/ 478921 h 1201484"/>
              <a:gd name="connsiteX21" fmla="*/ 292039 w 1237718"/>
              <a:gd name="connsiteY21" fmla="*/ 763401 h 1201484"/>
              <a:gd name="connsiteX22" fmla="*/ 352999 w 1237718"/>
              <a:gd name="connsiteY22" fmla="*/ 925961 h 1201484"/>
              <a:gd name="connsiteX23" fmla="*/ 241239 w 1237718"/>
              <a:gd name="connsiteY23" fmla="*/ 997081 h 1201484"/>
              <a:gd name="connsiteX24" fmla="*/ 180279 w 1237718"/>
              <a:gd name="connsiteY24" fmla="*/ 936121 h 1201484"/>
              <a:gd name="connsiteX0" fmla="*/ 180279 w 1237718"/>
              <a:gd name="connsiteY0" fmla="*/ 936121 h 1201484"/>
              <a:gd name="connsiteX1" fmla="*/ 27879 w 1237718"/>
              <a:gd name="connsiteY1" fmla="*/ 814201 h 1201484"/>
              <a:gd name="connsiteX2" fmla="*/ 38039 w 1237718"/>
              <a:gd name="connsiteY2" fmla="*/ 590681 h 1201484"/>
              <a:gd name="connsiteX3" fmla="*/ 7559 w 1237718"/>
              <a:gd name="connsiteY3" fmla="*/ 184281 h 1201484"/>
              <a:gd name="connsiteX4" fmla="*/ 200599 w 1237718"/>
              <a:gd name="connsiteY4" fmla="*/ 21721 h 1201484"/>
              <a:gd name="connsiteX5" fmla="*/ 667959 w 1237718"/>
              <a:gd name="connsiteY5" fmla="*/ 21721 h 1201484"/>
              <a:gd name="connsiteX6" fmla="*/ 1155639 w 1237718"/>
              <a:gd name="connsiteY6" fmla="*/ 42041 h 1201484"/>
              <a:gd name="connsiteX7" fmla="*/ 1236919 w 1237718"/>
              <a:gd name="connsiteY7" fmla="*/ 519561 h 1201484"/>
              <a:gd name="connsiteX8" fmla="*/ 1175959 w 1237718"/>
              <a:gd name="connsiteY8" fmla="*/ 895481 h 1201484"/>
              <a:gd name="connsiteX9" fmla="*/ 881319 w 1237718"/>
              <a:gd name="connsiteY9" fmla="*/ 976761 h 1201484"/>
              <a:gd name="connsiteX10" fmla="*/ 749239 w 1237718"/>
              <a:gd name="connsiteY10" fmla="*/ 1098681 h 1201484"/>
              <a:gd name="connsiteX11" fmla="*/ 667959 w 1237718"/>
              <a:gd name="connsiteY11" fmla="*/ 1200281 h 1201484"/>
              <a:gd name="connsiteX12" fmla="*/ 535879 w 1237718"/>
              <a:gd name="connsiteY12" fmla="*/ 1139321 h 1201484"/>
              <a:gd name="connsiteX13" fmla="*/ 505399 w 1237718"/>
              <a:gd name="connsiteY13" fmla="*/ 925961 h 1201484"/>
              <a:gd name="connsiteX14" fmla="*/ 688279 w 1237718"/>
              <a:gd name="connsiteY14" fmla="*/ 824361 h 1201484"/>
              <a:gd name="connsiteX15" fmla="*/ 911799 w 1237718"/>
              <a:gd name="connsiteY15" fmla="*/ 804041 h 1201484"/>
              <a:gd name="connsiteX16" fmla="*/ 962599 w 1237718"/>
              <a:gd name="connsiteY16" fmla="*/ 550041 h 1201484"/>
              <a:gd name="connsiteX17" fmla="*/ 932119 w 1237718"/>
              <a:gd name="connsiteY17" fmla="*/ 346841 h 1201484"/>
              <a:gd name="connsiteX18" fmla="*/ 728919 w 1237718"/>
              <a:gd name="connsiteY18" fmla="*/ 326521 h 1201484"/>
              <a:gd name="connsiteX19" fmla="*/ 286959 w 1237718"/>
              <a:gd name="connsiteY19" fmla="*/ 316361 h 1201484"/>
              <a:gd name="connsiteX20" fmla="*/ 261559 w 1237718"/>
              <a:gd name="connsiteY20" fmla="*/ 478921 h 1201484"/>
              <a:gd name="connsiteX21" fmla="*/ 292039 w 1237718"/>
              <a:gd name="connsiteY21" fmla="*/ 763401 h 1201484"/>
              <a:gd name="connsiteX22" fmla="*/ 352999 w 1237718"/>
              <a:gd name="connsiteY22" fmla="*/ 925961 h 1201484"/>
              <a:gd name="connsiteX23" fmla="*/ 241239 w 1237718"/>
              <a:gd name="connsiteY23" fmla="*/ 997081 h 1201484"/>
              <a:gd name="connsiteX24" fmla="*/ 180279 w 1237718"/>
              <a:gd name="connsiteY24" fmla="*/ 936121 h 1201484"/>
              <a:gd name="connsiteX0" fmla="*/ 180279 w 1237718"/>
              <a:gd name="connsiteY0" fmla="*/ 936121 h 1201484"/>
              <a:gd name="connsiteX1" fmla="*/ 27879 w 1237718"/>
              <a:gd name="connsiteY1" fmla="*/ 814201 h 1201484"/>
              <a:gd name="connsiteX2" fmla="*/ 38039 w 1237718"/>
              <a:gd name="connsiteY2" fmla="*/ 590681 h 1201484"/>
              <a:gd name="connsiteX3" fmla="*/ 7559 w 1237718"/>
              <a:gd name="connsiteY3" fmla="*/ 184281 h 1201484"/>
              <a:gd name="connsiteX4" fmla="*/ 200599 w 1237718"/>
              <a:gd name="connsiteY4" fmla="*/ 21721 h 1201484"/>
              <a:gd name="connsiteX5" fmla="*/ 667959 w 1237718"/>
              <a:gd name="connsiteY5" fmla="*/ 21721 h 1201484"/>
              <a:gd name="connsiteX6" fmla="*/ 1155639 w 1237718"/>
              <a:gd name="connsiteY6" fmla="*/ 42041 h 1201484"/>
              <a:gd name="connsiteX7" fmla="*/ 1236919 w 1237718"/>
              <a:gd name="connsiteY7" fmla="*/ 519561 h 1201484"/>
              <a:gd name="connsiteX8" fmla="*/ 1175959 w 1237718"/>
              <a:gd name="connsiteY8" fmla="*/ 895481 h 1201484"/>
              <a:gd name="connsiteX9" fmla="*/ 881319 w 1237718"/>
              <a:gd name="connsiteY9" fmla="*/ 976761 h 1201484"/>
              <a:gd name="connsiteX10" fmla="*/ 749239 w 1237718"/>
              <a:gd name="connsiteY10" fmla="*/ 1098681 h 1201484"/>
              <a:gd name="connsiteX11" fmla="*/ 667959 w 1237718"/>
              <a:gd name="connsiteY11" fmla="*/ 1200281 h 1201484"/>
              <a:gd name="connsiteX12" fmla="*/ 535879 w 1237718"/>
              <a:gd name="connsiteY12" fmla="*/ 1139321 h 1201484"/>
              <a:gd name="connsiteX13" fmla="*/ 505399 w 1237718"/>
              <a:gd name="connsiteY13" fmla="*/ 925961 h 1201484"/>
              <a:gd name="connsiteX14" fmla="*/ 688279 w 1237718"/>
              <a:gd name="connsiteY14" fmla="*/ 824361 h 1201484"/>
              <a:gd name="connsiteX15" fmla="*/ 911799 w 1237718"/>
              <a:gd name="connsiteY15" fmla="*/ 804041 h 1201484"/>
              <a:gd name="connsiteX16" fmla="*/ 962599 w 1237718"/>
              <a:gd name="connsiteY16" fmla="*/ 550041 h 1201484"/>
              <a:gd name="connsiteX17" fmla="*/ 932119 w 1237718"/>
              <a:gd name="connsiteY17" fmla="*/ 346841 h 1201484"/>
              <a:gd name="connsiteX18" fmla="*/ 728919 w 1237718"/>
              <a:gd name="connsiteY18" fmla="*/ 326521 h 1201484"/>
              <a:gd name="connsiteX19" fmla="*/ 251399 w 1237718"/>
              <a:gd name="connsiteY19" fmla="*/ 270641 h 1201484"/>
              <a:gd name="connsiteX20" fmla="*/ 261559 w 1237718"/>
              <a:gd name="connsiteY20" fmla="*/ 478921 h 1201484"/>
              <a:gd name="connsiteX21" fmla="*/ 292039 w 1237718"/>
              <a:gd name="connsiteY21" fmla="*/ 763401 h 1201484"/>
              <a:gd name="connsiteX22" fmla="*/ 352999 w 1237718"/>
              <a:gd name="connsiteY22" fmla="*/ 925961 h 1201484"/>
              <a:gd name="connsiteX23" fmla="*/ 241239 w 1237718"/>
              <a:gd name="connsiteY23" fmla="*/ 997081 h 1201484"/>
              <a:gd name="connsiteX24" fmla="*/ 180279 w 1237718"/>
              <a:gd name="connsiteY24" fmla="*/ 936121 h 1201484"/>
              <a:gd name="connsiteX0" fmla="*/ 180279 w 1237718"/>
              <a:gd name="connsiteY0" fmla="*/ 936121 h 1201484"/>
              <a:gd name="connsiteX1" fmla="*/ 27879 w 1237718"/>
              <a:gd name="connsiteY1" fmla="*/ 814201 h 1201484"/>
              <a:gd name="connsiteX2" fmla="*/ 38039 w 1237718"/>
              <a:gd name="connsiteY2" fmla="*/ 590681 h 1201484"/>
              <a:gd name="connsiteX3" fmla="*/ 7559 w 1237718"/>
              <a:gd name="connsiteY3" fmla="*/ 184281 h 1201484"/>
              <a:gd name="connsiteX4" fmla="*/ 200599 w 1237718"/>
              <a:gd name="connsiteY4" fmla="*/ 21721 h 1201484"/>
              <a:gd name="connsiteX5" fmla="*/ 667959 w 1237718"/>
              <a:gd name="connsiteY5" fmla="*/ 21721 h 1201484"/>
              <a:gd name="connsiteX6" fmla="*/ 1155639 w 1237718"/>
              <a:gd name="connsiteY6" fmla="*/ 42041 h 1201484"/>
              <a:gd name="connsiteX7" fmla="*/ 1236919 w 1237718"/>
              <a:gd name="connsiteY7" fmla="*/ 519561 h 1201484"/>
              <a:gd name="connsiteX8" fmla="*/ 1175959 w 1237718"/>
              <a:gd name="connsiteY8" fmla="*/ 895481 h 1201484"/>
              <a:gd name="connsiteX9" fmla="*/ 881319 w 1237718"/>
              <a:gd name="connsiteY9" fmla="*/ 976761 h 1201484"/>
              <a:gd name="connsiteX10" fmla="*/ 749239 w 1237718"/>
              <a:gd name="connsiteY10" fmla="*/ 1098681 h 1201484"/>
              <a:gd name="connsiteX11" fmla="*/ 667959 w 1237718"/>
              <a:gd name="connsiteY11" fmla="*/ 1200281 h 1201484"/>
              <a:gd name="connsiteX12" fmla="*/ 535879 w 1237718"/>
              <a:gd name="connsiteY12" fmla="*/ 1139321 h 1201484"/>
              <a:gd name="connsiteX13" fmla="*/ 505399 w 1237718"/>
              <a:gd name="connsiteY13" fmla="*/ 925961 h 1201484"/>
              <a:gd name="connsiteX14" fmla="*/ 688279 w 1237718"/>
              <a:gd name="connsiteY14" fmla="*/ 824361 h 1201484"/>
              <a:gd name="connsiteX15" fmla="*/ 911799 w 1237718"/>
              <a:gd name="connsiteY15" fmla="*/ 804041 h 1201484"/>
              <a:gd name="connsiteX16" fmla="*/ 962599 w 1237718"/>
              <a:gd name="connsiteY16" fmla="*/ 550041 h 1201484"/>
              <a:gd name="connsiteX17" fmla="*/ 932119 w 1237718"/>
              <a:gd name="connsiteY17" fmla="*/ 346841 h 1201484"/>
              <a:gd name="connsiteX18" fmla="*/ 728919 w 1237718"/>
              <a:gd name="connsiteY18" fmla="*/ 326521 h 1201484"/>
              <a:gd name="connsiteX19" fmla="*/ 251399 w 1237718"/>
              <a:gd name="connsiteY19" fmla="*/ 270641 h 1201484"/>
              <a:gd name="connsiteX20" fmla="*/ 261559 w 1237718"/>
              <a:gd name="connsiteY20" fmla="*/ 478921 h 1201484"/>
              <a:gd name="connsiteX21" fmla="*/ 292039 w 1237718"/>
              <a:gd name="connsiteY21" fmla="*/ 763401 h 1201484"/>
              <a:gd name="connsiteX22" fmla="*/ 352999 w 1237718"/>
              <a:gd name="connsiteY22" fmla="*/ 925961 h 1201484"/>
              <a:gd name="connsiteX23" fmla="*/ 241239 w 1237718"/>
              <a:gd name="connsiteY23" fmla="*/ 997081 h 1201484"/>
              <a:gd name="connsiteX24" fmla="*/ 180279 w 1237718"/>
              <a:gd name="connsiteY24" fmla="*/ 936121 h 1201484"/>
              <a:gd name="connsiteX0" fmla="*/ 180279 w 1237718"/>
              <a:gd name="connsiteY0" fmla="*/ 936121 h 1201484"/>
              <a:gd name="connsiteX1" fmla="*/ 27879 w 1237718"/>
              <a:gd name="connsiteY1" fmla="*/ 814201 h 1201484"/>
              <a:gd name="connsiteX2" fmla="*/ 38039 w 1237718"/>
              <a:gd name="connsiteY2" fmla="*/ 590681 h 1201484"/>
              <a:gd name="connsiteX3" fmla="*/ 7559 w 1237718"/>
              <a:gd name="connsiteY3" fmla="*/ 184281 h 1201484"/>
              <a:gd name="connsiteX4" fmla="*/ 200599 w 1237718"/>
              <a:gd name="connsiteY4" fmla="*/ 21721 h 1201484"/>
              <a:gd name="connsiteX5" fmla="*/ 667959 w 1237718"/>
              <a:gd name="connsiteY5" fmla="*/ 21721 h 1201484"/>
              <a:gd name="connsiteX6" fmla="*/ 1155639 w 1237718"/>
              <a:gd name="connsiteY6" fmla="*/ 42041 h 1201484"/>
              <a:gd name="connsiteX7" fmla="*/ 1236919 w 1237718"/>
              <a:gd name="connsiteY7" fmla="*/ 519561 h 1201484"/>
              <a:gd name="connsiteX8" fmla="*/ 1175959 w 1237718"/>
              <a:gd name="connsiteY8" fmla="*/ 895481 h 1201484"/>
              <a:gd name="connsiteX9" fmla="*/ 881319 w 1237718"/>
              <a:gd name="connsiteY9" fmla="*/ 976761 h 1201484"/>
              <a:gd name="connsiteX10" fmla="*/ 749239 w 1237718"/>
              <a:gd name="connsiteY10" fmla="*/ 1098681 h 1201484"/>
              <a:gd name="connsiteX11" fmla="*/ 667959 w 1237718"/>
              <a:gd name="connsiteY11" fmla="*/ 1200281 h 1201484"/>
              <a:gd name="connsiteX12" fmla="*/ 535879 w 1237718"/>
              <a:gd name="connsiteY12" fmla="*/ 1139321 h 1201484"/>
              <a:gd name="connsiteX13" fmla="*/ 505399 w 1237718"/>
              <a:gd name="connsiteY13" fmla="*/ 925961 h 1201484"/>
              <a:gd name="connsiteX14" fmla="*/ 688279 w 1237718"/>
              <a:gd name="connsiteY14" fmla="*/ 824361 h 1201484"/>
              <a:gd name="connsiteX15" fmla="*/ 911799 w 1237718"/>
              <a:gd name="connsiteY15" fmla="*/ 804041 h 1201484"/>
              <a:gd name="connsiteX16" fmla="*/ 962599 w 1237718"/>
              <a:gd name="connsiteY16" fmla="*/ 550041 h 1201484"/>
              <a:gd name="connsiteX17" fmla="*/ 932119 w 1237718"/>
              <a:gd name="connsiteY17" fmla="*/ 346841 h 1201484"/>
              <a:gd name="connsiteX18" fmla="*/ 728919 w 1237718"/>
              <a:gd name="connsiteY18" fmla="*/ 326521 h 1201484"/>
              <a:gd name="connsiteX19" fmla="*/ 467923 w 1237718"/>
              <a:gd name="connsiteY19" fmla="*/ 271363 h 1201484"/>
              <a:gd name="connsiteX20" fmla="*/ 251399 w 1237718"/>
              <a:gd name="connsiteY20" fmla="*/ 270641 h 1201484"/>
              <a:gd name="connsiteX21" fmla="*/ 261559 w 1237718"/>
              <a:gd name="connsiteY21" fmla="*/ 478921 h 1201484"/>
              <a:gd name="connsiteX22" fmla="*/ 292039 w 1237718"/>
              <a:gd name="connsiteY22" fmla="*/ 763401 h 1201484"/>
              <a:gd name="connsiteX23" fmla="*/ 352999 w 1237718"/>
              <a:gd name="connsiteY23" fmla="*/ 925961 h 1201484"/>
              <a:gd name="connsiteX24" fmla="*/ 241239 w 1237718"/>
              <a:gd name="connsiteY24" fmla="*/ 997081 h 1201484"/>
              <a:gd name="connsiteX25" fmla="*/ 180279 w 1237718"/>
              <a:gd name="connsiteY25" fmla="*/ 936121 h 1201484"/>
              <a:gd name="connsiteX0" fmla="*/ 180279 w 1237718"/>
              <a:gd name="connsiteY0" fmla="*/ 936121 h 1201484"/>
              <a:gd name="connsiteX1" fmla="*/ 27879 w 1237718"/>
              <a:gd name="connsiteY1" fmla="*/ 814201 h 1201484"/>
              <a:gd name="connsiteX2" fmla="*/ 38039 w 1237718"/>
              <a:gd name="connsiteY2" fmla="*/ 590681 h 1201484"/>
              <a:gd name="connsiteX3" fmla="*/ 7559 w 1237718"/>
              <a:gd name="connsiteY3" fmla="*/ 184281 h 1201484"/>
              <a:gd name="connsiteX4" fmla="*/ 200599 w 1237718"/>
              <a:gd name="connsiteY4" fmla="*/ 21721 h 1201484"/>
              <a:gd name="connsiteX5" fmla="*/ 667959 w 1237718"/>
              <a:gd name="connsiteY5" fmla="*/ 21721 h 1201484"/>
              <a:gd name="connsiteX6" fmla="*/ 1155639 w 1237718"/>
              <a:gd name="connsiteY6" fmla="*/ 42041 h 1201484"/>
              <a:gd name="connsiteX7" fmla="*/ 1236919 w 1237718"/>
              <a:gd name="connsiteY7" fmla="*/ 519561 h 1201484"/>
              <a:gd name="connsiteX8" fmla="*/ 1175959 w 1237718"/>
              <a:gd name="connsiteY8" fmla="*/ 895481 h 1201484"/>
              <a:gd name="connsiteX9" fmla="*/ 881319 w 1237718"/>
              <a:gd name="connsiteY9" fmla="*/ 976761 h 1201484"/>
              <a:gd name="connsiteX10" fmla="*/ 749239 w 1237718"/>
              <a:gd name="connsiteY10" fmla="*/ 1098681 h 1201484"/>
              <a:gd name="connsiteX11" fmla="*/ 667959 w 1237718"/>
              <a:gd name="connsiteY11" fmla="*/ 1200281 h 1201484"/>
              <a:gd name="connsiteX12" fmla="*/ 535879 w 1237718"/>
              <a:gd name="connsiteY12" fmla="*/ 1139321 h 1201484"/>
              <a:gd name="connsiteX13" fmla="*/ 505399 w 1237718"/>
              <a:gd name="connsiteY13" fmla="*/ 925961 h 1201484"/>
              <a:gd name="connsiteX14" fmla="*/ 688279 w 1237718"/>
              <a:gd name="connsiteY14" fmla="*/ 824361 h 1201484"/>
              <a:gd name="connsiteX15" fmla="*/ 911799 w 1237718"/>
              <a:gd name="connsiteY15" fmla="*/ 804041 h 1201484"/>
              <a:gd name="connsiteX16" fmla="*/ 962599 w 1237718"/>
              <a:gd name="connsiteY16" fmla="*/ 550041 h 1201484"/>
              <a:gd name="connsiteX17" fmla="*/ 932119 w 1237718"/>
              <a:gd name="connsiteY17" fmla="*/ 346841 h 1201484"/>
              <a:gd name="connsiteX18" fmla="*/ 728919 w 1237718"/>
              <a:gd name="connsiteY18" fmla="*/ 326521 h 1201484"/>
              <a:gd name="connsiteX19" fmla="*/ 467923 w 1237718"/>
              <a:gd name="connsiteY19" fmla="*/ 271363 h 1201484"/>
              <a:gd name="connsiteX20" fmla="*/ 251399 w 1237718"/>
              <a:gd name="connsiteY20" fmla="*/ 270641 h 1201484"/>
              <a:gd name="connsiteX21" fmla="*/ 261559 w 1237718"/>
              <a:gd name="connsiteY21" fmla="*/ 478921 h 1201484"/>
              <a:gd name="connsiteX22" fmla="*/ 292039 w 1237718"/>
              <a:gd name="connsiteY22" fmla="*/ 763401 h 1201484"/>
              <a:gd name="connsiteX23" fmla="*/ 352999 w 1237718"/>
              <a:gd name="connsiteY23" fmla="*/ 925961 h 1201484"/>
              <a:gd name="connsiteX24" fmla="*/ 241239 w 1237718"/>
              <a:gd name="connsiteY24" fmla="*/ 997081 h 1201484"/>
              <a:gd name="connsiteX25" fmla="*/ 180279 w 1237718"/>
              <a:gd name="connsiteY25" fmla="*/ 936121 h 1201484"/>
              <a:gd name="connsiteX0" fmla="*/ 180279 w 1237718"/>
              <a:gd name="connsiteY0" fmla="*/ 936121 h 1201484"/>
              <a:gd name="connsiteX1" fmla="*/ 27879 w 1237718"/>
              <a:gd name="connsiteY1" fmla="*/ 814201 h 1201484"/>
              <a:gd name="connsiteX2" fmla="*/ 38039 w 1237718"/>
              <a:gd name="connsiteY2" fmla="*/ 590681 h 1201484"/>
              <a:gd name="connsiteX3" fmla="*/ 7559 w 1237718"/>
              <a:gd name="connsiteY3" fmla="*/ 184281 h 1201484"/>
              <a:gd name="connsiteX4" fmla="*/ 200599 w 1237718"/>
              <a:gd name="connsiteY4" fmla="*/ 21721 h 1201484"/>
              <a:gd name="connsiteX5" fmla="*/ 667959 w 1237718"/>
              <a:gd name="connsiteY5" fmla="*/ 21721 h 1201484"/>
              <a:gd name="connsiteX6" fmla="*/ 1155639 w 1237718"/>
              <a:gd name="connsiteY6" fmla="*/ 42041 h 1201484"/>
              <a:gd name="connsiteX7" fmla="*/ 1236919 w 1237718"/>
              <a:gd name="connsiteY7" fmla="*/ 519561 h 1201484"/>
              <a:gd name="connsiteX8" fmla="*/ 1175959 w 1237718"/>
              <a:gd name="connsiteY8" fmla="*/ 895481 h 1201484"/>
              <a:gd name="connsiteX9" fmla="*/ 881319 w 1237718"/>
              <a:gd name="connsiteY9" fmla="*/ 976761 h 1201484"/>
              <a:gd name="connsiteX10" fmla="*/ 749239 w 1237718"/>
              <a:gd name="connsiteY10" fmla="*/ 1098681 h 1201484"/>
              <a:gd name="connsiteX11" fmla="*/ 667959 w 1237718"/>
              <a:gd name="connsiteY11" fmla="*/ 1200281 h 1201484"/>
              <a:gd name="connsiteX12" fmla="*/ 535879 w 1237718"/>
              <a:gd name="connsiteY12" fmla="*/ 1139321 h 1201484"/>
              <a:gd name="connsiteX13" fmla="*/ 505399 w 1237718"/>
              <a:gd name="connsiteY13" fmla="*/ 925961 h 1201484"/>
              <a:gd name="connsiteX14" fmla="*/ 688279 w 1237718"/>
              <a:gd name="connsiteY14" fmla="*/ 824361 h 1201484"/>
              <a:gd name="connsiteX15" fmla="*/ 911799 w 1237718"/>
              <a:gd name="connsiteY15" fmla="*/ 804041 h 1201484"/>
              <a:gd name="connsiteX16" fmla="*/ 962599 w 1237718"/>
              <a:gd name="connsiteY16" fmla="*/ 550041 h 1201484"/>
              <a:gd name="connsiteX17" fmla="*/ 932119 w 1237718"/>
              <a:gd name="connsiteY17" fmla="*/ 346841 h 1201484"/>
              <a:gd name="connsiteX18" fmla="*/ 733999 w 1237718"/>
              <a:gd name="connsiteY18" fmla="*/ 270641 h 1201484"/>
              <a:gd name="connsiteX19" fmla="*/ 467923 w 1237718"/>
              <a:gd name="connsiteY19" fmla="*/ 271363 h 1201484"/>
              <a:gd name="connsiteX20" fmla="*/ 251399 w 1237718"/>
              <a:gd name="connsiteY20" fmla="*/ 270641 h 1201484"/>
              <a:gd name="connsiteX21" fmla="*/ 261559 w 1237718"/>
              <a:gd name="connsiteY21" fmla="*/ 478921 h 1201484"/>
              <a:gd name="connsiteX22" fmla="*/ 292039 w 1237718"/>
              <a:gd name="connsiteY22" fmla="*/ 763401 h 1201484"/>
              <a:gd name="connsiteX23" fmla="*/ 352999 w 1237718"/>
              <a:gd name="connsiteY23" fmla="*/ 925961 h 1201484"/>
              <a:gd name="connsiteX24" fmla="*/ 241239 w 1237718"/>
              <a:gd name="connsiteY24" fmla="*/ 997081 h 1201484"/>
              <a:gd name="connsiteX25" fmla="*/ 180279 w 1237718"/>
              <a:gd name="connsiteY25" fmla="*/ 936121 h 1201484"/>
              <a:gd name="connsiteX0" fmla="*/ 180279 w 1237718"/>
              <a:gd name="connsiteY0" fmla="*/ 936121 h 1201484"/>
              <a:gd name="connsiteX1" fmla="*/ 27879 w 1237718"/>
              <a:gd name="connsiteY1" fmla="*/ 814201 h 1201484"/>
              <a:gd name="connsiteX2" fmla="*/ 38039 w 1237718"/>
              <a:gd name="connsiteY2" fmla="*/ 590681 h 1201484"/>
              <a:gd name="connsiteX3" fmla="*/ 7559 w 1237718"/>
              <a:gd name="connsiteY3" fmla="*/ 184281 h 1201484"/>
              <a:gd name="connsiteX4" fmla="*/ 200599 w 1237718"/>
              <a:gd name="connsiteY4" fmla="*/ 21721 h 1201484"/>
              <a:gd name="connsiteX5" fmla="*/ 667959 w 1237718"/>
              <a:gd name="connsiteY5" fmla="*/ 21721 h 1201484"/>
              <a:gd name="connsiteX6" fmla="*/ 1155639 w 1237718"/>
              <a:gd name="connsiteY6" fmla="*/ 42041 h 1201484"/>
              <a:gd name="connsiteX7" fmla="*/ 1236919 w 1237718"/>
              <a:gd name="connsiteY7" fmla="*/ 519561 h 1201484"/>
              <a:gd name="connsiteX8" fmla="*/ 1175959 w 1237718"/>
              <a:gd name="connsiteY8" fmla="*/ 895481 h 1201484"/>
              <a:gd name="connsiteX9" fmla="*/ 881319 w 1237718"/>
              <a:gd name="connsiteY9" fmla="*/ 976761 h 1201484"/>
              <a:gd name="connsiteX10" fmla="*/ 749239 w 1237718"/>
              <a:gd name="connsiteY10" fmla="*/ 1098681 h 1201484"/>
              <a:gd name="connsiteX11" fmla="*/ 667959 w 1237718"/>
              <a:gd name="connsiteY11" fmla="*/ 1200281 h 1201484"/>
              <a:gd name="connsiteX12" fmla="*/ 535879 w 1237718"/>
              <a:gd name="connsiteY12" fmla="*/ 1139321 h 1201484"/>
              <a:gd name="connsiteX13" fmla="*/ 505399 w 1237718"/>
              <a:gd name="connsiteY13" fmla="*/ 925961 h 1201484"/>
              <a:gd name="connsiteX14" fmla="*/ 688279 w 1237718"/>
              <a:gd name="connsiteY14" fmla="*/ 824361 h 1201484"/>
              <a:gd name="connsiteX15" fmla="*/ 911799 w 1237718"/>
              <a:gd name="connsiteY15" fmla="*/ 804041 h 1201484"/>
              <a:gd name="connsiteX16" fmla="*/ 962599 w 1237718"/>
              <a:gd name="connsiteY16" fmla="*/ 550041 h 1201484"/>
              <a:gd name="connsiteX17" fmla="*/ 932119 w 1237718"/>
              <a:gd name="connsiteY17" fmla="*/ 346841 h 1201484"/>
              <a:gd name="connsiteX18" fmla="*/ 733999 w 1237718"/>
              <a:gd name="connsiteY18" fmla="*/ 270641 h 1201484"/>
              <a:gd name="connsiteX19" fmla="*/ 467923 w 1237718"/>
              <a:gd name="connsiteY19" fmla="*/ 271363 h 1201484"/>
              <a:gd name="connsiteX20" fmla="*/ 251399 w 1237718"/>
              <a:gd name="connsiteY20" fmla="*/ 270641 h 1201484"/>
              <a:gd name="connsiteX21" fmla="*/ 261559 w 1237718"/>
              <a:gd name="connsiteY21" fmla="*/ 478921 h 1201484"/>
              <a:gd name="connsiteX22" fmla="*/ 292039 w 1237718"/>
              <a:gd name="connsiteY22" fmla="*/ 763401 h 1201484"/>
              <a:gd name="connsiteX23" fmla="*/ 352999 w 1237718"/>
              <a:gd name="connsiteY23" fmla="*/ 925961 h 1201484"/>
              <a:gd name="connsiteX24" fmla="*/ 241239 w 1237718"/>
              <a:gd name="connsiteY24" fmla="*/ 997081 h 1201484"/>
              <a:gd name="connsiteX25" fmla="*/ 180279 w 1237718"/>
              <a:gd name="connsiteY25" fmla="*/ 936121 h 1201484"/>
              <a:gd name="connsiteX0" fmla="*/ 180279 w 1237718"/>
              <a:gd name="connsiteY0" fmla="*/ 936121 h 1201484"/>
              <a:gd name="connsiteX1" fmla="*/ 27879 w 1237718"/>
              <a:gd name="connsiteY1" fmla="*/ 814201 h 1201484"/>
              <a:gd name="connsiteX2" fmla="*/ 38039 w 1237718"/>
              <a:gd name="connsiteY2" fmla="*/ 590681 h 1201484"/>
              <a:gd name="connsiteX3" fmla="*/ 7559 w 1237718"/>
              <a:gd name="connsiteY3" fmla="*/ 184281 h 1201484"/>
              <a:gd name="connsiteX4" fmla="*/ 200599 w 1237718"/>
              <a:gd name="connsiteY4" fmla="*/ 21721 h 1201484"/>
              <a:gd name="connsiteX5" fmla="*/ 667959 w 1237718"/>
              <a:gd name="connsiteY5" fmla="*/ 21721 h 1201484"/>
              <a:gd name="connsiteX6" fmla="*/ 1155639 w 1237718"/>
              <a:gd name="connsiteY6" fmla="*/ 42041 h 1201484"/>
              <a:gd name="connsiteX7" fmla="*/ 1236919 w 1237718"/>
              <a:gd name="connsiteY7" fmla="*/ 519561 h 1201484"/>
              <a:gd name="connsiteX8" fmla="*/ 1175959 w 1237718"/>
              <a:gd name="connsiteY8" fmla="*/ 895481 h 1201484"/>
              <a:gd name="connsiteX9" fmla="*/ 881319 w 1237718"/>
              <a:gd name="connsiteY9" fmla="*/ 976761 h 1201484"/>
              <a:gd name="connsiteX10" fmla="*/ 749239 w 1237718"/>
              <a:gd name="connsiteY10" fmla="*/ 1098681 h 1201484"/>
              <a:gd name="connsiteX11" fmla="*/ 667959 w 1237718"/>
              <a:gd name="connsiteY11" fmla="*/ 1200281 h 1201484"/>
              <a:gd name="connsiteX12" fmla="*/ 535879 w 1237718"/>
              <a:gd name="connsiteY12" fmla="*/ 1139321 h 1201484"/>
              <a:gd name="connsiteX13" fmla="*/ 505399 w 1237718"/>
              <a:gd name="connsiteY13" fmla="*/ 925961 h 1201484"/>
              <a:gd name="connsiteX14" fmla="*/ 688279 w 1237718"/>
              <a:gd name="connsiteY14" fmla="*/ 824361 h 1201484"/>
              <a:gd name="connsiteX15" fmla="*/ 911799 w 1237718"/>
              <a:gd name="connsiteY15" fmla="*/ 804041 h 1201484"/>
              <a:gd name="connsiteX16" fmla="*/ 962599 w 1237718"/>
              <a:gd name="connsiteY16" fmla="*/ 550041 h 1201484"/>
              <a:gd name="connsiteX17" fmla="*/ 932119 w 1237718"/>
              <a:gd name="connsiteY17" fmla="*/ 346841 h 1201484"/>
              <a:gd name="connsiteX18" fmla="*/ 986083 w 1237718"/>
              <a:gd name="connsiteY18" fmla="*/ 248503 h 1201484"/>
              <a:gd name="connsiteX19" fmla="*/ 733999 w 1237718"/>
              <a:gd name="connsiteY19" fmla="*/ 270641 h 1201484"/>
              <a:gd name="connsiteX20" fmla="*/ 467923 w 1237718"/>
              <a:gd name="connsiteY20" fmla="*/ 271363 h 1201484"/>
              <a:gd name="connsiteX21" fmla="*/ 251399 w 1237718"/>
              <a:gd name="connsiteY21" fmla="*/ 270641 h 1201484"/>
              <a:gd name="connsiteX22" fmla="*/ 261559 w 1237718"/>
              <a:gd name="connsiteY22" fmla="*/ 478921 h 1201484"/>
              <a:gd name="connsiteX23" fmla="*/ 292039 w 1237718"/>
              <a:gd name="connsiteY23" fmla="*/ 763401 h 1201484"/>
              <a:gd name="connsiteX24" fmla="*/ 352999 w 1237718"/>
              <a:gd name="connsiteY24" fmla="*/ 925961 h 1201484"/>
              <a:gd name="connsiteX25" fmla="*/ 241239 w 1237718"/>
              <a:gd name="connsiteY25" fmla="*/ 997081 h 1201484"/>
              <a:gd name="connsiteX26" fmla="*/ 180279 w 1237718"/>
              <a:gd name="connsiteY26" fmla="*/ 936121 h 1201484"/>
              <a:gd name="connsiteX0" fmla="*/ 180279 w 1237718"/>
              <a:gd name="connsiteY0" fmla="*/ 936121 h 1201484"/>
              <a:gd name="connsiteX1" fmla="*/ 27879 w 1237718"/>
              <a:gd name="connsiteY1" fmla="*/ 814201 h 1201484"/>
              <a:gd name="connsiteX2" fmla="*/ 38039 w 1237718"/>
              <a:gd name="connsiteY2" fmla="*/ 590681 h 1201484"/>
              <a:gd name="connsiteX3" fmla="*/ 7559 w 1237718"/>
              <a:gd name="connsiteY3" fmla="*/ 184281 h 1201484"/>
              <a:gd name="connsiteX4" fmla="*/ 200599 w 1237718"/>
              <a:gd name="connsiteY4" fmla="*/ 21721 h 1201484"/>
              <a:gd name="connsiteX5" fmla="*/ 667959 w 1237718"/>
              <a:gd name="connsiteY5" fmla="*/ 21721 h 1201484"/>
              <a:gd name="connsiteX6" fmla="*/ 1155639 w 1237718"/>
              <a:gd name="connsiteY6" fmla="*/ 42041 h 1201484"/>
              <a:gd name="connsiteX7" fmla="*/ 1236919 w 1237718"/>
              <a:gd name="connsiteY7" fmla="*/ 519561 h 1201484"/>
              <a:gd name="connsiteX8" fmla="*/ 1175959 w 1237718"/>
              <a:gd name="connsiteY8" fmla="*/ 895481 h 1201484"/>
              <a:gd name="connsiteX9" fmla="*/ 881319 w 1237718"/>
              <a:gd name="connsiteY9" fmla="*/ 976761 h 1201484"/>
              <a:gd name="connsiteX10" fmla="*/ 749239 w 1237718"/>
              <a:gd name="connsiteY10" fmla="*/ 1098681 h 1201484"/>
              <a:gd name="connsiteX11" fmla="*/ 667959 w 1237718"/>
              <a:gd name="connsiteY11" fmla="*/ 1200281 h 1201484"/>
              <a:gd name="connsiteX12" fmla="*/ 535879 w 1237718"/>
              <a:gd name="connsiteY12" fmla="*/ 1139321 h 1201484"/>
              <a:gd name="connsiteX13" fmla="*/ 505399 w 1237718"/>
              <a:gd name="connsiteY13" fmla="*/ 925961 h 1201484"/>
              <a:gd name="connsiteX14" fmla="*/ 688279 w 1237718"/>
              <a:gd name="connsiteY14" fmla="*/ 824361 h 1201484"/>
              <a:gd name="connsiteX15" fmla="*/ 911799 w 1237718"/>
              <a:gd name="connsiteY15" fmla="*/ 804041 h 1201484"/>
              <a:gd name="connsiteX16" fmla="*/ 962599 w 1237718"/>
              <a:gd name="connsiteY16" fmla="*/ 550041 h 1201484"/>
              <a:gd name="connsiteX17" fmla="*/ 972759 w 1237718"/>
              <a:gd name="connsiteY17" fmla="*/ 359541 h 1201484"/>
              <a:gd name="connsiteX18" fmla="*/ 986083 w 1237718"/>
              <a:gd name="connsiteY18" fmla="*/ 248503 h 1201484"/>
              <a:gd name="connsiteX19" fmla="*/ 733999 w 1237718"/>
              <a:gd name="connsiteY19" fmla="*/ 270641 h 1201484"/>
              <a:gd name="connsiteX20" fmla="*/ 467923 w 1237718"/>
              <a:gd name="connsiteY20" fmla="*/ 271363 h 1201484"/>
              <a:gd name="connsiteX21" fmla="*/ 251399 w 1237718"/>
              <a:gd name="connsiteY21" fmla="*/ 270641 h 1201484"/>
              <a:gd name="connsiteX22" fmla="*/ 261559 w 1237718"/>
              <a:gd name="connsiteY22" fmla="*/ 478921 h 1201484"/>
              <a:gd name="connsiteX23" fmla="*/ 292039 w 1237718"/>
              <a:gd name="connsiteY23" fmla="*/ 763401 h 1201484"/>
              <a:gd name="connsiteX24" fmla="*/ 352999 w 1237718"/>
              <a:gd name="connsiteY24" fmla="*/ 925961 h 1201484"/>
              <a:gd name="connsiteX25" fmla="*/ 241239 w 1237718"/>
              <a:gd name="connsiteY25" fmla="*/ 997081 h 1201484"/>
              <a:gd name="connsiteX26" fmla="*/ 180279 w 1237718"/>
              <a:gd name="connsiteY26" fmla="*/ 936121 h 1201484"/>
              <a:gd name="connsiteX0" fmla="*/ 180279 w 1237718"/>
              <a:gd name="connsiteY0" fmla="*/ 936121 h 1201484"/>
              <a:gd name="connsiteX1" fmla="*/ 27879 w 1237718"/>
              <a:gd name="connsiteY1" fmla="*/ 814201 h 1201484"/>
              <a:gd name="connsiteX2" fmla="*/ 38039 w 1237718"/>
              <a:gd name="connsiteY2" fmla="*/ 590681 h 1201484"/>
              <a:gd name="connsiteX3" fmla="*/ 7559 w 1237718"/>
              <a:gd name="connsiteY3" fmla="*/ 184281 h 1201484"/>
              <a:gd name="connsiteX4" fmla="*/ 200599 w 1237718"/>
              <a:gd name="connsiteY4" fmla="*/ 21721 h 1201484"/>
              <a:gd name="connsiteX5" fmla="*/ 667959 w 1237718"/>
              <a:gd name="connsiteY5" fmla="*/ 21721 h 1201484"/>
              <a:gd name="connsiteX6" fmla="*/ 1155639 w 1237718"/>
              <a:gd name="connsiteY6" fmla="*/ 42041 h 1201484"/>
              <a:gd name="connsiteX7" fmla="*/ 1236919 w 1237718"/>
              <a:gd name="connsiteY7" fmla="*/ 519561 h 1201484"/>
              <a:gd name="connsiteX8" fmla="*/ 1175959 w 1237718"/>
              <a:gd name="connsiteY8" fmla="*/ 895481 h 1201484"/>
              <a:gd name="connsiteX9" fmla="*/ 881319 w 1237718"/>
              <a:gd name="connsiteY9" fmla="*/ 976761 h 1201484"/>
              <a:gd name="connsiteX10" fmla="*/ 749239 w 1237718"/>
              <a:gd name="connsiteY10" fmla="*/ 1098681 h 1201484"/>
              <a:gd name="connsiteX11" fmla="*/ 667959 w 1237718"/>
              <a:gd name="connsiteY11" fmla="*/ 1200281 h 1201484"/>
              <a:gd name="connsiteX12" fmla="*/ 535879 w 1237718"/>
              <a:gd name="connsiteY12" fmla="*/ 1139321 h 1201484"/>
              <a:gd name="connsiteX13" fmla="*/ 505399 w 1237718"/>
              <a:gd name="connsiteY13" fmla="*/ 925961 h 1201484"/>
              <a:gd name="connsiteX14" fmla="*/ 688279 w 1237718"/>
              <a:gd name="connsiteY14" fmla="*/ 824361 h 1201484"/>
              <a:gd name="connsiteX15" fmla="*/ 911799 w 1237718"/>
              <a:gd name="connsiteY15" fmla="*/ 804041 h 1201484"/>
              <a:gd name="connsiteX16" fmla="*/ 990539 w 1237718"/>
              <a:gd name="connsiteY16" fmla="*/ 562741 h 1201484"/>
              <a:gd name="connsiteX17" fmla="*/ 972759 w 1237718"/>
              <a:gd name="connsiteY17" fmla="*/ 359541 h 1201484"/>
              <a:gd name="connsiteX18" fmla="*/ 986083 w 1237718"/>
              <a:gd name="connsiteY18" fmla="*/ 248503 h 1201484"/>
              <a:gd name="connsiteX19" fmla="*/ 733999 w 1237718"/>
              <a:gd name="connsiteY19" fmla="*/ 270641 h 1201484"/>
              <a:gd name="connsiteX20" fmla="*/ 467923 w 1237718"/>
              <a:gd name="connsiteY20" fmla="*/ 271363 h 1201484"/>
              <a:gd name="connsiteX21" fmla="*/ 251399 w 1237718"/>
              <a:gd name="connsiteY21" fmla="*/ 270641 h 1201484"/>
              <a:gd name="connsiteX22" fmla="*/ 261559 w 1237718"/>
              <a:gd name="connsiteY22" fmla="*/ 478921 h 1201484"/>
              <a:gd name="connsiteX23" fmla="*/ 292039 w 1237718"/>
              <a:gd name="connsiteY23" fmla="*/ 763401 h 1201484"/>
              <a:gd name="connsiteX24" fmla="*/ 352999 w 1237718"/>
              <a:gd name="connsiteY24" fmla="*/ 925961 h 1201484"/>
              <a:gd name="connsiteX25" fmla="*/ 241239 w 1237718"/>
              <a:gd name="connsiteY25" fmla="*/ 997081 h 1201484"/>
              <a:gd name="connsiteX26" fmla="*/ 180279 w 1237718"/>
              <a:gd name="connsiteY26" fmla="*/ 936121 h 1201484"/>
              <a:gd name="connsiteX0" fmla="*/ 180279 w 1237718"/>
              <a:gd name="connsiteY0" fmla="*/ 936121 h 1201484"/>
              <a:gd name="connsiteX1" fmla="*/ 27879 w 1237718"/>
              <a:gd name="connsiteY1" fmla="*/ 814201 h 1201484"/>
              <a:gd name="connsiteX2" fmla="*/ 38039 w 1237718"/>
              <a:gd name="connsiteY2" fmla="*/ 590681 h 1201484"/>
              <a:gd name="connsiteX3" fmla="*/ 7559 w 1237718"/>
              <a:gd name="connsiteY3" fmla="*/ 184281 h 1201484"/>
              <a:gd name="connsiteX4" fmla="*/ 200599 w 1237718"/>
              <a:gd name="connsiteY4" fmla="*/ 21721 h 1201484"/>
              <a:gd name="connsiteX5" fmla="*/ 667959 w 1237718"/>
              <a:gd name="connsiteY5" fmla="*/ 21721 h 1201484"/>
              <a:gd name="connsiteX6" fmla="*/ 1155639 w 1237718"/>
              <a:gd name="connsiteY6" fmla="*/ 42041 h 1201484"/>
              <a:gd name="connsiteX7" fmla="*/ 1236919 w 1237718"/>
              <a:gd name="connsiteY7" fmla="*/ 519561 h 1201484"/>
              <a:gd name="connsiteX8" fmla="*/ 1175959 w 1237718"/>
              <a:gd name="connsiteY8" fmla="*/ 895481 h 1201484"/>
              <a:gd name="connsiteX9" fmla="*/ 881319 w 1237718"/>
              <a:gd name="connsiteY9" fmla="*/ 976761 h 1201484"/>
              <a:gd name="connsiteX10" fmla="*/ 749239 w 1237718"/>
              <a:gd name="connsiteY10" fmla="*/ 1098681 h 1201484"/>
              <a:gd name="connsiteX11" fmla="*/ 667959 w 1237718"/>
              <a:gd name="connsiteY11" fmla="*/ 1200281 h 1201484"/>
              <a:gd name="connsiteX12" fmla="*/ 535879 w 1237718"/>
              <a:gd name="connsiteY12" fmla="*/ 1139321 h 1201484"/>
              <a:gd name="connsiteX13" fmla="*/ 505399 w 1237718"/>
              <a:gd name="connsiteY13" fmla="*/ 925961 h 1201484"/>
              <a:gd name="connsiteX14" fmla="*/ 688279 w 1237718"/>
              <a:gd name="connsiteY14" fmla="*/ 824361 h 1201484"/>
              <a:gd name="connsiteX15" fmla="*/ 911799 w 1237718"/>
              <a:gd name="connsiteY15" fmla="*/ 804041 h 1201484"/>
              <a:gd name="connsiteX16" fmla="*/ 983543 w 1237718"/>
              <a:gd name="connsiteY16" fmla="*/ 695543 h 1201484"/>
              <a:gd name="connsiteX17" fmla="*/ 990539 w 1237718"/>
              <a:gd name="connsiteY17" fmla="*/ 562741 h 1201484"/>
              <a:gd name="connsiteX18" fmla="*/ 972759 w 1237718"/>
              <a:gd name="connsiteY18" fmla="*/ 359541 h 1201484"/>
              <a:gd name="connsiteX19" fmla="*/ 986083 w 1237718"/>
              <a:gd name="connsiteY19" fmla="*/ 248503 h 1201484"/>
              <a:gd name="connsiteX20" fmla="*/ 733999 w 1237718"/>
              <a:gd name="connsiteY20" fmla="*/ 270641 h 1201484"/>
              <a:gd name="connsiteX21" fmla="*/ 467923 w 1237718"/>
              <a:gd name="connsiteY21" fmla="*/ 271363 h 1201484"/>
              <a:gd name="connsiteX22" fmla="*/ 251399 w 1237718"/>
              <a:gd name="connsiteY22" fmla="*/ 270641 h 1201484"/>
              <a:gd name="connsiteX23" fmla="*/ 261559 w 1237718"/>
              <a:gd name="connsiteY23" fmla="*/ 478921 h 1201484"/>
              <a:gd name="connsiteX24" fmla="*/ 292039 w 1237718"/>
              <a:gd name="connsiteY24" fmla="*/ 763401 h 1201484"/>
              <a:gd name="connsiteX25" fmla="*/ 352999 w 1237718"/>
              <a:gd name="connsiteY25" fmla="*/ 925961 h 1201484"/>
              <a:gd name="connsiteX26" fmla="*/ 241239 w 1237718"/>
              <a:gd name="connsiteY26" fmla="*/ 997081 h 1201484"/>
              <a:gd name="connsiteX27" fmla="*/ 180279 w 1237718"/>
              <a:gd name="connsiteY27" fmla="*/ 936121 h 1201484"/>
              <a:gd name="connsiteX0" fmla="*/ 180279 w 1237911"/>
              <a:gd name="connsiteY0" fmla="*/ 927230 h 1192593"/>
              <a:gd name="connsiteX1" fmla="*/ 27879 w 1237911"/>
              <a:gd name="connsiteY1" fmla="*/ 805310 h 1192593"/>
              <a:gd name="connsiteX2" fmla="*/ 38039 w 1237911"/>
              <a:gd name="connsiteY2" fmla="*/ 581790 h 1192593"/>
              <a:gd name="connsiteX3" fmla="*/ 7559 w 1237911"/>
              <a:gd name="connsiteY3" fmla="*/ 175390 h 1192593"/>
              <a:gd name="connsiteX4" fmla="*/ 200599 w 1237911"/>
              <a:gd name="connsiteY4" fmla="*/ 12830 h 1192593"/>
              <a:gd name="connsiteX5" fmla="*/ 667959 w 1237911"/>
              <a:gd name="connsiteY5" fmla="*/ 12830 h 1192593"/>
              <a:gd name="connsiteX6" fmla="*/ 1155639 w 1237911"/>
              <a:gd name="connsiteY6" fmla="*/ 33150 h 1192593"/>
              <a:gd name="connsiteX7" fmla="*/ 1209603 w 1237911"/>
              <a:gd name="connsiteY7" fmla="*/ 318352 h 1192593"/>
              <a:gd name="connsiteX8" fmla="*/ 1236919 w 1237911"/>
              <a:gd name="connsiteY8" fmla="*/ 510670 h 1192593"/>
              <a:gd name="connsiteX9" fmla="*/ 1175959 w 1237911"/>
              <a:gd name="connsiteY9" fmla="*/ 886590 h 1192593"/>
              <a:gd name="connsiteX10" fmla="*/ 881319 w 1237911"/>
              <a:gd name="connsiteY10" fmla="*/ 967870 h 1192593"/>
              <a:gd name="connsiteX11" fmla="*/ 749239 w 1237911"/>
              <a:gd name="connsiteY11" fmla="*/ 1089790 h 1192593"/>
              <a:gd name="connsiteX12" fmla="*/ 667959 w 1237911"/>
              <a:gd name="connsiteY12" fmla="*/ 1191390 h 1192593"/>
              <a:gd name="connsiteX13" fmla="*/ 535879 w 1237911"/>
              <a:gd name="connsiteY13" fmla="*/ 1130430 h 1192593"/>
              <a:gd name="connsiteX14" fmla="*/ 505399 w 1237911"/>
              <a:gd name="connsiteY14" fmla="*/ 917070 h 1192593"/>
              <a:gd name="connsiteX15" fmla="*/ 688279 w 1237911"/>
              <a:gd name="connsiteY15" fmla="*/ 815470 h 1192593"/>
              <a:gd name="connsiteX16" fmla="*/ 911799 w 1237911"/>
              <a:gd name="connsiteY16" fmla="*/ 795150 h 1192593"/>
              <a:gd name="connsiteX17" fmla="*/ 983543 w 1237911"/>
              <a:gd name="connsiteY17" fmla="*/ 686652 h 1192593"/>
              <a:gd name="connsiteX18" fmla="*/ 990539 w 1237911"/>
              <a:gd name="connsiteY18" fmla="*/ 553850 h 1192593"/>
              <a:gd name="connsiteX19" fmla="*/ 972759 w 1237911"/>
              <a:gd name="connsiteY19" fmla="*/ 350650 h 1192593"/>
              <a:gd name="connsiteX20" fmla="*/ 986083 w 1237911"/>
              <a:gd name="connsiteY20" fmla="*/ 239612 h 1192593"/>
              <a:gd name="connsiteX21" fmla="*/ 733999 w 1237911"/>
              <a:gd name="connsiteY21" fmla="*/ 261750 h 1192593"/>
              <a:gd name="connsiteX22" fmla="*/ 467923 w 1237911"/>
              <a:gd name="connsiteY22" fmla="*/ 262472 h 1192593"/>
              <a:gd name="connsiteX23" fmla="*/ 251399 w 1237911"/>
              <a:gd name="connsiteY23" fmla="*/ 261750 h 1192593"/>
              <a:gd name="connsiteX24" fmla="*/ 261559 w 1237911"/>
              <a:gd name="connsiteY24" fmla="*/ 470030 h 1192593"/>
              <a:gd name="connsiteX25" fmla="*/ 292039 w 1237911"/>
              <a:gd name="connsiteY25" fmla="*/ 754510 h 1192593"/>
              <a:gd name="connsiteX26" fmla="*/ 352999 w 1237911"/>
              <a:gd name="connsiteY26" fmla="*/ 917070 h 1192593"/>
              <a:gd name="connsiteX27" fmla="*/ 241239 w 1237911"/>
              <a:gd name="connsiteY27" fmla="*/ 988190 h 1192593"/>
              <a:gd name="connsiteX28" fmla="*/ 180279 w 1237911"/>
              <a:gd name="connsiteY28" fmla="*/ 927230 h 1192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37911" h="1192593">
                <a:moveTo>
                  <a:pt x="180279" y="927230"/>
                </a:moveTo>
                <a:cubicBezTo>
                  <a:pt x="144719" y="896750"/>
                  <a:pt x="51586" y="862883"/>
                  <a:pt x="27879" y="805310"/>
                </a:cubicBezTo>
                <a:cubicBezTo>
                  <a:pt x="4172" y="747737"/>
                  <a:pt x="41426" y="686777"/>
                  <a:pt x="38039" y="581790"/>
                </a:cubicBezTo>
                <a:cubicBezTo>
                  <a:pt x="34652" y="476803"/>
                  <a:pt x="-19534" y="270217"/>
                  <a:pt x="7559" y="175390"/>
                </a:cubicBezTo>
                <a:cubicBezTo>
                  <a:pt x="34652" y="80563"/>
                  <a:pt x="90532" y="39923"/>
                  <a:pt x="200599" y="12830"/>
                </a:cubicBezTo>
                <a:cubicBezTo>
                  <a:pt x="310666" y="-14263"/>
                  <a:pt x="508786" y="9443"/>
                  <a:pt x="667959" y="12830"/>
                </a:cubicBezTo>
                <a:cubicBezTo>
                  <a:pt x="827132" y="16217"/>
                  <a:pt x="1065365" y="-17770"/>
                  <a:pt x="1155639" y="33150"/>
                </a:cubicBezTo>
                <a:cubicBezTo>
                  <a:pt x="1245913" y="84070"/>
                  <a:pt x="1196056" y="238765"/>
                  <a:pt x="1209603" y="318352"/>
                </a:cubicBezTo>
                <a:cubicBezTo>
                  <a:pt x="1223150" y="397939"/>
                  <a:pt x="1242526" y="415964"/>
                  <a:pt x="1236919" y="510670"/>
                </a:cubicBezTo>
                <a:cubicBezTo>
                  <a:pt x="1231312" y="605376"/>
                  <a:pt x="1235226" y="810390"/>
                  <a:pt x="1175959" y="886590"/>
                </a:cubicBezTo>
                <a:cubicBezTo>
                  <a:pt x="1116692" y="962790"/>
                  <a:pt x="952439" y="934003"/>
                  <a:pt x="881319" y="967870"/>
                </a:cubicBezTo>
                <a:cubicBezTo>
                  <a:pt x="810199" y="1001737"/>
                  <a:pt x="784799" y="1052537"/>
                  <a:pt x="749239" y="1089790"/>
                </a:cubicBezTo>
                <a:cubicBezTo>
                  <a:pt x="713679" y="1127043"/>
                  <a:pt x="703519" y="1184617"/>
                  <a:pt x="667959" y="1191390"/>
                </a:cubicBezTo>
                <a:cubicBezTo>
                  <a:pt x="632399" y="1198163"/>
                  <a:pt x="562972" y="1176150"/>
                  <a:pt x="535879" y="1130430"/>
                </a:cubicBezTo>
                <a:cubicBezTo>
                  <a:pt x="508786" y="1084710"/>
                  <a:pt x="479999" y="969563"/>
                  <a:pt x="505399" y="917070"/>
                </a:cubicBezTo>
                <a:cubicBezTo>
                  <a:pt x="530799" y="864577"/>
                  <a:pt x="620546" y="835790"/>
                  <a:pt x="688279" y="815470"/>
                </a:cubicBezTo>
                <a:cubicBezTo>
                  <a:pt x="756012" y="795150"/>
                  <a:pt x="862588" y="816620"/>
                  <a:pt x="911799" y="795150"/>
                </a:cubicBezTo>
                <a:cubicBezTo>
                  <a:pt x="961010" y="773680"/>
                  <a:pt x="970420" y="726869"/>
                  <a:pt x="983543" y="686652"/>
                </a:cubicBezTo>
                <a:cubicBezTo>
                  <a:pt x="996666" y="646435"/>
                  <a:pt x="992336" y="609850"/>
                  <a:pt x="990539" y="553850"/>
                </a:cubicBezTo>
                <a:cubicBezTo>
                  <a:pt x="988742" y="497850"/>
                  <a:pt x="973502" y="403023"/>
                  <a:pt x="972759" y="350650"/>
                </a:cubicBezTo>
                <a:cubicBezTo>
                  <a:pt x="972016" y="298277"/>
                  <a:pt x="1019103" y="252312"/>
                  <a:pt x="986083" y="239612"/>
                </a:cubicBezTo>
                <a:cubicBezTo>
                  <a:pt x="953063" y="226912"/>
                  <a:pt x="820359" y="257940"/>
                  <a:pt x="733999" y="261750"/>
                </a:cubicBezTo>
                <a:cubicBezTo>
                  <a:pt x="647639" y="265560"/>
                  <a:pt x="547510" y="271785"/>
                  <a:pt x="467923" y="262472"/>
                </a:cubicBezTo>
                <a:cubicBezTo>
                  <a:pt x="388336" y="283639"/>
                  <a:pt x="285793" y="227157"/>
                  <a:pt x="251399" y="261750"/>
                </a:cubicBezTo>
                <a:cubicBezTo>
                  <a:pt x="217005" y="296343"/>
                  <a:pt x="254786" y="387903"/>
                  <a:pt x="261559" y="470030"/>
                </a:cubicBezTo>
                <a:cubicBezTo>
                  <a:pt x="268332" y="552157"/>
                  <a:pt x="276799" y="680003"/>
                  <a:pt x="292039" y="754510"/>
                </a:cubicBezTo>
                <a:cubicBezTo>
                  <a:pt x="307279" y="829017"/>
                  <a:pt x="361466" y="878123"/>
                  <a:pt x="352999" y="917070"/>
                </a:cubicBezTo>
                <a:cubicBezTo>
                  <a:pt x="344532" y="956017"/>
                  <a:pt x="273412" y="981417"/>
                  <a:pt x="241239" y="988190"/>
                </a:cubicBezTo>
                <a:cubicBezTo>
                  <a:pt x="209066" y="994963"/>
                  <a:pt x="215839" y="957710"/>
                  <a:pt x="180279" y="927230"/>
                </a:cubicBezTo>
                <a:close/>
              </a:path>
            </a:pathLst>
          </a:cu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35E0C6B-D8AA-496F-8A9C-DC95DFF85391}"/>
              </a:ext>
            </a:extLst>
          </p:cNvPr>
          <p:cNvSpPr/>
          <p:nvPr/>
        </p:nvSpPr>
        <p:spPr>
          <a:xfrm>
            <a:off x="10146560" y="3958091"/>
            <a:ext cx="1030636" cy="1291679"/>
          </a:xfrm>
          <a:prstGeom prst="rect">
            <a:avLst/>
          </a:prstGeom>
          <a:solidFill>
            <a:schemeClr val="accent6">
              <a:lumMod val="20000"/>
              <a:lumOff val="8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76" name="TextBox 75">
            <a:extLst>
              <a:ext uri="{FF2B5EF4-FFF2-40B4-BE49-F238E27FC236}">
                <a16:creationId xmlns:a16="http://schemas.microsoft.com/office/drawing/2014/main" id="{84181C1D-1E68-4406-B83F-598D359E95C5}"/>
              </a:ext>
            </a:extLst>
          </p:cNvPr>
          <p:cNvSpPr txBox="1"/>
          <p:nvPr/>
        </p:nvSpPr>
        <p:spPr>
          <a:xfrm>
            <a:off x="5692798" y="3972365"/>
            <a:ext cx="4534443" cy="1200329"/>
          </a:xfrm>
          <a:prstGeom prst="rect">
            <a:avLst/>
          </a:prstGeom>
          <a:noFill/>
        </p:spPr>
        <p:txBody>
          <a:bodyPr wrap="square">
            <a:spAutoFit/>
          </a:bodyPr>
          <a:lstStyle/>
          <a:p>
            <a:pPr algn="ctr"/>
            <a:r>
              <a:rPr lang="en-US" dirty="0">
                <a:solidFill>
                  <a:schemeClr val="bg1"/>
                </a:solidFill>
              </a:rPr>
              <a:t>Colonoscopy – q10y</a:t>
            </a:r>
          </a:p>
          <a:p>
            <a:pPr algn="ctr"/>
            <a:r>
              <a:rPr lang="en-US" dirty="0" err="1">
                <a:solidFill>
                  <a:schemeClr val="bg1"/>
                </a:solidFill>
              </a:rPr>
              <a:t>gFOBT</a:t>
            </a:r>
            <a:r>
              <a:rPr lang="en-US" dirty="0">
                <a:solidFill>
                  <a:schemeClr val="bg1"/>
                </a:solidFill>
              </a:rPr>
              <a:t>/ FIT – q1y</a:t>
            </a:r>
          </a:p>
          <a:p>
            <a:pPr algn="ctr"/>
            <a:r>
              <a:rPr lang="en-US" dirty="0" err="1">
                <a:solidFill>
                  <a:schemeClr val="bg1"/>
                </a:solidFill>
              </a:rPr>
              <a:t>sFIT+DNA</a:t>
            </a:r>
            <a:r>
              <a:rPr lang="en-US" dirty="0">
                <a:solidFill>
                  <a:schemeClr val="bg1"/>
                </a:solidFill>
              </a:rPr>
              <a:t> – q3y</a:t>
            </a:r>
          </a:p>
          <a:p>
            <a:pPr algn="ctr"/>
            <a:r>
              <a:rPr lang="en-US" dirty="0">
                <a:solidFill>
                  <a:schemeClr val="bg1"/>
                </a:solidFill>
              </a:rPr>
              <a:t>CT colonography sigmoidoscopy – q5y</a:t>
            </a:r>
          </a:p>
        </p:txBody>
      </p:sp>
      <p:graphicFrame>
        <p:nvGraphicFramePr>
          <p:cNvPr id="5" name="Table 5">
            <a:extLst>
              <a:ext uri="{FF2B5EF4-FFF2-40B4-BE49-F238E27FC236}">
                <a16:creationId xmlns:a16="http://schemas.microsoft.com/office/drawing/2014/main" id="{A3EB9653-D951-4B99-8A36-24C879B31ADC}"/>
              </a:ext>
            </a:extLst>
          </p:cNvPr>
          <p:cNvGraphicFramePr>
            <a:graphicFrameLocks noGrp="1"/>
          </p:cNvGraphicFramePr>
          <p:nvPr>
            <p:extLst>
              <p:ext uri="{D42A27DB-BD31-4B8C-83A1-F6EECF244321}">
                <p14:modId xmlns:p14="http://schemas.microsoft.com/office/powerpoint/2010/main" val="3790133673"/>
              </p:ext>
            </p:extLst>
          </p:nvPr>
        </p:nvGraphicFramePr>
        <p:xfrm>
          <a:off x="6045128" y="1944235"/>
          <a:ext cx="2998715" cy="1554480"/>
        </p:xfrm>
        <a:graphic>
          <a:graphicData uri="http://schemas.openxmlformats.org/drawingml/2006/table">
            <a:tbl>
              <a:tblPr firstRow="1" bandRow="1">
                <a:tableStyleId>{5C22544A-7EE6-4342-B048-85BDC9FD1C3A}</a:tableStyleId>
              </a:tblPr>
              <a:tblGrid>
                <a:gridCol w="2249018">
                  <a:extLst>
                    <a:ext uri="{9D8B030D-6E8A-4147-A177-3AD203B41FA5}">
                      <a16:colId xmlns:a16="http://schemas.microsoft.com/office/drawing/2014/main" val="2142405818"/>
                    </a:ext>
                  </a:extLst>
                </a:gridCol>
                <a:gridCol w="749697">
                  <a:extLst>
                    <a:ext uri="{9D8B030D-6E8A-4147-A177-3AD203B41FA5}">
                      <a16:colId xmlns:a16="http://schemas.microsoft.com/office/drawing/2014/main" val="2303839361"/>
                    </a:ext>
                  </a:extLst>
                </a:gridCol>
              </a:tblGrid>
              <a:tr h="242322">
                <a:tc>
                  <a:txBody>
                    <a:bodyPr/>
                    <a:lstStyle/>
                    <a:p>
                      <a:pPr algn="ctr"/>
                      <a:r>
                        <a:rPr lang="en-US" b="0" dirty="0">
                          <a:solidFill>
                            <a:schemeClr val="tx1"/>
                          </a:solidFill>
                        </a:rPr>
                        <a:t>Colonoscopy</a:t>
                      </a:r>
                    </a:p>
                  </a:txBody>
                  <a:tcPr marT="0">
                    <a:lnL w="12700" cmpd="sng">
                      <a:noFill/>
                    </a:lnL>
                    <a:lnR w="12700" cap="flat" cmpd="sng" algn="ctr">
                      <a:solidFill>
                        <a:schemeClr val="tx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q10y</a:t>
                      </a:r>
                    </a:p>
                  </a:txBody>
                  <a:tcPr marT="0">
                    <a:lnL w="12700" cap="flat" cmpd="sng" algn="ctr">
                      <a:solidFill>
                        <a:schemeClr val="tx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96075439"/>
                  </a:ext>
                </a:extLst>
              </a:tr>
              <a:tr h="242322">
                <a:tc>
                  <a:txBody>
                    <a:bodyPr/>
                    <a:lstStyle/>
                    <a:p>
                      <a:pPr algn="ctr"/>
                      <a:r>
                        <a:rPr lang="en-US" dirty="0" err="1">
                          <a:solidFill>
                            <a:schemeClr val="tx1"/>
                          </a:solidFill>
                        </a:rPr>
                        <a:t>gFOBT</a:t>
                      </a:r>
                      <a:r>
                        <a:rPr lang="en-US" dirty="0">
                          <a:solidFill>
                            <a:schemeClr val="tx1"/>
                          </a:solidFill>
                        </a:rPr>
                        <a:t>/FIT</a:t>
                      </a:r>
                    </a:p>
                  </a:txBody>
                  <a:tcPr marT="0">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r>
                        <a:rPr lang="en-US" dirty="0">
                          <a:solidFill>
                            <a:schemeClr val="tx1"/>
                          </a:solidFill>
                        </a:rPr>
                        <a:t>q1y</a:t>
                      </a:r>
                    </a:p>
                  </a:txBody>
                  <a:tcPr marT="0">
                    <a:lnL w="12700" cap="flat" cmpd="sng" algn="ctr">
                      <a:solidFill>
                        <a:schemeClr val="tx1"/>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5303930"/>
                  </a:ext>
                </a:extLst>
              </a:tr>
              <a:tr h="242322">
                <a:tc>
                  <a:txBody>
                    <a:bodyPr/>
                    <a:lstStyle/>
                    <a:p>
                      <a:pPr algn="ctr"/>
                      <a:r>
                        <a:rPr lang="en-US" dirty="0" err="1">
                          <a:solidFill>
                            <a:schemeClr val="tx1"/>
                          </a:solidFill>
                        </a:rPr>
                        <a:t>sFIT+DNA</a:t>
                      </a:r>
                      <a:endParaRPr lang="en-US" dirty="0">
                        <a:solidFill>
                          <a:schemeClr val="tx1"/>
                        </a:solidFill>
                      </a:endParaRPr>
                    </a:p>
                  </a:txBody>
                  <a:tcPr marT="0">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r>
                        <a:rPr lang="en-US" dirty="0">
                          <a:solidFill>
                            <a:schemeClr val="tx1"/>
                          </a:solidFill>
                        </a:rPr>
                        <a:t>q3y</a:t>
                      </a:r>
                    </a:p>
                  </a:txBody>
                  <a:tcPr marT="0">
                    <a:lnL w="12700" cap="flat" cmpd="sng" algn="ctr">
                      <a:solidFill>
                        <a:schemeClr val="tx1"/>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1795549"/>
                  </a:ext>
                </a:extLst>
              </a:tr>
              <a:tr h="0">
                <a:tc>
                  <a:txBody>
                    <a:bodyPr/>
                    <a:lstStyle/>
                    <a:p>
                      <a:pPr algn="ctr"/>
                      <a:r>
                        <a:rPr lang="en-US" dirty="0">
                          <a:solidFill>
                            <a:schemeClr val="tx1"/>
                          </a:solidFill>
                        </a:rPr>
                        <a:t>CT colonography or sigmoidoscopy</a:t>
                      </a:r>
                    </a:p>
                  </a:txBody>
                  <a:tcPr marT="0">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r>
                        <a:rPr lang="en-US" dirty="0">
                          <a:solidFill>
                            <a:schemeClr val="tx1"/>
                          </a:solidFill>
                        </a:rPr>
                        <a:t>q5y</a:t>
                      </a:r>
                    </a:p>
                  </a:txBody>
                  <a:tcPr marT="0" anchor="ctr">
                    <a:lnL w="12700" cap="flat" cmpd="sng" algn="ctr">
                      <a:solidFill>
                        <a:schemeClr val="tx1"/>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55712797"/>
                  </a:ext>
                </a:extLst>
              </a:tr>
            </a:tbl>
          </a:graphicData>
        </a:graphic>
      </p:graphicFrame>
      <p:sp>
        <p:nvSpPr>
          <p:cNvPr id="77" name="cancer screening text">
            <a:hlinkClick r:id="rId10" action="ppaction://hlinksldjump"/>
            <a:extLst>
              <a:ext uri="{FF2B5EF4-FFF2-40B4-BE49-F238E27FC236}">
                <a16:creationId xmlns:a16="http://schemas.microsoft.com/office/drawing/2014/main" id="{19DB26A4-6629-4093-AB68-9EB3E74839E5}"/>
              </a:ext>
            </a:extLst>
          </p:cNvPr>
          <p:cNvSpPr txBox="1"/>
          <p:nvPr/>
        </p:nvSpPr>
        <p:spPr>
          <a:xfrm>
            <a:off x="250665" y="5045459"/>
            <a:ext cx="1967278" cy="408623"/>
          </a:xfrm>
          <a:prstGeom prst="roundRect">
            <a:avLst/>
          </a:prstGeom>
          <a:ln w="38100">
            <a:solidFill>
              <a:schemeClr val="accent2"/>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Infectious Disease</a:t>
            </a:r>
          </a:p>
        </p:txBody>
      </p:sp>
      <p:pic>
        <p:nvPicPr>
          <p:cNvPr id="78" name="Graphic 77" descr="Cursor with solid fill">
            <a:extLst>
              <a:ext uri="{FF2B5EF4-FFF2-40B4-BE49-F238E27FC236}">
                <a16:creationId xmlns:a16="http://schemas.microsoft.com/office/drawing/2014/main" id="{01CA412C-F8EE-464A-92D0-E24F7A0FDA6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060407" y="5238530"/>
            <a:ext cx="395274" cy="395274"/>
          </a:xfrm>
          <a:prstGeom prst="rect">
            <a:avLst/>
          </a:prstGeom>
        </p:spPr>
      </p:pic>
      <p:pic>
        <p:nvPicPr>
          <p:cNvPr id="74" name="Graphic 73" descr="Cursor with solid fill">
            <a:hlinkClick r:id="rId4" action="ppaction://hlinksldjump"/>
            <a:extLst>
              <a:ext uri="{FF2B5EF4-FFF2-40B4-BE49-F238E27FC236}">
                <a16:creationId xmlns:a16="http://schemas.microsoft.com/office/drawing/2014/main" id="{A15A8745-D15C-4531-BEA7-3B689283414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938530" y="3545310"/>
            <a:ext cx="395274" cy="395274"/>
          </a:xfrm>
          <a:prstGeom prst="rect">
            <a:avLst/>
          </a:prstGeom>
        </p:spPr>
      </p:pic>
      <p:pic>
        <p:nvPicPr>
          <p:cNvPr id="75" name="Graphic 74" descr="Cursor with solid fill">
            <a:hlinkClick r:id="rId6" action="ppaction://hlinksldjump"/>
            <a:extLst>
              <a:ext uri="{FF2B5EF4-FFF2-40B4-BE49-F238E27FC236}">
                <a16:creationId xmlns:a16="http://schemas.microsoft.com/office/drawing/2014/main" id="{658E262F-3B6F-4DDF-8DF1-AAF7A66A0F0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938530" y="4114933"/>
            <a:ext cx="395274" cy="395274"/>
          </a:xfrm>
          <a:prstGeom prst="rect">
            <a:avLst/>
          </a:prstGeom>
        </p:spPr>
      </p:pic>
      <p:pic>
        <p:nvPicPr>
          <p:cNvPr id="79" name="Graphic 78" descr="Cursor with solid fill">
            <a:hlinkClick r:id="rId4" action="ppaction://hlinksldjump"/>
            <a:extLst>
              <a:ext uri="{FF2B5EF4-FFF2-40B4-BE49-F238E27FC236}">
                <a16:creationId xmlns:a16="http://schemas.microsoft.com/office/drawing/2014/main" id="{658BC06A-F221-42A5-BA95-6003556EA4B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938530" y="2456083"/>
            <a:ext cx="395274" cy="395274"/>
          </a:xfrm>
          <a:prstGeom prst="rect">
            <a:avLst/>
          </a:prstGeom>
        </p:spPr>
      </p:pic>
      <p:grpSp>
        <p:nvGrpSpPr>
          <p:cNvPr id="80" name="Question 2 button">
            <a:extLst>
              <a:ext uri="{FF2B5EF4-FFF2-40B4-BE49-F238E27FC236}">
                <a16:creationId xmlns:a16="http://schemas.microsoft.com/office/drawing/2014/main" id="{F62DD3B4-5740-4EFC-9B0C-6E4E7AE7A52B}"/>
              </a:ext>
            </a:extLst>
          </p:cNvPr>
          <p:cNvGrpSpPr/>
          <p:nvPr/>
        </p:nvGrpSpPr>
        <p:grpSpPr>
          <a:xfrm>
            <a:off x="250666" y="118378"/>
            <a:ext cx="2631617" cy="641990"/>
            <a:chOff x="111732" y="1020981"/>
            <a:chExt cx="2631617" cy="641990"/>
          </a:xfrm>
        </p:grpSpPr>
        <p:sp>
          <p:nvSpPr>
            <p:cNvPr id="81" name="Question 2">
              <a:hlinkClick r:id="rId11" action="ppaction://hlinksldjump"/>
              <a:extLst>
                <a:ext uri="{FF2B5EF4-FFF2-40B4-BE49-F238E27FC236}">
                  <a16:creationId xmlns:a16="http://schemas.microsoft.com/office/drawing/2014/main" id="{3A3024B1-5A22-4957-AB33-395B5B4663C1}"/>
                </a:ext>
              </a:extLst>
            </p:cNvPr>
            <p:cNvSpPr txBox="1"/>
            <p:nvPr/>
          </p:nvSpPr>
          <p:spPr>
            <a:xfrm>
              <a:off x="111732" y="1020981"/>
              <a:ext cx="2404590"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When to screen?</a:t>
              </a:r>
            </a:p>
          </p:txBody>
        </p:sp>
        <p:pic>
          <p:nvPicPr>
            <p:cNvPr id="82" name="Graphic 81" descr="Cursor with solid fill">
              <a:extLst>
                <a:ext uri="{FF2B5EF4-FFF2-40B4-BE49-F238E27FC236}">
                  <a16:creationId xmlns:a16="http://schemas.microsoft.com/office/drawing/2014/main" id="{DA113966-3F35-4AD5-B9CA-DA18E576C0C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348075" y="1267697"/>
              <a:ext cx="395274" cy="395274"/>
            </a:xfrm>
            <a:prstGeom prst="rect">
              <a:avLst/>
            </a:prstGeom>
          </p:spPr>
        </p:pic>
      </p:grpSp>
      <p:grpSp>
        <p:nvGrpSpPr>
          <p:cNvPr id="83" name="Question 2 button">
            <a:extLst>
              <a:ext uri="{FF2B5EF4-FFF2-40B4-BE49-F238E27FC236}">
                <a16:creationId xmlns:a16="http://schemas.microsoft.com/office/drawing/2014/main" id="{F18A301B-03D2-45A6-B5C3-410A1B6F3326}"/>
              </a:ext>
            </a:extLst>
          </p:cNvPr>
          <p:cNvGrpSpPr/>
          <p:nvPr/>
        </p:nvGrpSpPr>
        <p:grpSpPr>
          <a:xfrm>
            <a:off x="250666" y="757570"/>
            <a:ext cx="2600289" cy="912726"/>
            <a:chOff x="197047" y="1133988"/>
            <a:chExt cx="2600289" cy="912726"/>
          </a:xfrm>
        </p:grpSpPr>
        <p:sp>
          <p:nvSpPr>
            <p:cNvPr id="84" name="Question 2">
              <a:hlinkClick r:id="rId12" action="ppaction://hlinksldjump"/>
              <a:extLst>
                <a:ext uri="{FF2B5EF4-FFF2-40B4-BE49-F238E27FC236}">
                  <a16:creationId xmlns:a16="http://schemas.microsoft.com/office/drawing/2014/main" id="{3218293A-0BD3-4B65-96E5-35EACEDBC077}"/>
                </a:ext>
              </a:extLst>
            </p:cNvPr>
            <p:cNvSpPr txBox="1"/>
            <p:nvPr/>
          </p:nvSpPr>
          <p:spPr>
            <a:xfrm>
              <a:off x="197047" y="1133988"/>
              <a:ext cx="2404590" cy="715089"/>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5 domains of prevention/screening </a:t>
              </a:r>
            </a:p>
          </p:txBody>
        </p:sp>
        <p:pic>
          <p:nvPicPr>
            <p:cNvPr id="85" name="Graphic 84" descr="Cursor with solid fill">
              <a:extLst>
                <a:ext uri="{FF2B5EF4-FFF2-40B4-BE49-F238E27FC236}">
                  <a16:creationId xmlns:a16="http://schemas.microsoft.com/office/drawing/2014/main" id="{ADA47E18-D463-4ED3-AA2C-3418AC429BB7}"/>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402062" y="1651440"/>
              <a:ext cx="395274" cy="395274"/>
            </a:xfrm>
            <a:prstGeom prst="rect">
              <a:avLst/>
            </a:prstGeom>
          </p:spPr>
        </p:pic>
      </p:grpSp>
      <p:sp>
        <p:nvSpPr>
          <p:cNvPr id="86" name="sub-q 1 button">
            <a:hlinkClick r:id="rId13" action="ppaction://hlinksldjump"/>
            <a:extLst>
              <a:ext uri="{FF2B5EF4-FFF2-40B4-BE49-F238E27FC236}">
                <a16:creationId xmlns:a16="http://schemas.microsoft.com/office/drawing/2014/main" id="{E5AAD906-2650-46F8-A685-883781C8B2B1}"/>
              </a:ext>
            </a:extLst>
          </p:cNvPr>
          <p:cNvSpPr txBox="1"/>
          <p:nvPr/>
        </p:nvSpPr>
        <p:spPr>
          <a:xfrm>
            <a:off x="498239" y="2220595"/>
            <a:ext cx="1614098"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tx1"/>
                </a:solidFill>
              </a:rPr>
              <a:t>Breast</a:t>
            </a:r>
          </a:p>
        </p:txBody>
      </p:sp>
    </p:spTree>
    <p:extLst>
      <p:ext uri="{BB962C8B-B14F-4D97-AF65-F5344CB8AC3E}">
        <p14:creationId xmlns:p14="http://schemas.microsoft.com/office/powerpoint/2010/main" val="252980961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21"/>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3"/>
                                        </p:tgtEl>
                                        <p:attrNameLst>
                                          <p:attrName>style.visibility</p:attrName>
                                        </p:attrNameLst>
                                      </p:cBhvr>
                                      <p:to>
                                        <p:strVal val="visible"/>
                                      </p:to>
                                    </p:set>
                                  </p:childTnLst>
                                </p:cTn>
                              </p:par>
                              <p:par>
                                <p:cTn id="9" presetID="1" presetClass="exit" presetSubtype="0" fill="hold" nodeType="withEffect">
                                  <p:stCondLst>
                                    <p:cond delay="0"/>
                                  </p:stCondLst>
                                  <p:childTnLst>
                                    <p:set>
                                      <p:cBhvr>
                                        <p:cTn id="10" dur="1" fill="hold">
                                          <p:stCondLst>
                                            <p:cond delay="0"/>
                                          </p:stCondLst>
                                        </p:cTn>
                                        <p:tgtEl>
                                          <p:spTgt spid="124"/>
                                        </p:tgtEl>
                                        <p:attrNameLst>
                                          <p:attrName>style.visibility</p:attrName>
                                        </p:attrNameLst>
                                      </p:cBhvr>
                                      <p:to>
                                        <p:strVal val="hidden"/>
                                      </p:to>
                                    </p:set>
                                  </p:childTnLst>
                                </p:cTn>
                              </p:par>
                            </p:childTnLst>
                          </p:cTn>
                        </p:par>
                      </p:childTnLst>
                    </p:cTn>
                  </p:par>
                </p:childTnLst>
              </p:cTn>
              <p:nextCondLst>
                <p:cond evt="onClick" delay="0">
                  <p:tgtEl>
                    <p:spTgt spid="121"/>
                  </p:tgtEl>
                </p:cond>
              </p:nextCondLst>
            </p:seq>
            <p:seq concurrent="1" nextAc="seek">
              <p:cTn id="11" restart="whenNotActive" fill="hold" evtFilter="cancelBubble" nodeType="interactiveSeq">
                <p:stCondLst>
                  <p:cond evt="onClick" delay="0">
                    <p:tgtEl>
                      <p:spTgt spid="122"/>
                    </p:tgtEl>
                  </p:cond>
                </p:stCondLst>
                <p:endSync evt="end" delay="0">
                  <p:rtn val="all"/>
                </p:endSync>
                <p:childTnLst>
                  <p:par>
                    <p:cTn id="12" fill="hold">
                      <p:stCondLst>
                        <p:cond delay="0"/>
                      </p:stCondLst>
                      <p:childTnLst>
                        <p:par>
                          <p:cTn id="13" fill="hold">
                            <p:stCondLst>
                              <p:cond delay="0"/>
                            </p:stCondLst>
                            <p:childTnLst>
                              <p:par>
                                <p:cTn id="14" presetID="1" presetClass="entr" presetSubtype="0" fill="hold" grpId="0" nodeType="withEffect">
                                  <p:stCondLst>
                                    <p:cond delay="0"/>
                                  </p:stCondLst>
                                  <p:childTnLst>
                                    <p:set>
                                      <p:cBhvr>
                                        <p:cTn id="15" dur="1" fill="hold">
                                          <p:stCondLst>
                                            <p:cond delay="0"/>
                                          </p:stCondLst>
                                        </p:cTn>
                                        <p:tgtEl>
                                          <p:spTgt spid="76"/>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5"/>
                                        </p:tgtEl>
                                        <p:attrNameLst>
                                          <p:attrName>style.visibility</p:attrName>
                                        </p:attrNameLst>
                                      </p:cBhvr>
                                      <p:to>
                                        <p:strVal val="visible"/>
                                      </p:to>
                                    </p:set>
                                  </p:childTnLst>
                                </p:cTn>
                              </p:par>
                              <p:par>
                                <p:cTn id="18" presetID="1" presetClass="exit" presetSubtype="0" fill="hold" nodeType="withEffect">
                                  <p:stCondLst>
                                    <p:cond delay="0"/>
                                  </p:stCondLst>
                                  <p:childTnLst>
                                    <p:set>
                                      <p:cBhvr>
                                        <p:cTn id="19" dur="1" fill="hold">
                                          <p:stCondLst>
                                            <p:cond delay="0"/>
                                          </p:stCondLst>
                                        </p:cTn>
                                        <p:tgtEl>
                                          <p:spTgt spid="125"/>
                                        </p:tgtEl>
                                        <p:attrNameLst>
                                          <p:attrName>style.visibility</p:attrName>
                                        </p:attrNameLst>
                                      </p:cBhvr>
                                      <p:to>
                                        <p:strVal val="hidden"/>
                                      </p:to>
                                    </p:set>
                                  </p:childTnLst>
                                </p:cTn>
                              </p:par>
                            </p:childTnLst>
                          </p:cTn>
                        </p:par>
                      </p:childTnLst>
                    </p:cTn>
                  </p:par>
                </p:childTnLst>
              </p:cTn>
              <p:nextCondLst>
                <p:cond evt="onClick" delay="0">
                  <p:tgtEl>
                    <p:spTgt spid="122"/>
                  </p:tgtEl>
                </p:cond>
              </p:nextCondLst>
            </p:seq>
            <p:seq concurrent="1" nextAc="seek">
              <p:cTn id="20" restart="whenNotActive" fill="hold" evtFilter="cancelBubble" nodeType="interactiveSeq">
                <p:stCondLst>
                  <p:cond evt="onClick" delay="0">
                    <p:tgtEl>
                      <p:spTgt spid="123"/>
                    </p:tgtEl>
                  </p:cond>
                </p:stCondLst>
                <p:endSync evt="end" delay="0">
                  <p:rtn val="all"/>
                </p:endSync>
                <p:childTnLst>
                  <p:par>
                    <p:cTn id="21" fill="hold">
                      <p:stCondLst>
                        <p:cond delay="0"/>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gtEl>
                                        <p:attrNameLst>
                                          <p:attrName>style.visibility</p:attrName>
                                        </p:attrNameLst>
                                      </p:cBhvr>
                                      <p:to>
                                        <p:strVal val="visible"/>
                                      </p:to>
                                    </p:set>
                                  </p:childTnLst>
                                </p:cTn>
                              </p:par>
                              <p:par>
                                <p:cTn id="27" presetID="1" presetClass="exit" presetSubtype="0" fill="hold" nodeType="withEffect">
                                  <p:stCondLst>
                                    <p:cond delay="0"/>
                                  </p:stCondLst>
                                  <p:childTnLst>
                                    <p:set>
                                      <p:cBhvr>
                                        <p:cTn id="28" dur="1" fill="hold">
                                          <p:stCondLst>
                                            <p:cond delay="0"/>
                                          </p:stCondLst>
                                        </p:cTn>
                                        <p:tgtEl>
                                          <p:spTgt spid="126"/>
                                        </p:tgtEl>
                                        <p:attrNameLst>
                                          <p:attrName>style.visibility</p:attrName>
                                        </p:attrNameLst>
                                      </p:cBhvr>
                                      <p:to>
                                        <p:strVal val="hidden"/>
                                      </p:to>
                                    </p:set>
                                  </p:childTnLst>
                                </p:cTn>
                              </p:par>
                            </p:childTnLst>
                          </p:cTn>
                        </p:par>
                      </p:childTnLst>
                    </p:cTn>
                  </p:par>
                </p:childTnLst>
              </p:cTn>
              <p:nextCondLst>
                <p:cond evt="onClick" delay="0">
                  <p:tgtEl>
                    <p:spTgt spid="123"/>
                  </p:tgtEl>
                </p:cond>
              </p:nextCondLst>
            </p:seq>
          </p:childTnLst>
        </p:cTn>
      </p:par>
    </p:tnLst>
    <p:bldLst>
      <p:bldP spid="49" grpId="0"/>
      <p:bldP spid="51" grpId="0"/>
      <p:bldP spid="73" grpId="0" animBg="1"/>
      <p:bldP spid="3" grpId="0" animBg="1"/>
      <p:bldP spid="76" grpId="0"/>
    </p:bldLst>
  </p:timing>
  <p:extLst>
    <p:ext uri="{E180D4A7-C9FB-4DFB-919C-405C955672EB}">
      <p14:showEvtLst xmlns:p14="http://schemas.microsoft.com/office/powerpoint/2010/main">
        <p14:triggerEvt type="onClick" time="2932" objId="121"/>
        <p14:triggerEvt type="onClick" time="5239" objId="122"/>
        <p14:triggerEvt type="onClick" time="7623" objId="123"/>
      </p14:showEvtLst>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Rectangle 96">
            <a:extLst>
              <a:ext uri="{FF2B5EF4-FFF2-40B4-BE49-F238E27FC236}">
                <a16:creationId xmlns:a16="http://schemas.microsoft.com/office/drawing/2014/main" id="{60FD2C94-23AD-453C-A55F-38ABF773540E}"/>
              </a:ext>
            </a:extLst>
          </p:cNvPr>
          <p:cNvSpPr/>
          <p:nvPr/>
        </p:nvSpPr>
        <p:spPr>
          <a:xfrm>
            <a:off x="2902349" y="118378"/>
            <a:ext cx="6889263" cy="63919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Cervical Cancer Screening</a:t>
            </a:r>
          </a:p>
        </p:txBody>
      </p:sp>
      <p:sp>
        <p:nvSpPr>
          <p:cNvPr id="98" name="cancer screening text">
            <a:extLst>
              <a:ext uri="{FF2B5EF4-FFF2-40B4-BE49-F238E27FC236}">
                <a16:creationId xmlns:a16="http://schemas.microsoft.com/office/drawing/2014/main" id="{9ECC0811-677B-4C06-9A05-086F177CD50A}"/>
              </a:ext>
            </a:extLst>
          </p:cNvPr>
          <p:cNvSpPr txBox="1"/>
          <p:nvPr/>
        </p:nvSpPr>
        <p:spPr>
          <a:xfrm>
            <a:off x="250666" y="1662473"/>
            <a:ext cx="1967278" cy="408623"/>
          </a:xfrm>
          <a:prstGeom prst="roundRect">
            <a:avLst/>
          </a:prstGeom>
          <a:solidFill>
            <a:schemeClr val="accent1"/>
          </a:solidFill>
          <a:ln w="38100">
            <a:solidFill>
              <a:schemeClr val="accent1"/>
            </a:solidFill>
          </a:ln>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bg1"/>
                </a:solidFill>
              </a:rPr>
              <a:t>Cancer Screening</a:t>
            </a:r>
          </a:p>
        </p:txBody>
      </p:sp>
      <p:sp>
        <p:nvSpPr>
          <p:cNvPr id="100" name="sub-q 1 button">
            <a:hlinkClick r:id="rId3" action="ppaction://hlinksldjump"/>
            <a:extLst>
              <a:ext uri="{FF2B5EF4-FFF2-40B4-BE49-F238E27FC236}">
                <a16:creationId xmlns:a16="http://schemas.microsoft.com/office/drawing/2014/main" id="{1136886D-D2D3-4E94-AF5E-F8296D0CC77C}"/>
              </a:ext>
            </a:extLst>
          </p:cNvPr>
          <p:cNvSpPr txBox="1"/>
          <p:nvPr/>
        </p:nvSpPr>
        <p:spPr>
          <a:xfrm>
            <a:off x="498239" y="2220595"/>
            <a:ext cx="1614098"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tx1"/>
                </a:solidFill>
              </a:rPr>
              <a:t>Breast</a:t>
            </a:r>
          </a:p>
        </p:txBody>
      </p:sp>
      <p:sp>
        <p:nvSpPr>
          <p:cNvPr id="102" name="sub-q 2">
            <a:hlinkClick r:id="rId4" action="ppaction://hlinksldjump"/>
            <a:extLst>
              <a:ext uri="{FF2B5EF4-FFF2-40B4-BE49-F238E27FC236}">
                <a16:creationId xmlns:a16="http://schemas.microsoft.com/office/drawing/2014/main" id="{282418AB-781B-4F8A-B21E-B7950DDC1D8D}"/>
              </a:ext>
            </a:extLst>
          </p:cNvPr>
          <p:cNvSpPr txBox="1"/>
          <p:nvPr/>
        </p:nvSpPr>
        <p:spPr>
          <a:xfrm>
            <a:off x="498238" y="2771697"/>
            <a:ext cx="1608491"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Colon</a:t>
            </a:r>
          </a:p>
        </p:txBody>
      </p:sp>
      <p:grpSp>
        <p:nvGrpSpPr>
          <p:cNvPr id="104" name="sub-group arrows">
            <a:extLst>
              <a:ext uri="{FF2B5EF4-FFF2-40B4-BE49-F238E27FC236}">
                <a16:creationId xmlns:a16="http://schemas.microsoft.com/office/drawing/2014/main" id="{C022DF5B-D367-49E3-A4B3-8635B54D9F9A}"/>
              </a:ext>
            </a:extLst>
          </p:cNvPr>
          <p:cNvGrpSpPr/>
          <p:nvPr/>
        </p:nvGrpSpPr>
        <p:grpSpPr>
          <a:xfrm>
            <a:off x="325393" y="2072495"/>
            <a:ext cx="172846" cy="903514"/>
            <a:chOff x="325393" y="2072495"/>
            <a:chExt cx="172846" cy="903514"/>
          </a:xfrm>
        </p:grpSpPr>
        <p:cxnSp>
          <p:nvCxnSpPr>
            <p:cNvPr id="105" name="Connector: Elbow 104">
              <a:extLst>
                <a:ext uri="{FF2B5EF4-FFF2-40B4-BE49-F238E27FC236}">
                  <a16:creationId xmlns:a16="http://schemas.microsoft.com/office/drawing/2014/main" id="{7FE0C69F-2808-4909-84F5-B8C3E90937F4}"/>
                </a:ext>
              </a:extLst>
            </p:cNvPr>
            <p:cNvCxnSpPr>
              <a:cxnSpLocks/>
              <a:endCxn id="100" idx="1"/>
            </p:cNvCxnSpPr>
            <p:nvPr/>
          </p:nvCxnSpPr>
          <p:spPr>
            <a:xfrm rot="16200000" flipH="1">
              <a:off x="235610" y="2162278"/>
              <a:ext cx="352412" cy="172846"/>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106" name="Connector: Elbow 105">
              <a:extLst>
                <a:ext uri="{FF2B5EF4-FFF2-40B4-BE49-F238E27FC236}">
                  <a16:creationId xmlns:a16="http://schemas.microsoft.com/office/drawing/2014/main" id="{3AD695DD-9EAA-4BBD-88D3-F25597066B2C}"/>
                </a:ext>
              </a:extLst>
            </p:cNvPr>
            <p:cNvCxnSpPr>
              <a:cxnSpLocks/>
              <a:endCxn id="102" idx="1"/>
            </p:cNvCxnSpPr>
            <p:nvPr/>
          </p:nvCxnSpPr>
          <p:spPr>
            <a:xfrm rot="16200000" flipH="1">
              <a:off x="-35902" y="2441869"/>
              <a:ext cx="895436" cy="172844"/>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grpSp>
      <p:grpSp>
        <p:nvGrpSpPr>
          <p:cNvPr id="107" name="sub-group arrows">
            <a:extLst>
              <a:ext uri="{FF2B5EF4-FFF2-40B4-BE49-F238E27FC236}">
                <a16:creationId xmlns:a16="http://schemas.microsoft.com/office/drawing/2014/main" id="{71F7B2B2-6A70-412C-A452-BAC8E0192B1A}"/>
              </a:ext>
            </a:extLst>
          </p:cNvPr>
          <p:cNvGrpSpPr/>
          <p:nvPr/>
        </p:nvGrpSpPr>
        <p:grpSpPr>
          <a:xfrm>
            <a:off x="325394" y="3169916"/>
            <a:ext cx="172844" cy="904913"/>
            <a:chOff x="479213" y="1473534"/>
            <a:chExt cx="172844" cy="904913"/>
          </a:xfrm>
        </p:grpSpPr>
        <p:cxnSp>
          <p:nvCxnSpPr>
            <p:cNvPr id="108" name="Connector: Elbow 107">
              <a:extLst>
                <a:ext uri="{FF2B5EF4-FFF2-40B4-BE49-F238E27FC236}">
                  <a16:creationId xmlns:a16="http://schemas.microsoft.com/office/drawing/2014/main" id="{1B0149C1-77F1-4DD5-8376-5FE4E26EF408}"/>
                </a:ext>
              </a:extLst>
            </p:cNvPr>
            <p:cNvCxnSpPr>
              <a:cxnSpLocks/>
            </p:cNvCxnSpPr>
            <p:nvPr/>
          </p:nvCxnSpPr>
          <p:spPr>
            <a:xfrm rot="16200000" flipH="1">
              <a:off x="389429" y="1563318"/>
              <a:ext cx="352412" cy="172843"/>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109" name="Connector: Elbow 108">
              <a:extLst>
                <a:ext uri="{FF2B5EF4-FFF2-40B4-BE49-F238E27FC236}">
                  <a16:creationId xmlns:a16="http://schemas.microsoft.com/office/drawing/2014/main" id="{8F262EC8-3528-4103-B7D4-36F10F56B6B0}"/>
                </a:ext>
              </a:extLst>
            </p:cNvPr>
            <p:cNvCxnSpPr>
              <a:cxnSpLocks/>
            </p:cNvCxnSpPr>
            <p:nvPr/>
          </p:nvCxnSpPr>
          <p:spPr>
            <a:xfrm rot="16200000" flipH="1">
              <a:off x="117918" y="1844308"/>
              <a:ext cx="895435" cy="172843"/>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grpSp>
      <p:cxnSp>
        <p:nvCxnSpPr>
          <p:cNvPr id="112" name="Straight Connector 111">
            <a:extLst>
              <a:ext uri="{FF2B5EF4-FFF2-40B4-BE49-F238E27FC236}">
                <a16:creationId xmlns:a16="http://schemas.microsoft.com/office/drawing/2014/main" id="{D96ED0B0-F461-4CE0-93BC-E857256CC465}"/>
              </a:ext>
            </a:extLst>
          </p:cNvPr>
          <p:cNvCxnSpPr/>
          <p:nvPr/>
        </p:nvCxnSpPr>
        <p:spPr>
          <a:xfrm>
            <a:off x="325394" y="2976008"/>
            <a:ext cx="0" cy="34819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3" name="sub-group arrows">
            <a:extLst>
              <a:ext uri="{FF2B5EF4-FFF2-40B4-BE49-F238E27FC236}">
                <a16:creationId xmlns:a16="http://schemas.microsoft.com/office/drawing/2014/main" id="{8AA2B209-5C9B-4ABA-AD44-1BB9FFC388C8}"/>
              </a:ext>
            </a:extLst>
          </p:cNvPr>
          <p:cNvGrpSpPr/>
          <p:nvPr/>
        </p:nvGrpSpPr>
        <p:grpSpPr>
          <a:xfrm>
            <a:off x="325213" y="3735583"/>
            <a:ext cx="172844" cy="904913"/>
            <a:chOff x="479213" y="1473534"/>
            <a:chExt cx="172844" cy="904913"/>
          </a:xfrm>
        </p:grpSpPr>
        <p:cxnSp>
          <p:nvCxnSpPr>
            <p:cNvPr id="114" name="Connector: Elbow 113">
              <a:extLst>
                <a:ext uri="{FF2B5EF4-FFF2-40B4-BE49-F238E27FC236}">
                  <a16:creationId xmlns:a16="http://schemas.microsoft.com/office/drawing/2014/main" id="{3F2212A7-817C-4C37-9289-4470ECCD973D}"/>
                </a:ext>
              </a:extLst>
            </p:cNvPr>
            <p:cNvCxnSpPr>
              <a:cxnSpLocks/>
            </p:cNvCxnSpPr>
            <p:nvPr/>
          </p:nvCxnSpPr>
          <p:spPr>
            <a:xfrm rot="16200000" flipH="1">
              <a:off x="389429" y="1563318"/>
              <a:ext cx="352412" cy="172843"/>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115" name="Connector: Elbow 114">
              <a:extLst>
                <a:ext uri="{FF2B5EF4-FFF2-40B4-BE49-F238E27FC236}">
                  <a16:creationId xmlns:a16="http://schemas.microsoft.com/office/drawing/2014/main" id="{6CB6C2D1-D720-43A7-BC5C-66281ED4FAAC}"/>
                </a:ext>
              </a:extLst>
            </p:cNvPr>
            <p:cNvCxnSpPr>
              <a:cxnSpLocks/>
            </p:cNvCxnSpPr>
            <p:nvPr/>
          </p:nvCxnSpPr>
          <p:spPr>
            <a:xfrm rot="16200000" flipH="1">
              <a:off x="117918" y="1844308"/>
              <a:ext cx="895435" cy="172843"/>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grpSp>
      <p:cxnSp>
        <p:nvCxnSpPr>
          <p:cNvPr id="116" name="Straight Connector 115">
            <a:extLst>
              <a:ext uri="{FF2B5EF4-FFF2-40B4-BE49-F238E27FC236}">
                <a16:creationId xmlns:a16="http://schemas.microsoft.com/office/drawing/2014/main" id="{3AD7F41E-1873-476A-83B0-49CEEE94023B}"/>
              </a:ext>
            </a:extLst>
          </p:cNvPr>
          <p:cNvCxnSpPr/>
          <p:nvPr/>
        </p:nvCxnSpPr>
        <p:spPr>
          <a:xfrm>
            <a:off x="325394" y="4070143"/>
            <a:ext cx="0" cy="34819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7" name="sub-q 2">
            <a:hlinkClick r:id="rId5" action="ppaction://hlinksldjump"/>
            <a:extLst>
              <a:ext uri="{FF2B5EF4-FFF2-40B4-BE49-F238E27FC236}">
                <a16:creationId xmlns:a16="http://schemas.microsoft.com/office/drawing/2014/main" id="{6E4D1D00-BCE5-4EEE-84FF-8FC0997515D3}"/>
              </a:ext>
            </a:extLst>
          </p:cNvPr>
          <p:cNvSpPr txBox="1"/>
          <p:nvPr/>
        </p:nvSpPr>
        <p:spPr>
          <a:xfrm>
            <a:off x="504771" y="3905327"/>
            <a:ext cx="1608491"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Lung</a:t>
            </a:r>
          </a:p>
        </p:txBody>
      </p:sp>
      <p:sp>
        <p:nvSpPr>
          <p:cNvPr id="119" name="sub-q 2">
            <a:hlinkClick r:id="rId6" action="ppaction://hlinksldjump"/>
            <a:extLst>
              <a:ext uri="{FF2B5EF4-FFF2-40B4-BE49-F238E27FC236}">
                <a16:creationId xmlns:a16="http://schemas.microsoft.com/office/drawing/2014/main" id="{382F7AEA-F32D-496E-81BD-F9A8D0B51B8E}"/>
              </a:ext>
            </a:extLst>
          </p:cNvPr>
          <p:cNvSpPr txBox="1"/>
          <p:nvPr/>
        </p:nvSpPr>
        <p:spPr>
          <a:xfrm>
            <a:off x="504771" y="4474545"/>
            <a:ext cx="1608491"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Prostate</a:t>
            </a:r>
          </a:p>
        </p:txBody>
      </p:sp>
      <p:sp>
        <p:nvSpPr>
          <p:cNvPr id="121" name="Population">
            <a:extLst>
              <a:ext uri="{FF2B5EF4-FFF2-40B4-BE49-F238E27FC236}">
                <a16:creationId xmlns:a16="http://schemas.microsoft.com/office/drawing/2014/main" id="{C99F06D1-A87E-4CB3-A4ED-4F03EF3C50BA}"/>
              </a:ext>
            </a:extLst>
          </p:cNvPr>
          <p:cNvSpPr/>
          <p:nvPr/>
        </p:nvSpPr>
        <p:spPr>
          <a:xfrm>
            <a:off x="3140359" y="1183085"/>
            <a:ext cx="2531092" cy="629768"/>
          </a:xfrm>
          <a:prstGeom prst="roundRect">
            <a:avLst/>
          </a:prstGeom>
          <a:solidFill>
            <a:schemeClr val="accent4"/>
          </a:solidFill>
          <a:ln w="38100">
            <a:solidFill>
              <a:schemeClr val="accent4">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Population?</a:t>
            </a:r>
          </a:p>
        </p:txBody>
      </p:sp>
      <p:sp>
        <p:nvSpPr>
          <p:cNvPr id="122" name="Interval">
            <a:extLst>
              <a:ext uri="{FF2B5EF4-FFF2-40B4-BE49-F238E27FC236}">
                <a16:creationId xmlns:a16="http://schemas.microsoft.com/office/drawing/2014/main" id="{AA5500C0-A28E-4C0E-9A2C-4738B3A5C521}"/>
              </a:ext>
            </a:extLst>
          </p:cNvPr>
          <p:cNvSpPr/>
          <p:nvPr/>
        </p:nvSpPr>
        <p:spPr>
          <a:xfrm>
            <a:off x="6142445" y="1174751"/>
            <a:ext cx="2753832" cy="639192"/>
          </a:xfrm>
          <a:prstGeom prst="roundRect">
            <a:avLst/>
          </a:prstGeom>
          <a:solidFill>
            <a:schemeClr val="accent4"/>
          </a:solidFill>
          <a:ln w="38100">
            <a:solidFill>
              <a:schemeClr val="accent4">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Modality and Interval?</a:t>
            </a:r>
          </a:p>
        </p:txBody>
      </p:sp>
      <p:sp>
        <p:nvSpPr>
          <p:cNvPr id="123" name="Discontinuation">
            <a:extLst>
              <a:ext uri="{FF2B5EF4-FFF2-40B4-BE49-F238E27FC236}">
                <a16:creationId xmlns:a16="http://schemas.microsoft.com/office/drawing/2014/main" id="{9764FED7-14C9-4958-9BC5-8C9606B04315}"/>
              </a:ext>
            </a:extLst>
          </p:cNvPr>
          <p:cNvSpPr/>
          <p:nvPr/>
        </p:nvSpPr>
        <p:spPr>
          <a:xfrm>
            <a:off x="9469285" y="1179416"/>
            <a:ext cx="2171371" cy="639192"/>
          </a:xfrm>
          <a:prstGeom prst="roundRect">
            <a:avLst/>
          </a:prstGeom>
          <a:solidFill>
            <a:schemeClr val="accent4"/>
          </a:solidFill>
          <a:ln w="38100">
            <a:solidFill>
              <a:schemeClr val="accent4">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Discontinuation?</a:t>
            </a:r>
          </a:p>
        </p:txBody>
      </p:sp>
      <p:pic>
        <p:nvPicPr>
          <p:cNvPr id="124" name="Graphic 123" descr="Cursor with solid fill">
            <a:extLst>
              <a:ext uri="{FF2B5EF4-FFF2-40B4-BE49-F238E27FC236}">
                <a16:creationId xmlns:a16="http://schemas.microsoft.com/office/drawing/2014/main" id="{AEED258D-0461-4023-BD78-16CE936F8E7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458928" y="1577389"/>
            <a:ext cx="395274" cy="395274"/>
          </a:xfrm>
          <a:prstGeom prst="rect">
            <a:avLst/>
          </a:prstGeom>
        </p:spPr>
      </p:pic>
      <p:pic>
        <p:nvPicPr>
          <p:cNvPr id="125" name="Graphic 124" descr="Cursor with solid fill">
            <a:extLst>
              <a:ext uri="{FF2B5EF4-FFF2-40B4-BE49-F238E27FC236}">
                <a16:creationId xmlns:a16="http://schemas.microsoft.com/office/drawing/2014/main" id="{5E3F3D47-0492-4537-B1F8-4074F3EF48C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698640" y="1589771"/>
            <a:ext cx="395274" cy="395274"/>
          </a:xfrm>
          <a:prstGeom prst="rect">
            <a:avLst/>
          </a:prstGeom>
        </p:spPr>
      </p:pic>
      <p:pic>
        <p:nvPicPr>
          <p:cNvPr id="126" name="Graphic 125" descr="Cursor with solid fill">
            <a:extLst>
              <a:ext uri="{FF2B5EF4-FFF2-40B4-BE49-F238E27FC236}">
                <a16:creationId xmlns:a16="http://schemas.microsoft.com/office/drawing/2014/main" id="{084C6D4E-B543-4114-A3AE-8363191AFBC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1426311" y="1575265"/>
            <a:ext cx="395274" cy="395274"/>
          </a:xfrm>
          <a:prstGeom prst="rect">
            <a:avLst/>
          </a:prstGeom>
        </p:spPr>
      </p:pic>
      <p:grpSp>
        <p:nvGrpSpPr>
          <p:cNvPr id="45" name="Cases button">
            <a:extLst>
              <a:ext uri="{FF2B5EF4-FFF2-40B4-BE49-F238E27FC236}">
                <a16:creationId xmlns:a16="http://schemas.microsoft.com/office/drawing/2014/main" id="{DCA7A660-E6C8-4419-8BFA-F355DD76249D}"/>
              </a:ext>
            </a:extLst>
          </p:cNvPr>
          <p:cNvGrpSpPr/>
          <p:nvPr/>
        </p:nvGrpSpPr>
        <p:grpSpPr>
          <a:xfrm>
            <a:off x="307848" y="6121182"/>
            <a:ext cx="2082939" cy="606260"/>
            <a:chOff x="207505" y="5523621"/>
            <a:chExt cx="2082939" cy="606260"/>
          </a:xfrm>
        </p:grpSpPr>
        <p:sp>
          <p:nvSpPr>
            <p:cNvPr id="46" name="Cases">
              <a:hlinkClick r:id="rId9" action="ppaction://hlinksldjump"/>
              <a:extLst>
                <a:ext uri="{FF2B5EF4-FFF2-40B4-BE49-F238E27FC236}">
                  <a16:creationId xmlns:a16="http://schemas.microsoft.com/office/drawing/2014/main" id="{5B83F8D2-54A2-4E18-9BBC-11158B4CC716}"/>
                </a:ext>
              </a:extLst>
            </p:cNvPr>
            <p:cNvSpPr txBox="1"/>
            <p:nvPr/>
          </p:nvSpPr>
          <p:spPr>
            <a:xfrm>
              <a:off x="207505" y="5523621"/>
              <a:ext cx="1910096"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CASES</a:t>
              </a:r>
            </a:p>
          </p:txBody>
        </p:sp>
        <p:pic>
          <p:nvPicPr>
            <p:cNvPr id="47" name="Graphic 46" descr="Cursor with solid fill">
              <a:hlinkClick r:id="rId9" action="ppaction://hlinksldjump"/>
              <a:extLst>
                <a:ext uri="{FF2B5EF4-FFF2-40B4-BE49-F238E27FC236}">
                  <a16:creationId xmlns:a16="http://schemas.microsoft.com/office/drawing/2014/main" id="{3499B5E3-4B3B-42D4-B6AB-597D4A47D90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895170" y="5734607"/>
              <a:ext cx="395274" cy="395274"/>
            </a:xfrm>
            <a:prstGeom prst="rect">
              <a:avLst/>
            </a:prstGeom>
          </p:spPr>
        </p:pic>
      </p:grpSp>
      <p:sp>
        <p:nvSpPr>
          <p:cNvPr id="51" name="sub-q 2">
            <a:hlinkClick r:id="rId10" action="ppaction://hlinksldjump"/>
            <a:extLst>
              <a:ext uri="{FF2B5EF4-FFF2-40B4-BE49-F238E27FC236}">
                <a16:creationId xmlns:a16="http://schemas.microsoft.com/office/drawing/2014/main" id="{8655FDD6-4FE4-4C8F-B250-D677D71FB539}"/>
              </a:ext>
            </a:extLst>
          </p:cNvPr>
          <p:cNvSpPr txBox="1"/>
          <p:nvPr/>
        </p:nvSpPr>
        <p:spPr>
          <a:xfrm>
            <a:off x="504771" y="3324199"/>
            <a:ext cx="1608491" cy="408623"/>
          </a:xfrm>
          <a:prstGeom prst="roundRect">
            <a:avLst/>
          </a:prstGeom>
          <a:ln w="38100">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algn="ctr"/>
            <a:r>
              <a:rPr lang="en-US" dirty="0">
                <a:solidFill>
                  <a:schemeClr val="bg1"/>
                </a:solidFill>
              </a:rPr>
              <a:t>Cervical</a:t>
            </a:r>
          </a:p>
        </p:txBody>
      </p:sp>
      <p:sp>
        <p:nvSpPr>
          <p:cNvPr id="52" name="TextBox 51">
            <a:extLst>
              <a:ext uri="{FF2B5EF4-FFF2-40B4-BE49-F238E27FC236}">
                <a16:creationId xmlns:a16="http://schemas.microsoft.com/office/drawing/2014/main" id="{DFC7FB7E-3309-43B0-9960-BBB2AD043076}"/>
              </a:ext>
            </a:extLst>
          </p:cNvPr>
          <p:cNvSpPr txBox="1"/>
          <p:nvPr/>
        </p:nvSpPr>
        <p:spPr>
          <a:xfrm>
            <a:off x="3038923" y="1985045"/>
            <a:ext cx="2753832" cy="1754326"/>
          </a:xfrm>
          <a:prstGeom prst="rect">
            <a:avLst/>
          </a:prstGeom>
          <a:noFill/>
        </p:spPr>
        <p:txBody>
          <a:bodyPr wrap="square" rtlCol="0">
            <a:spAutoFit/>
          </a:bodyPr>
          <a:lstStyle/>
          <a:p>
            <a:pPr algn="ctr" fontAlgn="base"/>
            <a:r>
              <a:rPr lang="en-US" b="1" dirty="0">
                <a:solidFill>
                  <a:srgbClr val="000000"/>
                </a:solidFill>
                <a:latin typeface="Calibri" panose="020F0502020204030204" pitchFamily="34" charset="0"/>
              </a:rPr>
              <a:t>USPSTF Guidelines</a:t>
            </a:r>
          </a:p>
          <a:p>
            <a:pPr algn="ctr" fontAlgn="base"/>
            <a:r>
              <a:rPr lang="en-US" dirty="0">
                <a:solidFill>
                  <a:srgbClr val="000000"/>
                </a:solidFill>
                <a:latin typeface="Calibri" panose="020F0502020204030204" pitchFamily="34" charset="0"/>
              </a:rPr>
              <a:t>Starting age 21 (Grade A)</a:t>
            </a:r>
          </a:p>
          <a:p>
            <a:pPr algn="ctr" fontAlgn="base"/>
            <a:endParaRPr lang="en-US" b="1" dirty="0">
              <a:solidFill>
                <a:srgbClr val="000000"/>
              </a:solidFill>
              <a:latin typeface="Calibri" panose="020F0502020204030204" pitchFamily="34" charset="0"/>
            </a:endParaRPr>
          </a:p>
          <a:p>
            <a:pPr algn="ctr" fontAlgn="base"/>
            <a:endParaRPr lang="en-US" b="1" dirty="0">
              <a:solidFill>
                <a:srgbClr val="000000"/>
              </a:solidFill>
              <a:latin typeface="Calibri" panose="020F0502020204030204" pitchFamily="34" charset="0"/>
            </a:endParaRPr>
          </a:p>
          <a:p>
            <a:pPr algn="ctr" fontAlgn="base"/>
            <a:r>
              <a:rPr lang="en-US" b="1" dirty="0">
                <a:solidFill>
                  <a:srgbClr val="000000"/>
                </a:solidFill>
                <a:latin typeface="Calibri" panose="020F0502020204030204" pitchFamily="34" charset="0"/>
              </a:rPr>
              <a:t>ACS Guidelines </a:t>
            </a:r>
          </a:p>
          <a:p>
            <a:pPr algn="ctr" fontAlgn="base"/>
            <a:r>
              <a:rPr lang="en-US" dirty="0">
                <a:solidFill>
                  <a:srgbClr val="000000"/>
                </a:solidFill>
              </a:rPr>
              <a:t>Starting age 25</a:t>
            </a:r>
          </a:p>
        </p:txBody>
      </p:sp>
      <p:grpSp>
        <p:nvGrpSpPr>
          <p:cNvPr id="48" name="Group 47">
            <a:extLst>
              <a:ext uri="{FF2B5EF4-FFF2-40B4-BE49-F238E27FC236}">
                <a16:creationId xmlns:a16="http://schemas.microsoft.com/office/drawing/2014/main" id="{E588D9C9-6C68-4368-BD7B-2CF661E6093C}"/>
              </a:ext>
            </a:extLst>
          </p:cNvPr>
          <p:cNvGrpSpPr/>
          <p:nvPr/>
        </p:nvGrpSpPr>
        <p:grpSpPr>
          <a:xfrm>
            <a:off x="2737307" y="5249771"/>
            <a:ext cx="8884593" cy="946852"/>
            <a:chOff x="2737307" y="4931856"/>
            <a:chExt cx="8884593" cy="1264767"/>
          </a:xfrm>
        </p:grpSpPr>
        <p:sp>
          <p:nvSpPr>
            <p:cNvPr id="53" name="Arrow: Right 52">
              <a:extLst>
                <a:ext uri="{FF2B5EF4-FFF2-40B4-BE49-F238E27FC236}">
                  <a16:creationId xmlns:a16="http://schemas.microsoft.com/office/drawing/2014/main" id="{6DF45EE0-9FD5-49A4-B107-B41CDF61E9B2}"/>
                </a:ext>
              </a:extLst>
            </p:cNvPr>
            <p:cNvSpPr/>
            <p:nvPr/>
          </p:nvSpPr>
          <p:spPr>
            <a:xfrm>
              <a:off x="2959778" y="4931856"/>
              <a:ext cx="8662122" cy="895435"/>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Straight Connector 53">
              <a:extLst>
                <a:ext uri="{FF2B5EF4-FFF2-40B4-BE49-F238E27FC236}">
                  <a16:creationId xmlns:a16="http://schemas.microsoft.com/office/drawing/2014/main" id="{C83B84D8-0253-4853-A53C-E7BB8AAA991B}"/>
                </a:ext>
              </a:extLst>
            </p:cNvPr>
            <p:cNvCxnSpPr/>
            <p:nvPr/>
          </p:nvCxnSpPr>
          <p:spPr>
            <a:xfrm>
              <a:off x="2959778" y="5034892"/>
              <a:ext cx="0" cy="79239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303A0CC8-FDF2-4EEE-AE1B-2E78FBE44F04}"/>
                </a:ext>
              </a:extLst>
            </p:cNvPr>
            <p:cNvSpPr txBox="1"/>
            <p:nvPr/>
          </p:nvSpPr>
          <p:spPr>
            <a:xfrm>
              <a:off x="2737307" y="5827291"/>
              <a:ext cx="505609" cy="369332"/>
            </a:xfrm>
            <a:prstGeom prst="rect">
              <a:avLst/>
            </a:prstGeom>
            <a:noFill/>
          </p:spPr>
          <p:txBody>
            <a:bodyPr wrap="square" rtlCol="0">
              <a:spAutoFit/>
            </a:bodyPr>
            <a:lstStyle/>
            <a:p>
              <a:r>
                <a:rPr lang="en-US" dirty="0"/>
                <a:t>20</a:t>
              </a:r>
            </a:p>
          </p:txBody>
        </p:sp>
        <p:cxnSp>
          <p:nvCxnSpPr>
            <p:cNvPr id="58" name="Straight Connector 57">
              <a:extLst>
                <a:ext uri="{FF2B5EF4-FFF2-40B4-BE49-F238E27FC236}">
                  <a16:creationId xmlns:a16="http://schemas.microsoft.com/office/drawing/2014/main" id="{9A6EF271-D015-48A6-9DB6-A015D78FF84A}"/>
                </a:ext>
              </a:extLst>
            </p:cNvPr>
            <p:cNvCxnSpPr/>
            <p:nvPr/>
          </p:nvCxnSpPr>
          <p:spPr>
            <a:xfrm>
              <a:off x="3929759" y="5034892"/>
              <a:ext cx="0" cy="79239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968B6271-C4FA-461B-B20B-0908D221DDB2}"/>
                </a:ext>
              </a:extLst>
            </p:cNvPr>
            <p:cNvSpPr txBox="1"/>
            <p:nvPr/>
          </p:nvSpPr>
          <p:spPr>
            <a:xfrm>
              <a:off x="3676954" y="5827291"/>
              <a:ext cx="505609" cy="369332"/>
            </a:xfrm>
            <a:prstGeom prst="rect">
              <a:avLst/>
            </a:prstGeom>
            <a:noFill/>
          </p:spPr>
          <p:txBody>
            <a:bodyPr wrap="square" rtlCol="0">
              <a:spAutoFit/>
            </a:bodyPr>
            <a:lstStyle/>
            <a:p>
              <a:pPr algn="ctr"/>
              <a:r>
                <a:rPr lang="en-US" dirty="0"/>
                <a:t>30</a:t>
              </a:r>
            </a:p>
          </p:txBody>
        </p:sp>
        <p:cxnSp>
          <p:nvCxnSpPr>
            <p:cNvPr id="61" name="Straight Connector 60">
              <a:extLst>
                <a:ext uri="{FF2B5EF4-FFF2-40B4-BE49-F238E27FC236}">
                  <a16:creationId xmlns:a16="http://schemas.microsoft.com/office/drawing/2014/main" id="{449E727A-7EB7-4010-BD81-F999A613D992}"/>
                </a:ext>
              </a:extLst>
            </p:cNvPr>
            <p:cNvCxnSpPr/>
            <p:nvPr/>
          </p:nvCxnSpPr>
          <p:spPr>
            <a:xfrm>
              <a:off x="4869406" y="5027506"/>
              <a:ext cx="0" cy="79239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E948F13E-5C99-4F5A-859D-A86689391A05}"/>
                </a:ext>
              </a:extLst>
            </p:cNvPr>
            <p:cNvSpPr txBox="1"/>
            <p:nvPr/>
          </p:nvSpPr>
          <p:spPr>
            <a:xfrm>
              <a:off x="4616601" y="5819905"/>
              <a:ext cx="505609" cy="369332"/>
            </a:xfrm>
            <a:prstGeom prst="rect">
              <a:avLst/>
            </a:prstGeom>
            <a:noFill/>
          </p:spPr>
          <p:txBody>
            <a:bodyPr wrap="square" rtlCol="0">
              <a:spAutoFit/>
            </a:bodyPr>
            <a:lstStyle/>
            <a:p>
              <a:pPr algn="ctr"/>
              <a:r>
                <a:rPr lang="en-US" dirty="0"/>
                <a:t>40</a:t>
              </a:r>
            </a:p>
          </p:txBody>
        </p:sp>
        <p:cxnSp>
          <p:nvCxnSpPr>
            <p:cNvPr id="66" name="Straight Connector 65">
              <a:extLst>
                <a:ext uri="{FF2B5EF4-FFF2-40B4-BE49-F238E27FC236}">
                  <a16:creationId xmlns:a16="http://schemas.microsoft.com/office/drawing/2014/main" id="{15B7A38D-06E6-4D91-A1C3-993E4EEE2D9E}"/>
                </a:ext>
              </a:extLst>
            </p:cNvPr>
            <p:cNvCxnSpPr/>
            <p:nvPr/>
          </p:nvCxnSpPr>
          <p:spPr>
            <a:xfrm>
              <a:off x="6500481" y="5023131"/>
              <a:ext cx="0" cy="79239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8AC933BE-3EA3-4020-9EEA-5D98D8031C2C}"/>
                </a:ext>
              </a:extLst>
            </p:cNvPr>
            <p:cNvSpPr txBox="1"/>
            <p:nvPr/>
          </p:nvSpPr>
          <p:spPr>
            <a:xfrm>
              <a:off x="6247676" y="5815530"/>
              <a:ext cx="505609" cy="369332"/>
            </a:xfrm>
            <a:prstGeom prst="rect">
              <a:avLst/>
            </a:prstGeom>
            <a:noFill/>
          </p:spPr>
          <p:txBody>
            <a:bodyPr wrap="square" rtlCol="0">
              <a:spAutoFit/>
            </a:bodyPr>
            <a:lstStyle/>
            <a:p>
              <a:pPr algn="ctr"/>
              <a:r>
                <a:rPr lang="en-US" dirty="0"/>
                <a:t>50</a:t>
              </a:r>
            </a:p>
          </p:txBody>
        </p:sp>
        <p:cxnSp>
          <p:nvCxnSpPr>
            <p:cNvPr id="68" name="Straight Connector 67">
              <a:extLst>
                <a:ext uri="{FF2B5EF4-FFF2-40B4-BE49-F238E27FC236}">
                  <a16:creationId xmlns:a16="http://schemas.microsoft.com/office/drawing/2014/main" id="{817977EE-E0D5-468E-A34D-50B6DA4B40C4}"/>
                </a:ext>
              </a:extLst>
            </p:cNvPr>
            <p:cNvCxnSpPr/>
            <p:nvPr/>
          </p:nvCxnSpPr>
          <p:spPr>
            <a:xfrm>
              <a:off x="8106945" y="5011370"/>
              <a:ext cx="0" cy="79239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DEAE42A7-FB74-4505-BAAE-1EF234C56DB1}"/>
                </a:ext>
              </a:extLst>
            </p:cNvPr>
            <p:cNvSpPr txBox="1"/>
            <p:nvPr/>
          </p:nvSpPr>
          <p:spPr>
            <a:xfrm>
              <a:off x="7854140" y="5803769"/>
              <a:ext cx="505609" cy="369332"/>
            </a:xfrm>
            <a:prstGeom prst="rect">
              <a:avLst/>
            </a:prstGeom>
            <a:noFill/>
          </p:spPr>
          <p:txBody>
            <a:bodyPr wrap="square" rtlCol="0">
              <a:spAutoFit/>
            </a:bodyPr>
            <a:lstStyle/>
            <a:p>
              <a:pPr algn="ctr"/>
              <a:r>
                <a:rPr lang="en-US" dirty="0"/>
                <a:t>60</a:t>
              </a:r>
            </a:p>
          </p:txBody>
        </p:sp>
        <p:cxnSp>
          <p:nvCxnSpPr>
            <p:cNvPr id="70" name="Straight Connector 69">
              <a:extLst>
                <a:ext uri="{FF2B5EF4-FFF2-40B4-BE49-F238E27FC236}">
                  <a16:creationId xmlns:a16="http://schemas.microsoft.com/office/drawing/2014/main" id="{D57B09EB-4779-4894-B3A1-D4FA787AE724}"/>
                </a:ext>
              </a:extLst>
            </p:cNvPr>
            <p:cNvCxnSpPr/>
            <p:nvPr/>
          </p:nvCxnSpPr>
          <p:spPr>
            <a:xfrm>
              <a:off x="9526425" y="5011370"/>
              <a:ext cx="0" cy="79239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E6765768-FEDA-4AE5-B0AA-DD7F68085D87}"/>
                </a:ext>
              </a:extLst>
            </p:cNvPr>
            <p:cNvSpPr txBox="1"/>
            <p:nvPr/>
          </p:nvSpPr>
          <p:spPr>
            <a:xfrm>
              <a:off x="9273620" y="5803769"/>
              <a:ext cx="505609" cy="369332"/>
            </a:xfrm>
            <a:prstGeom prst="rect">
              <a:avLst/>
            </a:prstGeom>
            <a:noFill/>
          </p:spPr>
          <p:txBody>
            <a:bodyPr wrap="square" rtlCol="0">
              <a:spAutoFit/>
            </a:bodyPr>
            <a:lstStyle/>
            <a:p>
              <a:pPr algn="ctr"/>
              <a:r>
                <a:rPr lang="en-US" dirty="0"/>
                <a:t>70</a:t>
              </a:r>
            </a:p>
          </p:txBody>
        </p:sp>
        <p:cxnSp>
          <p:nvCxnSpPr>
            <p:cNvPr id="72" name="Straight Connector 71">
              <a:extLst>
                <a:ext uri="{FF2B5EF4-FFF2-40B4-BE49-F238E27FC236}">
                  <a16:creationId xmlns:a16="http://schemas.microsoft.com/office/drawing/2014/main" id="{12F752B0-7C2C-4CEF-B38B-61105B529CE6}"/>
                </a:ext>
              </a:extLst>
            </p:cNvPr>
            <p:cNvCxnSpPr/>
            <p:nvPr/>
          </p:nvCxnSpPr>
          <p:spPr>
            <a:xfrm>
              <a:off x="10792696" y="5034892"/>
              <a:ext cx="0" cy="79239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03717B17-BB75-4BEE-998E-AB3CB13236BD}"/>
                </a:ext>
              </a:extLst>
            </p:cNvPr>
            <p:cNvSpPr txBox="1"/>
            <p:nvPr/>
          </p:nvSpPr>
          <p:spPr>
            <a:xfrm>
              <a:off x="10539891" y="5827291"/>
              <a:ext cx="505609" cy="369332"/>
            </a:xfrm>
            <a:prstGeom prst="rect">
              <a:avLst/>
            </a:prstGeom>
            <a:noFill/>
          </p:spPr>
          <p:txBody>
            <a:bodyPr wrap="square" rtlCol="0">
              <a:spAutoFit/>
            </a:bodyPr>
            <a:lstStyle/>
            <a:p>
              <a:pPr algn="ctr"/>
              <a:r>
                <a:rPr lang="en-US" dirty="0"/>
                <a:t>80</a:t>
              </a:r>
            </a:p>
          </p:txBody>
        </p:sp>
      </p:grpSp>
      <p:cxnSp>
        <p:nvCxnSpPr>
          <p:cNvPr id="3" name="Straight Connector 2">
            <a:extLst>
              <a:ext uri="{FF2B5EF4-FFF2-40B4-BE49-F238E27FC236}">
                <a16:creationId xmlns:a16="http://schemas.microsoft.com/office/drawing/2014/main" id="{A0F9A036-9B90-4DB8-8632-809733B602EB}"/>
              </a:ext>
            </a:extLst>
          </p:cNvPr>
          <p:cNvCxnSpPr>
            <a:cxnSpLocks/>
          </p:cNvCxnSpPr>
          <p:nvPr/>
        </p:nvCxnSpPr>
        <p:spPr>
          <a:xfrm>
            <a:off x="3140359" y="3037001"/>
            <a:ext cx="5953555" cy="0"/>
          </a:xfrm>
          <a:prstGeom prst="line">
            <a:avLst/>
          </a:prstGeom>
        </p:spPr>
        <p:style>
          <a:lnRef idx="1">
            <a:schemeClr val="dk1"/>
          </a:lnRef>
          <a:fillRef idx="0">
            <a:schemeClr val="dk1"/>
          </a:fillRef>
          <a:effectRef idx="0">
            <a:schemeClr val="dk1"/>
          </a:effectRef>
          <a:fontRef idx="minor">
            <a:schemeClr val="tx1"/>
          </a:fontRef>
        </p:style>
      </p:cxnSp>
      <p:graphicFrame>
        <p:nvGraphicFramePr>
          <p:cNvPr id="74" name="Table 5">
            <a:extLst>
              <a:ext uri="{FF2B5EF4-FFF2-40B4-BE49-F238E27FC236}">
                <a16:creationId xmlns:a16="http://schemas.microsoft.com/office/drawing/2014/main" id="{C6E8AAF3-C576-4E0D-803F-54DBB337A6EA}"/>
              </a:ext>
            </a:extLst>
          </p:cNvPr>
          <p:cNvGraphicFramePr>
            <a:graphicFrameLocks noGrp="1"/>
          </p:cNvGraphicFramePr>
          <p:nvPr>
            <p:extLst>
              <p:ext uri="{D42A27DB-BD31-4B8C-83A1-F6EECF244321}">
                <p14:modId xmlns:p14="http://schemas.microsoft.com/office/powerpoint/2010/main" val="2540095324"/>
              </p:ext>
            </p:extLst>
          </p:nvPr>
        </p:nvGraphicFramePr>
        <p:xfrm>
          <a:off x="6117136" y="1970539"/>
          <a:ext cx="3379215" cy="1005840"/>
        </p:xfrm>
        <a:graphic>
          <a:graphicData uri="http://schemas.openxmlformats.org/drawingml/2006/table">
            <a:tbl>
              <a:tblPr firstRow="1" bandRow="1">
                <a:tableStyleId>{5C22544A-7EE6-4342-B048-85BDC9FD1C3A}</a:tableStyleId>
              </a:tblPr>
              <a:tblGrid>
                <a:gridCol w="1116039">
                  <a:extLst>
                    <a:ext uri="{9D8B030D-6E8A-4147-A177-3AD203B41FA5}">
                      <a16:colId xmlns:a16="http://schemas.microsoft.com/office/drawing/2014/main" val="2142405818"/>
                    </a:ext>
                  </a:extLst>
                </a:gridCol>
                <a:gridCol w="2263176">
                  <a:extLst>
                    <a:ext uri="{9D8B030D-6E8A-4147-A177-3AD203B41FA5}">
                      <a16:colId xmlns:a16="http://schemas.microsoft.com/office/drawing/2014/main" val="2303839361"/>
                    </a:ext>
                  </a:extLst>
                </a:gridCol>
              </a:tblGrid>
              <a:tr h="242322">
                <a:tc>
                  <a:txBody>
                    <a:bodyPr/>
                    <a:lstStyle/>
                    <a:p>
                      <a:pPr algn="ctr"/>
                      <a:r>
                        <a:rPr lang="en-US" b="0" dirty="0">
                          <a:solidFill>
                            <a:schemeClr val="tx1"/>
                          </a:solidFill>
                        </a:rPr>
                        <a:t>21-29y</a:t>
                      </a:r>
                    </a:p>
                  </a:txBody>
                  <a:tcPr>
                    <a:lnL w="12700" cmpd="sng">
                      <a:noFill/>
                    </a:lnL>
                    <a:lnR w="12700" cap="flat" cmpd="sng" algn="ctr">
                      <a:solidFill>
                        <a:schemeClr val="tx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Cytology q3y</a:t>
                      </a:r>
                    </a:p>
                  </a:txBody>
                  <a:tcPr>
                    <a:lnL w="12700" cap="flat" cmpd="sng" algn="ctr">
                      <a:solidFill>
                        <a:schemeClr val="tx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96075439"/>
                  </a:ext>
                </a:extLst>
              </a:tr>
              <a:tr h="242322">
                <a:tc>
                  <a:txBody>
                    <a:bodyPr/>
                    <a:lstStyle/>
                    <a:p>
                      <a:pPr algn="ctr"/>
                      <a:r>
                        <a:rPr lang="en-US" dirty="0">
                          <a:solidFill>
                            <a:schemeClr val="tx1"/>
                          </a:solidFill>
                        </a:rPr>
                        <a:t>30-65y</a:t>
                      </a:r>
                    </a:p>
                  </a:txBody>
                  <a:tcPr anchor="ct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Cytology q3y </a:t>
                      </a:r>
                    </a:p>
                    <a:p>
                      <a:r>
                        <a:rPr lang="en-US" b="0" dirty="0">
                          <a:solidFill>
                            <a:schemeClr val="tx1"/>
                          </a:solidFill>
                        </a:rPr>
                        <a:t>HPV ± cytology q5y</a:t>
                      </a:r>
                    </a:p>
                  </a:txBody>
                  <a:tcPr>
                    <a:lnL w="12700" cap="flat" cmpd="sng" algn="ctr">
                      <a:solidFill>
                        <a:schemeClr val="tx1"/>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5303930"/>
                  </a:ext>
                </a:extLst>
              </a:tr>
            </a:tbl>
          </a:graphicData>
        </a:graphic>
      </p:graphicFrame>
      <p:graphicFrame>
        <p:nvGraphicFramePr>
          <p:cNvPr id="75" name="Table 5">
            <a:extLst>
              <a:ext uri="{FF2B5EF4-FFF2-40B4-BE49-F238E27FC236}">
                <a16:creationId xmlns:a16="http://schemas.microsoft.com/office/drawing/2014/main" id="{0101A14E-9B4F-4B9E-8957-DA0F7FC8DFFB}"/>
              </a:ext>
            </a:extLst>
          </p:cNvPr>
          <p:cNvGraphicFramePr>
            <a:graphicFrameLocks noGrp="1"/>
          </p:cNvGraphicFramePr>
          <p:nvPr>
            <p:extLst>
              <p:ext uri="{D42A27DB-BD31-4B8C-83A1-F6EECF244321}">
                <p14:modId xmlns:p14="http://schemas.microsoft.com/office/powerpoint/2010/main" val="3346115008"/>
              </p:ext>
            </p:extLst>
          </p:nvPr>
        </p:nvGraphicFramePr>
        <p:xfrm>
          <a:off x="6027450" y="3094283"/>
          <a:ext cx="2806207" cy="960120"/>
        </p:xfrm>
        <a:graphic>
          <a:graphicData uri="http://schemas.openxmlformats.org/drawingml/2006/table">
            <a:tbl>
              <a:tblPr firstRow="1" bandRow="1">
                <a:tableStyleId>{5C22544A-7EE6-4342-B048-85BDC9FD1C3A}</a:tableStyleId>
              </a:tblPr>
              <a:tblGrid>
                <a:gridCol w="1723132">
                  <a:extLst>
                    <a:ext uri="{9D8B030D-6E8A-4147-A177-3AD203B41FA5}">
                      <a16:colId xmlns:a16="http://schemas.microsoft.com/office/drawing/2014/main" val="2142405818"/>
                    </a:ext>
                  </a:extLst>
                </a:gridCol>
                <a:gridCol w="1083075">
                  <a:extLst>
                    <a:ext uri="{9D8B030D-6E8A-4147-A177-3AD203B41FA5}">
                      <a16:colId xmlns:a16="http://schemas.microsoft.com/office/drawing/2014/main" val="2303839361"/>
                    </a:ext>
                  </a:extLst>
                </a:gridCol>
              </a:tblGrid>
              <a:tr h="0">
                <a:tc>
                  <a:txBody>
                    <a:bodyPr/>
                    <a:lstStyle/>
                    <a:p>
                      <a:pPr algn="ctr"/>
                      <a:r>
                        <a:rPr lang="en-US" b="0" dirty="0">
                          <a:solidFill>
                            <a:schemeClr val="tx1"/>
                          </a:solidFill>
                        </a:rPr>
                        <a:t>Primary HPV</a:t>
                      </a:r>
                    </a:p>
                  </a:txBody>
                  <a:tcPr marT="0">
                    <a:lnL w="12700" cmpd="sng">
                      <a:noFill/>
                    </a:lnL>
                    <a:lnR w="12700" cap="flat" cmpd="sng" algn="ctr">
                      <a:solidFill>
                        <a:schemeClr val="tx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q5y</a:t>
                      </a:r>
                    </a:p>
                  </a:txBody>
                  <a:tcPr marT="0">
                    <a:lnL w="12700" cap="flat" cmpd="sng" algn="ctr">
                      <a:solidFill>
                        <a:schemeClr val="tx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96075439"/>
                  </a:ext>
                </a:extLst>
              </a:tr>
              <a:tr h="242238">
                <a:tc>
                  <a:txBody>
                    <a:bodyPr/>
                    <a:lstStyle/>
                    <a:p>
                      <a:pPr algn="ctr"/>
                      <a:r>
                        <a:rPr lang="en-US" dirty="0">
                          <a:solidFill>
                            <a:schemeClr val="tx1"/>
                          </a:solidFill>
                        </a:rPr>
                        <a:t>HPV + cytology</a:t>
                      </a:r>
                    </a:p>
                  </a:txBody>
                  <a:tcPr marT="0" anchor="ct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q5y</a:t>
                      </a:r>
                    </a:p>
                  </a:txBody>
                  <a:tcPr marT="0">
                    <a:lnL w="12700" cap="flat" cmpd="sng" algn="ctr">
                      <a:solidFill>
                        <a:schemeClr val="tx1"/>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5303930"/>
                  </a:ext>
                </a:extLst>
              </a:tr>
              <a:tr h="242238">
                <a:tc>
                  <a:txBody>
                    <a:bodyPr/>
                    <a:lstStyle/>
                    <a:p>
                      <a:pPr algn="ctr"/>
                      <a:r>
                        <a:rPr lang="en-US" dirty="0">
                          <a:solidFill>
                            <a:schemeClr val="tx1"/>
                          </a:solidFill>
                        </a:rPr>
                        <a:t>Cytology</a:t>
                      </a:r>
                    </a:p>
                  </a:txBody>
                  <a:tcPr marT="0" anchor="ct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q3y</a:t>
                      </a:r>
                    </a:p>
                  </a:txBody>
                  <a:tcPr marT="0">
                    <a:lnL w="12700" cap="flat" cmpd="sng" algn="ctr">
                      <a:solidFill>
                        <a:schemeClr val="tx1"/>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0419293"/>
                  </a:ext>
                </a:extLst>
              </a:tr>
            </a:tbl>
          </a:graphicData>
        </a:graphic>
      </p:graphicFrame>
      <p:sp>
        <p:nvSpPr>
          <p:cNvPr id="50" name="TextBox 49">
            <a:extLst>
              <a:ext uri="{FF2B5EF4-FFF2-40B4-BE49-F238E27FC236}">
                <a16:creationId xmlns:a16="http://schemas.microsoft.com/office/drawing/2014/main" id="{B0E86977-3512-41EF-B480-14172AF41B79}"/>
              </a:ext>
            </a:extLst>
          </p:cNvPr>
          <p:cNvSpPr txBox="1"/>
          <p:nvPr/>
        </p:nvSpPr>
        <p:spPr>
          <a:xfrm>
            <a:off x="9319662" y="1984230"/>
            <a:ext cx="2472375" cy="2308324"/>
          </a:xfrm>
          <a:prstGeom prst="rect">
            <a:avLst/>
          </a:prstGeom>
          <a:noFill/>
        </p:spPr>
        <p:txBody>
          <a:bodyPr wrap="square" rtlCol="0">
            <a:spAutoFit/>
          </a:bodyPr>
          <a:lstStyle/>
          <a:p>
            <a:pPr algn="ctr" fontAlgn="base"/>
            <a:r>
              <a:rPr lang="en-US" b="0" i="0" dirty="0">
                <a:solidFill>
                  <a:srgbClr val="000000"/>
                </a:solidFill>
                <a:effectLst/>
                <a:latin typeface="Calibri" panose="020F0502020204030204" pitchFamily="34" charset="0"/>
              </a:rPr>
              <a:t>&gt;65y with normal screening in prior 10y </a:t>
            </a:r>
          </a:p>
          <a:p>
            <a:pPr algn="ctr" fontAlgn="base"/>
            <a:r>
              <a:rPr lang="en-US" dirty="0">
                <a:solidFill>
                  <a:srgbClr val="000000"/>
                </a:solidFill>
                <a:latin typeface="Calibri" panose="020F0502020204030204" pitchFamily="34" charset="0"/>
              </a:rPr>
              <a:t>OR</a:t>
            </a:r>
          </a:p>
          <a:p>
            <a:pPr algn="ctr" fontAlgn="base"/>
            <a:r>
              <a:rPr lang="en-US" b="0" i="0" dirty="0">
                <a:solidFill>
                  <a:srgbClr val="000000"/>
                </a:solidFill>
                <a:effectLst/>
                <a:latin typeface="Calibri" panose="020F0502020204030204" pitchFamily="34" charset="0"/>
              </a:rPr>
              <a:t>Hysterectomy with removal of cervix + no prior history of high-grade precancerous lesion</a:t>
            </a:r>
            <a:endParaRPr lang="en-US" sz="1800" b="0" i="0" dirty="0">
              <a:solidFill>
                <a:srgbClr val="000000"/>
              </a:solidFill>
              <a:effectLst/>
            </a:endParaRPr>
          </a:p>
        </p:txBody>
      </p:sp>
      <p:grpSp>
        <p:nvGrpSpPr>
          <p:cNvPr id="8" name="Group 7">
            <a:extLst>
              <a:ext uri="{FF2B5EF4-FFF2-40B4-BE49-F238E27FC236}">
                <a16:creationId xmlns:a16="http://schemas.microsoft.com/office/drawing/2014/main" id="{27C84D5C-C130-4B55-968A-B2BC52FE3378}"/>
              </a:ext>
            </a:extLst>
          </p:cNvPr>
          <p:cNvGrpSpPr/>
          <p:nvPr/>
        </p:nvGrpSpPr>
        <p:grpSpPr>
          <a:xfrm>
            <a:off x="9875958" y="4273261"/>
            <a:ext cx="1733525" cy="976509"/>
            <a:chOff x="3029089" y="4199093"/>
            <a:chExt cx="1733525" cy="976509"/>
          </a:xfrm>
        </p:grpSpPr>
        <p:sp>
          <p:nvSpPr>
            <p:cNvPr id="6" name="Freeform: Shape 5">
              <a:extLst>
                <a:ext uri="{FF2B5EF4-FFF2-40B4-BE49-F238E27FC236}">
                  <a16:creationId xmlns:a16="http://schemas.microsoft.com/office/drawing/2014/main" id="{4D02F78E-AD85-473B-85A8-40AE933FE6EF}"/>
                </a:ext>
              </a:extLst>
            </p:cNvPr>
            <p:cNvSpPr/>
            <p:nvPr/>
          </p:nvSpPr>
          <p:spPr>
            <a:xfrm>
              <a:off x="3029089" y="4199093"/>
              <a:ext cx="1733525" cy="976507"/>
            </a:xfrm>
            <a:custGeom>
              <a:avLst/>
              <a:gdLst>
                <a:gd name="connsiteX0" fmla="*/ 78172 w 1437229"/>
                <a:gd name="connsiteY0" fmla="*/ 161854 h 1051159"/>
                <a:gd name="connsiteX1" fmla="*/ 218022 w 1437229"/>
                <a:gd name="connsiteY1" fmla="*/ 22005 h 1051159"/>
                <a:gd name="connsiteX2" fmla="*/ 529993 w 1437229"/>
                <a:gd name="connsiteY2" fmla="*/ 161854 h 1051159"/>
                <a:gd name="connsiteX3" fmla="*/ 691358 w 1437229"/>
                <a:gd name="connsiteY3" fmla="*/ 108066 h 1051159"/>
                <a:gd name="connsiteX4" fmla="*/ 949542 w 1437229"/>
                <a:gd name="connsiteY4" fmla="*/ 140339 h 1051159"/>
                <a:gd name="connsiteX5" fmla="*/ 1229240 w 1437229"/>
                <a:gd name="connsiteY5" fmla="*/ 489 h 1051159"/>
                <a:gd name="connsiteX6" fmla="*/ 1422878 w 1437229"/>
                <a:gd name="connsiteY6" fmla="*/ 97308 h 1051159"/>
                <a:gd name="connsiteX7" fmla="*/ 1412120 w 1437229"/>
                <a:gd name="connsiteY7" fmla="*/ 183369 h 1051159"/>
                <a:gd name="connsiteX8" fmla="*/ 1326059 w 1437229"/>
                <a:gd name="connsiteY8" fmla="*/ 237158 h 1051159"/>
                <a:gd name="connsiteX9" fmla="*/ 1218483 w 1437229"/>
                <a:gd name="connsiteY9" fmla="*/ 161854 h 1051159"/>
                <a:gd name="connsiteX10" fmla="*/ 1089391 w 1437229"/>
                <a:gd name="connsiteY10" fmla="*/ 237158 h 1051159"/>
                <a:gd name="connsiteX11" fmla="*/ 1003330 w 1437229"/>
                <a:gd name="connsiteY11" fmla="*/ 441553 h 1051159"/>
                <a:gd name="connsiteX12" fmla="*/ 895753 w 1437229"/>
                <a:gd name="connsiteY12" fmla="*/ 678221 h 1051159"/>
                <a:gd name="connsiteX13" fmla="*/ 852723 w 1437229"/>
                <a:gd name="connsiteY13" fmla="*/ 871859 h 1051159"/>
                <a:gd name="connsiteX14" fmla="*/ 831207 w 1437229"/>
                <a:gd name="connsiteY14" fmla="*/ 1011708 h 1051159"/>
                <a:gd name="connsiteX15" fmla="*/ 648327 w 1437229"/>
                <a:gd name="connsiteY15" fmla="*/ 1033224 h 1051159"/>
                <a:gd name="connsiteX16" fmla="*/ 648327 w 1437229"/>
                <a:gd name="connsiteY16" fmla="*/ 775040 h 1051159"/>
                <a:gd name="connsiteX17" fmla="*/ 519236 w 1437229"/>
                <a:gd name="connsiteY17" fmla="*/ 430795 h 1051159"/>
                <a:gd name="connsiteX18" fmla="*/ 411659 w 1437229"/>
                <a:gd name="connsiteY18" fmla="*/ 258673 h 1051159"/>
                <a:gd name="connsiteX19" fmla="*/ 228779 w 1437229"/>
                <a:gd name="connsiteY19" fmla="*/ 151096 h 1051159"/>
                <a:gd name="connsiteX20" fmla="*/ 153476 w 1437229"/>
                <a:gd name="connsiteY20" fmla="*/ 355492 h 1051159"/>
                <a:gd name="connsiteX21" fmla="*/ 2869 w 1437229"/>
                <a:gd name="connsiteY21" fmla="*/ 258673 h 1051159"/>
                <a:gd name="connsiteX22" fmla="*/ 78172 w 1437229"/>
                <a:gd name="connsiteY22" fmla="*/ 161854 h 1051159"/>
                <a:gd name="connsiteX0" fmla="*/ 78172 w 1437229"/>
                <a:gd name="connsiteY0" fmla="*/ 161854 h 1051159"/>
                <a:gd name="connsiteX1" fmla="*/ 218022 w 1437229"/>
                <a:gd name="connsiteY1" fmla="*/ 22005 h 1051159"/>
                <a:gd name="connsiteX2" fmla="*/ 529993 w 1437229"/>
                <a:gd name="connsiteY2" fmla="*/ 161854 h 1051159"/>
                <a:gd name="connsiteX3" fmla="*/ 752318 w 1437229"/>
                <a:gd name="connsiteY3" fmla="*/ 77586 h 1051159"/>
                <a:gd name="connsiteX4" fmla="*/ 949542 w 1437229"/>
                <a:gd name="connsiteY4" fmla="*/ 140339 h 1051159"/>
                <a:gd name="connsiteX5" fmla="*/ 1229240 w 1437229"/>
                <a:gd name="connsiteY5" fmla="*/ 489 h 1051159"/>
                <a:gd name="connsiteX6" fmla="*/ 1422878 w 1437229"/>
                <a:gd name="connsiteY6" fmla="*/ 97308 h 1051159"/>
                <a:gd name="connsiteX7" fmla="*/ 1412120 w 1437229"/>
                <a:gd name="connsiteY7" fmla="*/ 183369 h 1051159"/>
                <a:gd name="connsiteX8" fmla="*/ 1326059 w 1437229"/>
                <a:gd name="connsiteY8" fmla="*/ 237158 h 1051159"/>
                <a:gd name="connsiteX9" fmla="*/ 1218483 w 1437229"/>
                <a:gd name="connsiteY9" fmla="*/ 161854 h 1051159"/>
                <a:gd name="connsiteX10" fmla="*/ 1089391 w 1437229"/>
                <a:gd name="connsiteY10" fmla="*/ 237158 h 1051159"/>
                <a:gd name="connsiteX11" fmla="*/ 1003330 w 1437229"/>
                <a:gd name="connsiteY11" fmla="*/ 441553 h 1051159"/>
                <a:gd name="connsiteX12" fmla="*/ 895753 w 1437229"/>
                <a:gd name="connsiteY12" fmla="*/ 678221 h 1051159"/>
                <a:gd name="connsiteX13" fmla="*/ 852723 w 1437229"/>
                <a:gd name="connsiteY13" fmla="*/ 871859 h 1051159"/>
                <a:gd name="connsiteX14" fmla="*/ 831207 w 1437229"/>
                <a:gd name="connsiteY14" fmla="*/ 1011708 h 1051159"/>
                <a:gd name="connsiteX15" fmla="*/ 648327 w 1437229"/>
                <a:gd name="connsiteY15" fmla="*/ 1033224 h 1051159"/>
                <a:gd name="connsiteX16" fmla="*/ 648327 w 1437229"/>
                <a:gd name="connsiteY16" fmla="*/ 775040 h 1051159"/>
                <a:gd name="connsiteX17" fmla="*/ 519236 w 1437229"/>
                <a:gd name="connsiteY17" fmla="*/ 430795 h 1051159"/>
                <a:gd name="connsiteX18" fmla="*/ 411659 w 1437229"/>
                <a:gd name="connsiteY18" fmla="*/ 258673 h 1051159"/>
                <a:gd name="connsiteX19" fmla="*/ 228779 w 1437229"/>
                <a:gd name="connsiteY19" fmla="*/ 151096 h 1051159"/>
                <a:gd name="connsiteX20" fmla="*/ 153476 w 1437229"/>
                <a:gd name="connsiteY20" fmla="*/ 355492 h 1051159"/>
                <a:gd name="connsiteX21" fmla="*/ 2869 w 1437229"/>
                <a:gd name="connsiteY21" fmla="*/ 258673 h 1051159"/>
                <a:gd name="connsiteX22" fmla="*/ 78172 w 1437229"/>
                <a:gd name="connsiteY22" fmla="*/ 161854 h 1051159"/>
                <a:gd name="connsiteX0" fmla="*/ 78172 w 1609255"/>
                <a:gd name="connsiteY0" fmla="*/ 161371 h 1050676"/>
                <a:gd name="connsiteX1" fmla="*/ 218022 w 1609255"/>
                <a:gd name="connsiteY1" fmla="*/ 21522 h 1050676"/>
                <a:gd name="connsiteX2" fmla="*/ 529993 w 1609255"/>
                <a:gd name="connsiteY2" fmla="*/ 161371 h 1050676"/>
                <a:gd name="connsiteX3" fmla="*/ 752318 w 1609255"/>
                <a:gd name="connsiteY3" fmla="*/ 77103 h 1050676"/>
                <a:gd name="connsiteX4" fmla="*/ 949542 w 1609255"/>
                <a:gd name="connsiteY4" fmla="*/ 139856 h 1050676"/>
                <a:gd name="connsiteX5" fmla="*/ 1229240 w 1609255"/>
                <a:gd name="connsiteY5" fmla="*/ 6 h 1050676"/>
                <a:gd name="connsiteX6" fmla="*/ 1605758 w 1609255"/>
                <a:gd name="connsiteY6" fmla="*/ 145593 h 1050676"/>
                <a:gd name="connsiteX7" fmla="*/ 1412120 w 1609255"/>
                <a:gd name="connsiteY7" fmla="*/ 182886 h 1050676"/>
                <a:gd name="connsiteX8" fmla="*/ 1326059 w 1609255"/>
                <a:gd name="connsiteY8" fmla="*/ 236675 h 1050676"/>
                <a:gd name="connsiteX9" fmla="*/ 1218483 w 1609255"/>
                <a:gd name="connsiteY9" fmla="*/ 161371 h 1050676"/>
                <a:gd name="connsiteX10" fmla="*/ 1089391 w 1609255"/>
                <a:gd name="connsiteY10" fmla="*/ 236675 h 1050676"/>
                <a:gd name="connsiteX11" fmla="*/ 1003330 w 1609255"/>
                <a:gd name="connsiteY11" fmla="*/ 441070 h 1050676"/>
                <a:gd name="connsiteX12" fmla="*/ 895753 w 1609255"/>
                <a:gd name="connsiteY12" fmla="*/ 677738 h 1050676"/>
                <a:gd name="connsiteX13" fmla="*/ 852723 w 1609255"/>
                <a:gd name="connsiteY13" fmla="*/ 871376 h 1050676"/>
                <a:gd name="connsiteX14" fmla="*/ 831207 w 1609255"/>
                <a:gd name="connsiteY14" fmla="*/ 1011225 h 1050676"/>
                <a:gd name="connsiteX15" fmla="*/ 648327 w 1609255"/>
                <a:gd name="connsiteY15" fmla="*/ 1032741 h 1050676"/>
                <a:gd name="connsiteX16" fmla="*/ 648327 w 1609255"/>
                <a:gd name="connsiteY16" fmla="*/ 774557 h 1050676"/>
                <a:gd name="connsiteX17" fmla="*/ 519236 w 1609255"/>
                <a:gd name="connsiteY17" fmla="*/ 430312 h 1050676"/>
                <a:gd name="connsiteX18" fmla="*/ 411659 w 1609255"/>
                <a:gd name="connsiteY18" fmla="*/ 258190 h 1050676"/>
                <a:gd name="connsiteX19" fmla="*/ 228779 w 1609255"/>
                <a:gd name="connsiteY19" fmla="*/ 150613 h 1050676"/>
                <a:gd name="connsiteX20" fmla="*/ 153476 w 1609255"/>
                <a:gd name="connsiteY20" fmla="*/ 355009 h 1050676"/>
                <a:gd name="connsiteX21" fmla="*/ 2869 w 1609255"/>
                <a:gd name="connsiteY21" fmla="*/ 258190 h 1050676"/>
                <a:gd name="connsiteX22" fmla="*/ 78172 w 1609255"/>
                <a:gd name="connsiteY22" fmla="*/ 161371 h 1050676"/>
                <a:gd name="connsiteX0" fmla="*/ 78172 w 1613086"/>
                <a:gd name="connsiteY0" fmla="*/ 161371 h 1050676"/>
                <a:gd name="connsiteX1" fmla="*/ 218022 w 1613086"/>
                <a:gd name="connsiteY1" fmla="*/ 21522 h 1050676"/>
                <a:gd name="connsiteX2" fmla="*/ 529993 w 1613086"/>
                <a:gd name="connsiteY2" fmla="*/ 161371 h 1050676"/>
                <a:gd name="connsiteX3" fmla="*/ 752318 w 1613086"/>
                <a:gd name="connsiteY3" fmla="*/ 77103 h 1050676"/>
                <a:gd name="connsiteX4" fmla="*/ 949542 w 1613086"/>
                <a:gd name="connsiteY4" fmla="*/ 139856 h 1050676"/>
                <a:gd name="connsiteX5" fmla="*/ 1229240 w 1613086"/>
                <a:gd name="connsiteY5" fmla="*/ 6 h 1050676"/>
                <a:gd name="connsiteX6" fmla="*/ 1605758 w 1613086"/>
                <a:gd name="connsiteY6" fmla="*/ 145593 h 1050676"/>
                <a:gd name="connsiteX7" fmla="*/ 1466984 w 1613086"/>
                <a:gd name="connsiteY7" fmla="*/ 201174 h 1050676"/>
                <a:gd name="connsiteX8" fmla="*/ 1326059 w 1613086"/>
                <a:gd name="connsiteY8" fmla="*/ 236675 h 1050676"/>
                <a:gd name="connsiteX9" fmla="*/ 1218483 w 1613086"/>
                <a:gd name="connsiteY9" fmla="*/ 161371 h 1050676"/>
                <a:gd name="connsiteX10" fmla="*/ 1089391 w 1613086"/>
                <a:gd name="connsiteY10" fmla="*/ 236675 h 1050676"/>
                <a:gd name="connsiteX11" fmla="*/ 1003330 w 1613086"/>
                <a:gd name="connsiteY11" fmla="*/ 441070 h 1050676"/>
                <a:gd name="connsiteX12" fmla="*/ 895753 w 1613086"/>
                <a:gd name="connsiteY12" fmla="*/ 677738 h 1050676"/>
                <a:gd name="connsiteX13" fmla="*/ 852723 w 1613086"/>
                <a:gd name="connsiteY13" fmla="*/ 871376 h 1050676"/>
                <a:gd name="connsiteX14" fmla="*/ 831207 w 1613086"/>
                <a:gd name="connsiteY14" fmla="*/ 1011225 h 1050676"/>
                <a:gd name="connsiteX15" fmla="*/ 648327 w 1613086"/>
                <a:gd name="connsiteY15" fmla="*/ 1032741 h 1050676"/>
                <a:gd name="connsiteX16" fmla="*/ 648327 w 1613086"/>
                <a:gd name="connsiteY16" fmla="*/ 774557 h 1050676"/>
                <a:gd name="connsiteX17" fmla="*/ 519236 w 1613086"/>
                <a:gd name="connsiteY17" fmla="*/ 430312 h 1050676"/>
                <a:gd name="connsiteX18" fmla="*/ 411659 w 1613086"/>
                <a:gd name="connsiteY18" fmla="*/ 258190 h 1050676"/>
                <a:gd name="connsiteX19" fmla="*/ 228779 w 1613086"/>
                <a:gd name="connsiteY19" fmla="*/ 150613 h 1050676"/>
                <a:gd name="connsiteX20" fmla="*/ 153476 w 1613086"/>
                <a:gd name="connsiteY20" fmla="*/ 355009 h 1050676"/>
                <a:gd name="connsiteX21" fmla="*/ 2869 w 1613086"/>
                <a:gd name="connsiteY21" fmla="*/ 258190 h 1050676"/>
                <a:gd name="connsiteX22" fmla="*/ 78172 w 1613086"/>
                <a:gd name="connsiteY22" fmla="*/ 161371 h 1050676"/>
                <a:gd name="connsiteX0" fmla="*/ 78172 w 1612560"/>
                <a:gd name="connsiteY0" fmla="*/ 161371 h 1050676"/>
                <a:gd name="connsiteX1" fmla="*/ 218022 w 1612560"/>
                <a:gd name="connsiteY1" fmla="*/ 21522 h 1050676"/>
                <a:gd name="connsiteX2" fmla="*/ 529993 w 1612560"/>
                <a:gd name="connsiteY2" fmla="*/ 161371 h 1050676"/>
                <a:gd name="connsiteX3" fmla="*/ 752318 w 1612560"/>
                <a:gd name="connsiteY3" fmla="*/ 77103 h 1050676"/>
                <a:gd name="connsiteX4" fmla="*/ 949542 w 1612560"/>
                <a:gd name="connsiteY4" fmla="*/ 139856 h 1050676"/>
                <a:gd name="connsiteX5" fmla="*/ 1229240 w 1612560"/>
                <a:gd name="connsiteY5" fmla="*/ 6 h 1050676"/>
                <a:gd name="connsiteX6" fmla="*/ 1605758 w 1612560"/>
                <a:gd name="connsiteY6" fmla="*/ 145593 h 1050676"/>
                <a:gd name="connsiteX7" fmla="*/ 1466984 w 1612560"/>
                <a:gd name="connsiteY7" fmla="*/ 201174 h 1050676"/>
                <a:gd name="connsiteX8" fmla="*/ 1405307 w 1612560"/>
                <a:gd name="connsiteY8" fmla="*/ 297635 h 1050676"/>
                <a:gd name="connsiteX9" fmla="*/ 1218483 w 1612560"/>
                <a:gd name="connsiteY9" fmla="*/ 161371 h 1050676"/>
                <a:gd name="connsiteX10" fmla="*/ 1089391 w 1612560"/>
                <a:gd name="connsiteY10" fmla="*/ 236675 h 1050676"/>
                <a:gd name="connsiteX11" fmla="*/ 1003330 w 1612560"/>
                <a:gd name="connsiteY11" fmla="*/ 441070 h 1050676"/>
                <a:gd name="connsiteX12" fmla="*/ 895753 w 1612560"/>
                <a:gd name="connsiteY12" fmla="*/ 677738 h 1050676"/>
                <a:gd name="connsiteX13" fmla="*/ 852723 w 1612560"/>
                <a:gd name="connsiteY13" fmla="*/ 871376 h 1050676"/>
                <a:gd name="connsiteX14" fmla="*/ 831207 w 1612560"/>
                <a:gd name="connsiteY14" fmla="*/ 1011225 h 1050676"/>
                <a:gd name="connsiteX15" fmla="*/ 648327 w 1612560"/>
                <a:gd name="connsiteY15" fmla="*/ 1032741 h 1050676"/>
                <a:gd name="connsiteX16" fmla="*/ 648327 w 1612560"/>
                <a:gd name="connsiteY16" fmla="*/ 774557 h 1050676"/>
                <a:gd name="connsiteX17" fmla="*/ 519236 w 1612560"/>
                <a:gd name="connsiteY17" fmla="*/ 430312 h 1050676"/>
                <a:gd name="connsiteX18" fmla="*/ 411659 w 1612560"/>
                <a:gd name="connsiteY18" fmla="*/ 258190 h 1050676"/>
                <a:gd name="connsiteX19" fmla="*/ 228779 w 1612560"/>
                <a:gd name="connsiteY19" fmla="*/ 150613 h 1050676"/>
                <a:gd name="connsiteX20" fmla="*/ 153476 w 1612560"/>
                <a:gd name="connsiteY20" fmla="*/ 355009 h 1050676"/>
                <a:gd name="connsiteX21" fmla="*/ 2869 w 1612560"/>
                <a:gd name="connsiteY21" fmla="*/ 258190 h 1050676"/>
                <a:gd name="connsiteX22" fmla="*/ 78172 w 1612560"/>
                <a:gd name="connsiteY22" fmla="*/ 161371 h 1050676"/>
                <a:gd name="connsiteX0" fmla="*/ 78172 w 1612560"/>
                <a:gd name="connsiteY0" fmla="*/ 161371 h 1050676"/>
                <a:gd name="connsiteX1" fmla="*/ 218022 w 1612560"/>
                <a:gd name="connsiteY1" fmla="*/ 21522 h 1050676"/>
                <a:gd name="connsiteX2" fmla="*/ 529993 w 1612560"/>
                <a:gd name="connsiteY2" fmla="*/ 161371 h 1050676"/>
                <a:gd name="connsiteX3" fmla="*/ 752318 w 1612560"/>
                <a:gd name="connsiteY3" fmla="*/ 77103 h 1050676"/>
                <a:gd name="connsiteX4" fmla="*/ 949542 w 1612560"/>
                <a:gd name="connsiteY4" fmla="*/ 139856 h 1050676"/>
                <a:gd name="connsiteX5" fmla="*/ 1229240 w 1612560"/>
                <a:gd name="connsiteY5" fmla="*/ 6 h 1050676"/>
                <a:gd name="connsiteX6" fmla="*/ 1605758 w 1612560"/>
                <a:gd name="connsiteY6" fmla="*/ 145593 h 1050676"/>
                <a:gd name="connsiteX7" fmla="*/ 1466984 w 1612560"/>
                <a:gd name="connsiteY7" fmla="*/ 201174 h 1050676"/>
                <a:gd name="connsiteX8" fmla="*/ 1405307 w 1612560"/>
                <a:gd name="connsiteY8" fmla="*/ 297635 h 1050676"/>
                <a:gd name="connsiteX9" fmla="*/ 1326079 w 1612560"/>
                <a:gd name="connsiteY9" fmla="*/ 159546 h 1050676"/>
                <a:gd name="connsiteX10" fmla="*/ 1218483 w 1612560"/>
                <a:gd name="connsiteY10" fmla="*/ 161371 h 1050676"/>
                <a:gd name="connsiteX11" fmla="*/ 1089391 w 1612560"/>
                <a:gd name="connsiteY11" fmla="*/ 236675 h 1050676"/>
                <a:gd name="connsiteX12" fmla="*/ 1003330 w 1612560"/>
                <a:gd name="connsiteY12" fmla="*/ 441070 h 1050676"/>
                <a:gd name="connsiteX13" fmla="*/ 895753 w 1612560"/>
                <a:gd name="connsiteY13" fmla="*/ 677738 h 1050676"/>
                <a:gd name="connsiteX14" fmla="*/ 852723 w 1612560"/>
                <a:gd name="connsiteY14" fmla="*/ 871376 h 1050676"/>
                <a:gd name="connsiteX15" fmla="*/ 831207 w 1612560"/>
                <a:gd name="connsiteY15" fmla="*/ 1011225 h 1050676"/>
                <a:gd name="connsiteX16" fmla="*/ 648327 w 1612560"/>
                <a:gd name="connsiteY16" fmla="*/ 1032741 h 1050676"/>
                <a:gd name="connsiteX17" fmla="*/ 648327 w 1612560"/>
                <a:gd name="connsiteY17" fmla="*/ 774557 h 1050676"/>
                <a:gd name="connsiteX18" fmla="*/ 519236 w 1612560"/>
                <a:gd name="connsiteY18" fmla="*/ 430312 h 1050676"/>
                <a:gd name="connsiteX19" fmla="*/ 411659 w 1612560"/>
                <a:gd name="connsiteY19" fmla="*/ 258190 h 1050676"/>
                <a:gd name="connsiteX20" fmla="*/ 228779 w 1612560"/>
                <a:gd name="connsiteY20" fmla="*/ 150613 h 1050676"/>
                <a:gd name="connsiteX21" fmla="*/ 153476 w 1612560"/>
                <a:gd name="connsiteY21" fmla="*/ 355009 h 1050676"/>
                <a:gd name="connsiteX22" fmla="*/ 2869 w 1612560"/>
                <a:gd name="connsiteY22" fmla="*/ 258190 h 1050676"/>
                <a:gd name="connsiteX23" fmla="*/ 78172 w 1612560"/>
                <a:gd name="connsiteY23" fmla="*/ 161371 h 1050676"/>
                <a:gd name="connsiteX0" fmla="*/ 78172 w 1612560"/>
                <a:gd name="connsiteY0" fmla="*/ 161371 h 1050676"/>
                <a:gd name="connsiteX1" fmla="*/ 218022 w 1612560"/>
                <a:gd name="connsiteY1" fmla="*/ 21522 h 1050676"/>
                <a:gd name="connsiteX2" fmla="*/ 529993 w 1612560"/>
                <a:gd name="connsiteY2" fmla="*/ 161371 h 1050676"/>
                <a:gd name="connsiteX3" fmla="*/ 752318 w 1612560"/>
                <a:gd name="connsiteY3" fmla="*/ 77103 h 1050676"/>
                <a:gd name="connsiteX4" fmla="*/ 949542 w 1612560"/>
                <a:gd name="connsiteY4" fmla="*/ 139856 h 1050676"/>
                <a:gd name="connsiteX5" fmla="*/ 1229240 w 1612560"/>
                <a:gd name="connsiteY5" fmla="*/ 6 h 1050676"/>
                <a:gd name="connsiteX6" fmla="*/ 1605758 w 1612560"/>
                <a:gd name="connsiteY6" fmla="*/ 145593 h 1050676"/>
                <a:gd name="connsiteX7" fmla="*/ 1466984 w 1612560"/>
                <a:gd name="connsiteY7" fmla="*/ 201174 h 1050676"/>
                <a:gd name="connsiteX8" fmla="*/ 1405307 w 1612560"/>
                <a:gd name="connsiteY8" fmla="*/ 297635 h 1050676"/>
                <a:gd name="connsiteX9" fmla="*/ 1326079 w 1612560"/>
                <a:gd name="connsiteY9" fmla="*/ 159546 h 1050676"/>
                <a:gd name="connsiteX10" fmla="*/ 1188003 w 1612560"/>
                <a:gd name="connsiteY10" fmla="*/ 124795 h 1050676"/>
                <a:gd name="connsiteX11" fmla="*/ 1089391 w 1612560"/>
                <a:gd name="connsiteY11" fmla="*/ 236675 h 1050676"/>
                <a:gd name="connsiteX12" fmla="*/ 1003330 w 1612560"/>
                <a:gd name="connsiteY12" fmla="*/ 441070 h 1050676"/>
                <a:gd name="connsiteX13" fmla="*/ 895753 w 1612560"/>
                <a:gd name="connsiteY13" fmla="*/ 677738 h 1050676"/>
                <a:gd name="connsiteX14" fmla="*/ 852723 w 1612560"/>
                <a:gd name="connsiteY14" fmla="*/ 871376 h 1050676"/>
                <a:gd name="connsiteX15" fmla="*/ 831207 w 1612560"/>
                <a:gd name="connsiteY15" fmla="*/ 1011225 h 1050676"/>
                <a:gd name="connsiteX16" fmla="*/ 648327 w 1612560"/>
                <a:gd name="connsiteY16" fmla="*/ 1032741 h 1050676"/>
                <a:gd name="connsiteX17" fmla="*/ 648327 w 1612560"/>
                <a:gd name="connsiteY17" fmla="*/ 774557 h 1050676"/>
                <a:gd name="connsiteX18" fmla="*/ 519236 w 1612560"/>
                <a:gd name="connsiteY18" fmla="*/ 430312 h 1050676"/>
                <a:gd name="connsiteX19" fmla="*/ 411659 w 1612560"/>
                <a:gd name="connsiteY19" fmla="*/ 258190 h 1050676"/>
                <a:gd name="connsiteX20" fmla="*/ 228779 w 1612560"/>
                <a:gd name="connsiteY20" fmla="*/ 150613 h 1050676"/>
                <a:gd name="connsiteX21" fmla="*/ 153476 w 1612560"/>
                <a:gd name="connsiteY21" fmla="*/ 355009 h 1050676"/>
                <a:gd name="connsiteX22" fmla="*/ 2869 w 1612560"/>
                <a:gd name="connsiteY22" fmla="*/ 258190 h 1050676"/>
                <a:gd name="connsiteX23" fmla="*/ 78172 w 1612560"/>
                <a:gd name="connsiteY23" fmla="*/ 161371 h 1050676"/>
                <a:gd name="connsiteX0" fmla="*/ 78172 w 1612560"/>
                <a:gd name="connsiteY0" fmla="*/ 161371 h 1050676"/>
                <a:gd name="connsiteX1" fmla="*/ 218022 w 1612560"/>
                <a:gd name="connsiteY1" fmla="*/ 21522 h 1050676"/>
                <a:gd name="connsiteX2" fmla="*/ 529993 w 1612560"/>
                <a:gd name="connsiteY2" fmla="*/ 161371 h 1050676"/>
                <a:gd name="connsiteX3" fmla="*/ 752318 w 1612560"/>
                <a:gd name="connsiteY3" fmla="*/ 77103 h 1050676"/>
                <a:gd name="connsiteX4" fmla="*/ 949542 w 1612560"/>
                <a:gd name="connsiteY4" fmla="*/ 139856 h 1050676"/>
                <a:gd name="connsiteX5" fmla="*/ 1229240 w 1612560"/>
                <a:gd name="connsiteY5" fmla="*/ 6 h 1050676"/>
                <a:gd name="connsiteX6" fmla="*/ 1605758 w 1612560"/>
                <a:gd name="connsiteY6" fmla="*/ 145593 h 1050676"/>
                <a:gd name="connsiteX7" fmla="*/ 1466984 w 1612560"/>
                <a:gd name="connsiteY7" fmla="*/ 201174 h 1050676"/>
                <a:gd name="connsiteX8" fmla="*/ 1405307 w 1612560"/>
                <a:gd name="connsiteY8" fmla="*/ 297635 h 1050676"/>
                <a:gd name="connsiteX9" fmla="*/ 1338271 w 1612560"/>
                <a:gd name="connsiteY9" fmla="*/ 98586 h 1050676"/>
                <a:gd name="connsiteX10" fmla="*/ 1188003 w 1612560"/>
                <a:gd name="connsiteY10" fmla="*/ 124795 h 1050676"/>
                <a:gd name="connsiteX11" fmla="*/ 1089391 w 1612560"/>
                <a:gd name="connsiteY11" fmla="*/ 236675 h 1050676"/>
                <a:gd name="connsiteX12" fmla="*/ 1003330 w 1612560"/>
                <a:gd name="connsiteY12" fmla="*/ 441070 h 1050676"/>
                <a:gd name="connsiteX13" fmla="*/ 895753 w 1612560"/>
                <a:gd name="connsiteY13" fmla="*/ 677738 h 1050676"/>
                <a:gd name="connsiteX14" fmla="*/ 852723 w 1612560"/>
                <a:gd name="connsiteY14" fmla="*/ 871376 h 1050676"/>
                <a:gd name="connsiteX15" fmla="*/ 831207 w 1612560"/>
                <a:gd name="connsiteY15" fmla="*/ 1011225 h 1050676"/>
                <a:gd name="connsiteX16" fmla="*/ 648327 w 1612560"/>
                <a:gd name="connsiteY16" fmla="*/ 1032741 h 1050676"/>
                <a:gd name="connsiteX17" fmla="*/ 648327 w 1612560"/>
                <a:gd name="connsiteY17" fmla="*/ 774557 h 1050676"/>
                <a:gd name="connsiteX18" fmla="*/ 519236 w 1612560"/>
                <a:gd name="connsiteY18" fmla="*/ 430312 h 1050676"/>
                <a:gd name="connsiteX19" fmla="*/ 411659 w 1612560"/>
                <a:gd name="connsiteY19" fmla="*/ 258190 h 1050676"/>
                <a:gd name="connsiteX20" fmla="*/ 228779 w 1612560"/>
                <a:gd name="connsiteY20" fmla="*/ 150613 h 1050676"/>
                <a:gd name="connsiteX21" fmla="*/ 153476 w 1612560"/>
                <a:gd name="connsiteY21" fmla="*/ 355009 h 1050676"/>
                <a:gd name="connsiteX22" fmla="*/ 2869 w 1612560"/>
                <a:gd name="connsiteY22" fmla="*/ 258190 h 1050676"/>
                <a:gd name="connsiteX23" fmla="*/ 78172 w 1612560"/>
                <a:gd name="connsiteY23" fmla="*/ 161371 h 1050676"/>
                <a:gd name="connsiteX0" fmla="*/ 78172 w 1612560"/>
                <a:gd name="connsiteY0" fmla="*/ 161371 h 1050676"/>
                <a:gd name="connsiteX1" fmla="*/ 218022 w 1612560"/>
                <a:gd name="connsiteY1" fmla="*/ 21522 h 1050676"/>
                <a:gd name="connsiteX2" fmla="*/ 529993 w 1612560"/>
                <a:gd name="connsiteY2" fmla="*/ 161371 h 1050676"/>
                <a:gd name="connsiteX3" fmla="*/ 752318 w 1612560"/>
                <a:gd name="connsiteY3" fmla="*/ 77103 h 1050676"/>
                <a:gd name="connsiteX4" fmla="*/ 949542 w 1612560"/>
                <a:gd name="connsiteY4" fmla="*/ 139856 h 1050676"/>
                <a:gd name="connsiteX5" fmla="*/ 1229240 w 1612560"/>
                <a:gd name="connsiteY5" fmla="*/ 6 h 1050676"/>
                <a:gd name="connsiteX6" fmla="*/ 1605758 w 1612560"/>
                <a:gd name="connsiteY6" fmla="*/ 145593 h 1050676"/>
                <a:gd name="connsiteX7" fmla="*/ 1466984 w 1612560"/>
                <a:gd name="connsiteY7" fmla="*/ 201174 h 1050676"/>
                <a:gd name="connsiteX8" fmla="*/ 1405307 w 1612560"/>
                <a:gd name="connsiteY8" fmla="*/ 297635 h 1050676"/>
                <a:gd name="connsiteX9" fmla="*/ 1338271 w 1612560"/>
                <a:gd name="connsiteY9" fmla="*/ 98586 h 1050676"/>
                <a:gd name="connsiteX10" fmla="*/ 1163619 w 1612560"/>
                <a:gd name="connsiteY10" fmla="*/ 124795 h 1050676"/>
                <a:gd name="connsiteX11" fmla="*/ 1089391 w 1612560"/>
                <a:gd name="connsiteY11" fmla="*/ 236675 h 1050676"/>
                <a:gd name="connsiteX12" fmla="*/ 1003330 w 1612560"/>
                <a:gd name="connsiteY12" fmla="*/ 441070 h 1050676"/>
                <a:gd name="connsiteX13" fmla="*/ 895753 w 1612560"/>
                <a:gd name="connsiteY13" fmla="*/ 677738 h 1050676"/>
                <a:gd name="connsiteX14" fmla="*/ 852723 w 1612560"/>
                <a:gd name="connsiteY14" fmla="*/ 871376 h 1050676"/>
                <a:gd name="connsiteX15" fmla="*/ 831207 w 1612560"/>
                <a:gd name="connsiteY15" fmla="*/ 1011225 h 1050676"/>
                <a:gd name="connsiteX16" fmla="*/ 648327 w 1612560"/>
                <a:gd name="connsiteY16" fmla="*/ 1032741 h 1050676"/>
                <a:gd name="connsiteX17" fmla="*/ 648327 w 1612560"/>
                <a:gd name="connsiteY17" fmla="*/ 774557 h 1050676"/>
                <a:gd name="connsiteX18" fmla="*/ 519236 w 1612560"/>
                <a:gd name="connsiteY18" fmla="*/ 430312 h 1050676"/>
                <a:gd name="connsiteX19" fmla="*/ 411659 w 1612560"/>
                <a:gd name="connsiteY19" fmla="*/ 258190 h 1050676"/>
                <a:gd name="connsiteX20" fmla="*/ 228779 w 1612560"/>
                <a:gd name="connsiteY20" fmla="*/ 150613 h 1050676"/>
                <a:gd name="connsiteX21" fmla="*/ 153476 w 1612560"/>
                <a:gd name="connsiteY21" fmla="*/ 355009 h 1050676"/>
                <a:gd name="connsiteX22" fmla="*/ 2869 w 1612560"/>
                <a:gd name="connsiteY22" fmla="*/ 258190 h 1050676"/>
                <a:gd name="connsiteX23" fmla="*/ 78172 w 1612560"/>
                <a:gd name="connsiteY23" fmla="*/ 161371 h 1050676"/>
                <a:gd name="connsiteX0" fmla="*/ 78172 w 1612560"/>
                <a:gd name="connsiteY0" fmla="*/ 161371 h 1050676"/>
                <a:gd name="connsiteX1" fmla="*/ 218022 w 1612560"/>
                <a:gd name="connsiteY1" fmla="*/ 21522 h 1050676"/>
                <a:gd name="connsiteX2" fmla="*/ 529993 w 1612560"/>
                <a:gd name="connsiteY2" fmla="*/ 161371 h 1050676"/>
                <a:gd name="connsiteX3" fmla="*/ 752318 w 1612560"/>
                <a:gd name="connsiteY3" fmla="*/ 77103 h 1050676"/>
                <a:gd name="connsiteX4" fmla="*/ 949542 w 1612560"/>
                <a:gd name="connsiteY4" fmla="*/ 139856 h 1050676"/>
                <a:gd name="connsiteX5" fmla="*/ 1229240 w 1612560"/>
                <a:gd name="connsiteY5" fmla="*/ 6 h 1050676"/>
                <a:gd name="connsiteX6" fmla="*/ 1605758 w 1612560"/>
                <a:gd name="connsiteY6" fmla="*/ 145593 h 1050676"/>
                <a:gd name="connsiteX7" fmla="*/ 1466984 w 1612560"/>
                <a:gd name="connsiteY7" fmla="*/ 201174 h 1050676"/>
                <a:gd name="connsiteX8" fmla="*/ 1405307 w 1612560"/>
                <a:gd name="connsiteY8" fmla="*/ 297635 h 1050676"/>
                <a:gd name="connsiteX9" fmla="*/ 1338271 w 1612560"/>
                <a:gd name="connsiteY9" fmla="*/ 98586 h 1050676"/>
                <a:gd name="connsiteX10" fmla="*/ 1163619 w 1612560"/>
                <a:gd name="connsiteY10" fmla="*/ 124795 h 1050676"/>
                <a:gd name="connsiteX11" fmla="*/ 1052815 w 1612560"/>
                <a:gd name="connsiteY11" fmla="*/ 206195 h 1050676"/>
                <a:gd name="connsiteX12" fmla="*/ 1003330 w 1612560"/>
                <a:gd name="connsiteY12" fmla="*/ 441070 h 1050676"/>
                <a:gd name="connsiteX13" fmla="*/ 895753 w 1612560"/>
                <a:gd name="connsiteY13" fmla="*/ 677738 h 1050676"/>
                <a:gd name="connsiteX14" fmla="*/ 852723 w 1612560"/>
                <a:gd name="connsiteY14" fmla="*/ 871376 h 1050676"/>
                <a:gd name="connsiteX15" fmla="*/ 831207 w 1612560"/>
                <a:gd name="connsiteY15" fmla="*/ 1011225 h 1050676"/>
                <a:gd name="connsiteX16" fmla="*/ 648327 w 1612560"/>
                <a:gd name="connsiteY16" fmla="*/ 1032741 h 1050676"/>
                <a:gd name="connsiteX17" fmla="*/ 648327 w 1612560"/>
                <a:gd name="connsiteY17" fmla="*/ 774557 h 1050676"/>
                <a:gd name="connsiteX18" fmla="*/ 519236 w 1612560"/>
                <a:gd name="connsiteY18" fmla="*/ 430312 h 1050676"/>
                <a:gd name="connsiteX19" fmla="*/ 411659 w 1612560"/>
                <a:gd name="connsiteY19" fmla="*/ 258190 h 1050676"/>
                <a:gd name="connsiteX20" fmla="*/ 228779 w 1612560"/>
                <a:gd name="connsiteY20" fmla="*/ 150613 h 1050676"/>
                <a:gd name="connsiteX21" fmla="*/ 153476 w 1612560"/>
                <a:gd name="connsiteY21" fmla="*/ 355009 h 1050676"/>
                <a:gd name="connsiteX22" fmla="*/ 2869 w 1612560"/>
                <a:gd name="connsiteY22" fmla="*/ 258190 h 1050676"/>
                <a:gd name="connsiteX23" fmla="*/ 78172 w 1612560"/>
                <a:gd name="connsiteY23" fmla="*/ 161371 h 1050676"/>
                <a:gd name="connsiteX0" fmla="*/ 78172 w 1612560"/>
                <a:gd name="connsiteY0" fmla="*/ 161371 h 1056545"/>
                <a:gd name="connsiteX1" fmla="*/ 218022 w 1612560"/>
                <a:gd name="connsiteY1" fmla="*/ 21522 h 1056545"/>
                <a:gd name="connsiteX2" fmla="*/ 529993 w 1612560"/>
                <a:gd name="connsiteY2" fmla="*/ 161371 h 1056545"/>
                <a:gd name="connsiteX3" fmla="*/ 752318 w 1612560"/>
                <a:gd name="connsiteY3" fmla="*/ 77103 h 1056545"/>
                <a:gd name="connsiteX4" fmla="*/ 949542 w 1612560"/>
                <a:gd name="connsiteY4" fmla="*/ 139856 h 1056545"/>
                <a:gd name="connsiteX5" fmla="*/ 1229240 w 1612560"/>
                <a:gd name="connsiteY5" fmla="*/ 6 h 1056545"/>
                <a:gd name="connsiteX6" fmla="*/ 1605758 w 1612560"/>
                <a:gd name="connsiteY6" fmla="*/ 145593 h 1056545"/>
                <a:gd name="connsiteX7" fmla="*/ 1466984 w 1612560"/>
                <a:gd name="connsiteY7" fmla="*/ 201174 h 1056545"/>
                <a:gd name="connsiteX8" fmla="*/ 1405307 w 1612560"/>
                <a:gd name="connsiteY8" fmla="*/ 297635 h 1056545"/>
                <a:gd name="connsiteX9" fmla="*/ 1338271 w 1612560"/>
                <a:gd name="connsiteY9" fmla="*/ 98586 h 1056545"/>
                <a:gd name="connsiteX10" fmla="*/ 1163619 w 1612560"/>
                <a:gd name="connsiteY10" fmla="*/ 124795 h 1056545"/>
                <a:gd name="connsiteX11" fmla="*/ 1052815 w 1612560"/>
                <a:gd name="connsiteY11" fmla="*/ 206195 h 1056545"/>
                <a:gd name="connsiteX12" fmla="*/ 1003330 w 1612560"/>
                <a:gd name="connsiteY12" fmla="*/ 441070 h 1056545"/>
                <a:gd name="connsiteX13" fmla="*/ 895753 w 1612560"/>
                <a:gd name="connsiteY13" fmla="*/ 677738 h 1056545"/>
                <a:gd name="connsiteX14" fmla="*/ 852723 w 1612560"/>
                <a:gd name="connsiteY14" fmla="*/ 871376 h 1056545"/>
                <a:gd name="connsiteX15" fmla="*/ 831207 w 1612560"/>
                <a:gd name="connsiteY15" fmla="*/ 1011225 h 1056545"/>
                <a:gd name="connsiteX16" fmla="*/ 648327 w 1612560"/>
                <a:gd name="connsiteY16" fmla="*/ 1032741 h 1056545"/>
                <a:gd name="connsiteX17" fmla="*/ 648327 w 1612560"/>
                <a:gd name="connsiteY17" fmla="*/ 695309 h 1056545"/>
                <a:gd name="connsiteX18" fmla="*/ 519236 w 1612560"/>
                <a:gd name="connsiteY18" fmla="*/ 430312 h 1056545"/>
                <a:gd name="connsiteX19" fmla="*/ 411659 w 1612560"/>
                <a:gd name="connsiteY19" fmla="*/ 258190 h 1056545"/>
                <a:gd name="connsiteX20" fmla="*/ 228779 w 1612560"/>
                <a:gd name="connsiteY20" fmla="*/ 150613 h 1056545"/>
                <a:gd name="connsiteX21" fmla="*/ 153476 w 1612560"/>
                <a:gd name="connsiteY21" fmla="*/ 355009 h 1056545"/>
                <a:gd name="connsiteX22" fmla="*/ 2869 w 1612560"/>
                <a:gd name="connsiteY22" fmla="*/ 258190 h 1056545"/>
                <a:gd name="connsiteX23" fmla="*/ 78172 w 1612560"/>
                <a:gd name="connsiteY23" fmla="*/ 161371 h 1056545"/>
                <a:gd name="connsiteX0" fmla="*/ 78172 w 1612560"/>
                <a:gd name="connsiteY0" fmla="*/ 161371 h 1056545"/>
                <a:gd name="connsiteX1" fmla="*/ 218022 w 1612560"/>
                <a:gd name="connsiteY1" fmla="*/ 21522 h 1056545"/>
                <a:gd name="connsiteX2" fmla="*/ 529993 w 1612560"/>
                <a:gd name="connsiteY2" fmla="*/ 161371 h 1056545"/>
                <a:gd name="connsiteX3" fmla="*/ 752318 w 1612560"/>
                <a:gd name="connsiteY3" fmla="*/ 77103 h 1056545"/>
                <a:gd name="connsiteX4" fmla="*/ 949542 w 1612560"/>
                <a:gd name="connsiteY4" fmla="*/ 139856 h 1056545"/>
                <a:gd name="connsiteX5" fmla="*/ 1229240 w 1612560"/>
                <a:gd name="connsiteY5" fmla="*/ 6 h 1056545"/>
                <a:gd name="connsiteX6" fmla="*/ 1605758 w 1612560"/>
                <a:gd name="connsiteY6" fmla="*/ 145593 h 1056545"/>
                <a:gd name="connsiteX7" fmla="*/ 1466984 w 1612560"/>
                <a:gd name="connsiteY7" fmla="*/ 201174 h 1056545"/>
                <a:gd name="connsiteX8" fmla="*/ 1405307 w 1612560"/>
                <a:gd name="connsiteY8" fmla="*/ 297635 h 1056545"/>
                <a:gd name="connsiteX9" fmla="*/ 1338271 w 1612560"/>
                <a:gd name="connsiteY9" fmla="*/ 98586 h 1056545"/>
                <a:gd name="connsiteX10" fmla="*/ 1163619 w 1612560"/>
                <a:gd name="connsiteY10" fmla="*/ 124795 h 1056545"/>
                <a:gd name="connsiteX11" fmla="*/ 1052815 w 1612560"/>
                <a:gd name="connsiteY11" fmla="*/ 206195 h 1056545"/>
                <a:gd name="connsiteX12" fmla="*/ 1003330 w 1612560"/>
                <a:gd name="connsiteY12" fmla="*/ 441070 h 1056545"/>
                <a:gd name="connsiteX13" fmla="*/ 895753 w 1612560"/>
                <a:gd name="connsiteY13" fmla="*/ 677738 h 1056545"/>
                <a:gd name="connsiteX14" fmla="*/ 852723 w 1612560"/>
                <a:gd name="connsiteY14" fmla="*/ 871376 h 1056545"/>
                <a:gd name="connsiteX15" fmla="*/ 831207 w 1612560"/>
                <a:gd name="connsiteY15" fmla="*/ 1011225 h 1056545"/>
                <a:gd name="connsiteX16" fmla="*/ 648327 w 1612560"/>
                <a:gd name="connsiteY16" fmla="*/ 1032741 h 1056545"/>
                <a:gd name="connsiteX17" fmla="*/ 648327 w 1612560"/>
                <a:gd name="connsiteY17" fmla="*/ 695309 h 1056545"/>
                <a:gd name="connsiteX18" fmla="*/ 519236 w 1612560"/>
                <a:gd name="connsiteY18" fmla="*/ 430312 h 1056545"/>
                <a:gd name="connsiteX19" fmla="*/ 411659 w 1612560"/>
                <a:gd name="connsiteY19" fmla="*/ 258190 h 1056545"/>
                <a:gd name="connsiteX20" fmla="*/ 228779 w 1612560"/>
                <a:gd name="connsiteY20" fmla="*/ 150613 h 1056545"/>
                <a:gd name="connsiteX21" fmla="*/ 153476 w 1612560"/>
                <a:gd name="connsiteY21" fmla="*/ 355009 h 1056545"/>
                <a:gd name="connsiteX22" fmla="*/ 2869 w 1612560"/>
                <a:gd name="connsiteY22" fmla="*/ 258190 h 1056545"/>
                <a:gd name="connsiteX23" fmla="*/ 78172 w 1612560"/>
                <a:gd name="connsiteY23" fmla="*/ 161371 h 1056545"/>
                <a:gd name="connsiteX0" fmla="*/ 78172 w 1612560"/>
                <a:gd name="connsiteY0" fmla="*/ 161371 h 1016764"/>
                <a:gd name="connsiteX1" fmla="*/ 218022 w 1612560"/>
                <a:gd name="connsiteY1" fmla="*/ 21522 h 1016764"/>
                <a:gd name="connsiteX2" fmla="*/ 529993 w 1612560"/>
                <a:gd name="connsiteY2" fmla="*/ 161371 h 1016764"/>
                <a:gd name="connsiteX3" fmla="*/ 752318 w 1612560"/>
                <a:gd name="connsiteY3" fmla="*/ 77103 h 1016764"/>
                <a:gd name="connsiteX4" fmla="*/ 949542 w 1612560"/>
                <a:gd name="connsiteY4" fmla="*/ 139856 h 1016764"/>
                <a:gd name="connsiteX5" fmla="*/ 1229240 w 1612560"/>
                <a:gd name="connsiteY5" fmla="*/ 6 h 1016764"/>
                <a:gd name="connsiteX6" fmla="*/ 1605758 w 1612560"/>
                <a:gd name="connsiteY6" fmla="*/ 145593 h 1016764"/>
                <a:gd name="connsiteX7" fmla="*/ 1466984 w 1612560"/>
                <a:gd name="connsiteY7" fmla="*/ 201174 h 1016764"/>
                <a:gd name="connsiteX8" fmla="*/ 1405307 w 1612560"/>
                <a:gd name="connsiteY8" fmla="*/ 297635 h 1016764"/>
                <a:gd name="connsiteX9" fmla="*/ 1338271 w 1612560"/>
                <a:gd name="connsiteY9" fmla="*/ 98586 h 1016764"/>
                <a:gd name="connsiteX10" fmla="*/ 1163619 w 1612560"/>
                <a:gd name="connsiteY10" fmla="*/ 124795 h 1016764"/>
                <a:gd name="connsiteX11" fmla="*/ 1052815 w 1612560"/>
                <a:gd name="connsiteY11" fmla="*/ 206195 h 1016764"/>
                <a:gd name="connsiteX12" fmla="*/ 1003330 w 1612560"/>
                <a:gd name="connsiteY12" fmla="*/ 441070 h 1016764"/>
                <a:gd name="connsiteX13" fmla="*/ 895753 w 1612560"/>
                <a:gd name="connsiteY13" fmla="*/ 677738 h 1016764"/>
                <a:gd name="connsiteX14" fmla="*/ 852723 w 1612560"/>
                <a:gd name="connsiteY14" fmla="*/ 871376 h 1016764"/>
                <a:gd name="connsiteX15" fmla="*/ 831207 w 1612560"/>
                <a:gd name="connsiteY15" fmla="*/ 1011225 h 1016764"/>
                <a:gd name="connsiteX16" fmla="*/ 709287 w 1612560"/>
                <a:gd name="connsiteY16" fmla="*/ 959589 h 1016764"/>
                <a:gd name="connsiteX17" fmla="*/ 648327 w 1612560"/>
                <a:gd name="connsiteY17" fmla="*/ 695309 h 1016764"/>
                <a:gd name="connsiteX18" fmla="*/ 519236 w 1612560"/>
                <a:gd name="connsiteY18" fmla="*/ 430312 h 1016764"/>
                <a:gd name="connsiteX19" fmla="*/ 411659 w 1612560"/>
                <a:gd name="connsiteY19" fmla="*/ 258190 h 1016764"/>
                <a:gd name="connsiteX20" fmla="*/ 228779 w 1612560"/>
                <a:gd name="connsiteY20" fmla="*/ 150613 h 1016764"/>
                <a:gd name="connsiteX21" fmla="*/ 153476 w 1612560"/>
                <a:gd name="connsiteY21" fmla="*/ 355009 h 1016764"/>
                <a:gd name="connsiteX22" fmla="*/ 2869 w 1612560"/>
                <a:gd name="connsiteY22" fmla="*/ 258190 h 1016764"/>
                <a:gd name="connsiteX23" fmla="*/ 78172 w 1612560"/>
                <a:gd name="connsiteY23" fmla="*/ 161371 h 1016764"/>
                <a:gd name="connsiteX0" fmla="*/ 78172 w 1612560"/>
                <a:gd name="connsiteY0" fmla="*/ 161371 h 1001932"/>
                <a:gd name="connsiteX1" fmla="*/ 218022 w 1612560"/>
                <a:gd name="connsiteY1" fmla="*/ 21522 h 1001932"/>
                <a:gd name="connsiteX2" fmla="*/ 529993 w 1612560"/>
                <a:gd name="connsiteY2" fmla="*/ 161371 h 1001932"/>
                <a:gd name="connsiteX3" fmla="*/ 752318 w 1612560"/>
                <a:gd name="connsiteY3" fmla="*/ 77103 h 1001932"/>
                <a:gd name="connsiteX4" fmla="*/ 949542 w 1612560"/>
                <a:gd name="connsiteY4" fmla="*/ 139856 h 1001932"/>
                <a:gd name="connsiteX5" fmla="*/ 1229240 w 1612560"/>
                <a:gd name="connsiteY5" fmla="*/ 6 h 1001932"/>
                <a:gd name="connsiteX6" fmla="*/ 1605758 w 1612560"/>
                <a:gd name="connsiteY6" fmla="*/ 145593 h 1001932"/>
                <a:gd name="connsiteX7" fmla="*/ 1466984 w 1612560"/>
                <a:gd name="connsiteY7" fmla="*/ 201174 h 1001932"/>
                <a:gd name="connsiteX8" fmla="*/ 1405307 w 1612560"/>
                <a:gd name="connsiteY8" fmla="*/ 297635 h 1001932"/>
                <a:gd name="connsiteX9" fmla="*/ 1338271 w 1612560"/>
                <a:gd name="connsiteY9" fmla="*/ 98586 h 1001932"/>
                <a:gd name="connsiteX10" fmla="*/ 1163619 w 1612560"/>
                <a:gd name="connsiteY10" fmla="*/ 124795 h 1001932"/>
                <a:gd name="connsiteX11" fmla="*/ 1052815 w 1612560"/>
                <a:gd name="connsiteY11" fmla="*/ 206195 h 1001932"/>
                <a:gd name="connsiteX12" fmla="*/ 1003330 w 1612560"/>
                <a:gd name="connsiteY12" fmla="*/ 441070 h 1001932"/>
                <a:gd name="connsiteX13" fmla="*/ 895753 w 1612560"/>
                <a:gd name="connsiteY13" fmla="*/ 677738 h 1001932"/>
                <a:gd name="connsiteX14" fmla="*/ 852723 w 1612560"/>
                <a:gd name="connsiteY14" fmla="*/ 871376 h 1001932"/>
                <a:gd name="connsiteX15" fmla="*/ 831207 w 1612560"/>
                <a:gd name="connsiteY15" fmla="*/ 992937 h 1001932"/>
                <a:gd name="connsiteX16" fmla="*/ 709287 w 1612560"/>
                <a:gd name="connsiteY16" fmla="*/ 959589 h 1001932"/>
                <a:gd name="connsiteX17" fmla="*/ 648327 w 1612560"/>
                <a:gd name="connsiteY17" fmla="*/ 695309 h 1001932"/>
                <a:gd name="connsiteX18" fmla="*/ 519236 w 1612560"/>
                <a:gd name="connsiteY18" fmla="*/ 430312 h 1001932"/>
                <a:gd name="connsiteX19" fmla="*/ 411659 w 1612560"/>
                <a:gd name="connsiteY19" fmla="*/ 258190 h 1001932"/>
                <a:gd name="connsiteX20" fmla="*/ 228779 w 1612560"/>
                <a:gd name="connsiteY20" fmla="*/ 150613 h 1001932"/>
                <a:gd name="connsiteX21" fmla="*/ 153476 w 1612560"/>
                <a:gd name="connsiteY21" fmla="*/ 355009 h 1001932"/>
                <a:gd name="connsiteX22" fmla="*/ 2869 w 1612560"/>
                <a:gd name="connsiteY22" fmla="*/ 258190 h 1001932"/>
                <a:gd name="connsiteX23" fmla="*/ 78172 w 1612560"/>
                <a:gd name="connsiteY23" fmla="*/ 161371 h 1001932"/>
                <a:gd name="connsiteX0" fmla="*/ 78172 w 1612560"/>
                <a:gd name="connsiteY0" fmla="*/ 161371 h 975589"/>
                <a:gd name="connsiteX1" fmla="*/ 218022 w 1612560"/>
                <a:gd name="connsiteY1" fmla="*/ 21522 h 975589"/>
                <a:gd name="connsiteX2" fmla="*/ 529993 w 1612560"/>
                <a:gd name="connsiteY2" fmla="*/ 161371 h 975589"/>
                <a:gd name="connsiteX3" fmla="*/ 752318 w 1612560"/>
                <a:gd name="connsiteY3" fmla="*/ 77103 h 975589"/>
                <a:gd name="connsiteX4" fmla="*/ 949542 w 1612560"/>
                <a:gd name="connsiteY4" fmla="*/ 139856 h 975589"/>
                <a:gd name="connsiteX5" fmla="*/ 1229240 w 1612560"/>
                <a:gd name="connsiteY5" fmla="*/ 6 h 975589"/>
                <a:gd name="connsiteX6" fmla="*/ 1605758 w 1612560"/>
                <a:gd name="connsiteY6" fmla="*/ 145593 h 975589"/>
                <a:gd name="connsiteX7" fmla="*/ 1466984 w 1612560"/>
                <a:gd name="connsiteY7" fmla="*/ 201174 h 975589"/>
                <a:gd name="connsiteX8" fmla="*/ 1405307 w 1612560"/>
                <a:gd name="connsiteY8" fmla="*/ 297635 h 975589"/>
                <a:gd name="connsiteX9" fmla="*/ 1338271 w 1612560"/>
                <a:gd name="connsiteY9" fmla="*/ 98586 h 975589"/>
                <a:gd name="connsiteX10" fmla="*/ 1163619 w 1612560"/>
                <a:gd name="connsiteY10" fmla="*/ 124795 h 975589"/>
                <a:gd name="connsiteX11" fmla="*/ 1052815 w 1612560"/>
                <a:gd name="connsiteY11" fmla="*/ 206195 h 975589"/>
                <a:gd name="connsiteX12" fmla="*/ 1003330 w 1612560"/>
                <a:gd name="connsiteY12" fmla="*/ 441070 h 975589"/>
                <a:gd name="connsiteX13" fmla="*/ 895753 w 1612560"/>
                <a:gd name="connsiteY13" fmla="*/ 677738 h 975589"/>
                <a:gd name="connsiteX14" fmla="*/ 852723 w 1612560"/>
                <a:gd name="connsiteY14" fmla="*/ 871376 h 975589"/>
                <a:gd name="connsiteX15" fmla="*/ 812919 w 1612560"/>
                <a:gd name="connsiteY15" fmla="*/ 938073 h 975589"/>
                <a:gd name="connsiteX16" fmla="*/ 709287 w 1612560"/>
                <a:gd name="connsiteY16" fmla="*/ 959589 h 975589"/>
                <a:gd name="connsiteX17" fmla="*/ 648327 w 1612560"/>
                <a:gd name="connsiteY17" fmla="*/ 695309 h 975589"/>
                <a:gd name="connsiteX18" fmla="*/ 519236 w 1612560"/>
                <a:gd name="connsiteY18" fmla="*/ 430312 h 975589"/>
                <a:gd name="connsiteX19" fmla="*/ 411659 w 1612560"/>
                <a:gd name="connsiteY19" fmla="*/ 258190 h 975589"/>
                <a:gd name="connsiteX20" fmla="*/ 228779 w 1612560"/>
                <a:gd name="connsiteY20" fmla="*/ 150613 h 975589"/>
                <a:gd name="connsiteX21" fmla="*/ 153476 w 1612560"/>
                <a:gd name="connsiteY21" fmla="*/ 355009 h 975589"/>
                <a:gd name="connsiteX22" fmla="*/ 2869 w 1612560"/>
                <a:gd name="connsiteY22" fmla="*/ 258190 h 975589"/>
                <a:gd name="connsiteX23" fmla="*/ 78172 w 1612560"/>
                <a:gd name="connsiteY23" fmla="*/ 161371 h 975589"/>
                <a:gd name="connsiteX0" fmla="*/ 78172 w 1612560"/>
                <a:gd name="connsiteY0" fmla="*/ 161371 h 966508"/>
                <a:gd name="connsiteX1" fmla="*/ 218022 w 1612560"/>
                <a:gd name="connsiteY1" fmla="*/ 21522 h 966508"/>
                <a:gd name="connsiteX2" fmla="*/ 529993 w 1612560"/>
                <a:gd name="connsiteY2" fmla="*/ 161371 h 966508"/>
                <a:gd name="connsiteX3" fmla="*/ 752318 w 1612560"/>
                <a:gd name="connsiteY3" fmla="*/ 77103 h 966508"/>
                <a:gd name="connsiteX4" fmla="*/ 949542 w 1612560"/>
                <a:gd name="connsiteY4" fmla="*/ 139856 h 966508"/>
                <a:gd name="connsiteX5" fmla="*/ 1229240 w 1612560"/>
                <a:gd name="connsiteY5" fmla="*/ 6 h 966508"/>
                <a:gd name="connsiteX6" fmla="*/ 1605758 w 1612560"/>
                <a:gd name="connsiteY6" fmla="*/ 145593 h 966508"/>
                <a:gd name="connsiteX7" fmla="*/ 1466984 w 1612560"/>
                <a:gd name="connsiteY7" fmla="*/ 201174 h 966508"/>
                <a:gd name="connsiteX8" fmla="*/ 1405307 w 1612560"/>
                <a:gd name="connsiteY8" fmla="*/ 297635 h 966508"/>
                <a:gd name="connsiteX9" fmla="*/ 1338271 w 1612560"/>
                <a:gd name="connsiteY9" fmla="*/ 98586 h 966508"/>
                <a:gd name="connsiteX10" fmla="*/ 1163619 w 1612560"/>
                <a:gd name="connsiteY10" fmla="*/ 124795 h 966508"/>
                <a:gd name="connsiteX11" fmla="*/ 1052815 w 1612560"/>
                <a:gd name="connsiteY11" fmla="*/ 206195 h 966508"/>
                <a:gd name="connsiteX12" fmla="*/ 1003330 w 1612560"/>
                <a:gd name="connsiteY12" fmla="*/ 441070 h 966508"/>
                <a:gd name="connsiteX13" fmla="*/ 895753 w 1612560"/>
                <a:gd name="connsiteY13" fmla="*/ 677738 h 966508"/>
                <a:gd name="connsiteX14" fmla="*/ 852723 w 1612560"/>
                <a:gd name="connsiteY14" fmla="*/ 871376 h 966508"/>
                <a:gd name="connsiteX15" fmla="*/ 709287 w 1612560"/>
                <a:gd name="connsiteY15" fmla="*/ 959589 h 966508"/>
                <a:gd name="connsiteX16" fmla="*/ 648327 w 1612560"/>
                <a:gd name="connsiteY16" fmla="*/ 695309 h 966508"/>
                <a:gd name="connsiteX17" fmla="*/ 519236 w 1612560"/>
                <a:gd name="connsiteY17" fmla="*/ 430312 h 966508"/>
                <a:gd name="connsiteX18" fmla="*/ 411659 w 1612560"/>
                <a:gd name="connsiteY18" fmla="*/ 258190 h 966508"/>
                <a:gd name="connsiteX19" fmla="*/ 228779 w 1612560"/>
                <a:gd name="connsiteY19" fmla="*/ 150613 h 966508"/>
                <a:gd name="connsiteX20" fmla="*/ 153476 w 1612560"/>
                <a:gd name="connsiteY20" fmla="*/ 355009 h 966508"/>
                <a:gd name="connsiteX21" fmla="*/ 2869 w 1612560"/>
                <a:gd name="connsiteY21" fmla="*/ 258190 h 966508"/>
                <a:gd name="connsiteX22" fmla="*/ 78172 w 1612560"/>
                <a:gd name="connsiteY22" fmla="*/ 161371 h 966508"/>
                <a:gd name="connsiteX0" fmla="*/ 78172 w 1612560"/>
                <a:gd name="connsiteY0" fmla="*/ 161371 h 976507"/>
                <a:gd name="connsiteX1" fmla="*/ 218022 w 1612560"/>
                <a:gd name="connsiteY1" fmla="*/ 21522 h 976507"/>
                <a:gd name="connsiteX2" fmla="*/ 529993 w 1612560"/>
                <a:gd name="connsiteY2" fmla="*/ 161371 h 976507"/>
                <a:gd name="connsiteX3" fmla="*/ 752318 w 1612560"/>
                <a:gd name="connsiteY3" fmla="*/ 77103 h 976507"/>
                <a:gd name="connsiteX4" fmla="*/ 949542 w 1612560"/>
                <a:gd name="connsiteY4" fmla="*/ 139856 h 976507"/>
                <a:gd name="connsiteX5" fmla="*/ 1229240 w 1612560"/>
                <a:gd name="connsiteY5" fmla="*/ 6 h 976507"/>
                <a:gd name="connsiteX6" fmla="*/ 1605758 w 1612560"/>
                <a:gd name="connsiteY6" fmla="*/ 145593 h 976507"/>
                <a:gd name="connsiteX7" fmla="*/ 1466984 w 1612560"/>
                <a:gd name="connsiteY7" fmla="*/ 201174 h 976507"/>
                <a:gd name="connsiteX8" fmla="*/ 1405307 w 1612560"/>
                <a:gd name="connsiteY8" fmla="*/ 297635 h 976507"/>
                <a:gd name="connsiteX9" fmla="*/ 1338271 w 1612560"/>
                <a:gd name="connsiteY9" fmla="*/ 98586 h 976507"/>
                <a:gd name="connsiteX10" fmla="*/ 1163619 w 1612560"/>
                <a:gd name="connsiteY10" fmla="*/ 124795 h 976507"/>
                <a:gd name="connsiteX11" fmla="*/ 1052815 w 1612560"/>
                <a:gd name="connsiteY11" fmla="*/ 206195 h 976507"/>
                <a:gd name="connsiteX12" fmla="*/ 1003330 w 1612560"/>
                <a:gd name="connsiteY12" fmla="*/ 441070 h 976507"/>
                <a:gd name="connsiteX13" fmla="*/ 895753 w 1612560"/>
                <a:gd name="connsiteY13" fmla="*/ 677738 h 976507"/>
                <a:gd name="connsiteX14" fmla="*/ 864915 w 1612560"/>
                <a:gd name="connsiteY14" fmla="*/ 920144 h 976507"/>
                <a:gd name="connsiteX15" fmla="*/ 709287 w 1612560"/>
                <a:gd name="connsiteY15" fmla="*/ 959589 h 976507"/>
                <a:gd name="connsiteX16" fmla="*/ 648327 w 1612560"/>
                <a:gd name="connsiteY16" fmla="*/ 695309 h 976507"/>
                <a:gd name="connsiteX17" fmla="*/ 519236 w 1612560"/>
                <a:gd name="connsiteY17" fmla="*/ 430312 h 976507"/>
                <a:gd name="connsiteX18" fmla="*/ 411659 w 1612560"/>
                <a:gd name="connsiteY18" fmla="*/ 258190 h 976507"/>
                <a:gd name="connsiteX19" fmla="*/ 228779 w 1612560"/>
                <a:gd name="connsiteY19" fmla="*/ 150613 h 976507"/>
                <a:gd name="connsiteX20" fmla="*/ 153476 w 1612560"/>
                <a:gd name="connsiteY20" fmla="*/ 355009 h 976507"/>
                <a:gd name="connsiteX21" fmla="*/ 2869 w 1612560"/>
                <a:gd name="connsiteY21" fmla="*/ 258190 h 976507"/>
                <a:gd name="connsiteX22" fmla="*/ 78172 w 1612560"/>
                <a:gd name="connsiteY22" fmla="*/ 161371 h 976507"/>
                <a:gd name="connsiteX0" fmla="*/ 198379 w 1732767"/>
                <a:gd name="connsiteY0" fmla="*/ 161371 h 976507"/>
                <a:gd name="connsiteX1" fmla="*/ 338229 w 1732767"/>
                <a:gd name="connsiteY1" fmla="*/ 21522 h 976507"/>
                <a:gd name="connsiteX2" fmla="*/ 650200 w 1732767"/>
                <a:gd name="connsiteY2" fmla="*/ 161371 h 976507"/>
                <a:gd name="connsiteX3" fmla="*/ 872525 w 1732767"/>
                <a:gd name="connsiteY3" fmla="*/ 77103 h 976507"/>
                <a:gd name="connsiteX4" fmla="*/ 1069749 w 1732767"/>
                <a:gd name="connsiteY4" fmla="*/ 139856 h 976507"/>
                <a:gd name="connsiteX5" fmla="*/ 1349447 w 1732767"/>
                <a:gd name="connsiteY5" fmla="*/ 6 h 976507"/>
                <a:gd name="connsiteX6" fmla="*/ 1725965 w 1732767"/>
                <a:gd name="connsiteY6" fmla="*/ 145593 h 976507"/>
                <a:gd name="connsiteX7" fmla="*/ 1587191 w 1732767"/>
                <a:gd name="connsiteY7" fmla="*/ 201174 h 976507"/>
                <a:gd name="connsiteX8" fmla="*/ 1525514 w 1732767"/>
                <a:gd name="connsiteY8" fmla="*/ 297635 h 976507"/>
                <a:gd name="connsiteX9" fmla="*/ 1458478 w 1732767"/>
                <a:gd name="connsiteY9" fmla="*/ 98586 h 976507"/>
                <a:gd name="connsiteX10" fmla="*/ 1283826 w 1732767"/>
                <a:gd name="connsiteY10" fmla="*/ 124795 h 976507"/>
                <a:gd name="connsiteX11" fmla="*/ 1173022 w 1732767"/>
                <a:gd name="connsiteY11" fmla="*/ 206195 h 976507"/>
                <a:gd name="connsiteX12" fmla="*/ 1123537 w 1732767"/>
                <a:gd name="connsiteY12" fmla="*/ 441070 h 976507"/>
                <a:gd name="connsiteX13" fmla="*/ 1015960 w 1732767"/>
                <a:gd name="connsiteY13" fmla="*/ 677738 h 976507"/>
                <a:gd name="connsiteX14" fmla="*/ 985122 w 1732767"/>
                <a:gd name="connsiteY14" fmla="*/ 920144 h 976507"/>
                <a:gd name="connsiteX15" fmla="*/ 829494 w 1732767"/>
                <a:gd name="connsiteY15" fmla="*/ 959589 h 976507"/>
                <a:gd name="connsiteX16" fmla="*/ 768534 w 1732767"/>
                <a:gd name="connsiteY16" fmla="*/ 695309 h 976507"/>
                <a:gd name="connsiteX17" fmla="*/ 639443 w 1732767"/>
                <a:gd name="connsiteY17" fmla="*/ 430312 h 976507"/>
                <a:gd name="connsiteX18" fmla="*/ 531866 w 1732767"/>
                <a:gd name="connsiteY18" fmla="*/ 258190 h 976507"/>
                <a:gd name="connsiteX19" fmla="*/ 348986 w 1732767"/>
                <a:gd name="connsiteY19" fmla="*/ 150613 h 976507"/>
                <a:gd name="connsiteX20" fmla="*/ 273683 w 1732767"/>
                <a:gd name="connsiteY20" fmla="*/ 355009 h 976507"/>
                <a:gd name="connsiteX21" fmla="*/ 1156 w 1732767"/>
                <a:gd name="connsiteY21" fmla="*/ 270382 h 976507"/>
                <a:gd name="connsiteX22" fmla="*/ 198379 w 1732767"/>
                <a:gd name="connsiteY22" fmla="*/ 161371 h 976507"/>
                <a:gd name="connsiteX0" fmla="*/ 197843 w 1732231"/>
                <a:gd name="connsiteY0" fmla="*/ 161371 h 976507"/>
                <a:gd name="connsiteX1" fmla="*/ 337693 w 1732231"/>
                <a:gd name="connsiteY1" fmla="*/ 21522 h 976507"/>
                <a:gd name="connsiteX2" fmla="*/ 649664 w 1732231"/>
                <a:gd name="connsiteY2" fmla="*/ 161371 h 976507"/>
                <a:gd name="connsiteX3" fmla="*/ 871989 w 1732231"/>
                <a:gd name="connsiteY3" fmla="*/ 77103 h 976507"/>
                <a:gd name="connsiteX4" fmla="*/ 1069213 w 1732231"/>
                <a:gd name="connsiteY4" fmla="*/ 139856 h 976507"/>
                <a:gd name="connsiteX5" fmla="*/ 1348911 w 1732231"/>
                <a:gd name="connsiteY5" fmla="*/ 6 h 976507"/>
                <a:gd name="connsiteX6" fmla="*/ 1725429 w 1732231"/>
                <a:gd name="connsiteY6" fmla="*/ 145593 h 976507"/>
                <a:gd name="connsiteX7" fmla="*/ 1586655 w 1732231"/>
                <a:gd name="connsiteY7" fmla="*/ 201174 h 976507"/>
                <a:gd name="connsiteX8" fmla="*/ 1524978 w 1732231"/>
                <a:gd name="connsiteY8" fmla="*/ 297635 h 976507"/>
                <a:gd name="connsiteX9" fmla="*/ 1457942 w 1732231"/>
                <a:gd name="connsiteY9" fmla="*/ 98586 h 976507"/>
                <a:gd name="connsiteX10" fmla="*/ 1283290 w 1732231"/>
                <a:gd name="connsiteY10" fmla="*/ 124795 h 976507"/>
                <a:gd name="connsiteX11" fmla="*/ 1172486 w 1732231"/>
                <a:gd name="connsiteY11" fmla="*/ 206195 h 976507"/>
                <a:gd name="connsiteX12" fmla="*/ 1123001 w 1732231"/>
                <a:gd name="connsiteY12" fmla="*/ 441070 h 976507"/>
                <a:gd name="connsiteX13" fmla="*/ 1015424 w 1732231"/>
                <a:gd name="connsiteY13" fmla="*/ 677738 h 976507"/>
                <a:gd name="connsiteX14" fmla="*/ 984586 w 1732231"/>
                <a:gd name="connsiteY14" fmla="*/ 920144 h 976507"/>
                <a:gd name="connsiteX15" fmla="*/ 828958 w 1732231"/>
                <a:gd name="connsiteY15" fmla="*/ 959589 h 976507"/>
                <a:gd name="connsiteX16" fmla="*/ 767998 w 1732231"/>
                <a:gd name="connsiteY16" fmla="*/ 695309 h 976507"/>
                <a:gd name="connsiteX17" fmla="*/ 638907 w 1732231"/>
                <a:gd name="connsiteY17" fmla="*/ 430312 h 976507"/>
                <a:gd name="connsiteX18" fmla="*/ 531330 w 1732231"/>
                <a:gd name="connsiteY18" fmla="*/ 258190 h 976507"/>
                <a:gd name="connsiteX19" fmla="*/ 348450 w 1732231"/>
                <a:gd name="connsiteY19" fmla="*/ 150613 h 976507"/>
                <a:gd name="connsiteX20" fmla="*/ 267051 w 1732231"/>
                <a:gd name="connsiteY20" fmla="*/ 422065 h 976507"/>
                <a:gd name="connsiteX21" fmla="*/ 620 w 1732231"/>
                <a:gd name="connsiteY21" fmla="*/ 270382 h 976507"/>
                <a:gd name="connsiteX22" fmla="*/ 197843 w 1732231"/>
                <a:gd name="connsiteY22" fmla="*/ 161371 h 976507"/>
                <a:gd name="connsiteX0" fmla="*/ 197468 w 1731856"/>
                <a:gd name="connsiteY0" fmla="*/ 161371 h 976507"/>
                <a:gd name="connsiteX1" fmla="*/ 337318 w 1731856"/>
                <a:gd name="connsiteY1" fmla="*/ 21522 h 976507"/>
                <a:gd name="connsiteX2" fmla="*/ 649289 w 1731856"/>
                <a:gd name="connsiteY2" fmla="*/ 161371 h 976507"/>
                <a:gd name="connsiteX3" fmla="*/ 871614 w 1731856"/>
                <a:gd name="connsiteY3" fmla="*/ 77103 h 976507"/>
                <a:gd name="connsiteX4" fmla="*/ 1068838 w 1731856"/>
                <a:gd name="connsiteY4" fmla="*/ 139856 h 976507"/>
                <a:gd name="connsiteX5" fmla="*/ 1348536 w 1731856"/>
                <a:gd name="connsiteY5" fmla="*/ 6 h 976507"/>
                <a:gd name="connsiteX6" fmla="*/ 1725054 w 1731856"/>
                <a:gd name="connsiteY6" fmla="*/ 145593 h 976507"/>
                <a:gd name="connsiteX7" fmla="*/ 1586280 w 1731856"/>
                <a:gd name="connsiteY7" fmla="*/ 201174 h 976507"/>
                <a:gd name="connsiteX8" fmla="*/ 1524603 w 1731856"/>
                <a:gd name="connsiteY8" fmla="*/ 297635 h 976507"/>
                <a:gd name="connsiteX9" fmla="*/ 1457567 w 1731856"/>
                <a:gd name="connsiteY9" fmla="*/ 98586 h 976507"/>
                <a:gd name="connsiteX10" fmla="*/ 1282915 w 1731856"/>
                <a:gd name="connsiteY10" fmla="*/ 124795 h 976507"/>
                <a:gd name="connsiteX11" fmla="*/ 1172111 w 1731856"/>
                <a:gd name="connsiteY11" fmla="*/ 206195 h 976507"/>
                <a:gd name="connsiteX12" fmla="*/ 1122626 w 1731856"/>
                <a:gd name="connsiteY12" fmla="*/ 441070 h 976507"/>
                <a:gd name="connsiteX13" fmla="*/ 1015049 w 1731856"/>
                <a:gd name="connsiteY13" fmla="*/ 677738 h 976507"/>
                <a:gd name="connsiteX14" fmla="*/ 984211 w 1731856"/>
                <a:gd name="connsiteY14" fmla="*/ 920144 h 976507"/>
                <a:gd name="connsiteX15" fmla="*/ 828583 w 1731856"/>
                <a:gd name="connsiteY15" fmla="*/ 959589 h 976507"/>
                <a:gd name="connsiteX16" fmla="*/ 767623 w 1731856"/>
                <a:gd name="connsiteY16" fmla="*/ 695309 h 976507"/>
                <a:gd name="connsiteX17" fmla="*/ 638532 w 1731856"/>
                <a:gd name="connsiteY17" fmla="*/ 430312 h 976507"/>
                <a:gd name="connsiteX18" fmla="*/ 530955 w 1731856"/>
                <a:gd name="connsiteY18" fmla="*/ 258190 h 976507"/>
                <a:gd name="connsiteX19" fmla="*/ 348075 w 1731856"/>
                <a:gd name="connsiteY19" fmla="*/ 150613 h 976507"/>
                <a:gd name="connsiteX20" fmla="*/ 266676 w 1731856"/>
                <a:gd name="connsiteY20" fmla="*/ 422065 h 976507"/>
                <a:gd name="connsiteX21" fmla="*/ 159120 w 1731856"/>
                <a:gd name="connsiteY21" fmla="*/ 324139 h 976507"/>
                <a:gd name="connsiteX22" fmla="*/ 245 w 1731856"/>
                <a:gd name="connsiteY22" fmla="*/ 270382 h 976507"/>
                <a:gd name="connsiteX23" fmla="*/ 197468 w 1731856"/>
                <a:gd name="connsiteY23" fmla="*/ 161371 h 976507"/>
                <a:gd name="connsiteX0" fmla="*/ 197468 w 1731856"/>
                <a:gd name="connsiteY0" fmla="*/ 161371 h 976507"/>
                <a:gd name="connsiteX1" fmla="*/ 337318 w 1731856"/>
                <a:gd name="connsiteY1" fmla="*/ 21522 h 976507"/>
                <a:gd name="connsiteX2" fmla="*/ 649289 w 1731856"/>
                <a:gd name="connsiteY2" fmla="*/ 161371 h 976507"/>
                <a:gd name="connsiteX3" fmla="*/ 871614 w 1731856"/>
                <a:gd name="connsiteY3" fmla="*/ 77103 h 976507"/>
                <a:gd name="connsiteX4" fmla="*/ 1068838 w 1731856"/>
                <a:gd name="connsiteY4" fmla="*/ 139856 h 976507"/>
                <a:gd name="connsiteX5" fmla="*/ 1348536 w 1731856"/>
                <a:gd name="connsiteY5" fmla="*/ 6 h 976507"/>
                <a:gd name="connsiteX6" fmla="*/ 1725054 w 1731856"/>
                <a:gd name="connsiteY6" fmla="*/ 145593 h 976507"/>
                <a:gd name="connsiteX7" fmla="*/ 1586280 w 1731856"/>
                <a:gd name="connsiteY7" fmla="*/ 201174 h 976507"/>
                <a:gd name="connsiteX8" fmla="*/ 1524603 w 1731856"/>
                <a:gd name="connsiteY8" fmla="*/ 297635 h 976507"/>
                <a:gd name="connsiteX9" fmla="*/ 1457567 w 1731856"/>
                <a:gd name="connsiteY9" fmla="*/ 98586 h 976507"/>
                <a:gd name="connsiteX10" fmla="*/ 1282915 w 1731856"/>
                <a:gd name="connsiteY10" fmla="*/ 124795 h 976507"/>
                <a:gd name="connsiteX11" fmla="*/ 1172111 w 1731856"/>
                <a:gd name="connsiteY11" fmla="*/ 206195 h 976507"/>
                <a:gd name="connsiteX12" fmla="*/ 1122626 w 1731856"/>
                <a:gd name="connsiteY12" fmla="*/ 441070 h 976507"/>
                <a:gd name="connsiteX13" fmla="*/ 1015049 w 1731856"/>
                <a:gd name="connsiteY13" fmla="*/ 677738 h 976507"/>
                <a:gd name="connsiteX14" fmla="*/ 984211 w 1731856"/>
                <a:gd name="connsiteY14" fmla="*/ 920144 h 976507"/>
                <a:gd name="connsiteX15" fmla="*/ 828583 w 1731856"/>
                <a:gd name="connsiteY15" fmla="*/ 959589 h 976507"/>
                <a:gd name="connsiteX16" fmla="*/ 767623 w 1731856"/>
                <a:gd name="connsiteY16" fmla="*/ 695309 h 976507"/>
                <a:gd name="connsiteX17" fmla="*/ 638532 w 1731856"/>
                <a:gd name="connsiteY17" fmla="*/ 430312 h 976507"/>
                <a:gd name="connsiteX18" fmla="*/ 530955 w 1731856"/>
                <a:gd name="connsiteY18" fmla="*/ 258190 h 976507"/>
                <a:gd name="connsiteX19" fmla="*/ 348075 w 1731856"/>
                <a:gd name="connsiteY19" fmla="*/ 150613 h 976507"/>
                <a:gd name="connsiteX20" fmla="*/ 266676 w 1731856"/>
                <a:gd name="connsiteY20" fmla="*/ 422065 h 976507"/>
                <a:gd name="connsiteX21" fmla="*/ 159120 w 1731856"/>
                <a:gd name="connsiteY21" fmla="*/ 324139 h 976507"/>
                <a:gd name="connsiteX22" fmla="*/ 245 w 1731856"/>
                <a:gd name="connsiteY22" fmla="*/ 270382 h 976507"/>
                <a:gd name="connsiteX23" fmla="*/ 197468 w 1731856"/>
                <a:gd name="connsiteY23" fmla="*/ 161371 h 976507"/>
                <a:gd name="connsiteX0" fmla="*/ 197468 w 1731856"/>
                <a:gd name="connsiteY0" fmla="*/ 161371 h 976507"/>
                <a:gd name="connsiteX1" fmla="*/ 337318 w 1731856"/>
                <a:gd name="connsiteY1" fmla="*/ 21522 h 976507"/>
                <a:gd name="connsiteX2" fmla="*/ 649289 w 1731856"/>
                <a:gd name="connsiteY2" fmla="*/ 161371 h 976507"/>
                <a:gd name="connsiteX3" fmla="*/ 871614 w 1731856"/>
                <a:gd name="connsiteY3" fmla="*/ 77103 h 976507"/>
                <a:gd name="connsiteX4" fmla="*/ 1068838 w 1731856"/>
                <a:gd name="connsiteY4" fmla="*/ 139856 h 976507"/>
                <a:gd name="connsiteX5" fmla="*/ 1348536 w 1731856"/>
                <a:gd name="connsiteY5" fmla="*/ 6 h 976507"/>
                <a:gd name="connsiteX6" fmla="*/ 1725054 w 1731856"/>
                <a:gd name="connsiteY6" fmla="*/ 145593 h 976507"/>
                <a:gd name="connsiteX7" fmla="*/ 1586280 w 1731856"/>
                <a:gd name="connsiteY7" fmla="*/ 201174 h 976507"/>
                <a:gd name="connsiteX8" fmla="*/ 1524603 w 1731856"/>
                <a:gd name="connsiteY8" fmla="*/ 297635 h 976507"/>
                <a:gd name="connsiteX9" fmla="*/ 1457567 w 1731856"/>
                <a:gd name="connsiteY9" fmla="*/ 98586 h 976507"/>
                <a:gd name="connsiteX10" fmla="*/ 1282915 w 1731856"/>
                <a:gd name="connsiteY10" fmla="*/ 124795 h 976507"/>
                <a:gd name="connsiteX11" fmla="*/ 1172111 w 1731856"/>
                <a:gd name="connsiteY11" fmla="*/ 206195 h 976507"/>
                <a:gd name="connsiteX12" fmla="*/ 1122626 w 1731856"/>
                <a:gd name="connsiteY12" fmla="*/ 441070 h 976507"/>
                <a:gd name="connsiteX13" fmla="*/ 1015049 w 1731856"/>
                <a:gd name="connsiteY13" fmla="*/ 677738 h 976507"/>
                <a:gd name="connsiteX14" fmla="*/ 984211 w 1731856"/>
                <a:gd name="connsiteY14" fmla="*/ 920144 h 976507"/>
                <a:gd name="connsiteX15" fmla="*/ 828583 w 1731856"/>
                <a:gd name="connsiteY15" fmla="*/ 959589 h 976507"/>
                <a:gd name="connsiteX16" fmla="*/ 767623 w 1731856"/>
                <a:gd name="connsiteY16" fmla="*/ 695309 h 976507"/>
                <a:gd name="connsiteX17" fmla="*/ 638532 w 1731856"/>
                <a:gd name="connsiteY17" fmla="*/ 430312 h 976507"/>
                <a:gd name="connsiteX18" fmla="*/ 549243 w 1731856"/>
                <a:gd name="connsiteY18" fmla="*/ 233806 h 976507"/>
                <a:gd name="connsiteX19" fmla="*/ 348075 w 1731856"/>
                <a:gd name="connsiteY19" fmla="*/ 150613 h 976507"/>
                <a:gd name="connsiteX20" fmla="*/ 266676 w 1731856"/>
                <a:gd name="connsiteY20" fmla="*/ 422065 h 976507"/>
                <a:gd name="connsiteX21" fmla="*/ 159120 w 1731856"/>
                <a:gd name="connsiteY21" fmla="*/ 324139 h 976507"/>
                <a:gd name="connsiteX22" fmla="*/ 245 w 1731856"/>
                <a:gd name="connsiteY22" fmla="*/ 270382 h 976507"/>
                <a:gd name="connsiteX23" fmla="*/ 197468 w 1731856"/>
                <a:gd name="connsiteY23" fmla="*/ 161371 h 976507"/>
                <a:gd name="connsiteX0" fmla="*/ 197468 w 1731856"/>
                <a:gd name="connsiteY0" fmla="*/ 161371 h 976507"/>
                <a:gd name="connsiteX1" fmla="*/ 337318 w 1731856"/>
                <a:gd name="connsiteY1" fmla="*/ 21522 h 976507"/>
                <a:gd name="connsiteX2" fmla="*/ 649289 w 1731856"/>
                <a:gd name="connsiteY2" fmla="*/ 161371 h 976507"/>
                <a:gd name="connsiteX3" fmla="*/ 871614 w 1731856"/>
                <a:gd name="connsiteY3" fmla="*/ 77103 h 976507"/>
                <a:gd name="connsiteX4" fmla="*/ 1068838 w 1731856"/>
                <a:gd name="connsiteY4" fmla="*/ 139856 h 976507"/>
                <a:gd name="connsiteX5" fmla="*/ 1348536 w 1731856"/>
                <a:gd name="connsiteY5" fmla="*/ 6 h 976507"/>
                <a:gd name="connsiteX6" fmla="*/ 1725054 w 1731856"/>
                <a:gd name="connsiteY6" fmla="*/ 145593 h 976507"/>
                <a:gd name="connsiteX7" fmla="*/ 1586280 w 1731856"/>
                <a:gd name="connsiteY7" fmla="*/ 201174 h 976507"/>
                <a:gd name="connsiteX8" fmla="*/ 1524603 w 1731856"/>
                <a:gd name="connsiteY8" fmla="*/ 297635 h 976507"/>
                <a:gd name="connsiteX9" fmla="*/ 1457567 w 1731856"/>
                <a:gd name="connsiteY9" fmla="*/ 98586 h 976507"/>
                <a:gd name="connsiteX10" fmla="*/ 1282915 w 1731856"/>
                <a:gd name="connsiteY10" fmla="*/ 124795 h 976507"/>
                <a:gd name="connsiteX11" fmla="*/ 1172111 w 1731856"/>
                <a:gd name="connsiteY11" fmla="*/ 206195 h 976507"/>
                <a:gd name="connsiteX12" fmla="*/ 1122626 w 1731856"/>
                <a:gd name="connsiteY12" fmla="*/ 441070 h 976507"/>
                <a:gd name="connsiteX13" fmla="*/ 1015049 w 1731856"/>
                <a:gd name="connsiteY13" fmla="*/ 677738 h 976507"/>
                <a:gd name="connsiteX14" fmla="*/ 984211 w 1731856"/>
                <a:gd name="connsiteY14" fmla="*/ 920144 h 976507"/>
                <a:gd name="connsiteX15" fmla="*/ 828583 w 1731856"/>
                <a:gd name="connsiteY15" fmla="*/ 959589 h 976507"/>
                <a:gd name="connsiteX16" fmla="*/ 767623 w 1731856"/>
                <a:gd name="connsiteY16" fmla="*/ 695309 h 976507"/>
                <a:gd name="connsiteX17" fmla="*/ 638532 w 1731856"/>
                <a:gd name="connsiteY17" fmla="*/ 430312 h 976507"/>
                <a:gd name="connsiteX18" fmla="*/ 549243 w 1731856"/>
                <a:gd name="connsiteY18" fmla="*/ 233806 h 976507"/>
                <a:gd name="connsiteX19" fmla="*/ 348075 w 1731856"/>
                <a:gd name="connsiteY19" fmla="*/ 114037 h 976507"/>
                <a:gd name="connsiteX20" fmla="*/ 266676 w 1731856"/>
                <a:gd name="connsiteY20" fmla="*/ 422065 h 976507"/>
                <a:gd name="connsiteX21" fmla="*/ 159120 w 1731856"/>
                <a:gd name="connsiteY21" fmla="*/ 324139 h 976507"/>
                <a:gd name="connsiteX22" fmla="*/ 245 w 1731856"/>
                <a:gd name="connsiteY22" fmla="*/ 270382 h 976507"/>
                <a:gd name="connsiteX23" fmla="*/ 197468 w 1731856"/>
                <a:gd name="connsiteY23" fmla="*/ 161371 h 976507"/>
                <a:gd name="connsiteX0" fmla="*/ 197468 w 1731856"/>
                <a:gd name="connsiteY0" fmla="*/ 161371 h 976507"/>
                <a:gd name="connsiteX1" fmla="*/ 337318 w 1731856"/>
                <a:gd name="connsiteY1" fmla="*/ 21522 h 976507"/>
                <a:gd name="connsiteX2" fmla="*/ 649289 w 1731856"/>
                <a:gd name="connsiteY2" fmla="*/ 161371 h 976507"/>
                <a:gd name="connsiteX3" fmla="*/ 871614 w 1731856"/>
                <a:gd name="connsiteY3" fmla="*/ 77103 h 976507"/>
                <a:gd name="connsiteX4" fmla="*/ 1068838 w 1731856"/>
                <a:gd name="connsiteY4" fmla="*/ 139856 h 976507"/>
                <a:gd name="connsiteX5" fmla="*/ 1348536 w 1731856"/>
                <a:gd name="connsiteY5" fmla="*/ 6 h 976507"/>
                <a:gd name="connsiteX6" fmla="*/ 1725054 w 1731856"/>
                <a:gd name="connsiteY6" fmla="*/ 145593 h 976507"/>
                <a:gd name="connsiteX7" fmla="*/ 1586280 w 1731856"/>
                <a:gd name="connsiteY7" fmla="*/ 201174 h 976507"/>
                <a:gd name="connsiteX8" fmla="*/ 1524603 w 1731856"/>
                <a:gd name="connsiteY8" fmla="*/ 297635 h 976507"/>
                <a:gd name="connsiteX9" fmla="*/ 1390511 w 1731856"/>
                <a:gd name="connsiteY9" fmla="*/ 86394 h 976507"/>
                <a:gd name="connsiteX10" fmla="*/ 1282915 w 1731856"/>
                <a:gd name="connsiteY10" fmla="*/ 124795 h 976507"/>
                <a:gd name="connsiteX11" fmla="*/ 1172111 w 1731856"/>
                <a:gd name="connsiteY11" fmla="*/ 206195 h 976507"/>
                <a:gd name="connsiteX12" fmla="*/ 1122626 w 1731856"/>
                <a:gd name="connsiteY12" fmla="*/ 441070 h 976507"/>
                <a:gd name="connsiteX13" fmla="*/ 1015049 w 1731856"/>
                <a:gd name="connsiteY13" fmla="*/ 677738 h 976507"/>
                <a:gd name="connsiteX14" fmla="*/ 984211 w 1731856"/>
                <a:gd name="connsiteY14" fmla="*/ 920144 h 976507"/>
                <a:gd name="connsiteX15" fmla="*/ 828583 w 1731856"/>
                <a:gd name="connsiteY15" fmla="*/ 959589 h 976507"/>
                <a:gd name="connsiteX16" fmla="*/ 767623 w 1731856"/>
                <a:gd name="connsiteY16" fmla="*/ 695309 h 976507"/>
                <a:gd name="connsiteX17" fmla="*/ 638532 w 1731856"/>
                <a:gd name="connsiteY17" fmla="*/ 430312 h 976507"/>
                <a:gd name="connsiteX18" fmla="*/ 549243 w 1731856"/>
                <a:gd name="connsiteY18" fmla="*/ 233806 h 976507"/>
                <a:gd name="connsiteX19" fmla="*/ 348075 w 1731856"/>
                <a:gd name="connsiteY19" fmla="*/ 114037 h 976507"/>
                <a:gd name="connsiteX20" fmla="*/ 266676 w 1731856"/>
                <a:gd name="connsiteY20" fmla="*/ 422065 h 976507"/>
                <a:gd name="connsiteX21" fmla="*/ 159120 w 1731856"/>
                <a:gd name="connsiteY21" fmla="*/ 324139 h 976507"/>
                <a:gd name="connsiteX22" fmla="*/ 245 w 1731856"/>
                <a:gd name="connsiteY22" fmla="*/ 270382 h 976507"/>
                <a:gd name="connsiteX23" fmla="*/ 197468 w 1731856"/>
                <a:gd name="connsiteY23" fmla="*/ 161371 h 976507"/>
                <a:gd name="connsiteX0" fmla="*/ 197468 w 1731856"/>
                <a:gd name="connsiteY0" fmla="*/ 161371 h 976507"/>
                <a:gd name="connsiteX1" fmla="*/ 337318 w 1731856"/>
                <a:gd name="connsiteY1" fmla="*/ 21522 h 976507"/>
                <a:gd name="connsiteX2" fmla="*/ 649289 w 1731856"/>
                <a:gd name="connsiteY2" fmla="*/ 161371 h 976507"/>
                <a:gd name="connsiteX3" fmla="*/ 871614 w 1731856"/>
                <a:gd name="connsiteY3" fmla="*/ 77103 h 976507"/>
                <a:gd name="connsiteX4" fmla="*/ 1068838 w 1731856"/>
                <a:gd name="connsiteY4" fmla="*/ 139856 h 976507"/>
                <a:gd name="connsiteX5" fmla="*/ 1348536 w 1731856"/>
                <a:gd name="connsiteY5" fmla="*/ 6 h 976507"/>
                <a:gd name="connsiteX6" fmla="*/ 1725054 w 1731856"/>
                <a:gd name="connsiteY6" fmla="*/ 145593 h 976507"/>
                <a:gd name="connsiteX7" fmla="*/ 1586280 w 1731856"/>
                <a:gd name="connsiteY7" fmla="*/ 201174 h 976507"/>
                <a:gd name="connsiteX8" fmla="*/ 1524603 w 1731856"/>
                <a:gd name="connsiteY8" fmla="*/ 297635 h 976507"/>
                <a:gd name="connsiteX9" fmla="*/ 1494143 w 1731856"/>
                <a:gd name="connsiteY9" fmla="*/ 177835 h 976507"/>
                <a:gd name="connsiteX10" fmla="*/ 1390511 w 1731856"/>
                <a:gd name="connsiteY10" fmla="*/ 86394 h 976507"/>
                <a:gd name="connsiteX11" fmla="*/ 1282915 w 1731856"/>
                <a:gd name="connsiteY11" fmla="*/ 124795 h 976507"/>
                <a:gd name="connsiteX12" fmla="*/ 1172111 w 1731856"/>
                <a:gd name="connsiteY12" fmla="*/ 206195 h 976507"/>
                <a:gd name="connsiteX13" fmla="*/ 1122626 w 1731856"/>
                <a:gd name="connsiteY13" fmla="*/ 441070 h 976507"/>
                <a:gd name="connsiteX14" fmla="*/ 1015049 w 1731856"/>
                <a:gd name="connsiteY14" fmla="*/ 677738 h 976507"/>
                <a:gd name="connsiteX15" fmla="*/ 984211 w 1731856"/>
                <a:gd name="connsiteY15" fmla="*/ 920144 h 976507"/>
                <a:gd name="connsiteX16" fmla="*/ 828583 w 1731856"/>
                <a:gd name="connsiteY16" fmla="*/ 959589 h 976507"/>
                <a:gd name="connsiteX17" fmla="*/ 767623 w 1731856"/>
                <a:gd name="connsiteY17" fmla="*/ 695309 h 976507"/>
                <a:gd name="connsiteX18" fmla="*/ 638532 w 1731856"/>
                <a:gd name="connsiteY18" fmla="*/ 430312 h 976507"/>
                <a:gd name="connsiteX19" fmla="*/ 549243 w 1731856"/>
                <a:gd name="connsiteY19" fmla="*/ 233806 h 976507"/>
                <a:gd name="connsiteX20" fmla="*/ 348075 w 1731856"/>
                <a:gd name="connsiteY20" fmla="*/ 114037 h 976507"/>
                <a:gd name="connsiteX21" fmla="*/ 266676 w 1731856"/>
                <a:gd name="connsiteY21" fmla="*/ 422065 h 976507"/>
                <a:gd name="connsiteX22" fmla="*/ 159120 w 1731856"/>
                <a:gd name="connsiteY22" fmla="*/ 324139 h 976507"/>
                <a:gd name="connsiteX23" fmla="*/ 245 w 1731856"/>
                <a:gd name="connsiteY23" fmla="*/ 270382 h 976507"/>
                <a:gd name="connsiteX24" fmla="*/ 197468 w 1731856"/>
                <a:gd name="connsiteY24" fmla="*/ 161371 h 976507"/>
                <a:gd name="connsiteX0" fmla="*/ 197468 w 1731818"/>
                <a:gd name="connsiteY0" fmla="*/ 161371 h 976507"/>
                <a:gd name="connsiteX1" fmla="*/ 337318 w 1731818"/>
                <a:gd name="connsiteY1" fmla="*/ 21522 h 976507"/>
                <a:gd name="connsiteX2" fmla="*/ 649289 w 1731818"/>
                <a:gd name="connsiteY2" fmla="*/ 161371 h 976507"/>
                <a:gd name="connsiteX3" fmla="*/ 871614 w 1731818"/>
                <a:gd name="connsiteY3" fmla="*/ 77103 h 976507"/>
                <a:gd name="connsiteX4" fmla="*/ 1068838 w 1731818"/>
                <a:gd name="connsiteY4" fmla="*/ 139856 h 976507"/>
                <a:gd name="connsiteX5" fmla="*/ 1348536 w 1731818"/>
                <a:gd name="connsiteY5" fmla="*/ 6 h 976507"/>
                <a:gd name="connsiteX6" fmla="*/ 1725054 w 1731818"/>
                <a:gd name="connsiteY6" fmla="*/ 145593 h 976507"/>
                <a:gd name="connsiteX7" fmla="*/ 1586280 w 1731818"/>
                <a:gd name="connsiteY7" fmla="*/ 201174 h 976507"/>
                <a:gd name="connsiteX8" fmla="*/ 1530699 w 1731818"/>
                <a:gd name="connsiteY8" fmla="*/ 328115 h 976507"/>
                <a:gd name="connsiteX9" fmla="*/ 1494143 w 1731818"/>
                <a:gd name="connsiteY9" fmla="*/ 177835 h 976507"/>
                <a:gd name="connsiteX10" fmla="*/ 1390511 w 1731818"/>
                <a:gd name="connsiteY10" fmla="*/ 86394 h 976507"/>
                <a:gd name="connsiteX11" fmla="*/ 1282915 w 1731818"/>
                <a:gd name="connsiteY11" fmla="*/ 124795 h 976507"/>
                <a:gd name="connsiteX12" fmla="*/ 1172111 w 1731818"/>
                <a:gd name="connsiteY12" fmla="*/ 206195 h 976507"/>
                <a:gd name="connsiteX13" fmla="*/ 1122626 w 1731818"/>
                <a:gd name="connsiteY13" fmla="*/ 441070 h 976507"/>
                <a:gd name="connsiteX14" fmla="*/ 1015049 w 1731818"/>
                <a:gd name="connsiteY14" fmla="*/ 677738 h 976507"/>
                <a:gd name="connsiteX15" fmla="*/ 984211 w 1731818"/>
                <a:gd name="connsiteY15" fmla="*/ 920144 h 976507"/>
                <a:gd name="connsiteX16" fmla="*/ 828583 w 1731818"/>
                <a:gd name="connsiteY16" fmla="*/ 959589 h 976507"/>
                <a:gd name="connsiteX17" fmla="*/ 767623 w 1731818"/>
                <a:gd name="connsiteY17" fmla="*/ 695309 h 976507"/>
                <a:gd name="connsiteX18" fmla="*/ 638532 w 1731818"/>
                <a:gd name="connsiteY18" fmla="*/ 430312 h 976507"/>
                <a:gd name="connsiteX19" fmla="*/ 549243 w 1731818"/>
                <a:gd name="connsiteY19" fmla="*/ 233806 h 976507"/>
                <a:gd name="connsiteX20" fmla="*/ 348075 w 1731818"/>
                <a:gd name="connsiteY20" fmla="*/ 114037 h 976507"/>
                <a:gd name="connsiteX21" fmla="*/ 266676 w 1731818"/>
                <a:gd name="connsiteY21" fmla="*/ 422065 h 976507"/>
                <a:gd name="connsiteX22" fmla="*/ 159120 w 1731818"/>
                <a:gd name="connsiteY22" fmla="*/ 324139 h 976507"/>
                <a:gd name="connsiteX23" fmla="*/ 245 w 1731818"/>
                <a:gd name="connsiteY23" fmla="*/ 270382 h 976507"/>
                <a:gd name="connsiteX24" fmla="*/ 197468 w 1731818"/>
                <a:gd name="connsiteY24" fmla="*/ 161371 h 976507"/>
                <a:gd name="connsiteX0" fmla="*/ 197468 w 1733525"/>
                <a:gd name="connsiteY0" fmla="*/ 161371 h 976507"/>
                <a:gd name="connsiteX1" fmla="*/ 337318 w 1733525"/>
                <a:gd name="connsiteY1" fmla="*/ 21522 h 976507"/>
                <a:gd name="connsiteX2" fmla="*/ 649289 w 1733525"/>
                <a:gd name="connsiteY2" fmla="*/ 161371 h 976507"/>
                <a:gd name="connsiteX3" fmla="*/ 871614 w 1733525"/>
                <a:gd name="connsiteY3" fmla="*/ 77103 h 976507"/>
                <a:gd name="connsiteX4" fmla="*/ 1068838 w 1733525"/>
                <a:gd name="connsiteY4" fmla="*/ 139856 h 976507"/>
                <a:gd name="connsiteX5" fmla="*/ 1348536 w 1733525"/>
                <a:gd name="connsiteY5" fmla="*/ 6 h 976507"/>
                <a:gd name="connsiteX6" fmla="*/ 1725054 w 1733525"/>
                <a:gd name="connsiteY6" fmla="*/ 145593 h 976507"/>
                <a:gd name="connsiteX7" fmla="*/ 1604568 w 1733525"/>
                <a:gd name="connsiteY7" fmla="*/ 207270 h 976507"/>
                <a:gd name="connsiteX8" fmla="*/ 1530699 w 1733525"/>
                <a:gd name="connsiteY8" fmla="*/ 328115 h 976507"/>
                <a:gd name="connsiteX9" fmla="*/ 1494143 w 1733525"/>
                <a:gd name="connsiteY9" fmla="*/ 177835 h 976507"/>
                <a:gd name="connsiteX10" fmla="*/ 1390511 w 1733525"/>
                <a:gd name="connsiteY10" fmla="*/ 86394 h 976507"/>
                <a:gd name="connsiteX11" fmla="*/ 1282915 w 1733525"/>
                <a:gd name="connsiteY11" fmla="*/ 124795 h 976507"/>
                <a:gd name="connsiteX12" fmla="*/ 1172111 w 1733525"/>
                <a:gd name="connsiteY12" fmla="*/ 206195 h 976507"/>
                <a:gd name="connsiteX13" fmla="*/ 1122626 w 1733525"/>
                <a:gd name="connsiteY13" fmla="*/ 441070 h 976507"/>
                <a:gd name="connsiteX14" fmla="*/ 1015049 w 1733525"/>
                <a:gd name="connsiteY14" fmla="*/ 677738 h 976507"/>
                <a:gd name="connsiteX15" fmla="*/ 984211 w 1733525"/>
                <a:gd name="connsiteY15" fmla="*/ 920144 h 976507"/>
                <a:gd name="connsiteX16" fmla="*/ 828583 w 1733525"/>
                <a:gd name="connsiteY16" fmla="*/ 959589 h 976507"/>
                <a:gd name="connsiteX17" fmla="*/ 767623 w 1733525"/>
                <a:gd name="connsiteY17" fmla="*/ 695309 h 976507"/>
                <a:gd name="connsiteX18" fmla="*/ 638532 w 1733525"/>
                <a:gd name="connsiteY18" fmla="*/ 430312 h 976507"/>
                <a:gd name="connsiteX19" fmla="*/ 549243 w 1733525"/>
                <a:gd name="connsiteY19" fmla="*/ 233806 h 976507"/>
                <a:gd name="connsiteX20" fmla="*/ 348075 w 1733525"/>
                <a:gd name="connsiteY20" fmla="*/ 114037 h 976507"/>
                <a:gd name="connsiteX21" fmla="*/ 266676 w 1733525"/>
                <a:gd name="connsiteY21" fmla="*/ 422065 h 976507"/>
                <a:gd name="connsiteX22" fmla="*/ 159120 w 1733525"/>
                <a:gd name="connsiteY22" fmla="*/ 324139 h 976507"/>
                <a:gd name="connsiteX23" fmla="*/ 245 w 1733525"/>
                <a:gd name="connsiteY23" fmla="*/ 270382 h 976507"/>
                <a:gd name="connsiteX24" fmla="*/ 197468 w 1733525"/>
                <a:gd name="connsiteY24" fmla="*/ 161371 h 976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733525" h="976507">
                  <a:moveTo>
                    <a:pt x="197468" y="161371"/>
                  </a:moveTo>
                  <a:cubicBezTo>
                    <a:pt x="253647" y="119894"/>
                    <a:pt x="262015" y="21522"/>
                    <a:pt x="337318" y="21522"/>
                  </a:cubicBezTo>
                  <a:cubicBezTo>
                    <a:pt x="412621" y="21522"/>
                    <a:pt x="560240" y="152108"/>
                    <a:pt x="649289" y="161371"/>
                  </a:cubicBezTo>
                  <a:cubicBezTo>
                    <a:pt x="738338" y="170634"/>
                    <a:pt x="801689" y="80689"/>
                    <a:pt x="871614" y="77103"/>
                  </a:cubicBezTo>
                  <a:cubicBezTo>
                    <a:pt x="941539" y="73517"/>
                    <a:pt x="989351" y="152705"/>
                    <a:pt x="1068838" y="139856"/>
                  </a:cubicBezTo>
                  <a:cubicBezTo>
                    <a:pt x="1148325" y="127007"/>
                    <a:pt x="1239167" y="-950"/>
                    <a:pt x="1348536" y="6"/>
                  </a:cubicBezTo>
                  <a:cubicBezTo>
                    <a:pt x="1457905" y="962"/>
                    <a:pt x="1682382" y="111049"/>
                    <a:pt x="1725054" y="145593"/>
                  </a:cubicBezTo>
                  <a:cubicBezTo>
                    <a:pt x="1767726" y="180137"/>
                    <a:pt x="1636960" y="176850"/>
                    <a:pt x="1604568" y="207270"/>
                  </a:cubicBezTo>
                  <a:cubicBezTo>
                    <a:pt x="1572176" y="237690"/>
                    <a:pt x="1549103" y="333021"/>
                    <a:pt x="1530699" y="328115"/>
                  </a:cubicBezTo>
                  <a:cubicBezTo>
                    <a:pt x="1512295" y="323209"/>
                    <a:pt x="1516492" y="213042"/>
                    <a:pt x="1494143" y="177835"/>
                  </a:cubicBezTo>
                  <a:cubicBezTo>
                    <a:pt x="1471794" y="142628"/>
                    <a:pt x="1417588" y="95234"/>
                    <a:pt x="1390511" y="86394"/>
                  </a:cubicBezTo>
                  <a:cubicBezTo>
                    <a:pt x="1363434" y="77554"/>
                    <a:pt x="1319315" y="104828"/>
                    <a:pt x="1282915" y="124795"/>
                  </a:cubicBezTo>
                  <a:cubicBezTo>
                    <a:pt x="1246515" y="144762"/>
                    <a:pt x="1198826" y="153483"/>
                    <a:pt x="1172111" y="206195"/>
                  </a:cubicBezTo>
                  <a:cubicBezTo>
                    <a:pt x="1145396" y="258907"/>
                    <a:pt x="1148803" y="362480"/>
                    <a:pt x="1122626" y="441070"/>
                  </a:cubicBezTo>
                  <a:cubicBezTo>
                    <a:pt x="1096449" y="519660"/>
                    <a:pt x="1038118" y="597892"/>
                    <a:pt x="1015049" y="677738"/>
                  </a:cubicBezTo>
                  <a:cubicBezTo>
                    <a:pt x="991980" y="757584"/>
                    <a:pt x="1015289" y="873169"/>
                    <a:pt x="984211" y="920144"/>
                  </a:cubicBezTo>
                  <a:cubicBezTo>
                    <a:pt x="953133" y="967119"/>
                    <a:pt x="864681" y="997061"/>
                    <a:pt x="828583" y="959589"/>
                  </a:cubicBezTo>
                  <a:cubicBezTo>
                    <a:pt x="792485" y="922117"/>
                    <a:pt x="799298" y="783522"/>
                    <a:pt x="767623" y="695309"/>
                  </a:cubicBezTo>
                  <a:cubicBezTo>
                    <a:pt x="735948" y="607096"/>
                    <a:pt x="674929" y="507229"/>
                    <a:pt x="638532" y="430312"/>
                  </a:cubicBezTo>
                  <a:cubicBezTo>
                    <a:pt x="602135" y="353395"/>
                    <a:pt x="597652" y="286518"/>
                    <a:pt x="549243" y="233806"/>
                  </a:cubicBezTo>
                  <a:cubicBezTo>
                    <a:pt x="500834" y="181094"/>
                    <a:pt x="395169" y="82661"/>
                    <a:pt x="348075" y="114037"/>
                  </a:cubicBezTo>
                  <a:cubicBezTo>
                    <a:pt x="300981" y="145413"/>
                    <a:pt x="302232" y="387048"/>
                    <a:pt x="266676" y="422065"/>
                  </a:cubicBezTo>
                  <a:cubicBezTo>
                    <a:pt x="231120" y="457082"/>
                    <a:pt x="203525" y="349419"/>
                    <a:pt x="159120" y="324139"/>
                  </a:cubicBezTo>
                  <a:cubicBezTo>
                    <a:pt x="114715" y="298859"/>
                    <a:pt x="-6146" y="297510"/>
                    <a:pt x="245" y="270382"/>
                  </a:cubicBezTo>
                  <a:cubicBezTo>
                    <a:pt x="6636" y="243254"/>
                    <a:pt x="141289" y="202848"/>
                    <a:pt x="197468" y="161371"/>
                  </a:cubicBezTo>
                  <a:close/>
                </a:path>
              </a:pathLst>
            </a:cu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7" name="Freeform: Shape 6">
              <a:extLst>
                <a:ext uri="{FF2B5EF4-FFF2-40B4-BE49-F238E27FC236}">
                  <a16:creationId xmlns:a16="http://schemas.microsoft.com/office/drawing/2014/main" id="{EA3235C8-E073-460B-AF56-C08FA3094FF4}"/>
                </a:ext>
              </a:extLst>
            </p:cNvPr>
            <p:cNvSpPr/>
            <p:nvPr/>
          </p:nvSpPr>
          <p:spPr>
            <a:xfrm>
              <a:off x="3722012" y="4427789"/>
              <a:ext cx="355289" cy="747813"/>
            </a:xfrm>
            <a:custGeom>
              <a:avLst/>
              <a:gdLst>
                <a:gd name="connsiteX0" fmla="*/ 67732 w 346228"/>
                <a:gd name="connsiteY0" fmla="*/ 108143 h 791277"/>
                <a:gd name="connsiteX1" fmla="*/ 140884 w 346228"/>
                <a:gd name="connsiteY1" fmla="*/ 333695 h 791277"/>
                <a:gd name="connsiteX2" fmla="*/ 195748 w 346228"/>
                <a:gd name="connsiteY2" fmla="*/ 583631 h 791277"/>
                <a:gd name="connsiteX3" fmla="*/ 183556 w 346228"/>
                <a:gd name="connsiteY3" fmla="*/ 766511 h 791277"/>
                <a:gd name="connsiteX4" fmla="*/ 226228 w 346228"/>
                <a:gd name="connsiteY4" fmla="*/ 748223 h 791277"/>
                <a:gd name="connsiteX5" fmla="*/ 256708 w 346228"/>
                <a:gd name="connsiteY5" fmla="*/ 388559 h 791277"/>
                <a:gd name="connsiteX6" fmla="*/ 342052 w 346228"/>
                <a:gd name="connsiteY6" fmla="*/ 211775 h 791277"/>
                <a:gd name="connsiteX7" fmla="*/ 311572 w 346228"/>
                <a:gd name="connsiteY7" fmla="*/ 16703 h 791277"/>
                <a:gd name="connsiteX8" fmla="*/ 128692 w 346228"/>
                <a:gd name="connsiteY8" fmla="*/ 16703 h 791277"/>
                <a:gd name="connsiteX9" fmla="*/ 676 w 346228"/>
                <a:gd name="connsiteY9" fmla="*/ 71567 h 791277"/>
                <a:gd name="connsiteX10" fmla="*/ 67732 w 346228"/>
                <a:gd name="connsiteY10" fmla="*/ 108143 h 791277"/>
                <a:gd name="connsiteX0" fmla="*/ 40869 w 349845"/>
                <a:gd name="connsiteY0" fmla="*/ 181295 h 791277"/>
                <a:gd name="connsiteX1" fmla="*/ 144501 w 349845"/>
                <a:gd name="connsiteY1" fmla="*/ 333695 h 791277"/>
                <a:gd name="connsiteX2" fmla="*/ 199365 w 349845"/>
                <a:gd name="connsiteY2" fmla="*/ 583631 h 791277"/>
                <a:gd name="connsiteX3" fmla="*/ 187173 w 349845"/>
                <a:gd name="connsiteY3" fmla="*/ 766511 h 791277"/>
                <a:gd name="connsiteX4" fmla="*/ 229845 w 349845"/>
                <a:gd name="connsiteY4" fmla="*/ 748223 h 791277"/>
                <a:gd name="connsiteX5" fmla="*/ 260325 w 349845"/>
                <a:gd name="connsiteY5" fmla="*/ 388559 h 791277"/>
                <a:gd name="connsiteX6" fmla="*/ 345669 w 349845"/>
                <a:gd name="connsiteY6" fmla="*/ 211775 h 791277"/>
                <a:gd name="connsiteX7" fmla="*/ 315189 w 349845"/>
                <a:gd name="connsiteY7" fmla="*/ 16703 h 791277"/>
                <a:gd name="connsiteX8" fmla="*/ 132309 w 349845"/>
                <a:gd name="connsiteY8" fmla="*/ 16703 h 791277"/>
                <a:gd name="connsiteX9" fmla="*/ 4293 w 349845"/>
                <a:gd name="connsiteY9" fmla="*/ 71567 h 791277"/>
                <a:gd name="connsiteX10" fmla="*/ 40869 w 349845"/>
                <a:gd name="connsiteY10" fmla="*/ 181295 h 791277"/>
                <a:gd name="connsiteX0" fmla="*/ 40603 w 349579"/>
                <a:gd name="connsiteY0" fmla="*/ 181295 h 791277"/>
                <a:gd name="connsiteX1" fmla="*/ 125947 w 349579"/>
                <a:gd name="connsiteY1" fmla="*/ 345887 h 791277"/>
                <a:gd name="connsiteX2" fmla="*/ 199099 w 349579"/>
                <a:gd name="connsiteY2" fmla="*/ 583631 h 791277"/>
                <a:gd name="connsiteX3" fmla="*/ 186907 w 349579"/>
                <a:gd name="connsiteY3" fmla="*/ 766511 h 791277"/>
                <a:gd name="connsiteX4" fmla="*/ 229579 w 349579"/>
                <a:gd name="connsiteY4" fmla="*/ 748223 h 791277"/>
                <a:gd name="connsiteX5" fmla="*/ 260059 w 349579"/>
                <a:gd name="connsiteY5" fmla="*/ 388559 h 791277"/>
                <a:gd name="connsiteX6" fmla="*/ 345403 w 349579"/>
                <a:gd name="connsiteY6" fmla="*/ 211775 h 791277"/>
                <a:gd name="connsiteX7" fmla="*/ 314923 w 349579"/>
                <a:gd name="connsiteY7" fmla="*/ 16703 h 791277"/>
                <a:gd name="connsiteX8" fmla="*/ 132043 w 349579"/>
                <a:gd name="connsiteY8" fmla="*/ 16703 h 791277"/>
                <a:gd name="connsiteX9" fmla="*/ 4027 w 349579"/>
                <a:gd name="connsiteY9" fmla="*/ 71567 h 791277"/>
                <a:gd name="connsiteX10" fmla="*/ 40603 w 349579"/>
                <a:gd name="connsiteY10" fmla="*/ 181295 h 791277"/>
                <a:gd name="connsiteX0" fmla="*/ 40603 w 349579"/>
                <a:gd name="connsiteY0" fmla="*/ 168268 h 778250"/>
                <a:gd name="connsiteX1" fmla="*/ 125947 w 349579"/>
                <a:gd name="connsiteY1" fmla="*/ 332860 h 778250"/>
                <a:gd name="connsiteX2" fmla="*/ 199099 w 349579"/>
                <a:gd name="connsiteY2" fmla="*/ 570604 h 778250"/>
                <a:gd name="connsiteX3" fmla="*/ 186907 w 349579"/>
                <a:gd name="connsiteY3" fmla="*/ 753484 h 778250"/>
                <a:gd name="connsiteX4" fmla="*/ 229579 w 349579"/>
                <a:gd name="connsiteY4" fmla="*/ 735196 h 778250"/>
                <a:gd name="connsiteX5" fmla="*/ 260059 w 349579"/>
                <a:gd name="connsiteY5" fmla="*/ 375532 h 778250"/>
                <a:gd name="connsiteX6" fmla="*/ 345403 w 349579"/>
                <a:gd name="connsiteY6" fmla="*/ 198748 h 778250"/>
                <a:gd name="connsiteX7" fmla="*/ 314923 w 349579"/>
                <a:gd name="connsiteY7" fmla="*/ 34156 h 778250"/>
                <a:gd name="connsiteX8" fmla="*/ 132043 w 349579"/>
                <a:gd name="connsiteY8" fmla="*/ 3676 h 778250"/>
                <a:gd name="connsiteX9" fmla="*/ 4027 w 349579"/>
                <a:gd name="connsiteY9" fmla="*/ 58540 h 778250"/>
                <a:gd name="connsiteX10" fmla="*/ 40603 w 349579"/>
                <a:gd name="connsiteY10" fmla="*/ 168268 h 778250"/>
                <a:gd name="connsiteX0" fmla="*/ 40603 w 388859"/>
                <a:gd name="connsiteY0" fmla="*/ 167425 h 777407"/>
                <a:gd name="connsiteX1" fmla="*/ 125947 w 388859"/>
                <a:gd name="connsiteY1" fmla="*/ 332017 h 777407"/>
                <a:gd name="connsiteX2" fmla="*/ 199099 w 388859"/>
                <a:gd name="connsiteY2" fmla="*/ 569761 h 777407"/>
                <a:gd name="connsiteX3" fmla="*/ 186907 w 388859"/>
                <a:gd name="connsiteY3" fmla="*/ 752641 h 777407"/>
                <a:gd name="connsiteX4" fmla="*/ 229579 w 388859"/>
                <a:gd name="connsiteY4" fmla="*/ 734353 h 777407"/>
                <a:gd name="connsiteX5" fmla="*/ 260059 w 388859"/>
                <a:gd name="connsiteY5" fmla="*/ 374689 h 777407"/>
                <a:gd name="connsiteX6" fmla="*/ 345403 w 388859"/>
                <a:gd name="connsiteY6" fmla="*/ 197905 h 777407"/>
                <a:gd name="connsiteX7" fmla="*/ 375883 w 388859"/>
                <a:gd name="connsiteY7" fmla="*/ 39409 h 777407"/>
                <a:gd name="connsiteX8" fmla="*/ 132043 w 388859"/>
                <a:gd name="connsiteY8" fmla="*/ 2833 h 777407"/>
                <a:gd name="connsiteX9" fmla="*/ 4027 w 388859"/>
                <a:gd name="connsiteY9" fmla="*/ 57697 h 777407"/>
                <a:gd name="connsiteX10" fmla="*/ 40603 w 388859"/>
                <a:gd name="connsiteY10" fmla="*/ 167425 h 777407"/>
                <a:gd name="connsiteX0" fmla="*/ 40603 w 383207"/>
                <a:gd name="connsiteY0" fmla="*/ 178280 h 788262"/>
                <a:gd name="connsiteX1" fmla="*/ 125947 w 383207"/>
                <a:gd name="connsiteY1" fmla="*/ 342872 h 788262"/>
                <a:gd name="connsiteX2" fmla="*/ 199099 w 383207"/>
                <a:gd name="connsiteY2" fmla="*/ 580616 h 788262"/>
                <a:gd name="connsiteX3" fmla="*/ 186907 w 383207"/>
                <a:gd name="connsiteY3" fmla="*/ 763496 h 788262"/>
                <a:gd name="connsiteX4" fmla="*/ 229579 w 383207"/>
                <a:gd name="connsiteY4" fmla="*/ 745208 h 788262"/>
                <a:gd name="connsiteX5" fmla="*/ 260059 w 383207"/>
                <a:gd name="connsiteY5" fmla="*/ 385544 h 788262"/>
                <a:gd name="connsiteX6" fmla="*/ 345403 w 383207"/>
                <a:gd name="connsiteY6" fmla="*/ 208760 h 788262"/>
                <a:gd name="connsiteX7" fmla="*/ 375883 w 383207"/>
                <a:gd name="connsiteY7" fmla="*/ 50264 h 788262"/>
                <a:gd name="connsiteX8" fmla="*/ 212535 w 383207"/>
                <a:gd name="connsiteY8" fmla="*/ 1781 h 788262"/>
                <a:gd name="connsiteX9" fmla="*/ 132043 w 383207"/>
                <a:gd name="connsiteY9" fmla="*/ 13688 h 788262"/>
                <a:gd name="connsiteX10" fmla="*/ 4027 w 383207"/>
                <a:gd name="connsiteY10" fmla="*/ 68552 h 788262"/>
                <a:gd name="connsiteX11" fmla="*/ 40603 w 383207"/>
                <a:gd name="connsiteY11" fmla="*/ 178280 h 788262"/>
                <a:gd name="connsiteX0" fmla="*/ 40603 w 383207"/>
                <a:gd name="connsiteY0" fmla="*/ 177203 h 787185"/>
                <a:gd name="connsiteX1" fmla="*/ 125947 w 383207"/>
                <a:gd name="connsiteY1" fmla="*/ 341795 h 787185"/>
                <a:gd name="connsiteX2" fmla="*/ 199099 w 383207"/>
                <a:gd name="connsiteY2" fmla="*/ 579539 h 787185"/>
                <a:gd name="connsiteX3" fmla="*/ 186907 w 383207"/>
                <a:gd name="connsiteY3" fmla="*/ 762419 h 787185"/>
                <a:gd name="connsiteX4" fmla="*/ 229579 w 383207"/>
                <a:gd name="connsiteY4" fmla="*/ 744131 h 787185"/>
                <a:gd name="connsiteX5" fmla="*/ 260059 w 383207"/>
                <a:gd name="connsiteY5" fmla="*/ 384467 h 787185"/>
                <a:gd name="connsiteX6" fmla="*/ 345403 w 383207"/>
                <a:gd name="connsiteY6" fmla="*/ 207683 h 787185"/>
                <a:gd name="connsiteX7" fmla="*/ 375883 w 383207"/>
                <a:gd name="connsiteY7" fmla="*/ 49187 h 787185"/>
                <a:gd name="connsiteX8" fmla="*/ 212535 w 383207"/>
                <a:gd name="connsiteY8" fmla="*/ 704 h 787185"/>
                <a:gd name="connsiteX9" fmla="*/ 132043 w 383207"/>
                <a:gd name="connsiteY9" fmla="*/ 36995 h 787185"/>
                <a:gd name="connsiteX10" fmla="*/ 4027 w 383207"/>
                <a:gd name="connsiteY10" fmla="*/ 67475 h 787185"/>
                <a:gd name="connsiteX11" fmla="*/ 40603 w 383207"/>
                <a:gd name="connsiteY11" fmla="*/ 177203 h 787185"/>
                <a:gd name="connsiteX0" fmla="*/ 40603 w 383207"/>
                <a:gd name="connsiteY0" fmla="*/ 177203 h 787185"/>
                <a:gd name="connsiteX1" fmla="*/ 125947 w 383207"/>
                <a:gd name="connsiteY1" fmla="*/ 341795 h 787185"/>
                <a:gd name="connsiteX2" fmla="*/ 199099 w 383207"/>
                <a:gd name="connsiteY2" fmla="*/ 579539 h 787185"/>
                <a:gd name="connsiteX3" fmla="*/ 186907 w 383207"/>
                <a:gd name="connsiteY3" fmla="*/ 762419 h 787185"/>
                <a:gd name="connsiteX4" fmla="*/ 229579 w 383207"/>
                <a:gd name="connsiteY4" fmla="*/ 744131 h 787185"/>
                <a:gd name="connsiteX5" fmla="*/ 260059 w 383207"/>
                <a:gd name="connsiteY5" fmla="*/ 384467 h 787185"/>
                <a:gd name="connsiteX6" fmla="*/ 345403 w 383207"/>
                <a:gd name="connsiteY6" fmla="*/ 207683 h 787185"/>
                <a:gd name="connsiteX7" fmla="*/ 375883 w 383207"/>
                <a:gd name="connsiteY7" fmla="*/ 49187 h 787185"/>
                <a:gd name="connsiteX8" fmla="*/ 212535 w 383207"/>
                <a:gd name="connsiteY8" fmla="*/ 704 h 787185"/>
                <a:gd name="connsiteX9" fmla="*/ 132043 w 383207"/>
                <a:gd name="connsiteY9" fmla="*/ 36995 h 787185"/>
                <a:gd name="connsiteX10" fmla="*/ 4027 w 383207"/>
                <a:gd name="connsiteY10" fmla="*/ 67475 h 787185"/>
                <a:gd name="connsiteX11" fmla="*/ 40603 w 383207"/>
                <a:gd name="connsiteY11" fmla="*/ 177203 h 787185"/>
                <a:gd name="connsiteX0" fmla="*/ 40603 w 383207"/>
                <a:gd name="connsiteY0" fmla="*/ 177203 h 787185"/>
                <a:gd name="connsiteX1" fmla="*/ 125947 w 383207"/>
                <a:gd name="connsiteY1" fmla="*/ 341795 h 787185"/>
                <a:gd name="connsiteX2" fmla="*/ 199099 w 383207"/>
                <a:gd name="connsiteY2" fmla="*/ 579539 h 787185"/>
                <a:gd name="connsiteX3" fmla="*/ 186907 w 383207"/>
                <a:gd name="connsiteY3" fmla="*/ 762419 h 787185"/>
                <a:gd name="connsiteX4" fmla="*/ 229579 w 383207"/>
                <a:gd name="connsiteY4" fmla="*/ 744131 h 787185"/>
                <a:gd name="connsiteX5" fmla="*/ 260059 w 383207"/>
                <a:gd name="connsiteY5" fmla="*/ 384467 h 787185"/>
                <a:gd name="connsiteX6" fmla="*/ 345403 w 383207"/>
                <a:gd name="connsiteY6" fmla="*/ 207683 h 787185"/>
                <a:gd name="connsiteX7" fmla="*/ 375883 w 383207"/>
                <a:gd name="connsiteY7" fmla="*/ 73571 h 787185"/>
                <a:gd name="connsiteX8" fmla="*/ 212535 w 383207"/>
                <a:gd name="connsiteY8" fmla="*/ 704 h 787185"/>
                <a:gd name="connsiteX9" fmla="*/ 132043 w 383207"/>
                <a:gd name="connsiteY9" fmla="*/ 36995 h 787185"/>
                <a:gd name="connsiteX10" fmla="*/ 4027 w 383207"/>
                <a:gd name="connsiteY10" fmla="*/ 67475 h 787185"/>
                <a:gd name="connsiteX11" fmla="*/ 40603 w 383207"/>
                <a:gd name="connsiteY11" fmla="*/ 177203 h 787185"/>
                <a:gd name="connsiteX0" fmla="*/ 45867 w 388471"/>
                <a:gd name="connsiteY0" fmla="*/ 176519 h 786501"/>
                <a:gd name="connsiteX1" fmla="*/ 131211 w 388471"/>
                <a:gd name="connsiteY1" fmla="*/ 341111 h 786501"/>
                <a:gd name="connsiteX2" fmla="*/ 204363 w 388471"/>
                <a:gd name="connsiteY2" fmla="*/ 578855 h 786501"/>
                <a:gd name="connsiteX3" fmla="*/ 192171 w 388471"/>
                <a:gd name="connsiteY3" fmla="*/ 761735 h 786501"/>
                <a:gd name="connsiteX4" fmla="*/ 234843 w 388471"/>
                <a:gd name="connsiteY4" fmla="*/ 743447 h 786501"/>
                <a:gd name="connsiteX5" fmla="*/ 265323 w 388471"/>
                <a:gd name="connsiteY5" fmla="*/ 383783 h 786501"/>
                <a:gd name="connsiteX6" fmla="*/ 350667 w 388471"/>
                <a:gd name="connsiteY6" fmla="*/ 206999 h 786501"/>
                <a:gd name="connsiteX7" fmla="*/ 381147 w 388471"/>
                <a:gd name="connsiteY7" fmla="*/ 72887 h 786501"/>
                <a:gd name="connsiteX8" fmla="*/ 217799 w 388471"/>
                <a:gd name="connsiteY8" fmla="*/ 20 h 786501"/>
                <a:gd name="connsiteX9" fmla="*/ 9291 w 388471"/>
                <a:gd name="connsiteY9" fmla="*/ 66791 h 786501"/>
                <a:gd name="connsiteX10" fmla="*/ 45867 w 388471"/>
                <a:gd name="connsiteY10" fmla="*/ 176519 h 786501"/>
                <a:gd name="connsiteX0" fmla="*/ 43410 w 388556"/>
                <a:gd name="connsiteY0" fmla="*/ 158244 h 768226"/>
                <a:gd name="connsiteX1" fmla="*/ 128754 w 388556"/>
                <a:gd name="connsiteY1" fmla="*/ 322836 h 768226"/>
                <a:gd name="connsiteX2" fmla="*/ 201906 w 388556"/>
                <a:gd name="connsiteY2" fmla="*/ 560580 h 768226"/>
                <a:gd name="connsiteX3" fmla="*/ 189714 w 388556"/>
                <a:gd name="connsiteY3" fmla="*/ 743460 h 768226"/>
                <a:gd name="connsiteX4" fmla="*/ 232386 w 388556"/>
                <a:gd name="connsiteY4" fmla="*/ 725172 h 768226"/>
                <a:gd name="connsiteX5" fmla="*/ 262866 w 388556"/>
                <a:gd name="connsiteY5" fmla="*/ 365508 h 768226"/>
                <a:gd name="connsiteX6" fmla="*/ 348210 w 388556"/>
                <a:gd name="connsiteY6" fmla="*/ 188724 h 768226"/>
                <a:gd name="connsiteX7" fmla="*/ 378690 w 388556"/>
                <a:gd name="connsiteY7" fmla="*/ 54612 h 768226"/>
                <a:gd name="connsiteX8" fmla="*/ 178766 w 388556"/>
                <a:gd name="connsiteY8" fmla="*/ 33 h 768226"/>
                <a:gd name="connsiteX9" fmla="*/ 6834 w 388556"/>
                <a:gd name="connsiteY9" fmla="*/ 48516 h 768226"/>
                <a:gd name="connsiteX10" fmla="*/ 43410 w 388556"/>
                <a:gd name="connsiteY10" fmla="*/ 158244 h 768226"/>
                <a:gd name="connsiteX0" fmla="*/ 43410 w 388556"/>
                <a:gd name="connsiteY0" fmla="*/ 134003 h 743985"/>
                <a:gd name="connsiteX1" fmla="*/ 128754 w 388556"/>
                <a:gd name="connsiteY1" fmla="*/ 298595 h 743985"/>
                <a:gd name="connsiteX2" fmla="*/ 201906 w 388556"/>
                <a:gd name="connsiteY2" fmla="*/ 536339 h 743985"/>
                <a:gd name="connsiteX3" fmla="*/ 189714 w 388556"/>
                <a:gd name="connsiteY3" fmla="*/ 719219 h 743985"/>
                <a:gd name="connsiteX4" fmla="*/ 232386 w 388556"/>
                <a:gd name="connsiteY4" fmla="*/ 700931 h 743985"/>
                <a:gd name="connsiteX5" fmla="*/ 262866 w 388556"/>
                <a:gd name="connsiteY5" fmla="*/ 341267 h 743985"/>
                <a:gd name="connsiteX6" fmla="*/ 348210 w 388556"/>
                <a:gd name="connsiteY6" fmla="*/ 164483 h 743985"/>
                <a:gd name="connsiteX7" fmla="*/ 378690 w 388556"/>
                <a:gd name="connsiteY7" fmla="*/ 30371 h 743985"/>
                <a:gd name="connsiteX8" fmla="*/ 178766 w 388556"/>
                <a:gd name="connsiteY8" fmla="*/ 176 h 743985"/>
                <a:gd name="connsiteX9" fmla="*/ 6834 w 388556"/>
                <a:gd name="connsiteY9" fmla="*/ 24275 h 743985"/>
                <a:gd name="connsiteX10" fmla="*/ 43410 w 388556"/>
                <a:gd name="connsiteY10" fmla="*/ 134003 h 743985"/>
                <a:gd name="connsiteX0" fmla="*/ 37976 w 383122"/>
                <a:gd name="connsiteY0" fmla="*/ 133876 h 743858"/>
                <a:gd name="connsiteX1" fmla="*/ 123320 w 383122"/>
                <a:gd name="connsiteY1" fmla="*/ 298468 h 743858"/>
                <a:gd name="connsiteX2" fmla="*/ 196472 w 383122"/>
                <a:gd name="connsiteY2" fmla="*/ 536212 h 743858"/>
                <a:gd name="connsiteX3" fmla="*/ 184280 w 383122"/>
                <a:gd name="connsiteY3" fmla="*/ 719092 h 743858"/>
                <a:gd name="connsiteX4" fmla="*/ 226952 w 383122"/>
                <a:gd name="connsiteY4" fmla="*/ 700804 h 743858"/>
                <a:gd name="connsiteX5" fmla="*/ 257432 w 383122"/>
                <a:gd name="connsiteY5" fmla="*/ 341140 h 743858"/>
                <a:gd name="connsiteX6" fmla="*/ 342776 w 383122"/>
                <a:gd name="connsiteY6" fmla="*/ 164356 h 743858"/>
                <a:gd name="connsiteX7" fmla="*/ 373256 w 383122"/>
                <a:gd name="connsiteY7" fmla="*/ 30244 h 743858"/>
                <a:gd name="connsiteX8" fmla="*/ 173332 w 383122"/>
                <a:gd name="connsiteY8" fmla="*/ 49 h 743858"/>
                <a:gd name="connsiteX9" fmla="*/ 7496 w 383122"/>
                <a:gd name="connsiteY9" fmla="*/ 36340 h 743858"/>
                <a:gd name="connsiteX10" fmla="*/ 37976 w 383122"/>
                <a:gd name="connsiteY10" fmla="*/ 133876 h 743858"/>
                <a:gd name="connsiteX0" fmla="*/ 37976 w 355289"/>
                <a:gd name="connsiteY0" fmla="*/ 137831 h 747813"/>
                <a:gd name="connsiteX1" fmla="*/ 123320 w 355289"/>
                <a:gd name="connsiteY1" fmla="*/ 302423 h 747813"/>
                <a:gd name="connsiteX2" fmla="*/ 196472 w 355289"/>
                <a:gd name="connsiteY2" fmla="*/ 540167 h 747813"/>
                <a:gd name="connsiteX3" fmla="*/ 184280 w 355289"/>
                <a:gd name="connsiteY3" fmla="*/ 723047 h 747813"/>
                <a:gd name="connsiteX4" fmla="*/ 226952 w 355289"/>
                <a:gd name="connsiteY4" fmla="*/ 704759 h 747813"/>
                <a:gd name="connsiteX5" fmla="*/ 257432 w 355289"/>
                <a:gd name="connsiteY5" fmla="*/ 345095 h 747813"/>
                <a:gd name="connsiteX6" fmla="*/ 342776 w 355289"/>
                <a:gd name="connsiteY6" fmla="*/ 168311 h 747813"/>
                <a:gd name="connsiteX7" fmla="*/ 336680 w 355289"/>
                <a:gd name="connsiteY7" fmla="*/ 15911 h 747813"/>
                <a:gd name="connsiteX8" fmla="*/ 173332 w 355289"/>
                <a:gd name="connsiteY8" fmla="*/ 4004 h 747813"/>
                <a:gd name="connsiteX9" fmla="*/ 7496 w 355289"/>
                <a:gd name="connsiteY9" fmla="*/ 40295 h 747813"/>
                <a:gd name="connsiteX10" fmla="*/ 37976 w 355289"/>
                <a:gd name="connsiteY10" fmla="*/ 137831 h 747813"/>
                <a:gd name="connsiteX0" fmla="*/ 37976 w 355289"/>
                <a:gd name="connsiteY0" fmla="*/ 137831 h 747813"/>
                <a:gd name="connsiteX1" fmla="*/ 123320 w 355289"/>
                <a:gd name="connsiteY1" fmla="*/ 302423 h 747813"/>
                <a:gd name="connsiteX2" fmla="*/ 196472 w 355289"/>
                <a:gd name="connsiteY2" fmla="*/ 540167 h 747813"/>
                <a:gd name="connsiteX3" fmla="*/ 184280 w 355289"/>
                <a:gd name="connsiteY3" fmla="*/ 723047 h 747813"/>
                <a:gd name="connsiteX4" fmla="*/ 226952 w 355289"/>
                <a:gd name="connsiteY4" fmla="*/ 704759 h 747813"/>
                <a:gd name="connsiteX5" fmla="*/ 257432 w 355289"/>
                <a:gd name="connsiteY5" fmla="*/ 345095 h 747813"/>
                <a:gd name="connsiteX6" fmla="*/ 342776 w 355289"/>
                <a:gd name="connsiteY6" fmla="*/ 168311 h 747813"/>
                <a:gd name="connsiteX7" fmla="*/ 336680 w 355289"/>
                <a:gd name="connsiteY7" fmla="*/ 15911 h 747813"/>
                <a:gd name="connsiteX8" fmla="*/ 173332 w 355289"/>
                <a:gd name="connsiteY8" fmla="*/ 4004 h 747813"/>
                <a:gd name="connsiteX9" fmla="*/ 7496 w 355289"/>
                <a:gd name="connsiteY9" fmla="*/ 40295 h 747813"/>
                <a:gd name="connsiteX10" fmla="*/ 37976 w 355289"/>
                <a:gd name="connsiteY10" fmla="*/ 137831 h 747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5289" h="747813">
                  <a:moveTo>
                    <a:pt x="37976" y="137831"/>
                  </a:moveTo>
                  <a:cubicBezTo>
                    <a:pt x="57280" y="181519"/>
                    <a:pt x="96904" y="235367"/>
                    <a:pt x="123320" y="302423"/>
                  </a:cubicBezTo>
                  <a:cubicBezTo>
                    <a:pt x="149736" y="369479"/>
                    <a:pt x="186312" y="470063"/>
                    <a:pt x="196472" y="540167"/>
                  </a:cubicBezTo>
                  <a:cubicBezTo>
                    <a:pt x="206632" y="610271"/>
                    <a:pt x="179200" y="695615"/>
                    <a:pt x="184280" y="723047"/>
                  </a:cubicBezTo>
                  <a:cubicBezTo>
                    <a:pt x="189360" y="750479"/>
                    <a:pt x="214760" y="767751"/>
                    <a:pt x="226952" y="704759"/>
                  </a:cubicBezTo>
                  <a:cubicBezTo>
                    <a:pt x="239144" y="641767"/>
                    <a:pt x="238128" y="434503"/>
                    <a:pt x="257432" y="345095"/>
                  </a:cubicBezTo>
                  <a:cubicBezTo>
                    <a:pt x="276736" y="255687"/>
                    <a:pt x="329568" y="223175"/>
                    <a:pt x="342776" y="168311"/>
                  </a:cubicBezTo>
                  <a:cubicBezTo>
                    <a:pt x="355984" y="113447"/>
                    <a:pt x="364921" y="43295"/>
                    <a:pt x="336680" y="15911"/>
                  </a:cubicBezTo>
                  <a:cubicBezTo>
                    <a:pt x="308439" y="-11473"/>
                    <a:pt x="235308" y="5020"/>
                    <a:pt x="173332" y="4004"/>
                  </a:cubicBezTo>
                  <a:cubicBezTo>
                    <a:pt x="111356" y="2988"/>
                    <a:pt x="30055" y="17991"/>
                    <a:pt x="7496" y="40295"/>
                  </a:cubicBezTo>
                  <a:cubicBezTo>
                    <a:pt x="-15063" y="62599"/>
                    <a:pt x="18672" y="94143"/>
                    <a:pt x="37976" y="137831"/>
                  </a:cubicBezTo>
                  <a:close/>
                </a:path>
              </a:pathLst>
            </a:cu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D448E96D-9FCF-4C66-A079-AE4801BDFE85}"/>
              </a:ext>
            </a:extLst>
          </p:cNvPr>
          <p:cNvSpPr/>
          <p:nvPr/>
        </p:nvSpPr>
        <p:spPr>
          <a:xfrm>
            <a:off x="3038923" y="4883168"/>
            <a:ext cx="5857354" cy="366602"/>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b="1" dirty="0"/>
              <a:t>USPSTF</a:t>
            </a:r>
          </a:p>
        </p:txBody>
      </p:sp>
      <p:sp>
        <p:nvSpPr>
          <p:cNvPr id="76" name="Rectangle 75">
            <a:extLst>
              <a:ext uri="{FF2B5EF4-FFF2-40B4-BE49-F238E27FC236}">
                <a16:creationId xmlns:a16="http://schemas.microsoft.com/office/drawing/2014/main" id="{BD2EB86F-ED82-4CA4-93E9-74876136FCC1}"/>
              </a:ext>
            </a:extLst>
          </p:cNvPr>
          <p:cNvSpPr/>
          <p:nvPr/>
        </p:nvSpPr>
        <p:spPr>
          <a:xfrm>
            <a:off x="3462308" y="4516564"/>
            <a:ext cx="5443269" cy="366602"/>
          </a:xfrm>
          <a:prstGeom prst="rect">
            <a:avLst/>
          </a:prstGeom>
          <a:solidFill>
            <a:schemeClr val="accent4">
              <a:lumMod val="7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b="1" dirty="0"/>
              <a:t>ACS</a:t>
            </a:r>
          </a:p>
        </p:txBody>
      </p:sp>
      <p:sp>
        <p:nvSpPr>
          <p:cNvPr id="10" name="Rectangle 9">
            <a:extLst>
              <a:ext uri="{FF2B5EF4-FFF2-40B4-BE49-F238E27FC236}">
                <a16:creationId xmlns:a16="http://schemas.microsoft.com/office/drawing/2014/main" id="{52A0807F-A5C6-4C1F-A3EF-22AE9ED537DF}"/>
              </a:ext>
            </a:extLst>
          </p:cNvPr>
          <p:cNvSpPr/>
          <p:nvPr/>
        </p:nvSpPr>
        <p:spPr>
          <a:xfrm>
            <a:off x="8894944" y="4515130"/>
            <a:ext cx="886035" cy="747811"/>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7" name="cancer screening text">
            <a:hlinkClick r:id="rId11" action="ppaction://hlinksldjump"/>
            <a:extLst>
              <a:ext uri="{FF2B5EF4-FFF2-40B4-BE49-F238E27FC236}">
                <a16:creationId xmlns:a16="http://schemas.microsoft.com/office/drawing/2014/main" id="{7D576146-E902-4A16-904A-22E1D773C0A8}"/>
              </a:ext>
            </a:extLst>
          </p:cNvPr>
          <p:cNvSpPr txBox="1"/>
          <p:nvPr/>
        </p:nvSpPr>
        <p:spPr>
          <a:xfrm>
            <a:off x="250665" y="5045459"/>
            <a:ext cx="1967278" cy="408623"/>
          </a:xfrm>
          <a:prstGeom prst="roundRect">
            <a:avLst/>
          </a:prstGeom>
          <a:ln w="38100">
            <a:solidFill>
              <a:schemeClr val="accent2"/>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Infectious Disease</a:t>
            </a:r>
          </a:p>
        </p:txBody>
      </p:sp>
      <p:pic>
        <p:nvPicPr>
          <p:cNvPr id="78" name="Graphic 77" descr="Cursor with solid fill">
            <a:extLst>
              <a:ext uri="{FF2B5EF4-FFF2-40B4-BE49-F238E27FC236}">
                <a16:creationId xmlns:a16="http://schemas.microsoft.com/office/drawing/2014/main" id="{90E0E8E6-82F3-4E0E-A87A-4DF6E5F74CFC}"/>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060407" y="5238530"/>
            <a:ext cx="395274" cy="395274"/>
          </a:xfrm>
          <a:prstGeom prst="rect">
            <a:avLst/>
          </a:prstGeom>
        </p:spPr>
      </p:pic>
      <p:pic>
        <p:nvPicPr>
          <p:cNvPr id="79" name="Graphic 78" descr="Cursor with solid fill">
            <a:hlinkClick r:id="rId10" action="ppaction://hlinksldjump"/>
            <a:extLst>
              <a:ext uri="{FF2B5EF4-FFF2-40B4-BE49-F238E27FC236}">
                <a16:creationId xmlns:a16="http://schemas.microsoft.com/office/drawing/2014/main" id="{768FEE69-FB8D-48D2-B409-B37F55B94D4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938530" y="2992616"/>
            <a:ext cx="395274" cy="395274"/>
          </a:xfrm>
          <a:prstGeom prst="rect">
            <a:avLst/>
          </a:prstGeom>
        </p:spPr>
      </p:pic>
      <p:pic>
        <p:nvPicPr>
          <p:cNvPr id="80" name="Graphic 79" descr="Cursor with solid fill">
            <a:hlinkClick r:id="rId6" action="ppaction://hlinksldjump"/>
            <a:extLst>
              <a:ext uri="{FF2B5EF4-FFF2-40B4-BE49-F238E27FC236}">
                <a16:creationId xmlns:a16="http://schemas.microsoft.com/office/drawing/2014/main" id="{2781F91A-6713-4D5E-A6C4-88188B9CD2F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938530" y="4114933"/>
            <a:ext cx="395274" cy="395274"/>
          </a:xfrm>
          <a:prstGeom prst="rect">
            <a:avLst/>
          </a:prstGeom>
        </p:spPr>
      </p:pic>
      <p:pic>
        <p:nvPicPr>
          <p:cNvPr id="81" name="Graphic 80" descr="Cursor with solid fill">
            <a:hlinkClick r:id="rId10" action="ppaction://hlinksldjump"/>
            <a:extLst>
              <a:ext uri="{FF2B5EF4-FFF2-40B4-BE49-F238E27FC236}">
                <a16:creationId xmlns:a16="http://schemas.microsoft.com/office/drawing/2014/main" id="{618679F8-B361-4CAF-85E9-A6B13F2BB1D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938530" y="2456083"/>
            <a:ext cx="395274" cy="395274"/>
          </a:xfrm>
          <a:prstGeom prst="rect">
            <a:avLst/>
          </a:prstGeom>
        </p:spPr>
      </p:pic>
      <p:pic>
        <p:nvPicPr>
          <p:cNvPr id="82" name="Graphic 81" descr="Cursor with solid fill">
            <a:hlinkClick r:id="rId5" action="ppaction://hlinksldjump"/>
            <a:extLst>
              <a:ext uri="{FF2B5EF4-FFF2-40B4-BE49-F238E27FC236}">
                <a16:creationId xmlns:a16="http://schemas.microsoft.com/office/drawing/2014/main" id="{0D4FC6DF-DEC8-45B7-9360-F250A30EE38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938530" y="4698668"/>
            <a:ext cx="395274" cy="395274"/>
          </a:xfrm>
          <a:prstGeom prst="rect">
            <a:avLst/>
          </a:prstGeom>
        </p:spPr>
      </p:pic>
      <p:grpSp>
        <p:nvGrpSpPr>
          <p:cNvPr id="83" name="Question 2 button">
            <a:extLst>
              <a:ext uri="{FF2B5EF4-FFF2-40B4-BE49-F238E27FC236}">
                <a16:creationId xmlns:a16="http://schemas.microsoft.com/office/drawing/2014/main" id="{33CDCF7E-9E8F-442D-B848-11121E751915}"/>
              </a:ext>
            </a:extLst>
          </p:cNvPr>
          <p:cNvGrpSpPr/>
          <p:nvPr/>
        </p:nvGrpSpPr>
        <p:grpSpPr>
          <a:xfrm>
            <a:off x="250666" y="118378"/>
            <a:ext cx="2631617" cy="641990"/>
            <a:chOff x="111732" y="1020981"/>
            <a:chExt cx="2631617" cy="641990"/>
          </a:xfrm>
        </p:grpSpPr>
        <p:sp>
          <p:nvSpPr>
            <p:cNvPr id="84" name="Question 2">
              <a:hlinkClick r:id="rId12" action="ppaction://hlinksldjump"/>
              <a:extLst>
                <a:ext uri="{FF2B5EF4-FFF2-40B4-BE49-F238E27FC236}">
                  <a16:creationId xmlns:a16="http://schemas.microsoft.com/office/drawing/2014/main" id="{533FB2C7-785A-4BE0-9C64-08A03352779E}"/>
                </a:ext>
              </a:extLst>
            </p:cNvPr>
            <p:cNvSpPr txBox="1"/>
            <p:nvPr/>
          </p:nvSpPr>
          <p:spPr>
            <a:xfrm>
              <a:off x="111732" y="1020981"/>
              <a:ext cx="2404590"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When to screen?</a:t>
              </a:r>
            </a:p>
          </p:txBody>
        </p:sp>
        <p:pic>
          <p:nvPicPr>
            <p:cNvPr id="85" name="Graphic 84" descr="Cursor with solid fill">
              <a:extLst>
                <a:ext uri="{FF2B5EF4-FFF2-40B4-BE49-F238E27FC236}">
                  <a16:creationId xmlns:a16="http://schemas.microsoft.com/office/drawing/2014/main" id="{D8B1D89A-0648-482B-9E27-CD57F995CF9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348075" y="1267697"/>
              <a:ext cx="395274" cy="395274"/>
            </a:xfrm>
            <a:prstGeom prst="rect">
              <a:avLst/>
            </a:prstGeom>
          </p:spPr>
        </p:pic>
      </p:grpSp>
      <p:grpSp>
        <p:nvGrpSpPr>
          <p:cNvPr id="86" name="Question 2 button">
            <a:extLst>
              <a:ext uri="{FF2B5EF4-FFF2-40B4-BE49-F238E27FC236}">
                <a16:creationId xmlns:a16="http://schemas.microsoft.com/office/drawing/2014/main" id="{8A07FB61-A58F-4F75-8615-D32F2835E740}"/>
              </a:ext>
            </a:extLst>
          </p:cNvPr>
          <p:cNvGrpSpPr/>
          <p:nvPr/>
        </p:nvGrpSpPr>
        <p:grpSpPr>
          <a:xfrm>
            <a:off x="250666" y="757570"/>
            <a:ext cx="2600289" cy="912726"/>
            <a:chOff x="197047" y="1133988"/>
            <a:chExt cx="2600289" cy="912726"/>
          </a:xfrm>
        </p:grpSpPr>
        <p:sp>
          <p:nvSpPr>
            <p:cNvPr id="87" name="Question 2">
              <a:hlinkClick r:id="rId13" action="ppaction://hlinksldjump"/>
              <a:extLst>
                <a:ext uri="{FF2B5EF4-FFF2-40B4-BE49-F238E27FC236}">
                  <a16:creationId xmlns:a16="http://schemas.microsoft.com/office/drawing/2014/main" id="{0631D974-5AFB-45A9-A538-4471D19F12EA}"/>
                </a:ext>
              </a:extLst>
            </p:cNvPr>
            <p:cNvSpPr txBox="1"/>
            <p:nvPr/>
          </p:nvSpPr>
          <p:spPr>
            <a:xfrm>
              <a:off x="197047" y="1133988"/>
              <a:ext cx="2404590" cy="715089"/>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5 domains of prevention/screening </a:t>
              </a:r>
            </a:p>
          </p:txBody>
        </p:sp>
        <p:pic>
          <p:nvPicPr>
            <p:cNvPr id="88" name="Graphic 87" descr="Cursor with solid fill">
              <a:extLst>
                <a:ext uri="{FF2B5EF4-FFF2-40B4-BE49-F238E27FC236}">
                  <a16:creationId xmlns:a16="http://schemas.microsoft.com/office/drawing/2014/main" id="{82D78601-F2F1-4229-B535-E2BADE69951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402062" y="1651440"/>
              <a:ext cx="395274" cy="395274"/>
            </a:xfrm>
            <a:prstGeom prst="rect">
              <a:avLst/>
            </a:prstGeom>
          </p:spPr>
        </p:pic>
      </p:grpSp>
    </p:spTree>
    <p:extLst>
      <p:ext uri="{BB962C8B-B14F-4D97-AF65-F5344CB8AC3E}">
        <p14:creationId xmlns:p14="http://schemas.microsoft.com/office/powerpoint/2010/main" val="332766313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21"/>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6"/>
                                        </p:tgtEl>
                                        <p:attrNameLst>
                                          <p:attrName>style.visibility</p:attrName>
                                        </p:attrNameLst>
                                      </p:cBhvr>
                                      <p:to>
                                        <p:strVal val="visible"/>
                                      </p:to>
                                    </p:set>
                                  </p:childTnLst>
                                </p:cTn>
                              </p:par>
                              <p:par>
                                <p:cTn id="11" presetID="1" presetClass="exit" presetSubtype="0" fill="hold" nodeType="withEffect">
                                  <p:stCondLst>
                                    <p:cond delay="0"/>
                                  </p:stCondLst>
                                  <p:childTnLst>
                                    <p:set>
                                      <p:cBhvr>
                                        <p:cTn id="12" dur="1" fill="hold">
                                          <p:stCondLst>
                                            <p:cond delay="0"/>
                                          </p:stCondLst>
                                        </p:cTn>
                                        <p:tgtEl>
                                          <p:spTgt spid="124"/>
                                        </p:tgtEl>
                                        <p:attrNameLst>
                                          <p:attrName>style.visibility</p:attrName>
                                        </p:attrNameLst>
                                      </p:cBhvr>
                                      <p:to>
                                        <p:strVal val="hidden"/>
                                      </p:to>
                                    </p:set>
                                  </p:childTnLst>
                                </p:cTn>
                              </p:par>
                            </p:childTnLst>
                          </p:cTn>
                        </p:par>
                      </p:childTnLst>
                    </p:cTn>
                  </p:par>
                </p:childTnLst>
              </p:cTn>
              <p:nextCondLst>
                <p:cond evt="onClick" delay="0">
                  <p:tgtEl>
                    <p:spTgt spid="121"/>
                  </p:tgtEl>
                </p:cond>
              </p:nextCondLst>
            </p:seq>
            <p:seq concurrent="1" nextAc="seek">
              <p:cTn id="13" restart="whenNotActive" fill="hold" evtFilter="cancelBubble" nodeType="interactiveSeq">
                <p:stCondLst>
                  <p:cond evt="onClick" delay="0">
                    <p:tgtEl>
                      <p:spTgt spid="122"/>
                    </p:tgtEl>
                  </p:cond>
                </p:stCondLst>
                <p:endSync evt="end" delay="0">
                  <p:rtn val="all"/>
                </p:endSync>
                <p:childTnLst>
                  <p:par>
                    <p:cTn id="14" fill="hold">
                      <p:stCondLst>
                        <p:cond delay="0"/>
                      </p:stCondLst>
                      <p:childTnLst>
                        <p:par>
                          <p:cTn id="15" fill="hold">
                            <p:stCondLst>
                              <p:cond delay="0"/>
                            </p:stCondLst>
                            <p:childTnLst>
                              <p:par>
                                <p:cTn id="16" presetID="1" presetClass="exit" presetSubtype="0" fill="hold" nodeType="withEffect">
                                  <p:stCondLst>
                                    <p:cond delay="0"/>
                                  </p:stCondLst>
                                  <p:childTnLst>
                                    <p:set>
                                      <p:cBhvr>
                                        <p:cTn id="17" dur="1" fill="hold">
                                          <p:stCondLst>
                                            <p:cond delay="0"/>
                                          </p:stCondLst>
                                        </p:cTn>
                                        <p:tgtEl>
                                          <p:spTgt spid="125"/>
                                        </p:tgtEl>
                                        <p:attrNameLst>
                                          <p:attrName>style.visibility</p:attrName>
                                        </p:attrNameLst>
                                      </p:cBhvr>
                                      <p:to>
                                        <p:strVal val="hidden"/>
                                      </p:to>
                                    </p:set>
                                  </p:childTnLst>
                                </p:cTn>
                              </p:par>
                              <p:par>
                                <p:cTn id="18" presetID="1" presetClass="entr" presetSubtype="0" fill="hold" nodeType="withEffect">
                                  <p:stCondLst>
                                    <p:cond delay="0"/>
                                  </p:stCondLst>
                                  <p:childTnLst>
                                    <p:set>
                                      <p:cBhvr>
                                        <p:cTn id="19" dur="1" fill="hold">
                                          <p:stCondLst>
                                            <p:cond delay="0"/>
                                          </p:stCondLst>
                                        </p:cTn>
                                        <p:tgtEl>
                                          <p:spTgt spid="74"/>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75"/>
                                        </p:tgtEl>
                                        <p:attrNameLst>
                                          <p:attrName>style.visibility</p:attrName>
                                        </p:attrNameLst>
                                      </p:cBhvr>
                                      <p:to>
                                        <p:strVal val="visible"/>
                                      </p:to>
                                    </p:set>
                                  </p:childTnLst>
                                </p:cTn>
                              </p:par>
                            </p:childTnLst>
                          </p:cTn>
                        </p:par>
                      </p:childTnLst>
                    </p:cTn>
                  </p:par>
                </p:childTnLst>
              </p:cTn>
              <p:nextCondLst>
                <p:cond evt="onClick" delay="0">
                  <p:tgtEl>
                    <p:spTgt spid="122"/>
                  </p:tgtEl>
                </p:cond>
              </p:nextCondLst>
            </p:seq>
            <p:seq concurrent="1" nextAc="seek">
              <p:cTn id="22" restart="whenNotActive" fill="hold" evtFilter="cancelBubble" nodeType="interactiveSeq">
                <p:stCondLst>
                  <p:cond evt="onClick" delay="0">
                    <p:tgtEl>
                      <p:spTgt spid="123"/>
                    </p:tgtEl>
                  </p:cond>
                </p:stCondLst>
                <p:endSync evt="end" delay="0">
                  <p:rtn val="all"/>
                </p:endSync>
                <p:childTnLst>
                  <p:par>
                    <p:cTn id="23" fill="hold">
                      <p:stCondLst>
                        <p:cond delay="0"/>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0"/>
                                        </p:tgtEl>
                                        <p:attrNameLst>
                                          <p:attrName>style.visibility</p:attrName>
                                        </p:attrNameLst>
                                      </p:cBhvr>
                                      <p:to>
                                        <p:strVal val="visible"/>
                                      </p:to>
                                    </p:set>
                                  </p:childTnLst>
                                </p:cTn>
                              </p:par>
                              <p:par>
                                <p:cTn id="27" presetID="1" presetClass="exit" presetSubtype="0" fill="hold" nodeType="withEffect">
                                  <p:stCondLst>
                                    <p:cond delay="0"/>
                                  </p:stCondLst>
                                  <p:childTnLst>
                                    <p:set>
                                      <p:cBhvr>
                                        <p:cTn id="28" dur="1" fill="hold">
                                          <p:stCondLst>
                                            <p:cond delay="0"/>
                                          </p:stCondLst>
                                        </p:cTn>
                                        <p:tgtEl>
                                          <p:spTgt spid="126"/>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childTnLst>
              </p:cTn>
              <p:nextCondLst>
                <p:cond evt="onClick" delay="0">
                  <p:tgtEl>
                    <p:spTgt spid="123"/>
                  </p:tgtEl>
                </p:cond>
              </p:nextCondLst>
            </p:seq>
          </p:childTnLst>
        </p:cTn>
      </p:par>
    </p:tnLst>
    <p:bldLst>
      <p:bldP spid="52" grpId="0"/>
      <p:bldP spid="50" grpId="0"/>
      <p:bldP spid="9" grpId="0" animBg="1"/>
      <p:bldP spid="76" grpId="0" animBg="1"/>
      <p:bldP spid="10" grpId="0" animBg="1"/>
    </p:bldLst>
  </p:timing>
  <p:extLst>
    <p:ext uri="{E180D4A7-C9FB-4DFB-919C-405C955672EB}">
      <p14:showEvtLst xmlns:p14="http://schemas.microsoft.com/office/powerpoint/2010/main">
        <p14:triggerEvt type="onClick" time="1606" objId="121"/>
        <p14:triggerEvt type="onClick" time="27698" objId="122"/>
        <p14:triggerEvt type="onClick" time="30739" objId="123"/>
      </p14:showEvtLst>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Rectangle 96">
            <a:extLst>
              <a:ext uri="{FF2B5EF4-FFF2-40B4-BE49-F238E27FC236}">
                <a16:creationId xmlns:a16="http://schemas.microsoft.com/office/drawing/2014/main" id="{60FD2C94-23AD-453C-A55F-38ABF773540E}"/>
              </a:ext>
            </a:extLst>
          </p:cNvPr>
          <p:cNvSpPr/>
          <p:nvPr/>
        </p:nvSpPr>
        <p:spPr>
          <a:xfrm>
            <a:off x="2902349" y="118378"/>
            <a:ext cx="6889263" cy="63919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Lung Cancer</a:t>
            </a:r>
          </a:p>
        </p:txBody>
      </p:sp>
      <p:sp>
        <p:nvSpPr>
          <p:cNvPr id="98" name="cancer screening text">
            <a:extLst>
              <a:ext uri="{FF2B5EF4-FFF2-40B4-BE49-F238E27FC236}">
                <a16:creationId xmlns:a16="http://schemas.microsoft.com/office/drawing/2014/main" id="{9ECC0811-677B-4C06-9A05-086F177CD50A}"/>
              </a:ext>
            </a:extLst>
          </p:cNvPr>
          <p:cNvSpPr txBox="1"/>
          <p:nvPr/>
        </p:nvSpPr>
        <p:spPr>
          <a:xfrm>
            <a:off x="250666" y="1662473"/>
            <a:ext cx="1967278" cy="408623"/>
          </a:xfrm>
          <a:prstGeom prst="roundRect">
            <a:avLst/>
          </a:prstGeom>
          <a:solidFill>
            <a:schemeClr val="accent1"/>
          </a:solidFill>
          <a:ln w="38100">
            <a:solidFill>
              <a:schemeClr val="accent1"/>
            </a:solidFill>
          </a:ln>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bg1"/>
                </a:solidFill>
              </a:rPr>
              <a:t>Cancer Screening</a:t>
            </a:r>
          </a:p>
        </p:txBody>
      </p:sp>
      <p:sp>
        <p:nvSpPr>
          <p:cNvPr id="102" name="sub-q 2">
            <a:hlinkClick r:id="rId3" action="ppaction://hlinksldjump"/>
            <a:extLst>
              <a:ext uri="{FF2B5EF4-FFF2-40B4-BE49-F238E27FC236}">
                <a16:creationId xmlns:a16="http://schemas.microsoft.com/office/drawing/2014/main" id="{282418AB-781B-4F8A-B21E-B7950DDC1D8D}"/>
              </a:ext>
            </a:extLst>
          </p:cNvPr>
          <p:cNvSpPr txBox="1"/>
          <p:nvPr/>
        </p:nvSpPr>
        <p:spPr>
          <a:xfrm>
            <a:off x="498238" y="2771697"/>
            <a:ext cx="1608491"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Colon</a:t>
            </a:r>
          </a:p>
        </p:txBody>
      </p:sp>
      <p:grpSp>
        <p:nvGrpSpPr>
          <p:cNvPr id="104" name="sub-group arrows">
            <a:extLst>
              <a:ext uri="{FF2B5EF4-FFF2-40B4-BE49-F238E27FC236}">
                <a16:creationId xmlns:a16="http://schemas.microsoft.com/office/drawing/2014/main" id="{C022DF5B-D367-49E3-A4B3-8635B54D9F9A}"/>
              </a:ext>
            </a:extLst>
          </p:cNvPr>
          <p:cNvGrpSpPr/>
          <p:nvPr/>
        </p:nvGrpSpPr>
        <p:grpSpPr>
          <a:xfrm>
            <a:off x="325393" y="2072495"/>
            <a:ext cx="172846" cy="903514"/>
            <a:chOff x="325393" y="2072495"/>
            <a:chExt cx="172846" cy="903514"/>
          </a:xfrm>
        </p:grpSpPr>
        <p:cxnSp>
          <p:nvCxnSpPr>
            <p:cNvPr id="105" name="Connector: Elbow 104">
              <a:extLst>
                <a:ext uri="{FF2B5EF4-FFF2-40B4-BE49-F238E27FC236}">
                  <a16:creationId xmlns:a16="http://schemas.microsoft.com/office/drawing/2014/main" id="{7FE0C69F-2808-4909-84F5-B8C3E90937F4}"/>
                </a:ext>
              </a:extLst>
            </p:cNvPr>
            <p:cNvCxnSpPr>
              <a:cxnSpLocks/>
            </p:cNvCxnSpPr>
            <p:nvPr/>
          </p:nvCxnSpPr>
          <p:spPr>
            <a:xfrm rot="16200000" flipH="1">
              <a:off x="235610" y="2162278"/>
              <a:ext cx="352412" cy="172846"/>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106" name="Connector: Elbow 105">
              <a:extLst>
                <a:ext uri="{FF2B5EF4-FFF2-40B4-BE49-F238E27FC236}">
                  <a16:creationId xmlns:a16="http://schemas.microsoft.com/office/drawing/2014/main" id="{3AD695DD-9EAA-4BBD-88D3-F25597066B2C}"/>
                </a:ext>
              </a:extLst>
            </p:cNvPr>
            <p:cNvCxnSpPr>
              <a:cxnSpLocks/>
              <a:endCxn id="102" idx="1"/>
            </p:cNvCxnSpPr>
            <p:nvPr/>
          </p:nvCxnSpPr>
          <p:spPr>
            <a:xfrm rot="16200000" flipH="1">
              <a:off x="-35902" y="2441869"/>
              <a:ext cx="895436" cy="172844"/>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grpSp>
      <p:grpSp>
        <p:nvGrpSpPr>
          <p:cNvPr id="107" name="sub-group arrows">
            <a:extLst>
              <a:ext uri="{FF2B5EF4-FFF2-40B4-BE49-F238E27FC236}">
                <a16:creationId xmlns:a16="http://schemas.microsoft.com/office/drawing/2014/main" id="{71F7B2B2-6A70-412C-A452-BAC8E0192B1A}"/>
              </a:ext>
            </a:extLst>
          </p:cNvPr>
          <p:cNvGrpSpPr/>
          <p:nvPr/>
        </p:nvGrpSpPr>
        <p:grpSpPr>
          <a:xfrm>
            <a:off x="325394" y="3169916"/>
            <a:ext cx="172844" cy="904913"/>
            <a:chOff x="479213" y="1473534"/>
            <a:chExt cx="172844" cy="904913"/>
          </a:xfrm>
        </p:grpSpPr>
        <p:cxnSp>
          <p:nvCxnSpPr>
            <p:cNvPr id="108" name="Connector: Elbow 107">
              <a:extLst>
                <a:ext uri="{FF2B5EF4-FFF2-40B4-BE49-F238E27FC236}">
                  <a16:creationId xmlns:a16="http://schemas.microsoft.com/office/drawing/2014/main" id="{1B0149C1-77F1-4DD5-8376-5FE4E26EF408}"/>
                </a:ext>
              </a:extLst>
            </p:cNvPr>
            <p:cNvCxnSpPr>
              <a:cxnSpLocks/>
            </p:cNvCxnSpPr>
            <p:nvPr/>
          </p:nvCxnSpPr>
          <p:spPr>
            <a:xfrm rot="16200000" flipH="1">
              <a:off x="389429" y="1563318"/>
              <a:ext cx="352412" cy="172843"/>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109" name="Connector: Elbow 108">
              <a:extLst>
                <a:ext uri="{FF2B5EF4-FFF2-40B4-BE49-F238E27FC236}">
                  <a16:creationId xmlns:a16="http://schemas.microsoft.com/office/drawing/2014/main" id="{8F262EC8-3528-4103-B7D4-36F10F56B6B0}"/>
                </a:ext>
              </a:extLst>
            </p:cNvPr>
            <p:cNvCxnSpPr>
              <a:cxnSpLocks/>
            </p:cNvCxnSpPr>
            <p:nvPr/>
          </p:nvCxnSpPr>
          <p:spPr>
            <a:xfrm rot="16200000" flipH="1">
              <a:off x="117918" y="1844308"/>
              <a:ext cx="895435" cy="172843"/>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grpSp>
      <p:sp>
        <p:nvSpPr>
          <p:cNvPr id="110" name="sub-q 2">
            <a:hlinkClick r:id="rId4" action="ppaction://hlinksldjump"/>
            <a:extLst>
              <a:ext uri="{FF2B5EF4-FFF2-40B4-BE49-F238E27FC236}">
                <a16:creationId xmlns:a16="http://schemas.microsoft.com/office/drawing/2014/main" id="{E5B8EC3E-2FE4-4B6E-94F7-1A413E77D069}"/>
              </a:ext>
            </a:extLst>
          </p:cNvPr>
          <p:cNvSpPr txBox="1"/>
          <p:nvPr/>
        </p:nvSpPr>
        <p:spPr>
          <a:xfrm>
            <a:off x="504771" y="3324199"/>
            <a:ext cx="1608491"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Cervical</a:t>
            </a:r>
          </a:p>
        </p:txBody>
      </p:sp>
      <p:cxnSp>
        <p:nvCxnSpPr>
          <p:cNvPr id="112" name="Straight Connector 111">
            <a:extLst>
              <a:ext uri="{FF2B5EF4-FFF2-40B4-BE49-F238E27FC236}">
                <a16:creationId xmlns:a16="http://schemas.microsoft.com/office/drawing/2014/main" id="{D96ED0B0-F461-4CE0-93BC-E857256CC465}"/>
              </a:ext>
            </a:extLst>
          </p:cNvPr>
          <p:cNvCxnSpPr/>
          <p:nvPr/>
        </p:nvCxnSpPr>
        <p:spPr>
          <a:xfrm>
            <a:off x="325394" y="2976008"/>
            <a:ext cx="0" cy="34819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3" name="sub-group arrows">
            <a:extLst>
              <a:ext uri="{FF2B5EF4-FFF2-40B4-BE49-F238E27FC236}">
                <a16:creationId xmlns:a16="http://schemas.microsoft.com/office/drawing/2014/main" id="{8AA2B209-5C9B-4ABA-AD44-1BB9FFC388C8}"/>
              </a:ext>
            </a:extLst>
          </p:cNvPr>
          <p:cNvGrpSpPr/>
          <p:nvPr/>
        </p:nvGrpSpPr>
        <p:grpSpPr>
          <a:xfrm>
            <a:off x="325213" y="3735583"/>
            <a:ext cx="172844" cy="904913"/>
            <a:chOff x="479213" y="1473534"/>
            <a:chExt cx="172844" cy="904913"/>
          </a:xfrm>
        </p:grpSpPr>
        <p:cxnSp>
          <p:nvCxnSpPr>
            <p:cNvPr id="114" name="Connector: Elbow 113">
              <a:extLst>
                <a:ext uri="{FF2B5EF4-FFF2-40B4-BE49-F238E27FC236}">
                  <a16:creationId xmlns:a16="http://schemas.microsoft.com/office/drawing/2014/main" id="{3F2212A7-817C-4C37-9289-4470ECCD973D}"/>
                </a:ext>
              </a:extLst>
            </p:cNvPr>
            <p:cNvCxnSpPr>
              <a:cxnSpLocks/>
            </p:cNvCxnSpPr>
            <p:nvPr/>
          </p:nvCxnSpPr>
          <p:spPr>
            <a:xfrm rot="16200000" flipH="1">
              <a:off x="389429" y="1563318"/>
              <a:ext cx="352412" cy="172843"/>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115" name="Connector: Elbow 114">
              <a:extLst>
                <a:ext uri="{FF2B5EF4-FFF2-40B4-BE49-F238E27FC236}">
                  <a16:creationId xmlns:a16="http://schemas.microsoft.com/office/drawing/2014/main" id="{6CB6C2D1-D720-43A7-BC5C-66281ED4FAAC}"/>
                </a:ext>
              </a:extLst>
            </p:cNvPr>
            <p:cNvCxnSpPr>
              <a:cxnSpLocks/>
            </p:cNvCxnSpPr>
            <p:nvPr/>
          </p:nvCxnSpPr>
          <p:spPr>
            <a:xfrm rot="16200000" flipH="1">
              <a:off x="117918" y="1844308"/>
              <a:ext cx="895435" cy="172843"/>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grpSp>
      <p:cxnSp>
        <p:nvCxnSpPr>
          <p:cNvPr id="116" name="Straight Connector 115">
            <a:extLst>
              <a:ext uri="{FF2B5EF4-FFF2-40B4-BE49-F238E27FC236}">
                <a16:creationId xmlns:a16="http://schemas.microsoft.com/office/drawing/2014/main" id="{3AD7F41E-1873-476A-83B0-49CEEE94023B}"/>
              </a:ext>
            </a:extLst>
          </p:cNvPr>
          <p:cNvCxnSpPr/>
          <p:nvPr/>
        </p:nvCxnSpPr>
        <p:spPr>
          <a:xfrm>
            <a:off x="325394" y="4070143"/>
            <a:ext cx="0" cy="34819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7" name="sub-q 2">
            <a:hlinkClick r:id="rId5" action="ppaction://hlinksldjump"/>
            <a:extLst>
              <a:ext uri="{FF2B5EF4-FFF2-40B4-BE49-F238E27FC236}">
                <a16:creationId xmlns:a16="http://schemas.microsoft.com/office/drawing/2014/main" id="{6E4D1D00-BCE5-4EEE-84FF-8FC0997515D3}"/>
              </a:ext>
            </a:extLst>
          </p:cNvPr>
          <p:cNvSpPr txBox="1"/>
          <p:nvPr/>
        </p:nvSpPr>
        <p:spPr>
          <a:xfrm>
            <a:off x="504771" y="3905327"/>
            <a:ext cx="1608491" cy="408623"/>
          </a:xfrm>
          <a:prstGeom prst="roundRect">
            <a:avLst/>
          </a:prstGeom>
          <a:solidFill>
            <a:schemeClr val="accent2"/>
          </a:solidFill>
          <a:ln w="38100"/>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ctr"/>
            <a:r>
              <a:rPr lang="en-US" dirty="0"/>
              <a:t>Lung</a:t>
            </a:r>
          </a:p>
        </p:txBody>
      </p:sp>
      <p:sp>
        <p:nvSpPr>
          <p:cNvPr id="119" name="sub-q 2">
            <a:hlinkClick r:id="rId6" action="ppaction://hlinksldjump"/>
            <a:extLst>
              <a:ext uri="{FF2B5EF4-FFF2-40B4-BE49-F238E27FC236}">
                <a16:creationId xmlns:a16="http://schemas.microsoft.com/office/drawing/2014/main" id="{382F7AEA-F32D-496E-81BD-F9A8D0B51B8E}"/>
              </a:ext>
            </a:extLst>
          </p:cNvPr>
          <p:cNvSpPr txBox="1"/>
          <p:nvPr/>
        </p:nvSpPr>
        <p:spPr>
          <a:xfrm>
            <a:off x="504771" y="4474545"/>
            <a:ext cx="1608491"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Prostate</a:t>
            </a:r>
          </a:p>
        </p:txBody>
      </p:sp>
      <p:sp>
        <p:nvSpPr>
          <p:cNvPr id="121" name="Population">
            <a:extLst>
              <a:ext uri="{FF2B5EF4-FFF2-40B4-BE49-F238E27FC236}">
                <a16:creationId xmlns:a16="http://schemas.microsoft.com/office/drawing/2014/main" id="{C99F06D1-A87E-4CB3-A4ED-4F03EF3C50BA}"/>
              </a:ext>
            </a:extLst>
          </p:cNvPr>
          <p:cNvSpPr/>
          <p:nvPr/>
        </p:nvSpPr>
        <p:spPr>
          <a:xfrm>
            <a:off x="3140359" y="1183085"/>
            <a:ext cx="2531092" cy="629768"/>
          </a:xfrm>
          <a:prstGeom prst="roundRect">
            <a:avLst/>
          </a:prstGeom>
          <a:ln w="38100">
            <a:solidFill>
              <a:schemeClr val="accent2">
                <a:lumMod val="75000"/>
              </a:schemeClr>
            </a:solidFill>
          </a:ln>
          <a:effectLst>
            <a:outerShdw blurRad="50800" dist="38100" dir="2700000" algn="tl" rotWithShape="0">
              <a:prstClr val="black">
                <a:alpha val="40000"/>
              </a:prstClr>
            </a:outerShdw>
          </a:effectLst>
        </p:spPr>
        <p:style>
          <a:lnRef idx="3">
            <a:schemeClr val="lt1"/>
          </a:lnRef>
          <a:fillRef idx="1">
            <a:schemeClr val="accent2"/>
          </a:fillRef>
          <a:effectRef idx="1">
            <a:schemeClr val="accent2"/>
          </a:effectRef>
          <a:fontRef idx="minor">
            <a:schemeClr val="lt1"/>
          </a:fontRef>
        </p:style>
        <p:txBody>
          <a:bodyPr rtlCol="0" anchor="ctr"/>
          <a:lstStyle/>
          <a:p>
            <a:pPr algn="ctr"/>
            <a:r>
              <a:rPr lang="en-US" sz="2000" b="1" dirty="0"/>
              <a:t>Population?</a:t>
            </a:r>
          </a:p>
        </p:txBody>
      </p:sp>
      <p:sp>
        <p:nvSpPr>
          <p:cNvPr id="122" name="Interval">
            <a:extLst>
              <a:ext uri="{FF2B5EF4-FFF2-40B4-BE49-F238E27FC236}">
                <a16:creationId xmlns:a16="http://schemas.microsoft.com/office/drawing/2014/main" id="{AA5500C0-A28E-4C0E-9A2C-4738B3A5C521}"/>
              </a:ext>
            </a:extLst>
          </p:cNvPr>
          <p:cNvSpPr/>
          <p:nvPr/>
        </p:nvSpPr>
        <p:spPr>
          <a:xfrm>
            <a:off x="6142445" y="1174751"/>
            <a:ext cx="2753832" cy="639192"/>
          </a:xfrm>
          <a:prstGeom prst="roundRect">
            <a:avLst/>
          </a:prstGeom>
          <a:ln w="38100">
            <a:solidFill>
              <a:schemeClr val="accent2">
                <a:lumMod val="75000"/>
              </a:schemeClr>
            </a:solidFill>
          </a:ln>
          <a:effectLst>
            <a:outerShdw blurRad="50800" dist="38100" dir="2700000" algn="tl" rotWithShape="0">
              <a:prstClr val="black">
                <a:alpha val="40000"/>
              </a:prstClr>
            </a:outerShdw>
          </a:effectLst>
        </p:spPr>
        <p:style>
          <a:lnRef idx="3">
            <a:schemeClr val="lt1"/>
          </a:lnRef>
          <a:fillRef idx="1">
            <a:schemeClr val="accent2"/>
          </a:fillRef>
          <a:effectRef idx="1">
            <a:schemeClr val="accent2"/>
          </a:effectRef>
          <a:fontRef idx="minor">
            <a:schemeClr val="lt1"/>
          </a:fontRef>
        </p:style>
        <p:txBody>
          <a:bodyPr rtlCol="0" anchor="ctr"/>
          <a:lstStyle/>
          <a:p>
            <a:pPr algn="ctr"/>
            <a:r>
              <a:rPr lang="en-US" sz="2000" b="1" dirty="0"/>
              <a:t>Modality and Interval?</a:t>
            </a:r>
          </a:p>
        </p:txBody>
      </p:sp>
      <p:sp>
        <p:nvSpPr>
          <p:cNvPr id="123" name="Discontinuation">
            <a:extLst>
              <a:ext uri="{FF2B5EF4-FFF2-40B4-BE49-F238E27FC236}">
                <a16:creationId xmlns:a16="http://schemas.microsoft.com/office/drawing/2014/main" id="{9764FED7-14C9-4958-9BC5-8C9606B04315}"/>
              </a:ext>
            </a:extLst>
          </p:cNvPr>
          <p:cNvSpPr/>
          <p:nvPr/>
        </p:nvSpPr>
        <p:spPr>
          <a:xfrm>
            <a:off x="9469285" y="1179416"/>
            <a:ext cx="2171371" cy="639192"/>
          </a:xfrm>
          <a:prstGeom prst="roundRect">
            <a:avLst/>
          </a:prstGeom>
          <a:ln w="38100">
            <a:solidFill>
              <a:schemeClr val="accent2">
                <a:lumMod val="75000"/>
              </a:schemeClr>
            </a:solidFill>
          </a:ln>
          <a:effectLst>
            <a:outerShdw blurRad="50800" dist="38100" dir="2700000" algn="tl" rotWithShape="0">
              <a:prstClr val="black">
                <a:alpha val="40000"/>
              </a:prstClr>
            </a:outerShdw>
          </a:effectLst>
        </p:spPr>
        <p:style>
          <a:lnRef idx="3">
            <a:schemeClr val="lt1"/>
          </a:lnRef>
          <a:fillRef idx="1">
            <a:schemeClr val="accent2"/>
          </a:fillRef>
          <a:effectRef idx="1">
            <a:schemeClr val="accent2"/>
          </a:effectRef>
          <a:fontRef idx="minor">
            <a:schemeClr val="lt1"/>
          </a:fontRef>
        </p:style>
        <p:txBody>
          <a:bodyPr rtlCol="0" anchor="ctr"/>
          <a:lstStyle/>
          <a:p>
            <a:pPr algn="ctr"/>
            <a:r>
              <a:rPr lang="en-US" sz="2000" b="1" dirty="0"/>
              <a:t>Discontinuation?</a:t>
            </a:r>
          </a:p>
        </p:txBody>
      </p:sp>
      <p:pic>
        <p:nvPicPr>
          <p:cNvPr id="124" name="Graphic 123" descr="Cursor with solid fill">
            <a:extLst>
              <a:ext uri="{FF2B5EF4-FFF2-40B4-BE49-F238E27FC236}">
                <a16:creationId xmlns:a16="http://schemas.microsoft.com/office/drawing/2014/main" id="{AEED258D-0461-4023-BD78-16CE936F8E7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458928" y="1577389"/>
            <a:ext cx="395274" cy="395274"/>
          </a:xfrm>
          <a:prstGeom prst="rect">
            <a:avLst/>
          </a:prstGeom>
        </p:spPr>
      </p:pic>
      <p:pic>
        <p:nvPicPr>
          <p:cNvPr id="125" name="Graphic 124" descr="Cursor with solid fill">
            <a:extLst>
              <a:ext uri="{FF2B5EF4-FFF2-40B4-BE49-F238E27FC236}">
                <a16:creationId xmlns:a16="http://schemas.microsoft.com/office/drawing/2014/main" id="{5E3F3D47-0492-4537-B1F8-4074F3EF48C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698640" y="1589771"/>
            <a:ext cx="395274" cy="395274"/>
          </a:xfrm>
          <a:prstGeom prst="rect">
            <a:avLst/>
          </a:prstGeom>
        </p:spPr>
      </p:pic>
      <p:pic>
        <p:nvPicPr>
          <p:cNvPr id="126" name="Graphic 125" descr="Cursor with solid fill">
            <a:extLst>
              <a:ext uri="{FF2B5EF4-FFF2-40B4-BE49-F238E27FC236}">
                <a16:creationId xmlns:a16="http://schemas.microsoft.com/office/drawing/2014/main" id="{084C6D4E-B543-4114-A3AE-8363191AFBC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1426311" y="1575265"/>
            <a:ext cx="395274" cy="395274"/>
          </a:xfrm>
          <a:prstGeom prst="rect">
            <a:avLst/>
          </a:prstGeom>
        </p:spPr>
      </p:pic>
      <p:grpSp>
        <p:nvGrpSpPr>
          <p:cNvPr id="45" name="Cases button">
            <a:extLst>
              <a:ext uri="{FF2B5EF4-FFF2-40B4-BE49-F238E27FC236}">
                <a16:creationId xmlns:a16="http://schemas.microsoft.com/office/drawing/2014/main" id="{DCA7A660-E6C8-4419-8BFA-F355DD76249D}"/>
              </a:ext>
            </a:extLst>
          </p:cNvPr>
          <p:cNvGrpSpPr/>
          <p:nvPr/>
        </p:nvGrpSpPr>
        <p:grpSpPr>
          <a:xfrm>
            <a:off x="307848" y="6121182"/>
            <a:ext cx="2082939" cy="606260"/>
            <a:chOff x="207505" y="5523621"/>
            <a:chExt cx="2082939" cy="606260"/>
          </a:xfrm>
        </p:grpSpPr>
        <p:sp>
          <p:nvSpPr>
            <p:cNvPr id="46" name="Cases">
              <a:hlinkClick r:id="rId9" action="ppaction://hlinksldjump"/>
              <a:extLst>
                <a:ext uri="{FF2B5EF4-FFF2-40B4-BE49-F238E27FC236}">
                  <a16:creationId xmlns:a16="http://schemas.microsoft.com/office/drawing/2014/main" id="{5B83F8D2-54A2-4E18-9BBC-11158B4CC716}"/>
                </a:ext>
              </a:extLst>
            </p:cNvPr>
            <p:cNvSpPr txBox="1"/>
            <p:nvPr/>
          </p:nvSpPr>
          <p:spPr>
            <a:xfrm>
              <a:off x="207505" y="5523621"/>
              <a:ext cx="1910096"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CASES</a:t>
              </a:r>
            </a:p>
          </p:txBody>
        </p:sp>
        <p:pic>
          <p:nvPicPr>
            <p:cNvPr id="47" name="Graphic 46" descr="Cursor with solid fill">
              <a:hlinkClick r:id="rId9" action="ppaction://hlinksldjump"/>
              <a:extLst>
                <a:ext uri="{FF2B5EF4-FFF2-40B4-BE49-F238E27FC236}">
                  <a16:creationId xmlns:a16="http://schemas.microsoft.com/office/drawing/2014/main" id="{3499B5E3-4B3B-42D4-B6AB-597D4A47D90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895170" y="5734607"/>
              <a:ext cx="395274" cy="395274"/>
            </a:xfrm>
            <a:prstGeom prst="rect">
              <a:avLst/>
            </a:prstGeom>
          </p:spPr>
        </p:pic>
      </p:grpSp>
      <p:sp>
        <p:nvSpPr>
          <p:cNvPr id="51" name="TextBox 50">
            <a:extLst>
              <a:ext uri="{FF2B5EF4-FFF2-40B4-BE49-F238E27FC236}">
                <a16:creationId xmlns:a16="http://schemas.microsoft.com/office/drawing/2014/main" id="{D41469A1-8070-4C4A-9535-0706C0BB82DA}"/>
              </a:ext>
            </a:extLst>
          </p:cNvPr>
          <p:cNvSpPr txBox="1"/>
          <p:nvPr/>
        </p:nvSpPr>
        <p:spPr>
          <a:xfrm>
            <a:off x="3016790" y="1996935"/>
            <a:ext cx="2753832" cy="1200329"/>
          </a:xfrm>
          <a:prstGeom prst="rect">
            <a:avLst/>
          </a:prstGeom>
          <a:noFill/>
        </p:spPr>
        <p:txBody>
          <a:bodyPr wrap="square" rtlCol="0">
            <a:spAutoFit/>
          </a:bodyPr>
          <a:lstStyle/>
          <a:p>
            <a:pPr algn="ctr" rtl="0" fontAlgn="base"/>
            <a:r>
              <a:rPr lang="en-US" b="0" i="0" dirty="0">
                <a:solidFill>
                  <a:srgbClr val="000000"/>
                </a:solidFill>
                <a:effectLst/>
                <a:latin typeface="Calibri" panose="020F0502020204030204" pitchFamily="34" charset="0"/>
              </a:rPr>
              <a:t>Ages 50-80 with at least </a:t>
            </a:r>
          </a:p>
          <a:p>
            <a:pPr algn="ctr" rtl="0" fontAlgn="base"/>
            <a:r>
              <a:rPr lang="en-US" b="0" i="0" dirty="0">
                <a:solidFill>
                  <a:srgbClr val="000000"/>
                </a:solidFill>
                <a:effectLst/>
                <a:latin typeface="Calibri" panose="020F0502020204030204" pitchFamily="34" charset="0"/>
              </a:rPr>
              <a:t>20 pack-year history + smoked within the past 15y (Grade B)</a:t>
            </a:r>
            <a:endParaRPr lang="en-US" sz="1800" b="0" i="0" dirty="0">
              <a:solidFill>
                <a:srgbClr val="000000"/>
              </a:solidFill>
              <a:effectLst/>
            </a:endParaRPr>
          </a:p>
        </p:txBody>
      </p:sp>
      <p:grpSp>
        <p:nvGrpSpPr>
          <p:cNvPr id="52" name="Group 51">
            <a:extLst>
              <a:ext uri="{FF2B5EF4-FFF2-40B4-BE49-F238E27FC236}">
                <a16:creationId xmlns:a16="http://schemas.microsoft.com/office/drawing/2014/main" id="{18664A7F-DDAF-44D9-B7B8-7F91087E221B}"/>
              </a:ext>
            </a:extLst>
          </p:cNvPr>
          <p:cNvGrpSpPr/>
          <p:nvPr/>
        </p:nvGrpSpPr>
        <p:grpSpPr>
          <a:xfrm>
            <a:off x="4028223" y="2027039"/>
            <a:ext cx="6982276" cy="1970775"/>
            <a:chOff x="4028223" y="2027039"/>
            <a:chExt cx="6982276" cy="1970775"/>
          </a:xfrm>
        </p:grpSpPr>
        <p:sp>
          <p:nvSpPr>
            <p:cNvPr id="53" name="TextBox 52">
              <a:extLst>
                <a:ext uri="{FF2B5EF4-FFF2-40B4-BE49-F238E27FC236}">
                  <a16:creationId xmlns:a16="http://schemas.microsoft.com/office/drawing/2014/main" id="{BA3C803E-5AE7-40AC-9B62-9992B9C3DCA9}"/>
                </a:ext>
              </a:extLst>
            </p:cNvPr>
            <p:cNvSpPr txBox="1"/>
            <p:nvPr/>
          </p:nvSpPr>
          <p:spPr>
            <a:xfrm>
              <a:off x="6096000" y="2027039"/>
              <a:ext cx="2896781" cy="369332"/>
            </a:xfrm>
            <a:prstGeom prst="rect">
              <a:avLst/>
            </a:prstGeom>
            <a:noFill/>
          </p:spPr>
          <p:txBody>
            <a:bodyPr wrap="square" rtlCol="0">
              <a:spAutoFit/>
            </a:bodyPr>
            <a:lstStyle/>
            <a:p>
              <a:pPr algn="ctr" rtl="0" fontAlgn="base"/>
              <a:r>
                <a:rPr lang="en-US" dirty="0">
                  <a:solidFill>
                    <a:srgbClr val="000000"/>
                  </a:solidFill>
                  <a:latin typeface="Calibri" panose="020F0502020204030204" pitchFamily="34" charset="0"/>
                </a:rPr>
                <a:t>Annual low-dose CT scan</a:t>
              </a:r>
            </a:p>
          </p:txBody>
        </p:sp>
        <p:sp>
          <p:nvSpPr>
            <p:cNvPr id="54" name="Rectangle: Rounded Corners 53">
              <a:extLst>
                <a:ext uri="{FF2B5EF4-FFF2-40B4-BE49-F238E27FC236}">
                  <a16:creationId xmlns:a16="http://schemas.microsoft.com/office/drawing/2014/main" id="{6A34FFD6-31EE-4C32-A3CD-ED84C31B3F7E}"/>
                </a:ext>
              </a:extLst>
            </p:cNvPr>
            <p:cNvSpPr/>
            <p:nvPr/>
          </p:nvSpPr>
          <p:spPr>
            <a:xfrm>
              <a:off x="4028223" y="3256408"/>
              <a:ext cx="6982276" cy="741406"/>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r>
                <a:rPr lang="en-US" dirty="0"/>
                <a:t>Medicare requires a </a:t>
              </a:r>
              <a:r>
                <a:rPr lang="en-US" b="1" dirty="0"/>
                <a:t>shared decision-making</a:t>
              </a:r>
              <a:r>
                <a:rPr lang="en-US" dirty="0"/>
                <a:t> visit prior to first screening. </a:t>
              </a:r>
            </a:p>
          </p:txBody>
        </p:sp>
        <p:cxnSp>
          <p:nvCxnSpPr>
            <p:cNvPr id="55" name="Straight Arrow Connector 54">
              <a:extLst>
                <a:ext uri="{FF2B5EF4-FFF2-40B4-BE49-F238E27FC236}">
                  <a16:creationId xmlns:a16="http://schemas.microsoft.com/office/drawing/2014/main" id="{4F769FAA-7362-43F8-AA42-A26244C68D09}"/>
                </a:ext>
              </a:extLst>
            </p:cNvPr>
            <p:cNvCxnSpPr>
              <a:cxnSpLocks/>
              <a:stCxn id="53" idx="2"/>
            </p:cNvCxnSpPr>
            <p:nvPr/>
          </p:nvCxnSpPr>
          <p:spPr>
            <a:xfrm>
              <a:off x="7544391" y="2396371"/>
              <a:ext cx="0" cy="57963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60" name="TextBox 59">
            <a:extLst>
              <a:ext uri="{FF2B5EF4-FFF2-40B4-BE49-F238E27FC236}">
                <a16:creationId xmlns:a16="http://schemas.microsoft.com/office/drawing/2014/main" id="{DFB608C2-E611-4429-8BAF-CC3D641BFD78}"/>
              </a:ext>
            </a:extLst>
          </p:cNvPr>
          <p:cNvSpPr txBox="1"/>
          <p:nvPr/>
        </p:nvSpPr>
        <p:spPr>
          <a:xfrm>
            <a:off x="9318159" y="1997056"/>
            <a:ext cx="2472375" cy="923330"/>
          </a:xfrm>
          <a:prstGeom prst="rect">
            <a:avLst/>
          </a:prstGeom>
          <a:noFill/>
        </p:spPr>
        <p:txBody>
          <a:bodyPr wrap="square" rtlCol="0">
            <a:spAutoFit/>
          </a:bodyPr>
          <a:lstStyle/>
          <a:p>
            <a:pPr algn="ctr" fontAlgn="base"/>
            <a:r>
              <a:rPr lang="en-US" b="0" i="0" dirty="0">
                <a:solidFill>
                  <a:srgbClr val="000000"/>
                </a:solidFill>
                <a:effectLst/>
                <a:latin typeface="Calibri" panose="020F0502020204030204" pitchFamily="34" charset="0"/>
              </a:rPr>
              <a:t>If quit smoking &gt;15y ago</a:t>
            </a:r>
          </a:p>
          <a:p>
            <a:pPr algn="ctr" fontAlgn="base"/>
            <a:r>
              <a:rPr lang="en-US" sz="1800" dirty="0">
                <a:solidFill>
                  <a:srgbClr val="000000"/>
                </a:solidFill>
                <a:latin typeface="Calibri" panose="020F0502020204030204" pitchFamily="34" charset="0"/>
              </a:rPr>
              <a:t>OR </a:t>
            </a:r>
          </a:p>
          <a:p>
            <a:pPr algn="ctr" fontAlgn="base"/>
            <a:r>
              <a:rPr lang="en-US" b="0" i="0" dirty="0">
                <a:solidFill>
                  <a:srgbClr val="000000"/>
                </a:solidFill>
                <a:effectLst/>
                <a:latin typeface="Calibri" panose="020F0502020204030204" pitchFamily="34" charset="0"/>
              </a:rPr>
              <a:t>Limited life expectancy </a:t>
            </a:r>
            <a:endParaRPr lang="en-US" sz="1800" b="0" i="0" dirty="0">
              <a:solidFill>
                <a:srgbClr val="000000"/>
              </a:solidFill>
              <a:effectLst/>
            </a:endParaRPr>
          </a:p>
        </p:txBody>
      </p:sp>
      <p:grpSp>
        <p:nvGrpSpPr>
          <p:cNvPr id="58" name="Group 57">
            <a:extLst>
              <a:ext uri="{FF2B5EF4-FFF2-40B4-BE49-F238E27FC236}">
                <a16:creationId xmlns:a16="http://schemas.microsoft.com/office/drawing/2014/main" id="{BA9D81E1-D7E0-4F6F-A096-FA890A430EC9}"/>
              </a:ext>
            </a:extLst>
          </p:cNvPr>
          <p:cNvGrpSpPr/>
          <p:nvPr/>
        </p:nvGrpSpPr>
        <p:grpSpPr>
          <a:xfrm>
            <a:off x="2737307" y="5249771"/>
            <a:ext cx="8884593" cy="946852"/>
            <a:chOff x="2737307" y="4931856"/>
            <a:chExt cx="8884593" cy="1264767"/>
          </a:xfrm>
        </p:grpSpPr>
        <p:sp>
          <p:nvSpPr>
            <p:cNvPr id="61" name="Arrow: Right 60">
              <a:extLst>
                <a:ext uri="{FF2B5EF4-FFF2-40B4-BE49-F238E27FC236}">
                  <a16:creationId xmlns:a16="http://schemas.microsoft.com/office/drawing/2014/main" id="{F33D9E8C-7B45-42DA-8615-341731AF2F7C}"/>
                </a:ext>
              </a:extLst>
            </p:cNvPr>
            <p:cNvSpPr/>
            <p:nvPr/>
          </p:nvSpPr>
          <p:spPr>
            <a:xfrm>
              <a:off x="2959778" y="4931856"/>
              <a:ext cx="8662122" cy="895435"/>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5" name="Straight Connector 64">
              <a:extLst>
                <a:ext uri="{FF2B5EF4-FFF2-40B4-BE49-F238E27FC236}">
                  <a16:creationId xmlns:a16="http://schemas.microsoft.com/office/drawing/2014/main" id="{48484F12-F729-4A72-9258-2F10C7C6C452}"/>
                </a:ext>
              </a:extLst>
            </p:cNvPr>
            <p:cNvCxnSpPr/>
            <p:nvPr/>
          </p:nvCxnSpPr>
          <p:spPr>
            <a:xfrm>
              <a:off x="2959778" y="5034892"/>
              <a:ext cx="0" cy="79239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0F4CFC5A-D25A-4472-99A7-9D836600D454}"/>
                </a:ext>
              </a:extLst>
            </p:cNvPr>
            <p:cNvSpPr txBox="1"/>
            <p:nvPr/>
          </p:nvSpPr>
          <p:spPr>
            <a:xfrm>
              <a:off x="2737307" y="5827291"/>
              <a:ext cx="505609" cy="369332"/>
            </a:xfrm>
            <a:prstGeom prst="rect">
              <a:avLst/>
            </a:prstGeom>
            <a:noFill/>
          </p:spPr>
          <p:txBody>
            <a:bodyPr wrap="square" rtlCol="0">
              <a:spAutoFit/>
            </a:bodyPr>
            <a:lstStyle/>
            <a:p>
              <a:r>
                <a:rPr lang="en-US" dirty="0"/>
                <a:t>20</a:t>
              </a:r>
            </a:p>
          </p:txBody>
        </p:sp>
        <p:cxnSp>
          <p:nvCxnSpPr>
            <p:cNvPr id="67" name="Straight Connector 66">
              <a:extLst>
                <a:ext uri="{FF2B5EF4-FFF2-40B4-BE49-F238E27FC236}">
                  <a16:creationId xmlns:a16="http://schemas.microsoft.com/office/drawing/2014/main" id="{D21F2EE3-4BC9-4EAD-9470-68494369A09F}"/>
                </a:ext>
              </a:extLst>
            </p:cNvPr>
            <p:cNvCxnSpPr/>
            <p:nvPr/>
          </p:nvCxnSpPr>
          <p:spPr>
            <a:xfrm>
              <a:off x="3929759" y="5034892"/>
              <a:ext cx="0" cy="79239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1DF54018-5B69-473C-8CA1-08E755530369}"/>
                </a:ext>
              </a:extLst>
            </p:cNvPr>
            <p:cNvSpPr txBox="1"/>
            <p:nvPr/>
          </p:nvSpPr>
          <p:spPr>
            <a:xfrm>
              <a:off x="3676954" y="5827291"/>
              <a:ext cx="505609" cy="369332"/>
            </a:xfrm>
            <a:prstGeom prst="rect">
              <a:avLst/>
            </a:prstGeom>
            <a:noFill/>
          </p:spPr>
          <p:txBody>
            <a:bodyPr wrap="square" rtlCol="0">
              <a:spAutoFit/>
            </a:bodyPr>
            <a:lstStyle/>
            <a:p>
              <a:pPr algn="ctr"/>
              <a:r>
                <a:rPr lang="en-US" dirty="0"/>
                <a:t>30</a:t>
              </a:r>
            </a:p>
          </p:txBody>
        </p:sp>
        <p:cxnSp>
          <p:nvCxnSpPr>
            <p:cNvPr id="69" name="Straight Connector 68">
              <a:extLst>
                <a:ext uri="{FF2B5EF4-FFF2-40B4-BE49-F238E27FC236}">
                  <a16:creationId xmlns:a16="http://schemas.microsoft.com/office/drawing/2014/main" id="{8911BD05-CBD2-4C11-99D3-9DF976BA688F}"/>
                </a:ext>
              </a:extLst>
            </p:cNvPr>
            <p:cNvCxnSpPr/>
            <p:nvPr/>
          </p:nvCxnSpPr>
          <p:spPr>
            <a:xfrm>
              <a:off x="4869406" y="5027506"/>
              <a:ext cx="0" cy="79239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A0479BB8-BE2A-47DB-B307-F4CCE61F9D2A}"/>
                </a:ext>
              </a:extLst>
            </p:cNvPr>
            <p:cNvSpPr txBox="1"/>
            <p:nvPr/>
          </p:nvSpPr>
          <p:spPr>
            <a:xfrm>
              <a:off x="4616601" y="5819905"/>
              <a:ext cx="505609" cy="369332"/>
            </a:xfrm>
            <a:prstGeom prst="rect">
              <a:avLst/>
            </a:prstGeom>
            <a:noFill/>
          </p:spPr>
          <p:txBody>
            <a:bodyPr wrap="square" rtlCol="0">
              <a:spAutoFit/>
            </a:bodyPr>
            <a:lstStyle/>
            <a:p>
              <a:pPr algn="ctr"/>
              <a:r>
                <a:rPr lang="en-US" dirty="0"/>
                <a:t>40</a:t>
              </a:r>
            </a:p>
          </p:txBody>
        </p:sp>
        <p:cxnSp>
          <p:nvCxnSpPr>
            <p:cNvPr id="71" name="Straight Connector 70">
              <a:extLst>
                <a:ext uri="{FF2B5EF4-FFF2-40B4-BE49-F238E27FC236}">
                  <a16:creationId xmlns:a16="http://schemas.microsoft.com/office/drawing/2014/main" id="{A498C525-E7A1-47D1-A4BF-31EF5E6C48A9}"/>
                </a:ext>
              </a:extLst>
            </p:cNvPr>
            <p:cNvCxnSpPr/>
            <p:nvPr/>
          </p:nvCxnSpPr>
          <p:spPr>
            <a:xfrm>
              <a:off x="6500481" y="5023131"/>
              <a:ext cx="0" cy="79239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D4D6E3FB-B687-404B-8AEE-E87B5987AEA2}"/>
                </a:ext>
              </a:extLst>
            </p:cNvPr>
            <p:cNvSpPr txBox="1"/>
            <p:nvPr/>
          </p:nvSpPr>
          <p:spPr>
            <a:xfrm>
              <a:off x="6247676" y="5815530"/>
              <a:ext cx="505609" cy="369332"/>
            </a:xfrm>
            <a:prstGeom prst="rect">
              <a:avLst/>
            </a:prstGeom>
            <a:noFill/>
          </p:spPr>
          <p:txBody>
            <a:bodyPr wrap="square" rtlCol="0">
              <a:spAutoFit/>
            </a:bodyPr>
            <a:lstStyle/>
            <a:p>
              <a:pPr algn="ctr"/>
              <a:r>
                <a:rPr lang="en-US" dirty="0"/>
                <a:t>50</a:t>
              </a:r>
            </a:p>
          </p:txBody>
        </p:sp>
        <p:cxnSp>
          <p:nvCxnSpPr>
            <p:cNvPr id="73" name="Straight Connector 72">
              <a:extLst>
                <a:ext uri="{FF2B5EF4-FFF2-40B4-BE49-F238E27FC236}">
                  <a16:creationId xmlns:a16="http://schemas.microsoft.com/office/drawing/2014/main" id="{6F71399D-A9B4-4D3D-8BEC-5E937EE008AE}"/>
                </a:ext>
              </a:extLst>
            </p:cNvPr>
            <p:cNvCxnSpPr/>
            <p:nvPr/>
          </p:nvCxnSpPr>
          <p:spPr>
            <a:xfrm>
              <a:off x="8106945" y="5011370"/>
              <a:ext cx="0" cy="79239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TextBox 73">
              <a:extLst>
                <a:ext uri="{FF2B5EF4-FFF2-40B4-BE49-F238E27FC236}">
                  <a16:creationId xmlns:a16="http://schemas.microsoft.com/office/drawing/2014/main" id="{EF87FB7E-56D4-40CA-8B40-9B13D024DDC8}"/>
                </a:ext>
              </a:extLst>
            </p:cNvPr>
            <p:cNvSpPr txBox="1"/>
            <p:nvPr/>
          </p:nvSpPr>
          <p:spPr>
            <a:xfrm>
              <a:off x="7854140" y="5803769"/>
              <a:ext cx="505609" cy="369332"/>
            </a:xfrm>
            <a:prstGeom prst="rect">
              <a:avLst/>
            </a:prstGeom>
            <a:noFill/>
          </p:spPr>
          <p:txBody>
            <a:bodyPr wrap="square" rtlCol="0">
              <a:spAutoFit/>
            </a:bodyPr>
            <a:lstStyle/>
            <a:p>
              <a:pPr algn="ctr"/>
              <a:r>
                <a:rPr lang="en-US" dirty="0"/>
                <a:t>60</a:t>
              </a:r>
            </a:p>
          </p:txBody>
        </p:sp>
        <p:cxnSp>
          <p:nvCxnSpPr>
            <p:cNvPr id="75" name="Straight Connector 74">
              <a:extLst>
                <a:ext uri="{FF2B5EF4-FFF2-40B4-BE49-F238E27FC236}">
                  <a16:creationId xmlns:a16="http://schemas.microsoft.com/office/drawing/2014/main" id="{B3247BF7-A614-4E5D-BCBE-8CA66B07986D}"/>
                </a:ext>
              </a:extLst>
            </p:cNvPr>
            <p:cNvCxnSpPr/>
            <p:nvPr/>
          </p:nvCxnSpPr>
          <p:spPr>
            <a:xfrm>
              <a:off x="9526425" y="5011370"/>
              <a:ext cx="0" cy="79239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6E52B681-1F8E-4F8C-BFCD-B545D7425979}"/>
                </a:ext>
              </a:extLst>
            </p:cNvPr>
            <p:cNvSpPr txBox="1"/>
            <p:nvPr/>
          </p:nvSpPr>
          <p:spPr>
            <a:xfrm>
              <a:off x="9273620" y="5803769"/>
              <a:ext cx="505609" cy="369332"/>
            </a:xfrm>
            <a:prstGeom prst="rect">
              <a:avLst/>
            </a:prstGeom>
            <a:noFill/>
          </p:spPr>
          <p:txBody>
            <a:bodyPr wrap="square" rtlCol="0">
              <a:spAutoFit/>
            </a:bodyPr>
            <a:lstStyle/>
            <a:p>
              <a:pPr algn="ctr"/>
              <a:r>
                <a:rPr lang="en-US" dirty="0"/>
                <a:t>70</a:t>
              </a:r>
            </a:p>
          </p:txBody>
        </p:sp>
        <p:cxnSp>
          <p:nvCxnSpPr>
            <p:cNvPr id="77" name="Straight Connector 76">
              <a:extLst>
                <a:ext uri="{FF2B5EF4-FFF2-40B4-BE49-F238E27FC236}">
                  <a16:creationId xmlns:a16="http://schemas.microsoft.com/office/drawing/2014/main" id="{8986ABD0-AD71-4A2C-B346-44889E1A7813}"/>
                </a:ext>
              </a:extLst>
            </p:cNvPr>
            <p:cNvCxnSpPr/>
            <p:nvPr/>
          </p:nvCxnSpPr>
          <p:spPr>
            <a:xfrm>
              <a:off x="10792696" y="5034892"/>
              <a:ext cx="0" cy="79239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8" name="TextBox 77">
              <a:extLst>
                <a:ext uri="{FF2B5EF4-FFF2-40B4-BE49-F238E27FC236}">
                  <a16:creationId xmlns:a16="http://schemas.microsoft.com/office/drawing/2014/main" id="{315A3612-BEBA-4ECE-9D2A-BBC619BC5C1F}"/>
                </a:ext>
              </a:extLst>
            </p:cNvPr>
            <p:cNvSpPr txBox="1"/>
            <p:nvPr/>
          </p:nvSpPr>
          <p:spPr>
            <a:xfrm>
              <a:off x="10539891" y="5827291"/>
              <a:ext cx="505609" cy="369332"/>
            </a:xfrm>
            <a:prstGeom prst="rect">
              <a:avLst/>
            </a:prstGeom>
            <a:noFill/>
          </p:spPr>
          <p:txBody>
            <a:bodyPr wrap="square" rtlCol="0">
              <a:spAutoFit/>
            </a:bodyPr>
            <a:lstStyle/>
            <a:p>
              <a:pPr algn="ctr"/>
              <a:r>
                <a:rPr lang="en-US" dirty="0"/>
                <a:t>80</a:t>
              </a:r>
            </a:p>
          </p:txBody>
        </p:sp>
      </p:grpSp>
      <p:grpSp>
        <p:nvGrpSpPr>
          <p:cNvPr id="6" name="Group 5">
            <a:extLst>
              <a:ext uri="{FF2B5EF4-FFF2-40B4-BE49-F238E27FC236}">
                <a16:creationId xmlns:a16="http://schemas.microsoft.com/office/drawing/2014/main" id="{213243A1-BF6C-4692-9961-5AB46AA320D0}"/>
              </a:ext>
            </a:extLst>
          </p:cNvPr>
          <p:cNvGrpSpPr/>
          <p:nvPr/>
        </p:nvGrpSpPr>
        <p:grpSpPr>
          <a:xfrm>
            <a:off x="3490556" y="4242725"/>
            <a:ext cx="1254648" cy="950315"/>
            <a:chOff x="3490556" y="4242725"/>
            <a:chExt cx="1254648" cy="950315"/>
          </a:xfrm>
        </p:grpSpPr>
        <p:sp>
          <p:nvSpPr>
            <p:cNvPr id="5" name="Freeform: Shape 4">
              <a:extLst>
                <a:ext uri="{FF2B5EF4-FFF2-40B4-BE49-F238E27FC236}">
                  <a16:creationId xmlns:a16="http://schemas.microsoft.com/office/drawing/2014/main" id="{932B5B83-52DC-4118-A136-8724C9E6C525}"/>
                </a:ext>
              </a:extLst>
            </p:cNvPr>
            <p:cNvSpPr/>
            <p:nvPr/>
          </p:nvSpPr>
          <p:spPr>
            <a:xfrm>
              <a:off x="3490556" y="4263597"/>
              <a:ext cx="570960" cy="929443"/>
            </a:xfrm>
            <a:custGeom>
              <a:avLst/>
              <a:gdLst>
                <a:gd name="connsiteX0" fmla="*/ 643262 w 665211"/>
                <a:gd name="connsiteY0" fmla="*/ 9038 h 929498"/>
                <a:gd name="connsiteX1" fmla="*/ 319170 w 665211"/>
                <a:gd name="connsiteY1" fmla="*/ 159509 h 929498"/>
                <a:gd name="connsiteX2" fmla="*/ 110826 w 665211"/>
                <a:gd name="connsiteY2" fmla="*/ 761393 h 929498"/>
                <a:gd name="connsiteX3" fmla="*/ 18229 w 665211"/>
                <a:gd name="connsiteY3" fmla="*/ 900289 h 929498"/>
                <a:gd name="connsiteX4" fmla="*/ 469641 w 665211"/>
                <a:gd name="connsiteY4" fmla="*/ 923438 h 929498"/>
                <a:gd name="connsiteX5" fmla="*/ 620112 w 665211"/>
                <a:gd name="connsiteY5" fmla="*/ 819266 h 929498"/>
                <a:gd name="connsiteX6" fmla="*/ 631687 w 665211"/>
                <a:gd name="connsiteY6" fmla="*/ 356279 h 929498"/>
                <a:gd name="connsiteX7" fmla="*/ 643262 w 665211"/>
                <a:gd name="connsiteY7" fmla="*/ 9038 h 929498"/>
                <a:gd name="connsiteX0" fmla="*/ 587405 w 609354"/>
                <a:gd name="connsiteY0" fmla="*/ 9038 h 929498"/>
                <a:gd name="connsiteX1" fmla="*/ 263313 w 609354"/>
                <a:gd name="connsiteY1" fmla="*/ 159509 h 929498"/>
                <a:gd name="connsiteX2" fmla="*/ 54969 w 609354"/>
                <a:gd name="connsiteY2" fmla="*/ 761393 h 929498"/>
                <a:gd name="connsiteX3" fmla="*/ 28412 w 609354"/>
                <a:gd name="connsiteY3" fmla="*/ 900289 h 929498"/>
                <a:gd name="connsiteX4" fmla="*/ 413784 w 609354"/>
                <a:gd name="connsiteY4" fmla="*/ 923438 h 929498"/>
                <a:gd name="connsiteX5" fmla="*/ 564255 w 609354"/>
                <a:gd name="connsiteY5" fmla="*/ 819266 h 929498"/>
                <a:gd name="connsiteX6" fmla="*/ 575830 w 609354"/>
                <a:gd name="connsiteY6" fmla="*/ 356279 h 929498"/>
                <a:gd name="connsiteX7" fmla="*/ 587405 w 609354"/>
                <a:gd name="connsiteY7" fmla="*/ 9038 h 929498"/>
                <a:gd name="connsiteX0" fmla="*/ 575428 w 597377"/>
                <a:gd name="connsiteY0" fmla="*/ 7461 h 933912"/>
                <a:gd name="connsiteX1" fmla="*/ 251336 w 597377"/>
                <a:gd name="connsiteY1" fmla="*/ 157932 h 933912"/>
                <a:gd name="connsiteX2" fmla="*/ 88712 w 597377"/>
                <a:gd name="connsiteY2" fmla="*/ 627736 h 933912"/>
                <a:gd name="connsiteX3" fmla="*/ 16435 w 597377"/>
                <a:gd name="connsiteY3" fmla="*/ 898712 h 933912"/>
                <a:gd name="connsiteX4" fmla="*/ 401807 w 597377"/>
                <a:gd name="connsiteY4" fmla="*/ 921861 h 933912"/>
                <a:gd name="connsiteX5" fmla="*/ 552278 w 597377"/>
                <a:gd name="connsiteY5" fmla="*/ 817689 h 933912"/>
                <a:gd name="connsiteX6" fmla="*/ 563853 w 597377"/>
                <a:gd name="connsiteY6" fmla="*/ 354702 h 933912"/>
                <a:gd name="connsiteX7" fmla="*/ 575428 w 597377"/>
                <a:gd name="connsiteY7" fmla="*/ 7461 h 933912"/>
                <a:gd name="connsiteX0" fmla="*/ 549011 w 570960"/>
                <a:gd name="connsiteY0" fmla="*/ 7461 h 929443"/>
                <a:gd name="connsiteX1" fmla="*/ 224919 w 570960"/>
                <a:gd name="connsiteY1" fmla="*/ 157932 h 929443"/>
                <a:gd name="connsiteX2" fmla="*/ 62295 w 570960"/>
                <a:gd name="connsiteY2" fmla="*/ 627736 h 929443"/>
                <a:gd name="connsiteX3" fmla="*/ 20498 w 570960"/>
                <a:gd name="connsiteY3" fmla="*/ 888552 h 929443"/>
                <a:gd name="connsiteX4" fmla="*/ 375390 w 570960"/>
                <a:gd name="connsiteY4" fmla="*/ 921861 h 929443"/>
                <a:gd name="connsiteX5" fmla="*/ 525861 w 570960"/>
                <a:gd name="connsiteY5" fmla="*/ 817689 h 929443"/>
                <a:gd name="connsiteX6" fmla="*/ 537436 w 570960"/>
                <a:gd name="connsiteY6" fmla="*/ 354702 h 929443"/>
                <a:gd name="connsiteX7" fmla="*/ 549011 w 570960"/>
                <a:gd name="connsiteY7" fmla="*/ 7461 h 929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0960" h="929443">
                  <a:moveTo>
                    <a:pt x="549011" y="7461"/>
                  </a:moveTo>
                  <a:cubicBezTo>
                    <a:pt x="496925" y="-25334"/>
                    <a:pt x="306038" y="54553"/>
                    <a:pt x="224919" y="157932"/>
                  </a:cubicBezTo>
                  <a:cubicBezTo>
                    <a:pt x="143800" y="261311"/>
                    <a:pt x="96365" y="505966"/>
                    <a:pt x="62295" y="627736"/>
                  </a:cubicBezTo>
                  <a:cubicBezTo>
                    <a:pt x="28225" y="749506"/>
                    <a:pt x="-31685" y="839531"/>
                    <a:pt x="20498" y="888552"/>
                  </a:cubicBezTo>
                  <a:cubicBezTo>
                    <a:pt x="72681" y="937573"/>
                    <a:pt x="291163" y="933672"/>
                    <a:pt x="375390" y="921861"/>
                  </a:cubicBezTo>
                  <a:cubicBezTo>
                    <a:pt x="459617" y="910051"/>
                    <a:pt x="498853" y="912215"/>
                    <a:pt x="525861" y="817689"/>
                  </a:cubicBezTo>
                  <a:cubicBezTo>
                    <a:pt x="552869" y="723163"/>
                    <a:pt x="529720" y="485881"/>
                    <a:pt x="537436" y="354702"/>
                  </a:cubicBezTo>
                  <a:cubicBezTo>
                    <a:pt x="545152" y="223523"/>
                    <a:pt x="601097" y="40256"/>
                    <a:pt x="549011" y="7461"/>
                  </a:cubicBezTo>
                  <a:close/>
                </a:path>
              </a:pathLst>
            </a:cu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79" name="Freeform: Shape 78">
              <a:extLst>
                <a:ext uri="{FF2B5EF4-FFF2-40B4-BE49-F238E27FC236}">
                  <a16:creationId xmlns:a16="http://schemas.microsoft.com/office/drawing/2014/main" id="{0EC3D6C7-0571-4EA5-910A-02237BBB36A7}"/>
                </a:ext>
              </a:extLst>
            </p:cNvPr>
            <p:cNvSpPr/>
            <p:nvPr/>
          </p:nvSpPr>
          <p:spPr>
            <a:xfrm flipH="1">
              <a:off x="4175430" y="4242725"/>
              <a:ext cx="569774" cy="933604"/>
            </a:xfrm>
            <a:custGeom>
              <a:avLst/>
              <a:gdLst>
                <a:gd name="connsiteX0" fmla="*/ 643262 w 665211"/>
                <a:gd name="connsiteY0" fmla="*/ 9038 h 929498"/>
                <a:gd name="connsiteX1" fmla="*/ 319170 w 665211"/>
                <a:gd name="connsiteY1" fmla="*/ 159509 h 929498"/>
                <a:gd name="connsiteX2" fmla="*/ 110826 w 665211"/>
                <a:gd name="connsiteY2" fmla="*/ 761393 h 929498"/>
                <a:gd name="connsiteX3" fmla="*/ 18229 w 665211"/>
                <a:gd name="connsiteY3" fmla="*/ 900289 h 929498"/>
                <a:gd name="connsiteX4" fmla="*/ 469641 w 665211"/>
                <a:gd name="connsiteY4" fmla="*/ 923438 h 929498"/>
                <a:gd name="connsiteX5" fmla="*/ 620112 w 665211"/>
                <a:gd name="connsiteY5" fmla="*/ 819266 h 929498"/>
                <a:gd name="connsiteX6" fmla="*/ 631687 w 665211"/>
                <a:gd name="connsiteY6" fmla="*/ 356279 h 929498"/>
                <a:gd name="connsiteX7" fmla="*/ 643262 w 665211"/>
                <a:gd name="connsiteY7" fmla="*/ 9038 h 929498"/>
                <a:gd name="connsiteX0" fmla="*/ 643262 w 668930"/>
                <a:gd name="connsiteY0" fmla="*/ 9038 h 939251"/>
                <a:gd name="connsiteX1" fmla="*/ 319170 w 668930"/>
                <a:gd name="connsiteY1" fmla="*/ 159509 h 939251"/>
                <a:gd name="connsiteX2" fmla="*/ 110826 w 668930"/>
                <a:gd name="connsiteY2" fmla="*/ 761393 h 939251"/>
                <a:gd name="connsiteX3" fmla="*/ 18229 w 668930"/>
                <a:gd name="connsiteY3" fmla="*/ 900289 h 939251"/>
                <a:gd name="connsiteX4" fmla="*/ 469641 w 668930"/>
                <a:gd name="connsiteY4" fmla="*/ 923438 h 939251"/>
                <a:gd name="connsiteX5" fmla="*/ 661355 w 668930"/>
                <a:gd name="connsiteY5" fmla="*/ 687186 h 939251"/>
                <a:gd name="connsiteX6" fmla="*/ 631687 w 668930"/>
                <a:gd name="connsiteY6" fmla="*/ 356279 h 939251"/>
                <a:gd name="connsiteX7" fmla="*/ 643262 w 668930"/>
                <a:gd name="connsiteY7" fmla="*/ 9038 h 939251"/>
                <a:gd name="connsiteX0" fmla="*/ 643262 w 663219"/>
                <a:gd name="connsiteY0" fmla="*/ 9038 h 929553"/>
                <a:gd name="connsiteX1" fmla="*/ 319170 w 663219"/>
                <a:gd name="connsiteY1" fmla="*/ 159509 h 929553"/>
                <a:gd name="connsiteX2" fmla="*/ 110826 w 663219"/>
                <a:gd name="connsiteY2" fmla="*/ 761393 h 929553"/>
                <a:gd name="connsiteX3" fmla="*/ 18229 w 663219"/>
                <a:gd name="connsiteY3" fmla="*/ 900289 h 929553"/>
                <a:gd name="connsiteX4" fmla="*/ 469641 w 663219"/>
                <a:gd name="connsiteY4" fmla="*/ 923438 h 929553"/>
                <a:gd name="connsiteX5" fmla="*/ 460745 w 663219"/>
                <a:gd name="connsiteY5" fmla="*/ 818513 h 929553"/>
                <a:gd name="connsiteX6" fmla="*/ 661355 w 663219"/>
                <a:gd name="connsiteY6" fmla="*/ 687186 h 929553"/>
                <a:gd name="connsiteX7" fmla="*/ 631687 w 663219"/>
                <a:gd name="connsiteY7" fmla="*/ 356279 h 929553"/>
                <a:gd name="connsiteX8" fmla="*/ 643262 w 663219"/>
                <a:gd name="connsiteY8" fmla="*/ 9038 h 929553"/>
                <a:gd name="connsiteX0" fmla="*/ 582767 w 602724"/>
                <a:gd name="connsiteY0" fmla="*/ 9038 h 933275"/>
                <a:gd name="connsiteX1" fmla="*/ 258675 w 602724"/>
                <a:gd name="connsiteY1" fmla="*/ 159509 h 933275"/>
                <a:gd name="connsiteX2" fmla="*/ 50331 w 602724"/>
                <a:gd name="connsiteY2" fmla="*/ 761393 h 933275"/>
                <a:gd name="connsiteX3" fmla="*/ 29909 w 602724"/>
                <a:gd name="connsiteY3" fmla="*/ 910449 h 933275"/>
                <a:gd name="connsiteX4" fmla="*/ 409146 w 602724"/>
                <a:gd name="connsiteY4" fmla="*/ 923438 h 933275"/>
                <a:gd name="connsiteX5" fmla="*/ 400250 w 602724"/>
                <a:gd name="connsiteY5" fmla="*/ 818513 h 933275"/>
                <a:gd name="connsiteX6" fmla="*/ 600860 w 602724"/>
                <a:gd name="connsiteY6" fmla="*/ 687186 h 933275"/>
                <a:gd name="connsiteX7" fmla="*/ 571192 w 602724"/>
                <a:gd name="connsiteY7" fmla="*/ 356279 h 933275"/>
                <a:gd name="connsiteX8" fmla="*/ 582767 w 602724"/>
                <a:gd name="connsiteY8" fmla="*/ 9038 h 933275"/>
                <a:gd name="connsiteX0" fmla="*/ 578591 w 598548"/>
                <a:gd name="connsiteY0" fmla="*/ 9038 h 933275"/>
                <a:gd name="connsiteX1" fmla="*/ 254499 w 598548"/>
                <a:gd name="connsiteY1" fmla="*/ 159509 h 933275"/>
                <a:gd name="connsiteX2" fmla="*/ 46155 w 598548"/>
                <a:gd name="connsiteY2" fmla="*/ 761393 h 933275"/>
                <a:gd name="connsiteX3" fmla="*/ 25733 w 598548"/>
                <a:gd name="connsiteY3" fmla="*/ 910449 h 933275"/>
                <a:gd name="connsiteX4" fmla="*/ 348261 w 598548"/>
                <a:gd name="connsiteY4" fmla="*/ 923438 h 933275"/>
                <a:gd name="connsiteX5" fmla="*/ 396074 w 598548"/>
                <a:gd name="connsiteY5" fmla="*/ 818513 h 933275"/>
                <a:gd name="connsiteX6" fmla="*/ 596684 w 598548"/>
                <a:gd name="connsiteY6" fmla="*/ 687186 h 933275"/>
                <a:gd name="connsiteX7" fmla="*/ 567016 w 598548"/>
                <a:gd name="connsiteY7" fmla="*/ 356279 h 933275"/>
                <a:gd name="connsiteX8" fmla="*/ 578591 w 598548"/>
                <a:gd name="connsiteY8" fmla="*/ 9038 h 933275"/>
                <a:gd name="connsiteX0" fmla="*/ 578591 w 598548"/>
                <a:gd name="connsiteY0" fmla="*/ 9038 h 938772"/>
                <a:gd name="connsiteX1" fmla="*/ 254499 w 598548"/>
                <a:gd name="connsiteY1" fmla="*/ 159509 h 938772"/>
                <a:gd name="connsiteX2" fmla="*/ 46155 w 598548"/>
                <a:gd name="connsiteY2" fmla="*/ 761393 h 938772"/>
                <a:gd name="connsiteX3" fmla="*/ 25733 w 598548"/>
                <a:gd name="connsiteY3" fmla="*/ 910449 h 938772"/>
                <a:gd name="connsiteX4" fmla="*/ 348261 w 598548"/>
                <a:gd name="connsiteY4" fmla="*/ 923438 h 938772"/>
                <a:gd name="connsiteX5" fmla="*/ 427006 w 598548"/>
                <a:gd name="connsiteY5" fmla="*/ 742313 h 938772"/>
                <a:gd name="connsiteX6" fmla="*/ 596684 w 598548"/>
                <a:gd name="connsiteY6" fmla="*/ 687186 h 938772"/>
                <a:gd name="connsiteX7" fmla="*/ 567016 w 598548"/>
                <a:gd name="connsiteY7" fmla="*/ 356279 h 938772"/>
                <a:gd name="connsiteX8" fmla="*/ 578591 w 598548"/>
                <a:gd name="connsiteY8" fmla="*/ 9038 h 938772"/>
                <a:gd name="connsiteX0" fmla="*/ 578591 w 607776"/>
                <a:gd name="connsiteY0" fmla="*/ 9038 h 938772"/>
                <a:gd name="connsiteX1" fmla="*/ 254499 w 607776"/>
                <a:gd name="connsiteY1" fmla="*/ 159509 h 938772"/>
                <a:gd name="connsiteX2" fmla="*/ 46155 w 607776"/>
                <a:gd name="connsiteY2" fmla="*/ 761393 h 938772"/>
                <a:gd name="connsiteX3" fmla="*/ 25733 w 607776"/>
                <a:gd name="connsiteY3" fmla="*/ 910449 h 938772"/>
                <a:gd name="connsiteX4" fmla="*/ 348261 w 607776"/>
                <a:gd name="connsiteY4" fmla="*/ 923438 h 938772"/>
                <a:gd name="connsiteX5" fmla="*/ 427006 w 607776"/>
                <a:gd name="connsiteY5" fmla="*/ 742313 h 938772"/>
                <a:gd name="connsiteX6" fmla="*/ 606994 w 607776"/>
                <a:gd name="connsiteY6" fmla="*/ 631306 h 938772"/>
                <a:gd name="connsiteX7" fmla="*/ 567016 w 607776"/>
                <a:gd name="connsiteY7" fmla="*/ 356279 h 938772"/>
                <a:gd name="connsiteX8" fmla="*/ 578591 w 607776"/>
                <a:gd name="connsiteY8" fmla="*/ 9038 h 938772"/>
                <a:gd name="connsiteX0" fmla="*/ 578591 w 607411"/>
                <a:gd name="connsiteY0" fmla="*/ 12559 h 942293"/>
                <a:gd name="connsiteX1" fmla="*/ 254499 w 607411"/>
                <a:gd name="connsiteY1" fmla="*/ 163030 h 942293"/>
                <a:gd name="connsiteX2" fmla="*/ 46155 w 607411"/>
                <a:gd name="connsiteY2" fmla="*/ 764914 h 942293"/>
                <a:gd name="connsiteX3" fmla="*/ 25733 w 607411"/>
                <a:gd name="connsiteY3" fmla="*/ 913970 h 942293"/>
                <a:gd name="connsiteX4" fmla="*/ 348261 w 607411"/>
                <a:gd name="connsiteY4" fmla="*/ 926959 h 942293"/>
                <a:gd name="connsiteX5" fmla="*/ 427006 w 607411"/>
                <a:gd name="connsiteY5" fmla="*/ 745834 h 942293"/>
                <a:gd name="connsiteX6" fmla="*/ 606994 w 607411"/>
                <a:gd name="connsiteY6" fmla="*/ 634827 h 942293"/>
                <a:gd name="connsiteX7" fmla="*/ 525774 w 607411"/>
                <a:gd name="connsiteY7" fmla="*/ 415680 h 942293"/>
                <a:gd name="connsiteX8" fmla="*/ 578591 w 607411"/>
                <a:gd name="connsiteY8" fmla="*/ 12559 h 942293"/>
                <a:gd name="connsiteX0" fmla="*/ 578591 w 607411"/>
                <a:gd name="connsiteY0" fmla="*/ 12559 h 945633"/>
                <a:gd name="connsiteX1" fmla="*/ 254499 w 607411"/>
                <a:gd name="connsiteY1" fmla="*/ 163030 h 945633"/>
                <a:gd name="connsiteX2" fmla="*/ 46155 w 607411"/>
                <a:gd name="connsiteY2" fmla="*/ 764914 h 945633"/>
                <a:gd name="connsiteX3" fmla="*/ 25733 w 607411"/>
                <a:gd name="connsiteY3" fmla="*/ 913970 h 945633"/>
                <a:gd name="connsiteX4" fmla="*/ 348261 w 607411"/>
                <a:gd name="connsiteY4" fmla="*/ 926959 h 945633"/>
                <a:gd name="connsiteX5" fmla="*/ 427006 w 607411"/>
                <a:gd name="connsiteY5" fmla="*/ 700114 h 945633"/>
                <a:gd name="connsiteX6" fmla="*/ 606994 w 607411"/>
                <a:gd name="connsiteY6" fmla="*/ 634827 h 945633"/>
                <a:gd name="connsiteX7" fmla="*/ 525774 w 607411"/>
                <a:gd name="connsiteY7" fmla="*/ 415680 h 945633"/>
                <a:gd name="connsiteX8" fmla="*/ 578591 w 607411"/>
                <a:gd name="connsiteY8" fmla="*/ 12559 h 945633"/>
                <a:gd name="connsiteX0" fmla="*/ 577074 w 605894"/>
                <a:gd name="connsiteY0" fmla="*/ 12559 h 932539"/>
                <a:gd name="connsiteX1" fmla="*/ 252982 w 605894"/>
                <a:gd name="connsiteY1" fmla="*/ 163030 h 932539"/>
                <a:gd name="connsiteX2" fmla="*/ 44638 w 605894"/>
                <a:gd name="connsiteY2" fmla="*/ 764914 h 932539"/>
                <a:gd name="connsiteX3" fmla="*/ 24216 w 605894"/>
                <a:gd name="connsiteY3" fmla="*/ 913970 h 932539"/>
                <a:gd name="connsiteX4" fmla="*/ 326122 w 605894"/>
                <a:gd name="connsiteY4" fmla="*/ 906639 h 932539"/>
                <a:gd name="connsiteX5" fmla="*/ 425489 w 605894"/>
                <a:gd name="connsiteY5" fmla="*/ 700114 h 932539"/>
                <a:gd name="connsiteX6" fmla="*/ 605477 w 605894"/>
                <a:gd name="connsiteY6" fmla="*/ 634827 h 932539"/>
                <a:gd name="connsiteX7" fmla="*/ 524257 w 605894"/>
                <a:gd name="connsiteY7" fmla="*/ 415680 h 932539"/>
                <a:gd name="connsiteX8" fmla="*/ 577074 w 605894"/>
                <a:gd name="connsiteY8" fmla="*/ 12559 h 932539"/>
                <a:gd name="connsiteX0" fmla="*/ 549958 w 578778"/>
                <a:gd name="connsiteY0" fmla="*/ 12559 h 938943"/>
                <a:gd name="connsiteX1" fmla="*/ 225866 w 578778"/>
                <a:gd name="connsiteY1" fmla="*/ 163030 h 938943"/>
                <a:gd name="connsiteX2" fmla="*/ 17522 w 578778"/>
                <a:gd name="connsiteY2" fmla="*/ 764914 h 938943"/>
                <a:gd name="connsiteX3" fmla="*/ 43498 w 578778"/>
                <a:gd name="connsiteY3" fmla="*/ 924130 h 938943"/>
                <a:gd name="connsiteX4" fmla="*/ 299006 w 578778"/>
                <a:gd name="connsiteY4" fmla="*/ 906639 h 938943"/>
                <a:gd name="connsiteX5" fmla="*/ 398373 w 578778"/>
                <a:gd name="connsiteY5" fmla="*/ 700114 h 938943"/>
                <a:gd name="connsiteX6" fmla="*/ 578361 w 578778"/>
                <a:gd name="connsiteY6" fmla="*/ 634827 h 938943"/>
                <a:gd name="connsiteX7" fmla="*/ 497141 w 578778"/>
                <a:gd name="connsiteY7" fmla="*/ 415680 h 938943"/>
                <a:gd name="connsiteX8" fmla="*/ 549958 w 578778"/>
                <a:gd name="connsiteY8" fmla="*/ 12559 h 938943"/>
                <a:gd name="connsiteX0" fmla="*/ 549958 w 578778"/>
                <a:gd name="connsiteY0" fmla="*/ 12559 h 938943"/>
                <a:gd name="connsiteX1" fmla="*/ 225866 w 578778"/>
                <a:gd name="connsiteY1" fmla="*/ 163030 h 938943"/>
                <a:gd name="connsiteX2" fmla="*/ 17522 w 578778"/>
                <a:gd name="connsiteY2" fmla="*/ 764914 h 938943"/>
                <a:gd name="connsiteX3" fmla="*/ 43498 w 578778"/>
                <a:gd name="connsiteY3" fmla="*/ 924130 h 938943"/>
                <a:gd name="connsiteX4" fmla="*/ 299006 w 578778"/>
                <a:gd name="connsiteY4" fmla="*/ 906639 h 938943"/>
                <a:gd name="connsiteX5" fmla="*/ 398373 w 578778"/>
                <a:gd name="connsiteY5" fmla="*/ 700114 h 938943"/>
                <a:gd name="connsiteX6" fmla="*/ 578361 w 578778"/>
                <a:gd name="connsiteY6" fmla="*/ 614507 h 938943"/>
                <a:gd name="connsiteX7" fmla="*/ 497141 w 578778"/>
                <a:gd name="connsiteY7" fmla="*/ 415680 h 938943"/>
                <a:gd name="connsiteX8" fmla="*/ 549958 w 578778"/>
                <a:gd name="connsiteY8" fmla="*/ 12559 h 938943"/>
                <a:gd name="connsiteX0" fmla="*/ 549958 w 578778"/>
                <a:gd name="connsiteY0" fmla="*/ 12559 h 937488"/>
                <a:gd name="connsiteX1" fmla="*/ 225866 w 578778"/>
                <a:gd name="connsiteY1" fmla="*/ 163030 h 937488"/>
                <a:gd name="connsiteX2" fmla="*/ 17522 w 578778"/>
                <a:gd name="connsiteY2" fmla="*/ 764914 h 937488"/>
                <a:gd name="connsiteX3" fmla="*/ 43498 w 578778"/>
                <a:gd name="connsiteY3" fmla="*/ 924130 h 937488"/>
                <a:gd name="connsiteX4" fmla="*/ 299006 w 578778"/>
                <a:gd name="connsiteY4" fmla="*/ 906639 h 937488"/>
                <a:gd name="connsiteX5" fmla="*/ 393218 w 578778"/>
                <a:gd name="connsiteY5" fmla="*/ 730594 h 937488"/>
                <a:gd name="connsiteX6" fmla="*/ 578361 w 578778"/>
                <a:gd name="connsiteY6" fmla="*/ 614507 h 937488"/>
                <a:gd name="connsiteX7" fmla="*/ 497141 w 578778"/>
                <a:gd name="connsiteY7" fmla="*/ 415680 h 937488"/>
                <a:gd name="connsiteX8" fmla="*/ 549958 w 578778"/>
                <a:gd name="connsiteY8" fmla="*/ 12559 h 937488"/>
                <a:gd name="connsiteX0" fmla="*/ 549040 w 577860"/>
                <a:gd name="connsiteY0" fmla="*/ 12559 h 933931"/>
                <a:gd name="connsiteX1" fmla="*/ 224948 w 577860"/>
                <a:gd name="connsiteY1" fmla="*/ 163030 h 933931"/>
                <a:gd name="connsiteX2" fmla="*/ 16604 w 577860"/>
                <a:gd name="connsiteY2" fmla="*/ 764914 h 933931"/>
                <a:gd name="connsiteX3" fmla="*/ 42580 w 577860"/>
                <a:gd name="connsiteY3" fmla="*/ 924130 h 933931"/>
                <a:gd name="connsiteX4" fmla="*/ 277467 w 577860"/>
                <a:gd name="connsiteY4" fmla="*/ 896479 h 933931"/>
                <a:gd name="connsiteX5" fmla="*/ 392300 w 577860"/>
                <a:gd name="connsiteY5" fmla="*/ 730594 h 933931"/>
                <a:gd name="connsiteX6" fmla="*/ 577443 w 577860"/>
                <a:gd name="connsiteY6" fmla="*/ 614507 h 933931"/>
                <a:gd name="connsiteX7" fmla="*/ 496223 w 577860"/>
                <a:gd name="connsiteY7" fmla="*/ 415680 h 933931"/>
                <a:gd name="connsiteX8" fmla="*/ 549040 w 577860"/>
                <a:gd name="connsiteY8" fmla="*/ 12559 h 933931"/>
                <a:gd name="connsiteX0" fmla="*/ 549040 w 577860"/>
                <a:gd name="connsiteY0" fmla="*/ 12559 h 932176"/>
                <a:gd name="connsiteX1" fmla="*/ 224948 w 577860"/>
                <a:gd name="connsiteY1" fmla="*/ 163030 h 932176"/>
                <a:gd name="connsiteX2" fmla="*/ 16604 w 577860"/>
                <a:gd name="connsiteY2" fmla="*/ 764914 h 932176"/>
                <a:gd name="connsiteX3" fmla="*/ 42580 w 577860"/>
                <a:gd name="connsiteY3" fmla="*/ 924130 h 932176"/>
                <a:gd name="connsiteX4" fmla="*/ 277467 w 577860"/>
                <a:gd name="connsiteY4" fmla="*/ 896479 h 932176"/>
                <a:gd name="connsiteX5" fmla="*/ 392300 w 577860"/>
                <a:gd name="connsiteY5" fmla="*/ 730594 h 932176"/>
                <a:gd name="connsiteX6" fmla="*/ 577443 w 577860"/>
                <a:gd name="connsiteY6" fmla="*/ 614507 h 932176"/>
                <a:gd name="connsiteX7" fmla="*/ 496223 w 577860"/>
                <a:gd name="connsiteY7" fmla="*/ 415680 h 932176"/>
                <a:gd name="connsiteX8" fmla="*/ 549040 w 577860"/>
                <a:gd name="connsiteY8" fmla="*/ 12559 h 932176"/>
                <a:gd name="connsiteX0" fmla="*/ 549040 w 577860"/>
                <a:gd name="connsiteY0" fmla="*/ 12559 h 933604"/>
                <a:gd name="connsiteX1" fmla="*/ 224948 w 577860"/>
                <a:gd name="connsiteY1" fmla="*/ 163030 h 933604"/>
                <a:gd name="connsiteX2" fmla="*/ 16604 w 577860"/>
                <a:gd name="connsiteY2" fmla="*/ 764914 h 933604"/>
                <a:gd name="connsiteX3" fmla="*/ 42580 w 577860"/>
                <a:gd name="connsiteY3" fmla="*/ 924130 h 933604"/>
                <a:gd name="connsiteX4" fmla="*/ 277467 w 577860"/>
                <a:gd name="connsiteY4" fmla="*/ 896479 h 933604"/>
                <a:gd name="connsiteX5" fmla="*/ 412921 w 577860"/>
                <a:gd name="connsiteY5" fmla="*/ 740754 h 933604"/>
                <a:gd name="connsiteX6" fmla="*/ 577443 w 577860"/>
                <a:gd name="connsiteY6" fmla="*/ 614507 h 933604"/>
                <a:gd name="connsiteX7" fmla="*/ 496223 w 577860"/>
                <a:gd name="connsiteY7" fmla="*/ 415680 h 933604"/>
                <a:gd name="connsiteX8" fmla="*/ 549040 w 577860"/>
                <a:gd name="connsiteY8" fmla="*/ 12559 h 933604"/>
                <a:gd name="connsiteX0" fmla="*/ 549040 w 578225"/>
                <a:gd name="connsiteY0" fmla="*/ 12559 h 933604"/>
                <a:gd name="connsiteX1" fmla="*/ 224948 w 578225"/>
                <a:gd name="connsiteY1" fmla="*/ 163030 h 933604"/>
                <a:gd name="connsiteX2" fmla="*/ 16604 w 578225"/>
                <a:gd name="connsiteY2" fmla="*/ 764914 h 933604"/>
                <a:gd name="connsiteX3" fmla="*/ 42580 w 578225"/>
                <a:gd name="connsiteY3" fmla="*/ 924130 h 933604"/>
                <a:gd name="connsiteX4" fmla="*/ 277467 w 578225"/>
                <a:gd name="connsiteY4" fmla="*/ 896479 h 933604"/>
                <a:gd name="connsiteX5" fmla="*/ 412921 w 578225"/>
                <a:gd name="connsiteY5" fmla="*/ 740754 h 933604"/>
                <a:gd name="connsiteX6" fmla="*/ 577443 w 578225"/>
                <a:gd name="connsiteY6" fmla="*/ 614507 h 933604"/>
                <a:gd name="connsiteX7" fmla="*/ 537466 w 578225"/>
                <a:gd name="connsiteY7" fmla="*/ 415680 h 933604"/>
                <a:gd name="connsiteX8" fmla="*/ 549040 w 578225"/>
                <a:gd name="connsiteY8" fmla="*/ 12559 h 933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8225" h="933604">
                  <a:moveTo>
                    <a:pt x="549040" y="12559"/>
                  </a:moveTo>
                  <a:cubicBezTo>
                    <a:pt x="496954" y="-29549"/>
                    <a:pt x="313687" y="37638"/>
                    <a:pt x="224948" y="163030"/>
                  </a:cubicBezTo>
                  <a:cubicBezTo>
                    <a:pt x="136209" y="288423"/>
                    <a:pt x="46999" y="638064"/>
                    <a:pt x="16604" y="764914"/>
                  </a:cubicBezTo>
                  <a:cubicBezTo>
                    <a:pt x="-13791" y="891764"/>
                    <a:pt x="-897" y="902203"/>
                    <a:pt x="42580" y="924130"/>
                  </a:cubicBezTo>
                  <a:cubicBezTo>
                    <a:pt x="86057" y="946058"/>
                    <a:pt x="215744" y="927042"/>
                    <a:pt x="277467" y="896479"/>
                  </a:cubicBezTo>
                  <a:cubicBezTo>
                    <a:pt x="339190" y="865916"/>
                    <a:pt x="380969" y="780129"/>
                    <a:pt x="412921" y="740754"/>
                  </a:cubicBezTo>
                  <a:cubicBezTo>
                    <a:pt x="444873" y="701379"/>
                    <a:pt x="570433" y="696626"/>
                    <a:pt x="577443" y="614507"/>
                  </a:cubicBezTo>
                  <a:cubicBezTo>
                    <a:pt x="584453" y="532388"/>
                    <a:pt x="542200" y="516005"/>
                    <a:pt x="537466" y="415680"/>
                  </a:cubicBezTo>
                  <a:cubicBezTo>
                    <a:pt x="532732" y="315355"/>
                    <a:pt x="601126" y="54667"/>
                    <a:pt x="549040" y="12559"/>
                  </a:cubicBezTo>
                  <a:close/>
                </a:path>
              </a:pathLst>
            </a:cu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grpSp>
      <p:sp>
        <p:nvSpPr>
          <p:cNvPr id="7" name="Rectangle 6">
            <a:extLst>
              <a:ext uri="{FF2B5EF4-FFF2-40B4-BE49-F238E27FC236}">
                <a16:creationId xmlns:a16="http://schemas.microsoft.com/office/drawing/2014/main" id="{BAB6A0D5-F3DE-4AAB-AA21-5DA9703F140F}"/>
              </a:ext>
            </a:extLst>
          </p:cNvPr>
          <p:cNvSpPr/>
          <p:nvPr/>
        </p:nvSpPr>
        <p:spPr>
          <a:xfrm>
            <a:off x="6500480" y="4605232"/>
            <a:ext cx="4292216" cy="497080"/>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16A1A35E-6050-4A4A-9479-1D95470CF93F}"/>
              </a:ext>
            </a:extLst>
          </p:cNvPr>
          <p:cNvSpPr txBox="1"/>
          <p:nvPr/>
        </p:nvSpPr>
        <p:spPr>
          <a:xfrm>
            <a:off x="6753285" y="4669106"/>
            <a:ext cx="3722442" cy="369332"/>
          </a:xfrm>
          <a:prstGeom prst="rect">
            <a:avLst/>
          </a:prstGeom>
          <a:noFill/>
        </p:spPr>
        <p:txBody>
          <a:bodyPr wrap="square" rtlCol="0">
            <a:spAutoFit/>
          </a:bodyPr>
          <a:lstStyle/>
          <a:p>
            <a:pPr algn="ctr"/>
            <a:r>
              <a:rPr lang="en-US" dirty="0">
                <a:solidFill>
                  <a:schemeClr val="bg1"/>
                </a:solidFill>
              </a:rPr>
              <a:t>Annual low dose CT scan</a:t>
            </a:r>
          </a:p>
        </p:txBody>
      </p:sp>
      <p:sp>
        <p:nvSpPr>
          <p:cNvPr id="80" name="cancer screening text">
            <a:hlinkClick r:id="rId10" action="ppaction://hlinksldjump"/>
            <a:extLst>
              <a:ext uri="{FF2B5EF4-FFF2-40B4-BE49-F238E27FC236}">
                <a16:creationId xmlns:a16="http://schemas.microsoft.com/office/drawing/2014/main" id="{6B4D2560-36E8-4ABE-A4CA-9BA59E68FE15}"/>
              </a:ext>
            </a:extLst>
          </p:cNvPr>
          <p:cNvSpPr txBox="1"/>
          <p:nvPr/>
        </p:nvSpPr>
        <p:spPr>
          <a:xfrm>
            <a:off x="250665" y="5045459"/>
            <a:ext cx="1967278" cy="408623"/>
          </a:xfrm>
          <a:prstGeom prst="roundRect">
            <a:avLst/>
          </a:prstGeom>
          <a:ln w="38100">
            <a:solidFill>
              <a:schemeClr val="accent2"/>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Infectious Disease</a:t>
            </a:r>
          </a:p>
        </p:txBody>
      </p:sp>
      <p:pic>
        <p:nvPicPr>
          <p:cNvPr id="81" name="Graphic 80" descr="Cursor with solid fill">
            <a:extLst>
              <a:ext uri="{FF2B5EF4-FFF2-40B4-BE49-F238E27FC236}">
                <a16:creationId xmlns:a16="http://schemas.microsoft.com/office/drawing/2014/main" id="{8DCE9E7D-68F0-44DA-BB12-885CEE27962C}"/>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060407" y="5238530"/>
            <a:ext cx="395274" cy="395274"/>
          </a:xfrm>
          <a:prstGeom prst="rect">
            <a:avLst/>
          </a:prstGeom>
        </p:spPr>
      </p:pic>
      <p:pic>
        <p:nvPicPr>
          <p:cNvPr id="82" name="Graphic 81" descr="Cursor with solid fill">
            <a:hlinkClick r:id="rId4" action="ppaction://hlinksldjump"/>
            <a:extLst>
              <a:ext uri="{FF2B5EF4-FFF2-40B4-BE49-F238E27FC236}">
                <a16:creationId xmlns:a16="http://schemas.microsoft.com/office/drawing/2014/main" id="{C60E1D15-2735-4BDB-9319-5B4860629E6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938530" y="2992300"/>
            <a:ext cx="395274" cy="395274"/>
          </a:xfrm>
          <a:prstGeom prst="rect">
            <a:avLst/>
          </a:prstGeom>
        </p:spPr>
      </p:pic>
      <p:pic>
        <p:nvPicPr>
          <p:cNvPr id="83" name="Graphic 82" descr="Cursor with solid fill">
            <a:hlinkClick r:id="rId5" action="ppaction://hlinksldjump"/>
            <a:extLst>
              <a:ext uri="{FF2B5EF4-FFF2-40B4-BE49-F238E27FC236}">
                <a16:creationId xmlns:a16="http://schemas.microsoft.com/office/drawing/2014/main" id="{C4835983-C413-4F32-B9DA-F3F66163964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938530" y="3533622"/>
            <a:ext cx="395274" cy="395274"/>
          </a:xfrm>
          <a:prstGeom prst="rect">
            <a:avLst/>
          </a:prstGeom>
        </p:spPr>
      </p:pic>
      <p:pic>
        <p:nvPicPr>
          <p:cNvPr id="85" name="Graphic 84" descr="Cursor with solid fill">
            <a:hlinkClick r:id="rId4" action="ppaction://hlinksldjump"/>
            <a:extLst>
              <a:ext uri="{FF2B5EF4-FFF2-40B4-BE49-F238E27FC236}">
                <a16:creationId xmlns:a16="http://schemas.microsoft.com/office/drawing/2014/main" id="{213A5C34-C4DE-47B9-8D9E-33867D47D4C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938530" y="2455767"/>
            <a:ext cx="395274" cy="395274"/>
          </a:xfrm>
          <a:prstGeom prst="rect">
            <a:avLst/>
          </a:prstGeom>
        </p:spPr>
      </p:pic>
      <p:pic>
        <p:nvPicPr>
          <p:cNvPr id="86" name="Graphic 85" descr="Cursor with solid fill">
            <a:hlinkClick r:id="rId6" action="ppaction://hlinksldjump"/>
            <a:extLst>
              <a:ext uri="{FF2B5EF4-FFF2-40B4-BE49-F238E27FC236}">
                <a16:creationId xmlns:a16="http://schemas.microsoft.com/office/drawing/2014/main" id="{DEB703DF-1E26-4C34-9414-D795146A348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944389" y="4707343"/>
            <a:ext cx="395274" cy="395274"/>
          </a:xfrm>
          <a:prstGeom prst="rect">
            <a:avLst/>
          </a:prstGeom>
        </p:spPr>
      </p:pic>
      <p:grpSp>
        <p:nvGrpSpPr>
          <p:cNvPr id="84" name="Question 2 button">
            <a:extLst>
              <a:ext uri="{FF2B5EF4-FFF2-40B4-BE49-F238E27FC236}">
                <a16:creationId xmlns:a16="http://schemas.microsoft.com/office/drawing/2014/main" id="{CC0369BF-0329-480B-BFAE-FC9F3A417F04}"/>
              </a:ext>
            </a:extLst>
          </p:cNvPr>
          <p:cNvGrpSpPr/>
          <p:nvPr/>
        </p:nvGrpSpPr>
        <p:grpSpPr>
          <a:xfrm>
            <a:off x="250666" y="118378"/>
            <a:ext cx="2631617" cy="641990"/>
            <a:chOff x="111732" y="1020981"/>
            <a:chExt cx="2631617" cy="641990"/>
          </a:xfrm>
        </p:grpSpPr>
        <p:sp>
          <p:nvSpPr>
            <p:cNvPr id="87" name="Question 2">
              <a:hlinkClick r:id="rId11" action="ppaction://hlinksldjump"/>
              <a:extLst>
                <a:ext uri="{FF2B5EF4-FFF2-40B4-BE49-F238E27FC236}">
                  <a16:creationId xmlns:a16="http://schemas.microsoft.com/office/drawing/2014/main" id="{04B7FF5B-268A-4BA6-8881-8903FDE2BB65}"/>
                </a:ext>
              </a:extLst>
            </p:cNvPr>
            <p:cNvSpPr txBox="1"/>
            <p:nvPr/>
          </p:nvSpPr>
          <p:spPr>
            <a:xfrm>
              <a:off x="111732" y="1020981"/>
              <a:ext cx="2404590"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When to screen?</a:t>
              </a:r>
            </a:p>
          </p:txBody>
        </p:sp>
        <p:pic>
          <p:nvPicPr>
            <p:cNvPr id="88" name="Graphic 87" descr="Cursor with solid fill">
              <a:extLst>
                <a:ext uri="{FF2B5EF4-FFF2-40B4-BE49-F238E27FC236}">
                  <a16:creationId xmlns:a16="http://schemas.microsoft.com/office/drawing/2014/main" id="{7338B3F6-6A74-4BE2-9D00-9F380957BC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348075" y="1267697"/>
              <a:ext cx="395274" cy="395274"/>
            </a:xfrm>
            <a:prstGeom prst="rect">
              <a:avLst/>
            </a:prstGeom>
          </p:spPr>
        </p:pic>
      </p:grpSp>
      <p:grpSp>
        <p:nvGrpSpPr>
          <p:cNvPr id="89" name="Question 2 button">
            <a:extLst>
              <a:ext uri="{FF2B5EF4-FFF2-40B4-BE49-F238E27FC236}">
                <a16:creationId xmlns:a16="http://schemas.microsoft.com/office/drawing/2014/main" id="{F4953A6A-5AC4-4A37-98BB-4683318E656F}"/>
              </a:ext>
            </a:extLst>
          </p:cNvPr>
          <p:cNvGrpSpPr/>
          <p:nvPr/>
        </p:nvGrpSpPr>
        <p:grpSpPr>
          <a:xfrm>
            <a:off x="250666" y="757570"/>
            <a:ext cx="2600289" cy="912726"/>
            <a:chOff x="197047" y="1133988"/>
            <a:chExt cx="2600289" cy="912726"/>
          </a:xfrm>
        </p:grpSpPr>
        <p:sp>
          <p:nvSpPr>
            <p:cNvPr id="90" name="Question 2">
              <a:hlinkClick r:id="rId12" action="ppaction://hlinksldjump"/>
              <a:extLst>
                <a:ext uri="{FF2B5EF4-FFF2-40B4-BE49-F238E27FC236}">
                  <a16:creationId xmlns:a16="http://schemas.microsoft.com/office/drawing/2014/main" id="{DB34CC26-AD00-4EF1-BE15-83EA1E33212D}"/>
                </a:ext>
              </a:extLst>
            </p:cNvPr>
            <p:cNvSpPr txBox="1"/>
            <p:nvPr/>
          </p:nvSpPr>
          <p:spPr>
            <a:xfrm>
              <a:off x="197047" y="1133988"/>
              <a:ext cx="2404590" cy="715089"/>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5 domains of prevention/screening </a:t>
              </a:r>
            </a:p>
          </p:txBody>
        </p:sp>
        <p:pic>
          <p:nvPicPr>
            <p:cNvPr id="91" name="Graphic 90" descr="Cursor with solid fill">
              <a:extLst>
                <a:ext uri="{FF2B5EF4-FFF2-40B4-BE49-F238E27FC236}">
                  <a16:creationId xmlns:a16="http://schemas.microsoft.com/office/drawing/2014/main" id="{8B67672E-486C-42D2-8030-4878ED1453C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402062" y="1651440"/>
              <a:ext cx="395274" cy="395274"/>
            </a:xfrm>
            <a:prstGeom prst="rect">
              <a:avLst/>
            </a:prstGeom>
          </p:spPr>
        </p:pic>
      </p:grpSp>
      <p:sp>
        <p:nvSpPr>
          <p:cNvPr id="92" name="sub-q 1 button">
            <a:hlinkClick r:id="rId13" action="ppaction://hlinksldjump"/>
            <a:extLst>
              <a:ext uri="{FF2B5EF4-FFF2-40B4-BE49-F238E27FC236}">
                <a16:creationId xmlns:a16="http://schemas.microsoft.com/office/drawing/2014/main" id="{B9AFB565-9715-47CA-BA5B-224B7A74187D}"/>
              </a:ext>
            </a:extLst>
          </p:cNvPr>
          <p:cNvSpPr txBox="1"/>
          <p:nvPr/>
        </p:nvSpPr>
        <p:spPr>
          <a:xfrm>
            <a:off x="498239" y="2220595"/>
            <a:ext cx="1614098"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tx1"/>
                </a:solidFill>
              </a:rPr>
              <a:t>Breast</a:t>
            </a:r>
          </a:p>
        </p:txBody>
      </p:sp>
    </p:spTree>
    <p:extLst>
      <p:ext uri="{BB962C8B-B14F-4D97-AF65-F5344CB8AC3E}">
        <p14:creationId xmlns:p14="http://schemas.microsoft.com/office/powerpoint/2010/main" val="216971312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21"/>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xit" presetSubtype="0" fill="hold" nodeType="withEffect">
                                  <p:stCondLst>
                                    <p:cond delay="0"/>
                                  </p:stCondLst>
                                  <p:childTnLst>
                                    <p:set>
                                      <p:cBhvr>
                                        <p:cTn id="10" dur="1" fill="hold">
                                          <p:stCondLst>
                                            <p:cond delay="0"/>
                                          </p:stCondLst>
                                        </p:cTn>
                                        <p:tgtEl>
                                          <p:spTgt spid="124"/>
                                        </p:tgtEl>
                                        <p:attrNameLst>
                                          <p:attrName>style.visibility</p:attrName>
                                        </p:attrNameLst>
                                      </p:cBhvr>
                                      <p:to>
                                        <p:strVal val="hidden"/>
                                      </p:to>
                                    </p:set>
                                  </p:childTnLst>
                                </p:cTn>
                              </p:par>
                            </p:childTnLst>
                          </p:cTn>
                        </p:par>
                      </p:childTnLst>
                    </p:cTn>
                  </p:par>
                </p:childTnLst>
              </p:cTn>
              <p:nextCondLst>
                <p:cond evt="onClick" delay="0">
                  <p:tgtEl>
                    <p:spTgt spid="121"/>
                  </p:tgtEl>
                </p:cond>
              </p:nextCondLst>
            </p:seq>
            <p:seq concurrent="1" nextAc="seek">
              <p:cTn id="11" restart="whenNotActive" fill="hold" evtFilter="cancelBubble" nodeType="interactiveSeq">
                <p:stCondLst>
                  <p:cond evt="onClick" delay="0">
                    <p:tgtEl>
                      <p:spTgt spid="122"/>
                    </p:tgtEl>
                  </p:cond>
                </p:stCondLst>
                <p:endSync evt="end" delay="0">
                  <p:rtn val="all"/>
                </p:endSync>
                <p:childTnLst>
                  <p:par>
                    <p:cTn id="12" fill="hold">
                      <p:stCondLst>
                        <p:cond delay="0"/>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52"/>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childTnLst>
                                </p:cTn>
                              </p:par>
                              <p:par>
                                <p:cTn id="18" presetID="1" presetClass="exit" presetSubtype="0" fill="hold" nodeType="withEffect">
                                  <p:stCondLst>
                                    <p:cond delay="0"/>
                                  </p:stCondLst>
                                  <p:childTnLst>
                                    <p:set>
                                      <p:cBhvr>
                                        <p:cTn id="19" dur="1" fill="hold">
                                          <p:stCondLst>
                                            <p:cond delay="0"/>
                                          </p:stCondLst>
                                        </p:cTn>
                                        <p:tgtEl>
                                          <p:spTgt spid="125"/>
                                        </p:tgtEl>
                                        <p:attrNameLst>
                                          <p:attrName>style.visibility</p:attrName>
                                        </p:attrNameLst>
                                      </p:cBhvr>
                                      <p:to>
                                        <p:strVal val="hidden"/>
                                      </p:to>
                                    </p:set>
                                  </p:childTnLst>
                                </p:cTn>
                              </p:par>
                            </p:childTnLst>
                          </p:cTn>
                        </p:par>
                      </p:childTnLst>
                    </p:cTn>
                  </p:par>
                </p:childTnLst>
              </p:cTn>
              <p:nextCondLst>
                <p:cond evt="onClick" delay="0">
                  <p:tgtEl>
                    <p:spTgt spid="122"/>
                  </p:tgtEl>
                </p:cond>
              </p:nextCondLst>
            </p:seq>
            <p:seq concurrent="1" nextAc="seek">
              <p:cTn id="20" restart="whenNotActive" fill="hold" evtFilter="cancelBubble" nodeType="interactiveSeq">
                <p:stCondLst>
                  <p:cond evt="onClick" delay="0">
                    <p:tgtEl>
                      <p:spTgt spid="123"/>
                    </p:tgtEl>
                  </p:cond>
                </p:stCondLst>
                <p:endSync evt="end" delay="0">
                  <p:rtn val="all"/>
                </p:endSync>
                <p:childTnLst>
                  <p:par>
                    <p:cTn id="21" fill="hold">
                      <p:stCondLst>
                        <p:cond delay="0"/>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0"/>
                                        </p:tgtEl>
                                        <p:attrNameLst>
                                          <p:attrName>style.visibility</p:attrName>
                                        </p:attrNameLst>
                                      </p:cBhvr>
                                      <p:to>
                                        <p:strVal val="visible"/>
                                      </p:to>
                                    </p:set>
                                  </p:childTnLst>
                                </p:cTn>
                              </p:par>
                              <p:par>
                                <p:cTn id="25" presetID="1" presetClass="exit" presetSubtype="0" fill="hold" nodeType="withEffect">
                                  <p:stCondLst>
                                    <p:cond delay="0"/>
                                  </p:stCondLst>
                                  <p:childTnLst>
                                    <p:set>
                                      <p:cBhvr>
                                        <p:cTn id="26" dur="1" fill="hold">
                                          <p:stCondLst>
                                            <p:cond delay="0"/>
                                          </p:stCondLst>
                                        </p:cTn>
                                        <p:tgtEl>
                                          <p:spTgt spid="126"/>
                                        </p:tgtEl>
                                        <p:attrNameLst>
                                          <p:attrName>style.visibility</p:attrName>
                                        </p:attrNameLst>
                                      </p:cBhvr>
                                      <p:to>
                                        <p:strVal val="hidden"/>
                                      </p:to>
                                    </p:set>
                                  </p:childTnLst>
                                </p:cTn>
                              </p:par>
                            </p:childTnLst>
                          </p:cTn>
                        </p:par>
                      </p:childTnLst>
                    </p:cTn>
                  </p:par>
                </p:childTnLst>
              </p:cTn>
              <p:nextCondLst>
                <p:cond evt="onClick" delay="0">
                  <p:tgtEl>
                    <p:spTgt spid="123"/>
                  </p:tgtEl>
                </p:cond>
              </p:nextCondLst>
            </p:seq>
          </p:childTnLst>
        </p:cTn>
      </p:par>
    </p:tnLst>
    <p:bldLst>
      <p:bldP spid="51" grpId="0"/>
      <p:bldP spid="60" grpId="0"/>
      <p:bldP spid="7" grpId="0" animBg="1"/>
      <p:bldP spid="8" grpId="0"/>
    </p:bldLst>
  </p:timing>
  <p:extLst>
    <p:ext uri="{E180D4A7-C9FB-4DFB-919C-405C955672EB}">
      <p14:showEvtLst xmlns:p14="http://schemas.microsoft.com/office/powerpoint/2010/main">
        <p14:triggerEvt type="onClick" time="2481" objId="121"/>
        <p14:triggerEvt type="onClick" time="4989" objId="122"/>
        <p14:triggerEvt type="onClick" time="27117" objId="123"/>
      </p14:showEvtLst>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Rectangle 96">
            <a:extLst>
              <a:ext uri="{FF2B5EF4-FFF2-40B4-BE49-F238E27FC236}">
                <a16:creationId xmlns:a16="http://schemas.microsoft.com/office/drawing/2014/main" id="{60FD2C94-23AD-453C-A55F-38ABF773540E}"/>
              </a:ext>
            </a:extLst>
          </p:cNvPr>
          <p:cNvSpPr/>
          <p:nvPr/>
        </p:nvSpPr>
        <p:spPr>
          <a:xfrm>
            <a:off x="2902349" y="118378"/>
            <a:ext cx="6889263" cy="63919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Prostate Cancer Screening</a:t>
            </a:r>
          </a:p>
        </p:txBody>
      </p:sp>
      <p:sp>
        <p:nvSpPr>
          <p:cNvPr id="98" name="cancer screening text">
            <a:extLst>
              <a:ext uri="{FF2B5EF4-FFF2-40B4-BE49-F238E27FC236}">
                <a16:creationId xmlns:a16="http://schemas.microsoft.com/office/drawing/2014/main" id="{9ECC0811-677B-4C06-9A05-086F177CD50A}"/>
              </a:ext>
            </a:extLst>
          </p:cNvPr>
          <p:cNvSpPr txBox="1"/>
          <p:nvPr/>
        </p:nvSpPr>
        <p:spPr>
          <a:xfrm>
            <a:off x="250666" y="1662473"/>
            <a:ext cx="1967278" cy="408623"/>
          </a:xfrm>
          <a:prstGeom prst="roundRect">
            <a:avLst/>
          </a:prstGeom>
          <a:solidFill>
            <a:schemeClr val="accent1"/>
          </a:solidFill>
          <a:ln w="38100">
            <a:solidFill>
              <a:schemeClr val="accent1"/>
            </a:solidFill>
          </a:ln>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bg1"/>
                </a:solidFill>
              </a:rPr>
              <a:t>Cancer Screening</a:t>
            </a:r>
          </a:p>
        </p:txBody>
      </p:sp>
      <p:sp>
        <p:nvSpPr>
          <p:cNvPr id="102" name="sub-q 2">
            <a:hlinkClick r:id="rId3" action="ppaction://hlinksldjump"/>
            <a:extLst>
              <a:ext uri="{FF2B5EF4-FFF2-40B4-BE49-F238E27FC236}">
                <a16:creationId xmlns:a16="http://schemas.microsoft.com/office/drawing/2014/main" id="{282418AB-781B-4F8A-B21E-B7950DDC1D8D}"/>
              </a:ext>
            </a:extLst>
          </p:cNvPr>
          <p:cNvSpPr txBox="1"/>
          <p:nvPr/>
        </p:nvSpPr>
        <p:spPr>
          <a:xfrm>
            <a:off x="498238" y="2771697"/>
            <a:ext cx="1608491"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Colon</a:t>
            </a:r>
          </a:p>
        </p:txBody>
      </p:sp>
      <p:grpSp>
        <p:nvGrpSpPr>
          <p:cNvPr id="104" name="sub-group arrows">
            <a:extLst>
              <a:ext uri="{FF2B5EF4-FFF2-40B4-BE49-F238E27FC236}">
                <a16:creationId xmlns:a16="http://schemas.microsoft.com/office/drawing/2014/main" id="{C022DF5B-D367-49E3-A4B3-8635B54D9F9A}"/>
              </a:ext>
            </a:extLst>
          </p:cNvPr>
          <p:cNvGrpSpPr/>
          <p:nvPr/>
        </p:nvGrpSpPr>
        <p:grpSpPr>
          <a:xfrm>
            <a:off x="325393" y="2072495"/>
            <a:ext cx="172846" cy="903514"/>
            <a:chOff x="325393" y="2072495"/>
            <a:chExt cx="172846" cy="903514"/>
          </a:xfrm>
        </p:grpSpPr>
        <p:cxnSp>
          <p:nvCxnSpPr>
            <p:cNvPr id="105" name="Connector: Elbow 104">
              <a:extLst>
                <a:ext uri="{FF2B5EF4-FFF2-40B4-BE49-F238E27FC236}">
                  <a16:creationId xmlns:a16="http://schemas.microsoft.com/office/drawing/2014/main" id="{7FE0C69F-2808-4909-84F5-B8C3E90937F4}"/>
                </a:ext>
              </a:extLst>
            </p:cNvPr>
            <p:cNvCxnSpPr>
              <a:cxnSpLocks/>
            </p:cNvCxnSpPr>
            <p:nvPr/>
          </p:nvCxnSpPr>
          <p:spPr>
            <a:xfrm rot="16200000" flipH="1">
              <a:off x="235610" y="2162278"/>
              <a:ext cx="352412" cy="172846"/>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106" name="Connector: Elbow 105">
              <a:extLst>
                <a:ext uri="{FF2B5EF4-FFF2-40B4-BE49-F238E27FC236}">
                  <a16:creationId xmlns:a16="http://schemas.microsoft.com/office/drawing/2014/main" id="{3AD695DD-9EAA-4BBD-88D3-F25597066B2C}"/>
                </a:ext>
              </a:extLst>
            </p:cNvPr>
            <p:cNvCxnSpPr>
              <a:cxnSpLocks/>
              <a:endCxn id="102" idx="1"/>
            </p:cNvCxnSpPr>
            <p:nvPr/>
          </p:nvCxnSpPr>
          <p:spPr>
            <a:xfrm rot="16200000" flipH="1">
              <a:off x="-35902" y="2441869"/>
              <a:ext cx="895436" cy="172844"/>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grpSp>
      <p:grpSp>
        <p:nvGrpSpPr>
          <p:cNvPr id="107" name="sub-group arrows">
            <a:extLst>
              <a:ext uri="{FF2B5EF4-FFF2-40B4-BE49-F238E27FC236}">
                <a16:creationId xmlns:a16="http://schemas.microsoft.com/office/drawing/2014/main" id="{71F7B2B2-6A70-412C-A452-BAC8E0192B1A}"/>
              </a:ext>
            </a:extLst>
          </p:cNvPr>
          <p:cNvGrpSpPr/>
          <p:nvPr/>
        </p:nvGrpSpPr>
        <p:grpSpPr>
          <a:xfrm>
            <a:off x="325394" y="3169916"/>
            <a:ext cx="172844" cy="904913"/>
            <a:chOff x="479213" y="1473534"/>
            <a:chExt cx="172844" cy="904913"/>
          </a:xfrm>
        </p:grpSpPr>
        <p:cxnSp>
          <p:nvCxnSpPr>
            <p:cNvPr id="108" name="Connector: Elbow 107">
              <a:extLst>
                <a:ext uri="{FF2B5EF4-FFF2-40B4-BE49-F238E27FC236}">
                  <a16:creationId xmlns:a16="http://schemas.microsoft.com/office/drawing/2014/main" id="{1B0149C1-77F1-4DD5-8376-5FE4E26EF408}"/>
                </a:ext>
              </a:extLst>
            </p:cNvPr>
            <p:cNvCxnSpPr>
              <a:cxnSpLocks/>
            </p:cNvCxnSpPr>
            <p:nvPr/>
          </p:nvCxnSpPr>
          <p:spPr>
            <a:xfrm rot="16200000" flipH="1">
              <a:off x="389429" y="1563318"/>
              <a:ext cx="352412" cy="172843"/>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109" name="Connector: Elbow 108">
              <a:extLst>
                <a:ext uri="{FF2B5EF4-FFF2-40B4-BE49-F238E27FC236}">
                  <a16:creationId xmlns:a16="http://schemas.microsoft.com/office/drawing/2014/main" id="{8F262EC8-3528-4103-B7D4-36F10F56B6B0}"/>
                </a:ext>
              </a:extLst>
            </p:cNvPr>
            <p:cNvCxnSpPr>
              <a:cxnSpLocks/>
            </p:cNvCxnSpPr>
            <p:nvPr/>
          </p:nvCxnSpPr>
          <p:spPr>
            <a:xfrm rot="16200000" flipH="1">
              <a:off x="117918" y="1844308"/>
              <a:ext cx="895435" cy="172843"/>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grpSp>
      <p:sp>
        <p:nvSpPr>
          <p:cNvPr id="110" name="sub-q 2">
            <a:hlinkClick r:id="rId4" action="ppaction://hlinksldjump"/>
            <a:extLst>
              <a:ext uri="{FF2B5EF4-FFF2-40B4-BE49-F238E27FC236}">
                <a16:creationId xmlns:a16="http://schemas.microsoft.com/office/drawing/2014/main" id="{E5B8EC3E-2FE4-4B6E-94F7-1A413E77D069}"/>
              </a:ext>
            </a:extLst>
          </p:cNvPr>
          <p:cNvSpPr txBox="1"/>
          <p:nvPr/>
        </p:nvSpPr>
        <p:spPr>
          <a:xfrm>
            <a:off x="504771" y="3324199"/>
            <a:ext cx="1608491"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Cervical</a:t>
            </a:r>
          </a:p>
        </p:txBody>
      </p:sp>
      <p:cxnSp>
        <p:nvCxnSpPr>
          <p:cNvPr id="112" name="Straight Connector 111">
            <a:extLst>
              <a:ext uri="{FF2B5EF4-FFF2-40B4-BE49-F238E27FC236}">
                <a16:creationId xmlns:a16="http://schemas.microsoft.com/office/drawing/2014/main" id="{D96ED0B0-F461-4CE0-93BC-E857256CC465}"/>
              </a:ext>
            </a:extLst>
          </p:cNvPr>
          <p:cNvCxnSpPr/>
          <p:nvPr/>
        </p:nvCxnSpPr>
        <p:spPr>
          <a:xfrm>
            <a:off x="325394" y="2976008"/>
            <a:ext cx="0" cy="34819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3" name="sub-group arrows">
            <a:extLst>
              <a:ext uri="{FF2B5EF4-FFF2-40B4-BE49-F238E27FC236}">
                <a16:creationId xmlns:a16="http://schemas.microsoft.com/office/drawing/2014/main" id="{8AA2B209-5C9B-4ABA-AD44-1BB9FFC388C8}"/>
              </a:ext>
            </a:extLst>
          </p:cNvPr>
          <p:cNvGrpSpPr/>
          <p:nvPr/>
        </p:nvGrpSpPr>
        <p:grpSpPr>
          <a:xfrm>
            <a:off x="325213" y="3735583"/>
            <a:ext cx="172844" cy="904913"/>
            <a:chOff x="479213" y="1473534"/>
            <a:chExt cx="172844" cy="904913"/>
          </a:xfrm>
        </p:grpSpPr>
        <p:cxnSp>
          <p:nvCxnSpPr>
            <p:cNvPr id="114" name="Connector: Elbow 113">
              <a:extLst>
                <a:ext uri="{FF2B5EF4-FFF2-40B4-BE49-F238E27FC236}">
                  <a16:creationId xmlns:a16="http://schemas.microsoft.com/office/drawing/2014/main" id="{3F2212A7-817C-4C37-9289-4470ECCD973D}"/>
                </a:ext>
              </a:extLst>
            </p:cNvPr>
            <p:cNvCxnSpPr>
              <a:cxnSpLocks/>
            </p:cNvCxnSpPr>
            <p:nvPr/>
          </p:nvCxnSpPr>
          <p:spPr>
            <a:xfrm rot="16200000" flipH="1">
              <a:off x="389429" y="1563318"/>
              <a:ext cx="352412" cy="172843"/>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115" name="Connector: Elbow 114">
              <a:extLst>
                <a:ext uri="{FF2B5EF4-FFF2-40B4-BE49-F238E27FC236}">
                  <a16:creationId xmlns:a16="http://schemas.microsoft.com/office/drawing/2014/main" id="{6CB6C2D1-D720-43A7-BC5C-66281ED4FAAC}"/>
                </a:ext>
              </a:extLst>
            </p:cNvPr>
            <p:cNvCxnSpPr>
              <a:cxnSpLocks/>
            </p:cNvCxnSpPr>
            <p:nvPr/>
          </p:nvCxnSpPr>
          <p:spPr>
            <a:xfrm rot="16200000" flipH="1">
              <a:off x="117918" y="1844308"/>
              <a:ext cx="895435" cy="172843"/>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grpSp>
      <p:cxnSp>
        <p:nvCxnSpPr>
          <p:cNvPr id="116" name="Straight Connector 115">
            <a:extLst>
              <a:ext uri="{FF2B5EF4-FFF2-40B4-BE49-F238E27FC236}">
                <a16:creationId xmlns:a16="http://schemas.microsoft.com/office/drawing/2014/main" id="{3AD7F41E-1873-476A-83B0-49CEEE94023B}"/>
              </a:ext>
            </a:extLst>
          </p:cNvPr>
          <p:cNvCxnSpPr/>
          <p:nvPr/>
        </p:nvCxnSpPr>
        <p:spPr>
          <a:xfrm>
            <a:off x="325394" y="4070143"/>
            <a:ext cx="0" cy="34819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7" name="sub-q 2">
            <a:hlinkClick r:id="rId5" action="ppaction://hlinksldjump"/>
            <a:extLst>
              <a:ext uri="{FF2B5EF4-FFF2-40B4-BE49-F238E27FC236}">
                <a16:creationId xmlns:a16="http://schemas.microsoft.com/office/drawing/2014/main" id="{6E4D1D00-BCE5-4EEE-84FF-8FC0997515D3}"/>
              </a:ext>
            </a:extLst>
          </p:cNvPr>
          <p:cNvSpPr txBox="1"/>
          <p:nvPr/>
        </p:nvSpPr>
        <p:spPr>
          <a:xfrm>
            <a:off x="504771" y="3905327"/>
            <a:ext cx="1608491"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Lung</a:t>
            </a:r>
          </a:p>
        </p:txBody>
      </p:sp>
      <p:sp>
        <p:nvSpPr>
          <p:cNvPr id="119" name="sub-q 2">
            <a:hlinkClick r:id="rId6" action="ppaction://hlinksldjump"/>
            <a:extLst>
              <a:ext uri="{FF2B5EF4-FFF2-40B4-BE49-F238E27FC236}">
                <a16:creationId xmlns:a16="http://schemas.microsoft.com/office/drawing/2014/main" id="{382F7AEA-F32D-496E-81BD-F9A8D0B51B8E}"/>
              </a:ext>
            </a:extLst>
          </p:cNvPr>
          <p:cNvSpPr txBox="1"/>
          <p:nvPr/>
        </p:nvSpPr>
        <p:spPr>
          <a:xfrm>
            <a:off x="504771" y="4474545"/>
            <a:ext cx="1608491" cy="408623"/>
          </a:xfrm>
          <a:prstGeom prst="roundRect">
            <a:avLst/>
          </a:prstGeom>
          <a:solidFill>
            <a:schemeClr val="bg2">
              <a:lumMod val="75000"/>
            </a:schemeClr>
          </a:solidFill>
          <a:ln w="38100"/>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ctr"/>
            <a:r>
              <a:rPr lang="en-US" dirty="0"/>
              <a:t>Prostate</a:t>
            </a:r>
          </a:p>
        </p:txBody>
      </p:sp>
      <p:sp>
        <p:nvSpPr>
          <p:cNvPr id="121" name="Population">
            <a:extLst>
              <a:ext uri="{FF2B5EF4-FFF2-40B4-BE49-F238E27FC236}">
                <a16:creationId xmlns:a16="http://schemas.microsoft.com/office/drawing/2014/main" id="{C99F06D1-A87E-4CB3-A4ED-4F03EF3C50BA}"/>
              </a:ext>
            </a:extLst>
          </p:cNvPr>
          <p:cNvSpPr/>
          <p:nvPr/>
        </p:nvSpPr>
        <p:spPr>
          <a:xfrm>
            <a:off x="3140359" y="1183085"/>
            <a:ext cx="2531092" cy="629768"/>
          </a:xfrm>
          <a:prstGeom prst="roundRect">
            <a:avLst/>
          </a:prstGeom>
          <a:solidFill>
            <a:schemeClr val="accent3"/>
          </a:solidFill>
          <a:ln w="38100">
            <a:solidFill>
              <a:schemeClr val="accent3">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Population?</a:t>
            </a:r>
          </a:p>
        </p:txBody>
      </p:sp>
      <p:sp>
        <p:nvSpPr>
          <p:cNvPr id="122" name="INterval">
            <a:extLst>
              <a:ext uri="{FF2B5EF4-FFF2-40B4-BE49-F238E27FC236}">
                <a16:creationId xmlns:a16="http://schemas.microsoft.com/office/drawing/2014/main" id="{AA5500C0-A28E-4C0E-9A2C-4738B3A5C521}"/>
              </a:ext>
            </a:extLst>
          </p:cNvPr>
          <p:cNvSpPr/>
          <p:nvPr/>
        </p:nvSpPr>
        <p:spPr>
          <a:xfrm>
            <a:off x="6142445" y="1174751"/>
            <a:ext cx="2753832" cy="639192"/>
          </a:xfrm>
          <a:prstGeom prst="roundRect">
            <a:avLst/>
          </a:prstGeom>
          <a:solidFill>
            <a:schemeClr val="accent3"/>
          </a:solidFill>
          <a:ln w="38100">
            <a:solidFill>
              <a:schemeClr val="accent3">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Modality and Interval?</a:t>
            </a:r>
          </a:p>
        </p:txBody>
      </p:sp>
      <p:sp>
        <p:nvSpPr>
          <p:cNvPr id="123" name="Discontinuation">
            <a:extLst>
              <a:ext uri="{FF2B5EF4-FFF2-40B4-BE49-F238E27FC236}">
                <a16:creationId xmlns:a16="http://schemas.microsoft.com/office/drawing/2014/main" id="{9764FED7-14C9-4958-9BC5-8C9606B04315}"/>
              </a:ext>
            </a:extLst>
          </p:cNvPr>
          <p:cNvSpPr/>
          <p:nvPr/>
        </p:nvSpPr>
        <p:spPr>
          <a:xfrm>
            <a:off x="9469285" y="1179416"/>
            <a:ext cx="2171371" cy="639192"/>
          </a:xfrm>
          <a:prstGeom prst="roundRect">
            <a:avLst/>
          </a:prstGeom>
          <a:solidFill>
            <a:schemeClr val="accent3"/>
          </a:solidFill>
          <a:ln w="38100">
            <a:solidFill>
              <a:schemeClr val="accent3">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Discontinuation?</a:t>
            </a:r>
          </a:p>
        </p:txBody>
      </p:sp>
      <p:pic>
        <p:nvPicPr>
          <p:cNvPr id="124" name="Graphic 123" descr="Cursor with solid fill">
            <a:extLst>
              <a:ext uri="{FF2B5EF4-FFF2-40B4-BE49-F238E27FC236}">
                <a16:creationId xmlns:a16="http://schemas.microsoft.com/office/drawing/2014/main" id="{AEED258D-0461-4023-BD78-16CE936F8E7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458928" y="1577389"/>
            <a:ext cx="395274" cy="395274"/>
          </a:xfrm>
          <a:prstGeom prst="rect">
            <a:avLst/>
          </a:prstGeom>
        </p:spPr>
      </p:pic>
      <p:pic>
        <p:nvPicPr>
          <p:cNvPr id="125" name="Graphic 124" descr="Cursor with solid fill">
            <a:extLst>
              <a:ext uri="{FF2B5EF4-FFF2-40B4-BE49-F238E27FC236}">
                <a16:creationId xmlns:a16="http://schemas.microsoft.com/office/drawing/2014/main" id="{5E3F3D47-0492-4537-B1F8-4074F3EF48C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698640" y="1589771"/>
            <a:ext cx="395274" cy="395274"/>
          </a:xfrm>
          <a:prstGeom prst="rect">
            <a:avLst/>
          </a:prstGeom>
        </p:spPr>
      </p:pic>
      <p:pic>
        <p:nvPicPr>
          <p:cNvPr id="126" name="Graphic 125" descr="Cursor with solid fill">
            <a:extLst>
              <a:ext uri="{FF2B5EF4-FFF2-40B4-BE49-F238E27FC236}">
                <a16:creationId xmlns:a16="http://schemas.microsoft.com/office/drawing/2014/main" id="{084C6D4E-B543-4114-A3AE-8363191AFBC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1426311" y="1575265"/>
            <a:ext cx="395274" cy="395274"/>
          </a:xfrm>
          <a:prstGeom prst="rect">
            <a:avLst/>
          </a:prstGeom>
        </p:spPr>
      </p:pic>
      <p:grpSp>
        <p:nvGrpSpPr>
          <p:cNvPr id="45" name="Cases button">
            <a:extLst>
              <a:ext uri="{FF2B5EF4-FFF2-40B4-BE49-F238E27FC236}">
                <a16:creationId xmlns:a16="http://schemas.microsoft.com/office/drawing/2014/main" id="{DCA7A660-E6C8-4419-8BFA-F355DD76249D}"/>
              </a:ext>
            </a:extLst>
          </p:cNvPr>
          <p:cNvGrpSpPr/>
          <p:nvPr/>
        </p:nvGrpSpPr>
        <p:grpSpPr>
          <a:xfrm>
            <a:off x="307848" y="6121182"/>
            <a:ext cx="2082939" cy="606260"/>
            <a:chOff x="207505" y="5523621"/>
            <a:chExt cx="2082939" cy="606260"/>
          </a:xfrm>
        </p:grpSpPr>
        <p:sp>
          <p:nvSpPr>
            <p:cNvPr id="46" name="Cases">
              <a:hlinkClick r:id="rId9" action="ppaction://hlinksldjump"/>
              <a:extLst>
                <a:ext uri="{FF2B5EF4-FFF2-40B4-BE49-F238E27FC236}">
                  <a16:creationId xmlns:a16="http://schemas.microsoft.com/office/drawing/2014/main" id="{5B83F8D2-54A2-4E18-9BBC-11158B4CC716}"/>
                </a:ext>
              </a:extLst>
            </p:cNvPr>
            <p:cNvSpPr txBox="1"/>
            <p:nvPr/>
          </p:nvSpPr>
          <p:spPr>
            <a:xfrm>
              <a:off x="207505" y="5523621"/>
              <a:ext cx="1910096"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CASES</a:t>
              </a:r>
            </a:p>
          </p:txBody>
        </p:sp>
        <p:pic>
          <p:nvPicPr>
            <p:cNvPr id="47" name="Graphic 46" descr="Cursor with solid fill">
              <a:hlinkClick r:id="rId9" action="ppaction://hlinksldjump"/>
              <a:extLst>
                <a:ext uri="{FF2B5EF4-FFF2-40B4-BE49-F238E27FC236}">
                  <a16:creationId xmlns:a16="http://schemas.microsoft.com/office/drawing/2014/main" id="{3499B5E3-4B3B-42D4-B6AB-597D4A47D90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895170" y="5734607"/>
              <a:ext cx="395274" cy="395274"/>
            </a:xfrm>
            <a:prstGeom prst="rect">
              <a:avLst/>
            </a:prstGeom>
          </p:spPr>
        </p:pic>
      </p:grpSp>
      <p:sp>
        <p:nvSpPr>
          <p:cNvPr id="48" name="TextBox 47">
            <a:extLst>
              <a:ext uri="{FF2B5EF4-FFF2-40B4-BE49-F238E27FC236}">
                <a16:creationId xmlns:a16="http://schemas.microsoft.com/office/drawing/2014/main" id="{09D8A871-D8AD-472B-864A-3A5EBAC0C01F}"/>
              </a:ext>
            </a:extLst>
          </p:cNvPr>
          <p:cNvSpPr txBox="1"/>
          <p:nvPr/>
        </p:nvSpPr>
        <p:spPr>
          <a:xfrm>
            <a:off x="3284144" y="1985045"/>
            <a:ext cx="2294861" cy="646331"/>
          </a:xfrm>
          <a:prstGeom prst="rect">
            <a:avLst/>
          </a:prstGeom>
          <a:noFill/>
        </p:spPr>
        <p:txBody>
          <a:bodyPr wrap="square" rtlCol="0">
            <a:spAutoFit/>
          </a:bodyPr>
          <a:lstStyle/>
          <a:p>
            <a:pPr algn="ctr" rtl="0" fontAlgn="base"/>
            <a:r>
              <a:rPr lang="en-US" b="0" i="0" dirty="0">
                <a:solidFill>
                  <a:srgbClr val="000000"/>
                </a:solidFill>
                <a:effectLst/>
                <a:latin typeface="Calibri" panose="020F0502020204030204" pitchFamily="34" charset="0"/>
              </a:rPr>
              <a:t>Males aged 55-69y (Grade C)</a:t>
            </a:r>
            <a:endParaRPr lang="en-US" sz="1800" b="0" i="0" dirty="0">
              <a:solidFill>
                <a:srgbClr val="000000"/>
              </a:solidFill>
              <a:effectLst/>
            </a:endParaRPr>
          </a:p>
        </p:txBody>
      </p:sp>
      <p:sp>
        <p:nvSpPr>
          <p:cNvPr id="50" name="TextBox 49">
            <a:extLst>
              <a:ext uri="{FF2B5EF4-FFF2-40B4-BE49-F238E27FC236}">
                <a16:creationId xmlns:a16="http://schemas.microsoft.com/office/drawing/2014/main" id="{C667B022-3DE3-49B3-A995-6660A9B21F6F}"/>
              </a:ext>
            </a:extLst>
          </p:cNvPr>
          <p:cNvSpPr txBox="1"/>
          <p:nvPr/>
        </p:nvSpPr>
        <p:spPr>
          <a:xfrm>
            <a:off x="6346980" y="1985045"/>
            <a:ext cx="2400207" cy="646331"/>
          </a:xfrm>
          <a:prstGeom prst="rect">
            <a:avLst/>
          </a:prstGeom>
          <a:noFill/>
        </p:spPr>
        <p:txBody>
          <a:bodyPr wrap="square" rtlCol="0">
            <a:spAutoFit/>
          </a:bodyPr>
          <a:lstStyle/>
          <a:p>
            <a:pPr algn="ctr" rtl="0" fontAlgn="base"/>
            <a:r>
              <a:rPr lang="en-US" b="0" i="0" dirty="0">
                <a:solidFill>
                  <a:srgbClr val="000000"/>
                </a:solidFill>
                <a:effectLst/>
                <a:latin typeface="Calibri" panose="020F0502020204030204" pitchFamily="34" charset="0"/>
              </a:rPr>
              <a:t>No screening or PSA every 1-2y​</a:t>
            </a:r>
            <a:endParaRPr lang="en-US" b="0" i="0" dirty="0">
              <a:solidFill>
                <a:srgbClr val="000000"/>
              </a:solidFill>
              <a:effectLst/>
              <a:latin typeface="Segoe UI" panose="020B0502040204020203" pitchFamily="34" charset="0"/>
            </a:endParaRPr>
          </a:p>
        </p:txBody>
      </p:sp>
      <p:sp>
        <p:nvSpPr>
          <p:cNvPr id="58" name="TextBox 57">
            <a:extLst>
              <a:ext uri="{FF2B5EF4-FFF2-40B4-BE49-F238E27FC236}">
                <a16:creationId xmlns:a16="http://schemas.microsoft.com/office/drawing/2014/main" id="{2392DB29-A32E-45EB-B431-F766F708E8EB}"/>
              </a:ext>
            </a:extLst>
          </p:cNvPr>
          <p:cNvSpPr txBox="1"/>
          <p:nvPr/>
        </p:nvSpPr>
        <p:spPr>
          <a:xfrm>
            <a:off x="9837083" y="1985045"/>
            <a:ext cx="1608491" cy="369332"/>
          </a:xfrm>
          <a:prstGeom prst="rect">
            <a:avLst/>
          </a:prstGeom>
          <a:noFill/>
        </p:spPr>
        <p:txBody>
          <a:bodyPr wrap="square" rtlCol="0">
            <a:spAutoFit/>
          </a:bodyPr>
          <a:lstStyle/>
          <a:p>
            <a:pPr algn="ctr" fontAlgn="base"/>
            <a:r>
              <a:rPr lang="en-US" sz="1800" b="0" i="0" dirty="0">
                <a:solidFill>
                  <a:srgbClr val="000000"/>
                </a:solidFill>
                <a:effectLst/>
              </a:rPr>
              <a:t>If &gt;70y</a:t>
            </a:r>
          </a:p>
        </p:txBody>
      </p:sp>
      <p:grpSp>
        <p:nvGrpSpPr>
          <p:cNvPr id="49" name="Group 48">
            <a:extLst>
              <a:ext uri="{FF2B5EF4-FFF2-40B4-BE49-F238E27FC236}">
                <a16:creationId xmlns:a16="http://schemas.microsoft.com/office/drawing/2014/main" id="{8EE7FF69-CE3A-4D53-ACB8-7F50A6E16021}"/>
              </a:ext>
            </a:extLst>
          </p:cNvPr>
          <p:cNvGrpSpPr/>
          <p:nvPr/>
        </p:nvGrpSpPr>
        <p:grpSpPr>
          <a:xfrm>
            <a:off x="2737307" y="5249771"/>
            <a:ext cx="8884593" cy="946852"/>
            <a:chOff x="2737307" y="4931856"/>
            <a:chExt cx="8884593" cy="1264767"/>
          </a:xfrm>
        </p:grpSpPr>
        <p:sp>
          <p:nvSpPr>
            <p:cNvPr id="51" name="Arrow: Right 50">
              <a:extLst>
                <a:ext uri="{FF2B5EF4-FFF2-40B4-BE49-F238E27FC236}">
                  <a16:creationId xmlns:a16="http://schemas.microsoft.com/office/drawing/2014/main" id="{20391C88-BD5A-4C74-BFE0-4E9A7F79088C}"/>
                </a:ext>
              </a:extLst>
            </p:cNvPr>
            <p:cNvSpPr/>
            <p:nvPr/>
          </p:nvSpPr>
          <p:spPr>
            <a:xfrm>
              <a:off x="2959778" y="4931856"/>
              <a:ext cx="8662122" cy="895435"/>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 name="Straight Connector 51">
              <a:extLst>
                <a:ext uri="{FF2B5EF4-FFF2-40B4-BE49-F238E27FC236}">
                  <a16:creationId xmlns:a16="http://schemas.microsoft.com/office/drawing/2014/main" id="{CF75BE37-A03C-4B14-9AF3-BF085006C45A}"/>
                </a:ext>
              </a:extLst>
            </p:cNvPr>
            <p:cNvCxnSpPr/>
            <p:nvPr/>
          </p:nvCxnSpPr>
          <p:spPr>
            <a:xfrm>
              <a:off x="2959778" y="5034892"/>
              <a:ext cx="0" cy="79239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205EA26D-1C95-44B2-9098-EB101DF7CF83}"/>
                </a:ext>
              </a:extLst>
            </p:cNvPr>
            <p:cNvSpPr txBox="1"/>
            <p:nvPr/>
          </p:nvSpPr>
          <p:spPr>
            <a:xfrm>
              <a:off x="2737307" y="5827291"/>
              <a:ext cx="505609" cy="369332"/>
            </a:xfrm>
            <a:prstGeom prst="rect">
              <a:avLst/>
            </a:prstGeom>
            <a:noFill/>
          </p:spPr>
          <p:txBody>
            <a:bodyPr wrap="square" rtlCol="0">
              <a:spAutoFit/>
            </a:bodyPr>
            <a:lstStyle/>
            <a:p>
              <a:r>
                <a:rPr lang="en-US" dirty="0"/>
                <a:t>20</a:t>
              </a:r>
            </a:p>
          </p:txBody>
        </p:sp>
        <p:cxnSp>
          <p:nvCxnSpPr>
            <p:cNvPr id="54" name="Straight Connector 53">
              <a:extLst>
                <a:ext uri="{FF2B5EF4-FFF2-40B4-BE49-F238E27FC236}">
                  <a16:creationId xmlns:a16="http://schemas.microsoft.com/office/drawing/2014/main" id="{C609A656-C28C-477F-8D38-E5F1023D6C69}"/>
                </a:ext>
              </a:extLst>
            </p:cNvPr>
            <p:cNvCxnSpPr/>
            <p:nvPr/>
          </p:nvCxnSpPr>
          <p:spPr>
            <a:xfrm>
              <a:off x="3929759" y="5034892"/>
              <a:ext cx="0" cy="79239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1E2F89DE-15B9-4728-96E0-EA76634315B9}"/>
                </a:ext>
              </a:extLst>
            </p:cNvPr>
            <p:cNvSpPr txBox="1"/>
            <p:nvPr/>
          </p:nvSpPr>
          <p:spPr>
            <a:xfrm>
              <a:off x="3676954" y="5827291"/>
              <a:ext cx="505609" cy="369332"/>
            </a:xfrm>
            <a:prstGeom prst="rect">
              <a:avLst/>
            </a:prstGeom>
            <a:noFill/>
          </p:spPr>
          <p:txBody>
            <a:bodyPr wrap="square" rtlCol="0">
              <a:spAutoFit/>
            </a:bodyPr>
            <a:lstStyle/>
            <a:p>
              <a:pPr algn="ctr"/>
              <a:r>
                <a:rPr lang="en-US" dirty="0"/>
                <a:t>30</a:t>
              </a:r>
            </a:p>
          </p:txBody>
        </p:sp>
        <p:cxnSp>
          <p:nvCxnSpPr>
            <p:cNvPr id="60" name="Straight Connector 59">
              <a:extLst>
                <a:ext uri="{FF2B5EF4-FFF2-40B4-BE49-F238E27FC236}">
                  <a16:creationId xmlns:a16="http://schemas.microsoft.com/office/drawing/2014/main" id="{C5CE3923-36BE-4282-A562-10B12AE3D091}"/>
                </a:ext>
              </a:extLst>
            </p:cNvPr>
            <p:cNvCxnSpPr/>
            <p:nvPr/>
          </p:nvCxnSpPr>
          <p:spPr>
            <a:xfrm>
              <a:off x="4869406" y="5027506"/>
              <a:ext cx="0" cy="79239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330D96E4-E41A-45FB-8B63-B5BD07FA0977}"/>
                </a:ext>
              </a:extLst>
            </p:cNvPr>
            <p:cNvSpPr txBox="1"/>
            <p:nvPr/>
          </p:nvSpPr>
          <p:spPr>
            <a:xfrm>
              <a:off x="4616601" y="5819905"/>
              <a:ext cx="505609" cy="369332"/>
            </a:xfrm>
            <a:prstGeom prst="rect">
              <a:avLst/>
            </a:prstGeom>
            <a:noFill/>
          </p:spPr>
          <p:txBody>
            <a:bodyPr wrap="square" rtlCol="0">
              <a:spAutoFit/>
            </a:bodyPr>
            <a:lstStyle/>
            <a:p>
              <a:pPr algn="ctr"/>
              <a:r>
                <a:rPr lang="en-US" dirty="0"/>
                <a:t>40</a:t>
              </a:r>
            </a:p>
          </p:txBody>
        </p:sp>
        <p:cxnSp>
          <p:nvCxnSpPr>
            <p:cNvPr id="65" name="Straight Connector 64">
              <a:extLst>
                <a:ext uri="{FF2B5EF4-FFF2-40B4-BE49-F238E27FC236}">
                  <a16:creationId xmlns:a16="http://schemas.microsoft.com/office/drawing/2014/main" id="{C5D504E6-654A-4887-8486-B78C72E6B472}"/>
                </a:ext>
              </a:extLst>
            </p:cNvPr>
            <p:cNvCxnSpPr/>
            <p:nvPr/>
          </p:nvCxnSpPr>
          <p:spPr>
            <a:xfrm>
              <a:off x="6500481" y="5023131"/>
              <a:ext cx="0" cy="79239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A0C4AF5E-AA96-435E-9D65-21138339BE2C}"/>
                </a:ext>
              </a:extLst>
            </p:cNvPr>
            <p:cNvSpPr txBox="1"/>
            <p:nvPr/>
          </p:nvSpPr>
          <p:spPr>
            <a:xfrm>
              <a:off x="6247676" y="5815530"/>
              <a:ext cx="505609" cy="369332"/>
            </a:xfrm>
            <a:prstGeom prst="rect">
              <a:avLst/>
            </a:prstGeom>
            <a:noFill/>
          </p:spPr>
          <p:txBody>
            <a:bodyPr wrap="square" rtlCol="0">
              <a:spAutoFit/>
            </a:bodyPr>
            <a:lstStyle/>
            <a:p>
              <a:pPr algn="ctr"/>
              <a:r>
                <a:rPr lang="en-US" dirty="0"/>
                <a:t>50</a:t>
              </a:r>
            </a:p>
          </p:txBody>
        </p:sp>
        <p:cxnSp>
          <p:nvCxnSpPr>
            <p:cNvPr id="67" name="Straight Connector 66">
              <a:extLst>
                <a:ext uri="{FF2B5EF4-FFF2-40B4-BE49-F238E27FC236}">
                  <a16:creationId xmlns:a16="http://schemas.microsoft.com/office/drawing/2014/main" id="{022B9C34-EB48-48B5-9BC7-3478399B8693}"/>
                </a:ext>
              </a:extLst>
            </p:cNvPr>
            <p:cNvCxnSpPr/>
            <p:nvPr/>
          </p:nvCxnSpPr>
          <p:spPr>
            <a:xfrm>
              <a:off x="8106945" y="5011370"/>
              <a:ext cx="0" cy="79239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1E587775-74D3-4273-B813-573F0C0EC2D2}"/>
                </a:ext>
              </a:extLst>
            </p:cNvPr>
            <p:cNvSpPr txBox="1"/>
            <p:nvPr/>
          </p:nvSpPr>
          <p:spPr>
            <a:xfrm>
              <a:off x="7854140" y="5803769"/>
              <a:ext cx="505609" cy="369332"/>
            </a:xfrm>
            <a:prstGeom prst="rect">
              <a:avLst/>
            </a:prstGeom>
            <a:noFill/>
          </p:spPr>
          <p:txBody>
            <a:bodyPr wrap="square" rtlCol="0">
              <a:spAutoFit/>
            </a:bodyPr>
            <a:lstStyle/>
            <a:p>
              <a:pPr algn="ctr"/>
              <a:r>
                <a:rPr lang="en-US" dirty="0"/>
                <a:t>60</a:t>
              </a:r>
            </a:p>
          </p:txBody>
        </p:sp>
        <p:cxnSp>
          <p:nvCxnSpPr>
            <p:cNvPr id="69" name="Straight Connector 68">
              <a:extLst>
                <a:ext uri="{FF2B5EF4-FFF2-40B4-BE49-F238E27FC236}">
                  <a16:creationId xmlns:a16="http://schemas.microsoft.com/office/drawing/2014/main" id="{C87A49B8-50AB-412F-8FCA-495B37D5EF8A}"/>
                </a:ext>
              </a:extLst>
            </p:cNvPr>
            <p:cNvCxnSpPr/>
            <p:nvPr/>
          </p:nvCxnSpPr>
          <p:spPr>
            <a:xfrm>
              <a:off x="9526425" y="5011370"/>
              <a:ext cx="0" cy="79239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B386DFE8-135E-4E4E-A7EF-094D15C0EC41}"/>
                </a:ext>
              </a:extLst>
            </p:cNvPr>
            <p:cNvSpPr txBox="1"/>
            <p:nvPr/>
          </p:nvSpPr>
          <p:spPr>
            <a:xfrm>
              <a:off x="9273620" y="5803769"/>
              <a:ext cx="505609" cy="369332"/>
            </a:xfrm>
            <a:prstGeom prst="rect">
              <a:avLst/>
            </a:prstGeom>
            <a:noFill/>
          </p:spPr>
          <p:txBody>
            <a:bodyPr wrap="square" rtlCol="0">
              <a:spAutoFit/>
            </a:bodyPr>
            <a:lstStyle/>
            <a:p>
              <a:pPr algn="ctr"/>
              <a:r>
                <a:rPr lang="en-US" dirty="0"/>
                <a:t>70</a:t>
              </a:r>
            </a:p>
          </p:txBody>
        </p:sp>
        <p:cxnSp>
          <p:nvCxnSpPr>
            <p:cNvPr id="71" name="Straight Connector 70">
              <a:extLst>
                <a:ext uri="{FF2B5EF4-FFF2-40B4-BE49-F238E27FC236}">
                  <a16:creationId xmlns:a16="http://schemas.microsoft.com/office/drawing/2014/main" id="{30BE4130-1802-4EEE-B5C5-513062EAA5E1}"/>
                </a:ext>
              </a:extLst>
            </p:cNvPr>
            <p:cNvCxnSpPr/>
            <p:nvPr/>
          </p:nvCxnSpPr>
          <p:spPr>
            <a:xfrm>
              <a:off x="10792696" y="5034892"/>
              <a:ext cx="0" cy="79239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215BE447-5F1B-4069-B16B-86FFDB146030}"/>
                </a:ext>
              </a:extLst>
            </p:cNvPr>
            <p:cNvSpPr txBox="1"/>
            <p:nvPr/>
          </p:nvSpPr>
          <p:spPr>
            <a:xfrm>
              <a:off x="10539891" y="5827291"/>
              <a:ext cx="505609" cy="369332"/>
            </a:xfrm>
            <a:prstGeom prst="rect">
              <a:avLst/>
            </a:prstGeom>
            <a:noFill/>
          </p:spPr>
          <p:txBody>
            <a:bodyPr wrap="square" rtlCol="0">
              <a:spAutoFit/>
            </a:bodyPr>
            <a:lstStyle/>
            <a:p>
              <a:pPr algn="ctr"/>
              <a:r>
                <a:rPr lang="en-US" dirty="0"/>
                <a:t>80</a:t>
              </a:r>
            </a:p>
          </p:txBody>
        </p:sp>
      </p:grpSp>
      <p:grpSp>
        <p:nvGrpSpPr>
          <p:cNvPr id="4" name="Group 3">
            <a:extLst>
              <a:ext uri="{FF2B5EF4-FFF2-40B4-BE49-F238E27FC236}">
                <a16:creationId xmlns:a16="http://schemas.microsoft.com/office/drawing/2014/main" id="{640FC589-FABA-4CE0-9B8C-DEA4C5F85004}"/>
              </a:ext>
            </a:extLst>
          </p:cNvPr>
          <p:cNvGrpSpPr/>
          <p:nvPr/>
        </p:nvGrpSpPr>
        <p:grpSpPr>
          <a:xfrm>
            <a:off x="6096000" y="4265679"/>
            <a:ext cx="788874" cy="838298"/>
            <a:chOff x="3720320" y="4071299"/>
            <a:chExt cx="788874" cy="838298"/>
          </a:xfrm>
        </p:grpSpPr>
        <p:sp>
          <p:nvSpPr>
            <p:cNvPr id="2" name="Freeform: Shape 1">
              <a:extLst>
                <a:ext uri="{FF2B5EF4-FFF2-40B4-BE49-F238E27FC236}">
                  <a16:creationId xmlns:a16="http://schemas.microsoft.com/office/drawing/2014/main" id="{4BAD720F-D58E-48A6-A901-A14C47BD26C6}"/>
                </a:ext>
              </a:extLst>
            </p:cNvPr>
            <p:cNvSpPr/>
            <p:nvPr/>
          </p:nvSpPr>
          <p:spPr>
            <a:xfrm>
              <a:off x="3720320" y="4071299"/>
              <a:ext cx="788874" cy="816900"/>
            </a:xfrm>
            <a:custGeom>
              <a:avLst/>
              <a:gdLst>
                <a:gd name="connsiteX0" fmla="*/ 14099 w 921368"/>
                <a:gd name="connsiteY0" fmla="*/ 302346 h 1112395"/>
                <a:gd name="connsiteX1" fmla="*/ 48823 w 921368"/>
                <a:gd name="connsiteY1" fmla="*/ 140300 h 1112395"/>
                <a:gd name="connsiteX2" fmla="*/ 419213 w 921368"/>
                <a:gd name="connsiteY2" fmla="*/ 1404 h 1112395"/>
                <a:gd name="connsiteX3" fmla="*/ 870625 w 921368"/>
                <a:gd name="connsiteY3" fmla="*/ 94001 h 1112395"/>
                <a:gd name="connsiteX4" fmla="*/ 882200 w 921368"/>
                <a:gd name="connsiteY4" fmla="*/ 464391 h 1112395"/>
                <a:gd name="connsiteX5" fmla="*/ 615982 w 921368"/>
                <a:gd name="connsiteY5" fmla="*/ 684310 h 1112395"/>
                <a:gd name="connsiteX6" fmla="*/ 558109 w 921368"/>
                <a:gd name="connsiteY6" fmla="*/ 996827 h 1112395"/>
                <a:gd name="connsiteX7" fmla="*/ 500235 w 921368"/>
                <a:gd name="connsiteY7" fmla="*/ 1100999 h 1112395"/>
                <a:gd name="connsiteX8" fmla="*/ 465511 w 921368"/>
                <a:gd name="connsiteY8" fmla="*/ 753758 h 1112395"/>
                <a:gd name="connsiteX9" fmla="*/ 291891 w 921368"/>
                <a:gd name="connsiteY9" fmla="*/ 638011 h 1112395"/>
                <a:gd name="connsiteX10" fmla="*/ 141420 w 921368"/>
                <a:gd name="connsiteY10" fmla="*/ 499115 h 1112395"/>
                <a:gd name="connsiteX11" fmla="*/ 14099 w 921368"/>
                <a:gd name="connsiteY11" fmla="*/ 302346 h 1112395"/>
                <a:gd name="connsiteX0" fmla="*/ 0 w 907269"/>
                <a:gd name="connsiteY0" fmla="*/ 302191 h 1112240"/>
                <a:gd name="connsiteX1" fmla="*/ 127321 w 907269"/>
                <a:gd name="connsiteY1" fmla="*/ 59123 h 1112240"/>
                <a:gd name="connsiteX2" fmla="*/ 405114 w 907269"/>
                <a:gd name="connsiteY2" fmla="*/ 1249 h 1112240"/>
                <a:gd name="connsiteX3" fmla="*/ 856526 w 907269"/>
                <a:gd name="connsiteY3" fmla="*/ 93846 h 1112240"/>
                <a:gd name="connsiteX4" fmla="*/ 868101 w 907269"/>
                <a:gd name="connsiteY4" fmla="*/ 464236 h 1112240"/>
                <a:gd name="connsiteX5" fmla="*/ 601883 w 907269"/>
                <a:gd name="connsiteY5" fmla="*/ 684155 h 1112240"/>
                <a:gd name="connsiteX6" fmla="*/ 544010 w 907269"/>
                <a:gd name="connsiteY6" fmla="*/ 996672 h 1112240"/>
                <a:gd name="connsiteX7" fmla="*/ 486136 w 907269"/>
                <a:gd name="connsiteY7" fmla="*/ 1100844 h 1112240"/>
                <a:gd name="connsiteX8" fmla="*/ 451412 w 907269"/>
                <a:gd name="connsiteY8" fmla="*/ 753603 h 1112240"/>
                <a:gd name="connsiteX9" fmla="*/ 277792 w 907269"/>
                <a:gd name="connsiteY9" fmla="*/ 637856 h 1112240"/>
                <a:gd name="connsiteX10" fmla="*/ 127321 w 907269"/>
                <a:gd name="connsiteY10" fmla="*/ 498960 h 1112240"/>
                <a:gd name="connsiteX11" fmla="*/ 0 w 907269"/>
                <a:gd name="connsiteY11" fmla="*/ 302191 h 1112240"/>
                <a:gd name="connsiteX0" fmla="*/ 27335 w 807283"/>
                <a:gd name="connsiteY0" fmla="*/ 503817 h 1117097"/>
                <a:gd name="connsiteX1" fmla="*/ 27335 w 807283"/>
                <a:gd name="connsiteY1" fmla="*/ 63980 h 1117097"/>
                <a:gd name="connsiteX2" fmla="*/ 305128 w 807283"/>
                <a:gd name="connsiteY2" fmla="*/ 6106 h 1117097"/>
                <a:gd name="connsiteX3" fmla="*/ 756540 w 807283"/>
                <a:gd name="connsiteY3" fmla="*/ 98703 h 1117097"/>
                <a:gd name="connsiteX4" fmla="*/ 768115 w 807283"/>
                <a:gd name="connsiteY4" fmla="*/ 469093 h 1117097"/>
                <a:gd name="connsiteX5" fmla="*/ 501897 w 807283"/>
                <a:gd name="connsiteY5" fmla="*/ 689012 h 1117097"/>
                <a:gd name="connsiteX6" fmla="*/ 444024 w 807283"/>
                <a:gd name="connsiteY6" fmla="*/ 1001529 h 1117097"/>
                <a:gd name="connsiteX7" fmla="*/ 386150 w 807283"/>
                <a:gd name="connsiteY7" fmla="*/ 1105701 h 1117097"/>
                <a:gd name="connsiteX8" fmla="*/ 351426 w 807283"/>
                <a:gd name="connsiteY8" fmla="*/ 758460 h 1117097"/>
                <a:gd name="connsiteX9" fmla="*/ 177806 w 807283"/>
                <a:gd name="connsiteY9" fmla="*/ 642713 h 1117097"/>
                <a:gd name="connsiteX10" fmla="*/ 27335 w 807283"/>
                <a:gd name="connsiteY10" fmla="*/ 503817 h 1117097"/>
                <a:gd name="connsiteX0" fmla="*/ 118140 w 898088"/>
                <a:gd name="connsiteY0" fmla="*/ 499188 h 1112468"/>
                <a:gd name="connsiteX1" fmla="*/ 0 w 898088"/>
                <a:gd name="connsiteY1" fmla="*/ 325709 h 1112468"/>
                <a:gd name="connsiteX2" fmla="*/ 118140 w 898088"/>
                <a:gd name="connsiteY2" fmla="*/ 59351 h 1112468"/>
                <a:gd name="connsiteX3" fmla="*/ 395933 w 898088"/>
                <a:gd name="connsiteY3" fmla="*/ 1477 h 1112468"/>
                <a:gd name="connsiteX4" fmla="*/ 847345 w 898088"/>
                <a:gd name="connsiteY4" fmla="*/ 94074 h 1112468"/>
                <a:gd name="connsiteX5" fmla="*/ 858920 w 898088"/>
                <a:gd name="connsiteY5" fmla="*/ 464464 h 1112468"/>
                <a:gd name="connsiteX6" fmla="*/ 592702 w 898088"/>
                <a:gd name="connsiteY6" fmla="*/ 684383 h 1112468"/>
                <a:gd name="connsiteX7" fmla="*/ 534829 w 898088"/>
                <a:gd name="connsiteY7" fmla="*/ 996900 h 1112468"/>
                <a:gd name="connsiteX8" fmla="*/ 476955 w 898088"/>
                <a:gd name="connsiteY8" fmla="*/ 1101072 h 1112468"/>
                <a:gd name="connsiteX9" fmla="*/ 442231 w 898088"/>
                <a:gd name="connsiteY9" fmla="*/ 753831 h 1112468"/>
                <a:gd name="connsiteX10" fmla="*/ 268611 w 898088"/>
                <a:gd name="connsiteY10" fmla="*/ 638084 h 1112468"/>
                <a:gd name="connsiteX11" fmla="*/ 118140 w 898088"/>
                <a:gd name="connsiteY11" fmla="*/ 499188 h 1112468"/>
                <a:gd name="connsiteX0" fmla="*/ 118140 w 898088"/>
                <a:gd name="connsiteY0" fmla="*/ 497711 h 1110991"/>
                <a:gd name="connsiteX1" fmla="*/ 0 w 898088"/>
                <a:gd name="connsiteY1" fmla="*/ 324232 h 1110991"/>
                <a:gd name="connsiteX2" fmla="*/ 141289 w 898088"/>
                <a:gd name="connsiteY2" fmla="*/ 92598 h 1110991"/>
                <a:gd name="connsiteX3" fmla="*/ 395933 w 898088"/>
                <a:gd name="connsiteY3" fmla="*/ 0 h 1110991"/>
                <a:gd name="connsiteX4" fmla="*/ 847345 w 898088"/>
                <a:gd name="connsiteY4" fmla="*/ 92597 h 1110991"/>
                <a:gd name="connsiteX5" fmla="*/ 858920 w 898088"/>
                <a:gd name="connsiteY5" fmla="*/ 462987 h 1110991"/>
                <a:gd name="connsiteX6" fmla="*/ 592702 w 898088"/>
                <a:gd name="connsiteY6" fmla="*/ 682906 h 1110991"/>
                <a:gd name="connsiteX7" fmla="*/ 534829 w 898088"/>
                <a:gd name="connsiteY7" fmla="*/ 995423 h 1110991"/>
                <a:gd name="connsiteX8" fmla="*/ 476955 w 898088"/>
                <a:gd name="connsiteY8" fmla="*/ 1099595 h 1110991"/>
                <a:gd name="connsiteX9" fmla="*/ 442231 w 898088"/>
                <a:gd name="connsiteY9" fmla="*/ 752354 h 1110991"/>
                <a:gd name="connsiteX10" fmla="*/ 268611 w 898088"/>
                <a:gd name="connsiteY10" fmla="*/ 636607 h 1110991"/>
                <a:gd name="connsiteX11" fmla="*/ 118140 w 898088"/>
                <a:gd name="connsiteY11" fmla="*/ 497711 h 1110991"/>
                <a:gd name="connsiteX0" fmla="*/ 118140 w 894370"/>
                <a:gd name="connsiteY0" fmla="*/ 497711 h 1110991"/>
                <a:gd name="connsiteX1" fmla="*/ 0 w 894370"/>
                <a:gd name="connsiteY1" fmla="*/ 324232 h 1110991"/>
                <a:gd name="connsiteX2" fmla="*/ 141289 w 894370"/>
                <a:gd name="connsiteY2" fmla="*/ 92598 h 1110991"/>
                <a:gd name="connsiteX3" fmla="*/ 453806 w 894370"/>
                <a:gd name="connsiteY3" fmla="*/ 0 h 1110991"/>
                <a:gd name="connsiteX4" fmla="*/ 847345 w 894370"/>
                <a:gd name="connsiteY4" fmla="*/ 92597 h 1110991"/>
                <a:gd name="connsiteX5" fmla="*/ 858920 w 894370"/>
                <a:gd name="connsiteY5" fmla="*/ 462987 h 1110991"/>
                <a:gd name="connsiteX6" fmla="*/ 592702 w 894370"/>
                <a:gd name="connsiteY6" fmla="*/ 682906 h 1110991"/>
                <a:gd name="connsiteX7" fmla="*/ 534829 w 894370"/>
                <a:gd name="connsiteY7" fmla="*/ 995423 h 1110991"/>
                <a:gd name="connsiteX8" fmla="*/ 476955 w 894370"/>
                <a:gd name="connsiteY8" fmla="*/ 1099595 h 1110991"/>
                <a:gd name="connsiteX9" fmla="*/ 442231 w 894370"/>
                <a:gd name="connsiteY9" fmla="*/ 752354 h 1110991"/>
                <a:gd name="connsiteX10" fmla="*/ 268611 w 894370"/>
                <a:gd name="connsiteY10" fmla="*/ 636607 h 1110991"/>
                <a:gd name="connsiteX11" fmla="*/ 118140 w 894370"/>
                <a:gd name="connsiteY11" fmla="*/ 497711 h 1110991"/>
                <a:gd name="connsiteX0" fmla="*/ 118140 w 894370"/>
                <a:gd name="connsiteY0" fmla="*/ 497711 h 1110991"/>
                <a:gd name="connsiteX1" fmla="*/ 0 w 894370"/>
                <a:gd name="connsiteY1" fmla="*/ 324232 h 1110991"/>
                <a:gd name="connsiteX2" fmla="*/ 141289 w 894370"/>
                <a:gd name="connsiteY2" fmla="*/ 92598 h 1110991"/>
                <a:gd name="connsiteX3" fmla="*/ 453806 w 894370"/>
                <a:gd name="connsiteY3" fmla="*/ 0 h 1110991"/>
                <a:gd name="connsiteX4" fmla="*/ 847345 w 894370"/>
                <a:gd name="connsiteY4" fmla="*/ 92597 h 1110991"/>
                <a:gd name="connsiteX5" fmla="*/ 858920 w 894370"/>
                <a:gd name="connsiteY5" fmla="*/ 462987 h 1110991"/>
                <a:gd name="connsiteX6" fmla="*/ 592702 w 894370"/>
                <a:gd name="connsiteY6" fmla="*/ 682906 h 1110991"/>
                <a:gd name="connsiteX7" fmla="*/ 534829 w 894370"/>
                <a:gd name="connsiteY7" fmla="*/ 995423 h 1110991"/>
                <a:gd name="connsiteX8" fmla="*/ 476955 w 894370"/>
                <a:gd name="connsiteY8" fmla="*/ 1099595 h 1110991"/>
                <a:gd name="connsiteX9" fmla="*/ 442231 w 894370"/>
                <a:gd name="connsiteY9" fmla="*/ 752354 h 1110991"/>
                <a:gd name="connsiteX10" fmla="*/ 268611 w 894370"/>
                <a:gd name="connsiteY10" fmla="*/ 636607 h 1110991"/>
                <a:gd name="connsiteX11" fmla="*/ 118140 w 894370"/>
                <a:gd name="connsiteY11" fmla="*/ 497711 h 1110991"/>
                <a:gd name="connsiteX0" fmla="*/ 94991 w 871221"/>
                <a:gd name="connsiteY0" fmla="*/ 497711 h 1110991"/>
                <a:gd name="connsiteX1" fmla="*/ 0 w 871221"/>
                <a:gd name="connsiteY1" fmla="*/ 324232 h 1110991"/>
                <a:gd name="connsiteX2" fmla="*/ 118140 w 871221"/>
                <a:gd name="connsiteY2" fmla="*/ 92598 h 1110991"/>
                <a:gd name="connsiteX3" fmla="*/ 430657 w 871221"/>
                <a:gd name="connsiteY3" fmla="*/ 0 h 1110991"/>
                <a:gd name="connsiteX4" fmla="*/ 824196 w 871221"/>
                <a:gd name="connsiteY4" fmla="*/ 92597 h 1110991"/>
                <a:gd name="connsiteX5" fmla="*/ 835771 w 871221"/>
                <a:gd name="connsiteY5" fmla="*/ 462987 h 1110991"/>
                <a:gd name="connsiteX6" fmla="*/ 569553 w 871221"/>
                <a:gd name="connsiteY6" fmla="*/ 682906 h 1110991"/>
                <a:gd name="connsiteX7" fmla="*/ 511680 w 871221"/>
                <a:gd name="connsiteY7" fmla="*/ 995423 h 1110991"/>
                <a:gd name="connsiteX8" fmla="*/ 453806 w 871221"/>
                <a:gd name="connsiteY8" fmla="*/ 1099595 h 1110991"/>
                <a:gd name="connsiteX9" fmla="*/ 419082 w 871221"/>
                <a:gd name="connsiteY9" fmla="*/ 752354 h 1110991"/>
                <a:gd name="connsiteX10" fmla="*/ 245462 w 871221"/>
                <a:gd name="connsiteY10" fmla="*/ 636607 h 1110991"/>
                <a:gd name="connsiteX11" fmla="*/ 94991 w 871221"/>
                <a:gd name="connsiteY11" fmla="*/ 497711 h 1110991"/>
                <a:gd name="connsiteX0" fmla="*/ 94991 w 871221"/>
                <a:gd name="connsiteY0" fmla="*/ 497711 h 1069937"/>
                <a:gd name="connsiteX1" fmla="*/ 0 w 871221"/>
                <a:gd name="connsiteY1" fmla="*/ 324232 h 1069937"/>
                <a:gd name="connsiteX2" fmla="*/ 118140 w 871221"/>
                <a:gd name="connsiteY2" fmla="*/ 92598 h 1069937"/>
                <a:gd name="connsiteX3" fmla="*/ 430657 w 871221"/>
                <a:gd name="connsiteY3" fmla="*/ 0 h 1069937"/>
                <a:gd name="connsiteX4" fmla="*/ 824196 w 871221"/>
                <a:gd name="connsiteY4" fmla="*/ 92597 h 1069937"/>
                <a:gd name="connsiteX5" fmla="*/ 835771 w 871221"/>
                <a:gd name="connsiteY5" fmla="*/ 462987 h 1069937"/>
                <a:gd name="connsiteX6" fmla="*/ 569553 w 871221"/>
                <a:gd name="connsiteY6" fmla="*/ 682906 h 1069937"/>
                <a:gd name="connsiteX7" fmla="*/ 511680 w 871221"/>
                <a:gd name="connsiteY7" fmla="*/ 995423 h 1069937"/>
                <a:gd name="connsiteX8" fmla="*/ 482381 w 871221"/>
                <a:gd name="connsiteY8" fmla="*/ 1052806 h 1069937"/>
                <a:gd name="connsiteX9" fmla="*/ 419082 w 871221"/>
                <a:gd name="connsiteY9" fmla="*/ 752354 h 1069937"/>
                <a:gd name="connsiteX10" fmla="*/ 245462 w 871221"/>
                <a:gd name="connsiteY10" fmla="*/ 636607 h 1069937"/>
                <a:gd name="connsiteX11" fmla="*/ 94991 w 871221"/>
                <a:gd name="connsiteY11" fmla="*/ 497711 h 1069937"/>
                <a:gd name="connsiteX0" fmla="*/ 94991 w 871221"/>
                <a:gd name="connsiteY0" fmla="*/ 497711 h 1054854"/>
                <a:gd name="connsiteX1" fmla="*/ 0 w 871221"/>
                <a:gd name="connsiteY1" fmla="*/ 324232 h 1054854"/>
                <a:gd name="connsiteX2" fmla="*/ 118140 w 871221"/>
                <a:gd name="connsiteY2" fmla="*/ 92598 h 1054854"/>
                <a:gd name="connsiteX3" fmla="*/ 430657 w 871221"/>
                <a:gd name="connsiteY3" fmla="*/ 0 h 1054854"/>
                <a:gd name="connsiteX4" fmla="*/ 824196 w 871221"/>
                <a:gd name="connsiteY4" fmla="*/ 92597 h 1054854"/>
                <a:gd name="connsiteX5" fmla="*/ 835771 w 871221"/>
                <a:gd name="connsiteY5" fmla="*/ 462987 h 1054854"/>
                <a:gd name="connsiteX6" fmla="*/ 569553 w 871221"/>
                <a:gd name="connsiteY6" fmla="*/ 682906 h 1054854"/>
                <a:gd name="connsiteX7" fmla="*/ 511680 w 871221"/>
                <a:gd name="connsiteY7" fmla="*/ 995423 h 1054854"/>
                <a:gd name="connsiteX8" fmla="*/ 482381 w 871221"/>
                <a:gd name="connsiteY8" fmla="*/ 1052806 h 1054854"/>
                <a:gd name="connsiteX9" fmla="*/ 419082 w 871221"/>
                <a:gd name="connsiteY9" fmla="*/ 752354 h 1054854"/>
                <a:gd name="connsiteX10" fmla="*/ 245462 w 871221"/>
                <a:gd name="connsiteY10" fmla="*/ 636607 h 1054854"/>
                <a:gd name="connsiteX11" fmla="*/ 94991 w 871221"/>
                <a:gd name="connsiteY11" fmla="*/ 497711 h 1054854"/>
                <a:gd name="connsiteX0" fmla="*/ 94991 w 871221"/>
                <a:gd name="connsiteY0" fmla="*/ 497711 h 1072016"/>
                <a:gd name="connsiteX1" fmla="*/ 0 w 871221"/>
                <a:gd name="connsiteY1" fmla="*/ 324232 h 1072016"/>
                <a:gd name="connsiteX2" fmla="*/ 118140 w 871221"/>
                <a:gd name="connsiteY2" fmla="*/ 92598 h 1072016"/>
                <a:gd name="connsiteX3" fmla="*/ 430657 w 871221"/>
                <a:gd name="connsiteY3" fmla="*/ 0 h 1072016"/>
                <a:gd name="connsiteX4" fmla="*/ 824196 w 871221"/>
                <a:gd name="connsiteY4" fmla="*/ 92597 h 1072016"/>
                <a:gd name="connsiteX5" fmla="*/ 835771 w 871221"/>
                <a:gd name="connsiteY5" fmla="*/ 462987 h 1072016"/>
                <a:gd name="connsiteX6" fmla="*/ 569553 w 871221"/>
                <a:gd name="connsiteY6" fmla="*/ 682906 h 1072016"/>
                <a:gd name="connsiteX7" fmla="*/ 519300 w 871221"/>
                <a:gd name="connsiteY7" fmla="*/ 1002442 h 1072016"/>
                <a:gd name="connsiteX8" fmla="*/ 482381 w 871221"/>
                <a:gd name="connsiteY8" fmla="*/ 1052806 h 1072016"/>
                <a:gd name="connsiteX9" fmla="*/ 419082 w 871221"/>
                <a:gd name="connsiteY9" fmla="*/ 752354 h 1072016"/>
                <a:gd name="connsiteX10" fmla="*/ 245462 w 871221"/>
                <a:gd name="connsiteY10" fmla="*/ 636607 h 1072016"/>
                <a:gd name="connsiteX11" fmla="*/ 94991 w 871221"/>
                <a:gd name="connsiteY11" fmla="*/ 497711 h 1072016"/>
                <a:gd name="connsiteX0" fmla="*/ 54986 w 831216"/>
                <a:gd name="connsiteY0" fmla="*/ 497711 h 1072016"/>
                <a:gd name="connsiteX1" fmla="*/ 0 w 831216"/>
                <a:gd name="connsiteY1" fmla="*/ 251708 h 1072016"/>
                <a:gd name="connsiteX2" fmla="*/ 78135 w 831216"/>
                <a:gd name="connsiteY2" fmla="*/ 92598 h 1072016"/>
                <a:gd name="connsiteX3" fmla="*/ 390652 w 831216"/>
                <a:gd name="connsiteY3" fmla="*/ 0 h 1072016"/>
                <a:gd name="connsiteX4" fmla="*/ 784191 w 831216"/>
                <a:gd name="connsiteY4" fmla="*/ 92597 h 1072016"/>
                <a:gd name="connsiteX5" fmla="*/ 795766 w 831216"/>
                <a:gd name="connsiteY5" fmla="*/ 462987 h 1072016"/>
                <a:gd name="connsiteX6" fmla="*/ 529548 w 831216"/>
                <a:gd name="connsiteY6" fmla="*/ 682906 h 1072016"/>
                <a:gd name="connsiteX7" fmla="*/ 479295 w 831216"/>
                <a:gd name="connsiteY7" fmla="*/ 1002442 h 1072016"/>
                <a:gd name="connsiteX8" fmla="*/ 442376 w 831216"/>
                <a:gd name="connsiteY8" fmla="*/ 1052806 h 1072016"/>
                <a:gd name="connsiteX9" fmla="*/ 379077 w 831216"/>
                <a:gd name="connsiteY9" fmla="*/ 752354 h 1072016"/>
                <a:gd name="connsiteX10" fmla="*/ 205457 w 831216"/>
                <a:gd name="connsiteY10" fmla="*/ 636607 h 1072016"/>
                <a:gd name="connsiteX11" fmla="*/ 54986 w 831216"/>
                <a:gd name="connsiteY11" fmla="*/ 497711 h 1072016"/>
                <a:gd name="connsiteX0" fmla="*/ 81656 w 831216"/>
                <a:gd name="connsiteY0" fmla="*/ 507069 h 1072016"/>
                <a:gd name="connsiteX1" fmla="*/ 0 w 831216"/>
                <a:gd name="connsiteY1" fmla="*/ 251708 h 1072016"/>
                <a:gd name="connsiteX2" fmla="*/ 78135 w 831216"/>
                <a:gd name="connsiteY2" fmla="*/ 92598 h 1072016"/>
                <a:gd name="connsiteX3" fmla="*/ 390652 w 831216"/>
                <a:gd name="connsiteY3" fmla="*/ 0 h 1072016"/>
                <a:gd name="connsiteX4" fmla="*/ 784191 w 831216"/>
                <a:gd name="connsiteY4" fmla="*/ 92597 h 1072016"/>
                <a:gd name="connsiteX5" fmla="*/ 795766 w 831216"/>
                <a:gd name="connsiteY5" fmla="*/ 462987 h 1072016"/>
                <a:gd name="connsiteX6" fmla="*/ 529548 w 831216"/>
                <a:gd name="connsiteY6" fmla="*/ 682906 h 1072016"/>
                <a:gd name="connsiteX7" fmla="*/ 479295 w 831216"/>
                <a:gd name="connsiteY7" fmla="*/ 1002442 h 1072016"/>
                <a:gd name="connsiteX8" fmla="*/ 442376 w 831216"/>
                <a:gd name="connsiteY8" fmla="*/ 1052806 h 1072016"/>
                <a:gd name="connsiteX9" fmla="*/ 379077 w 831216"/>
                <a:gd name="connsiteY9" fmla="*/ 752354 h 1072016"/>
                <a:gd name="connsiteX10" fmla="*/ 205457 w 831216"/>
                <a:gd name="connsiteY10" fmla="*/ 636607 h 1072016"/>
                <a:gd name="connsiteX11" fmla="*/ 81656 w 831216"/>
                <a:gd name="connsiteY11" fmla="*/ 507069 h 1072016"/>
                <a:gd name="connsiteX0" fmla="*/ 81656 w 831216"/>
                <a:gd name="connsiteY0" fmla="*/ 507069 h 1075304"/>
                <a:gd name="connsiteX1" fmla="*/ 0 w 831216"/>
                <a:gd name="connsiteY1" fmla="*/ 251708 h 1075304"/>
                <a:gd name="connsiteX2" fmla="*/ 78135 w 831216"/>
                <a:gd name="connsiteY2" fmla="*/ 92598 h 1075304"/>
                <a:gd name="connsiteX3" fmla="*/ 390652 w 831216"/>
                <a:gd name="connsiteY3" fmla="*/ 0 h 1075304"/>
                <a:gd name="connsiteX4" fmla="*/ 784191 w 831216"/>
                <a:gd name="connsiteY4" fmla="*/ 92597 h 1075304"/>
                <a:gd name="connsiteX5" fmla="*/ 795766 w 831216"/>
                <a:gd name="connsiteY5" fmla="*/ 462987 h 1075304"/>
                <a:gd name="connsiteX6" fmla="*/ 529548 w 831216"/>
                <a:gd name="connsiteY6" fmla="*/ 682906 h 1075304"/>
                <a:gd name="connsiteX7" fmla="*/ 479295 w 831216"/>
                <a:gd name="connsiteY7" fmla="*/ 1002442 h 1075304"/>
                <a:gd name="connsiteX8" fmla="*/ 442376 w 831216"/>
                <a:gd name="connsiteY8" fmla="*/ 1052806 h 1075304"/>
                <a:gd name="connsiteX9" fmla="*/ 375267 w 831216"/>
                <a:gd name="connsiteY9" fmla="*/ 707903 h 1075304"/>
                <a:gd name="connsiteX10" fmla="*/ 205457 w 831216"/>
                <a:gd name="connsiteY10" fmla="*/ 636607 h 1075304"/>
                <a:gd name="connsiteX11" fmla="*/ 81656 w 831216"/>
                <a:gd name="connsiteY11" fmla="*/ 507069 h 1075304"/>
                <a:gd name="connsiteX0" fmla="*/ 81656 w 831216"/>
                <a:gd name="connsiteY0" fmla="*/ 507069 h 1073400"/>
                <a:gd name="connsiteX1" fmla="*/ 0 w 831216"/>
                <a:gd name="connsiteY1" fmla="*/ 251708 h 1073400"/>
                <a:gd name="connsiteX2" fmla="*/ 78135 w 831216"/>
                <a:gd name="connsiteY2" fmla="*/ 92598 h 1073400"/>
                <a:gd name="connsiteX3" fmla="*/ 390652 w 831216"/>
                <a:gd name="connsiteY3" fmla="*/ 0 h 1073400"/>
                <a:gd name="connsiteX4" fmla="*/ 784191 w 831216"/>
                <a:gd name="connsiteY4" fmla="*/ 92597 h 1073400"/>
                <a:gd name="connsiteX5" fmla="*/ 795766 w 831216"/>
                <a:gd name="connsiteY5" fmla="*/ 462987 h 1073400"/>
                <a:gd name="connsiteX6" fmla="*/ 529548 w 831216"/>
                <a:gd name="connsiteY6" fmla="*/ 682906 h 1073400"/>
                <a:gd name="connsiteX7" fmla="*/ 479295 w 831216"/>
                <a:gd name="connsiteY7" fmla="*/ 1002442 h 1073400"/>
                <a:gd name="connsiteX8" fmla="*/ 442376 w 831216"/>
                <a:gd name="connsiteY8" fmla="*/ 1052806 h 1073400"/>
                <a:gd name="connsiteX9" fmla="*/ 379077 w 831216"/>
                <a:gd name="connsiteY9" fmla="*/ 733638 h 1073400"/>
                <a:gd name="connsiteX10" fmla="*/ 205457 w 831216"/>
                <a:gd name="connsiteY10" fmla="*/ 636607 h 1073400"/>
                <a:gd name="connsiteX11" fmla="*/ 81656 w 831216"/>
                <a:gd name="connsiteY11" fmla="*/ 507069 h 1073400"/>
                <a:gd name="connsiteX0" fmla="*/ 81656 w 831216"/>
                <a:gd name="connsiteY0" fmla="*/ 507069 h 1026391"/>
                <a:gd name="connsiteX1" fmla="*/ 0 w 831216"/>
                <a:gd name="connsiteY1" fmla="*/ 251708 h 1026391"/>
                <a:gd name="connsiteX2" fmla="*/ 78135 w 831216"/>
                <a:gd name="connsiteY2" fmla="*/ 92598 h 1026391"/>
                <a:gd name="connsiteX3" fmla="*/ 390652 w 831216"/>
                <a:gd name="connsiteY3" fmla="*/ 0 h 1026391"/>
                <a:gd name="connsiteX4" fmla="*/ 784191 w 831216"/>
                <a:gd name="connsiteY4" fmla="*/ 92597 h 1026391"/>
                <a:gd name="connsiteX5" fmla="*/ 795766 w 831216"/>
                <a:gd name="connsiteY5" fmla="*/ 462987 h 1026391"/>
                <a:gd name="connsiteX6" fmla="*/ 529548 w 831216"/>
                <a:gd name="connsiteY6" fmla="*/ 682906 h 1026391"/>
                <a:gd name="connsiteX7" fmla="*/ 479295 w 831216"/>
                <a:gd name="connsiteY7" fmla="*/ 1002442 h 1026391"/>
                <a:gd name="connsiteX8" fmla="*/ 432851 w 831216"/>
                <a:gd name="connsiteY8" fmla="*/ 973263 h 1026391"/>
                <a:gd name="connsiteX9" fmla="*/ 379077 w 831216"/>
                <a:gd name="connsiteY9" fmla="*/ 733638 h 1026391"/>
                <a:gd name="connsiteX10" fmla="*/ 205457 w 831216"/>
                <a:gd name="connsiteY10" fmla="*/ 636607 h 1026391"/>
                <a:gd name="connsiteX11" fmla="*/ 81656 w 831216"/>
                <a:gd name="connsiteY11" fmla="*/ 507069 h 1026391"/>
                <a:gd name="connsiteX0" fmla="*/ 81656 w 831216"/>
                <a:gd name="connsiteY0" fmla="*/ 507069 h 1003066"/>
                <a:gd name="connsiteX1" fmla="*/ 0 w 831216"/>
                <a:gd name="connsiteY1" fmla="*/ 251708 h 1003066"/>
                <a:gd name="connsiteX2" fmla="*/ 78135 w 831216"/>
                <a:gd name="connsiteY2" fmla="*/ 92598 h 1003066"/>
                <a:gd name="connsiteX3" fmla="*/ 390652 w 831216"/>
                <a:gd name="connsiteY3" fmla="*/ 0 h 1003066"/>
                <a:gd name="connsiteX4" fmla="*/ 784191 w 831216"/>
                <a:gd name="connsiteY4" fmla="*/ 92597 h 1003066"/>
                <a:gd name="connsiteX5" fmla="*/ 795766 w 831216"/>
                <a:gd name="connsiteY5" fmla="*/ 462987 h 1003066"/>
                <a:gd name="connsiteX6" fmla="*/ 529548 w 831216"/>
                <a:gd name="connsiteY6" fmla="*/ 682906 h 1003066"/>
                <a:gd name="connsiteX7" fmla="*/ 488820 w 831216"/>
                <a:gd name="connsiteY7" fmla="*/ 967350 h 1003066"/>
                <a:gd name="connsiteX8" fmla="*/ 432851 w 831216"/>
                <a:gd name="connsiteY8" fmla="*/ 973263 h 1003066"/>
                <a:gd name="connsiteX9" fmla="*/ 379077 w 831216"/>
                <a:gd name="connsiteY9" fmla="*/ 733638 h 1003066"/>
                <a:gd name="connsiteX10" fmla="*/ 205457 w 831216"/>
                <a:gd name="connsiteY10" fmla="*/ 636607 h 1003066"/>
                <a:gd name="connsiteX11" fmla="*/ 81656 w 831216"/>
                <a:gd name="connsiteY11" fmla="*/ 507069 h 1003066"/>
                <a:gd name="connsiteX0" fmla="*/ 81656 w 831216"/>
                <a:gd name="connsiteY0" fmla="*/ 507069 h 998136"/>
                <a:gd name="connsiteX1" fmla="*/ 0 w 831216"/>
                <a:gd name="connsiteY1" fmla="*/ 251708 h 998136"/>
                <a:gd name="connsiteX2" fmla="*/ 78135 w 831216"/>
                <a:gd name="connsiteY2" fmla="*/ 92598 h 998136"/>
                <a:gd name="connsiteX3" fmla="*/ 390652 w 831216"/>
                <a:gd name="connsiteY3" fmla="*/ 0 h 998136"/>
                <a:gd name="connsiteX4" fmla="*/ 784191 w 831216"/>
                <a:gd name="connsiteY4" fmla="*/ 92597 h 998136"/>
                <a:gd name="connsiteX5" fmla="*/ 795766 w 831216"/>
                <a:gd name="connsiteY5" fmla="*/ 462987 h 998136"/>
                <a:gd name="connsiteX6" fmla="*/ 529548 w 831216"/>
                <a:gd name="connsiteY6" fmla="*/ 682906 h 998136"/>
                <a:gd name="connsiteX7" fmla="*/ 488820 w 831216"/>
                <a:gd name="connsiteY7" fmla="*/ 967350 h 998136"/>
                <a:gd name="connsiteX8" fmla="*/ 432851 w 831216"/>
                <a:gd name="connsiteY8" fmla="*/ 973263 h 998136"/>
                <a:gd name="connsiteX9" fmla="*/ 379077 w 831216"/>
                <a:gd name="connsiteY9" fmla="*/ 733638 h 998136"/>
                <a:gd name="connsiteX10" fmla="*/ 205457 w 831216"/>
                <a:gd name="connsiteY10" fmla="*/ 636607 h 998136"/>
                <a:gd name="connsiteX11" fmla="*/ 81656 w 831216"/>
                <a:gd name="connsiteY11" fmla="*/ 507069 h 998136"/>
                <a:gd name="connsiteX0" fmla="*/ 81656 w 826095"/>
                <a:gd name="connsiteY0" fmla="*/ 507069 h 998137"/>
                <a:gd name="connsiteX1" fmla="*/ 0 w 826095"/>
                <a:gd name="connsiteY1" fmla="*/ 251708 h 998137"/>
                <a:gd name="connsiteX2" fmla="*/ 78135 w 826095"/>
                <a:gd name="connsiteY2" fmla="*/ 92598 h 998137"/>
                <a:gd name="connsiteX3" fmla="*/ 390652 w 826095"/>
                <a:gd name="connsiteY3" fmla="*/ 0 h 998137"/>
                <a:gd name="connsiteX4" fmla="*/ 784191 w 826095"/>
                <a:gd name="connsiteY4" fmla="*/ 92597 h 998137"/>
                <a:gd name="connsiteX5" fmla="*/ 795766 w 826095"/>
                <a:gd name="connsiteY5" fmla="*/ 462987 h 998137"/>
                <a:gd name="connsiteX6" fmla="*/ 615459 w 826095"/>
                <a:gd name="connsiteY6" fmla="*/ 644154 h 998137"/>
                <a:gd name="connsiteX7" fmla="*/ 529548 w 826095"/>
                <a:gd name="connsiteY7" fmla="*/ 682906 h 998137"/>
                <a:gd name="connsiteX8" fmla="*/ 488820 w 826095"/>
                <a:gd name="connsiteY8" fmla="*/ 967350 h 998137"/>
                <a:gd name="connsiteX9" fmla="*/ 432851 w 826095"/>
                <a:gd name="connsiteY9" fmla="*/ 973263 h 998137"/>
                <a:gd name="connsiteX10" fmla="*/ 379077 w 826095"/>
                <a:gd name="connsiteY10" fmla="*/ 733638 h 998137"/>
                <a:gd name="connsiteX11" fmla="*/ 205457 w 826095"/>
                <a:gd name="connsiteY11" fmla="*/ 636607 h 998137"/>
                <a:gd name="connsiteX12" fmla="*/ 81656 w 826095"/>
                <a:gd name="connsiteY12" fmla="*/ 507069 h 998137"/>
                <a:gd name="connsiteX0" fmla="*/ 81656 w 814638"/>
                <a:gd name="connsiteY0" fmla="*/ 507069 h 998137"/>
                <a:gd name="connsiteX1" fmla="*/ 0 w 814638"/>
                <a:gd name="connsiteY1" fmla="*/ 251708 h 998137"/>
                <a:gd name="connsiteX2" fmla="*/ 78135 w 814638"/>
                <a:gd name="connsiteY2" fmla="*/ 92598 h 998137"/>
                <a:gd name="connsiteX3" fmla="*/ 390652 w 814638"/>
                <a:gd name="connsiteY3" fmla="*/ 0 h 998137"/>
                <a:gd name="connsiteX4" fmla="*/ 784191 w 814638"/>
                <a:gd name="connsiteY4" fmla="*/ 92597 h 998137"/>
                <a:gd name="connsiteX5" fmla="*/ 769096 w 814638"/>
                <a:gd name="connsiteY5" fmla="*/ 526154 h 998137"/>
                <a:gd name="connsiteX6" fmla="*/ 615459 w 814638"/>
                <a:gd name="connsiteY6" fmla="*/ 644154 h 998137"/>
                <a:gd name="connsiteX7" fmla="*/ 529548 w 814638"/>
                <a:gd name="connsiteY7" fmla="*/ 682906 h 998137"/>
                <a:gd name="connsiteX8" fmla="*/ 488820 w 814638"/>
                <a:gd name="connsiteY8" fmla="*/ 967350 h 998137"/>
                <a:gd name="connsiteX9" fmla="*/ 432851 w 814638"/>
                <a:gd name="connsiteY9" fmla="*/ 973263 h 998137"/>
                <a:gd name="connsiteX10" fmla="*/ 379077 w 814638"/>
                <a:gd name="connsiteY10" fmla="*/ 733638 h 998137"/>
                <a:gd name="connsiteX11" fmla="*/ 205457 w 814638"/>
                <a:gd name="connsiteY11" fmla="*/ 636607 h 998137"/>
                <a:gd name="connsiteX12" fmla="*/ 81656 w 814638"/>
                <a:gd name="connsiteY12" fmla="*/ 507069 h 998137"/>
                <a:gd name="connsiteX0" fmla="*/ 81656 w 814562"/>
                <a:gd name="connsiteY0" fmla="*/ 507069 h 998137"/>
                <a:gd name="connsiteX1" fmla="*/ 0 w 814562"/>
                <a:gd name="connsiteY1" fmla="*/ 251708 h 998137"/>
                <a:gd name="connsiteX2" fmla="*/ 78135 w 814562"/>
                <a:gd name="connsiteY2" fmla="*/ 92598 h 998137"/>
                <a:gd name="connsiteX3" fmla="*/ 390652 w 814562"/>
                <a:gd name="connsiteY3" fmla="*/ 0 h 998137"/>
                <a:gd name="connsiteX4" fmla="*/ 784191 w 814562"/>
                <a:gd name="connsiteY4" fmla="*/ 92597 h 998137"/>
                <a:gd name="connsiteX5" fmla="*/ 769096 w 814562"/>
                <a:gd name="connsiteY5" fmla="*/ 526154 h 998137"/>
                <a:gd name="connsiteX6" fmla="*/ 617364 w 814562"/>
                <a:gd name="connsiteY6" fmla="*/ 669888 h 998137"/>
                <a:gd name="connsiteX7" fmla="*/ 529548 w 814562"/>
                <a:gd name="connsiteY7" fmla="*/ 682906 h 998137"/>
                <a:gd name="connsiteX8" fmla="*/ 488820 w 814562"/>
                <a:gd name="connsiteY8" fmla="*/ 967350 h 998137"/>
                <a:gd name="connsiteX9" fmla="*/ 432851 w 814562"/>
                <a:gd name="connsiteY9" fmla="*/ 973263 h 998137"/>
                <a:gd name="connsiteX10" fmla="*/ 379077 w 814562"/>
                <a:gd name="connsiteY10" fmla="*/ 733638 h 998137"/>
                <a:gd name="connsiteX11" fmla="*/ 205457 w 814562"/>
                <a:gd name="connsiteY11" fmla="*/ 636607 h 998137"/>
                <a:gd name="connsiteX12" fmla="*/ 81656 w 814562"/>
                <a:gd name="connsiteY12" fmla="*/ 507069 h 998137"/>
                <a:gd name="connsiteX0" fmla="*/ 81656 w 814562"/>
                <a:gd name="connsiteY0" fmla="*/ 507069 h 998137"/>
                <a:gd name="connsiteX1" fmla="*/ 0 w 814562"/>
                <a:gd name="connsiteY1" fmla="*/ 251708 h 998137"/>
                <a:gd name="connsiteX2" fmla="*/ 78135 w 814562"/>
                <a:gd name="connsiteY2" fmla="*/ 92598 h 998137"/>
                <a:gd name="connsiteX3" fmla="*/ 390652 w 814562"/>
                <a:gd name="connsiteY3" fmla="*/ 0 h 998137"/>
                <a:gd name="connsiteX4" fmla="*/ 784191 w 814562"/>
                <a:gd name="connsiteY4" fmla="*/ 92597 h 998137"/>
                <a:gd name="connsiteX5" fmla="*/ 769096 w 814562"/>
                <a:gd name="connsiteY5" fmla="*/ 526154 h 998137"/>
                <a:gd name="connsiteX6" fmla="*/ 617364 w 814562"/>
                <a:gd name="connsiteY6" fmla="*/ 669888 h 998137"/>
                <a:gd name="connsiteX7" fmla="*/ 529548 w 814562"/>
                <a:gd name="connsiteY7" fmla="*/ 682906 h 998137"/>
                <a:gd name="connsiteX8" fmla="*/ 488820 w 814562"/>
                <a:gd name="connsiteY8" fmla="*/ 967350 h 998137"/>
                <a:gd name="connsiteX9" fmla="*/ 432851 w 814562"/>
                <a:gd name="connsiteY9" fmla="*/ 973263 h 998137"/>
                <a:gd name="connsiteX10" fmla="*/ 379077 w 814562"/>
                <a:gd name="connsiteY10" fmla="*/ 733638 h 998137"/>
                <a:gd name="connsiteX11" fmla="*/ 205457 w 814562"/>
                <a:gd name="connsiteY11" fmla="*/ 636607 h 998137"/>
                <a:gd name="connsiteX12" fmla="*/ 81656 w 814562"/>
                <a:gd name="connsiteY12" fmla="*/ 507069 h 998137"/>
                <a:gd name="connsiteX0" fmla="*/ 70226 w 803132"/>
                <a:gd name="connsiteY0" fmla="*/ 507069 h 998137"/>
                <a:gd name="connsiteX1" fmla="*/ 0 w 803132"/>
                <a:gd name="connsiteY1" fmla="*/ 258727 h 998137"/>
                <a:gd name="connsiteX2" fmla="*/ 66705 w 803132"/>
                <a:gd name="connsiteY2" fmla="*/ 92598 h 998137"/>
                <a:gd name="connsiteX3" fmla="*/ 379222 w 803132"/>
                <a:gd name="connsiteY3" fmla="*/ 0 h 998137"/>
                <a:gd name="connsiteX4" fmla="*/ 772761 w 803132"/>
                <a:gd name="connsiteY4" fmla="*/ 92597 h 998137"/>
                <a:gd name="connsiteX5" fmla="*/ 757666 w 803132"/>
                <a:gd name="connsiteY5" fmla="*/ 526154 h 998137"/>
                <a:gd name="connsiteX6" fmla="*/ 605934 w 803132"/>
                <a:gd name="connsiteY6" fmla="*/ 669888 h 998137"/>
                <a:gd name="connsiteX7" fmla="*/ 518118 w 803132"/>
                <a:gd name="connsiteY7" fmla="*/ 682906 h 998137"/>
                <a:gd name="connsiteX8" fmla="*/ 477390 w 803132"/>
                <a:gd name="connsiteY8" fmla="*/ 967350 h 998137"/>
                <a:gd name="connsiteX9" fmla="*/ 421421 w 803132"/>
                <a:gd name="connsiteY9" fmla="*/ 973263 h 998137"/>
                <a:gd name="connsiteX10" fmla="*/ 367647 w 803132"/>
                <a:gd name="connsiteY10" fmla="*/ 733638 h 998137"/>
                <a:gd name="connsiteX11" fmla="*/ 194027 w 803132"/>
                <a:gd name="connsiteY11" fmla="*/ 636607 h 998137"/>
                <a:gd name="connsiteX12" fmla="*/ 70226 w 803132"/>
                <a:gd name="connsiteY12" fmla="*/ 507069 h 998137"/>
                <a:gd name="connsiteX0" fmla="*/ 70226 w 803132"/>
                <a:gd name="connsiteY0" fmla="*/ 507111 h 998179"/>
                <a:gd name="connsiteX1" fmla="*/ 0 w 803132"/>
                <a:gd name="connsiteY1" fmla="*/ 258769 h 998179"/>
                <a:gd name="connsiteX2" fmla="*/ 146715 w 803132"/>
                <a:gd name="connsiteY2" fmla="*/ 83283 h 998179"/>
                <a:gd name="connsiteX3" fmla="*/ 379222 w 803132"/>
                <a:gd name="connsiteY3" fmla="*/ 42 h 998179"/>
                <a:gd name="connsiteX4" fmla="*/ 772761 w 803132"/>
                <a:gd name="connsiteY4" fmla="*/ 92639 h 998179"/>
                <a:gd name="connsiteX5" fmla="*/ 757666 w 803132"/>
                <a:gd name="connsiteY5" fmla="*/ 526196 h 998179"/>
                <a:gd name="connsiteX6" fmla="*/ 605934 w 803132"/>
                <a:gd name="connsiteY6" fmla="*/ 669930 h 998179"/>
                <a:gd name="connsiteX7" fmla="*/ 518118 w 803132"/>
                <a:gd name="connsiteY7" fmla="*/ 682948 h 998179"/>
                <a:gd name="connsiteX8" fmla="*/ 477390 w 803132"/>
                <a:gd name="connsiteY8" fmla="*/ 967392 h 998179"/>
                <a:gd name="connsiteX9" fmla="*/ 421421 w 803132"/>
                <a:gd name="connsiteY9" fmla="*/ 973305 h 998179"/>
                <a:gd name="connsiteX10" fmla="*/ 367647 w 803132"/>
                <a:gd name="connsiteY10" fmla="*/ 733680 h 998179"/>
                <a:gd name="connsiteX11" fmla="*/ 194027 w 803132"/>
                <a:gd name="connsiteY11" fmla="*/ 636649 h 998179"/>
                <a:gd name="connsiteX12" fmla="*/ 70226 w 803132"/>
                <a:gd name="connsiteY12" fmla="*/ 507111 h 998179"/>
                <a:gd name="connsiteX0" fmla="*/ 70226 w 803132"/>
                <a:gd name="connsiteY0" fmla="*/ 509439 h 1000507"/>
                <a:gd name="connsiteX1" fmla="*/ 0 w 803132"/>
                <a:gd name="connsiteY1" fmla="*/ 261097 h 1000507"/>
                <a:gd name="connsiteX2" fmla="*/ 179100 w 803132"/>
                <a:gd name="connsiteY2" fmla="*/ 48180 h 1000507"/>
                <a:gd name="connsiteX3" fmla="*/ 379222 w 803132"/>
                <a:gd name="connsiteY3" fmla="*/ 2370 h 1000507"/>
                <a:gd name="connsiteX4" fmla="*/ 772761 w 803132"/>
                <a:gd name="connsiteY4" fmla="*/ 94967 h 1000507"/>
                <a:gd name="connsiteX5" fmla="*/ 757666 w 803132"/>
                <a:gd name="connsiteY5" fmla="*/ 528524 h 1000507"/>
                <a:gd name="connsiteX6" fmla="*/ 605934 w 803132"/>
                <a:gd name="connsiteY6" fmla="*/ 672258 h 1000507"/>
                <a:gd name="connsiteX7" fmla="*/ 518118 w 803132"/>
                <a:gd name="connsiteY7" fmla="*/ 685276 h 1000507"/>
                <a:gd name="connsiteX8" fmla="*/ 477390 w 803132"/>
                <a:gd name="connsiteY8" fmla="*/ 969720 h 1000507"/>
                <a:gd name="connsiteX9" fmla="*/ 421421 w 803132"/>
                <a:gd name="connsiteY9" fmla="*/ 975633 h 1000507"/>
                <a:gd name="connsiteX10" fmla="*/ 367647 w 803132"/>
                <a:gd name="connsiteY10" fmla="*/ 736008 h 1000507"/>
                <a:gd name="connsiteX11" fmla="*/ 194027 w 803132"/>
                <a:gd name="connsiteY11" fmla="*/ 638977 h 1000507"/>
                <a:gd name="connsiteX12" fmla="*/ 70226 w 803132"/>
                <a:gd name="connsiteY12" fmla="*/ 509439 h 1000507"/>
                <a:gd name="connsiteX0" fmla="*/ 30221 w 763127"/>
                <a:gd name="connsiteY0" fmla="*/ 509111 h 1000179"/>
                <a:gd name="connsiteX1" fmla="*/ 0 w 763127"/>
                <a:gd name="connsiteY1" fmla="*/ 237374 h 1000179"/>
                <a:gd name="connsiteX2" fmla="*/ 139095 w 763127"/>
                <a:gd name="connsiteY2" fmla="*/ 47852 h 1000179"/>
                <a:gd name="connsiteX3" fmla="*/ 339217 w 763127"/>
                <a:gd name="connsiteY3" fmla="*/ 2042 h 1000179"/>
                <a:gd name="connsiteX4" fmla="*/ 732756 w 763127"/>
                <a:gd name="connsiteY4" fmla="*/ 94639 h 1000179"/>
                <a:gd name="connsiteX5" fmla="*/ 717661 w 763127"/>
                <a:gd name="connsiteY5" fmla="*/ 528196 h 1000179"/>
                <a:gd name="connsiteX6" fmla="*/ 565929 w 763127"/>
                <a:gd name="connsiteY6" fmla="*/ 671930 h 1000179"/>
                <a:gd name="connsiteX7" fmla="*/ 478113 w 763127"/>
                <a:gd name="connsiteY7" fmla="*/ 684948 h 1000179"/>
                <a:gd name="connsiteX8" fmla="*/ 437385 w 763127"/>
                <a:gd name="connsiteY8" fmla="*/ 969392 h 1000179"/>
                <a:gd name="connsiteX9" fmla="*/ 381416 w 763127"/>
                <a:gd name="connsiteY9" fmla="*/ 975305 h 1000179"/>
                <a:gd name="connsiteX10" fmla="*/ 327642 w 763127"/>
                <a:gd name="connsiteY10" fmla="*/ 735680 h 1000179"/>
                <a:gd name="connsiteX11" fmla="*/ 154022 w 763127"/>
                <a:gd name="connsiteY11" fmla="*/ 638649 h 1000179"/>
                <a:gd name="connsiteX12" fmla="*/ 30221 w 763127"/>
                <a:gd name="connsiteY12" fmla="*/ 509111 h 1000179"/>
                <a:gd name="connsiteX0" fmla="*/ 47366 w 780272"/>
                <a:gd name="connsiteY0" fmla="*/ 509366 h 1000434"/>
                <a:gd name="connsiteX1" fmla="*/ 0 w 780272"/>
                <a:gd name="connsiteY1" fmla="*/ 256345 h 1000434"/>
                <a:gd name="connsiteX2" fmla="*/ 156240 w 780272"/>
                <a:gd name="connsiteY2" fmla="*/ 48107 h 1000434"/>
                <a:gd name="connsiteX3" fmla="*/ 356362 w 780272"/>
                <a:gd name="connsiteY3" fmla="*/ 2297 h 1000434"/>
                <a:gd name="connsiteX4" fmla="*/ 749901 w 780272"/>
                <a:gd name="connsiteY4" fmla="*/ 94894 h 1000434"/>
                <a:gd name="connsiteX5" fmla="*/ 734806 w 780272"/>
                <a:gd name="connsiteY5" fmla="*/ 528451 h 1000434"/>
                <a:gd name="connsiteX6" fmla="*/ 583074 w 780272"/>
                <a:gd name="connsiteY6" fmla="*/ 672185 h 1000434"/>
                <a:gd name="connsiteX7" fmla="*/ 495258 w 780272"/>
                <a:gd name="connsiteY7" fmla="*/ 685203 h 1000434"/>
                <a:gd name="connsiteX8" fmla="*/ 454530 w 780272"/>
                <a:gd name="connsiteY8" fmla="*/ 969647 h 1000434"/>
                <a:gd name="connsiteX9" fmla="*/ 398561 w 780272"/>
                <a:gd name="connsiteY9" fmla="*/ 975560 h 1000434"/>
                <a:gd name="connsiteX10" fmla="*/ 344787 w 780272"/>
                <a:gd name="connsiteY10" fmla="*/ 735935 h 1000434"/>
                <a:gd name="connsiteX11" fmla="*/ 171167 w 780272"/>
                <a:gd name="connsiteY11" fmla="*/ 638904 h 1000434"/>
                <a:gd name="connsiteX12" fmla="*/ 47366 w 780272"/>
                <a:gd name="connsiteY12" fmla="*/ 509366 h 1000434"/>
                <a:gd name="connsiteX0" fmla="*/ 47366 w 767344"/>
                <a:gd name="connsiteY0" fmla="*/ 505135 h 996203"/>
                <a:gd name="connsiteX1" fmla="*/ 0 w 767344"/>
                <a:gd name="connsiteY1" fmla="*/ 252114 h 996203"/>
                <a:gd name="connsiteX2" fmla="*/ 156240 w 767344"/>
                <a:gd name="connsiteY2" fmla="*/ 43876 h 996203"/>
                <a:gd name="connsiteX3" fmla="*/ 531622 w 767344"/>
                <a:gd name="connsiteY3" fmla="*/ 2744 h 996203"/>
                <a:gd name="connsiteX4" fmla="*/ 749901 w 767344"/>
                <a:gd name="connsiteY4" fmla="*/ 90663 h 996203"/>
                <a:gd name="connsiteX5" fmla="*/ 734806 w 767344"/>
                <a:gd name="connsiteY5" fmla="*/ 524220 h 996203"/>
                <a:gd name="connsiteX6" fmla="*/ 583074 w 767344"/>
                <a:gd name="connsiteY6" fmla="*/ 667954 h 996203"/>
                <a:gd name="connsiteX7" fmla="*/ 495258 w 767344"/>
                <a:gd name="connsiteY7" fmla="*/ 680972 h 996203"/>
                <a:gd name="connsiteX8" fmla="*/ 454530 w 767344"/>
                <a:gd name="connsiteY8" fmla="*/ 965416 h 996203"/>
                <a:gd name="connsiteX9" fmla="*/ 398561 w 767344"/>
                <a:gd name="connsiteY9" fmla="*/ 971329 h 996203"/>
                <a:gd name="connsiteX10" fmla="*/ 344787 w 767344"/>
                <a:gd name="connsiteY10" fmla="*/ 731704 h 996203"/>
                <a:gd name="connsiteX11" fmla="*/ 171167 w 767344"/>
                <a:gd name="connsiteY11" fmla="*/ 634673 h 996203"/>
                <a:gd name="connsiteX12" fmla="*/ 47366 w 767344"/>
                <a:gd name="connsiteY12" fmla="*/ 505135 h 996203"/>
                <a:gd name="connsiteX0" fmla="*/ 47366 w 788874"/>
                <a:gd name="connsiteY0" fmla="*/ 510570 h 1001638"/>
                <a:gd name="connsiteX1" fmla="*/ 0 w 788874"/>
                <a:gd name="connsiteY1" fmla="*/ 257549 h 1001638"/>
                <a:gd name="connsiteX2" fmla="*/ 156240 w 788874"/>
                <a:gd name="connsiteY2" fmla="*/ 49311 h 1001638"/>
                <a:gd name="connsiteX3" fmla="*/ 531622 w 788874"/>
                <a:gd name="connsiteY3" fmla="*/ 8179 h 1001638"/>
                <a:gd name="connsiteX4" fmla="*/ 776571 w 788874"/>
                <a:gd name="connsiteY4" fmla="*/ 173301 h 1001638"/>
                <a:gd name="connsiteX5" fmla="*/ 734806 w 788874"/>
                <a:gd name="connsiteY5" fmla="*/ 529655 h 1001638"/>
                <a:gd name="connsiteX6" fmla="*/ 583074 w 788874"/>
                <a:gd name="connsiteY6" fmla="*/ 673389 h 1001638"/>
                <a:gd name="connsiteX7" fmla="*/ 495258 w 788874"/>
                <a:gd name="connsiteY7" fmla="*/ 686407 h 1001638"/>
                <a:gd name="connsiteX8" fmla="*/ 454530 w 788874"/>
                <a:gd name="connsiteY8" fmla="*/ 970851 h 1001638"/>
                <a:gd name="connsiteX9" fmla="*/ 398561 w 788874"/>
                <a:gd name="connsiteY9" fmla="*/ 976764 h 1001638"/>
                <a:gd name="connsiteX10" fmla="*/ 344787 w 788874"/>
                <a:gd name="connsiteY10" fmla="*/ 737139 h 1001638"/>
                <a:gd name="connsiteX11" fmla="*/ 171167 w 788874"/>
                <a:gd name="connsiteY11" fmla="*/ 640108 h 1001638"/>
                <a:gd name="connsiteX12" fmla="*/ 47366 w 788874"/>
                <a:gd name="connsiteY12" fmla="*/ 510570 h 1001638"/>
                <a:gd name="connsiteX0" fmla="*/ 47366 w 788874"/>
                <a:gd name="connsiteY0" fmla="*/ 510570 h 1003217"/>
                <a:gd name="connsiteX1" fmla="*/ 0 w 788874"/>
                <a:gd name="connsiteY1" fmla="*/ 257549 h 1003217"/>
                <a:gd name="connsiteX2" fmla="*/ 156240 w 788874"/>
                <a:gd name="connsiteY2" fmla="*/ 49311 h 1003217"/>
                <a:gd name="connsiteX3" fmla="*/ 531622 w 788874"/>
                <a:gd name="connsiteY3" fmla="*/ 8179 h 1003217"/>
                <a:gd name="connsiteX4" fmla="*/ 776571 w 788874"/>
                <a:gd name="connsiteY4" fmla="*/ 173301 h 1003217"/>
                <a:gd name="connsiteX5" fmla="*/ 734806 w 788874"/>
                <a:gd name="connsiteY5" fmla="*/ 529655 h 1003217"/>
                <a:gd name="connsiteX6" fmla="*/ 583074 w 788874"/>
                <a:gd name="connsiteY6" fmla="*/ 673389 h 1003217"/>
                <a:gd name="connsiteX7" fmla="*/ 495258 w 788874"/>
                <a:gd name="connsiteY7" fmla="*/ 742555 h 1003217"/>
                <a:gd name="connsiteX8" fmla="*/ 454530 w 788874"/>
                <a:gd name="connsiteY8" fmla="*/ 970851 h 1003217"/>
                <a:gd name="connsiteX9" fmla="*/ 398561 w 788874"/>
                <a:gd name="connsiteY9" fmla="*/ 976764 h 1003217"/>
                <a:gd name="connsiteX10" fmla="*/ 344787 w 788874"/>
                <a:gd name="connsiteY10" fmla="*/ 737139 h 1003217"/>
                <a:gd name="connsiteX11" fmla="*/ 171167 w 788874"/>
                <a:gd name="connsiteY11" fmla="*/ 640108 h 1003217"/>
                <a:gd name="connsiteX12" fmla="*/ 47366 w 788874"/>
                <a:gd name="connsiteY12" fmla="*/ 510570 h 1003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8874" h="1003217">
                  <a:moveTo>
                    <a:pt x="47366" y="510570"/>
                  </a:moveTo>
                  <a:cubicBezTo>
                    <a:pt x="18838" y="446810"/>
                    <a:pt x="0" y="330855"/>
                    <a:pt x="0" y="257549"/>
                  </a:cubicBezTo>
                  <a:cubicBezTo>
                    <a:pt x="0" y="184243"/>
                    <a:pt x="67636" y="90873"/>
                    <a:pt x="156240" y="49311"/>
                  </a:cubicBezTo>
                  <a:cubicBezTo>
                    <a:pt x="244844" y="7749"/>
                    <a:pt x="428234" y="-12486"/>
                    <a:pt x="531622" y="8179"/>
                  </a:cubicBezTo>
                  <a:cubicBezTo>
                    <a:pt x="635010" y="28844"/>
                    <a:pt x="742707" y="86388"/>
                    <a:pt x="776571" y="173301"/>
                  </a:cubicBezTo>
                  <a:cubicBezTo>
                    <a:pt x="810435" y="260214"/>
                    <a:pt x="767055" y="446307"/>
                    <a:pt x="734806" y="529655"/>
                  </a:cubicBezTo>
                  <a:cubicBezTo>
                    <a:pt x="702557" y="613003"/>
                    <a:pt x="633159" y="650773"/>
                    <a:pt x="583074" y="673389"/>
                  </a:cubicBezTo>
                  <a:cubicBezTo>
                    <a:pt x="538704" y="710042"/>
                    <a:pt x="516682" y="692978"/>
                    <a:pt x="495258" y="742555"/>
                  </a:cubicBezTo>
                  <a:cubicBezTo>
                    <a:pt x="473834" y="792132"/>
                    <a:pt x="470646" y="931816"/>
                    <a:pt x="454530" y="970851"/>
                  </a:cubicBezTo>
                  <a:cubicBezTo>
                    <a:pt x="438414" y="1009886"/>
                    <a:pt x="416851" y="1015716"/>
                    <a:pt x="398561" y="976764"/>
                  </a:cubicBezTo>
                  <a:cubicBezTo>
                    <a:pt x="380271" y="937812"/>
                    <a:pt x="382686" y="793248"/>
                    <a:pt x="344787" y="737139"/>
                  </a:cubicBezTo>
                  <a:cubicBezTo>
                    <a:pt x="306888" y="681030"/>
                    <a:pt x="225182" y="682549"/>
                    <a:pt x="171167" y="640108"/>
                  </a:cubicBezTo>
                  <a:cubicBezTo>
                    <a:pt x="117152" y="597668"/>
                    <a:pt x="75894" y="574330"/>
                    <a:pt x="47366" y="510570"/>
                  </a:cubicBezTo>
                  <a:close/>
                </a:path>
              </a:pathLst>
            </a:custGeom>
            <a:solidFill>
              <a:schemeClr val="accent4">
                <a:lumMod val="20000"/>
                <a:lumOff val="80000"/>
              </a:schemeClr>
            </a:solidFill>
            <a:ln>
              <a:solidFill>
                <a:schemeClr val="bg2">
                  <a:lumMod val="5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 name="Freeform: Shape 2">
              <a:extLst>
                <a:ext uri="{FF2B5EF4-FFF2-40B4-BE49-F238E27FC236}">
                  <a16:creationId xmlns:a16="http://schemas.microsoft.com/office/drawing/2014/main" id="{9CA550D8-84C2-4B78-B2BB-E3EB0E7FC9A0}"/>
                </a:ext>
              </a:extLst>
            </p:cNvPr>
            <p:cNvSpPr/>
            <p:nvPr/>
          </p:nvSpPr>
          <p:spPr>
            <a:xfrm>
              <a:off x="4180356" y="4638062"/>
              <a:ext cx="185182" cy="269101"/>
            </a:xfrm>
            <a:custGeom>
              <a:avLst/>
              <a:gdLst>
                <a:gd name="connsiteX0" fmla="*/ 55076 w 246117"/>
                <a:gd name="connsiteY0" fmla="*/ 15157 h 340062"/>
                <a:gd name="connsiteX1" fmla="*/ 240271 w 246117"/>
                <a:gd name="connsiteY1" fmla="*/ 61456 h 340062"/>
                <a:gd name="connsiteX2" fmla="*/ 182398 w 246117"/>
                <a:gd name="connsiteY2" fmla="*/ 327674 h 340062"/>
                <a:gd name="connsiteX3" fmla="*/ 8777 w 246117"/>
                <a:gd name="connsiteY3" fmla="*/ 269800 h 340062"/>
                <a:gd name="connsiteX4" fmla="*/ 55076 w 246117"/>
                <a:gd name="connsiteY4" fmla="*/ 15157 h 340062"/>
                <a:gd name="connsiteX0" fmla="*/ 28259 w 261441"/>
                <a:gd name="connsiteY0" fmla="*/ 15157 h 340619"/>
                <a:gd name="connsiteX1" fmla="*/ 253055 w 261441"/>
                <a:gd name="connsiteY1" fmla="*/ 61456 h 340619"/>
                <a:gd name="connsiteX2" fmla="*/ 195182 w 261441"/>
                <a:gd name="connsiteY2" fmla="*/ 327674 h 340619"/>
                <a:gd name="connsiteX3" fmla="*/ 21561 w 261441"/>
                <a:gd name="connsiteY3" fmla="*/ 269800 h 340619"/>
                <a:gd name="connsiteX4" fmla="*/ 28259 w 261441"/>
                <a:gd name="connsiteY4" fmla="*/ 15157 h 340619"/>
                <a:gd name="connsiteX0" fmla="*/ 47888 w 281070"/>
                <a:gd name="connsiteY0" fmla="*/ 16380 h 345224"/>
                <a:gd name="connsiteX1" fmla="*/ 272684 w 281070"/>
                <a:gd name="connsiteY1" fmla="*/ 62679 h 345224"/>
                <a:gd name="connsiteX2" fmla="*/ 214811 w 281070"/>
                <a:gd name="connsiteY2" fmla="*/ 328897 h 345224"/>
                <a:gd name="connsiteX3" fmla="*/ 12949 w 281070"/>
                <a:gd name="connsiteY3" fmla="*/ 287647 h 345224"/>
                <a:gd name="connsiteX4" fmla="*/ 47888 w 281070"/>
                <a:gd name="connsiteY4" fmla="*/ 16380 h 345224"/>
                <a:gd name="connsiteX0" fmla="*/ 46914 w 280096"/>
                <a:gd name="connsiteY0" fmla="*/ 7158 h 331796"/>
                <a:gd name="connsiteX1" fmla="*/ 271710 w 280096"/>
                <a:gd name="connsiteY1" fmla="*/ 53457 h 331796"/>
                <a:gd name="connsiteX2" fmla="*/ 213837 w 280096"/>
                <a:gd name="connsiteY2" fmla="*/ 319675 h 331796"/>
                <a:gd name="connsiteX3" fmla="*/ 11975 w 280096"/>
                <a:gd name="connsiteY3" fmla="*/ 278425 h 331796"/>
                <a:gd name="connsiteX4" fmla="*/ 25853 w 280096"/>
                <a:gd name="connsiteY4" fmla="*/ 152569 h 331796"/>
                <a:gd name="connsiteX5" fmla="*/ 46914 w 280096"/>
                <a:gd name="connsiteY5" fmla="*/ 7158 h 331796"/>
                <a:gd name="connsiteX0" fmla="*/ 45029 w 274592"/>
                <a:gd name="connsiteY0" fmla="*/ 5945 h 294425"/>
                <a:gd name="connsiteX1" fmla="*/ 269825 w 274592"/>
                <a:gd name="connsiteY1" fmla="*/ 52244 h 294425"/>
                <a:gd name="connsiteX2" fmla="*/ 185882 w 274592"/>
                <a:gd name="connsiteY2" fmla="*/ 270669 h 294425"/>
                <a:gd name="connsiteX3" fmla="*/ 10090 w 274592"/>
                <a:gd name="connsiteY3" fmla="*/ 277212 h 294425"/>
                <a:gd name="connsiteX4" fmla="*/ 23968 w 274592"/>
                <a:gd name="connsiteY4" fmla="*/ 151356 h 294425"/>
                <a:gd name="connsiteX5" fmla="*/ 45029 w 274592"/>
                <a:gd name="connsiteY5" fmla="*/ 5945 h 294425"/>
                <a:gd name="connsiteX0" fmla="*/ 45029 w 220710"/>
                <a:gd name="connsiteY0" fmla="*/ 7452 h 295931"/>
                <a:gd name="connsiteX1" fmla="*/ 206824 w 220710"/>
                <a:gd name="connsiteY1" fmla="*/ 47518 h 295931"/>
                <a:gd name="connsiteX2" fmla="*/ 185882 w 220710"/>
                <a:gd name="connsiteY2" fmla="*/ 272176 h 295931"/>
                <a:gd name="connsiteX3" fmla="*/ 10090 w 220710"/>
                <a:gd name="connsiteY3" fmla="*/ 278719 h 295931"/>
                <a:gd name="connsiteX4" fmla="*/ 23968 w 220710"/>
                <a:gd name="connsiteY4" fmla="*/ 152863 h 295931"/>
                <a:gd name="connsiteX5" fmla="*/ 45029 w 220710"/>
                <a:gd name="connsiteY5" fmla="*/ 7452 h 295931"/>
                <a:gd name="connsiteX0" fmla="*/ 43158 w 211181"/>
                <a:gd name="connsiteY0" fmla="*/ 7336 h 293532"/>
                <a:gd name="connsiteX1" fmla="*/ 204953 w 211181"/>
                <a:gd name="connsiteY1" fmla="*/ 47402 h 293532"/>
                <a:gd name="connsiteX2" fmla="*/ 157942 w 211181"/>
                <a:gd name="connsiteY2" fmla="*/ 267904 h 293532"/>
                <a:gd name="connsiteX3" fmla="*/ 8219 w 211181"/>
                <a:gd name="connsiteY3" fmla="*/ 278603 h 293532"/>
                <a:gd name="connsiteX4" fmla="*/ 22097 w 211181"/>
                <a:gd name="connsiteY4" fmla="*/ 152747 h 293532"/>
                <a:gd name="connsiteX5" fmla="*/ 43158 w 211181"/>
                <a:gd name="connsiteY5" fmla="*/ 7336 h 293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1181" h="293532">
                  <a:moveTo>
                    <a:pt x="43158" y="7336"/>
                  </a:moveTo>
                  <a:cubicBezTo>
                    <a:pt x="73634" y="-10221"/>
                    <a:pt x="185822" y="3974"/>
                    <a:pt x="204953" y="47402"/>
                  </a:cubicBezTo>
                  <a:cubicBezTo>
                    <a:pt x="224084" y="90830"/>
                    <a:pt x="196524" y="233180"/>
                    <a:pt x="157942" y="267904"/>
                  </a:cubicBezTo>
                  <a:cubicBezTo>
                    <a:pt x="119360" y="302628"/>
                    <a:pt x="30860" y="297796"/>
                    <a:pt x="8219" y="278603"/>
                  </a:cubicBezTo>
                  <a:cubicBezTo>
                    <a:pt x="-14422" y="259410"/>
                    <a:pt x="16274" y="197958"/>
                    <a:pt x="22097" y="152747"/>
                  </a:cubicBezTo>
                  <a:cubicBezTo>
                    <a:pt x="27920" y="107536"/>
                    <a:pt x="12682" y="24893"/>
                    <a:pt x="43158" y="7336"/>
                  </a:cubicBezTo>
                  <a:close/>
                </a:path>
              </a:pathLst>
            </a:cu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73" name="Freeform: Shape 72">
              <a:extLst>
                <a:ext uri="{FF2B5EF4-FFF2-40B4-BE49-F238E27FC236}">
                  <a16:creationId xmlns:a16="http://schemas.microsoft.com/office/drawing/2014/main" id="{D3746C66-5D9E-4AF3-8754-D168E7A1F984}"/>
                </a:ext>
              </a:extLst>
            </p:cNvPr>
            <p:cNvSpPr/>
            <p:nvPr/>
          </p:nvSpPr>
          <p:spPr>
            <a:xfrm flipH="1">
              <a:off x="3945983" y="4640496"/>
              <a:ext cx="185182" cy="269101"/>
            </a:xfrm>
            <a:custGeom>
              <a:avLst/>
              <a:gdLst>
                <a:gd name="connsiteX0" fmla="*/ 55076 w 246117"/>
                <a:gd name="connsiteY0" fmla="*/ 15157 h 340062"/>
                <a:gd name="connsiteX1" fmla="*/ 240271 w 246117"/>
                <a:gd name="connsiteY1" fmla="*/ 61456 h 340062"/>
                <a:gd name="connsiteX2" fmla="*/ 182398 w 246117"/>
                <a:gd name="connsiteY2" fmla="*/ 327674 h 340062"/>
                <a:gd name="connsiteX3" fmla="*/ 8777 w 246117"/>
                <a:gd name="connsiteY3" fmla="*/ 269800 h 340062"/>
                <a:gd name="connsiteX4" fmla="*/ 55076 w 246117"/>
                <a:gd name="connsiteY4" fmla="*/ 15157 h 340062"/>
                <a:gd name="connsiteX0" fmla="*/ 28259 w 261441"/>
                <a:gd name="connsiteY0" fmla="*/ 15157 h 340619"/>
                <a:gd name="connsiteX1" fmla="*/ 253055 w 261441"/>
                <a:gd name="connsiteY1" fmla="*/ 61456 h 340619"/>
                <a:gd name="connsiteX2" fmla="*/ 195182 w 261441"/>
                <a:gd name="connsiteY2" fmla="*/ 327674 h 340619"/>
                <a:gd name="connsiteX3" fmla="*/ 21561 w 261441"/>
                <a:gd name="connsiteY3" fmla="*/ 269800 h 340619"/>
                <a:gd name="connsiteX4" fmla="*/ 28259 w 261441"/>
                <a:gd name="connsiteY4" fmla="*/ 15157 h 340619"/>
                <a:gd name="connsiteX0" fmla="*/ 47888 w 281070"/>
                <a:gd name="connsiteY0" fmla="*/ 16380 h 345224"/>
                <a:gd name="connsiteX1" fmla="*/ 272684 w 281070"/>
                <a:gd name="connsiteY1" fmla="*/ 62679 h 345224"/>
                <a:gd name="connsiteX2" fmla="*/ 214811 w 281070"/>
                <a:gd name="connsiteY2" fmla="*/ 328897 h 345224"/>
                <a:gd name="connsiteX3" fmla="*/ 12949 w 281070"/>
                <a:gd name="connsiteY3" fmla="*/ 287647 h 345224"/>
                <a:gd name="connsiteX4" fmla="*/ 47888 w 281070"/>
                <a:gd name="connsiteY4" fmla="*/ 16380 h 345224"/>
                <a:gd name="connsiteX0" fmla="*/ 46914 w 280096"/>
                <a:gd name="connsiteY0" fmla="*/ 7158 h 331796"/>
                <a:gd name="connsiteX1" fmla="*/ 271710 w 280096"/>
                <a:gd name="connsiteY1" fmla="*/ 53457 h 331796"/>
                <a:gd name="connsiteX2" fmla="*/ 213837 w 280096"/>
                <a:gd name="connsiteY2" fmla="*/ 319675 h 331796"/>
                <a:gd name="connsiteX3" fmla="*/ 11975 w 280096"/>
                <a:gd name="connsiteY3" fmla="*/ 278425 h 331796"/>
                <a:gd name="connsiteX4" fmla="*/ 25853 w 280096"/>
                <a:gd name="connsiteY4" fmla="*/ 152569 h 331796"/>
                <a:gd name="connsiteX5" fmla="*/ 46914 w 280096"/>
                <a:gd name="connsiteY5" fmla="*/ 7158 h 331796"/>
                <a:gd name="connsiteX0" fmla="*/ 45029 w 274592"/>
                <a:gd name="connsiteY0" fmla="*/ 5945 h 294425"/>
                <a:gd name="connsiteX1" fmla="*/ 269825 w 274592"/>
                <a:gd name="connsiteY1" fmla="*/ 52244 h 294425"/>
                <a:gd name="connsiteX2" fmla="*/ 185882 w 274592"/>
                <a:gd name="connsiteY2" fmla="*/ 270669 h 294425"/>
                <a:gd name="connsiteX3" fmla="*/ 10090 w 274592"/>
                <a:gd name="connsiteY3" fmla="*/ 277212 h 294425"/>
                <a:gd name="connsiteX4" fmla="*/ 23968 w 274592"/>
                <a:gd name="connsiteY4" fmla="*/ 151356 h 294425"/>
                <a:gd name="connsiteX5" fmla="*/ 45029 w 274592"/>
                <a:gd name="connsiteY5" fmla="*/ 5945 h 294425"/>
                <a:gd name="connsiteX0" fmla="*/ 45029 w 220710"/>
                <a:gd name="connsiteY0" fmla="*/ 7452 h 295931"/>
                <a:gd name="connsiteX1" fmla="*/ 206824 w 220710"/>
                <a:gd name="connsiteY1" fmla="*/ 47518 h 295931"/>
                <a:gd name="connsiteX2" fmla="*/ 185882 w 220710"/>
                <a:gd name="connsiteY2" fmla="*/ 272176 h 295931"/>
                <a:gd name="connsiteX3" fmla="*/ 10090 w 220710"/>
                <a:gd name="connsiteY3" fmla="*/ 278719 h 295931"/>
                <a:gd name="connsiteX4" fmla="*/ 23968 w 220710"/>
                <a:gd name="connsiteY4" fmla="*/ 152863 h 295931"/>
                <a:gd name="connsiteX5" fmla="*/ 45029 w 220710"/>
                <a:gd name="connsiteY5" fmla="*/ 7452 h 295931"/>
                <a:gd name="connsiteX0" fmla="*/ 43158 w 211181"/>
                <a:gd name="connsiteY0" fmla="*/ 7336 h 293532"/>
                <a:gd name="connsiteX1" fmla="*/ 204953 w 211181"/>
                <a:gd name="connsiteY1" fmla="*/ 47402 h 293532"/>
                <a:gd name="connsiteX2" fmla="*/ 157942 w 211181"/>
                <a:gd name="connsiteY2" fmla="*/ 267904 h 293532"/>
                <a:gd name="connsiteX3" fmla="*/ 8219 w 211181"/>
                <a:gd name="connsiteY3" fmla="*/ 278603 h 293532"/>
                <a:gd name="connsiteX4" fmla="*/ 22097 w 211181"/>
                <a:gd name="connsiteY4" fmla="*/ 152747 h 293532"/>
                <a:gd name="connsiteX5" fmla="*/ 43158 w 211181"/>
                <a:gd name="connsiteY5" fmla="*/ 7336 h 293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1181" h="293532">
                  <a:moveTo>
                    <a:pt x="43158" y="7336"/>
                  </a:moveTo>
                  <a:cubicBezTo>
                    <a:pt x="73634" y="-10221"/>
                    <a:pt x="185822" y="3974"/>
                    <a:pt x="204953" y="47402"/>
                  </a:cubicBezTo>
                  <a:cubicBezTo>
                    <a:pt x="224084" y="90830"/>
                    <a:pt x="196524" y="233180"/>
                    <a:pt x="157942" y="267904"/>
                  </a:cubicBezTo>
                  <a:cubicBezTo>
                    <a:pt x="119360" y="302628"/>
                    <a:pt x="30860" y="297796"/>
                    <a:pt x="8219" y="278603"/>
                  </a:cubicBezTo>
                  <a:cubicBezTo>
                    <a:pt x="-14422" y="259410"/>
                    <a:pt x="16274" y="197958"/>
                    <a:pt x="22097" y="152747"/>
                  </a:cubicBezTo>
                  <a:cubicBezTo>
                    <a:pt x="27920" y="107536"/>
                    <a:pt x="12682" y="24893"/>
                    <a:pt x="43158" y="7336"/>
                  </a:cubicBezTo>
                  <a:close/>
                </a:path>
              </a:pathLst>
            </a:cu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grpSp>
      <p:sp>
        <p:nvSpPr>
          <p:cNvPr id="5" name="Rectangle 4">
            <a:extLst>
              <a:ext uri="{FF2B5EF4-FFF2-40B4-BE49-F238E27FC236}">
                <a16:creationId xmlns:a16="http://schemas.microsoft.com/office/drawing/2014/main" id="{8484E20B-6836-4B0D-8CA0-D2643127A018}"/>
              </a:ext>
            </a:extLst>
          </p:cNvPr>
          <p:cNvSpPr/>
          <p:nvPr/>
        </p:nvSpPr>
        <p:spPr>
          <a:xfrm>
            <a:off x="7325958" y="4709336"/>
            <a:ext cx="2143327" cy="44985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A52A8A2E-153A-4B69-A4BF-3072075240A9}"/>
              </a:ext>
            </a:extLst>
          </p:cNvPr>
          <p:cNvSpPr txBox="1"/>
          <p:nvPr/>
        </p:nvSpPr>
        <p:spPr>
          <a:xfrm>
            <a:off x="7374410" y="4744610"/>
            <a:ext cx="1970677" cy="369332"/>
          </a:xfrm>
          <a:prstGeom prst="rect">
            <a:avLst/>
          </a:prstGeom>
          <a:noFill/>
        </p:spPr>
        <p:txBody>
          <a:bodyPr wrap="square" rtlCol="0">
            <a:spAutoFit/>
          </a:bodyPr>
          <a:lstStyle/>
          <a:p>
            <a:pPr algn="ctr"/>
            <a:r>
              <a:rPr lang="en-US" dirty="0">
                <a:solidFill>
                  <a:schemeClr val="bg1"/>
                </a:solidFill>
              </a:rPr>
              <a:t>± PSA q1-2y</a:t>
            </a:r>
          </a:p>
        </p:txBody>
      </p:sp>
      <p:sp>
        <p:nvSpPr>
          <p:cNvPr id="81" name="cancer screening text">
            <a:hlinkClick r:id="rId10" action="ppaction://hlinksldjump"/>
            <a:extLst>
              <a:ext uri="{FF2B5EF4-FFF2-40B4-BE49-F238E27FC236}">
                <a16:creationId xmlns:a16="http://schemas.microsoft.com/office/drawing/2014/main" id="{CD1A937F-C1D6-41CD-AE9E-5BDA3444830C}"/>
              </a:ext>
            </a:extLst>
          </p:cNvPr>
          <p:cNvSpPr txBox="1"/>
          <p:nvPr/>
        </p:nvSpPr>
        <p:spPr>
          <a:xfrm>
            <a:off x="250665" y="5045459"/>
            <a:ext cx="1967278" cy="408623"/>
          </a:xfrm>
          <a:prstGeom prst="roundRect">
            <a:avLst/>
          </a:prstGeom>
          <a:ln w="38100">
            <a:solidFill>
              <a:schemeClr val="accent2"/>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Infectious Disease</a:t>
            </a:r>
          </a:p>
        </p:txBody>
      </p:sp>
      <p:pic>
        <p:nvPicPr>
          <p:cNvPr id="82" name="Graphic 81" descr="Cursor with solid fill">
            <a:extLst>
              <a:ext uri="{FF2B5EF4-FFF2-40B4-BE49-F238E27FC236}">
                <a16:creationId xmlns:a16="http://schemas.microsoft.com/office/drawing/2014/main" id="{FE59D63E-DE77-4DDB-B6D5-6CF3D4B8214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060407" y="5238530"/>
            <a:ext cx="395274" cy="395274"/>
          </a:xfrm>
          <a:prstGeom prst="rect">
            <a:avLst/>
          </a:prstGeom>
        </p:spPr>
      </p:pic>
      <p:pic>
        <p:nvPicPr>
          <p:cNvPr id="76" name="Graphic 75" descr="Cursor with solid fill">
            <a:hlinkClick r:id="rId4" action="ppaction://hlinksldjump"/>
            <a:extLst>
              <a:ext uri="{FF2B5EF4-FFF2-40B4-BE49-F238E27FC236}">
                <a16:creationId xmlns:a16="http://schemas.microsoft.com/office/drawing/2014/main" id="{662EDADE-225D-4603-B6F2-26A7763C1AC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938530" y="2992616"/>
            <a:ext cx="395274" cy="395274"/>
          </a:xfrm>
          <a:prstGeom prst="rect">
            <a:avLst/>
          </a:prstGeom>
        </p:spPr>
      </p:pic>
      <p:pic>
        <p:nvPicPr>
          <p:cNvPr id="77" name="Graphic 76" descr="Cursor with solid fill">
            <a:hlinkClick r:id="rId6" action="ppaction://hlinksldjump"/>
            <a:extLst>
              <a:ext uri="{FF2B5EF4-FFF2-40B4-BE49-F238E27FC236}">
                <a16:creationId xmlns:a16="http://schemas.microsoft.com/office/drawing/2014/main" id="{7FCEC86D-0E80-4BAA-8CF4-D6884F8BDB8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938530" y="4114933"/>
            <a:ext cx="395274" cy="395274"/>
          </a:xfrm>
          <a:prstGeom prst="rect">
            <a:avLst/>
          </a:prstGeom>
        </p:spPr>
      </p:pic>
      <p:pic>
        <p:nvPicPr>
          <p:cNvPr id="79" name="Graphic 78" descr="Cursor with solid fill">
            <a:hlinkClick r:id="rId4" action="ppaction://hlinksldjump"/>
            <a:extLst>
              <a:ext uri="{FF2B5EF4-FFF2-40B4-BE49-F238E27FC236}">
                <a16:creationId xmlns:a16="http://schemas.microsoft.com/office/drawing/2014/main" id="{15A8CD00-CFF0-47AD-81C1-FD1FF7D00D5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938530" y="2456083"/>
            <a:ext cx="395274" cy="395274"/>
          </a:xfrm>
          <a:prstGeom prst="rect">
            <a:avLst/>
          </a:prstGeom>
        </p:spPr>
      </p:pic>
      <p:pic>
        <p:nvPicPr>
          <p:cNvPr id="80" name="Graphic 79" descr="Cursor with solid fill">
            <a:hlinkClick r:id="rId5" action="ppaction://hlinksldjump"/>
            <a:extLst>
              <a:ext uri="{FF2B5EF4-FFF2-40B4-BE49-F238E27FC236}">
                <a16:creationId xmlns:a16="http://schemas.microsoft.com/office/drawing/2014/main" id="{194055D3-61B8-4B74-B87B-EB162EB9520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938530" y="3546581"/>
            <a:ext cx="395274" cy="395274"/>
          </a:xfrm>
          <a:prstGeom prst="rect">
            <a:avLst/>
          </a:prstGeom>
        </p:spPr>
      </p:pic>
      <p:grpSp>
        <p:nvGrpSpPr>
          <p:cNvPr id="74" name="Question 2 button">
            <a:extLst>
              <a:ext uri="{FF2B5EF4-FFF2-40B4-BE49-F238E27FC236}">
                <a16:creationId xmlns:a16="http://schemas.microsoft.com/office/drawing/2014/main" id="{FAD08DBB-2401-471A-9319-2B7247E1E677}"/>
              </a:ext>
            </a:extLst>
          </p:cNvPr>
          <p:cNvGrpSpPr/>
          <p:nvPr/>
        </p:nvGrpSpPr>
        <p:grpSpPr>
          <a:xfrm>
            <a:off x="250666" y="118378"/>
            <a:ext cx="2631617" cy="641990"/>
            <a:chOff x="111732" y="1020981"/>
            <a:chExt cx="2631617" cy="641990"/>
          </a:xfrm>
        </p:grpSpPr>
        <p:sp>
          <p:nvSpPr>
            <p:cNvPr id="75" name="Question 2">
              <a:hlinkClick r:id="rId11" action="ppaction://hlinksldjump"/>
              <a:extLst>
                <a:ext uri="{FF2B5EF4-FFF2-40B4-BE49-F238E27FC236}">
                  <a16:creationId xmlns:a16="http://schemas.microsoft.com/office/drawing/2014/main" id="{481A21B4-13CA-4342-AA35-8346BEDD927D}"/>
                </a:ext>
              </a:extLst>
            </p:cNvPr>
            <p:cNvSpPr txBox="1"/>
            <p:nvPr/>
          </p:nvSpPr>
          <p:spPr>
            <a:xfrm>
              <a:off x="111732" y="1020981"/>
              <a:ext cx="2404590"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When to screen?</a:t>
              </a:r>
            </a:p>
          </p:txBody>
        </p:sp>
        <p:pic>
          <p:nvPicPr>
            <p:cNvPr id="78" name="Graphic 77" descr="Cursor with solid fill">
              <a:extLst>
                <a:ext uri="{FF2B5EF4-FFF2-40B4-BE49-F238E27FC236}">
                  <a16:creationId xmlns:a16="http://schemas.microsoft.com/office/drawing/2014/main" id="{6FDD17E2-777C-4817-B714-3CC24820792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348075" y="1267697"/>
              <a:ext cx="395274" cy="395274"/>
            </a:xfrm>
            <a:prstGeom prst="rect">
              <a:avLst/>
            </a:prstGeom>
          </p:spPr>
        </p:pic>
      </p:grpSp>
      <p:grpSp>
        <p:nvGrpSpPr>
          <p:cNvPr id="83" name="Question 2 button">
            <a:extLst>
              <a:ext uri="{FF2B5EF4-FFF2-40B4-BE49-F238E27FC236}">
                <a16:creationId xmlns:a16="http://schemas.microsoft.com/office/drawing/2014/main" id="{71847AC2-79D9-489A-A8F0-3A746A521125}"/>
              </a:ext>
            </a:extLst>
          </p:cNvPr>
          <p:cNvGrpSpPr/>
          <p:nvPr/>
        </p:nvGrpSpPr>
        <p:grpSpPr>
          <a:xfrm>
            <a:off x="250666" y="757570"/>
            <a:ext cx="2600289" cy="912726"/>
            <a:chOff x="197047" y="1133988"/>
            <a:chExt cx="2600289" cy="912726"/>
          </a:xfrm>
        </p:grpSpPr>
        <p:sp>
          <p:nvSpPr>
            <p:cNvPr id="84" name="Question 2">
              <a:hlinkClick r:id="rId12" action="ppaction://hlinksldjump"/>
              <a:extLst>
                <a:ext uri="{FF2B5EF4-FFF2-40B4-BE49-F238E27FC236}">
                  <a16:creationId xmlns:a16="http://schemas.microsoft.com/office/drawing/2014/main" id="{B42F2BB5-F479-438F-BCAB-7A5FE3EDE7F0}"/>
                </a:ext>
              </a:extLst>
            </p:cNvPr>
            <p:cNvSpPr txBox="1"/>
            <p:nvPr/>
          </p:nvSpPr>
          <p:spPr>
            <a:xfrm>
              <a:off x="197047" y="1133988"/>
              <a:ext cx="2404590" cy="715089"/>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5 domains of prevention/screening </a:t>
              </a:r>
            </a:p>
          </p:txBody>
        </p:sp>
        <p:pic>
          <p:nvPicPr>
            <p:cNvPr id="85" name="Graphic 84" descr="Cursor with solid fill">
              <a:extLst>
                <a:ext uri="{FF2B5EF4-FFF2-40B4-BE49-F238E27FC236}">
                  <a16:creationId xmlns:a16="http://schemas.microsoft.com/office/drawing/2014/main" id="{41D06D3D-7E74-4546-8806-AD9DDED11C5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402062" y="1651440"/>
              <a:ext cx="395274" cy="395274"/>
            </a:xfrm>
            <a:prstGeom prst="rect">
              <a:avLst/>
            </a:prstGeom>
          </p:spPr>
        </p:pic>
      </p:grpSp>
      <p:sp>
        <p:nvSpPr>
          <p:cNvPr id="86" name="sub-q 1 button">
            <a:hlinkClick r:id="rId13" action="ppaction://hlinksldjump"/>
            <a:extLst>
              <a:ext uri="{FF2B5EF4-FFF2-40B4-BE49-F238E27FC236}">
                <a16:creationId xmlns:a16="http://schemas.microsoft.com/office/drawing/2014/main" id="{09BB9BAC-BAA1-4A8E-A6AC-139E509BE591}"/>
              </a:ext>
            </a:extLst>
          </p:cNvPr>
          <p:cNvSpPr txBox="1"/>
          <p:nvPr/>
        </p:nvSpPr>
        <p:spPr>
          <a:xfrm>
            <a:off x="498239" y="2220595"/>
            <a:ext cx="1614098"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tx1"/>
                </a:solidFill>
              </a:rPr>
              <a:t>Breast</a:t>
            </a:r>
          </a:p>
        </p:txBody>
      </p:sp>
    </p:spTree>
    <p:extLst>
      <p:ext uri="{BB962C8B-B14F-4D97-AF65-F5344CB8AC3E}">
        <p14:creationId xmlns:p14="http://schemas.microsoft.com/office/powerpoint/2010/main" val="423815362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21"/>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xit" presetSubtype="0" fill="hold" nodeType="withEffect">
                                  <p:stCondLst>
                                    <p:cond delay="0"/>
                                  </p:stCondLst>
                                  <p:childTnLst>
                                    <p:set>
                                      <p:cBhvr>
                                        <p:cTn id="10" dur="1" fill="hold">
                                          <p:stCondLst>
                                            <p:cond delay="0"/>
                                          </p:stCondLst>
                                        </p:cTn>
                                        <p:tgtEl>
                                          <p:spTgt spid="124"/>
                                        </p:tgtEl>
                                        <p:attrNameLst>
                                          <p:attrName>style.visibility</p:attrName>
                                        </p:attrNameLst>
                                      </p:cBhvr>
                                      <p:to>
                                        <p:strVal val="hidden"/>
                                      </p:to>
                                    </p:set>
                                  </p:childTnLst>
                                </p:cTn>
                              </p:par>
                            </p:childTnLst>
                          </p:cTn>
                        </p:par>
                      </p:childTnLst>
                    </p:cTn>
                  </p:par>
                </p:childTnLst>
              </p:cTn>
              <p:nextCondLst>
                <p:cond evt="onClick" delay="0">
                  <p:tgtEl>
                    <p:spTgt spid="121"/>
                  </p:tgtEl>
                </p:cond>
              </p:nextCondLst>
            </p:seq>
            <p:seq concurrent="1" nextAc="seek">
              <p:cTn id="11" restart="whenNotActive" fill="hold" evtFilter="cancelBubble" nodeType="interactiveSeq">
                <p:stCondLst>
                  <p:cond evt="onClick" delay="0">
                    <p:tgtEl>
                      <p:spTgt spid="123"/>
                    </p:tgtEl>
                  </p:cond>
                </p:stCondLst>
                <p:endSync evt="end" delay="0">
                  <p:rtn val="all"/>
                </p:endSync>
                <p:childTnLst>
                  <p:par>
                    <p:cTn id="12" fill="hold">
                      <p:stCondLst>
                        <p:cond delay="0"/>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8"/>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childTnLst>
                                </p:cTn>
                              </p:par>
                              <p:par>
                                <p:cTn id="18" presetID="1" presetClass="exit" presetSubtype="0" fill="hold" nodeType="withEffect">
                                  <p:stCondLst>
                                    <p:cond delay="0"/>
                                  </p:stCondLst>
                                  <p:childTnLst>
                                    <p:set>
                                      <p:cBhvr>
                                        <p:cTn id="19" dur="1" fill="hold">
                                          <p:stCondLst>
                                            <p:cond delay="0"/>
                                          </p:stCondLst>
                                        </p:cTn>
                                        <p:tgtEl>
                                          <p:spTgt spid="126"/>
                                        </p:tgtEl>
                                        <p:attrNameLst>
                                          <p:attrName>style.visibility</p:attrName>
                                        </p:attrNameLst>
                                      </p:cBhvr>
                                      <p:to>
                                        <p:strVal val="hidden"/>
                                      </p:to>
                                    </p:set>
                                  </p:childTnLst>
                                </p:cTn>
                              </p:par>
                            </p:childTnLst>
                          </p:cTn>
                        </p:par>
                      </p:childTnLst>
                    </p:cTn>
                  </p:par>
                </p:childTnLst>
              </p:cTn>
              <p:nextCondLst>
                <p:cond evt="onClick" delay="0">
                  <p:tgtEl>
                    <p:spTgt spid="123"/>
                  </p:tgtEl>
                </p:cond>
              </p:nextCondLst>
            </p:seq>
            <p:seq concurrent="1" nextAc="seek">
              <p:cTn id="20" restart="whenNotActive" fill="hold" evtFilter="cancelBubble" nodeType="interactiveSeq">
                <p:stCondLst>
                  <p:cond evt="onClick" delay="0">
                    <p:tgtEl>
                      <p:spTgt spid="122"/>
                    </p:tgtEl>
                  </p:cond>
                </p:stCondLst>
                <p:endSync evt="end" delay="0">
                  <p:rtn val="all"/>
                </p:endSync>
                <p:childTnLst>
                  <p:par>
                    <p:cTn id="21" fill="hold">
                      <p:stCondLst>
                        <p:cond delay="0"/>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0"/>
                                        </p:tgtEl>
                                        <p:attrNameLst>
                                          <p:attrName>style.visibility</p:attrName>
                                        </p:attrNameLst>
                                      </p:cBhvr>
                                      <p:to>
                                        <p:strVal val="visible"/>
                                      </p:to>
                                    </p:set>
                                  </p:childTnLst>
                                </p:cTn>
                              </p:par>
                              <p:par>
                                <p:cTn id="25" presetID="1" presetClass="exit" presetSubtype="0" fill="hold" nodeType="withEffect">
                                  <p:stCondLst>
                                    <p:cond delay="0"/>
                                  </p:stCondLst>
                                  <p:childTnLst>
                                    <p:set>
                                      <p:cBhvr>
                                        <p:cTn id="26" dur="1" fill="hold">
                                          <p:stCondLst>
                                            <p:cond delay="0"/>
                                          </p:stCondLst>
                                        </p:cTn>
                                        <p:tgtEl>
                                          <p:spTgt spid="125"/>
                                        </p:tgtEl>
                                        <p:attrNameLst>
                                          <p:attrName>style.visibility</p:attrName>
                                        </p:attrNameLst>
                                      </p:cBhvr>
                                      <p:to>
                                        <p:strVal val="hidden"/>
                                      </p:to>
                                    </p:set>
                                  </p:childTnLst>
                                </p:cTn>
                              </p:par>
                            </p:childTnLst>
                          </p:cTn>
                        </p:par>
                      </p:childTnLst>
                    </p:cTn>
                  </p:par>
                </p:childTnLst>
              </p:cTn>
              <p:nextCondLst>
                <p:cond evt="onClick" delay="0">
                  <p:tgtEl>
                    <p:spTgt spid="122"/>
                  </p:tgtEl>
                </p:cond>
              </p:nextCondLst>
            </p:seq>
          </p:childTnLst>
        </p:cTn>
      </p:par>
    </p:tnLst>
    <p:bldLst>
      <p:bldP spid="48" grpId="0"/>
      <p:bldP spid="50" grpId="0"/>
      <p:bldP spid="58" grpId="0"/>
      <p:bldP spid="5" grpId="0" animBg="1"/>
      <p:bldP spid="6" grpId="0"/>
    </p:bldLst>
  </p:timing>
  <p:extLst>
    <p:ext uri="{E180D4A7-C9FB-4DFB-919C-405C955672EB}">
      <p14:showEvtLst xmlns:p14="http://schemas.microsoft.com/office/powerpoint/2010/main">
        <p14:triggerEvt type="onClick" time="1730" objId="121"/>
        <p14:triggerEvt type="onClick" time="3642" objId="122"/>
        <p14:triggerEvt type="onClick" time="5742" objId="123"/>
      </p14:showEvtLst>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cancer screening text">
            <a:hlinkClick r:id="rId3" action="ppaction://hlinksldjump"/>
            <a:extLst>
              <a:ext uri="{FF2B5EF4-FFF2-40B4-BE49-F238E27FC236}">
                <a16:creationId xmlns:a16="http://schemas.microsoft.com/office/drawing/2014/main" id="{2B0E2089-5AD0-414F-A144-A1AD49DB9BE0}"/>
              </a:ext>
            </a:extLst>
          </p:cNvPr>
          <p:cNvSpPr txBox="1"/>
          <p:nvPr/>
        </p:nvSpPr>
        <p:spPr>
          <a:xfrm>
            <a:off x="246712" y="2255680"/>
            <a:ext cx="1967278" cy="408623"/>
          </a:xfrm>
          <a:prstGeom prst="roundRect">
            <a:avLst/>
          </a:prstGeom>
          <a:solidFill>
            <a:schemeClr val="accent2"/>
          </a:solidFill>
          <a:ln w="38100">
            <a:solidFill>
              <a:schemeClr val="accent2"/>
            </a:solidFill>
          </a:ln>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chemeClr val="bg1"/>
                </a:solidFill>
              </a:rPr>
              <a:t>Infectious Disease</a:t>
            </a:r>
          </a:p>
        </p:txBody>
      </p:sp>
      <p:grpSp>
        <p:nvGrpSpPr>
          <p:cNvPr id="102" name="sub-group arrows">
            <a:extLst>
              <a:ext uri="{FF2B5EF4-FFF2-40B4-BE49-F238E27FC236}">
                <a16:creationId xmlns:a16="http://schemas.microsoft.com/office/drawing/2014/main" id="{AF740E9A-3149-4CCF-BEAC-702541D84E00}"/>
              </a:ext>
            </a:extLst>
          </p:cNvPr>
          <p:cNvGrpSpPr/>
          <p:nvPr/>
        </p:nvGrpSpPr>
        <p:grpSpPr>
          <a:xfrm>
            <a:off x="420785" y="2682079"/>
            <a:ext cx="172844" cy="903513"/>
            <a:chOff x="323629" y="4652062"/>
            <a:chExt cx="172844" cy="903513"/>
          </a:xfrm>
        </p:grpSpPr>
        <p:cxnSp>
          <p:nvCxnSpPr>
            <p:cNvPr id="103" name="Connector: Elbow 102">
              <a:extLst>
                <a:ext uri="{FF2B5EF4-FFF2-40B4-BE49-F238E27FC236}">
                  <a16:creationId xmlns:a16="http://schemas.microsoft.com/office/drawing/2014/main" id="{83062FFB-F8BC-4498-8920-EAC3CA6DC051}"/>
                </a:ext>
              </a:extLst>
            </p:cNvPr>
            <p:cNvCxnSpPr>
              <a:cxnSpLocks/>
            </p:cNvCxnSpPr>
            <p:nvPr/>
          </p:nvCxnSpPr>
          <p:spPr>
            <a:xfrm rot="16200000" flipH="1">
              <a:off x="233845" y="4741846"/>
              <a:ext cx="352412" cy="172843"/>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104" name="Connector: Elbow 103">
              <a:extLst>
                <a:ext uri="{FF2B5EF4-FFF2-40B4-BE49-F238E27FC236}">
                  <a16:creationId xmlns:a16="http://schemas.microsoft.com/office/drawing/2014/main" id="{39310222-88D8-47CE-9151-54CE2B46E5D4}"/>
                </a:ext>
              </a:extLst>
            </p:cNvPr>
            <p:cNvCxnSpPr>
              <a:cxnSpLocks/>
            </p:cNvCxnSpPr>
            <p:nvPr/>
          </p:nvCxnSpPr>
          <p:spPr>
            <a:xfrm rot="16200000" flipH="1">
              <a:off x="-37666" y="5021436"/>
              <a:ext cx="895435" cy="172843"/>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grpSp>
      <p:sp>
        <p:nvSpPr>
          <p:cNvPr id="105" name="question 4">
            <a:hlinkClick r:id="rId3" action="ppaction://hlinksldjump"/>
            <a:extLst>
              <a:ext uri="{FF2B5EF4-FFF2-40B4-BE49-F238E27FC236}">
                <a16:creationId xmlns:a16="http://schemas.microsoft.com/office/drawing/2014/main" id="{C3972CF4-7D57-4653-B2CF-755FA5636E3C}"/>
              </a:ext>
            </a:extLst>
          </p:cNvPr>
          <p:cNvSpPr txBox="1"/>
          <p:nvPr/>
        </p:nvSpPr>
        <p:spPr>
          <a:xfrm>
            <a:off x="593629" y="2835567"/>
            <a:ext cx="1734234" cy="408623"/>
          </a:xfrm>
          <a:prstGeom prst="roundRect">
            <a:avLst/>
          </a:prstGeom>
          <a:ln/>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ctr"/>
            <a:r>
              <a:rPr lang="en-US">
                <a:solidFill>
                  <a:schemeClr val="bg1"/>
                </a:solidFill>
              </a:rPr>
              <a:t>Immunizations</a:t>
            </a:r>
          </a:p>
        </p:txBody>
      </p:sp>
      <p:sp>
        <p:nvSpPr>
          <p:cNvPr id="107" name="question 4">
            <a:hlinkClick r:id="rId3" action="ppaction://hlinksldjump"/>
            <a:extLst>
              <a:ext uri="{FF2B5EF4-FFF2-40B4-BE49-F238E27FC236}">
                <a16:creationId xmlns:a16="http://schemas.microsoft.com/office/drawing/2014/main" id="{9CD18A4E-585A-4150-8654-37BBEB067753}"/>
              </a:ext>
            </a:extLst>
          </p:cNvPr>
          <p:cNvSpPr txBox="1"/>
          <p:nvPr/>
        </p:nvSpPr>
        <p:spPr>
          <a:xfrm>
            <a:off x="593629" y="3397679"/>
            <a:ext cx="173423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Infections</a:t>
            </a:r>
          </a:p>
        </p:txBody>
      </p:sp>
      <p:pic>
        <p:nvPicPr>
          <p:cNvPr id="108" name="Graphic 107" descr="Cursor with solid fill">
            <a:extLst>
              <a:ext uri="{FF2B5EF4-FFF2-40B4-BE49-F238E27FC236}">
                <a16:creationId xmlns:a16="http://schemas.microsoft.com/office/drawing/2014/main" id="{ABEA7A6D-445A-4A48-8ECD-2885B38F0A2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57585" y="3678264"/>
            <a:ext cx="395274" cy="395274"/>
          </a:xfrm>
          <a:prstGeom prst="rect">
            <a:avLst/>
          </a:prstGeom>
        </p:spPr>
      </p:pic>
      <p:grpSp>
        <p:nvGrpSpPr>
          <p:cNvPr id="3" name="Group 2">
            <a:extLst>
              <a:ext uri="{FF2B5EF4-FFF2-40B4-BE49-F238E27FC236}">
                <a16:creationId xmlns:a16="http://schemas.microsoft.com/office/drawing/2014/main" id="{9AE3D14D-2F46-4855-8246-3C14C8ECC4A1}"/>
              </a:ext>
            </a:extLst>
          </p:cNvPr>
          <p:cNvGrpSpPr/>
          <p:nvPr/>
        </p:nvGrpSpPr>
        <p:grpSpPr>
          <a:xfrm>
            <a:off x="4693298" y="5674914"/>
            <a:ext cx="7077892" cy="1027914"/>
            <a:chOff x="6718771" y="5674914"/>
            <a:chExt cx="5052419" cy="1027914"/>
          </a:xfrm>
        </p:grpSpPr>
        <p:sp>
          <p:nvSpPr>
            <p:cNvPr id="114" name="Arrow: Right 113">
              <a:extLst>
                <a:ext uri="{FF2B5EF4-FFF2-40B4-BE49-F238E27FC236}">
                  <a16:creationId xmlns:a16="http://schemas.microsoft.com/office/drawing/2014/main" id="{F962A656-4AC9-4B7C-99EE-9BDADE86495E}"/>
                </a:ext>
              </a:extLst>
            </p:cNvPr>
            <p:cNvSpPr/>
            <p:nvPr/>
          </p:nvSpPr>
          <p:spPr>
            <a:xfrm>
              <a:off x="6718771" y="5674914"/>
              <a:ext cx="5052419" cy="670356"/>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5" name="Straight Connector 114">
              <a:extLst>
                <a:ext uri="{FF2B5EF4-FFF2-40B4-BE49-F238E27FC236}">
                  <a16:creationId xmlns:a16="http://schemas.microsoft.com/office/drawing/2014/main" id="{3008A33C-94B1-4331-AAD9-2314092CA925}"/>
                </a:ext>
              </a:extLst>
            </p:cNvPr>
            <p:cNvCxnSpPr/>
            <p:nvPr/>
          </p:nvCxnSpPr>
          <p:spPr>
            <a:xfrm>
              <a:off x="6952907" y="5762432"/>
              <a:ext cx="0" cy="59321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6" name="TextBox 115">
              <a:extLst>
                <a:ext uri="{FF2B5EF4-FFF2-40B4-BE49-F238E27FC236}">
                  <a16:creationId xmlns:a16="http://schemas.microsoft.com/office/drawing/2014/main" id="{EE57341F-5C89-4A86-A8E0-2FDE2C2C387B}"/>
                </a:ext>
              </a:extLst>
            </p:cNvPr>
            <p:cNvSpPr txBox="1"/>
            <p:nvPr/>
          </p:nvSpPr>
          <p:spPr>
            <a:xfrm>
              <a:off x="6718771" y="6333496"/>
              <a:ext cx="427749" cy="369332"/>
            </a:xfrm>
            <a:prstGeom prst="rect">
              <a:avLst/>
            </a:prstGeom>
            <a:noFill/>
          </p:spPr>
          <p:txBody>
            <a:bodyPr wrap="square" rtlCol="0">
              <a:spAutoFit/>
            </a:bodyPr>
            <a:lstStyle/>
            <a:p>
              <a:pPr algn="ctr"/>
              <a:r>
                <a:rPr lang="en-US"/>
                <a:t>20</a:t>
              </a:r>
            </a:p>
          </p:txBody>
        </p:sp>
        <p:cxnSp>
          <p:nvCxnSpPr>
            <p:cNvPr id="117" name="Straight Connector 116">
              <a:extLst>
                <a:ext uri="{FF2B5EF4-FFF2-40B4-BE49-F238E27FC236}">
                  <a16:creationId xmlns:a16="http://schemas.microsoft.com/office/drawing/2014/main" id="{4D864A24-4F99-4D04-A732-8F4EFDCFEF33}"/>
                </a:ext>
              </a:extLst>
            </p:cNvPr>
            <p:cNvCxnSpPr/>
            <p:nvPr/>
          </p:nvCxnSpPr>
          <p:spPr>
            <a:xfrm>
              <a:off x="7652218" y="5762432"/>
              <a:ext cx="0" cy="59321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8" name="TextBox 117">
              <a:extLst>
                <a:ext uri="{FF2B5EF4-FFF2-40B4-BE49-F238E27FC236}">
                  <a16:creationId xmlns:a16="http://schemas.microsoft.com/office/drawing/2014/main" id="{92C17F17-4063-4D8E-BEF6-106BB812E3E6}"/>
                </a:ext>
              </a:extLst>
            </p:cNvPr>
            <p:cNvSpPr txBox="1"/>
            <p:nvPr/>
          </p:nvSpPr>
          <p:spPr>
            <a:xfrm>
              <a:off x="7427553" y="6355651"/>
              <a:ext cx="427749" cy="276496"/>
            </a:xfrm>
            <a:prstGeom prst="rect">
              <a:avLst/>
            </a:prstGeom>
            <a:noFill/>
          </p:spPr>
          <p:txBody>
            <a:bodyPr wrap="square" rtlCol="0">
              <a:spAutoFit/>
            </a:bodyPr>
            <a:lstStyle/>
            <a:p>
              <a:pPr algn="ctr"/>
              <a:r>
                <a:rPr lang="en-US"/>
                <a:t>30</a:t>
              </a:r>
            </a:p>
          </p:txBody>
        </p:sp>
        <p:cxnSp>
          <p:nvCxnSpPr>
            <p:cNvPr id="119" name="Straight Connector 118">
              <a:extLst>
                <a:ext uri="{FF2B5EF4-FFF2-40B4-BE49-F238E27FC236}">
                  <a16:creationId xmlns:a16="http://schemas.microsoft.com/office/drawing/2014/main" id="{0FA0D207-0809-47C2-B196-F77A29374315}"/>
                </a:ext>
              </a:extLst>
            </p:cNvPr>
            <p:cNvCxnSpPr/>
            <p:nvPr/>
          </p:nvCxnSpPr>
          <p:spPr>
            <a:xfrm>
              <a:off x="8348727" y="5762433"/>
              <a:ext cx="0" cy="59321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0" name="TextBox 119">
              <a:extLst>
                <a:ext uri="{FF2B5EF4-FFF2-40B4-BE49-F238E27FC236}">
                  <a16:creationId xmlns:a16="http://schemas.microsoft.com/office/drawing/2014/main" id="{6371585B-FE42-403D-B012-BACFB551870D}"/>
                </a:ext>
              </a:extLst>
            </p:cNvPr>
            <p:cNvSpPr txBox="1"/>
            <p:nvPr/>
          </p:nvSpPr>
          <p:spPr>
            <a:xfrm>
              <a:off x="8136204" y="6355652"/>
              <a:ext cx="427749" cy="276496"/>
            </a:xfrm>
            <a:prstGeom prst="rect">
              <a:avLst/>
            </a:prstGeom>
            <a:noFill/>
          </p:spPr>
          <p:txBody>
            <a:bodyPr wrap="square" rtlCol="0">
              <a:spAutoFit/>
            </a:bodyPr>
            <a:lstStyle/>
            <a:p>
              <a:pPr algn="ctr"/>
              <a:r>
                <a:rPr lang="en-US"/>
                <a:t>40</a:t>
              </a:r>
            </a:p>
          </p:txBody>
        </p:sp>
        <p:cxnSp>
          <p:nvCxnSpPr>
            <p:cNvPr id="121" name="Straight Connector 120">
              <a:extLst>
                <a:ext uri="{FF2B5EF4-FFF2-40B4-BE49-F238E27FC236}">
                  <a16:creationId xmlns:a16="http://schemas.microsoft.com/office/drawing/2014/main" id="{E7E9A09E-1DC4-437C-9B03-0FBFAC859966}"/>
                </a:ext>
              </a:extLst>
            </p:cNvPr>
            <p:cNvCxnSpPr/>
            <p:nvPr/>
          </p:nvCxnSpPr>
          <p:spPr>
            <a:xfrm>
              <a:off x="9033967" y="5762433"/>
              <a:ext cx="0" cy="59321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2" name="TextBox 121">
              <a:extLst>
                <a:ext uri="{FF2B5EF4-FFF2-40B4-BE49-F238E27FC236}">
                  <a16:creationId xmlns:a16="http://schemas.microsoft.com/office/drawing/2014/main" id="{6E78BD20-1182-4FFB-AF94-1DF24E7F4509}"/>
                </a:ext>
              </a:extLst>
            </p:cNvPr>
            <p:cNvSpPr txBox="1"/>
            <p:nvPr/>
          </p:nvSpPr>
          <p:spPr>
            <a:xfrm>
              <a:off x="8837044" y="6355652"/>
              <a:ext cx="427749" cy="276496"/>
            </a:xfrm>
            <a:prstGeom prst="rect">
              <a:avLst/>
            </a:prstGeom>
            <a:noFill/>
          </p:spPr>
          <p:txBody>
            <a:bodyPr wrap="square" rtlCol="0">
              <a:spAutoFit/>
            </a:bodyPr>
            <a:lstStyle/>
            <a:p>
              <a:pPr algn="ctr"/>
              <a:r>
                <a:rPr lang="en-US"/>
                <a:t>50</a:t>
              </a:r>
            </a:p>
          </p:txBody>
        </p:sp>
        <p:cxnSp>
          <p:nvCxnSpPr>
            <p:cNvPr id="123" name="Straight Connector 122">
              <a:extLst>
                <a:ext uri="{FF2B5EF4-FFF2-40B4-BE49-F238E27FC236}">
                  <a16:creationId xmlns:a16="http://schemas.microsoft.com/office/drawing/2014/main" id="{042E5A71-68DA-4256-AB71-5A7AFBAC6D16}"/>
                </a:ext>
              </a:extLst>
            </p:cNvPr>
            <p:cNvCxnSpPr/>
            <p:nvPr/>
          </p:nvCxnSpPr>
          <p:spPr>
            <a:xfrm>
              <a:off x="9692530" y="5762433"/>
              <a:ext cx="0" cy="59321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4" name="TextBox 123">
              <a:extLst>
                <a:ext uri="{FF2B5EF4-FFF2-40B4-BE49-F238E27FC236}">
                  <a16:creationId xmlns:a16="http://schemas.microsoft.com/office/drawing/2014/main" id="{E0299966-1B28-4412-B46E-DA3BF606E887}"/>
                </a:ext>
              </a:extLst>
            </p:cNvPr>
            <p:cNvSpPr txBox="1"/>
            <p:nvPr/>
          </p:nvSpPr>
          <p:spPr>
            <a:xfrm>
              <a:off x="9478655" y="6355653"/>
              <a:ext cx="427749" cy="276496"/>
            </a:xfrm>
            <a:prstGeom prst="rect">
              <a:avLst/>
            </a:prstGeom>
            <a:noFill/>
          </p:spPr>
          <p:txBody>
            <a:bodyPr wrap="square" rtlCol="0">
              <a:spAutoFit/>
            </a:bodyPr>
            <a:lstStyle/>
            <a:p>
              <a:pPr algn="ctr"/>
              <a:r>
                <a:rPr lang="en-US"/>
                <a:t>60</a:t>
              </a:r>
            </a:p>
          </p:txBody>
        </p:sp>
        <p:cxnSp>
          <p:nvCxnSpPr>
            <p:cNvPr id="125" name="Straight Connector 124">
              <a:extLst>
                <a:ext uri="{FF2B5EF4-FFF2-40B4-BE49-F238E27FC236}">
                  <a16:creationId xmlns:a16="http://schemas.microsoft.com/office/drawing/2014/main" id="{36F5B16E-21FA-46D6-ACDA-B052BBEA8758}"/>
                </a:ext>
              </a:extLst>
            </p:cNvPr>
            <p:cNvCxnSpPr/>
            <p:nvPr/>
          </p:nvCxnSpPr>
          <p:spPr>
            <a:xfrm>
              <a:off x="10324973" y="5762434"/>
              <a:ext cx="0" cy="59321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6" name="TextBox 125">
              <a:extLst>
                <a:ext uri="{FF2B5EF4-FFF2-40B4-BE49-F238E27FC236}">
                  <a16:creationId xmlns:a16="http://schemas.microsoft.com/office/drawing/2014/main" id="{16B8CB69-759B-4A9E-BCD7-6F74BA35B565}"/>
                </a:ext>
              </a:extLst>
            </p:cNvPr>
            <p:cNvSpPr txBox="1"/>
            <p:nvPr/>
          </p:nvSpPr>
          <p:spPr>
            <a:xfrm>
              <a:off x="10111098" y="6355654"/>
              <a:ext cx="427749" cy="276496"/>
            </a:xfrm>
            <a:prstGeom prst="rect">
              <a:avLst/>
            </a:prstGeom>
            <a:noFill/>
          </p:spPr>
          <p:txBody>
            <a:bodyPr wrap="square" rtlCol="0">
              <a:spAutoFit/>
            </a:bodyPr>
            <a:lstStyle/>
            <a:p>
              <a:pPr algn="ctr"/>
              <a:r>
                <a:rPr lang="en-US"/>
                <a:t>70</a:t>
              </a:r>
            </a:p>
          </p:txBody>
        </p:sp>
        <p:cxnSp>
          <p:nvCxnSpPr>
            <p:cNvPr id="127" name="Straight Connector 126">
              <a:extLst>
                <a:ext uri="{FF2B5EF4-FFF2-40B4-BE49-F238E27FC236}">
                  <a16:creationId xmlns:a16="http://schemas.microsoft.com/office/drawing/2014/main" id="{EDE5E2FB-04A7-4BD8-AF35-2129DEC27367}"/>
                </a:ext>
              </a:extLst>
            </p:cNvPr>
            <p:cNvCxnSpPr/>
            <p:nvPr/>
          </p:nvCxnSpPr>
          <p:spPr>
            <a:xfrm>
              <a:off x="10966596" y="5762433"/>
              <a:ext cx="0" cy="59321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8" name="TextBox 127">
              <a:extLst>
                <a:ext uri="{FF2B5EF4-FFF2-40B4-BE49-F238E27FC236}">
                  <a16:creationId xmlns:a16="http://schemas.microsoft.com/office/drawing/2014/main" id="{870A8228-4DA7-4627-946C-4DE6E34A95DB}"/>
                </a:ext>
              </a:extLst>
            </p:cNvPr>
            <p:cNvSpPr txBox="1"/>
            <p:nvPr/>
          </p:nvSpPr>
          <p:spPr>
            <a:xfrm>
              <a:off x="10752722" y="6333496"/>
              <a:ext cx="427749" cy="276496"/>
            </a:xfrm>
            <a:prstGeom prst="rect">
              <a:avLst/>
            </a:prstGeom>
            <a:noFill/>
          </p:spPr>
          <p:txBody>
            <a:bodyPr wrap="square" rtlCol="0">
              <a:spAutoFit/>
            </a:bodyPr>
            <a:lstStyle/>
            <a:p>
              <a:pPr algn="ctr"/>
              <a:r>
                <a:rPr lang="en-US"/>
                <a:t>80</a:t>
              </a:r>
            </a:p>
          </p:txBody>
        </p:sp>
      </p:grpSp>
      <p:sp>
        <p:nvSpPr>
          <p:cNvPr id="131" name="Influenza">
            <a:extLst>
              <a:ext uri="{FF2B5EF4-FFF2-40B4-BE49-F238E27FC236}">
                <a16:creationId xmlns:a16="http://schemas.microsoft.com/office/drawing/2014/main" id="{21B1571A-1004-4C19-8FB4-36573563B2B8}"/>
              </a:ext>
            </a:extLst>
          </p:cNvPr>
          <p:cNvSpPr txBox="1"/>
          <p:nvPr/>
        </p:nvSpPr>
        <p:spPr>
          <a:xfrm>
            <a:off x="2685871" y="1434751"/>
            <a:ext cx="1422301" cy="408623"/>
          </a:xfrm>
          <a:prstGeom prst="roundRect">
            <a:avLst/>
          </a:prstGeom>
          <a:ln w="38100">
            <a:solidFill>
              <a:schemeClr val="bg1">
                <a:lumMod val="65000"/>
              </a:schemeClr>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Influenza</a:t>
            </a:r>
          </a:p>
        </p:txBody>
      </p:sp>
      <p:pic>
        <p:nvPicPr>
          <p:cNvPr id="132" name="Graphic 131" descr="Cursor with solid fill">
            <a:extLst>
              <a:ext uri="{FF2B5EF4-FFF2-40B4-BE49-F238E27FC236}">
                <a16:creationId xmlns:a16="http://schemas.microsoft.com/office/drawing/2014/main" id="{E65105C7-2291-424D-9DED-C0AFC4CD77F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924353" y="1625287"/>
            <a:ext cx="395274" cy="395274"/>
          </a:xfrm>
          <a:prstGeom prst="rect">
            <a:avLst/>
          </a:prstGeom>
        </p:spPr>
      </p:pic>
      <p:sp>
        <p:nvSpPr>
          <p:cNvPr id="134" name="COVID">
            <a:extLst>
              <a:ext uri="{FF2B5EF4-FFF2-40B4-BE49-F238E27FC236}">
                <a16:creationId xmlns:a16="http://schemas.microsoft.com/office/drawing/2014/main" id="{DD6FFCDA-5A44-4475-913D-EF63029E1CAD}"/>
              </a:ext>
            </a:extLst>
          </p:cNvPr>
          <p:cNvSpPr txBox="1"/>
          <p:nvPr/>
        </p:nvSpPr>
        <p:spPr>
          <a:xfrm>
            <a:off x="2693157" y="1975968"/>
            <a:ext cx="1422301" cy="408623"/>
          </a:xfrm>
          <a:prstGeom prst="roundRect">
            <a:avLst/>
          </a:prstGeom>
          <a:ln w="38100">
            <a:solidFill>
              <a:schemeClr val="bg1">
                <a:lumMod val="65000"/>
              </a:schemeClr>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COVID</a:t>
            </a:r>
          </a:p>
        </p:txBody>
      </p:sp>
      <p:pic>
        <p:nvPicPr>
          <p:cNvPr id="135" name="Graphic 134" descr="Cursor with solid fill">
            <a:extLst>
              <a:ext uri="{FF2B5EF4-FFF2-40B4-BE49-F238E27FC236}">
                <a16:creationId xmlns:a16="http://schemas.microsoft.com/office/drawing/2014/main" id="{F2BC40AB-37FA-4EA7-9F12-CFA423A16DE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924353" y="2211097"/>
            <a:ext cx="395274" cy="395274"/>
          </a:xfrm>
          <a:prstGeom prst="rect">
            <a:avLst/>
          </a:prstGeom>
        </p:spPr>
      </p:pic>
      <p:sp>
        <p:nvSpPr>
          <p:cNvPr id="137" name="Tdap">
            <a:extLst>
              <a:ext uri="{FF2B5EF4-FFF2-40B4-BE49-F238E27FC236}">
                <a16:creationId xmlns:a16="http://schemas.microsoft.com/office/drawing/2014/main" id="{605D7D08-CD7F-40F6-8D12-D199D2B5C834}"/>
              </a:ext>
            </a:extLst>
          </p:cNvPr>
          <p:cNvSpPr txBox="1"/>
          <p:nvPr/>
        </p:nvSpPr>
        <p:spPr>
          <a:xfrm>
            <a:off x="2699689" y="2528470"/>
            <a:ext cx="1422301" cy="408623"/>
          </a:xfrm>
          <a:prstGeom prst="roundRect">
            <a:avLst/>
          </a:prstGeom>
          <a:ln w="38100">
            <a:solidFill>
              <a:schemeClr val="bg1">
                <a:lumMod val="65000"/>
              </a:schemeClr>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Tdap or Td</a:t>
            </a:r>
          </a:p>
        </p:txBody>
      </p:sp>
      <p:pic>
        <p:nvPicPr>
          <p:cNvPr id="138" name="Graphic 137" descr="Cursor with solid fill">
            <a:extLst>
              <a:ext uri="{FF2B5EF4-FFF2-40B4-BE49-F238E27FC236}">
                <a16:creationId xmlns:a16="http://schemas.microsoft.com/office/drawing/2014/main" id="{A2CC2376-205F-4E76-8939-8B40ADAF3E1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924353" y="2740861"/>
            <a:ext cx="395274" cy="395274"/>
          </a:xfrm>
          <a:prstGeom prst="rect">
            <a:avLst/>
          </a:prstGeom>
        </p:spPr>
      </p:pic>
      <p:sp>
        <p:nvSpPr>
          <p:cNvPr id="140" name="HPV">
            <a:extLst>
              <a:ext uri="{FF2B5EF4-FFF2-40B4-BE49-F238E27FC236}">
                <a16:creationId xmlns:a16="http://schemas.microsoft.com/office/drawing/2014/main" id="{56718252-7368-4BBD-B850-972E467ED98D}"/>
              </a:ext>
            </a:extLst>
          </p:cNvPr>
          <p:cNvSpPr txBox="1"/>
          <p:nvPr/>
        </p:nvSpPr>
        <p:spPr>
          <a:xfrm>
            <a:off x="2699689" y="3635583"/>
            <a:ext cx="1422301" cy="408623"/>
          </a:xfrm>
          <a:prstGeom prst="roundRect">
            <a:avLst/>
          </a:prstGeom>
          <a:ln w="38100">
            <a:solidFill>
              <a:schemeClr val="accent5">
                <a:lumMod val="50000"/>
              </a:schemeClr>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HPV</a:t>
            </a:r>
          </a:p>
        </p:txBody>
      </p:sp>
      <p:pic>
        <p:nvPicPr>
          <p:cNvPr id="141" name="Graphic 140" descr="Cursor with solid fill">
            <a:extLst>
              <a:ext uri="{FF2B5EF4-FFF2-40B4-BE49-F238E27FC236}">
                <a16:creationId xmlns:a16="http://schemas.microsoft.com/office/drawing/2014/main" id="{F09027A0-9A2F-4D06-A47F-03C782E949F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924353" y="3838816"/>
            <a:ext cx="395274" cy="395274"/>
          </a:xfrm>
          <a:prstGeom prst="rect">
            <a:avLst/>
          </a:prstGeom>
        </p:spPr>
      </p:pic>
      <p:sp>
        <p:nvSpPr>
          <p:cNvPr id="143" name="PNA">
            <a:extLst>
              <a:ext uri="{FF2B5EF4-FFF2-40B4-BE49-F238E27FC236}">
                <a16:creationId xmlns:a16="http://schemas.microsoft.com/office/drawing/2014/main" id="{B33185DD-A329-41F2-A7A1-46232D38347D}"/>
              </a:ext>
            </a:extLst>
          </p:cNvPr>
          <p:cNvSpPr txBox="1"/>
          <p:nvPr/>
        </p:nvSpPr>
        <p:spPr>
          <a:xfrm>
            <a:off x="2709405" y="4409788"/>
            <a:ext cx="1422301" cy="408623"/>
          </a:xfrm>
          <a:prstGeom prst="roundRect">
            <a:avLst/>
          </a:prstGeom>
          <a:ln w="38100">
            <a:solidFill>
              <a:schemeClr val="accent5">
                <a:lumMod val="50000"/>
              </a:schemeClr>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Pneumonia</a:t>
            </a:r>
          </a:p>
        </p:txBody>
      </p:sp>
      <p:pic>
        <p:nvPicPr>
          <p:cNvPr id="144" name="Graphic 143" descr="Cursor with solid fill">
            <a:extLst>
              <a:ext uri="{FF2B5EF4-FFF2-40B4-BE49-F238E27FC236}">
                <a16:creationId xmlns:a16="http://schemas.microsoft.com/office/drawing/2014/main" id="{0542D091-163F-4169-ADE2-487B239ADC0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934069" y="4596989"/>
            <a:ext cx="395274" cy="395274"/>
          </a:xfrm>
          <a:prstGeom prst="rect">
            <a:avLst/>
          </a:prstGeom>
        </p:spPr>
      </p:pic>
      <p:sp>
        <p:nvSpPr>
          <p:cNvPr id="146" name="Shingles">
            <a:extLst>
              <a:ext uri="{FF2B5EF4-FFF2-40B4-BE49-F238E27FC236}">
                <a16:creationId xmlns:a16="http://schemas.microsoft.com/office/drawing/2014/main" id="{ECAE2E46-7EB7-4C32-9C87-5E0267BCFCA7}"/>
              </a:ext>
            </a:extLst>
          </p:cNvPr>
          <p:cNvSpPr txBox="1"/>
          <p:nvPr/>
        </p:nvSpPr>
        <p:spPr>
          <a:xfrm>
            <a:off x="2699689" y="5303582"/>
            <a:ext cx="1422301" cy="408623"/>
          </a:xfrm>
          <a:prstGeom prst="roundRect">
            <a:avLst/>
          </a:prstGeom>
          <a:ln w="38100">
            <a:solidFill>
              <a:schemeClr val="accent5">
                <a:lumMod val="50000"/>
              </a:schemeClr>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Shingles</a:t>
            </a:r>
          </a:p>
        </p:txBody>
      </p:sp>
      <p:pic>
        <p:nvPicPr>
          <p:cNvPr id="147" name="Graphic 146" descr="Cursor with solid fill">
            <a:extLst>
              <a:ext uri="{FF2B5EF4-FFF2-40B4-BE49-F238E27FC236}">
                <a16:creationId xmlns:a16="http://schemas.microsoft.com/office/drawing/2014/main" id="{4F14FC18-5889-4A90-951B-486599FA9FE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934069" y="5525362"/>
            <a:ext cx="395274" cy="395274"/>
          </a:xfrm>
          <a:prstGeom prst="rect">
            <a:avLst/>
          </a:prstGeom>
        </p:spPr>
      </p:pic>
      <p:sp>
        <p:nvSpPr>
          <p:cNvPr id="9" name="Arrow: Right 8">
            <a:extLst>
              <a:ext uri="{FF2B5EF4-FFF2-40B4-BE49-F238E27FC236}">
                <a16:creationId xmlns:a16="http://schemas.microsoft.com/office/drawing/2014/main" id="{59E89A9A-9A27-4D33-8B64-2EB3529C216A}"/>
              </a:ext>
            </a:extLst>
          </p:cNvPr>
          <p:cNvSpPr/>
          <p:nvPr/>
        </p:nvSpPr>
        <p:spPr>
          <a:xfrm>
            <a:off x="4693295" y="1412872"/>
            <a:ext cx="6909613" cy="486260"/>
          </a:xfrm>
          <a:prstGeom prst="rightArrow">
            <a:avLst>
              <a:gd name="adj1" fmla="val 73605"/>
              <a:gd name="adj2" fmla="val 50000"/>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t>Annually</a:t>
            </a:r>
          </a:p>
        </p:txBody>
      </p:sp>
      <p:sp>
        <p:nvSpPr>
          <p:cNvPr id="149" name="Arrow: Right 148">
            <a:extLst>
              <a:ext uri="{FF2B5EF4-FFF2-40B4-BE49-F238E27FC236}">
                <a16:creationId xmlns:a16="http://schemas.microsoft.com/office/drawing/2014/main" id="{B95C75F7-6594-445B-BBB1-8AB27D610C96}"/>
              </a:ext>
            </a:extLst>
          </p:cNvPr>
          <p:cNvSpPr/>
          <p:nvPr/>
        </p:nvSpPr>
        <p:spPr>
          <a:xfrm>
            <a:off x="4693296" y="1963643"/>
            <a:ext cx="6909613" cy="486260"/>
          </a:xfrm>
          <a:prstGeom prst="rightArrow">
            <a:avLst>
              <a:gd name="adj1" fmla="val 73605"/>
              <a:gd name="adj2" fmla="val 50000"/>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At least every fall</a:t>
            </a:r>
          </a:p>
        </p:txBody>
      </p:sp>
      <p:sp>
        <p:nvSpPr>
          <p:cNvPr id="150" name="Arrow: Right 149">
            <a:extLst>
              <a:ext uri="{FF2B5EF4-FFF2-40B4-BE49-F238E27FC236}">
                <a16:creationId xmlns:a16="http://schemas.microsoft.com/office/drawing/2014/main" id="{7F39EDEE-0CA7-4F7B-AA2B-E3C427522D56}"/>
              </a:ext>
            </a:extLst>
          </p:cNvPr>
          <p:cNvSpPr/>
          <p:nvPr/>
        </p:nvSpPr>
        <p:spPr>
          <a:xfrm>
            <a:off x="4693296" y="2483269"/>
            <a:ext cx="6909613" cy="486260"/>
          </a:xfrm>
          <a:prstGeom prst="rightArrow">
            <a:avLst>
              <a:gd name="adj1" fmla="val 73605"/>
              <a:gd name="adj2" fmla="val 50000"/>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t>Tdap once → Td or Tdap q10y</a:t>
            </a:r>
          </a:p>
        </p:txBody>
      </p:sp>
      <p:sp>
        <p:nvSpPr>
          <p:cNvPr id="13" name="Rectangle 12">
            <a:extLst>
              <a:ext uri="{FF2B5EF4-FFF2-40B4-BE49-F238E27FC236}">
                <a16:creationId xmlns:a16="http://schemas.microsoft.com/office/drawing/2014/main" id="{9CB551FA-2677-494C-B32E-FB63BD9FF1A9}"/>
              </a:ext>
            </a:extLst>
          </p:cNvPr>
          <p:cNvSpPr/>
          <p:nvPr/>
        </p:nvSpPr>
        <p:spPr>
          <a:xfrm>
            <a:off x="5639841" y="3662120"/>
            <a:ext cx="1721658" cy="382086"/>
          </a:xfrm>
          <a:prstGeom prst="rect">
            <a:avLst/>
          </a:prstGeom>
          <a:pattFill prst="wdUpDiag">
            <a:fgClr>
              <a:schemeClr val="accent5"/>
            </a:fgClr>
            <a:bgClr>
              <a:schemeClr val="bg1"/>
            </a:bgClr>
          </a:patt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4" name="Everyone">
            <a:extLst>
              <a:ext uri="{FF2B5EF4-FFF2-40B4-BE49-F238E27FC236}">
                <a16:creationId xmlns:a16="http://schemas.microsoft.com/office/drawing/2014/main" id="{C48FB746-5FB9-42FB-8BB2-A31CD0B2BFC4}"/>
              </a:ext>
            </a:extLst>
          </p:cNvPr>
          <p:cNvSpPr/>
          <p:nvPr/>
        </p:nvSpPr>
        <p:spPr>
          <a:xfrm>
            <a:off x="5021297" y="767277"/>
            <a:ext cx="2167128" cy="445766"/>
          </a:xfrm>
          <a:prstGeom prst="roundRect">
            <a:avLst/>
          </a:prstGeom>
          <a:ln w="38100"/>
          <a:effectLst>
            <a:outerShdw blurRad="50800" dist="38100" dir="2700000" algn="tl" rotWithShape="0">
              <a:prstClr val="black">
                <a:alpha val="40000"/>
              </a:prstClr>
            </a:outerShdw>
          </a:effectLst>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t>Everyone</a:t>
            </a:r>
          </a:p>
        </p:txBody>
      </p:sp>
      <p:sp>
        <p:nvSpPr>
          <p:cNvPr id="152" name="Specific indications">
            <a:extLst>
              <a:ext uri="{FF2B5EF4-FFF2-40B4-BE49-F238E27FC236}">
                <a16:creationId xmlns:a16="http://schemas.microsoft.com/office/drawing/2014/main" id="{87FAEBF4-2122-4975-AA16-FE8CBB1969FE}"/>
              </a:ext>
            </a:extLst>
          </p:cNvPr>
          <p:cNvSpPr/>
          <p:nvPr/>
        </p:nvSpPr>
        <p:spPr>
          <a:xfrm>
            <a:off x="8031515" y="767277"/>
            <a:ext cx="2166200" cy="445766"/>
          </a:xfrm>
          <a:prstGeom prst="roundRect">
            <a:avLst/>
          </a:prstGeom>
          <a:ln w="38100">
            <a:solidFill>
              <a:schemeClr val="accent5">
                <a:lumMod val="50000"/>
              </a:schemeClr>
            </a:solidFill>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t>Specific Indications</a:t>
            </a:r>
          </a:p>
        </p:txBody>
      </p:sp>
      <p:pic>
        <p:nvPicPr>
          <p:cNvPr id="154" name="Graphic 153" descr="Cursor with solid fill">
            <a:extLst>
              <a:ext uri="{FF2B5EF4-FFF2-40B4-BE49-F238E27FC236}">
                <a16:creationId xmlns:a16="http://schemas.microsoft.com/office/drawing/2014/main" id="{DEDBAFE3-21A8-4504-A0FD-3A0402E8ACC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90788" y="1029373"/>
            <a:ext cx="395274" cy="395274"/>
          </a:xfrm>
          <a:prstGeom prst="rect">
            <a:avLst/>
          </a:prstGeom>
        </p:spPr>
      </p:pic>
      <p:pic>
        <p:nvPicPr>
          <p:cNvPr id="155" name="Graphic 154" descr="Cursor with solid fill">
            <a:extLst>
              <a:ext uri="{FF2B5EF4-FFF2-40B4-BE49-F238E27FC236}">
                <a16:creationId xmlns:a16="http://schemas.microsoft.com/office/drawing/2014/main" id="{887BB346-271E-425A-9BE4-F4ABE3C1121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010293" y="1029373"/>
            <a:ext cx="395274" cy="395274"/>
          </a:xfrm>
          <a:prstGeom prst="rect">
            <a:avLst/>
          </a:prstGeom>
        </p:spPr>
      </p:pic>
      <p:sp>
        <p:nvSpPr>
          <p:cNvPr id="11" name="Rectangle 10">
            <a:extLst>
              <a:ext uri="{FF2B5EF4-FFF2-40B4-BE49-F238E27FC236}">
                <a16:creationId xmlns:a16="http://schemas.microsoft.com/office/drawing/2014/main" id="{BBF8EA9B-AD7D-4860-B6BB-1DEFF5A2900C}"/>
              </a:ext>
            </a:extLst>
          </p:cNvPr>
          <p:cNvSpPr/>
          <p:nvPr/>
        </p:nvSpPr>
        <p:spPr>
          <a:xfrm>
            <a:off x="4826642" y="3662120"/>
            <a:ext cx="813199" cy="382086"/>
          </a:xfrm>
          <a:prstGeom prst="rect">
            <a:avLst/>
          </a:prstGeom>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E956936E-26DA-4E6E-B2C0-3221D8BFB285}"/>
              </a:ext>
            </a:extLst>
          </p:cNvPr>
          <p:cNvSpPr txBox="1"/>
          <p:nvPr/>
        </p:nvSpPr>
        <p:spPr>
          <a:xfrm>
            <a:off x="7494355" y="3654150"/>
            <a:ext cx="4276836" cy="369332"/>
          </a:xfrm>
          <a:prstGeom prst="rect">
            <a:avLst/>
          </a:prstGeom>
          <a:noFill/>
        </p:spPr>
        <p:txBody>
          <a:bodyPr wrap="square" rtlCol="0">
            <a:spAutoFit/>
          </a:bodyPr>
          <a:lstStyle/>
          <a:p>
            <a:r>
              <a:rPr lang="en-US" dirty="0"/>
              <a:t>19-26y (preferred) or up to 45y </a:t>
            </a:r>
          </a:p>
        </p:txBody>
      </p:sp>
      <p:sp>
        <p:nvSpPr>
          <p:cNvPr id="42" name="Rectangle 41">
            <a:extLst>
              <a:ext uri="{FF2B5EF4-FFF2-40B4-BE49-F238E27FC236}">
                <a16:creationId xmlns:a16="http://schemas.microsoft.com/office/drawing/2014/main" id="{1D842CBC-83CD-4C7E-B4E0-ECF29EE6E538}"/>
              </a:ext>
            </a:extLst>
          </p:cNvPr>
          <p:cNvSpPr/>
          <p:nvPr/>
        </p:nvSpPr>
        <p:spPr>
          <a:xfrm>
            <a:off x="7936637" y="4139022"/>
            <a:ext cx="3545449" cy="35503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Rectangle 156">
            <a:extLst>
              <a:ext uri="{FF2B5EF4-FFF2-40B4-BE49-F238E27FC236}">
                <a16:creationId xmlns:a16="http://schemas.microsoft.com/office/drawing/2014/main" id="{96098509-D38F-4003-90D4-138A20087F42}"/>
              </a:ext>
            </a:extLst>
          </p:cNvPr>
          <p:cNvSpPr/>
          <p:nvPr/>
        </p:nvSpPr>
        <p:spPr>
          <a:xfrm>
            <a:off x="7868460" y="5274138"/>
            <a:ext cx="3623342" cy="35503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u="sng" dirty="0"/>
              <a:t>&gt;</a:t>
            </a:r>
            <a:r>
              <a:rPr lang="en-US" dirty="0"/>
              <a:t>50y, 2 doses (2-6 </a:t>
            </a:r>
            <a:r>
              <a:rPr lang="en-US" dirty="0" err="1"/>
              <a:t>mos</a:t>
            </a:r>
            <a:r>
              <a:rPr lang="en-US" dirty="0"/>
              <a:t> apart)</a:t>
            </a:r>
          </a:p>
        </p:txBody>
      </p:sp>
      <p:sp>
        <p:nvSpPr>
          <p:cNvPr id="63" name="Rectangle 62">
            <a:extLst>
              <a:ext uri="{FF2B5EF4-FFF2-40B4-BE49-F238E27FC236}">
                <a16:creationId xmlns:a16="http://schemas.microsoft.com/office/drawing/2014/main" id="{195E80C9-481C-46A1-BB38-6F27714EB0B9}"/>
              </a:ext>
            </a:extLst>
          </p:cNvPr>
          <p:cNvSpPr/>
          <p:nvPr/>
        </p:nvSpPr>
        <p:spPr>
          <a:xfrm>
            <a:off x="4826642" y="4139021"/>
            <a:ext cx="3109995" cy="35503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PCV21 for 19-49y  w/chronic </a:t>
            </a:r>
            <a:r>
              <a:rPr lang="en-US" dirty="0" err="1"/>
              <a:t>dz</a:t>
            </a:r>
            <a:endParaRPr lang="en-US" dirty="0"/>
          </a:p>
        </p:txBody>
      </p:sp>
      <p:sp>
        <p:nvSpPr>
          <p:cNvPr id="66" name="TextBox 65">
            <a:extLst>
              <a:ext uri="{FF2B5EF4-FFF2-40B4-BE49-F238E27FC236}">
                <a16:creationId xmlns:a16="http://schemas.microsoft.com/office/drawing/2014/main" id="{F59137C3-44A3-47AA-84CD-31E335C4CF95}"/>
              </a:ext>
            </a:extLst>
          </p:cNvPr>
          <p:cNvSpPr txBox="1"/>
          <p:nvPr/>
        </p:nvSpPr>
        <p:spPr>
          <a:xfrm>
            <a:off x="8124558" y="4114416"/>
            <a:ext cx="3239043" cy="369332"/>
          </a:xfrm>
          <a:prstGeom prst="rect">
            <a:avLst/>
          </a:prstGeom>
          <a:noFill/>
        </p:spPr>
        <p:txBody>
          <a:bodyPr wrap="square" rtlCol="0">
            <a:spAutoFit/>
          </a:bodyPr>
          <a:lstStyle/>
          <a:p>
            <a:pPr algn="ctr"/>
            <a:r>
              <a:rPr lang="en-US" dirty="0">
                <a:solidFill>
                  <a:schemeClr val="bg1"/>
                </a:solidFill>
              </a:rPr>
              <a:t>PCV21 for &gt;50y </a:t>
            </a:r>
          </a:p>
        </p:txBody>
      </p:sp>
      <p:sp>
        <p:nvSpPr>
          <p:cNvPr id="68" name="Rectangle 67">
            <a:extLst>
              <a:ext uri="{FF2B5EF4-FFF2-40B4-BE49-F238E27FC236}">
                <a16:creationId xmlns:a16="http://schemas.microsoft.com/office/drawing/2014/main" id="{4ADBB432-E9A0-41E0-944D-7888FE6974F2}"/>
              </a:ext>
            </a:extLst>
          </p:cNvPr>
          <p:cNvSpPr/>
          <p:nvPr/>
        </p:nvSpPr>
        <p:spPr>
          <a:xfrm>
            <a:off x="3589654" y="-11561"/>
            <a:ext cx="7162528" cy="6391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Infectious Disease Prevention – Immunizations</a:t>
            </a:r>
          </a:p>
        </p:txBody>
      </p:sp>
      <p:grpSp>
        <p:nvGrpSpPr>
          <p:cNvPr id="109" name="Question 2 button">
            <a:extLst>
              <a:ext uri="{FF2B5EF4-FFF2-40B4-BE49-F238E27FC236}">
                <a16:creationId xmlns:a16="http://schemas.microsoft.com/office/drawing/2014/main" id="{B1AA107C-6ACA-4CF0-8015-E1EEC176CF50}"/>
              </a:ext>
            </a:extLst>
          </p:cNvPr>
          <p:cNvGrpSpPr/>
          <p:nvPr/>
        </p:nvGrpSpPr>
        <p:grpSpPr>
          <a:xfrm>
            <a:off x="250666" y="118378"/>
            <a:ext cx="2631617" cy="641990"/>
            <a:chOff x="111732" y="1020981"/>
            <a:chExt cx="2631617" cy="641990"/>
          </a:xfrm>
        </p:grpSpPr>
        <p:sp>
          <p:nvSpPr>
            <p:cNvPr id="110" name="Question 2">
              <a:hlinkClick r:id="rId6" action="ppaction://hlinksldjump"/>
              <a:extLst>
                <a:ext uri="{FF2B5EF4-FFF2-40B4-BE49-F238E27FC236}">
                  <a16:creationId xmlns:a16="http://schemas.microsoft.com/office/drawing/2014/main" id="{74BC7D51-5600-42FC-BE33-9D81AB7B1E7A}"/>
                </a:ext>
              </a:extLst>
            </p:cNvPr>
            <p:cNvSpPr txBox="1"/>
            <p:nvPr/>
          </p:nvSpPr>
          <p:spPr>
            <a:xfrm>
              <a:off x="111732" y="1020981"/>
              <a:ext cx="2404590"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When to screen?</a:t>
              </a:r>
            </a:p>
          </p:txBody>
        </p:sp>
        <p:pic>
          <p:nvPicPr>
            <p:cNvPr id="111" name="Graphic 110" descr="Cursor with solid fill">
              <a:extLst>
                <a:ext uri="{FF2B5EF4-FFF2-40B4-BE49-F238E27FC236}">
                  <a16:creationId xmlns:a16="http://schemas.microsoft.com/office/drawing/2014/main" id="{3301E1E6-9FDF-4DDE-8768-B9487A50711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348075" y="1267697"/>
              <a:ext cx="395274" cy="395274"/>
            </a:xfrm>
            <a:prstGeom prst="rect">
              <a:avLst/>
            </a:prstGeom>
          </p:spPr>
        </p:pic>
      </p:grpSp>
      <p:grpSp>
        <p:nvGrpSpPr>
          <p:cNvPr id="112" name="Question 2 button">
            <a:extLst>
              <a:ext uri="{FF2B5EF4-FFF2-40B4-BE49-F238E27FC236}">
                <a16:creationId xmlns:a16="http://schemas.microsoft.com/office/drawing/2014/main" id="{D1755FF8-FC9C-46D8-B5A6-9C41A90E817F}"/>
              </a:ext>
            </a:extLst>
          </p:cNvPr>
          <p:cNvGrpSpPr/>
          <p:nvPr/>
        </p:nvGrpSpPr>
        <p:grpSpPr>
          <a:xfrm>
            <a:off x="250666" y="757570"/>
            <a:ext cx="2600289" cy="912726"/>
            <a:chOff x="197047" y="1133988"/>
            <a:chExt cx="2600289" cy="912726"/>
          </a:xfrm>
        </p:grpSpPr>
        <p:sp>
          <p:nvSpPr>
            <p:cNvPr id="113" name="Question 2">
              <a:hlinkClick r:id="rId7" action="ppaction://hlinksldjump"/>
              <a:extLst>
                <a:ext uri="{FF2B5EF4-FFF2-40B4-BE49-F238E27FC236}">
                  <a16:creationId xmlns:a16="http://schemas.microsoft.com/office/drawing/2014/main" id="{A4C3C1EA-3CFD-49FC-AA65-3F6514505B69}"/>
                </a:ext>
              </a:extLst>
            </p:cNvPr>
            <p:cNvSpPr txBox="1"/>
            <p:nvPr/>
          </p:nvSpPr>
          <p:spPr>
            <a:xfrm>
              <a:off x="197047" y="1133988"/>
              <a:ext cx="2404590" cy="715089"/>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5 domains of prevention/screening </a:t>
              </a:r>
            </a:p>
          </p:txBody>
        </p:sp>
        <p:pic>
          <p:nvPicPr>
            <p:cNvPr id="129" name="Graphic 128" descr="Cursor with solid fill">
              <a:extLst>
                <a:ext uri="{FF2B5EF4-FFF2-40B4-BE49-F238E27FC236}">
                  <a16:creationId xmlns:a16="http://schemas.microsoft.com/office/drawing/2014/main" id="{C6395E05-BCDD-412E-A8CB-7654E51944F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402062" y="1651440"/>
              <a:ext cx="395274" cy="395274"/>
            </a:xfrm>
            <a:prstGeom prst="rect">
              <a:avLst/>
            </a:prstGeom>
          </p:spPr>
        </p:pic>
      </p:grpSp>
      <p:sp>
        <p:nvSpPr>
          <p:cNvPr id="130" name="cancer screening text">
            <a:hlinkClick r:id="rId8" action="ppaction://hlinksldjump"/>
            <a:extLst>
              <a:ext uri="{FF2B5EF4-FFF2-40B4-BE49-F238E27FC236}">
                <a16:creationId xmlns:a16="http://schemas.microsoft.com/office/drawing/2014/main" id="{7E50B3E4-1F6D-4077-85E6-63A5C9E759B9}"/>
              </a:ext>
            </a:extLst>
          </p:cNvPr>
          <p:cNvSpPr txBox="1"/>
          <p:nvPr/>
        </p:nvSpPr>
        <p:spPr>
          <a:xfrm>
            <a:off x="250666" y="1662473"/>
            <a:ext cx="1967278" cy="408623"/>
          </a:xfrm>
          <a:prstGeom prst="roundRect">
            <a:avLst/>
          </a:prstGeom>
          <a:ln w="38100">
            <a:solidFill>
              <a:schemeClr val="accent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Cancer Screening</a:t>
            </a:r>
          </a:p>
        </p:txBody>
      </p:sp>
      <p:pic>
        <p:nvPicPr>
          <p:cNvPr id="171" name="Graphic 170" descr="Cursor with solid fill">
            <a:extLst>
              <a:ext uri="{FF2B5EF4-FFF2-40B4-BE49-F238E27FC236}">
                <a16:creationId xmlns:a16="http://schemas.microsoft.com/office/drawing/2014/main" id="{5C879B1D-07D3-4A84-91F7-13E4F35C344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16353" y="1858576"/>
            <a:ext cx="395274" cy="395274"/>
          </a:xfrm>
          <a:prstGeom prst="rect">
            <a:avLst/>
          </a:prstGeom>
        </p:spPr>
      </p:pic>
      <p:grpSp>
        <p:nvGrpSpPr>
          <p:cNvPr id="172" name="Cases button">
            <a:extLst>
              <a:ext uri="{FF2B5EF4-FFF2-40B4-BE49-F238E27FC236}">
                <a16:creationId xmlns:a16="http://schemas.microsoft.com/office/drawing/2014/main" id="{D2E2E84F-3895-46A5-8D02-FF46B144BE41}"/>
              </a:ext>
            </a:extLst>
          </p:cNvPr>
          <p:cNvGrpSpPr/>
          <p:nvPr/>
        </p:nvGrpSpPr>
        <p:grpSpPr>
          <a:xfrm>
            <a:off x="307848" y="6121182"/>
            <a:ext cx="2082939" cy="606260"/>
            <a:chOff x="207505" y="5523621"/>
            <a:chExt cx="2082939" cy="606260"/>
          </a:xfrm>
        </p:grpSpPr>
        <p:sp>
          <p:nvSpPr>
            <p:cNvPr id="173" name="Cases">
              <a:hlinkClick r:id="rId9" action="ppaction://hlinksldjump"/>
              <a:extLst>
                <a:ext uri="{FF2B5EF4-FFF2-40B4-BE49-F238E27FC236}">
                  <a16:creationId xmlns:a16="http://schemas.microsoft.com/office/drawing/2014/main" id="{C9ACCC4D-6DAD-44C8-A5E3-C59D8F61018F}"/>
                </a:ext>
              </a:extLst>
            </p:cNvPr>
            <p:cNvSpPr txBox="1"/>
            <p:nvPr/>
          </p:nvSpPr>
          <p:spPr>
            <a:xfrm>
              <a:off x="207505" y="5523621"/>
              <a:ext cx="1910096"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CASES</a:t>
              </a:r>
            </a:p>
          </p:txBody>
        </p:sp>
        <p:pic>
          <p:nvPicPr>
            <p:cNvPr id="174" name="Graphic 173" descr="Cursor with solid fill">
              <a:hlinkClick r:id="rId9" action="ppaction://hlinksldjump"/>
              <a:extLst>
                <a:ext uri="{FF2B5EF4-FFF2-40B4-BE49-F238E27FC236}">
                  <a16:creationId xmlns:a16="http://schemas.microsoft.com/office/drawing/2014/main" id="{59633574-361A-41E6-9D83-175A2F8B948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895170" y="5734607"/>
              <a:ext cx="395274" cy="395274"/>
            </a:xfrm>
            <a:prstGeom prst="rect">
              <a:avLst/>
            </a:prstGeom>
          </p:spPr>
        </p:pic>
      </p:grpSp>
      <p:sp>
        <p:nvSpPr>
          <p:cNvPr id="70" name="Rectangle 69">
            <a:extLst>
              <a:ext uri="{FF2B5EF4-FFF2-40B4-BE49-F238E27FC236}">
                <a16:creationId xmlns:a16="http://schemas.microsoft.com/office/drawing/2014/main" id="{D8020635-DCC4-4EE5-AE4B-A10E35403436}"/>
              </a:ext>
            </a:extLst>
          </p:cNvPr>
          <p:cNvSpPr/>
          <p:nvPr/>
        </p:nvSpPr>
        <p:spPr>
          <a:xfrm>
            <a:off x="4703011" y="4518662"/>
            <a:ext cx="6788791" cy="507999"/>
          </a:xfrm>
          <a:prstGeom prst="rect">
            <a:avLst/>
          </a:prstGeom>
          <a:gradFill flip="none" rotWithShape="1">
            <a:gsLst>
              <a:gs pos="60000">
                <a:schemeClr val="accent5"/>
              </a:gs>
              <a:gs pos="100000">
                <a:schemeClr val="accent5">
                  <a:lumMod val="75000"/>
                </a:schemeClr>
              </a:gs>
            </a:gsLst>
            <a:lin ang="0" scaled="1"/>
            <a:tileRect/>
          </a:gra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lnSpc>
                <a:spcPts val="1800"/>
              </a:lnSpc>
            </a:pPr>
            <a:r>
              <a:rPr lang="en-US" dirty="0"/>
              <a:t>PCV21 for immunocompromised, asplenia, CSF leak, cochlear implant</a:t>
            </a:r>
          </a:p>
        </p:txBody>
      </p:sp>
      <p:sp>
        <p:nvSpPr>
          <p:cNvPr id="72" name="Rectangle 71">
            <a:extLst>
              <a:ext uri="{FF2B5EF4-FFF2-40B4-BE49-F238E27FC236}">
                <a16:creationId xmlns:a16="http://schemas.microsoft.com/office/drawing/2014/main" id="{E6B7E085-26C3-4D3D-B4FD-3492FDD6EA20}"/>
              </a:ext>
            </a:extLst>
          </p:cNvPr>
          <p:cNvSpPr/>
          <p:nvPr/>
        </p:nvSpPr>
        <p:spPr>
          <a:xfrm>
            <a:off x="8755117" y="3111129"/>
            <a:ext cx="2593622" cy="35503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E1C3902C-DA4D-4821-A392-56C72EBF46E9}"/>
              </a:ext>
            </a:extLst>
          </p:cNvPr>
          <p:cNvSpPr/>
          <p:nvPr/>
        </p:nvSpPr>
        <p:spPr>
          <a:xfrm>
            <a:off x="4693295" y="3111128"/>
            <a:ext cx="4061822" cy="35503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19-59y if not immune</a:t>
            </a:r>
          </a:p>
        </p:txBody>
      </p:sp>
      <p:sp>
        <p:nvSpPr>
          <p:cNvPr id="74" name="TextBox 73">
            <a:extLst>
              <a:ext uri="{FF2B5EF4-FFF2-40B4-BE49-F238E27FC236}">
                <a16:creationId xmlns:a16="http://schemas.microsoft.com/office/drawing/2014/main" id="{68AEEF48-67EB-451C-A635-D717509EAFF9}"/>
              </a:ext>
            </a:extLst>
          </p:cNvPr>
          <p:cNvSpPr txBox="1"/>
          <p:nvPr/>
        </p:nvSpPr>
        <p:spPr>
          <a:xfrm>
            <a:off x="9126465" y="3086523"/>
            <a:ext cx="2103790" cy="369332"/>
          </a:xfrm>
          <a:prstGeom prst="rect">
            <a:avLst/>
          </a:prstGeom>
          <a:noFill/>
        </p:spPr>
        <p:txBody>
          <a:bodyPr wrap="square" rtlCol="0">
            <a:spAutoFit/>
          </a:bodyPr>
          <a:lstStyle/>
          <a:p>
            <a:pPr algn="ctr"/>
            <a:r>
              <a:rPr lang="en-US" u="sng" dirty="0">
                <a:solidFill>
                  <a:schemeClr val="bg1"/>
                </a:solidFill>
              </a:rPr>
              <a:t>&gt;</a:t>
            </a:r>
            <a:r>
              <a:rPr lang="en-US" dirty="0">
                <a:solidFill>
                  <a:schemeClr val="bg1"/>
                </a:solidFill>
              </a:rPr>
              <a:t>60 only if high risk</a:t>
            </a:r>
          </a:p>
        </p:txBody>
      </p:sp>
      <p:sp>
        <p:nvSpPr>
          <p:cNvPr id="76" name="HBV">
            <a:extLst>
              <a:ext uri="{FF2B5EF4-FFF2-40B4-BE49-F238E27FC236}">
                <a16:creationId xmlns:a16="http://schemas.microsoft.com/office/drawing/2014/main" id="{554517AB-D00E-42E2-ABBF-414300E58AC8}"/>
              </a:ext>
            </a:extLst>
          </p:cNvPr>
          <p:cNvSpPr txBox="1"/>
          <p:nvPr/>
        </p:nvSpPr>
        <p:spPr>
          <a:xfrm>
            <a:off x="2702010" y="3093744"/>
            <a:ext cx="1422301" cy="408623"/>
          </a:xfrm>
          <a:prstGeom prst="roundRect">
            <a:avLst/>
          </a:prstGeom>
          <a:ln w="38100">
            <a:solidFill>
              <a:schemeClr val="accent5">
                <a:lumMod val="50000"/>
              </a:schemeClr>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Hep B</a:t>
            </a:r>
          </a:p>
        </p:txBody>
      </p:sp>
      <p:pic>
        <p:nvPicPr>
          <p:cNvPr id="77" name="Graphic 76" descr="Cursor with solid fill">
            <a:extLst>
              <a:ext uri="{FF2B5EF4-FFF2-40B4-BE49-F238E27FC236}">
                <a16:creationId xmlns:a16="http://schemas.microsoft.com/office/drawing/2014/main" id="{8662D5B3-907C-4FEE-AFB6-D74DD077119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926674" y="3296977"/>
            <a:ext cx="395274" cy="395274"/>
          </a:xfrm>
          <a:prstGeom prst="rect">
            <a:avLst/>
          </a:prstGeom>
        </p:spPr>
      </p:pic>
    </p:spTree>
    <p:extLst>
      <p:ext uri="{BB962C8B-B14F-4D97-AF65-F5344CB8AC3E}">
        <p14:creationId xmlns:p14="http://schemas.microsoft.com/office/powerpoint/2010/main" val="55250102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4"/>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8"/>
                                        </p:tgtEl>
                                        <p:attrNameLst>
                                          <p:attrName>style.visibility</p:attrName>
                                        </p:attrNameLst>
                                      </p:cBhvr>
                                      <p:to>
                                        <p:strVal val="visible"/>
                                      </p:to>
                                    </p:set>
                                  </p:childTnLst>
                                </p:cTn>
                              </p:par>
                              <p:par>
                                <p:cTn id="17" presetID="1" presetClass="exit" presetSubtype="0" fill="hold" nodeType="withEffect">
                                  <p:stCondLst>
                                    <p:cond delay="0"/>
                                  </p:stCondLst>
                                  <p:childTnLst>
                                    <p:set>
                                      <p:cBhvr>
                                        <p:cTn id="18" dur="1" fill="hold">
                                          <p:stCondLst>
                                            <p:cond delay="0"/>
                                          </p:stCondLst>
                                        </p:cTn>
                                        <p:tgtEl>
                                          <p:spTgt spid="154"/>
                                        </p:tgtEl>
                                        <p:attrNameLst>
                                          <p:attrName>style.visibility</p:attrName>
                                        </p:attrNameLst>
                                      </p:cBhvr>
                                      <p:to>
                                        <p:strVal val="hidden"/>
                                      </p:to>
                                    </p:set>
                                  </p:childTnLst>
                                </p:cTn>
                              </p:par>
                            </p:childTnLst>
                          </p:cTn>
                        </p:par>
                      </p:childTnLst>
                    </p:cTn>
                  </p:par>
                </p:childTnLst>
              </p:cTn>
              <p:nextCondLst>
                <p:cond evt="onClick" delay="0">
                  <p:tgtEl>
                    <p:spTgt spid="14"/>
                  </p:tgtEl>
                </p:cond>
              </p:nextCondLst>
            </p:seq>
            <p:seq concurrent="1" nextAc="seek">
              <p:cTn id="19" restart="whenNotActive" fill="hold" evtFilter="cancelBubble" nodeType="interactiveSeq">
                <p:stCondLst>
                  <p:cond evt="onClick" delay="0">
                    <p:tgtEl>
                      <p:spTgt spid="131"/>
                    </p:tgtEl>
                  </p:cond>
                </p:stCondLst>
                <p:endSync evt="end" delay="0">
                  <p:rtn val="all"/>
                </p:endSync>
                <p:childTnLst>
                  <p:par>
                    <p:cTn id="20" fill="hold">
                      <p:stCondLst>
                        <p:cond delay="0"/>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childTnLst>
                                </p:cTn>
                              </p:par>
                              <p:par>
                                <p:cTn id="24" presetID="1" presetClass="exit" presetSubtype="0" fill="hold" nodeType="withEffect">
                                  <p:stCondLst>
                                    <p:cond delay="0"/>
                                  </p:stCondLst>
                                  <p:childTnLst>
                                    <p:set>
                                      <p:cBhvr>
                                        <p:cTn id="25" dur="1" fill="hold">
                                          <p:stCondLst>
                                            <p:cond delay="0"/>
                                          </p:stCondLst>
                                        </p:cTn>
                                        <p:tgtEl>
                                          <p:spTgt spid="132"/>
                                        </p:tgtEl>
                                        <p:attrNameLst>
                                          <p:attrName>style.visibility</p:attrName>
                                        </p:attrNameLst>
                                      </p:cBhvr>
                                      <p:to>
                                        <p:strVal val="hidden"/>
                                      </p:to>
                                    </p:set>
                                  </p:childTnLst>
                                </p:cTn>
                              </p:par>
                            </p:childTnLst>
                          </p:cTn>
                        </p:par>
                      </p:childTnLst>
                    </p:cTn>
                  </p:par>
                </p:childTnLst>
              </p:cTn>
              <p:nextCondLst>
                <p:cond evt="onClick" delay="0">
                  <p:tgtEl>
                    <p:spTgt spid="131"/>
                  </p:tgtEl>
                </p:cond>
              </p:nextCondLst>
            </p:seq>
            <p:seq concurrent="1" nextAc="seek">
              <p:cTn id="26" restart="whenNotActive" fill="hold" evtFilter="cancelBubble" nodeType="interactiveSeq">
                <p:stCondLst>
                  <p:cond evt="onClick" delay="0">
                    <p:tgtEl>
                      <p:spTgt spid="134"/>
                    </p:tgtEl>
                  </p:cond>
                </p:stCondLst>
                <p:endSync evt="end" delay="0">
                  <p:rtn val="all"/>
                </p:endSync>
                <p:childTnLst>
                  <p:par>
                    <p:cTn id="27" fill="hold">
                      <p:stCondLst>
                        <p:cond delay="0"/>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9"/>
                                        </p:tgtEl>
                                        <p:attrNameLst>
                                          <p:attrName>style.visibility</p:attrName>
                                        </p:attrNameLst>
                                      </p:cBhvr>
                                      <p:to>
                                        <p:strVal val="visible"/>
                                      </p:to>
                                    </p:set>
                                  </p:childTnLst>
                                </p:cTn>
                              </p:par>
                              <p:par>
                                <p:cTn id="31" presetID="1" presetClass="exit" presetSubtype="0" fill="hold" nodeType="withEffect">
                                  <p:stCondLst>
                                    <p:cond delay="0"/>
                                  </p:stCondLst>
                                  <p:childTnLst>
                                    <p:set>
                                      <p:cBhvr>
                                        <p:cTn id="32" dur="1" fill="hold">
                                          <p:stCondLst>
                                            <p:cond delay="0"/>
                                          </p:stCondLst>
                                        </p:cTn>
                                        <p:tgtEl>
                                          <p:spTgt spid="135"/>
                                        </p:tgtEl>
                                        <p:attrNameLst>
                                          <p:attrName>style.visibility</p:attrName>
                                        </p:attrNameLst>
                                      </p:cBhvr>
                                      <p:to>
                                        <p:strVal val="hidden"/>
                                      </p:to>
                                    </p:set>
                                  </p:childTnLst>
                                </p:cTn>
                              </p:par>
                            </p:childTnLst>
                          </p:cTn>
                        </p:par>
                      </p:childTnLst>
                    </p:cTn>
                  </p:par>
                </p:childTnLst>
              </p:cTn>
              <p:nextCondLst>
                <p:cond evt="onClick" delay="0">
                  <p:tgtEl>
                    <p:spTgt spid="134"/>
                  </p:tgtEl>
                </p:cond>
              </p:nextCondLst>
            </p:seq>
            <p:seq concurrent="1" nextAc="seek">
              <p:cTn id="33" restart="whenNotActive" fill="hold" evtFilter="cancelBubble" nodeType="interactiveSeq">
                <p:stCondLst>
                  <p:cond evt="onClick" delay="0">
                    <p:tgtEl>
                      <p:spTgt spid="137"/>
                    </p:tgtEl>
                  </p:cond>
                </p:stCondLst>
                <p:endSync evt="end" delay="0">
                  <p:rtn val="all"/>
                </p:endSync>
                <p:childTnLst>
                  <p:par>
                    <p:cTn id="34" fill="hold">
                      <p:stCondLst>
                        <p:cond delay="0"/>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50"/>
                                        </p:tgtEl>
                                        <p:attrNameLst>
                                          <p:attrName>style.visibility</p:attrName>
                                        </p:attrNameLst>
                                      </p:cBhvr>
                                      <p:to>
                                        <p:strVal val="visible"/>
                                      </p:to>
                                    </p:set>
                                  </p:childTnLst>
                                </p:cTn>
                              </p:par>
                              <p:par>
                                <p:cTn id="38" presetID="1" presetClass="exit" presetSubtype="0" fill="hold" nodeType="withEffect">
                                  <p:stCondLst>
                                    <p:cond delay="0"/>
                                  </p:stCondLst>
                                  <p:childTnLst>
                                    <p:set>
                                      <p:cBhvr>
                                        <p:cTn id="39" dur="1" fill="hold">
                                          <p:stCondLst>
                                            <p:cond delay="0"/>
                                          </p:stCondLst>
                                        </p:cTn>
                                        <p:tgtEl>
                                          <p:spTgt spid="138"/>
                                        </p:tgtEl>
                                        <p:attrNameLst>
                                          <p:attrName>style.visibility</p:attrName>
                                        </p:attrNameLst>
                                      </p:cBhvr>
                                      <p:to>
                                        <p:strVal val="hidden"/>
                                      </p:to>
                                    </p:set>
                                  </p:childTnLst>
                                </p:cTn>
                              </p:par>
                            </p:childTnLst>
                          </p:cTn>
                        </p:par>
                      </p:childTnLst>
                    </p:cTn>
                  </p:par>
                </p:childTnLst>
              </p:cTn>
              <p:nextCondLst>
                <p:cond evt="onClick" delay="0">
                  <p:tgtEl>
                    <p:spTgt spid="137"/>
                  </p:tgtEl>
                </p:cond>
              </p:nextCondLst>
            </p:seq>
            <p:seq concurrent="1" nextAc="seek">
              <p:cTn id="40" restart="whenNotActive" fill="hold" evtFilter="cancelBubble" nodeType="interactiveSeq">
                <p:stCondLst>
                  <p:cond evt="onClick" delay="0">
                    <p:tgtEl>
                      <p:spTgt spid="152"/>
                    </p:tgtEl>
                  </p:cond>
                </p:stCondLst>
                <p:endSync evt="end" delay="0">
                  <p:rtn val="all"/>
                </p:endSync>
                <p:childTnLst>
                  <p:par>
                    <p:cTn id="41" fill="hold">
                      <p:stCondLst>
                        <p:cond delay="0"/>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4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41"/>
                                        </p:tgtEl>
                                        <p:attrNameLst>
                                          <p:attrName>style.visibility</p:attrName>
                                        </p:attrNameLst>
                                      </p:cBhvr>
                                      <p:to>
                                        <p:strVal val="visible"/>
                                      </p:to>
                                    </p:set>
                                  </p:childTnLst>
                                </p:cTn>
                              </p:par>
                              <p:par>
                                <p:cTn id="47" presetID="1" presetClass="exit" presetSubtype="0" fill="hold" nodeType="withEffect">
                                  <p:stCondLst>
                                    <p:cond delay="0"/>
                                  </p:stCondLst>
                                  <p:childTnLst>
                                    <p:set>
                                      <p:cBhvr>
                                        <p:cTn id="48" dur="1" fill="hold">
                                          <p:stCondLst>
                                            <p:cond delay="0"/>
                                          </p:stCondLst>
                                        </p:cTn>
                                        <p:tgtEl>
                                          <p:spTgt spid="155"/>
                                        </p:tgtEl>
                                        <p:attrNameLst>
                                          <p:attrName>style.visibility</p:attrName>
                                        </p:attrNameLst>
                                      </p:cBhvr>
                                      <p:to>
                                        <p:strVal val="hidden"/>
                                      </p:to>
                                    </p:set>
                                  </p:childTnLst>
                                </p:cTn>
                              </p:par>
                              <p:par>
                                <p:cTn id="49" presetID="1" presetClass="entr" presetSubtype="0" fill="hold" nodeType="withEffect">
                                  <p:stCondLst>
                                    <p:cond delay="0"/>
                                  </p:stCondLst>
                                  <p:childTnLst>
                                    <p:set>
                                      <p:cBhvr>
                                        <p:cTn id="50" dur="1" fill="hold">
                                          <p:stCondLst>
                                            <p:cond delay="0"/>
                                          </p:stCondLst>
                                        </p:cTn>
                                        <p:tgtEl>
                                          <p:spTgt spid="7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43"/>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4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46"/>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47"/>
                                        </p:tgtEl>
                                        <p:attrNameLst>
                                          <p:attrName>style.visibility</p:attrName>
                                        </p:attrNameLst>
                                      </p:cBhvr>
                                      <p:to>
                                        <p:strVal val="visible"/>
                                      </p:to>
                                    </p:set>
                                  </p:childTnLst>
                                </p:cTn>
                              </p:par>
                            </p:childTnLst>
                          </p:cTn>
                        </p:par>
                      </p:childTnLst>
                    </p:cTn>
                  </p:par>
                </p:childTnLst>
              </p:cTn>
              <p:nextCondLst>
                <p:cond evt="onClick" delay="0">
                  <p:tgtEl>
                    <p:spTgt spid="152"/>
                  </p:tgtEl>
                </p:cond>
              </p:nextCondLst>
            </p:seq>
            <p:seq concurrent="1" nextAc="seek">
              <p:cTn id="61" restart="whenNotActive" fill="hold" evtFilter="cancelBubble" nodeType="interactiveSeq">
                <p:stCondLst>
                  <p:cond evt="onClick" delay="0">
                    <p:tgtEl>
                      <p:spTgt spid="143"/>
                    </p:tgtEl>
                  </p:cond>
                </p:stCondLst>
                <p:endSync evt="end" delay="0">
                  <p:rtn val="all"/>
                </p:endSync>
                <p:childTnLst>
                  <p:par>
                    <p:cTn id="62" fill="hold">
                      <p:stCondLst>
                        <p:cond delay="0"/>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42"/>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63"/>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70"/>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66"/>
                                        </p:tgtEl>
                                        <p:attrNameLst>
                                          <p:attrName>style.visibility</p:attrName>
                                        </p:attrNameLst>
                                      </p:cBhvr>
                                      <p:to>
                                        <p:strVal val="visible"/>
                                      </p:to>
                                    </p:set>
                                  </p:childTnLst>
                                </p:cTn>
                              </p:par>
                              <p:par>
                                <p:cTn id="72" presetID="1" presetClass="exit" presetSubtype="0" fill="hold" nodeType="withEffect">
                                  <p:stCondLst>
                                    <p:cond delay="0"/>
                                  </p:stCondLst>
                                  <p:childTnLst>
                                    <p:set>
                                      <p:cBhvr>
                                        <p:cTn id="73" dur="1" fill="hold">
                                          <p:stCondLst>
                                            <p:cond delay="0"/>
                                          </p:stCondLst>
                                        </p:cTn>
                                        <p:tgtEl>
                                          <p:spTgt spid="144"/>
                                        </p:tgtEl>
                                        <p:attrNameLst>
                                          <p:attrName>style.visibility</p:attrName>
                                        </p:attrNameLst>
                                      </p:cBhvr>
                                      <p:to>
                                        <p:strVal val="hidden"/>
                                      </p:to>
                                    </p:set>
                                  </p:childTnLst>
                                </p:cTn>
                              </p:par>
                            </p:childTnLst>
                          </p:cTn>
                        </p:par>
                      </p:childTnLst>
                    </p:cTn>
                  </p:par>
                </p:childTnLst>
              </p:cTn>
              <p:nextCondLst>
                <p:cond evt="onClick" delay="0">
                  <p:tgtEl>
                    <p:spTgt spid="143"/>
                  </p:tgtEl>
                </p:cond>
              </p:nextCondLst>
            </p:seq>
            <p:seq concurrent="1" nextAc="seek">
              <p:cTn id="74" restart="whenNotActive" fill="hold" evtFilter="cancelBubble" nodeType="interactiveSeq">
                <p:stCondLst>
                  <p:cond evt="onClick" delay="0">
                    <p:tgtEl>
                      <p:spTgt spid="146"/>
                    </p:tgtEl>
                  </p:cond>
                </p:stCondLst>
                <p:endSync evt="end" delay="0">
                  <p:rtn val="all"/>
                </p:endSync>
                <p:childTnLst>
                  <p:par>
                    <p:cTn id="75" fill="hold">
                      <p:stCondLst>
                        <p:cond delay="0"/>
                      </p:stCondLst>
                      <p:childTnLst>
                        <p:par>
                          <p:cTn id="76" fill="hold">
                            <p:stCondLst>
                              <p:cond delay="0"/>
                            </p:stCondLst>
                            <p:childTnLst>
                              <p:par>
                                <p:cTn id="77" presetID="1" presetClass="exit" presetSubtype="0" fill="hold" nodeType="withEffect">
                                  <p:stCondLst>
                                    <p:cond delay="0"/>
                                  </p:stCondLst>
                                  <p:childTnLst>
                                    <p:set>
                                      <p:cBhvr>
                                        <p:cTn id="78" dur="1" fill="hold">
                                          <p:stCondLst>
                                            <p:cond delay="0"/>
                                          </p:stCondLst>
                                        </p:cTn>
                                        <p:tgtEl>
                                          <p:spTgt spid="147"/>
                                        </p:tgtEl>
                                        <p:attrNameLst>
                                          <p:attrName>style.visibility</p:attrName>
                                        </p:attrNameLst>
                                      </p:cBhvr>
                                      <p:to>
                                        <p:strVal val="hidden"/>
                                      </p:to>
                                    </p:set>
                                  </p:childTnLst>
                                </p:cTn>
                              </p:par>
                              <p:par>
                                <p:cTn id="79" presetID="1" presetClass="entr" presetSubtype="0" fill="hold" grpId="0" nodeType="withEffect">
                                  <p:stCondLst>
                                    <p:cond delay="0"/>
                                  </p:stCondLst>
                                  <p:childTnLst>
                                    <p:set>
                                      <p:cBhvr>
                                        <p:cTn id="80" dur="1" fill="hold">
                                          <p:stCondLst>
                                            <p:cond delay="0"/>
                                          </p:stCondLst>
                                        </p:cTn>
                                        <p:tgtEl>
                                          <p:spTgt spid="157"/>
                                        </p:tgtEl>
                                        <p:attrNameLst>
                                          <p:attrName>style.visibility</p:attrName>
                                        </p:attrNameLst>
                                      </p:cBhvr>
                                      <p:to>
                                        <p:strVal val="visible"/>
                                      </p:to>
                                    </p:set>
                                  </p:childTnLst>
                                </p:cTn>
                              </p:par>
                            </p:childTnLst>
                          </p:cTn>
                        </p:par>
                      </p:childTnLst>
                    </p:cTn>
                  </p:par>
                </p:childTnLst>
              </p:cTn>
              <p:nextCondLst>
                <p:cond evt="onClick" delay="0">
                  <p:tgtEl>
                    <p:spTgt spid="146"/>
                  </p:tgtEl>
                </p:cond>
              </p:nextCondLst>
            </p:seq>
            <p:seq concurrent="1" nextAc="seek">
              <p:cTn id="81" restart="whenNotActive" fill="hold" evtFilter="cancelBubble" nodeType="interactiveSeq">
                <p:stCondLst>
                  <p:cond evt="onClick" delay="0">
                    <p:tgtEl>
                      <p:spTgt spid="140"/>
                    </p:tgtEl>
                  </p:cond>
                </p:stCondLst>
                <p:endSync evt="end" delay="0">
                  <p:rtn val="all"/>
                </p:endSync>
                <p:childTnLst>
                  <p:par>
                    <p:cTn id="82" fill="hold">
                      <p:stCondLst>
                        <p:cond delay="0"/>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11"/>
                                        </p:tgtEl>
                                        <p:attrNameLst>
                                          <p:attrName>style.visibility</p:attrName>
                                        </p:attrNameLst>
                                      </p:cBhvr>
                                      <p:to>
                                        <p:strVal val="visible"/>
                                      </p:to>
                                    </p:set>
                                  </p:childTnLst>
                                </p:cTn>
                              </p:par>
                              <p:par>
                                <p:cTn id="86" presetID="1" presetClass="exit" presetSubtype="0" fill="hold" nodeType="withEffect">
                                  <p:stCondLst>
                                    <p:cond delay="0"/>
                                  </p:stCondLst>
                                  <p:childTnLst>
                                    <p:set>
                                      <p:cBhvr>
                                        <p:cTn id="87" dur="1" fill="hold">
                                          <p:stCondLst>
                                            <p:cond delay="0"/>
                                          </p:stCondLst>
                                        </p:cTn>
                                        <p:tgtEl>
                                          <p:spTgt spid="141"/>
                                        </p:tgtEl>
                                        <p:attrNameLst>
                                          <p:attrName>style.visibility</p:attrName>
                                        </p:attrNameLst>
                                      </p:cBhvr>
                                      <p:to>
                                        <p:strVal val="hidden"/>
                                      </p:to>
                                    </p:set>
                                  </p:childTnLst>
                                </p:cTn>
                              </p:par>
                              <p:par>
                                <p:cTn id="88" presetID="1" presetClass="entr" presetSubtype="0" fill="hold" grpId="0" nodeType="withEffect">
                                  <p:stCondLst>
                                    <p:cond delay="0"/>
                                  </p:stCondLst>
                                  <p:childTnLst>
                                    <p:set>
                                      <p:cBhvr>
                                        <p:cTn id="89" dur="1" fill="hold">
                                          <p:stCondLst>
                                            <p:cond delay="0"/>
                                          </p:stCondLst>
                                        </p:cTn>
                                        <p:tgtEl>
                                          <p:spTgt spid="40"/>
                                        </p:tgtEl>
                                        <p:attrNameLst>
                                          <p:attrName>style.visibility</p:attrName>
                                        </p:attrNameLst>
                                      </p:cBhvr>
                                      <p:to>
                                        <p:strVal val="visible"/>
                                      </p:to>
                                    </p:set>
                                  </p:childTnLst>
                                </p:cTn>
                              </p:par>
                              <p:par>
                                <p:cTn id="90" presetID="1" presetClass="entr" presetSubtype="0" fill="hold" grpId="0" nodeType="withEffect">
                                  <p:stCondLst>
                                    <p:cond delay="0"/>
                                  </p:stCondLst>
                                  <p:childTnLst>
                                    <p:set>
                                      <p:cBhvr>
                                        <p:cTn id="91" dur="1" fill="hold">
                                          <p:stCondLst>
                                            <p:cond delay="0"/>
                                          </p:stCondLst>
                                        </p:cTn>
                                        <p:tgtEl>
                                          <p:spTgt spid="13"/>
                                        </p:tgtEl>
                                        <p:attrNameLst>
                                          <p:attrName>style.visibility</p:attrName>
                                        </p:attrNameLst>
                                      </p:cBhvr>
                                      <p:to>
                                        <p:strVal val="visible"/>
                                      </p:to>
                                    </p:set>
                                  </p:childTnLst>
                                </p:cTn>
                              </p:par>
                            </p:childTnLst>
                          </p:cTn>
                        </p:par>
                      </p:childTnLst>
                    </p:cTn>
                  </p:par>
                </p:childTnLst>
              </p:cTn>
              <p:nextCondLst>
                <p:cond evt="onClick" delay="0">
                  <p:tgtEl>
                    <p:spTgt spid="140"/>
                  </p:tgtEl>
                </p:cond>
              </p:nextCondLst>
            </p:seq>
            <p:seq concurrent="1" nextAc="seek">
              <p:cTn id="92" restart="whenNotActive" fill="hold" evtFilter="cancelBubble" nodeType="interactiveSeq">
                <p:stCondLst>
                  <p:cond evt="onClick" delay="0">
                    <p:tgtEl>
                      <p:spTgt spid="76"/>
                    </p:tgtEl>
                  </p:cond>
                </p:stCondLst>
                <p:endSync evt="end" delay="0">
                  <p:rtn val="all"/>
                </p:endSync>
                <p:childTnLst>
                  <p:par>
                    <p:cTn id="93" fill="hold">
                      <p:stCondLst>
                        <p:cond delay="0"/>
                      </p:stCondLst>
                      <p:childTnLst>
                        <p:par>
                          <p:cTn id="94" fill="hold">
                            <p:stCondLst>
                              <p:cond delay="0"/>
                            </p:stCondLst>
                            <p:childTnLst>
                              <p:par>
                                <p:cTn id="95" presetID="1" presetClass="exit" presetSubtype="0" fill="hold" nodeType="clickEffect">
                                  <p:stCondLst>
                                    <p:cond delay="0"/>
                                  </p:stCondLst>
                                  <p:childTnLst>
                                    <p:set>
                                      <p:cBhvr>
                                        <p:cTn id="96" dur="1" fill="hold">
                                          <p:stCondLst>
                                            <p:cond delay="0"/>
                                          </p:stCondLst>
                                        </p:cTn>
                                        <p:tgtEl>
                                          <p:spTgt spid="77"/>
                                        </p:tgtEl>
                                        <p:attrNameLst>
                                          <p:attrName>style.visibility</p:attrName>
                                        </p:attrNameLst>
                                      </p:cBhvr>
                                      <p:to>
                                        <p:strVal val="hidden"/>
                                      </p:to>
                                    </p:set>
                                  </p:childTnLst>
                                </p:cTn>
                              </p:par>
                              <p:par>
                                <p:cTn id="97" presetID="1" presetClass="entr" presetSubtype="0" fill="hold" grpId="0" nodeType="withEffect">
                                  <p:stCondLst>
                                    <p:cond delay="0"/>
                                  </p:stCondLst>
                                  <p:childTnLst>
                                    <p:set>
                                      <p:cBhvr>
                                        <p:cTn id="98" dur="1" fill="hold">
                                          <p:stCondLst>
                                            <p:cond delay="0"/>
                                          </p:stCondLst>
                                        </p:cTn>
                                        <p:tgtEl>
                                          <p:spTgt spid="72"/>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73"/>
                                        </p:tgtEl>
                                        <p:attrNameLst>
                                          <p:attrName>style.visibility</p:attrName>
                                        </p:attrNameLst>
                                      </p:cBhvr>
                                      <p:to>
                                        <p:strVal val="visible"/>
                                      </p:to>
                                    </p:set>
                                  </p:childTnLst>
                                </p:cTn>
                              </p:par>
                            </p:childTnLst>
                          </p:cTn>
                        </p:par>
                      </p:childTnLst>
                    </p:cTn>
                  </p:par>
                </p:childTnLst>
              </p:cTn>
              <p:nextCondLst>
                <p:cond evt="onClick" delay="0">
                  <p:tgtEl>
                    <p:spTgt spid="76"/>
                  </p:tgtEl>
                </p:cond>
              </p:nextCondLst>
            </p:seq>
          </p:childTnLst>
        </p:cTn>
      </p:par>
    </p:tnLst>
    <p:bldLst>
      <p:bldP spid="131" grpId="0" animBg="1"/>
      <p:bldP spid="134" grpId="0" animBg="1"/>
      <p:bldP spid="137" grpId="0" animBg="1"/>
      <p:bldP spid="140" grpId="0" animBg="1"/>
      <p:bldP spid="143" grpId="0" animBg="1"/>
      <p:bldP spid="146" grpId="0" animBg="1"/>
      <p:bldP spid="9" grpId="0" animBg="1"/>
      <p:bldP spid="149" grpId="0" animBg="1"/>
      <p:bldP spid="150" grpId="0" animBg="1"/>
      <p:bldP spid="13" grpId="0" animBg="1"/>
      <p:bldP spid="11" grpId="0" animBg="1"/>
      <p:bldP spid="40" grpId="0"/>
      <p:bldP spid="42" grpId="0" animBg="1"/>
      <p:bldP spid="157" grpId="0" animBg="1"/>
      <p:bldP spid="63" grpId="0" animBg="1"/>
      <p:bldP spid="66" grpId="0"/>
      <p:bldP spid="70" grpId="0" animBg="1"/>
      <p:bldP spid="72" grpId="0" animBg="1"/>
      <p:bldP spid="73" grpId="0" animBg="1"/>
      <p:bldP spid="7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AE3D14D-2F46-4855-8246-3C14C8ECC4A1}"/>
              </a:ext>
            </a:extLst>
          </p:cNvPr>
          <p:cNvGrpSpPr/>
          <p:nvPr/>
        </p:nvGrpSpPr>
        <p:grpSpPr>
          <a:xfrm>
            <a:off x="4693298" y="5674914"/>
            <a:ext cx="7077892" cy="1027914"/>
            <a:chOff x="6718771" y="5674914"/>
            <a:chExt cx="5052419" cy="1027914"/>
          </a:xfrm>
        </p:grpSpPr>
        <p:sp>
          <p:nvSpPr>
            <p:cNvPr id="114" name="Arrow: Right 113">
              <a:extLst>
                <a:ext uri="{FF2B5EF4-FFF2-40B4-BE49-F238E27FC236}">
                  <a16:creationId xmlns:a16="http://schemas.microsoft.com/office/drawing/2014/main" id="{F962A656-4AC9-4B7C-99EE-9BDADE86495E}"/>
                </a:ext>
              </a:extLst>
            </p:cNvPr>
            <p:cNvSpPr/>
            <p:nvPr/>
          </p:nvSpPr>
          <p:spPr>
            <a:xfrm>
              <a:off x="6718771" y="5674914"/>
              <a:ext cx="5052419" cy="670356"/>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5" name="Straight Connector 114">
              <a:extLst>
                <a:ext uri="{FF2B5EF4-FFF2-40B4-BE49-F238E27FC236}">
                  <a16:creationId xmlns:a16="http://schemas.microsoft.com/office/drawing/2014/main" id="{3008A33C-94B1-4331-AAD9-2314092CA925}"/>
                </a:ext>
              </a:extLst>
            </p:cNvPr>
            <p:cNvCxnSpPr/>
            <p:nvPr/>
          </p:nvCxnSpPr>
          <p:spPr>
            <a:xfrm>
              <a:off x="6952907" y="5762432"/>
              <a:ext cx="0" cy="59321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6" name="TextBox 115">
              <a:extLst>
                <a:ext uri="{FF2B5EF4-FFF2-40B4-BE49-F238E27FC236}">
                  <a16:creationId xmlns:a16="http://schemas.microsoft.com/office/drawing/2014/main" id="{EE57341F-5C89-4A86-A8E0-2FDE2C2C387B}"/>
                </a:ext>
              </a:extLst>
            </p:cNvPr>
            <p:cNvSpPr txBox="1"/>
            <p:nvPr/>
          </p:nvSpPr>
          <p:spPr>
            <a:xfrm>
              <a:off x="6718771" y="6333496"/>
              <a:ext cx="427749" cy="369332"/>
            </a:xfrm>
            <a:prstGeom prst="rect">
              <a:avLst/>
            </a:prstGeom>
            <a:noFill/>
          </p:spPr>
          <p:txBody>
            <a:bodyPr wrap="square" rtlCol="0">
              <a:spAutoFit/>
            </a:bodyPr>
            <a:lstStyle/>
            <a:p>
              <a:pPr algn="ctr"/>
              <a:r>
                <a:rPr lang="en-US"/>
                <a:t>20</a:t>
              </a:r>
            </a:p>
          </p:txBody>
        </p:sp>
        <p:cxnSp>
          <p:nvCxnSpPr>
            <p:cNvPr id="117" name="Straight Connector 116">
              <a:extLst>
                <a:ext uri="{FF2B5EF4-FFF2-40B4-BE49-F238E27FC236}">
                  <a16:creationId xmlns:a16="http://schemas.microsoft.com/office/drawing/2014/main" id="{4D864A24-4F99-4D04-A732-8F4EFDCFEF33}"/>
                </a:ext>
              </a:extLst>
            </p:cNvPr>
            <p:cNvCxnSpPr/>
            <p:nvPr/>
          </p:nvCxnSpPr>
          <p:spPr>
            <a:xfrm>
              <a:off x="7652218" y="5762432"/>
              <a:ext cx="0" cy="59321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8" name="TextBox 117">
              <a:extLst>
                <a:ext uri="{FF2B5EF4-FFF2-40B4-BE49-F238E27FC236}">
                  <a16:creationId xmlns:a16="http://schemas.microsoft.com/office/drawing/2014/main" id="{92C17F17-4063-4D8E-BEF6-106BB812E3E6}"/>
                </a:ext>
              </a:extLst>
            </p:cNvPr>
            <p:cNvSpPr txBox="1"/>
            <p:nvPr/>
          </p:nvSpPr>
          <p:spPr>
            <a:xfrm>
              <a:off x="7427553" y="6355651"/>
              <a:ext cx="427749" cy="276496"/>
            </a:xfrm>
            <a:prstGeom prst="rect">
              <a:avLst/>
            </a:prstGeom>
            <a:noFill/>
          </p:spPr>
          <p:txBody>
            <a:bodyPr wrap="square" rtlCol="0">
              <a:spAutoFit/>
            </a:bodyPr>
            <a:lstStyle/>
            <a:p>
              <a:pPr algn="ctr"/>
              <a:r>
                <a:rPr lang="en-US"/>
                <a:t>30</a:t>
              </a:r>
            </a:p>
          </p:txBody>
        </p:sp>
        <p:cxnSp>
          <p:nvCxnSpPr>
            <p:cNvPr id="119" name="Straight Connector 118">
              <a:extLst>
                <a:ext uri="{FF2B5EF4-FFF2-40B4-BE49-F238E27FC236}">
                  <a16:creationId xmlns:a16="http://schemas.microsoft.com/office/drawing/2014/main" id="{0FA0D207-0809-47C2-B196-F77A29374315}"/>
                </a:ext>
              </a:extLst>
            </p:cNvPr>
            <p:cNvCxnSpPr/>
            <p:nvPr/>
          </p:nvCxnSpPr>
          <p:spPr>
            <a:xfrm>
              <a:off x="8348727" y="5762433"/>
              <a:ext cx="0" cy="59321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0" name="TextBox 119">
              <a:extLst>
                <a:ext uri="{FF2B5EF4-FFF2-40B4-BE49-F238E27FC236}">
                  <a16:creationId xmlns:a16="http://schemas.microsoft.com/office/drawing/2014/main" id="{6371585B-FE42-403D-B012-BACFB551870D}"/>
                </a:ext>
              </a:extLst>
            </p:cNvPr>
            <p:cNvSpPr txBox="1"/>
            <p:nvPr/>
          </p:nvSpPr>
          <p:spPr>
            <a:xfrm>
              <a:off x="8136204" y="6355652"/>
              <a:ext cx="427749" cy="276496"/>
            </a:xfrm>
            <a:prstGeom prst="rect">
              <a:avLst/>
            </a:prstGeom>
            <a:noFill/>
          </p:spPr>
          <p:txBody>
            <a:bodyPr wrap="square" rtlCol="0">
              <a:spAutoFit/>
            </a:bodyPr>
            <a:lstStyle/>
            <a:p>
              <a:pPr algn="ctr"/>
              <a:r>
                <a:rPr lang="en-US"/>
                <a:t>40</a:t>
              </a:r>
            </a:p>
          </p:txBody>
        </p:sp>
        <p:cxnSp>
          <p:nvCxnSpPr>
            <p:cNvPr id="121" name="Straight Connector 120">
              <a:extLst>
                <a:ext uri="{FF2B5EF4-FFF2-40B4-BE49-F238E27FC236}">
                  <a16:creationId xmlns:a16="http://schemas.microsoft.com/office/drawing/2014/main" id="{E7E9A09E-1DC4-437C-9B03-0FBFAC859966}"/>
                </a:ext>
              </a:extLst>
            </p:cNvPr>
            <p:cNvCxnSpPr/>
            <p:nvPr/>
          </p:nvCxnSpPr>
          <p:spPr>
            <a:xfrm>
              <a:off x="9033967" y="5762433"/>
              <a:ext cx="0" cy="59321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2" name="TextBox 121">
              <a:extLst>
                <a:ext uri="{FF2B5EF4-FFF2-40B4-BE49-F238E27FC236}">
                  <a16:creationId xmlns:a16="http://schemas.microsoft.com/office/drawing/2014/main" id="{6E78BD20-1182-4FFB-AF94-1DF24E7F4509}"/>
                </a:ext>
              </a:extLst>
            </p:cNvPr>
            <p:cNvSpPr txBox="1"/>
            <p:nvPr/>
          </p:nvSpPr>
          <p:spPr>
            <a:xfrm>
              <a:off x="8837044" y="6355652"/>
              <a:ext cx="427749" cy="276496"/>
            </a:xfrm>
            <a:prstGeom prst="rect">
              <a:avLst/>
            </a:prstGeom>
            <a:noFill/>
          </p:spPr>
          <p:txBody>
            <a:bodyPr wrap="square" rtlCol="0">
              <a:spAutoFit/>
            </a:bodyPr>
            <a:lstStyle/>
            <a:p>
              <a:pPr algn="ctr"/>
              <a:r>
                <a:rPr lang="en-US"/>
                <a:t>50</a:t>
              </a:r>
            </a:p>
          </p:txBody>
        </p:sp>
        <p:cxnSp>
          <p:nvCxnSpPr>
            <p:cNvPr id="123" name="Straight Connector 122">
              <a:extLst>
                <a:ext uri="{FF2B5EF4-FFF2-40B4-BE49-F238E27FC236}">
                  <a16:creationId xmlns:a16="http://schemas.microsoft.com/office/drawing/2014/main" id="{042E5A71-68DA-4256-AB71-5A7AFBAC6D16}"/>
                </a:ext>
              </a:extLst>
            </p:cNvPr>
            <p:cNvCxnSpPr/>
            <p:nvPr/>
          </p:nvCxnSpPr>
          <p:spPr>
            <a:xfrm>
              <a:off x="9692530" y="5762433"/>
              <a:ext cx="0" cy="59321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4" name="TextBox 123">
              <a:extLst>
                <a:ext uri="{FF2B5EF4-FFF2-40B4-BE49-F238E27FC236}">
                  <a16:creationId xmlns:a16="http://schemas.microsoft.com/office/drawing/2014/main" id="{E0299966-1B28-4412-B46E-DA3BF606E887}"/>
                </a:ext>
              </a:extLst>
            </p:cNvPr>
            <p:cNvSpPr txBox="1"/>
            <p:nvPr/>
          </p:nvSpPr>
          <p:spPr>
            <a:xfrm>
              <a:off x="9478655" y="6355653"/>
              <a:ext cx="427749" cy="276496"/>
            </a:xfrm>
            <a:prstGeom prst="rect">
              <a:avLst/>
            </a:prstGeom>
            <a:noFill/>
          </p:spPr>
          <p:txBody>
            <a:bodyPr wrap="square" rtlCol="0">
              <a:spAutoFit/>
            </a:bodyPr>
            <a:lstStyle/>
            <a:p>
              <a:pPr algn="ctr"/>
              <a:r>
                <a:rPr lang="en-US"/>
                <a:t>60</a:t>
              </a:r>
            </a:p>
          </p:txBody>
        </p:sp>
        <p:cxnSp>
          <p:nvCxnSpPr>
            <p:cNvPr id="125" name="Straight Connector 124">
              <a:extLst>
                <a:ext uri="{FF2B5EF4-FFF2-40B4-BE49-F238E27FC236}">
                  <a16:creationId xmlns:a16="http://schemas.microsoft.com/office/drawing/2014/main" id="{36F5B16E-21FA-46D6-ACDA-B052BBEA8758}"/>
                </a:ext>
              </a:extLst>
            </p:cNvPr>
            <p:cNvCxnSpPr/>
            <p:nvPr/>
          </p:nvCxnSpPr>
          <p:spPr>
            <a:xfrm>
              <a:off x="10324973" y="5762434"/>
              <a:ext cx="0" cy="59321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6" name="TextBox 125">
              <a:extLst>
                <a:ext uri="{FF2B5EF4-FFF2-40B4-BE49-F238E27FC236}">
                  <a16:creationId xmlns:a16="http://schemas.microsoft.com/office/drawing/2014/main" id="{16B8CB69-759B-4A9E-BCD7-6F74BA35B565}"/>
                </a:ext>
              </a:extLst>
            </p:cNvPr>
            <p:cNvSpPr txBox="1"/>
            <p:nvPr/>
          </p:nvSpPr>
          <p:spPr>
            <a:xfrm>
              <a:off x="10111098" y="6355654"/>
              <a:ext cx="427749" cy="276496"/>
            </a:xfrm>
            <a:prstGeom prst="rect">
              <a:avLst/>
            </a:prstGeom>
            <a:noFill/>
          </p:spPr>
          <p:txBody>
            <a:bodyPr wrap="square" rtlCol="0">
              <a:spAutoFit/>
            </a:bodyPr>
            <a:lstStyle/>
            <a:p>
              <a:pPr algn="ctr"/>
              <a:r>
                <a:rPr lang="en-US"/>
                <a:t>70</a:t>
              </a:r>
            </a:p>
          </p:txBody>
        </p:sp>
        <p:cxnSp>
          <p:nvCxnSpPr>
            <p:cNvPr id="127" name="Straight Connector 126">
              <a:extLst>
                <a:ext uri="{FF2B5EF4-FFF2-40B4-BE49-F238E27FC236}">
                  <a16:creationId xmlns:a16="http://schemas.microsoft.com/office/drawing/2014/main" id="{EDE5E2FB-04A7-4BD8-AF35-2129DEC27367}"/>
                </a:ext>
              </a:extLst>
            </p:cNvPr>
            <p:cNvCxnSpPr/>
            <p:nvPr/>
          </p:nvCxnSpPr>
          <p:spPr>
            <a:xfrm>
              <a:off x="10966596" y="5762433"/>
              <a:ext cx="0" cy="59321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8" name="TextBox 127">
              <a:extLst>
                <a:ext uri="{FF2B5EF4-FFF2-40B4-BE49-F238E27FC236}">
                  <a16:creationId xmlns:a16="http://schemas.microsoft.com/office/drawing/2014/main" id="{870A8228-4DA7-4627-946C-4DE6E34A95DB}"/>
                </a:ext>
              </a:extLst>
            </p:cNvPr>
            <p:cNvSpPr txBox="1"/>
            <p:nvPr/>
          </p:nvSpPr>
          <p:spPr>
            <a:xfrm>
              <a:off x="10752722" y="6333496"/>
              <a:ext cx="427749" cy="276496"/>
            </a:xfrm>
            <a:prstGeom prst="rect">
              <a:avLst/>
            </a:prstGeom>
            <a:noFill/>
          </p:spPr>
          <p:txBody>
            <a:bodyPr wrap="square" rtlCol="0">
              <a:spAutoFit/>
            </a:bodyPr>
            <a:lstStyle/>
            <a:p>
              <a:pPr algn="ctr"/>
              <a:r>
                <a:rPr lang="en-US"/>
                <a:t>80</a:t>
              </a:r>
            </a:p>
          </p:txBody>
        </p:sp>
      </p:grpSp>
      <p:sp>
        <p:nvSpPr>
          <p:cNvPr id="129" name="Rectangle 128">
            <a:extLst>
              <a:ext uri="{FF2B5EF4-FFF2-40B4-BE49-F238E27FC236}">
                <a16:creationId xmlns:a16="http://schemas.microsoft.com/office/drawing/2014/main" id="{D9F477B4-AB64-400B-8761-D659F397ECB6}"/>
              </a:ext>
            </a:extLst>
          </p:cNvPr>
          <p:cNvSpPr/>
          <p:nvPr/>
        </p:nvSpPr>
        <p:spPr>
          <a:xfrm>
            <a:off x="3312426" y="39165"/>
            <a:ext cx="7162528" cy="63919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Infectious Disease Prevention – Infection Screening</a:t>
            </a:r>
          </a:p>
        </p:txBody>
      </p:sp>
      <p:sp>
        <p:nvSpPr>
          <p:cNvPr id="131" name="HIV">
            <a:extLst>
              <a:ext uri="{FF2B5EF4-FFF2-40B4-BE49-F238E27FC236}">
                <a16:creationId xmlns:a16="http://schemas.microsoft.com/office/drawing/2014/main" id="{21B1571A-1004-4C19-8FB4-36573563B2B8}"/>
              </a:ext>
            </a:extLst>
          </p:cNvPr>
          <p:cNvSpPr txBox="1"/>
          <p:nvPr/>
        </p:nvSpPr>
        <p:spPr>
          <a:xfrm>
            <a:off x="2685871" y="1553502"/>
            <a:ext cx="1422301" cy="408623"/>
          </a:xfrm>
          <a:prstGeom prst="roundRect">
            <a:avLst/>
          </a:prstGeom>
          <a:ln w="38100">
            <a:solidFill>
              <a:schemeClr val="bg2">
                <a:lumMod val="75000"/>
              </a:schemeClr>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HIV</a:t>
            </a:r>
          </a:p>
        </p:txBody>
      </p:sp>
      <p:sp>
        <p:nvSpPr>
          <p:cNvPr id="134" name="HCV">
            <a:extLst>
              <a:ext uri="{FF2B5EF4-FFF2-40B4-BE49-F238E27FC236}">
                <a16:creationId xmlns:a16="http://schemas.microsoft.com/office/drawing/2014/main" id="{DD6FFCDA-5A44-4475-913D-EF63029E1CAD}"/>
              </a:ext>
            </a:extLst>
          </p:cNvPr>
          <p:cNvSpPr txBox="1"/>
          <p:nvPr/>
        </p:nvSpPr>
        <p:spPr>
          <a:xfrm>
            <a:off x="2693157" y="2354335"/>
            <a:ext cx="1422301" cy="408623"/>
          </a:xfrm>
          <a:prstGeom prst="roundRect">
            <a:avLst/>
          </a:prstGeom>
          <a:ln w="38100">
            <a:solidFill>
              <a:schemeClr val="bg2">
                <a:lumMod val="75000"/>
              </a:schemeClr>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Hepatitis C</a:t>
            </a:r>
          </a:p>
        </p:txBody>
      </p:sp>
      <p:sp>
        <p:nvSpPr>
          <p:cNvPr id="137" name="Gonorrhea">
            <a:extLst>
              <a:ext uri="{FF2B5EF4-FFF2-40B4-BE49-F238E27FC236}">
                <a16:creationId xmlns:a16="http://schemas.microsoft.com/office/drawing/2014/main" id="{605D7D08-CD7F-40F6-8D12-D199D2B5C834}"/>
              </a:ext>
            </a:extLst>
          </p:cNvPr>
          <p:cNvSpPr txBox="1"/>
          <p:nvPr/>
        </p:nvSpPr>
        <p:spPr>
          <a:xfrm>
            <a:off x="2695587" y="3286398"/>
            <a:ext cx="1422301" cy="715089"/>
          </a:xfrm>
          <a:prstGeom prst="roundRect">
            <a:avLst/>
          </a:prstGeom>
          <a:ln w="38100">
            <a:solidFill>
              <a:schemeClr val="bg2">
                <a:lumMod val="75000"/>
              </a:schemeClr>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Gonorrhea/ Chlamydia</a:t>
            </a:r>
          </a:p>
        </p:txBody>
      </p:sp>
      <p:sp>
        <p:nvSpPr>
          <p:cNvPr id="140" name="Syphillis">
            <a:extLst>
              <a:ext uri="{FF2B5EF4-FFF2-40B4-BE49-F238E27FC236}">
                <a16:creationId xmlns:a16="http://schemas.microsoft.com/office/drawing/2014/main" id="{56718252-7368-4BBD-B850-972E467ED98D}"/>
              </a:ext>
            </a:extLst>
          </p:cNvPr>
          <p:cNvSpPr txBox="1"/>
          <p:nvPr/>
        </p:nvSpPr>
        <p:spPr>
          <a:xfrm>
            <a:off x="2695587" y="4112773"/>
            <a:ext cx="1422301" cy="408623"/>
          </a:xfrm>
          <a:prstGeom prst="roundRect">
            <a:avLst/>
          </a:prstGeom>
          <a:ln w="38100">
            <a:solidFill>
              <a:schemeClr val="accent2"/>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Syphilis</a:t>
            </a:r>
          </a:p>
        </p:txBody>
      </p:sp>
      <p:sp>
        <p:nvSpPr>
          <p:cNvPr id="143" name="HBV">
            <a:extLst>
              <a:ext uri="{FF2B5EF4-FFF2-40B4-BE49-F238E27FC236}">
                <a16:creationId xmlns:a16="http://schemas.microsoft.com/office/drawing/2014/main" id="{B33185DD-A329-41F2-A7A1-46232D38347D}"/>
              </a:ext>
            </a:extLst>
          </p:cNvPr>
          <p:cNvSpPr txBox="1"/>
          <p:nvPr/>
        </p:nvSpPr>
        <p:spPr>
          <a:xfrm>
            <a:off x="2695587" y="4674440"/>
            <a:ext cx="1422301" cy="408623"/>
          </a:xfrm>
          <a:prstGeom prst="roundRect">
            <a:avLst/>
          </a:prstGeom>
          <a:ln w="38100">
            <a:solidFill>
              <a:schemeClr val="accent2"/>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Hepatitis B</a:t>
            </a:r>
          </a:p>
        </p:txBody>
      </p:sp>
      <p:sp>
        <p:nvSpPr>
          <p:cNvPr id="146" name="Latent TB">
            <a:extLst>
              <a:ext uri="{FF2B5EF4-FFF2-40B4-BE49-F238E27FC236}">
                <a16:creationId xmlns:a16="http://schemas.microsoft.com/office/drawing/2014/main" id="{ECAE2E46-7EB7-4C32-9C87-5E0267BCFCA7}"/>
              </a:ext>
            </a:extLst>
          </p:cNvPr>
          <p:cNvSpPr txBox="1"/>
          <p:nvPr/>
        </p:nvSpPr>
        <p:spPr>
          <a:xfrm>
            <a:off x="2685871" y="5231181"/>
            <a:ext cx="1422301" cy="408623"/>
          </a:xfrm>
          <a:prstGeom prst="roundRect">
            <a:avLst/>
          </a:prstGeom>
          <a:ln w="38100">
            <a:solidFill>
              <a:schemeClr val="accent2"/>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Latent TB</a:t>
            </a:r>
          </a:p>
        </p:txBody>
      </p:sp>
      <p:sp>
        <p:nvSpPr>
          <p:cNvPr id="9" name="Rectangle 8">
            <a:extLst>
              <a:ext uri="{FF2B5EF4-FFF2-40B4-BE49-F238E27FC236}">
                <a16:creationId xmlns:a16="http://schemas.microsoft.com/office/drawing/2014/main" id="{59E89A9A-9A27-4D33-8B64-2EB3529C216A}"/>
              </a:ext>
            </a:extLst>
          </p:cNvPr>
          <p:cNvSpPr/>
          <p:nvPr/>
        </p:nvSpPr>
        <p:spPr>
          <a:xfrm>
            <a:off x="4693296" y="1598619"/>
            <a:ext cx="4616420" cy="299696"/>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t>Once for ages 15-65</a:t>
            </a:r>
          </a:p>
        </p:txBody>
      </p:sp>
      <p:sp>
        <p:nvSpPr>
          <p:cNvPr id="149" name="Rectangle 148">
            <a:extLst>
              <a:ext uri="{FF2B5EF4-FFF2-40B4-BE49-F238E27FC236}">
                <a16:creationId xmlns:a16="http://schemas.microsoft.com/office/drawing/2014/main" id="{B95C75F7-6594-445B-BBB1-8AB27D610C96}"/>
              </a:ext>
            </a:extLst>
          </p:cNvPr>
          <p:cNvSpPr/>
          <p:nvPr/>
        </p:nvSpPr>
        <p:spPr>
          <a:xfrm>
            <a:off x="4693296" y="2376697"/>
            <a:ext cx="6482704" cy="274679"/>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Once for ages 18-79</a:t>
            </a:r>
          </a:p>
        </p:txBody>
      </p:sp>
      <p:sp>
        <p:nvSpPr>
          <p:cNvPr id="150" name="Rectangle 149">
            <a:extLst>
              <a:ext uri="{FF2B5EF4-FFF2-40B4-BE49-F238E27FC236}">
                <a16:creationId xmlns:a16="http://schemas.microsoft.com/office/drawing/2014/main" id="{7F39EDEE-0CA7-4F7B-AA2B-E3C427522D56}"/>
              </a:ext>
            </a:extLst>
          </p:cNvPr>
          <p:cNvSpPr/>
          <p:nvPr/>
        </p:nvSpPr>
        <p:spPr>
          <a:xfrm>
            <a:off x="4688253" y="3309249"/>
            <a:ext cx="813199" cy="639192"/>
          </a:xfrm>
          <a:prstGeom prst="rect">
            <a:avLst/>
          </a:prstGeom>
          <a:solidFill>
            <a:schemeClr val="accent3"/>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F &lt; 24 + sex</a:t>
            </a:r>
          </a:p>
        </p:txBody>
      </p:sp>
      <p:sp>
        <p:nvSpPr>
          <p:cNvPr id="14" name="Everyone">
            <a:extLst>
              <a:ext uri="{FF2B5EF4-FFF2-40B4-BE49-F238E27FC236}">
                <a16:creationId xmlns:a16="http://schemas.microsoft.com/office/drawing/2014/main" id="{C48FB746-5FB9-42FB-8BB2-A31CD0B2BFC4}"/>
              </a:ext>
            </a:extLst>
          </p:cNvPr>
          <p:cNvSpPr/>
          <p:nvPr/>
        </p:nvSpPr>
        <p:spPr>
          <a:xfrm>
            <a:off x="6008227" y="805680"/>
            <a:ext cx="1770926" cy="445766"/>
          </a:xfrm>
          <a:prstGeom prst="roundRect">
            <a:avLst/>
          </a:prstGeom>
          <a:ln w="38100"/>
          <a:effectLst>
            <a:outerShdw blurRad="50800" dist="38100" dir="2700000" algn="tl" rotWithShape="0">
              <a:prstClr val="black">
                <a:alpha val="40000"/>
              </a:prstClr>
            </a:outerShdw>
          </a:effectLst>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t>Everyone</a:t>
            </a:r>
          </a:p>
        </p:txBody>
      </p:sp>
      <p:sp>
        <p:nvSpPr>
          <p:cNvPr id="152" name="At risk">
            <a:extLst>
              <a:ext uri="{FF2B5EF4-FFF2-40B4-BE49-F238E27FC236}">
                <a16:creationId xmlns:a16="http://schemas.microsoft.com/office/drawing/2014/main" id="{87FAEBF4-2122-4975-AA16-FE8CBB1969FE}"/>
              </a:ext>
            </a:extLst>
          </p:cNvPr>
          <p:cNvSpPr/>
          <p:nvPr/>
        </p:nvSpPr>
        <p:spPr>
          <a:xfrm>
            <a:off x="8630435" y="805680"/>
            <a:ext cx="1770926" cy="445766"/>
          </a:xfrm>
          <a:prstGeom prst="roundRect">
            <a:avLst/>
          </a:prstGeom>
          <a:solidFill>
            <a:schemeClr val="accent2"/>
          </a:solidFill>
          <a:ln w="38100">
            <a:solidFill>
              <a:schemeClr val="accent2">
                <a:lumMod val="75000"/>
              </a:schemeClr>
            </a:solidFill>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t>At Risk</a:t>
            </a:r>
          </a:p>
        </p:txBody>
      </p:sp>
      <p:pic>
        <p:nvPicPr>
          <p:cNvPr id="154" name="Graphic 153" descr="Cursor with solid fill">
            <a:extLst>
              <a:ext uri="{FF2B5EF4-FFF2-40B4-BE49-F238E27FC236}">
                <a16:creationId xmlns:a16="http://schemas.microsoft.com/office/drawing/2014/main" id="{DEDBAFE3-21A8-4504-A0FD-3A0402E8ACC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589547" y="1067844"/>
            <a:ext cx="395274" cy="395274"/>
          </a:xfrm>
          <a:prstGeom prst="rect">
            <a:avLst/>
          </a:prstGeom>
        </p:spPr>
      </p:pic>
      <p:pic>
        <p:nvPicPr>
          <p:cNvPr id="155" name="Graphic 154" descr="Cursor with solid fill">
            <a:extLst>
              <a:ext uri="{FF2B5EF4-FFF2-40B4-BE49-F238E27FC236}">
                <a16:creationId xmlns:a16="http://schemas.microsoft.com/office/drawing/2014/main" id="{887BB346-271E-425A-9BE4-F4ABE3C1121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203724" y="1067844"/>
            <a:ext cx="395274" cy="395274"/>
          </a:xfrm>
          <a:prstGeom prst="rect">
            <a:avLst/>
          </a:prstGeom>
        </p:spPr>
      </p:pic>
      <p:sp>
        <p:nvSpPr>
          <p:cNvPr id="69" name="Rectangle 68">
            <a:extLst>
              <a:ext uri="{FF2B5EF4-FFF2-40B4-BE49-F238E27FC236}">
                <a16:creationId xmlns:a16="http://schemas.microsoft.com/office/drawing/2014/main" id="{47BBB8DC-096F-4590-8C28-57A9974AD853}"/>
              </a:ext>
            </a:extLst>
          </p:cNvPr>
          <p:cNvSpPr/>
          <p:nvPr/>
        </p:nvSpPr>
        <p:spPr>
          <a:xfrm>
            <a:off x="5481443" y="3309249"/>
            <a:ext cx="5878055" cy="639191"/>
          </a:xfrm>
          <a:prstGeom prst="rect">
            <a:avLst/>
          </a:prstGeom>
          <a:solidFill>
            <a:schemeClr val="accent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t>F with multiple partners, partners with STI, inconsistent barrier protection</a:t>
            </a:r>
          </a:p>
        </p:txBody>
      </p:sp>
      <p:sp>
        <p:nvSpPr>
          <p:cNvPr id="74" name="Rectangle 73">
            <a:extLst>
              <a:ext uri="{FF2B5EF4-FFF2-40B4-BE49-F238E27FC236}">
                <a16:creationId xmlns:a16="http://schemas.microsoft.com/office/drawing/2014/main" id="{1632C318-58F0-4042-9F4B-415C898B5983}"/>
              </a:ext>
            </a:extLst>
          </p:cNvPr>
          <p:cNvSpPr/>
          <p:nvPr/>
        </p:nvSpPr>
        <p:spPr>
          <a:xfrm>
            <a:off x="4688253" y="4140730"/>
            <a:ext cx="6690397" cy="392136"/>
          </a:xfrm>
          <a:prstGeom prst="rect">
            <a:avLst/>
          </a:prstGeom>
          <a:solidFill>
            <a:schemeClr val="accent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t>MSM, HIV, incarcerated, sex work</a:t>
            </a:r>
          </a:p>
        </p:txBody>
      </p:sp>
      <p:sp>
        <p:nvSpPr>
          <p:cNvPr id="75" name="Rectangle 74">
            <a:extLst>
              <a:ext uri="{FF2B5EF4-FFF2-40B4-BE49-F238E27FC236}">
                <a16:creationId xmlns:a16="http://schemas.microsoft.com/office/drawing/2014/main" id="{00DED867-9BC2-4099-9A41-EA7791493EC2}"/>
              </a:ext>
            </a:extLst>
          </p:cNvPr>
          <p:cNvSpPr/>
          <p:nvPr/>
        </p:nvSpPr>
        <p:spPr>
          <a:xfrm>
            <a:off x="4679988" y="4701502"/>
            <a:ext cx="6690397" cy="392136"/>
          </a:xfrm>
          <a:prstGeom prst="rect">
            <a:avLst/>
          </a:prstGeom>
          <a:solidFill>
            <a:schemeClr val="accent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t>Born in high HBV areas (Asia, Africa, </a:t>
            </a:r>
            <a:r>
              <a:rPr lang="en-US" err="1"/>
              <a:t>etc</a:t>
            </a:r>
            <a:r>
              <a:rPr lang="en-US"/>
              <a:t>), MSM, HIV, IVDU</a:t>
            </a:r>
          </a:p>
        </p:txBody>
      </p:sp>
      <p:sp>
        <p:nvSpPr>
          <p:cNvPr id="76" name="Rectangle 75">
            <a:extLst>
              <a:ext uri="{FF2B5EF4-FFF2-40B4-BE49-F238E27FC236}">
                <a16:creationId xmlns:a16="http://schemas.microsoft.com/office/drawing/2014/main" id="{09EDE01C-F0C5-4590-989F-F4C76A0DD4B9}"/>
              </a:ext>
            </a:extLst>
          </p:cNvPr>
          <p:cNvSpPr/>
          <p:nvPr/>
        </p:nvSpPr>
        <p:spPr>
          <a:xfrm>
            <a:off x="4688253" y="5246697"/>
            <a:ext cx="6690397" cy="392136"/>
          </a:xfrm>
          <a:prstGeom prst="rect">
            <a:avLst/>
          </a:prstGeom>
          <a:solidFill>
            <a:schemeClr val="accent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t>Lived in high TB countries, congregate settings</a:t>
            </a:r>
          </a:p>
        </p:txBody>
      </p:sp>
      <p:pic>
        <p:nvPicPr>
          <p:cNvPr id="77" name="Graphic 76" descr="Cursor with solid fill">
            <a:extLst>
              <a:ext uri="{FF2B5EF4-FFF2-40B4-BE49-F238E27FC236}">
                <a16:creationId xmlns:a16="http://schemas.microsoft.com/office/drawing/2014/main" id="{3C73CC44-8A9E-4B83-9C8B-F05960362B1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954561" y="1746219"/>
            <a:ext cx="395274" cy="395274"/>
          </a:xfrm>
          <a:prstGeom prst="rect">
            <a:avLst/>
          </a:prstGeom>
        </p:spPr>
      </p:pic>
      <p:pic>
        <p:nvPicPr>
          <p:cNvPr id="78" name="Graphic 77" descr="Cursor with solid fill">
            <a:extLst>
              <a:ext uri="{FF2B5EF4-FFF2-40B4-BE49-F238E27FC236}">
                <a16:creationId xmlns:a16="http://schemas.microsoft.com/office/drawing/2014/main" id="{2851EA87-D13B-4288-8F00-125EA09753B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954561" y="2514745"/>
            <a:ext cx="395274" cy="395274"/>
          </a:xfrm>
          <a:prstGeom prst="rect">
            <a:avLst/>
          </a:prstGeom>
        </p:spPr>
      </p:pic>
      <p:pic>
        <p:nvPicPr>
          <p:cNvPr id="79" name="Graphic 78" descr="Cursor with solid fill">
            <a:extLst>
              <a:ext uri="{FF2B5EF4-FFF2-40B4-BE49-F238E27FC236}">
                <a16:creationId xmlns:a16="http://schemas.microsoft.com/office/drawing/2014/main" id="{DC37C7ED-086A-4F3B-A678-214760EF2A5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950459" y="3767010"/>
            <a:ext cx="395274" cy="395274"/>
          </a:xfrm>
          <a:prstGeom prst="rect">
            <a:avLst/>
          </a:prstGeom>
        </p:spPr>
      </p:pic>
      <p:pic>
        <p:nvPicPr>
          <p:cNvPr id="80" name="Graphic 79" descr="Cursor with solid fill">
            <a:extLst>
              <a:ext uri="{FF2B5EF4-FFF2-40B4-BE49-F238E27FC236}">
                <a16:creationId xmlns:a16="http://schemas.microsoft.com/office/drawing/2014/main" id="{22182733-F8E1-4472-98D0-1D913C45744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950459" y="4304476"/>
            <a:ext cx="395274" cy="395274"/>
          </a:xfrm>
          <a:prstGeom prst="rect">
            <a:avLst/>
          </a:prstGeom>
        </p:spPr>
      </p:pic>
      <p:pic>
        <p:nvPicPr>
          <p:cNvPr id="82" name="Graphic 81" descr="Cursor with solid fill">
            <a:extLst>
              <a:ext uri="{FF2B5EF4-FFF2-40B4-BE49-F238E27FC236}">
                <a16:creationId xmlns:a16="http://schemas.microsoft.com/office/drawing/2014/main" id="{55297CDB-0860-4E29-B054-B583F26B01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950459" y="4841942"/>
            <a:ext cx="395274" cy="395274"/>
          </a:xfrm>
          <a:prstGeom prst="rect">
            <a:avLst/>
          </a:prstGeom>
        </p:spPr>
      </p:pic>
      <p:pic>
        <p:nvPicPr>
          <p:cNvPr id="83" name="Graphic 82" descr="Cursor with solid fill">
            <a:extLst>
              <a:ext uri="{FF2B5EF4-FFF2-40B4-BE49-F238E27FC236}">
                <a16:creationId xmlns:a16="http://schemas.microsoft.com/office/drawing/2014/main" id="{A0DE5062-F8EB-4F7B-8D38-C456B022314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950459" y="5441196"/>
            <a:ext cx="395274" cy="395274"/>
          </a:xfrm>
          <a:prstGeom prst="rect">
            <a:avLst/>
          </a:prstGeom>
        </p:spPr>
      </p:pic>
      <p:sp>
        <p:nvSpPr>
          <p:cNvPr id="110" name="cancer screening text">
            <a:hlinkClick r:id="rId5" action="ppaction://hlinksldjump"/>
            <a:extLst>
              <a:ext uri="{FF2B5EF4-FFF2-40B4-BE49-F238E27FC236}">
                <a16:creationId xmlns:a16="http://schemas.microsoft.com/office/drawing/2014/main" id="{FF9E0346-F776-4223-B0AF-CBC296B1764A}"/>
              </a:ext>
            </a:extLst>
          </p:cNvPr>
          <p:cNvSpPr txBox="1"/>
          <p:nvPr/>
        </p:nvSpPr>
        <p:spPr>
          <a:xfrm>
            <a:off x="246712" y="2255680"/>
            <a:ext cx="1967278" cy="408623"/>
          </a:xfrm>
          <a:prstGeom prst="roundRect">
            <a:avLst/>
          </a:prstGeom>
          <a:solidFill>
            <a:schemeClr val="accent2"/>
          </a:solidFill>
          <a:ln w="38100">
            <a:solidFill>
              <a:schemeClr val="accent2"/>
            </a:solidFill>
          </a:ln>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chemeClr val="bg1"/>
                </a:solidFill>
              </a:rPr>
              <a:t>Infectious Disease</a:t>
            </a:r>
          </a:p>
        </p:txBody>
      </p:sp>
      <p:grpSp>
        <p:nvGrpSpPr>
          <p:cNvPr id="111" name="sub-group arrows">
            <a:extLst>
              <a:ext uri="{FF2B5EF4-FFF2-40B4-BE49-F238E27FC236}">
                <a16:creationId xmlns:a16="http://schemas.microsoft.com/office/drawing/2014/main" id="{8E359C80-E089-4BF1-8FBB-68BCFF965797}"/>
              </a:ext>
            </a:extLst>
          </p:cNvPr>
          <p:cNvGrpSpPr/>
          <p:nvPr/>
        </p:nvGrpSpPr>
        <p:grpSpPr>
          <a:xfrm>
            <a:off x="420785" y="2682079"/>
            <a:ext cx="172844" cy="903513"/>
            <a:chOff x="323629" y="4652062"/>
            <a:chExt cx="172844" cy="903513"/>
          </a:xfrm>
        </p:grpSpPr>
        <p:cxnSp>
          <p:nvCxnSpPr>
            <p:cNvPr id="112" name="Connector: Elbow 111">
              <a:extLst>
                <a:ext uri="{FF2B5EF4-FFF2-40B4-BE49-F238E27FC236}">
                  <a16:creationId xmlns:a16="http://schemas.microsoft.com/office/drawing/2014/main" id="{C90870F1-3A8F-4588-AD20-81DBF5DE5983}"/>
                </a:ext>
              </a:extLst>
            </p:cNvPr>
            <p:cNvCxnSpPr>
              <a:cxnSpLocks/>
            </p:cNvCxnSpPr>
            <p:nvPr/>
          </p:nvCxnSpPr>
          <p:spPr>
            <a:xfrm rot="16200000" flipH="1">
              <a:off x="233845" y="4741846"/>
              <a:ext cx="352412" cy="172843"/>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113" name="Connector: Elbow 112">
              <a:extLst>
                <a:ext uri="{FF2B5EF4-FFF2-40B4-BE49-F238E27FC236}">
                  <a16:creationId xmlns:a16="http://schemas.microsoft.com/office/drawing/2014/main" id="{3CDE379E-2F30-4031-824C-2266BCFB87A0}"/>
                </a:ext>
              </a:extLst>
            </p:cNvPr>
            <p:cNvCxnSpPr>
              <a:cxnSpLocks/>
            </p:cNvCxnSpPr>
            <p:nvPr/>
          </p:nvCxnSpPr>
          <p:spPr>
            <a:xfrm rot="16200000" flipH="1">
              <a:off x="-37666" y="5021436"/>
              <a:ext cx="895435" cy="172843"/>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grpSp>
      <p:sp>
        <p:nvSpPr>
          <p:cNvPr id="130" name="question 4">
            <a:hlinkClick r:id="rId5" action="ppaction://hlinksldjump"/>
            <a:extLst>
              <a:ext uri="{FF2B5EF4-FFF2-40B4-BE49-F238E27FC236}">
                <a16:creationId xmlns:a16="http://schemas.microsoft.com/office/drawing/2014/main" id="{E946ED63-2418-47BB-9ACC-67C586E8475A}"/>
              </a:ext>
            </a:extLst>
          </p:cNvPr>
          <p:cNvSpPr txBox="1"/>
          <p:nvPr/>
        </p:nvSpPr>
        <p:spPr>
          <a:xfrm>
            <a:off x="593629" y="2835567"/>
            <a:ext cx="1734234"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ctr"/>
            <a:r>
              <a:rPr lang="en-US">
                <a:solidFill>
                  <a:schemeClr val="tx1"/>
                </a:solidFill>
              </a:rPr>
              <a:t>Immunizations</a:t>
            </a:r>
          </a:p>
        </p:txBody>
      </p:sp>
      <p:sp>
        <p:nvSpPr>
          <p:cNvPr id="132" name="question 4">
            <a:hlinkClick r:id="rId5" action="ppaction://hlinksldjump"/>
            <a:extLst>
              <a:ext uri="{FF2B5EF4-FFF2-40B4-BE49-F238E27FC236}">
                <a16:creationId xmlns:a16="http://schemas.microsoft.com/office/drawing/2014/main" id="{DC4BF3CD-2F7C-4267-8514-F603B51E7959}"/>
              </a:ext>
            </a:extLst>
          </p:cNvPr>
          <p:cNvSpPr txBox="1"/>
          <p:nvPr/>
        </p:nvSpPr>
        <p:spPr>
          <a:xfrm>
            <a:off x="593629" y="3397679"/>
            <a:ext cx="1734234" cy="408623"/>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chemeClr val="bg1"/>
                </a:solidFill>
              </a:rPr>
              <a:t>Infections</a:t>
            </a:r>
          </a:p>
        </p:txBody>
      </p:sp>
      <p:pic>
        <p:nvPicPr>
          <p:cNvPr id="133" name="Graphic 132" descr="Cursor with solid fill">
            <a:extLst>
              <a:ext uri="{FF2B5EF4-FFF2-40B4-BE49-F238E27FC236}">
                <a16:creationId xmlns:a16="http://schemas.microsoft.com/office/drawing/2014/main" id="{09DCD33A-1637-4F5F-88DC-10A7225D6C0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130226" y="3039054"/>
            <a:ext cx="395274" cy="395274"/>
          </a:xfrm>
          <a:prstGeom prst="rect">
            <a:avLst/>
          </a:prstGeom>
        </p:spPr>
      </p:pic>
      <p:sp>
        <p:nvSpPr>
          <p:cNvPr id="144" name="cancer screening text">
            <a:hlinkClick r:id="rId6" action="ppaction://hlinksldjump"/>
            <a:extLst>
              <a:ext uri="{FF2B5EF4-FFF2-40B4-BE49-F238E27FC236}">
                <a16:creationId xmlns:a16="http://schemas.microsoft.com/office/drawing/2014/main" id="{AF57734D-9BA2-49B1-AAD9-67FF0E659A3C}"/>
              </a:ext>
            </a:extLst>
          </p:cNvPr>
          <p:cNvSpPr txBox="1"/>
          <p:nvPr/>
        </p:nvSpPr>
        <p:spPr>
          <a:xfrm>
            <a:off x="250666" y="1662473"/>
            <a:ext cx="1967278" cy="408623"/>
          </a:xfrm>
          <a:prstGeom prst="roundRect">
            <a:avLst/>
          </a:prstGeom>
          <a:ln w="38100">
            <a:solidFill>
              <a:schemeClr val="accent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Cancer Screening</a:t>
            </a:r>
          </a:p>
        </p:txBody>
      </p:sp>
      <p:pic>
        <p:nvPicPr>
          <p:cNvPr id="145" name="Graphic 144" descr="Cursor with solid fill">
            <a:extLst>
              <a:ext uri="{FF2B5EF4-FFF2-40B4-BE49-F238E27FC236}">
                <a16:creationId xmlns:a16="http://schemas.microsoft.com/office/drawing/2014/main" id="{7EFFAEED-CC16-43E4-96B3-91966BB0686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016353" y="1858576"/>
            <a:ext cx="395274" cy="395274"/>
          </a:xfrm>
          <a:prstGeom prst="rect">
            <a:avLst/>
          </a:prstGeom>
        </p:spPr>
      </p:pic>
      <p:grpSp>
        <p:nvGrpSpPr>
          <p:cNvPr id="147" name="Cases button">
            <a:extLst>
              <a:ext uri="{FF2B5EF4-FFF2-40B4-BE49-F238E27FC236}">
                <a16:creationId xmlns:a16="http://schemas.microsoft.com/office/drawing/2014/main" id="{2FA649FB-C1DD-4CC5-8A27-408C19206941}"/>
              </a:ext>
            </a:extLst>
          </p:cNvPr>
          <p:cNvGrpSpPr/>
          <p:nvPr/>
        </p:nvGrpSpPr>
        <p:grpSpPr>
          <a:xfrm>
            <a:off x="307848" y="6121182"/>
            <a:ext cx="2082939" cy="606260"/>
            <a:chOff x="207505" y="5523621"/>
            <a:chExt cx="2082939" cy="606260"/>
          </a:xfrm>
        </p:grpSpPr>
        <p:sp>
          <p:nvSpPr>
            <p:cNvPr id="148" name="Cases">
              <a:hlinkClick r:id="rId7" action="ppaction://hlinksldjump"/>
              <a:extLst>
                <a:ext uri="{FF2B5EF4-FFF2-40B4-BE49-F238E27FC236}">
                  <a16:creationId xmlns:a16="http://schemas.microsoft.com/office/drawing/2014/main" id="{F7F31B24-2C3D-4F8C-8DF2-25A5AEBCF3AC}"/>
                </a:ext>
              </a:extLst>
            </p:cNvPr>
            <p:cNvSpPr txBox="1"/>
            <p:nvPr/>
          </p:nvSpPr>
          <p:spPr>
            <a:xfrm>
              <a:off x="207505" y="5523621"/>
              <a:ext cx="1910096"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CASES</a:t>
              </a:r>
            </a:p>
          </p:txBody>
        </p:sp>
        <p:pic>
          <p:nvPicPr>
            <p:cNvPr id="151" name="Graphic 150" descr="Cursor with solid fill">
              <a:hlinkClick r:id="rId7" action="ppaction://hlinksldjump"/>
              <a:extLst>
                <a:ext uri="{FF2B5EF4-FFF2-40B4-BE49-F238E27FC236}">
                  <a16:creationId xmlns:a16="http://schemas.microsoft.com/office/drawing/2014/main" id="{D7859FA2-1B6C-4E79-A7E5-EA672E86A36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895170" y="5734607"/>
              <a:ext cx="395274" cy="395274"/>
            </a:xfrm>
            <a:prstGeom prst="rect">
              <a:avLst/>
            </a:prstGeom>
          </p:spPr>
        </p:pic>
      </p:grpSp>
      <p:grpSp>
        <p:nvGrpSpPr>
          <p:cNvPr id="61" name="Question 2 button">
            <a:extLst>
              <a:ext uri="{FF2B5EF4-FFF2-40B4-BE49-F238E27FC236}">
                <a16:creationId xmlns:a16="http://schemas.microsoft.com/office/drawing/2014/main" id="{0029E508-E89B-4F96-9018-01A199AB2C88}"/>
              </a:ext>
            </a:extLst>
          </p:cNvPr>
          <p:cNvGrpSpPr/>
          <p:nvPr/>
        </p:nvGrpSpPr>
        <p:grpSpPr>
          <a:xfrm>
            <a:off x="250666" y="118378"/>
            <a:ext cx="2631617" cy="641990"/>
            <a:chOff x="111732" y="1020981"/>
            <a:chExt cx="2631617" cy="641990"/>
          </a:xfrm>
        </p:grpSpPr>
        <p:sp>
          <p:nvSpPr>
            <p:cNvPr id="62" name="Question 2">
              <a:hlinkClick r:id="rId8" action="ppaction://hlinksldjump"/>
              <a:extLst>
                <a:ext uri="{FF2B5EF4-FFF2-40B4-BE49-F238E27FC236}">
                  <a16:creationId xmlns:a16="http://schemas.microsoft.com/office/drawing/2014/main" id="{A99FFBC9-06A1-4B81-BE16-C9F0FFEBD359}"/>
                </a:ext>
              </a:extLst>
            </p:cNvPr>
            <p:cNvSpPr txBox="1"/>
            <p:nvPr/>
          </p:nvSpPr>
          <p:spPr>
            <a:xfrm>
              <a:off x="111732" y="1020981"/>
              <a:ext cx="2404590"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When to screen?</a:t>
              </a:r>
            </a:p>
          </p:txBody>
        </p:sp>
        <p:pic>
          <p:nvPicPr>
            <p:cNvPr id="63" name="Graphic 62" descr="Cursor with solid fill">
              <a:extLst>
                <a:ext uri="{FF2B5EF4-FFF2-40B4-BE49-F238E27FC236}">
                  <a16:creationId xmlns:a16="http://schemas.microsoft.com/office/drawing/2014/main" id="{A3D685C8-25AE-470A-B453-0F3F4DA3D4C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348075" y="1267697"/>
              <a:ext cx="395274" cy="395274"/>
            </a:xfrm>
            <a:prstGeom prst="rect">
              <a:avLst/>
            </a:prstGeom>
          </p:spPr>
        </p:pic>
      </p:grpSp>
      <p:grpSp>
        <p:nvGrpSpPr>
          <p:cNvPr id="64" name="Question 2 button">
            <a:extLst>
              <a:ext uri="{FF2B5EF4-FFF2-40B4-BE49-F238E27FC236}">
                <a16:creationId xmlns:a16="http://schemas.microsoft.com/office/drawing/2014/main" id="{0F08D366-02CA-4CF4-83E4-62A02F3CCC96}"/>
              </a:ext>
            </a:extLst>
          </p:cNvPr>
          <p:cNvGrpSpPr/>
          <p:nvPr/>
        </p:nvGrpSpPr>
        <p:grpSpPr>
          <a:xfrm>
            <a:off x="250666" y="757570"/>
            <a:ext cx="2600289" cy="912726"/>
            <a:chOff x="197047" y="1133988"/>
            <a:chExt cx="2600289" cy="912726"/>
          </a:xfrm>
        </p:grpSpPr>
        <p:sp>
          <p:nvSpPr>
            <p:cNvPr id="65" name="Question 2">
              <a:hlinkClick r:id="rId9" action="ppaction://hlinksldjump"/>
              <a:extLst>
                <a:ext uri="{FF2B5EF4-FFF2-40B4-BE49-F238E27FC236}">
                  <a16:creationId xmlns:a16="http://schemas.microsoft.com/office/drawing/2014/main" id="{2B24F0A2-373B-4622-933D-51D4D27B7EEC}"/>
                </a:ext>
              </a:extLst>
            </p:cNvPr>
            <p:cNvSpPr txBox="1"/>
            <p:nvPr/>
          </p:nvSpPr>
          <p:spPr>
            <a:xfrm>
              <a:off x="197047" y="1133988"/>
              <a:ext cx="2404590" cy="715089"/>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5 domains of prevention/screening </a:t>
              </a:r>
            </a:p>
          </p:txBody>
        </p:sp>
        <p:pic>
          <p:nvPicPr>
            <p:cNvPr id="66" name="Graphic 65" descr="Cursor with solid fill">
              <a:extLst>
                <a:ext uri="{FF2B5EF4-FFF2-40B4-BE49-F238E27FC236}">
                  <a16:creationId xmlns:a16="http://schemas.microsoft.com/office/drawing/2014/main" id="{E8F76C27-C760-4C4E-A095-5A91C08539C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402062" y="1651440"/>
              <a:ext cx="395274" cy="395274"/>
            </a:xfrm>
            <a:prstGeom prst="rect">
              <a:avLst/>
            </a:prstGeom>
          </p:spPr>
        </p:pic>
      </p:grpSp>
      <p:sp>
        <p:nvSpPr>
          <p:cNvPr id="67" name="Rectangle 66">
            <a:extLst>
              <a:ext uri="{FF2B5EF4-FFF2-40B4-BE49-F238E27FC236}">
                <a16:creationId xmlns:a16="http://schemas.microsoft.com/office/drawing/2014/main" id="{36785A4F-FCA7-45F7-A0EC-556AF7D40452}"/>
              </a:ext>
            </a:extLst>
          </p:cNvPr>
          <p:cNvSpPr/>
          <p:nvPr/>
        </p:nvSpPr>
        <p:spPr>
          <a:xfrm>
            <a:off x="4693296" y="2657919"/>
            <a:ext cx="6482704" cy="284462"/>
          </a:xfrm>
          <a:prstGeom prst="rect">
            <a:avLst/>
          </a:prstGeom>
          <a:solidFill>
            <a:schemeClr val="accent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t>IVDU, MSM + HIV, HD, sex partner with HCV</a:t>
            </a:r>
          </a:p>
        </p:txBody>
      </p:sp>
      <p:sp>
        <p:nvSpPr>
          <p:cNvPr id="70" name="Rectangle 69">
            <a:extLst>
              <a:ext uri="{FF2B5EF4-FFF2-40B4-BE49-F238E27FC236}">
                <a16:creationId xmlns:a16="http://schemas.microsoft.com/office/drawing/2014/main" id="{CAED55E6-F635-4E61-A2A0-F8190605F286}"/>
              </a:ext>
            </a:extLst>
          </p:cNvPr>
          <p:cNvSpPr/>
          <p:nvPr/>
        </p:nvSpPr>
        <p:spPr>
          <a:xfrm>
            <a:off x="4688253" y="1886862"/>
            <a:ext cx="6482705" cy="299696"/>
          </a:xfrm>
          <a:prstGeom prst="rect">
            <a:avLst/>
          </a:prstGeom>
          <a:solidFill>
            <a:schemeClr val="accent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t>MSM, IVDU, sex workers, and more*</a:t>
            </a:r>
          </a:p>
        </p:txBody>
      </p:sp>
    </p:spTree>
    <p:extLst>
      <p:ext uri="{BB962C8B-B14F-4D97-AF65-F5344CB8AC3E}">
        <p14:creationId xmlns:p14="http://schemas.microsoft.com/office/powerpoint/2010/main" val="182368789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4"/>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7"/>
                                        </p:tgtEl>
                                        <p:attrNameLst>
                                          <p:attrName>style.visibility</p:attrName>
                                        </p:attrNameLst>
                                      </p:cBhvr>
                                      <p:to>
                                        <p:strVal val="visible"/>
                                      </p:to>
                                    </p:set>
                                  </p:childTnLst>
                                </p:cTn>
                              </p:par>
                              <p:par>
                                <p:cTn id="11" presetID="1" presetClass="exit" presetSubtype="0" fill="hold" nodeType="withEffect">
                                  <p:stCondLst>
                                    <p:cond delay="0"/>
                                  </p:stCondLst>
                                  <p:childTnLst>
                                    <p:set>
                                      <p:cBhvr>
                                        <p:cTn id="12" dur="1" fill="hold">
                                          <p:stCondLst>
                                            <p:cond delay="0"/>
                                          </p:stCondLst>
                                        </p:cTn>
                                        <p:tgtEl>
                                          <p:spTgt spid="154"/>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7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9"/>
                                        </p:tgtEl>
                                        <p:attrNameLst>
                                          <p:attrName>style.visibility</p:attrName>
                                        </p:attrNameLst>
                                      </p:cBhvr>
                                      <p:to>
                                        <p:strVal val="visible"/>
                                      </p:to>
                                    </p:set>
                                  </p:childTnLst>
                                </p:cTn>
                              </p:par>
                            </p:childTnLst>
                          </p:cTn>
                        </p:par>
                      </p:childTnLst>
                    </p:cTn>
                  </p:par>
                </p:childTnLst>
              </p:cTn>
              <p:nextCondLst>
                <p:cond evt="onClick" delay="0">
                  <p:tgtEl>
                    <p:spTgt spid="14"/>
                  </p:tgtEl>
                </p:cond>
              </p:nextCondLst>
            </p:seq>
            <p:seq concurrent="1" nextAc="seek">
              <p:cTn id="19" restart="whenNotActive" fill="hold" evtFilter="cancelBubble" nodeType="interactiveSeq">
                <p:stCondLst>
                  <p:cond evt="onClick" delay="0">
                    <p:tgtEl>
                      <p:spTgt spid="131"/>
                    </p:tgtEl>
                  </p:cond>
                </p:stCondLst>
                <p:endSync evt="end" delay="0">
                  <p:rtn val="all"/>
                </p:endSync>
                <p:childTnLst>
                  <p:par>
                    <p:cTn id="20" fill="hold">
                      <p:stCondLst>
                        <p:cond delay="0"/>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childTnLst>
                                </p:cTn>
                              </p:par>
                              <p:par>
                                <p:cTn id="24" presetID="1" presetClass="exit" presetSubtype="0" fill="hold" nodeType="withEffect">
                                  <p:stCondLst>
                                    <p:cond delay="0"/>
                                  </p:stCondLst>
                                  <p:childTnLst>
                                    <p:set>
                                      <p:cBhvr>
                                        <p:cTn id="25" dur="1" fill="hold">
                                          <p:stCondLst>
                                            <p:cond delay="0"/>
                                          </p:stCondLst>
                                        </p:cTn>
                                        <p:tgtEl>
                                          <p:spTgt spid="77"/>
                                        </p:tgtEl>
                                        <p:attrNameLst>
                                          <p:attrName>style.visibility</p:attrName>
                                        </p:attrNameLst>
                                      </p:cBhvr>
                                      <p:to>
                                        <p:strVal val="hidden"/>
                                      </p:to>
                                    </p:set>
                                  </p:childTnLst>
                                </p:cTn>
                              </p:par>
                              <p:par>
                                <p:cTn id="26" presetID="1" presetClass="entr" presetSubtype="0" fill="hold" grpId="0" nodeType="withEffect">
                                  <p:stCondLst>
                                    <p:cond delay="0"/>
                                  </p:stCondLst>
                                  <p:childTnLst>
                                    <p:set>
                                      <p:cBhvr>
                                        <p:cTn id="27" dur="1" fill="hold">
                                          <p:stCondLst>
                                            <p:cond delay="0"/>
                                          </p:stCondLst>
                                        </p:cTn>
                                        <p:tgtEl>
                                          <p:spTgt spid="70"/>
                                        </p:tgtEl>
                                        <p:attrNameLst>
                                          <p:attrName>style.visibility</p:attrName>
                                        </p:attrNameLst>
                                      </p:cBhvr>
                                      <p:to>
                                        <p:strVal val="visible"/>
                                      </p:to>
                                    </p:set>
                                  </p:childTnLst>
                                </p:cTn>
                              </p:par>
                            </p:childTnLst>
                          </p:cTn>
                        </p:par>
                      </p:childTnLst>
                    </p:cTn>
                  </p:par>
                </p:childTnLst>
              </p:cTn>
              <p:nextCondLst>
                <p:cond evt="onClick" delay="0">
                  <p:tgtEl>
                    <p:spTgt spid="131"/>
                  </p:tgtEl>
                </p:cond>
              </p:nextCondLst>
            </p:seq>
            <p:seq concurrent="1" nextAc="seek">
              <p:cTn id="28" restart="whenNotActive" fill="hold" evtFilter="cancelBubble" nodeType="interactiveSeq">
                <p:stCondLst>
                  <p:cond evt="onClick" delay="0">
                    <p:tgtEl>
                      <p:spTgt spid="134"/>
                    </p:tgtEl>
                  </p:cond>
                </p:stCondLst>
                <p:endSync evt="end" delay="0">
                  <p:rtn val="all"/>
                </p:endSync>
                <p:childTnLst>
                  <p:par>
                    <p:cTn id="29" fill="hold">
                      <p:stCondLst>
                        <p:cond delay="0"/>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49"/>
                                        </p:tgtEl>
                                        <p:attrNameLst>
                                          <p:attrName>style.visibility</p:attrName>
                                        </p:attrNameLst>
                                      </p:cBhvr>
                                      <p:to>
                                        <p:strVal val="visible"/>
                                      </p:to>
                                    </p:set>
                                  </p:childTnLst>
                                </p:cTn>
                              </p:par>
                              <p:par>
                                <p:cTn id="33" presetID="1" presetClass="exit" presetSubtype="0" fill="hold" nodeType="withEffect">
                                  <p:stCondLst>
                                    <p:cond delay="0"/>
                                  </p:stCondLst>
                                  <p:childTnLst>
                                    <p:set>
                                      <p:cBhvr>
                                        <p:cTn id="34" dur="1" fill="hold">
                                          <p:stCondLst>
                                            <p:cond delay="0"/>
                                          </p:stCondLst>
                                        </p:cTn>
                                        <p:tgtEl>
                                          <p:spTgt spid="78"/>
                                        </p:tgtEl>
                                        <p:attrNameLst>
                                          <p:attrName>style.visibility</p:attrName>
                                        </p:attrNameLst>
                                      </p:cBhvr>
                                      <p:to>
                                        <p:strVal val="hidden"/>
                                      </p:to>
                                    </p:set>
                                  </p:childTnLst>
                                </p:cTn>
                              </p:par>
                              <p:par>
                                <p:cTn id="35" presetID="1" presetClass="entr" presetSubtype="0" fill="hold" grpId="0" nodeType="withEffect">
                                  <p:stCondLst>
                                    <p:cond delay="0"/>
                                  </p:stCondLst>
                                  <p:childTnLst>
                                    <p:set>
                                      <p:cBhvr>
                                        <p:cTn id="36" dur="1" fill="hold">
                                          <p:stCondLst>
                                            <p:cond delay="0"/>
                                          </p:stCondLst>
                                        </p:cTn>
                                        <p:tgtEl>
                                          <p:spTgt spid="67"/>
                                        </p:tgtEl>
                                        <p:attrNameLst>
                                          <p:attrName>style.visibility</p:attrName>
                                        </p:attrNameLst>
                                      </p:cBhvr>
                                      <p:to>
                                        <p:strVal val="visible"/>
                                      </p:to>
                                    </p:set>
                                  </p:childTnLst>
                                </p:cTn>
                              </p:par>
                            </p:childTnLst>
                          </p:cTn>
                        </p:par>
                      </p:childTnLst>
                    </p:cTn>
                  </p:par>
                </p:childTnLst>
              </p:cTn>
              <p:nextCondLst>
                <p:cond evt="onClick" delay="0">
                  <p:tgtEl>
                    <p:spTgt spid="134"/>
                  </p:tgtEl>
                </p:cond>
              </p:nextCondLst>
            </p:seq>
            <p:seq concurrent="1" nextAc="seek">
              <p:cTn id="37" restart="whenNotActive" fill="hold" evtFilter="cancelBubble" nodeType="interactiveSeq">
                <p:stCondLst>
                  <p:cond evt="onClick" delay="0">
                    <p:tgtEl>
                      <p:spTgt spid="137"/>
                    </p:tgtEl>
                  </p:cond>
                </p:stCondLst>
                <p:endSync evt="end" delay="0">
                  <p:rtn val="all"/>
                </p:endSync>
                <p:childTnLst>
                  <p:par>
                    <p:cTn id="38" fill="hold">
                      <p:stCondLst>
                        <p:cond delay="0"/>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50"/>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69"/>
                                        </p:tgtEl>
                                        <p:attrNameLst>
                                          <p:attrName>style.visibility</p:attrName>
                                        </p:attrNameLst>
                                      </p:cBhvr>
                                      <p:to>
                                        <p:strVal val="visible"/>
                                      </p:to>
                                    </p:set>
                                  </p:childTnLst>
                                </p:cTn>
                              </p:par>
                              <p:par>
                                <p:cTn id="44" presetID="1" presetClass="exit" presetSubtype="0" fill="hold" nodeType="withEffect">
                                  <p:stCondLst>
                                    <p:cond delay="0"/>
                                  </p:stCondLst>
                                  <p:childTnLst>
                                    <p:set>
                                      <p:cBhvr>
                                        <p:cTn id="45" dur="1" fill="hold">
                                          <p:stCondLst>
                                            <p:cond delay="0"/>
                                          </p:stCondLst>
                                        </p:cTn>
                                        <p:tgtEl>
                                          <p:spTgt spid="79"/>
                                        </p:tgtEl>
                                        <p:attrNameLst>
                                          <p:attrName>style.visibility</p:attrName>
                                        </p:attrNameLst>
                                      </p:cBhvr>
                                      <p:to>
                                        <p:strVal val="hidden"/>
                                      </p:to>
                                    </p:set>
                                  </p:childTnLst>
                                </p:cTn>
                              </p:par>
                            </p:childTnLst>
                          </p:cTn>
                        </p:par>
                      </p:childTnLst>
                    </p:cTn>
                  </p:par>
                </p:childTnLst>
              </p:cTn>
              <p:nextCondLst>
                <p:cond evt="onClick" delay="0">
                  <p:tgtEl>
                    <p:spTgt spid="137"/>
                  </p:tgtEl>
                </p:cond>
              </p:nextCondLst>
            </p:seq>
            <p:seq concurrent="1" nextAc="seek">
              <p:cTn id="46" restart="whenNotActive" fill="hold" evtFilter="cancelBubble" nodeType="interactiveSeq">
                <p:stCondLst>
                  <p:cond evt="onClick" delay="0">
                    <p:tgtEl>
                      <p:spTgt spid="152"/>
                    </p:tgtEl>
                  </p:cond>
                </p:stCondLst>
                <p:endSync evt="end" delay="0">
                  <p:rtn val="all"/>
                </p:endSync>
                <p:childTnLst>
                  <p:par>
                    <p:cTn id="47" fill="hold">
                      <p:stCondLst>
                        <p:cond delay="0"/>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40"/>
                                        </p:tgtEl>
                                        <p:attrNameLst>
                                          <p:attrName>style.visibility</p:attrName>
                                        </p:attrNameLst>
                                      </p:cBhvr>
                                      <p:to>
                                        <p:strVal val="visible"/>
                                      </p:to>
                                    </p:set>
                                  </p:childTnLst>
                                </p:cTn>
                              </p:par>
                              <p:par>
                                <p:cTn id="51" presetID="1" presetClass="exit" presetSubtype="0" fill="hold" nodeType="withEffect">
                                  <p:stCondLst>
                                    <p:cond delay="0"/>
                                  </p:stCondLst>
                                  <p:childTnLst>
                                    <p:set>
                                      <p:cBhvr>
                                        <p:cTn id="52" dur="1" fill="hold">
                                          <p:stCondLst>
                                            <p:cond delay="0"/>
                                          </p:stCondLst>
                                        </p:cTn>
                                        <p:tgtEl>
                                          <p:spTgt spid="155"/>
                                        </p:tgtEl>
                                        <p:attrNameLst>
                                          <p:attrName>style.visibility</p:attrName>
                                        </p:attrNameLst>
                                      </p:cBhvr>
                                      <p:to>
                                        <p:strVal val="hidden"/>
                                      </p:to>
                                    </p:set>
                                  </p:childTnLst>
                                </p:cTn>
                              </p:par>
                              <p:par>
                                <p:cTn id="53" presetID="1" presetClass="entr" presetSubtype="0" fill="hold" grpId="0" nodeType="withEffect">
                                  <p:stCondLst>
                                    <p:cond delay="0"/>
                                  </p:stCondLst>
                                  <p:childTnLst>
                                    <p:set>
                                      <p:cBhvr>
                                        <p:cTn id="54" dur="1" fill="hold">
                                          <p:stCondLst>
                                            <p:cond delay="0"/>
                                          </p:stCondLst>
                                        </p:cTn>
                                        <p:tgtEl>
                                          <p:spTgt spid="14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46"/>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80"/>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82"/>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83"/>
                                        </p:tgtEl>
                                        <p:attrNameLst>
                                          <p:attrName>style.visibility</p:attrName>
                                        </p:attrNameLst>
                                      </p:cBhvr>
                                      <p:to>
                                        <p:strVal val="visible"/>
                                      </p:to>
                                    </p:set>
                                  </p:childTnLst>
                                </p:cTn>
                              </p:par>
                              <p:par>
                                <p:cTn id="63" presetID="1" presetClass="entr" presetSubtype="0" fill="hold" grpId="1" nodeType="withEffect">
                                  <p:stCondLst>
                                    <p:cond delay="0"/>
                                  </p:stCondLst>
                                  <p:childTnLst>
                                    <p:set>
                                      <p:cBhvr>
                                        <p:cTn id="64" dur="1" fill="hold">
                                          <p:stCondLst>
                                            <p:cond delay="0"/>
                                          </p:stCondLst>
                                        </p:cTn>
                                        <p:tgtEl>
                                          <p:spTgt spid="140"/>
                                        </p:tgtEl>
                                        <p:attrNameLst>
                                          <p:attrName>style.visibility</p:attrName>
                                        </p:attrNameLst>
                                      </p:cBhvr>
                                      <p:to>
                                        <p:strVal val="visible"/>
                                      </p:to>
                                    </p:set>
                                  </p:childTnLst>
                                </p:cTn>
                              </p:par>
                            </p:childTnLst>
                          </p:cTn>
                        </p:par>
                      </p:childTnLst>
                    </p:cTn>
                  </p:par>
                </p:childTnLst>
              </p:cTn>
              <p:nextCondLst>
                <p:cond evt="onClick" delay="0">
                  <p:tgtEl>
                    <p:spTgt spid="152"/>
                  </p:tgtEl>
                </p:cond>
              </p:nextCondLst>
            </p:seq>
            <p:seq concurrent="1" nextAc="seek">
              <p:cTn id="65" restart="whenNotActive" fill="hold" evtFilter="cancelBubble" nodeType="interactiveSeq">
                <p:stCondLst>
                  <p:cond evt="onClick" delay="0">
                    <p:tgtEl>
                      <p:spTgt spid="140"/>
                    </p:tgtEl>
                  </p:cond>
                </p:stCondLst>
                <p:endSync evt="end" delay="0">
                  <p:rtn val="all"/>
                </p:endSync>
                <p:childTnLst>
                  <p:par>
                    <p:cTn id="66" fill="hold">
                      <p:stCondLst>
                        <p:cond delay="0"/>
                      </p:stCondLst>
                      <p:childTnLst>
                        <p:par>
                          <p:cTn id="67" fill="hold">
                            <p:stCondLst>
                              <p:cond delay="0"/>
                            </p:stCondLst>
                            <p:childTnLst>
                              <p:par>
                                <p:cTn id="68" presetID="1" presetClass="exit" presetSubtype="0" fill="hold" nodeType="withEffect">
                                  <p:stCondLst>
                                    <p:cond delay="0"/>
                                  </p:stCondLst>
                                  <p:childTnLst>
                                    <p:set>
                                      <p:cBhvr>
                                        <p:cTn id="69" dur="1" fill="hold">
                                          <p:stCondLst>
                                            <p:cond delay="0"/>
                                          </p:stCondLst>
                                        </p:cTn>
                                        <p:tgtEl>
                                          <p:spTgt spid="80"/>
                                        </p:tgtEl>
                                        <p:attrNameLst>
                                          <p:attrName>style.visibility</p:attrName>
                                        </p:attrNameLst>
                                      </p:cBhvr>
                                      <p:to>
                                        <p:strVal val="hidden"/>
                                      </p:to>
                                    </p:set>
                                  </p:childTnLst>
                                </p:cTn>
                              </p:par>
                              <p:par>
                                <p:cTn id="70" presetID="1" presetClass="entr" presetSubtype="0" fill="hold" grpId="0" nodeType="withEffect">
                                  <p:stCondLst>
                                    <p:cond delay="0"/>
                                  </p:stCondLst>
                                  <p:childTnLst>
                                    <p:set>
                                      <p:cBhvr>
                                        <p:cTn id="71" dur="1" fill="hold">
                                          <p:stCondLst>
                                            <p:cond delay="0"/>
                                          </p:stCondLst>
                                        </p:cTn>
                                        <p:tgtEl>
                                          <p:spTgt spid="74"/>
                                        </p:tgtEl>
                                        <p:attrNameLst>
                                          <p:attrName>style.visibility</p:attrName>
                                        </p:attrNameLst>
                                      </p:cBhvr>
                                      <p:to>
                                        <p:strVal val="visible"/>
                                      </p:to>
                                    </p:set>
                                  </p:childTnLst>
                                </p:cTn>
                              </p:par>
                            </p:childTnLst>
                          </p:cTn>
                        </p:par>
                      </p:childTnLst>
                    </p:cTn>
                  </p:par>
                </p:childTnLst>
              </p:cTn>
              <p:nextCondLst>
                <p:cond evt="onClick" delay="0">
                  <p:tgtEl>
                    <p:spTgt spid="140"/>
                  </p:tgtEl>
                </p:cond>
              </p:nextCondLst>
            </p:seq>
            <p:seq concurrent="1" nextAc="seek">
              <p:cTn id="72" restart="whenNotActive" fill="hold" evtFilter="cancelBubble" nodeType="interactiveSeq">
                <p:stCondLst>
                  <p:cond evt="onClick" delay="0">
                    <p:tgtEl>
                      <p:spTgt spid="143"/>
                    </p:tgtEl>
                  </p:cond>
                </p:stCondLst>
                <p:endSync evt="end" delay="0">
                  <p:rtn val="all"/>
                </p:endSync>
                <p:childTnLst>
                  <p:par>
                    <p:cTn id="73" fill="hold">
                      <p:stCondLst>
                        <p:cond delay="0"/>
                      </p:stCondLst>
                      <p:childTnLst>
                        <p:par>
                          <p:cTn id="74" fill="hold">
                            <p:stCondLst>
                              <p:cond delay="0"/>
                            </p:stCondLst>
                            <p:childTnLst>
                              <p:par>
                                <p:cTn id="75" presetID="1" presetClass="exit" presetSubtype="0" fill="hold" nodeType="withEffect">
                                  <p:stCondLst>
                                    <p:cond delay="0"/>
                                  </p:stCondLst>
                                  <p:childTnLst>
                                    <p:set>
                                      <p:cBhvr>
                                        <p:cTn id="76" dur="1" fill="hold">
                                          <p:stCondLst>
                                            <p:cond delay="0"/>
                                          </p:stCondLst>
                                        </p:cTn>
                                        <p:tgtEl>
                                          <p:spTgt spid="82"/>
                                        </p:tgtEl>
                                        <p:attrNameLst>
                                          <p:attrName>style.visibility</p:attrName>
                                        </p:attrNameLst>
                                      </p:cBhvr>
                                      <p:to>
                                        <p:strVal val="hidden"/>
                                      </p:to>
                                    </p:set>
                                  </p:childTnLst>
                                </p:cTn>
                              </p:par>
                              <p:par>
                                <p:cTn id="77" presetID="1" presetClass="entr" presetSubtype="0" fill="hold" grpId="0" nodeType="withEffect">
                                  <p:stCondLst>
                                    <p:cond delay="0"/>
                                  </p:stCondLst>
                                  <p:childTnLst>
                                    <p:set>
                                      <p:cBhvr>
                                        <p:cTn id="78" dur="1" fill="hold">
                                          <p:stCondLst>
                                            <p:cond delay="0"/>
                                          </p:stCondLst>
                                        </p:cTn>
                                        <p:tgtEl>
                                          <p:spTgt spid="75"/>
                                        </p:tgtEl>
                                        <p:attrNameLst>
                                          <p:attrName>style.visibility</p:attrName>
                                        </p:attrNameLst>
                                      </p:cBhvr>
                                      <p:to>
                                        <p:strVal val="visible"/>
                                      </p:to>
                                    </p:set>
                                  </p:childTnLst>
                                </p:cTn>
                              </p:par>
                            </p:childTnLst>
                          </p:cTn>
                        </p:par>
                      </p:childTnLst>
                    </p:cTn>
                  </p:par>
                </p:childTnLst>
              </p:cTn>
              <p:nextCondLst>
                <p:cond evt="onClick" delay="0">
                  <p:tgtEl>
                    <p:spTgt spid="143"/>
                  </p:tgtEl>
                </p:cond>
              </p:nextCondLst>
            </p:seq>
            <p:seq concurrent="1" nextAc="seek">
              <p:cTn id="79" restart="whenNotActive" fill="hold" evtFilter="cancelBubble" nodeType="interactiveSeq">
                <p:stCondLst>
                  <p:cond evt="onClick" delay="0">
                    <p:tgtEl>
                      <p:spTgt spid="146"/>
                    </p:tgtEl>
                  </p:cond>
                </p:stCondLst>
                <p:endSync evt="end" delay="0">
                  <p:rtn val="all"/>
                </p:endSync>
                <p:childTnLst>
                  <p:par>
                    <p:cTn id="80" fill="hold">
                      <p:stCondLst>
                        <p:cond delay="0"/>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76"/>
                                        </p:tgtEl>
                                        <p:attrNameLst>
                                          <p:attrName>style.visibility</p:attrName>
                                        </p:attrNameLst>
                                      </p:cBhvr>
                                      <p:to>
                                        <p:strVal val="visible"/>
                                      </p:to>
                                    </p:set>
                                  </p:childTnLst>
                                </p:cTn>
                              </p:par>
                              <p:par>
                                <p:cTn id="84" presetID="1" presetClass="exit" presetSubtype="0" fill="hold" nodeType="withEffect">
                                  <p:stCondLst>
                                    <p:cond delay="0"/>
                                  </p:stCondLst>
                                  <p:childTnLst>
                                    <p:set>
                                      <p:cBhvr>
                                        <p:cTn id="85" dur="1" fill="hold">
                                          <p:stCondLst>
                                            <p:cond delay="0"/>
                                          </p:stCondLst>
                                        </p:cTn>
                                        <p:tgtEl>
                                          <p:spTgt spid="83"/>
                                        </p:tgtEl>
                                        <p:attrNameLst>
                                          <p:attrName>style.visibility</p:attrName>
                                        </p:attrNameLst>
                                      </p:cBhvr>
                                      <p:to>
                                        <p:strVal val="hidden"/>
                                      </p:to>
                                    </p:set>
                                  </p:childTnLst>
                                </p:cTn>
                              </p:par>
                            </p:childTnLst>
                          </p:cTn>
                        </p:par>
                      </p:childTnLst>
                    </p:cTn>
                  </p:par>
                </p:childTnLst>
              </p:cTn>
              <p:nextCondLst>
                <p:cond evt="onClick" delay="0">
                  <p:tgtEl>
                    <p:spTgt spid="146"/>
                  </p:tgtEl>
                </p:cond>
              </p:nextCondLst>
            </p:seq>
          </p:childTnLst>
        </p:cTn>
      </p:par>
    </p:tnLst>
    <p:bldLst>
      <p:bldP spid="131" grpId="0" animBg="1"/>
      <p:bldP spid="134" grpId="0" animBg="1"/>
      <p:bldP spid="137" grpId="0" animBg="1"/>
      <p:bldP spid="140" grpId="0" animBg="1"/>
      <p:bldP spid="140" grpId="1" animBg="1"/>
      <p:bldP spid="143" grpId="0" animBg="1"/>
      <p:bldP spid="146" grpId="0" animBg="1"/>
      <p:bldP spid="9" grpId="0" animBg="1"/>
      <p:bldP spid="149" grpId="0" animBg="1"/>
      <p:bldP spid="150" grpId="0" animBg="1"/>
      <p:bldP spid="69" grpId="0" animBg="1"/>
      <p:bldP spid="74" grpId="0" animBg="1"/>
      <p:bldP spid="75" grpId="0" animBg="1"/>
      <p:bldP spid="76" grpId="0" animBg="1"/>
      <p:bldP spid="67" grpId="0" animBg="1"/>
      <p:bldP spid="7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67B20797-FA42-4BBA-ABF2-5CF06A40D43C}"/>
              </a:ext>
            </a:extLst>
          </p:cNvPr>
          <p:cNvCxnSpPr>
            <a:cxnSpLocks/>
          </p:cNvCxnSpPr>
          <p:nvPr/>
        </p:nvCxnSpPr>
        <p:spPr>
          <a:xfrm>
            <a:off x="5672921" y="260821"/>
            <a:ext cx="0" cy="6460559"/>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66ED83D-4D37-4A82-8C3A-63919FF9C74A}"/>
              </a:ext>
            </a:extLst>
          </p:cNvPr>
          <p:cNvCxnSpPr>
            <a:cxnSpLocks/>
          </p:cNvCxnSpPr>
          <p:nvPr/>
        </p:nvCxnSpPr>
        <p:spPr>
          <a:xfrm>
            <a:off x="9026400" y="250352"/>
            <a:ext cx="0" cy="6495239"/>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1" name="Case 1">
            <a:extLst>
              <a:ext uri="{FF2B5EF4-FFF2-40B4-BE49-F238E27FC236}">
                <a16:creationId xmlns:a16="http://schemas.microsoft.com/office/drawing/2014/main" id="{D2B7E91F-D4C0-4BE2-8AA9-79828559D719}"/>
              </a:ext>
            </a:extLst>
          </p:cNvPr>
          <p:cNvSpPr/>
          <p:nvPr/>
        </p:nvSpPr>
        <p:spPr>
          <a:xfrm>
            <a:off x="3056689" y="228649"/>
            <a:ext cx="1868037" cy="412786"/>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Case 1</a:t>
            </a:r>
          </a:p>
        </p:txBody>
      </p:sp>
      <p:sp>
        <p:nvSpPr>
          <p:cNvPr id="13" name="Case 1 text">
            <a:extLst>
              <a:ext uri="{FF2B5EF4-FFF2-40B4-BE49-F238E27FC236}">
                <a16:creationId xmlns:a16="http://schemas.microsoft.com/office/drawing/2014/main" id="{28FAF219-B0F0-4D6F-A011-8C6E213E6DC1}"/>
              </a:ext>
            </a:extLst>
          </p:cNvPr>
          <p:cNvSpPr txBox="1"/>
          <p:nvPr/>
        </p:nvSpPr>
        <p:spPr>
          <a:xfrm>
            <a:off x="2551247" y="742882"/>
            <a:ext cx="2937833" cy="3970318"/>
          </a:xfrm>
          <a:prstGeom prst="rect">
            <a:avLst/>
          </a:prstGeom>
          <a:noFill/>
        </p:spPr>
        <p:txBody>
          <a:bodyPr wrap="square" lIns="91440" tIns="45720" rIns="91440" bIns="45720" rtlCol="0" anchor="t">
            <a:spAutoFit/>
          </a:bodyPr>
          <a:lstStyle/>
          <a:p>
            <a:r>
              <a:rPr lang="en-US" sz="1400" dirty="0">
                <a:ea typeface="+mn-lt"/>
                <a:cs typeface="+mn-lt"/>
              </a:rPr>
              <a:t>54 yo W presents to establish care. She has a history of hypertension controlled on amlodipine 10 mg. She has smoked 1 </a:t>
            </a:r>
            <a:r>
              <a:rPr lang="en-US" sz="1400" dirty="0" err="1">
                <a:ea typeface="+mn-lt"/>
                <a:cs typeface="+mn-lt"/>
              </a:rPr>
              <a:t>ppd</a:t>
            </a:r>
            <a:r>
              <a:rPr lang="en-US" sz="1400" dirty="0">
                <a:ea typeface="+mn-lt"/>
                <a:cs typeface="+mn-lt"/>
              </a:rPr>
              <a:t> since she was 19 - tried quitting in the past but is not interested right now. Had a normal colonoscopy 4 years ago and a mammogram 2 years ago.  She can’t recall her last pap smear but has never had abnormal results. No family history of cancer.  Sexually active with her husband.</a:t>
            </a:r>
          </a:p>
          <a:p>
            <a:endParaRPr lang="en-US" sz="1400" dirty="0">
              <a:ea typeface="+mn-lt"/>
              <a:cs typeface="+mn-lt"/>
            </a:endParaRPr>
          </a:p>
          <a:p>
            <a:r>
              <a:rPr lang="en-US" sz="1400" dirty="0">
                <a:ea typeface="+mn-lt"/>
                <a:cs typeface="+mn-lt"/>
              </a:rPr>
              <a:t>VS</a:t>
            </a:r>
            <a:r>
              <a:rPr lang="en-US" sz="1400" b="1" dirty="0">
                <a:ea typeface="+mn-lt"/>
                <a:cs typeface="+mn-lt"/>
              </a:rPr>
              <a:t>: </a:t>
            </a:r>
            <a:r>
              <a:rPr lang="en-US" sz="1400" dirty="0" err="1">
                <a:ea typeface="+mn-lt"/>
                <a:cs typeface="+mn-lt"/>
              </a:rPr>
              <a:t>Ht</a:t>
            </a:r>
            <a:r>
              <a:rPr lang="en-US" sz="1400" dirty="0">
                <a:ea typeface="+mn-lt"/>
                <a:cs typeface="+mn-lt"/>
              </a:rPr>
              <a:t> 5’4”, </a:t>
            </a:r>
            <a:r>
              <a:rPr lang="en-US" sz="1400" dirty="0" err="1">
                <a:ea typeface="+mn-lt"/>
                <a:cs typeface="+mn-lt"/>
              </a:rPr>
              <a:t>Wt</a:t>
            </a:r>
            <a:r>
              <a:rPr lang="en-US" sz="1400" dirty="0">
                <a:ea typeface="+mn-lt"/>
                <a:cs typeface="+mn-lt"/>
              </a:rPr>
              <a:t> 145lbs, HR 76, BP 132/75, RR 18, SpO2 94%</a:t>
            </a:r>
          </a:p>
          <a:p>
            <a:endParaRPr lang="en-US" sz="1400" dirty="0">
              <a:ea typeface="+mn-lt"/>
              <a:cs typeface="+mn-lt"/>
            </a:endParaRPr>
          </a:p>
          <a:p>
            <a:r>
              <a:rPr lang="en-US" sz="1400" dirty="0">
                <a:ea typeface="+mn-lt"/>
                <a:cs typeface="+mn-lt"/>
              </a:rPr>
              <a:t>PE: Unremarkable cardiac and pulmonary exams. </a:t>
            </a:r>
          </a:p>
        </p:txBody>
      </p:sp>
      <p:sp>
        <p:nvSpPr>
          <p:cNvPr id="28" name="Case 1 - Pre-test button">
            <a:extLst>
              <a:ext uri="{FF2B5EF4-FFF2-40B4-BE49-F238E27FC236}">
                <a16:creationId xmlns:a16="http://schemas.microsoft.com/office/drawing/2014/main" id="{A720D17D-CBB7-401A-B329-CE14FDF24C03}"/>
              </a:ext>
            </a:extLst>
          </p:cNvPr>
          <p:cNvSpPr/>
          <p:nvPr/>
        </p:nvSpPr>
        <p:spPr>
          <a:xfrm>
            <a:off x="2546752" y="4705072"/>
            <a:ext cx="2931902" cy="538077"/>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What cancer screening is recommended?</a:t>
            </a:r>
          </a:p>
        </p:txBody>
      </p:sp>
      <p:sp>
        <p:nvSpPr>
          <p:cNvPr id="31" name="Case 1 - ECG button">
            <a:extLst>
              <a:ext uri="{FF2B5EF4-FFF2-40B4-BE49-F238E27FC236}">
                <a16:creationId xmlns:a16="http://schemas.microsoft.com/office/drawing/2014/main" id="{FC95995F-E4E4-4637-AB4F-6B3EE9F47547}"/>
              </a:ext>
            </a:extLst>
          </p:cNvPr>
          <p:cNvSpPr/>
          <p:nvPr/>
        </p:nvSpPr>
        <p:spPr>
          <a:xfrm>
            <a:off x="2542174" y="5427890"/>
            <a:ext cx="2931900" cy="1262399"/>
          </a:xfrm>
          <a:prstGeom prst="roundRect">
            <a:avLst>
              <a:gd name="adj" fmla="val 10321"/>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What would you order and how you would counsel her?</a:t>
            </a:r>
          </a:p>
        </p:txBody>
      </p:sp>
      <p:sp>
        <p:nvSpPr>
          <p:cNvPr id="33" name="Case 1 - Pre-test answer">
            <a:extLst>
              <a:ext uri="{FF2B5EF4-FFF2-40B4-BE49-F238E27FC236}">
                <a16:creationId xmlns:a16="http://schemas.microsoft.com/office/drawing/2014/main" id="{8E93BC3D-9A48-4519-87F0-DC82D5777AEB}"/>
              </a:ext>
            </a:extLst>
          </p:cNvPr>
          <p:cNvSpPr/>
          <p:nvPr/>
        </p:nvSpPr>
        <p:spPr>
          <a:xfrm>
            <a:off x="2551248" y="4698141"/>
            <a:ext cx="2931902" cy="53239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1) Breast cancer, 2) Lung cancer, 3) Cervical cancer</a:t>
            </a:r>
          </a:p>
        </p:txBody>
      </p:sp>
      <p:sp>
        <p:nvSpPr>
          <p:cNvPr id="34" name="Case 1 - answer two">
            <a:extLst>
              <a:ext uri="{FF2B5EF4-FFF2-40B4-BE49-F238E27FC236}">
                <a16:creationId xmlns:a16="http://schemas.microsoft.com/office/drawing/2014/main" id="{78D59F4F-3EF0-4B50-B0DE-BD1DB0BEC628}"/>
              </a:ext>
            </a:extLst>
          </p:cNvPr>
          <p:cNvSpPr/>
          <p:nvPr/>
        </p:nvSpPr>
        <p:spPr>
          <a:xfrm>
            <a:off x="2545999" y="5420757"/>
            <a:ext cx="2928074" cy="1262398"/>
          </a:xfrm>
          <a:prstGeom prst="roundRect">
            <a:avLst>
              <a:gd name="adj" fmla="val 11507"/>
            </a:avLst>
          </a:prstGeom>
        </p:spPr>
        <p:style>
          <a:lnRef idx="2">
            <a:schemeClr val="accent1"/>
          </a:lnRef>
          <a:fillRef idx="1">
            <a:schemeClr val="lt1"/>
          </a:fillRef>
          <a:effectRef idx="0">
            <a:schemeClr val="accent1"/>
          </a:effectRef>
          <a:fontRef idx="minor">
            <a:schemeClr val="dk1"/>
          </a:fontRef>
        </p:style>
        <p:txBody>
          <a:bodyPr rtlCol="0" anchor="ctr"/>
          <a:lstStyle/>
          <a:p>
            <a:pPr marL="287338" indent="-287338">
              <a:buAutoNum type="arabicParenR"/>
            </a:pPr>
            <a:r>
              <a:rPr lang="en-US" sz="1400" dirty="0"/>
              <a:t>Bilateral screening mammogram</a:t>
            </a:r>
          </a:p>
          <a:p>
            <a:pPr marL="287338" indent="-287338">
              <a:buAutoNum type="arabicParenR"/>
            </a:pPr>
            <a:r>
              <a:rPr lang="en-US" sz="1400" dirty="0"/>
              <a:t>LDCT scan after </a:t>
            </a:r>
            <a:r>
              <a:rPr lang="en-US" sz="1400" dirty="0">
                <a:hlinkClick r:id="rId3"/>
              </a:rPr>
              <a:t>shared decision making discussion</a:t>
            </a:r>
            <a:endParaRPr lang="en-US" sz="1400" dirty="0"/>
          </a:p>
          <a:p>
            <a:pPr marL="287338" indent="-287338">
              <a:buAutoNum type="arabicParenR"/>
            </a:pPr>
            <a:r>
              <a:rPr lang="en-US" sz="1400" dirty="0"/>
              <a:t>Primary </a:t>
            </a:r>
            <a:r>
              <a:rPr lang="en-US" sz="1400" dirty="0" err="1"/>
              <a:t>hrHPV</a:t>
            </a:r>
            <a:r>
              <a:rPr lang="en-US" sz="1400" dirty="0"/>
              <a:t> test or Cytology + </a:t>
            </a:r>
            <a:r>
              <a:rPr lang="en-US" sz="1400" dirty="0" err="1"/>
              <a:t>hrHPV</a:t>
            </a:r>
            <a:r>
              <a:rPr lang="en-US" sz="1400" dirty="0"/>
              <a:t> co-test</a:t>
            </a:r>
          </a:p>
        </p:txBody>
      </p:sp>
      <p:sp>
        <p:nvSpPr>
          <p:cNvPr id="129" name="Case 2">
            <a:extLst>
              <a:ext uri="{FF2B5EF4-FFF2-40B4-BE49-F238E27FC236}">
                <a16:creationId xmlns:a16="http://schemas.microsoft.com/office/drawing/2014/main" id="{41FEB336-49CA-4EC0-AC0A-587C0CD09C68}"/>
              </a:ext>
            </a:extLst>
          </p:cNvPr>
          <p:cNvSpPr/>
          <p:nvPr/>
        </p:nvSpPr>
        <p:spPr>
          <a:xfrm>
            <a:off x="6519080" y="228649"/>
            <a:ext cx="1775109" cy="412786"/>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Case 2</a:t>
            </a:r>
          </a:p>
        </p:txBody>
      </p:sp>
      <p:sp>
        <p:nvSpPr>
          <p:cNvPr id="131" name="Case 1 text">
            <a:extLst>
              <a:ext uri="{FF2B5EF4-FFF2-40B4-BE49-F238E27FC236}">
                <a16:creationId xmlns:a16="http://schemas.microsoft.com/office/drawing/2014/main" id="{83105C6D-94DC-444D-A80F-80E89A1ED833}"/>
              </a:ext>
            </a:extLst>
          </p:cNvPr>
          <p:cNvSpPr txBox="1"/>
          <p:nvPr/>
        </p:nvSpPr>
        <p:spPr>
          <a:xfrm>
            <a:off x="5846317" y="844776"/>
            <a:ext cx="3147322" cy="3323987"/>
          </a:xfrm>
          <a:prstGeom prst="rect">
            <a:avLst/>
          </a:prstGeom>
          <a:noFill/>
        </p:spPr>
        <p:txBody>
          <a:bodyPr wrap="square" lIns="91440" tIns="45720" rIns="91440" bIns="45720" rtlCol="0" anchor="t">
            <a:spAutoFit/>
          </a:bodyPr>
          <a:lstStyle/>
          <a:p>
            <a:pPr marL="0" indent="0">
              <a:spcBef>
                <a:spcPts val="0"/>
              </a:spcBef>
              <a:buNone/>
            </a:pPr>
            <a:r>
              <a:rPr lang="en-US" sz="1400" dirty="0"/>
              <a:t>56 yo homeless M presents to establish care. He has not seen a provider for 8 years. He takes no medications and has no allergies. He has smoked ½ </a:t>
            </a:r>
            <a:r>
              <a:rPr lang="en-US" sz="1400" dirty="0" err="1"/>
              <a:t>ppd</a:t>
            </a:r>
            <a:r>
              <a:rPr lang="en-US" sz="1400" dirty="0"/>
              <a:t> for the past 20 years. Denies any illicit drug use and quit drinking alcohol 2 years ago. No family history of cancer and not currently sexually active. </a:t>
            </a:r>
          </a:p>
          <a:p>
            <a:pPr marL="0" indent="0">
              <a:spcBef>
                <a:spcPts val="0"/>
              </a:spcBef>
              <a:buNone/>
            </a:pPr>
            <a:endParaRPr lang="en-US" sz="1400" dirty="0"/>
          </a:p>
          <a:p>
            <a:r>
              <a:rPr lang="en-US" sz="1400" dirty="0">
                <a:ea typeface="+mn-lt"/>
                <a:cs typeface="+mn-lt"/>
              </a:rPr>
              <a:t>VS</a:t>
            </a:r>
            <a:r>
              <a:rPr lang="en-US" sz="1400" b="1" dirty="0">
                <a:ea typeface="+mn-lt"/>
                <a:cs typeface="+mn-lt"/>
              </a:rPr>
              <a:t>: </a:t>
            </a:r>
            <a:r>
              <a:rPr lang="en-US" sz="1400" dirty="0" err="1">
                <a:ea typeface="+mn-lt"/>
                <a:cs typeface="+mn-lt"/>
              </a:rPr>
              <a:t>Ht</a:t>
            </a:r>
            <a:r>
              <a:rPr lang="en-US" sz="1400" dirty="0">
                <a:ea typeface="+mn-lt"/>
                <a:cs typeface="+mn-lt"/>
              </a:rPr>
              <a:t> 5’10”, </a:t>
            </a:r>
            <a:r>
              <a:rPr lang="en-US" sz="1400" dirty="0" err="1">
                <a:ea typeface="+mn-lt"/>
                <a:cs typeface="+mn-lt"/>
              </a:rPr>
              <a:t>Wt</a:t>
            </a:r>
            <a:r>
              <a:rPr lang="en-US" sz="1400" dirty="0">
                <a:ea typeface="+mn-lt"/>
                <a:cs typeface="+mn-lt"/>
              </a:rPr>
              <a:t> 165lbs, HR 82, BP 138/80, RR 16, SpO2 95%</a:t>
            </a:r>
          </a:p>
          <a:p>
            <a:endParaRPr lang="en-US" sz="1400" dirty="0">
              <a:ea typeface="+mn-lt"/>
              <a:cs typeface="+mn-lt"/>
            </a:endParaRPr>
          </a:p>
          <a:p>
            <a:r>
              <a:rPr lang="en-US" sz="1400" dirty="0">
                <a:ea typeface="+mn-lt"/>
                <a:cs typeface="+mn-lt"/>
              </a:rPr>
              <a:t>PE</a:t>
            </a:r>
            <a:r>
              <a:rPr lang="en-US" sz="1400" b="1" dirty="0">
                <a:ea typeface="+mn-lt"/>
                <a:cs typeface="+mn-lt"/>
              </a:rPr>
              <a:t>:</a:t>
            </a:r>
            <a:r>
              <a:rPr lang="en-US" sz="1400" dirty="0">
                <a:ea typeface="+mn-lt"/>
                <a:cs typeface="+mn-lt"/>
              </a:rPr>
              <a:t> Unremarkable cardiac and pulmonary exams. </a:t>
            </a:r>
          </a:p>
          <a:p>
            <a:pPr marL="0" indent="0">
              <a:spcBef>
                <a:spcPts val="0"/>
              </a:spcBef>
              <a:buNone/>
            </a:pPr>
            <a:endParaRPr lang="en-US" sz="1400" dirty="0"/>
          </a:p>
        </p:txBody>
      </p:sp>
      <p:sp>
        <p:nvSpPr>
          <p:cNvPr id="146" name="Case 3 button">
            <a:extLst>
              <a:ext uri="{FF2B5EF4-FFF2-40B4-BE49-F238E27FC236}">
                <a16:creationId xmlns:a16="http://schemas.microsoft.com/office/drawing/2014/main" id="{BCA0C0CD-F8E1-4146-83B0-B64E06FE4D1F}"/>
              </a:ext>
            </a:extLst>
          </p:cNvPr>
          <p:cNvSpPr/>
          <p:nvPr/>
        </p:nvSpPr>
        <p:spPr>
          <a:xfrm>
            <a:off x="9607275" y="228649"/>
            <a:ext cx="1848653" cy="412786"/>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Case 3</a:t>
            </a:r>
          </a:p>
        </p:txBody>
      </p:sp>
      <p:sp>
        <p:nvSpPr>
          <p:cNvPr id="148" name="Case 1 text">
            <a:extLst>
              <a:ext uri="{FF2B5EF4-FFF2-40B4-BE49-F238E27FC236}">
                <a16:creationId xmlns:a16="http://schemas.microsoft.com/office/drawing/2014/main" id="{E6A604B5-B4FA-4AC4-9DD7-10C3ABA8A1DE}"/>
              </a:ext>
            </a:extLst>
          </p:cNvPr>
          <p:cNvSpPr txBox="1"/>
          <p:nvPr/>
        </p:nvSpPr>
        <p:spPr>
          <a:xfrm>
            <a:off x="9098280" y="776391"/>
            <a:ext cx="2896593" cy="2246769"/>
          </a:xfrm>
          <a:prstGeom prst="rect">
            <a:avLst/>
          </a:prstGeom>
          <a:noFill/>
        </p:spPr>
        <p:txBody>
          <a:bodyPr wrap="square" lIns="91440" tIns="45720" rIns="91440" bIns="45720" rtlCol="0" anchor="t">
            <a:spAutoFit/>
          </a:bodyPr>
          <a:lstStyle/>
          <a:p>
            <a:r>
              <a:rPr lang="en-US" sz="1400" dirty="0">
                <a:ea typeface="+mn-lt"/>
                <a:cs typeface="+mn-lt"/>
              </a:rPr>
              <a:t>32 yo G2P2 W presents for a physical. She has hypothyroidism on levothyroxine. She is sexually active with her boyfriend and has an IUD in place.  Her last pap smear was 3 years ago when she was pregnant with her second child and it was normal. HPV testing was not done at that time. She does not know her family history of cancer. </a:t>
            </a:r>
          </a:p>
        </p:txBody>
      </p:sp>
      <p:pic>
        <p:nvPicPr>
          <p:cNvPr id="51" name="Picture 50" descr="Icon&#10;&#10;Description automatically generated">
            <a:extLst>
              <a:ext uri="{FF2B5EF4-FFF2-40B4-BE49-F238E27FC236}">
                <a16:creationId xmlns:a16="http://schemas.microsoft.com/office/drawing/2014/main" id="{37D5A2D8-B76E-4A99-9941-02913E7046D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9050" y="6217485"/>
            <a:ext cx="1387970" cy="528106"/>
          </a:xfrm>
          <a:prstGeom prst="rect">
            <a:avLst/>
          </a:prstGeom>
        </p:spPr>
      </p:pic>
      <p:pic>
        <p:nvPicPr>
          <p:cNvPr id="52" name="Graphic 51" descr="Cursor with solid fill">
            <a:extLst>
              <a:ext uri="{FF2B5EF4-FFF2-40B4-BE49-F238E27FC236}">
                <a16:creationId xmlns:a16="http://schemas.microsoft.com/office/drawing/2014/main" id="{9DBF686D-ADBD-45BD-B2A8-ED386C519D7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326423" y="5043002"/>
            <a:ext cx="302506" cy="302506"/>
          </a:xfrm>
          <a:prstGeom prst="rect">
            <a:avLst/>
          </a:prstGeom>
        </p:spPr>
      </p:pic>
      <p:pic>
        <p:nvPicPr>
          <p:cNvPr id="54" name="Graphic 53" descr="Cursor with solid fill">
            <a:extLst>
              <a:ext uri="{FF2B5EF4-FFF2-40B4-BE49-F238E27FC236}">
                <a16:creationId xmlns:a16="http://schemas.microsoft.com/office/drawing/2014/main" id="{2503C391-FDE7-4D4F-8F01-244EB5BC7B1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305893" y="6541804"/>
            <a:ext cx="302506" cy="302506"/>
          </a:xfrm>
          <a:prstGeom prst="rect">
            <a:avLst/>
          </a:prstGeom>
        </p:spPr>
      </p:pic>
      <p:pic>
        <p:nvPicPr>
          <p:cNvPr id="56" name="Graphic 55" descr="Cursor with solid fill">
            <a:extLst>
              <a:ext uri="{FF2B5EF4-FFF2-40B4-BE49-F238E27FC236}">
                <a16:creationId xmlns:a16="http://schemas.microsoft.com/office/drawing/2014/main" id="{7F468C7A-552C-4BB3-995C-8675315955E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775199" y="492951"/>
            <a:ext cx="273485" cy="302506"/>
          </a:xfrm>
          <a:prstGeom prst="rect">
            <a:avLst/>
          </a:prstGeom>
        </p:spPr>
      </p:pic>
      <p:sp>
        <p:nvSpPr>
          <p:cNvPr id="57" name="Case 2 - question1">
            <a:extLst>
              <a:ext uri="{FF2B5EF4-FFF2-40B4-BE49-F238E27FC236}">
                <a16:creationId xmlns:a16="http://schemas.microsoft.com/office/drawing/2014/main" id="{FC7CA112-FAF7-4731-AC02-423927DB914D}"/>
              </a:ext>
            </a:extLst>
          </p:cNvPr>
          <p:cNvSpPr/>
          <p:nvPr/>
        </p:nvSpPr>
        <p:spPr>
          <a:xfrm>
            <a:off x="5843194" y="4096991"/>
            <a:ext cx="2986803" cy="546706"/>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What cancer screening is recommended?</a:t>
            </a:r>
          </a:p>
        </p:txBody>
      </p:sp>
      <p:sp>
        <p:nvSpPr>
          <p:cNvPr id="59" name="Case 2 - question3">
            <a:extLst>
              <a:ext uri="{FF2B5EF4-FFF2-40B4-BE49-F238E27FC236}">
                <a16:creationId xmlns:a16="http://schemas.microsoft.com/office/drawing/2014/main" id="{102D4C4C-A02D-4E4C-ADFC-63F9708B9654}"/>
              </a:ext>
            </a:extLst>
          </p:cNvPr>
          <p:cNvSpPr/>
          <p:nvPr/>
        </p:nvSpPr>
        <p:spPr>
          <a:xfrm>
            <a:off x="5863995" y="4780080"/>
            <a:ext cx="2980552" cy="1254987"/>
          </a:xfrm>
          <a:prstGeom prst="roundRect">
            <a:avLst>
              <a:gd name="adj" fmla="val 13824"/>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What would you order and how would you counsel him?</a:t>
            </a:r>
          </a:p>
        </p:txBody>
      </p:sp>
      <p:sp>
        <p:nvSpPr>
          <p:cNvPr id="61" name="Case 2 - answer1">
            <a:extLst>
              <a:ext uri="{FF2B5EF4-FFF2-40B4-BE49-F238E27FC236}">
                <a16:creationId xmlns:a16="http://schemas.microsoft.com/office/drawing/2014/main" id="{E9E14381-F561-4E85-8173-20AB47B470CD}"/>
              </a:ext>
            </a:extLst>
          </p:cNvPr>
          <p:cNvSpPr/>
          <p:nvPr/>
        </p:nvSpPr>
        <p:spPr>
          <a:xfrm>
            <a:off x="5840591" y="4092168"/>
            <a:ext cx="2986803" cy="56032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1) Colon Cancer, 2) +/- Prostate Cancer</a:t>
            </a:r>
          </a:p>
        </p:txBody>
      </p:sp>
      <p:sp>
        <p:nvSpPr>
          <p:cNvPr id="63" name="Case 2 - answer 3">
            <a:extLst>
              <a:ext uri="{FF2B5EF4-FFF2-40B4-BE49-F238E27FC236}">
                <a16:creationId xmlns:a16="http://schemas.microsoft.com/office/drawing/2014/main" id="{4ACA8447-EDC8-465C-B71B-62F13CBE21A9}"/>
              </a:ext>
            </a:extLst>
          </p:cNvPr>
          <p:cNvSpPr/>
          <p:nvPr/>
        </p:nvSpPr>
        <p:spPr>
          <a:xfrm>
            <a:off x="5851036" y="4787567"/>
            <a:ext cx="2986803" cy="1242989"/>
          </a:xfrm>
          <a:prstGeom prst="roundRect">
            <a:avLst>
              <a:gd name="adj" fmla="val 12177"/>
            </a:avLst>
          </a:prstGeom>
        </p:spPr>
        <p:style>
          <a:lnRef idx="2">
            <a:schemeClr val="accent1"/>
          </a:lnRef>
          <a:fillRef idx="1">
            <a:schemeClr val="lt1"/>
          </a:fillRef>
          <a:effectRef idx="0">
            <a:schemeClr val="accent1"/>
          </a:effectRef>
          <a:fontRef idx="minor">
            <a:schemeClr val="dk1"/>
          </a:fontRef>
        </p:style>
        <p:txBody>
          <a:bodyPr rtlCol="0" anchor="ctr"/>
          <a:lstStyle/>
          <a:p>
            <a:pPr marL="233363" indent="-233363">
              <a:buAutoNum type="arabicParenR"/>
            </a:pPr>
            <a:r>
              <a:rPr lang="en-US" sz="1400" dirty="0">
                <a:hlinkClick r:id="" action="ppaction://noaction"/>
              </a:rPr>
              <a:t>FIT, </a:t>
            </a:r>
            <a:r>
              <a:rPr lang="en-US" sz="1400" dirty="0" err="1">
                <a:hlinkClick r:id="" action="ppaction://noaction"/>
              </a:rPr>
              <a:t>gFOBT</a:t>
            </a:r>
            <a:r>
              <a:rPr lang="en-US" sz="1400" dirty="0">
                <a:hlinkClick r:id="" action="ppaction://noaction"/>
              </a:rPr>
              <a:t> or FIT+DNA for colon cancer screening</a:t>
            </a:r>
            <a:endParaRPr lang="en-US" sz="1400" dirty="0"/>
          </a:p>
          <a:p>
            <a:pPr marL="233363" indent="-233363">
              <a:buAutoNum type="arabicParenR"/>
            </a:pPr>
            <a:r>
              <a:rPr lang="en-US" sz="1400" dirty="0"/>
              <a:t>Discuss prostate cancer screening, likely recommend against it at this time</a:t>
            </a:r>
          </a:p>
        </p:txBody>
      </p:sp>
      <p:pic>
        <p:nvPicPr>
          <p:cNvPr id="66" name="Graphic 65" descr="Cursor with solid fill">
            <a:extLst>
              <a:ext uri="{FF2B5EF4-FFF2-40B4-BE49-F238E27FC236}">
                <a16:creationId xmlns:a16="http://schemas.microsoft.com/office/drawing/2014/main" id="{EA124C93-962C-44F2-B742-A9112F5156A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659826" y="4515942"/>
            <a:ext cx="302506" cy="302506"/>
          </a:xfrm>
          <a:prstGeom prst="rect">
            <a:avLst/>
          </a:prstGeom>
        </p:spPr>
      </p:pic>
      <p:pic>
        <p:nvPicPr>
          <p:cNvPr id="67" name="Graphic 66" descr="Cursor with solid fill">
            <a:extLst>
              <a:ext uri="{FF2B5EF4-FFF2-40B4-BE49-F238E27FC236}">
                <a16:creationId xmlns:a16="http://schemas.microsoft.com/office/drawing/2014/main" id="{80F59731-A935-4D08-B316-C5017E06F66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663433" y="5850703"/>
            <a:ext cx="302506" cy="302506"/>
          </a:xfrm>
          <a:prstGeom prst="rect">
            <a:avLst/>
          </a:prstGeom>
        </p:spPr>
      </p:pic>
      <p:pic>
        <p:nvPicPr>
          <p:cNvPr id="81" name="Graphic 80" descr="Cursor with solid fill">
            <a:extLst>
              <a:ext uri="{FF2B5EF4-FFF2-40B4-BE49-F238E27FC236}">
                <a16:creationId xmlns:a16="http://schemas.microsoft.com/office/drawing/2014/main" id="{956F63E8-63DB-4A08-A83A-19CFAA44097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38740" y="492951"/>
            <a:ext cx="302506" cy="302506"/>
          </a:xfrm>
          <a:prstGeom prst="rect">
            <a:avLst/>
          </a:prstGeom>
        </p:spPr>
      </p:pic>
      <p:pic>
        <p:nvPicPr>
          <p:cNvPr id="82" name="Graphic 81" descr="Cursor with solid fill">
            <a:extLst>
              <a:ext uri="{FF2B5EF4-FFF2-40B4-BE49-F238E27FC236}">
                <a16:creationId xmlns:a16="http://schemas.microsoft.com/office/drawing/2014/main" id="{123343F4-467E-498D-8C79-43974CE6E89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304676" y="492951"/>
            <a:ext cx="302506" cy="302506"/>
          </a:xfrm>
          <a:prstGeom prst="rect">
            <a:avLst/>
          </a:prstGeom>
        </p:spPr>
      </p:pic>
      <p:sp>
        <p:nvSpPr>
          <p:cNvPr id="39" name="Case 3 - question1">
            <a:extLst>
              <a:ext uri="{FF2B5EF4-FFF2-40B4-BE49-F238E27FC236}">
                <a16:creationId xmlns:a16="http://schemas.microsoft.com/office/drawing/2014/main" id="{E9D3EEFD-602E-4B0B-9C9A-A0F3A5A386E4}"/>
              </a:ext>
            </a:extLst>
          </p:cNvPr>
          <p:cNvSpPr/>
          <p:nvPr/>
        </p:nvSpPr>
        <p:spPr>
          <a:xfrm>
            <a:off x="9203846" y="3099915"/>
            <a:ext cx="2682095" cy="513054"/>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What cancer screening is recommended? </a:t>
            </a:r>
          </a:p>
        </p:txBody>
      </p:sp>
      <p:sp>
        <p:nvSpPr>
          <p:cNvPr id="40" name="Case 3 - question2">
            <a:extLst>
              <a:ext uri="{FF2B5EF4-FFF2-40B4-BE49-F238E27FC236}">
                <a16:creationId xmlns:a16="http://schemas.microsoft.com/office/drawing/2014/main" id="{00315A18-00C4-42C5-9C89-5019D2E0B091}"/>
              </a:ext>
            </a:extLst>
          </p:cNvPr>
          <p:cNvSpPr/>
          <p:nvPr/>
        </p:nvSpPr>
        <p:spPr>
          <a:xfrm>
            <a:off x="9229588" y="3796480"/>
            <a:ext cx="2682093" cy="505123"/>
          </a:xfrm>
          <a:prstGeom prst="roundRect">
            <a:avLst>
              <a:gd name="adj" fmla="val 10321"/>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What would you order? </a:t>
            </a:r>
          </a:p>
        </p:txBody>
      </p:sp>
      <p:sp>
        <p:nvSpPr>
          <p:cNvPr id="43" name="Case 3 - answer1">
            <a:extLst>
              <a:ext uri="{FF2B5EF4-FFF2-40B4-BE49-F238E27FC236}">
                <a16:creationId xmlns:a16="http://schemas.microsoft.com/office/drawing/2014/main" id="{0EBEB181-81BD-4935-BF8E-E90FD179405E}"/>
              </a:ext>
            </a:extLst>
          </p:cNvPr>
          <p:cNvSpPr/>
          <p:nvPr/>
        </p:nvSpPr>
        <p:spPr>
          <a:xfrm>
            <a:off x="9210241" y="3107846"/>
            <a:ext cx="2693137" cy="505123"/>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Cervical cancer screening</a:t>
            </a:r>
          </a:p>
        </p:txBody>
      </p:sp>
      <p:pic>
        <p:nvPicPr>
          <p:cNvPr id="47" name="Graphic 46" descr="Cursor with solid fill">
            <a:extLst>
              <a:ext uri="{FF2B5EF4-FFF2-40B4-BE49-F238E27FC236}">
                <a16:creationId xmlns:a16="http://schemas.microsoft.com/office/drawing/2014/main" id="{6DE9CF0D-6C7A-4173-B99C-6059A6E74E5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734688" y="3461716"/>
            <a:ext cx="302506" cy="302506"/>
          </a:xfrm>
          <a:prstGeom prst="rect">
            <a:avLst/>
          </a:prstGeom>
        </p:spPr>
      </p:pic>
      <p:pic>
        <p:nvPicPr>
          <p:cNvPr id="48" name="Graphic 47" descr="Cursor with solid fill">
            <a:extLst>
              <a:ext uri="{FF2B5EF4-FFF2-40B4-BE49-F238E27FC236}">
                <a16:creationId xmlns:a16="http://schemas.microsoft.com/office/drawing/2014/main" id="{59B4338A-FB9C-4E6F-B6F6-E7D73B784D5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743832" y="4182608"/>
            <a:ext cx="302506" cy="302506"/>
          </a:xfrm>
          <a:prstGeom prst="rect">
            <a:avLst/>
          </a:prstGeom>
        </p:spPr>
      </p:pic>
      <p:sp>
        <p:nvSpPr>
          <p:cNvPr id="41" name="Case 3 - question3">
            <a:extLst>
              <a:ext uri="{FF2B5EF4-FFF2-40B4-BE49-F238E27FC236}">
                <a16:creationId xmlns:a16="http://schemas.microsoft.com/office/drawing/2014/main" id="{94E1CF58-238B-4A1E-8C26-903A66299626}"/>
              </a:ext>
            </a:extLst>
          </p:cNvPr>
          <p:cNvSpPr/>
          <p:nvPr/>
        </p:nvSpPr>
        <p:spPr>
          <a:xfrm>
            <a:off x="9242831" y="4466044"/>
            <a:ext cx="2672218" cy="994226"/>
          </a:xfrm>
          <a:prstGeom prst="roundRect">
            <a:avLst>
              <a:gd name="adj" fmla="val 13824"/>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Her cytology shows a low-grade squamous intraepithelial lesion (LSIL) with negative HPV. What is your next step?</a:t>
            </a:r>
          </a:p>
        </p:txBody>
      </p:sp>
      <p:pic>
        <p:nvPicPr>
          <p:cNvPr id="49" name="Graphic 48" descr="Cursor with solid fill">
            <a:extLst>
              <a:ext uri="{FF2B5EF4-FFF2-40B4-BE49-F238E27FC236}">
                <a16:creationId xmlns:a16="http://schemas.microsoft.com/office/drawing/2014/main" id="{0DE61551-B860-44BB-9C93-47845CD6D8D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776936" y="5290733"/>
            <a:ext cx="302506" cy="302506"/>
          </a:xfrm>
          <a:prstGeom prst="rect">
            <a:avLst/>
          </a:prstGeom>
        </p:spPr>
      </p:pic>
      <p:sp>
        <p:nvSpPr>
          <p:cNvPr id="44" name="Case 3 - answer2">
            <a:extLst>
              <a:ext uri="{FF2B5EF4-FFF2-40B4-BE49-F238E27FC236}">
                <a16:creationId xmlns:a16="http://schemas.microsoft.com/office/drawing/2014/main" id="{E832D7C1-2453-49C1-845B-A4238F5A4D0C}"/>
              </a:ext>
            </a:extLst>
          </p:cNvPr>
          <p:cNvSpPr/>
          <p:nvPr/>
        </p:nvSpPr>
        <p:spPr>
          <a:xfrm>
            <a:off x="9233737" y="3793829"/>
            <a:ext cx="2689027" cy="521632"/>
          </a:xfrm>
          <a:prstGeom prst="roundRect">
            <a:avLst>
              <a:gd name="adj" fmla="val 11507"/>
            </a:avLst>
          </a:prstGeom>
          <a:ln w="19050"/>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Primary </a:t>
            </a:r>
            <a:r>
              <a:rPr lang="en-US" sz="1400" dirty="0" err="1"/>
              <a:t>hrHPV</a:t>
            </a:r>
            <a:r>
              <a:rPr lang="en-US" sz="1400" dirty="0"/>
              <a:t> or </a:t>
            </a:r>
            <a:r>
              <a:rPr lang="en-US" sz="1400" dirty="0" err="1"/>
              <a:t>hrHPV</a:t>
            </a:r>
            <a:r>
              <a:rPr lang="en-US" sz="1400" dirty="0"/>
              <a:t> + cytology co-test</a:t>
            </a:r>
          </a:p>
        </p:txBody>
      </p:sp>
      <p:sp>
        <p:nvSpPr>
          <p:cNvPr id="45" name="Case 3 - answer 3">
            <a:extLst>
              <a:ext uri="{FF2B5EF4-FFF2-40B4-BE49-F238E27FC236}">
                <a16:creationId xmlns:a16="http://schemas.microsoft.com/office/drawing/2014/main" id="{E21EA725-8E56-429B-A24C-D359B25EA847}"/>
              </a:ext>
            </a:extLst>
          </p:cNvPr>
          <p:cNvSpPr/>
          <p:nvPr/>
        </p:nvSpPr>
        <p:spPr>
          <a:xfrm>
            <a:off x="9244941" y="4459834"/>
            <a:ext cx="2677823" cy="1007889"/>
          </a:xfrm>
          <a:prstGeom prst="roundRect">
            <a:avLst>
              <a:gd name="adj" fmla="val 10042"/>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hlinkClick r:id="rId7"/>
              </a:rPr>
              <a:t>Repeat testing in 1 year</a:t>
            </a:r>
            <a:endParaRPr lang="en-US" sz="1400" dirty="0"/>
          </a:p>
        </p:txBody>
      </p:sp>
      <p:sp>
        <p:nvSpPr>
          <p:cNvPr id="36" name="cancer screening text">
            <a:hlinkClick r:id="rId8" action="ppaction://hlinksldjump"/>
            <a:extLst>
              <a:ext uri="{FF2B5EF4-FFF2-40B4-BE49-F238E27FC236}">
                <a16:creationId xmlns:a16="http://schemas.microsoft.com/office/drawing/2014/main" id="{267D7F26-F556-4208-B252-2EB8D30E76C1}"/>
              </a:ext>
            </a:extLst>
          </p:cNvPr>
          <p:cNvSpPr txBox="1"/>
          <p:nvPr/>
        </p:nvSpPr>
        <p:spPr>
          <a:xfrm>
            <a:off x="246712" y="2255680"/>
            <a:ext cx="1967278" cy="408623"/>
          </a:xfrm>
          <a:prstGeom prst="roundRect">
            <a:avLst/>
          </a:prstGeom>
          <a:solidFill>
            <a:schemeClr val="bg1"/>
          </a:solidFill>
          <a:ln w="38100">
            <a:solidFill>
              <a:schemeClr val="accent2"/>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chemeClr val="tx1"/>
                </a:solidFill>
              </a:rPr>
              <a:t>Infectious Disease</a:t>
            </a:r>
          </a:p>
        </p:txBody>
      </p:sp>
      <p:grpSp>
        <p:nvGrpSpPr>
          <p:cNvPr id="37" name="sub-group arrows">
            <a:extLst>
              <a:ext uri="{FF2B5EF4-FFF2-40B4-BE49-F238E27FC236}">
                <a16:creationId xmlns:a16="http://schemas.microsoft.com/office/drawing/2014/main" id="{6301812F-FDBE-47B8-9E76-B045DD5E98C7}"/>
              </a:ext>
            </a:extLst>
          </p:cNvPr>
          <p:cNvGrpSpPr/>
          <p:nvPr/>
        </p:nvGrpSpPr>
        <p:grpSpPr>
          <a:xfrm>
            <a:off x="420785" y="2682079"/>
            <a:ext cx="172844" cy="903513"/>
            <a:chOff x="323629" y="4652062"/>
            <a:chExt cx="172844" cy="903513"/>
          </a:xfrm>
        </p:grpSpPr>
        <p:cxnSp>
          <p:nvCxnSpPr>
            <p:cNvPr id="38" name="Connector: Elbow 37">
              <a:extLst>
                <a:ext uri="{FF2B5EF4-FFF2-40B4-BE49-F238E27FC236}">
                  <a16:creationId xmlns:a16="http://schemas.microsoft.com/office/drawing/2014/main" id="{F6B547A2-4521-4BA8-A6BC-87650A75EC67}"/>
                </a:ext>
              </a:extLst>
            </p:cNvPr>
            <p:cNvCxnSpPr>
              <a:cxnSpLocks/>
            </p:cNvCxnSpPr>
            <p:nvPr/>
          </p:nvCxnSpPr>
          <p:spPr>
            <a:xfrm rot="16200000" flipH="1">
              <a:off x="233845" y="4741846"/>
              <a:ext cx="352412" cy="172843"/>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42" name="Connector: Elbow 41">
              <a:extLst>
                <a:ext uri="{FF2B5EF4-FFF2-40B4-BE49-F238E27FC236}">
                  <a16:creationId xmlns:a16="http://schemas.microsoft.com/office/drawing/2014/main" id="{BCC1ABAC-AEC8-4293-8BBC-3DD6C9843D69}"/>
                </a:ext>
              </a:extLst>
            </p:cNvPr>
            <p:cNvCxnSpPr>
              <a:cxnSpLocks/>
            </p:cNvCxnSpPr>
            <p:nvPr/>
          </p:nvCxnSpPr>
          <p:spPr>
            <a:xfrm rot="16200000" flipH="1">
              <a:off x="-37666" y="5021436"/>
              <a:ext cx="895435" cy="172843"/>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grpSp>
      <p:sp>
        <p:nvSpPr>
          <p:cNvPr id="46" name="question 4">
            <a:hlinkClick r:id="rId8" action="ppaction://hlinksldjump"/>
            <a:extLst>
              <a:ext uri="{FF2B5EF4-FFF2-40B4-BE49-F238E27FC236}">
                <a16:creationId xmlns:a16="http://schemas.microsoft.com/office/drawing/2014/main" id="{939CEC15-C237-4C18-A65C-DCC8A656A1DB}"/>
              </a:ext>
            </a:extLst>
          </p:cNvPr>
          <p:cNvSpPr txBox="1"/>
          <p:nvPr/>
        </p:nvSpPr>
        <p:spPr>
          <a:xfrm>
            <a:off x="593629" y="2835567"/>
            <a:ext cx="1734234"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ctr"/>
            <a:r>
              <a:rPr lang="en-US">
                <a:solidFill>
                  <a:schemeClr val="tx1"/>
                </a:solidFill>
              </a:rPr>
              <a:t>Immunizations</a:t>
            </a:r>
          </a:p>
        </p:txBody>
      </p:sp>
      <p:sp>
        <p:nvSpPr>
          <p:cNvPr id="53" name="question 4">
            <a:hlinkClick r:id="rId8" action="ppaction://hlinksldjump"/>
            <a:extLst>
              <a:ext uri="{FF2B5EF4-FFF2-40B4-BE49-F238E27FC236}">
                <a16:creationId xmlns:a16="http://schemas.microsoft.com/office/drawing/2014/main" id="{3C74D46D-1115-42C3-B2CD-A7D21C9C35B6}"/>
              </a:ext>
            </a:extLst>
          </p:cNvPr>
          <p:cNvSpPr txBox="1"/>
          <p:nvPr/>
        </p:nvSpPr>
        <p:spPr>
          <a:xfrm>
            <a:off x="593629" y="3397679"/>
            <a:ext cx="1734234"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chemeClr val="tx1"/>
                </a:solidFill>
              </a:rPr>
              <a:t>Infections</a:t>
            </a:r>
          </a:p>
        </p:txBody>
      </p:sp>
      <p:pic>
        <p:nvPicPr>
          <p:cNvPr id="55" name="Graphic 54" descr="Cursor with solid fill">
            <a:extLst>
              <a:ext uri="{FF2B5EF4-FFF2-40B4-BE49-F238E27FC236}">
                <a16:creationId xmlns:a16="http://schemas.microsoft.com/office/drawing/2014/main" id="{4A9C59DC-D6D4-48E9-8B1D-11B2BED9B4D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130226" y="3038951"/>
            <a:ext cx="395274" cy="395274"/>
          </a:xfrm>
          <a:prstGeom prst="rect">
            <a:avLst/>
          </a:prstGeom>
        </p:spPr>
      </p:pic>
      <p:sp>
        <p:nvSpPr>
          <p:cNvPr id="69" name="cancer screening text">
            <a:hlinkClick r:id="rId9" action="ppaction://hlinksldjump"/>
            <a:extLst>
              <a:ext uri="{FF2B5EF4-FFF2-40B4-BE49-F238E27FC236}">
                <a16:creationId xmlns:a16="http://schemas.microsoft.com/office/drawing/2014/main" id="{1E69DF4B-C75A-4BC9-97C6-3DD3B1BC565C}"/>
              </a:ext>
            </a:extLst>
          </p:cNvPr>
          <p:cNvSpPr txBox="1"/>
          <p:nvPr/>
        </p:nvSpPr>
        <p:spPr>
          <a:xfrm>
            <a:off x="250666" y="1662473"/>
            <a:ext cx="1967278" cy="408623"/>
          </a:xfrm>
          <a:prstGeom prst="roundRect">
            <a:avLst/>
          </a:prstGeom>
          <a:ln w="38100">
            <a:solidFill>
              <a:schemeClr val="accent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Cancer Screening</a:t>
            </a:r>
          </a:p>
        </p:txBody>
      </p:sp>
      <p:pic>
        <p:nvPicPr>
          <p:cNvPr id="70" name="Graphic 69" descr="Cursor with solid fill">
            <a:extLst>
              <a:ext uri="{FF2B5EF4-FFF2-40B4-BE49-F238E27FC236}">
                <a16:creationId xmlns:a16="http://schemas.microsoft.com/office/drawing/2014/main" id="{C8D591C9-F16E-45A8-A465-068575BBF7B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016353" y="1858576"/>
            <a:ext cx="395274" cy="395274"/>
          </a:xfrm>
          <a:prstGeom prst="rect">
            <a:avLst/>
          </a:prstGeom>
        </p:spPr>
      </p:pic>
      <p:pic>
        <p:nvPicPr>
          <p:cNvPr id="71" name="Graphic 70" descr="Cursor with solid fill">
            <a:extLst>
              <a:ext uri="{FF2B5EF4-FFF2-40B4-BE49-F238E27FC236}">
                <a16:creationId xmlns:a16="http://schemas.microsoft.com/office/drawing/2014/main" id="{835FB1DE-0F49-4272-B678-4C9805887D6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030615" y="2467547"/>
            <a:ext cx="395274" cy="395274"/>
          </a:xfrm>
          <a:prstGeom prst="rect">
            <a:avLst/>
          </a:prstGeom>
        </p:spPr>
      </p:pic>
      <p:pic>
        <p:nvPicPr>
          <p:cNvPr id="73" name="Graphic 72" descr="Cursor with solid fill">
            <a:extLst>
              <a:ext uri="{FF2B5EF4-FFF2-40B4-BE49-F238E27FC236}">
                <a16:creationId xmlns:a16="http://schemas.microsoft.com/office/drawing/2014/main" id="{B17FCFFA-23CD-428E-A634-F7E8B218390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130226" y="3613502"/>
            <a:ext cx="395274" cy="395274"/>
          </a:xfrm>
          <a:prstGeom prst="rect">
            <a:avLst/>
          </a:prstGeom>
        </p:spPr>
      </p:pic>
      <p:sp>
        <p:nvSpPr>
          <p:cNvPr id="75" name="Cases">
            <a:hlinkClick r:id="rId10" action="ppaction://hlinksldjump"/>
            <a:extLst>
              <a:ext uri="{FF2B5EF4-FFF2-40B4-BE49-F238E27FC236}">
                <a16:creationId xmlns:a16="http://schemas.microsoft.com/office/drawing/2014/main" id="{583D264D-BFF2-4150-99CE-2ABF71700589}"/>
              </a:ext>
            </a:extLst>
          </p:cNvPr>
          <p:cNvSpPr txBox="1"/>
          <p:nvPr/>
        </p:nvSpPr>
        <p:spPr>
          <a:xfrm>
            <a:off x="307848" y="6121182"/>
            <a:ext cx="1910096" cy="408623"/>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bg1"/>
                </a:solidFill>
              </a:rPr>
              <a:t>CASES</a:t>
            </a:r>
          </a:p>
        </p:txBody>
      </p:sp>
      <p:grpSp>
        <p:nvGrpSpPr>
          <p:cNvPr id="85" name="Question 2 button">
            <a:extLst>
              <a:ext uri="{FF2B5EF4-FFF2-40B4-BE49-F238E27FC236}">
                <a16:creationId xmlns:a16="http://schemas.microsoft.com/office/drawing/2014/main" id="{9CA32CD4-7CF8-46B5-AA76-054C1A744133}"/>
              </a:ext>
            </a:extLst>
          </p:cNvPr>
          <p:cNvGrpSpPr/>
          <p:nvPr/>
        </p:nvGrpSpPr>
        <p:grpSpPr>
          <a:xfrm>
            <a:off x="250666" y="118378"/>
            <a:ext cx="2235186" cy="595356"/>
            <a:chOff x="111732" y="1020981"/>
            <a:chExt cx="2235186" cy="595356"/>
          </a:xfrm>
        </p:grpSpPr>
        <p:sp>
          <p:nvSpPr>
            <p:cNvPr id="86" name="Question 2">
              <a:hlinkClick r:id="rId11" action="ppaction://hlinksldjump"/>
              <a:extLst>
                <a:ext uri="{FF2B5EF4-FFF2-40B4-BE49-F238E27FC236}">
                  <a16:creationId xmlns:a16="http://schemas.microsoft.com/office/drawing/2014/main" id="{5E0F3C2C-4E31-4056-962B-47D9B868958F}"/>
                </a:ext>
              </a:extLst>
            </p:cNvPr>
            <p:cNvSpPr txBox="1"/>
            <p:nvPr/>
          </p:nvSpPr>
          <p:spPr>
            <a:xfrm>
              <a:off x="111732" y="1020981"/>
              <a:ext cx="2017803"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When to screen?</a:t>
              </a:r>
            </a:p>
          </p:txBody>
        </p:sp>
        <p:pic>
          <p:nvPicPr>
            <p:cNvPr id="87" name="Graphic 86" descr="Cursor with solid fill">
              <a:extLst>
                <a:ext uri="{FF2B5EF4-FFF2-40B4-BE49-F238E27FC236}">
                  <a16:creationId xmlns:a16="http://schemas.microsoft.com/office/drawing/2014/main" id="{AF6E4EC3-BDD0-4AF3-BAC1-567DDBBBDE6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951644" y="1221063"/>
              <a:ext cx="395274" cy="395274"/>
            </a:xfrm>
            <a:prstGeom prst="rect">
              <a:avLst/>
            </a:prstGeom>
          </p:spPr>
        </p:pic>
      </p:grpSp>
      <p:grpSp>
        <p:nvGrpSpPr>
          <p:cNvPr id="88" name="Question 2 button">
            <a:extLst>
              <a:ext uri="{FF2B5EF4-FFF2-40B4-BE49-F238E27FC236}">
                <a16:creationId xmlns:a16="http://schemas.microsoft.com/office/drawing/2014/main" id="{256BDB04-AA7D-4EE5-9A3A-72628420F98F}"/>
              </a:ext>
            </a:extLst>
          </p:cNvPr>
          <p:cNvGrpSpPr/>
          <p:nvPr/>
        </p:nvGrpSpPr>
        <p:grpSpPr>
          <a:xfrm>
            <a:off x="250666" y="757570"/>
            <a:ext cx="2237902" cy="888843"/>
            <a:chOff x="197047" y="1133988"/>
            <a:chExt cx="2237902" cy="888843"/>
          </a:xfrm>
        </p:grpSpPr>
        <p:sp>
          <p:nvSpPr>
            <p:cNvPr id="89" name="Question 2">
              <a:hlinkClick r:id="rId12" action="ppaction://hlinksldjump"/>
              <a:extLst>
                <a:ext uri="{FF2B5EF4-FFF2-40B4-BE49-F238E27FC236}">
                  <a16:creationId xmlns:a16="http://schemas.microsoft.com/office/drawing/2014/main" id="{BD746D06-AE79-41B9-90BD-F3C57D317855}"/>
                </a:ext>
              </a:extLst>
            </p:cNvPr>
            <p:cNvSpPr txBox="1"/>
            <p:nvPr/>
          </p:nvSpPr>
          <p:spPr>
            <a:xfrm>
              <a:off x="197047" y="1133988"/>
              <a:ext cx="2017803" cy="715089"/>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5 domains of screening</a:t>
              </a:r>
            </a:p>
          </p:txBody>
        </p:sp>
        <p:pic>
          <p:nvPicPr>
            <p:cNvPr id="90" name="Graphic 89" descr="Cursor with solid fill">
              <a:extLst>
                <a:ext uri="{FF2B5EF4-FFF2-40B4-BE49-F238E27FC236}">
                  <a16:creationId xmlns:a16="http://schemas.microsoft.com/office/drawing/2014/main" id="{79406CB8-015F-4491-AA75-39F1F40DA2A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039675" y="1627557"/>
              <a:ext cx="395274" cy="395274"/>
            </a:xfrm>
            <a:prstGeom prst="rect">
              <a:avLst/>
            </a:prstGeom>
          </p:spPr>
        </p:pic>
      </p:grpSp>
    </p:spTree>
    <p:extLst>
      <p:ext uri="{BB962C8B-B14F-4D97-AF65-F5344CB8AC3E}">
        <p14:creationId xmlns:p14="http://schemas.microsoft.com/office/powerpoint/2010/main" val="65541526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1"/>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4"/>
                                        </p:tgtEl>
                                        <p:attrNameLst>
                                          <p:attrName>style.visibility</p:attrName>
                                        </p:attrNameLst>
                                      </p:cBhvr>
                                      <p:to>
                                        <p:strVal val="visible"/>
                                      </p:to>
                                    </p:set>
                                  </p:childTnLst>
                                </p:cTn>
                              </p:par>
                              <p:par>
                                <p:cTn id="15" presetID="1" presetClass="exit" presetSubtype="0" fill="hold" nodeType="withEffect">
                                  <p:stCondLst>
                                    <p:cond delay="0"/>
                                  </p:stCondLst>
                                  <p:childTnLst>
                                    <p:set>
                                      <p:cBhvr>
                                        <p:cTn id="16" dur="1" fill="hold">
                                          <p:stCondLst>
                                            <p:cond delay="0"/>
                                          </p:stCondLst>
                                        </p:cTn>
                                        <p:tgtEl>
                                          <p:spTgt spid="56"/>
                                        </p:tgtEl>
                                        <p:attrNameLst>
                                          <p:attrName>style.visibility</p:attrName>
                                        </p:attrNameLst>
                                      </p:cBhvr>
                                      <p:to>
                                        <p:strVal val="hidden"/>
                                      </p:to>
                                    </p:set>
                                  </p:childTnLst>
                                </p:cTn>
                              </p:par>
                            </p:childTnLst>
                          </p:cTn>
                        </p:par>
                      </p:childTnLst>
                    </p:cTn>
                  </p:par>
                </p:childTnLst>
              </p:cTn>
              <p:nextCondLst>
                <p:cond evt="onClick" delay="0">
                  <p:tgtEl>
                    <p:spTgt spid="11"/>
                  </p:tgtEl>
                </p:cond>
              </p:nextCondLst>
            </p:seq>
            <p:seq concurrent="1" nextAc="seek">
              <p:cTn id="17" restart="whenNotActive" fill="hold" evtFilter="cancelBubble" nodeType="interactiveSeq">
                <p:stCondLst>
                  <p:cond evt="onClick" delay="0">
                    <p:tgtEl>
                      <p:spTgt spid="28"/>
                    </p:tgtEl>
                  </p:cond>
                </p:stCondLst>
                <p:endSync evt="end" delay="0">
                  <p:rtn val="all"/>
                </p:endSync>
                <p:childTnLst>
                  <p:par>
                    <p:cTn id="18" fill="hold">
                      <p:stCondLst>
                        <p:cond delay="0"/>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33"/>
                                        </p:tgtEl>
                                        <p:attrNameLst>
                                          <p:attrName>style.visibility</p:attrName>
                                        </p:attrNameLst>
                                      </p:cBhvr>
                                      <p:to>
                                        <p:strVal val="visible"/>
                                      </p:to>
                                    </p:set>
                                  </p:childTnLst>
                                </p:cTn>
                              </p:par>
                              <p:par>
                                <p:cTn id="22" presetID="1" presetClass="exit" presetSubtype="0" fill="hold" nodeType="withEffect">
                                  <p:stCondLst>
                                    <p:cond delay="0"/>
                                  </p:stCondLst>
                                  <p:childTnLst>
                                    <p:set>
                                      <p:cBhvr>
                                        <p:cTn id="23" dur="1" fill="hold">
                                          <p:stCondLst>
                                            <p:cond delay="0"/>
                                          </p:stCondLst>
                                        </p:cTn>
                                        <p:tgtEl>
                                          <p:spTgt spid="52"/>
                                        </p:tgtEl>
                                        <p:attrNameLst>
                                          <p:attrName>style.visibility</p:attrName>
                                        </p:attrNameLst>
                                      </p:cBhvr>
                                      <p:to>
                                        <p:strVal val="hidden"/>
                                      </p:to>
                                    </p:set>
                                  </p:childTnLst>
                                </p:cTn>
                              </p:par>
                            </p:childTnLst>
                          </p:cTn>
                        </p:par>
                      </p:childTnLst>
                    </p:cTn>
                  </p:par>
                </p:childTnLst>
              </p:cTn>
              <p:nextCondLst>
                <p:cond evt="onClick" delay="0">
                  <p:tgtEl>
                    <p:spTgt spid="28"/>
                  </p:tgtEl>
                </p:cond>
              </p:nextCondLst>
            </p:seq>
            <p:seq concurrent="1" nextAc="seek">
              <p:cTn id="24" restart="whenNotActive" fill="hold" evtFilter="cancelBubble" nodeType="interactiveSeq">
                <p:stCondLst>
                  <p:cond evt="onClick" delay="0">
                    <p:tgtEl>
                      <p:spTgt spid="31"/>
                    </p:tgtEl>
                  </p:cond>
                </p:stCondLst>
                <p:endSync evt="end" delay="0">
                  <p:rtn val="all"/>
                </p:endSync>
                <p:childTnLst>
                  <p:par>
                    <p:cTn id="25" fill="hold">
                      <p:stCondLst>
                        <p:cond delay="0"/>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4"/>
                                        </p:tgtEl>
                                        <p:attrNameLst>
                                          <p:attrName>style.visibility</p:attrName>
                                        </p:attrNameLst>
                                      </p:cBhvr>
                                      <p:to>
                                        <p:strVal val="visible"/>
                                      </p:to>
                                    </p:set>
                                  </p:childTnLst>
                                </p:cTn>
                              </p:par>
                              <p:par>
                                <p:cTn id="29" presetID="1" presetClass="exit" presetSubtype="0" fill="hold" nodeType="withEffect">
                                  <p:stCondLst>
                                    <p:cond delay="0"/>
                                  </p:stCondLst>
                                  <p:childTnLst>
                                    <p:set>
                                      <p:cBhvr>
                                        <p:cTn id="30" dur="1" fill="hold">
                                          <p:stCondLst>
                                            <p:cond delay="0"/>
                                          </p:stCondLst>
                                        </p:cTn>
                                        <p:tgtEl>
                                          <p:spTgt spid="54"/>
                                        </p:tgtEl>
                                        <p:attrNameLst>
                                          <p:attrName>style.visibility</p:attrName>
                                        </p:attrNameLst>
                                      </p:cBhvr>
                                      <p:to>
                                        <p:strVal val="hidden"/>
                                      </p:to>
                                    </p:set>
                                  </p:childTnLst>
                                </p:cTn>
                              </p:par>
                            </p:childTnLst>
                          </p:cTn>
                        </p:par>
                      </p:childTnLst>
                    </p:cTn>
                  </p:par>
                </p:childTnLst>
              </p:cTn>
              <p:nextCondLst>
                <p:cond evt="onClick" delay="0">
                  <p:tgtEl>
                    <p:spTgt spid="31"/>
                  </p:tgtEl>
                </p:cond>
              </p:nextCondLst>
            </p:seq>
            <p:seq concurrent="1" nextAc="seek">
              <p:cTn id="31" restart="whenNotActive" fill="hold" evtFilter="cancelBubble" nodeType="interactiveSeq">
                <p:stCondLst>
                  <p:cond evt="onClick" delay="0">
                    <p:tgtEl>
                      <p:spTgt spid="129"/>
                    </p:tgtEl>
                  </p:cond>
                </p:stCondLst>
                <p:endSync evt="end" delay="0">
                  <p:rtn val="all"/>
                </p:endSync>
                <p:childTnLst>
                  <p:par>
                    <p:cTn id="32" fill="hold">
                      <p:stCondLst>
                        <p:cond delay="0"/>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57"/>
                                        </p:tgtEl>
                                        <p:attrNameLst>
                                          <p:attrName>style.visibility</p:attrName>
                                        </p:attrNameLst>
                                      </p:cBhvr>
                                      <p:to>
                                        <p:strVal val="visible"/>
                                      </p:to>
                                    </p:set>
                                  </p:childTnLst>
                                </p:cTn>
                              </p:par>
                              <p:par>
                                <p:cTn id="36" presetID="1" presetClass="exit" presetSubtype="0" fill="hold" nodeType="withEffect">
                                  <p:stCondLst>
                                    <p:cond delay="0"/>
                                  </p:stCondLst>
                                  <p:childTnLst>
                                    <p:set>
                                      <p:cBhvr>
                                        <p:cTn id="37" dur="1" fill="hold">
                                          <p:stCondLst>
                                            <p:cond delay="0"/>
                                          </p:stCondLst>
                                        </p:cTn>
                                        <p:tgtEl>
                                          <p:spTgt spid="81"/>
                                        </p:tgtEl>
                                        <p:attrNameLst>
                                          <p:attrName>style.visibility</p:attrName>
                                        </p:attrNameLst>
                                      </p:cBhvr>
                                      <p:to>
                                        <p:strVal val="hidden"/>
                                      </p:to>
                                    </p:set>
                                  </p:childTnLst>
                                </p:cTn>
                              </p:par>
                              <p:par>
                                <p:cTn id="38" presetID="1" presetClass="entr" presetSubtype="0" fill="hold" nodeType="withEffect">
                                  <p:stCondLst>
                                    <p:cond delay="0"/>
                                  </p:stCondLst>
                                  <p:childTnLst>
                                    <p:set>
                                      <p:cBhvr>
                                        <p:cTn id="39" dur="1" fill="hold">
                                          <p:stCondLst>
                                            <p:cond delay="0"/>
                                          </p:stCondLst>
                                        </p:cTn>
                                        <p:tgtEl>
                                          <p:spTgt spid="59"/>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66"/>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67"/>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59"/>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66"/>
                                        </p:tgtEl>
                                        <p:attrNameLst>
                                          <p:attrName>style.visibility</p:attrName>
                                        </p:attrNameLst>
                                      </p:cBhvr>
                                      <p:to>
                                        <p:strVal val="visible"/>
                                      </p:to>
                                    </p:set>
                                  </p:childTnLst>
                                </p:cTn>
                              </p:par>
                              <p:par>
                                <p:cTn id="48" presetID="1" presetClass="entr" presetSubtype="0" fill="hold" nodeType="withEffect">
                                  <p:stCondLst>
                                    <p:cond delay="0"/>
                                  </p:stCondLst>
                                  <p:childTnLst>
                                    <p:set>
                                      <p:cBhvr>
                                        <p:cTn id="49" dur="1" fill="hold">
                                          <p:stCondLst>
                                            <p:cond delay="0"/>
                                          </p:stCondLst>
                                        </p:cTn>
                                        <p:tgtEl>
                                          <p:spTgt spid="67"/>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131"/>
                                        </p:tgtEl>
                                        <p:attrNameLst>
                                          <p:attrName>style.visibility</p:attrName>
                                        </p:attrNameLst>
                                      </p:cBhvr>
                                      <p:to>
                                        <p:strVal val="visible"/>
                                      </p:to>
                                    </p:set>
                                  </p:childTnLst>
                                </p:cTn>
                              </p:par>
                            </p:childTnLst>
                          </p:cTn>
                        </p:par>
                      </p:childTnLst>
                    </p:cTn>
                  </p:par>
                </p:childTnLst>
              </p:cTn>
              <p:nextCondLst>
                <p:cond evt="onClick" delay="0">
                  <p:tgtEl>
                    <p:spTgt spid="129"/>
                  </p:tgtEl>
                </p:cond>
              </p:nextCondLst>
            </p:seq>
            <p:seq concurrent="1" nextAc="seek">
              <p:cTn id="52" restart="whenNotActive" fill="hold" evtFilter="cancelBubble" nodeType="interactiveSeq">
                <p:stCondLst>
                  <p:cond evt="onClick" delay="0">
                    <p:tgtEl>
                      <p:spTgt spid="57"/>
                    </p:tgtEl>
                  </p:cond>
                </p:stCondLst>
                <p:endSync evt="end" delay="0">
                  <p:rtn val="all"/>
                </p:endSync>
                <p:childTnLst>
                  <p:par>
                    <p:cTn id="53" fill="hold">
                      <p:stCondLst>
                        <p:cond delay="0"/>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61"/>
                                        </p:tgtEl>
                                        <p:attrNameLst>
                                          <p:attrName>style.visibility</p:attrName>
                                        </p:attrNameLst>
                                      </p:cBhvr>
                                      <p:to>
                                        <p:strVal val="visible"/>
                                      </p:to>
                                    </p:set>
                                  </p:childTnLst>
                                </p:cTn>
                              </p:par>
                              <p:par>
                                <p:cTn id="57" presetID="1" presetClass="exit" presetSubtype="0" fill="hold" nodeType="withEffect">
                                  <p:stCondLst>
                                    <p:cond delay="0"/>
                                  </p:stCondLst>
                                  <p:childTnLst>
                                    <p:set>
                                      <p:cBhvr>
                                        <p:cTn id="58" dur="1" fill="hold">
                                          <p:stCondLst>
                                            <p:cond delay="0"/>
                                          </p:stCondLst>
                                        </p:cTn>
                                        <p:tgtEl>
                                          <p:spTgt spid="66"/>
                                        </p:tgtEl>
                                        <p:attrNameLst>
                                          <p:attrName>style.visibility</p:attrName>
                                        </p:attrNameLst>
                                      </p:cBhvr>
                                      <p:to>
                                        <p:strVal val="hidden"/>
                                      </p:to>
                                    </p:set>
                                  </p:childTnLst>
                                </p:cTn>
                              </p:par>
                            </p:childTnLst>
                          </p:cTn>
                        </p:par>
                      </p:childTnLst>
                    </p:cTn>
                  </p:par>
                </p:childTnLst>
              </p:cTn>
              <p:nextCondLst>
                <p:cond evt="onClick" delay="0">
                  <p:tgtEl>
                    <p:spTgt spid="57"/>
                  </p:tgtEl>
                </p:cond>
              </p:nextCondLst>
            </p:seq>
            <p:seq concurrent="1" nextAc="seek">
              <p:cTn id="59" restart="whenNotActive" fill="hold" evtFilter="cancelBubble" nodeType="interactiveSeq">
                <p:stCondLst>
                  <p:cond evt="onClick" delay="0">
                    <p:tgtEl>
                      <p:spTgt spid="59"/>
                    </p:tgtEl>
                  </p:cond>
                </p:stCondLst>
                <p:endSync evt="end" delay="0">
                  <p:rtn val="all"/>
                </p:endSync>
                <p:childTnLst>
                  <p:par>
                    <p:cTn id="60" fill="hold">
                      <p:stCondLst>
                        <p:cond delay="0"/>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63"/>
                                        </p:tgtEl>
                                        <p:attrNameLst>
                                          <p:attrName>style.visibility</p:attrName>
                                        </p:attrNameLst>
                                      </p:cBhvr>
                                      <p:to>
                                        <p:strVal val="visible"/>
                                      </p:to>
                                    </p:set>
                                  </p:childTnLst>
                                </p:cTn>
                              </p:par>
                              <p:par>
                                <p:cTn id="64" presetID="1" presetClass="exit" presetSubtype="0" fill="hold" nodeType="withEffect">
                                  <p:stCondLst>
                                    <p:cond delay="0"/>
                                  </p:stCondLst>
                                  <p:childTnLst>
                                    <p:set>
                                      <p:cBhvr>
                                        <p:cTn id="65" dur="1" fill="hold">
                                          <p:stCondLst>
                                            <p:cond delay="0"/>
                                          </p:stCondLst>
                                        </p:cTn>
                                        <p:tgtEl>
                                          <p:spTgt spid="67"/>
                                        </p:tgtEl>
                                        <p:attrNameLst>
                                          <p:attrName>style.visibility</p:attrName>
                                        </p:attrNameLst>
                                      </p:cBhvr>
                                      <p:to>
                                        <p:strVal val="hidden"/>
                                      </p:to>
                                    </p:set>
                                  </p:childTnLst>
                                </p:cTn>
                              </p:par>
                            </p:childTnLst>
                          </p:cTn>
                        </p:par>
                      </p:childTnLst>
                    </p:cTn>
                  </p:par>
                </p:childTnLst>
              </p:cTn>
              <p:nextCondLst>
                <p:cond evt="onClick" delay="0">
                  <p:tgtEl>
                    <p:spTgt spid="59"/>
                  </p:tgtEl>
                </p:cond>
              </p:nextCondLst>
            </p:seq>
            <p:seq concurrent="1" nextAc="seek">
              <p:cTn id="66" restart="whenNotActive" fill="hold" evtFilter="cancelBubble" nodeType="interactiveSeq">
                <p:stCondLst>
                  <p:cond evt="onClick" delay="0">
                    <p:tgtEl>
                      <p:spTgt spid="146"/>
                    </p:tgtEl>
                  </p:cond>
                </p:stCondLst>
                <p:endSync evt="end" delay="0">
                  <p:rtn val="all"/>
                </p:endSync>
                <p:childTnLst>
                  <p:par>
                    <p:cTn id="67" fill="hold">
                      <p:stCondLst>
                        <p:cond delay="0"/>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9"/>
                                        </p:tgtEl>
                                        <p:attrNameLst>
                                          <p:attrName>style.visibility</p:attrName>
                                        </p:attrNameLst>
                                      </p:cBhvr>
                                      <p:to>
                                        <p:strVal val="visible"/>
                                      </p:to>
                                    </p:set>
                                  </p:childTnLst>
                                </p:cTn>
                              </p:par>
                              <p:par>
                                <p:cTn id="71" presetID="1" presetClass="exit" presetSubtype="0" fill="hold" nodeType="withEffect">
                                  <p:stCondLst>
                                    <p:cond delay="0"/>
                                  </p:stCondLst>
                                  <p:childTnLst>
                                    <p:set>
                                      <p:cBhvr>
                                        <p:cTn id="72" dur="1" fill="hold">
                                          <p:stCondLst>
                                            <p:cond delay="0"/>
                                          </p:stCondLst>
                                        </p:cTn>
                                        <p:tgtEl>
                                          <p:spTgt spid="82"/>
                                        </p:tgtEl>
                                        <p:attrNameLst>
                                          <p:attrName>style.visibility</p:attrName>
                                        </p:attrNameLst>
                                      </p:cBhvr>
                                      <p:to>
                                        <p:strVal val="hidden"/>
                                      </p:to>
                                    </p:set>
                                  </p:childTnLst>
                                </p:cTn>
                              </p:par>
                              <p:par>
                                <p:cTn id="73" presetID="1" presetClass="entr" presetSubtype="0" fill="hold" grpId="0" nodeType="withEffect">
                                  <p:stCondLst>
                                    <p:cond delay="0"/>
                                  </p:stCondLst>
                                  <p:childTnLst>
                                    <p:set>
                                      <p:cBhvr>
                                        <p:cTn id="74" dur="1" fill="hold">
                                          <p:stCondLst>
                                            <p:cond delay="0"/>
                                          </p:stCondLst>
                                        </p:cTn>
                                        <p:tgtEl>
                                          <p:spTgt spid="40"/>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47"/>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48"/>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48"/>
                                        </p:tgtEl>
                                        <p:attrNameLst>
                                          <p:attrName>style.visibility</p:attrName>
                                        </p:attrNameLst>
                                      </p:cBhvr>
                                      <p:to>
                                        <p:strVal val="visible"/>
                                      </p:to>
                                    </p:set>
                                  </p:childTnLst>
                                </p:cTn>
                              </p:par>
                            </p:childTnLst>
                          </p:cTn>
                        </p:par>
                      </p:childTnLst>
                    </p:cTn>
                  </p:par>
                </p:childTnLst>
              </p:cTn>
              <p:nextCondLst>
                <p:cond evt="onClick" delay="0">
                  <p:tgtEl>
                    <p:spTgt spid="146"/>
                  </p:tgtEl>
                </p:cond>
              </p:nextCondLst>
            </p:seq>
            <p:seq concurrent="1" nextAc="seek">
              <p:cTn id="81" restart="whenNotActive" fill="hold" evtFilter="cancelBubble" nodeType="interactiveSeq">
                <p:stCondLst>
                  <p:cond evt="onClick" delay="0">
                    <p:tgtEl>
                      <p:spTgt spid="39"/>
                    </p:tgtEl>
                  </p:cond>
                </p:stCondLst>
                <p:endSync evt="end" delay="0">
                  <p:rtn val="all"/>
                </p:endSync>
                <p:childTnLst>
                  <p:par>
                    <p:cTn id="82" fill="hold">
                      <p:stCondLst>
                        <p:cond delay="0"/>
                      </p:stCondLst>
                      <p:childTnLst>
                        <p:par>
                          <p:cTn id="83" fill="hold">
                            <p:stCondLst>
                              <p:cond delay="0"/>
                            </p:stCondLst>
                            <p:childTnLst>
                              <p:par>
                                <p:cTn id="84" presetID="1" presetClass="exit" presetSubtype="0" fill="hold" nodeType="clickEffect">
                                  <p:stCondLst>
                                    <p:cond delay="0"/>
                                  </p:stCondLst>
                                  <p:childTnLst>
                                    <p:set>
                                      <p:cBhvr>
                                        <p:cTn id="85" dur="1" fill="hold">
                                          <p:stCondLst>
                                            <p:cond delay="0"/>
                                          </p:stCondLst>
                                        </p:cTn>
                                        <p:tgtEl>
                                          <p:spTgt spid="47"/>
                                        </p:tgtEl>
                                        <p:attrNameLst>
                                          <p:attrName>style.visibility</p:attrName>
                                        </p:attrNameLst>
                                      </p:cBhvr>
                                      <p:to>
                                        <p:strVal val="hidden"/>
                                      </p:to>
                                    </p:set>
                                  </p:childTnLst>
                                </p:cTn>
                              </p:par>
                              <p:par>
                                <p:cTn id="86" presetID="1" presetClass="entr" presetSubtype="0" fill="hold" grpId="0" nodeType="withEffect">
                                  <p:stCondLst>
                                    <p:cond delay="0"/>
                                  </p:stCondLst>
                                  <p:childTnLst>
                                    <p:set>
                                      <p:cBhvr>
                                        <p:cTn id="87" dur="1" fill="hold">
                                          <p:stCondLst>
                                            <p:cond delay="0"/>
                                          </p:stCondLst>
                                        </p:cTn>
                                        <p:tgtEl>
                                          <p:spTgt spid="43"/>
                                        </p:tgtEl>
                                        <p:attrNameLst>
                                          <p:attrName>style.visibility</p:attrName>
                                        </p:attrNameLst>
                                      </p:cBhvr>
                                      <p:to>
                                        <p:strVal val="visible"/>
                                      </p:to>
                                    </p:set>
                                  </p:childTnLst>
                                </p:cTn>
                              </p:par>
                            </p:childTnLst>
                          </p:cTn>
                        </p:par>
                      </p:childTnLst>
                    </p:cTn>
                  </p:par>
                </p:childTnLst>
              </p:cTn>
              <p:nextCondLst>
                <p:cond evt="onClick" delay="0">
                  <p:tgtEl>
                    <p:spTgt spid="39"/>
                  </p:tgtEl>
                </p:cond>
              </p:nextCondLst>
            </p:seq>
            <p:seq concurrent="1" nextAc="seek">
              <p:cTn id="88" restart="whenNotActive" fill="hold" evtFilter="cancelBubble" nodeType="interactiveSeq">
                <p:stCondLst>
                  <p:cond evt="onClick" delay="0">
                    <p:tgtEl>
                      <p:spTgt spid="40"/>
                    </p:tgtEl>
                  </p:cond>
                </p:stCondLst>
                <p:endSync evt="end" delay="0">
                  <p:rtn val="all"/>
                </p:endSync>
                <p:childTnLst>
                  <p:par>
                    <p:cTn id="89" fill="hold">
                      <p:stCondLst>
                        <p:cond delay="0"/>
                      </p:stCondLst>
                      <p:childTnLst>
                        <p:par>
                          <p:cTn id="90" fill="hold">
                            <p:stCondLst>
                              <p:cond delay="0"/>
                            </p:stCondLst>
                            <p:childTnLst>
                              <p:par>
                                <p:cTn id="91" presetID="1" presetClass="exit" presetSubtype="0" fill="hold" nodeType="clickEffect">
                                  <p:stCondLst>
                                    <p:cond delay="0"/>
                                  </p:stCondLst>
                                  <p:childTnLst>
                                    <p:set>
                                      <p:cBhvr>
                                        <p:cTn id="92" dur="1" fill="hold">
                                          <p:stCondLst>
                                            <p:cond delay="0"/>
                                          </p:stCondLst>
                                        </p:cTn>
                                        <p:tgtEl>
                                          <p:spTgt spid="48"/>
                                        </p:tgtEl>
                                        <p:attrNameLst>
                                          <p:attrName>style.visibility</p:attrName>
                                        </p:attrNameLst>
                                      </p:cBhvr>
                                      <p:to>
                                        <p:strVal val="hidden"/>
                                      </p:to>
                                    </p:set>
                                  </p:childTnLst>
                                </p:cTn>
                              </p:par>
                              <p:par>
                                <p:cTn id="93" presetID="1" presetClass="entr" presetSubtype="0" fill="hold" nodeType="withEffect">
                                  <p:stCondLst>
                                    <p:cond delay="0"/>
                                  </p:stCondLst>
                                  <p:childTnLst>
                                    <p:set>
                                      <p:cBhvr>
                                        <p:cTn id="94" dur="1" fill="hold">
                                          <p:stCondLst>
                                            <p:cond delay="0"/>
                                          </p:stCondLst>
                                        </p:cTn>
                                        <p:tgtEl>
                                          <p:spTgt spid="49"/>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41"/>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44"/>
                                        </p:tgtEl>
                                        <p:attrNameLst>
                                          <p:attrName>style.visibility</p:attrName>
                                        </p:attrNameLst>
                                      </p:cBhvr>
                                      <p:to>
                                        <p:strVal val="visible"/>
                                      </p:to>
                                    </p:set>
                                  </p:childTnLst>
                                </p:cTn>
                              </p:par>
                            </p:childTnLst>
                          </p:cTn>
                        </p:par>
                      </p:childTnLst>
                    </p:cTn>
                  </p:par>
                </p:childTnLst>
              </p:cTn>
              <p:nextCondLst>
                <p:cond evt="onClick" delay="0">
                  <p:tgtEl>
                    <p:spTgt spid="40"/>
                  </p:tgtEl>
                </p:cond>
              </p:nextCondLst>
            </p:seq>
            <p:seq concurrent="1" nextAc="seek">
              <p:cTn id="99" restart="whenNotActive" fill="hold" evtFilter="cancelBubble" nodeType="interactiveSeq">
                <p:stCondLst>
                  <p:cond evt="onClick" delay="0">
                    <p:tgtEl>
                      <p:spTgt spid="41"/>
                    </p:tgtEl>
                  </p:cond>
                </p:stCondLst>
                <p:endSync evt="end" delay="0">
                  <p:rtn val="all"/>
                </p:endSync>
                <p:childTnLst>
                  <p:par>
                    <p:cTn id="100" fill="hold">
                      <p:stCondLst>
                        <p:cond delay="0"/>
                      </p:stCondLst>
                      <p:childTnLst>
                        <p:par>
                          <p:cTn id="101" fill="hold">
                            <p:stCondLst>
                              <p:cond delay="0"/>
                            </p:stCondLst>
                            <p:childTnLst>
                              <p:par>
                                <p:cTn id="102" presetID="1" presetClass="exit" presetSubtype="0" fill="hold" nodeType="clickEffect">
                                  <p:stCondLst>
                                    <p:cond delay="0"/>
                                  </p:stCondLst>
                                  <p:childTnLst>
                                    <p:set>
                                      <p:cBhvr>
                                        <p:cTn id="103" dur="1" fill="hold">
                                          <p:stCondLst>
                                            <p:cond delay="0"/>
                                          </p:stCondLst>
                                        </p:cTn>
                                        <p:tgtEl>
                                          <p:spTgt spid="49"/>
                                        </p:tgtEl>
                                        <p:attrNameLst>
                                          <p:attrName>style.visibility</p:attrName>
                                        </p:attrNameLst>
                                      </p:cBhvr>
                                      <p:to>
                                        <p:strVal val="hidden"/>
                                      </p:to>
                                    </p:set>
                                  </p:childTnLst>
                                </p:cTn>
                              </p:par>
                              <p:par>
                                <p:cTn id="104" presetID="1" presetClass="entr" presetSubtype="0" fill="hold" grpId="0" nodeType="withEffect">
                                  <p:stCondLst>
                                    <p:cond delay="0"/>
                                  </p:stCondLst>
                                  <p:childTnLst>
                                    <p:set>
                                      <p:cBhvr>
                                        <p:cTn id="105" dur="1" fill="hold">
                                          <p:stCondLst>
                                            <p:cond delay="0"/>
                                          </p:stCondLst>
                                        </p:cTn>
                                        <p:tgtEl>
                                          <p:spTgt spid="45"/>
                                        </p:tgtEl>
                                        <p:attrNameLst>
                                          <p:attrName>style.visibility</p:attrName>
                                        </p:attrNameLst>
                                      </p:cBhvr>
                                      <p:to>
                                        <p:strVal val="visible"/>
                                      </p:to>
                                    </p:set>
                                  </p:childTnLst>
                                </p:cTn>
                              </p:par>
                            </p:childTnLst>
                          </p:cTn>
                        </p:par>
                      </p:childTnLst>
                    </p:cTn>
                  </p:par>
                </p:childTnLst>
              </p:cTn>
              <p:nextCondLst>
                <p:cond evt="onClick" delay="0">
                  <p:tgtEl>
                    <p:spTgt spid="41"/>
                  </p:tgtEl>
                </p:cond>
              </p:nextCondLst>
            </p:seq>
          </p:childTnLst>
        </p:cTn>
      </p:par>
    </p:tnLst>
    <p:bldLst>
      <p:bldP spid="13" grpId="0"/>
      <p:bldP spid="28" grpId="0" animBg="1"/>
      <p:bldP spid="31" grpId="0" animBg="1"/>
      <p:bldP spid="33" grpId="0" animBg="1"/>
      <p:bldP spid="34" grpId="0" animBg="1"/>
      <p:bldP spid="131" grpId="0"/>
      <p:bldP spid="148" grpId="0"/>
      <p:bldP spid="59" grpId="0" animBg="1"/>
      <p:bldP spid="61" grpId="0" animBg="1"/>
      <p:bldP spid="63" grpId="0" animBg="1"/>
      <p:bldP spid="39" grpId="0" animBg="1"/>
      <p:bldP spid="40" grpId="0" animBg="1"/>
      <p:bldP spid="43" grpId="0" animBg="1"/>
      <p:bldP spid="41" grpId="0" animBg="1"/>
      <p:bldP spid="44" grpId="0" animBg="1"/>
      <p:bldP spid="45"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ctr" wrap="square" lIns="320040" tIns="109728"/>
          <a:lstStyle/>
          <a:p>
            <a:pPr algn="ctr"/>
            <a:r>
              <a:rPr sz="2600" b="1">
                <a:solidFill>
                  <a:srgbClr val="FFFFFF"/>
                </a:solidFill>
                <a:latin typeface="Calibri"/>
              </a:rPr>
              <a:t>2025 Update — USPSTF Cervical Cancer Screening</a:t>
            </a:r>
          </a:p>
        </p:txBody>
      </p:sp>
      <p:sp>
        <p:nvSpPr>
          <p:cNvPr id="3" name="TextBox 2"/>
          <p:cNvSpPr txBox="1"/>
          <p:nvPr/>
        </p:nvSpPr>
        <p:spPr>
          <a:xfrm>
            <a:off x="502920" y="1097280"/>
            <a:ext cx="11186160" cy="5394960"/>
          </a:xfrm>
          <a:prstGeom prst="rect">
            <a:avLst/>
          </a:prstGeom>
          <a:noFill/>
        </p:spPr>
        <p:txBody>
          <a:bodyPr wrap="square">
            <a:spAutoFit/>
          </a:bodyPr>
          <a:lstStyle/>
          <a:p>
            <a:pPr>
              <a:spcAft>
                <a:spcPts val="600"/>
              </a:spcAft>
            </a:pPr>
            <a:r>
              <a:rPr sz="1500" b="1">
                <a:solidFill>
                  <a:srgbClr val="232323"/>
                </a:solidFill>
                <a:latin typeface="Calibri"/>
              </a:rPr>
              <a:t>The deck's cancer-screening framework, breast (40–74 q2y, 2024), colon (45–79), lung (50–80/20py/15y), prostate (55–69 Grade C), PCV21, Hep B 19–59 and infection screening were all verified CURRENT (deck is the June-2025 build).</a:t>
            </a:r>
          </a:p>
          <a:p>
            <a:pPr>
              <a:spcAft>
                <a:spcPts val="600"/>
              </a:spcAft>
            </a:pPr>
            <a:r>
              <a:rPr sz="1600" b="1">
                <a:solidFill>
                  <a:srgbClr val="232323"/>
                </a:solidFill>
                <a:latin typeface="Calibri"/>
              </a:rPr>
              <a:t>NEW — USPSTF finalized cervical cancer screening (2025), Grade A:</a:t>
            </a:r>
          </a:p>
          <a:p>
            <a:pPr lvl="1">
              <a:spcAft>
                <a:spcPts val="600"/>
              </a:spcAft>
            </a:pPr>
            <a:r>
              <a:rPr sz="1500" b="0">
                <a:solidFill>
                  <a:srgbClr val="232323"/>
                </a:solidFill>
                <a:latin typeface="Calibri"/>
              </a:rPr>
              <a:t>•  Ages 21–29: cytology alone every 3 years (unchanged).</a:t>
            </a:r>
          </a:p>
          <a:p>
            <a:pPr lvl="1">
              <a:spcAft>
                <a:spcPts val="600"/>
              </a:spcAft>
            </a:pPr>
            <a:r>
              <a:rPr sz="1500" b="0">
                <a:solidFill>
                  <a:srgbClr val="232323"/>
                </a:solidFill>
                <a:latin typeface="Calibri"/>
              </a:rPr>
              <a:t>•  Ages 30–65: high-risk HPV PRIMARY screening every 5 years is now the PREFERRED strategy.</a:t>
            </a:r>
          </a:p>
          <a:p>
            <a:pPr lvl="1">
              <a:spcAft>
                <a:spcPts val="600"/>
              </a:spcAft>
            </a:pPr>
            <a:r>
              <a:rPr sz="1500" b="0">
                <a:solidFill>
                  <a:srgbClr val="232323"/>
                </a:solidFill>
                <a:latin typeface="Calibri"/>
              </a:rPr>
              <a:t>•  FIRST-TIME endorsement of SELF-COLLECTED (patient-collected) HPV samples — clinician- OR patient-collected accepted; aims to expand access.</a:t>
            </a:r>
          </a:p>
          <a:p>
            <a:pPr lvl="1">
              <a:spcAft>
                <a:spcPts val="600"/>
              </a:spcAft>
            </a:pPr>
            <a:r>
              <a:rPr sz="1500" b="0">
                <a:solidFill>
                  <a:srgbClr val="232323"/>
                </a:solidFill>
                <a:latin typeface="Calibri"/>
              </a:rPr>
              <a:t>•  Alternatives at 30–65: cytology alone q3y, or HPV+cytology co-test q5y.</a:t>
            </a:r>
          </a:p>
          <a:p>
            <a:pPr>
              <a:spcAft>
                <a:spcPts val="600"/>
              </a:spcAft>
            </a:pPr>
            <a:r>
              <a:rPr sz="1400" b="0">
                <a:solidFill>
                  <a:srgbClr val="232323"/>
                </a:solidFill>
                <a:latin typeface="Calibri"/>
              </a:rPr>
              <a:t>Caveat: ACS still starts at 25; ASCP/CETC raised concerns about equivalence and the 5-yr interval for self-collected samples. Confirm your institution's protocol.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ctr" wrap="square" lIns="320040" tIns="109728"/>
          <a:lstStyle/>
          <a:p>
            <a:pPr algn="ctr"/>
            <a:r>
              <a:rPr sz="2600" b="1">
                <a:solidFill>
                  <a:srgbClr val="FFFFFF"/>
                </a:solidFill>
                <a:latin typeface="Calibri"/>
              </a:rPr>
              <a:t>Take-Home Points</a:t>
            </a:r>
          </a:p>
        </p:txBody>
      </p:sp>
      <p:sp>
        <p:nvSpPr>
          <p:cNvPr id="3" name="TextBox 2"/>
          <p:cNvSpPr txBox="1"/>
          <p:nvPr/>
        </p:nvSpPr>
        <p:spPr>
          <a:xfrm>
            <a:off x="502920" y="1097280"/>
            <a:ext cx="11186160" cy="5394960"/>
          </a:xfrm>
          <a:prstGeom prst="rect">
            <a:avLst/>
          </a:prstGeom>
          <a:noFill/>
        </p:spPr>
        <p:txBody>
          <a:bodyPr wrap="square">
            <a:spAutoFit/>
          </a:bodyPr>
          <a:lstStyle/>
          <a:p>
            <a:pPr>
              <a:spcAft>
                <a:spcPts val="600"/>
              </a:spcAft>
            </a:pPr>
            <a:r>
              <a:rPr sz="1600" b="0">
                <a:solidFill>
                  <a:srgbClr val="232323"/>
                </a:solidFill>
                <a:latin typeface="Calibri"/>
              </a:rPr>
              <a:t>Screening pays off only when the disease is common, has a detectable asymptomatic phase, early treatment beats late, and the test is accurate, cheap, and low-harm — benefits must outweigh harms/cost.</a:t>
            </a:r>
          </a:p>
          <a:p>
            <a:pPr>
              <a:spcAft>
                <a:spcPts val="600"/>
              </a:spcAft>
            </a:pPr>
            <a:r>
              <a:rPr sz="1600" b="0">
                <a:solidFill>
                  <a:srgbClr val="232323"/>
                </a:solidFill>
                <a:latin typeface="Calibri"/>
              </a:rPr>
              <a:t>Five domains of adult prevention: Cancer, Infectious Disease, Cardiovascular, Psychosocial, Family/Safety. Individualize by age, sex, risk factors, comorbidities, and life expectancy.</a:t>
            </a:r>
          </a:p>
          <a:p>
            <a:pPr>
              <a:spcAft>
                <a:spcPts val="600"/>
              </a:spcAft>
            </a:pPr>
            <a:r>
              <a:rPr sz="1600" b="0">
                <a:solidFill>
                  <a:srgbClr val="232323"/>
                </a:solidFill>
                <a:latin typeface="Calibri"/>
              </a:rPr>
              <a:t>Only 5 cancers have screening: breast (40–74 q2y), colon (45–79), cervical (21–65), lung (50–80, 20 pack-yr, quit &lt;15y), prostate (55–69, shared decision, Grade C).</a:t>
            </a:r>
          </a:p>
          <a:p>
            <a:pPr>
              <a:spcAft>
                <a:spcPts val="600"/>
              </a:spcAft>
            </a:pPr>
            <a:r>
              <a:rPr sz="1500" b="0">
                <a:solidFill>
                  <a:srgbClr val="232323"/>
                </a:solidFill>
                <a:latin typeface="Calibri"/>
              </a:rPr>
              <a:t>Immunizations 2024–25: PCV21 for adults ≥50 (and 19–49 with chronic disease); RSV vaccine for ≥75 (and 60–74 at higher risk) via shared decision-making; Hep B universal 19–59.</a:t>
            </a:r>
          </a:p>
          <a:p>
            <a:pPr>
              <a:spcAft>
                <a:spcPts val="600"/>
              </a:spcAft>
            </a:pPr>
            <a:r>
              <a:rPr sz="1600" b="0">
                <a:solidFill>
                  <a:srgbClr val="232323"/>
                </a:solidFill>
                <a:latin typeface="Calibri"/>
              </a:rPr>
              <a:t>2025: USPSTF endorses self-collected HPV; primary HPV q5y preferred at 30–65. Use the USPSTF tool to keep guidelines straight.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ctr" wrap="square" lIns="320040" tIns="109728"/>
          <a:lstStyle/>
          <a:p>
            <a:pPr algn="ctr"/>
            <a:r>
              <a:rPr sz="2600" b="1">
                <a:solidFill>
                  <a:srgbClr val="FFFFFF"/>
                </a:solidFill>
                <a:latin typeface="Calibri"/>
              </a:rPr>
              <a:t>Attribution &amp; Optimization Notes</a:t>
            </a:r>
          </a:p>
        </p:txBody>
      </p:sp>
      <p:sp>
        <p:nvSpPr>
          <p:cNvPr id="3" name="TextBox 2"/>
          <p:cNvSpPr txBox="1"/>
          <p:nvPr/>
        </p:nvSpPr>
        <p:spPr>
          <a:xfrm>
            <a:off x="502920" y="1097280"/>
            <a:ext cx="11186160" cy="5394960"/>
          </a:xfrm>
          <a:prstGeom prst="rect">
            <a:avLst/>
          </a:prstGeom>
          <a:noFill/>
        </p:spPr>
        <p:txBody>
          <a:bodyPr wrap="square">
            <a:spAutoFit/>
          </a:bodyPr>
          <a:lstStyle/>
          <a:p>
            <a:pPr>
              <a:spcAft>
                <a:spcPts val="600"/>
              </a:spcAft>
            </a:pPr>
            <a:r>
              <a:rPr sz="1400" b="0">
                <a:solidFill>
                  <a:srgbClr val="232323"/>
                </a:solidFill>
                <a:latin typeface="Calibri"/>
              </a:rPr>
              <a:t>Adapted from TeachIM.org — “Adult Disease Prevention Part 1: Cancer Screening and Infectious Diseases” (Melton; Exec. Ed. Zhang; Sec. Ed. Brett; Univ. of Colorado / Univ. of Washington). Published Sept 2021, last reviewed June 2025.</a:t>
            </a:r>
          </a:p>
          <a:p>
            <a:pPr>
              <a:spcAft>
                <a:spcPts val="600"/>
              </a:spcAft>
            </a:pPr>
            <a:r>
              <a:rPr sz="1300" b="0">
                <a:solidFill>
                  <a:srgbClr val="232323"/>
                </a:solidFill>
                <a:latin typeface="Calibri"/>
              </a:rPr>
              <a:t>Source URL: https://teachim.org/teaching_material/adult-disease-prevention-1/   |   Deck: prevention-1-updated-2025.pptx (embed-verified)</a:t>
            </a:r>
          </a:p>
          <a:p>
            <a:pPr>
              <a:spcAft>
                <a:spcPts val="600"/>
              </a:spcAft>
            </a:pPr>
            <a:r>
              <a:rPr sz="1400" b="0">
                <a:solidFill>
                  <a:srgbClr val="232323"/>
                </a:solidFill>
                <a:latin typeface="Calibri"/>
              </a:rPr>
              <a:t>Licensed under Creative Commons Attribution-NonCommercial 4.0 (CC BY-NC 4.0). This optimized package is likewise CC BY-NC 4.0 — attribution required, non-commercial use only.</a:t>
            </a:r>
          </a:p>
          <a:p>
            <a:pPr>
              <a:spcAft>
                <a:spcPts val="600"/>
              </a:spcAft>
            </a:pPr>
            <a:r>
              <a:rPr sz="1400" b="0">
                <a:solidFill>
                  <a:srgbClr val="232323"/>
                </a:solidFill>
                <a:latin typeface="Calibri"/>
              </a:rPr>
              <a:t>Optimized June 2026: original interactive board preserved (all 11 slides, animations &amp; BioRender graphics intact). 1 surgical fix: slide 6 button label "USPTF" → "USPSTF" (single text run; animations preserved). 3 slides appended (this addendum).</a:t>
            </a:r>
          </a:p>
          <a:p>
            <a:pPr>
              <a:spcAft>
                <a:spcPts val="600"/>
              </a:spcAft>
            </a:pPr>
            <a:r>
              <a:rPr sz="1400" b="0">
                <a:solidFill>
                  <a:srgbClr val="232323"/>
                </a:solidFill>
                <a:latin typeface="Calibri"/>
              </a:rPr>
              <a:t>Currency verified vs USPSTF (2024 breast; 2025 cervical self-collection final), ACIP 2024 (PCV21), and CDC RSV guidance. Companions: teaching script DOCX, cancer-screening learner handout PPTX, PCE summary PPTX.</a:t>
            </a:r>
          </a:p>
          <a:p>
            <a:pPr>
              <a:spcAft>
                <a:spcPts val="600"/>
              </a:spcAft>
            </a:pPr>
            <a:r>
              <a:rPr sz="1300" b="0">
                <a:solidFill>
                  <a:srgbClr val="232323"/>
                </a:solidFill>
                <a:latin typeface="Calibri"/>
              </a:rPr>
              <a:t>Educational use only — clinician-reviewed before teaching; guidelines change frequently (check USPSTF/ACIP and local protocol).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913B57B1B56684BAB1341979C003C65" ma:contentTypeVersion="14" ma:contentTypeDescription="Create a new document." ma:contentTypeScope="" ma:versionID="22d10200c4097f8c9b202e07d064cbcb">
  <xsd:schema xmlns:xsd="http://www.w3.org/2001/XMLSchema" xmlns:xs="http://www.w3.org/2001/XMLSchema" xmlns:p="http://schemas.microsoft.com/office/2006/metadata/properties" xmlns:ns3="b8b3ae3f-5481-4331-b963-02e70fee9004" xmlns:ns4="05428c74-abb2-4460-9816-fc88d4c40442" targetNamespace="http://schemas.microsoft.com/office/2006/metadata/properties" ma:root="true" ma:fieldsID="3d90526e0299bfe85644dd2a0298192e" ns3:_="" ns4:_="">
    <xsd:import namespace="b8b3ae3f-5481-4331-b963-02e70fee9004"/>
    <xsd:import namespace="05428c74-abb2-4460-9816-fc88d4c40442"/>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GenerationTime" minOccurs="0"/>
                <xsd:element ref="ns3:MediaServiceEventHashCode" minOccurs="0"/>
                <xsd:element ref="ns3:MediaServiceOCR" minOccurs="0"/>
                <xsd:element ref="ns3:MediaServiceDateTaken" minOccurs="0"/>
                <xsd:element ref="ns3:MediaServiceLocation" minOccurs="0"/>
                <xsd:element ref="ns4:SharedWithUsers" minOccurs="0"/>
                <xsd:element ref="ns4:SharedWithDetails" minOccurs="0"/>
                <xsd:element ref="ns4:SharingHintHash"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8b3ae3f-5481-4331-b963-02e70fee900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5428c74-abb2-4460-9816-fc88d4c4044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C1419DE-93C2-4CD1-8AD5-CA67B0E415BD}">
  <ds:schemaRefs>
    <ds:schemaRef ds:uri="http://schemas.microsoft.com/sharepoint/v3/contenttype/forms"/>
  </ds:schemaRefs>
</ds:datastoreItem>
</file>

<file path=customXml/itemProps2.xml><?xml version="1.0" encoding="utf-8"?>
<ds:datastoreItem xmlns:ds="http://schemas.openxmlformats.org/officeDocument/2006/customXml" ds:itemID="{381CC121-4C9B-4E8E-973A-64B29CD7689B}">
  <ds:schemaRefs>
    <ds:schemaRef ds:uri="b8b3ae3f-5481-4331-b963-02e70fee9004"/>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05428c74-abb2-4460-9816-fc88d4c40442"/>
    <ds:schemaRef ds:uri="http://www.w3.org/XML/1998/namespace"/>
    <ds:schemaRef ds:uri="http://purl.org/dc/dcmitype/"/>
  </ds:schemaRefs>
</ds:datastoreItem>
</file>

<file path=customXml/itemProps3.xml><?xml version="1.0" encoding="utf-8"?>
<ds:datastoreItem xmlns:ds="http://schemas.openxmlformats.org/officeDocument/2006/customXml" ds:itemID="{1C2DD613-8E76-424F-BAE8-A638DB0C615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8b3ae3f-5481-4331-b963-02e70fee9004"/>
    <ds:schemaRef ds:uri="05428c74-abb2-4460-9816-fc88d4c4044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e95f1b23-abaf-45ee-821d-b7ab251ab3bf}" enabled="0" method="" siteId="{e95f1b23-abaf-45ee-821d-b7ab251ab3bf}" removed="1"/>
</clbl:labelList>
</file>

<file path=docProps/app.xml><?xml version="1.0" encoding="utf-8"?>
<Properties xmlns="http://schemas.openxmlformats.org/officeDocument/2006/extended-properties" xmlns:vt="http://schemas.openxmlformats.org/officeDocument/2006/docPropsVTypes">
  <TotalTime>8669</TotalTime>
  <Words>1789</Words>
  <Application>Microsoft Office PowerPoint</Application>
  <PresentationFormat>Widescreen</PresentationFormat>
  <Paragraphs>357</Paragraphs>
  <Slides>11</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Calibri Light</vt:lpstr>
      <vt:lpstr>Montserrat</vt:lpstr>
      <vt:lpstr>Nunito</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Brandon Fainstad</dc:creator>
  <cp:lastModifiedBy>Brett, Molly S.</cp:lastModifiedBy>
  <cp:revision>35</cp:revision>
  <dcterms:created xsi:type="dcterms:W3CDTF">2020-12-09T20:37:45Z</dcterms:created>
  <dcterms:modified xsi:type="dcterms:W3CDTF">2025-06-27T17:09:05Z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0x0101000913B57B1B56684BAB1341979C003C65</vt:lpwstr>
  </property>
</Properties>
</file>