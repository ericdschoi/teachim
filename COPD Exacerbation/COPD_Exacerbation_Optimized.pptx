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COPD Exacerbation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CDE9F2"/>
                </a:solidFill>
                <a:latin typeface="Calibri"/>
              </a:rPr>
              <a:t>Inpatient management for IM residents — bundle, oxygen, NIV, discharge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08192"/>
            <a:ext cx="1072865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Built June 2026 · Grounded in GOLD 2026 · REDUCE · NIV evidence · Educational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1 — Triage &amp; the oxygen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Define the exacerbation; decide admission; set SpO2 88–92%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Exacerbation = acute ↑ in dyspnea / cough / sputum beyond daily variation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Admit for: rest dyspnea, severe baseline disease, failed outpatient Rx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Admit for: new hypoxemia/hypercapnia, altered mentation, poor home support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Oxygen target SpO2 88–92% — NOT 94–100%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0E6E8C"/>
                </a:solidFill>
                <a:latin typeface="Calibri"/>
              </a:rPr>
              <a:t>     –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Hyperoxia worsens hypercapnia: V/Q mismatch + Haldane effect + ↓drive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Get an early ABG/VBG to identify CO2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The one number where higher is worse — keep the COPD patient at 88–92%.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2 — The core bundle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Bronchodilators + steroids + criteria-based antibiotics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481004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48100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38204" y="1143000"/>
            <a:ext cx="3721507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8204" y="1143000"/>
            <a:ext cx="372150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9711" y="1143000"/>
            <a:ext cx="5074782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711" y="1143000"/>
            <a:ext cx="507478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248100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Bronchodilators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8204" y="1600200"/>
            <a:ext cx="3721507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8204" y="1600200"/>
            <a:ext cx="372150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SABA ± SAMA, scheduled + PRN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59711" y="1600200"/>
            <a:ext cx="5074782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9711" y="1600200"/>
            <a:ext cx="507478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Nebs or MDI-spacer equivalent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99182"/>
            <a:ext cx="248100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99182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Steroids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38204" y="2599182"/>
            <a:ext cx="3721507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8204" y="2599182"/>
            <a:ext cx="372150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Prednisone 40 mg PO × 5 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59711" y="2599182"/>
            <a:ext cx="5074782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9711" y="2599182"/>
            <a:ext cx="507478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REDUCE: oral = IV, no taper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98164"/>
            <a:ext cx="248100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98164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Antibiotics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38204" y="3598164"/>
            <a:ext cx="3721507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8204" y="3598164"/>
            <a:ext cx="372150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If ≥2 Anthonisen or ventilated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59711" y="3598164"/>
            <a:ext cx="5074782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9711" y="3598164"/>
            <a:ext cx="507478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Cover H. flu/pneumo/Moraxella ×5 d; +Pseudomonas if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97146"/>
            <a:ext cx="248100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97146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Oxygen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38204" y="4597146"/>
            <a:ext cx="3721507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8204" y="4597146"/>
            <a:ext cx="3721507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Titrate to 88–92%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9711" y="4597146"/>
            <a:ext cx="5074782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9711" y="4597146"/>
            <a:ext cx="507478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Avoid hyperoxia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Sputum purulence is the strongest single trigger for antibiotics.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3 — NIV: the mortality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BiPAP for acute hypercapnic respiratory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START NIV when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pH ≤ 7.35 with PaCO2 &gt; 45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Severe dyspnea, accessory muscle use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Persistent hypoxemia despite O2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INTUBATE when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NIV failing / pH still falling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Cannot protect airway, ↓consciousness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Hemodynamic instability, apnea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NIV lowers intubation and mortality. HFNC is supportive; NIV is first-line for hypercapnic acidosis.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Find the trigger — and the mimics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Most common trigger: viral &amp; bacterial respiratory infection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Also: air pollution, medication nonadherence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Exclude PNEUMONIA — chest X-ray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Exclude HEART FAILURE — exam, BNP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Exclude PULMONARY EMBOLISM — any unexplained exacerbation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Also: pneumothorax, arrhythmia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Sudden pleuritic dyspnea with no sputum change and a clear CXR → think PE, not exacerbation.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Discharge — prevent the next exacerbation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Check/optimize inhaler technique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Step up maintenance: LAMA+LABA (±ICS if eos↑)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Smoking cessation + vaccines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Pulmonary rehab referral ≤4 weeks (mortality benefit)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Action plan + early follow-up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Antibiotics without purulence (and not ventilated)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Long steroid courses / tapers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SpO2 targets of 94–100%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Assessing home O2 need at acute discharge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GOLD 2026: any ≥1 moderate/severe exacerbation now classifies a patient as 'exacerbated.'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Take-home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94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Oxygen target 88–92% — higher is harmful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Prednisone 40 mg PO × 5 days, no taper (REDUCE)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Antibiotics only for ≥2 Anthonisen criteria or ventilation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NIV early for hypercapnic acidosis — the biggest mortality lever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Exclude PE; discharge with rehab, cessation, vaccines, technique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