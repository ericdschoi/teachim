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22_BFC57BE3.xml" ContentType="application/vnd.ms-powerpoint.comments+xml"/>
  <Override PartName="/ppt/comments/modernComment_123_C78308E7.xml" ContentType="application/vnd.ms-powerpoint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7.svg" ContentType="image/svg+xml"/>
  <Override PartName="/ppt/media/image8.tmp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1" r:id="rId5"/>
    <p:sldId id="284" r:id="rId6"/>
    <p:sldId id="293" r:id="rId7"/>
    <p:sldId id="287" r:id="rId8"/>
    <p:sldId id="286" r:id="rId9"/>
    <p:sldId id="288" r:id="rId10"/>
    <p:sldId id="290" r:id="rId11"/>
    <p:sldId id="291" r:id="rId12"/>
    <p:sldId id="294" r:id="rId13"/>
    <p:sldId id="295" r:id="rId14"/>
    <p:sldId id="296" r:id="rId15"/>
    <p:sldId id="297" r:id="rId3"/>
    <p:sldId id="298" r:id="rId2"/>
    <p:sldId id="299" r:id="r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10968-D91D-C19B-3655-B4D2DE7FDBEE}" name="Yilin Zhang" initials="YZ" userId="S::Yilin_Zhang@valleymed.org::40a11026-a9ab-441d-8256-d37e38926e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403E"/>
    <a:srgbClr val="E7CFCF"/>
    <a:srgbClr val="D8B0B0"/>
    <a:srgbClr val="865858"/>
    <a:srgbClr val="AB7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257" autoAdjust="0"/>
  </p:normalViewPr>
  <p:slideViewPr>
    <p:cSldViewPr snapToGrid="0">
      <p:cViewPr varScale="1">
        <p:scale>
          <a:sx n="81" d="100"/>
          <a:sy n="81" d="100"/>
        </p:scale>
        <p:origin x="16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14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8/10/relationships/authors" Target="authors.xml"/></Relationships>
</file>

<file path=ppt/comments/modernComment_122_BFC57B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3772AB-D692-4A99-8FF0-4A85346B34AD}" authorId="{AB810968-D91D-C19B-3655-B4D2DE7FDBEE}" created="2022-09-13T20:48:07.1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17390563" sldId="290"/>
      <ac:picMk id="108" creationId="{BB86E02F-02AA-0F16-065D-6387D32D239D}"/>
    </ac:deMkLst>
    <p188:txBody>
      <a:bodyPr/>
      <a:lstStyle/>
      <a:p>
        <a:r>
          <a:rPr lang="en-US"/>
          <a:t>Based on my feedback, I ended up changing this to what would you do for evaluation of abnormal LFTs. 
Other things I would consider are further hepatitis panel. </a:t>
        </a:r>
      </a:p>
    </p188:txBody>
  </p188:cm>
  <p188:cm id="{363F02C7-0E25-427A-AE46-820A39459423}" authorId="{AB810968-D91D-C19B-3655-B4D2DE7FDBEE}" created="2022-09-13T21:01:04.0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17390563" sldId="290"/>
      <ac:spMk id="110" creationId="{55A690C1-69D8-4BDA-5A30-6217BC76472F}"/>
    </ac:deMkLst>
    <p188:txBody>
      <a:bodyPr/>
      <a:lstStyle/>
      <a:p>
        <a:r>
          <a:rPr lang="en-US"/>
          <a:t>See my comment on your original slide. Do we want to introduce things like APRI and FIB-4 in this talk as a "screen" for cirrhosis and a prompt for when one might consider further imaging/lab evaluation?
Do all patients with cirrhosis warrant hep referral? Even if compensated? Defer to Elijah here. </a:t>
        </a:r>
      </a:p>
    </p188:txBody>
  </p188:cm>
</p188:cmLst>
</file>

<file path=ppt/comments/modernComment_123_C78308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A5A8C5-ADF2-46BC-B2B9-A2322C5A10AC}" authorId="{AB810968-D91D-C19B-3655-B4D2DE7FDBEE}" created="2022-09-14T18:41:44.53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47253479" sldId="291"/>
      <ac:spMk id="101" creationId="{A05EB782-451F-9575-4F5D-C5695CCC0E80}"/>
    </ac:deMkLst>
    <p188:txBody>
      <a:bodyPr/>
      <a:lstStyle/>
      <a:p>
        <a:r>
          <a:rPr lang="en-US"/>
          <a:t>I split this question up so that you're still testing and asking the same thing but it is structured more as a clinical vignette. We could probably still cut down some of the wording here but this is a mock-up of what it would look like. </a:t>
        </a:r>
      </a:p>
    </p188:txBody>
  </p188:cm>
  <p188:cm id="{4206C53E-7AE5-4F7B-9AFD-A1EAA2806B85}" authorId="{AB810968-D91D-C19B-3655-B4D2DE7FDBEE}" created="2022-09-14T19:09:00.240">
    <pc:sldMkLst xmlns:pc="http://schemas.microsoft.com/office/powerpoint/2013/main/command">
      <pc:docMk/>
      <pc:sldMk cId="3347253479" sldId="291"/>
    </pc:sldMkLst>
    <p188:txBody>
      <a:bodyPr/>
      <a:lstStyle/>
      <a:p>
        <a:r>
          <a:rPr lang="en-US"/>
          <a:t>I edited this here to focus more on recognizing the diagnosis of AH rather than reciting the pattern of abnormal findings. I really like the lcikable elements.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7F185-1D32-4FEC-AC04-03882F3A78D8}" type="datetimeFigureOut">
              <a:rPr lang="en-US"/>
              <a:t>11/29/2022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9DA74-D7A6-419D-BF72-766073D5944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98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aasldpubs.onlinelibrary.wiley.com/doi/epdf/10.1002/hep.30866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pubmed.ncbi.nlm.nih.gov/21981787/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Diagnosis and Treatment of Alcohol‐Associated Liver Diseases: 2019 Practice Guidance From the American Association for the Study of Liver Diseases (wiley.com)</a:t>
            </a:r>
            <a:br>
              <a:rPr lang="en-US" dirty="0"/>
            </a:br>
            <a:r>
              <a:rPr lang="en-US" dirty="0"/>
              <a:t>https://aasldpubs.onlinelibrary.wiley.com/doi/epdf/10.1002/hep.30866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9DA74-D7A6-419D-BF72-766073D594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16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Thiele M, et al. Accuracy of the enhanced liver fibrosis test vs </a:t>
            </a:r>
            <a:r>
              <a:rPr lang="en-US" dirty="0" err="1"/>
              <a:t>FibroTest</a:t>
            </a:r>
            <a:r>
              <a:rPr lang="en-US" dirty="0"/>
              <a:t>, elastography,  and  indirect  markers  in  detection  of  advanced  fibrosis  in  patients  with  alcoholic  liver  disease.  Gastroenterology  2018;154:1369-1379.</a:t>
            </a:r>
          </a:p>
          <a:p>
            <a:pPr marL="171450" indent="-171450">
              <a:buFontTx/>
              <a:buChar char="-"/>
            </a:pPr>
            <a:r>
              <a:rPr lang="en-US" dirty="0"/>
              <a:t>289 patients with alcoholic liver disease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Investigated liver biopsy, enhanced liver fibrosis (ELF), </a:t>
            </a:r>
            <a:r>
              <a:rPr lang="en-US" dirty="0" err="1"/>
              <a:t>FibroTest</a:t>
            </a:r>
            <a:r>
              <a:rPr lang="en-US" dirty="0"/>
              <a:t>, and elastography 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Compared the accuracy of these tests in detection of advanced liver fibrosis</a:t>
            </a:r>
          </a:p>
          <a:p>
            <a:pPr marL="171450" indent="-171450">
              <a:buFontTx/>
              <a:buChar char="-"/>
            </a:pPr>
            <a:r>
              <a:rPr lang="en-US" dirty="0"/>
              <a:t>ELF and </a:t>
            </a:r>
            <a:r>
              <a:rPr lang="en-US" dirty="0" err="1"/>
              <a:t>FibroTest</a:t>
            </a:r>
            <a:r>
              <a:rPr lang="en-US" dirty="0"/>
              <a:t> identified advanced liver fibrosis in alcoholic patients from primary and secondary care with high diagnostic accuracy. (</a:t>
            </a:r>
            <a:r>
              <a:rPr lang="en-US" dirty="0" err="1"/>
              <a:t>Fibrotest</a:t>
            </a:r>
            <a:r>
              <a:rPr lang="en-US" dirty="0"/>
              <a:t> value below 0.58 rules out advanced fibrosis).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>
                <a:hlinkClick r:id="rId3"/>
              </a:rPr>
              <a:t>The impact of liver disease </a:t>
            </a:r>
            <a:r>
              <a:rPr lang="en-US" dirty="0" err="1">
                <a:hlinkClick r:id="rId3"/>
              </a:rPr>
              <a:t>aetiology</a:t>
            </a:r>
            <a:r>
              <a:rPr lang="en-US" dirty="0">
                <a:hlinkClick r:id="rId3"/>
              </a:rPr>
              <a:t> and the stages of hepatic fibrosis on the performance of non-invasive fibrosis biomarkers: an international study of 2411 cases - PubMed (nih.gov)</a:t>
            </a:r>
            <a:endParaRPr lang="en-US" dirty="0"/>
          </a:p>
          <a:p>
            <a:r>
              <a:rPr lang="en-US" dirty="0"/>
              <a:t>https://pubmed.ncbi.nlm.nih.gov/21981787/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0000500000000000000" pitchFamily="2" charset="0"/>
              </a:rPr>
              <a:t>Non-invasive assessment of liver fibrosis in alcoholic liver disease </a:t>
            </a:r>
            <a:r>
              <a:rPr lang="en-US" b="0" i="0" dirty="0">
                <a:solidFill>
                  <a:srgbClr val="212121"/>
                </a:solidFill>
                <a:effectLst/>
                <a:latin typeface="BlinkMacSystemFont"/>
              </a:rPr>
              <a:t>PMID: 32728629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0000500000000000000" pitchFamily="2" charset="0"/>
              </a:rPr>
              <a:t>Cross sectional study of 130 cases with ALD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212121"/>
                </a:solidFill>
                <a:effectLst/>
                <a:latin typeface="Merriweather" panose="00000500000000000000" pitchFamily="2" charset="0"/>
              </a:rPr>
              <a:t>Validated 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4D8055"/>
              </a:solidFill>
              <a:effectLst/>
              <a:latin typeface="BlinkMacSystemFont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9DA74-D7A6-419D-BF72-766073D594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9DA74-D7A6-419D-BF72-766073D594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2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MELD can be considered (MELD &gt;20)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9DA74-D7A6-419D-BF72-766073D594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41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9DA74-D7A6-419D-BF72-766073D594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87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9DA74-D7A6-419D-BF72-766073D594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53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9DA74-D7A6-419D-BF72-766073D594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994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3.xml"/><Relationship Id="rId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slide" Target="slide2.xml"/><Relationship Id="rId10" Type="http://schemas.openxmlformats.org/officeDocument/2006/relationships/slide" Target="slide4.xml"/><Relationship Id="rId11" Type="http://schemas.openxmlformats.org/officeDocument/2006/relationships/slide" Target="slide5.xml"/><Relationship Id="rId12" Type="http://schemas.openxmlformats.org/officeDocument/2006/relationships/slide" Target="slide7.xml"/><Relationship Id="rId1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1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.tmp"/><Relationship Id="rId5" Type="http://schemas.openxmlformats.org/officeDocument/2006/relationships/slide" Target="slide2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3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7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6.png"/><Relationship Id="rId11" Type="http://schemas.openxmlformats.org/officeDocument/2006/relationships/image" Target="../media/image7.svg"/><Relationship Id="rId12" Type="http://schemas.openxmlformats.org/officeDocument/2006/relationships/image" Target="../media/image4.png"/><Relationship Id="rId13" Type="http://schemas.openxmlformats.org/officeDocument/2006/relationships/slide" Target="slide5.xml"/><Relationship Id="rId14" Type="http://schemas.openxmlformats.org/officeDocument/2006/relationships/slide" Target="slide6.xml"/><Relationship Id="rId15" Type="http://schemas.openxmlformats.org/officeDocument/2006/relationships/slide" Target="slide2.xml"/><Relationship Id="rId16" Type="http://schemas.openxmlformats.org/officeDocument/2006/relationships/slide" Target="slide4.xml"/><Relationship Id="rId17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7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2.xml"/><Relationship Id="rId9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microsoft.com/office/2018/10/relationships/comments" Target="../comments/modernComment_122_BFC57BE3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23_C78308E7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 1">
            <a:hlinkClick r:id="rId2" action="ppaction://hlinksldjump"/>
            <a:extLst>
              <a:ext uri="{FF2B5EF4-FFF2-40B4-BE49-F238E27FC236}">
                <a16:creationId xmlns:a16="http://schemas.microsoft.com/office/drawing/2014/main" id="{95ABCE8B-396C-85B9-3975-4BBEBB7BD1F1}"/>
              </a:ext>
            </a:extLst>
          </p:cNvPr>
          <p:cNvSpPr/>
          <p:nvPr/>
        </p:nvSpPr>
        <p:spPr>
          <a:xfrm>
            <a:off x="167950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Spectrum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9E8CF588-0C7D-FD6A-AF7C-3DAC851E0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sp>
        <p:nvSpPr>
          <p:cNvPr id="8" name="Obj 3">
            <a:hlinkClick r:id="rId5" action="ppaction://hlinksldjump"/>
            <a:extLst>
              <a:ext uri="{FF2B5EF4-FFF2-40B4-BE49-F238E27FC236}">
                <a16:creationId xmlns:a16="http://schemas.microsoft.com/office/drawing/2014/main" id="{4507BAE1-7F82-51FC-770A-AE630F34F783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B809D0CA-5E0F-170F-9FAC-542D81A7F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10" name="Cases">
            <a:hlinkClick r:id="rId6" action="ppaction://hlinksldjump"/>
            <a:extLst>
              <a:ext uri="{FF2B5EF4-FFF2-40B4-BE49-F238E27FC236}">
                <a16:creationId xmlns:a16="http://schemas.microsoft.com/office/drawing/2014/main" id="{44D1FF34-893E-B339-FF07-FDD9FFAFC08C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AH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B5A1736B-5FA6-C2DA-32B4-91D20644B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12" name="ALF">
            <a:extLst>
              <a:ext uri="{FF2B5EF4-FFF2-40B4-BE49-F238E27FC236}">
                <a16:creationId xmlns:a16="http://schemas.microsoft.com/office/drawing/2014/main" id="{0C00E484-A03C-FEBD-39F3-BDAB82F7E83F}"/>
              </a:ext>
            </a:extLst>
          </p:cNvPr>
          <p:cNvSpPr txBox="1"/>
          <p:nvPr/>
        </p:nvSpPr>
        <p:spPr>
          <a:xfrm>
            <a:off x="2807393" y="524503"/>
            <a:ext cx="746731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b="1" dirty="0"/>
              <a:t>Alcohol-related Liver Disease</a:t>
            </a:r>
          </a:p>
        </p:txBody>
      </p:sp>
      <p:sp>
        <p:nvSpPr>
          <p:cNvPr id="14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9820E1D9-F58D-92CD-B1F4-BD8062D4E77E}"/>
              </a:ext>
            </a:extLst>
          </p:cNvPr>
          <p:cNvSpPr/>
          <p:nvPr/>
        </p:nvSpPr>
        <p:spPr>
          <a:xfrm>
            <a:off x="167950" y="225204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88F01F11-03E6-A2A5-6BC7-9080081D9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2484692"/>
            <a:ext cx="270672" cy="270672"/>
          </a:xfrm>
          <a:prstGeom prst="rect">
            <a:avLst/>
          </a:prstGeom>
        </p:spPr>
      </p:pic>
      <p:sp>
        <p:nvSpPr>
          <p:cNvPr id="2" name="Obj 2">
            <a:hlinkClick r:id="rId8" action="ppaction://hlinksldjump"/>
            <a:extLst>
              <a:ext uri="{FF2B5EF4-FFF2-40B4-BE49-F238E27FC236}">
                <a16:creationId xmlns:a16="http://schemas.microsoft.com/office/drawing/2014/main" id="{F7E1316F-564A-F0E4-1C88-72C5F73C8DB7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038C9835-563A-C862-73DB-477733D59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pic>
        <p:nvPicPr>
          <p:cNvPr id="21" name="Picture 20" descr="A picture containing text, sushi, several&#10;&#10;Description automatically generated">
            <a:extLst>
              <a:ext uri="{FF2B5EF4-FFF2-40B4-BE49-F238E27FC236}">
                <a16:creationId xmlns:a16="http://schemas.microsoft.com/office/drawing/2014/main" id="{FCF91368-0EFF-45A2-395A-279EE651DEC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11" t="59524" r="5556" b="4623"/>
          <a:stretch/>
        </p:blipFill>
        <p:spPr>
          <a:xfrm>
            <a:off x="3327947" y="2094163"/>
            <a:ext cx="6426209" cy="394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6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09BF7AC6-6138-5E70-C8C0-F7E705F5CCF0}"/>
              </a:ext>
            </a:extLst>
          </p:cNvPr>
          <p:cNvGrpSpPr/>
          <p:nvPr/>
        </p:nvGrpSpPr>
        <p:grpSpPr>
          <a:xfrm>
            <a:off x="476095" y="2870631"/>
            <a:ext cx="1945753" cy="1702635"/>
            <a:chOff x="1974314" y="1541875"/>
            <a:chExt cx="1945753" cy="170263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9696827-3016-1317-B601-51036AEF383F}"/>
                </a:ext>
              </a:extLst>
            </p:cNvPr>
            <p:cNvSpPr/>
            <p:nvPr/>
          </p:nvSpPr>
          <p:spPr>
            <a:xfrm>
              <a:off x="1982442" y="1541875"/>
              <a:ext cx="1937625" cy="1702635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7" name="Liver diagram">
              <a:extLst>
                <a:ext uri="{FF2B5EF4-FFF2-40B4-BE49-F238E27FC236}">
                  <a16:creationId xmlns:a16="http://schemas.microsoft.com/office/drawing/2014/main" id="{0BED2C8F-E96B-9EBC-6EC3-A09ACD5B95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745" t="12746" r="63467" b="60850"/>
            <a:stretch/>
          </p:blipFill>
          <p:spPr>
            <a:xfrm>
              <a:off x="2033971" y="1891009"/>
              <a:ext cx="1838192" cy="1343784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DBA3239-4E7A-201B-E270-087C1EE276C9}"/>
                </a:ext>
              </a:extLst>
            </p:cNvPr>
            <p:cNvSpPr txBox="1"/>
            <p:nvPr/>
          </p:nvSpPr>
          <p:spPr>
            <a:xfrm>
              <a:off x="1974314" y="1548909"/>
              <a:ext cx="193762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Normal liver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8F8473E-50F0-0418-445B-22882ADAB028}"/>
              </a:ext>
            </a:extLst>
          </p:cNvPr>
          <p:cNvGrpSpPr/>
          <p:nvPr/>
        </p:nvGrpSpPr>
        <p:grpSpPr>
          <a:xfrm>
            <a:off x="3388952" y="2467342"/>
            <a:ext cx="2045282" cy="2105924"/>
            <a:chOff x="4924362" y="1138587"/>
            <a:chExt cx="2045282" cy="2105924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E8AECF6-5400-EA86-5E9B-61090868AD85}"/>
                </a:ext>
              </a:extLst>
            </p:cNvPr>
            <p:cNvSpPr/>
            <p:nvPr/>
          </p:nvSpPr>
          <p:spPr>
            <a:xfrm>
              <a:off x="4924362" y="1138587"/>
              <a:ext cx="2045282" cy="210592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2" name="Fatty diagram">
              <a:extLst>
                <a:ext uri="{FF2B5EF4-FFF2-40B4-BE49-F238E27FC236}">
                  <a16:creationId xmlns:a16="http://schemas.microsoft.com/office/drawing/2014/main" id="{3E4A9309-B4CD-790B-6434-083DBFE3BD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880" t="12338" r="36711" b="59048"/>
            <a:stretch/>
          </p:blipFill>
          <p:spPr>
            <a:xfrm>
              <a:off x="5007417" y="1868592"/>
              <a:ext cx="1868511" cy="1363218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28D4D5A-63E8-388B-ABE4-0B6B616A3DEC}"/>
                </a:ext>
              </a:extLst>
            </p:cNvPr>
            <p:cNvSpPr txBox="1"/>
            <p:nvPr/>
          </p:nvSpPr>
          <p:spPr>
            <a:xfrm>
              <a:off x="4972609" y="1168873"/>
              <a:ext cx="1949013" cy="8002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dirty="0">
                  <a:cs typeface="Calibri"/>
                </a:rPr>
                <a:t>ETOH-related fatty liver disease</a:t>
              </a:r>
            </a:p>
            <a:p>
              <a:pPr algn="ctr"/>
              <a:r>
                <a:rPr lang="en-US" sz="1600" dirty="0">
                  <a:cs typeface="Calibri"/>
                </a:rPr>
                <a:t>(Hepatic steatosis)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2F7DD68-5F23-96E7-F656-BB077CE97184}"/>
              </a:ext>
            </a:extLst>
          </p:cNvPr>
          <p:cNvGrpSpPr/>
          <p:nvPr/>
        </p:nvGrpSpPr>
        <p:grpSpPr>
          <a:xfrm>
            <a:off x="9833886" y="2901834"/>
            <a:ext cx="1908614" cy="1671432"/>
            <a:chOff x="8828847" y="2549106"/>
            <a:chExt cx="1908614" cy="1671432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678B37A-239C-3CAF-9CCA-36FED3A8F973}"/>
                </a:ext>
              </a:extLst>
            </p:cNvPr>
            <p:cNvSpPr/>
            <p:nvPr/>
          </p:nvSpPr>
          <p:spPr>
            <a:xfrm>
              <a:off x="8828847" y="2549106"/>
              <a:ext cx="1908614" cy="16714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cute decomp">
              <a:extLst>
                <a:ext uri="{FF2B5EF4-FFF2-40B4-BE49-F238E27FC236}">
                  <a16:creationId xmlns:a16="http://schemas.microsoft.com/office/drawing/2014/main" id="{1B058337-40D7-3739-E360-C39044145872}"/>
                </a:ext>
              </a:extLst>
            </p:cNvPr>
            <p:cNvSpPr txBox="1"/>
            <p:nvPr/>
          </p:nvSpPr>
          <p:spPr>
            <a:xfrm>
              <a:off x="8930357" y="2588597"/>
              <a:ext cx="172085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Cirrhosis</a:t>
              </a:r>
              <a:endParaRPr lang="en-US" dirty="0">
                <a:cs typeface="Calibri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83FC94E9-9785-C025-CA64-BB2DA78F32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08" t="31778" r="42356" b="47917"/>
            <a:stretch/>
          </p:blipFill>
          <p:spPr>
            <a:xfrm>
              <a:off x="8868949" y="2913183"/>
              <a:ext cx="1868512" cy="1256585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39DBF5-5133-2DBA-F969-6D824EF3D6D1}"/>
              </a:ext>
            </a:extLst>
          </p:cNvPr>
          <p:cNvGrpSpPr/>
          <p:nvPr/>
        </p:nvGrpSpPr>
        <p:grpSpPr>
          <a:xfrm>
            <a:off x="2464481" y="3410534"/>
            <a:ext cx="914400" cy="377772"/>
            <a:chOff x="2464481" y="3372694"/>
            <a:chExt cx="914400" cy="377772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04EC83B-A0BB-AECE-A812-1498D37BD077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5ADC32C-5A17-A98B-307B-4450E6B1C776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D1B772D-C63C-175E-C22B-8682D4F40E4B}"/>
              </a:ext>
            </a:extLst>
          </p:cNvPr>
          <p:cNvGrpSpPr/>
          <p:nvPr/>
        </p:nvGrpSpPr>
        <p:grpSpPr>
          <a:xfrm>
            <a:off x="5501316" y="3336530"/>
            <a:ext cx="913158" cy="525780"/>
            <a:chOff x="5523486" y="3328134"/>
            <a:chExt cx="913158" cy="525780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84CB8EB5-3D90-A7CE-0709-4D7F5FF22D49}"/>
                </a:ext>
              </a:extLst>
            </p:cNvPr>
            <p:cNvCxnSpPr>
              <a:cxnSpLocks/>
            </p:cNvCxnSpPr>
            <p:nvPr/>
          </p:nvCxnSpPr>
          <p:spPr>
            <a:xfrm>
              <a:off x="5568787" y="3706820"/>
              <a:ext cx="82255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9465904-DE3A-3E01-82F9-2E1DC3E5C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8063" y="3853914"/>
              <a:ext cx="82400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9EA0684-7579-E1A2-7732-3DA89D64820B}"/>
                </a:ext>
              </a:extLst>
            </p:cNvPr>
            <p:cNvSpPr txBox="1"/>
            <p:nvPr/>
          </p:nvSpPr>
          <p:spPr>
            <a:xfrm>
              <a:off x="5523486" y="3328134"/>
              <a:ext cx="9131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3A08DF4-7DA3-83B3-1F60-A68D477D6FC8}"/>
              </a:ext>
            </a:extLst>
          </p:cNvPr>
          <p:cNvGrpSpPr/>
          <p:nvPr/>
        </p:nvGrpSpPr>
        <p:grpSpPr>
          <a:xfrm>
            <a:off x="8905539" y="3410534"/>
            <a:ext cx="914400" cy="377772"/>
            <a:chOff x="2464481" y="3372694"/>
            <a:chExt cx="914400" cy="377772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5E55A10D-3D8D-ABF8-C01D-B284A2CB0AE8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51AD036-5EE5-3A96-4F97-A8CDBD7DDA23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CC8FE72-8D15-1D13-43FD-763615D56106}"/>
              </a:ext>
            </a:extLst>
          </p:cNvPr>
          <p:cNvGrpSpPr/>
          <p:nvPr/>
        </p:nvGrpSpPr>
        <p:grpSpPr>
          <a:xfrm>
            <a:off x="4386675" y="1867550"/>
            <a:ext cx="6332125" cy="887814"/>
            <a:chOff x="4386675" y="1867550"/>
            <a:chExt cx="6332125" cy="887814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75559A77-34AC-F2F5-9F8A-86FA7C584283}"/>
                </a:ext>
              </a:extLst>
            </p:cNvPr>
            <p:cNvGrpSpPr/>
            <p:nvPr/>
          </p:nvGrpSpPr>
          <p:grpSpPr>
            <a:xfrm>
              <a:off x="4386675" y="2178387"/>
              <a:ext cx="6332125" cy="576977"/>
              <a:chOff x="4386675" y="2178387"/>
              <a:chExt cx="6332125" cy="576977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C7B1480-CF82-55B5-4181-F1D909AD87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1438" y="2178387"/>
                <a:ext cx="0" cy="23147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76F2A75F-8D6A-FEE6-001D-3220A5A19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675" y="2178387"/>
                <a:ext cx="633212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F690DBDC-42C2-47A7-08FB-773D143E9E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14037" y="2178387"/>
                <a:ext cx="0" cy="576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AF09A98-ACDC-E79F-69AD-61C774A0EF13}"/>
                </a:ext>
              </a:extLst>
            </p:cNvPr>
            <p:cNvSpPr txBox="1"/>
            <p:nvPr/>
          </p:nvSpPr>
          <p:spPr>
            <a:xfrm>
              <a:off x="7140690" y="1867550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EDE8641-F7F6-0853-C3CF-E165C9039500}"/>
              </a:ext>
            </a:extLst>
          </p:cNvPr>
          <p:cNvGrpSpPr/>
          <p:nvPr/>
        </p:nvGrpSpPr>
        <p:grpSpPr>
          <a:xfrm>
            <a:off x="6445732" y="2480042"/>
            <a:ext cx="2416775" cy="2093224"/>
            <a:chOff x="8670510" y="528125"/>
            <a:chExt cx="2416775" cy="209322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F7CBD2F-4C7D-0FDE-31DB-1CCF927DA4D6}"/>
                </a:ext>
              </a:extLst>
            </p:cNvPr>
            <p:cNvSpPr/>
            <p:nvPr/>
          </p:nvSpPr>
          <p:spPr>
            <a:xfrm>
              <a:off x="8688288" y="528125"/>
              <a:ext cx="2385991" cy="209190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ETOH cirrhosis">
              <a:extLst>
                <a:ext uri="{FF2B5EF4-FFF2-40B4-BE49-F238E27FC236}">
                  <a16:creationId xmlns:a16="http://schemas.microsoft.com/office/drawing/2014/main" id="{E2CE9A49-77D6-C765-E41E-1D8D70AD10F3}"/>
                </a:ext>
              </a:extLst>
            </p:cNvPr>
            <p:cNvSpPr txBox="1"/>
            <p:nvPr/>
          </p:nvSpPr>
          <p:spPr>
            <a:xfrm>
              <a:off x="8670510" y="528125"/>
              <a:ext cx="2416775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ETOH-related hepatitis</a:t>
              </a:r>
              <a:endParaRPr lang="en-US" sz="1600" dirty="0"/>
            </a:p>
            <a:p>
              <a:pPr algn="ctr"/>
              <a:r>
                <a:rPr lang="en-US" sz="1600" dirty="0"/>
                <a:t>(Steatohepatitis)</a:t>
              </a:r>
              <a:endParaRPr lang="en-US" dirty="0"/>
            </a:p>
          </p:txBody>
        </p:sp>
        <p:pic>
          <p:nvPicPr>
            <p:cNvPr id="147" name="Fatty diagram">
              <a:extLst>
                <a:ext uri="{FF2B5EF4-FFF2-40B4-BE49-F238E27FC236}">
                  <a16:creationId xmlns:a16="http://schemas.microsoft.com/office/drawing/2014/main" id="{B6CB5F5E-1398-6949-BB87-86D4B152BD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880" t="12338" r="36711" b="59048"/>
            <a:stretch/>
          </p:blipFill>
          <p:spPr>
            <a:xfrm>
              <a:off x="8872510" y="1062067"/>
              <a:ext cx="2010838" cy="1559282"/>
            </a:xfrm>
            <a:prstGeom prst="rect">
              <a:avLst/>
            </a:prstGeom>
          </p:spPr>
        </p:pic>
      </p:grpSp>
      <p:sp>
        <p:nvSpPr>
          <p:cNvPr id="12" name="ALF">
            <a:extLst>
              <a:ext uri="{FF2B5EF4-FFF2-40B4-BE49-F238E27FC236}">
                <a16:creationId xmlns:a16="http://schemas.microsoft.com/office/drawing/2014/main" id="{0C00E484-A03C-FEBD-39F3-BDAB82F7E83F}"/>
              </a:ext>
            </a:extLst>
          </p:cNvPr>
          <p:cNvSpPr txBox="1"/>
          <p:nvPr/>
        </p:nvSpPr>
        <p:spPr>
          <a:xfrm>
            <a:off x="2738567" y="70968"/>
            <a:ext cx="7467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/>
              <a:t>Overview / Spectrum of Disease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0053B8-52D3-AB5B-40DD-9C4073670A8B}"/>
              </a:ext>
            </a:extLst>
          </p:cNvPr>
          <p:cNvSpPr txBox="1"/>
          <p:nvPr/>
        </p:nvSpPr>
        <p:spPr>
          <a:xfrm>
            <a:off x="9952657" y="6596390"/>
            <a:ext cx="2248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Images created with Biorender.com</a:t>
            </a:r>
          </a:p>
        </p:txBody>
      </p:sp>
      <p:grpSp>
        <p:nvGrpSpPr>
          <p:cNvPr id="126" name="Normal liver">
            <a:extLst>
              <a:ext uri="{FF2B5EF4-FFF2-40B4-BE49-F238E27FC236}">
                <a16:creationId xmlns:a16="http://schemas.microsoft.com/office/drawing/2014/main" id="{983A2159-FCD8-296C-3239-C3EE14E4C997}"/>
              </a:ext>
            </a:extLst>
          </p:cNvPr>
          <p:cNvGrpSpPr/>
          <p:nvPr/>
        </p:nvGrpSpPr>
        <p:grpSpPr>
          <a:xfrm>
            <a:off x="463070" y="2870630"/>
            <a:ext cx="1947199" cy="1702635"/>
            <a:chOff x="1974314" y="1541875"/>
            <a:chExt cx="1947199" cy="1702635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9291B821-09B8-796C-53BC-7E37833A027A}"/>
                </a:ext>
              </a:extLst>
            </p:cNvPr>
            <p:cNvSpPr/>
            <p:nvPr/>
          </p:nvSpPr>
          <p:spPr>
            <a:xfrm>
              <a:off x="1995466" y="1541875"/>
              <a:ext cx="1926047" cy="1702635"/>
            </a:xfrm>
            <a:prstGeom prst="roundRect">
              <a:avLst>
                <a:gd name="adj" fmla="val 1219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8" name="Liver diagram">
              <a:extLst>
                <a:ext uri="{FF2B5EF4-FFF2-40B4-BE49-F238E27FC236}">
                  <a16:creationId xmlns:a16="http://schemas.microsoft.com/office/drawing/2014/main" id="{98E6E8AA-FB51-0923-1A12-B2C8B7BF32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745" t="12746" r="63467" b="60850"/>
            <a:stretch/>
          </p:blipFill>
          <p:spPr>
            <a:xfrm>
              <a:off x="2033971" y="1891009"/>
              <a:ext cx="1838192" cy="1343784"/>
            </a:xfrm>
            <a:prstGeom prst="rect">
              <a:avLst/>
            </a:prstGeom>
          </p:spPr>
        </p:pic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8EF4132-B7EF-8F61-2662-00905FB7B488}"/>
                </a:ext>
              </a:extLst>
            </p:cNvPr>
            <p:cNvSpPr txBox="1"/>
            <p:nvPr/>
          </p:nvSpPr>
          <p:spPr>
            <a:xfrm>
              <a:off x="1974314" y="1548909"/>
              <a:ext cx="193762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Normal liver</a:t>
              </a:r>
            </a:p>
          </p:txBody>
        </p:sp>
      </p:grpSp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3E8C30BA-17C6-FAFD-CFE2-67CF9509C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9343" y="4398423"/>
            <a:ext cx="270672" cy="270672"/>
          </a:xfrm>
          <a:prstGeom prst="rect">
            <a:avLst/>
          </a:prstGeom>
        </p:spPr>
      </p:pic>
      <p:grpSp>
        <p:nvGrpSpPr>
          <p:cNvPr id="131" name="Hepatic steatosis">
            <a:extLst>
              <a:ext uri="{FF2B5EF4-FFF2-40B4-BE49-F238E27FC236}">
                <a16:creationId xmlns:a16="http://schemas.microsoft.com/office/drawing/2014/main" id="{CCCED45F-26A2-8DBF-72A4-EF4819E8AC5E}"/>
              </a:ext>
            </a:extLst>
          </p:cNvPr>
          <p:cNvGrpSpPr/>
          <p:nvPr/>
        </p:nvGrpSpPr>
        <p:grpSpPr>
          <a:xfrm>
            <a:off x="3391859" y="2467341"/>
            <a:ext cx="2016993" cy="2093224"/>
            <a:chOff x="4939287" y="1125886"/>
            <a:chExt cx="2016993" cy="2105924"/>
          </a:xfrm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007ACC04-7FEC-F84C-3B1F-65452F167030}"/>
                </a:ext>
              </a:extLst>
            </p:cNvPr>
            <p:cNvSpPr/>
            <p:nvPr/>
          </p:nvSpPr>
          <p:spPr>
            <a:xfrm>
              <a:off x="4939287" y="1125886"/>
              <a:ext cx="2016993" cy="2105924"/>
            </a:xfrm>
            <a:prstGeom prst="roundRect">
              <a:avLst>
                <a:gd name="adj" fmla="val 12259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Fatty diagram">
              <a:extLst>
                <a:ext uri="{FF2B5EF4-FFF2-40B4-BE49-F238E27FC236}">
                  <a16:creationId xmlns:a16="http://schemas.microsoft.com/office/drawing/2014/main" id="{B672D0E0-5B7D-64D2-D2BE-442145EAF6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880" t="12338" r="36711" b="59048"/>
            <a:stretch/>
          </p:blipFill>
          <p:spPr>
            <a:xfrm>
              <a:off x="5007417" y="1868592"/>
              <a:ext cx="1895697" cy="1363218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E92E0F5-7340-7821-3C00-BF868769DB4B}"/>
                </a:ext>
              </a:extLst>
            </p:cNvPr>
            <p:cNvSpPr txBox="1"/>
            <p:nvPr/>
          </p:nvSpPr>
          <p:spPr>
            <a:xfrm>
              <a:off x="4967165" y="1154549"/>
              <a:ext cx="1989115" cy="8002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dirty="0">
                  <a:cs typeface="Calibri"/>
                </a:rPr>
                <a:t>ETOH-related fatty liver disease</a:t>
              </a:r>
            </a:p>
            <a:p>
              <a:pPr algn="ctr"/>
              <a:r>
                <a:rPr lang="en-US" sz="1600" dirty="0">
                  <a:cs typeface="Calibri"/>
                </a:rPr>
                <a:t>(Hepatic steatosis)</a:t>
              </a:r>
            </a:p>
          </p:txBody>
        </p:sp>
      </p:grpSp>
      <p:pic>
        <p:nvPicPr>
          <p:cNvPr id="135" name="Graphic 134" descr="Cursor with solid fill">
            <a:extLst>
              <a:ext uri="{FF2B5EF4-FFF2-40B4-BE49-F238E27FC236}">
                <a16:creationId xmlns:a16="http://schemas.microsoft.com/office/drawing/2014/main" id="{4A2AE2DC-6912-EB26-406E-0163C03CAA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4573" y="4398423"/>
            <a:ext cx="270672" cy="270672"/>
          </a:xfrm>
          <a:prstGeom prst="rect">
            <a:avLst/>
          </a:prstGeom>
        </p:spPr>
      </p:pic>
      <p:grpSp>
        <p:nvGrpSpPr>
          <p:cNvPr id="136" name="Steatohepatitis">
            <a:extLst>
              <a:ext uri="{FF2B5EF4-FFF2-40B4-BE49-F238E27FC236}">
                <a16:creationId xmlns:a16="http://schemas.microsoft.com/office/drawing/2014/main" id="{1116E805-90FB-413F-9B0F-CFC0BB0F0FCE}"/>
              </a:ext>
            </a:extLst>
          </p:cNvPr>
          <p:cNvGrpSpPr/>
          <p:nvPr/>
        </p:nvGrpSpPr>
        <p:grpSpPr>
          <a:xfrm>
            <a:off x="6479313" y="2465109"/>
            <a:ext cx="2370187" cy="2108156"/>
            <a:chOff x="8712313" y="513193"/>
            <a:chExt cx="2370187" cy="21081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10CAF4BF-27A8-4117-0407-E921BEA289E8}"/>
                </a:ext>
              </a:extLst>
            </p:cNvPr>
            <p:cNvSpPr/>
            <p:nvPr/>
          </p:nvSpPr>
          <p:spPr>
            <a:xfrm>
              <a:off x="8712313" y="513193"/>
              <a:ext cx="2370187" cy="2105923"/>
            </a:xfrm>
            <a:prstGeom prst="roundRect">
              <a:avLst>
                <a:gd name="adj" fmla="val 13049"/>
              </a:avLst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ETOH cirrhosis">
              <a:extLst>
                <a:ext uri="{FF2B5EF4-FFF2-40B4-BE49-F238E27FC236}">
                  <a16:creationId xmlns:a16="http://schemas.microsoft.com/office/drawing/2014/main" id="{307B6305-4A92-11CF-1C8F-C76AB858CDC9}"/>
                </a:ext>
              </a:extLst>
            </p:cNvPr>
            <p:cNvSpPr txBox="1"/>
            <p:nvPr/>
          </p:nvSpPr>
          <p:spPr>
            <a:xfrm>
              <a:off x="8747971" y="539613"/>
              <a:ext cx="2294881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ETOH-related hepatitis</a:t>
              </a:r>
            </a:p>
            <a:p>
              <a:pPr algn="ctr"/>
              <a:r>
                <a:rPr lang="en-US" sz="1600" dirty="0"/>
                <a:t>(Steatohepatitis)</a:t>
              </a:r>
            </a:p>
          </p:txBody>
        </p:sp>
        <p:pic>
          <p:nvPicPr>
            <p:cNvPr id="139" name="Fatty diagram">
              <a:extLst>
                <a:ext uri="{FF2B5EF4-FFF2-40B4-BE49-F238E27FC236}">
                  <a16:creationId xmlns:a16="http://schemas.microsoft.com/office/drawing/2014/main" id="{A2347D2C-3D8F-7B04-76A0-6159E17D26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880" t="12338" r="36711" b="59048"/>
            <a:stretch/>
          </p:blipFill>
          <p:spPr>
            <a:xfrm>
              <a:off x="8872510" y="1062067"/>
              <a:ext cx="2010838" cy="1559282"/>
            </a:xfrm>
            <a:prstGeom prst="rect">
              <a:avLst/>
            </a:prstGeom>
          </p:spPr>
        </p:pic>
      </p:grpSp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85823DE5-B91E-E657-9099-1A067D622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1629" y="4398423"/>
            <a:ext cx="270672" cy="270672"/>
          </a:xfrm>
          <a:prstGeom prst="rect">
            <a:avLst/>
          </a:prstGeom>
        </p:spPr>
      </p:pic>
      <p:grpSp>
        <p:nvGrpSpPr>
          <p:cNvPr id="141" name="Cirrhosis">
            <a:extLst>
              <a:ext uri="{FF2B5EF4-FFF2-40B4-BE49-F238E27FC236}">
                <a16:creationId xmlns:a16="http://schemas.microsoft.com/office/drawing/2014/main" id="{420D31EB-3FEF-BB1A-CF24-FE274DDABB7E}"/>
              </a:ext>
            </a:extLst>
          </p:cNvPr>
          <p:cNvGrpSpPr/>
          <p:nvPr/>
        </p:nvGrpSpPr>
        <p:grpSpPr>
          <a:xfrm>
            <a:off x="9830177" y="2910824"/>
            <a:ext cx="1895914" cy="1660208"/>
            <a:chOff x="8841547" y="2567445"/>
            <a:chExt cx="1895914" cy="1662389"/>
          </a:xfrm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F185D837-7384-9F61-783C-013692AD83B5}"/>
                </a:ext>
              </a:extLst>
            </p:cNvPr>
            <p:cNvSpPr/>
            <p:nvPr/>
          </p:nvSpPr>
          <p:spPr>
            <a:xfrm>
              <a:off x="8841547" y="2567445"/>
              <a:ext cx="1889206" cy="1662389"/>
            </a:xfrm>
            <a:prstGeom prst="roundRect">
              <a:avLst>
                <a:gd name="adj" fmla="val 10653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Acute decomp">
              <a:extLst>
                <a:ext uri="{FF2B5EF4-FFF2-40B4-BE49-F238E27FC236}">
                  <a16:creationId xmlns:a16="http://schemas.microsoft.com/office/drawing/2014/main" id="{09C61625-AD44-002C-7D71-8A7B67ACFD42}"/>
                </a:ext>
              </a:extLst>
            </p:cNvPr>
            <p:cNvSpPr txBox="1"/>
            <p:nvPr/>
          </p:nvSpPr>
          <p:spPr>
            <a:xfrm>
              <a:off x="8933788" y="2580163"/>
              <a:ext cx="172085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Cirrhosis</a:t>
              </a:r>
              <a:endParaRPr lang="en-US" dirty="0">
                <a:cs typeface="Calibri"/>
              </a:endParaRPr>
            </a:p>
          </p:txBody>
        </p:sp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A40DF672-9456-FE2B-1974-C76A490A78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08" t="31778" r="42356" b="47917"/>
            <a:stretch/>
          </p:blipFill>
          <p:spPr>
            <a:xfrm>
              <a:off x="8868949" y="2913183"/>
              <a:ext cx="1868512" cy="1268052"/>
            </a:xfrm>
            <a:prstGeom prst="rect">
              <a:avLst/>
            </a:prstGeom>
          </p:spPr>
        </p:pic>
      </p:grpSp>
      <p:pic>
        <p:nvPicPr>
          <p:cNvPr id="145" name="Graphic 144" descr="Cursor with solid fill">
            <a:extLst>
              <a:ext uri="{FF2B5EF4-FFF2-40B4-BE49-F238E27FC236}">
                <a16:creationId xmlns:a16="http://schemas.microsoft.com/office/drawing/2014/main" id="{FA4CB465-71E0-CD1B-1E62-6ABC56266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021" y="4398423"/>
            <a:ext cx="270672" cy="270672"/>
          </a:xfrm>
          <a:prstGeom prst="rect">
            <a:avLst/>
          </a:prstGeom>
        </p:spPr>
      </p:pic>
      <p:sp>
        <p:nvSpPr>
          <p:cNvPr id="40" name="TextBox 1">
            <a:extLst>
              <a:ext uri="{FF2B5EF4-FFF2-40B4-BE49-F238E27FC236}">
                <a16:creationId xmlns:a16="http://schemas.microsoft.com/office/drawing/2014/main" id="{7F47CAFA-1D71-23BC-B269-F1CB22CF3889}"/>
              </a:ext>
            </a:extLst>
          </p:cNvPr>
          <p:cNvSpPr txBox="1"/>
          <p:nvPr/>
        </p:nvSpPr>
        <p:spPr>
          <a:xfrm>
            <a:off x="9421215" y="4601122"/>
            <a:ext cx="2667175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Acute decompensation occurs with ongoing ETOH use</a:t>
            </a:r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FF05AC83-2D92-5E6E-D030-072C090A945A}"/>
              </a:ext>
            </a:extLst>
          </p:cNvPr>
          <p:cNvSpPr txBox="1"/>
          <p:nvPr/>
        </p:nvSpPr>
        <p:spPr>
          <a:xfrm>
            <a:off x="6362901" y="4601122"/>
            <a:ext cx="2510307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Acute onset symptomatic hepatitis</a:t>
            </a:r>
          </a:p>
        </p:txBody>
      </p:sp>
      <p:sp>
        <p:nvSpPr>
          <p:cNvPr id="61" name="Risk factors">
            <a:extLst>
              <a:ext uri="{FF2B5EF4-FFF2-40B4-BE49-F238E27FC236}">
                <a16:creationId xmlns:a16="http://schemas.microsoft.com/office/drawing/2014/main" id="{E741D0DD-2F84-DAF7-7522-B5CF91A03FA6}"/>
              </a:ext>
            </a:extLst>
          </p:cNvPr>
          <p:cNvSpPr/>
          <p:nvPr/>
        </p:nvSpPr>
        <p:spPr>
          <a:xfrm>
            <a:off x="1987362" y="830262"/>
            <a:ext cx="914400" cy="725264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Risk factors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Risk factors">
            <a:extLst>
              <a:ext uri="{FF2B5EF4-FFF2-40B4-BE49-F238E27FC236}">
                <a16:creationId xmlns:a16="http://schemas.microsoft.com/office/drawing/2014/main" id="{B9D0DD25-C5A3-C5CB-5A51-E74973F757F7}"/>
              </a:ext>
            </a:extLst>
          </p:cNvPr>
          <p:cNvSpPr/>
          <p:nvPr/>
        </p:nvSpPr>
        <p:spPr>
          <a:xfrm>
            <a:off x="1987362" y="828572"/>
            <a:ext cx="914400" cy="72526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Risk factors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3" name="Spectrum mouse" descr="Cursor with solid fill">
            <a:extLst>
              <a:ext uri="{FF2B5EF4-FFF2-40B4-BE49-F238E27FC236}">
                <a16:creationId xmlns:a16="http://schemas.microsoft.com/office/drawing/2014/main" id="{E3FD74CA-AD9C-2D2B-63C9-04B0C6B2DD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1630" y="1384308"/>
            <a:ext cx="270672" cy="270672"/>
          </a:xfrm>
          <a:prstGeom prst="rect">
            <a:avLst/>
          </a:pr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9573C345-76EE-021F-9370-1297EAAF0C07}"/>
              </a:ext>
            </a:extLst>
          </p:cNvPr>
          <p:cNvGrpSpPr/>
          <p:nvPr/>
        </p:nvGrpSpPr>
        <p:grpSpPr>
          <a:xfrm>
            <a:off x="3111601" y="525943"/>
            <a:ext cx="8660297" cy="1477108"/>
            <a:chOff x="3111601" y="525943"/>
            <a:chExt cx="8660297" cy="1477108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C201884F-A92B-AC5A-581C-965C9ED916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" t="25049" r="76207" b="43391"/>
            <a:stretch/>
          </p:blipFill>
          <p:spPr>
            <a:xfrm>
              <a:off x="3111601" y="723411"/>
              <a:ext cx="1071405" cy="1119911"/>
            </a:xfrm>
            <a:prstGeom prst="rect">
              <a:avLst/>
            </a:prstGeom>
          </p:spPr>
        </p:pic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88F3125-7228-20CC-175A-49A99E22BE6B}"/>
                </a:ext>
              </a:extLst>
            </p:cNvPr>
            <p:cNvGrpSpPr/>
            <p:nvPr/>
          </p:nvGrpSpPr>
          <p:grpSpPr>
            <a:xfrm>
              <a:off x="8357672" y="693610"/>
              <a:ext cx="3414226" cy="1022719"/>
              <a:chOff x="6566217" y="1630440"/>
              <a:chExt cx="3414226" cy="1022719"/>
            </a:xfrm>
          </p:grpSpPr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CD227B9F-906E-DBD6-F6FE-1F47F7B5A6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790" t="61164" r="51413" b="21867"/>
              <a:stretch/>
            </p:blipFill>
            <p:spPr>
              <a:xfrm>
                <a:off x="6566217" y="1630440"/>
                <a:ext cx="1360140" cy="1022719"/>
              </a:xfrm>
              <a:prstGeom prst="rect">
                <a:avLst/>
              </a:prstGeom>
            </p:spPr>
          </p:pic>
          <p:sp>
            <p:nvSpPr>
              <p:cNvPr id="71" name="Risk factors text">
                <a:extLst>
                  <a:ext uri="{FF2B5EF4-FFF2-40B4-BE49-F238E27FC236}">
                    <a16:creationId xmlns:a16="http://schemas.microsoft.com/office/drawing/2014/main" id="{6BAFC3D1-9282-4CBA-E61C-B1355BD51A00}"/>
                  </a:ext>
                </a:extLst>
              </p:cNvPr>
              <p:cNvSpPr txBox="1"/>
              <p:nvPr/>
            </p:nvSpPr>
            <p:spPr>
              <a:xfrm>
                <a:off x="7917704" y="1671283"/>
                <a:ext cx="2062739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>
                    <a:cs typeface="Calibri"/>
                  </a:rPr>
                  <a:t>Other liver disease</a:t>
                </a:r>
              </a:p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>
                    <a:cs typeface="Calibri"/>
                  </a:rPr>
                  <a:t>Viral hepatitis</a:t>
                </a:r>
              </a:p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>
                    <a:cs typeface="Calibri"/>
                  </a:rPr>
                  <a:t>NASH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EC9C157-D563-4F02-FD94-FAADD5A151AE}"/>
                </a:ext>
              </a:extLst>
            </p:cNvPr>
            <p:cNvGrpSpPr/>
            <p:nvPr/>
          </p:nvGrpSpPr>
          <p:grpSpPr>
            <a:xfrm>
              <a:off x="6562694" y="525943"/>
              <a:ext cx="2770344" cy="1477108"/>
              <a:chOff x="5935140" y="1265435"/>
              <a:chExt cx="2770344" cy="1477108"/>
            </a:xfrm>
          </p:grpSpPr>
          <p:sp>
            <p:nvSpPr>
              <p:cNvPr id="73" name="Risk factors text">
                <a:extLst>
                  <a:ext uri="{FF2B5EF4-FFF2-40B4-BE49-F238E27FC236}">
                    <a16:creationId xmlns:a16="http://schemas.microsoft.com/office/drawing/2014/main" id="{7CB8BDBE-B92E-017E-1A9D-8D753E1CD1A4}"/>
                  </a:ext>
                </a:extLst>
              </p:cNvPr>
              <p:cNvSpPr txBox="1"/>
              <p:nvPr/>
            </p:nvSpPr>
            <p:spPr>
              <a:xfrm>
                <a:off x="6546196" y="1825169"/>
                <a:ext cx="2159288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>
                    <a:cs typeface="Calibri"/>
                  </a:rPr>
                  <a:t>Genetics</a:t>
                </a:r>
                <a:endParaRPr lang="en-US" dirty="0"/>
              </a:p>
            </p:txBody>
          </p:sp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8E031585-F627-0062-95DF-2EDF0669C9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" t="64310" r="77112" b="18975"/>
              <a:stretch/>
            </p:blipFill>
            <p:spPr>
              <a:xfrm rot="16200000">
                <a:off x="5605443" y="1595132"/>
                <a:ext cx="1477108" cy="817714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31F52EA-93B3-1563-2380-5CDB86E20E2C}"/>
                </a:ext>
              </a:extLst>
            </p:cNvPr>
            <p:cNvGrpSpPr/>
            <p:nvPr/>
          </p:nvGrpSpPr>
          <p:grpSpPr>
            <a:xfrm>
              <a:off x="4136356" y="832570"/>
              <a:ext cx="2442461" cy="923330"/>
              <a:chOff x="4594149" y="820408"/>
              <a:chExt cx="2442461" cy="923330"/>
            </a:xfrm>
          </p:grpSpPr>
          <p:sp>
            <p:nvSpPr>
              <p:cNvPr id="65" name="Risk factors text">
                <a:extLst>
                  <a:ext uri="{FF2B5EF4-FFF2-40B4-BE49-F238E27FC236}">
                    <a16:creationId xmlns:a16="http://schemas.microsoft.com/office/drawing/2014/main" id="{F1D775E8-E868-9047-44E2-0FDA0DF5F066}"/>
                  </a:ext>
                </a:extLst>
              </p:cNvPr>
              <p:cNvSpPr txBox="1"/>
              <p:nvPr/>
            </p:nvSpPr>
            <p:spPr>
              <a:xfrm>
                <a:off x="4594149" y="820408"/>
                <a:ext cx="2442461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>
                    <a:cs typeface="Calibri"/>
                  </a:rPr>
                  <a:t>Volume </a:t>
                </a:r>
              </a:p>
              <a:p>
                <a:pPr algn="ctr"/>
                <a:r>
                  <a:rPr lang="en-US" dirty="0">
                    <a:cs typeface="Calibri"/>
                  </a:rPr>
                  <a:t>(M: ≥3   /d | F: ≥2   /d)</a:t>
                </a:r>
              </a:p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>
                    <a:cs typeface="Calibri"/>
                  </a:rPr>
                  <a:t>Pattern (e.g., binging)</a:t>
                </a:r>
                <a:endParaRPr lang="en-US" dirty="0"/>
              </a:p>
            </p:txBody>
          </p:sp>
          <p:pic>
            <p:nvPicPr>
              <p:cNvPr id="78" name="Graphic 77" descr="Champagne with solid fill">
                <a:extLst>
                  <a:ext uri="{FF2B5EF4-FFF2-40B4-BE49-F238E27FC236}">
                    <a16:creationId xmlns:a16="http://schemas.microsoft.com/office/drawing/2014/main" id="{248D80E5-C07C-1C8B-AF83-59EE4D15D0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08929" y="1163316"/>
                <a:ext cx="373437" cy="257487"/>
              </a:xfrm>
              <a:prstGeom prst="rect">
                <a:avLst/>
              </a:prstGeom>
            </p:spPr>
          </p:pic>
          <p:pic>
            <p:nvPicPr>
              <p:cNvPr id="79" name="Graphic 78" descr="Champagne with solid fill">
                <a:extLst>
                  <a:ext uri="{FF2B5EF4-FFF2-40B4-BE49-F238E27FC236}">
                    <a16:creationId xmlns:a16="http://schemas.microsoft.com/office/drawing/2014/main" id="{28A5D6A4-A205-C1FD-C575-899B8BEE8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317997" y="1136020"/>
                <a:ext cx="373437" cy="257487"/>
              </a:xfrm>
              <a:prstGeom prst="rect">
                <a:avLst/>
              </a:prstGeom>
            </p:spPr>
          </p:pic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250EC3F-0682-0C66-7DEE-0404BAC66B37}"/>
                </a:ext>
              </a:extLst>
            </p:cNvPr>
            <p:cNvCxnSpPr/>
            <p:nvPr/>
          </p:nvCxnSpPr>
          <p:spPr>
            <a:xfrm>
              <a:off x="6611751" y="712954"/>
              <a:ext cx="0" cy="107997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804A386-8B45-8DE4-A7F7-9DDED1A15D29}"/>
                </a:ext>
              </a:extLst>
            </p:cNvPr>
            <p:cNvCxnSpPr/>
            <p:nvPr/>
          </p:nvCxnSpPr>
          <p:spPr>
            <a:xfrm>
              <a:off x="8253394" y="704527"/>
              <a:ext cx="0" cy="107997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Obj 1">
            <a:hlinkClick r:id="rId9" action="ppaction://hlinksldjump"/>
            <a:extLst>
              <a:ext uri="{FF2B5EF4-FFF2-40B4-BE49-F238E27FC236}">
                <a16:creationId xmlns:a16="http://schemas.microsoft.com/office/drawing/2014/main" id="{21BDC25E-44F8-9FD3-D2C4-96B114038EE2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Spectrum</a:t>
            </a:r>
          </a:p>
        </p:txBody>
      </p:sp>
      <p:sp>
        <p:nvSpPr>
          <p:cNvPr id="23" name="Obj 3">
            <a:hlinkClick r:id="rId10" action="ppaction://hlinksldjump"/>
            <a:extLst>
              <a:ext uri="{FF2B5EF4-FFF2-40B4-BE49-F238E27FC236}">
                <a16:creationId xmlns:a16="http://schemas.microsoft.com/office/drawing/2014/main" id="{268FC5A8-69D1-7DD2-DD0E-2909A426F9CD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5A8D0161-938B-FF10-B4A3-ACC8AC51C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8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979118AE-C40F-0312-3A79-2FDD29E83E50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AH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D66B55BF-B1A4-E5D4-9EC1-8A49490D3E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30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500A0EBF-9AE2-F293-105A-257E47481CB5}"/>
              </a:ext>
            </a:extLst>
          </p:cNvPr>
          <p:cNvSpPr/>
          <p:nvPr/>
        </p:nvSpPr>
        <p:spPr>
          <a:xfrm>
            <a:off x="167950" y="225204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5DD3A153-3D33-C464-EDDD-5AC537999F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2484692"/>
            <a:ext cx="270672" cy="270672"/>
          </a:xfrm>
          <a:prstGeom prst="rect">
            <a:avLst/>
          </a:prstGeom>
        </p:spPr>
      </p:pic>
      <p:sp>
        <p:nvSpPr>
          <p:cNvPr id="2" name="Obj 2">
            <a:hlinkClick r:id="rId13" action="ppaction://hlinksldjump"/>
            <a:extLst>
              <a:ext uri="{FF2B5EF4-FFF2-40B4-BE49-F238E27FC236}">
                <a16:creationId xmlns:a16="http://schemas.microsoft.com/office/drawing/2014/main" id="{BCEDB319-02EB-7C17-8FF2-29947216FDC1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137700B9-EC1A-827A-B5CE-4E6403096A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61" grpId="0" animBg="1"/>
      <p:bldP spid="62" grpId="0" animBg="1"/>
      <p:bldP spid="6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Diagnosis steatosis">
            <a:extLst>
              <a:ext uri="{FF2B5EF4-FFF2-40B4-BE49-F238E27FC236}">
                <a16:creationId xmlns:a16="http://schemas.microsoft.com/office/drawing/2014/main" id="{CEE39B2E-D159-8004-6796-28EB4C5B8827}"/>
              </a:ext>
            </a:extLst>
          </p:cNvPr>
          <p:cNvSpPr/>
          <p:nvPr/>
        </p:nvSpPr>
        <p:spPr>
          <a:xfrm>
            <a:off x="3568932" y="4700561"/>
            <a:ext cx="1635487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Diagnosis</a:t>
            </a:r>
          </a:p>
        </p:txBody>
      </p:sp>
      <p:sp>
        <p:nvSpPr>
          <p:cNvPr id="119" name="Who to screen">
            <a:extLst>
              <a:ext uri="{FF2B5EF4-FFF2-40B4-BE49-F238E27FC236}">
                <a16:creationId xmlns:a16="http://schemas.microsoft.com/office/drawing/2014/main" id="{F7EC619D-9040-6EA7-6A93-1F4CF8368AD2}"/>
              </a:ext>
            </a:extLst>
          </p:cNvPr>
          <p:cNvSpPr/>
          <p:nvPr/>
        </p:nvSpPr>
        <p:spPr>
          <a:xfrm>
            <a:off x="6849874" y="4700561"/>
            <a:ext cx="1635487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Diagnosis</a:t>
            </a:r>
          </a:p>
        </p:txBody>
      </p:sp>
      <p:sp>
        <p:nvSpPr>
          <p:cNvPr id="120" name="Diagnosis cirrhosis">
            <a:extLst>
              <a:ext uri="{FF2B5EF4-FFF2-40B4-BE49-F238E27FC236}">
                <a16:creationId xmlns:a16="http://schemas.microsoft.com/office/drawing/2014/main" id="{677D0349-8F59-B83B-FD49-30BF226784D2}"/>
              </a:ext>
            </a:extLst>
          </p:cNvPr>
          <p:cNvSpPr/>
          <p:nvPr/>
        </p:nvSpPr>
        <p:spPr>
          <a:xfrm>
            <a:off x="9979060" y="4700561"/>
            <a:ext cx="1635487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Diagnosis</a:t>
            </a:r>
          </a:p>
        </p:txBody>
      </p:sp>
      <p:sp>
        <p:nvSpPr>
          <p:cNvPr id="30" name="Who to screen">
            <a:extLst>
              <a:ext uri="{FF2B5EF4-FFF2-40B4-BE49-F238E27FC236}">
                <a16:creationId xmlns:a16="http://schemas.microsoft.com/office/drawing/2014/main" id="{1FC1F5B4-2AAD-2990-D33F-2C7F648AF644}"/>
              </a:ext>
            </a:extLst>
          </p:cNvPr>
          <p:cNvSpPr/>
          <p:nvPr/>
        </p:nvSpPr>
        <p:spPr>
          <a:xfrm>
            <a:off x="3087146" y="684527"/>
            <a:ext cx="2651760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Who to screen?</a:t>
            </a:r>
          </a:p>
        </p:txBody>
      </p:sp>
      <p:sp>
        <p:nvSpPr>
          <p:cNvPr id="35" name="How to screen?">
            <a:extLst>
              <a:ext uri="{FF2B5EF4-FFF2-40B4-BE49-F238E27FC236}">
                <a16:creationId xmlns:a16="http://schemas.microsoft.com/office/drawing/2014/main" id="{A57B8898-274D-C960-98E5-AA04A09670B5}"/>
              </a:ext>
            </a:extLst>
          </p:cNvPr>
          <p:cNvSpPr/>
          <p:nvPr/>
        </p:nvSpPr>
        <p:spPr>
          <a:xfrm>
            <a:off x="7816181" y="677242"/>
            <a:ext cx="2651760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How to screen?</a:t>
            </a:r>
          </a:p>
        </p:txBody>
      </p:sp>
      <p:sp>
        <p:nvSpPr>
          <p:cNvPr id="12" name="ALF">
            <a:extLst>
              <a:ext uri="{FF2B5EF4-FFF2-40B4-BE49-F238E27FC236}">
                <a16:creationId xmlns:a16="http://schemas.microsoft.com/office/drawing/2014/main" id="{0C00E484-A03C-FEBD-39F3-BDAB82F7E83F}"/>
              </a:ext>
            </a:extLst>
          </p:cNvPr>
          <p:cNvSpPr txBox="1"/>
          <p:nvPr/>
        </p:nvSpPr>
        <p:spPr>
          <a:xfrm>
            <a:off x="2738567" y="70968"/>
            <a:ext cx="7467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/>
              <a:t>Diagnostic Evaluation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0053B8-52D3-AB5B-40DD-9C4073670A8B}"/>
              </a:ext>
            </a:extLst>
          </p:cNvPr>
          <p:cNvSpPr txBox="1"/>
          <p:nvPr/>
        </p:nvSpPr>
        <p:spPr>
          <a:xfrm>
            <a:off x="9952657" y="6596390"/>
            <a:ext cx="2248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Images created with Biorender.com</a:t>
            </a:r>
          </a:p>
        </p:txBody>
      </p:sp>
      <p:sp>
        <p:nvSpPr>
          <p:cNvPr id="5" name="Who to screen">
            <a:extLst>
              <a:ext uri="{FF2B5EF4-FFF2-40B4-BE49-F238E27FC236}">
                <a16:creationId xmlns:a16="http://schemas.microsoft.com/office/drawing/2014/main" id="{5F39A00F-F1F9-A427-51AF-CE372F567CBA}"/>
              </a:ext>
            </a:extLst>
          </p:cNvPr>
          <p:cNvSpPr/>
          <p:nvPr/>
        </p:nvSpPr>
        <p:spPr>
          <a:xfrm>
            <a:off x="3075480" y="685559"/>
            <a:ext cx="265176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Who to screen?</a:t>
            </a:r>
          </a:p>
        </p:txBody>
      </p:sp>
      <p:pic>
        <p:nvPicPr>
          <p:cNvPr id="6" name="Spectrum mouse" descr="Cursor with solid fill">
            <a:extLst>
              <a:ext uri="{FF2B5EF4-FFF2-40B4-BE49-F238E27FC236}">
                <a16:creationId xmlns:a16="http://schemas.microsoft.com/office/drawing/2014/main" id="{7BE5BC5E-3D69-EF46-C9CC-763F57ED1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2027" y="971960"/>
            <a:ext cx="270672" cy="2706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38B43B-AFB1-C9AA-EC92-983C642DDB86}"/>
              </a:ext>
            </a:extLst>
          </p:cNvPr>
          <p:cNvSpPr txBox="1"/>
          <p:nvPr/>
        </p:nvSpPr>
        <p:spPr>
          <a:xfrm>
            <a:off x="2616612" y="1139043"/>
            <a:ext cx="3278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Screen all &gt; 18 </a:t>
            </a:r>
            <a:r>
              <a:rPr lang="en-US" dirty="0" err="1"/>
              <a:t>yo</a:t>
            </a:r>
            <a:r>
              <a:rPr lang="en-US" dirty="0"/>
              <a:t> with unhealthy ETOH use </a:t>
            </a:r>
          </a:p>
        </p:txBody>
      </p:sp>
      <p:sp>
        <p:nvSpPr>
          <p:cNvPr id="23" name="How to screen?">
            <a:extLst>
              <a:ext uri="{FF2B5EF4-FFF2-40B4-BE49-F238E27FC236}">
                <a16:creationId xmlns:a16="http://schemas.microsoft.com/office/drawing/2014/main" id="{34871B6F-AE54-39FA-4E70-3065B0955142}"/>
              </a:ext>
            </a:extLst>
          </p:cNvPr>
          <p:cNvSpPr/>
          <p:nvPr/>
        </p:nvSpPr>
        <p:spPr>
          <a:xfrm>
            <a:off x="7804515" y="678274"/>
            <a:ext cx="265176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How to screen?</a:t>
            </a:r>
          </a:p>
        </p:txBody>
      </p:sp>
      <p:pic>
        <p:nvPicPr>
          <p:cNvPr id="25" name="Spectrum mouse" descr="Cursor with solid fill">
            <a:extLst>
              <a:ext uri="{FF2B5EF4-FFF2-40B4-BE49-F238E27FC236}">
                <a16:creationId xmlns:a16="http://schemas.microsoft.com/office/drawing/2014/main" id="{9D04E9B4-5F6A-C857-A5EB-8E7FE143F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2605" y="974001"/>
            <a:ext cx="270672" cy="27067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79F0386-8E8F-299E-E182-D8E66728ED62}"/>
              </a:ext>
            </a:extLst>
          </p:cNvPr>
          <p:cNvSpPr txBox="1"/>
          <p:nvPr/>
        </p:nvSpPr>
        <p:spPr>
          <a:xfrm>
            <a:off x="8196974" y="1107234"/>
            <a:ext cx="1937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RUQ US</a:t>
            </a:r>
          </a:p>
          <a:p>
            <a:pPr algn="ctr"/>
            <a:r>
              <a:rPr lang="en-US" dirty="0"/>
              <a:t>LFTs, CBC, INR</a:t>
            </a:r>
          </a:p>
        </p:txBody>
      </p:sp>
      <p:sp>
        <p:nvSpPr>
          <p:cNvPr id="44" name="Diagnosis steatosis">
            <a:extLst>
              <a:ext uri="{FF2B5EF4-FFF2-40B4-BE49-F238E27FC236}">
                <a16:creationId xmlns:a16="http://schemas.microsoft.com/office/drawing/2014/main" id="{1EF93610-8630-792E-E061-09FA88D0C8C8}"/>
              </a:ext>
            </a:extLst>
          </p:cNvPr>
          <p:cNvSpPr/>
          <p:nvPr/>
        </p:nvSpPr>
        <p:spPr>
          <a:xfrm>
            <a:off x="3570140" y="4700561"/>
            <a:ext cx="1635487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Diagnosis</a:t>
            </a:r>
          </a:p>
        </p:txBody>
      </p:sp>
      <p:pic>
        <p:nvPicPr>
          <p:cNvPr id="45" name="Spectrum mouse" descr="Cursor with solid fill">
            <a:extLst>
              <a:ext uri="{FF2B5EF4-FFF2-40B4-BE49-F238E27FC236}">
                <a16:creationId xmlns:a16="http://schemas.microsoft.com/office/drawing/2014/main" id="{92C67D12-7C8C-4145-CC73-2E400A2D4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9693" y="4985325"/>
            <a:ext cx="270672" cy="270672"/>
          </a:xfrm>
          <a:prstGeom prst="rect">
            <a:avLst/>
          </a:prstGeom>
        </p:spPr>
      </p:pic>
      <p:sp>
        <p:nvSpPr>
          <p:cNvPr id="46" name="Who to screen">
            <a:extLst>
              <a:ext uri="{FF2B5EF4-FFF2-40B4-BE49-F238E27FC236}">
                <a16:creationId xmlns:a16="http://schemas.microsoft.com/office/drawing/2014/main" id="{9CD6A4CD-6040-1D94-9D6D-1117F86AA270}"/>
              </a:ext>
            </a:extLst>
          </p:cNvPr>
          <p:cNvSpPr/>
          <p:nvPr/>
        </p:nvSpPr>
        <p:spPr>
          <a:xfrm>
            <a:off x="6851082" y="4700561"/>
            <a:ext cx="1647154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Diagnosis</a:t>
            </a:r>
          </a:p>
        </p:txBody>
      </p:sp>
      <p:sp>
        <p:nvSpPr>
          <p:cNvPr id="47" name="Diagnosis Alc hep">
            <a:extLst>
              <a:ext uri="{FF2B5EF4-FFF2-40B4-BE49-F238E27FC236}">
                <a16:creationId xmlns:a16="http://schemas.microsoft.com/office/drawing/2014/main" id="{79FEBF33-11A5-8D1C-4AB5-8CD919C7369D}"/>
              </a:ext>
            </a:extLst>
          </p:cNvPr>
          <p:cNvSpPr/>
          <p:nvPr/>
        </p:nvSpPr>
        <p:spPr>
          <a:xfrm>
            <a:off x="6851082" y="4700561"/>
            <a:ext cx="1635487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Diagnosis</a:t>
            </a:r>
          </a:p>
        </p:txBody>
      </p:sp>
      <p:pic>
        <p:nvPicPr>
          <p:cNvPr id="48" name="Spectrum mouse" descr="Cursor with solid fill">
            <a:extLst>
              <a:ext uri="{FF2B5EF4-FFF2-40B4-BE49-F238E27FC236}">
                <a16:creationId xmlns:a16="http://schemas.microsoft.com/office/drawing/2014/main" id="{D518C800-98EC-6402-0ED6-73E1F3421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2510" y="4985325"/>
            <a:ext cx="270672" cy="270672"/>
          </a:xfrm>
          <a:prstGeom prst="rect">
            <a:avLst/>
          </a:prstGeom>
        </p:spPr>
      </p:pic>
      <p:sp>
        <p:nvSpPr>
          <p:cNvPr id="50" name="Diagnosis cirrhosis">
            <a:extLst>
              <a:ext uri="{FF2B5EF4-FFF2-40B4-BE49-F238E27FC236}">
                <a16:creationId xmlns:a16="http://schemas.microsoft.com/office/drawing/2014/main" id="{DCC52AAA-D13E-7280-1B58-5BBC6591341C}"/>
              </a:ext>
            </a:extLst>
          </p:cNvPr>
          <p:cNvSpPr/>
          <p:nvPr/>
        </p:nvSpPr>
        <p:spPr>
          <a:xfrm>
            <a:off x="9980268" y="4700561"/>
            <a:ext cx="1635487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Diagnosis</a:t>
            </a:r>
          </a:p>
        </p:txBody>
      </p:sp>
      <p:pic>
        <p:nvPicPr>
          <p:cNvPr id="51" name="Spectrum mouse" descr="Cursor with solid fill">
            <a:extLst>
              <a:ext uri="{FF2B5EF4-FFF2-40B4-BE49-F238E27FC236}">
                <a16:creationId xmlns:a16="http://schemas.microsoft.com/office/drawing/2014/main" id="{A54DE5F2-429A-F88D-4722-AA82CF0F9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91696" y="4985325"/>
            <a:ext cx="270672" cy="270672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20F46047-0D59-A9E8-B2F7-3FB3CB730BF5}"/>
              </a:ext>
            </a:extLst>
          </p:cNvPr>
          <p:cNvGrpSpPr/>
          <p:nvPr/>
        </p:nvGrpSpPr>
        <p:grpSpPr>
          <a:xfrm>
            <a:off x="476095" y="2870631"/>
            <a:ext cx="1945753" cy="1702635"/>
            <a:chOff x="1974314" y="1541875"/>
            <a:chExt cx="1945753" cy="170263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35B6809-9116-18B8-909F-A2293E45A17F}"/>
                </a:ext>
              </a:extLst>
            </p:cNvPr>
            <p:cNvSpPr/>
            <p:nvPr/>
          </p:nvSpPr>
          <p:spPr>
            <a:xfrm>
              <a:off x="1982442" y="1541875"/>
              <a:ext cx="1937625" cy="1702635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Liver diagram">
              <a:extLst>
                <a:ext uri="{FF2B5EF4-FFF2-40B4-BE49-F238E27FC236}">
                  <a16:creationId xmlns:a16="http://schemas.microsoft.com/office/drawing/2014/main" id="{503289AA-3DB5-893F-1744-FD8D8EEF3F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0745" t="12746" r="63467" b="60850"/>
            <a:stretch/>
          </p:blipFill>
          <p:spPr>
            <a:xfrm>
              <a:off x="2033971" y="1891009"/>
              <a:ext cx="1838192" cy="134378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D154838-09E7-D1DB-1F16-2937475E1899}"/>
                </a:ext>
              </a:extLst>
            </p:cNvPr>
            <p:cNvSpPr txBox="1"/>
            <p:nvPr/>
          </p:nvSpPr>
          <p:spPr>
            <a:xfrm>
              <a:off x="1974314" y="1548909"/>
              <a:ext cx="193762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Normal liver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E1F38D8-B58F-0045-B7AA-FD7F0882E39C}"/>
              </a:ext>
            </a:extLst>
          </p:cNvPr>
          <p:cNvGrpSpPr/>
          <p:nvPr/>
        </p:nvGrpSpPr>
        <p:grpSpPr>
          <a:xfrm>
            <a:off x="3388952" y="2467342"/>
            <a:ext cx="2045282" cy="2105924"/>
            <a:chOff x="4924362" y="1138587"/>
            <a:chExt cx="2045282" cy="2105924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B67246D-15AF-A911-EA3C-98E400A6E836}"/>
                </a:ext>
              </a:extLst>
            </p:cNvPr>
            <p:cNvSpPr/>
            <p:nvPr/>
          </p:nvSpPr>
          <p:spPr>
            <a:xfrm>
              <a:off x="4924362" y="1138587"/>
              <a:ext cx="2045282" cy="210592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Fatty diagram">
              <a:extLst>
                <a:ext uri="{FF2B5EF4-FFF2-40B4-BE49-F238E27FC236}">
                  <a16:creationId xmlns:a16="http://schemas.microsoft.com/office/drawing/2014/main" id="{32503D74-28F7-262C-8C11-3C8DE79B88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5880" t="12338" r="36711" b="59048"/>
            <a:stretch/>
          </p:blipFill>
          <p:spPr>
            <a:xfrm>
              <a:off x="5007417" y="1868592"/>
              <a:ext cx="1868511" cy="1363218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4626867-C615-EFBF-E74E-47A182C571DA}"/>
                </a:ext>
              </a:extLst>
            </p:cNvPr>
            <p:cNvSpPr txBox="1"/>
            <p:nvPr/>
          </p:nvSpPr>
          <p:spPr>
            <a:xfrm>
              <a:off x="4972609" y="1168873"/>
              <a:ext cx="1949013" cy="8002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dirty="0">
                  <a:cs typeface="Calibri"/>
                </a:rPr>
                <a:t>ETOH-related fatty liver disease</a:t>
              </a:r>
            </a:p>
            <a:p>
              <a:pPr algn="ctr"/>
              <a:r>
                <a:rPr lang="en-US" sz="1600" dirty="0">
                  <a:cs typeface="Calibri"/>
                </a:rPr>
                <a:t>(Hepatic steatosis)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87073D2-5447-E2BC-2452-4AF7A68570FF}"/>
              </a:ext>
            </a:extLst>
          </p:cNvPr>
          <p:cNvGrpSpPr/>
          <p:nvPr/>
        </p:nvGrpSpPr>
        <p:grpSpPr>
          <a:xfrm>
            <a:off x="9833886" y="2901834"/>
            <a:ext cx="1908614" cy="1671432"/>
            <a:chOff x="8828847" y="2549106"/>
            <a:chExt cx="1908614" cy="167143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1D691C1-542E-EDB8-7978-899428993070}"/>
                </a:ext>
              </a:extLst>
            </p:cNvPr>
            <p:cNvSpPr/>
            <p:nvPr/>
          </p:nvSpPr>
          <p:spPr>
            <a:xfrm>
              <a:off x="8828847" y="2549106"/>
              <a:ext cx="1908614" cy="16714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Acute decomp">
              <a:extLst>
                <a:ext uri="{FF2B5EF4-FFF2-40B4-BE49-F238E27FC236}">
                  <a16:creationId xmlns:a16="http://schemas.microsoft.com/office/drawing/2014/main" id="{D7B7D180-F9AA-A1D4-7762-CC045B33DD3C}"/>
                </a:ext>
              </a:extLst>
            </p:cNvPr>
            <p:cNvSpPr txBox="1"/>
            <p:nvPr/>
          </p:nvSpPr>
          <p:spPr>
            <a:xfrm>
              <a:off x="8930357" y="2588597"/>
              <a:ext cx="172085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Cirrhosis</a:t>
              </a:r>
              <a:endParaRPr lang="en-US" dirty="0">
                <a:cs typeface="Calibri"/>
              </a:endParaRP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3338D1D-2779-097A-A91C-F80D4133CD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08" t="31778" r="42356" b="47917"/>
            <a:stretch/>
          </p:blipFill>
          <p:spPr>
            <a:xfrm>
              <a:off x="8868949" y="2913183"/>
              <a:ext cx="1868512" cy="1256585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1C9C641-1A8A-B29F-AE5D-A2E35661AE7A}"/>
              </a:ext>
            </a:extLst>
          </p:cNvPr>
          <p:cNvGrpSpPr/>
          <p:nvPr/>
        </p:nvGrpSpPr>
        <p:grpSpPr>
          <a:xfrm>
            <a:off x="2464481" y="3410534"/>
            <a:ext cx="914400" cy="377772"/>
            <a:chOff x="2464481" y="3372694"/>
            <a:chExt cx="914400" cy="377772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D11779C-059E-2386-EACF-B1C17BC19D5D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D81B55-9C6C-6F8A-173F-13B129B2C767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0B9257A-BC2D-8B6C-1FE0-CBBFEB2539D9}"/>
              </a:ext>
            </a:extLst>
          </p:cNvPr>
          <p:cNvGrpSpPr/>
          <p:nvPr/>
        </p:nvGrpSpPr>
        <p:grpSpPr>
          <a:xfrm>
            <a:off x="5501316" y="3336530"/>
            <a:ext cx="913158" cy="525780"/>
            <a:chOff x="5523486" y="3328134"/>
            <a:chExt cx="913158" cy="525780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586F7E8-4304-E630-D2F6-91013E81210A}"/>
                </a:ext>
              </a:extLst>
            </p:cNvPr>
            <p:cNvCxnSpPr>
              <a:cxnSpLocks/>
            </p:cNvCxnSpPr>
            <p:nvPr/>
          </p:nvCxnSpPr>
          <p:spPr>
            <a:xfrm>
              <a:off x="5568787" y="3706820"/>
              <a:ext cx="82255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D047B89-C200-DC80-B322-ADB646546C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8063" y="3853914"/>
              <a:ext cx="82400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1E5CEEF-74B3-A238-1FBA-AA340C54F1E8}"/>
                </a:ext>
              </a:extLst>
            </p:cNvPr>
            <p:cNvSpPr txBox="1"/>
            <p:nvPr/>
          </p:nvSpPr>
          <p:spPr>
            <a:xfrm>
              <a:off x="5523486" y="3328134"/>
              <a:ext cx="9131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E8BCF95-767F-7E72-6D72-7F478FB645E4}"/>
              </a:ext>
            </a:extLst>
          </p:cNvPr>
          <p:cNvGrpSpPr/>
          <p:nvPr/>
        </p:nvGrpSpPr>
        <p:grpSpPr>
          <a:xfrm>
            <a:off x="8905539" y="3410534"/>
            <a:ext cx="914400" cy="377772"/>
            <a:chOff x="2464481" y="3372694"/>
            <a:chExt cx="914400" cy="377772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1149A21C-9C04-3C8D-4C89-1E40093E8040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456E5-B9E8-1DA4-B235-E71CE102090E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751DD8C-5156-DD51-B9AB-C1B68F6C962D}"/>
              </a:ext>
            </a:extLst>
          </p:cNvPr>
          <p:cNvGrpSpPr/>
          <p:nvPr/>
        </p:nvGrpSpPr>
        <p:grpSpPr>
          <a:xfrm>
            <a:off x="4386675" y="1867550"/>
            <a:ext cx="6332125" cy="887814"/>
            <a:chOff x="4386675" y="1867550"/>
            <a:chExt cx="6332125" cy="887814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B17FB21-B806-BF06-6B4D-83FEAC3CFB78}"/>
                </a:ext>
              </a:extLst>
            </p:cNvPr>
            <p:cNvGrpSpPr/>
            <p:nvPr/>
          </p:nvGrpSpPr>
          <p:grpSpPr>
            <a:xfrm>
              <a:off x="4386675" y="2178387"/>
              <a:ext cx="6332125" cy="576977"/>
              <a:chOff x="4386675" y="2178387"/>
              <a:chExt cx="6332125" cy="576977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FA04DF3-FF1C-ACDD-2BF9-3D0A263B35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1438" y="2178387"/>
                <a:ext cx="0" cy="23147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9930A82F-FBCB-47B4-8284-594424C30C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675" y="2178387"/>
                <a:ext cx="633212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D740977A-0113-472A-CC24-11E2E6B906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14037" y="2178387"/>
                <a:ext cx="0" cy="576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9E3C057-F034-352D-7C67-EB12243BEB2F}"/>
                </a:ext>
              </a:extLst>
            </p:cNvPr>
            <p:cNvSpPr txBox="1"/>
            <p:nvPr/>
          </p:nvSpPr>
          <p:spPr>
            <a:xfrm>
              <a:off x="7140690" y="1867550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EF5E973-BFC6-DE6E-22FE-057D80FF0F3B}"/>
              </a:ext>
            </a:extLst>
          </p:cNvPr>
          <p:cNvGrpSpPr/>
          <p:nvPr/>
        </p:nvGrpSpPr>
        <p:grpSpPr>
          <a:xfrm>
            <a:off x="6445732" y="2480042"/>
            <a:ext cx="2416775" cy="2093224"/>
            <a:chOff x="8670510" y="528125"/>
            <a:chExt cx="2416775" cy="2093224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0D4C18E-F795-C892-7368-F5753DDC30C4}"/>
                </a:ext>
              </a:extLst>
            </p:cNvPr>
            <p:cNvSpPr/>
            <p:nvPr/>
          </p:nvSpPr>
          <p:spPr>
            <a:xfrm>
              <a:off x="8688288" y="528125"/>
              <a:ext cx="2385991" cy="209190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ETOH cirrhosis">
              <a:extLst>
                <a:ext uri="{FF2B5EF4-FFF2-40B4-BE49-F238E27FC236}">
                  <a16:creationId xmlns:a16="http://schemas.microsoft.com/office/drawing/2014/main" id="{E57018F5-9B87-17CF-247E-66D637EE96D0}"/>
                </a:ext>
              </a:extLst>
            </p:cNvPr>
            <p:cNvSpPr txBox="1"/>
            <p:nvPr/>
          </p:nvSpPr>
          <p:spPr>
            <a:xfrm>
              <a:off x="8670510" y="528125"/>
              <a:ext cx="2416775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ETOH-related hepatitis</a:t>
              </a:r>
              <a:endParaRPr lang="en-US" sz="1600" dirty="0"/>
            </a:p>
            <a:p>
              <a:pPr algn="ctr"/>
              <a:r>
                <a:rPr lang="en-US" sz="1600" dirty="0"/>
                <a:t>(Steatohepatitis)</a:t>
              </a:r>
              <a:endParaRPr lang="en-US" dirty="0"/>
            </a:p>
          </p:txBody>
        </p:sp>
        <p:pic>
          <p:nvPicPr>
            <p:cNvPr id="113" name="Fatty diagram">
              <a:extLst>
                <a:ext uri="{FF2B5EF4-FFF2-40B4-BE49-F238E27FC236}">
                  <a16:creationId xmlns:a16="http://schemas.microsoft.com/office/drawing/2014/main" id="{27DD0E1F-2676-C5D3-2918-C3DD2AB37A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5880" t="12338" r="36711" b="59048"/>
            <a:stretch/>
          </p:blipFill>
          <p:spPr>
            <a:xfrm>
              <a:off x="8872510" y="1062067"/>
              <a:ext cx="2010838" cy="1559282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6E0909A7-7C70-DDF8-53E7-AEEDE249805B}"/>
              </a:ext>
            </a:extLst>
          </p:cNvPr>
          <p:cNvSpPr txBox="1"/>
          <p:nvPr/>
        </p:nvSpPr>
        <p:spPr>
          <a:xfrm>
            <a:off x="3045952" y="5154045"/>
            <a:ext cx="2731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Often incidental finding on imaging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± ↑ LFTs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Indistinguishable from NAFLD on US or biopsy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BDD121E-1C84-72AF-3A15-1DAD0A2C7CB9}"/>
              </a:ext>
            </a:extLst>
          </p:cNvPr>
          <p:cNvSpPr txBox="1"/>
          <p:nvPr/>
        </p:nvSpPr>
        <p:spPr>
          <a:xfrm>
            <a:off x="9469794" y="5154045"/>
            <a:ext cx="26367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Risk scores (</a:t>
            </a:r>
            <a:r>
              <a:rPr lang="en-US" dirty="0" err="1">
                <a:cs typeface="Calibri"/>
              </a:rPr>
              <a:t>e.g</a:t>
            </a:r>
            <a:r>
              <a:rPr lang="en-US" dirty="0">
                <a:cs typeface="Calibri"/>
              </a:rPr>
              <a:t>, APRI, </a:t>
            </a:r>
            <a:r>
              <a:rPr lang="en-US" dirty="0" err="1">
                <a:cs typeface="Calibri"/>
              </a:rPr>
              <a:t>FibroTest</a:t>
            </a:r>
            <a:r>
              <a:rPr lang="en-US" dirty="0">
                <a:cs typeface="Calibri"/>
              </a:rPr>
              <a:t>, ELF)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Small nodular liver on US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Elastography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Liver biopsy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40A556-7051-EA9E-A827-1F89DACF9DB4}"/>
              </a:ext>
            </a:extLst>
          </p:cNvPr>
          <p:cNvSpPr txBox="1"/>
          <p:nvPr/>
        </p:nvSpPr>
        <p:spPr>
          <a:xfrm>
            <a:off x="6222991" y="5154045"/>
            <a:ext cx="2918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Clinical diagnosis!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Typically, AST:ALT is &gt; 2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↑ LFTs increases likelihood of steatohepatitis</a:t>
            </a:r>
            <a:endParaRPr lang="en-US" dirty="0"/>
          </a:p>
        </p:txBody>
      </p:sp>
      <p:sp>
        <p:nvSpPr>
          <p:cNvPr id="4" name="Obj 1">
            <a:hlinkClick r:id="rId7" action="ppaction://hlinksldjump"/>
            <a:extLst>
              <a:ext uri="{FF2B5EF4-FFF2-40B4-BE49-F238E27FC236}">
                <a16:creationId xmlns:a16="http://schemas.microsoft.com/office/drawing/2014/main" id="{75F33BD5-4560-DADA-3D22-03CD5CDC96D8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7" name="Obj 2">
            <a:hlinkClick r:id="rId8" action="ppaction://hlinksldjump"/>
            <a:extLst>
              <a:ext uri="{FF2B5EF4-FFF2-40B4-BE49-F238E27FC236}">
                <a16:creationId xmlns:a16="http://schemas.microsoft.com/office/drawing/2014/main" id="{E9AF7227-62C9-4CD5-FF3D-0140D96293AB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8668DF7A-3D24-D162-C9B5-51C774F65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sp>
        <p:nvSpPr>
          <p:cNvPr id="10" name="Obj 3">
            <a:hlinkClick r:id="rId9" action="ppaction://hlinksldjump"/>
            <a:extLst>
              <a:ext uri="{FF2B5EF4-FFF2-40B4-BE49-F238E27FC236}">
                <a16:creationId xmlns:a16="http://schemas.microsoft.com/office/drawing/2014/main" id="{1C49ABE4-B8CC-5900-B709-57637CA2C893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CC3044D9-12C2-1003-5BB9-2A4D84EBA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2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1ABC2621-56C0-B0BB-C40B-F39051785D74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AH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1F0BC729-EC9A-2AAE-808D-409AE716F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6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3ED241F4-6C38-293F-5E7F-796D7C995464}"/>
              </a:ext>
            </a:extLst>
          </p:cNvPr>
          <p:cNvSpPr/>
          <p:nvPr/>
        </p:nvSpPr>
        <p:spPr>
          <a:xfrm>
            <a:off x="167950" y="225204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0B60614C-6CDC-3590-052C-B416AF03D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2484692"/>
            <a:ext cx="270672" cy="270672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039E61D3-78D9-7AC9-5F57-938E7BCF9D30}"/>
              </a:ext>
            </a:extLst>
          </p:cNvPr>
          <p:cNvSpPr/>
          <p:nvPr/>
        </p:nvSpPr>
        <p:spPr>
          <a:xfrm>
            <a:off x="6096000" y="838766"/>
            <a:ext cx="1473724" cy="1404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7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35" grpId="0" animBg="1"/>
      <p:bldP spid="5" grpId="0" animBg="1"/>
      <p:bldP spid="13" grpId="0"/>
      <p:bldP spid="23" grpId="0" animBg="1"/>
      <p:bldP spid="23" grpId="1" animBg="1"/>
      <p:bldP spid="28" grpId="0"/>
      <p:bldP spid="44" grpId="0" animBg="1"/>
      <p:bldP spid="44" grpId="1" animBg="1"/>
      <p:bldP spid="46" grpId="0" animBg="1"/>
      <p:bldP spid="47" grpId="0" animBg="1"/>
      <p:bldP spid="47" grpId="1" animBg="1"/>
      <p:bldP spid="50" grpId="0" animBg="1"/>
      <p:bldP spid="50" grpId="1" animBg="1"/>
      <p:bldP spid="114" grpId="0"/>
      <p:bldP spid="115" grpId="0"/>
      <p:bldP spid="121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Alcohol cessation">
            <a:extLst>
              <a:ext uri="{FF2B5EF4-FFF2-40B4-BE49-F238E27FC236}">
                <a16:creationId xmlns:a16="http://schemas.microsoft.com/office/drawing/2014/main" id="{BB48971A-2C1A-6453-5DA2-AC09CC682D46}"/>
              </a:ext>
            </a:extLst>
          </p:cNvPr>
          <p:cNvSpPr/>
          <p:nvPr/>
        </p:nvSpPr>
        <p:spPr>
          <a:xfrm>
            <a:off x="1182920" y="5862441"/>
            <a:ext cx="1932144" cy="377227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Liver transplant</a:t>
            </a:r>
          </a:p>
        </p:txBody>
      </p:sp>
      <p:sp>
        <p:nvSpPr>
          <p:cNvPr id="57" name="Alcohol cessation">
            <a:extLst>
              <a:ext uri="{FF2B5EF4-FFF2-40B4-BE49-F238E27FC236}">
                <a16:creationId xmlns:a16="http://schemas.microsoft.com/office/drawing/2014/main" id="{D9BCDB92-ABA4-FBE8-3349-97D4EB5D0C28}"/>
              </a:ext>
            </a:extLst>
          </p:cNvPr>
          <p:cNvSpPr/>
          <p:nvPr/>
        </p:nvSpPr>
        <p:spPr>
          <a:xfrm>
            <a:off x="1173308" y="5299297"/>
            <a:ext cx="1932144" cy="377227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Dietary changes</a:t>
            </a:r>
          </a:p>
        </p:txBody>
      </p:sp>
      <p:sp>
        <p:nvSpPr>
          <p:cNvPr id="118" name="Diagnosis steatosis">
            <a:extLst>
              <a:ext uri="{FF2B5EF4-FFF2-40B4-BE49-F238E27FC236}">
                <a16:creationId xmlns:a16="http://schemas.microsoft.com/office/drawing/2014/main" id="{CEE39B2E-D159-8004-6796-28EB4C5B8827}"/>
              </a:ext>
            </a:extLst>
          </p:cNvPr>
          <p:cNvSpPr/>
          <p:nvPr/>
        </p:nvSpPr>
        <p:spPr>
          <a:xfrm>
            <a:off x="1918115" y="868947"/>
            <a:ext cx="1188697" cy="698891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Alcohol cessation</a:t>
            </a:r>
          </a:p>
        </p:txBody>
      </p:sp>
      <p:sp>
        <p:nvSpPr>
          <p:cNvPr id="12" name="ALF">
            <a:extLst>
              <a:ext uri="{FF2B5EF4-FFF2-40B4-BE49-F238E27FC236}">
                <a16:creationId xmlns:a16="http://schemas.microsoft.com/office/drawing/2014/main" id="{0C00E484-A03C-FEBD-39F3-BDAB82F7E83F}"/>
              </a:ext>
            </a:extLst>
          </p:cNvPr>
          <p:cNvSpPr txBox="1"/>
          <p:nvPr/>
        </p:nvSpPr>
        <p:spPr>
          <a:xfrm>
            <a:off x="2738567" y="70968"/>
            <a:ext cx="7467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/>
              <a:t>Management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0053B8-52D3-AB5B-40DD-9C4073670A8B}"/>
              </a:ext>
            </a:extLst>
          </p:cNvPr>
          <p:cNvSpPr txBox="1"/>
          <p:nvPr/>
        </p:nvSpPr>
        <p:spPr>
          <a:xfrm>
            <a:off x="9952657" y="6596390"/>
            <a:ext cx="2248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Images created with Biorender.com</a:t>
            </a:r>
          </a:p>
        </p:txBody>
      </p:sp>
      <p:sp>
        <p:nvSpPr>
          <p:cNvPr id="44" name="Alcohol cessation">
            <a:extLst>
              <a:ext uri="{FF2B5EF4-FFF2-40B4-BE49-F238E27FC236}">
                <a16:creationId xmlns:a16="http://schemas.microsoft.com/office/drawing/2014/main" id="{1EF93610-8630-792E-E061-09FA88D0C8C8}"/>
              </a:ext>
            </a:extLst>
          </p:cNvPr>
          <p:cNvSpPr/>
          <p:nvPr/>
        </p:nvSpPr>
        <p:spPr>
          <a:xfrm>
            <a:off x="1919323" y="869406"/>
            <a:ext cx="1197101" cy="69889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Alcohol cessation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B17FB21-B806-BF06-6B4D-83FEAC3CFB78}"/>
              </a:ext>
            </a:extLst>
          </p:cNvPr>
          <p:cNvGrpSpPr/>
          <p:nvPr/>
        </p:nvGrpSpPr>
        <p:grpSpPr>
          <a:xfrm flipV="1">
            <a:off x="4406262" y="4641333"/>
            <a:ext cx="6362700" cy="416073"/>
            <a:chOff x="4356100" y="2339291"/>
            <a:chExt cx="6362700" cy="416073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FA04DF3-FF1C-ACDD-2BF9-3D0A263B352A}"/>
                </a:ext>
              </a:extLst>
            </p:cNvPr>
            <p:cNvCxnSpPr/>
            <p:nvPr/>
          </p:nvCxnSpPr>
          <p:spPr>
            <a:xfrm flipV="1">
              <a:off x="4356100" y="2339291"/>
              <a:ext cx="0" cy="4160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930A82F-FBCB-47B4-8284-594424C30C1A}"/>
                </a:ext>
              </a:extLst>
            </p:cNvPr>
            <p:cNvCxnSpPr>
              <a:cxnSpLocks/>
            </p:cNvCxnSpPr>
            <p:nvPr/>
          </p:nvCxnSpPr>
          <p:spPr>
            <a:xfrm>
              <a:off x="4356100" y="2339291"/>
              <a:ext cx="63627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D740977A-0113-472A-CC24-11E2E6B90683}"/>
                </a:ext>
              </a:extLst>
            </p:cNvPr>
            <p:cNvCxnSpPr/>
            <p:nvPr/>
          </p:nvCxnSpPr>
          <p:spPr>
            <a:xfrm>
              <a:off x="10718800" y="2339291"/>
              <a:ext cx="0" cy="41607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Arrow: Right 3">
            <a:extLst>
              <a:ext uri="{FF2B5EF4-FFF2-40B4-BE49-F238E27FC236}">
                <a16:creationId xmlns:a16="http://schemas.microsoft.com/office/drawing/2014/main" id="{085CB14F-E73F-D1DE-B28E-254277D5603D}"/>
              </a:ext>
            </a:extLst>
          </p:cNvPr>
          <p:cNvSpPr/>
          <p:nvPr/>
        </p:nvSpPr>
        <p:spPr>
          <a:xfrm>
            <a:off x="3435803" y="1872000"/>
            <a:ext cx="8303617" cy="411481"/>
          </a:xfrm>
          <a:prstGeom prst="rightArrow">
            <a:avLst>
              <a:gd name="adj1" fmla="val 81337"/>
              <a:gd name="adj2" fmla="val 5000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↓disease progression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ED252-B854-194F-603B-3EAF2ED90711}"/>
              </a:ext>
            </a:extLst>
          </p:cNvPr>
          <p:cNvSpPr txBox="1"/>
          <p:nvPr/>
        </p:nvSpPr>
        <p:spPr>
          <a:xfrm>
            <a:off x="7185193" y="474156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ETOH use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8C2F7E06-E574-B47E-C64A-3E0B7AC10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1088" y="1432965"/>
            <a:ext cx="270672" cy="270672"/>
          </a:xfrm>
          <a:prstGeom prst="rect">
            <a:avLst/>
          </a:prstGeom>
        </p:spPr>
      </p:pic>
      <p:grpSp>
        <p:nvGrpSpPr>
          <p:cNvPr id="29" name="Medications">
            <a:extLst>
              <a:ext uri="{FF2B5EF4-FFF2-40B4-BE49-F238E27FC236}">
                <a16:creationId xmlns:a16="http://schemas.microsoft.com/office/drawing/2014/main" id="{2F881F60-AF07-AC96-0138-DC4DBAF4E8EE}"/>
              </a:ext>
            </a:extLst>
          </p:cNvPr>
          <p:cNvGrpSpPr/>
          <p:nvPr/>
        </p:nvGrpSpPr>
        <p:grpSpPr>
          <a:xfrm>
            <a:off x="3732730" y="636105"/>
            <a:ext cx="1635487" cy="1096303"/>
            <a:chOff x="4012130" y="636105"/>
            <a:chExt cx="1635487" cy="1096303"/>
          </a:xfrm>
        </p:grpSpPr>
        <p:sp>
          <p:nvSpPr>
            <p:cNvPr id="10" name="Diagnosis steatosis">
              <a:extLst>
                <a:ext uri="{FF2B5EF4-FFF2-40B4-BE49-F238E27FC236}">
                  <a16:creationId xmlns:a16="http://schemas.microsoft.com/office/drawing/2014/main" id="{120979AF-E0EE-3606-E905-9A988345B563}"/>
                </a:ext>
              </a:extLst>
            </p:cNvPr>
            <p:cNvSpPr/>
            <p:nvPr/>
          </p:nvSpPr>
          <p:spPr>
            <a:xfrm>
              <a:off x="4012130" y="636105"/>
              <a:ext cx="1635487" cy="1096303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cs typeface="Calibri"/>
                </a:rPr>
                <a:t>Medications</a:t>
              </a:r>
            </a:p>
            <a:p>
              <a:pPr algn="ctr"/>
              <a:endParaRPr lang="en-US" dirty="0">
                <a:solidFill>
                  <a:schemeClr val="tx1"/>
                </a:solidFill>
                <a:cs typeface="Calibri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cs typeface="Calibri"/>
              </a:endParaRPr>
            </a:p>
          </p:txBody>
        </p:sp>
        <p:pic>
          <p:nvPicPr>
            <p:cNvPr id="27" name="Picture 26" descr="A picture containing vessel&#10;&#10;Description automatically generated">
              <a:extLst>
                <a:ext uri="{FF2B5EF4-FFF2-40B4-BE49-F238E27FC236}">
                  <a16:creationId xmlns:a16="http://schemas.microsoft.com/office/drawing/2014/main" id="{52BB6392-86C0-6B3D-0AF4-BDF859D35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6124" y="985988"/>
              <a:ext cx="420265" cy="635193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1" name="Spectrum mouse" descr="Cursor with solid fill">
            <a:extLst>
              <a:ext uri="{FF2B5EF4-FFF2-40B4-BE49-F238E27FC236}">
                <a16:creationId xmlns:a16="http://schemas.microsoft.com/office/drawing/2014/main" id="{53290B22-958F-1FAC-DBB6-FC02465E5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792" y="1583986"/>
            <a:ext cx="270672" cy="270672"/>
          </a:xfrm>
          <a:prstGeom prst="rect">
            <a:avLst/>
          </a:prstGeom>
        </p:spPr>
      </p:pic>
      <p:sp>
        <p:nvSpPr>
          <p:cNvPr id="32" name="Psychosocial interventions">
            <a:extLst>
              <a:ext uri="{FF2B5EF4-FFF2-40B4-BE49-F238E27FC236}">
                <a16:creationId xmlns:a16="http://schemas.microsoft.com/office/drawing/2014/main" id="{52642DAD-DB6D-3B9E-A544-7D67436963B0}"/>
              </a:ext>
            </a:extLst>
          </p:cNvPr>
          <p:cNvSpPr/>
          <p:nvPr/>
        </p:nvSpPr>
        <p:spPr>
          <a:xfrm>
            <a:off x="8149023" y="650271"/>
            <a:ext cx="1635487" cy="108213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Psychosocial interventions</a:t>
            </a:r>
          </a:p>
        </p:txBody>
      </p:sp>
      <p:pic>
        <p:nvPicPr>
          <p:cNvPr id="34" name="Spectrum mouse" descr="Cursor with solid fill">
            <a:extLst>
              <a:ext uri="{FF2B5EF4-FFF2-40B4-BE49-F238E27FC236}">
                <a16:creationId xmlns:a16="http://schemas.microsoft.com/office/drawing/2014/main" id="{F0078CEF-E1FF-7785-41F3-A70CDFE11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7669" y="1569820"/>
            <a:ext cx="270672" cy="270672"/>
          </a:xfrm>
          <a:prstGeom prst="rect">
            <a:avLst/>
          </a:prstGeom>
        </p:spPr>
      </p:pic>
      <p:sp>
        <p:nvSpPr>
          <p:cNvPr id="36" name="Left Brace 35">
            <a:extLst>
              <a:ext uri="{FF2B5EF4-FFF2-40B4-BE49-F238E27FC236}">
                <a16:creationId xmlns:a16="http://schemas.microsoft.com/office/drawing/2014/main" id="{4F0C651D-9363-B0F6-6CB0-4B15F640C4BB}"/>
              </a:ext>
            </a:extLst>
          </p:cNvPr>
          <p:cNvSpPr/>
          <p:nvPr/>
        </p:nvSpPr>
        <p:spPr>
          <a:xfrm>
            <a:off x="3129123" y="527312"/>
            <a:ext cx="342884" cy="1870036"/>
          </a:xfrm>
          <a:prstGeom prst="leftBrace">
            <a:avLst>
              <a:gd name="adj1" fmla="val 0"/>
              <a:gd name="adj2" fmla="val 36334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90FF5C-74D3-AC6E-88A1-E3F7FA74CFED}"/>
              </a:ext>
            </a:extLst>
          </p:cNvPr>
          <p:cNvSpPr txBox="1"/>
          <p:nvPr/>
        </p:nvSpPr>
        <p:spPr>
          <a:xfrm>
            <a:off x="3775305" y="737329"/>
            <a:ext cx="4370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Naltrexone (IM/PO)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Acamprosate (PO)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Others (disulfiram, baclofen, gabapentin) 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1AFBBE-D5FC-B75C-CF5B-B039E334EA2E}"/>
              </a:ext>
            </a:extLst>
          </p:cNvPr>
          <p:cNvSpPr txBox="1"/>
          <p:nvPr/>
        </p:nvSpPr>
        <p:spPr>
          <a:xfrm>
            <a:off x="8191032" y="733780"/>
            <a:ext cx="2577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Mutual help groups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Psychotherapy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Residential treatment</a:t>
            </a:r>
            <a:endParaRPr lang="en-US" dirty="0"/>
          </a:p>
        </p:txBody>
      </p:sp>
      <p:sp>
        <p:nvSpPr>
          <p:cNvPr id="39" name="Alcohol cessation">
            <a:extLst>
              <a:ext uri="{FF2B5EF4-FFF2-40B4-BE49-F238E27FC236}">
                <a16:creationId xmlns:a16="http://schemas.microsoft.com/office/drawing/2014/main" id="{C23E3C00-FD3B-29C6-D639-3CEA8E7D38E2}"/>
              </a:ext>
            </a:extLst>
          </p:cNvPr>
          <p:cNvSpPr/>
          <p:nvPr/>
        </p:nvSpPr>
        <p:spPr>
          <a:xfrm>
            <a:off x="1171581" y="5862441"/>
            <a:ext cx="1932144" cy="377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Liver transplant</a:t>
            </a:r>
          </a:p>
        </p:txBody>
      </p: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0ECD3E01-BDAA-7A55-0D98-461814CF2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1088" y="6128907"/>
            <a:ext cx="270672" cy="270672"/>
          </a:xfrm>
          <a:prstGeom prst="rect">
            <a:avLst/>
          </a:prstGeom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5F15645C-CD39-2981-D9BF-58139DF3320C}"/>
              </a:ext>
            </a:extLst>
          </p:cNvPr>
          <p:cNvSpPr/>
          <p:nvPr/>
        </p:nvSpPr>
        <p:spPr>
          <a:xfrm>
            <a:off x="6525136" y="5796248"/>
            <a:ext cx="5201585" cy="411481"/>
          </a:xfrm>
          <a:prstGeom prst="rightArrow">
            <a:avLst>
              <a:gd name="adj1" fmla="val 81337"/>
              <a:gd name="adj2" fmla="val 5000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Considered for select patients with complications</a:t>
            </a:r>
          </a:p>
        </p:txBody>
      </p:sp>
      <p:sp>
        <p:nvSpPr>
          <p:cNvPr id="43" name="Alcohol cessation">
            <a:extLst>
              <a:ext uri="{FF2B5EF4-FFF2-40B4-BE49-F238E27FC236}">
                <a16:creationId xmlns:a16="http://schemas.microsoft.com/office/drawing/2014/main" id="{2F6155A3-9938-1AC2-7A09-81496C4CAAA0}"/>
              </a:ext>
            </a:extLst>
          </p:cNvPr>
          <p:cNvSpPr/>
          <p:nvPr/>
        </p:nvSpPr>
        <p:spPr>
          <a:xfrm>
            <a:off x="1161969" y="5299297"/>
            <a:ext cx="1932144" cy="377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Dietary changes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C8AEF33B-FA10-5040-4B0F-E3223AE29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1088" y="5556136"/>
            <a:ext cx="270672" cy="270672"/>
          </a:xfrm>
          <a:prstGeom prst="rect">
            <a:avLst/>
          </a:prstGeom>
        </p:spPr>
      </p:pic>
      <p:sp>
        <p:nvSpPr>
          <p:cNvPr id="52" name="Arrow: Right 51">
            <a:extLst>
              <a:ext uri="{FF2B5EF4-FFF2-40B4-BE49-F238E27FC236}">
                <a16:creationId xmlns:a16="http://schemas.microsoft.com/office/drawing/2014/main" id="{49E950EB-6A04-EE04-7496-59ABA94E092F}"/>
              </a:ext>
            </a:extLst>
          </p:cNvPr>
          <p:cNvSpPr/>
          <p:nvPr/>
        </p:nvSpPr>
        <p:spPr>
          <a:xfrm>
            <a:off x="6525136" y="5286278"/>
            <a:ext cx="5201585" cy="411481"/>
          </a:xfrm>
          <a:prstGeom prst="rightArrow">
            <a:avLst>
              <a:gd name="adj1" fmla="val 81337"/>
              <a:gd name="adj2" fmla="val 5000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protein diet + folate, B12, B1 supplementation </a:t>
            </a:r>
          </a:p>
        </p:txBody>
      </p:sp>
      <p:sp>
        <p:nvSpPr>
          <p:cNvPr id="5" name="Obj 1">
            <a:hlinkClick r:id="rId5" action="ppaction://hlinksldjump"/>
            <a:extLst>
              <a:ext uri="{FF2B5EF4-FFF2-40B4-BE49-F238E27FC236}">
                <a16:creationId xmlns:a16="http://schemas.microsoft.com/office/drawing/2014/main" id="{99B55ABF-D0D0-4976-02C4-A23E669E8980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Spectrum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FC310200-963F-9880-43A4-410E3D74B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sp>
        <p:nvSpPr>
          <p:cNvPr id="22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D556F03B-D600-5086-DCF4-EC78949ECB03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24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BEA7AC61-53F6-591C-8E60-3115F97461E5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AH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0E8BFE12-CC02-A11D-4009-20E7A720C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6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F9D0173D-F430-3711-41FC-DFA27E61E001}"/>
              </a:ext>
            </a:extLst>
          </p:cNvPr>
          <p:cNvSpPr/>
          <p:nvPr/>
        </p:nvSpPr>
        <p:spPr>
          <a:xfrm>
            <a:off x="167950" y="225204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5865DEDC-742E-72FA-D51E-7329DC345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6851" y="2484692"/>
            <a:ext cx="270672" cy="270672"/>
          </a:xfrm>
          <a:prstGeom prst="rect">
            <a:avLst/>
          </a:prstGeom>
        </p:spPr>
      </p:pic>
      <p:sp>
        <p:nvSpPr>
          <p:cNvPr id="2" name="Obj 2">
            <a:hlinkClick r:id="rId9" action="ppaction://hlinksldjump"/>
            <a:extLst>
              <a:ext uri="{FF2B5EF4-FFF2-40B4-BE49-F238E27FC236}">
                <a16:creationId xmlns:a16="http://schemas.microsoft.com/office/drawing/2014/main" id="{B866F88D-7178-99D4-CF4A-CE2932AE1417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DEF8899B-9F62-397C-B58F-5E4B0FAB7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9610102-6E73-7D85-4735-4690013063DD}"/>
              </a:ext>
            </a:extLst>
          </p:cNvPr>
          <p:cNvGrpSpPr/>
          <p:nvPr/>
        </p:nvGrpSpPr>
        <p:grpSpPr>
          <a:xfrm>
            <a:off x="476095" y="2870631"/>
            <a:ext cx="1945753" cy="1702635"/>
            <a:chOff x="1974314" y="1541875"/>
            <a:chExt cx="1945753" cy="170263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E4792A-F53B-0C74-EE06-022A54625584}"/>
                </a:ext>
              </a:extLst>
            </p:cNvPr>
            <p:cNvSpPr/>
            <p:nvPr/>
          </p:nvSpPr>
          <p:spPr>
            <a:xfrm>
              <a:off x="1982442" y="1541875"/>
              <a:ext cx="1937625" cy="1702635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Liver diagram">
              <a:extLst>
                <a:ext uri="{FF2B5EF4-FFF2-40B4-BE49-F238E27FC236}">
                  <a16:creationId xmlns:a16="http://schemas.microsoft.com/office/drawing/2014/main" id="{9E0AE25A-26E6-E266-5DF2-E8F7710395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10745" t="12746" r="63467" b="60850"/>
            <a:stretch/>
          </p:blipFill>
          <p:spPr>
            <a:xfrm>
              <a:off x="2033971" y="1891009"/>
              <a:ext cx="1838192" cy="134378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CFA4DB-6F7D-A4EE-F47C-771D8CED0B69}"/>
                </a:ext>
              </a:extLst>
            </p:cNvPr>
            <p:cNvSpPr txBox="1"/>
            <p:nvPr/>
          </p:nvSpPr>
          <p:spPr>
            <a:xfrm>
              <a:off x="1974314" y="1548909"/>
              <a:ext cx="193762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Normal liver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495502-A208-2801-82D4-E60F028CDCFE}"/>
              </a:ext>
            </a:extLst>
          </p:cNvPr>
          <p:cNvGrpSpPr/>
          <p:nvPr/>
        </p:nvGrpSpPr>
        <p:grpSpPr>
          <a:xfrm>
            <a:off x="3388952" y="2467342"/>
            <a:ext cx="2045282" cy="2105924"/>
            <a:chOff x="4924362" y="1138587"/>
            <a:chExt cx="2045282" cy="2105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D40E171-FC15-D13E-5F9C-B3E3B1323283}"/>
                </a:ext>
              </a:extLst>
            </p:cNvPr>
            <p:cNvSpPr/>
            <p:nvPr/>
          </p:nvSpPr>
          <p:spPr>
            <a:xfrm>
              <a:off x="4924362" y="1138587"/>
              <a:ext cx="2045282" cy="210592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Fatty diagram">
              <a:extLst>
                <a:ext uri="{FF2B5EF4-FFF2-40B4-BE49-F238E27FC236}">
                  <a16:creationId xmlns:a16="http://schemas.microsoft.com/office/drawing/2014/main" id="{47A96D62-CF85-EA03-215E-365D5F9729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35880" t="12338" r="36711" b="59048"/>
            <a:stretch/>
          </p:blipFill>
          <p:spPr>
            <a:xfrm>
              <a:off x="5007417" y="1868592"/>
              <a:ext cx="1868511" cy="136321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12085A-06DC-AB10-4168-510EC359230D}"/>
                </a:ext>
              </a:extLst>
            </p:cNvPr>
            <p:cNvSpPr txBox="1"/>
            <p:nvPr/>
          </p:nvSpPr>
          <p:spPr>
            <a:xfrm>
              <a:off x="4972609" y="1168873"/>
              <a:ext cx="1949013" cy="8002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dirty="0">
                  <a:cs typeface="Calibri"/>
                </a:rPr>
                <a:t>ETOH-related fatty liver disease</a:t>
              </a:r>
            </a:p>
            <a:p>
              <a:pPr algn="ctr"/>
              <a:r>
                <a:rPr lang="en-US" sz="1600" dirty="0">
                  <a:cs typeface="Calibri"/>
                </a:rPr>
                <a:t>(Hepatic steatosis)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A593D7-0BBD-DEFD-490E-610A30E77369}"/>
              </a:ext>
            </a:extLst>
          </p:cNvPr>
          <p:cNvGrpSpPr/>
          <p:nvPr/>
        </p:nvGrpSpPr>
        <p:grpSpPr>
          <a:xfrm>
            <a:off x="9833886" y="2901834"/>
            <a:ext cx="1908614" cy="1671432"/>
            <a:chOff x="8828847" y="2549106"/>
            <a:chExt cx="1908614" cy="16714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EBBFBBE-A6AB-3A6A-5789-AA79274CFBEC}"/>
                </a:ext>
              </a:extLst>
            </p:cNvPr>
            <p:cNvSpPr/>
            <p:nvPr/>
          </p:nvSpPr>
          <p:spPr>
            <a:xfrm>
              <a:off x="8828847" y="2549106"/>
              <a:ext cx="1908614" cy="16714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cute decomp">
              <a:extLst>
                <a:ext uri="{FF2B5EF4-FFF2-40B4-BE49-F238E27FC236}">
                  <a16:creationId xmlns:a16="http://schemas.microsoft.com/office/drawing/2014/main" id="{8AFF1BF3-2550-3C7A-0D11-CB1B641D3957}"/>
                </a:ext>
              </a:extLst>
            </p:cNvPr>
            <p:cNvSpPr txBox="1"/>
            <p:nvPr/>
          </p:nvSpPr>
          <p:spPr>
            <a:xfrm>
              <a:off x="8930357" y="2588597"/>
              <a:ext cx="172085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Cirrhosis</a:t>
              </a:r>
              <a:endParaRPr lang="en-US" dirty="0">
                <a:cs typeface="Calibri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DB968AF-02C0-FD26-2E51-29C95D78E1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08" t="31778" r="42356" b="47917"/>
            <a:stretch/>
          </p:blipFill>
          <p:spPr>
            <a:xfrm>
              <a:off x="8868949" y="2913183"/>
              <a:ext cx="1868512" cy="1256585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0201D41-E7AE-36DF-F03F-EA992E847E9E}"/>
              </a:ext>
            </a:extLst>
          </p:cNvPr>
          <p:cNvGrpSpPr/>
          <p:nvPr/>
        </p:nvGrpSpPr>
        <p:grpSpPr>
          <a:xfrm>
            <a:off x="2464481" y="3410534"/>
            <a:ext cx="914400" cy="377772"/>
            <a:chOff x="2464481" y="3372694"/>
            <a:chExt cx="914400" cy="37777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F380340-FF01-FEDB-AD61-228AF4250C2B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1D77B31-00FB-2518-A8E8-1CB10157A0A4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EE1D12-34F9-678C-92F2-15B12285C1A6}"/>
              </a:ext>
            </a:extLst>
          </p:cNvPr>
          <p:cNvGrpSpPr/>
          <p:nvPr/>
        </p:nvGrpSpPr>
        <p:grpSpPr>
          <a:xfrm>
            <a:off x="5501316" y="3336530"/>
            <a:ext cx="913158" cy="525780"/>
            <a:chOff x="5523486" y="3328134"/>
            <a:chExt cx="913158" cy="525780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1B7052E-AA93-CBE6-0084-761846EE233A}"/>
                </a:ext>
              </a:extLst>
            </p:cNvPr>
            <p:cNvCxnSpPr>
              <a:cxnSpLocks/>
            </p:cNvCxnSpPr>
            <p:nvPr/>
          </p:nvCxnSpPr>
          <p:spPr>
            <a:xfrm>
              <a:off x="5568787" y="3706820"/>
              <a:ext cx="82255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17D6182-F78F-9F23-7C18-CA616B548F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8063" y="3853914"/>
              <a:ext cx="82400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1EF64BA-47BC-55C7-A9A7-E12E08983AC8}"/>
                </a:ext>
              </a:extLst>
            </p:cNvPr>
            <p:cNvSpPr txBox="1"/>
            <p:nvPr/>
          </p:nvSpPr>
          <p:spPr>
            <a:xfrm>
              <a:off x="5523486" y="3328134"/>
              <a:ext cx="9131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8087C4-67E7-FDC7-14D4-29FB44A2EBE8}"/>
              </a:ext>
            </a:extLst>
          </p:cNvPr>
          <p:cNvGrpSpPr/>
          <p:nvPr/>
        </p:nvGrpSpPr>
        <p:grpSpPr>
          <a:xfrm>
            <a:off x="8905539" y="3410534"/>
            <a:ext cx="914400" cy="377772"/>
            <a:chOff x="2464481" y="3372694"/>
            <a:chExt cx="914400" cy="377772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AAF8D7B-CB5F-6BC0-8D6E-B26260FD7E78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9DB2C55-BD07-F482-5EB5-D348CAD19FA6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4EC342F-28C2-204F-50B7-1C40D10E3A79}"/>
              </a:ext>
            </a:extLst>
          </p:cNvPr>
          <p:cNvGrpSpPr/>
          <p:nvPr/>
        </p:nvGrpSpPr>
        <p:grpSpPr>
          <a:xfrm>
            <a:off x="6445732" y="2480042"/>
            <a:ext cx="2416775" cy="2093224"/>
            <a:chOff x="8670510" y="528125"/>
            <a:chExt cx="2416775" cy="2093224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0A27405-E503-F9E7-0A63-9B9047D9675F}"/>
                </a:ext>
              </a:extLst>
            </p:cNvPr>
            <p:cNvSpPr/>
            <p:nvPr/>
          </p:nvSpPr>
          <p:spPr>
            <a:xfrm>
              <a:off x="8688288" y="528125"/>
              <a:ext cx="2385991" cy="209190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ETOH cirrhosis">
              <a:extLst>
                <a:ext uri="{FF2B5EF4-FFF2-40B4-BE49-F238E27FC236}">
                  <a16:creationId xmlns:a16="http://schemas.microsoft.com/office/drawing/2014/main" id="{AE1C4B15-310D-8FFF-CC1B-DC1FC353B253}"/>
                </a:ext>
              </a:extLst>
            </p:cNvPr>
            <p:cNvSpPr txBox="1"/>
            <p:nvPr/>
          </p:nvSpPr>
          <p:spPr>
            <a:xfrm>
              <a:off x="8670510" y="528125"/>
              <a:ext cx="2416775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ETOH-related hepatitis</a:t>
              </a:r>
              <a:endParaRPr lang="en-US" sz="1600" dirty="0"/>
            </a:p>
            <a:p>
              <a:pPr algn="ctr"/>
              <a:r>
                <a:rPr lang="en-US" sz="1600" dirty="0"/>
                <a:t>(Steatohepatitis)</a:t>
              </a:r>
              <a:endParaRPr lang="en-US" dirty="0"/>
            </a:p>
          </p:txBody>
        </p:sp>
        <p:pic>
          <p:nvPicPr>
            <p:cNvPr id="85" name="Fatty diagram">
              <a:extLst>
                <a:ext uri="{FF2B5EF4-FFF2-40B4-BE49-F238E27FC236}">
                  <a16:creationId xmlns:a16="http://schemas.microsoft.com/office/drawing/2014/main" id="{B7263040-C0CE-EAC4-2421-CF9AB62DCA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35880" t="12338" r="36711" b="59048"/>
            <a:stretch/>
          </p:blipFill>
          <p:spPr>
            <a:xfrm>
              <a:off x="8872510" y="1062067"/>
              <a:ext cx="2010838" cy="15592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078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  <p:bldLst>
      <p:bldP spid="53" grpId="0" animBg="1"/>
      <p:bldP spid="57" grpId="0" animBg="1"/>
      <p:bldP spid="44" grpId="0" animBg="1"/>
      <p:bldP spid="4" grpId="0" animBg="1"/>
      <p:bldP spid="32" grpId="0" animBg="1"/>
      <p:bldP spid="32" grpId="1" animBg="1"/>
      <p:bldP spid="36" grpId="0" animBg="1"/>
      <p:bldP spid="37" grpId="0"/>
      <p:bldP spid="38" grpId="0"/>
      <p:bldP spid="39" grpId="0" animBg="1"/>
      <p:bldP spid="42" grpId="0" animBg="1"/>
      <p:bldP spid="43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linical features button">
            <a:extLst>
              <a:ext uri="{FF2B5EF4-FFF2-40B4-BE49-F238E27FC236}">
                <a16:creationId xmlns:a16="http://schemas.microsoft.com/office/drawing/2014/main" id="{2ED50188-ACD8-386A-E326-0CA45738EEA3}"/>
              </a:ext>
            </a:extLst>
          </p:cNvPr>
          <p:cNvSpPr/>
          <p:nvPr/>
        </p:nvSpPr>
        <p:spPr>
          <a:xfrm>
            <a:off x="1940836" y="3229473"/>
            <a:ext cx="2604842" cy="40377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cs typeface="Calibri"/>
              </a:rPr>
              <a:t>Heavy, recent ETOH use</a:t>
            </a:r>
          </a:p>
        </p:txBody>
      </p:sp>
      <p:sp>
        <p:nvSpPr>
          <p:cNvPr id="12" name="ALF">
            <a:extLst>
              <a:ext uri="{FF2B5EF4-FFF2-40B4-BE49-F238E27FC236}">
                <a16:creationId xmlns:a16="http://schemas.microsoft.com/office/drawing/2014/main" id="{0C00E484-A03C-FEBD-39F3-BDAB82F7E83F}"/>
              </a:ext>
            </a:extLst>
          </p:cNvPr>
          <p:cNvSpPr txBox="1"/>
          <p:nvPr/>
        </p:nvSpPr>
        <p:spPr>
          <a:xfrm>
            <a:off x="2738567" y="70968"/>
            <a:ext cx="7467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/>
              <a:t>Diagnosis of Alcohol-related Hepatitis (AH)</a:t>
            </a:r>
          </a:p>
        </p:txBody>
      </p:sp>
      <p:sp>
        <p:nvSpPr>
          <p:cNvPr id="20" name="Cases">
            <a:hlinkClick r:id="rId3" action="ppaction://hlinksldjump"/>
            <a:extLst>
              <a:ext uri="{FF2B5EF4-FFF2-40B4-BE49-F238E27FC236}">
                <a16:creationId xmlns:a16="http://schemas.microsoft.com/office/drawing/2014/main" id="{2BCEE009-586C-07E8-1BB5-9D25140F5588}"/>
              </a:ext>
            </a:extLst>
          </p:cNvPr>
          <p:cNvSpPr/>
          <p:nvPr/>
        </p:nvSpPr>
        <p:spPr>
          <a:xfrm>
            <a:off x="167950" y="338209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5F7AA049-4884-D0A4-373D-64A462B6F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614737"/>
            <a:ext cx="270672" cy="27067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830053B8-52D3-AB5B-40DD-9C4073670A8B}"/>
              </a:ext>
            </a:extLst>
          </p:cNvPr>
          <p:cNvSpPr txBox="1"/>
          <p:nvPr/>
        </p:nvSpPr>
        <p:spPr>
          <a:xfrm>
            <a:off x="9952657" y="6596390"/>
            <a:ext cx="2248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Images created with Biorender.com</a:t>
            </a:r>
          </a:p>
        </p:txBody>
      </p:sp>
      <p:sp>
        <p:nvSpPr>
          <p:cNvPr id="4" name="Clinical features">
            <a:extLst>
              <a:ext uri="{FF2B5EF4-FFF2-40B4-BE49-F238E27FC236}">
                <a16:creationId xmlns:a16="http://schemas.microsoft.com/office/drawing/2014/main" id="{0CC2C39C-204F-FC71-016A-1C826CE073C8}"/>
              </a:ext>
            </a:extLst>
          </p:cNvPr>
          <p:cNvSpPr/>
          <p:nvPr/>
        </p:nvSpPr>
        <p:spPr>
          <a:xfrm>
            <a:off x="2021498" y="1331508"/>
            <a:ext cx="2173563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Clinical features</a:t>
            </a:r>
          </a:p>
        </p:txBody>
      </p:sp>
      <p:sp>
        <p:nvSpPr>
          <p:cNvPr id="7" name="Who to screen">
            <a:extLst>
              <a:ext uri="{FF2B5EF4-FFF2-40B4-BE49-F238E27FC236}">
                <a16:creationId xmlns:a16="http://schemas.microsoft.com/office/drawing/2014/main" id="{4935F46F-B60B-9F7A-E5AF-57FB128741CE}"/>
              </a:ext>
            </a:extLst>
          </p:cNvPr>
          <p:cNvSpPr/>
          <p:nvPr/>
        </p:nvSpPr>
        <p:spPr>
          <a:xfrm>
            <a:off x="5612560" y="3592381"/>
            <a:ext cx="2338103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Diagnosis</a:t>
            </a:r>
          </a:p>
        </p:txBody>
      </p:sp>
      <p:sp>
        <p:nvSpPr>
          <p:cNvPr id="8" name="Diagnosis cirrhosis">
            <a:extLst>
              <a:ext uri="{FF2B5EF4-FFF2-40B4-BE49-F238E27FC236}">
                <a16:creationId xmlns:a16="http://schemas.microsoft.com/office/drawing/2014/main" id="{1A791FAC-6C46-1E16-5B9B-65E0DA3A840C}"/>
              </a:ext>
            </a:extLst>
          </p:cNvPr>
          <p:cNvSpPr/>
          <p:nvPr/>
        </p:nvSpPr>
        <p:spPr>
          <a:xfrm>
            <a:off x="9048454" y="1338157"/>
            <a:ext cx="2248257" cy="404626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Diagnostic work-up</a:t>
            </a:r>
          </a:p>
        </p:txBody>
      </p:sp>
      <p:sp>
        <p:nvSpPr>
          <p:cNvPr id="9" name="Clinical features button">
            <a:extLst>
              <a:ext uri="{FF2B5EF4-FFF2-40B4-BE49-F238E27FC236}">
                <a16:creationId xmlns:a16="http://schemas.microsoft.com/office/drawing/2014/main" id="{15551BD5-C561-A4A9-B4B5-942DE4053B16}"/>
              </a:ext>
            </a:extLst>
          </p:cNvPr>
          <p:cNvSpPr/>
          <p:nvPr/>
        </p:nvSpPr>
        <p:spPr>
          <a:xfrm>
            <a:off x="2022706" y="1331967"/>
            <a:ext cx="217356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Clinical features</a:t>
            </a:r>
          </a:p>
        </p:txBody>
      </p:sp>
      <p:pic>
        <p:nvPicPr>
          <p:cNvPr id="10" name="Spectrum mouse" descr="Cursor with solid fill">
            <a:extLst>
              <a:ext uri="{FF2B5EF4-FFF2-40B4-BE49-F238E27FC236}">
                <a16:creationId xmlns:a16="http://schemas.microsoft.com/office/drawing/2014/main" id="{44D245CB-8508-4428-688F-DF70C18A5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3937" y="1629882"/>
            <a:ext cx="270672" cy="270672"/>
          </a:xfrm>
          <a:prstGeom prst="rect">
            <a:avLst/>
          </a:prstGeom>
        </p:spPr>
      </p:pic>
      <p:sp>
        <p:nvSpPr>
          <p:cNvPr id="11" name="Who to screen">
            <a:extLst>
              <a:ext uri="{FF2B5EF4-FFF2-40B4-BE49-F238E27FC236}">
                <a16:creationId xmlns:a16="http://schemas.microsoft.com/office/drawing/2014/main" id="{A5F0F7F2-4E08-EC4C-88EC-5431E65A379A}"/>
              </a:ext>
            </a:extLst>
          </p:cNvPr>
          <p:cNvSpPr/>
          <p:nvPr/>
        </p:nvSpPr>
        <p:spPr>
          <a:xfrm>
            <a:off x="5608756" y="3591808"/>
            <a:ext cx="2354782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Laboratory findings</a:t>
            </a:r>
          </a:p>
        </p:txBody>
      </p:sp>
      <p:sp>
        <p:nvSpPr>
          <p:cNvPr id="22" name="Lab values button">
            <a:extLst>
              <a:ext uri="{FF2B5EF4-FFF2-40B4-BE49-F238E27FC236}">
                <a16:creationId xmlns:a16="http://schemas.microsoft.com/office/drawing/2014/main" id="{0C6756DC-3E1E-95FE-75B8-DCBA02B888E2}"/>
              </a:ext>
            </a:extLst>
          </p:cNvPr>
          <p:cNvSpPr/>
          <p:nvPr/>
        </p:nvSpPr>
        <p:spPr>
          <a:xfrm>
            <a:off x="5613768" y="3592840"/>
            <a:ext cx="233810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Laboratory findings</a:t>
            </a:r>
          </a:p>
        </p:txBody>
      </p:sp>
      <p:sp>
        <p:nvSpPr>
          <p:cNvPr id="26" name="Diagnostic work-up">
            <a:extLst>
              <a:ext uri="{FF2B5EF4-FFF2-40B4-BE49-F238E27FC236}">
                <a16:creationId xmlns:a16="http://schemas.microsoft.com/office/drawing/2014/main" id="{BBD0D442-C85B-BEDA-516E-7FE7178D3D01}"/>
              </a:ext>
            </a:extLst>
          </p:cNvPr>
          <p:cNvSpPr/>
          <p:nvPr/>
        </p:nvSpPr>
        <p:spPr>
          <a:xfrm>
            <a:off x="9049662" y="1338616"/>
            <a:ext cx="2248257" cy="4043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Diagnostic work-up</a:t>
            </a:r>
          </a:p>
        </p:txBody>
      </p:sp>
      <p:pic>
        <p:nvPicPr>
          <p:cNvPr id="27" name="Spectrum mouse" descr="Cursor with solid fill">
            <a:extLst>
              <a:ext uri="{FF2B5EF4-FFF2-40B4-BE49-F238E27FC236}">
                <a16:creationId xmlns:a16="http://schemas.microsoft.com/office/drawing/2014/main" id="{09A00778-4775-6215-CB8A-C1C6CCE8A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61979" y="1618007"/>
            <a:ext cx="270672" cy="270672"/>
          </a:xfrm>
          <a:prstGeom prst="rect">
            <a:avLst/>
          </a:prstGeom>
        </p:spPr>
      </p:pic>
      <p:pic>
        <p:nvPicPr>
          <p:cNvPr id="29" name="Spectrum mouse" descr="Cursor with solid fill">
            <a:extLst>
              <a:ext uri="{FF2B5EF4-FFF2-40B4-BE49-F238E27FC236}">
                <a16:creationId xmlns:a16="http://schemas.microsoft.com/office/drawing/2014/main" id="{9EBB9C9A-8872-51B9-0E0B-E2E5A67A6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7806" y="3885031"/>
            <a:ext cx="270672" cy="27067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7F59979-7709-DDE2-749C-DFE640D21DFF}"/>
              </a:ext>
            </a:extLst>
          </p:cNvPr>
          <p:cNvSpPr txBox="1"/>
          <p:nvPr/>
        </p:nvSpPr>
        <p:spPr>
          <a:xfrm>
            <a:off x="1950361" y="1770422"/>
            <a:ext cx="27051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Fever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RUQ pain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Anorexia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Ascites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Jaundice (≤8 </a:t>
            </a:r>
            <a:r>
              <a:rPr lang="en-US" dirty="0" err="1">
                <a:solidFill>
                  <a:srgbClr val="FF0000"/>
                </a:solidFill>
              </a:rPr>
              <a:t>wks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004BFE-50CE-AA5D-4897-817ED448807C}"/>
              </a:ext>
            </a:extLst>
          </p:cNvPr>
          <p:cNvSpPr txBox="1"/>
          <p:nvPr/>
        </p:nvSpPr>
        <p:spPr>
          <a:xfrm>
            <a:off x="5289659" y="4047323"/>
            <a:ext cx="3758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↑ AST:ALT &gt;2 </a:t>
            </a:r>
            <a:r>
              <a:rPr lang="en-US" dirty="0"/>
              <a:t>(usually &lt;400 IU/L)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↑ Total bilirubin &gt;3 mg/dL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/>
              <a:t>↑ GGT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/>
              <a:t>↑ WBC (PMN predominant)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/>
              <a:t>↑ INR</a:t>
            </a:r>
          </a:p>
        </p:txBody>
      </p:sp>
      <p:sp>
        <p:nvSpPr>
          <p:cNvPr id="99" name="ETOH use">
            <a:extLst>
              <a:ext uri="{FF2B5EF4-FFF2-40B4-BE49-F238E27FC236}">
                <a16:creationId xmlns:a16="http://schemas.microsoft.com/office/drawing/2014/main" id="{DAC55F10-94CC-1B82-524E-4274C734660F}"/>
              </a:ext>
            </a:extLst>
          </p:cNvPr>
          <p:cNvSpPr/>
          <p:nvPr/>
        </p:nvSpPr>
        <p:spPr>
          <a:xfrm>
            <a:off x="1940836" y="3229473"/>
            <a:ext cx="2604842" cy="40377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cs typeface="Calibri"/>
              </a:rPr>
              <a:t>Heavy, recent ETOH use</a:t>
            </a:r>
          </a:p>
        </p:txBody>
      </p:sp>
      <p:pic>
        <p:nvPicPr>
          <p:cNvPr id="100" name="Spectrum mouse" descr="Cursor with solid fill">
            <a:extLst>
              <a:ext uri="{FF2B5EF4-FFF2-40B4-BE49-F238E27FC236}">
                <a16:creationId xmlns:a16="http://schemas.microsoft.com/office/drawing/2014/main" id="{98D1BE9F-CD52-1207-94E1-D5344049A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1085" y="3509789"/>
            <a:ext cx="270672" cy="270672"/>
          </a:xfrm>
          <a:prstGeom prst="rect">
            <a:avLst/>
          </a:prstGeom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92D7705-E4E3-53C3-ECCF-E765ACC9C797}"/>
              </a:ext>
            </a:extLst>
          </p:cNvPr>
          <p:cNvGrpSpPr/>
          <p:nvPr/>
        </p:nvGrpSpPr>
        <p:grpSpPr>
          <a:xfrm>
            <a:off x="1968637" y="3741106"/>
            <a:ext cx="2605616" cy="421151"/>
            <a:chOff x="2091715" y="4236573"/>
            <a:chExt cx="2605616" cy="421151"/>
          </a:xfrm>
        </p:grpSpPr>
        <p:pic>
          <p:nvPicPr>
            <p:cNvPr id="116" name="Graphic 115" descr="Man with solid fill">
              <a:extLst>
                <a:ext uri="{FF2B5EF4-FFF2-40B4-BE49-F238E27FC236}">
                  <a16:creationId xmlns:a16="http://schemas.microsoft.com/office/drawing/2014/main" id="{DE2B70AB-398D-4F01-8B9F-2C24B46A2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91715" y="4245722"/>
              <a:ext cx="411480" cy="411480"/>
            </a:xfrm>
            <a:prstGeom prst="rect">
              <a:avLst/>
            </a:prstGeom>
          </p:spPr>
        </p:pic>
        <p:pic>
          <p:nvPicPr>
            <p:cNvPr id="122" name="Graphic 121" descr="Woman with solid fill">
              <a:extLst>
                <a:ext uri="{FF2B5EF4-FFF2-40B4-BE49-F238E27FC236}">
                  <a16:creationId xmlns:a16="http://schemas.microsoft.com/office/drawing/2014/main" id="{08371FBB-0B88-755D-9DE3-FB592E682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512353" y="4236573"/>
              <a:ext cx="411480" cy="411480"/>
            </a:xfrm>
            <a:prstGeom prst="rect">
              <a:avLst/>
            </a:prstGeom>
          </p:spPr>
        </p:pic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BFD798D-B2E2-655F-6DAA-8E923CC5DA6C}"/>
                </a:ext>
              </a:extLst>
            </p:cNvPr>
            <p:cNvGrpSpPr/>
            <p:nvPr/>
          </p:nvGrpSpPr>
          <p:grpSpPr>
            <a:xfrm>
              <a:off x="2371725" y="4288392"/>
              <a:ext cx="914399" cy="369332"/>
              <a:chOff x="2371725" y="4288392"/>
              <a:chExt cx="914399" cy="369332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F080CB-FE53-FF0E-18FE-B79317F56A4C}"/>
                  </a:ext>
                </a:extLst>
              </p:cNvPr>
              <p:cNvSpPr txBox="1"/>
              <p:nvPr/>
            </p:nvSpPr>
            <p:spPr>
              <a:xfrm>
                <a:off x="2371725" y="4288392"/>
                <a:ext cx="9143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&gt;4    /d</a:t>
                </a:r>
              </a:p>
            </p:txBody>
          </p:sp>
          <p:pic>
            <p:nvPicPr>
              <p:cNvPr id="125" name="Graphic 124" descr="Champagne with solid fill">
                <a:extLst>
                  <a:ext uri="{FF2B5EF4-FFF2-40B4-BE49-F238E27FC236}">
                    <a16:creationId xmlns:a16="http://schemas.microsoft.com/office/drawing/2014/main" id="{C96A4AA6-CC97-4D28-D41B-0D2D818ACF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569776" y="4316353"/>
                <a:ext cx="454541" cy="313409"/>
              </a:xfrm>
              <a:prstGeom prst="rect">
                <a:avLst/>
              </a:prstGeom>
            </p:spPr>
          </p:pic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63D418C7-20C2-E259-C944-2D5F11033534}"/>
                </a:ext>
              </a:extLst>
            </p:cNvPr>
            <p:cNvGrpSpPr/>
            <p:nvPr/>
          </p:nvGrpSpPr>
          <p:grpSpPr>
            <a:xfrm>
              <a:off x="3782932" y="4248779"/>
              <a:ext cx="914399" cy="369332"/>
              <a:chOff x="2371725" y="4288392"/>
              <a:chExt cx="914399" cy="369332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2E5BE57-7770-1968-C320-BDFB8DC47C78}"/>
                  </a:ext>
                </a:extLst>
              </p:cNvPr>
              <p:cNvSpPr txBox="1"/>
              <p:nvPr/>
            </p:nvSpPr>
            <p:spPr>
              <a:xfrm>
                <a:off x="2371725" y="4288392"/>
                <a:ext cx="9143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&gt;3    /d</a:t>
                </a:r>
              </a:p>
            </p:txBody>
          </p:sp>
          <p:pic>
            <p:nvPicPr>
              <p:cNvPr id="129" name="Graphic 128" descr="Champagne with solid fill">
                <a:extLst>
                  <a:ext uri="{FF2B5EF4-FFF2-40B4-BE49-F238E27FC236}">
                    <a16:creationId xmlns:a16="http://schemas.microsoft.com/office/drawing/2014/main" id="{FF20A1F8-BAAF-3E7D-771C-7B9281E868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569776" y="4316353"/>
                <a:ext cx="454541" cy="313409"/>
              </a:xfrm>
              <a:prstGeom prst="rect">
                <a:avLst/>
              </a:prstGeom>
            </p:spPr>
          </p:pic>
        </p:grp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6DA06B1-4FAE-D40F-80B7-C2803F79F120}"/>
                </a:ext>
              </a:extLst>
            </p:cNvPr>
            <p:cNvCxnSpPr/>
            <p:nvPr/>
          </p:nvCxnSpPr>
          <p:spPr>
            <a:xfrm>
              <a:off x="3379869" y="4260430"/>
              <a:ext cx="0" cy="3693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DF9B6132-8F60-9871-ED05-74FDEB174C2E}"/>
              </a:ext>
            </a:extLst>
          </p:cNvPr>
          <p:cNvSpPr txBox="1"/>
          <p:nvPr/>
        </p:nvSpPr>
        <p:spPr>
          <a:xfrm>
            <a:off x="2000499" y="4222661"/>
            <a:ext cx="2604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&lt;60 d of abstinence prior to onset of jaundice </a:t>
            </a:r>
          </a:p>
        </p:txBody>
      </p:sp>
      <p:pic>
        <p:nvPicPr>
          <p:cNvPr id="155" name="Fatty diagram">
            <a:extLst>
              <a:ext uri="{FF2B5EF4-FFF2-40B4-BE49-F238E27FC236}">
                <a16:creationId xmlns:a16="http://schemas.microsoft.com/office/drawing/2014/main" id="{09B77A79-5745-7473-5B47-6338ED92061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5880" t="12338" r="36711" b="59048"/>
          <a:stretch/>
        </p:blipFill>
        <p:spPr>
          <a:xfrm>
            <a:off x="4893139" y="632518"/>
            <a:ext cx="3498386" cy="2712785"/>
          </a:xfrm>
          <a:prstGeom prst="rect">
            <a:avLst/>
          </a:prstGeom>
        </p:spPr>
      </p:pic>
      <p:sp>
        <p:nvSpPr>
          <p:cNvPr id="156" name="ALI text">
            <a:extLst>
              <a:ext uri="{FF2B5EF4-FFF2-40B4-BE49-F238E27FC236}">
                <a16:creationId xmlns:a16="http://schemas.microsoft.com/office/drawing/2014/main" id="{58D94673-48EC-155E-3316-E8679C1F44AD}"/>
              </a:ext>
            </a:extLst>
          </p:cNvPr>
          <p:cNvSpPr txBox="1"/>
          <p:nvPr/>
        </p:nvSpPr>
        <p:spPr>
          <a:xfrm>
            <a:off x="8456690" y="1770422"/>
            <a:ext cx="3498386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Rule out other causes of hepatitis</a:t>
            </a:r>
            <a:endParaRPr lang="en-US" dirty="0">
              <a:latin typeface="Calibri"/>
              <a:cs typeface="Calibri"/>
            </a:endParaRP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Acute hepatitis panel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Drug screen and APAP level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RUQ US with doppler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Liver biopsy (rarely needed)</a:t>
            </a:r>
          </a:p>
        </p:txBody>
      </p:sp>
      <p:sp>
        <p:nvSpPr>
          <p:cNvPr id="158" name="Obj 3">
            <a:hlinkClick r:id="rId13" action="ppaction://hlinksldjump"/>
            <a:extLst>
              <a:ext uri="{FF2B5EF4-FFF2-40B4-BE49-F238E27FC236}">
                <a16:creationId xmlns:a16="http://schemas.microsoft.com/office/drawing/2014/main" id="{7E7F56CD-F55E-B900-A410-5930DAFF3EB2}"/>
              </a:ext>
            </a:extLst>
          </p:cNvPr>
          <p:cNvSpPr/>
          <p:nvPr/>
        </p:nvSpPr>
        <p:spPr>
          <a:xfrm>
            <a:off x="447675" y="2278152"/>
            <a:ext cx="1194512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</a:t>
            </a:r>
          </a:p>
        </p:txBody>
      </p:sp>
      <p:sp>
        <p:nvSpPr>
          <p:cNvPr id="160" name="Obj 3">
            <a:hlinkClick r:id="rId14" action="ppaction://hlinksldjump"/>
            <a:extLst>
              <a:ext uri="{FF2B5EF4-FFF2-40B4-BE49-F238E27FC236}">
                <a16:creationId xmlns:a16="http://schemas.microsoft.com/office/drawing/2014/main" id="{01232149-E576-0D5D-11C2-9826D0182907}"/>
              </a:ext>
            </a:extLst>
          </p:cNvPr>
          <p:cNvSpPr/>
          <p:nvPr/>
        </p:nvSpPr>
        <p:spPr>
          <a:xfrm>
            <a:off x="447675" y="2830120"/>
            <a:ext cx="1194512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Treatment</a:t>
            </a:r>
          </a:p>
        </p:txBody>
      </p:sp>
      <p:pic>
        <p:nvPicPr>
          <p:cNvPr id="161" name="Graphic 160" descr="Cursor with solid fill">
            <a:extLst>
              <a:ext uri="{FF2B5EF4-FFF2-40B4-BE49-F238E27FC236}">
                <a16:creationId xmlns:a16="http://schemas.microsoft.com/office/drawing/2014/main" id="{A242A6BD-CE96-C034-640A-4C0853FDB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062766"/>
            <a:ext cx="270672" cy="270672"/>
          </a:xfrm>
          <a:prstGeom prst="rect">
            <a:avLst/>
          </a:prstGeom>
        </p:spPr>
      </p:pic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A858830C-D7CE-8B7E-D55E-9C1CB07628F3}"/>
              </a:ext>
            </a:extLst>
          </p:cNvPr>
          <p:cNvCxnSpPr>
            <a:endCxn id="158" idx="1"/>
          </p:cNvCxnSpPr>
          <p:nvPr/>
        </p:nvCxnSpPr>
        <p:spPr>
          <a:xfrm rot="16200000" flipH="1">
            <a:off x="173198" y="2187664"/>
            <a:ext cx="367979" cy="18097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CDED668B-1426-2B3A-167C-560B715A1FB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821" y="2650019"/>
            <a:ext cx="551968" cy="176211"/>
          </a:xfrm>
          <a:prstGeom prst="bentConnector3">
            <a:avLst>
              <a:gd name="adj1" fmla="val 10176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 1">
            <a:hlinkClick r:id="rId15" action="ppaction://hlinksldjump"/>
            <a:extLst>
              <a:ext uri="{FF2B5EF4-FFF2-40B4-BE49-F238E27FC236}">
                <a16:creationId xmlns:a16="http://schemas.microsoft.com/office/drawing/2014/main" id="{E8A02FE5-15BF-B1BC-1510-5C1A88232668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Spectrum</a:t>
            </a:r>
          </a:p>
        </p:txBody>
      </p:sp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061878B3-8839-3FCE-F272-CB06161AC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sp>
        <p:nvSpPr>
          <p:cNvPr id="24" name="Obj 3">
            <a:hlinkClick r:id="rId16" action="ppaction://hlinksldjump"/>
            <a:extLst>
              <a:ext uri="{FF2B5EF4-FFF2-40B4-BE49-F238E27FC236}">
                <a16:creationId xmlns:a16="http://schemas.microsoft.com/office/drawing/2014/main" id="{3D12EB2C-3C75-F842-0DCB-3A9932A40487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30FD0B9C-9EF2-F462-7D19-37FBB4F2E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8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96E6AFC2-7A2F-1D45-3FD6-ED9DD2DDC616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AH</a:t>
            </a:r>
          </a:p>
        </p:txBody>
      </p:sp>
      <p:sp>
        <p:nvSpPr>
          <p:cNvPr id="16" name="Obj 2">
            <a:hlinkClick r:id="rId17" action="ppaction://hlinksldjump"/>
            <a:extLst>
              <a:ext uri="{FF2B5EF4-FFF2-40B4-BE49-F238E27FC236}">
                <a16:creationId xmlns:a16="http://schemas.microsoft.com/office/drawing/2014/main" id="{410D1DE8-4F5B-6858-2303-AAA05F2448B8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F3C931F0-689C-D397-CFF6-20D7709DE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13D205F-8C23-A7FE-8F75-813D74B66F78}"/>
              </a:ext>
            </a:extLst>
          </p:cNvPr>
          <p:cNvSpPr txBox="1"/>
          <p:nvPr/>
        </p:nvSpPr>
        <p:spPr>
          <a:xfrm>
            <a:off x="4334609" y="5914007"/>
            <a:ext cx="476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AASLD Guideline for clinical diagnosis of AH</a:t>
            </a:r>
          </a:p>
        </p:txBody>
      </p:sp>
    </p:spTree>
    <p:extLst>
      <p:ext uri="{BB962C8B-B14F-4D97-AF65-F5344CB8AC3E}">
        <p14:creationId xmlns:p14="http://schemas.microsoft.com/office/powerpoint/2010/main" val="78060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</p:childTnLst>
        </p:cTn>
      </p:par>
    </p:tnLst>
    <p:bldLst>
      <p:bldP spid="102" grpId="0" animBg="1"/>
      <p:bldP spid="9" grpId="0" animBg="1"/>
      <p:bldP spid="22" grpId="0" animBg="1"/>
      <p:bldP spid="22" grpId="1" animBg="1"/>
      <p:bldP spid="26" grpId="0" animBg="1"/>
      <p:bldP spid="31" grpId="0"/>
      <p:bldP spid="97" grpId="0"/>
      <p:bldP spid="99" grpId="0" animBg="1"/>
      <p:bldP spid="99" grpId="1" animBg="1"/>
      <p:bldP spid="133" grpId="0"/>
      <p:bldP spid="156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LF">
            <a:extLst>
              <a:ext uri="{FF2B5EF4-FFF2-40B4-BE49-F238E27FC236}">
                <a16:creationId xmlns:a16="http://schemas.microsoft.com/office/drawing/2014/main" id="{0C00E484-A03C-FEBD-39F3-BDAB82F7E83F}"/>
              </a:ext>
            </a:extLst>
          </p:cNvPr>
          <p:cNvSpPr txBox="1"/>
          <p:nvPr/>
        </p:nvSpPr>
        <p:spPr>
          <a:xfrm>
            <a:off x="2738567" y="70968"/>
            <a:ext cx="7467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/>
              <a:t>Management of Alcohol-related Hepatitis</a:t>
            </a:r>
          </a:p>
        </p:txBody>
      </p:sp>
      <p:sp>
        <p:nvSpPr>
          <p:cNvPr id="415" name="Cases">
            <a:hlinkClick r:id="rId3" action="ppaction://hlinksldjump"/>
            <a:extLst>
              <a:ext uri="{FF2B5EF4-FFF2-40B4-BE49-F238E27FC236}">
                <a16:creationId xmlns:a16="http://schemas.microsoft.com/office/drawing/2014/main" id="{649F7D71-63B3-EDFC-754E-8D1C8AF4719A}"/>
              </a:ext>
            </a:extLst>
          </p:cNvPr>
          <p:cNvSpPr/>
          <p:nvPr/>
        </p:nvSpPr>
        <p:spPr>
          <a:xfrm>
            <a:off x="167950" y="338209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16" name="Graphic 415" descr="Cursor with solid fill">
            <a:extLst>
              <a:ext uri="{FF2B5EF4-FFF2-40B4-BE49-F238E27FC236}">
                <a16:creationId xmlns:a16="http://schemas.microsoft.com/office/drawing/2014/main" id="{34AF0C58-4701-F885-894B-C528193F4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614737"/>
            <a:ext cx="270672" cy="270672"/>
          </a:xfrm>
          <a:prstGeom prst="rect">
            <a:avLst/>
          </a:prstGeom>
        </p:spPr>
      </p:pic>
      <p:sp>
        <p:nvSpPr>
          <p:cNvPr id="417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CED21C89-6447-E521-C673-164993E1E47F}"/>
              </a:ext>
            </a:extLst>
          </p:cNvPr>
          <p:cNvSpPr/>
          <p:nvPr/>
        </p:nvSpPr>
        <p:spPr>
          <a:xfrm>
            <a:off x="447675" y="2278152"/>
            <a:ext cx="1194512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418" name="Graphic 417" descr="Cursor with solid fill">
            <a:extLst>
              <a:ext uri="{FF2B5EF4-FFF2-40B4-BE49-F238E27FC236}">
                <a16:creationId xmlns:a16="http://schemas.microsoft.com/office/drawing/2014/main" id="{5881DB15-1769-AC6A-D093-52C48DD2A8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2510798"/>
            <a:ext cx="270672" cy="270672"/>
          </a:xfrm>
          <a:prstGeom prst="rect">
            <a:avLst/>
          </a:prstGeom>
        </p:spPr>
      </p:pic>
      <p:sp>
        <p:nvSpPr>
          <p:cNvPr id="419" name="Obj 3">
            <a:hlinkClick r:id="rId7" action="ppaction://hlinksldjump"/>
            <a:extLst>
              <a:ext uri="{FF2B5EF4-FFF2-40B4-BE49-F238E27FC236}">
                <a16:creationId xmlns:a16="http://schemas.microsoft.com/office/drawing/2014/main" id="{E0A9BD66-5976-9B0A-91ED-8300F3C80C42}"/>
              </a:ext>
            </a:extLst>
          </p:cNvPr>
          <p:cNvSpPr/>
          <p:nvPr/>
        </p:nvSpPr>
        <p:spPr>
          <a:xfrm>
            <a:off x="447675" y="2830120"/>
            <a:ext cx="1194512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Treatment</a:t>
            </a:r>
          </a:p>
        </p:txBody>
      </p:sp>
      <p:cxnSp>
        <p:nvCxnSpPr>
          <p:cNvPr id="421" name="Connector: Elbow 420">
            <a:extLst>
              <a:ext uri="{FF2B5EF4-FFF2-40B4-BE49-F238E27FC236}">
                <a16:creationId xmlns:a16="http://schemas.microsoft.com/office/drawing/2014/main" id="{4C93632A-EE90-E422-3FAC-C5F2B349F3AB}"/>
              </a:ext>
            </a:extLst>
          </p:cNvPr>
          <p:cNvCxnSpPr>
            <a:endCxn id="417" idx="1"/>
          </p:cNvCxnSpPr>
          <p:nvPr/>
        </p:nvCxnSpPr>
        <p:spPr>
          <a:xfrm rot="16200000" flipH="1">
            <a:off x="173198" y="2187664"/>
            <a:ext cx="367979" cy="18097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: Elbow 421">
            <a:extLst>
              <a:ext uri="{FF2B5EF4-FFF2-40B4-BE49-F238E27FC236}">
                <a16:creationId xmlns:a16="http://schemas.microsoft.com/office/drawing/2014/main" id="{D937596F-EEFB-1662-D9D2-54B2D86B76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821" y="2650019"/>
            <a:ext cx="551968" cy="176211"/>
          </a:xfrm>
          <a:prstGeom prst="bentConnector3">
            <a:avLst>
              <a:gd name="adj1" fmla="val 10176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Obj 1">
            <a:hlinkClick r:id="rId8" action="ppaction://hlinksldjump"/>
            <a:extLst>
              <a:ext uri="{FF2B5EF4-FFF2-40B4-BE49-F238E27FC236}">
                <a16:creationId xmlns:a16="http://schemas.microsoft.com/office/drawing/2014/main" id="{BCA35BD2-A2F9-EDB9-FB98-CC5090364068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Spectrum</a:t>
            </a:r>
          </a:p>
        </p:txBody>
      </p:sp>
      <p:pic>
        <p:nvPicPr>
          <p:cNvPr id="425" name="Graphic 424" descr="Cursor with solid fill">
            <a:extLst>
              <a:ext uri="{FF2B5EF4-FFF2-40B4-BE49-F238E27FC236}">
                <a16:creationId xmlns:a16="http://schemas.microsoft.com/office/drawing/2014/main" id="{674D8E0D-A01A-4831-659E-78C45F48F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sp>
        <p:nvSpPr>
          <p:cNvPr id="427" name="Obj 3">
            <a:hlinkClick r:id="rId9" action="ppaction://hlinksldjump"/>
            <a:extLst>
              <a:ext uri="{FF2B5EF4-FFF2-40B4-BE49-F238E27FC236}">
                <a16:creationId xmlns:a16="http://schemas.microsoft.com/office/drawing/2014/main" id="{DD1FCD63-B39C-C5A7-6577-E2CF6908ACF8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428" name="Graphic 427" descr="Cursor with solid fill">
            <a:extLst>
              <a:ext uri="{FF2B5EF4-FFF2-40B4-BE49-F238E27FC236}">
                <a16:creationId xmlns:a16="http://schemas.microsoft.com/office/drawing/2014/main" id="{98B8CAAF-F158-5505-7AED-2C16F2FE4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429" name="Cases">
            <a:hlinkClick r:id="rId6" action="ppaction://hlinksldjump"/>
            <a:extLst>
              <a:ext uri="{FF2B5EF4-FFF2-40B4-BE49-F238E27FC236}">
                <a16:creationId xmlns:a16="http://schemas.microsoft.com/office/drawing/2014/main" id="{EAC603F7-B9B3-0170-F271-5419499B5626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AH</a:t>
            </a:r>
          </a:p>
        </p:txBody>
      </p:sp>
      <p:sp>
        <p:nvSpPr>
          <p:cNvPr id="23" name="Obj 2">
            <a:hlinkClick r:id="rId9" action="ppaction://hlinksldjump"/>
            <a:extLst>
              <a:ext uri="{FF2B5EF4-FFF2-40B4-BE49-F238E27FC236}">
                <a16:creationId xmlns:a16="http://schemas.microsoft.com/office/drawing/2014/main" id="{A1EDBD23-871D-FE73-490D-83E923FF007E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040811E0-D2E9-1653-A327-568AAA5DC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2" name="Lille score fina'">
            <a:extLst>
              <a:ext uri="{FF2B5EF4-FFF2-40B4-BE49-F238E27FC236}">
                <a16:creationId xmlns:a16="http://schemas.microsoft.com/office/drawing/2014/main" id="{565C0DD7-A910-B5DB-4127-C3FAD57684D4}"/>
              </a:ext>
            </a:extLst>
          </p:cNvPr>
          <p:cNvSpPr/>
          <p:nvPr/>
        </p:nvSpPr>
        <p:spPr>
          <a:xfrm>
            <a:off x="8340902" y="4843669"/>
            <a:ext cx="1950098" cy="406565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Lille score at 4-7d</a:t>
            </a:r>
          </a:p>
        </p:txBody>
      </p:sp>
      <p:sp>
        <p:nvSpPr>
          <p:cNvPr id="3" name="Prednisolone">
            <a:extLst>
              <a:ext uri="{FF2B5EF4-FFF2-40B4-BE49-F238E27FC236}">
                <a16:creationId xmlns:a16="http://schemas.microsoft.com/office/drawing/2014/main" id="{C61B8E1A-628C-AEC8-676A-7BCCE5537307}"/>
              </a:ext>
            </a:extLst>
          </p:cNvPr>
          <p:cNvSpPr/>
          <p:nvPr/>
        </p:nvSpPr>
        <p:spPr>
          <a:xfrm>
            <a:off x="8340902" y="3566083"/>
            <a:ext cx="1950098" cy="406565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Prednisolone?</a:t>
            </a:r>
          </a:p>
        </p:txBody>
      </p:sp>
      <p:sp>
        <p:nvSpPr>
          <p:cNvPr id="6" name="Clinical features">
            <a:extLst>
              <a:ext uri="{FF2B5EF4-FFF2-40B4-BE49-F238E27FC236}">
                <a16:creationId xmlns:a16="http://schemas.microsoft.com/office/drawing/2014/main" id="{897E7D97-5E71-3FB5-A7F5-89C12FA7CFF1}"/>
              </a:ext>
            </a:extLst>
          </p:cNvPr>
          <p:cNvSpPr/>
          <p:nvPr/>
        </p:nvSpPr>
        <p:spPr>
          <a:xfrm>
            <a:off x="5055915" y="661263"/>
            <a:ext cx="2286000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cs typeface="Calibri"/>
              </a:rPr>
              <a:t>MDF≥32 or MELD≥20</a:t>
            </a:r>
          </a:p>
        </p:txBody>
      </p:sp>
      <p:sp>
        <p:nvSpPr>
          <p:cNvPr id="7" name="MDF">
            <a:extLst>
              <a:ext uri="{FF2B5EF4-FFF2-40B4-BE49-F238E27FC236}">
                <a16:creationId xmlns:a16="http://schemas.microsoft.com/office/drawing/2014/main" id="{28DD3E82-7396-D7AE-6208-57A7DC3DB1A6}"/>
              </a:ext>
            </a:extLst>
          </p:cNvPr>
          <p:cNvSpPr/>
          <p:nvPr/>
        </p:nvSpPr>
        <p:spPr>
          <a:xfrm>
            <a:off x="5055915" y="661263"/>
            <a:ext cx="228600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MDF≥32 or MELD ≥20 </a:t>
            </a:r>
          </a:p>
        </p:txBody>
      </p:sp>
      <p:pic>
        <p:nvPicPr>
          <p:cNvPr id="9" name="Spectrum mouse" descr="Cursor with solid fill">
            <a:extLst>
              <a:ext uri="{FF2B5EF4-FFF2-40B4-BE49-F238E27FC236}">
                <a16:creationId xmlns:a16="http://schemas.microsoft.com/office/drawing/2014/main" id="{0A66043A-16E8-DA6B-6FE8-33998A672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5325" y="948045"/>
            <a:ext cx="270672" cy="270672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8E32407-2E79-FF9F-2E4A-1DAA41B7E215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4682544" y="80680"/>
            <a:ext cx="524308" cy="2508435"/>
          </a:xfrm>
          <a:prstGeom prst="bentConnector3">
            <a:avLst>
              <a:gd name="adj1" fmla="val 4757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3B1E3F-B468-DA06-5471-C2846798C68B}"/>
              </a:ext>
            </a:extLst>
          </p:cNvPr>
          <p:cNvSpPr txBox="1"/>
          <p:nvPr/>
        </p:nvSpPr>
        <p:spPr>
          <a:xfrm>
            <a:off x="2954738" y="1597051"/>
            <a:ext cx="1471483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Lower risk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183AA1-9ED3-307B-EC27-27975B320CB7}"/>
              </a:ext>
            </a:extLst>
          </p:cNvPr>
          <p:cNvSpPr txBox="1"/>
          <p:nvPr/>
        </p:nvSpPr>
        <p:spPr>
          <a:xfrm>
            <a:off x="7173357" y="1575144"/>
            <a:ext cx="2337077" cy="646986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High risk</a:t>
            </a:r>
          </a:p>
          <a:p>
            <a:pPr algn="ctr"/>
            <a:r>
              <a:rPr lang="en-US" sz="1400" dirty="0"/>
              <a:t>Mortality 30-50% at 30 d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8A0828B-1E43-DC18-2999-7340D988D131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7019205" y="252452"/>
            <a:ext cx="502401" cy="2142981"/>
          </a:xfrm>
          <a:prstGeom prst="bentConnector3">
            <a:avLst>
              <a:gd name="adj1" fmla="val 500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849EF8-BF01-EBA7-FB79-1834399182B7}"/>
              </a:ext>
            </a:extLst>
          </p:cNvPr>
          <p:cNvCxnSpPr>
            <a:cxnSpLocks/>
            <a:stCxn id="11" idx="2"/>
            <a:endCxn id="45" idx="0"/>
          </p:cNvCxnSpPr>
          <p:nvPr/>
        </p:nvCxnSpPr>
        <p:spPr>
          <a:xfrm>
            <a:off x="3690480" y="1966383"/>
            <a:ext cx="3260" cy="436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238CB67-C1C0-D198-88C6-2A268AC516D9}"/>
              </a:ext>
            </a:extLst>
          </p:cNvPr>
          <p:cNvSpPr/>
          <p:nvPr/>
        </p:nvSpPr>
        <p:spPr>
          <a:xfrm>
            <a:off x="2475889" y="3566083"/>
            <a:ext cx="2435704" cy="13277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/>
              <a:t>Alcohol cessation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/>
              <a:t>Address nutrition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/>
              <a:t>Manage complications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dirty="0"/>
              <a:t>DC beta-blockers</a:t>
            </a:r>
          </a:p>
        </p:txBody>
      </p:sp>
      <p:sp>
        <p:nvSpPr>
          <p:cNvPr id="18" name="Prednisolone">
            <a:extLst>
              <a:ext uri="{FF2B5EF4-FFF2-40B4-BE49-F238E27FC236}">
                <a16:creationId xmlns:a16="http://schemas.microsoft.com/office/drawing/2014/main" id="{F9DFA287-DC1E-1DA3-684C-36E568C7E7D4}"/>
              </a:ext>
            </a:extLst>
          </p:cNvPr>
          <p:cNvSpPr/>
          <p:nvPr/>
        </p:nvSpPr>
        <p:spPr>
          <a:xfrm>
            <a:off x="8340902" y="3566083"/>
            <a:ext cx="1950098" cy="406565"/>
          </a:xfrm>
          <a:prstGeom prst="roundRect">
            <a:avLst/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Prednisolone?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87DB55-B33A-EE62-EF86-2E1DD2DEAE48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>
            <a:off x="7341915" y="867003"/>
            <a:ext cx="1986677" cy="1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4BFBEE8-F354-ACB8-CCD9-B5DFDA577424}"/>
              </a:ext>
            </a:extLst>
          </p:cNvPr>
          <p:cNvSpPr/>
          <p:nvPr/>
        </p:nvSpPr>
        <p:spPr>
          <a:xfrm>
            <a:off x="9328592" y="546634"/>
            <a:ext cx="2248258" cy="643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MDF uses INR and </a:t>
            </a:r>
            <a:r>
              <a:rPr lang="en-US" sz="1400" dirty="0" err="1"/>
              <a:t>Tbili</a:t>
            </a:r>
            <a:r>
              <a:rPr lang="en-US" sz="1400" dirty="0"/>
              <a:t> to predict short term mortality</a:t>
            </a:r>
          </a:p>
        </p:txBody>
      </p:sp>
      <p:sp>
        <p:nvSpPr>
          <p:cNvPr id="22" name="Exclusion criteria">
            <a:extLst>
              <a:ext uri="{FF2B5EF4-FFF2-40B4-BE49-F238E27FC236}">
                <a16:creationId xmlns:a16="http://schemas.microsoft.com/office/drawing/2014/main" id="{23712BE8-3ED9-D09E-C67D-C9FD7C088213}"/>
              </a:ext>
            </a:extLst>
          </p:cNvPr>
          <p:cNvSpPr/>
          <p:nvPr/>
        </p:nvSpPr>
        <p:spPr>
          <a:xfrm>
            <a:off x="7461198" y="2471223"/>
            <a:ext cx="1761397" cy="35445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Exclusion criteria?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33FF4F6-33F4-40D7-82DC-41FE723381C1}"/>
              </a:ext>
            </a:extLst>
          </p:cNvPr>
          <p:cNvCxnSpPr>
            <a:cxnSpLocks/>
            <a:stCxn id="22" idx="2"/>
            <a:endCxn id="18" idx="0"/>
          </p:cNvCxnSpPr>
          <p:nvPr/>
        </p:nvCxnSpPr>
        <p:spPr>
          <a:xfrm rot="16200000" flipH="1">
            <a:off x="8458723" y="2708855"/>
            <a:ext cx="740402" cy="9740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A11F73-B894-54BE-3AE1-8C239B0A336A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>
            <a:off x="8341896" y="2222130"/>
            <a:ext cx="1" cy="24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6E85C84-03AC-1CF8-C11E-21F377F6017A}"/>
              </a:ext>
            </a:extLst>
          </p:cNvPr>
          <p:cNvSpPr txBox="1"/>
          <p:nvPr/>
        </p:nvSpPr>
        <p:spPr>
          <a:xfrm>
            <a:off x="7169999" y="1196700"/>
            <a:ext cx="365760" cy="276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anchor="ctr">
            <a:spAutoFit/>
          </a:bodyPr>
          <a:lstStyle/>
          <a:p>
            <a:pPr algn="ctr"/>
            <a:r>
              <a:rPr lang="en-US" sz="1200" dirty="0"/>
              <a:t>yes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C1FE61-5B91-A4CD-E892-74EFD585A7E5}"/>
              </a:ext>
            </a:extLst>
          </p:cNvPr>
          <p:cNvSpPr txBox="1"/>
          <p:nvPr/>
        </p:nvSpPr>
        <p:spPr>
          <a:xfrm>
            <a:off x="4728255" y="1196700"/>
            <a:ext cx="365760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45720" rIns="45720" anchor="ctr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1C3AB56-4271-E084-08B8-7E99A6AEBB47}"/>
              </a:ext>
            </a:extLst>
          </p:cNvPr>
          <p:cNvCxnSpPr>
            <a:cxnSpLocks/>
            <a:stCxn id="22" idx="2"/>
            <a:endCxn id="16" idx="0"/>
          </p:cNvCxnSpPr>
          <p:nvPr/>
        </p:nvCxnSpPr>
        <p:spPr>
          <a:xfrm rot="5400000">
            <a:off x="5647618" y="871804"/>
            <a:ext cx="740402" cy="46481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1E2ED39-CF79-1933-07D9-469E63788274}"/>
              </a:ext>
            </a:extLst>
          </p:cNvPr>
          <p:cNvSpPr txBox="1"/>
          <p:nvPr/>
        </p:nvSpPr>
        <p:spPr>
          <a:xfrm>
            <a:off x="8610728" y="3118720"/>
            <a:ext cx="365760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45720" rIns="45720" anchor="ctr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18D7456-D4D0-6AFC-26DC-91F5A8561426}"/>
              </a:ext>
            </a:extLst>
          </p:cNvPr>
          <p:cNvCxnSpPr>
            <a:cxnSpLocks/>
          </p:cNvCxnSpPr>
          <p:nvPr/>
        </p:nvCxnSpPr>
        <p:spPr>
          <a:xfrm>
            <a:off x="9299491" y="4613859"/>
            <a:ext cx="8231" cy="239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Lille score">
            <a:extLst>
              <a:ext uri="{FF2B5EF4-FFF2-40B4-BE49-F238E27FC236}">
                <a16:creationId xmlns:a16="http://schemas.microsoft.com/office/drawing/2014/main" id="{18D5FAD2-D001-FA48-EA9E-18405F2376BF}"/>
              </a:ext>
            </a:extLst>
          </p:cNvPr>
          <p:cNvSpPr/>
          <p:nvPr/>
        </p:nvSpPr>
        <p:spPr>
          <a:xfrm>
            <a:off x="8340904" y="4841033"/>
            <a:ext cx="1950098" cy="406565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Lille score at 4-7d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8714FB9-B0F5-0E39-9410-D3914EE90648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 rot="16200000" flipH="1">
            <a:off x="9703700" y="4859850"/>
            <a:ext cx="505014" cy="1280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AA73C06-BB93-D99F-B91B-0EB7F80B74D8}"/>
              </a:ext>
            </a:extLst>
          </p:cNvPr>
          <p:cNvSpPr/>
          <p:nvPr/>
        </p:nvSpPr>
        <p:spPr>
          <a:xfrm>
            <a:off x="9736490" y="5752612"/>
            <a:ext cx="1719944" cy="9132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 steroids</a:t>
            </a:r>
          </a:p>
          <a:p>
            <a:pPr algn="ctr"/>
            <a:r>
              <a:rPr lang="en-US" dirty="0"/>
              <a:t>Palliative care</a:t>
            </a:r>
          </a:p>
          <a:p>
            <a:pPr algn="ctr"/>
            <a:r>
              <a:rPr lang="en-US" dirty="0"/>
              <a:t>Liver transplant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A8F6732-F3D4-3C59-11CE-FC8F317811A4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 rot="5400000">
            <a:off x="8187608" y="4763027"/>
            <a:ext cx="643774" cy="1612916"/>
          </a:xfrm>
          <a:prstGeom prst="bentConnector3">
            <a:avLst>
              <a:gd name="adj1" fmla="val 3975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518EF3D-A133-2ED8-6FE2-D3348281A9D4}"/>
              </a:ext>
            </a:extLst>
          </p:cNvPr>
          <p:cNvSpPr/>
          <p:nvPr/>
        </p:nvSpPr>
        <p:spPr>
          <a:xfrm>
            <a:off x="6577337" y="5891372"/>
            <a:ext cx="2251400" cy="4039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Complete 28 d course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8DC1BB-E4C4-4562-93AB-E898D59F3EC5}"/>
              </a:ext>
            </a:extLst>
          </p:cNvPr>
          <p:cNvSpPr txBox="1"/>
          <p:nvPr/>
        </p:nvSpPr>
        <p:spPr>
          <a:xfrm>
            <a:off x="8258056" y="5349587"/>
            <a:ext cx="50292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/>
          <a:p>
            <a:pPr algn="ctr"/>
            <a:r>
              <a:rPr lang="en-US" sz="1200" dirty="0"/>
              <a:t>&lt;0.45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46F788-E6BF-5D99-0F78-B5C7709EA15F}"/>
              </a:ext>
            </a:extLst>
          </p:cNvPr>
          <p:cNvSpPr txBox="1"/>
          <p:nvPr/>
        </p:nvSpPr>
        <p:spPr>
          <a:xfrm>
            <a:off x="9630685" y="5349587"/>
            <a:ext cx="50292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/>
          <a:p>
            <a:pPr algn="ctr"/>
            <a:r>
              <a:rPr lang="en-US" sz="1200" dirty="0"/>
              <a:t>&gt;0.45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CB08A0-1DF6-BE45-6E42-7E8F3571A797}"/>
              </a:ext>
            </a:extLst>
          </p:cNvPr>
          <p:cNvSpPr txBox="1"/>
          <p:nvPr/>
        </p:nvSpPr>
        <p:spPr>
          <a:xfrm>
            <a:off x="9736490" y="2067561"/>
            <a:ext cx="2248258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/>
              <a:t>AKI with Cr &gt;2.5 mg/dL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/>
              <a:t>Uncontrolled GIB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/>
              <a:t>Multiorgan failure/ shock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/>
              <a:t>Alternative cause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/>
              <a:t>Evidence of infection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3861BA9-5C2E-0654-6DBF-ED0889B11872}"/>
              </a:ext>
            </a:extLst>
          </p:cNvPr>
          <p:cNvCxnSpPr>
            <a:cxnSpLocks/>
            <a:stCxn id="22" idx="3"/>
            <a:endCxn id="40" idx="1"/>
          </p:cNvCxnSpPr>
          <p:nvPr/>
        </p:nvCxnSpPr>
        <p:spPr>
          <a:xfrm>
            <a:off x="9222595" y="2648452"/>
            <a:ext cx="513895" cy="38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Spectrum mouse" descr="Cursor with solid fill">
            <a:extLst>
              <a:ext uri="{FF2B5EF4-FFF2-40B4-BE49-F238E27FC236}">
                <a16:creationId xmlns:a16="http://schemas.microsoft.com/office/drawing/2014/main" id="{8A6CE8F1-8526-0A82-6FD5-C9F3DE0D4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8262" y="3852038"/>
            <a:ext cx="270672" cy="270672"/>
          </a:xfrm>
          <a:prstGeom prst="rect">
            <a:avLst/>
          </a:prstGeom>
        </p:spPr>
      </p:pic>
      <p:sp>
        <p:nvSpPr>
          <p:cNvPr id="43" name="High risk">
            <a:extLst>
              <a:ext uri="{FF2B5EF4-FFF2-40B4-BE49-F238E27FC236}">
                <a16:creationId xmlns:a16="http://schemas.microsoft.com/office/drawing/2014/main" id="{1D7B2DEC-6E3D-7695-710A-30E9B1FDF4C4}"/>
              </a:ext>
            </a:extLst>
          </p:cNvPr>
          <p:cNvSpPr txBox="1"/>
          <p:nvPr/>
        </p:nvSpPr>
        <p:spPr>
          <a:xfrm>
            <a:off x="7188049" y="1575144"/>
            <a:ext cx="2337077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Mortality 30-50% at 30 d</a:t>
            </a:r>
          </a:p>
        </p:txBody>
      </p:sp>
      <p:pic>
        <p:nvPicPr>
          <p:cNvPr id="44" name="Spectrum mouse" descr="Cursor with solid fill">
            <a:extLst>
              <a:ext uri="{FF2B5EF4-FFF2-40B4-BE49-F238E27FC236}">
                <a16:creationId xmlns:a16="http://schemas.microsoft.com/office/drawing/2014/main" id="{C1AD576D-20F5-08F4-C0BC-9F2BAF4C9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2606" y="2076005"/>
            <a:ext cx="270672" cy="27067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2EA35DD-87F2-537F-EFED-074F1CDA1B6E}"/>
              </a:ext>
            </a:extLst>
          </p:cNvPr>
          <p:cNvSpPr txBox="1"/>
          <p:nvPr/>
        </p:nvSpPr>
        <p:spPr>
          <a:xfrm>
            <a:off x="2524175" y="2403265"/>
            <a:ext cx="233912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Hospital admission depending on severity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BFC0D4-34F6-C12B-EEB7-E4294395EADE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>
            <a:off x="3693740" y="3049596"/>
            <a:ext cx="1" cy="516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Lower risk">
            <a:extLst>
              <a:ext uri="{FF2B5EF4-FFF2-40B4-BE49-F238E27FC236}">
                <a16:creationId xmlns:a16="http://schemas.microsoft.com/office/drawing/2014/main" id="{9292375C-9B35-31E1-F745-0891D4712EDA}"/>
              </a:ext>
            </a:extLst>
          </p:cNvPr>
          <p:cNvSpPr txBox="1"/>
          <p:nvPr/>
        </p:nvSpPr>
        <p:spPr>
          <a:xfrm>
            <a:off x="2954738" y="1577406"/>
            <a:ext cx="147148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Lower risk</a:t>
            </a:r>
          </a:p>
        </p:txBody>
      </p:sp>
      <p:pic>
        <p:nvPicPr>
          <p:cNvPr id="48" name="Spectrum mouse" descr="Cursor with solid fill">
            <a:extLst>
              <a:ext uri="{FF2B5EF4-FFF2-40B4-BE49-F238E27FC236}">
                <a16:creationId xmlns:a16="http://schemas.microsoft.com/office/drawing/2014/main" id="{18F8DC63-F96E-E05B-44E9-27B01D0E0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2760" y="1879936"/>
            <a:ext cx="270672" cy="270672"/>
          </a:xfrm>
          <a:prstGeom prst="rect">
            <a:avLst/>
          </a:prstGeom>
        </p:spPr>
      </p:pic>
      <p:sp>
        <p:nvSpPr>
          <p:cNvPr id="49" name="Steroid variabiliy text">
            <a:extLst>
              <a:ext uri="{FF2B5EF4-FFF2-40B4-BE49-F238E27FC236}">
                <a16:creationId xmlns:a16="http://schemas.microsoft.com/office/drawing/2014/main" id="{87C49DCF-F617-1765-8D5D-3F7A223B5AE1}"/>
              </a:ext>
            </a:extLst>
          </p:cNvPr>
          <p:cNvSpPr txBox="1"/>
          <p:nvPr/>
        </p:nvSpPr>
        <p:spPr>
          <a:xfrm>
            <a:off x="7576894" y="4017077"/>
            <a:ext cx="346165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dirty="0"/>
              <a:t>Controversial &amp; institution dependent</a:t>
            </a:r>
          </a:p>
          <a:p>
            <a:pPr algn="ctr"/>
            <a:r>
              <a:rPr lang="en-US" sz="1600" dirty="0"/>
              <a:t>No mortality benefit after 28 d</a:t>
            </a:r>
          </a:p>
        </p:txBody>
      </p:sp>
      <p:pic>
        <p:nvPicPr>
          <p:cNvPr id="50" name="Spectrum mouse" descr="Cursor with solid fill">
            <a:extLst>
              <a:ext uri="{FF2B5EF4-FFF2-40B4-BE49-F238E27FC236}">
                <a16:creationId xmlns:a16="http://schemas.microsoft.com/office/drawing/2014/main" id="{58EC0ACA-4181-3632-0631-42B6DC409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8262" y="5114827"/>
            <a:ext cx="270672" cy="27067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0CDF4C3F-2D5D-708B-EED5-4F278FEBA246}"/>
              </a:ext>
            </a:extLst>
          </p:cNvPr>
          <p:cNvSpPr txBox="1"/>
          <p:nvPr/>
        </p:nvSpPr>
        <p:spPr>
          <a:xfrm>
            <a:off x="7406320" y="3118720"/>
            <a:ext cx="365760" cy="276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anchor="ctr">
            <a:spAutoFit/>
          </a:bodyPr>
          <a:lstStyle/>
          <a:p>
            <a:pPr algn="ctr"/>
            <a:r>
              <a:rPr lang="en-US" sz="12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410278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11" grpId="0" animBg="1"/>
      <p:bldP spid="13" grpId="0" animBg="1"/>
      <p:bldP spid="16" grpId="0" animBg="1"/>
      <p:bldP spid="16" grpId="1" animBg="1"/>
      <p:bldP spid="18" grpId="0" animBg="1"/>
      <p:bldP spid="18" grpId="1" animBg="1"/>
      <p:bldP spid="21" grpId="0" animBg="1"/>
      <p:bldP spid="22" grpId="0" animBg="1"/>
      <p:bldP spid="27" grpId="0" animBg="1"/>
      <p:bldP spid="28" grpId="0" animBg="1"/>
      <p:bldP spid="31" grpId="0" animBg="1"/>
      <p:bldP spid="33" grpId="0" animBg="1"/>
      <p:bldP spid="33" grpId="1" animBg="1"/>
      <p:bldP spid="33" grpId="2" animBg="1"/>
      <p:bldP spid="35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3" grpId="1" animBg="1"/>
      <p:bldP spid="45" grpId="0" animBg="1"/>
      <p:bldP spid="47" grpId="0" animBg="1"/>
      <p:bldP spid="47" grpId="1" animBg="1"/>
      <p:bldP spid="47" grpId="2" animBg="1"/>
      <p:bldP spid="49" grpId="0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1 A">
            <a:extLst>
              <a:ext uri="{FF2B5EF4-FFF2-40B4-BE49-F238E27FC236}">
                <a16:creationId xmlns:a16="http://schemas.microsoft.com/office/drawing/2014/main" id="{DBC25247-2381-1A28-75D5-D051642E2E20}"/>
              </a:ext>
            </a:extLst>
          </p:cNvPr>
          <p:cNvSpPr/>
          <p:nvPr/>
        </p:nvSpPr>
        <p:spPr>
          <a:xfrm>
            <a:off x="471697" y="3936226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Elevated LFTs likely from heavy alcohol use. LFTs and hepatomegaly may normalize with abstinence.</a:t>
            </a:r>
          </a:p>
        </p:txBody>
      </p:sp>
      <p:sp>
        <p:nvSpPr>
          <p:cNvPr id="52" name="A1 D">
            <a:extLst>
              <a:ext uri="{FF2B5EF4-FFF2-40B4-BE49-F238E27FC236}">
                <a16:creationId xmlns:a16="http://schemas.microsoft.com/office/drawing/2014/main" id="{10F527B9-4D8A-36DF-05E3-59BE6CAC4833}"/>
              </a:ext>
            </a:extLst>
          </p:cNvPr>
          <p:cNvSpPr/>
          <p:nvPr/>
        </p:nvSpPr>
        <p:spPr>
          <a:xfrm>
            <a:off x="3523058" y="490245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Referral may not be necessary at this time (though practice can be institution/provider dependent).</a:t>
            </a:r>
          </a:p>
        </p:txBody>
      </p:sp>
      <p:sp>
        <p:nvSpPr>
          <p:cNvPr id="49" name="A1 C">
            <a:extLst>
              <a:ext uri="{FF2B5EF4-FFF2-40B4-BE49-F238E27FC236}">
                <a16:creationId xmlns:a16="http://schemas.microsoft.com/office/drawing/2014/main" id="{CE8688E2-53D1-CF1D-5718-796D1CB9F3E1}"/>
              </a:ext>
            </a:extLst>
          </p:cNvPr>
          <p:cNvSpPr/>
          <p:nvPr/>
        </p:nvSpPr>
        <p:spPr>
          <a:xfrm>
            <a:off x="471697" y="490245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6"/>
                </a:solidFill>
              </a:rPr>
              <a:t>He has alcohol use disorder. Counsel on alcohol cessation. Offer meds to help with abstinence.</a:t>
            </a:r>
          </a:p>
        </p:txBody>
      </p:sp>
      <p:sp>
        <p:nvSpPr>
          <p:cNvPr id="51" name="A1 B">
            <a:extLst>
              <a:ext uri="{FF2B5EF4-FFF2-40B4-BE49-F238E27FC236}">
                <a16:creationId xmlns:a16="http://schemas.microsoft.com/office/drawing/2014/main" id="{F381D238-6B4E-7F37-71DD-AF32EC1352A9}"/>
              </a:ext>
            </a:extLst>
          </p:cNvPr>
          <p:cNvSpPr/>
          <p:nvPr/>
        </p:nvSpPr>
        <p:spPr>
          <a:xfrm>
            <a:off x="3523058" y="3936226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6"/>
                </a:solidFill>
              </a:rPr>
              <a:t>Repeat labs at 3-6 months after a period of abstinence.  </a:t>
            </a:r>
          </a:p>
        </p:txBody>
      </p:sp>
      <p:sp>
        <p:nvSpPr>
          <p:cNvPr id="18" name="Case 1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3116423" y="191238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1a</a:t>
            </a:r>
          </a:p>
        </p:txBody>
      </p: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1826865" y="700563"/>
            <a:ext cx="474517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60-year-old M with history of HTN presents for an annual wellness visit. His only medication is lisinopril 10mg. He drinks a 6-pack of beers every night. He is a never smoker and has no history of drug use.</a:t>
            </a:r>
          </a:p>
          <a:p>
            <a:r>
              <a:rPr lang="en-US" sz="600" dirty="0"/>
              <a:t> </a:t>
            </a:r>
          </a:p>
          <a:p>
            <a:r>
              <a:rPr lang="en-US" sz="1400" u="sng" dirty="0"/>
              <a:t>Exam</a:t>
            </a:r>
            <a:r>
              <a:rPr lang="en-US" sz="1400" dirty="0"/>
              <a:t>: BP 129/78, P 75, SpO2 94%, BMI 28. Physical exam is notable for hepatomegaly.</a:t>
            </a:r>
          </a:p>
          <a:p>
            <a:endParaRPr lang="en-US" sz="600" dirty="0"/>
          </a:p>
          <a:p>
            <a:r>
              <a:rPr lang="en-US" sz="1400" u="sng" dirty="0"/>
              <a:t>Labs</a:t>
            </a:r>
            <a:r>
              <a:rPr lang="en-US" sz="1400" dirty="0"/>
              <a:t>: 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WBC 8, Hgb 14, </a:t>
            </a:r>
            <a:r>
              <a:rPr lang="en-US" sz="1400" dirty="0" err="1"/>
              <a:t>plts</a:t>
            </a:r>
            <a:r>
              <a:rPr lang="en-US" sz="1400" dirty="0"/>
              <a:t> 208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AST 80, ALT 55, ALP 110, </a:t>
            </a:r>
            <a:r>
              <a:rPr lang="en-US" sz="1400" dirty="0" err="1"/>
              <a:t>Tbili</a:t>
            </a:r>
            <a:r>
              <a:rPr lang="en-US" sz="1400" dirty="0"/>
              <a:t> 0.9, and INR 1.1.  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Negative HCV antibody within the past year. </a:t>
            </a:r>
          </a:p>
        </p:txBody>
      </p:sp>
      <p:sp>
        <p:nvSpPr>
          <p:cNvPr id="4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20D3E50F-DDE4-80ED-3D84-48BAF5BE2F1F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Spectrum</a:t>
            </a:r>
          </a:p>
        </p:txBody>
      </p:sp>
      <p:sp>
        <p:nvSpPr>
          <p:cNvPr id="17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CBA4CFBF-0CC1-ED71-91D2-8E93BA6AEA22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EA654BB2-FA38-9155-B23F-633DD96897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2CAFB1F7-F62E-D06E-D486-0F1573CE6C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21" name="Obj 3">
            <a:hlinkClick r:id="rId8" action="ppaction://hlinksldjump"/>
            <a:extLst>
              <a:ext uri="{FF2B5EF4-FFF2-40B4-BE49-F238E27FC236}">
                <a16:creationId xmlns:a16="http://schemas.microsoft.com/office/drawing/2014/main" id="{7F106496-F804-DB1A-41FC-6B89555FC2A8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B8DB689A-AE97-C7F5-057F-78A59FD916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3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83ADEC45-159D-1C0E-77E9-22791ECB042B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ETOH hep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B8E6B65C-C189-A4E6-1FF3-42339A8A45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5" name="Cases">
            <a:hlinkClick r:id="" action="ppaction://noaction"/>
            <a:extLst>
              <a:ext uri="{FF2B5EF4-FFF2-40B4-BE49-F238E27FC236}">
                <a16:creationId xmlns:a16="http://schemas.microsoft.com/office/drawing/2014/main" id="{FC50A6A9-CF6B-590D-3ECE-56DAC9DF0601}"/>
              </a:ext>
            </a:extLst>
          </p:cNvPr>
          <p:cNvSpPr/>
          <p:nvPr/>
        </p:nvSpPr>
        <p:spPr>
          <a:xfrm>
            <a:off x="167950" y="2252049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27" name="Obj 3b">
            <a:extLst>
              <a:ext uri="{FF2B5EF4-FFF2-40B4-BE49-F238E27FC236}">
                <a16:creationId xmlns:a16="http://schemas.microsoft.com/office/drawing/2014/main" id="{0CE5E9EF-2555-9E35-C9F8-CF63DD1AEF82}"/>
              </a:ext>
            </a:extLst>
          </p:cNvPr>
          <p:cNvSpPr/>
          <p:nvPr/>
        </p:nvSpPr>
        <p:spPr>
          <a:xfrm>
            <a:off x="448880" y="2785363"/>
            <a:ext cx="119330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5131BBB-F30B-2E13-A312-FA9803158CA7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173929" y="2694402"/>
            <a:ext cx="369510" cy="18039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bj 3b">
            <a:hlinkClick r:id="rId10" action="ppaction://hlinksldjump"/>
            <a:extLst>
              <a:ext uri="{FF2B5EF4-FFF2-40B4-BE49-F238E27FC236}">
                <a16:creationId xmlns:a16="http://schemas.microsoft.com/office/drawing/2014/main" id="{CE7E2B01-C31C-A9BD-B7BE-95905C94E006}"/>
              </a:ext>
            </a:extLst>
          </p:cNvPr>
          <p:cNvSpPr/>
          <p:nvPr/>
        </p:nvSpPr>
        <p:spPr>
          <a:xfrm>
            <a:off x="447515" y="3324784"/>
            <a:ext cx="117611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7D4E1A2-24FB-C9D7-21B4-951AF9AA8F24}"/>
              </a:ext>
            </a:extLst>
          </p:cNvPr>
          <p:cNvCxnSpPr>
            <a:cxnSpLocks/>
            <a:endCxn id="29" idx="1"/>
          </p:cNvCxnSpPr>
          <p:nvPr/>
        </p:nvCxnSpPr>
        <p:spPr>
          <a:xfrm rot="16200000" flipH="1">
            <a:off x="52591" y="3113850"/>
            <a:ext cx="606532" cy="18331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DD577547-124A-44DC-7257-4EC6733EE8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0316" y="455251"/>
            <a:ext cx="270672" cy="270672"/>
          </a:xfrm>
          <a:prstGeom prst="rect">
            <a:avLst/>
          </a:prstGeom>
        </p:spPr>
      </p:pic>
      <p:sp>
        <p:nvSpPr>
          <p:cNvPr id="36" name="Case 1 Question 1">
            <a:extLst>
              <a:ext uri="{FF2B5EF4-FFF2-40B4-BE49-F238E27FC236}">
                <a16:creationId xmlns:a16="http://schemas.microsoft.com/office/drawing/2014/main" id="{240C0696-6D9E-4FD6-2FCC-AC990B5ABFDB}"/>
              </a:ext>
            </a:extLst>
          </p:cNvPr>
          <p:cNvSpPr/>
          <p:nvPr/>
        </p:nvSpPr>
        <p:spPr>
          <a:xfrm>
            <a:off x="1806940" y="3169882"/>
            <a:ext cx="4629763" cy="585907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are the next best steps for evaluation/management of his abnormal LFTs?</a:t>
            </a:r>
          </a:p>
        </p:txBody>
      </p:sp>
      <p:sp>
        <p:nvSpPr>
          <p:cNvPr id="41" name="Q1 C">
            <a:extLst>
              <a:ext uri="{FF2B5EF4-FFF2-40B4-BE49-F238E27FC236}">
                <a16:creationId xmlns:a16="http://schemas.microsoft.com/office/drawing/2014/main" id="{DAB7DDF2-F4FF-CA2C-30AD-2B6FD7EF0B4F}"/>
              </a:ext>
            </a:extLst>
          </p:cNvPr>
          <p:cNvSpPr/>
          <p:nvPr/>
        </p:nvSpPr>
        <p:spPr>
          <a:xfrm>
            <a:off x="471697" y="490245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C) </a:t>
            </a:r>
            <a:r>
              <a:rPr lang="en-US" sz="1400" dirty="0">
                <a:solidFill>
                  <a:schemeClr val="tx1"/>
                </a:solidFill>
              </a:rPr>
              <a:t>Discuss alcohol cessation</a:t>
            </a:r>
          </a:p>
        </p:txBody>
      </p:sp>
      <p:sp>
        <p:nvSpPr>
          <p:cNvPr id="43" name="Q1 A">
            <a:extLst>
              <a:ext uri="{FF2B5EF4-FFF2-40B4-BE49-F238E27FC236}">
                <a16:creationId xmlns:a16="http://schemas.microsoft.com/office/drawing/2014/main" id="{032025B2-26A8-DFBC-DB29-92BE7FCCB62B}"/>
              </a:ext>
            </a:extLst>
          </p:cNvPr>
          <p:cNvSpPr/>
          <p:nvPr/>
        </p:nvSpPr>
        <p:spPr>
          <a:xfrm>
            <a:off x="471697" y="3936226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A) </a:t>
            </a:r>
            <a:r>
              <a:rPr lang="en-US" sz="1400" dirty="0">
                <a:solidFill>
                  <a:schemeClr val="tx1"/>
                </a:solidFill>
              </a:rPr>
              <a:t>RUQ US</a:t>
            </a:r>
          </a:p>
        </p:txBody>
      </p:sp>
      <p:sp>
        <p:nvSpPr>
          <p:cNvPr id="45" name="Q1 B">
            <a:extLst>
              <a:ext uri="{FF2B5EF4-FFF2-40B4-BE49-F238E27FC236}">
                <a16:creationId xmlns:a16="http://schemas.microsoft.com/office/drawing/2014/main" id="{56A11193-55B3-C540-BFED-7B6DA16F4677}"/>
              </a:ext>
            </a:extLst>
          </p:cNvPr>
          <p:cNvSpPr/>
          <p:nvPr/>
        </p:nvSpPr>
        <p:spPr>
          <a:xfrm>
            <a:off x="3523058" y="3936226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B) </a:t>
            </a:r>
            <a:r>
              <a:rPr lang="en-US" sz="1400" dirty="0">
                <a:solidFill>
                  <a:schemeClr val="tx1"/>
                </a:solidFill>
              </a:rPr>
              <a:t>Repeat labs in 3-6 months</a:t>
            </a:r>
          </a:p>
        </p:txBody>
      </p:sp>
      <p:sp>
        <p:nvSpPr>
          <p:cNvPr id="46" name="Q1 D">
            <a:extLst>
              <a:ext uri="{FF2B5EF4-FFF2-40B4-BE49-F238E27FC236}">
                <a16:creationId xmlns:a16="http://schemas.microsoft.com/office/drawing/2014/main" id="{23341CC8-90DF-E718-8A3A-0411FCF6E68F}"/>
              </a:ext>
            </a:extLst>
          </p:cNvPr>
          <p:cNvSpPr/>
          <p:nvPr/>
        </p:nvSpPr>
        <p:spPr>
          <a:xfrm>
            <a:off x="3523058" y="490245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D) </a:t>
            </a:r>
            <a:r>
              <a:rPr lang="en-US" sz="1400" dirty="0">
                <a:solidFill>
                  <a:schemeClr val="tx1"/>
                </a:solidFill>
              </a:rPr>
              <a:t>Refer to Hepatology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ED645726-5100-2A3E-FE5B-1EA8DB45EC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7464" y="4616598"/>
            <a:ext cx="270672" cy="270672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E60E1C4D-633C-DF0E-2B79-FB7BC63CE9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7464" y="5586568"/>
            <a:ext cx="270672" cy="270672"/>
          </a:xfrm>
          <a:prstGeom prst="rect">
            <a:avLst/>
          </a:prstGeom>
        </p:spPr>
      </p:pic>
      <p:pic>
        <p:nvPicPr>
          <p:cNvPr id="95" name="Graphic 94" descr="Cursor with solid fill">
            <a:extLst>
              <a:ext uri="{FF2B5EF4-FFF2-40B4-BE49-F238E27FC236}">
                <a16:creationId xmlns:a16="http://schemas.microsoft.com/office/drawing/2014/main" id="{2EF7297A-2A34-E6EE-1098-BA2F09CD9F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8620" y="5586568"/>
            <a:ext cx="270672" cy="270672"/>
          </a:xfrm>
          <a:prstGeom prst="rect">
            <a:avLst/>
          </a:prstGeom>
        </p:spPr>
      </p:pic>
      <p:sp>
        <p:nvSpPr>
          <p:cNvPr id="100" name="Case 1b stem">
            <a:extLst>
              <a:ext uri="{FF2B5EF4-FFF2-40B4-BE49-F238E27FC236}">
                <a16:creationId xmlns:a16="http://schemas.microsoft.com/office/drawing/2014/main" id="{A283A97D-3EDF-7A57-6A22-C5020095EB45}"/>
              </a:ext>
            </a:extLst>
          </p:cNvPr>
          <p:cNvSpPr txBox="1"/>
          <p:nvPr/>
        </p:nvSpPr>
        <p:spPr>
          <a:xfrm>
            <a:off x="6790400" y="721907"/>
            <a:ext cx="5233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 is abstinent for 3 months and returns to see you in clinic.</a:t>
            </a:r>
          </a:p>
          <a:p>
            <a:r>
              <a:rPr lang="en-US" sz="1400" u="sng" dirty="0"/>
              <a:t>Labs</a:t>
            </a:r>
            <a:r>
              <a:rPr lang="en-US" sz="1400" dirty="0"/>
              <a:t>: 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WBC 8, Hgb 14, </a:t>
            </a:r>
            <a:r>
              <a:rPr lang="en-US" sz="1400" dirty="0" err="1"/>
              <a:t>plts</a:t>
            </a:r>
            <a:r>
              <a:rPr lang="en-US" sz="1400" dirty="0"/>
              <a:t> 108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AST 87, ALT 65, ALP 118, </a:t>
            </a:r>
            <a:r>
              <a:rPr lang="en-US" sz="1400" dirty="0" err="1"/>
              <a:t>Tbili</a:t>
            </a:r>
            <a:r>
              <a:rPr lang="en-US" sz="1400" dirty="0"/>
              <a:t> 0.9, and INR 1.5. </a:t>
            </a:r>
          </a:p>
        </p:txBody>
      </p:sp>
      <p:sp>
        <p:nvSpPr>
          <p:cNvPr id="101" name="Case 1b">
            <a:extLst>
              <a:ext uri="{FF2B5EF4-FFF2-40B4-BE49-F238E27FC236}">
                <a16:creationId xmlns:a16="http://schemas.microsoft.com/office/drawing/2014/main" id="{A05EB782-451F-9575-4F5D-C5695CCC0E80}"/>
              </a:ext>
            </a:extLst>
          </p:cNvPr>
          <p:cNvSpPr/>
          <p:nvPr/>
        </p:nvSpPr>
        <p:spPr>
          <a:xfrm>
            <a:off x="8890898" y="191238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1b</a:t>
            </a:r>
          </a:p>
        </p:txBody>
      </p:sp>
      <p:pic>
        <p:nvPicPr>
          <p:cNvPr id="102" name="Graphic 101" descr="Cursor with solid fill">
            <a:extLst>
              <a:ext uri="{FF2B5EF4-FFF2-40B4-BE49-F238E27FC236}">
                <a16:creationId xmlns:a16="http://schemas.microsoft.com/office/drawing/2014/main" id="{E8ACA6F2-776E-DC3F-A408-054CF8351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4791" y="455251"/>
            <a:ext cx="270672" cy="270672"/>
          </a:xfrm>
          <a:prstGeom prst="rect">
            <a:avLst/>
          </a:prstGeom>
        </p:spPr>
      </p:pic>
      <p:sp>
        <p:nvSpPr>
          <p:cNvPr id="103" name="A1 A">
            <a:extLst>
              <a:ext uri="{FF2B5EF4-FFF2-40B4-BE49-F238E27FC236}">
                <a16:creationId xmlns:a16="http://schemas.microsoft.com/office/drawing/2014/main" id="{41168D52-049B-E4EF-8E53-866352465D60}"/>
              </a:ext>
            </a:extLst>
          </p:cNvPr>
          <p:cNvSpPr/>
          <p:nvPr/>
        </p:nvSpPr>
        <p:spPr>
          <a:xfrm>
            <a:off x="6804281" y="2297683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6"/>
                </a:solidFill>
              </a:rPr>
              <a:t>US assesses degree of liver disease and complications.</a:t>
            </a:r>
          </a:p>
        </p:txBody>
      </p:sp>
      <p:sp>
        <p:nvSpPr>
          <p:cNvPr id="104" name="A1 D">
            <a:extLst>
              <a:ext uri="{FF2B5EF4-FFF2-40B4-BE49-F238E27FC236}">
                <a16:creationId xmlns:a16="http://schemas.microsoft.com/office/drawing/2014/main" id="{0504EAC9-0C12-EC80-1499-BD352461B21E}"/>
              </a:ext>
            </a:extLst>
          </p:cNvPr>
          <p:cNvSpPr/>
          <p:nvPr/>
        </p:nvSpPr>
        <p:spPr>
          <a:xfrm>
            <a:off x="9466026" y="3295070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Referral is not necessary at this time.  </a:t>
            </a:r>
          </a:p>
        </p:txBody>
      </p:sp>
      <p:sp>
        <p:nvSpPr>
          <p:cNvPr id="105" name="A1 C">
            <a:extLst>
              <a:ext uri="{FF2B5EF4-FFF2-40B4-BE49-F238E27FC236}">
                <a16:creationId xmlns:a16="http://schemas.microsoft.com/office/drawing/2014/main" id="{BE1D79D5-1485-42B9-7592-A1060D070BC9}"/>
              </a:ext>
            </a:extLst>
          </p:cNvPr>
          <p:cNvSpPr/>
          <p:nvPr/>
        </p:nvSpPr>
        <p:spPr>
          <a:xfrm>
            <a:off x="6804281" y="3295070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6"/>
                </a:solidFill>
              </a:rPr>
              <a:t>APRI can help screen for cirrhosis in ETOH-related liver disease.</a:t>
            </a:r>
          </a:p>
        </p:txBody>
      </p:sp>
      <p:sp>
        <p:nvSpPr>
          <p:cNvPr id="106" name="A1 B">
            <a:extLst>
              <a:ext uri="{FF2B5EF4-FFF2-40B4-BE49-F238E27FC236}">
                <a16:creationId xmlns:a16="http://schemas.microsoft.com/office/drawing/2014/main" id="{A339E1B1-B4FB-98C9-59A3-D19A2199201F}"/>
              </a:ext>
            </a:extLst>
          </p:cNvPr>
          <p:cNvSpPr/>
          <p:nvPr/>
        </p:nvSpPr>
        <p:spPr>
          <a:xfrm>
            <a:off x="9466026" y="2297683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Further evaluation is needed beyond lab monitoring given ↑ APRI and ↑ INR. </a:t>
            </a:r>
          </a:p>
        </p:txBody>
      </p:sp>
      <p:sp>
        <p:nvSpPr>
          <p:cNvPr id="107" name="Case 1b Question 2">
            <a:extLst>
              <a:ext uri="{FF2B5EF4-FFF2-40B4-BE49-F238E27FC236}">
                <a16:creationId xmlns:a16="http://schemas.microsoft.com/office/drawing/2014/main" id="{3C05C1B0-78A7-A0FF-CBC8-0CA2D9B48B3B}"/>
              </a:ext>
            </a:extLst>
          </p:cNvPr>
          <p:cNvSpPr/>
          <p:nvPr/>
        </p:nvSpPr>
        <p:spPr>
          <a:xfrm>
            <a:off x="6833704" y="1699838"/>
            <a:ext cx="5170936" cy="41148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are the next best steps for evaluation of his abnormal LFTs?</a:t>
            </a:r>
          </a:p>
        </p:txBody>
      </p:sp>
      <p:sp>
        <p:nvSpPr>
          <p:cNvPr id="109" name="Q2 C">
            <a:extLst>
              <a:ext uri="{FF2B5EF4-FFF2-40B4-BE49-F238E27FC236}">
                <a16:creationId xmlns:a16="http://schemas.microsoft.com/office/drawing/2014/main" id="{6215EFD2-F806-5318-4EC4-83679E045FA2}"/>
              </a:ext>
            </a:extLst>
          </p:cNvPr>
          <p:cNvSpPr/>
          <p:nvPr/>
        </p:nvSpPr>
        <p:spPr>
          <a:xfrm>
            <a:off x="6800089" y="3295070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C) </a:t>
            </a:r>
            <a:r>
              <a:rPr lang="en-US" sz="1400" dirty="0">
                <a:solidFill>
                  <a:schemeClr val="tx1"/>
                </a:solidFill>
              </a:rPr>
              <a:t>Calculate APRI</a:t>
            </a:r>
          </a:p>
        </p:txBody>
      </p:sp>
      <p:sp>
        <p:nvSpPr>
          <p:cNvPr id="110" name="Q2 A">
            <a:extLst>
              <a:ext uri="{FF2B5EF4-FFF2-40B4-BE49-F238E27FC236}">
                <a16:creationId xmlns:a16="http://schemas.microsoft.com/office/drawing/2014/main" id="{55A690C1-69D8-4BDA-5A30-6217BC76472F}"/>
              </a:ext>
            </a:extLst>
          </p:cNvPr>
          <p:cNvSpPr/>
          <p:nvPr/>
        </p:nvSpPr>
        <p:spPr>
          <a:xfrm>
            <a:off x="6804281" y="2297683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A) </a:t>
            </a:r>
            <a:r>
              <a:rPr lang="en-US" sz="1400" dirty="0">
                <a:solidFill>
                  <a:schemeClr val="tx1"/>
                </a:solidFill>
              </a:rPr>
              <a:t>RUQ US</a:t>
            </a:r>
          </a:p>
        </p:txBody>
      </p:sp>
      <p:sp>
        <p:nvSpPr>
          <p:cNvPr id="111" name="Q2 B">
            <a:extLst>
              <a:ext uri="{FF2B5EF4-FFF2-40B4-BE49-F238E27FC236}">
                <a16:creationId xmlns:a16="http://schemas.microsoft.com/office/drawing/2014/main" id="{AE4966EF-9166-122D-774A-BBE3142D13C1}"/>
              </a:ext>
            </a:extLst>
          </p:cNvPr>
          <p:cNvSpPr/>
          <p:nvPr/>
        </p:nvSpPr>
        <p:spPr>
          <a:xfrm>
            <a:off x="9466026" y="2297683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B) </a:t>
            </a:r>
            <a:r>
              <a:rPr lang="en-US" sz="1400" dirty="0">
                <a:solidFill>
                  <a:schemeClr val="tx1"/>
                </a:solidFill>
              </a:rPr>
              <a:t>Repeat labs in 3-6 months</a:t>
            </a:r>
          </a:p>
        </p:txBody>
      </p:sp>
      <p:sp>
        <p:nvSpPr>
          <p:cNvPr id="112" name="Q2 D">
            <a:extLst>
              <a:ext uri="{FF2B5EF4-FFF2-40B4-BE49-F238E27FC236}">
                <a16:creationId xmlns:a16="http://schemas.microsoft.com/office/drawing/2014/main" id="{E57E98AD-2A90-C4CA-EFF3-795665858809}"/>
              </a:ext>
            </a:extLst>
          </p:cNvPr>
          <p:cNvSpPr/>
          <p:nvPr/>
        </p:nvSpPr>
        <p:spPr>
          <a:xfrm>
            <a:off x="9466026" y="3295070"/>
            <a:ext cx="256032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D) </a:t>
            </a:r>
            <a:r>
              <a:rPr lang="en-US" sz="1400" dirty="0">
                <a:solidFill>
                  <a:schemeClr val="tx1"/>
                </a:solidFill>
              </a:rPr>
              <a:t>Refer to Hepatology</a:t>
            </a:r>
          </a:p>
        </p:txBody>
      </p:sp>
      <p:pic>
        <p:nvPicPr>
          <p:cNvPr id="113" name="Graphic 112" descr="Cursor with solid fill">
            <a:extLst>
              <a:ext uri="{FF2B5EF4-FFF2-40B4-BE49-F238E27FC236}">
                <a16:creationId xmlns:a16="http://schemas.microsoft.com/office/drawing/2014/main" id="{A2AAFAFC-814E-C761-58AB-59209D83C9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5546" y="2984334"/>
            <a:ext cx="270672" cy="270672"/>
          </a:xfrm>
          <a:prstGeom prst="rect">
            <a:avLst/>
          </a:prstGeom>
        </p:spPr>
      </p:pic>
      <p:pic>
        <p:nvPicPr>
          <p:cNvPr id="114" name="Graphic 113" descr="Cursor with solid fill">
            <a:extLst>
              <a:ext uri="{FF2B5EF4-FFF2-40B4-BE49-F238E27FC236}">
                <a16:creationId xmlns:a16="http://schemas.microsoft.com/office/drawing/2014/main" id="{277FC944-742C-758C-2864-B1F888C8B6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78829" y="2992271"/>
            <a:ext cx="270672" cy="270672"/>
          </a:xfrm>
          <a:prstGeom prst="rect">
            <a:avLst/>
          </a:prstGeom>
        </p:spPr>
      </p:pic>
      <p:pic>
        <p:nvPicPr>
          <p:cNvPr id="115" name="Graphic 114" descr="Cursor with solid fill">
            <a:extLst>
              <a:ext uri="{FF2B5EF4-FFF2-40B4-BE49-F238E27FC236}">
                <a16:creationId xmlns:a16="http://schemas.microsoft.com/office/drawing/2014/main" id="{4392CA85-380C-11EE-7A2C-8D26AC9800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5546" y="3966102"/>
            <a:ext cx="270672" cy="270672"/>
          </a:xfrm>
          <a:prstGeom prst="rect">
            <a:avLst/>
          </a:prstGeom>
        </p:spPr>
      </p:pic>
      <p:pic>
        <p:nvPicPr>
          <p:cNvPr id="116" name="Graphic 115" descr="Cursor with solid fill">
            <a:extLst>
              <a:ext uri="{FF2B5EF4-FFF2-40B4-BE49-F238E27FC236}">
                <a16:creationId xmlns:a16="http://schemas.microsoft.com/office/drawing/2014/main" id="{9F23C897-460B-00E6-1B34-832195DD1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78829" y="3966102"/>
            <a:ext cx="270672" cy="270672"/>
          </a:xfrm>
          <a:prstGeom prst="rect">
            <a:avLst/>
          </a:prstGeom>
        </p:spPr>
      </p:pic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58D85855-F8FB-E717-8F07-6AB1150CA4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8620" y="4616598"/>
            <a:ext cx="270672" cy="270672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A2B4464-6B2E-4842-B666-37DFFD03D2DC}"/>
              </a:ext>
            </a:extLst>
          </p:cNvPr>
          <p:cNvCxnSpPr>
            <a:cxnSpLocks/>
          </p:cNvCxnSpPr>
          <p:nvPr/>
        </p:nvCxnSpPr>
        <p:spPr>
          <a:xfrm>
            <a:off x="6650700" y="227467"/>
            <a:ext cx="0" cy="6403066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99F701D5-61EF-E570-0430-3E531E274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2341" y="3557427"/>
            <a:ext cx="270672" cy="270672"/>
          </a:xfrm>
          <a:prstGeom prst="rect">
            <a:avLst/>
          </a:prstGeom>
        </p:spPr>
      </p:pic>
      <p:sp>
        <p:nvSpPr>
          <p:cNvPr id="2" name="Case 1b stem">
            <a:extLst>
              <a:ext uri="{FF2B5EF4-FFF2-40B4-BE49-F238E27FC236}">
                <a16:creationId xmlns:a16="http://schemas.microsoft.com/office/drawing/2014/main" id="{14CD1C63-545F-00D2-269F-E028B04C1CAF}"/>
              </a:ext>
            </a:extLst>
          </p:cNvPr>
          <p:cNvSpPr txBox="1"/>
          <p:nvPr/>
        </p:nvSpPr>
        <p:spPr>
          <a:xfrm>
            <a:off x="6770990" y="4339695"/>
            <a:ext cx="5233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…RUQ US shows a small, nodular liver with splenomegaly. No ascites is seen.</a:t>
            </a:r>
          </a:p>
        </p:txBody>
      </p:sp>
      <p:sp>
        <p:nvSpPr>
          <p:cNvPr id="3" name="Case 1b Question 2">
            <a:extLst>
              <a:ext uri="{FF2B5EF4-FFF2-40B4-BE49-F238E27FC236}">
                <a16:creationId xmlns:a16="http://schemas.microsoft.com/office/drawing/2014/main" id="{27623001-0EF5-28C8-66AC-906B50AAEA44}"/>
              </a:ext>
            </a:extLst>
          </p:cNvPr>
          <p:cNvSpPr/>
          <p:nvPr/>
        </p:nvSpPr>
        <p:spPr>
          <a:xfrm>
            <a:off x="6833704" y="4895801"/>
            <a:ext cx="5170936" cy="41148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your next step in management?</a:t>
            </a: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0E380AA7-D1AE-6401-10E1-D31D8B95C4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78532" y="5191443"/>
            <a:ext cx="270672" cy="270672"/>
          </a:xfrm>
          <a:prstGeom prst="rect">
            <a:avLst/>
          </a:prstGeom>
        </p:spPr>
      </p:pic>
      <p:sp>
        <p:nvSpPr>
          <p:cNvPr id="7" name="Case 1b stem">
            <a:extLst>
              <a:ext uri="{FF2B5EF4-FFF2-40B4-BE49-F238E27FC236}">
                <a16:creationId xmlns:a16="http://schemas.microsoft.com/office/drawing/2014/main" id="{92699E1B-0DA5-CFC8-4539-FF2D81151797}"/>
              </a:ext>
            </a:extLst>
          </p:cNvPr>
          <p:cNvSpPr txBox="1"/>
          <p:nvPr/>
        </p:nvSpPr>
        <p:spPr>
          <a:xfrm>
            <a:off x="6800089" y="5369995"/>
            <a:ext cx="52336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Refer to Hepatology.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Nutritional counseling (high protein diet, vitamin supplementation)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Continued abstinence counseling.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Health maintenance (viral hepatitis testing and vaccination, EGD for varices, routine HCC screening)</a:t>
            </a:r>
          </a:p>
        </p:txBody>
      </p:sp>
    </p:spTree>
    <p:extLst>
      <p:ext uri="{BB962C8B-B14F-4D97-AF65-F5344CB8AC3E}">
        <p14:creationId xmlns:p14="http://schemas.microsoft.com/office/powerpoint/2010/main" val="321739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49" grpId="0" animBg="1"/>
      <p:bldP spid="51" grpId="0" animBg="1"/>
      <p:bldP spid="6" grpId="0"/>
      <p:bldP spid="36" grpId="0" animBg="1"/>
      <p:bldP spid="41" grpId="0" animBg="1"/>
      <p:bldP spid="41" grpId="1" animBg="1"/>
      <p:bldP spid="43" grpId="0" animBg="1"/>
      <p:bldP spid="43" grpId="1" animBg="1"/>
      <p:bldP spid="45" grpId="0" animBg="1"/>
      <p:bldP spid="45" grpId="1" animBg="1"/>
      <p:bldP spid="46" grpId="0" animBg="1"/>
      <p:bldP spid="46" grpId="1" animBg="1"/>
      <p:bldP spid="100" grpId="0"/>
      <p:bldP spid="103" grpId="0" animBg="1"/>
      <p:bldP spid="104" grpId="0" animBg="1"/>
      <p:bldP spid="105" grpId="0" animBg="1"/>
      <p:bldP spid="106" grpId="0" animBg="1"/>
      <p:bldP spid="107" grpId="0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2" grpId="0"/>
      <p:bldP spid="3" grpId="0" animBg="1"/>
      <p:bldP spid="7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1 A">
            <a:extLst>
              <a:ext uri="{FF2B5EF4-FFF2-40B4-BE49-F238E27FC236}">
                <a16:creationId xmlns:a16="http://schemas.microsoft.com/office/drawing/2014/main" id="{DBC25247-2381-1A28-75D5-D051642E2E20}"/>
              </a:ext>
            </a:extLst>
          </p:cNvPr>
          <p:cNvSpPr/>
          <p:nvPr/>
        </p:nvSpPr>
        <p:spPr>
          <a:xfrm>
            <a:off x="487092" y="469463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The liver is enlarged, which is less consistent with cirrhosis. </a:t>
            </a:r>
          </a:p>
        </p:txBody>
      </p:sp>
      <p:sp>
        <p:nvSpPr>
          <p:cNvPr id="52" name="A1 D">
            <a:extLst>
              <a:ext uri="{FF2B5EF4-FFF2-40B4-BE49-F238E27FC236}">
                <a16:creationId xmlns:a16="http://schemas.microsoft.com/office/drawing/2014/main" id="{10F527B9-4D8A-36DF-05E3-59BE6CAC4833}"/>
              </a:ext>
            </a:extLst>
          </p:cNvPr>
          <p:cNvSpPr/>
          <p:nvPr/>
        </p:nvSpPr>
        <p:spPr>
          <a:xfrm>
            <a:off x="3538453" y="5660872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6"/>
                </a:solidFill>
              </a:rPr>
              <a:t>AST:ALT &gt;2 with levels &lt;300s, ↑</a:t>
            </a:r>
            <a:r>
              <a:rPr lang="en-US" sz="1400" dirty="0" err="1">
                <a:solidFill>
                  <a:schemeClr val="accent6"/>
                </a:solidFill>
              </a:rPr>
              <a:t>Tbili</a:t>
            </a:r>
            <a:r>
              <a:rPr lang="en-US" sz="1400" dirty="0">
                <a:solidFill>
                  <a:schemeClr val="accent6"/>
                </a:solidFill>
              </a:rPr>
              <a:t>. AH can be complicated by ascites, encephalopathy, varices.  </a:t>
            </a:r>
          </a:p>
        </p:txBody>
      </p:sp>
      <p:sp>
        <p:nvSpPr>
          <p:cNvPr id="49" name="A1 C">
            <a:extLst>
              <a:ext uri="{FF2B5EF4-FFF2-40B4-BE49-F238E27FC236}">
                <a16:creationId xmlns:a16="http://schemas.microsoft.com/office/drawing/2014/main" id="{CE8688E2-53D1-CF1D-5718-796D1CB9F3E1}"/>
              </a:ext>
            </a:extLst>
          </p:cNvPr>
          <p:cNvSpPr/>
          <p:nvPr/>
        </p:nvSpPr>
        <p:spPr>
          <a:xfrm>
            <a:off x="487092" y="5660872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</a:rPr>
              <a:t>This patient should be ruled out for any infections including SBP. AH can also cause fever and WBC. </a:t>
            </a:r>
          </a:p>
        </p:txBody>
      </p:sp>
      <p:sp>
        <p:nvSpPr>
          <p:cNvPr id="51" name="A1 B">
            <a:extLst>
              <a:ext uri="{FF2B5EF4-FFF2-40B4-BE49-F238E27FC236}">
                <a16:creationId xmlns:a16="http://schemas.microsoft.com/office/drawing/2014/main" id="{F381D238-6B4E-7F37-71DD-AF32EC1352A9}"/>
              </a:ext>
            </a:extLst>
          </p:cNvPr>
          <p:cNvSpPr/>
          <p:nvPr/>
        </p:nvSpPr>
        <p:spPr>
          <a:xfrm>
            <a:off x="3538453" y="469463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There are signs of acute hepatitis superimposed on steatosis.</a:t>
            </a:r>
          </a:p>
        </p:txBody>
      </p:sp>
      <p:sp>
        <p:nvSpPr>
          <p:cNvPr id="18" name="Case 1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3116423" y="191238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2a</a:t>
            </a:r>
          </a:p>
        </p:txBody>
      </p: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1826865" y="700563"/>
            <a:ext cx="47451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35-year-old F presents with 1 week of progressive jaundice, new onset ascites, and dyspnea on exertion. She drinks on average 3-4 alcohol containing drinks per night and occasionally binge drinks. Last drink ~24 h ago. No other substance use. No medications or supplements. </a:t>
            </a:r>
          </a:p>
          <a:p>
            <a:endParaRPr 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400" u="sng" dirty="0"/>
              <a:t>Exam</a:t>
            </a:r>
            <a:r>
              <a:rPr lang="en-US" sz="1400" dirty="0"/>
              <a:t>: T 37.9C,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HR 90, BP 120/88, RR 20, SpO2 94% on RA. Jaundiced, has a distended abdomen with fluid wave present, and 2+ lower extremity edema extending to the knees bilaterally. Confused with asterixis. </a:t>
            </a:r>
            <a:endParaRPr lang="en-US" sz="1400" dirty="0"/>
          </a:p>
          <a:p>
            <a:endParaRPr lang="en-US" sz="600" dirty="0"/>
          </a:p>
          <a:p>
            <a:r>
              <a:rPr lang="en-US" sz="1400" u="sng" dirty="0"/>
              <a:t>Labs</a:t>
            </a:r>
            <a:r>
              <a:rPr lang="en-US" sz="1400" dirty="0"/>
              <a:t>: 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Cr 0.82, BUN 11, WBC 14, Hgb 11, </a:t>
            </a:r>
            <a:r>
              <a:rPr lang="en-US" sz="1400" dirty="0" err="1"/>
              <a:t>plts</a:t>
            </a:r>
            <a:r>
              <a:rPr lang="en-US" sz="1400" dirty="0"/>
              <a:t> 108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AST 224, ALT 110, ALP 118, </a:t>
            </a:r>
            <a:r>
              <a:rPr lang="en-US" sz="1400" dirty="0" err="1"/>
              <a:t>Tbili</a:t>
            </a:r>
            <a:r>
              <a:rPr lang="en-US" sz="1400" dirty="0"/>
              <a:t> 3.4, and INR 2.1.  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RUQ US with enlarged fatty liver and moderate volume ascites.  </a:t>
            </a:r>
          </a:p>
        </p:txBody>
      </p:sp>
      <p:sp>
        <p:nvSpPr>
          <p:cNvPr id="4" name="Obj 1">
            <a:hlinkClick r:id="rId3" action="ppaction://hlinksldjump"/>
            <a:extLst>
              <a:ext uri="{FF2B5EF4-FFF2-40B4-BE49-F238E27FC236}">
                <a16:creationId xmlns:a16="http://schemas.microsoft.com/office/drawing/2014/main" id="{20D3E50F-DDE4-80ED-3D84-48BAF5BE2F1F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17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CBA4CFBF-0CC1-ED71-91D2-8E93BA6AEA22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EA654BB2-FA38-9155-B23F-633DD96897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2CAFB1F7-F62E-D06E-D486-0F1573CE6C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21" name="Obj 3">
            <a:hlinkClick r:id="rId4" action="ppaction://hlinksldjump"/>
            <a:extLst>
              <a:ext uri="{FF2B5EF4-FFF2-40B4-BE49-F238E27FC236}">
                <a16:creationId xmlns:a16="http://schemas.microsoft.com/office/drawing/2014/main" id="{7F106496-F804-DB1A-41FC-6B89555FC2A8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B8DB689A-AE97-C7F5-057F-78A59FD91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83ADEC45-159D-1C0E-77E9-22791ECB042B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ETOH hep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B8E6B65C-C189-A4E6-1FF3-42339A8A4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5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FC50A6A9-CF6B-590D-3ECE-56DAC9DF0601}"/>
              </a:ext>
            </a:extLst>
          </p:cNvPr>
          <p:cNvSpPr/>
          <p:nvPr/>
        </p:nvSpPr>
        <p:spPr>
          <a:xfrm>
            <a:off x="167950" y="2252049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27" name="Obj 3b">
            <a:hlinkClick r:id="rId8" action="ppaction://hlinksldjump"/>
            <a:extLst>
              <a:ext uri="{FF2B5EF4-FFF2-40B4-BE49-F238E27FC236}">
                <a16:creationId xmlns:a16="http://schemas.microsoft.com/office/drawing/2014/main" id="{0CE5E9EF-2555-9E35-C9F8-CF63DD1AEF82}"/>
              </a:ext>
            </a:extLst>
          </p:cNvPr>
          <p:cNvSpPr/>
          <p:nvPr/>
        </p:nvSpPr>
        <p:spPr>
          <a:xfrm>
            <a:off x="448880" y="2785363"/>
            <a:ext cx="119330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5131BBB-F30B-2E13-A312-FA9803158CA7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173929" y="2694402"/>
            <a:ext cx="369510" cy="18039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bj 3b">
            <a:hlinkClick r:id="rId9" action="ppaction://hlinksldjump"/>
            <a:extLst>
              <a:ext uri="{FF2B5EF4-FFF2-40B4-BE49-F238E27FC236}">
                <a16:creationId xmlns:a16="http://schemas.microsoft.com/office/drawing/2014/main" id="{CE7E2B01-C31C-A9BD-B7BE-95905C94E006}"/>
              </a:ext>
            </a:extLst>
          </p:cNvPr>
          <p:cNvSpPr/>
          <p:nvPr/>
        </p:nvSpPr>
        <p:spPr>
          <a:xfrm>
            <a:off x="447515" y="3324784"/>
            <a:ext cx="1176110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 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7D4E1A2-24FB-C9D7-21B4-951AF9AA8F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106" y="3097337"/>
            <a:ext cx="597685" cy="207496"/>
          </a:xfrm>
          <a:prstGeom prst="bentConnector3">
            <a:avLst>
              <a:gd name="adj1" fmla="val 9954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DD577547-124A-44DC-7257-4EC6733EE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8441" y="455251"/>
            <a:ext cx="270672" cy="270672"/>
          </a:xfrm>
          <a:prstGeom prst="rect">
            <a:avLst/>
          </a:prstGeom>
        </p:spPr>
      </p:pic>
      <p:sp>
        <p:nvSpPr>
          <p:cNvPr id="36" name="Case 1 Question 1">
            <a:extLst>
              <a:ext uri="{FF2B5EF4-FFF2-40B4-BE49-F238E27FC236}">
                <a16:creationId xmlns:a16="http://schemas.microsoft.com/office/drawing/2014/main" id="{240C0696-6D9E-4FD6-2FCC-AC990B5ABFDB}"/>
              </a:ext>
            </a:extLst>
          </p:cNvPr>
          <p:cNvSpPr/>
          <p:nvPr/>
        </p:nvSpPr>
        <p:spPr>
          <a:xfrm>
            <a:off x="487092" y="4154048"/>
            <a:ext cx="5977441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the most likely diagnosis?</a:t>
            </a:r>
          </a:p>
        </p:txBody>
      </p:sp>
      <p:sp>
        <p:nvSpPr>
          <p:cNvPr id="41" name="Q1 C">
            <a:extLst>
              <a:ext uri="{FF2B5EF4-FFF2-40B4-BE49-F238E27FC236}">
                <a16:creationId xmlns:a16="http://schemas.microsoft.com/office/drawing/2014/main" id="{DAB7DDF2-F4FF-CA2C-30AD-2B6FD7EF0B4F}"/>
              </a:ext>
            </a:extLst>
          </p:cNvPr>
          <p:cNvSpPr/>
          <p:nvPr/>
        </p:nvSpPr>
        <p:spPr>
          <a:xfrm>
            <a:off x="487092" y="5660872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C) </a:t>
            </a:r>
            <a:r>
              <a:rPr lang="en-US" sz="1400" dirty="0">
                <a:solidFill>
                  <a:schemeClr val="tx1"/>
                </a:solidFill>
              </a:rPr>
              <a:t>Spontaneous bacterial peritonitis</a:t>
            </a:r>
          </a:p>
        </p:txBody>
      </p:sp>
      <p:sp>
        <p:nvSpPr>
          <p:cNvPr id="43" name="Q1 A">
            <a:extLst>
              <a:ext uri="{FF2B5EF4-FFF2-40B4-BE49-F238E27FC236}">
                <a16:creationId xmlns:a16="http://schemas.microsoft.com/office/drawing/2014/main" id="{032025B2-26A8-DFBC-DB29-92BE7FCCB62B}"/>
              </a:ext>
            </a:extLst>
          </p:cNvPr>
          <p:cNvSpPr/>
          <p:nvPr/>
        </p:nvSpPr>
        <p:spPr>
          <a:xfrm>
            <a:off x="487092" y="469463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A) </a:t>
            </a:r>
            <a:r>
              <a:rPr lang="en-US" sz="1400" dirty="0">
                <a:solidFill>
                  <a:schemeClr val="tx1"/>
                </a:solidFill>
              </a:rPr>
              <a:t>Decompensated cirrhosis</a:t>
            </a:r>
          </a:p>
        </p:txBody>
      </p:sp>
      <p:sp>
        <p:nvSpPr>
          <p:cNvPr id="45" name="Q1 B">
            <a:extLst>
              <a:ext uri="{FF2B5EF4-FFF2-40B4-BE49-F238E27FC236}">
                <a16:creationId xmlns:a16="http://schemas.microsoft.com/office/drawing/2014/main" id="{56A11193-55B3-C540-BFED-7B6DA16F4677}"/>
              </a:ext>
            </a:extLst>
          </p:cNvPr>
          <p:cNvSpPr/>
          <p:nvPr/>
        </p:nvSpPr>
        <p:spPr>
          <a:xfrm>
            <a:off x="3538453" y="4694639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B) </a:t>
            </a:r>
            <a:r>
              <a:rPr lang="en-US" sz="1400" dirty="0">
                <a:solidFill>
                  <a:schemeClr val="tx1"/>
                </a:solidFill>
              </a:rPr>
              <a:t>Alcohol-related steatosis</a:t>
            </a:r>
          </a:p>
        </p:txBody>
      </p:sp>
      <p:sp>
        <p:nvSpPr>
          <p:cNvPr id="46" name="Q1 D">
            <a:extLst>
              <a:ext uri="{FF2B5EF4-FFF2-40B4-BE49-F238E27FC236}">
                <a16:creationId xmlns:a16="http://schemas.microsoft.com/office/drawing/2014/main" id="{23341CC8-90DF-E718-8A3A-0411FCF6E68F}"/>
              </a:ext>
            </a:extLst>
          </p:cNvPr>
          <p:cNvSpPr/>
          <p:nvPr/>
        </p:nvSpPr>
        <p:spPr>
          <a:xfrm>
            <a:off x="3538453" y="5660872"/>
            <a:ext cx="2926080" cy="8229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D) </a:t>
            </a:r>
            <a:r>
              <a:rPr lang="en-US" sz="1400" dirty="0">
                <a:solidFill>
                  <a:schemeClr val="tx1"/>
                </a:solidFill>
              </a:rPr>
              <a:t>Alcohol-related steatohepatitis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ED645726-5100-2A3E-FE5B-1EA8DB45EC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2859" y="5375011"/>
            <a:ext cx="270672" cy="270672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E60E1C4D-633C-DF0E-2B79-FB7BC63CE9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2859" y="6354506"/>
            <a:ext cx="270672" cy="270672"/>
          </a:xfrm>
          <a:prstGeom prst="rect">
            <a:avLst/>
          </a:prstGeom>
        </p:spPr>
      </p:pic>
      <p:pic>
        <p:nvPicPr>
          <p:cNvPr id="95" name="Graphic 94" descr="Cursor with solid fill">
            <a:extLst>
              <a:ext uri="{FF2B5EF4-FFF2-40B4-BE49-F238E27FC236}">
                <a16:creationId xmlns:a16="http://schemas.microsoft.com/office/drawing/2014/main" id="{2EF7297A-2A34-E6EE-1098-BA2F09CD9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4015" y="6354506"/>
            <a:ext cx="270672" cy="270672"/>
          </a:xfrm>
          <a:prstGeom prst="rect">
            <a:avLst/>
          </a:prstGeom>
        </p:spPr>
      </p:pic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BA29531-A752-9E69-AF8E-FD2022937B66}"/>
              </a:ext>
            </a:extLst>
          </p:cNvPr>
          <p:cNvCxnSpPr>
            <a:cxnSpLocks/>
          </p:cNvCxnSpPr>
          <p:nvPr/>
        </p:nvCxnSpPr>
        <p:spPr>
          <a:xfrm>
            <a:off x="6650700" y="227467"/>
            <a:ext cx="0" cy="6403066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0" name="Case 2b A2">
            <a:extLst>
              <a:ext uri="{FF2B5EF4-FFF2-40B4-BE49-F238E27FC236}">
                <a16:creationId xmlns:a16="http://schemas.microsoft.com/office/drawing/2014/main" id="{A283A97D-3EDF-7A57-6A22-C5020095EB45}"/>
              </a:ext>
            </a:extLst>
          </p:cNvPr>
          <p:cNvSpPr txBox="1"/>
          <p:nvPr/>
        </p:nvSpPr>
        <p:spPr>
          <a:xfrm>
            <a:off x="6805532" y="1486290"/>
            <a:ext cx="5233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/>
              <a:t>MDF is 94</a:t>
            </a:r>
            <a:r>
              <a:rPr lang="en-US" sz="1400" dirty="0"/>
              <a:t>, which is associated with high short-term mortality. Given that there are no contraindications (normal renal function, no GIB, infection ruled out), then </a:t>
            </a:r>
            <a:r>
              <a:rPr lang="en-US" sz="1400" b="1" dirty="0"/>
              <a:t>steroids could be considered</a:t>
            </a:r>
            <a:r>
              <a:rPr lang="en-US" sz="1400" dirty="0"/>
              <a:t>. </a:t>
            </a:r>
          </a:p>
        </p:txBody>
      </p:sp>
      <p:sp>
        <p:nvSpPr>
          <p:cNvPr id="101" name="Case 1b">
            <a:extLst>
              <a:ext uri="{FF2B5EF4-FFF2-40B4-BE49-F238E27FC236}">
                <a16:creationId xmlns:a16="http://schemas.microsoft.com/office/drawing/2014/main" id="{A05EB782-451F-9575-4F5D-C5695CCC0E80}"/>
              </a:ext>
            </a:extLst>
          </p:cNvPr>
          <p:cNvSpPr/>
          <p:nvPr/>
        </p:nvSpPr>
        <p:spPr>
          <a:xfrm>
            <a:off x="8890898" y="191238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2b</a:t>
            </a:r>
          </a:p>
        </p:txBody>
      </p:sp>
      <p:pic>
        <p:nvPicPr>
          <p:cNvPr id="102" name="Graphic 101" descr="Cursor with solid fill">
            <a:extLst>
              <a:ext uri="{FF2B5EF4-FFF2-40B4-BE49-F238E27FC236}">
                <a16:creationId xmlns:a16="http://schemas.microsoft.com/office/drawing/2014/main" id="{E8ACA6F2-776E-DC3F-A408-054CF8351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2916" y="455251"/>
            <a:ext cx="270672" cy="270672"/>
          </a:xfrm>
          <a:prstGeom prst="rect">
            <a:avLst/>
          </a:prstGeom>
        </p:spPr>
      </p:pic>
      <p:sp>
        <p:nvSpPr>
          <p:cNvPr id="107" name="Case 2b Question 2">
            <a:extLst>
              <a:ext uri="{FF2B5EF4-FFF2-40B4-BE49-F238E27FC236}">
                <a16:creationId xmlns:a16="http://schemas.microsoft.com/office/drawing/2014/main" id="{3C05C1B0-78A7-A0FF-CBC8-0CA2D9B48B3B}"/>
              </a:ext>
            </a:extLst>
          </p:cNvPr>
          <p:cNvSpPr/>
          <p:nvPr/>
        </p:nvSpPr>
        <p:spPr>
          <a:xfrm>
            <a:off x="6819859" y="1063097"/>
            <a:ext cx="5103652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the next best step in management?</a:t>
            </a:r>
          </a:p>
        </p:txBody>
      </p:sp>
      <p:pic>
        <p:nvPicPr>
          <p:cNvPr id="108" name="Graphic 107" descr="Cursor with solid fill">
            <a:extLst>
              <a:ext uri="{FF2B5EF4-FFF2-40B4-BE49-F238E27FC236}">
                <a16:creationId xmlns:a16="http://schemas.microsoft.com/office/drawing/2014/main" id="{BB86E02F-02AA-0F16-065D-6387D32D2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14044" y="1297886"/>
            <a:ext cx="270672" cy="270672"/>
          </a:xfrm>
          <a:prstGeom prst="rect">
            <a:avLst/>
          </a:prstGeom>
        </p:spPr>
      </p:pic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58D85855-F8FB-E717-8F07-6AB1150CA4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4015" y="5375011"/>
            <a:ext cx="270672" cy="270672"/>
          </a:xfrm>
          <a:prstGeom prst="rect">
            <a:avLst/>
          </a:prstGeom>
        </p:spPr>
      </p:pic>
      <p:sp>
        <p:nvSpPr>
          <p:cNvPr id="31" name="Case 1b stem">
            <a:extLst>
              <a:ext uri="{FF2B5EF4-FFF2-40B4-BE49-F238E27FC236}">
                <a16:creationId xmlns:a16="http://schemas.microsoft.com/office/drawing/2014/main" id="{605FA5DE-8C9C-7590-AC4C-0BA6A85AD071}"/>
              </a:ext>
            </a:extLst>
          </p:cNvPr>
          <p:cNvSpPr txBox="1"/>
          <p:nvPr/>
        </p:nvSpPr>
        <p:spPr>
          <a:xfrm>
            <a:off x="6768827" y="4286008"/>
            <a:ext cx="5233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…After 7 days, repeat labs show: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Cr 0.78, BUN 8, WBC 12, Hgb 11, </a:t>
            </a:r>
            <a:r>
              <a:rPr lang="en-US" sz="1400" dirty="0" err="1"/>
              <a:t>plts</a:t>
            </a:r>
            <a:r>
              <a:rPr lang="en-US" sz="1400" dirty="0"/>
              <a:t> 98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AST 204, ALT 78, ALP 130, </a:t>
            </a:r>
            <a:r>
              <a:rPr lang="en-US" sz="1400" dirty="0" err="1"/>
              <a:t>Tbili</a:t>
            </a:r>
            <a:r>
              <a:rPr lang="en-US" sz="1400" dirty="0"/>
              <a:t> 4.4, and INR 1.8 (PT 20).  </a:t>
            </a:r>
          </a:p>
          <a:p>
            <a:pPr marL="285750" indent="-107950">
              <a:buFont typeface="Arial" panose="020B0604020202020204" pitchFamily="34" charset="0"/>
              <a:buChar char="•"/>
            </a:pPr>
            <a:r>
              <a:rPr lang="en-US" sz="1400" dirty="0"/>
              <a:t>Albumin 2.7</a:t>
            </a:r>
          </a:p>
        </p:txBody>
      </p:sp>
      <p:sp>
        <p:nvSpPr>
          <p:cNvPr id="34" name="Case 1b Question 2">
            <a:extLst>
              <a:ext uri="{FF2B5EF4-FFF2-40B4-BE49-F238E27FC236}">
                <a16:creationId xmlns:a16="http://schemas.microsoft.com/office/drawing/2014/main" id="{C6509372-1145-2307-D19E-0CB81F72846D}"/>
              </a:ext>
            </a:extLst>
          </p:cNvPr>
          <p:cNvSpPr/>
          <p:nvPr/>
        </p:nvSpPr>
        <p:spPr>
          <a:xfrm>
            <a:off x="6819859" y="2858952"/>
            <a:ext cx="5103652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When should she be re-evaluated for response to therapy?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5E0706CD-1BDD-0C99-9761-6C5ADC72ED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08237" y="3093741"/>
            <a:ext cx="270672" cy="270672"/>
          </a:xfrm>
          <a:prstGeom prst="rect">
            <a:avLst/>
          </a:prstGeom>
        </p:spPr>
      </p:pic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C1261340-D074-9C0A-774F-8BE0276B4F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3036912"/>
            <a:ext cx="270672" cy="270672"/>
          </a:xfrm>
          <a:prstGeom prst="rect">
            <a:avLst/>
          </a:prstGeom>
        </p:spPr>
      </p:pic>
      <p:sp>
        <p:nvSpPr>
          <p:cNvPr id="42" name="Case 2b stem">
            <a:extLst>
              <a:ext uri="{FF2B5EF4-FFF2-40B4-BE49-F238E27FC236}">
                <a16:creationId xmlns:a16="http://schemas.microsoft.com/office/drawing/2014/main" id="{C1F8269B-3538-E1AE-DA5E-B1AC0FC7CB3C}"/>
              </a:ext>
            </a:extLst>
          </p:cNvPr>
          <p:cNvSpPr txBox="1"/>
          <p:nvPr/>
        </p:nvSpPr>
        <p:spPr>
          <a:xfrm>
            <a:off x="6768827" y="697887"/>
            <a:ext cx="5233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Evaluation for infection including CXR, UA, and SBP is negative. </a:t>
            </a:r>
          </a:p>
        </p:txBody>
      </p:sp>
      <p:sp>
        <p:nvSpPr>
          <p:cNvPr id="44" name="Case 1b stem">
            <a:extLst>
              <a:ext uri="{FF2B5EF4-FFF2-40B4-BE49-F238E27FC236}">
                <a16:creationId xmlns:a16="http://schemas.microsoft.com/office/drawing/2014/main" id="{792F9DD5-C6C3-0E14-967C-B4249B1953CD}"/>
              </a:ext>
            </a:extLst>
          </p:cNvPr>
          <p:cNvSpPr txBox="1"/>
          <p:nvPr/>
        </p:nvSpPr>
        <p:spPr>
          <a:xfrm>
            <a:off x="6768827" y="2503286"/>
            <a:ext cx="5233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…She is started on prednisolone 40 mg daily. </a:t>
            </a:r>
          </a:p>
        </p:txBody>
      </p:sp>
      <p:sp>
        <p:nvSpPr>
          <p:cNvPr id="47" name="Case 2b A2">
            <a:extLst>
              <a:ext uri="{FF2B5EF4-FFF2-40B4-BE49-F238E27FC236}">
                <a16:creationId xmlns:a16="http://schemas.microsoft.com/office/drawing/2014/main" id="{8A552881-4470-C2C0-E85B-69A623C93F7F}"/>
              </a:ext>
            </a:extLst>
          </p:cNvPr>
          <p:cNvSpPr txBox="1"/>
          <p:nvPr/>
        </p:nvSpPr>
        <p:spPr>
          <a:xfrm>
            <a:off x="6805532" y="5689332"/>
            <a:ext cx="5233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Lille score is &lt;0.45</a:t>
            </a:r>
            <a:r>
              <a:rPr lang="en-US" sz="1400" dirty="0"/>
              <a:t>, this suggests good prognosis and response to steroids. Six-month survival is 85%. </a:t>
            </a:r>
            <a:r>
              <a:rPr lang="en-US" sz="1400" b="1" dirty="0"/>
              <a:t>Steroids should be continued for 28 d total. </a:t>
            </a:r>
          </a:p>
        </p:txBody>
      </p:sp>
      <p:sp>
        <p:nvSpPr>
          <p:cNvPr id="48" name="Case 2b Question 2">
            <a:extLst>
              <a:ext uri="{FF2B5EF4-FFF2-40B4-BE49-F238E27FC236}">
                <a16:creationId xmlns:a16="http://schemas.microsoft.com/office/drawing/2014/main" id="{8C946454-D028-9221-3967-F5ED81B8EC74}"/>
              </a:ext>
            </a:extLst>
          </p:cNvPr>
          <p:cNvSpPr/>
          <p:nvPr/>
        </p:nvSpPr>
        <p:spPr>
          <a:xfrm>
            <a:off x="6819859" y="5266139"/>
            <a:ext cx="5103652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the next best step in management?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BAD964ED-8635-185F-3BFE-84FE840AB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02430" y="5500928"/>
            <a:ext cx="270672" cy="270672"/>
          </a:xfrm>
          <a:prstGeom prst="rect">
            <a:avLst/>
          </a:prstGeom>
        </p:spPr>
      </p:pic>
      <p:sp>
        <p:nvSpPr>
          <p:cNvPr id="55" name="Case 2b A2">
            <a:extLst>
              <a:ext uri="{FF2B5EF4-FFF2-40B4-BE49-F238E27FC236}">
                <a16:creationId xmlns:a16="http://schemas.microsoft.com/office/drawing/2014/main" id="{A7AC24FE-4F31-F169-9D79-1AA934A28D86}"/>
              </a:ext>
            </a:extLst>
          </p:cNvPr>
          <p:cNvSpPr txBox="1"/>
          <p:nvPr/>
        </p:nvSpPr>
        <p:spPr>
          <a:xfrm>
            <a:off x="6805532" y="3286531"/>
            <a:ext cx="5233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Repeat CMP and </a:t>
            </a:r>
            <a:r>
              <a:rPr lang="en-US" sz="1400" dirty="0" err="1"/>
              <a:t>coags</a:t>
            </a:r>
            <a:r>
              <a:rPr lang="en-US" sz="1400" dirty="0"/>
              <a:t> should be obtained at </a:t>
            </a:r>
            <a:r>
              <a:rPr lang="en-US" sz="1400" b="1" dirty="0"/>
              <a:t>4-7 days </a:t>
            </a:r>
            <a:r>
              <a:rPr lang="en-US" sz="1400" dirty="0"/>
              <a:t>after starting steroid therapy to assess response. The </a:t>
            </a:r>
            <a:r>
              <a:rPr lang="en-US" sz="1400" b="1" dirty="0"/>
              <a:t>Lille score </a:t>
            </a:r>
            <a:r>
              <a:rPr lang="en-US" sz="1400" dirty="0"/>
              <a:t>can help determine response to and duration of therapy. </a:t>
            </a:r>
          </a:p>
        </p:txBody>
      </p:sp>
    </p:spTree>
    <p:extLst>
      <p:ext uri="{BB962C8B-B14F-4D97-AF65-F5344CB8AC3E}">
        <p14:creationId xmlns:p14="http://schemas.microsoft.com/office/powerpoint/2010/main" val="334725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49" grpId="0" animBg="1"/>
      <p:bldP spid="51" grpId="0" animBg="1"/>
      <p:bldP spid="6" grpId="0"/>
      <p:bldP spid="36" grpId="0" animBg="1"/>
      <p:bldP spid="41" grpId="0" animBg="1"/>
      <p:bldP spid="41" grpId="1" animBg="1"/>
      <p:bldP spid="43" grpId="0" animBg="1"/>
      <p:bldP spid="43" grpId="1" animBg="1"/>
      <p:bldP spid="45" grpId="0" animBg="1"/>
      <p:bldP spid="45" grpId="1" animBg="1"/>
      <p:bldP spid="46" grpId="0" animBg="1"/>
      <p:bldP spid="46" grpId="1" animBg="1"/>
      <p:bldP spid="100" grpId="0"/>
      <p:bldP spid="107" grpId="0" animBg="1"/>
      <p:bldP spid="31" grpId="0"/>
      <p:bldP spid="34" grpId="0" animBg="1"/>
      <p:bldP spid="42" grpId="0"/>
      <p:bldP spid="44" grpId="0"/>
      <p:bldP spid="47" grpId="0"/>
      <p:bldP spid="48" grpId="0" animBg="1"/>
      <p:bldP spid="55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92BC2F7-CCF0-CA87-352F-AF70C32654CE}"/>
              </a:ext>
            </a:extLst>
          </p:cNvPr>
          <p:cNvGrpSpPr/>
          <p:nvPr/>
        </p:nvGrpSpPr>
        <p:grpSpPr>
          <a:xfrm>
            <a:off x="501495" y="1600631"/>
            <a:ext cx="1945753" cy="1702635"/>
            <a:chOff x="1974314" y="1541875"/>
            <a:chExt cx="1945753" cy="170263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12C6AA-FD31-0D49-0A4A-369E92B25D45}"/>
                </a:ext>
              </a:extLst>
            </p:cNvPr>
            <p:cNvSpPr/>
            <p:nvPr/>
          </p:nvSpPr>
          <p:spPr>
            <a:xfrm>
              <a:off x="1982442" y="1541875"/>
              <a:ext cx="1937625" cy="1702635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Liver diagram">
              <a:extLst>
                <a:ext uri="{FF2B5EF4-FFF2-40B4-BE49-F238E27FC236}">
                  <a16:creationId xmlns:a16="http://schemas.microsoft.com/office/drawing/2014/main" id="{A091C0EB-6FB4-D7C8-C1A4-C8090D1DCE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745" t="12746" r="63467" b="60850"/>
            <a:stretch/>
          </p:blipFill>
          <p:spPr>
            <a:xfrm>
              <a:off x="2033971" y="1891009"/>
              <a:ext cx="1838192" cy="134378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34C7A9-14D2-5792-7711-29DD7F2C4115}"/>
                </a:ext>
              </a:extLst>
            </p:cNvPr>
            <p:cNvSpPr txBox="1"/>
            <p:nvPr/>
          </p:nvSpPr>
          <p:spPr>
            <a:xfrm>
              <a:off x="1974314" y="1548909"/>
              <a:ext cx="193762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Normal liver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F87E09-2099-E8A8-BA11-E59A373013AF}"/>
              </a:ext>
            </a:extLst>
          </p:cNvPr>
          <p:cNvGrpSpPr/>
          <p:nvPr/>
        </p:nvGrpSpPr>
        <p:grpSpPr>
          <a:xfrm>
            <a:off x="3414352" y="1197342"/>
            <a:ext cx="2045282" cy="2105924"/>
            <a:chOff x="4924362" y="1138587"/>
            <a:chExt cx="2045282" cy="210592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70F156-FEC6-B616-890A-F313E067EB2B}"/>
                </a:ext>
              </a:extLst>
            </p:cNvPr>
            <p:cNvSpPr/>
            <p:nvPr/>
          </p:nvSpPr>
          <p:spPr>
            <a:xfrm>
              <a:off x="4924362" y="1138587"/>
              <a:ext cx="2045282" cy="210592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Fatty diagram">
              <a:extLst>
                <a:ext uri="{FF2B5EF4-FFF2-40B4-BE49-F238E27FC236}">
                  <a16:creationId xmlns:a16="http://schemas.microsoft.com/office/drawing/2014/main" id="{48662CDC-47C4-AD03-F2AD-38A7B3A05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5880" t="12338" r="36711" b="59048"/>
            <a:stretch/>
          </p:blipFill>
          <p:spPr>
            <a:xfrm>
              <a:off x="5007417" y="1868592"/>
              <a:ext cx="1868511" cy="136321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8D5301-DCD0-5248-270D-D89FD80D1079}"/>
                </a:ext>
              </a:extLst>
            </p:cNvPr>
            <p:cNvSpPr txBox="1"/>
            <p:nvPr/>
          </p:nvSpPr>
          <p:spPr>
            <a:xfrm>
              <a:off x="4972609" y="1168873"/>
              <a:ext cx="1949013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ts val="1800"/>
                </a:lnSpc>
              </a:pPr>
              <a:endParaRPr lang="en-US" sz="1600" dirty="0">
                <a:cs typeface="Calibri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E36A43-11C5-3D7F-AD40-28932696128B}"/>
              </a:ext>
            </a:extLst>
          </p:cNvPr>
          <p:cNvGrpSpPr/>
          <p:nvPr/>
        </p:nvGrpSpPr>
        <p:grpSpPr>
          <a:xfrm>
            <a:off x="9859286" y="1631834"/>
            <a:ext cx="1908614" cy="1671432"/>
            <a:chOff x="8828847" y="2549106"/>
            <a:chExt cx="1908614" cy="16714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508EC7-CC6F-5AAA-5363-A2B366E51724}"/>
                </a:ext>
              </a:extLst>
            </p:cNvPr>
            <p:cNvSpPr/>
            <p:nvPr/>
          </p:nvSpPr>
          <p:spPr>
            <a:xfrm>
              <a:off x="8828847" y="2549106"/>
              <a:ext cx="1908614" cy="16714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cute decomp">
              <a:extLst>
                <a:ext uri="{FF2B5EF4-FFF2-40B4-BE49-F238E27FC236}">
                  <a16:creationId xmlns:a16="http://schemas.microsoft.com/office/drawing/2014/main" id="{FB7546C0-1160-A8D9-776E-9E111C2B5BA4}"/>
                </a:ext>
              </a:extLst>
            </p:cNvPr>
            <p:cNvSpPr txBox="1"/>
            <p:nvPr/>
          </p:nvSpPr>
          <p:spPr>
            <a:xfrm>
              <a:off x="8930357" y="2588597"/>
              <a:ext cx="172085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US" dirty="0">
                <a:cs typeface="Calibri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A323127-7BC8-5007-0B41-A4EA5723ED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08" t="31778" r="42356" b="47917"/>
            <a:stretch/>
          </p:blipFill>
          <p:spPr>
            <a:xfrm>
              <a:off x="8868949" y="2913183"/>
              <a:ext cx="1868512" cy="1256585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34ECE9-0E9B-FD01-932E-F00DB2DF0B3E}"/>
              </a:ext>
            </a:extLst>
          </p:cNvPr>
          <p:cNvGrpSpPr/>
          <p:nvPr/>
        </p:nvGrpSpPr>
        <p:grpSpPr>
          <a:xfrm>
            <a:off x="2489881" y="2140534"/>
            <a:ext cx="914400" cy="377772"/>
            <a:chOff x="2464481" y="3372694"/>
            <a:chExt cx="914400" cy="37777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C3DC70-50D1-D866-CD47-CA3F19579C7E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2F6C3C-9E96-600E-4690-1287D0986112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3962CC-6137-F8E4-CC33-C68B370105E2}"/>
              </a:ext>
            </a:extLst>
          </p:cNvPr>
          <p:cNvGrpSpPr/>
          <p:nvPr/>
        </p:nvGrpSpPr>
        <p:grpSpPr>
          <a:xfrm>
            <a:off x="5526716" y="2066530"/>
            <a:ext cx="913158" cy="525780"/>
            <a:chOff x="5523486" y="3328134"/>
            <a:chExt cx="913158" cy="525780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5F3F07D-91E4-65C8-8721-3D8A2164B5A6}"/>
                </a:ext>
              </a:extLst>
            </p:cNvPr>
            <p:cNvCxnSpPr>
              <a:cxnSpLocks/>
            </p:cNvCxnSpPr>
            <p:nvPr/>
          </p:nvCxnSpPr>
          <p:spPr>
            <a:xfrm>
              <a:off x="5568787" y="3706820"/>
              <a:ext cx="82255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C25B489-3707-0AF4-B481-6B69F8FB8D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8063" y="3853914"/>
              <a:ext cx="82400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7FD3EA-55D3-9A7B-540E-79C1C11EC7C2}"/>
                </a:ext>
              </a:extLst>
            </p:cNvPr>
            <p:cNvSpPr txBox="1"/>
            <p:nvPr/>
          </p:nvSpPr>
          <p:spPr>
            <a:xfrm>
              <a:off x="5523486" y="3328134"/>
              <a:ext cx="9131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73BAB7-5C61-E745-2C41-ACB5A4C4775F}"/>
              </a:ext>
            </a:extLst>
          </p:cNvPr>
          <p:cNvGrpSpPr/>
          <p:nvPr/>
        </p:nvGrpSpPr>
        <p:grpSpPr>
          <a:xfrm>
            <a:off x="8930939" y="2140534"/>
            <a:ext cx="914400" cy="377772"/>
            <a:chOff x="2464481" y="3372694"/>
            <a:chExt cx="914400" cy="37777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A9CBEC-0C61-0EDC-8178-D1C5D031070C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18BEE3-0B03-B7D1-9E43-CEE443731827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5F6E93-9FBF-20C6-E7AA-941DA7A14CCA}"/>
              </a:ext>
            </a:extLst>
          </p:cNvPr>
          <p:cNvGrpSpPr/>
          <p:nvPr/>
        </p:nvGrpSpPr>
        <p:grpSpPr>
          <a:xfrm>
            <a:off x="4412075" y="597550"/>
            <a:ext cx="6332125" cy="887814"/>
            <a:chOff x="4386675" y="1867550"/>
            <a:chExt cx="6332125" cy="88781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BF24DAD-DD05-794D-0B55-97D68F2E15A9}"/>
                </a:ext>
              </a:extLst>
            </p:cNvPr>
            <p:cNvGrpSpPr/>
            <p:nvPr/>
          </p:nvGrpSpPr>
          <p:grpSpPr>
            <a:xfrm>
              <a:off x="4386675" y="2178387"/>
              <a:ext cx="6332125" cy="576977"/>
              <a:chOff x="4386675" y="2178387"/>
              <a:chExt cx="6332125" cy="57697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C4D7A3F-D273-D280-DCA1-7C389337F4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1438" y="2178387"/>
                <a:ext cx="0" cy="23147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ADB9701-D5CD-D9E4-EDDA-6037AC0D3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675" y="2178387"/>
                <a:ext cx="633212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F9B5602-B495-0A82-F31F-59C4BFF6B4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14037" y="2178387"/>
                <a:ext cx="0" cy="576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93E786-3821-EC73-0CEE-153BCB552511}"/>
                </a:ext>
              </a:extLst>
            </p:cNvPr>
            <p:cNvSpPr txBox="1"/>
            <p:nvPr/>
          </p:nvSpPr>
          <p:spPr>
            <a:xfrm>
              <a:off x="7140690" y="1867550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ACC90B-BCA2-E9F0-1D60-1455B93D4BCC}"/>
              </a:ext>
            </a:extLst>
          </p:cNvPr>
          <p:cNvGrpSpPr/>
          <p:nvPr/>
        </p:nvGrpSpPr>
        <p:grpSpPr>
          <a:xfrm>
            <a:off x="6471132" y="1210042"/>
            <a:ext cx="2416775" cy="2093224"/>
            <a:chOff x="8670510" y="528125"/>
            <a:chExt cx="2416775" cy="209322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AA756F8-A4FF-0AB7-34AA-347874F29B84}"/>
                </a:ext>
              </a:extLst>
            </p:cNvPr>
            <p:cNvSpPr/>
            <p:nvPr/>
          </p:nvSpPr>
          <p:spPr>
            <a:xfrm>
              <a:off x="8688288" y="528125"/>
              <a:ext cx="2385991" cy="209190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ETOH cirrhosis">
              <a:extLst>
                <a:ext uri="{FF2B5EF4-FFF2-40B4-BE49-F238E27FC236}">
                  <a16:creationId xmlns:a16="http://schemas.microsoft.com/office/drawing/2014/main" id="{52C341FD-849D-AA97-4536-765E0C80B7E6}"/>
                </a:ext>
              </a:extLst>
            </p:cNvPr>
            <p:cNvSpPr txBox="1"/>
            <p:nvPr/>
          </p:nvSpPr>
          <p:spPr>
            <a:xfrm>
              <a:off x="8670510" y="528125"/>
              <a:ext cx="241677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5" name="Fatty diagram">
              <a:extLst>
                <a:ext uri="{FF2B5EF4-FFF2-40B4-BE49-F238E27FC236}">
                  <a16:creationId xmlns:a16="http://schemas.microsoft.com/office/drawing/2014/main" id="{7A1ACE72-647E-153D-A02F-02093F5AC1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5880" t="12338" r="36711" b="59048"/>
            <a:stretch/>
          </p:blipFill>
          <p:spPr>
            <a:xfrm>
              <a:off x="8872510" y="1062067"/>
              <a:ext cx="2010838" cy="1559282"/>
            </a:xfrm>
            <a:prstGeom prst="rect">
              <a:avLst/>
            </a:prstGeom>
          </p:spPr>
        </p:pic>
      </p:grpSp>
      <p:sp>
        <p:nvSpPr>
          <p:cNvPr id="36" name="ALF">
            <a:extLst>
              <a:ext uri="{FF2B5EF4-FFF2-40B4-BE49-F238E27FC236}">
                <a16:creationId xmlns:a16="http://schemas.microsoft.com/office/drawing/2014/main" id="{FDB6CFB5-CB99-14AA-18C6-DE49EB5DB12D}"/>
              </a:ext>
            </a:extLst>
          </p:cNvPr>
          <p:cNvSpPr txBox="1"/>
          <p:nvPr/>
        </p:nvSpPr>
        <p:spPr>
          <a:xfrm>
            <a:off x="2738567" y="70968"/>
            <a:ext cx="7467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/>
              <a:t>Management of Alcohol-induced Hepatitis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804B80-E51F-FEC9-1156-20AB987FBC09}"/>
              </a:ext>
            </a:extLst>
          </p:cNvPr>
          <p:cNvSpPr txBox="1"/>
          <p:nvPr/>
        </p:nvSpPr>
        <p:spPr>
          <a:xfrm>
            <a:off x="509623" y="3810000"/>
            <a:ext cx="188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Diagnosis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06FF99-8820-FD74-567D-96C22446E647}"/>
              </a:ext>
            </a:extLst>
          </p:cNvPr>
          <p:cNvSpPr txBox="1"/>
          <p:nvPr/>
        </p:nvSpPr>
        <p:spPr>
          <a:xfrm>
            <a:off x="509623" y="5324089"/>
            <a:ext cx="188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Treatment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067989-59FC-ED7C-6D32-E8DBFD7A6780}"/>
              </a:ext>
            </a:extLst>
          </p:cNvPr>
          <p:cNvCxnSpPr/>
          <p:nvPr/>
        </p:nvCxnSpPr>
        <p:spPr>
          <a:xfrm>
            <a:off x="509623" y="5084549"/>
            <a:ext cx="1142764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263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92BC2F7-CCF0-CA87-352F-AF70C32654CE}"/>
              </a:ext>
            </a:extLst>
          </p:cNvPr>
          <p:cNvGrpSpPr/>
          <p:nvPr/>
        </p:nvGrpSpPr>
        <p:grpSpPr>
          <a:xfrm>
            <a:off x="501495" y="1600631"/>
            <a:ext cx="1945753" cy="1702635"/>
            <a:chOff x="1974314" y="1541875"/>
            <a:chExt cx="1945753" cy="170263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12C6AA-FD31-0D49-0A4A-369E92B25D45}"/>
                </a:ext>
              </a:extLst>
            </p:cNvPr>
            <p:cNvSpPr/>
            <p:nvPr/>
          </p:nvSpPr>
          <p:spPr>
            <a:xfrm>
              <a:off x="1982442" y="1541875"/>
              <a:ext cx="1937625" cy="1702635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Liver diagram">
              <a:extLst>
                <a:ext uri="{FF2B5EF4-FFF2-40B4-BE49-F238E27FC236}">
                  <a16:creationId xmlns:a16="http://schemas.microsoft.com/office/drawing/2014/main" id="{A091C0EB-6FB4-D7C8-C1A4-C8090D1DCE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745" t="12746" r="63467" b="60850"/>
            <a:stretch/>
          </p:blipFill>
          <p:spPr>
            <a:xfrm>
              <a:off x="2033971" y="1891009"/>
              <a:ext cx="1838192" cy="134378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34C7A9-14D2-5792-7711-29DD7F2C4115}"/>
                </a:ext>
              </a:extLst>
            </p:cNvPr>
            <p:cNvSpPr txBox="1"/>
            <p:nvPr/>
          </p:nvSpPr>
          <p:spPr>
            <a:xfrm>
              <a:off x="1974314" y="1548909"/>
              <a:ext cx="193762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/>
                <a:t>Normal liver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F87E09-2099-E8A8-BA11-E59A373013AF}"/>
              </a:ext>
            </a:extLst>
          </p:cNvPr>
          <p:cNvGrpSpPr/>
          <p:nvPr/>
        </p:nvGrpSpPr>
        <p:grpSpPr>
          <a:xfrm>
            <a:off x="3414352" y="1197342"/>
            <a:ext cx="2045282" cy="2105924"/>
            <a:chOff x="4924362" y="1138587"/>
            <a:chExt cx="2045282" cy="210592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70F156-FEC6-B616-890A-F313E067EB2B}"/>
                </a:ext>
              </a:extLst>
            </p:cNvPr>
            <p:cNvSpPr/>
            <p:nvPr/>
          </p:nvSpPr>
          <p:spPr>
            <a:xfrm>
              <a:off x="4924362" y="1138587"/>
              <a:ext cx="2045282" cy="210592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Fatty diagram">
              <a:extLst>
                <a:ext uri="{FF2B5EF4-FFF2-40B4-BE49-F238E27FC236}">
                  <a16:creationId xmlns:a16="http://schemas.microsoft.com/office/drawing/2014/main" id="{48662CDC-47C4-AD03-F2AD-38A7B3A05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880" t="12338" r="36711" b="59048"/>
            <a:stretch/>
          </p:blipFill>
          <p:spPr>
            <a:xfrm>
              <a:off x="5007417" y="1868592"/>
              <a:ext cx="1868511" cy="136321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8D5301-DCD0-5248-270D-D89FD80D1079}"/>
                </a:ext>
              </a:extLst>
            </p:cNvPr>
            <p:cNvSpPr txBox="1"/>
            <p:nvPr/>
          </p:nvSpPr>
          <p:spPr>
            <a:xfrm>
              <a:off x="4972609" y="1168873"/>
              <a:ext cx="1949013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ts val="1800"/>
                </a:lnSpc>
              </a:pPr>
              <a:endParaRPr lang="en-US" sz="1600" dirty="0">
                <a:cs typeface="Calibri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E36A43-11C5-3D7F-AD40-28932696128B}"/>
              </a:ext>
            </a:extLst>
          </p:cNvPr>
          <p:cNvGrpSpPr/>
          <p:nvPr/>
        </p:nvGrpSpPr>
        <p:grpSpPr>
          <a:xfrm>
            <a:off x="9859286" y="1631834"/>
            <a:ext cx="1908614" cy="1671432"/>
            <a:chOff x="8828847" y="2549106"/>
            <a:chExt cx="1908614" cy="16714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508EC7-CC6F-5AAA-5363-A2B366E51724}"/>
                </a:ext>
              </a:extLst>
            </p:cNvPr>
            <p:cNvSpPr/>
            <p:nvPr/>
          </p:nvSpPr>
          <p:spPr>
            <a:xfrm>
              <a:off x="8828847" y="2549106"/>
              <a:ext cx="1908614" cy="167143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cute decomp">
              <a:extLst>
                <a:ext uri="{FF2B5EF4-FFF2-40B4-BE49-F238E27FC236}">
                  <a16:creationId xmlns:a16="http://schemas.microsoft.com/office/drawing/2014/main" id="{FB7546C0-1160-A8D9-776E-9E111C2B5BA4}"/>
                </a:ext>
              </a:extLst>
            </p:cNvPr>
            <p:cNvSpPr txBox="1"/>
            <p:nvPr/>
          </p:nvSpPr>
          <p:spPr>
            <a:xfrm>
              <a:off x="8930357" y="2588597"/>
              <a:ext cx="172085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US" dirty="0">
                <a:cs typeface="Calibri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A323127-7BC8-5007-0B41-A4EA5723ED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08" t="31778" r="42356" b="47917"/>
            <a:stretch/>
          </p:blipFill>
          <p:spPr>
            <a:xfrm>
              <a:off x="8868949" y="2913183"/>
              <a:ext cx="1868512" cy="1256585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34ECE9-0E9B-FD01-932E-F00DB2DF0B3E}"/>
              </a:ext>
            </a:extLst>
          </p:cNvPr>
          <p:cNvGrpSpPr/>
          <p:nvPr/>
        </p:nvGrpSpPr>
        <p:grpSpPr>
          <a:xfrm>
            <a:off x="2489881" y="2140534"/>
            <a:ext cx="914400" cy="377772"/>
            <a:chOff x="2464481" y="3372694"/>
            <a:chExt cx="914400" cy="37777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C3DC70-50D1-D866-CD47-CA3F19579C7E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2F6C3C-9E96-600E-4690-1287D0986112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3962CC-6137-F8E4-CC33-C68B370105E2}"/>
              </a:ext>
            </a:extLst>
          </p:cNvPr>
          <p:cNvGrpSpPr/>
          <p:nvPr/>
        </p:nvGrpSpPr>
        <p:grpSpPr>
          <a:xfrm>
            <a:off x="5526716" y="2066530"/>
            <a:ext cx="913158" cy="525780"/>
            <a:chOff x="5523486" y="3328134"/>
            <a:chExt cx="913158" cy="525780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5F3F07D-91E4-65C8-8721-3D8A2164B5A6}"/>
                </a:ext>
              </a:extLst>
            </p:cNvPr>
            <p:cNvCxnSpPr>
              <a:cxnSpLocks/>
            </p:cNvCxnSpPr>
            <p:nvPr/>
          </p:nvCxnSpPr>
          <p:spPr>
            <a:xfrm>
              <a:off x="5568787" y="3706820"/>
              <a:ext cx="82255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C25B489-3707-0AF4-B481-6B69F8FB8D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8063" y="3853914"/>
              <a:ext cx="82400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7FD3EA-55D3-9A7B-540E-79C1C11EC7C2}"/>
                </a:ext>
              </a:extLst>
            </p:cNvPr>
            <p:cNvSpPr txBox="1"/>
            <p:nvPr/>
          </p:nvSpPr>
          <p:spPr>
            <a:xfrm>
              <a:off x="5523486" y="3328134"/>
              <a:ext cx="9131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73BAB7-5C61-E745-2C41-ACB5A4C4775F}"/>
              </a:ext>
            </a:extLst>
          </p:cNvPr>
          <p:cNvGrpSpPr/>
          <p:nvPr/>
        </p:nvGrpSpPr>
        <p:grpSpPr>
          <a:xfrm>
            <a:off x="8930939" y="2140534"/>
            <a:ext cx="914400" cy="377772"/>
            <a:chOff x="2464481" y="3372694"/>
            <a:chExt cx="914400" cy="37777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A9CBEC-0C61-0EDC-8178-D1C5D031070C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1" y="3750466"/>
              <a:ext cx="7315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18BEE3-0B03-B7D1-9E43-CEE443731827}"/>
                </a:ext>
              </a:extLst>
            </p:cNvPr>
            <p:cNvSpPr txBox="1"/>
            <p:nvPr/>
          </p:nvSpPr>
          <p:spPr>
            <a:xfrm>
              <a:off x="2464481" y="3372694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5F6E93-9FBF-20C6-E7AA-941DA7A14CCA}"/>
              </a:ext>
            </a:extLst>
          </p:cNvPr>
          <p:cNvGrpSpPr/>
          <p:nvPr/>
        </p:nvGrpSpPr>
        <p:grpSpPr>
          <a:xfrm>
            <a:off x="4412075" y="597550"/>
            <a:ext cx="6332125" cy="887814"/>
            <a:chOff x="4386675" y="1867550"/>
            <a:chExt cx="6332125" cy="88781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BF24DAD-DD05-794D-0B55-97D68F2E15A9}"/>
                </a:ext>
              </a:extLst>
            </p:cNvPr>
            <p:cNvGrpSpPr/>
            <p:nvPr/>
          </p:nvGrpSpPr>
          <p:grpSpPr>
            <a:xfrm>
              <a:off x="4386675" y="2178387"/>
              <a:ext cx="6332125" cy="576977"/>
              <a:chOff x="4386675" y="2178387"/>
              <a:chExt cx="6332125" cy="57697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C4D7A3F-D273-D280-DCA1-7C389337F4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1438" y="2178387"/>
                <a:ext cx="0" cy="23147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ADB9701-D5CD-D9E4-EDDA-6037AC0D3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675" y="2178387"/>
                <a:ext cx="633212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F9B5602-B495-0A82-F31F-59C4BFF6B4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14037" y="2178387"/>
                <a:ext cx="0" cy="576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93E786-3821-EC73-0CEE-153BCB552511}"/>
                </a:ext>
              </a:extLst>
            </p:cNvPr>
            <p:cNvSpPr txBox="1"/>
            <p:nvPr/>
          </p:nvSpPr>
          <p:spPr>
            <a:xfrm>
              <a:off x="7140690" y="1867550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ETOH use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ACC90B-BCA2-E9F0-1D60-1455B93D4BCC}"/>
              </a:ext>
            </a:extLst>
          </p:cNvPr>
          <p:cNvGrpSpPr/>
          <p:nvPr/>
        </p:nvGrpSpPr>
        <p:grpSpPr>
          <a:xfrm>
            <a:off x="6488910" y="1210042"/>
            <a:ext cx="2385991" cy="2093224"/>
            <a:chOff x="8688288" y="528125"/>
            <a:chExt cx="2385991" cy="209322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AA756F8-A4FF-0AB7-34AA-347874F29B84}"/>
                </a:ext>
              </a:extLst>
            </p:cNvPr>
            <p:cNvSpPr/>
            <p:nvPr/>
          </p:nvSpPr>
          <p:spPr>
            <a:xfrm>
              <a:off x="8688288" y="528125"/>
              <a:ext cx="2385991" cy="2091904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Fatty diagram">
              <a:extLst>
                <a:ext uri="{FF2B5EF4-FFF2-40B4-BE49-F238E27FC236}">
                  <a16:creationId xmlns:a16="http://schemas.microsoft.com/office/drawing/2014/main" id="{7A1ACE72-647E-153D-A02F-02093F5AC1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880" t="12338" r="36711" b="59048"/>
            <a:stretch/>
          </p:blipFill>
          <p:spPr>
            <a:xfrm>
              <a:off x="8872510" y="1062067"/>
              <a:ext cx="2010838" cy="1559282"/>
            </a:xfrm>
            <a:prstGeom prst="rect">
              <a:avLst/>
            </a:prstGeom>
          </p:spPr>
        </p:pic>
      </p:grpSp>
      <p:sp>
        <p:nvSpPr>
          <p:cNvPr id="36" name="ALF">
            <a:extLst>
              <a:ext uri="{FF2B5EF4-FFF2-40B4-BE49-F238E27FC236}">
                <a16:creationId xmlns:a16="http://schemas.microsoft.com/office/drawing/2014/main" id="{FDB6CFB5-CB99-14AA-18C6-DE49EB5DB12D}"/>
              </a:ext>
            </a:extLst>
          </p:cNvPr>
          <p:cNvSpPr txBox="1"/>
          <p:nvPr/>
        </p:nvSpPr>
        <p:spPr>
          <a:xfrm>
            <a:off x="2738567" y="70968"/>
            <a:ext cx="74673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/>
              <a:t>Management of Alcohol-induced Hepatitis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804B80-E51F-FEC9-1156-20AB987FBC09}"/>
              </a:ext>
            </a:extLst>
          </p:cNvPr>
          <p:cNvSpPr txBox="1"/>
          <p:nvPr/>
        </p:nvSpPr>
        <p:spPr>
          <a:xfrm>
            <a:off x="509623" y="3810000"/>
            <a:ext cx="188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Diagnosis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06FF99-8820-FD74-567D-96C22446E647}"/>
              </a:ext>
            </a:extLst>
          </p:cNvPr>
          <p:cNvSpPr txBox="1"/>
          <p:nvPr/>
        </p:nvSpPr>
        <p:spPr>
          <a:xfrm>
            <a:off x="509623" y="5832089"/>
            <a:ext cx="188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Treatment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270908-2498-451D-5A4E-43F5EA25521A}"/>
              </a:ext>
            </a:extLst>
          </p:cNvPr>
          <p:cNvSpPr txBox="1"/>
          <p:nvPr/>
        </p:nvSpPr>
        <p:spPr>
          <a:xfrm>
            <a:off x="3359974" y="3399589"/>
            <a:ext cx="2280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Often incidental finding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± ↑ LFTs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Indistinguishable from NAFLD on US or biopsy</a:t>
            </a:r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112633-7E14-3C12-75DE-E8284D945FBB}"/>
              </a:ext>
            </a:extLst>
          </p:cNvPr>
          <p:cNvSpPr txBox="1"/>
          <p:nvPr/>
        </p:nvSpPr>
        <p:spPr>
          <a:xfrm>
            <a:off x="9753898" y="3399589"/>
            <a:ext cx="2146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Risk scores (APRI, </a:t>
            </a:r>
            <a:r>
              <a:rPr lang="en-US" sz="1600" dirty="0" err="1">
                <a:cs typeface="Calibri"/>
              </a:rPr>
              <a:t>FibroTest</a:t>
            </a:r>
            <a:r>
              <a:rPr lang="en-US" sz="1600" dirty="0">
                <a:cs typeface="Calibri"/>
              </a:rPr>
              <a:t>, ELF)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Small nodular liver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Elastography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Liver biopsy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478A5F-F057-9232-40A8-A78F88BE497B}"/>
              </a:ext>
            </a:extLst>
          </p:cNvPr>
          <p:cNvSpPr txBox="1"/>
          <p:nvPr/>
        </p:nvSpPr>
        <p:spPr>
          <a:xfrm>
            <a:off x="6261100" y="3399589"/>
            <a:ext cx="2908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Clinical diagnosis!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AST:ALT is &gt;2 and &lt;400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 err="1">
                <a:cs typeface="Calibri"/>
              </a:rPr>
              <a:t>Tbili</a:t>
            </a:r>
            <a:r>
              <a:rPr lang="en-US" sz="1600" dirty="0">
                <a:cs typeface="Calibri"/>
              </a:rPr>
              <a:t> &gt;3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Heavy ETOH use within 60 d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600" dirty="0">
                <a:cs typeface="Calibri"/>
              </a:rPr>
              <a:t>May have fever, ↑WBC, RUQ pain, ascites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1B7A07-8408-125C-56F2-86989C3E4A52}"/>
              </a:ext>
            </a:extLst>
          </p:cNvPr>
          <p:cNvSpPr txBox="1"/>
          <p:nvPr/>
        </p:nvSpPr>
        <p:spPr>
          <a:xfrm>
            <a:off x="3514474" y="5793147"/>
            <a:ext cx="1795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cs typeface="Calibri"/>
              </a:rPr>
              <a:t>Alcohol cessation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EDF674-B954-741D-F378-96231B98F3CF}"/>
              </a:ext>
            </a:extLst>
          </p:cNvPr>
          <p:cNvCxnSpPr>
            <a:cxnSpLocks/>
          </p:cNvCxnSpPr>
          <p:nvPr/>
        </p:nvCxnSpPr>
        <p:spPr>
          <a:xfrm>
            <a:off x="5309675" y="5962424"/>
            <a:ext cx="6159500" cy="45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63870A1-A64E-53FB-7E96-67F4C3120ECC}"/>
              </a:ext>
            </a:extLst>
          </p:cNvPr>
          <p:cNvSpPr txBox="1"/>
          <p:nvPr/>
        </p:nvSpPr>
        <p:spPr>
          <a:xfrm>
            <a:off x="7034623" y="6132146"/>
            <a:ext cx="1354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cs typeface="Calibri"/>
              </a:rPr>
              <a:t>Diet 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A90004-20EB-047D-5ECD-215AAD8CB963}"/>
              </a:ext>
            </a:extLst>
          </p:cNvPr>
          <p:cNvCxnSpPr>
            <a:cxnSpLocks/>
          </p:cNvCxnSpPr>
          <p:nvPr/>
        </p:nvCxnSpPr>
        <p:spPr>
          <a:xfrm>
            <a:off x="8230675" y="6298077"/>
            <a:ext cx="3238500" cy="2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1046A1E-D741-08DF-CF6B-CE892610B1C9}"/>
              </a:ext>
            </a:extLst>
          </p:cNvPr>
          <p:cNvSpPr txBox="1"/>
          <p:nvPr/>
        </p:nvSpPr>
        <p:spPr>
          <a:xfrm>
            <a:off x="6261100" y="5173449"/>
            <a:ext cx="2586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cs typeface="Calibri"/>
              </a:rPr>
              <a:t>Risk stratify (MDF, MELD)</a:t>
            </a:r>
          </a:p>
          <a:p>
            <a:pPr algn="ctr"/>
            <a:r>
              <a:rPr lang="en-US" sz="1600" dirty="0">
                <a:cs typeface="Calibri"/>
              </a:rPr>
              <a:t>±prednisolone if MDF≥32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1693948-E589-3848-E38D-CB6DA3EAC53A}"/>
              </a:ext>
            </a:extLst>
          </p:cNvPr>
          <p:cNvCxnSpPr/>
          <p:nvPr/>
        </p:nvCxnSpPr>
        <p:spPr>
          <a:xfrm>
            <a:off x="509623" y="5084549"/>
            <a:ext cx="1142764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B16C724-C24C-5B5D-6C61-0863C92D4062}"/>
              </a:ext>
            </a:extLst>
          </p:cNvPr>
          <p:cNvSpPr txBox="1"/>
          <p:nvPr/>
        </p:nvSpPr>
        <p:spPr>
          <a:xfrm>
            <a:off x="3461880" y="1200625"/>
            <a:ext cx="194901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dirty="0">
                <a:cs typeface="Calibri"/>
              </a:rPr>
              <a:t>ETOH-related fatty liver disease</a:t>
            </a:r>
          </a:p>
          <a:p>
            <a:pPr algn="ctr"/>
            <a:r>
              <a:rPr lang="en-US" sz="1600" dirty="0">
                <a:cs typeface="Calibri"/>
              </a:rPr>
              <a:t>(Hepatic steatosis)</a:t>
            </a:r>
          </a:p>
        </p:txBody>
      </p:sp>
      <p:sp>
        <p:nvSpPr>
          <p:cNvPr id="58" name="ETOH cirrhosis">
            <a:extLst>
              <a:ext uri="{FF2B5EF4-FFF2-40B4-BE49-F238E27FC236}">
                <a16:creationId xmlns:a16="http://schemas.microsoft.com/office/drawing/2014/main" id="{A757C98F-20D3-0600-6DD4-28438A80707C}"/>
              </a:ext>
            </a:extLst>
          </p:cNvPr>
          <p:cNvSpPr txBox="1"/>
          <p:nvPr/>
        </p:nvSpPr>
        <p:spPr>
          <a:xfrm>
            <a:off x="6458126" y="1184006"/>
            <a:ext cx="241677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ETOH-related hepatitis</a:t>
            </a:r>
            <a:endParaRPr lang="en-US" sz="1600" dirty="0"/>
          </a:p>
          <a:p>
            <a:pPr algn="ctr"/>
            <a:r>
              <a:rPr lang="en-US" sz="1600" dirty="0"/>
              <a:t>(Steatohepatitis)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91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7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F47D6D-8549-A9EF-486B-A08DC5FA18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47" t="29757" r="63472" b="49884"/>
          <a:stretch/>
        </p:blipFill>
        <p:spPr>
          <a:xfrm>
            <a:off x="1111249" y="1739900"/>
            <a:ext cx="9969501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77382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tIns="109728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Guideline &amp; Nomenclature Update (2024)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2024 ACG Clinical Guideline on Alcohol-Associated Liver Disease (Am J Gastroenterol 2024;119:30-54)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Reaffirms the framework taught here: abstinence is the single most effective intervention; MDF ≥32 (or MELD &gt;20) identifies severe alcohol-associated hepatitis (AH) for corticosteroid consideration; Lille score at day 4–7 guides whether to continue or stop.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Prednisolone 40 mg/day improves 28-day (short-term) survival in severe AH without contraindications — no long-term benefit. Adding IV N-acetylcysteine (NAC) to prednisolone may further improve short-term (28–30 day) survival.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Early liver transplantation for carefully selected patients with severe AH non-responsive to medical therapy is now endorsed by ACG/AASLD (no longer experimental), with outcomes comparable to other indications.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2023 multi-society nomenclature change (Hepatology 2023;78:1966): NAFLD → MASLD, NASH → MASH; new "MetALD" category for metabolic dysfunction plus moderate alcohol use. "Alcohol-related steatosis is indistinguishable from MASLD on imaging" replaces the old NAFLD wording on the diagnosis slides.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Standing teaching slides are unchanged and remain current; this slide captures the newer framing and adjuncts.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tIns="109728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ALD is a spectrum: hepatic steatosis → alcohol-related (steato)hepatitis → fibrosis/cirrhosis. Steatosis and inflammation can regress with abstinence; fibrosis is largely irreversible.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Abstinence is the single most important factor improving survival. Use a multimodal approach: naltrexone or acamprosate first-line (FDA-approved), plus psychosocial/behavioral treatment. Avoid disulfiram in ALD.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Alcohol-related hepatitis (AH) is a CLINICAL diagnosis: heavy recent use, jaundice ≤8 wks, AST:ALT &gt;2 with both &lt;400 IU/L, total bilirubin &gt;3 mg/dL. Rule out infection and other causes in every patient.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Risk-stratify AH with MDF (≥32) or MELD (&gt;20). Consider prednisolone 40 mg/day (± NAC) if no contraindication (active infection, AKI Cr &gt;2.5, GI bleed, multiorgan failure). Reassess with Lille at day 4–7: &lt;0.45 = continue 28-day course; ≥0.45 = stop steroids.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•  Nutrition matters: high-protein diet with thiamine, folate and B-complex supplementation. Refer non-recovering cirrhosis — and selected severe AH — for transplant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tIns="109728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Attribution, License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Adapted from the TeachIM original "Alcohol-related Liver Disease" (published November 2022).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Authors: CJ Mowry, MD; John Haydek, MD. Section Editor: Elijah Mun, MD. Executive Editor: Yilin Zhang, MD.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Source: https://teachim.org/teaching_material/alcohol-related-liver-disease/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License: Creative Commons Attribution-NonCommercial 4.0 International (CC BY-NC 4.0). Non-commercial educational use only.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Optimization (June 2026): surgical correction — Case 2b slide "Six-month mortality is 85%" → "survival is 85%" (Lille &lt;0.45 predicts ~85% 6-month survival; Louvet, Hepatology 2007). All original click-to-reveal animations and BioRender graphics preserved.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Added: 2024 ACG ALD guideline update + 2023 MASLD/MASH nomenclature slide; take-home slide. Companion files: ALD facilitator guide (ALD-teaching-script.pdf), ALD learner handout (ALD-handout.pdf) — reviewed, no changes needed.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53397</TotalTime>
  <Words>1770</Words>
  <Application>Microsoft Office PowerPoint</Application>
  <PresentationFormat>Widescreen</PresentationFormat>
  <Paragraphs>338</Paragraphs>
  <Slides>11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BlinkMacSystemFont</vt:lpstr>
      <vt:lpstr>Calibri</vt:lpstr>
      <vt:lpstr>Calibri Light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503</cp:revision>
  <dcterms:created xsi:type="dcterms:W3CDTF">2020-12-09T20:37:45Z</dcterms:created>
  <dcterms:modified xsi:type="dcterms:W3CDTF">2022-12-02T21:52:56Z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0x0101003DAD2A20F1EFBC4187333CA7E8889039</vt:lpwstr>
  </property>
</Properties>
</file>