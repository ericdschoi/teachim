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4.svg" ContentType="image/svg+xml"/>
  <Override PartName="/ppt/notesMasters/notesMaster1.xml" ContentType="application/vnd.openxmlformats-officedocument.presentationml.notesMaster+xml"/>
  <Override PartName="/ppt/notesMasters/notesMaster10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2" r:id="rId2"/>
    <p:sldId id="263" r:id="rId3"/>
    <p:sldId id="256" r:id="rId4"/>
    <p:sldId id="264" r:id="rId5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478" autoAdjust="0"/>
  </p:normalViewPr>
  <p:slideViewPr>
    <p:cSldViewPr snapToGrid="0">
      <p:cViewPr varScale="1">
        <p:scale>
          <a:sx n="65" d="100"/>
          <a:sy n="65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" userId="8ae8df808a00c05c" providerId="LiveId" clId="{C60B33AF-AEC8-4864-9408-794EC9F943E0}"/>
    <pc:docChg chg="modSld">
      <pc:chgData name="Teach" userId="8ae8df808a00c05c" providerId="LiveId" clId="{C60B33AF-AEC8-4864-9408-794EC9F943E0}" dt="2020-06-16T21:35:04.854" v="33" actId="20577"/>
      <pc:docMkLst>
        <pc:docMk/>
      </pc:docMkLst>
      <pc:sldChg chg="modNotesTx">
        <pc:chgData name="Teach" userId="8ae8df808a00c05c" providerId="LiveId" clId="{C60B33AF-AEC8-4864-9408-794EC9F943E0}" dt="2020-06-16T21:35:04.854" v="33" actId="20577"/>
        <pc:sldMkLst>
          <pc:docMk/>
          <pc:sldMk cId="1015907551" sldId="26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2ACF3-59B9-4B8A-AA63-D39682F901AF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9D6FB-D30B-472B-A9AC-AC295EC03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55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2ACF3-59B9-4B8A-AA63-D39682F901AF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9D6FB-D30B-472B-A9AC-AC295EC03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55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0.xml"/><Relationship Id="rId2" Type="http://schemas.openxmlformats.org/officeDocument/2006/relationships/slide" Target="../slides/slide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0.xml"/><Relationship Id="rId2" Type="http://schemas.openxmlformats.org/officeDocument/2006/relationships/slide" Target="../slides/slide2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0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  <a:p>
            <a:endParaRPr lang="en-US" dirty="0"/>
          </a:p>
          <a:p>
            <a:r>
              <a:rPr lang="en-US" dirty="0"/>
              <a:t>3</a:t>
            </a:r>
          </a:p>
          <a:p>
            <a:pPr marL="171450" indent="-171450">
              <a:buFontTx/>
              <a:buChar char="-"/>
            </a:pPr>
            <a:r>
              <a:rPr lang="en-US" dirty="0"/>
              <a:t>Is there another etiology worth listing?  E.g. small vessel dissection?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4 </a:t>
            </a:r>
          </a:p>
          <a:p>
            <a:pPr marL="0" indent="0">
              <a:buFontTx/>
              <a:buNone/>
            </a:pPr>
            <a:r>
              <a:rPr lang="en-US" dirty="0"/>
              <a:t>- Are these the right considerations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9D6FB-D30B-472B-A9AC-AC295EC03D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70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</a:t>
            </a:r>
            <a:br>
              <a:rPr lang="en-US" dirty="0"/>
            </a:br>
            <a:r>
              <a:rPr lang="en-US" dirty="0"/>
              <a:t>- Aspects &lt;8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determines “salvageable brain”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common is intravascular stent placement? Is DAPT &gt;6mo always recommended, what if this is done after </a:t>
            </a:r>
            <a:r>
              <a:rPr lang="en-US" dirty="0" err="1"/>
              <a:t>tPA</a:t>
            </a:r>
            <a:r>
              <a:rPr lang="en-US" dirty="0"/>
              <a:t>?</a:t>
            </a:r>
          </a:p>
          <a:p>
            <a:pPr marL="171450" indent="-171450">
              <a:buFontTx/>
              <a:buChar char="-"/>
            </a:pPr>
            <a:r>
              <a:rPr lang="en-US" dirty="0"/>
              <a:t>Are the CVA performance measures local or national?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/>
              <a:t>- SALVAAGE, DAWN, DEFUSE3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9D6FB-D30B-472B-A9AC-AC295EC03D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82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Identify LVO</a:t>
            </a:r>
          </a:p>
          <a:p>
            <a:pPr marL="171450" indent="-171450">
              <a:buFontTx/>
              <a:buChar char="-"/>
            </a:pPr>
            <a:r>
              <a:rPr lang="en-US" dirty="0"/>
              <a:t>Identify intra and extra cranial atherosclerosis</a:t>
            </a:r>
          </a:p>
          <a:p>
            <a:pPr marL="171450" indent="-171450">
              <a:buFontTx/>
              <a:buChar char="-"/>
            </a:pPr>
            <a:r>
              <a:rPr lang="en-US" dirty="0"/>
              <a:t>Identify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Day 2</a:t>
            </a:r>
          </a:p>
          <a:p>
            <a:pPr marL="0" indent="0">
              <a:buFontTx/>
              <a:buNone/>
            </a:pPr>
            <a:r>
              <a:rPr lang="en-US" dirty="0"/>
              <a:t>- Does brain MRI really help you determine risk of hem conversion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9D6FB-D30B-472B-A9AC-AC295EC03D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51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  <a:p>
            <a:endParaRPr lang="en-US" dirty="0"/>
          </a:p>
          <a:p>
            <a:r>
              <a:rPr lang="en-US" dirty="0"/>
              <a:t>3</a:t>
            </a:r>
          </a:p>
          <a:p>
            <a:pPr marL="171450" indent="-171450">
              <a:buFontTx/>
              <a:buChar char="-"/>
            </a:pPr>
            <a:r>
              <a:rPr lang="en-US" dirty="0"/>
              <a:t>Is there another etiology worth listing?  E.g. small vessel dissection?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4 </a:t>
            </a:r>
          </a:p>
          <a:p>
            <a:pPr marL="0" indent="0">
              <a:buFontTx/>
              <a:buNone/>
            </a:pPr>
            <a:r>
              <a:rPr lang="en-US" dirty="0"/>
              <a:t>- Are these the right considerations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9D6FB-D30B-472B-A9AC-AC295EC03D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707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</a:t>
            </a:r>
            <a:br>
              <a:rPr lang="en-US" dirty="0"/>
            </a:br>
            <a:r>
              <a:rPr lang="en-US" dirty="0"/>
              <a:t>- Aspects &lt;8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determines “salvageable brain”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common is intravascular stent placement? Is DAPT &gt;6mo always recommended, what if this is done after </a:t>
            </a:r>
            <a:r>
              <a:rPr lang="en-US" dirty="0" err="1"/>
              <a:t>tPA</a:t>
            </a:r>
            <a:r>
              <a:rPr lang="en-US" dirty="0"/>
              <a:t>?</a:t>
            </a:r>
          </a:p>
          <a:p>
            <a:pPr marL="171450" indent="-171450">
              <a:buFontTx/>
              <a:buChar char="-"/>
            </a:pPr>
            <a:r>
              <a:rPr lang="en-US" dirty="0"/>
              <a:t>Are the CVA performance measures local or national?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9D6FB-D30B-472B-A9AC-AC295EC03D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822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Identify LVO</a:t>
            </a:r>
          </a:p>
          <a:p>
            <a:pPr marL="171450" indent="-171450">
              <a:buFontTx/>
              <a:buChar char="-"/>
            </a:pPr>
            <a:r>
              <a:rPr lang="en-US" dirty="0"/>
              <a:t>Identify intra and extra cranial atherosclerosis</a:t>
            </a:r>
          </a:p>
          <a:p>
            <a:pPr marL="171450" indent="-171450">
              <a:buFontTx/>
              <a:buChar char="-"/>
            </a:pPr>
            <a:r>
              <a:rPr lang="en-US" dirty="0"/>
              <a:t>Identify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Day 2</a:t>
            </a:r>
          </a:p>
          <a:p>
            <a:pPr marL="0" indent="0">
              <a:buFontTx/>
              <a:buNone/>
            </a:pPr>
            <a:r>
              <a:rPr lang="en-US" dirty="0"/>
              <a:t>- Does brain MRI really help you determine risk of hem conversion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9D6FB-D30B-472B-A9AC-AC295EC03D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517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E445-0F1B-4510-9805-653E3B19E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8F9E5-2101-46A9-9221-55BE51C38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81303-ED17-4CA8-9DBA-75ABB50E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561BD-5786-4204-B1D4-A5AA4227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5A437-8C59-4B2C-9B48-C5EC7D77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5103-3D6F-4F06-97BA-D182E368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CD3FD-AF0B-4B34-B56D-8516640C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A95B8-BA0B-4642-BB6B-8EACB7BA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0E4DE-CEB7-4DAD-89EB-ADDDE61F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CC18F-780E-4898-9702-5A3A6529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2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4124-0ED3-41CA-A51C-DF2645296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84418-C1C9-4943-8C2B-D04950F52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E0C83-ECD4-486C-B77D-C9AB8A6D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375C3-E121-4FEA-8E57-5A6BF58A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66437-BC8B-45B7-8D33-E9F856AF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7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C0CA-DD36-413F-9FB4-828E3D94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B0672-9C2D-495E-B4AD-A27452988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8C492-E357-47ED-A4DD-57E0505F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6D804-E2AF-4950-BED1-F5C12C81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E6B14-0930-4FD6-B50F-78A9CF14F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A89F0-41A7-4A1E-A240-57492B21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3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4566-A960-488B-AD13-8090F7393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9BDDA-8C17-4FED-ABD3-305E0BBB4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CC0B8-8C33-4362-874B-DD4C8B504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98E25-463F-4A03-9C0C-ED06E9A6A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D9D04-0C4F-415A-B38A-EF7269BA5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F7A164-1504-4779-9C5F-1E5A3DAC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B0A19E-1B31-4E86-AECD-F490783D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C8044-1FF1-4F6B-96F3-F6D41F12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B1749-2699-411F-80A0-765520B6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F2596-EC96-45A9-A530-40EE502B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07338-35C0-46E5-8952-5F1C6C61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4F378-F980-4F86-9ED4-E34FE60B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4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9C706-08AD-48EE-BD4F-2F1D9998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8EA14-C0C1-47E4-937E-309DB7657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A1433-25C9-4BB7-A92D-CCD147CC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28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135C-10A3-46D2-9255-46B6EE8A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36FCD-893E-4C38-A4BC-CB9A309F6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BE961-0F7C-4B93-9032-0A416E172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C9B50-AD50-4FD5-8D0F-531B8BDE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40802-8667-4050-831A-61A2A593A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117EC-54BD-4224-AB93-23420CEC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9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7463-8DD9-4942-A43D-A115EAE5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A513F-E168-4FF1-A1CD-E443894152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6933B-47A8-45FF-ABF4-49678FB73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04BFC-F05E-4812-A8CC-83F4B3DA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E8C80-E632-4679-92A3-14EA7697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AAF9D-02A9-41E6-8D24-7FC7C9AF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7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6B0F-D06C-45C1-93FA-987A2C829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60B36-5E14-4C9F-95E1-972581075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5F45E-68A2-4D79-B7FA-524D421E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EF1C6-D2BE-4BC0-99DB-920CF7FD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DF2A6-22D2-4C40-9D27-A51E6228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7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F68F3-6DDF-4601-B46B-3FD2977AF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33D1C-5BE2-4AE7-8EEC-BB0216EE3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C0685-8FF3-45F6-9F11-B73607BF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A423D-EEF4-4445-ACC3-CB39B824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3B43-5724-4193-999D-E750DB93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52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E445-0F1B-4510-9805-653E3B19E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8F9E5-2101-46A9-9221-55BE51C38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81303-ED17-4CA8-9DBA-75ABB50E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561BD-5786-4204-B1D4-A5AA4227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5A437-8C59-4B2C-9B48-C5EC7D77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4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5103-3D6F-4F06-97BA-D182E368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CD3FD-AF0B-4B34-B56D-8516640C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A95B8-BA0B-4642-BB6B-8EACB7BA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0E4DE-CEB7-4DAD-89EB-ADDDE61F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CC18F-780E-4898-9702-5A3A6529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256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4124-0ED3-41CA-A51C-DF2645296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84418-C1C9-4943-8C2B-D04950F52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E0C83-ECD4-486C-B77D-C9AB8A6D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375C3-E121-4FEA-8E57-5A6BF58A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66437-BC8B-45B7-8D33-E9F856AF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750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C0CA-DD36-413F-9FB4-828E3D94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B0672-9C2D-495E-B4AD-A27452988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8C492-E357-47ED-A4DD-57E0505F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6D804-E2AF-4950-BED1-F5C12C81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E6B14-0930-4FD6-B50F-78A9CF14F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A89F0-41A7-4A1E-A240-57492B21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338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4566-A960-488B-AD13-8090F7393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9BDDA-8C17-4FED-ABD3-305E0BBB4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CC0B8-8C33-4362-874B-DD4C8B504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98E25-463F-4A03-9C0C-ED06E9A6A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D9D04-0C4F-415A-B38A-EF7269BA5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F7A164-1504-4779-9C5F-1E5A3DAC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B0A19E-1B31-4E86-AECD-F490783D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C8044-1FF1-4F6B-96F3-F6D41F12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3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B1749-2699-411F-80A0-765520B6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F2596-EC96-45A9-A530-40EE502B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07338-35C0-46E5-8952-5F1C6C61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4F378-F980-4F86-9ED4-E34FE60B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4085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9C706-08AD-48EE-BD4F-2F1D9998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8EA14-C0C1-47E4-937E-309DB7657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A1433-25C9-4BB7-A92D-CCD147CC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2850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135C-10A3-46D2-9255-46B6EE8A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36FCD-893E-4C38-A4BC-CB9A309F6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BE961-0F7C-4B93-9032-0A416E172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C9B50-AD50-4FD5-8D0F-531B8BDE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40802-8667-4050-831A-61A2A593A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117EC-54BD-4224-AB93-23420CEC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9786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7463-8DD9-4942-A43D-A115EAE5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A513F-E168-4FF1-A1CD-E443894152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6933B-47A8-45FF-ABF4-49678FB73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04BFC-F05E-4812-A8CC-83F4B3DA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E8C80-E632-4679-92A3-14EA7697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AAF9D-02A9-41E6-8D24-7FC7C9AF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7191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6B0F-D06C-45C1-93FA-987A2C829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60B36-5E14-4C9F-95E1-972581075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5F45E-68A2-4D79-B7FA-524D421E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EF1C6-D2BE-4BC0-99DB-920CF7FD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DF2A6-22D2-4C40-9D27-A51E6228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7112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F68F3-6DDF-4601-B46B-3FD2977AF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33D1C-5BE2-4AE7-8EEC-BB0216EE3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C0685-8FF3-45F6-9F11-B73607BF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A423D-EEF4-4445-ACC3-CB39B824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3B43-5724-4193-999D-E750DB93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529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80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10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E046D-1469-4B33-B89D-E5F57308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73692-AC26-4313-8BE1-CFA41CD56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D8586-9060-4D0F-934F-0A245109D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DB1A2-ACB7-4918-9D10-BD7E4D4473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7B0C0-7BD6-4B80-974F-BCD98216F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4910-C52E-487D-95D1-AD27F9547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3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E046D-1469-4B33-B89D-E5F57308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73692-AC26-4313-8BE1-CFA41CD56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D8586-9060-4D0F-934F-0A245109D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DB1A2-ACB7-4918-9D10-BD7E4D44733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7B0C0-7BD6-4B80-974F-BCD98216F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4910-C52E-487D-95D1-AD27F9547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F3751-C1BE-4525-8A90-52492255F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3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slide" Target="slide4.xml"/><Relationship Id="rId4" Type="http://schemas.openxmlformats.org/officeDocument/2006/relationships/slide" Target="slide2.xml"/><Relationship Id="rId5" Type="http://schemas.openxmlformats.org/officeDocument/2006/relationships/image" Target="../media/image1.png"/><Relationship Id="rId9" Type="http://schemas.openxmlformats.org/officeDocument/2006/relationships/slide" Target="slide30.xml"/><Relationship Id="rId10" Type="http://schemas.openxmlformats.org/officeDocument/2006/relationships/image" Target="../../clipboard/media/image2.png"/><Relationship Id="rId11" Type="http://schemas.openxmlformats.org/officeDocument/2006/relationships/image" Target="../media/image2.png"/><Relationship Id="rId12" Type="http://schemas.openxmlformats.org/officeDocument/2006/relationships/slide" Target="slide40.xml"/><Relationship Id="rId13" Type="http://schemas.openxmlformats.org/officeDocument/2006/relationships/image" Target="../../clipboard/media/image3.png"/><Relationship Id="rId14" Type="http://schemas.openxmlformats.org/officeDocument/2006/relationships/image" Target="../media/image3.png"/><Relationship Id="rId15" Type="http://schemas.openxmlformats.org/officeDocument/2006/relationships/image" Target="../media/image4.svg"/><Relationship Id="rId16" Type="http://schemas.openxmlformats.org/officeDocument/2006/relationships/image" Target="../media/image5.png"/><Relationship Id="rId17" Type="http://schemas.openxmlformats.org/officeDocument/2006/relationships/slide" Target="slide2.xml"/><Relationship Id="rId18" Type="http://schemas.openxmlformats.org/officeDocument/2006/relationships/image" Target="../media/image5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mdcalc.com/tpa-contraindications-ischemic-stroke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slide" Target="slide1.xml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slide" Target="slide40.xml"/><Relationship Id="rId4" Type="http://schemas.openxmlformats.org/officeDocument/2006/relationships/slide" Target="slide30.xml"/><Relationship Id="rId5" Type="http://schemas.openxmlformats.org/officeDocument/2006/relationships/slide" Target="slide20.xml"/><Relationship Id="rId6" Type="http://schemas.openxmlformats.org/officeDocument/2006/relationships/image" Target="../../clipboard/media/image1.png"/><Relationship Id="rId7" Type="http://schemas.openxmlformats.org/officeDocument/2006/relationships/image" Target="../../clipboard/media/image2.png"/><Relationship Id="rId8" Type="http://schemas.openxmlformats.org/officeDocument/2006/relationships/image" Target="../../clipboard/media/image3.png"/><Relationship Id="rId9" Type="http://schemas.openxmlformats.org/officeDocument/2006/relationships/image" Target="../media/image3.png"/><Relationship Id="rId10" Type="http://schemas.openxmlformats.org/officeDocument/2006/relationships/image" Target="../media/image4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mdcalc.com/tpa-contraindications-ischemic-stroke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" Target="slide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0.png"/><Relationship Id="rId4" Type="http://schemas.openxmlformats.org/officeDocument/2006/relationships/slide" Target="slide10.xml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" Target="slide10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clude hemorrage">
            <a:extLst>
              <a:ext uri="{FF2B5EF4-FFF2-40B4-BE49-F238E27FC236}">
                <a16:creationId xmlns:a16="http://schemas.microsoft.com/office/drawing/2014/main" id="{B2BDFE98-B232-4D69-95B5-503A08933596}"/>
              </a:ext>
            </a:extLst>
          </p:cNvPr>
          <p:cNvSpPr txBox="1"/>
          <p:nvPr/>
        </p:nvSpPr>
        <p:spPr>
          <a:xfrm>
            <a:off x="848455" y="1804652"/>
            <a:ext cx="1328192" cy="58477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Exclude Hemorrhage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5B156-27B4-410C-9DE0-B8E5FFDEA923}"/>
              </a:ext>
            </a:extLst>
          </p:cNvPr>
          <p:cNvSpPr txBox="1"/>
          <p:nvPr/>
        </p:nvSpPr>
        <p:spPr>
          <a:xfrm>
            <a:off x="115119" y="2954668"/>
            <a:ext cx="809003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843D0-3386-4571-A35C-8B226376DC2D}"/>
              </a:ext>
            </a:extLst>
          </p:cNvPr>
          <p:cNvSpPr txBox="1"/>
          <p:nvPr/>
        </p:nvSpPr>
        <p:spPr>
          <a:xfrm>
            <a:off x="2101950" y="3026179"/>
            <a:ext cx="10069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Ischemic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6B7BB3-65CC-4E49-9708-4C53CD8F61F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924122" y="3210845"/>
            <a:ext cx="1177828" cy="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ED1B4A-F7DF-43D4-BE64-03B82F01D080}"/>
              </a:ext>
            </a:extLst>
          </p:cNvPr>
          <p:cNvCxnSpPr>
            <a:cxnSpLocks/>
            <a:stCxn id="15" idx="0"/>
            <a:endCxn id="25" idx="2"/>
          </p:cNvCxnSpPr>
          <p:nvPr/>
        </p:nvCxnSpPr>
        <p:spPr>
          <a:xfrm flipH="1" flipV="1">
            <a:off x="1512551" y="2389427"/>
            <a:ext cx="1" cy="565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3108A3-079F-4A5C-B9F4-F66AB14D3709}"/>
              </a:ext>
            </a:extLst>
          </p:cNvPr>
          <p:cNvSpPr txBox="1"/>
          <p:nvPr/>
        </p:nvSpPr>
        <p:spPr>
          <a:xfrm>
            <a:off x="1092369" y="2954668"/>
            <a:ext cx="840366" cy="5232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Non-con</a:t>
            </a:r>
          </a:p>
          <a:p>
            <a:pPr algn="ctr"/>
            <a:r>
              <a:rPr lang="en-US" sz="1400" dirty="0"/>
              <a:t>HCT</a:t>
            </a:r>
          </a:p>
        </p:txBody>
      </p:sp>
      <p:sp>
        <p:nvSpPr>
          <p:cNvPr id="38" name="Secondary proph - chronic">
            <a:hlinkClick r:id="rId3" action="ppaction://hlinksldjump"/>
            <a:extLst>
              <a:ext uri="{FF2B5EF4-FFF2-40B4-BE49-F238E27FC236}">
                <a16:creationId xmlns:a16="http://schemas.microsoft.com/office/drawing/2014/main" id="{1B47A2B1-8B11-4B2F-AA17-737741B28B62}"/>
              </a:ext>
            </a:extLst>
          </p:cNvPr>
          <p:cNvSpPr txBox="1"/>
          <p:nvPr/>
        </p:nvSpPr>
        <p:spPr>
          <a:xfrm>
            <a:off x="10247226" y="1798291"/>
            <a:ext cx="1807155" cy="3077766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Secondary </a:t>
            </a:r>
            <a:r>
              <a:rPr lang="en-US" sz="1600" b="1" u="sng" dirty="0" err="1"/>
              <a:t>Proph</a:t>
            </a:r>
            <a:endParaRPr lang="en-US" sz="1600" b="1" u="sng" dirty="0"/>
          </a:p>
          <a:p>
            <a:pPr algn="ctr"/>
            <a:r>
              <a:rPr lang="en-US" sz="1200" dirty="0"/>
              <a:t>Chronic (&gt;2mo)</a:t>
            </a:r>
          </a:p>
          <a:p>
            <a:pPr algn="ctr"/>
            <a:endParaRPr lang="en-US" sz="1200" dirty="0"/>
          </a:p>
          <a:p>
            <a:pPr algn="ctr"/>
            <a:r>
              <a:rPr lang="en-US" sz="1400" b="1" dirty="0"/>
              <a:t>Anticoagulation?</a:t>
            </a:r>
          </a:p>
          <a:p>
            <a:pPr algn="ctr"/>
            <a:r>
              <a:rPr lang="en-US" sz="1200" dirty="0"/>
              <a:t>and/or</a:t>
            </a:r>
          </a:p>
          <a:p>
            <a:pPr algn="ctr"/>
            <a:r>
              <a:rPr lang="en-US" sz="1400" b="1" dirty="0"/>
              <a:t>Anti-platelet?</a:t>
            </a:r>
          </a:p>
          <a:p>
            <a:pPr algn="ctr"/>
            <a:r>
              <a:rPr lang="en-US" sz="1400" dirty="0"/>
              <a:t>(single vs. dual)</a:t>
            </a:r>
          </a:p>
          <a:p>
            <a:pPr algn="ctr"/>
            <a:r>
              <a:rPr lang="en-US" sz="1200" dirty="0"/>
              <a:t>plus</a:t>
            </a:r>
          </a:p>
          <a:p>
            <a:pPr algn="ctr"/>
            <a:r>
              <a:rPr lang="en-US" sz="1400" b="1" dirty="0"/>
              <a:t>Risk modification</a:t>
            </a:r>
          </a:p>
          <a:p>
            <a:pPr algn="ctr"/>
            <a:r>
              <a:rPr lang="en-US" sz="1400" dirty="0"/>
              <a:t>Statin</a:t>
            </a:r>
          </a:p>
          <a:p>
            <a:pPr algn="ctr"/>
            <a:r>
              <a:rPr lang="en-US" sz="1400" dirty="0"/>
              <a:t>BP control</a:t>
            </a:r>
          </a:p>
          <a:p>
            <a:pPr algn="ctr"/>
            <a:r>
              <a:rPr lang="en-US" sz="1400" dirty="0"/>
              <a:t>DM management</a:t>
            </a:r>
          </a:p>
          <a:p>
            <a:pPr algn="ctr"/>
            <a:r>
              <a:rPr lang="en-US" sz="1400" dirty="0"/>
              <a:t>Tobacco cessation</a:t>
            </a:r>
          </a:p>
          <a:p>
            <a:pPr algn="ctr"/>
            <a:r>
              <a:rPr lang="en-US" sz="1400" dirty="0"/>
              <a:t>Processed Foods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AA941B6-D987-4220-972B-0A99440B41C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108944" y="3210845"/>
            <a:ext cx="7138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Etiology">
            <a:hlinkClick r:id="rId3" action="ppaction://hlinksldjump"/>
            <a:extLst>
              <a:ext uri="{FF2B5EF4-FFF2-40B4-BE49-F238E27FC236}">
                <a16:creationId xmlns:a16="http://schemas.microsoft.com/office/drawing/2014/main" id="{C620A7B7-415B-4123-839C-3D5EB73AF9FC}"/>
              </a:ext>
            </a:extLst>
          </p:cNvPr>
          <p:cNvSpPr txBox="1"/>
          <p:nvPr/>
        </p:nvSpPr>
        <p:spPr>
          <a:xfrm>
            <a:off x="5718799" y="1799258"/>
            <a:ext cx="1807155" cy="304698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Determine Etiology</a:t>
            </a:r>
          </a:p>
          <a:p>
            <a:pPr algn="ctr"/>
            <a:r>
              <a:rPr lang="en-US" sz="1200" dirty="0"/>
              <a:t>Guides secondary prevention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Atherosclerosis</a:t>
            </a:r>
          </a:p>
          <a:p>
            <a:pPr algn="ctr"/>
            <a:r>
              <a:rPr lang="en-US" sz="1200" dirty="0"/>
              <a:t>(large vs small artery)  </a:t>
            </a:r>
          </a:p>
          <a:p>
            <a:pPr algn="ctr"/>
            <a:r>
              <a:rPr lang="en-US" sz="1200" dirty="0"/>
              <a:t>vs</a:t>
            </a:r>
          </a:p>
          <a:p>
            <a:pPr algn="ctr"/>
            <a:r>
              <a:rPr lang="en-US" sz="1400" b="1" dirty="0"/>
              <a:t>Cardioembolic</a:t>
            </a:r>
          </a:p>
          <a:p>
            <a:pPr algn="ctr"/>
            <a:r>
              <a:rPr lang="en-US" sz="1200" dirty="0"/>
              <a:t>(atrial thrombus vs LV thrombus vs VTE with shunt vs valvular)</a:t>
            </a:r>
          </a:p>
          <a:p>
            <a:pPr algn="ctr"/>
            <a:r>
              <a:rPr lang="en-US" sz="1200" dirty="0"/>
              <a:t>vs </a:t>
            </a:r>
          </a:p>
          <a:p>
            <a:pPr algn="ctr"/>
            <a:r>
              <a:rPr lang="en-US" sz="1400" b="1" dirty="0"/>
              <a:t>Other</a:t>
            </a:r>
          </a:p>
          <a:p>
            <a:pPr algn="ctr"/>
            <a:r>
              <a:rPr lang="en-US" sz="1200" dirty="0"/>
              <a:t>(dissection, vasculitis, thrombophilia)</a:t>
            </a:r>
          </a:p>
        </p:txBody>
      </p:sp>
      <p:sp>
        <p:nvSpPr>
          <p:cNvPr id="37" name="Secondary proph - acute">
            <a:hlinkClick r:id="rId3" action="ppaction://hlinksldjump"/>
            <a:extLst>
              <a:ext uri="{FF2B5EF4-FFF2-40B4-BE49-F238E27FC236}">
                <a16:creationId xmlns:a16="http://schemas.microsoft.com/office/drawing/2014/main" id="{2628A21A-F5D6-4732-AFE7-C3D7967AE661}"/>
              </a:ext>
            </a:extLst>
          </p:cNvPr>
          <p:cNvSpPr txBox="1"/>
          <p:nvPr/>
        </p:nvSpPr>
        <p:spPr>
          <a:xfrm>
            <a:off x="7953218" y="1810461"/>
            <a:ext cx="1807155" cy="2431435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Secondary </a:t>
            </a:r>
            <a:r>
              <a:rPr lang="en-US" sz="1600" b="1" u="sng" dirty="0" err="1"/>
              <a:t>Proph</a:t>
            </a:r>
            <a:endParaRPr lang="en-US" sz="1600" b="1" u="sng" dirty="0"/>
          </a:p>
          <a:p>
            <a:pPr algn="ctr"/>
            <a:r>
              <a:rPr lang="en-US" sz="1200" dirty="0"/>
              <a:t>Acute (2d-2mo)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Anticoagulation?</a:t>
            </a:r>
          </a:p>
          <a:p>
            <a:pPr algn="ctr"/>
            <a:r>
              <a:rPr lang="en-US" sz="1200" dirty="0"/>
              <a:t>and/or</a:t>
            </a:r>
          </a:p>
          <a:p>
            <a:pPr algn="ctr"/>
            <a:r>
              <a:rPr lang="en-US" sz="1400" b="1" dirty="0"/>
              <a:t>Anti-platelet?</a:t>
            </a:r>
          </a:p>
          <a:p>
            <a:pPr algn="ctr"/>
            <a:r>
              <a:rPr lang="en-US" sz="1400" dirty="0"/>
              <a:t>(single vs. dual)</a:t>
            </a:r>
          </a:p>
          <a:p>
            <a:pPr algn="ctr"/>
            <a:r>
              <a:rPr lang="en-US" sz="1200" dirty="0"/>
              <a:t>plus</a:t>
            </a:r>
          </a:p>
          <a:p>
            <a:pPr algn="ctr"/>
            <a:r>
              <a:rPr lang="en-US" sz="1400" b="1" dirty="0"/>
              <a:t>Statin</a:t>
            </a:r>
          </a:p>
          <a:p>
            <a:pPr algn="ctr"/>
            <a:r>
              <a:rPr lang="en-US" sz="1200" dirty="0"/>
              <a:t>Plus</a:t>
            </a:r>
          </a:p>
          <a:p>
            <a:pPr algn="ctr"/>
            <a:r>
              <a:rPr lang="en-US" sz="1400" b="1" dirty="0"/>
              <a:t>BP Control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C1FC50-15E3-43A6-8BE6-496F81D03B9B}"/>
              </a:ext>
            </a:extLst>
          </p:cNvPr>
          <p:cNvSpPr/>
          <p:nvPr/>
        </p:nvSpPr>
        <p:spPr>
          <a:xfrm>
            <a:off x="2326861" y="3395511"/>
            <a:ext cx="5453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(85%)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90BBE4-D3BC-4CE4-A10C-C525D0F541AF}"/>
              </a:ext>
            </a:extLst>
          </p:cNvPr>
          <p:cNvSpPr/>
          <p:nvPr/>
        </p:nvSpPr>
        <p:spPr>
          <a:xfrm>
            <a:off x="1556608" y="2401567"/>
            <a:ext cx="5453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(15%)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E558337-F2C2-4AA9-8C44-57D2F293A1C0}"/>
              </a:ext>
            </a:extLst>
          </p:cNvPr>
          <p:cNvCxnSpPr>
            <a:cxnSpLocks/>
            <a:stCxn id="12" idx="3"/>
            <a:endCxn id="31" idx="1"/>
          </p:cNvCxnSpPr>
          <p:nvPr/>
        </p:nvCxnSpPr>
        <p:spPr>
          <a:xfrm>
            <a:off x="1692937" y="1541829"/>
            <a:ext cx="9287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B08BED7-1A8E-4F27-B8E0-49A179FCC92D}"/>
              </a:ext>
            </a:extLst>
          </p:cNvPr>
          <p:cNvSpPr txBox="1"/>
          <p:nvPr/>
        </p:nvSpPr>
        <p:spPr>
          <a:xfrm>
            <a:off x="1352264" y="1357163"/>
            <a:ext cx="3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7F6911-B021-401D-80E1-BDF899DC7F67}"/>
              </a:ext>
            </a:extLst>
          </p:cNvPr>
          <p:cNvSpPr txBox="1"/>
          <p:nvPr/>
        </p:nvSpPr>
        <p:spPr>
          <a:xfrm>
            <a:off x="4267218" y="1357163"/>
            <a:ext cx="3406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B9EC33-0F1A-49BA-BF8B-6D1728576CBF}"/>
              </a:ext>
            </a:extLst>
          </p:cNvPr>
          <p:cNvSpPr txBox="1"/>
          <p:nvPr/>
        </p:nvSpPr>
        <p:spPr>
          <a:xfrm>
            <a:off x="6438744" y="1357163"/>
            <a:ext cx="3406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1DFE23-3DA0-45B7-9692-A4BD5F06C22A}"/>
              </a:ext>
            </a:extLst>
          </p:cNvPr>
          <p:cNvSpPr txBox="1"/>
          <p:nvPr/>
        </p:nvSpPr>
        <p:spPr>
          <a:xfrm>
            <a:off x="8681840" y="1357163"/>
            <a:ext cx="3406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7E90A1-4495-4C30-BE26-230CF4A03C3D}"/>
              </a:ext>
            </a:extLst>
          </p:cNvPr>
          <p:cNvSpPr txBox="1"/>
          <p:nvPr/>
        </p:nvSpPr>
        <p:spPr>
          <a:xfrm>
            <a:off x="10980466" y="1357163"/>
            <a:ext cx="3406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21" name="Acute treatment">
            <a:hlinkClick r:id="rId4" action="ppaction://hlinksldjump"/>
            <a:extLst>
              <a:ext uri="{FF2B5EF4-FFF2-40B4-BE49-F238E27FC236}">
                <a16:creationId xmlns:a16="http://schemas.microsoft.com/office/drawing/2014/main" id="{45413BA4-A72B-404C-A490-46EBF38E23D9}"/>
              </a:ext>
            </a:extLst>
          </p:cNvPr>
          <p:cNvSpPr txBox="1"/>
          <p:nvPr/>
        </p:nvSpPr>
        <p:spPr>
          <a:xfrm>
            <a:off x="3533977" y="1798291"/>
            <a:ext cx="1810744" cy="27392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Acute Treatment</a:t>
            </a:r>
          </a:p>
          <a:p>
            <a:pPr algn="ctr"/>
            <a:r>
              <a:rPr lang="en-US" sz="1200" dirty="0"/>
              <a:t>Revascularize or </a:t>
            </a:r>
            <a:r>
              <a:rPr lang="en-US" sz="1200" dirty="0" err="1"/>
              <a:t>Reperfuse</a:t>
            </a:r>
            <a:r>
              <a:rPr lang="en-US" sz="1200" dirty="0"/>
              <a:t> without causing ICH</a:t>
            </a:r>
          </a:p>
          <a:p>
            <a:pPr algn="ctr"/>
            <a:endParaRPr lang="en-US" sz="1200" dirty="0"/>
          </a:p>
          <a:p>
            <a:pPr algn="ctr"/>
            <a:r>
              <a:rPr lang="en-US" sz="1600" b="1" dirty="0" err="1"/>
              <a:t>tPA</a:t>
            </a:r>
            <a:r>
              <a:rPr lang="en-US" sz="1600" b="1" dirty="0"/>
              <a:t>?</a:t>
            </a:r>
          </a:p>
          <a:p>
            <a:pPr algn="ctr"/>
            <a:r>
              <a:rPr lang="en-US" sz="1200" dirty="0"/>
              <a:t>and/or</a:t>
            </a:r>
          </a:p>
          <a:p>
            <a:pPr algn="ctr"/>
            <a:r>
              <a:rPr lang="en-US" sz="1400" b="1" dirty="0"/>
              <a:t>EVT?</a:t>
            </a:r>
          </a:p>
          <a:p>
            <a:pPr algn="ctr"/>
            <a:r>
              <a:rPr lang="en-US" sz="1200" dirty="0"/>
              <a:t>with which</a:t>
            </a:r>
          </a:p>
          <a:p>
            <a:pPr algn="ctr"/>
            <a:r>
              <a:rPr lang="en-US" sz="1600" b="1" dirty="0" err="1"/>
              <a:t>Antithrombotics</a:t>
            </a:r>
            <a:r>
              <a:rPr lang="en-US" sz="1600" b="1" dirty="0"/>
              <a:t>?</a:t>
            </a:r>
          </a:p>
          <a:p>
            <a:pPr algn="ctr"/>
            <a:r>
              <a:rPr lang="en-US" sz="1200" dirty="0"/>
              <a:t> and what</a:t>
            </a:r>
          </a:p>
          <a:p>
            <a:pPr algn="ctr"/>
            <a:r>
              <a:rPr lang="en-US" sz="1400" b="1" dirty="0"/>
              <a:t>BP target?</a:t>
            </a:r>
          </a:p>
          <a:p>
            <a:pPr algn="ctr"/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D635E7-115F-4F78-BB29-498140D9FD16}"/>
              </a:ext>
            </a:extLst>
          </p:cNvPr>
          <p:cNvSpPr txBox="1"/>
          <p:nvPr/>
        </p:nvSpPr>
        <p:spPr>
          <a:xfrm>
            <a:off x="1638925" y="401052"/>
            <a:ext cx="8914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5-step Approach to Evaluating and Managing Ischemic CVAs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9" name="Slide Zoom 38">
                <a:extLst>
                  <a:ext uri="{FF2B5EF4-FFF2-40B4-BE49-F238E27FC236}">
                    <a16:creationId xmlns:a16="http://schemas.microsoft.com/office/drawing/2014/main" id="{B2EF0A6B-F246-4FF2-8539-62521BA8B1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92209" y="5043546"/>
              <a:ext cx="1833745" cy="1031482"/>
            </p:xfrm>
            <a:graphic>
              <a:graphicData uri="http://schemas.microsoft.com/office/powerpoint/2016/slidezoom">
                <pslz:sldZm>
                  <pslz:sldZmObj sldId="256" cId="4141288142">
                    <pslz:zmPr id="{C284E64B-8F7D-46AB-9D3C-8E914A922DD6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33745" cy="1031482"/>
                        </a:xfrm>
                        <a:prstGeom prst="rect">
                          <a:avLst/>
                        </a:prstGeom>
                        <a:ln w="38100">
                          <a:solidFill>
                            <a:schemeClr val="accent5"/>
                          </a:soli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9" name="Slide Zoom 3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B2EF0A6B-F246-4FF2-8539-62521BA8B1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92209" y="5043546"/>
                <a:ext cx="1833745" cy="1031482"/>
              </a:xfrm>
              <a:prstGeom prst="rect">
                <a:avLst/>
              </a:prstGeom>
              <a:ln w="38100">
                <a:solidFill>
                  <a:schemeClr val="accent5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1" name="Slide Zoom 40">
                <a:extLst>
                  <a:ext uri="{FF2B5EF4-FFF2-40B4-BE49-F238E27FC236}">
                    <a16:creationId xmlns:a16="http://schemas.microsoft.com/office/drawing/2014/main" id="{95C1A81E-DB73-4A67-9E02-FF6D3AD736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117642" y="5043546"/>
              <a:ext cx="1807156" cy="1031482"/>
            </p:xfrm>
            <a:graphic>
              <a:graphicData uri="http://schemas.microsoft.com/office/powerpoint/2016/slidezoom">
                <pslz:sldZm>
                  <pslz:sldZmObj sldId="264" cId="2634634732">
                    <pslz:zmPr id="{0DC87447-15EF-4B72-B47A-8BE6AB0C08A7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07156" cy="1031482"/>
                        </a:xfrm>
                        <a:prstGeom prst="rect">
                          <a:avLst/>
                        </a:prstGeom>
                        <a:ln w="38100">
                          <a:gradFill flip="none" rotWithShape="1">
                            <a:gsLst>
                              <a:gs pos="0">
                                <a:schemeClr val="accent4"/>
                              </a:gs>
                              <a:gs pos="100000">
                                <a:srgbClr val="7030A0"/>
                              </a:gs>
                            </a:gsLst>
                            <a:lin ang="0" scaled="1"/>
                            <a:tileRect/>
                          </a:gra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1" name="Slide Zoom 40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95C1A81E-DB73-4A67-9E02-FF6D3AD736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17642" y="5043546"/>
                <a:ext cx="1807156" cy="1031482"/>
              </a:xfrm>
              <a:prstGeom prst="rect">
                <a:avLst/>
              </a:prstGeom>
              <a:ln w="38100">
                <a:gradFill flip="none" rotWithShape="1">
                  <a:gsLst>
                    <a:gs pos="0">
                      <a:schemeClr val="accent4"/>
                    </a:gs>
                    <a:gs pos="100000">
                      <a:srgbClr val="7030A0"/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p:pic>
        <p:nvPicPr>
          <p:cNvPr id="33" name="Graphic 32" descr="Cursor">
            <a:extLst>
              <a:ext uri="{FF2B5EF4-FFF2-40B4-BE49-F238E27FC236}">
                <a16:creationId xmlns:a16="http://schemas.microsoft.com/office/drawing/2014/main" id="{A0435A6C-8100-4307-BCA9-125F6EE6A9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 flipH="1" flipV="1">
            <a:off x="7445553" y="5955335"/>
            <a:ext cx="355858" cy="355858"/>
          </a:xfrm>
          <a:prstGeom prst="rect">
            <a:avLst/>
          </a:prstGeom>
        </p:spPr>
      </p:pic>
      <p:pic>
        <p:nvPicPr>
          <p:cNvPr id="34" name="Graphic 33" descr="Cursor">
            <a:extLst>
              <a:ext uri="{FF2B5EF4-FFF2-40B4-BE49-F238E27FC236}">
                <a16:creationId xmlns:a16="http://schemas.microsoft.com/office/drawing/2014/main" id="{B67D033B-2E1B-4EA8-8DED-7AA5AE0B76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 flipH="1" flipV="1">
            <a:off x="10802537" y="5984806"/>
            <a:ext cx="355858" cy="3558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D8B870-3BDB-4D35-9C8C-516CD8BFE35A}"/>
              </a:ext>
            </a:extLst>
          </p:cNvPr>
          <p:cNvSpPr txBox="1"/>
          <p:nvPr/>
        </p:nvSpPr>
        <p:spPr>
          <a:xfrm>
            <a:off x="4005623" y="6172692"/>
            <a:ext cx="863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10-15 min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A9E73-9790-4C7E-8DA8-0353E643CAAC}"/>
              </a:ext>
            </a:extLst>
          </p:cNvPr>
          <p:cNvSpPr txBox="1"/>
          <p:nvPr/>
        </p:nvSpPr>
        <p:spPr>
          <a:xfrm>
            <a:off x="6177150" y="6162735"/>
            <a:ext cx="863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15-20 min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CA288F-953F-4263-9726-05050F8A2C76}"/>
              </a:ext>
            </a:extLst>
          </p:cNvPr>
          <p:cNvSpPr txBox="1"/>
          <p:nvPr/>
        </p:nvSpPr>
        <p:spPr>
          <a:xfrm>
            <a:off x="9593160" y="6162734"/>
            <a:ext cx="863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10-15 min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0692B320-8B72-4D1B-9892-F4CC70EBA99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9626148"/>
                  </p:ext>
                </p:extLst>
              </p:nvPr>
            </p:nvGraphicFramePr>
            <p:xfrm>
              <a:off x="3533977" y="5030912"/>
              <a:ext cx="1833732" cy="1031474"/>
            </p:xfrm>
            <a:graphic>
              <a:graphicData uri="http://schemas.microsoft.com/office/powerpoint/2016/slidezoom">
                <pslz:sldZm>
                  <pslz:sldZmObj sldId="263" cId="1015907551">
                    <pslz:zmPr id="{11FB8EC1-09CD-4AAD-A94A-8AAABA57FF4B}" returnToParent="0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33732" cy="1031474"/>
                        </a:xfrm>
                        <a:prstGeom prst="rect">
                          <a:avLst/>
                        </a:prstGeom>
                        <a:ln w="38100">
                          <a:solidFill>
                            <a:schemeClr val="accent6"/>
                          </a:soli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0692B320-8B72-4D1B-9892-F4CC70EBA9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3977" y="5030912"/>
                <a:ext cx="1833732" cy="1031474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p:pic>
        <p:nvPicPr>
          <p:cNvPr id="32" name="Graphic 31" descr="Cursor">
            <a:extLst>
              <a:ext uri="{FF2B5EF4-FFF2-40B4-BE49-F238E27FC236}">
                <a16:creationId xmlns:a16="http://schemas.microsoft.com/office/drawing/2014/main" id="{D7DE41DA-47C6-4654-90C8-FF1597F0F2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 flipH="1" flipV="1">
            <a:off x="5233716" y="5955334"/>
            <a:ext cx="355858" cy="35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09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AA3DC52F-EDE3-482F-9D63-C0C333DD8583}"/>
              </a:ext>
            </a:extLst>
          </p:cNvPr>
          <p:cNvSpPr txBox="1"/>
          <p:nvPr/>
        </p:nvSpPr>
        <p:spPr>
          <a:xfrm>
            <a:off x="4438960" y="145042"/>
            <a:ext cx="3769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Acute Ischemic CVA Management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07C61461-AD34-4C67-9BD0-DDC258B47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5" y="737635"/>
            <a:ext cx="1653922" cy="420256"/>
          </a:xfrm>
          <a:prstGeom prst="rect">
            <a:avLst/>
          </a:prstGeom>
          <a:solidFill>
            <a:srgbClr val="FFFFFF"/>
          </a:solidFill>
          <a:ln w="28575">
            <a:solidFill>
              <a:srgbClr val="C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Acute Focal Deficit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(No hemorrhage on HCT)</a:t>
            </a: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547B72-0FE1-41E2-AE11-22F0E36CAB0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188896" y="1157891"/>
            <a:ext cx="3111770" cy="12436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6">
            <a:extLst>
              <a:ext uri="{FF2B5EF4-FFF2-40B4-BE49-F238E27FC236}">
                <a16:creationId xmlns:a16="http://schemas.microsoft.com/office/drawing/2014/main" id="{CC5E014F-19C3-4998-9172-86706290A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152" y="2401548"/>
            <a:ext cx="895488" cy="353886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6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TPA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E1C2B87D-04CD-4D23-B532-B273C8F48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962" y="2401566"/>
            <a:ext cx="1012144" cy="338406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CTA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0638BD4F-FC63-45B3-82B0-F9063B3AA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816" y="1452011"/>
            <a:ext cx="791919" cy="18730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LKW &lt; </a:t>
            </a: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419B4590-9A13-483F-9E0A-D404A9F34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6042" y="2442181"/>
            <a:ext cx="769190" cy="257175"/>
          </a:xfrm>
          <a:prstGeom prst="rect">
            <a:avLst/>
          </a:prstGeom>
          <a:solidFill>
            <a:srgbClr val="FFFFFF"/>
          </a:solidFill>
          <a:ln w="28575">
            <a:solidFill>
              <a:srgbClr val="C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LVO+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6CEA54-B567-45F9-B187-4FD0A367A54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636640" y="2570769"/>
            <a:ext cx="2169322" cy="77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36D306-5683-4868-97B0-3C9127DA51D5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flipH="1">
            <a:off x="6300666" y="3855757"/>
            <a:ext cx="11368" cy="1702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6">
            <a:extLst>
              <a:ext uri="{FF2B5EF4-FFF2-40B4-BE49-F238E27FC236}">
                <a16:creationId xmlns:a16="http://schemas.microsoft.com/office/drawing/2014/main" id="{C233498C-1E81-4235-81FD-754798B15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8236" y="2373935"/>
            <a:ext cx="863415" cy="409111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CT Perfusion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EVT button">
            <a:extLst>
              <a:ext uri="{FF2B5EF4-FFF2-40B4-BE49-F238E27FC236}">
                <a16:creationId xmlns:a16="http://schemas.microsoft.com/office/drawing/2014/main" id="{A494BDBF-4CA3-4D9B-88F8-11C5A5066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2200" y="4110428"/>
            <a:ext cx="895488" cy="38496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EVT?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4E7037-F5AC-44E8-B354-A9DE448ED55A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300666" y="1157891"/>
            <a:ext cx="11368" cy="1243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A815E4-EA85-4340-80ED-740C3EDE817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6818106" y="2570769"/>
            <a:ext cx="34793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E53013-94B3-49CB-80DD-AAB1F4859E6B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7935232" y="2570769"/>
            <a:ext cx="1353004" cy="77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727B24-9A3D-4692-BCBD-897DEED8D0D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9719944" y="2783046"/>
            <a:ext cx="0" cy="13273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6">
            <a:extLst>
              <a:ext uri="{FF2B5EF4-FFF2-40B4-BE49-F238E27FC236}">
                <a16:creationId xmlns:a16="http://schemas.microsoft.com/office/drawing/2014/main" id="{8E23CF8C-C89E-4B3A-82A2-3602BFDD0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439" y="3598582"/>
            <a:ext cx="769190" cy="25717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LVO-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139BB9-5140-46C7-8B61-359BB8BC90C8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>
            <a:off x="6312034" y="2739972"/>
            <a:ext cx="0" cy="8586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6">
            <a:extLst>
              <a:ext uri="{FF2B5EF4-FFF2-40B4-BE49-F238E27FC236}">
                <a16:creationId xmlns:a16="http://schemas.microsoft.com/office/drawing/2014/main" id="{0E55F087-7ADF-4E77-8566-43FBD0B0E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7814" y="2469967"/>
            <a:ext cx="677960" cy="195111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LKW &gt; 6hr</a:t>
            </a: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CA776F16-FE61-44DD-923F-65B15B846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012" y="5558225"/>
            <a:ext cx="3175308" cy="1168990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6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tubes and lines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DVT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proph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(SCDs &lt;24h if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tPA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Dysphagia screen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PT/OT/SLP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Intensive statin (if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athero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prior to D/C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Low bleed risk">
            <a:extLst>
              <a:ext uri="{FF2B5EF4-FFF2-40B4-BE49-F238E27FC236}">
                <a16:creationId xmlns:a16="http://schemas.microsoft.com/office/drawing/2014/main" id="{AD826914-4E3E-4A58-89EE-A0DBD64CD97E}"/>
              </a:ext>
            </a:extLst>
          </p:cNvPr>
          <p:cNvSpPr/>
          <p:nvPr/>
        </p:nvSpPr>
        <p:spPr>
          <a:xfrm>
            <a:off x="3618312" y="1842372"/>
            <a:ext cx="77264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anchor="ctr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Low bleed risk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C56BC4-468B-48CE-B264-93CF9C6DC2BA}"/>
              </a:ext>
            </a:extLst>
          </p:cNvPr>
          <p:cNvSpPr/>
          <p:nvPr/>
        </p:nvSpPr>
        <p:spPr>
          <a:xfrm>
            <a:off x="4537553" y="1687386"/>
            <a:ext cx="237680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&amp;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29" name="Text Box 6">
            <a:extLst>
              <a:ext uri="{FF2B5EF4-FFF2-40B4-BE49-F238E27FC236}">
                <a16:creationId xmlns:a16="http://schemas.microsoft.com/office/drawing/2014/main" id="{BE6DE5BB-083C-4D00-90A1-8E1D014B4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400" y="1760205"/>
            <a:ext cx="1107812" cy="34714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6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Permissive HTN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&lt;220/120 x48hr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AE8D224D-0599-4288-B26C-AF264D97E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976" y="2413249"/>
            <a:ext cx="752650" cy="34714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6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BP goal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&lt;185/110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" name="LAMS" hidden="1">
            <a:extLst>
              <a:ext uri="{FF2B5EF4-FFF2-40B4-BE49-F238E27FC236}">
                <a16:creationId xmlns:a16="http://schemas.microsoft.com/office/drawing/2014/main" id="{B3AA1069-3DC2-43A7-BC18-ABA0214E77FF}"/>
              </a:ext>
            </a:extLst>
          </p:cNvPr>
          <p:cNvGraphicFramePr>
            <a:graphicFrameLocks noGrp="1"/>
          </p:cNvGraphicFramePr>
          <p:nvPr/>
        </p:nvGraphicFramePr>
        <p:xfrm>
          <a:off x="9411275" y="4296765"/>
          <a:ext cx="2425368" cy="2350203"/>
        </p:xfrm>
        <a:graphic>
          <a:graphicData uri="http://schemas.openxmlformats.org/drawingml/2006/table">
            <a:tbl>
              <a:tblPr firstCol="1" bandRow="1">
                <a:tableStyleId>{74C1A8A3-306A-4EB7-A6B1-4F7E0EB9C5D6}</a:tableStyleId>
              </a:tblPr>
              <a:tblGrid>
                <a:gridCol w="757530">
                  <a:extLst>
                    <a:ext uri="{9D8B030D-6E8A-4147-A177-3AD203B41FA5}">
                      <a16:colId xmlns:a16="http://schemas.microsoft.com/office/drawing/2014/main" val="1951443417"/>
                    </a:ext>
                  </a:extLst>
                </a:gridCol>
                <a:gridCol w="1323001">
                  <a:extLst>
                    <a:ext uri="{9D8B030D-6E8A-4147-A177-3AD203B41FA5}">
                      <a16:colId xmlns:a16="http://schemas.microsoft.com/office/drawing/2014/main" val="1903219246"/>
                    </a:ext>
                  </a:extLst>
                </a:gridCol>
                <a:gridCol w="344837">
                  <a:extLst>
                    <a:ext uri="{9D8B030D-6E8A-4147-A177-3AD203B41FA5}">
                      <a16:colId xmlns:a16="http://schemas.microsoft.com/office/drawing/2014/main" val="1088761867"/>
                    </a:ext>
                  </a:extLst>
                </a:gridCol>
              </a:tblGrid>
              <a:tr h="4714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Facial Droop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Present?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+1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873552"/>
                  </a:ext>
                </a:extLst>
              </a:tr>
              <a:tr h="247083"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Arm Drift</a:t>
                      </a:r>
                    </a:p>
                  </a:txBody>
                  <a:tcPr marT="9144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Absent</a:t>
                      </a:r>
                    </a:p>
                  </a:txBody>
                  <a:tcPr marT="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T="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94886889"/>
                  </a:ext>
                </a:extLst>
              </a:tr>
              <a:tr h="29998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Drifts Down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+1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365009812"/>
                  </a:ext>
                </a:extLst>
              </a:tr>
              <a:tr h="29998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Falls Rapidly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+2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627266"/>
                  </a:ext>
                </a:extLst>
              </a:tr>
              <a:tr h="299987"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Grip Strength</a:t>
                      </a:r>
                    </a:p>
                  </a:txBody>
                  <a:tcPr marT="9144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Normal</a:t>
                      </a:r>
                    </a:p>
                  </a:txBody>
                  <a:tcPr marT="9144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T="9144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87179122"/>
                  </a:ext>
                </a:extLst>
              </a:tr>
              <a:tr h="29998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Weak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+1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1100104281"/>
                  </a:ext>
                </a:extLst>
              </a:tr>
              <a:tr h="29998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 grip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+2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709308839"/>
                  </a:ext>
                </a:extLst>
              </a:tr>
            </a:tbl>
          </a:graphicData>
        </a:graphic>
      </p:graphicFrame>
      <p:graphicFrame>
        <p:nvGraphicFramePr>
          <p:cNvPr id="38" name="Performance measures">
            <a:extLst>
              <a:ext uri="{FF2B5EF4-FFF2-40B4-BE49-F238E27FC236}">
                <a16:creationId xmlns:a16="http://schemas.microsoft.com/office/drawing/2014/main" id="{51A90721-C791-4E94-A9ED-DA599B181950}"/>
              </a:ext>
            </a:extLst>
          </p:cNvPr>
          <p:cNvGraphicFramePr>
            <a:graphicFrameLocks noGrp="1"/>
          </p:cNvGraphicFramePr>
          <p:nvPr/>
        </p:nvGraphicFramePr>
        <p:xfrm>
          <a:off x="8688459" y="737072"/>
          <a:ext cx="1434647" cy="103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34647">
                  <a:extLst>
                    <a:ext uri="{9D8B030D-6E8A-4147-A177-3AD203B41FA5}">
                      <a16:colId xmlns:a16="http://schemas.microsoft.com/office/drawing/2014/main" val="1903219246"/>
                    </a:ext>
                  </a:extLst>
                </a:gridCol>
              </a:tblGrid>
              <a:tr h="22519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CVA Performance Measures</a:t>
                      </a:r>
                      <a:endParaRPr lang="en-US" sz="1200" b="1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447352"/>
                  </a:ext>
                </a:extLst>
              </a:tr>
              <a:tr h="897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Door to CT &lt; </a:t>
                      </a: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576627"/>
                  </a:ext>
                </a:extLst>
              </a:tr>
              <a:tr h="7871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Door to CTA &lt; 40min</a:t>
                      </a: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1468"/>
                  </a:ext>
                </a:extLst>
              </a:tr>
              <a:tr h="1634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Door to </a:t>
                      </a:r>
                      <a:r>
                        <a:rPr lang="en-US" sz="1100" dirty="0" err="1"/>
                        <a:t>tPA</a:t>
                      </a:r>
                      <a:r>
                        <a:rPr lang="en-US" sz="1100"/>
                        <a:t> &lt;30min</a:t>
                      </a:r>
                      <a:endParaRPr lang="en-US" sz="11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367384"/>
                  </a:ext>
                </a:extLst>
              </a:tr>
              <a:tr h="1634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Door to groin &lt;90min</a:t>
                      </a: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64108"/>
                  </a:ext>
                </a:extLst>
              </a:tr>
            </a:tbl>
          </a:graphicData>
        </a:graphic>
      </p:graphicFrame>
      <p:grpSp>
        <p:nvGrpSpPr>
          <p:cNvPr id="39" name="AE risk">
            <a:extLst>
              <a:ext uri="{FF2B5EF4-FFF2-40B4-BE49-F238E27FC236}">
                <a16:creationId xmlns:a16="http://schemas.microsoft.com/office/drawing/2014/main" id="{DBE22B7B-A769-49FB-9C06-BC412DC52A97}"/>
              </a:ext>
            </a:extLst>
          </p:cNvPr>
          <p:cNvGrpSpPr/>
          <p:nvPr/>
        </p:nvGrpSpPr>
        <p:grpSpPr>
          <a:xfrm>
            <a:off x="1553820" y="480106"/>
            <a:ext cx="2457585" cy="1362266"/>
            <a:chOff x="4076328" y="1341967"/>
            <a:chExt cx="2457585" cy="1362266"/>
          </a:xfrm>
        </p:grpSpPr>
        <p:sp>
          <p:nvSpPr>
            <p:cNvPr id="40" name="Text Box 6">
              <a:extLst>
                <a:ext uri="{FF2B5EF4-FFF2-40B4-BE49-F238E27FC236}">
                  <a16:creationId xmlns:a16="http://schemas.microsoft.com/office/drawing/2014/main" id="{F1C43D3E-78B6-44B0-B128-72C186306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6328" y="1341967"/>
              <a:ext cx="1145369" cy="100026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 prior ICH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 surgery &lt;3mo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 active bleeding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 coagulopathy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BP &lt; 185/110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hlinkClick r:id="rId3"/>
                </a:rPr>
                <a:t>Link to Full List</a:t>
              </a:r>
              <a:endPara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38A0140-BCED-4A75-8F30-25D1EE6A472A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 flipH="1" flipV="1">
              <a:off x="5221697" y="1842098"/>
              <a:ext cx="1312216" cy="862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Antithrombotics button">
            <a:extLst>
              <a:ext uri="{FF2B5EF4-FFF2-40B4-BE49-F238E27FC236}">
                <a16:creationId xmlns:a16="http://schemas.microsoft.com/office/drawing/2014/main" id="{3317CE50-7A3C-4EC7-AC6A-13684A9E0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001" y="4580863"/>
            <a:ext cx="1897479" cy="338406"/>
          </a:xfrm>
          <a:prstGeom prst="roundRect">
            <a:avLst/>
          </a:prstGeom>
          <a:solidFill>
            <a:srgbClr val="FFFFFF"/>
          </a:solidFill>
          <a:ln w="38100">
            <a:solidFill>
              <a:schemeClr val="accent6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Antithrombotics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6DC712-EBF9-4597-ACA9-BAF006589D2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935232" y="2570769"/>
            <a:ext cx="1784712" cy="15396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Box 6">
            <a:extLst>
              <a:ext uri="{FF2B5EF4-FFF2-40B4-BE49-F238E27FC236}">
                <a16:creationId xmlns:a16="http://schemas.microsoft.com/office/drawing/2014/main" id="{288F04C8-BF3C-4061-A706-69A19FBF3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4441" y="2890195"/>
            <a:ext cx="677960" cy="195111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LKW &lt; 6hr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1877BA3-5592-4AE0-BF5D-3B62828F27EA}"/>
              </a:ext>
            </a:extLst>
          </p:cNvPr>
          <p:cNvCxnSpPr>
            <a:cxnSpLocks/>
          </p:cNvCxnSpPr>
          <p:nvPr/>
        </p:nvCxnSpPr>
        <p:spPr>
          <a:xfrm flipH="1">
            <a:off x="6312034" y="4302911"/>
            <a:ext cx="296016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86F1E1C-B644-4FCD-8262-96F81B160085}"/>
              </a:ext>
            </a:extLst>
          </p:cNvPr>
          <p:cNvSpPr/>
          <p:nvPr/>
        </p:nvSpPr>
        <p:spPr>
          <a:xfrm>
            <a:off x="8481342" y="3505534"/>
            <a:ext cx="928534" cy="184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anchor="ctr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ASPECTS ≥ 6?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32" name="Text Box 6">
            <a:extLst>
              <a:ext uri="{FF2B5EF4-FFF2-40B4-BE49-F238E27FC236}">
                <a16:creationId xmlns:a16="http://schemas.microsoft.com/office/drawing/2014/main" id="{37F3955D-0069-4D72-9937-8920DE8B7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1551" y="2974166"/>
            <a:ext cx="801555" cy="33888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Salvageable Brain?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40" name="Antithrombotics?">
            <a:extLst>
              <a:ext uri="{FF2B5EF4-FFF2-40B4-BE49-F238E27FC236}">
                <a16:creationId xmlns:a16="http://schemas.microsoft.com/office/drawing/2014/main" id="{FDB1A50F-D96B-4D4F-84D1-0D57F288F180}"/>
              </a:ext>
            </a:extLst>
          </p:cNvPr>
          <p:cNvGrpSpPr/>
          <p:nvPr/>
        </p:nvGrpSpPr>
        <p:grpSpPr>
          <a:xfrm>
            <a:off x="203457" y="2949662"/>
            <a:ext cx="5171544" cy="3587135"/>
            <a:chOff x="1741035" y="890183"/>
            <a:chExt cx="5116939" cy="3587135"/>
          </a:xfrm>
        </p:grpSpPr>
        <p:sp>
          <p:nvSpPr>
            <p:cNvPr id="141" name="Text Box 6">
              <a:extLst>
                <a:ext uri="{FF2B5EF4-FFF2-40B4-BE49-F238E27FC236}">
                  <a16:creationId xmlns:a16="http://schemas.microsoft.com/office/drawing/2014/main" id="{C1E8AC99-B31E-4940-B28B-76733B974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1035" y="890183"/>
              <a:ext cx="3868784" cy="358713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Decision is based on use of </a:t>
              </a:r>
              <a:r>
                <a:rPr kumimoji="0" lang="en-US" altLang="en-US" sz="1100" b="1" i="0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tPA</a:t>
              </a: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, etiology (</a:t>
              </a:r>
              <a:r>
                <a:rPr kumimoji="0" lang="en-US" altLang="en-US" sz="1100" b="1" i="0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athero</a:t>
              </a: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vs. embolic) and risk of subsequent event (ABC</a:t>
              </a:r>
              <a:r>
                <a:rPr lang="en-US" altLang="en-US" sz="11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</a:t>
              </a:r>
              <a:r>
                <a:rPr lang="en-US" altLang="en-US" sz="1100" b="1" baseline="30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0" lang="en-US" altLang="en-US" sz="11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1100" b="0" i="0" u="sng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s/p </a:t>
              </a:r>
              <a:r>
                <a:rPr kumimoji="0" lang="en-US" altLang="en-US" sz="1100" b="0" i="0" u="sng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tPA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nothing x24h, if no bleed on repeat HCT, then:</a:t>
              </a:r>
            </a:p>
            <a:p>
              <a:pPr marR="0" lvl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sng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Atherosclerotic:</a:t>
              </a:r>
            </a:p>
            <a:p>
              <a:pPr marL="171450" marR="0" lvl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If, NIHSS ≤3 (low risk of hemorrhagic conversion) or ABCD</a:t>
              </a:r>
              <a:r>
                <a:rPr lang="en-US" altLang="en-US" sz="1100" baseline="30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≥ 4 (high risk of subsequent CVA): 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Clopidogrel 300mg load then 75mg daily + Aspirin 325mg load and 81mg daily.  After 2-4 weeks, narrow to one, ramped up from home regimen (e.g. ASA-&gt;clopidogrel)</a:t>
              </a:r>
            </a:p>
            <a:p>
              <a:pPr marL="171450" marR="0" lvl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Otherwise, step up antiplatelet monotherapy from prior home regimen</a:t>
              </a:r>
            </a:p>
            <a:p>
              <a:pPr marL="171450" marR="0" lvl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R="0" lvl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1100" b="0" i="0" u="sng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Embolic plus anticoagulation indicated for secondary prevention</a:t>
              </a:r>
            </a:p>
            <a:p>
              <a:pPr marL="171450" marR="0" lvl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Anti-platelet monotherapy for 1-2 weeks (risk of hemorrhagic conversion), then initiate anticoagulation</a:t>
              </a: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R="0" lvl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00" u="sng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s/p EVT – deferring to interventionalist</a:t>
              </a:r>
            </a:p>
            <a:p>
              <a:pPr marL="171450" lvl="0" indent="-1714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Stent placement: DAPT with loading doses, daily lower doses ≥ 6mo, then monotherapy</a:t>
              </a:r>
            </a:p>
            <a:p>
              <a:pPr marR="0" lvl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184F6D13-07E5-487D-AA56-A6101E822EE2}"/>
                </a:ext>
              </a:extLst>
            </p:cNvPr>
            <p:cNvCxnSpPr>
              <a:cxnSpLocks/>
              <a:stCxn id="42" idx="1"/>
              <a:endCxn id="141" idx="3"/>
            </p:cNvCxnSpPr>
            <p:nvPr/>
          </p:nvCxnSpPr>
          <p:spPr>
            <a:xfrm flipH="1" flipV="1">
              <a:off x="5609819" y="2683751"/>
              <a:ext cx="1248155" cy="68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63" name="Graphic 162" descr="Cursor">
            <a:extLst>
              <a:ext uri="{FF2B5EF4-FFF2-40B4-BE49-F238E27FC236}">
                <a16:creationId xmlns:a16="http://schemas.microsoft.com/office/drawing/2014/main" id="{0791AF34-6D72-414A-9DC8-D022ABCC5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4190905" y="2052657"/>
            <a:ext cx="355858" cy="355858"/>
          </a:xfrm>
          <a:prstGeom prst="rect">
            <a:avLst/>
          </a:prstGeom>
        </p:spPr>
      </p:pic>
      <p:pic>
        <p:nvPicPr>
          <p:cNvPr id="164" name="Graphic 163" descr="Cursor">
            <a:extLst>
              <a:ext uri="{FF2B5EF4-FFF2-40B4-BE49-F238E27FC236}">
                <a16:creationId xmlns:a16="http://schemas.microsoft.com/office/drawing/2014/main" id="{1C671859-B8EA-4502-94C9-D27EB8559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7137791" y="4751783"/>
            <a:ext cx="355858" cy="355858"/>
          </a:xfrm>
          <a:prstGeom prst="rect">
            <a:avLst/>
          </a:prstGeom>
        </p:spPr>
      </p:pic>
      <p:sp>
        <p:nvSpPr>
          <p:cNvPr id="167" name="Rectangle: Rounded Corners 166">
            <a:hlinkClick r:id="rId6" action="ppaction://hlinksldjump"/>
            <a:extLst>
              <a:ext uri="{FF2B5EF4-FFF2-40B4-BE49-F238E27FC236}">
                <a16:creationId xmlns:a16="http://schemas.microsoft.com/office/drawing/2014/main" id="{7D1625BD-BEE1-442B-9ED9-15AB320621B6}"/>
              </a:ext>
            </a:extLst>
          </p:cNvPr>
          <p:cNvSpPr/>
          <p:nvPr/>
        </p:nvSpPr>
        <p:spPr>
          <a:xfrm>
            <a:off x="9321551" y="6290642"/>
            <a:ext cx="958387" cy="375053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Main Board</a:t>
            </a:r>
          </a:p>
        </p:txBody>
      </p:sp>
      <p:grpSp>
        <p:nvGrpSpPr>
          <p:cNvPr id="43" name="Antithrombotics?">
            <a:extLst>
              <a:ext uri="{FF2B5EF4-FFF2-40B4-BE49-F238E27FC236}">
                <a16:creationId xmlns:a16="http://schemas.microsoft.com/office/drawing/2014/main" id="{2C4E5BFE-EF69-48BE-AEC2-130AEFEF1F57}"/>
              </a:ext>
            </a:extLst>
          </p:cNvPr>
          <p:cNvGrpSpPr/>
          <p:nvPr/>
        </p:nvGrpSpPr>
        <p:grpSpPr>
          <a:xfrm>
            <a:off x="10151649" y="3096517"/>
            <a:ext cx="1941955" cy="2412786"/>
            <a:chOff x="11433406" y="884638"/>
            <a:chExt cx="1921452" cy="2412786"/>
          </a:xfrm>
        </p:grpSpPr>
        <p:sp>
          <p:nvSpPr>
            <p:cNvPr id="44" name="Text Box 6">
              <a:extLst>
                <a:ext uri="{FF2B5EF4-FFF2-40B4-BE49-F238E27FC236}">
                  <a16:creationId xmlns:a16="http://schemas.microsoft.com/office/drawing/2014/main" id="{97BE9873-ADF7-4536-92C6-B6EF83901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69776" y="884638"/>
              <a:ext cx="1485082" cy="241278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Endovascular Therapy</a:t>
              </a:r>
            </a:p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Includes mechanical thrombectomy and stent placement. </a:t>
              </a:r>
            </a:p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Increasing evidence of benefits to EVT with large vessel occlusions, especially if there is evidence of salvageable brain either by a high ASPECTs or CT perfusion study.</a:t>
              </a: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3C21058-3740-4E77-9B4B-53251B16206B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11433406" y="2091031"/>
              <a:ext cx="4363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7" name="Graphic 46" descr="Cursor">
            <a:extLst>
              <a:ext uri="{FF2B5EF4-FFF2-40B4-BE49-F238E27FC236}">
                <a16:creationId xmlns:a16="http://schemas.microsoft.com/office/drawing/2014/main" id="{5BF34A92-12DE-465F-B8CE-1570FB68D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10024323" y="4341515"/>
            <a:ext cx="355858" cy="35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0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Anatomy">
            <a:extLst>
              <a:ext uri="{FF2B5EF4-FFF2-40B4-BE49-F238E27FC236}">
                <a16:creationId xmlns:a16="http://schemas.microsoft.com/office/drawing/2014/main" id="{9DF67EF0-57EF-475B-8E2E-18D0685F5E21}"/>
              </a:ext>
            </a:extLst>
          </p:cNvPr>
          <p:cNvGrpSpPr/>
          <p:nvPr/>
        </p:nvGrpSpPr>
        <p:grpSpPr>
          <a:xfrm>
            <a:off x="4631770" y="536289"/>
            <a:ext cx="3300629" cy="6288606"/>
            <a:chOff x="5010672" y="172207"/>
            <a:chExt cx="3447749" cy="656890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1189A1C-9EA0-4068-A8E1-6DA9278B6DBB}"/>
                </a:ext>
              </a:extLst>
            </p:cNvPr>
            <p:cNvSpPr/>
            <p:nvPr/>
          </p:nvSpPr>
          <p:spPr>
            <a:xfrm>
              <a:off x="5892446" y="3013331"/>
              <a:ext cx="979694" cy="1954594"/>
            </a:xfrm>
            <a:custGeom>
              <a:avLst/>
              <a:gdLst>
                <a:gd name="connsiteX0" fmla="*/ 979694 w 979694"/>
                <a:gd name="connsiteY0" fmla="*/ 1954594 h 1954594"/>
                <a:gd name="connsiteX1" fmla="*/ 65294 w 979694"/>
                <a:gd name="connsiteY1" fmla="*/ 700829 h 1954594"/>
                <a:gd name="connsiteX2" fmla="*/ 112428 w 979694"/>
                <a:gd name="connsiteY2" fmla="*/ 69233 h 1954594"/>
                <a:gd name="connsiteX3" fmla="*/ 423513 w 979694"/>
                <a:gd name="connsiteY3" fmla="*/ 59806 h 1954594"/>
                <a:gd name="connsiteX4" fmla="*/ 555488 w 979694"/>
                <a:gd name="connsiteY4" fmla="*/ 455732 h 1954594"/>
                <a:gd name="connsiteX5" fmla="*/ 555488 w 979694"/>
                <a:gd name="connsiteY5" fmla="*/ 474586 h 1954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9694" h="1954594">
                  <a:moveTo>
                    <a:pt x="979694" y="1954594"/>
                  </a:moveTo>
                  <a:cubicBezTo>
                    <a:pt x="594766" y="1484825"/>
                    <a:pt x="209838" y="1015056"/>
                    <a:pt x="65294" y="700829"/>
                  </a:cubicBezTo>
                  <a:cubicBezTo>
                    <a:pt x="-79250" y="386602"/>
                    <a:pt x="52725" y="176070"/>
                    <a:pt x="112428" y="69233"/>
                  </a:cubicBezTo>
                  <a:cubicBezTo>
                    <a:pt x="172131" y="-37604"/>
                    <a:pt x="349670" y="-4610"/>
                    <a:pt x="423513" y="59806"/>
                  </a:cubicBezTo>
                  <a:cubicBezTo>
                    <a:pt x="497356" y="124222"/>
                    <a:pt x="555488" y="455732"/>
                    <a:pt x="555488" y="455732"/>
                  </a:cubicBezTo>
                  <a:cubicBezTo>
                    <a:pt x="577484" y="524862"/>
                    <a:pt x="566486" y="499724"/>
                    <a:pt x="555488" y="474586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51C5D7F-5072-4ADE-BFFE-42D871F06838}"/>
                </a:ext>
              </a:extLst>
            </p:cNvPr>
            <p:cNvGrpSpPr/>
            <p:nvPr/>
          </p:nvGrpSpPr>
          <p:grpSpPr>
            <a:xfrm>
              <a:off x="5010672" y="172207"/>
              <a:ext cx="2170656" cy="2238956"/>
              <a:chOff x="3386337" y="589085"/>
              <a:chExt cx="2951618" cy="304449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F4ACE2C-D37E-4FBE-83A1-B2E50918267A}"/>
                  </a:ext>
                </a:extLst>
              </p:cNvPr>
              <p:cNvGrpSpPr/>
              <p:nvPr/>
            </p:nvGrpSpPr>
            <p:grpSpPr>
              <a:xfrm>
                <a:off x="3386337" y="589085"/>
                <a:ext cx="2951618" cy="3044491"/>
                <a:chOff x="3386337" y="589085"/>
                <a:chExt cx="2951618" cy="3044491"/>
              </a:xfrm>
            </p:grpSpPr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02E39313-01FC-4DD3-A097-1BD07507E67A}"/>
                    </a:ext>
                  </a:extLst>
                </p:cNvPr>
                <p:cNvSpPr/>
                <p:nvPr/>
              </p:nvSpPr>
              <p:spPr>
                <a:xfrm>
                  <a:off x="3386337" y="589085"/>
                  <a:ext cx="1475809" cy="3044491"/>
                </a:xfrm>
                <a:custGeom>
                  <a:avLst/>
                  <a:gdLst>
                    <a:gd name="connsiteX0" fmla="*/ 1475809 w 1475809"/>
                    <a:gd name="connsiteY0" fmla="*/ 0 h 3044491"/>
                    <a:gd name="connsiteX1" fmla="*/ 781217 w 1475809"/>
                    <a:gd name="connsiteY1" fmla="*/ 87923 h 3044491"/>
                    <a:gd name="connsiteX2" fmla="*/ 482278 w 1475809"/>
                    <a:gd name="connsiteY2" fmla="*/ 290146 h 3044491"/>
                    <a:gd name="connsiteX3" fmla="*/ 236094 w 1475809"/>
                    <a:gd name="connsiteY3" fmla="*/ 685800 h 3044491"/>
                    <a:gd name="connsiteX4" fmla="*/ 16286 w 1475809"/>
                    <a:gd name="connsiteY4" fmla="*/ 1081453 h 3044491"/>
                    <a:gd name="connsiteX5" fmla="*/ 25078 w 1475809"/>
                    <a:gd name="connsiteY5" fmla="*/ 1380392 h 3044491"/>
                    <a:gd name="connsiteX6" fmla="*/ 95417 w 1475809"/>
                    <a:gd name="connsiteY6" fmla="*/ 1468315 h 3044491"/>
                    <a:gd name="connsiteX7" fmla="*/ 60248 w 1475809"/>
                    <a:gd name="connsiteY7" fmla="*/ 1696915 h 3044491"/>
                    <a:gd name="connsiteX8" fmla="*/ 121794 w 1475809"/>
                    <a:gd name="connsiteY8" fmla="*/ 1943100 h 3044491"/>
                    <a:gd name="connsiteX9" fmla="*/ 174548 w 1475809"/>
                    <a:gd name="connsiteY9" fmla="*/ 2162907 h 3044491"/>
                    <a:gd name="connsiteX10" fmla="*/ 244886 w 1475809"/>
                    <a:gd name="connsiteY10" fmla="*/ 2286000 h 3044491"/>
                    <a:gd name="connsiteX11" fmla="*/ 385563 w 1475809"/>
                    <a:gd name="connsiteY11" fmla="*/ 2479430 h 3044491"/>
                    <a:gd name="connsiteX12" fmla="*/ 622955 w 1475809"/>
                    <a:gd name="connsiteY12" fmla="*/ 2681653 h 3044491"/>
                    <a:gd name="connsiteX13" fmla="*/ 746048 w 1475809"/>
                    <a:gd name="connsiteY13" fmla="*/ 2901461 h 3044491"/>
                    <a:gd name="connsiteX14" fmla="*/ 1027401 w 1475809"/>
                    <a:gd name="connsiteY14" fmla="*/ 2945423 h 3044491"/>
                    <a:gd name="connsiteX15" fmla="*/ 1194455 w 1475809"/>
                    <a:gd name="connsiteY15" fmla="*/ 2989384 h 3044491"/>
                    <a:gd name="connsiteX16" fmla="*/ 1352717 w 1475809"/>
                    <a:gd name="connsiteY16" fmla="*/ 3042138 h 3044491"/>
                    <a:gd name="connsiteX17" fmla="*/ 1396678 w 1475809"/>
                    <a:gd name="connsiteY17" fmla="*/ 3033346 h 3044491"/>
                    <a:gd name="connsiteX18" fmla="*/ 1414263 w 1475809"/>
                    <a:gd name="connsiteY18" fmla="*/ 3015761 h 3044491"/>
                    <a:gd name="connsiteX19" fmla="*/ 1414263 w 1475809"/>
                    <a:gd name="connsiteY19" fmla="*/ 3015761 h 3044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75809" h="3044491">
                      <a:moveTo>
                        <a:pt x="1475809" y="0"/>
                      </a:moveTo>
                      <a:cubicBezTo>
                        <a:pt x="1211307" y="19782"/>
                        <a:pt x="946806" y="39565"/>
                        <a:pt x="781217" y="87923"/>
                      </a:cubicBezTo>
                      <a:cubicBezTo>
                        <a:pt x="615628" y="136281"/>
                        <a:pt x="573132" y="190500"/>
                        <a:pt x="482278" y="290146"/>
                      </a:cubicBezTo>
                      <a:cubicBezTo>
                        <a:pt x="391424" y="389792"/>
                        <a:pt x="313759" y="553916"/>
                        <a:pt x="236094" y="685800"/>
                      </a:cubicBezTo>
                      <a:cubicBezTo>
                        <a:pt x="158429" y="817684"/>
                        <a:pt x="51455" y="965688"/>
                        <a:pt x="16286" y="1081453"/>
                      </a:cubicBezTo>
                      <a:cubicBezTo>
                        <a:pt x="-18883" y="1197218"/>
                        <a:pt x="11890" y="1315915"/>
                        <a:pt x="25078" y="1380392"/>
                      </a:cubicBezTo>
                      <a:cubicBezTo>
                        <a:pt x="38266" y="1444869"/>
                        <a:pt x="89555" y="1415561"/>
                        <a:pt x="95417" y="1468315"/>
                      </a:cubicBezTo>
                      <a:cubicBezTo>
                        <a:pt x="101279" y="1521069"/>
                        <a:pt x="55852" y="1617784"/>
                        <a:pt x="60248" y="1696915"/>
                      </a:cubicBezTo>
                      <a:cubicBezTo>
                        <a:pt x="64644" y="1776046"/>
                        <a:pt x="102744" y="1865435"/>
                        <a:pt x="121794" y="1943100"/>
                      </a:cubicBezTo>
                      <a:cubicBezTo>
                        <a:pt x="140844" y="2020765"/>
                        <a:pt x="154033" y="2105757"/>
                        <a:pt x="174548" y="2162907"/>
                      </a:cubicBezTo>
                      <a:cubicBezTo>
                        <a:pt x="195063" y="2220057"/>
                        <a:pt x="209717" y="2233246"/>
                        <a:pt x="244886" y="2286000"/>
                      </a:cubicBezTo>
                      <a:cubicBezTo>
                        <a:pt x="280055" y="2338754"/>
                        <a:pt x="322552" y="2413488"/>
                        <a:pt x="385563" y="2479430"/>
                      </a:cubicBezTo>
                      <a:cubicBezTo>
                        <a:pt x="448574" y="2545372"/>
                        <a:pt x="562874" y="2611315"/>
                        <a:pt x="622955" y="2681653"/>
                      </a:cubicBezTo>
                      <a:cubicBezTo>
                        <a:pt x="683036" y="2751992"/>
                        <a:pt x="678640" y="2857499"/>
                        <a:pt x="746048" y="2901461"/>
                      </a:cubicBezTo>
                      <a:cubicBezTo>
                        <a:pt x="813456" y="2945423"/>
                        <a:pt x="952666" y="2930769"/>
                        <a:pt x="1027401" y="2945423"/>
                      </a:cubicBezTo>
                      <a:cubicBezTo>
                        <a:pt x="1102135" y="2960077"/>
                        <a:pt x="1140236" y="2973265"/>
                        <a:pt x="1194455" y="2989384"/>
                      </a:cubicBezTo>
                      <a:cubicBezTo>
                        <a:pt x="1248674" y="3005503"/>
                        <a:pt x="1319013" y="3034811"/>
                        <a:pt x="1352717" y="3042138"/>
                      </a:cubicBezTo>
                      <a:cubicBezTo>
                        <a:pt x="1386421" y="3049465"/>
                        <a:pt x="1386420" y="3037742"/>
                        <a:pt x="1396678" y="3033346"/>
                      </a:cubicBezTo>
                      <a:cubicBezTo>
                        <a:pt x="1406936" y="3028950"/>
                        <a:pt x="1414263" y="3015761"/>
                        <a:pt x="1414263" y="3015761"/>
                      </a:cubicBezTo>
                      <a:lnTo>
                        <a:pt x="1414263" y="3015761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D4F6E266-2BE5-4B82-A039-456B09556C49}"/>
                    </a:ext>
                  </a:extLst>
                </p:cNvPr>
                <p:cNvSpPr/>
                <p:nvPr/>
              </p:nvSpPr>
              <p:spPr>
                <a:xfrm flipH="1">
                  <a:off x="4862146" y="589085"/>
                  <a:ext cx="1475809" cy="3044491"/>
                </a:xfrm>
                <a:custGeom>
                  <a:avLst/>
                  <a:gdLst>
                    <a:gd name="connsiteX0" fmla="*/ 1475809 w 1475809"/>
                    <a:gd name="connsiteY0" fmla="*/ 0 h 3044491"/>
                    <a:gd name="connsiteX1" fmla="*/ 781217 w 1475809"/>
                    <a:gd name="connsiteY1" fmla="*/ 87923 h 3044491"/>
                    <a:gd name="connsiteX2" fmla="*/ 482278 w 1475809"/>
                    <a:gd name="connsiteY2" fmla="*/ 290146 h 3044491"/>
                    <a:gd name="connsiteX3" fmla="*/ 236094 w 1475809"/>
                    <a:gd name="connsiteY3" fmla="*/ 685800 h 3044491"/>
                    <a:gd name="connsiteX4" fmla="*/ 16286 w 1475809"/>
                    <a:gd name="connsiteY4" fmla="*/ 1081453 h 3044491"/>
                    <a:gd name="connsiteX5" fmla="*/ 25078 w 1475809"/>
                    <a:gd name="connsiteY5" fmla="*/ 1380392 h 3044491"/>
                    <a:gd name="connsiteX6" fmla="*/ 95417 w 1475809"/>
                    <a:gd name="connsiteY6" fmla="*/ 1468315 h 3044491"/>
                    <a:gd name="connsiteX7" fmla="*/ 60248 w 1475809"/>
                    <a:gd name="connsiteY7" fmla="*/ 1696915 h 3044491"/>
                    <a:gd name="connsiteX8" fmla="*/ 121794 w 1475809"/>
                    <a:gd name="connsiteY8" fmla="*/ 1943100 h 3044491"/>
                    <a:gd name="connsiteX9" fmla="*/ 174548 w 1475809"/>
                    <a:gd name="connsiteY9" fmla="*/ 2162907 h 3044491"/>
                    <a:gd name="connsiteX10" fmla="*/ 244886 w 1475809"/>
                    <a:gd name="connsiteY10" fmla="*/ 2286000 h 3044491"/>
                    <a:gd name="connsiteX11" fmla="*/ 385563 w 1475809"/>
                    <a:gd name="connsiteY11" fmla="*/ 2479430 h 3044491"/>
                    <a:gd name="connsiteX12" fmla="*/ 622955 w 1475809"/>
                    <a:gd name="connsiteY12" fmla="*/ 2681653 h 3044491"/>
                    <a:gd name="connsiteX13" fmla="*/ 746048 w 1475809"/>
                    <a:gd name="connsiteY13" fmla="*/ 2901461 h 3044491"/>
                    <a:gd name="connsiteX14" fmla="*/ 1027401 w 1475809"/>
                    <a:gd name="connsiteY14" fmla="*/ 2945423 h 3044491"/>
                    <a:gd name="connsiteX15" fmla="*/ 1194455 w 1475809"/>
                    <a:gd name="connsiteY15" fmla="*/ 2989384 h 3044491"/>
                    <a:gd name="connsiteX16" fmla="*/ 1352717 w 1475809"/>
                    <a:gd name="connsiteY16" fmla="*/ 3042138 h 3044491"/>
                    <a:gd name="connsiteX17" fmla="*/ 1396678 w 1475809"/>
                    <a:gd name="connsiteY17" fmla="*/ 3033346 h 3044491"/>
                    <a:gd name="connsiteX18" fmla="*/ 1414263 w 1475809"/>
                    <a:gd name="connsiteY18" fmla="*/ 3015761 h 3044491"/>
                    <a:gd name="connsiteX19" fmla="*/ 1414263 w 1475809"/>
                    <a:gd name="connsiteY19" fmla="*/ 3015761 h 3044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75809" h="3044491">
                      <a:moveTo>
                        <a:pt x="1475809" y="0"/>
                      </a:moveTo>
                      <a:cubicBezTo>
                        <a:pt x="1211307" y="19782"/>
                        <a:pt x="946806" y="39565"/>
                        <a:pt x="781217" y="87923"/>
                      </a:cubicBezTo>
                      <a:cubicBezTo>
                        <a:pt x="615628" y="136281"/>
                        <a:pt x="573132" y="190500"/>
                        <a:pt x="482278" y="290146"/>
                      </a:cubicBezTo>
                      <a:cubicBezTo>
                        <a:pt x="391424" y="389792"/>
                        <a:pt x="313759" y="553916"/>
                        <a:pt x="236094" y="685800"/>
                      </a:cubicBezTo>
                      <a:cubicBezTo>
                        <a:pt x="158429" y="817684"/>
                        <a:pt x="51455" y="965688"/>
                        <a:pt x="16286" y="1081453"/>
                      </a:cubicBezTo>
                      <a:cubicBezTo>
                        <a:pt x="-18883" y="1197218"/>
                        <a:pt x="11890" y="1315915"/>
                        <a:pt x="25078" y="1380392"/>
                      </a:cubicBezTo>
                      <a:cubicBezTo>
                        <a:pt x="38266" y="1444869"/>
                        <a:pt x="89555" y="1415561"/>
                        <a:pt x="95417" y="1468315"/>
                      </a:cubicBezTo>
                      <a:cubicBezTo>
                        <a:pt x="101279" y="1521069"/>
                        <a:pt x="55852" y="1617784"/>
                        <a:pt x="60248" y="1696915"/>
                      </a:cubicBezTo>
                      <a:cubicBezTo>
                        <a:pt x="64644" y="1776046"/>
                        <a:pt x="102744" y="1865435"/>
                        <a:pt x="121794" y="1943100"/>
                      </a:cubicBezTo>
                      <a:cubicBezTo>
                        <a:pt x="140844" y="2020765"/>
                        <a:pt x="154033" y="2105757"/>
                        <a:pt x="174548" y="2162907"/>
                      </a:cubicBezTo>
                      <a:cubicBezTo>
                        <a:pt x="195063" y="2220057"/>
                        <a:pt x="209717" y="2233246"/>
                        <a:pt x="244886" y="2286000"/>
                      </a:cubicBezTo>
                      <a:cubicBezTo>
                        <a:pt x="280055" y="2338754"/>
                        <a:pt x="322552" y="2413488"/>
                        <a:pt x="385563" y="2479430"/>
                      </a:cubicBezTo>
                      <a:cubicBezTo>
                        <a:pt x="448574" y="2545372"/>
                        <a:pt x="562874" y="2611315"/>
                        <a:pt x="622955" y="2681653"/>
                      </a:cubicBezTo>
                      <a:cubicBezTo>
                        <a:pt x="683036" y="2751992"/>
                        <a:pt x="678640" y="2857499"/>
                        <a:pt x="746048" y="2901461"/>
                      </a:cubicBezTo>
                      <a:cubicBezTo>
                        <a:pt x="813456" y="2945423"/>
                        <a:pt x="952666" y="2930769"/>
                        <a:pt x="1027401" y="2945423"/>
                      </a:cubicBezTo>
                      <a:cubicBezTo>
                        <a:pt x="1102135" y="2960077"/>
                        <a:pt x="1140236" y="2973265"/>
                        <a:pt x="1194455" y="2989384"/>
                      </a:cubicBezTo>
                      <a:cubicBezTo>
                        <a:pt x="1248674" y="3005503"/>
                        <a:pt x="1319013" y="3034811"/>
                        <a:pt x="1352717" y="3042138"/>
                      </a:cubicBezTo>
                      <a:cubicBezTo>
                        <a:pt x="1386421" y="3049465"/>
                        <a:pt x="1386420" y="3037742"/>
                        <a:pt x="1396678" y="3033346"/>
                      </a:cubicBezTo>
                      <a:cubicBezTo>
                        <a:pt x="1406936" y="3028950"/>
                        <a:pt x="1414263" y="3015761"/>
                        <a:pt x="1414263" y="3015761"/>
                      </a:cubicBezTo>
                      <a:lnTo>
                        <a:pt x="1414263" y="3015761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D7710A7-C8C9-4A68-AE62-8F74770D889D}"/>
                  </a:ext>
                </a:extLst>
              </p:cNvPr>
              <p:cNvSpPr/>
              <p:nvPr/>
            </p:nvSpPr>
            <p:spPr>
              <a:xfrm>
                <a:off x="4788816" y="593889"/>
                <a:ext cx="103951" cy="3016577"/>
              </a:xfrm>
              <a:custGeom>
                <a:avLst/>
                <a:gdLst>
                  <a:gd name="connsiteX0" fmla="*/ 0 w 103951"/>
                  <a:gd name="connsiteY0" fmla="*/ 3016577 h 3016577"/>
                  <a:gd name="connsiteX1" fmla="*/ 47135 w 103951"/>
                  <a:gd name="connsiteY1" fmla="*/ 2837468 h 3016577"/>
                  <a:gd name="connsiteX2" fmla="*/ 37708 w 103951"/>
                  <a:gd name="connsiteY2" fmla="*/ 2696066 h 3016577"/>
                  <a:gd name="connsiteX3" fmla="*/ 75415 w 103951"/>
                  <a:gd name="connsiteY3" fmla="*/ 2573517 h 3016577"/>
                  <a:gd name="connsiteX4" fmla="*/ 47135 w 103951"/>
                  <a:gd name="connsiteY4" fmla="*/ 2441542 h 3016577"/>
                  <a:gd name="connsiteX5" fmla="*/ 65988 w 103951"/>
                  <a:gd name="connsiteY5" fmla="*/ 2196445 h 3016577"/>
                  <a:gd name="connsiteX6" fmla="*/ 28281 w 103951"/>
                  <a:gd name="connsiteY6" fmla="*/ 2007909 h 3016577"/>
                  <a:gd name="connsiteX7" fmla="*/ 56561 w 103951"/>
                  <a:gd name="connsiteY7" fmla="*/ 1743958 h 3016577"/>
                  <a:gd name="connsiteX8" fmla="*/ 56561 w 103951"/>
                  <a:gd name="connsiteY8" fmla="*/ 1611983 h 3016577"/>
                  <a:gd name="connsiteX9" fmla="*/ 103695 w 103951"/>
                  <a:gd name="connsiteY9" fmla="*/ 1404593 h 3016577"/>
                  <a:gd name="connsiteX10" fmla="*/ 75415 w 103951"/>
                  <a:gd name="connsiteY10" fmla="*/ 1197204 h 3016577"/>
                  <a:gd name="connsiteX11" fmla="*/ 75415 w 103951"/>
                  <a:gd name="connsiteY11" fmla="*/ 933253 h 3016577"/>
                  <a:gd name="connsiteX12" fmla="*/ 37708 w 103951"/>
                  <a:gd name="connsiteY12" fmla="*/ 801278 h 3016577"/>
                  <a:gd name="connsiteX13" fmla="*/ 47135 w 103951"/>
                  <a:gd name="connsiteY13" fmla="*/ 584462 h 3016577"/>
                  <a:gd name="connsiteX14" fmla="*/ 65988 w 103951"/>
                  <a:gd name="connsiteY14" fmla="*/ 452486 h 3016577"/>
                  <a:gd name="connsiteX15" fmla="*/ 75415 w 103951"/>
                  <a:gd name="connsiteY15" fmla="*/ 301657 h 3016577"/>
                  <a:gd name="connsiteX16" fmla="*/ 28281 w 103951"/>
                  <a:gd name="connsiteY16" fmla="*/ 169682 h 3016577"/>
                  <a:gd name="connsiteX17" fmla="*/ 56561 w 103951"/>
                  <a:gd name="connsiteY17" fmla="*/ 47134 h 3016577"/>
                  <a:gd name="connsiteX18" fmla="*/ 18854 w 103951"/>
                  <a:gd name="connsiteY18" fmla="*/ 0 h 301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3951" h="3016577">
                    <a:moveTo>
                      <a:pt x="0" y="3016577"/>
                    </a:moveTo>
                    <a:cubicBezTo>
                      <a:pt x="20425" y="2953731"/>
                      <a:pt x="40850" y="2890886"/>
                      <a:pt x="47135" y="2837468"/>
                    </a:cubicBezTo>
                    <a:cubicBezTo>
                      <a:pt x="53420" y="2784050"/>
                      <a:pt x="32995" y="2740058"/>
                      <a:pt x="37708" y="2696066"/>
                    </a:cubicBezTo>
                    <a:cubicBezTo>
                      <a:pt x="42421" y="2652074"/>
                      <a:pt x="73844" y="2615938"/>
                      <a:pt x="75415" y="2573517"/>
                    </a:cubicBezTo>
                    <a:cubicBezTo>
                      <a:pt x="76986" y="2531096"/>
                      <a:pt x="48706" y="2504387"/>
                      <a:pt x="47135" y="2441542"/>
                    </a:cubicBezTo>
                    <a:cubicBezTo>
                      <a:pt x="45564" y="2378697"/>
                      <a:pt x="69130" y="2268717"/>
                      <a:pt x="65988" y="2196445"/>
                    </a:cubicBezTo>
                    <a:cubicBezTo>
                      <a:pt x="62846" y="2124173"/>
                      <a:pt x="29852" y="2083323"/>
                      <a:pt x="28281" y="2007909"/>
                    </a:cubicBezTo>
                    <a:cubicBezTo>
                      <a:pt x="26710" y="1932495"/>
                      <a:pt x="51848" y="1809946"/>
                      <a:pt x="56561" y="1743958"/>
                    </a:cubicBezTo>
                    <a:cubicBezTo>
                      <a:pt x="61274" y="1677970"/>
                      <a:pt x="48705" y="1668544"/>
                      <a:pt x="56561" y="1611983"/>
                    </a:cubicBezTo>
                    <a:cubicBezTo>
                      <a:pt x="64417" y="1555422"/>
                      <a:pt x="100553" y="1473723"/>
                      <a:pt x="103695" y="1404593"/>
                    </a:cubicBezTo>
                    <a:cubicBezTo>
                      <a:pt x="106837" y="1335463"/>
                      <a:pt x="80128" y="1275761"/>
                      <a:pt x="75415" y="1197204"/>
                    </a:cubicBezTo>
                    <a:cubicBezTo>
                      <a:pt x="70702" y="1118647"/>
                      <a:pt x="81699" y="999241"/>
                      <a:pt x="75415" y="933253"/>
                    </a:cubicBezTo>
                    <a:cubicBezTo>
                      <a:pt x="69131" y="867265"/>
                      <a:pt x="42421" y="859410"/>
                      <a:pt x="37708" y="801278"/>
                    </a:cubicBezTo>
                    <a:cubicBezTo>
                      <a:pt x="32995" y="743146"/>
                      <a:pt x="42422" y="642594"/>
                      <a:pt x="47135" y="584462"/>
                    </a:cubicBezTo>
                    <a:cubicBezTo>
                      <a:pt x="51848" y="526330"/>
                      <a:pt x="61275" y="499620"/>
                      <a:pt x="65988" y="452486"/>
                    </a:cubicBezTo>
                    <a:cubicBezTo>
                      <a:pt x="70701" y="405352"/>
                      <a:pt x="81700" y="348791"/>
                      <a:pt x="75415" y="301657"/>
                    </a:cubicBezTo>
                    <a:cubicBezTo>
                      <a:pt x="69131" y="254523"/>
                      <a:pt x="31423" y="212102"/>
                      <a:pt x="28281" y="169682"/>
                    </a:cubicBezTo>
                    <a:cubicBezTo>
                      <a:pt x="25139" y="127262"/>
                      <a:pt x="58132" y="75414"/>
                      <a:pt x="56561" y="47134"/>
                    </a:cubicBezTo>
                    <a:cubicBezTo>
                      <a:pt x="54990" y="18854"/>
                      <a:pt x="36922" y="9427"/>
                      <a:pt x="18854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7FF5211-1B9B-4723-BB6A-C1501667BD31}"/>
                  </a:ext>
                </a:extLst>
              </p:cNvPr>
              <p:cNvSpPr/>
              <p:nvPr/>
            </p:nvSpPr>
            <p:spPr>
              <a:xfrm flipH="1">
                <a:off x="4834377" y="593889"/>
                <a:ext cx="103951" cy="3016577"/>
              </a:xfrm>
              <a:custGeom>
                <a:avLst/>
                <a:gdLst>
                  <a:gd name="connsiteX0" fmla="*/ 0 w 103951"/>
                  <a:gd name="connsiteY0" fmla="*/ 3016577 h 3016577"/>
                  <a:gd name="connsiteX1" fmla="*/ 47135 w 103951"/>
                  <a:gd name="connsiteY1" fmla="*/ 2837468 h 3016577"/>
                  <a:gd name="connsiteX2" fmla="*/ 37708 w 103951"/>
                  <a:gd name="connsiteY2" fmla="*/ 2696066 h 3016577"/>
                  <a:gd name="connsiteX3" fmla="*/ 75415 w 103951"/>
                  <a:gd name="connsiteY3" fmla="*/ 2573517 h 3016577"/>
                  <a:gd name="connsiteX4" fmla="*/ 47135 w 103951"/>
                  <a:gd name="connsiteY4" fmla="*/ 2441542 h 3016577"/>
                  <a:gd name="connsiteX5" fmla="*/ 65988 w 103951"/>
                  <a:gd name="connsiteY5" fmla="*/ 2196445 h 3016577"/>
                  <a:gd name="connsiteX6" fmla="*/ 28281 w 103951"/>
                  <a:gd name="connsiteY6" fmla="*/ 2007909 h 3016577"/>
                  <a:gd name="connsiteX7" fmla="*/ 56561 w 103951"/>
                  <a:gd name="connsiteY7" fmla="*/ 1743958 h 3016577"/>
                  <a:gd name="connsiteX8" fmla="*/ 56561 w 103951"/>
                  <a:gd name="connsiteY8" fmla="*/ 1611983 h 3016577"/>
                  <a:gd name="connsiteX9" fmla="*/ 103695 w 103951"/>
                  <a:gd name="connsiteY9" fmla="*/ 1404593 h 3016577"/>
                  <a:gd name="connsiteX10" fmla="*/ 75415 w 103951"/>
                  <a:gd name="connsiteY10" fmla="*/ 1197204 h 3016577"/>
                  <a:gd name="connsiteX11" fmla="*/ 75415 w 103951"/>
                  <a:gd name="connsiteY11" fmla="*/ 933253 h 3016577"/>
                  <a:gd name="connsiteX12" fmla="*/ 37708 w 103951"/>
                  <a:gd name="connsiteY12" fmla="*/ 801278 h 3016577"/>
                  <a:gd name="connsiteX13" fmla="*/ 47135 w 103951"/>
                  <a:gd name="connsiteY13" fmla="*/ 584462 h 3016577"/>
                  <a:gd name="connsiteX14" fmla="*/ 65988 w 103951"/>
                  <a:gd name="connsiteY14" fmla="*/ 452486 h 3016577"/>
                  <a:gd name="connsiteX15" fmla="*/ 75415 w 103951"/>
                  <a:gd name="connsiteY15" fmla="*/ 301657 h 3016577"/>
                  <a:gd name="connsiteX16" fmla="*/ 28281 w 103951"/>
                  <a:gd name="connsiteY16" fmla="*/ 169682 h 3016577"/>
                  <a:gd name="connsiteX17" fmla="*/ 56561 w 103951"/>
                  <a:gd name="connsiteY17" fmla="*/ 47134 h 3016577"/>
                  <a:gd name="connsiteX18" fmla="*/ 18854 w 103951"/>
                  <a:gd name="connsiteY18" fmla="*/ 0 h 301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3951" h="3016577">
                    <a:moveTo>
                      <a:pt x="0" y="3016577"/>
                    </a:moveTo>
                    <a:cubicBezTo>
                      <a:pt x="20425" y="2953731"/>
                      <a:pt x="40850" y="2890886"/>
                      <a:pt x="47135" y="2837468"/>
                    </a:cubicBezTo>
                    <a:cubicBezTo>
                      <a:pt x="53420" y="2784050"/>
                      <a:pt x="32995" y="2740058"/>
                      <a:pt x="37708" y="2696066"/>
                    </a:cubicBezTo>
                    <a:cubicBezTo>
                      <a:pt x="42421" y="2652074"/>
                      <a:pt x="73844" y="2615938"/>
                      <a:pt x="75415" y="2573517"/>
                    </a:cubicBezTo>
                    <a:cubicBezTo>
                      <a:pt x="76986" y="2531096"/>
                      <a:pt x="48706" y="2504387"/>
                      <a:pt x="47135" y="2441542"/>
                    </a:cubicBezTo>
                    <a:cubicBezTo>
                      <a:pt x="45564" y="2378697"/>
                      <a:pt x="69130" y="2268717"/>
                      <a:pt x="65988" y="2196445"/>
                    </a:cubicBezTo>
                    <a:cubicBezTo>
                      <a:pt x="62846" y="2124173"/>
                      <a:pt x="29852" y="2083323"/>
                      <a:pt x="28281" y="2007909"/>
                    </a:cubicBezTo>
                    <a:cubicBezTo>
                      <a:pt x="26710" y="1932495"/>
                      <a:pt x="51848" y="1809946"/>
                      <a:pt x="56561" y="1743958"/>
                    </a:cubicBezTo>
                    <a:cubicBezTo>
                      <a:pt x="61274" y="1677970"/>
                      <a:pt x="48705" y="1668544"/>
                      <a:pt x="56561" y="1611983"/>
                    </a:cubicBezTo>
                    <a:cubicBezTo>
                      <a:pt x="64417" y="1555422"/>
                      <a:pt x="100553" y="1473723"/>
                      <a:pt x="103695" y="1404593"/>
                    </a:cubicBezTo>
                    <a:cubicBezTo>
                      <a:pt x="106837" y="1335463"/>
                      <a:pt x="80128" y="1275761"/>
                      <a:pt x="75415" y="1197204"/>
                    </a:cubicBezTo>
                    <a:cubicBezTo>
                      <a:pt x="70702" y="1118647"/>
                      <a:pt x="81699" y="999241"/>
                      <a:pt x="75415" y="933253"/>
                    </a:cubicBezTo>
                    <a:cubicBezTo>
                      <a:pt x="69131" y="867265"/>
                      <a:pt x="42421" y="859410"/>
                      <a:pt x="37708" y="801278"/>
                    </a:cubicBezTo>
                    <a:cubicBezTo>
                      <a:pt x="32995" y="743146"/>
                      <a:pt x="42422" y="642594"/>
                      <a:pt x="47135" y="584462"/>
                    </a:cubicBezTo>
                    <a:cubicBezTo>
                      <a:pt x="51848" y="526330"/>
                      <a:pt x="61275" y="499620"/>
                      <a:pt x="65988" y="452486"/>
                    </a:cubicBezTo>
                    <a:cubicBezTo>
                      <a:pt x="70701" y="405352"/>
                      <a:pt x="81700" y="348791"/>
                      <a:pt x="75415" y="301657"/>
                    </a:cubicBezTo>
                    <a:cubicBezTo>
                      <a:pt x="69131" y="254523"/>
                      <a:pt x="31423" y="212102"/>
                      <a:pt x="28281" y="169682"/>
                    </a:cubicBezTo>
                    <a:cubicBezTo>
                      <a:pt x="25139" y="127262"/>
                      <a:pt x="58132" y="75414"/>
                      <a:pt x="56561" y="47134"/>
                    </a:cubicBezTo>
                    <a:cubicBezTo>
                      <a:pt x="54990" y="18854"/>
                      <a:pt x="36922" y="9427"/>
                      <a:pt x="18854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82BA377-4188-4917-807D-5571EE8CC37F}"/>
                </a:ext>
              </a:extLst>
            </p:cNvPr>
            <p:cNvGrpSpPr/>
            <p:nvPr/>
          </p:nvGrpSpPr>
          <p:grpSpPr>
            <a:xfrm>
              <a:off x="5328912" y="401536"/>
              <a:ext cx="781813" cy="1926885"/>
              <a:chOff x="5328912" y="401536"/>
              <a:chExt cx="781813" cy="192688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82E8242-375D-420F-9BE9-473E05F9B12C}"/>
                  </a:ext>
                </a:extLst>
              </p:cNvPr>
              <p:cNvSpPr/>
              <p:nvPr/>
            </p:nvSpPr>
            <p:spPr>
              <a:xfrm>
                <a:off x="5966715" y="1564849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9E79C5F-A915-4D9A-AA32-9145CA251403}"/>
                  </a:ext>
                </a:extLst>
              </p:cNvPr>
              <p:cNvSpPr/>
              <p:nvPr/>
            </p:nvSpPr>
            <p:spPr>
              <a:xfrm rot="3163687">
                <a:off x="5681579" y="1295952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148F6C9-2C11-42F9-A977-9461862D8AB2}"/>
                  </a:ext>
                </a:extLst>
              </p:cNvPr>
              <p:cNvSpPr/>
              <p:nvPr/>
            </p:nvSpPr>
            <p:spPr>
              <a:xfrm rot="6743196">
                <a:off x="5677590" y="817237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56613C2-9E87-4E37-A7E8-6AAC7DCEB129}"/>
                  </a:ext>
                </a:extLst>
              </p:cNvPr>
              <p:cNvSpPr/>
              <p:nvPr/>
            </p:nvSpPr>
            <p:spPr>
              <a:xfrm rot="3520073">
                <a:off x="5663338" y="67110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214FCE-B45E-4165-9681-36A257F6D28D}"/>
                </a:ext>
              </a:extLst>
            </p:cNvPr>
            <p:cNvGrpSpPr/>
            <p:nvPr/>
          </p:nvGrpSpPr>
          <p:grpSpPr>
            <a:xfrm flipH="1">
              <a:off x="6094941" y="401536"/>
              <a:ext cx="781813" cy="1926885"/>
              <a:chOff x="5328912" y="401536"/>
              <a:chExt cx="781813" cy="1926885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CC6D3C2-B655-4E4F-ACB6-AF5BB1906BB5}"/>
                  </a:ext>
                </a:extLst>
              </p:cNvPr>
              <p:cNvSpPr/>
              <p:nvPr/>
            </p:nvSpPr>
            <p:spPr>
              <a:xfrm>
                <a:off x="5966715" y="1564849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F52B173-C8A6-431C-B27B-4D7900E56E34}"/>
                  </a:ext>
                </a:extLst>
              </p:cNvPr>
              <p:cNvSpPr/>
              <p:nvPr/>
            </p:nvSpPr>
            <p:spPr>
              <a:xfrm rot="3163687">
                <a:off x="5681579" y="1295952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5CDF560-6241-4B2F-80D5-10B9E0E8B0A7}"/>
                  </a:ext>
                </a:extLst>
              </p:cNvPr>
              <p:cNvSpPr/>
              <p:nvPr/>
            </p:nvSpPr>
            <p:spPr>
              <a:xfrm rot="6743196">
                <a:off x="5677590" y="817237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A4DEE07-927E-4837-9C69-52079526E5C3}"/>
                  </a:ext>
                </a:extLst>
              </p:cNvPr>
              <p:cNvSpPr/>
              <p:nvPr/>
            </p:nvSpPr>
            <p:spPr>
              <a:xfrm rot="3520073">
                <a:off x="5663338" y="67110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B467548-AAB2-4CDD-A3BA-4C5C1798E7EF}"/>
                </a:ext>
              </a:extLst>
            </p:cNvPr>
            <p:cNvGrpSpPr/>
            <p:nvPr/>
          </p:nvGrpSpPr>
          <p:grpSpPr>
            <a:xfrm>
              <a:off x="5392452" y="3518244"/>
              <a:ext cx="3065969" cy="3222872"/>
              <a:chOff x="5350867" y="3681702"/>
              <a:chExt cx="2329649" cy="2448870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6665A258-0164-4336-A477-71AF5A0BB3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0867" y="3681702"/>
                <a:ext cx="2329649" cy="2448870"/>
              </a:xfrm>
              <a:prstGeom prst="rect">
                <a:avLst/>
              </a:prstGeom>
            </p:spPr>
          </p:pic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B0F6122-7A5C-4B94-BC48-5B41C4EA846F}"/>
                  </a:ext>
                </a:extLst>
              </p:cNvPr>
              <p:cNvSpPr/>
              <p:nvPr/>
            </p:nvSpPr>
            <p:spPr>
              <a:xfrm>
                <a:off x="5581650" y="3833813"/>
                <a:ext cx="2052638" cy="2214728"/>
              </a:xfrm>
              <a:custGeom>
                <a:avLst/>
                <a:gdLst>
                  <a:gd name="connsiteX0" fmla="*/ 0 w 2052638"/>
                  <a:gd name="connsiteY0" fmla="*/ 0 h 2214728"/>
                  <a:gd name="connsiteX1" fmla="*/ 428625 w 2052638"/>
                  <a:gd name="connsiteY1" fmla="*/ 542925 h 2214728"/>
                  <a:gd name="connsiteX2" fmla="*/ 676275 w 2052638"/>
                  <a:gd name="connsiteY2" fmla="*/ 852487 h 2214728"/>
                  <a:gd name="connsiteX3" fmla="*/ 776288 w 2052638"/>
                  <a:gd name="connsiteY3" fmla="*/ 1257300 h 2214728"/>
                  <a:gd name="connsiteX4" fmla="*/ 919163 w 2052638"/>
                  <a:gd name="connsiteY4" fmla="*/ 1662112 h 2214728"/>
                  <a:gd name="connsiteX5" fmla="*/ 1395413 w 2052638"/>
                  <a:gd name="connsiteY5" fmla="*/ 2028825 h 2214728"/>
                  <a:gd name="connsiteX6" fmla="*/ 1838325 w 2052638"/>
                  <a:gd name="connsiteY6" fmla="*/ 2214562 h 2214728"/>
                  <a:gd name="connsiteX7" fmla="*/ 2052638 w 2052638"/>
                  <a:gd name="connsiteY7" fmla="*/ 2000250 h 221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52638" h="2214728">
                    <a:moveTo>
                      <a:pt x="0" y="0"/>
                    </a:moveTo>
                    <a:lnTo>
                      <a:pt x="428625" y="542925"/>
                    </a:lnTo>
                    <a:cubicBezTo>
                      <a:pt x="541337" y="685006"/>
                      <a:pt x="618331" y="733425"/>
                      <a:pt x="676275" y="852487"/>
                    </a:cubicBezTo>
                    <a:cubicBezTo>
                      <a:pt x="734219" y="971549"/>
                      <a:pt x="735807" y="1122363"/>
                      <a:pt x="776288" y="1257300"/>
                    </a:cubicBezTo>
                    <a:cubicBezTo>
                      <a:pt x="816769" y="1392237"/>
                      <a:pt x="815976" y="1533525"/>
                      <a:pt x="919163" y="1662112"/>
                    </a:cubicBezTo>
                    <a:cubicBezTo>
                      <a:pt x="1022350" y="1790699"/>
                      <a:pt x="1242219" y="1936750"/>
                      <a:pt x="1395413" y="2028825"/>
                    </a:cubicBezTo>
                    <a:cubicBezTo>
                      <a:pt x="1548607" y="2120900"/>
                      <a:pt x="1728788" y="2219324"/>
                      <a:pt x="1838325" y="2214562"/>
                    </a:cubicBezTo>
                    <a:cubicBezTo>
                      <a:pt x="1947862" y="2209800"/>
                      <a:pt x="2000250" y="2105025"/>
                      <a:pt x="2052638" y="2000250"/>
                    </a:cubicBezTo>
                  </a:path>
                </a:pathLst>
              </a:cu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F964880-65B2-46E6-8EDB-23027B239A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96354" y="4657725"/>
                <a:ext cx="104434" cy="47625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15527FE-7636-4201-BF0B-5B6FDC3129B8}"/>
                </a:ext>
              </a:extLst>
            </p:cNvPr>
            <p:cNvSpPr/>
            <p:nvPr/>
          </p:nvSpPr>
          <p:spPr>
            <a:xfrm>
              <a:off x="5723126" y="2843609"/>
              <a:ext cx="1035893" cy="2209158"/>
            </a:xfrm>
            <a:custGeom>
              <a:avLst/>
              <a:gdLst>
                <a:gd name="connsiteX0" fmla="*/ 1035893 w 1035893"/>
                <a:gd name="connsiteY0" fmla="*/ 2209158 h 2209158"/>
                <a:gd name="connsiteX1" fmla="*/ 404297 w 1035893"/>
                <a:gd name="connsiteY1" fmla="*/ 1398453 h 2209158"/>
                <a:gd name="connsiteX2" fmla="*/ 17798 w 1035893"/>
                <a:gd name="connsiteY2" fmla="*/ 757430 h 2209158"/>
                <a:gd name="connsiteX3" fmla="*/ 83785 w 1035893"/>
                <a:gd name="connsiteY3" fmla="*/ 304944 h 2209158"/>
                <a:gd name="connsiteX4" fmla="*/ 253468 w 1035893"/>
                <a:gd name="connsiteY4" fmla="*/ 50420 h 2209158"/>
                <a:gd name="connsiteX5" fmla="*/ 564552 w 1035893"/>
                <a:gd name="connsiteY5" fmla="*/ 22139 h 2209158"/>
                <a:gd name="connsiteX6" fmla="*/ 828503 w 1035893"/>
                <a:gd name="connsiteY6" fmla="*/ 304944 h 2209158"/>
                <a:gd name="connsiteX7" fmla="*/ 894490 w 1035893"/>
                <a:gd name="connsiteY7" fmla="*/ 729150 h 2209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5893" h="2209158">
                  <a:moveTo>
                    <a:pt x="1035893" y="2209158"/>
                  </a:moveTo>
                  <a:cubicBezTo>
                    <a:pt x="804936" y="1924783"/>
                    <a:pt x="573979" y="1640408"/>
                    <a:pt x="404297" y="1398453"/>
                  </a:cubicBezTo>
                  <a:cubicBezTo>
                    <a:pt x="234615" y="1156498"/>
                    <a:pt x="71217" y="939681"/>
                    <a:pt x="17798" y="757430"/>
                  </a:cubicBezTo>
                  <a:cubicBezTo>
                    <a:pt x="-35621" y="575179"/>
                    <a:pt x="44507" y="422779"/>
                    <a:pt x="83785" y="304944"/>
                  </a:cubicBezTo>
                  <a:cubicBezTo>
                    <a:pt x="123063" y="187109"/>
                    <a:pt x="173340" y="97554"/>
                    <a:pt x="253468" y="50420"/>
                  </a:cubicBezTo>
                  <a:cubicBezTo>
                    <a:pt x="333596" y="3286"/>
                    <a:pt x="468713" y="-20282"/>
                    <a:pt x="564552" y="22139"/>
                  </a:cubicBezTo>
                  <a:cubicBezTo>
                    <a:pt x="660391" y="64560"/>
                    <a:pt x="773513" y="187109"/>
                    <a:pt x="828503" y="304944"/>
                  </a:cubicBezTo>
                  <a:cubicBezTo>
                    <a:pt x="883493" y="422779"/>
                    <a:pt x="888991" y="575964"/>
                    <a:pt x="894490" y="72915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E08B7BE-B84B-4FD4-BE2B-A5FB7E05A143}"/>
                </a:ext>
              </a:extLst>
            </p:cNvPr>
            <p:cNvSpPr/>
            <p:nvPr/>
          </p:nvSpPr>
          <p:spPr>
            <a:xfrm>
              <a:off x="5863472" y="2356701"/>
              <a:ext cx="122549" cy="518474"/>
            </a:xfrm>
            <a:custGeom>
              <a:avLst/>
              <a:gdLst>
                <a:gd name="connsiteX0" fmla="*/ 122549 w 122549"/>
                <a:gd name="connsiteY0" fmla="*/ 518474 h 518474"/>
                <a:gd name="connsiteX1" fmla="*/ 37707 w 122549"/>
                <a:gd name="connsiteY1" fmla="*/ 245097 h 518474"/>
                <a:gd name="connsiteX2" fmla="*/ 0 w 122549"/>
                <a:gd name="connsiteY2" fmla="*/ 0 h 518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49" h="518474">
                  <a:moveTo>
                    <a:pt x="122549" y="518474"/>
                  </a:moveTo>
                  <a:cubicBezTo>
                    <a:pt x="90340" y="424991"/>
                    <a:pt x="58132" y="331509"/>
                    <a:pt x="37707" y="245097"/>
                  </a:cubicBezTo>
                  <a:cubicBezTo>
                    <a:pt x="17282" y="158685"/>
                    <a:pt x="8641" y="79342"/>
                    <a:pt x="0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01B2B2E-0CDC-474A-8C8B-A7447AB1B970}"/>
                </a:ext>
              </a:extLst>
            </p:cNvPr>
            <p:cNvSpPr/>
            <p:nvPr/>
          </p:nvSpPr>
          <p:spPr>
            <a:xfrm>
              <a:off x="5761538" y="2347274"/>
              <a:ext cx="158495" cy="593889"/>
            </a:xfrm>
            <a:custGeom>
              <a:avLst/>
              <a:gdLst>
                <a:gd name="connsiteX0" fmla="*/ 158495 w 158495"/>
                <a:gd name="connsiteY0" fmla="*/ 593889 h 593889"/>
                <a:gd name="connsiteX1" fmla="*/ 17093 w 158495"/>
                <a:gd name="connsiteY1" fmla="*/ 169683 h 593889"/>
                <a:gd name="connsiteX2" fmla="*/ 7666 w 158495"/>
                <a:gd name="connsiteY2" fmla="*/ 0 h 593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495" h="593889">
                  <a:moveTo>
                    <a:pt x="158495" y="593889"/>
                  </a:moveTo>
                  <a:cubicBezTo>
                    <a:pt x="100363" y="431276"/>
                    <a:pt x="42231" y="268664"/>
                    <a:pt x="17093" y="169683"/>
                  </a:cubicBezTo>
                  <a:cubicBezTo>
                    <a:pt x="-8045" y="70702"/>
                    <a:pt x="-190" y="35351"/>
                    <a:pt x="7666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A598DEB-882E-4865-8E83-F7F08458CE5D}"/>
                </a:ext>
              </a:extLst>
            </p:cNvPr>
            <p:cNvSpPr/>
            <p:nvPr/>
          </p:nvSpPr>
          <p:spPr>
            <a:xfrm>
              <a:off x="6278252" y="2356701"/>
              <a:ext cx="103694" cy="509047"/>
            </a:xfrm>
            <a:custGeom>
              <a:avLst/>
              <a:gdLst>
                <a:gd name="connsiteX0" fmla="*/ 0 w 103694"/>
                <a:gd name="connsiteY0" fmla="*/ 509047 h 509047"/>
                <a:gd name="connsiteX1" fmla="*/ 84841 w 103694"/>
                <a:gd name="connsiteY1" fmla="*/ 273377 h 509047"/>
                <a:gd name="connsiteX2" fmla="*/ 103694 w 103694"/>
                <a:gd name="connsiteY2" fmla="*/ 0 h 5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694" h="509047">
                  <a:moveTo>
                    <a:pt x="0" y="509047"/>
                  </a:moveTo>
                  <a:cubicBezTo>
                    <a:pt x="33779" y="433632"/>
                    <a:pt x="67559" y="358218"/>
                    <a:pt x="84841" y="273377"/>
                  </a:cubicBezTo>
                  <a:cubicBezTo>
                    <a:pt x="102123" y="188536"/>
                    <a:pt x="102908" y="94268"/>
                    <a:pt x="103694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48450ED-037D-4F87-BAC4-07EC16DB926E}"/>
                </a:ext>
              </a:extLst>
            </p:cNvPr>
            <p:cNvSpPr/>
            <p:nvPr/>
          </p:nvSpPr>
          <p:spPr>
            <a:xfrm>
              <a:off x="6372520" y="2337847"/>
              <a:ext cx="113121" cy="575035"/>
            </a:xfrm>
            <a:custGeom>
              <a:avLst/>
              <a:gdLst>
                <a:gd name="connsiteX0" fmla="*/ 0 w 113121"/>
                <a:gd name="connsiteY0" fmla="*/ 575035 h 575035"/>
                <a:gd name="connsiteX1" fmla="*/ 84841 w 113121"/>
                <a:gd name="connsiteY1" fmla="*/ 311085 h 575035"/>
                <a:gd name="connsiteX2" fmla="*/ 113121 w 113121"/>
                <a:gd name="connsiteY2" fmla="*/ 0 h 57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121" h="575035">
                  <a:moveTo>
                    <a:pt x="0" y="575035"/>
                  </a:moveTo>
                  <a:cubicBezTo>
                    <a:pt x="32994" y="490979"/>
                    <a:pt x="65988" y="406924"/>
                    <a:pt x="84841" y="311085"/>
                  </a:cubicBezTo>
                  <a:cubicBezTo>
                    <a:pt x="103694" y="215246"/>
                    <a:pt x="108407" y="107623"/>
                    <a:pt x="113121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C60B813-A499-4D45-A4D2-9B16579221D4}"/>
                </a:ext>
              </a:extLst>
            </p:cNvPr>
            <p:cNvSpPr/>
            <p:nvPr/>
          </p:nvSpPr>
          <p:spPr>
            <a:xfrm>
              <a:off x="6743700" y="4953000"/>
              <a:ext cx="29419" cy="171450"/>
            </a:xfrm>
            <a:custGeom>
              <a:avLst/>
              <a:gdLst>
                <a:gd name="connsiteX0" fmla="*/ 19050 w 29419"/>
                <a:gd name="connsiteY0" fmla="*/ 0 h 171450"/>
                <a:gd name="connsiteX1" fmla="*/ 28575 w 29419"/>
                <a:gd name="connsiteY1" fmla="*/ 76200 h 171450"/>
                <a:gd name="connsiteX2" fmla="*/ 0 w 29419"/>
                <a:gd name="connsiteY2" fmla="*/ 171450 h 171450"/>
                <a:gd name="connsiteX3" fmla="*/ 0 w 29419"/>
                <a:gd name="connsiteY3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19" h="171450">
                  <a:moveTo>
                    <a:pt x="19050" y="0"/>
                  </a:moveTo>
                  <a:cubicBezTo>
                    <a:pt x="25400" y="23812"/>
                    <a:pt x="31750" y="47625"/>
                    <a:pt x="28575" y="76200"/>
                  </a:cubicBezTo>
                  <a:cubicBezTo>
                    <a:pt x="25400" y="104775"/>
                    <a:pt x="0" y="171450"/>
                    <a:pt x="0" y="171450"/>
                  </a:cubicBezTo>
                  <a:lnTo>
                    <a:pt x="0" y="171450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91491F3-753B-4BF8-9394-3C904ABA7B03}"/>
                </a:ext>
              </a:extLst>
            </p:cNvPr>
            <p:cNvSpPr/>
            <p:nvPr/>
          </p:nvSpPr>
          <p:spPr>
            <a:xfrm rot="17746677" flipH="1">
              <a:off x="6829544" y="4884777"/>
              <a:ext cx="29419" cy="171450"/>
            </a:xfrm>
            <a:custGeom>
              <a:avLst/>
              <a:gdLst>
                <a:gd name="connsiteX0" fmla="*/ 19050 w 29419"/>
                <a:gd name="connsiteY0" fmla="*/ 0 h 171450"/>
                <a:gd name="connsiteX1" fmla="*/ 28575 w 29419"/>
                <a:gd name="connsiteY1" fmla="*/ 76200 h 171450"/>
                <a:gd name="connsiteX2" fmla="*/ 0 w 29419"/>
                <a:gd name="connsiteY2" fmla="*/ 171450 h 171450"/>
                <a:gd name="connsiteX3" fmla="*/ 0 w 29419"/>
                <a:gd name="connsiteY3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19" h="171450">
                  <a:moveTo>
                    <a:pt x="19050" y="0"/>
                  </a:moveTo>
                  <a:cubicBezTo>
                    <a:pt x="25400" y="23812"/>
                    <a:pt x="31750" y="47625"/>
                    <a:pt x="28575" y="76200"/>
                  </a:cubicBezTo>
                  <a:cubicBezTo>
                    <a:pt x="25400" y="104775"/>
                    <a:pt x="0" y="171450"/>
                    <a:pt x="0" y="171450"/>
                  </a:cubicBezTo>
                  <a:lnTo>
                    <a:pt x="0" y="171450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itle - sub-type">
            <a:extLst>
              <a:ext uri="{FF2B5EF4-FFF2-40B4-BE49-F238E27FC236}">
                <a16:creationId xmlns:a16="http://schemas.microsoft.com/office/drawing/2014/main" id="{5980B63C-E431-4906-ABB2-17C87F086DD6}"/>
              </a:ext>
            </a:extLst>
          </p:cNvPr>
          <p:cNvSpPr txBox="1"/>
          <p:nvPr/>
        </p:nvSpPr>
        <p:spPr>
          <a:xfrm>
            <a:off x="4079424" y="105015"/>
            <a:ext cx="403315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Determining Ischemic Sub-Type </a:t>
            </a:r>
          </a:p>
        </p:txBody>
      </p:sp>
      <p:sp>
        <p:nvSpPr>
          <p:cNvPr id="63" name="Day 1">
            <a:extLst>
              <a:ext uri="{FF2B5EF4-FFF2-40B4-BE49-F238E27FC236}">
                <a16:creationId xmlns:a16="http://schemas.microsoft.com/office/drawing/2014/main" id="{3EFC6000-CF88-430E-BF90-57A8820A4493}"/>
              </a:ext>
            </a:extLst>
          </p:cNvPr>
          <p:cNvSpPr txBox="1"/>
          <p:nvPr/>
        </p:nvSpPr>
        <p:spPr>
          <a:xfrm>
            <a:off x="958052" y="165749"/>
            <a:ext cx="2169138" cy="3064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tIns="0" bIns="0" rtlCol="0">
            <a:spAutoFit/>
          </a:bodyPr>
          <a:lstStyle/>
          <a:p>
            <a:pPr algn="ctr"/>
            <a:r>
              <a:rPr lang="en-US" dirty="0"/>
              <a:t>Standard Diagnostics</a:t>
            </a:r>
          </a:p>
        </p:txBody>
      </p:sp>
      <p:sp>
        <p:nvSpPr>
          <p:cNvPr id="64" name="Day 3+">
            <a:extLst>
              <a:ext uri="{FF2B5EF4-FFF2-40B4-BE49-F238E27FC236}">
                <a16:creationId xmlns:a16="http://schemas.microsoft.com/office/drawing/2014/main" id="{C1557135-9C17-40E9-A4DA-E5B3462BA293}"/>
              </a:ext>
            </a:extLst>
          </p:cNvPr>
          <p:cNvSpPr txBox="1"/>
          <p:nvPr/>
        </p:nvSpPr>
        <p:spPr>
          <a:xfrm>
            <a:off x="8708747" y="160459"/>
            <a:ext cx="2426969" cy="3064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tIns="0" bIns="0" rtlCol="0">
            <a:spAutoFit/>
          </a:bodyPr>
          <a:lstStyle/>
          <a:p>
            <a:pPr algn="ctr"/>
            <a:r>
              <a:rPr lang="en-US" dirty="0"/>
              <a:t>Specialized Diagnostics</a:t>
            </a:r>
          </a:p>
        </p:txBody>
      </p:sp>
      <p:grpSp>
        <p:nvGrpSpPr>
          <p:cNvPr id="39" name="Intracardiac thrombi">
            <a:extLst>
              <a:ext uri="{FF2B5EF4-FFF2-40B4-BE49-F238E27FC236}">
                <a16:creationId xmlns:a16="http://schemas.microsoft.com/office/drawing/2014/main" id="{68655F3E-9A48-45B5-930F-C56B297CF107}"/>
              </a:ext>
            </a:extLst>
          </p:cNvPr>
          <p:cNvGrpSpPr/>
          <p:nvPr/>
        </p:nvGrpSpPr>
        <p:grpSpPr>
          <a:xfrm>
            <a:off x="5539327" y="3881308"/>
            <a:ext cx="2336070" cy="2623231"/>
            <a:chOff x="5539327" y="3881308"/>
            <a:chExt cx="2336070" cy="2623231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77C503D-8588-493B-987A-0F931F3F3710}"/>
                </a:ext>
              </a:extLst>
            </p:cNvPr>
            <p:cNvSpPr/>
            <p:nvPr/>
          </p:nvSpPr>
          <p:spPr>
            <a:xfrm>
              <a:off x="7686861" y="6316003"/>
              <a:ext cx="188536" cy="18853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6A15997-6665-46F8-AFC0-EB9E0A365807}"/>
                </a:ext>
              </a:extLst>
            </p:cNvPr>
            <p:cNvGrpSpPr/>
            <p:nvPr/>
          </p:nvGrpSpPr>
          <p:grpSpPr>
            <a:xfrm rot="19616718">
              <a:off x="5539327" y="4458107"/>
              <a:ext cx="747655" cy="390283"/>
              <a:chOff x="6342" y="2560624"/>
              <a:chExt cx="572648" cy="369333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2AC6E29-AA46-47C6-A18F-D47788A91C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80" y="2560624"/>
                <a:ext cx="499772" cy="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3C900C6-3E99-46F1-A647-9DD684D8E7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80" y="2929957"/>
                <a:ext cx="499772" cy="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CC147A1-D060-485E-A58E-DDB33B36016B}"/>
                  </a:ext>
                </a:extLst>
              </p:cNvPr>
              <p:cNvSpPr txBox="1"/>
              <p:nvPr/>
            </p:nvSpPr>
            <p:spPr>
              <a:xfrm>
                <a:off x="6342" y="2570537"/>
                <a:ext cx="572648" cy="3495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Shunt</a:t>
                </a:r>
              </a:p>
            </p:txBody>
          </p:sp>
        </p:grp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A296FB8-B476-41D0-A685-F121E4DCB7E8}"/>
                </a:ext>
              </a:extLst>
            </p:cNvPr>
            <p:cNvSpPr/>
            <p:nvPr/>
          </p:nvSpPr>
          <p:spPr>
            <a:xfrm>
              <a:off x="6155823" y="3881308"/>
              <a:ext cx="188536" cy="18853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93948F9C-C15C-4D49-8390-7588A7F4C6A0}"/>
                </a:ext>
              </a:extLst>
            </p:cNvPr>
            <p:cNvSpPr/>
            <p:nvPr/>
          </p:nvSpPr>
          <p:spPr>
            <a:xfrm>
              <a:off x="6272215" y="5199600"/>
              <a:ext cx="79218" cy="792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TTE arrows">
            <a:extLst>
              <a:ext uri="{FF2B5EF4-FFF2-40B4-BE49-F238E27FC236}">
                <a16:creationId xmlns:a16="http://schemas.microsoft.com/office/drawing/2014/main" id="{581C7412-9446-4777-908D-8C82FE1B2C5F}"/>
              </a:ext>
            </a:extLst>
          </p:cNvPr>
          <p:cNvGrpSpPr/>
          <p:nvPr/>
        </p:nvGrpSpPr>
        <p:grpSpPr>
          <a:xfrm>
            <a:off x="3394267" y="3968183"/>
            <a:ext cx="4230531" cy="2391537"/>
            <a:chOff x="3394267" y="3968183"/>
            <a:chExt cx="4230531" cy="2391537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D351A0D-6904-4D7A-825A-442B15F4319C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 flipV="1">
              <a:off x="3394267" y="4857148"/>
              <a:ext cx="2205564" cy="176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B22213FA-FF61-452D-9574-9EB0D6F00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4267" y="3968183"/>
              <a:ext cx="2769916" cy="10652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E7BDCF2-2AA8-4015-A2BE-BCD665FF932C}"/>
                </a:ext>
              </a:extLst>
            </p:cNvPr>
            <p:cNvCxnSpPr>
              <a:cxnSpLocks/>
            </p:cNvCxnSpPr>
            <p:nvPr/>
          </p:nvCxnSpPr>
          <p:spPr>
            <a:xfrm>
              <a:off x="3394267" y="5033475"/>
              <a:ext cx="4230531" cy="13262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32A58C38-A3FE-41DD-82C1-60A1B78F719F}"/>
                </a:ext>
              </a:extLst>
            </p:cNvPr>
            <p:cNvCxnSpPr>
              <a:cxnSpLocks/>
              <a:endCxn id="139" idx="1"/>
            </p:cNvCxnSpPr>
            <p:nvPr/>
          </p:nvCxnSpPr>
          <p:spPr>
            <a:xfrm>
              <a:off x="3394267" y="5033475"/>
              <a:ext cx="2923936" cy="1525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3" name="Atherosclerosis">
            <a:extLst>
              <a:ext uri="{FF2B5EF4-FFF2-40B4-BE49-F238E27FC236}">
                <a16:creationId xmlns:a16="http://schemas.microsoft.com/office/drawing/2014/main" id="{19E2B333-D1C9-48E3-B53A-9F3BBC1A282A}"/>
              </a:ext>
            </a:extLst>
          </p:cNvPr>
          <p:cNvGrpSpPr/>
          <p:nvPr/>
        </p:nvGrpSpPr>
        <p:grpSpPr>
          <a:xfrm>
            <a:off x="5354238" y="629562"/>
            <a:ext cx="284154" cy="2828516"/>
            <a:chOff x="5354238" y="629562"/>
            <a:chExt cx="284154" cy="2828516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1D0B4AE-C50B-4816-B83C-92DFD89609AF}"/>
                </a:ext>
              </a:extLst>
            </p:cNvPr>
            <p:cNvSpPr/>
            <p:nvPr/>
          </p:nvSpPr>
          <p:spPr>
            <a:xfrm rot="15052857">
              <a:off x="5347480" y="1490410"/>
              <a:ext cx="103536" cy="90019"/>
            </a:xfrm>
            <a:custGeom>
              <a:avLst/>
              <a:gdLst>
                <a:gd name="connsiteX0" fmla="*/ 169683 w 169683"/>
                <a:gd name="connsiteY0" fmla="*/ 9426 h 103695"/>
                <a:gd name="connsiteX1" fmla="*/ 47134 w 169683"/>
                <a:gd name="connsiteY1" fmla="*/ 0 h 103695"/>
                <a:gd name="connsiteX2" fmla="*/ 0 w 169683"/>
                <a:gd name="connsiteY2" fmla="*/ 75414 h 103695"/>
                <a:gd name="connsiteX3" fmla="*/ 9427 w 169683"/>
                <a:gd name="connsiteY3" fmla="*/ 103695 h 103695"/>
                <a:gd name="connsiteX4" fmla="*/ 169683 w 169683"/>
                <a:gd name="connsiteY4" fmla="*/ 9426 h 10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683" h="103695">
                  <a:moveTo>
                    <a:pt x="169683" y="9426"/>
                  </a:moveTo>
                  <a:lnTo>
                    <a:pt x="47134" y="0"/>
                  </a:lnTo>
                  <a:lnTo>
                    <a:pt x="0" y="75414"/>
                  </a:lnTo>
                  <a:lnTo>
                    <a:pt x="9427" y="103695"/>
                  </a:lnTo>
                  <a:lnTo>
                    <a:pt x="169683" y="94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4A857E6-881C-4EE2-8255-206587F30135}"/>
                </a:ext>
              </a:extLst>
            </p:cNvPr>
            <p:cNvSpPr/>
            <p:nvPr/>
          </p:nvSpPr>
          <p:spPr>
            <a:xfrm rot="17594671">
              <a:off x="5413276" y="2719314"/>
              <a:ext cx="103536" cy="90019"/>
            </a:xfrm>
            <a:custGeom>
              <a:avLst/>
              <a:gdLst>
                <a:gd name="connsiteX0" fmla="*/ 169683 w 169683"/>
                <a:gd name="connsiteY0" fmla="*/ 9426 h 103695"/>
                <a:gd name="connsiteX1" fmla="*/ 47134 w 169683"/>
                <a:gd name="connsiteY1" fmla="*/ 0 h 103695"/>
                <a:gd name="connsiteX2" fmla="*/ 0 w 169683"/>
                <a:gd name="connsiteY2" fmla="*/ 75414 h 103695"/>
                <a:gd name="connsiteX3" fmla="*/ 9427 w 169683"/>
                <a:gd name="connsiteY3" fmla="*/ 103695 h 103695"/>
                <a:gd name="connsiteX4" fmla="*/ 169683 w 169683"/>
                <a:gd name="connsiteY4" fmla="*/ 9426 h 10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683" h="103695">
                  <a:moveTo>
                    <a:pt x="169683" y="9426"/>
                  </a:moveTo>
                  <a:lnTo>
                    <a:pt x="47134" y="0"/>
                  </a:lnTo>
                  <a:lnTo>
                    <a:pt x="0" y="75414"/>
                  </a:lnTo>
                  <a:lnTo>
                    <a:pt x="9427" y="103695"/>
                  </a:lnTo>
                  <a:lnTo>
                    <a:pt x="169683" y="94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632EDC7A-A08A-4280-849D-52AFC36F918A}"/>
                </a:ext>
              </a:extLst>
            </p:cNvPr>
            <p:cNvSpPr/>
            <p:nvPr/>
          </p:nvSpPr>
          <p:spPr>
            <a:xfrm rot="908833">
              <a:off x="5367368" y="629562"/>
              <a:ext cx="103536" cy="90019"/>
            </a:xfrm>
            <a:custGeom>
              <a:avLst/>
              <a:gdLst>
                <a:gd name="connsiteX0" fmla="*/ 169683 w 169683"/>
                <a:gd name="connsiteY0" fmla="*/ 9426 h 103695"/>
                <a:gd name="connsiteX1" fmla="*/ 47134 w 169683"/>
                <a:gd name="connsiteY1" fmla="*/ 0 h 103695"/>
                <a:gd name="connsiteX2" fmla="*/ 0 w 169683"/>
                <a:gd name="connsiteY2" fmla="*/ 75414 h 103695"/>
                <a:gd name="connsiteX3" fmla="*/ 9427 w 169683"/>
                <a:gd name="connsiteY3" fmla="*/ 103695 h 103695"/>
                <a:gd name="connsiteX4" fmla="*/ 169683 w 169683"/>
                <a:gd name="connsiteY4" fmla="*/ 9426 h 10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683" h="103695">
                  <a:moveTo>
                    <a:pt x="169683" y="9426"/>
                  </a:moveTo>
                  <a:lnTo>
                    <a:pt x="47134" y="0"/>
                  </a:lnTo>
                  <a:lnTo>
                    <a:pt x="0" y="75414"/>
                  </a:lnTo>
                  <a:lnTo>
                    <a:pt x="9427" y="103695"/>
                  </a:lnTo>
                  <a:lnTo>
                    <a:pt x="169683" y="94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51CC56B-28CF-4BA6-8194-E04EDBAB7539}"/>
                </a:ext>
              </a:extLst>
            </p:cNvPr>
            <p:cNvSpPr/>
            <p:nvPr/>
          </p:nvSpPr>
          <p:spPr>
            <a:xfrm rot="20121367">
              <a:off x="5469549" y="3297302"/>
              <a:ext cx="168843" cy="160776"/>
            </a:xfrm>
            <a:custGeom>
              <a:avLst/>
              <a:gdLst>
                <a:gd name="connsiteX0" fmla="*/ 169683 w 169683"/>
                <a:gd name="connsiteY0" fmla="*/ 9426 h 103695"/>
                <a:gd name="connsiteX1" fmla="*/ 47134 w 169683"/>
                <a:gd name="connsiteY1" fmla="*/ 0 h 103695"/>
                <a:gd name="connsiteX2" fmla="*/ 0 w 169683"/>
                <a:gd name="connsiteY2" fmla="*/ 75414 h 103695"/>
                <a:gd name="connsiteX3" fmla="*/ 9427 w 169683"/>
                <a:gd name="connsiteY3" fmla="*/ 103695 h 103695"/>
                <a:gd name="connsiteX4" fmla="*/ 169683 w 169683"/>
                <a:gd name="connsiteY4" fmla="*/ 9426 h 10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683" h="103695">
                  <a:moveTo>
                    <a:pt x="169683" y="9426"/>
                  </a:moveTo>
                  <a:lnTo>
                    <a:pt x="47134" y="0"/>
                  </a:lnTo>
                  <a:lnTo>
                    <a:pt x="0" y="75414"/>
                  </a:lnTo>
                  <a:lnTo>
                    <a:pt x="9427" y="103695"/>
                  </a:lnTo>
                  <a:lnTo>
                    <a:pt x="169683" y="94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8" name="bubbles">
            <a:extLst>
              <a:ext uri="{FF2B5EF4-FFF2-40B4-BE49-F238E27FC236}">
                <a16:creationId xmlns:a16="http://schemas.microsoft.com/office/drawing/2014/main" id="{59442D98-0A69-406F-8519-310A86BF812C}"/>
              </a:ext>
            </a:extLst>
          </p:cNvPr>
          <p:cNvGrpSpPr/>
          <p:nvPr/>
        </p:nvGrpSpPr>
        <p:grpSpPr>
          <a:xfrm>
            <a:off x="5107020" y="4608828"/>
            <a:ext cx="309830" cy="178092"/>
            <a:chOff x="5528443" y="4482051"/>
            <a:chExt cx="309830" cy="178092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32AEF68-62E8-4E89-8FA3-CDEF52387AE6}"/>
                </a:ext>
              </a:extLst>
            </p:cNvPr>
            <p:cNvSpPr/>
            <p:nvPr/>
          </p:nvSpPr>
          <p:spPr>
            <a:xfrm>
              <a:off x="5528443" y="4482051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BAD1C6A-6683-4E80-8BB5-5AC3DA8D9C23}"/>
                </a:ext>
              </a:extLst>
            </p:cNvPr>
            <p:cNvSpPr/>
            <p:nvPr/>
          </p:nvSpPr>
          <p:spPr>
            <a:xfrm>
              <a:off x="5792553" y="4614423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D2E5C87-AF84-4856-987D-E84A577D3372}"/>
                </a:ext>
              </a:extLst>
            </p:cNvPr>
            <p:cNvSpPr/>
            <p:nvPr/>
          </p:nvSpPr>
          <p:spPr>
            <a:xfrm flipH="1">
              <a:off x="5649223" y="4601716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B76C01E-CCBA-4F88-B2DE-653C28B1305B}"/>
                </a:ext>
              </a:extLst>
            </p:cNvPr>
            <p:cNvSpPr/>
            <p:nvPr/>
          </p:nvSpPr>
          <p:spPr>
            <a:xfrm>
              <a:off x="5672083" y="4525477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719CE7E-F777-4EBD-8843-07BD6E62C3B0}"/>
                </a:ext>
              </a:extLst>
            </p:cNvPr>
            <p:cNvSpPr/>
            <p:nvPr/>
          </p:nvSpPr>
          <p:spPr>
            <a:xfrm>
              <a:off x="5573273" y="4548337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2" name="LE Duplex">
            <a:extLst>
              <a:ext uri="{FF2B5EF4-FFF2-40B4-BE49-F238E27FC236}">
                <a16:creationId xmlns:a16="http://schemas.microsoft.com/office/drawing/2014/main" id="{B1AE1F43-7C04-478A-9BB5-0A830E3C82DB}"/>
              </a:ext>
            </a:extLst>
          </p:cNvPr>
          <p:cNvSpPr txBox="1"/>
          <p:nvPr/>
        </p:nvSpPr>
        <p:spPr>
          <a:xfrm>
            <a:off x="8149583" y="4890748"/>
            <a:ext cx="1143784" cy="306467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LE Duplex</a:t>
            </a:r>
          </a:p>
        </p:txBody>
      </p:sp>
      <p:grpSp>
        <p:nvGrpSpPr>
          <p:cNvPr id="148" name="Vasculitis">
            <a:extLst>
              <a:ext uri="{FF2B5EF4-FFF2-40B4-BE49-F238E27FC236}">
                <a16:creationId xmlns:a16="http://schemas.microsoft.com/office/drawing/2014/main" id="{8AA30BB3-19EF-482C-9915-A256F5239BD3}"/>
              </a:ext>
            </a:extLst>
          </p:cNvPr>
          <p:cNvGrpSpPr/>
          <p:nvPr/>
        </p:nvGrpSpPr>
        <p:grpSpPr>
          <a:xfrm>
            <a:off x="5014637" y="1352827"/>
            <a:ext cx="1337368" cy="374264"/>
            <a:chOff x="5538108" y="1326138"/>
            <a:chExt cx="1337368" cy="374264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2E11CCA-DE43-4473-83F8-4D82A39D859F}"/>
                </a:ext>
              </a:extLst>
            </p:cNvPr>
            <p:cNvSpPr/>
            <p:nvPr/>
          </p:nvSpPr>
          <p:spPr>
            <a:xfrm>
              <a:off x="5538108" y="1347977"/>
              <a:ext cx="657225" cy="352425"/>
            </a:xfrm>
            <a:custGeom>
              <a:avLst/>
              <a:gdLst>
                <a:gd name="connsiteX0" fmla="*/ 0 w 657225"/>
                <a:gd name="connsiteY0" fmla="*/ 0 h 352425"/>
                <a:gd name="connsiteX1" fmla="*/ 47625 w 657225"/>
                <a:gd name="connsiteY1" fmla="*/ 66675 h 352425"/>
                <a:gd name="connsiteX2" fmla="*/ 85725 w 657225"/>
                <a:gd name="connsiteY2" fmla="*/ 57150 h 352425"/>
                <a:gd name="connsiteX3" fmla="*/ 123825 w 657225"/>
                <a:gd name="connsiteY3" fmla="*/ 76200 h 352425"/>
                <a:gd name="connsiteX4" fmla="*/ 180975 w 657225"/>
                <a:gd name="connsiteY4" fmla="*/ 76200 h 352425"/>
                <a:gd name="connsiteX5" fmla="*/ 228600 w 657225"/>
                <a:gd name="connsiteY5" fmla="*/ 123825 h 352425"/>
                <a:gd name="connsiteX6" fmla="*/ 285750 w 657225"/>
                <a:gd name="connsiteY6" fmla="*/ 104775 h 352425"/>
                <a:gd name="connsiteX7" fmla="*/ 342900 w 657225"/>
                <a:gd name="connsiteY7" fmla="*/ 142875 h 352425"/>
                <a:gd name="connsiteX8" fmla="*/ 419100 w 657225"/>
                <a:gd name="connsiteY8" fmla="*/ 152400 h 352425"/>
                <a:gd name="connsiteX9" fmla="*/ 428625 w 657225"/>
                <a:gd name="connsiteY9" fmla="*/ 180975 h 352425"/>
                <a:gd name="connsiteX10" fmla="*/ 485775 w 657225"/>
                <a:gd name="connsiteY10" fmla="*/ 200025 h 352425"/>
                <a:gd name="connsiteX11" fmla="*/ 504825 w 657225"/>
                <a:gd name="connsiteY11" fmla="*/ 238125 h 352425"/>
                <a:gd name="connsiteX12" fmla="*/ 552450 w 657225"/>
                <a:gd name="connsiteY12" fmla="*/ 238125 h 352425"/>
                <a:gd name="connsiteX13" fmla="*/ 552450 w 657225"/>
                <a:gd name="connsiteY13" fmla="*/ 266700 h 352425"/>
                <a:gd name="connsiteX14" fmla="*/ 600075 w 657225"/>
                <a:gd name="connsiteY14" fmla="*/ 276225 h 352425"/>
                <a:gd name="connsiteX15" fmla="*/ 619125 w 657225"/>
                <a:gd name="connsiteY15" fmla="*/ 314325 h 352425"/>
                <a:gd name="connsiteX16" fmla="*/ 647700 w 657225"/>
                <a:gd name="connsiteY16" fmla="*/ 323850 h 352425"/>
                <a:gd name="connsiteX17" fmla="*/ 647700 w 657225"/>
                <a:gd name="connsiteY17" fmla="*/ 323850 h 352425"/>
                <a:gd name="connsiteX18" fmla="*/ 657225 w 657225"/>
                <a:gd name="connsiteY18" fmla="*/ 352425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7225" h="352425">
                  <a:moveTo>
                    <a:pt x="0" y="0"/>
                  </a:moveTo>
                  <a:lnTo>
                    <a:pt x="47625" y="66675"/>
                  </a:lnTo>
                  <a:cubicBezTo>
                    <a:pt x="61912" y="76200"/>
                    <a:pt x="85725" y="57150"/>
                    <a:pt x="85725" y="57150"/>
                  </a:cubicBezTo>
                  <a:cubicBezTo>
                    <a:pt x="98425" y="58737"/>
                    <a:pt x="107950" y="73025"/>
                    <a:pt x="123825" y="76200"/>
                  </a:cubicBezTo>
                  <a:cubicBezTo>
                    <a:pt x="139700" y="79375"/>
                    <a:pt x="163513" y="68263"/>
                    <a:pt x="180975" y="76200"/>
                  </a:cubicBezTo>
                  <a:cubicBezTo>
                    <a:pt x="198437" y="84137"/>
                    <a:pt x="211137" y="119062"/>
                    <a:pt x="228600" y="123825"/>
                  </a:cubicBezTo>
                  <a:cubicBezTo>
                    <a:pt x="246063" y="128588"/>
                    <a:pt x="266700" y="101600"/>
                    <a:pt x="285750" y="104775"/>
                  </a:cubicBezTo>
                  <a:cubicBezTo>
                    <a:pt x="304800" y="107950"/>
                    <a:pt x="320675" y="134938"/>
                    <a:pt x="342900" y="142875"/>
                  </a:cubicBezTo>
                  <a:cubicBezTo>
                    <a:pt x="365125" y="150813"/>
                    <a:pt x="419100" y="152400"/>
                    <a:pt x="419100" y="152400"/>
                  </a:cubicBezTo>
                  <a:cubicBezTo>
                    <a:pt x="433388" y="158750"/>
                    <a:pt x="417513" y="173038"/>
                    <a:pt x="428625" y="180975"/>
                  </a:cubicBezTo>
                  <a:cubicBezTo>
                    <a:pt x="439738" y="188913"/>
                    <a:pt x="485775" y="200025"/>
                    <a:pt x="485775" y="200025"/>
                  </a:cubicBezTo>
                  <a:cubicBezTo>
                    <a:pt x="498475" y="209550"/>
                    <a:pt x="493713" y="231775"/>
                    <a:pt x="504825" y="238125"/>
                  </a:cubicBezTo>
                  <a:cubicBezTo>
                    <a:pt x="515937" y="244475"/>
                    <a:pt x="552450" y="238125"/>
                    <a:pt x="552450" y="238125"/>
                  </a:cubicBezTo>
                  <a:cubicBezTo>
                    <a:pt x="560388" y="242888"/>
                    <a:pt x="544513" y="260350"/>
                    <a:pt x="552450" y="266700"/>
                  </a:cubicBezTo>
                  <a:cubicBezTo>
                    <a:pt x="560387" y="273050"/>
                    <a:pt x="600075" y="276225"/>
                    <a:pt x="600075" y="276225"/>
                  </a:cubicBezTo>
                  <a:cubicBezTo>
                    <a:pt x="611188" y="284163"/>
                    <a:pt x="619125" y="314325"/>
                    <a:pt x="619125" y="314325"/>
                  </a:cubicBezTo>
                  <a:cubicBezTo>
                    <a:pt x="627062" y="322262"/>
                    <a:pt x="647700" y="323850"/>
                    <a:pt x="647700" y="323850"/>
                  </a:cubicBezTo>
                  <a:lnTo>
                    <a:pt x="647700" y="323850"/>
                  </a:lnTo>
                  <a:lnTo>
                    <a:pt x="657225" y="352425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16F40CE-539F-4850-B683-42FBDDC09ACE}"/>
                </a:ext>
              </a:extLst>
            </p:cNvPr>
            <p:cNvSpPr/>
            <p:nvPr/>
          </p:nvSpPr>
          <p:spPr>
            <a:xfrm flipH="1">
              <a:off x="6218251" y="1326138"/>
              <a:ext cx="657225" cy="352425"/>
            </a:xfrm>
            <a:custGeom>
              <a:avLst/>
              <a:gdLst>
                <a:gd name="connsiteX0" fmla="*/ 0 w 657225"/>
                <a:gd name="connsiteY0" fmla="*/ 0 h 352425"/>
                <a:gd name="connsiteX1" fmla="*/ 47625 w 657225"/>
                <a:gd name="connsiteY1" fmla="*/ 66675 h 352425"/>
                <a:gd name="connsiteX2" fmla="*/ 85725 w 657225"/>
                <a:gd name="connsiteY2" fmla="*/ 57150 h 352425"/>
                <a:gd name="connsiteX3" fmla="*/ 123825 w 657225"/>
                <a:gd name="connsiteY3" fmla="*/ 76200 h 352425"/>
                <a:gd name="connsiteX4" fmla="*/ 180975 w 657225"/>
                <a:gd name="connsiteY4" fmla="*/ 76200 h 352425"/>
                <a:gd name="connsiteX5" fmla="*/ 228600 w 657225"/>
                <a:gd name="connsiteY5" fmla="*/ 123825 h 352425"/>
                <a:gd name="connsiteX6" fmla="*/ 285750 w 657225"/>
                <a:gd name="connsiteY6" fmla="*/ 104775 h 352425"/>
                <a:gd name="connsiteX7" fmla="*/ 342900 w 657225"/>
                <a:gd name="connsiteY7" fmla="*/ 142875 h 352425"/>
                <a:gd name="connsiteX8" fmla="*/ 419100 w 657225"/>
                <a:gd name="connsiteY8" fmla="*/ 152400 h 352425"/>
                <a:gd name="connsiteX9" fmla="*/ 428625 w 657225"/>
                <a:gd name="connsiteY9" fmla="*/ 180975 h 352425"/>
                <a:gd name="connsiteX10" fmla="*/ 485775 w 657225"/>
                <a:gd name="connsiteY10" fmla="*/ 200025 h 352425"/>
                <a:gd name="connsiteX11" fmla="*/ 504825 w 657225"/>
                <a:gd name="connsiteY11" fmla="*/ 238125 h 352425"/>
                <a:gd name="connsiteX12" fmla="*/ 552450 w 657225"/>
                <a:gd name="connsiteY12" fmla="*/ 238125 h 352425"/>
                <a:gd name="connsiteX13" fmla="*/ 552450 w 657225"/>
                <a:gd name="connsiteY13" fmla="*/ 266700 h 352425"/>
                <a:gd name="connsiteX14" fmla="*/ 600075 w 657225"/>
                <a:gd name="connsiteY14" fmla="*/ 276225 h 352425"/>
                <a:gd name="connsiteX15" fmla="*/ 619125 w 657225"/>
                <a:gd name="connsiteY15" fmla="*/ 314325 h 352425"/>
                <a:gd name="connsiteX16" fmla="*/ 647700 w 657225"/>
                <a:gd name="connsiteY16" fmla="*/ 323850 h 352425"/>
                <a:gd name="connsiteX17" fmla="*/ 647700 w 657225"/>
                <a:gd name="connsiteY17" fmla="*/ 323850 h 352425"/>
                <a:gd name="connsiteX18" fmla="*/ 657225 w 657225"/>
                <a:gd name="connsiteY18" fmla="*/ 352425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7225" h="352425">
                  <a:moveTo>
                    <a:pt x="0" y="0"/>
                  </a:moveTo>
                  <a:lnTo>
                    <a:pt x="47625" y="66675"/>
                  </a:lnTo>
                  <a:cubicBezTo>
                    <a:pt x="61912" y="76200"/>
                    <a:pt x="85725" y="57150"/>
                    <a:pt x="85725" y="57150"/>
                  </a:cubicBezTo>
                  <a:cubicBezTo>
                    <a:pt x="98425" y="58737"/>
                    <a:pt x="107950" y="73025"/>
                    <a:pt x="123825" y="76200"/>
                  </a:cubicBezTo>
                  <a:cubicBezTo>
                    <a:pt x="139700" y="79375"/>
                    <a:pt x="163513" y="68263"/>
                    <a:pt x="180975" y="76200"/>
                  </a:cubicBezTo>
                  <a:cubicBezTo>
                    <a:pt x="198437" y="84137"/>
                    <a:pt x="211137" y="119062"/>
                    <a:pt x="228600" y="123825"/>
                  </a:cubicBezTo>
                  <a:cubicBezTo>
                    <a:pt x="246063" y="128588"/>
                    <a:pt x="266700" y="101600"/>
                    <a:pt x="285750" y="104775"/>
                  </a:cubicBezTo>
                  <a:cubicBezTo>
                    <a:pt x="304800" y="107950"/>
                    <a:pt x="320675" y="134938"/>
                    <a:pt x="342900" y="142875"/>
                  </a:cubicBezTo>
                  <a:cubicBezTo>
                    <a:pt x="365125" y="150813"/>
                    <a:pt x="419100" y="152400"/>
                    <a:pt x="419100" y="152400"/>
                  </a:cubicBezTo>
                  <a:cubicBezTo>
                    <a:pt x="433388" y="158750"/>
                    <a:pt x="417513" y="173038"/>
                    <a:pt x="428625" y="180975"/>
                  </a:cubicBezTo>
                  <a:cubicBezTo>
                    <a:pt x="439738" y="188913"/>
                    <a:pt x="485775" y="200025"/>
                    <a:pt x="485775" y="200025"/>
                  </a:cubicBezTo>
                  <a:cubicBezTo>
                    <a:pt x="498475" y="209550"/>
                    <a:pt x="493713" y="231775"/>
                    <a:pt x="504825" y="238125"/>
                  </a:cubicBezTo>
                  <a:cubicBezTo>
                    <a:pt x="515937" y="244475"/>
                    <a:pt x="552450" y="238125"/>
                    <a:pt x="552450" y="238125"/>
                  </a:cubicBezTo>
                  <a:cubicBezTo>
                    <a:pt x="560388" y="242888"/>
                    <a:pt x="544513" y="260350"/>
                    <a:pt x="552450" y="266700"/>
                  </a:cubicBezTo>
                  <a:cubicBezTo>
                    <a:pt x="560387" y="273050"/>
                    <a:pt x="600075" y="276225"/>
                    <a:pt x="600075" y="276225"/>
                  </a:cubicBezTo>
                  <a:cubicBezTo>
                    <a:pt x="611188" y="284163"/>
                    <a:pt x="619125" y="314325"/>
                    <a:pt x="619125" y="314325"/>
                  </a:cubicBezTo>
                  <a:cubicBezTo>
                    <a:pt x="627062" y="322262"/>
                    <a:pt x="647700" y="323850"/>
                    <a:pt x="647700" y="323850"/>
                  </a:cubicBezTo>
                  <a:lnTo>
                    <a:pt x="647700" y="323850"/>
                  </a:lnTo>
                  <a:lnTo>
                    <a:pt x="657225" y="352425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9" name="black blood arrow">
            <a:extLst>
              <a:ext uri="{FF2B5EF4-FFF2-40B4-BE49-F238E27FC236}">
                <a16:creationId xmlns:a16="http://schemas.microsoft.com/office/drawing/2014/main" id="{17C7B0B8-2CBF-4236-AA6B-4084F72F3868}"/>
              </a:ext>
            </a:extLst>
          </p:cNvPr>
          <p:cNvCxnSpPr>
            <a:cxnSpLocks/>
          </p:cNvCxnSpPr>
          <p:nvPr/>
        </p:nvCxnSpPr>
        <p:spPr>
          <a:xfrm flipH="1" flipV="1">
            <a:off x="6028406" y="1592347"/>
            <a:ext cx="4368293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2" name="Black Blood button">
            <a:extLst>
              <a:ext uri="{FF2B5EF4-FFF2-40B4-BE49-F238E27FC236}">
                <a16:creationId xmlns:a16="http://schemas.microsoft.com/office/drawing/2014/main" id="{6AC8C316-E629-4B47-A6E1-E6C9C665AE33}"/>
              </a:ext>
            </a:extLst>
          </p:cNvPr>
          <p:cNvSpPr txBox="1"/>
          <p:nvPr/>
        </p:nvSpPr>
        <p:spPr>
          <a:xfrm>
            <a:off x="10387808" y="1321006"/>
            <a:ext cx="1143784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Black Blood Brain MRI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848DA8A-6A29-4F6E-88DC-B0C91E7E0F9A}"/>
              </a:ext>
            </a:extLst>
          </p:cNvPr>
          <p:cNvSpPr txBox="1"/>
          <p:nvPr/>
        </p:nvSpPr>
        <p:spPr>
          <a:xfrm>
            <a:off x="10260138" y="1970182"/>
            <a:ext cx="1513752" cy="306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Lumbar puncture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E5726D8-C5D6-4238-A18E-7851668E8C57}"/>
              </a:ext>
            </a:extLst>
          </p:cNvPr>
          <p:cNvSpPr txBox="1"/>
          <p:nvPr/>
        </p:nvSpPr>
        <p:spPr>
          <a:xfrm>
            <a:off x="10445122" y="2434693"/>
            <a:ext cx="1143784" cy="306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Angiogram</a:t>
            </a:r>
          </a:p>
        </p:txBody>
      </p:sp>
      <p:grpSp>
        <p:nvGrpSpPr>
          <p:cNvPr id="24" name="Telemetry text">
            <a:extLst>
              <a:ext uri="{FF2B5EF4-FFF2-40B4-BE49-F238E27FC236}">
                <a16:creationId xmlns:a16="http://schemas.microsoft.com/office/drawing/2014/main" id="{29CB73B8-A37D-48A9-A98C-ACC45A54477D}"/>
              </a:ext>
            </a:extLst>
          </p:cNvPr>
          <p:cNvGrpSpPr/>
          <p:nvPr/>
        </p:nvGrpSpPr>
        <p:grpSpPr>
          <a:xfrm>
            <a:off x="3018302" y="3420678"/>
            <a:ext cx="1749947" cy="898201"/>
            <a:chOff x="885590" y="3058007"/>
            <a:chExt cx="1921640" cy="777082"/>
          </a:xfrm>
          <a:effectLst/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456F5ED-FC8C-4518-836F-035FBE0ED6CC}"/>
                </a:ext>
              </a:extLst>
            </p:cNvPr>
            <p:cNvSpPr/>
            <p:nvPr/>
          </p:nvSpPr>
          <p:spPr>
            <a:xfrm>
              <a:off x="885590" y="3335825"/>
              <a:ext cx="1921640" cy="4992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</a:rPr>
                <a:t>Identify Arrhythmia (</a:t>
              </a:r>
              <a:r>
                <a:rPr lang="en-US" sz="1050" b="1" dirty="0" err="1">
                  <a:solidFill>
                    <a:schemeClr val="tx1"/>
                  </a:solidFill>
                </a:rPr>
                <a:t>afib</a:t>
              </a:r>
              <a:r>
                <a:rPr lang="en-US" sz="1050" b="1" dirty="0">
                  <a:solidFill>
                    <a:schemeClr val="tx1"/>
                  </a:solidFill>
                </a:rPr>
                <a:t>) </a:t>
              </a:r>
            </a:p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If positive -&gt; raises suspicion for cardio-embolic source  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D7FD45AE-BB06-4FEF-9EB8-1C87538E58B5}"/>
                </a:ext>
              </a:extLst>
            </p:cNvPr>
            <p:cNvCxnSpPr>
              <a:cxnSpLocks/>
              <a:stCxn id="133" idx="2"/>
            </p:cNvCxnSpPr>
            <p:nvPr/>
          </p:nvCxnSpPr>
          <p:spPr>
            <a:xfrm>
              <a:off x="1084402" y="3058007"/>
              <a:ext cx="0" cy="2758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4" name="brain MRI text">
            <a:extLst>
              <a:ext uri="{FF2B5EF4-FFF2-40B4-BE49-F238E27FC236}">
                <a16:creationId xmlns:a16="http://schemas.microsoft.com/office/drawing/2014/main" id="{54648F4F-03D5-47BF-A487-177156B1A810}"/>
              </a:ext>
            </a:extLst>
          </p:cNvPr>
          <p:cNvGrpSpPr/>
          <p:nvPr/>
        </p:nvGrpSpPr>
        <p:grpSpPr>
          <a:xfrm>
            <a:off x="80246" y="3434475"/>
            <a:ext cx="2723013" cy="1441240"/>
            <a:chOff x="-990496" y="3094128"/>
            <a:chExt cx="2567213" cy="1149314"/>
          </a:xfrm>
          <a:effectLst/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86B74FD8-0F7E-49AC-8569-B79394126035}"/>
                </a:ext>
              </a:extLst>
            </p:cNvPr>
            <p:cNvSpPr/>
            <p:nvPr/>
          </p:nvSpPr>
          <p:spPr>
            <a:xfrm>
              <a:off x="-990496" y="3267835"/>
              <a:ext cx="2567213" cy="9756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sz="1050" b="1" dirty="0">
                  <a:solidFill>
                    <a:schemeClr val="tx1"/>
                  </a:solidFill>
                </a:rPr>
                <a:t>1. Size and Distribution suggests etiology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Large and/or multiple vessel distribution </a:t>
              </a:r>
              <a:r>
                <a:rPr lang="en-US" sz="1050" dirty="0">
                  <a:solidFill>
                    <a:schemeClr val="tx1"/>
                  </a:solidFill>
                  <a:ea typeface="Segoe UI Symbol" panose="020B0502040204020203" pitchFamily="34" charset="0"/>
                </a:rPr>
                <a:t>≈ cardio-embolic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  <a:ea typeface="Segoe UI Symbol" panose="020B0502040204020203" pitchFamily="34" charset="0"/>
                </a:rPr>
                <a:t>Lacunar ≈ HTN or amyloid vasculopathy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  <a:ea typeface="Segoe UI Symbol" panose="020B0502040204020203" pitchFamily="34" charset="0"/>
                </a:rPr>
                <a:t>Small and/or single vessel + RFs ≈ atherosclerosis</a:t>
              </a:r>
            </a:p>
            <a:p>
              <a:r>
                <a:rPr lang="en-US" sz="1050" b="1" dirty="0">
                  <a:solidFill>
                    <a:schemeClr val="tx1"/>
                  </a:solidFill>
                  <a:ea typeface="Segoe UI Symbol" panose="020B0502040204020203" pitchFamily="34" charset="0"/>
                </a:rPr>
                <a:t>2. Determine Risks of Post-infarct Bleeding</a:t>
              </a:r>
              <a:endParaRPr lang="en-US" sz="1050" b="1" dirty="0">
                <a:solidFill>
                  <a:schemeClr val="tx1"/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D4F6753A-EBA2-402E-8BEE-2A44B7391450}"/>
                </a:ext>
              </a:extLst>
            </p:cNvPr>
            <p:cNvCxnSpPr>
              <a:cxnSpLocks/>
            </p:cNvCxnSpPr>
            <p:nvPr/>
          </p:nvCxnSpPr>
          <p:spPr>
            <a:xfrm>
              <a:off x="-140842" y="3094128"/>
              <a:ext cx="0" cy="1737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H&amp;N imaging text">
            <a:extLst>
              <a:ext uri="{FF2B5EF4-FFF2-40B4-BE49-F238E27FC236}">
                <a16:creationId xmlns:a16="http://schemas.microsoft.com/office/drawing/2014/main" id="{30F54605-4DBA-4F2D-BAFC-629CA5D3004A}"/>
              </a:ext>
            </a:extLst>
          </p:cNvPr>
          <p:cNvGrpSpPr/>
          <p:nvPr/>
        </p:nvGrpSpPr>
        <p:grpSpPr>
          <a:xfrm>
            <a:off x="1511752" y="2164230"/>
            <a:ext cx="3104818" cy="738664"/>
            <a:chOff x="628762" y="2453621"/>
            <a:chExt cx="2994310" cy="589046"/>
          </a:xfrm>
          <a:effectLst/>
        </p:grpSpPr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62AEE91E-C239-4C4E-92C5-161104242C48}"/>
                </a:ext>
              </a:extLst>
            </p:cNvPr>
            <p:cNvSpPr/>
            <p:nvPr/>
          </p:nvSpPr>
          <p:spPr>
            <a:xfrm>
              <a:off x="840116" y="2453621"/>
              <a:ext cx="2782956" cy="58904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</a:rPr>
                <a:t>Intra or extracranial stenosis or decreased flow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Large vessel occlusion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Symptomatic carotid stenosis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Dissections</a:t>
              </a: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4CEF5051-7279-47D5-8B76-8072B06C5599}"/>
                </a:ext>
              </a:extLst>
            </p:cNvPr>
            <p:cNvCxnSpPr>
              <a:cxnSpLocks/>
              <a:endCxn id="144" idx="1"/>
            </p:cNvCxnSpPr>
            <p:nvPr/>
          </p:nvCxnSpPr>
          <p:spPr>
            <a:xfrm>
              <a:off x="628762" y="2576809"/>
              <a:ext cx="211354" cy="17133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6" name="H&amp;N arrows">
            <a:extLst>
              <a:ext uri="{FF2B5EF4-FFF2-40B4-BE49-F238E27FC236}">
                <a16:creationId xmlns:a16="http://schemas.microsoft.com/office/drawing/2014/main" id="{EB21D7DA-71DD-4052-890C-A27283E37A3C}"/>
              </a:ext>
            </a:extLst>
          </p:cNvPr>
          <p:cNvGrpSpPr/>
          <p:nvPr/>
        </p:nvGrpSpPr>
        <p:grpSpPr>
          <a:xfrm>
            <a:off x="1502370" y="730589"/>
            <a:ext cx="3822195" cy="1968405"/>
            <a:chOff x="1502370" y="730589"/>
            <a:chExt cx="3822195" cy="1968405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4A4F4F6F-D786-4967-A50D-6030298F3D8C}"/>
                </a:ext>
              </a:extLst>
            </p:cNvPr>
            <p:cNvCxnSpPr>
              <a:cxnSpLocks/>
            </p:cNvCxnSpPr>
            <p:nvPr/>
          </p:nvCxnSpPr>
          <p:spPr>
            <a:xfrm>
              <a:off x="2219578" y="1582926"/>
              <a:ext cx="3007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C46ED065-5B40-4F24-BE5F-DFCE478E8F52}"/>
                </a:ext>
              </a:extLst>
            </p:cNvPr>
            <p:cNvCxnSpPr>
              <a:cxnSpLocks/>
            </p:cNvCxnSpPr>
            <p:nvPr/>
          </p:nvCxnSpPr>
          <p:spPr>
            <a:xfrm>
              <a:off x="3947926" y="1587433"/>
              <a:ext cx="1376639" cy="11115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760764F4-F84B-4D0A-998B-5F0C5D704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8860" y="730589"/>
              <a:ext cx="1332489" cy="8500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5123282-664F-4932-B2F3-C39C78247B6C}"/>
                </a:ext>
              </a:extLst>
            </p:cNvPr>
            <p:cNvCxnSpPr>
              <a:cxnSpLocks/>
              <a:stCxn id="68" idx="3"/>
            </p:cNvCxnSpPr>
            <p:nvPr/>
          </p:nvCxnSpPr>
          <p:spPr>
            <a:xfrm>
              <a:off x="1502370" y="1187317"/>
              <a:ext cx="717208" cy="394255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9BF5F38-E92E-44BC-9824-EEBC515B8777}"/>
                </a:ext>
              </a:extLst>
            </p:cNvPr>
            <p:cNvCxnSpPr>
              <a:cxnSpLocks/>
              <a:stCxn id="75" idx="3"/>
            </p:cNvCxnSpPr>
            <p:nvPr/>
          </p:nvCxnSpPr>
          <p:spPr>
            <a:xfrm flipV="1">
              <a:off x="1502370" y="1581575"/>
              <a:ext cx="717208" cy="576541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75E5D10-B720-4D92-A6FD-B77DD5B648F7}"/>
                </a:ext>
              </a:extLst>
            </p:cNvPr>
            <p:cNvSpPr txBox="1"/>
            <p:nvPr/>
          </p:nvSpPr>
          <p:spPr>
            <a:xfrm>
              <a:off x="1546663" y="1708577"/>
              <a:ext cx="640078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GFR &lt;45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9811A36-A2B0-4AE2-936A-145CB065495D}"/>
                </a:ext>
              </a:extLst>
            </p:cNvPr>
            <p:cNvSpPr txBox="1"/>
            <p:nvPr/>
          </p:nvSpPr>
          <p:spPr>
            <a:xfrm>
              <a:off x="1553462" y="1183265"/>
              <a:ext cx="640078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GFR &gt;45</a:t>
              </a: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B854D528-920C-4484-817A-4D6643DD05B4}"/>
              </a:ext>
            </a:extLst>
          </p:cNvPr>
          <p:cNvSpPr txBox="1"/>
          <p:nvPr/>
        </p:nvSpPr>
        <p:spPr>
          <a:xfrm>
            <a:off x="609861" y="1445187"/>
            <a:ext cx="640078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/>
              <a:t>OR</a:t>
            </a:r>
          </a:p>
        </p:txBody>
      </p:sp>
      <p:sp>
        <p:nvSpPr>
          <p:cNvPr id="71" name="TEE">
            <a:extLst>
              <a:ext uri="{FF2B5EF4-FFF2-40B4-BE49-F238E27FC236}">
                <a16:creationId xmlns:a16="http://schemas.microsoft.com/office/drawing/2014/main" id="{97ACF788-58ED-4C5C-9954-BE71587DC114}"/>
              </a:ext>
            </a:extLst>
          </p:cNvPr>
          <p:cNvSpPr txBox="1"/>
          <p:nvPr/>
        </p:nvSpPr>
        <p:spPr>
          <a:xfrm>
            <a:off x="8095238" y="3535474"/>
            <a:ext cx="1143784" cy="306467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00B050"/>
                </a:gs>
                <a:gs pos="0">
                  <a:schemeClr val="accent6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TEE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0E5008-F6A0-4797-9DF5-BB8E2D4005B6}"/>
              </a:ext>
            </a:extLst>
          </p:cNvPr>
          <p:cNvGrpSpPr/>
          <p:nvPr/>
        </p:nvGrpSpPr>
        <p:grpSpPr>
          <a:xfrm>
            <a:off x="5553970" y="3386536"/>
            <a:ext cx="2541268" cy="1303911"/>
            <a:chOff x="5553970" y="3386536"/>
            <a:chExt cx="2541268" cy="1303911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172DCD2-81C0-4101-8E59-2BA2E1A82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3970" y="3386536"/>
              <a:ext cx="2541268" cy="3021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022AD68-F6C1-43A7-ACB4-65542F7C4952}"/>
                </a:ext>
              </a:extLst>
            </p:cNvPr>
            <p:cNvCxnSpPr>
              <a:cxnSpLocks/>
              <a:endCxn id="85" idx="6"/>
            </p:cNvCxnSpPr>
            <p:nvPr/>
          </p:nvCxnSpPr>
          <p:spPr>
            <a:xfrm flipH="1">
              <a:off x="6344359" y="3688708"/>
              <a:ext cx="1750879" cy="28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C5AEE3A7-0E95-432C-9EFC-138F2502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6007" y="3688708"/>
              <a:ext cx="1649231" cy="10017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6" name="day1 text">
            <a:extLst>
              <a:ext uri="{FF2B5EF4-FFF2-40B4-BE49-F238E27FC236}">
                <a16:creationId xmlns:a16="http://schemas.microsoft.com/office/drawing/2014/main" id="{20F59C9D-AD76-4796-865C-B0510019F7C2}"/>
              </a:ext>
            </a:extLst>
          </p:cNvPr>
          <p:cNvSpPr txBox="1"/>
          <p:nvPr/>
        </p:nvSpPr>
        <p:spPr>
          <a:xfrm>
            <a:off x="95141" y="491572"/>
            <a:ext cx="1689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Eval for immediately reversible disease</a:t>
            </a:r>
          </a:p>
        </p:txBody>
      </p:sp>
      <p:sp>
        <p:nvSpPr>
          <p:cNvPr id="107" name="day 2 text">
            <a:extLst>
              <a:ext uri="{FF2B5EF4-FFF2-40B4-BE49-F238E27FC236}">
                <a16:creationId xmlns:a16="http://schemas.microsoft.com/office/drawing/2014/main" id="{8C447DFC-E5C8-436B-9953-B73FAA719118}"/>
              </a:ext>
            </a:extLst>
          </p:cNvPr>
          <p:cNvSpPr txBox="1"/>
          <p:nvPr/>
        </p:nvSpPr>
        <p:spPr>
          <a:xfrm>
            <a:off x="2304103" y="539269"/>
            <a:ext cx="1689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Eval for cardioembolic disease</a:t>
            </a:r>
          </a:p>
        </p:txBody>
      </p:sp>
      <p:sp>
        <p:nvSpPr>
          <p:cNvPr id="112" name="Thrombophilia">
            <a:extLst>
              <a:ext uri="{FF2B5EF4-FFF2-40B4-BE49-F238E27FC236}">
                <a16:creationId xmlns:a16="http://schemas.microsoft.com/office/drawing/2014/main" id="{BA7EDC70-1CCC-42E3-92E0-9C8C9478AB01}"/>
              </a:ext>
            </a:extLst>
          </p:cNvPr>
          <p:cNvSpPr txBox="1"/>
          <p:nvPr/>
        </p:nvSpPr>
        <p:spPr>
          <a:xfrm>
            <a:off x="10319605" y="3443140"/>
            <a:ext cx="1143784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Thrombophilia Evaluation</a:t>
            </a:r>
          </a:p>
        </p:txBody>
      </p:sp>
      <p:grpSp>
        <p:nvGrpSpPr>
          <p:cNvPr id="119" name="thrombophilia text">
            <a:extLst>
              <a:ext uri="{FF2B5EF4-FFF2-40B4-BE49-F238E27FC236}">
                <a16:creationId xmlns:a16="http://schemas.microsoft.com/office/drawing/2014/main" id="{C7CEE30F-9595-455B-8E99-8C0EE8A58387}"/>
              </a:ext>
            </a:extLst>
          </p:cNvPr>
          <p:cNvGrpSpPr/>
          <p:nvPr/>
        </p:nvGrpSpPr>
        <p:grpSpPr>
          <a:xfrm>
            <a:off x="9742635" y="3953917"/>
            <a:ext cx="2297723" cy="1258061"/>
            <a:chOff x="11750" y="2806265"/>
            <a:chExt cx="2297723" cy="1003238"/>
          </a:xfrm>
          <a:effectLst/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3860E97D-78EA-4263-B3EC-07B30CEE1C5C}"/>
                </a:ext>
              </a:extLst>
            </p:cNvPr>
            <p:cNvSpPr/>
            <p:nvPr/>
          </p:nvSpPr>
          <p:spPr>
            <a:xfrm>
              <a:off x="11750" y="3128419"/>
              <a:ext cx="2297723" cy="68108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7030A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0" rtlCol="0" anchor="ctr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Testing should be guided by hematology or neurology after acute thrombotic state has resolved and only if there is mod-high pre-test probability</a:t>
              </a:r>
            </a:p>
          </p:txBody>
        </p: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3D7A1140-DD2F-4522-BFB0-2DCD217292A9}"/>
                </a:ext>
              </a:extLst>
            </p:cNvPr>
            <p:cNvCxnSpPr>
              <a:cxnSpLocks/>
              <a:endCxn id="120" idx="0"/>
            </p:cNvCxnSpPr>
            <p:nvPr/>
          </p:nvCxnSpPr>
          <p:spPr>
            <a:xfrm>
              <a:off x="1160612" y="2806265"/>
              <a:ext cx="0" cy="32215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54" name="day 2 text 1">
            <a:extLst>
              <a:ext uri="{FF2B5EF4-FFF2-40B4-BE49-F238E27FC236}">
                <a16:creationId xmlns:a16="http://schemas.microsoft.com/office/drawing/2014/main" id="{9A20687D-DD26-4263-B595-14CF584F831A}"/>
              </a:ext>
            </a:extLst>
          </p:cNvPr>
          <p:cNvSpPr txBox="1"/>
          <p:nvPr/>
        </p:nvSpPr>
        <p:spPr>
          <a:xfrm>
            <a:off x="7662036" y="539081"/>
            <a:ext cx="1689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Ongoing evaluation for possible embolic disease</a:t>
            </a:r>
          </a:p>
        </p:txBody>
      </p:sp>
      <p:sp>
        <p:nvSpPr>
          <p:cNvPr id="155" name="day 2 text 2">
            <a:extLst>
              <a:ext uri="{FF2B5EF4-FFF2-40B4-BE49-F238E27FC236}">
                <a16:creationId xmlns:a16="http://schemas.microsoft.com/office/drawing/2014/main" id="{3EEDE00B-4B01-4763-82E6-0427B292763C}"/>
              </a:ext>
            </a:extLst>
          </p:cNvPr>
          <p:cNvSpPr txBox="1"/>
          <p:nvPr/>
        </p:nvSpPr>
        <p:spPr>
          <a:xfrm>
            <a:off x="9922232" y="536289"/>
            <a:ext cx="19385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Eval for other etiologies </a:t>
            </a:r>
          </a:p>
          <a:p>
            <a:pPr algn="ctr"/>
            <a:r>
              <a:rPr lang="en-US" sz="1100" dirty="0"/>
              <a:t>(e.g. vasculitis, thrombophilia)</a:t>
            </a:r>
          </a:p>
        </p:txBody>
      </p:sp>
      <p:sp>
        <p:nvSpPr>
          <p:cNvPr id="123" name="Rectangle: Rounded Corners 122">
            <a:hlinkClick r:id="rId4" action="ppaction://hlinksldjump"/>
            <a:extLst>
              <a:ext uri="{FF2B5EF4-FFF2-40B4-BE49-F238E27FC236}">
                <a16:creationId xmlns:a16="http://schemas.microsoft.com/office/drawing/2014/main" id="{A3C9076B-C424-4ABD-9E76-2CA235DA254D}"/>
              </a:ext>
            </a:extLst>
          </p:cNvPr>
          <p:cNvSpPr/>
          <p:nvPr/>
        </p:nvSpPr>
        <p:spPr>
          <a:xfrm>
            <a:off x="10984195" y="5817899"/>
            <a:ext cx="958387" cy="375053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Main Board</a:t>
            </a:r>
          </a:p>
        </p:txBody>
      </p:sp>
      <p:grpSp>
        <p:nvGrpSpPr>
          <p:cNvPr id="36" name="H&amp;N imaging buttson">
            <a:extLst>
              <a:ext uri="{FF2B5EF4-FFF2-40B4-BE49-F238E27FC236}">
                <a16:creationId xmlns:a16="http://schemas.microsoft.com/office/drawing/2014/main" id="{B386F417-A9E2-4815-A83E-80F77EE65FC1}"/>
              </a:ext>
            </a:extLst>
          </p:cNvPr>
          <p:cNvGrpSpPr/>
          <p:nvPr/>
        </p:nvGrpSpPr>
        <p:grpSpPr>
          <a:xfrm>
            <a:off x="252986" y="1034083"/>
            <a:ext cx="1499643" cy="1748592"/>
            <a:chOff x="252986" y="1034083"/>
            <a:chExt cx="1499643" cy="1748592"/>
          </a:xfrm>
        </p:grpSpPr>
        <p:grpSp>
          <p:nvGrpSpPr>
            <p:cNvPr id="122" name="CTA/MRA/CoUS">
              <a:extLst>
                <a:ext uri="{FF2B5EF4-FFF2-40B4-BE49-F238E27FC236}">
                  <a16:creationId xmlns:a16="http://schemas.microsoft.com/office/drawing/2014/main" id="{1FC19BB9-45C4-4FD1-A37C-426F2DB0EEE1}"/>
                </a:ext>
              </a:extLst>
            </p:cNvPr>
            <p:cNvGrpSpPr/>
            <p:nvPr/>
          </p:nvGrpSpPr>
          <p:grpSpPr>
            <a:xfrm>
              <a:off x="252986" y="1034083"/>
              <a:ext cx="1249384" cy="1583733"/>
              <a:chOff x="1240395" y="2019213"/>
              <a:chExt cx="1143784" cy="1583733"/>
            </a:xfr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0EC80FC-17C9-4931-B756-4390D3D8DDCC}"/>
                  </a:ext>
                </a:extLst>
              </p:cNvPr>
              <p:cNvSpPr txBox="1"/>
              <p:nvPr/>
            </p:nvSpPr>
            <p:spPr>
              <a:xfrm>
                <a:off x="1240395" y="2019213"/>
                <a:ext cx="1143784" cy="306467"/>
              </a:xfrm>
              <a:prstGeom prst="roundRect">
                <a:avLst/>
              </a:prstGeom>
              <a:grpFill/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H&amp;N CTA/MRA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1F99D4A-9DF0-4590-9D7F-8973B3D1229D}"/>
                  </a:ext>
                </a:extLst>
              </p:cNvPr>
              <p:cNvSpPr txBox="1"/>
              <p:nvPr/>
            </p:nvSpPr>
            <p:spPr>
              <a:xfrm>
                <a:off x="1240395" y="2683545"/>
                <a:ext cx="1143784" cy="919401"/>
              </a:xfrm>
              <a:prstGeom prst="roundRect">
                <a:avLst/>
              </a:prstGeom>
              <a:grpFill/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Carotid, Vertebral and Trans-cranial Doppler (TCD)</a:t>
                </a:r>
              </a:p>
            </p:txBody>
          </p:sp>
        </p:grpSp>
        <p:pic>
          <p:nvPicPr>
            <p:cNvPr id="124" name="Graphic 123" descr="Cursor">
              <a:extLst>
                <a:ext uri="{FF2B5EF4-FFF2-40B4-BE49-F238E27FC236}">
                  <a16:creationId xmlns:a16="http://schemas.microsoft.com/office/drawing/2014/main" id="{F718B194-03C6-4A57-9410-FC20C0B1E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 flipH="1" flipV="1">
              <a:off x="1396771" y="2426817"/>
              <a:ext cx="355858" cy="355858"/>
            </a:xfrm>
            <a:prstGeom prst="rect">
              <a:avLst/>
            </a:prstGeom>
          </p:spPr>
        </p:pic>
      </p:grpSp>
      <p:grpSp>
        <p:nvGrpSpPr>
          <p:cNvPr id="37" name="Brain MRI">
            <a:extLst>
              <a:ext uri="{FF2B5EF4-FFF2-40B4-BE49-F238E27FC236}">
                <a16:creationId xmlns:a16="http://schemas.microsoft.com/office/drawing/2014/main" id="{FF909DCE-8820-44B4-9D4E-262D54C4C972}"/>
              </a:ext>
            </a:extLst>
          </p:cNvPr>
          <p:cNvGrpSpPr/>
          <p:nvPr/>
        </p:nvGrpSpPr>
        <p:grpSpPr>
          <a:xfrm>
            <a:off x="359645" y="3121659"/>
            <a:ext cx="1364334" cy="503962"/>
            <a:chOff x="359645" y="3121659"/>
            <a:chExt cx="1364334" cy="503962"/>
          </a:xfrm>
        </p:grpSpPr>
        <p:sp>
          <p:nvSpPr>
            <p:cNvPr id="73" name="Brain MRI">
              <a:extLst>
                <a:ext uri="{FF2B5EF4-FFF2-40B4-BE49-F238E27FC236}">
                  <a16:creationId xmlns:a16="http://schemas.microsoft.com/office/drawing/2014/main" id="{E3C08EC6-E2B4-4327-B895-BD1A5A51E0CC}"/>
                </a:ext>
              </a:extLst>
            </p:cNvPr>
            <p:cNvSpPr txBox="1"/>
            <p:nvPr/>
          </p:nvSpPr>
          <p:spPr>
            <a:xfrm>
              <a:off x="359645" y="3121659"/>
              <a:ext cx="1127808" cy="30646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Brain MRI</a:t>
              </a:r>
            </a:p>
          </p:txBody>
        </p:sp>
        <p:pic>
          <p:nvPicPr>
            <p:cNvPr id="135" name="Graphic 134" descr="Cursor">
              <a:extLst>
                <a:ext uri="{FF2B5EF4-FFF2-40B4-BE49-F238E27FC236}">
                  <a16:creationId xmlns:a16="http://schemas.microsoft.com/office/drawing/2014/main" id="{665D061C-CE16-4190-B799-F91CC2A33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 flipH="1" flipV="1">
              <a:off x="1368121" y="3269763"/>
              <a:ext cx="355858" cy="355858"/>
            </a:xfrm>
            <a:prstGeom prst="rect">
              <a:avLst/>
            </a:prstGeom>
          </p:spPr>
        </p:pic>
      </p:grpSp>
      <p:grpSp>
        <p:nvGrpSpPr>
          <p:cNvPr id="38" name="Telemetry button">
            <a:extLst>
              <a:ext uri="{FF2B5EF4-FFF2-40B4-BE49-F238E27FC236}">
                <a16:creationId xmlns:a16="http://schemas.microsoft.com/office/drawing/2014/main" id="{E54CC45C-F824-4239-BAB0-627DCB6D5908}"/>
              </a:ext>
            </a:extLst>
          </p:cNvPr>
          <p:cNvGrpSpPr/>
          <p:nvPr/>
        </p:nvGrpSpPr>
        <p:grpSpPr>
          <a:xfrm>
            <a:off x="2627459" y="3114211"/>
            <a:ext cx="1375106" cy="515737"/>
            <a:chOff x="343669" y="5426423"/>
            <a:chExt cx="1375106" cy="515737"/>
          </a:xfrm>
        </p:grpSpPr>
        <p:sp>
          <p:nvSpPr>
            <p:cNvPr id="133" name="telemetry">
              <a:extLst>
                <a:ext uri="{FF2B5EF4-FFF2-40B4-BE49-F238E27FC236}">
                  <a16:creationId xmlns:a16="http://schemas.microsoft.com/office/drawing/2014/main" id="{A5AF7871-EF3D-4C3D-8862-EC30745EE225}"/>
                </a:ext>
              </a:extLst>
            </p:cNvPr>
            <p:cNvSpPr txBox="1"/>
            <p:nvPr/>
          </p:nvSpPr>
          <p:spPr>
            <a:xfrm>
              <a:off x="343669" y="5426423"/>
              <a:ext cx="1143784" cy="306467"/>
            </a:xfrm>
            <a:prstGeom prst="roundRect">
              <a:avLst/>
            </a:prstGeom>
            <a:solidFill>
              <a:schemeClr val="bg1"/>
            </a:solidFill>
            <a:ln w="38100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Telemetry</a:t>
              </a:r>
            </a:p>
          </p:txBody>
        </p:sp>
        <p:pic>
          <p:nvPicPr>
            <p:cNvPr id="136" name="Graphic 135" descr="Cursor">
              <a:extLst>
                <a:ext uri="{FF2B5EF4-FFF2-40B4-BE49-F238E27FC236}">
                  <a16:creationId xmlns:a16="http://schemas.microsoft.com/office/drawing/2014/main" id="{08CFAE61-A098-4F41-9658-8533A8734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 flipH="1" flipV="1">
              <a:off x="1362917" y="5586302"/>
              <a:ext cx="355858" cy="355858"/>
            </a:xfrm>
            <a:prstGeom prst="rect">
              <a:avLst/>
            </a:prstGeom>
          </p:spPr>
        </p:pic>
      </p:grpSp>
      <p:grpSp>
        <p:nvGrpSpPr>
          <p:cNvPr id="180" name="TTE text">
            <a:extLst>
              <a:ext uri="{FF2B5EF4-FFF2-40B4-BE49-F238E27FC236}">
                <a16:creationId xmlns:a16="http://schemas.microsoft.com/office/drawing/2014/main" id="{E9A7C03C-2DCB-4204-B728-FED03DC5BFE7}"/>
              </a:ext>
            </a:extLst>
          </p:cNvPr>
          <p:cNvGrpSpPr/>
          <p:nvPr/>
        </p:nvGrpSpPr>
        <p:grpSpPr>
          <a:xfrm>
            <a:off x="1733906" y="5314573"/>
            <a:ext cx="2930890" cy="1395897"/>
            <a:chOff x="-1329904" y="2994002"/>
            <a:chExt cx="2930890" cy="1113155"/>
          </a:xfrm>
          <a:effectLst/>
        </p:grpSpPr>
        <p:sp>
          <p:nvSpPr>
            <p:cNvPr id="181" name="Rectangle: Rounded Corners 180">
              <a:extLst>
                <a:ext uri="{FF2B5EF4-FFF2-40B4-BE49-F238E27FC236}">
                  <a16:creationId xmlns:a16="http://schemas.microsoft.com/office/drawing/2014/main" id="{C88820D3-5C0D-46BD-AD7F-56FB4D79EA67}"/>
                </a:ext>
              </a:extLst>
            </p:cNvPr>
            <p:cNvSpPr/>
            <p:nvPr/>
          </p:nvSpPr>
          <p:spPr>
            <a:xfrm>
              <a:off x="-1329904" y="3131550"/>
              <a:ext cx="2930890" cy="9756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spAutoFit/>
            </a:bodyPr>
            <a:lstStyle/>
            <a:p>
              <a:r>
                <a:rPr lang="en-US" sz="1050" b="1" dirty="0">
                  <a:solidFill>
                    <a:schemeClr val="tx1"/>
                  </a:solidFill>
                </a:rPr>
                <a:t>All patients with new concerns or no recent study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Intracardiac thrombus 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Atrial appendage in atrial fib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LV thrombus with apical </a:t>
              </a:r>
              <a:r>
                <a:rPr lang="en-US" sz="1050" dirty="0" err="1">
                  <a:solidFill>
                    <a:schemeClr val="tx1"/>
                  </a:solidFill>
                </a:rPr>
                <a:t>akinesis</a:t>
              </a:r>
              <a:endParaRPr lang="en-US" sz="1050" dirty="0">
                <a:solidFill>
                  <a:schemeClr val="tx1"/>
                </a:solidFill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Mechanical MV or AV thrombus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MV or AV rheumatic or infective endocarditis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Right to Left shunt</a:t>
              </a:r>
            </a:p>
          </p:txBody>
        </p: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B76DCAED-80BB-457A-8EAF-E1C315B583A8}"/>
                </a:ext>
              </a:extLst>
            </p:cNvPr>
            <p:cNvCxnSpPr>
              <a:cxnSpLocks/>
              <a:stCxn id="69" idx="2"/>
              <a:endCxn id="181" idx="0"/>
            </p:cNvCxnSpPr>
            <p:nvPr/>
          </p:nvCxnSpPr>
          <p:spPr>
            <a:xfrm flipH="1">
              <a:off x="135541" y="2994002"/>
              <a:ext cx="1925" cy="137548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2" name="TTE w/ bubblt button">
            <a:extLst>
              <a:ext uri="{FF2B5EF4-FFF2-40B4-BE49-F238E27FC236}">
                <a16:creationId xmlns:a16="http://schemas.microsoft.com/office/drawing/2014/main" id="{0D0F7C53-2B26-460C-A811-C24685050281}"/>
              </a:ext>
            </a:extLst>
          </p:cNvPr>
          <p:cNvGrpSpPr/>
          <p:nvPr/>
        </p:nvGrpSpPr>
        <p:grpSpPr>
          <a:xfrm>
            <a:off x="2629384" y="5008106"/>
            <a:ext cx="1403064" cy="530934"/>
            <a:chOff x="2250483" y="4880241"/>
            <a:chExt cx="1403064" cy="530934"/>
          </a:xfrm>
        </p:grpSpPr>
        <p:sp>
          <p:nvSpPr>
            <p:cNvPr id="69" name="TTE">
              <a:extLst>
                <a:ext uri="{FF2B5EF4-FFF2-40B4-BE49-F238E27FC236}">
                  <a16:creationId xmlns:a16="http://schemas.microsoft.com/office/drawing/2014/main" id="{6DC103A6-DCAE-4283-8062-EF8A95765F08}"/>
                </a:ext>
              </a:extLst>
            </p:cNvPr>
            <p:cNvSpPr txBox="1"/>
            <p:nvPr/>
          </p:nvSpPr>
          <p:spPr>
            <a:xfrm>
              <a:off x="2250483" y="4880241"/>
              <a:ext cx="1143784" cy="306467"/>
            </a:xfrm>
            <a:prstGeom prst="roundRect">
              <a:avLst/>
            </a:prstGeom>
            <a:solidFill>
              <a:schemeClr val="bg1"/>
            </a:solidFill>
            <a:ln w="38100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TTE w/ Bubble</a:t>
              </a:r>
            </a:p>
          </p:txBody>
        </p:sp>
        <p:pic>
          <p:nvPicPr>
            <p:cNvPr id="137" name="Graphic 136" descr="Cursor">
              <a:extLst>
                <a:ext uri="{FF2B5EF4-FFF2-40B4-BE49-F238E27FC236}">
                  <a16:creationId xmlns:a16="http://schemas.microsoft.com/office/drawing/2014/main" id="{5BB60436-2ED8-4191-B28A-3F5E3D277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 flipH="1" flipV="1">
              <a:off x="3297689" y="5055317"/>
              <a:ext cx="355858" cy="355858"/>
            </a:xfrm>
            <a:prstGeom prst="rect">
              <a:avLst/>
            </a:prstGeom>
          </p:spPr>
        </p:pic>
      </p:grpSp>
      <p:pic>
        <p:nvPicPr>
          <p:cNvPr id="138" name="Graphic 137" descr="Cursor">
            <a:extLst>
              <a:ext uri="{FF2B5EF4-FFF2-40B4-BE49-F238E27FC236}">
                <a16:creationId xmlns:a16="http://schemas.microsoft.com/office/drawing/2014/main" id="{FB9DDD25-2638-459B-9DE4-6FE43758A1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 flipV="1">
            <a:off x="11344668" y="3823970"/>
            <a:ext cx="355858" cy="355858"/>
          </a:xfrm>
          <a:prstGeom prst="rect">
            <a:avLst/>
          </a:prstGeom>
        </p:spPr>
      </p:pic>
      <p:cxnSp>
        <p:nvCxnSpPr>
          <p:cNvPr id="117" name="TCD arrow">
            <a:extLst>
              <a:ext uri="{FF2B5EF4-FFF2-40B4-BE49-F238E27FC236}">
                <a16:creationId xmlns:a16="http://schemas.microsoft.com/office/drawing/2014/main" id="{EE849909-6E89-4F71-90F9-65874F8CACD4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6464829" y="1371330"/>
            <a:ext cx="1191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52" name="TCD text">
            <a:extLst>
              <a:ext uri="{FF2B5EF4-FFF2-40B4-BE49-F238E27FC236}">
                <a16:creationId xmlns:a16="http://schemas.microsoft.com/office/drawing/2014/main" id="{15417A92-2F8C-48E1-A681-C29221F0089B}"/>
              </a:ext>
            </a:extLst>
          </p:cNvPr>
          <p:cNvGrpSpPr/>
          <p:nvPr/>
        </p:nvGrpSpPr>
        <p:grpSpPr>
          <a:xfrm>
            <a:off x="6605301" y="1728873"/>
            <a:ext cx="3597027" cy="1610919"/>
            <a:chOff x="-628608" y="2949664"/>
            <a:chExt cx="3597027" cy="1284626"/>
          </a:xfrm>
          <a:effectLst/>
        </p:grpSpPr>
        <p:sp>
          <p:nvSpPr>
            <p:cNvPr id="156" name="Rectangle: Rounded Corners 94">
              <a:extLst>
                <a:ext uri="{FF2B5EF4-FFF2-40B4-BE49-F238E27FC236}">
                  <a16:creationId xmlns:a16="http://schemas.microsoft.com/office/drawing/2014/main" id="{A2D59B85-B514-4036-9D53-76E8DFBE9CB1}"/>
                </a:ext>
              </a:extLst>
            </p:cNvPr>
            <p:cNvSpPr/>
            <p:nvPr/>
          </p:nvSpPr>
          <p:spPr>
            <a:xfrm>
              <a:off x="-628608" y="3129827"/>
              <a:ext cx="3597027" cy="1104463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</a:rPr>
                <a:t>Utility depends on ‘window’ quality</a:t>
              </a:r>
            </a:p>
            <a:p>
              <a:r>
                <a:rPr lang="en-US" sz="1050" b="1" dirty="0">
                  <a:solidFill>
                    <a:schemeClr val="tx1"/>
                  </a:solidFill>
                </a:rPr>
                <a:t>Each modality answers different clinical questions:</a:t>
              </a:r>
            </a:p>
            <a:p>
              <a:r>
                <a:rPr lang="en-US" sz="1050" b="1" dirty="0">
                  <a:solidFill>
                    <a:schemeClr val="tx1"/>
                  </a:solidFill>
                </a:rPr>
                <a:t>TCD w/ duplex – </a:t>
              </a:r>
              <a:r>
                <a:rPr lang="en-US" sz="1050" dirty="0">
                  <a:solidFill>
                    <a:schemeClr val="tx1"/>
                  </a:solidFill>
                </a:rPr>
                <a:t>directly visualizes vessel and flow to identify local obstruction and inform severity of adjacent disease</a:t>
              </a:r>
            </a:p>
            <a:p>
              <a:r>
                <a:rPr lang="en-US" sz="1050" b="1" dirty="0">
                  <a:solidFill>
                    <a:schemeClr val="tx1"/>
                  </a:solidFill>
                </a:rPr>
                <a:t>TCD </a:t>
              </a:r>
              <a:r>
                <a:rPr lang="en-US" sz="1050" b="1" dirty="0" err="1">
                  <a:solidFill>
                    <a:schemeClr val="tx1"/>
                  </a:solidFill>
                </a:rPr>
                <a:t>emboli</a:t>
              </a:r>
              <a:r>
                <a:rPr lang="en-US" sz="1050" b="1" dirty="0">
                  <a:solidFill>
                    <a:schemeClr val="tx1"/>
                  </a:solidFill>
                </a:rPr>
                <a:t>  monitoring </a:t>
              </a:r>
              <a:r>
                <a:rPr lang="en-US" sz="1050" dirty="0">
                  <a:solidFill>
                    <a:schemeClr val="tx1"/>
                  </a:solidFill>
                </a:rPr>
                <a:t>– Localizes ongoing artery-artery embolization to determine urgency for intervention.</a:t>
              </a:r>
            </a:p>
            <a:p>
              <a:r>
                <a:rPr lang="en-US" sz="1050" b="1" dirty="0">
                  <a:solidFill>
                    <a:schemeClr val="tx1"/>
                  </a:solidFill>
                </a:rPr>
                <a:t>TCD shunt study </a:t>
              </a:r>
              <a:r>
                <a:rPr lang="en-US" sz="1050" dirty="0">
                  <a:solidFill>
                    <a:schemeClr val="tx1"/>
                  </a:solidFill>
                </a:rPr>
                <a:t>– most sensitive test for identifying intracardiac shunt using IV infusion of agitated saline</a:t>
              </a:r>
              <a:endParaRPr lang="en-US" sz="1050" b="1" dirty="0">
                <a:solidFill>
                  <a:schemeClr val="tx1"/>
                </a:solidFill>
              </a:endParaRPr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DA130495-1B06-4BD0-B4B0-8155E2C45EA1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>
              <a:off x="1270005" y="2949664"/>
              <a:ext cx="0" cy="1801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70" name="TCDs button">
            <a:extLst>
              <a:ext uri="{FF2B5EF4-FFF2-40B4-BE49-F238E27FC236}">
                <a16:creationId xmlns:a16="http://schemas.microsoft.com/office/drawing/2014/main" id="{34D45B5D-02E4-4ECD-A511-763C6EE89FAD}"/>
              </a:ext>
            </a:extLst>
          </p:cNvPr>
          <p:cNvSpPr txBox="1"/>
          <p:nvPr/>
        </p:nvSpPr>
        <p:spPr>
          <a:xfrm>
            <a:off x="7656596" y="1013785"/>
            <a:ext cx="1694636" cy="71508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TCD emboli monitoring</a:t>
            </a:r>
          </a:p>
          <a:p>
            <a:pPr algn="ctr"/>
            <a:r>
              <a:rPr lang="en-US" sz="1200" dirty="0"/>
              <a:t>and/or </a:t>
            </a:r>
          </a:p>
          <a:p>
            <a:pPr algn="ctr"/>
            <a:r>
              <a:rPr lang="en-US" sz="1200" dirty="0"/>
              <a:t>TCD shunt study</a:t>
            </a: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C406E88D-CF26-4174-AE8D-3BC62D013082}"/>
              </a:ext>
            </a:extLst>
          </p:cNvPr>
          <p:cNvSpPr/>
          <p:nvPr/>
        </p:nvSpPr>
        <p:spPr>
          <a:xfrm rot="18764967">
            <a:off x="5976638" y="2656965"/>
            <a:ext cx="103536" cy="90019"/>
          </a:xfrm>
          <a:custGeom>
            <a:avLst/>
            <a:gdLst>
              <a:gd name="connsiteX0" fmla="*/ 169683 w 169683"/>
              <a:gd name="connsiteY0" fmla="*/ 9426 h 103695"/>
              <a:gd name="connsiteX1" fmla="*/ 47134 w 169683"/>
              <a:gd name="connsiteY1" fmla="*/ 0 h 103695"/>
              <a:gd name="connsiteX2" fmla="*/ 0 w 169683"/>
              <a:gd name="connsiteY2" fmla="*/ 75414 h 103695"/>
              <a:gd name="connsiteX3" fmla="*/ 9427 w 169683"/>
              <a:gd name="connsiteY3" fmla="*/ 103695 h 103695"/>
              <a:gd name="connsiteX4" fmla="*/ 169683 w 169683"/>
              <a:gd name="connsiteY4" fmla="*/ 9426 h 103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683" h="103695">
                <a:moveTo>
                  <a:pt x="169683" y="9426"/>
                </a:moveTo>
                <a:lnTo>
                  <a:pt x="47134" y="0"/>
                </a:lnTo>
                <a:lnTo>
                  <a:pt x="0" y="75414"/>
                </a:lnTo>
                <a:lnTo>
                  <a:pt x="9427" y="103695"/>
                </a:lnTo>
                <a:lnTo>
                  <a:pt x="169683" y="94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0" name="Graphic 159" descr="Cursor">
            <a:extLst>
              <a:ext uri="{FF2B5EF4-FFF2-40B4-BE49-F238E27FC236}">
                <a16:creationId xmlns:a16="http://schemas.microsoft.com/office/drawing/2014/main" id="{372752ED-21F5-40B1-A8F9-918D9BAD86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 flipV="1">
            <a:off x="9179533" y="5094029"/>
            <a:ext cx="355858" cy="355858"/>
          </a:xfrm>
          <a:prstGeom prst="rect">
            <a:avLst/>
          </a:prstGeom>
        </p:spPr>
      </p:pic>
      <p:pic>
        <p:nvPicPr>
          <p:cNvPr id="161" name="Graphic 160" descr="Cursor">
            <a:extLst>
              <a:ext uri="{FF2B5EF4-FFF2-40B4-BE49-F238E27FC236}">
                <a16:creationId xmlns:a16="http://schemas.microsoft.com/office/drawing/2014/main" id="{5BDE077D-AF94-4EDD-AB5C-37674D5C2F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 flipV="1">
            <a:off x="9120301" y="3731317"/>
            <a:ext cx="355858" cy="355858"/>
          </a:xfrm>
          <a:prstGeom prst="rect">
            <a:avLst/>
          </a:prstGeom>
        </p:spPr>
      </p:pic>
      <p:pic>
        <p:nvPicPr>
          <p:cNvPr id="162" name="Graphic 161" descr="Cursor">
            <a:extLst>
              <a:ext uri="{FF2B5EF4-FFF2-40B4-BE49-F238E27FC236}">
                <a16:creationId xmlns:a16="http://schemas.microsoft.com/office/drawing/2014/main" id="{F44A6D28-DA62-470E-834B-6DAE9B490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 flipV="1">
            <a:off x="9179533" y="1586688"/>
            <a:ext cx="355858" cy="355858"/>
          </a:xfrm>
          <a:prstGeom prst="rect">
            <a:avLst/>
          </a:prstGeom>
        </p:spPr>
      </p:pic>
      <p:pic>
        <p:nvPicPr>
          <p:cNvPr id="163" name="Graphic 162" descr="Cursor">
            <a:extLst>
              <a:ext uri="{FF2B5EF4-FFF2-40B4-BE49-F238E27FC236}">
                <a16:creationId xmlns:a16="http://schemas.microsoft.com/office/drawing/2014/main" id="{08E401AB-D7D4-4445-AC20-BF4694488C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 flipV="1">
            <a:off x="11418032" y="1617770"/>
            <a:ext cx="355858" cy="355858"/>
          </a:xfrm>
          <a:prstGeom prst="rect">
            <a:avLst/>
          </a:prstGeom>
        </p:spPr>
      </p:pic>
      <p:grpSp>
        <p:nvGrpSpPr>
          <p:cNvPr id="164" name="Telemetry text">
            <a:extLst>
              <a:ext uri="{FF2B5EF4-FFF2-40B4-BE49-F238E27FC236}">
                <a16:creationId xmlns:a16="http://schemas.microsoft.com/office/drawing/2014/main" id="{1F302A05-64EF-4DE4-AB9A-8A886AB85315}"/>
              </a:ext>
            </a:extLst>
          </p:cNvPr>
          <p:cNvGrpSpPr/>
          <p:nvPr/>
        </p:nvGrpSpPr>
        <p:grpSpPr>
          <a:xfrm>
            <a:off x="7573830" y="3841941"/>
            <a:ext cx="1960461" cy="787362"/>
            <a:chOff x="673277" y="3027615"/>
            <a:chExt cx="2152808" cy="681189"/>
          </a:xfrm>
          <a:effectLst/>
        </p:grpSpPr>
        <p:sp>
          <p:nvSpPr>
            <p:cNvPr id="165" name="Rectangle: Rounded Corners 4">
              <a:extLst>
                <a:ext uri="{FF2B5EF4-FFF2-40B4-BE49-F238E27FC236}">
                  <a16:creationId xmlns:a16="http://schemas.microsoft.com/office/drawing/2014/main" id="{9AADB847-C3BC-42E8-B15C-117C5D856E11}"/>
                </a:ext>
              </a:extLst>
            </p:cNvPr>
            <p:cNvSpPr/>
            <p:nvPr/>
          </p:nvSpPr>
          <p:spPr>
            <a:xfrm>
              <a:off x="673277" y="3209540"/>
              <a:ext cx="2152808" cy="4992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Improved visualization of the mitral valve, left atrial appendage and ascending aorta</a:t>
              </a:r>
            </a:p>
          </p:txBody>
        </p: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452E7BFF-8D27-4FE5-9BF3-D8100F7E410C}"/>
                </a:ext>
              </a:extLst>
            </p:cNvPr>
            <p:cNvCxnSpPr>
              <a:cxnSpLocks/>
              <a:stCxn id="71" idx="2"/>
            </p:cNvCxnSpPr>
            <p:nvPr/>
          </p:nvCxnSpPr>
          <p:spPr>
            <a:xfrm>
              <a:off x="1873844" y="3027615"/>
              <a:ext cx="2089" cy="189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67" name="Telemetry text">
            <a:extLst>
              <a:ext uri="{FF2B5EF4-FFF2-40B4-BE49-F238E27FC236}">
                <a16:creationId xmlns:a16="http://schemas.microsoft.com/office/drawing/2014/main" id="{C79DE92B-C40F-469A-B91C-B5D1CD7C710B}"/>
              </a:ext>
            </a:extLst>
          </p:cNvPr>
          <p:cNvGrpSpPr/>
          <p:nvPr/>
        </p:nvGrpSpPr>
        <p:grpSpPr>
          <a:xfrm>
            <a:off x="7932399" y="5205282"/>
            <a:ext cx="2744189" cy="1418146"/>
            <a:chOff x="633466" y="3198016"/>
            <a:chExt cx="3013430" cy="1226916"/>
          </a:xfrm>
          <a:effectLst/>
        </p:grpSpPr>
        <p:sp>
          <p:nvSpPr>
            <p:cNvPr id="168" name="Rectangle: Rounded Corners 4">
              <a:extLst>
                <a:ext uri="{FF2B5EF4-FFF2-40B4-BE49-F238E27FC236}">
                  <a16:creationId xmlns:a16="http://schemas.microsoft.com/office/drawing/2014/main" id="{8659038D-D599-41CA-B949-300E0B566437}"/>
                </a:ext>
              </a:extLst>
            </p:cNvPr>
            <p:cNvSpPr/>
            <p:nvPr/>
          </p:nvSpPr>
          <p:spPr>
            <a:xfrm>
              <a:off x="633466" y="3366491"/>
              <a:ext cx="3013430" cy="105844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sz="1050" b="1" dirty="0">
                  <a:solidFill>
                    <a:schemeClr val="tx1"/>
                  </a:solidFill>
                </a:rPr>
                <a:t>Only indicated if:</a:t>
              </a:r>
            </a:p>
            <a:p>
              <a:pPr marL="228600" indent="-228600">
                <a:buAutoNum type="arabicPeriod"/>
              </a:pPr>
              <a:r>
                <a:rPr lang="en-US" sz="1050" dirty="0">
                  <a:solidFill>
                    <a:schemeClr val="tx1"/>
                  </a:solidFill>
                </a:rPr>
                <a:t>Mod-high suspicion of cardioembolic etiology</a:t>
              </a:r>
            </a:p>
            <a:p>
              <a:pPr marL="228600" indent="-228600">
                <a:buAutoNum type="arabicPeriod"/>
              </a:pPr>
              <a:r>
                <a:rPr lang="en-US" sz="1050" dirty="0">
                  <a:solidFill>
                    <a:schemeClr val="tx1"/>
                  </a:solidFill>
                </a:rPr>
                <a:t>No identified intracardiac source</a:t>
              </a:r>
            </a:p>
            <a:p>
              <a:pPr marL="228600" indent="-228600">
                <a:buAutoNum type="arabicPeriod"/>
              </a:pPr>
              <a:r>
                <a:rPr lang="en-US" sz="1050" dirty="0">
                  <a:solidFill>
                    <a:schemeClr val="tx1"/>
                  </a:solidFill>
                </a:rPr>
                <a:t>Confirmed intracardiac shunt</a:t>
              </a:r>
            </a:p>
            <a:p>
              <a:r>
                <a:rPr lang="en-US" sz="1050" b="1" dirty="0">
                  <a:solidFill>
                    <a:schemeClr val="tx1"/>
                  </a:solidFill>
                </a:rPr>
                <a:t>If all the above</a:t>
              </a:r>
              <a:r>
                <a:rPr lang="en-US" sz="1050" dirty="0">
                  <a:solidFill>
                    <a:schemeClr val="tx1"/>
                  </a:solidFill>
                </a:rPr>
                <a:t>, anticoagulation preferred over closure or IVC filter to prevent VTE and CVA</a:t>
              </a:r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E94E599F-BCCB-444C-ADA5-74113D6113FD}"/>
                </a:ext>
              </a:extLst>
            </p:cNvPr>
            <p:cNvCxnSpPr>
              <a:cxnSpLocks/>
            </p:cNvCxnSpPr>
            <p:nvPr/>
          </p:nvCxnSpPr>
          <p:spPr>
            <a:xfrm>
              <a:off x="1484299" y="3198016"/>
              <a:ext cx="0" cy="1691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128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-0.00578 L -0.00273 -0.00578 C -0.00039 -0.0037 0.00208 -0.00208 0.0043 0.00047 C 0.00534 0.00162 0.00586 0.00417 0.0069 0.0051 C 0.00859 0.00672 0.01042 0.00718 0.01224 0.00834 C 0.01628 0.01065 0.01393 0.00949 0.01927 0.01158 C 0.02787 0.01088 0.03633 0.01135 0.04492 0.00996 C 0.04596 0.00973 0.04662 0.00764 0.04753 0.00672 C 0.04831 0.00602 0.04935 0.00579 0.05013 0.0051 C 0.05078 0.00371 0.0513 0.00186 0.05195 0.00047 C 0.05378 -0.0037 0.05664 -0.00601 0.05898 -0.00902 C 0.0599 -0.00995 0.06068 -0.01157 0.06172 -0.01203 C 0.0625 -0.01273 0.06354 -0.01296 0.06432 -0.01365 C 0.06797 -0.01689 0.06602 -0.01597 0.06875 -0.0199 C 0.06953 -0.02106 0.07044 -0.02199 0.07135 -0.02314 C 0.07162 -0.02476 0.07188 -0.02639 0.07227 -0.02777 C 0.07487 -0.03634 0.07526 -0.03634 0.07839 -0.04189 C 0.07878 -0.04351 0.07891 -0.04514 0.0793 -0.04676 C 0.07982 -0.04838 0.08099 -0.04953 0.08112 -0.05139 C 0.08164 -0.06018 0.08112 -0.06921 0.08112 -0.07801 " pathEditMode="relative" ptsTypes="AAAAAAAAAAAAAAAAAAAA">
                                      <p:cBhvr>
                                        <p:cTn id="109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0162 L -0.00065 0.00162 C -0.00091 -0.00162 -0.00091 -0.0081 -0.00195 -0.0118 C -0.00234 -0.01296 -0.0026 -0.01435 -0.00325 -0.01504 C -0.00377 -0.01597 -0.00456 -0.01574 -0.00508 -0.0162 C -0.00989 -0.0206 -0.00417 -0.0169 -0.00885 -0.01967 C -0.0095 -0.0206 -0.01002 -0.02199 -0.01068 -0.02292 C -0.01133 -0.02384 -0.01211 -0.0243 -0.01263 -0.02523 C -0.01445 -0.02824 -0.01341 -0.02824 -0.01445 -0.03171 C -0.01484 -0.0331 -0.01536 -0.03403 -0.01575 -0.03518 C -0.01627 -0.03727 -0.01693 -0.0419 -0.01693 -0.0419 C -0.01797 -0.06852 -0.01654 -0.05139 -0.01823 -0.0618 C -0.01849 -0.06319 -0.01849 -0.06504 -0.01888 -0.0662 C -0.01927 -0.06759 -0.02005 -0.06852 -0.0207 -0.06967 C -0.02279 -0.08055 -0.01927 -0.06366 -0.02318 -0.07616 C -0.02383 -0.07824 -0.02409 -0.08079 -0.02448 -0.08287 L -0.02513 -0.08634 L -0.02578 -0.08958 C -0.02591 -0.10625 -0.02604 -0.12292 -0.0263 -0.13958 C -0.02643 -0.14305 -0.02773 -0.14421 -0.0263 -0.14745 C -0.02526 -0.14977 -0.02396 -0.14954 -0.02266 -0.15069 C -0.02174 -0.15139 -0.02096 -0.15231 -0.02005 -0.15301 C -0.01888 -0.1537 -0.01758 -0.1544 -0.01641 -0.15509 L -0.01445 -0.15625 C -0.0138 -0.15741 -0.01341 -0.15879 -0.01263 -0.15949 C -0.01185 -0.16042 -0.01081 -0.15972 -0.01016 -0.16065 C -0.0095 -0.16134 -0.00937 -0.16296 -0.00885 -0.16412 C -0.0069 -0.16736 -0.00664 -0.16713 -0.00443 -0.16852 C -0.00091 -0.17477 -0.0043 -0.16967 -0.00065 -0.17292 C -1.04167E-6 -0.17338 0.00039 -0.17477 0.00117 -0.17523 C 0.00378 -0.17592 0.00664 -0.17592 0.00925 -0.17616 C 0.01445 -0.17917 0.01172 -0.17801 0.01745 -0.17963 C 0.0181 -0.18032 0.01862 -0.18125 0.01927 -0.18171 C 0.02057 -0.18264 0.02201 -0.18264 0.02305 -0.18403 L 0.025 -0.18611 " pathEditMode="relative" ptsTypes="AAAAAAAAAAAAAAAAAAAAAAAAAAAAAAAAAAA">
                                      <p:cBhvr>
                                        <p:cTn id="131" dur="2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spid="132" grpId="0" animBg="1"/>
      <p:bldP spid="72" grpId="0" animBg="1"/>
      <p:bldP spid="113" grpId="0" animBg="1"/>
      <p:bldP spid="118" grpId="0" animBg="1"/>
      <p:bldP spid="150" grpId="0" animBg="1"/>
      <p:bldP spid="71" grpId="0" animBg="1"/>
      <p:bldP spid="112" grpId="0" animBg="1"/>
      <p:bldP spid="70" grpId="0" animBg="1"/>
      <p:bldP spid="158" grpId="0" animBg="1"/>
      <p:bldP spid="15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cute athero proph">
            <a:extLst>
              <a:ext uri="{FF2B5EF4-FFF2-40B4-BE49-F238E27FC236}">
                <a16:creationId xmlns:a16="http://schemas.microsoft.com/office/drawing/2014/main" id="{BA4DE069-8378-4363-964A-06F072547E4D}"/>
              </a:ext>
            </a:extLst>
          </p:cNvPr>
          <p:cNvSpPr txBox="1"/>
          <p:nvPr/>
        </p:nvSpPr>
        <p:spPr>
          <a:xfrm>
            <a:off x="6711067" y="1296893"/>
            <a:ext cx="2344413" cy="3331868"/>
          </a:xfrm>
          <a:prstGeom prst="rect">
            <a:avLst/>
          </a:prstGeom>
          <a:solidFill>
            <a:schemeClr val="accent6">
              <a:lumMod val="20000"/>
              <a:lumOff val="80000"/>
              <a:alpha val="42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/>
              <a:t>Dual therapy (ASA+P2Y</a:t>
            </a:r>
            <a:r>
              <a:rPr lang="en-US" sz="1600" b="1" baseline="-25000" dirty="0"/>
              <a:t>12</a:t>
            </a:r>
            <a:r>
              <a:rPr lang="en-US" sz="1600" b="1" dirty="0"/>
              <a:t>)</a:t>
            </a:r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r>
              <a:rPr lang="en-US" sz="1600" b="1" dirty="0"/>
              <a:t>“Step-Up” Monotherapy</a:t>
            </a:r>
          </a:p>
        </p:txBody>
      </p:sp>
      <p:sp>
        <p:nvSpPr>
          <p:cNvPr id="64" name="anticoagulation">
            <a:extLst>
              <a:ext uri="{FF2B5EF4-FFF2-40B4-BE49-F238E27FC236}">
                <a16:creationId xmlns:a16="http://schemas.microsoft.com/office/drawing/2014/main" id="{E8884CEE-9A98-4B92-8A7C-5214D8BF4333}"/>
              </a:ext>
            </a:extLst>
          </p:cNvPr>
          <p:cNvSpPr txBox="1"/>
          <p:nvPr/>
        </p:nvSpPr>
        <p:spPr>
          <a:xfrm>
            <a:off x="2003841" y="1289827"/>
            <a:ext cx="3286664" cy="3346444"/>
          </a:xfrm>
          <a:prstGeom prst="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600" b="1" dirty="0"/>
              <a:t>Anticoagulation</a:t>
            </a:r>
          </a:p>
        </p:txBody>
      </p:sp>
      <p:sp>
        <p:nvSpPr>
          <p:cNvPr id="4" name="Title - sub-type">
            <a:extLst>
              <a:ext uri="{FF2B5EF4-FFF2-40B4-BE49-F238E27FC236}">
                <a16:creationId xmlns:a16="http://schemas.microsoft.com/office/drawing/2014/main" id="{773B3BEA-857C-4247-B388-948F72C15B35}"/>
              </a:ext>
            </a:extLst>
          </p:cNvPr>
          <p:cNvSpPr txBox="1"/>
          <p:nvPr/>
        </p:nvSpPr>
        <p:spPr>
          <a:xfrm>
            <a:off x="3805012" y="155815"/>
            <a:ext cx="45819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Secondary Prophylaxis of Ischemic CVA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D6258-A23C-49E5-AAB9-EF302B3D62C1}"/>
              </a:ext>
            </a:extLst>
          </p:cNvPr>
          <p:cNvSpPr txBox="1"/>
          <p:nvPr/>
        </p:nvSpPr>
        <p:spPr>
          <a:xfrm>
            <a:off x="2058861" y="821806"/>
            <a:ext cx="1725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Embolic CVA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EFD911F-A055-418A-92E0-15515C1C8214}"/>
              </a:ext>
            </a:extLst>
          </p:cNvPr>
          <p:cNvGrpSpPr/>
          <p:nvPr/>
        </p:nvGrpSpPr>
        <p:grpSpPr>
          <a:xfrm>
            <a:off x="765589" y="1289827"/>
            <a:ext cx="4540383" cy="3346444"/>
            <a:chOff x="3083668" y="3018971"/>
            <a:chExt cx="3018817" cy="118337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6495C14-B971-408F-8813-16FDC34A7DA7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68" y="3018971"/>
              <a:ext cx="0" cy="1183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639FCD1-CF40-4C35-A10E-3EB0DB025D75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68" y="4202349"/>
              <a:ext cx="301881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EDC50A9-81C3-450A-83A0-9257C4FD0B79}"/>
                </a:ext>
              </a:extLst>
            </p:cNvPr>
            <p:cNvCxnSpPr>
              <a:cxnSpLocks/>
            </p:cNvCxnSpPr>
            <p:nvPr/>
          </p:nvCxnSpPr>
          <p:spPr>
            <a:xfrm>
              <a:off x="6102485" y="3018971"/>
              <a:ext cx="0" cy="1183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7B8B3A9-9A69-4579-97FE-E6AC33EC0C54}"/>
              </a:ext>
            </a:extLst>
          </p:cNvPr>
          <p:cNvSpPr txBox="1"/>
          <p:nvPr/>
        </p:nvSpPr>
        <p:spPr>
          <a:xfrm>
            <a:off x="278470" y="1277726"/>
            <a:ext cx="461665" cy="333186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Re-embolization risk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131110-1F1C-463E-A2E1-480E24145AB9}"/>
              </a:ext>
            </a:extLst>
          </p:cNvPr>
          <p:cNvSpPr txBox="1"/>
          <p:nvPr/>
        </p:nvSpPr>
        <p:spPr>
          <a:xfrm>
            <a:off x="5346895" y="1302387"/>
            <a:ext cx="461665" cy="333936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Bleeding Risk</a:t>
            </a:r>
          </a:p>
        </p:txBody>
      </p:sp>
      <p:sp>
        <p:nvSpPr>
          <p:cNvPr id="46" name="aspirin">
            <a:extLst>
              <a:ext uri="{FF2B5EF4-FFF2-40B4-BE49-F238E27FC236}">
                <a16:creationId xmlns:a16="http://schemas.microsoft.com/office/drawing/2014/main" id="{8BEDC6F4-0B07-4AB7-B9E3-F0864FC53770}"/>
              </a:ext>
            </a:extLst>
          </p:cNvPr>
          <p:cNvSpPr txBox="1"/>
          <p:nvPr/>
        </p:nvSpPr>
        <p:spPr>
          <a:xfrm>
            <a:off x="781058" y="1289826"/>
            <a:ext cx="1209072" cy="3331868"/>
          </a:xfrm>
          <a:prstGeom prst="rect">
            <a:avLst/>
          </a:prstGeom>
          <a:solidFill>
            <a:schemeClr val="accent6">
              <a:lumMod val="20000"/>
              <a:lumOff val="80000"/>
              <a:alpha val="42000"/>
            </a:schemeClr>
          </a:solidFill>
        </p:spPr>
        <p:txBody>
          <a:bodyPr wrap="square" rtlCol="0">
            <a:no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600" b="1" dirty="0"/>
              <a:t>Aspirin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4D88008-CD37-4580-B419-FE50DB02BBB5}"/>
              </a:ext>
            </a:extLst>
          </p:cNvPr>
          <p:cNvCxnSpPr>
            <a:cxnSpLocks/>
          </p:cNvCxnSpPr>
          <p:nvPr/>
        </p:nvCxnSpPr>
        <p:spPr>
          <a:xfrm flipH="1">
            <a:off x="1606480" y="2819591"/>
            <a:ext cx="194878" cy="29875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791F16F-7ADA-4CDC-91EB-AF34DE8203D2}"/>
              </a:ext>
            </a:extLst>
          </p:cNvPr>
          <p:cNvSpPr txBox="1"/>
          <p:nvPr/>
        </p:nvSpPr>
        <p:spPr>
          <a:xfrm>
            <a:off x="1343881" y="2296371"/>
            <a:ext cx="137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Hemorrhagic conversion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50D38E4-1EF2-45E5-B667-A9A1E166D0F4}"/>
              </a:ext>
            </a:extLst>
          </p:cNvPr>
          <p:cNvCxnSpPr>
            <a:cxnSpLocks/>
          </p:cNvCxnSpPr>
          <p:nvPr/>
        </p:nvCxnSpPr>
        <p:spPr>
          <a:xfrm>
            <a:off x="1990133" y="4655682"/>
            <a:ext cx="0" cy="269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FF38C34-336B-419B-A43F-77675734FD1A}"/>
              </a:ext>
            </a:extLst>
          </p:cNvPr>
          <p:cNvSpPr txBox="1"/>
          <p:nvPr/>
        </p:nvSpPr>
        <p:spPr>
          <a:xfrm>
            <a:off x="1524353" y="4985387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1-2 weeks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5C5C9BB-C02E-4BB6-8B5F-4D6B920DA0C3}"/>
              </a:ext>
            </a:extLst>
          </p:cNvPr>
          <p:cNvCxnSpPr>
            <a:cxnSpLocks/>
          </p:cNvCxnSpPr>
          <p:nvPr/>
        </p:nvCxnSpPr>
        <p:spPr>
          <a:xfrm flipV="1">
            <a:off x="791069" y="2767886"/>
            <a:ext cx="4500996" cy="87063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5759F10-1EF1-43EF-AA66-44F09E0AFA94}"/>
              </a:ext>
            </a:extLst>
          </p:cNvPr>
          <p:cNvSpPr/>
          <p:nvPr/>
        </p:nvSpPr>
        <p:spPr>
          <a:xfrm>
            <a:off x="785664" y="2857686"/>
            <a:ext cx="4506401" cy="1037812"/>
          </a:xfrm>
          <a:custGeom>
            <a:avLst/>
            <a:gdLst>
              <a:gd name="connsiteX0" fmla="*/ 0 w 2986087"/>
              <a:gd name="connsiteY0" fmla="*/ 0 h 593302"/>
              <a:gd name="connsiteX1" fmla="*/ 171450 w 2986087"/>
              <a:gd name="connsiteY1" fmla="*/ 109538 h 593302"/>
              <a:gd name="connsiteX2" fmla="*/ 361950 w 2986087"/>
              <a:gd name="connsiteY2" fmla="*/ 533400 h 593302"/>
              <a:gd name="connsiteX3" fmla="*/ 1100137 w 2986087"/>
              <a:gd name="connsiteY3" fmla="*/ 585788 h 593302"/>
              <a:gd name="connsiteX4" fmla="*/ 1976437 w 2986087"/>
              <a:gd name="connsiteY4" fmla="*/ 490538 h 593302"/>
              <a:gd name="connsiteX5" fmla="*/ 2614612 w 2986087"/>
              <a:gd name="connsiteY5" fmla="*/ 338138 h 593302"/>
              <a:gd name="connsiteX6" fmla="*/ 2986087 w 2986087"/>
              <a:gd name="connsiteY6" fmla="*/ 233363 h 593302"/>
              <a:gd name="connsiteX0" fmla="*/ 0 w 3498151"/>
              <a:gd name="connsiteY0" fmla="*/ 0 h 593302"/>
              <a:gd name="connsiteX1" fmla="*/ 171450 w 3498151"/>
              <a:gd name="connsiteY1" fmla="*/ 109538 h 593302"/>
              <a:gd name="connsiteX2" fmla="*/ 361950 w 3498151"/>
              <a:gd name="connsiteY2" fmla="*/ 533400 h 593302"/>
              <a:gd name="connsiteX3" fmla="*/ 1100137 w 3498151"/>
              <a:gd name="connsiteY3" fmla="*/ 585788 h 593302"/>
              <a:gd name="connsiteX4" fmla="*/ 1976437 w 3498151"/>
              <a:gd name="connsiteY4" fmla="*/ 490538 h 593302"/>
              <a:gd name="connsiteX5" fmla="*/ 2614612 w 3498151"/>
              <a:gd name="connsiteY5" fmla="*/ 338138 h 593302"/>
              <a:gd name="connsiteX6" fmla="*/ 3498151 w 3498151"/>
              <a:gd name="connsiteY6" fmla="*/ 135827 h 593302"/>
              <a:gd name="connsiteX0" fmla="*/ 0 w 3754183"/>
              <a:gd name="connsiteY0" fmla="*/ 0 h 593302"/>
              <a:gd name="connsiteX1" fmla="*/ 171450 w 3754183"/>
              <a:gd name="connsiteY1" fmla="*/ 109538 h 593302"/>
              <a:gd name="connsiteX2" fmla="*/ 361950 w 3754183"/>
              <a:gd name="connsiteY2" fmla="*/ 533400 h 593302"/>
              <a:gd name="connsiteX3" fmla="*/ 1100137 w 3754183"/>
              <a:gd name="connsiteY3" fmla="*/ 585788 h 593302"/>
              <a:gd name="connsiteX4" fmla="*/ 1976437 w 3754183"/>
              <a:gd name="connsiteY4" fmla="*/ 490538 h 593302"/>
              <a:gd name="connsiteX5" fmla="*/ 2614612 w 3754183"/>
              <a:gd name="connsiteY5" fmla="*/ 338138 h 593302"/>
              <a:gd name="connsiteX6" fmla="*/ 3754183 w 3754183"/>
              <a:gd name="connsiteY6" fmla="*/ 62675 h 593302"/>
              <a:gd name="connsiteX0" fmla="*/ 0 w 3766375"/>
              <a:gd name="connsiteY0" fmla="*/ 0 h 593302"/>
              <a:gd name="connsiteX1" fmla="*/ 171450 w 3766375"/>
              <a:gd name="connsiteY1" fmla="*/ 109538 h 593302"/>
              <a:gd name="connsiteX2" fmla="*/ 361950 w 3766375"/>
              <a:gd name="connsiteY2" fmla="*/ 533400 h 593302"/>
              <a:gd name="connsiteX3" fmla="*/ 1100137 w 3766375"/>
              <a:gd name="connsiteY3" fmla="*/ 585788 h 593302"/>
              <a:gd name="connsiteX4" fmla="*/ 1976437 w 3766375"/>
              <a:gd name="connsiteY4" fmla="*/ 490538 h 593302"/>
              <a:gd name="connsiteX5" fmla="*/ 2614612 w 3766375"/>
              <a:gd name="connsiteY5" fmla="*/ 338138 h 593302"/>
              <a:gd name="connsiteX6" fmla="*/ 3766375 w 3766375"/>
              <a:gd name="connsiteY6" fmla="*/ 87059 h 593302"/>
              <a:gd name="connsiteX0" fmla="*/ 0 w 3766375"/>
              <a:gd name="connsiteY0" fmla="*/ 0 h 594779"/>
              <a:gd name="connsiteX1" fmla="*/ 598170 w 3766375"/>
              <a:gd name="connsiteY1" fmla="*/ 79058 h 594779"/>
              <a:gd name="connsiteX2" fmla="*/ 361950 w 3766375"/>
              <a:gd name="connsiteY2" fmla="*/ 533400 h 594779"/>
              <a:gd name="connsiteX3" fmla="*/ 1100137 w 3766375"/>
              <a:gd name="connsiteY3" fmla="*/ 585788 h 594779"/>
              <a:gd name="connsiteX4" fmla="*/ 1976437 w 3766375"/>
              <a:gd name="connsiteY4" fmla="*/ 490538 h 594779"/>
              <a:gd name="connsiteX5" fmla="*/ 2614612 w 3766375"/>
              <a:gd name="connsiteY5" fmla="*/ 338138 h 594779"/>
              <a:gd name="connsiteX6" fmla="*/ 3766375 w 3766375"/>
              <a:gd name="connsiteY6" fmla="*/ 87059 h 594779"/>
              <a:gd name="connsiteX0" fmla="*/ 0 w 3766375"/>
              <a:gd name="connsiteY0" fmla="*/ 0 h 594779"/>
              <a:gd name="connsiteX1" fmla="*/ 598170 w 3766375"/>
              <a:gd name="connsiteY1" fmla="*/ 79058 h 594779"/>
              <a:gd name="connsiteX2" fmla="*/ 819150 w 3766375"/>
              <a:gd name="connsiteY2" fmla="*/ 533400 h 594779"/>
              <a:gd name="connsiteX3" fmla="*/ 1100137 w 3766375"/>
              <a:gd name="connsiteY3" fmla="*/ 585788 h 594779"/>
              <a:gd name="connsiteX4" fmla="*/ 1976437 w 3766375"/>
              <a:gd name="connsiteY4" fmla="*/ 490538 h 594779"/>
              <a:gd name="connsiteX5" fmla="*/ 2614612 w 3766375"/>
              <a:gd name="connsiteY5" fmla="*/ 338138 h 594779"/>
              <a:gd name="connsiteX6" fmla="*/ 3766375 w 3766375"/>
              <a:gd name="connsiteY6" fmla="*/ 87059 h 594779"/>
              <a:gd name="connsiteX0" fmla="*/ 0 w 3766375"/>
              <a:gd name="connsiteY0" fmla="*/ 0 h 585902"/>
              <a:gd name="connsiteX1" fmla="*/ 598170 w 3766375"/>
              <a:gd name="connsiteY1" fmla="*/ 79058 h 585902"/>
              <a:gd name="connsiteX2" fmla="*/ 849630 w 3766375"/>
              <a:gd name="connsiteY2" fmla="*/ 472440 h 585902"/>
              <a:gd name="connsiteX3" fmla="*/ 1100137 w 3766375"/>
              <a:gd name="connsiteY3" fmla="*/ 585788 h 585902"/>
              <a:gd name="connsiteX4" fmla="*/ 1976437 w 3766375"/>
              <a:gd name="connsiteY4" fmla="*/ 490538 h 585902"/>
              <a:gd name="connsiteX5" fmla="*/ 2614612 w 3766375"/>
              <a:gd name="connsiteY5" fmla="*/ 338138 h 585902"/>
              <a:gd name="connsiteX6" fmla="*/ 3766375 w 3766375"/>
              <a:gd name="connsiteY6" fmla="*/ 87059 h 585902"/>
              <a:gd name="connsiteX0" fmla="*/ 0 w 3766375"/>
              <a:gd name="connsiteY0" fmla="*/ 0 h 585902"/>
              <a:gd name="connsiteX1" fmla="*/ 598170 w 3766375"/>
              <a:gd name="connsiteY1" fmla="*/ 79058 h 585902"/>
              <a:gd name="connsiteX2" fmla="*/ 849630 w 3766375"/>
              <a:gd name="connsiteY2" fmla="*/ 472440 h 585902"/>
              <a:gd name="connsiteX3" fmla="*/ 1206817 w 3766375"/>
              <a:gd name="connsiteY3" fmla="*/ 585788 h 585902"/>
              <a:gd name="connsiteX4" fmla="*/ 1976437 w 3766375"/>
              <a:gd name="connsiteY4" fmla="*/ 490538 h 585902"/>
              <a:gd name="connsiteX5" fmla="*/ 2614612 w 3766375"/>
              <a:gd name="connsiteY5" fmla="*/ 338138 h 585902"/>
              <a:gd name="connsiteX6" fmla="*/ 3766375 w 3766375"/>
              <a:gd name="connsiteY6" fmla="*/ 87059 h 585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66375" h="585902">
                <a:moveTo>
                  <a:pt x="0" y="0"/>
                </a:moveTo>
                <a:cubicBezTo>
                  <a:pt x="55562" y="10319"/>
                  <a:pt x="456565" y="318"/>
                  <a:pt x="598170" y="79058"/>
                </a:cubicBezTo>
                <a:cubicBezTo>
                  <a:pt x="739775" y="157798"/>
                  <a:pt x="748189" y="387985"/>
                  <a:pt x="849630" y="472440"/>
                </a:cubicBezTo>
                <a:cubicBezTo>
                  <a:pt x="951071" y="556895"/>
                  <a:pt x="1019016" y="582772"/>
                  <a:pt x="1206817" y="585788"/>
                </a:cubicBezTo>
                <a:cubicBezTo>
                  <a:pt x="1394618" y="588804"/>
                  <a:pt x="1741805" y="531813"/>
                  <a:pt x="1976437" y="490538"/>
                </a:cubicBezTo>
                <a:cubicBezTo>
                  <a:pt x="2211070" y="449263"/>
                  <a:pt x="2446337" y="381001"/>
                  <a:pt x="2614612" y="338138"/>
                </a:cubicBezTo>
                <a:cubicBezTo>
                  <a:pt x="2782887" y="295276"/>
                  <a:pt x="3664775" y="118015"/>
                  <a:pt x="3766375" y="87059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Chronic athero proph">
            <a:extLst>
              <a:ext uri="{FF2B5EF4-FFF2-40B4-BE49-F238E27FC236}">
                <a16:creationId xmlns:a16="http://schemas.microsoft.com/office/drawing/2014/main" id="{C79D19E9-65F3-47EC-97B3-0068FCE91862}"/>
              </a:ext>
            </a:extLst>
          </p:cNvPr>
          <p:cNvSpPr txBox="1"/>
          <p:nvPr/>
        </p:nvSpPr>
        <p:spPr>
          <a:xfrm>
            <a:off x="9055479" y="1296894"/>
            <a:ext cx="2275908" cy="3346444"/>
          </a:xfrm>
          <a:prstGeom prst="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/>
              <a:t>“Step-Up</a:t>
            </a:r>
            <a:r>
              <a:rPr lang="en-US" sz="1600" dirty="0"/>
              <a:t>” </a:t>
            </a:r>
            <a:r>
              <a:rPr lang="en-US" sz="1600" b="1" dirty="0"/>
              <a:t>Monotherapy</a:t>
            </a:r>
          </a:p>
          <a:p>
            <a:r>
              <a:rPr lang="en-US" sz="1600" dirty="0"/>
              <a:t>If </a:t>
            </a:r>
            <a:r>
              <a:rPr lang="en-US" sz="1600" dirty="0" err="1"/>
              <a:t>prev</a:t>
            </a:r>
            <a:r>
              <a:rPr lang="en-US" sz="1600" dirty="0"/>
              <a:t> NOT on anti-</a:t>
            </a:r>
            <a:r>
              <a:rPr lang="en-US" sz="1600" dirty="0" err="1"/>
              <a:t>plt</a:t>
            </a:r>
            <a:endParaRPr lang="en-US" sz="1600" dirty="0"/>
          </a:p>
          <a:p>
            <a:r>
              <a:rPr lang="en-US" sz="1600" dirty="0"/>
              <a:t>-&gt; start </a:t>
            </a:r>
            <a:r>
              <a:rPr lang="en-US" sz="1600" b="1" dirty="0" err="1"/>
              <a:t>aspirin</a:t>
            </a:r>
            <a:endParaRPr lang="en-US" sz="1600" b="1" dirty="0"/>
          </a:p>
          <a:p>
            <a:r>
              <a:rPr lang="en-US" sz="1600" dirty="0"/>
              <a:t>If previously on aspirin</a:t>
            </a:r>
          </a:p>
          <a:p>
            <a:r>
              <a:rPr lang="en-US" sz="1600" dirty="0"/>
              <a:t>-&gt; switch to </a:t>
            </a:r>
            <a:r>
              <a:rPr lang="en-US" sz="1600" b="1" dirty="0"/>
              <a:t>clopidogrel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8BCEC24-E58C-4F76-A958-BEC6E8325FEA}"/>
              </a:ext>
            </a:extLst>
          </p:cNvPr>
          <p:cNvSpPr txBox="1"/>
          <p:nvPr/>
        </p:nvSpPr>
        <p:spPr>
          <a:xfrm>
            <a:off x="7798440" y="835840"/>
            <a:ext cx="2334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Atherosclerotic CVA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082312A-1A24-4A21-9808-94A1732F4A67}"/>
              </a:ext>
            </a:extLst>
          </p:cNvPr>
          <p:cNvGrpSpPr/>
          <p:nvPr/>
        </p:nvGrpSpPr>
        <p:grpSpPr>
          <a:xfrm>
            <a:off x="6695599" y="1296894"/>
            <a:ext cx="4635788" cy="3346444"/>
            <a:chOff x="3083668" y="3018971"/>
            <a:chExt cx="3018817" cy="1183378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ABC377A-0FB9-4E20-8080-B46BF4D0555F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68" y="3018971"/>
              <a:ext cx="0" cy="1183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C7AE912-344D-4FC0-BB76-63085015BFDC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68" y="4202349"/>
              <a:ext cx="301881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BB52D92-2FD7-4DF7-9E88-E4E28695C9D0}"/>
                </a:ext>
              </a:extLst>
            </p:cNvPr>
            <p:cNvCxnSpPr>
              <a:cxnSpLocks/>
            </p:cNvCxnSpPr>
            <p:nvPr/>
          </p:nvCxnSpPr>
          <p:spPr>
            <a:xfrm>
              <a:off x="6102485" y="3018971"/>
              <a:ext cx="0" cy="1183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2ECC83B6-A07F-4E41-B6E5-436F90C94957}"/>
              </a:ext>
            </a:extLst>
          </p:cNvPr>
          <p:cNvSpPr txBox="1"/>
          <p:nvPr/>
        </p:nvSpPr>
        <p:spPr>
          <a:xfrm>
            <a:off x="6193488" y="2019272"/>
            <a:ext cx="461665" cy="184877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Re-occlusion risk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41E3CB5-5DA7-4B9D-9D42-387D735252A9}"/>
              </a:ext>
            </a:extLst>
          </p:cNvPr>
          <p:cNvSpPr txBox="1"/>
          <p:nvPr/>
        </p:nvSpPr>
        <p:spPr>
          <a:xfrm>
            <a:off x="11276905" y="1309454"/>
            <a:ext cx="461665" cy="333936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Bleeding Risk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D25E37C-5307-4A2D-BF5E-8B54E3A9E3B1}"/>
              </a:ext>
            </a:extLst>
          </p:cNvPr>
          <p:cNvCxnSpPr>
            <a:cxnSpLocks/>
          </p:cNvCxnSpPr>
          <p:nvPr/>
        </p:nvCxnSpPr>
        <p:spPr>
          <a:xfrm>
            <a:off x="9055479" y="4662749"/>
            <a:ext cx="0" cy="269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F088742-A52E-4B1F-A822-CC4D96F87134}"/>
              </a:ext>
            </a:extLst>
          </p:cNvPr>
          <p:cNvSpPr txBox="1"/>
          <p:nvPr/>
        </p:nvSpPr>
        <p:spPr>
          <a:xfrm>
            <a:off x="8575991" y="4985387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2-4 weeks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63883F9-AE1F-4D8F-AEFD-B89E8FDBC450}"/>
              </a:ext>
            </a:extLst>
          </p:cNvPr>
          <p:cNvSpPr txBox="1"/>
          <p:nvPr/>
        </p:nvSpPr>
        <p:spPr>
          <a:xfrm>
            <a:off x="3208897" y="4682702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Chronic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3DC2C39-0696-44C1-8C73-07C7D88C3DA9}"/>
              </a:ext>
            </a:extLst>
          </p:cNvPr>
          <p:cNvSpPr txBox="1"/>
          <p:nvPr/>
        </p:nvSpPr>
        <p:spPr>
          <a:xfrm>
            <a:off x="9708443" y="4666626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Chronic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17A7A2F-507B-4713-BC73-0E21A340AE99}"/>
              </a:ext>
            </a:extLst>
          </p:cNvPr>
          <p:cNvSpPr txBox="1"/>
          <p:nvPr/>
        </p:nvSpPr>
        <p:spPr>
          <a:xfrm>
            <a:off x="934919" y="4676701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Acute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8111335-6A1C-4E67-AD98-6FF45A5ADB0B}"/>
              </a:ext>
            </a:extLst>
          </p:cNvPr>
          <p:cNvSpPr txBox="1"/>
          <p:nvPr/>
        </p:nvSpPr>
        <p:spPr>
          <a:xfrm>
            <a:off x="7458374" y="4664895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Acute</a:t>
            </a:r>
          </a:p>
        </p:txBody>
      </p:sp>
      <p:sp>
        <p:nvSpPr>
          <p:cNvPr id="124" name="Embolic proph button">
            <a:extLst>
              <a:ext uri="{FF2B5EF4-FFF2-40B4-BE49-F238E27FC236}">
                <a16:creationId xmlns:a16="http://schemas.microsoft.com/office/drawing/2014/main" id="{8B0937DE-6866-4941-9DD5-693694BDCC51}"/>
              </a:ext>
            </a:extLst>
          </p:cNvPr>
          <p:cNvSpPr txBox="1"/>
          <p:nvPr/>
        </p:nvSpPr>
        <p:spPr>
          <a:xfrm>
            <a:off x="1871240" y="5324639"/>
            <a:ext cx="2090561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Secondary Prophylaxis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3FCAFA8-9116-4B5E-B8E0-67724A0EA65B}"/>
              </a:ext>
            </a:extLst>
          </p:cNvPr>
          <p:cNvSpPr/>
          <p:nvPr/>
        </p:nvSpPr>
        <p:spPr>
          <a:xfrm>
            <a:off x="9139881" y="5351615"/>
            <a:ext cx="2096101" cy="12311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40" tIns="0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intensity statin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BP target &lt;120/80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HbA1c &lt;7.0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Tobacco cessation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Processed Foods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50D5868-F732-42BF-8EBF-10D63D06FE6C}"/>
              </a:ext>
            </a:extLst>
          </p:cNvPr>
          <p:cNvSpPr/>
          <p:nvPr/>
        </p:nvSpPr>
        <p:spPr>
          <a:xfrm>
            <a:off x="6891570" y="5384305"/>
            <a:ext cx="2090561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40" tIns="0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intensity statin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BP target &lt;140/90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Blood </a:t>
            </a:r>
            <a:r>
              <a:rPr lang="en-US" sz="1600" dirty="0" err="1"/>
              <a:t>glu</a:t>
            </a:r>
            <a:r>
              <a:rPr lang="en-US" sz="1600" dirty="0"/>
              <a:t> &lt;180</a:t>
            </a:r>
          </a:p>
        </p:txBody>
      </p:sp>
      <p:sp>
        <p:nvSpPr>
          <p:cNvPr id="125" name="Atherosclerosis proph">
            <a:extLst>
              <a:ext uri="{FF2B5EF4-FFF2-40B4-BE49-F238E27FC236}">
                <a16:creationId xmlns:a16="http://schemas.microsoft.com/office/drawing/2014/main" id="{7C294C00-14CF-47AD-8D2F-B48C2F7A4FD3}"/>
              </a:ext>
            </a:extLst>
          </p:cNvPr>
          <p:cNvSpPr txBox="1"/>
          <p:nvPr/>
        </p:nvSpPr>
        <p:spPr>
          <a:xfrm>
            <a:off x="7944144" y="5351782"/>
            <a:ext cx="2096101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Secondary Prophylaxis</a:t>
            </a: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E315C3FC-5066-4479-956A-79092F2F0E51}"/>
              </a:ext>
            </a:extLst>
          </p:cNvPr>
          <p:cNvSpPr/>
          <p:nvPr/>
        </p:nvSpPr>
        <p:spPr>
          <a:xfrm>
            <a:off x="6726534" y="3083112"/>
            <a:ext cx="4598039" cy="534105"/>
          </a:xfrm>
          <a:custGeom>
            <a:avLst/>
            <a:gdLst>
              <a:gd name="connsiteX0" fmla="*/ 0 w 4533900"/>
              <a:gd name="connsiteY0" fmla="*/ 0 h 534105"/>
              <a:gd name="connsiteX1" fmla="*/ 638175 w 4533900"/>
              <a:gd name="connsiteY1" fmla="*/ 238125 h 534105"/>
              <a:gd name="connsiteX2" fmla="*/ 2324100 w 4533900"/>
              <a:gd name="connsiteY2" fmla="*/ 514350 h 534105"/>
              <a:gd name="connsiteX3" fmla="*/ 3505200 w 4533900"/>
              <a:gd name="connsiteY3" fmla="*/ 495300 h 534105"/>
              <a:gd name="connsiteX4" fmla="*/ 4533900 w 4533900"/>
              <a:gd name="connsiteY4" fmla="*/ 361950 h 53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3900" h="534105">
                <a:moveTo>
                  <a:pt x="0" y="0"/>
                </a:moveTo>
                <a:cubicBezTo>
                  <a:pt x="125412" y="76200"/>
                  <a:pt x="250825" y="152400"/>
                  <a:pt x="638175" y="238125"/>
                </a:cubicBezTo>
                <a:cubicBezTo>
                  <a:pt x="1025525" y="323850"/>
                  <a:pt x="1846262" y="471487"/>
                  <a:pt x="2324100" y="514350"/>
                </a:cubicBezTo>
                <a:cubicBezTo>
                  <a:pt x="2801938" y="557213"/>
                  <a:pt x="3136900" y="520700"/>
                  <a:pt x="3505200" y="495300"/>
                </a:cubicBezTo>
                <a:cubicBezTo>
                  <a:pt x="3873500" y="469900"/>
                  <a:pt x="4203700" y="415925"/>
                  <a:pt x="4533900" y="361950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B6B9279C-B752-4BC1-B3B7-3E99D642567F}"/>
              </a:ext>
            </a:extLst>
          </p:cNvPr>
          <p:cNvSpPr/>
          <p:nvPr/>
        </p:nvSpPr>
        <p:spPr>
          <a:xfrm>
            <a:off x="6729710" y="2291159"/>
            <a:ext cx="4533900" cy="931766"/>
          </a:xfrm>
          <a:custGeom>
            <a:avLst/>
            <a:gdLst>
              <a:gd name="connsiteX0" fmla="*/ 0 w 4533900"/>
              <a:gd name="connsiteY0" fmla="*/ 20983 h 931766"/>
              <a:gd name="connsiteX1" fmla="*/ 850900 w 4533900"/>
              <a:gd name="connsiteY1" fmla="*/ 109883 h 931766"/>
              <a:gd name="connsiteX2" fmla="*/ 2438400 w 4533900"/>
              <a:gd name="connsiteY2" fmla="*/ 871883 h 931766"/>
              <a:gd name="connsiteX3" fmla="*/ 3949700 w 4533900"/>
              <a:gd name="connsiteY3" fmla="*/ 871883 h 931766"/>
              <a:gd name="connsiteX4" fmla="*/ 4533900 w 4533900"/>
              <a:gd name="connsiteY4" fmla="*/ 782983 h 93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3900" h="931766">
                <a:moveTo>
                  <a:pt x="0" y="20983"/>
                </a:moveTo>
                <a:cubicBezTo>
                  <a:pt x="222250" y="-5476"/>
                  <a:pt x="444500" y="-31934"/>
                  <a:pt x="850900" y="109883"/>
                </a:cubicBezTo>
                <a:cubicBezTo>
                  <a:pt x="1257300" y="251700"/>
                  <a:pt x="1921933" y="744883"/>
                  <a:pt x="2438400" y="871883"/>
                </a:cubicBezTo>
                <a:cubicBezTo>
                  <a:pt x="2954867" y="998883"/>
                  <a:pt x="3600450" y="886700"/>
                  <a:pt x="3949700" y="871883"/>
                </a:cubicBezTo>
                <a:cubicBezTo>
                  <a:pt x="4298950" y="857066"/>
                  <a:pt x="4416425" y="820024"/>
                  <a:pt x="4533900" y="782983"/>
                </a:cubicBezTo>
              </a:path>
            </a:pathLst>
          </a:custGeom>
          <a:noFill/>
          <a:ln w="12700" cmpd="sng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F99099AC-8A25-4F7F-A83F-A34C6982977D}"/>
              </a:ext>
            </a:extLst>
          </p:cNvPr>
          <p:cNvSpPr/>
          <p:nvPr/>
        </p:nvSpPr>
        <p:spPr>
          <a:xfrm>
            <a:off x="6756995" y="2805984"/>
            <a:ext cx="4574390" cy="587873"/>
          </a:xfrm>
          <a:custGeom>
            <a:avLst/>
            <a:gdLst>
              <a:gd name="connsiteX0" fmla="*/ 0 w 4533900"/>
              <a:gd name="connsiteY0" fmla="*/ 20983 h 931766"/>
              <a:gd name="connsiteX1" fmla="*/ 850900 w 4533900"/>
              <a:gd name="connsiteY1" fmla="*/ 109883 h 931766"/>
              <a:gd name="connsiteX2" fmla="*/ 2438400 w 4533900"/>
              <a:gd name="connsiteY2" fmla="*/ 871883 h 931766"/>
              <a:gd name="connsiteX3" fmla="*/ 3949700 w 4533900"/>
              <a:gd name="connsiteY3" fmla="*/ 871883 h 931766"/>
              <a:gd name="connsiteX4" fmla="*/ 4533900 w 4533900"/>
              <a:gd name="connsiteY4" fmla="*/ 782983 h 931766"/>
              <a:gd name="connsiteX0" fmla="*/ 0 w 4533900"/>
              <a:gd name="connsiteY0" fmla="*/ 10376 h 862135"/>
              <a:gd name="connsiteX1" fmla="*/ 850900 w 4533900"/>
              <a:gd name="connsiteY1" fmla="*/ 99276 h 862135"/>
              <a:gd name="connsiteX2" fmla="*/ 2438400 w 4533900"/>
              <a:gd name="connsiteY2" fmla="*/ 569176 h 862135"/>
              <a:gd name="connsiteX3" fmla="*/ 3949700 w 4533900"/>
              <a:gd name="connsiteY3" fmla="*/ 861276 h 862135"/>
              <a:gd name="connsiteX4" fmla="*/ 4533900 w 4533900"/>
              <a:gd name="connsiteY4" fmla="*/ 772376 h 862135"/>
              <a:gd name="connsiteX0" fmla="*/ 0 w 4533900"/>
              <a:gd name="connsiteY0" fmla="*/ 10376 h 775268"/>
              <a:gd name="connsiteX1" fmla="*/ 850900 w 4533900"/>
              <a:gd name="connsiteY1" fmla="*/ 99276 h 775268"/>
              <a:gd name="connsiteX2" fmla="*/ 2438400 w 4533900"/>
              <a:gd name="connsiteY2" fmla="*/ 569176 h 775268"/>
              <a:gd name="connsiteX3" fmla="*/ 3987800 w 4533900"/>
              <a:gd name="connsiteY3" fmla="*/ 492976 h 775268"/>
              <a:gd name="connsiteX4" fmla="*/ 4533900 w 4533900"/>
              <a:gd name="connsiteY4" fmla="*/ 772376 h 775268"/>
              <a:gd name="connsiteX0" fmla="*/ 0 w 4470400"/>
              <a:gd name="connsiteY0" fmla="*/ 10376 h 587873"/>
              <a:gd name="connsiteX1" fmla="*/ 850900 w 4470400"/>
              <a:gd name="connsiteY1" fmla="*/ 99276 h 587873"/>
              <a:gd name="connsiteX2" fmla="*/ 2438400 w 4470400"/>
              <a:gd name="connsiteY2" fmla="*/ 569176 h 587873"/>
              <a:gd name="connsiteX3" fmla="*/ 3987800 w 4470400"/>
              <a:gd name="connsiteY3" fmla="*/ 492976 h 587873"/>
              <a:gd name="connsiteX4" fmla="*/ 4470400 w 4470400"/>
              <a:gd name="connsiteY4" fmla="*/ 365976 h 58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70400" h="587873">
                <a:moveTo>
                  <a:pt x="0" y="10376"/>
                </a:moveTo>
                <a:cubicBezTo>
                  <a:pt x="222250" y="-16083"/>
                  <a:pt x="444500" y="6143"/>
                  <a:pt x="850900" y="99276"/>
                </a:cubicBezTo>
                <a:cubicBezTo>
                  <a:pt x="1257300" y="192409"/>
                  <a:pt x="1915583" y="503559"/>
                  <a:pt x="2438400" y="569176"/>
                </a:cubicBezTo>
                <a:cubicBezTo>
                  <a:pt x="2961217" y="634793"/>
                  <a:pt x="3638550" y="507793"/>
                  <a:pt x="3987800" y="492976"/>
                </a:cubicBezTo>
                <a:cubicBezTo>
                  <a:pt x="4337050" y="478159"/>
                  <a:pt x="4352925" y="403017"/>
                  <a:pt x="4470400" y="365976"/>
                </a:cubicBezTo>
              </a:path>
            </a:pathLst>
          </a:custGeom>
          <a:noFill/>
          <a:ln w="31750" cmpd="sng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4" name="key">
            <a:extLst>
              <a:ext uri="{FF2B5EF4-FFF2-40B4-BE49-F238E27FC236}">
                <a16:creationId xmlns:a16="http://schemas.microsoft.com/office/drawing/2014/main" id="{F75C5BB8-D1A2-4457-8345-E13319D91444}"/>
              </a:ext>
            </a:extLst>
          </p:cNvPr>
          <p:cNvGrpSpPr/>
          <p:nvPr/>
        </p:nvGrpSpPr>
        <p:grpSpPr>
          <a:xfrm>
            <a:off x="6699972" y="1296893"/>
            <a:ext cx="2348695" cy="3346444"/>
            <a:chOff x="6642822" y="1296893"/>
            <a:chExt cx="2348695" cy="3346444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38C1B10-A7FF-4DF0-B43A-6C28292E55C3}"/>
                </a:ext>
              </a:extLst>
            </p:cNvPr>
            <p:cNvSpPr/>
            <p:nvPr/>
          </p:nvSpPr>
          <p:spPr>
            <a:xfrm>
              <a:off x="6642822" y="1296893"/>
              <a:ext cx="2348695" cy="334644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ABCD</a:t>
              </a:r>
              <a:r>
                <a:rPr lang="en-US" altLang="en-US" sz="1600" baseline="30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≥ 4 (           )</a:t>
              </a: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NIHSS ≤3 (            )</a:t>
              </a: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ABCD</a:t>
              </a:r>
              <a:r>
                <a:rPr lang="en-US" altLang="en-US" sz="1600" baseline="30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≤ 3 (           )</a:t>
              </a: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NIHSS ≥ 4 (            )</a:t>
              </a:r>
            </a:p>
          </p:txBody>
        </p:sp>
        <p:grpSp>
          <p:nvGrpSpPr>
            <p:cNvPr id="151" name="key">
              <a:extLst>
                <a:ext uri="{FF2B5EF4-FFF2-40B4-BE49-F238E27FC236}">
                  <a16:creationId xmlns:a16="http://schemas.microsoft.com/office/drawing/2014/main" id="{2486EAA9-C85D-47BD-8058-08499181CE9B}"/>
                </a:ext>
              </a:extLst>
            </p:cNvPr>
            <p:cNvGrpSpPr/>
            <p:nvPr/>
          </p:nvGrpSpPr>
          <p:grpSpPr>
            <a:xfrm>
              <a:off x="7945410" y="1742052"/>
              <a:ext cx="562291" cy="2679334"/>
              <a:chOff x="7962900" y="1725385"/>
              <a:chExt cx="562291" cy="2679334"/>
            </a:xfrm>
          </p:grpSpPr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762E19DC-A5C9-4E8A-B22A-F0B822F711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8303" y="1725385"/>
                <a:ext cx="475297" cy="0"/>
              </a:xfrm>
              <a:prstGeom prst="line">
                <a:avLst/>
              </a:prstGeom>
              <a:ln w="127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FEC08798-297F-4535-9BD4-10DEE52089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2900" y="1959969"/>
                <a:ext cx="508000" cy="0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8E6431E0-410C-447C-A4A2-079A58A1C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5185" y="4151085"/>
                <a:ext cx="500006" cy="0"/>
              </a:xfrm>
              <a:prstGeom prst="line">
                <a:avLst/>
              </a:prstGeom>
              <a:ln w="22225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C3C6CD48-D4E8-4E96-8D16-048B2B982B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9785" y="4404719"/>
                <a:ext cx="525406" cy="0"/>
              </a:xfrm>
              <a:prstGeom prst="line">
                <a:avLst/>
              </a:prstGeom>
              <a:ln w="22225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F682D3FA-A881-4EC6-B3E7-6DC45DF88E50}"/>
              </a:ext>
            </a:extLst>
          </p:cNvPr>
          <p:cNvSpPr/>
          <p:nvPr/>
        </p:nvSpPr>
        <p:spPr>
          <a:xfrm>
            <a:off x="6708895" y="2927268"/>
            <a:ext cx="4615678" cy="534105"/>
          </a:xfrm>
          <a:custGeom>
            <a:avLst/>
            <a:gdLst>
              <a:gd name="connsiteX0" fmla="*/ 0 w 4533900"/>
              <a:gd name="connsiteY0" fmla="*/ 0 h 534105"/>
              <a:gd name="connsiteX1" fmla="*/ 638175 w 4533900"/>
              <a:gd name="connsiteY1" fmla="*/ 238125 h 534105"/>
              <a:gd name="connsiteX2" fmla="*/ 2324100 w 4533900"/>
              <a:gd name="connsiteY2" fmla="*/ 514350 h 534105"/>
              <a:gd name="connsiteX3" fmla="*/ 3505200 w 4533900"/>
              <a:gd name="connsiteY3" fmla="*/ 495300 h 534105"/>
              <a:gd name="connsiteX4" fmla="*/ 4533900 w 4533900"/>
              <a:gd name="connsiteY4" fmla="*/ 361950 h 53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3900" h="534105">
                <a:moveTo>
                  <a:pt x="0" y="0"/>
                </a:moveTo>
                <a:cubicBezTo>
                  <a:pt x="125412" y="76200"/>
                  <a:pt x="250825" y="152400"/>
                  <a:pt x="638175" y="238125"/>
                </a:cubicBezTo>
                <a:cubicBezTo>
                  <a:pt x="1025525" y="323850"/>
                  <a:pt x="1846262" y="471487"/>
                  <a:pt x="2324100" y="514350"/>
                </a:cubicBezTo>
                <a:cubicBezTo>
                  <a:pt x="2801938" y="557213"/>
                  <a:pt x="3136900" y="520700"/>
                  <a:pt x="3505200" y="495300"/>
                </a:cubicBezTo>
                <a:cubicBezTo>
                  <a:pt x="3873500" y="469900"/>
                  <a:pt x="4203700" y="415925"/>
                  <a:pt x="4533900" y="361950"/>
                </a:cubicBezTo>
              </a:path>
            </a:pathLst>
          </a:custGeom>
          <a:noFill/>
          <a:ln w="3175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AB1FE4C-5D0A-4FF8-AE33-7C4EA0BC5512}"/>
              </a:ext>
            </a:extLst>
          </p:cNvPr>
          <p:cNvCxnSpPr>
            <a:cxnSpLocks/>
            <a:stCxn id="121" idx="2"/>
            <a:endCxn id="127" idx="0"/>
          </p:cNvCxnSpPr>
          <p:nvPr/>
        </p:nvCxnSpPr>
        <p:spPr>
          <a:xfrm flipH="1">
            <a:off x="7936851" y="4880339"/>
            <a:ext cx="1011" cy="503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F976CF2-922E-4FDC-A953-C260814A955D}"/>
              </a:ext>
            </a:extLst>
          </p:cNvPr>
          <p:cNvCxnSpPr>
            <a:cxnSpLocks/>
            <a:stCxn id="115" idx="2"/>
            <a:endCxn id="126" idx="0"/>
          </p:cNvCxnSpPr>
          <p:nvPr/>
        </p:nvCxnSpPr>
        <p:spPr>
          <a:xfrm>
            <a:off x="10187931" y="4882070"/>
            <a:ext cx="1" cy="4695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Rectangle: Rounded Corners 163">
            <a:hlinkClick r:id="rId2" action="ppaction://hlinksldjump"/>
            <a:extLst>
              <a:ext uri="{FF2B5EF4-FFF2-40B4-BE49-F238E27FC236}">
                <a16:creationId xmlns:a16="http://schemas.microsoft.com/office/drawing/2014/main" id="{7919C0DA-D810-43DA-8DB9-9A315067696B}"/>
              </a:ext>
            </a:extLst>
          </p:cNvPr>
          <p:cNvSpPr/>
          <p:nvPr/>
        </p:nvSpPr>
        <p:spPr>
          <a:xfrm>
            <a:off x="5616806" y="6207668"/>
            <a:ext cx="958387" cy="375053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Main Board</a:t>
            </a:r>
          </a:p>
        </p:txBody>
      </p:sp>
      <p:pic>
        <p:nvPicPr>
          <p:cNvPr id="165" name="Graphic 164" descr="Cursor">
            <a:extLst>
              <a:ext uri="{FF2B5EF4-FFF2-40B4-BE49-F238E27FC236}">
                <a16:creationId xmlns:a16="http://schemas.microsoft.com/office/drawing/2014/main" id="{54A792F7-3F1E-4104-871F-35B74D6D8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3812015" y="5539067"/>
            <a:ext cx="355858" cy="355858"/>
          </a:xfrm>
          <a:prstGeom prst="rect">
            <a:avLst/>
          </a:prstGeom>
        </p:spPr>
      </p:pic>
      <p:pic>
        <p:nvPicPr>
          <p:cNvPr id="166" name="Graphic 165" descr="Cursor">
            <a:extLst>
              <a:ext uri="{FF2B5EF4-FFF2-40B4-BE49-F238E27FC236}">
                <a16:creationId xmlns:a16="http://schemas.microsoft.com/office/drawing/2014/main" id="{93C8ED67-3A5A-43AE-841F-750585429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9868598" y="5539067"/>
            <a:ext cx="355858" cy="355858"/>
          </a:xfrm>
          <a:prstGeom prst="rect">
            <a:avLst/>
          </a:prstGeom>
        </p:spPr>
      </p:pic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AC70F74-C7D3-4182-9F3F-DC1757921086}"/>
              </a:ext>
            </a:extLst>
          </p:cNvPr>
          <p:cNvCxnSpPr>
            <a:cxnSpLocks/>
          </p:cNvCxnSpPr>
          <p:nvPr/>
        </p:nvCxnSpPr>
        <p:spPr>
          <a:xfrm>
            <a:off x="760351" y="4643681"/>
            <a:ext cx="0" cy="269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C5522C3F-9604-4AF3-857F-95E6E79C0AD9}"/>
              </a:ext>
            </a:extLst>
          </p:cNvPr>
          <p:cNvSpPr txBox="1"/>
          <p:nvPr/>
        </p:nvSpPr>
        <p:spPr>
          <a:xfrm>
            <a:off x="294571" y="4973386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2 days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C2D03E6-C360-4FE7-8AEF-458A84BD62EB}"/>
              </a:ext>
            </a:extLst>
          </p:cNvPr>
          <p:cNvCxnSpPr>
            <a:cxnSpLocks/>
          </p:cNvCxnSpPr>
          <p:nvPr/>
        </p:nvCxnSpPr>
        <p:spPr>
          <a:xfrm>
            <a:off x="6693361" y="4653754"/>
            <a:ext cx="0" cy="269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61F4D484-4B0B-4007-BE6C-1A5414893CC3}"/>
              </a:ext>
            </a:extLst>
          </p:cNvPr>
          <p:cNvSpPr txBox="1"/>
          <p:nvPr/>
        </p:nvSpPr>
        <p:spPr>
          <a:xfrm>
            <a:off x="6227581" y="4983459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2 days</a:t>
            </a:r>
          </a:p>
        </p:txBody>
      </p:sp>
    </p:spTree>
    <p:extLst>
      <p:ext uri="{BB962C8B-B14F-4D97-AF65-F5344CB8AC3E}">
        <p14:creationId xmlns:p14="http://schemas.microsoft.com/office/powerpoint/2010/main" val="263463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</p:childTnLst>
        </p:cTn>
      </p:par>
    </p:tnLst>
    <p:bldLst>
      <p:bldP spid="107" grpId="0" animBg="1"/>
      <p:bldP spid="64" grpId="0" animBg="1"/>
      <p:bldP spid="46" grpId="0" animBg="1"/>
      <p:bldP spid="99" grpId="0" animBg="1"/>
      <p:bldP spid="124" grpId="0" animBg="1"/>
      <p:bldP spid="126" grpId="0" animBg="1"/>
      <p:bldP spid="127" grpId="0" animBg="1"/>
      <p:bldP spid="12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300" b="1">
                <a:solidFill>
                  <a:srgbClr val="FFFFFF"/>
                </a:solidFill>
                <a:latin typeface="Calibri"/>
              </a:rPr>
              <a:t>2021–2024 Guideline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080"/>
            <a:ext cx="11277600" cy="60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latin typeface="Calibri"/>
              </a:rPr>
              <a:t>Standing 5-step framework is current; AHA/ASA refinements since 2020:</a:t>
            </a:r>
          </a:p>
          <a:p>
            <a:pPr lvl="1">
              <a:spcAft>
                <a:spcPts val="400"/>
              </a:spcAft>
            </a:pPr>
            <a:r>
              <a:rPr sz="1100">
                <a:latin typeface="Calibri"/>
              </a:rPr>
              <a:t>IV thrombolysis: tenecteplase (TNK) 0.25 mg/kg is now a Class 1 alternative to alteplase 0.9 mg/kg — non-inferior, simpler single-bolus, possibly superior for LVO (2024 AHA/ASA acute ischemic stroke guideline).</a:t>
            </a:r>
          </a:p>
          <a:p>
            <a:pPr lvl="1">
              <a:spcAft>
                <a:spcPts val="400"/>
              </a:spcAft>
            </a:pPr>
            <a:r>
              <a:rPr sz="1100">
                <a:latin typeface="Calibri"/>
              </a:rPr>
              <a:t>Thrombectomy expanded to LARGE-CORE infarcts: anterior LVO, 6–24 h, NIHSS ≥6, ASPECTS 3–5, age &lt;80 — Class 1 (SELECT2, ANGEL-ASPECT, NEJM 2023). EVT to 24 h with mismatch already established (DAWN/DEFUSE-3); basilar-occlusion EVT now supported (ATTENTION/BAOCHE 2022).</a:t>
            </a:r>
          </a:p>
          <a:p>
            <a:pPr lvl="1">
              <a:spcAft>
                <a:spcPts val="400"/>
              </a:spcAft>
            </a:pPr>
            <a:r>
              <a:rPr sz="1100">
                <a:latin typeface="Calibri"/>
              </a:rPr>
              <a:t>Secondary prevention (2021 AHA/ASA, Kleindorfer): DAPT clopidogrel+aspirin for 21 days (then mono) for minor stroke NIHSS ≤3 or high-risk TIA ABCD2 ≥4 (CHANCE/POINT); ticagrelor+aspirin ×30 d an alternative (THALES). LDL-C goal &lt;70 mg/dL with high-intensity statin ± ezetimibe/PCSK9.</a:t>
            </a:r>
          </a:p>
          <a:p>
            <a:pPr lvl="1">
              <a:spcAft>
                <a:spcPts val="400"/>
              </a:spcAft>
            </a:pPr>
            <a:r>
              <a:rPr sz="1100">
                <a:latin typeface="Calibri"/>
              </a:rPr>
              <a:t>PFO closure is reasonable for cryptogenic embolic stroke in selected patients &lt;60 y (RESPECT/CLOSE/REDUCE).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3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080"/>
            <a:ext cx="11277600" cy="60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Work every ischemic stroke through 5 steps: exclude hemorrhage (noncontrast HCT) → acute reperfusion (tPA/TNK ± EVT without causing ICH) → determine etiology → secondary prophylaxis → risk-factor modification.</a:t>
            </a:r>
          </a:p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Reperfusion is time-critical: IV thrombolysis if LKW &lt;4.5 h and no contraindication (TNK 0.25 mg/kg or alteplase); thrombectomy for anterior LVO with salvageable brain, now including large-core in extended windows.</a:t>
            </a:r>
          </a:p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Etiology drives prevention: atherosclerotic → antiplatelet (DAPT 21 d for minor stroke/high-risk TIA, then mono); cardioembolic → anticoagulation after the hemorrhagic-conversion window.</a:t>
            </a:r>
          </a:p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Acute BP is permissive (&lt;220/120 ×48 h; &lt;185/110 if thrombolysed); long-term target &lt;130/80. LDL &lt;70, A1c &lt;7, tobacco cessation, glucose &lt;180 acutely.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3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080"/>
            <a:ext cx="11277600" cy="60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Adapted from TeachIM 'Ischemic CVA (Cerebrovascular Accident)' (Brandon Fainstad MD; expert review pending), pub. 2020. teachim.org/teaching_material/ischemic-cva-cerebrovascular-accident/</a:t>
            </a:r>
          </a:p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License: CC BY-NC 4.0 — attribution required, non-commercial use only.</a:t>
            </a:r>
          </a:p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Surgical corrections: 'emobli'→'emboli' (slide 3 TCD); 'asprin'→'aspirin' (slide 4); acute glucose target 'Blood glu &lt;18'→'&lt;180' mg/dL (slide 4 — inferred missing zero, flagged for human review).</a:t>
            </a:r>
          </a:p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Added (source-cited): 2024 AHA/ASA acute stroke guideline (TNK Class 1, large-core EVT SELECT2/ANGEL-ASPECT); 2021 AHA/ASA secondary-prevention guideline (DAPT 21 d, ticagrelor alt, LDL &lt;70, PFO closure).</a:t>
            </a:r>
          </a:p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Appended: this update slide, take-home slide, attribution slide. All original animated/click-to-reveal builds preserved.</a:t>
            </a:r>
          </a:p>
          <a:p>
            <a:pPr>
              <a:spcAft>
                <a:spcPts val="400"/>
              </a:spcAft>
            </a:pPr>
            <a:r>
              <a:rPr sz="1400" b="1">
                <a:latin typeface="Calibri"/>
              </a:rPr>
              <a:t>Optimization date 2026-06-10. Educational use only; clinician-review before teaching.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clude hemorrage">
            <a:extLst>
              <a:ext uri="{FF2B5EF4-FFF2-40B4-BE49-F238E27FC236}">
                <a16:creationId xmlns:a16="http://schemas.microsoft.com/office/drawing/2014/main" id="{B2BDFE98-B232-4D69-95B5-503A08933596}"/>
              </a:ext>
            </a:extLst>
          </p:cNvPr>
          <p:cNvSpPr txBox="1"/>
          <p:nvPr/>
        </p:nvSpPr>
        <p:spPr>
          <a:xfrm>
            <a:off x="848455" y="1804652"/>
            <a:ext cx="1328192" cy="58477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Exclude Hemorrhage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5B156-27B4-410C-9DE0-B8E5FFDEA923}"/>
              </a:ext>
            </a:extLst>
          </p:cNvPr>
          <p:cNvSpPr txBox="1"/>
          <p:nvPr/>
        </p:nvSpPr>
        <p:spPr>
          <a:xfrm>
            <a:off x="115119" y="2954668"/>
            <a:ext cx="809003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843D0-3386-4571-A35C-8B226376DC2D}"/>
              </a:ext>
            </a:extLst>
          </p:cNvPr>
          <p:cNvSpPr txBox="1"/>
          <p:nvPr/>
        </p:nvSpPr>
        <p:spPr>
          <a:xfrm>
            <a:off x="2101950" y="3026179"/>
            <a:ext cx="10069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Ischemic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6B7BB3-65CC-4E49-9708-4C53CD8F61F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924122" y="3210845"/>
            <a:ext cx="1177828" cy="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ED1B4A-F7DF-43D4-BE64-03B82F01D080}"/>
              </a:ext>
            </a:extLst>
          </p:cNvPr>
          <p:cNvCxnSpPr>
            <a:cxnSpLocks/>
            <a:stCxn id="15" idx="0"/>
            <a:endCxn id="25" idx="2"/>
          </p:cNvCxnSpPr>
          <p:nvPr/>
        </p:nvCxnSpPr>
        <p:spPr>
          <a:xfrm flipH="1" flipV="1">
            <a:off x="1512551" y="2389427"/>
            <a:ext cx="1" cy="565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3108A3-079F-4A5C-B9F4-F66AB14D3709}"/>
              </a:ext>
            </a:extLst>
          </p:cNvPr>
          <p:cNvSpPr txBox="1"/>
          <p:nvPr/>
        </p:nvSpPr>
        <p:spPr>
          <a:xfrm>
            <a:off x="1092369" y="2954668"/>
            <a:ext cx="840366" cy="5232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Non-con</a:t>
            </a:r>
          </a:p>
          <a:p>
            <a:pPr algn="ctr"/>
            <a:r>
              <a:rPr lang="en-US" sz="1400" dirty="0"/>
              <a:t>HCT</a:t>
            </a:r>
          </a:p>
        </p:txBody>
      </p:sp>
      <p:sp>
        <p:nvSpPr>
          <p:cNvPr id="38" name="Secondary proph - chronic">
            <a:hlinkClick r:id="rId3" action="ppaction://hlinksldjump"/>
            <a:extLst>
              <a:ext uri="{FF2B5EF4-FFF2-40B4-BE49-F238E27FC236}">
                <a16:creationId xmlns:a16="http://schemas.microsoft.com/office/drawing/2014/main" id="{1B47A2B1-8B11-4B2F-AA17-737741B28B62}"/>
              </a:ext>
            </a:extLst>
          </p:cNvPr>
          <p:cNvSpPr txBox="1"/>
          <p:nvPr/>
        </p:nvSpPr>
        <p:spPr>
          <a:xfrm>
            <a:off x="10247226" y="1798291"/>
            <a:ext cx="1807155" cy="3077766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Secondary </a:t>
            </a:r>
            <a:r>
              <a:rPr lang="en-US" sz="1600" b="1" u="sng" dirty="0" err="1"/>
              <a:t>Proph</a:t>
            </a:r>
            <a:endParaRPr lang="en-US" sz="1600" b="1" u="sng" dirty="0"/>
          </a:p>
          <a:p>
            <a:pPr algn="ctr"/>
            <a:r>
              <a:rPr lang="en-US" sz="1200" dirty="0"/>
              <a:t>Chronic (&gt;2mo)</a:t>
            </a:r>
          </a:p>
          <a:p>
            <a:pPr algn="ctr"/>
            <a:endParaRPr lang="en-US" sz="1200" dirty="0"/>
          </a:p>
          <a:p>
            <a:pPr algn="ctr"/>
            <a:r>
              <a:rPr lang="en-US" sz="1400" b="1" dirty="0"/>
              <a:t>Anticoagulation?</a:t>
            </a:r>
          </a:p>
          <a:p>
            <a:pPr algn="ctr"/>
            <a:r>
              <a:rPr lang="en-US" sz="1200" dirty="0"/>
              <a:t>and/or</a:t>
            </a:r>
          </a:p>
          <a:p>
            <a:pPr algn="ctr"/>
            <a:r>
              <a:rPr lang="en-US" sz="1400" b="1" dirty="0"/>
              <a:t>Anti-platelet?</a:t>
            </a:r>
          </a:p>
          <a:p>
            <a:pPr algn="ctr"/>
            <a:r>
              <a:rPr lang="en-US" sz="1400" dirty="0"/>
              <a:t>(single vs. dual)</a:t>
            </a:r>
          </a:p>
          <a:p>
            <a:pPr algn="ctr"/>
            <a:r>
              <a:rPr lang="en-US" sz="1200" dirty="0"/>
              <a:t>plus</a:t>
            </a:r>
          </a:p>
          <a:p>
            <a:pPr algn="ctr"/>
            <a:r>
              <a:rPr lang="en-US" sz="1400" b="1" dirty="0"/>
              <a:t>Risk modification</a:t>
            </a:r>
          </a:p>
          <a:p>
            <a:pPr algn="ctr"/>
            <a:r>
              <a:rPr lang="en-US" sz="1400" dirty="0"/>
              <a:t>Statin</a:t>
            </a:r>
          </a:p>
          <a:p>
            <a:pPr algn="ctr"/>
            <a:r>
              <a:rPr lang="en-US" sz="1400" dirty="0"/>
              <a:t>BP control</a:t>
            </a:r>
          </a:p>
          <a:p>
            <a:pPr algn="ctr"/>
            <a:r>
              <a:rPr lang="en-US" sz="1400" dirty="0"/>
              <a:t>DM management</a:t>
            </a:r>
          </a:p>
          <a:p>
            <a:pPr algn="ctr"/>
            <a:r>
              <a:rPr lang="en-US" sz="1400" dirty="0"/>
              <a:t>Tobacco cessation</a:t>
            </a:r>
          </a:p>
          <a:p>
            <a:pPr algn="ctr"/>
            <a:r>
              <a:rPr lang="en-US" sz="1400" dirty="0"/>
              <a:t>Processed Foods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AA941B6-D987-4220-972B-0A99440B41C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108944" y="3210845"/>
            <a:ext cx="7138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Etiology">
            <a:hlinkClick r:id="rId4" action="ppaction://hlinksldjump"/>
            <a:extLst>
              <a:ext uri="{FF2B5EF4-FFF2-40B4-BE49-F238E27FC236}">
                <a16:creationId xmlns:a16="http://schemas.microsoft.com/office/drawing/2014/main" id="{C620A7B7-415B-4123-839C-3D5EB73AF9FC}"/>
              </a:ext>
            </a:extLst>
          </p:cNvPr>
          <p:cNvSpPr txBox="1"/>
          <p:nvPr/>
        </p:nvSpPr>
        <p:spPr>
          <a:xfrm>
            <a:off x="5718799" y="1799258"/>
            <a:ext cx="1807155" cy="304698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Determine Etiology</a:t>
            </a:r>
          </a:p>
          <a:p>
            <a:pPr algn="ctr"/>
            <a:r>
              <a:rPr lang="en-US" sz="1200" dirty="0"/>
              <a:t>Guides secondary prevention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Atherosclerosis</a:t>
            </a:r>
          </a:p>
          <a:p>
            <a:pPr algn="ctr"/>
            <a:r>
              <a:rPr lang="en-US" sz="1200" dirty="0"/>
              <a:t>(large vs small artery)  </a:t>
            </a:r>
          </a:p>
          <a:p>
            <a:pPr algn="ctr"/>
            <a:r>
              <a:rPr lang="en-US" sz="1200" dirty="0"/>
              <a:t>vs</a:t>
            </a:r>
          </a:p>
          <a:p>
            <a:pPr algn="ctr"/>
            <a:r>
              <a:rPr lang="en-US" sz="1400" b="1" dirty="0"/>
              <a:t>Cardioembolic</a:t>
            </a:r>
          </a:p>
          <a:p>
            <a:pPr algn="ctr"/>
            <a:r>
              <a:rPr lang="en-US" sz="1200" dirty="0"/>
              <a:t>(atrial thrombus vs LV thrombus vs VTE with shunt vs valvular)</a:t>
            </a:r>
          </a:p>
          <a:p>
            <a:pPr algn="ctr"/>
            <a:r>
              <a:rPr lang="en-US" sz="1200" dirty="0"/>
              <a:t>vs </a:t>
            </a:r>
          </a:p>
          <a:p>
            <a:pPr algn="ctr"/>
            <a:r>
              <a:rPr lang="en-US" sz="1400" b="1" dirty="0"/>
              <a:t>Other</a:t>
            </a:r>
          </a:p>
          <a:p>
            <a:pPr algn="ctr"/>
            <a:r>
              <a:rPr lang="en-US" sz="1200" dirty="0"/>
              <a:t>(dissection, vasculitis, thrombophilia)</a:t>
            </a:r>
          </a:p>
        </p:txBody>
      </p:sp>
      <p:sp>
        <p:nvSpPr>
          <p:cNvPr id="37" name="Secondary proph - acute">
            <a:hlinkClick r:id="rId3" action="ppaction://hlinksldjump"/>
            <a:extLst>
              <a:ext uri="{FF2B5EF4-FFF2-40B4-BE49-F238E27FC236}">
                <a16:creationId xmlns:a16="http://schemas.microsoft.com/office/drawing/2014/main" id="{2628A21A-F5D6-4732-AFE7-C3D7967AE661}"/>
              </a:ext>
            </a:extLst>
          </p:cNvPr>
          <p:cNvSpPr txBox="1"/>
          <p:nvPr/>
        </p:nvSpPr>
        <p:spPr>
          <a:xfrm>
            <a:off x="7953218" y="1810461"/>
            <a:ext cx="1807155" cy="2431435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Secondary </a:t>
            </a:r>
            <a:r>
              <a:rPr lang="en-US" sz="1600" b="1" u="sng" dirty="0" err="1"/>
              <a:t>Proph</a:t>
            </a:r>
            <a:endParaRPr lang="en-US" sz="1600" b="1" u="sng" dirty="0"/>
          </a:p>
          <a:p>
            <a:pPr algn="ctr"/>
            <a:r>
              <a:rPr lang="en-US" sz="1200" dirty="0"/>
              <a:t>Acute (2d-2mo)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Anticoagulation?</a:t>
            </a:r>
          </a:p>
          <a:p>
            <a:pPr algn="ctr"/>
            <a:r>
              <a:rPr lang="en-US" sz="1200" dirty="0"/>
              <a:t>and/or</a:t>
            </a:r>
          </a:p>
          <a:p>
            <a:pPr algn="ctr"/>
            <a:r>
              <a:rPr lang="en-US" sz="1400" b="1" dirty="0"/>
              <a:t>Anti-platelet?</a:t>
            </a:r>
          </a:p>
          <a:p>
            <a:pPr algn="ctr"/>
            <a:r>
              <a:rPr lang="en-US" sz="1400" dirty="0"/>
              <a:t>(single vs. dual)</a:t>
            </a:r>
          </a:p>
          <a:p>
            <a:pPr algn="ctr"/>
            <a:r>
              <a:rPr lang="en-US" sz="1200" dirty="0"/>
              <a:t>plus</a:t>
            </a:r>
          </a:p>
          <a:p>
            <a:pPr algn="ctr"/>
            <a:r>
              <a:rPr lang="en-US" sz="1400" b="1" dirty="0"/>
              <a:t>Statin</a:t>
            </a:r>
          </a:p>
          <a:p>
            <a:pPr algn="ctr"/>
            <a:r>
              <a:rPr lang="en-US" sz="1200" dirty="0"/>
              <a:t>Plus</a:t>
            </a:r>
          </a:p>
          <a:p>
            <a:pPr algn="ctr"/>
            <a:r>
              <a:rPr lang="en-US" sz="1400" b="1" dirty="0"/>
              <a:t>BP Control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C1FC50-15E3-43A6-8BE6-496F81D03B9B}"/>
              </a:ext>
            </a:extLst>
          </p:cNvPr>
          <p:cNvSpPr/>
          <p:nvPr/>
        </p:nvSpPr>
        <p:spPr>
          <a:xfrm>
            <a:off x="2326861" y="3395511"/>
            <a:ext cx="5453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(85%)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90BBE4-D3BC-4CE4-A10C-C525D0F541AF}"/>
              </a:ext>
            </a:extLst>
          </p:cNvPr>
          <p:cNvSpPr/>
          <p:nvPr/>
        </p:nvSpPr>
        <p:spPr>
          <a:xfrm>
            <a:off x="1556608" y="2401567"/>
            <a:ext cx="5453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(15%)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E558337-F2C2-4AA9-8C44-57D2F293A1C0}"/>
              </a:ext>
            </a:extLst>
          </p:cNvPr>
          <p:cNvCxnSpPr>
            <a:cxnSpLocks/>
            <a:stCxn id="12" idx="3"/>
            <a:endCxn id="31" idx="1"/>
          </p:cNvCxnSpPr>
          <p:nvPr/>
        </p:nvCxnSpPr>
        <p:spPr>
          <a:xfrm>
            <a:off x="1692937" y="1541829"/>
            <a:ext cx="9287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B08BED7-1A8E-4F27-B8E0-49A179FCC92D}"/>
              </a:ext>
            </a:extLst>
          </p:cNvPr>
          <p:cNvSpPr txBox="1"/>
          <p:nvPr/>
        </p:nvSpPr>
        <p:spPr>
          <a:xfrm>
            <a:off x="1352264" y="1357163"/>
            <a:ext cx="3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7F6911-B021-401D-80E1-BDF899DC7F67}"/>
              </a:ext>
            </a:extLst>
          </p:cNvPr>
          <p:cNvSpPr txBox="1"/>
          <p:nvPr/>
        </p:nvSpPr>
        <p:spPr>
          <a:xfrm>
            <a:off x="4267218" y="1357163"/>
            <a:ext cx="3406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B9EC33-0F1A-49BA-BF8B-6D1728576CBF}"/>
              </a:ext>
            </a:extLst>
          </p:cNvPr>
          <p:cNvSpPr txBox="1"/>
          <p:nvPr/>
        </p:nvSpPr>
        <p:spPr>
          <a:xfrm>
            <a:off x="6438744" y="1357163"/>
            <a:ext cx="3406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1DFE23-3DA0-45B7-9692-A4BD5F06C22A}"/>
              </a:ext>
            </a:extLst>
          </p:cNvPr>
          <p:cNvSpPr txBox="1"/>
          <p:nvPr/>
        </p:nvSpPr>
        <p:spPr>
          <a:xfrm>
            <a:off x="8681840" y="1357163"/>
            <a:ext cx="3406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7E90A1-4495-4C30-BE26-230CF4A03C3D}"/>
              </a:ext>
            </a:extLst>
          </p:cNvPr>
          <p:cNvSpPr txBox="1"/>
          <p:nvPr/>
        </p:nvSpPr>
        <p:spPr>
          <a:xfrm>
            <a:off x="10980466" y="1357163"/>
            <a:ext cx="3406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21" name="Acute treatment">
            <a:hlinkClick r:id="rId5" action="ppaction://hlinksldjump"/>
            <a:extLst>
              <a:ext uri="{FF2B5EF4-FFF2-40B4-BE49-F238E27FC236}">
                <a16:creationId xmlns:a16="http://schemas.microsoft.com/office/drawing/2014/main" id="{45413BA4-A72B-404C-A490-46EBF38E23D9}"/>
              </a:ext>
            </a:extLst>
          </p:cNvPr>
          <p:cNvSpPr txBox="1"/>
          <p:nvPr/>
        </p:nvSpPr>
        <p:spPr>
          <a:xfrm>
            <a:off x="3533977" y="1798291"/>
            <a:ext cx="1810744" cy="27392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Acute Treatment</a:t>
            </a:r>
          </a:p>
          <a:p>
            <a:pPr algn="ctr"/>
            <a:r>
              <a:rPr lang="en-US" sz="1200" dirty="0"/>
              <a:t>Revascularize or </a:t>
            </a:r>
            <a:r>
              <a:rPr lang="en-US" sz="1200" dirty="0" err="1"/>
              <a:t>Reperfuse</a:t>
            </a:r>
            <a:r>
              <a:rPr lang="en-US" sz="1200" dirty="0"/>
              <a:t> without causing ICH</a:t>
            </a:r>
          </a:p>
          <a:p>
            <a:pPr algn="ctr"/>
            <a:endParaRPr lang="en-US" sz="1200" dirty="0"/>
          </a:p>
          <a:p>
            <a:pPr algn="ctr"/>
            <a:r>
              <a:rPr lang="en-US" sz="1600" b="1" dirty="0" err="1"/>
              <a:t>tPA</a:t>
            </a:r>
            <a:r>
              <a:rPr lang="en-US" sz="1600" b="1" dirty="0"/>
              <a:t>?</a:t>
            </a:r>
          </a:p>
          <a:p>
            <a:pPr algn="ctr"/>
            <a:r>
              <a:rPr lang="en-US" sz="1200" dirty="0"/>
              <a:t>and/or</a:t>
            </a:r>
          </a:p>
          <a:p>
            <a:pPr algn="ctr"/>
            <a:r>
              <a:rPr lang="en-US" sz="1400" b="1" dirty="0"/>
              <a:t>EVT?</a:t>
            </a:r>
          </a:p>
          <a:p>
            <a:pPr algn="ctr"/>
            <a:r>
              <a:rPr lang="en-US" sz="1200" dirty="0"/>
              <a:t>with which</a:t>
            </a:r>
          </a:p>
          <a:p>
            <a:pPr algn="ctr"/>
            <a:r>
              <a:rPr lang="en-US" sz="1600" b="1" dirty="0" err="1"/>
              <a:t>Antithrombotics</a:t>
            </a:r>
            <a:r>
              <a:rPr lang="en-US" sz="1600" b="1" dirty="0"/>
              <a:t>?</a:t>
            </a:r>
          </a:p>
          <a:p>
            <a:pPr algn="ctr"/>
            <a:r>
              <a:rPr lang="en-US" sz="1200" dirty="0"/>
              <a:t> and what</a:t>
            </a:r>
          </a:p>
          <a:p>
            <a:pPr algn="ctr"/>
            <a:r>
              <a:rPr lang="en-US" sz="1400" b="1" dirty="0"/>
              <a:t>BP target?</a:t>
            </a:r>
          </a:p>
          <a:p>
            <a:pPr algn="ctr"/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D635E7-115F-4F78-BB29-498140D9FD16}"/>
              </a:ext>
            </a:extLst>
          </p:cNvPr>
          <p:cNvSpPr txBox="1"/>
          <p:nvPr/>
        </p:nvSpPr>
        <p:spPr>
          <a:xfrm>
            <a:off x="1638925" y="401052"/>
            <a:ext cx="8914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5-step Approach to Evaluating and Managing Ischemic CVAs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6" name="Slide Zoom 35">
                <a:extLst>
                  <a:ext uri="{FF2B5EF4-FFF2-40B4-BE49-F238E27FC236}">
                    <a16:creationId xmlns:a16="http://schemas.microsoft.com/office/drawing/2014/main" id="{351692AD-91FD-4CCB-B77B-70C4D17367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1692954"/>
                  </p:ext>
                </p:extLst>
              </p:nvPr>
            </p:nvGraphicFramePr>
            <p:xfrm>
              <a:off x="3533976" y="5043546"/>
              <a:ext cx="1807156" cy="1016525"/>
            </p:xfrm>
            <a:graphic>
              <a:graphicData uri="http://schemas.microsoft.com/office/powerpoint/2016/slidezoom">
                <pslz:sldZm>
                  <pslz:sldZmObj sldId="261" cId="1186158274">
                    <pslz:zmPr id="{949827F5-886F-4FA9-9A01-E3F19181ED9A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07156" cy="1016525"/>
                        </a:xfrm>
                        <a:prstGeom prst="rect">
                          <a:avLst/>
                        </a:prstGeom>
                        <a:ln w="38100">
                          <a:solidFill>
                            <a:schemeClr val="accent6"/>
                          </a:soli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6" name="Slide Zoom 3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351692AD-91FD-4CCB-B77B-70C4D17367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3976" y="5043546"/>
                <a:ext cx="1807156" cy="1016525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9" name="Slide Zoom 38">
                <a:extLst>
                  <a:ext uri="{FF2B5EF4-FFF2-40B4-BE49-F238E27FC236}">
                    <a16:creationId xmlns:a16="http://schemas.microsoft.com/office/drawing/2014/main" id="{B2EF0A6B-F246-4FF2-8539-62521BA8B16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4682995"/>
                  </p:ext>
                </p:extLst>
              </p:nvPr>
            </p:nvGraphicFramePr>
            <p:xfrm>
              <a:off x="5692209" y="5043546"/>
              <a:ext cx="1833745" cy="1031482"/>
            </p:xfrm>
            <a:graphic>
              <a:graphicData uri="http://schemas.microsoft.com/office/powerpoint/2016/slidezoom">
                <pslz:sldZm>
                  <pslz:sldZmObj sldId="256" cId="4141288142">
                    <pslz:zmPr id="{C284E64B-8F7D-46AB-9D3C-8E914A922DD6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33745" cy="1031482"/>
                        </a:xfrm>
                        <a:prstGeom prst="rect">
                          <a:avLst/>
                        </a:prstGeom>
                        <a:ln w="38100">
                          <a:solidFill>
                            <a:schemeClr val="accent5"/>
                          </a:soli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9" name="Slide Zoom 38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2EF0A6B-F246-4FF2-8539-62521BA8B1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92209" y="5043546"/>
                <a:ext cx="1833745" cy="1031482"/>
              </a:xfrm>
              <a:prstGeom prst="rect">
                <a:avLst/>
              </a:prstGeom>
              <a:ln w="38100">
                <a:solidFill>
                  <a:schemeClr val="accent5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1" name="Slide Zoom 40">
                <a:extLst>
                  <a:ext uri="{FF2B5EF4-FFF2-40B4-BE49-F238E27FC236}">
                    <a16:creationId xmlns:a16="http://schemas.microsoft.com/office/drawing/2014/main" id="{95C1A81E-DB73-4A67-9E02-FF6D3AD736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0223391"/>
                  </p:ext>
                </p:extLst>
              </p:nvPr>
            </p:nvGraphicFramePr>
            <p:xfrm>
              <a:off x="9117642" y="5043546"/>
              <a:ext cx="1807156" cy="1031482"/>
            </p:xfrm>
            <a:graphic>
              <a:graphicData uri="http://schemas.microsoft.com/office/powerpoint/2016/slidezoom">
                <pslz:sldZm>
                  <pslz:sldZmObj sldId="262" cId="2634634732">
                    <pslz:zmPr id="{0DC87447-15EF-4B72-B47A-8BE6AB0C08A7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07156" cy="1031482"/>
                        </a:xfrm>
                        <a:prstGeom prst="rect">
                          <a:avLst/>
                        </a:prstGeom>
                        <a:ln w="38100">
                          <a:gradFill flip="none" rotWithShape="1">
                            <a:gsLst>
                              <a:gs pos="0">
                                <a:schemeClr val="accent4"/>
                              </a:gs>
                              <a:gs pos="100000">
                                <a:srgbClr val="7030A0"/>
                              </a:gs>
                            </a:gsLst>
                            <a:lin ang="0" scaled="1"/>
                            <a:tileRect/>
                          </a:gra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1" name="Slide Zoom 4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5C1A81E-DB73-4A67-9E02-FF6D3AD736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17642" y="5043546"/>
                <a:ext cx="1807156" cy="1031482"/>
              </a:xfrm>
              <a:prstGeom prst="rect">
                <a:avLst/>
              </a:prstGeom>
              <a:ln w="38100">
                <a:gradFill flip="none" rotWithShape="1">
                  <a:gsLst>
                    <a:gs pos="0">
                      <a:schemeClr val="accent4"/>
                    </a:gs>
                    <a:gs pos="100000">
                      <a:srgbClr val="7030A0"/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p:pic>
        <p:nvPicPr>
          <p:cNvPr id="32" name="Graphic 31" descr="Cursor">
            <a:extLst>
              <a:ext uri="{FF2B5EF4-FFF2-40B4-BE49-F238E27FC236}">
                <a16:creationId xmlns:a16="http://schemas.microsoft.com/office/drawing/2014/main" id="{D7DE41DA-47C6-4654-90C8-FF1597F0F2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H="1" flipV="1">
            <a:off x="5233716" y="5955334"/>
            <a:ext cx="355858" cy="355858"/>
          </a:xfrm>
          <a:prstGeom prst="rect">
            <a:avLst/>
          </a:prstGeom>
        </p:spPr>
      </p:pic>
      <p:pic>
        <p:nvPicPr>
          <p:cNvPr id="33" name="Graphic 32" descr="Cursor">
            <a:extLst>
              <a:ext uri="{FF2B5EF4-FFF2-40B4-BE49-F238E27FC236}">
                <a16:creationId xmlns:a16="http://schemas.microsoft.com/office/drawing/2014/main" id="{A0435A6C-8100-4307-BCA9-125F6EE6A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H="1" flipV="1">
            <a:off x="7445553" y="5955335"/>
            <a:ext cx="355858" cy="355858"/>
          </a:xfrm>
          <a:prstGeom prst="rect">
            <a:avLst/>
          </a:prstGeom>
        </p:spPr>
      </p:pic>
      <p:pic>
        <p:nvPicPr>
          <p:cNvPr id="34" name="Graphic 33" descr="Cursor">
            <a:extLst>
              <a:ext uri="{FF2B5EF4-FFF2-40B4-BE49-F238E27FC236}">
                <a16:creationId xmlns:a16="http://schemas.microsoft.com/office/drawing/2014/main" id="{B67D033B-2E1B-4EA8-8DED-7AA5AE0B76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H="1" flipV="1">
            <a:off x="10802537" y="5984806"/>
            <a:ext cx="355858" cy="3558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D8B870-3BDB-4D35-9C8C-516CD8BFE35A}"/>
              </a:ext>
            </a:extLst>
          </p:cNvPr>
          <p:cNvSpPr txBox="1"/>
          <p:nvPr/>
        </p:nvSpPr>
        <p:spPr>
          <a:xfrm>
            <a:off x="4005623" y="6172692"/>
            <a:ext cx="863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10-15 min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A9E73-9790-4C7E-8DA8-0353E643CAAC}"/>
              </a:ext>
            </a:extLst>
          </p:cNvPr>
          <p:cNvSpPr txBox="1"/>
          <p:nvPr/>
        </p:nvSpPr>
        <p:spPr>
          <a:xfrm>
            <a:off x="6177150" y="6162735"/>
            <a:ext cx="863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15-20 min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CA288F-953F-4263-9726-05050F8A2C76}"/>
              </a:ext>
            </a:extLst>
          </p:cNvPr>
          <p:cNvSpPr txBox="1"/>
          <p:nvPr/>
        </p:nvSpPr>
        <p:spPr>
          <a:xfrm>
            <a:off x="9593160" y="6162734"/>
            <a:ext cx="863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10-15 min</a:t>
            </a:r>
          </a:p>
        </p:txBody>
      </p:sp>
    </p:spTree>
    <p:extLst>
      <p:ext uri="{BB962C8B-B14F-4D97-AF65-F5344CB8AC3E}">
        <p14:creationId xmlns:p14="http://schemas.microsoft.com/office/powerpoint/2010/main" val="1137900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AA3DC52F-EDE3-482F-9D63-C0C333DD8583}"/>
              </a:ext>
            </a:extLst>
          </p:cNvPr>
          <p:cNvSpPr txBox="1"/>
          <p:nvPr/>
        </p:nvSpPr>
        <p:spPr>
          <a:xfrm>
            <a:off x="4438960" y="145042"/>
            <a:ext cx="3769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Acute Ischemic CVA Management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07C61461-AD34-4C67-9BD0-DDC258B47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5" y="737635"/>
            <a:ext cx="1653922" cy="420256"/>
          </a:xfrm>
          <a:prstGeom prst="rect">
            <a:avLst/>
          </a:prstGeom>
          <a:solidFill>
            <a:srgbClr val="FFFFFF"/>
          </a:solidFill>
          <a:ln w="28575">
            <a:solidFill>
              <a:srgbClr val="C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Acute Focal Deficit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(No hemorrhage on HCT)</a:t>
            </a: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547B72-0FE1-41E2-AE11-22F0E36CAB0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188896" y="1157891"/>
            <a:ext cx="3111770" cy="12436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6">
            <a:extLst>
              <a:ext uri="{FF2B5EF4-FFF2-40B4-BE49-F238E27FC236}">
                <a16:creationId xmlns:a16="http://schemas.microsoft.com/office/drawing/2014/main" id="{CC5E014F-19C3-4998-9172-86706290A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152" y="2401548"/>
            <a:ext cx="895488" cy="353886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6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TPA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E1C2B87D-04CD-4D23-B532-B273C8F48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962" y="2401566"/>
            <a:ext cx="1012144" cy="338406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CTA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0638BD4F-FC63-45B3-82B0-F9063B3AA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816" y="1452011"/>
            <a:ext cx="791919" cy="18730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LKW &lt; </a:t>
            </a: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419B4590-9A13-483F-9E0A-D404A9F34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6042" y="2442181"/>
            <a:ext cx="769190" cy="257175"/>
          </a:xfrm>
          <a:prstGeom prst="rect">
            <a:avLst/>
          </a:prstGeom>
          <a:solidFill>
            <a:srgbClr val="FFFFFF"/>
          </a:solidFill>
          <a:ln w="28575">
            <a:solidFill>
              <a:srgbClr val="C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LVO+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6CEA54-B567-45F9-B187-4FD0A367A54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636640" y="2570769"/>
            <a:ext cx="2169322" cy="77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36D306-5683-4868-97B0-3C9127DA51D5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flipH="1">
            <a:off x="6300666" y="3855757"/>
            <a:ext cx="11368" cy="1702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6">
            <a:extLst>
              <a:ext uri="{FF2B5EF4-FFF2-40B4-BE49-F238E27FC236}">
                <a16:creationId xmlns:a16="http://schemas.microsoft.com/office/drawing/2014/main" id="{C233498C-1E81-4235-81FD-754798B15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8236" y="2373935"/>
            <a:ext cx="863415" cy="409111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CT Perfusion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EVT button">
            <a:extLst>
              <a:ext uri="{FF2B5EF4-FFF2-40B4-BE49-F238E27FC236}">
                <a16:creationId xmlns:a16="http://schemas.microsoft.com/office/drawing/2014/main" id="{A494BDBF-4CA3-4D9B-88F8-11C5A5066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2200" y="4110428"/>
            <a:ext cx="895488" cy="38496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EVT?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4E7037-F5AC-44E8-B354-A9DE448ED55A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300666" y="1157891"/>
            <a:ext cx="11368" cy="1243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A815E4-EA85-4340-80ED-740C3EDE817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6818106" y="2570769"/>
            <a:ext cx="34793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E53013-94B3-49CB-80DD-AAB1F4859E6B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7935232" y="2570769"/>
            <a:ext cx="1353004" cy="77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727B24-9A3D-4692-BCBD-897DEED8D0D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9719944" y="2783046"/>
            <a:ext cx="0" cy="13273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6">
            <a:extLst>
              <a:ext uri="{FF2B5EF4-FFF2-40B4-BE49-F238E27FC236}">
                <a16:creationId xmlns:a16="http://schemas.microsoft.com/office/drawing/2014/main" id="{8E23CF8C-C89E-4B3A-82A2-3602BFDD0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439" y="3598582"/>
            <a:ext cx="769190" cy="25717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LVO-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139BB9-5140-46C7-8B61-359BB8BC90C8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>
            <a:off x="6312034" y="2739972"/>
            <a:ext cx="0" cy="8586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6">
            <a:extLst>
              <a:ext uri="{FF2B5EF4-FFF2-40B4-BE49-F238E27FC236}">
                <a16:creationId xmlns:a16="http://schemas.microsoft.com/office/drawing/2014/main" id="{0E55F087-7ADF-4E77-8566-43FBD0B0E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7814" y="2469967"/>
            <a:ext cx="677960" cy="195111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LKW &gt; 6hr</a:t>
            </a: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CA776F16-FE61-44DD-923F-65B15B846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012" y="5558225"/>
            <a:ext cx="3175308" cy="1168990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6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tubes and lines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DVT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proph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(SCDs &lt;24h if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tPA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Dysphagia screen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PT/OT/SLP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Intensive statin (if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athero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prior to D/C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Low bleed risk">
            <a:extLst>
              <a:ext uri="{FF2B5EF4-FFF2-40B4-BE49-F238E27FC236}">
                <a16:creationId xmlns:a16="http://schemas.microsoft.com/office/drawing/2014/main" id="{AD826914-4E3E-4A58-89EE-A0DBD64CD97E}"/>
              </a:ext>
            </a:extLst>
          </p:cNvPr>
          <p:cNvSpPr/>
          <p:nvPr/>
        </p:nvSpPr>
        <p:spPr>
          <a:xfrm>
            <a:off x="3618312" y="1842372"/>
            <a:ext cx="77264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anchor="ctr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Low bleed risk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C56BC4-468B-48CE-B264-93CF9C6DC2BA}"/>
              </a:ext>
            </a:extLst>
          </p:cNvPr>
          <p:cNvSpPr/>
          <p:nvPr/>
        </p:nvSpPr>
        <p:spPr>
          <a:xfrm>
            <a:off x="4537553" y="1687386"/>
            <a:ext cx="237680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&amp;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29" name="Text Box 6">
            <a:extLst>
              <a:ext uri="{FF2B5EF4-FFF2-40B4-BE49-F238E27FC236}">
                <a16:creationId xmlns:a16="http://schemas.microsoft.com/office/drawing/2014/main" id="{BE6DE5BB-083C-4D00-90A1-8E1D014B4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400" y="1760205"/>
            <a:ext cx="1107812" cy="34714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6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Permissive HTN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&lt;220/120 x48hr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AE8D224D-0599-4288-B26C-AF264D97E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976" y="2413249"/>
            <a:ext cx="752650" cy="34714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6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BP goal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&lt;185/110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" name="LAMS" hidden="1">
            <a:extLst>
              <a:ext uri="{FF2B5EF4-FFF2-40B4-BE49-F238E27FC236}">
                <a16:creationId xmlns:a16="http://schemas.microsoft.com/office/drawing/2014/main" id="{B3AA1069-3DC2-43A7-BC18-ABA0214E7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777204"/>
              </p:ext>
            </p:extLst>
          </p:nvPr>
        </p:nvGraphicFramePr>
        <p:xfrm>
          <a:off x="9411275" y="4296765"/>
          <a:ext cx="2425368" cy="2350203"/>
        </p:xfrm>
        <a:graphic>
          <a:graphicData uri="http://schemas.openxmlformats.org/drawingml/2006/table">
            <a:tbl>
              <a:tblPr firstCol="1" bandRow="1">
                <a:tableStyleId>{74C1A8A3-306A-4EB7-A6B1-4F7E0EB9C5D6}</a:tableStyleId>
              </a:tblPr>
              <a:tblGrid>
                <a:gridCol w="757530">
                  <a:extLst>
                    <a:ext uri="{9D8B030D-6E8A-4147-A177-3AD203B41FA5}">
                      <a16:colId xmlns:a16="http://schemas.microsoft.com/office/drawing/2014/main" val="1951443417"/>
                    </a:ext>
                  </a:extLst>
                </a:gridCol>
                <a:gridCol w="1323001">
                  <a:extLst>
                    <a:ext uri="{9D8B030D-6E8A-4147-A177-3AD203B41FA5}">
                      <a16:colId xmlns:a16="http://schemas.microsoft.com/office/drawing/2014/main" val="1903219246"/>
                    </a:ext>
                  </a:extLst>
                </a:gridCol>
                <a:gridCol w="344837">
                  <a:extLst>
                    <a:ext uri="{9D8B030D-6E8A-4147-A177-3AD203B41FA5}">
                      <a16:colId xmlns:a16="http://schemas.microsoft.com/office/drawing/2014/main" val="1088761867"/>
                    </a:ext>
                  </a:extLst>
                </a:gridCol>
              </a:tblGrid>
              <a:tr h="4714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Facial Droop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Present?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+1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873552"/>
                  </a:ext>
                </a:extLst>
              </a:tr>
              <a:tr h="247083"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Arm Drift</a:t>
                      </a:r>
                    </a:p>
                  </a:txBody>
                  <a:tcPr marT="9144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Absent</a:t>
                      </a:r>
                    </a:p>
                  </a:txBody>
                  <a:tcPr marT="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T="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94886889"/>
                  </a:ext>
                </a:extLst>
              </a:tr>
              <a:tr h="29998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Drifts Down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+1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365009812"/>
                  </a:ext>
                </a:extLst>
              </a:tr>
              <a:tr h="29998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Falls Rapidly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+2</a:t>
                      </a:r>
                    </a:p>
                  </a:txBody>
                  <a:tcPr marT="9144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627266"/>
                  </a:ext>
                </a:extLst>
              </a:tr>
              <a:tr h="299987"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Grip Strength</a:t>
                      </a:r>
                    </a:p>
                  </a:txBody>
                  <a:tcPr marT="9144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Normal</a:t>
                      </a:r>
                    </a:p>
                  </a:txBody>
                  <a:tcPr marT="9144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T="9144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87179122"/>
                  </a:ext>
                </a:extLst>
              </a:tr>
              <a:tr h="29998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Weak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+1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1100104281"/>
                  </a:ext>
                </a:extLst>
              </a:tr>
              <a:tr h="29998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 grip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+2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709308839"/>
                  </a:ext>
                </a:extLst>
              </a:tr>
            </a:tbl>
          </a:graphicData>
        </a:graphic>
      </p:graphicFrame>
      <p:graphicFrame>
        <p:nvGraphicFramePr>
          <p:cNvPr id="38" name="Performance measures">
            <a:extLst>
              <a:ext uri="{FF2B5EF4-FFF2-40B4-BE49-F238E27FC236}">
                <a16:creationId xmlns:a16="http://schemas.microsoft.com/office/drawing/2014/main" id="{51A90721-C791-4E94-A9ED-DA599B181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547054"/>
              </p:ext>
            </p:extLst>
          </p:nvPr>
        </p:nvGraphicFramePr>
        <p:xfrm>
          <a:off x="8688459" y="737072"/>
          <a:ext cx="1434647" cy="103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34647">
                  <a:extLst>
                    <a:ext uri="{9D8B030D-6E8A-4147-A177-3AD203B41FA5}">
                      <a16:colId xmlns:a16="http://schemas.microsoft.com/office/drawing/2014/main" val="1903219246"/>
                    </a:ext>
                  </a:extLst>
                </a:gridCol>
              </a:tblGrid>
              <a:tr h="22519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CVA Performance Measures</a:t>
                      </a:r>
                      <a:endParaRPr lang="en-US" sz="1200" b="1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447352"/>
                  </a:ext>
                </a:extLst>
              </a:tr>
              <a:tr h="897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Door to CT &lt; </a:t>
                      </a: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576627"/>
                  </a:ext>
                </a:extLst>
              </a:tr>
              <a:tr h="7871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Door to CTA &lt; 40min</a:t>
                      </a: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1468"/>
                  </a:ext>
                </a:extLst>
              </a:tr>
              <a:tr h="1634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Door to </a:t>
                      </a:r>
                      <a:r>
                        <a:rPr lang="en-US" sz="1100" dirty="0" err="1"/>
                        <a:t>tPA</a:t>
                      </a:r>
                      <a:r>
                        <a:rPr lang="en-US" sz="1100"/>
                        <a:t> &lt;30min</a:t>
                      </a:r>
                      <a:endParaRPr lang="en-US" sz="11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367384"/>
                  </a:ext>
                </a:extLst>
              </a:tr>
              <a:tr h="1634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Door to groin &lt;90min</a:t>
                      </a: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64108"/>
                  </a:ext>
                </a:extLst>
              </a:tr>
            </a:tbl>
          </a:graphicData>
        </a:graphic>
      </p:graphicFrame>
      <p:grpSp>
        <p:nvGrpSpPr>
          <p:cNvPr id="39" name="AE risk">
            <a:extLst>
              <a:ext uri="{FF2B5EF4-FFF2-40B4-BE49-F238E27FC236}">
                <a16:creationId xmlns:a16="http://schemas.microsoft.com/office/drawing/2014/main" id="{DBE22B7B-A769-49FB-9C06-BC412DC52A97}"/>
              </a:ext>
            </a:extLst>
          </p:cNvPr>
          <p:cNvGrpSpPr/>
          <p:nvPr/>
        </p:nvGrpSpPr>
        <p:grpSpPr>
          <a:xfrm>
            <a:off x="1553820" y="480106"/>
            <a:ext cx="2457585" cy="1362266"/>
            <a:chOff x="4076328" y="1341967"/>
            <a:chExt cx="2457585" cy="1362266"/>
          </a:xfrm>
        </p:grpSpPr>
        <p:sp>
          <p:nvSpPr>
            <p:cNvPr id="40" name="Text Box 6">
              <a:extLst>
                <a:ext uri="{FF2B5EF4-FFF2-40B4-BE49-F238E27FC236}">
                  <a16:creationId xmlns:a16="http://schemas.microsoft.com/office/drawing/2014/main" id="{F1C43D3E-78B6-44B0-B128-72C186306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6328" y="1341967"/>
              <a:ext cx="1145369" cy="100026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 prior ICH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 surgery &lt;3mo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 active bleeding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 coagulopathy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BP &lt; 185/110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hlinkClick r:id="rId3"/>
                </a:rPr>
                <a:t>Link to Full List</a:t>
              </a:r>
              <a:endPara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38A0140-BCED-4A75-8F30-25D1EE6A472A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 flipH="1" flipV="1">
              <a:off x="5221697" y="1842098"/>
              <a:ext cx="1312216" cy="862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Antithrombotics button">
            <a:extLst>
              <a:ext uri="{FF2B5EF4-FFF2-40B4-BE49-F238E27FC236}">
                <a16:creationId xmlns:a16="http://schemas.microsoft.com/office/drawing/2014/main" id="{3317CE50-7A3C-4EC7-AC6A-13684A9E0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001" y="4580863"/>
            <a:ext cx="1897479" cy="338406"/>
          </a:xfrm>
          <a:prstGeom prst="roundRect">
            <a:avLst/>
          </a:prstGeom>
          <a:solidFill>
            <a:srgbClr val="FFFFFF"/>
          </a:solidFill>
          <a:ln w="38100">
            <a:solidFill>
              <a:schemeClr val="accent6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Antithrombotics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6DC712-EBF9-4597-ACA9-BAF006589D2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935232" y="2570769"/>
            <a:ext cx="1784712" cy="15396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Box 6">
            <a:extLst>
              <a:ext uri="{FF2B5EF4-FFF2-40B4-BE49-F238E27FC236}">
                <a16:creationId xmlns:a16="http://schemas.microsoft.com/office/drawing/2014/main" id="{288F04C8-BF3C-4061-A706-69A19FBF3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4441" y="2890195"/>
            <a:ext cx="677960" cy="195111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LKW &lt; 6hr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1877BA3-5592-4AE0-BF5D-3B62828F27EA}"/>
              </a:ext>
            </a:extLst>
          </p:cNvPr>
          <p:cNvCxnSpPr>
            <a:cxnSpLocks/>
          </p:cNvCxnSpPr>
          <p:nvPr/>
        </p:nvCxnSpPr>
        <p:spPr>
          <a:xfrm flipH="1">
            <a:off x="6312034" y="4302911"/>
            <a:ext cx="296016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86F1E1C-B644-4FCD-8262-96F81B160085}"/>
              </a:ext>
            </a:extLst>
          </p:cNvPr>
          <p:cNvSpPr/>
          <p:nvPr/>
        </p:nvSpPr>
        <p:spPr>
          <a:xfrm>
            <a:off x="8481342" y="3505534"/>
            <a:ext cx="928534" cy="184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anchor="ctr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ASPECTS ≥ 6?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32" name="Text Box 6">
            <a:extLst>
              <a:ext uri="{FF2B5EF4-FFF2-40B4-BE49-F238E27FC236}">
                <a16:creationId xmlns:a16="http://schemas.microsoft.com/office/drawing/2014/main" id="{37F3955D-0069-4D72-9937-8920DE8B7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1551" y="2974166"/>
            <a:ext cx="801555" cy="33888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Salvageable Brain?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40" name="Antithrombotics?">
            <a:extLst>
              <a:ext uri="{FF2B5EF4-FFF2-40B4-BE49-F238E27FC236}">
                <a16:creationId xmlns:a16="http://schemas.microsoft.com/office/drawing/2014/main" id="{FDB1A50F-D96B-4D4F-84D1-0D57F288F180}"/>
              </a:ext>
            </a:extLst>
          </p:cNvPr>
          <p:cNvGrpSpPr/>
          <p:nvPr/>
        </p:nvGrpSpPr>
        <p:grpSpPr>
          <a:xfrm>
            <a:off x="203457" y="2949662"/>
            <a:ext cx="5171544" cy="3587135"/>
            <a:chOff x="1741035" y="890183"/>
            <a:chExt cx="5116939" cy="3587135"/>
          </a:xfrm>
        </p:grpSpPr>
        <p:sp>
          <p:nvSpPr>
            <p:cNvPr id="141" name="Text Box 6">
              <a:extLst>
                <a:ext uri="{FF2B5EF4-FFF2-40B4-BE49-F238E27FC236}">
                  <a16:creationId xmlns:a16="http://schemas.microsoft.com/office/drawing/2014/main" id="{C1E8AC99-B31E-4940-B28B-76733B974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1035" y="890183"/>
              <a:ext cx="3868784" cy="358713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Decision is based on use of </a:t>
              </a:r>
              <a:r>
                <a:rPr kumimoji="0" lang="en-US" altLang="en-US" sz="1100" b="1" i="0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tPA</a:t>
              </a: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, etiology (</a:t>
              </a:r>
              <a:r>
                <a:rPr kumimoji="0" lang="en-US" altLang="en-US" sz="1100" b="1" i="0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athero</a:t>
              </a: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vs. embolic) and risk of subsequent event (ABC</a:t>
              </a:r>
              <a:r>
                <a:rPr lang="en-US" altLang="en-US" sz="11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</a:t>
              </a:r>
              <a:r>
                <a:rPr lang="en-US" altLang="en-US" sz="1100" b="1" baseline="30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0" lang="en-US" altLang="en-US" sz="11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1100" b="0" i="0" u="sng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s/p </a:t>
              </a:r>
              <a:r>
                <a:rPr kumimoji="0" lang="en-US" altLang="en-US" sz="1100" b="0" i="0" u="sng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tPA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nothing x24h, if no bleed on repeat HCT, then:</a:t>
              </a:r>
            </a:p>
            <a:p>
              <a:pPr marR="0" lvl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sng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Atherosclerotic:</a:t>
              </a:r>
            </a:p>
            <a:p>
              <a:pPr marL="171450" marR="0" lvl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If, NIHSS ≤3 (low risk of hemorrhagic conversion) or ABCD</a:t>
              </a:r>
              <a:r>
                <a:rPr lang="en-US" altLang="en-US" sz="1100" baseline="30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≥ 4 (high risk of subsequent CVA): 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Clopidogrel 300mg load then 75mg daily + Aspirin 325mg load and 81mg daily.  After 2-4 weeks, narrow to one, ramped up from home regimen (e.g. ASA-&gt;clopidogrel)</a:t>
              </a:r>
            </a:p>
            <a:p>
              <a:pPr marL="171450" marR="0" lvl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Otherwise, step up antiplatelet monotherapy from prior home regimen</a:t>
              </a:r>
            </a:p>
            <a:p>
              <a:pPr marL="171450" marR="0" lvl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R="0" lvl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1100" b="0" i="0" u="sng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Embolic plus anticoagulation indicated for secondary prevention</a:t>
              </a:r>
            </a:p>
            <a:p>
              <a:pPr marL="171450" marR="0" lvl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Anti-platelet monotherapy for 1-2 weeks (risk of hemorrhagic conversion), then initiate anticoagulation</a:t>
              </a: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R="0" lvl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00" u="sng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s/p EVT – deferring to interventionalist</a:t>
              </a:r>
            </a:p>
            <a:p>
              <a:pPr marL="171450" lvl="0" indent="-1714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Stent placement: DAPT with loading doses, daily lower doses ≥ 6mo, then monotherapy</a:t>
              </a:r>
            </a:p>
            <a:p>
              <a:pPr marR="0" lvl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184F6D13-07E5-487D-AA56-A6101E822EE2}"/>
                </a:ext>
              </a:extLst>
            </p:cNvPr>
            <p:cNvCxnSpPr>
              <a:cxnSpLocks/>
              <a:stCxn id="42" idx="1"/>
              <a:endCxn id="141" idx="3"/>
            </p:cNvCxnSpPr>
            <p:nvPr/>
          </p:nvCxnSpPr>
          <p:spPr>
            <a:xfrm flipH="1" flipV="1">
              <a:off x="5609819" y="2683751"/>
              <a:ext cx="1248155" cy="68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63" name="Graphic 162" descr="Cursor">
            <a:extLst>
              <a:ext uri="{FF2B5EF4-FFF2-40B4-BE49-F238E27FC236}">
                <a16:creationId xmlns:a16="http://schemas.microsoft.com/office/drawing/2014/main" id="{0791AF34-6D72-414A-9DC8-D022ABCC5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4190905" y="2052657"/>
            <a:ext cx="355858" cy="355858"/>
          </a:xfrm>
          <a:prstGeom prst="rect">
            <a:avLst/>
          </a:prstGeom>
        </p:spPr>
      </p:pic>
      <p:pic>
        <p:nvPicPr>
          <p:cNvPr id="164" name="Graphic 163" descr="Cursor">
            <a:extLst>
              <a:ext uri="{FF2B5EF4-FFF2-40B4-BE49-F238E27FC236}">
                <a16:creationId xmlns:a16="http://schemas.microsoft.com/office/drawing/2014/main" id="{1C671859-B8EA-4502-94C9-D27EB8559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7137791" y="4751783"/>
            <a:ext cx="355858" cy="355858"/>
          </a:xfrm>
          <a:prstGeom prst="rect">
            <a:avLst/>
          </a:prstGeom>
        </p:spPr>
      </p:pic>
      <p:sp>
        <p:nvSpPr>
          <p:cNvPr id="167" name="Rectangle: Rounded Corners 166">
            <a:hlinkClick r:id="rId6" action="ppaction://hlinksldjump"/>
            <a:extLst>
              <a:ext uri="{FF2B5EF4-FFF2-40B4-BE49-F238E27FC236}">
                <a16:creationId xmlns:a16="http://schemas.microsoft.com/office/drawing/2014/main" id="{7D1625BD-BEE1-442B-9ED9-15AB320621B6}"/>
              </a:ext>
            </a:extLst>
          </p:cNvPr>
          <p:cNvSpPr/>
          <p:nvPr/>
        </p:nvSpPr>
        <p:spPr>
          <a:xfrm>
            <a:off x="9321551" y="6290642"/>
            <a:ext cx="958387" cy="375053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Main Board</a:t>
            </a:r>
          </a:p>
        </p:txBody>
      </p:sp>
      <p:grpSp>
        <p:nvGrpSpPr>
          <p:cNvPr id="43" name="Antithrombotics?">
            <a:extLst>
              <a:ext uri="{FF2B5EF4-FFF2-40B4-BE49-F238E27FC236}">
                <a16:creationId xmlns:a16="http://schemas.microsoft.com/office/drawing/2014/main" id="{2C4E5BFE-EF69-48BE-AEC2-130AEFEF1F57}"/>
              </a:ext>
            </a:extLst>
          </p:cNvPr>
          <p:cNvGrpSpPr/>
          <p:nvPr/>
        </p:nvGrpSpPr>
        <p:grpSpPr>
          <a:xfrm>
            <a:off x="10151649" y="3096517"/>
            <a:ext cx="1941955" cy="2412786"/>
            <a:chOff x="11433406" y="884638"/>
            <a:chExt cx="1921452" cy="2412786"/>
          </a:xfrm>
        </p:grpSpPr>
        <p:sp>
          <p:nvSpPr>
            <p:cNvPr id="44" name="Text Box 6">
              <a:extLst>
                <a:ext uri="{FF2B5EF4-FFF2-40B4-BE49-F238E27FC236}">
                  <a16:creationId xmlns:a16="http://schemas.microsoft.com/office/drawing/2014/main" id="{97BE9873-ADF7-4536-92C6-B6EF83901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69776" y="884638"/>
              <a:ext cx="1485082" cy="241278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11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Endovascular Therapy</a:t>
              </a:r>
            </a:p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Includes mechanical thrombectomy and stent placement. </a:t>
              </a:r>
            </a:p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Increasing evidence of benefits to EVT with large vessel occlusions, especially if there is evidence of salvageable brain either by a high ASPECTs or CT perfusion study.</a:t>
              </a: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3C21058-3740-4E77-9B4B-53251B16206B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11433406" y="2091031"/>
              <a:ext cx="4363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7" name="Graphic 46" descr="Cursor">
            <a:extLst>
              <a:ext uri="{FF2B5EF4-FFF2-40B4-BE49-F238E27FC236}">
                <a16:creationId xmlns:a16="http://schemas.microsoft.com/office/drawing/2014/main" id="{5BF34A92-12DE-465F-B8CE-1570FB68D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10024323" y="4341515"/>
            <a:ext cx="355858" cy="35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5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thrombophilia text">
            <a:extLst>
              <a:ext uri="{FF2B5EF4-FFF2-40B4-BE49-F238E27FC236}">
                <a16:creationId xmlns:a16="http://schemas.microsoft.com/office/drawing/2014/main" id="{C7CEE30F-9595-455B-8E99-8C0EE8A58387}"/>
              </a:ext>
            </a:extLst>
          </p:cNvPr>
          <p:cNvGrpSpPr/>
          <p:nvPr/>
        </p:nvGrpSpPr>
        <p:grpSpPr>
          <a:xfrm>
            <a:off x="9778185" y="4294570"/>
            <a:ext cx="2297723" cy="1224285"/>
            <a:chOff x="11750" y="2806269"/>
            <a:chExt cx="2297723" cy="976304"/>
          </a:xfrm>
        </p:grpSpPr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3D7A1140-DD2F-4522-BFB0-2DCD217292A9}"/>
                </a:ext>
              </a:extLst>
            </p:cNvPr>
            <p:cNvCxnSpPr>
              <a:cxnSpLocks/>
              <a:endCxn id="120" idx="0"/>
            </p:cNvCxnSpPr>
            <p:nvPr/>
          </p:nvCxnSpPr>
          <p:spPr>
            <a:xfrm>
              <a:off x="1160612" y="2806269"/>
              <a:ext cx="0" cy="349084"/>
            </a:xfrm>
            <a:prstGeom prst="rect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3860E97D-78EA-4263-B3EC-07B30CEE1C5C}"/>
                </a:ext>
              </a:extLst>
            </p:cNvPr>
            <p:cNvSpPr/>
            <p:nvPr/>
          </p:nvSpPr>
          <p:spPr>
            <a:xfrm>
              <a:off x="11750" y="3155351"/>
              <a:ext cx="2297723" cy="62722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Testing should be guided by hematology or neurology after acute thrombotic state has resolved and only if there is mod-high pre-test probability</a:t>
              </a:r>
            </a:p>
          </p:txBody>
        </p:sp>
      </p:grpSp>
      <p:cxnSp>
        <p:nvCxnSpPr>
          <p:cNvPr id="149" name="black blood arrow">
            <a:extLst>
              <a:ext uri="{FF2B5EF4-FFF2-40B4-BE49-F238E27FC236}">
                <a16:creationId xmlns:a16="http://schemas.microsoft.com/office/drawing/2014/main" id="{17C7B0B8-2CBF-4236-AA6B-4084F72F3868}"/>
              </a:ext>
            </a:extLst>
          </p:cNvPr>
          <p:cNvCxnSpPr>
            <a:cxnSpLocks/>
            <a:stCxn id="72" idx="1"/>
            <a:endCxn id="147" idx="11"/>
          </p:cNvCxnSpPr>
          <p:nvPr/>
        </p:nvCxnSpPr>
        <p:spPr>
          <a:xfrm flipH="1" flipV="1">
            <a:off x="5847180" y="1590952"/>
            <a:ext cx="4741401" cy="26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59" name="Anatomy">
            <a:extLst>
              <a:ext uri="{FF2B5EF4-FFF2-40B4-BE49-F238E27FC236}">
                <a16:creationId xmlns:a16="http://schemas.microsoft.com/office/drawing/2014/main" id="{9DF67EF0-57EF-475B-8E2E-18D0685F5E21}"/>
              </a:ext>
            </a:extLst>
          </p:cNvPr>
          <p:cNvGrpSpPr/>
          <p:nvPr/>
        </p:nvGrpSpPr>
        <p:grpSpPr>
          <a:xfrm>
            <a:off x="4631770" y="536289"/>
            <a:ext cx="3300629" cy="6288606"/>
            <a:chOff x="5010672" y="172207"/>
            <a:chExt cx="3447749" cy="656890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1189A1C-9EA0-4068-A8E1-6DA9278B6DBB}"/>
                </a:ext>
              </a:extLst>
            </p:cNvPr>
            <p:cNvSpPr/>
            <p:nvPr/>
          </p:nvSpPr>
          <p:spPr>
            <a:xfrm>
              <a:off x="5892446" y="3013331"/>
              <a:ext cx="979694" cy="1954594"/>
            </a:xfrm>
            <a:custGeom>
              <a:avLst/>
              <a:gdLst>
                <a:gd name="connsiteX0" fmla="*/ 979694 w 979694"/>
                <a:gd name="connsiteY0" fmla="*/ 1954594 h 1954594"/>
                <a:gd name="connsiteX1" fmla="*/ 65294 w 979694"/>
                <a:gd name="connsiteY1" fmla="*/ 700829 h 1954594"/>
                <a:gd name="connsiteX2" fmla="*/ 112428 w 979694"/>
                <a:gd name="connsiteY2" fmla="*/ 69233 h 1954594"/>
                <a:gd name="connsiteX3" fmla="*/ 423513 w 979694"/>
                <a:gd name="connsiteY3" fmla="*/ 59806 h 1954594"/>
                <a:gd name="connsiteX4" fmla="*/ 555488 w 979694"/>
                <a:gd name="connsiteY4" fmla="*/ 455732 h 1954594"/>
                <a:gd name="connsiteX5" fmla="*/ 555488 w 979694"/>
                <a:gd name="connsiteY5" fmla="*/ 474586 h 1954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9694" h="1954594">
                  <a:moveTo>
                    <a:pt x="979694" y="1954594"/>
                  </a:moveTo>
                  <a:cubicBezTo>
                    <a:pt x="594766" y="1484825"/>
                    <a:pt x="209838" y="1015056"/>
                    <a:pt x="65294" y="700829"/>
                  </a:cubicBezTo>
                  <a:cubicBezTo>
                    <a:pt x="-79250" y="386602"/>
                    <a:pt x="52725" y="176070"/>
                    <a:pt x="112428" y="69233"/>
                  </a:cubicBezTo>
                  <a:cubicBezTo>
                    <a:pt x="172131" y="-37604"/>
                    <a:pt x="349670" y="-4610"/>
                    <a:pt x="423513" y="59806"/>
                  </a:cubicBezTo>
                  <a:cubicBezTo>
                    <a:pt x="497356" y="124222"/>
                    <a:pt x="555488" y="455732"/>
                    <a:pt x="555488" y="455732"/>
                  </a:cubicBezTo>
                  <a:cubicBezTo>
                    <a:pt x="577484" y="524862"/>
                    <a:pt x="566486" y="499724"/>
                    <a:pt x="555488" y="474586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51C5D7F-5072-4ADE-BFFE-42D871F06838}"/>
                </a:ext>
              </a:extLst>
            </p:cNvPr>
            <p:cNvGrpSpPr/>
            <p:nvPr/>
          </p:nvGrpSpPr>
          <p:grpSpPr>
            <a:xfrm>
              <a:off x="5010672" y="172207"/>
              <a:ext cx="2170656" cy="2238956"/>
              <a:chOff x="3386337" y="589085"/>
              <a:chExt cx="2951618" cy="304449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F4ACE2C-D37E-4FBE-83A1-B2E50918267A}"/>
                  </a:ext>
                </a:extLst>
              </p:cNvPr>
              <p:cNvGrpSpPr/>
              <p:nvPr/>
            </p:nvGrpSpPr>
            <p:grpSpPr>
              <a:xfrm>
                <a:off x="3386337" y="589085"/>
                <a:ext cx="2951618" cy="3044491"/>
                <a:chOff x="3386337" y="589085"/>
                <a:chExt cx="2951618" cy="3044491"/>
              </a:xfrm>
            </p:grpSpPr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02E39313-01FC-4DD3-A097-1BD07507E67A}"/>
                    </a:ext>
                  </a:extLst>
                </p:cNvPr>
                <p:cNvSpPr/>
                <p:nvPr/>
              </p:nvSpPr>
              <p:spPr>
                <a:xfrm>
                  <a:off x="3386337" y="589085"/>
                  <a:ext cx="1475809" cy="3044491"/>
                </a:xfrm>
                <a:custGeom>
                  <a:avLst/>
                  <a:gdLst>
                    <a:gd name="connsiteX0" fmla="*/ 1475809 w 1475809"/>
                    <a:gd name="connsiteY0" fmla="*/ 0 h 3044491"/>
                    <a:gd name="connsiteX1" fmla="*/ 781217 w 1475809"/>
                    <a:gd name="connsiteY1" fmla="*/ 87923 h 3044491"/>
                    <a:gd name="connsiteX2" fmla="*/ 482278 w 1475809"/>
                    <a:gd name="connsiteY2" fmla="*/ 290146 h 3044491"/>
                    <a:gd name="connsiteX3" fmla="*/ 236094 w 1475809"/>
                    <a:gd name="connsiteY3" fmla="*/ 685800 h 3044491"/>
                    <a:gd name="connsiteX4" fmla="*/ 16286 w 1475809"/>
                    <a:gd name="connsiteY4" fmla="*/ 1081453 h 3044491"/>
                    <a:gd name="connsiteX5" fmla="*/ 25078 w 1475809"/>
                    <a:gd name="connsiteY5" fmla="*/ 1380392 h 3044491"/>
                    <a:gd name="connsiteX6" fmla="*/ 95417 w 1475809"/>
                    <a:gd name="connsiteY6" fmla="*/ 1468315 h 3044491"/>
                    <a:gd name="connsiteX7" fmla="*/ 60248 w 1475809"/>
                    <a:gd name="connsiteY7" fmla="*/ 1696915 h 3044491"/>
                    <a:gd name="connsiteX8" fmla="*/ 121794 w 1475809"/>
                    <a:gd name="connsiteY8" fmla="*/ 1943100 h 3044491"/>
                    <a:gd name="connsiteX9" fmla="*/ 174548 w 1475809"/>
                    <a:gd name="connsiteY9" fmla="*/ 2162907 h 3044491"/>
                    <a:gd name="connsiteX10" fmla="*/ 244886 w 1475809"/>
                    <a:gd name="connsiteY10" fmla="*/ 2286000 h 3044491"/>
                    <a:gd name="connsiteX11" fmla="*/ 385563 w 1475809"/>
                    <a:gd name="connsiteY11" fmla="*/ 2479430 h 3044491"/>
                    <a:gd name="connsiteX12" fmla="*/ 622955 w 1475809"/>
                    <a:gd name="connsiteY12" fmla="*/ 2681653 h 3044491"/>
                    <a:gd name="connsiteX13" fmla="*/ 746048 w 1475809"/>
                    <a:gd name="connsiteY13" fmla="*/ 2901461 h 3044491"/>
                    <a:gd name="connsiteX14" fmla="*/ 1027401 w 1475809"/>
                    <a:gd name="connsiteY14" fmla="*/ 2945423 h 3044491"/>
                    <a:gd name="connsiteX15" fmla="*/ 1194455 w 1475809"/>
                    <a:gd name="connsiteY15" fmla="*/ 2989384 h 3044491"/>
                    <a:gd name="connsiteX16" fmla="*/ 1352717 w 1475809"/>
                    <a:gd name="connsiteY16" fmla="*/ 3042138 h 3044491"/>
                    <a:gd name="connsiteX17" fmla="*/ 1396678 w 1475809"/>
                    <a:gd name="connsiteY17" fmla="*/ 3033346 h 3044491"/>
                    <a:gd name="connsiteX18" fmla="*/ 1414263 w 1475809"/>
                    <a:gd name="connsiteY18" fmla="*/ 3015761 h 3044491"/>
                    <a:gd name="connsiteX19" fmla="*/ 1414263 w 1475809"/>
                    <a:gd name="connsiteY19" fmla="*/ 3015761 h 3044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75809" h="3044491">
                      <a:moveTo>
                        <a:pt x="1475809" y="0"/>
                      </a:moveTo>
                      <a:cubicBezTo>
                        <a:pt x="1211307" y="19782"/>
                        <a:pt x="946806" y="39565"/>
                        <a:pt x="781217" y="87923"/>
                      </a:cubicBezTo>
                      <a:cubicBezTo>
                        <a:pt x="615628" y="136281"/>
                        <a:pt x="573132" y="190500"/>
                        <a:pt x="482278" y="290146"/>
                      </a:cubicBezTo>
                      <a:cubicBezTo>
                        <a:pt x="391424" y="389792"/>
                        <a:pt x="313759" y="553916"/>
                        <a:pt x="236094" y="685800"/>
                      </a:cubicBezTo>
                      <a:cubicBezTo>
                        <a:pt x="158429" y="817684"/>
                        <a:pt x="51455" y="965688"/>
                        <a:pt x="16286" y="1081453"/>
                      </a:cubicBezTo>
                      <a:cubicBezTo>
                        <a:pt x="-18883" y="1197218"/>
                        <a:pt x="11890" y="1315915"/>
                        <a:pt x="25078" y="1380392"/>
                      </a:cubicBezTo>
                      <a:cubicBezTo>
                        <a:pt x="38266" y="1444869"/>
                        <a:pt x="89555" y="1415561"/>
                        <a:pt x="95417" y="1468315"/>
                      </a:cubicBezTo>
                      <a:cubicBezTo>
                        <a:pt x="101279" y="1521069"/>
                        <a:pt x="55852" y="1617784"/>
                        <a:pt x="60248" y="1696915"/>
                      </a:cubicBezTo>
                      <a:cubicBezTo>
                        <a:pt x="64644" y="1776046"/>
                        <a:pt x="102744" y="1865435"/>
                        <a:pt x="121794" y="1943100"/>
                      </a:cubicBezTo>
                      <a:cubicBezTo>
                        <a:pt x="140844" y="2020765"/>
                        <a:pt x="154033" y="2105757"/>
                        <a:pt x="174548" y="2162907"/>
                      </a:cubicBezTo>
                      <a:cubicBezTo>
                        <a:pt x="195063" y="2220057"/>
                        <a:pt x="209717" y="2233246"/>
                        <a:pt x="244886" y="2286000"/>
                      </a:cubicBezTo>
                      <a:cubicBezTo>
                        <a:pt x="280055" y="2338754"/>
                        <a:pt x="322552" y="2413488"/>
                        <a:pt x="385563" y="2479430"/>
                      </a:cubicBezTo>
                      <a:cubicBezTo>
                        <a:pt x="448574" y="2545372"/>
                        <a:pt x="562874" y="2611315"/>
                        <a:pt x="622955" y="2681653"/>
                      </a:cubicBezTo>
                      <a:cubicBezTo>
                        <a:pt x="683036" y="2751992"/>
                        <a:pt x="678640" y="2857499"/>
                        <a:pt x="746048" y="2901461"/>
                      </a:cubicBezTo>
                      <a:cubicBezTo>
                        <a:pt x="813456" y="2945423"/>
                        <a:pt x="952666" y="2930769"/>
                        <a:pt x="1027401" y="2945423"/>
                      </a:cubicBezTo>
                      <a:cubicBezTo>
                        <a:pt x="1102135" y="2960077"/>
                        <a:pt x="1140236" y="2973265"/>
                        <a:pt x="1194455" y="2989384"/>
                      </a:cubicBezTo>
                      <a:cubicBezTo>
                        <a:pt x="1248674" y="3005503"/>
                        <a:pt x="1319013" y="3034811"/>
                        <a:pt x="1352717" y="3042138"/>
                      </a:cubicBezTo>
                      <a:cubicBezTo>
                        <a:pt x="1386421" y="3049465"/>
                        <a:pt x="1386420" y="3037742"/>
                        <a:pt x="1396678" y="3033346"/>
                      </a:cubicBezTo>
                      <a:cubicBezTo>
                        <a:pt x="1406936" y="3028950"/>
                        <a:pt x="1414263" y="3015761"/>
                        <a:pt x="1414263" y="3015761"/>
                      </a:cubicBezTo>
                      <a:lnTo>
                        <a:pt x="1414263" y="3015761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D4F6E266-2BE5-4B82-A039-456B09556C49}"/>
                    </a:ext>
                  </a:extLst>
                </p:cNvPr>
                <p:cNvSpPr/>
                <p:nvPr/>
              </p:nvSpPr>
              <p:spPr>
                <a:xfrm flipH="1">
                  <a:off x="4862146" y="589085"/>
                  <a:ext cx="1475809" cy="3044491"/>
                </a:xfrm>
                <a:custGeom>
                  <a:avLst/>
                  <a:gdLst>
                    <a:gd name="connsiteX0" fmla="*/ 1475809 w 1475809"/>
                    <a:gd name="connsiteY0" fmla="*/ 0 h 3044491"/>
                    <a:gd name="connsiteX1" fmla="*/ 781217 w 1475809"/>
                    <a:gd name="connsiteY1" fmla="*/ 87923 h 3044491"/>
                    <a:gd name="connsiteX2" fmla="*/ 482278 w 1475809"/>
                    <a:gd name="connsiteY2" fmla="*/ 290146 h 3044491"/>
                    <a:gd name="connsiteX3" fmla="*/ 236094 w 1475809"/>
                    <a:gd name="connsiteY3" fmla="*/ 685800 h 3044491"/>
                    <a:gd name="connsiteX4" fmla="*/ 16286 w 1475809"/>
                    <a:gd name="connsiteY4" fmla="*/ 1081453 h 3044491"/>
                    <a:gd name="connsiteX5" fmla="*/ 25078 w 1475809"/>
                    <a:gd name="connsiteY5" fmla="*/ 1380392 h 3044491"/>
                    <a:gd name="connsiteX6" fmla="*/ 95417 w 1475809"/>
                    <a:gd name="connsiteY6" fmla="*/ 1468315 h 3044491"/>
                    <a:gd name="connsiteX7" fmla="*/ 60248 w 1475809"/>
                    <a:gd name="connsiteY7" fmla="*/ 1696915 h 3044491"/>
                    <a:gd name="connsiteX8" fmla="*/ 121794 w 1475809"/>
                    <a:gd name="connsiteY8" fmla="*/ 1943100 h 3044491"/>
                    <a:gd name="connsiteX9" fmla="*/ 174548 w 1475809"/>
                    <a:gd name="connsiteY9" fmla="*/ 2162907 h 3044491"/>
                    <a:gd name="connsiteX10" fmla="*/ 244886 w 1475809"/>
                    <a:gd name="connsiteY10" fmla="*/ 2286000 h 3044491"/>
                    <a:gd name="connsiteX11" fmla="*/ 385563 w 1475809"/>
                    <a:gd name="connsiteY11" fmla="*/ 2479430 h 3044491"/>
                    <a:gd name="connsiteX12" fmla="*/ 622955 w 1475809"/>
                    <a:gd name="connsiteY12" fmla="*/ 2681653 h 3044491"/>
                    <a:gd name="connsiteX13" fmla="*/ 746048 w 1475809"/>
                    <a:gd name="connsiteY13" fmla="*/ 2901461 h 3044491"/>
                    <a:gd name="connsiteX14" fmla="*/ 1027401 w 1475809"/>
                    <a:gd name="connsiteY14" fmla="*/ 2945423 h 3044491"/>
                    <a:gd name="connsiteX15" fmla="*/ 1194455 w 1475809"/>
                    <a:gd name="connsiteY15" fmla="*/ 2989384 h 3044491"/>
                    <a:gd name="connsiteX16" fmla="*/ 1352717 w 1475809"/>
                    <a:gd name="connsiteY16" fmla="*/ 3042138 h 3044491"/>
                    <a:gd name="connsiteX17" fmla="*/ 1396678 w 1475809"/>
                    <a:gd name="connsiteY17" fmla="*/ 3033346 h 3044491"/>
                    <a:gd name="connsiteX18" fmla="*/ 1414263 w 1475809"/>
                    <a:gd name="connsiteY18" fmla="*/ 3015761 h 3044491"/>
                    <a:gd name="connsiteX19" fmla="*/ 1414263 w 1475809"/>
                    <a:gd name="connsiteY19" fmla="*/ 3015761 h 3044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75809" h="3044491">
                      <a:moveTo>
                        <a:pt x="1475809" y="0"/>
                      </a:moveTo>
                      <a:cubicBezTo>
                        <a:pt x="1211307" y="19782"/>
                        <a:pt x="946806" y="39565"/>
                        <a:pt x="781217" y="87923"/>
                      </a:cubicBezTo>
                      <a:cubicBezTo>
                        <a:pt x="615628" y="136281"/>
                        <a:pt x="573132" y="190500"/>
                        <a:pt x="482278" y="290146"/>
                      </a:cubicBezTo>
                      <a:cubicBezTo>
                        <a:pt x="391424" y="389792"/>
                        <a:pt x="313759" y="553916"/>
                        <a:pt x="236094" y="685800"/>
                      </a:cubicBezTo>
                      <a:cubicBezTo>
                        <a:pt x="158429" y="817684"/>
                        <a:pt x="51455" y="965688"/>
                        <a:pt x="16286" y="1081453"/>
                      </a:cubicBezTo>
                      <a:cubicBezTo>
                        <a:pt x="-18883" y="1197218"/>
                        <a:pt x="11890" y="1315915"/>
                        <a:pt x="25078" y="1380392"/>
                      </a:cubicBezTo>
                      <a:cubicBezTo>
                        <a:pt x="38266" y="1444869"/>
                        <a:pt x="89555" y="1415561"/>
                        <a:pt x="95417" y="1468315"/>
                      </a:cubicBezTo>
                      <a:cubicBezTo>
                        <a:pt x="101279" y="1521069"/>
                        <a:pt x="55852" y="1617784"/>
                        <a:pt x="60248" y="1696915"/>
                      </a:cubicBezTo>
                      <a:cubicBezTo>
                        <a:pt x="64644" y="1776046"/>
                        <a:pt x="102744" y="1865435"/>
                        <a:pt x="121794" y="1943100"/>
                      </a:cubicBezTo>
                      <a:cubicBezTo>
                        <a:pt x="140844" y="2020765"/>
                        <a:pt x="154033" y="2105757"/>
                        <a:pt x="174548" y="2162907"/>
                      </a:cubicBezTo>
                      <a:cubicBezTo>
                        <a:pt x="195063" y="2220057"/>
                        <a:pt x="209717" y="2233246"/>
                        <a:pt x="244886" y="2286000"/>
                      </a:cubicBezTo>
                      <a:cubicBezTo>
                        <a:pt x="280055" y="2338754"/>
                        <a:pt x="322552" y="2413488"/>
                        <a:pt x="385563" y="2479430"/>
                      </a:cubicBezTo>
                      <a:cubicBezTo>
                        <a:pt x="448574" y="2545372"/>
                        <a:pt x="562874" y="2611315"/>
                        <a:pt x="622955" y="2681653"/>
                      </a:cubicBezTo>
                      <a:cubicBezTo>
                        <a:pt x="683036" y="2751992"/>
                        <a:pt x="678640" y="2857499"/>
                        <a:pt x="746048" y="2901461"/>
                      </a:cubicBezTo>
                      <a:cubicBezTo>
                        <a:pt x="813456" y="2945423"/>
                        <a:pt x="952666" y="2930769"/>
                        <a:pt x="1027401" y="2945423"/>
                      </a:cubicBezTo>
                      <a:cubicBezTo>
                        <a:pt x="1102135" y="2960077"/>
                        <a:pt x="1140236" y="2973265"/>
                        <a:pt x="1194455" y="2989384"/>
                      </a:cubicBezTo>
                      <a:cubicBezTo>
                        <a:pt x="1248674" y="3005503"/>
                        <a:pt x="1319013" y="3034811"/>
                        <a:pt x="1352717" y="3042138"/>
                      </a:cubicBezTo>
                      <a:cubicBezTo>
                        <a:pt x="1386421" y="3049465"/>
                        <a:pt x="1386420" y="3037742"/>
                        <a:pt x="1396678" y="3033346"/>
                      </a:cubicBezTo>
                      <a:cubicBezTo>
                        <a:pt x="1406936" y="3028950"/>
                        <a:pt x="1414263" y="3015761"/>
                        <a:pt x="1414263" y="3015761"/>
                      </a:cubicBezTo>
                      <a:lnTo>
                        <a:pt x="1414263" y="3015761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D7710A7-C8C9-4A68-AE62-8F74770D889D}"/>
                  </a:ext>
                </a:extLst>
              </p:cNvPr>
              <p:cNvSpPr/>
              <p:nvPr/>
            </p:nvSpPr>
            <p:spPr>
              <a:xfrm>
                <a:off x="4788816" y="593889"/>
                <a:ext cx="103951" cy="3016577"/>
              </a:xfrm>
              <a:custGeom>
                <a:avLst/>
                <a:gdLst>
                  <a:gd name="connsiteX0" fmla="*/ 0 w 103951"/>
                  <a:gd name="connsiteY0" fmla="*/ 3016577 h 3016577"/>
                  <a:gd name="connsiteX1" fmla="*/ 47135 w 103951"/>
                  <a:gd name="connsiteY1" fmla="*/ 2837468 h 3016577"/>
                  <a:gd name="connsiteX2" fmla="*/ 37708 w 103951"/>
                  <a:gd name="connsiteY2" fmla="*/ 2696066 h 3016577"/>
                  <a:gd name="connsiteX3" fmla="*/ 75415 w 103951"/>
                  <a:gd name="connsiteY3" fmla="*/ 2573517 h 3016577"/>
                  <a:gd name="connsiteX4" fmla="*/ 47135 w 103951"/>
                  <a:gd name="connsiteY4" fmla="*/ 2441542 h 3016577"/>
                  <a:gd name="connsiteX5" fmla="*/ 65988 w 103951"/>
                  <a:gd name="connsiteY5" fmla="*/ 2196445 h 3016577"/>
                  <a:gd name="connsiteX6" fmla="*/ 28281 w 103951"/>
                  <a:gd name="connsiteY6" fmla="*/ 2007909 h 3016577"/>
                  <a:gd name="connsiteX7" fmla="*/ 56561 w 103951"/>
                  <a:gd name="connsiteY7" fmla="*/ 1743958 h 3016577"/>
                  <a:gd name="connsiteX8" fmla="*/ 56561 w 103951"/>
                  <a:gd name="connsiteY8" fmla="*/ 1611983 h 3016577"/>
                  <a:gd name="connsiteX9" fmla="*/ 103695 w 103951"/>
                  <a:gd name="connsiteY9" fmla="*/ 1404593 h 3016577"/>
                  <a:gd name="connsiteX10" fmla="*/ 75415 w 103951"/>
                  <a:gd name="connsiteY10" fmla="*/ 1197204 h 3016577"/>
                  <a:gd name="connsiteX11" fmla="*/ 75415 w 103951"/>
                  <a:gd name="connsiteY11" fmla="*/ 933253 h 3016577"/>
                  <a:gd name="connsiteX12" fmla="*/ 37708 w 103951"/>
                  <a:gd name="connsiteY12" fmla="*/ 801278 h 3016577"/>
                  <a:gd name="connsiteX13" fmla="*/ 47135 w 103951"/>
                  <a:gd name="connsiteY13" fmla="*/ 584462 h 3016577"/>
                  <a:gd name="connsiteX14" fmla="*/ 65988 w 103951"/>
                  <a:gd name="connsiteY14" fmla="*/ 452486 h 3016577"/>
                  <a:gd name="connsiteX15" fmla="*/ 75415 w 103951"/>
                  <a:gd name="connsiteY15" fmla="*/ 301657 h 3016577"/>
                  <a:gd name="connsiteX16" fmla="*/ 28281 w 103951"/>
                  <a:gd name="connsiteY16" fmla="*/ 169682 h 3016577"/>
                  <a:gd name="connsiteX17" fmla="*/ 56561 w 103951"/>
                  <a:gd name="connsiteY17" fmla="*/ 47134 h 3016577"/>
                  <a:gd name="connsiteX18" fmla="*/ 18854 w 103951"/>
                  <a:gd name="connsiteY18" fmla="*/ 0 h 301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3951" h="3016577">
                    <a:moveTo>
                      <a:pt x="0" y="3016577"/>
                    </a:moveTo>
                    <a:cubicBezTo>
                      <a:pt x="20425" y="2953731"/>
                      <a:pt x="40850" y="2890886"/>
                      <a:pt x="47135" y="2837468"/>
                    </a:cubicBezTo>
                    <a:cubicBezTo>
                      <a:pt x="53420" y="2784050"/>
                      <a:pt x="32995" y="2740058"/>
                      <a:pt x="37708" y="2696066"/>
                    </a:cubicBezTo>
                    <a:cubicBezTo>
                      <a:pt x="42421" y="2652074"/>
                      <a:pt x="73844" y="2615938"/>
                      <a:pt x="75415" y="2573517"/>
                    </a:cubicBezTo>
                    <a:cubicBezTo>
                      <a:pt x="76986" y="2531096"/>
                      <a:pt x="48706" y="2504387"/>
                      <a:pt x="47135" y="2441542"/>
                    </a:cubicBezTo>
                    <a:cubicBezTo>
                      <a:pt x="45564" y="2378697"/>
                      <a:pt x="69130" y="2268717"/>
                      <a:pt x="65988" y="2196445"/>
                    </a:cubicBezTo>
                    <a:cubicBezTo>
                      <a:pt x="62846" y="2124173"/>
                      <a:pt x="29852" y="2083323"/>
                      <a:pt x="28281" y="2007909"/>
                    </a:cubicBezTo>
                    <a:cubicBezTo>
                      <a:pt x="26710" y="1932495"/>
                      <a:pt x="51848" y="1809946"/>
                      <a:pt x="56561" y="1743958"/>
                    </a:cubicBezTo>
                    <a:cubicBezTo>
                      <a:pt x="61274" y="1677970"/>
                      <a:pt x="48705" y="1668544"/>
                      <a:pt x="56561" y="1611983"/>
                    </a:cubicBezTo>
                    <a:cubicBezTo>
                      <a:pt x="64417" y="1555422"/>
                      <a:pt x="100553" y="1473723"/>
                      <a:pt x="103695" y="1404593"/>
                    </a:cubicBezTo>
                    <a:cubicBezTo>
                      <a:pt x="106837" y="1335463"/>
                      <a:pt x="80128" y="1275761"/>
                      <a:pt x="75415" y="1197204"/>
                    </a:cubicBezTo>
                    <a:cubicBezTo>
                      <a:pt x="70702" y="1118647"/>
                      <a:pt x="81699" y="999241"/>
                      <a:pt x="75415" y="933253"/>
                    </a:cubicBezTo>
                    <a:cubicBezTo>
                      <a:pt x="69131" y="867265"/>
                      <a:pt x="42421" y="859410"/>
                      <a:pt x="37708" y="801278"/>
                    </a:cubicBezTo>
                    <a:cubicBezTo>
                      <a:pt x="32995" y="743146"/>
                      <a:pt x="42422" y="642594"/>
                      <a:pt x="47135" y="584462"/>
                    </a:cubicBezTo>
                    <a:cubicBezTo>
                      <a:pt x="51848" y="526330"/>
                      <a:pt x="61275" y="499620"/>
                      <a:pt x="65988" y="452486"/>
                    </a:cubicBezTo>
                    <a:cubicBezTo>
                      <a:pt x="70701" y="405352"/>
                      <a:pt x="81700" y="348791"/>
                      <a:pt x="75415" y="301657"/>
                    </a:cubicBezTo>
                    <a:cubicBezTo>
                      <a:pt x="69131" y="254523"/>
                      <a:pt x="31423" y="212102"/>
                      <a:pt x="28281" y="169682"/>
                    </a:cubicBezTo>
                    <a:cubicBezTo>
                      <a:pt x="25139" y="127262"/>
                      <a:pt x="58132" y="75414"/>
                      <a:pt x="56561" y="47134"/>
                    </a:cubicBezTo>
                    <a:cubicBezTo>
                      <a:pt x="54990" y="18854"/>
                      <a:pt x="36922" y="9427"/>
                      <a:pt x="18854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7FF5211-1B9B-4723-BB6A-C1501667BD31}"/>
                  </a:ext>
                </a:extLst>
              </p:cNvPr>
              <p:cNvSpPr/>
              <p:nvPr/>
            </p:nvSpPr>
            <p:spPr>
              <a:xfrm flipH="1">
                <a:off x="4834377" y="593889"/>
                <a:ext cx="103951" cy="3016577"/>
              </a:xfrm>
              <a:custGeom>
                <a:avLst/>
                <a:gdLst>
                  <a:gd name="connsiteX0" fmla="*/ 0 w 103951"/>
                  <a:gd name="connsiteY0" fmla="*/ 3016577 h 3016577"/>
                  <a:gd name="connsiteX1" fmla="*/ 47135 w 103951"/>
                  <a:gd name="connsiteY1" fmla="*/ 2837468 h 3016577"/>
                  <a:gd name="connsiteX2" fmla="*/ 37708 w 103951"/>
                  <a:gd name="connsiteY2" fmla="*/ 2696066 h 3016577"/>
                  <a:gd name="connsiteX3" fmla="*/ 75415 w 103951"/>
                  <a:gd name="connsiteY3" fmla="*/ 2573517 h 3016577"/>
                  <a:gd name="connsiteX4" fmla="*/ 47135 w 103951"/>
                  <a:gd name="connsiteY4" fmla="*/ 2441542 h 3016577"/>
                  <a:gd name="connsiteX5" fmla="*/ 65988 w 103951"/>
                  <a:gd name="connsiteY5" fmla="*/ 2196445 h 3016577"/>
                  <a:gd name="connsiteX6" fmla="*/ 28281 w 103951"/>
                  <a:gd name="connsiteY6" fmla="*/ 2007909 h 3016577"/>
                  <a:gd name="connsiteX7" fmla="*/ 56561 w 103951"/>
                  <a:gd name="connsiteY7" fmla="*/ 1743958 h 3016577"/>
                  <a:gd name="connsiteX8" fmla="*/ 56561 w 103951"/>
                  <a:gd name="connsiteY8" fmla="*/ 1611983 h 3016577"/>
                  <a:gd name="connsiteX9" fmla="*/ 103695 w 103951"/>
                  <a:gd name="connsiteY9" fmla="*/ 1404593 h 3016577"/>
                  <a:gd name="connsiteX10" fmla="*/ 75415 w 103951"/>
                  <a:gd name="connsiteY10" fmla="*/ 1197204 h 3016577"/>
                  <a:gd name="connsiteX11" fmla="*/ 75415 w 103951"/>
                  <a:gd name="connsiteY11" fmla="*/ 933253 h 3016577"/>
                  <a:gd name="connsiteX12" fmla="*/ 37708 w 103951"/>
                  <a:gd name="connsiteY12" fmla="*/ 801278 h 3016577"/>
                  <a:gd name="connsiteX13" fmla="*/ 47135 w 103951"/>
                  <a:gd name="connsiteY13" fmla="*/ 584462 h 3016577"/>
                  <a:gd name="connsiteX14" fmla="*/ 65988 w 103951"/>
                  <a:gd name="connsiteY14" fmla="*/ 452486 h 3016577"/>
                  <a:gd name="connsiteX15" fmla="*/ 75415 w 103951"/>
                  <a:gd name="connsiteY15" fmla="*/ 301657 h 3016577"/>
                  <a:gd name="connsiteX16" fmla="*/ 28281 w 103951"/>
                  <a:gd name="connsiteY16" fmla="*/ 169682 h 3016577"/>
                  <a:gd name="connsiteX17" fmla="*/ 56561 w 103951"/>
                  <a:gd name="connsiteY17" fmla="*/ 47134 h 3016577"/>
                  <a:gd name="connsiteX18" fmla="*/ 18854 w 103951"/>
                  <a:gd name="connsiteY18" fmla="*/ 0 h 301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3951" h="3016577">
                    <a:moveTo>
                      <a:pt x="0" y="3016577"/>
                    </a:moveTo>
                    <a:cubicBezTo>
                      <a:pt x="20425" y="2953731"/>
                      <a:pt x="40850" y="2890886"/>
                      <a:pt x="47135" y="2837468"/>
                    </a:cubicBezTo>
                    <a:cubicBezTo>
                      <a:pt x="53420" y="2784050"/>
                      <a:pt x="32995" y="2740058"/>
                      <a:pt x="37708" y="2696066"/>
                    </a:cubicBezTo>
                    <a:cubicBezTo>
                      <a:pt x="42421" y="2652074"/>
                      <a:pt x="73844" y="2615938"/>
                      <a:pt x="75415" y="2573517"/>
                    </a:cubicBezTo>
                    <a:cubicBezTo>
                      <a:pt x="76986" y="2531096"/>
                      <a:pt x="48706" y="2504387"/>
                      <a:pt x="47135" y="2441542"/>
                    </a:cubicBezTo>
                    <a:cubicBezTo>
                      <a:pt x="45564" y="2378697"/>
                      <a:pt x="69130" y="2268717"/>
                      <a:pt x="65988" y="2196445"/>
                    </a:cubicBezTo>
                    <a:cubicBezTo>
                      <a:pt x="62846" y="2124173"/>
                      <a:pt x="29852" y="2083323"/>
                      <a:pt x="28281" y="2007909"/>
                    </a:cubicBezTo>
                    <a:cubicBezTo>
                      <a:pt x="26710" y="1932495"/>
                      <a:pt x="51848" y="1809946"/>
                      <a:pt x="56561" y="1743958"/>
                    </a:cubicBezTo>
                    <a:cubicBezTo>
                      <a:pt x="61274" y="1677970"/>
                      <a:pt x="48705" y="1668544"/>
                      <a:pt x="56561" y="1611983"/>
                    </a:cubicBezTo>
                    <a:cubicBezTo>
                      <a:pt x="64417" y="1555422"/>
                      <a:pt x="100553" y="1473723"/>
                      <a:pt x="103695" y="1404593"/>
                    </a:cubicBezTo>
                    <a:cubicBezTo>
                      <a:pt x="106837" y="1335463"/>
                      <a:pt x="80128" y="1275761"/>
                      <a:pt x="75415" y="1197204"/>
                    </a:cubicBezTo>
                    <a:cubicBezTo>
                      <a:pt x="70702" y="1118647"/>
                      <a:pt x="81699" y="999241"/>
                      <a:pt x="75415" y="933253"/>
                    </a:cubicBezTo>
                    <a:cubicBezTo>
                      <a:pt x="69131" y="867265"/>
                      <a:pt x="42421" y="859410"/>
                      <a:pt x="37708" y="801278"/>
                    </a:cubicBezTo>
                    <a:cubicBezTo>
                      <a:pt x="32995" y="743146"/>
                      <a:pt x="42422" y="642594"/>
                      <a:pt x="47135" y="584462"/>
                    </a:cubicBezTo>
                    <a:cubicBezTo>
                      <a:pt x="51848" y="526330"/>
                      <a:pt x="61275" y="499620"/>
                      <a:pt x="65988" y="452486"/>
                    </a:cubicBezTo>
                    <a:cubicBezTo>
                      <a:pt x="70701" y="405352"/>
                      <a:pt x="81700" y="348791"/>
                      <a:pt x="75415" y="301657"/>
                    </a:cubicBezTo>
                    <a:cubicBezTo>
                      <a:pt x="69131" y="254523"/>
                      <a:pt x="31423" y="212102"/>
                      <a:pt x="28281" y="169682"/>
                    </a:cubicBezTo>
                    <a:cubicBezTo>
                      <a:pt x="25139" y="127262"/>
                      <a:pt x="58132" y="75414"/>
                      <a:pt x="56561" y="47134"/>
                    </a:cubicBezTo>
                    <a:cubicBezTo>
                      <a:pt x="54990" y="18854"/>
                      <a:pt x="36922" y="9427"/>
                      <a:pt x="18854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82BA377-4188-4917-807D-5571EE8CC37F}"/>
                </a:ext>
              </a:extLst>
            </p:cNvPr>
            <p:cNvGrpSpPr/>
            <p:nvPr/>
          </p:nvGrpSpPr>
          <p:grpSpPr>
            <a:xfrm>
              <a:off x="5328912" y="401536"/>
              <a:ext cx="781813" cy="1926885"/>
              <a:chOff x="5328912" y="401536"/>
              <a:chExt cx="781813" cy="192688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82E8242-375D-420F-9BE9-473E05F9B12C}"/>
                  </a:ext>
                </a:extLst>
              </p:cNvPr>
              <p:cNvSpPr/>
              <p:nvPr/>
            </p:nvSpPr>
            <p:spPr>
              <a:xfrm>
                <a:off x="5966715" y="1564849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9E79C5F-A915-4D9A-AA32-9145CA251403}"/>
                  </a:ext>
                </a:extLst>
              </p:cNvPr>
              <p:cNvSpPr/>
              <p:nvPr/>
            </p:nvSpPr>
            <p:spPr>
              <a:xfrm rot="3163687">
                <a:off x="5681579" y="1295952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148F6C9-2C11-42F9-A977-9461862D8AB2}"/>
                  </a:ext>
                </a:extLst>
              </p:cNvPr>
              <p:cNvSpPr/>
              <p:nvPr/>
            </p:nvSpPr>
            <p:spPr>
              <a:xfrm rot="6743196">
                <a:off x="5677590" y="817237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56613C2-9E87-4E37-A7E8-6AAC7DCEB129}"/>
                  </a:ext>
                </a:extLst>
              </p:cNvPr>
              <p:cNvSpPr/>
              <p:nvPr/>
            </p:nvSpPr>
            <p:spPr>
              <a:xfrm rot="3520073">
                <a:off x="5663338" y="67110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214FCE-B45E-4165-9681-36A257F6D28D}"/>
                </a:ext>
              </a:extLst>
            </p:cNvPr>
            <p:cNvGrpSpPr/>
            <p:nvPr/>
          </p:nvGrpSpPr>
          <p:grpSpPr>
            <a:xfrm flipH="1">
              <a:off x="6094941" y="401536"/>
              <a:ext cx="781813" cy="1926885"/>
              <a:chOff x="5328912" y="401536"/>
              <a:chExt cx="781813" cy="1926885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CC6D3C2-B655-4E4F-ACB6-AF5BB1906BB5}"/>
                  </a:ext>
                </a:extLst>
              </p:cNvPr>
              <p:cNvSpPr/>
              <p:nvPr/>
            </p:nvSpPr>
            <p:spPr>
              <a:xfrm>
                <a:off x="5966715" y="1564849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F52B173-C8A6-431C-B27B-4D7900E56E34}"/>
                  </a:ext>
                </a:extLst>
              </p:cNvPr>
              <p:cNvSpPr/>
              <p:nvPr/>
            </p:nvSpPr>
            <p:spPr>
              <a:xfrm rot="3163687">
                <a:off x="5681579" y="1295952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5CDF560-6241-4B2F-80D5-10B9E0E8B0A7}"/>
                  </a:ext>
                </a:extLst>
              </p:cNvPr>
              <p:cNvSpPr/>
              <p:nvPr/>
            </p:nvSpPr>
            <p:spPr>
              <a:xfrm rot="6743196">
                <a:off x="5677590" y="817237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A4DEE07-927E-4837-9C69-52079526E5C3}"/>
                  </a:ext>
                </a:extLst>
              </p:cNvPr>
              <p:cNvSpPr/>
              <p:nvPr/>
            </p:nvSpPr>
            <p:spPr>
              <a:xfrm rot="3520073">
                <a:off x="5663338" y="67110"/>
                <a:ext cx="94720" cy="763572"/>
              </a:xfrm>
              <a:custGeom>
                <a:avLst/>
                <a:gdLst>
                  <a:gd name="connsiteX0" fmla="*/ 94720 w 94720"/>
                  <a:gd name="connsiteY0" fmla="*/ 0 h 763572"/>
                  <a:gd name="connsiteX1" fmla="*/ 452 w 94720"/>
                  <a:gd name="connsiteY1" fmla="*/ 339365 h 763572"/>
                  <a:gd name="connsiteX2" fmla="*/ 57013 w 94720"/>
                  <a:gd name="connsiteY2" fmla="*/ 612743 h 763572"/>
                  <a:gd name="connsiteX3" fmla="*/ 9879 w 94720"/>
                  <a:gd name="connsiteY3" fmla="*/ 763572 h 763572"/>
                  <a:gd name="connsiteX4" fmla="*/ 9879 w 94720"/>
                  <a:gd name="connsiteY4" fmla="*/ 763572 h 76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20" h="763572">
                    <a:moveTo>
                      <a:pt x="94720" y="0"/>
                    </a:moveTo>
                    <a:cubicBezTo>
                      <a:pt x="50728" y="118620"/>
                      <a:pt x="6736" y="237241"/>
                      <a:pt x="452" y="339365"/>
                    </a:cubicBezTo>
                    <a:cubicBezTo>
                      <a:pt x="-5833" y="441489"/>
                      <a:pt x="55442" y="542042"/>
                      <a:pt x="57013" y="612743"/>
                    </a:cubicBezTo>
                    <a:cubicBezTo>
                      <a:pt x="58584" y="683444"/>
                      <a:pt x="9879" y="763572"/>
                      <a:pt x="9879" y="763572"/>
                    </a:cubicBezTo>
                    <a:lnTo>
                      <a:pt x="9879" y="763572"/>
                    </a:ln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B467548-AAB2-4CDD-A3BA-4C5C1798E7EF}"/>
                </a:ext>
              </a:extLst>
            </p:cNvPr>
            <p:cNvGrpSpPr/>
            <p:nvPr/>
          </p:nvGrpSpPr>
          <p:grpSpPr>
            <a:xfrm>
              <a:off x="5392452" y="3518244"/>
              <a:ext cx="3065969" cy="3222872"/>
              <a:chOff x="5350867" y="3681702"/>
              <a:chExt cx="2329649" cy="2448870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6665A258-0164-4336-A477-71AF5A0BB3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0867" y="3681702"/>
                <a:ext cx="2329649" cy="2448870"/>
              </a:xfrm>
              <a:prstGeom prst="rect">
                <a:avLst/>
              </a:prstGeom>
            </p:spPr>
          </p:pic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B0F6122-7A5C-4B94-BC48-5B41C4EA846F}"/>
                  </a:ext>
                </a:extLst>
              </p:cNvPr>
              <p:cNvSpPr/>
              <p:nvPr/>
            </p:nvSpPr>
            <p:spPr>
              <a:xfrm>
                <a:off x="5581650" y="3833813"/>
                <a:ext cx="2052638" cy="2214728"/>
              </a:xfrm>
              <a:custGeom>
                <a:avLst/>
                <a:gdLst>
                  <a:gd name="connsiteX0" fmla="*/ 0 w 2052638"/>
                  <a:gd name="connsiteY0" fmla="*/ 0 h 2214728"/>
                  <a:gd name="connsiteX1" fmla="*/ 428625 w 2052638"/>
                  <a:gd name="connsiteY1" fmla="*/ 542925 h 2214728"/>
                  <a:gd name="connsiteX2" fmla="*/ 676275 w 2052638"/>
                  <a:gd name="connsiteY2" fmla="*/ 852487 h 2214728"/>
                  <a:gd name="connsiteX3" fmla="*/ 776288 w 2052638"/>
                  <a:gd name="connsiteY3" fmla="*/ 1257300 h 2214728"/>
                  <a:gd name="connsiteX4" fmla="*/ 919163 w 2052638"/>
                  <a:gd name="connsiteY4" fmla="*/ 1662112 h 2214728"/>
                  <a:gd name="connsiteX5" fmla="*/ 1395413 w 2052638"/>
                  <a:gd name="connsiteY5" fmla="*/ 2028825 h 2214728"/>
                  <a:gd name="connsiteX6" fmla="*/ 1838325 w 2052638"/>
                  <a:gd name="connsiteY6" fmla="*/ 2214562 h 2214728"/>
                  <a:gd name="connsiteX7" fmla="*/ 2052638 w 2052638"/>
                  <a:gd name="connsiteY7" fmla="*/ 2000250 h 221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52638" h="2214728">
                    <a:moveTo>
                      <a:pt x="0" y="0"/>
                    </a:moveTo>
                    <a:lnTo>
                      <a:pt x="428625" y="542925"/>
                    </a:lnTo>
                    <a:cubicBezTo>
                      <a:pt x="541337" y="685006"/>
                      <a:pt x="618331" y="733425"/>
                      <a:pt x="676275" y="852487"/>
                    </a:cubicBezTo>
                    <a:cubicBezTo>
                      <a:pt x="734219" y="971549"/>
                      <a:pt x="735807" y="1122363"/>
                      <a:pt x="776288" y="1257300"/>
                    </a:cubicBezTo>
                    <a:cubicBezTo>
                      <a:pt x="816769" y="1392237"/>
                      <a:pt x="815976" y="1533525"/>
                      <a:pt x="919163" y="1662112"/>
                    </a:cubicBezTo>
                    <a:cubicBezTo>
                      <a:pt x="1022350" y="1790699"/>
                      <a:pt x="1242219" y="1936750"/>
                      <a:pt x="1395413" y="2028825"/>
                    </a:cubicBezTo>
                    <a:cubicBezTo>
                      <a:pt x="1548607" y="2120900"/>
                      <a:pt x="1728788" y="2219324"/>
                      <a:pt x="1838325" y="2214562"/>
                    </a:cubicBezTo>
                    <a:cubicBezTo>
                      <a:pt x="1947862" y="2209800"/>
                      <a:pt x="2000250" y="2105025"/>
                      <a:pt x="2052638" y="2000250"/>
                    </a:cubicBezTo>
                  </a:path>
                </a:pathLst>
              </a:cu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F964880-65B2-46E6-8EDB-23027B239A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96354" y="4657725"/>
                <a:ext cx="104434" cy="47625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15527FE-7636-4201-BF0B-5B6FDC3129B8}"/>
                </a:ext>
              </a:extLst>
            </p:cNvPr>
            <p:cNvSpPr/>
            <p:nvPr/>
          </p:nvSpPr>
          <p:spPr>
            <a:xfrm>
              <a:off x="5723126" y="2843609"/>
              <a:ext cx="1035893" cy="2209158"/>
            </a:xfrm>
            <a:custGeom>
              <a:avLst/>
              <a:gdLst>
                <a:gd name="connsiteX0" fmla="*/ 1035893 w 1035893"/>
                <a:gd name="connsiteY0" fmla="*/ 2209158 h 2209158"/>
                <a:gd name="connsiteX1" fmla="*/ 404297 w 1035893"/>
                <a:gd name="connsiteY1" fmla="*/ 1398453 h 2209158"/>
                <a:gd name="connsiteX2" fmla="*/ 17798 w 1035893"/>
                <a:gd name="connsiteY2" fmla="*/ 757430 h 2209158"/>
                <a:gd name="connsiteX3" fmla="*/ 83785 w 1035893"/>
                <a:gd name="connsiteY3" fmla="*/ 304944 h 2209158"/>
                <a:gd name="connsiteX4" fmla="*/ 253468 w 1035893"/>
                <a:gd name="connsiteY4" fmla="*/ 50420 h 2209158"/>
                <a:gd name="connsiteX5" fmla="*/ 564552 w 1035893"/>
                <a:gd name="connsiteY5" fmla="*/ 22139 h 2209158"/>
                <a:gd name="connsiteX6" fmla="*/ 828503 w 1035893"/>
                <a:gd name="connsiteY6" fmla="*/ 304944 h 2209158"/>
                <a:gd name="connsiteX7" fmla="*/ 894490 w 1035893"/>
                <a:gd name="connsiteY7" fmla="*/ 729150 h 2209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5893" h="2209158">
                  <a:moveTo>
                    <a:pt x="1035893" y="2209158"/>
                  </a:moveTo>
                  <a:cubicBezTo>
                    <a:pt x="804936" y="1924783"/>
                    <a:pt x="573979" y="1640408"/>
                    <a:pt x="404297" y="1398453"/>
                  </a:cubicBezTo>
                  <a:cubicBezTo>
                    <a:pt x="234615" y="1156498"/>
                    <a:pt x="71217" y="939681"/>
                    <a:pt x="17798" y="757430"/>
                  </a:cubicBezTo>
                  <a:cubicBezTo>
                    <a:pt x="-35621" y="575179"/>
                    <a:pt x="44507" y="422779"/>
                    <a:pt x="83785" y="304944"/>
                  </a:cubicBezTo>
                  <a:cubicBezTo>
                    <a:pt x="123063" y="187109"/>
                    <a:pt x="173340" y="97554"/>
                    <a:pt x="253468" y="50420"/>
                  </a:cubicBezTo>
                  <a:cubicBezTo>
                    <a:pt x="333596" y="3286"/>
                    <a:pt x="468713" y="-20282"/>
                    <a:pt x="564552" y="22139"/>
                  </a:cubicBezTo>
                  <a:cubicBezTo>
                    <a:pt x="660391" y="64560"/>
                    <a:pt x="773513" y="187109"/>
                    <a:pt x="828503" y="304944"/>
                  </a:cubicBezTo>
                  <a:cubicBezTo>
                    <a:pt x="883493" y="422779"/>
                    <a:pt x="888991" y="575964"/>
                    <a:pt x="894490" y="72915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E08B7BE-B84B-4FD4-BE2B-A5FB7E05A143}"/>
                </a:ext>
              </a:extLst>
            </p:cNvPr>
            <p:cNvSpPr/>
            <p:nvPr/>
          </p:nvSpPr>
          <p:spPr>
            <a:xfrm>
              <a:off x="5863472" y="2356701"/>
              <a:ext cx="122549" cy="518474"/>
            </a:xfrm>
            <a:custGeom>
              <a:avLst/>
              <a:gdLst>
                <a:gd name="connsiteX0" fmla="*/ 122549 w 122549"/>
                <a:gd name="connsiteY0" fmla="*/ 518474 h 518474"/>
                <a:gd name="connsiteX1" fmla="*/ 37707 w 122549"/>
                <a:gd name="connsiteY1" fmla="*/ 245097 h 518474"/>
                <a:gd name="connsiteX2" fmla="*/ 0 w 122549"/>
                <a:gd name="connsiteY2" fmla="*/ 0 h 518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49" h="518474">
                  <a:moveTo>
                    <a:pt x="122549" y="518474"/>
                  </a:moveTo>
                  <a:cubicBezTo>
                    <a:pt x="90340" y="424991"/>
                    <a:pt x="58132" y="331509"/>
                    <a:pt x="37707" y="245097"/>
                  </a:cubicBezTo>
                  <a:cubicBezTo>
                    <a:pt x="17282" y="158685"/>
                    <a:pt x="8641" y="79342"/>
                    <a:pt x="0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01B2B2E-0CDC-474A-8C8B-A7447AB1B970}"/>
                </a:ext>
              </a:extLst>
            </p:cNvPr>
            <p:cNvSpPr/>
            <p:nvPr/>
          </p:nvSpPr>
          <p:spPr>
            <a:xfrm>
              <a:off x="5761538" y="2347274"/>
              <a:ext cx="158495" cy="593889"/>
            </a:xfrm>
            <a:custGeom>
              <a:avLst/>
              <a:gdLst>
                <a:gd name="connsiteX0" fmla="*/ 158495 w 158495"/>
                <a:gd name="connsiteY0" fmla="*/ 593889 h 593889"/>
                <a:gd name="connsiteX1" fmla="*/ 17093 w 158495"/>
                <a:gd name="connsiteY1" fmla="*/ 169683 h 593889"/>
                <a:gd name="connsiteX2" fmla="*/ 7666 w 158495"/>
                <a:gd name="connsiteY2" fmla="*/ 0 h 593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495" h="593889">
                  <a:moveTo>
                    <a:pt x="158495" y="593889"/>
                  </a:moveTo>
                  <a:cubicBezTo>
                    <a:pt x="100363" y="431276"/>
                    <a:pt x="42231" y="268664"/>
                    <a:pt x="17093" y="169683"/>
                  </a:cubicBezTo>
                  <a:cubicBezTo>
                    <a:pt x="-8045" y="70702"/>
                    <a:pt x="-190" y="35351"/>
                    <a:pt x="7666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A598DEB-882E-4865-8E83-F7F08458CE5D}"/>
                </a:ext>
              </a:extLst>
            </p:cNvPr>
            <p:cNvSpPr/>
            <p:nvPr/>
          </p:nvSpPr>
          <p:spPr>
            <a:xfrm>
              <a:off x="6278252" y="2356701"/>
              <a:ext cx="103694" cy="509047"/>
            </a:xfrm>
            <a:custGeom>
              <a:avLst/>
              <a:gdLst>
                <a:gd name="connsiteX0" fmla="*/ 0 w 103694"/>
                <a:gd name="connsiteY0" fmla="*/ 509047 h 509047"/>
                <a:gd name="connsiteX1" fmla="*/ 84841 w 103694"/>
                <a:gd name="connsiteY1" fmla="*/ 273377 h 509047"/>
                <a:gd name="connsiteX2" fmla="*/ 103694 w 103694"/>
                <a:gd name="connsiteY2" fmla="*/ 0 h 5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694" h="509047">
                  <a:moveTo>
                    <a:pt x="0" y="509047"/>
                  </a:moveTo>
                  <a:cubicBezTo>
                    <a:pt x="33779" y="433632"/>
                    <a:pt x="67559" y="358218"/>
                    <a:pt x="84841" y="273377"/>
                  </a:cubicBezTo>
                  <a:cubicBezTo>
                    <a:pt x="102123" y="188536"/>
                    <a:pt x="102908" y="94268"/>
                    <a:pt x="103694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48450ED-037D-4F87-BAC4-07EC16DB926E}"/>
                </a:ext>
              </a:extLst>
            </p:cNvPr>
            <p:cNvSpPr/>
            <p:nvPr/>
          </p:nvSpPr>
          <p:spPr>
            <a:xfrm>
              <a:off x="6372520" y="2337847"/>
              <a:ext cx="113121" cy="575035"/>
            </a:xfrm>
            <a:custGeom>
              <a:avLst/>
              <a:gdLst>
                <a:gd name="connsiteX0" fmla="*/ 0 w 113121"/>
                <a:gd name="connsiteY0" fmla="*/ 575035 h 575035"/>
                <a:gd name="connsiteX1" fmla="*/ 84841 w 113121"/>
                <a:gd name="connsiteY1" fmla="*/ 311085 h 575035"/>
                <a:gd name="connsiteX2" fmla="*/ 113121 w 113121"/>
                <a:gd name="connsiteY2" fmla="*/ 0 h 57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121" h="575035">
                  <a:moveTo>
                    <a:pt x="0" y="575035"/>
                  </a:moveTo>
                  <a:cubicBezTo>
                    <a:pt x="32994" y="490979"/>
                    <a:pt x="65988" y="406924"/>
                    <a:pt x="84841" y="311085"/>
                  </a:cubicBezTo>
                  <a:cubicBezTo>
                    <a:pt x="103694" y="215246"/>
                    <a:pt x="108407" y="107623"/>
                    <a:pt x="113121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C60B813-A499-4D45-A4D2-9B16579221D4}"/>
                </a:ext>
              </a:extLst>
            </p:cNvPr>
            <p:cNvSpPr/>
            <p:nvPr/>
          </p:nvSpPr>
          <p:spPr>
            <a:xfrm>
              <a:off x="6743700" y="4953000"/>
              <a:ext cx="29419" cy="171450"/>
            </a:xfrm>
            <a:custGeom>
              <a:avLst/>
              <a:gdLst>
                <a:gd name="connsiteX0" fmla="*/ 19050 w 29419"/>
                <a:gd name="connsiteY0" fmla="*/ 0 h 171450"/>
                <a:gd name="connsiteX1" fmla="*/ 28575 w 29419"/>
                <a:gd name="connsiteY1" fmla="*/ 76200 h 171450"/>
                <a:gd name="connsiteX2" fmla="*/ 0 w 29419"/>
                <a:gd name="connsiteY2" fmla="*/ 171450 h 171450"/>
                <a:gd name="connsiteX3" fmla="*/ 0 w 29419"/>
                <a:gd name="connsiteY3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19" h="171450">
                  <a:moveTo>
                    <a:pt x="19050" y="0"/>
                  </a:moveTo>
                  <a:cubicBezTo>
                    <a:pt x="25400" y="23812"/>
                    <a:pt x="31750" y="47625"/>
                    <a:pt x="28575" y="76200"/>
                  </a:cubicBezTo>
                  <a:cubicBezTo>
                    <a:pt x="25400" y="104775"/>
                    <a:pt x="0" y="171450"/>
                    <a:pt x="0" y="171450"/>
                  </a:cubicBezTo>
                  <a:lnTo>
                    <a:pt x="0" y="171450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91491F3-753B-4BF8-9394-3C904ABA7B03}"/>
                </a:ext>
              </a:extLst>
            </p:cNvPr>
            <p:cNvSpPr/>
            <p:nvPr/>
          </p:nvSpPr>
          <p:spPr>
            <a:xfrm rot="17746677" flipH="1">
              <a:off x="6829544" y="4884777"/>
              <a:ext cx="29419" cy="171450"/>
            </a:xfrm>
            <a:custGeom>
              <a:avLst/>
              <a:gdLst>
                <a:gd name="connsiteX0" fmla="*/ 19050 w 29419"/>
                <a:gd name="connsiteY0" fmla="*/ 0 h 171450"/>
                <a:gd name="connsiteX1" fmla="*/ 28575 w 29419"/>
                <a:gd name="connsiteY1" fmla="*/ 76200 h 171450"/>
                <a:gd name="connsiteX2" fmla="*/ 0 w 29419"/>
                <a:gd name="connsiteY2" fmla="*/ 171450 h 171450"/>
                <a:gd name="connsiteX3" fmla="*/ 0 w 29419"/>
                <a:gd name="connsiteY3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19" h="171450">
                  <a:moveTo>
                    <a:pt x="19050" y="0"/>
                  </a:moveTo>
                  <a:cubicBezTo>
                    <a:pt x="25400" y="23812"/>
                    <a:pt x="31750" y="47625"/>
                    <a:pt x="28575" y="76200"/>
                  </a:cubicBezTo>
                  <a:cubicBezTo>
                    <a:pt x="25400" y="104775"/>
                    <a:pt x="0" y="171450"/>
                    <a:pt x="0" y="171450"/>
                  </a:cubicBezTo>
                  <a:lnTo>
                    <a:pt x="0" y="171450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itle - sub-type">
            <a:extLst>
              <a:ext uri="{FF2B5EF4-FFF2-40B4-BE49-F238E27FC236}">
                <a16:creationId xmlns:a16="http://schemas.microsoft.com/office/drawing/2014/main" id="{5980B63C-E431-4906-ABB2-17C87F086DD6}"/>
              </a:ext>
            </a:extLst>
          </p:cNvPr>
          <p:cNvSpPr txBox="1"/>
          <p:nvPr/>
        </p:nvSpPr>
        <p:spPr>
          <a:xfrm>
            <a:off x="4079424" y="105015"/>
            <a:ext cx="403315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Determining Ischemic Sub-Type </a:t>
            </a:r>
          </a:p>
        </p:txBody>
      </p:sp>
      <p:sp>
        <p:nvSpPr>
          <p:cNvPr id="64" name="Day 3+">
            <a:extLst>
              <a:ext uri="{FF2B5EF4-FFF2-40B4-BE49-F238E27FC236}">
                <a16:creationId xmlns:a16="http://schemas.microsoft.com/office/drawing/2014/main" id="{C1557135-9C17-40E9-A4DA-E5B3462BA293}"/>
              </a:ext>
            </a:extLst>
          </p:cNvPr>
          <p:cNvSpPr txBox="1"/>
          <p:nvPr/>
        </p:nvSpPr>
        <p:spPr>
          <a:xfrm>
            <a:off x="8898037" y="67904"/>
            <a:ext cx="1689196" cy="40862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Day 3+</a:t>
            </a:r>
          </a:p>
        </p:txBody>
      </p:sp>
      <p:sp>
        <p:nvSpPr>
          <p:cNvPr id="63" name="Day 1">
            <a:extLst>
              <a:ext uri="{FF2B5EF4-FFF2-40B4-BE49-F238E27FC236}">
                <a16:creationId xmlns:a16="http://schemas.microsoft.com/office/drawing/2014/main" id="{3EFC6000-CF88-430E-BF90-57A8820A4493}"/>
              </a:ext>
            </a:extLst>
          </p:cNvPr>
          <p:cNvSpPr txBox="1"/>
          <p:nvPr/>
        </p:nvSpPr>
        <p:spPr>
          <a:xfrm>
            <a:off x="70963" y="66553"/>
            <a:ext cx="1689196" cy="40862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Day 1</a:t>
            </a:r>
          </a:p>
        </p:txBody>
      </p:sp>
      <p:sp>
        <p:nvSpPr>
          <p:cNvPr id="81" name="Day 2">
            <a:extLst>
              <a:ext uri="{FF2B5EF4-FFF2-40B4-BE49-F238E27FC236}">
                <a16:creationId xmlns:a16="http://schemas.microsoft.com/office/drawing/2014/main" id="{CD740C4A-ABEC-4D43-A050-F24DC84E7F3E}"/>
              </a:ext>
            </a:extLst>
          </p:cNvPr>
          <p:cNvSpPr txBox="1"/>
          <p:nvPr/>
        </p:nvSpPr>
        <p:spPr>
          <a:xfrm>
            <a:off x="1977777" y="63575"/>
            <a:ext cx="1689196" cy="40862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Day 2</a:t>
            </a:r>
          </a:p>
        </p:txBody>
      </p:sp>
      <p:grpSp>
        <p:nvGrpSpPr>
          <p:cNvPr id="39" name="Intracardiac thrombi">
            <a:extLst>
              <a:ext uri="{FF2B5EF4-FFF2-40B4-BE49-F238E27FC236}">
                <a16:creationId xmlns:a16="http://schemas.microsoft.com/office/drawing/2014/main" id="{68655F3E-9A48-45B5-930F-C56B297CF107}"/>
              </a:ext>
            </a:extLst>
          </p:cNvPr>
          <p:cNvGrpSpPr/>
          <p:nvPr/>
        </p:nvGrpSpPr>
        <p:grpSpPr>
          <a:xfrm>
            <a:off x="5539327" y="3881308"/>
            <a:ext cx="2336070" cy="2623231"/>
            <a:chOff x="5539327" y="3881308"/>
            <a:chExt cx="2336070" cy="2623231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77C503D-8588-493B-987A-0F931F3F3710}"/>
                </a:ext>
              </a:extLst>
            </p:cNvPr>
            <p:cNvSpPr/>
            <p:nvPr/>
          </p:nvSpPr>
          <p:spPr>
            <a:xfrm>
              <a:off x="7686861" y="6316003"/>
              <a:ext cx="188536" cy="18853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6A15997-6665-46F8-AFC0-EB9E0A365807}"/>
                </a:ext>
              </a:extLst>
            </p:cNvPr>
            <p:cNvGrpSpPr/>
            <p:nvPr/>
          </p:nvGrpSpPr>
          <p:grpSpPr>
            <a:xfrm rot="19616718">
              <a:off x="5539327" y="4458107"/>
              <a:ext cx="747655" cy="390283"/>
              <a:chOff x="6342" y="2560624"/>
              <a:chExt cx="572648" cy="369333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2AC6E29-AA46-47C6-A18F-D47788A91C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80" y="2560624"/>
                <a:ext cx="499772" cy="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3C900C6-3E99-46F1-A647-9DD684D8E7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80" y="2929957"/>
                <a:ext cx="499772" cy="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CC147A1-D060-485E-A58E-DDB33B36016B}"/>
                  </a:ext>
                </a:extLst>
              </p:cNvPr>
              <p:cNvSpPr txBox="1"/>
              <p:nvPr/>
            </p:nvSpPr>
            <p:spPr>
              <a:xfrm>
                <a:off x="6342" y="2570537"/>
                <a:ext cx="572648" cy="3495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Shunt</a:t>
                </a:r>
              </a:p>
            </p:txBody>
          </p:sp>
        </p:grp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A296FB8-B476-41D0-A685-F121E4DCB7E8}"/>
                </a:ext>
              </a:extLst>
            </p:cNvPr>
            <p:cNvSpPr/>
            <p:nvPr/>
          </p:nvSpPr>
          <p:spPr>
            <a:xfrm>
              <a:off x="6155823" y="3881308"/>
              <a:ext cx="188536" cy="18853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93948F9C-C15C-4D49-8390-7588A7F4C6A0}"/>
                </a:ext>
              </a:extLst>
            </p:cNvPr>
            <p:cNvSpPr/>
            <p:nvPr/>
          </p:nvSpPr>
          <p:spPr>
            <a:xfrm>
              <a:off x="6272215" y="5199600"/>
              <a:ext cx="79218" cy="792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TTE arrows">
            <a:extLst>
              <a:ext uri="{FF2B5EF4-FFF2-40B4-BE49-F238E27FC236}">
                <a16:creationId xmlns:a16="http://schemas.microsoft.com/office/drawing/2014/main" id="{83394A3E-1C5E-436A-B55D-9E77E7B40AEE}"/>
              </a:ext>
            </a:extLst>
          </p:cNvPr>
          <p:cNvGrpSpPr/>
          <p:nvPr/>
        </p:nvGrpSpPr>
        <p:grpSpPr>
          <a:xfrm>
            <a:off x="3394267" y="3968183"/>
            <a:ext cx="4230531" cy="2391537"/>
            <a:chOff x="3394267" y="3968183"/>
            <a:chExt cx="4230531" cy="2391537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D351A0D-6904-4D7A-825A-442B15F4319C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 flipV="1">
              <a:off x="3394267" y="4857148"/>
              <a:ext cx="2205564" cy="176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B22213FA-FF61-452D-9574-9EB0D6F00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4267" y="3968183"/>
              <a:ext cx="2769916" cy="10652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E7BDCF2-2AA8-4015-A2BE-BCD665FF932C}"/>
                </a:ext>
              </a:extLst>
            </p:cNvPr>
            <p:cNvCxnSpPr>
              <a:cxnSpLocks/>
            </p:cNvCxnSpPr>
            <p:nvPr/>
          </p:nvCxnSpPr>
          <p:spPr>
            <a:xfrm>
              <a:off x="3394267" y="5033475"/>
              <a:ext cx="4230531" cy="13262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32A58C38-A3FE-41DD-82C1-60A1B78F719F}"/>
                </a:ext>
              </a:extLst>
            </p:cNvPr>
            <p:cNvCxnSpPr>
              <a:cxnSpLocks/>
              <a:endCxn id="139" idx="1"/>
            </p:cNvCxnSpPr>
            <p:nvPr/>
          </p:nvCxnSpPr>
          <p:spPr>
            <a:xfrm>
              <a:off x="3394267" y="5033475"/>
              <a:ext cx="2923936" cy="1525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3" name="Atherosclerosis">
            <a:extLst>
              <a:ext uri="{FF2B5EF4-FFF2-40B4-BE49-F238E27FC236}">
                <a16:creationId xmlns:a16="http://schemas.microsoft.com/office/drawing/2014/main" id="{19E2B333-D1C9-48E3-B53A-9F3BBC1A282A}"/>
              </a:ext>
            </a:extLst>
          </p:cNvPr>
          <p:cNvGrpSpPr/>
          <p:nvPr/>
        </p:nvGrpSpPr>
        <p:grpSpPr>
          <a:xfrm>
            <a:off x="5354238" y="629562"/>
            <a:ext cx="284154" cy="2828516"/>
            <a:chOff x="5354238" y="629562"/>
            <a:chExt cx="284154" cy="2828516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1D0B4AE-C50B-4816-B83C-92DFD89609AF}"/>
                </a:ext>
              </a:extLst>
            </p:cNvPr>
            <p:cNvSpPr/>
            <p:nvPr/>
          </p:nvSpPr>
          <p:spPr>
            <a:xfrm rot="15052857">
              <a:off x="5347480" y="1490410"/>
              <a:ext cx="103536" cy="90019"/>
            </a:xfrm>
            <a:custGeom>
              <a:avLst/>
              <a:gdLst>
                <a:gd name="connsiteX0" fmla="*/ 169683 w 169683"/>
                <a:gd name="connsiteY0" fmla="*/ 9426 h 103695"/>
                <a:gd name="connsiteX1" fmla="*/ 47134 w 169683"/>
                <a:gd name="connsiteY1" fmla="*/ 0 h 103695"/>
                <a:gd name="connsiteX2" fmla="*/ 0 w 169683"/>
                <a:gd name="connsiteY2" fmla="*/ 75414 h 103695"/>
                <a:gd name="connsiteX3" fmla="*/ 9427 w 169683"/>
                <a:gd name="connsiteY3" fmla="*/ 103695 h 103695"/>
                <a:gd name="connsiteX4" fmla="*/ 169683 w 169683"/>
                <a:gd name="connsiteY4" fmla="*/ 9426 h 10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683" h="103695">
                  <a:moveTo>
                    <a:pt x="169683" y="9426"/>
                  </a:moveTo>
                  <a:lnTo>
                    <a:pt x="47134" y="0"/>
                  </a:lnTo>
                  <a:lnTo>
                    <a:pt x="0" y="75414"/>
                  </a:lnTo>
                  <a:lnTo>
                    <a:pt x="9427" y="103695"/>
                  </a:lnTo>
                  <a:lnTo>
                    <a:pt x="169683" y="94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4A857E6-881C-4EE2-8255-206587F30135}"/>
                </a:ext>
              </a:extLst>
            </p:cNvPr>
            <p:cNvSpPr/>
            <p:nvPr/>
          </p:nvSpPr>
          <p:spPr>
            <a:xfrm rot="17594671">
              <a:off x="5413276" y="2719314"/>
              <a:ext cx="103536" cy="90019"/>
            </a:xfrm>
            <a:custGeom>
              <a:avLst/>
              <a:gdLst>
                <a:gd name="connsiteX0" fmla="*/ 169683 w 169683"/>
                <a:gd name="connsiteY0" fmla="*/ 9426 h 103695"/>
                <a:gd name="connsiteX1" fmla="*/ 47134 w 169683"/>
                <a:gd name="connsiteY1" fmla="*/ 0 h 103695"/>
                <a:gd name="connsiteX2" fmla="*/ 0 w 169683"/>
                <a:gd name="connsiteY2" fmla="*/ 75414 h 103695"/>
                <a:gd name="connsiteX3" fmla="*/ 9427 w 169683"/>
                <a:gd name="connsiteY3" fmla="*/ 103695 h 103695"/>
                <a:gd name="connsiteX4" fmla="*/ 169683 w 169683"/>
                <a:gd name="connsiteY4" fmla="*/ 9426 h 10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683" h="103695">
                  <a:moveTo>
                    <a:pt x="169683" y="9426"/>
                  </a:moveTo>
                  <a:lnTo>
                    <a:pt x="47134" y="0"/>
                  </a:lnTo>
                  <a:lnTo>
                    <a:pt x="0" y="75414"/>
                  </a:lnTo>
                  <a:lnTo>
                    <a:pt x="9427" y="103695"/>
                  </a:lnTo>
                  <a:lnTo>
                    <a:pt x="169683" y="94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632EDC7A-A08A-4280-849D-52AFC36F918A}"/>
                </a:ext>
              </a:extLst>
            </p:cNvPr>
            <p:cNvSpPr/>
            <p:nvPr/>
          </p:nvSpPr>
          <p:spPr>
            <a:xfrm rot="908833">
              <a:off x="5367368" y="629562"/>
              <a:ext cx="103536" cy="90019"/>
            </a:xfrm>
            <a:custGeom>
              <a:avLst/>
              <a:gdLst>
                <a:gd name="connsiteX0" fmla="*/ 169683 w 169683"/>
                <a:gd name="connsiteY0" fmla="*/ 9426 h 103695"/>
                <a:gd name="connsiteX1" fmla="*/ 47134 w 169683"/>
                <a:gd name="connsiteY1" fmla="*/ 0 h 103695"/>
                <a:gd name="connsiteX2" fmla="*/ 0 w 169683"/>
                <a:gd name="connsiteY2" fmla="*/ 75414 h 103695"/>
                <a:gd name="connsiteX3" fmla="*/ 9427 w 169683"/>
                <a:gd name="connsiteY3" fmla="*/ 103695 h 103695"/>
                <a:gd name="connsiteX4" fmla="*/ 169683 w 169683"/>
                <a:gd name="connsiteY4" fmla="*/ 9426 h 10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683" h="103695">
                  <a:moveTo>
                    <a:pt x="169683" y="9426"/>
                  </a:moveTo>
                  <a:lnTo>
                    <a:pt x="47134" y="0"/>
                  </a:lnTo>
                  <a:lnTo>
                    <a:pt x="0" y="75414"/>
                  </a:lnTo>
                  <a:lnTo>
                    <a:pt x="9427" y="103695"/>
                  </a:lnTo>
                  <a:lnTo>
                    <a:pt x="169683" y="94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51CC56B-28CF-4BA6-8194-E04EDBAB7539}"/>
                </a:ext>
              </a:extLst>
            </p:cNvPr>
            <p:cNvSpPr/>
            <p:nvPr/>
          </p:nvSpPr>
          <p:spPr>
            <a:xfrm rot="20121367">
              <a:off x="5469549" y="3297302"/>
              <a:ext cx="168843" cy="160776"/>
            </a:xfrm>
            <a:custGeom>
              <a:avLst/>
              <a:gdLst>
                <a:gd name="connsiteX0" fmla="*/ 169683 w 169683"/>
                <a:gd name="connsiteY0" fmla="*/ 9426 h 103695"/>
                <a:gd name="connsiteX1" fmla="*/ 47134 w 169683"/>
                <a:gd name="connsiteY1" fmla="*/ 0 h 103695"/>
                <a:gd name="connsiteX2" fmla="*/ 0 w 169683"/>
                <a:gd name="connsiteY2" fmla="*/ 75414 h 103695"/>
                <a:gd name="connsiteX3" fmla="*/ 9427 w 169683"/>
                <a:gd name="connsiteY3" fmla="*/ 103695 h 103695"/>
                <a:gd name="connsiteX4" fmla="*/ 169683 w 169683"/>
                <a:gd name="connsiteY4" fmla="*/ 9426 h 10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683" h="103695">
                  <a:moveTo>
                    <a:pt x="169683" y="9426"/>
                  </a:moveTo>
                  <a:lnTo>
                    <a:pt x="47134" y="0"/>
                  </a:lnTo>
                  <a:lnTo>
                    <a:pt x="0" y="75414"/>
                  </a:lnTo>
                  <a:lnTo>
                    <a:pt x="9427" y="103695"/>
                  </a:lnTo>
                  <a:lnTo>
                    <a:pt x="169683" y="94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TCD clots">
            <a:extLst>
              <a:ext uri="{FF2B5EF4-FFF2-40B4-BE49-F238E27FC236}">
                <a16:creationId xmlns:a16="http://schemas.microsoft.com/office/drawing/2014/main" id="{DB1AD6FA-D4C8-4BB5-8B7E-0EC3E35DA289}"/>
              </a:ext>
            </a:extLst>
          </p:cNvPr>
          <p:cNvGrpSpPr/>
          <p:nvPr/>
        </p:nvGrpSpPr>
        <p:grpSpPr>
          <a:xfrm rot="1292962">
            <a:off x="7357564" y="6451762"/>
            <a:ext cx="340557" cy="208819"/>
            <a:chOff x="5603316" y="1154973"/>
            <a:chExt cx="340557" cy="208819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CE7CD15-71E6-4753-9D99-52EDBA7D49AD}"/>
                </a:ext>
              </a:extLst>
            </p:cNvPr>
            <p:cNvSpPr/>
            <p:nvPr/>
          </p:nvSpPr>
          <p:spPr>
            <a:xfrm>
              <a:off x="5603316" y="1154973"/>
              <a:ext cx="76447" cy="764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4AE17B5-F14A-4C29-BE15-36BCE23574CE}"/>
                </a:ext>
              </a:extLst>
            </p:cNvPr>
            <p:cNvSpPr/>
            <p:nvPr/>
          </p:nvSpPr>
          <p:spPr>
            <a:xfrm>
              <a:off x="5867426" y="1287345"/>
              <a:ext cx="76447" cy="764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898F1AD-6E52-4827-A44A-371CCA352F7D}"/>
                </a:ext>
              </a:extLst>
            </p:cNvPr>
            <p:cNvSpPr/>
            <p:nvPr/>
          </p:nvSpPr>
          <p:spPr>
            <a:xfrm>
              <a:off x="5719099" y="1250512"/>
              <a:ext cx="76447" cy="764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TCDs">
            <a:extLst>
              <a:ext uri="{FF2B5EF4-FFF2-40B4-BE49-F238E27FC236}">
                <a16:creationId xmlns:a16="http://schemas.microsoft.com/office/drawing/2014/main" id="{34D45B5D-02E4-4ECD-A511-763C6EE89FAD}"/>
              </a:ext>
            </a:extLst>
          </p:cNvPr>
          <p:cNvSpPr txBox="1"/>
          <p:nvPr/>
        </p:nvSpPr>
        <p:spPr>
          <a:xfrm>
            <a:off x="7983568" y="1145627"/>
            <a:ext cx="1694636" cy="71508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TCD emboli monitoring</a:t>
            </a:r>
          </a:p>
          <a:p>
            <a:pPr algn="ctr"/>
            <a:r>
              <a:rPr lang="en-US" sz="1200" dirty="0"/>
              <a:t>and/or </a:t>
            </a:r>
          </a:p>
          <a:p>
            <a:pPr algn="ctr"/>
            <a:r>
              <a:rPr lang="en-US" sz="1200" dirty="0"/>
              <a:t>TCD shunt study</a:t>
            </a:r>
          </a:p>
        </p:txBody>
      </p:sp>
      <p:cxnSp>
        <p:nvCxnSpPr>
          <p:cNvPr id="117" name="TCD arrow">
            <a:extLst>
              <a:ext uri="{FF2B5EF4-FFF2-40B4-BE49-F238E27FC236}">
                <a16:creationId xmlns:a16="http://schemas.microsoft.com/office/drawing/2014/main" id="{EE849909-6E89-4F71-90F9-65874F8CACD4}"/>
              </a:ext>
            </a:extLst>
          </p:cNvPr>
          <p:cNvCxnSpPr>
            <a:cxnSpLocks/>
            <a:stCxn id="70" idx="1"/>
            <a:endCxn id="147" idx="7"/>
          </p:cNvCxnSpPr>
          <p:nvPr/>
        </p:nvCxnSpPr>
        <p:spPr>
          <a:xfrm flipH="1" flipV="1">
            <a:off x="6009105" y="1495702"/>
            <a:ext cx="1974463" cy="7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28" name="bubbles">
            <a:extLst>
              <a:ext uri="{FF2B5EF4-FFF2-40B4-BE49-F238E27FC236}">
                <a16:creationId xmlns:a16="http://schemas.microsoft.com/office/drawing/2014/main" id="{59442D98-0A69-406F-8519-310A86BF812C}"/>
              </a:ext>
            </a:extLst>
          </p:cNvPr>
          <p:cNvGrpSpPr/>
          <p:nvPr/>
        </p:nvGrpSpPr>
        <p:grpSpPr>
          <a:xfrm>
            <a:off x="5107020" y="4608828"/>
            <a:ext cx="309830" cy="178092"/>
            <a:chOff x="5528443" y="4482051"/>
            <a:chExt cx="309830" cy="178092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32AEF68-62E8-4E89-8FA3-CDEF52387AE6}"/>
                </a:ext>
              </a:extLst>
            </p:cNvPr>
            <p:cNvSpPr/>
            <p:nvPr/>
          </p:nvSpPr>
          <p:spPr>
            <a:xfrm>
              <a:off x="5528443" y="4482051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BAD1C6A-6683-4E80-8BB5-5AC3DA8D9C23}"/>
                </a:ext>
              </a:extLst>
            </p:cNvPr>
            <p:cNvSpPr/>
            <p:nvPr/>
          </p:nvSpPr>
          <p:spPr>
            <a:xfrm>
              <a:off x="5792553" y="4614423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D2E5C87-AF84-4856-987D-E84A577D3372}"/>
                </a:ext>
              </a:extLst>
            </p:cNvPr>
            <p:cNvSpPr/>
            <p:nvPr/>
          </p:nvSpPr>
          <p:spPr>
            <a:xfrm flipH="1">
              <a:off x="5649223" y="4601716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B76C01E-CCBA-4F88-B2DE-653C28B1305B}"/>
                </a:ext>
              </a:extLst>
            </p:cNvPr>
            <p:cNvSpPr/>
            <p:nvPr/>
          </p:nvSpPr>
          <p:spPr>
            <a:xfrm>
              <a:off x="5672083" y="4525477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719CE7E-F777-4EBD-8843-07BD6E62C3B0}"/>
                </a:ext>
              </a:extLst>
            </p:cNvPr>
            <p:cNvSpPr/>
            <p:nvPr/>
          </p:nvSpPr>
          <p:spPr>
            <a:xfrm>
              <a:off x="5573273" y="4548337"/>
              <a:ext cx="45720" cy="457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2" name="LE Duplex">
            <a:extLst>
              <a:ext uri="{FF2B5EF4-FFF2-40B4-BE49-F238E27FC236}">
                <a16:creationId xmlns:a16="http://schemas.microsoft.com/office/drawing/2014/main" id="{B1AE1F43-7C04-478A-9BB5-0A830E3C82DB}"/>
              </a:ext>
            </a:extLst>
          </p:cNvPr>
          <p:cNvSpPr txBox="1"/>
          <p:nvPr/>
        </p:nvSpPr>
        <p:spPr>
          <a:xfrm>
            <a:off x="8095238" y="4715415"/>
            <a:ext cx="1143784" cy="306467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LE Duplex</a:t>
            </a:r>
          </a:p>
        </p:txBody>
      </p:sp>
      <p:grpSp>
        <p:nvGrpSpPr>
          <p:cNvPr id="148" name="Vasculitis">
            <a:extLst>
              <a:ext uri="{FF2B5EF4-FFF2-40B4-BE49-F238E27FC236}">
                <a16:creationId xmlns:a16="http://schemas.microsoft.com/office/drawing/2014/main" id="{8AA30BB3-19EF-482C-9915-A256F5239BD3}"/>
              </a:ext>
            </a:extLst>
          </p:cNvPr>
          <p:cNvGrpSpPr/>
          <p:nvPr/>
        </p:nvGrpSpPr>
        <p:grpSpPr>
          <a:xfrm>
            <a:off x="5014637" y="1352827"/>
            <a:ext cx="1337368" cy="374264"/>
            <a:chOff x="5538108" y="1326138"/>
            <a:chExt cx="1337368" cy="374264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2E11CCA-DE43-4473-83F8-4D82A39D859F}"/>
                </a:ext>
              </a:extLst>
            </p:cNvPr>
            <p:cNvSpPr/>
            <p:nvPr/>
          </p:nvSpPr>
          <p:spPr>
            <a:xfrm>
              <a:off x="5538108" y="1347977"/>
              <a:ext cx="657225" cy="352425"/>
            </a:xfrm>
            <a:custGeom>
              <a:avLst/>
              <a:gdLst>
                <a:gd name="connsiteX0" fmla="*/ 0 w 657225"/>
                <a:gd name="connsiteY0" fmla="*/ 0 h 352425"/>
                <a:gd name="connsiteX1" fmla="*/ 47625 w 657225"/>
                <a:gd name="connsiteY1" fmla="*/ 66675 h 352425"/>
                <a:gd name="connsiteX2" fmla="*/ 85725 w 657225"/>
                <a:gd name="connsiteY2" fmla="*/ 57150 h 352425"/>
                <a:gd name="connsiteX3" fmla="*/ 123825 w 657225"/>
                <a:gd name="connsiteY3" fmla="*/ 76200 h 352425"/>
                <a:gd name="connsiteX4" fmla="*/ 180975 w 657225"/>
                <a:gd name="connsiteY4" fmla="*/ 76200 h 352425"/>
                <a:gd name="connsiteX5" fmla="*/ 228600 w 657225"/>
                <a:gd name="connsiteY5" fmla="*/ 123825 h 352425"/>
                <a:gd name="connsiteX6" fmla="*/ 285750 w 657225"/>
                <a:gd name="connsiteY6" fmla="*/ 104775 h 352425"/>
                <a:gd name="connsiteX7" fmla="*/ 342900 w 657225"/>
                <a:gd name="connsiteY7" fmla="*/ 142875 h 352425"/>
                <a:gd name="connsiteX8" fmla="*/ 419100 w 657225"/>
                <a:gd name="connsiteY8" fmla="*/ 152400 h 352425"/>
                <a:gd name="connsiteX9" fmla="*/ 428625 w 657225"/>
                <a:gd name="connsiteY9" fmla="*/ 180975 h 352425"/>
                <a:gd name="connsiteX10" fmla="*/ 485775 w 657225"/>
                <a:gd name="connsiteY10" fmla="*/ 200025 h 352425"/>
                <a:gd name="connsiteX11" fmla="*/ 504825 w 657225"/>
                <a:gd name="connsiteY11" fmla="*/ 238125 h 352425"/>
                <a:gd name="connsiteX12" fmla="*/ 552450 w 657225"/>
                <a:gd name="connsiteY12" fmla="*/ 238125 h 352425"/>
                <a:gd name="connsiteX13" fmla="*/ 552450 w 657225"/>
                <a:gd name="connsiteY13" fmla="*/ 266700 h 352425"/>
                <a:gd name="connsiteX14" fmla="*/ 600075 w 657225"/>
                <a:gd name="connsiteY14" fmla="*/ 276225 h 352425"/>
                <a:gd name="connsiteX15" fmla="*/ 619125 w 657225"/>
                <a:gd name="connsiteY15" fmla="*/ 314325 h 352425"/>
                <a:gd name="connsiteX16" fmla="*/ 647700 w 657225"/>
                <a:gd name="connsiteY16" fmla="*/ 323850 h 352425"/>
                <a:gd name="connsiteX17" fmla="*/ 647700 w 657225"/>
                <a:gd name="connsiteY17" fmla="*/ 323850 h 352425"/>
                <a:gd name="connsiteX18" fmla="*/ 657225 w 657225"/>
                <a:gd name="connsiteY18" fmla="*/ 352425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7225" h="352425">
                  <a:moveTo>
                    <a:pt x="0" y="0"/>
                  </a:moveTo>
                  <a:lnTo>
                    <a:pt x="47625" y="66675"/>
                  </a:lnTo>
                  <a:cubicBezTo>
                    <a:pt x="61912" y="76200"/>
                    <a:pt x="85725" y="57150"/>
                    <a:pt x="85725" y="57150"/>
                  </a:cubicBezTo>
                  <a:cubicBezTo>
                    <a:pt x="98425" y="58737"/>
                    <a:pt x="107950" y="73025"/>
                    <a:pt x="123825" y="76200"/>
                  </a:cubicBezTo>
                  <a:cubicBezTo>
                    <a:pt x="139700" y="79375"/>
                    <a:pt x="163513" y="68263"/>
                    <a:pt x="180975" y="76200"/>
                  </a:cubicBezTo>
                  <a:cubicBezTo>
                    <a:pt x="198437" y="84137"/>
                    <a:pt x="211137" y="119062"/>
                    <a:pt x="228600" y="123825"/>
                  </a:cubicBezTo>
                  <a:cubicBezTo>
                    <a:pt x="246063" y="128588"/>
                    <a:pt x="266700" y="101600"/>
                    <a:pt x="285750" y="104775"/>
                  </a:cubicBezTo>
                  <a:cubicBezTo>
                    <a:pt x="304800" y="107950"/>
                    <a:pt x="320675" y="134938"/>
                    <a:pt x="342900" y="142875"/>
                  </a:cubicBezTo>
                  <a:cubicBezTo>
                    <a:pt x="365125" y="150813"/>
                    <a:pt x="419100" y="152400"/>
                    <a:pt x="419100" y="152400"/>
                  </a:cubicBezTo>
                  <a:cubicBezTo>
                    <a:pt x="433388" y="158750"/>
                    <a:pt x="417513" y="173038"/>
                    <a:pt x="428625" y="180975"/>
                  </a:cubicBezTo>
                  <a:cubicBezTo>
                    <a:pt x="439738" y="188913"/>
                    <a:pt x="485775" y="200025"/>
                    <a:pt x="485775" y="200025"/>
                  </a:cubicBezTo>
                  <a:cubicBezTo>
                    <a:pt x="498475" y="209550"/>
                    <a:pt x="493713" y="231775"/>
                    <a:pt x="504825" y="238125"/>
                  </a:cubicBezTo>
                  <a:cubicBezTo>
                    <a:pt x="515937" y="244475"/>
                    <a:pt x="552450" y="238125"/>
                    <a:pt x="552450" y="238125"/>
                  </a:cubicBezTo>
                  <a:cubicBezTo>
                    <a:pt x="560388" y="242888"/>
                    <a:pt x="544513" y="260350"/>
                    <a:pt x="552450" y="266700"/>
                  </a:cubicBezTo>
                  <a:cubicBezTo>
                    <a:pt x="560387" y="273050"/>
                    <a:pt x="600075" y="276225"/>
                    <a:pt x="600075" y="276225"/>
                  </a:cubicBezTo>
                  <a:cubicBezTo>
                    <a:pt x="611188" y="284163"/>
                    <a:pt x="619125" y="314325"/>
                    <a:pt x="619125" y="314325"/>
                  </a:cubicBezTo>
                  <a:cubicBezTo>
                    <a:pt x="627062" y="322262"/>
                    <a:pt x="647700" y="323850"/>
                    <a:pt x="647700" y="323850"/>
                  </a:cubicBezTo>
                  <a:lnTo>
                    <a:pt x="647700" y="323850"/>
                  </a:lnTo>
                  <a:lnTo>
                    <a:pt x="657225" y="352425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16F40CE-539F-4850-B683-42FBDDC09ACE}"/>
                </a:ext>
              </a:extLst>
            </p:cNvPr>
            <p:cNvSpPr/>
            <p:nvPr/>
          </p:nvSpPr>
          <p:spPr>
            <a:xfrm flipH="1">
              <a:off x="6218251" y="1326138"/>
              <a:ext cx="657225" cy="352425"/>
            </a:xfrm>
            <a:custGeom>
              <a:avLst/>
              <a:gdLst>
                <a:gd name="connsiteX0" fmla="*/ 0 w 657225"/>
                <a:gd name="connsiteY0" fmla="*/ 0 h 352425"/>
                <a:gd name="connsiteX1" fmla="*/ 47625 w 657225"/>
                <a:gd name="connsiteY1" fmla="*/ 66675 h 352425"/>
                <a:gd name="connsiteX2" fmla="*/ 85725 w 657225"/>
                <a:gd name="connsiteY2" fmla="*/ 57150 h 352425"/>
                <a:gd name="connsiteX3" fmla="*/ 123825 w 657225"/>
                <a:gd name="connsiteY3" fmla="*/ 76200 h 352425"/>
                <a:gd name="connsiteX4" fmla="*/ 180975 w 657225"/>
                <a:gd name="connsiteY4" fmla="*/ 76200 h 352425"/>
                <a:gd name="connsiteX5" fmla="*/ 228600 w 657225"/>
                <a:gd name="connsiteY5" fmla="*/ 123825 h 352425"/>
                <a:gd name="connsiteX6" fmla="*/ 285750 w 657225"/>
                <a:gd name="connsiteY6" fmla="*/ 104775 h 352425"/>
                <a:gd name="connsiteX7" fmla="*/ 342900 w 657225"/>
                <a:gd name="connsiteY7" fmla="*/ 142875 h 352425"/>
                <a:gd name="connsiteX8" fmla="*/ 419100 w 657225"/>
                <a:gd name="connsiteY8" fmla="*/ 152400 h 352425"/>
                <a:gd name="connsiteX9" fmla="*/ 428625 w 657225"/>
                <a:gd name="connsiteY9" fmla="*/ 180975 h 352425"/>
                <a:gd name="connsiteX10" fmla="*/ 485775 w 657225"/>
                <a:gd name="connsiteY10" fmla="*/ 200025 h 352425"/>
                <a:gd name="connsiteX11" fmla="*/ 504825 w 657225"/>
                <a:gd name="connsiteY11" fmla="*/ 238125 h 352425"/>
                <a:gd name="connsiteX12" fmla="*/ 552450 w 657225"/>
                <a:gd name="connsiteY12" fmla="*/ 238125 h 352425"/>
                <a:gd name="connsiteX13" fmla="*/ 552450 w 657225"/>
                <a:gd name="connsiteY13" fmla="*/ 266700 h 352425"/>
                <a:gd name="connsiteX14" fmla="*/ 600075 w 657225"/>
                <a:gd name="connsiteY14" fmla="*/ 276225 h 352425"/>
                <a:gd name="connsiteX15" fmla="*/ 619125 w 657225"/>
                <a:gd name="connsiteY15" fmla="*/ 314325 h 352425"/>
                <a:gd name="connsiteX16" fmla="*/ 647700 w 657225"/>
                <a:gd name="connsiteY16" fmla="*/ 323850 h 352425"/>
                <a:gd name="connsiteX17" fmla="*/ 647700 w 657225"/>
                <a:gd name="connsiteY17" fmla="*/ 323850 h 352425"/>
                <a:gd name="connsiteX18" fmla="*/ 657225 w 657225"/>
                <a:gd name="connsiteY18" fmla="*/ 352425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7225" h="352425">
                  <a:moveTo>
                    <a:pt x="0" y="0"/>
                  </a:moveTo>
                  <a:lnTo>
                    <a:pt x="47625" y="66675"/>
                  </a:lnTo>
                  <a:cubicBezTo>
                    <a:pt x="61912" y="76200"/>
                    <a:pt x="85725" y="57150"/>
                    <a:pt x="85725" y="57150"/>
                  </a:cubicBezTo>
                  <a:cubicBezTo>
                    <a:pt x="98425" y="58737"/>
                    <a:pt x="107950" y="73025"/>
                    <a:pt x="123825" y="76200"/>
                  </a:cubicBezTo>
                  <a:cubicBezTo>
                    <a:pt x="139700" y="79375"/>
                    <a:pt x="163513" y="68263"/>
                    <a:pt x="180975" y="76200"/>
                  </a:cubicBezTo>
                  <a:cubicBezTo>
                    <a:pt x="198437" y="84137"/>
                    <a:pt x="211137" y="119062"/>
                    <a:pt x="228600" y="123825"/>
                  </a:cubicBezTo>
                  <a:cubicBezTo>
                    <a:pt x="246063" y="128588"/>
                    <a:pt x="266700" y="101600"/>
                    <a:pt x="285750" y="104775"/>
                  </a:cubicBezTo>
                  <a:cubicBezTo>
                    <a:pt x="304800" y="107950"/>
                    <a:pt x="320675" y="134938"/>
                    <a:pt x="342900" y="142875"/>
                  </a:cubicBezTo>
                  <a:cubicBezTo>
                    <a:pt x="365125" y="150813"/>
                    <a:pt x="419100" y="152400"/>
                    <a:pt x="419100" y="152400"/>
                  </a:cubicBezTo>
                  <a:cubicBezTo>
                    <a:pt x="433388" y="158750"/>
                    <a:pt x="417513" y="173038"/>
                    <a:pt x="428625" y="180975"/>
                  </a:cubicBezTo>
                  <a:cubicBezTo>
                    <a:pt x="439738" y="188913"/>
                    <a:pt x="485775" y="200025"/>
                    <a:pt x="485775" y="200025"/>
                  </a:cubicBezTo>
                  <a:cubicBezTo>
                    <a:pt x="498475" y="209550"/>
                    <a:pt x="493713" y="231775"/>
                    <a:pt x="504825" y="238125"/>
                  </a:cubicBezTo>
                  <a:cubicBezTo>
                    <a:pt x="515937" y="244475"/>
                    <a:pt x="552450" y="238125"/>
                    <a:pt x="552450" y="238125"/>
                  </a:cubicBezTo>
                  <a:cubicBezTo>
                    <a:pt x="560388" y="242888"/>
                    <a:pt x="544513" y="260350"/>
                    <a:pt x="552450" y="266700"/>
                  </a:cubicBezTo>
                  <a:cubicBezTo>
                    <a:pt x="560387" y="273050"/>
                    <a:pt x="600075" y="276225"/>
                    <a:pt x="600075" y="276225"/>
                  </a:cubicBezTo>
                  <a:cubicBezTo>
                    <a:pt x="611188" y="284163"/>
                    <a:pt x="619125" y="314325"/>
                    <a:pt x="619125" y="314325"/>
                  </a:cubicBezTo>
                  <a:cubicBezTo>
                    <a:pt x="627062" y="322262"/>
                    <a:pt x="647700" y="323850"/>
                    <a:pt x="647700" y="323850"/>
                  </a:cubicBezTo>
                  <a:lnTo>
                    <a:pt x="647700" y="323850"/>
                  </a:lnTo>
                  <a:lnTo>
                    <a:pt x="657225" y="352425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Black Blood MRI button">
            <a:extLst>
              <a:ext uri="{FF2B5EF4-FFF2-40B4-BE49-F238E27FC236}">
                <a16:creationId xmlns:a16="http://schemas.microsoft.com/office/drawing/2014/main" id="{6AC8C316-E629-4B47-A6E1-E6C9C665AE33}"/>
              </a:ext>
            </a:extLst>
          </p:cNvPr>
          <p:cNvSpPr txBox="1"/>
          <p:nvPr/>
        </p:nvSpPr>
        <p:spPr>
          <a:xfrm>
            <a:off x="10588581" y="1338167"/>
            <a:ext cx="1143784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Black Blood Brain MRI</a:t>
            </a:r>
          </a:p>
        </p:txBody>
      </p:sp>
      <p:sp>
        <p:nvSpPr>
          <p:cNvPr id="113" name="Lumbar Puncture button">
            <a:extLst>
              <a:ext uri="{FF2B5EF4-FFF2-40B4-BE49-F238E27FC236}">
                <a16:creationId xmlns:a16="http://schemas.microsoft.com/office/drawing/2014/main" id="{D848DA8A-6A29-4F6E-88DC-B0C91E7E0F9A}"/>
              </a:ext>
            </a:extLst>
          </p:cNvPr>
          <p:cNvSpPr txBox="1"/>
          <p:nvPr/>
        </p:nvSpPr>
        <p:spPr>
          <a:xfrm>
            <a:off x="10460911" y="1987533"/>
            <a:ext cx="1513752" cy="306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Lumbar puncture</a:t>
            </a:r>
          </a:p>
        </p:txBody>
      </p:sp>
      <p:sp>
        <p:nvSpPr>
          <p:cNvPr id="118" name="Angiogram button">
            <a:extLst>
              <a:ext uri="{FF2B5EF4-FFF2-40B4-BE49-F238E27FC236}">
                <a16:creationId xmlns:a16="http://schemas.microsoft.com/office/drawing/2014/main" id="{0E5726D8-C5D6-4238-A18E-7851668E8C57}"/>
              </a:ext>
            </a:extLst>
          </p:cNvPr>
          <p:cNvSpPr txBox="1"/>
          <p:nvPr/>
        </p:nvSpPr>
        <p:spPr>
          <a:xfrm>
            <a:off x="10588581" y="2414848"/>
            <a:ext cx="1143784" cy="306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Angiogram</a:t>
            </a:r>
          </a:p>
        </p:txBody>
      </p:sp>
      <p:grpSp>
        <p:nvGrpSpPr>
          <p:cNvPr id="24" name="Telemetry text">
            <a:extLst>
              <a:ext uri="{FF2B5EF4-FFF2-40B4-BE49-F238E27FC236}">
                <a16:creationId xmlns:a16="http://schemas.microsoft.com/office/drawing/2014/main" id="{29CB73B8-A37D-48A9-A98C-ACC45A54477D}"/>
              </a:ext>
            </a:extLst>
          </p:cNvPr>
          <p:cNvGrpSpPr/>
          <p:nvPr/>
        </p:nvGrpSpPr>
        <p:grpSpPr>
          <a:xfrm>
            <a:off x="40588" y="5732888"/>
            <a:ext cx="1749947" cy="933873"/>
            <a:chOff x="39426" y="3080937"/>
            <a:chExt cx="1921640" cy="80794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456F5ED-FC8C-4518-836F-035FBE0ED6CC}"/>
                </a:ext>
              </a:extLst>
            </p:cNvPr>
            <p:cNvSpPr/>
            <p:nvPr/>
          </p:nvSpPr>
          <p:spPr>
            <a:xfrm>
              <a:off x="39426" y="3286871"/>
              <a:ext cx="1921640" cy="60201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0" rtlCol="0" anchor="ctr"/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</a:rPr>
                <a:t>Identify Arrhythmia (</a:t>
              </a:r>
              <a:r>
                <a:rPr lang="en-US" sz="1050" b="1" dirty="0" err="1">
                  <a:solidFill>
                    <a:schemeClr val="tx1"/>
                  </a:solidFill>
                </a:rPr>
                <a:t>afib</a:t>
              </a:r>
              <a:r>
                <a:rPr lang="en-US" sz="1050" b="1" dirty="0">
                  <a:solidFill>
                    <a:schemeClr val="tx1"/>
                  </a:solidFill>
                </a:rPr>
                <a:t>) </a:t>
              </a:r>
            </a:p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If positive -&gt; raises suspicion for cardio-embolic source  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D7FD45AE-BB06-4FEF-9EB8-1C87538E58B5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1000245" y="3080937"/>
              <a:ext cx="1" cy="205934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4" name="brain MRI text">
            <a:extLst>
              <a:ext uri="{FF2B5EF4-FFF2-40B4-BE49-F238E27FC236}">
                <a16:creationId xmlns:a16="http://schemas.microsoft.com/office/drawing/2014/main" id="{54648F4F-03D5-47BF-A487-177156B1A810}"/>
              </a:ext>
            </a:extLst>
          </p:cNvPr>
          <p:cNvGrpSpPr/>
          <p:nvPr/>
        </p:nvGrpSpPr>
        <p:grpSpPr>
          <a:xfrm>
            <a:off x="342715" y="3428126"/>
            <a:ext cx="3777277" cy="1261944"/>
            <a:chOff x="-728027" y="3089066"/>
            <a:chExt cx="3777277" cy="1006335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86B74FD8-0F7E-49AC-8569-B79394126035}"/>
                </a:ext>
              </a:extLst>
            </p:cNvPr>
            <p:cNvSpPr/>
            <p:nvPr/>
          </p:nvSpPr>
          <p:spPr>
            <a:xfrm>
              <a:off x="-728027" y="3247150"/>
              <a:ext cx="3777277" cy="84825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0" rtlCol="0" anchor="ctr"/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</a:rPr>
                <a:t>Determine Size and Distribution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Large and/or multiple vessel distribution </a:t>
              </a:r>
              <a:r>
                <a:rPr lang="en-US" sz="1050" dirty="0">
                  <a:solidFill>
                    <a:schemeClr val="tx1"/>
                  </a:solidFill>
                  <a:ea typeface="Segoe UI Symbol" panose="020B0502040204020203" pitchFamily="34" charset="0"/>
                </a:rPr>
                <a:t>≈ cardio-embolic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  <a:ea typeface="Segoe UI Symbol" panose="020B0502040204020203" pitchFamily="34" charset="0"/>
                </a:rPr>
                <a:t>Lacunar ≈ HTN or amyloid vasculopathy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  <a:ea typeface="Segoe UI Symbol" panose="020B0502040204020203" pitchFamily="34" charset="0"/>
                </a:rPr>
                <a:t>Small and/or single vessel + RFs ≈ atherosclerosis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 dirty="0">
                <a:solidFill>
                  <a:schemeClr val="tx1"/>
                </a:solidFill>
                <a:ea typeface="Segoe UI Symbol" panose="020B0502040204020203" pitchFamily="34" charset="0"/>
              </a:endParaRPr>
            </a:p>
            <a:p>
              <a:pPr algn="ctr"/>
              <a:r>
                <a:rPr lang="en-US" sz="1050" b="1" dirty="0">
                  <a:solidFill>
                    <a:schemeClr val="tx1"/>
                  </a:solidFill>
                  <a:ea typeface="Segoe UI Symbol" panose="020B0502040204020203" pitchFamily="34" charset="0"/>
                </a:rPr>
                <a:t>Determine Risks of Post-infarct Bleeding</a:t>
              </a:r>
              <a:endParaRPr lang="en-US" sz="1050" b="1" dirty="0">
                <a:solidFill>
                  <a:schemeClr val="tx1"/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D4F6753A-EBA2-402E-8BEE-2A44B7391450}"/>
                </a:ext>
              </a:extLst>
            </p:cNvPr>
            <p:cNvCxnSpPr>
              <a:cxnSpLocks/>
            </p:cNvCxnSpPr>
            <p:nvPr/>
          </p:nvCxnSpPr>
          <p:spPr>
            <a:xfrm>
              <a:off x="-147193" y="3089066"/>
              <a:ext cx="0" cy="158084"/>
            </a:xfrm>
            <a:prstGeom prst="rect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1" name="H&amp;N imaging pop-up">
            <a:extLst>
              <a:ext uri="{FF2B5EF4-FFF2-40B4-BE49-F238E27FC236}">
                <a16:creationId xmlns:a16="http://schemas.microsoft.com/office/drawing/2014/main" id="{6A0082E0-CE03-4E7E-AF66-DDE8E0C2CE40}"/>
              </a:ext>
            </a:extLst>
          </p:cNvPr>
          <p:cNvGrpSpPr/>
          <p:nvPr/>
        </p:nvGrpSpPr>
        <p:grpSpPr>
          <a:xfrm>
            <a:off x="1502370" y="730589"/>
            <a:ext cx="3822195" cy="2140640"/>
            <a:chOff x="1502370" y="730589"/>
            <a:chExt cx="3822195" cy="2140640"/>
          </a:xfrm>
        </p:grpSpPr>
        <p:grpSp>
          <p:nvGrpSpPr>
            <p:cNvPr id="143" name="H&amp;N imaging text">
              <a:extLst>
                <a:ext uri="{FF2B5EF4-FFF2-40B4-BE49-F238E27FC236}">
                  <a16:creationId xmlns:a16="http://schemas.microsoft.com/office/drawing/2014/main" id="{30F54605-4DBA-4F2D-BAFC-629CA5D3004A}"/>
                </a:ext>
              </a:extLst>
            </p:cNvPr>
            <p:cNvGrpSpPr/>
            <p:nvPr/>
          </p:nvGrpSpPr>
          <p:grpSpPr>
            <a:xfrm>
              <a:off x="1511752" y="2195892"/>
              <a:ext cx="2994310" cy="675337"/>
              <a:chOff x="628762" y="2478870"/>
              <a:chExt cx="2994310" cy="538546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2AEE91E-C239-4C4E-92C5-161104242C48}"/>
                  </a:ext>
                </a:extLst>
              </p:cNvPr>
              <p:cNvSpPr/>
              <p:nvPr/>
            </p:nvSpPr>
            <p:spPr>
              <a:xfrm>
                <a:off x="840116" y="2478870"/>
                <a:ext cx="2782956" cy="53854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0" rtlCol="0" anchor="ctr"/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</a:rPr>
                  <a:t>Intra or extracranial stenosis or decreased flow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chemeClr val="tx1"/>
                    </a:solidFill>
                  </a:rPr>
                  <a:t>Large vessel occlusion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chemeClr val="tx1"/>
                    </a:solidFill>
                  </a:rPr>
                  <a:t>Symptomatic carotid stenosis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chemeClr val="tx1"/>
                    </a:solidFill>
                  </a:rPr>
                  <a:t>Dissections</a:t>
                </a:r>
              </a:p>
            </p:txBody>
          </p: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4CEF5051-7279-47D5-8B76-8072B06C55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762" y="2576809"/>
                <a:ext cx="211354" cy="171334"/>
              </a:xfrm>
              <a:prstGeom prst="straightConnector1">
                <a:avLst/>
              </a:prstGeom>
              <a:ln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2" name="H&amp;N arrows">
              <a:extLst>
                <a:ext uri="{FF2B5EF4-FFF2-40B4-BE49-F238E27FC236}">
                  <a16:creationId xmlns:a16="http://schemas.microsoft.com/office/drawing/2014/main" id="{CE3CB683-8958-49FC-86BD-205DA336F970}"/>
                </a:ext>
              </a:extLst>
            </p:cNvPr>
            <p:cNvGrpSpPr/>
            <p:nvPr/>
          </p:nvGrpSpPr>
          <p:grpSpPr>
            <a:xfrm>
              <a:off x="1502370" y="730589"/>
              <a:ext cx="3822195" cy="1968405"/>
              <a:chOff x="1502370" y="730589"/>
              <a:chExt cx="3822195" cy="1968405"/>
            </a:xfrm>
          </p:grpSpPr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4A4F4F6F-D786-4967-A50D-6030298F3D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9578" y="1582926"/>
                <a:ext cx="30074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C46ED065-5B40-4F24-BE5F-DFCE478E8F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7926" y="1587433"/>
                <a:ext cx="1376639" cy="1111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760764F4-F84B-4D0A-998B-5F0C5D7048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8860" y="730589"/>
                <a:ext cx="1332489" cy="85003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5123282-664F-4932-B2F3-C39C78247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2370" y="1187317"/>
                <a:ext cx="717208" cy="394255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59BF5F38-E92E-44BC-9824-EEBC515B87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02370" y="1581574"/>
                <a:ext cx="717208" cy="57654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75E5D10-B720-4D92-A6FD-B77DD5B648F7}"/>
                  </a:ext>
                </a:extLst>
              </p:cNvPr>
              <p:cNvSpPr txBox="1"/>
              <p:nvPr/>
            </p:nvSpPr>
            <p:spPr>
              <a:xfrm>
                <a:off x="1546663" y="1708577"/>
                <a:ext cx="640078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45720" rtlCol="0">
                <a:spAutoFit/>
              </a:bodyPr>
              <a:lstStyle/>
              <a:p>
                <a:pPr algn="ctr"/>
                <a:r>
                  <a:rPr lang="en-US" sz="1000" dirty="0"/>
                  <a:t>GFR &lt;45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9811A36-A2B0-4AE2-936A-145CB065495D}"/>
                  </a:ext>
                </a:extLst>
              </p:cNvPr>
              <p:cNvSpPr txBox="1"/>
              <p:nvPr/>
            </p:nvSpPr>
            <p:spPr>
              <a:xfrm>
                <a:off x="1553462" y="1183265"/>
                <a:ext cx="640078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45720" rtlCol="0">
                <a:spAutoFit/>
              </a:bodyPr>
              <a:lstStyle/>
              <a:p>
                <a:pPr algn="ctr"/>
                <a:r>
                  <a:rPr lang="en-US" sz="1000" dirty="0"/>
                  <a:t>GFR &gt;45</a:t>
                </a:r>
              </a:p>
            </p:txBody>
          </p:sp>
        </p:grpSp>
      </p:grpSp>
      <p:sp>
        <p:nvSpPr>
          <p:cNvPr id="71" name="TEE">
            <a:extLst>
              <a:ext uri="{FF2B5EF4-FFF2-40B4-BE49-F238E27FC236}">
                <a16:creationId xmlns:a16="http://schemas.microsoft.com/office/drawing/2014/main" id="{97ACF788-58ED-4C5C-9954-BE71587DC114}"/>
              </a:ext>
            </a:extLst>
          </p:cNvPr>
          <p:cNvSpPr txBox="1"/>
          <p:nvPr/>
        </p:nvSpPr>
        <p:spPr>
          <a:xfrm>
            <a:off x="8095238" y="3535474"/>
            <a:ext cx="1143784" cy="306467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00B050"/>
                </a:gs>
                <a:gs pos="0">
                  <a:schemeClr val="accent6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TEE</a:t>
            </a:r>
          </a:p>
        </p:txBody>
      </p:sp>
      <p:grpSp>
        <p:nvGrpSpPr>
          <p:cNvPr id="43" name="TEE arrows">
            <a:extLst>
              <a:ext uri="{FF2B5EF4-FFF2-40B4-BE49-F238E27FC236}">
                <a16:creationId xmlns:a16="http://schemas.microsoft.com/office/drawing/2014/main" id="{588BECB3-4009-4373-8D58-B292AA125F84}"/>
              </a:ext>
            </a:extLst>
          </p:cNvPr>
          <p:cNvGrpSpPr/>
          <p:nvPr/>
        </p:nvGrpSpPr>
        <p:grpSpPr>
          <a:xfrm>
            <a:off x="5553970" y="3386536"/>
            <a:ext cx="2541268" cy="1062812"/>
            <a:chOff x="5553970" y="3386536"/>
            <a:chExt cx="2541268" cy="1062812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172DCD2-81C0-4101-8E59-2BA2E1A82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3970" y="3386536"/>
              <a:ext cx="2541268" cy="3021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022AD68-F6C1-43A7-ACB4-65542F7C4952}"/>
                </a:ext>
              </a:extLst>
            </p:cNvPr>
            <p:cNvCxnSpPr>
              <a:cxnSpLocks/>
              <a:endCxn id="85" idx="6"/>
            </p:cNvCxnSpPr>
            <p:nvPr/>
          </p:nvCxnSpPr>
          <p:spPr>
            <a:xfrm flipH="1">
              <a:off x="6344359" y="3688708"/>
              <a:ext cx="1750879" cy="28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C5AEE3A7-0E95-432C-9EFC-138F25021AA4}"/>
                </a:ext>
              </a:extLst>
            </p:cNvPr>
            <p:cNvCxnSpPr>
              <a:cxnSpLocks/>
              <a:endCxn id="32" idx="3"/>
            </p:cNvCxnSpPr>
            <p:nvPr/>
          </p:nvCxnSpPr>
          <p:spPr>
            <a:xfrm flipH="1">
              <a:off x="6226478" y="3688708"/>
              <a:ext cx="1868760" cy="7606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80" name="TTE button">
            <a:extLst>
              <a:ext uri="{FF2B5EF4-FFF2-40B4-BE49-F238E27FC236}">
                <a16:creationId xmlns:a16="http://schemas.microsoft.com/office/drawing/2014/main" id="{E9A7C03C-2DCB-4204-B728-FED03DC5BFE7}"/>
              </a:ext>
            </a:extLst>
          </p:cNvPr>
          <p:cNvGrpSpPr/>
          <p:nvPr/>
        </p:nvGrpSpPr>
        <p:grpSpPr>
          <a:xfrm>
            <a:off x="7983568" y="5043581"/>
            <a:ext cx="2935140" cy="1746516"/>
            <a:chOff x="-823755" y="2984411"/>
            <a:chExt cx="2935140" cy="1392757"/>
          </a:xfrm>
        </p:grpSpPr>
        <p:sp>
          <p:nvSpPr>
            <p:cNvPr id="181" name="Rectangle: Rounded Corners 180">
              <a:extLst>
                <a:ext uri="{FF2B5EF4-FFF2-40B4-BE49-F238E27FC236}">
                  <a16:creationId xmlns:a16="http://schemas.microsoft.com/office/drawing/2014/main" id="{C88820D3-5C0D-46BD-AD7F-56FB4D79EA67}"/>
                </a:ext>
              </a:extLst>
            </p:cNvPr>
            <p:cNvSpPr/>
            <p:nvPr/>
          </p:nvSpPr>
          <p:spPr>
            <a:xfrm>
              <a:off x="-823755" y="3401560"/>
              <a:ext cx="2935140" cy="97560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0" rtlCol="0" anchor="ctr">
              <a:sp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Only valuable if there is </a:t>
              </a:r>
            </a:p>
            <a:p>
              <a:pPr marL="228600" indent="-228600">
                <a:buAutoNum type="arabicPeriod"/>
              </a:pPr>
              <a:r>
                <a:rPr lang="en-US" sz="1050" dirty="0">
                  <a:solidFill>
                    <a:schemeClr val="tx1"/>
                  </a:solidFill>
                </a:rPr>
                <a:t>Mod-high suspicion of embolic CVA </a:t>
              </a:r>
            </a:p>
            <a:p>
              <a:pPr marL="228600" indent="-228600">
                <a:buAutoNum type="arabicPeriod"/>
              </a:pPr>
              <a:r>
                <a:rPr lang="en-US" sz="1050" dirty="0">
                  <a:solidFill>
                    <a:schemeClr val="tx1"/>
                  </a:solidFill>
                </a:rPr>
                <a:t>No identified intracardiac source </a:t>
              </a:r>
            </a:p>
            <a:p>
              <a:pPr marL="228600" indent="-228600">
                <a:buAutoNum type="arabicPeriod"/>
              </a:pPr>
              <a:r>
                <a:rPr lang="en-US" sz="1050" dirty="0">
                  <a:solidFill>
                    <a:schemeClr val="tx1"/>
                  </a:solidFill>
                </a:rPr>
                <a:t>Confirmed R to L intracardiac shunt. </a:t>
              </a:r>
            </a:p>
            <a:p>
              <a:r>
                <a:rPr lang="en-US" sz="1050" dirty="0">
                  <a:solidFill>
                    <a:schemeClr val="tx1"/>
                  </a:solidFill>
                </a:rPr>
                <a:t>If all the above are satisfied and a DVT is identified, anticoagulation is the best option.  Closure of shunt is invasive and will not address the risk of VTE </a:t>
              </a:r>
            </a:p>
          </p:txBody>
        </p: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B76DCAED-80BB-457A-8EAF-E1C315B583A8}"/>
                </a:ext>
              </a:extLst>
            </p:cNvPr>
            <p:cNvCxnSpPr>
              <a:cxnSpLocks/>
            </p:cNvCxnSpPr>
            <p:nvPr/>
          </p:nvCxnSpPr>
          <p:spPr>
            <a:xfrm>
              <a:off x="141772" y="2984411"/>
              <a:ext cx="0" cy="147028"/>
            </a:xfrm>
            <a:prstGeom prst="rect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6" name="day1 text">
            <a:extLst>
              <a:ext uri="{FF2B5EF4-FFF2-40B4-BE49-F238E27FC236}">
                <a16:creationId xmlns:a16="http://schemas.microsoft.com/office/drawing/2014/main" id="{20F59C9D-AD76-4796-865C-B0510019F7C2}"/>
              </a:ext>
            </a:extLst>
          </p:cNvPr>
          <p:cNvSpPr txBox="1"/>
          <p:nvPr/>
        </p:nvSpPr>
        <p:spPr>
          <a:xfrm>
            <a:off x="95141" y="491572"/>
            <a:ext cx="1689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Eval for immediately reversible disease</a:t>
            </a:r>
          </a:p>
        </p:txBody>
      </p:sp>
      <p:sp>
        <p:nvSpPr>
          <p:cNvPr id="107" name="day 2 text">
            <a:extLst>
              <a:ext uri="{FF2B5EF4-FFF2-40B4-BE49-F238E27FC236}">
                <a16:creationId xmlns:a16="http://schemas.microsoft.com/office/drawing/2014/main" id="{8C447DFC-E5C8-436B-9953-B73FAA719118}"/>
              </a:ext>
            </a:extLst>
          </p:cNvPr>
          <p:cNvSpPr txBox="1"/>
          <p:nvPr/>
        </p:nvSpPr>
        <p:spPr>
          <a:xfrm>
            <a:off x="1977777" y="501563"/>
            <a:ext cx="1689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Eval for cardioembolic disease</a:t>
            </a:r>
          </a:p>
        </p:txBody>
      </p:sp>
      <p:sp>
        <p:nvSpPr>
          <p:cNvPr id="112" name="Thrombophilia">
            <a:extLst>
              <a:ext uri="{FF2B5EF4-FFF2-40B4-BE49-F238E27FC236}">
                <a16:creationId xmlns:a16="http://schemas.microsoft.com/office/drawing/2014/main" id="{BA7EDC70-1CCC-42E3-92E0-9C8C9478AB01}"/>
              </a:ext>
            </a:extLst>
          </p:cNvPr>
          <p:cNvSpPr txBox="1"/>
          <p:nvPr/>
        </p:nvSpPr>
        <p:spPr>
          <a:xfrm>
            <a:off x="10355155" y="4055284"/>
            <a:ext cx="1143784" cy="510778"/>
          </a:xfrm>
          <a:prstGeom prst="roundRect">
            <a:avLst/>
          </a:prstGeom>
          <a:ln w="28575">
            <a:solidFill>
              <a:srgbClr val="7030A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Thrombophilia Evaluation</a:t>
            </a:r>
          </a:p>
        </p:txBody>
      </p:sp>
      <p:sp>
        <p:nvSpPr>
          <p:cNvPr id="154" name="day 2 text">
            <a:extLst>
              <a:ext uri="{FF2B5EF4-FFF2-40B4-BE49-F238E27FC236}">
                <a16:creationId xmlns:a16="http://schemas.microsoft.com/office/drawing/2014/main" id="{9A20687D-DD26-4263-B595-14CF584F831A}"/>
              </a:ext>
            </a:extLst>
          </p:cNvPr>
          <p:cNvSpPr txBox="1"/>
          <p:nvPr/>
        </p:nvSpPr>
        <p:spPr>
          <a:xfrm>
            <a:off x="7932137" y="539032"/>
            <a:ext cx="1689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Ongoing evaluation for possible embolic disease</a:t>
            </a:r>
          </a:p>
        </p:txBody>
      </p:sp>
      <p:sp>
        <p:nvSpPr>
          <p:cNvPr id="155" name="day 2 text">
            <a:extLst>
              <a:ext uri="{FF2B5EF4-FFF2-40B4-BE49-F238E27FC236}">
                <a16:creationId xmlns:a16="http://schemas.microsoft.com/office/drawing/2014/main" id="{3EEDE00B-4B01-4763-82E6-0427B292763C}"/>
              </a:ext>
            </a:extLst>
          </p:cNvPr>
          <p:cNvSpPr txBox="1"/>
          <p:nvPr/>
        </p:nvSpPr>
        <p:spPr>
          <a:xfrm>
            <a:off x="10158331" y="536289"/>
            <a:ext cx="19385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Eval for other etiologies </a:t>
            </a:r>
          </a:p>
          <a:p>
            <a:pPr algn="ctr"/>
            <a:r>
              <a:rPr lang="en-US" sz="1100" dirty="0"/>
              <a:t>(e.g. vasculitis, thrombophilia)</a:t>
            </a:r>
          </a:p>
        </p:txBody>
      </p:sp>
      <p:sp>
        <p:nvSpPr>
          <p:cNvPr id="123" name="Rectangle: Rounded Corners 122">
            <a:hlinkClick r:id="rId4" action="ppaction://hlinksldjump"/>
            <a:extLst>
              <a:ext uri="{FF2B5EF4-FFF2-40B4-BE49-F238E27FC236}">
                <a16:creationId xmlns:a16="http://schemas.microsoft.com/office/drawing/2014/main" id="{A3C9076B-C424-4ABD-9E76-2CA235DA254D}"/>
              </a:ext>
            </a:extLst>
          </p:cNvPr>
          <p:cNvSpPr/>
          <p:nvPr/>
        </p:nvSpPr>
        <p:spPr>
          <a:xfrm>
            <a:off x="10738593" y="6172193"/>
            <a:ext cx="958387" cy="375053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Main Board</a:t>
            </a:r>
          </a:p>
        </p:txBody>
      </p:sp>
      <p:grpSp>
        <p:nvGrpSpPr>
          <p:cNvPr id="2" name="H&amp;N imaging button">
            <a:extLst>
              <a:ext uri="{FF2B5EF4-FFF2-40B4-BE49-F238E27FC236}">
                <a16:creationId xmlns:a16="http://schemas.microsoft.com/office/drawing/2014/main" id="{8164DB15-8A84-4410-882A-4AC0D6428E57}"/>
              </a:ext>
            </a:extLst>
          </p:cNvPr>
          <p:cNvGrpSpPr/>
          <p:nvPr/>
        </p:nvGrpSpPr>
        <p:grpSpPr>
          <a:xfrm>
            <a:off x="324328" y="1034083"/>
            <a:ext cx="1338524" cy="1781970"/>
            <a:chOff x="324328" y="1034083"/>
            <a:chExt cx="1338524" cy="1781970"/>
          </a:xfrm>
        </p:grpSpPr>
        <p:grpSp>
          <p:nvGrpSpPr>
            <p:cNvPr id="122" name="CTA/MRA/CoUS">
              <a:extLst>
                <a:ext uri="{FF2B5EF4-FFF2-40B4-BE49-F238E27FC236}">
                  <a16:creationId xmlns:a16="http://schemas.microsoft.com/office/drawing/2014/main" id="{1FC19BB9-45C4-4FD1-A37C-426F2DB0EEE1}"/>
                </a:ext>
              </a:extLst>
            </p:cNvPr>
            <p:cNvGrpSpPr/>
            <p:nvPr/>
          </p:nvGrpSpPr>
          <p:grpSpPr>
            <a:xfrm>
              <a:off x="324328" y="1034083"/>
              <a:ext cx="1178042" cy="1583733"/>
              <a:chOff x="1206137" y="2019213"/>
              <a:chExt cx="1178042" cy="1583733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0EC80FC-17C9-4931-B756-4390D3D8DDCC}"/>
                  </a:ext>
                </a:extLst>
              </p:cNvPr>
              <p:cNvSpPr txBox="1"/>
              <p:nvPr/>
            </p:nvSpPr>
            <p:spPr>
              <a:xfrm>
                <a:off x="1240395" y="2019213"/>
                <a:ext cx="1143784" cy="306467"/>
              </a:xfrm>
              <a:prstGeom prst="roundRect">
                <a:avLst/>
              </a:prstGeom>
              <a:ln w="28575"/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H&amp;N CTA/MRA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1F99D4A-9DF0-4590-9D7F-8973B3D1229D}"/>
                  </a:ext>
                </a:extLst>
              </p:cNvPr>
              <p:cNvSpPr txBox="1"/>
              <p:nvPr/>
            </p:nvSpPr>
            <p:spPr>
              <a:xfrm>
                <a:off x="1206137" y="2683545"/>
                <a:ext cx="1178042" cy="919401"/>
              </a:xfrm>
              <a:prstGeom prst="roundRect">
                <a:avLst/>
              </a:prstGeom>
              <a:ln w="28575"/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Carotid, Vertebral and Trans-cranial Doppler (TCD)</a:t>
                </a:r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B854D528-920C-4484-817A-4D6643DD05B4}"/>
                </a:ext>
              </a:extLst>
            </p:cNvPr>
            <p:cNvSpPr txBox="1"/>
            <p:nvPr/>
          </p:nvSpPr>
          <p:spPr>
            <a:xfrm>
              <a:off x="595522" y="1452095"/>
              <a:ext cx="640078" cy="1538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sz="1000" dirty="0"/>
                <a:t>OR</a:t>
              </a:r>
            </a:p>
          </p:txBody>
        </p:sp>
        <p:pic>
          <p:nvPicPr>
            <p:cNvPr id="124" name="Graphic 123" descr="Cursor">
              <a:extLst>
                <a:ext uri="{FF2B5EF4-FFF2-40B4-BE49-F238E27FC236}">
                  <a16:creationId xmlns:a16="http://schemas.microsoft.com/office/drawing/2014/main" id="{F718B194-03C6-4A57-9410-FC20C0B1E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 flipH="1" flipV="1">
              <a:off x="1306994" y="2460195"/>
              <a:ext cx="355858" cy="355858"/>
            </a:xfrm>
            <a:prstGeom prst="rect">
              <a:avLst/>
            </a:prstGeom>
          </p:spPr>
        </p:pic>
      </p:grpSp>
      <p:grpSp>
        <p:nvGrpSpPr>
          <p:cNvPr id="3" name="brain MRI button">
            <a:extLst>
              <a:ext uri="{FF2B5EF4-FFF2-40B4-BE49-F238E27FC236}">
                <a16:creationId xmlns:a16="http://schemas.microsoft.com/office/drawing/2014/main" id="{6D0BF8F0-0474-450D-807B-56C61BC21B63}"/>
              </a:ext>
            </a:extLst>
          </p:cNvPr>
          <p:cNvGrpSpPr/>
          <p:nvPr/>
        </p:nvGrpSpPr>
        <p:grpSpPr>
          <a:xfrm>
            <a:off x="359645" y="3121659"/>
            <a:ext cx="1281505" cy="490378"/>
            <a:chOff x="359645" y="3121659"/>
            <a:chExt cx="1281505" cy="490378"/>
          </a:xfrm>
        </p:grpSpPr>
        <p:sp>
          <p:nvSpPr>
            <p:cNvPr id="73" name="Brain MRI">
              <a:extLst>
                <a:ext uri="{FF2B5EF4-FFF2-40B4-BE49-F238E27FC236}">
                  <a16:creationId xmlns:a16="http://schemas.microsoft.com/office/drawing/2014/main" id="{E3C08EC6-E2B4-4327-B895-BD1A5A51E0CC}"/>
                </a:ext>
              </a:extLst>
            </p:cNvPr>
            <p:cNvSpPr txBox="1"/>
            <p:nvPr/>
          </p:nvSpPr>
          <p:spPr>
            <a:xfrm>
              <a:off x="359645" y="3121659"/>
              <a:ext cx="1127808" cy="30646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Brain MRI</a:t>
              </a:r>
            </a:p>
          </p:txBody>
        </p:sp>
        <p:pic>
          <p:nvPicPr>
            <p:cNvPr id="135" name="Graphic 134" descr="Cursor">
              <a:extLst>
                <a:ext uri="{FF2B5EF4-FFF2-40B4-BE49-F238E27FC236}">
                  <a16:creationId xmlns:a16="http://schemas.microsoft.com/office/drawing/2014/main" id="{665D061C-CE16-4190-B799-F91CC2A33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 flipH="1" flipV="1">
              <a:off x="1285292" y="3256179"/>
              <a:ext cx="355858" cy="355858"/>
            </a:xfrm>
            <a:prstGeom prst="rect">
              <a:avLst/>
            </a:prstGeom>
          </p:spPr>
        </p:pic>
      </p:grpSp>
      <p:grpSp>
        <p:nvGrpSpPr>
          <p:cNvPr id="4" name="telemetry button">
            <a:extLst>
              <a:ext uri="{FF2B5EF4-FFF2-40B4-BE49-F238E27FC236}">
                <a16:creationId xmlns:a16="http://schemas.microsoft.com/office/drawing/2014/main" id="{3B6B8CE1-B90D-43F4-8183-ED19B292E805}"/>
              </a:ext>
            </a:extLst>
          </p:cNvPr>
          <p:cNvGrpSpPr/>
          <p:nvPr/>
        </p:nvGrpSpPr>
        <p:grpSpPr>
          <a:xfrm>
            <a:off x="343669" y="5426423"/>
            <a:ext cx="1308748" cy="484394"/>
            <a:chOff x="343669" y="5426423"/>
            <a:chExt cx="1308748" cy="484394"/>
          </a:xfrm>
        </p:grpSpPr>
        <p:sp>
          <p:nvSpPr>
            <p:cNvPr id="133" name="telemetry">
              <a:extLst>
                <a:ext uri="{FF2B5EF4-FFF2-40B4-BE49-F238E27FC236}">
                  <a16:creationId xmlns:a16="http://schemas.microsoft.com/office/drawing/2014/main" id="{A5AF7871-EF3D-4C3D-8862-EC30745EE225}"/>
                </a:ext>
              </a:extLst>
            </p:cNvPr>
            <p:cNvSpPr txBox="1"/>
            <p:nvPr/>
          </p:nvSpPr>
          <p:spPr>
            <a:xfrm>
              <a:off x="343669" y="5426423"/>
              <a:ext cx="1143784" cy="306467"/>
            </a:xfrm>
            <a:prstGeom prst="roundRect">
              <a:avLst/>
            </a:prstGeom>
            <a:ln w="28575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Telemetry</a:t>
              </a:r>
            </a:p>
          </p:txBody>
        </p:sp>
        <p:pic>
          <p:nvPicPr>
            <p:cNvPr id="136" name="Graphic 135" descr="Cursor">
              <a:extLst>
                <a:ext uri="{FF2B5EF4-FFF2-40B4-BE49-F238E27FC236}">
                  <a16:creationId xmlns:a16="http://schemas.microsoft.com/office/drawing/2014/main" id="{08CFAE61-A098-4F41-9658-8533A8734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 flipH="1" flipV="1">
              <a:off x="1296559" y="5554959"/>
              <a:ext cx="355858" cy="355858"/>
            </a:xfrm>
            <a:prstGeom prst="rect">
              <a:avLst/>
            </a:prstGeom>
          </p:spPr>
        </p:pic>
      </p:grpSp>
      <p:grpSp>
        <p:nvGrpSpPr>
          <p:cNvPr id="34" name="TTE w/ bubble button">
            <a:extLst>
              <a:ext uri="{FF2B5EF4-FFF2-40B4-BE49-F238E27FC236}">
                <a16:creationId xmlns:a16="http://schemas.microsoft.com/office/drawing/2014/main" id="{D900164B-B102-4F8A-8CF9-C7784C2892DD}"/>
              </a:ext>
            </a:extLst>
          </p:cNvPr>
          <p:cNvGrpSpPr/>
          <p:nvPr/>
        </p:nvGrpSpPr>
        <p:grpSpPr>
          <a:xfrm>
            <a:off x="2250483" y="4880241"/>
            <a:ext cx="1328596" cy="533784"/>
            <a:chOff x="2250483" y="4880241"/>
            <a:chExt cx="1328596" cy="533784"/>
          </a:xfrm>
        </p:grpSpPr>
        <p:sp>
          <p:nvSpPr>
            <p:cNvPr id="69" name="TTE">
              <a:extLst>
                <a:ext uri="{FF2B5EF4-FFF2-40B4-BE49-F238E27FC236}">
                  <a16:creationId xmlns:a16="http://schemas.microsoft.com/office/drawing/2014/main" id="{6DC103A6-DCAE-4283-8062-EF8A95765F08}"/>
                </a:ext>
              </a:extLst>
            </p:cNvPr>
            <p:cNvSpPr txBox="1"/>
            <p:nvPr/>
          </p:nvSpPr>
          <p:spPr>
            <a:xfrm>
              <a:off x="2250483" y="4880241"/>
              <a:ext cx="1143784" cy="306467"/>
            </a:xfrm>
            <a:prstGeom prst="roundRect">
              <a:avLst/>
            </a:prstGeom>
            <a:ln w="28575"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TTE w/ Bubble</a:t>
              </a:r>
            </a:p>
          </p:txBody>
        </p:sp>
        <p:pic>
          <p:nvPicPr>
            <p:cNvPr id="137" name="Graphic 136" descr="Cursor">
              <a:extLst>
                <a:ext uri="{FF2B5EF4-FFF2-40B4-BE49-F238E27FC236}">
                  <a16:creationId xmlns:a16="http://schemas.microsoft.com/office/drawing/2014/main" id="{5BB60436-2ED8-4191-B28A-3F5E3D277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 flipH="1" flipV="1">
              <a:off x="3223221" y="5058167"/>
              <a:ext cx="355858" cy="355858"/>
            </a:xfrm>
            <a:prstGeom prst="rect">
              <a:avLst/>
            </a:prstGeom>
          </p:spPr>
        </p:pic>
      </p:grpSp>
      <p:pic>
        <p:nvPicPr>
          <p:cNvPr id="138" name="Graphic 137" descr="Cursor">
            <a:extLst>
              <a:ext uri="{FF2B5EF4-FFF2-40B4-BE49-F238E27FC236}">
                <a16:creationId xmlns:a16="http://schemas.microsoft.com/office/drawing/2014/main" id="{FB9DDD25-2638-459B-9DE4-6FE43758A1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 flipV="1">
            <a:off x="11383370" y="4448110"/>
            <a:ext cx="355858" cy="355858"/>
          </a:xfrm>
          <a:prstGeom prst="rect">
            <a:avLst/>
          </a:prstGeom>
        </p:spPr>
      </p:pic>
      <p:pic>
        <p:nvPicPr>
          <p:cNvPr id="152" name="Graphic 151" descr="Cursor">
            <a:extLst>
              <a:ext uri="{FF2B5EF4-FFF2-40B4-BE49-F238E27FC236}">
                <a16:creationId xmlns:a16="http://schemas.microsoft.com/office/drawing/2014/main" id="{B3D614E4-F5F6-4485-8B36-30C484E5A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4821646" y="4326275"/>
            <a:ext cx="355858" cy="355858"/>
          </a:xfrm>
          <a:prstGeom prst="rect">
            <a:avLst/>
          </a:prstGeom>
        </p:spPr>
      </p:pic>
      <p:pic>
        <p:nvPicPr>
          <p:cNvPr id="156" name="Graphic 155" descr="Cursor">
            <a:extLst>
              <a:ext uri="{FF2B5EF4-FFF2-40B4-BE49-F238E27FC236}">
                <a16:creationId xmlns:a16="http://schemas.microsoft.com/office/drawing/2014/main" id="{9D41A04E-D0CC-418B-9273-C2F5A88994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 flipV="1">
            <a:off x="9461748" y="1675449"/>
            <a:ext cx="355858" cy="355858"/>
          </a:xfrm>
          <a:prstGeom prst="rect">
            <a:avLst/>
          </a:prstGeom>
        </p:spPr>
      </p:pic>
      <p:pic>
        <p:nvPicPr>
          <p:cNvPr id="157" name="Graphic 156" descr="Cursor">
            <a:extLst>
              <a:ext uri="{FF2B5EF4-FFF2-40B4-BE49-F238E27FC236}">
                <a16:creationId xmlns:a16="http://schemas.microsoft.com/office/drawing/2014/main" id="{3B02965B-325F-46D7-B1C2-4A1F82EFE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 flipV="1">
            <a:off x="9126230" y="3726695"/>
            <a:ext cx="355858" cy="355858"/>
          </a:xfrm>
          <a:prstGeom prst="rect">
            <a:avLst/>
          </a:prstGeom>
        </p:spPr>
      </p:pic>
      <p:sp>
        <p:nvSpPr>
          <p:cNvPr id="158" name="Rectangle 157">
            <a:extLst>
              <a:ext uri="{FF2B5EF4-FFF2-40B4-BE49-F238E27FC236}">
                <a16:creationId xmlns:a16="http://schemas.microsoft.com/office/drawing/2014/main" id="{6B463962-9353-4A58-9739-947639B143F2}"/>
              </a:ext>
            </a:extLst>
          </p:cNvPr>
          <p:cNvSpPr/>
          <p:nvPr/>
        </p:nvSpPr>
        <p:spPr>
          <a:xfrm>
            <a:off x="6541344" y="1999413"/>
            <a:ext cx="3811074" cy="138499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45720" rIns="0" rtlCol="0" anchor="ctr">
            <a:spAutoFit/>
          </a:bodyPr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Utility of transcranial doppler (TCD) depends on quality of ‘window’</a:t>
            </a:r>
          </a:p>
          <a:p>
            <a:endParaRPr lang="en-US" sz="1050" b="1" dirty="0">
              <a:solidFill>
                <a:schemeClr val="tx1"/>
              </a:solidFill>
            </a:endParaRPr>
          </a:p>
          <a:p>
            <a:r>
              <a:rPr lang="en-US" sz="1050" b="1" dirty="0">
                <a:solidFill>
                  <a:schemeClr val="tx1"/>
                </a:solidFill>
              </a:rPr>
              <a:t>TCD w/ doppler </a:t>
            </a:r>
            <a:r>
              <a:rPr lang="en-US" sz="1050" dirty="0">
                <a:solidFill>
                  <a:schemeClr val="tx1"/>
                </a:solidFill>
              </a:rPr>
              <a:t>– directly visualizes vessel to determine evidence of narrowing and decreased or reversed flow </a:t>
            </a:r>
          </a:p>
          <a:p>
            <a:r>
              <a:rPr lang="en-US" sz="1050" b="1" dirty="0">
                <a:solidFill>
                  <a:schemeClr val="tx1"/>
                </a:solidFill>
              </a:rPr>
              <a:t>TCD </a:t>
            </a:r>
            <a:r>
              <a:rPr lang="en-US" sz="1050" b="1" dirty="0" err="1">
                <a:solidFill>
                  <a:schemeClr val="tx1"/>
                </a:solidFill>
              </a:rPr>
              <a:t>emobli</a:t>
            </a:r>
            <a:r>
              <a:rPr lang="en-US" sz="1050" b="1" dirty="0">
                <a:solidFill>
                  <a:schemeClr val="tx1"/>
                </a:solidFill>
              </a:rPr>
              <a:t> monitoring </a:t>
            </a:r>
            <a:r>
              <a:rPr lang="en-US" sz="1050" dirty="0">
                <a:solidFill>
                  <a:schemeClr val="tx1"/>
                </a:solidFill>
              </a:rPr>
              <a:t>– could localize source of proximal atherosclerotic plaque</a:t>
            </a:r>
          </a:p>
          <a:p>
            <a:r>
              <a:rPr lang="en-US" sz="1050" b="1" dirty="0">
                <a:solidFill>
                  <a:schemeClr val="tx1"/>
                </a:solidFill>
              </a:rPr>
              <a:t>TCD shunt study </a:t>
            </a:r>
            <a:r>
              <a:rPr lang="en-US" sz="1050" dirty="0">
                <a:solidFill>
                  <a:schemeClr val="tx1"/>
                </a:solidFill>
              </a:rPr>
              <a:t>– using IV agitated saline detects R to L shunting as a potential mechanism of embolic CVA (most sensitive option)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B3AA28D-32C2-481C-8C0B-6C035FCCEC08}"/>
              </a:ext>
            </a:extLst>
          </p:cNvPr>
          <p:cNvCxnSpPr>
            <a:cxnSpLocks/>
            <a:stCxn id="70" idx="2"/>
          </p:cNvCxnSpPr>
          <p:nvPr/>
        </p:nvCxnSpPr>
        <p:spPr>
          <a:xfrm>
            <a:off x="8830886" y="1860716"/>
            <a:ext cx="0" cy="13869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28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7037E-6 L -4.16667E-7 0.00024 L 0.00872 0.00417 C 0.01016 0.00463 0.01133 0.00556 0.01263 0.00602 C 0.01537 0.00672 0.01797 0.00741 0.0207 0.00787 C 0.02162 0.0088 0.02266 0.01019 0.0237 0.01019 C 0.03412 0.01019 0.04297 0.01181 0.05234 0.00602 C 0.05443 0.00486 0.05625 0.00324 0.05833 0.00209 L 0.06133 -3.7037E-6 C 0.06224 -0.00046 0.06328 -0.00092 0.06432 -0.00185 C 0.06523 -0.00324 0.06628 -0.00439 0.06719 -0.00601 C 0.06888 -0.00902 0.07057 -0.0125 0.07214 -0.01574 C 0.07279 -0.01713 0.07331 -0.01875 0.07422 -0.0199 C 0.07513 -0.02083 0.07617 -0.02222 0.07708 -0.02361 C 0.07787 -0.02476 0.07839 -0.02639 0.07904 -0.02777 C 0.08177 -0.03217 0.0819 -0.03148 0.08503 -0.03356 C 0.08568 -0.03472 0.0862 -0.03634 0.08698 -0.0375 C 0.08828 -0.03981 0.08984 -0.04097 0.09102 -0.04351 C 0.09258 -0.04722 0.09531 -0.05532 0.09596 -0.06111 C 0.09609 -0.06342 0.09596 -0.06527 0.09596 -0.06713 L 0.09596 -0.06898 " pathEditMode="relative" rAng="0" ptsTypes="AAAAAAAAAAAAAAAAAAAAA">
                                      <p:cBhvr>
                                        <p:cTn id="75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-294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82 0.00139 L -0.00482 0.00139 C -0.00742 -0.00023 -0.01003 -0.00139 -0.0125 -0.00324 C -0.01563 -0.00556 -0.01432 -0.00602 -0.01667 -0.00926 C -0.02044 -0.01412 -0.02071 -0.01482 -0.02422 -0.01667 C -0.02539 -0.01736 -0.02656 -0.01759 -0.02761 -0.01829 C -0.03164 -0.02292 -0.02917 -0.0206 -0.03529 -0.02431 L -0.03776 -0.0257 C -0.03854 -0.02662 -0.03932 -0.02801 -0.04024 -0.02871 C -0.04167 -0.02963 -0.0431 -0.02963 -0.04453 -0.03009 C -0.04557 -0.03056 -0.04675 -0.03125 -0.04792 -0.03171 C -0.05013 -0.03449 -0.05209 -0.03634 -0.05378 -0.04074 C -0.05586 -0.0463 -0.05469 -0.04398 -0.05716 -0.04815 C -0.05912 -0.0588 -0.05729 -0.05533 -0.06133 -0.06019 C -0.06615 -0.07315 -0.06042 -0.05671 -0.06393 -0.06921 C -0.06432 -0.07083 -0.06498 -0.07222 -0.06563 -0.07361 C -0.06589 -0.07523 -0.06602 -0.07662 -0.06641 -0.07824 C -0.06693 -0.08009 -0.06771 -0.08195 -0.0681 -0.08403 C -0.06849 -0.08611 -0.06849 -0.0882 -0.06888 -0.09005 C -0.06927 -0.0919 -0.07018 -0.09306 -0.07057 -0.09468 C -0.07461 -0.11065 -0.07018 -0.09792 -0.07396 -0.1081 C -0.07422 -0.10949 -0.07513 -0.1169 -0.07565 -0.11852 C -0.07669 -0.12176 -0.07839 -0.12408 -0.07904 -0.12755 L -0.08073 -0.13658 C -0.08099 -0.1382 -0.08138 -0.13958 -0.08164 -0.14097 C -0.08281 -0.15023 -0.08203 -0.14514 -0.08412 -0.15602 C -0.08607 -0.1669 -0.08373 -0.15347 -0.08581 -0.16667 C -0.08607 -0.16806 -0.0862 -0.16968 -0.08659 -0.17107 C -0.08737 -0.17315 -0.08828 -0.175 -0.08919 -0.17708 C -0.09128 -0.1882 -0.09011 -0.1831 -0.09258 -0.19213 C -0.09219 -0.19352 -0.09167 -0.19491 -0.09167 -0.19653 C -0.09167 -0.19954 -0.09219 -0.2088 -0.09336 -0.21296 C -0.09388 -0.21458 -0.09414 -0.21644 -0.09505 -0.21759 C -0.09505 -0.21759 -0.10143 -0.2213 -0.10261 -0.22199 L -0.10521 -0.22338 C -0.10573 -0.22454 -0.10651 -0.22523 -0.1069 -0.22639 C -0.10729 -0.22778 -0.10729 -0.22963 -0.10768 -0.23102 C -0.10821 -0.23264 -0.10886 -0.23403 -0.10938 -0.23542 C -0.11133 -0.24583 -0.10977 -0.24213 -0.11276 -0.24746 C -0.1155 -0.26181 -0.11263 -0.25255 -0.11693 -0.25949 C -0.11849 -0.26181 -0.11979 -0.26435 -0.12123 -0.2669 L -0.12292 -0.26991 C -0.12344 -0.27315 -0.12383 -0.27662 -0.12539 -0.27894 C -0.12696 -0.28125 -0.13047 -0.28496 -0.13047 -0.28496 C -0.13099 -0.28634 -0.13151 -0.28796 -0.13216 -0.28935 C -0.13321 -0.29167 -0.13555 -0.29537 -0.13555 -0.29537 C -0.1362 -0.29908 -0.13646 -0.30139 -0.13802 -0.3044 C -0.1388 -0.30579 -0.13985 -0.30625 -0.14063 -0.30741 C -0.14063 -0.30741 -0.14636 -0.31783 -0.14727 -0.31945 C -0.14792 -0.32037 -0.14857 -0.3213 -0.14896 -0.32246 L -0.15235 -0.33148 C -0.15261 -0.3338 -0.153 -0.33634 -0.15326 -0.33889 C -0.15352 -0.3419 -0.15365 -0.34491 -0.15404 -0.34792 C -0.1543 -0.34931 -0.15443 -0.35116 -0.15495 -0.35232 C -0.1556 -0.35417 -0.15664 -0.35533 -0.15742 -0.35695 C -0.16159 -0.36551 -0.15807 -0.36065 -0.1625 -0.36574 L -0.16836 -0.39722 L -0.17005 -0.40625 C -0.17253 -0.41065 -0.17136 -0.4081 -0.17344 -0.41389 C -0.1737 -0.41528 -0.17422 -0.41667 -0.17422 -0.41829 C -0.17422 -0.42732 -0.17396 -0.43634 -0.17344 -0.44537 C -0.17331 -0.44676 -0.17279 -0.44815 -0.17266 -0.44977 C -0.1724 -0.45162 -0.17175 -0.45926 -0.17097 -0.46181 C -0.17044 -0.46296 -0.16979 -0.46366 -0.16927 -0.46482 C -0.16836 -0.46898 -0.16849 -0.47014 -0.16667 -0.47384 C -0.16563 -0.47593 -0.16485 -0.47894 -0.16328 -0.47963 L -0.16081 -0.48125 C -0.15964 -0.48333 -0.15899 -0.48634 -0.15742 -0.48727 L -0.15235 -0.49028 C -0.14544 -0.48611 -0.14909 -0.48681 -0.14141 -0.48866 C -0.13659 -0.50162 -0.14232 -0.48519 -0.13893 -0.49769 C -0.13841 -0.49931 -0.13776 -0.5007 -0.13724 -0.50232 C -0.13698 -0.50371 -0.13685 -0.50556 -0.13633 -0.50671 C -0.13568 -0.5081 -0.13451 -0.50833 -0.13386 -0.50972 C -0.13307 -0.51088 -0.13268 -0.51273 -0.13216 -0.51412 L -0.12956 -0.52778 C -0.1293 -0.52917 -0.12891 -0.53056 -0.12878 -0.53218 C -0.12852 -0.53472 -0.12813 -0.53704 -0.128 -0.53958 C -0.12722 -0.54722 -0.12722 -0.5507 -0.1263 -0.55764 C -0.12604 -0.55926 -0.12565 -0.56065 -0.12539 -0.56204 C -0.12578 -0.56875 -0.12422 -0.57755 -0.128 -0.58171 C -0.12865 -0.58241 -0.12956 -0.58264 -0.13047 -0.5831 C -0.13425 -0.58982 -0.13255 -0.58565 -0.13464 -0.59653 L -0.13555 -0.60116 C -0.13581 -0.61111 -0.13581 -0.62107 -0.13633 -0.63102 C -0.13646 -0.63264 -0.13685 -0.63403 -0.13724 -0.63565 C -0.13906 -0.64352 -0.13854 -0.63912 -0.13972 -0.64607 C -0.14011 -0.64815 -0.14024 -0.65 -0.14063 -0.65208 C -0.14063 -0.65208 -0.14271 -0.6632 -0.1431 -0.66551 C -0.14336 -0.66713 -0.14375 -0.66852 -0.14388 -0.67014 C -0.14649 -0.68773 -0.14258 -0.65972 -0.14557 -0.68658 C -0.14584 -0.68796 -0.14623 -0.68958 -0.14649 -0.69097 C -0.14688 -0.69352 -0.14701 -0.69607 -0.14727 -0.69861 C -0.14701 -0.70509 -0.14688 -0.71158 -0.14649 -0.71806 C -0.14636 -0.71945 -0.1461 -0.72107 -0.14557 -0.72246 C -0.14414 -0.72685 -0.14141 -0.72708 -0.13893 -0.72847 C -0.13802 -0.72894 -0.13724 -0.72963 -0.13633 -0.72986 C -0.12995 -0.73218 -0.1336 -0.73125 -0.12539 -0.73287 L -0.12031 -0.73588 L -0.11784 -0.7375 C -0.11732 -0.73843 -0.1168 -0.73982 -0.11615 -0.74051 C -0.11485 -0.74144 -0.11328 -0.74144 -0.11198 -0.7419 C -0.11081 -0.74236 -0.10964 -0.74283 -0.1086 -0.74352 C -0.1069 -0.74445 -0.10352 -0.74653 -0.10352 -0.74653 C -0.10287 -0.74792 -0.10248 -0.74954 -0.10182 -0.75093 C -0.09987 -0.75509 -0.10013 -0.75232 -0.10013 -0.75533 " pathEditMode="relative" ptsTypes="AAAAAAAAAAAAAAAAAAAAAAAAAAAAAAAAAAAAAAAAAAAAAAAAAAAAAAAAAAAAAAAAAAAAAAAAAAAAAAAAAAAAAAAAAAAAAAAAAAAAAAAAAA">
                                      <p:cBhvr>
                                        <p:cTn id="109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</p:childTnLst>
        </p:cTn>
      </p:par>
    </p:tnLst>
    <p:bldLst>
      <p:bldP spid="70" grpId="0" animBg="1"/>
      <p:bldP spid="132" grpId="0" animBg="1"/>
      <p:bldP spid="72" grpId="0" animBg="1"/>
      <p:bldP spid="113" grpId="0" animBg="1"/>
      <p:bldP spid="118" grpId="0" animBg="1"/>
      <p:bldP spid="71" grpId="0" animBg="1"/>
      <p:bldP spid="112" grpId="0" animBg="1"/>
      <p:bldP spid="15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cute athero proph">
            <a:extLst>
              <a:ext uri="{FF2B5EF4-FFF2-40B4-BE49-F238E27FC236}">
                <a16:creationId xmlns:a16="http://schemas.microsoft.com/office/drawing/2014/main" id="{BA4DE069-8378-4363-964A-06F072547E4D}"/>
              </a:ext>
            </a:extLst>
          </p:cNvPr>
          <p:cNvSpPr txBox="1"/>
          <p:nvPr/>
        </p:nvSpPr>
        <p:spPr>
          <a:xfrm>
            <a:off x="6711067" y="1296893"/>
            <a:ext cx="2344413" cy="3331868"/>
          </a:xfrm>
          <a:prstGeom prst="rect">
            <a:avLst/>
          </a:prstGeom>
          <a:solidFill>
            <a:schemeClr val="accent6">
              <a:lumMod val="20000"/>
              <a:lumOff val="80000"/>
              <a:alpha val="42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/>
              <a:t>Dual therapy (ASA+P2Y</a:t>
            </a:r>
            <a:r>
              <a:rPr lang="en-US" sz="1600" b="1" baseline="-25000" dirty="0"/>
              <a:t>12</a:t>
            </a:r>
            <a:r>
              <a:rPr lang="en-US" sz="1600" b="1" dirty="0"/>
              <a:t>)</a:t>
            </a:r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r>
              <a:rPr lang="en-US" sz="1600" b="1" dirty="0"/>
              <a:t>“Step-Up” Monotherapy</a:t>
            </a:r>
          </a:p>
        </p:txBody>
      </p:sp>
      <p:sp>
        <p:nvSpPr>
          <p:cNvPr id="64" name="anticoagulation">
            <a:extLst>
              <a:ext uri="{FF2B5EF4-FFF2-40B4-BE49-F238E27FC236}">
                <a16:creationId xmlns:a16="http://schemas.microsoft.com/office/drawing/2014/main" id="{E8884CEE-9A98-4B92-8A7C-5214D8BF4333}"/>
              </a:ext>
            </a:extLst>
          </p:cNvPr>
          <p:cNvSpPr txBox="1"/>
          <p:nvPr/>
        </p:nvSpPr>
        <p:spPr>
          <a:xfrm>
            <a:off x="2003841" y="1289827"/>
            <a:ext cx="3286664" cy="3346444"/>
          </a:xfrm>
          <a:prstGeom prst="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600" b="1" dirty="0"/>
              <a:t>Anticoagulation</a:t>
            </a:r>
          </a:p>
        </p:txBody>
      </p:sp>
      <p:sp>
        <p:nvSpPr>
          <p:cNvPr id="4" name="Title - sub-type">
            <a:extLst>
              <a:ext uri="{FF2B5EF4-FFF2-40B4-BE49-F238E27FC236}">
                <a16:creationId xmlns:a16="http://schemas.microsoft.com/office/drawing/2014/main" id="{773B3BEA-857C-4247-B388-948F72C15B35}"/>
              </a:ext>
            </a:extLst>
          </p:cNvPr>
          <p:cNvSpPr txBox="1"/>
          <p:nvPr/>
        </p:nvSpPr>
        <p:spPr>
          <a:xfrm>
            <a:off x="3805012" y="155815"/>
            <a:ext cx="45819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Secondary Prophylaxis of Ischemic CVA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D6258-A23C-49E5-AAB9-EF302B3D62C1}"/>
              </a:ext>
            </a:extLst>
          </p:cNvPr>
          <p:cNvSpPr txBox="1"/>
          <p:nvPr/>
        </p:nvSpPr>
        <p:spPr>
          <a:xfrm>
            <a:off x="2058861" y="821806"/>
            <a:ext cx="1725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Embolic CVA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EFD911F-A055-418A-92E0-15515C1C8214}"/>
              </a:ext>
            </a:extLst>
          </p:cNvPr>
          <p:cNvGrpSpPr/>
          <p:nvPr/>
        </p:nvGrpSpPr>
        <p:grpSpPr>
          <a:xfrm>
            <a:off x="765589" y="1289827"/>
            <a:ext cx="4540383" cy="3346444"/>
            <a:chOff x="3083668" y="3018971"/>
            <a:chExt cx="3018817" cy="118337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6495C14-B971-408F-8813-16FDC34A7DA7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68" y="3018971"/>
              <a:ext cx="0" cy="1183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639FCD1-CF40-4C35-A10E-3EB0DB025D75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68" y="4202349"/>
              <a:ext cx="301881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EDC50A9-81C3-450A-83A0-9257C4FD0B79}"/>
                </a:ext>
              </a:extLst>
            </p:cNvPr>
            <p:cNvCxnSpPr>
              <a:cxnSpLocks/>
            </p:cNvCxnSpPr>
            <p:nvPr/>
          </p:nvCxnSpPr>
          <p:spPr>
            <a:xfrm>
              <a:off x="6102485" y="3018971"/>
              <a:ext cx="0" cy="1183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7B8B3A9-9A69-4579-97FE-E6AC33EC0C54}"/>
              </a:ext>
            </a:extLst>
          </p:cNvPr>
          <p:cNvSpPr txBox="1"/>
          <p:nvPr/>
        </p:nvSpPr>
        <p:spPr>
          <a:xfrm>
            <a:off x="278470" y="1277726"/>
            <a:ext cx="461665" cy="333186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Re-embolization risk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131110-1F1C-463E-A2E1-480E24145AB9}"/>
              </a:ext>
            </a:extLst>
          </p:cNvPr>
          <p:cNvSpPr txBox="1"/>
          <p:nvPr/>
        </p:nvSpPr>
        <p:spPr>
          <a:xfrm>
            <a:off x="5346895" y="1302387"/>
            <a:ext cx="461665" cy="333936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Bleeding Risk</a:t>
            </a:r>
          </a:p>
        </p:txBody>
      </p:sp>
      <p:sp>
        <p:nvSpPr>
          <p:cNvPr id="46" name="aspirin">
            <a:extLst>
              <a:ext uri="{FF2B5EF4-FFF2-40B4-BE49-F238E27FC236}">
                <a16:creationId xmlns:a16="http://schemas.microsoft.com/office/drawing/2014/main" id="{8BEDC6F4-0B07-4AB7-B9E3-F0864FC53770}"/>
              </a:ext>
            </a:extLst>
          </p:cNvPr>
          <p:cNvSpPr txBox="1"/>
          <p:nvPr/>
        </p:nvSpPr>
        <p:spPr>
          <a:xfrm>
            <a:off x="781058" y="1289826"/>
            <a:ext cx="1209072" cy="3331868"/>
          </a:xfrm>
          <a:prstGeom prst="rect">
            <a:avLst/>
          </a:prstGeom>
          <a:solidFill>
            <a:schemeClr val="accent6">
              <a:lumMod val="20000"/>
              <a:lumOff val="80000"/>
              <a:alpha val="42000"/>
            </a:schemeClr>
          </a:solidFill>
        </p:spPr>
        <p:txBody>
          <a:bodyPr wrap="square" rtlCol="0">
            <a:no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600" b="1" dirty="0"/>
              <a:t>Aspirin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4D88008-CD37-4580-B419-FE50DB02BBB5}"/>
              </a:ext>
            </a:extLst>
          </p:cNvPr>
          <p:cNvCxnSpPr>
            <a:cxnSpLocks/>
          </p:cNvCxnSpPr>
          <p:nvPr/>
        </p:nvCxnSpPr>
        <p:spPr>
          <a:xfrm flipH="1">
            <a:off x="1606480" y="2819591"/>
            <a:ext cx="194878" cy="29875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791F16F-7ADA-4CDC-91EB-AF34DE8203D2}"/>
              </a:ext>
            </a:extLst>
          </p:cNvPr>
          <p:cNvSpPr txBox="1"/>
          <p:nvPr/>
        </p:nvSpPr>
        <p:spPr>
          <a:xfrm>
            <a:off x="1343881" y="2296371"/>
            <a:ext cx="137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Hemorrhagic conversion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50D38E4-1EF2-45E5-B667-A9A1E166D0F4}"/>
              </a:ext>
            </a:extLst>
          </p:cNvPr>
          <p:cNvCxnSpPr>
            <a:cxnSpLocks/>
          </p:cNvCxnSpPr>
          <p:nvPr/>
        </p:nvCxnSpPr>
        <p:spPr>
          <a:xfrm>
            <a:off x="1990133" y="4655682"/>
            <a:ext cx="0" cy="269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FF38C34-336B-419B-A43F-77675734FD1A}"/>
              </a:ext>
            </a:extLst>
          </p:cNvPr>
          <p:cNvSpPr txBox="1"/>
          <p:nvPr/>
        </p:nvSpPr>
        <p:spPr>
          <a:xfrm>
            <a:off x="1524353" y="4985387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1-2 weeks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5C5C9BB-C02E-4BB6-8B5F-4D6B920DA0C3}"/>
              </a:ext>
            </a:extLst>
          </p:cNvPr>
          <p:cNvCxnSpPr>
            <a:cxnSpLocks/>
          </p:cNvCxnSpPr>
          <p:nvPr/>
        </p:nvCxnSpPr>
        <p:spPr>
          <a:xfrm flipV="1">
            <a:off x="791069" y="2767886"/>
            <a:ext cx="4500996" cy="87063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5759F10-1EF1-43EF-AA66-44F09E0AFA94}"/>
              </a:ext>
            </a:extLst>
          </p:cNvPr>
          <p:cNvSpPr/>
          <p:nvPr/>
        </p:nvSpPr>
        <p:spPr>
          <a:xfrm>
            <a:off x="785664" y="2857686"/>
            <a:ext cx="4506401" cy="1037812"/>
          </a:xfrm>
          <a:custGeom>
            <a:avLst/>
            <a:gdLst>
              <a:gd name="connsiteX0" fmla="*/ 0 w 2986087"/>
              <a:gd name="connsiteY0" fmla="*/ 0 h 593302"/>
              <a:gd name="connsiteX1" fmla="*/ 171450 w 2986087"/>
              <a:gd name="connsiteY1" fmla="*/ 109538 h 593302"/>
              <a:gd name="connsiteX2" fmla="*/ 361950 w 2986087"/>
              <a:gd name="connsiteY2" fmla="*/ 533400 h 593302"/>
              <a:gd name="connsiteX3" fmla="*/ 1100137 w 2986087"/>
              <a:gd name="connsiteY3" fmla="*/ 585788 h 593302"/>
              <a:gd name="connsiteX4" fmla="*/ 1976437 w 2986087"/>
              <a:gd name="connsiteY4" fmla="*/ 490538 h 593302"/>
              <a:gd name="connsiteX5" fmla="*/ 2614612 w 2986087"/>
              <a:gd name="connsiteY5" fmla="*/ 338138 h 593302"/>
              <a:gd name="connsiteX6" fmla="*/ 2986087 w 2986087"/>
              <a:gd name="connsiteY6" fmla="*/ 233363 h 593302"/>
              <a:gd name="connsiteX0" fmla="*/ 0 w 3498151"/>
              <a:gd name="connsiteY0" fmla="*/ 0 h 593302"/>
              <a:gd name="connsiteX1" fmla="*/ 171450 w 3498151"/>
              <a:gd name="connsiteY1" fmla="*/ 109538 h 593302"/>
              <a:gd name="connsiteX2" fmla="*/ 361950 w 3498151"/>
              <a:gd name="connsiteY2" fmla="*/ 533400 h 593302"/>
              <a:gd name="connsiteX3" fmla="*/ 1100137 w 3498151"/>
              <a:gd name="connsiteY3" fmla="*/ 585788 h 593302"/>
              <a:gd name="connsiteX4" fmla="*/ 1976437 w 3498151"/>
              <a:gd name="connsiteY4" fmla="*/ 490538 h 593302"/>
              <a:gd name="connsiteX5" fmla="*/ 2614612 w 3498151"/>
              <a:gd name="connsiteY5" fmla="*/ 338138 h 593302"/>
              <a:gd name="connsiteX6" fmla="*/ 3498151 w 3498151"/>
              <a:gd name="connsiteY6" fmla="*/ 135827 h 593302"/>
              <a:gd name="connsiteX0" fmla="*/ 0 w 3754183"/>
              <a:gd name="connsiteY0" fmla="*/ 0 h 593302"/>
              <a:gd name="connsiteX1" fmla="*/ 171450 w 3754183"/>
              <a:gd name="connsiteY1" fmla="*/ 109538 h 593302"/>
              <a:gd name="connsiteX2" fmla="*/ 361950 w 3754183"/>
              <a:gd name="connsiteY2" fmla="*/ 533400 h 593302"/>
              <a:gd name="connsiteX3" fmla="*/ 1100137 w 3754183"/>
              <a:gd name="connsiteY3" fmla="*/ 585788 h 593302"/>
              <a:gd name="connsiteX4" fmla="*/ 1976437 w 3754183"/>
              <a:gd name="connsiteY4" fmla="*/ 490538 h 593302"/>
              <a:gd name="connsiteX5" fmla="*/ 2614612 w 3754183"/>
              <a:gd name="connsiteY5" fmla="*/ 338138 h 593302"/>
              <a:gd name="connsiteX6" fmla="*/ 3754183 w 3754183"/>
              <a:gd name="connsiteY6" fmla="*/ 62675 h 593302"/>
              <a:gd name="connsiteX0" fmla="*/ 0 w 3766375"/>
              <a:gd name="connsiteY0" fmla="*/ 0 h 593302"/>
              <a:gd name="connsiteX1" fmla="*/ 171450 w 3766375"/>
              <a:gd name="connsiteY1" fmla="*/ 109538 h 593302"/>
              <a:gd name="connsiteX2" fmla="*/ 361950 w 3766375"/>
              <a:gd name="connsiteY2" fmla="*/ 533400 h 593302"/>
              <a:gd name="connsiteX3" fmla="*/ 1100137 w 3766375"/>
              <a:gd name="connsiteY3" fmla="*/ 585788 h 593302"/>
              <a:gd name="connsiteX4" fmla="*/ 1976437 w 3766375"/>
              <a:gd name="connsiteY4" fmla="*/ 490538 h 593302"/>
              <a:gd name="connsiteX5" fmla="*/ 2614612 w 3766375"/>
              <a:gd name="connsiteY5" fmla="*/ 338138 h 593302"/>
              <a:gd name="connsiteX6" fmla="*/ 3766375 w 3766375"/>
              <a:gd name="connsiteY6" fmla="*/ 87059 h 593302"/>
              <a:gd name="connsiteX0" fmla="*/ 0 w 3766375"/>
              <a:gd name="connsiteY0" fmla="*/ 0 h 594779"/>
              <a:gd name="connsiteX1" fmla="*/ 598170 w 3766375"/>
              <a:gd name="connsiteY1" fmla="*/ 79058 h 594779"/>
              <a:gd name="connsiteX2" fmla="*/ 361950 w 3766375"/>
              <a:gd name="connsiteY2" fmla="*/ 533400 h 594779"/>
              <a:gd name="connsiteX3" fmla="*/ 1100137 w 3766375"/>
              <a:gd name="connsiteY3" fmla="*/ 585788 h 594779"/>
              <a:gd name="connsiteX4" fmla="*/ 1976437 w 3766375"/>
              <a:gd name="connsiteY4" fmla="*/ 490538 h 594779"/>
              <a:gd name="connsiteX5" fmla="*/ 2614612 w 3766375"/>
              <a:gd name="connsiteY5" fmla="*/ 338138 h 594779"/>
              <a:gd name="connsiteX6" fmla="*/ 3766375 w 3766375"/>
              <a:gd name="connsiteY6" fmla="*/ 87059 h 594779"/>
              <a:gd name="connsiteX0" fmla="*/ 0 w 3766375"/>
              <a:gd name="connsiteY0" fmla="*/ 0 h 594779"/>
              <a:gd name="connsiteX1" fmla="*/ 598170 w 3766375"/>
              <a:gd name="connsiteY1" fmla="*/ 79058 h 594779"/>
              <a:gd name="connsiteX2" fmla="*/ 819150 w 3766375"/>
              <a:gd name="connsiteY2" fmla="*/ 533400 h 594779"/>
              <a:gd name="connsiteX3" fmla="*/ 1100137 w 3766375"/>
              <a:gd name="connsiteY3" fmla="*/ 585788 h 594779"/>
              <a:gd name="connsiteX4" fmla="*/ 1976437 w 3766375"/>
              <a:gd name="connsiteY4" fmla="*/ 490538 h 594779"/>
              <a:gd name="connsiteX5" fmla="*/ 2614612 w 3766375"/>
              <a:gd name="connsiteY5" fmla="*/ 338138 h 594779"/>
              <a:gd name="connsiteX6" fmla="*/ 3766375 w 3766375"/>
              <a:gd name="connsiteY6" fmla="*/ 87059 h 594779"/>
              <a:gd name="connsiteX0" fmla="*/ 0 w 3766375"/>
              <a:gd name="connsiteY0" fmla="*/ 0 h 585902"/>
              <a:gd name="connsiteX1" fmla="*/ 598170 w 3766375"/>
              <a:gd name="connsiteY1" fmla="*/ 79058 h 585902"/>
              <a:gd name="connsiteX2" fmla="*/ 849630 w 3766375"/>
              <a:gd name="connsiteY2" fmla="*/ 472440 h 585902"/>
              <a:gd name="connsiteX3" fmla="*/ 1100137 w 3766375"/>
              <a:gd name="connsiteY3" fmla="*/ 585788 h 585902"/>
              <a:gd name="connsiteX4" fmla="*/ 1976437 w 3766375"/>
              <a:gd name="connsiteY4" fmla="*/ 490538 h 585902"/>
              <a:gd name="connsiteX5" fmla="*/ 2614612 w 3766375"/>
              <a:gd name="connsiteY5" fmla="*/ 338138 h 585902"/>
              <a:gd name="connsiteX6" fmla="*/ 3766375 w 3766375"/>
              <a:gd name="connsiteY6" fmla="*/ 87059 h 585902"/>
              <a:gd name="connsiteX0" fmla="*/ 0 w 3766375"/>
              <a:gd name="connsiteY0" fmla="*/ 0 h 585902"/>
              <a:gd name="connsiteX1" fmla="*/ 598170 w 3766375"/>
              <a:gd name="connsiteY1" fmla="*/ 79058 h 585902"/>
              <a:gd name="connsiteX2" fmla="*/ 849630 w 3766375"/>
              <a:gd name="connsiteY2" fmla="*/ 472440 h 585902"/>
              <a:gd name="connsiteX3" fmla="*/ 1206817 w 3766375"/>
              <a:gd name="connsiteY3" fmla="*/ 585788 h 585902"/>
              <a:gd name="connsiteX4" fmla="*/ 1976437 w 3766375"/>
              <a:gd name="connsiteY4" fmla="*/ 490538 h 585902"/>
              <a:gd name="connsiteX5" fmla="*/ 2614612 w 3766375"/>
              <a:gd name="connsiteY5" fmla="*/ 338138 h 585902"/>
              <a:gd name="connsiteX6" fmla="*/ 3766375 w 3766375"/>
              <a:gd name="connsiteY6" fmla="*/ 87059 h 585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66375" h="585902">
                <a:moveTo>
                  <a:pt x="0" y="0"/>
                </a:moveTo>
                <a:cubicBezTo>
                  <a:pt x="55562" y="10319"/>
                  <a:pt x="456565" y="318"/>
                  <a:pt x="598170" y="79058"/>
                </a:cubicBezTo>
                <a:cubicBezTo>
                  <a:pt x="739775" y="157798"/>
                  <a:pt x="748189" y="387985"/>
                  <a:pt x="849630" y="472440"/>
                </a:cubicBezTo>
                <a:cubicBezTo>
                  <a:pt x="951071" y="556895"/>
                  <a:pt x="1019016" y="582772"/>
                  <a:pt x="1206817" y="585788"/>
                </a:cubicBezTo>
                <a:cubicBezTo>
                  <a:pt x="1394618" y="588804"/>
                  <a:pt x="1741805" y="531813"/>
                  <a:pt x="1976437" y="490538"/>
                </a:cubicBezTo>
                <a:cubicBezTo>
                  <a:pt x="2211070" y="449263"/>
                  <a:pt x="2446337" y="381001"/>
                  <a:pt x="2614612" y="338138"/>
                </a:cubicBezTo>
                <a:cubicBezTo>
                  <a:pt x="2782887" y="295276"/>
                  <a:pt x="3664775" y="118015"/>
                  <a:pt x="3766375" y="87059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Chronic athero proph">
            <a:extLst>
              <a:ext uri="{FF2B5EF4-FFF2-40B4-BE49-F238E27FC236}">
                <a16:creationId xmlns:a16="http://schemas.microsoft.com/office/drawing/2014/main" id="{C79D19E9-65F3-47EC-97B3-0068FCE91862}"/>
              </a:ext>
            </a:extLst>
          </p:cNvPr>
          <p:cNvSpPr txBox="1"/>
          <p:nvPr/>
        </p:nvSpPr>
        <p:spPr>
          <a:xfrm>
            <a:off x="9055479" y="1296894"/>
            <a:ext cx="2176607" cy="3346444"/>
          </a:xfrm>
          <a:prstGeom prst="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/>
              <a:t>Anti-</a:t>
            </a:r>
            <a:r>
              <a:rPr lang="en-US" sz="1600" b="1" dirty="0" err="1"/>
              <a:t>plt</a:t>
            </a:r>
            <a:r>
              <a:rPr lang="en-US" sz="1600" b="1" dirty="0"/>
              <a:t> monotherapy </a:t>
            </a:r>
          </a:p>
          <a:p>
            <a:pPr algn="ctr"/>
            <a:r>
              <a:rPr lang="en-US" sz="1600" dirty="0"/>
              <a:t>“step-up” from prior home regimen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8BCEC24-E58C-4F76-A958-BEC6E8325FEA}"/>
              </a:ext>
            </a:extLst>
          </p:cNvPr>
          <p:cNvSpPr txBox="1"/>
          <p:nvPr/>
        </p:nvSpPr>
        <p:spPr>
          <a:xfrm>
            <a:off x="7798440" y="835840"/>
            <a:ext cx="2334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Atherosclerotic CVA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082312A-1A24-4A21-9808-94A1732F4A67}"/>
              </a:ext>
            </a:extLst>
          </p:cNvPr>
          <p:cNvGrpSpPr/>
          <p:nvPr/>
        </p:nvGrpSpPr>
        <p:grpSpPr>
          <a:xfrm>
            <a:off x="6695599" y="1296894"/>
            <a:ext cx="4540383" cy="3346444"/>
            <a:chOff x="3083668" y="3018971"/>
            <a:chExt cx="3018817" cy="1183378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ABC377A-0FB9-4E20-8080-B46BF4D0555F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68" y="3018971"/>
              <a:ext cx="0" cy="1183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C7AE912-344D-4FC0-BB76-63085015BFDC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68" y="4202349"/>
              <a:ext cx="301881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BB52D92-2FD7-4DF7-9E88-E4E28695C9D0}"/>
                </a:ext>
              </a:extLst>
            </p:cNvPr>
            <p:cNvCxnSpPr>
              <a:cxnSpLocks/>
            </p:cNvCxnSpPr>
            <p:nvPr/>
          </p:nvCxnSpPr>
          <p:spPr>
            <a:xfrm>
              <a:off x="6102485" y="3018971"/>
              <a:ext cx="0" cy="1183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2ECC83B6-A07F-4E41-B6E5-436F90C94957}"/>
              </a:ext>
            </a:extLst>
          </p:cNvPr>
          <p:cNvSpPr txBox="1"/>
          <p:nvPr/>
        </p:nvSpPr>
        <p:spPr>
          <a:xfrm>
            <a:off x="6193488" y="2019272"/>
            <a:ext cx="461665" cy="184877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Re-occlusion risk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41E3CB5-5DA7-4B9D-9D42-387D735252A9}"/>
              </a:ext>
            </a:extLst>
          </p:cNvPr>
          <p:cNvSpPr txBox="1"/>
          <p:nvPr/>
        </p:nvSpPr>
        <p:spPr>
          <a:xfrm>
            <a:off x="11276905" y="1309454"/>
            <a:ext cx="461665" cy="333936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Bleeding Risk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D25E37C-5307-4A2D-BF5E-8B54E3A9E3B1}"/>
              </a:ext>
            </a:extLst>
          </p:cNvPr>
          <p:cNvCxnSpPr>
            <a:cxnSpLocks/>
          </p:cNvCxnSpPr>
          <p:nvPr/>
        </p:nvCxnSpPr>
        <p:spPr>
          <a:xfrm>
            <a:off x="9055479" y="4662749"/>
            <a:ext cx="0" cy="269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F088742-A52E-4B1F-A822-CC4D96F87134}"/>
              </a:ext>
            </a:extLst>
          </p:cNvPr>
          <p:cNvSpPr txBox="1"/>
          <p:nvPr/>
        </p:nvSpPr>
        <p:spPr>
          <a:xfrm>
            <a:off x="8575991" y="4985387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2-4 weeks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63883F9-AE1F-4D8F-AEFD-B89E8FDBC450}"/>
              </a:ext>
            </a:extLst>
          </p:cNvPr>
          <p:cNvSpPr txBox="1"/>
          <p:nvPr/>
        </p:nvSpPr>
        <p:spPr>
          <a:xfrm>
            <a:off x="3208897" y="4682702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Chronic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3DC2C39-0696-44C1-8C73-07C7D88C3DA9}"/>
              </a:ext>
            </a:extLst>
          </p:cNvPr>
          <p:cNvSpPr txBox="1"/>
          <p:nvPr/>
        </p:nvSpPr>
        <p:spPr>
          <a:xfrm>
            <a:off x="9708443" y="4666626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Chronic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17A7A2F-507B-4713-BC73-0E21A340AE99}"/>
              </a:ext>
            </a:extLst>
          </p:cNvPr>
          <p:cNvSpPr txBox="1"/>
          <p:nvPr/>
        </p:nvSpPr>
        <p:spPr>
          <a:xfrm>
            <a:off x="934919" y="4676701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Acute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8111335-6A1C-4E67-AD98-6FF45A5ADB0B}"/>
              </a:ext>
            </a:extLst>
          </p:cNvPr>
          <p:cNvSpPr txBox="1"/>
          <p:nvPr/>
        </p:nvSpPr>
        <p:spPr>
          <a:xfrm>
            <a:off x="7458374" y="4664895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Acute</a:t>
            </a:r>
          </a:p>
        </p:txBody>
      </p:sp>
      <p:sp>
        <p:nvSpPr>
          <p:cNvPr id="124" name="Embolic proph button">
            <a:extLst>
              <a:ext uri="{FF2B5EF4-FFF2-40B4-BE49-F238E27FC236}">
                <a16:creationId xmlns:a16="http://schemas.microsoft.com/office/drawing/2014/main" id="{8B0937DE-6866-4941-9DD5-693694BDCC51}"/>
              </a:ext>
            </a:extLst>
          </p:cNvPr>
          <p:cNvSpPr txBox="1"/>
          <p:nvPr/>
        </p:nvSpPr>
        <p:spPr>
          <a:xfrm>
            <a:off x="1871240" y="5324639"/>
            <a:ext cx="2090561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Secondary Prophylaxis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3FCAFA8-9116-4B5E-B8E0-67724A0EA65B}"/>
              </a:ext>
            </a:extLst>
          </p:cNvPr>
          <p:cNvSpPr/>
          <p:nvPr/>
        </p:nvSpPr>
        <p:spPr>
          <a:xfrm>
            <a:off x="9139881" y="5351615"/>
            <a:ext cx="2096101" cy="12311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40" tIns="0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intensity statin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BP target &lt;120/80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HbA1c &lt;7.0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Tobacco cessation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Processed Foods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50D5868-F732-42BF-8EBF-10D63D06FE6C}"/>
              </a:ext>
            </a:extLst>
          </p:cNvPr>
          <p:cNvSpPr/>
          <p:nvPr/>
        </p:nvSpPr>
        <p:spPr>
          <a:xfrm>
            <a:off x="6891570" y="5384305"/>
            <a:ext cx="2090561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40" tIns="0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intensity statin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BP target &lt;140/90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Blood </a:t>
            </a:r>
            <a:r>
              <a:rPr lang="en-US" sz="1600" dirty="0" err="1"/>
              <a:t>glu</a:t>
            </a:r>
            <a:r>
              <a:rPr lang="en-US" sz="1600" dirty="0"/>
              <a:t> &lt;18</a:t>
            </a:r>
          </a:p>
        </p:txBody>
      </p:sp>
      <p:sp>
        <p:nvSpPr>
          <p:cNvPr id="125" name="Atherosclerosis proph">
            <a:extLst>
              <a:ext uri="{FF2B5EF4-FFF2-40B4-BE49-F238E27FC236}">
                <a16:creationId xmlns:a16="http://schemas.microsoft.com/office/drawing/2014/main" id="{7C294C00-14CF-47AD-8D2F-B48C2F7A4FD3}"/>
              </a:ext>
            </a:extLst>
          </p:cNvPr>
          <p:cNvSpPr txBox="1"/>
          <p:nvPr/>
        </p:nvSpPr>
        <p:spPr>
          <a:xfrm>
            <a:off x="7944144" y="5351782"/>
            <a:ext cx="2096101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Secondary Prophylaxis</a:t>
            </a: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E315C3FC-5066-4479-956A-79092F2F0E51}"/>
              </a:ext>
            </a:extLst>
          </p:cNvPr>
          <p:cNvSpPr/>
          <p:nvPr/>
        </p:nvSpPr>
        <p:spPr>
          <a:xfrm>
            <a:off x="6726535" y="3083112"/>
            <a:ext cx="4533900" cy="534105"/>
          </a:xfrm>
          <a:custGeom>
            <a:avLst/>
            <a:gdLst>
              <a:gd name="connsiteX0" fmla="*/ 0 w 4533900"/>
              <a:gd name="connsiteY0" fmla="*/ 0 h 534105"/>
              <a:gd name="connsiteX1" fmla="*/ 638175 w 4533900"/>
              <a:gd name="connsiteY1" fmla="*/ 238125 h 534105"/>
              <a:gd name="connsiteX2" fmla="*/ 2324100 w 4533900"/>
              <a:gd name="connsiteY2" fmla="*/ 514350 h 534105"/>
              <a:gd name="connsiteX3" fmla="*/ 3505200 w 4533900"/>
              <a:gd name="connsiteY3" fmla="*/ 495300 h 534105"/>
              <a:gd name="connsiteX4" fmla="*/ 4533900 w 4533900"/>
              <a:gd name="connsiteY4" fmla="*/ 361950 h 53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3900" h="534105">
                <a:moveTo>
                  <a:pt x="0" y="0"/>
                </a:moveTo>
                <a:cubicBezTo>
                  <a:pt x="125412" y="76200"/>
                  <a:pt x="250825" y="152400"/>
                  <a:pt x="638175" y="238125"/>
                </a:cubicBezTo>
                <a:cubicBezTo>
                  <a:pt x="1025525" y="323850"/>
                  <a:pt x="1846262" y="471487"/>
                  <a:pt x="2324100" y="514350"/>
                </a:cubicBezTo>
                <a:cubicBezTo>
                  <a:pt x="2801938" y="557213"/>
                  <a:pt x="3136900" y="520700"/>
                  <a:pt x="3505200" y="495300"/>
                </a:cubicBezTo>
                <a:cubicBezTo>
                  <a:pt x="3873500" y="469900"/>
                  <a:pt x="4203700" y="415925"/>
                  <a:pt x="4533900" y="361950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B6B9279C-B752-4BC1-B3B7-3E99D642567F}"/>
              </a:ext>
            </a:extLst>
          </p:cNvPr>
          <p:cNvSpPr/>
          <p:nvPr/>
        </p:nvSpPr>
        <p:spPr>
          <a:xfrm>
            <a:off x="6729710" y="2452529"/>
            <a:ext cx="4533900" cy="931766"/>
          </a:xfrm>
          <a:custGeom>
            <a:avLst/>
            <a:gdLst>
              <a:gd name="connsiteX0" fmla="*/ 0 w 4533900"/>
              <a:gd name="connsiteY0" fmla="*/ 20983 h 931766"/>
              <a:gd name="connsiteX1" fmla="*/ 850900 w 4533900"/>
              <a:gd name="connsiteY1" fmla="*/ 109883 h 931766"/>
              <a:gd name="connsiteX2" fmla="*/ 2438400 w 4533900"/>
              <a:gd name="connsiteY2" fmla="*/ 871883 h 931766"/>
              <a:gd name="connsiteX3" fmla="*/ 3949700 w 4533900"/>
              <a:gd name="connsiteY3" fmla="*/ 871883 h 931766"/>
              <a:gd name="connsiteX4" fmla="*/ 4533900 w 4533900"/>
              <a:gd name="connsiteY4" fmla="*/ 782983 h 93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3900" h="931766">
                <a:moveTo>
                  <a:pt x="0" y="20983"/>
                </a:moveTo>
                <a:cubicBezTo>
                  <a:pt x="222250" y="-5476"/>
                  <a:pt x="444500" y="-31934"/>
                  <a:pt x="850900" y="109883"/>
                </a:cubicBezTo>
                <a:cubicBezTo>
                  <a:pt x="1257300" y="251700"/>
                  <a:pt x="1921933" y="744883"/>
                  <a:pt x="2438400" y="871883"/>
                </a:cubicBezTo>
                <a:cubicBezTo>
                  <a:pt x="2954867" y="998883"/>
                  <a:pt x="3600450" y="886700"/>
                  <a:pt x="3949700" y="871883"/>
                </a:cubicBezTo>
                <a:cubicBezTo>
                  <a:pt x="4298950" y="857066"/>
                  <a:pt x="4416425" y="820024"/>
                  <a:pt x="4533900" y="782983"/>
                </a:cubicBezTo>
              </a:path>
            </a:pathLst>
          </a:custGeom>
          <a:noFill/>
          <a:ln w="12700" cmpd="sng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F99099AC-8A25-4F7F-A83F-A34C6982977D}"/>
              </a:ext>
            </a:extLst>
          </p:cNvPr>
          <p:cNvSpPr/>
          <p:nvPr/>
        </p:nvSpPr>
        <p:spPr>
          <a:xfrm>
            <a:off x="6756995" y="2958389"/>
            <a:ext cx="4470400" cy="587873"/>
          </a:xfrm>
          <a:custGeom>
            <a:avLst/>
            <a:gdLst>
              <a:gd name="connsiteX0" fmla="*/ 0 w 4533900"/>
              <a:gd name="connsiteY0" fmla="*/ 20983 h 931766"/>
              <a:gd name="connsiteX1" fmla="*/ 850900 w 4533900"/>
              <a:gd name="connsiteY1" fmla="*/ 109883 h 931766"/>
              <a:gd name="connsiteX2" fmla="*/ 2438400 w 4533900"/>
              <a:gd name="connsiteY2" fmla="*/ 871883 h 931766"/>
              <a:gd name="connsiteX3" fmla="*/ 3949700 w 4533900"/>
              <a:gd name="connsiteY3" fmla="*/ 871883 h 931766"/>
              <a:gd name="connsiteX4" fmla="*/ 4533900 w 4533900"/>
              <a:gd name="connsiteY4" fmla="*/ 782983 h 931766"/>
              <a:gd name="connsiteX0" fmla="*/ 0 w 4533900"/>
              <a:gd name="connsiteY0" fmla="*/ 10376 h 862135"/>
              <a:gd name="connsiteX1" fmla="*/ 850900 w 4533900"/>
              <a:gd name="connsiteY1" fmla="*/ 99276 h 862135"/>
              <a:gd name="connsiteX2" fmla="*/ 2438400 w 4533900"/>
              <a:gd name="connsiteY2" fmla="*/ 569176 h 862135"/>
              <a:gd name="connsiteX3" fmla="*/ 3949700 w 4533900"/>
              <a:gd name="connsiteY3" fmla="*/ 861276 h 862135"/>
              <a:gd name="connsiteX4" fmla="*/ 4533900 w 4533900"/>
              <a:gd name="connsiteY4" fmla="*/ 772376 h 862135"/>
              <a:gd name="connsiteX0" fmla="*/ 0 w 4533900"/>
              <a:gd name="connsiteY0" fmla="*/ 10376 h 775268"/>
              <a:gd name="connsiteX1" fmla="*/ 850900 w 4533900"/>
              <a:gd name="connsiteY1" fmla="*/ 99276 h 775268"/>
              <a:gd name="connsiteX2" fmla="*/ 2438400 w 4533900"/>
              <a:gd name="connsiteY2" fmla="*/ 569176 h 775268"/>
              <a:gd name="connsiteX3" fmla="*/ 3987800 w 4533900"/>
              <a:gd name="connsiteY3" fmla="*/ 492976 h 775268"/>
              <a:gd name="connsiteX4" fmla="*/ 4533900 w 4533900"/>
              <a:gd name="connsiteY4" fmla="*/ 772376 h 775268"/>
              <a:gd name="connsiteX0" fmla="*/ 0 w 4470400"/>
              <a:gd name="connsiteY0" fmla="*/ 10376 h 587873"/>
              <a:gd name="connsiteX1" fmla="*/ 850900 w 4470400"/>
              <a:gd name="connsiteY1" fmla="*/ 99276 h 587873"/>
              <a:gd name="connsiteX2" fmla="*/ 2438400 w 4470400"/>
              <a:gd name="connsiteY2" fmla="*/ 569176 h 587873"/>
              <a:gd name="connsiteX3" fmla="*/ 3987800 w 4470400"/>
              <a:gd name="connsiteY3" fmla="*/ 492976 h 587873"/>
              <a:gd name="connsiteX4" fmla="*/ 4470400 w 4470400"/>
              <a:gd name="connsiteY4" fmla="*/ 365976 h 58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70400" h="587873">
                <a:moveTo>
                  <a:pt x="0" y="10376"/>
                </a:moveTo>
                <a:cubicBezTo>
                  <a:pt x="222250" y="-16083"/>
                  <a:pt x="444500" y="6143"/>
                  <a:pt x="850900" y="99276"/>
                </a:cubicBezTo>
                <a:cubicBezTo>
                  <a:pt x="1257300" y="192409"/>
                  <a:pt x="1915583" y="503559"/>
                  <a:pt x="2438400" y="569176"/>
                </a:cubicBezTo>
                <a:cubicBezTo>
                  <a:pt x="2961217" y="634793"/>
                  <a:pt x="3638550" y="507793"/>
                  <a:pt x="3987800" y="492976"/>
                </a:cubicBezTo>
                <a:cubicBezTo>
                  <a:pt x="4337050" y="478159"/>
                  <a:pt x="4352925" y="403017"/>
                  <a:pt x="4470400" y="365976"/>
                </a:cubicBezTo>
              </a:path>
            </a:pathLst>
          </a:custGeom>
          <a:noFill/>
          <a:ln w="31750" cmpd="sng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4" name="key">
            <a:extLst>
              <a:ext uri="{FF2B5EF4-FFF2-40B4-BE49-F238E27FC236}">
                <a16:creationId xmlns:a16="http://schemas.microsoft.com/office/drawing/2014/main" id="{F75C5BB8-D1A2-4457-8345-E13319D91444}"/>
              </a:ext>
            </a:extLst>
          </p:cNvPr>
          <p:cNvGrpSpPr/>
          <p:nvPr/>
        </p:nvGrpSpPr>
        <p:grpSpPr>
          <a:xfrm>
            <a:off x="6699972" y="1296893"/>
            <a:ext cx="2348695" cy="3346444"/>
            <a:chOff x="6642822" y="1296893"/>
            <a:chExt cx="2348695" cy="3346444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38C1B10-A7FF-4DF0-B43A-6C28292E55C3}"/>
                </a:ext>
              </a:extLst>
            </p:cNvPr>
            <p:cNvSpPr/>
            <p:nvPr/>
          </p:nvSpPr>
          <p:spPr>
            <a:xfrm>
              <a:off x="6642822" y="1296893"/>
              <a:ext cx="2348695" cy="334644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ABCD</a:t>
              </a:r>
              <a:r>
                <a:rPr lang="en-US" altLang="en-US" sz="1600" baseline="30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≥ 4 (           )</a:t>
              </a: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NIHSS ≤3 (            )</a:t>
              </a: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ABCD</a:t>
              </a:r>
              <a:r>
                <a:rPr lang="en-US" altLang="en-US" sz="1600" baseline="30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≤ 3 (           )</a:t>
              </a:r>
            </a:p>
            <a:p>
              <a:pPr algn="ctr"/>
              <a:r>
                <a:rPr lang="en-US" alt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NIHSS ≥ 4 (            )</a:t>
              </a:r>
            </a:p>
          </p:txBody>
        </p:sp>
        <p:grpSp>
          <p:nvGrpSpPr>
            <p:cNvPr id="151" name="key">
              <a:extLst>
                <a:ext uri="{FF2B5EF4-FFF2-40B4-BE49-F238E27FC236}">
                  <a16:creationId xmlns:a16="http://schemas.microsoft.com/office/drawing/2014/main" id="{2486EAA9-C85D-47BD-8058-08499181CE9B}"/>
                </a:ext>
              </a:extLst>
            </p:cNvPr>
            <p:cNvGrpSpPr/>
            <p:nvPr/>
          </p:nvGrpSpPr>
          <p:grpSpPr>
            <a:xfrm>
              <a:off x="7945410" y="1742052"/>
              <a:ext cx="562291" cy="2679334"/>
              <a:chOff x="7962900" y="1725385"/>
              <a:chExt cx="562291" cy="2679334"/>
            </a:xfrm>
          </p:grpSpPr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762E19DC-A5C9-4E8A-B22A-F0B822F711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8303" y="1725385"/>
                <a:ext cx="475297" cy="0"/>
              </a:xfrm>
              <a:prstGeom prst="line">
                <a:avLst/>
              </a:prstGeom>
              <a:ln w="127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FEC08798-297F-4535-9BD4-10DEE52089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2900" y="1959969"/>
                <a:ext cx="508000" cy="0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8E6431E0-410C-447C-A4A2-079A58A1C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5185" y="4151085"/>
                <a:ext cx="500006" cy="0"/>
              </a:xfrm>
              <a:prstGeom prst="line">
                <a:avLst/>
              </a:prstGeom>
              <a:ln w="22225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C3C6CD48-D4E8-4E96-8D16-048B2B982B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9785" y="4404719"/>
                <a:ext cx="525406" cy="0"/>
              </a:xfrm>
              <a:prstGeom prst="line">
                <a:avLst/>
              </a:prstGeom>
              <a:ln w="22225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F682D3FA-A881-4EC6-B3E7-6DC45DF88E50}"/>
              </a:ext>
            </a:extLst>
          </p:cNvPr>
          <p:cNvSpPr/>
          <p:nvPr/>
        </p:nvSpPr>
        <p:spPr>
          <a:xfrm>
            <a:off x="6708895" y="2900373"/>
            <a:ext cx="4533900" cy="534105"/>
          </a:xfrm>
          <a:custGeom>
            <a:avLst/>
            <a:gdLst>
              <a:gd name="connsiteX0" fmla="*/ 0 w 4533900"/>
              <a:gd name="connsiteY0" fmla="*/ 0 h 534105"/>
              <a:gd name="connsiteX1" fmla="*/ 638175 w 4533900"/>
              <a:gd name="connsiteY1" fmla="*/ 238125 h 534105"/>
              <a:gd name="connsiteX2" fmla="*/ 2324100 w 4533900"/>
              <a:gd name="connsiteY2" fmla="*/ 514350 h 534105"/>
              <a:gd name="connsiteX3" fmla="*/ 3505200 w 4533900"/>
              <a:gd name="connsiteY3" fmla="*/ 495300 h 534105"/>
              <a:gd name="connsiteX4" fmla="*/ 4533900 w 4533900"/>
              <a:gd name="connsiteY4" fmla="*/ 361950 h 53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3900" h="534105">
                <a:moveTo>
                  <a:pt x="0" y="0"/>
                </a:moveTo>
                <a:cubicBezTo>
                  <a:pt x="125412" y="76200"/>
                  <a:pt x="250825" y="152400"/>
                  <a:pt x="638175" y="238125"/>
                </a:cubicBezTo>
                <a:cubicBezTo>
                  <a:pt x="1025525" y="323850"/>
                  <a:pt x="1846262" y="471487"/>
                  <a:pt x="2324100" y="514350"/>
                </a:cubicBezTo>
                <a:cubicBezTo>
                  <a:pt x="2801938" y="557213"/>
                  <a:pt x="3136900" y="520700"/>
                  <a:pt x="3505200" y="495300"/>
                </a:cubicBezTo>
                <a:cubicBezTo>
                  <a:pt x="3873500" y="469900"/>
                  <a:pt x="4203700" y="415925"/>
                  <a:pt x="4533900" y="361950"/>
                </a:cubicBezTo>
              </a:path>
            </a:pathLst>
          </a:custGeom>
          <a:noFill/>
          <a:ln w="3175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AB1FE4C-5D0A-4FF8-AE33-7C4EA0BC5512}"/>
              </a:ext>
            </a:extLst>
          </p:cNvPr>
          <p:cNvCxnSpPr>
            <a:cxnSpLocks/>
            <a:stCxn id="121" idx="2"/>
            <a:endCxn id="127" idx="0"/>
          </p:cNvCxnSpPr>
          <p:nvPr/>
        </p:nvCxnSpPr>
        <p:spPr>
          <a:xfrm flipH="1">
            <a:off x="7936851" y="4880339"/>
            <a:ext cx="1011" cy="503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F976CF2-922E-4FDC-A953-C260814A955D}"/>
              </a:ext>
            </a:extLst>
          </p:cNvPr>
          <p:cNvCxnSpPr>
            <a:cxnSpLocks/>
            <a:stCxn id="115" idx="2"/>
            <a:endCxn id="126" idx="0"/>
          </p:cNvCxnSpPr>
          <p:nvPr/>
        </p:nvCxnSpPr>
        <p:spPr>
          <a:xfrm>
            <a:off x="10187931" y="4882070"/>
            <a:ext cx="1" cy="4695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Rectangle: Rounded Corners 163">
            <a:hlinkClick r:id="rId2" action="ppaction://hlinksldjump"/>
            <a:extLst>
              <a:ext uri="{FF2B5EF4-FFF2-40B4-BE49-F238E27FC236}">
                <a16:creationId xmlns:a16="http://schemas.microsoft.com/office/drawing/2014/main" id="{7919C0DA-D810-43DA-8DB9-9A315067696B}"/>
              </a:ext>
            </a:extLst>
          </p:cNvPr>
          <p:cNvSpPr/>
          <p:nvPr/>
        </p:nvSpPr>
        <p:spPr>
          <a:xfrm>
            <a:off x="5616806" y="6207668"/>
            <a:ext cx="958387" cy="375053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Main Board</a:t>
            </a:r>
          </a:p>
        </p:txBody>
      </p:sp>
      <p:pic>
        <p:nvPicPr>
          <p:cNvPr id="165" name="Graphic 164" descr="Cursor">
            <a:extLst>
              <a:ext uri="{FF2B5EF4-FFF2-40B4-BE49-F238E27FC236}">
                <a16:creationId xmlns:a16="http://schemas.microsoft.com/office/drawing/2014/main" id="{54A792F7-3F1E-4104-871F-35B74D6D8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3812015" y="5539067"/>
            <a:ext cx="355858" cy="355858"/>
          </a:xfrm>
          <a:prstGeom prst="rect">
            <a:avLst/>
          </a:prstGeom>
        </p:spPr>
      </p:pic>
      <p:pic>
        <p:nvPicPr>
          <p:cNvPr id="166" name="Graphic 165" descr="Cursor">
            <a:extLst>
              <a:ext uri="{FF2B5EF4-FFF2-40B4-BE49-F238E27FC236}">
                <a16:creationId xmlns:a16="http://schemas.microsoft.com/office/drawing/2014/main" id="{93C8ED67-3A5A-43AE-841F-750585429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9868598" y="5539067"/>
            <a:ext cx="355858" cy="355858"/>
          </a:xfrm>
          <a:prstGeom prst="rect">
            <a:avLst/>
          </a:prstGeom>
        </p:spPr>
      </p:pic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AC70F74-C7D3-4182-9F3F-DC1757921086}"/>
              </a:ext>
            </a:extLst>
          </p:cNvPr>
          <p:cNvCxnSpPr>
            <a:cxnSpLocks/>
          </p:cNvCxnSpPr>
          <p:nvPr/>
        </p:nvCxnSpPr>
        <p:spPr>
          <a:xfrm>
            <a:off x="760351" y="4643681"/>
            <a:ext cx="0" cy="269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C5522C3F-9604-4AF3-857F-95E6E79C0AD9}"/>
              </a:ext>
            </a:extLst>
          </p:cNvPr>
          <p:cNvSpPr txBox="1"/>
          <p:nvPr/>
        </p:nvSpPr>
        <p:spPr>
          <a:xfrm>
            <a:off x="294571" y="4973386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2 days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C2D03E6-C360-4FE7-8AEF-458A84BD62EB}"/>
              </a:ext>
            </a:extLst>
          </p:cNvPr>
          <p:cNvCxnSpPr>
            <a:cxnSpLocks/>
          </p:cNvCxnSpPr>
          <p:nvPr/>
        </p:nvCxnSpPr>
        <p:spPr>
          <a:xfrm>
            <a:off x="6693361" y="4653754"/>
            <a:ext cx="0" cy="269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61F4D484-4B0B-4007-BE6C-1A5414893CC3}"/>
              </a:ext>
            </a:extLst>
          </p:cNvPr>
          <p:cNvSpPr txBox="1"/>
          <p:nvPr/>
        </p:nvSpPr>
        <p:spPr>
          <a:xfrm>
            <a:off x="6227581" y="4983459"/>
            <a:ext cx="958976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dirty="0"/>
              <a:t>2 days</a:t>
            </a:r>
          </a:p>
        </p:txBody>
      </p:sp>
    </p:spTree>
    <p:extLst>
      <p:ext uri="{BB962C8B-B14F-4D97-AF65-F5344CB8AC3E}">
        <p14:creationId xmlns:p14="http://schemas.microsoft.com/office/powerpoint/2010/main" val="263463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</p:childTnLst>
        </p:cTn>
      </p:par>
    </p:tnLst>
    <p:bldLst>
      <p:bldP spid="107" grpId="0" animBg="1"/>
      <p:bldP spid="64" grpId="0" animBg="1"/>
      <p:bldP spid="46" grpId="0" animBg="1"/>
      <p:bldP spid="99" grpId="0" animBg="1"/>
      <p:bldP spid="124" grpId="0" animBg="1"/>
      <p:bldP spid="126" grpId="0" animBg="1"/>
      <p:bldP spid="127" grpId="0" animBg="1"/>
      <p:bldP spid="1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1040</Words>
  <Application>Microsoft Office PowerPoint</Application>
  <PresentationFormat>Widescreen</PresentationFormat>
  <Paragraphs>276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Brandon Fainstad</cp:lastModifiedBy>
  <cp:revision>91</cp:revision>
  <dcterms:created xsi:type="dcterms:W3CDTF">2020-03-30T17:12:39Z</dcterms:created>
  <dcterms:modified xsi:type="dcterms:W3CDTF">2020-06-16T21:35:06Z</dcterms:modified>
</cp:coreProperties>
</file>