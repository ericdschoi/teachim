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72" r:id="rId2"/>
    <p:sldId id="281" r:id="rId3"/>
    <p:sldId id="277" r:id="rId4"/>
    <p:sldId id="260" r:id="rId5"/>
    <p:sldId id="278" r:id="rId6"/>
    <p:sldId id="279" r:id="rId7"/>
    <p:sldId id="280" r:id="rId8"/>
    <p:sldId id="282" r:id="rId15"/>
    <p:sldId id="283" r:id="rId16"/>
    <p:sldId id="28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B810968-D91D-C19B-3655-B4D2DE7FDBEE}" name="Yilin Zhang" initials="YZ" userId="S::Yilin_Zhang@valleymed.org::40a11026-a9ab-441d-8256-d37e38926e9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6204"/>
    <a:srgbClr val="F4910C"/>
    <a:srgbClr val="FF3300"/>
    <a:srgbClr val="F8BA4A"/>
    <a:srgbClr val="ED7D31"/>
    <a:srgbClr val="FFDDDD"/>
    <a:srgbClr val="FFCD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324" autoAdjust="0"/>
    <p:restoredTop sz="88369" autoAdjust="0"/>
  </p:normalViewPr>
  <p:slideViewPr>
    <p:cSldViewPr snapToGrid="0">
      <p:cViewPr varScale="1">
        <p:scale>
          <a:sx n="101" d="100"/>
          <a:sy n="101" d="100"/>
        </p:scale>
        <p:origin x="396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8/10/relationships/authors" Target="authors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43AE03-A01F-014F-9462-66243DF64976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5DC9D8-8D08-0641-9033-109E0E154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57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5DC9D8-8D08-0641-9033-109E0E154FD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8928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5DC9D8-8D08-0641-9033-109E0E154FD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508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5DC9D8-8D08-0641-9033-109E0E154FD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625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5DC9D8-8D08-0641-9033-109E0E154FD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804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5DC9D8-8D08-0641-9033-109E0E154FD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7407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5DC9D8-8D08-0641-9033-109E0E154FD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37420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0AEEE-807B-425D-B9B1-4A7B49529D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8E5BCA-7D29-4DCA-A75D-B1845ECA4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C7364-EC3C-4C25-BFF3-3F935F5A1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04273-4DE5-47F6-A8FA-A0578F6EC333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620F8-5EFC-4C30-BB44-D8E31BC8F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A95A54-8E1E-455D-B748-74E421130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D29F9-8138-47A2-99B0-86905FF54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306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31E03-7F35-4D40-9407-B0B54093A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5F7F8-200C-4A78-BA91-09A990751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4C4BF-403B-4B6B-A272-B402E2A77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04273-4DE5-47F6-A8FA-A0578F6EC333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F4E235-4029-406D-B5E9-4A9BB2742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B8D43-BEB4-4F89-819A-838EE20B2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D29F9-8138-47A2-99B0-86905FF54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667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8D01B-A5FD-4B1E-808A-8FFFCAF1F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CBDEC0-C5AA-40EF-B0BA-E5D6B39C4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94365-A5E3-4FAA-8B9B-1FFA7DCF4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04273-4DE5-47F6-A8FA-A0578F6EC333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064D5-D5C8-4D95-8C4B-F4168A1C3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C24E0-E388-4A98-A718-0B668CCC2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D29F9-8138-47A2-99B0-86905FF54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169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A3025-E62D-4883-8484-C728D82D3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A6530-F1EF-4379-86E2-67EFD27C69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2AFC64-AD97-4224-91CA-3A3664AC64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1BCCAF-22F5-4649-A784-BF80B74F8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04273-4DE5-47F6-A8FA-A0578F6EC333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21FD73-E3BD-40C1-A7D2-5A6CE0948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F871D1-C439-4AE5-8C7C-4163EA6B9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D29F9-8138-47A2-99B0-86905FF54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55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55FB7-958C-4B8F-BD25-C68526427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5E4EF5-FE38-4AE1-962C-F60AC545C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49BCA5-6262-4D2A-80D6-B2AF389242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D97FE4-77A9-4D4C-812B-48696BBFF3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E1DC52-2098-44CB-83E3-D639DA1F0F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F411C9-7702-4D80-AFB7-3EB2C5E36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04273-4DE5-47F6-A8FA-A0578F6EC333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0731EF-D83A-455B-8AED-74A72ECDA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990155-311E-47ED-AAA8-8BC1CC230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D29F9-8138-47A2-99B0-86905FF54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781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B4C78-A5FE-4D96-8521-85ED70084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922A29-F658-48BA-AAFB-19A9DC4A9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04273-4DE5-47F6-A8FA-A0578F6EC333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600829-7F05-4191-9FEF-A4F24603D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80271F-A79C-450B-8D01-84520A0E8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D29F9-8138-47A2-99B0-86905FF54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991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E68081-B923-428E-B51E-8A347D88F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04273-4DE5-47F6-A8FA-A0578F6EC333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A3DAB3-0AE0-4E62-9B47-52D716BD8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117057-6326-4D78-B5D4-FF424559F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D29F9-8138-47A2-99B0-86905FF54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000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B86DD-6EC0-431E-9FF9-FE12CE700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32F48-ADD7-4454-BCDF-7C331BAED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684805-5AFD-4ACD-A960-C5C03E4B4F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B99B41-6C58-44EC-86CE-CF78B9BD5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04273-4DE5-47F6-A8FA-A0578F6EC333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89BF13-7E29-4D98-81F3-4160716DA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7AC87E-3000-4910-92E8-854B87C4E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D29F9-8138-47A2-99B0-86905FF54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490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6513A-D0BD-41B0-A3A7-4A0C56F7B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F6C27A-1E5E-47C3-81F6-9E6097A75D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D40804-E2FB-4DAE-AEE0-EB5BF0157C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AC249A-5B52-4284-A866-06D901201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04273-4DE5-47F6-A8FA-A0578F6EC333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49805D-06AA-43F3-8519-8408B848A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AE7F28-A4B2-404B-8DFA-3D2D085FF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D29F9-8138-47A2-99B0-86905FF54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358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C3728-FE78-489A-AA38-5387758F1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210AEA-54D8-481D-BC40-442235EE40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2D393-56D2-47F0-AF96-52FCB3D3E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04273-4DE5-47F6-A8FA-A0578F6EC333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4A68C-6290-43BC-B10B-026F9BB0F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944E8-6C87-47D4-A172-1C225836C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D29F9-8138-47A2-99B0-86905FF54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617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F513A0-1EBF-45BB-AC02-475D191B44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9991AC-094C-4AE6-82A1-FE6EE6BAC3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F3285-4B37-4190-9522-849355533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04273-4DE5-47F6-A8FA-A0578F6EC333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DA501-CB7A-4E6A-AE92-7C145CD4A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61B12-CF95-4514-BEFC-0A8C4F0E6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D29F9-8138-47A2-99B0-86905FF54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22158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E06AB5-07FC-4D01-9B90-CB02E2215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E780F6-8AC7-47A9-B18C-E3A4A53F3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BA988-EA6F-426D-A062-41F0030948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904273-4DE5-47F6-A8FA-A0578F6EC333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44B15-CB3F-4CF6-A76E-94D0209DF3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A4141-3455-4AF6-A0FE-1838B8E69D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0D29F9-8138-47A2-99B0-86905FF54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950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slide" Target="slide4.xml"/><Relationship Id="rId7" Type="http://schemas.openxmlformats.org/officeDocument/2006/relationships/slide" Target="slide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slide" Target="slide2.xml"/><Relationship Id="rId6" Type="http://schemas.openxmlformats.org/officeDocument/2006/relationships/slide" Target="slide3.xml"/><Relationship Id="rId7" Type="http://schemas.openxmlformats.org/officeDocument/2006/relationships/slide" Target="slide4.xml"/><Relationship Id="rId8" Type="http://schemas.openxmlformats.org/officeDocument/2006/relationships/slide" Target="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hyperlink" Target="https://www.mdcalc.com/calc/1099/grace-acs-risk-mortality-calculator" TargetMode="External"/><Relationship Id="rId6" Type="http://schemas.openxmlformats.org/officeDocument/2006/relationships/hyperlink" Target="https://www.mdcalc.com/calc/111/timi-risk-score-ua-nstemi" TargetMode="External"/><Relationship Id="rId7" Type="http://schemas.openxmlformats.org/officeDocument/2006/relationships/slide" Target="slide3.xml"/><Relationship Id="rId8" Type="http://schemas.openxmlformats.org/officeDocument/2006/relationships/slide" Target="slide2.xml"/><Relationship Id="rId9" Type="http://schemas.openxmlformats.org/officeDocument/2006/relationships/slide" Target="slide4.xml"/><Relationship Id="rId10" Type="http://schemas.openxmlformats.org/officeDocument/2006/relationships/slide" Target="slide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slide" Target="slide3.xml"/><Relationship Id="rId6" Type="http://schemas.openxmlformats.org/officeDocument/2006/relationships/slide" Target="slide5.xml"/><Relationship Id="rId7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slide" Target="slide4.xml"/><Relationship Id="rId8" Type="http://schemas.openxmlformats.org/officeDocument/2006/relationships/image" Target="../media/image3.png"/><Relationship Id="rId9" Type="http://schemas.openxmlformats.org/officeDocument/2006/relationships/slide" Target="slide5.xml"/><Relationship Id="rId10" Type="http://schemas.openxmlformats.org/officeDocument/2006/relationships/slide" Target="slide6.xml"/><Relationship Id="rId11" Type="http://schemas.openxmlformats.org/officeDocument/2006/relationships/slide" Target="slide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slide" Target="slide4.xml"/><Relationship Id="rId8" Type="http://schemas.openxmlformats.org/officeDocument/2006/relationships/slide" Target="slide5.xml"/><Relationship Id="rId9" Type="http://schemas.openxmlformats.org/officeDocument/2006/relationships/slide" Target="slide6.xml"/><Relationship Id="rId10" Type="http://schemas.openxmlformats.org/officeDocument/2006/relationships/slide" Target="slide7.xml"/><Relationship Id="rId11" Type="http://schemas.openxmlformats.org/officeDocument/2006/relationships/image" Target="../media/image4.jpeg"/><Relationship Id="rId12" Type="http://schemas.openxmlformats.org/officeDocument/2006/relationships/hyperlink" Target="https://urldefense.com/v3/__http:/hqmeded-ecg.blogspot.com/search/label/NonSTEMI__;!!DXsSFrK4Q_c!eeAzBIJZIQlxzqihFvgKxkFb6kPWMKdbuzxPN8E23cJ2-oiqHjhL2WJfnbOxjGEXHxPvviv0v4mBRaCncXNQDU7vyh9gym7ggXOiV91e$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slide" Target="slide4.xml"/><Relationship Id="rId8" Type="http://schemas.openxmlformats.org/officeDocument/2006/relationships/slide" Target="slide5.xml"/><Relationship Id="rId9" Type="http://schemas.openxmlformats.org/officeDocument/2006/relationships/slide" Target="slide6.xml"/><Relationship Id="rId10" Type="http://schemas.openxmlformats.org/officeDocument/2006/relationships/slide" Target="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6FA9B-0832-CE44-757F-37CCD7677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0848" y="918426"/>
            <a:ext cx="8178867" cy="2175845"/>
          </a:xfrm>
        </p:spPr>
        <p:txBody>
          <a:bodyPr>
            <a:normAutofit/>
          </a:bodyPr>
          <a:lstStyle/>
          <a:p>
            <a:r>
              <a:rPr lang="en-US" dirty="0"/>
              <a:t>Management of Acute Coronary Syndromes</a:t>
            </a:r>
          </a:p>
        </p:txBody>
      </p:sp>
      <p:sp>
        <p:nvSpPr>
          <p:cNvPr id="3" name="Rectangle: Rounded Corners 59">
            <a:hlinkClick r:id="rId2" action="ppaction://hlinksldjump"/>
            <a:extLst>
              <a:ext uri="{FF2B5EF4-FFF2-40B4-BE49-F238E27FC236}">
                <a16:creationId xmlns:a16="http://schemas.microsoft.com/office/drawing/2014/main" id="{35B1F6F9-F23A-8A87-9A06-169FBB068EBD}"/>
              </a:ext>
            </a:extLst>
          </p:cNvPr>
          <p:cNvSpPr/>
          <p:nvPr/>
        </p:nvSpPr>
        <p:spPr>
          <a:xfrm>
            <a:off x="181305" y="177215"/>
            <a:ext cx="1384246" cy="36576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Early Tx</a:t>
            </a:r>
          </a:p>
        </p:txBody>
      </p:sp>
      <p:sp>
        <p:nvSpPr>
          <p:cNvPr id="4" name="Rectangle: Rounded Corners 60">
            <a:hlinkClick r:id="rId3" action="ppaction://hlinksldjump"/>
            <a:extLst>
              <a:ext uri="{FF2B5EF4-FFF2-40B4-BE49-F238E27FC236}">
                <a16:creationId xmlns:a16="http://schemas.microsoft.com/office/drawing/2014/main" id="{3FD534E0-F661-3965-ADF6-07BA1753B09C}"/>
              </a:ext>
            </a:extLst>
          </p:cNvPr>
          <p:cNvSpPr/>
          <p:nvPr/>
        </p:nvSpPr>
        <p:spPr>
          <a:xfrm>
            <a:off x="181305" y="687997"/>
            <a:ext cx="1410779" cy="36576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PCI</a:t>
            </a:r>
          </a:p>
        </p:txBody>
      </p:sp>
      <p:pic>
        <p:nvPicPr>
          <p:cNvPr id="5" name="Graphic 4" descr="Cursor with solid fill">
            <a:extLst>
              <a:ext uri="{FF2B5EF4-FFF2-40B4-BE49-F238E27FC236}">
                <a16:creationId xmlns:a16="http://schemas.microsoft.com/office/drawing/2014/main" id="{513FE6AD-73B4-85F1-885E-CB57B8D773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41208" y="918426"/>
            <a:ext cx="301752" cy="301752"/>
          </a:xfrm>
          <a:prstGeom prst="rect">
            <a:avLst/>
          </a:prstGeom>
        </p:spPr>
      </p:pic>
      <p:sp>
        <p:nvSpPr>
          <p:cNvPr id="6" name="Rectangle: Rounded Corners 61">
            <a:hlinkClick r:id="rId6" action="ppaction://hlinksldjump"/>
            <a:extLst>
              <a:ext uri="{FF2B5EF4-FFF2-40B4-BE49-F238E27FC236}">
                <a16:creationId xmlns:a16="http://schemas.microsoft.com/office/drawing/2014/main" id="{7A09A841-B873-0D90-C4A9-78D463E4DCE5}"/>
              </a:ext>
            </a:extLst>
          </p:cNvPr>
          <p:cNvSpPr/>
          <p:nvPr/>
        </p:nvSpPr>
        <p:spPr>
          <a:xfrm>
            <a:off x="181305" y="1198779"/>
            <a:ext cx="1384809" cy="36576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Late Tx</a:t>
            </a:r>
          </a:p>
        </p:txBody>
      </p:sp>
      <p:pic>
        <p:nvPicPr>
          <p:cNvPr id="7" name="Graphic 6" descr="Cursor with solid fill">
            <a:extLst>
              <a:ext uri="{FF2B5EF4-FFF2-40B4-BE49-F238E27FC236}">
                <a16:creationId xmlns:a16="http://schemas.microsoft.com/office/drawing/2014/main" id="{C9561C18-23FC-7498-413D-F8655ADA6F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41208" y="1427132"/>
            <a:ext cx="301752" cy="301752"/>
          </a:xfrm>
          <a:prstGeom prst="rect">
            <a:avLst/>
          </a:prstGeom>
        </p:spPr>
      </p:pic>
      <p:sp>
        <p:nvSpPr>
          <p:cNvPr id="8" name="Rectangle: Rounded Corners 61">
            <a:hlinkClick r:id="rId7" action="ppaction://hlinksldjump"/>
            <a:extLst>
              <a:ext uri="{FF2B5EF4-FFF2-40B4-BE49-F238E27FC236}">
                <a16:creationId xmlns:a16="http://schemas.microsoft.com/office/drawing/2014/main" id="{AF1EC537-B056-1916-42F0-9E435C285585}"/>
              </a:ext>
            </a:extLst>
          </p:cNvPr>
          <p:cNvSpPr/>
          <p:nvPr/>
        </p:nvSpPr>
        <p:spPr>
          <a:xfrm>
            <a:off x="181305" y="1709561"/>
            <a:ext cx="1384809" cy="36576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Cases</a:t>
            </a:r>
          </a:p>
        </p:txBody>
      </p:sp>
      <p:pic>
        <p:nvPicPr>
          <p:cNvPr id="9" name="Graphic 8" descr="Cursor with solid fill">
            <a:extLst>
              <a:ext uri="{FF2B5EF4-FFF2-40B4-BE49-F238E27FC236}">
                <a16:creationId xmlns:a16="http://schemas.microsoft.com/office/drawing/2014/main" id="{77EC87AA-E2F6-96AB-E199-AE49152D35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41208" y="1932830"/>
            <a:ext cx="301752" cy="301752"/>
          </a:xfrm>
          <a:prstGeom prst="rect">
            <a:avLst/>
          </a:prstGeom>
        </p:spPr>
      </p:pic>
      <p:pic>
        <p:nvPicPr>
          <p:cNvPr id="10" name="Graphic 9" descr="Cursor with solid fill">
            <a:extLst>
              <a:ext uri="{FF2B5EF4-FFF2-40B4-BE49-F238E27FC236}">
                <a16:creationId xmlns:a16="http://schemas.microsoft.com/office/drawing/2014/main" id="{1DEE5ACD-AA23-F163-2AE4-C80C259686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41208" y="400696"/>
            <a:ext cx="301752" cy="301752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383F950F-34A5-9811-4203-723179E051F2}"/>
              </a:ext>
            </a:extLst>
          </p:cNvPr>
          <p:cNvGrpSpPr/>
          <p:nvPr/>
        </p:nvGrpSpPr>
        <p:grpSpPr>
          <a:xfrm>
            <a:off x="4025195" y="3578003"/>
            <a:ext cx="4483772" cy="738651"/>
            <a:chOff x="3850102" y="3519946"/>
            <a:chExt cx="4483772" cy="73865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958EE2D-50E8-A1D6-6CA6-6E89E43EFA4A}"/>
                </a:ext>
              </a:extLst>
            </p:cNvPr>
            <p:cNvSpPr/>
            <p:nvPr/>
          </p:nvSpPr>
          <p:spPr>
            <a:xfrm>
              <a:off x="3850102" y="3519946"/>
              <a:ext cx="2249906" cy="729126"/>
            </a:xfrm>
            <a:custGeom>
              <a:avLst/>
              <a:gdLst>
                <a:gd name="connsiteX0" fmla="*/ 0 w 3116179"/>
                <a:gd name="connsiteY0" fmla="*/ 654204 h 820072"/>
                <a:gd name="connsiteX1" fmla="*/ 252663 w 3116179"/>
                <a:gd name="connsiteY1" fmla="*/ 654204 h 820072"/>
                <a:gd name="connsiteX2" fmla="*/ 288758 w 3116179"/>
                <a:gd name="connsiteY2" fmla="*/ 582015 h 820072"/>
                <a:gd name="connsiteX3" fmla="*/ 360947 w 3116179"/>
                <a:gd name="connsiteY3" fmla="*/ 582015 h 820072"/>
                <a:gd name="connsiteX4" fmla="*/ 385010 w 3116179"/>
                <a:gd name="connsiteY4" fmla="*/ 666236 h 820072"/>
                <a:gd name="connsiteX5" fmla="*/ 553452 w 3116179"/>
                <a:gd name="connsiteY5" fmla="*/ 654204 h 820072"/>
                <a:gd name="connsiteX6" fmla="*/ 589547 w 3116179"/>
                <a:gd name="connsiteY6" fmla="*/ 798583 h 820072"/>
                <a:gd name="connsiteX7" fmla="*/ 625642 w 3116179"/>
                <a:gd name="connsiteY7" fmla="*/ 124815 h 820072"/>
                <a:gd name="connsiteX8" fmla="*/ 685800 w 3116179"/>
                <a:gd name="connsiteY8" fmla="*/ 269193 h 820072"/>
                <a:gd name="connsiteX9" fmla="*/ 878305 w 3116179"/>
                <a:gd name="connsiteY9" fmla="*/ 293257 h 820072"/>
                <a:gd name="connsiteX10" fmla="*/ 974558 w 3116179"/>
                <a:gd name="connsiteY10" fmla="*/ 606078 h 820072"/>
                <a:gd name="connsiteX11" fmla="*/ 998621 w 3116179"/>
                <a:gd name="connsiteY11" fmla="*/ 666236 h 820072"/>
                <a:gd name="connsiteX12" fmla="*/ 1239252 w 3116179"/>
                <a:gd name="connsiteY12" fmla="*/ 666236 h 820072"/>
                <a:gd name="connsiteX13" fmla="*/ 1347537 w 3116179"/>
                <a:gd name="connsiteY13" fmla="*/ 666236 h 820072"/>
                <a:gd name="connsiteX14" fmla="*/ 1395663 w 3116179"/>
                <a:gd name="connsiteY14" fmla="*/ 606078 h 820072"/>
                <a:gd name="connsiteX15" fmla="*/ 1479884 w 3116179"/>
                <a:gd name="connsiteY15" fmla="*/ 618109 h 820072"/>
                <a:gd name="connsiteX16" fmla="*/ 1503947 w 3116179"/>
                <a:gd name="connsiteY16" fmla="*/ 678267 h 820072"/>
                <a:gd name="connsiteX17" fmla="*/ 1648326 w 3116179"/>
                <a:gd name="connsiteY17" fmla="*/ 678267 h 820072"/>
                <a:gd name="connsiteX18" fmla="*/ 1672389 w 3116179"/>
                <a:gd name="connsiteY18" fmla="*/ 774520 h 820072"/>
                <a:gd name="connsiteX19" fmla="*/ 1744579 w 3116179"/>
                <a:gd name="connsiteY19" fmla="*/ 16530 h 820072"/>
                <a:gd name="connsiteX20" fmla="*/ 1768642 w 3116179"/>
                <a:gd name="connsiteY20" fmla="*/ 257162 h 820072"/>
                <a:gd name="connsiteX21" fmla="*/ 1937084 w 3116179"/>
                <a:gd name="connsiteY21" fmla="*/ 317320 h 820072"/>
                <a:gd name="connsiteX22" fmla="*/ 2009274 w 3116179"/>
                <a:gd name="connsiteY22" fmla="*/ 594046 h 820072"/>
                <a:gd name="connsiteX23" fmla="*/ 2237874 w 3116179"/>
                <a:gd name="connsiteY23" fmla="*/ 666236 h 820072"/>
                <a:gd name="connsiteX24" fmla="*/ 2418347 w 3116179"/>
                <a:gd name="connsiteY24" fmla="*/ 642172 h 820072"/>
                <a:gd name="connsiteX25" fmla="*/ 2418347 w 3116179"/>
                <a:gd name="connsiteY25" fmla="*/ 642172 h 820072"/>
                <a:gd name="connsiteX26" fmla="*/ 2514600 w 3116179"/>
                <a:gd name="connsiteY26" fmla="*/ 618109 h 820072"/>
                <a:gd name="connsiteX27" fmla="*/ 2574758 w 3116179"/>
                <a:gd name="connsiteY27" fmla="*/ 654204 h 820072"/>
                <a:gd name="connsiteX28" fmla="*/ 2719137 w 3116179"/>
                <a:gd name="connsiteY28" fmla="*/ 642172 h 820072"/>
                <a:gd name="connsiteX29" fmla="*/ 2707105 w 3116179"/>
                <a:gd name="connsiteY29" fmla="*/ 100751 h 820072"/>
                <a:gd name="connsiteX30" fmla="*/ 2779295 w 3116179"/>
                <a:gd name="connsiteY30" fmla="*/ 341383 h 820072"/>
                <a:gd name="connsiteX31" fmla="*/ 3056021 w 3116179"/>
                <a:gd name="connsiteY31" fmla="*/ 401541 h 820072"/>
                <a:gd name="connsiteX32" fmla="*/ 3080084 w 3116179"/>
                <a:gd name="connsiteY32" fmla="*/ 557951 h 820072"/>
                <a:gd name="connsiteX33" fmla="*/ 3116179 w 3116179"/>
                <a:gd name="connsiteY33" fmla="*/ 726393 h 820072"/>
                <a:gd name="connsiteX0" fmla="*/ 0 w 3083388"/>
                <a:gd name="connsiteY0" fmla="*/ 654204 h 820072"/>
                <a:gd name="connsiteX1" fmla="*/ 252663 w 3083388"/>
                <a:gd name="connsiteY1" fmla="*/ 654204 h 820072"/>
                <a:gd name="connsiteX2" fmla="*/ 288758 w 3083388"/>
                <a:gd name="connsiteY2" fmla="*/ 582015 h 820072"/>
                <a:gd name="connsiteX3" fmla="*/ 360947 w 3083388"/>
                <a:gd name="connsiteY3" fmla="*/ 582015 h 820072"/>
                <a:gd name="connsiteX4" fmla="*/ 385010 w 3083388"/>
                <a:gd name="connsiteY4" fmla="*/ 666236 h 820072"/>
                <a:gd name="connsiteX5" fmla="*/ 553452 w 3083388"/>
                <a:gd name="connsiteY5" fmla="*/ 654204 h 820072"/>
                <a:gd name="connsiteX6" fmla="*/ 589547 w 3083388"/>
                <a:gd name="connsiteY6" fmla="*/ 798583 h 820072"/>
                <a:gd name="connsiteX7" fmla="*/ 625642 w 3083388"/>
                <a:gd name="connsiteY7" fmla="*/ 124815 h 820072"/>
                <a:gd name="connsiteX8" fmla="*/ 685800 w 3083388"/>
                <a:gd name="connsiteY8" fmla="*/ 269193 h 820072"/>
                <a:gd name="connsiteX9" fmla="*/ 878305 w 3083388"/>
                <a:gd name="connsiteY9" fmla="*/ 293257 h 820072"/>
                <a:gd name="connsiteX10" fmla="*/ 974558 w 3083388"/>
                <a:gd name="connsiteY10" fmla="*/ 606078 h 820072"/>
                <a:gd name="connsiteX11" fmla="*/ 998621 w 3083388"/>
                <a:gd name="connsiteY11" fmla="*/ 666236 h 820072"/>
                <a:gd name="connsiteX12" fmla="*/ 1239252 w 3083388"/>
                <a:gd name="connsiteY12" fmla="*/ 666236 h 820072"/>
                <a:gd name="connsiteX13" fmla="*/ 1347537 w 3083388"/>
                <a:gd name="connsiteY13" fmla="*/ 666236 h 820072"/>
                <a:gd name="connsiteX14" fmla="*/ 1395663 w 3083388"/>
                <a:gd name="connsiteY14" fmla="*/ 606078 h 820072"/>
                <a:gd name="connsiteX15" fmla="*/ 1479884 w 3083388"/>
                <a:gd name="connsiteY15" fmla="*/ 618109 h 820072"/>
                <a:gd name="connsiteX16" fmla="*/ 1503947 w 3083388"/>
                <a:gd name="connsiteY16" fmla="*/ 678267 h 820072"/>
                <a:gd name="connsiteX17" fmla="*/ 1648326 w 3083388"/>
                <a:gd name="connsiteY17" fmla="*/ 678267 h 820072"/>
                <a:gd name="connsiteX18" fmla="*/ 1672389 w 3083388"/>
                <a:gd name="connsiteY18" fmla="*/ 774520 h 820072"/>
                <a:gd name="connsiteX19" fmla="*/ 1744579 w 3083388"/>
                <a:gd name="connsiteY19" fmla="*/ 16530 h 820072"/>
                <a:gd name="connsiteX20" fmla="*/ 1768642 w 3083388"/>
                <a:gd name="connsiteY20" fmla="*/ 257162 h 820072"/>
                <a:gd name="connsiteX21" fmla="*/ 1937084 w 3083388"/>
                <a:gd name="connsiteY21" fmla="*/ 317320 h 820072"/>
                <a:gd name="connsiteX22" fmla="*/ 2009274 w 3083388"/>
                <a:gd name="connsiteY22" fmla="*/ 594046 h 820072"/>
                <a:gd name="connsiteX23" fmla="*/ 2237874 w 3083388"/>
                <a:gd name="connsiteY23" fmla="*/ 666236 h 820072"/>
                <a:gd name="connsiteX24" fmla="*/ 2418347 w 3083388"/>
                <a:gd name="connsiteY24" fmla="*/ 642172 h 820072"/>
                <a:gd name="connsiteX25" fmla="*/ 2418347 w 3083388"/>
                <a:gd name="connsiteY25" fmla="*/ 642172 h 820072"/>
                <a:gd name="connsiteX26" fmla="*/ 2514600 w 3083388"/>
                <a:gd name="connsiteY26" fmla="*/ 618109 h 820072"/>
                <a:gd name="connsiteX27" fmla="*/ 2574758 w 3083388"/>
                <a:gd name="connsiteY27" fmla="*/ 654204 h 820072"/>
                <a:gd name="connsiteX28" fmla="*/ 2719137 w 3083388"/>
                <a:gd name="connsiteY28" fmla="*/ 642172 h 820072"/>
                <a:gd name="connsiteX29" fmla="*/ 2707105 w 3083388"/>
                <a:gd name="connsiteY29" fmla="*/ 100751 h 820072"/>
                <a:gd name="connsiteX30" fmla="*/ 2779295 w 3083388"/>
                <a:gd name="connsiteY30" fmla="*/ 341383 h 820072"/>
                <a:gd name="connsiteX31" fmla="*/ 3056021 w 3083388"/>
                <a:gd name="connsiteY31" fmla="*/ 401541 h 820072"/>
                <a:gd name="connsiteX32" fmla="*/ 3080084 w 3083388"/>
                <a:gd name="connsiteY32" fmla="*/ 557951 h 820072"/>
                <a:gd name="connsiteX0" fmla="*/ 0 w 3056021"/>
                <a:gd name="connsiteY0" fmla="*/ 654204 h 820072"/>
                <a:gd name="connsiteX1" fmla="*/ 252663 w 3056021"/>
                <a:gd name="connsiteY1" fmla="*/ 654204 h 820072"/>
                <a:gd name="connsiteX2" fmla="*/ 288758 w 3056021"/>
                <a:gd name="connsiteY2" fmla="*/ 582015 h 820072"/>
                <a:gd name="connsiteX3" fmla="*/ 360947 w 3056021"/>
                <a:gd name="connsiteY3" fmla="*/ 582015 h 820072"/>
                <a:gd name="connsiteX4" fmla="*/ 385010 w 3056021"/>
                <a:gd name="connsiteY4" fmla="*/ 666236 h 820072"/>
                <a:gd name="connsiteX5" fmla="*/ 553452 w 3056021"/>
                <a:gd name="connsiteY5" fmla="*/ 654204 h 820072"/>
                <a:gd name="connsiteX6" fmla="*/ 589547 w 3056021"/>
                <a:gd name="connsiteY6" fmla="*/ 798583 h 820072"/>
                <a:gd name="connsiteX7" fmla="*/ 625642 w 3056021"/>
                <a:gd name="connsiteY7" fmla="*/ 124815 h 820072"/>
                <a:gd name="connsiteX8" fmla="*/ 685800 w 3056021"/>
                <a:gd name="connsiteY8" fmla="*/ 269193 h 820072"/>
                <a:gd name="connsiteX9" fmla="*/ 878305 w 3056021"/>
                <a:gd name="connsiteY9" fmla="*/ 293257 h 820072"/>
                <a:gd name="connsiteX10" fmla="*/ 974558 w 3056021"/>
                <a:gd name="connsiteY10" fmla="*/ 606078 h 820072"/>
                <a:gd name="connsiteX11" fmla="*/ 998621 w 3056021"/>
                <a:gd name="connsiteY11" fmla="*/ 666236 h 820072"/>
                <a:gd name="connsiteX12" fmla="*/ 1239252 w 3056021"/>
                <a:gd name="connsiteY12" fmla="*/ 666236 h 820072"/>
                <a:gd name="connsiteX13" fmla="*/ 1347537 w 3056021"/>
                <a:gd name="connsiteY13" fmla="*/ 666236 h 820072"/>
                <a:gd name="connsiteX14" fmla="*/ 1395663 w 3056021"/>
                <a:gd name="connsiteY14" fmla="*/ 606078 h 820072"/>
                <a:gd name="connsiteX15" fmla="*/ 1479884 w 3056021"/>
                <a:gd name="connsiteY15" fmla="*/ 618109 h 820072"/>
                <a:gd name="connsiteX16" fmla="*/ 1503947 w 3056021"/>
                <a:gd name="connsiteY16" fmla="*/ 678267 h 820072"/>
                <a:gd name="connsiteX17" fmla="*/ 1648326 w 3056021"/>
                <a:gd name="connsiteY17" fmla="*/ 678267 h 820072"/>
                <a:gd name="connsiteX18" fmla="*/ 1672389 w 3056021"/>
                <a:gd name="connsiteY18" fmla="*/ 774520 h 820072"/>
                <a:gd name="connsiteX19" fmla="*/ 1744579 w 3056021"/>
                <a:gd name="connsiteY19" fmla="*/ 16530 h 820072"/>
                <a:gd name="connsiteX20" fmla="*/ 1768642 w 3056021"/>
                <a:gd name="connsiteY20" fmla="*/ 257162 h 820072"/>
                <a:gd name="connsiteX21" fmla="*/ 1937084 w 3056021"/>
                <a:gd name="connsiteY21" fmla="*/ 317320 h 820072"/>
                <a:gd name="connsiteX22" fmla="*/ 2009274 w 3056021"/>
                <a:gd name="connsiteY22" fmla="*/ 594046 h 820072"/>
                <a:gd name="connsiteX23" fmla="*/ 2237874 w 3056021"/>
                <a:gd name="connsiteY23" fmla="*/ 666236 h 820072"/>
                <a:gd name="connsiteX24" fmla="*/ 2418347 w 3056021"/>
                <a:gd name="connsiteY24" fmla="*/ 642172 h 820072"/>
                <a:gd name="connsiteX25" fmla="*/ 2418347 w 3056021"/>
                <a:gd name="connsiteY25" fmla="*/ 642172 h 820072"/>
                <a:gd name="connsiteX26" fmla="*/ 2514600 w 3056021"/>
                <a:gd name="connsiteY26" fmla="*/ 618109 h 820072"/>
                <a:gd name="connsiteX27" fmla="*/ 2574758 w 3056021"/>
                <a:gd name="connsiteY27" fmla="*/ 654204 h 820072"/>
                <a:gd name="connsiteX28" fmla="*/ 2719137 w 3056021"/>
                <a:gd name="connsiteY28" fmla="*/ 642172 h 820072"/>
                <a:gd name="connsiteX29" fmla="*/ 2707105 w 3056021"/>
                <a:gd name="connsiteY29" fmla="*/ 100751 h 820072"/>
                <a:gd name="connsiteX30" fmla="*/ 2779295 w 3056021"/>
                <a:gd name="connsiteY30" fmla="*/ 341383 h 820072"/>
                <a:gd name="connsiteX31" fmla="*/ 3056021 w 3056021"/>
                <a:gd name="connsiteY31" fmla="*/ 401541 h 820072"/>
                <a:gd name="connsiteX0" fmla="*/ 0 w 2779295"/>
                <a:gd name="connsiteY0" fmla="*/ 654204 h 820072"/>
                <a:gd name="connsiteX1" fmla="*/ 252663 w 2779295"/>
                <a:gd name="connsiteY1" fmla="*/ 654204 h 820072"/>
                <a:gd name="connsiteX2" fmla="*/ 288758 w 2779295"/>
                <a:gd name="connsiteY2" fmla="*/ 582015 h 820072"/>
                <a:gd name="connsiteX3" fmla="*/ 360947 w 2779295"/>
                <a:gd name="connsiteY3" fmla="*/ 582015 h 820072"/>
                <a:gd name="connsiteX4" fmla="*/ 385010 w 2779295"/>
                <a:gd name="connsiteY4" fmla="*/ 666236 h 820072"/>
                <a:gd name="connsiteX5" fmla="*/ 553452 w 2779295"/>
                <a:gd name="connsiteY5" fmla="*/ 654204 h 820072"/>
                <a:gd name="connsiteX6" fmla="*/ 589547 w 2779295"/>
                <a:gd name="connsiteY6" fmla="*/ 798583 h 820072"/>
                <a:gd name="connsiteX7" fmla="*/ 625642 w 2779295"/>
                <a:gd name="connsiteY7" fmla="*/ 124815 h 820072"/>
                <a:gd name="connsiteX8" fmla="*/ 685800 w 2779295"/>
                <a:gd name="connsiteY8" fmla="*/ 269193 h 820072"/>
                <a:gd name="connsiteX9" fmla="*/ 878305 w 2779295"/>
                <a:gd name="connsiteY9" fmla="*/ 293257 h 820072"/>
                <a:gd name="connsiteX10" fmla="*/ 974558 w 2779295"/>
                <a:gd name="connsiteY10" fmla="*/ 606078 h 820072"/>
                <a:gd name="connsiteX11" fmla="*/ 998621 w 2779295"/>
                <a:gd name="connsiteY11" fmla="*/ 666236 h 820072"/>
                <a:gd name="connsiteX12" fmla="*/ 1239252 w 2779295"/>
                <a:gd name="connsiteY12" fmla="*/ 666236 h 820072"/>
                <a:gd name="connsiteX13" fmla="*/ 1347537 w 2779295"/>
                <a:gd name="connsiteY13" fmla="*/ 666236 h 820072"/>
                <a:gd name="connsiteX14" fmla="*/ 1395663 w 2779295"/>
                <a:gd name="connsiteY14" fmla="*/ 606078 h 820072"/>
                <a:gd name="connsiteX15" fmla="*/ 1479884 w 2779295"/>
                <a:gd name="connsiteY15" fmla="*/ 618109 h 820072"/>
                <a:gd name="connsiteX16" fmla="*/ 1503947 w 2779295"/>
                <a:gd name="connsiteY16" fmla="*/ 678267 h 820072"/>
                <a:gd name="connsiteX17" fmla="*/ 1648326 w 2779295"/>
                <a:gd name="connsiteY17" fmla="*/ 678267 h 820072"/>
                <a:gd name="connsiteX18" fmla="*/ 1672389 w 2779295"/>
                <a:gd name="connsiteY18" fmla="*/ 774520 h 820072"/>
                <a:gd name="connsiteX19" fmla="*/ 1744579 w 2779295"/>
                <a:gd name="connsiteY19" fmla="*/ 16530 h 820072"/>
                <a:gd name="connsiteX20" fmla="*/ 1768642 w 2779295"/>
                <a:gd name="connsiteY20" fmla="*/ 257162 h 820072"/>
                <a:gd name="connsiteX21" fmla="*/ 1937084 w 2779295"/>
                <a:gd name="connsiteY21" fmla="*/ 317320 h 820072"/>
                <a:gd name="connsiteX22" fmla="*/ 2009274 w 2779295"/>
                <a:gd name="connsiteY22" fmla="*/ 594046 h 820072"/>
                <a:gd name="connsiteX23" fmla="*/ 2237874 w 2779295"/>
                <a:gd name="connsiteY23" fmla="*/ 666236 h 820072"/>
                <a:gd name="connsiteX24" fmla="*/ 2418347 w 2779295"/>
                <a:gd name="connsiteY24" fmla="*/ 642172 h 820072"/>
                <a:gd name="connsiteX25" fmla="*/ 2418347 w 2779295"/>
                <a:gd name="connsiteY25" fmla="*/ 642172 h 820072"/>
                <a:gd name="connsiteX26" fmla="*/ 2514600 w 2779295"/>
                <a:gd name="connsiteY26" fmla="*/ 618109 h 820072"/>
                <a:gd name="connsiteX27" fmla="*/ 2574758 w 2779295"/>
                <a:gd name="connsiteY27" fmla="*/ 654204 h 820072"/>
                <a:gd name="connsiteX28" fmla="*/ 2719137 w 2779295"/>
                <a:gd name="connsiteY28" fmla="*/ 642172 h 820072"/>
                <a:gd name="connsiteX29" fmla="*/ 2707105 w 2779295"/>
                <a:gd name="connsiteY29" fmla="*/ 100751 h 820072"/>
                <a:gd name="connsiteX30" fmla="*/ 2779295 w 2779295"/>
                <a:gd name="connsiteY30" fmla="*/ 341383 h 820072"/>
                <a:gd name="connsiteX0" fmla="*/ 0 w 2725396"/>
                <a:gd name="connsiteY0" fmla="*/ 654204 h 820072"/>
                <a:gd name="connsiteX1" fmla="*/ 252663 w 2725396"/>
                <a:gd name="connsiteY1" fmla="*/ 654204 h 820072"/>
                <a:gd name="connsiteX2" fmla="*/ 288758 w 2725396"/>
                <a:gd name="connsiteY2" fmla="*/ 582015 h 820072"/>
                <a:gd name="connsiteX3" fmla="*/ 360947 w 2725396"/>
                <a:gd name="connsiteY3" fmla="*/ 582015 h 820072"/>
                <a:gd name="connsiteX4" fmla="*/ 385010 w 2725396"/>
                <a:gd name="connsiteY4" fmla="*/ 666236 h 820072"/>
                <a:gd name="connsiteX5" fmla="*/ 553452 w 2725396"/>
                <a:gd name="connsiteY5" fmla="*/ 654204 h 820072"/>
                <a:gd name="connsiteX6" fmla="*/ 589547 w 2725396"/>
                <a:gd name="connsiteY6" fmla="*/ 798583 h 820072"/>
                <a:gd name="connsiteX7" fmla="*/ 625642 w 2725396"/>
                <a:gd name="connsiteY7" fmla="*/ 124815 h 820072"/>
                <a:gd name="connsiteX8" fmla="*/ 685800 w 2725396"/>
                <a:gd name="connsiteY8" fmla="*/ 269193 h 820072"/>
                <a:gd name="connsiteX9" fmla="*/ 878305 w 2725396"/>
                <a:gd name="connsiteY9" fmla="*/ 293257 h 820072"/>
                <a:gd name="connsiteX10" fmla="*/ 974558 w 2725396"/>
                <a:gd name="connsiteY10" fmla="*/ 606078 h 820072"/>
                <a:gd name="connsiteX11" fmla="*/ 998621 w 2725396"/>
                <a:gd name="connsiteY11" fmla="*/ 666236 h 820072"/>
                <a:gd name="connsiteX12" fmla="*/ 1239252 w 2725396"/>
                <a:gd name="connsiteY12" fmla="*/ 666236 h 820072"/>
                <a:gd name="connsiteX13" fmla="*/ 1347537 w 2725396"/>
                <a:gd name="connsiteY13" fmla="*/ 666236 h 820072"/>
                <a:gd name="connsiteX14" fmla="*/ 1395663 w 2725396"/>
                <a:gd name="connsiteY14" fmla="*/ 606078 h 820072"/>
                <a:gd name="connsiteX15" fmla="*/ 1479884 w 2725396"/>
                <a:gd name="connsiteY15" fmla="*/ 618109 h 820072"/>
                <a:gd name="connsiteX16" fmla="*/ 1503947 w 2725396"/>
                <a:gd name="connsiteY16" fmla="*/ 678267 h 820072"/>
                <a:gd name="connsiteX17" fmla="*/ 1648326 w 2725396"/>
                <a:gd name="connsiteY17" fmla="*/ 678267 h 820072"/>
                <a:gd name="connsiteX18" fmla="*/ 1672389 w 2725396"/>
                <a:gd name="connsiteY18" fmla="*/ 774520 h 820072"/>
                <a:gd name="connsiteX19" fmla="*/ 1744579 w 2725396"/>
                <a:gd name="connsiteY19" fmla="*/ 16530 h 820072"/>
                <a:gd name="connsiteX20" fmla="*/ 1768642 w 2725396"/>
                <a:gd name="connsiteY20" fmla="*/ 257162 h 820072"/>
                <a:gd name="connsiteX21" fmla="*/ 1937084 w 2725396"/>
                <a:gd name="connsiteY21" fmla="*/ 317320 h 820072"/>
                <a:gd name="connsiteX22" fmla="*/ 2009274 w 2725396"/>
                <a:gd name="connsiteY22" fmla="*/ 594046 h 820072"/>
                <a:gd name="connsiteX23" fmla="*/ 2237874 w 2725396"/>
                <a:gd name="connsiteY23" fmla="*/ 666236 h 820072"/>
                <a:gd name="connsiteX24" fmla="*/ 2418347 w 2725396"/>
                <a:gd name="connsiteY24" fmla="*/ 642172 h 820072"/>
                <a:gd name="connsiteX25" fmla="*/ 2418347 w 2725396"/>
                <a:gd name="connsiteY25" fmla="*/ 642172 h 820072"/>
                <a:gd name="connsiteX26" fmla="*/ 2514600 w 2725396"/>
                <a:gd name="connsiteY26" fmla="*/ 618109 h 820072"/>
                <a:gd name="connsiteX27" fmla="*/ 2574758 w 2725396"/>
                <a:gd name="connsiteY27" fmla="*/ 654204 h 820072"/>
                <a:gd name="connsiteX28" fmla="*/ 2719137 w 2725396"/>
                <a:gd name="connsiteY28" fmla="*/ 642172 h 820072"/>
                <a:gd name="connsiteX29" fmla="*/ 2707105 w 2725396"/>
                <a:gd name="connsiteY29" fmla="*/ 100751 h 820072"/>
                <a:gd name="connsiteX0" fmla="*/ 0 w 2719137"/>
                <a:gd name="connsiteY0" fmla="*/ 654204 h 820072"/>
                <a:gd name="connsiteX1" fmla="*/ 252663 w 2719137"/>
                <a:gd name="connsiteY1" fmla="*/ 654204 h 820072"/>
                <a:gd name="connsiteX2" fmla="*/ 288758 w 2719137"/>
                <a:gd name="connsiteY2" fmla="*/ 582015 h 820072"/>
                <a:gd name="connsiteX3" fmla="*/ 360947 w 2719137"/>
                <a:gd name="connsiteY3" fmla="*/ 582015 h 820072"/>
                <a:gd name="connsiteX4" fmla="*/ 385010 w 2719137"/>
                <a:gd name="connsiteY4" fmla="*/ 666236 h 820072"/>
                <a:gd name="connsiteX5" fmla="*/ 553452 w 2719137"/>
                <a:gd name="connsiteY5" fmla="*/ 654204 h 820072"/>
                <a:gd name="connsiteX6" fmla="*/ 589547 w 2719137"/>
                <a:gd name="connsiteY6" fmla="*/ 798583 h 820072"/>
                <a:gd name="connsiteX7" fmla="*/ 625642 w 2719137"/>
                <a:gd name="connsiteY7" fmla="*/ 124815 h 820072"/>
                <a:gd name="connsiteX8" fmla="*/ 685800 w 2719137"/>
                <a:gd name="connsiteY8" fmla="*/ 269193 h 820072"/>
                <a:gd name="connsiteX9" fmla="*/ 878305 w 2719137"/>
                <a:gd name="connsiteY9" fmla="*/ 293257 h 820072"/>
                <a:gd name="connsiteX10" fmla="*/ 974558 w 2719137"/>
                <a:gd name="connsiteY10" fmla="*/ 606078 h 820072"/>
                <a:gd name="connsiteX11" fmla="*/ 998621 w 2719137"/>
                <a:gd name="connsiteY11" fmla="*/ 666236 h 820072"/>
                <a:gd name="connsiteX12" fmla="*/ 1239252 w 2719137"/>
                <a:gd name="connsiteY12" fmla="*/ 666236 h 820072"/>
                <a:gd name="connsiteX13" fmla="*/ 1347537 w 2719137"/>
                <a:gd name="connsiteY13" fmla="*/ 666236 h 820072"/>
                <a:gd name="connsiteX14" fmla="*/ 1395663 w 2719137"/>
                <a:gd name="connsiteY14" fmla="*/ 606078 h 820072"/>
                <a:gd name="connsiteX15" fmla="*/ 1479884 w 2719137"/>
                <a:gd name="connsiteY15" fmla="*/ 618109 h 820072"/>
                <a:gd name="connsiteX16" fmla="*/ 1503947 w 2719137"/>
                <a:gd name="connsiteY16" fmla="*/ 678267 h 820072"/>
                <a:gd name="connsiteX17" fmla="*/ 1648326 w 2719137"/>
                <a:gd name="connsiteY17" fmla="*/ 678267 h 820072"/>
                <a:gd name="connsiteX18" fmla="*/ 1672389 w 2719137"/>
                <a:gd name="connsiteY18" fmla="*/ 774520 h 820072"/>
                <a:gd name="connsiteX19" fmla="*/ 1744579 w 2719137"/>
                <a:gd name="connsiteY19" fmla="*/ 16530 h 820072"/>
                <a:gd name="connsiteX20" fmla="*/ 1768642 w 2719137"/>
                <a:gd name="connsiteY20" fmla="*/ 257162 h 820072"/>
                <a:gd name="connsiteX21" fmla="*/ 1937084 w 2719137"/>
                <a:gd name="connsiteY21" fmla="*/ 317320 h 820072"/>
                <a:gd name="connsiteX22" fmla="*/ 2009274 w 2719137"/>
                <a:gd name="connsiteY22" fmla="*/ 594046 h 820072"/>
                <a:gd name="connsiteX23" fmla="*/ 2237874 w 2719137"/>
                <a:gd name="connsiteY23" fmla="*/ 666236 h 820072"/>
                <a:gd name="connsiteX24" fmla="*/ 2418347 w 2719137"/>
                <a:gd name="connsiteY24" fmla="*/ 642172 h 820072"/>
                <a:gd name="connsiteX25" fmla="*/ 2418347 w 2719137"/>
                <a:gd name="connsiteY25" fmla="*/ 642172 h 820072"/>
                <a:gd name="connsiteX26" fmla="*/ 2514600 w 2719137"/>
                <a:gd name="connsiteY26" fmla="*/ 618109 h 820072"/>
                <a:gd name="connsiteX27" fmla="*/ 2574758 w 2719137"/>
                <a:gd name="connsiteY27" fmla="*/ 654204 h 820072"/>
                <a:gd name="connsiteX28" fmla="*/ 2719137 w 2719137"/>
                <a:gd name="connsiteY28" fmla="*/ 642172 h 820072"/>
                <a:gd name="connsiteX0" fmla="*/ 0 w 2574758"/>
                <a:gd name="connsiteY0" fmla="*/ 654204 h 820072"/>
                <a:gd name="connsiteX1" fmla="*/ 252663 w 2574758"/>
                <a:gd name="connsiteY1" fmla="*/ 654204 h 820072"/>
                <a:gd name="connsiteX2" fmla="*/ 288758 w 2574758"/>
                <a:gd name="connsiteY2" fmla="*/ 582015 h 820072"/>
                <a:gd name="connsiteX3" fmla="*/ 360947 w 2574758"/>
                <a:gd name="connsiteY3" fmla="*/ 582015 h 820072"/>
                <a:gd name="connsiteX4" fmla="*/ 385010 w 2574758"/>
                <a:gd name="connsiteY4" fmla="*/ 666236 h 820072"/>
                <a:gd name="connsiteX5" fmla="*/ 553452 w 2574758"/>
                <a:gd name="connsiteY5" fmla="*/ 654204 h 820072"/>
                <a:gd name="connsiteX6" fmla="*/ 589547 w 2574758"/>
                <a:gd name="connsiteY6" fmla="*/ 798583 h 820072"/>
                <a:gd name="connsiteX7" fmla="*/ 625642 w 2574758"/>
                <a:gd name="connsiteY7" fmla="*/ 124815 h 820072"/>
                <a:gd name="connsiteX8" fmla="*/ 685800 w 2574758"/>
                <a:gd name="connsiteY8" fmla="*/ 269193 h 820072"/>
                <a:gd name="connsiteX9" fmla="*/ 878305 w 2574758"/>
                <a:gd name="connsiteY9" fmla="*/ 293257 h 820072"/>
                <a:gd name="connsiteX10" fmla="*/ 974558 w 2574758"/>
                <a:gd name="connsiteY10" fmla="*/ 606078 h 820072"/>
                <a:gd name="connsiteX11" fmla="*/ 998621 w 2574758"/>
                <a:gd name="connsiteY11" fmla="*/ 666236 h 820072"/>
                <a:gd name="connsiteX12" fmla="*/ 1239252 w 2574758"/>
                <a:gd name="connsiteY12" fmla="*/ 666236 h 820072"/>
                <a:gd name="connsiteX13" fmla="*/ 1347537 w 2574758"/>
                <a:gd name="connsiteY13" fmla="*/ 666236 h 820072"/>
                <a:gd name="connsiteX14" fmla="*/ 1395663 w 2574758"/>
                <a:gd name="connsiteY14" fmla="*/ 606078 h 820072"/>
                <a:gd name="connsiteX15" fmla="*/ 1479884 w 2574758"/>
                <a:gd name="connsiteY15" fmla="*/ 618109 h 820072"/>
                <a:gd name="connsiteX16" fmla="*/ 1503947 w 2574758"/>
                <a:gd name="connsiteY16" fmla="*/ 678267 h 820072"/>
                <a:gd name="connsiteX17" fmla="*/ 1648326 w 2574758"/>
                <a:gd name="connsiteY17" fmla="*/ 678267 h 820072"/>
                <a:gd name="connsiteX18" fmla="*/ 1672389 w 2574758"/>
                <a:gd name="connsiteY18" fmla="*/ 774520 h 820072"/>
                <a:gd name="connsiteX19" fmla="*/ 1744579 w 2574758"/>
                <a:gd name="connsiteY19" fmla="*/ 16530 h 820072"/>
                <a:gd name="connsiteX20" fmla="*/ 1768642 w 2574758"/>
                <a:gd name="connsiteY20" fmla="*/ 257162 h 820072"/>
                <a:gd name="connsiteX21" fmla="*/ 1937084 w 2574758"/>
                <a:gd name="connsiteY21" fmla="*/ 317320 h 820072"/>
                <a:gd name="connsiteX22" fmla="*/ 2009274 w 2574758"/>
                <a:gd name="connsiteY22" fmla="*/ 594046 h 820072"/>
                <a:gd name="connsiteX23" fmla="*/ 2237874 w 2574758"/>
                <a:gd name="connsiteY23" fmla="*/ 666236 h 820072"/>
                <a:gd name="connsiteX24" fmla="*/ 2418347 w 2574758"/>
                <a:gd name="connsiteY24" fmla="*/ 642172 h 820072"/>
                <a:gd name="connsiteX25" fmla="*/ 2418347 w 2574758"/>
                <a:gd name="connsiteY25" fmla="*/ 642172 h 820072"/>
                <a:gd name="connsiteX26" fmla="*/ 2514600 w 2574758"/>
                <a:gd name="connsiteY26" fmla="*/ 618109 h 820072"/>
                <a:gd name="connsiteX27" fmla="*/ 2574758 w 2574758"/>
                <a:gd name="connsiteY27" fmla="*/ 654204 h 820072"/>
                <a:gd name="connsiteX0" fmla="*/ 0 w 2514600"/>
                <a:gd name="connsiteY0" fmla="*/ 654204 h 820072"/>
                <a:gd name="connsiteX1" fmla="*/ 252663 w 2514600"/>
                <a:gd name="connsiteY1" fmla="*/ 654204 h 820072"/>
                <a:gd name="connsiteX2" fmla="*/ 288758 w 2514600"/>
                <a:gd name="connsiteY2" fmla="*/ 582015 h 820072"/>
                <a:gd name="connsiteX3" fmla="*/ 360947 w 2514600"/>
                <a:gd name="connsiteY3" fmla="*/ 582015 h 820072"/>
                <a:gd name="connsiteX4" fmla="*/ 385010 w 2514600"/>
                <a:gd name="connsiteY4" fmla="*/ 666236 h 820072"/>
                <a:gd name="connsiteX5" fmla="*/ 553452 w 2514600"/>
                <a:gd name="connsiteY5" fmla="*/ 654204 h 820072"/>
                <a:gd name="connsiteX6" fmla="*/ 589547 w 2514600"/>
                <a:gd name="connsiteY6" fmla="*/ 798583 h 820072"/>
                <a:gd name="connsiteX7" fmla="*/ 625642 w 2514600"/>
                <a:gd name="connsiteY7" fmla="*/ 124815 h 820072"/>
                <a:gd name="connsiteX8" fmla="*/ 685800 w 2514600"/>
                <a:gd name="connsiteY8" fmla="*/ 269193 h 820072"/>
                <a:gd name="connsiteX9" fmla="*/ 878305 w 2514600"/>
                <a:gd name="connsiteY9" fmla="*/ 293257 h 820072"/>
                <a:gd name="connsiteX10" fmla="*/ 974558 w 2514600"/>
                <a:gd name="connsiteY10" fmla="*/ 606078 h 820072"/>
                <a:gd name="connsiteX11" fmla="*/ 998621 w 2514600"/>
                <a:gd name="connsiteY11" fmla="*/ 666236 h 820072"/>
                <a:gd name="connsiteX12" fmla="*/ 1239252 w 2514600"/>
                <a:gd name="connsiteY12" fmla="*/ 666236 h 820072"/>
                <a:gd name="connsiteX13" fmla="*/ 1347537 w 2514600"/>
                <a:gd name="connsiteY13" fmla="*/ 666236 h 820072"/>
                <a:gd name="connsiteX14" fmla="*/ 1395663 w 2514600"/>
                <a:gd name="connsiteY14" fmla="*/ 606078 h 820072"/>
                <a:gd name="connsiteX15" fmla="*/ 1479884 w 2514600"/>
                <a:gd name="connsiteY15" fmla="*/ 618109 h 820072"/>
                <a:gd name="connsiteX16" fmla="*/ 1503947 w 2514600"/>
                <a:gd name="connsiteY16" fmla="*/ 678267 h 820072"/>
                <a:gd name="connsiteX17" fmla="*/ 1648326 w 2514600"/>
                <a:gd name="connsiteY17" fmla="*/ 678267 h 820072"/>
                <a:gd name="connsiteX18" fmla="*/ 1672389 w 2514600"/>
                <a:gd name="connsiteY18" fmla="*/ 774520 h 820072"/>
                <a:gd name="connsiteX19" fmla="*/ 1744579 w 2514600"/>
                <a:gd name="connsiteY19" fmla="*/ 16530 h 820072"/>
                <a:gd name="connsiteX20" fmla="*/ 1768642 w 2514600"/>
                <a:gd name="connsiteY20" fmla="*/ 257162 h 820072"/>
                <a:gd name="connsiteX21" fmla="*/ 1937084 w 2514600"/>
                <a:gd name="connsiteY21" fmla="*/ 317320 h 820072"/>
                <a:gd name="connsiteX22" fmla="*/ 2009274 w 2514600"/>
                <a:gd name="connsiteY22" fmla="*/ 594046 h 820072"/>
                <a:gd name="connsiteX23" fmla="*/ 2237874 w 2514600"/>
                <a:gd name="connsiteY23" fmla="*/ 666236 h 820072"/>
                <a:gd name="connsiteX24" fmla="*/ 2418347 w 2514600"/>
                <a:gd name="connsiteY24" fmla="*/ 642172 h 820072"/>
                <a:gd name="connsiteX25" fmla="*/ 2418347 w 2514600"/>
                <a:gd name="connsiteY25" fmla="*/ 642172 h 820072"/>
                <a:gd name="connsiteX26" fmla="*/ 2514600 w 2514600"/>
                <a:gd name="connsiteY26" fmla="*/ 618109 h 820072"/>
                <a:gd name="connsiteX0" fmla="*/ 0 w 2418347"/>
                <a:gd name="connsiteY0" fmla="*/ 654204 h 820072"/>
                <a:gd name="connsiteX1" fmla="*/ 252663 w 2418347"/>
                <a:gd name="connsiteY1" fmla="*/ 654204 h 820072"/>
                <a:gd name="connsiteX2" fmla="*/ 288758 w 2418347"/>
                <a:gd name="connsiteY2" fmla="*/ 582015 h 820072"/>
                <a:gd name="connsiteX3" fmla="*/ 360947 w 2418347"/>
                <a:gd name="connsiteY3" fmla="*/ 582015 h 820072"/>
                <a:gd name="connsiteX4" fmla="*/ 385010 w 2418347"/>
                <a:gd name="connsiteY4" fmla="*/ 666236 h 820072"/>
                <a:gd name="connsiteX5" fmla="*/ 553452 w 2418347"/>
                <a:gd name="connsiteY5" fmla="*/ 654204 h 820072"/>
                <a:gd name="connsiteX6" fmla="*/ 589547 w 2418347"/>
                <a:gd name="connsiteY6" fmla="*/ 798583 h 820072"/>
                <a:gd name="connsiteX7" fmla="*/ 625642 w 2418347"/>
                <a:gd name="connsiteY7" fmla="*/ 124815 h 820072"/>
                <a:gd name="connsiteX8" fmla="*/ 685800 w 2418347"/>
                <a:gd name="connsiteY8" fmla="*/ 269193 h 820072"/>
                <a:gd name="connsiteX9" fmla="*/ 878305 w 2418347"/>
                <a:gd name="connsiteY9" fmla="*/ 293257 h 820072"/>
                <a:gd name="connsiteX10" fmla="*/ 974558 w 2418347"/>
                <a:gd name="connsiteY10" fmla="*/ 606078 h 820072"/>
                <a:gd name="connsiteX11" fmla="*/ 998621 w 2418347"/>
                <a:gd name="connsiteY11" fmla="*/ 666236 h 820072"/>
                <a:gd name="connsiteX12" fmla="*/ 1239252 w 2418347"/>
                <a:gd name="connsiteY12" fmla="*/ 666236 h 820072"/>
                <a:gd name="connsiteX13" fmla="*/ 1347537 w 2418347"/>
                <a:gd name="connsiteY13" fmla="*/ 666236 h 820072"/>
                <a:gd name="connsiteX14" fmla="*/ 1395663 w 2418347"/>
                <a:gd name="connsiteY14" fmla="*/ 606078 h 820072"/>
                <a:gd name="connsiteX15" fmla="*/ 1479884 w 2418347"/>
                <a:gd name="connsiteY15" fmla="*/ 618109 h 820072"/>
                <a:gd name="connsiteX16" fmla="*/ 1503947 w 2418347"/>
                <a:gd name="connsiteY16" fmla="*/ 678267 h 820072"/>
                <a:gd name="connsiteX17" fmla="*/ 1648326 w 2418347"/>
                <a:gd name="connsiteY17" fmla="*/ 678267 h 820072"/>
                <a:gd name="connsiteX18" fmla="*/ 1672389 w 2418347"/>
                <a:gd name="connsiteY18" fmla="*/ 774520 h 820072"/>
                <a:gd name="connsiteX19" fmla="*/ 1744579 w 2418347"/>
                <a:gd name="connsiteY19" fmla="*/ 16530 h 820072"/>
                <a:gd name="connsiteX20" fmla="*/ 1768642 w 2418347"/>
                <a:gd name="connsiteY20" fmla="*/ 257162 h 820072"/>
                <a:gd name="connsiteX21" fmla="*/ 1937084 w 2418347"/>
                <a:gd name="connsiteY21" fmla="*/ 317320 h 820072"/>
                <a:gd name="connsiteX22" fmla="*/ 2009274 w 2418347"/>
                <a:gd name="connsiteY22" fmla="*/ 594046 h 820072"/>
                <a:gd name="connsiteX23" fmla="*/ 2237874 w 2418347"/>
                <a:gd name="connsiteY23" fmla="*/ 666236 h 820072"/>
                <a:gd name="connsiteX24" fmla="*/ 2418347 w 2418347"/>
                <a:gd name="connsiteY24" fmla="*/ 642172 h 820072"/>
                <a:gd name="connsiteX25" fmla="*/ 2418347 w 2418347"/>
                <a:gd name="connsiteY25" fmla="*/ 642172 h 820072"/>
                <a:gd name="connsiteX0" fmla="*/ 0 w 2418347"/>
                <a:gd name="connsiteY0" fmla="*/ 563102 h 728970"/>
                <a:gd name="connsiteX1" fmla="*/ 252663 w 2418347"/>
                <a:gd name="connsiteY1" fmla="*/ 563102 h 728970"/>
                <a:gd name="connsiteX2" fmla="*/ 288758 w 2418347"/>
                <a:gd name="connsiteY2" fmla="*/ 490913 h 728970"/>
                <a:gd name="connsiteX3" fmla="*/ 360947 w 2418347"/>
                <a:gd name="connsiteY3" fmla="*/ 490913 h 728970"/>
                <a:gd name="connsiteX4" fmla="*/ 385010 w 2418347"/>
                <a:gd name="connsiteY4" fmla="*/ 575134 h 728970"/>
                <a:gd name="connsiteX5" fmla="*/ 553452 w 2418347"/>
                <a:gd name="connsiteY5" fmla="*/ 563102 h 728970"/>
                <a:gd name="connsiteX6" fmla="*/ 589547 w 2418347"/>
                <a:gd name="connsiteY6" fmla="*/ 707481 h 728970"/>
                <a:gd name="connsiteX7" fmla="*/ 625642 w 2418347"/>
                <a:gd name="connsiteY7" fmla="*/ 33713 h 728970"/>
                <a:gd name="connsiteX8" fmla="*/ 685800 w 2418347"/>
                <a:gd name="connsiteY8" fmla="*/ 178091 h 728970"/>
                <a:gd name="connsiteX9" fmla="*/ 878305 w 2418347"/>
                <a:gd name="connsiteY9" fmla="*/ 202155 h 728970"/>
                <a:gd name="connsiteX10" fmla="*/ 974558 w 2418347"/>
                <a:gd name="connsiteY10" fmla="*/ 514976 h 728970"/>
                <a:gd name="connsiteX11" fmla="*/ 998621 w 2418347"/>
                <a:gd name="connsiteY11" fmla="*/ 575134 h 728970"/>
                <a:gd name="connsiteX12" fmla="*/ 1239252 w 2418347"/>
                <a:gd name="connsiteY12" fmla="*/ 575134 h 728970"/>
                <a:gd name="connsiteX13" fmla="*/ 1347537 w 2418347"/>
                <a:gd name="connsiteY13" fmla="*/ 575134 h 728970"/>
                <a:gd name="connsiteX14" fmla="*/ 1395663 w 2418347"/>
                <a:gd name="connsiteY14" fmla="*/ 514976 h 728970"/>
                <a:gd name="connsiteX15" fmla="*/ 1479884 w 2418347"/>
                <a:gd name="connsiteY15" fmla="*/ 527007 h 728970"/>
                <a:gd name="connsiteX16" fmla="*/ 1503947 w 2418347"/>
                <a:gd name="connsiteY16" fmla="*/ 587165 h 728970"/>
                <a:gd name="connsiteX17" fmla="*/ 1648326 w 2418347"/>
                <a:gd name="connsiteY17" fmla="*/ 587165 h 728970"/>
                <a:gd name="connsiteX18" fmla="*/ 1672389 w 2418347"/>
                <a:gd name="connsiteY18" fmla="*/ 683418 h 728970"/>
                <a:gd name="connsiteX19" fmla="*/ 1708484 w 2418347"/>
                <a:gd name="connsiteY19" fmla="*/ 21681 h 728970"/>
                <a:gd name="connsiteX20" fmla="*/ 1768642 w 2418347"/>
                <a:gd name="connsiteY20" fmla="*/ 166060 h 728970"/>
                <a:gd name="connsiteX21" fmla="*/ 1937084 w 2418347"/>
                <a:gd name="connsiteY21" fmla="*/ 226218 h 728970"/>
                <a:gd name="connsiteX22" fmla="*/ 2009274 w 2418347"/>
                <a:gd name="connsiteY22" fmla="*/ 502944 h 728970"/>
                <a:gd name="connsiteX23" fmla="*/ 2237874 w 2418347"/>
                <a:gd name="connsiteY23" fmla="*/ 575134 h 728970"/>
                <a:gd name="connsiteX24" fmla="*/ 2418347 w 2418347"/>
                <a:gd name="connsiteY24" fmla="*/ 551070 h 728970"/>
                <a:gd name="connsiteX25" fmla="*/ 2418347 w 2418347"/>
                <a:gd name="connsiteY25" fmla="*/ 551070 h 728970"/>
                <a:gd name="connsiteX0" fmla="*/ 0 w 2418347"/>
                <a:gd name="connsiteY0" fmla="*/ 563258 h 729126"/>
                <a:gd name="connsiteX1" fmla="*/ 252663 w 2418347"/>
                <a:gd name="connsiteY1" fmla="*/ 563258 h 729126"/>
                <a:gd name="connsiteX2" fmla="*/ 288758 w 2418347"/>
                <a:gd name="connsiteY2" fmla="*/ 491069 h 729126"/>
                <a:gd name="connsiteX3" fmla="*/ 360947 w 2418347"/>
                <a:gd name="connsiteY3" fmla="*/ 491069 h 729126"/>
                <a:gd name="connsiteX4" fmla="*/ 385010 w 2418347"/>
                <a:gd name="connsiteY4" fmla="*/ 575290 h 729126"/>
                <a:gd name="connsiteX5" fmla="*/ 553452 w 2418347"/>
                <a:gd name="connsiteY5" fmla="*/ 563258 h 729126"/>
                <a:gd name="connsiteX6" fmla="*/ 589547 w 2418347"/>
                <a:gd name="connsiteY6" fmla="*/ 707637 h 729126"/>
                <a:gd name="connsiteX7" fmla="*/ 625642 w 2418347"/>
                <a:gd name="connsiteY7" fmla="*/ 33869 h 729126"/>
                <a:gd name="connsiteX8" fmla="*/ 685800 w 2418347"/>
                <a:gd name="connsiteY8" fmla="*/ 178247 h 729126"/>
                <a:gd name="connsiteX9" fmla="*/ 878305 w 2418347"/>
                <a:gd name="connsiteY9" fmla="*/ 202311 h 729126"/>
                <a:gd name="connsiteX10" fmla="*/ 974558 w 2418347"/>
                <a:gd name="connsiteY10" fmla="*/ 515132 h 729126"/>
                <a:gd name="connsiteX11" fmla="*/ 998621 w 2418347"/>
                <a:gd name="connsiteY11" fmla="*/ 575290 h 729126"/>
                <a:gd name="connsiteX12" fmla="*/ 1239252 w 2418347"/>
                <a:gd name="connsiteY12" fmla="*/ 575290 h 729126"/>
                <a:gd name="connsiteX13" fmla="*/ 1347537 w 2418347"/>
                <a:gd name="connsiteY13" fmla="*/ 575290 h 729126"/>
                <a:gd name="connsiteX14" fmla="*/ 1395663 w 2418347"/>
                <a:gd name="connsiteY14" fmla="*/ 515132 h 729126"/>
                <a:gd name="connsiteX15" fmla="*/ 1479884 w 2418347"/>
                <a:gd name="connsiteY15" fmla="*/ 527163 h 729126"/>
                <a:gd name="connsiteX16" fmla="*/ 1503947 w 2418347"/>
                <a:gd name="connsiteY16" fmla="*/ 587321 h 729126"/>
                <a:gd name="connsiteX17" fmla="*/ 1648326 w 2418347"/>
                <a:gd name="connsiteY17" fmla="*/ 587321 h 729126"/>
                <a:gd name="connsiteX18" fmla="*/ 1672389 w 2418347"/>
                <a:gd name="connsiteY18" fmla="*/ 683574 h 729126"/>
                <a:gd name="connsiteX19" fmla="*/ 1708484 w 2418347"/>
                <a:gd name="connsiteY19" fmla="*/ 21837 h 729126"/>
                <a:gd name="connsiteX20" fmla="*/ 1768642 w 2418347"/>
                <a:gd name="connsiteY20" fmla="*/ 166216 h 729126"/>
                <a:gd name="connsiteX21" fmla="*/ 1973179 w 2418347"/>
                <a:gd name="connsiteY21" fmla="*/ 238405 h 729126"/>
                <a:gd name="connsiteX22" fmla="*/ 2009274 w 2418347"/>
                <a:gd name="connsiteY22" fmla="*/ 503100 h 729126"/>
                <a:gd name="connsiteX23" fmla="*/ 2237874 w 2418347"/>
                <a:gd name="connsiteY23" fmla="*/ 575290 h 729126"/>
                <a:gd name="connsiteX24" fmla="*/ 2418347 w 2418347"/>
                <a:gd name="connsiteY24" fmla="*/ 551226 h 729126"/>
                <a:gd name="connsiteX25" fmla="*/ 2418347 w 2418347"/>
                <a:gd name="connsiteY25" fmla="*/ 551226 h 729126"/>
                <a:gd name="connsiteX0" fmla="*/ 0 w 2418347"/>
                <a:gd name="connsiteY0" fmla="*/ 563258 h 729126"/>
                <a:gd name="connsiteX1" fmla="*/ 252663 w 2418347"/>
                <a:gd name="connsiteY1" fmla="*/ 563258 h 729126"/>
                <a:gd name="connsiteX2" fmla="*/ 288758 w 2418347"/>
                <a:gd name="connsiteY2" fmla="*/ 491069 h 729126"/>
                <a:gd name="connsiteX3" fmla="*/ 360947 w 2418347"/>
                <a:gd name="connsiteY3" fmla="*/ 491069 h 729126"/>
                <a:gd name="connsiteX4" fmla="*/ 385010 w 2418347"/>
                <a:gd name="connsiteY4" fmla="*/ 575290 h 729126"/>
                <a:gd name="connsiteX5" fmla="*/ 553452 w 2418347"/>
                <a:gd name="connsiteY5" fmla="*/ 563258 h 729126"/>
                <a:gd name="connsiteX6" fmla="*/ 589547 w 2418347"/>
                <a:gd name="connsiteY6" fmla="*/ 707637 h 729126"/>
                <a:gd name="connsiteX7" fmla="*/ 625642 w 2418347"/>
                <a:gd name="connsiteY7" fmla="*/ 33869 h 729126"/>
                <a:gd name="connsiteX8" fmla="*/ 685800 w 2418347"/>
                <a:gd name="connsiteY8" fmla="*/ 178247 h 729126"/>
                <a:gd name="connsiteX9" fmla="*/ 878305 w 2418347"/>
                <a:gd name="connsiteY9" fmla="*/ 202311 h 729126"/>
                <a:gd name="connsiteX10" fmla="*/ 974558 w 2418347"/>
                <a:gd name="connsiteY10" fmla="*/ 515132 h 729126"/>
                <a:gd name="connsiteX11" fmla="*/ 998621 w 2418347"/>
                <a:gd name="connsiteY11" fmla="*/ 575290 h 729126"/>
                <a:gd name="connsiteX12" fmla="*/ 1239252 w 2418347"/>
                <a:gd name="connsiteY12" fmla="*/ 575290 h 729126"/>
                <a:gd name="connsiteX13" fmla="*/ 1347537 w 2418347"/>
                <a:gd name="connsiteY13" fmla="*/ 575290 h 729126"/>
                <a:gd name="connsiteX14" fmla="*/ 1395663 w 2418347"/>
                <a:gd name="connsiteY14" fmla="*/ 515132 h 729126"/>
                <a:gd name="connsiteX15" fmla="*/ 1479884 w 2418347"/>
                <a:gd name="connsiteY15" fmla="*/ 527163 h 729126"/>
                <a:gd name="connsiteX16" fmla="*/ 1503947 w 2418347"/>
                <a:gd name="connsiteY16" fmla="*/ 587321 h 729126"/>
                <a:gd name="connsiteX17" fmla="*/ 1648326 w 2418347"/>
                <a:gd name="connsiteY17" fmla="*/ 587321 h 729126"/>
                <a:gd name="connsiteX18" fmla="*/ 1672389 w 2418347"/>
                <a:gd name="connsiteY18" fmla="*/ 683574 h 729126"/>
                <a:gd name="connsiteX19" fmla="*/ 1708484 w 2418347"/>
                <a:gd name="connsiteY19" fmla="*/ 21837 h 729126"/>
                <a:gd name="connsiteX20" fmla="*/ 1768642 w 2418347"/>
                <a:gd name="connsiteY20" fmla="*/ 166216 h 729126"/>
                <a:gd name="connsiteX21" fmla="*/ 1973179 w 2418347"/>
                <a:gd name="connsiteY21" fmla="*/ 238405 h 729126"/>
                <a:gd name="connsiteX22" fmla="*/ 2093495 w 2418347"/>
                <a:gd name="connsiteY22" fmla="*/ 575289 h 729126"/>
                <a:gd name="connsiteX23" fmla="*/ 2237874 w 2418347"/>
                <a:gd name="connsiteY23" fmla="*/ 575290 h 729126"/>
                <a:gd name="connsiteX24" fmla="*/ 2418347 w 2418347"/>
                <a:gd name="connsiteY24" fmla="*/ 551226 h 729126"/>
                <a:gd name="connsiteX25" fmla="*/ 2418347 w 2418347"/>
                <a:gd name="connsiteY25" fmla="*/ 551226 h 729126"/>
                <a:gd name="connsiteX0" fmla="*/ 0 w 2418347"/>
                <a:gd name="connsiteY0" fmla="*/ 563258 h 729126"/>
                <a:gd name="connsiteX1" fmla="*/ 252663 w 2418347"/>
                <a:gd name="connsiteY1" fmla="*/ 563258 h 729126"/>
                <a:gd name="connsiteX2" fmla="*/ 288758 w 2418347"/>
                <a:gd name="connsiteY2" fmla="*/ 491069 h 729126"/>
                <a:gd name="connsiteX3" fmla="*/ 360947 w 2418347"/>
                <a:gd name="connsiteY3" fmla="*/ 491069 h 729126"/>
                <a:gd name="connsiteX4" fmla="*/ 385010 w 2418347"/>
                <a:gd name="connsiteY4" fmla="*/ 575290 h 729126"/>
                <a:gd name="connsiteX5" fmla="*/ 553452 w 2418347"/>
                <a:gd name="connsiteY5" fmla="*/ 563258 h 729126"/>
                <a:gd name="connsiteX6" fmla="*/ 589547 w 2418347"/>
                <a:gd name="connsiteY6" fmla="*/ 707637 h 729126"/>
                <a:gd name="connsiteX7" fmla="*/ 625642 w 2418347"/>
                <a:gd name="connsiteY7" fmla="*/ 33869 h 729126"/>
                <a:gd name="connsiteX8" fmla="*/ 685800 w 2418347"/>
                <a:gd name="connsiteY8" fmla="*/ 178247 h 729126"/>
                <a:gd name="connsiteX9" fmla="*/ 878305 w 2418347"/>
                <a:gd name="connsiteY9" fmla="*/ 202311 h 729126"/>
                <a:gd name="connsiteX10" fmla="*/ 974558 w 2418347"/>
                <a:gd name="connsiteY10" fmla="*/ 515132 h 729126"/>
                <a:gd name="connsiteX11" fmla="*/ 998621 w 2418347"/>
                <a:gd name="connsiteY11" fmla="*/ 575290 h 729126"/>
                <a:gd name="connsiteX12" fmla="*/ 1239252 w 2418347"/>
                <a:gd name="connsiteY12" fmla="*/ 575290 h 729126"/>
                <a:gd name="connsiteX13" fmla="*/ 1347537 w 2418347"/>
                <a:gd name="connsiteY13" fmla="*/ 575290 h 729126"/>
                <a:gd name="connsiteX14" fmla="*/ 1395663 w 2418347"/>
                <a:gd name="connsiteY14" fmla="*/ 515132 h 729126"/>
                <a:gd name="connsiteX15" fmla="*/ 1479884 w 2418347"/>
                <a:gd name="connsiteY15" fmla="*/ 527163 h 729126"/>
                <a:gd name="connsiteX16" fmla="*/ 1503947 w 2418347"/>
                <a:gd name="connsiteY16" fmla="*/ 587321 h 729126"/>
                <a:gd name="connsiteX17" fmla="*/ 1648326 w 2418347"/>
                <a:gd name="connsiteY17" fmla="*/ 587321 h 729126"/>
                <a:gd name="connsiteX18" fmla="*/ 1672389 w 2418347"/>
                <a:gd name="connsiteY18" fmla="*/ 683574 h 729126"/>
                <a:gd name="connsiteX19" fmla="*/ 1708484 w 2418347"/>
                <a:gd name="connsiteY19" fmla="*/ 21837 h 729126"/>
                <a:gd name="connsiteX20" fmla="*/ 1768642 w 2418347"/>
                <a:gd name="connsiteY20" fmla="*/ 166216 h 729126"/>
                <a:gd name="connsiteX21" fmla="*/ 1973179 w 2418347"/>
                <a:gd name="connsiteY21" fmla="*/ 238405 h 729126"/>
                <a:gd name="connsiteX22" fmla="*/ 2093495 w 2418347"/>
                <a:gd name="connsiteY22" fmla="*/ 575289 h 729126"/>
                <a:gd name="connsiteX23" fmla="*/ 2237874 w 2418347"/>
                <a:gd name="connsiteY23" fmla="*/ 623416 h 729126"/>
                <a:gd name="connsiteX24" fmla="*/ 2418347 w 2418347"/>
                <a:gd name="connsiteY24" fmla="*/ 551226 h 729126"/>
                <a:gd name="connsiteX25" fmla="*/ 2418347 w 2418347"/>
                <a:gd name="connsiteY25" fmla="*/ 551226 h 729126"/>
                <a:gd name="connsiteX0" fmla="*/ 0 w 2514599"/>
                <a:gd name="connsiteY0" fmla="*/ 563258 h 729126"/>
                <a:gd name="connsiteX1" fmla="*/ 252663 w 2514599"/>
                <a:gd name="connsiteY1" fmla="*/ 563258 h 729126"/>
                <a:gd name="connsiteX2" fmla="*/ 288758 w 2514599"/>
                <a:gd name="connsiteY2" fmla="*/ 491069 h 729126"/>
                <a:gd name="connsiteX3" fmla="*/ 360947 w 2514599"/>
                <a:gd name="connsiteY3" fmla="*/ 491069 h 729126"/>
                <a:gd name="connsiteX4" fmla="*/ 385010 w 2514599"/>
                <a:gd name="connsiteY4" fmla="*/ 575290 h 729126"/>
                <a:gd name="connsiteX5" fmla="*/ 553452 w 2514599"/>
                <a:gd name="connsiteY5" fmla="*/ 563258 h 729126"/>
                <a:gd name="connsiteX6" fmla="*/ 589547 w 2514599"/>
                <a:gd name="connsiteY6" fmla="*/ 707637 h 729126"/>
                <a:gd name="connsiteX7" fmla="*/ 625642 w 2514599"/>
                <a:gd name="connsiteY7" fmla="*/ 33869 h 729126"/>
                <a:gd name="connsiteX8" fmla="*/ 685800 w 2514599"/>
                <a:gd name="connsiteY8" fmla="*/ 178247 h 729126"/>
                <a:gd name="connsiteX9" fmla="*/ 878305 w 2514599"/>
                <a:gd name="connsiteY9" fmla="*/ 202311 h 729126"/>
                <a:gd name="connsiteX10" fmla="*/ 974558 w 2514599"/>
                <a:gd name="connsiteY10" fmla="*/ 515132 h 729126"/>
                <a:gd name="connsiteX11" fmla="*/ 998621 w 2514599"/>
                <a:gd name="connsiteY11" fmla="*/ 575290 h 729126"/>
                <a:gd name="connsiteX12" fmla="*/ 1239252 w 2514599"/>
                <a:gd name="connsiteY12" fmla="*/ 575290 h 729126"/>
                <a:gd name="connsiteX13" fmla="*/ 1347537 w 2514599"/>
                <a:gd name="connsiteY13" fmla="*/ 575290 h 729126"/>
                <a:gd name="connsiteX14" fmla="*/ 1395663 w 2514599"/>
                <a:gd name="connsiteY14" fmla="*/ 515132 h 729126"/>
                <a:gd name="connsiteX15" fmla="*/ 1479884 w 2514599"/>
                <a:gd name="connsiteY15" fmla="*/ 527163 h 729126"/>
                <a:gd name="connsiteX16" fmla="*/ 1503947 w 2514599"/>
                <a:gd name="connsiteY16" fmla="*/ 587321 h 729126"/>
                <a:gd name="connsiteX17" fmla="*/ 1648326 w 2514599"/>
                <a:gd name="connsiteY17" fmla="*/ 587321 h 729126"/>
                <a:gd name="connsiteX18" fmla="*/ 1672389 w 2514599"/>
                <a:gd name="connsiteY18" fmla="*/ 683574 h 729126"/>
                <a:gd name="connsiteX19" fmla="*/ 1708484 w 2514599"/>
                <a:gd name="connsiteY19" fmla="*/ 21837 h 729126"/>
                <a:gd name="connsiteX20" fmla="*/ 1768642 w 2514599"/>
                <a:gd name="connsiteY20" fmla="*/ 166216 h 729126"/>
                <a:gd name="connsiteX21" fmla="*/ 1973179 w 2514599"/>
                <a:gd name="connsiteY21" fmla="*/ 238405 h 729126"/>
                <a:gd name="connsiteX22" fmla="*/ 2093495 w 2514599"/>
                <a:gd name="connsiteY22" fmla="*/ 575289 h 729126"/>
                <a:gd name="connsiteX23" fmla="*/ 2237874 w 2514599"/>
                <a:gd name="connsiteY23" fmla="*/ 623416 h 729126"/>
                <a:gd name="connsiteX24" fmla="*/ 2418347 w 2514599"/>
                <a:gd name="connsiteY24" fmla="*/ 551226 h 729126"/>
                <a:gd name="connsiteX25" fmla="*/ 2514599 w 2514599"/>
                <a:gd name="connsiteY25" fmla="*/ 623415 h 729126"/>
                <a:gd name="connsiteX0" fmla="*/ 0 w 2418347"/>
                <a:gd name="connsiteY0" fmla="*/ 563258 h 729126"/>
                <a:gd name="connsiteX1" fmla="*/ 252663 w 2418347"/>
                <a:gd name="connsiteY1" fmla="*/ 563258 h 729126"/>
                <a:gd name="connsiteX2" fmla="*/ 288758 w 2418347"/>
                <a:gd name="connsiteY2" fmla="*/ 491069 h 729126"/>
                <a:gd name="connsiteX3" fmla="*/ 360947 w 2418347"/>
                <a:gd name="connsiteY3" fmla="*/ 491069 h 729126"/>
                <a:gd name="connsiteX4" fmla="*/ 385010 w 2418347"/>
                <a:gd name="connsiteY4" fmla="*/ 575290 h 729126"/>
                <a:gd name="connsiteX5" fmla="*/ 553452 w 2418347"/>
                <a:gd name="connsiteY5" fmla="*/ 563258 h 729126"/>
                <a:gd name="connsiteX6" fmla="*/ 589547 w 2418347"/>
                <a:gd name="connsiteY6" fmla="*/ 707637 h 729126"/>
                <a:gd name="connsiteX7" fmla="*/ 625642 w 2418347"/>
                <a:gd name="connsiteY7" fmla="*/ 33869 h 729126"/>
                <a:gd name="connsiteX8" fmla="*/ 685800 w 2418347"/>
                <a:gd name="connsiteY8" fmla="*/ 178247 h 729126"/>
                <a:gd name="connsiteX9" fmla="*/ 878305 w 2418347"/>
                <a:gd name="connsiteY9" fmla="*/ 202311 h 729126"/>
                <a:gd name="connsiteX10" fmla="*/ 974558 w 2418347"/>
                <a:gd name="connsiteY10" fmla="*/ 515132 h 729126"/>
                <a:gd name="connsiteX11" fmla="*/ 998621 w 2418347"/>
                <a:gd name="connsiteY11" fmla="*/ 575290 h 729126"/>
                <a:gd name="connsiteX12" fmla="*/ 1239252 w 2418347"/>
                <a:gd name="connsiteY12" fmla="*/ 575290 h 729126"/>
                <a:gd name="connsiteX13" fmla="*/ 1347537 w 2418347"/>
                <a:gd name="connsiteY13" fmla="*/ 575290 h 729126"/>
                <a:gd name="connsiteX14" fmla="*/ 1395663 w 2418347"/>
                <a:gd name="connsiteY14" fmla="*/ 515132 h 729126"/>
                <a:gd name="connsiteX15" fmla="*/ 1479884 w 2418347"/>
                <a:gd name="connsiteY15" fmla="*/ 527163 h 729126"/>
                <a:gd name="connsiteX16" fmla="*/ 1503947 w 2418347"/>
                <a:gd name="connsiteY16" fmla="*/ 587321 h 729126"/>
                <a:gd name="connsiteX17" fmla="*/ 1648326 w 2418347"/>
                <a:gd name="connsiteY17" fmla="*/ 587321 h 729126"/>
                <a:gd name="connsiteX18" fmla="*/ 1672389 w 2418347"/>
                <a:gd name="connsiteY18" fmla="*/ 683574 h 729126"/>
                <a:gd name="connsiteX19" fmla="*/ 1708484 w 2418347"/>
                <a:gd name="connsiteY19" fmla="*/ 21837 h 729126"/>
                <a:gd name="connsiteX20" fmla="*/ 1768642 w 2418347"/>
                <a:gd name="connsiteY20" fmla="*/ 166216 h 729126"/>
                <a:gd name="connsiteX21" fmla="*/ 1973179 w 2418347"/>
                <a:gd name="connsiteY21" fmla="*/ 238405 h 729126"/>
                <a:gd name="connsiteX22" fmla="*/ 2093495 w 2418347"/>
                <a:gd name="connsiteY22" fmla="*/ 575289 h 729126"/>
                <a:gd name="connsiteX23" fmla="*/ 2237874 w 2418347"/>
                <a:gd name="connsiteY23" fmla="*/ 623416 h 729126"/>
                <a:gd name="connsiteX24" fmla="*/ 2418347 w 2418347"/>
                <a:gd name="connsiteY24" fmla="*/ 551226 h 729126"/>
                <a:gd name="connsiteX0" fmla="*/ 0 w 2418347"/>
                <a:gd name="connsiteY0" fmla="*/ 563258 h 729126"/>
                <a:gd name="connsiteX1" fmla="*/ 252663 w 2418347"/>
                <a:gd name="connsiteY1" fmla="*/ 563258 h 729126"/>
                <a:gd name="connsiteX2" fmla="*/ 288758 w 2418347"/>
                <a:gd name="connsiteY2" fmla="*/ 491069 h 729126"/>
                <a:gd name="connsiteX3" fmla="*/ 360947 w 2418347"/>
                <a:gd name="connsiteY3" fmla="*/ 491069 h 729126"/>
                <a:gd name="connsiteX4" fmla="*/ 385010 w 2418347"/>
                <a:gd name="connsiteY4" fmla="*/ 575290 h 729126"/>
                <a:gd name="connsiteX5" fmla="*/ 553452 w 2418347"/>
                <a:gd name="connsiteY5" fmla="*/ 563258 h 729126"/>
                <a:gd name="connsiteX6" fmla="*/ 589547 w 2418347"/>
                <a:gd name="connsiteY6" fmla="*/ 707637 h 729126"/>
                <a:gd name="connsiteX7" fmla="*/ 625642 w 2418347"/>
                <a:gd name="connsiteY7" fmla="*/ 33869 h 729126"/>
                <a:gd name="connsiteX8" fmla="*/ 685800 w 2418347"/>
                <a:gd name="connsiteY8" fmla="*/ 178247 h 729126"/>
                <a:gd name="connsiteX9" fmla="*/ 878305 w 2418347"/>
                <a:gd name="connsiteY9" fmla="*/ 202311 h 729126"/>
                <a:gd name="connsiteX10" fmla="*/ 974558 w 2418347"/>
                <a:gd name="connsiteY10" fmla="*/ 515132 h 729126"/>
                <a:gd name="connsiteX11" fmla="*/ 998621 w 2418347"/>
                <a:gd name="connsiteY11" fmla="*/ 575290 h 729126"/>
                <a:gd name="connsiteX12" fmla="*/ 1239252 w 2418347"/>
                <a:gd name="connsiteY12" fmla="*/ 575290 h 729126"/>
                <a:gd name="connsiteX13" fmla="*/ 1347537 w 2418347"/>
                <a:gd name="connsiteY13" fmla="*/ 575290 h 729126"/>
                <a:gd name="connsiteX14" fmla="*/ 1395663 w 2418347"/>
                <a:gd name="connsiteY14" fmla="*/ 515132 h 729126"/>
                <a:gd name="connsiteX15" fmla="*/ 1479884 w 2418347"/>
                <a:gd name="connsiteY15" fmla="*/ 527163 h 729126"/>
                <a:gd name="connsiteX16" fmla="*/ 1503947 w 2418347"/>
                <a:gd name="connsiteY16" fmla="*/ 587321 h 729126"/>
                <a:gd name="connsiteX17" fmla="*/ 1648326 w 2418347"/>
                <a:gd name="connsiteY17" fmla="*/ 587321 h 729126"/>
                <a:gd name="connsiteX18" fmla="*/ 1672389 w 2418347"/>
                <a:gd name="connsiteY18" fmla="*/ 683574 h 729126"/>
                <a:gd name="connsiteX19" fmla="*/ 1708484 w 2418347"/>
                <a:gd name="connsiteY19" fmla="*/ 21837 h 729126"/>
                <a:gd name="connsiteX20" fmla="*/ 1768642 w 2418347"/>
                <a:gd name="connsiteY20" fmla="*/ 166216 h 729126"/>
                <a:gd name="connsiteX21" fmla="*/ 1973179 w 2418347"/>
                <a:gd name="connsiteY21" fmla="*/ 238405 h 729126"/>
                <a:gd name="connsiteX22" fmla="*/ 2093495 w 2418347"/>
                <a:gd name="connsiteY22" fmla="*/ 575289 h 729126"/>
                <a:gd name="connsiteX23" fmla="*/ 2237874 w 2418347"/>
                <a:gd name="connsiteY23" fmla="*/ 551227 h 729126"/>
                <a:gd name="connsiteX24" fmla="*/ 2418347 w 2418347"/>
                <a:gd name="connsiteY24" fmla="*/ 551226 h 729126"/>
                <a:gd name="connsiteX0" fmla="*/ 0 w 2418347"/>
                <a:gd name="connsiteY0" fmla="*/ 563258 h 729126"/>
                <a:gd name="connsiteX1" fmla="*/ 252663 w 2418347"/>
                <a:gd name="connsiteY1" fmla="*/ 563258 h 729126"/>
                <a:gd name="connsiteX2" fmla="*/ 288758 w 2418347"/>
                <a:gd name="connsiteY2" fmla="*/ 491069 h 729126"/>
                <a:gd name="connsiteX3" fmla="*/ 360947 w 2418347"/>
                <a:gd name="connsiteY3" fmla="*/ 491069 h 729126"/>
                <a:gd name="connsiteX4" fmla="*/ 385010 w 2418347"/>
                <a:gd name="connsiteY4" fmla="*/ 575290 h 729126"/>
                <a:gd name="connsiteX5" fmla="*/ 553452 w 2418347"/>
                <a:gd name="connsiteY5" fmla="*/ 563258 h 729126"/>
                <a:gd name="connsiteX6" fmla="*/ 589547 w 2418347"/>
                <a:gd name="connsiteY6" fmla="*/ 707637 h 729126"/>
                <a:gd name="connsiteX7" fmla="*/ 625642 w 2418347"/>
                <a:gd name="connsiteY7" fmla="*/ 33869 h 729126"/>
                <a:gd name="connsiteX8" fmla="*/ 685800 w 2418347"/>
                <a:gd name="connsiteY8" fmla="*/ 178247 h 729126"/>
                <a:gd name="connsiteX9" fmla="*/ 878305 w 2418347"/>
                <a:gd name="connsiteY9" fmla="*/ 202311 h 729126"/>
                <a:gd name="connsiteX10" fmla="*/ 974558 w 2418347"/>
                <a:gd name="connsiteY10" fmla="*/ 515132 h 729126"/>
                <a:gd name="connsiteX11" fmla="*/ 998621 w 2418347"/>
                <a:gd name="connsiteY11" fmla="*/ 575290 h 729126"/>
                <a:gd name="connsiteX12" fmla="*/ 1239252 w 2418347"/>
                <a:gd name="connsiteY12" fmla="*/ 575290 h 729126"/>
                <a:gd name="connsiteX13" fmla="*/ 1347537 w 2418347"/>
                <a:gd name="connsiteY13" fmla="*/ 575290 h 729126"/>
                <a:gd name="connsiteX14" fmla="*/ 1395663 w 2418347"/>
                <a:gd name="connsiteY14" fmla="*/ 515132 h 729126"/>
                <a:gd name="connsiteX15" fmla="*/ 1479884 w 2418347"/>
                <a:gd name="connsiteY15" fmla="*/ 527163 h 729126"/>
                <a:gd name="connsiteX16" fmla="*/ 1503947 w 2418347"/>
                <a:gd name="connsiteY16" fmla="*/ 587321 h 729126"/>
                <a:gd name="connsiteX17" fmla="*/ 1648326 w 2418347"/>
                <a:gd name="connsiteY17" fmla="*/ 587321 h 729126"/>
                <a:gd name="connsiteX18" fmla="*/ 1672389 w 2418347"/>
                <a:gd name="connsiteY18" fmla="*/ 683574 h 729126"/>
                <a:gd name="connsiteX19" fmla="*/ 1708484 w 2418347"/>
                <a:gd name="connsiteY19" fmla="*/ 21837 h 729126"/>
                <a:gd name="connsiteX20" fmla="*/ 1768642 w 2418347"/>
                <a:gd name="connsiteY20" fmla="*/ 166216 h 729126"/>
                <a:gd name="connsiteX21" fmla="*/ 1973179 w 2418347"/>
                <a:gd name="connsiteY21" fmla="*/ 238405 h 729126"/>
                <a:gd name="connsiteX22" fmla="*/ 2093495 w 2418347"/>
                <a:gd name="connsiteY22" fmla="*/ 575289 h 729126"/>
                <a:gd name="connsiteX23" fmla="*/ 2237874 w 2418347"/>
                <a:gd name="connsiteY23" fmla="*/ 551227 h 729126"/>
                <a:gd name="connsiteX24" fmla="*/ 2418347 w 2418347"/>
                <a:gd name="connsiteY24" fmla="*/ 551226 h 729126"/>
                <a:gd name="connsiteX0" fmla="*/ 0 w 2418347"/>
                <a:gd name="connsiteY0" fmla="*/ 563258 h 729126"/>
                <a:gd name="connsiteX1" fmla="*/ 252663 w 2418347"/>
                <a:gd name="connsiteY1" fmla="*/ 563258 h 729126"/>
                <a:gd name="connsiteX2" fmla="*/ 288758 w 2418347"/>
                <a:gd name="connsiteY2" fmla="*/ 491069 h 729126"/>
                <a:gd name="connsiteX3" fmla="*/ 360947 w 2418347"/>
                <a:gd name="connsiteY3" fmla="*/ 491069 h 729126"/>
                <a:gd name="connsiteX4" fmla="*/ 385010 w 2418347"/>
                <a:gd name="connsiteY4" fmla="*/ 575290 h 729126"/>
                <a:gd name="connsiteX5" fmla="*/ 553452 w 2418347"/>
                <a:gd name="connsiteY5" fmla="*/ 563258 h 729126"/>
                <a:gd name="connsiteX6" fmla="*/ 589547 w 2418347"/>
                <a:gd name="connsiteY6" fmla="*/ 707637 h 729126"/>
                <a:gd name="connsiteX7" fmla="*/ 625642 w 2418347"/>
                <a:gd name="connsiteY7" fmla="*/ 33869 h 729126"/>
                <a:gd name="connsiteX8" fmla="*/ 685800 w 2418347"/>
                <a:gd name="connsiteY8" fmla="*/ 178247 h 729126"/>
                <a:gd name="connsiteX9" fmla="*/ 878305 w 2418347"/>
                <a:gd name="connsiteY9" fmla="*/ 202311 h 729126"/>
                <a:gd name="connsiteX10" fmla="*/ 974558 w 2418347"/>
                <a:gd name="connsiteY10" fmla="*/ 515132 h 729126"/>
                <a:gd name="connsiteX11" fmla="*/ 998621 w 2418347"/>
                <a:gd name="connsiteY11" fmla="*/ 575290 h 729126"/>
                <a:gd name="connsiteX12" fmla="*/ 1239252 w 2418347"/>
                <a:gd name="connsiteY12" fmla="*/ 575290 h 729126"/>
                <a:gd name="connsiteX13" fmla="*/ 1347537 w 2418347"/>
                <a:gd name="connsiteY13" fmla="*/ 575290 h 729126"/>
                <a:gd name="connsiteX14" fmla="*/ 1395663 w 2418347"/>
                <a:gd name="connsiteY14" fmla="*/ 515132 h 729126"/>
                <a:gd name="connsiteX15" fmla="*/ 1479884 w 2418347"/>
                <a:gd name="connsiteY15" fmla="*/ 527163 h 729126"/>
                <a:gd name="connsiteX16" fmla="*/ 1503947 w 2418347"/>
                <a:gd name="connsiteY16" fmla="*/ 587321 h 729126"/>
                <a:gd name="connsiteX17" fmla="*/ 1648326 w 2418347"/>
                <a:gd name="connsiteY17" fmla="*/ 587321 h 729126"/>
                <a:gd name="connsiteX18" fmla="*/ 1672389 w 2418347"/>
                <a:gd name="connsiteY18" fmla="*/ 683574 h 729126"/>
                <a:gd name="connsiteX19" fmla="*/ 1708484 w 2418347"/>
                <a:gd name="connsiteY19" fmla="*/ 21837 h 729126"/>
                <a:gd name="connsiteX20" fmla="*/ 1768642 w 2418347"/>
                <a:gd name="connsiteY20" fmla="*/ 166216 h 729126"/>
                <a:gd name="connsiteX21" fmla="*/ 1973179 w 2418347"/>
                <a:gd name="connsiteY21" fmla="*/ 238405 h 729126"/>
                <a:gd name="connsiteX22" fmla="*/ 2093495 w 2418347"/>
                <a:gd name="connsiteY22" fmla="*/ 575289 h 729126"/>
                <a:gd name="connsiteX23" fmla="*/ 2237874 w 2418347"/>
                <a:gd name="connsiteY23" fmla="*/ 551227 h 729126"/>
                <a:gd name="connsiteX24" fmla="*/ 2418347 w 2418347"/>
                <a:gd name="connsiteY24" fmla="*/ 551226 h 729126"/>
                <a:gd name="connsiteX0" fmla="*/ 0 w 2237874"/>
                <a:gd name="connsiteY0" fmla="*/ 563258 h 729126"/>
                <a:gd name="connsiteX1" fmla="*/ 252663 w 2237874"/>
                <a:gd name="connsiteY1" fmla="*/ 563258 h 729126"/>
                <a:gd name="connsiteX2" fmla="*/ 288758 w 2237874"/>
                <a:gd name="connsiteY2" fmla="*/ 491069 h 729126"/>
                <a:gd name="connsiteX3" fmla="*/ 360947 w 2237874"/>
                <a:gd name="connsiteY3" fmla="*/ 491069 h 729126"/>
                <a:gd name="connsiteX4" fmla="*/ 385010 w 2237874"/>
                <a:gd name="connsiteY4" fmla="*/ 575290 h 729126"/>
                <a:gd name="connsiteX5" fmla="*/ 553452 w 2237874"/>
                <a:gd name="connsiteY5" fmla="*/ 563258 h 729126"/>
                <a:gd name="connsiteX6" fmla="*/ 589547 w 2237874"/>
                <a:gd name="connsiteY6" fmla="*/ 707637 h 729126"/>
                <a:gd name="connsiteX7" fmla="*/ 625642 w 2237874"/>
                <a:gd name="connsiteY7" fmla="*/ 33869 h 729126"/>
                <a:gd name="connsiteX8" fmla="*/ 685800 w 2237874"/>
                <a:gd name="connsiteY8" fmla="*/ 178247 h 729126"/>
                <a:gd name="connsiteX9" fmla="*/ 878305 w 2237874"/>
                <a:gd name="connsiteY9" fmla="*/ 202311 h 729126"/>
                <a:gd name="connsiteX10" fmla="*/ 974558 w 2237874"/>
                <a:gd name="connsiteY10" fmla="*/ 515132 h 729126"/>
                <a:gd name="connsiteX11" fmla="*/ 998621 w 2237874"/>
                <a:gd name="connsiteY11" fmla="*/ 575290 h 729126"/>
                <a:gd name="connsiteX12" fmla="*/ 1239252 w 2237874"/>
                <a:gd name="connsiteY12" fmla="*/ 575290 h 729126"/>
                <a:gd name="connsiteX13" fmla="*/ 1347537 w 2237874"/>
                <a:gd name="connsiteY13" fmla="*/ 575290 h 729126"/>
                <a:gd name="connsiteX14" fmla="*/ 1395663 w 2237874"/>
                <a:gd name="connsiteY14" fmla="*/ 515132 h 729126"/>
                <a:gd name="connsiteX15" fmla="*/ 1479884 w 2237874"/>
                <a:gd name="connsiteY15" fmla="*/ 527163 h 729126"/>
                <a:gd name="connsiteX16" fmla="*/ 1503947 w 2237874"/>
                <a:gd name="connsiteY16" fmla="*/ 587321 h 729126"/>
                <a:gd name="connsiteX17" fmla="*/ 1648326 w 2237874"/>
                <a:gd name="connsiteY17" fmla="*/ 587321 h 729126"/>
                <a:gd name="connsiteX18" fmla="*/ 1672389 w 2237874"/>
                <a:gd name="connsiteY18" fmla="*/ 683574 h 729126"/>
                <a:gd name="connsiteX19" fmla="*/ 1708484 w 2237874"/>
                <a:gd name="connsiteY19" fmla="*/ 21837 h 729126"/>
                <a:gd name="connsiteX20" fmla="*/ 1768642 w 2237874"/>
                <a:gd name="connsiteY20" fmla="*/ 166216 h 729126"/>
                <a:gd name="connsiteX21" fmla="*/ 1973179 w 2237874"/>
                <a:gd name="connsiteY21" fmla="*/ 238405 h 729126"/>
                <a:gd name="connsiteX22" fmla="*/ 2093495 w 2237874"/>
                <a:gd name="connsiteY22" fmla="*/ 575289 h 729126"/>
                <a:gd name="connsiteX23" fmla="*/ 2237874 w 2237874"/>
                <a:gd name="connsiteY23" fmla="*/ 551227 h 729126"/>
                <a:gd name="connsiteX0" fmla="*/ 0 w 2249906"/>
                <a:gd name="connsiteY0" fmla="*/ 563258 h 729126"/>
                <a:gd name="connsiteX1" fmla="*/ 252663 w 2249906"/>
                <a:gd name="connsiteY1" fmla="*/ 563258 h 729126"/>
                <a:gd name="connsiteX2" fmla="*/ 288758 w 2249906"/>
                <a:gd name="connsiteY2" fmla="*/ 491069 h 729126"/>
                <a:gd name="connsiteX3" fmla="*/ 360947 w 2249906"/>
                <a:gd name="connsiteY3" fmla="*/ 491069 h 729126"/>
                <a:gd name="connsiteX4" fmla="*/ 385010 w 2249906"/>
                <a:gd name="connsiteY4" fmla="*/ 575290 h 729126"/>
                <a:gd name="connsiteX5" fmla="*/ 553452 w 2249906"/>
                <a:gd name="connsiteY5" fmla="*/ 563258 h 729126"/>
                <a:gd name="connsiteX6" fmla="*/ 589547 w 2249906"/>
                <a:gd name="connsiteY6" fmla="*/ 707637 h 729126"/>
                <a:gd name="connsiteX7" fmla="*/ 625642 w 2249906"/>
                <a:gd name="connsiteY7" fmla="*/ 33869 h 729126"/>
                <a:gd name="connsiteX8" fmla="*/ 685800 w 2249906"/>
                <a:gd name="connsiteY8" fmla="*/ 178247 h 729126"/>
                <a:gd name="connsiteX9" fmla="*/ 878305 w 2249906"/>
                <a:gd name="connsiteY9" fmla="*/ 202311 h 729126"/>
                <a:gd name="connsiteX10" fmla="*/ 974558 w 2249906"/>
                <a:gd name="connsiteY10" fmla="*/ 515132 h 729126"/>
                <a:gd name="connsiteX11" fmla="*/ 998621 w 2249906"/>
                <a:gd name="connsiteY11" fmla="*/ 575290 h 729126"/>
                <a:gd name="connsiteX12" fmla="*/ 1239252 w 2249906"/>
                <a:gd name="connsiteY12" fmla="*/ 575290 h 729126"/>
                <a:gd name="connsiteX13" fmla="*/ 1347537 w 2249906"/>
                <a:gd name="connsiteY13" fmla="*/ 575290 h 729126"/>
                <a:gd name="connsiteX14" fmla="*/ 1395663 w 2249906"/>
                <a:gd name="connsiteY14" fmla="*/ 515132 h 729126"/>
                <a:gd name="connsiteX15" fmla="*/ 1479884 w 2249906"/>
                <a:gd name="connsiteY15" fmla="*/ 527163 h 729126"/>
                <a:gd name="connsiteX16" fmla="*/ 1503947 w 2249906"/>
                <a:gd name="connsiteY16" fmla="*/ 587321 h 729126"/>
                <a:gd name="connsiteX17" fmla="*/ 1648326 w 2249906"/>
                <a:gd name="connsiteY17" fmla="*/ 587321 h 729126"/>
                <a:gd name="connsiteX18" fmla="*/ 1672389 w 2249906"/>
                <a:gd name="connsiteY18" fmla="*/ 683574 h 729126"/>
                <a:gd name="connsiteX19" fmla="*/ 1708484 w 2249906"/>
                <a:gd name="connsiteY19" fmla="*/ 21837 h 729126"/>
                <a:gd name="connsiteX20" fmla="*/ 1768642 w 2249906"/>
                <a:gd name="connsiteY20" fmla="*/ 166216 h 729126"/>
                <a:gd name="connsiteX21" fmla="*/ 1973179 w 2249906"/>
                <a:gd name="connsiteY21" fmla="*/ 238405 h 729126"/>
                <a:gd name="connsiteX22" fmla="*/ 2093495 w 2249906"/>
                <a:gd name="connsiteY22" fmla="*/ 575289 h 729126"/>
                <a:gd name="connsiteX23" fmla="*/ 2249906 w 2249906"/>
                <a:gd name="connsiteY23" fmla="*/ 575290 h 729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249906" h="729126">
                  <a:moveTo>
                    <a:pt x="0" y="563258"/>
                  </a:moveTo>
                  <a:cubicBezTo>
                    <a:pt x="102268" y="569273"/>
                    <a:pt x="204537" y="575289"/>
                    <a:pt x="252663" y="563258"/>
                  </a:cubicBezTo>
                  <a:cubicBezTo>
                    <a:pt x="300789" y="551227"/>
                    <a:pt x="270711" y="503100"/>
                    <a:pt x="288758" y="491069"/>
                  </a:cubicBezTo>
                  <a:cubicBezTo>
                    <a:pt x="306805" y="479037"/>
                    <a:pt x="344905" y="477032"/>
                    <a:pt x="360947" y="491069"/>
                  </a:cubicBezTo>
                  <a:cubicBezTo>
                    <a:pt x="376989" y="505106"/>
                    <a:pt x="352926" y="563259"/>
                    <a:pt x="385010" y="575290"/>
                  </a:cubicBezTo>
                  <a:cubicBezTo>
                    <a:pt x="417094" y="587321"/>
                    <a:pt x="519363" y="541200"/>
                    <a:pt x="553452" y="563258"/>
                  </a:cubicBezTo>
                  <a:cubicBezTo>
                    <a:pt x="587542" y="585316"/>
                    <a:pt x="577515" y="795869"/>
                    <a:pt x="589547" y="707637"/>
                  </a:cubicBezTo>
                  <a:cubicBezTo>
                    <a:pt x="601579" y="619406"/>
                    <a:pt x="609600" y="122101"/>
                    <a:pt x="625642" y="33869"/>
                  </a:cubicBezTo>
                  <a:cubicBezTo>
                    <a:pt x="641684" y="-54363"/>
                    <a:pt x="643690" y="150173"/>
                    <a:pt x="685800" y="178247"/>
                  </a:cubicBezTo>
                  <a:cubicBezTo>
                    <a:pt x="727910" y="206321"/>
                    <a:pt x="830179" y="146164"/>
                    <a:pt x="878305" y="202311"/>
                  </a:cubicBezTo>
                  <a:cubicBezTo>
                    <a:pt x="926431" y="258458"/>
                    <a:pt x="954505" y="452969"/>
                    <a:pt x="974558" y="515132"/>
                  </a:cubicBezTo>
                  <a:cubicBezTo>
                    <a:pt x="994611" y="577295"/>
                    <a:pt x="954505" y="565264"/>
                    <a:pt x="998621" y="575290"/>
                  </a:cubicBezTo>
                  <a:cubicBezTo>
                    <a:pt x="1042737" y="585316"/>
                    <a:pt x="1239252" y="575290"/>
                    <a:pt x="1239252" y="575290"/>
                  </a:cubicBezTo>
                  <a:cubicBezTo>
                    <a:pt x="1297405" y="575290"/>
                    <a:pt x="1321469" y="585316"/>
                    <a:pt x="1347537" y="575290"/>
                  </a:cubicBezTo>
                  <a:cubicBezTo>
                    <a:pt x="1373606" y="565264"/>
                    <a:pt x="1373605" y="523153"/>
                    <a:pt x="1395663" y="515132"/>
                  </a:cubicBezTo>
                  <a:cubicBezTo>
                    <a:pt x="1417721" y="507111"/>
                    <a:pt x="1461837" y="515131"/>
                    <a:pt x="1479884" y="527163"/>
                  </a:cubicBezTo>
                  <a:cubicBezTo>
                    <a:pt x="1497931" y="539194"/>
                    <a:pt x="1475873" y="577295"/>
                    <a:pt x="1503947" y="587321"/>
                  </a:cubicBezTo>
                  <a:cubicBezTo>
                    <a:pt x="1532021" y="597347"/>
                    <a:pt x="1620252" y="571279"/>
                    <a:pt x="1648326" y="587321"/>
                  </a:cubicBezTo>
                  <a:cubicBezTo>
                    <a:pt x="1676400" y="603363"/>
                    <a:pt x="1662363" y="777821"/>
                    <a:pt x="1672389" y="683574"/>
                  </a:cubicBezTo>
                  <a:cubicBezTo>
                    <a:pt x="1682415" y="589327"/>
                    <a:pt x="1692442" y="108063"/>
                    <a:pt x="1708484" y="21837"/>
                  </a:cubicBezTo>
                  <a:cubicBezTo>
                    <a:pt x="1724526" y="-64389"/>
                    <a:pt x="1724526" y="130121"/>
                    <a:pt x="1768642" y="166216"/>
                  </a:cubicBezTo>
                  <a:cubicBezTo>
                    <a:pt x="1812758" y="202311"/>
                    <a:pt x="1919037" y="170226"/>
                    <a:pt x="1973179" y="238405"/>
                  </a:cubicBezTo>
                  <a:cubicBezTo>
                    <a:pt x="2027321" y="306584"/>
                    <a:pt x="2047374" y="519142"/>
                    <a:pt x="2093495" y="575289"/>
                  </a:cubicBezTo>
                  <a:cubicBezTo>
                    <a:pt x="2139616" y="631436"/>
                    <a:pt x="2195764" y="579300"/>
                    <a:pt x="2249906" y="57529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26CF3DB-56D1-7321-2CCD-DA47FE513CC1}"/>
                </a:ext>
              </a:extLst>
            </p:cNvPr>
            <p:cNvSpPr/>
            <p:nvPr/>
          </p:nvSpPr>
          <p:spPr>
            <a:xfrm>
              <a:off x="6096000" y="3529471"/>
              <a:ext cx="2237874" cy="729126"/>
            </a:xfrm>
            <a:custGeom>
              <a:avLst/>
              <a:gdLst>
                <a:gd name="connsiteX0" fmla="*/ 0 w 3116179"/>
                <a:gd name="connsiteY0" fmla="*/ 654204 h 820072"/>
                <a:gd name="connsiteX1" fmla="*/ 252663 w 3116179"/>
                <a:gd name="connsiteY1" fmla="*/ 654204 h 820072"/>
                <a:gd name="connsiteX2" fmla="*/ 288758 w 3116179"/>
                <a:gd name="connsiteY2" fmla="*/ 582015 h 820072"/>
                <a:gd name="connsiteX3" fmla="*/ 360947 w 3116179"/>
                <a:gd name="connsiteY3" fmla="*/ 582015 h 820072"/>
                <a:gd name="connsiteX4" fmla="*/ 385010 w 3116179"/>
                <a:gd name="connsiteY4" fmla="*/ 666236 h 820072"/>
                <a:gd name="connsiteX5" fmla="*/ 553452 w 3116179"/>
                <a:gd name="connsiteY5" fmla="*/ 654204 h 820072"/>
                <a:gd name="connsiteX6" fmla="*/ 589547 w 3116179"/>
                <a:gd name="connsiteY6" fmla="*/ 798583 h 820072"/>
                <a:gd name="connsiteX7" fmla="*/ 625642 w 3116179"/>
                <a:gd name="connsiteY7" fmla="*/ 124815 h 820072"/>
                <a:gd name="connsiteX8" fmla="*/ 685800 w 3116179"/>
                <a:gd name="connsiteY8" fmla="*/ 269193 h 820072"/>
                <a:gd name="connsiteX9" fmla="*/ 878305 w 3116179"/>
                <a:gd name="connsiteY9" fmla="*/ 293257 h 820072"/>
                <a:gd name="connsiteX10" fmla="*/ 974558 w 3116179"/>
                <a:gd name="connsiteY10" fmla="*/ 606078 h 820072"/>
                <a:gd name="connsiteX11" fmla="*/ 998621 w 3116179"/>
                <a:gd name="connsiteY11" fmla="*/ 666236 h 820072"/>
                <a:gd name="connsiteX12" fmla="*/ 1239252 w 3116179"/>
                <a:gd name="connsiteY12" fmla="*/ 666236 h 820072"/>
                <a:gd name="connsiteX13" fmla="*/ 1347537 w 3116179"/>
                <a:gd name="connsiteY13" fmla="*/ 666236 h 820072"/>
                <a:gd name="connsiteX14" fmla="*/ 1395663 w 3116179"/>
                <a:gd name="connsiteY14" fmla="*/ 606078 h 820072"/>
                <a:gd name="connsiteX15" fmla="*/ 1479884 w 3116179"/>
                <a:gd name="connsiteY15" fmla="*/ 618109 h 820072"/>
                <a:gd name="connsiteX16" fmla="*/ 1503947 w 3116179"/>
                <a:gd name="connsiteY16" fmla="*/ 678267 h 820072"/>
                <a:gd name="connsiteX17" fmla="*/ 1648326 w 3116179"/>
                <a:gd name="connsiteY17" fmla="*/ 678267 h 820072"/>
                <a:gd name="connsiteX18" fmla="*/ 1672389 w 3116179"/>
                <a:gd name="connsiteY18" fmla="*/ 774520 h 820072"/>
                <a:gd name="connsiteX19" fmla="*/ 1744579 w 3116179"/>
                <a:gd name="connsiteY19" fmla="*/ 16530 h 820072"/>
                <a:gd name="connsiteX20" fmla="*/ 1768642 w 3116179"/>
                <a:gd name="connsiteY20" fmla="*/ 257162 h 820072"/>
                <a:gd name="connsiteX21" fmla="*/ 1937084 w 3116179"/>
                <a:gd name="connsiteY21" fmla="*/ 317320 h 820072"/>
                <a:gd name="connsiteX22" fmla="*/ 2009274 w 3116179"/>
                <a:gd name="connsiteY22" fmla="*/ 594046 h 820072"/>
                <a:gd name="connsiteX23" fmla="*/ 2237874 w 3116179"/>
                <a:gd name="connsiteY23" fmla="*/ 666236 h 820072"/>
                <a:gd name="connsiteX24" fmla="*/ 2418347 w 3116179"/>
                <a:gd name="connsiteY24" fmla="*/ 642172 h 820072"/>
                <a:gd name="connsiteX25" fmla="*/ 2418347 w 3116179"/>
                <a:gd name="connsiteY25" fmla="*/ 642172 h 820072"/>
                <a:gd name="connsiteX26" fmla="*/ 2514600 w 3116179"/>
                <a:gd name="connsiteY26" fmla="*/ 618109 h 820072"/>
                <a:gd name="connsiteX27" fmla="*/ 2574758 w 3116179"/>
                <a:gd name="connsiteY27" fmla="*/ 654204 h 820072"/>
                <a:gd name="connsiteX28" fmla="*/ 2719137 w 3116179"/>
                <a:gd name="connsiteY28" fmla="*/ 642172 h 820072"/>
                <a:gd name="connsiteX29" fmla="*/ 2707105 w 3116179"/>
                <a:gd name="connsiteY29" fmla="*/ 100751 h 820072"/>
                <a:gd name="connsiteX30" fmla="*/ 2779295 w 3116179"/>
                <a:gd name="connsiteY30" fmla="*/ 341383 h 820072"/>
                <a:gd name="connsiteX31" fmla="*/ 3056021 w 3116179"/>
                <a:gd name="connsiteY31" fmla="*/ 401541 h 820072"/>
                <a:gd name="connsiteX32" fmla="*/ 3080084 w 3116179"/>
                <a:gd name="connsiteY32" fmla="*/ 557951 h 820072"/>
                <a:gd name="connsiteX33" fmla="*/ 3116179 w 3116179"/>
                <a:gd name="connsiteY33" fmla="*/ 726393 h 820072"/>
                <a:gd name="connsiteX0" fmla="*/ 0 w 3083388"/>
                <a:gd name="connsiteY0" fmla="*/ 654204 h 820072"/>
                <a:gd name="connsiteX1" fmla="*/ 252663 w 3083388"/>
                <a:gd name="connsiteY1" fmla="*/ 654204 h 820072"/>
                <a:gd name="connsiteX2" fmla="*/ 288758 w 3083388"/>
                <a:gd name="connsiteY2" fmla="*/ 582015 h 820072"/>
                <a:gd name="connsiteX3" fmla="*/ 360947 w 3083388"/>
                <a:gd name="connsiteY3" fmla="*/ 582015 h 820072"/>
                <a:gd name="connsiteX4" fmla="*/ 385010 w 3083388"/>
                <a:gd name="connsiteY4" fmla="*/ 666236 h 820072"/>
                <a:gd name="connsiteX5" fmla="*/ 553452 w 3083388"/>
                <a:gd name="connsiteY5" fmla="*/ 654204 h 820072"/>
                <a:gd name="connsiteX6" fmla="*/ 589547 w 3083388"/>
                <a:gd name="connsiteY6" fmla="*/ 798583 h 820072"/>
                <a:gd name="connsiteX7" fmla="*/ 625642 w 3083388"/>
                <a:gd name="connsiteY7" fmla="*/ 124815 h 820072"/>
                <a:gd name="connsiteX8" fmla="*/ 685800 w 3083388"/>
                <a:gd name="connsiteY8" fmla="*/ 269193 h 820072"/>
                <a:gd name="connsiteX9" fmla="*/ 878305 w 3083388"/>
                <a:gd name="connsiteY9" fmla="*/ 293257 h 820072"/>
                <a:gd name="connsiteX10" fmla="*/ 974558 w 3083388"/>
                <a:gd name="connsiteY10" fmla="*/ 606078 h 820072"/>
                <a:gd name="connsiteX11" fmla="*/ 998621 w 3083388"/>
                <a:gd name="connsiteY11" fmla="*/ 666236 h 820072"/>
                <a:gd name="connsiteX12" fmla="*/ 1239252 w 3083388"/>
                <a:gd name="connsiteY12" fmla="*/ 666236 h 820072"/>
                <a:gd name="connsiteX13" fmla="*/ 1347537 w 3083388"/>
                <a:gd name="connsiteY13" fmla="*/ 666236 h 820072"/>
                <a:gd name="connsiteX14" fmla="*/ 1395663 w 3083388"/>
                <a:gd name="connsiteY14" fmla="*/ 606078 h 820072"/>
                <a:gd name="connsiteX15" fmla="*/ 1479884 w 3083388"/>
                <a:gd name="connsiteY15" fmla="*/ 618109 h 820072"/>
                <a:gd name="connsiteX16" fmla="*/ 1503947 w 3083388"/>
                <a:gd name="connsiteY16" fmla="*/ 678267 h 820072"/>
                <a:gd name="connsiteX17" fmla="*/ 1648326 w 3083388"/>
                <a:gd name="connsiteY17" fmla="*/ 678267 h 820072"/>
                <a:gd name="connsiteX18" fmla="*/ 1672389 w 3083388"/>
                <a:gd name="connsiteY18" fmla="*/ 774520 h 820072"/>
                <a:gd name="connsiteX19" fmla="*/ 1744579 w 3083388"/>
                <a:gd name="connsiteY19" fmla="*/ 16530 h 820072"/>
                <a:gd name="connsiteX20" fmla="*/ 1768642 w 3083388"/>
                <a:gd name="connsiteY20" fmla="*/ 257162 h 820072"/>
                <a:gd name="connsiteX21" fmla="*/ 1937084 w 3083388"/>
                <a:gd name="connsiteY21" fmla="*/ 317320 h 820072"/>
                <a:gd name="connsiteX22" fmla="*/ 2009274 w 3083388"/>
                <a:gd name="connsiteY22" fmla="*/ 594046 h 820072"/>
                <a:gd name="connsiteX23" fmla="*/ 2237874 w 3083388"/>
                <a:gd name="connsiteY23" fmla="*/ 666236 h 820072"/>
                <a:gd name="connsiteX24" fmla="*/ 2418347 w 3083388"/>
                <a:gd name="connsiteY24" fmla="*/ 642172 h 820072"/>
                <a:gd name="connsiteX25" fmla="*/ 2418347 w 3083388"/>
                <a:gd name="connsiteY25" fmla="*/ 642172 h 820072"/>
                <a:gd name="connsiteX26" fmla="*/ 2514600 w 3083388"/>
                <a:gd name="connsiteY26" fmla="*/ 618109 h 820072"/>
                <a:gd name="connsiteX27" fmla="*/ 2574758 w 3083388"/>
                <a:gd name="connsiteY27" fmla="*/ 654204 h 820072"/>
                <a:gd name="connsiteX28" fmla="*/ 2719137 w 3083388"/>
                <a:gd name="connsiteY28" fmla="*/ 642172 h 820072"/>
                <a:gd name="connsiteX29" fmla="*/ 2707105 w 3083388"/>
                <a:gd name="connsiteY29" fmla="*/ 100751 h 820072"/>
                <a:gd name="connsiteX30" fmla="*/ 2779295 w 3083388"/>
                <a:gd name="connsiteY30" fmla="*/ 341383 h 820072"/>
                <a:gd name="connsiteX31" fmla="*/ 3056021 w 3083388"/>
                <a:gd name="connsiteY31" fmla="*/ 401541 h 820072"/>
                <a:gd name="connsiteX32" fmla="*/ 3080084 w 3083388"/>
                <a:gd name="connsiteY32" fmla="*/ 557951 h 820072"/>
                <a:gd name="connsiteX0" fmla="*/ 0 w 3056021"/>
                <a:gd name="connsiteY0" fmla="*/ 654204 h 820072"/>
                <a:gd name="connsiteX1" fmla="*/ 252663 w 3056021"/>
                <a:gd name="connsiteY1" fmla="*/ 654204 h 820072"/>
                <a:gd name="connsiteX2" fmla="*/ 288758 w 3056021"/>
                <a:gd name="connsiteY2" fmla="*/ 582015 h 820072"/>
                <a:gd name="connsiteX3" fmla="*/ 360947 w 3056021"/>
                <a:gd name="connsiteY3" fmla="*/ 582015 h 820072"/>
                <a:gd name="connsiteX4" fmla="*/ 385010 w 3056021"/>
                <a:gd name="connsiteY4" fmla="*/ 666236 h 820072"/>
                <a:gd name="connsiteX5" fmla="*/ 553452 w 3056021"/>
                <a:gd name="connsiteY5" fmla="*/ 654204 h 820072"/>
                <a:gd name="connsiteX6" fmla="*/ 589547 w 3056021"/>
                <a:gd name="connsiteY6" fmla="*/ 798583 h 820072"/>
                <a:gd name="connsiteX7" fmla="*/ 625642 w 3056021"/>
                <a:gd name="connsiteY7" fmla="*/ 124815 h 820072"/>
                <a:gd name="connsiteX8" fmla="*/ 685800 w 3056021"/>
                <a:gd name="connsiteY8" fmla="*/ 269193 h 820072"/>
                <a:gd name="connsiteX9" fmla="*/ 878305 w 3056021"/>
                <a:gd name="connsiteY9" fmla="*/ 293257 h 820072"/>
                <a:gd name="connsiteX10" fmla="*/ 974558 w 3056021"/>
                <a:gd name="connsiteY10" fmla="*/ 606078 h 820072"/>
                <a:gd name="connsiteX11" fmla="*/ 998621 w 3056021"/>
                <a:gd name="connsiteY11" fmla="*/ 666236 h 820072"/>
                <a:gd name="connsiteX12" fmla="*/ 1239252 w 3056021"/>
                <a:gd name="connsiteY12" fmla="*/ 666236 h 820072"/>
                <a:gd name="connsiteX13" fmla="*/ 1347537 w 3056021"/>
                <a:gd name="connsiteY13" fmla="*/ 666236 h 820072"/>
                <a:gd name="connsiteX14" fmla="*/ 1395663 w 3056021"/>
                <a:gd name="connsiteY14" fmla="*/ 606078 h 820072"/>
                <a:gd name="connsiteX15" fmla="*/ 1479884 w 3056021"/>
                <a:gd name="connsiteY15" fmla="*/ 618109 h 820072"/>
                <a:gd name="connsiteX16" fmla="*/ 1503947 w 3056021"/>
                <a:gd name="connsiteY16" fmla="*/ 678267 h 820072"/>
                <a:gd name="connsiteX17" fmla="*/ 1648326 w 3056021"/>
                <a:gd name="connsiteY17" fmla="*/ 678267 h 820072"/>
                <a:gd name="connsiteX18" fmla="*/ 1672389 w 3056021"/>
                <a:gd name="connsiteY18" fmla="*/ 774520 h 820072"/>
                <a:gd name="connsiteX19" fmla="*/ 1744579 w 3056021"/>
                <a:gd name="connsiteY19" fmla="*/ 16530 h 820072"/>
                <a:gd name="connsiteX20" fmla="*/ 1768642 w 3056021"/>
                <a:gd name="connsiteY20" fmla="*/ 257162 h 820072"/>
                <a:gd name="connsiteX21" fmla="*/ 1937084 w 3056021"/>
                <a:gd name="connsiteY21" fmla="*/ 317320 h 820072"/>
                <a:gd name="connsiteX22" fmla="*/ 2009274 w 3056021"/>
                <a:gd name="connsiteY22" fmla="*/ 594046 h 820072"/>
                <a:gd name="connsiteX23" fmla="*/ 2237874 w 3056021"/>
                <a:gd name="connsiteY23" fmla="*/ 666236 h 820072"/>
                <a:gd name="connsiteX24" fmla="*/ 2418347 w 3056021"/>
                <a:gd name="connsiteY24" fmla="*/ 642172 h 820072"/>
                <a:gd name="connsiteX25" fmla="*/ 2418347 w 3056021"/>
                <a:gd name="connsiteY25" fmla="*/ 642172 h 820072"/>
                <a:gd name="connsiteX26" fmla="*/ 2514600 w 3056021"/>
                <a:gd name="connsiteY26" fmla="*/ 618109 h 820072"/>
                <a:gd name="connsiteX27" fmla="*/ 2574758 w 3056021"/>
                <a:gd name="connsiteY27" fmla="*/ 654204 h 820072"/>
                <a:gd name="connsiteX28" fmla="*/ 2719137 w 3056021"/>
                <a:gd name="connsiteY28" fmla="*/ 642172 h 820072"/>
                <a:gd name="connsiteX29" fmla="*/ 2707105 w 3056021"/>
                <a:gd name="connsiteY29" fmla="*/ 100751 h 820072"/>
                <a:gd name="connsiteX30" fmla="*/ 2779295 w 3056021"/>
                <a:gd name="connsiteY30" fmla="*/ 341383 h 820072"/>
                <a:gd name="connsiteX31" fmla="*/ 3056021 w 3056021"/>
                <a:gd name="connsiteY31" fmla="*/ 401541 h 820072"/>
                <a:gd name="connsiteX0" fmla="*/ 0 w 2779295"/>
                <a:gd name="connsiteY0" fmla="*/ 654204 h 820072"/>
                <a:gd name="connsiteX1" fmla="*/ 252663 w 2779295"/>
                <a:gd name="connsiteY1" fmla="*/ 654204 h 820072"/>
                <a:gd name="connsiteX2" fmla="*/ 288758 w 2779295"/>
                <a:gd name="connsiteY2" fmla="*/ 582015 h 820072"/>
                <a:gd name="connsiteX3" fmla="*/ 360947 w 2779295"/>
                <a:gd name="connsiteY3" fmla="*/ 582015 h 820072"/>
                <a:gd name="connsiteX4" fmla="*/ 385010 w 2779295"/>
                <a:gd name="connsiteY4" fmla="*/ 666236 h 820072"/>
                <a:gd name="connsiteX5" fmla="*/ 553452 w 2779295"/>
                <a:gd name="connsiteY5" fmla="*/ 654204 h 820072"/>
                <a:gd name="connsiteX6" fmla="*/ 589547 w 2779295"/>
                <a:gd name="connsiteY6" fmla="*/ 798583 h 820072"/>
                <a:gd name="connsiteX7" fmla="*/ 625642 w 2779295"/>
                <a:gd name="connsiteY7" fmla="*/ 124815 h 820072"/>
                <a:gd name="connsiteX8" fmla="*/ 685800 w 2779295"/>
                <a:gd name="connsiteY8" fmla="*/ 269193 h 820072"/>
                <a:gd name="connsiteX9" fmla="*/ 878305 w 2779295"/>
                <a:gd name="connsiteY9" fmla="*/ 293257 h 820072"/>
                <a:gd name="connsiteX10" fmla="*/ 974558 w 2779295"/>
                <a:gd name="connsiteY10" fmla="*/ 606078 h 820072"/>
                <a:gd name="connsiteX11" fmla="*/ 998621 w 2779295"/>
                <a:gd name="connsiteY11" fmla="*/ 666236 h 820072"/>
                <a:gd name="connsiteX12" fmla="*/ 1239252 w 2779295"/>
                <a:gd name="connsiteY12" fmla="*/ 666236 h 820072"/>
                <a:gd name="connsiteX13" fmla="*/ 1347537 w 2779295"/>
                <a:gd name="connsiteY13" fmla="*/ 666236 h 820072"/>
                <a:gd name="connsiteX14" fmla="*/ 1395663 w 2779295"/>
                <a:gd name="connsiteY14" fmla="*/ 606078 h 820072"/>
                <a:gd name="connsiteX15" fmla="*/ 1479884 w 2779295"/>
                <a:gd name="connsiteY15" fmla="*/ 618109 h 820072"/>
                <a:gd name="connsiteX16" fmla="*/ 1503947 w 2779295"/>
                <a:gd name="connsiteY16" fmla="*/ 678267 h 820072"/>
                <a:gd name="connsiteX17" fmla="*/ 1648326 w 2779295"/>
                <a:gd name="connsiteY17" fmla="*/ 678267 h 820072"/>
                <a:gd name="connsiteX18" fmla="*/ 1672389 w 2779295"/>
                <a:gd name="connsiteY18" fmla="*/ 774520 h 820072"/>
                <a:gd name="connsiteX19" fmla="*/ 1744579 w 2779295"/>
                <a:gd name="connsiteY19" fmla="*/ 16530 h 820072"/>
                <a:gd name="connsiteX20" fmla="*/ 1768642 w 2779295"/>
                <a:gd name="connsiteY20" fmla="*/ 257162 h 820072"/>
                <a:gd name="connsiteX21" fmla="*/ 1937084 w 2779295"/>
                <a:gd name="connsiteY21" fmla="*/ 317320 h 820072"/>
                <a:gd name="connsiteX22" fmla="*/ 2009274 w 2779295"/>
                <a:gd name="connsiteY22" fmla="*/ 594046 h 820072"/>
                <a:gd name="connsiteX23" fmla="*/ 2237874 w 2779295"/>
                <a:gd name="connsiteY23" fmla="*/ 666236 h 820072"/>
                <a:gd name="connsiteX24" fmla="*/ 2418347 w 2779295"/>
                <a:gd name="connsiteY24" fmla="*/ 642172 h 820072"/>
                <a:gd name="connsiteX25" fmla="*/ 2418347 w 2779295"/>
                <a:gd name="connsiteY25" fmla="*/ 642172 h 820072"/>
                <a:gd name="connsiteX26" fmla="*/ 2514600 w 2779295"/>
                <a:gd name="connsiteY26" fmla="*/ 618109 h 820072"/>
                <a:gd name="connsiteX27" fmla="*/ 2574758 w 2779295"/>
                <a:gd name="connsiteY27" fmla="*/ 654204 h 820072"/>
                <a:gd name="connsiteX28" fmla="*/ 2719137 w 2779295"/>
                <a:gd name="connsiteY28" fmla="*/ 642172 h 820072"/>
                <a:gd name="connsiteX29" fmla="*/ 2707105 w 2779295"/>
                <a:gd name="connsiteY29" fmla="*/ 100751 h 820072"/>
                <a:gd name="connsiteX30" fmla="*/ 2779295 w 2779295"/>
                <a:gd name="connsiteY30" fmla="*/ 341383 h 820072"/>
                <a:gd name="connsiteX0" fmla="*/ 0 w 2725396"/>
                <a:gd name="connsiteY0" fmla="*/ 654204 h 820072"/>
                <a:gd name="connsiteX1" fmla="*/ 252663 w 2725396"/>
                <a:gd name="connsiteY1" fmla="*/ 654204 h 820072"/>
                <a:gd name="connsiteX2" fmla="*/ 288758 w 2725396"/>
                <a:gd name="connsiteY2" fmla="*/ 582015 h 820072"/>
                <a:gd name="connsiteX3" fmla="*/ 360947 w 2725396"/>
                <a:gd name="connsiteY3" fmla="*/ 582015 h 820072"/>
                <a:gd name="connsiteX4" fmla="*/ 385010 w 2725396"/>
                <a:gd name="connsiteY4" fmla="*/ 666236 h 820072"/>
                <a:gd name="connsiteX5" fmla="*/ 553452 w 2725396"/>
                <a:gd name="connsiteY5" fmla="*/ 654204 h 820072"/>
                <a:gd name="connsiteX6" fmla="*/ 589547 w 2725396"/>
                <a:gd name="connsiteY6" fmla="*/ 798583 h 820072"/>
                <a:gd name="connsiteX7" fmla="*/ 625642 w 2725396"/>
                <a:gd name="connsiteY7" fmla="*/ 124815 h 820072"/>
                <a:gd name="connsiteX8" fmla="*/ 685800 w 2725396"/>
                <a:gd name="connsiteY8" fmla="*/ 269193 h 820072"/>
                <a:gd name="connsiteX9" fmla="*/ 878305 w 2725396"/>
                <a:gd name="connsiteY9" fmla="*/ 293257 h 820072"/>
                <a:gd name="connsiteX10" fmla="*/ 974558 w 2725396"/>
                <a:gd name="connsiteY10" fmla="*/ 606078 h 820072"/>
                <a:gd name="connsiteX11" fmla="*/ 998621 w 2725396"/>
                <a:gd name="connsiteY11" fmla="*/ 666236 h 820072"/>
                <a:gd name="connsiteX12" fmla="*/ 1239252 w 2725396"/>
                <a:gd name="connsiteY12" fmla="*/ 666236 h 820072"/>
                <a:gd name="connsiteX13" fmla="*/ 1347537 w 2725396"/>
                <a:gd name="connsiteY13" fmla="*/ 666236 h 820072"/>
                <a:gd name="connsiteX14" fmla="*/ 1395663 w 2725396"/>
                <a:gd name="connsiteY14" fmla="*/ 606078 h 820072"/>
                <a:gd name="connsiteX15" fmla="*/ 1479884 w 2725396"/>
                <a:gd name="connsiteY15" fmla="*/ 618109 h 820072"/>
                <a:gd name="connsiteX16" fmla="*/ 1503947 w 2725396"/>
                <a:gd name="connsiteY16" fmla="*/ 678267 h 820072"/>
                <a:gd name="connsiteX17" fmla="*/ 1648326 w 2725396"/>
                <a:gd name="connsiteY17" fmla="*/ 678267 h 820072"/>
                <a:gd name="connsiteX18" fmla="*/ 1672389 w 2725396"/>
                <a:gd name="connsiteY18" fmla="*/ 774520 h 820072"/>
                <a:gd name="connsiteX19" fmla="*/ 1744579 w 2725396"/>
                <a:gd name="connsiteY19" fmla="*/ 16530 h 820072"/>
                <a:gd name="connsiteX20" fmla="*/ 1768642 w 2725396"/>
                <a:gd name="connsiteY20" fmla="*/ 257162 h 820072"/>
                <a:gd name="connsiteX21" fmla="*/ 1937084 w 2725396"/>
                <a:gd name="connsiteY21" fmla="*/ 317320 h 820072"/>
                <a:gd name="connsiteX22" fmla="*/ 2009274 w 2725396"/>
                <a:gd name="connsiteY22" fmla="*/ 594046 h 820072"/>
                <a:gd name="connsiteX23" fmla="*/ 2237874 w 2725396"/>
                <a:gd name="connsiteY23" fmla="*/ 666236 h 820072"/>
                <a:gd name="connsiteX24" fmla="*/ 2418347 w 2725396"/>
                <a:gd name="connsiteY24" fmla="*/ 642172 h 820072"/>
                <a:gd name="connsiteX25" fmla="*/ 2418347 w 2725396"/>
                <a:gd name="connsiteY25" fmla="*/ 642172 h 820072"/>
                <a:gd name="connsiteX26" fmla="*/ 2514600 w 2725396"/>
                <a:gd name="connsiteY26" fmla="*/ 618109 h 820072"/>
                <a:gd name="connsiteX27" fmla="*/ 2574758 w 2725396"/>
                <a:gd name="connsiteY27" fmla="*/ 654204 h 820072"/>
                <a:gd name="connsiteX28" fmla="*/ 2719137 w 2725396"/>
                <a:gd name="connsiteY28" fmla="*/ 642172 h 820072"/>
                <a:gd name="connsiteX29" fmla="*/ 2707105 w 2725396"/>
                <a:gd name="connsiteY29" fmla="*/ 100751 h 820072"/>
                <a:gd name="connsiteX0" fmla="*/ 0 w 2719137"/>
                <a:gd name="connsiteY0" fmla="*/ 654204 h 820072"/>
                <a:gd name="connsiteX1" fmla="*/ 252663 w 2719137"/>
                <a:gd name="connsiteY1" fmla="*/ 654204 h 820072"/>
                <a:gd name="connsiteX2" fmla="*/ 288758 w 2719137"/>
                <a:gd name="connsiteY2" fmla="*/ 582015 h 820072"/>
                <a:gd name="connsiteX3" fmla="*/ 360947 w 2719137"/>
                <a:gd name="connsiteY3" fmla="*/ 582015 h 820072"/>
                <a:gd name="connsiteX4" fmla="*/ 385010 w 2719137"/>
                <a:gd name="connsiteY4" fmla="*/ 666236 h 820072"/>
                <a:gd name="connsiteX5" fmla="*/ 553452 w 2719137"/>
                <a:gd name="connsiteY5" fmla="*/ 654204 h 820072"/>
                <a:gd name="connsiteX6" fmla="*/ 589547 w 2719137"/>
                <a:gd name="connsiteY6" fmla="*/ 798583 h 820072"/>
                <a:gd name="connsiteX7" fmla="*/ 625642 w 2719137"/>
                <a:gd name="connsiteY7" fmla="*/ 124815 h 820072"/>
                <a:gd name="connsiteX8" fmla="*/ 685800 w 2719137"/>
                <a:gd name="connsiteY8" fmla="*/ 269193 h 820072"/>
                <a:gd name="connsiteX9" fmla="*/ 878305 w 2719137"/>
                <a:gd name="connsiteY9" fmla="*/ 293257 h 820072"/>
                <a:gd name="connsiteX10" fmla="*/ 974558 w 2719137"/>
                <a:gd name="connsiteY10" fmla="*/ 606078 h 820072"/>
                <a:gd name="connsiteX11" fmla="*/ 998621 w 2719137"/>
                <a:gd name="connsiteY11" fmla="*/ 666236 h 820072"/>
                <a:gd name="connsiteX12" fmla="*/ 1239252 w 2719137"/>
                <a:gd name="connsiteY12" fmla="*/ 666236 h 820072"/>
                <a:gd name="connsiteX13" fmla="*/ 1347537 w 2719137"/>
                <a:gd name="connsiteY13" fmla="*/ 666236 h 820072"/>
                <a:gd name="connsiteX14" fmla="*/ 1395663 w 2719137"/>
                <a:gd name="connsiteY14" fmla="*/ 606078 h 820072"/>
                <a:gd name="connsiteX15" fmla="*/ 1479884 w 2719137"/>
                <a:gd name="connsiteY15" fmla="*/ 618109 h 820072"/>
                <a:gd name="connsiteX16" fmla="*/ 1503947 w 2719137"/>
                <a:gd name="connsiteY16" fmla="*/ 678267 h 820072"/>
                <a:gd name="connsiteX17" fmla="*/ 1648326 w 2719137"/>
                <a:gd name="connsiteY17" fmla="*/ 678267 h 820072"/>
                <a:gd name="connsiteX18" fmla="*/ 1672389 w 2719137"/>
                <a:gd name="connsiteY18" fmla="*/ 774520 h 820072"/>
                <a:gd name="connsiteX19" fmla="*/ 1744579 w 2719137"/>
                <a:gd name="connsiteY19" fmla="*/ 16530 h 820072"/>
                <a:gd name="connsiteX20" fmla="*/ 1768642 w 2719137"/>
                <a:gd name="connsiteY20" fmla="*/ 257162 h 820072"/>
                <a:gd name="connsiteX21" fmla="*/ 1937084 w 2719137"/>
                <a:gd name="connsiteY21" fmla="*/ 317320 h 820072"/>
                <a:gd name="connsiteX22" fmla="*/ 2009274 w 2719137"/>
                <a:gd name="connsiteY22" fmla="*/ 594046 h 820072"/>
                <a:gd name="connsiteX23" fmla="*/ 2237874 w 2719137"/>
                <a:gd name="connsiteY23" fmla="*/ 666236 h 820072"/>
                <a:gd name="connsiteX24" fmla="*/ 2418347 w 2719137"/>
                <a:gd name="connsiteY24" fmla="*/ 642172 h 820072"/>
                <a:gd name="connsiteX25" fmla="*/ 2418347 w 2719137"/>
                <a:gd name="connsiteY25" fmla="*/ 642172 h 820072"/>
                <a:gd name="connsiteX26" fmla="*/ 2514600 w 2719137"/>
                <a:gd name="connsiteY26" fmla="*/ 618109 h 820072"/>
                <a:gd name="connsiteX27" fmla="*/ 2574758 w 2719137"/>
                <a:gd name="connsiteY27" fmla="*/ 654204 h 820072"/>
                <a:gd name="connsiteX28" fmla="*/ 2719137 w 2719137"/>
                <a:gd name="connsiteY28" fmla="*/ 642172 h 820072"/>
                <a:gd name="connsiteX0" fmla="*/ 0 w 2574758"/>
                <a:gd name="connsiteY0" fmla="*/ 654204 h 820072"/>
                <a:gd name="connsiteX1" fmla="*/ 252663 w 2574758"/>
                <a:gd name="connsiteY1" fmla="*/ 654204 h 820072"/>
                <a:gd name="connsiteX2" fmla="*/ 288758 w 2574758"/>
                <a:gd name="connsiteY2" fmla="*/ 582015 h 820072"/>
                <a:gd name="connsiteX3" fmla="*/ 360947 w 2574758"/>
                <a:gd name="connsiteY3" fmla="*/ 582015 h 820072"/>
                <a:gd name="connsiteX4" fmla="*/ 385010 w 2574758"/>
                <a:gd name="connsiteY4" fmla="*/ 666236 h 820072"/>
                <a:gd name="connsiteX5" fmla="*/ 553452 w 2574758"/>
                <a:gd name="connsiteY5" fmla="*/ 654204 h 820072"/>
                <a:gd name="connsiteX6" fmla="*/ 589547 w 2574758"/>
                <a:gd name="connsiteY6" fmla="*/ 798583 h 820072"/>
                <a:gd name="connsiteX7" fmla="*/ 625642 w 2574758"/>
                <a:gd name="connsiteY7" fmla="*/ 124815 h 820072"/>
                <a:gd name="connsiteX8" fmla="*/ 685800 w 2574758"/>
                <a:gd name="connsiteY8" fmla="*/ 269193 h 820072"/>
                <a:gd name="connsiteX9" fmla="*/ 878305 w 2574758"/>
                <a:gd name="connsiteY9" fmla="*/ 293257 h 820072"/>
                <a:gd name="connsiteX10" fmla="*/ 974558 w 2574758"/>
                <a:gd name="connsiteY10" fmla="*/ 606078 h 820072"/>
                <a:gd name="connsiteX11" fmla="*/ 998621 w 2574758"/>
                <a:gd name="connsiteY11" fmla="*/ 666236 h 820072"/>
                <a:gd name="connsiteX12" fmla="*/ 1239252 w 2574758"/>
                <a:gd name="connsiteY12" fmla="*/ 666236 h 820072"/>
                <a:gd name="connsiteX13" fmla="*/ 1347537 w 2574758"/>
                <a:gd name="connsiteY13" fmla="*/ 666236 h 820072"/>
                <a:gd name="connsiteX14" fmla="*/ 1395663 w 2574758"/>
                <a:gd name="connsiteY14" fmla="*/ 606078 h 820072"/>
                <a:gd name="connsiteX15" fmla="*/ 1479884 w 2574758"/>
                <a:gd name="connsiteY15" fmla="*/ 618109 h 820072"/>
                <a:gd name="connsiteX16" fmla="*/ 1503947 w 2574758"/>
                <a:gd name="connsiteY16" fmla="*/ 678267 h 820072"/>
                <a:gd name="connsiteX17" fmla="*/ 1648326 w 2574758"/>
                <a:gd name="connsiteY17" fmla="*/ 678267 h 820072"/>
                <a:gd name="connsiteX18" fmla="*/ 1672389 w 2574758"/>
                <a:gd name="connsiteY18" fmla="*/ 774520 h 820072"/>
                <a:gd name="connsiteX19" fmla="*/ 1744579 w 2574758"/>
                <a:gd name="connsiteY19" fmla="*/ 16530 h 820072"/>
                <a:gd name="connsiteX20" fmla="*/ 1768642 w 2574758"/>
                <a:gd name="connsiteY20" fmla="*/ 257162 h 820072"/>
                <a:gd name="connsiteX21" fmla="*/ 1937084 w 2574758"/>
                <a:gd name="connsiteY21" fmla="*/ 317320 h 820072"/>
                <a:gd name="connsiteX22" fmla="*/ 2009274 w 2574758"/>
                <a:gd name="connsiteY22" fmla="*/ 594046 h 820072"/>
                <a:gd name="connsiteX23" fmla="*/ 2237874 w 2574758"/>
                <a:gd name="connsiteY23" fmla="*/ 666236 h 820072"/>
                <a:gd name="connsiteX24" fmla="*/ 2418347 w 2574758"/>
                <a:gd name="connsiteY24" fmla="*/ 642172 h 820072"/>
                <a:gd name="connsiteX25" fmla="*/ 2418347 w 2574758"/>
                <a:gd name="connsiteY25" fmla="*/ 642172 h 820072"/>
                <a:gd name="connsiteX26" fmla="*/ 2514600 w 2574758"/>
                <a:gd name="connsiteY26" fmla="*/ 618109 h 820072"/>
                <a:gd name="connsiteX27" fmla="*/ 2574758 w 2574758"/>
                <a:gd name="connsiteY27" fmla="*/ 654204 h 820072"/>
                <a:gd name="connsiteX0" fmla="*/ 0 w 2514600"/>
                <a:gd name="connsiteY0" fmla="*/ 654204 h 820072"/>
                <a:gd name="connsiteX1" fmla="*/ 252663 w 2514600"/>
                <a:gd name="connsiteY1" fmla="*/ 654204 h 820072"/>
                <a:gd name="connsiteX2" fmla="*/ 288758 w 2514600"/>
                <a:gd name="connsiteY2" fmla="*/ 582015 h 820072"/>
                <a:gd name="connsiteX3" fmla="*/ 360947 w 2514600"/>
                <a:gd name="connsiteY3" fmla="*/ 582015 h 820072"/>
                <a:gd name="connsiteX4" fmla="*/ 385010 w 2514600"/>
                <a:gd name="connsiteY4" fmla="*/ 666236 h 820072"/>
                <a:gd name="connsiteX5" fmla="*/ 553452 w 2514600"/>
                <a:gd name="connsiteY5" fmla="*/ 654204 h 820072"/>
                <a:gd name="connsiteX6" fmla="*/ 589547 w 2514600"/>
                <a:gd name="connsiteY6" fmla="*/ 798583 h 820072"/>
                <a:gd name="connsiteX7" fmla="*/ 625642 w 2514600"/>
                <a:gd name="connsiteY7" fmla="*/ 124815 h 820072"/>
                <a:gd name="connsiteX8" fmla="*/ 685800 w 2514600"/>
                <a:gd name="connsiteY8" fmla="*/ 269193 h 820072"/>
                <a:gd name="connsiteX9" fmla="*/ 878305 w 2514600"/>
                <a:gd name="connsiteY9" fmla="*/ 293257 h 820072"/>
                <a:gd name="connsiteX10" fmla="*/ 974558 w 2514600"/>
                <a:gd name="connsiteY10" fmla="*/ 606078 h 820072"/>
                <a:gd name="connsiteX11" fmla="*/ 998621 w 2514600"/>
                <a:gd name="connsiteY11" fmla="*/ 666236 h 820072"/>
                <a:gd name="connsiteX12" fmla="*/ 1239252 w 2514600"/>
                <a:gd name="connsiteY12" fmla="*/ 666236 h 820072"/>
                <a:gd name="connsiteX13" fmla="*/ 1347537 w 2514600"/>
                <a:gd name="connsiteY13" fmla="*/ 666236 h 820072"/>
                <a:gd name="connsiteX14" fmla="*/ 1395663 w 2514600"/>
                <a:gd name="connsiteY14" fmla="*/ 606078 h 820072"/>
                <a:gd name="connsiteX15" fmla="*/ 1479884 w 2514600"/>
                <a:gd name="connsiteY15" fmla="*/ 618109 h 820072"/>
                <a:gd name="connsiteX16" fmla="*/ 1503947 w 2514600"/>
                <a:gd name="connsiteY16" fmla="*/ 678267 h 820072"/>
                <a:gd name="connsiteX17" fmla="*/ 1648326 w 2514600"/>
                <a:gd name="connsiteY17" fmla="*/ 678267 h 820072"/>
                <a:gd name="connsiteX18" fmla="*/ 1672389 w 2514600"/>
                <a:gd name="connsiteY18" fmla="*/ 774520 h 820072"/>
                <a:gd name="connsiteX19" fmla="*/ 1744579 w 2514600"/>
                <a:gd name="connsiteY19" fmla="*/ 16530 h 820072"/>
                <a:gd name="connsiteX20" fmla="*/ 1768642 w 2514600"/>
                <a:gd name="connsiteY20" fmla="*/ 257162 h 820072"/>
                <a:gd name="connsiteX21" fmla="*/ 1937084 w 2514600"/>
                <a:gd name="connsiteY21" fmla="*/ 317320 h 820072"/>
                <a:gd name="connsiteX22" fmla="*/ 2009274 w 2514600"/>
                <a:gd name="connsiteY22" fmla="*/ 594046 h 820072"/>
                <a:gd name="connsiteX23" fmla="*/ 2237874 w 2514600"/>
                <a:gd name="connsiteY23" fmla="*/ 666236 h 820072"/>
                <a:gd name="connsiteX24" fmla="*/ 2418347 w 2514600"/>
                <a:gd name="connsiteY24" fmla="*/ 642172 h 820072"/>
                <a:gd name="connsiteX25" fmla="*/ 2418347 w 2514600"/>
                <a:gd name="connsiteY25" fmla="*/ 642172 h 820072"/>
                <a:gd name="connsiteX26" fmla="*/ 2514600 w 2514600"/>
                <a:gd name="connsiteY26" fmla="*/ 618109 h 820072"/>
                <a:gd name="connsiteX0" fmla="*/ 0 w 2418347"/>
                <a:gd name="connsiteY0" fmla="*/ 654204 h 820072"/>
                <a:gd name="connsiteX1" fmla="*/ 252663 w 2418347"/>
                <a:gd name="connsiteY1" fmla="*/ 654204 h 820072"/>
                <a:gd name="connsiteX2" fmla="*/ 288758 w 2418347"/>
                <a:gd name="connsiteY2" fmla="*/ 582015 h 820072"/>
                <a:gd name="connsiteX3" fmla="*/ 360947 w 2418347"/>
                <a:gd name="connsiteY3" fmla="*/ 582015 h 820072"/>
                <a:gd name="connsiteX4" fmla="*/ 385010 w 2418347"/>
                <a:gd name="connsiteY4" fmla="*/ 666236 h 820072"/>
                <a:gd name="connsiteX5" fmla="*/ 553452 w 2418347"/>
                <a:gd name="connsiteY5" fmla="*/ 654204 h 820072"/>
                <a:gd name="connsiteX6" fmla="*/ 589547 w 2418347"/>
                <a:gd name="connsiteY6" fmla="*/ 798583 h 820072"/>
                <a:gd name="connsiteX7" fmla="*/ 625642 w 2418347"/>
                <a:gd name="connsiteY7" fmla="*/ 124815 h 820072"/>
                <a:gd name="connsiteX8" fmla="*/ 685800 w 2418347"/>
                <a:gd name="connsiteY8" fmla="*/ 269193 h 820072"/>
                <a:gd name="connsiteX9" fmla="*/ 878305 w 2418347"/>
                <a:gd name="connsiteY9" fmla="*/ 293257 h 820072"/>
                <a:gd name="connsiteX10" fmla="*/ 974558 w 2418347"/>
                <a:gd name="connsiteY10" fmla="*/ 606078 h 820072"/>
                <a:gd name="connsiteX11" fmla="*/ 998621 w 2418347"/>
                <a:gd name="connsiteY11" fmla="*/ 666236 h 820072"/>
                <a:gd name="connsiteX12" fmla="*/ 1239252 w 2418347"/>
                <a:gd name="connsiteY12" fmla="*/ 666236 h 820072"/>
                <a:gd name="connsiteX13" fmla="*/ 1347537 w 2418347"/>
                <a:gd name="connsiteY13" fmla="*/ 666236 h 820072"/>
                <a:gd name="connsiteX14" fmla="*/ 1395663 w 2418347"/>
                <a:gd name="connsiteY14" fmla="*/ 606078 h 820072"/>
                <a:gd name="connsiteX15" fmla="*/ 1479884 w 2418347"/>
                <a:gd name="connsiteY15" fmla="*/ 618109 h 820072"/>
                <a:gd name="connsiteX16" fmla="*/ 1503947 w 2418347"/>
                <a:gd name="connsiteY16" fmla="*/ 678267 h 820072"/>
                <a:gd name="connsiteX17" fmla="*/ 1648326 w 2418347"/>
                <a:gd name="connsiteY17" fmla="*/ 678267 h 820072"/>
                <a:gd name="connsiteX18" fmla="*/ 1672389 w 2418347"/>
                <a:gd name="connsiteY18" fmla="*/ 774520 h 820072"/>
                <a:gd name="connsiteX19" fmla="*/ 1744579 w 2418347"/>
                <a:gd name="connsiteY19" fmla="*/ 16530 h 820072"/>
                <a:gd name="connsiteX20" fmla="*/ 1768642 w 2418347"/>
                <a:gd name="connsiteY20" fmla="*/ 257162 h 820072"/>
                <a:gd name="connsiteX21" fmla="*/ 1937084 w 2418347"/>
                <a:gd name="connsiteY21" fmla="*/ 317320 h 820072"/>
                <a:gd name="connsiteX22" fmla="*/ 2009274 w 2418347"/>
                <a:gd name="connsiteY22" fmla="*/ 594046 h 820072"/>
                <a:gd name="connsiteX23" fmla="*/ 2237874 w 2418347"/>
                <a:gd name="connsiteY23" fmla="*/ 666236 h 820072"/>
                <a:gd name="connsiteX24" fmla="*/ 2418347 w 2418347"/>
                <a:gd name="connsiteY24" fmla="*/ 642172 h 820072"/>
                <a:gd name="connsiteX25" fmla="*/ 2418347 w 2418347"/>
                <a:gd name="connsiteY25" fmla="*/ 642172 h 820072"/>
                <a:gd name="connsiteX0" fmla="*/ 0 w 2418347"/>
                <a:gd name="connsiteY0" fmla="*/ 563102 h 728970"/>
                <a:gd name="connsiteX1" fmla="*/ 252663 w 2418347"/>
                <a:gd name="connsiteY1" fmla="*/ 563102 h 728970"/>
                <a:gd name="connsiteX2" fmla="*/ 288758 w 2418347"/>
                <a:gd name="connsiteY2" fmla="*/ 490913 h 728970"/>
                <a:gd name="connsiteX3" fmla="*/ 360947 w 2418347"/>
                <a:gd name="connsiteY3" fmla="*/ 490913 h 728970"/>
                <a:gd name="connsiteX4" fmla="*/ 385010 w 2418347"/>
                <a:gd name="connsiteY4" fmla="*/ 575134 h 728970"/>
                <a:gd name="connsiteX5" fmla="*/ 553452 w 2418347"/>
                <a:gd name="connsiteY5" fmla="*/ 563102 h 728970"/>
                <a:gd name="connsiteX6" fmla="*/ 589547 w 2418347"/>
                <a:gd name="connsiteY6" fmla="*/ 707481 h 728970"/>
                <a:gd name="connsiteX7" fmla="*/ 625642 w 2418347"/>
                <a:gd name="connsiteY7" fmla="*/ 33713 h 728970"/>
                <a:gd name="connsiteX8" fmla="*/ 685800 w 2418347"/>
                <a:gd name="connsiteY8" fmla="*/ 178091 h 728970"/>
                <a:gd name="connsiteX9" fmla="*/ 878305 w 2418347"/>
                <a:gd name="connsiteY9" fmla="*/ 202155 h 728970"/>
                <a:gd name="connsiteX10" fmla="*/ 974558 w 2418347"/>
                <a:gd name="connsiteY10" fmla="*/ 514976 h 728970"/>
                <a:gd name="connsiteX11" fmla="*/ 998621 w 2418347"/>
                <a:gd name="connsiteY11" fmla="*/ 575134 h 728970"/>
                <a:gd name="connsiteX12" fmla="*/ 1239252 w 2418347"/>
                <a:gd name="connsiteY12" fmla="*/ 575134 h 728970"/>
                <a:gd name="connsiteX13" fmla="*/ 1347537 w 2418347"/>
                <a:gd name="connsiteY13" fmla="*/ 575134 h 728970"/>
                <a:gd name="connsiteX14" fmla="*/ 1395663 w 2418347"/>
                <a:gd name="connsiteY14" fmla="*/ 514976 h 728970"/>
                <a:gd name="connsiteX15" fmla="*/ 1479884 w 2418347"/>
                <a:gd name="connsiteY15" fmla="*/ 527007 h 728970"/>
                <a:gd name="connsiteX16" fmla="*/ 1503947 w 2418347"/>
                <a:gd name="connsiteY16" fmla="*/ 587165 h 728970"/>
                <a:gd name="connsiteX17" fmla="*/ 1648326 w 2418347"/>
                <a:gd name="connsiteY17" fmla="*/ 587165 h 728970"/>
                <a:gd name="connsiteX18" fmla="*/ 1672389 w 2418347"/>
                <a:gd name="connsiteY18" fmla="*/ 683418 h 728970"/>
                <a:gd name="connsiteX19" fmla="*/ 1708484 w 2418347"/>
                <a:gd name="connsiteY19" fmla="*/ 21681 h 728970"/>
                <a:gd name="connsiteX20" fmla="*/ 1768642 w 2418347"/>
                <a:gd name="connsiteY20" fmla="*/ 166060 h 728970"/>
                <a:gd name="connsiteX21" fmla="*/ 1937084 w 2418347"/>
                <a:gd name="connsiteY21" fmla="*/ 226218 h 728970"/>
                <a:gd name="connsiteX22" fmla="*/ 2009274 w 2418347"/>
                <a:gd name="connsiteY22" fmla="*/ 502944 h 728970"/>
                <a:gd name="connsiteX23" fmla="*/ 2237874 w 2418347"/>
                <a:gd name="connsiteY23" fmla="*/ 575134 h 728970"/>
                <a:gd name="connsiteX24" fmla="*/ 2418347 w 2418347"/>
                <a:gd name="connsiteY24" fmla="*/ 551070 h 728970"/>
                <a:gd name="connsiteX25" fmla="*/ 2418347 w 2418347"/>
                <a:gd name="connsiteY25" fmla="*/ 551070 h 728970"/>
                <a:gd name="connsiteX0" fmla="*/ 0 w 2418347"/>
                <a:gd name="connsiteY0" fmla="*/ 563258 h 729126"/>
                <a:gd name="connsiteX1" fmla="*/ 252663 w 2418347"/>
                <a:gd name="connsiteY1" fmla="*/ 563258 h 729126"/>
                <a:gd name="connsiteX2" fmla="*/ 288758 w 2418347"/>
                <a:gd name="connsiteY2" fmla="*/ 491069 h 729126"/>
                <a:gd name="connsiteX3" fmla="*/ 360947 w 2418347"/>
                <a:gd name="connsiteY3" fmla="*/ 491069 h 729126"/>
                <a:gd name="connsiteX4" fmla="*/ 385010 w 2418347"/>
                <a:gd name="connsiteY4" fmla="*/ 575290 h 729126"/>
                <a:gd name="connsiteX5" fmla="*/ 553452 w 2418347"/>
                <a:gd name="connsiteY5" fmla="*/ 563258 h 729126"/>
                <a:gd name="connsiteX6" fmla="*/ 589547 w 2418347"/>
                <a:gd name="connsiteY6" fmla="*/ 707637 h 729126"/>
                <a:gd name="connsiteX7" fmla="*/ 625642 w 2418347"/>
                <a:gd name="connsiteY7" fmla="*/ 33869 h 729126"/>
                <a:gd name="connsiteX8" fmla="*/ 685800 w 2418347"/>
                <a:gd name="connsiteY8" fmla="*/ 178247 h 729126"/>
                <a:gd name="connsiteX9" fmla="*/ 878305 w 2418347"/>
                <a:gd name="connsiteY9" fmla="*/ 202311 h 729126"/>
                <a:gd name="connsiteX10" fmla="*/ 974558 w 2418347"/>
                <a:gd name="connsiteY10" fmla="*/ 515132 h 729126"/>
                <a:gd name="connsiteX11" fmla="*/ 998621 w 2418347"/>
                <a:gd name="connsiteY11" fmla="*/ 575290 h 729126"/>
                <a:gd name="connsiteX12" fmla="*/ 1239252 w 2418347"/>
                <a:gd name="connsiteY12" fmla="*/ 575290 h 729126"/>
                <a:gd name="connsiteX13" fmla="*/ 1347537 w 2418347"/>
                <a:gd name="connsiteY13" fmla="*/ 575290 h 729126"/>
                <a:gd name="connsiteX14" fmla="*/ 1395663 w 2418347"/>
                <a:gd name="connsiteY14" fmla="*/ 515132 h 729126"/>
                <a:gd name="connsiteX15" fmla="*/ 1479884 w 2418347"/>
                <a:gd name="connsiteY15" fmla="*/ 527163 h 729126"/>
                <a:gd name="connsiteX16" fmla="*/ 1503947 w 2418347"/>
                <a:gd name="connsiteY16" fmla="*/ 587321 h 729126"/>
                <a:gd name="connsiteX17" fmla="*/ 1648326 w 2418347"/>
                <a:gd name="connsiteY17" fmla="*/ 587321 h 729126"/>
                <a:gd name="connsiteX18" fmla="*/ 1672389 w 2418347"/>
                <a:gd name="connsiteY18" fmla="*/ 683574 h 729126"/>
                <a:gd name="connsiteX19" fmla="*/ 1708484 w 2418347"/>
                <a:gd name="connsiteY19" fmla="*/ 21837 h 729126"/>
                <a:gd name="connsiteX20" fmla="*/ 1768642 w 2418347"/>
                <a:gd name="connsiteY20" fmla="*/ 166216 h 729126"/>
                <a:gd name="connsiteX21" fmla="*/ 1973179 w 2418347"/>
                <a:gd name="connsiteY21" fmla="*/ 238405 h 729126"/>
                <a:gd name="connsiteX22" fmla="*/ 2009274 w 2418347"/>
                <a:gd name="connsiteY22" fmla="*/ 503100 h 729126"/>
                <a:gd name="connsiteX23" fmla="*/ 2237874 w 2418347"/>
                <a:gd name="connsiteY23" fmla="*/ 575290 h 729126"/>
                <a:gd name="connsiteX24" fmla="*/ 2418347 w 2418347"/>
                <a:gd name="connsiteY24" fmla="*/ 551226 h 729126"/>
                <a:gd name="connsiteX25" fmla="*/ 2418347 w 2418347"/>
                <a:gd name="connsiteY25" fmla="*/ 551226 h 729126"/>
                <a:gd name="connsiteX0" fmla="*/ 0 w 2418347"/>
                <a:gd name="connsiteY0" fmla="*/ 563258 h 729126"/>
                <a:gd name="connsiteX1" fmla="*/ 252663 w 2418347"/>
                <a:gd name="connsiteY1" fmla="*/ 563258 h 729126"/>
                <a:gd name="connsiteX2" fmla="*/ 288758 w 2418347"/>
                <a:gd name="connsiteY2" fmla="*/ 491069 h 729126"/>
                <a:gd name="connsiteX3" fmla="*/ 360947 w 2418347"/>
                <a:gd name="connsiteY3" fmla="*/ 491069 h 729126"/>
                <a:gd name="connsiteX4" fmla="*/ 385010 w 2418347"/>
                <a:gd name="connsiteY4" fmla="*/ 575290 h 729126"/>
                <a:gd name="connsiteX5" fmla="*/ 553452 w 2418347"/>
                <a:gd name="connsiteY5" fmla="*/ 563258 h 729126"/>
                <a:gd name="connsiteX6" fmla="*/ 589547 w 2418347"/>
                <a:gd name="connsiteY6" fmla="*/ 707637 h 729126"/>
                <a:gd name="connsiteX7" fmla="*/ 625642 w 2418347"/>
                <a:gd name="connsiteY7" fmla="*/ 33869 h 729126"/>
                <a:gd name="connsiteX8" fmla="*/ 685800 w 2418347"/>
                <a:gd name="connsiteY8" fmla="*/ 178247 h 729126"/>
                <a:gd name="connsiteX9" fmla="*/ 878305 w 2418347"/>
                <a:gd name="connsiteY9" fmla="*/ 202311 h 729126"/>
                <a:gd name="connsiteX10" fmla="*/ 974558 w 2418347"/>
                <a:gd name="connsiteY10" fmla="*/ 515132 h 729126"/>
                <a:gd name="connsiteX11" fmla="*/ 998621 w 2418347"/>
                <a:gd name="connsiteY11" fmla="*/ 575290 h 729126"/>
                <a:gd name="connsiteX12" fmla="*/ 1239252 w 2418347"/>
                <a:gd name="connsiteY12" fmla="*/ 575290 h 729126"/>
                <a:gd name="connsiteX13" fmla="*/ 1347537 w 2418347"/>
                <a:gd name="connsiteY13" fmla="*/ 575290 h 729126"/>
                <a:gd name="connsiteX14" fmla="*/ 1395663 w 2418347"/>
                <a:gd name="connsiteY14" fmla="*/ 515132 h 729126"/>
                <a:gd name="connsiteX15" fmla="*/ 1479884 w 2418347"/>
                <a:gd name="connsiteY15" fmla="*/ 527163 h 729126"/>
                <a:gd name="connsiteX16" fmla="*/ 1503947 w 2418347"/>
                <a:gd name="connsiteY16" fmla="*/ 587321 h 729126"/>
                <a:gd name="connsiteX17" fmla="*/ 1648326 w 2418347"/>
                <a:gd name="connsiteY17" fmla="*/ 587321 h 729126"/>
                <a:gd name="connsiteX18" fmla="*/ 1672389 w 2418347"/>
                <a:gd name="connsiteY18" fmla="*/ 683574 h 729126"/>
                <a:gd name="connsiteX19" fmla="*/ 1708484 w 2418347"/>
                <a:gd name="connsiteY19" fmla="*/ 21837 h 729126"/>
                <a:gd name="connsiteX20" fmla="*/ 1768642 w 2418347"/>
                <a:gd name="connsiteY20" fmla="*/ 166216 h 729126"/>
                <a:gd name="connsiteX21" fmla="*/ 1973179 w 2418347"/>
                <a:gd name="connsiteY21" fmla="*/ 238405 h 729126"/>
                <a:gd name="connsiteX22" fmla="*/ 2093495 w 2418347"/>
                <a:gd name="connsiteY22" fmla="*/ 575289 h 729126"/>
                <a:gd name="connsiteX23" fmla="*/ 2237874 w 2418347"/>
                <a:gd name="connsiteY23" fmla="*/ 575290 h 729126"/>
                <a:gd name="connsiteX24" fmla="*/ 2418347 w 2418347"/>
                <a:gd name="connsiteY24" fmla="*/ 551226 h 729126"/>
                <a:gd name="connsiteX25" fmla="*/ 2418347 w 2418347"/>
                <a:gd name="connsiteY25" fmla="*/ 551226 h 729126"/>
                <a:gd name="connsiteX0" fmla="*/ 0 w 2418347"/>
                <a:gd name="connsiteY0" fmla="*/ 563258 h 729126"/>
                <a:gd name="connsiteX1" fmla="*/ 252663 w 2418347"/>
                <a:gd name="connsiteY1" fmla="*/ 563258 h 729126"/>
                <a:gd name="connsiteX2" fmla="*/ 288758 w 2418347"/>
                <a:gd name="connsiteY2" fmla="*/ 491069 h 729126"/>
                <a:gd name="connsiteX3" fmla="*/ 360947 w 2418347"/>
                <a:gd name="connsiteY3" fmla="*/ 491069 h 729126"/>
                <a:gd name="connsiteX4" fmla="*/ 385010 w 2418347"/>
                <a:gd name="connsiteY4" fmla="*/ 575290 h 729126"/>
                <a:gd name="connsiteX5" fmla="*/ 553452 w 2418347"/>
                <a:gd name="connsiteY5" fmla="*/ 563258 h 729126"/>
                <a:gd name="connsiteX6" fmla="*/ 589547 w 2418347"/>
                <a:gd name="connsiteY6" fmla="*/ 707637 h 729126"/>
                <a:gd name="connsiteX7" fmla="*/ 625642 w 2418347"/>
                <a:gd name="connsiteY7" fmla="*/ 33869 h 729126"/>
                <a:gd name="connsiteX8" fmla="*/ 685800 w 2418347"/>
                <a:gd name="connsiteY8" fmla="*/ 178247 h 729126"/>
                <a:gd name="connsiteX9" fmla="*/ 878305 w 2418347"/>
                <a:gd name="connsiteY9" fmla="*/ 202311 h 729126"/>
                <a:gd name="connsiteX10" fmla="*/ 974558 w 2418347"/>
                <a:gd name="connsiteY10" fmla="*/ 515132 h 729126"/>
                <a:gd name="connsiteX11" fmla="*/ 998621 w 2418347"/>
                <a:gd name="connsiteY11" fmla="*/ 575290 h 729126"/>
                <a:gd name="connsiteX12" fmla="*/ 1239252 w 2418347"/>
                <a:gd name="connsiteY12" fmla="*/ 575290 h 729126"/>
                <a:gd name="connsiteX13" fmla="*/ 1347537 w 2418347"/>
                <a:gd name="connsiteY13" fmla="*/ 575290 h 729126"/>
                <a:gd name="connsiteX14" fmla="*/ 1395663 w 2418347"/>
                <a:gd name="connsiteY14" fmla="*/ 515132 h 729126"/>
                <a:gd name="connsiteX15" fmla="*/ 1479884 w 2418347"/>
                <a:gd name="connsiteY15" fmla="*/ 527163 h 729126"/>
                <a:gd name="connsiteX16" fmla="*/ 1503947 w 2418347"/>
                <a:gd name="connsiteY16" fmla="*/ 587321 h 729126"/>
                <a:gd name="connsiteX17" fmla="*/ 1648326 w 2418347"/>
                <a:gd name="connsiteY17" fmla="*/ 587321 h 729126"/>
                <a:gd name="connsiteX18" fmla="*/ 1672389 w 2418347"/>
                <a:gd name="connsiteY18" fmla="*/ 683574 h 729126"/>
                <a:gd name="connsiteX19" fmla="*/ 1708484 w 2418347"/>
                <a:gd name="connsiteY19" fmla="*/ 21837 h 729126"/>
                <a:gd name="connsiteX20" fmla="*/ 1768642 w 2418347"/>
                <a:gd name="connsiteY20" fmla="*/ 166216 h 729126"/>
                <a:gd name="connsiteX21" fmla="*/ 1973179 w 2418347"/>
                <a:gd name="connsiteY21" fmla="*/ 238405 h 729126"/>
                <a:gd name="connsiteX22" fmla="*/ 2093495 w 2418347"/>
                <a:gd name="connsiteY22" fmla="*/ 575289 h 729126"/>
                <a:gd name="connsiteX23" fmla="*/ 2237874 w 2418347"/>
                <a:gd name="connsiteY23" fmla="*/ 623416 h 729126"/>
                <a:gd name="connsiteX24" fmla="*/ 2418347 w 2418347"/>
                <a:gd name="connsiteY24" fmla="*/ 551226 h 729126"/>
                <a:gd name="connsiteX25" fmla="*/ 2418347 w 2418347"/>
                <a:gd name="connsiteY25" fmla="*/ 551226 h 729126"/>
                <a:gd name="connsiteX0" fmla="*/ 0 w 2514599"/>
                <a:gd name="connsiteY0" fmla="*/ 563258 h 729126"/>
                <a:gd name="connsiteX1" fmla="*/ 252663 w 2514599"/>
                <a:gd name="connsiteY1" fmla="*/ 563258 h 729126"/>
                <a:gd name="connsiteX2" fmla="*/ 288758 w 2514599"/>
                <a:gd name="connsiteY2" fmla="*/ 491069 h 729126"/>
                <a:gd name="connsiteX3" fmla="*/ 360947 w 2514599"/>
                <a:gd name="connsiteY3" fmla="*/ 491069 h 729126"/>
                <a:gd name="connsiteX4" fmla="*/ 385010 w 2514599"/>
                <a:gd name="connsiteY4" fmla="*/ 575290 h 729126"/>
                <a:gd name="connsiteX5" fmla="*/ 553452 w 2514599"/>
                <a:gd name="connsiteY5" fmla="*/ 563258 h 729126"/>
                <a:gd name="connsiteX6" fmla="*/ 589547 w 2514599"/>
                <a:gd name="connsiteY6" fmla="*/ 707637 h 729126"/>
                <a:gd name="connsiteX7" fmla="*/ 625642 w 2514599"/>
                <a:gd name="connsiteY7" fmla="*/ 33869 h 729126"/>
                <a:gd name="connsiteX8" fmla="*/ 685800 w 2514599"/>
                <a:gd name="connsiteY8" fmla="*/ 178247 h 729126"/>
                <a:gd name="connsiteX9" fmla="*/ 878305 w 2514599"/>
                <a:gd name="connsiteY9" fmla="*/ 202311 h 729126"/>
                <a:gd name="connsiteX10" fmla="*/ 974558 w 2514599"/>
                <a:gd name="connsiteY10" fmla="*/ 515132 h 729126"/>
                <a:gd name="connsiteX11" fmla="*/ 998621 w 2514599"/>
                <a:gd name="connsiteY11" fmla="*/ 575290 h 729126"/>
                <a:gd name="connsiteX12" fmla="*/ 1239252 w 2514599"/>
                <a:gd name="connsiteY12" fmla="*/ 575290 h 729126"/>
                <a:gd name="connsiteX13" fmla="*/ 1347537 w 2514599"/>
                <a:gd name="connsiteY13" fmla="*/ 575290 h 729126"/>
                <a:gd name="connsiteX14" fmla="*/ 1395663 w 2514599"/>
                <a:gd name="connsiteY14" fmla="*/ 515132 h 729126"/>
                <a:gd name="connsiteX15" fmla="*/ 1479884 w 2514599"/>
                <a:gd name="connsiteY15" fmla="*/ 527163 h 729126"/>
                <a:gd name="connsiteX16" fmla="*/ 1503947 w 2514599"/>
                <a:gd name="connsiteY16" fmla="*/ 587321 h 729126"/>
                <a:gd name="connsiteX17" fmla="*/ 1648326 w 2514599"/>
                <a:gd name="connsiteY17" fmla="*/ 587321 h 729126"/>
                <a:gd name="connsiteX18" fmla="*/ 1672389 w 2514599"/>
                <a:gd name="connsiteY18" fmla="*/ 683574 h 729126"/>
                <a:gd name="connsiteX19" fmla="*/ 1708484 w 2514599"/>
                <a:gd name="connsiteY19" fmla="*/ 21837 h 729126"/>
                <a:gd name="connsiteX20" fmla="*/ 1768642 w 2514599"/>
                <a:gd name="connsiteY20" fmla="*/ 166216 h 729126"/>
                <a:gd name="connsiteX21" fmla="*/ 1973179 w 2514599"/>
                <a:gd name="connsiteY21" fmla="*/ 238405 h 729126"/>
                <a:gd name="connsiteX22" fmla="*/ 2093495 w 2514599"/>
                <a:gd name="connsiteY22" fmla="*/ 575289 h 729126"/>
                <a:gd name="connsiteX23" fmla="*/ 2237874 w 2514599"/>
                <a:gd name="connsiteY23" fmla="*/ 623416 h 729126"/>
                <a:gd name="connsiteX24" fmla="*/ 2418347 w 2514599"/>
                <a:gd name="connsiteY24" fmla="*/ 551226 h 729126"/>
                <a:gd name="connsiteX25" fmla="*/ 2514599 w 2514599"/>
                <a:gd name="connsiteY25" fmla="*/ 623415 h 729126"/>
                <a:gd name="connsiteX0" fmla="*/ 0 w 2418347"/>
                <a:gd name="connsiteY0" fmla="*/ 563258 h 729126"/>
                <a:gd name="connsiteX1" fmla="*/ 252663 w 2418347"/>
                <a:gd name="connsiteY1" fmla="*/ 563258 h 729126"/>
                <a:gd name="connsiteX2" fmla="*/ 288758 w 2418347"/>
                <a:gd name="connsiteY2" fmla="*/ 491069 h 729126"/>
                <a:gd name="connsiteX3" fmla="*/ 360947 w 2418347"/>
                <a:gd name="connsiteY3" fmla="*/ 491069 h 729126"/>
                <a:gd name="connsiteX4" fmla="*/ 385010 w 2418347"/>
                <a:gd name="connsiteY4" fmla="*/ 575290 h 729126"/>
                <a:gd name="connsiteX5" fmla="*/ 553452 w 2418347"/>
                <a:gd name="connsiteY5" fmla="*/ 563258 h 729126"/>
                <a:gd name="connsiteX6" fmla="*/ 589547 w 2418347"/>
                <a:gd name="connsiteY6" fmla="*/ 707637 h 729126"/>
                <a:gd name="connsiteX7" fmla="*/ 625642 w 2418347"/>
                <a:gd name="connsiteY7" fmla="*/ 33869 h 729126"/>
                <a:gd name="connsiteX8" fmla="*/ 685800 w 2418347"/>
                <a:gd name="connsiteY8" fmla="*/ 178247 h 729126"/>
                <a:gd name="connsiteX9" fmla="*/ 878305 w 2418347"/>
                <a:gd name="connsiteY9" fmla="*/ 202311 h 729126"/>
                <a:gd name="connsiteX10" fmla="*/ 974558 w 2418347"/>
                <a:gd name="connsiteY10" fmla="*/ 515132 h 729126"/>
                <a:gd name="connsiteX11" fmla="*/ 998621 w 2418347"/>
                <a:gd name="connsiteY11" fmla="*/ 575290 h 729126"/>
                <a:gd name="connsiteX12" fmla="*/ 1239252 w 2418347"/>
                <a:gd name="connsiteY12" fmla="*/ 575290 h 729126"/>
                <a:gd name="connsiteX13" fmla="*/ 1347537 w 2418347"/>
                <a:gd name="connsiteY13" fmla="*/ 575290 h 729126"/>
                <a:gd name="connsiteX14" fmla="*/ 1395663 w 2418347"/>
                <a:gd name="connsiteY14" fmla="*/ 515132 h 729126"/>
                <a:gd name="connsiteX15" fmla="*/ 1479884 w 2418347"/>
                <a:gd name="connsiteY15" fmla="*/ 527163 h 729126"/>
                <a:gd name="connsiteX16" fmla="*/ 1503947 w 2418347"/>
                <a:gd name="connsiteY16" fmla="*/ 587321 h 729126"/>
                <a:gd name="connsiteX17" fmla="*/ 1648326 w 2418347"/>
                <a:gd name="connsiteY17" fmla="*/ 587321 h 729126"/>
                <a:gd name="connsiteX18" fmla="*/ 1672389 w 2418347"/>
                <a:gd name="connsiteY18" fmla="*/ 683574 h 729126"/>
                <a:gd name="connsiteX19" fmla="*/ 1708484 w 2418347"/>
                <a:gd name="connsiteY19" fmla="*/ 21837 h 729126"/>
                <a:gd name="connsiteX20" fmla="*/ 1768642 w 2418347"/>
                <a:gd name="connsiteY20" fmla="*/ 166216 h 729126"/>
                <a:gd name="connsiteX21" fmla="*/ 1973179 w 2418347"/>
                <a:gd name="connsiteY21" fmla="*/ 238405 h 729126"/>
                <a:gd name="connsiteX22" fmla="*/ 2093495 w 2418347"/>
                <a:gd name="connsiteY22" fmla="*/ 575289 h 729126"/>
                <a:gd name="connsiteX23" fmla="*/ 2237874 w 2418347"/>
                <a:gd name="connsiteY23" fmla="*/ 623416 h 729126"/>
                <a:gd name="connsiteX24" fmla="*/ 2418347 w 2418347"/>
                <a:gd name="connsiteY24" fmla="*/ 551226 h 729126"/>
                <a:gd name="connsiteX0" fmla="*/ 0 w 2418347"/>
                <a:gd name="connsiteY0" fmla="*/ 563258 h 729126"/>
                <a:gd name="connsiteX1" fmla="*/ 252663 w 2418347"/>
                <a:gd name="connsiteY1" fmla="*/ 563258 h 729126"/>
                <a:gd name="connsiteX2" fmla="*/ 288758 w 2418347"/>
                <a:gd name="connsiteY2" fmla="*/ 491069 h 729126"/>
                <a:gd name="connsiteX3" fmla="*/ 360947 w 2418347"/>
                <a:gd name="connsiteY3" fmla="*/ 491069 h 729126"/>
                <a:gd name="connsiteX4" fmla="*/ 385010 w 2418347"/>
                <a:gd name="connsiteY4" fmla="*/ 575290 h 729126"/>
                <a:gd name="connsiteX5" fmla="*/ 553452 w 2418347"/>
                <a:gd name="connsiteY5" fmla="*/ 563258 h 729126"/>
                <a:gd name="connsiteX6" fmla="*/ 589547 w 2418347"/>
                <a:gd name="connsiteY6" fmla="*/ 707637 h 729126"/>
                <a:gd name="connsiteX7" fmla="*/ 625642 w 2418347"/>
                <a:gd name="connsiteY7" fmla="*/ 33869 h 729126"/>
                <a:gd name="connsiteX8" fmla="*/ 685800 w 2418347"/>
                <a:gd name="connsiteY8" fmla="*/ 178247 h 729126"/>
                <a:gd name="connsiteX9" fmla="*/ 878305 w 2418347"/>
                <a:gd name="connsiteY9" fmla="*/ 202311 h 729126"/>
                <a:gd name="connsiteX10" fmla="*/ 974558 w 2418347"/>
                <a:gd name="connsiteY10" fmla="*/ 515132 h 729126"/>
                <a:gd name="connsiteX11" fmla="*/ 998621 w 2418347"/>
                <a:gd name="connsiteY11" fmla="*/ 575290 h 729126"/>
                <a:gd name="connsiteX12" fmla="*/ 1239252 w 2418347"/>
                <a:gd name="connsiteY12" fmla="*/ 575290 h 729126"/>
                <a:gd name="connsiteX13" fmla="*/ 1347537 w 2418347"/>
                <a:gd name="connsiteY13" fmla="*/ 575290 h 729126"/>
                <a:gd name="connsiteX14" fmla="*/ 1395663 w 2418347"/>
                <a:gd name="connsiteY14" fmla="*/ 515132 h 729126"/>
                <a:gd name="connsiteX15" fmla="*/ 1479884 w 2418347"/>
                <a:gd name="connsiteY15" fmla="*/ 527163 h 729126"/>
                <a:gd name="connsiteX16" fmla="*/ 1503947 w 2418347"/>
                <a:gd name="connsiteY16" fmla="*/ 587321 h 729126"/>
                <a:gd name="connsiteX17" fmla="*/ 1648326 w 2418347"/>
                <a:gd name="connsiteY17" fmla="*/ 587321 h 729126"/>
                <a:gd name="connsiteX18" fmla="*/ 1672389 w 2418347"/>
                <a:gd name="connsiteY18" fmla="*/ 683574 h 729126"/>
                <a:gd name="connsiteX19" fmla="*/ 1708484 w 2418347"/>
                <a:gd name="connsiteY19" fmla="*/ 21837 h 729126"/>
                <a:gd name="connsiteX20" fmla="*/ 1768642 w 2418347"/>
                <a:gd name="connsiteY20" fmla="*/ 166216 h 729126"/>
                <a:gd name="connsiteX21" fmla="*/ 1973179 w 2418347"/>
                <a:gd name="connsiteY21" fmla="*/ 238405 h 729126"/>
                <a:gd name="connsiteX22" fmla="*/ 2093495 w 2418347"/>
                <a:gd name="connsiteY22" fmla="*/ 575289 h 729126"/>
                <a:gd name="connsiteX23" fmla="*/ 2237874 w 2418347"/>
                <a:gd name="connsiteY23" fmla="*/ 551227 h 729126"/>
                <a:gd name="connsiteX24" fmla="*/ 2418347 w 2418347"/>
                <a:gd name="connsiteY24" fmla="*/ 551226 h 729126"/>
                <a:gd name="connsiteX0" fmla="*/ 0 w 2418347"/>
                <a:gd name="connsiteY0" fmla="*/ 563258 h 729126"/>
                <a:gd name="connsiteX1" fmla="*/ 252663 w 2418347"/>
                <a:gd name="connsiteY1" fmla="*/ 563258 h 729126"/>
                <a:gd name="connsiteX2" fmla="*/ 288758 w 2418347"/>
                <a:gd name="connsiteY2" fmla="*/ 491069 h 729126"/>
                <a:gd name="connsiteX3" fmla="*/ 360947 w 2418347"/>
                <a:gd name="connsiteY3" fmla="*/ 491069 h 729126"/>
                <a:gd name="connsiteX4" fmla="*/ 385010 w 2418347"/>
                <a:gd name="connsiteY4" fmla="*/ 575290 h 729126"/>
                <a:gd name="connsiteX5" fmla="*/ 553452 w 2418347"/>
                <a:gd name="connsiteY5" fmla="*/ 563258 h 729126"/>
                <a:gd name="connsiteX6" fmla="*/ 589547 w 2418347"/>
                <a:gd name="connsiteY6" fmla="*/ 707637 h 729126"/>
                <a:gd name="connsiteX7" fmla="*/ 625642 w 2418347"/>
                <a:gd name="connsiteY7" fmla="*/ 33869 h 729126"/>
                <a:gd name="connsiteX8" fmla="*/ 685800 w 2418347"/>
                <a:gd name="connsiteY8" fmla="*/ 178247 h 729126"/>
                <a:gd name="connsiteX9" fmla="*/ 878305 w 2418347"/>
                <a:gd name="connsiteY9" fmla="*/ 202311 h 729126"/>
                <a:gd name="connsiteX10" fmla="*/ 974558 w 2418347"/>
                <a:gd name="connsiteY10" fmla="*/ 515132 h 729126"/>
                <a:gd name="connsiteX11" fmla="*/ 998621 w 2418347"/>
                <a:gd name="connsiteY11" fmla="*/ 575290 h 729126"/>
                <a:gd name="connsiteX12" fmla="*/ 1239252 w 2418347"/>
                <a:gd name="connsiteY12" fmla="*/ 575290 h 729126"/>
                <a:gd name="connsiteX13" fmla="*/ 1347537 w 2418347"/>
                <a:gd name="connsiteY13" fmla="*/ 575290 h 729126"/>
                <a:gd name="connsiteX14" fmla="*/ 1395663 w 2418347"/>
                <a:gd name="connsiteY14" fmla="*/ 515132 h 729126"/>
                <a:gd name="connsiteX15" fmla="*/ 1479884 w 2418347"/>
                <a:gd name="connsiteY15" fmla="*/ 527163 h 729126"/>
                <a:gd name="connsiteX16" fmla="*/ 1503947 w 2418347"/>
                <a:gd name="connsiteY16" fmla="*/ 587321 h 729126"/>
                <a:gd name="connsiteX17" fmla="*/ 1648326 w 2418347"/>
                <a:gd name="connsiteY17" fmla="*/ 587321 h 729126"/>
                <a:gd name="connsiteX18" fmla="*/ 1672389 w 2418347"/>
                <a:gd name="connsiteY18" fmla="*/ 683574 h 729126"/>
                <a:gd name="connsiteX19" fmla="*/ 1708484 w 2418347"/>
                <a:gd name="connsiteY19" fmla="*/ 21837 h 729126"/>
                <a:gd name="connsiteX20" fmla="*/ 1768642 w 2418347"/>
                <a:gd name="connsiteY20" fmla="*/ 166216 h 729126"/>
                <a:gd name="connsiteX21" fmla="*/ 1973179 w 2418347"/>
                <a:gd name="connsiteY21" fmla="*/ 238405 h 729126"/>
                <a:gd name="connsiteX22" fmla="*/ 2093495 w 2418347"/>
                <a:gd name="connsiteY22" fmla="*/ 575289 h 729126"/>
                <a:gd name="connsiteX23" fmla="*/ 2237874 w 2418347"/>
                <a:gd name="connsiteY23" fmla="*/ 551227 h 729126"/>
                <a:gd name="connsiteX24" fmla="*/ 2418347 w 2418347"/>
                <a:gd name="connsiteY24" fmla="*/ 551226 h 729126"/>
                <a:gd name="connsiteX0" fmla="*/ 0 w 2418347"/>
                <a:gd name="connsiteY0" fmla="*/ 563258 h 729126"/>
                <a:gd name="connsiteX1" fmla="*/ 252663 w 2418347"/>
                <a:gd name="connsiteY1" fmla="*/ 563258 h 729126"/>
                <a:gd name="connsiteX2" fmla="*/ 288758 w 2418347"/>
                <a:gd name="connsiteY2" fmla="*/ 491069 h 729126"/>
                <a:gd name="connsiteX3" fmla="*/ 360947 w 2418347"/>
                <a:gd name="connsiteY3" fmla="*/ 491069 h 729126"/>
                <a:gd name="connsiteX4" fmla="*/ 385010 w 2418347"/>
                <a:gd name="connsiteY4" fmla="*/ 575290 h 729126"/>
                <a:gd name="connsiteX5" fmla="*/ 553452 w 2418347"/>
                <a:gd name="connsiteY5" fmla="*/ 563258 h 729126"/>
                <a:gd name="connsiteX6" fmla="*/ 589547 w 2418347"/>
                <a:gd name="connsiteY6" fmla="*/ 707637 h 729126"/>
                <a:gd name="connsiteX7" fmla="*/ 625642 w 2418347"/>
                <a:gd name="connsiteY7" fmla="*/ 33869 h 729126"/>
                <a:gd name="connsiteX8" fmla="*/ 685800 w 2418347"/>
                <a:gd name="connsiteY8" fmla="*/ 178247 h 729126"/>
                <a:gd name="connsiteX9" fmla="*/ 878305 w 2418347"/>
                <a:gd name="connsiteY9" fmla="*/ 202311 h 729126"/>
                <a:gd name="connsiteX10" fmla="*/ 974558 w 2418347"/>
                <a:gd name="connsiteY10" fmla="*/ 515132 h 729126"/>
                <a:gd name="connsiteX11" fmla="*/ 998621 w 2418347"/>
                <a:gd name="connsiteY11" fmla="*/ 575290 h 729126"/>
                <a:gd name="connsiteX12" fmla="*/ 1239252 w 2418347"/>
                <a:gd name="connsiteY12" fmla="*/ 575290 h 729126"/>
                <a:gd name="connsiteX13" fmla="*/ 1347537 w 2418347"/>
                <a:gd name="connsiteY13" fmla="*/ 575290 h 729126"/>
                <a:gd name="connsiteX14" fmla="*/ 1395663 w 2418347"/>
                <a:gd name="connsiteY14" fmla="*/ 515132 h 729126"/>
                <a:gd name="connsiteX15" fmla="*/ 1479884 w 2418347"/>
                <a:gd name="connsiteY15" fmla="*/ 527163 h 729126"/>
                <a:gd name="connsiteX16" fmla="*/ 1503947 w 2418347"/>
                <a:gd name="connsiteY16" fmla="*/ 587321 h 729126"/>
                <a:gd name="connsiteX17" fmla="*/ 1648326 w 2418347"/>
                <a:gd name="connsiteY17" fmla="*/ 587321 h 729126"/>
                <a:gd name="connsiteX18" fmla="*/ 1672389 w 2418347"/>
                <a:gd name="connsiteY18" fmla="*/ 683574 h 729126"/>
                <a:gd name="connsiteX19" fmla="*/ 1708484 w 2418347"/>
                <a:gd name="connsiteY19" fmla="*/ 21837 h 729126"/>
                <a:gd name="connsiteX20" fmla="*/ 1768642 w 2418347"/>
                <a:gd name="connsiteY20" fmla="*/ 166216 h 729126"/>
                <a:gd name="connsiteX21" fmla="*/ 1973179 w 2418347"/>
                <a:gd name="connsiteY21" fmla="*/ 238405 h 729126"/>
                <a:gd name="connsiteX22" fmla="*/ 2093495 w 2418347"/>
                <a:gd name="connsiteY22" fmla="*/ 575289 h 729126"/>
                <a:gd name="connsiteX23" fmla="*/ 2237874 w 2418347"/>
                <a:gd name="connsiteY23" fmla="*/ 551227 h 729126"/>
                <a:gd name="connsiteX24" fmla="*/ 2418347 w 2418347"/>
                <a:gd name="connsiteY24" fmla="*/ 551226 h 729126"/>
                <a:gd name="connsiteX0" fmla="*/ 0 w 2237874"/>
                <a:gd name="connsiteY0" fmla="*/ 563258 h 729126"/>
                <a:gd name="connsiteX1" fmla="*/ 252663 w 2237874"/>
                <a:gd name="connsiteY1" fmla="*/ 563258 h 729126"/>
                <a:gd name="connsiteX2" fmla="*/ 288758 w 2237874"/>
                <a:gd name="connsiteY2" fmla="*/ 491069 h 729126"/>
                <a:gd name="connsiteX3" fmla="*/ 360947 w 2237874"/>
                <a:gd name="connsiteY3" fmla="*/ 491069 h 729126"/>
                <a:gd name="connsiteX4" fmla="*/ 385010 w 2237874"/>
                <a:gd name="connsiteY4" fmla="*/ 575290 h 729126"/>
                <a:gd name="connsiteX5" fmla="*/ 553452 w 2237874"/>
                <a:gd name="connsiteY5" fmla="*/ 563258 h 729126"/>
                <a:gd name="connsiteX6" fmla="*/ 589547 w 2237874"/>
                <a:gd name="connsiteY6" fmla="*/ 707637 h 729126"/>
                <a:gd name="connsiteX7" fmla="*/ 625642 w 2237874"/>
                <a:gd name="connsiteY7" fmla="*/ 33869 h 729126"/>
                <a:gd name="connsiteX8" fmla="*/ 685800 w 2237874"/>
                <a:gd name="connsiteY8" fmla="*/ 178247 h 729126"/>
                <a:gd name="connsiteX9" fmla="*/ 878305 w 2237874"/>
                <a:gd name="connsiteY9" fmla="*/ 202311 h 729126"/>
                <a:gd name="connsiteX10" fmla="*/ 974558 w 2237874"/>
                <a:gd name="connsiteY10" fmla="*/ 515132 h 729126"/>
                <a:gd name="connsiteX11" fmla="*/ 998621 w 2237874"/>
                <a:gd name="connsiteY11" fmla="*/ 575290 h 729126"/>
                <a:gd name="connsiteX12" fmla="*/ 1239252 w 2237874"/>
                <a:gd name="connsiteY12" fmla="*/ 575290 h 729126"/>
                <a:gd name="connsiteX13" fmla="*/ 1347537 w 2237874"/>
                <a:gd name="connsiteY13" fmla="*/ 575290 h 729126"/>
                <a:gd name="connsiteX14" fmla="*/ 1395663 w 2237874"/>
                <a:gd name="connsiteY14" fmla="*/ 515132 h 729126"/>
                <a:gd name="connsiteX15" fmla="*/ 1479884 w 2237874"/>
                <a:gd name="connsiteY15" fmla="*/ 527163 h 729126"/>
                <a:gd name="connsiteX16" fmla="*/ 1503947 w 2237874"/>
                <a:gd name="connsiteY16" fmla="*/ 587321 h 729126"/>
                <a:gd name="connsiteX17" fmla="*/ 1648326 w 2237874"/>
                <a:gd name="connsiteY17" fmla="*/ 587321 h 729126"/>
                <a:gd name="connsiteX18" fmla="*/ 1672389 w 2237874"/>
                <a:gd name="connsiteY18" fmla="*/ 683574 h 729126"/>
                <a:gd name="connsiteX19" fmla="*/ 1708484 w 2237874"/>
                <a:gd name="connsiteY19" fmla="*/ 21837 h 729126"/>
                <a:gd name="connsiteX20" fmla="*/ 1768642 w 2237874"/>
                <a:gd name="connsiteY20" fmla="*/ 166216 h 729126"/>
                <a:gd name="connsiteX21" fmla="*/ 1973179 w 2237874"/>
                <a:gd name="connsiteY21" fmla="*/ 238405 h 729126"/>
                <a:gd name="connsiteX22" fmla="*/ 2093495 w 2237874"/>
                <a:gd name="connsiteY22" fmla="*/ 575289 h 729126"/>
                <a:gd name="connsiteX23" fmla="*/ 2237874 w 2237874"/>
                <a:gd name="connsiteY23" fmla="*/ 551227 h 729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237874" h="729126">
                  <a:moveTo>
                    <a:pt x="0" y="563258"/>
                  </a:moveTo>
                  <a:cubicBezTo>
                    <a:pt x="102268" y="569273"/>
                    <a:pt x="204537" y="575289"/>
                    <a:pt x="252663" y="563258"/>
                  </a:cubicBezTo>
                  <a:cubicBezTo>
                    <a:pt x="300789" y="551227"/>
                    <a:pt x="270711" y="503100"/>
                    <a:pt x="288758" y="491069"/>
                  </a:cubicBezTo>
                  <a:cubicBezTo>
                    <a:pt x="306805" y="479037"/>
                    <a:pt x="344905" y="477032"/>
                    <a:pt x="360947" y="491069"/>
                  </a:cubicBezTo>
                  <a:cubicBezTo>
                    <a:pt x="376989" y="505106"/>
                    <a:pt x="352926" y="563259"/>
                    <a:pt x="385010" y="575290"/>
                  </a:cubicBezTo>
                  <a:cubicBezTo>
                    <a:pt x="417094" y="587321"/>
                    <a:pt x="519363" y="541200"/>
                    <a:pt x="553452" y="563258"/>
                  </a:cubicBezTo>
                  <a:cubicBezTo>
                    <a:pt x="587542" y="585316"/>
                    <a:pt x="577515" y="795869"/>
                    <a:pt x="589547" y="707637"/>
                  </a:cubicBezTo>
                  <a:cubicBezTo>
                    <a:pt x="601579" y="619406"/>
                    <a:pt x="609600" y="122101"/>
                    <a:pt x="625642" y="33869"/>
                  </a:cubicBezTo>
                  <a:cubicBezTo>
                    <a:pt x="641684" y="-54363"/>
                    <a:pt x="643690" y="150173"/>
                    <a:pt x="685800" y="178247"/>
                  </a:cubicBezTo>
                  <a:cubicBezTo>
                    <a:pt x="727910" y="206321"/>
                    <a:pt x="830179" y="146164"/>
                    <a:pt x="878305" y="202311"/>
                  </a:cubicBezTo>
                  <a:cubicBezTo>
                    <a:pt x="926431" y="258458"/>
                    <a:pt x="954505" y="452969"/>
                    <a:pt x="974558" y="515132"/>
                  </a:cubicBezTo>
                  <a:cubicBezTo>
                    <a:pt x="994611" y="577295"/>
                    <a:pt x="954505" y="565264"/>
                    <a:pt x="998621" y="575290"/>
                  </a:cubicBezTo>
                  <a:cubicBezTo>
                    <a:pt x="1042737" y="585316"/>
                    <a:pt x="1239252" y="575290"/>
                    <a:pt x="1239252" y="575290"/>
                  </a:cubicBezTo>
                  <a:cubicBezTo>
                    <a:pt x="1297405" y="575290"/>
                    <a:pt x="1321469" y="585316"/>
                    <a:pt x="1347537" y="575290"/>
                  </a:cubicBezTo>
                  <a:cubicBezTo>
                    <a:pt x="1373606" y="565264"/>
                    <a:pt x="1373605" y="523153"/>
                    <a:pt x="1395663" y="515132"/>
                  </a:cubicBezTo>
                  <a:cubicBezTo>
                    <a:pt x="1417721" y="507111"/>
                    <a:pt x="1461837" y="515131"/>
                    <a:pt x="1479884" y="527163"/>
                  </a:cubicBezTo>
                  <a:cubicBezTo>
                    <a:pt x="1497931" y="539194"/>
                    <a:pt x="1475873" y="577295"/>
                    <a:pt x="1503947" y="587321"/>
                  </a:cubicBezTo>
                  <a:cubicBezTo>
                    <a:pt x="1532021" y="597347"/>
                    <a:pt x="1620252" y="571279"/>
                    <a:pt x="1648326" y="587321"/>
                  </a:cubicBezTo>
                  <a:cubicBezTo>
                    <a:pt x="1676400" y="603363"/>
                    <a:pt x="1662363" y="777821"/>
                    <a:pt x="1672389" y="683574"/>
                  </a:cubicBezTo>
                  <a:cubicBezTo>
                    <a:pt x="1682415" y="589327"/>
                    <a:pt x="1692442" y="108063"/>
                    <a:pt x="1708484" y="21837"/>
                  </a:cubicBezTo>
                  <a:cubicBezTo>
                    <a:pt x="1724526" y="-64389"/>
                    <a:pt x="1724526" y="130121"/>
                    <a:pt x="1768642" y="166216"/>
                  </a:cubicBezTo>
                  <a:cubicBezTo>
                    <a:pt x="1812758" y="202311"/>
                    <a:pt x="1919037" y="170226"/>
                    <a:pt x="1973179" y="238405"/>
                  </a:cubicBezTo>
                  <a:cubicBezTo>
                    <a:pt x="2027321" y="306584"/>
                    <a:pt x="2049379" y="523152"/>
                    <a:pt x="2093495" y="575289"/>
                  </a:cubicBezTo>
                  <a:cubicBezTo>
                    <a:pt x="2137611" y="627426"/>
                    <a:pt x="2183732" y="555237"/>
                    <a:pt x="2237874" y="551227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12366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35F1F0D-CAFA-BE94-E9AF-4314769110E2}"/>
              </a:ext>
            </a:extLst>
          </p:cNvPr>
          <p:cNvCxnSpPr>
            <a:cxnSpLocks/>
          </p:cNvCxnSpPr>
          <p:nvPr/>
        </p:nvCxnSpPr>
        <p:spPr>
          <a:xfrm>
            <a:off x="4846663" y="3642374"/>
            <a:ext cx="0" cy="1746678"/>
          </a:xfrm>
          <a:prstGeom prst="line">
            <a:avLst/>
          </a:prstGeom>
          <a:ln w="190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FF1D52F-0A8C-600C-8A64-5C945EFCB981}"/>
              </a:ext>
            </a:extLst>
          </p:cNvPr>
          <p:cNvGrpSpPr/>
          <p:nvPr/>
        </p:nvGrpSpPr>
        <p:grpSpPr>
          <a:xfrm>
            <a:off x="1006306" y="3276999"/>
            <a:ext cx="11112379" cy="635401"/>
            <a:chOff x="754383" y="3276999"/>
            <a:chExt cx="11364302" cy="635401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D34DA19-3805-97C7-A7FD-F2883A08592A}"/>
                </a:ext>
              </a:extLst>
            </p:cNvPr>
            <p:cNvSpPr txBox="1"/>
            <p:nvPr/>
          </p:nvSpPr>
          <p:spPr>
            <a:xfrm>
              <a:off x="1464423" y="3543068"/>
              <a:ext cx="3638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01CD4C7-2255-F71B-AF31-F9D6BC9D4A7D}"/>
                </a:ext>
              </a:extLst>
            </p:cNvPr>
            <p:cNvSpPr txBox="1"/>
            <p:nvPr/>
          </p:nvSpPr>
          <p:spPr>
            <a:xfrm>
              <a:off x="8946346" y="3543068"/>
              <a:ext cx="5784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24h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2240571-27FC-DEA8-D482-9111AE82FA26}"/>
                </a:ext>
              </a:extLst>
            </p:cNvPr>
            <p:cNvSpPr txBox="1"/>
            <p:nvPr/>
          </p:nvSpPr>
          <p:spPr>
            <a:xfrm>
              <a:off x="10106761" y="3543068"/>
              <a:ext cx="5784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48h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79D533F-75EF-8D0F-ABB3-EC22A32B3A64}"/>
                </a:ext>
              </a:extLst>
            </p:cNvPr>
            <p:cNvSpPr txBox="1"/>
            <p:nvPr/>
          </p:nvSpPr>
          <p:spPr>
            <a:xfrm>
              <a:off x="5740877" y="3543068"/>
              <a:ext cx="8726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90 min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9D36AAA-A654-F0E0-C518-7D1F411C7768}"/>
                </a:ext>
              </a:extLst>
            </p:cNvPr>
            <p:cNvSpPr txBox="1"/>
            <p:nvPr/>
          </p:nvSpPr>
          <p:spPr>
            <a:xfrm>
              <a:off x="11112723" y="3543068"/>
              <a:ext cx="5784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72h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0A6E4B1-7510-D241-158E-C91ECCB3E2EB}"/>
                </a:ext>
              </a:extLst>
            </p:cNvPr>
            <p:cNvSpPr txBox="1"/>
            <p:nvPr/>
          </p:nvSpPr>
          <p:spPr>
            <a:xfrm>
              <a:off x="6510245" y="3543068"/>
              <a:ext cx="5508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2h</a:t>
              </a: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80443FAA-AEB6-A011-7646-6EB848672B18}"/>
                </a:ext>
              </a:extLst>
            </p:cNvPr>
            <p:cNvGrpSpPr/>
            <p:nvPr/>
          </p:nvGrpSpPr>
          <p:grpSpPr>
            <a:xfrm>
              <a:off x="754383" y="3276999"/>
              <a:ext cx="11364302" cy="403192"/>
              <a:chOff x="754383" y="3276999"/>
              <a:chExt cx="11364302" cy="403192"/>
            </a:xfrm>
          </p:grpSpPr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461D858C-EDAD-8CE3-C0AB-45E4BA2B834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46370" y="3466304"/>
                <a:ext cx="10010652" cy="2284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D51D4E49-3961-BF30-A469-3CAC1B1C8B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46370" y="3347365"/>
                <a:ext cx="0" cy="2286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C1021CB9-6102-F5F2-9533-21C8B89150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74714" y="3347365"/>
                <a:ext cx="0" cy="2286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C4B2155D-6778-1857-F144-B918197B98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72490" y="3347365"/>
                <a:ext cx="0" cy="2286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CEA53224-D5C0-442A-1023-56D30B1957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96010" y="3347365"/>
                <a:ext cx="0" cy="2286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063EB11F-400A-00EB-7896-E48C83A08426}"/>
                  </a:ext>
                </a:extLst>
              </p:cNvPr>
              <p:cNvSpPr txBox="1"/>
              <p:nvPr/>
            </p:nvSpPr>
            <p:spPr>
              <a:xfrm>
                <a:off x="754383" y="3310859"/>
                <a:ext cx="8757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All ACS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85FEAFD-D7A3-2A83-7214-8CDB2646E4C8}"/>
                  </a:ext>
                </a:extLst>
              </p:cNvPr>
              <p:cNvSpPr txBox="1"/>
              <p:nvPr/>
            </p:nvSpPr>
            <p:spPr>
              <a:xfrm>
                <a:off x="11657023" y="3276999"/>
                <a:ext cx="4616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DC</a:t>
                </a:r>
              </a:p>
            </p:txBody>
          </p: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7AA27050-B9C5-164E-6B43-83EEEC1E0B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18564" y="3347365"/>
                <a:ext cx="0" cy="2286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78EA21E1-74B8-462C-0656-1007898774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60017" y="3347365"/>
                <a:ext cx="0" cy="2286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5" name="Oxygen">
            <a:extLst>
              <a:ext uri="{FF2B5EF4-FFF2-40B4-BE49-F238E27FC236}">
                <a16:creationId xmlns:a16="http://schemas.microsoft.com/office/drawing/2014/main" id="{1384FA93-1994-3A07-5860-3D9C86BAEDC4}"/>
              </a:ext>
            </a:extLst>
          </p:cNvPr>
          <p:cNvSpPr/>
          <p:nvPr/>
        </p:nvSpPr>
        <p:spPr>
          <a:xfrm>
            <a:off x="1897153" y="3276614"/>
            <a:ext cx="461662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</a:t>
            </a:r>
          </a:p>
        </p:txBody>
      </p:sp>
      <p:sp>
        <p:nvSpPr>
          <p:cNvPr id="68" name="ASA">
            <a:extLst>
              <a:ext uri="{FF2B5EF4-FFF2-40B4-BE49-F238E27FC236}">
                <a16:creationId xmlns:a16="http://schemas.microsoft.com/office/drawing/2014/main" id="{46990C36-8B7F-904E-E949-237DF2E32C68}"/>
              </a:ext>
            </a:extLst>
          </p:cNvPr>
          <p:cNvSpPr/>
          <p:nvPr/>
        </p:nvSpPr>
        <p:spPr>
          <a:xfrm>
            <a:off x="2594507" y="3276614"/>
            <a:ext cx="461662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9" name="Nitro STEMI">
            <a:extLst>
              <a:ext uri="{FF2B5EF4-FFF2-40B4-BE49-F238E27FC236}">
                <a16:creationId xmlns:a16="http://schemas.microsoft.com/office/drawing/2014/main" id="{BFDB288E-3362-1C3C-6310-80DAB86FB45B}"/>
              </a:ext>
            </a:extLst>
          </p:cNvPr>
          <p:cNvSpPr/>
          <p:nvPr/>
        </p:nvSpPr>
        <p:spPr>
          <a:xfrm>
            <a:off x="4149058" y="3276614"/>
            <a:ext cx="1768751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Pain (N, B, G, M)</a:t>
            </a:r>
          </a:p>
        </p:txBody>
      </p:sp>
      <p:sp>
        <p:nvSpPr>
          <p:cNvPr id="71" name="Heparin NSTEMI">
            <a:extLst>
              <a:ext uri="{FF2B5EF4-FFF2-40B4-BE49-F238E27FC236}">
                <a16:creationId xmlns:a16="http://schemas.microsoft.com/office/drawing/2014/main" id="{1B0DE7CA-42F8-6844-ADE8-D10214980667}"/>
              </a:ext>
            </a:extLst>
          </p:cNvPr>
          <p:cNvSpPr/>
          <p:nvPr/>
        </p:nvSpPr>
        <p:spPr>
          <a:xfrm>
            <a:off x="3321342" y="3276614"/>
            <a:ext cx="654865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H/E</a:t>
            </a: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8DD85FD0-3A9A-2B8F-E04E-E4F4C99F5FEE}"/>
              </a:ext>
            </a:extLst>
          </p:cNvPr>
          <p:cNvCxnSpPr>
            <a:cxnSpLocks/>
            <a:stCxn id="42" idx="0"/>
            <a:endCxn id="119" idx="2"/>
          </p:cNvCxnSpPr>
          <p:nvPr/>
        </p:nvCxnSpPr>
        <p:spPr>
          <a:xfrm rot="16200000" flipV="1">
            <a:off x="2953775" y="2581613"/>
            <a:ext cx="1390001" cy="1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xygen">
            <a:extLst>
              <a:ext uri="{FF2B5EF4-FFF2-40B4-BE49-F238E27FC236}">
                <a16:creationId xmlns:a16="http://schemas.microsoft.com/office/drawing/2014/main" id="{7167E934-3946-4B20-A564-0C79497A6110}"/>
              </a:ext>
            </a:extLst>
          </p:cNvPr>
          <p:cNvSpPr/>
          <p:nvPr/>
        </p:nvSpPr>
        <p:spPr>
          <a:xfrm>
            <a:off x="1897153" y="3276614"/>
            <a:ext cx="461662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</a:t>
            </a:r>
          </a:p>
        </p:txBody>
      </p:sp>
      <p:sp>
        <p:nvSpPr>
          <p:cNvPr id="24" name="ASA">
            <a:extLst>
              <a:ext uri="{FF2B5EF4-FFF2-40B4-BE49-F238E27FC236}">
                <a16:creationId xmlns:a16="http://schemas.microsoft.com/office/drawing/2014/main" id="{AF7905B7-E7AC-4C62-9898-B744F75C9A46}"/>
              </a:ext>
            </a:extLst>
          </p:cNvPr>
          <p:cNvSpPr/>
          <p:nvPr/>
        </p:nvSpPr>
        <p:spPr>
          <a:xfrm>
            <a:off x="2594507" y="3276614"/>
            <a:ext cx="461662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pic>
        <p:nvPicPr>
          <p:cNvPr id="27" name="Graphic 26" descr="Cursor with solid fill">
            <a:extLst>
              <a:ext uri="{FF2B5EF4-FFF2-40B4-BE49-F238E27FC236}">
                <a16:creationId xmlns:a16="http://schemas.microsoft.com/office/drawing/2014/main" id="{CB714404-AF41-4071-9C84-285E610DA1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20517" y="3525368"/>
            <a:ext cx="274320" cy="274320"/>
          </a:xfrm>
          <a:prstGeom prst="rect">
            <a:avLst/>
          </a:prstGeom>
        </p:spPr>
      </p:pic>
      <p:sp>
        <p:nvSpPr>
          <p:cNvPr id="29" name="Pain">
            <a:extLst>
              <a:ext uri="{FF2B5EF4-FFF2-40B4-BE49-F238E27FC236}">
                <a16:creationId xmlns:a16="http://schemas.microsoft.com/office/drawing/2014/main" id="{E5A60D59-26DD-4221-A3C3-15FF52A96859}"/>
              </a:ext>
            </a:extLst>
          </p:cNvPr>
          <p:cNvSpPr/>
          <p:nvPr/>
        </p:nvSpPr>
        <p:spPr>
          <a:xfrm>
            <a:off x="4149058" y="3276614"/>
            <a:ext cx="1768751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Pain (N, B, M, G)</a:t>
            </a:r>
          </a:p>
        </p:txBody>
      </p:sp>
      <p:pic>
        <p:nvPicPr>
          <p:cNvPr id="32" name="Graphic 31" descr="Cursor with solid fill">
            <a:extLst>
              <a:ext uri="{FF2B5EF4-FFF2-40B4-BE49-F238E27FC236}">
                <a16:creationId xmlns:a16="http://schemas.microsoft.com/office/drawing/2014/main" id="{8CC7DD06-C8CB-4887-8BE4-12ED317014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2469" y="3525368"/>
            <a:ext cx="274320" cy="274320"/>
          </a:xfrm>
          <a:prstGeom prst="rect">
            <a:avLst/>
          </a:prstGeom>
        </p:spPr>
      </p:pic>
      <p:sp>
        <p:nvSpPr>
          <p:cNvPr id="42" name="Heparin/Enoxaparin">
            <a:extLst>
              <a:ext uri="{FF2B5EF4-FFF2-40B4-BE49-F238E27FC236}">
                <a16:creationId xmlns:a16="http://schemas.microsoft.com/office/drawing/2014/main" id="{6203660F-2BC2-442C-BB8C-9207561557F2}"/>
              </a:ext>
            </a:extLst>
          </p:cNvPr>
          <p:cNvSpPr/>
          <p:nvPr/>
        </p:nvSpPr>
        <p:spPr>
          <a:xfrm>
            <a:off x="3321342" y="3276614"/>
            <a:ext cx="654865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H/E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09B97F9-2CAF-47F4-8069-60CC71D54736}"/>
              </a:ext>
            </a:extLst>
          </p:cNvPr>
          <p:cNvSpPr/>
          <p:nvPr/>
        </p:nvSpPr>
        <p:spPr>
          <a:xfrm>
            <a:off x="5247375" y="5400506"/>
            <a:ext cx="2733299" cy="918702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/>
              <a:t>Morphine</a:t>
            </a:r>
            <a:endParaRPr lang="en-US" sz="1600" b="1" dirty="0"/>
          </a:p>
          <a:p>
            <a:pPr algn="ctr"/>
            <a:r>
              <a:rPr lang="en-US" sz="1600" dirty="0"/>
              <a:t>2</a:t>
            </a:r>
            <a:r>
              <a:rPr lang="en-US" sz="1600" baseline="30000" dirty="0"/>
              <a:t>nd</a:t>
            </a:r>
            <a:r>
              <a:rPr lang="en-US" sz="1600" dirty="0"/>
              <a:t xml:space="preserve"> line after nitrates</a:t>
            </a:r>
          </a:p>
          <a:p>
            <a:pPr algn="ctr"/>
            <a:r>
              <a:rPr lang="en-US" sz="1600" dirty="0"/>
              <a:t>(can mask refractory angina)</a:t>
            </a:r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FAF20556-FD85-44AE-8785-28B571F1DC1D}"/>
              </a:ext>
            </a:extLst>
          </p:cNvPr>
          <p:cNvGrpSpPr/>
          <p:nvPr/>
        </p:nvGrpSpPr>
        <p:grpSpPr>
          <a:xfrm>
            <a:off x="1491538" y="2345043"/>
            <a:ext cx="1272890" cy="931571"/>
            <a:chOff x="2193743" y="2919357"/>
            <a:chExt cx="1193130" cy="931571"/>
          </a:xfrm>
        </p:grpSpPr>
        <p:cxnSp>
          <p:nvCxnSpPr>
            <p:cNvPr id="81" name="Connector: Elbow 80">
              <a:extLst>
                <a:ext uri="{FF2B5EF4-FFF2-40B4-BE49-F238E27FC236}">
                  <a16:creationId xmlns:a16="http://schemas.microsoft.com/office/drawing/2014/main" id="{8B8253BB-58C1-462F-9C79-03CC9DCC9DF3}"/>
                </a:ext>
              </a:extLst>
            </p:cNvPr>
            <p:cNvCxnSpPr>
              <a:cxnSpLocks/>
              <a:stCxn id="23" idx="0"/>
              <a:endCxn id="83" idx="2"/>
            </p:cNvCxnSpPr>
            <p:nvPr/>
          </p:nvCxnSpPr>
          <p:spPr>
            <a:xfrm rot="16200000" flipV="1">
              <a:off x="2653032" y="3713650"/>
              <a:ext cx="274554" cy="1"/>
            </a:xfrm>
            <a:prstGeom prst="bentConnector3">
              <a:avLst>
                <a:gd name="adj1" fmla="val 50000"/>
              </a:avLst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546C86CD-912E-4E84-ACB7-1058E407AB9F}"/>
                </a:ext>
              </a:extLst>
            </p:cNvPr>
            <p:cNvSpPr/>
            <p:nvPr/>
          </p:nvSpPr>
          <p:spPr>
            <a:xfrm>
              <a:off x="2193743" y="2919357"/>
              <a:ext cx="1193130" cy="657017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b="1" dirty="0"/>
                <a:t>Oxygen</a:t>
              </a:r>
            </a:p>
            <a:p>
              <a:pPr algn="ctr"/>
              <a:r>
                <a:rPr lang="en-US" sz="1600" dirty="0"/>
                <a:t>SpO</a:t>
              </a:r>
              <a:r>
                <a:rPr lang="en-US" sz="1600" baseline="-25000" dirty="0"/>
                <a:t>2</a:t>
              </a:r>
              <a:r>
                <a:rPr lang="en-US" sz="1600" dirty="0"/>
                <a:t xml:space="preserve"> &lt;90%</a:t>
              </a:r>
            </a:p>
            <a:p>
              <a:pPr algn="ctr"/>
              <a:endParaRPr lang="en-US" sz="1600" dirty="0"/>
            </a:p>
          </p:txBody>
        </p:sp>
      </p:grpSp>
      <p:sp>
        <p:nvSpPr>
          <p:cNvPr id="101" name="Rectangle 100">
            <a:extLst>
              <a:ext uri="{FF2B5EF4-FFF2-40B4-BE49-F238E27FC236}">
                <a16:creationId xmlns:a16="http://schemas.microsoft.com/office/drawing/2014/main" id="{A57C716E-BE84-412B-B88F-66A669AABC58}"/>
              </a:ext>
            </a:extLst>
          </p:cNvPr>
          <p:cNvSpPr/>
          <p:nvPr/>
        </p:nvSpPr>
        <p:spPr>
          <a:xfrm>
            <a:off x="1489889" y="4080289"/>
            <a:ext cx="2268113" cy="920119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/>
              <a:t>Aspirin</a:t>
            </a:r>
          </a:p>
          <a:p>
            <a:pPr algn="ctr"/>
            <a:r>
              <a:rPr lang="en-US" sz="1600" dirty="0"/>
              <a:t xml:space="preserve">325 mg chewed (or PR) then 81mg </a:t>
            </a:r>
            <a:r>
              <a:rPr lang="en-US" sz="1600" dirty="0" err="1"/>
              <a:t>qday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8F0A911E-E6E3-44A6-8D65-27FF73FAE29A}"/>
              </a:ext>
            </a:extLst>
          </p:cNvPr>
          <p:cNvSpPr/>
          <p:nvPr/>
        </p:nvSpPr>
        <p:spPr>
          <a:xfrm>
            <a:off x="1954502" y="977431"/>
            <a:ext cx="3388544" cy="909182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/>
              <a:t>Heparin / Enoxaparin</a:t>
            </a:r>
          </a:p>
          <a:p>
            <a:pPr marL="115888" indent="-115888">
              <a:buFont typeface="Arial" panose="020B0604020202020204" pitchFamily="34" charset="0"/>
              <a:buChar char="•"/>
            </a:pPr>
            <a:r>
              <a:rPr lang="en-US" sz="1600" dirty="0"/>
              <a:t>PCI planned → heparin</a:t>
            </a:r>
          </a:p>
          <a:p>
            <a:pPr marL="115888" indent="-115888">
              <a:buFont typeface="Arial" panose="020B0604020202020204" pitchFamily="34" charset="0"/>
              <a:buChar char="•"/>
            </a:pPr>
            <a:r>
              <a:rPr lang="en-US" sz="1600" dirty="0"/>
              <a:t>Medical management → enoxaparin</a:t>
            </a:r>
          </a:p>
        </p:txBody>
      </p:sp>
      <p:pic>
        <p:nvPicPr>
          <p:cNvPr id="28" name="Graphic 27" descr="Cursor with solid fill">
            <a:extLst>
              <a:ext uri="{FF2B5EF4-FFF2-40B4-BE49-F238E27FC236}">
                <a16:creationId xmlns:a16="http://schemas.microsoft.com/office/drawing/2014/main" id="{5C413F6E-0436-456A-AA98-0BF014C790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46698" y="3525368"/>
            <a:ext cx="274320" cy="274320"/>
          </a:xfrm>
          <a:prstGeom prst="rect">
            <a:avLst/>
          </a:prstGeom>
        </p:spPr>
      </p:pic>
      <p:pic>
        <p:nvPicPr>
          <p:cNvPr id="10" name="Graphic 9" descr="Cursor with solid fill">
            <a:extLst>
              <a:ext uri="{FF2B5EF4-FFF2-40B4-BE49-F238E27FC236}">
                <a16:creationId xmlns:a16="http://schemas.microsoft.com/office/drawing/2014/main" id="{06EB738A-9BF4-5036-6E6A-F92F27A142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95241" y="3525368"/>
            <a:ext cx="274320" cy="274320"/>
          </a:xfrm>
          <a:prstGeom prst="rect">
            <a:avLst/>
          </a:prstGeom>
        </p:spPr>
      </p:pic>
      <p:sp>
        <p:nvSpPr>
          <p:cNvPr id="9" name="Rectangle: Rounded Corners 59">
            <a:hlinkClick r:id="rId5" action="ppaction://hlinksldjump"/>
            <a:extLst>
              <a:ext uri="{FF2B5EF4-FFF2-40B4-BE49-F238E27FC236}">
                <a16:creationId xmlns:a16="http://schemas.microsoft.com/office/drawing/2014/main" id="{FA98D9D0-E48A-2CCF-EFEA-C5456E226C30}"/>
              </a:ext>
            </a:extLst>
          </p:cNvPr>
          <p:cNvSpPr/>
          <p:nvPr/>
        </p:nvSpPr>
        <p:spPr>
          <a:xfrm>
            <a:off x="181305" y="177215"/>
            <a:ext cx="1384246" cy="365760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Early Tx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3C92BFD-DF4A-2DAA-DD09-78B30E24EAE2}"/>
              </a:ext>
            </a:extLst>
          </p:cNvPr>
          <p:cNvSpPr txBox="1"/>
          <p:nvPr/>
        </p:nvSpPr>
        <p:spPr>
          <a:xfrm>
            <a:off x="3433246" y="44213"/>
            <a:ext cx="6091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Early ACS Management – NSTEMI and STEMI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C5628F8-98A6-F9E0-69E4-EE4BB3B9ABE1}"/>
              </a:ext>
            </a:extLst>
          </p:cNvPr>
          <p:cNvCxnSpPr>
            <a:cxnSpLocks/>
            <a:stCxn id="24" idx="2"/>
          </p:cNvCxnSpPr>
          <p:nvPr/>
        </p:nvCxnSpPr>
        <p:spPr>
          <a:xfrm>
            <a:off x="2825338" y="3642374"/>
            <a:ext cx="1287" cy="4254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4735881-041C-47BD-5399-45C3FB46FA7E}"/>
              </a:ext>
            </a:extLst>
          </p:cNvPr>
          <p:cNvCxnSpPr>
            <a:cxnSpLocks/>
          </p:cNvCxnSpPr>
          <p:nvPr/>
        </p:nvCxnSpPr>
        <p:spPr>
          <a:xfrm>
            <a:off x="5102912" y="3647393"/>
            <a:ext cx="0" cy="43289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E05D32A-95AF-E54A-9E1F-8A6697EACD01}"/>
              </a:ext>
            </a:extLst>
          </p:cNvPr>
          <p:cNvCxnSpPr>
            <a:cxnSpLocks/>
          </p:cNvCxnSpPr>
          <p:nvPr/>
        </p:nvCxnSpPr>
        <p:spPr>
          <a:xfrm>
            <a:off x="5367288" y="3625199"/>
            <a:ext cx="0" cy="1763853"/>
          </a:xfrm>
          <a:prstGeom prst="line">
            <a:avLst/>
          </a:prstGeom>
          <a:ln w="190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CE5741CD-6BCA-AE1D-1BF0-A8B383A42F0B}"/>
              </a:ext>
            </a:extLst>
          </p:cNvPr>
          <p:cNvCxnSpPr>
            <a:cxnSpLocks/>
          </p:cNvCxnSpPr>
          <p:nvPr/>
        </p:nvCxnSpPr>
        <p:spPr>
          <a:xfrm>
            <a:off x="5677395" y="2890621"/>
            <a:ext cx="0" cy="385993"/>
          </a:xfrm>
          <a:prstGeom prst="line">
            <a:avLst/>
          </a:prstGeom>
          <a:ln w="190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459D8142-3FF7-A110-44AC-41F95B1B4BCB}"/>
              </a:ext>
            </a:extLst>
          </p:cNvPr>
          <p:cNvSpPr/>
          <p:nvPr/>
        </p:nvSpPr>
        <p:spPr>
          <a:xfrm>
            <a:off x="4895823" y="2131629"/>
            <a:ext cx="3857652" cy="909182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600" b="1" dirty="0" err="1"/>
              <a:t>Gp</a:t>
            </a:r>
            <a:r>
              <a:rPr lang="en-US" sz="1600" b="1" dirty="0"/>
              <a:t xml:space="preserve"> IIb/IIIa inhibitor</a:t>
            </a:r>
          </a:p>
          <a:p>
            <a:pPr algn="ctr"/>
            <a:r>
              <a:rPr lang="en-US" sz="1600" b="1" dirty="0"/>
              <a:t>(eptifibatide)</a:t>
            </a:r>
          </a:p>
          <a:p>
            <a:pPr algn="ctr"/>
            <a:r>
              <a:rPr lang="en-US" sz="1600" dirty="0"/>
              <a:t>2</a:t>
            </a:r>
            <a:r>
              <a:rPr lang="en-US" sz="1600" baseline="30000" dirty="0"/>
              <a:t>nd</a:t>
            </a:r>
            <a:r>
              <a:rPr lang="en-US" sz="1600" dirty="0"/>
              <a:t xml:space="preserve"> line for angina, </a:t>
            </a:r>
            <a:r>
              <a:rPr lang="en-US" sz="1600" dirty="0">
                <a:solidFill>
                  <a:srgbClr val="FF0000"/>
                </a:solidFill>
              </a:rPr>
              <a:t>↑ bleeding risk</a:t>
            </a:r>
          </a:p>
        </p:txBody>
      </p:sp>
      <p:sp>
        <p:nvSpPr>
          <p:cNvPr id="77" name="Rectangle: Rounded Corners 60">
            <a:hlinkClick r:id="rId6" action="ppaction://hlinksldjump"/>
            <a:extLst>
              <a:ext uri="{FF2B5EF4-FFF2-40B4-BE49-F238E27FC236}">
                <a16:creationId xmlns:a16="http://schemas.microsoft.com/office/drawing/2014/main" id="{F2EB092F-1A9A-E0FE-EC7A-3B961174D196}"/>
              </a:ext>
            </a:extLst>
          </p:cNvPr>
          <p:cNvSpPr/>
          <p:nvPr/>
        </p:nvSpPr>
        <p:spPr>
          <a:xfrm>
            <a:off x="181305" y="687997"/>
            <a:ext cx="1410779" cy="36576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PCI</a:t>
            </a:r>
          </a:p>
        </p:txBody>
      </p:sp>
      <p:pic>
        <p:nvPicPr>
          <p:cNvPr id="82" name="Graphic 81" descr="Cursor with solid fill">
            <a:extLst>
              <a:ext uri="{FF2B5EF4-FFF2-40B4-BE49-F238E27FC236}">
                <a16:creationId xmlns:a16="http://schemas.microsoft.com/office/drawing/2014/main" id="{8B36C990-35B3-9776-C9A9-DF70BA4AC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41208" y="918426"/>
            <a:ext cx="274320" cy="274320"/>
          </a:xfrm>
          <a:prstGeom prst="rect">
            <a:avLst/>
          </a:prstGeom>
        </p:spPr>
      </p:pic>
      <p:sp>
        <p:nvSpPr>
          <p:cNvPr id="84" name="Rectangle: Rounded Corners 61">
            <a:hlinkClick r:id="rId7" action="ppaction://hlinksldjump"/>
            <a:extLst>
              <a:ext uri="{FF2B5EF4-FFF2-40B4-BE49-F238E27FC236}">
                <a16:creationId xmlns:a16="http://schemas.microsoft.com/office/drawing/2014/main" id="{17D0A223-B5DA-C640-D389-A62037BECAA0}"/>
              </a:ext>
            </a:extLst>
          </p:cNvPr>
          <p:cNvSpPr/>
          <p:nvPr/>
        </p:nvSpPr>
        <p:spPr>
          <a:xfrm>
            <a:off x="181305" y="1198779"/>
            <a:ext cx="1384809" cy="36576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Late Tx</a:t>
            </a:r>
          </a:p>
        </p:txBody>
      </p:sp>
      <p:pic>
        <p:nvPicPr>
          <p:cNvPr id="86" name="Graphic 85" descr="Cursor with solid fill">
            <a:extLst>
              <a:ext uri="{FF2B5EF4-FFF2-40B4-BE49-F238E27FC236}">
                <a16:creationId xmlns:a16="http://schemas.microsoft.com/office/drawing/2014/main" id="{89DC7308-0970-DF99-B785-90FE0263D4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41208" y="1427132"/>
            <a:ext cx="274320" cy="274320"/>
          </a:xfrm>
          <a:prstGeom prst="rect">
            <a:avLst/>
          </a:prstGeom>
        </p:spPr>
      </p:pic>
      <p:sp>
        <p:nvSpPr>
          <p:cNvPr id="87" name="Rectangle: Rounded Corners 61">
            <a:hlinkClick r:id="rId8" action="ppaction://hlinksldjump"/>
            <a:extLst>
              <a:ext uri="{FF2B5EF4-FFF2-40B4-BE49-F238E27FC236}">
                <a16:creationId xmlns:a16="http://schemas.microsoft.com/office/drawing/2014/main" id="{E521AF22-4AF9-BFFC-7FFA-3088337FD94B}"/>
              </a:ext>
            </a:extLst>
          </p:cNvPr>
          <p:cNvSpPr/>
          <p:nvPr/>
        </p:nvSpPr>
        <p:spPr>
          <a:xfrm>
            <a:off x="181305" y="1709561"/>
            <a:ext cx="1384809" cy="36576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Cases</a:t>
            </a:r>
          </a:p>
        </p:txBody>
      </p:sp>
      <p:pic>
        <p:nvPicPr>
          <p:cNvPr id="88" name="Graphic 87" descr="Cursor with solid fill">
            <a:extLst>
              <a:ext uri="{FF2B5EF4-FFF2-40B4-BE49-F238E27FC236}">
                <a16:creationId xmlns:a16="http://schemas.microsoft.com/office/drawing/2014/main" id="{B7B0DC25-23BE-099B-57DD-976202ABE5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41208" y="1967120"/>
            <a:ext cx="274320" cy="274320"/>
          </a:xfrm>
          <a:prstGeom prst="rect">
            <a:avLst/>
          </a:prstGeom>
        </p:spPr>
      </p:pic>
      <p:sp>
        <p:nvSpPr>
          <p:cNvPr id="67" name="Rectangle 66">
            <a:extLst>
              <a:ext uri="{FF2B5EF4-FFF2-40B4-BE49-F238E27FC236}">
                <a16:creationId xmlns:a16="http://schemas.microsoft.com/office/drawing/2014/main" id="{E7B21E73-9252-4E2A-9A92-9C0346FECE51}"/>
              </a:ext>
            </a:extLst>
          </p:cNvPr>
          <p:cNvSpPr/>
          <p:nvPr/>
        </p:nvSpPr>
        <p:spPr>
          <a:xfrm>
            <a:off x="1862673" y="5400506"/>
            <a:ext cx="3099526" cy="1156413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/>
              <a:t>Nitroglycerin</a:t>
            </a:r>
          </a:p>
          <a:p>
            <a:pPr algn="ctr"/>
            <a:r>
              <a:rPr lang="en-US" sz="1600" dirty="0"/>
              <a:t>0.4 mg tabs x 3 q5min or IV drip</a:t>
            </a:r>
          </a:p>
          <a:p>
            <a:pPr algn="ctr"/>
            <a:r>
              <a:rPr lang="en-US" sz="1600" dirty="0">
                <a:solidFill>
                  <a:srgbClr val="FF0000"/>
                </a:solidFill>
              </a:rPr>
              <a:t>Avoid if ↓ BP, PDE5i, R-sided MI, LVOT obstruction, severe AS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036DB5-EA8C-88E3-4FBF-D0AA73550A1B}"/>
              </a:ext>
            </a:extLst>
          </p:cNvPr>
          <p:cNvSpPr/>
          <p:nvPr/>
        </p:nvSpPr>
        <p:spPr>
          <a:xfrm>
            <a:off x="4047047" y="3965612"/>
            <a:ext cx="3496388" cy="1156413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/>
              <a:t xml:space="preserve">Beta-blocker </a:t>
            </a:r>
          </a:p>
          <a:p>
            <a:pPr algn="ctr"/>
            <a:r>
              <a:rPr lang="en-US" sz="1600" dirty="0"/>
              <a:t>PO&gt;IV</a:t>
            </a:r>
          </a:p>
          <a:p>
            <a:pPr algn="ctr"/>
            <a:r>
              <a:rPr lang="en-US" sz="1600" dirty="0"/>
              <a:t>(initiate &lt;24h)</a:t>
            </a:r>
          </a:p>
          <a:p>
            <a:pPr algn="ctr"/>
            <a:r>
              <a:rPr lang="en-US" sz="1600" dirty="0">
                <a:solidFill>
                  <a:srgbClr val="FF0000"/>
                </a:solidFill>
              </a:rPr>
              <a:t>Avoid in ↓ BP, ↓ HR, cardiogenic shock</a:t>
            </a:r>
          </a:p>
        </p:txBody>
      </p:sp>
    </p:spTree>
    <p:extLst>
      <p:ext uri="{BB962C8B-B14F-4D97-AF65-F5344CB8AC3E}">
        <p14:creationId xmlns:p14="http://schemas.microsoft.com/office/powerpoint/2010/main" val="10720458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9" grpId="0" animBg="1"/>
      <p:bldP spid="42" grpId="0" animBg="1"/>
      <p:bldP spid="78" grpId="0" animBg="1"/>
      <p:bldP spid="101" grpId="0" animBg="1"/>
      <p:bldP spid="119" grpId="0" animBg="1"/>
      <p:bldP spid="36" grpId="0" animBg="1"/>
      <p:bldP spid="67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>
            <a:extLst>
              <a:ext uri="{FF2B5EF4-FFF2-40B4-BE49-F238E27FC236}">
                <a16:creationId xmlns:a16="http://schemas.microsoft.com/office/drawing/2014/main" id="{55AE785B-8F6C-4BE0-9FA0-54C810495565}"/>
              </a:ext>
            </a:extLst>
          </p:cNvPr>
          <p:cNvSpPr/>
          <p:nvPr/>
        </p:nvSpPr>
        <p:spPr>
          <a:xfrm>
            <a:off x="-2" y="3461665"/>
            <a:ext cx="12192002" cy="34152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B8A941E-567C-6D83-551E-3B2D7CF558E6}"/>
              </a:ext>
            </a:extLst>
          </p:cNvPr>
          <p:cNvGrpSpPr/>
          <p:nvPr/>
        </p:nvGrpSpPr>
        <p:grpSpPr>
          <a:xfrm>
            <a:off x="1881562" y="4352119"/>
            <a:ext cx="5026527" cy="1097280"/>
            <a:chOff x="1881562" y="4352119"/>
            <a:chExt cx="5026527" cy="1097280"/>
          </a:xfrm>
          <a:solidFill>
            <a:schemeClr val="accent2">
              <a:lumMod val="75000"/>
            </a:schemeClr>
          </a:solidFill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7C1F494D-04AE-482C-BF4A-FAB842F1A845}"/>
                </a:ext>
              </a:extLst>
            </p:cNvPr>
            <p:cNvSpPr txBox="1"/>
            <p:nvPr/>
          </p:nvSpPr>
          <p:spPr>
            <a:xfrm>
              <a:off x="1881562" y="4352119"/>
              <a:ext cx="5026527" cy="109728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Urgent/Immediate PCI (&lt;2 h)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bg1"/>
                  </a:solidFill>
                </a:rPr>
                <a:t>Cardiogenic shock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bg1"/>
                  </a:solidFill>
                </a:rPr>
                <a:t>Refractory Angina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870797D-8854-98BB-7520-2035734D282D}"/>
                </a:ext>
              </a:extLst>
            </p:cNvPr>
            <p:cNvSpPr txBox="1"/>
            <p:nvPr/>
          </p:nvSpPr>
          <p:spPr>
            <a:xfrm>
              <a:off x="4137606" y="4659684"/>
              <a:ext cx="2767056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bg1"/>
                  </a:solidFill>
                </a:rPr>
                <a:t>Hemodynamic Instability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bg1"/>
                  </a:solidFill>
                </a:rPr>
                <a:t>Electrical Instability (VT/VF)</a:t>
              </a:r>
            </a:p>
          </p:txBody>
        </p:sp>
      </p:grpSp>
      <p:sp>
        <p:nvSpPr>
          <p:cNvPr id="41" name="Grace score">
            <a:extLst>
              <a:ext uri="{FF2B5EF4-FFF2-40B4-BE49-F238E27FC236}">
                <a16:creationId xmlns:a16="http://schemas.microsoft.com/office/drawing/2014/main" id="{79A93495-ABD3-D20E-8006-30B24D592E79}"/>
              </a:ext>
            </a:extLst>
          </p:cNvPr>
          <p:cNvSpPr/>
          <p:nvPr/>
        </p:nvSpPr>
        <p:spPr>
          <a:xfrm>
            <a:off x="7517471" y="3859599"/>
            <a:ext cx="1463040" cy="365760"/>
          </a:xfrm>
          <a:prstGeom prst="roundRect">
            <a:avLst/>
          </a:prstGeom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GRACE score</a:t>
            </a:r>
          </a:p>
        </p:txBody>
      </p:sp>
      <p:sp>
        <p:nvSpPr>
          <p:cNvPr id="47" name="TIMI score">
            <a:extLst>
              <a:ext uri="{FF2B5EF4-FFF2-40B4-BE49-F238E27FC236}">
                <a16:creationId xmlns:a16="http://schemas.microsoft.com/office/drawing/2014/main" id="{508FB759-8A64-8936-A1B2-0DC5F69D8F68}"/>
              </a:ext>
            </a:extLst>
          </p:cNvPr>
          <p:cNvSpPr/>
          <p:nvPr/>
        </p:nvSpPr>
        <p:spPr>
          <a:xfrm>
            <a:off x="9510341" y="3859599"/>
            <a:ext cx="1284684" cy="365760"/>
          </a:xfrm>
          <a:prstGeom prst="roundRect">
            <a:avLst/>
          </a:prstGeom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TIMI score</a:t>
            </a:r>
          </a:p>
        </p:txBody>
      </p:sp>
      <p:sp>
        <p:nvSpPr>
          <p:cNvPr id="74" name="Arrow: Right 73">
            <a:extLst>
              <a:ext uri="{FF2B5EF4-FFF2-40B4-BE49-F238E27FC236}">
                <a16:creationId xmlns:a16="http://schemas.microsoft.com/office/drawing/2014/main" id="{822C0E50-9DF1-0464-3B19-65F4999D0D04}"/>
              </a:ext>
            </a:extLst>
          </p:cNvPr>
          <p:cNvSpPr/>
          <p:nvPr/>
        </p:nvSpPr>
        <p:spPr>
          <a:xfrm>
            <a:off x="1881561" y="5520456"/>
            <a:ext cx="10095587" cy="1135285"/>
          </a:xfrm>
          <a:prstGeom prst="rightArrow">
            <a:avLst>
              <a:gd name="adj1" fmla="val 100000"/>
              <a:gd name="adj2" fmla="val 13194"/>
            </a:avLst>
          </a:prstGeom>
          <a:solidFill>
            <a:schemeClr val="bg1"/>
          </a:solidFill>
          <a:ln w="381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Ischemia Guided Strategy – Stress test + medical management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(Very low risk population)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GRACE &lt;109 | TIMI 0-1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C9759493-2B36-4733-8BA3-8DEB436E581D}"/>
              </a:ext>
            </a:extLst>
          </p:cNvPr>
          <p:cNvSpPr>
            <a:spLocks/>
          </p:cNvSpPr>
          <p:nvPr/>
        </p:nvSpPr>
        <p:spPr>
          <a:xfrm>
            <a:off x="-2" y="552500"/>
            <a:ext cx="12192003" cy="2949881"/>
          </a:xfrm>
          <a:prstGeom prst="rect">
            <a:avLst/>
          </a:prstGeom>
          <a:solidFill>
            <a:srgbClr val="FFD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NOn-PCI capable">
            <a:extLst>
              <a:ext uri="{FF2B5EF4-FFF2-40B4-BE49-F238E27FC236}">
                <a16:creationId xmlns:a16="http://schemas.microsoft.com/office/drawing/2014/main" id="{8283D632-3F21-A9CD-613D-FCB2CC3ABB01}"/>
              </a:ext>
            </a:extLst>
          </p:cNvPr>
          <p:cNvSpPr/>
          <p:nvPr/>
        </p:nvSpPr>
        <p:spPr>
          <a:xfrm>
            <a:off x="2111994" y="1821529"/>
            <a:ext cx="1920240" cy="365760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Non-PCI Capable</a:t>
            </a:r>
          </a:p>
        </p:txBody>
      </p:sp>
      <p:sp>
        <p:nvSpPr>
          <p:cNvPr id="110" name="Emergent Revascularization">
            <a:hlinkClick r:id="" action="ppaction://noaction"/>
            <a:extLst>
              <a:ext uri="{FF2B5EF4-FFF2-40B4-BE49-F238E27FC236}">
                <a16:creationId xmlns:a16="http://schemas.microsoft.com/office/drawing/2014/main" id="{511F86C3-768A-05E0-B77E-D27B91AFBAA9}"/>
              </a:ext>
            </a:extLst>
          </p:cNvPr>
          <p:cNvSpPr/>
          <p:nvPr/>
        </p:nvSpPr>
        <p:spPr>
          <a:xfrm>
            <a:off x="1872945" y="616258"/>
            <a:ext cx="3183225" cy="365760"/>
          </a:xfrm>
          <a:prstGeom prst="rect">
            <a:avLst/>
          </a:prstGeom>
          <a:noFill/>
          <a:ln w="38100">
            <a:noFill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Emergent  Revascularization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6E19D8E-3ACB-6AAF-9DFB-5052A119DF57}"/>
              </a:ext>
            </a:extLst>
          </p:cNvPr>
          <p:cNvSpPr>
            <a:spLocks/>
          </p:cNvSpPr>
          <p:nvPr/>
        </p:nvSpPr>
        <p:spPr>
          <a:xfrm>
            <a:off x="1876954" y="1243855"/>
            <a:ext cx="4411112" cy="29315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 xml:space="preserve">PCI capable: </a:t>
            </a:r>
            <a:r>
              <a:rPr lang="en-US" sz="1600" dirty="0"/>
              <a:t>PCI &lt; 90 min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4C99D443-CB38-AB69-DCF5-60F42A3E2791}"/>
              </a:ext>
            </a:extLst>
          </p:cNvPr>
          <p:cNvSpPr/>
          <p:nvPr/>
        </p:nvSpPr>
        <p:spPr>
          <a:xfrm>
            <a:off x="1872945" y="2445571"/>
            <a:ext cx="5026527" cy="32004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PCI hospital &lt;120 min</a:t>
            </a:r>
            <a:r>
              <a:rPr lang="en-US" sz="1600" dirty="0"/>
              <a:t>: Transfer, then PCI &lt;120 min</a:t>
            </a:r>
          </a:p>
        </p:txBody>
      </p:sp>
      <p:sp>
        <p:nvSpPr>
          <p:cNvPr id="79" name="Rectangle: Rounded Corners 165">
            <a:extLst>
              <a:ext uri="{FF2B5EF4-FFF2-40B4-BE49-F238E27FC236}">
                <a16:creationId xmlns:a16="http://schemas.microsoft.com/office/drawing/2014/main" id="{0633AB3F-0A81-03E3-F133-06399F583759}"/>
              </a:ext>
            </a:extLst>
          </p:cNvPr>
          <p:cNvSpPr/>
          <p:nvPr/>
        </p:nvSpPr>
        <p:spPr>
          <a:xfrm>
            <a:off x="2119466" y="1817896"/>
            <a:ext cx="192024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Non-PCI Capable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0C2FF3-BB24-4B46-89EE-AE139E795250}"/>
              </a:ext>
            </a:extLst>
          </p:cNvPr>
          <p:cNvSpPr txBox="1"/>
          <p:nvPr/>
        </p:nvSpPr>
        <p:spPr>
          <a:xfrm>
            <a:off x="271698" y="2644250"/>
            <a:ext cx="12613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STEMI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742223-B364-4AED-B710-3A88EE025C60}"/>
              </a:ext>
            </a:extLst>
          </p:cNvPr>
          <p:cNvSpPr txBox="1"/>
          <p:nvPr/>
        </p:nvSpPr>
        <p:spPr>
          <a:xfrm>
            <a:off x="271698" y="3862974"/>
            <a:ext cx="12511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NSTEMI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1D6568-55BE-4381-94DE-5807B55C56FA}"/>
              </a:ext>
            </a:extLst>
          </p:cNvPr>
          <p:cNvSpPr txBox="1"/>
          <p:nvPr/>
        </p:nvSpPr>
        <p:spPr>
          <a:xfrm>
            <a:off x="3433246" y="44213"/>
            <a:ext cx="6091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Re-vascularization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27E0EBB-00D3-BD37-020D-6CEE3450EFE9}"/>
              </a:ext>
            </a:extLst>
          </p:cNvPr>
          <p:cNvGrpSpPr/>
          <p:nvPr/>
        </p:nvGrpSpPr>
        <p:grpSpPr>
          <a:xfrm>
            <a:off x="1006306" y="3276999"/>
            <a:ext cx="11112379" cy="635401"/>
            <a:chOff x="754383" y="3276999"/>
            <a:chExt cx="11364302" cy="63540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C5A0068-75E8-4607-A1CA-8D7311711876}"/>
                </a:ext>
              </a:extLst>
            </p:cNvPr>
            <p:cNvSpPr txBox="1"/>
            <p:nvPr/>
          </p:nvSpPr>
          <p:spPr>
            <a:xfrm>
              <a:off x="1464423" y="3543068"/>
              <a:ext cx="3638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BD3AF16-4CBE-4C47-B88C-4AD34ECCB158}"/>
                </a:ext>
              </a:extLst>
            </p:cNvPr>
            <p:cNvSpPr txBox="1"/>
            <p:nvPr/>
          </p:nvSpPr>
          <p:spPr>
            <a:xfrm>
              <a:off x="8946346" y="3543068"/>
              <a:ext cx="5784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24h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F180815-3446-42CA-B227-0D47166D123F}"/>
                </a:ext>
              </a:extLst>
            </p:cNvPr>
            <p:cNvSpPr txBox="1"/>
            <p:nvPr/>
          </p:nvSpPr>
          <p:spPr>
            <a:xfrm>
              <a:off x="10106761" y="3543068"/>
              <a:ext cx="5784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48h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EAE9A07-EE5E-4F42-9750-D76CEC967F80}"/>
                </a:ext>
              </a:extLst>
            </p:cNvPr>
            <p:cNvSpPr txBox="1"/>
            <p:nvPr/>
          </p:nvSpPr>
          <p:spPr>
            <a:xfrm>
              <a:off x="5740877" y="3543068"/>
              <a:ext cx="8726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90 min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1D77478-F789-812E-897D-A0ED061E0A6D}"/>
                </a:ext>
              </a:extLst>
            </p:cNvPr>
            <p:cNvSpPr txBox="1"/>
            <p:nvPr/>
          </p:nvSpPr>
          <p:spPr>
            <a:xfrm>
              <a:off x="11112723" y="3543068"/>
              <a:ext cx="5784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72h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0504370-CD83-DA2A-F9E7-9900D9084B51}"/>
                </a:ext>
              </a:extLst>
            </p:cNvPr>
            <p:cNvSpPr txBox="1"/>
            <p:nvPr/>
          </p:nvSpPr>
          <p:spPr>
            <a:xfrm>
              <a:off x="6510245" y="3543068"/>
              <a:ext cx="5508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2h</a:t>
              </a: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C285EF59-4FFC-ECB9-96F2-FD3EB9307535}"/>
                </a:ext>
              </a:extLst>
            </p:cNvPr>
            <p:cNvGrpSpPr/>
            <p:nvPr/>
          </p:nvGrpSpPr>
          <p:grpSpPr>
            <a:xfrm>
              <a:off x="754383" y="3276999"/>
              <a:ext cx="11364302" cy="403192"/>
              <a:chOff x="754383" y="3276999"/>
              <a:chExt cx="11364302" cy="403192"/>
            </a:xfrm>
          </p:grpSpPr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65AB566E-D060-4520-B87E-4EAC08BC54C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46370" y="3466304"/>
                <a:ext cx="10010652" cy="2284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8A1060E9-7895-45A2-BC95-EA5CB888CB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46370" y="3347365"/>
                <a:ext cx="0" cy="2286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B663DFD0-5F63-44E5-A133-2DF8AB8FD1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74714" y="3347365"/>
                <a:ext cx="0" cy="2286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7E4FE940-1E5F-4C83-BB31-20355640BF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72490" y="3347365"/>
                <a:ext cx="0" cy="2286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89EDB28C-ACA5-4E15-BA13-F747C71E4B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96010" y="3347365"/>
                <a:ext cx="0" cy="2286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A585E84-1B9C-481A-8D66-C9516DE7561E}"/>
                  </a:ext>
                </a:extLst>
              </p:cNvPr>
              <p:cNvSpPr txBox="1"/>
              <p:nvPr/>
            </p:nvSpPr>
            <p:spPr>
              <a:xfrm>
                <a:off x="754383" y="3310859"/>
                <a:ext cx="8757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All ACS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A441446-CA08-403D-9E7A-8904EAED28DC}"/>
                  </a:ext>
                </a:extLst>
              </p:cNvPr>
              <p:cNvSpPr txBox="1"/>
              <p:nvPr/>
            </p:nvSpPr>
            <p:spPr>
              <a:xfrm>
                <a:off x="11657023" y="3276999"/>
                <a:ext cx="4616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DC</a:t>
                </a:r>
              </a:p>
            </p:txBody>
          </p: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F716B527-DA42-0E20-0DD1-CA6EC47F4C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18564" y="3347365"/>
                <a:ext cx="0" cy="2286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B10275F2-8DA6-E08B-6BE9-1F6C92E41D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60017" y="3347365"/>
                <a:ext cx="0" cy="2286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3" name="Emergent Revascularization">
            <a:extLst>
              <a:ext uri="{FF2B5EF4-FFF2-40B4-BE49-F238E27FC236}">
                <a16:creationId xmlns:a16="http://schemas.microsoft.com/office/drawing/2014/main" id="{78DF8884-8FB3-1249-A200-91409D85D5A7}"/>
              </a:ext>
            </a:extLst>
          </p:cNvPr>
          <p:cNvSpPr/>
          <p:nvPr/>
        </p:nvSpPr>
        <p:spPr>
          <a:xfrm>
            <a:off x="1872945" y="622773"/>
            <a:ext cx="3183225" cy="36576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Emergent  Revascularization</a:t>
            </a:r>
          </a:p>
        </p:txBody>
      </p:sp>
      <p:sp>
        <p:nvSpPr>
          <p:cNvPr id="36" name="PCI capable">
            <a:extLst>
              <a:ext uri="{FF2B5EF4-FFF2-40B4-BE49-F238E27FC236}">
                <a16:creationId xmlns:a16="http://schemas.microsoft.com/office/drawing/2014/main" id="{D2E813A1-C8B6-EBF4-D4BD-9BB0ACD2F9EC}"/>
              </a:ext>
            </a:extLst>
          </p:cNvPr>
          <p:cNvSpPr/>
          <p:nvPr/>
        </p:nvSpPr>
        <p:spPr>
          <a:xfrm>
            <a:off x="2119466" y="1200215"/>
            <a:ext cx="160659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PCI Capable</a:t>
            </a:r>
          </a:p>
        </p:txBody>
      </p:sp>
      <p:sp>
        <p:nvSpPr>
          <p:cNvPr id="39" name="NOn-PCI capable">
            <a:extLst>
              <a:ext uri="{FF2B5EF4-FFF2-40B4-BE49-F238E27FC236}">
                <a16:creationId xmlns:a16="http://schemas.microsoft.com/office/drawing/2014/main" id="{5635D346-BEC7-7B11-3EFC-1265A466C3C9}"/>
              </a:ext>
            </a:extLst>
          </p:cNvPr>
          <p:cNvSpPr/>
          <p:nvPr/>
        </p:nvSpPr>
        <p:spPr>
          <a:xfrm>
            <a:off x="2119466" y="1817896"/>
            <a:ext cx="192024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Non-PCI Capable</a:t>
            </a:r>
          </a:p>
        </p:txBody>
      </p:sp>
      <p:sp>
        <p:nvSpPr>
          <p:cNvPr id="40" name="Rectangle: Rounded Corners 165">
            <a:extLst>
              <a:ext uri="{FF2B5EF4-FFF2-40B4-BE49-F238E27FC236}">
                <a16:creationId xmlns:a16="http://schemas.microsoft.com/office/drawing/2014/main" id="{114CB3F0-33F0-EC4A-7594-F9E8D7CB9F54}"/>
              </a:ext>
            </a:extLst>
          </p:cNvPr>
          <p:cNvSpPr/>
          <p:nvPr/>
        </p:nvSpPr>
        <p:spPr>
          <a:xfrm>
            <a:off x="4430040" y="1752750"/>
            <a:ext cx="1874265" cy="5018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PCI Capable Hospital &lt;120 min?</a:t>
            </a:r>
          </a:p>
        </p:txBody>
      </p:sp>
      <p:sp>
        <p:nvSpPr>
          <p:cNvPr id="42" name="Yes">
            <a:extLst>
              <a:ext uri="{FF2B5EF4-FFF2-40B4-BE49-F238E27FC236}">
                <a16:creationId xmlns:a16="http://schemas.microsoft.com/office/drawing/2014/main" id="{C77FB162-9D11-0FF6-527A-B793BA184BD9}"/>
              </a:ext>
            </a:extLst>
          </p:cNvPr>
          <p:cNvSpPr/>
          <p:nvPr/>
        </p:nvSpPr>
        <p:spPr>
          <a:xfrm>
            <a:off x="6944273" y="1568864"/>
            <a:ext cx="64008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Yes</a:t>
            </a:r>
          </a:p>
        </p:txBody>
      </p:sp>
      <p:sp>
        <p:nvSpPr>
          <p:cNvPr id="43" name="No">
            <a:extLst>
              <a:ext uri="{FF2B5EF4-FFF2-40B4-BE49-F238E27FC236}">
                <a16:creationId xmlns:a16="http://schemas.microsoft.com/office/drawing/2014/main" id="{5308F55A-6F8B-42DF-D46D-B3622764570A}"/>
              </a:ext>
            </a:extLst>
          </p:cNvPr>
          <p:cNvSpPr/>
          <p:nvPr/>
        </p:nvSpPr>
        <p:spPr>
          <a:xfrm>
            <a:off x="6944273" y="2109050"/>
            <a:ext cx="64008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No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EF72850-1875-4CFC-2F02-06A890A7A7E5}"/>
              </a:ext>
            </a:extLst>
          </p:cNvPr>
          <p:cNvCxnSpPr>
            <a:cxnSpLocks/>
            <a:stCxn id="39" idx="3"/>
            <a:endCxn id="40" idx="1"/>
          </p:cNvCxnSpPr>
          <p:nvPr/>
        </p:nvCxnSpPr>
        <p:spPr>
          <a:xfrm>
            <a:off x="4039706" y="2000776"/>
            <a:ext cx="390334" cy="28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STEMI">
            <a:extLst>
              <a:ext uri="{FF2B5EF4-FFF2-40B4-BE49-F238E27FC236}">
                <a16:creationId xmlns:a16="http://schemas.microsoft.com/office/drawing/2014/main" id="{7060F0AE-A52C-6528-DF15-A58F0FCF55C8}"/>
              </a:ext>
            </a:extLst>
          </p:cNvPr>
          <p:cNvSpPr txBox="1"/>
          <p:nvPr/>
        </p:nvSpPr>
        <p:spPr>
          <a:xfrm>
            <a:off x="271698" y="2619693"/>
            <a:ext cx="1261301" cy="510778"/>
          </a:xfrm>
          <a:prstGeom prst="roundRect">
            <a:avLst/>
          </a:prstGeom>
          <a:ln w="381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2400" dirty="0"/>
              <a:t>STEMI</a:t>
            </a:r>
          </a:p>
        </p:txBody>
      </p:sp>
      <p:sp>
        <p:nvSpPr>
          <p:cNvPr id="50" name="NSTEMI">
            <a:extLst>
              <a:ext uri="{FF2B5EF4-FFF2-40B4-BE49-F238E27FC236}">
                <a16:creationId xmlns:a16="http://schemas.microsoft.com/office/drawing/2014/main" id="{09BB127D-E380-F0CC-75B4-9DF248E6F460}"/>
              </a:ext>
            </a:extLst>
          </p:cNvPr>
          <p:cNvSpPr txBox="1"/>
          <p:nvPr/>
        </p:nvSpPr>
        <p:spPr>
          <a:xfrm>
            <a:off x="271698" y="3838417"/>
            <a:ext cx="1251139" cy="510778"/>
          </a:xfrm>
          <a:prstGeom prst="roundRect">
            <a:avLst/>
          </a:prstGeom>
          <a:ln w="381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2400" dirty="0"/>
              <a:t>NSTEMI</a:t>
            </a:r>
          </a:p>
        </p:txBody>
      </p:sp>
      <p:pic>
        <p:nvPicPr>
          <p:cNvPr id="51" name="Graphic 50" descr="Cursor with solid fill">
            <a:extLst>
              <a:ext uri="{FF2B5EF4-FFF2-40B4-BE49-F238E27FC236}">
                <a16:creationId xmlns:a16="http://schemas.microsoft.com/office/drawing/2014/main" id="{59502083-A23E-2393-1384-56EBF99AE7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71962" y="2982491"/>
            <a:ext cx="301752" cy="301752"/>
          </a:xfrm>
          <a:prstGeom prst="rect">
            <a:avLst/>
          </a:prstGeom>
        </p:spPr>
      </p:pic>
      <p:pic>
        <p:nvPicPr>
          <p:cNvPr id="52" name="Graphic 51" descr="Cursor with solid fill">
            <a:extLst>
              <a:ext uri="{FF2B5EF4-FFF2-40B4-BE49-F238E27FC236}">
                <a16:creationId xmlns:a16="http://schemas.microsoft.com/office/drawing/2014/main" id="{AE35F645-D842-76BC-D881-E19E990C5B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89057" y="4220899"/>
            <a:ext cx="301752" cy="301752"/>
          </a:xfrm>
          <a:prstGeom prst="rect">
            <a:avLst/>
          </a:prstGeom>
        </p:spPr>
      </p:pic>
      <p:pic>
        <p:nvPicPr>
          <p:cNvPr id="35" name="Graphic 34" descr="Cursor with solid fill">
            <a:extLst>
              <a:ext uri="{FF2B5EF4-FFF2-40B4-BE49-F238E27FC236}">
                <a16:creationId xmlns:a16="http://schemas.microsoft.com/office/drawing/2014/main" id="{6D99C702-A9F3-FEF8-FCB6-EE35B1A872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00632" y="2039188"/>
            <a:ext cx="274320" cy="274320"/>
          </a:xfrm>
          <a:prstGeom prst="rect">
            <a:avLst/>
          </a:prstGeom>
        </p:spPr>
      </p:pic>
      <p:pic>
        <p:nvPicPr>
          <p:cNvPr id="62" name="Graphic 61" descr="Cursor with solid fill">
            <a:extLst>
              <a:ext uri="{FF2B5EF4-FFF2-40B4-BE49-F238E27FC236}">
                <a16:creationId xmlns:a16="http://schemas.microsoft.com/office/drawing/2014/main" id="{1F36E872-CA3A-4FC0-91C9-46F99EF5B1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68819" y="1432937"/>
            <a:ext cx="274320" cy="274320"/>
          </a:xfrm>
          <a:prstGeom prst="rect">
            <a:avLst/>
          </a:prstGeom>
        </p:spPr>
      </p:pic>
      <p:pic>
        <p:nvPicPr>
          <p:cNvPr id="75" name="Graphic 74" descr="Cursor with solid fill">
            <a:extLst>
              <a:ext uri="{FF2B5EF4-FFF2-40B4-BE49-F238E27FC236}">
                <a16:creationId xmlns:a16="http://schemas.microsoft.com/office/drawing/2014/main" id="{5A42ADB7-11A7-F04B-6B09-D88B7382E0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41801" y="2320733"/>
            <a:ext cx="274320" cy="274320"/>
          </a:xfrm>
          <a:prstGeom prst="rect">
            <a:avLst/>
          </a:prstGeom>
        </p:spPr>
      </p:pic>
      <p:pic>
        <p:nvPicPr>
          <p:cNvPr id="76" name="Graphic 75" descr="Cursor with solid fill">
            <a:extLst>
              <a:ext uri="{FF2B5EF4-FFF2-40B4-BE49-F238E27FC236}">
                <a16:creationId xmlns:a16="http://schemas.microsoft.com/office/drawing/2014/main" id="{E49B2BC3-4D7C-140A-191C-239A07B0EF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44234" y="1793924"/>
            <a:ext cx="274320" cy="274320"/>
          </a:xfrm>
          <a:prstGeom prst="rect">
            <a:avLst/>
          </a:prstGeom>
        </p:spPr>
      </p:pic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AD1ADE8F-5759-50A3-304E-F505897E7068}"/>
              </a:ext>
            </a:extLst>
          </p:cNvPr>
          <p:cNvCxnSpPr>
            <a:cxnSpLocks/>
            <a:stCxn id="40" idx="3"/>
            <a:endCxn id="42" idx="1"/>
          </p:cNvCxnSpPr>
          <p:nvPr/>
        </p:nvCxnSpPr>
        <p:spPr>
          <a:xfrm flipV="1">
            <a:off x="6304305" y="1751744"/>
            <a:ext cx="639968" cy="251911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3E4DD9E8-D184-D93E-19A1-94CA2FBCBAD6}"/>
              </a:ext>
            </a:extLst>
          </p:cNvPr>
          <p:cNvCxnSpPr>
            <a:cxnSpLocks/>
            <a:stCxn id="40" idx="3"/>
            <a:endCxn id="43" idx="1"/>
          </p:cNvCxnSpPr>
          <p:nvPr/>
        </p:nvCxnSpPr>
        <p:spPr>
          <a:xfrm>
            <a:off x="6304305" y="2003655"/>
            <a:ext cx="639968" cy="288275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9" name="Graphic 108" descr="Cursor with solid fill">
            <a:extLst>
              <a:ext uri="{FF2B5EF4-FFF2-40B4-BE49-F238E27FC236}">
                <a16:creationId xmlns:a16="http://schemas.microsoft.com/office/drawing/2014/main" id="{B34BA3FE-3DDD-A741-6874-81F59BE84C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15568" y="842273"/>
            <a:ext cx="274320" cy="27432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4BFEEB58-527B-B18E-E0F0-A5EAF6F92604}"/>
              </a:ext>
            </a:extLst>
          </p:cNvPr>
          <p:cNvGrpSpPr/>
          <p:nvPr/>
        </p:nvGrpSpPr>
        <p:grpSpPr>
          <a:xfrm>
            <a:off x="1872945" y="2784013"/>
            <a:ext cx="8561252" cy="320040"/>
            <a:chOff x="1872945" y="2771981"/>
            <a:chExt cx="8561252" cy="320040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16BEC5B4-DA43-4CDF-0AD4-96DDB488DF21}"/>
                </a:ext>
              </a:extLst>
            </p:cNvPr>
            <p:cNvSpPr/>
            <p:nvPr/>
          </p:nvSpPr>
          <p:spPr>
            <a:xfrm>
              <a:off x="1872945" y="2771981"/>
              <a:ext cx="4416685" cy="32004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/>
                <a:t>Non-PCI hospital &lt;120 min</a:t>
              </a:r>
              <a:r>
                <a:rPr lang="en-US" sz="1600" dirty="0"/>
                <a:t>: Fibrinolytics &lt;90 min</a:t>
              </a:r>
            </a:p>
          </p:txBody>
        </p:sp>
        <p:sp>
          <p:nvSpPr>
            <p:cNvPr id="57" name="Arrow: Right 56">
              <a:extLst>
                <a:ext uri="{FF2B5EF4-FFF2-40B4-BE49-F238E27FC236}">
                  <a16:creationId xmlns:a16="http://schemas.microsoft.com/office/drawing/2014/main" id="{ADB0804F-6557-1BEA-5F29-50EF7C70EF38}"/>
                </a:ext>
              </a:extLst>
            </p:cNvPr>
            <p:cNvSpPr/>
            <p:nvPr/>
          </p:nvSpPr>
          <p:spPr>
            <a:xfrm>
              <a:off x="6288038" y="2771981"/>
              <a:ext cx="4146159" cy="320040"/>
            </a:xfrm>
            <a:prstGeom prst="rightArrow">
              <a:avLst>
                <a:gd name="adj1" fmla="val 100000"/>
                <a:gd name="adj2" fmla="val 50000"/>
              </a:avLst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Transfer and PCI when able</a:t>
              </a:r>
            </a:p>
          </p:txBody>
        </p:sp>
      </p:grpSp>
      <p:sp>
        <p:nvSpPr>
          <p:cNvPr id="16" name="Oxygen">
            <a:extLst>
              <a:ext uri="{FF2B5EF4-FFF2-40B4-BE49-F238E27FC236}">
                <a16:creationId xmlns:a16="http://schemas.microsoft.com/office/drawing/2014/main" id="{5EF0A5D6-C9D1-F9A0-A556-0F6E944B15E8}"/>
              </a:ext>
            </a:extLst>
          </p:cNvPr>
          <p:cNvSpPr/>
          <p:nvPr/>
        </p:nvSpPr>
        <p:spPr>
          <a:xfrm>
            <a:off x="1897153" y="3273342"/>
            <a:ext cx="461662" cy="36576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</a:t>
            </a:r>
          </a:p>
        </p:txBody>
      </p:sp>
      <p:sp>
        <p:nvSpPr>
          <p:cNvPr id="24" name="ASA">
            <a:extLst>
              <a:ext uri="{FF2B5EF4-FFF2-40B4-BE49-F238E27FC236}">
                <a16:creationId xmlns:a16="http://schemas.microsoft.com/office/drawing/2014/main" id="{430596BB-0A3D-BAE6-1D48-677FD8DFF2F9}"/>
              </a:ext>
            </a:extLst>
          </p:cNvPr>
          <p:cNvSpPr/>
          <p:nvPr/>
        </p:nvSpPr>
        <p:spPr>
          <a:xfrm>
            <a:off x="2594507" y="3273342"/>
            <a:ext cx="461662" cy="36576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5" name="Nitro STEMI">
            <a:extLst>
              <a:ext uri="{FF2B5EF4-FFF2-40B4-BE49-F238E27FC236}">
                <a16:creationId xmlns:a16="http://schemas.microsoft.com/office/drawing/2014/main" id="{0C25EBDA-0DA1-2550-12C8-D0CA1C2C5E37}"/>
              </a:ext>
            </a:extLst>
          </p:cNvPr>
          <p:cNvSpPr/>
          <p:nvPr/>
        </p:nvSpPr>
        <p:spPr>
          <a:xfrm>
            <a:off x="4149058" y="3273342"/>
            <a:ext cx="1768751" cy="36576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Pain (N, B, G, M)</a:t>
            </a:r>
          </a:p>
        </p:txBody>
      </p:sp>
      <p:sp>
        <p:nvSpPr>
          <p:cNvPr id="29" name="Heparin NSTEMI">
            <a:extLst>
              <a:ext uri="{FF2B5EF4-FFF2-40B4-BE49-F238E27FC236}">
                <a16:creationId xmlns:a16="http://schemas.microsoft.com/office/drawing/2014/main" id="{7FCD0D0F-940E-0A44-A565-E5E3BEEAC57D}"/>
              </a:ext>
            </a:extLst>
          </p:cNvPr>
          <p:cNvSpPr/>
          <p:nvPr/>
        </p:nvSpPr>
        <p:spPr>
          <a:xfrm>
            <a:off x="3321342" y="3273342"/>
            <a:ext cx="654865" cy="36576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H/E</a:t>
            </a:r>
          </a:p>
        </p:txBody>
      </p:sp>
      <p:pic>
        <p:nvPicPr>
          <p:cNvPr id="59" name="Graphic 58" descr="Cursor with solid fill">
            <a:extLst>
              <a:ext uri="{FF2B5EF4-FFF2-40B4-BE49-F238E27FC236}">
                <a16:creationId xmlns:a16="http://schemas.microsoft.com/office/drawing/2014/main" id="{1836FB8C-B656-B13A-5DA1-F7751A3760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1855" y="4094272"/>
            <a:ext cx="301752" cy="301752"/>
          </a:xfrm>
          <a:prstGeom prst="rect">
            <a:avLst/>
          </a:prstGeom>
        </p:spPr>
      </p:pic>
      <p:sp>
        <p:nvSpPr>
          <p:cNvPr id="60" name="Immediate">
            <a:extLst>
              <a:ext uri="{FF2B5EF4-FFF2-40B4-BE49-F238E27FC236}">
                <a16:creationId xmlns:a16="http://schemas.microsoft.com/office/drawing/2014/main" id="{D7A4E393-00FB-4E7D-0B9D-64908AF55109}"/>
              </a:ext>
            </a:extLst>
          </p:cNvPr>
          <p:cNvSpPr/>
          <p:nvPr/>
        </p:nvSpPr>
        <p:spPr>
          <a:xfrm>
            <a:off x="2379161" y="4350915"/>
            <a:ext cx="196596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33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Immediate PCI</a:t>
            </a:r>
          </a:p>
        </p:txBody>
      </p:sp>
      <p:sp>
        <p:nvSpPr>
          <p:cNvPr id="61" name="High risk">
            <a:extLst>
              <a:ext uri="{FF2B5EF4-FFF2-40B4-BE49-F238E27FC236}">
                <a16:creationId xmlns:a16="http://schemas.microsoft.com/office/drawing/2014/main" id="{20276375-0B05-E4B1-2AEB-A36B4237F7E4}"/>
              </a:ext>
            </a:extLst>
          </p:cNvPr>
          <p:cNvSpPr/>
          <p:nvPr/>
        </p:nvSpPr>
        <p:spPr>
          <a:xfrm>
            <a:off x="2379161" y="5246603"/>
            <a:ext cx="1965960" cy="409546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C620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High Risk</a:t>
            </a:r>
          </a:p>
        </p:txBody>
      </p:sp>
      <p:pic>
        <p:nvPicPr>
          <p:cNvPr id="64" name="Graphic 63" descr="Cursor with solid fill">
            <a:extLst>
              <a:ext uri="{FF2B5EF4-FFF2-40B4-BE49-F238E27FC236}">
                <a16:creationId xmlns:a16="http://schemas.microsoft.com/office/drawing/2014/main" id="{A70EEFFC-AEC2-B106-6C70-DA3384CA90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11268" y="5527081"/>
            <a:ext cx="301752" cy="301752"/>
          </a:xfrm>
          <a:prstGeom prst="rect">
            <a:avLst/>
          </a:prstGeom>
        </p:spPr>
      </p:pic>
      <p:pic>
        <p:nvPicPr>
          <p:cNvPr id="65" name="Graphic 64" descr="Cursor with solid fill">
            <a:extLst>
              <a:ext uri="{FF2B5EF4-FFF2-40B4-BE49-F238E27FC236}">
                <a16:creationId xmlns:a16="http://schemas.microsoft.com/office/drawing/2014/main" id="{4746DE40-2416-0ABD-1E1C-298342B6D8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11268" y="4580722"/>
            <a:ext cx="301752" cy="301752"/>
          </a:xfrm>
          <a:prstGeom prst="rect">
            <a:avLst/>
          </a:prstGeom>
        </p:spPr>
      </p:pic>
      <p:sp>
        <p:nvSpPr>
          <p:cNvPr id="67" name="Very low">
            <a:extLst>
              <a:ext uri="{FF2B5EF4-FFF2-40B4-BE49-F238E27FC236}">
                <a16:creationId xmlns:a16="http://schemas.microsoft.com/office/drawing/2014/main" id="{8122332A-9244-6C15-835F-3195ABA4B422}"/>
              </a:ext>
            </a:extLst>
          </p:cNvPr>
          <p:cNvSpPr/>
          <p:nvPr/>
        </p:nvSpPr>
        <p:spPr>
          <a:xfrm>
            <a:off x="2379161" y="6306825"/>
            <a:ext cx="196596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Very Low Risk</a:t>
            </a:r>
          </a:p>
        </p:txBody>
      </p:sp>
      <p:pic>
        <p:nvPicPr>
          <p:cNvPr id="69" name="Graphic 68" descr="Cursor with solid fill">
            <a:extLst>
              <a:ext uri="{FF2B5EF4-FFF2-40B4-BE49-F238E27FC236}">
                <a16:creationId xmlns:a16="http://schemas.microsoft.com/office/drawing/2014/main" id="{590A96AA-7E9E-FB02-120F-731B2E3389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11268" y="6547431"/>
            <a:ext cx="301752" cy="301752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3495FE4E-4D5A-8F0A-289A-A73602CF8453}"/>
              </a:ext>
            </a:extLst>
          </p:cNvPr>
          <p:cNvSpPr txBox="1"/>
          <p:nvPr/>
        </p:nvSpPr>
        <p:spPr>
          <a:xfrm>
            <a:off x="6906040" y="4352119"/>
            <a:ext cx="2428291" cy="1097280"/>
          </a:xfrm>
          <a:prstGeom prst="rect">
            <a:avLst/>
          </a:prstGeom>
          <a:solidFill>
            <a:srgbClr val="FC6204"/>
          </a:solidFill>
          <a:effectLst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Early PCI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(High risk)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GRACE &gt;140 | TIMI &gt; 6-7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New ST dep, ↑ trop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0E7AC84-575A-AE7E-4BBB-C6869E79D81E}"/>
              </a:ext>
            </a:extLst>
          </p:cNvPr>
          <p:cNvSpPr txBox="1"/>
          <p:nvPr/>
        </p:nvSpPr>
        <p:spPr>
          <a:xfrm>
            <a:off x="9327486" y="4352119"/>
            <a:ext cx="2096324" cy="1097280"/>
          </a:xfrm>
          <a:prstGeom prst="homePlate">
            <a:avLst>
              <a:gd name="adj" fmla="val 0"/>
            </a:avLst>
          </a:prstGeom>
          <a:solidFill>
            <a:srgbClr val="F4910C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Delayed PCI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(Mod-Low risk)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GRACE 109-140 | TIMI &gt; 3-5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12ED5F-D1D0-7F66-AD16-2646551B1436}"/>
              </a:ext>
            </a:extLst>
          </p:cNvPr>
          <p:cNvSpPr txBox="1"/>
          <p:nvPr/>
        </p:nvSpPr>
        <p:spPr>
          <a:xfrm>
            <a:off x="3711088" y="3856027"/>
            <a:ext cx="5759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 xml:space="preserve">Risk stratify using clinical presentation,                                 or </a:t>
            </a:r>
          </a:p>
        </p:txBody>
      </p:sp>
      <p:sp>
        <p:nvSpPr>
          <p:cNvPr id="23" name="Grace score">
            <a:hlinkClick r:id="rId5"/>
            <a:extLst>
              <a:ext uri="{FF2B5EF4-FFF2-40B4-BE49-F238E27FC236}">
                <a16:creationId xmlns:a16="http://schemas.microsoft.com/office/drawing/2014/main" id="{8C2D7660-62DA-5983-ACC4-29F358897D5C}"/>
              </a:ext>
            </a:extLst>
          </p:cNvPr>
          <p:cNvSpPr/>
          <p:nvPr/>
        </p:nvSpPr>
        <p:spPr>
          <a:xfrm>
            <a:off x="7517471" y="3857813"/>
            <a:ext cx="1463040" cy="36576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GRACE score</a:t>
            </a:r>
          </a:p>
        </p:txBody>
      </p:sp>
      <p:sp>
        <p:nvSpPr>
          <p:cNvPr id="27" name="TIMI score">
            <a:hlinkClick r:id="rId6"/>
            <a:extLst>
              <a:ext uri="{FF2B5EF4-FFF2-40B4-BE49-F238E27FC236}">
                <a16:creationId xmlns:a16="http://schemas.microsoft.com/office/drawing/2014/main" id="{90E17982-4EB9-7C34-CCBC-5A422EDF57C0}"/>
              </a:ext>
            </a:extLst>
          </p:cNvPr>
          <p:cNvSpPr/>
          <p:nvPr/>
        </p:nvSpPr>
        <p:spPr>
          <a:xfrm>
            <a:off x="9510341" y="3857813"/>
            <a:ext cx="1284684" cy="36576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TIMI score</a:t>
            </a:r>
          </a:p>
        </p:txBody>
      </p:sp>
      <p:pic>
        <p:nvPicPr>
          <p:cNvPr id="28" name="Graphic 27" descr="Cursor with solid fill">
            <a:extLst>
              <a:ext uri="{FF2B5EF4-FFF2-40B4-BE49-F238E27FC236}">
                <a16:creationId xmlns:a16="http://schemas.microsoft.com/office/drawing/2014/main" id="{DAD91571-749B-AFB2-CC5B-AC1E9DBCEB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46463" y="4091734"/>
            <a:ext cx="301752" cy="301752"/>
          </a:xfrm>
          <a:prstGeom prst="rect">
            <a:avLst/>
          </a:prstGeom>
        </p:spPr>
      </p:pic>
      <p:pic>
        <p:nvPicPr>
          <p:cNvPr id="30" name="Graphic 29" descr="Cursor with solid fill">
            <a:extLst>
              <a:ext uri="{FF2B5EF4-FFF2-40B4-BE49-F238E27FC236}">
                <a16:creationId xmlns:a16="http://schemas.microsoft.com/office/drawing/2014/main" id="{08656FAF-9C8B-7A3F-C1B5-A145319D6A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44150" y="4089859"/>
            <a:ext cx="301752" cy="301752"/>
          </a:xfrm>
          <a:prstGeom prst="rect">
            <a:avLst/>
          </a:prstGeom>
        </p:spPr>
      </p:pic>
      <p:sp>
        <p:nvSpPr>
          <p:cNvPr id="68" name="Mod- low">
            <a:extLst>
              <a:ext uri="{FF2B5EF4-FFF2-40B4-BE49-F238E27FC236}">
                <a16:creationId xmlns:a16="http://schemas.microsoft.com/office/drawing/2014/main" id="{0DD58D95-95AE-70C8-308C-6D717DE02EFA}"/>
              </a:ext>
            </a:extLst>
          </p:cNvPr>
          <p:cNvSpPr/>
          <p:nvPr/>
        </p:nvSpPr>
        <p:spPr>
          <a:xfrm>
            <a:off x="2379161" y="5798607"/>
            <a:ext cx="196596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4910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Mod-Low Risk</a:t>
            </a:r>
          </a:p>
        </p:txBody>
      </p:sp>
      <p:pic>
        <p:nvPicPr>
          <p:cNvPr id="72" name="Graphic 71" descr="Cursor with solid fill">
            <a:extLst>
              <a:ext uri="{FF2B5EF4-FFF2-40B4-BE49-F238E27FC236}">
                <a16:creationId xmlns:a16="http://schemas.microsoft.com/office/drawing/2014/main" id="{85040F74-33B6-8783-1E56-9441D00534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11268" y="6031113"/>
            <a:ext cx="301752" cy="301752"/>
          </a:xfrm>
          <a:prstGeom prst="rect">
            <a:avLst/>
          </a:prstGeom>
        </p:spPr>
      </p:pic>
      <p:sp>
        <p:nvSpPr>
          <p:cNvPr id="80" name="Rectangle: Rounded Corners 60">
            <a:hlinkClick r:id="rId7" action="ppaction://hlinksldjump"/>
            <a:extLst>
              <a:ext uri="{FF2B5EF4-FFF2-40B4-BE49-F238E27FC236}">
                <a16:creationId xmlns:a16="http://schemas.microsoft.com/office/drawing/2014/main" id="{E81E3AFF-A212-A94D-FE5D-4B05565301D0}"/>
              </a:ext>
            </a:extLst>
          </p:cNvPr>
          <p:cNvSpPr/>
          <p:nvPr/>
        </p:nvSpPr>
        <p:spPr>
          <a:xfrm>
            <a:off x="181305" y="687997"/>
            <a:ext cx="1410779" cy="365760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PCI</a:t>
            </a:r>
          </a:p>
        </p:txBody>
      </p:sp>
      <p:sp>
        <p:nvSpPr>
          <p:cNvPr id="90" name="Rectangle: Rounded Corners 59">
            <a:hlinkClick r:id="rId8" action="ppaction://hlinksldjump"/>
            <a:extLst>
              <a:ext uri="{FF2B5EF4-FFF2-40B4-BE49-F238E27FC236}">
                <a16:creationId xmlns:a16="http://schemas.microsoft.com/office/drawing/2014/main" id="{CF9F4D2D-2FEA-43D0-5D14-5BD0BC7C671E}"/>
              </a:ext>
            </a:extLst>
          </p:cNvPr>
          <p:cNvSpPr/>
          <p:nvPr/>
        </p:nvSpPr>
        <p:spPr>
          <a:xfrm>
            <a:off x="181305" y="177215"/>
            <a:ext cx="1384246" cy="36576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Early Tx</a:t>
            </a:r>
          </a:p>
        </p:txBody>
      </p:sp>
      <p:pic>
        <p:nvPicPr>
          <p:cNvPr id="91" name="Graphic 90" descr="Cursor with solid fill">
            <a:extLst>
              <a:ext uri="{FF2B5EF4-FFF2-40B4-BE49-F238E27FC236}">
                <a16:creationId xmlns:a16="http://schemas.microsoft.com/office/drawing/2014/main" id="{AD6C83D5-3B14-6C2F-ADE3-E7088B85C9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41208" y="423556"/>
            <a:ext cx="274320" cy="274320"/>
          </a:xfrm>
          <a:prstGeom prst="rect">
            <a:avLst/>
          </a:prstGeom>
        </p:spPr>
      </p:pic>
      <p:sp>
        <p:nvSpPr>
          <p:cNvPr id="92" name="Rectangle: Rounded Corners 61">
            <a:hlinkClick r:id="rId9" action="ppaction://hlinksldjump"/>
            <a:extLst>
              <a:ext uri="{FF2B5EF4-FFF2-40B4-BE49-F238E27FC236}">
                <a16:creationId xmlns:a16="http://schemas.microsoft.com/office/drawing/2014/main" id="{9D56F1EF-7F9F-C7F8-3B5C-B317CA9DF364}"/>
              </a:ext>
            </a:extLst>
          </p:cNvPr>
          <p:cNvSpPr/>
          <p:nvPr/>
        </p:nvSpPr>
        <p:spPr>
          <a:xfrm>
            <a:off x="181305" y="1198779"/>
            <a:ext cx="1384809" cy="36576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Late Tx</a:t>
            </a:r>
          </a:p>
        </p:txBody>
      </p:sp>
      <p:sp>
        <p:nvSpPr>
          <p:cNvPr id="94" name="Rectangle: Rounded Corners 61">
            <a:hlinkClick r:id="rId10" action="ppaction://hlinksldjump"/>
            <a:extLst>
              <a:ext uri="{FF2B5EF4-FFF2-40B4-BE49-F238E27FC236}">
                <a16:creationId xmlns:a16="http://schemas.microsoft.com/office/drawing/2014/main" id="{0B32D14A-C468-368C-0646-85C987F5ED16}"/>
              </a:ext>
            </a:extLst>
          </p:cNvPr>
          <p:cNvSpPr/>
          <p:nvPr/>
        </p:nvSpPr>
        <p:spPr>
          <a:xfrm>
            <a:off x="181305" y="1709561"/>
            <a:ext cx="1384809" cy="36576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Cases</a:t>
            </a:r>
          </a:p>
        </p:txBody>
      </p:sp>
      <p:sp>
        <p:nvSpPr>
          <p:cNvPr id="58" name="Early Revasc">
            <a:extLst>
              <a:ext uri="{FF2B5EF4-FFF2-40B4-BE49-F238E27FC236}">
                <a16:creationId xmlns:a16="http://schemas.microsoft.com/office/drawing/2014/main" id="{5EC84FD6-F8CB-7D6A-7B3C-2036204B975F}"/>
              </a:ext>
            </a:extLst>
          </p:cNvPr>
          <p:cNvSpPr/>
          <p:nvPr/>
        </p:nvSpPr>
        <p:spPr>
          <a:xfrm>
            <a:off x="1906027" y="3859599"/>
            <a:ext cx="2936704" cy="36576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Risk stratification?</a:t>
            </a:r>
          </a:p>
        </p:txBody>
      </p:sp>
      <p:pic>
        <p:nvPicPr>
          <p:cNvPr id="10" name="Graphic 9" descr="Cursor with solid fill">
            <a:extLst>
              <a:ext uri="{FF2B5EF4-FFF2-40B4-BE49-F238E27FC236}">
                <a16:creationId xmlns:a16="http://schemas.microsoft.com/office/drawing/2014/main" id="{943F1808-E662-CC13-DFA2-9593F7A211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41208" y="1427132"/>
            <a:ext cx="274320" cy="274320"/>
          </a:xfrm>
          <a:prstGeom prst="rect">
            <a:avLst/>
          </a:prstGeom>
        </p:spPr>
      </p:pic>
      <p:pic>
        <p:nvPicPr>
          <p:cNvPr id="12" name="Graphic 11" descr="Cursor with solid fill">
            <a:extLst>
              <a:ext uri="{FF2B5EF4-FFF2-40B4-BE49-F238E27FC236}">
                <a16:creationId xmlns:a16="http://schemas.microsoft.com/office/drawing/2014/main" id="{41D99AD7-91C4-32A5-6662-E8D85B9DBE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41208" y="1967120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954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167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8" fill="hold">
                      <p:stCondLst>
                        <p:cond delay="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185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6" fill="hold">
                      <p:stCondLst>
                        <p:cond delay="0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03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4" fill="hold">
                      <p:stCondLst>
                        <p:cond delay="0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210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" fill="hold">
                      <p:stCondLst>
                        <p:cond delay="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217" restart="whenNotActive" fill="hold" evtFilter="cancelBubble" nodeType="interactiveSeq">
                <p:stCondLst>
                  <p:cond evt="onClick" delay="0">
                    <p:tgtEl>
                      <p:spTgt spid="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8" fill="hold">
                      <p:stCondLst>
                        <p:cond delay="0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8"/>
                  </p:tgtEl>
                </p:cond>
              </p:nextCondLst>
            </p:seq>
          </p:childTnLst>
        </p:cTn>
      </p:par>
    </p:tnLst>
    <p:bldLst>
      <p:bldP spid="77" grpId="0" animBg="1"/>
      <p:bldP spid="41" grpId="0" animBg="1"/>
      <p:bldP spid="41" grpId="1" animBg="1"/>
      <p:bldP spid="41" grpId="2" animBg="1"/>
      <p:bldP spid="47" grpId="0" animBg="1"/>
      <p:bldP spid="47" grpId="1" animBg="1"/>
      <p:bldP spid="47" grpId="2" animBg="1"/>
      <p:bldP spid="74" grpId="0" animBg="1"/>
      <p:bldP spid="86" grpId="0" animBg="1"/>
      <p:bldP spid="111" grpId="0" animBg="1"/>
      <p:bldP spid="111" grpId="1" animBg="1"/>
      <p:bldP spid="110" grpId="0"/>
      <p:bldP spid="63" grpId="0" animBg="1"/>
      <p:bldP spid="82" grpId="0" animBg="1"/>
      <p:bldP spid="79" grpId="0" animBg="1"/>
      <p:bldP spid="33" grpId="0" animBg="1"/>
      <p:bldP spid="33" grpId="1" animBg="1"/>
      <p:bldP spid="36" grpId="0" animBg="1"/>
      <p:bldP spid="36" grpId="1" animBg="1"/>
      <p:bldP spid="39" grpId="0" animBg="1"/>
      <p:bldP spid="39" grpId="1" animBg="1"/>
      <p:bldP spid="40" grpId="0" animBg="1"/>
      <p:bldP spid="40" grpId="1" animBg="1"/>
      <p:bldP spid="42" grpId="0" animBg="1"/>
      <p:bldP spid="42" grpId="1" animBg="1"/>
      <p:bldP spid="42" grpId="2" animBg="1"/>
      <p:bldP spid="43" grpId="0" animBg="1"/>
      <p:bldP spid="43" grpId="1" animBg="1"/>
      <p:bldP spid="43" grpId="2" animBg="1"/>
      <p:bldP spid="49" grpId="0" animBg="1"/>
      <p:bldP spid="50" grpId="0" animBg="1"/>
      <p:bldP spid="60" grpId="0" animBg="1"/>
      <p:bldP spid="60" grpId="1" animBg="1"/>
      <p:bldP spid="61" grpId="0" animBg="1"/>
      <p:bldP spid="61" grpId="1" animBg="1"/>
      <p:bldP spid="67" grpId="0" animBg="1"/>
      <p:bldP spid="67" grpId="1" animBg="1"/>
      <p:bldP spid="71" grpId="0" animBg="1"/>
      <p:bldP spid="73" grpId="0" animBg="1"/>
      <p:bldP spid="14" grpId="0"/>
      <p:bldP spid="23" grpId="0" animBg="1"/>
      <p:bldP spid="23" grpId="2" animBg="1"/>
      <p:bldP spid="27" grpId="0" animBg="1"/>
      <p:bldP spid="27" grpId="2" animBg="1"/>
      <p:bldP spid="68" grpId="0" animBg="1"/>
      <p:bldP spid="68" grpId="1" animBg="1"/>
      <p:bldP spid="58" grpId="0" animBg="1"/>
      <p:bldP spid="58" grpId="2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01356AF-C90D-6FF2-53B6-2F6A46304C8E}"/>
              </a:ext>
            </a:extLst>
          </p:cNvPr>
          <p:cNvGrpSpPr/>
          <p:nvPr/>
        </p:nvGrpSpPr>
        <p:grpSpPr>
          <a:xfrm>
            <a:off x="1006306" y="3276999"/>
            <a:ext cx="11112379" cy="573846"/>
            <a:chOff x="754383" y="3276999"/>
            <a:chExt cx="11364302" cy="573846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9B9F1F5-66FD-3FB9-50B9-2AED6FE012C2}"/>
                </a:ext>
              </a:extLst>
            </p:cNvPr>
            <p:cNvSpPr txBox="1"/>
            <p:nvPr/>
          </p:nvSpPr>
          <p:spPr>
            <a:xfrm>
              <a:off x="1464423" y="3543068"/>
              <a:ext cx="3638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0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83403D2-0835-5256-9F43-3557206EEA40}"/>
                </a:ext>
              </a:extLst>
            </p:cNvPr>
            <p:cNvSpPr txBox="1"/>
            <p:nvPr/>
          </p:nvSpPr>
          <p:spPr>
            <a:xfrm>
              <a:off x="8946346" y="3543068"/>
              <a:ext cx="5784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24h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6CB1CF1-4CB3-8D60-7465-2751566B6EF3}"/>
                </a:ext>
              </a:extLst>
            </p:cNvPr>
            <p:cNvSpPr txBox="1"/>
            <p:nvPr/>
          </p:nvSpPr>
          <p:spPr>
            <a:xfrm>
              <a:off x="10106761" y="3543068"/>
              <a:ext cx="5784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48h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1A3065D-82CD-244B-96A9-39D35B9AEC36}"/>
                </a:ext>
              </a:extLst>
            </p:cNvPr>
            <p:cNvSpPr txBox="1"/>
            <p:nvPr/>
          </p:nvSpPr>
          <p:spPr>
            <a:xfrm>
              <a:off x="5740877" y="3543068"/>
              <a:ext cx="8726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90 min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506D72A-300C-C6BC-C5ED-4B6F0BC20D36}"/>
                </a:ext>
              </a:extLst>
            </p:cNvPr>
            <p:cNvSpPr txBox="1"/>
            <p:nvPr/>
          </p:nvSpPr>
          <p:spPr>
            <a:xfrm>
              <a:off x="11112723" y="3543068"/>
              <a:ext cx="5784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72h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956A488-5B67-FB48-6AA3-C5AA1A80996B}"/>
                </a:ext>
              </a:extLst>
            </p:cNvPr>
            <p:cNvSpPr txBox="1"/>
            <p:nvPr/>
          </p:nvSpPr>
          <p:spPr>
            <a:xfrm>
              <a:off x="6510245" y="3543068"/>
              <a:ext cx="5508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2h</a:t>
              </a: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56FE7296-EF7A-E63D-F1BE-EFBC9666560F}"/>
                </a:ext>
              </a:extLst>
            </p:cNvPr>
            <p:cNvGrpSpPr/>
            <p:nvPr/>
          </p:nvGrpSpPr>
          <p:grpSpPr>
            <a:xfrm>
              <a:off x="754383" y="3276999"/>
              <a:ext cx="11364302" cy="403192"/>
              <a:chOff x="754383" y="3276999"/>
              <a:chExt cx="11364302" cy="403192"/>
            </a:xfrm>
          </p:grpSpPr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CC448B4-DE11-59EA-F514-5CD6440A14C8}"/>
                  </a:ext>
                </a:extLst>
              </p:cNvPr>
              <p:cNvSpPr txBox="1"/>
              <p:nvPr/>
            </p:nvSpPr>
            <p:spPr>
              <a:xfrm>
                <a:off x="11657023" y="3276999"/>
                <a:ext cx="4616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DC</a:t>
                </a:r>
              </a:p>
            </p:txBody>
          </p: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68EAA691-B768-41F7-51EC-720085942D5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46370" y="3466304"/>
                <a:ext cx="10010652" cy="2284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F421F1C3-E883-F53B-E026-9B949DFD66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46370" y="3347365"/>
                <a:ext cx="0" cy="2286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748E1087-E633-2CC0-9AAD-3523E60FDE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74714" y="3347365"/>
                <a:ext cx="0" cy="2286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615ADAED-FFA0-C36D-BB88-7D29AA173E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72490" y="3347365"/>
                <a:ext cx="0" cy="2286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2534E4DF-5886-C411-167A-AF599CD001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96010" y="3347365"/>
                <a:ext cx="0" cy="2286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BCB5852-C040-C9C0-06F3-7EB2CF93F253}"/>
                  </a:ext>
                </a:extLst>
              </p:cNvPr>
              <p:cNvSpPr txBox="1"/>
              <p:nvPr/>
            </p:nvSpPr>
            <p:spPr>
              <a:xfrm>
                <a:off x="754383" y="3310859"/>
                <a:ext cx="8757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All ACS</a:t>
                </a:r>
              </a:p>
            </p:txBody>
          </p: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152EC148-8FE9-86CD-3E42-C13DCC65B8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18564" y="3347365"/>
                <a:ext cx="0" cy="2286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824ABF9D-2E78-4975-B45E-ED17C62C3C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60017" y="3347365"/>
                <a:ext cx="0" cy="2286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3" name="Statin">
            <a:extLst>
              <a:ext uri="{FF2B5EF4-FFF2-40B4-BE49-F238E27FC236}">
                <a16:creationId xmlns:a16="http://schemas.microsoft.com/office/drawing/2014/main" id="{A0FC602B-3182-C3A4-831B-0CE5AA0426F1}"/>
              </a:ext>
            </a:extLst>
          </p:cNvPr>
          <p:cNvSpPr/>
          <p:nvPr/>
        </p:nvSpPr>
        <p:spPr>
          <a:xfrm>
            <a:off x="6457903" y="3271124"/>
            <a:ext cx="461662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C90B1104-98AC-4483-A904-173261689828}"/>
              </a:ext>
            </a:extLst>
          </p:cNvPr>
          <p:cNvSpPr/>
          <p:nvPr/>
        </p:nvSpPr>
        <p:spPr>
          <a:xfrm>
            <a:off x="10495721" y="3271124"/>
            <a:ext cx="461662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88" name="Rectangle: Rounded Corners 49">
            <a:extLst>
              <a:ext uri="{FF2B5EF4-FFF2-40B4-BE49-F238E27FC236}">
                <a16:creationId xmlns:a16="http://schemas.microsoft.com/office/drawing/2014/main" id="{12B7BDE8-79CB-CFDC-D848-FE703DF1AFE3}"/>
              </a:ext>
            </a:extLst>
          </p:cNvPr>
          <p:cNvSpPr/>
          <p:nvPr/>
        </p:nvSpPr>
        <p:spPr>
          <a:xfrm>
            <a:off x="11245216" y="3271124"/>
            <a:ext cx="461662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</a:t>
            </a:r>
          </a:p>
        </p:txBody>
      </p:sp>
      <p:sp>
        <p:nvSpPr>
          <p:cNvPr id="58" name="Oxygen">
            <a:extLst>
              <a:ext uri="{FF2B5EF4-FFF2-40B4-BE49-F238E27FC236}">
                <a16:creationId xmlns:a16="http://schemas.microsoft.com/office/drawing/2014/main" id="{F034CCA3-6570-BB5D-27E3-4267B6533B2A}"/>
              </a:ext>
            </a:extLst>
          </p:cNvPr>
          <p:cNvSpPr/>
          <p:nvPr/>
        </p:nvSpPr>
        <p:spPr>
          <a:xfrm>
            <a:off x="1897153" y="3271124"/>
            <a:ext cx="461662" cy="36576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</a:t>
            </a:r>
          </a:p>
        </p:txBody>
      </p:sp>
      <p:sp>
        <p:nvSpPr>
          <p:cNvPr id="62" name="ASA">
            <a:extLst>
              <a:ext uri="{FF2B5EF4-FFF2-40B4-BE49-F238E27FC236}">
                <a16:creationId xmlns:a16="http://schemas.microsoft.com/office/drawing/2014/main" id="{868963B8-A060-1612-C98A-F311BA390667}"/>
              </a:ext>
            </a:extLst>
          </p:cNvPr>
          <p:cNvSpPr/>
          <p:nvPr/>
        </p:nvSpPr>
        <p:spPr>
          <a:xfrm>
            <a:off x="2594507" y="3271124"/>
            <a:ext cx="461662" cy="36576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4" name="Nitro STEMI">
            <a:extLst>
              <a:ext uri="{FF2B5EF4-FFF2-40B4-BE49-F238E27FC236}">
                <a16:creationId xmlns:a16="http://schemas.microsoft.com/office/drawing/2014/main" id="{2E044086-7068-A18F-BE68-5E61458C55C2}"/>
              </a:ext>
            </a:extLst>
          </p:cNvPr>
          <p:cNvSpPr/>
          <p:nvPr/>
        </p:nvSpPr>
        <p:spPr>
          <a:xfrm>
            <a:off x="4149058" y="3271124"/>
            <a:ext cx="1768751" cy="36576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Pain (N, B, G, M)</a:t>
            </a:r>
          </a:p>
        </p:txBody>
      </p:sp>
      <p:sp>
        <p:nvSpPr>
          <p:cNvPr id="66" name="Heparin NSTEMI">
            <a:extLst>
              <a:ext uri="{FF2B5EF4-FFF2-40B4-BE49-F238E27FC236}">
                <a16:creationId xmlns:a16="http://schemas.microsoft.com/office/drawing/2014/main" id="{A8F35290-3B3B-F937-2C5E-8BF524576547}"/>
              </a:ext>
            </a:extLst>
          </p:cNvPr>
          <p:cNvSpPr/>
          <p:nvPr/>
        </p:nvSpPr>
        <p:spPr>
          <a:xfrm>
            <a:off x="3321342" y="3271124"/>
            <a:ext cx="654865" cy="36576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H/E</a:t>
            </a:r>
          </a:p>
        </p:txBody>
      </p:sp>
      <p:sp>
        <p:nvSpPr>
          <p:cNvPr id="44" name="Statin">
            <a:extLst>
              <a:ext uri="{FF2B5EF4-FFF2-40B4-BE49-F238E27FC236}">
                <a16:creationId xmlns:a16="http://schemas.microsoft.com/office/drawing/2014/main" id="{B078D09F-0275-4792-985A-3CA538611C82}"/>
              </a:ext>
            </a:extLst>
          </p:cNvPr>
          <p:cNvSpPr/>
          <p:nvPr/>
        </p:nvSpPr>
        <p:spPr>
          <a:xfrm>
            <a:off x="6457903" y="3271124"/>
            <a:ext cx="461662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</a:t>
            </a:r>
          </a:p>
        </p:txBody>
      </p:sp>
      <p:pic>
        <p:nvPicPr>
          <p:cNvPr id="45" name="Graphic 44" descr="Cursor with solid fill">
            <a:extLst>
              <a:ext uri="{FF2B5EF4-FFF2-40B4-BE49-F238E27FC236}">
                <a16:creationId xmlns:a16="http://schemas.microsoft.com/office/drawing/2014/main" id="{870DE23C-03D3-4851-A2FF-FE85ABC2FE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61172" y="3498277"/>
            <a:ext cx="301752" cy="301752"/>
          </a:xfrm>
          <a:prstGeom prst="rect">
            <a:avLst/>
          </a:prstGeom>
        </p:spPr>
      </p:pic>
      <p:sp>
        <p:nvSpPr>
          <p:cNvPr id="50" name="ACE/ARB">
            <a:extLst>
              <a:ext uri="{FF2B5EF4-FFF2-40B4-BE49-F238E27FC236}">
                <a16:creationId xmlns:a16="http://schemas.microsoft.com/office/drawing/2014/main" id="{50E76A23-863D-4537-BC2D-BD5BC635FAE7}"/>
              </a:ext>
            </a:extLst>
          </p:cNvPr>
          <p:cNvSpPr/>
          <p:nvPr/>
        </p:nvSpPr>
        <p:spPr>
          <a:xfrm>
            <a:off x="10495721" y="3271124"/>
            <a:ext cx="461662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pic>
        <p:nvPicPr>
          <p:cNvPr id="51" name="Graphic 50" descr="Cursor with solid fill">
            <a:extLst>
              <a:ext uri="{FF2B5EF4-FFF2-40B4-BE49-F238E27FC236}">
                <a16:creationId xmlns:a16="http://schemas.microsoft.com/office/drawing/2014/main" id="{702F418B-A97A-41B1-AF73-1A3BEA60B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28769" y="3498277"/>
            <a:ext cx="301752" cy="301752"/>
          </a:xfrm>
          <a:prstGeom prst="rect">
            <a:avLst/>
          </a:prstGeom>
        </p:spPr>
      </p:pic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65572A21-7D50-462A-8283-178DE8604767}"/>
              </a:ext>
            </a:extLst>
          </p:cNvPr>
          <p:cNvCxnSpPr>
            <a:cxnSpLocks/>
            <a:stCxn id="52" idx="0"/>
          </p:cNvCxnSpPr>
          <p:nvPr/>
        </p:nvCxnSpPr>
        <p:spPr>
          <a:xfrm flipV="1">
            <a:off x="7843484" y="1508639"/>
            <a:ext cx="0" cy="176248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EB566261-5C6E-4988-B619-DAF32223A4E1}"/>
              </a:ext>
            </a:extLst>
          </p:cNvPr>
          <p:cNvGrpSpPr/>
          <p:nvPr/>
        </p:nvGrpSpPr>
        <p:grpSpPr>
          <a:xfrm>
            <a:off x="1851225" y="1642024"/>
            <a:ext cx="7475082" cy="1629099"/>
            <a:chOff x="-1090574" y="5675749"/>
            <a:chExt cx="8595340" cy="1349391"/>
          </a:xfrm>
        </p:grpSpPr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AA5A4432-6241-4876-93B9-E293C00B204C}"/>
                </a:ext>
              </a:extLst>
            </p:cNvPr>
            <p:cNvSpPr/>
            <p:nvPr/>
          </p:nvSpPr>
          <p:spPr>
            <a:xfrm>
              <a:off x="-1090574" y="5675749"/>
              <a:ext cx="8595340" cy="779622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b="1" dirty="0"/>
                <a:t xml:space="preserve">Statin </a:t>
              </a:r>
            </a:p>
            <a:p>
              <a:pPr algn="ctr"/>
              <a:r>
                <a:rPr lang="en-US" sz="1600" dirty="0"/>
                <a:t>(initiate &lt;24h)</a:t>
              </a:r>
            </a:p>
            <a:p>
              <a:pPr algn="ctr"/>
              <a:r>
                <a:rPr lang="en-US" sz="1600" dirty="0"/>
                <a:t xml:space="preserve">High dose, high intensity (atorvastatin, rosuvastatin) </a:t>
              </a:r>
            </a:p>
          </p:txBody>
        </p: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2F140BEA-ED73-45FC-B7E1-F4055E64853A}"/>
                </a:ext>
              </a:extLst>
            </p:cNvPr>
            <p:cNvCxnSpPr>
              <a:cxnSpLocks/>
              <a:endCxn id="44" idx="0"/>
            </p:cNvCxnSpPr>
            <p:nvPr/>
          </p:nvCxnSpPr>
          <p:spPr>
            <a:xfrm>
              <a:off x="4471911" y="6452194"/>
              <a:ext cx="0" cy="572946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8" name="Rectangle 187">
            <a:extLst>
              <a:ext uri="{FF2B5EF4-FFF2-40B4-BE49-F238E27FC236}">
                <a16:creationId xmlns:a16="http://schemas.microsoft.com/office/drawing/2014/main" id="{E37910FD-29DD-4F4E-8379-1EE236A53113}"/>
              </a:ext>
            </a:extLst>
          </p:cNvPr>
          <p:cNvSpPr/>
          <p:nvPr/>
        </p:nvSpPr>
        <p:spPr>
          <a:xfrm>
            <a:off x="4751323" y="618340"/>
            <a:ext cx="4548183" cy="890299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/>
              <a:t>P</a:t>
            </a:r>
            <a:r>
              <a:rPr lang="en-US" b="1" baseline="-25000" dirty="0"/>
              <a:t>2</a:t>
            </a:r>
            <a:r>
              <a:rPr lang="en-US" b="1" dirty="0"/>
              <a:t>Y</a:t>
            </a:r>
            <a:r>
              <a:rPr lang="en-US" b="1" baseline="-25000" dirty="0"/>
              <a:t>12</a:t>
            </a:r>
            <a:r>
              <a:rPr lang="en-US" b="1" dirty="0"/>
              <a:t xml:space="preserve"> inhibitor</a:t>
            </a:r>
          </a:p>
          <a:p>
            <a:pPr algn="ctr"/>
            <a:r>
              <a:rPr lang="en-US" sz="1600" dirty="0"/>
              <a:t>Initiate after PCI, ticagrelor is superior in STEMI</a:t>
            </a:r>
          </a:p>
          <a:p>
            <a:pPr algn="ctr"/>
            <a:r>
              <a:rPr lang="en-US" sz="1600" dirty="0">
                <a:solidFill>
                  <a:srgbClr val="FF0000"/>
                </a:solidFill>
              </a:rPr>
              <a:t>Avoid if anticipating CABG</a:t>
            </a:r>
          </a:p>
          <a:p>
            <a:pPr algn="ctr"/>
            <a:endParaRPr lang="en-US" sz="1600" dirty="0"/>
          </a:p>
        </p:txBody>
      </p: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E83C6DE5-F161-4EF8-BBA8-EF0C33E8DC34}"/>
              </a:ext>
            </a:extLst>
          </p:cNvPr>
          <p:cNvCxnSpPr>
            <a:cxnSpLocks/>
          </p:cNvCxnSpPr>
          <p:nvPr/>
        </p:nvCxnSpPr>
        <p:spPr>
          <a:xfrm flipV="1">
            <a:off x="10717034" y="2057391"/>
            <a:ext cx="0" cy="22662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3" name="Rectangle 192">
            <a:extLst>
              <a:ext uri="{FF2B5EF4-FFF2-40B4-BE49-F238E27FC236}">
                <a16:creationId xmlns:a16="http://schemas.microsoft.com/office/drawing/2014/main" id="{C863D453-2BBD-48CB-9230-7C64FD35BE38}"/>
              </a:ext>
            </a:extLst>
          </p:cNvPr>
          <p:cNvSpPr/>
          <p:nvPr/>
        </p:nvSpPr>
        <p:spPr>
          <a:xfrm>
            <a:off x="9663299" y="1107431"/>
            <a:ext cx="2330939" cy="137050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/>
              <a:t xml:space="preserve">ACE/ARB </a:t>
            </a:r>
          </a:p>
          <a:p>
            <a:pPr algn="ctr"/>
            <a:r>
              <a:rPr lang="en-US" sz="1600" dirty="0"/>
              <a:t>(initiate before discharge)</a:t>
            </a:r>
          </a:p>
          <a:p>
            <a:pPr marL="120650" indent="-120650">
              <a:buFont typeface="Arial" panose="020B0604020202020204" pitchFamily="34" charset="0"/>
              <a:buChar char="•"/>
            </a:pPr>
            <a:r>
              <a:rPr lang="en-US" sz="1600" dirty="0"/>
              <a:t xml:space="preserve">STEMI – all patients </a:t>
            </a:r>
          </a:p>
          <a:p>
            <a:pPr marL="120650" indent="-120650">
              <a:buFont typeface="Arial" panose="020B0604020202020204" pitchFamily="34" charset="0"/>
              <a:buChar char="•"/>
            </a:pPr>
            <a:r>
              <a:rPr lang="en-US" sz="1600" dirty="0"/>
              <a:t>NSTEMI – LVEF &lt;40% ± HTN, DM, CKD</a:t>
            </a:r>
          </a:p>
          <a:p>
            <a:pPr algn="ctr"/>
            <a:endParaRPr lang="en-US" sz="16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5F4589D-C90B-F591-07DD-2BD2B076BBF4}"/>
              </a:ext>
            </a:extLst>
          </p:cNvPr>
          <p:cNvSpPr/>
          <p:nvPr/>
        </p:nvSpPr>
        <p:spPr>
          <a:xfrm>
            <a:off x="9435038" y="4564330"/>
            <a:ext cx="2683477" cy="1204191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/>
              <a:t>MRA</a:t>
            </a:r>
          </a:p>
          <a:p>
            <a:pPr algn="ctr"/>
            <a:r>
              <a:rPr lang="en-US" sz="1600" dirty="0"/>
              <a:t>(initiate before discharge)</a:t>
            </a:r>
          </a:p>
          <a:p>
            <a:pPr algn="ctr"/>
            <a:r>
              <a:rPr lang="en-US" sz="1600" dirty="0"/>
              <a:t>LVEF &lt;40%, HF, DM and tolerating other meds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0F6E585-3641-DD82-CE3E-16183E5AC1C3}"/>
              </a:ext>
            </a:extLst>
          </p:cNvPr>
          <p:cNvCxnSpPr>
            <a:cxnSpLocks/>
            <a:endCxn id="68" idx="2"/>
          </p:cNvCxnSpPr>
          <p:nvPr/>
        </p:nvCxnSpPr>
        <p:spPr>
          <a:xfrm flipV="1">
            <a:off x="11476047" y="3636884"/>
            <a:ext cx="0" cy="90815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MRA">
            <a:extLst>
              <a:ext uri="{FF2B5EF4-FFF2-40B4-BE49-F238E27FC236}">
                <a16:creationId xmlns:a16="http://schemas.microsoft.com/office/drawing/2014/main" id="{9EDCE926-2D44-1F5C-151D-C8A0187DE64F}"/>
              </a:ext>
            </a:extLst>
          </p:cNvPr>
          <p:cNvSpPr/>
          <p:nvPr/>
        </p:nvSpPr>
        <p:spPr>
          <a:xfrm>
            <a:off x="11245216" y="3271124"/>
            <a:ext cx="461662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</a:t>
            </a:r>
          </a:p>
        </p:txBody>
      </p:sp>
      <p:pic>
        <p:nvPicPr>
          <p:cNvPr id="59" name="Graphic 58" descr="Cursor with solid fill">
            <a:extLst>
              <a:ext uri="{FF2B5EF4-FFF2-40B4-BE49-F238E27FC236}">
                <a16:creationId xmlns:a16="http://schemas.microsoft.com/office/drawing/2014/main" id="{AE397085-D0E8-3037-3040-964C27C9D0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64023" y="3498277"/>
            <a:ext cx="301752" cy="301752"/>
          </a:xfrm>
          <a:prstGeom prst="rect">
            <a:avLst/>
          </a:prstGeom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712924C1-E419-A08C-F16B-BC332500ADD4}"/>
              </a:ext>
            </a:extLst>
          </p:cNvPr>
          <p:cNvSpPr>
            <a:spLocks/>
          </p:cNvSpPr>
          <p:nvPr/>
        </p:nvSpPr>
        <p:spPr>
          <a:xfrm>
            <a:off x="1844913" y="2694674"/>
            <a:ext cx="4262588" cy="3657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Emergent PCI</a:t>
            </a:r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B2C093E-D68E-9AB1-E53F-B4F2BBAAF17D}"/>
              </a:ext>
            </a:extLst>
          </p:cNvPr>
          <p:cNvSpPr txBox="1"/>
          <p:nvPr/>
        </p:nvSpPr>
        <p:spPr>
          <a:xfrm>
            <a:off x="10387611" y="3912491"/>
            <a:ext cx="1578522" cy="369332"/>
          </a:xfrm>
          <a:prstGeom prst="homePlate">
            <a:avLst>
              <a:gd name="adj" fmla="val 26126"/>
            </a:avLst>
          </a:prstGeom>
          <a:solidFill>
            <a:srgbClr val="F4910C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Delayed PCI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621C50B-2EF5-641E-75B2-46D01BC4FE2A}"/>
              </a:ext>
            </a:extLst>
          </p:cNvPr>
          <p:cNvSpPr txBox="1"/>
          <p:nvPr/>
        </p:nvSpPr>
        <p:spPr>
          <a:xfrm>
            <a:off x="1872945" y="3912491"/>
            <a:ext cx="5026527" cy="369332"/>
          </a:xfrm>
          <a:prstGeom prst="rect">
            <a:avLst/>
          </a:prstGeom>
          <a:solidFill>
            <a:srgbClr val="FF3300"/>
          </a:solidFill>
          <a:effectLst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Urgent/Immediate PCI</a:t>
            </a:r>
          </a:p>
        </p:txBody>
      </p: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66F1FDBC-A1DB-49C8-8183-ED6B4BEBAE7A}"/>
              </a:ext>
            </a:extLst>
          </p:cNvPr>
          <p:cNvGrpSpPr/>
          <p:nvPr/>
        </p:nvGrpSpPr>
        <p:grpSpPr>
          <a:xfrm>
            <a:off x="1872945" y="3636882"/>
            <a:ext cx="7464810" cy="1878487"/>
            <a:chOff x="-404968" y="5017111"/>
            <a:chExt cx="7464810" cy="1575886"/>
          </a:xfrm>
        </p:grpSpPr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E5569365-493C-4E5F-99B7-52358B379DB8}"/>
                </a:ext>
              </a:extLst>
            </p:cNvPr>
            <p:cNvCxnSpPr>
              <a:cxnSpLocks/>
              <a:stCxn id="48" idx="2"/>
            </p:cNvCxnSpPr>
            <p:nvPr/>
          </p:nvCxnSpPr>
          <p:spPr>
            <a:xfrm>
              <a:off x="4992574" y="5017111"/>
              <a:ext cx="164" cy="787942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D24D0B4A-2A7B-4CB3-B01F-7A34A0314279}"/>
                </a:ext>
              </a:extLst>
            </p:cNvPr>
            <p:cNvSpPr/>
            <p:nvPr/>
          </p:nvSpPr>
          <p:spPr>
            <a:xfrm>
              <a:off x="-404968" y="5805055"/>
              <a:ext cx="7464810" cy="787942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b="1" dirty="0"/>
                <a:t xml:space="preserve">Beta-blocker </a:t>
              </a:r>
            </a:p>
            <a:p>
              <a:pPr algn="ctr"/>
              <a:r>
                <a:rPr lang="en-US" sz="1600" dirty="0"/>
                <a:t>(initiate &lt;24h)</a:t>
              </a:r>
            </a:p>
            <a:p>
              <a:pPr algn="ctr"/>
              <a:r>
                <a:rPr lang="en-US" sz="1600" dirty="0">
                  <a:solidFill>
                    <a:srgbClr val="FF0000"/>
                  </a:solidFill>
                </a:rPr>
                <a:t>Avoid in ↓ BP, ↓ HR, cardiogenic shock</a:t>
              </a:r>
            </a:p>
          </p:txBody>
        </p:sp>
      </p:grpSp>
      <p:sp>
        <p:nvSpPr>
          <p:cNvPr id="3" name="Rectangle: Rounded Corners 60">
            <a:hlinkClick r:id="rId5" action="ppaction://hlinksldjump"/>
            <a:extLst>
              <a:ext uri="{FF2B5EF4-FFF2-40B4-BE49-F238E27FC236}">
                <a16:creationId xmlns:a16="http://schemas.microsoft.com/office/drawing/2014/main" id="{1D4B11E1-B6E5-7F01-D0EA-9D3BB76E1A82}"/>
              </a:ext>
            </a:extLst>
          </p:cNvPr>
          <p:cNvSpPr/>
          <p:nvPr/>
        </p:nvSpPr>
        <p:spPr>
          <a:xfrm>
            <a:off x="181305" y="687997"/>
            <a:ext cx="1410779" cy="36576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PCI</a:t>
            </a:r>
          </a:p>
        </p:txBody>
      </p:sp>
      <p:pic>
        <p:nvPicPr>
          <p:cNvPr id="4" name="Graphic 3" descr="Cursor with solid fill">
            <a:extLst>
              <a:ext uri="{FF2B5EF4-FFF2-40B4-BE49-F238E27FC236}">
                <a16:creationId xmlns:a16="http://schemas.microsoft.com/office/drawing/2014/main" id="{71E3C133-862A-626D-BA12-7188082CE8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41208" y="918426"/>
            <a:ext cx="301752" cy="301752"/>
          </a:xfrm>
          <a:prstGeom prst="rect">
            <a:avLst/>
          </a:prstGeom>
        </p:spPr>
      </p:pic>
      <p:sp>
        <p:nvSpPr>
          <p:cNvPr id="5" name="Rectangle: Rounded Corners 61">
            <a:extLst>
              <a:ext uri="{FF2B5EF4-FFF2-40B4-BE49-F238E27FC236}">
                <a16:creationId xmlns:a16="http://schemas.microsoft.com/office/drawing/2014/main" id="{E335DBEF-3952-65BB-2D41-0C5C581AB2E4}"/>
              </a:ext>
            </a:extLst>
          </p:cNvPr>
          <p:cNvSpPr/>
          <p:nvPr/>
        </p:nvSpPr>
        <p:spPr>
          <a:xfrm>
            <a:off x="181305" y="1198779"/>
            <a:ext cx="1384809" cy="365760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Late Tx</a:t>
            </a:r>
          </a:p>
        </p:txBody>
      </p:sp>
      <p:sp>
        <p:nvSpPr>
          <p:cNvPr id="10" name="Rectangle: Rounded Corners 61">
            <a:hlinkClick r:id="rId6" action="ppaction://hlinksldjump"/>
            <a:extLst>
              <a:ext uri="{FF2B5EF4-FFF2-40B4-BE49-F238E27FC236}">
                <a16:creationId xmlns:a16="http://schemas.microsoft.com/office/drawing/2014/main" id="{A9A53EEA-36CF-F0D1-47EF-12F9B08CEAE3}"/>
              </a:ext>
            </a:extLst>
          </p:cNvPr>
          <p:cNvSpPr/>
          <p:nvPr/>
        </p:nvSpPr>
        <p:spPr>
          <a:xfrm>
            <a:off x="181305" y="1709561"/>
            <a:ext cx="1384809" cy="36576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Cases</a:t>
            </a:r>
          </a:p>
        </p:txBody>
      </p:sp>
      <p:pic>
        <p:nvPicPr>
          <p:cNvPr id="11" name="Graphic 10" descr="Cursor with solid fill">
            <a:extLst>
              <a:ext uri="{FF2B5EF4-FFF2-40B4-BE49-F238E27FC236}">
                <a16:creationId xmlns:a16="http://schemas.microsoft.com/office/drawing/2014/main" id="{5D11D6A4-0F26-530E-D28E-B2809615AD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41208" y="1932830"/>
            <a:ext cx="301752" cy="301752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44D011DE-E9C4-9D40-56ED-CE6D9C5DFDA9}"/>
              </a:ext>
            </a:extLst>
          </p:cNvPr>
          <p:cNvSpPr txBox="1"/>
          <p:nvPr/>
        </p:nvSpPr>
        <p:spPr>
          <a:xfrm>
            <a:off x="3433246" y="44213"/>
            <a:ext cx="6091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Late ACS Management – NSTEMI and STEMI</a:t>
            </a:r>
          </a:p>
        </p:txBody>
      </p:sp>
      <p:sp>
        <p:nvSpPr>
          <p:cNvPr id="34" name="Rectangle: Rounded Corners 59">
            <a:hlinkClick r:id="rId7" action="ppaction://hlinksldjump"/>
            <a:extLst>
              <a:ext uri="{FF2B5EF4-FFF2-40B4-BE49-F238E27FC236}">
                <a16:creationId xmlns:a16="http://schemas.microsoft.com/office/drawing/2014/main" id="{111421D9-D9E2-CA4E-9A64-0296E2B2C611}"/>
              </a:ext>
            </a:extLst>
          </p:cNvPr>
          <p:cNvSpPr/>
          <p:nvPr/>
        </p:nvSpPr>
        <p:spPr>
          <a:xfrm>
            <a:off x="181305" y="177215"/>
            <a:ext cx="1384246" cy="36576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Early Tx</a:t>
            </a:r>
          </a:p>
        </p:txBody>
      </p:sp>
      <p:pic>
        <p:nvPicPr>
          <p:cNvPr id="36" name="Graphic 35" descr="Cursor with solid fill">
            <a:extLst>
              <a:ext uri="{FF2B5EF4-FFF2-40B4-BE49-F238E27FC236}">
                <a16:creationId xmlns:a16="http://schemas.microsoft.com/office/drawing/2014/main" id="{26D51225-7FA1-A44E-CDC0-5F40D7EA6F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41208" y="400696"/>
            <a:ext cx="301752" cy="301752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6C4C22E2-6FE1-206C-5124-B0BAE135D1DF}"/>
              </a:ext>
            </a:extLst>
          </p:cNvPr>
          <p:cNvSpPr txBox="1"/>
          <p:nvPr/>
        </p:nvSpPr>
        <p:spPr>
          <a:xfrm>
            <a:off x="6890218" y="3912491"/>
            <a:ext cx="3500950" cy="369332"/>
          </a:xfrm>
          <a:prstGeom prst="rect">
            <a:avLst/>
          </a:prstGeom>
          <a:solidFill>
            <a:srgbClr val="FC6204"/>
          </a:solidFill>
          <a:effectLst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Early PCI</a:t>
            </a:r>
          </a:p>
        </p:txBody>
      </p:sp>
      <p:sp>
        <p:nvSpPr>
          <p:cNvPr id="97" name="Beta-blocker">
            <a:extLst>
              <a:ext uri="{FF2B5EF4-FFF2-40B4-BE49-F238E27FC236}">
                <a16:creationId xmlns:a16="http://schemas.microsoft.com/office/drawing/2014/main" id="{C2965B93-7647-8FEB-A919-4CB9CC9A4338}"/>
              </a:ext>
            </a:extLst>
          </p:cNvPr>
          <p:cNvSpPr/>
          <p:nvPr/>
        </p:nvSpPr>
        <p:spPr>
          <a:xfrm>
            <a:off x="7039656" y="3271124"/>
            <a:ext cx="461662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D0B689E6-F6E8-E0B4-32A2-06E76C5E8963}"/>
              </a:ext>
            </a:extLst>
          </p:cNvPr>
          <p:cNvCxnSpPr>
            <a:cxnSpLocks/>
            <a:stCxn id="50" idx="0"/>
          </p:cNvCxnSpPr>
          <p:nvPr/>
        </p:nvCxnSpPr>
        <p:spPr>
          <a:xfrm flipH="1" flipV="1">
            <a:off x="10717034" y="2473320"/>
            <a:ext cx="9518" cy="79780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Beta-blocker">
            <a:extLst>
              <a:ext uri="{FF2B5EF4-FFF2-40B4-BE49-F238E27FC236}">
                <a16:creationId xmlns:a16="http://schemas.microsoft.com/office/drawing/2014/main" id="{B392B64C-EA03-452B-8287-8383EF757C54}"/>
              </a:ext>
            </a:extLst>
          </p:cNvPr>
          <p:cNvSpPr/>
          <p:nvPr/>
        </p:nvSpPr>
        <p:spPr>
          <a:xfrm>
            <a:off x="7039656" y="3271124"/>
            <a:ext cx="461662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pic>
        <p:nvPicPr>
          <p:cNvPr id="49" name="Graphic 48" descr="Cursor with solid fill">
            <a:extLst>
              <a:ext uri="{FF2B5EF4-FFF2-40B4-BE49-F238E27FC236}">
                <a16:creationId xmlns:a16="http://schemas.microsoft.com/office/drawing/2014/main" id="{B6043EC8-EC96-4F20-A544-FEB84EBD63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53770" y="3498277"/>
            <a:ext cx="301752" cy="301752"/>
          </a:xfrm>
          <a:prstGeom prst="rect">
            <a:avLst/>
          </a:prstGeom>
        </p:spPr>
      </p:pic>
      <p:sp>
        <p:nvSpPr>
          <p:cNvPr id="98" name="P2Y12 inhibitor">
            <a:extLst>
              <a:ext uri="{FF2B5EF4-FFF2-40B4-BE49-F238E27FC236}">
                <a16:creationId xmlns:a16="http://schemas.microsoft.com/office/drawing/2014/main" id="{28D09FE2-5310-4964-D059-23415E341C4D}"/>
              </a:ext>
            </a:extLst>
          </p:cNvPr>
          <p:cNvSpPr/>
          <p:nvPr/>
        </p:nvSpPr>
        <p:spPr>
          <a:xfrm>
            <a:off x="7612653" y="3271124"/>
            <a:ext cx="461662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</a:t>
            </a:r>
          </a:p>
        </p:txBody>
      </p:sp>
      <p:sp>
        <p:nvSpPr>
          <p:cNvPr id="52" name="P2Y12 inhibitor">
            <a:extLst>
              <a:ext uri="{FF2B5EF4-FFF2-40B4-BE49-F238E27FC236}">
                <a16:creationId xmlns:a16="http://schemas.microsoft.com/office/drawing/2014/main" id="{9426125A-B0CB-40AA-9BAE-9A84DAA1DAC3}"/>
              </a:ext>
            </a:extLst>
          </p:cNvPr>
          <p:cNvSpPr/>
          <p:nvPr/>
        </p:nvSpPr>
        <p:spPr>
          <a:xfrm>
            <a:off x="7612653" y="3271124"/>
            <a:ext cx="461662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</a:t>
            </a:r>
          </a:p>
        </p:txBody>
      </p:sp>
      <p:pic>
        <p:nvPicPr>
          <p:cNvPr id="53" name="Graphic 52" descr="Cursor with solid fill">
            <a:extLst>
              <a:ext uri="{FF2B5EF4-FFF2-40B4-BE49-F238E27FC236}">
                <a16:creationId xmlns:a16="http://schemas.microsoft.com/office/drawing/2014/main" id="{11E01F49-3EB1-4616-9C40-C05740B85E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26602" y="3498277"/>
            <a:ext cx="301752" cy="30175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A06F958-FF1B-F06B-A096-7BAE0C2686AD}"/>
              </a:ext>
            </a:extLst>
          </p:cNvPr>
          <p:cNvSpPr txBox="1"/>
          <p:nvPr/>
        </p:nvSpPr>
        <p:spPr>
          <a:xfrm>
            <a:off x="271698" y="2650713"/>
            <a:ext cx="12613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STEMI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D99027-5ABD-34E4-F40F-6DEDB9EEAC7F}"/>
              </a:ext>
            </a:extLst>
          </p:cNvPr>
          <p:cNvSpPr txBox="1"/>
          <p:nvPr/>
        </p:nvSpPr>
        <p:spPr>
          <a:xfrm>
            <a:off x="271698" y="3874876"/>
            <a:ext cx="12511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NSTEMI</a:t>
            </a:r>
          </a:p>
        </p:txBody>
      </p:sp>
    </p:spTree>
    <p:extLst>
      <p:ext uri="{BB962C8B-B14F-4D97-AF65-F5344CB8AC3E}">
        <p14:creationId xmlns:p14="http://schemas.microsoft.com/office/powerpoint/2010/main" val="2719422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8"/>
                  </p:tgtEl>
                </p:cond>
              </p:nextCondLst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"/>
                  </p:tgtEl>
                </p:cond>
              </p:nextCondLst>
            </p:seq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"/>
                  </p:tgtEl>
                </p:cond>
              </p:nextCondLst>
            </p:seq>
          </p:childTnLst>
        </p:cTn>
      </p:par>
    </p:tnLst>
    <p:bldLst>
      <p:bldP spid="44" grpId="0" animBg="1"/>
      <p:bldP spid="50" grpId="0" animBg="1"/>
      <p:bldP spid="188" grpId="0" animBg="1"/>
      <p:bldP spid="193" grpId="0" animBg="1"/>
      <p:bldP spid="56" grpId="0" animBg="1"/>
      <p:bldP spid="68" grpId="0" animBg="1"/>
      <p:bldP spid="97" grpId="0" animBg="1"/>
      <p:bldP spid="48" grpId="0" animBg="1"/>
      <p:bldP spid="98" grpId="0" animBg="1"/>
      <p:bldP spid="5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59">
            <a:hlinkClick r:id="rId3" action="ppaction://hlinksldjump"/>
            <a:extLst>
              <a:ext uri="{FF2B5EF4-FFF2-40B4-BE49-F238E27FC236}">
                <a16:creationId xmlns:a16="http://schemas.microsoft.com/office/drawing/2014/main" id="{31219CF1-55B7-4079-412B-4A9306E50F92}"/>
              </a:ext>
            </a:extLst>
          </p:cNvPr>
          <p:cNvSpPr/>
          <p:nvPr/>
        </p:nvSpPr>
        <p:spPr>
          <a:xfrm>
            <a:off x="181305" y="177215"/>
            <a:ext cx="1384246" cy="36576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Early Tx</a:t>
            </a:r>
          </a:p>
        </p:txBody>
      </p:sp>
      <p:sp>
        <p:nvSpPr>
          <p:cNvPr id="5" name="Rectangle: Rounded Corners 60">
            <a:hlinkClick r:id="rId4" action="ppaction://hlinksldjump"/>
            <a:extLst>
              <a:ext uri="{FF2B5EF4-FFF2-40B4-BE49-F238E27FC236}">
                <a16:creationId xmlns:a16="http://schemas.microsoft.com/office/drawing/2014/main" id="{7D68F172-A2D6-7EA9-AD21-B5EA9CA58C3B}"/>
              </a:ext>
            </a:extLst>
          </p:cNvPr>
          <p:cNvSpPr/>
          <p:nvPr/>
        </p:nvSpPr>
        <p:spPr>
          <a:xfrm>
            <a:off x="181305" y="687997"/>
            <a:ext cx="1410779" cy="36576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PCI</a:t>
            </a:r>
          </a:p>
        </p:txBody>
      </p:sp>
      <p:pic>
        <p:nvPicPr>
          <p:cNvPr id="6" name="Graphic 5" descr="Cursor with solid fill">
            <a:extLst>
              <a:ext uri="{FF2B5EF4-FFF2-40B4-BE49-F238E27FC236}">
                <a16:creationId xmlns:a16="http://schemas.microsoft.com/office/drawing/2014/main" id="{DDD35E2F-06F3-A40B-B994-9CB3A88778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41208" y="918426"/>
            <a:ext cx="301752" cy="301752"/>
          </a:xfrm>
          <a:prstGeom prst="rect">
            <a:avLst/>
          </a:prstGeom>
        </p:spPr>
      </p:pic>
      <p:sp>
        <p:nvSpPr>
          <p:cNvPr id="7" name="Rectangle: Rounded Corners 61">
            <a:hlinkClick r:id="rId7" action="ppaction://hlinksldjump"/>
            <a:extLst>
              <a:ext uri="{FF2B5EF4-FFF2-40B4-BE49-F238E27FC236}">
                <a16:creationId xmlns:a16="http://schemas.microsoft.com/office/drawing/2014/main" id="{ECC685C6-BA8D-02EE-24A1-E44958829855}"/>
              </a:ext>
            </a:extLst>
          </p:cNvPr>
          <p:cNvSpPr/>
          <p:nvPr/>
        </p:nvSpPr>
        <p:spPr>
          <a:xfrm>
            <a:off x="181305" y="1198779"/>
            <a:ext cx="1384809" cy="36576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Late Tx</a:t>
            </a:r>
          </a:p>
        </p:txBody>
      </p:sp>
      <p:pic>
        <p:nvPicPr>
          <p:cNvPr id="8" name="Graphic 7" descr="Cursor with solid fill">
            <a:extLst>
              <a:ext uri="{FF2B5EF4-FFF2-40B4-BE49-F238E27FC236}">
                <a16:creationId xmlns:a16="http://schemas.microsoft.com/office/drawing/2014/main" id="{756A075E-A8DC-A701-87D8-814DBAB616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41208" y="1427132"/>
            <a:ext cx="301752" cy="301752"/>
          </a:xfrm>
          <a:prstGeom prst="rect">
            <a:avLst/>
          </a:prstGeom>
        </p:spPr>
      </p:pic>
      <p:sp>
        <p:nvSpPr>
          <p:cNvPr id="9" name="Rectangle: Rounded Corners 61">
            <a:extLst>
              <a:ext uri="{FF2B5EF4-FFF2-40B4-BE49-F238E27FC236}">
                <a16:creationId xmlns:a16="http://schemas.microsoft.com/office/drawing/2014/main" id="{D9158C58-8CE4-7ECD-471F-AA6B6C808328}"/>
              </a:ext>
            </a:extLst>
          </p:cNvPr>
          <p:cNvSpPr/>
          <p:nvPr/>
        </p:nvSpPr>
        <p:spPr>
          <a:xfrm>
            <a:off x="181305" y="1709561"/>
            <a:ext cx="1384809" cy="365760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Cases</a:t>
            </a:r>
          </a:p>
        </p:txBody>
      </p:sp>
      <p:pic>
        <p:nvPicPr>
          <p:cNvPr id="11" name="Graphic 10" descr="Cursor with solid fill">
            <a:extLst>
              <a:ext uri="{FF2B5EF4-FFF2-40B4-BE49-F238E27FC236}">
                <a16:creationId xmlns:a16="http://schemas.microsoft.com/office/drawing/2014/main" id="{3CF45781-993A-6922-130F-DB35935178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41208" y="400696"/>
            <a:ext cx="301752" cy="301752"/>
          </a:xfrm>
          <a:prstGeom prst="rect">
            <a:avLst/>
          </a:prstGeom>
        </p:spPr>
      </p:pic>
      <p:sp>
        <p:nvSpPr>
          <p:cNvPr id="12" name="Case 1">
            <a:extLst>
              <a:ext uri="{FF2B5EF4-FFF2-40B4-BE49-F238E27FC236}">
                <a16:creationId xmlns:a16="http://schemas.microsoft.com/office/drawing/2014/main" id="{713D720B-F3F8-E66C-32C6-D0FEE8D84013}"/>
              </a:ext>
            </a:extLst>
          </p:cNvPr>
          <p:cNvSpPr/>
          <p:nvPr/>
        </p:nvSpPr>
        <p:spPr>
          <a:xfrm>
            <a:off x="2597002" y="197245"/>
            <a:ext cx="1474237" cy="367979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Case 1</a:t>
            </a:r>
          </a:p>
        </p:txBody>
      </p:sp>
      <p:sp>
        <p:nvSpPr>
          <p:cNvPr id="20" name="Case 1 stem">
            <a:extLst>
              <a:ext uri="{FF2B5EF4-FFF2-40B4-BE49-F238E27FC236}">
                <a16:creationId xmlns:a16="http://schemas.microsoft.com/office/drawing/2014/main" id="{BA8E205B-B1CE-F6A3-6B50-E7E3E3810CB5}"/>
              </a:ext>
            </a:extLst>
          </p:cNvPr>
          <p:cNvSpPr txBox="1"/>
          <p:nvPr/>
        </p:nvSpPr>
        <p:spPr>
          <a:xfrm>
            <a:off x="1777844" y="622060"/>
            <a:ext cx="33145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61-year-old with PMHx of hypertension, diabetes and hyperlipidemia presents with chest pain. Vitals show T 36.4C, HR 114, BP 105/78, SaO2 94%.</a:t>
            </a:r>
          </a:p>
        </p:txBody>
      </p:sp>
      <p:sp>
        <p:nvSpPr>
          <p:cNvPr id="21" name="Case 1 Q1">
            <a:extLst>
              <a:ext uri="{FF2B5EF4-FFF2-40B4-BE49-F238E27FC236}">
                <a16:creationId xmlns:a16="http://schemas.microsoft.com/office/drawing/2014/main" id="{792EF8A4-44E5-7168-F33D-48024071FEAD}"/>
              </a:ext>
            </a:extLst>
          </p:cNvPr>
          <p:cNvSpPr/>
          <p:nvPr/>
        </p:nvSpPr>
        <p:spPr>
          <a:xfrm>
            <a:off x="1897550" y="1888133"/>
            <a:ext cx="3051094" cy="548640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When should this patient undergo revascularization (if at all)?</a:t>
            </a:r>
          </a:p>
        </p:txBody>
      </p:sp>
      <p:pic>
        <p:nvPicPr>
          <p:cNvPr id="22" name="Graphic 21" descr="Cursor with solid fill">
            <a:extLst>
              <a:ext uri="{FF2B5EF4-FFF2-40B4-BE49-F238E27FC236}">
                <a16:creationId xmlns:a16="http://schemas.microsoft.com/office/drawing/2014/main" id="{036F9E17-EE60-4DE6-7C75-A43A33BB8C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21707" y="2309754"/>
            <a:ext cx="270672" cy="270672"/>
          </a:xfrm>
          <a:prstGeom prst="rect">
            <a:avLst/>
          </a:prstGeom>
        </p:spPr>
      </p:pic>
      <p:sp>
        <p:nvSpPr>
          <p:cNvPr id="23" name="Case 1 Answer 1">
            <a:extLst>
              <a:ext uri="{FF2B5EF4-FFF2-40B4-BE49-F238E27FC236}">
                <a16:creationId xmlns:a16="http://schemas.microsoft.com/office/drawing/2014/main" id="{E3760252-C3C6-9C2F-7867-1BDA59069308}"/>
              </a:ext>
            </a:extLst>
          </p:cNvPr>
          <p:cNvSpPr txBox="1"/>
          <p:nvPr/>
        </p:nvSpPr>
        <p:spPr>
          <a:xfrm>
            <a:off x="1768449" y="2536783"/>
            <a:ext cx="310956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EMERGENTLY</a:t>
            </a:r>
            <a:r>
              <a:rPr lang="en-US" sz="1400" dirty="0"/>
              <a:t xml:space="preserve">! This ECG shows ST elevations in I, </a:t>
            </a:r>
            <a:r>
              <a:rPr lang="en-US" sz="1400" dirty="0" err="1"/>
              <a:t>aVL</a:t>
            </a:r>
            <a:r>
              <a:rPr lang="en-US" sz="1400" dirty="0"/>
              <a:t xml:space="preserve">, V1-V4 consistent with an </a:t>
            </a:r>
            <a:r>
              <a:rPr lang="en-US" sz="1400" b="1" dirty="0"/>
              <a:t>LAD STEMI</a:t>
            </a:r>
            <a:r>
              <a:rPr lang="en-US" sz="1400" dirty="0"/>
              <a:t xml:space="preserve">. At PCI capable hospital, the </a:t>
            </a:r>
            <a:r>
              <a:rPr lang="en-US" sz="1400" dirty="0" err="1"/>
              <a:t>cath</a:t>
            </a:r>
            <a:r>
              <a:rPr lang="en-US" sz="1400" dirty="0"/>
              <a:t xml:space="preserve"> lab should be activated and </a:t>
            </a:r>
            <a:r>
              <a:rPr lang="en-US" sz="1400" b="1" dirty="0"/>
              <a:t>PCI performed &lt;90 min.</a:t>
            </a:r>
          </a:p>
        </p:txBody>
      </p:sp>
      <p:sp>
        <p:nvSpPr>
          <p:cNvPr id="24" name="Case 1 Q2">
            <a:extLst>
              <a:ext uri="{FF2B5EF4-FFF2-40B4-BE49-F238E27FC236}">
                <a16:creationId xmlns:a16="http://schemas.microsoft.com/office/drawing/2014/main" id="{FD984404-2C6E-6522-3B84-A75541089A6A}"/>
              </a:ext>
            </a:extLst>
          </p:cNvPr>
          <p:cNvSpPr/>
          <p:nvPr/>
        </p:nvSpPr>
        <p:spPr>
          <a:xfrm>
            <a:off x="461481" y="4007729"/>
            <a:ext cx="2980465" cy="539691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What if the patient was at a non-PCI capable hospital?</a:t>
            </a:r>
          </a:p>
        </p:txBody>
      </p:sp>
      <p:pic>
        <p:nvPicPr>
          <p:cNvPr id="25" name="Graphic 24" descr="Cursor with solid fill">
            <a:extLst>
              <a:ext uri="{FF2B5EF4-FFF2-40B4-BE49-F238E27FC236}">
                <a16:creationId xmlns:a16="http://schemas.microsoft.com/office/drawing/2014/main" id="{71921081-35DD-E25C-B041-2A4634521F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30496" y="4453324"/>
            <a:ext cx="270672" cy="270672"/>
          </a:xfrm>
          <a:prstGeom prst="rect">
            <a:avLst/>
          </a:prstGeom>
        </p:spPr>
      </p:pic>
      <p:sp>
        <p:nvSpPr>
          <p:cNvPr id="26" name="Case 1 Answer 2">
            <a:extLst>
              <a:ext uri="{FF2B5EF4-FFF2-40B4-BE49-F238E27FC236}">
                <a16:creationId xmlns:a16="http://schemas.microsoft.com/office/drawing/2014/main" id="{8086F493-097F-13F3-3BB6-48426913DA10}"/>
              </a:ext>
            </a:extLst>
          </p:cNvPr>
          <p:cNvSpPr txBox="1"/>
          <p:nvPr/>
        </p:nvSpPr>
        <p:spPr>
          <a:xfrm>
            <a:off x="341776" y="4639169"/>
            <a:ext cx="313032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 xml:space="preserve">Transfer to PCI-capable hospital </a:t>
            </a:r>
            <a:r>
              <a:rPr lang="en-US" sz="1400" dirty="0"/>
              <a:t xml:space="preserve">if estimated door-to-balloon time is still </a:t>
            </a:r>
            <a:r>
              <a:rPr lang="en-US" sz="1400" b="1" dirty="0"/>
              <a:t>&lt;120 min</a:t>
            </a:r>
            <a:r>
              <a:rPr lang="en-US" sz="1400" dirty="0"/>
              <a:t>.</a:t>
            </a:r>
          </a:p>
          <a:p>
            <a:pPr algn="ctr"/>
            <a:r>
              <a:rPr lang="en-US" sz="1400" dirty="0"/>
              <a:t xml:space="preserve">If not, treat with fibrinolytics &lt;90 min → transfer for delayed PCI &lt;24 hours. Consider individual bleeding risk. </a:t>
            </a:r>
          </a:p>
        </p:txBody>
      </p:sp>
      <p:sp>
        <p:nvSpPr>
          <p:cNvPr id="47" name="Case 1 Q3">
            <a:extLst>
              <a:ext uri="{FF2B5EF4-FFF2-40B4-BE49-F238E27FC236}">
                <a16:creationId xmlns:a16="http://schemas.microsoft.com/office/drawing/2014/main" id="{1EC33251-4C20-C918-B336-C4D0B14EE2B1}"/>
              </a:ext>
            </a:extLst>
          </p:cNvPr>
          <p:cNvSpPr/>
          <p:nvPr/>
        </p:nvSpPr>
        <p:spPr>
          <a:xfrm>
            <a:off x="3681303" y="4007729"/>
            <a:ext cx="3092136" cy="548640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What medical therapy would you initiate while awaiting PCI?</a:t>
            </a:r>
          </a:p>
        </p:txBody>
      </p:sp>
      <p:pic>
        <p:nvPicPr>
          <p:cNvPr id="48" name="Graphic 47" descr="Cursor with solid fill">
            <a:extLst>
              <a:ext uri="{FF2B5EF4-FFF2-40B4-BE49-F238E27FC236}">
                <a16:creationId xmlns:a16="http://schemas.microsoft.com/office/drawing/2014/main" id="{13311686-9559-A437-515D-CDB04881D6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38103" y="4453324"/>
            <a:ext cx="270672" cy="270672"/>
          </a:xfrm>
          <a:prstGeom prst="rect">
            <a:avLst/>
          </a:prstGeom>
        </p:spPr>
      </p:pic>
      <p:sp>
        <p:nvSpPr>
          <p:cNvPr id="49" name="Case 1 Answer 2">
            <a:extLst>
              <a:ext uri="{FF2B5EF4-FFF2-40B4-BE49-F238E27FC236}">
                <a16:creationId xmlns:a16="http://schemas.microsoft.com/office/drawing/2014/main" id="{D9C492DC-0E1D-1AB9-1B9F-19D51131F292}"/>
              </a:ext>
            </a:extLst>
          </p:cNvPr>
          <p:cNvSpPr txBox="1"/>
          <p:nvPr/>
        </p:nvSpPr>
        <p:spPr>
          <a:xfrm>
            <a:off x="3681304" y="4639169"/>
            <a:ext cx="309213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/>
              <a:t>Aspirin 325 mg chewed (or PR)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/>
              <a:t>Heparin drip given planned PCI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/>
              <a:t>Hold on P</a:t>
            </a:r>
            <a:r>
              <a:rPr lang="en-US" sz="1400" baseline="-25000" dirty="0"/>
              <a:t>2</a:t>
            </a:r>
            <a:r>
              <a:rPr lang="en-US" sz="1400" dirty="0"/>
              <a:t>Y</a:t>
            </a:r>
            <a:r>
              <a:rPr lang="en-US" sz="1400" baseline="-25000" dirty="0"/>
              <a:t>12</a:t>
            </a:r>
            <a:r>
              <a:rPr lang="en-US" sz="1400" dirty="0"/>
              <a:t xml:space="preserve"> inhibitor in the event of needing a CABG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/>
              <a:t>PO beta-blocker (e.g., metoprolol) for angina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/>
              <a:t>PRN nitrates or morphine</a:t>
            </a:r>
          </a:p>
        </p:txBody>
      </p:sp>
      <p:pic>
        <p:nvPicPr>
          <p:cNvPr id="3" name="Picture 2" descr="A graph of a heart rate  Description automatically generated">
            <a:extLst>
              <a:ext uri="{FF2B5EF4-FFF2-40B4-BE49-F238E27FC236}">
                <a16:creationId xmlns:a16="http://schemas.microsoft.com/office/drawing/2014/main" id="{D7556116-18DB-1FE0-D5BE-2A1E827AA15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8140" y="531154"/>
            <a:ext cx="6584570" cy="32098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C5C0282-7F83-B166-DECD-47155EC6509A}"/>
              </a:ext>
            </a:extLst>
          </p:cNvPr>
          <p:cNvSpPr txBox="1"/>
          <p:nvPr/>
        </p:nvSpPr>
        <p:spPr>
          <a:xfrm>
            <a:off x="8370276" y="3730884"/>
            <a:ext cx="35772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/>
              <a:t>Courtesy of Benjamin Titus, MD.</a:t>
            </a:r>
          </a:p>
        </p:txBody>
      </p:sp>
      <p:sp>
        <p:nvSpPr>
          <p:cNvPr id="38" name="Rectangle: Rounded Corners 61">
            <a:hlinkClick r:id="rId9" action="ppaction://hlinksldjump"/>
            <a:extLst>
              <a:ext uri="{FF2B5EF4-FFF2-40B4-BE49-F238E27FC236}">
                <a16:creationId xmlns:a16="http://schemas.microsoft.com/office/drawing/2014/main" id="{2B1ED269-10A7-CE51-966A-08A33D8BB617}"/>
              </a:ext>
            </a:extLst>
          </p:cNvPr>
          <p:cNvSpPr/>
          <p:nvPr/>
        </p:nvSpPr>
        <p:spPr>
          <a:xfrm>
            <a:off x="723481" y="2214666"/>
            <a:ext cx="842633" cy="365760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41" name="Rectangle: Rounded Corners 61">
            <a:hlinkClick r:id="rId10" action="ppaction://hlinksldjump"/>
            <a:extLst>
              <a:ext uri="{FF2B5EF4-FFF2-40B4-BE49-F238E27FC236}">
                <a16:creationId xmlns:a16="http://schemas.microsoft.com/office/drawing/2014/main" id="{71CB2E23-9E59-6FE1-077E-D3A925FAC95E}"/>
              </a:ext>
            </a:extLst>
          </p:cNvPr>
          <p:cNvSpPr/>
          <p:nvPr/>
        </p:nvSpPr>
        <p:spPr>
          <a:xfrm>
            <a:off x="723481" y="2728183"/>
            <a:ext cx="842633" cy="36576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pic>
        <p:nvPicPr>
          <p:cNvPr id="43" name="Graphic 42" descr="Cursor with solid fill">
            <a:extLst>
              <a:ext uri="{FF2B5EF4-FFF2-40B4-BE49-F238E27FC236}">
                <a16:creationId xmlns:a16="http://schemas.microsoft.com/office/drawing/2014/main" id="{55291CDA-63FC-BD9D-44B2-A5B4CC4982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32014" y="2973124"/>
            <a:ext cx="301752" cy="301752"/>
          </a:xfrm>
          <a:prstGeom prst="rect">
            <a:avLst/>
          </a:prstGeom>
        </p:spPr>
      </p:pic>
      <p:sp>
        <p:nvSpPr>
          <p:cNvPr id="50" name="Rectangle: Rounded Corners 61">
            <a:hlinkClick r:id="rId11" action="ppaction://hlinksldjump"/>
            <a:extLst>
              <a:ext uri="{FF2B5EF4-FFF2-40B4-BE49-F238E27FC236}">
                <a16:creationId xmlns:a16="http://schemas.microsoft.com/office/drawing/2014/main" id="{4D61137E-989E-D2EA-AD4F-ABED017A33DA}"/>
              </a:ext>
            </a:extLst>
          </p:cNvPr>
          <p:cNvSpPr/>
          <p:nvPr/>
        </p:nvSpPr>
        <p:spPr>
          <a:xfrm>
            <a:off x="723481" y="3245879"/>
            <a:ext cx="842633" cy="36576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pic>
        <p:nvPicPr>
          <p:cNvPr id="51" name="Graphic 50" descr="Cursor with solid fill">
            <a:extLst>
              <a:ext uri="{FF2B5EF4-FFF2-40B4-BE49-F238E27FC236}">
                <a16:creationId xmlns:a16="http://schemas.microsoft.com/office/drawing/2014/main" id="{256B8F56-3915-77B4-A577-E9ABAB0B0D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20145" y="3490820"/>
            <a:ext cx="301752" cy="301752"/>
          </a:xfrm>
          <a:prstGeom prst="rect">
            <a:avLst/>
          </a:prstGeom>
        </p:spPr>
      </p:pic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D76AA5E3-DE89-9FF8-E94B-4E5B4A2B07FB}"/>
              </a:ext>
            </a:extLst>
          </p:cNvPr>
          <p:cNvCxnSpPr>
            <a:cxnSpLocks/>
            <a:endCxn id="41" idx="1"/>
          </p:cNvCxnSpPr>
          <p:nvPr/>
        </p:nvCxnSpPr>
        <p:spPr>
          <a:xfrm rot="16200000" flipH="1">
            <a:off x="154681" y="2342263"/>
            <a:ext cx="743408" cy="394192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CFCD8F8A-1B6F-5F85-9DFA-8D4AF24DFF6E}"/>
              </a:ext>
            </a:extLst>
          </p:cNvPr>
          <p:cNvCxnSpPr>
            <a:cxnSpLocks/>
            <a:endCxn id="50" idx="1"/>
          </p:cNvCxnSpPr>
          <p:nvPr/>
        </p:nvCxnSpPr>
        <p:spPr>
          <a:xfrm rot="16200000" flipH="1">
            <a:off x="100129" y="2805407"/>
            <a:ext cx="852512" cy="394192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189CD709-0D4A-B80C-50D9-2A10117C558B}"/>
              </a:ext>
            </a:extLst>
          </p:cNvPr>
          <p:cNvCxnSpPr>
            <a:cxnSpLocks/>
            <a:endCxn id="38" idx="1"/>
          </p:cNvCxnSpPr>
          <p:nvPr/>
        </p:nvCxnSpPr>
        <p:spPr>
          <a:xfrm rot="16200000" flipH="1">
            <a:off x="300459" y="1974524"/>
            <a:ext cx="451852" cy="394192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2" name="Case 1 Q3">
            <a:extLst>
              <a:ext uri="{FF2B5EF4-FFF2-40B4-BE49-F238E27FC236}">
                <a16:creationId xmlns:a16="http://schemas.microsoft.com/office/drawing/2014/main" id="{F4A8C2EE-C69C-9BD3-CBA0-E823F17864B3}"/>
              </a:ext>
            </a:extLst>
          </p:cNvPr>
          <p:cNvSpPr/>
          <p:nvPr/>
        </p:nvSpPr>
        <p:spPr>
          <a:xfrm>
            <a:off x="7184786" y="4540612"/>
            <a:ext cx="4545733" cy="548640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What medical therapy would you initiate prior to discharge?</a:t>
            </a:r>
          </a:p>
        </p:txBody>
      </p:sp>
      <p:pic>
        <p:nvPicPr>
          <p:cNvPr id="83" name="Graphic 82" descr="Cursor with solid fill">
            <a:extLst>
              <a:ext uri="{FF2B5EF4-FFF2-40B4-BE49-F238E27FC236}">
                <a16:creationId xmlns:a16="http://schemas.microsoft.com/office/drawing/2014/main" id="{E96D0204-B35E-BF4A-B005-CDFCDAAD42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95183" y="4989855"/>
            <a:ext cx="270672" cy="270672"/>
          </a:xfrm>
          <a:prstGeom prst="rect">
            <a:avLst/>
          </a:prstGeom>
        </p:spPr>
      </p:pic>
      <p:sp>
        <p:nvSpPr>
          <p:cNvPr id="84" name="Case 1 Answer 2">
            <a:extLst>
              <a:ext uri="{FF2B5EF4-FFF2-40B4-BE49-F238E27FC236}">
                <a16:creationId xmlns:a16="http://schemas.microsoft.com/office/drawing/2014/main" id="{E70295B1-3077-C1F7-83C1-9AB62CC22D97}"/>
              </a:ext>
            </a:extLst>
          </p:cNvPr>
          <p:cNvSpPr txBox="1"/>
          <p:nvPr/>
        </p:nvSpPr>
        <p:spPr>
          <a:xfrm>
            <a:off x="7214930" y="5172052"/>
            <a:ext cx="454573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/>
              <a:t>Aspirin + ticagrelor (superior P</a:t>
            </a:r>
            <a:r>
              <a:rPr lang="en-US" sz="1400" baseline="-25000" dirty="0"/>
              <a:t>2</a:t>
            </a:r>
            <a:r>
              <a:rPr lang="en-US" sz="1400" dirty="0"/>
              <a:t>Y</a:t>
            </a:r>
            <a:r>
              <a:rPr lang="en-US" sz="1400" baseline="-25000" dirty="0"/>
              <a:t>12</a:t>
            </a:r>
            <a:r>
              <a:rPr lang="en-US" sz="1400" dirty="0"/>
              <a:t xml:space="preserve"> inhibitor in STEMI)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/>
              <a:t>High intensity statin (e.g., rosuvastatin 20 mg)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/>
              <a:t>Beta-blocker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/>
              <a:t>ACE/ARB (for all STEMI)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/>
              <a:t>No indication for MRA (LVEF&gt;40%)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52EF277A-5C68-F252-928B-28456831FC06}"/>
              </a:ext>
            </a:extLst>
          </p:cNvPr>
          <p:cNvCxnSpPr>
            <a:cxnSpLocks/>
          </p:cNvCxnSpPr>
          <p:nvPr/>
        </p:nvCxnSpPr>
        <p:spPr>
          <a:xfrm>
            <a:off x="6979112" y="3902812"/>
            <a:ext cx="0" cy="254935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7" name="Case 1 stem">
            <a:extLst>
              <a:ext uri="{FF2B5EF4-FFF2-40B4-BE49-F238E27FC236}">
                <a16:creationId xmlns:a16="http://schemas.microsoft.com/office/drawing/2014/main" id="{2495511A-F900-0C96-7A1C-EFB91FE5DC90}"/>
              </a:ext>
            </a:extLst>
          </p:cNvPr>
          <p:cNvSpPr txBox="1"/>
          <p:nvPr/>
        </p:nvSpPr>
        <p:spPr>
          <a:xfrm>
            <a:off x="7114448" y="3959809"/>
            <a:ext cx="46739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They undergo PCI with DES to LAD. HR 80, BP 135/90. TTE shows EF of 50%. Labs show Cr 0.9, K 4.0</a:t>
            </a:r>
          </a:p>
        </p:txBody>
      </p:sp>
    </p:spTree>
    <p:extLst>
      <p:ext uri="{BB962C8B-B14F-4D97-AF65-F5344CB8AC3E}">
        <p14:creationId xmlns:p14="http://schemas.microsoft.com/office/powerpoint/2010/main" val="641725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"/>
                  </p:tgtEl>
                </p:cond>
              </p:nextCondLst>
            </p:seq>
          </p:childTnLst>
        </p:cTn>
      </p:par>
    </p:tnLst>
    <p:bldLst>
      <p:bldP spid="23" grpId="0"/>
      <p:bldP spid="24" grpId="0" animBg="1"/>
      <p:bldP spid="26" grpId="0"/>
      <p:bldP spid="47" grpId="0" animBg="1"/>
      <p:bldP spid="49" grpId="0"/>
      <p:bldP spid="82" grpId="1" animBg="1"/>
      <p:bldP spid="84" grpId="0"/>
      <p:bldP spid="87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59">
            <a:hlinkClick r:id="rId3" action="ppaction://hlinksldjump"/>
            <a:extLst>
              <a:ext uri="{FF2B5EF4-FFF2-40B4-BE49-F238E27FC236}">
                <a16:creationId xmlns:a16="http://schemas.microsoft.com/office/drawing/2014/main" id="{31219CF1-55B7-4079-412B-4A9306E50F92}"/>
              </a:ext>
            </a:extLst>
          </p:cNvPr>
          <p:cNvSpPr/>
          <p:nvPr/>
        </p:nvSpPr>
        <p:spPr>
          <a:xfrm>
            <a:off x="181305" y="177215"/>
            <a:ext cx="1384246" cy="36576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Early Tx</a:t>
            </a:r>
          </a:p>
        </p:txBody>
      </p:sp>
      <p:sp>
        <p:nvSpPr>
          <p:cNvPr id="5" name="Rectangle: Rounded Corners 60">
            <a:hlinkClick r:id="rId4" action="ppaction://hlinksldjump"/>
            <a:extLst>
              <a:ext uri="{FF2B5EF4-FFF2-40B4-BE49-F238E27FC236}">
                <a16:creationId xmlns:a16="http://schemas.microsoft.com/office/drawing/2014/main" id="{7D68F172-A2D6-7EA9-AD21-B5EA9CA58C3B}"/>
              </a:ext>
            </a:extLst>
          </p:cNvPr>
          <p:cNvSpPr/>
          <p:nvPr/>
        </p:nvSpPr>
        <p:spPr>
          <a:xfrm>
            <a:off x="181305" y="687997"/>
            <a:ext cx="1410779" cy="36576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PCI</a:t>
            </a:r>
          </a:p>
        </p:txBody>
      </p:sp>
      <p:pic>
        <p:nvPicPr>
          <p:cNvPr id="6" name="Graphic 5" descr="Cursor with solid fill">
            <a:extLst>
              <a:ext uri="{FF2B5EF4-FFF2-40B4-BE49-F238E27FC236}">
                <a16:creationId xmlns:a16="http://schemas.microsoft.com/office/drawing/2014/main" id="{DDD35E2F-06F3-A40B-B994-9CB3A88778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41208" y="918426"/>
            <a:ext cx="301752" cy="301752"/>
          </a:xfrm>
          <a:prstGeom prst="rect">
            <a:avLst/>
          </a:prstGeom>
        </p:spPr>
      </p:pic>
      <p:sp>
        <p:nvSpPr>
          <p:cNvPr id="7" name="Rectangle: Rounded Corners 61">
            <a:hlinkClick r:id="rId7" action="ppaction://hlinksldjump"/>
            <a:extLst>
              <a:ext uri="{FF2B5EF4-FFF2-40B4-BE49-F238E27FC236}">
                <a16:creationId xmlns:a16="http://schemas.microsoft.com/office/drawing/2014/main" id="{ECC685C6-BA8D-02EE-24A1-E44958829855}"/>
              </a:ext>
            </a:extLst>
          </p:cNvPr>
          <p:cNvSpPr/>
          <p:nvPr/>
        </p:nvSpPr>
        <p:spPr>
          <a:xfrm>
            <a:off x="181305" y="1198779"/>
            <a:ext cx="1384809" cy="36576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Late Tx</a:t>
            </a:r>
          </a:p>
        </p:txBody>
      </p:sp>
      <p:pic>
        <p:nvPicPr>
          <p:cNvPr id="8" name="Graphic 7" descr="Cursor with solid fill">
            <a:extLst>
              <a:ext uri="{FF2B5EF4-FFF2-40B4-BE49-F238E27FC236}">
                <a16:creationId xmlns:a16="http://schemas.microsoft.com/office/drawing/2014/main" id="{756A075E-A8DC-A701-87D8-814DBAB616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41208" y="1427132"/>
            <a:ext cx="301752" cy="301752"/>
          </a:xfrm>
          <a:prstGeom prst="rect">
            <a:avLst/>
          </a:prstGeom>
        </p:spPr>
      </p:pic>
      <p:sp>
        <p:nvSpPr>
          <p:cNvPr id="9" name="Rectangle: Rounded Corners 61">
            <a:extLst>
              <a:ext uri="{FF2B5EF4-FFF2-40B4-BE49-F238E27FC236}">
                <a16:creationId xmlns:a16="http://schemas.microsoft.com/office/drawing/2014/main" id="{D9158C58-8CE4-7ECD-471F-AA6B6C808328}"/>
              </a:ext>
            </a:extLst>
          </p:cNvPr>
          <p:cNvSpPr/>
          <p:nvPr/>
        </p:nvSpPr>
        <p:spPr>
          <a:xfrm>
            <a:off x="181305" y="1709561"/>
            <a:ext cx="1384809" cy="365760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Cases</a:t>
            </a:r>
          </a:p>
        </p:txBody>
      </p:sp>
      <p:pic>
        <p:nvPicPr>
          <p:cNvPr id="11" name="Graphic 10" descr="Cursor with solid fill">
            <a:extLst>
              <a:ext uri="{FF2B5EF4-FFF2-40B4-BE49-F238E27FC236}">
                <a16:creationId xmlns:a16="http://schemas.microsoft.com/office/drawing/2014/main" id="{3CF45781-993A-6922-130F-DB35935178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41208" y="400696"/>
            <a:ext cx="301752" cy="301752"/>
          </a:xfrm>
          <a:prstGeom prst="rect">
            <a:avLst/>
          </a:prstGeom>
        </p:spPr>
      </p:pic>
      <p:sp>
        <p:nvSpPr>
          <p:cNvPr id="12" name="Case 1">
            <a:extLst>
              <a:ext uri="{FF2B5EF4-FFF2-40B4-BE49-F238E27FC236}">
                <a16:creationId xmlns:a16="http://schemas.microsoft.com/office/drawing/2014/main" id="{713D720B-F3F8-E66C-32C6-D0FEE8D84013}"/>
              </a:ext>
            </a:extLst>
          </p:cNvPr>
          <p:cNvSpPr/>
          <p:nvPr/>
        </p:nvSpPr>
        <p:spPr>
          <a:xfrm>
            <a:off x="2597002" y="197245"/>
            <a:ext cx="1474237" cy="367979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Case 2</a:t>
            </a:r>
          </a:p>
        </p:txBody>
      </p:sp>
      <p:sp>
        <p:nvSpPr>
          <p:cNvPr id="27" name="Case 2 Q1">
            <a:extLst>
              <a:ext uri="{FF2B5EF4-FFF2-40B4-BE49-F238E27FC236}">
                <a16:creationId xmlns:a16="http://schemas.microsoft.com/office/drawing/2014/main" id="{2EEA143E-4B14-11C1-90D3-74E9CD927569}"/>
              </a:ext>
            </a:extLst>
          </p:cNvPr>
          <p:cNvSpPr/>
          <p:nvPr/>
        </p:nvSpPr>
        <p:spPr>
          <a:xfrm>
            <a:off x="593844" y="3993612"/>
            <a:ext cx="2974049" cy="548640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When should this patient undergo revascularization (if at all?)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28" name="Graphic 27" descr="Cursor with solid fill">
            <a:extLst>
              <a:ext uri="{FF2B5EF4-FFF2-40B4-BE49-F238E27FC236}">
                <a16:creationId xmlns:a16="http://schemas.microsoft.com/office/drawing/2014/main" id="{1C01A3FC-4D16-524B-0BCE-066B51ECEF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47935" y="4372004"/>
            <a:ext cx="270672" cy="270672"/>
          </a:xfrm>
          <a:prstGeom prst="rect">
            <a:avLst/>
          </a:prstGeom>
        </p:spPr>
      </p:pic>
      <p:sp>
        <p:nvSpPr>
          <p:cNvPr id="29" name="Case 2 Q2">
            <a:extLst>
              <a:ext uri="{FF2B5EF4-FFF2-40B4-BE49-F238E27FC236}">
                <a16:creationId xmlns:a16="http://schemas.microsoft.com/office/drawing/2014/main" id="{3EDCB46F-144A-9A5D-AB15-C2644CC6D20C}"/>
              </a:ext>
            </a:extLst>
          </p:cNvPr>
          <p:cNvSpPr/>
          <p:nvPr/>
        </p:nvSpPr>
        <p:spPr>
          <a:xfrm>
            <a:off x="3876782" y="3993612"/>
            <a:ext cx="2974049" cy="548640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What medical therapy would you initiate while awaiting PCI?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30" name="Graphic 29" descr="Cursor with solid fill">
            <a:extLst>
              <a:ext uri="{FF2B5EF4-FFF2-40B4-BE49-F238E27FC236}">
                <a16:creationId xmlns:a16="http://schemas.microsoft.com/office/drawing/2014/main" id="{D7F4418E-3FC6-A30B-4AE6-CEE1A632DE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28114" y="4424094"/>
            <a:ext cx="270672" cy="270672"/>
          </a:xfrm>
          <a:prstGeom prst="rect">
            <a:avLst/>
          </a:prstGeom>
        </p:spPr>
      </p:pic>
      <p:sp>
        <p:nvSpPr>
          <p:cNvPr id="31" name="Case 2 Answer 2">
            <a:extLst>
              <a:ext uri="{FF2B5EF4-FFF2-40B4-BE49-F238E27FC236}">
                <a16:creationId xmlns:a16="http://schemas.microsoft.com/office/drawing/2014/main" id="{2B8AA061-ADDA-BEFF-2F48-4BFAF1AEE49D}"/>
              </a:ext>
            </a:extLst>
          </p:cNvPr>
          <p:cNvSpPr txBox="1"/>
          <p:nvPr/>
        </p:nvSpPr>
        <p:spPr>
          <a:xfrm>
            <a:off x="3855866" y="4642676"/>
            <a:ext cx="301000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/>
              <a:t>Oxygen (hypoxic on room air)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/>
              <a:t>Aspirin 325 mg chewed (or PR)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/>
              <a:t>Heparin drip given planned PCI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/>
              <a:t>Hold on P2Y12 inhibitor in the event of needing a CABG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/>
              <a:t>High intensity statin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9BE662F-C1FF-EF11-7CC9-A7D2C94A41CF}"/>
              </a:ext>
            </a:extLst>
          </p:cNvPr>
          <p:cNvSpPr/>
          <p:nvPr/>
        </p:nvSpPr>
        <p:spPr>
          <a:xfrm>
            <a:off x="1815413" y="623901"/>
            <a:ext cx="2416545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45-year-old with DM type II presents with crushing substernal chest pain. Vitals show HR is 110, BP 82/45, SaO2 82% on room air.</a:t>
            </a:r>
          </a:p>
        </p:txBody>
      </p:sp>
      <p:sp>
        <p:nvSpPr>
          <p:cNvPr id="52" name="Case 1 Answer 2">
            <a:extLst>
              <a:ext uri="{FF2B5EF4-FFF2-40B4-BE49-F238E27FC236}">
                <a16:creationId xmlns:a16="http://schemas.microsoft.com/office/drawing/2014/main" id="{1F65C701-75E1-3EF9-7AEC-E05E120ED5D3}"/>
              </a:ext>
            </a:extLst>
          </p:cNvPr>
          <p:cNvSpPr txBox="1"/>
          <p:nvPr/>
        </p:nvSpPr>
        <p:spPr>
          <a:xfrm>
            <a:off x="630322" y="4597706"/>
            <a:ext cx="293757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400" b="1" dirty="0"/>
              <a:t xml:space="preserve">Immediate/ urgent (&lt;120 min). </a:t>
            </a:r>
            <a:r>
              <a:rPr lang="en-US" sz="1400" dirty="0"/>
              <a:t xml:space="preserve">This is an </a:t>
            </a:r>
            <a:r>
              <a:rPr lang="en-US" sz="1400" b="1" dirty="0"/>
              <a:t>NSTEMI</a:t>
            </a:r>
            <a:r>
              <a:rPr lang="en-US" sz="1400" dirty="0"/>
              <a:t xml:space="preserve"> (ST depressions V2-V4) but has high-risk features (cardiogenic shock, refractory angina since most anti-</a:t>
            </a:r>
            <a:r>
              <a:rPr lang="en-US" sz="1400" dirty="0" err="1"/>
              <a:t>anginals</a:t>
            </a:r>
            <a:r>
              <a:rPr lang="en-US" sz="1400" dirty="0"/>
              <a:t xml:space="preserve"> are contraindicated). </a:t>
            </a:r>
          </a:p>
          <a:p>
            <a:pPr lvl="0" algn="ctr"/>
            <a:r>
              <a:rPr lang="en-US" sz="1400" dirty="0"/>
              <a:t>Other high-risk features that would prompt immediate PCI include ventricular arrhythmias, persistent angina</a:t>
            </a:r>
          </a:p>
        </p:txBody>
      </p:sp>
      <p:sp>
        <p:nvSpPr>
          <p:cNvPr id="53" name="Case 2 Q3">
            <a:extLst>
              <a:ext uri="{FF2B5EF4-FFF2-40B4-BE49-F238E27FC236}">
                <a16:creationId xmlns:a16="http://schemas.microsoft.com/office/drawing/2014/main" id="{FEC265ED-6456-485B-0B47-2581DD2B9BAE}"/>
              </a:ext>
            </a:extLst>
          </p:cNvPr>
          <p:cNvSpPr/>
          <p:nvPr/>
        </p:nvSpPr>
        <p:spPr>
          <a:xfrm>
            <a:off x="7374522" y="4597706"/>
            <a:ext cx="4413916" cy="548640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What medical therapy would you initiate prior to discharge?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54" name="Graphic 53" descr="Cursor with solid fill">
            <a:extLst>
              <a:ext uri="{FF2B5EF4-FFF2-40B4-BE49-F238E27FC236}">
                <a16:creationId xmlns:a16="http://schemas.microsoft.com/office/drawing/2014/main" id="{CAE857F1-25D6-462E-4B46-526AEABA02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53100" y="5037111"/>
            <a:ext cx="270672" cy="270672"/>
          </a:xfrm>
          <a:prstGeom prst="rect">
            <a:avLst/>
          </a:prstGeom>
        </p:spPr>
      </p:pic>
      <p:sp>
        <p:nvSpPr>
          <p:cNvPr id="56" name="Case 2 Answer 2">
            <a:extLst>
              <a:ext uri="{FF2B5EF4-FFF2-40B4-BE49-F238E27FC236}">
                <a16:creationId xmlns:a16="http://schemas.microsoft.com/office/drawing/2014/main" id="{E4C93199-7D69-BB02-9B75-389DB618D0A3}"/>
              </a:ext>
            </a:extLst>
          </p:cNvPr>
          <p:cNvSpPr txBox="1"/>
          <p:nvPr/>
        </p:nvSpPr>
        <p:spPr>
          <a:xfrm>
            <a:off x="7374520" y="5244255"/>
            <a:ext cx="44139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/>
              <a:t>Dual antiplatelet (e.g., aspirin + clopidogrel)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/>
              <a:t xml:space="preserve">Beta-blocker when euvolemic and no longer decompensated 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/>
              <a:t>ACE/ARB (given DM and EF&lt;40%)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/>
              <a:t>MRA (given DM and EF&lt;40%)</a:t>
            </a:r>
          </a:p>
        </p:txBody>
      </p:sp>
      <p:pic>
        <p:nvPicPr>
          <p:cNvPr id="3" name="Graphic 2" descr="Cursor with solid fill">
            <a:extLst>
              <a:ext uri="{FF2B5EF4-FFF2-40B4-BE49-F238E27FC236}">
                <a16:creationId xmlns:a16="http://schemas.microsoft.com/office/drawing/2014/main" id="{0147A6A2-EF84-66EB-23CD-74FBF76167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41208" y="2443019"/>
            <a:ext cx="301752" cy="301752"/>
          </a:xfrm>
          <a:prstGeom prst="rect">
            <a:avLst/>
          </a:prstGeom>
        </p:spPr>
      </p:pic>
      <p:sp>
        <p:nvSpPr>
          <p:cNvPr id="38" name="Rectangle: Rounded Corners 61">
            <a:hlinkClick r:id="rId8" action="ppaction://hlinksldjump"/>
            <a:extLst>
              <a:ext uri="{FF2B5EF4-FFF2-40B4-BE49-F238E27FC236}">
                <a16:creationId xmlns:a16="http://schemas.microsoft.com/office/drawing/2014/main" id="{18F7BD03-3A54-A25F-26EF-AEE02DFEC7E3}"/>
              </a:ext>
            </a:extLst>
          </p:cNvPr>
          <p:cNvSpPr/>
          <p:nvPr/>
        </p:nvSpPr>
        <p:spPr>
          <a:xfrm>
            <a:off x="723481" y="2214666"/>
            <a:ext cx="842633" cy="36576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pic>
        <p:nvPicPr>
          <p:cNvPr id="39" name="Graphic 38" descr="Cursor with solid fill">
            <a:extLst>
              <a:ext uri="{FF2B5EF4-FFF2-40B4-BE49-F238E27FC236}">
                <a16:creationId xmlns:a16="http://schemas.microsoft.com/office/drawing/2014/main" id="{93E4EC3E-3B11-DCE6-4BD5-4E3FB1171D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41208" y="2443019"/>
            <a:ext cx="301752" cy="301752"/>
          </a:xfrm>
          <a:prstGeom prst="rect">
            <a:avLst/>
          </a:prstGeom>
        </p:spPr>
      </p:pic>
      <p:sp>
        <p:nvSpPr>
          <p:cNvPr id="41" name="Rectangle: Rounded Corners 61">
            <a:hlinkClick r:id="rId9" action="ppaction://hlinksldjump"/>
            <a:extLst>
              <a:ext uri="{FF2B5EF4-FFF2-40B4-BE49-F238E27FC236}">
                <a16:creationId xmlns:a16="http://schemas.microsoft.com/office/drawing/2014/main" id="{B2369ECC-F599-55C0-CEFD-3BF32714B1D6}"/>
              </a:ext>
            </a:extLst>
          </p:cNvPr>
          <p:cNvSpPr/>
          <p:nvPr/>
        </p:nvSpPr>
        <p:spPr>
          <a:xfrm>
            <a:off x="723481" y="2728183"/>
            <a:ext cx="842633" cy="365760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50" name="Rectangle: Rounded Corners 61">
            <a:hlinkClick r:id="rId10" action="ppaction://hlinksldjump"/>
            <a:extLst>
              <a:ext uri="{FF2B5EF4-FFF2-40B4-BE49-F238E27FC236}">
                <a16:creationId xmlns:a16="http://schemas.microsoft.com/office/drawing/2014/main" id="{EE62F691-D723-F23B-FDC7-1C71DA05E817}"/>
              </a:ext>
            </a:extLst>
          </p:cNvPr>
          <p:cNvSpPr/>
          <p:nvPr/>
        </p:nvSpPr>
        <p:spPr>
          <a:xfrm>
            <a:off x="723481" y="3245879"/>
            <a:ext cx="842633" cy="36576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pic>
        <p:nvPicPr>
          <p:cNvPr id="51" name="Graphic 50" descr="Cursor with solid fill">
            <a:extLst>
              <a:ext uri="{FF2B5EF4-FFF2-40B4-BE49-F238E27FC236}">
                <a16:creationId xmlns:a16="http://schemas.microsoft.com/office/drawing/2014/main" id="{3E811564-5F6A-1F68-546E-99FFB020A6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20145" y="3490820"/>
            <a:ext cx="301752" cy="301752"/>
          </a:xfrm>
          <a:prstGeom prst="rect">
            <a:avLst/>
          </a:prstGeom>
        </p:spPr>
      </p:pic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554CDBB5-9ACE-A4F9-0D33-645845A8AA4F}"/>
              </a:ext>
            </a:extLst>
          </p:cNvPr>
          <p:cNvCxnSpPr>
            <a:cxnSpLocks/>
            <a:endCxn id="41" idx="1"/>
          </p:cNvCxnSpPr>
          <p:nvPr/>
        </p:nvCxnSpPr>
        <p:spPr>
          <a:xfrm rot="16200000" flipH="1">
            <a:off x="154681" y="2342263"/>
            <a:ext cx="743408" cy="394192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450D792E-184D-E4F0-69CF-4B5B532288EB}"/>
              </a:ext>
            </a:extLst>
          </p:cNvPr>
          <p:cNvCxnSpPr>
            <a:cxnSpLocks/>
            <a:endCxn id="50" idx="1"/>
          </p:cNvCxnSpPr>
          <p:nvPr/>
        </p:nvCxnSpPr>
        <p:spPr>
          <a:xfrm rot="16200000" flipH="1">
            <a:off x="100129" y="2805407"/>
            <a:ext cx="852512" cy="394192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AD332AC9-779D-550B-BED2-099CFDA316C5}"/>
              </a:ext>
            </a:extLst>
          </p:cNvPr>
          <p:cNvCxnSpPr>
            <a:cxnSpLocks/>
            <a:endCxn id="38" idx="1"/>
          </p:cNvCxnSpPr>
          <p:nvPr/>
        </p:nvCxnSpPr>
        <p:spPr>
          <a:xfrm rot="16200000" flipH="1">
            <a:off x="300459" y="1974524"/>
            <a:ext cx="451852" cy="394192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1" name="Picture 60" descr="A graph with lines and letters  Description automatically generated">
            <a:extLst>
              <a:ext uri="{FF2B5EF4-FFF2-40B4-BE49-F238E27FC236}">
                <a16:creationId xmlns:a16="http://schemas.microsoft.com/office/drawing/2014/main" id="{46BD3948-FC9B-DC5B-C32A-DD72F3C7E5C9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20"/>
          <a:stretch/>
        </p:blipFill>
        <p:spPr>
          <a:xfrm>
            <a:off x="4304411" y="708345"/>
            <a:ext cx="7725670" cy="2684186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1458A111-A70C-000E-EDEF-6E4364AEDEA4}"/>
              </a:ext>
            </a:extLst>
          </p:cNvPr>
          <p:cNvSpPr txBox="1"/>
          <p:nvPr/>
        </p:nvSpPr>
        <p:spPr>
          <a:xfrm>
            <a:off x="6013211" y="3395726"/>
            <a:ext cx="609771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 xml:space="preserve">Courtesy of Stephen Smith, MD. </a:t>
            </a:r>
            <a:r>
              <a:rPr lang="en-US" sz="9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hlinkClick r:id="rId12"/>
              </a:rPr>
              <a:t>Dr. Smith’s ECG blog</a:t>
            </a:r>
            <a:r>
              <a:rPr lang="en-US" sz="9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. CC BY-NC 4.0</a:t>
            </a:r>
          </a:p>
        </p:txBody>
      </p:sp>
      <p:sp>
        <p:nvSpPr>
          <p:cNvPr id="64" name="Case 2 Q1">
            <a:extLst>
              <a:ext uri="{FF2B5EF4-FFF2-40B4-BE49-F238E27FC236}">
                <a16:creationId xmlns:a16="http://schemas.microsoft.com/office/drawing/2014/main" id="{8F2D6702-D0FF-2633-E877-855ADBA6F46C}"/>
              </a:ext>
            </a:extLst>
          </p:cNvPr>
          <p:cNvSpPr/>
          <p:nvPr/>
        </p:nvSpPr>
        <p:spPr>
          <a:xfrm>
            <a:off x="1930343" y="1892376"/>
            <a:ext cx="2140896" cy="535946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How would you manage pain?</a:t>
            </a:r>
          </a:p>
        </p:txBody>
      </p:sp>
      <p:pic>
        <p:nvPicPr>
          <p:cNvPr id="65" name="Graphic 64" descr="Cursor with solid fill">
            <a:extLst>
              <a:ext uri="{FF2B5EF4-FFF2-40B4-BE49-F238E27FC236}">
                <a16:creationId xmlns:a16="http://schemas.microsoft.com/office/drawing/2014/main" id="{A058AE78-17CC-C380-0FBF-3B3AE08B7B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52897" y="2314550"/>
            <a:ext cx="270672" cy="270672"/>
          </a:xfrm>
          <a:prstGeom prst="rect">
            <a:avLst/>
          </a:prstGeom>
        </p:spPr>
      </p:pic>
      <p:sp>
        <p:nvSpPr>
          <p:cNvPr id="66" name="Case 1 Answer 2">
            <a:extLst>
              <a:ext uri="{FF2B5EF4-FFF2-40B4-BE49-F238E27FC236}">
                <a16:creationId xmlns:a16="http://schemas.microsoft.com/office/drawing/2014/main" id="{6C4E5625-3453-713B-3055-5826B0749E09}"/>
              </a:ext>
            </a:extLst>
          </p:cNvPr>
          <p:cNvSpPr txBox="1"/>
          <p:nvPr/>
        </p:nvSpPr>
        <p:spPr>
          <a:xfrm>
            <a:off x="1815413" y="2507612"/>
            <a:ext cx="244127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 xml:space="preserve">May consider </a:t>
            </a:r>
            <a:r>
              <a:rPr lang="en-US" sz="1400" b="1" dirty="0" err="1"/>
              <a:t>GPIIb</a:t>
            </a:r>
            <a:r>
              <a:rPr lang="en-US" sz="1400" b="1" dirty="0"/>
              <a:t xml:space="preserve">/IIIa inhibitor (eptifibatide). </a:t>
            </a:r>
            <a:r>
              <a:rPr lang="en-US" sz="1400" dirty="0"/>
              <a:t xml:space="preserve">Nitrates, morphine and beta-blockers are contraindicated with hypotension. 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DF6AF106-B1B3-99D0-7CE0-971A2250C7E4}"/>
              </a:ext>
            </a:extLst>
          </p:cNvPr>
          <p:cNvCxnSpPr>
            <a:cxnSpLocks/>
          </p:cNvCxnSpPr>
          <p:nvPr/>
        </p:nvCxnSpPr>
        <p:spPr>
          <a:xfrm>
            <a:off x="7112676" y="3918426"/>
            <a:ext cx="0" cy="254935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8" name="Case 1 stem">
            <a:extLst>
              <a:ext uri="{FF2B5EF4-FFF2-40B4-BE49-F238E27FC236}">
                <a16:creationId xmlns:a16="http://schemas.microsoft.com/office/drawing/2014/main" id="{2D2BD1FB-642F-7374-E188-3119C162B778}"/>
              </a:ext>
            </a:extLst>
          </p:cNvPr>
          <p:cNvSpPr txBox="1"/>
          <p:nvPr/>
        </p:nvSpPr>
        <p:spPr>
          <a:xfrm>
            <a:off x="7260631" y="3959809"/>
            <a:ext cx="4527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They undergo PCI with DES to proximal LAD. VS are now HR 80, BP 135/90. TTE shows EF of 28%. Labs show Cr 0.9, K 4.0</a:t>
            </a:r>
          </a:p>
        </p:txBody>
      </p:sp>
    </p:spTree>
    <p:extLst>
      <p:ext uri="{BB962C8B-B14F-4D97-AF65-F5344CB8AC3E}">
        <p14:creationId xmlns:p14="http://schemas.microsoft.com/office/powerpoint/2010/main" val="1594487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4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</p:childTnLst>
        </p:cTn>
      </p:par>
    </p:tnLst>
    <p:bldLst>
      <p:bldP spid="27" grpId="0" animBg="1"/>
      <p:bldP spid="29" grpId="0" animBg="1"/>
      <p:bldP spid="31" grpId="0"/>
      <p:bldP spid="52" grpId="0"/>
      <p:bldP spid="53" grpId="0" animBg="1"/>
      <p:bldP spid="56" grpId="0"/>
      <p:bldP spid="66" grpId="0"/>
      <p:bldP spid="6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59">
            <a:hlinkClick r:id="rId3" action="ppaction://hlinksldjump"/>
            <a:extLst>
              <a:ext uri="{FF2B5EF4-FFF2-40B4-BE49-F238E27FC236}">
                <a16:creationId xmlns:a16="http://schemas.microsoft.com/office/drawing/2014/main" id="{31219CF1-55B7-4079-412B-4A9306E50F92}"/>
              </a:ext>
            </a:extLst>
          </p:cNvPr>
          <p:cNvSpPr/>
          <p:nvPr/>
        </p:nvSpPr>
        <p:spPr>
          <a:xfrm>
            <a:off x="181305" y="177215"/>
            <a:ext cx="1384246" cy="36576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Early Tx</a:t>
            </a:r>
          </a:p>
        </p:txBody>
      </p:sp>
      <p:sp>
        <p:nvSpPr>
          <p:cNvPr id="5" name="Rectangle: Rounded Corners 60">
            <a:hlinkClick r:id="rId4" action="ppaction://hlinksldjump"/>
            <a:extLst>
              <a:ext uri="{FF2B5EF4-FFF2-40B4-BE49-F238E27FC236}">
                <a16:creationId xmlns:a16="http://schemas.microsoft.com/office/drawing/2014/main" id="{7D68F172-A2D6-7EA9-AD21-B5EA9CA58C3B}"/>
              </a:ext>
            </a:extLst>
          </p:cNvPr>
          <p:cNvSpPr/>
          <p:nvPr/>
        </p:nvSpPr>
        <p:spPr>
          <a:xfrm>
            <a:off x="181305" y="687997"/>
            <a:ext cx="1410779" cy="36576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PCI</a:t>
            </a:r>
          </a:p>
        </p:txBody>
      </p:sp>
      <p:pic>
        <p:nvPicPr>
          <p:cNvPr id="6" name="Graphic 5" descr="Cursor with solid fill">
            <a:extLst>
              <a:ext uri="{FF2B5EF4-FFF2-40B4-BE49-F238E27FC236}">
                <a16:creationId xmlns:a16="http://schemas.microsoft.com/office/drawing/2014/main" id="{DDD35E2F-06F3-A40B-B994-9CB3A88778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41208" y="918426"/>
            <a:ext cx="301752" cy="301752"/>
          </a:xfrm>
          <a:prstGeom prst="rect">
            <a:avLst/>
          </a:prstGeom>
        </p:spPr>
      </p:pic>
      <p:sp>
        <p:nvSpPr>
          <p:cNvPr id="7" name="Rectangle: Rounded Corners 61">
            <a:hlinkClick r:id="rId7" action="ppaction://hlinksldjump"/>
            <a:extLst>
              <a:ext uri="{FF2B5EF4-FFF2-40B4-BE49-F238E27FC236}">
                <a16:creationId xmlns:a16="http://schemas.microsoft.com/office/drawing/2014/main" id="{ECC685C6-BA8D-02EE-24A1-E44958829855}"/>
              </a:ext>
            </a:extLst>
          </p:cNvPr>
          <p:cNvSpPr/>
          <p:nvPr/>
        </p:nvSpPr>
        <p:spPr>
          <a:xfrm>
            <a:off x="181305" y="1198779"/>
            <a:ext cx="1384809" cy="36576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Late Tx</a:t>
            </a:r>
          </a:p>
        </p:txBody>
      </p:sp>
      <p:pic>
        <p:nvPicPr>
          <p:cNvPr id="8" name="Graphic 7" descr="Cursor with solid fill">
            <a:extLst>
              <a:ext uri="{FF2B5EF4-FFF2-40B4-BE49-F238E27FC236}">
                <a16:creationId xmlns:a16="http://schemas.microsoft.com/office/drawing/2014/main" id="{756A075E-A8DC-A701-87D8-814DBAB616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41208" y="1427132"/>
            <a:ext cx="301752" cy="301752"/>
          </a:xfrm>
          <a:prstGeom prst="rect">
            <a:avLst/>
          </a:prstGeom>
        </p:spPr>
      </p:pic>
      <p:sp>
        <p:nvSpPr>
          <p:cNvPr id="9" name="Rectangle: Rounded Corners 61">
            <a:extLst>
              <a:ext uri="{FF2B5EF4-FFF2-40B4-BE49-F238E27FC236}">
                <a16:creationId xmlns:a16="http://schemas.microsoft.com/office/drawing/2014/main" id="{D9158C58-8CE4-7ECD-471F-AA6B6C808328}"/>
              </a:ext>
            </a:extLst>
          </p:cNvPr>
          <p:cNvSpPr/>
          <p:nvPr/>
        </p:nvSpPr>
        <p:spPr>
          <a:xfrm>
            <a:off x="181305" y="1709561"/>
            <a:ext cx="1384809" cy="365760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Cases</a:t>
            </a:r>
          </a:p>
        </p:txBody>
      </p:sp>
      <p:pic>
        <p:nvPicPr>
          <p:cNvPr id="11" name="Graphic 10" descr="Cursor with solid fill">
            <a:extLst>
              <a:ext uri="{FF2B5EF4-FFF2-40B4-BE49-F238E27FC236}">
                <a16:creationId xmlns:a16="http://schemas.microsoft.com/office/drawing/2014/main" id="{3CF45781-993A-6922-130F-DB35935178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41208" y="400696"/>
            <a:ext cx="301752" cy="301752"/>
          </a:xfrm>
          <a:prstGeom prst="rect">
            <a:avLst/>
          </a:prstGeom>
        </p:spPr>
      </p:pic>
      <p:sp>
        <p:nvSpPr>
          <p:cNvPr id="12" name="Case 1">
            <a:extLst>
              <a:ext uri="{FF2B5EF4-FFF2-40B4-BE49-F238E27FC236}">
                <a16:creationId xmlns:a16="http://schemas.microsoft.com/office/drawing/2014/main" id="{713D720B-F3F8-E66C-32C6-D0FEE8D84013}"/>
              </a:ext>
            </a:extLst>
          </p:cNvPr>
          <p:cNvSpPr/>
          <p:nvPr/>
        </p:nvSpPr>
        <p:spPr>
          <a:xfrm>
            <a:off x="2597002" y="197245"/>
            <a:ext cx="1474237" cy="367979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Case 3</a:t>
            </a:r>
          </a:p>
        </p:txBody>
      </p:sp>
      <p:sp>
        <p:nvSpPr>
          <p:cNvPr id="20" name="Case 1 stem">
            <a:extLst>
              <a:ext uri="{FF2B5EF4-FFF2-40B4-BE49-F238E27FC236}">
                <a16:creationId xmlns:a16="http://schemas.microsoft.com/office/drawing/2014/main" id="{BA8E205B-B1CE-F6A3-6B50-E7E3E3810CB5}"/>
              </a:ext>
            </a:extLst>
          </p:cNvPr>
          <p:cNvSpPr txBox="1"/>
          <p:nvPr/>
        </p:nvSpPr>
        <p:spPr>
          <a:xfrm>
            <a:off x="1777844" y="622061"/>
            <a:ext cx="431815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 xml:space="preserve">41-year-old with PMHx of anxiety with one episode of chest pain. Vital signs show HR 85, BP 145/85, SaO2 94% on room air. </a:t>
            </a:r>
          </a:p>
          <a:p>
            <a:endParaRPr lang="en-US" sz="600" dirty="0"/>
          </a:p>
          <a:p>
            <a:r>
              <a:rPr lang="en-US" sz="1400" dirty="0"/>
              <a:t xml:space="preserve">ECG: T-wave inversions in precordial leads. </a:t>
            </a:r>
          </a:p>
          <a:p>
            <a:endParaRPr lang="en-US" sz="600" dirty="0"/>
          </a:p>
          <a:p>
            <a:r>
              <a:rPr lang="en-US" sz="1400" dirty="0"/>
              <a:t xml:space="preserve">Labs: </a:t>
            </a:r>
            <a:r>
              <a:rPr lang="en-US" sz="1400" dirty="0" err="1"/>
              <a:t>hs</a:t>
            </a:r>
            <a:r>
              <a:rPr lang="en-US" sz="1400" dirty="0"/>
              <a:t xml:space="preserve">-troponin I is 25 </a:t>
            </a:r>
            <a:r>
              <a:rPr lang="el-GR" sz="1400" dirty="0"/>
              <a:t>n</a:t>
            </a:r>
            <a:r>
              <a:rPr lang="en-US" sz="1400" dirty="0"/>
              <a:t xml:space="preserve">g/L → 110 </a:t>
            </a:r>
            <a:r>
              <a:rPr lang="el-GR" sz="1400" dirty="0"/>
              <a:t>n</a:t>
            </a:r>
            <a:r>
              <a:rPr lang="en-US" sz="1400" dirty="0"/>
              <a:t xml:space="preserve">g/L (H) → 15 </a:t>
            </a:r>
            <a:r>
              <a:rPr lang="el-GR" sz="1400" dirty="0"/>
              <a:t>n</a:t>
            </a:r>
            <a:r>
              <a:rPr lang="en-US" sz="1400" dirty="0"/>
              <a:t>g/L.</a:t>
            </a:r>
            <a:endParaRPr lang="en-US" sz="1500" dirty="0"/>
          </a:p>
        </p:txBody>
      </p:sp>
      <p:sp>
        <p:nvSpPr>
          <p:cNvPr id="21" name="Case 1 Q1">
            <a:extLst>
              <a:ext uri="{FF2B5EF4-FFF2-40B4-BE49-F238E27FC236}">
                <a16:creationId xmlns:a16="http://schemas.microsoft.com/office/drawing/2014/main" id="{792EF8A4-44E5-7168-F33D-48024071FEAD}"/>
              </a:ext>
            </a:extLst>
          </p:cNvPr>
          <p:cNvSpPr/>
          <p:nvPr/>
        </p:nvSpPr>
        <p:spPr>
          <a:xfrm>
            <a:off x="1899418" y="2260139"/>
            <a:ext cx="3998454" cy="365760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What is your diagnosis?</a:t>
            </a:r>
          </a:p>
        </p:txBody>
      </p:sp>
      <p:pic>
        <p:nvPicPr>
          <p:cNvPr id="22" name="Graphic 21" descr="Cursor with solid fill">
            <a:extLst>
              <a:ext uri="{FF2B5EF4-FFF2-40B4-BE49-F238E27FC236}">
                <a16:creationId xmlns:a16="http://schemas.microsoft.com/office/drawing/2014/main" id="{036F9E17-EE60-4DE6-7C75-A43A33BB8C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80365" y="2521969"/>
            <a:ext cx="270672" cy="270672"/>
          </a:xfrm>
          <a:prstGeom prst="rect">
            <a:avLst/>
          </a:prstGeom>
        </p:spPr>
      </p:pic>
      <p:sp>
        <p:nvSpPr>
          <p:cNvPr id="23" name="Case 1 Answer 1">
            <a:extLst>
              <a:ext uri="{FF2B5EF4-FFF2-40B4-BE49-F238E27FC236}">
                <a16:creationId xmlns:a16="http://schemas.microsoft.com/office/drawing/2014/main" id="{E3760252-C3C6-9C2F-7867-1BDA59069308}"/>
              </a:ext>
            </a:extLst>
          </p:cNvPr>
          <p:cNvSpPr txBox="1"/>
          <p:nvPr/>
        </p:nvSpPr>
        <p:spPr>
          <a:xfrm>
            <a:off x="1899418" y="2696607"/>
            <a:ext cx="39984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 xml:space="preserve">NSTEMI. </a:t>
            </a:r>
            <a:r>
              <a:rPr lang="en-US" sz="1400" dirty="0"/>
              <a:t xml:space="preserve">This meets criteria with elevated troponin + chest pain + ECG change. </a:t>
            </a:r>
            <a:endParaRPr lang="en-US" sz="1400" b="1" dirty="0"/>
          </a:p>
        </p:txBody>
      </p:sp>
      <p:pic>
        <p:nvPicPr>
          <p:cNvPr id="2" name="Graphic 1" descr="Cursor with solid fill">
            <a:extLst>
              <a:ext uri="{FF2B5EF4-FFF2-40B4-BE49-F238E27FC236}">
                <a16:creationId xmlns:a16="http://schemas.microsoft.com/office/drawing/2014/main" id="{547543F1-7504-FFEE-A444-B552444E15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41208" y="2443019"/>
            <a:ext cx="301752" cy="301752"/>
          </a:xfrm>
          <a:prstGeom prst="rect">
            <a:avLst/>
          </a:prstGeom>
        </p:spPr>
      </p:pic>
      <p:sp>
        <p:nvSpPr>
          <p:cNvPr id="3" name="Rectangle: Rounded Corners 61">
            <a:hlinkClick r:id="rId8" action="ppaction://hlinksldjump"/>
            <a:extLst>
              <a:ext uri="{FF2B5EF4-FFF2-40B4-BE49-F238E27FC236}">
                <a16:creationId xmlns:a16="http://schemas.microsoft.com/office/drawing/2014/main" id="{4A400DE1-A2DF-BC5E-1F0A-3E40761BE401}"/>
              </a:ext>
            </a:extLst>
          </p:cNvPr>
          <p:cNvSpPr/>
          <p:nvPr/>
        </p:nvSpPr>
        <p:spPr>
          <a:xfrm>
            <a:off x="723481" y="2214666"/>
            <a:ext cx="842633" cy="36576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pic>
        <p:nvPicPr>
          <p:cNvPr id="10" name="Graphic 9" descr="Cursor with solid fill">
            <a:extLst>
              <a:ext uri="{FF2B5EF4-FFF2-40B4-BE49-F238E27FC236}">
                <a16:creationId xmlns:a16="http://schemas.microsoft.com/office/drawing/2014/main" id="{BDDE8C1F-CFBA-DABF-5A22-D30A3E20F8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41208" y="2443019"/>
            <a:ext cx="301752" cy="301752"/>
          </a:xfrm>
          <a:prstGeom prst="rect">
            <a:avLst/>
          </a:prstGeom>
        </p:spPr>
      </p:pic>
      <p:sp>
        <p:nvSpPr>
          <p:cNvPr id="38" name="Rectangle: Rounded Corners 61">
            <a:hlinkClick r:id="rId9" action="ppaction://hlinksldjump"/>
            <a:extLst>
              <a:ext uri="{FF2B5EF4-FFF2-40B4-BE49-F238E27FC236}">
                <a16:creationId xmlns:a16="http://schemas.microsoft.com/office/drawing/2014/main" id="{911E0CAE-A511-76D1-2D86-CACBE90A579E}"/>
              </a:ext>
            </a:extLst>
          </p:cNvPr>
          <p:cNvSpPr/>
          <p:nvPr/>
        </p:nvSpPr>
        <p:spPr>
          <a:xfrm>
            <a:off x="723481" y="2728183"/>
            <a:ext cx="842633" cy="36576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pic>
        <p:nvPicPr>
          <p:cNvPr id="39" name="Graphic 38" descr="Cursor with solid fill">
            <a:extLst>
              <a:ext uri="{FF2B5EF4-FFF2-40B4-BE49-F238E27FC236}">
                <a16:creationId xmlns:a16="http://schemas.microsoft.com/office/drawing/2014/main" id="{776E99EE-755E-E8C6-C6F3-3FA429C0A2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32014" y="2973124"/>
            <a:ext cx="301752" cy="301752"/>
          </a:xfrm>
          <a:prstGeom prst="rect">
            <a:avLst/>
          </a:prstGeom>
        </p:spPr>
      </p:pic>
      <p:sp>
        <p:nvSpPr>
          <p:cNvPr id="41" name="Rectangle: Rounded Corners 61">
            <a:hlinkClick r:id="rId10" action="ppaction://hlinksldjump"/>
            <a:extLst>
              <a:ext uri="{FF2B5EF4-FFF2-40B4-BE49-F238E27FC236}">
                <a16:creationId xmlns:a16="http://schemas.microsoft.com/office/drawing/2014/main" id="{239160EF-D205-9B01-9077-0D880E7027D7}"/>
              </a:ext>
            </a:extLst>
          </p:cNvPr>
          <p:cNvSpPr/>
          <p:nvPr/>
        </p:nvSpPr>
        <p:spPr>
          <a:xfrm>
            <a:off x="723481" y="3245879"/>
            <a:ext cx="842633" cy="365760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EFB901F9-F938-123D-E061-D03E419838A3}"/>
              </a:ext>
            </a:extLst>
          </p:cNvPr>
          <p:cNvCxnSpPr>
            <a:cxnSpLocks/>
            <a:endCxn id="38" idx="1"/>
          </p:cNvCxnSpPr>
          <p:nvPr/>
        </p:nvCxnSpPr>
        <p:spPr>
          <a:xfrm rot="16200000" flipH="1">
            <a:off x="154681" y="2342263"/>
            <a:ext cx="743408" cy="394192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7DB6493E-73A1-C3AB-82D1-7E8AB3A0F86A}"/>
              </a:ext>
            </a:extLst>
          </p:cNvPr>
          <p:cNvCxnSpPr>
            <a:cxnSpLocks/>
            <a:endCxn id="41" idx="1"/>
          </p:cNvCxnSpPr>
          <p:nvPr/>
        </p:nvCxnSpPr>
        <p:spPr>
          <a:xfrm rot="16200000" flipH="1">
            <a:off x="100129" y="2805407"/>
            <a:ext cx="852512" cy="394192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F250934E-3480-3FBA-0CD3-9A75BE0B8B0A}"/>
              </a:ext>
            </a:extLst>
          </p:cNvPr>
          <p:cNvCxnSpPr>
            <a:cxnSpLocks/>
            <a:endCxn id="3" idx="1"/>
          </p:cNvCxnSpPr>
          <p:nvPr/>
        </p:nvCxnSpPr>
        <p:spPr>
          <a:xfrm rot="16200000" flipH="1">
            <a:off x="300459" y="1974524"/>
            <a:ext cx="451852" cy="394192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C65541C-5A47-53FA-DB60-9BD360E79C36}"/>
              </a:ext>
            </a:extLst>
          </p:cNvPr>
          <p:cNvCxnSpPr>
            <a:cxnSpLocks/>
          </p:cNvCxnSpPr>
          <p:nvPr/>
        </p:nvCxnSpPr>
        <p:spPr>
          <a:xfrm flipH="1">
            <a:off x="6294129" y="687997"/>
            <a:ext cx="7315" cy="581023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0" name="Case 1 Q1">
            <a:extLst>
              <a:ext uri="{FF2B5EF4-FFF2-40B4-BE49-F238E27FC236}">
                <a16:creationId xmlns:a16="http://schemas.microsoft.com/office/drawing/2014/main" id="{F4F621DA-3E4F-AEAB-AEE4-12A9F252DBB7}"/>
              </a:ext>
            </a:extLst>
          </p:cNvPr>
          <p:cNvSpPr/>
          <p:nvPr/>
        </p:nvSpPr>
        <p:spPr>
          <a:xfrm>
            <a:off x="1899418" y="3306340"/>
            <a:ext cx="3998454" cy="365760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How would you estimate their mortality risk?</a:t>
            </a:r>
          </a:p>
        </p:txBody>
      </p:sp>
      <p:pic>
        <p:nvPicPr>
          <p:cNvPr id="61" name="Graphic 60" descr="Cursor with solid fill">
            <a:extLst>
              <a:ext uri="{FF2B5EF4-FFF2-40B4-BE49-F238E27FC236}">
                <a16:creationId xmlns:a16="http://schemas.microsoft.com/office/drawing/2014/main" id="{86081CC1-E499-9F15-EB4A-7C0B3BFB0D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80365" y="3568170"/>
            <a:ext cx="270672" cy="270672"/>
          </a:xfrm>
          <a:prstGeom prst="rect">
            <a:avLst/>
          </a:prstGeom>
        </p:spPr>
      </p:pic>
      <p:sp>
        <p:nvSpPr>
          <p:cNvPr id="62" name="Case 1 Answer 1">
            <a:extLst>
              <a:ext uri="{FF2B5EF4-FFF2-40B4-BE49-F238E27FC236}">
                <a16:creationId xmlns:a16="http://schemas.microsoft.com/office/drawing/2014/main" id="{CA8BEE80-9FEE-14CB-7961-3EE30F1D9DA5}"/>
              </a:ext>
            </a:extLst>
          </p:cNvPr>
          <p:cNvSpPr txBox="1"/>
          <p:nvPr/>
        </p:nvSpPr>
        <p:spPr>
          <a:xfrm>
            <a:off x="1948707" y="3713780"/>
            <a:ext cx="399845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 xml:space="preserve">Very low risk. </a:t>
            </a:r>
            <a:r>
              <a:rPr lang="en-US" sz="1400" dirty="0"/>
              <a:t xml:space="preserve">GRACE and TIMI score can be used to risk stratify patients with NSTEMI. </a:t>
            </a:r>
          </a:p>
          <a:p>
            <a:pPr algn="ctr"/>
            <a:r>
              <a:rPr lang="en-US" sz="1400" dirty="0"/>
              <a:t xml:space="preserve">GRACE score is 53 → 0.8% probability of death in 6 months. TIMI score is 1 → 5% all cause mortality at 14 days.  </a:t>
            </a:r>
          </a:p>
        </p:txBody>
      </p:sp>
      <p:sp>
        <p:nvSpPr>
          <p:cNvPr id="63" name="Case 1 Q1">
            <a:extLst>
              <a:ext uri="{FF2B5EF4-FFF2-40B4-BE49-F238E27FC236}">
                <a16:creationId xmlns:a16="http://schemas.microsoft.com/office/drawing/2014/main" id="{E410DC28-3950-79CD-B433-0EBC9F358B21}"/>
              </a:ext>
            </a:extLst>
          </p:cNvPr>
          <p:cNvSpPr/>
          <p:nvPr/>
        </p:nvSpPr>
        <p:spPr>
          <a:xfrm>
            <a:off x="1899418" y="4957241"/>
            <a:ext cx="3998454" cy="365760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What revascularization strategy would you choose?</a:t>
            </a:r>
          </a:p>
        </p:txBody>
      </p:sp>
      <p:pic>
        <p:nvPicPr>
          <p:cNvPr id="64" name="Graphic 63" descr="Cursor with solid fill">
            <a:extLst>
              <a:ext uri="{FF2B5EF4-FFF2-40B4-BE49-F238E27FC236}">
                <a16:creationId xmlns:a16="http://schemas.microsoft.com/office/drawing/2014/main" id="{65676DA9-55FC-B8E3-B2C9-6ACA56527A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80365" y="5219071"/>
            <a:ext cx="270672" cy="270672"/>
          </a:xfrm>
          <a:prstGeom prst="rect">
            <a:avLst/>
          </a:prstGeom>
        </p:spPr>
      </p:pic>
      <p:sp>
        <p:nvSpPr>
          <p:cNvPr id="65" name="Case 1 Answer 1">
            <a:extLst>
              <a:ext uri="{FF2B5EF4-FFF2-40B4-BE49-F238E27FC236}">
                <a16:creationId xmlns:a16="http://schemas.microsoft.com/office/drawing/2014/main" id="{2056E08E-15FA-E7BA-B001-1845841AFAC8}"/>
              </a:ext>
            </a:extLst>
          </p:cNvPr>
          <p:cNvSpPr txBox="1"/>
          <p:nvPr/>
        </p:nvSpPr>
        <p:spPr>
          <a:xfrm>
            <a:off x="1948707" y="5364681"/>
            <a:ext cx="39984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 xml:space="preserve">Very low risk patients can be managed with an ischemia guided strategy. This includes a stress test and medical management, especially considered when patient preference.   </a:t>
            </a:r>
          </a:p>
        </p:txBody>
      </p:sp>
      <p:sp>
        <p:nvSpPr>
          <p:cNvPr id="66" name="Case 1 Q1">
            <a:extLst>
              <a:ext uri="{FF2B5EF4-FFF2-40B4-BE49-F238E27FC236}">
                <a16:creationId xmlns:a16="http://schemas.microsoft.com/office/drawing/2014/main" id="{813AAA29-D8FD-7443-43ED-88E07FF9B599}"/>
              </a:ext>
            </a:extLst>
          </p:cNvPr>
          <p:cNvSpPr/>
          <p:nvPr/>
        </p:nvSpPr>
        <p:spPr>
          <a:xfrm>
            <a:off x="6599172" y="702448"/>
            <a:ext cx="5258287" cy="365760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While awaiting stress test, what therapy would you initiate?</a:t>
            </a:r>
          </a:p>
        </p:txBody>
      </p:sp>
      <p:pic>
        <p:nvPicPr>
          <p:cNvPr id="67" name="Graphic 66" descr="Cursor with solid fill">
            <a:extLst>
              <a:ext uri="{FF2B5EF4-FFF2-40B4-BE49-F238E27FC236}">
                <a16:creationId xmlns:a16="http://schemas.microsoft.com/office/drawing/2014/main" id="{6BE874D5-F5C2-55E2-CAA5-84E74C3C4B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722123" y="974552"/>
            <a:ext cx="270672" cy="270672"/>
          </a:xfrm>
          <a:prstGeom prst="rect">
            <a:avLst/>
          </a:prstGeom>
        </p:spPr>
      </p:pic>
      <p:sp>
        <p:nvSpPr>
          <p:cNvPr id="68" name="Case 1 Answer 1">
            <a:extLst>
              <a:ext uri="{FF2B5EF4-FFF2-40B4-BE49-F238E27FC236}">
                <a16:creationId xmlns:a16="http://schemas.microsoft.com/office/drawing/2014/main" id="{75E0CE4A-4C67-50E7-9FD9-CB33EA1A1312}"/>
              </a:ext>
            </a:extLst>
          </p:cNvPr>
          <p:cNvSpPr txBox="1"/>
          <p:nvPr/>
        </p:nvSpPr>
        <p:spPr>
          <a:xfrm>
            <a:off x="6648461" y="1109888"/>
            <a:ext cx="520168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/>
              <a:t>Aspirin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 err="1"/>
              <a:t>Lovenox</a:t>
            </a:r>
            <a:r>
              <a:rPr lang="en-US" sz="1400" dirty="0"/>
              <a:t xml:space="preserve"> (superior to heparin in medical management)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/>
              <a:t>High intensity statin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/>
              <a:t>Beta blocker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/>
              <a:t>Nitro PRN chest pain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/>
              <a:t>P</a:t>
            </a:r>
            <a:r>
              <a:rPr lang="en-US" sz="1400" baseline="-25000" dirty="0"/>
              <a:t>2</a:t>
            </a:r>
            <a:r>
              <a:rPr lang="en-US" sz="1400" dirty="0"/>
              <a:t>Y</a:t>
            </a:r>
            <a:r>
              <a:rPr lang="en-US" sz="1400" baseline="-25000" dirty="0"/>
              <a:t>12</a:t>
            </a:r>
            <a:r>
              <a:rPr lang="en-US" sz="1400" dirty="0"/>
              <a:t xml:space="preserve"> inhibitor can be held prior to knowing coronary anatomy</a:t>
            </a:r>
          </a:p>
        </p:txBody>
      </p:sp>
      <p:sp>
        <p:nvSpPr>
          <p:cNvPr id="69" name="Case 1 Q1">
            <a:extLst>
              <a:ext uri="{FF2B5EF4-FFF2-40B4-BE49-F238E27FC236}">
                <a16:creationId xmlns:a16="http://schemas.microsoft.com/office/drawing/2014/main" id="{4D4EAC12-1791-5D31-9101-EA10D1D746A9}"/>
              </a:ext>
            </a:extLst>
          </p:cNvPr>
          <p:cNvSpPr/>
          <p:nvPr/>
        </p:nvSpPr>
        <p:spPr>
          <a:xfrm>
            <a:off x="6599172" y="3307940"/>
            <a:ext cx="5258287" cy="365760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What is your next step in management?</a:t>
            </a:r>
          </a:p>
        </p:txBody>
      </p:sp>
      <p:pic>
        <p:nvPicPr>
          <p:cNvPr id="70" name="Graphic 69" descr="Cursor with solid fill">
            <a:extLst>
              <a:ext uri="{FF2B5EF4-FFF2-40B4-BE49-F238E27FC236}">
                <a16:creationId xmlns:a16="http://schemas.microsoft.com/office/drawing/2014/main" id="{64F7B7A5-E1C4-9826-04E8-B284574071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722123" y="3580044"/>
            <a:ext cx="270672" cy="270672"/>
          </a:xfrm>
          <a:prstGeom prst="rect">
            <a:avLst/>
          </a:prstGeom>
        </p:spPr>
      </p:pic>
      <p:sp>
        <p:nvSpPr>
          <p:cNvPr id="71" name="Case 1 Answer 1">
            <a:extLst>
              <a:ext uri="{FF2B5EF4-FFF2-40B4-BE49-F238E27FC236}">
                <a16:creationId xmlns:a16="http://schemas.microsoft.com/office/drawing/2014/main" id="{D61A8DF3-946E-AF00-4C4C-B87F3A2588C5}"/>
              </a:ext>
            </a:extLst>
          </p:cNvPr>
          <p:cNvSpPr txBox="1"/>
          <p:nvPr/>
        </p:nvSpPr>
        <p:spPr>
          <a:xfrm>
            <a:off x="6648461" y="3757169"/>
            <a:ext cx="52016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PCI</a:t>
            </a:r>
            <a:r>
              <a:rPr lang="en-US" sz="1400" dirty="0"/>
              <a:t xml:space="preserve"> followed by medical management of NSTEMI. </a:t>
            </a:r>
          </a:p>
        </p:txBody>
      </p:sp>
      <p:sp>
        <p:nvSpPr>
          <p:cNvPr id="78" name="Case 1 stem">
            <a:extLst>
              <a:ext uri="{FF2B5EF4-FFF2-40B4-BE49-F238E27FC236}">
                <a16:creationId xmlns:a16="http://schemas.microsoft.com/office/drawing/2014/main" id="{A89B0C98-4D1A-2202-E7DD-1E455EFD6A95}"/>
              </a:ext>
            </a:extLst>
          </p:cNvPr>
          <p:cNvSpPr txBox="1"/>
          <p:nvPr/>
        </p:nvSpPr>
        <p:spPr>
          <a:xfrm>
            <a:off x="6544536" y="2728183"/>
            <a:ext cx="53275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 xml:space="preserve">A treadmill stress test (TTE) showed inducible wall motion abnormalities concerning for ischemia. TTE showed LVEF of 45%. </a:t>
            </a:r>
          </a:p>
        </p:txBody>
      </p:sp>
    </p:spTree>
    <p:extLst>
      <p:ext uri="{BB962C8B-B14F-4D97-AF65-F5344CB8AC3E}">
        <p14:creationId xmlns:p14="http://schemas.microsoft.com/office/powerpoint/2010/main" val="3754938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"/>
                  </p:tgtEl>
                </p:cond>
              </p:nextCondLst>
            </p:seq>
          </p:childTnLst>
        </p:cTn>
      </p:par>
    </p:tnLst>
    <p:bldLst>
      <p:bldP spid="23" grpId="0"/>
      <p:bldP spid="62" grpId="0"/>
      <p:bldP spid="65" grpId="0"/>
      <p:bldP spid="66" grpId="0" animBg="1"/>
      <p:bldP spid="68" grpId="0"/>
      <p:bldP spid="69" grpId="0" animBg="1"/>
      <p:bldP spid="71" grpId="0"/>
      <p:bldP spid="78" grpId="0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2025 ACC/AHA ACS Guideline — What Changed Since This Talk (Oct 2023)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0000"/>
            <a:ext cx="11277600" cy="5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300" b="1">
                <a:solidFill>
                  <a:srgbClr val="B4530A"/>
                </a:solidFill>
                <a:latin typeface="Calibri"/>
              </a:rPr>
              <a:t>Antiplatelet therapy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2433"/>
                </a:solidFill>
                <a:latin typeface="Calibri"/>
              </a:rPr>
              <a:t>• Ticagrelor OR prasugrel preferred over clopidogrel in STEMI &amp; NSTE-ACS undergoing PCI (Class 1); clopidogrel if contraindicated/unavailable.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2433"/>
                </a:solidFill>
                <a:latin typeface="Calibri"/>
              </a:rPr>
              <a:t>• DAPT ≥12 mo default if not high bleeding risk. To cut bleeding: PPI if GI-bleed risk; ticagrelor monotherapy ≥1 mo post-PCI if DAPT tolerated; if long-term OAC needed, stop aspirin 1–4 wk post-PCI, continue P2Y12 (pref. clopidogrel).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B4530A"/>
                </a:solidFill>
                <a:latin typeface="Calibri"/>
              </a:rPr>
              <a:t>Lipids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2433"/>
                </a:solidFill>
                <a:latin typeface="Calibri"/>
              </a:rPr>
              <a:t>• High-intensity statin for ALL ACS, option of concurrent ezetimibe. Add nonstatin (ezetimibe, PCSK9 mAb, inclisiran, bempedoic acid) if LDL-C ≥70 mg/dL on max statin; intensifying reasonable if LDL-C 55–&lt;70.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B4530A"/>
                </a:solidFill>
                <a:latin typeface="Calibri"/>
              </a:rPr>
              <a:t>Revascularization &amp; procedure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2433"/>
                </a:solidFill>
                <a:latin typeface="Calibri"/>
              </a:rPr>
              <a:t>• NSTE-ACS intermediate/high risk: invasive approach during hospitalization. Low risk: routine invasive OR selective invasive.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2433"/>
                </a:solidFill>
                <a:latin typeface="Calibri"/>
              </a:rPr>
              <a:t>• Radial access preferred over femoral (↓bleeding, ↓mortality); intravascular imaging for complex lesions (Class 1).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2433"/>
                </a:solidFill>
                <a:latin typeface="Calibri"/>
              </a:rPr>
              <a:t>• Complete revascularization recommended in STEMI &amp; NSTE-ACS; in cardiogenic shock, culprit-only PCI (no routine non-IRA PCI at same sitting); microaxial flow pump reasonable in select AMI-CS.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B4530A"/>
                </a:solidFill>
                <a:latin typeface="Calibri"/>
              </a:rPr>
              <a:t>Other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2433"/>
                </a:solidFill>
                <a:latin typeface="Calibri"/>
              </a:rPr>
              <a:t>• Transfusion to Hgb 10 g/dL may be reasonable in ACS with anemia (not actively bleeding). Lipid panel 4–8 wk after starting/changing therapy; refer to cardiac rehab.</a:t>
            </a:r>
          </a:p>
          <a:p>
            <a:pPr>
              <a:spcBef>
                <a:spcPts val="800"/>
              </a:spcBef>
            </a:pPr>
            <a:r>
              <a:rPr sz="900">
                <a:solidFill>
                  <a:srgbClr val="5A6877"/>
                </a:solidFill>
                <a:latin typeface="Calibri"/>
              </a:rPr>
              <a:t>Source: Rao SV et al. 2025 ACC/AHA/ACEP/NAEMSP/SCAI ACS Guideline. Circulation 2025;151. doi:10.1161/CIR.0000000000001309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Take-Home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0000"/>
            <a:ext cx="11277600" cy="5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500">
                <a:solidFill>
                  <a:srgbClr val="1A2433"/>
                </a:solidFill>
                <a:latin typeface="Calibri"/>
              </a:rPr>
              <a:t>• STEMI → emergent reperfusion: PCI &lt;90 min if PCI-capable; transfer if door-to-balloon &lt;120 min achievable; otherwise fibrinolytics &lt;90 min then transfer for angiography (3–24 h).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1A2433"/>
                </a:solidFill>
                <a:latin typeface="Calibri"/>
              </a:rPr>
              <a:t>• NSTEMI → risk stratify (GRACE/TIMI + clinical features): very high risk → immediate PCI (&lt;2 h); high risk → early invasive (&lt;24 h); mod-low → delayed invasive (25–72 h); very low risk → ischemia-guided strategy possible.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1A2433"/>
                </a:solidFill>
                <a:latin typeface="Calibri"/>
              </a:rPr>
              <a:t>• Early meds for all ACS (no contraindications): aspirin 325 mg chewed, anticoagulation (heparin if PCI planned; enoxaparin if medical mgmt), nitrates, beta-blocker &lt;24 h — never delay emergent revascularization for them.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1A2433"/>
                </a:solidFill>
                <a:latin typeface="Calibri"/>
              </a:rPr>
              <a:t>• Within 24 h: high-intensity statin + P2Y12 inhibitor (post-PCI). Before discharge: ACEi/ARB (all STEMI; NSTEMI w/ EF&lt;40%, HTN, DM, or CKD) and MRA (EF&lt;40%, HF, or DM, if tolerating BB + ACEi/ARB).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1A2433"/>
                </a:solidFill>
                <a:latin typeface="Calibri"/>
              </a:rPr>
              <a:t>• Avoid routine O2 if SpO2 ≥90%; morphine is last-line (masks refractory angina). Ongoing chest pain on max therapy = ongoing ischemia → revascularize.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Attribution &amp; Changelog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0000"/>
            <a:ext cx="11277600" cy="5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 b="1">
                <a:solidFill>
                  <a:srgbClr val="B4530A"/>
                </a:solidFill>
                <a:latin typeface="Calibri"/>
              </a:rPr>
              <a:t>Original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1A2433"/>
                </a:solidFill>
                <a:latin typeface="Calibri"/>
              </a:rPr>
              <a:t>• "Management of Acute Coronary Syndrome" — Coffer Thielen S, Slaven S, Burke J; eds. Zhang Y, Fainstad B. TeachIM.org, Oct 2023. https://teachim.org/teaching_material/acs/ — CC BY-NC 4.0. Educational use only; not medical advice.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B4530A"/>
                </a:solidFill>
                <a:latin typeface="Calibri"/>
              </a:rPr>
              <a:t>Corrections made to this copy (June 2026)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1A2433"/>
                </a:solidFill>
                <a:latin typeface="Calibri"/>
              </a:rPr>
              <a:t>• Slide 2: oxygen indication "SpO2 &gt;90%" → "SpO2 &lt;90%" (per lesson handout table &amp; 2025 guideline).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1A2433"/>
                </a:solidFill>
                <a:latin typeface="Calibri"/>
              </a:rPr>
              <a:t>• Slide 7 (Case 3): hs-troponin units "μg/dL" → "ng/L" (3 instances).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B4530A"/>
                </a:solidFill>
                <a:latin typeface="Calibri"/>
              </a:rPr>
              <a:t>Appended (originals untouched)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1A2433"/>
                </a:solidFill>
                <a:latin typeface="Calibri"/>
              </a:rPr>
              <a:t>• 2025 ACC/AHA ACS guideline update slide; take-home points slide; this attribution slide. All animations and click-to-reveal builds preserved.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B4530A"/>
                </a:solidFill>
                <a:latin typeface="Calibri"/>
              </a:rPr>
              <a:t>Companion files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1A2433"/>
                </a:solidFill>
                <a:latin typeface="Calibri"/>
              </a:rPr>
              <a:t>• None — the lesson page’s handout links mislink to Alcohol-related Liver Disease files; no ACS-specific handouts were available. Full optimized package: ACS_Management_Lesson_Package.html.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45702</TotalTime>
  <Words>1296</Words>
  <Application>Microsoft Office PowerPoint</Application>
  <PresentationFormat>Widescreen</PresentationFormat>
  <Paragraphs>245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Management of Acute Coronary Syndromes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Yilin Zhang</dc:creator>
  <cp:lastModifiedBy>Fainstad, Brandon</cp:lastModifiedBy>
  <cp:revision>68</cp:revision>
  <dcterms:created xsi:type="dcterms:W3CDTF">2022-05-16T18:08:28Z</dcterms:created>
  <dcterms:modified xsi:type="dcterms:W3CDTF">2023-12-15T20:45:33Z</dcterms:modified>
</cp:coreProperties>
</file>