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9"/>
    <p:sldId id="258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681969-DDA7-4DD1-8D7E-3DDC3CA723BB}" v="1" dt="2020-10-07T16:51:26.4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3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4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ach" userId="8ae8df808a00c05c" providerId="LiveId" clId="{17681969-DDA7-4DD1-8D7E-3DDC3CA723BB}"/>
    <pc:docChg chg="delSld modSld">
      <pc:chgData name="Teach" userId="8ae8df808a00c05c" providerId="LiveId" clId="{17681969-DDA7-4DD1-8D7E-3DDC3CA723BB}" dt="2020-10-07T16:51:45.103" v="8" actId="47"/>
      <pc:docMkLst>
        <pc:docMk/>
      </pc:docMkLst>
      <pc:sldChg chg="addSp modSp mod">
        <pc:chgData name="Teach" userId="8ae8df808a00c05c" providerId="LiveId" clId="{17681969-DDA7-4DD1-8D7E-3DDC3CA723BB}" dt="2020-10-07T16:51:31.374" v="1" actId="1076"/>
        <pc:sldMkLst>
          <pc:docMk/>
          <pc:sldMk cId="466151905" sldId="256"/>
        </pc:sldMkLst>
        <pc:spChg chg="mod">
          <ac:chgData name="Teach" userId="8ae8df808a00c05c" providerId="LiveId" clId="{17681969-DDA7-4DD1-8D7E-3DDC3CA723BB}" dt="2020-10-07T16:51:26.479" v="0"/>
          <ac:spMkLst>
            <pc:docMk/>
            <pc:sldMk cId="466151905" sldId="256"/>
            <ac:spMk id="70" creationId="{7810AF81-4C8F-46CF-99D5-2F38A8FFC98E}"/>
          </ac:spMkLst>
        </pc:spChg>
        <pc:spChg chg="mod">
          <ac:chgData name="Teach" userId="8ae8df808a00c05c" providerId="LiveId" clId="{17681969-DDA7-4DD1-8D7E-3DDC3CA723BB}" dt="2020-10-07T16:51:26.479" v="0"/>
          <ac:spMkLst>
            <pc:docMk/>
            <pc:sldMk cId="466151905" sldId="256"/>
            <ac:spMk id="77" creationId="{070EA73A-A964-423D-94E5-A99D792BCA70}"/>
          </ac:spMkLst>
        </pc:spChg>
        <pc:grpChg chg="add mod">
          <ac:chgData name="Teach" userId="8ae8df808a00c05c" providerId="LiveId" clId="{17681969-DDA7-4DD1-8D7E-3DDC3CA723BB}" dt="2020-10-07T16:51:31.374" v="1" actId="1076"/>
          <ac:grpSpMkLst>
            <pc:docMk/>
            <pc:sldMk cId="466151905" sldId="256"/>
            <ac:grpSpMk id="68" creationId="{17F66FFA-165A-45EF-B8A9-2994171171A7}"/>
          </ac:grpSpMkLst>
        </pc:grpChg>
        <pc:cxnChg chg="mod">
          <ac:chgData name="Teach" userId="8ae8df808a00c05c" providerId="LiveId" clId="{17681969-DDA7-4DD1-8D7E-3DDC3CA723BB}" dt="2020-10-07T16:51:26.479" v="0"/>
          <ac:cxnSpMkLst>
            <pc:docMk/>
            <pc:sldMk cId="466151905" sldId="256"/>
            <ac:cxnSpMk id="76" creationId="{CF3E6CC6-06AD-413E-B98E-CFA750742B11}"/>
          </ac:cxnSpMkLst>
        </pc:cxnChg>
      </pc:sldChg>
      <pc:sldChg chg="del">
        <pc:chgData name="Teach" userId="8ae8df808a00c05c" providerId="LiveId" clId="{17681969-DDA7-4DD1-8D7E-3DDC3CA723BB}" dt="2020-10-07T16:51:36.381" v="2" actId="47"/>
        <pc:sldMkLst>
          <pc:docMk/>
          <pc:sldMk cId="160491469" sldId="257"/>
        </pc:sldMkLst>
      </pc:sldChg>
      <pc:sldChg chg="del">
        <pc:chgData name="Teach" userId="8ae8df808a00c05c" providerId="LiveId" clId="{17681969-DDA7-4DD1-8D7E-3DDC3CA723BB}" dt="2020-10-07T16:51:39.404" v="4" actId="47"/>
        <pc:sldMkLst>
          <pc:docMk/>
          <pc:sldMk cId="1671612029" sldId="258"/>
        </pc:sldMkLst>
      </pc:sldChg>
      <pc:sldChg chg="del">
        <pc:chgData name="Teach" userId="8ae8df808a00c05c" providerId="LiveId" clId="{17681969-DDA7-4DD1-8D7E-3DDC3CA723BB}" dt="2020-10-07T16:51:40.210" v="5" actId="47"/>
        <pc:sldMkLst>
          <pc:docMk/>
          <pc:sldMk cId="1619036179" sldId="259"/>
        </pc:sldMkLst>
      </pc:sldChg>
      <pc:sldChg chg="del">
        <pc:chgData name="Teach" userId="8ae8df808a00c05c" providerId="LiveId" clId="{17681969-DDA7-4DD1-8D7E-3DDC3CA723BB}" dt="2020-10-07T16:51:41.797" v="6" actId="47"/>
        <pc:sldMkLst>
          <pc:docMk/>
          <pc:sldMk cId="3955688466" sldId="260"/>
        </pc:sldMkLst>
      </pc:sldChg>
      <pc:sldChg chg="del">
        <pc:chgData name="Teach" userId="8ae8df808a00c05c" providerId="LiveId" clId="{17681969-DDA7-4DD1-8D7E-3DDC3CA723BB}" dt="2020-10-07T16:51:43.531" v="7" actId="47"/>
        <pc:sldMkLst>
          <pc:docMk/>
          <pc:sldMk cId="3606110112" sldId="261"/>
        </pc:sldMkLst>
      </pc:sldChg>
      <pc:sldChg chg="del">
        <pc:chgData name="Teach" userId="8ae8df808a00c05c" providerId="LiveId" clId="{17681969-DDA7-4DD1-8D7E-3DDC3CA723BB}" dt="2020-10-07T16:51:45.103" v="8" actId="47"/>
        <pc:sldMkLst>
          <pc:docMk/>
          <pc:sldMk cId="567430782" sldId="263"/>
        </pc:sldMkLst>
      </pc:sldChg>
      <pc:sldChg chg="del">
        <pc:chgData name="Teach" userId="8ae8df808a00c05c" providerId="LiveId" clId="{17681969-DDA7-4DD1-8D7E-3DDC3CA723BB}" dt="2020-10-07T16:51:37.059" v="3" actId="47"/>
        <pc:sldMkLst>
          <pc:docMk/>
          <pc:sldMk cId="2994962202" sldId="264"/>
        </pc:sldMkLst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17FFF-A547-4BC4-8201-C9643425C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B4D10-FBB6-4588-ABFC-0BCFA747F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DFFDD-D755-43E1-93D7-B013F7B84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5E52-85AE-4355-9E6C-CA10E812FB71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89DE3-B85B-4FFB-8A17-531B5464A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2FD1A-2CD0-4C37-8B24-33D44C7B6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7AA5A-9D5C-414F-9493-AB9F3612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906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C3CBB-C594-4278-8841-9D53633EB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1E15A-ACE1-4EC6-A9FE-5780704C5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45BBA-4308-466E-BC79-21EAC5B5A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5E52-85AE-4355-9E6C-CA10E812FB71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44D7E-34A5-4123-8BF7-41A4BAED3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031D0-4A47-4F2A-A9B5-EDA96AFAF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7AA5A-9D5C-414F-9493-AB9F3612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36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70D05-D884-449A-87EE-5B90976FE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08F49-283F-4080-B8DA-75BD43AE1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2140B-207A-4E50-B65C-353E5997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5E52-85AE-4355-9E6C-CA10E812FB71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DAEFE-D6B7-447A-9AD7-5CF505FC6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2E53E-C6B6-45D3-8A13-E7FA86BB7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7AA5A-9D5C-414F-9493-AB9F3612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69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EA3C5-1FBF-4B93-8633-8882905AF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4A429-0C2A-477F-85E1-D95F5622F2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89CB81-899A-4A27-AB53-E16214E21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D19479-3413-4081-82FA-93568B826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5E52-85AE-4355-9E6C-CA10E812FB71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57D1B-34D2-4880-9AE0-675FA9793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05F895-D430-4786-B956-9B7DA32B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7AA5A-9D5C-414F-9493-AB9F3612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885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3B89C-6EA3-43A8-BB4F-126E00A9D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499B2-66D6-4DAD-B486-B95F91965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97093-5B50-42F1-91D7-532049ABB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A68B07-CB5A-451B-B754-742BD8F45C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319B27-4B81-4377-89D9-44DF982695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848931-DF5D-45A4-8B18-82D141DB1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5E52-85AE-4355-9E6C-CA10E812FB71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C130C1-81F3-4961-B599-D6AD7951B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4C3131-5595-46CA-AA0D-6D6215DB0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7AA5A-9D5C-414F-9493-AB9F3612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045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6D8D7-4F46-408B-8032-0AD201D10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B71E39-FC43-4BDD-ACFA-EDC86BECD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5E52-85AE-4355-9E6C-CA10E812FB71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C17C23-2494-4D7C-9AD7-95E52A20A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92F2C1-C56B-4E65-8992-D114295F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7AA5A-9D5C-414F-9493-AB9F3612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824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D96CD6-DA1C-4B9A-A51A-4DB5E6669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5E52-85AE-4355-9E6C-CA10E812FB71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75B7F0-93F9-4CA3-B3AE-3A049E471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74D3B-4E18-4269-84C6-DD20FE3C1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7AA5A-9D5C-414F-9493-AB9F3612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800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F2675-0040-40FB-BB2A-7A8F14E32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CC31D-F5FE-4EC6-BBB8-09A3BB355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EF1549-0ACA-47C7-8FA8-1E356E260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62798-BC1F-4FB4-9B36-E0B99E310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5E52-85AE-4355-9E6C-CA10E812FB71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C72F5-03CD-4D4B-AAD7-4E55B7DE8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C447AC-32CC-4B66-B51E-4B4F33588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7AA5A-9D5C-414F-9493-AB9F3612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97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9A235-52C7-4092-873C-93755154C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47EB57-9026-4C00-AEB9-1B5FC780CD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E6549F-B1A8-448F-AD8F-2E279EC606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3BE2E9-0D13-4C1F-9D97-0EB1F0E81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5E52-85AE-4355-9E6C-CA10E812FB71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8E5BF9-21CB-46F6-9DBD-02070E5B6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CD986-0B40-40A6-A314-114461190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7AA5A-9D5C-414F-9493-AB9F3612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376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F3E6B-D300-4C5A-95C9-057E9510C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C69D6C-DED9-4513-8D67-4ED392A67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C10F6-D8D3-417F-8E70-95F6230B4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5E52-85AE-4355-9E6C-CA10E812FB71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F5F84-5D8F-44AB-9EFC-D52D81FE5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0518A-F94E-47A5-90E4-DD38C0DEF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7AA5A-9D5C-414F-9493-AB9F3612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719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4539A2-8A37-48EF-956F-718BE2A04D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68B164-EDD8-4E6D-BFCD-FA27978E04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EC421-AE38-4B7D-9F41-8044761BB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5E52-85AE-4355-9E6C-CA10E812FB71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AEE3B-4092-4F71-BF16-DC6E16656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EE35D-20D8-4EF8-9C55-450AABCB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7AA5A-9D5C-414F-9493-AB9F3612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8698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055937-D630-4401-ABD8-AAE1674D2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F3139-A505-44B6-82C1-41826DA2D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515E2-5BE6-488F-AD9A-59755A9ECD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95E52-85AE-4355-9E6C-CA10E812FB71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D9245-4CC4-40E4-8F57-05D3431B3E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B313A-3EB6-42E4-A166-9502E25301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7AA5A-9D5C-414F-9493-AB9F3612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70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86">
            <a:extLst>
              <a:ext uri="{FF2B5EF4-FFF2-40B4-BE49-F238E27FC236}">
                <a16:creationId xmlns:a16="http://schemas.microsoft.com/office/drawing/2014/main" id="{43C4A257-899F-4DA6-9788-9297263A4CEC}"/>
              </a:ext>
            </a:extLst>
          </p:cNvPr>
          <p:cNvSpPr txBox="1"/>
          <p:nvPr/>
        </p:nvSpPr>
        <p:spPr>
          <a:xfrm>
            <a:off x="4314018" y="772024"/>
            <a:ext cx="1525415" cy="585836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600" b="1" dirty="0">
                <a:latin typeface="Calibri"/>
                <a:ea typeface="Calibri"/>
                <a:cs typeface="Calibri"/>
                <a:sym typeface="Calibri"/>
              </a:rPr>
              <a:t>COMPLICATION</a:t>
            </a:r>
          </a:p>
        </p:txBody>
      </p:sp>
      <p:sp>
        <p:nvSpPr>
          <p:cNvPr id="16" name="Shape 187">
            <a:extLst>
              <a:ext uri="{FF2B5EF4-FFF2-40B4-BE49-F238E27FC236}">
                <a16:creationId xmlns:a16="http://schemas.microsoft.com/office/drawing/2014/main" id="{AE8A1571-19FF-4554-90F6-07F69EB483DA}"/>
              </a:ext>
            </a:extLst>
          </p:cNvPr>
          <p:cNvSpPr txBox="1"/>
          <p:nvPr/>
        </p:nvSpPr>
        <p:spPr>
          <a:xfrm>
            <a:off x="5800682" y="772573"/>
            <a:ext cx="2063914" cy="556961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600" b="1" dirty="0">
                <a:latin typeface="Calibri"/>
                <a:ea typeface="Calibri"/>
                <a:cs typeface="Calibri"/>
                <a:sym typeface="Calibri"/>
              </a:rPr>
              <a:t>CAUSE/ PRECIPITANT</a:t>
            </a:r>
          </a:p>
        </p:txBody>
      </p:sp>
      <p:sp>
        <p:nvSpPr>
          <p:cNvPr id="17" name="Shape 188">
            <a:extLst>
              <a:ext uri="{FF2B5EF4-FFF2-40B4-BE49-F238E27FC236}">
                <a16:creationId xmlns:a16="http://schemas.microsoft.com/office/drawing/2014/main" id="{60974752-F801-469A-AC74-54ED24936F5C}"/>
              </a:ext>
            </a:extLst>
          </p:cNvPr>
          <p:cNvSpPr txBox="1"/>
          <p:nvPr/>
        </p:nvSpPr>
        <p:spPr>
          <a:xfrm>
            <a:off x="8113546" y="758137"/>
            <a:ext cx="1490039" cy="58583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600" b="1" dirty="0">
                <a:latin typeface="Calibri"/>
                <a:ea typeface="Calibri"/>
                <a:cs typeface="Calibri"/>
                <a:sym typeface="Calibri"/>
              </a:rPr>
              <a:t>EVALUATION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275497-A617-4D87-B02E-CB83C2AFEF85}"/>
              </a:ext>
            </a:extLst>
          </p:cNvPr>
          <p:cNvSpPr txBox="1"/>
          <p:nvPr/>
        </p:nvSpPr>
        <p:spPr>
          <a:xfrm>
            <a:off x="5004701" y="100668"/>
            <a:ext cx="6684705" cy="725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ACUTE</a:t>
            </a:r>
            <a:r>
              <a:rPr lang="en-US" sz="1600" dirty="0"/>
              <a:t> </a:t>
            </a:r>
            <a:r>
              <a:rPr lang="en-US" sz="1600" b="1" dirty="0"/>
              <a:t>DECOMPENSATION</a:t>
            </a:r>
          </a:p>
          <a:p>
            <a:pPr algn="ctr"/>
            <a:r>
              <a:rPr lang="en-US" sz="1200" dirty="0"/>
              <a:t>↑ MELD-Na or development of below complications</a:t>
            </a:r>
          </a:p>
        </p:txBody>
      </p:sp>
      <p:sp>
        <p:nvSpPr>
          <p:cNvPr id="24" name="Shape 188">
            <a:extLst>
              <a:ext uri="{FF2B5EF4-FFF2-40B4-BE49-F238E27FC236}">
                <a16:creationId xmlns:a16="http://schemas.microsoft.com/office/drawing/2014/main" id="{4E98F348-4D90-448F-BD6B-98F03C9D3292}"/>
              </a:ext>
            </a:extLst>
          </p:cNvPr>
          <p:cNvSpPr txBox="1"/>
          <p:nvPr/>
        </p:nvSpPr>
        <p:spPr>
          <a:xfrm>
            <a:off x="10320246" y="772024"/>
            <a:ext cx="1490039" cy="60037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sz="1600" b="1" dirty="0">
                <a:latin typeface="Calibri"/>
                <a:ea typeface="Calibri"/>
                <a:cs typeface="Calibri"/>
                <a:sym typeface="Calibri"/>
              </a:rPr>
              <a:t>MANAGEMENT</a:t>
            </a:r>
            <a:endParaRPr lang="en" sz="16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24C514-4A80-4346-AD63-5A5FCB0F9589}"/>
              </a:ext>
            </a:extLst>
          </p:cNvPr>
          <p:cNvSpPr txBox="1"/>
          <p:nvPr/>
        </p:nvSpPr>
        <p:spPr>
          <a:xfrm>
            <a:off x="0" y="0"/>
            <a:ext cx="3736834" cy="10464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/>
              <a:t>Objectives</a:t>
            </a:r>
            <a:endParaRPr lang="en-US" sz="1200" b="1" dirty="0"/>
          </a:p>
          <a:p>
            <a:pPr marL="166688" indent="-166688">
              <a:buAutoNum type="arabicParenR"/>
            </a:pPr>
            <a:r>
              <a:rPr lang="en-US" sz="1200" dirty="0"/>
              <a:t>Compensated vs. decompensated cirrhosis</a:t>
            </a:r>
          </a:p>
          <a:p>
            <a:pPr marL="166688" indent="-166688">
              <a:buAutoNum type="arabicParenR"/>
            </a:pPr>
            <a:r>
              <a:rPr lang="en-US" sz="1200" dirty="0"/>
              <a:t>Significance of MELD-Na score</a:t>
            </a:r>
          </a:p>
          <a:p>
            <a:pPr marL="166688" indent="-166688">
              <a:buAutoNum type="arabicParenR"/>
            </a:pPr>
            <a:r>
              <a:rPr lang="en-US" sz="1200" dirty="0"/>
              <a:t>Evaluation of acute decompensation</a:t>
            </a:r>
          </a:p>
          <a:p>
            <a:pPr marL="166688" indent="-166688">
              <a:buAutoNum type="arabicParenR"/>
            </a:pPr>
            <a:r>
              <a:rPr lang="en-US" sz="1200" dirty="0"/>
              <a:t>Management of common complications of cirrhosis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132C81E-20ED-4921-A81E-693696BE3A2C}"/>
              </a:ext>
            </a:extLst>
          </p:cNvPr>
          <p:cNvCxnSpPr>
            <a:cxnSpLocks/>
          </p:cNvCxnSpPr>
          <p:nvPr/>
        </p:nvCxnSpPr>
        <p:spPr>
          <a:xfrm>
            <a:off x="4209318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66114890-8249-4062-A137-6AE2FECE3131}"/>
              </a:ext>
            </a:extLst>
          </p:cNvPr>
          <p:cNvSpPr txBox="1"/>
          <p:nvPr/>
        </p:nvSpPr>
        <p:spPr>
          <a:xfrm>
            <a:off x="625053" y="1215481"/>
            <a:ext cx="2960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u="sng" dirty="0"/>
              <a:t>“The cirrhosis one-liner”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16B0CBF-7948-4EA5-8506-0E3C234D484E}"/>
              </a:ext>
            </a:extLst>
          </p:cNvPr>
          <p:cNvGrpSpPr/>
          <p:nvPr/>
        </p:nvGrpSpPr>
        <p:grpSpPr>
          <a:xfrm>
            <a:off x="46207" y="1710846"/>
            <a:ext cx="3995963" cy="1384995"/>
            <a:chOff x="46207" y="1408842"/>
            <a:chExt cx="3995963" cy="138499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1DED8BD-0FC0-4D4B-92DB-8DBB913C260E}"/>
                </a:ext>
              </a:extLst>
            </p:cNvPr>
            <p:cNvSpPr txBox="1"/>
            <p:nvPr/>
          </p:nvSpPr>
          <p:spPr>
            <a:xfrm>
              <a:off x="46207" y="1830802"/>
              <a:ext cx="16983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1. Cause of cirrhosis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DC1501A-ADFA-4E33-B7DB-74E90CFDA219}"/>
                </a:ext>
              </a:extLst>
            </p:cNvPr>
            <p:cNvGrpSpPr/>
            <p:nvPr/>
          </p:nvGrpSpPr>
          <p:grpSpPr>
            <a:xfrm>
              <a:off x="1751838" y="1408842"/>
              <a:ext cx="2290332" cy="1384995"/>
              <a:chOff x="1751838" y="1408842"/>
              <a:chExt cx="2290332" cy="1384995"/>
            </a:xfrm>
          </p:grpSpPr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A432A18-EA6C-4289-B883-F5B1807BC086}"/>
                  </a:ext>
                </a:extLst>
              </p:cNvPr>
              <p:cNvSpPr txBox="1"/>
              <p:nvPr/>
            </p:nvSpPr>
            <p:spPr>
              <a:xfrm>
                <a:off x="1818176" y="1408842"/>
                <a:ext cx="2223994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err="1"/>
                  <a:t>EtOH</a:t>
                </a:r>
                <a:r>
                  <a:rPr lang="en-US" sz="1400" dirty="0"/>
                  <a:t> (60-70%)</a:t>
                </a:r>
              </a:p>
              <a:p>
                <a:r>
                  <a:rPr lang="en-US" sz="1400" dirty="0"/>
                  <a:t>NASH (10%)</a:t>
                </a:r>
              </a:p>
              <a:p>
                <a:r>
                  <a:rPr lang="en-US" sz="1400" dirty="0"/>
                  <a:t>HCV/HBV (10%)</a:t>
                </a:r>
              </a:p>
              <a:p>
                <a:r>
                  <a:rPr lang="en-US" sz="1400" dirty="0" err="1"/>
                  <a:t>Hemochromatosis</a:t>
                </a:r>
                <a:endParaRPr lang="en-US" sz="1400" dirty="0"/>
              </a:p>
              <a:p>
                <a:r>
                  <a:rPr lang="en-US" sz="1400" dirty="0"/>
                  <a:t>Uncommon (AIH, PSC, PBC) </a:t>
                </a:r>
              </a:p>
            </p:txBody>
          </p:sp>
          <p:sp>
            <p:nvSpPr>
              <p:cNvPr id="60" name="Left Brace 59">
                <a:extLst>
                  <a:ext uri="{FF2B5EF4-FFF2-40B4-BE49-F238E27FC236}">
                    <a16:creationId xmlns:a16="http://schemas.microsoft.com/office/drawing/2014/main" id="{1A7D5AF0-9D5C-4125-803B-4EA54B3EAC16}"/>
                  </a:ext>
                </a:extLst>
              </p:cNvPr>
              <p:cNvSpPr/>
              <p:nvPr/>
            </p:nvSpPr>
            <p:spPr>
              <a:xfrm>
                <a:off x="1751838" y="1408842"/>
                <a:ext cx="107601" cy="1169551"/>
              </a:xfrm>
              <a:prstGeom prst="lef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29119950-F0EE-4555-8725-1507CD5AB650}"/>
              </a:ext>
            </a:extLst>
          </p:cNvPr>
          <p:cNvSpPr txBox="1"/>
          <p:nvPr/>
        </p:nvSpPr>
        <p:spPr>
          <a:xfrm>
            <a:off x="63937" y="3262673"/>
            <a:ext cx="1450868" cy="318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2. Compensated?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F18ECEE-4205-4EEF-8395-BC72F8759A1C}"/>
              </a:ext>
            </a:extLst>
          </p:cNvPr>
          <p:cNvCxnSpPr>
            <a:cxnSpLocks/>
            <a:stCxn id="62" idx="3"/>
            <a:endCxn id="67" idx="1"/>
          </p:cNvCxnSpPr>
          <p:nvPr/>
        </p:nvCxnSpPr>
        <p:spPr>
          <a:xfrm flipV="1">
            <a:off x="1514805" y="3163623"/>
            <a:ext cx="185609" cy="258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801431C-2AC5-49FB-9092-CDC3163D008B}"/>
              </a:ext>
            </a:extLst>
          </p:cNvPr>
          <p:cNvCxnSpPr>
            <a:cxnSpLocks/>
            <a:stCxn id="62" idx="3"/>
          </p:cNvCxnSpPr>
          <p:nvPr/>
        </p:nvCxnSpPr>
        <p:spPr>
          <a:xfrm>
            <a:off x="1514805" y="3421863"/>
            <a:ext cx="148352" cy="2865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0111C9B-BF07-4AB8-8B05-AA49C1AF13D9}"/>
              </a:ext>
            </a:extLst>
          </p:cNvPr>
          <p:cNvGrpSpPr/>
          <p:nvPr/>
        </p:nvGrpSpPr>
        <p:grpSpPr>
          <a:xfrm>
            <a:off x="1700414" y="2902012"/>
            <a:ext cx="2212200" cy="523220"/>
            <a:chOff x="1700414" y="2600008"/>
            <a:chExt cx="2257477" cy="523220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EE35917-5832-49E3-9548-8E76F0A9A8D0}"/>
                </a:ext>
              </a:extLst>
            </p:cNvPr>
            <p:cNvSpPr txBox="1"/>
            <p:nvPr/>
          </p:nvSpPr>
          <p:spPr>
            <a:xfrm>
              <a:off x="1700414" y="2707730"/>
              <a:ext cx="4327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/>
                <a:t>yes</a:t>
              </a: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D8D751BE-6137-4B43-81B8-B3A5A4FC50D6}"/>
                </a:ext>
              </a:extLst>
            </p:cNvPr>
            <p:cNvCxnSpPr>
              <a:cxnSpLocks/>
              <a:stCxn id="67" idx="3"/>
              <a:endCxn id="71" idx="1"/>
            </p:cNvCxnSpPr>
            <p:nvPr/>
          </p:nvCxnSpPr>
          <p:spPr>
            <a:xfrm flipV="1">
              <a:off x="2133146" y="2861618"/>
              <a:ext cx="16608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0D2104A-DCDD-4987-9587-1A7EBD1A9CB0}"/>
                </a:ext>
              </a:extLst>
            </p:cNvPr>
            <p:cNvSpPr txBox="1"/>
            <p:nvPr/>
          </p:nvSpPr>
          <p:spPr>
            <a:xfrm>
              <a:off x="2299229" y="2600008"/>
              <a:ext cx="16586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/>
                <a:t>no complications</a:t>
              </a:r>
            </a:p>
            <a:p>
              <a:pPr algn="ctr"/>
              <a:r>
                <a:rPr lang="en-US" sz="1400" i="1" dirty="0"/>
                <a:t>med survival: &gt;12 y</a:t>
              </a: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28A5CD60-046B-4983-837E-37E16E144675}"/>
              </a:ext>
            </a:extLst>
          </p:cNvPr>
          <p:cNvSpPr txBox="1"/>
          <p:nvPr/>
        </p:nvSpPr>
        <p:spPr>
          <a:xfrm>
            <a:off x="50885" y="4202298"/>
            <a:ext cx="22363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3. Baseline MELD-Na score?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DBE5F4D-D486-4817-B04C-EBDE90EFF5C6}"/>
              </a:ext>
            </a:extLst>
          </p:cNvPr>
          <p:cNvSpPr txBox="1"/>
          <p:nvPr/>
        </p:nvSpPr>
        <p:spPr>
          <a:xfrm>
            <a:off x="200366" y="4564699"/>
            <a:ext cx="1365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Cr, </a:t>
            </a:r>
            <a:r>
              <a:rPr lang="en-US" sz="1400" dirty="0" err="1"/>
              <a:t>Tbili</a:t>
            </a:r>
            <a:r>
              <a:rPr lang="en-US" sz="1400" dirty="0"/>
              <a:t>, INR, Na</a:t>
            </a:r>
          </a:p>
        </p:txBody>
      </p:sp>
      <p:graphicFrame>
        <p:nvGraphicFramePr>
          <p:cNvPr id="74" name="Shape 167">
            <a:extLst>
              <a:ext uri="{FF2B5EF4-FFF2-40B4-BE49-F238E27FC236}">
                <a16:creationId xmlns:a16="http://schemas.microsoft.com/office/drawing/2014/main" id="{70C41AC0-F43C-4D41-8C3A-BFF43A993A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0523905"/>
              </p:ext>
            </p:extLst>
          </p:nvPr>
        </p:nvGraphicFramePr>
        <p:xfrm>
          <a:off x="1625026" y="4583202"/>
          <a:ext cx="2288760" cy="128012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815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33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021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200" b="1" dirty="0">
                          <a:sym typeface="Calibri"/>
                        </a:rPr>
                        <a:t>MELD-Na</a:t>
                      </a:r>
                      <a:endParaRPr lang="en" sz="12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68575" marB="68575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200" b="1" dirty="0">
                          <a:sym typeface="Calibri"/>
                        </a:rPr>
                        <a:t>3 </a:t>
                      </a:r>
                      <a:r>
                        <a:rPr lang="en-US" sz="1200" b="1" dirty="0">
                          <a:sym typeface="Calibri"/>
                        </a:rPr>
                        <a:t>month </a:t>
                      </a:r>
                      <a:r>
                        <a:rPr lang="en" sz="1200" b="1" dirty="0">
                          <a:sym typeface="Calibri"/>
                        </a:rPr>
                        <a:t>mortality</a:t>
                      </a:r>
                      <a:endParaRPr lang="en" sz="12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68575" marB="68575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200" dirty="0">
                          <a:sym typeface="Calibri"/>
                        </a:rPr>
                        <a:t>20</a:t>
                      </a:r>
                      <a:endParaRPr lang="en"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68575" marB="68575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200" dirty="0">
                          <a:sym typeface="Calibri"/>
                        </a:rPr>
                        <a:t>3-4%</a:t>
                      </a:r>
                      <a:endParaRPr lang="en"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68575" marB="68575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200">
                          <a:sym typeface="Calibri"/>
                        </a:rPr>
                        <a:t>30</a:t>
                      </a:r>
                      <a:endParaRPr lang="en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68575" marB="68575"/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200">
                          <a:sym typeface="Calibri"/>
                        </a:rPr>
                        <a:t>27-32%</a:t>
                      </a:r>
                      <a:endParaRPr lang="en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68575" marB="685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21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200">
                          <a:sym typeface="Calibri"/>
                        </a:rPr>
                        <a:t>40</a:t>
                      </a:r>
                      <a:endParaRPr lang="en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68575" marB="68575"/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200" dirty="0">
                          <a:sym typeface="Calibri"/>
                        </a:rPr>
                        <a:t>65-66%</a:t>
                      </a:r>
                      <a:endParaRPr lang="en"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68575" marB="685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5" name="TextBox 74">
            <a:extLst>
              <a:ext uri="{FF2B5EF4-FFF2-40B4-BE49-F238E27FC236}">
                <a16:creationId xmlns:a16="http://schemas.microsoft.com/office/drawing/2014/main" id="{03A8E615-849B-4E93-B2F5-9A9C0A608AF1}"/>
              </a:ext>
            </a:extLst>
          </p:cNvPr>
          <p:cNvSpPr txBox="1"/>
          <p:nvPr/>
        </p:nvSpPr>
        <p:spPr>
          <a:xfrm>
            <a:off x="57849" y="6007644"/>
            <a:ext cx="22363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4. History of complications?</a:t>
            </a:r>
          </a:p>
        </p:txBody>
      </p:sp>
      <p:sp>
        <p:nvSpPr>
          <p:cNvPr id="4" name="Ascites answer">
            <a:extLst>
              <a:ext uri="{FF2B5EF4-FFF2-40B4-BE49-F238E27FC236}">
                <a16:creationId xmlns:a16="http://schemas.microsoft.com/office/drawing/2014/main" id="{88600DDB-8D1C-45D9-80DE-41C64407E65E}"/>
              </a:ext>
            </a:extLst>
          </p:cNvPr>
          <p:cNvSpPr txBox="1"/>
          <p:nvPr/>
        </p:nvSpPr>
        <p:spPr>
          <a:xfrm>
            <a:off x="4323028" y="1307856"/>
            <a:ext cx="1484122" cy="928805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Ascites &amp; 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en" sz="1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Hepatic hydrothorax</a:t>
            </a:r>
          </a:p>
        </p:txBody>
      </p:sp>
      <p:sp>
        <p:nvSpPr>
          <p:cNvPr id="78" name="Ascites button">
            <a:extLst>
              <a:ext uri="{FF2B5EF4-FFF2-40B4-BE49-F238E27FC236}">
                <a16:creationId xmlns:a16="http://schemas.microsoft.com/office/drawing/2014/main" id="{348793F2-8454-4582-84E9-233767241F5C}"/>
              </a:ext>
            </a:extLst>
          </p:cNvPr>
          <p:cNvSpPr txBox="1"/>
          <p:nvPr/>
        </p:nvSpPr>
        <p:spPr>
          <a:xfrm>
            <a:off x="4313503" y="1307856"/>
            <a:ext cx="1484122" cy="928805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</a:p>
        </p:txBody>
      </p:sp>
      <p:sp>
        <p:nvSpPr>
          <p:cNvPr id="79" name="AKI answer">
            <a:extLst>
              <a:ext uri="{FF2B5EF4-FFF2-40B4-BE49-F238E27FC236}">
                <a16:creationId xmlns:a16="http://schemas.microsoft.com/office/drawing/2014/main" id="{DA758EA5-5A78-4D29-BE31-AEC2A6888279}"/>
              </a:ext>
            </a:extLst>
          </p:cNvPr>
          <p:cNvSpPr txBox="1"/>
          <p:nvPr/>
        </p:nvSpPr>
        <p:spPr>
          <a:xfrm>
            <a:off x="4332537" y="2385073"/>
            <a:ext cx="1484122" cy="928805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Acute Kidney Injury (AKI)</a:t>
            </a:r>
          </a:p>
        </p:txBody>
      </p:sp>
      <p:sp>
        <p:nvSpPr>
          <p:cNvPr id="81" name="AKI button">
            <a:extLst>
              <a:ext uri="{FF2B5EF4-FFF2-40B4-BE49-F238E27FC236}">
                <a16:creationId xmlns:a16="http://schemas.microsoft.com/office/drawing/2014/main" id="{E4B73CAF-0DF8-426E-9604-1F241502AC96}"/>
              </a:ext>
            </a:extLst>
          </p:cNvPr>
          <p:cNvSpPr txBox="1"/>
          <p:nvPr/>
        </p:nvSpPr>
        <p:spPr>
          <a:xfrm>
            <a:off x="4323012" y="2385073"/>
            <a:ext cx="1484122" cy="928805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</a:p>
        </p:txBody>
      </p:sp>
      <p:sp>
        <p:nvSpPr>
          <p:cNvPr id="82" name="HE answer">
            <a:extLst>
              <a:ext uri="{FF2B5EF4-FFF2-40B4-BE49-F238E27FC236}">
                <a16:creationId xmlns:a16="http://schemas.microsoft.com/office/drawing/2014/main" id="{A2A1EAD3-59A3-4F99-9ABA-19CAD034928E}"/>
              </a:ext>
            </a:extLst>
          </p:cNvPr>
          <p:cNvSpPr txBox="1"/>
          <p:nvPr/>
        </p:nvSpPr>
        <p:spPr>
          <a:xfrm>
            <a:off x="4319242" y="3505985"/>
            <a:ext cx="1484122" cy="1206683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/>
            <a:r>
              <a:rPr lang="en" sz="1400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Hepatic encephalopathy (HE)</a:t>
            </a:r>
          </a:p>
        </p:txBody>
      </p:sp>
      <p:sp>
        <p:nvSpPr>
          <p:cNvPr id="83" name="HE button">
            <a:extLst>
              <a:ext uri="{FF2B5EF4-FFF2-40B4-BE49-F238E27FC236}">
                <a16:creationId xmlns:a16="http://schemas.microsoft.com/office/drawing/2014/main" id="{5194C8B8-0898-4003-98C2-55FF52B36BFE}"/>
              </a:ext>
            </a:extLst>
          </p:cNvPr>
          <p:cNvSpPr txBox="1"/>
          <p:nvPr/>
        </p:nvSpPr>
        <p:spPr>
          <a:xfrm>
            <a:off x="4309717" y="3505985"/>
            <a:ext cx="1484122" cy="1206683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</a:p>
        </p:txBody>
      </p:sp>
      <p:sp>
        <p:nvSpPr>
          <p:cNvPr id="84" name="Ascites answer">
            <a:extLst>
              <a:ext uri="{FF2B5EF4-FFF2-40B4-BE49-F238E27FC236}">
                <a16:creationId xmlns:a16="http://schemas.microsoft.com/office/drawing/2014/main" id="{D92D020A-10C4-40A4-98F5-B8D9FDD13192}"/>
              </a:ext>
            </a:extLst>
          </p:cNvPr>
          <p:cNvSpPr txBox="1"/>
          <p:nvPr/>
        </p:nvSpPr>
        <p:spPr>
          <a:xfrm>
            <a:off x="4326260" y="4860656"/>
            <a:ext cx="1484122" cy="928805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 Bleed</a:t>
            </a:r>
          </a:p>
        </p:txBody>
      </p:sp>
      <p:sp>
        <p:nvSpPr>
          <p:cNvPr id="85" name="GIB button">
            <a:extLst>
              <a:ext uri="{FF2B5EF4-FFF2-40B4-BE49-F238E27FC236}">
                <a16:creationId xmlns:a16="http://schemas.microsoft.com/office/drawing/2014/main" id="{FE04B83F-8D28-45AB-B9FB-73DFC6C69F37}"/>
              </a:ext>
            </a:extLst>
          </p:cNvPr>
          <p:cNvSpPr txBox="1"/>
          <p:nvPr/>
        </p:nvSpPr>
        <p:spPr>
          <a:xfrm>
            <a:off x="4316735" y="4860656"/>
            <a:ext cx="1484122" cy="928805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</a:p>
        </p:txBody>
      </p:sp>
      <p:sp>
        <p:nvSpPr>
          <p:cNvPr id="86" name="Ascites answer">
            <a:extLst>
              <a:ext uri="{FF2B5EF4-FFF2-40B4-BE49-F238E27FC236}">
                <a16:creationId xmlns:a16="http://schemas.microsoft.com/office/drawing/2014/main" id="{CDE8ED1F-82AD-4989-928D-B0D44D094338}"/>
              </a:ext>
            </a:extLst>
          </p:cNvPr>
          <p:cNvSpPr txBox="1"/>
          <p:nvPr/>
        </p:nvSpPr>
        <p:spPr>
          <a:xfrm>
            <a:off x="4346326" y="5981569"/>
            <a:ext cx="1484122" cy="736878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Spontaneous Bacterial Peritonitis (SBP)</a:t>
            </a:r>
          </a:p>
        </p:txBody>
      </p:sp>
      <p:sp>
        <p:nvSpPr>
          <p:cNvPr id="87" name="SBP button">
            <a:extLst>
              <a:ext uri="{FF2B5EF4-FFF2-40B4-BE49-F238E27FC236}">
                <a16:creationId xmlns:a16="http://schemas.microsoft.com/office/drawing/2014/main" id="{EC455520-1E23-42C7-96F3-BAF55D92B725}"/>
              </a:ext>
            </a:extLst>
          </p:cNvPr>
          <p:cNvSpPr txBox="1"/>
          <p:nvPr/>
        </p:nvSpPr>
        <p:spPr>
          <a:xfrm>
            <a:off x="4336801" y="5981569"/>
            <a:ext cx="1484122" cy="736878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</a:p>
        </p:txBody>
      </p:sp>
      <p:sp>
        <p:nvSpPr>
          <p:cNvPr id="88" name="Ascites cause answer">
            <a:extLst>
              <a:ext uri="{FF2B5EF4-FFF2-40B4-BE49-F238E27FC236}">
                <a16:creationId xmlns:a16="http://schemas.microsoft.com/office/drawing/2014/main" id="{87A6D7DB-0B6F-4899-9577-1E593B839842}"/>
              </a:ext>
            </a:extLst>
          </p:cNvPr>
          <p:cNvSpPr txBox="1"/>
          <p:nvPr/>
        </p:nvSpPr>
        <p:spPr>
          <a:xfrm>
            <a:off x="5960108" y="1307856"/>
            <a:ext cx="1823418" cy="92880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400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Diet</a:t>
            </a:r>
            <a:endParaRPr lang="en" sz="1400" dirty="0">
              <a:solidFill>
                <a:srgbClr val="FFFFFF"/>
              </a:solidFill>
              <a:ea typeface="Calibri"/>
              <a:cs typeface="Calibri"/>
              <a:sym typeface="Calibri"/>
            </a:endParaRPr>
          </a:p>
          <a:p>
            <a:pPr lvl="0" algn="ctr"/>
            <a:r>
              <a:rPr lang="en" sz="1400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Medications</a:t>
            </a:r>
          </a:p>
          <a:p>
            <a:pPr lvl="0" algn="ctr"/>
            <a:r>
              <a:rPr lang="en-US" sz="1400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PVT</a:t>
            </a:r>
            <a:endParaRPr lang="en" sz="1400" dirty="0">
              <a:solidFill>
                <a:srgbClr val="FFFFFF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9" name="Ascites cause button">
            <a:extLst>
              <a:ext uri="{FF2B5EF4-FFF2-40B4-BE49-F238E27FC236}">
                <a16:creationId xmlns:a16="http://schemas.microsoft.com/office/drawing/2014/main" id="{098A6CBE-CFAC-44CF-80CB-8C170295E2C0}"/>
              </a:ext>
            </a:extLst>
          </p:cNvPr>
          <p:cNvSpPr txBox="1"/>
          <p:nvPr/>
        </p:nvSpPr>
        <p:spPr>
          <a:xfrm>
            <a:off x="5950583" y="1307856"/>
            <a:ext cx="1823418" cy="92880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endParaRPr lang="en" sz="1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AKI answer">
            <a:extLst>
              <a:ext uri="{FF2B5EF4-FFF2-40B4-BE49-F238E27FC236}">
                <a16:creationId xmlns:a16="http://schemas.microsoft.com/office/drawing/2014/main" id="{D4D6FC01-897A-45EA-BBA9-12F3955A9582}"/>
              </a:ext>
            </a:extLst>
          </p:cNvPr>
          <p:cNvSpPr txBox="1"/>
          <p:nvPr/>
        </p:nvSpPr>
        <p:spPr>
          <a:xfrm>
            <a:off x="5969617" y="2385073"/>
            <a:ext cx="1823418" cy="92880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400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HRS</a:t>
            </a:r>
            <a:endParaRPr lang="en" sz="1400" dirty="0">
              <a:solidFill>
                <a:srgbClr val="FFFFFF"/>
              </a:solidFill>
              <a:ea typeface="Calibri"/>
              <a:cs typeface="Calibri"/>
              <a:sym typeface="Calibri"/>
            </a:endParaRPr>
          </a:p>
          <a:p>
            <a:pPr lvl="0" algn="ctr"/>
            <a:r>
              <a:rPr lang="en" sz="1400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↓ volume/ GI bleed</a:t>
            </a:r>
          </a:p>
          <a:p>
            <a:pPr lvl="0" algn="ctr"/>
            <a:r>
              <a:rPr lang="en" sz="1400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Infection/ SBP</a:t>
            </a:r>
          </a:p>
        </p:txBody>
      </p:sp>
      <p:sp>
        <p:nvSpPr>
          <p:cNvPr id="91" name="AKI cause button">
            <a:extLst>
              <a:ext uri="{FF2B5EF4-FFF2-40B4-BE49-F238E27FC236}">
                <a16:creationId xmlns:a16="http://schemas.microsoft.com/office/drawing/2014/main" id="{D212D9E7-1002-4A4B-B1EF-209D609025B2}"/>
              </a:ext>
            </a:extLst>
          </p:cNvPr>
          <p:cNvSpPr txBox="1"/>
          <p:nvPr/>
        </p:nvSpPr>
        <p:spPr>
          <a:xfrm>
            <a:off x="5960092" y="2385073"/>
            <a:ext cx="1823418" cy="92880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endParaRPr lang="en" sz="1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HE cause answer">
            <a:extLst>
              <a:ext uri="{FF2B5EF4-FFF2-40B4-BE49-F238E27FC236}">
                <a16:creationId xmlns:a16="http://schemas.microsoft.com/office/drawing/2014/main" id="{5665795C-A99C-4C67-A94F-E61DA1689DFE}"/>
              </a:ext>
            </a:extLst>
          </p:cNvPr>
          <p:cNvSpPr txBox="1"/>
          <p:nvPr/>
        </p:nvSpPr>
        <p:spPr>
          <a:xfrm>
            <a:off x="5956322" y="3505985"/>
            <a:ext cx="1823418" cy="120668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/>
            <a:r>
              <a:rPr lang="en" sz="1400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Infection, SBP</a:t>
            </a:r>
          </a:p>
          <a:p>
            <a:pPr lvl="0" algn="ctr"/>
            <a:r>
              <a:rPr lang="en" sz="1400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Medications, Drugs,</a:t>
            </a:r>
          </a:p>
          <a:p>
            <a:pPr lvl="0" algn="ctr"/>
            <a:r>
              <a:rPr lang="en" sz="1400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GI bleed,</a:t>
            </a:r>
          </a:p>
          <a:p>
            <a:pPr lvl="0" algn="ctr"/>
            <a:r>
              <a:rPr lang="en-US" sz="1400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PVT</a:t>
            </a:r>
            <a:endParaRPr lang="en" sz="1400" dirty="0">
              <a:solidFill>
                <a:srgbClr val="FFFFFF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93" name="HE cause button">
            <a:extLst>
              <a:ext uri="{FF2B5EF4-FFF2-40B4-BE49-F238E27FC236}">
                <a16:creationId xmlns:a16="http://schemas.microsoft.com/office/drawing/2014/main" id="{BEE1D534-20B8-4BFB-84D2-33EB3036FF24}"/>
              </a:ext>
            </a:extLst>
          </p:cNvPr>
          <p:cNvSpPr txBox="1"/>
          <p:nvPr/>
        </p:nvSpPr>
        <p:spPr>
          <a:xfrm>
            <a:off x="5946797" y="3505985"/>
            <a:ext cx="1823418" cy="120668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endParaRPr lang="en" sz="1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IB cause answer">
            <a:extLst>
              <a:ext uri="{FF2B5EF4-FFF2-40B4-BE49-F238E27FC236}">
                <a16:creationId xmlns:a16="http://schemas.microsoft.com/office/drawing/2014/main" id="{7E6E4153-CC35-46D4-86D0-E88F2A4BF031}"/>
              </a:ext>
            </a:extLst>
          </p:cNvPr>
          <p:cNvSpPr txBox="1"/>
          <p:nvPr/>
        </p:nvSpPr>
        <p:spPr>
          <a:xfrm>
            <a:off x="5963340" y="4860656"/>
            <a:ext cx="1823418" cy="92880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/>
            <a:r>
              <a:rPr lang="en" sz="1400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Varices,</a:t>
            </a:r>
          </a:p>
          <a:p>
            <a:pPr lvl="0" algn="ctr"/>
            <a:r>
              <a:rPr lang="en" sz="1400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Portal Hypertensive Gastropathy (PHG),</a:t>
            </a:r>
          </a:p>
          <a:p>
            <a:pPr lvl="0" algn="ctr"/>
            <a:r>
              <a:rPr lang="en" sz="1400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Hemorrhoids</a:t>
            </a:r>
          </a:p>
        </p:txBody>
      </p:sp>
      <p:sp>
        <p:nvSpPr>
          <p:cNvPr id="95" name="GIB cause button">
            <a:extLst>
              <a:ext uri="{FF2B5EF4-FFF2-40B4-BE49-F238E27FC236}">
                <a16:creationId xmlns:a16="http://schemas.microsoft.com/office/drawing/2014/main" id="{41D47C44-1388-49F1-AC60-FBC0F93513DA}"/>
              </a:ext>
            </a:extLst>
          </p:cNvPr>
          <p:cNvSpPr txBox="1"/>
          <p:nvPr/>
        </p:nvSpPr>
        <p:spPr>
          <a:xfrm>
            <a:off x="5953815" y="4860656"/>
            <a:ext cx="1823418" cy="92880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endParaRPr lang="en" sz="1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Ascites answer">
            <a:extLst>
              <a:ext uri="{FF2B5EF4-FFF2-40B4-BE49-F238E27FC236}">
                <a16:creationId xmlns:a16="http://schemas.microsoft.com/office/drawing/2014/main" id="{A6B10134-523C-4204-99C9-798E3F58C9CC}"/>
              </a:ext>
            </a:extLst>
          </p:cNvPr>
          <p:cNvSpPr txBox="1"/>
          <p:nvPr/>
        </p:nvSpPr>
        <p:spPr>
          <a:xfrm>
            <a:off x="5983406" y="5981569"/>
            <a:ext cx="1823418" cy="73687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</a:p>
        </p:txBody>
      </p:sp>
      <p:sp>
        <p:nvSpPr>
          <p:cNvPr id="97" name="SBP cause button">
            <a:extLst>
              <a:ext uri="{FF2B5EF4-FFF2-40B4-BE49-F238E27FC236}">
                <a16:creationId xmlns:a16="http://schemas.microsoft.com/office/drawing/2014/main" id="{EEE2098D-5759-4CAD-8449-2FA832FBA05D}"/>
              </a:ext>
            </a:extLst>
          </p:cNvPr>
          <p:cNvSpPr txBox="1"/>
          <p:nvPr/>
        </p:nvSpPr>
        <p:spPr>
          <a:xfrm>
            <a:off x="5973881" y="5981569"/>
            <a:ext cx="1823418" cy="73687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endParaRPr lang="en" sz="1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Ascites eval answer">
            <a:extLst>
              <a:ext uri="{FF2B5EF4-FFF2-40B4-BE49-F238E27FC236}">
                <a16:creationId xmlns:a16="http://schemas.microsoft.com/office/drawing/2014/main" id="{9DB82A72-2350-49B4-B172-0263B932B2D2}"/>
              </a:ext>
            </a:extLst>
          </p:cNvPr>
          <p:cNvSpPr txBox="1"/>
          <p:nvPr/>
        </p:nvSpPr>
        <p:spPr>
          <a:xfrm>
            <a:off x="7917434" y="1290617"/>
            <a:ext cx="1886795" cy="92880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4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Dx Para (SAAG, cell count and cx)</a:t>
            </a:r>
            <a:endParaRPr lang="en" sz="1400" dirty="0">
              <a:solidFill>
                <a:schemeClr val="tx1"/>
              </a:solidFill>
              <a:ea typeface="Calibri"/>
              <a:cs typeface="Calibri"/>
              <a:sym typeface="Calibri"/>
            </a:endParaRPr>
          </a:p>
          <a:p>
            <a:pPr lvl="0" algn="ctr"/>
            <a:r>
              <a:rPr lang="en" sz="14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RUQ US w/ doppler</a:t>
            </a:r>
          </a:p>
        </p:txBody>
      </p:sp>
      <p:sp>
        <p:nvSpPr>
          <p:cNvPr id="99" name="Ascites eval button">
            <a:extLst>
              <a:ext uri="{FF2B5EF4-FFF2-40B4-BE49-F238E27FC236}">
                <a16:creationId xmlns:a16="http://schemas.microsoft.com/office/drawing/2014/main" id="{79559F55-0B5F-4D13-8EE7-7DB45998678B}"/>
              </a:ext>
            </a:extLst>
          </p:cNvPr>
          <p:cNvSpPr txBox="1"/>
          <p:nvPr/>
        </p:nvSpPr>
        <p:spPr>
          <a:xfrm>
            <a:off x="7907909" y="1290617"/>
            <a:ext cx="1886795" cy="92880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endParaRPr lang="en" sz="1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AKI eval answer">
            <a:extLst>
              <a:ext uri="{FF2B5EF4-FFF2-40B4-BE49-F238E27FC236}">
                <a16:creationId xmlns:a16="http://schemas.microsoft.com/office/drawing/2014/main" id="{ED6EB645-7E42-4C05-AB3B-F38AC6637FBD}"/>
              </a:ext>
            </a:extLst>
          </p:cNvPr>
          <p:cNvSpPr txBox="1"/>
          <p:nvPr/>
        </p:nvSpPr>
        <p:spPr>
          <a:xfrm>
            <a:off x="7926943" y="2367834"/>
            <a:ext cx="1886795" cy="92880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4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UA, urine </a:t>
            </a:r>
            <a:r>
              <a:rPr lang="en-US" sz="1400" dirty="0" err="1">
                <a:solidFill>
                  <a:schemeClr val="tx1"/>
                </a:solidFill>
                <a:ea typeface="Calibri"/>
                <a:cs typeface="Calibri"/>
                <a:sym typeface="Calibri"/>
              </a:rPr>
              <a:t>lytes</a:t>
            </a:r>
            <a:endParaRPr lang="en-US" sz="1400" dirty="0">
              <a:solidFill>
                <a:schemeClr val="tx1"/>
              </a:solidFill>
              <a:ea typeface="Calibri"/>
              <a:cs typeface="Calibri"/>
              <a:sym typeface="Calibri"/>
            </a:endParaRPr>
          </a:p>
          <a:p>
            <a:pPr lvl="0" algn="ctr"/>
            <a:r>
              <a:rPr lang="en-US" sz="14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Albumin challenge</a:t>
            </a:r>
            <a:endParaRPr lang="en" sz="1400" dirty="0">
              <a:solidFill>
                <a:schemeClr val="tx1"/>
              </a:solidFill>
              <a:ea typeface="Calibri"/>
              <a:cs typeface="Calibri"/>
              <a:sym typeface="Calibri"/>
            </a:endParaRPr>
          </a:p>
          <a:p>
            <a:pPr lvl="0" algn="ctr"/>
            <a:r>
              <a:rPr lang="en" sz="14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Diagnostic paracentesis</a:t>
            </a:r>
          </a:p>
        </p:txBody>
      </p:sp>
      <p:sp>
        <p:nvSpPr>
          <p:cNvPr id="101" name="AKI eval button">
            <a:extLst>
              <a:ext uri="{FF2B5EF4-FFF2-40B4-BE49-F238E27FC236}">
                <a16:creationId xmlns:a16="http://schemas.microsoft.com/office/drawing/2014/main" id="{BB7514C5-5378-47FF-BEBA-928D72257E84}"/>
              </a:ext>
            </a:extLst>
          </p:cNvPr>
          <p:cNvSpPr txBox="1"/>
          <p:nvPr/>
        </p:nvSpPr>
        <p:spPr>
          <a:xfrm>
            <a:off x="7917418" y="2367834"/>
            <a:ext cx="1886795" cy="92880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endParaRPr lang="en" sz="1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HE eval answer">
            <a:extLst>
              <a:ext uri="{FF2B5EF4-FFF2-40B4-BE49-F238E27FC236}">
                <a16:creationId xmlns:a16="http://schemas.microsoft.com/office/drawing/2014/main" id="{14277BFB-049F-4147-AF51-759727921348}"/>
              </a:ext>
            </a:extLst>
          </p:cNvPr>
          <p:cNvSpPr txBox="1"/>
          <p:nvPr/>
        </p:nvSpPr>
        <p:spPr>
          <a:xfrm>
            <a:off x="7913648" y="3488746"/>
            <a:ext cx="1886795" cy="120668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/>
            <a:r>
              <a:rPr lang="en" sz="14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Cultures</a:t>
            </a:r>
          </a:p>
          <a:p>
            <a:pPr lvl="0" algn="ctr"/>
            <a:r>
              <a:rPr lang="en" sz="14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Diagnostic paracentesis</a:t>
            </a:r>
          </a:p>
          <a:p>
            <a:pPr lvl="0" algn="ctr"/>
            <a:r>
              <a:rPr lang="en" sz="14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± RUQ US w/ doppler</a:t>
            </a:r>
          </a:p>
          <a:p>
            <a:pPr algn="ctr"/>
            <a:r>
              <a:rPr lang="en" sz="14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± </a:t>
            </a:r>
            <a:r>
              <a:rPr lang="en-US" sz="14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ammonia level</a:t>
            </a:r>
            <a:endParaRPr lang="en" sz="1400" dirty="0">
              <a:solidFill>
                <a:schemeClr val="tx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05" name="HE eval button">
            <a:extLst>
              <a:ext uri="{FF2B5EF4-FFF2-40B4-BE49-F238E27FC236}">
                <a16:creationId xmlns:a16="http://schemas.microsoft.com/office/drawing/2014/main" id="{5B4706EE-4A26-4733-8BA7-8CB4CBBE3F77}"/>
              </a:ext>
            </a:extLst>
          </p:cNvPr>
          <p:cNvSpPr txBox="1"/>
          <p:nvPr/>
        </p:nvSpPr>
        <p:spPr>
          <a:xfrm>
            <a:off x="7967500" y="3488746"/>
            <a:ext cx="1823418" cy="120668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endParaRPr lang="en" sz="1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IB eval answer">
            <a:extLst>
              <a:ext uri="{FF2B5EF4-FFF2-40B4-BE49-F238E27FC236}">
                <a16:creationId xmlns:a16="http://schemas.microsoft.com/office/drawing/2014/main" id="{B152972C-618C-4C57-A754-5B112A3B2A85}"/>
              </a:ext>
            </a:extLst>
          </p:cNvPr>
          <p:cNvSpPr txBox="1"/>
          <p:nvPr/>
        </p:nvSpPr>
        <p:spPr>
          <a:xfrm>
            <a:off x="7920666" y="4843417"/>
            <a:ext cx="1886795" cy="92880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/>
            <a:r>
              <a:rPr lang="en" sz="14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CBC, coags, </a:t>
            </a:r>
            <a:r>
              <a:rPr lang="en-US" sz="14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fibrinogen</a:t>
            </a:r>
            <a:endParaRPr lang="en" sz="1400" dirty="0">
              <a:solidFill>
                <a:schemeClr val="tx1"/>
              </a:solidFill>
              <a:ea typeface="Calibri"/>
              <a:cs typeface="Calibri"/>
              <a:sym typeface="Calibri"/>
            </a:endParaRPr>
          </a:p>
          <a:p>
            <a:pPr lvl="0" algn="ctr"/>
            <a:r>
              <a:rPr lang="en" sz="14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EGD</a:t>
            </a:r>
          </a:p>
        </p:txBody>
      </p:sp>
      <p:sp>
        <p:nvSpPr>
          <p:cNvPr id="108" name="GIB eval button">
            <a:extLst>
              <a:ext uri="{FF2B5EF4-FFF2-40B4-BE49-F238E27FC236}">
                <a16:creationId xmlns:a16="http://schemas.microsoft.com/office/drawing/2014/main" id="{A071E711-DDFA-44D1-8FD8-B9CACE3FC915}"/>
              </a:ext>
            </a:extLst>
          </p:cNvPr>
          <p:cNvSpPr txBox="1"/>
          <p:nvPr/>
        </p:nvSpPr>
        <p:spPr>
          <a:xfrm>
            <a:off x="7911141" y="4843417"/>
            <a:ext cx="1886795" cy="92880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endParaRPr lang="en" sz="1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SBP eval answer">
            <a:extLst>
              <a:ext uri="{FF2B5EF4-FFF2-40B4-BE49-F238E27FC236}">
                <a16:creationId xmlns:a16="http://schemas.microsoft.com/office/drawing/2014/main" id="{E1C2BD48-1A89-4700-B0D0-7FADD2B9CE93}"/>
              </a:ext>
            </a:extLst>
          </p:cNvPr>
          <p:cNvSpPr txBox="1"/>
          <p:nvPr/>
        </p:nvSpPr>
        <p:spPr>
          <a:xfrm>
            <a:off x="7940732" y="5964330"/>
            <a:ext cx="1886795" cy="73687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/>
            <a:r>
              <a:rPr lang="en" sz="140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Diagnostic paracentesis</a:t>
            </a:r>
            <a:endParaRPr lang="en" sz="1400" dirty="0">
              <a:solidFill>
                <a:schemeClr val="tx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10" name="SBP eval button">
            <a:extLst>
              <a:ext uri="{FF2B5EF4-FFF2-40B4-BE49-F238E27FC236}">
                <a16:creationId xmlns:a16="http://schemas.microsoft.com/office/drawing/2014/main" id="{D5C58894-7EA4-4349-ADB5-038602927BF5}"/>
              </a:ext>
            </a:extLst>
          </p:cNvPr>
          <p:cNvSpPr txBox="1"/>
          <p:nvPr/>
        </p:nvSpPr>
        <p:spPr>
          <a:xfrm>
            <a:off x="7931207" y="5964330"/>
            <a:ext cx="1886795" cy="73687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endParaRPr lang="en" sz="1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Ascites mgmt answer">
            <a:extLst>
              <a:ext uri="{FF2B5EF4-FFF2-40B4-BE49-F238E27FC236}">
                <a16:creationId xmlns:a16="http://schemas.microsoft.com/office/drawing/2014/main" id="{3D480B54-58BE-44D7-95F7-A361D81E6199}"/>
              </a:ext>
            </a:extLst>
          </p:cNvPr>
          <p:cNvSpPr txBox="1"/>
          <p:nvPr/>
        </p:nvSpPr>
        <p:spPr>
          <a:xfrm>
            <a:off x="9970481" y="1290617"/>
            <a:ext cx="2034463" cy="928805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4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Na restriction</a:t>
            </a:r>
          </a:p>
          <a:p>
            <a:pPr lvl="0" algn="ctr"/>
            <a:r>
              <a:rPr lang="en-US" sz="14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Diuretics</a:t>
            </a:r>
          </a:p>
          <a:p>
            <a:pPr lvl="0" algn="ctr"/>
            <a:r>
              <a:rPr lang="en-US" sz="14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Large volume para/ </a:t>
            </a:r>
            <a:r>
              <a:rPr lang="en-US" sz="1400" dirty="0" err="1">
                <a:solidFill>
                  <a:schemeClr val="tx1"/>
                </a:solidFill>
                <a:ea typeface="Calibri"/>
                <a:cs typeface="Calibri"/>
                <a:sym typeface="Calibri"/>
              </a:rPr>
              <a:t>thora</a:t>
            </a:r>
            <a:endParaRPr lang="en" sz="1400" dirty="0">
              <a:solidFill>
                <a:schemeClr val="tx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13" name="Ascites mgt button">
            <a:extLst>
              <a:ext uri="{FF2B5EF4-FFF2-40B4-BE49-F238E27FC236}">
                <a16:creationId xmlns:a16="http://schemas.microsoft.com/office/drawing/2014/main" id="{A21AD6FA-5273-4B5D-AA82-07945C9BBBA5}"/>
              </a:ext>
            </a:extLst>
          </p:cNvPr>
          <p:cNvSpPr txBox="1"/>
          <p:nvPr/>
        </p:nvSpPr>
        <p:spPr>
          <a:xfrm>
            <a:off x="9960956" y="1290617"/>
            <a:ext cx="2034463" cy="928805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endParaRPr lang="en" sz="1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AKI eval answer">
            <a:extLst>
              <a:ext uri="{FF2B5EF4-FFF2-40B4-BE49-F238E27FC236}">
                <a16:creationId xmlns:a16="http://schemas.microsoft.com/office/drawing/2014/main" id="{ECB07D4C-3DC7-45A4-94F9-4F441F116D16}"/>
              </a:ext>
            </a:extLst>
          </p:cNvPr>
          <p:cNvSpPr txBox="1"/>
          <p:nvPr/>
        </p:nvSpPr>
        <p:spPr>
          <a:xfrm>
            <a:off x="9979990" y="2367834"/>
            <a:ext cx="2034463" cy="928805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400" i="1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For HRS:</a:t>
            </a:r>
          </a:p>
          <a:p>
            <a:pPr lvl="0" algn="ctr"/>
            <a:r>
              <a:rPr lang="en-US" sz="14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Albumin</a:t>
            </a:r>
          </a:p>
          <a:p>
            <a:pPr lvl="0" algn="ctr"/>
            <a:r>
              <a:rPr lang="en-US" sz="14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Octreotide</a:t>
            </a:r>
            <a:r>
              <a:rPr lang="en" sz="14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/ Midodrine</a:t>
            </a:r>
            <a:endParaRPr lang="en-US" sz="1400" dirty="0">
              <a:solidFill>
                <a:schemeClr val="tx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15" name="AKI mgmt button">
            <a:extLst>
              <a:ext uri="{FF2B5EF4-FFF2-40B4-BE49-F238E27FC236}">
                <a16:creationId xmlns:a16="http://schemas.microsoft.com/office/drawing/2014/main" id="{DCDB75BD-B030-4BA3-886F-F6AE7E396236}"/>
              </a:ext>
            </a:extLst>
          </p:cNvPr>
          <p:cNvSpPr txBox="1"/>
          <p:nvPr/>
        </p:nvSpPr>
        <p:spPr>
          <a:xfrm>
            <a:off x="9970465" y="2367834"/>
            <a:ext cx="2034463" cy="928805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endParaRPr lang="en" sz="1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HE mgmt answer">
            <a:extLst>
              <a:ext uri="{FF2B5EF4-FFF2-40B4-BE49-F238E27FC236}">
                <a16:creationId xmlns:a16="http://schemas.microsoft.com/office/drawing/2014/main" id="{87658B3F-E2CA-4675-B885-D5E297833ADC}"/>
              </a:ext>
            </a:extLst>
          </p:cNvPr>
          <p:cNvSpPr txBox="1"/>
          <p:nvPr/>
        </p:nvSpPr>
        <p:spPr>
          <a:xfrm>
            <a:off x="9966695" y="3488746"/>
            <a:ext cx="2034463" cy="120668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4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Lactulose</a:t>
            </a:r>
          </a:p>
          <a:p>
            <a:pPr lvl="0" algn="ctr"/>
            <a:r>
              <a:rPr lang="en-US" sz="14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Rifaximin</a:t>
            </a:r>
          </a:p>
          <a:p>
            <a:pPr lvl="0" algn="ctr"/>
            <a:r>
              <a:rPr lang="en-US" sz="14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PEG</a:t>
            </a:r>
          </a:p>
        </p:txBody>
      </p:sp>
      <p:sp>
        <p:nvSpPr>
          <p:cNvPr id="117" name="HE mgmt button">
            <a:extLst>
              <a:ext uri="{FF2B5EF4-FFF2-40B4-BE49-F238E27FC236}">
                <a16:creationId xmlns:a16="http://schemas.microsoft.com/office/drawing/2014/main" id="{CC56F932-8CC0-4263-B0E6-21EE162BBA50}"/>
              </a:ext>
            </a:extLst>
          </p:cNvPr>
          <p:cNvSpPr txBox="1"/>
          <p:nvPr/>
        </p:nvSpPr>
        <p:spPr>
          <a:xfrm>
            <a:off x="9957170" y="3488746"/>
            <a:ext cx="2034463" cy="120668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endParaRPr lang="en" sz="1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IB mgmt answer">
            <a:extLst>
              <a:ext uri="{FF2B5EF4-FFF2-40B4-BE49-F238E27FC236}">
                <a16:creationId xmlns:a16="http://schemas.microsoft.com/office/drawing/2014/main" id="{FC6235C3-3626-4910-B628-3043664F640C}"/>
              </a:ext>
            </a:extLst>
          </p:cNvPr>
          <p:cNvSpPr txBox="1"/>
          <p:nvPr/>
        </p:nvSpPr>
        <p:spPr>
          <a:xfrm>
            <a:off x="9973713" y="4843417"/>
            <a:ext cx="2034463" cy="928805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4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Pantoprazole</a:t>
            </a:r>
          </a:p>
          <a:p>
            <a:pPr lvl="0" algn="ctr"/>
            <a:r>
              <a:rPr lang="en-US" sz="14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Octreotide</a:t>
            </a:r>
          </a:p>
          <a:p>
            <a:pPr lvl="0" algn="ctr"/>
            <a:r>
              <a:rPr lang="en-US" sz="14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IV cefotaxime or </a:t>
            </a:r>
            <a:r>
              <a:rPr lang="en-US" sz="1400" dirty="0" err="1">
                <a:solidFill>
                  <a:schemeClr val="tx1"/>
                </a:solidFill>
                <a:ea typeface="Calibri"/>
                <a:cs typeface="Calibri"/>
                <a:sym typeface="Calibri"/>
              </a:rPr>
              <a:t>ceftriax</a:t>
            </a:r>
            <a:endParaRPr lang="en-US" sz="1400" dirty="0">
              <a:solidFill>
                <a:schemeClr val="tx1"/>
              </a:solidFill>
              <a:ea typeface="Calibri"/>
              <a:cs typeface="Calibri"/>
              <a:sym typeface="Calibri"/>
            </a:endParaRPr>
          </a:p>
          <a:p>
            <a:pPr lvl="0" algn="ctr"/>
            <a:r>
              <a:rPr lang="en-US" sz="14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EGD</a:t>
            </a:r>
            <a:endParaRPr lang="en" sz="1400" dirty="0">
              <a:solidFill>
                <a:schemeClr val="tx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19" name="GIB mgmt button">
            <a:extLst>
              <a:ext uri="{FF2B5EF4-FFF2-40B4-BE49-F238E27FC236}">
                <a16:creationId xmlns:a16="http://schemas.microsoft.com/office/drawing/2014/main" id="{4B0D08FD-CBC5-4A57-9B06-93D8564392D1}"/>
              </a:ext>
            </a:extLst>
          </p:cNvPr>
          <p:cNvSpPr txBox="1"/>
          <p:nvPr/>
        </p:nvSpPr>
        <p:spPr>
          <a:xfrm>
            <a:off x="9964188" y="4843417"/>
            <a:ext cx="2034463" cy="928805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endParaRPr lang="en" sz="1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SBP eval answer">
            <a:extLst>
              <a:ext uri="{FF2B5EF4-FFF2-40B4-BE49-F238E27FC236}">
                <a16:creationId xmlns:a16="http://schemas.microsoft.com/office/drawing/2014/main" id="{0B6C2018-C18D-4452-BF9F-7A8F4A1F5D89}"/>
              </a:ext>
            </a:extLst>
          </p:cNvPr>
          <p:cNvSpPr txBox="1"/>
          <p:nvPr/>
        </p:nvSpPr>
        <p:spPr>
          <a:xfrm>
            <a:off x="9993779" y="5964330"/>
            <a:ext cx="2034463" cy="736878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IV cefotaxime or </a:t>
            </a:r>
            <a:r>
              <a:rPr lang="en-US" sz="1400" dirty="0" err="1">
                <a:solidFill>
                  <a:schemeClr val="tx1"/>
                </a:solidFill>
                <a:ea typeface="Calibri"/>
                <a:cs typeface="Calibri"/>
                <a:sym typeface="Calibri"/>
              </a:rPr>
              <a:t>ceftriax</a:t>
            </a:r>
            <a:endParaRPr lang="en-US" sz="1400" dirty="0">
              <a:solidFill>
                <a:schemeClr val="tx1"/>
              </a:solidFill>
              <a:ea typeface="Calibri"/>
              <a:cs typeface="Calibri"/>
              <a:sym typeface="Calibri"/>
            </a:endParaRPr>
          </a:p>
          <a:p>
            <a:pPr lvl="0" algn="ctr"/>
            <a:r>
              <a:rPr lang="en-US" sz="14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+</a:t>
            </a:r>
          </a:p>
          <a:p>
            <a:pPr lvl="0" algn="ctr"/>
            <a:r>
              <a:rPr lang="en-US" sz="14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Albumin</a:t>
            </a:r>
            <a:endParaRPr lang="en" sz="1400" dirty="0">
              <a:solidFill>
                <a:schemeClr val="tx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21" name="SBP mgmt button">
            <a:extLst>
              <a:ext uri="{FF2B5EF4-FFF2-40B4-BE49-F238E27FC236}">
                <a16:creationId xmlns:a16="http://schemas.microsoft.com/office/drawing/2014/main" id="{AB1E9F6E-27C7-440A-A3F8-497BF09204C7}"/>
              </a:ext>
            </a:extLst>
          </p:cNvPr>
          <p:cNvSpPr txBox="1"/>
          <p:nvPr/>
        </p:nvSpPr>
        <p:spPr>
          <a:xfrm>
            <a:off x="9984254" y="5964330"/>
            <a:ext cx="2034463" cy="736878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endParaRPr lang="en" sz="1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7F66FFA-165A-45EF-B8A9-2994171171A7}"/>
              </a:ext>
            </a:extLst>
          </p:cNvPr>
          <p:cNvGrpSpPr/>
          <p:nvPr/>
        </p:nvGrpSpPr>
        <p:grpSpPr>
          <a:xfrm>
            <a:off x="1671532" y="3471400"/>
            <a:ext cx="2427991" cy="523220"/>
            <a:chOff x="1693406" y="3076156"/>
            <a:chExt cx="2427991" cy="523220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810AF81-4C8F-46CF-99D5-2F38A8FFC98E}"/>
                </a:ext>
              </a:extLst>
            </p:cNvPr>
            <p:cNvSpPr txBox="1"/>
            <p:nvPr/>
          </p:nvSpPr>
          <p:spPr>
            <a:xfrm>
              <a:off x="1693406" y="3183877"/>
              <a:ext cx="4327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/>
                <a:t>no</a:t>
              </a:r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CF3E6CC6-06AD-413E-B98E-CFA750742B11}"/>
                </a:ext>
              </a:extLst>
            </p:cNvPr>
            <p:cNvCxnSpPr>
              <a:cxnSpLocks/>
              <a:stCxn id="70" idx="3"/>
              <a:endCxn id="77" idx="1"/>
            </p:cNvCxnSpPr>
            <p:nvPr/>
          </p:nvCxnSpPr>
          <p:spPr>
            <a:xfrm>
              <a:off x="2126138" y="3337766"/>
              <a:ext cx="19133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070EA73A-A964-423D-94E5-A99D792BCA70}"/>
                </a:ext>
              </a:extLst>
            </p:cNvPr>
            <p:cNvSpPr txBox="1"/>
            <p:nvPr/>
          </p:nvSpPr>
          <p:spPr>
            <a:xfrm>
              <a:off x="2317468" y="3076156"/>
              <a:ext cx="18039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/>
                <a:t>+ complications</a:t>
              </a:r>
            </a:p>
            <a:p>
              <a:pPr algn="ctr"/>
              <a:r>
                <a:rPr lang="en-US" sz="1400" i="1" dirty="0"/>
                <a:t>med survival: &lt; 6 </a:t>
              </a:r>
              <a:r>
                <a:rPr lang="en-US" sz="1400" i="1" dirty="0" err="1"/>
                <a:t>mos</a:t>
              </a:r>
              <a:endParaRPr lang="en-US" sz="14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66151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3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1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1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1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5"/>
                  </p:tgtEl>
                </p:cond>
              </p:nextCondLst>
            </p:seq>
            <p:seq concurrent="1" nextAc="seek">
              <p:cTn id="121" restart="whenNotActive" fill="hold" evtFilter="cancelBubble" nodeType="interactiveSeq">
                <p:stCondLst>
                  <p:cond evt="onClick" delay="0">
                    <p:tgtEl>
                      <p:spTgt spid="1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7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1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9"/>
                  </p:tgtEl>
                </p:cond>
              </p:nextCondLst>
            </p:seq>
            <p:seq concurrent="1" nextAc="seek">
              <p:cTn id="135" restart="whenNotActive" fill="hold" evtFilter="cancelBubble" nodeType="interactiveSeq">
                <p:stCondLst>
                  <p:cond evt="onClick" delay="0">
                    <p:tgtEl>
                      <p:spTgt spid="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1"/>
                  </p:tgtEl>
                </p:cond>
              </p:nextCondLst>
            </p:seq>
          </p:childTnLst>
        </p:cTn>
      </p:par>
    </p:tnLst>
    <p:bldLst>
      <p:bldP spid="4" grpId="0" animBg="1"/>
      <p:bldP spid="78" grpId="0" animBg="1"/>
      <p:bldP spid="79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5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txBody>
          <a:bodyPr wrap="square" lIns="365760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Guideline Update (2021–2023)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MELD 3.0 replaced MELD-Na for US liver allocation (OPTN, 2023). It adds serum albumin and female sex and re-weights Na/bilirubin/INR/creatinine — modestly lowers waitlist mortality and improves access for women. Where the board says "MELD-Na," current allocation uses MELD 3.0.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Hepatorenal syndrome: terlipressin is FDA-approved (Sept 2022) and AASLD-recommended FIRST-LINE for HRS-AKI (with albumin); octreotide/midodrine + albumin remains the alternative where terlipressin is unavailable. Type 1 HRS is now termed HRS-AKI (ICA 2015 / AASLD 2021).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Baveno VII (2022): in COMPENSATED cirrhosis with clinically significant portal hypertension (CSPH), carvedilol (the NSBB of choice) reduces first decompensation — chiefly ascites — and mortality (PREDESCI). A prevention lever upstream of this board’s decompensation focus.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Nomenclature (2023): NASH → MASH and NAFLD → MASLD; "MetALD" for metabolic dysfunction + moderate alcohol. Read the board’s "NASH (10%)" cause as MASH.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•  Unchanged &amp; current: diagnostic paracentesis for everyone admitted with cirrhosis + ascites; SAAG; SBP = cefotaxime/ceftriaxone + albumin; lactulose/rifaximin for HE; ceftriaxone + octreotide + PPI + EGD for variceal bleed.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txBody>
          <a:bodyPr wrap="square" lIns="365760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Take-Home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Decompensation = a rise in MELD (now MELD 3.0) or a new complication (ascites, variceal bleed, HE, SBP, HRS). Median survival falls sharply from compensated (~years) to decompensated disease.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Work up acute decompensation for overlapping precipitants: infection/SBP, GI bleeding, and portal vein thrombosis — diagnostic paracentesis, look for bleeding, and RUQ US with Doppler.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Essentially EVERYONE admitted with cirrhosis and ascites gets a diagnostic paracentesis (SAAG, cell count, culture). SBP = ANC ≥250 → cefotaxime/ceftriaxone PLUS albumin.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HRS-AKI: hold diuretics/nephrotoxins, give albumin, and treat with terlipressin (first-line) or octreotide/midodrine + albumin. HE: lactulose + rifaximin. Variceal bleed: ceftriaxone, octreotide, PPI, urgent EGD.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Risk-stratify and refer for transplant using MELD 3.0; in compensated cirrhosis with CSPH, carvedilol can prevent the first decompensation.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txBody>
          <a:bodyPr wrap="square" lIns="365760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Attribution, License &amp; Changelog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Adapted from the TeachIM original "Management of Decompensated Cirrhosis" (published Jan 2020).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 Authors: Yilin Zhang, MD; Brandon Fainstad, MD. Based on a talk by Neha Deshpande, MD; Yilin Zhang, MD; Eric Lamotte, MD.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 Source: https://teachim.org/teaching_material/management-of-decompensated-cirrhosis/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 License: Creative Commons Attribution-NonCommercial 4.0 International (CC BY-NC 4.0). Non-commercial educational use only.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 Optimization (June 2026): surgical correction — cause-of-cirrhosis list "Hematomachrosis" → "Hemochromatosis". All original click-to-reveal animations and graphics on the interactive board preserved.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 Added: 2021–2023 guideline-update slide (MELD 3.0, terlipressin for HRS-AKI, Baveno VII carvedilol/CSPH, MASLD/MASH) + take-home slide. Companion: Decompensated Cirrhosis learner handout (Management-of-Decompensated-Cirrhosis-learner-handout.pdf) — reviewed, no changes needed.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Medical content should be clinician-reviewed before teaching.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4353</TotalTime>
  <Words>257</Words>
  <Application>Microsoft Office PowerPoint</Application>
  <PresentationFormat>Widescreen</PresentationFormat>
  <Paragraphs>89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Yilin Zhang</dc:creator>
  <cp:lastModifiedBy>Brandon Fainstad</cp:lastModifiedBy>
  <cp:revision>5</cp:revision>
  <dcterms:created xsi:type="dcterms:W3CDTF">2017-11-04T03:20:53Z</dcterms:created>
  <dcterms:modified xsi:type="dcterms:W3CDTF">2020-10-07T16:51:52Z</dcterms:modified>
</cp:coreProperties>
</file>