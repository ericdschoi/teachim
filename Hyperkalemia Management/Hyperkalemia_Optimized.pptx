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6.svg" ContentType="image/svg+xml"/>
  <Override PartName="/ppt/media/image30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4.svg" ContentType="image/svg+xml"/>
  <Override PartName="/ppt/media/image40.tmp" ContentType="image/png"/>
  <Override PartName="/ppt/media/image42.tmp" ContentType="image/png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348" r:id="rId2"/>
    <p:sldId id="339" r:id="rId3"/>
    <p:sldId id="347" r:id="rId4"/>
    <p:sldId id="343" r:id="rId5"/>
    <p:sldId id="344" r:id="rId6"/>
    <p:sldId id="346" r:id="rId7"/>
    <p:sldId id="349" r:id="rId8"/>
    <p:sldId id="342" r:id="rId9"/>
    <p:sldId id="350" r:id="rId10"/>
    <p:sldId id="351" r:id="rId17"/>
    <p:sldId id="352" r:id="rId18"/>
    <p:sldId id="35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8E"/>
    <a:srgbClr val="0000FF"/>
    <a:srgbClr val="8585FF"/>
    <a:srgbClr val="600060"/>
    <a:srgbClr val="A200A2"/>
    <a:srgbClr val="FF00FF"/>
    <a:srgbClr val="0000EE"/>
    <a:srgbClr val="000050"/>
    <a:srgbClr val="3333FF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6962" autoAdjust="0"/>
  </p:normalViewPr>
  <p:slideViewPr>
    <p:cSldViewPr snapToGrid="0">
      <p:cViewPr varScale="1">
        <p:scale>
          <a:sx n="93" d="100"/>
          <a:sy n="93" d="100"/>
        </p:scale>
        <p:origin x="118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D6BA3C1-51F0-46FC-AC10-D6FAEA1A17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1080D3-76F2-42C4-B79F-D9BDA672986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0078B-65A0-48F6-8FE1-01228B10B524}" type="datetimeFigureOut">
              <a:rPr lang="en-US" smtClean="0"/>
              <a:t>4/12/2022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DC0E78-B97D-442F-BC37-1ACBFDC3602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A73EA5-4137-4FF6-82CC-3C628F032D3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87EB17-23B2-4354-A600-37D20E019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1709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CEF40-6588-4DFF-96C7-6B16337A4BFD}" type="datetimeFigureOut">
              <a:rPr lang="en-US" smtClean="0"/>
              <a:t>4/12/2022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F0BB6-711B-40E2-B935-1331A0562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206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F0BB6-711B-40E2-B935-1331A0562B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68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added the word ‘lab’ to the ‘You’ quote on common scenario</a:t>
            </a:r>
          </a:p>
          <a:p>
            <a:pPr marL="228600" indent="-228600">
              <a:buAutoNum type="arabicPeriod"/>
            </a:pPr>
            <a:r>
              <a:rPr lang="en-US" dirty="0"/>
              <a:t>For potassium excretion table</a:t>
            </a:r>
          </a:p>
          <a:p>
            <a:pPr marL="685800" lvl="1" indent="-228600">
              <a:buAutoNum type="arabicPeriod"/>
            </a:pPr>
            <a:r>
              <a:rPr lang="en-US" dirty="0"/>
              <a:t>Remove ‘risk of bowel necrosis’ and ‘no benefit over other laxatives’ to make space for:</a:t>
            </a:r>
          </a:p>
          <a:p>
            <a:pPr marL="685800" lvl="1" indent="-228600">
              <a:buAutoNum type="arabicPeriod"/>
            </a:pPr>
            <a:r>
              <a:rPr lang="en-US" dirty="0"/>
              <a:t>“Don’t give if HD is expected.  Diarrhea is difficult to manage during HD”.  Or something like that.  At least at UW, this was the most common reason </a:t>
            </a:r>
            <a:r>
              <a:rPr lang="en-US" dirty="0" err="1"/>
              <a:t>nephro</a:t>
            </a:r>
            <a:r>
              <a:rPr lang="en-US" dirty="0"/>
              <a:t> asked us not to give it.  </a:t>
            </a:r>
          </a:p>
          <a:p>
            <a:pPr marL="0" lvl="0" indent="0">
              <a:buNone/>
            </a:pPr>
            <a:r>
              <a:rPr lang="en-US" dirty="0"/>
              <a:t>3. Final framework.  Do you want to have a summary slide that lists it out 1. consider recheck, 2. myocardial stabilization - </a:t>
            </a:r>
            <a:r>
              <a:rPr lang="en-US" dirty="0" err="1"/>
              <a:t>CaCl</a:t>
            </a:r>
            <a:r>
              <a:rPr lang="en-US" dirty="0"/>
              <a:t> 1g IV CVC or Ca Gluconate 2g IV PIV, 3. shift: 10u insulin + D50, albuterol, NaHCO3 50meq IV, 4. excretion – NaCl or NaHCO3, Lasix (if retained renal function and not hypovolemic), kayexalate (unless HD is planned). Or something </a:t>
            </a:r>
            <a:r>
              <a:rPr lang="en-US"/>
              <a:t>like that. </a:t>
            </a:r>
            <a:endParaRPr lang="en-US" dirty="0"/>
          </a:p>
          <a:p>
            <a:r>
              <a:rPr lang="en-US" dirty="0"/>
              <a:t>3. I added the other cases template slide in case you prefer the layout.  Either are fine.  The one you had might be nice because of the extra room for ECGs.  But I think you should plan on more than 2 cases.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F0BB6-711B-40E2-B935-1331A0562B9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5508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F0BB6-711B-40E2-B935-1331A0562B9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521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F0BB6-711B-40E2-B935-1331A0562B9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782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F0BB6-711B-40E2-B935-1331A0562B9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5890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F0BB6-711B-40E2-B935-1331A0562B9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317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F0BB6-711B-40E2-B935-1331A0562B9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8991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F0BB6-711B-40E2-B935-1331A0562B9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3331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A47A9-D53B-43D9-8708-4A4F9CD95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6AC791-CF7B-4E5A-829B-C1FEA7278E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A3820-9C64-4254-B706-D7655C887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A3BB0-232D-4C30-81EA-22F168436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54119-109B-45F1-AE71-24E5326EF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81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4F50C-21F5-4629-9EC6-785D86A73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8CE0E-9445-461F-9ECE-DDFCB30DE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AAB52-45BA-4DA5-8D42-A08F5258C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2237F-3FF5-4808-8FD5-00EF68EB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A63D9-4B9C-4C5F-9F78-072EDC354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301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EFD5A-4224-4D3C-B1F1-B90A847A5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B6431-F589-4041-83A9-477647B3D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6F8E7-1AA6-4BD7-A388-9A352EFFA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54B6F-EDE8-4FBE-9CCD-D1DA25653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CB8CD-7770-4694-A186-17FB1A04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745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1048C-8CE6-4F5C-9D54-EEF648B5D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A9E7-68D0-4CAE-8EED-7E16296A61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3C60E-E3A3-43C5-9B70-2947682C4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661302-CA24-440A-B4FF-2A215B803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4/12/2022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EEBFF-4BF8-4D9A-877C-4E5B15B3B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3C224-531D-4D5F-B138-C8C2DF558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82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275BB-BA8C-4CC9-93B3-4A118DAD3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6F770-99FF-4877-A6E4-801BCDCA7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173736-8DED-4689-9646-4FBAC9D97A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948A43-C6BB-4B91-88F4-AA4F08A7F1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F14354-CC40-406E-99F5-5BC15D383A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7D4896-9FCB-4EF0-BFDF-E1D1B2FC7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4/12/2022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12BA49-F00F-4AFE-AB38-3A00DBD12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F7A29B-38B0-4F09-BE1C-9FA194FAB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EDF8A-24FB-44E0-9F17-99FE2945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4F6B9C-BC36-4C97-A0C2-298B31B7F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4/12/2022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75006E-543E-470E-A609-8F2C7C4FA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5B6329-5671-4FC1-9965-4613377B2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071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27B9BC-B772-43F8-B4FC-CF88D87B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4/12/2022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8AABF-8B66-415F-B026-058588D73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94FAD-0F36-4D49-8D81-BC7EBBED3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563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4225D-6212-45BF-9127-F3496C195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76053-9083-4DB1-AC75-EEAFE66D1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CAA03-47AC-448C-BD62-44DFDB1CA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466D0-E4EF-4DF9-8096-64AA0A648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4/12/2022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D45805-0774-4915-B57B-553C8A9B7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4D829-266E-48F1-BED7-DD6BB3E4B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342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66985-27E5-4F8C-BF91-22DEDCF51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4F96F4-60CE-40AC-AE3F-7773EA444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837F7-B670-4DDC-AFE1-EBA1784FB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39E62-6360-48A5-B5FE-258587AB4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4/12/2022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28423-8843-4CD6-A271-610D92326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C43CA-DAE0-4E68-99E5-FF49B44A1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710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8CC0A-32B2-4D6B-A976-152A5A6BB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C7FAE1-E8C3-4A04-99E1-FC26CF51F3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D4EBF-9BC0-48F9-BBA1-256AA7B44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FBAC2-A8AA-4365-8035-E8139DCAB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C765-A941-41A8-ACE1-FC7EEB923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857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BA6490-5CB4-4007-BF9C-C0B9BBFD82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EA637B-55D1-4FD6-8826-8107FE6954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3F6E6-4340-45E1-8E17-57FEF9878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51AFE-9DEF-42C3-B256-8BF6A263A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1D9F0-0590-4283-85CE-FDF9A9299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0854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8B2958-4B36-4099-B770-95CB160AB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95D57-598D-40AC-A83B-119200F92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F33C1-0465-4F25-B77C-BB92D54D44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F14A-D76B-40B9-B3E4-3854EC9865A5}" type="datetimeFigureOut">
              <a:rPr lang="en-US" smtClean="0"/>
              <a:t>4/12/2022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183EC-0D02-4E7B-AF4B-BCEBEC8047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5E90E-61B1-441D-88BB-8B212DF7D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362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slide" Target="slide8.xml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slide" Target="slide2.xml"/><Relationship Id="rId9" Type="http://schemas.openxmlformats.org/officeDocument/2006/relationships/slide" Target="slide3.xml"/><Relationship Id="rId10" Type="http://schemas.openxmlformats.org/officeDocument/2006/relationships/image" Target="../media/image5.png"/><Relationship Id="rId11" Type="http://schemas.openxmlformats.org/officeDocument/2006/relationships/image" Target="../media/image6.svg"/><Relationship Id="rId12" Type="http://schemas.openxmlformats.org/officeDocument/2006/relationships/slide" Target="slide4.xml"/><Relationship Id="rId13" Type="http://schemas.openxmlformats.org/officeDocument/2006/relationships/image" Target="../media/image7.png"/><Relationship Id="rId14" Type="http://schemas.openxmlformats.org/officeDocument/2006/relationships/image" Target="../media/image8.svg"/><Relationship Id="rId15" Type="http://schemas.openxmlformats.org/officeDocument/2006/relationships/slide" Target="slide5.xml"/><Relationship Id="rId16" Type="http://schemas.openxmlformats.org/officeDocument/2006/relationships/image" Target="../media/image9.png"/><Relationship Id="rId17" Type="http://schemas.openxmlformats.org/officeDocument/2006/relationships/image" Target="../media/image10.svg"/><Relationship Id="rId18" Type="http://schemas.openxmlformats.org/officeDocument/2006/relationships/slide" Target="slide6.xml"/><Relationship Id="rId19" Type="http://schemas.openxmlformats.org/officeDocument/2006/relationships/image" Target="../media/image11.png"/><Relationship Id="rId20" Type="http://schemas.openxmlformats.org/officeDocument/2006/relationships/image" Target="../media/image12.svg"/><Relationship Id="rId21" Type="http://schemas.openxmlformats.org/officeDocument/2006/relationships/slide" Target="slide7.xml"/><Relationship Id="rId22" Type="http://schemas.openxmlformats.org/officeDocument/2006/relationships/image" Target="../media/image13.png"/><Relationship Id="rId23" Type="http://schemas.openxmlformats.org/officeDocument/2006/relationships/image" Target="../media/image14.svg"/><Relationship Id="rId24" Type="http://schemas.openxmlformats.org/officeDocument/2006/relationships/image" Target="../media/image15.png"/><Relationship Id="rId25" Type="http://schemas.openxmlformats.org/officeDocument/2006/relationships/image" Target="../media/image16.png"/><Relationship Id="rId26" Type="http://schemas.openxmlformats.org/officeDocument/2006/relationships/image" Target="../media/image17.png"/><Relationship Id="rId27" Type="http://schemas.openxmlformats.org/officeDocument/2006/relationships/image" Target="../media/image18.svg"/><Relationship Id="rId28" Type="http://schemas.openxmlformats.org/officeDocument/2006/relationships/image" Target="../media/image19.png"/><Relationship Id="rId29" Type="http://schemas.openxmlformats.org/officeDocument/2006/relationships/image" Target="../media/image20.svg"/><Relationship Id="rId30" Type="http://schemas.openxmlformats.org/officeDocument/2006/relationships/image" Target="../media/image2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svg"/><Relationship Id="rId11" Type="http://schemas.openxmlformats.org/officeDocument/2006/relationships/image" Target="../media/image21.png"/><Relationship Id="rId12" Type="http://schemas.openxmlformats.org/officeDocument/2006/relationships/slide" Target="slide8.xml"/><Relationship Id="rId13" Type="http://schemas.openxmlformats.org/officeDocument/2006/relationships/slide" Target="slide3.xml"/><Relationship Id="rId14" Type="http://schemas.openxmlformats.org/officeDocument/2006/relationships/image" Target="../media/image5.png"/><Relationship Id="rId15" Type="http://schemas.openxmlformats.org/officeDocument/2006/relationships/image" Target="../media/image6.svg"/><Relationship Id="rId16" Type="http://schemas.openxmlformats.org/officeDocument/2006/relationships/slide" Target="slide4.xml"/><Relationship Id="rId17" Type="http://schemas.openxmlformats.org/officeDocument/2006/relationships/image" Target="../media/image7.png"/><Relationship Id="rId18" Type="http://schemas.openxmlformats.org/officeDocument/2006/relationships/image" Target="../media/image8.svg"/><Relationship Id="rId19" Type="http://schemas.openxmlformats.org/officeDocument/2006/relationships/slide" Target="slide5.xml"/><Relationship Id="rId20" Type="http://schemas.openxmlformats.org/officeDocument/2006/relationships/image" Target="../media/image9.png"/><Relationship Id="rId21" Type="http://schemas.openxmlformats.org/officeDocument/2006/relationships/image" Target="../media/image10.svg"/><Relationship Id="rId22" Type="http://schemas.openxmlformats.org/officeDocument/2006/relationships/slide" Target="slide6.xml"/><Relationship Id="rId23" Type="http://schemas.openxmlformats.org/officeDocument/2006/relationships/image" Target="../media/image11.png"/><Relationship Id="rId24" Type="http://schemas.openxmlformats.org/officeDocument/2006/relationships/image" Target="../media/image12.svg"/><Relationship Id="rId25" Type="http://schemas.openxmlformats.org/officeDocument/2006/relationships/slide" Target="slide7.xml"/><Relationship Id="rId26" Type="http://schemas.openxmlformats.org/officeDocument/2006/relationships/image" Target="../media/image13.png"/><Relationship Id="rId27" Type="http://schemas.openxmlformats.org/officeDocument/2006/relationships/image" Target="../media/image14.svg"/><Relationship Id="rId28" Type="http://schemas.openxmlformats.org/officeDocument/2006/relationships/image" Target="../media/image19.png"/><Relationship Id="rId29" Type="http://schemas.openxmlformats.org/officeDocument/2006/relationships/image" Target="../media/image20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sv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1.png"/><Relationship Id="rId14" Type="http://schemas.openxmlformats.org/officeDocument/2006/relationships/image" Target="../media/image24.png"/><Relationship Id="rId15" Type="http://schemas.openxmlformats.org/officeDocument/2006/relationships/slide" Target="slide8.xml"/><Relationship Id="rId16" Type="http://schemas.openxmlformats.org/officeDocument/2006/relationships/slide" Target="slide3.xml"/><Relationship Id="rId17" Type="http://schemas.openxmlformats.org/officeDocument/2006/relationships/image" Target="../media/image25.png"/><Relationship Id="rId18" Type="http://schemas.openxmlformats.org/officeDocument/2006/relationships/image" Target="../media/image26.svg"/><Relationship Id="rId19" Type="http://schemas.openxmlformats.org/officeDocument/2006/relationships/slide" Target="slide2.xml"/><Relationship Id="rId20" Type="http://schemas.openxmlformats.org/officeDocument/2006/relationships/image" Target="../media/image27.png"/><Relationship Id="rId21" Type="http://schemas.openxmlformats.org/officeDocument/2006/relationships/image" Target="../media/image28.png"/><Relationship Id="rId22" Type="http://schemas.openxmlformats.org/officeDocument/2006/relationships/slide" Target="slide4.xml"/><Relationship Id="rId23" Type="http://schemas.openxmlformats.org/officeDocument/2006/relationships/image" Target="../media/image7.png"/><Relationship Id="rId24" Type="http://schemas.openxmlformats.org/officeDocument/2006/relationships/image" Target="../media/image8.svg"/><Relationship Id="rId25" Type="http://schemas.openxmlformats.org/officeDocument/2006/relationships/slide" Target="slide5.xml"/><Relationship Id="rId26" Type="http://schemas.openxmlformats.org/officeDocument/2006/relationships/image" Target="../media/image9.png"/><Relationship Id="rId27" Type="http://schemas.openxmlformats.org/officeDocument/2006/relationships/image" Target="../media/image10.svg"/><Relationship Id="rId28" Type="http://schemas.openxmlformats.org/officeDocument/2006/relationships/slide" Target="slide6.xml"/><Relationship Id="rId29" Type="http://schemas.openxmlformats.org/officeDocument/2006/relationships/image" Target="../media/image11.png"/><Relationship Id="rId30" Type="http://schemas.openxmlformats.org/officeDocument/2006/relationships/image" Target="../media/image12.svg"/><Relationship Id="rId31" Type="http://schemas.openxmlformats.org/officeDocument/2006/relationships/slide" Target="slide7.xml"/><Relationship Id="rId32" Type="http://schemas.openxmlformats.org/officeDocument/2006/relationships/image" Target="../media/image13.png"/><Relationship Id="rId33" Type="http://schemas.openxmlformats.org/officeDocument/2006/relationships/image" Target="../media/image14.svg"/><Relationship Id="rId34" Type="http://schemas.openxmlformats.org/officeDocument/2006/relationships/image" Target="../media/image19.png"/><Relationship Id="rId35" Type="http://schemas.openxmlformats.org/officeDocument/2006/relationships/image" Target="../media/image20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24.png"/><Relationship Id="rId5" Type="http://schemas.openxmlformats.org/officeDocument/2006/relationships/slide" Target="slide8.xml"/><Relationship Id="rId6" Type="http://schemas.openxmlformats.org/officeDocument/2006/relationships/slide" Target="slide2.xml"/><Relationship Id="rId7" Type="http://schemas.openxmlformats.org/officeDocument/2006/relationships/slide" Target="slide4.xml"/><Relationship Id="rId8" Type="http://schemas.openxmlformats.org/officeDocument/2006/relationships/image" Target="../media/image29.png"/><Relationship Id="rId9" Type="http://schemas.openxmlformats.org/officeDocument/2006/relationships/image" Target="../media/image30.svg"/><Relationship Id="rId10" Type="http://schemas.openxmlformats.org/officeDocument/2006/relationships/slide" Target="slide5.xml"/><Relationship Id="rId11" Type="http://schemas.openxmlformats.org/officeDocument/2006/relationships/image" Target="../media/image9.png"/><Relationship Id="rId12" Type="http://schemas.openxmlformats.org/officeDocument/2006/relationships/image" Target="../media/image10.svg"/><Relationship Id="rId13" Type="http://schemas.openxmlformats.org/officeDocument/2006/relationships/slide" Target="slide6.xml"/><Relationship Id="rId14" Type="http://schemas.openxmlformats.org/officeDocument/2006/relationships/image" Target="../media/image11.png"/><Relationship Id="rId15" Type="http://schemas.openxmlformats.org/officeDocument/2006/relationships/image" Target="../media/image12.svg"/><Relationship Id="rId16" Type="http://schemas.openxmlformats.org/officeDocument/2006/relationships/slide" Target="slide7.xml"/><Relationship Id="rId17" Type="http://schemas.openxmlformats.org/officeDocument/2006/relationships/image" Target="../media/image13.png"/><Relationship Id="rId18" Type="http://schemas.openxmlformats.org/officeDocument/2006/relationships/image" Target="../media/image14.svg"/><Relationship Id="rId19" Type="http://schemas.openxmlformats.org/officeDocument/2006/relationships/slide" Target="slide3.xml"/><Relationship Id="rId20" Type="http://schemas.openxmlformats.org/officeDocument/2006/relationships/image" Target="../media/image5.png"/><Relationship Id="rId21" Type="http://schemas.openxmlformats.org/officeDocument/2006/relationships/image" Target="../media/image6.svg"/><Relationship Id="rId22" Type="http://schemas.openxmlformats.org/officeDocument/2006/relationships/image" Target="../media/image19.png"/><Relationship Id="rId23" Type="http://schemas.openxmlformats.org/officeDocument/2006/relationships/image" Target="../media/image20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svg"/><Relationship Id="rId11" Type="http://schemas.openxmlformats.org/officeDocument/2006/relationships/image" Target="../media/image31.png"/><Relationship Id="rId12" Type="http://schemas.openxmlformats.org/officeDocument/2006/relationships/image" Target="../media/image23.png"/><Relationship Id="rId13" Type="http://schemas.openxmlformats.org/officeDocument/2006/relationships/image" Target="../media/image21.png"/><Relationship Id="rId14" Type="http://schemas.openxmlformats.org/officeDocument/2006/relationships/slide" Target="slide8.xml"/><Relationship Id="rId15" Type="http://schemas.openxmlformats.org/officeDocument/2006/relationships/slide" Target="slide2.xml"/><Relationship Id="rId16" Type="http://schemas.openxmlformats.org/officeDocument/2006/relationships/slide" Target="slide4.xml"/><Relationship Id="rId17" Type="http://schemas.openxmlformats.org/officeDocument/2006/relationships/image" Target="../media/image7.png"/><Relationship Id="rId18" Type="http://schemas.openxmlformats.org/officeDocument/2006/relationships/image" Target="../media/image8.svg"/><Relationship Id="rId19" Type="http://schemas.openxmlformats.org/officeDocument/2006/relationships/slide" Target="slide5.xml"/><Relationship Id="rId20" Type="http://schemas.openxmlformats.org/officeDocument/2006/relationships/image" Target="../media/image32.png"/><Relationship Id="rId21" Type="http://schemas.openxmlformats.org/officeDocument/2006/relationships/image" Target="../media/image33.svg"/><Relationship Id="rId22" Type="http://schemas.openxmlformats.org/officeDocument/2006/relationships/slide" Target="slide6.xml"/><Relationship Id="rId23" Type="http://schemas.openxmlformats.org/officeDocument/2006/relationships/image" Target="../media/image11.png"/><Relationship Id="rId24" Type="http://schemas.openxmlformats.org/officeDocument/2006/relationships/image" Target="../media/image12.svg"/><Relationship Id="rId25" Type="http://schemas.openxmlformats.org/officeDocument/2006/relationships/slide" Target="slide7.xml"/><Relationship Id="rId26" Type="http://schemas.openxmlformats.org/officeDocument/2006/relationships/image" Target="../media/image13.png"/><Relationship Id="rId27" Type="http://schemas.openxmlformats.org/officeDocument/2006/relationships/image" Target="../media/image14.svg"/><Relationship Id="rId28" Type="http://schemas.openxmlformats.org/officeDocument/2006/relationships/slide" Target="slide3.xml"/><Relationship Id="rId29" Type="http://schemas.openxmlformats.org/officeDocument/2006/relationships/image" Target="../media/image5.png"/><Relationship Id="rId30" Type="http://schemas.openxmlformats.org/officeDocument/2006/relationships/image" Target="../media/image6.svg"/><Relationship Id="rId31" Type="http://schemas.openxmlformats.org/officeDocument/2006/relationships/image" Target="../media/image19.png"/><Relationship Id="rId32" Type="http://schemas.openxmlformats.org/officeDocument/2006/relationships/image" Target="../media/image20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svg"/><Relationship Id="rId11" Type="http://schemas.openxmlformats.org/officeDocument/2006/relationships/image" Target="../media/image31.png"/><Relationship Id="rId12" Type="http://schemas.openxmlformats.org/officeDocument/2006/relationships/image" Target="../media/image21.png"/><Relationship Id="rId13" Type="http://schemas.openxmlformats.org/officeDocument/2006/relationships/image" Target="../media/image24.png"/><Relationship Id="rId14" Type="http://schemas.openxmlformats.org/officeDocument/2006/relationships/slide" Target="slide8.xml"/><Relationship Id="rId15" Type="http://schemas.openxmlformats.org/officeDocument/2006/relationships/slide" Target="slide2.xml"/><Relationship Id="rId16" Type="http://schemas.openxmlformats.org/officeDocument/2006/relationships/slide" Target="slide6.xml"/><Relationship Id="rId17" Type="http://schemas.openxmlformats.org/officeDocument/2006/relationships/image" Target="../media/image34.png"/><Relationship Id="rId18" Type="http://schemas.openxmlformats.org/officeDocument/2006/relationships/image" Target="../media/image35.svg"/><Relationship Id="rId19" Type="http://schemas.openxmlformats.org/officeDocument/2006/relationships/slide" Target="slide7.xml"/><Relationship Id="rId20" Type="http://schemas.openxmlformats.org/officeDocument/2006/relationships/image" Target="../media/image13.png"/><Relationship Id="rId21" Type="http://schemas.openxmlformats.org/officeDocument/2006/relationships/image" Target="../media/image14.svg"/><Relationship Id="rId22" Type="http://schemas.openxmlformats.org/officeDocument/2006/relationships/image" Target="../media/image19.png"/><Relationship Id="rId23" Type="http://schemas.openxmlformats.org/officeDocument/2006/relationships/image" Target="../media/image20.svg"/><Relationship Id="rId24" Type="http://schemas.openxmlformats.org/officeDocument/2006/relationships/slide" Target="slide4.xml"/><Relationship Id="rId25" Type="http://schemas.openxmlformats.org/officeDocument/2006/relationships/image" Target="../media/image7.png"/><Relationship Id="rId26" Type="http://schemas.openxmlformats.org/officeDocument/2006/relationships/image" Target="../media/image8.svg"/><Relationship Id="rId27" Type="http://schemas.openxmlformats.org/officeDocument/2006/relationships/slide" Target="slide5.xml"/><Relationship Id="rId28" Type="http://schemas.openxmlformats.org/officeDocument/2006/relationships/image" Target="../media/image9.png"/><Relationship Id="rId29" Type="http://schemas.openxmlformats.org/officeDocument/2006/relationships/image" Target="../media/image10.svg"/><Relationship Id="rId30" Type="http://schemas.openxmlformats.org/officeDocument/2006/relationships/slide" Target="slide3.xml"/><Relationship Id="rId31" Type="http://schemas.openxmlformats.org/officeDocument/2006/relationships/image" Target="../media/image5.png"/><Relationship Id="rId32" Type="http://schemas.openxmlformats.org/officeDocument/2006/relationships/image" Target="../media/image6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slide" Target="slide8.xml"/><Relationship Id="rId5" Type="http://schemas.openxmlformats.org/officeDocument/2006/relationships/slide" Target="slide2.xml"/><Relationship Id="rId6" Type="http://schemas.openxmlformats.org/officeDocument/2006/relationships/slide" Target="slide6.xml"/><Relationship Id="rId7" Type="http://schemas.openxmlformats.org/officeDocument/2006/relationships/image" Target="../media/image11.png"/><Relationship Id="rId8" Type="http://schemas.openxmlformats.org/officeDocument/2006/relationships/image" Target="../media/image12.svg"/><Relationship Id="rId9" Type="http://schemas.openxmlformats.org/officeDocument/2006/relationships/image" Target="../media/image36.png"/><Relationship Id="rId10" Type="http://schemas.openxmlformats.org/officeDocument/2006/relationships/image" Target="../media/image37.svg"/><Relationship Id="rId11" Type="http://schemas.openxmlformats.org/officeDocument/2006/relationships/image" Target="../media/image38.png"/><Relationship Id="rId12" Type="http://schemas.openxmlformats.org/officeDocument/2006/relationships/image" Target="../media/image19.png"/><Relationship Id="rId13" Type="http://schemas.openxmlformats.org/officeDocument/2006/relationships/image" Target="../media/image20.svg"/><Relationship Id="rId14" Type="http://schemas.openxmlformats.org/officeDocument/2006/relationships/image" Target="../media/image39.png"/><Relationship Id="rId15" Type="http://schemas.openxmlformats.org/officeDocument/2006/relationships/slide" Target="slide4.xml"/><Relationship Id="rId16" Type="http://schemas.openxmlformats.org/officeDocument/2006/relationships/image" Target="../media/image7.png"/><Relationship Id="rId17" Type="http://schemas.openxmlformats.org/officeDocument/2006/relationships/image" Target="../media/image8.svg"/><Relationship Id="rId18" Type="http://schemas.openxmlformats.org/officeDocument/2006/relationships/slide" Target="slide5.xml"/><Relationship Id="rId19" Type="http://schemas.openxmlformats.org/officeDocument/2006/relationships/image" Target="../media/image9.png"/><Relationship Id="rId20" Type="http://schemas.openxmlformats.org/officeDocument/2006/relationships/image" Target="../media/image10.svg"/><Relationship Id="rId21" Type="http://schemas.openxmlformats.org/officeDocument/2006/relationships/slide" Target="slide3.xml"/><Relationship Id="rId22" Type="http://schemas.openxmlformats.org/officeDocument/2006/relationships/image" Target="../media/image5.png"/><Relationship Id="rId23" Type="http://schemas.openxmlformats.org/officeDocument/2006/relationships/image" Target="../media/image6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slide" Target="slide2.xml"/><Relationship Id="rId4" Type="http://schemas.openxmlformats.org/officeDocument/2006/relationships/slide" Target="slide4.xml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slide" Target="slide5.xml"/><Relationship Id="rId8" Type="http://schemas.openxmlformats.org/officeDocument/2006/relationships/image" Target="../media/image9.png"/><Relationship Id="rId9" Type="http://schemas.openxmlformats.org/officeDocument/2006/relationships/image" Target="../media/image10.svg"/><Relationship Id="rId10" Type="http://schemas.openxmlformats.org/officeDocument/2006/relationships/slide" Target="slide6.xml"/><Relationship Id="rId11" Type="http://schemas.openxmlformats.org/officeDocument/2006/relationships/image" Target="../media/image11.png"/><Relationship Id="rId12" Type="http://schemas.openxmlformats.org/officeDocument/2006/relationships/image" Target="../media/image12.svg"/><Relationship Id="rId13" Type="http://schemas.openxmlformats.org/officeDocument/2006/relationships/slide" Target="slide7.xml"/><Relationship Id="rId14" Type="http://schemas.openxmlformats.org/officeDocument/2006/relationships/image" Target="../media/image13.png"/><Relationship Id="rId15" Type="http://schemas.openxmlformats.org/officeDocument/2006/relationships/image" Target="../media/image14.svg"/><Relationship Id="rId16" Type="http://schemas.openxmlformats.org/officeDocument/2006/relationships/slide" Target="slide3.xml"/><Relationship Id="rId17" Type="http://schemas.openxmlformats.org/officeDocument/2006/relationships/image" Target="../media/image5.png"/><Relationship Id="rId18" Type="http://schemas.openxmlformats.org/officeDocument/2006/relationships/image" Target="../media/image6.svg"/><Relationship Id="rId19" Type="http://schemas.openxmlformats.org/officeDocument/2006/relationships/image" Target="../media/image19.png"/><Relationship Id="rId20" Type="http://schemas.openxmlformats.org/officeDocument/2006/relationships/image" Target="../media/image20.svg"/><Relationship Id="rId21" Type="http://schemas.openxmlformats.org/officeDocument/2006/relationships/image" Target="../media/image40.tmp"/><Relationship Id="rId22" Type="http://schemas.openxmlformats.org/officeDocument/2006/relationships/slide" Target="slide9.xml"/><Relationship Id="rId23" Type="http://schemas.openxmlformats.org/officeDocument/2006/relationships/image" Target="../media/image4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tmp"/><Relationship Id="rId3" Type="http://schemas.openxmlformats.org/officeDocument/2006/relationships/slide" Target="slide8.xml"/><Relationship Id="rId4" Type="http://schemas.openxmlformats.org/officeDocument/2006/relationships/image" Target="../media/image19.png"/><Relationship Id="rId5" Type="http://schemas.openxmlformats.org/officeDocument/2006/relationships/image" Target="../media/image20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Cases">
            <a:hlinkClick r:id="rId3" action="ppaction://hlinksldjump"/>
            <a:extLst>
              <a:ext uri="{FF2B5EF4-FFF2-40B4-BE49-F238E27FC236}">
                <a16:creationId xmlns:a16="http://schemas.microsoft.com/office/drawing/2014/main" id="{EB525BD1-6253-423A-9A3E-87D517474861}"/>
              </a:ext>
            </a:extLst>
          </p:cNvPr>
          <p:cNvSpPr txBox="1"/>
          <p:nvPr/>
        </p:nvSpPr>
        <p:spPr>
          <a:xfrm>
            <a:off x="181122" y="5538834"/>
            <a:ext cx="2103120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Cases</a:t>
            </a:r>
          </a:p>
        </p:txBody>
      </p:sp>
      <p:grpSp>
        <p:nvGrpSpPr>
          <p:cNvPr id="4" name="reveal and hide">
            <a:extLst>
              <a:ext uri="{FF2B5EF4-FFF2-40B4-BE49-F238E27FC236}">
                <a16:creationId xmlns:a16="http://schemas.microsoft.com/office/drawing/2014/main" id="{AB07DF3C-FCBD-4345-91B6-3DE81A1C7BD3}"/>
              </a:ext>
            </a:extLst>
          </p:cNvPr>
          <p:cNvGrpSpPr/>
          <p:nvPr/>
        </p:nvGrpSpPr>
        <p:grpSpPr>
          <a:xfrm>
            <a:off x="2284242" y="68407"/>
            <a:ext cx="2222093" cy="600164"/>
            <a:chOff x="2273668" y="68154"/>
            <a:chExt cx="2222093" cy="600164"/>
          </a:xfrm>
        </p:grpSpPr>
        <p:sp>
          <p:nvSpPr>
            <p:cNvPr id="137" name="reveal and hide">
              <a:extLst>
                <a:ext uri="{FF2B5EF4-FFF2-40B4-BE49-F238E27FC236}">
                  <a16:creationId xmlns:a16="http://schemas.microsoft.com/office/drawing/2014/main" id="{E43C651D-F1EA-45B9-A89E-FF372708243F}"/>
                </a:ext>
              </a:extLst>
            </p:cNvPr>
            <p:cNvSpPr txBox="1"/>
            <p:nvPr/>
          </p:nvSpPr>
          <p:spPr>
            <a:xfrm>
              <a:off x="2889937" y="68154"/>
              <a:ext cx="1605824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Click these buttons to </a:t>
              </a:r>
              <a:r>
                <a:rPr lang="en-US" sz="1100" b="1" u="sng" dirty="0"/>
                <a:t>REVEAL &amp; HIDE </a:t>
              </a:r>
              <a:r>
                <a:rPr lang="en-US" sz="1100" dirty="0"/>
                <a:t>answers and graphics</a:t>
              </a:r>
            </a:p>
          </p:txBody>
        </p: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3A86B51B-B37B-4BC4-B659-B88792256A27}"/>
                </a:ext>
              </a:extLst>
            </p:cNvPr>
            <p:cNvCxnSpPr>
              <a:cxnSpLocks/>
              <a:stCxn id="137" idx="1"/>
              <a:endCxn id="154" idx="3"/>
            </p:cNvCxnSpPr>
            <p:nvPr/>
          </p:nvCxnSpPr>
          <p:spPr>
            <a:xfrm flipH="1">
              <a:off x="2273668" y="368236"/>
              <a:ext cx="616269" cy="17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9" name="Common Scenario Group" hidden="1">
            <a:extLst>
              <a:ext uri="{FF2B5EF4-FFF2-40B4-BE49-F238E27FC236}">
                <a16:creationId xmlns:a16="http://schemas.microsoft.com/office/drawing/2014/main" id="{C4A48495-A01F-4A95-B75E-9848E342E6A4}"/>
              </a:ext>
            </a:extLst>
          </p:cNvPr>
          <p:cNvGrpSpPr/>
          <p:nvPr/>
        </p:nvGrpSpPr>
        <p:grpSpPr>
          <a:xfrm>
            <a:off x="3584651" y="466289"/>
            <a:ext cx="8227631" cy="5970865"/>
            <a:chOff x="3679955" y="647519"/>
            <a:chExt cx="8227631" cy="5970865"/>
          </a:xfrm>
        </p:grpSpPr>
        <p:pic>
          <p:nvPicPr>
            <p:cNvPr id="28" name="Graphic 27" descr="Speech with solid fill">
              <a:extLst>
                <a:ext uri="{FF2B5EF4-FFF2-40B4-BE49-F238E27FC236}">
                  <a16:creationId xmlns:a16="http://schemas.microsoft.com/office/drawing/2014/main" id="{BC505812-85A3-423E-A8DF-BF822389FF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679955" y="2868268"/>
              <a:ext cx="1367349" cy="1367349"/>
            </a:xfrm>
            <a:prstGeom prst="rect">
              <a:avLst/>
            </a:prstGeom>
          </p:spPr>
        </p:pic>
        <p:pic>
          <p:nvPicPr>
            <p:cNvPr id="49" name="Graphic 48" descr="Speech with solid fill">
              <a:extLst>
                <a:ext uri="{FF2B5EF4-FFF2-40B4-BE49-F238E27FC236}">
                  <a16:creationId xmlns:a16="http://schemas.microsoft.com/office/drawing/2014/main" id="{9DEFFF61-F869-4978-8FEF-7C1E771264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701063" y="3951377"/>
              <a:ext cx="1399557" cy="1399557"/>
            </a:xfrm>
            <a:prstGeom prst="rect">
              <a:avLst/>
            </a:prstGeom>
          </p:spPr>
        </p:pic>
        <p:pic>
          <p:nvPicPr>
            <p:cNvPr id="26" name="Graphic 25" descr="Speech with solid fill">
              <a:extLst>
                <a:ext uri="{FF2B5EF4-FFF2-40B4-BE49-F238E27FC236}">
                  <a16:creationId xmlns:a16="http://schemas.microsoft.com/office/drawing/2014/main" id="{F8E4E379-4EC6-41D4-98C4-C4622476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680848" y="1727820"/>
              <a:ext cx="1399557" cy="1399557"/>
            </a:xfrm>
            <a:prstGeom prst="rect">
              <a:avLst/>
            </a:prstGeom>
          </p:spPr>
        </p:pic>
        <p:sp>
          <p:nvSpPr>
            <p:cNvPr id="23" name="Common Scenario text box">
              <a:extLst>
                <a:ext uri="{FF2B5EF4-FFF2-40B4-BE49-F238E27FC236}">
                  <a16:creationId xmlns:a16="http://schemas.microsoft.com/office/drawing/2014/main" id="{9543FA8F-612B-496E-8949-2896E0E5F61C}"/>
                </a:ext>
              </a:extLst>
            </p:cNvPr>
            <p:cNvSpPr txBox="1"/>
            <p:nvPr/>
          </p:nvSpPr>
          <p:spPr>
            <a:xfrm>
              <a:off x="3831331" y="647519"/>
              <a:ext cx="8076255" cy="5970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You are on a hospital wards rotation pre-rounding for the day when you get a call from the nurse for Mrs. Smith…</a:t>
              </a:r>
            </a:p>
            <a:p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Nurse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en-US" sz="24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“I have a critical lab to report on Mrs. Smith”</a:t>
              </a:r>
            </a:p>
            <a:p>
              <a:endPara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You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:    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“What is the critical lab?”</a:t>
              </a:r>
            </a:p>
            <a:p>
              <a:endParaRPr lang="en-US" sz="24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Nurse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en-US" sz="24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“The patient’s potassium is 6.7…”</a:t>
              </a:r>
            </a:p>
            <a:p>
              <a:endPara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Question: 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What do you do next?</a:t>
              </a:r>
            </a:p>
            <a:p>
              <a:endParaRPr lang="en-US" sz="2800" dirty="0"/>
            </a:p>
            <a:p>
              <a:endParaRPr lang="en-US" dirty="0"/>
            </a:p>
          </p:txBody>
        </p:sp>
      </p:grpSp>
      <p:sp>
        <p:nvSpPr>
          <p:cNvPr id="154" name="Scenario Question">
            <a:hlinkClick r:id="rId8" action="ppaction://hlinksldjump"/>
            <a:extLst>
              <a:ext uri="{FF2B5EF4-FFF2-40B4-BE49-F238E27FC236}">
                <a16:creationId xmlns:a16="http://schemas.microsoft.com/office/drawing/2014/main" id="{9B816753-F023-4D31-9D82-47CAC9BBD9A0}"/>
              </a:ext>
            </a:extLst>
          </p:cNvPr>
          <p:cNvSpPr txBox="1"/>
          <p:nvPr/>
        </p:nvSpPr>
        <p:spPr>
          <a:xfrm>
            <a:off x="181122" y="136445"/>
            <a:ext cx="2103120" cy="467540"/>
          </a:xfrm>
          <a:prstGeom prst="roundRect">
            <a:avLst>
              <a:gd name="adj" fmla="val 18585"/>
            </a:avLst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Common Scenario</a:t>
            </a:r>
          </a:p>
        </p:txBody>
      </p:sp>
      <p:grpSp>
        <p:nvGrpSpPr>
          <p:cNvPr id="1032" name="Step 1 Question">
            <a:extLst>
              <a:ext uri="{FF2B5EF4-FFF2-40B4-BE49-F238E27FC236}">
                <a16:creationId xmlns:a16="http://schemas.microsoft.com/office/drawing/2014/main" id="{272BB037-1C0B-488E-B640-BCE2C08DA891}"/>
              </a:ext>
            </a:extLst>
          </p:cNvPr>
          <p:cNvGrpSpPr/>
          <p:nvPr/>
        </p:nvGrpSpPr>
        <p:grpSpPr>
          <a:xfrm>
            <a:off x="181122" y="797693"/>
            <a:ext cx="2103120" cy="724673"/>
            <a:chOff x="143887" y="1045203"/>
            <a:chExt cx="2205728" cy="724673"/>
          </a:xfrm>
        </p:grpSpPr>
        <p:sp>
          <p:nvSpPr>
            <p:cNvPr id="198" name="Question 2">
              <a:hlinkClick r:id="rId9" action="ppaction://hlinksldjump"/>
              <a:extLst>
                <a:ext uri="{FF2B5EF4-FFF2-40B4-BE49-F238E27FC236}">
                  <a16:creationId xmlns:a16="http://schemas.microsoft.com/office/drawing/2014/main" id="{6996478C-46F4-4F2C-9179-4736A69992E6}"/>
                </a:ext>
              </a:extLst>
            </p:cNvPr>
            <p:cNvSpPr txBox="1"/>
            <p:nvPr/>
          </p:nvSpPr>
          <p:spPr>
            <a:xfrm>
              <a:off x="143887" y="1045203"/>
              <a:ext cx="2205728" cy="724673"/>
            </a:xfrm>
            <a:prstGeom prst="roundRect">
              <a:avLst/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tlCol="0">
              <a:noAutofit/>
            </a:bodyPr>
            <a:lstStyle/>
            <a:p>
              <a:r>
                <a:rPr lang="en-US" b="1" dirty="0">
                  <a:solidFill>
                    <a:sysClr val="windowText" lastClr="000000"/>
                  </a:solidFill>
                </a:rPr>
                <a:t>Step 1</a:t>
              </a:r>
            </a:p>
          </p:txBody>
        </p:sp>
        <p:pic>
          <p:nvPicPr>
            <p:cNvPr id="34" name="Graphic 33" descr="Test tubes outline">
              <a:hlinkClick r:id="rId9" action="ppaction://hlinksldjump"/>
              <a:extLst>
                <a:ext uri="{FF2B5EF4-FFF2-40B4-BE49-F238E27FC236}">
                  <a16:creationId xmlns:a16="http://schemas.microsoft.com/office/drawing/2014/main" id="{7D298E8B-C9F3-4025-AB76-62C9DC56AA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377019" y="1058879"/>
              <a:ext cx="675768" cy="675768"/>
            </a:xfrm>
            <a:prstGeom prst="rect">
              <a:avLst/>
            </a:prstGeom>
          </p:spPr>
        </p:pic>
      </p:grpSp>
      <p:grpSp>
        <p:nvGrpSpPr>
          <p:cNvPr id="1034" name="Step 2 Question">
            <a:extLst>
              <a:ext uri="{FF2B5EF4-FFF2-40B4-BE49-F238E27FC236}">
                <a16:creationId xmlns:a16="http://schemas.microsoft.com/office/drawing/2014/main" id="{1E85CBEA-7361-4E33-B9A5-A31791406B75}"/>
              </a:ext>
            </a:extLst>
          </p:cNvPr>
          <p:cNvGrpSpPr/>
          <p:nvPr/>
        </p:nvGrpSpPr>
        <p:grpSpPr>
          <a:xfrm>
            <a:off x="181122" y="1716074"/>
            <a:ext cx="2103120" cy="793038"/>
            <a:chOff x="131415" y="2087451"/>
            <a:chExt cx="2194560" cy="793038"/>
          </a:xfrm>
        </p:grpSpPr>
        <p:sp>
          <p:nvSpPr>
            <p:cNvPr id="169" name="question 3">
              <a:hlinkClick r:id="rId12" action="ppaction://hlinksldjump"/>
              <a:extLst>
                <a:ext uri="{FF2B5EF4-FFF2-40B4-BE49-F238E27FC236}">
                  <a16:creationId xmlns:a16="http://schemas.microsoft.com/office/drawing/2014/main" id="{4044BE58-F696-482B-BA86-7E575E1DDD68}"/>
                </a:ext>
              </a:extLst>
            </p:cNvPr>
            <p:cNvSpPr txBox="1"/>
            <p:nvPr/>
          </p:nvSpPr>
          <p:spPr>
            <a:xfrm>
              <a:off x="131415" y="2094166"/>
              <a:ext cx="2194560" cy="707484"/>
            </a:xfrm>
            <a:prstGeom prst="roundRect">
              <a:avLst/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tlCol="0">
              <a:noAutofit/>
            </a:bodyPr>
            <a:lstStyle/>
            <a:p>
              <a:r>
                <a:rPr lang="en-US" b="1" dirty="0">
                  <a:solidFill>
                    <a:sysClr val="windowText" lastClr="000000"/>
                  </a:solidFill>
                </a:rPr>
                <a:t>Step 2</a:t>
              </a:r>
            </a:p>
          </p:txBody>
        </p:sp>
        <p:pic>
          <p:nvPicPr>
            <p:cNvPr id="39" name="Graphic 38" descr="Heartbeat with solid fill">
              <a:hlinkClick r:id="rId12" action="ppaction://hlinksldjump"/>
              <a:extLst>
                <a:ext uri="{FF2B5EF4-FFF2-40B4-BE49-F238E27FC236}">
                  <a16:creationId xmlns:a16="http://schemas.microsoft.com/office/drawing/2014/main" id="{51A76312-0060-4EF1-A5BB-F1E3AE241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254285" y="2087451"/>
              <a:ext cx="793038" cy="793038"/>
            </a:xfrm>
            <a:prstGeom prst="rect">
              <a:avLst/>
            </a:prstGeom>
          </p:spPr>
        </p:pic>
      </p:grpSp>
      <p:grpSp>
        <p:nvGrpSpPr>
          <p:cNvPr id="1035" name="Step 3 Question">
            <a:extLst>
              <a:ext uri="{FF2B5EF4-FFF2-40B4-BE49-F238E27FC236}">
                <a16:creationId xmlns:a16="http://schemas.microsoft.com/office/drawing/2014/main" id="{3A5DD296-3131-4041-BCE3-41DD387B57A9}"/>
              </a:ext>
            </a:extLst>
          </p:cNvPr>
          <p:cNvGrpSpPr/>
          <p:nvPr/>
        </p:nvGrpSpPr>
        <p:grpSpPr>
          <a:xfrm>
            <a:off x="181122" y="2702820"/>
            <a:ext cx="2103120" cy="802349"/>
            <a:chOff x="131414" y="3071170"/>
            <a:chExt cx="2205728" cy="802349"/>
          </a:xfrm>
        </p:grpSpPr>
        <p:sp>
          <p:nvSpPr>
            <p:cNvPr id="174" name="question 4">
              <a:hlinkClick r:id="rId15" action="ppaction://hlinksldjump"/>
              <a:extLst>
                <a:ext uri="{FF2B5EF4-FFF2-40B4-BE49-F238E27FC236}">
                  <a16:creationId xmlns:a16="http://schemas.microsoft.com/office/drawing/2014/main" id="{71D8241D-CA6F-4A6E-AAFA-E11B57775A6D}"/>
                </a:ext>
              </a:extLst>
            </p:cNvPr>
            <p:cNvSpPr txBox="1"/>
            <p:nvPr/>
          </p:nvSpPr>
          <p:spPr>
            <a:xfrm>
              <a:off x="131414" y="3078631"/>
              <a:ext cx="2205728" cy="720110"/>
            </a:xfrm>
            <a:prstGeom prst="roundRect">
              <a:avLst>
                <a:gd name="adj" fmla="val 18232"/>
              </a:avLst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tlCol="0">
              <a:noAutofit/>
            </a:bodyPr>
            <a:lstStyle/>
            <a:p>
              <a:r>
                <a:rPr lang="en-US" b="1" dirty="0">
                  <a:solidFill>
                    <a:sysClr val="windowText" lastClr="000000"/>
                  </a:solidFill>
                </a:rPr>
                <a:t>Step 3</a:t>
              </a:r>
            </a:p>
          </p:txBody>
        </p:sp>
        <p:pic>
          <p:nvPicPr>
            <p:cNvPr id="45" name="Graphic 44" descr="Heart with pulse with solid fill">
              <a:hlinkClick r:id="rId15" action="ppaction://hlinksldjump"/>
              <a:extLst>
                <a:ext uri="{FF2B5EF4-FFF2-40B4-BE49-F238E27FC236}">
                  <a16:creationId xmlns:a16="http://schemas.microsoft.com/office/drawing/2014/main" id="{57A6D228-950F-4F1B-B268-F98D4B6B9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234278" y="3071170"/>
              <a:ext cx="802349" cy="802349"/>
            </a:xfrm>
            <a:prstGeom prst="rect">
              <a:avLst/>
            </a:prstGeom>
          </p:spPr>
        </p:pic>
      </p:grpSp>
      <p:grpSp>
        <p:nvGrpSpPr>
          <p:cNvPr id="1036" name="Step 4 Question">
            <a:extLst>
              <a:ext uri="{FF2B5EF4-FFF2-40B4-BE49-F238E27FC236}">
                <a16:creationId xmlns:a16="http://schemas.microsoft.com/office/drawing/2014/main" id="{38D0E0EE-C1D5-40D6-99F1-32D7E337E500}"/>
              </a:ext>
            </a:extLst>
          </p:cNvPr>
          <p:cNvGrpSpPr/>
          <p:nvPr/>
        </p:nvGrpSpPr>
        <p:grpSpPr>
          <a:xfrm>
            <a:off x="181122" y="3698877"/>
            <a:ext cx="2103120" cy="719579"/>
            <a:chOff x="177115" y="4211452"/>
            <a:chExt cx="2185336" cy="719579"/>
          </a:xfrm>
        </p:grpSpPr>
        <p:sp>
          <p:nvSpPr>
            <p:cNvPr id="360" name="sub-q 1 button">
              <a:hlinkClick r:id="rId18" action="ppaction://hlinksldjump"/>
              <a:extLst>
                <a:ext uri="{FF2B5EF4-FFF2-40B4-BE49-F238E27FC236}">
                  <a16:creationId xmlns:a16="http://schemas.microsoft.com/office/drawing/2014/main" id="{2E17D4B0-0599-4208-B5B3-8B19892E67CF}"/>
                </a:ext>
              </a:extLst>
            </p:cNvPr>
            <p:cNvSpPr txBox="1"/>
            <p:nvPr/>
          </p:nvSpPr>
          <p:spPr>
            <a:xfrm>
              <a:off x="177115" y="4211452"/>
              <a:ext cx="2185336" cy="718840"/>
            </a:xfrm>
            <a:prstGeom prst="roundRect">
              <a:avLst/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tlCol="0">
              <a:noAutofit/>
            </a:bodyPr>
            <a:lstStyle/>
            <a:p>
              <a:r>
                <a:rPr lang="en-US" b="1" dirty="0">
                  <a:solidFill>
                    <a:sysClr val="windowText" lastClr="000000"/>
                  </a:solidFill>
                </a:rPr>
                <a:t>Step 4</a:t>
              </a:r>
            </a:p>
          </p:txBody>
        </p:sp>
        <p:pic>
          <p:nvPicPr>
            <p:cNvPr id="300" name="Graphic 299" descr="Transfer with solid fill">
              <a:hlinkClick r:id="rId18" action="ppaction://hlinksldjump"/>
              <a:extLst>
                <a:ext uri="{FF2B5EF4-FFF2-40B4-BE49-F238E27FC236}">
                  <a16:creationId xmlns:a16="http://schemas.microsoft.com/office/drawing/2014/main" id="{BB69D395-30ED-42CB-852E-5F79667D09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318888" y="4212191"/>
              <a:ext cx="718840" cy="718840"/>
            </a:xfrm>
            <a:prstGeom prst="rect">
              <a:avLst/>
            </a:prstGeom>
          </p:spPr>
        </p:pic>
      </p:grpSp>
      <p:grpSp>
        <p:nvGrpSpPr>
          <p:cNvPr id="1037" name="Step 5 Question Group">
            <a:extLst>
              <a:ext uri="{FF2B5EF4-FFF2-40B4-BE49-F238E27FC236}">
                <a16:creationId xmlns:a16="http://schemas.microsoft.com/office/drawing/2014/main" id="{80044E24-1CBC-4E04-9762-BBA7A324CE41}"/>
              </a:ext>
            </a:extLst>
          </p:cNvPr>
          <p:cNvGrpSpPr/>
          <p:nvPr/>
        </p:nvGrpSpPr>
        <p:grpSpPr>
          <a:xfrm>
            <a:off x="181122" y="4612164"/>
            <a:ext cx="2103120" cy="732964"/>
            <a:chOff x="199997" y="5175187"/>
            <a:chExt cx="2185336" cy="732964"/>
          </a:xfrm>
        </p:grpSpPr>
        <p:sp>
          <p:nvSpPr>
            <p:cNvPr id="293" name="sub-q 2">
              <a:hlinkClick r:id="rId21" action="ppaction://hlinksldjump"/>
              <a:extLst>
                <a:ext uri="{FF2B5EF4-FFF2-40B4-BE49-F238E27FC236}">
                  <a16:creationId xmlns:a16="http://schemas.microsoft.com/office/drawing/2014/main" id="{FDA8AC5E-5708-429F-ABE3-25B21B08E38B}"/>
                </a:ext>
              </a:extLst>
            </p:cNvPr>
            <p:cNvSpPr txBox="1"/>
            <p:nvPr/>
          </p:nvSpPr>
          <p:spPr>
            <a:xfrm>
              <a:off x="199997" y="5179241"/>
              <a:ext cx="2185336" cy="718840"/>
            </a:xfrm>
            <a:prstGeom prst="roundRect">
              <a:avLst>
                <a:gd name="adj" fmla="val 18844"/>
              </a:avLst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Ins="91440" rtlCol="0">
              <a:noAutofit/>
            </a:bodyPr>
            <a:lstStyle/>
            <a:p>
              <a:r>
                <a:rPr lang="en-US" b="1" dirty="0">
                  <a:solidFill>
                    <a:sysClr val="windowText" lastClr="000000"/>
                  </a:solidFill>
                </a:rPr>
                <a:t>Step 5</a:t>
              </a:r>
            </a:p>
          </p:txBody>
        </p:sp>
        <p:pic>
          <p:nvPicPr>
            <p:cNvPr id="306" name="Graphic 305" descr="Downward trend graph with solid fill">
              <a:hlinkClick r:id="rId21" action="ppaction://hlinksldjump"/>
              <a:extLst>
                <a:ext uri="{FF2B5EF4-FFF2-40B4-BE49-F238E27FC236}">
                  <a16:creationId xmlns:a16="http://schemas.microsoft.com/office/drawing/2014/main" id="{0B4412D2-7873-4E10-A760-B8BF3B5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308771" y="5175187"/>
              <a:ext cx="732964" cy="732964"/>
            </a:xfrm>
            <a:prstGeom prst="rect">
              <a:avLst/>
            </a:prstGeom>
          </p:spPr>
        </p:pic>
      </p:grpSp>
      <p:grpSp>
        <p:nvGrpSpPr>
          <p:cNvPr id="99" name="Topic Intro Group" hidden="1">
            <a:extLst>
              <a:ext uri="{FF2B5EF4-FFF2-40B4-BE49-F238E27FC236}">
                <a16:creationId xmlns:a16="http://schemas.microsoft.com/office/drawing/2014/main" id="{102CEDB5-EE3C-4722-8ADA-8CD3F96B383E}"/>
              </a:ext>
            </a:extLst>
          </p:cNvPr>
          <p:cNvGrpSpPr/>
          <p:nvPr/>
        </p:nvGrpSpPr>
        <p:grpSpPr>
          <a:xfrm>
            <a:off x="3695331" y="624170"/>
            <a:ext cx="7297902" cy="4901119"/>
            <a:chOff x="3695331" y="624170"/>
            <a:chExt cx="7297902" cy="490111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52F3901-1436-401F-BAAA-A15B40E2C39C}"/>
                </a:ext>
              </a:extLst>
            </p:cNvPr>
            <p:cNvSpPr txBox="1"/>
            <p:nvPr/>
          </p:nvSpPr>
          <p:spPr>
            <a:xfrm>
              <a:off x="3695331" y="624170"/>
              <a:ext cx="7297902" cy="341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200" dirty="0">
                  <a:solidFill>
                    <a:srgbClr val="002060"/>
                  </a:solidFill>
                  <a:latin typeface="Bernard MT Condensed" panose="02050806060905020404" pitchFamily="18" charset="0"/>
                </a:rPr>
                <a:t>Inpatient Management of Hyperkalemia</a:t>
              </a:r>
            </a:p>
          </p:txBody>
        </p:sp>
        <p:pic>
          <p:nvPicPr>
            <p:cNvPr id="1031" name="Picture 7">
              <a:extLst>
                <a:ext uri="{FF2B5EF4-FFF2-40B4-BE49-F238E27FC236}">
                  <a16:creationId xmlns:a16="http://schemas.microsoft.com/office/drawing/2014/main" id="{054CA7FF-B9BD-49BE-B816-77F2B3ECC9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74262" y="3899066"/>
              <a:ext cx="3940039" cy="1626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pic>
        <p:sp>
          <p:nvSpPr>
            <p:cNvPr id="98" name="Arrow: Up 97">
              <a:extLst>
                <a:ext uri="{FF2B5EF4-FFF2-40B4-BE49-F238E27FC236}">
                  <a16:creationId xmlns:a16="http://schemas.microsoft.com/office/drawing/2014/main" id="{2CEB91A8-88B4-4B20-BA1A-753B371B6632}"/>
                </a:ext>
              </a:extLst>
            </p:cNvPr>
            <p:cNvSpPr/>
            <p:nvPr/>
          </p:nvSpPr>
          <p:spPr>
            <a:xfrm>
              <a:off x="6246796" y="4918509"/>
              <a:ext cx="115503" cy="356135"/>
            </a:xfrm>
            <a:prstGeom prst="up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Arrow: Up 120">
              <a:extLst>
                <a:ext uri="{FF2B5EF4-FFF2-40B4-BE49-F238E27FC236}">
                  <a16:creationId xmlns:a16="http://schemas.microsoft.com/office/drawing/2014/main" id="{5E527ACC-F652-48C7-8657-AD1BC3320B98}"/>
                </a:ext>
              </a:extLst>
            </p:cNvPr>
            <p:cNvSpPr/>
            <p:nvPr/>
          </p:nvSpPr>
          <p:spPr>
            <a:xfrm>
              <a:off x="6508053" y="4918509"/>
              <a:ext cx="115503" cy="356135"/>
            </a:xfrm>
            <a:prstGeom prst="up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0" name="TextBox 99" hidden="1">
            <a:extLst>
              <a:ext uri="{FF2B5EF4-FFF2-40B4-BE49-F238E27FC236}">
                <a16:creationId xmlns:a16="http://schemas.microsoft.com/office/drawing/2014/main" id="{AA0868FE-161E-4365-971A-E281AAB4F163}"/>
              </a:ext>
            </a:extLst>
          </p:cNvPr>
          <p:cNvSpPr txBox="1"/>
          <p:nvPr/>
        </p:nvSpPr>
        <p:spPr>
          <a:xfrm>
            <a:off x="3980012" y="75535"/>
            <a:ext cx="7297902" cy="1755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pSp>
        <p:nvGrpSpPr>
          <p:cNvPr id="1050" name="Step 2 group" hidden="1">
            <a:extLst>
              <a:ext uri="{FF2B5EF4-FFF2-40B4-BE49-F238E27FC236}">
                <a16:creationId xmlns:a16="http://schemas.microsoft.com/office/drawing/2014/main" id="{3454A1B6-49F9-4D5A-96B9-6D58D67E46F5}"/>
              </a:ext>
            </a:extLst>
          </p:cNvPr>
          <p:cNvGrpSpPr/>
          <p:nvPr/>
        </p:nvGrpSpPr>
        <p:grpSpPr>
          <a:xfrm>
            <a:off x="3164583" y="288758"/>
            <a:ext cx="8475295" cy="5974199"/>
            <a:chOff x="3336987" y="286039"/>
            <a:chExt cx="8475295" cy="6105671"/>
          </a:xfrm>
        </p:grpSpPr>
        <p:sp>
          <p:nvSpPr>
            <p:cNvPr id="1033" name="EKG changes text">
              <a:extLst>
                <a:ext uri="{FF2B5EF4-FFF2-40B4-BE49-F238E27FC236}">
                  <a16:creationId xmlns:a16="http://schemas.microsoft.com/office/drawing/2014/main" id="{86C9FC23-7469-439A-B448-2235A03644D3}"/>
                </a:ext>
              </a:extLst>
            </p:cNvPr>
            <p:cNvSpPr txBox="1"/>
            <p:nvPr/>
          </p:nvSpPr>
          <p:spPr>
            <a:xfrm>
              <a:off x="3336987" y="286039"/>
              <a:ext cx="8475295" cy="6105671"/>
            </a:xfrm>
            <a:prstGeom prst="rect">
              <a:avLst/>
            </a:prstGeom>
            <a:noFill/>
            <a:ln w="79375" cmpd="sng">
              <a:solidFill>
                <a:schemeClr val="accent6"/>
              </a:solidFill>
            </a:ln>
          </p:spPr>
          <p:txBody>
            <a:bodyPr wrap="square" tIns="137160" rtlCol="0">
              <a:noAutofit/>
            </a:bodyPr>
            <a:lstStyle/>
            <a:p>
              <a:pPr algn="ctr"/>
              <a:r>
                <a:rPr lang="en-US" sz="2800" u="sng" dirty="0"/>
                <a:t>Obtain STAT EKG</a:t>
              </a:r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sz="1000" dirty="0"/>
            </a:p>
            <a:p>
              <a:pPr lvl="1"/>
              <a:endParaRPr lang="en-US" dirty="0"/>
            </a:p>
            <a:p>
              <a:pPr marL="742950" lvl="1" indent="-285750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Hyperkalemia can cause life-threatening arrhythmias</a:t>
              </a:r>
            </a:p>
            <a:p>
              <a:pPr marL="1200150" lvl="2" indent="-285750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lang="en-US" sz="1600" dirty="0">
                  <a:effectLst/>
                  <a:latin typeface="Calibri" panose="020F0502020204030204" pitchFamily="34" charset="0"/>
                </a:rPr>
                <a:t>sinus bradycardia, sinus arrest, asystole, V-tach, V-fib</a:t>
              </a:r>
              <a:endParaRPr lang="en-US" sz="1600" dirty="0">
                <a:latin typeface="Calibri" panose="020F0502020204030204" pitchFamily="34" charset="0"/>
              </a:endParaRPr>
            </a:p>
            <a:p>
              <a:pPr marL="742950" lvl="1" indent="-285750">
                <a:lnSpc>
                  <a:spcPts val="32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</a:rPr>
                <a:t>Any K &gt; 5.5 warrants EKG. Treat K &gt; 6.5 as emergent regardless of EKG changes</a:t>
              </a:r>
              <a:r>
                <a:rPr lang="en-US" baseline="30000" dirty="0">
                  <a:latin typeface="Calibri" panose="020F0502020204030204" pitchFamily="34" charset="0"/>
                </a:rPr>
                <a:t>1</a:t>
              </a:r>
            </a:p>
            <a:p>
              <a:pPr marL="742950" lvl="1" indent="-285750">
                <a:lnSpc>
                  <a:spcPts val="32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effectLst/>
                  <a:latin typeface="Calibri" panose="020F0502020204030204" pitchFamily="34" charset="0"/>
                </a:rPr>
                <a:t>Repeat EKG every 30-60 minutes to ensure resolution of EKG abnormalities</a:t>
              </a:r>
            </a:p>
            <a:p>
              <a:pPr marL="1200150" lvl="2" indent="-285750">
                <a:lnSpc>
                  <a:spcPts val="3200"/>
                </a:lnSpc>
                <a:buFont typeface="Arial" panose="020B0604020202020204" pitchFamily="34" charset="0"/>
                <a:buChar char="•"/>
              </a:pPr>
              <a:endParaRPr lang="en-US" dirty="0">
                <a:latin typeface="Calibri" panose="020F0502020204030204" pitchFamily="34" charset="0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endParaRPr lang="en-US" dirty="0">
                <a:effectLst/>
                <a:latin typeface="Calibri" panose="020F0502020204030204" pitchFamily="34" charset="0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endParaRPr lang="en-US" dirty="0">
                <a:latin typeface="Calibri" panose="020F0502020204030204" pitchFamily="34" charset="0"/>
              </a:endParaRPr>
            </a:p>
            <a:p>
              <a:r>
                <a:rPr lang="en-US" dirty="0">
                  <a:latin typeface="Calibri" panose="020F0502020204030204" pitchFamily="34" charset="0"/>
                </a:rPr>
                <a:t>    </a:t>
              </a:r>
            </a:p>
            <a:p>
              <a:r>
                <a:rPr lang="en-US" dirty="0">
                  <a:latin typeface="Calibri" panose="020F0502020204030204" pitchFamily="34" charset="0"/>
                </a:rPr>
                <a:t>           </a:t>
              </a:r>
              <a:endParaRPr lang="en-US" dirty="0"/>
            </a:p>
            <a:p>
              <a:r>
                <a:rPr lang="en-US" dirty="0"/>
                <a:t>    </a:t>
              </a:r>
            </a:p>
          </p:txBody>
        </p:sp>
        <p:pic>
          <p:nvPicPr>
            <p:cNvPr id="182" name="peaked T pic">
              <a:extLst>
                <a:ext uri="{FF2B5EF4-FFF2-40B4-BE49-F238E27FC236}">
                  <a16:creationId xmlns:a16="http://schemas.microsoft.com/office/drawing/2014/main" id="{71835771-B0BF-467C-9EB0-D2C271309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8774" y="1575276"/>
              <a:ext cx="3015200" cy="2894593"/>
            </a:xfrm>
            <a:prstGeom prst="rect">
              <a:avLst/>
            </a:prstGeom>
            <a:ln w="31750" cmpd="sng">
              <a:solidFill>
                <a:schemeClr val="bg2">
                  <a:lumMod val="75000"/>
                </a:schemeClr>
              </a:solidFill>
            </a:ln>
          </p:spPr>
        </p:pic>
        <p:pic>
          <p:nvPicPr>
            <p:cNvPr id="1044" name="Graphic 1043" descr="Warning with solid fill">
              <a:extLst>
                <a:ext uri="{FF2B5EF4-FFF2-40B4-BE49-F238E27FC236}">
                  <a16:creationId xmlns:a16="http://schemas.microsoft.com/office/drawing/2014/main" id="{BC02235D-7800-476D-A2E1-06BB2574DB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3736112" y="4646901"/>
              <a:ext cx="388309" cy="388310"/>
            </a:xfrm>
            <a:prstGeom prst="rect">
              <a:avLst/>
            </a:prstGeom>
          </p:spPr>
        </p:pic>
      </p:grpSp>
      <p:pic>
        <p:nvPicPr>
          <p:cNvPr id="11" name="Graphic 10" descr="Cursor with solid fill">
            <a:extLst>
              <a:ext uri="{FF2B5EF4-FFF2-40B4-BE49-F238E27FC236}">
                <a16:creationId xmlns:a16="http://schemas.microsoft.com/office/drawing/2014/main" id="{E4FE718E-32B3-4FC3-9D76-9C149EAE080B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154474" y="435911"/>
            <a:ext cx="301752" cy="301752"/>
          </a:xfrm>
          <a:prstGeom prst="rect">
            <a:avLst/>
          </a:prstGeom>
        </p:spPr>
      </p:pic>
      <p:pic>
        <p:nvPicPr>
          <p:cNvPr id="145" name="Graphic 144" descr="Cursor with solid fill">
            <a:extLst>
              <a:ext uri="{FF2B5EF4-FFF2-40B4-BE49-F238E27FC236}">
                <a16:creationId xmlns:a16="http://schemas.microsoft.com/office/drawing/2014/main" id="{889EBA47-30E6-4343-82EE-1202DA9A218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154474" y="1357347"/>
            <a:ext cx="301752" cy="301752"/>
          </a:xfrm>
          <a:prstGeom prst="rect">
            <a:avLst/>
          </a:prstGeom>
        </p:spPr>
      </p:pic>
      <p:pic>
        <p:nvPicPr>
          <p:cNvPr id="150" name="Graphic 149" descr="Cursor with solid fill">
            <a:extLst>
              <a:ext uri="{FF2B5EF4-FFF2-40B4-BE49-F238E27FC236}">
                <a16:creationId xmlns:a16="http://schemas.microsoft.com/office/drawing/2014/main" id="{A8045412-B369-4D06-A0B5-6FCB2247A2A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154474" y="3273485"/>
            <a:ext cx="301752" cy="301752"/>
          </a:xfrm>
          <a:prstGeom prst="rect">
            <a:avLst/>
          </a:prstGeom>
        </p:spPr>
      </p:pic>
      <p:pic>
        <p:nvPicPr>
          <p:cNvPr id="151" name="Graphic 150" descr="Cursor with solid fill">
            <a:extLst>
              <a:ext uri="{FF2B5EF4-FFF2-40B4-BE49-F238E27FC236}">
                <a16:creationId xmlns:a16="http://schemas.microsoft.com/office/drawing/2014/main" id="{7DD05488-4134-4D81-8E29-F6D4A5B83CE4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154474" y="4273381"/>
            <a:ext cx="301752" cy="301752"/>
          </a:xfrm>
          <a:prstGeom prst="rect">
            <a:avLst/>
          </a:prstGeom>
        </p:spPr>
      </p:pic>
      <p:pic>
        <p:nvPicPr>
          <p:cNvPr id="153" name="Graphic 152" descr="Cursor with solid fill">
            <a:extLst>
              <a:ext uri="{FF2B5EF4-FFF2-40B4-BE49-F238E27FC236}">
                <a16:creationId xmlns:a16="http://schemas.microsoft.com/office/drawing/2014/main" id="{F4C46D75-9C09-43CA-999E-B1D5F9376A6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154474" y="2235955"/>
            <a:ext cx="301752" cy="301752"/>
          </a:xfrm>
          <a:prstGeom prst="rect">
            <a:avLst/>
          </a:prstGeom>
        </p:spPr>
      </p:pic>
      <p:pic>
        <p:nvPicPr>
          <p:cNvPr id="156" name="Graphic 155" descr="Cursor with solid fill">
            <a:extLst>
              <a:ext uri="{FF2B5EF4-FFF2-40B4-BE49-F238E27FC236}">
                <a16:creationId xmlns:a16="http://schemas.microsoft.com/office/drawing/2014/main" id="{7F6D6544-D22D-4FCA-8CBC-88D6439E9A17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154474" y="5166838"/>
            <a:ext cx="301752" cy="301752"/>
          </a:xfrm>
          <a:prstGeom prst="rect">
            <a:avLst/>
          </a:prstGeom>
        </p:spPr>
      </p:pic>
      <p:sp>
        <p:nvSpPr>
          <p:cNvPr id="1053" name="Membrane stabilization" hidden="1">
            <a:extLst>
              <a:ext uri="{FF2B5EF4-FFF2-40B4-BE49-F238E27FC236}">
                <a16:creationId xmlns:a16="http://schemas.microsoft.com/office/drawing/2014/main" id="{D6114B0C-50CF-48E7-9C4B-E84D277544F6}"/>
              </a:ext>
            </a:extLst>
          </p:cNvPr>
          <p:cNvSpPr txBox="1"/>
          <p:nvPr/>
        </p:nvSpPr>
        <p:spPr>
          <a:xfrm>
            <a:off x="4195824" y="777990"/>
            <a:ext cx="645684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Myocardial Membrane Stabilization</a:t>
            </a:r>
          </a:p>
          <a:p>
            <a:pPr algn="ctr"/>
            <a:endParaRPr lang="en-US" sz="1600" dirty="0"/>
          </a:p>
          <a:p>
            <a:pPr algn="ctr"/>
            <a:r>
              <a:rPr lang="en-US" sz="2000" dirty="0"/>
              <a:t>Achieved by delivery of Calcium Salts</a:t>
            </a:r>
          </a:p>
        </p:txBody>
      </p:sp>
      <p:pic>
        <p:nvPicPr>
          <p:cNvPr id="22" name="teachIM logo" descr="Icon&#10;&#10;Description automatically generated" hidden="1">
            <a:extLst>
              <a:ext uri="{FF2B5EF4-FFF2-40B4-BE49-F238E27FC236}">
                <a16:creationId xmlns:a16="http://schemas.microsoft.com/office/drawing/2014/main" id="{9941794D-0E4C-4929-897A-E61CE338C30B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9865" y="6299802"/>
            <a:ext cx="1387970" cy="528106"/>
          </a:xfrm>
          <a:prstGeom prst="rect">
            <a:avLst/>
          </a:prstGeom>
        </p:spPr>
      </p:pic>
      <p:pic>
        <p:nvPicPr>
          <p:cNvPr id="62" name="Graphic 61" descr="Cursor with solid fill">
            <a:extLst>
              <a:ext uri="{FF2B5EF4-FFF2-40B4-BE49-F238E27FC236}">
                <a16:creationId xmlns:a16="http://schemas.microsoft.com/office/drawing/2014/main" id="{CA8032B4-9DFF-4964-A83A-CCDC51AEE67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154474" y="5796581"/>
            <a:ext cx="301752" cy="301752"/>
          </a:xfrm>
          <a:prstGeom prst="rect">
            <a:avLst/>
          </a:prstGeom>
        </p:spPr>
      </p:pic>
      <p:grpSp>
        <p:nvGrpSpPr>
          <p:cNvPr id="48" name="Topic Intro Group">
            <a:extLst>
              <a:ext uri="{FF2B5EF4-FFF2-40B4-BE49-F238E27FC236}">
                <a16:creationId xmlns:a16="http://schemas.microsoft.com/office/drawing/2014/main" id="{88FE59F5-2049-4755-B704-858E94DB6B32}"/>
              </a:ext>
            </a:extLst>
          </p:cNvPr>
          <p:cNvGrpSpPr/>
          <p:nvPr/>
        </p:nvGrpSpPr>
        <p:grpSpPr>
          <a:xfrm>
            <a:off x="3847731" y="776570"/>
            <a:ext cx="7297902" cy="4901119"/>
            <a:chOff x="3695331" y="624170"/>
            <a:chExt cx="7297902" cy="4901119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AA11ECD-7E52-48CC-9ED0-F1BE1B4F8B2C}"/>
                </a:ext>
              </a:extLst>
            </p:cNvPr>
            <p:cNvSpPr txBox="1"/>
            <p:nvPr/>
          </p:nvSpPr>
          <p:spPr>
            <a:xfrm>
              <a:off x="3695331" y="624170"/>
              <a:ext cx="7297902" cy="341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200" dirty="0">
                  <a:solidFill>
                    <a:srgbClr val="002060"/>
                  </a:solidFill>
                  <a:latin typeface="Bernard MT Condensed" panose="02050806060905020404" pitchFamily="18" charset="0"/>
                </a:rPr>
                <a:t>Inpatient Management of Hyperkalemia</a:t>
              </a:r>
            </a:p>
          </p:txBody>
        </p:sp>
        <p:pic>
          <p:nvPicPr>
            <p:cNvPr id="51" name="Picture 7">
              <a:extLst>
                <a:ext uri="{FF2B5EF4-FFF2-40B4-BE49-F238E27FC236}">
                  <a16:creationId xmlns:a16="http://schemas.microsoft.com/office/drawing/2014/main" id="{6A8E7F2E-B383-4DBF-805A-B507840AA2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74262" y="3899066"/>
              <a:ext cx="3940039" cy="1626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pic>
        <p:sp>
          <p:nvSpPr>
            <p:cNvPr id="52" name="Arrow: Up 51">
              <a:extLst>
                <a:ext uri="{FF2B5EF4-FFF2-40B4-BE49-F238E27FC236}">
                  <a16:creationId xmlns:a16="http://schemas.microsoft.com/office/drawing/2014/main" id="{66B8021E-9B37-4BC8-8545-8F8A4B5A77A5}"/>
                </a:ext>
              </a:extLst>
            </p:cNvPr>
            <p:cNvSpPr/>
            <p:nvPr/>
          </p:nvSpPr>
          <p:spPr>
            <a:xfrm>
              <a:off x="6246796" y="4918509"/>
              <a:ext cx="115503" cy="356135"/>
            </a:xfrm>
            <a:prstGeom prst="up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Arrow: Up 52">
              <a:extLst>
                <a:ext uri="{FF2B5EF4-FFF2-40B4-BE49-F238E27FC236}">
                  <a16:creationId xmlns:a16="http://schemas.microsoft.com/office/drawing/2014/main" id="{29006067-2895-49CB-849F-9E8FAA1B3591}"/>
                </a:ext>
              </a:extLst>
            </p:cNvPr>
            <p:cNvSpPr/>
            <p:nvPr/>
          </p:nvSpPr>
          <p:spPr>
            <a:xfrm>
              <a:off x="6508053" y="4918509"/>
              <a:ext cx="115503" cy="356135"/>
            </a:xfrm>
            <a:prstGeom prst="up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1990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Common Scenario Group">
            <a:extLst>
              <a:ext uri="{FF2B5EF4-FFF2-40B4-BE49-F238E27FC236}">
                <a16:creationId xmlns:a16="http://schemas.microsoft.com/office/drawing/2014/main" id="{C4A48495-A01F-4A95-B75E-9848E342E6A4}"/>
              </a:ext>
            </a:extLst>
          </p:cNvPr>
          <p:cNvGrpSpPr/>
          <p:nvPr/>
        </p:nvGrpSpPr>
        <p:grpSpPr>
          <a:xfrm>
            <a:off x="3584651" y="466289"/>
            <a:ext cx="8227631" cy="5970865"/>
            <a:chOff x="3679955" y="647519"/>
            <a:chExt cx="8227631" cy="5970865"/>
          </a:xfrm>
        </p:grpSpPr>
        <p:pic>
          <p:nvPicPr>
            <p:cNvPr id="28" name="Graphic 27" descr="Speech with solid fill">
              <a:extLst>
                <a:ext uri="{FF2B5EF4-FFF2-40B4-BE49-F238E27FC236}">
                  <a16:creationId xmlns:a16="http://schemas.microsoft.com/office/drawing/2014/main" id="{BC505812-85A3-423E-A8DF-BF822389FF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679955" y="2868268"/>
              <a:ext cx="1367349" cy="1367349"/>
            </a:xfrm>
            <a:prstGeom prst="rect">
              <a:avLst/>
            </a:prstGeom>
          </p:spPr>
        </p:pic>
        <p:pic>
          <p:nvPicPr>
            <p:cNvPr id="49" name="Graphic 48" descr="Speech with solid fill">
              <a:extLst>
                <a:ext uri="{FF2B5EF4-FFF2-40B4-BE49-F238E27FC236}">
                  <a16:creationId xmlns:a16="http://schemas.microsoft.com/office/drawing/2014/main" id="{9DEFFF61-F869-4978-8FEF-7C1E771264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01063" y="3951377"/>
              <a:ext cx="1399557" cy="1399557"/>
            </a:xfrm>
            <a:prstGeom prst="rect">
              <a:avLst/>
            </a:prstGeom>
          </p:spPr>
        </p:pic>
        <p:pic>
          <p:nvPicPr>
            <p:cNvPr id="26" name="Graphic 25" descr="Speech with solid fill">
              <a:extLst>
                <a:ext uri="{FF2B5EF4-FFF2-40B4-BE49-F238E27FC236}">
                  <a16:creationId xmlns:a16="http://schemas.microsoft.com/office/drawing/2014/main" id="{F8E4E379-4EC6-41D4-98C4-C4622476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680848" y="1727820"/>
              <a:ext cx="1399557" cy="1399557"/>
            </a:xfrm>
            <a:prstGeom prst="rect">
              <a:avLst/>
            </a:prstGeom>
          </p:spPr>
        </p:pic>
        <p:sp>
          <p:nvSpPr>
            <p:cNvPr id="23" name="Common Scenario text box">
              <a:extLst>
                <a:ext uri="{FF2B5EF4-FFF2-40B4-BE49-F238E27FC236}">
                  <a16:creationId xmlns:a16="http://schemas.microsoft.com/office/drawing/2014/main" id="{9543FA8F-612B-496E-8949-2896E0E5F61C}"/>
                </a:ext>
              </a:extLst>
            </p:cNvPr>
            <p:cNvSpPr txBox="1"/>
            <p:nvPr/>
          </p:nvSpPr>
          <p:spPr>
            <a:xfrm>
              <a:off x="3831331" y="647519"/>
              <a:ext cx="8076255" cy="5970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You are on a hospital wards rotation pre-rounding for the day when you get a call from the nurse for Mrs. Smith…</a:t>
              </a:r>
            </a:p>
            <a:p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Nurse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en-US" sz="24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“I have a critical lab to report on Mrs. Smith”</a:t>
              </a:r>
            </a:p>
            <a:p>
              <a:endPara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You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:    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“What is the critical lab?”</a:t>
              </a:r>
            </a:p>
            <a:p>
              <a:endParaRPr lang="en-US" sz="24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Nurse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en-US" sz="24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“The patient’s potassium is 6.7…”</a:t>
              </a:r>
            </a:p>
            <a:p>
              <a:endPara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Question: 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What do you do next?</a:t>
              </a:r>
            </a:p>
            <a:p>
              <a:endParaRPr lang="en-US" sz="2800" dirty="0"/>
            </a:p>
            <a:p>
              <a:endParaRPr lang="en-US" dirty="0"/>
            </a:p>
          </p:txBody>
        </p:sp>
      </p:grpSp>
      <p:sp>
        <p:nvSpPr>
          <p:cNvPr id="154" name="Scenario Question">
            <a:extLst>
              <a:ext uri="{FF2B5EF4-FFF2-40B4-BE49-F238E27FC236}">
                <a16:creationId xmlns:a16="http://schemas.microsoft.com/office/drawing/2014/main" id="{9B816753-F023-4D31-9D82-47CAC9BBD9A0}"/>
              </a:ext>
            </a:extLst>
          </p:cNvPr>
          <p:cNvSpPr txBox="1"/>
          <p:nvPr/>
        </p:nvSpPr>
        <p:spPr>
          <a:xfrm>
            <a:off x="181122" y="136445"/>
            <a:ext cx="2103120" cy="467540"/>
          </a:xfrm>
          <a:prstGeom prst="roundRect">
            <a:avLst>
              <a:gd name="adj" fmla="val 18585"/>
            </a:avLst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Common Scenario</a:t>
            </a:r>
          </a:p>
        </p:txBody>
      </p:sp>
      <p:grpSp>
        <p:nvGrpSpPr>
          <p:cNvPr id="99" name="Topic Intro Group" hidden="1">
            <a:extLst>
              <a:ext uri="{FF2B5EF4-FFF2-40B4-BE49-F238E27FC236}">
                <a16:creationId xmlns:a16="http://schemas.microsoft.com/office/drawing/2014/main" id="{102CEDB5-EE3C-4722-8ADA-8CD3F96B383E}"/>
              </a:ext>
            </a:extLst>
          </p:cNvPr>
          <p:cNvGrpSpPr/>
          <p:nvPr/>
        </p:nvGrpSpPr>
        <p:grpSpPr>
          <a:xfrm>
            <a:off x="3695331" y="624170"/>
            <a:ext cx="7297902" cy="4901119"/>
            <a:chOff x="3695331" y="624170"/>
            <a:chExt cx="7297902" cy="490111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52F3901-1436-401F-BAAA-A15B40E2C39C}"/>
                </a:ext>
              </a:extLst>
            </p:cNvPr>
            <p:cNvSpPr txBox="1"/>
            <p:nvPr/>
          </p:nvSpPr>
          <p:spPr>
            <a:xfrm>
              <a:off x="3695331" y="624170"/>
              <a:ext cx="7297902" cy="341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200" dirty="0">
                  <a:solidFill>
                    <a:srgbClr val="002060"/>
                  </a:solidFill>
                  <a:latin typeface="Bernard MT Condensed" panose="02050806060905020404" pitchFamily="18" charset="0"/>
                </a:rPr>
                <a:t>Inpatient Management of Hyperkalemia</a:t>
              </a:r>
            </a:p>
          </p:txBody>
        </p:sp>
        <p:pic>
          <p:nvPicPr>
            <p:cNvPr id="1031" name="Picture 7">
              <a:extLst>
                <a:ext uri="{FF2B5EF4-FFF2-40B4-BE49-F238E27FC236}">
                  <a16:creationId xmlns:a16="http://schemas.microsoft.com/office/drawing/2014/main" id="{054CA7FF-B9BD-49BE-B816-77F2B3ECC9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74262" y="3899066"/>
              <a:ext cx="3940039" cy="1626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pic>
        <p:sp>
          <p:nvSpPr>
            <p:cNvPr id="98" name="Arrow: Up 97">
              <a:extLst>
                <a:ext uri="{FF2B5EF4-FFF2-40B4-BE49-F238E27FC236}">
                  <a16:creationId xmlns:a16="http://schemas.microsoft.com/office/drawing/2014/main" id="{2CEB91A8-88B4-4B20-BA1A-753B371B6632}"/>
                </a:ext>
              </a:extLst>
            </p:cNvPr>
            <p:cNvSpPr/>
            <p:nvPr/>
          </p:nvSpPr>
          <p:spPr>
            <a:xfrm>
              <a:off x="6246796" y="4918509"/>
              <a:ext cx="115503" cy="356135"/>
            </a:xfrm>
            <a:prstGeom prst="up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Arrow: Up 120">
              <a:extLst>
                <a:ext uri="{FF2B5EF4-FFF2-40B4-BE49-F238E27FC236}">
                  <a16:creationId xmlns:a16="http://schemas.microsoft.com/office/drawing/2014/main" id="{5E527ACC-F652-48C7-8657-AD1BC3320B98}"/>
                </a:ext>
              </a:extLst>
            </p:cNvPr>
            <p:cNvSpPr/>
            <p:nvPr/>
          </p:nvSpPr>
          <p:spPr>
            <a:xfrm>
              <a:off x="6508053" y="4918509"/>
              <a:ext cx="115503" cy="356135"/>
            </a:xfrm>
            <a:prstGeom prst="up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AA0868FE-161E-4365-971A-E281AAB4F163}"/>
              </a:ext>
            </a:extLst>
          </p:cNvPr>
          <p:cNvSpPr txBox="1"/>
          <p:nvPr/>
        </p:nvSpPr>
        <p:spPr>
          <a:xfrm>
            <a:off x="3980012" y="75535"/>
            <a:ext cx="7297902" cy="1755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pSp>
        <p:nvGrpSpPr>
          <p:cNvPr id="1050" name="Step 2 group" hidden="1">
            <a:extLst>
              <a:ext uri="{FF2B5EF4-FFF2-40B4-BE49-F238E27FC236}">
                <a16:creationId xmlns:a16="http://schemas.microsoft.com/office/drawing/2014/main" id="{3454A1B6-49F9-4D5A-96B9-6D58D67E46F5}"/>
              </a:ext>
            </a:extLst>
          </p:cNvPr>
          <p:cNvGrpSpPr/>
          <p:nvPr/>
        </p:nvGrpSpPr>
        <p:grpSpPr>
          <a:xfrm>
            <a:off x="3164583" y="288758"/>
            <a:ext cx="8475295" cy="5974199"/>
            <a:chOff x="3336987" y="286039"/>
            <a:chExt cx="8475295" cy="6105671"/>
          </a:xfrm>
        </p:grpSpPr>
        <p:sp>
          <p:nvSpPr>
            <p:cNvPr id="1033" name="EKG changes text">
              <a:extLst>
                <a:ext uri="{FF2B5EF4-FFF2-40B4-BE49-F238E27FC236}">
                  <a16:creationId xmlns:a16="http://schemas.microsoft.com/office/drawing/2014/main" id="{86C9FC23-7469-439A-B448-2235A03644D3}"/>
                </a:ext>
              </a:extLst>
            </p:cNvPr>
            <p:cNvSpPr txBox="1"/>
            <p:nvPr/>
          </p:nvSpPr>
          <p:spPr>
            <a:xfrm>
              <a:off x="3336987" y="286039"/>
              <a:ext cx="8475295" cy="6105671"/>
            </a:xfrm>
            <a:prstGeom prst="rect">
              <a:avLst/>
            </a:prstGeom>
            <a:noFill/>
            <a:ln w="79375" cmpd="sng">
              <a:solidFill>
                <a:schemeClr val="accent6"/>
              </a:solidFill>
            </a:ln>
          </p:spPr>
          <p:txBody>
            <a:bodyPr wrap="square" tIns="137160" rtlCol="0">
              <a:noAutofit/>
            </a:bodyPr>
            <a:lstStyle/>
            <a:p>
              <a:pPr algn="ctr"/>
              <a:r>
                <a:rPr lang="en-US" sz="2800" u="sng" dirty="0"/>
                <a:t>Obtain STAT EKG</a:t>
              </a:r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sz="1000" dirty="0"/>
            </a:p>
            <a:p>
              <a:pPr lvl="1"/>
              <a:endParaRPr lang="en-US" dirty="0"/>
            </a:p>
            <a:p>
              <a:pPr marL="742950" lvl="1" indent="-285750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Hyperkalemia can cause life-threatening arrhythmias</a:t>
              </a:r>
            </a:p>
            <a:p>
              <a:pPr marL="1200150" lvl="2" indent="-285750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lang="en-US" sz="1600" dirty="0">
                  <a:effectLst/>
                  <a:latin typeface="Calibri" panose="020F0502020204030204" pitchFamily="34" charset="0"/>
                </a:rPr>
                <a:t>sinus bradycardia, sinus arrest, asystole, V-tach, V-fib</a:t>
              </a:r>
              <a:endParaRPr lang="en-US" sz="1600" dirty="0">
                <a:latin typeface="Calibri" panose="020F0502020204030204" pitchFamily="34" charset="0"/>
              </a:endParaRPr>
            </a:p>
            <a:p>
              <a:pPr marL="742950" lvl="1" indent="-285750">
                <a:lnSpc>
                  <a:spcPts val="32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</a:rPr>
                <a:t>Any K &gt; 5.5 warrants EKG. Treat K &gt; 6.5 as emergent regardless of EKG changes</a:t>
              </a:r>
              <a:r>
                <a:rPr lang="en-US" baseline="30000" dirty="0">
                  <a:latin typeface="Calibri" panose="020F0502020204030204" pitchFamily="34" charset="0"/>
                </a:rPr>
                <a:t>1</a:t>
              </a:r>
            </a:p>
            <a:p>
              <a:pPr marL="742950" lvl="1" indent="-285750">
                <a:lnSpc>
                  <a:spcPts val="32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effectLst/>
                  <a:latin typeface="Calibri" panose="020F0502020204030204" pitchFamily="34" charset="0"/>
                </a:rPr>
                <a:t>Repeat EKG every 30-60 minutes to ensure resolution of EKG abnormalities</a:t>
              </a:r>
            </a:p>
            <a:p>
              <a:pPr marL="1200150" lvl="2" indent="-285750">
                <a:lnSpc>
                  <a:spcPts val="3200"/>
                </a:lnSpc>
                <a:buFont typeface="Arial" panose="020B0604020202020204" pitchFamily="34" charset="0"/>
                <a:buChar char="•"/>
              </a:pPr>
              <a:endParaRPr lang="en-US" dirty="0">
                <a:latin typeface="Calibri" panose="020F0502020204030204" pitchFamily="34" charset="0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endParaRPr lang="en-US" dirty="0">
                <a:effectLst/>
                <a:latin typeface="Calibri" panose="020F0502020204030204" pitchFamily="34" charset="0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endParaRPr lang="en-US" dirty="0">
                <a:latin typeface="Calibri" panose="020F0502020204030204" pitchFamily="34" charset="0"/>
              </a:endParaRPr>
            </a:p>
            <a:p>
              <a:r>
                <a:rPr lang="en-US" dirty="0">
                  <a:latin typeface="Calibri" panose="020F0502020204030204" pitchFamily="34" charset="0"/>
                </a:rPr>
                <a:t>    </a:t>
              </a:r>
            </a:p>
            <a:p>
              <a:r>
                <a:rPr lang="en-US" dirty="0">
                  <a:latin typeface="Calibri" panose="020F0502020204030204" pitchFamily="34" charset="0"/>
                </a:rPr>
                <a:t>           </a:t>
              </a:r>
              <a:endParaRPr lang="en-US" dirty="0"/>
            </a:p>
            <a:p>
              <a:r>
                <a:rPr lang="en-US" dirty="0"/>
                <a:t>    </a:t>
              </a:r>
            </a:p>
          </p:txBody>
        </p:sp>
        <p:pic>
          <p:nvPicPr>
            <p:cNvPr id="182" name="peaked T pic">
              <a:extLst>
                <a:ext uri="{FF2B5EF4-FFF2-40B4-BE49-F238E27FC236}">
                  <a16:creationId xmlns:a16="http://schemas.microsoft.com/office/drawing/2014/main" id="{71835771-B0BF-467C-9EB0-D2C271309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8774" y="1575276"/>
              <a:ext cx="3015200" cy="2894593"/>
            </a:xfrm>
            <a:prstGeom prst="rect">
              <a:avLst/>
            </a:prstGeom>
            <a:ln w="31750" cmpd="sng">
              <a:solidFill>
                <a:schemeClr val="bg2">
                  <a:lumMod val="75000"/>
                </a:schemeClr>
              </a:solidFill>
            </a:ln>
          </p:spPr>
        </p:pic>
        <p:pic>
          <p:nvPicPr>
            <p:cNvPr id="1044" name="Graphic 1043" descr="Warning with solid fill">
              <a:extLst>
                <a:ext uri="{FF2B5EF4-FFF2-40B4-BE49-F238E27FC236}">
                  <a16:creationId xmlns:a16="http://schemas.microsoft.com/office/drawing/2014/main" id="{BC02235D-7800-476D-A2E1-06BB2574DB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736112" y="4646901"/>
              <a:ext cx="388309" cy="388310"/>
            </a:xfrm>
            <a:prstGeom prst="rect">
              <a:avLst/>
            </a:prstGeom>
          </p:spPr>
        </p:pic>
      </p:grpSp>
      <p:sp>
        <p:nvSpPr>
          <p:cNvPr id="1053" name="Membrane stabilization" hidden="1">
            <a:extLst>
              <a:ext uri="{FF2B5EF4-FFF2-40B4-BE49-F238E27FC236}">
                <a16:creationId xmlns:a16="http://schemas.microsoft.com/office/drawing/2014/main" id="{D6114B0C-50CF-48E7-9C4B-E84D277544F6}"/>
              </a:ext>
            </a:extLst>
          </p:cNvPr>
          <p:cNvSpPr txBox="1"/>
          <p:nvPr/>
        </p:nvSpPr>
        <p:spPr>
          <a:xfrm>
            <a:off x="4195824" y="777990"/>
            <a:ext cx="645684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Myocardial Membrane Stabilization</a:t>
            </a:r>
          </a:p>
          <a:p>
            <a:pPr algn="ctr"/>
            <a:endParaRPr lang="en-US" sz="1600" dirty="0"/>
          </a:p>
          <a:p>
            <a:pPr algn="ctr"/>
            <a:r>
              <a:rPr lang="en-US" sz="2000" dirty="0"/>
              <a:t>Achieved by delivery of Calcium Salts</a:t>
            </a:r>
          </a:p>
        </p:txBody>
      </p:sp>
      <p:pic>
        <p:nvPicPr>
          <p:cNvPr id="22" name="teachIM logo" descr="Icon&#10;&#10;Description automatically generated">
            <a:extLst>
              <a:ext uri="{FF2B5EF4-FFF2-40B4-BE49-F238E27FC236}">
                <a16:creationId xmlns:a16="http://schemas.microsoft.com/office/drawing/2014/main" id="{9941794D-0E4C-4929-897A-E61CE338C30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9865" y="6299802"/>
            <a:ext cx="1387970" cy="528106"/>
          </a:xfrm>
          <a:prstGeom prst="rect">
            <a:avLst/>
          </a:prstGeom>
        </p:spPr>
      </p:pic>
      <p:sp>
        <p:nvSpPr>
          <p:cNvPr id="63" name="Cases">
            <a:hlinkClick r:id="rId12" action="ppaction://hlinksldjump"/>
            <a:extLst>
              <a:ext uri="{FF2B5EF4-FFF2-40B4-BE49-F238E27FC236}">
                <a16:creationId xmlns:a16="http://schemas.microsoft.com/office/drawing/2014/main" id="{082D1865-3DA1-4D0C-9709-886414A50799}"/>
              </a:ext>
            </a:extLst>
          </p:cNvPr>
          <p:cNvSpPr txBox="1"/>
          <p:nvPr/>
        </p:nvSpPr>
        <p:spPr>
          <a:xfrm>
            <a:off x="181123" y="5538834"/>
            <a:ext cx="2103120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Cases</a:t>
            </a:r>
          </a:p>
        </p:txBody>
      </p:sp>
      <p:grpSp>
        <p:nvGrpSpPr>
          <p:cNvPr id="42" name="Step 1 Question">
            <a:extLst>
              <a:ext uri="{FF2B5EF4-FFF2-40B4-BE49-F238E27FC236}">
                <a16:creationId xmlns:a16="http://schemas.microsoft.com/office/drawing/2014/main" id="{FFBB5B31-EB9C-4CDD-BD12-A256D9FEE8E0}"/>
              </a:ext>
            </a:extLst>
          </p:cNvPr>
          <p:cNvGrpSpPr/>
          <p:nvPr/>
        </p:nvGrpSpPr>
        <p:grpSpPr>
          <a:xfrm>
            <a:off x="181122" y="797693"/>
            <a:ext cx="2103120" cy="724673"/>
            <a:chOff x="143887" y="1045203"/>
            <a:chExt cx="2205728" cy="724673"/>
          </a:xfrm>
        </p:grpSpPr>
        <p:sp>
          <p:nvSpPr>
            <p:cNvPr id="43" name="Question 2">
              <a:hlinkClick r:id="rId13" action="ppaction://hlinksldjump"/>
              <a:extLst>
                <a:ext uri="{FF2B5EF4-FFF2-40B4-BE49-F238E27FC236}">
                  <a16:creationId xmlns:a16="http://schemas.microsoft.com/office/drawing/2014/main" id="{CC09043B-A52D-4657-917E-586B801A7805}"/>
                </a:ext>
              </a:extLst>
            </p:cNvPr>
            <p:cNvSpPr txBox="1"/>
            <p:nvPr/>
          </p:nvSpPr>
          <p:spPr>
            <a:xfrm>
              <a:off x="143887" y="1045203"/>
              <a:ext cx="2205728" cy="724673"/>
            </a:xfrm>
            <a:prstGeom prst="roundRect">
              <a:avLst/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tlCol="0">
              <a:noAutofit/>
            </a:bodyPr>
            <a:lstStyle/>
            <a:p>
              <a:r>
                <a:rPr lang="en-US" b="1" dirty="0">
                  <a:solidFill>
                    <a:sysClr val="windowText" lastClr="000000"/>
                  </a:solidFill>
                </a:rPr>
                <a:t>Step 1</a:t>
              </a:r>
            </a:p>
          </p:txBody>
        </p:sp>
        <p:pic>
          <p:nvPicPr>
            <p:cNvPr id="44" name="Graphic 43" descr="Test tubes outline">
              <a:hlinkClick r:id="rId13" action="ppaction://hlinksldjump"/>
              <a:extLst>
                <a:ext uri="{FF2B5EF4-FFF2-40B4-BE49-F238E27FC236}">
                  <a16:creationId xmlns:a16="http://schemas.microsoft.com/office/drawing/2014/main" id="{8CA0ABD2-4F88-461B-A2EF-2CA83E5AB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377019" y="1058879"/>
              <a:ext cx="675768" cy="675768"/>
            </a:xfrm>
            <a:prstGeom prst="rect">
              <a:avLst/>
            </a:prstGeom>
          </p:spPr>
        </p:pic>
      </p:grpSp>
      <p:grpSp>
        <p:nvGrpSpPr>
          <p:cNvPr id="45" name="Step 2 Question">
            <a:extLst>
              <a:ext uri="{FF2B5EF4-FFF2-40B4-BE49-F238E27FC236}">
                <a16:creationId xmlns:a16="http://schemas.microsoft.com/office/drawing/2014/main" id="{EC1C12B6-715F-4191-8294-D4FB884BF851}"/>
              </a:ext>
            </a:extLst>
          </p:cNvPr>
          <p:cNvGrpSpPr/>
          <p:nvPr/>
        </p:nvGrpSpPr>
        <p:grpSpPr>
          <a:xfrm>
            <a:off x="181122" y="1716074"/>
            <a:ext cx="2103120" cy="793038"/>
            <a:chOff x="131415" y="2087451"/>
            <a:chExt cx="2218200" cy="793038"/>
          </a:xfrm>
        </p:grpSpPr>
        <p:sp>
          <p:nvSpPr>
            <p:cNvPr id="46" name="question 3">
              <a:hlinkClick r:id="rId16" action="ppaction://hlinksldjump"/>
              <a:extLst>
                <a:ext uri="{FF2B5EF4-FFF2-40B4-BE49-F238E27FC236}">
                  <a16:creationId xmlns:a16="http://schemas.microsoft.com/office/drawing/2014/main" id="{4D0F3E8D-2D61-4BB8-BE8F-94050F191F98}"/>
                </a:ext>
              </a:extLst>
            </p:cNvPr>
            <p:cNvSpPr txBox="1"/>
            <p:nvPr/>
          </p:nvSpPr>
          <p:spPr>
            <a:xfrm>
              <a:off x="131415" y="2094166"/>
              <a:ext cx="2218200" cy="707484"/>
            </a:xfrm>
            <a:prstGeom prst="roundRect">
              <a:avLst/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tlCol="0">
              <a:noAutofit/>
            </a:bodyPr>
            <a:lstStyle/>
            <a:p>
              <a:r>
                <a:rPr lang="en-US" b="1" dirty="0">
                  <a:solidFill>
                    <a:sysClr val="windowText" lastClr="000000"/>
                  </a:solidFill>
                </a:rPr>
                <a:t>Step 2</a:t>
              </a:r>
            </a:p>
          </p:txBody>
        </p:sp>
        <p:pic>
          <p:nvPicPr>
            <p:cNvPr id="47" name="Graphic 46" descr="Heartbeat with solid fill">
              <a:hlinkClick r:id="rId16" action="ppaction://hlinksldjump"/>
              <a:extLst>
                <a:ext uri="{FF2B5EF4-FFF2-40B4-BE49-F238E27FC236}">
                  <a16:creationId xmlns:a16="http://schemas.microsoft.com/office/drawing/2014/main" id="{F813FF9E-71A8-4FCC-B826-D9EFA25DC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254285" y="2087451"/>
              <a:ext cx="793038" cy="793038"/>
            </a:xfrm>
            <a:prstGeom prst="rect">
              <a:avLst/>
            </a:prstGeom>
          </p:spPr>
        </p:pic>
      </p:grpSp>
      <p:grpSp>
        <p:nvGrpSpPr>
          <p:cNvPr id="48" name="Step 3 Question">
            <a:extLst>
              <a:ext uri="{FF2B5EF4-FFF2-40B4-BE49-F238E27FC236}">
                <a16:creationId xmlns:a16="http://schemas.microsoft.com/office/drawing/2014/main" id="{844DD247-ADD0-4E53-9ACD-89CC6582C14E}"/>
              </a:ext>
            </a:extLst>
          </p:cNvPr>
          <p:cNvGrpSpPr/>
          <p:nvPr/>
        </p:nvGrpSpPr>
        <p:grpSpPr>
          <a:xfrm>
            <a:off x="181122" y="2702820"/>
            <a:ext cx="2103120" cy="802349"/>
            <a:chOff x="131414" y="3071170"/>
            <a:chExt cx="2205728" cy="802349"/>
          </a:xfrm>
        </p:grpSpPr>
        <p:sp>
          <p:nvSpPr>
            <p:cNvPr id="50" name="question 4">
              <a:hlinkClick r:id="rId19" action="ppaction://hlinksldjump"/>
              <a:extLst>
                <a:ext uri="{FF2B5EF4-FFF2-40B4-BE49-F238E27FC236}">
                  <a16:creationId xmlns:a16="http://schemas.microsoft.com/office/drawing/2014/main" id="{29F7192F-4891-4B47-955C-4B647677FC55}"/>
                </a:ext>
              </a:extLst>
            </p:cNvPr>
            <p:cNvSpPr txBox="1"/>
            <p:nvPr/>
          </p:nvSpPr>
          <p:spPr>
            <a:xfrm>
              <a:off x="131414" y="3078631"/>
              <a:ext cx="2205728" cy="720110"/>
            </a:xfrm>
            <a:prstGeom prst="roundRect">
              <a:avLst>
                <a:gd name="adj" fmla="val 18232"/>
              </a:avLst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tlCol="0">
              <a:noAutofit/>
            </a:bodyPr>
            <a:lstStyle/>
            <a:p>
              <a:r>
                <a:rPr lang="en-US" b="1" dirty="0">
                  <a:solidFill>
                    <a:sysClr val="windowText" lastClr="000000"/>
                  </a:solidFill>
                </a:rPr>
                <a:t>Step 3</a:t>
              </a:r>
            </a:p>
          </p:txBody>
        </p:sp>
        <p:pic>
          <p:nvPicPr>
            <p:cNvPr id="51" name="Graphic 50" descr="Heart with pulse with solid fill">
              <a:hlinkClick r:id="rId19" action="ppaction://hlinksldjump"/>
              <a:extLst>
                <a:ext uri="{FF2B5EF4-FFF2-40B4-BE49-F238E27FC236}">
                  <a16:creationId xmlns:a16="http://schemas.microsoft.com/office/drawing/2014/main" id="{CE07BE28-E166-46EC-869E-6006F5EAF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234278" y="3071170"/>
              <a:ext cx="802349" cy="802349"/>
            </a:xfrm>
            <a:prstGeom prst="rect">
              <a:avLst/>
            </a:prstGeom>
          </p:spPr>
        </p:pic>
      </p:grpSp>
      <p:grpSp>
        <p:nvGrpSpPr>
          <p:cNvPr id="52" name="Step 4 Question">
            <a:extLst>
              <a:ext uri="{FF2B5EF4-FFF2-40B4-BE49-F238E27FC236}">
                <a16:creationId xmlns:a16="http://schemas.microsoft.com/office/drawing/2014/main" id="{DCA3B4D9-CB09-4A58-AE8C-A5B6382BBF06}"/>
              </a:ext>
            </a:extLst>
          </p:cNvPr>
          <p:cNvGrpSpPr/>
          <p:nvPr/>
        </p:nvGrpSpPr>
        <p:grpSpPr>
          <a:xfrm>
            <a:off x="181122" y="3698877"/>
            <a:ext cx="2103120" cy="719579"/>
            <a:chOff x="177115" y="4211452"/>
            <a:chExt cx="2185336" cy="719579"/>
          </a:xfrm>
        </p:grpSpPr>
        <p:sp>
          <p:nvSpPr>
            <p:cNvPr id="53" name="sub-q 1 button">
              <a:hlinkClick r:id="rId22" action="ppaction://hlinksldjump"/>
              <a:extLst>
                <a:ext uri="{FF2B5EF4-FFF2-40B4-BE49-F238E27FC236}">
                  <a16:creationId xmlns:a16="http://schemas.microsoft.com/office/drawing/2014/main" id="{D374BE86-780B-4B92-B710-740ECE947FFC}"/>
                </a:ext>
              </a:extLst>
            </p:cNvPr>
            <p:cNvSpPr txBox="1"/>
            <p:nvPr/>
          </p:nvSpPr>
          <p:spPr>
            <a:xfrm>
              <a:off x="177115" y="4211452"/>
              <a:ext cx="2185336" cy="718840"/>
            </a:xfrm>
            <a:prstGeom prst="roundRect">
              <a:avLst/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tlCol="0">
              <a:noAutofit/>
            </a:bodyPr>
            <a:lstStyle/>
            <a:p>
              <a:r>
                <a:rPr lang="en-US" b="1" dirty="0">
                  <a:solidFill>
                    <a:sysClr val="windowText" lastClr="000000"/>
                  </a:solidFill>
                </a:rPr>
                <a:t>Step 4</a:t>
              </a:r>
            </a:p>
          </p:txBody>
        </p:sp>
        <p:pic>
          <p:nvPicPr>
            <p:cNvPr id="54" name="Graphic 53" descr="Transfer with solid fill">
              <a:hlinkClick r:id="rId22" action="ppaction://hlinksldjump"/>
              <a:extLst>
                <a:ext uri="{FF2B5EF4-FFF2-40B4-BE49-F238E27FC236}">
                  <a16:creationId xmlns:a16="http://schemas.microsoft.com/office/drawing/2014/main" id="{F1887E4D-5F43-4BE0-80E4-13F8D67F3D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318888" y="4212191"/>
              <a:ext cx="718840" cy="718840"/>
            </a:xfrm>
            <a:prstGeom prst="rect">
              <a:avLst/>
            </a:prstGeom>
          </p:spPr>
        </p:pic>
      </p:grpSp>
      <p:grpSp>
        <p:nvGrpSpPr>
          <p:cNvPr id="55" name="Step 5 Question Group">
            <a:extLst>
              <a:ext uri="{FF2B5EF4-FFF2-40B4-BE49-F238E27FC236}">
                <a16:creationId xmlns:a16="http://schemas.microsoft.com/office/drawing/2014/main" id="{FE44EABA-AF21-45F8-B14F-5F46811C860D}"/>
              </a:ext>
            </a:extLst>
          </p:cNvPr>
          <p:cNvGrpSpPr/>
          <p:nvPr/>
        </p:nvGrpSpPr>
        <p:grpSpPr>
          <a:xfrm>
            <a:off x="183154" y="4612164"/>
            <a:ext cx="2103120" cy="732964"/>
            <a:chOff x="199997" y="5175187"/>
            <a:chExt cx="2185336" cy="732964"/>
          </a:xfrm>
        </p:grpSpPr>
        <p:sp>
          <p:nvSpPr>
            <p:cNvPr id="56" name="sub-q 2">
              <a:hlinkClick r:id="rId25" action="ppaction://hlinksldjump"/>
              <a:extLst>
                <a:ext uri="{FF2B5EF4-FFF2-40B4-BE49-F238E27FC236}">
                  <a16:creationId xmlns:a16="http://schemas.microsoft.com/office/drawing/2014/main" id="{5ABF4DBD-7C07-40CB-A169-67FFEFCAF8F8}"/>
                </a:ext>
              </a:extLst>
            </p:cNvPr>
            <p:cNvSpPr txBox="1"/>
            <p:nvPr/>
          </p:nvSpPr>
          <p:spPr>
            <a:xfrm>
              <a:off x="199997" y="5179241"/>
              <a:ext cx="2185336" cy="718840"/>
            </a:xfrm>
            <a:prstGeom prst="roundRect">
              <a:avLst>
                <a:gd name="adj" fmla="val 18844"/>
              </a:avLst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Ins="91440" rtlCol="0">
              <a:noAutofit/>
            </a:bodyPr>
            <a:lstStyle/>
            <a:p>
              <a:r>
                <a:rPr lang="en-US" b="1" dirty="0">
                  <a:solidFill>
                    <a:sysClr val="windowText" lastClr="000000"/>
                  </a:solidFill>
                </a:rPr>
                <a:t>Step 5</a:t>
              </a:r>
            </a:p>
          </p:txBody>
        </p:sp>
        <p:pic>
          <p:nvPicPr>
            <p:cNvPr id="57" name="Graphic 56" descr="Downward trend graph with solid fill">
              <a:hlinkClick r:id="rId25" action="ppaction://hlinksldjump"/>
              <a:extLst>
                <a:ext uri="{FF2B5EF4-FFF2-40B4-BE49-F238E27FC236}">
                  <a16:creationId xmlns:a16="http://schemas.microsoft.com/office/drawing/2014/main" id="{4FC35724-8FD6-45BE-935A-82B7CCBE0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308771" y="5175187"/>
              <a:ext cx="732964" cy="732964"/>
            </a:xfrm>
            <a:prstGeom prst="rect">
              <a:avLst/>
            </a:prstGeom>
          </p:spPr>
        </p:pic>
      </p:grpSp>
      <p:pic>
        <p:nvPicPr>
          <p:cNvPr id="64" name="Graphic 63" descr="Cursor with solid fill">
            <a:extLst>
              <a:ext uri="{FF2B5EF4-FFF2-40B4-BE49-F238E27FC236}">
                <a16:creationId xmlns:a16="http://schemas.microsoft.com/office/drawing/2014/main" id="{15A3A101-0511-44E0-B419-413D770C64C6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154474" y="1357347"/>
            <a:ext cx="301752" cy="301752"/>
          </a:xfrm>
          <a:prstGeom prst="rect">
            <a:avLst/>
          </a:prstGeom>
        </p:spPr>
      </p:pic>
      <p:pic>
        <p:nvPicPr>
          <p:cNvPr id="65" name="Graphic 64" descr="Cursor with solid fill">
            <a:extLst>
              <a:ext uri="{FF2B5EF4-FFF2-40B4-BE49-F238E27FC236}">
                <a16:creationId xmlns:a16="http://schemas.microsoft.com/office/drawing/2014/main" id="{6BB57D0F-8685-4928-ADA1-A77FE0DBCD86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154474" y="3273485"/>
            <a:ext cx="301752" cy="301752"/>
          </a:xfrm>
          <a:prstGeom prst="rect">
            <a:avLst/>
          </a:prstGeom>
        </p:spPr>
      </p:pic>
      <p:pic>
        <p:nvPicPr>
          <p:cNvPr id="66" name="Graphic 65" descr="Cursor with solid fill">
            <a:extLst>
              <a:ext uri="{FF2B5EF4-FFF2-40B4-BE49-F238E27FC236}">
                <a16:creationId xmlns:a16="http://schemas.microsoft.com/office/drawing/2014/main" id="{DBB2B6D5-CDAB-41D8-B2DD-1701174016C4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154474" y="4273381"/>
            <a:ext cx="301752" cy="301752"/>
          </a:xfrm>
          <a:prstGeom prst="rect">
            <a:avLst/>
          </a:prstGeom>
        </p:spPr>
      </p:pic>
      <p:pic>
        <p:nvPicPr>
          <p:cNvPr id="67" name="Graphic 66" descr="Cursor with solid fill">
            <a:extLst>
              <a:ext uri="{FF2B5EF4-FFF2-40B4-BE49-F238E27FC236}">
                <a16:creationId xmlns:a16="http://schemas.microsoft.com/office/drawing/2014/main" id="{42B50379-7F4A-4567-A54B-395C0B588130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154474" y="2235955"/>
            <a:ext cx="301752" cy="301752"/>
          </a:xfrm>
          <a:prstGeom prst="rect">
            <a:avLst/>
          </a:prstGeom>
        </p:spPr>
      </p:pic>
      <p:pic>
        <p:nvPicPr>
          <p:cNvPr id="68" name="Graphic 67" descr="Cursor with solid fill">
            <a:extLst>
              <a:ext uri="{FF2B5EF4-FFF2-40B4-BE49-F238E27FC236}">
                <a16:creationId xmlns:a16="http://schemas.microsoft.com/office/drawing/2014/main" id="{EEBC4EB0-B260-463E-BE5A-3B4374E82C3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154474" y="5166838"/>
            <a:ext cx="301752" cy="301752"/>
          </a:xfrm>
          <a:prstGeom prst="rect">
            <a:avLst/>
          </a:prstGeom>
        </p:spPr>
      </p:pic>
      <p:pic>
        <p:nvPicPr>
          <p:cNvPr id="69" name="Graphic 68" descr="Cursor with solid fill">
            <a:extLst>
              <a:ext uri="{FF2B5EF4-FFF2-40B4-BE49-F238E27FC236}">
                <a16:creationId xmlns:a16="http://schemas.microsoft.com/office/drawing/2014/main" id="{BA2057CB-1785-44DF-A029-0561CB8BD23E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154474" y="5796581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62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reveal and hide" hidden="1">
            <a:extLst>
              <a:ext uri="{FF2B5EF4-FFF2-40B4-BE49-F238E27FC236}">
                <a16:creationId xmlns:a16="http://schemas.microsoft.com/office/drawing/2014/main" id="{AB07DF3C-FCBD-4345-91B6-3DE81A1C7BD3}"/>
              </a:ext>
            </a:extLst>
          </p:cNvPr>
          <p:cNvGrpSpPr/>
          <p:nvPr/>
        </p:nvGrpSpPr>
        <p:grpSpPr>
          <a:xfrm>
            <a:off x="2548211" y="78469"/>
            <a:ext cx="1945324" cy="600164"/>
            <a:chOff x="2548211" y="78469"/>
            <a:chExt cx="1945324" cy="600164"/>
          </a:xfrm>
        </p:grpSpPr>
        <p:sp>
          <p:nvSpPr>
            <p:cNvPr id="137" name="reveal and hide">
              <a:extLst>
                <a:ext uri="{FF2B5EF4-FFF2-40B4-BE49-F238E27FC236}">
                  <a16:creationId xmlns:a16="http://schemas.microsoft.com/office/drawing/2014/main" id="{E43C651D-F1EA-45B9-A89E-FF372708243F}"/>
                </a:ext>
              </a:extLst>
            </p:cNvPr>
            <p:cNvSpPr txBox="1"/>
            <p:nvPr/>
          </p:nvSpPr>
          <p:spPr>
            <a:xfrm>
              <a:off x="2887711" y="78469"/>
              <a:ext cx="1605824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Click these buttons to </a:t>
              </a:r>
              <a:r>
                <a:rPr lang="en-US" sz="1100" b="1" u="sng" dirty="0"/>
                <a:t>REVEAL &amp; HIDE </a:t>
              </a:r>
              <a:r>
                <a:rPr lang="en-US" sz="1100" dirty="0"/>
                <a:t>answers and graphics</a:t>
              </a:r>
            </a:p>
          </p:txBody>
        </p: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3A86B51B-B37B-4BC4-B659-B88792256A27}"/>
                </a:ext>
              </a:extLst>
            </p:cNvPr>
            <p:cNvCxnSpPr>
              <a:cxnSpLocks/>
              <a:stCxn id="137" idx="1"/>
            </p:cNvCxnSpPr>
            <p:nvPr/>
          </p:nvCxnSpPr>
          <p:spPr>
            <a:xfrm flipH="1">
              <a:off x="2548211" y="378551"/>
              <a:ext cx="339500" cy="1525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" name="click again" hidden="1">
            <a:extLst>
              <a:ext uri="{FF2B5EF4-FFF2-40B4-BE49-F238E27FC236}">
                <a16:creationId xmlns:a16="http://schemas.microsoft.com/office/drawing/2014/main" id="{0A16418F-5FFA-4BD0-83A4-6399A4504740}"/>
              </a:ext>
            </a:extLst>
          </p:cNvPr>
          <p:cNvSpPr txBox="1"/>
          <p:nvPr/>
        </p:nvSpPr>
        <p:spPr>
          <a:xfrm>
            <a:off x="2638543" y="832509"/>
            <a:ext cx="1052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Click again to hide graphic</a:t>
            </a:r>
          </a:p>
        </p:txBody>
      </p:sp>
      <p:grpSp>
        <p:nvGrpSpPr>
          <p:cNvPr id="29" name="Common Scenario Group" hidden="1">
            <a:extLst>
              <a:ext uri="{FF2B5EF4-FFF2-40B4-BE49-F238E27FC236}">
                <a16:creationId xmlns:a16="http://schemas.microsoft.com/office/drawing/2014/main" id="{C4A48495-A01F-4A95-B75E-9848E342E6A4}"/>
              </a:ext>
            </a:extLst>
          </p:cNvPr>
          <p:cNvGrpSpPr/>
          <p:nvPr/>
        </p:nvGrpSpPr>
        <p:grpSpPr>
          <a:xfrm>
            <a:off x="3584651" y="466289"/>
            <a:ext cx="8227631" cy="5970865"/>
            <a:chOff x="3679955" y="647519"/>
            <a:chExt cx="8227631" cy="5970865"/>
          </a:xfrm>
        </p:grpSpPr>
        <p:pic>
          <p:nvPicPr>
            <p:cNvPr id="28" name="Graphic 27" descr="Speech with solid fill">
              <a:extLst>
                <a:ext uri="{FF2B5EF4-FFF2-40B4-BE49-F238E27FC236}">
                  <a16:creationId xmlns:a16="http://schemas.microsoft.com/office/drawing/2014/main" id="{BC505812-85A3-423E-A8DF-BF822389FF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679955" y="2868268"/>
              <a:ext cx="1367349" cy="1367349"/>
            </a:xfrm>
            <a:prstGeom prst="rect">
              <a:avLst/>
            </a:prstGeom>
          </p:spPr>
        </p:pic>
        <p:pic>
          <p:nvPicPr>
            <p:cNvPr id="49" name="Graphic 48" descr="Speech with solid fill">
              <a:extLst>
                <a:ext uri="{FF2B5EF4-FFF2-40B4-BE49-F238E27FC236}">
                  <a16:creationId xmlns:a16="http://schemas.microsoft.com/office/drawing/2014/main" id="{9DEFFF61-F869-4978-8FEF-7C1E771264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01063" y="3951377"/>
              <a:ext cx="1399557" cy="1399557"/>
            </a:xfrm>
            <a:prstGeom prst="rect">
              <a:avLst/>
            </a:prstGeom>
          </p:spPr>
        </p:pic>
        <p:pic>
          <p:nvPicPr>
            <p:cNvPr id="26" name="Graphic 25" descr="Speech with solid fill">
              <a:extLst>
                <a:ext uri="{FF2B5EF4-FFF2-40B4-BE49-F238E27FC236}">
                  <a16:creationId xmlns:a16="http://schemas.microsoft.com/office/drawing/2014/main" id="{F8E4E379-4EC6-41D4-98C4-C4622476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680848" y="1727820"/>
              <a:ext cx="1399557" cy="1399557"/>
            </a:xfrm>
            <a:prstGeom prst="rect">
              <a:avLst/>
            </a:prstGeom>
          </p:spPr>
        </p:pic>
        <p:sp>
          <p:nvSpPr>
            <p:cNvPr id="23" name="Common Scenario text box">
              <a:extLst>
                <a:ext uri="{FF2B5EF4-FFF2-40B4-BE49-F238E27FC236}">
                  <a16:creationId xmlns:a16="http://schemas.microsoft.com/office/drawing/2014/main" id="{9543FA8F-612B-496E-8949-2896E0E5F61C}"/>
                </a:ext>
              </a:extLst>
            </p:cNvPr>
            <p:cNvSpPr txBox="1"/>
            <p:nvPr/>
          </p:nvSpPr>
          <p:spPr>
            <a:xfrm>
              <a:off x="3831331" y="647519"/>
              <a:ext cx="8076255" cy="5970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You are on a hospital wards rotation pre-rounding for the day when you get a call from the nurse for Mrs. Smith…</a:t>
              </a:r>
            </a:p>
            <a:p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Nurse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en-US" sz="24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“I have a critical lab to report on Mrs. Smith”</a:t>
              </a:r>
            </a:p>
            <a:p>
              <a:endPara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You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:    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“What is the critical lab?”</a:t>
              </a:r>
            </a:p>
            <a:p>
              <a:endParaRPr lang="en-US" sz="24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Nurse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en-US" sz="24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“The patient’s potassium is 6.7…”</a:t>
              </a:r>
            </a:p>
            <a:p>
              <a:endPara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Question: 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What do you do next?</a:t>
              </a:r>
            </a:p>
            <a:p>
              <a:endParaRPr lang="en-US" sz="2800" dirty="0"/>
            </a:p>
            <a:p>
              <a:endParaRPr lang="en-US" dirty="0"/>
            </a:p>
          </p:txBody>
        </p:sp>
      </p:grpSp>
      <p:grpSp>
        <p:nvGrpSpPr>
          <p:cNvPr id="99" name="Topic Intro Group" hidden="1">
            <a:extLst>
              <a:ext uri="{FF2B5EF4-FFF2-40B4-BE49-F238E27FC236}">
                <a16:creationId xmlns:a16="http://schemas.microsoft.com/office/drawing/2014/main" id="{102CEDB5-EE3C-4722-8ADA-8CD3F96B383E}"/>
              </a:ext>
            </a:extLst>
          </p:cNvPr>
          <p:cNvGrpSpPr/>
          <p:nvPr/>
        </p:nvGrpSpPr>
        <p:grpSpPr>
          <a:xfrm>
            <a:off x="3695331" y="624170"/>
            <a:ext cx="7297902" cy="4901119"/>
            <a:chOff x="3695331" y="624170"/>
            <a:chExt cx="7297902" cy="490111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52F3901-1436-401F-BAAA-A15B40E2C39C}"/>
                </a:ext>
              </a:extLst>
            </p:cNvPr>
            <p:cNvSpPr txBox="1"/>
            <p:nvPr/>
          </p:nvSpPr>
          <p:spPr>
            <a:xfrm>
              <a:off x="3695331" y="624170"/>
              <a:ext cx="7297902" cy="341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200" dirty="0">
                  <a:solidFill>
                    <a:srgbClr val="002060"/>
                  </a:solidFill>
                  <a:latin typeface="Bernard MT Condensed" panose="02050806060905020404" pitchFamily="18" charset="0"/>
                </a:rPr>
                <a:t>Inpatient Management of Hyperkalemia</a:t>
              </a:r>
            </a:p>
          </p:txBody>
        </p:sp>
        <p:pic>
          <p:nvPicPr>
            <p:cNvPr id="1031" name="Picture 7">
              <a:extLst>
                <a:ext uri="{FF2B5EF4-FFF2-40B4-BE49-F238E27FC236}">
                  <a16:creationId xmlns:a16="http://schemas.microsoft.com/office/drawing/2014/main" id="{054CA7FF-B9BD-49BE-B816-77F2B3ECC9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74262" y="3899066"/>
              <a:ext cx="3940039" cy="1626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pic>
        <p:sp>
          <p:nvSpPr>
            <p:cNvPr id="98" name="Arrow: Up 97">
              <a:extLst>
                <a:ext uri="{FF2B5EF4-FFF2-40B4-BE49-F238E27FC236}">
                  <a16:creationId xmlns:a16="http://schemas.microsoft.com/office/drawing/2014/main" id="{2CEB91A8-88B4-4B20-BA1A-753B371B6632}"/>
                </a:ext>
              </a:extLst>
            </p:cNvPr>
            <p:cNvSpPr/>
            <p:nvPr/>
          </p:nvSpPr>
          <p:spPr>
            <a:xfrm>
              <a:off x="6246796" y="4918509"/>
              <a:ext cx="115503" cy="356135"/>
            </a:xfrm>
            <a:prstGeom prst="up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Arrow: Up 120">
              <a:extLst>
                <a:ext uri="{FF2B5EF4-FFF2-40B4-BE49-F238E27FC236}">
                  <a16:creationId xmlns:a16="http://schemas.microsoft.com/office/drawing/2014/main" id="{5E527ACC-F652-48C7-8657-AD1BC3320B98}"/>
                </a:ext>
              </a:extLst>
            </p:cNvPr>
            <p:cNvSpPr/>
            <p:nvPr/>
          </p:nvSpPr>
          <p:spPr>
            <a:xfrm>
              <a:off x="6508053" y="4918509"/>
              <a:ext cx="115503" cy="356135"/>
            </a:xfrm>
            <a:prstGeom prst="up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50" name="Step 2 group" hidden="1">
            <a:extLst>
              <a:ext uri="{FF2B5EF4-FFF2-40B4-BE49-F238E27FC236}">
                <a16:creationId xmlns:a16="http://schemas.microsoft.com/office/drawing/2014/main" id="{3454A1B6-49F9-4D5A-96B9-6D58D67E46F5}"/>
              </a:ext>
            </a:extLst>
          </p:cNvPr>
          <p:cNvGrpSpPr/>
          <p:nvPr/>
        </p:nvGrpSpPr>
        <p:grpSpPr>
          <a:xfrm>
            <a:off x="3164583" y="288758"/>
            <a:ext cx="8475295" cy="5974199"/>
            <a:chOff x="3336987" y="286039"/>
            <a:chExt cx="8475295" cy="6105671"/>
          </a:xfrm>
        </p:grpSpPr>
        <p:sp>
          <p:nvSpPr>
            <p:cNvPr id="1033" name="EKG changes text">
              <a:extLst>
                <a:ext uri="{FF2B5EF4-FFF2-40B4-BE49-F238E27FC236}">
                  <a16:creationId xmlns:a16="http://schemas.microsoft.com/office/drawing/2014/main" id="{86C9FC23-7469-439A-B448-2235A03644D3}"/>
                </a:ext>
              </a:extLst>
            </p:cNvPr>
            <p:cNvSpPr txBox="1"/>
            <p:nvPr/>
          </p:nvSpPr>
          <p:spPr>
            <a:xfrm>
              <a:off x="3336987" y="286039"/>
              <a:ext cx="8475295" cy="6105671"/>
            </a:xfrm>
            <a:prstGeom prst="rect">
              <a:avLst/>
            </a:prstGeom>
            <a:noFill/>
            <a:ln w="79375" cmpd="sng">
              <a:solidFill>
                <a:schemeClr val="accent6"/>
              </a:solidFill>
            </a:ln>
          </p:spPr>
          <p:txBody>
            <a:bodyPr wrap="square" tIns="137160" rtlCol="0">
              <a:noAutofit/>
            </a:bodyPr>
            <a:lstStyle/>
            <a:p>
              <a:pPr algn="ctr"/>
              <a:r>
                <a:rPr lang="en-US" sz="2800" u="sng" dirty="0"/>
                <a:t>Obtain STAT EKG</a:t>
              </a:r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sz="1000" dirty="0"/>
            </a:p>
            <a:p>
              <a:pPr lvl="1"/>
              <a:endParaRPr lang="en-US" dirty="0"/>
            </a:p>
            <a:p>
              <a:pPr marL="742950" lvl="1" indent="-285750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Hyperkalemia can cause life-threatening arrhythmias</a:t>
              </a:r>
            </a:p>
            <a:p>
              <a:pPr marL="1200150" lvl="2" indent="-285750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lang="en-US" sz="1600" dirty="0">
                  <a:effectLst/>
                  <a:latin typeface="Calibri" panose="020F0502020204030204" pitchFamily="34" charset="0"/>
                </a:rPr>
                <a:t>sinus bradycardia, sinus arrest, asystole, V-tach, V-fib</a:t>
              </a:r>
              <a:endParaRPr lang="en-US" sz="1600" dirty="0">
                <a:latin typeface="Calibri" panose="020F0502020204030204" pitchFamily="34" charset="0"/>
              </a:endParaRPr>
            </a:p>
            <a:p>
              <a:pPr marL="742950" lvl="1" indent="-285750">
                <a:lnSpc>
                  <a:spcPts val="32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</a:rPr>
                <a:t>Any K &gt; 5.5 warrants EKG. Treat K &gt; 6.5 as emergent regardless of EKG changes</a:t>
              </a:r>
              <a:r>
                <a:rPr lang="en-US" baseline="30000" dirty="0">
                  <a:latin typeface="Calibri" panose="020F0502020204030204" pitchFamily="34" charset="0"/>
                </a:rPr>
                <a:t>1</a:t>
              </a:r>
            </a:p>
            <a:p>
              <a:pPr marL="742950" lvl="1" indent="-285750">
                <a:lnSpc>
                  <a:spcPts val="32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effectLst/>
                  <a:latin typeface="Calibri" panose="020F0502020204030204" pitchFamily="34" charset="0"/>
                </a:rPr>
                <a:t>Repeat EKG every 30-60 minutes to ensure resolution of EKG abnormalities</a:t>
              </a:r>
            </a:p>
            <a:p>
              <a:pPr marL="1200150" lvl="2" indent="-285750">
                <a:lnSpc>
                  <a:spcPts val="3200"/>
                </a:lnSpc>
                <a:buFont typeface="Arial" panose="020B0604020202020204" pitchFamily="34" charset="0"/>
                <a:buChar char="•"/>
              </a:pPr>
              <a:endParaRPr lang="en-US" dirty="0">
                <a:latin typeface="Calibri" panose="020F0502020204030204" pitchFamily="34" charset="0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endParaRPr lang="en-US" dirty="0">
                <a:effectLst/>
                <a:latin typeface="Calibri" panose="020F0502020204030204" pitchFamily="34" charset="0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endParaRPr lang="en-US" dirty="0">
                <a:latin typeface="Calibri" panose="020F0502020204030204" pitchFamily="34" charset="0"/>
              </a:endParaRPr>
            </a:p>
            <a:p>
              <a:r>
                <a:rPr lang="en-US" dirty="0">
                  <a:latin typeface="Calibri" panose="020F0502020204030204" pitchFamily="34" charset="0"/>
                </a:rPr>
                <a:t>    </a:t>
              </a:r>
            </a:p>
            <a:p>
              <a:r>
                <a:rPr lang="en-US" dirty="0">
                  <a:latin typeface="Calibri" panose="020F0502020204030204" pitchFamily="34" charset="0"/>
                </a:rPr>
                <a:t>           </a:t>
              </a:r>
              <a:endParaRPr lang="en-US" dirty="0"/>
            </a:p>
            <a:p>
              <a:r>
                <a:rPr lang="en-US" dirty="0"/>
                <a:t>    </a:t>
              </a:r>
            </a:p>
          </p:txBody>
        </p:sp>
        <p:pic>
          <p:nvPicPr>
            <p:cNvPr id="182" name="peaked T pic">
              <a:extLst>
                <a:ext uri="{FF2B5EF4-FFF2-40B4-BE49-F238E27FC236}">
                  <a16:creationId xmlns:a16="http://schemas.microsoft.com/office/drawing/2014/main" id="{71835771-B0BF-467C-9EB0-D2C271309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8774" y="1575276"/>
              <a:ext cx="3015200" cy="2894593"/>
            </a:xfrm>
            <a:prstGeom prst="rect">
              <a:avLst/>
            </a:prstGeom>
            <a:ln w="31750" cmpd="sng">
              <a:solidFill>
                <a:schemeClr val="bg2">
                  <a:lumMod val="75000"/>
                </a:schemeClr>
              </a:solidFill>
            </a:ln>
          </p:spPr>
        </p:pic>
        <p:pic>
          <p:nvPicPr>
            <p:cNvPr id="1044" name="Graphic 1043" descr="Warning with solid fill">
              <a:extLst>
                <a:ext uri="{FF2B5EF4-FFF2-40B4-BE49-F238E27FC236}">
                  <a16:creationId xmlns:a16="http://schemas.microsoft.com/office/drawing/2014/main" id="{BC02235D-7800-476D-A2E1-06BB2574DB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736112" y="4646901"/>
              <a:ext cx="388309" cy="388310"/>
            </a:xfrm>
            <a:prstGeom prst="rect">
              <a:avLst/>
            </a:prstGeom>
          </p:spPr>
        </p:pic>
        <p:sp>
          <p:nvSpPr>
            <p:cNvPr id="1047" name="TextBox 1046">
              <a:extLst>
                <a:ext uri="{FF2B5EF4-FFF2-40B4-BE49-F238E27FC236}">
                  <a16:creationId xmlns:a16="http://schemas.microsoft.com/office/drawing/2014/main" id="{629922A7-7869-4853-B450-C6A9A8C6FEFC}"/>
                </a:ext>
              </a:extLst>
            </p:cNvPr>
            <p:cNvSpPr txBox="1"/>
            <p:nvPr/>
          </p:nvSpPr>
          <p:spPr>
            <a:xfrm>
              <a:off x="3802878" y="875579"/>
              <a:ext cx="6352425" cy="44351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Calibri" panose="020F0502020204030204" pitchFamily="34" charset="0"/>
                </a:rPr>
                <a:t> </a:t>
              </a:r>
              <a:r>
                <a:rPr lang="en-US" sz="2000" dirty="0">
                  <a:latin typeface="Calibri" panose="020F0502020204030204" pitchFamily="34" charset="0"/>
                </a:rPr>
                <a:t>Hyperkalemia leads to characteristic EKG changes:</a:t>
              </a:r>
            </a:p>
            <a:p>
              <a:endParaRPr lang="en-US" u="sng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u="sng" dirty="0"/>
                <a:t>Early Changes</a:t>
              </a:r>
              <a:r>
                <a:rPr lang="en-US" dirty="0"/>
                <a:t>: </a:t>
              </a:r>
            </a:p>
            <a:p>
              <a:pPr marL="1200150" lvl="2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</a:rPr>
                <a:t>P</a:t>
              </a:r>
              <a:r>
                <a:rPr lang="en-US" dirty="0">
                  <a:effectLst/>
                  <a:latin typeface="Calibri" panose="020F0502020204030204" pitchFamily="34" charset="0"/>
                </a:rPr>
                <a:t>eaked T-waves</a:t>
              </a:r>
            </a:p>
            <a:p>
              <a:pPr marL="1200150" lvl="2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effectLst/>
                  <a:latin typeface="Calibri" panose="020F0502020204030204" pitchFamily="34" charset="0"/>
                </a:rPr>
                <a:t>QT shortening</a:t>
              </a:r>
            </a:p>
            <a:p>
              <a:pPr lvl="2"/>
              <a:endParaRPr lang="en-US" dirty="0">
                <a:latin typeface="Calibri" panose="020F050202020403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u="sng" dirty="0">
                  <a:effectLst/>
                  <a:latin typeface="Calibri" panose="020F0502020204030204" pitchFamily="34" charset="0"/>
                </a:rPr>
                <a:t>As Hyperkalemia Worsens</a:t>
              </a:r>
              <a:r>
                <a:rPr lang="en-US" dirty="0">
                  <a:effectLst/>
                  <a:latin typeface="Calibri" panose="020F0502020204030204" pitchFamily="34" charset="0"/>
                </a:rPr>
                <a:t>:</a:t>
              </a:r>
            </a:p>
            <a:p>
              <a:pPr marL="1200150" lvl="2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</a:rPr>
                <a:t>QRS prolongs</a:t>
              </a:r>
            </a:p>
            <a:p>
              <a:pPr marL="1200150" lvl="2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effectLst/>
                  <a:latin typeface="Calibri" panose="020F0502020204030204" pitchFamily="34" charset="0"/>
                </a:rPr>
                <a:t>PR prolongs</a:t>
              </a:r>
            </a:p>
            <a:p>
              <a:pPr marL="1200150" lvl="2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</a:rPr>
                <a:t>P wave may disappear</a:t>
              </a:r>
            </a:p>
            <a:p>
              <a:pPr lvl="2">
                <a:lnSpc>
                  <a:spcPct val="150000"/>
                </a:lnSpc>
              </a:pPr>
              <a:endParaRPr lang="en-US" dirty="0"/>
            </a:p>
            <a:p>
              <a:endParaRPr lang="en-US" dirty="0"/>
            </a:p>
          </p:txBody>
        </p:sp>
      </p:grpSp>
      <p:pic>
        <p:nvPicPr>
          <p:cNvPr id="1052" name="Step 1 group">
            <a:extLst>
              <a:ext uri="{FF2B5EF4-FFF2-40B4-BE49-F238E27FC236}">
                <a16:creationId xmlns:a16="http://schemas.microsoft.com/office/drawing/2014/main" id="{87A507B5-321F-4803-B5D8-4E95E0F944AD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69935" y="1152352"/>
            <a:ext cx="1645022" cy="1420240"/>
          </a:xfrm>
          <a:prstGeom prst="rect">
            <a:avLst/>
          </a:prstGeom>
        </p:spPr>
      </p:pic>
      <p:sp>
        <p:nvSpPr>
          <p:cNvPr id="1053" name="Membrane stabilization" hidden="1">
            <a:extLst>
              <a:ext uri="{FF2B5EF4-FFF2-40B4-BE49-F238E27FC236}">
                <a16:creationId xmlns:a16="http://schemas.microsoft.com/office/drawing/2014/main" id="{D6114B0C-50CF-48E7-9C4B-E84D277544F6}"/>
              </a:ext>
            </a:extLst>
          </p:cNvPr>
          <p:cNvSpPr txBox="1"/>
          <p:nvPr/>
        </p:nvSpPr>
        <p:spPr>
          <a:xfrm>
            <a:off x="4195824" y="777990"/>
            <a:ext cx="645684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Myocardial Membrane Stabilization</a:t>
            </a:r>
          </a:p>
          <a:p>
            <a:pPr algn="ctr"/>
            <a:endParaRPr lang="en-US" sz="1600" dirty="0"/>
          </a:p>
          <a:p>
            <a:pPr algn="ctr"/>
            <a:r>
              <a:rPr lang="en-US" sz="2000" dirty="0"/>
              <a:t>Achieved by delivery of Calcium Salts</a:t>
            </a:r>
          </a:p>
        </p:txBody>
      </p:sp>
      <p:graphicFrame>
        <p:nvGraphicFramePr>
          <p:cNvPr id="353" name="Calcium Table" hidden="1">
            <a:extLst>
              <a:ext uri="{FF2B5EF4-FFF2-40B4-BE49-F238E27FC236}">
                <a16:creationId xmlns:a16="http://schemas.microsoft.com/office/drawing/2014/main" id="{A543C54D-058A-4F8B-8D71-F091364B0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765452"/>
              </p:ext>
            </p:extLst>
          </p:nvPr>
        </p:nvGraphicFramePr>
        <p:xfrm>
          <a:off x="3268560" y="2166675"/>
          <a:ext cx="8535620" cy="3167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7574">
                  <a:extLst>
                    <a:ext uri="{9D8B030D-6E8A-4147-A177-3AD203B41FA5}">
                      <a16:colId xmlns:a16="http://schemas.microsoft.com/office/drawing/2014/main" val="2551842356"/>
                    </a:ext>
                  </a:extLst>
                </a:gridCol>
                <a:gridCol w="3667217">
                  <a:extLst>
                    <a:ext uri="{9D8B030D-6E8A-4147-A177-3AD203B41FA5}">
                      <a16:colId xmlns:a16="http://schemas.microsoft.com/office/drawing/2014/main" val="614158389"/>
                    </a:ext>
                  </a:extLst>
                </a:gridCol>
                <a:gridCol w="3150829">
                  <a:extLst>
                    <a:ext uri="{9D8B030D-6E8A-4147-A177-3AD203B41FA5}">
                      <a16:colId xmlns:a16="http://schemas.microsoft.com/office/drawing/2014/main" val="701287796"/>
                    </a:ext>
                  </a:extLst>
                </a:gridCol>
              </a:tblGrid>
              <a:tr h="71838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Agent: </a:t>
                      </a:r>
                    </a:p>
                  </a:txBody>
                  <a:tcPr marL="182880"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Calcium Chloride 0.5-1g IV</a:t>
                      </a:r>
                    </a:p>
                    <a:p>
                      <a:pPr algn="ctr"/>
                      <a:r>
                        <a:rPr lang="en-US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(More potent, requires central access)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Calcium Gluconate 1-2g IV</a:t>
                      </a:r>
                    </a:p>
                    <a:p>
                      <a:pPr algn="ctr"/>
                      <a:r>
                        <a:rPr lang="en-US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(Can be given peripherally)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14143"/>
                  </a:ext>
                </a:extLst>
              </a:tr>
              <a:tr h="71838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Onset:</a:t>
                      </a:r>
                    </a:p>
                  </a:txBody>
                  <a:tcPr marL="182880"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3-5 minutes</a:t>
                      </a: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056699"/>
                  </a:ext>
                </a:extLst>
              </a:tr>
              <a:tr h="71838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Duration:</a:t>
                      </a:r>
                    </a:p>
                  </a:txBody>
                  <a:tcPr marL="182880"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30-60 minutes</a:t>
                      </a: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4818749"/>
                  </a:ext>
                </a:extLst>
              </a:tr>
              <a:tr h="71838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Effect:</a:t>
                      </a:r>
                    </a:p>
                  </a:txBody>
                  <a:tcPr marL="182880"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No effect on K+ levels. Should Normalize EKG. If not, re-dose. </a:t>
                      </a: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119052"/>
                  </a:ext>
                </a:extLst>
              </a:tr>
              <a:tr h="293507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i="1" dirty="0">
                          <a:effectLst/>
                        </a:rPr>
                        <a:t>Source: The Hospitalist Handbook UCSF Department of Medicine</a:t>
                      </a:r>
                      <a:r>
                        <a:rPr lang="en-US" sz="1100" dirty="0">
                          <a:effectLst/>
                        </a:rPr>
                        <a:t> (Vol. Acid-Base/Electrolytes).</a:t>
                      </a:r>
                    </a:p>
                  </a:txBody>
                  <a:tcPr marL="18288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T="13716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0471482"/>
                  </a:ext>
                </a:extLst>
              </a:tr>
            </a:tbl>
          </a:graphicData>
        </a:graphic>
      </p:graphicFrame>
      <p:grpSp>
        <p:nvGrpSpPr>
          <p:cNvPr id="375" name="Shifting Group" hidden="1">
            <a:extLst>
              <a:ext uri="{FF2B5EF4-FFF2-40B4-BE49-F238E27FC236}">
                <a16:creationId xmlns:a16="http://schemas.microsoft.com/office/drawing/2014/main" id="{E8AADEEB-A1E7-42AE-A387-FA156B3A9A3E}"/>
              </a:ext>
            </a:extLst>
          </p:cNvPr>
          <p:cNvGrpSpPr/>
          <p:nvPr/>
        </p:nvGrpSpPr>
        <p:grpSpPr>
          <a:xfrm>
            <a:off x="2656965" y="404090"/>
            <a:ext cx="9301071" cy="6156521"/>
            <a:chOff x="2656965" y="404090"/>
            <a:chExt cx="9301071" cy="6156521"/>
          </a:xfrm>
        </p:grpSpPr>
        <p:sp>
          <p:nvSpPr>
            <p:cNvPr id="355" name="TextBox 354">
              <a:extLst>
                <a:ext uri="{FF2B5EF4-FFF2-40B4-BE49-F238E27FC236}">
                  <a16:creationId xmlns:a16="http://schemas.microsoft.com/office/drawing/2014/main" id="{E4A18C93-8757-442E-A6CF-264D476DBF98}"/>
                </a:ext>
              </a:extLst>
            </p:cNvPr>
            <p:cNvSpPr txBox="1"/>
            <p:nvPr/>
          </p:nvSpPr>
          <p:spPr>
            <a:xfrm>
              <a:off x="5660220" y="404090"/>
              <a:ext cx="33681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Potassium Shifting</a:t>
              </a:r>
            </a:p>
            <a:p>
              <a:endParaRPr lang="en-US" sz="1600" dirty="0"/>
            </a:p>
          </p:txBody>
        </p: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61EC118E-AC4B-4541-BB70-DF5ADC42CB7B}"/>
                </a:ext>
              </a:extLst>
            </p:cNvPr>
            <p:cNvSpPr txBox="1"/>
            <p:nvPr/>
          </p:nvSpPr>
          <p:spPr>
            <a:xfrm>
              <a:off x="2656965" y="2660265"/>
              <a:ext cx="3021160" cy="2446824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b="1" dirty="0"/>
                <a:t>In</a:t>
              </a:r>
              <a:r>
                <a:rPr lang="en-US" sz="2000" b="1" dirty="0"/>
                <a:t>sulin  +   D50</a:t>
              </a:r>
            </a:p>
            <a:p>
              <a:pPr algn="ctr">
                <a:lnSpc>
                  <a:spcPts val="2400"/>
                </a:lnSpc>
              </a:pPr>
              <a:r>
                <a:rPr lang="en-US" sz="1600" dirty="0">
                  <a:effectLst/>
                  <a:latin typeface="Calibri" panose="020F0502020204030204" pitchFamily="34" charset="0"/>
                </a:rPr>
                <a:t> (10u* Regular Insulin +1amp D50)</a:t>
              </a:r>
            </a:p>
            <a:p>
              <a:pPr algn="ctr"/>
              <a:r>
                <a:rPr lang="en-US" sz="1400" dirty="0">
                  <a:effectLst/>
                  <a:latin typeface="Calibri" panose="020F0502020204030204" pitchFamily="34" charset="0"/>
                </a:rPr>
                <a:t>*lower insulin dose if renal impairment</a:t>
              </a:r>
            </a:p>
            <a:p>
              <a:pPr algn="ctr"/>
              <a:endParaRPr lang="en-US" sz="1600" dirty="0">
                <a:latin typeface="Calibri" panose="020F0502020204030204" pitchFamily="34" charset="0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800" dirty="0">
                  <a:effectLst/>
                  <a:latin typeface="Calibri" panose="020F0502020204030204" pitchFamily="34" charset="0"/>
                </a:rPr>
                <a:t> </a:t>
              </a:r>
              <a:r>
                <a:rPr lang="en-US" sz="1700" dirty="0">
                  <a:effectLst/>
                  <a:latin typeface="Calibri" panose="020F0502020204030204" pitchFamily="34" charset="0"/>
                </a:rPr>
                <a:t>Onset: 15-60 minutes  </a:t>
              </a:r>
            </a:p>
            <a:p>
              <a:pPr algn="ctr">
                <a:lnSpc>
                  <a:spcPts val="1800"/>
                </a:lnSpc>
              </a:pPr>
              <a:endParaRPr lang="en-US" sz="1700" b="1" dirty="0">
                <a:latin typeface="Calibri" panose="020F0502020204030204" pitchFamily="34" charset="0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600" dirty="0">
                  <a:effectLst/>
                  <a:latin typeface="Calibri" panose="020F0502020204030204" pitchFamily="34" charset="0"/>
                </a:rPr>
                <a:t>Duration: 4-6 hours (longer if AKI)</a:t>
              </a:r>
            </a:p>
            <a:p>
              <a:pPr algn="ctr">
                <a:lnSpc>
                  <a:spcPts val="1800"/>
                </a:lnSpc>
              </a:pPr>
              <a:endParaRPr lang="en-US" sz="1600" dirty="0">
                <a:latin typeface="Calibri" panose="020F0502020204030204" pitchFamily="34" charset="0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600" dirty="0">
                  <a:effectLst/>
                  <a:latin typeface="Calibri" panose="020F0502020204030204" pitchFamily="34" charset="0"/>
                </a:rPr>
                <a:t>Lowers Serum K ~0.5-1.0meq  </a:t>
              </a:r>
              <a:endParaRPr lang="en-US" sz="1600" b="1" dirty="0"/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74996551-1C92-4011-90C8-26BBEFF5E193}"/>
                </a:ext>
              </a:extLst>
            </p:cNvPr>
            <p:cNvSpPr txBox="1"/>
            <p:nvPr/>
          </p:nvSpPr>
          <p:spPr>
            <a:xfrm>
              <a:off x="5802115" y="2660266"/>
              <a:ext cx="3284970" cy="2446824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800" dirty="0">
                  <a:effectLst/>
                  <a:latin typeface="Calibri" panose="020F0502020204030204" pitchFamily="34" charset="0"/>
                </a:rPr>
                <a:t> </a:t>
              </a:r>
              <a:r>
                <a:rPr lang="en-US" sz="2000" b="1" dirty="0">
                  <a:latin typeface="Calibri" panose="020F0502020204030204" pitchFamily="34" charset="0"/>
                </a:rPr>
                <a:t>β</a:t>
              </a:r>
              <a:r>
                <a:rPr lang="en-US" sz="2000" b="1" dirty="0">
                  <a:effectLst/>
                  <a:latin typeface="Calibri" panose="020F0502020204030204" pitchFamily="34" charset="0"/>
                </a:rPr>
                <a:t>2-agonism</a:t>
              </a:r>
            </a:p>
            <a:p>
              <a:pPr algn="ctr"/>
              <a:r>
                <a:rPr lang="en-US" sz="1800" dirty="0">
                  <a:effectLst/>
                  <a:latin typeface="Calibri" panose="020F0502020204030204" pitchFamily="34" charset="0"/>
                </a:rPr>
                <a:t> </a:t>
              </a:r>
              <a:r>
                <a:rPr lang="en-US" sz="1600" dirty="0">
                  <a:effectLst/>
                  <a:latin typeface="Calibri" panose="020F0502020204030204" pitchFamily="34" charset="0"/>
                </a:rPr>
                <a:t>Albuterol 10-20mg in 4mL saline </a:t>
              </a:r>
              <a:endParaRPr lang="en-US" sz="1600" b="1" dirty="0">
                <a:latin typeface="Calibri" panose="020F0502020204030204" pitchFamily="34" charset="0"/>
              </a:endParaRPr>
            </a:p>
            <a:p>
              <a:pPr algn="ctr"/>
              <a:r>
                <a:rPr lang="en-US" sz="1400" dirty="0">
                  <a:effectLst/>
                  <a:latin typeface="Calibri" panose="020F0502020204030204" pitchFamily="34" charset="0"/>
                </a:rPr>
                <a:t> Higher than asthma/COPD dosing (2.5mg)</a:t>
              </a:r>
            </a:p>
            <a:p>
              <a:pPr algn="ctr"/>
              <a:endParaRPr lang="en-US" sz="1400" b="1" dirty="0">
                <a:effectLst/>
                <a:latin typeface="Calibri" panose="020F0502020204030204" pitchFamily="34" charset="0"/>
              </a:endParaRPr>
            </a:p>
            <a:p>
              <a:pPr algn="ctr"/>
              <a:r>
                <a:rPr lang="en-US" sz="1600" dirty="0">
                  <a:effectLst/>
                  <a:latin typeface="Calibri" panose="020F0502020204030204" pitchFamily="34" charset="0"/>
                </a:rPr>
                <a:t>Onset: 15-30 minutes </a:t>
              </a:r>
            </a:p>
            <a:p>
              <a:pPr algn="ctr"/>
              <a:endParaRPr lang="en-US" sz="1600" b="1" dirty="0">
                <a:latin typeface="Calibri" panose="020F0502020204030204" pitchFamily="34" charset="0"/>
              </a:endParaRPr>
            </a:p>
            <a:p>
              <a:pPr algn="ctr"/>
              <a:r>
                <a:rPr lang="en-US" sz="1600" dirty="0">
                  <a:effectLst/>
                  <a:latin typeface="Calibri" panose="020F0502020204030204" pitchFamily="34" charset="0"/>
                </a:rPr>
                <a:t>Duration: 2-4 hours </a:t>
              </a:r>
            </a:p>
            <a:p>
              <a:pPr algn="ctr"/>
              <a:endParaRPr lang="en-US" sz="1600" b="1" dirty="0">
                <a:effectLst/>
                <a:latin typeface="Calibri" panose="020F0502020204030204" pitchFamily="34" charset="0"/>
              </a:endParaRPr>
            </a:p>
            <a:p>
              <a:pPr algn="ctr"/>
              <a:r>
                <a:rPr lang="en-US" sz="1600" dirty="0">
                  <a:effectLst/>
                  <a:latin typeface="Calibri" panose="020F0502020204030204" pitchFamily="34" charset="0"/>
                </a:rPr>
                <a:t>Lowers Serum K 0.5-1.5meq</a:t>
              </a:r>
              <a:endParaRPr lang="en-US" sz="1600" b="1" dirty="0"/>
            </a:p>
          </p:txBody>
        </p:sp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id="{60E91136-9957-4B5E-8EB5-3942E8C7B334}"/>
                </a:ext>
              </a:extLst>
            </p:cNvPr>
            <p:cNvSpPr txBox="1"/>
            <p:nvPr/>
          </p:nvSpPr>
          <p:spPr>
            <a:xfrm>
              <a:off x="9213402" y="2651232"/>
              <a:ext cx="2744634" cy="2455858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sz="2000" b="1" dirty="0">
                  <a:effectLst/>
                  <a:latin typeface="Calibri" panose="020F0502020204030204" pitchFamily="34" charset="0"/>
                </a:rPr>
                <a:t>NaHCO</a:t>
              </a:r>
              <a:r>
                <a:rPr lang="en-US" sz="2000" b="1" baseline="-25000" dirty="0">
                  <a:effectLst/>
                  <a:latin typeface="Calibri" panose="020F0502020204030204" pitchFamily="34" charset="0"/>
                </a:rPr>
                <a:t>3</a:t>
              </a:r>
            </a:p>
            <a:p>
              <a:pPr algn="ctr">
                <a:lnSpc>
                  <a:spcPts val="2400"/>
                </a:lnSpc>
              </a:pPr>
              <a:r>
                <a:rPr lang="en-US" sz="1600" dirty="0">
                  <a:effectLst/>
                  <a:latin typeface="Calibri" panose="020F0502020204030204" pitchFamily="34" charset="0"/>
                </a:rPr>
                <a:t>For Non-ESRD w/ acidosis only</a:t>
              </a:r>
            </a:p>
            <a:p>
              <a:pPr algn="ctr"/>
              <a:endParaRPr lang="en-US" sz="1600" baseline="-25000" dirty="0">
                <a:latin typeface="Calibri" panose="020F0502020204030204" pitchFamily="34" charset="0"/>
              </a:endParaRPr>
            </a:p>
            <a:p>
              <a:pPr algn="ctr"/>
              <a:r>
                <a:rPr lang="en-US" sz="1600" dirty="0">
                  <a:effectLst/>
                  <a:latin typeface="Calibri" panose="020F0502020204030204" pitchFamily="34" charset="0"/>
                </a:rPr>
                <a:t>Give 50-100meq IV</a:t>
              </a:r>
            </a:p>
            <a:p>
              <a:pPr algn="ctr"/>
              <a:endParaRPr lang="en-US" sz="1600" baseline="-25000" dirty="0">
                <a:effectLst/>
                <a:latin typeface="Calibri" panose="020F0502020204030204" pitchFamily="34" charset="0"/>
              </a:endParaRPr>
            </a:p>
            <a:p>
              <a:pPr algn="ctr"/>
              <a:r>
                <a:rPr lang="en-US" sz="1600" dirty="0">
                  <a:effectLst/>
                  <a:latin typeface="Calibri" panose="020F0502020204030204" pitchFamily="34" charset="0"/>
                </a:rPr>
                <a:t> Onset: 15-30minutes</a:t>
              </a:r>
            </a:p>
            <a:p>
              <a:pPr algn="ctr"/>
              <a:endParaRPr lang="en-US" sz="1600" baseline="-25000" dirty="0">
                <a:latin typeface="Calibri" panose="020F0502020204030204" pitchFamily="34" charset="0"/>
              </a:endParaRPr>
            </a:p>
            <a:p>
              <a:pPr algn="ctr"/>
              <a:r>
                <a:rPr lang="en-US" sz="1600" dirty="0">
                  <a:effectLst/>
                  <a:latin typeface="Calibri" panose="020F0502020204030204" pitchFamily="34" charset="0"/>
                </a:rPr>
                <a:t>Duration: 1-2 hours</a:t>
              </a:r>
            </a:p>
            <a:p>
              <a:pPr algn="ctr"/>
              <a:endParaRPr lang="en-US" sz="1600" baseline="-25000" dirty="0">
                <a:effectLst/>
                <a:latin typeface="Calibri" panose="020F0502020204030204" pitchFamily="34" charset="0"/>
              </a:endParaRPr>
            </a:p>
            <a:p>
              <a:pPr algn="ctr"/>
              <a:r>
                <a:rPr lang="en-US" sz="1600" dirty="0">
                  <a:latin typeface="Calibri" panose="020F0502020204030204" pitchFamily="34" charset="0"/>
                </a:rPr>
                <a:t>L</a:t>
              </a:r>
              <a:r>
                <a:rPr lang="en-US" sz="1600" dirty="0">
                  <a:effectLst/>
                  <a:latin typeface="Calibri" panose="020F0502020204030204" pitchFamily="34" charset="0"/>
                </a:rPr>
                <a:t>east effective shifting strategy</a:t>
              </a:r>
              <a:endParaRPr lang="en-US" sz="1600" baseline="-25000" dirty="0"/>
            </a:p>
          </p:txBody>
        </p:sp>
        <p:pic>
          <p:nvPicPr>
            <p:cNvPr id="372" name="Picture 371">
              <a:extLst>
                <a:ext uri="{FF2B5EF4-FFF2-40B4-BE49-F238E27FC236}">
                  <a16:creationId xmlns:a16="http://schemas.microsoft.com/office/drawing/2014/main" id="{2673A438-4B8F-4142-94EC-5FB655C5E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24818" y="938913"/>
              <a:ext cx="6638925" cy="1666875"/>
            </a:xfrm>
            <a:prstGeom prst="rect">
              <a:avLst/>
            </a:prstGeom>
          </p:spPr>
        </p:pic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A46CB21E-A844-4847-920F-9387D481F494}"/>
                </a:ext>
              </a:extLst>
            </p:cNvPr>
            <p:cNvSpPr txBox="1"/>
            <p:nvPr/>
          </p:nvSpPr>
          <p:spPr>
            <a:xfrm>
              <a:off x="3095273" y="5360282"/>
              <a:ext cx="831348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Note</a:t>
              </a:r>
              <a:r>
                <a:rPr lang="en-US" dirty="0"/>
                <a:t>: Shifting is a </a:t>
              </a:r>
              <a:r>
                <a:rPr lang="en-US" b="1" dirty="0"/>
                <a:t>temporizing measure </a:t>
              </a:r>
              <a:r>
                <a:rPr lang="en-US" dirty="0"/>
                <a:t>to buy time for more definitive management</a:t>
              </a:r>
            </a:p>
            <a:p>
              <a:endParaRPr lang="en-US" dirty="0"/>
            </a:p>
            <a:p>
              <a:r>
                <a:rPr lang="en-US" dirty="0"/>
                <a:t>The shifting strategy is usually chosen based on the patient’s comorbid conditions</a:t>
              </a:r>
            </a:p>
            <a:p>
              <a:endParaRPr lang="en-US" dirty="0"/>
            </a:p>
          </p:txBody>
        </p:sp>
      </p:grpSp>
      <p:pic>
        <p:nvPicPr>
          <p:cNvPr id="22" name="teachIM logo" descr="Icon&#10;&#10;Description automatically generated">
            <a:extLst>
              <a:ext uri="{FF2B5EF4-FFF2-40B4-BE49-F238E27FC236}">
                <a16:creationId xmlns:a16="http://schemas.microsoft.com/office/drawing/2014/main" id="{9941794D-0E4C-4929-897A-E61CE338C30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9865" y="6299802"/>
            <a:ext cx="1387970" cy="528106"/>
          </a:xfrm>
          <a:prstGeom prst="rect">
            <a:avLst/>
          </a:prstGeom>
        </p:spPr>
      </p:pic>
      <p:pic>
        <p:nvPicPr>
          <p:cNvPr id="184" name="Potassium Excretion" hidden="1">
            <a:extLst>
              <a:ext uri="{FF2B5EF4-FFF2-40B4-BE49-F238E27FC236}">
                <a16:creationId xmlns:a16="http://schemas.microsoft.com/office/drawing/2014/main" id="{430DB790-BED6-4D5B-A9F1-2DB86965C02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9145" y="348701"/>
            <a:ext cx="9031903" cy="6063083"/>
          </a:xfrm>
          <a:prstGeom prst="rect">
            <a:avLst/>
          </a:prstGeom>
        </p:spPr>
      </p:pic>
      <p:sp>
        <p:nvSpPr>
          <p:cNvPr id="59" name="Cases">
            <a:hlinkClick r:id="rId15" action="ppaction://hlinksldjump"/>
            <a:extLst>
              <a:ext uri="{FF2B5EF4-FFF2-40B4-BE49-F238E27FC236}">
                <a16:creationId xmlns:a16="http://schemas.microsoft.com/office/drawing/2014/main" id="{57736CCD-62DC-4E88-A9C7-56D0A2DEC5F3}"/>
              </a:ext>
            </a:extLst>
          </p:cNvPr>
          <p:cNvSpPr txBox="1"/>
          <p:nvPr/>
        </p:nvSpPr>
        <p:spPr>
          <a:xfrm>
            <a:off x="181123" y="5538834"/>
            <a:ext cx="2103120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Cases</a:t>
            </a:r>
          </a:p>
        </p:txBody>
      </p:sp>
      <p:grpSp>
        <p:nvGrpSpPr>
          <p:cNvPr id="60" name="Step 1 Question">
            <a:extLst>
              <a:ext uri="{FF2B5EF4-FFF2-40B4-BE49-F238E27FC236}">
                <a16:creationId xmlns:a16="http://schemas.microsoft.com/office/drawing/2014/main" id="{ED17B5FD-8748-43BA-B12A-EE66D43321B0}"/>
              </a:ext>
            </a:extLst>
          </p:cNvPr>
          <p:cNvGrpSpPr/>
          <p:nvPr/>
        </p:nvGrpSpPr>
        <p:grpSpPr>
          <a:xfrm>
            <a:off x="181122" y="797693"/>
            <a:ext cx="2103120" cy="724673"/>
            <a:chOff x="143887" y="1045203"/>
            <a:chExt cx="2205728" cy="724673"/>
          </a:xfrm>
          <a:effectLst/>
        </p:grpSpPr>
        <p:sp>
          <p:nvSpPr>
            <p:cNvPr id="61" name="Question 2">
              <a:hlinkClick r:id="rId16" action="ppaction://hlinksldjump"/>
              <a:extLst>
                <a:ext uri="{FF2B5EF4-FFF2-40B4-BE49-F238E27FC236}">
                  <a16:creationId xmlns:a16="http://schemas.microsoft.com/office/drawing/2014/main" id="{2B34312C-891D-44CD-A6F5-1D168530AADC}"/>
                </a:ext>
              </a:extLst>
            </p:cNvPr>
            <p:cNvSpPr txBox="1"/>
            <p:nvPr/>
          </p:nvSpPr>
          <p:spPr>
            <a:xfrm>
              <a:off x="143887" y="1045203"/>
              <a:ext cx="2205728" cy="724673"/>
            </a:xfrm>
            <a:prstGeom prst="roundRect">
              <a:avLst/>
            </a:prstGeom>
            <a:solidFill>
              <a:schemeClr val="accent1"/>
            </a:solidFill>
            <a:ln w="38100">
              <a:solidFill>
                <a:schemeClr val="accent1"/>
              </a:solidFill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tlCol="0">
              <a:no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Step 1</a:t>
              </a:r>
            </a:p>
          </p:txBody>
        </p:sp>
        <p:pic>
          <p:nvPicPr>
            <p:cNvPr id="62" name="Graphic 61" descr="Test tubes outline">
              <a:extLst>
                <a:ext uri="{FF2B5EF4-FFF2-40B4-BE49-F238E27FC236}">
                  <a16:creationId xmlns:a16="http://schemas.microsoft.com/office/drawing/2014/main" id="{779602FF-26A4-4C7D-8B72-40B0924E48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377019" y="1058879"/>
              <a:ext cx="675768" cy="675768"/>
            </a:xfrm>
            <a:prstGeom prst="rect">
              <a:avLst/>
            </a:prstGeom>
          </p:spPr>
        </p:pic>
      </p:grpSp>
      <p:sp>
        <p:nvSpPr>
          <p:cNvPr id="81" name="Scenario Question">
            <a:hlinkClick r:id="rId19" action="ppaction://hlinksldjump"/>
            <a:extLst>
              <a:ext uri="{FF2B5EF4-FFF2-40B4-BE49-F238E27FC236}">
                <a16:creationId xmlns:a16="http://schemas.microsoft.com/office/drawing/2014/main" id="{2E31A874-2388-4B00-8916-70E8699F512D}"/>
              </a:ext>
            </a:extLst>
          </p:cNvPr>
          <p:cNvSpPr txBox="1"/>
          <p:nvPr/>
        </p:nvSpPr>
        <p:spPr>
          <a:xfrm>
            <a:off x="181122" y="136445"/>
            <a:ext cx="2103120" cy="467540"/>
          </a:xfrm>
          <a:prstGeom prst="roundRect">
            <a:avLst>
              <a:gd name="adj" fmla="val 18585"/>
            </a:avLst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Common Scenario</a:t>
            </a:r>
          </a:p>
        </p:txBody>
      </p:sp>
      <p:pic>
        <p:nvPicPr>
          <p:cNvPr id="86" name="Step 1 group">
            <a:extLst>
              <a:ext uri="{FF2B5EF4-FFF2-40B4-BE49-F238E27FC236}">
                <a16:creationId xmlns:a16="http://schemas.microsoft.com/office/drawing/2014/main" id="{7ADA6FC4-0C5F-42B9-942D-6C842CAD2AE4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93135" y="1093527"/>
            <a:ext cx="1645022" cy="14202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8AD7EE-2B66-48F5-A477-46F45A8F9AAB}"/>
              </a:ext>
            </a:extLst>
          </p:cNvPr>
          <p:cNvSpPr txBox="1"/>
          <p:nvPr/>
        </p:nvSpPr>
        <p:spPr>
          <a:xfrm>
            <a:off x="4589652" y="2488328"/>
            <a:ext cx="3342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Is this result unexpected?</a:t>
            </a:r>
          </a:p>
        </p:txBody>
      </p:sp>
      <p:sp>
        <p:nvSpPr>
          <p:cNvPr id="88" name="EKG changes text">
            <a:extLst>
              <a:ext uri="{FF2B5EF4-FFF2-40B4-BE49-F238E27FC236}">
                <a16:creationId xmlns:a16="http://schemas.microsoft.com/office/drawing/2014/main" id="{C9E9A4C4-6390-43C5-9BF2-1E99AFE28DE3}"/>
              </a:ext>
            </a:extLst>
          </p:cNvPr>
          <p:cNvSpPr txBox="1"/>
          <p:nvPr/>
        </p:nvSpPr>
        <p:spPr>
          <a:xfrm>
            <a:off x="5131440" y="277994"/>
            <a:ext cx="6173057" cy="724674"/>
          </a:xfrm>
          <a:prstGeom prst="rect">
            <a:avLst/>
          </a:prstGeom>
          <a:noFill/>
          <a:ln w="79375" cmpd="sng">
            <a:noFill/>
          </a:ln>
        </p:spPr>
        <p:txBody>
          <a:bodyPr wrap="square" tIns="137160" rtlCol="0">
            <a:noAutofit/>
          </a:bodyPr>
          <a:lstStyle/>
          <a:p>
            <a:pPr algn="ctr"/>
            <a:r>
              <a:rPr lang="en-US" sz="3200" b="1" dirty="0"/>
              <a:t>Considerations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290CAF3-B28F-4C9E-86C0-3FA7467EEC14}"/>
              </a:ext>
            </a:extLst>
          </p:cNvPr>
          <p:cNvSpPr txBox="1"/>
          <p:nvPr/>
        </p:nvSpPr>
        <p:spPr>
          <a:xfrm>
            <a:off x="8613112" y="2480117"/>
            <a:ext cx="30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Is there hemolysis?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FD3DC4DD-64A7-4F0C-A4CF-DEA4B55900C3}"/>
              </a:ext>
            </a:extLst>
          </p:cNvPr>
          <p:cNvCxnSpPr>
            <a:cxnSpLocks/>
            <a:stCxn id="8" idx="2"/>
            <a:endCxn id="95" idx="0"/>
          </p:cNvCxnSpPr>
          <p:nvPr/>
        </p:nvCxnSpPr>
        <p:spPr>
          <a:xfrm rot="16200000" flipH="1">
            <a:off x="6505488" y="2705464"/>
            <a:ext cx="1405487" cy="1894543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D2E8662D-E59B-456F-920B-C071A8CD3F64}"/>
              </a:ext>
            </a:extLst>
          </p:cNvPr>
          <p:cNvCxnSpPr>
            <a:cxnSpLocks/>
            <a:stCxn id="89" idx="2"/>
            <a:endCxn id="95" idx="0"/>
          </p:cNvCxnSpPr>
          <p:nvPr/>
        </p:nvCxnSpPr>
        <p:spPr>
          <a:xfrm rot="5400000">
            <a:off x="8431259" y="2666027"/>
            <a:ext cx="1413698" cy="1965209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5" name="Step 1 group">
            <a:extLst>
              <a:ext uri="{FF2B5EF4-FFF2-40B4-BE49-F238E27FC236}">
                <a16:creationId xmlns:a16="http://schemas.microsoft.com/office/drawing/2014/main" id="{92969E29-A007-4250-8128-42C5AF976F18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2992" y="4355480"/>
            <a:ext cx="1645022" cy="1420240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1C1B8F9D-FA9F-4312-ADBA-DCB37F72B841}"/>
              </a:ext>
            </a:extLst>
          </p:cNvPr>
          <p:cNvSpPr txBox="1"/>
          <p:nvPr/>
        </p:nvSpPr>
        <p:spPr>
          <a:xfrm>
            <a:off x="6641359" y="5636892"/>
            <a:ext cx="27653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Repeat potassium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868805-88BC-4E99-82D4-D27D41DFFB55}"/>
              </a:ext>
            </a:extLst>
          </p:cNvPr>
          <p:cNvSpPr/>
          <p:nvPr/>
        </p:nvSpPr>
        <p:spPr>
          <a:xfrm>
            <a:off x="6699748" y="3445175"/>
            <a:ext cx="414737" cy="357563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A37C50C-0F21-4C76-A009-CBC19054C62E}"/>
              </a:ext>
            </a:extLst>
          </p:cNvPr>
          <p:cNvSpPr/>
          <p:nvPr/>
        </p:nvSpPr>
        <p:spPr>
          <a:xfrm>
            <a:off x="8991995" y="3437481"/>
            <a:ext cx="414737" cy="357563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0A974640-DA81-437C-977D-E538D018FE09}"/>
              </a:ext>
            </a:extLst>
          </p:cNvPr>
          <p:cNvSpPr/>
          <p:nvPr/>
        </p:nvSpPr>
        <p:spPr>
          <a:xfrm>
            <a:off x="2856834" y="278820"/>
            <a:ext cx="970339" cy="3121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K &gt; 5.5?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BF37787B-CE1C-4B28-BFCD-0A6A5A4ECD4C}"/>
              </a:ext>
            </a:extLst>
          </p:cNvPr>
          <p:cNvCxnSpPr>
            <a:cxnSpLocks/>
            <a:stCxn id="109" idx="2"/>
            <a:endCxn id="111" idx="0"/>
          </p:cNvCxnSpPr>
          <p:nvPr/>
        </p:nvCxnSpPr>
        <p:spPr>
          <a:xfrm>
            <a:off x="3342004" y="590954"/>
            <a:ext cx="8444" cy="172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FBD5D147-5517-4872-AA64-157A9170FB36}"/>
              </a:ext>
            </a:extLst>
          </p:cNvPr>
          <p:cNvSpPr/>
          <p:nvPr/>
        </p:nvSpPr>
        <p:spPr>
          <a:xfrm>
            <a:off x="2569404" y="762988"/>
            <a:ext cx="1562088" cy="280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Confirm </a:t>
            </a:r>
            <a:r>
              <a:rPr lang="en-US" sz="1600" dirty="0" err="1"/>
              <a:t>hyperK</a:t>
            </a:r>
            <a:endParaRPr lang="en-US" sz="1600" dirty="0"/>
          </a:p>
        </p:txBody>
      </p:sp>
      <p:grpSp>
        <p:nvGrpSpPr>
          <p:cNvPr id="75" name="Step 2 Question">
            <a:extLst>
              <a:ext uri="{FF2B5EF4-FFF2-40B4-BE49-F238E27FC236}">
                <a16:creationId xmlns:a16="http://schemas.microsoft.com/office/drawing/2014/main" id="{6EEECE02-4496-49BC-81A7-DC09B6360DDB}"/>
              </a:ext>
            </a:extLst>
          </p:cNvPr>
          <p:cNvGrpSpPr/>
          <p:nvPr/>
        </p:nvGrpSpPr>
        <p:grpSpPr>
          <a:xfrm>
            <a:off x="181122" y="1716074"/>
            <a:ext cx="2103120" cy="793038"/>
            <a:chOff x="131415" y="2087451"/>
            <a:chExt cx="2218200" cy="793038"/>
          </a:xfrm>
        </p:grpSpPr>
        <p:sp>
          <p:nvSpPr>
            <p:cNvPr id="83" name="question 3">
              <a:hlinkClick r:id="rId22" action="ppaction://hlinksldjump"/>
              <a:extLst>
                <a:ext uri="{FF2B5EF4-FFF2-40B4-BE49-F238E27FC236}">
                  <a16:creationId xmlns:a16="http://schemas.microsoft.com/office/drawing/2014/main" id="{791B61C8-5E40-437B-A793-D8C05329CB51}"/>
                </a:ext>
              </a:extLst>
            </p:cNvPr>
            <p:cNvSpPr txBox="1"/>
            <p:nvPr/>
          </p:nvSpPr>
          <p:spPr>
            <a:xfrm>
              <a:off x="131415" y="2094166"/>
              <a:ext cx="2218200" cy="707484"/>
            </a:xfrm>
            <a:prstGeom prst="roundRect">
              <a:avLst/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tlCol="0">
              <a:noAutofit/>
            </a:bodyPr>
            <a:lstStyle/>
            <a:p>
              <a:r>
                <a:rPr lang="en-US" b="1" dirty="0">
                  <a:solidFill>
                    <a:sysClr val="windowText" lastClr="000000"/>
                  </a:solidFill>
                </a:rPr>
                <a:t>Step 2</a:t>
              </a:r>
            </a:p>
          </p:txBody>
        </p:sp>
        <p:pic>
          <p:nvPicPr>
            <p:cNvPr id="84" name="Graphic 83" descr="Heartbeat with solid fill">
              <a:hlinkClick r:id="rId22" action="ppaction://hlinksldjump"/>
              <a:extLst>
                <a:ext uri="{FF2B5EF4-FFF2-40B4-BE49-F238E27FC236}">
                  <a16:creationId xmlns:a16="http://schemas.microsoft.com/office/drawing/2014/main" id="{8DEECAB2-D05F-4F7E-A82B-B9DC8480E3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254285" y="2087451"/>
              <a:ext cx="793038" cy="793038"/>
            </a:xfrm>
            <a:prstGeom prst="rect">
              <a:avLst/>
            </a:prstGeom>
          </p:spPr>
        </p:pic>
      </p:grpSp>
      <p:grpSp>
        <p:nvGrpSpPr>
          <p:cNvPr id="85" name="Step 3 Question">
            <a:extLst>
              <a:ext uri="{FF2B5EF4-FFF2-40B4-BE49-F238E27FC236}">
                <a16:creationId xmlns:a16="http://schemas.microsoft.com/office/drawing/2014/main" id="{0545B37F-4A70-4B0F-B0C1-E701C8804D3A}"/>
              </a:ext>
            </a:extLst>
          </p:cNvPr>
          <p:cNvGrpSpPr/>
          <p:nvPr/>
        </p:nvGrpSpPr>
        <p:grpSpPr>
          <a:xfrm>
            <a:off x="181122" y="2702820"/>
            <a:ext cx="2103120" cy="802349"/>
            <a:chOff x="131414" y="3071170"/>
            <a:chExt cx="2205728" cy="802349"/>
          </a:xfrm>
        </p:grpSpPr>
        <p:sp>
          <p:nvSpPr>
            <p:cNvPr id="87" name="question 4">
              <a:hlinkClick r:id="rId25" action="ppaction://hlinksldjump"/>
              <a:extLst>
                <a:ext uri="{FF2B5EF4-FFF2-40B4-BE49-F238E27FC236}">
                  <a16:creationId xmlns:a16="http://schemas.microsoft.com/office/drawing/2014/main" id="{3B2EA23B-CBEE-4808-9489-D34972CF555C}"/>
                </a:ext>
              </a:extLst>
            </p:cNvPr>
            <p:cNvSpPr txBox="1"/>
            <p:nvPr/>
          </p:nvSpPr>
          <p:spPr>
            <a:xfrm>
              <a:off x="131414" y="3078631"/>
              <a:ext cx="2205728" cy="720110"/>
            </a:xfrm>
            <a:prstGeom prst="roundRect">
              <a:avLst>
                <a:gd name="adj" fmla="val 18232"/>
              </a:avLst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tlCol="0">
              <a:noAutofit/>
            </a:bodyPr>
            <a:lstStyle/>
            <a:p>
              <a:r>
                <a:rPr lang="en-US" b="1" dirty="0">
                  <a:solidFill>
                    <a:sysClr val="windowText" lastClr="000000"/>
                  </a:solidFill>
                </a:rPr>
                <a:t>Step 3</a:t>
              </a:r>
            </a:p>
          </p:txBody>
        </p:sp>
        <p:pic>
          <p:nvPicPr>
            <p:cNvPr id="90" name="Graphic 89" descr="Heart with pulse with solid fill">
              <a:hlinkClick r:id="rId25" action="ppaction://hlinksldjump"/>
              <a:extLst>
                <a:ext uri="{FF2B5EF4-FFF2-40B4-BE49-F238E27FC236}">
                  <a16:creationId xmlns:a16="http://schemas.microsoft.com/office/drawing/2014/main" id="{68E77DDE-88A6-4338-8591-CF06790EC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234278" y="3071170"/>
              <a:ext cx="802349" cy="802349"/>
            </a:xfrm>
            <a:prstGeom prst="rect">
              <a:avLst/>
            </a:prstGeom>
          </p:spPr>
        </p:pic>
      </p:grpSp>
      <p:grpSp>
        <p:nvGrpSpPr>
          <p:cNvPr id="91" name="Step 4 Question">
            <a:extLst>
              <a:ext uri="{FF2B5EF4-FFF2-40B4-BE49-F238E27FC236}">
                <a16:creationId xmlns:a16="http://schemas.microsoft.com/office/drawing/2014/main" id="{277966E1-81DC-4876-BB93-18899ADACDD2}"/>
              </a:ext>
            </a:extLst>
          </p:cNvPr>
          <p:cNvGrpSpPr/>
          <p:nvPr/>
        </p:nvGrpSpPr>
        <p:grpSpPr>
          <a:xfrm>
            <a:off x="181122" y="3698877"/>
            <a:ext cx="2103120" cy="719579"/>
            <a:chOff x="177115" y="4211452"/>
            <a:chExt cx="2185336" cy="719579"/>
          </a:xfrm>
        </p:grpSpPr>
        <p:sp>
          <p:nvSpPr>
            <p:cNvPr id="92" name="sub-q 1 button">
              <a:hlinkClick r:id="rId28" action="ppaction://hlinksldjump"/>
              <a:extLst>
                <a:ext uri="{FF2B5EF4-FFF2-40B4-BE49-F238E27FC236}">
                  <a16:creationId xmlns:a16="http://schemas.microsoft.com/office/drawing/2014/main" id="{49EAAF9D-1AEE-4F66-8B87-D722BF20709C}"/>
                </a:ext>
              </a:extLst>
            </p:cNvPr>
            <p:cNvSpPr txBox="1"/>
            <p:nvPr/>
          </p:nvSpPr>
          <p:spPr>
            <a:xfrm>
              <a:off x="177115" y="4211452"/>
              <a:ext cx="2185336" cy="718840"/>
            </a:xfrm>
            <a:prstGeom prst="roundRect">
              <a:avLst/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tlCol="0">
              <a:noAutofit/>
            </a:bodyPr>
            <a:lstStyle/>
            <a:p>
              <a:r>
                <a:rPr lang="en-US" b="1" dirty="0">
                  <a:solidFill>
                    <a:sysClr val="windowText" lastClr="000000"/>
                  </a:solidFill>
                </a:rPr>
                <a:t>Step 4</a:t>
              </a:r>
            </a:p>
          </p:txBody>
        </p:sp>
        <p:pic>
          <p:nvPicPr>
            <p:cNvPr id="93" name="Graphic 92" descr="Transfer with solid fill">
              <a:hlinkClick r:id="rId28" action="ppaction://hlinksldjump"/>
              <a:extLst>
                <a:ext uri="{FF2B5EF4-FFF2-40B4-BE49-F238E27FC236}">
                  <a16:creationId xmlns:a16="http://schemas.microsoft.com/office/drawing/2014/main" id="{E7A9B3BE-C1D9-4223-ABED-6ADE82398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1318888" y="4212191"/>
              <a:ext cx="718840" cy="718840"/>
            </a:xfrm>
            <a:prstGeom prst="rect">
              <a:avLst/>
            </a:prstGeom>
          </p:spPr>
        </p:pic>
      </p:grpSp>
      <p:grpSp>
        <p:nvGrpSpPr>
          <p:cNvPr id="94" name="Step 5 Question Group">
            <a:extLst>
              <a:ext uri="{FF2B5EF4-FFF2-40B4-BE49-F238E27FC236}">
                <a16:creationId xmlns:a16="http://schemas.microsoft.com/office/drawing/2014/main" id="{6FC7625D-9608-48EE-9D5E-DD9AAEE5E273}"/>
              </a:ext>
            </a:extLst>
          </p:cNvPr>
          <p:cNvGrpSpPr/>
          <p:nvPr/>
        </p:nvGrpSpPr>
        <p:grpSpPr>
          <a:xfrm>
            <a:off x="183154" y="4612164"/>
            <a:ext cx="2103120" cy="732964"/>
            <a:chOff x="199997" y="5175187"/>
            <a:chExt cx="2185336" cy="732964"/>
          </a:xfrm>
        </p:grpSpPr>
        <p:sp>
          <p:nvSpPr>
            <p:cNvPr id="97" name="sub-q 2">
              <a:hlinkClick r:id="rId31" action="ppaction://hlinksldjump"/>
              <a:extLst>
                <a:ext uri="{FF2B5EF4-FFF2-40B4-BE49-F238E27FC236}">
                  <a16:creationId xmlns:a16="http://schemas.microsoft.com/office/drawing/2014/main" id="{145C18E2-266F-4FD8-99C2-66011C46066C}"/>
                </a:ext>
              </a:extLst>
            </p:cNvPr>
            <p:cNvSpPr txBox="1"/>
            <p:nvPr/>
          </p:nvSpPr>
          <p:spPr>
            <a:xfrm>
              <a:off x="199997" y="5179241"/>
              <a:ext cx="2185336" cy="718840"/>
            </a:xfrm>
            <a:prstGeom prst="roundRect">
              <a:avLst>
                <a:gd name="adj" fmla="val 18844"/>
              </a:avLst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Ins="91440" rtlCol="0">
              <a:noAutofit/>
            </a:bodyPr>
            <a:lstStyle/>
            <a:p>
              <a:r>
                <a:rPr lang="en-US" b="1" dirty="0">
                  <a:solidFill>
                    <a:sysClr val="windowText" lastClr="000000"/>
                  </a:solidFill>
                </a:rPr>
                <a:t>Step 5</a:t>
              </a:r>
            </a:p>
          </p:txBody>
        </p:sp>
        <p:pic>
          <p:nvPicPr>
            <p:cNvPr id="100" name="Graphic 99" descr="Downward trend graph with solid fill">
              <a:hlinkClick r:id="rId31" action="ppaction://hlinksldjump"/>
              <a:extLst>
                <a:ext uri="{FF2B5EF4-FFF2-40B4-BE49-F238E27FC236}">
                  <a16:creationId xmlns:a16="http://schemas.microsoft.com/office/drawing/2014/main" id="{105EF311-1336-4D91-9797-9BBC2989F2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308771" y="5175187"/>
              <a:ext cx="732964" cy="732964"/>
            </a:xfrm>
            <a:prstGeom prst="rect">
              <a:avLst/>
            </a:prstGeom>
          </p:spPr>
        </p:pic>
      </p:grpSp>
      <p:pic>
        <p:nvPicPr>
          <p:cNvPr id="69" name="Graphic 68" descr="Cursor with solid fill">
            <a:extLst>
              <a:ext uri="{FF2B5EF4-FFF2-40B4-BE49-F238E27FC236}">
                <a16:creationId xmlns:a16="http://schemas.microsoft.com/office/drawing/2014/main" id="{6C07B6B4-A699-44F3-9201-A72480546341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154474" y="435911"/>
            <a:ext cx="301752" cy="301752"/>
          </a:xfrm>
          <a:prstGeom prst="rect">
            <a:avLst/>
          </a:prstGeom>
        </p:spPr>
      </p:pic>
      <p:pic>
        <p:nvPicPr>
          <p:cNvPr id="71" name="Graphic 70" descr="Cursor with solid fill">
            <a:extLst>
              <a:ext uri="{FF2B5EF4-FFF2-40B4-BE49-F238E27FC236}">
                <a16:creationId xmlns:a16="http://schemas.microsoft.com/office/drawing/2014/main" id="{3FD0682B-BFA0-4338-B022-FB0E7C05C8D1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154474" y="3273485"/>
            <a:ext cx="301752" cy="301752"/>
          </a:xfrm>
          <a:prstGeom prst="rect">
            <a:avLst/>
          </a:prstGeom>
        </p:spPr>
      </p:pic>
      <p:pic>
        <p:nvPicPr>
          <p:cNvPr id="72" name="Graphic 71" descr="Cursor with solid fill">
            <a:extLst>
              <a:ext uri="{FF2B5EF4-FFF2-40B4-BE49-F238E27FC236}">
                <a16:creationId xmlns:a16="http://schemas.microsoft.com/office/drawing/2014/main" id="{2994A734-25FE-4A6B-914E-3C7169411077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154474" y="4273381"/>
            <a:ext cx="301752" cy="301752"/>
          </a:xfrm>
          <a:prstGeom prst="rect">
            <a:avLst/>
          </a:prstGeom>
        </p:spPr>
      </p:pic>
      <p:pic>
        <p:nvPicPr>
          <p:cNvPr id="73" name="Graphic 72" descr="Cursor with solid fill">
            <a:extLst>
              <a:ext uri="{FF2B5EF4-FFF2-40B4-BE49-F238E27FC236}">
                <a16:creationId xmlns:a16="http://schemas.microsoft.com/office/drawing/2014/main" id="{6C650968-E5F9-484F-840F-BDE71327BF6A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154474" y="2235955"/>
            <a:ext cx="301752" cy="301752"/>
          </a:xfrm>
          <a:prstGeom prst="rect">
            <a:avLst/>
          </a:prstGeom>
        </p:spPr>
      </p:pic>
      <p:pic>
        <p:nvPicPr>
          <p:cNvPr id="74" name="Graphic 73" descr="Cursor with solid fill">
            <a:extLst>
              <a:ext uri="{FF2B5EF4-FFF2-40B4-BE49-F238E27FC236}">
                <a16:creationId xmlns:a16="http://schemas.microsoft.com/office/drawing/2014/main" id="{B78985F5-ED03-412E-B9AA-F00FB4BB4898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154474" y="5166838"/>
            <a:ext cx="301752" cy="301752"/>
          </a:xfrm>
          <a:prstGeom prst="rect">
            <a:avLst/>
          </a:prstGeom>
        </p:spPr>
      </p:pic>
      <p:pic>
        <p:nvPicPr>
          <p:cNvPr id="76" name="Graphic 75" descr="Cursor with solid fill">
            <a:extLst>
              <a:ext uri="{FF2B5EF4-FFF2-40B4-BE49-F238E27FC236}">
                <a16:creationId xmlns:a16="http://schemas.microsoft.com/office/drawing/2014/main" id="{55421693-E047-4F4F-834A-F429BC860F5B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154474" y="5796581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82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BA757E6-DED5-4DC3-92DA-0542B07DD2E9}"/>
              </a:ext>
            </a:extLst>
          </p:cNvPr>
          <p:cNvSpPr/>
          <p:nvPr/>
        </p:nvSpPr>
        <p:spPr>
          <a:xfrm>
            <a:off x="4463409" y="2752258"/>
            <a:ext cx="6760441" cy="2324145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reveal and hide" hidden="1">
            <a:extLst>
              <a:ext uri="{FF2B5EF4-FFF2-40B4-BE49-F238E27FC236}">
                <a16:creationId xmlns:a16="http://schemas.microsoft.com/office/drawing/2014/main" id="{AB07DF3C-FCBD-4345-91B6-3DE81A1C7BD3}"/>
              </a:ext>
            </a:extLst>
          </p:cNvPr>
          <p:cNvGrpSpPr/>
          <p:nvPr/>
        </p:nvGrpSpPr>
        <p:grpSpPr>
          <a:xfrm>
            <a:off x="2548211" y="78469"/>
            <a:ext cx="1945324" cy="600164"/>
            <a:chOff x="2548211" y="78469"/>
            <a:chExt cx="1945324" cy="600164"/>
          </a:xfrm>
        </p:grpSpPr>
        <p:sp>
          <p:nvSpPr>
            <p:cNvPr id="137" name="reveal and hide">
              <a:extLst>
                <a:ext uri="{FF2B5EF4-FFF2-40B4-BE49-F238E27FC236}">
                  <a16:creationId xmlns:a16="http://schemas.microsoft.com/office/drawing/2014/main" id="{E43C651D-F1EA-45B9-A89E-FF372708243F}"/>
                </a:ext>
              </a:extLst>
            </p:cNvPr>
            <p:cNvSpPr txBox="1"/>
            <p:nvPr/>
          </p:nvSpPr>
          <p:spPr>
            <a:xfrm>
              <a:off x="2887711" y="78469"/>
              <a:ext cx="1605824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Click these buttons to </a:t>
              </a:r>
              <a:r>
                <a:rPr lang="en-US" sz="1100" b="1" u="sng" dirty="0"/>
                <a:t>REVEAL &amp; HIDE </a:t>
              </a:r>
              <a:r>
                <a:rPr lang="en-US" sz="1100" dirty="0"/>
                <a:t>answers and graphics</a:t>
              </a:r>
            </a:p>
          </p:txBody>
        </p: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3A86B51B-B37B-4BC4-B659-B88792256A27}"/>
                </a:ext>
              </a:extLst>
            </p:cNvPr>
            <p:cNvCxnSpPr>
              <a:cxnSpLocks/>
              <a:stCxn id="137" idx="1"/>
            </p:cNvCxnSpPr>
            <p:nvPr/>
          </p:nvCxnSpPr>
          <p:spPr>
            <a:xfrm flipH="1">
              <a:off x="2548211" y="378551"/>
              <a:ext cx="339500" cy="1525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" name="click again" hidden="1">
            <a:extLst>
              <a:ext uri="{FF2B5EF4-FFF2-40B4-BE49-F238E27FC236}">
                <a16:creationId xmlns:a16="http://schemas.microsoft.com/office/drawing/2014/main" id="{0A16418F-5FFA-4BD0-83A4-6399A4504740}"/>
              </a:ext>
            </a:extLst>
          </p:cNvPr>
          <p:cNvSpPr txBox="1"/>
          <p:nvPr/>
        </p:nvSpPr>
        <p:spPr>
          <a:xfrm>
            <a:off x="2638543" y="832509"/>
            <a:ext cx="1052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Click again to hide graphic</a:t>
            </a:r>
          </a:p>
        </p:txBody>
      </p:sp>
      <p:sp>
        <p:nvSpPr>
          <p:cNvPr id="100" name="TextBox 99" hidden="1">
            <a:extLst>
              <a:ext uri="{FF2B5EF4-FFF2-40B4-BE49-F238E27FC236}">
                <a16:creationId xmlns:a16="http://schemas.microsoft.com/office/drawing/2014/main" id="{AA0868FE-161E-4365-971A-E281AAB4F163}"/>
              </a:ext>
            </a:extLst>
          </p:cNvPr>
          <p:cNvSpPr txBox="1"/>
          <p:nvPr/>
        </p:nvSpPr>
        <p:spPr>
          <a:xfrm>
            <a:off x="3980012" y="75535"/>
            <a:ext cx="7297902" cy="1755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53" name="Membrane stabilization" hidden="1">
            <a:extLst>
              <a:ext uri="{FF2B5EF4-FFF2-40B4-BE49-F238E27FC236}">
                <a16:creationId xmlns:a16="http://schemas.microsoft.com/office/drawing/2014/main" id="{D6114B0C-50CF-48E7-9C4B-E84D277544F6}"/>
              </a:ext>
            </a:extLst>
          </p:cNvPr>
          <p:cNvSpPr txBox="1"/>
          <p:nvPr/>
        </p:nvSpPr>
        <p:spPr>
          <a:xfrm>
            <a:off x="4195824" y="777990"/>
            <a:ext cx="645684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Myocardial Membrane Stabilization</a:t>
            </a:r>
          </a:p>
          <a:p>
            <a:pPr algn="ctr"/>
            <a:endParaRPr lang="en-US" sz="1600" dirty="0"/>
          </a:p>
          <a:p>
            <a:pPr algn="ctr"/>
            <a:r>
              <a:rPr lang="en-US" sz="2000" dirty="0"/>
              <a:t>Achieved by delivery of Calcium Salts</a:t>
            </a:r>
          </a:p>
        </p:txBody>
      </p:sp>
      <p:graphicFrame>
        <p:nvGraphicFramePr>
          <p:cNvPr id="353" name="Calcium Table" hidden="1">
            <a:extLst>
              <a:ext uri="{FF2B5EF4-FFF2-40B4-BE49-F238E27FC236}">
                <a16:creationId xmlns:a16="http://schemas.microsoft.com/office/drawing/2014/main" id="{A543C54D-058A-4F8B-8D71-F091364B0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8363"/>
              </p:ext>
            </p:extLst>
          </p:nvPr>
        </p:nvGraphicFramePr>
        <p:xfrm>
          <a:off x="3268560" y="2166675"/>
          <a:ext cx="8535620" cy="3167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7574">
                  <a:extLst>
                    <a:ext uri="{9D8B030D-6E8A-4147-A177-3AD203B41FA5}">
                      <a16:colId xmlns:a16="http://schemas.microsoft.com/office/drawing/2014/main" val="2551842356"/>
                    </a:ext>
                  </a:extLst>
                </a:gridCol>
                <a:gridCol w="3667217">
                  <a:extLst>
                    <a:ext uri="{9D8B030D-6E8A-4147-A177-3AD203B41FA5}">
                      <a16:colId xmlns:a16="http://schemas.microsoft.com/office/drawing/2014/main" val="614158389"/>
                    </a:ext>
                  </a:extLst>
                </a:gridCol>
                <a:gridCol w="3150829">
                  <a:extLst>
                    <a:ext uri="{9D8B030D-6E8A-4147-A177-3AD203B41FA5}">
                      <a16:colId xmlns:a16="http://schemas.microsoft.com/office/drawing/2014/main" val="701287796"/>
                    </a:ext>
                  </a:extLst>
                </a:gridCol>
              </a:tblGrid>
              <a:tr h="71838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Agent: </a:t>
                      </a:r>
                    </a:p>
                  </a:txBody>
                  <a:tcPr marL="182880"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Calcium Chloride 0.5-1g IV</a:t>
                      </a:r>
                    </a:p>
                    <a:p>
                      <a:pPr algn="ctr"/>
                      <a:r>
                        <a:rPr lang="en-US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(More potent, requires central access)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Calcium Gluconate 1-2g IV</a:t>
                      </a:r>
                    </a:p>
                    <a:p>
                      <a:pPr algn="ctr"/>
                      <a:r>
                        <a:rPr lang="en-US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(Can be given peripherally)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14143"/>
                  </a:ext>
                </a:extLst>
              </a:tr>
              <a:tr h="71838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Onset:</a:t>
                      </a:r>
                    </a:p>
                  </a:txBody>
                  <a:tcPr marL="182880"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3-5 minutes</a:t>
                      </a: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056699"/>
                  </a:ext>
                </a:extLst>
              </a:tr>
              <a:tr h="71838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Duration:</a:t>
                      </a:r>
                    </a:p>
                  </a:txBody>
                  <a:tcPr marL="182880"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30-60 minutes</a:t>
                      </a: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4818749"/>
                  </a:ext>
                </a:extLst>
              </a:tr>
              <a:tr h="71838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Effect:</a:t>
                      </a:r>
                    </a:p>
                  </a:txBody>
                  <a:tcPr marL="182880"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No effect on K+ levels. Should Normalize EKG. If not, re-dose. </a:t>
                      </a: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119052"/>
                  </a:ext>
                </a:extLst>
              </a:tr>
              <a:tr h="293507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i="1" dirty="0">
                          <a:effectLst/>
                        </a:rPr>
                        <a:t>Source: The Hospitalist Handbook UCSF Department of Medicine</a:t>
                      </a:r>
                      <a:r>
                        <a:rPr lang="en-US" sz="1100" dirty="0">
                          <a:effectLst/>
                        </a:rPr>
                        <a:t> (Vol. Acid-Base/Electrolytes).</a:t>
                      </a:r>
                    </a:p>
                  </a:txBody>
                  <a:tcPr marL="18288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T="13716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0471482"/>
                  </a:ext>
                </a:extLst>
              </a:tr>
            </a:tbl>
          </a:graphicData>
        </a:graphic>
      </p:graphicFrame>
      <p:pic>
        <p:nvPicPr>
          <p:cNvPr id="22" name="teachIM logo" descr="Icon&#10;&#10;Description automatically generated">
            <a:extLst>
              <a:ext uri="{FF2B5EF4-FFF2-40B4-BE49-F238E27FC236}">
                <a16:creationId xmlns:a16="http://schemas.microsoft.com/office/drawing/2014/main" id="{9941794D-0E4C-4929-897A-E61CE338C3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9865" y="6299802"/>
            <a:ext cx="1387970" cy="528106"/>
          </a:xfrm>
          <a:prstGeom prst="rect">
            <a:avLst/>
          </a:prstGeom>
        </p:spPr>
      </p:pic>
      <p:pic>
        <p:nvPicPr>
          <p:cNvPr id="184" name="Potassium Excretion" hidden="1">
            <a:extLst>
              <a:ext uri="{FF2B5EF4-FFF2-40B4-BE49-F238E27FC236}">
                <a16:creationId xmlns:a16="http://schemas.microsoft.com/office/drawing/2014/main" id="{430DB790-BED6-4D5B-A9F1-2DB86965C0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9145" y="348701"/>
            <a:ext cx="9031903" cy="6063083"/>
          </a:xfrm>
          <a:prstGeom prst="rect">
            <a:avLst/>
          </a:prstGeom>
        </p:spPr>
      </p:pic>
      <p:sp>
        <p:nvSpPr>
          <p:cNvPr id="58" name="Cases">
            <a:hlinkClick r:id="rId5" action="ppaction://hlinksldjump"/>
            <a:extLst>
              <a:ext uri="{FF2B5EF4-FFF2-40B4-BE49-F238E27FC236}">
                <a16:creationId xmlns:a16="http://schemas.microsoft.com/office/drawing/2014/main" id="{F97ED4CB-F6B6-4CEA-A7BC-3BF64BE43FBB}"/>
              </a:ext>
            </a:extLst>
          </p:cNvPr>
          <p:cNvSpPr txBox="1"/>
          <p:nvPr/>
        </p:nvSpPr>
        <p:spPr>
          <a:xfrm>
            <a:off x="181123" y="5538834"/>
            <a:ext cx="2103120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Cases</a:t>
            </a:r>
          </a:p>
        </p:txBody>
      </p:sp>
      <p:sp>
        <p:nvSpPr>
          <p:cNvPr id="59" name="Scenario Question">
            <a:hlinkClick r:id="rId6" action="ppaction://hlinksldjump"/>
            <a:extLst>
              <a:ext uri="{FF2B5EF4-FFF2-40B4-BE49-F238E27FC236}">
                <a16:creationId xmlns:a16="http://schemas.microsoft.com/office/drawing/2014/main" id="{248FA483-CC99-42B7-8AD2-B1C7A678096F}"/>
              </a:ext>
            </a:extLst>
          </p:cNvPr>
          <p:cNvSpPr txBox="1"/>
          <p:nvPr/>
        </p:nvSpPr>
        <p:spPr>
          <a:xfrm>
            <a:off x="181122" y="136445"/>
            <a:ext cx="2103120" cy="467540"/>
          </a:xfrm>
          <a:prstGeom prst="roundRect">
            <a:avLst>
              <a:gd name="adj" fmla="val 18585"/>
            </a:avLst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Common Scenario</a:t>
            </a:r>
          </a:p>
        </p:txBody>
      </p:sp>
      <p:grpSp>
        <p:nvGrpSpPr>
          <p:cNvPr id="63" name="Step 2 Question">
            <a:extLst>
              <a:ext uri="{FF2B5EF4-FFF2-40B4-BE49-F238E27FC236}">
                <a16:creationId xmlns:a16="http://schemas.microsoft.com/office/drawing/2014/main" id="{F83F74C5-2822-41C1-BC6A-AF50A88F9249}"/>
              </a:ext>
            </a:extLst>
          </p:cNvPr>
          <p:cNvGrpSpPr/>
          <p:nvPr/>
        </p:nvGrpSpPr>
        <p:grpSpPr>
          <a:xfrm>
            <a:off x="181122" y="1716074"/>
            <a:ext cx="2103120" cy="793038"/>
            <a:chOff x="131415" y="2087451"/>
            <a:chExt cx="2218200" cy="793038"/>
          </a:xfrm>
        </p:grpSpPr>
        <p:sp>
          <p:nvSpPr>
            <p:cNvPr id="64" name="question 3">
              <a:hlinkClick r:id="rId7" action="ppaction://hlinksldjump"/>
              <a:extLst>
                <a:ext uri="{FF2B5EF4-FFF2-40B4-BE49-F238E27FC236}">
                  <a16:creationId xmlns:a16="http://schemas.microsoft.com/office/drawing/2014/main" id="{90BB16EC-06EB-4DE1-9040-36381F45EC16}"/>
                </a:ext>
              </a:extLst>
            </p:cNvPr>
            <p:cNvSpPr txBox="1"/>
            <p:nvPr/>
          </p:nvSpPr>
          <p:spPr>
            <a:xfrm>
              <a:off x="131415" y="2094166"/>
              <a:ext cx="2218200" cy="707484"/>
            </a:xfrm>
            <a:prstGeom prst="roundRect">
              <a:avLst/>
            </a:prstGeom>
            <a:solidFill>
              <a:schemeClr val="accent6"/>
            </a:solidFill>
            <a:ln w="38100">
              <a:solidFill>
                <a:schemeClr val="accent6"/>
              </a:solidFill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tlCol="0">
              <a:no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Step 2</a:t>
              </a:r>
            </a:p>
          </p:txBody>
        </p:sp>
        <p:pic>
          <p:nvPicPr>
            <p:cNvPr id="65" name="Graphic 64" descr="Heartbeat with solid fill">
              <a:extLst>
                <a:ext uri="{FF2B5EF4-FFF2-40B4-BE49-F238E27FC236}">
                  <a16:creationId xmlns:a16="http://schemas.microsoft.com/office/drawing/2014/main" id="{26FCFB65-587E-472E-A81F-57B7EB7B16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54285" y="2087451"/>
              <a:ext cx="793038" cy="793038"/>
            </a:xfrm>
            <a:prstGeom prst="rect">
              <a:avLst/>
            </a:prstGeom>
          </p:spPr>
        </p:pic>
      </p:grpSp>
      <p:sp>
        <p:nvSpPr>
          <p:cNvPr id="88" name="EKG changes text">
            <a:extLst>
              <a:ext uri="{FF2B5EF4-FFF2-40B4-BE49-F238E27FC236}">
                <a16:creationId xmlns:a16="http://schemas.microsoft.com/office/drawing/2014/main" id="{91BB242A-96AB-4F5C-B52B-F9CBF9E28160}"/>
              </a:ext>
            </a:extLst>
          </p:cNvPr>
          <p:cNvSpPr txBox="1"/>
          <p:nvPr/>
        </p:nvSpPr>
        <p:spPr>
          <a:xfrm>
            <a:off x="4818916" y="288386"/>
            <a:ext cx="6173057" cy="724674"/>
          </a:xfrm>
          <a:prstGeom prst="rect">
            <a:avLst/>
          </a:prstGeom>
          <a:noFill/>
          <a:ln w="79375" cmpd="sng">
            <a:noFill/>
          </a:ln>
        </p:spPr>
        <p:txBody>
          <a:bodyPr wrap="square" tIns="137160" rtlCol="0">
            <a:noAutofit/>
          </a:bodyPr>
          <a:lstStyle/>
          <a:p>
            <a:pPr algn="ctr"/>
            <a:r>
              <a:rPr lang="en-US" sz="3200" b="1" dirty="0"/>
              <a:t>Obtain STAT ECG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64AFC30-778A-44D5-A5F6-AFBB543C9411}"/>
              </a:ext>
            </a:extLst>
          </p:cNvPr>
          <p:cNvGrpSpPr/>
          <p:nvPr/>
        </p:nvGrpSpPr>
        <p:grpSpPr>
          <a:xfrm>
            <a:off x="4680258" y="3219427"/>
            <a:ext cx="6461446" cy="1677740"/>
            <a:chOff x="3250277" y="1113207"/>
            <a:chExt cx="6461446" cy="167774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6B6B66F-7986-4C58-934F-9B4ABF296BF4}"/>
                </a:ext>
              </a:extLst>
            </p:cNvPr>
            <p:cNvSpPr/>
            <p:nvPr/>
          </p:nvSpPr>
          <p:spPr>
            <a:xfrm>
              <a:off x="3330162" y="1113207"/>
              <a:ext cx="1401397" cy="930659"/>
            </a:xfrm>
            <a:custGeom>
              <a:avLst/>
              <a:gdLst>
                <a:gd name="connsiteX0" fmla="*/ 0 w 1472678"/>
                <a:gd name="connsiteY0" fmla="*/ 714404 h 1191542"/>
                <a:gd name="connsiteX1" fmla="*/ 447675 w 1472678"/>
                <a:gd name="connsiteY1" fmla="*/ 714404 h 1191542"/>
                <a:gd name="connsiteX2" fmla="*/ 514350 w 1472678"/>
                <a:gd name="connsiteY2" fmla="*/ 523904 h 1191542"/>
                <a:gd name="connsiteX3" fmla="*/ 561975 w 1472678"/>
                <a:gd name="connsiteY3" fmla="*/ 1190654 h 1191542"/>
                <a:gd name="connsiteX4" fmla="*/ 657225 w 1472678"/>
                <a:gd name="connsiteY4" fmla="*/ 666779 h 1191542"/>
                <a:gd name="connsiteX5" fmla="*/ 790575 w 1472678"/>
                <a:gd name="connsiteY5" fmla="*/ 676304 h 1191542"/>
                <a:gd name="connsiteX6" fmla="*/ 971550 w 1472678"/>
                <a:gd name="connsiteY6" fmla="*/ 29 h 1191542"/>
                <a:gd name="connsiteX7" fmla="*/ 1085850 w 1472678"/>
                <a:gd name="connsiteY7" fmla="*/ 704879 h 1191542"/>
                <a:gd name="connsiteX8" fmla="*/ 1428750 w 1472678"/>
                <a:gd name="connsiteY8" fmla="*/ 695354 h 1191542"/>
                <a:gd name="connsiteX9" fmla="*/ 1457325 w 1472678"/>
                <a:gd name="connsiteY9" fmla="*/ 695354 h 1191542"/>
                <a:gd name="connsiteX0" fmla="*/ 0 w 1625078"/>
                <a:gd name="connsiteY0" fmla="*/ 723929 h 1191542"/>
                <a:gd name="connsiteX1" fmla="*/ 600075 w 1625078"/>
                <a:gd name="connsiteY1" fmla="*/ 714404 h 1191542"/>
                <a:gd name="connsiteX2" fmla="*/ 666750 w 1625078"/>
                <a:gd name="connsiteY2" fmla="*/ 523904 h 1191542"/>
                <a:gd name="connsiteX3" fmla="*/ 714375 w 1625078"/>
                <a:gd name="connsiteY3" fmla="*/ 1190654 h 1191542"/>
                <a:gd name="connsiteX4" fmla="*/ 809625 w 1625078"/>
                <a:gd name="connsiteY4" fmla="*/ 666779 h 1191542"/>
                <a:gd name="connsiteX5" fmla="*/ 942975 w 1625078"/>
                <a:gd name="connsiteY5" fmla="*/ 676304 h 1191542"/>
                <a:gd name="connsiteX6" fmla="*/ 1123950 w 1625078"/>
                <a:gd name="connsiteY6" fmla="*/ 29 h 1191542"/>
                <a:gd name="connsiteX7" fmla="*/ 1238250 w 1625078"/>
                <a:gd name="connsiteY7" fmla="*/ 704879 h 1191542"/>
                <a:gd name="connsiteX8" fmla="*/ 1581150 w 1625078"/>
                <a:gd name="connsiteY8" fmla="*/ 695354 h 1191542"/>
                <a:gd name="connsiteX9" fmla="*/ 1609725 w 1625078"/>
                <a:gd name="connsiteY9" fmla="*/ 695354 h 1191542"/>
                <a:gd name="connsiteX0" fmla="*/ 0 w 1625078"/>
                <a:gd name="connsiteY0" fmla="*/ 723929 h 1191542"/>
                <a:gd name="connsiteX1" fmla="*/ 276225 w 1625078"/>
                <a:gd name="connsiteY1" fmla="*/ 647729 h 1191542"/>
                <a:gd name="connsiteX2" fmla="*/ 600075 w 1625078"/>
                <a:gd name="connsiteY2" fmla="*/ 714404 h 1191542"/>
                <a:gd name="connsiteX3" fmla="*/ 666750 w 1625078"/>
                <a:gd name="connsiteY3" fmla="*/ 523904 h 1191542"/>
                <a:gd name="connsiteX4" fmla="*/ 714375 w 1625078"/>
                <a:gd name="connsiteY4" fmla="*/ 1190654 h 1191542"/>
                <a:gd name="connsiteX5" fmla="*/ 809625 w 1625078"/>
                <a:gd name="connsiteY5" fmla="*/ 666779 h 1191542"/>
                <a:gd name="connsiteX6" fmla="*/ 942975 w 1625078"/>
                <a:gd name="connsiteY6" fmla="*/ 676304 h 1191542"/>
                <a:gd name="connsiteX7" fmla="*/ 1123950 w 1625078"/>
                <a:gd name="connsiteY7" fmla="*/ 29 h 1191542"/>
                <a:gd name="connsiteX8" fmla="*/ 1238250 w 1625078"/>
                <a:gd name="connsiteY8" fmla="*/ 704879 h 1191542"/>
                <a:gd name="connsiteX9" fmla="*/ 1581150 w 1625078"/>
                <a:gd name="connsiteY9" fmla="*/ 695354 h 1191542"/>
                <a:gd name="connsiteX10" fmla="*/ 1609725 w 1625078"/>
                <a:gd name="connsiteY10" fmla="*/ 695354 h 1191542"/>
                <a:gd name="connsiteX0" fmla="*/ 0 w 1625078"/>
                <a:gd name="connsiteY0" fmla="*/ 723929 h 1191542"/>
                <a:gd name="connsiteX1" fmla="*/ 276225 w 1625078"/>
                <a:gd name="connsiteY1" fmla="*/ 647729 h 1191542"/>
                <a:gd name="connsiteX2" fmla="*/ 600075 w 1625078"/>
                <a:gd name="connsiteY2" fmla="*/ 714404 h 1191542"/>
                <a:gd name="connsiteX3" fmla="*/ 666750 w 1625078"/>
                <a:gd name="connsiteY3" fmla="*/ 523904 h 1191542"/>
                <a:gd name="connsiteX4" fmla="*/ 714375 w 1625078"/>
                <a:gd name="connsiteY4" fmla="*/ 1190654 h 1191542"/>
                <a:gd name="connsiteX5" fmla="*/ 809625 w 1625078"/>
                <a:gd name="connsiteY5" fmla="*/ 666779 h 1191542"/>
                <a:gd name="connsiteX6" fmla="*/ 942975 w 1625078"/>
                <a:gd name="connsiteY6" fmla="*/ 676304 h 1191542"/>
                <a:gd name="connsiteX7" fmla="*/ 1123950 w 1625078"/>
                <a:gd name="connsiteY7" fmla="*/ 29 h 1191542"/>
                <a:gd name="connsiteX8" fmla="*/ 1238250 w 1625078"/>
                <a:gd name="connsiteY8" fmla="*/ 704879 h 1191542"/>
                <a:gd name="connsiteX9" fmla="*/ 1581150 w 1625078"/>
                <a:gd name="connsiteY9" fmla="*/ 695354 h 1191542"/>
                <a:gd name="connsiteX10" fmla="*/ 1609725 w 1625078"/>
                <a:gd name="connsiteY10" fmla="*/ 695354 h 1191542"/>
                <a:gd name="connsiteX0" fmla="*/ 0 w 1625078"/>
                <a:gd name="connsiteY0" fmla="*/ 723929 h 1191542"/>
                <a:gd name="connsiteX1" fmla="*/ 276225 w 1625078"/>
                <a:gd name="connsiteY1" fmla="*/ 647729 h 1191542"/>
                <a:gd name="connsiteX2" fmla="*/ 600075 w 1625078"/>
                <a:gd name="connsiteY2" fmla="*/ 714404 h 1191542"/>
                <a:gd name="connsiteX3" fmla="*/ 666750 w 1625078"/>
                <a:gd name="connsiteY3" fmla="*/ 523904 h 1191542"/>
                <a:gd name="connsiteX4" fmla="*/ 714375 w 1625078"/>
                <a:gd name="connsiteY4" fmla="*/ 1190654 h 1191542"/>
                <a:gd name="connsiteX5" fmla="*/ 809625 w 1625078"/>
                <a:gd name="connsiteY5" fmla="*/ 666779 h 1191542"/>
                <a:gd name="connsiteX6" fmla="*/ 942975 w 1625078"/>
                <a:gd name="connsiteY6" fmla="*/ 676304 h 1191542"/>
                <a:gd name="connsiteX7" fmla="*/ 1123950 w 1625078"/>
                <a:gd name="connsiteY7" fmla="*/ 29 h 1191542"/>
                <a:gd name="connsiteX8" fmla="*/ 1238250 w 1625078"/>
                <a:gd name="connsiteY8" fmla="*/ 704879 h 1191542"/>
                <a:gd name="connsiteX9" fmla="*/ 1581150 w 1625078"/>
                <a:gd name="connsiteY9" fmla="*/ 695354 h 1191542"/>
                <a:gd name="connsiteX10" fmla="*/ 1609725 w 1625078"/>
                <a:gd name="connsiteY10" fmla="*/ 695354 h 1191542"/>
                <a:gd name="connsiteX0" fmla="*/ 0 w 1625078"/>
                <a:gd name="connsiteY0" fmla="*/ 723929 h 1191542"/>
                <a:gd name="connsiteX1" fmla="*/ 276225 w 1625078"/>
                <a:gd name="connsiteY1" fmla="*/ 647729 h 1191542"/>
                <a:gd name="connsiteX2" fmla="*/ 600075 w 1625078"/>
                <a:gd name="connsiteY2" fmla="*/ 714404 h 1191542"/>
                <a:gd name="connsiteX3" fmla="*/ 666750 w 1625078"/>
                <a:gd name="connsiteY3" fmla="*/ 523904 h 1191542"/>
                <a:gd name="connsiteX4" fmla="*/ 714375 w 1625078"/>
                <a:gd name="connsiteY4" fmla="*/ 1190654 h 1191542"/>
                <a:gd name="connsiteX5" fmla="*/ 809625 w 1625078"/>
                <a:gd name="connsiteY5" fmla="*/ 666779 h 1191542"/>
                <a:gd name="connsiteX6" fmla="*/ 942975 w 1625078"/>
                <a:gd name="connsiteY6" fmla="*/ 676304 h 1191542"/>
                <a:gd name="connsiteX7" fmla="*/ 1123950 w 1625078"/>
                <a:gd name="connsiteY7" fmla="*/ 29 h 1191542"/>
                <a:gd name="connsiteX8" fmla="*/ 1238250 w 1625078"/>
                <a:gd name="connsiteY8" fmla="*/ 704879 h 1191542"/>
                <a:gd name="connsiteX9" fmla="*/ 1581150 w 1625078"/>
                <a:gd name="connsiteY9" fmla="*/ 695354 h 1191542"/>
                <a:gd name="connsiteX10" fmla="*/ 1609725 w 1625078"/>
                <a:gd name="connsiteY10" fmla="*/ 695354 h 1191542"/>
                <a:gd name="connsiteX0" fmla="*/ 0 w 1625078"/>
                <a:gd name="connsiteY0" fmla="*/ 723929 h 1191542"/>
                <a:gd name="connsiteX1" fmla="*/ 276225 w 1625078"/>
                <a:gd name="connsiteY1" fmla="*/ 647729 h 1191542"/>
                <a:gd name="connsiteX2" fmla="*/ 404813 w 1625078"/>
                <a:gd name="connsiteY2" fmla="*/ 719167 h 1191542"/>
                <a:gd name="connsiteX3" fmla="*/ 600075 w 1625078"/>
                <a:gd name="connsiteY3" fmla="*/ 714404 h 1191542"/>
                <a:gd name="connsiteX4" fmla="*/ 666750 w 1625078"/>
                <a:gd name="connsiteY4" fmla="*/ 523904 h 1191542"/>
                <a:gd name="connsiteX5" fmla="*/ 714375 w 1625078"/>
                <a:gd name="connsiteY5" fmla="*/ 1190654 h 1191542"/>
                <a:gd name="connsiteX6" fmla="*/ 809625 w 1625078"/>
                <a:gd name="connsiteY6" fmla="*/ 666779 h 1191542"/>
                <a:gd name="connsiteX7" fmla="*/ 942975 w 1625078"/>
                <a:gd name="connsiteY7" fmla="*/ 676304 h 1191542"/>
                <a:gd name="connsiteX8" fmla="*/ 1123950 w 1625078"/>
                <a:gd name="connsiteY8" fmla="*/ 29 h 1191542"/>
                <a:gd name="connsiteX9" fmla="*/ 1238250 w 1625078"/>
                <a:gd name="connsiteY9" fmla="*/ 704879 h 1191542"/>
                <a:gd name="connsiteX10" fmla="*/ 1581150 w 1625078"/>
                <a:gd name="connsiteY10" fmla="*/ 695354 h 1191542"/>
                <a:gd name="connsiteX11" fmla="*/ 1609725 w 1625078"/>
                <a:gd name="connsiteY11" fmla="*/ 695354 h 1191542"/>
                <a:gd name="connsiteX0" fmla="*/ 0 w 1625078"/>
                <a:gd name="connsiteY0" fmla="*/ 723929 h 1191542"/>
                <a:gd name="connsiteX1" fmla="*/ 195263 w 1625078"/>
                <a:gd name="connsiteY1" fmla="*/ 709642 h 1191542"/>
                <a:gd name="connsiteX2" fmla="*/ 276225 w 1625078"/>
                <a:gd name="connsiteY2" fmla="*/ 647729 h 1191542"/>
                <a:gd name="connsiteX3" fmla="*/ 404813 w 1625078"/>
                <a:gd name="connsiteY3" fmla="*/ 719167 h 1191542"/>
                <a:gd name="connsiteX4" fmla="*/ 600075 w 1625078"/>
                <a:gd name="connsiteY4" fmla="*/ 714404 h 1191542"/>
                <a:gd name="connsiteX5" fmla="*/ 666750 w 1625078"/>
                <a:gd name="connsiteY5" fmla="*/ 523904 h 1191542"/>
                <a:gd name="connsiteX6" fmla="*/ 714375 w 1625078"/>
                <a:gd name="connsiteY6" fmla="*/ 1190654 h 1191542"/>
                <a:gd name="connsiteX7" fmla="*/ 809625 w 1625078"/>
                <a:gd name="connsiteY7" fmla="*/ 666779 h 1191542"/>
                <a:gd name="connsiteX8" fmla="*/ 942975 w 1625078"/>
                <a:gd name="connsiteY8" fmla="*/ 676304 h 1191542"/>
                <a:gd name="connsiteX9" fmla="*/ 1123950 w 1625078"/>
                <a:gd name="connsiteY9" fmla="*/ 29 h 1191542"/>
                <a:gd name="connsiteX10" fmla="*/ 1238250 w 1625078"/>
                <a:gd name="connsiteY10" fmla="*/ 704879 h 1191542"/>
                <a:gd name="connsiteX11" fmla="*/ 1581150 w 1625078"/>
                <a:gd name="connsiteY11" fmla="*/ 695354 h 1191542"/>
                <a:gd name="connsiteX12" fmla="*/ 1609725 w 1625078"/>
                <a:gd name="connsiteY12" fmla="*/ 695354 h 1191542"/>
                <a:gd name="connsiteX0" fmla="*/ 0 w 1625078"/>
                <a:gd name="connsiteY0" fmla="*/ 723929 h 1191542"/>
                <a:gd name="connsiteX1" fmla="*/ 195263 w 1625078"/>
                <a:gd name="connsiteY1" fmla="*/ 709642 h 1191542"/>
                <a:gd name="connsiteX2" fmla="*/ 276225 w 1625078"/>
                <a:gd name="connsiteY2" fmla="*/ 647729 h 1191542"/>
                <a:gd name="connsiteX3" fmla="*/ 385763 w 1625078"/>
                <a:gd name="connsiteY3" fmla="*/ 719167 h 1191542"/>
                <a:gd name="connsiteX4" fmla="*/ 600075 w 1625078"/>
                <a:gd name="connsiteY4" fmla="*/ 714404 h 1191542"/>
                <a:gd name="connsiteX5" fmla="*/ 666750 w 1625078"/>
                <a:gd name="connsiteY5" fmla="*/ 523904 h 1191542"/>
                <a:gd name="connsiteX6" fmla="*/ 714375 w 1625078"/>
                <a:gd name="connsiteY6" fmla="*/ 1190654 h 1191542"/>
                <a:gd name="connsiteX7" fmla="*/ 809625 w 1625078"/>
                <a:gd name="connsiteY7" fmla="*/ 666779 h 1191542"/>
                <a:gd name="connsiteX8" fmla="*/ 942975 w 1625078"/>
                <a:gd name="connsiteY8" fmla="*/ 676304 h 1191542"/>
                <a:gd name="connsiteX9" fmla="*/ 1123950 w 1625078"/>
                <a:gd name="connsiteY9" fmla="*/ 29 h 1191542"/>
                <a:gd name="connsiteX10" fmla="*/ 1238250 w 1625078"/>
                <a:gd name="connsiteY10" fmla="*/ 704879 h 1191542"/>
                <a:gd name="connsiteX11" fmla="*/ 1581150 w 1625078"/>
                <a:gd name="connsiteY11" fmla="*/ 695354 h 1191542"/>
                <a:gd name="connsiteX12" fmla="*/ 1609725 w 1625078"/>
                <a:gd name="connsiteY12" fmla="*/ 695354 h 1191542"/>
                <a:gd name="connsiteX0" fmla="*/ 0 w 1625078"/>
                <a:gd name="connsiteY0" fmla="*/ 723929 h 1191542"/>
                <a:gd name="connsiteX1" fmla="*/ 195263 w 1625078"/>
                <a:gd name="connsiteY1" fmla="*/ 709642 h 1191542"/>
                <a:gd name="connsiteX2" fmla="*/ 276225 w 1625078"/>
                <a:gd name="connsiteY2" fmla="*/ 647729 h 1191542"/>
                <a:gd name="connsiteX3" fmla="*/ 385763 w 1625078"/>
                <a:gd name="connsiteY3" fmla="*/ 719167 h 1191542"/>
                <a:gd name="connsiteX4" fmla="*/ 600075 w 1625078"/>
                <a:gd name="connsiteY4" fmla="*/ 714404 h 1191542"/>
                <a:gd name="connsiteX5" fmla="*/ 666750 w 1625078"/>
                <a:gd name="connsiteY5" fmla="*/ 523904 h 1191542"/>
                <a:gd name="connsiteX6" fmla="*/ 714375 w 1625078"/>
                <a:gd name="connsiteY6" fmla="*/ 1190654 h 1191542"/>
                <a:gd name="connsiteX7" fmla="*/ 809625 w 1625078"/>
                <a:gd name="connsiteY7" fmla="*/ 666779 h 1191542"/>
                <a:gd name="connsiteX8" fmla="*/ 942975 w 1625078"/>
                <a:gd name="connsiteY8" fmla="*/ 676304 h 1191542"/>
                <a:gd name="connsiteX9" fmla="*/ 1123950 w 1625078"/>
                <a:gd name="connsiteY9" fmla="*/ 29 h 1191542"/>
                <a:gd name="connsiteX10" fmla="*/ 1238250 w 1625078"/>
                <a:gd name="connsiteY10" fmla="*/ 704879 h 1191542"/>
                <a:gd name="connsiteX11" fmla="*/ 1581150 w 1625078"/>
                <a:gd name="connsiteY11" fmla="*/ 695354 h 1191542"/>
                <a:gd name="connsiteX12" fmla="*/ 1609725 w 1625078"/>
                <a:gd name="connsiteY12" fmla="*/ 695354 h 1191542"/>
                <a:gd name="connsiteX0" fmla="*/ 0 w 1625078"/>
                <a:gd name="connsiteY0" fmla="*/ 723929 h 1191542"/>
                <a:gd name="connsiteX1" fmla="*/ 195263 w 1625078"/>
                <a:gd name="connsiteY1" fmla="*/ 709642 h 1191542"/>
                <a:gd name="connsiteX2" fmla="*/ 276225 w 1625078"/>
                <a:gd name="connsiteY2" fmla="*/ 647729 h 1191542"/>
                <a:gd name="connsiteX3" fmla="*/ 385763 w 1625078"/>
                <a:gd name="connsiteY3" fmla="*/ 719167 h 1191542"/>
                <a:gd name="connsiteX4" fmla="*/ 595313 w 1625078"/>
                <a:gd name="connsiteY4" fmla="*/ 714404 h 1191542"/>
                <a:gd name="connsiteX5" fmla="*/ 666750 w 1625078"/>
                <a:gd name="connsiteY5" fmla="*/ 523904 h 1191542"/>
                <a:gd name="connsiteX6" fmla="*/ 714375 w 1625078"/>
                <a:gd name="connsiteY6" fmla="*/ 1190654 h 1191542"/>
                <a:gd name="connsiteX7" fmla="*/ 809625 w 1625078"/>
                <a:gd name="connsiteY7" fmla="*/ 666779 h 1191542"/>
                <a:gd name="connsiteX8" fmla="*/ 942975 w 1625078"/>
                <a:gd name="connsiteY8" fmla="*/ 676304 h 1191542"/>
                <a:gd name="connsiteX9" fmla="*/ 1123950 w 1625078"/>
                <a:gd name="connsiteY9" fmla="*/ 29 h 1191542"/>
                <a:gd name="connsiteX10" fmla="*/ 1238250 w 1625078"/>
                <a:gd name="connsiteY10" fmla="*/ 704879 h 1191542"/>
                <a:gd name="connsiteX11" fmla="*/ 1581150 w 1625078"/>
                <a:gd name="connsiteY11" fmla="*/ 695354 h 1191542"/>
                <a:gd name="connsiteX12" fmla="*/ 1609725 w 1625078"/>
                <a:gd name="connsiteY12" fmla="*/ 695354 h 1191542"/>
                <a:gd name="connsiteX0" fmla="*/ 0 w 1625078"/>
                <a:gd name="connsiteY0" fmla="*/ 723929 h 1191542"/>
                <a:gd name="connsiteX1" fmla="*/ 195263 w 1625078"/>
                <a:gd name="connsiteY1" fmla="*/ 709642 h 1191542"/>
                <a:gd name="connsiteX2" fmla="*/ 276225 w 1625078"/>
                <a:gd name="connsiteY2" fmla="*/ 647729 h 1191542"/>
                <a:gd name="connsiteX3" fmla="*/ 385763 w 1625078"/>
                <a:gd name="connsiteY3" fmla="*/ 719167 h 1191542"/>
                <a:gd name="connsiteX4" fmla="*/ 595313 w 1625078"/>
                <a:gd name="connsiteY4" fmla="*/ 714404 h 1191542"/>
                <a:gd name="connsiteX5" fmla="*/ 666750 w 1625078"/>
                <a:gd name="connsiteY5" fmla="*/ 523904 h 1191542"/>
                <a:gd name="connsiteX6" fmla="*/ 714375 w 1625078"/>
                <a:gd name="connsiteY6" fmla="*/ 1190654 h 1191542"/>
                <a:gd name="connsiteX7" fmla="*/ 809625 w 1625078"/>
                <a:gd name="connsiteY7" fmla="*/ 666779 h 1191542"/>
                <a:gd name="connsiteX8" fmla="*/ 942975 w 1625078"/>
                <a:gd name="connsiteY8" fmla="*/ 676304 h 1191542"/>
                <a:gd name="connsiteX9" fmla="*/ 1123950 w 1625078"/>
                <a:gd name="connsiteY9" fmla="*/ 29 h 1191542"/>
                <a:gd name="connsiteX10" fmla="*/ 1238250 w 1625078"/>
                <a:gd name="connsiteY10" fmla="*/ 704879 h 1191542"/>
                <a:gd name="connsiteX11" fmla="*/ 1581150 w 1625078"/>
                <a:gd name="connsiteY11" fmla="*/ 695354 h 1191542"/>
                <a:gd name="connsiteX12" fmla="*/ 1609725 w 1625078"/>
                <a:gd name="connsiteY12" fmla="*/ 695354 h 1191542"/>
                <a:gd name="connsiteX0" fmla="*/ 0 w 1625078"/>
                <a:gd name="connsiteY0" fmla="*/ 723929 h 1191542"/>
                <a:gd name="connsiteX1" fmla="*/ 195263 w 1625078"/>
                <a:gd name="connsiteY1" fmla="*/ 709642 h 1191542"/>
                <a:gd name="connsiteX2" fmla="*/ 276225 w 1625078"/>
                <a:gd name="connsiteY2" fmla="*/ 647729 h 1191542"/>
                <a:gd name="connsiteX3" fmla="*/ 385763 w 1625078"/>
                <a:gd name="connsiteY3" fmla="*/ 719167 h 1191542"/>
                <a:gd name="connsiteX4" fmla="*/ 595313 w 1625078"/>
                <a:gd name="connsiteY4" fmla="*/ 714404 h 1191542"/>
                <a:gd name="connsiteX5" fmla="*/ 666750 w 1625078"/>
                <a:gd name="connsiteY5" fmla="*/ 523904 h 1191542"/>
                <a:gd name="connsiteX6" fmla="*/ 714375 w 1625078"/>
                <a:gd name="connsiteY6" fmla="*/ 1190654 h 1191542"/>
                <a:gd name="connsiteX7" fmla="*/ 809625 w 1625078"/>
                <a:gd name="connsiteY7" fmla="*/ 666779 h 1191542"/>
                <a:gd name="connsiteX8" fmla="*/ 942975 w 1625078"/>
                <a:gd name="connsiteY8" fmla="*/ 676304 h 1191542"/>
                <a:gd name="connsiteX9" fmla="*/ 1123950 w 1625078"/>
                <a:gd name="connsiteY9" fmla="*/ 29 h 1191542"/>
                <a:gd name="connsiteX10" fmla="*/ 1238250 w 1625078"/>
                <a:gd name="connsiteY10" fmla="*/ 704879 h 1191542"/>
                <a:gd name="connsiteX11" fmla="*/ 1581150 w 1625078"/>
                <a:gd name="connsiteY11" fmla="*/ 695354 h 1191542"/>
                <a:gd name="connsiteX12" fmla="*/ 1609725 w 1625078"/>
                <a:gd name="connsiteY12" fmla="*/ 695354 h 1191542"/>
                <a:gd name="connsiteX0" fmla="*/ 0 w 1625078"/>
                <a:gd name="connsiteY0" fmla="*/ 723929 h 1191542"/>
                <a:gd name="connsiteX1" fmla="*/ 195263 w 1625078"/>
                <a:gd name="connsiteY1" fmla="*/ 723930 h 1191542"/>
                <a:gd name="connsiteX2" fmla="*/ 276225 w 1625078"/>
                <a:gd name="connsiteY2" fmla="*/ 647729 h 1191542"/>
                <a:gd name="connsiteX3" fmla="*/ 385763 w 1625078"/>
                <a:gd name="connsiteY3" fmla="*/ 719167 h 1191542"/>
                <a:gd name="connsiteX4" fmla="*/ 595313 w 1625078"/>
                <a:gd name="connsiteY4" fmla="*/ 714404 h 1191542"/>
                <a:gd name="connsiteX5" fmla="*/ 666750 w 1625078"/>
                <a:gd name="connsiteY5" fmla="*/ 523904 h 1191542"/>
                <a:gd name="connsiteX6" fmla="*/ 714375 w 1625078"/>
                <a:gd name="connsiteY6" fmla="*/ 1190654 h 1191542"/>
                <a:gd name="connsiteX7" fmla="*/ 809625 w 1625078"/>
                <a:gd name="connsiteY7" fmla="*/ 666779 h 1191542"/>
                <a:gd name="connsiteX8" fmla="*/ 942975 w 1625078"/>
                <a:gd name="connsiteY8" fmla="*/ 676304 h 1191542"/>
                <a:gd name="connsiteX9" fmla="*/ 1123950 w 1625078"/>
                <a:gd name="connsiteY9" fmla="*/ 29 h 1191542"/>
                <a:gd name="connsiteX10" fmla="*/ 1238250 w 1625078"/>
                <a:gd name="connsiteY10" fmla="*/ 704879 h 1191542"/>
                <a:gd name="connsiteX11" fmla="*/ 1581150 w 1625078"/>
                <a:gd name="connsiteY11" fmla="*/ 695354 h 1191542"/>
                <a:gd name="connsiteX12" fmla="*/ 1609725 w 1625078"/>
                <a:gd name="connsiteY12" fmla="*/ 695354 h 1191542"/>
                <a:gd name="connsiteX0" fmla="*/ 0 w 1625078"/>
                <a:gd name="connsiteY0" fmla="*/ 723929 h 1191542"/>
                <a:gd name="connsiteX1" fmla="*/ 195263 w 1625078"/>
                <a:gd name="connsiteY1" fmla="*/ 714405 h 1191542"/>
                <a:gd name="connsiteX2" fmla="*/ 276225 w 1625078"/>
                <a:gd name="connsiteY2" fmla="*/ 647729 h 1191542"/>
                <a:gd name="connsiteX3" fmla="*/ 385763 w 1625078"/>
                <a:gd name="connsiteY3" fmla="*/ 719167 h 1191542"/>
                <a:gd name="connsiteX4" fmla="*/ 595313 w 1625078"/>
                <a:gd name="connsiteY4" fmla="*/ 714404 h 1191542"/>
                <a:gd name="connsiteX5" fmla="*/ 666750 w 1625078"/>
                <a:gd name="connsiteY5" fmla="*/ 523904 h 1191542"/>
                <a:gd name="connsiteX6" fmla="*/ 714375 w 1625078"/>
                <a:gd name="connsiteY6" fmla="*/ 1190654 h 1191542"/>
                <a:gd name="connsiteX7" fmla="*/ 809625 w 1625078"/>
                <a:gd name="connsiteY7" fmla="*/ 666779 h 1191542"/>
                <a:gd name="connsiteX8" fmla="*/ 942975 w 1625078"/>
                <a:gd name="connsiteY8" fmla="*/ 676304 h 1191542"/>
                <a:gd name="connsiteX9" fmla="*/ 1123950 w 1625078"/>
                <a:gd name="connsiteY9" fmla="*/ 29 h 1191542"/>
                <a:gd name="connsiteX10" fmla="*/ 1238250 w 1625078"/>
                <a:gd name="connsiteY10" fmla="*/ 704879 h 1191542"/>
                <a:gd name="connsiteX11" fmla="*/ 1581150 w 1625078"/>
                <a:gd name="connsiteY11" fmla="*/ 695354 h 1191542"/>
                <a:gd name="connsiteX12" fmla="*/ 1609725 w 1625078"/>
                <a:gd name="connsiteY12" fmla="*/ 695354 h 1191542"/>
                <a:gd name="connsiteX0" fmla="*/ 0 w 1625078"/>
                <a:gd name="connsiteY0" fmla="*/ 723930 h 1192355"/>
                <a:gd name="connsiteX1" fmla="*/ 195263 w 1625078"/>
                <a:gd name="connsiteY1" fmla="*/ 714406 h 1192355"/>
                <a:gd name="connsiteX2" fmla="*/ 276225 w 1625078"/>
                <a:gd name="connsiteY2" fmla="*/ 647730 h 1192355"/>
                <a:gd name="connsiteX3" fmla="*/ 385763 w 1625078"/>
                <a:gd name="connsiteY3" fmla="*/ 719168 h 1192355"/>
                <a:gd name="connsiteX4" fmla="*/ 595313 w 1625078"/>
                <a:gd name="connsiteY4" fmla="*/ 714405 h 1192355"/>
                <a:gd name="connsiteX5" fmla="*/ 666750 w 1625078"/>
                <a:gd name="connsiteY5" fmla="*/ 523905 h 1192355"/>
                <a:gd name="connsiteX6" fmla="*/ 714375 w 1625078"/>
                <a:gd name="connsiteY6" fmla="*/ 1190655 h 1192355"/>
                <a:gd name="connsiteX7" fmla="*/ 804862 w 1625078"/>
                <a:gd name="connsiteY7" fmla="*/ 714405 h 1192355"/>
                <a:gd name="connsiteX8" fmla="*/ 942975 w 1625078"/>
                <a:gd name="connsiteY8" fmla="*/ 676305 h 1192355"/>
                <a:gd name="connsiteX9" fmla="*/ 1123950 w 1625078"/>
                <a:gd name="connsiteY9" fmla="*/ 30 h 1192355"/>
                <a:gd name="connsiteX10" fmla="*/ 1238250 w 1625078"/>
                <a:gd name="connsiteY10" fmla="*/ 704880 h 1192355"/>
                <a:gd name="connsiteX11" fmla="*/ 1581150 w 1625078"/>
                <a:gd name="connsiteY11" fmla="*/ 695355 h 1192355"/>
                <a:gd name="connsiteX12" fmla="*/ 1609725 w 1625078"/>
                <a:gd name="connsiteY12" fmla="*/ 695355 h 1192355"/>
                <a:gd name="connsiteX0" fmla="*/ 0 w 1625078"/>
                <a:gd name="connsiteY0" fmla="*/ 723930 h 1192207"/>
                <a:gd name="connsiteX1" fmla="*/ 195263 w 1625078"/>
                <a:gd name="connsiteY1" fmla="*/ 714406 h 1192207"/>
                <a:gd name="connsiteX2" fmla="*/ 276225 w 1625078"/>
                <a:gd name="connsiteY2" fmla="*/ 647730 h 1192207"/>
                <a:gd name="connsiteX3" fmla="*/ 385763 w 1625078"/>
                <a:gd name="connsiteY3" fmla="*/ 719168 h 1192207"/>
                <a:gd name="connsiteX4" fmla="*/ 595313 w 1625078"/>
                <a:gd name="connsiteY4" fmla="*/ 714405 h 1192207"/>
                <a:gd name="connsiteX5" fmla="*/ 666750 w 1625078"/>
                <a:gd name="connsiteY5" fmla="*/ 523905 h 1192207"/>
                <a:gd name="connsiteX6" fmla="*/ 714375 w 1625078"/>
                <a:gd name="connsiteY6" fmla="*/ 1190655 h 1192207"/>
                <a:gd name="connsiteX7" fmla="*/ 804862 w 1625078"/>
                <a:gd name="connsiteY7" fmla="*/ 714405 h 1192207"/>
                <a:gd name="connsiteX8" fmla="*/ 942975 w 1625078"/>
                <a:gd name="connsiteY8" fmla="*/ 676305 h 1192207"/>
                <a:gd name="connsiteX9" fmla="*/ 1123950 w 1625078"/>
                <a:gd name="connsiteY9" fmla="*/ 30 h 1192207"/>
                <a:gd name="connsiteX10" fmla="*/ 1238250 w 1625078"/>
                <a:gd name="connsiteY10" fmla="*/ 704880 h 1192207"/>
                <a:gd name="connsiteX11" fmla="*/ 1581150 w 1625078"/>
                <a:gd name="connsiteY11" fmla="*/ 695355 h 1192207"/>
                <a:gd name="connsiteX12" fmla="*/ 1609725 w 1625078"/>
                <a:gd name="connsiteY12" fmla="*/ 695355 h 1192207"/>
                <a:gd name="connsiteX0" fmla="*/ 0 w 1625078"/>
                <a:gd name="connsiteY0" fmla="*/ 723927 h 1192204"/>
                <a:gd name="connsiteX1" fmla="*/ 195263 w 1625078"/>
                <a:gd name="connsiteY1" fmla="*/ 714403 h 1192204"/>
                <a:gd name="connsiteX2" fmla="*/ 276225 w 1625078"/>
                <a:gd name="connsiteY2" fmla="*/ 647727 h 1192204"/>
                <a:gd name="connsiteX3" fmla="*/ 385763 w 1625078"/>
                <a:gd name="connsiteY3" fmla="*/ 719165 h 1192204"/>
                <a:gd name="connsiteX4" fmla="*/ 595313 w 1625078"/>
                <a:gd name="connsiteY4" fmla="*/ 714402 h 1192204"/>
                <a:gd name="connsiteX5" fmla="*/ 666750 w 1625078"/>
                <a:gd name="connsiteY5" fmla="*/ 523902 h 1192204"/>
                <a:gd name="connsiteX6" fmla="*/ 714375 w 1625078"/>
                <a:gd name="connsiteY6" fmla="*/ 1190652 h 1192204"/>
                <a:gd name="connsiteX7" fmla="*/ 804862 w 1625078"/>
                <a:gd name="connsiteY7" fmla="*/ 714402 h 1192204"/>
                <a:gd name="connsiteX8" fmla="*/ 942975 w 1625078"/>
                <a:gd name="connsiteY8" fmla="*/ 676302 h 1192204"/>
                <a:gd name="connsiteX9" fmla="*/ 1123950 w 1625078"/>
                <a:gd name="connsiteY9" fmla="*/ 27 h 1192204"/>
                <a:gd name="connsiteX10" fmla="*/ 1238250 w 1625078"/>
                <a:gd name="connsiteY10" fmla="*/ 704877 h 1192204"/>
                <a:gd name="connsiteX11" fmla="*/ 1581150 w 1625078"/>
                <a:gd name="connsiteY11" fmla="*/ 695352 h 1192204"/>
                <a:gd name="connsiteX12" fmla="*/ 1609725 w 1625078"/>
                <a:gd name="connsiteY12" fmla="*/ 695352 h 1192204"/>
                <a:gd name="connsiteX0" fmla="*/ 0 w 1625078"/>
                <a:gd name="connsiteY0" fmla="*/ 723927 h 1192204"/>
                <a:gd name="connsiteX1" fmla="*/ 195263 w 1625078"/>
                <a:gd name="connsiteY1" fmla="*/ 714403 h 1192204"/>
                <a:gd name="connsiteX2" fmla="*/ 276225 w 1625078"/>
                <a:gd name="connsiteY2" fmla="*/ 647727 h 1192204"/>
                <a:gd name="connsiteX3" fmla="*/ 385763 w 1625078"/>
                <a:gd name="connsiteY3" fmla="*/ 719165 h 1192204"/>
                <a:gd name="connsiteX4" fmla="*/ 595313 w 1625078"/>
                <a:gd name="connsiteY4" fmla="*/ 714402 h 1192204"/>
                <a:gd name="connsiteX5" fmla="*/ 666750 w 1625078"/>
                <a:gd name="connsiteY5" fmla="*/ 523902 h 1192204"/>
                <a:gd name="connsiteX6" fmla="*/ 714375 w 1625078"/>
                <a:gd name="connsiteY6" fmla="*/ 1190652 h 1192204"/>
                <a:gd name="connsiteX7" fmla="*/ 804862 w 1625078"/>
                <a:gd name="connsiteY7" fmla="*/ 714402 h 1192204"/>
                <a:gd name="connsiteX8" fmla="*/ 942975 w 1625078"/>
                <a:gd name="connsiteY8" fmla="*/ 676302 h 1192204"/>
                <a:gd name="connsiteX9" fmla="*/ 1123950 w 1625078"/>
                <a:gd name="connsiteY9" fmla="*/ 27 h 1192204"/>
                <a:gd name="connsiteX10" fmla="*/ 1238250 w 1625078"/>
                <a:gd name="connsiteY10" fmla="*/ 704877 h 1192204"/>
                <a:gd name="connsiteX11" fmla="*/ 1581150 w 1625078"/>
                <a:gd name="connsiteY11" fmla="*/ 695352 h 1192204"/>
                <a:gd name="connsiteX12" fmla="*/ 1609725 w 1625078"/>
                <a:gd name="connsiteY12" fmla="*/ 695352 h 1192204"/>
                <a:gd name="connsiteX0" fmla="*/ 0 w 1625078"/>
                <a:gd name="connsiteY0" fmla="*/ 704881 h 1173158"/>
                <a:gd name="connsiteX1" fmla="*/ 195263 w 1625078"/>
                <a:gd name="connsiteY1" fmla="*/ 695357 h 1173158"/>
                <a:gd name="connsiteX2" fmla="*/ 276225 w 1625078"/>
                <a:gd name="connsiteY2" fmla="*/ 628681 h 1173158"/>
                <a:gd name="connsiteX3" fmla="*/ 385763 w 1625078"/>
                <a:gd name="connsiteY3" fmla="*/ 700119 h 1173158"/>
                <a:gd name="connsiteX4" fmla="*/ 595313 w 1625078"/>
                <a:gd name="connsiteY4" fmla="*/ 695356 h 1173158"/>
                <a:gd name="connsiteX5" fmla="*/ 666750 w 1625078"/>
                <a:gd name="connsiteY5" fmla="*/ 504856 h 1173158"/>
                <a:gd name="connsiteX6" fmla="*/ 714375 w 1625078"/>
                <a:gd name="connsiteY6" fmla="*/ 1171606 h 1173158"/>
                <a:gd name="connsiteX7" fmla="*/ 804862 w 1625078"/>
                <a:gd name="connsiteY7" fmla="*/ 695356 h 1173158"/>
                <a:gd name="connsiteX8" fmla="*/ 942975 w 1625078"/>
                <a:gd name="connsiteY8" fmla="*/ 657256 h 1173158"/>
                <a:gd name="connsiteX9" fmla="*/ 1109662 w 1625078"/>
                <a:gd name="connsiteY9" fmla="*/ 31 h 1173158"/>
                <a:gd name="connsiteX10" fmla="*/ 1238250 w 1625078"/>
                <a:gd name="connsiteY10" fmla="*/ 685831 h 1173158"/>
                <a:gd name="connsiteX11" fmla="*/ 1581150 w 1625078"/>
                <a:gd name="connsiteY11" fmla="*/ 676306 h 1173158"/>
                <a:gd name="connsiteX12" fmla="*/ 1609725 w 1625078"/>
                <a:gd name="connsiteY12" fmla="*/ 676306 h 1173158"/>
                <a:gd name="connsiteX0" fmla="*/ 0 w 1625078"/>
                <a:gd name="connsiteY0" fmla="*/ 704878 h 1173155"/>
                <a:gd name="connsiteX1" fmla="*/ 195263 w 1625078"/>
                <a:gd name="connsiteY1" fmla="*/ 695354 h 1173155"/>
                <a:gd name="connsiteX2" fmla="*/ 276225 w 1625078"/>
                <a:gd name="connsiteY2" fmla="*/ 628678 h 1173155"/>
                <a:gd name="connsiteX3" fmla="*/ 385763 w 1625078"/>
                <a:gd name="connsiteY3" fmla="*/ 700116 h 1173155"/>
                <a:gd name="connsiteX4" fmla="*/ 595313 w 1625078"/>
                <a:gd name="connsiteY4" fmla="*/ 695353 h 1173155"/>
                <a:gd name="connsiteX5" fmla="*/ 666750 w 1625078"/>
                <a:gd name="connsiteY5" fmla="*/ 504853 h 1173155"/>
                <a:gd name="connsiteX6" fmla="*/ 714375 w 1625078"/>
                <a:gd name="connsiteY6" fmla="*/ 1171603 h 1173155"/>
                <a:gd name="connsiteX7" fmla="*/ 804862 w 1625078"/>
                <a:gd name="connsiteY7" fmla="*/ 695353 h 1173155"/>
                <a:gd name="connsiteX8" fmla="*/ 942975 w 1625078"/>
                <a:gd name="connsiteY8" fmla="*/ 657253 h 1173155"/>
                <a:gd name="connsiteX9" fmla="*/ 1109662 w 1625078"/>
                <a:gd name="connsiteY9" fmla="*/ 28 h 1173155"/>
                <a:gd name="connsiteX10" fmla="*/ 1238250 w 1625078"/>
                <a:gd name="connsiteY10" fmla="*/ 685828 h 1173155"/>
                <a:gd name="connsiteX11" fmla="*/ 1581150 w 1625078"/>
                <a:gd name="connsiteY11" fmla="*/ 676303 h 1173155"/>
                <a:gd name="connsiteX12" fmla="*/ 1609725 w 1625078"/>
                <a:gd name="connsiteY12" fmla="*/ 676303 h 1173155"/>
                <a:gd name="connsiteX0" fmla="*/ 0 w 1625078"/>
                <a:gd name="connsiteY0" fmla="*/ 704878 h 1173155"/>
                <a:gd name="connsiteX1" fmla="*/ 195263 w 1625078"/>
                <a:gd name="connsiteY1" fmla="*/ 695354 h 1173155"/>
                <a:gd name="connsiteX2" fmla="*/ 276225 w 1625078"/>
                <a:gd name="connsiteY2" fmla="*/ 628678 h 1173155"/>
                <a:gd name="connsiteX3" fmla="*/ 385763 w 1625078"/>
                <a:gd name="connsiteY3" fmla="*/ 700116 h 1173155"/>
                <a:gd name="connsiteX4" fmla="*/ 595313 w 1625078"/>
                <a:gd name="connsiteY4" fmla="*/ 695353 h 1173155"/>
                <a:gd name="connsiteX5" fmla="*/ 666750 w 1625078"/>
                <a:gd name="connsiteY5" fmla="*/ 504853 h 1173155"/>
                <a:gd name="connsiteX6" fmla="*/ 714375 w 1625078"/>
                <a:gd name="connsiteY6" fmla="*/ 1171603 h 1173155"/>
                <a:gd name="connsiteX7" fmla="*/ 804862 w 1625078"/>
                <a:gd name="connsiteY7" fmla="*/ 695353 h 1173155"/>
                <a:gd name="connsiteX8" fmla="*/ 942975 w 1625078"/>
                <a:gd name="connsiteY8" fmla="*/ 657253 h 1173155"/>
                <a:gd name="connsiteX9" fmla="*/ 1109662 w 1625078"/>
                <a:gd name="connsiteY9" fmla="*/ 28 h 1173155"/>
                <a:gd name="connsiteX10" fmla="*/ 1238250 w 1625078"/>
                <a:gd name="connsiteY10" fmla="*/ 685828 h 1173155"/>
                <a:gd name="connsiteX11" fmla="*/ 1581150 w 1625078"/>
                <a:gd name="connsiteY11" fmla="*/ 676303 h 1173155"/>
                <a:gd name="connsiteX12" fmla="*/ 1609725 w 1625078"/>
                <a:gd name="connsiteY12" fmla="*/ 676303 h 1173155"/>
                <a:gd name="connsiteX0" fmla="*/ 0 w 1625078"/>
                <a:gd name="connsiteY0" fmla="*/ 704850 h 1173127"/>
                <a:gd name="connsiteX1" fmla="*/ 195263 w 1625078"/>
                <a:gd name="connsiteY1" fmla="*/ 695326 h 1173127"/>
                <a:gd name="connsiteX2" fmla="*/ 276225 w 1625078"/>
                <a:gd name="connsiteY2" fmla="*/ 628650 h 1173127"/>
                <a:gd name="connsiteX3" fmla="*/ 385763 w 1625078"/>
                <a:gd name="connsiteY3" fmla="*/ 700088 h 1173127"/>
                <a:gd name="connsiteX4" fmla="*/ 595313 w 1625078"/>
                <a:gd name="connsiteY4" fmla="*/ 695325 h 1173127"/>
                <a:gd name="connsiteX5" fmla="*/ 666750 w 1625078"/>
                <a:gd name="connsiteY5" fmla="*/ 504825 h 1173127"/>
                <a:gd name="connsiteX6" fmla="*/ 714375 w 1625078"/>
                <a:gd name="connsiteY6" fmla="*/ 1171575 h 1173127"/>
                <a:gd name="connsiteX7" fmla="*/ 804862 w 1625078"/>
                <a:gd name="connsiteY7" fmla="*/ 695325 h 1173127"/>
                <a:gd name="connsiteX8" fmla="*/ 942975 w 1625078"/>
                <a:gd name="connsiteY8" fmla="*/ 657225 h 1173127"/>
                <a:gd name="connsiteX9" fmla="*/ 1109662 w 1625078"/>
                <a:gd name="connsiteY9" fmla="*/ 0 h 1173127"/>
                <a:gd name="connsiteX10" fmla="*/ 1233487 w 1625078"/>
                <a:gd name="connsiteY10" fmla="*/ 657225 h 1173127"/>
                <a:gd name="connsiteX11" fmla="*/ 1581150 w 1625078"/>
                <a:gd name="connsiteY11" fmla="*/ 676275 h 1173127"/>
                <a:gd name="connsiteX12" fmla="*/ 1609725 w 1625078"/>
                <a:gd name="connsiteY12" fmla="*/ 676275 h 1173127"/>
                <a:gd name="connsiteX0" fmla="*/ 0 w 1581150"/>
                <a:gd name="connsiteY0" fmla="*/ 704850 h 1173127"/>
                <a:gd name="connsiteX1" fmla="*/ 195263 w 1581150"/>
                <a:gd name="connsiteY1" fmla="*/ 695326 h 1173127"/>
                <a:gd name="connsiteX2" fmla="*/ 276225 w 1581150"/>
                <a:gd name="connsiteY2" fmla="*/ 628650 h 1173127"/>
                <a:gd name="connsiteX3" fmla="*/ 385763 w 1581150"/>
                <a:gd name="connsiteY3" fmla="*/ 700088 h 1173127"/>
                <a:gd name="connsiteX4" fmla="*/ 595313 w 1581150"/>
                <a:gd name="connsiteY4" fmla="*/ 695325 h 1173127"/>
                <a:gd name="connsiteX5" fmla="*/ 666750 w 1581150"/>
                <a:gd name="connsiteY5" fmla="*/ 504825 h 1173127"/>
                <a:gd name="connsiteX6" fmla="*/ 714375 w 1581150"/>
                <a:gd name="connsiteY6" fmla="*/ 1171575 h 1173127"/>
                <a:gd name="connsiteX7" fmla="*/ 804862 w 1581150"/>
                <a:gd name="connsiteY7" fmla="*/ 695325 h 1173127"/>
                <a:gd name="connsiteX8" fmla="*/ 942975 w 1581150"/>
                <a:gd name="connsiteY8" fmla="*/ 657225 h 1173127"/>
                <a:gd name="connsiteX9" fmla="*/ 1109662 w 1581150"/>
                <a:gd name="connsiteY9" fmla="*/ 0 h 1173127"/>
                <a:gd name="connsiteX10" fmla="*/ 1233487 w 1581150"/>
                <a:gd name="connsiteY10" fmla="*/ 657225 h 1173127"/>
                <a:gd name="connsiteX11" fmla="*/ 1581150 w 1581150"/>
                <a:gd name="connsiteY11" fmla="*/ 676275 h 1173127"/>
                <a:gd name="connsiteX0" fmla="*/ 0 w 1581150"/>
                <a:gd name="connsiteY0" fmla="*/ 704850 h 1173272"/>
                <a:gd name="connsiteX1" fmla="*/ 195263 w 1581150"/>
                <a:gd name="connsiteY1" fmla="*/ 695326 h 1173272"/>
                <a:gd name="connsiteX2" fmla="*/ 276225 w 1581150"/>
                <a:gd name="connsiteY2" fmla="*/ 628650 h 1173272"/>
                <a:gd name="connsiteX3" fmla="*/ 385763 w 1581150"/>
                <a:gd name="connsiteY3" fmla="*/ 700088 h 1173272"/>
                <a:gd name="connsiteX4" fmla="*/ 595313 w 1581150"/>
                <a:gd name="connsiteY4" fmla="*/ 695325 h 1173272"/>
                <a:gd name="connsiteX5" fmla="*/ 666750 w 1581150"/>
                <a:gd name="connsiteY5" fmla="*/ 504825 h 1173272"/>
                <a:gd name="connsiteX6" fmla="*/ 714375 w 1581150"/>
                <a:gd name="connsiteY6" fmla="*/ 1171575 h 1173272"/>
                <a:gd name="connsiteX7" fmla="*/ 804862 w 1581150"/>
                <a:gd name="connsiteY7" fmla="*/ 695325 h 1173272"/>
                <a:gd name="connsiteX8" fmla="*/ 966788 w 1581150"/>
                <a:gd name="connsiteY8" fmla="*/ 661987 h 1173272"/>
                <a:gd name="connsiteX9" fmla="*/ 1109662 w 1581150"/>
                <a:gd name="connsiteY9" fmla="*/ 0 h 1173272"/>
                <a:gd name="connsiteX10" fmla="*/ 1233487 w 1581150"/>
                <a:gd name="connsiteY10" fmla="*/ 657225 h 1173272"/>
                <a:gd name="connsiteX11" fmla="*/ 1581150 w 1581150"/>
                <a:gd name="connsiteY11" fmla="*/ 676275 h 1173272"/>
                <a:gd name="connsiteX0" fmla="*/ 0 w 1581150"/>
                <a:gd name="connsiteY0" fmla="*/ 704850 h 1173054"/>
                <a:gd name="connsiteX1" fmla="*/ 195263 w 1581150"/>
                <a:gd name="connsiteY1" fmla="*/ 695326 h 1173054"/>
                <a:gd name="connsiteX2" fmla="*/ 276225 w 1581150"/>
                <a:gd name="connsiteY2" fmla="*/ 628650 h 1173054"/>
                <a:gd name="connsiteX3" fmla="*/ 385763 w 1581150"/>
                <a:gd name="connsiteY3" fmla="*/ 700088 h 1173054"/>
                <a:gd name="connsiteX4" fmla="*/ 595313 w 1581150"/>
                <a:gd name="connsiteY4" fmla="*/ 695325 h 1173054"/>
                <a:gd name="connsiteX5" fmla="*/ 666750 w 1581150"/>
                <a:gd name="connsiteY5" fmla="*/ 504825 h 1173054"/>
                <a:gd name="connsiteX6" fmla="*/ 714375 w 1581150"/>
                <a:gd name="connsiteY6" fmla="*/ 1171575 h 1173054"/>
                <a:gd name="connsiteX7" fmla="*/ 804862 w 1581150"/>
                <a:gd name="connsiteY7" fmla="*/ 695325 h 1173054"/>
                <a:gd name="connsiteX8" fmla="*/ 966788 w 1581150"/>
                <a:gd name="connsiteY8" fmla="*/ 661987 h 1173054"/>
                <a:gd name="connsiteX9" fmla="*/ 1109662 w 1581150"/>
                <a:gd name="connsiteY9" fmla="*/ 0 h 1173054"/>
                <a:gd name="connsiteX10" fmla="*/ 1233487 w 1581150"/>
                <a:gd name="connsiteY10" fmla="*/ 657225 h 1173054"/>
                <a:gd name="connsiteX11" fmla="*/ 1581150 w 1581150"/>
                <a:gd name="connsiteY11" fmla="*/ 676275 h 1173054"/>
                <a:gd name="connsiteX0" fmla="*/ 0 w 1581150"/>
                <a:gd name="connsiteY0" fmla="*/ 711464 h 1179668"/>
                <a:gd name="connsiteX1" fmla="*/ 195263 w 1581150"/>
                <a:gd name="connsiteY1" fmla="*/ 701940 h 1179668"/>
                <a:gd name="connsiteX2" fmla="*/ 276225 w 1581150"/>
                <a:gd name="connsiteY2" fmla="*/ 635264 h 1179668"/>
                <a:gd name="connsiteX3" fmla="*/ 385763 w 1581150"/>
                <a:gd name="connsiteY3" fmla="*/ 706702 h 1179668"/>
                <a:gd name="connsiteX4" fmla="*/ 595313 w 1581150"/>
                <a:gd name="connsiteY4" fmla="*/ 701939 h 1179668"/>
                <a:gd name="connsiteX5" fmla="*/ 666750 w 1581150"/>
                <a:gd name="connsiteY5" fmla="*/ 511439 h 1179668"/>
                <a:gd name="connsiteX6" fmla="*/ 714375 w 1581150"/>
                <a:gd name="connsiteY6" fmla="*/ 1178189 h 1179668"/>
                <a:gd name="connsiteX7" fmla="*/ 804862 w 1581150"/>
                <a:gd name="connsiteY7" fmla="*/ 701939 h 1179668"/>
                <a:gd name="connsiteX8" fmla="*/ 966788 w 1581150"/>
                <a:gd name="connsiteY8" fmla="*/ 668601 h 1179668"/>
                <a:gd name="connsiteX9" fmla="*/ 1109662 w 1581150"/>
                <a:gd name="connsiteY9" fmla="*/ 6614 h 1179668"/>
                <a:gd name="connsiteX10" fmla="*/ 1233487 w 1581150"/>
                <a:gd name="connsiteY10" fmla="*/ 663839 h 1179668"/>
                <a:gd name="connsiteX11" fmla="*/ 1581150 w 1581150"/>
                <a:gd name="connsiteY11" fmla="*/ 682889 h 1179668"/>
                <a:gd name="connsiteX0" fmla="*/ 0 w 1581150"/>
                <a:gd name="connsiteY0" fmla="*/ 711464 h 1179668"/>
                <a:gd name="connsiteX1" fmla="*/ 195263 w 1581150"/>
                <a:gd name="connsiteY1" fmla="*/ 701940 h 1179668"/>
                <a:gd name="connsiteX2" fmla="*/ 276225 w 1581150"/>
                <a:gd name="connsiteY2" fmla="*/ 635264 h 1179668"/>
                <a:gd name="connsiteX3" fmla="*/ 385763 w 1581150"/>
                <a:gd name="connsiteY3" fmla="*/ 706702 h 1179668"/>
                <a:gd name="connsiteX4" fmla="*/ 595313 w 1581150"/>
                <a:gd name="connsiteY4" fmla="*/ 701939 h 1179668"/>
                <a:gd name="connsiteX5" fmla="*/ 666750 w 1581150"/>
                <a:gd name="connsiteY5" fmla="*/ 511439 h 1179668"/>
                <a:gd name="connsiteX6" fmla="*/ 714375 w 1581150"/>
                <a:gd name="connsiteY6" fmla="*/ 1178189 h 1179668"/>
                <a:gd name="connsiteX7" fmla="*/ 767248 w 1581150"/>
                <a:gd name="connsiteY7" fmla="*/ 701939 h 1179668"/>
                <a:gd name="connsiteX8" fmla="*/ 966788 w 1581150"/>
                <a:gd name="connsiteY8" fmla="*/ 668601 h 1179668"/>
                <a:gd name="connsiteX9" fmla="*/ 1109662 w 1581150"/>
                <a:gd name="connsiteY9" fmla="*/ 6614 h 1179668"/>
                <a:gd name="connsiteX10" fmla="*/ 1233487 w 1581150"/>
                <a:gd name="connsiteY10" fmla="*/ 663839 h 1179668"/>
                <a:gd name="connsiteX11" fmla="*/ 1581150 w 1581150"/>
                <a:gd name="connsiteY11" fmla="*/ 682889 h 1179668"/>
                <a:gd name="connsiteX0" fmla="*/ 0 w 1581150"/>
                <a:gd name="connsiteY0" fmla="*/ 711464 h 1179668"/>
                <a:gd name="connsiteX1" fmla="*/ 195263 w 1581150"/>
                <a:gd name="connsiteY1" fmla="*/ 701940 h 1179668"/>
                <a:gd name="connsiteX2" fmla="*/ 276225 w 1581150"/>
                <a:gd name="connsiteY2" fmla="*/ 635264 h 1179668"/>
                <a:gd name="connsiteX3" fmla="*/ 385763 w 1581150"/>
                <a:gd name="connsiteY3" fmla="*/ 706702 h 1179668"/>
                <a:gd name="connsiteX4" fmla="*/ 616807 w 1581150"/>
                <a:gd name="connsiteY4" fmla="*/ 707945 h 1179668"/>
                <a:gd name="connsiteX5" fmla="*/ 666750 w 1581150"/>
                <a:gd name="connsiteY5" fmla="*/ 511439 h 1179668"/>
                <a:gd name="connsiteX6" fmla="*/ 714375 w 1581150"/>
                <a:gd name="connsiteY6" fmla="*/ 1178189 h 1179668"/>
                <a:gd name="connsiteX7" fmla="*/ 767248 w 1581150"/>
                <a:gd name="connsiteY7" fmla="*/ 701939 h 1179668"/>
                <a:gd name="connsiteX8" fmla="*/ 966788 w 1581150"/>
                <a:gd name="connsiteY8" fmla="*/ 668601 h 1179668"/>
                <a:gd name="connsiteX9" fmla="*/ 1109662 w 1581150"/>
                <a:gd name="connsiteY9" fmla="*/ 6614 h 1179668"/>
                <a:gd name="connsiteX10" fmla="*/ 1233487 w 1581150"/>
                <a:gd name="connsiteY10" fmla="*/ 663839 h 1179668"/>
                <a:gd name="connsiteX11" fmla="*/ 1581150 w 1581150"/>
                <a:gd name="connsiteY11" fmla="*/ 682889 h 1179668"/>
                <a:gd name="connsiteX0" fmla="*/ 0 w 1581150"/>
                <a:gd name="connsiteY0" fmla="*/ 711464 h 1179668"/>
                <a:gd name="connsiteX1" fmla="*/ 195263 w 1581150"/>
                <a:gd name="connsiteY1" fmla="*/ 701940 h 1179668"/>
                <a:gd name="connsiteX2" fmla="*/ 276225 w 1581150"/>
                <a:gd name="connsiteY2" fmla="*/ 635264 h 1179668"/>
                <a:gd name="connsiteX3" fmla="*/ 385763 w 1581150"/>
                <a:gd name="connsiteY3" fmla="*/ 706702 h 1179668"/>
                <a:gd name="connsiteX4" fmla="*/ 616807 w 1581150"/>
                <a:gd name="connsiteY4" fmla="*/ 707945 h 1179668"/>
                <a:gd name="connsiteX5" fmla="*/ 698991 w 1581150"/>
                <a:gd name="connsiteY5" fmla="*/ 511440 h 1179668"/>
                <a:gd name="connsiteX6" fmla="*/ 714375 w 1581150"/>
                <a:gd name="connsiteY6" fmla="*/ 1178189 h 1179668"/>
                <a:gd name="connsiteX7" fmla="*/ 767248 w 1581150"/>
                <a:gd name="connsiteY7" fmla="*/ 701939 h 1179668"/>
                <a:gd name="connsiteX8" fmla="*/ 966788 w 1581150"/>
                <a:gd name="connsiteY8" fmla="*/ 668601 h 1179668"/>
                <a:gd name="connsiteX9" fmla="*/ 1109662 w 1581150"/>
                <a:gd name="connsiteY9" fmla="*/ 6614 h 1179668"/>
                <a:gd name="connsiteX10" fmla="*/ 1233487 w 1581150"/>
                <a:gd name="connsiteY10" fmla="*/ 663839 h 1179668"/>
                <a:gd name="connsiteX11" fmla="*/ 1581150 w 1581150"/>
                <a:gd name="connsiteY11" fmla="*/ 682889 h 1179668"/>
                <a:gd name="connsiteX0" fmla="*/ 0 w 1581150"/>
                <a:gd name="connsiteY0" fmla="*/ 704977 h 1173438"/>
                <a:gd name="connsiteX1" fmla="*/ 195263 w 1581150"/>
                <a:gd name="connsiteY1" fmla="*/ 695453 h 1173438"/>
                <a:gd name="connsiteX2" fmla="*/ 276225 w 1581150"/>
                <a:gd name="connsiteY2" fmla="*/ 628777 h 1173438"/>
                <a:gd name="connsiteX3" fmla="*/ 385763 w 1581150"/>
                <a:gd name="connsiteY3" fmla="*/ 700215 h 1173438"/>
                <a:gd name="connsiteX4" fmla="*/ 616807 w 1581150"/>
                <a:gd name="connsiteY4" fmla="*/ 701458 h 1173438"/>
                <a:gd name="connsiteX5" fmla="*/ 698991 w 1581150"/>
                <a:gd name="connsiteY5" fmla="*/ 504953 h 1173438"/>
                <a:gd name="connsiteX6" fmla="*/ 714375 w 1581150"/>
                <a:gd name="connsiteY6" fmla="*/ 1171702 h 1173438"/>
                <a:gd name="connsiteX7" fmla="*/ 767248 w 1581150"/>
                <a:gd name="connsiteY7" fmla="*/ 695452 h 1173438"/>
                <a:gd name="connsiteX8" fmla="*/ 961415 w 1581150"/>
                <a:gd name="connsiteY8" fmla="*/ 602065 h 1173438"/>
                <a:gd name="connsiteX9" fmla="*/ 1109662 w 1581150"/>
                <a:gd name="connsiteY9" fmla="*/ 127 h 1173438"/>
                <a:gd name="connsiteX10" fmla="*/ 1233487 w 1581150"/>
                <a:gd name="connsiteY10" fmla="*/ 657352 h 1173438"/>
                <a:gd name="connsiteX11" fmla="*/ 1581150 w 1581150"/>
                <a:gd name="connsiteY11" fmla="*/ 676402 h 117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81150" h="1173438">
                  <a:moveTo>
                    <a:pt x="0" y="704977"/>
                  </a:moveTo>
                  <a:cubicBezTo>
                    <a:pt x="29369" y="701008"/>
                    <a:pt x="149226" y="708153"/>
                    <a:pt x="195263" y="695453"/>
                  </a:cubicBezTo>
                  <a:cubicBezTo>
                    <a:pt x="241300" y="682753"/>
                    <a:pt x="238125" y="625602"/>
                    <a:pt x="276225" y="628777"/>
                  </a:cubicBezTo>
                  <a:cubicBezTo>
                    <a:pt x="346075" y="624808"/>
                    <a:pt x="331788" y="689103"/>
                    <a:pt x="385763" y="700215"/>
                  </a:cubicBezTo>
                  <a:cubicBezTo>
                    <a:pt x="439738" y="711327"/>
                    <a:pt x="564602" y="734002"/>
                    <a:pt x="616807" y="701458"/>
                  </a:cubicBezTo>
                  <a:cubicBezTo>
                    <a:pt x="669012" y="668914"/>
                    <a:pt x="682730" y="426579"/>
                    <a:pt x="698991" y="504953"/>
                  </a:cubicBezTo>
                  <a:cubicBezTo>
                    <a:pt x="715252" y="583327"/>
                    <a:pt x="702999" y="1139952"/>
                    <a:pt x="714375" y="1171702"/>
                  </a:cubicBezTo>
                  <a:cubicBezTo>
                    <a:pt x="725751" y="1203452"/>
                    <a:pt x="726075" y="790391"/>
                    <a:pt x="767248" y="695452"/>
                  </a:cubicBezTo>
                  <a:cubicBezTo>
                    <a:pt x="808421" y="600513"/>
                    <a:pt x="904346" y="717952"/>
                    <a:pt x="961415" y="602065"/>
                  </a:cubicBezTo>
                  <a:cubicBezTo>
                    <a:pt x="1018484" y="486178"/>
                    <a:pt x="1064317" y="-9087"/>
                    <a:pt x="1109662" y="127"/>
                  </a:cubicBezTo>
                  <a:cubicBezTo>
                    <a:pt x="1155007" y="9341"/>
                    <a:pt x="1202531" y="620840"/>
                    <a:pt x="1233487" y="657352"/>
                  </a:cubicBezTo>
                  <a:cubicBezTo>
                    <a:pt x="1264443" y="693864"/>
                    <a:pt x="1581150" y="676402"/>
                    <a:pt x="1581150" y="676402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8945B58-22A6-47DE-A9A0-74425CF1615F}"/>
                </a:ext>
              </a:extLst>
            </p:cNvPr>
            <p:cNvSpPr txBox="1"/>
            <p:nvPr/>
          </p:nvSpPr>
          <p:spPr>
            <a:xfrm>
              <a:off x="3250277" y="2142065"/>
              <a:ext cx="17444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Peaked T waves</a:t>
              </a:r>
            </a:p>
            <a:p>
              <a:pPr algn="ctr"/>
              <a:r>
                <a:rPr lang="en-US" dirty="0"/>
                <a:t>QT shortening</a:t>
              </a:r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16808C1D-57A6-45BA-972E-7799EF627325}"/>
                </a:ext>
              </a:extLst>
            </p:cNvPr>
            <p:cNvSpPr/>
            <p:nvPr/>
          </p:nvSpPr>
          <p:spPr>
            <a:xfrm>
              <a:off x="4960883" y="1450666"/>
              <a:ext cx="493793" cy="349826"/>
            </a:xfrm>
            <a:prstGeom prst="right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AFF10-3FAE-41AA-907A-E5045B68E4DF}"/>
                </a:ext>
              </a:extLst>
            </p:cNvPr>
            <p:cNvSpPr/>
            <p:nvPr/>
          </p:nvSpPr>
          <p:spPr>
            <a:xfrm>
              <a:off x="7871457" y="1219987"/>
              <a:ext cx="1401397" cy="823676"/>
            </a:xfrm>
            <a:custGeom>
              <a:avLst/>
              <a:gdLst>
                <a:gd name="connsiteX0" fmla="*/ 0 w 1472678"/>
                <a:gd name="connsiteY0" fmla="*/ 714404 h 1191542"/>
                <a:gd name="connsiteX1" fmla="*/ 447675 w 1472678"/>
                <a:gd name="connsiteY1" fmla="*/ 714404 h 1191542"/>
                <a:gd name="connsiteX2" fmla="*/ 514350 w 1472678"/>
                <a:gd name="connsiteY2" fmla="*/ 523904 h 1191542"/>
                <a:gd name="connsiteX3" fmla="*/ 561975 w 1472678"/>
                <a:gd name="connsiteY3" fmla="*/ 1190654 h 1191542"/>
                <a:gd name="connsiteX4" fmla="*/ 657225 w 1472678"/>
                <a:gd name="connsiteY4" fmla="*/ 666779 h 1191542"/>
                <a:gd name="connsiteX5" fmla="*/ 790575 w 1472678"/>
                <a:gd name="connsiteY5" fmla="*/ 676304 h 1191542"/>
                <a:gd name="connsiteX6" fmla="*/ 971550 w 1472678"/>
                <a:gd name="connsiteY6" fmla="*/ 29 h 1191542"/>
                <a:gd name="connsiteX7" fmla="*/ 1085850 w 1472678"/>
                <a:gd name="connsiteY7" fmla="*/ 704879 h 1191542"/>
                <a:gd name="connsiteX8" fmla="*/ 1428750 w 1472678"/>
                <a:gd name="connsiteY8" fmla="*/ 695354 h 1191542"/>
                <a:gd name="connsiteX9" fmla="*/ 1457325 w 1472678"/>
                <a:gd name="connsiteY9" fmla="*/ 695354 h 1191542"/>
                <a:gd name="connsiteX0" fmla="*/ 0 w 1625078"/>
                <a:gd name="connsiteY0" fmla="*/ 723929 h 1191542"/>
                <a:gd name="connsiteX1" fmla="*/ 600075 w 1625078"/>
                <a:gd name="connsiteY1" fmla="*/ 714404 h 1191542"/>
                <a:gd name="connsiteX2" fmla="*/ 666750 w 1625078"/>
                <a:gd name="connsiteY2" fmla="*/ 523904 h 1191542"/>
                <a:gd name="connsiteX3" fmla="*/ 714375 w 1625078"/>
                <a:gd name="connsiteY3" fmla="*/ 1190654 h 1191542"/>
                <a:gd name="connsiteX4" fmla="*/ 809625 w 1625078"/>
                <a:gd name="connsiteY4" fmla="*/ 666779 h 1191542"/>
                <a:gd name="connsiteX5" fmla="*/ 942975 w 1625078"/>
                <a:gd name="connsiteY5" fmla="*/ 676304 h 1191542"/>
                <a:gd name="connsiteX6" fmla="*/ 1123950 w 1625078"/>
                <a:gd name="connsiteY6" fmla="*/ 29 h 1191542"/>
                <a:gd name="connsiteX7" fmla="*/ 1238250 w 1625078"/>
                <a:gd name="connsiteY7" fmla="*/ 704879 h 1191542"/>
                <a:gd name="connsiteX8" fmla="*/ 1581150 w 1625078"/>
                <a:gd name="connsiteY8" fmla="*/ 695354 h 1191542"/>
                <a:gd name="connsiteX9" fmla="*/ 1609725 w 1625078"/>
                <a:gd name="connsiteY9" fmla="*/ 695354 h 1191542"/>
                <a:gd name="connsiteX0" fmla="*/ 0 w 1625078"/>
                <a:gd name="connsiteY0" fmla="*/ 723929 h 1191542"/>
                <a:gd name="connsiteX1" fmla="*/ 276225 w 1625078"/>
                <a:gd name="connsiteY1" fmla="*/ 647729 h 1191542"/>
                <a:gd name="connsiteX2" fmla="*/ 600075 w 1625078"/>
                <a:gd name="connsiteY2" fmla="*/ 714404 h 1191542"/>
                <a:gd name="connsiteX3" fmla="*/ 666750 w 1625078"/>
                <a:gd name="connsiteY3" fmla="*/ 523904 h 1191542"/>
                <a:gd name="connsiteX4" fmla="*/ 714375 w 1625078"/>
                <a:gd name="connsiteY4" fmla="*/ 1190654 h 1191542"/>
                <a:gd name="connsiteX5" fmla="*/ 809625 w 1625078"/>
                <a:gd name="connsiteY5" fmla="*/ 666779 h 1191542"/>
                <a:gd name="connsiteX6" fmla="*/ 942975 w 1625078"/>
                <a:gd name="connsiteY6" fmla="*/ 676304 h 1191542"/>
                <a:gd name="connsiteX7" fmla="*/ 1123950 w 1625078"/>
                <a:gd name="connsiteY7" fmla="*/ 29 h 1191542"/>
                <a:gd name="connsiteX8" fmla="*/ 1238250 w 1625078"/>
                <a:gd name="connsiteY8" fmla="*/ 704879 h 1191542"/>
                <a:gd name="connsiteX9" fmla="*/ 1581150 w 1625078"/>
                <a:gd name="connsiteY9" fmla="*/ 695354 h 1191542"/>
                <a:gd name="connsiteX10" fmla="*/ 1609725 w 1625078"/>
                <a:gd name="connsiteY10" fmla="*/ 695354 h 1191542"/>
                <a:gd name="connsiteX0" fmla="*/ 0 w 1625078"/>
                <a:gd name="connsiteY0" fmla="*/ 723929 h 1191542"/>
                <a:gd name="connsiteX1" fmla="*/ 276225 w 1625078"/>
                <a:gd name="connsiteY1" fmla="*/ 647729 h 1191542"/>
                <a:gd name="connsiteX2" fmla="*/ 600075 w 1625078"/>
                <a:gd name="connsiteY2" fmla="*/ 714404 h 1191542"/>
                <a:gd name="connsiteX3" fmla="*/ 666750 w 1625078"/>
                <a:gd name="connsiteY3" fmla="*/ 523904 h 1191542"/>
                <a:gd name="connsiteX4" fmla="*/ 714375 w 1625078"/>
                <a:gd name="connsiteY4" fmla="*/ 1190654 h 1191542"/>
                <a:gd name="connsiteX5" fmla="*/ 809625 w 1625078"/>
                <a:gd name="connsiteY5" fmla="*/ 666779 h 1191542"/>
                <a:gd name="connsiteX6" fmla="*/ 942975 w 1625078"/>
                <a:gd name="connsiteY6" fmla="*/ 676304 h 1191542"/>
                <a:gd name="connsiteX7" fmla="*/ 1123950 w 1625078"/>
                <a:gd name="connsiteY7" fmla="*/ 29 h 1191542"/>
                <a:gd name="connsiteX8" fmla="*/ 1238250 w 1625078"/>
                <a:gd name="connsiteY8" fmla="*/ 704879 h 1191542"/>
                <a:gd name="connsiteX9" fmla="*/ 1581150 w 1625078"/>
                <a:gd name="connsiteY9" fmla="*/ 695354 h 1191542"/>
                <a:gd name="connsiteX10" fmla="*/ 1609725 w 1625078"/>
                <a:gd name="connsiteY10" fmla="*/ 695354 h 1191542"/>
                <a:gd name="connsiteX0" fmla="*/ 0 w 1625078"/>
                <a:gd name="connsiteY0" fmla="*/ 723929 h 1191542"/>
                <a:gd name="connsiteX1" fmla="*/ 276225 w 1625078"/>
                <a:gd name="connsiteY1" fmla="*/ 647729 h 1191542"/>
                <a:gd name="connsiteX2" fmla="*/ 600075 w 1625078"/>
                <a:gd name="connsiteY2" fmla="*/ 714404 h 1191542"/>
                <a:gd name="connsiteX3" fmla="*/ 666750 w 1625078"/>
                <a:gd name="connsiteY3" fmla="*/ 523904 h 1191542"/>
                <a:gd name="connsiteX4" fmla="*/ 714375 w 1625078"/>
                <a:gd name="connsiteY4" fmla="*/ 1190654 h 1191542"/>
                <a:gd name="connsiteX5" fmla="*/ 809625 w 1625078"/>
                <a:gd name="connsiteY5" fmla="*/ 666779 h 1191542"/>
                <a:gd name="connsiteX6" fmla="*/ 942975 w 1625078"/>
                <a:gd name="connsiteY6" fmla="*/ 676304 h 1191542"/>
                <a:gd name="connsiteX7" fmla="*/ 1123950 w 1625078"/>
                <a:gd name="connsiteY7" fmla="*/ 29 h 1191542"/>
                <a:gd name="connsiteX8" fmla="*/ 1238250 w 1625078"/>
                <a:gd name="connsiteY8" fmla="*/ 704879 h 1191542"/>
                <a:gd name="connsiteX9" fmla="*/ 1581150 w 1625078"/>
                <a:gd name="connsiteY9" fmla="*/ 695354 h 1191542"/>
                <a:gd name="connsiteX10" fmla="*/ 1609725 w 1625078"/>
                <a:gd name="connsiteY10" fmla="*/ 695354 h 1191542"/>
                <a:gd name="connsiteX0" fmla="*/ 0 w 1625078"/>
                <a:gd name="connsiteY0" fmla="*/ 723929 h 1191542"/>
                <a:gd name="connsiteX1" fmla="*/ 276225 w 1625078"/>
                <a:gd name="connsiteY1" fmla="*/ 647729 h 1191542"/>
                <a:gd name="connsiteX2" fmla="*/ 600075 w 1625078"/>
                <a:gd name="connsiteY2" fmla="*/ 714404 h 1191542"/>
                <a:gd name="connsiteX3" fmla="*/ 666750 w 1625078"/>
                <a:gd name="connsiteY3" fmla="*/ 523904 h 1191542"/>
                <a:gd name="connsiteX4" fmla="*/ 714375 w 1625078"/>
                <a:gd name="connsiteY4" fmla="*/ 1190654 h 1191542"/>
                <a:gd name="connsiteX5" fmla="*/ 809625 w 1625078"/>
                <a:gd name="connsiteY5" fmla="*/ 666779 h 1191542"/>
                <a:gd name="connsiteX6" fmla="*/ 942975 w 1625078"/>
                <a:gd name="connsiteY6" fmla="*/ 676304 h 1191542"/>
                <a:gd name="connsiteX7" fmla="*/ 1123950 w 1625078"/>
                <a:gd name="connsiteY7" fmla="*/ 29 h 1191542"/>
                <a:gd name="connsiteX8" fmla="*/ 1238250 w 1625078"/>
                <a:gd name="connsiteY8" fmla="*/ 704879 h 1191542"/>
                <a:gd name="connsiteX9" fmla="*/ 1581150 w 1625078"/>
                <a:gd name="connsiteY9" fmla="*/ 695354 h 1191542"/>
                <a:gd name="connsiteX10" fmla="*/ 1609725 w 1625078"/>
                <a:gd name="connsiteY10" fmla="*/ 695354 h 1191542"/>
                <a:gd name="connsiteX0" fmla="*/ 0 w 1625078"/>
                <a:gd name="connsiteY0" fmla="*/ 723929 h 1191542"/>
                <a:gd name="connsiteX1" fmla="*/ 276225 w 1625078"/>
                <a:gd name="connsiteY1" fmla="*/ 647729 h 1191542"/>
                <a:gd name="connsiteX2" fmla="*/ 404813 w 1625078"/>
                <a:gd name="connsiteY2" fmla="*/ 719167 h 1191542"/>
                <a:gd name="connsiteX3" fmla="*/ 600075 w 1625078"/>
                <a:gd name="connsiteY3" fmla="*/ 714404 h 1191542"/>
                <a:gd name="connsiteX4" fmla="*/ 666750 w 1625078"/>
                <a:gd name="connsiteY4" fmla="*/ 523904 h 1191542"/>
                <a:gd name="connsiteX5" fmla="*/ 714375 w 1625078"/>
                <a:gd name="connsiteY5" fmla="*/ 1190654 h 1191542"/>
                <a:gd name="connsiteX6" fmla="*/ 809625 w 1625078"/>
                <a:gd name="connsiteY6" fmla="*/ 666779 h 1191542"/>
                <a:gd name="connsiteX7" fmla="*/ 942975 w 1625078"/>
                <a:gd name="connsiteY7" fmla="*/ 676304 h 1191542"/>
                <a:gd name="connsiteX8" fmla="*/ 1123950 w 1625078"/>
                <a:gd name="connsiteY8" fmla="*/ 29 h 1191542"/>
                <a:gd name="connsiteX9" fmla="*/ 1238250 w 1625078"/>
                <a:gd name="connsiteY9" fmla="*/ 704879 h 1191542"/>
                <a:gd name="connsiteX10" fmla="*/ 1581150 w 1625078"/>
                <a:gd name="connsiteY10" fmla="*/ 695354 h 1191542"/>
                <a:gd name="connsiteX11" fmla="*/ 1609725 w 1625078"/>
                <a:gd name="connsiteY11" fmla="*/ 695354 h 1191542"/>
                <a:gd name="connsiteX0" fmla="*/ 0 w 1625078"/>
                <a:gd name="connsiteY0" fmla="*/ 723929 h 1191542"/>
                <a:gd name="connsiteX1" fmla="*/ 195263 w 1625078"/>
                <a:gd name="connsiteY1" fmla="*/ 709642 h 1191542"/>
                <a:gd name="connsiteX2" fmla="*/ 276225 w 1625078"/>
                <a:gd name="connsiteY2" fmla="*/ 647729 h 1191542"/>
                <a:gd name="connsiteX3" fmla="*/ 404813 w 1625078"/>
                <a:gd name="connsiteY3" fmla="*/ 719167 h 1191542"/>
                <a:gd name="connsiteX4" fmla="*/ 600075 w 1625078"/>
                <a:gd name="connsiteY4" fmla="*/ 714404 h 1191542"/>
                <a:gd name="connsiteX5" fmla="*/ 666750 w 1625078"/>
                <a:gd name="connsiteY5" fmla="*/ 523904 h 1191542"/>
                <a:gd name="connsiteX6" fmla="*/ 714375 w 1625078"/>
                <a:gd name="connsiteY6" fmla="*/ 1190654 h 1191542"/>
                <a:gd name="connsiteX7" fmla="*/ 809625 w 1625078"/>
                <a:gd name="connsiteY7" fmla="*/ 666779 h 1191542"/>
                <a:gd name="connsiteX8" fmla="*/ 942975 w 1625078"/>
                <a:gd name="connsiteY8" fmla="*/ 676304 h 1191542"/>
                <a:gd name="connsiteX9" fmla="*/ 1123950 w 1625078"/>
                <a:gd name="connsiteY9" fmla="*/ 29 h 1191542"/>
                <a:gd name="connsiteX10" fmla="*/ 1238250 w 1625078"/>
                <a:gd name="connsiteY10" fmla="*/ 704879 h 1191542"/>
                <a:gd name="connsiteX11" fmla="*/ 1581150 w 1625078"/>
                <a:gd name="connsiteY11" fmla="*/ 695354 h 1191542"/>
                <a:gd name="connsiteX12" fmla="*/ 1609725 w 1625078"/>
                <a:gd name="connsiteY12" fmla="*/ 695354 h 1191542"/>
                <a:gd name="connsiteX0" fmla="*/ 0 w 1625078"/>
                <a:gd name="connsiteY0" fmla="*/ 723929 h 1191542"/>
                <a:gd name="connsiteX1" fmla="*/ 195263 w 1625078"/>
                <a:gd name="connsiteY1" fmla="*/ 709642 h 1191542"/>
                <a:gd name="connsiteX2" fmla="*/ 276225 w 1625078"/>
                <a:gd name="connsiteY2" fmla="*/ 647729 h 1191542"/>
                <a:gd name="connsiteX3" fmla="*/ 385763 w 1625078"/>
                <a:gd name="connsiteY3" fmla="*/ 719167 h 1191542"/>
                <a:gd name="connsiteX4" fmla="*/ 600075 w 1625078"/>
                <a:gd name="connsiteY4" fmla="*/ 714404 h 1191542"/>
                <a:gd name="connsiteX5" fmla="*/ 666750 w 1625078"/>
                <a:gd name="connsiteY5" fmla="*/ 523904 h 1191542"/>
                <a:gd name="connsiteX6" fmla="*/ 714375 w 1625078"/>
                <a:gd name="connsiteY6" fmla="*/ 1190654 h 1191542"/>
                <a:gd name="connsiteX7" fmla="*/ 809625 w 1625078"/>
                <a:gd name="connsiteY7" fmla="*/ 666779 h 1191542"/>
                <a:gd name="connsiteX8" fmla="*/ 942975 w 1625078"/>
                <a:gd name="connsiteY8" fmla="*/ 676304 h 1191542"/>
                <a:gd name="connsiteX9" fmla="*/ 1123950 w 1625078"/>
                <a:gd name="connsiteY9" fmla="*/ 29 h 1191542"/>
                <a:gd name="connsiteX10" fmla="*/ 1238250 w 1625078"/>
                <a:gd name="connsiteY10" fmla="*/ 704879 h 1191542"/>
                <a:gd name="connsiteX11" fmla="*/ 1581150 w 1625078"/>
                <a:gd name="connsiteY11" fmla="*/ 695354 h 1191542"/>
                <a:gd name="connsiteX12" fmla="*/ 1609725 w 1625078"/>
                <a:gd name="connsiteY12" fmla="*/ 695354 h 1191542"/>
                <a:gd name="connsiteX0" fmla="*/ 0 w 1625078"/>
                <a:gd name="connsiteY0" fmla="*/ 723929 h 1191542"/>
                <a:gd name="connsiteX1" fmla="*/ 195263 w 1625078"/>
                <a:gd name="connsiteY1" fmla="*/ 709642 h 1191542"/>
                <a:gd name="connsiteX2" fmla="*/ 276225 w 1625078"/>
                <a:gd name="connsiteY2" fmla="*/ 647729 h 1191542"/>
                <a:gd name="connsiteX3" fmla="*/ 385763 w 1625078"/>
                <a:gd name="connsiteY3" fmla="*/ 719167 h 1191542"/>
                <a:gd name="connsiteX4" fmla="*/ 600075 w 1625078"/>
                <a:gd name="connsiteY4" fmla="*/ 714404 h 1191542"/>
                <a:gd name="connsiteX5" fmla="*/ 666750 w 1625078"/>
                <a:gd name="connsiteY5" fmla="*/ 523904 h 1191542"/>
                <a:gd name="connsiteX6" fmla="*/ 714375 w 1625078"/>
                <a:gd name="connsiteY6" fmla="*/ 1190654 h 1191542"/>
                <a:gd name="connsiteX7" fmla="*/ 809625 w 1625078"/>
                <a:gd name="connsiteY7" fmla="*/ 666779 h 1191542"/>
                <a:gd name="connsiteX8" fmla="*/ 942975 w 1625078"/>
                <a:gd name="connsiteY8" fmla="*/ 676304 h 1191542"/>
                <a:gd name="connsiteX9" fmla="*/ 1123950 w 1625078"/>
                <a:gd name="connsiteY9" fmla="*/ 29 h 1191542"/>
                <a:gd name="connsiteX10" fmla="*/ 1238250 w 1625078"/>
                <a:gd name="connsiteY10" fmla="*/ 704879 h 1191542"/>
                <a:gd name="connsiteX11" fmla="*/ 1581150 w 1625078"/>
                <a:gd name="connsiteY11" fmla="*/ 695354 h 1191542"/>
                <a:gd name="connsiteX12" fmla="*/ 1609725 w 1625078"/>
                <a:gd name="connsiteY12" fmla="*/ 695354 h 1191542"/>
                <a:gd name="connsiteX0" fmla="*/ 0 w 1625078"/>
                <a:gd name="connsiteY0" fmla="*/ 723929 h 1191542"/>
                <a:gd name="connsiteX1" fmla="*/ 195263 w 1625078"/>
                <a:gd name="connsiteY1" fmla="*/ 709642 h 1191542"/>
                <a:gd name="connsiteX2" fmla="*/ 276225 w 1625078"/>
                <a:gd name="connsiteY2" fmla="*/ 647729 h 1191542"/>
                <a:gd name="connsiteX3" fmla="*/ 385763 w 1625078"/>
                <a:gd name="connsiteY3" fmla="*/ 719167 h 1191542"/>
                <a:gd name="connsiteX4" fmla="*/ 595313 w 1625078"/>
                <a:gd name="connsiteY4" fmla="*/ 714404 h 1191542"/>
                <a:gd name="connsiteX5" fmla="*/ 666750 w 1625078"/>
                <a:gd name="connsiteY5" fmla="*/ 523904 h 1191542"/>
                <a:gd name="connsiteX6" fmla="*/ 714375 w 1625078"/>
                <a:gd name="connsiteY6" fmla="*/ 1190654 h 1191542"/>
                <a:gd name="connsiteX7" fmla="*/ 809625 w 1625078"/>
                <a:gd name="connsiteY7" fmla="*/ 666779 h 1191542"/>
                <a:gd name="connsiteX8" fmla="*/ 942975 w 1625078"/>
                <a:gd name="connsiteY8" fmla="*/ 676304 h 1191542"/>
                <a:gd name="connsiteX9" fmla="*/ 1123950 w 1625078"/>
                <a:gd name="connsiteY9" fmla="*/ 29 h 1191542"/>
                <a:gd name="connsiteX10" fmla="*/ 1238250 w 1625078"/>
                <a:gd name="connsiteY10" fmla="*/ 704879 h 1191542"/>
                <a:gd name="connsiteX11" fmla="*/ 1581150 w 1625078"/>
                <a:gd name="connsiteY11" fmla="*/ 695354 h 1191542"/>
                <a:gd name="connsiteX12" fmla="*/ 1609725 w 1625078"/>
                <a:gd name="connsiteY12" fmla="*/ 695354 h 1191542"/>
                <a:gd name="connsiteX0" fmla="*/ 0 w 1625078"/>
                <a:gd name="connsiteY0" fmla="*/ 723929 h 1191542"/>
                <a:gd name="connsiteX1" fmla="*/ 195263 w 1625078"/>
                <a:gd name="connsiteY1" fmla="*/ 709642 h 1191542"/>
                <a:gd name="connsiteX2" fmla="*/ 276225 w 1625078"/>
                <a:gd name="connsiteY2" fmla="*/ 647729 h 1191542"/>
                <a:gd name="connsiteX3" fmla="*/ 385763 w 1625078"/>
                <a:gd name="connsiteY3" fmla="*/ 719167 h 1191542"/>
                <a:gd name="connsiteX4" fmla="*/ 595313 w 1625078"/>
                <a:gd name="connsiteY4" fmla="*/ 714404 h 1191542"/>
                <a:gd name="connsiteX5" fmla="*/ 666750 w 1625078"/>
                <a:gd name="connsiteY5" fmla="*/ 523904 h 1191542"/>
                <a:gd name="connsiteX6" fmla="*/ 714375 w 1625078"/>
                <a:gd name="connsiteY6" fmla="*/ 1190654 h 1191542"/>
                <a:gd name="connsiteX7" fmla="*/ 809625 w 1625078"/>
                <a:gd name="connsiteY7" fmla="*/ 666779 h 1191542"/>
                <a:gd name="connsiteX8" fmla="*/ 942975 w 1625078"/>
                <a:gd name="connsiteY8" fmla="*/ 676304 h 1191542"/>
                <a:gd name="connsiteX9" fmla="*/ 1123950 w 1625078"/>
                <a:gd name="connsiteY9" fmla="*/ 29 h 1191542"/>
                <a:gd name="connsiteX10" fmla="*/ 1238250 w 1625078"/>
                <a:gd name="connsiteY10" fmla="*/ 704879 h 1191542"/>
                <a:gd name="connsiteX11" fmla="*/ 1581150 w 1625078"/>
                <a:gd name="connsiteY11" fmla="*/ 695354 h 1191542"/>
                <a:gd name="connsiteX12" fmla="*/ 1609725 w 1625078"/>
                <a:gd name="connsiteY12" fmla="*/ 695354 h 1191542"/>
                <a:gd name="connsiteX0" fmla="*/ 0 w 1625078"/>
                <a:gd name="connsiteY0" fmla="*/ 723929 h 1191542"/>
                <a:gd name="connsiteX1" fmla="*/ 195263 w 1625078"/>
                <a:gd name="connsiteY1" fmla="*/ 709642 h 1191542"/>
                <a:gd name="connsiteX2" fmla="*/ 276225 w 1625078"/>
                <a:gd name="connsiteY2" fmla="*/ 647729 h 1191542"/>
                <a:gd name="connsiteX3" fmla="*/ 385763 w 1625078"/>
                <a:gd name="connsiteY3" fmla="*/ 719167 h 1191542"/>
                <a:gd name="connsiteX4" fmla="*/ 595313 w 1625078"/>
                <a:gd name="connsiteY4" fmla="*/ 714404 h 1191542"/>
                <a:gd name="connsiteX5" fmla="*/ 666750 w 1625078"/>
                <a:gd name="connsiteY5" fmla="*/ 523904 h 1191542"/>
                <a:gd name="connsiteX6" fmla="*/ 714375 w 1625078"/>
                <a:gd name="connsiteY6" fmla="*/ 1190654 h 1191542"/>
                <a:gd name="connsiteX7" fmla="*/ 809625 w 1625078"/>
                <a:gd name="connsiteY7" fmla="*/ 666779 h 1191542"/>
                <a:gd name="connsiteX8" fmla="*/ 942975 w 1625078"/>
                <a:gd name="connsiteY8" fmla="*/ 676304 h 1191542"/>
                <a:gd name="connsiteX9" fmla="*/ 1123950 w 1625078"/>
                <a:gd name="connsiteY9" fmla="*/ 29 h 1191542"/>
                <a:gd name="connsiteX10" fmla="*/ 1238250 w 1625078"/>
                <a:gd name="connsiteY10" fmla="*/ 704879 h 1191542"/>
                <a:gd name="connsiteX11" fmla="*/ 1581150 w 1625078"/>
                <a:gd name="connsiteY11" fmla="*/ 695354 h 1191542"/>
                <a:gd name="connsiteX12" fmla="*/ 1609725 w 1625078"/>
                <a:gd name="connsiteY12" fmla="*/ 695354 h 1191542"/>
                <a:gd name="connsiteX0" fmla="*/ 0 w 1625078"/>
                <a:gd name="connsiteY0" fmla="*/ 723929 h 1191542"/>
                <a:gd name="connsiteX1" fmla="*/ 195263 w 1625078"/>
                <a:gd name="connsiteY1" fmla="*/ 723930 h 1191542"/>
                <a:gd name="connsiteX2" fmla="*/ 276225 w 1625078"/>
                <a:gd name="connsiteY2" fmla="*/ 647729 h 1191542"/>
                <a:gd name="connsiteX3" fmla="*/ 385763 w 1625078"/>
                <a:gd name="connsiteY3" fmla="*/ 719167 h 1191542"/>
                <a:gd name="connsiteX4" fmla="*/ 595313 w 1625078"/>
                <a:gd name="connsiteY4" fmla="*/ 714404 h 1191542"/>
                <a:gd name="connsiteX5" fmla="*/ 666750 w 1625078"/>
                <a:gd name="connsiteY5" fmla="*/ 523904 h 1191542"/>
                <a:gd name="connsiteX6" fmla="*/ 714375 w 1625078"/>
                <a:gd name="connsiteY6" fmla="*/ 1190654 h 1191542"/>
                <a:gd name="connsiteX7" fmla="*/ 809625 w 1625078"/>
                <a:gd name="connsiteY7" fmla="*/ 666779 h 1191542"/>
                <a:gd name="connsiteX8" fmla="*/ 942975 w 1625078"/>
                <a:gd name="connsiteY8" fmla="*/ 676304 h 1191542"/>
                <a:gd name="connsiteX9" fmla="*/ 1123950 w 1625078"/>
                <a:gd name="connsiteY9" fmla="*/ 29 h 1191542"/>
                <a:gd name="connsiteX10" fmla="*/ 1238250 w 1625078"/>
                <a:gd name="connsiteY10" fmla="*/ 704879 h 1191542"/>
                <a:gd name="connsiteX11" fmla="*/ 1581150 w 1625078"/>
                <a:gd name="connsiteY11" fmla="*/ 695354 h 1191542"/>
                <a:gd name="connsiteX12" fmla="*/ 1609725 w 1625078"/>
                <a:gd name="connsiteY12" fmla="*/ 695354 h 1191542"/>
                <a:gd name="connsiteX0" fmla="*/ 0 w 1625078"/>
                <a:gd name="connsiteY0" fmla="*/ 723929 h 1191542"/>
                <a:gd name="connsiteX1" fmla="*/ 195263 w 1625078"/>
                <a:gd name="connsiteY1" fmla="*/ 714405 h 1191542"/>
                <a:gd name="connsiteX2" fmla="*/ 276225 w 1625078"/>
                <a:gd name="connsiteY2" fmla="*/ 647729 h 1191542"/>
                <a:gd name="connsiteX3" fmla="*/ 385763 w 1625078"/>
                <a:gd name="connsiteY3" fmla="*/ 719167 h 1191542"/>
                <a:gd name="connsiteX4" fmla="*/ 595313 w 1625078"/>
                <a:gd name="connsiteY4" fmla="*/ 714404 h 1191542"/>
                <a:gd name="connsiteX5" fmla="*/ 666750 w 1625078"/>
                <a:gd name="connsiteY5" fmla="*/ 523904 h 1191542"/>
                <a:gd name="connsiteX6" fmla="*/ 714375 w 1625078"/>
                <a:gd name="connsiteY6" fmla="*/ 1190654 h 1191542"/>
                <a:gd name="connsiteX7" fmla="*/ 809625 w 1625078"/>
                <a:gd name="connsiteY7" fmla="*/ 666779 h 1191542"/>
                <a:gd name="connsiteX8" fmla="*/ 942975 w 1625078"/>
                <a:gd name="connsiteY8" fmla="*/ 676304 h 1191542"/>
                <a:gd name="connsiteX9" fmla="*/ 1123950 w 1625078"/>
                <a:gd name="connsiteY9" fmla="*/ 29 h 1191542"/>
                <a:gd name="connsiteX10" fmla="*/ 1238250 w 1625078"/>
                <a:gd name="connsiteY10" fmla="*/ 704879 h 1191542"/>
                <a:gd name="connsiteX11" fmla="*/ 1581150 w 1625078"/>
                <a:gd name="connsiteY11" fmla="*/ 695354 h 1191542"/>
                <a:gd name="connsiteX12" fmla="*/ 1609725 w 1625078"/>
                <a:gd name="connsiteY12" fmla="*/ 695354 h 1191542"/>
                <a:gd name="connsiteX0" fmla="*/ 0 w 1625078"/>
                <a:gd name="connsiteY0" fmla="*/ 723930 h 1192355"/>
                <a:gd name="connsiteX1" fmla="*/ 195263 w 1625078"/>
                <a:gd name="connsiteY1" fmla="*/ 714406 h 1192355"/>
                <a:gd name="connsiteX2" fmla="*/ 276225 w 1625078"/>
                <a:gd name="connsiteY2" fmla="*/ 647730 h 1192355"/>
                <a:gd name="connsiteX3" fmla="*/ 385763 w 1625078"/>
                <a:gd name="connsiteY3" fmla="*/ 719168 h 1192355"/>
                <a:gd name="connsiteX4" fmla="*/ 595313 w 1625078"/>
                <a:gd name="connsiteY4" fmla="*/ 714405 h 1192355"/>
                <a:gd name="connsiteX5" fmla="*/ 666750 w 1625078"/>
                <a:gd name="connsiteY5" fmla="*/ 523905 h 1192355"/>
                <a:gd name="connsiteX6" fmla="*/ 714375 w 1625078"/>
                <a:gd name="connsiteY6" fmla="*/ 1190655 h 1192355"/>
                <a:gd name="connsiteX7" fmla="*/ 804862 w 1625078"/>
                <a:gd name="connsiteY7" fmla="*/ 714405 h 1192355"/>
                <a:gd name="connsiteX8" fmla="*/ 942975 w 1625078"/>
                <a:gd name="connsiteY8" fmla="*/ 676305 h 1192355"/>
                <a:gd name="connsiteX9" fmla="*/ 1123950 w 1625078"/>
                <a:gd name="connsiteY9" fmla="*/ 30 h 1192355"/>
                <a:gd name="connsiteX10" fmla="*/ 1238250 w 1625078"/>
                <a:gd name="connsiteY10" fmla="*/ 704880 h 1192355"/>
                <a:gd name="connsiteX11" fmla="*/ 1581150 w 1625078"/>
                <a:gd name="connsiteY11" fmla="*/ 695355 h 1192355"/>
                <a:gd name="connsiteX12" fmla="*/ 1609725 w 1625078"/>
                <a:gd name="connsiteY12" fmla="*/ 695355 h 1192355"/>
                <a:gd name="connsiteX0" fmla="*/ 0 w 1625078"/>
                <a:gd name="connsiteY0" fmla="*/ 723930 h 1192207"/>
                <a:gd name="connsiteX1" fmla="*/ 195263 w 1625078"/>
                <a:gd name="connsiteY1" fmla="*/ 714406 h 1192207"/>
                <a:gd name="connsiteX2" fmla="*/ 276225 w 1625078"/>
                <a:gd name="connsiteY2" fmla="*/ 647730 h 1192207"/>
                <a:gd name="connsiteX3" fmla="*/ 385763 w 1625078"/>
                <a:gd name="connsiteY3" fmla="*/ 719168 h 1192207"/>
                <a:gd name="connsiteX4" fmla="*/ 595313 w 1625078"/>
                <a:gd name="connsiteY4" fmla="*/ 714405 h 1192207"/>
                <a:gd name="connsiteX5" fmla="*/ 666750 w 1625078"/>
                <a:gd name="connsiteY5" fmla="*/ 523905 h 1192207"/>
                <a:gd name="connsiteX6" fmla="*/ 714375 w 1625078"/>
                <a:gd name="connsiteY6" fmla="*/ 1190655 h 1192207"/>
                <a:gd name="connsiteX7" fmla="*/ 804862 w 1625078"/>
                <a:gd name="connsiteY7" fmla="*/ 714405 h 1192207"/>
                <a:gd name="connsiteX8" fmla="*/ 942975 w 1625078"/>
                <a:gd name="connsiteY8" fmla="*/ 676305 h 1192207"/>
                <a:gd name="connsiteX9" fmla="*/ 1123950 w 1625078"/>
                <a:gd name="connsiteY9" fmla="*/ 30 h 1192207"/>
                <a:gd name="connsiteX10" fmla="*/ 1238250 w 1625078"/>
                <a:gd name="connsiteY10" fmla="*/ 704880 h 1192207"/>
                <a:gd name="connsiteX11" fmla="*/ 1581150 w 1625078"/>
                <a:gd name="connsiteY11" fmla="*/ 695355 h 1192207"/>
                <a:gd name="connsiteX12" fmla="*/ 1609725 w 1625078"/>
                <a:gd name="connsiteY12" fmla="*/ 695355 h 1192207"/>
                <a:gd name="connsiteX0" fmla="*/ 0 w 1625078"/>
                <a:gd name="connsiteY0" fmla="*/ 723927 h 1192204"/>
                <a:gd name="connsiteX1" fmla="*/ 195263 w 1625078"/>
                <a:gd name="connsiteY1" fmla="*/ 714403 h 1192204"/>
                <a:gd name="connsiteX2" fmla="*/ 276225 w 1625078"/>
                <a:gd name="connsiteY2" fmla="*/ 647727 h 1192204"/>
                <a:gd name="connsiteX3" fmla="*/ 385763 w 1625078"/>
                <a:gd name="connsiteY3" fmla="*/ 719165 h 1192204"/>
                <a:gd name="connsiteX4" fmla="*/ 595313 w 1625078"/>
                <a:gd name="connsiteY4" fmla="*/ 714402 h 1192204"/>
                <a:gd name="connsiteX5" fmla="*/ 666750 w 1625078"/>
                <a:gd name="connsiteY5" fmla="*/ 523902 h 1192204"/>
                <a:gd name="connsiteX6" fmla="*/ 714375 w 1625078"/>
                <a:gd name="connsiteY6" fmla="*/ 1190652 h 1192204"/>
                <a:gd name="connsiteX7" fmla="*/ 804862 w 1625078"/>
                <a:gd name="connsiteY7" fmla="*/ 714402 h 1192204"/>
                <a:gd name="connsiteX8" fmla="*/ 942975 w 1625078"/>
                <a:gd name="connsiteY8" fmla="*/ 676302 h 1192204"/>
                <a:gd name="connsiteX9" fmla="*/ 1123950 w 1625078"/>
                <a:gd name="connsiteY9" fmla="*/ 27 h 1192204"/>
                <a:gd name="connsiteX10" fmla="*/ 1238250 w 1625078"/>
                <a:gd name="connsiteY10" fmla="*/ 704877 h 1192204"/>
                <a:gd name="connsiteX11" fmla="*/ 1581150 w 1625078"/>
                <a:gd name="connsiteY11" fmla="*/ 695352 h 1192204"/>
                <a:gd name="connsiteX12" fmla="*/ 1609725 w 1625078"/>
                <a:gd name="connsiteY12" fmla="*/ 695352 h 1192204"/>
                <a:gd name="connsiteX0" fmla="*/ 0 w 1625078"/>
                <a:gd name="connsiteY0" fmla="*/ 723927 h 1192204"/>
                <a:gd name="connsiteX1" fmla="*/ 195263 w 1625078"/>
                <a:gd name="connsiteY1" fmla="*/ 714403 h 1192204"/>
                <a:gd name="connsiteX2" fmla="*/ 276225 w 1625078"/>
                <a:gd name="connsiteY2" fmla="*/ 647727 h 1192204"/>
                <a:gd name="connsiteX3" fmla="*/ 385763 w 1625078"/>
                <a:gd name="connsiteY3" fmla="*/ 719165 h 1192204"/>
                <a:gd name="connsiteX4" fmla="*/ 595313 w 1625078"/>
                <a:gd name="connsiteY4" fmla="*/ 714402 h 1192204"/>
                <a:gd name="connsiteX5" fmla="*/ 666750 w 1625078"/>
                <a:gd name="connsiteY5" fmla="*/ 523902 h 1192204"/>
                <a:gd name="connsiteX6" fmla="*/ 714375 w 1625078"/>
                <a:gd name="connsiteY6" fmla="*/ 1190652 h 1192204"/>
                <a:gd name="connsiteX7" fmla="*/ 804862 w 1625078"/>
                <a:gd name="connsiteY7" fmla="*/ 714402 h 1192204"/>
                <a:gd name="connsiteX8" fmla="*/ 942975 w 1625078"/>
                <a:gd name="connsiteY8" fmla="*/ 676302 h 1192204"/>
                <a:gd name="connsiteX9" fmla="*/ 1123950 w 1625078"/>
                <a:gd name="connsiteY9" fmla="*/ 27 h 1192204"/>
                <a:gd name="connsiteX10" fmla="*/ 1238250 w 1625078"/>
                <a:gd name="connsiteY10" fmla="*/ 704877 h 1192204"/>
                <a:gd name="connsiteX11" fmla="*/ 1581150 w 1625078"/>
                <a:gd name="connsiteY11" fmla="*/ 695352 h 1192204"/>
                <a:gd name="connsiteX12" fmla="*/ 1609725 w 1625078"/>
                <a:gd name="connsiteY12" fmla="*/ 695352 h 1192204"/>
                <a:gd name="connsiteX0" fmla="*/ 0 w 1625078"/>
                <a:gd name="connsiteY0" fmla="*/ 704881 h 1173158"/>
                <a:gd name="connsiteX1" fmla="*/ 195263 w 1625078"/>
                <a:gd name="connsiteY1" fmla="*/ 695357 h 1173158"/>
                <a:gd name="connsiteX2" fmla="*/ 276225 w 1625078"/>
                <a:gd name="connsiteY2" fmla="*/ 628681 h 1173158"/>
                <a:gd name="connsiteX3" fmla="*/ 385763 w 1625078"/>
                <a:gd name="connsiteY3" fmla="*/ 700119 h 1173158"/>
                <a:gd name="connsiteX4" fmla="*/ 595313 w 1625078"/>
                <a:gd name="connsiteY4" fmla="*/ 695356 h 1173158"/>
                <a:gd name="connsiteX5" fmla="*/ 666750 w 1625078"/>
                <a:gd name="connsiteY5" fmla="*/ 504856 h 1173158"/>
                <a:gd name="connsiteX6" fmla="*/ 714375 w 1625078"/>
                <a:gd name="connsiteY6" fmla="*/ 1171606 h 1173158"/>
                <a:gd name="connsiteX7" fmla="*/ 804862 w 1625078"/>
                <a:gd name="connsiteY7" fmla="*/ 695356 h 1173158"/>
                <a:gd name="connsiteX8" fmla="*/ 942975 w 1625078"/>
                <a:gd name="connsiteY8" fmla="*/ 657256 h 1173158"/>
                <a:gd name="connsiteX9" fmla="*/ 1109662 w 1625078"/>
                <a:gd name="connsiteY9" fmla="*/ 31 h 1173158"/>
                <a:gd name="connsiteX10" fmla="*/ 1238250 w 1625078"/>
                <a:gd name="connsiteY10" fmla="*/ 685831 h 1173158"/>
                <a:gd name="connsiteX11" fmla="*/ 1581150 w 1625078"/>
                <a:gd name="connsiteY11" fmla="*/ 676306 h 1173158"/>
                <a:gd name="connsiteX12" fmla="*/ 1609725 w 1625078"/>
                <a:gd name="connsiteY12" fmla="*/ 676306 h 1173158"/>
                <a:gd name="connsiteX0" fmla="*/ 0 w 1625078"/>
                <a:gd name="connsiteY0" fmla="*/ 704878 h 1173155"/>
                <a:gd name="connsiteX1" fmla="*/ 195263 w 1625078"/>
                <a:gd name="connsiteY1" fmla="*/ 695354 h 1173155"/>
                <a:gd name="connsiteX2" fmla="*/ 276225 w 1625078"/>
                <a:gd name="connsiteY2" fmla="*/ 628678 h 1173155"/>
                <a:gd name="connsiteX3" fmla="*/ 385763 w 1625078"/>
                <a:gd name="connsiteY3" fmla="*/ 700116 h 1173155"/>
                <a:gd name="connsiteX4" fmla="*/ 595313 w 1625078"/>
                <a:gd name="connsiteY4" fmla="*/ 695353 h 1173155"/>
                <a:gd name="connsiteX5" fmla="*/ 666750 w 1625078"/>
                <a:gd name="connsiteY5" fmla="*/ 504853 h 1173155"/>
                <a:gd name="connsiteX6" fmla="*/ 714375 w 1625078"/>
                <a:gd name="connsiteY6" fmla="*/ 1171603 h 1173155"/>
                <a:gd name="connsiteX7" fmla="*/ 804862 w 1625078"/>
                <a:gd name="connsiteY7" fmla="*/ 695353 h 1173155"/>
                <a:gd name="connsiteX8" fmla="*/ 942975 w 1625078"/>
                <a:gd name="connsiteY8" fmla="*/ 657253 h 1173155"/>
                <a:gd name="connsiteX9" fmla="*/ 1109662 w 1625078"/>
                <a:gd name="connsiteY9" fmla="*/ 28 h 1173155"/>
                <a:gd name="connsiteX10" fmla="*/ 1238250 w 1625078"/>
                <a:gd name="connsiteY10" fmla="*/ 685828 h 1173155"/>
                <a:gd name="connsiteX11" fmla="*/ 1581150 w 1625078"/>
                <a:gd name="connsiteY11" fmla="*/ 676303 h 1173155"/>
                <a:gd name="connsiteX12" fmla="*/ 1609725 w 1625078"/>
                <a:gd name="connsiteY12" fmla="*/ 676303 h 1173155"/>
                <a:gd name="connsiteX0" fmla="*/ 0 w 1625078"/>
                <a:gd name="connsiteY0" fmla="*/ 704878 h 1173155"/>
                <a:gd name="connsiteX1" fmla="*/ 195263 w 1625078"/>
                <a:gd name="connsiteY1" fmla="*/ 695354 h 1173155"/>
                <a:gd name="connsiteX2" fmla="*/ 276225 w 1625078"/>
                <a:gd name="connsiteY2" fmla="*/ 628678 h 1173155"/>
                <a:gd name="connsiteX3" fmla="*/ 385763 w 1625078"/>
                <a:gd name="connsiteY3" fmla="*/ 700116 h 1173155"/>
                <a:gd name="connsiteX4" fmla="*/ 595313 w 1625078"/>
                <a:gd name="connsiteY4" fmla="*/ 695353 h 1173155"/>
                <a:gd name="connsiteX5" fmla="*/ 666750 w 1625078"/>
                <a:gd name="connsiteY5" fmla="*/ 504853 h 1173155"/>
                <a:gd name="connsiteX6" fmla="*/ 714375 w 1625078"/>
                <a:gd name="connsiteY6" fmla="*/ 1171603 h 1173155"/>
                <a:gd name="connsiteX7" fmla="*/ 804862 w 1625078"/>
                <a:gd name="connsiteY7" fmla="*/ 695353 h 1173155"/>
                <a:gd name="connsiteX8" fmla="*/ 942975 w 1625078"/>
                <a:gd name="connsiteY8" fmla="*/ 657253 h 1173155"/>
                <a:gd name="connsiteX9" fmla="*/ 1109662 w 1625078"/>
                <a:gd name="connsiteY9" fmla="*/ 28 h 1173155"/>
                <a:gd name="connsiteX10" fmla="*/ 1238250 w 1625078"/>
                <a:gd name="connsiteY10" fmla="*/ 685828 h 1173155"/>
                <a:gd name="connsiteX11" fmla="*/ 1581150 w 1625078"/>
                <a:gd name="connsiteY11" fmla="*/ 676303 h 1173155"/>
                <a:gd name="connsiteX12" fmla="*/ 1609725 w 1625078"/>
                <a:gd name="connsiteY12" fmla="*/ 676303 h 1173155"/>
                <a:gd name="connsiteX0" fmla="*/ 0 w 1625078"/>
                <a:gd name="connsiteY0" fmla="*/ 704850 h 1173127"/>
                <a:gd name="connsiteX1" fmla="*/ 195263 w 1625078"/>
                <a:gd name="connsiteY1" fmla="*/ 695326 h 1173127"/>
                <a:gd name="connsiteX2" fmla="*/ 276225 w 1625078"/>
                <a:gd name="connsiteY2" fmla="*/ 628650 h 1173127"/>
                <a:gd name="connsiteX3" fmla="*/ 385763 w 1625078"/>
                <a:gd name="connsiteY3" fmla="*/ 700088 h 1173127"/>
                <a:gd name="connsiteX4" fmla="*/ 595313 w 1625078"/>
                <a:gd name="connsiteY4" fmla="*/ 695325 h 1173127"/>
                <a:gd name="connsiteX5" fmla="*/ 666750 w 1625078"/>
                <a:gd name="connsiteY5" fmla="*/ 504825 h 1173127"/>
                <a:gd name="connsiteX6" fmla="*/ 714375 w 1625078"/>
                <a:gd name="connsiteY6" fmla="*/ 1171575 h 1173127"/>
                <a:gd name="connsiteX7" fmla="*/ 804862 w 1625078"/>
                <a:gd name="connsiteY7" fmla="*/ 695325 h 1173127"/>
                <a:gd name="connsiteX8" fmla="*/ 942975 w 1625078"/>
                <a:gd name="connsiteY8" fmla="*/ 657225 h 1173127"/>
                <a:gd name="connsiteX9" fmla="*/ 1109662 w 1625078"/>
                <a:gd name="connsiteY9" fmla="*/ 0 h 1173127"/>
                <a:gd name="connsiteX10" fmla="*/ 1233487 w 1625078"/>
                <a:gd name="connsiteY10" fmla="*/ 657225 h 1173127"/>
                <a:gd name="connsiteX11" fmla="*/ 1581150 w 1625078"/>
                <a:gd name="connsiteY11" fmla="*/ 676275 h 1173127"/>
                <a:gd name="connsiteX12" fmla="*/ 1609725 w 1625078"/>
                <a:gd name="connsiteY12" fmla="*/ 676275 h 1173127"/>
                <a:gd name="connsiteX0" fmla="*/ 0 w 1581150"/>
                <a:gd name="connsiteY0" fmla="*/ 704850 h 1173127"/>
                <a:gd name="connsiteX1" fmla="*/ 195263 w 1581150"/>
                <a:gd name="connsiteY1" fmla="*/ 695326 h 1173127"/>
                <a:gd name="connsiteX2" fmla="*/ 276225 w 1581150"/>
                <a:gd name="connsiteY2" fmla="*/ 628650 h 1173127"/>
                <a:gd name="connsiteX3" fmla="*/ 385763 w 1581150"/>
                <a:gd name="connsiteY3" fmla="*/ 700088 h 1173127"/>
                <a:gd name="connsiteX4" fmla="*/ 595313 w 1581150"/>
                <a:gd name="connsiteY4" fmla="*/ 695325 h 1173127"/>
                <a:gd name="connsiteX5" fmla="*/ 666750 w 1581150"/>
                <a:gd name="connsiteY5" fmla="*/ 504825 h 1173127"/>
                <a:gd name="connsiteX6" fmla="*/ 714375 w 1581150"/>
                <a:gd name="connsiteY6" fmla="*/ 1171575 h 1173127"/>
                <a:gd name="connsiteX7" fmla="*/ 804862 w 1581150"/>
                <a:gd name="connsiteY7" fmla="*/ 695325 h 1173127"/>
                <a:gd name="connsiteX8" fmla="*/ 942975 w 1581150"/>
                <a:gd name="connsiteY8" fmla="*/ 657225 h 1173127"/>
                <a:gd name="connsiteX9" fmla="*/ 1109662 w 1581150"/>
                <a:gd name="connsiteY9" fmla="*/ 0 h 1173127"/>
                <a:gd name="connsiteX10" fmla="*/ 1233487 w 1581150"/>
                <a:gd name="connsiteY10" fmla="*/ 657225 h 1173127"/>
                <a:gd name="connsiteX11" fmla="*/ 1581150 w 1581150"/>
                <a:gd name="connsiteY11" fmla="*/ 676275 h 1173127"/>
                <a:gd name="connsiteX0" fmla="*/ 0 w 1581150"/>
                <a:gd name="connsiteY0" fmla="*/ 704850 h 1173272"/>
                <a:gd name="connsiteX1" fmla="*/ 195263 w 1581150"/>
                <a:gd name="connsiteY1" fmla="*/ 695326 h 1173272"/>
                <a:gd name="connsiteX2" fmla="*/ 276225 w 1581150"/>
                <a:gd name="connsiteY2" fmla="*/ 628650 h 1173272"/>
                <a:gd name="connsiteX3" fmla="*/ 385763 w 1581150"/>
                <a:gd name="connsiteY3" fmla="*/ 700088 h 1173272"/>
                <a:gd name="connsiteX4" fmla="*/ 595313 w 1581150"/>
                <a:gd name="connsiteY4" fmla="*/ 695325 h 1173272"/>
                <a:gd name="connsiteX5" fmla="*/ 666750 w 1581150"/>
                <a:gd name="connsiteY5" fmla="*/ 504825 h 1173272"/>
                <a:gd name="connsiteX6" fmla="*/ 714375 w 1581150"/>
                <a:gd name="connsiteY6" fmla="*/ 1171575 h 1173272"/>
                <a:gd name="connsiteX7" fmla="*/ 804862 w 1581150"/>
                <a:gd name="connsiteY7" fmla="*/ 695325 h 1173272"/>
                <a:gd name="connsiteX8" fmla="*/ 966788 w 1581150"/>
                <a:gd name="connsiteY8" fmla="*/ 661987 h 1173272"/>
                <a:gd name="connsiteX9" fmla="*/ 1109662 w 1581150"/>
                <a:gd name="connsiteY9" fmla="*/ 0 h 1173272"/>
                <a:gd name="connsiteX10" fmla="*/ 1233487 w 1581150"/>
                <a:gd name="connsiteY10" fmla="*/ 657225 h 1173272"/>
                <a:gd name="connsiteX11" fmla="*/ 1581150 w 1581150"/>
                <a:gd name="connsiteY11" fmla="*/ 676275 h 1173272"/>
                <a:gd name="connsiteX0" fmla="*/ 0 w 1581150"/>
                <a:gd name="connsiteY0" fmla="*/ 704850 h 1173054"/>
                <a:gd name="connsiteX1" fmla="*/ 195263 w 1581150"/>
                <a:gd name="connsiteY1" fmla="*/ 695326 h 1173054"/>
                <a:gd name="connsiteX2" fmla="*/ 276225 w 1581150"/>
                <a:gd name="connsiteY2" fmla="*/ 628650 h 1173054"/>
                <a:gd name="connsiteX3" fmla="*/ 385763 w 1581150"/>
                <a:gd name="connsiteY3" fmla="*/ 700088 h 1173054"/>
                <a:gd name="connsiteX4" fmla="*/ 595313 w 1581150"/>
                <a:gd name="connsiteY4" fmla="*/ 695325 h 1173054"/>
                <a:gd name="connsiteX5" fmla="*/ 666750 w 1581150"/>
                <a:gd name="connsiteY5" fmla="*/ 504825 h 1173054"/>
                <a:gd name="connsiteX6" fmla="*/ 714375 w 1581150"/>
                <a:gd name="connsiteY6" fmla="*/ 1171575 h 1173054"/>
                <a:gd name="connsiteX7" fmla="*/ 804862 w 1581150"/>
                <a:gd name="connsiteY7" fmla="*/ 695325 h 1173054"/>
                <a:gd name="connsiteX8" fmla="*/ 966788 w 1581150"/>
                <a:gd name="connsiteY8" fmla="*/ 661987 h 1173054"/>
                <a:gd name="connsiteX9" fmla="*/ 1109662 w 1581150"/>
                <a:gd name="connsiteY9" fmla="*/ 0 h 1173054"/>
                <a:gd name="connsiteX10" fmla="*/ 1233487 w 1581150"/>
                <a:gd name="connsiteY10" fmla="*/ 657225 h 1173054"/>
                <a:gd name="connsiteX11" fmla="*/ 1581150 w 1581150"/>
                <a:gd name="connsiteY11" fmla="*/ 676275 h 1173054"/>
                <a:gd name="connsiteX0" fmla="*/ 0 w 1581150"/>
                <a:gd name="connsiteY0" fmla="*/ 711464 h 1179668"/>
                <a:gd name="connsiteX1" fmla="*/ 195263 w 1581150"/>
                <a:gd name="connsiteY1" fmla="*/ 701940 h 1179668"/>
                <a:gd name="connsiteX2" fmla="*/ 276225 w 1581150"/>
                <a:gd name="connsiteY2" fmla="*/ 635264 h 1179668"/>
                <a:gd name="connsiteX3" fmla="*/ 385763 w 1581150"/>
                <a:gd name="connsiteY3" fmla="*/ 706702 h 1179668"/>
                <a:gd name="connsiteX4" fmla="*/ 595313 w 1581150"/>
                <a:gd name="connsiteY4" fmla="*/ 701939 h 1179668"/>
                <a:gd name="connsiteX5" fmla="*/ 666750 w 1581150"/>
                <a:gd name="connsiteY5" fmla="*/ 511439 h 1179668"/>
                <a:gd name="connsiteX6" fmla="*/ 714375 w 1581150"/>
                <a:gd name="connsiteY6" fmla="*/ 1178189 h 1179668"/>
                <a:gd name="connsiteX7" fmla="*/ 804862 w 1581150"/>
                <a:gd name="connsiteY7" fmla="*/ 701939 h 1179668"/>
                <a:gd name="connsiteX8" fmla="*/ 966788 w 1581150"/>
                <a:gd name="connsiteY8" fmla="*/ 668601 h 1179668"/>
                <a:gd name="connsiteX9" fmla="*/ 1109662 w 1581150"/>
                <a:gd name="connsiteY9" fmla="*/ 6614 h 1179668"/>
                <a:gd name="connsiteX10" fmla="*/ 1233487 w 1581150"/>
                <a:gd name="connsiteY10" fmla="*/ 663839 h 1179668"/>
                <a:gd name="connsiteX11" fmla="*/ 1581150 w 1581150"/>
                <a:gd name="connsiteY11" fmla="*/ 682889 h 1179668"/>
                <a:gd name="connsiteX0" fmla="*/ 0 w 1581150"/>
                <a:gd name="connsiteY0" fmla="*/ 711464 h 1179668"/>
                <a:gd name="connsiteX1" fmla="*/ 195263 w 1581150"/>
                <a:gd name="connsiteY1" fmla="*/ 701940 h 1179668"/>
                <a:gd name="connsiteX2" fmla="*/ 385763 w 1581150"/>
                <a:gd name="connsiteY2" fmla="*/ 706702 h 1179668"/>
                <a:gd name="connsiteX3" fmla="*/ 595313 w 1581150"/>
                <a:gd name="connsiteY3" fmla="*/ 701939 h 1179668"/>
                <a:gd name="connsiteX4" fmla="*/ 666750 w 1581150"/>
                <a:gd name="connsiteY4" fmla="*/ 511439 h 1179668"/>
                <a:gd name="connsiteX5" fmla="*/ 714375 w 1581150"/>
                <a:gd name="connsiteY5" fmla="*/ 1178189 h 1179668"/>
                <a:gd name="connsiteX6" fmla="*/ 804862 w 1581150"/>
                <a:gd name="connsiteY6" fmla="*/ 701939 h 1179668"/>
                <a:gd name="connsiteX7" fmla="*/ 966788 w 1581150"/>
                <a:gd name="connsiteY7" fmla="*/ 668601 h 1179668"/>
                <a:gd name="connsiteX8" fmla="*/ 1109662 w 1581150"/>
                <a:gd name="connsiteY8" fmla="*/ 6614 h 1179668"/>
                <a:gd name="connsiteX9" fmla="*/ 1233487 w 1581150"/>
                <a:gd name="connsiteY9" fmla="*/ 663839 h 1179668"/>
                <a:gd name="connsiteX10" fmla="*/ 1581150 w 1581150"/>
                <a:gd name="connsiteY10" fmla="*/ 682889 h 1179668"/>
                <a:gd name="connsiteX0" fmla="*/ 0 w 1581150"/>
                <a:gd name="connsiteY0" fmla="*/ 711464 h 1179668"/>
                <a:gd name="connsiteX1" fmla="*/ 195263 w 1581150"/>
                <a:gd name="connsiteY1" fmla="*/ 701940 h 1179668"/>
                <a:gd name="connsiteX2" fmla="*/ 385763 w 1581150"/>
                <a:gd name="connsiteY2" fmla="*/ 706702 h 1179668"/>
                <a:gd name="connsiteX3" fmla="*/ 535131 w 1581150"/>
                <a:gd name="connsiteY3" fmla="*/ 701939 h 1179668"/>
                <a:gd name="connsiteX4" fmla="*/ 666750 w 1581150"/>
                <a:gd name="connsiteY4" fmla="*/ 511439 h 1179668"/>
                <a:gd name="connsiteX5" fmla="*/ 714375 w 1581150"/>
                <a:gd name="connsiteY5" fmla="*/ 1178189 h 1179668"/>
                <a:gd name="connsiteX6" fmla="*/ 804862 w 1581150"/>
                <a:gd name="connsiteY6" fmla="*/ 701939 h 1179668"/>
                <a:gd name="connsiteX7" fmla="*/ 966788 w 1581150"/>
                <a:gd name="connsiteY7" fmla="*/ 668601 h 1179668"/>
                <a:gd name="connsiteX8" fmla="*/ 1109662 w 1581150"/>
                <a:gd name="connsiteY8" fmla="*/ 6614 h 1179668"/>
                <a:gd name="connsiteX9" fmla="*/ 1233487 w 1581150"/>
                <a:gd name="connsiteY9" fmla="*/ 663839 h 1179668"/>
                <a:gd name="connsiteX10" fmla="*/ 1581150 w 1581150"/>
                <a:gd name="connsiteY10" fmla="*/ 682889 h 1179668"/>
                <a:gd name="connsiteX0" fmla="*/ 0 w 1581150"/>
                <a:gd name="connsiteY0" fmla="*/ 711464 h 1179668"/>
                <a:gd name="connsiteX1" fmla="*/ 195263 w 1581150"/>
                <a:gd name="connsiteY1" fmla="*/ 701940 h 1179668"/>
                <a:gd name="connsiteX2" fmla="*/ 385763 w 1581150"/>
                <a:gd name="connsiteY2" fmla="*/ 706702 h 1179668"/>
                <a:gd name="connsiteX3" fmla="*/ 535131 w 1581150"/>
                <a:gd name="connsiteY3" fmla="*/ 701939 h 1179668"/>
                <a:gd name="connsiteX4" fmla="*/ 666750 w 1581150"/>
                <a:gd name="connsiteY4" fmla="*/ 511439 h 1179668"/>
                <a:gd name="connsiteX5" fmla="*/ 714375 w 1581150"/>
                <a:gd name="connsiteY5" fmla="*/ 1178189 h 1179668"/>
                <a:gd name="connsiteX6" fmla="*/ 847849 w 1581150"/>
                <a:gd name="connsiteY6" fmla="*/ 701939 h 1179668"/>
                <a:gd name="connsiteX7" fmla="*/ 966788 w 1581150"/>
                <a:gd name="connsiteY7" fmla="*/ 668601 h 1179668"/>
                <a:gd name="connsiteX8" fmla="*/ 1109662 w 1581150"/>
                <a:gd name="connsiteY8" fmla="*/ 6614 h 1179668"/>
                <a:gd name="connsiteX9" fmla="*/ 1233487 w 1581150"/>
                <a:gd name="connsiteY9" fmla="*/ 663839 h 1179668"/>
                <a:gd name="connsiteX10" fmla="*/ 1581150 w 1581150"/>
                <a:gd name="connsiteY10" fmla="*/ 682889 h 1179668"/>
                <a:gd name="connsiteX0" fmla="*/ 0 w 1581150"/>
                <a:gd name="connsiteY0" fmla="*/ 579114 h 1047318"/>
                <a:gd name="connsiteX1" fmla="*/ 195263 w 1581150"/>
                <a:gd name="connsiteY1" fmla="*/ 569590 h 1047318"/>
                <a:gd name="connsiteX2" fmla="*/ 385763 w 1581150"/>
                <a:gd name="connsiteY2" fmla="*/ 574352 h 1047318"/>
                <a:gd name="connsiteX3" fmla="*/ 535131 w 1581150"/>
                <a:gd name="connsiteY3" fmla="*/ 569589 h 1047318"/>
                <a:gd name="connsiteX4" fmla="*/ 666750 w 1581150"/>
                <a:gd name="connsiteY4" fmla="*/ 379089 h 1047318"/>
                <a:gd name="connsiteX5" fmla="*/ 714375 w 1581150"/>
                <a:gd name="connsiteY5" fmla="*/ 1045839 h 1047318"/>
                <a:gd name="connsiteX6" fmla="*/ 847849 w 1581150"/>
                <a:gd name="connsiteY6" fmla="*/ 569589 h 1047318"/>
                <a:gd name="connsiteX7" fmla="*/ 966788 w 1581150"/>
                <a:gd name="connsiteY7" fmla="*/ 536251 h 1047318"/>
                <a:gd name="connsiteX8" fmla="*/ 1152649 w 1581150"/>
                <a:gd name="connsiteY8" fmla="*/ 8774 h 1047318"/>
                <a:gd name="connsiteX9" fmla="*/ 1233487 w 1581150"/>
                <a:gd name="connsiteY9" fmla="*/ 531489 h 1047318"/>
                <a:gd name="connsiteX10" fmla="*/ 1581150 w 1581150"/>
                <a:gd name="connsiteY10" fmla="*/ 550539 h 1047318"/>
                <a:gd name="connsiteX0" fmla="*/ 0 w 1581150"/>
                <a:gd name="connsiteY0" fmla="*/ 570342 h 1038546"/>
                <a:gd name="connsiteX1" fmla="*/ 195263 w 1581150"/>
                <a:gd name="connsiteY1" fmla="*/ 560818 h 1038546"/>
                <a:gd name="connsiteX2" fmla="*/ 385763 w 1581150"/>
                <a:gd name="connsiteY2" fmla="*/ 565580 h 1038546"/>
                <a:gd name="connsiteX3" fmla="*/ 535131 w 1581150"/>
                <a:gd name="connsiteY3" fmla="*/ 560817 h 1038546"/>
                <a:gd name="connsiteX4" fmla="*/ 666750 w 1581150"/>
                <a:gd name="connsiteY4" fmla="*/ 370317 h 1038546"/>
                <a:gd name="connsiteX5" fmla="*/ 714375 w 1581150"/>
                <a:gd name="connsiteY5" fmla="*/ 1037067 h 1038546"/>
                <a:gd name="connsiteX6" fmla="*/ 847849 w 1581150"/>
                <a:gd name="connsiteY6" fmla="*/ 560817 h 1038546"/>
                <a:gd name="connsiteX7" fmla="*/ 966788 w 1581150"/>
                <a:gd name="connsiteY7" fmla="*/ 527479 h 1038546"/>
                <a:gd name="connsiteX8" fmla="*/ 1152649 w 1581150"/>
                <a:gd name="connsiteY8" fmla="*/ 2 h 1038546"/>
                <a:gd name="connsiteX9" fmla="*/ 1328058 w 1581150"/>
                <a:gd name="connsiteY9" fmla="*/ 522718 h 1038546"/>
                <a:gd name="connsiteX10" fmla="*/ 1581150 w 1581150"/>
                <a:gd name="connsiteY10" fmla="*/ 541767 h 103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81150" h="1038546">
                  <a:moveTo>
                    <a:pt x="0" y="570342"/>
                  </a:moveTo>
                  <a:cubicBezTo>
                    <a:pt x="29369" y="566373"/>
                    <a:pt x="130969" y="561612"/>
                    <a:pt x="195263" y="560818"/>
                  </a:cubicBezTo>
                  <a:cubicBezTo>
                    <a:pt x="259557" y="560024"/>
                    <a:pt x="319088" y="565580"/>
                    <a:pt x="385763" y="565580"/>
                  </a:cubicBezTo>
                  <a:cubicBezTo>
                    <a:pt x="452438" y="565580"/>
                    <a:pt x="478775" y="569549"/>
                    <a:pt x="535131" y="560817"/>
                  </a:cubicBezTo>
                  <a:cubicBezTo>
                    <a:pt x="591487" y="552085"/>
                    <a:pt x="636876" y="290942"/>
                    <a:pt x="666750" y="370317"/>
                  </a:cubicBezTo>
                  <a:cubicBezTo>
                    <a:pt x="696624" y="449692"/>
                    <a:pt x="684192" y="1005317"/>
                    <a:pt x="714375" y="1037067"/>
                  </a:cubicBezTo>
                  <a:cubicBezTo>
                    <a:pt x="744558" y="1068817"/>
                    <a:pt x="820068" y="579073"/>
                    <a:pt x="847849" y="560817"/>
                  </a:cubicBezTo>
                  <a:cubicBezTo>
                    <a:pt x="875630" y="542561"/>
                    <a:pt x="915988" y="620948"/>
                    <a:pt x="966788" y="527479"/>
                  </a:cubicBezTo>
                  <a:cubicBezTo>
                    <a:pt x="1017588" y="434010"/>
                    <a:pt x="1092437" y="795"/>
                    <a:pt x="1152649" y="2"/>
                  </a:cubicBezTo>
                  <a:cubicBezTo>
                    <a:pt x="1212861" y="-791"/>
                    <a:pt x="1256641" y="432424"/>
                    <a:pt x="1328058" y="522718"/>
                  </a:cubicBezTo>
                  <a:cubicBezTo>
                    <a:pt x="1399475" y="613012"/>
                    <a:pt x="1581150" y="541767"/>
                    <a:pt x="1581150" y="541767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18DAE54-8BB9-4AA9-AFE7-FDB4CFD62FB8}"/>
                </a:ext>
              </a:extLst>
            </p:cNvPr>
            <p:cNvSpPr txBox="1"/>
            <p:nvPr/>
          </p:nvSpPr>
          <p:spPr>
            <a:xfrm>
              <a:off x="7469272" y="2144616"/>
              <a:ext cx="224245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Loss of P waves</a:t>
              </a:r>
            </a:p>
            <a:p>
              <a:pPr algn="ctr"/>
              <a:r>
                <a:rPr lang="en-US" dirty="0"/>
                <a:t>QRS widens further</a:t>
              </a:r>
            </a:p>
          </p:txBody>
        </p:sp>
        <p:sp>
          <p:nvSpPr>
            <p:cNvPr id="101" name="Arrow: Right 100">
              <a:extLst>
                <a:ext uri="{FF2B5EF4-FFF2-40B4-BE49-F238E27FC236}">
                  <a16:creationId xmlns:a16="http://schemas.microsoft.com/office/drawing/2014/main" id="{0DFED147-F4EE-4B0E-96CC-F87C3EC1AEB0}"/>
                </a:ext>
              </a:extLst>
            </p:cNvPr>
            <p:cNvSpPr/>
            <p:nvPr/>
          </p:nvSpPr>
          <p:spPr>
            <a:xfrm>
              <a:off x="7239956" y="1450666"/>
              <a:ext cx="493793" cy="349826"/>
            </a:xfrm>
            <a:prstGeom prst="right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29361C78-6B69-4663-9F53-4C93C5B4EFB1}"/>
                </a:ext>
              </a:extLst>
            </p:cNvPr>
            <p:cNvSpPr/>
            <p:nvPr/>
          </p:nvSpPr>
          <p:spPr>
            <a:xfrm>
              <a:off x="5524609" y="1227551"/>
              <a:ext cx="1477597" cy="815928"/>
            </a:xfrm>
            <a:custGeom>
              <a:avLst/>
              <a:gdLst>
                <a:gd name="connsiteX0" fmla="*/ 0 w 1472678"/>
                <a:gd name="connsiteY0" fmla="*/ 714404 h 1191542"/>
                <a:gd name="connsiteX1" fmla="*/ 447675 w 1472678"/>
                <a:gd name="connsiteY1" fmla="*/ 714404 h 1191542"/>
                <a:gd name="connsiteX2" fmla="*/ 514350 w 1472678"/>
                <a:gd name="connsiteY2" fmla="*/ 523904 h 1191542"/>
                <a:gd name="connsiteX3" fmla="*/ 561975 w 1472678"/>
                <a:gd name="connsiteY3" fmla="*/ 1190654 h 1191542"/>
                <a:gd name="connsiteX4" fmla="*/ 657225 w 1472678"/>
                <a:gd name="connsiteY4" fmla="*/ 666779 h 1191542"/>
                <a:gd name="connsiteX5" fmla="*/ 790575 w 1472678"/>
                <a:gd name="connsiteY5" fmla="*/ 676304 h 1191542"/>
                <a:gd name="connsiteX6" fmla="*/ 971550 w 1472678"/>
                <a:gd name="connsiteY6" fmla="*/ 29 h 1191542"/>
                <a:gd name="connsiteX7" fmla="*/ 1085850 w 1472678"/>
                <a:gd name="connsiteY7" fmla="*/ 704879 h 1191542"/>
                <a:gd name="connsiteX8" fmla="*/ 1428750 w 1472678"/>
                <a:gd name="connsiteY8" fmla="*/ 695354 h 1191542"/>
                <a:gd name="connsiteX9" fmla="*/ 1457325 w 1472678"/>
                <a:gd name="connsiteY9" fmla="*/ 695354 h 1191542"/>
                <a:gd name="connsiteX0" fmla="*/ 0 w 1625078"/>
                <a:gd name="connsiteY0" fmla="*/ 723929 h 1191542"/>
                <a:gd name="connsiteX1" fmla="*/ 600075 w 1625078"/>
                <a:gd name="connsiteY1" fmla="*/ 714404 h 1191542"/>
                <a:gd name="connsiteX2" fmla="*/ 666750 w 1625078"/>
                <a:gd name="connsiteY2" fmla="*/ 523904 h 1191542"/>
                <a:gd name="connsiteX3" fmla="*/ 714375 w 1625078"/>
                <a:gd name="connsiteY3" fmla="*/ 1190654 h 1191542"/>
                <a:gd name="connsiteX4" fmla="*/ 809625 w 1625078"/>
                <a:gd name="connsiteY4" fmla="*/ 666779 h 1191542"/>
                <a:gd name="connsiteX5" fmla="*/ 942975 w 1625078"/>
                <a:gd name="connsiteY5" fmla="*/ 676304 h 1191542"/>
                <a:gd name="connsiteX6" fmla="*/ 1123950 w 1625078"/>
                <a:gd name="connsiteY6" fmla="*/ 29 h 1191542"/>
                <a:gd name="connsiteX7" fmla="*/ 1238250 w 1625078"/>
                <a:gd name="connsiteY7" fmla="*/ 704879 h 1191542"/>
                <a:gd name="connsiteX8" fmla="*/ 1581150 w 1625078"/>
                <a:gd name="connsiteY8" fmla="*/ 695354 h 1191542"/>
                <a:gd name="connsiteX9" fmla="*/ 1609725 w 1625078"/>
                <a:gd name="connsiteY9" fmla="*/ 695354 h 1191542"/>
                <a:gd name="connsiteX0" fmla="*/ 0 w 1625078"/>
                <a:gd name="connsiteY0" fmla="*/ 723929 h 1191542"/>
                <a:gd name="connsiteX1" fmla="*/ 276225 w 1625078"/>
                <a:gd name="connsiteY1" fmla="*/ 647729 h 1191542"/>
                <a:gd name="connsiteX2" fmla="*/ 600075 w 1625078"/>
                <a:gd name="connsiteY2" fmla="*/ 714404 h 1191542"/>
                <a:gd name="connsiteX3" fmla="*/ 666750 w 1625078"/>
                <a:gd name="connsiteY3" fmla="*/ 523904 h 1191542"/>
                <a:gd name="connsiteX4" fmla="*/ 714375 w 1625078"/>
                <a:gd name="connsiteY4" fmla="*/ 1190654 h 1191542"/>
                <a:gd name="connsiteX5" fmla="*/ 809625 w 1625078"/>
                <a:gd name="connsiteY5" fmla="*/ 666779 h 1191542"/>
                <a:gd name="connsiteX6" fmla="*/ 942975 w 1625078"/>
                <a:gd name="connsiteY6" fmla="*/ 676304 h 1191542"/>
                <a:gd name="connsiteX7" fmla="*/ 1123950 w 1625078"/>
                <a:gd name="connsiteY7" fmla="*/ 29 h 1191542"/>
                <a:gd name="connsiteX8" fmla="*/ 1238250 w 1625078"/>
                <a:gd name="connsiteY8" fmla="*/ 704879 h 1191542"/>
                <a:gd name="connsiteX9" fmla="*/ 1581150 w 1625078"/>
                <a:gd name="connsiteY9" fmla="*/ 695354 h 1191542"/>
                <a:gd name="connsiteX10" fmla="*/ 1609725 w 1625078"/>
                <a:gd name="connsiteY10" fmla="*/ 695354 h 1191542"/>
                <a:gd name="connsiteX0" fmla="*/ 0 w 1625078"/>
                <a:gd name="connsiteY0" fmla="*/ 723929 h 1191542"/>
                <a:gd name="connsiteX1" fmla="*/ 276225 w 1625078"/>
                <a:gd name="connsiteY1" fmla="*/ 647729 h 1191542"/>
                <a:gd name="connsiteX2" fmla="*/ 600075 w 1625078"/>
                <a:gd name="connsiteY2" fmla="*/ 714404 h 1191542"/>
                <a:gd name="connsiteX3" fmla="*/ 666750 w 1625078"/>
                <a:gd name="connsiteY3" fmla="*/ 523904 h 1191542"/>
                <a:gd name="connsiteX4" fmla="*/ 714375 w 1625078"/>
                <a:gd name="connsiteY4" fmla="*/ 1190654 h 1191542"/>
                <a:gd name="connsiteX5" fmla="*/ 809625 w 1625078"/>
                <a:gd name="connsiteY5" fmla="*/ 666779 h 1191542"/>
                <a:gd name="connsiteX6" fmla="*/ 942975 w 1625078"/>
                <a:gd name="connsiteY6" fmla="*/ 676304 h 1191542"/>
                <a:gd name="connsiteX7" fmla="*/ 1123950 w 1625078"/>
                <a:gd name="connsiteY7" fmla="*/ 29 h 1191542"/>
                <a:gd name="connsiteX8" fmla="*/ 1238250 w 1625078"/>
                <a:gd name="connsiteY8" fmla="*/ 704879 h 1191542"/>
                <a:gd name="connsiteX9" fmla="*/ 1581150 w 1625078"/>
                <a:gd name="connsiteY9" fmla="*/ 695354 h 1191542"/>
                <a:gd name="connsiteX10" fmla="*/ 1609725 w 1625078"/>
                <a:gd name="connsiteY10" fmla="*/ 695354 h 1191542"/>
                <a:gd name="connsiteX0" fmla="*/ 0 w 1625078"/>
                <a:gd name="connsiteY0" fmla="*/ 723929 h 1191542"/>
                <a:gd name="connsiteX1" fmla="*/ 276225 w 1625078"/>
                <a:gd name="connsiteY1" fmla="*/ 647729 h 1191542"/>
                <a:gd name="connsiteX2" fmla="*/ 600075 w 1625078"/>
                <a:gd name="connsiteY2" fmla="*/ 714404 h 1191542"/>
                <a:gd name="connsiteX3" fmla="*/ 666750 w 1625078"/>
                <a:gd name="connsiteY3" fmla="*/ 523904 h 1191542"/>
                <a:gd name="connsiteX4" fmla="*/ 714375 w 1625078"/>
                <a:gd name="connsiteY4" fmla="*/ 1190654 h 1191542"/>
                <a:gd name="connsiteX5" fmla="*/ 809625 w 1625078"/>
                <a:gd name="connsiteY5" fmla="*/ 666779 h 1191542"/>
                <a:gd name="connsiteX6" fmla="*/ 942975 w 1625078"/>
                <a:gd name="connsiteY6" fmla="*/ 676304 h 1191542"/>
                <a:gd name="connsiteX7" fmla="*/ 1123950 w 1625078"/>
                <a:gd name="connsiteY7" fmla="*/ 29 h 1191542"/>
                <a:gd name="connsiteX8" fmla="*/ 1238250 w 1625078"/>
                <a:gd name="connsiteY8" fmla="*/ 704879 h 1191542"/>
                <a:gd name="connsiteX9" fmla="*/ 1581150 w 1625078"/>
                <a:gd name="connsiteY9" fmla="*/ 695354 h 1191542"/>
                <a:gd name="connsiteX10" fmla="*/ 1609725 w 1625078"/>
                <a:gd name="connsiteY10" fmla="*/ 695354 h 1191542"/>
                <a:gd name="connsiteX0" fmla="*/ 0 w 1625078"/>
                <a:gd name="connsiteY0" fmla="*/ 723929 h 1191542"/>
                <a:gd name="connsiteX1" fmla="*/ 276225 w 1625078"/>
                <a:gd name="connsiteY1" fmla="*/ 647729 h 1191542"/>
                <a:gd name="connsiteX2" fmla="*/ 600075 w 1625078"/>
                <a:gd name="connsiteY2" fmla="*/ 714404 h 1191542"/>
                <a:gd name="connsiteX3" fmla="*/ 666750 w 1625078"/>
                <a:gd name="connsiteY3" fmla="*/ 523904 h 1191542"/>
                <a:gd name="connsiteX4" fmla="*/ 714375 w 1625078"/>
                <a:gd name="connsiteY4" fmla="*/ 1190654 h 1191542"/>
                <a:gd name="connsiteX5" fmla="*/ 809625 w 1625078"/>
                <a:gd name="connsiteY5" fmla="*/ 666779 h 1191542"/>
                <a:gd name="connsiteX6" fmla="*/ 942975 w 1625078"/>
                <a:gd name="connsiteY6" fmla="*/ 676304 h 1191542"/>
                <a:gd name="connsiteX7" fmla="*/ 1123950 w 1625078"/>
                <a:gd name="connsiteY7" fmla="*/ 29 h 1191542"/>
                <a:gd name="connsiteX8" fmla="*/ 1238250 w 1625078"/>
                <a:gd name="connsiteY8" fmla="*/ 704879 h 1191542"/>
                <a:gd name="connsiteX9" fmla="*/ 1581150 w 1625078"/>
                <a:gd name="connsiteY9" fmla="*/ 695354 h 1191542"/>
                <a:gd name="connsiteX10" fmla="*/ 1609725 w 1625078"/>
                <a:gd name="connsiteY10" fmla="*/ 695354 h 1191542"/>
                <a:gd name="connsiteX0" fmla="*/ 0 w 1625078"/>
                <a:gd name="connsiteY0" fmla="*/ 723929 h 1191542"/>
                <a:gd name="connsiteX1" fmla="*/ 276225 w 1625078"/>
                <a:gd name="connsiteY1" fmla="*/ 647729 h 1191542"/>
                <a:gd name="connsiteX2" fmla="*/ 404813 w 1625078"/>
                <a:gd name="connsiteY2" fmla="*/ 719167 h 1191542"/>
                <a:gd name="connsiteX3" fmla="*/ 600075 w 1625078"/>
                <a:gd name="connsiteY3" fmla="*/ 714404 h 1191542"/>
                <a:gd name="connsiteX4" fmla="*/ 666750 w 1625078"/>
                <a:gd name="connsiteY4" fmla="*/ 523904 h 1191542"/>
                <a:gd name="connsiteX5" fmla="*/ 714375 w 1625078"/>
                <a:gd name="connsiteY5" fmla="*/ 1190654 h 1191542"/>
                <a:gd name="connsiteX6" fmla="*/ 809625 w 1625078"/>
                <a:gd name="connsiteY6" fmla="*/ 666779 h 1191542"/>
                <a:gd name="connsiteX7" fmla="*/ 942975 w 1625078"/>
                <a:gd name="connsiteY7" fmla="*/ 676304 h 1191542"/>
                <a:gd name="connsiteX8" fmla="*/ 1123950 w 1625078"/>
                <a:gd name="connsiteY8" fmla="*/ 29 h 1191542"/>
                <a:gd name="connsiteX9" fmla="*/ 1238250 w 1625078"/>
                <a:gd name="connsiteY9" fmla="*/ 704879 h 1191542"/>
                <a:gd name="connsiteX10" fmla="*/ 1581150 w 1625078"/>
                <a:gd name="connsiteY10" fmla="*/ 695354 h 1191542"/>
                <a:gd name="connsiteX11" fmla="*/ 1609725 w 1625078"/>
                <a:gd name="connsiteY11" fmla="*/ 695354 h 1191542"/>
                <a:gd name="connsiteX0" fmla="*/ 0 w 1625078"/>
                <a:gd name="connsiteY0" fmla="*/ 723929 h 1191542"/>
                <a:gd name="connsiteX1" fmla="*/ 195263 w 1625078"/>
                <a:gd name="connsiteY1" fmla="*/ 709642 h 1191542"/>
                <a:gd name="connsiteX2" fmla="*/ 276225 w 1625078"/>
                <a:gd name="connsiteY2" fmla="*/ 647729 h 1191542"/>
                <a:gd name="connsiteX3" fmla="*/ 404813 w 1625078"/>
                <a:gd name="connsiteY3" fmla="*/ 719167 h 1191542"/>
                <a:gd name="connsiteX4" fmla="*/ 600075 w 1625078"/>
                <a:gd name="connsiteY4" fmla="*/ 714404 h 1191542"/>
                <a:gd name="connsiteX5" fmla="*/ 666750 w 1625078"/>
                <a:gd name="connsiteY5" fmla="*/ 523904 h 1191542"/>
                <a:gd name="connsiteX6" fmla="*/ 714375 w 1625078"/>
                <a:gd name="connsiteY6" fmla="*/ 1190654 h 1191542"/>
                <a:gd name="connsiteX7" fmla="*/ 809625 w 1625078"/>
                <a:gd name="connsiteY7" fmla="*/ 666779 h 1191542"/>
                <a:gd name="connsiteX8" fmla="*/ 942975 w 1625078"/>
                <a:gd name="connsiteY8" fmla="*/ 676304 h 1191542"/>
                <a:gd name="connsiteX9" fmla="*/ 1123950 w 1625078"/>
                <a:gd name="connsiteY9" fmla="*/ 29 h 1191542"/>
                <a:gd name="connsiteX10" fmla="*/ 1238250 w 1625078"/>
                <a:gd name="connsiteY10" fmla="*/ 704879 h 1191542"/>
                <a:gd name="connsiteX11" fmla="*/ 1581150 w 1625078"/>
                <a:gd name="connsiteY11" fmla="*/ 695354 h 1191542"/>
                <a:gd name="connsiteX12" fmla="*/ 1609725 w 1625078"/>
                <a:gd name="connsiteY12" fmla="*/ 695354 h 1191542"/>
                <a:gd name="connsiteX0" fmla="*/ 0 w 1625078"/>
                <a:gd name="connsiteY0" fmla="*/ 723929 h 1191542"/>
                <a:gd name="connsiteX1" fmla="*/ 195263 w 1625078"/>
                <a:gd name="connsiteY1" fmla="*/ 709642 h 1191542"/>
                <a:gd name="connsiteX2" fmla="*/ 276225 w 1625078"/>
                <a:gd name="connsiteY2" fmla="*/ 647729 h 1191542"/>
                <a:gd name="connsiteX3" fmla="*/ 385763 w 1625078"/>
                <a:gd name="connsiteY3" fmla="*/ 719167 h 1191542"/>
                <a:gd name="connsiteX4" fmla="*/ 600075 w 1625078"/>
                <a:gd name="connsiteY4" fmla="*/ 714404 h 1191542"/>
                <a:gd name="connsiteX5" fmla="*/ 666750 w 1625078"/>
                <a:gd name="connsiteY5" fmla="*/ 523904 h 1191542"/>
                <a:gd name="connsiteX6" fmla="*/ 714375 w 1625078"/>
                <a:gd name="connsiteY6" fmla="*/ 1190654 h 1191542"/>
                <a:gd name="connsiteX7" fmla="*/ 809625 w 1625078"/>
                <a:gd name="connsiteY7" fmla="*/ 666779 h 1191542"/>
                <a:gd name="connsiteX8" fmla="*/ 942975 w 1625078"/>
                <a:gd name="connsiteY8" fmla="*/ 676304 h 1191542"/>
                <a:gd name="connsiteX9" fmla="*/ 1123950 w 1625078"/>
                <a:gd name="connsiteY9" fmla="*/ 29 h 1191542"/>
                <a:gd name="connsiteX10" fmla="*/ 1238250 w 1625078"/>
                <a:gd name="connsiteY10" fmla="*/ 704879 h 1191542"/>
                <a:gd name="connsiteX11" fmla="*/ 1581150 w 1625078"/>
                <a:gd name="connsiteY11" fmla="*/ 695354 h 1191542"/>
                <a:gd name="connsiteX12" fmla="*/ 1609725 w 1625078"/>
                <a:gd name="connsiteY12" fmla="*/ 695354 h 1191542"/>
                <a:gd name="connsiteX0" fmla="*/ 0 w 1625078"/>
                <a:gd name="connsiteY0" fmla="*/ 723929 h 1191542"/>
                <a:gd name="connsiteX1" fmla="*/ 195263 w 1625078"/>
                <a:gd name="connsiteY1" fmla="*/ 709642 h 1191542"/>
                <a:gd name="connsiteX2" fmla="*/ 276225 w 1625078"/>
                <a:gd name="connsiteY2" fmla="*/ 647729 h 1191542"/>
                <a:gd name="connsiteX3" fmla="*/ 385763 w 1625078"/>
                <a:gd name="connsiteY3" fmla="*/ 719167 h 1191542"/>
                <a:gd name="connsiteX4" fmla="*/ 600075 w 1625078"/>
                <a:gd name="connsiteY4" fmla="*/ 714404 h 1191542"/>
                <a:gd name="connsiteX5" fmla="*/ 666750 w 1625078"/>
                <a:gd name="connsiteY5" fmla="*/ 523904 h 1191542"/>
                <a:gd name="connsiteX6" fmla="*/ 714375 w 1625078"/>
                <a:gd name="connsiteY6" fmla="*/ 1190654 h 1191542"/>
                <a:gd name="connsiteX7" fmla="*/ 809625 w 1625078"/>
                <a:gd name="connsiteY7" fmla="*/ 666779 h 1191542"/>
                <a:gd name="connsiteX8" fmla="*/ 942975 w 1625078"/>
                <a:gd name="connsiteY8" fmla="*/ 676304 h 1191542"/>
                <a:gd name="connsiteX9" fmla="*/ 1123950 w 1625078"/>
                <a:gd name="connsiteY9" fmla="*/ 29 h 1191542"/>
                <a:gd name="connsiteX10" fmla="*/ 1238250 w 1625078"/>
                <a:gd name="connsiteY10" fmla="*/ 704879 h 1191542"/>
                <a:gd name="connsiteX11" fmla="*/ 1581150 w 1625078"/>
                <a:gd name="connsiteY11" fmla="*/ 695354 h 1191542"/>
                <a:gd name="connsiteX12" fmla="*/ 1609725 w 1625078"/>
                <a:gd name="connsiteY12" fmla="*/ 695354 h 1191542"/>
                <a:gd name="connsiteX0" fmla="*/ 0 w 1625078"/>
                <a:gd name="connsiteY0" fmla="*/ 723929 h 1191542"/>
                <a:gd name="connsiteX1" fmla="*/ 195263 w 1625078"/>
                <a:gd name="connsiteY1" fmla="*/ 709642 h 1191542"/>
                <a:gd name="connsiteX2" fmla="*/ 276225 w 1625078"/>
                <a:gd name="connsiteY2" fmla="*/ 647729 h 1191542"/>
                <a:gd name="connsiteX3" fmla="*/ 385763 w 1625078"/>
                <a:gd name="connsiteY3" fmla="*/ 719167 h 1191542"/>
                <a:gd name="connsiteX4" fmla="*/ 595313 w 1625078"/>
                <a:gd name="connsiteY4" fmla="*/ 714404 h 1191542"/>
                <a:gd name="connsiteX5" fmla="*/ 666750 w 1625078"/>
                <a:gd name="connsiteY5" fmla="*/ 523904 h 1191542"/>
                <a:gd name="connsiteX6" fmla="*/ 714375 w 1625078"/>
                <a:gd name="connsiteY6" fmla="*/ 1190654 h 1191542"/>
                <a:gd name="connsiteX7" fmla="*/ 809625 w 1625078"/>
                <a:gd name="connsiteY7" fmla="*/ 666779 h 1191542"/>
                <a:gd name="connsiteX8" fmla="*/ 942975 w 1625078"/>
                <a:gd name="connsiteY8" fmla="*/ 676304 h 1191542"/>
                <a:gd name="connsiteX9" fmla="*/ 1123950 w 1625078"/>
                <a:gd name="connsiteY9" fmla="*/ 29 h 1191542"/>
                <a:gd name="connsiteX10" fmla="*/ 1238250 w 1625078"/>
                <a:gd name="connsiteY10" fmla="*/ 704879 h 1191542"/>
                <a:gd name="connsiteX11" fmla="*/ 1581150 w 1625078"/>
                <a:gd name="connsiteY11" fmla="*/ 695354 h 1191542"/>
                <a:gd name="connsiteX12" fmla="*/ 1609725 w 1625078"/>
                <a:gd name="connsiteY12" fmla="*/ 695354 h 1191542"/>
                <a:gd name="connsiteX0" fmla="*/ 0 w 1625078"/>
                <a:gd name="connsiteY0" fmla="*/ 723929 h 1191542"/>
                <a:gd name="connsiteX1" fmla="*/ 195263 w 1625078"/>
                <a:gd name="connsiteY1" fmla="*/ 709642 h 1191542"/>
                <a:gd name="connsiteX2" fmla="*/ 276225 w 1625078"/>
                <a:gd name="connsiteY2" fmla="*/ 647729 h 1191542"/>
                <a:gd name="connsiteX3" fmla="*/ 385763 w 1625078"/>
                <a:gd name="connsiteY3" fmla="*/ 719167 h 1191542"/>
                <a:gd name="connsiteX4" fmla="*/ 595313 w 1625078"/>
                <a:gd name="connsiteY4" fmla="*/ 714404 h 1191542"/>
                <a:gd name="connsiteX5" fmla="*/ 666750 w 1625078"/>
                <a:gd name="connsiteY5" fmla="*/ 523904 h 1191542"/>
                <a:gd name="connsiteX6" fmla="*/ 714375 w 1625078"/>
                <a:gd name="connsiteY6" fmla="*/ 1190654 h 1191542"/>
                <a:gd name="connsiteX7" fmla="*/ 809625 w 1625078"/>
                <a:gd name="connsiteY7" fmla="*/ 666779 h 1191542"/>
                <a:gd name="connsiteX8" fmla="*/ 942975 w 1625078"/>
                <a:gd name="connsiteY8" fmla="*/ 676304 h 1191542"/>
                <a:gd name="connsiteX9" fmla="*/ 1123950 w 1625078"/>
                <a:gd name="connsiteY9" fmla="*/ 29 h 1191542"/>
                <a:gd name="connsiteX10" fmla="*/ 1238250 w 1625078"/>
                <a:gd name="connsiteY10" fmla="*/ 704879 h 1191542"/>
                <a:gd name="connsiteX11" fmla="*/ 1581150 w 1625078"/>
                <a:gd name="connsiteY11" fmla="*/ 695354 h 1191542"/>
                <a:gd name="connsiteX12" fmla="*/ 1609725 w 1625078"/>
                <a:gd name="connsiteY12" fmla="*/ 695354 h 1191542"/>
                <a:gd name="connsiteX0" fmla="*/ 0 w 1625078"/>
                <a:gd name="connsiteY0" fmla="*/ 723929 h 1191542"/>
                <a:gd name="connsiteX1" fmla="*/ 195263 w 1625078"/>
                <a:gd name="connsiteY1" fmla="*/ 709642 h 1191542"/>
                <a:gd name="connsiteX2" fmla="*/ 276225 w 1625078"/>
                <a:gd name="connsiteY2" fmla="*/ 647729 h 1191542"/>
                <a:gd name="connsiteX3" fmla="*/ 385763 w 1625078"/>
                <a:gd name="connsiteY3" fmla="*/ 719167 h 1191542"/>
                <a:gd name="connsiteX4" fmla="*/ 595313 w 1625078"/>
                <a:gd name="connsiteY4" fmla="*/ 714404 h 1191542"/>
                <a:gd name="connsiteX5" fmla="*/ 666750 w 1625078"/>
                <a:gd name="connsiteY5" fmla="*/ 523904 h 1191542"/>
                <a:gd name="connsiteX6" fmla="*/ 714375 w 1625078"/>
                <a:gd name="connsiteY6" fmla="*/ 1190654 h 1191542"/>
                <a:gd name="connsiteX7" fmla="*/ 809625 w 1625078"/>
                <a:gd name="connsiteY7" fmla="*/ 666779 h 1191542"/>
                <a:gd name="connsiteX8" fmla="*/ 942975 w 1625078"/>
                <a:gd name="connsiteY8" fmla="*/ 676304 h 1191542"/>
                <a:gd name="connsiteX9" fmla="*/ 1123950 w 1625078"/>
                <a:gd name="connsiteY9" fmla="*/ 29 h 1191542"/>
                <a:gd name="connsiteX10" fmla="*/ 1238250 w 1625078"/>
                <a:gd name="connsiteY10" fmla="*/ 704879 h 1191542"/>
                <a:gd name="connsiteX11" fmla="*/ 1581150 w 1625078"/>
                <a:gd name="connsiteY11" fmla="*/ 695354 h 1191542"/>
                <a:gd name="connsiteX12" fmla="*/ 1609725 w 1625078"/>
                <a:gd name="connsiteY12" fmla="*/ 695354 h 1191542"/>
                <a:gd name="connsiteX0" fmla="*/ 0 w 1625078"/>
                <a:gd name="connsiteY0" fmla="*/ 723929 h 1191542"/>
                <a:gd name="connsiteX1" fmla="*/ 195263 w 1625078"/>
                <a:gd name="connsiteY1" fmla="*/ 723930 h 1191542"/>
                <a:gd name="connsiteX2" fmla="*/ 276225 w 1625078"/>
                <a:gd name="connsiteY2" fmla="*/ 647729 h 1191542"/>
                <a:gd name="connsiteX3" fmla="*/ 385763 w 1625078"/>
                <a:gd name="connsiteY3" fmla="*/ 719167 h 1191542"/>
                <a:gd name="connsiteX4" fmla="*/ 595313 w 1625078"/>
                <a:gd name="connsiteY4" fmla="*/ 714404 h 1191542"/>
                <a:gd name="connsiteX5" fmla="*/ 666750 w 1625078"/>
                <a:gd name="connsiteY5" fmla="*/ 523904 h 1191542"/>
                <a:gd name="connsiteX6" fmla="*/ 714375 w 1625078"/>
                <a:gd name="connsiteY6" fmla="*/ 1190654 h 1191542"/>
                <a:gd name="connsiteX7" fmla="*/ 809625 w 1625078"/>
                <a:gd name="connsiteY7" fmla="*/ 666779 h 1191542"/>
                <a:gd name="connsiteX8" fmla="*/ 942975 w 1625078"/>
                <a:gd name="connsiteY8" fmla="*/ 676304 h 1191542"/>
                <a:gd name="connsiteX9" fmla="*/ 1123950 w 1625078"/>
                <a:gd name="connsiteY9" fmla="*/ 29 h 1191542"/>
                <a:gd name="connsiteX10" fmla="*/ 1238250 w 1625078"/>
                <a:gd name="connsiteY10" fmla="*/ 704879 h 1191542"/>
                <a:gd name="connsiteX11" fmla="*/ 1581150 w 1625078"/>
                <a:gd name="connsiteY11" fmla="*/ 695354 h 1191542"/>
                <a:gd name="connsiteX12" fmla="*/ 1609725 w 1625078"/>
                <a:gd name="connsiteY12" fmla="*/ 695354 h 1191542"/>
                <a:gd name="connsiteX0" fmla="*/ 0 w 1625078"/>
                <a:gd name="connsiteY0" fmla="*/ 723929 h 1191542"/>
                <a:gd name="connsiteX1" fmla="*/ 195263 w 1625078"/>
                <a:gd name="connsiteY1" fmla="*/ 714405 h 1191542"/>
                <a:gd name="connsiteX2" fmla="*/ 276225 w 1625078"/>
                <a:gd name="connsiteY2" fmla="*/ 647729 h 1191542"/>
                <a:gd name="connsiteX3" fmla="*/ 385763 w 1625078"/>
                <a:gd name="connsiteY3" fmla="*/ 719167 h 1191542"/>
                <a:gd name="connsiteX4" fmla="*/ 595313 w 1625078"/>
                <a:gd name="connsiteY4" fmla="*/ 714404 h 1191542"/>
                <a:gd name="connsiteX5" fmla="*/ 666750 w 1625078"/>
                <a:gd name="connsiteY5" fmla="*/ 523904 h 1191542"/>
                <a:gd name="connsiteX6" fmla="*/ 714375 w 1625078"/>
                <a:gd name="connsiteY6" fmla="*/ 1190654 h 1191542"/>
                <a:gd name="connsiteX7" fmla="*/ 809625 w 1625078"/>
                <a:gd name="connsiteY7" fmla="*/ 666779 h 1191542"/>
                <a:gd name="connsiteX8" fmla="*/ 942975 w 1625078"/>
                <a:gd name="connsiteY8" fmla="*/ 676304 h 1191542"/>
                <a:gd name="connsiteX9" fmla="*/ 1123950 w 1625078"/>
                <a:gd name="connsiteY9" fmla="*/ 29 h 1191542"/>
                <a:gd name="connsiteX10" fmla="*/ 1238250 w 1625078"/>
                <a:gd name="connsiteY10" fmla="*/ 704879 h 1191542"/>
                <a:gd name="connsiteX11" fmla="*/ 1581150 w 1625078"/>
                <a:gd name="connsiteY11" fmla="*/ 695354 h 1191542"/>
                <a:gd name="connsiteX12" fmla="*/ 1609725 w 1625078"/>
                <a:gd name="connsiteY12" fmla="*/ 695354 h 1191542"/>
                <a:gd name="connsiteX0" fmla="*/ 0 w 1625078"/>
                <a:gd name="connsiteY0" fmla="*/ 723930 h 1192355"/>
                <a:gd name="connsiteX1" fmla="*/ 195263 w 1625078"/>
                <a:gd name="connsiteY1" fmla="*/ 714406 h 1192355"/>
                <a:gd name="connsiteX2" fmla="*/ 276225 w 1625078"/>
                <a:gd name="connsiteY2" fmla="*/ 647730 h 1192355"/>
                <a:gd name="connsiteX3" fmla="*/ 385763 w 1625078"/>
                <a:gd name="connsiteY3" fmla="*/ 719168 h 1192355"/>
                <a:gd name="connsiteX4" fmla="*/ 595313 w 1625078"/>
                <a:gd name="connsiteY4" fmla="*/ 714405 h 1192355"/>
                <a:gd name="connsiteX5" fmla="*/ 666750 w 1625078"/>
                <a:gd name="connsiteY5" fmla="*/ 523905 h 1192355"/>
                <a:gd name="connsiteX6" fmla="*/ 714375 w 1625078"/>
                <a:gd name="connsiteY6" fmla="*/ 1190655 h 1192355"/>
                <a:gd name="connsiteX7" fmla="*/ 804862 w 1625078"/>
                <a:gd name="connsiteY7" fmla="*/ 714405 h 1192355"/>
                <a:gd name="connsiteX8" fmla="*/ 942975 w 1625078"/>
                <a:gd name="connsiteY8" fmla="*/ 676305 h 1192355"/>
                <a:gd name="connsiteX9" fmla="*/ 1123950 w 1625078"/>
                <a:gd name="connsiteY9" fmla="*/ 30 h 1192355"/>
                <a:gd name="connsiteX10" fmla="*/ 1238250 w 1625078"/>
                <a:gd name="connsiteY10" fmla="*/ 704880 h 1192355"/>
                <a:gd name="connsiteX11" fmla="*/ 1581150 w 1625078"/>
                <a:gd name="connsiteY11" fmla="*/ 695355 h 1192355"/>
                <a:gd name="connsiteX12" fmla="*/ 1609725 w 1625078"/>
                <a:gd name="connsiteY12" fmla="*/ 695355 h 1192355"/>
                <a:gd name="connsiteX0" fmla="*/ 0 w 1625078"/>
                <a:gd name="connsiteY0" fmla="*/ 723930 h 1192207"/>
                <a:gd name="connsiteX1" fmla="*/ 195263 w 1625078"/>
                <a:gd name="connsiteY1" fmla="*/ 714406 h 1192207"/>
                <a:gd name="connsiteX2" fmla="*/ 276225 w 1625078"/>
                <a:gd name="connsiteY2" fmla="*/ 647730 h 1192207"/>
                <a:gd name="connsiteX3" fmla="*/ 385763 w 1625078"/>
                <a:gd name="connsiteY3" fmla="*/ 719168 h 1192207"/>
                <a:gd name="connsiteX4" fmla="*/ 595313 w 1625078"/>
                <a:gd name="connsiteY4" fmla="*/ 714405 h 1192207"/>
                <a:gd name="connsiteX5" fmla="*/ 666750 w 1625078"/>
                <a:gd name="connsiteY5" fmla="*/ 523905 h 1192207"/>
                <a:gd name="connsiteX6" fmla="*/ 714375 w 1625078"/>
                <a:gd name="connsiteY6" fmla="*/ 1190655 h 1192207"/>
                <a:gd name="connsiteX7" fmla="*/ 804862 w 1625078"/>
                <a:gd name="connsiteY7" fmla="*/ 714405 h 1192207"/>
                <a:gd name="connsiteX8" fmla="*/ 942975 w 1625078"/>
                <a:gd name="connsiteY8" fmla="*/ 676305 h 1192207"/>
                <a:gd name="connsiteX9" fmla="*/ 1123950 w 1625078"/>
                <a:gd name="connsiteY9" fmla="*/ 30 h 1192207"/>
                <a:gd name="connsiteX10" fmla="*/ 1238250 w 1625078"/>
                <a:gd name="connsiteY10" fmla="*/ 704880 h 1192207"/>
                <a:gd name="connsiteX11" fmla="*/ 1581150 w 1625078"/>
                <a:gd name="connsiteY11" fmla="*/ 695355 h 1192207"/>
                <a:gd name="connsiteX12" fmla="*/ 1609725 w 1625078"/>
                <a:gd name="connsiteY12" fmla="*/ 695355 h 1192207"/>
                <a:gd name="connsiteX0" fmla="*/ 0 w 1625078"/>
                <a:gd name="connsiteY0" fmla="*/ 723927 h 1192204"/>
                <a:gd name="connsiteX1" fmla="*/ 195263 w 1625078"/>
                <a:gd name="connsiteY1" fmla="*/ 714403 h 1192204"/>
                <a:gd name="connsiteX2" fmla="*/ 276225 w 1625078"/>
                <a:gd name="connsiteY2" fmla="*/ 647727 h 1192204"/>
                <a:gd name="connsiteX3" fmla="*/ 385763 w 1625078"/>
                <a:gd name="connsiteY3" fmla="*/ 719165 h 1192204"/>
                <a:gd name="connsiteX4" fmla="*/ 595313 w 1625078"/>
                <a:gd name="connsiteY4" fmla="*/ 714402 h 1192204"/>
                <a:gd name="connsiteX5" fmla="*/ 666750 w 1625078"/>
                <a:gd name="connsiteY5" fmla="*/ 523902 h 1192204"/>
                <a:gd name="connsiteX6" fmla="*/ 714375 w 1625078"/>
                <a:gd name="connsiteY6" fmla="*/ 1190652 h 1192204"/>
                <a:gd name="connsiteX7" fmla="*/ 804862 w 1625078"/>
                <a:gd name="connsiteY7" fmla="*/ 714402 h 1192204"/>
                <a:gd name="connsiteX8" fmla="*/ 942975 w 1625078"/>
                <a:gd name="connsiteY8" fmla="*/ 676302 h 1192204"/>
                <a:gd name="connsiteX9" fmla="*/ 1123950 w 1625078"/>
                <a:gd name="connsiteY9" fmla="*/ 27 h 1192204"/>
                <a:gd name="connsiteX10" fmla="*/ 1238250 w 1625078"/>
                <a:gd name="connsiteY10" fmla="*/ 704877 h 1192204"/>
                <a:gd name="connsiteX11" fmla="*/ 1581150 w 1625078"/>
                <a:gd name="connsiteY11" fmla="*/ 695352 h 1192204"/>
                <a:gd name="connsiteX12" fmla="*/ 1609725 w 1625078"/>
                <a:gd name="connsiteY12" fmla="*/ 695352 h 1192204"/>
                <a:gd name="connsiteX0" fmla="*/ 0 w 1625078"/>
                <a:gd name="connsiteY0" fmla="*/ 723927 h 1192204"/>
                <a:gd name="connsiteX1" fmla="*/ 195263 w 1625078"/>
                <a:gd name="connsiteY1" fmla="*/ 714403 h 1192204"/>
                <a:gd name="connsiteX2" fmla="*/ 276225 w 1625078"/>
                <a:gd name="connsiteY2" fmla="*/ 647727 h 1192204"/>
                <a:gd name="connsiteX3" fmla="*/ 385763 w 1625078"/>
                <a:gd name="connsiteY3" fmla="*/ 719165 h 1192204"/>
                <a:gd name="connsiteX4" fmla="*/ 595313 w 1625078"/>
                <a:gd name="connsiteY4" fmla="*/ 714402 h 1192204"/>
                <a:gd name="connsiteX5" fmla="*/ 666750 w 1625078"/>
                <a:gd name="connsiteY5" fmla="*/ 523902 h 1192204"/>
                <a:gd name="connsiteX6" fmla="*/ 714375 w 1625078"/>
                <a:gd name="connsiteY6" fmla="*/ 1190652 h 1192204"/>
                <a:gd name="connsiteX7" fmla="*/ 804862 w 1625078"/>
                <a:gd name="connsiteY7" fmla="*/ 714402 h 1192204"/>
                <a:gd name="connsiteX8" fmla="*/ 942975 w 1625078"/>
                <a:gd name="connsiteY8" fmla="*/ 676302 h 1192204"/>
                <a:gd name="connsiteX9" fmla="*/ 1123950 w 1625078"/>
                <a:gd name="connsiteY9" fmla="*/ 27 h 1192204"/>
                <a:gd name="connsiteX10" fmla="*/ 1238250 w 1625078"/>
                <a:gd name="connsiteY10" fmla="*/ 704877 h 1192204"/>
                <a:gd name="connsiteX11" fmla="*/ 1581150 w 1625078"/>
                <a:gd name="connsiteY11" fmla="*/ 695352 h 1192204"/>
                <a:gd name="connsiteX12" fmla="*/ 1609725 w 1625078"/>
                <a:gd name="connsiteY12" fmla="*/ 695352 h 1192204"/>
                <a:gd name="connsiteX0" fmla="*/ 0 w 1625078"/>
                <a:gd name="connsiteY0" fmla="*/ 704881 h 1173158"/>
                <a:gd name="connsiteX1" fmla="*/ 195263 w 1625078"/>
                <a:gd name="connsiteY1" fmla="*/ 695357 h 1173158"/>
                <a:gd name="connsiteX2" fmla="*/ 276225 w 1625078"/>
                <a:gd name="connsiteY2" fmla="*/ 628681 h 1173158"/>
                <a:gd name="connsiteX3" fmla="*/ 385763 w 1625078"/>
                <a:gd name="connsiteY3" fmla="*/ 700119 h 1173158"/>
                <a:gd name="connsiteX4" fmla="*/ 595313 w 1625078"/>
                <a:gd name="connsiteY4" fmla="*/ 695356 h 1173158"/>
                <a:gd name="connsiteX5" fmla="*/ 666750 w 1625078"/>
                <a:gd name="connsiteY5" fmla="*/ 504856 h 1173158"/>
                <a:gd name="connsiteX6" fmla="*/ 714375 w 1625078"/>
                <a:gd name="connsiteY6" fmla="*/ 1171606 h 1173158"/>
                <a:gd name="connsiteX7" fmla="*/ 804862 w 1625078"/>
                <a:gd name="connsiteY7" fmla="*/ 695356 h 1173158"/>
                <a:gd name="connsiteX8" fmla="*/ 942975 w 1625078"/>
                <a:gd name="connsiteY8" fmla="*/ 657256 h 1173158"/>
                <a:gd name="connsiteX9" fmla="*/ 1109662 w 1625078"/>
                <a:gd name="connsiteY9" fmla="*/ 31 h 1173158"/>
                <a:gd name="connsiteX10" fmla="*/ 1238250 w 1625078"/>
                <a:gd name="connsiteY10" fmla="*/ 685831 h 1173158"/>
                <a:gd name="connsiteX11" fmla="*/ 1581150 w 1625078"/>
                <a:gd name="connsiteY11" fmla="*/ 676306 h 1173158"/>
                <a:gd name="connsiteX12" fmla="*/ 1609725 w 1625078"/>
                <a:gd name="connsiteY12" fmla="*/ 676306 h 1173158"/>
                <a:gd name="connsiteX0" fmla="*/ 0 w 1625078"/>
                <a:gd name="connsiteY0" fmla="*/ 704878 h 1173155"/>
                <a:gd name="connsiteX1" fmla="*/ 195263 w 1625078"/>
                <a:gd name="connsiteY1" fmla="*/ 695354 h 1173155"/>
                <a:gd name="connsiteX2" fmla="*/ 276225 w 1625078"/>
                <a:gd name="connsiteY2" fmla="*/ 628678 h 1173155"/>
                <a:gd name="connsiteX3" fmla="*/ 385763 w 1625078"/>
                <a:gd name="connsiteY3" fmla="*/ 700116 h 1173155"/>
                <a:gd name="connsiteX4" fmla="*/ 595313 w 1625078"/>
                <a:gd name="connsiteY4" fmla="*/ 695353 h 1173155"/>
                <a:gd name="connsiteX5" fmla="*/ 666750 w 1625078"/>
                <a:gd name="connsiteY5" fmla="*/ 504853 h 1173155"/>
                <a:gd name="connsiteX6" fmla="*/ 714375 w 1625078"/>
                <a:gd name="connsiteY6" fmla="*/ 1171603 h 1173155"/>
                <a:gd name="connsiteX7" fmla="*/ 804862 w 1625078"/>
                <a:gd name="connsiteY7" fmla="*/ 695353 h 1173155"/>
                <a:gd name="connsiteX8" fmla="*/ 942975 w 1625078"/>
                <a:gd name="connsiteY8" fmla="*/ 657253 h 1173155"/>
                <a:gd name="connsiteX9" fmla="*/ 1109662 w 1625078"/>
                <a:gd name="connsiteY9" fmla="*/ 28 h 1173155"/>
                <a:gd name="connsiteX10" fmla="*/ 1238250 w 1625078"/>
                <a:gd name="connsiteY10" fmla="*/ 685828 h 1173155"/>
                <a:gd name="connsiteX11" fmla="*/ 1581150 w 1625078"/>
                <a:gd name="connsiteY11" fmla="*/ 676303 h 1173155"/>
                <a:gd name="connsiteX12" fmla="*/ 1609725 w 1625078"/>
                <a:gd name="connsiteY12" fmla="*/ 676303 h 1173155"/>
                <a:gd name="connsiteX0" fmla="*/ 0 w 1625078"/>
                <a:gd name="connsiteY0" fmla="*/ 704878 h 1173155"/>
                <a:gd name="connsiteX1" fmla="*/ 195263 w 1625078"/>
                <a:gd name="connsiteY1" fmla="*/ 695354 h 1173155"/>
                <a:gd name="connsiteX2" fmla="*/ 276225 w 1625078"/>
                <a:gd name="connsiteY2" fmla="*/ 628678 h 1173155"/>
                <a:gd name="connsiteX3" fmla="*/ 385763 w 1625078"/>
                <a:gd name="connsiteY3" fmla="*/ 700116 h 1173155"/>
                <a:gd name="connsiteX4" fmla="*/ 595313 w 1625078"/>
                <a:gd name="connsiteY4" fmla="*/ 695353 h 1173155"/>
                <a:gd name="connsiteX5" fmla="*/ 666750 w 1625078"/>
                <a:gd name="connsiteY5" fmla="*/ 504853 h 1173155"/>
                <a:gd name="connsiteX6" fmla="*/ 714375 w 1625078"/>
                <a:gd name="connsiteY6" fmla="*/ 1171603 h 1173155"/>
                <a:gd name="connsiteX7" fmla="*/ 804862 w 1625078"/>
                <a:gd name="connsiteY7" fmla="*/ 695353 h 1173155"/>
                <a:gd name="connsiteX8" fmla="*/ 942975 w 1625078"/>
                <a:gd name="connsiteY8" fmla="*/ 657253 h 1173155"/>
                <a:gd name="connsiteX9" fmla="*/ 1109662 w 1625078"/>
                <a:gd name="connsiteY9" fmla="*/ 28 h 1173155"/>
                <a:gd name="connsiteX10" fmla="*/ 1238250 w 1625078"/>
                <a:gd name="connsiteY10" fmla="*/ 685828 h 1173155"/>
                <a:gd name="connsiteX11" fmla="*/ 1581150 w 1625078"/>
                <a:gd name="connsiteY11" fmla="*/ 676303 h 1173155"/>
                <a:gd name="connsiteX12" fmla="*/ 1609725 w 1625078"/>
                <a:gd name="connsiteY12" fmla="*/ 676303 h 1173155"/>
                <a:gd name="connsiteX0" fmla="*/ 0 w 1625078"/>
                <a:gd name="connsiteY0" fmla="*/ 704850 h 1173127"/>
                <a:gd name="connsiteX1" fmla="*/ 195263 w 1625078"/>
                <a:gd name="connsiteY1" fmla="*/ 695326 h 1173127"/>
                <a:gd name="connsiteX2" fmla="*/ 276225 w 1625078"/>
                <a:gd name="connsiteY2" fmla="*/ 628650 h 1173127"/>
                <a:gd name="connsiteX3" fmla="*/ 385763 w 1625078"/>
                <a:gd name="connsiteY3" fmla="*/ 700088 h 1173127"/>
                <a:gd name="connsiteX4" fmla="*/ 595313 w 1625078"/>
                <a:gd name="connsiteY4" fmla="*/ 695325 h 1173127"/>
                <a:gd name="connsiteX5" fmla="*/ 666750 w 1625078"/>
                <a:gd name="connsiteY5" fmla="*/ 504825 h 1173127"/>
                <a:gd name="connsiteX6" fmla="*/ 714375 w 1625078"/>
                <a:gd name="connsiteY6" fmla="*/ 1171575 h 1173127"/>
                <a:gd name="connsiteX7" fmla="*/ 804862 w 1625078"/>
                <a:gd name="connsiteY7" fmla="*/ 695325 h 1173127"/>
                <a:gd name="connsiteX8" fmla="*/ 942975 w 1625078"/>
                <a:gd name="connsiteY8" fmla="*/ 657225 h 1173127"/>
                <a:gd name="connsiteX9" fmla="*/ 1109662 w 1625078"/>
                <a:gd name="connsiteY9" fmla="*/ 0 h 1173127"/>
                <a:gd name="connsiteX10" fmla="*/ 1233487 w 1625078"/>
                <a:gd name="connsiteY10" fmla="*/ 657225 h 1173127"/>
                <a:gd name="connsiteX11" fmla="*/ 1581150 w 1625078"/>
                <a:gd name="connsiteY11" fmla="*/ 676275 h 1173127"/>
                <a:gd name="connsiteX12" fmla="*/ 1609725 w 1625078"/>
                <a:gd name="connsiteY12" fmla="*/ 676275 h 1173127"/>
                <a:gd name="connsiteX0" fmla="*/ 0 w 1581150"/>
                <a:gd name="connsiteY0" fmla="*/ 704850 h 1173127"/>
                <a:gd name="connsiteX1" fmla="*/ 195263 w 1581150"/>
                <a:gd name="connsiteY1" fmla="*/ 695326 h 1173127"/>
                <a:gd name="connsiteX2" fmla="*/ 276225 w 1581150"/>
                <a:gd name="connsiteY2" fmla="*/ 628650 h 1173127"/>
                <a:gd name="connsiteX3" fmla="*/ 385763 w 1581150"/>
                <a:gd name="connsiteY3" fmla="*/ 700088 h 1173127"/>
                <a:gd name="connsiteX4" fmla="*/ 595313 w 1581150"/>
                <a:gd name="connsiteY4" fmla="*/ 695325 h 1173127"/>
                <a:gd name="connsiteX5" fmla="*/ 666750 w 1581150"/>
                <a:gd name="connsiteY5" fmla="*/ 504825 h 1173127"/>
                <a:gd name="connsiteX6" fmla="*/ 714375 w 1581150"/>
                <a:gd name="connsiteY6" fmla="*/ 1171575 h 1173127"/>
                <a:gd name="connsiteX7" fmla="*/ 804862 w 1581150"/>
                <a:gd name="connsiteY7" fmla="*/ 695325 h 1173127"/>
                <a:gd name="connsiteX8" fmla="*/ 942975 w 1581150"/>
                <a:gd name="connsiteY8" fmla="*/ 657225 h 1173127"/>
                <a:gd name="connsiteX9" fmla="*/ 1109662 w 1581150"/>
                <a:gd name="connsiteY9" fmla="*/ 0 h 1173127"/>
                <a:gd name="connsiteX10" fmla="*/ 1233487 w 1581150"/>
                <a:gd name="connsiteY10" fmla="*/ 657225 h 1173127"/>
                <a:gd name="connsiteX11" fmla="*/ 1581150 w 1581150"/>
                <a:gd name="connsiteY11" fmla="*/ 676275 h 1173127"/>
                <a:gd name="connsiteX0" fmla="*/ 0 w 1581150"/>
                <a:gd name="connsiteY0" fmla="*/ 704850 h 1173272"/>
                <a:gd name="connsiteX1" fmla="*/ 195263 w 1581150"/>
                <a:gd name="connsiteY1" fmla="*/ 695326 h 1173272"/>
                <a:gd name="connsiteX2" fmla="*/ 276225 w 1581150"/>
                <a:gd name="connsiteY2" fmla="*/ 628650 h 1173272"/>
                <a:gd name="connsiteX3" fmla="*/ 385763 w 1581150"/>
                <a:gd name="connsiteY3" fmla="*/ 700088 h 1173272"/>
                <a:gd name="connsiteX4" fmla="*/ 595313 w 1581150"/>
                <a:gd name="connsiteY4" fmla="*/ 695325 h 1173272"/>
                <a:gd name="connsiteX5" fmla="*/ 666750 w 1581150"/>
                <a:gd name="connsiteY5" fmla="*/ 504825 h 1173272"/>
                <a:gd name="connsiteX6" fmla="*/ 714375 w 1581150"/>
                <a:gd name="connsiteY6" fmla="*/ 1171575 h 1173272"/>
                <a:gd name="connsiteX7" fmla="*/ 804862 w 1581150"/>
                <a:gd name="connsiteY7" fmla="*/ 695325 h 1173272"/>
                <a:gd name="connsiteX8" fmla="*/ 966788 w 1581150"/>
                <a:gd name="connsiteY8" fmla="*/ 661987 h 1173272"/>
                <a:gd name="connsiteX9" fmla="*/ 1109662 w 1581150"/>
                <a:gd name="connsiteY9" fmla="*/ 0 h 1173272"/>
                <a:gd name="connsiteX10" fmla="*/ 1233487 w 1581150"/>
                <a:gd name="connsiteY10" fmla="*/ 657225 h 1173272"/>
                <a:gd name="connsiteX11" fmla="*/ 1581150 w 1581150"/>
                <a:gd name="connsiteY11" fmla="*/ 676275 h 1173272"/>
                <a:gd name="connsiteX0" fmla="*/ 0 w 1581150"/>
                <a:gd name="connsiteY0" fmla="*/ 704850 h 1173054"/>
                <a:gd name="connsiteX1" fmla="*/ 195263 w 1581150"/>
                <a:gd name="connsiteY1" fmla="*/ 695326 h 1173054"/>
                <a:gd name="connsiteX2" fmla="*/ 276225 w 1581150"/>
                <a:gd name="connsiteY2" fmla="*/ 628650 h 1173054"/>
                <a:gd name="connsiteX3" fmla="*/ 385763 w 1581150"/>
                <a:gd name="connsiteY3" fmla="*/ 700088 h 1173054"/>
                <a:gd name="connsiteX4" fmla="*/ 595313 w 1581150"/>
                <a:gd name="connsiteY4" fmla="*/ 695325 h 1173054"/>
                <a:gd name="connsiteX5" fmla="*/ 666750 w 1581150"/>
                <a:gd name="connsiteY5" fmla="*/ 504825 h 1173054"/>
                <a:gd name="connsiteX6" fmla="*/ 714375 w 1581150"/>
                <a:gd name="connsiteY6" fmla="*/ 1171575 h 1173054"/>
                <a:gd name="connsiteX7" fmla="*/ 804862 w 1581150"/>
                <a:gd name="connsiteY7" fmla="*/ 695325 h 1173054"/>
                <a:gd name="connsiteX8" fmla="*/ 966788 w 1581150"/>
                <a:gd name="connsiteY8" fmla="*/ 661987 h 1173054"/>
                <a:gd name="connsiteX9" fmla="*/ 1109662 w 1581150"/>
                <a:gd name="connsiteY9" fmla="*/ 0 h 1173054"/>
                <a:gd name="connsiteX10" fmla="*/ 1233487 w 1581150"/>
                <a:gd name="connsiteY10" fmla="*/ 657225 h 1173054"/>
                <a:gd name="connsiteX11" fmla="*/ 1581150 w 1581150"/>
                <a:gd name="connsiteY11" fmla="*/ 676275 h 1173054"/>
                <a:gd name="connsiteX0" fmla="*/ 0 w 1581150"/>
                <a:gd name="connsiteY0" fmla="*/ 711464 h 1179668"/>
                <a:gd name="connsiteX1" fmla="*/ 195263 w 1581150"/>
                <a:gd name="connsiteY1" fmla="*/ 701940 h 1179668"/>
                <a:gd name="connsiteX2" fmla="*/ 276225 w 1581150"/>
                <a:gd name="connsiteY2" fmla="*/ 635264 h 1179668"/>
                <a:gd name="connsiteX3" fmla="*/ 385763 w 1581150"/>
                <a:gd name="connsiteY3" fmla="*/ 706702 h 1179668"/>
                <a:gd name="connsiteX4" fmla="*/ 595313 w 1581150"/>
                <a:gd name="connsiteY4" fmla="*/ 701939 h 1179668"/>
                <a:gd name="connsiteX5" fmla="*/ 666750 w 1581150"/>
                <a:gd name="connsiteY5" fmla="*/ 511439 h 1179668"/>
                <a:gd name="connsiteX6" fmla="*/ 714375 w 1581150"/>
                <a:gd name="connsiteY6" fmla="*/ 1178189 h 1179668"/>
                <a:gd name="connsiteX7" fmla="*/ 804862 w 1581150"/>
                <a:gd name="connsiteY7" fmla="*/ 701939 h 1179668"/>
                <a:gd name="connsiteX8" fmla="*/ 966788 w 1581150"/>
                <a:gd name="connsiteY8" fmla="*/ 668601 h 1179668"/>
                <a:gd name="connsiteX9" fmla="*/ 1109662 w 1581150"/>
                <a:gd name="connsiteY9" fmla="*/ 6614 h 1179668"/>
                <a:gd name="connsiteX10" fmla="*/ 1233487 w 1581150"/>
                <a:gd name="connsiteY10" fmla="*/ 663839 h 1179668"/>
                <a:gd name="connsiteX11" fmla="*/ 1581150 w 1581150"/>
                <a:gd name="connsiteY11" fmla="*/ 682889 h 1179668"/>
                <a:gd name="connsiteX0" fmla="*/ 0 w 1581150"/>
                <a:gd name="connsiteY0" fmla="*/ 711464 h 1179668"/>
                <a:gd name="connsiteX1" fmla="*/ 195264 w 1581150"/>
                <a:gd name="connsiteY1" fmla="*/ 605862 h 1179668"/>
                <a:gd name="connsiteX2" fmla="*/ 276225 w 1581150"/>
                <a:gd name="connsiteY2" fmla="*/ 635264 h 1179668"/>
                <a:gd name="connsiteX3" fmla="*/ 385763 w 1581150"/>
                <a:gd name="connsiteY3" fmla="*/ 706702 h 1179668"/>
                <a:gd name="connsiteX4" fmla="*/ 595313 w 1581150"/>
                <a:gd name="connsiteY4" fmla="*/ 701939 h 1179668"/>
                <a:gd name="connsiteX5" fmla="*/ 666750 w 1581150"/>
                <a:gd name="connsiteY5" fmla="*/ 511439 h 1179668"/>
                <a:gd name="connsiteX6" fmla="*/ 714375 w 1581150"/>
                <a:gd name="connsiteY6" fmla="*/ 1178189 h 1179668"/>
                <a:gd name="connsiteX7" fmla="*/ 804862 w 1581150"/>
                <a:gd name="connsiteY7" fmla="*/ 701939 h 1179668"/>
                <a:gd name="connsiteX8" fmla="*/ 966788 w 1581150"/>
                <a:gd name="connsiteY8" fmla="*/ 668601 h 1179668"/>
                <a:gd name="connsiteX9" fmla="*/ 1109662 w 1581150"/>
                <a:gd name="connsiteY9" fmla="*/ 6614 h 1179668"/>
                <a:gd name="connsiteX10" fmla="*/ 1233487 w 1581150"/>
                <a:gd name="connsiteY10" fmla="*/ 663839 h 1179668"/>
                <a:gd name="connsiteX11" fmla="*/ 1581150 w 1581150"/>
                <a:gd name="connsiteY11" fmla="*/ 682889 h 1179668"/>
                <a:gd name="connsiteX0" fmla="*/ 0 w 1581150"/>
                <a:gd name="connsiteY0" fmla="*/ 711464 h 1179668"/>
                <a:gd name="connsiteX1" fmla="*/ 195264 w 1581150"/>
                <a:gd name="connsiteY1" fmla="*/ 605862 h 1179668"/>
                <a:gd name="connsiteX2" fmla="*/ 276225 w 1581150"/>
                <a:gd name="connsiteY2" fmla="*/ 719333 h 1179668"/>
                <a:gd name="connsiteX3" fmla="*/ 385763 w 1581150"/>
                <a:gd name="connsiteY3" fmla="*/ 706702 h 1179668"/>
                <a:gd name="connsiteX4" fmla="*/ 595313 w 1581150"/>
                <a:gd name="connsiteY4" fmla="*/ 701939 h 1179668"/>
                <a:gd name="connsiteX5" fmla="*/ 666750 w 1581150"/>
                <a:gd name="connsiteY5" fmla="*/ 511439 h 1179668"/>
                <a:gd name="connsiteX6" fmla="*/ 714375 w 1581150"/>
                <a:gd name="connsiteY6" fmla="*/ 1178189 h 1179668"/>
                <a:gd name="connsiteX7" fmla="*/ 804862 w 1581150"/>
                <a:gd name="connsiteY7" fmla="*/ 701939 h 1179668"/>
                <a:gd name="connsiteX8" fmla="*/ 966788 w 1581150"/>
                <a:gd name="connsiteY8" fmla="*/ 668601 h 1179668"/>
                <a:gd name="connsiteX9" fmla="*/ 1109662 w 1581150"/>
                <a:gd name="connsiteY9" fmla="*/ 6614 h 1179668"/>
                <a:gd name="connsiteX10" fmla="*/ 1233487 w 1581150"/>
                <a:gd name="connsiteY10" fmla="*/ 663839 h 1179668"/>
                <a:gd name="connsiteX11" fmla="*/ 1581150 w 1581150"/>
                <a:gd name="connsiteY11" fmla="*/ 682889 h 1179668"/>
                <a:gd name="connsiteX0" fmla="*/ 0 w 1581150"/>
                <a:gd name="connsiteY0" fmla="*/ 711464 h 1179668"/>
                <a:gd name="connsiteX1" fmla="*/ 141530 w 1581150"/>
                <a:gd name="connsiteY1" fmla="*/ 605862 h 1179668"/>
                <a:gd name="connsiteX2" fmla="*/ 276225 w 1581150"/>
                <a:gd name="connsiteY2" fmla="*/ 719333 h 1179668"/>
                <a:gd name="connsiteX3" fmla="*/ 385763 w 1581150"/>
                <a:gd name="connsiteY3" fmla="*/ 706702 h 1179668"/>
                <a:gd name="connsiteX4" fmla="*/ 595313 w 1581150"/>
                <a:gd name="connsiteY4" fmla="*/ 701939 h 1179668"/>
                <a:gd name="connsiteX5" fmla="*/ 666750 w 1581150"/>
                <a:gd name="connsiteY5" fmla="*/ 511439 h 1179668"/>
                <a:gd name="connsiteX6" fmla="*/ 714375 w 1581150"/>
                <a:gd name="connsiteY6" fmla="*/ 1178189 h 1179668"/>
                <a:gd name="connsiteX7" fmla="*/ 804862 w 1581150"/>
                <a:gd name="connsiteY7" fmla="*/ 701939 h 1179668"/>
                <a:gd name="connsiteX8" fmla="*/ 966788 w 1581150"/>
                <a:gd name="connsiteY8" fmla="*/ 668601 h 1179668"/>
                <a:gd name="connsiteX9" fmla="*/ 1109662 w 1581150"/>
                <a:gd name="connsiteY9" fmla="*/ 6614 h 1179668"/>
                <a:gd name="connsiteX10" fmla="*/ 1233487 w 1581150"/>
                <a:gd name="connsiteY10" fmla="*/ 663839 h 1179668"/>
                <a:gd name="connsiteX11" fmla="*/ 1581150 w 1581150"/>
                <a:gd name="connsiteY11" fmla="*/ 682889 h 1179668"/>
                <a:gd name="connsiteX0" fmla="*/ 0 w 1624137"/>
                <a:gd name="connsiteY0" fmla="*/ 723473 h 1179668"/>
                <a:gd name="connsiteX1" fmla="*/ 184517 w 1624137"/>
                <a:gd name="connsiteY1" fmla="*/ 605862 h 1179668"/>
                <a:gd name="connsiteX2" fmla="*/ 319212 w 1624137"/>
                <a:gd name="connsiteY2" fmla="*/ 719333 h 1179668"/>
                <a:gd name="connsiteX3" fmla="*/ 428750 w 1624137"/>
                <a:gd name="connsiteY3" fmla="*/ 706702 h 1179668"/>
                <a:gd name="connsiteX4" fmla="*/ 638300 w 1624137"/>
                <a:gd name="connsiteY4" fmla="*/ 701939 h 1179668"/>
                <a:gd name="connsiteX5" fmla="*/ 709737 w 1624137"/>
                <a:gd name="connsiteY5" fmla="*/ 511439 h 1179668"/>
                <a:gd name="connsiteX6" fmla="*/ 757362 w 1624137"/>
                <a:gd name="connsiteY6" fmla="*/ 1178189 h 1179668"/>
                <a:gd name="connsiteX7" fmla="*/ 847849 w 1624137"/>
                <a:gd name="connsiteY7" fmla="*/ 701939 h 1179668"/>
                <a:gd name="connsiteX8" fmla="*/ 1009775 w 1624137"/>
                <a:gd name="connsiteY8" fmla="*/ 668601 h 1179668"/>
                <a:gd name="connsiteX9" fmla="*/ 1152649 w 1624137"/>
                <a:gd name="connsiteY9" fmla="*/ 6614 h 1179668"/>
                <a:gd name="connsiteX10" fmla="*/ 1276474 w 1624137"/>
                <a:gd name="connsiteY10" fmla="*/ 663839 h 1179668"/>
                <a:gd name="connsiteX11" fmla="*/ 1624137 w 1624137"/>
                <a:gd name="connsiteY11" fmla="*/ 682889 h 1179668"/>
                <a:gd name="connsiteX0" fmla="*/ 0 w 1624137"/>
                <a:gd name="connsiteY0" fmla="*/ 723473 h 1179668"/>
                <a:gd name="connsiteX1" fmla="*/ 184517 w 1624137"/>
                <a:gd name="connsiteY1" fmla="*/ 605862 h 1179668"/>
                <a:gd name="connsiteX2" fmla="*/ 319212 w 1624137"/>
                <a:gd name="connsiteY2" fmla="*/ 719333 h 1179668"/>
                <a:gd name="connsiteX3" fmla="*/ 428750 w 1624137"/>
                <a:gd name="connsiteY3" fmla="*/ 706702 h 1179668"/>
                <a:gd name="connsiteX4" fmla="*/ 638300 w 1624137"/>
                <a:gd name="connsiteY4" fmla="*/ 701939 h 1179668"/>
                <a:gd name="connsiteX5" fmla="*/ 709737 w 1624137"/>
                <a:gd name="connsiteY5" fmla="*/ 511439 h 1179668"/>
                <a:gd name="connsiteX6" fmla="*/ 757362 w 1624137"/>
                <a:gd name="connsiteY6" fmla="*/ 1178189 h 1179668"/>
                <a:gd name="connsiteX7" fmla="*/ 847849 w 1624137"/>
                <a:gd name="connsiteY7" fmla="*/ 701939 h 1179668"/>
                <a:gd name="connsiteX8" fmla="*/ 1009775 w 1624137"/>
                <a:gd name="connsiteY8" fmla="*/ 668601 h 1179668"/>
                <a:gd name="connsiteX9" fmla="*/ 1152649 w 1624137"/>
                <a:gd name="connsiteY9" fmla="*/ 6614 h 1179668"/>
                <a:gd name="connsiteX10" fmla="*/ 1276474 w 1624137"/>
                <a:gd name="connsiteY10" fmla="*/ 663839 h 1179668"/>
                <a:gd name="connsiteX11" fmla="*/ 1624137 w 1624137"/>
                <a:gd name="connsiteY11" fmla="*/ 682889 h 1179668"/>
                <a:gd name="connsiteX0" fmla="*/ 0 w 1624137"/>
                <a:gd name="connsiteY0" fmla="*/ 723473 h 1179668"/>
                <a:gd name="connsiteX1" fmla="*/ 184517 w 1624137"/>
                <a:gd name="connsiteY1" fmla="*/ 605862 h 1179668"/>
                <a:gd name="connsiteX2" fmla="*/ 292345 w 1624137"/>
                <a:gd name="connsiteY2" fmla="*/ 695313 h 1179668"/>
                <a:gd name="connsiteX3" fmla="*/ 428750 w 1624137"/>
                <a:gd name="connsiteY3" fmla="*/ 706702 h 1179668"/>
                <a:gd name="connsiteX4" fmla="*/ 638300 w 1624137"/>
                <a:gd name="connsiteY4" fmla="*/ 701939 h 1179668"/>
                <a:gd name="connsiteX5" fmla="*/ 709737 w 1624137"/>
                <a:gd name="connsiteY5" fmla="*/ 511439 h 1179668"/>
                <a:gd name="connsiteX6" fmla="*/ 757362 w 1624137"/>
                <a:gd name="connsiteY6" fmla="*/ 1178189 h 1179668"/>
                <a:gd name="connsiteX7" fmla="*/ 847849 w 1624137"/>
                <a:gd name="connsiteY7" fmla="*/ 701939 h 1179668"/>
                <a:gd name="connsiteX8" fmla="*/ 1009775 w 1624137"/>
                <a:gd name="connsiteY8" fmla="*/ 668601 h 1179668"/>
                <a:gd name="connsiteX9" fmla="*/ 1152649 w 1624137"/>
                <a:gd name="connsiteY9" fmla="*/ 6614 h 1179668"/>
                <a:gd name="connsiteX10" fmla="*/ 1276474 w 1624137"/>
                <a:gd name="connsiteY10" fmla="*/ 663839 h 1179668"/>
                <a:gd name="connsiteX11" fmla="*/ 1624137 w 1624137"/>
                <a:gd name="connsiteY11" fmla="*/ 682889 h 1179668"/>
                <a:gd name="connsiteX0" fmla="*/ 0 w 1624137"/>
                <a:gd name="connsiteY0" fmla="*/ 723473 h 1179668"/>
                <a:gd name="connsiteX1" fmla="*/ 184517 w 1624137"/>
                <a:gd name="connsiteY1" fmla="*/ 605862 h 1179668"/>
                <a:gd name="connsiteX2" fmla="*/ 292345 w 1624137"/>
                <a:gd name="connsiteY2" fmla="*/ 695313 h 1179668"/>
                <a:gd name="connsiteX3" fmla="*/ 428750 w 1624137"/>
                <a:gd name="connsiteY3" fmla="*/ 706702 h 1179668"/>
                <a:gd name="connsiteX4" fmla="*/ 638300 w 1624137"/>
                <a:gd name="connsiteY4" fmla="*/ 701939 h 1179668"/>
                <a:gd name="connsiteX5" fmla="*/ 709737 w 1624137"/>
                <a:gd name="connsiteY5" fmla="*/ 511439 h 1179668"/>
                <a:gd name="connsiteX6" fmla="*/ 757362 w 1624137"/>
                <a:gd name="connsiteY6" fmla="*/ 1178189 h 1179668"/>
                <a:gd name="connsiteX7" fmla="*/ 847849 w 1624137"/>
                <a:gd name="connsiteY7" fmla="*/ 701939 h 1179668"/>
                <a:gd name="connsiteX8" fmla="*/ 1009775 w 1624137"/>
                <a:gd name="connsiteY8" fmla="*/ 668601 h 1179668"/>
                <a:gd name="connsiteX9" fmla="*/ 1152649 w 1624137"/>
                <a:gd name="connsiteY9" fmla="*/ 6614 h 1179668"/>
                <a:gd name="connsiteX10" fmla="*/ 1276474 w 1624137"/>
                <a:gd name="connsiteY10" fmla="*/ 663839 h 1179668"/>
                <a:gd name="connsiteX11" fmla="*/ 1624137 w 1624137"/>
                <a:gd name="connsiteY11" fmla="*/ 682889 h 1179668"/>
                <a:gd name="connsiteX0" fmla="*/ 0 w 1624137"/>
                <a:gd name="connsiteY0" fmla="*/ 723473 h 1179668"/>
                <a:gd name="connsiteX1" fmla="*/ 111360 w 1624137"/>
                <a:gd name="connsiteY1" fmla="*/ 711287 h 1179668"/>
                <a:gd name="connsiteX2" fmla="*/ 184517 w 1624137"/>
                <a:gd name="connsiteY2" fmla="*/ 605862 h 1179668"/>
                <a:gd name="connsiteX3" fmla="*/ 292345 w 1624137"/>
                <a:gd name="connsiteY3" fmla="*/ 695313 h 1179668"/>
                <a:gd name="connsiteX4" fmla="*/ 428750 w 1624137"/>
                <a:gd name="connsiteY4" fmla="*/ 706702 h 1179668"/>
                <a:gd name="connsiteX5" fmla="*/ 638300 w 1624137"/>
                <a:gd name="connsiteY5" fmla="*/ 701939 h 1179668"/>
                <a:gd name="connsiteX6" fmla="*/ 709737 w 1624137"/>
                <a:gd name="connsiteY6" fmla="*/ 511439 h 1179668"/>
                <a:gd name="connsiteX7" fmla="*/ 757362 w 1624137"/>
                <a:gd name="connsiteY7" fmla="*/ 1178189 h 1179668"/>
                <a:gd name="connsiteX8" fmla="*/ 847849 w 1624137"/>
                <a:gd name="connsiteY8" fmla="*/ 701939 h 1179668"/>
                <a:gd name="connsiteX9" fmla="*/ 1009775 w 1624137"/>
                <a:gd name="connsiteY9" fmla="*/ 668601 h 1179668"/>
                <a:gd name="connsiteX10" fmla="*/ 1152649 w 1624137"/>
                <a:gd name="connsiteY10" fmla="*/ 6614 h 1179668"/>
                <a:gd name="connsiteX11" fmla="*/ 1276474 w 1624137"/>
                <a:gd name="connsiteY11" fmla="*/ 663839 h 1179668"/>
                <a:gd name="connsiteX12" fmla="*/ 1624137 w 1624137"/>
                <a:gd name="connsiteY12" fmla="*/ 682889 h 1179668"/>
                <a:gd name="connsiteX0" fmla="*/ 0 w 1624137"/>
                <a:gd name="connsiteY0" fmla="*/ 723473 h 1179668"/>
                <a:gd name="connsiteX1" fmla="*/ 111360 w 1624137"/>
                <a:gd name="connsiteY1" fmla="*/ 711287 h 1179668"/>
                <a:gd name="connsiteX2" fmla="*/ 184517 w 1624137"/>
                <a:gd name="connsiteY2" fmla="*/ 605862 h 1179668"/>
                <a:gd name="connsiteX3" fmla="*/ 292345 w 1624137"/>
                <a:gd name="connsiteY3" fmla="*/ 695313 h 1179668"/>
                <a:gd name="connsiteX4" fmla="*/ 428750 w 1624137"/>
                <a:gd name="connsiteY4" fmla="*/ 706702 h 1179668"/>
                <a:gd name="connsiteX5" fmla="*/ 638300 w 1624137"/>
                <a:gd name="connsiteY5" fmla="*/ 701939 h 1179668"/>
                <a:gd name="connsiteX6" fmla="*/ 709737 w 1624137"/>
                <a:gd name="connsiteY6" fmla="*/ 511439 h 1179668"/>
                <a:gd name="connsiteX7" fmla="*/ 757362 w 1624137"/>
                <a:gd name="connsiteY7" fmla="*/ 1178189 h 1179668"/>
                <a:gd name="connsiteX8" fmla="*/ 847849 w 1624137"/>
                <a:gd name="connsiteY8" fmla="*/ 701939 h 1179668"/>
                <a:gd name="connsiteX9" fmla="*/ 1009775 w 1624137"/>
                <a:gd name="connsiteY9" fmla="*/ 668601 h 1179668"/>
                <a:gd name="connsiteX10" fmla="*/ 1152649 w 1624137"/>
                <a:gd name="connsiteY10" fmla="*/ 6614 h 1179668"/>
                <a:gd name="connsiteX11" fmla="*/ 1276474 w 1624137"/>
                <a:gd name="connsiteY11" fmla="*/ 663839 h 1179668"/>
                <a:gd name="connsiteX12" fmla="*/ 1624137 w 1624137"/>
                <a:gd name="connsiteY12" fmla="*/ 682889 h 1179668"/>
                <a:gd name="connsiteX0" fmla="*/ 0 w 1624137"/>
                <a:gd name="connsiteY0" fmla="*/ 723473 h 1179668"/>
                <a:gd name="connsiteX1" fmla="*/ 111360 w 1624137"/>
                <a:gd name="connsiteY1" fmla="*/ 711287 h 1179668"/>
                <a:gd name="connsiteX2" fmla="*/ 200636 w 1624137"/>
                <a:gd name="connsiteY2" fmla="*/ 629882 h 1179668"/>
                <a:gd name="connsiteX3" fmla="*/ 292345 w 1624137"/>
                <a:gd name="connsiteY3" fmla="*/ 695313 h 1179668"/>
                <a:gd name="connsiteX4" fmla="*/ 428750 w 1624137"/>
                <a:gd name="connsiteY4" fmla="*/ 706702 h 1179668"/>
                <a:gd name="connsiteX5" fmla="*/ 638300 w 1624137"/>
                <a:gd name="connsiteY5" fmla="*/ 701939 h 1179668"/>
                <a:gd name="connsiteX6" fmla="*/ 709737 w 1624137"/>
                <a:gd name="connsiteY6" fmla="*/ 511439 h 1179668"/>
                <a:gd name="connsiteX7" fmla="*/ 757362 w 1624137"/>
                <a:gd name="connsiteY7" fmla="*/ 1178189 h 1179668"/>
                <a:gd name="connsiteX8" fmla="*/ 847849 w 1624137"/>
                <a:gd name="connsiteY8" fmla="*/ 701939 h 1179668"/>
                <a:gd name="connsiteX9" fmla="*/ 1009775 w 1624137"/>
                <a:gd name="connsiteY9" fmla="*/ 668601 h 1179668"/>
                <a:gd name="connsiteX10" fmla="*/ 1152649 w 1624137"/>
                <a:gd name="connsiteY10" fmla="*/ 6614 h 1179668"/>
                <a:gd name="connsiteX11" fmla="*/ 1276474 w 1624137"/>
                <a:gd name="connsiteY11" fmla="*/ 663839 h 1179668"/>
                <a:gd name="connsiteX12" fmla="*/ 1624137 w 1624137"/>
                <a:gd name="connsiteY12" fmla="*/ 682889 h 1179668"/>
                <a:gd name="connsiteX0" fmla="*/ 0 w 1624137"/>
                <a:gd name="connsiteY0" fmla="*/ 723473 h 1179668"/>
                <a:gd name="connsiteX1" fmla="*/ 111360 w 1624137"/>
                <a:gd name="connsiteY1" fmla="*/ 711287 h 1179668"/>
                <a:gd name="connsiteX2" fmla="*/ 200636 w 1624137"/>
                <a:gd name="connsiteY2" fmla="*/ 629882 h 1179668"/>
                <a:gd name="connsiteX3" fmla="*/ 303092 w 1624137"/>
                <a:gd name="connsiteY3" fmla="*/ 701317 h 1179668"/>
                <a:gd name="connsiteX4" fmla="*/ 428750 w 1624137"/>
                <a:gd name="connsiteY4" fmla="*/ 706702 h 1179668"/>
                <a:gd name="connsiteX5" fmla="*/ 638300 w 1624137"/>
                <a:gd name="connsiteY5" fmla="*/ 701939 h 1179668"/>
                <a:gd name="connsiteX6" fmla="*/ 709737 w 1624137"/>
                <a:gd name="connsiteY6" fmla="*/ 511439 h 1179668"/>
                <a:gd name="connsiteX7" fmla="*/ 757362 w 1624137"/>
                <a:gd name="connsiteY7" fmla="*/ 1178189 h 1179668"/>
                <a:gd name="connsiteX8" fmla="*/ 847849 w 1624137"/>
                <a:gd name="connsiteY8" fmla="*/ 701939 h 1179668"/>
                <a:gd name="connsiteX9" fmla="*/ 1009775 w 1624137"/>
                <a:gd name="connsiteY9" fmla="*/ 668601 h 1179668"/>
                <a:gd name="connsiteX10" fmla="*/ 1152649 w 1624137"/>
                <a:gd name="connsiteY10" fmla="*/ 6614 h 1179668"/>
                <a:gd name="connsiteX11" fmla="*/ 1276474 w 1624137"/>
                <a:gd name="connsiteY11" fmla="*/ 663839 h 1179668"/>
                <a:gd name="connsiteX12" fmla="*/ 1624137 w 1624137"/>
                <a:gd name="connsiteY12" fmla="*/ 682889 h 1179668"/>
                <a:gd name="connsiteX0" fmla="*/ 0 w 1624137"/>
                <a:gd name="connsiteY0" fmla="*/ 723473 h 1179668"/>
                <a:gd name="connsiteX1" fmla="*/ 111360 w 1624137"/>
                <a:gd name="connsiteY1" fmla="*/ 711287 h 1179668"/>
                <a:gd name="connsiteX2" fmla="*/ 200636 w 1624137"/>
                <a:gd name="connsiteY2" fmla="*/ 629882 h 1179668"/>
                <a:gd name="connsiteX3" fmla="*/ 303092 w 1624137"/>
                <a:gd name="connsiteY3" fmla="*/ 701317 h 1179668"/>
                <a:gd name="connsiteX4" fmla="*/ 428750 w 1624137"/>
                <a:gd name="connsiteY4" fmla="*/ 706703 h 1179668"/>
                <a:gd name="connsiteX5" fmla="*/ 638300 w 1624137"/>
                <a:gd name="connsiteY5" fmla="*/ 701939 h 1179668"/>
                <a:gd name="connsiteX6" fmla="*/ 709737 w 1624137"/>
                <a:gd name="connsiteY6" fmla="*/ 511439 h 1179668"/>
                <a:gd name="connsiteX7" fmla="*/ 757362 w 1624137"/>
                <a:gd name="connsiteY7" fmla="*/ 1178189 h 1179668"/>
                <a:gd name="connsiteX8" fmla="*/ 847849 w 1624137"/>
                <a:gd name="connsiteY8" fmla="*/ 701939 h 1179668"/>
                <a:gd name="connsiteX9" fmla="*/ 1009775 w 1624137"/>
                <a:gd name="connsiteY9" fmla="*/ 668601 h 1179668"/>
                <a:gd name="connsiteX10" fmla="*/ 1152649 w 1624137"/>
                <a:gd name="connsiteY10" fmla="*/ 6614 h 1179668"/>
                <a:gd name="connsiteX11" fmla="*/ 1276474 w 1624137"/>
                <a:gd name="connsiteY11" fmla="*/ 663839 h 1179668"/>
                <a:gd name="connsiteX12" fmla="*/ 1624137 w 1624137"/>
                <a:gd name="connsiteY12" fmla="*/ 682889 h 1179668"/>
                <a:gd name="connsiteX0" fmla="*/ 0 w 1624137"/>
                <a:gd name="connsiteY0" fmla="*/ 723473 h 1179668"/>
                <a:gd name="connsiteX1" fmla="*/ 111360 w 1624137"/>
                <a:gd name="connsiteY1" fmla="*/ 711287 h 1179668"/>
                <a:gd name="connsiteX2" fmla="*/ 200636 w 1624137"/>
                <a:gd name="connsiteY2" fmla="*/ 629882 h 1179668"/>
                <a:gd name="connsiteX3" fmla="*/ 254732 w 1624137"/>
                <a:gd name="connsiteY3" fmla="*/ 701317 h 1179668"/>
                <a:gd name="connsiteX4" fmla="*/ 428750 w 1624137"/>
                <a:gd name="connsiteY4" fmla="*/ 706703 h 1179668"/>
                <a:gd name="connsiteX5" fmla="*/ 638300 w 1624137"/>
                <a:gd name="connsiteY5" fmla="*/ 701939 h 1179668"/>
                <a:gd name="connsiteX6" fmla="*/ 709737 w 1624137"/>
                <a:gd name="connsiteY6" fmla="*/ 511439 h 1179668"/>
                <a:gd name="connsiteX7" fmla="*/ 757362 w 1624137"/>
                <a:gd name="connsiteY7" fmla="*/ 1178189 h 1179668"/>
                <a:gd name="connsiteX8" fmla="*/ 847849 w 1624137"/>
                <a:gd name="connsiteY8" fmla="*/ 701939 h 1179668"/>
                <a:gd name="connsiteX9" fmla="*/ 1009775 w 1624137"/>
                <a:gd name="connsiteY9" fmla="*/ 668601 h 1179668"/>
                <a:gd name="connsiteX10" fmla="*/ 1152649 w 1624137"/>
                <a:gd name="connsiteY10" fmla="*/ 6614 h 1179668"/>
                <a:gd name="connsiteX11" fmla="*/ 1276474 w 1624137"/>
                <a:gd name="connsiteY11" fmla="*/ 663839 h 1179668"/>
                <a:gd name="connsiteX12" fmla="*/ 1624137 w 1624137"/>
                <a:gd name="connsiteY12" fmla="*/ 682889 h 1179668"/>
                <a:gd name="connsiteX0" fmla="*/ 0 w 1624137"/>
                <a:gd name="connsiteY0" fmla="*/ 723473 h 1179668"/>
                <a:gd name="connsiteX1" fmla="*/ 111360 w 1624137"/>
                <a:gd name="connsiteY1" fmla="*/ 711287 h 1179668"/>
                <a:gd name="connsiteX2" fmla="*/ 146903 w 1624137"/>
                <a:gd name="connsiteY2" fmla="*/ 629882 h 1179668"/>
                <a:gd name="connsiteX3" fmla="*/ 254732 w 1624137"/>
                <a:gd name="connsiteY3" fmla="*/ 701317 h 1179668"/>
                <a:gd name="connsiteX4" fmla="*/ 428750 w 1624137"/>
                <a:gd name="connsiteY4" fmla="*/ 706703 h 1179668"/>
                <a:gd name="connsiteX5" fmla="*/ 638300 w 1624137"/>
                <a:gd name="connsiteY5" fmla="*/ 701939 h 1179668"/>
                <a:gd name="connsiteX6" fmla="*/ 709737 w 1624137"/>
                <a:gd name="connsiteY6" fmla="*/ 511439 h 1179668"/>
                <a:gd name="connsiteX7" fmla="*/ 757362 w 1624137"/>
                <a:gd name="connsiteY7" fmla="*/ 1178189 h 1179668"/>
                <a:gd name="connsiteX8" fmla="*/ 847849 w 1624137"/>
                <a:gd name="connsiteY8" fmla="*/ 701939 h 1179668"/>
                <a:gd name="connsiteX9" fmla="*/ 1009775 w 1624137"/>
                <a:gd name="connsiteY9" fmla="*/ 668601 h 1179668"/>
                <a:gd name="connsiteX10" fmla="*/ 1152649 w 1624137"/>
                <a:gd name="connsiteY10" fmla="*/ 6614 h 1179668"/>
                <a:gd name="connsiteX11" fmla="*/ 1276474 w 1624137"/>
                <a:gd name="connsiteY11" fmla="*/ 663839 h 1179668"/>
                <a:gd name="connsiteX12" fmla="*/ 1624137 w 1624137"/>
                <a:gd name="connsiteY12" fmla="*/ 682889 h 1179668"/>
                <a:gd name="connsiteX0" fmla="*/ 0 w 1624137"/>
                <a:gd name="connsiteY0" fmla="*/ 723473 h 1179668"/>
                <a:gd name="connsiteX1" fmla="*/ 79120 w 1624137"/>
                <a:gd name="connsiteY1" fmla="*/ 711287 h 1179668"/>
                <a:gd name="connsiteX2" fmla="*/ 146903 w 1624137"/>
                <a:gd name="connsiteY2" fmla="*/ 629882 h 1179668"/>
                <a:gd name="connsiteX3" fmla="*/ 254732 w 1624137"/>
                <a:gd name="connsiteY3" fmla="*/ 701317 h 1179668"/>
                <a:gd name="connsiteX4" fmla="*/ 428750 w 1624137"/>
                <a:gd name="connsiteY4" fmla="*/ 706703 h 1179668"/>
                <a:gd name="connsiteX5" fmla="*/ 638300 w 1624137"/>
                <a:gd name="connsiteY5" fmla="*/ 701939 h 1179668"/>
                <a:gd name="connsiteX6" fmla="*/ 709737 w 1624137"/>
                <a:gd name="connsiteY6" fmla="*/ 511439 h 1179668"/>
                <a:gd name="connsiteX7" fmla="*/ 757362 w 1624137"/>
                <a:gd name="connsiteY7" fmla="*/ 1178189 h 1179668"/>
                <a:gd name="connsiteX8" fmla="*/ 847849 w 1624137"/>
                <a:gd name="connsiteY8" fmla="*/ 701939 h 1179668"/>
                <a:gd name="connsiteX9" fmla="*/ 1009775 w 1624137"/>
                <a:gd name="connsiteY9" fmla="*/ 668601 h 1179668"/>
                <a:gd name="connsiteX10" fmla="*/ 1152649 w 1624137"/>
                <a:gd name="connsiteY10" fmla="*/ 6614 h 1179668"/>
                <a:gd name="connsiteX11" fmla="*/ 1276474 w 1624137"/>
                <a:gd name="connsiteY11" fmla="*/ 663839 h 1179668"/>
                <a:gd name="connsiteX12" fmla="*/ 1624137 w 1624137"/>
                <a:gd name="connsiteY12" fmla="*/ 682889 h 1179668"/>
                <a:gd name="connsiteX0" fmla="*/ 0 w 1667124"/>
                <a:gd name="connsiteY0" fmla="*/ 723473 h 1179668"/>
                <a:gd name="connsiteX1" fmla="*/ 122107 w 1667124"/>
                <a:gd name="connsiteY1" fmla="*/ 711287 h 1179668"/>
                <a:gd name="connsiteX2" fmla="*/ 189890 w 1667124"/>
                <a:gd name="connsiteY2" fmla="*/ 629882 h 1179668"/>
                <a:gd name="connsiteX3" fmla="*/ 297719 w 1667124"/>
                <a:gd name="connsiteY3" fmla="*/ 701317 h 1179668"/>
                <a:gd name="connsiteX4" fmla="*/ 471737 w 1667124"/>
                <a:gd name="connsiteY4" fmla="*/ 706703 h 1179668"/>
                <a:gd name="connsiteX5" fmla="*/ 681287 w 1667124"/>
                <a:gd name="connsiteY5" fmla="*/ 701939 h 1179668"/>
                <a:gd name="connsiteX6" fmla="*/ 752724 w 1667124"/>
                <a:gd name="connsiteY6" fmla="*/ 511439 h 1179668"/>
                <a:gd name="connsiteX7" fmla="*/ 800349 w 1667124"/>
                <a:gd name="connsiteY7" fmla="*/ 1178189 h 1179668"/>
                <a:gd name="connsiteX8" fmla="*/ 890836 w 1667124"/>
                <a:gd name="connsiteY8" fmla="*/ 701939 h 1179668"/>
                <a:gd name="connsiteX9" fmla="*/ 1052762 w 1667124"/>
                <a:gd name="connsiteY9" fmla="*/ 668601 h 1179668"/>
                <a:gd name="connsiteX10" fmla="*/ 1195636 w 1667124"/>
                <a:gd name="connsiteY10" fmla="*/ 6614 h 1179668"/>
                <a:gd name="connsiteX11" fmla="*/ 1319461 w 1667124"/>
                <a:gd name="connsiteY11" fmla="*/ 663839 h 1179668"/>
                <a:gd name="connsiteX12" fmla="*/ 1667124 w 1667124"/>
                <a:gd name="connsiteY12" fmla="*/ 682889 h 1179668"/>
                <a:gd name="connsiteX0" fmla="*/ 0 w 1667124"/>
                <a:gd name="connsiteY0" fmla="*/ 723473 h 1179668"/>
                <a:gd name="connsiteX1" fmla="*/ 122107 w 1667124"/>
                <a:gd name="connsiteY1" fmla="*/ 711287 h 1179668"/>
                <a:gd name="connsiteX2" fmla="*/ 189890 w 1667124"/>
                <a:gd name="connsiteY2" fmla="*/ 629882 h 1179668"/>
                <a:gd name="connsiteX3" fmla="*/ 297719 w 1667124"/>
                <a:gd name="connsiteY3" fmla="*/ 701317 h 1179668"/>
                <a:gd name="connsiteX4" fmla="*/ 471737 w 1667124"/>
                <a:gd name="connsiteY4" fmla="*/ 724717 h 1179668"/>
                <a:gd name="connsiteX5" fmla="*/ 681287 w 1667124"/>
                <a:gd name="connsiteY5" fmla="*/ 701939 h 1179668"/>
                <a:gd name="connsiteX6" fmla="*/ 752724 w 1667124"/>
                <a:gd name="connsiteY6" fmla="*/ 511439 h 1179668"/>
                <a:gd name="connsiteX7" fmla="*/ 800349 w 1667124"/>
                <a:gd name="connsiteY7" fmla="*/ 1178189 h 1179668"/>
                <a:gd name="connsiteX8" fmla="*/ 890836 w 1667124"/>
                <a:gd name="connsiteY8" fmla="*/ 701939 h 1179668"/>
                <a:gd name="connsiteX9" fmla="*/ 1052762 w 1667124"/>
                <a:gd name="connsiteY9" fmla="*/ 668601 h 1179668"/>
                <a:gd name="connsiteX10" fmla="*/ 1195636 w 1667124"/>
                <a:gd name="connsiteY10" fmla="*/ 6614 h 1179668"/>
                <a:gd name="connsiteX11" fmla="*/ 1319461 w 1667124"/>
                <a:gd name="connsiteY11" fmla="*/ 663839 h 1179668"/>
                <a:gd name="connsiteX12" fmla="*/ 1667124 w 1667124"/>
                <a:gd name="connsiteY12" fmla="*/ 682889 h 1179668"/>
                <a:gd name="connsiteX0" fmla="*/ 0 w 1667124"/>
                <a:gd name="connsiteY0" fmla="*/ 723473 h 1179668"/>
                <a:gd name="connsiteX1" fmla="*/ 122107 w 1667124"/>
                <a:gd name="connsiteY1" fmla="*/ 711287 h 1179668"/>
                <a:gd name="connsiteX2" fmla="*/ 189890 w 1667124"/>
                <a:gd name="connsiteY2" fmla="*/ 629882 h 1179668"/>
                <a:gd name="connsiteX3" fmla="*/ 270853 w 1667124"/>
                <a:gd name="connsiteY3" fmla="*/ 701317 h 1179668"/>
                <a:gd name="connsiteX4" fmla="*/ 471737 w 1667124"/>
                <a:gd name="connsiteY4" fmla="*/ 724717 h 1179668"/>
                <a:gd name="connsiteX5" fmla="*/ 681287 w 1667124"/>
                <a:gd name="connsiteY5" fmla="*/ 701939 h 1179668"/>
                <a:gd name="connsiteX6" fmla="*/ 752724 w 1667124"/>
                <a:gd name="connsiteY6" fmla="*/ 511439 h 1179668"/>
                <a:gd name="connsiteX7" fmla="*/ 800349 w 1667124"/>
                <a:gd name="connsiteY7" fmla="*/ 1178189 h 1179668"/>
                <a:gd name="connsiteX8" fmla="*/ 890836 w 1667124"/>
                <a:gd name="connsiteY8" fmla="*/ 701939 h 1179668"/>
                <a:gd name="connsiteX9" fmla="*/ 1052762 w 1667124"/>
                <a:gd name="connsiteY9" fmla="*/ 668601 h 1179668"/>
                <a:gd name="connsiteX10" fmla="*/ 1195636 w 1667124"/>
                <a:gd name="connsiteY10" fmla="*/ 6614 h 1179668"/>
                <a:gd name="connsiteX11" fmla="*/ 1319461 w 1667124"/>
                <a:gd name="connsiteY11" fmla="*/ 663839 h 1179668"/>
                <a:gd name="connsiteX12" fmla="*/ 1667124 w 1667124"/>
                <a:gd name="connsiteY12" fmla="*/ 682889 h 1179668"/>
                <a:gd name="connsiteX0" fmla="*/ 0 w 1667124"/>
                <a:gd name="connsiteY0" fmla="*/ 723473 h 1179668"/>
                <a:gd name="connsiteX1" fmla="*/ 122107 w 1667124"/>
                <a:gd name="connsiteY1" fmla="*/ 711287 h 1179668"/>
                <a:gd name="connsiteX2" fmla="*/ 189890 w 1667124"/>
                <a:gd name="connsiteY2" fmla="*/ 629882 h 1179668"/>
                <a:gd name="connsiteX3" fmla="*/ 270853 w 1667124"/>
                <a:gd name="connsiteY3" fmla="*/ 701317 h 1179668"/>
                <a:gd name="connsiteX4" fmla="*/ 466365 w 1667124"/>
                <a:gd name="connsiteY4" fmla="*/ 718712 h 1179668"/>
                <a:gd name="connsiteX5" fmla="*/ 681287 w 1667124"/>
                <a:gd name="connsiteY5" fmla="*/ 701939 h 1179668"/>
                <a:gd name="connsiteX6" fmla="*/ 752724 w 1667124"/>
                <a:gd name="connsiteY6" fmla="*/ 511439 h 1179668"/>
                <a:gd name="connsiteX7" fmla="*/ 800349 w 1667124"/>
                <a:gd name="connsiteY7" fmla="*/ 1178189 h 1179668"/>
                <a:gd name="connsiteX8" fmla="*/ 890836 w 1667124"/>
                <a:gd name="connsiteY8" fmla="*/ 701939 h 1179668"/>
                <a:gd name="connsiteX9" fmla="*/ 1052762 w 1667124"/>
                <a:gd name="connsiteY9" fmla="*/ 668601 h 1179668"/>
                <a:gd name="connsiteX10" fmla="*/ 1195636 w 1667124"/>
                <a:gd name="connsiteY10" fmla="*/ 6614 h 1179668"/>
                <a:gd name="connsiteX11" fmla="*/ 1319461 w 1667124"/>
                <a:gd name="connsiteY11" fmla="*/ 663839 h 1179668"/>
                <a:gd name="connsiteX12" fmla="*/ 1667124 w 1667124"/>
                <a:gd name="connsiteY12" fmla="*/ 682889 h 1179668"/>
                <a:gd name="connsiteX0" fmla="*/ 0 w 1667124"/>
                <a:gd name="connsiteY0" fmla="*/ 723473 h 1179668"/>
                <a:gd name="connsiteX1" fmla="*/ 122107 w 1667124"/>
                <a:gd name="connsiteY1" fmla="*/ 711287 h 1179668"/>
                <a:gd name="connsiteX2" fmla="*/ 189890 w 1667124"/>
                <a:gd name="connsiteY2" fmla="*/ 629882 h 1179668"/>
                <a:gd name="connsiteX3" fmla="*/ 270853 w 1667124"/>
                <a:gd name="connsiteY3" fmla="*/ 701317 h 1179668"/>
                <a:gd name="connsiteX4" fmla="*/ 466365 w 1667124"/>
                <a:gd name="connsiteY4" fmla="*/ 718712 h 1179668"/>
                <a:gd name="connsiteX5" fmla="*/ 681287 w 1667124"/>
                <a:gd name="connsiteY5" fmla="*/ 683924 h 1179668"/>
                <a:gd name="connsiteX6" fmla="*/ 752724 w 1667124"/>
                <a:gd name="connsiteY6" fmla="*/ 511439 h 1179668"/>
                <a:gd name="connsiteX7" fmla="*/ 800349 w 1667124"/>
                <a:gd name="connsiteY7" fmla="*/ 1178189 h 1179668"/>
                <a:gd name="connsiteX8" fmla="*/ 890836 w 1667124"/>
                <a:gd name="connsiteY8" fmla="*/ 701939 h 1179668"/>
                <a:gd name="connsiteX9" fmla="*/ 1052762 w 1667124"/>
                <a:gd name="connsiteY9" fmla="*/ 668601 h 1179668"/>
                <a:gd name="connsiteX10" fmla="*/ 1195636 w 1667124"/>
                <a:gd name="connsiteY10" fmla="*/ 6614 h 1179668"/>
                <a:gd name="connsiteX11" fmla="*/ 1319461 w 1667124"/>
                <a:gd name="connsiteY11" fmla="*/ 663839 h 1179668"/>
                <a:gd name="connsiteX12" fmla="*/ 1667124 w 1667124"/>
                <a:gd name="connsiteY12" fmla="*/ 682889 h 1179668"/>
                <a:gd name="connsiteX0" fmla="*/ 0 w 1667124"/>
                <a:gd name="connsiteY0" fmla="*/ 723473 h 1179256"/>
                <a:gd name="connsiteX1" fmla="*/ 122107 w 1667124"/>
                <a:gd name="connsiteY1" fmla="*/ 711287 h 1179256"/>
                <a:gd name="connsiteX2" fmla="*/ 189890 w 1667124"/>
                <a:gd name="connsiteY2" fmla="*/ 629882 h 1179256"/>
                <a:gd name="connsiteX3" fmla="*/ 270853 w 1667124"/>
                <a:gd name="connsiteY3" fmla="*/ 701317 h 1179256"/>
                <a:gd name="connsiteX4" fmla="*/ 466365 w 1667124"/>
                <a:gd name="connsiteY4" fmla="*/ 718712 h 1179256"/>
                <a:gd name="connsiteX5" fmla="*/ 681287 w 1667124"/>
                <a:gd name="connsiteY5" fmla="*/ 683924 h 1179256"/>
                <a:gd name="connsiteX6" fmla="*/ 752724 w 1667124"/>
                <a:gd name="connsiteY6" fmla="*/ 541463 h 1179256"/>
                <a:gd name="connsiteX7" fmla="*/ 800349 w 1667124"/>
                <a:gd name="connsiteY7" fmla="*/ 1178189 h 1179256"/>
                <a:gd name="connsiteX8" fmla="*/ 890836 w 1667124"/>
                <a:gd name="connsiteY8" fmla="*/ 701939 h 1179256"/>
                <a:gd name="connsiteX9" fmla="*/ 1052762 w 1667124"/>
                <a:gd name="connsiteY9" fmla="*/ 668601 h 1179256"/>
                <a:gd name="connsiteX10" fmla="*/ 1195636 w 1667124"/>
                <a:gd name="connsiteY10" fmla="*/ 6614 h 1179256"/>
                <a:gd name="connsiteX11" fmla="*/ 1319461 w 1667124"/>
                <a:gd name="connsiteY11" fmla="*/ 663839 h 1179256"/>
                <a:gd name="connsiteX12" fmla="*/ 1667124 w 1667124"/>
                <a:gd name="connsiteY12" fmla="*/ 682889 h 1179256"/>
                <a:gd name="connsiteX0" fmla="*/ 0 w 1667124"/>
                <a:gd name="connsiteY0" fmla="*/ 723473 h 1179256"/>
                <a:gd name="connsiteX1" fmla="*/ 122107 w 1667124"/>
                <a:gd name="connsiteY1" fmla="*/ 711287 h 1179256"/>
                <a:gd name="connsiteX2" fmla="*/ 189890 w 1667124"/>
                <a:gd name="connsiteY2" fmla="*/ 629882 h 1179256"/>
                <a:gd name="connsiteX3" fmla="*/ 270853 w 1667124"/>
                <a:gd name="connsiteY3" fmla="*/ 701317 h 1179256"/>
                <a:gd name="connsiteX4" fmla="*/ 466365 w 1667124"/>
                <a:gd name="connsiteY4" fmla="*/ 718713 h 1179256"/>
                <a:gd name="connsiteX5" fmla="*/ 681287 w 1667124"/>
                <a:gd name="connsiteY5" fmla="*/ 683924 h 1179256"/>
                <a:gd name="connsiteX6" fmla="*/ 752724 w 1667124"/>
                <a:gd name="connsiteY6" fmla="*/ 541463 h 1179256"/>
                <a:gd name="connsiteX7" fmla="*/ 800349 w 1667124"/>
                <a:gd name="connsiteY7" fmla="*/ 1178189 h 1179256"/>
                <a:gd name="connsiteX8" fmla="*/ 890836 w 1667124"/>
                <a:gd name="connsiteY8" fmla="*/ 701939 h 1179256"/>
                <a:gd name="connsiteX9" fmla="*/ 1052762 w 1667124"/>
                <a:gd name="connsiteY9" fmla="*/ 668601 h 1179256"/>
                <a:gd name="connsiteX10" fmla="*/ 1195636 w 1667124"/>
                <a:gd name="connsiteY10" fmla="*/ 6614 h 1179256"/>
                <a:gd name="connsiteX11" fmla="*/ 1319461 w 1667124"/>
                <a:gd name="connsiteY11" fmla="*/ 663839 h 1179256"/>
                <a:gd name="connsiteX12" fmla="*/ 1667124 w 1667124"/>
                <a:gd name="connsiteY12" fmla="*/ 682889 h 1179256"/>
                <a:gd name="connsiteX0" fmla="*/ 0 w 1667124"/>
                <a:gd name="connsiteY0" fmla="*/ 599424 h 1055207"/>
                <a:gd name="connsiteX1" fmla="*/ 122107 w 1667124"/>
                <a:gd name="connsiteY1" fmla="*/ 587238 h 1055207"/>
                <a:gd name="connsiteX2" fmla="*/ 189890 w 1667124"/>
                <a:gd name="connsiteY2" fmla="*/ 505833 h 1055207"/>
                <a:gd name="connsiteX3" fmla="*/ 270853 w 1667124"/>
                <a:gd name="connsiteY3" fmla="*/ 577268 h 1055207"/>
                <a:gd name="connsiteX4" fmla="*/ 466365 w 1667124"/>
                <a:gd name="connsiteY4" fmla="*/ 594664 h 1055207"/>
                <a:gd name="connsiteX5" fmla="*/ 681287 w 1667124"/>
                <a:gd name="connsiteY5" fmla="*/ 559875 h 1055207"/>
                <a:gd name="connsiteX6" fmla="*/ 752724 w 1667124"/>
                <a:gd name="connsiteY6" fmla="*/ 417414 h 1055207"/>
                <a:gd name="connsiteX7" fmla="*/ 800349 w 1667124"/>
                <a:gd name="connsiteY7" fmla="*/ 1054140 h 1055207"/>
                <a:gd name="connsiteX8" fmla="*/ 890836 w 1667124"/>
                <a:gd name="connsiteY8" fmla="*/ 577890 h 1055207"/>
                <a:gd name="connsiteX9" fmla="*/ 1052762 w 1667124"/>
                <a:gd name="connsiteY9" fmla="*/ 544552 h 1055207"/>
                <a:gd name="connsiteX10" fmla="*/ 1201009 w 1667124"/>
                <a:gd name="connsiteY10" fmla="*/ 8669 h 1055207"/>
                <a:gd name="connsiteX11" fmla="*/ 1319461 w 1667124"/>
                <a:gd name="connsiteY11" fmla="*/ 539790 h 1055207"/>
                <a:gd name="connsiteX12" fmla="*/ 1667124 w 1667124"/>
                <a:gd name="connsiteY12" fmla="*/ 558840 h 1055207"/>
                <a:gd name="connsiteX0" fmla="*/ 0 w 1667124"/>
                <a:gd name="connsiteY0" fmla="*/ 590778 h 1046561"/>
                <a:gd name="connsiteX1" fmla="*/ 122107 w 1667124"/>
                <a:gd name="connsiteY1" fmla="*/ 578592 h 1046561"/>
                <a:gd name="connsiteX2" fmla="*/ 189890 w 1667124"/>
                <a:gd name="connsiteY2" fmla="*/ 497187 h 1046561"/>
                <a:gd name="connsiteX3" fmla="*/ 270853 w 1667124"/>
                <a:gd name="connsiteY3" fmla="*/ 568622 h 1046561"/>
                <a:gd name="connsiteX4" fmla="*/ 466365 w 1667124"/>
                <a:gd name="connsiteY4" fmla="*/ 586018 h 1046561"/>
                <a:gd name="connsiteX5" fmla="*/ 681287 w 1667124"/>
                <a:gd name="connsiteY5" fmla="*/ 551229 h 1046561"/>
                <a:gd name="connsiteX6" fmla="*/ 752724 w 1667124"/>
                <a:gd name="connsiteY6" fmla="*/ 408768 h 1046561"/>
                <a:gd name="connsiteX7" fmla="*/ 800349 w 1667124"/>
                <a:gd name="connsiteY7" fmla="*/ 1045494 h 1046561"/>
                <a:gd name="connsiteX8" fmla="*/ 890836 w 1667124"/>
                <a:gd name="connsiteY8" fmla="*/ 569244 h 1046561"/>
                <a:gd name="connsiteX9" fmla="*/ 1052762 w 1667124"/>
                <a:gd name="connsiteY9" fmla="*/ 535906 h 1046561"/>
                <a:gd name="connsiteX10" fmla="*/ 1201009 w 1667124"/>
                <a:gd name="connsiteY10" fmla="*/ 23 h 1046561"/>
                <a:gd name="connsiteX11" fmla="*/ 1319461 w 1667124"/>
                <a:gd name="connsiteY11" fmla="*/ 531144 h 1046561"/>
                <a:gd name="connsiteX12" fmla="*/ 1667124 w 1667124"/>
                <a:gd name="connsiteY12" fmla="*/ 550194 h 1046561"/>
                <a:gd name="connsiteX0" fmla="*/ 0 w 1667124"/>
                <a:gd name="connsiteY0" fmla="*/ 572764 h 1028547"/>
                <a:gd name="connsiteX1" fmla="*/ 122107 w 1667124"/>
                <a:gd name="connsiteY1" fmla="*/ 560578 h 1028547"/>
                <a:gd name="connsiteX2" fmla="*/ 189890 w 1667124"/>
                <a:gd name="connsiteY2" fmla="*/ 479173 h 1028547"/>
                <a:gd name="connsiteX3" fmla="*/ 270853 w 1667124"/>
                <a:gd name="connsiteY3" fmla="*/ 550608 h 1028547"/>
                <a:gd name="connsiteX4" fmla="*/ 466365 w 1667124"/>
                <a:gd name="connsiteY4" fmla="*/ 568004 h 1028547"/>
                <a:gd name="connsiteX5" fmla="*/ 681287 w 1667124"/>
                <a:gd name="connsiteY5" fmla="*/ 533215 h 1028547"/>
                <a:gd name="connsiteX6" fmla="*/ 752724 w 1667124"/>
                <a:gd name="connsiteY6" fmla="*/ 390754 h 1028547"/>
                <a:gd name="connsiteX7" fmla="*/ 800349 w 1667124"/>
                <a:gd name="connsiteY7" fmla="*/ 1027480 h 1028547"/>
                <a:gd name="connsiteX8" fmla="*/ 890836 w 1667124"/>
                <a:gd name="connsiteY8" fmla="*/ 551230 h 1028547"/>
                <a:gd name="connsiteX9" fmla="*/ 1052762 w 1667124"/>
                <a:gd name="connsiteY9" fmla="*/ 517892 h 1028547"/>
                <a:gd name="connsiteX10" fmla="*/ 1201009 w 1667124"/>
                <a:gd name="connsiteY10" fmla="*/ 24 h 1028547"/>
                <a:gd name="connsiteX11" fmla="*/ 1319461 w 1667124"/>
                <a:gd name="connsiteY11" fmla="*/ 513130 h 1028547"/>
                <a:gd name="connsiteX12" fmla="*/ 1667124 w 1667124"/>
                <a:gd name="connsiteY12" fmla="*/ 532180 h 1028547"/>
                <a:gd name="connsiteX0" fmla="*/ 0 w 1667124"/>
                <a:gd name="connsiteY0" fmla="*/ 573080 h 1028863"/>
                <a:gd name="connsiteX1" fmla="*/ 122107 w 1667124"/>
                <a:gd name="connsiteY1" fmla="*/ 560894 h 1028863"/>
                <a:gd name="connsiteX2" fmla="*/ 189890 w 1667124"/>
                <a:gd name="connsiteY2" fmla="*/ 479489 h 1028863"/>
                <a:gd name="connsiteX3" fmla="*/ 270853 w 1667124"/>
                <a:gd name="connsiteY3" fmla="*/ 550924 h 1028863"/>
                <a:gd name="connsiteX4" fmla="*/ 466365 w 1667124"/>
                <a:gd name="connsiteY4" fmla="*/ 568320 h 1028863"/>
                <a:gd name="connsiteX5" fmla="*/ 681287 w 1667124"/>
                <a:gd name="connsiteY5" fmla="*/ 533531 h 1028863"/>
                <a:gd name="connsiteX6" fmla="*/ 752724 w 1667124"/>
                <a:gd name="connsiteY6" fmla="*/ 391070 h 1028863"/>
                <a:gd name="connsiteX7" fmla="*/ 800349 w 1667124"/>
                <a:gd name="connsiteY7" fmla="*/ 1027796 h 1028863"/>
                <a:gd name="connsiteX8" fmla="*/ 890836 w 1667124"/>
                <a:gd name="connsiteY8" fmla="*/ 551546 h 1028863"/>
                <a:gd name="connsiteX9" fmla="*/ 1052762 w 1667124"/>
                <a:gd name="connsiteY9" fmla="*/ 518208 h 1028863"/>
                <a:gd name="connsiteX10" fmla="*/ 1201009 w 1667124"/>
                <a:gd name="connsiteY10" fmla="*/ 340 h 1028863"/>
                <a:gd name="connsiteX11" fmla="*/ 1319461 w 1667124"/>
                <a:gd name="connsiteY11" fmla="*/ 513446 h 1028863"/>
                <a:gd name="connsiteX12" fmla="*/ 1667124 w 1667124"/>
                <a:gd name="connsiteY12" fmla="*/ 532496 h 1028863"/>
                <a:gd name="connsiteX0" fmla="*/ 0 w 1667124"/>
                <a:gd name="connsiteY0" fmla="*/ 572814 h 1028777"/>
                <a:gd name="connsiteX1" fmla="*/ 122107 w 1667124"/>
                <a:gd name="connsiteY1" fmla="*/ 560628 h 1028777"/>
                <a:gd name="connsiteX2" fmla="*/ 189890 w 1667124"/>
                <a:gd name="connsiteY2" fmla="*/ 479223 h 1028777"/>
                <a:gd name="connsiteX3" fmla="*/ 270853 w 1667124"/>
                <a:gd name="connsiteY3" fmla="*/ 550658 h 1028777"/>
                <a:gd name="connsiteX4" fmla="*/ 466365 w 1667124"/>
                <a:gd name="connsiteY4" fmla="*/ 568054 h 1028777"/>
                <a:gd name="connsiteX5" fmla="*/ 681287 w 1667124"/>
                <a:gd name="connsiteY5" fmla="*/ 533265 h 1028777"/>
                <a:gd name="connsiteX6" fmla="*/ 752724 w 1667124"/>
                <a:gd name="connsiteY6" fmla="*/ 390804 h 1028777"/>
                <a:gd name="connsiteX7" fmla="*/ 800349 w 1667124"/>
                <a:gd name="connsiteY7" fmla="*/ 1027530 h 1028777"/>
                <a:gd name="connsiteX8" fmla="*/ 890836 w 1667124"/>
                <a:gd name="connsiteY8" fmla="*/ 551280 h 1028777"/>
                <a:gd name="connsiteX9" fmla="*/ 1079629 w 1667124"/>
                <a:gd name="connsiteY9" fmla="*/ 475908 h 1028777"/>
                <a:gd name="connsiteX10" fmla="*/ 1201009 w 1667124"/>
                <a:gd name="connsiteY10" fmla="*/ 74 h 1028777"/>
                <a:gd name="connsiteX11" fmla="*/ 1319461 w 1667124"/>
                <a:gd name="connsiteY11" fmla="*/ 513180 h 1028777"/>
                <a:gd name="connsiteX12" fmla="*/ 1667124 w 1667124"/>
                <a:gd name="connsiteY12" fmla="*/ 532230 h 1028777"/>
                <a:gd name="connsiteX0" fmla="*/ 0 w 1667124"/>
                <a:gd name="connsiteY0" fmla="*/ 572814 h 1028777"/>
                <a:gd name="connsiteX1" fmla="*/ 122107 w 1667124"/>
                <a:gd name="connsiteY1" fmla="*/ 560628 h 1028777"/>
                <a:gd name="connsiteX2" fmla="*/ 189890 w 1667124"/>
                <a:gd name="connsiteY2" fmla="*/ 479223 h 1028777"/>
                <a:gd name="connsiteX3" fmla="*/ 270853 w 1667124"/>
                <a:gd name="connsiteY3" fmla="*/ 550658 h 1028777"/>
                <a:gd name="connsiteX4" fmla="*/ 466365 w 1667124"/>
                <a:gd name="connsiteY4" fmla="*/ 568054 h 1028777"/>
                <a:gd name="connsiteX5" fmla="*/ 681287 w 1667124"/>
                <a:gd name="connsiteY5" fmla="*/ 533265 h 1028777"/>
                <a:gd name="connsiteX6" fmla="*/ 752724 w 1667124"/>
                <a:gd name="connsiteY6" fmla="*/ 390804 h 1028777"/>
                <a:gd name="connsiteX7" fmla="*/ 800349 w 1667124"/>
                <a:gd name="connsiteY7" fmla="*/ 1027530 h 1028777"/>
                <a:gd name="connsiteX8" fmla="*/ 890836 w 1667124"/>
                <a:gd name="connsiteY8" fmla="*/ 551280 h 1028777"/>
                <a:gd name="connsiteX9" fmla="*/ 1079629 w 1667124"/>
                <a:gd name="connsiteY9" fmla="*/ 475908 h 1028777"/>
                <a:gd name="connsiteX10" fmla="*/ 1201009 w 1667124"/>
                <a:gd name="connsiteY10" fmla="*/ 74 h 1028777"/>
                <a:gd name="connsiteX11" fmla="*/ 1319461 w 1667124"/>
                <a:gd name="connsiteY11" fmla="*/ 513180 h 1028777"/>
                <a:gd name="connsiteX12" fmla="*/ 1667124 w 1667124"/>
                <a:gd name="connsiteY12" fmla="*/ 532230 h 102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67124" h="1028777">
                  <a:moveTo>
                    <a:pt x="0" y="572814"/>
                  </a:moveTo>
                  <a:cubicBezTo>
                    <a:pt x="14082" y="566780"/>
                    <a:pt x="96727" y="550206"/>
                    <a:pt x="122107" y="560628"/>
                  </a:cubicBezTo>
                  <a:cubicBezTo>
                    <a:pt x="152860" y="541026"/>
                    <a:pt x="155248" y="477882"/>
                    <a:pt x="189890" y="479223"/>
                  </a:cubicBezTo>
                  <a:cubicBezTo>
                    <a:pt x="224532" y="480564"/>
                    <a:pt x="232753" y="547483"/>
                    <a:pt x="270853" y="550658"/>
                  </a:cubicBezTo>
                  <a:cubicBezTo>
                    <a:pt x="340703" y="564703"/>
                    <a:pt x="412390" y="556942"/>
                    <a:pt x="466365" y="568054"/>
                  </a:cubicBezTo>
                  <a:cubicBezTo>
                    <a:pt x="520340" y="579166"/>
                    <a:pt x="633561" y="562807"/>
                    <a:pt x="681287" y="533265"/>
                  </a:cubicBezTo>
                  <a:cubicBezTo>
                    <a:pt x="729014" y="503723"/>
                    <a:pt x="732880" y="308427"/>
                    <a:pt x="752724" y="390804"/>
                  </a:cubicBezTo>
                  <a:cubicBezTo>
                    <a:pt x="772568" y="473182"/>
                    <a:pt x="777330" y="1000784"/>
                    <a:pt x="800349" y="1027530"/>
                  </a:cubicBezTo>
                  <a:cubicBezTo>
                    <a:pt x="823368" y="1054276"/>
                    <a:pt x="844289" y="643217"/>
                    <a:pt x="890836" y="551280"/>
                  </a:cubicBezTo>
                  <a:cubicBezTo>
                    <a:pt x="937383" y="459343"/>
                    <a:pt x="1027934" y="567776"/>
                    <a:pt x="1079629" y="475908"/>
                  </a:cubicBezTo>
                  <a:cubicBezTo>
                    <a:pt x="1131324" y="384040"/>
                    <a:pt x="1161037" y="-6138"/>
                    <a:pt x="1201009" y="74"/>
                  </a:cubicBezTo>
                  <a:cubicBezTo>
                    <a:pt x="1240981" y="6286"/>
                    <a:pt x="1241775" y="424487"/>
                    <a:pt x="1319461" y="513180"/>
                  </a:cubicBezTo>
                  <a:cubicBezTo>
                    <a:pt x="1397147" y="601873"/>
                    <a:pt x="1667124" y="532230"/>
                    <a:pt x="1667124" y="532230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A3174F2-B4E6-42F4-A7E4-26E8A7000A41}"/>
                </a:ext>
              </a:extLst>
            </p:cNvPr>
            <p:cNvSpPr txBox="1"/>
            <p:nvPr/>
          </p:nvSpPr>
          <p:spPr>
            <a:xfrm>
              <a:off x="5365573" y="2142064"/>
              <a:ext cx="17444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PR prolongation</a:t>
              </a:r>
            </a:p>
            <a:p>
              <a:pPr algn="ctr"/>
              <a:r>
                <a:rPr lang="en-US" dirty="0"/>
                <a:t>QRS widening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77954533-B8D3-4D86-85A8-0040A0A80789}"/>
              </a:ext>
            </a:extLst>
          </p:cNvPr>
          <p:cNvSpPr txBox="1"/>
          <p:nvPr/>
        </p:nvSpPr>
        <p:spPr>
          <a:xfrm>
            <a:off x="4515068" y="1063536"/>
            <a:ext cx="70082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Hyperkalemia can cause life-threatening arrhythmias </a:t>
            </a:r>
          </a:p>
          <a:p>
            <a:pPr algn="ctr"/>
            <a:r>
              <a:rPr lang="en-US" sz="2000" dirty="0"/>
              <a:t>(e.g., sinus bradycardia, sinus arrest, asystole, VT/VF)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71410B6-EDF7-40FA-85D1-494F25E23681}"/>
              </a:ext>
            </a:extLst>
          </p:cNvPr>
          <p:cNvSpPr txBox="1"/>
          <p:nvPr/>
        </p:nvSpPr>
        <p:spPr>
          <a:xfrm>
            <a:off x="5911411" y="1915491"/>
            <a:ext cx="3840596" cy="40011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Obtain ECG for any K &gt; 5.5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81DB366-FEAB-4330-97FA-212FACF7867A}"/>
              </a:ext>
            </a:extLst>
          </p:cNvPr>
          <p:cNvSpPr txBox="1"/>
          <p:nvPr/>
        </p:nvSpPr>
        <p:spPr>
          <a:xfrm>
            <a:off x="4760143" y="2808571"/>
            <a:ext cx="60245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Look for characteristic, progressive ECG changes 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464E8F7-7246-4B51-B7EF-567398B58926}"/>
              </a:ext>
            </a:extLst>
          </p:cNvPr>
          <p:cNvCxnSpPr>
            <a:cxnSpLocks/>
            <a:stCxn id="105" idx="2"/>
            <a:endCxn id="18" idx="0"/>
          </p:cNvCxnSpPr>
          <p:nvPr/>
        </p:nvCxnSpPr>
        <p:spPr>
          <a:xfrm>
            <a:off x="7831709" y="2315601"/>
            <a:ext cx="11921" cy="436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CE4FD0-EA60-4EBC-99F9-897BE8948D14}"/>
              </a:ext>
            </a:extLst>
          </p:cNvPr>
          <p:cNvCxnSpPr>
            <a:cxnSpLocks/>
            <a:stCxn id="18" idx="2"/>
            <a:endCxn id="114" idx="0"/>
          </p:cNvCxnSpPr>
          <p:nvPr/>
        </p:nvCxnSpPr>
        <p:spPr>
          <a:xfrm>
            <a:off x="7843630" y="5076403"/>
            <a:ext cx="2835" cy="399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CC3E26D-3370-4482-80D9-955267F83536}"/>
              </a:ext>
            </a:extLst>
          </p:cNvPr>
          <p:cNvSpPr/>
          <p:nvPr/>
        </p:nvSpPr>
        <p:spPr>
          <a:xfrm>
            <a:off x="4480774" y="5476040"/>
            <a:ext cx="6731381" cy="109357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Repeat ECG every 30 – 60 min to ensure resolution of abnormalities</a:t>
            </a:r>
          </a:p>
          <a:p>
            <a:pPr algn="ctr"/>
            <a:r>
              <a:rPr lang="en-US" sz="2000" dirty="0"/>
              <a:t>Monitor on telemetry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00F8F197-EED1-4C3D-A90E-3697877970FE}"/>
              </a:ext>
            </a:extLst>
          </p:cNvPr>
          <p:cNvSpPr/>
          <p:nvPr/>
        </p:nvSpPr>
        <p:spPr>
          <a:xfrm>
            <a:off x="2856834" y="278820"/>
            <a:ext cx="970339" cy="3121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K &gt; 5.5?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C1E45B12-5469-4252-A949-2FF1B8B7B3BC}"/>
              </a:ext>
            </a:extLst>
          </p:cNvPr>
          <p:cNvCxnSpPr>
            <a:cxnSpLocks/>
            <a:stCxn id="108" idx="2"/>
            <a:endCxn id="110" idx="0"/>
          </p:cNvCxnSpPr>
          <p:nvPr/>
        </p:nvCxnSpPr>
        <p:spPr>
          <a:xfrm>
            <a:off x="3342004" y="590954"/>
            <a:ext cx="8444" cy="172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2F3D1AD-3774-4F2A-8100-F77AE694BD29}"/>
              </a:ext>
            </a:extLst>
          </p:cNvPr>
          <p:cNvSpPr/>
          <p:nvPr/>
        </p:nvSpPr>
        <p:spPr>
          <a:xfrm>
            <a:off x="2569404" y="762988"/>
            <a:ext cx="1562088" cy="280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Confirm </a:t>
            </a:r>
            <a:r>
              <a:rPr lang="en-US" sz="1600" dirty="0" err="1"/>
              <a:t>hyperK</a:t>
            </a:r>
            <a:endParaRPr lang="en-US" sz="1600" dirty="0"/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FB686E43-B097-48B9-BCA6-E79C3C3DB9F3}"/>
              </a:ext>
            </a:extLst>
          </p:cNvPr>
          <p:cNvCxnSpPr>
            <a:cxnSpLocks/>
            <a:stCxn id="110" idx="2"/>
            <a:endCxn id="112" idx="0"/>
          </p:cNvCxnSpPr>
          <p:nvPr/>
        </p:nvCxnSpPr>
        <p:spPr>
          <a:xfrm>
            <a:off x="3350448" y="1043383"/>
            <a:ext cx="0" cy="2140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Rectangle 111">
            <a:extLst>
              <a:ext uri="{FF2B5EF4-FFF2-40B4-BE49-F238E27FC236}">
                <a16:creationId xmlns:a16="http://schemas.microsoft.com/office/drawing/2014/main" id="{8D337929-5ADF-474B-831D-AD5F218320E5}"/>
              </a:ext>
            </a:extLst>
          </p:cNvPr>
          <p:cNvSpPr/>
          <p:nvPr/>
        </p:nvSpPr>
        <p:spPr>
          <a:xfrm>
            <a:off x="2821544" y="1257468"/>
            <a:ext cx="1057807" cy="2851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Stat ECG</a:t>
            </a:r>
          </a:p>
        </p:txBody>
      </p:sp>
      <p:grpSp>
        <p:nvGrpSpPr>
          <p:cNvPr id="56" name="Step 3 Question">
            <a:extLst>
              <a:ext uri="{FF2B5EF4-FFF2-40B4-BE49-F238E27FC236}">
                <a16:creationId xmlns:a16="http://schemas.microsoft.com/office/drawing/2014/main" id="{9121DEBC-762B-447C-BDDB-F9A6D5B10DAB}"/>
              </a:ext>
            </a:extLst>
          </p:cNvPr>
          <p:cNvGrpSpPr/>
          <p:nvPr/>
        </p:nvGrpSpPr>
        <p:grpSpPr>
          <a:xfrm>
            <a:off x="181122" y="2702820"/>
            <a:ext cx="2103120" cy="802349"/>
            <a:chOff x="131414" y="3071170"/>
            <a:chExt cx="2205728" cy="802349"/>
          </a:xfrm>
        </p:grpSpPr>
        <p:sp>
          <p:nvSpPr>
            <p:cNvPr id="57" name="question 4">
              <a:hlinkClick r:id="rId10" action="ppaction://hlinksldjump"/>
              <a:extLst>
                <a:ext uri="{FF2B5EF4-FFF2-40B4-BE49-F238E27FC236}">
                  <a16:creationId xmlns:a16="http://schemas.microsoft.com/office/drawing/2014/main" id="{FFFBDA9E-E6AA-47A5-9C7A-169E407DABBE}"/>
                </a:ext>
              </a:extLst>
            </p:cNvPr>
            <p:cNvSpPr txBox="1"/>
            <p:nvPr/>
          </p:nvSpPr>
          <p:spPr>
            <a:xfrm>
              <a:off x="131414" y="3078631"/>
              <a:ext cx="2205728" cy="720110"/>
            </a:xfrm>
            <a:prstGeom prst="roundRect">
              <a:avLst>
                <a:gd name="adj" fmla="val 18232"/>
              </a:avLst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tlCol="0">
              <a:noAutofit/>
            </a:bodyPr>
            <a:lstStyle/>
            <a:p>
              <a:r>
                <a:rPr lang="en-US" b="1" dirty="0">
                  <a:solidFill>
                    <a:sysClr val="windowText" lastClr="000000"/>
                  </a:solidFill>
                </a:rPr>
                <a:t>Step 3</a:t>
              </a:r>
            </a:p>
          </p:txBody>
        </p:sp>
        <p:pic>
          <p:nvPicPr>
            <p:cNvPr id="79" name="Graphic 78" descr="Heart with pulse with solid fill">
              <a:hlinkClick r:id="rId10" action="ppaction://hlinksldjump"/>
              <a:extLst>
                <a:ext uri="{FF2B5EF4-FFF2-40B4-BE49-F238E27FC236}">
                  <a16:creationId xmlns:a16="http://schemas.microsoft.com/office/drawing/2014/main" id="{2A789769-16D8-4E2C-AFE2-F7AF1FC67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234278" y="3071170"/>
              <a:ext cx="802349" cy="802349"/>
            </a:xfrm>
            <a:prstGeom prst="rect">
              <a:avLst/>
            </a:prstGeom>
          </p:spPr>
        </p:pic>
      </p:grpSp>
      <p:grpSp>
        <p:nvGrpSpPr>
          <p:cNvPr id="82" name="Step 4 Question">
            <a:extLst>
              <a:ext uri="{FF2B5EF4-FFF2-40B4-BE49-F238E27FC236}">
                <a16:creationId xmlns:a16="http://schemas.microsoft.com/office/drawing/2014/main" id="{1480E094-F6C8-4001-A3F6-DFB1FEC02782}"/>
              </a:ext>
            </a:extLst>
          </p:cNvPr>
          <p:cNvGrpSpPr/>
          <p:nvPr/>
        </p:nvGrpSpPr>
        <p:grpSpPr>
          <a:xfrm>
            <a:off x="181122" y="3698877"/>
            <a:ext cx="2103120" cy="719579"/>
            <a:chOff x="177115" y="4211452"/>
            <a:chExt cx="2185336" cy="719579"/>
          </a:xfrm>
        </p:grpSpPr>
        <p:sp>
          <p:nvSpPr>
            <p:cNvPr id="83" name="sub-q 1 button">
              <a:hlinkClick r:id="rId13" action="ppaction://hlinksldjump"/>
              <a:extLst>
                <a:ext uri="{FF2B5EF4-FFF2-40B4-BE49-F238E27FC236}">
                  <a16:creationId xmlns:a16="http://schemas.microsoft.com/office/drawing/2014/main" id="{9CD6F69A-7B72-4227-B446-AAE5DA3C7B0C}"/>
                </a:ext>
              </a:extLst>
            </p:cNvPr>
            <p:cNvSpPr txBox="1"/>
            <p:nvPr/>
          </p:nvSpPr>
          <p:spPr>
            <a:xfrm>
              <a:off x="177115" y="4211452"/>
              <a:ext cx="2185336" cy="718840"/>
            </a:xfrm>
            <a:prstGeom prst="roundRect">
              <a:avLst/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tlCol="0">
              <a:noAutofit/>
            </a:bodyPr>
            <a:lstStyle/>
            <a:p>
              <a:r>
                <a:rPr lang="en-US" b="1" dirty="0">
                  <a:solidFill>
                    <a:sysClr val="windowText" lastClr="000000"/>
                  </a:solidFill>
                </a:rPr>
                <a:t>Step 4</a:t>
              </a:r>
            </a:p>
          </p:txBody>
        </p:sp>
        <p:pic>
          <p:nvPicPr>
            <p:cNvPr id="84" name="Graphic 83" descr="Transfer with solid fill">
              <a:hlinkClick r:id="rId13" action="ppaction://hlinksldjump"/>
              <a:extLst>
                <a:ext uri="{FF2B5EF4-FFF2-40B4-BE49-F238E27FC236}">
                  <a16:creationId xmlns:a16="http://schemas.microsoft.com/office/drawing/2014/main" id="{2387B0FE-1685-4686-8268-E49BC781E9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318888" y="4212191"/>
              <a:ext cx="718840" cy="718840"/>
            </a:xfrm>
            <a:prstGeom prst="rect">
              <a:avLst/>
            </a:prstGeom>
          </p:spPr>
        </p:pic>
      </p:grpSp>
      <p:grpSp>
        <p:nvGrpSpPr>
          <p:cNvPr id="85" name="Step 5 Question Group">
            <a:extLst>
              <a:ext uri="{FF2B5EF4-FFF2-40B4-BE49-F238E27FC236}">
                <a16:creationId xmlns:a16="http://schemas.microsoft.com/office/drawing/2014/main" id="{3F02872A-C4FB-418F-B8E7-203666347062}"/>
              </a:ext>
            </a:extLst>
          </p:cNvPr>
          <p:cNvGrpSpPr/>
          <p:nvPr/>
        </p:nvGrpSpPr>
        <p:grpSpPr>
          <a:xfrm>
            <a:off x="183154" y="4612164"/>
            <a:ext cx="2103120" cy="732964"/>
            <a:chOff x="199997" y="5175187"/>
            <a:chExt cx="2185336" cy="732964"/>
          </a:xfrm>
        </p:grpSpPr>
        <p:sp>
          <p:nvSpPr>
            <p:cNvPr id="86" name="sub-q 2">
              <a:hlinkClick r:id="rId16" action="ppaction://hlinksldjump"/>
              <a:extLst>
                <a:ext uri="{FF2B5EF4-FFF2-40B4-BE49-F238E27FC236}">
                  <a16:creationId xmlns:a16="http://schemas.microsoft.com/office/drawing/2014/main" id="{77AF0ECB-9586-4A0F-8221-01A0CF153A8C}"/>
                </a:ext>
              </a:extLst>
            </p:cNvPr>
            <p:cNvSpPr txBox="1"/>
            <p:nvPr/>
          </p:nvSpPr>
          <p:spPr>
            <a:xfrm>
              <a:off x="199997" y="5179241"/>
              <a:ext cx="2185336" cy="718840"/>
            </a:xfrm>
            <a:prstGeom prst="roundRect">
              <a:avLst>
                <a:gd name="adj" fmla="val 18844"/>
              </a:avLst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Ins="91440" rtlCol="0">
              <a:noAutofit/>
            </a:bodyPr>
            <a:lstStyle/>
            <a:p>
              <a:r>
                <a:rPr lang="en-US" b="1" dirty="0">
                  <a:solidFill>
                    <a:sysClr val="windowText" lastClr="000000"/>
                  </a:solidFill>
                </a:rPr>
                <a:t>Step 5</a:t>
              </a:r>
            </a:p>
          </p:txBody>
        </p:sp>
        <p:pic>
          <p:nvPicPr>
            <p:cNvPr id="87" name="Graphic 86" descr="Downward trend graph with solid fill">
              <a:hlinkClick r:id="rId16" action="ppaction://hlinksldjump"/>
              <a:extLst>
                <a:ext uri="{FF2B5EF4-FFF2-40B4-BE49-F238E27FC236}">
                  <a16:creationId xmlns:a16="http://schemas.microsoft.com/office/drawing/2014/main" id="{426E1902-46C4-446F-B6DE-1A6FCBCB1B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308771" y="5175187"/>
              <a:ext cx="732964" cy="732964"/>
            </a:xfrm>
            <a:prstGeom prst="rect">
              <a:avLst/>
            </a:prstGeom>
          </p:spPr>
        </p:pic>
      </p:grpSp>
      <p:grpSp>
        <p:nvGrpSpPr>
          <p:cNvPr id="92" name="Step 1 Question">
            <a:extLst>
              <a:ext uri="{FF2B5EF4-FFF2-40B4-BE49-F238E27FC236}">
                <a16:creationId xmlns:a16="http://schemas.microsoft.com/office/drawing/2014/main" id="{8AC9878A-04EA-4D1A-870D-2FD4D98F4752}"/>
              </a:ext>
            </a:extLst>
          </p:cNvPr>
          <p:cNvGrpSpPr/>
          <p:nvPr/>
        </p:nvGrpSpPr>
        <p:grpSpPr>
          <a:xfrm>
            <a:off x="181122" y="797693"/>
            <a:ext cx="2103120" cy="724673"/>
            <a:chOff x="143887" y="1045203"/>
            <a:chExt cx="2205728" cy="724673"/>
          </a:xfrm>
        </p:grpSpPr>
        <p:sp>
          <p:nvSpPr>
            <p:cNvPr id="93" name="Question 2">
              <a:hlinkClick r:id="rId19" action="ppaction://hlinksldjump"/>
              <a:extLst>
                <a:ext uri="{FF2B5EF4-FFF2-40B4-BE49-F238E27FC236}">
                  <a16:creationId xmlns:a16="http://schemas.microsoft.com/office/drawing/2014/main" id="{A40BCB70-15D2-4561-8199-2DAE0F4CB4E9}"/>
                </a:ext>
              </a:extLst>
            </p:cNvPr>
            <p:cNvSpPr txBox="1"/>
            <p:nvPr/>
          </p:nvSpPr>
          <p:spPr>
            <a:xfrm>
              <a:off x="143887" y="1045203"/>
              <a:ext cx="2205728" cy="724673"/>
            </a:xfrm>
            <a:prstGeom prst="roundRect">
              <a:avLst/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tlCol="0">
              <a:noAutofit/>
            </a:bodyPr>
            <a:lstStyle/>
            <a:p>
              <a:r>
                <a:rPr lang="en-US" b="1" dirty="0">
                  <a:solidFill>
                    <a:sysClr val="windowText" lastClr="000000"/>
                  </a:solidFill>
                </a:rPr>
                <a:t>Step 1</a:t>
              </a:r>
            </a:p>
          </p:txBody>
        </p:sp>
        <p:pic>
          <p:nvPicPr>
            <p:cNvPr id="94" name="Graphic 93" descr="Test tubes outline">
              <a:hlinkClick r:id="rId19" action="ppaction://hlinksldjump"/>
              <a:extLst>
                <a:ext uri="{FF2B5EF4-FFF2-40B4-BE49-F238E27FC236}">
                  <a16:creationId xmlns:a16="http://schemas.microsoft.com/office/drawing/2014/main" id="{2F170D71-82AB-41E2-ACE8-F66495D4A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377019" y="1058879"/>
              <a:ext cx="675768" cy="675768"/>
            </a:xfrm>
            <a:prstGeom prst="rect">
              <a:avLst/>
            </a:prstGeom>
          </p:spPr>
        </p:pic>
      </p:grpSp>
      <p:pic>
        <p:nvPicPr>
          <p:cNvPr id="60" name="Graphic 59" descr="Cursor with solid fill">
            <a:extLst>
              <a:ext uri="{FF2B5EF4-FFF2-40B4-BE49-F238E27FC236}">
                <a16:creationId xmlns:a16="http://schemas.microsoft.com/office/drawing/2014/main" id="{65CA4ADC-BE90-427E-8361-F26476E01C4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154474" y="435911"/>
            <a:ext cx="301752" cy="301752"/>
          </a:xfrm>
          <a:prstGeom prst="rect">
            <a:avLst/>
          </a:prstGeom>
        </p:spPr>
      </p:pic>
      <p:pic>
        <p:nvPicPr>
          <p:cNvPr id="61" name="Graphic 60" descr="Cursor with solid fill">
            <a:extLst>
              <a:ext uri="{FF2B5EF4-FFF2-40B4-BE49-F238E27FC236}">
                <a16:creationId xmlns:a16="http://schemas.microsoft.com/office/drawing/2014/main" id="{5ECB87BF-7BDA-4AAD-AB8C-54A252F5A13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154474" y="1357347"/>
            <a:ext cx="301752" cy="301752"/>
          </a:xfrm>
          <a:prstGeom prst="rect">
            <a:avLst/>
          </a:prstGeom>
        </p:spPr>
      </p:pic>
      <p:pic>
        <p:nvPicPr>
          <p:cNvPr id="62" name="Graphic 61" descr="Cursor with solid fill">
            <a:extLst>
              <a:ext uri="{FF2B5EF4-FFF2-40B4-BE49-F238E27FC236}">
                <a16:creationId xmlns:a16="http://schemas.microsoft.com/office/drawing/2014/main" id="{57037C16-871F-467F-8EDE-65C8C1248BC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154474" y="3273485"/>
            <a:ext cx="301752" cy="301752"/>
          </a:xfrm>
          <a:prstGeom prst="rect">
            <a:avLst/>
          </a:prstGeom>
        </p:spPr>
      </p:pic>
      <p:pic>
        <p:nvPicPr>
          <p:cNvPr id="66" name="Graphic 65" descr="Cursor with solid fill">
            <a:extLst>
              <a:ext uri="{FF2B5EF4-FFF2-40B4-BE49-F238E27FC236}">
                <a16:creationId xmlns:a16="http://schemas.microsoft.com/office/drawing/2014/main" id="{1C79624D-C1C6-4E8B-98B9-776FF179464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154474" y="4273381"/>
            <a:ext cx="301752" cy="301752"/>
          </a:xfrm>
          <a:prstGeom prst="rect">
            <a:avLst/>
          </a:prstGeom>
        </p:spPr>
      </p:pic>
      <p:pic>
        <p:nvPicPr>
          <p:cNvPr id="68" name="Graphic 67" descr="Cursor with solid fill">
            <a:extLst>
              <a:ext uri="{FF2B5EF4-FFF2-40B4-BE49-F238E27FC236}">
                <a16:creationId xmlns:a16="http://schemas.microsoft.com/office/drawing/2014/main" id="{18BB4273-AE70-461E-90AB-D173613AC62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154474" y="5166838"/>
            <a:ext cx="301752" cy="301752"/>
          </a:xfrm>
          <a:prstGeom prst="rect">
            <a:avLst/>
          </a:prstGeom>
        </p:spPr>
      </p:pic>
      <p:pic>
        <p:nvPicPr>
          <p:cNvPr id="69" name="Graphic 68" descr="Cursor with solid fill">
            <a:extLst>
              <a:ext uri="{FF2B5EF4-FFF2-40B4-BE49-F238E27FC236}">
                <a16:creationId xmlns:a16="http://schemas.microsoft.com/office/drawing/2014/main" id="{D5A6F566-AFA3-448D-9943-B9E4CDE6015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154474" y="5796581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202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1053" grpId="0"/>
      <p:bldP spid="105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reveal and hide" hidden="1">
            <a:extLst>
              <a:ext uri="{FF2B5EF4-FFF2-40B4-BE49-F238E27FC236}">
                <a16:creationId xmlns:a16="http://schemas.microsoft.com/office/drawing/2014/main" id="{AB07DF3C-FCBD-4345-91B6-3DE81A1C7BD3}"/>
              </a:ext>
            </a:extLst>
          </p:cNvPr>
          <p:cNvGrpSpPr/>
          <p:nvPr/>
        </p:nvGrpSpPr>
        <p:grpSpPr>
          <a:xfrm>
            <a:off x="2548211" y="78469"/>
            <a:ext cx="1945324" cy="600164"/>
            <a:chOff x="2548211" y="78469"/>
            <a:chExt cx="1945324" cy="600164"/>
          </a:xfrm>
        </p:grpSpPr>
        <p:sp>
          <p:nvSpPr>
            <p:cNvPr id="137" name="reveal and hide">
              <a:extLst>
                <a:ext uri="{FF2B5EF4-FFF2-40B4-BE49-F238E27FC236}">
                  <a16:creationId xmlns:a16="http://schemas.microsoft.com/office/drawing/2014/main" id="{E43C651D-F1EA-45B9-A89E-FF372708243F}"/>
                </a:ext>
              </a:extLst>
            </p:cNvPr>
            <p:cNvSpPr txBox="1"/>
            <p:nvPr/>
          </p:nvSpPr>
          <p:spPr>
            <a:xfrm>
              <a:off x="2887711" y="78469"/>
              <a:ext cx="1605824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Click these buttons to </a:t>
              </a:r>
              <a:r>
                <a:rPr lang="en-US" sz="1100" b="1" u="sng" dirty="0"/>
                <a:t>REVEAL &amp; HIDE </a:t>
              </a:r>
              <a:r>
                <a:rPr lang="en-US" sz="1100" dirty="0"/>
                <a:t>answers and graphics</a:t>
              </a:r>
            </a:p>
          </p:txBody>
        </p: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3A86B51B-B37B-4BC4-B659-B88792256A27}"/>
                </a:ext>
              </a:extLst>
            </p:cNvPr>
            <p:cNvCxnSpPr>
              <a:cxnSpLocks/>
              <a:stCxn id="137" idx="1"/>
            </p:cNvCxnSpPr>
            <p:nvPr/>
          </p:nvCxnSpPr>
          <p:spPr>
            <a:xfrm flipH="1">
              <a:off x="2548211" y="378551"/>
              <a:ext cx="339500" cy="1525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" name="click again" hidden="1">
            <a:extLst>
              <a:ext uri="{FF2B5EF4-FFF2-40B4-BE49-F238E27FC236}">
                <a16:creationId xmlns:a16="http://schemas.microsoft.com/office/drawing/2014/main" id="{0A16418F-5FFA-4BD0-83A4-6399A4504740}"/>
              </a:ext>
            </a:extLst>
          </p:cNvPr>
          <p:cNvSpPr txBox="1"/>
          <p:nvPr/>
        </p:nvSpPr>
        <p:spPr>
          <a:xfrm>
            <a:off x="2638543" y="832509"/>
            <a:ext cx="1052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Click again to hide graphic</a:t>
            </a:r>
          </a:p>
        </p:txBody>
      </p:sp>
      <p:grpSp>
        <p:nvGrpSpPr>
          <p:cNvPr id="29" name="Common Scenario Group" hidden="1">
            <a:extLst>
              <a:ext uri="{FF2B5EF4-FFF2-40B4-BE49-F238E27FC236}">
                <a16:creationId xmlns:a16="http://schemas.microsoft.com/office/drawing/2014/main" id="{C4A48495-A01F-4A95-B75E-9848E342E6A4}"/>
              </a:ext>
            </a:extLst>
          </p:cNvPr>
          <p:cNvGrpSpPr/>
          <p:nvPr/>
        </p:nvGrpSpPr>
        <p:grpSpPr>
          <a:xfrm>
            <a:off x="3584651" y="466289"/>
            <a:ext cx="8227631" cy="5970865"/>
            <a:chOff x="3679955" y="647519"/>
            <a:chExt cx="8227631" cy="5970865"/>
          </a:xfrm>
        </p:grpSpPr>
        <p:pic>
          <p:nvPicPr>
            <p:cNvPr id="28" name="Graphic 27" descr="Speech with solid fill">
              <a:extLst>
                <a:ext uri="{FF2B5EF4-FFF2-40B4-BE49-F238E27FC236}">
                  <a16:creationId xmlns:a16="http://schemas.microsoft.com/office/drawing/2014/main" id="{BC505812-85A3-423E-A8DF-BF822389FF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679955" y="2868268"/>
              <a:ext cx="1367349" cy="1367349"/>
            </a:xfrm>
            <a:prstGeom prst="rect">
              <a:avLst/>
            </a:prstGeom>
          </p:spPr>
        </p:pic>
        <p:pic>
          <p:nvPicPr>
            <p:cNvPr id="49" name="Graphic 48" descr="Speech with solid fill">
              <a:extLst>
                <a:ext uri="{FF2B5EF4-FFF2-40B4-BE49-F238E27FC236}">
                  <a16:creationId xmlns:a16="http://schemas.microsoft.com/office/drawing/2014/main" id="{9DEFFF61-F869-4978-8FEF-7C1E771264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01063" y="3951377"/>
              <a:ext cx="1399557" cy="1399557"/>
            </a:xfrm>
            <a:prstGeom prst="rect">
              <a:avLst/>
            </a:prstGeom>
          </p:spPr>
        </p:pic>
        <p:pic>
          <p:nvPicPr>
            <p:cNvPr id="26" name="Graphic 25" descr="Speech with solid fill">
              <a:extLst>
                <a:ext uri="{FF2B5EF4-FFF2-40B4-BE49-F238E27FC236}">
                  <a16:creationId xmlns:a16="http://schemas.microsoft.com/office/drawing/2014/main" id="{F8E4E379-4EC6-41D4-98C4-C4622476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680848" y="1727820"/>
              <a:ext cx="1399557" cy="1399557"/>
            </a:xfrm>
            <a:prstGeom prst="rect">
              <a:avLst/>
            </a:prstGeom>
          </p:spPr>
        </p:pic>
        <p:sp>
          <p:nvSpPr>
            <p:cNvPr id="23" name="Common Scenario text box">
              <a:extLst>
                <a:ext uri="{FF2B5EF4-FFF2-40B4-BE49-F238E27FC236}">
                  <a16:creationId xmlns:a16="http://schemas.microsoft.com/office/drawing/2014/main" id="{9543FA8F-612B-496E-8949-2896E0E5F61C}"/>
                </a:ext>
              </a:extLst>
            </p:cNvPr>
            <p:cNvSpPr txBox="1"/>
            <p:nvPr/>
          </p:nvSpPr>
          <p:spPr>
            <a:xfrm>
              <a:off x="3831331" y="647519"/>
              <a:ext cx="8076255" cy="5970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You are on a hospital wards rotation pre-rounding for the day when you get a call from the nurse for Mrs. Smith…</a:t>
              </a:r>
            </a:p>
            <a:p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Nurse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en-US" sz="24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“I have a critical lab to report on Mrs. Smith”</a:t>
              </a:r>
            </a:p>
            <a:p>
              <a:endPara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You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:    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“What is the critical lab?”</a:t>
              </a:r>
            </a:p>
            <a:p>
              <a:endParaRPr lang="en-US" sz="24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Nurse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en-US" sz="24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“The patient’s potassium is 6.7…”</a:t>
              </a:r>
            </a:p>
            <a:p>
              <a:endPara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Question: 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What do you do next?</a:t>
              </a:r>
            </a:p>
            <a:p>
              <a:endParaRPr lang="en-US" sz="2800" dirty="0"/>
            </a:p>
            <a:p>
              <a:endParaRPr lang="en-US" dirty="0"/>
            </a:p>
          </p:txBody>
        </p:sp>
      </p:grpSp>
      <p:grpSp>
        <p:nvGrpSpPr>
          <p:cNvPr id="99" name="Topic Intro Group" hidden="1">
            <a:extLst>
              <a:ext uri="{FF2B5EF4-FFF2-40B4-BE49-F238E27FC236}">
                <a16:creationId xmlns:a16="http://schemas.microsoft.com/office/drawing/2014/main" id="{102CEDB5-EE3C-4722-8ADA-8CD3F96B383E}"/>
              </a:ext>
            </a:extLst>
          </p:cNvPr>
          <p:cNvGrpSpPr/>
          <p:nvPr/>
        </p:nvGrpSpPr>
        <p:grpSpPr>
          <a:xfrm>
            <a:off x="3695331" y="624170"/>
            <a:ext cx="7297902" cy="4901119"/>
            <a:chOff x="3695331" y="624170"/>
            <a:chExt cx="7297902" cy="490111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52F3901-1436-401F-BAAA-A15B40E2C39C}"/>
                </a:ext>
              </a:extLst>
            </p:cNvPr>
            <p:cNvSpPr txBox="1"/>
            <p:nvPr/>
          </p:nvSpPr>
          <p:spPr>
            <a:xfrm>
              <a:off x="3695331" y="624170"/>
              <a:ext cx="7297902" cy="341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200" dirty="0">
                  <a:solidFill>
                    <a:srgbClr val="002060"/>
                  </a:solidFill>
                  <a:latin typeface="Bernard MT Condensed" panose="02050806060905020404" pitchFamily="18" charset="0"/>
                </a:rPr>
                <a:t>Inpatient Management of Hyperkalemia</a:t>
              </a:r>
            </a:p>
          </p:txBody>
        </p:sp>
        <p:pic>
          <p:nvPicPr>
            <p:cNvPr id="1031" name="Picture 7">
              <a:extLst>
                <a:ext uri="{FF2B5EF4-FFF2-40B4-BE49-F238E27FC236}">
                  <a16:creationId xmlns:a16="http://schemas.microsoft.com/office/drawing/2014/main" id="{054CA7FF-B9BD-49BE-B816-77F2B3ECC9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74262" y="3899066"/>
              <a:ext cx="3940039" cy="1626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pic>
        <p:sp>
          <p:nvSpPr>
            <p:cNvPr id="98" name="Arrow: Up 97">
              <a:extLst>
                <a:ext uri="{FF2B5EF4-FFF2-40B4-BE49-F238E27FC236}">
                  <a16:creationId xmlns:a16="http://schemas.microsoft.com/office/drawing/2014/main" id="{2CEB91A8-88B4-4B20-BA1A-753B371B6632}"/>
                </a:ext>
              </a:extLst>
            </p:cNvPr>
            <p:cNvSpPr/>
            <p:nvPr/>
          </p:nvSpPr>
          <p:spPr>
            <a:xfrm>
              <a:off x="6246796" y="4918509"/>
              <a:ext cx="115503" cy="356135"/>
            </a:xfrm>
            <a:prstGeom prst="up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Arrow: Up 120">
              <a:extLst>
                <a:ext uri="{FF2B5EF4-FFF2-40B4-BE49-F238E27FC236}">
                  <a16:creationId xmlns:a16="http://schemas.microsoft.com/office/drawing/2014/main" id="{5E527ACC-F652-48C7-8657-AD1BC3320B98}"/>
                </a:ext>
              </a:extLst>
            </p:cNvPr>
            <p:cNvSpPr/>
            <p:nvPr/>
          </p:nvSpPr>
          <p:spPr>
            <a:xfrm>
              <a:off x="6508053" y="4918509"/>
              <a:ext cx="115503" cy="356135"/>
            </a:xfrm>
            <a:prstGeom prst="up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50" name="Step 2 group" hidden="1">
            <a:extLst>
              <a:ext uri="{FF2B5EF4-FFF2-40B4-BE49-F238E27FC236}">
                <a16:creationId xmlns:a16="http://schemas.microsoft.com/office/drawing/2014/main" id="{3454A1B6-49F9-4D5A-96B9-6D58D67E46F5}"/>
              </a:ext>
            </a:extLst>
          </p:cNvPr>
          <p:cNvGrpSpPr/>
          <p:nvPr/>
        </p:nvGrpSpPr>
        <p:grpSpPr>
          <a:xfrm>
            <a:off x="3164583" y="288758"/>
            <a:ext cx="8475295" cy="5974199"/>
            <a:chOff x="3336987" y="286039"/>
            <a:chExt cx="8475295" cy="6105671"/>
          </a:xfrm>
        </p:grpSpPr>
        <p:sp>
          <p:nvSpPr>
            <p:cNvPr id="1033" name="EKG changes text">
              <a:extLst>
                <a:ext uri="{FF2B5EF4-FFF2-40B4-BE49-F238E27FC236}">
                  <a16:creationId xmlns:a16="http://schemas.microsoft.com/office/drawing/2014/main" id="{86C9FC23-7469-439A-B448-2235A03644D3}"/>
                </a:ext>
              </a:extLst>
            </p:cNvPr>
            <p:cNvSpPr txBox="1"/>
            <p:nvPr/>
          </p:nvSpPr>
          <p:spPr>
            <a:xfrm>
              <a:off x="3336987" y="286039"/>
              <a:ext cx="8475295" cy="6105671"/>
            </a:xfrm>
            <a:prstGeom prst="rect">
              <a:avLst/>
            </a:prstGeom>
            <a:noFill/>
            <a:ln w="79375" cmpd="sng">
              <a:solidFill>
                <a:schemeClr val="accent6"/>
              </a:solidFill>
            </a:ln>
          </p:spPr>
          <p:txBody>
            <a:bodyPr wrap="square" tIns="137160" rtlCol="0">
              <a:noAutofit/>
            </a:bodyPr>
            <a:lstStyle/>
            <a:p>
              <a:pPr algn="ctr"/>
              <a:r>
                <a:rPr lang="en-US" sz="2800" u="sng" dirty="0"/>
                <a:t>Obtain STAT EKG</a:t>
              </a:r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sz="1000" dirty="0"/>
            </a:p>
            <a:p>
              <a:pPr lvl="1"/>
              <a:endParaRPr lang="en-US" dirty="0"/>
            </a:p>
            <a:p>
              <a:pPr marL="742950" lvl="1" indent="-285750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Hyperkalemia can cause life-threatening arrhythmias</a:t>
              </a:r>
            </a:p>
            <a:p>
              <a:pPr marL="1200150" lvl="2" indent="-285750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lang="en-US" sz="1600" dirty="0">
                  <a:effectLst/>
                  <a:latin typeface="Calibri" panose="020F0502020204030204" pitchFamily="34" charset="0"/>
                </a:rPr>
                <a:t>sinus bradycardia, sinus arrest, asystole, V-tach, V-fib</a:t>
              </a:r>
              <a:endParaRPr lang="en-US" sz="1600" dirty="0">
                <a:latin typeface="Calibri" panose="020F0502020204030204" pitchFamily="34" charset="0"/>
              </a:endParaRPr>
            </a:p>
            <a:p>
              <a:pPr marL="742950" lvl="1" indent="-285750">
                <a:lnSpc>
                  <a:spcPts val="32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</a:rPr>
                <a:t>Any K &gt; 5.5 warrants EKG. Treat K &gt; 6.5 as emergent regardless of EKG changes</a:t>
              </a:r>
              <a:r>
                <a:rPr lang="en-US" baseline="30000" dirty="0">
                  <a:latin typeface="Calibri" panose="020F0502020204030204" pitchFamily="34" charset="0"/>
                </a:rPr>
                <a:t>1</a:t>
              </a:r>
            </a:p>
            <a:p>
              <a:pPr marL="742950" lvl="1" indent="-285750">
                <a:lnSpc>
                  <a:spcPts val="32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effectLst/>
                  <a:latin typeface="Calibri" panose="020F0502020204030204" pitchFamily="34" charset="0"/>
                </a:rPr>
                <a:t>Repeat EKG every 30-60 minutes to ensure resolution of EKG abnormalities</a:t>
              </a:r>
            </a:p>
            <a:p>
              <a:pPr marL="1200150" lvl="2" indent="-285750">
                <a:lnSpc>
                  <a:spcPts val="3200"/>
                </a:lnSpc>
                <a:buFont typeface="Arial" panose="020B0604020202020204" pitchFamily="34" charset="0"/>
                <a:buChar char="•"/>
              </a:pPr>
              <a:endParaRPr lang="en-US" dirty="0">
                <a:latin typeface="Calibri" panose="020F0502020204030204" pitchFamily="34" charset="0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endParaRPr lang="en-US" dirty="0">
                <a:effectLst/>
                <a:latin typeface="Calibri" panose="020F0502020204030204" pitchFamily="34" charset="0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endParaRPr lang="en-US" dirty="0">
                <a:latin typeface="Calibri" panose="020F0502020204030204" pitchFamily="34" charset="0"/>
              </a:endParaRPr>
            </a:p>
            <a:p>
              <a:r>
                <a:rPr lang="en-US" dirty="0">
                  <a:latin typeface="Calibri" panose="020F0502020204030204" pitchFamily="34" charset="0"/>
                </a:rPr>
                <a:t>    </a:t>
              </a:r>
            </a:p>
            <a:p>
              <a:r>
                <a:rPr lang="en-US" dirty="0">
                  <a:latin typeface="Calibri" panose="020F0502020204030204" pitchFamily="34" charset="0"/>
                </a:rPr>
                <a:t>           </a:t>
              </a:r>
              <a:endParaRPr lang="en-US" dirty="0"/>
            </a:p>
            <a:p>
              <a:r>
                <a:rPr lang="en-US" dirty="0"/>
                <a:t>    </a:t>
              </a:r>
            </a:p>
          </p:txBody>
        </p:sp>
        <p:pic>
          <p:nvPicPr>
            <p:cNvPr id="182" name="peaked T pic">
              <a:extLst>
                <a:ext uri="{FF2B5EF4-FFF2-40B4-BE49-F238E27FC236}">
                  <a16:creationId xmlns:a16="http://schemas.microsoft.com/office/drawing/2014/main" id="{71835771-B0BF-467C-9EB0-D2C271309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8774" y="1575276"/>
              <a:ext cx="3015200" cy="2894593"/>
            </a:xfrm>
            <a:prstGeom prst="rect">
              <a:avLst/>
            </a:prstGeom>
            <a:ln w="31750" cmpd="sng">
              <a:solidFill>
                <a:schemeClr val="bg2">
                  <a:lumMod val="75000"/>
                </a:schemeClr>
              </a:solidFill>
            </a:ln>
          </p:spPr>
        </p:pic>
        <p:pic>
          <p:nvPicPr>
            <p:cNvPr id="1044" name="Graphic 1043" descr="Warning with solid fill">
              <a:extLst>
                <a:ext uri="{FF2B5EF4-FFF2-40B4-BE49-F238E27FC236}">
                  <a16:creationId xmlns:a16="http://schemas.microsoft.com/office/drawing/2014/main" id="{BC02235D-7800-476D-A2E1-06BB2574DB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736112" y="4646901"/>
              <a:ext cx="388309" cy="388310"/>
            </a:xfrm>
            <a:prstGeom prst="rect">
              <a:avLst/>
            </a:prstGeom>
          </p:spPr>
        </p:pic>
        <p:sp>
          <p:nvSpPr>
            <p:cNvPr id="1047" name="TextBox 1046">
              <a:extLst>
                <a:ext uri="{FF2B5EF4-FFF2-40B4-BE49-F238E27FC236}">
                  <a16:creationId xmlns:a16="http://schemas.microsoft.com/office/drawing/2014/main" id="{629922A7-7869-4853-B450-C6A9A8C6FEFC}"/>
                </a:ext>
              </a:extLst>
            </p:cNvPr>
            <p:cNvSpPr txBox="1"/>
            <p:nvPr/>
          </p:nvSpPr>
          <p:spPr>
            <a:xfrm>
              <a:off x="3802878" y="875579"/>
              <a:ext cx="6352425" cy="44351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Calibri" panose="020F0502020204030204" pitchFamily="34" charset="0"/>
                </a:rPr>
                <a:t> </a:t>
              </a:r>
              <a:r>
                <a:rPr lang="en-US" sz="2000" dirty="0">
                  <a:latin typeface="Calibri" panose="020F0502020204030204" pitchFamily="34" charset="0"/>
                </a:rPr>
                <a:t>Hyperkalemia leads to characteristic EKG changes:</a:t>
              </a:r>
            </a:p>
            <a:p>
              <a:endParaRPr lang="en-US" u="sng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u="sng" dirty="0"/>
                <a:t>Early Changes</a:t>
              </a:r>
              <a:r>
                <a:rPr lang="en-US" dirty="0"/>
                <a:t>: </a:t>
              </a:r>
            </a:p>
            <a:p>
              <a:pPr marL="1200150" lvl="2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</a:rPr>
                <a:t>P</a:t>
              </a:r>
              <a:r>
                <a:rPr lang="en-US" dirty="0">
                  <a:effectLst/>
                  <a:latin typeface="Calibri" panose="020F0502020204030204" pitchFamily="34" charset="0"/>
                </a:rPr>
                <a:t>eaked T-waves</a:t>
              </a:r>
            </a:p>
            <a:p>
              <a:pPr marL="1200150" lvl="2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effectLst/>
                  <a:latin typeface="Calibri" panose="020F0502020204030204" pitchFamily="34" charset="0"/>
                </a:rPr>
                <a:t>QT shortening</a:t>
              </a:r>
            </a:p>
            <a:p>
              <a:pPr lvl="2"/>
              <a:endParaRPr lang="en-US" dirty="0">
                <a:latin typeface="Calibri" panose="020F050202020403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u="sng" dirty="0">
                  <a:effectLst/>
                  <a:latin typeface="Calibri" panose="020F0502020204030204" pitchFamily="34" charset="0"/>
                </a:rPr>
                <a:t>As Hyperkalemia Worsens</a:t>
              </a:r>
              <a:r>
                <a:rPr lang="en-US" dirty="0">
                  <a:effectLst/>
                  <a:latin typeface="Calibri" panose="020F0502020204030204" pitchFamily="34" charset="0"/>
                </a:rPr>
                <a:t>:</a:t>
              </a:r>
            </a:p>
            <a:p>
              <a:pPr marL="1200150" lvl="2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</a:rPr>
                <a:t>QRS prolongs</a:t>
              </a:r>
            </a:p>
            <a:p>
              <a:pPr marL="1200150" lvl="2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effectLst/>
                  <a:latin typeface="Calibri" panose="020F0502020204030204" pitchFamily="34" charset="0"/>
                </a:rPr>
                <a:t>PR prolongs</a:t>
              </a:r>
            </a:p>
            <a:p>
              <a:pPr marL="1200150" lvl="2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</a:rPr>
                <a:t>P wave may disappear</a:t>
              </a:r>
            </a:p>
            <a:p>
              <a:pPr lvl="2">
                <a:lnSpc>
                  <a:spcPct val="150000"/>
                </a:lnSpc>
              </a:pPr>
              <a:endParaRPr lang="en-US" dirty="0"/>
            </a:p>
            <a:p>
              <a:endParaRPr lang="en-US" dirty="0"/>
            </a:p>
          </p:txBody>
        </p:sp>
      </p:grpSp>
      <p:pic>
        <p:nvPicPr>
          <p:cNvPr id="1052" name="Step 1 group" hidden="1">
            <a:extLst>
              <a:ext uri="{FF2B5EF4-FFF2-40B4-BE49-F238E27FC236}">
                <a16:creationId xmlns:a16="http://schemas.microsoft.com/office/drawing/2014/main" id="{87A507B5-321F-4803-B5D8-4E95E0F944A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413" y="263229"/>
            <a:ext cx="8663823" cy="6187110"/>
          </a:xfrm>
          <a:prstGeom prst="rect">
            <a:avLst/>
          </a:prstGeom>
        </p:spPr>
      </p:pic>
      <p:graphicFrame>
        <p:nvGraphicFramePr>
          <p:cNvPr id="353" name="Calcium Table">
            <a:extLst>
              <a:ext uri="{FF2B5EF4-FFF2-40B4-BE49-F238E27FC236}">
                <a16:creationId xmlns:a16="http://schemas.microsoft.com/office/drawing/2014/main" id="{A543C54D-058A-4F8B-8D71-F091364B0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252259"/>
              </p:ext>
            </p:extLst>
          </p:nvPr>
        </p:nvGraphicFramePr>
        <p:xfrm>
          <a:off x="4954308" y="2112050"/>
          <a:ext cx="6818046" cy="1859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67217">
                  <a:extLst>
                    <a:ext uri="{9D8B030D-6E8A-4147-A177-3AD203B41FA5}">
                      <a16:colId xmlns:a16="http://schemas.microsoft.com/office/drawing/2014/main" val="614158389"/>
                    </a:ext>
                  </a:extLst>
                </a:gridCol>
                <a:gridCol w="3150829">
                  <a:extLst>
                    <a:ext uri="{9D8B030D-6E8A-4147-A177-3AD203B41FA5}">
                      <a16:colId xmlns:a16="http://schemas.microsoft.com/office/drawing/2014/main" val="701287796"/>
                    </a:ext>
                  </a:extLst>
                </a:gridCol>
              </a:tblGrid>
              <a:tr h="243471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Calcium Chloride 0.5-1 g IV</a:t>
                      </a: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Calcium Gluconate 1-2 g IV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6714143"/>
                  </a:ext>
                </a:extLst>
              </a:tr>
              <a:tr h="22474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More potent, requires central access</a:t>
                      </a:r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Can be given peripherally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4384961"/>
                  </a:ext>
                </a:extLst>
              </a:tr>
              <a:tr h="28092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Onset: 3-5 minutes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056699"/>
                  </a:ext>
                </a:extLst>
              </a:tr>
              <a:tr h="28092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Duration: 30-60 minutes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4818749"/>
                  </a:ext>
                </a:extLst>
              </a:tr>
              <a:tr h="28092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No effect on K+ levels but should normalize ECG changes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119052"/>
                  </a:ext>
                </a:extLst>
              </a:tr>
            </a:tbl>
          </a:graphicData>
        </a:graphic>
      </p:graphicFrame>
      <p:grpSp>
        <p:nvGrpSpPr>
          <p:cNvPr id="375" name="Shifting Group" hidden="1">
            <a:extLst>
              <a:ext uri="{FF2B5EF4-FFF2-40B4-BE49-F238E27FC236}">
                <a16:creationId xmlns:a16="http://schemas.microsoft.com/office/drawing/2014/main" id="{E8AADEEB-A1E7-42AE-A387-FA156B3A9A3E}"/>
              </a:ext>
            </a:extLst>
          </p:cNvPr>
          <p:cNvGrpSpPr/>
          <p:nvPr/>
        </p:nvGrpSpPr>
        <p:grpSpPr>
          <a:xfrm>
            <a:off x="2656965" y="404090"/>
            <a:ext cx="9301071" cy="6156521"/>
            <a:chOff x="2656965" y="404090"/>
            <a:chExt cx="9301071" cy="6156521"/>
          </a:xfrm>
        </p:grpSpPr>
        <p:sp>
          <p:nvSpPr>
            <p:cNvPr id="355" name="TextBox 354">
              <a:extLst>
                <a:ext uri="{FF2B5EF4-FFF2-40B4-BE49-F238E27FC236}">
                  <a16:creationId xmlns:a16="http://schemas.microsoft.com/office/drawing/2014/main" id="{E4A18C93-8757-442E-A6CF-264D476DBF98}"/>
                </a:ext>
              </a:extLst>
            </p:cNvPr>
            <p:cNvSpPr txBox="1"/>
            <p:nvPr/>
          </p:nvSpPr>
          <p:spPr>
            <a:xfrm>
              <a:off x="5660220" y="404090"/>
              <a:ext cx="33681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Potassium Shifting</a:t>
              </a:r>
            </a:p>
            <a:p>
              <a:endParaRPr lang="en-US" sz="1600" dirty="0"/>
            </a:p>
          </p:txBody>
        </p: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61EC118E-AC4B-4541-BB70-DF5ADC42CB7B}"/>
                </a:ext>
              </a:extLst>
            </p:cNvPr>
            <p:cNvSpPr txBox="1"/>
            <p:nvPr/>
          </p:nvSpPr>
          <p:spPr>
            <a:xfrm>
              <a:off x="2656965" y="2660265"/>
              <a:ext cx="3021160" cy="2446824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b="1" dirty="0"/>
                <a:t>In</a:t>
              </a:r>
              <a:r>
                <a:rPr lang="en-US" sz="2000" b="1" dirty="0"/>
                <a:t>sulin  +   D50</a:t>
              </a:r>
            </a:p>
            <a:p>
              <a:pPr algn="ctr">
                <a:lnSpc>
                  <a:spcPts val="2400"/>
                </a:lnSpc>
              </a:pPr>
              <a:r>
                <a:rPr lang="en-US" sz="1600" dirty="0">
                  <a:effectLst/>
                  <a:latin typeface="Calibri" panose="020F0502020204030204" pitchFamily="34" charset="0"/>
                </a:rPr>
                <a:t> (10u* Regular Insulin +1amp D50)</a:t>
              </a:r>
            </a:p>
            <a:p>
              <a:pPr algn="ctr"/>
              <a:r>
                <a:rPr lang="en-US" sz="1400" dirty="0">
                  <a:effectLst/>
                  <a:latin typeface="Calibri" panose="020F0502020204030204" pitchFamily="34" charset="0"/>
                </a:rPr>
                <a:t>*lower insulin dose if renal impairment</a:t>
              </a:r>
            </a:p>
            <a:p>
              <a:pPr algn="ctr"/>
              <a:endParaRPr lang="en-US" sz="1600" dirty="0">
                <a:latin typeface="Calibri" panose="020F0502020204030204" pitchFamily="34" charset="0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800" dirty="0">
                  <a:effectLst/>
                  <a:latin typeface="Calibri" panose="020F0502020204030204" pitchFamily="34" charset="0"/>
                </a:rPr>
                <a:t> </a:t>
              </a:r>
              <a:r>
                <a:rPr lang="en-US" sz="1700" dirty="0">
                  <a:effectLst/>
                  <a:latin typeface="Calibri" panose="020F0502020204030204" pitchFamily="34" charset="0"/>
                </a:rPr>
                <a:t>Onset: 15-60 minutes  </a:t>
              </a:r>
            </a:p>
            <a:p>
              <a:pPr algn="ctr">
                <a:lnSpc>
                  <a:spcPts val="1800"/>
                </a:lnSpc>
              </a:pPr>
              <a:endParaRPr lang="en-US" sz="1700" b="1" dirty="0">
                <a:latin typeface="Calibri" panose="020F0502020204030204" pitchFamily="34" charset="0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600" dirty="0">
                  <a:effectLst/>
                  <a:latin typeface="Calibri" panose="020F0502020204030204" pitchFamily="34" charset="0"/>
                </a:rPr>
                <a:t>Duration: 4-6 hours (longer if AKI)</a:t>
              </a:r>
            </a:p>
            <a:p>
              <a:pPr algn="ctr">
                <a:lnSpc>
                  <a:spcPts val="1800"/>
                </a:lnSpc>
              </a:pPr>
              <a:endParaRPr lang="en-US" sz="1600" dirty="0">
                <a:latin typeface="Calibri" panose="020F0502020204030204" pitchFamily="34" charset="0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600" dirty="0">
                  <a:effectLst/>
                  <a:latin typeface="Calibri" panose="020F0502020204030204" pitchFamily="34" charset="0"/>
                </a:rPr>
                <a:t>Lowers Serum K ~0.5-1.0meq  </a:t>
              </a:r>
              <a:endParaRPr lang="en-US" sz="1600" b="1" dirty="0"/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74996551-1C92-4011-90C8-26BBEFF5E193}"/>
                </a:ext>
              </a:extLst>
            </p:cNvPr>
            <p:cNvSpPr txBox="1"/>
            <p:nvPr/>
          </p:nvSpPr>
          <p:spPr>
            <a:xfrm>
              <a:off x="5802115" y="2660266"/>
              <a:ext cx="3284970" cy="2446824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800" dirty="0">
                  <a:effectLst/>
                  <a:latin typeface="Calibri" panose="020F0502020204030204" pitchFamily="34" charset="0"/>
                </a:rPr>
                <a:t> </a:t>
              </a:r>
              <a:r>
                <a:rPr lang="en-US" sz="2000" b="1" dirty="0">
                  <a:latin typeface="Calibri" panose="020F0502020204030204" pitchFamily="34" charset="0"/>
                </a:rPr>
                <a:t>β</a:t>
              </a:r>
              <a:r>
                <a:rPr lang="en-US" sz="2000" b="1" dirty="0">
                  <a:effectLst/>
                  <a:latin typeface="Calibri" panose="020F0502020204030204" pitchFamily="34" charset="0"/>
                </a:rPr>
                <a:t>2-agonism</a:t>
              </a:r>
            </a:p>
            <a:p>
              <a:pPr algn="ctr"/>
              <a:r>
                <a:rPr lang="en-US" sz="1800" dirty="0">
                  <a:effectLst/>
                  <a:latin typeface="Calibri" panose="020F0502020204030204" pitchFamily="34" charset="0"/>
                </a:rPr>
                <a:t> </a:t>
              </a:r>
              <a:r>
                <a:rPr lang="en-US" sz="1600" dirty="0">
                  <a:effectLst/>
                  <a:latin typeface="Calibri" panose="020F0502020204030204" pitchFamily="34" charset="0"/>
                </a:rPr>
                <a:t>Albuterol 10-20mg in 4mL saline </a:t>
              </a:r>
              <a:endParaRPr lang="en-US" sz="1600" b="1" dirty="0">
                <a:latin typeface="Calibri" panose="020F0502020204030204" pitchFamily="34" charset="0"/>
              </a:endParaRPr>
            </a:p>
            <a:p>
              <a:pPr algn="ctr"/>
              <a:r>
                <a:rPr lang="en-US" sz="1400" dirty="0">
                  <a:effectLst/>
                  <a:latin typeface="Calibri" panose="020F0502020204030204" pitchFamily="34" charset="0"/>
                </a:rPr>
                <a:t> Higher than asthma/COPD dosing (2.5mg)</a:t>
              </a:r>
            </a:p>
            <a:p>
              <a:pPr algn="ctr"/>
              <a:endParaRPr lang="en-US" sz="1400" b="1" dirty="0">
                <a:effectLst/>
                <a:latin typeface="Calibri" panose="020F0502020204030204" pitchFamily="34" charset="0"/>
              </a:endParaRPr>
            </a:p>
            <a:p>
              <a:pPr algn="ctr"/>
              <a:r>
                <a:rPr lang="en-US" sz="1600" dirty="0">
                  <a:effectLst/>
                  <a:latin typeface="Calibri" panose="020F0502020204030204" pitchFamily="34" charset="0"/>
                </a:rPr>
                <a:t>Onset: 15-30 minutes </a:t>
              </a:r>
            </a:p>
            <a:p>
              <a:pPr algn="ctr"/>
              <a:endParaRPr lang="en-US" sz="1600" b="1" dirty="0">
                <a:latin typeface="Calibri" panose="020F0502020204030204" pitchFamily="34" charset="0"/>
              </a:endParaRPr>
            </a:p>
            <a:p>
              <a:pPr algn="ctr"/>
              <a:r>
                <a:rPr lang="en-US" sz="1600" dirty="0">
                  <a:effectLst/>
                  <a:latin typeface="Calibri" panose="020F0502020204030204" pitchFamily="34" charset="0"/>
                </a:rPr>
                <a:t>Duration: 2-4 hours </a:t>
              </a:r>
            </a:p>
            <a:p>
              <a:pPr algn="ctr"/>
              <a:endParaRPr lang="en-US" sz="1600" b="1" dirty="0">
                <a:effectLst/>
                <a:latin typeface="Calibri" panose="020F0502020204030204" pitchFamily="34" charset="0"/>
              </a:endParaRPr>
            </a:p>
            <a:p>
              <a:pPr algn="ctr"/>
              <a:r>
                <a:rPr lang="en-US" sz="1600" dirty="0">
                  <a:effectLst/>
                  <a:latin typeface="Calibri" panose="020F0502020204030204" pitchFamily="34" charset="0"/>
                </a:rPr>
                <a:t>Lowers Serum K 0.5-1.5meq</a:t>
              </a:r>
              <a:endParaRPr lang="en-US" sz="1600" b="1" dirty="0"/>
            </a:p>
          </p:txBody>
        </p:sp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id="{60E91136-9957-4B5E-8EB5-3942E8C7B334}"/>
                </a:ext>
              </a:extLst>
            </p:cNvPr>
            <p:cNvSpPr txBox="1"/>
            <p:nvPr/>
          </p:nvSpPr>
          <p:spPr>
            <a:xfrm>
              <a:off x="9213402" y="2651232"/>
              <a:ext cx="2744634" cy="2455858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sz="2000" b="1" dirty="0">
                  <a:effectLst/>
                  <a:latin typeface="Calibri" panose="020F0502020204030204" pitchFamily="34" charset="0"/>
                </a:rPr>
                <a:t>NaHCO</a:t>
              </a:r>
              <a:r>
                <a:rPr lang="en-US" sz="2000" b="1" baseline="-25000" dirty="0">
                  <a:effectLst/>
                  <a:latin typeface="Calibri" panose="020F0502020204030204" pitchFamily="34" charset="0"/>
                </a:rPr>
                <a:t>3</a:t>
              </a:r>
            </a:p>
            <a:p>
              <a:pPr algn="ctr">
                <a:lnSpc>
                  <a:spcPts val="2400"/>
                </a:lnSpc>
              </a:pPr>
              <a:r>
                <a:rPr lang="en-US" sz="1600" dirty="0">
                  <a:effectLst/>
                  <a:latin typeface="Calibri" panose="020F0502020204030204" pitchFamily="34" charset="0"/>
                </a:rPr>
                <a:t>For Non-ESRD w/ acidosis only</a:t>
              </a:r>
            </a:p>
            <a:p>
              <a:pPr algn="ctr"/>
              <a:endParaRPr lang="en-US" sz="1600" baseline="-25000" dirty="0">
                <a:latin typeface="Calibri" panose="020F0502020204030204" pitchFamily="34" charset="0"/>
              </a:endParaRPr>
            </a:p>
            <a:p>
              <a:pPr algn="ctr"/>
              <a:r>
                <a:rPr lang="en-US" sz="1600" dirty="0">
                  <a:effectLst/>
                  <a:latin typeface="Calibri" panose="020F0502020204030204" pitchFamily="34" charset="0"/>
                </a:rPr>
                <a:t>Give 50-100meq IV</a:t>
              </a:r>
            </a:p>
            <a:p>
              <a:pPr algn="ctr"/>
              <a:endParaRPr lang="en-US" sz="1600" baseline="-25000" dirty="0">
                <a:effectLst/>
                <a:latin typeface="Calibri" panose="020F0502020204030204" pitchFamily="34" charset="0"/>
              </a:endParaRPr>
            </a:p>
            <a:p>
              <a:pPr algn="ctr"/>
              <a:r>
                <a:rPr lang="en-US" sz="1600" dirty="0">
                  <a:effectLst/>
                  <a:latin typeface="Calibri" panose="020F0502020204030204" pitchFamily="34" charset="0"/>
                </a:rPr>
                <a:t> Onset: 15-30minutes</a:t>
              </a:r>
            </a:p>
            <a:p>
              <a:pPr algn="ctr"/>
              <a:endParaRPr lang="en-US" sz="1600" baseline="-25000" dirty="0">
                <a:latin typeface="Calibri" panose="020F0502020204030204" pitchFamily="34" charset="0"/>
              </a:endParaRPr>
            </a:p>
            <a:p>
              <a:pPr algn="ctr"/>
              <a:r>
                <a:rPr lang="en-US" sz="1600" dirty="0">
                  <a:effectLst/>
                  <a:latin typeface="Calibri" panose="020F0502020204030204" pitchFamily="34" charset="0"/>
                </a:rPr>
                <a:t>Duration: 1-2 hours</a:t>
              </a:r>
            </a:p>
            <a:p>
              <a:pPr algn="ctr"/>
              <a:endParaRPr lang="en-US" sz="1600" baseline="-25000" dirty="0">
                <a:effectLst/>
                <a:latin typeface="Calibri" panose="020F0502020204030204" pitchFamily="34" charset="0"/>
              </a:endParaRPr>
            </a:p>
            <a:p>
              <a:pPr algn="ctr"/>
              <a:r>
                <a:rPr lang="en-US" sz="1600" dirty="0">
                  <a:latin typeface="Calibri" panose="020F0502020204030204" pitchFamily="34" charset="0"/>
                </a:rPr>
                <a:t>L</a:t>
              </a:r>
              <a:r>
                <a:rPr lang="en-US" sz="1600" dirty="0">
                  <a:effectLst/>
                  <a:latin typeface="Calibri" panose="020F0502020204030204" pitchFamily="34" charset="0"/>
                </a:rPr>
                <a:t>east effective shifting strategy</a:t>
              </a:r>
              <a:endParaRPr lang="en-US" sz="1600" baseline="-25000" dirty="0"/>
            </a:p>
          </p:txBody>
        </p:sp>
        <p:pic>
          <p:nvPicPr>
            <p:cNvPr id="372" name="Picture 371">
              <a:extLst>
                <a:ext uri="{FF2B5EF4-FFF2-40B4-BE49-F238E27FC236}">
                  <a16:creationId xmlns:a16="http://schemas.microsoft.com/office/drawing/2014/main" id="{2673A438-4B8F-4142-94EC-5FB655C5E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24818" y="938913"/>
              <a:ext cx="6638925" cy="1666875"/>
            </a:xfrm>
            <a:prstGeom prst="rect">
              <a:avLst/>
            </a:prstGeom>
          </p:spPr>
        </p:pic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A46CB21E-A844-4847-920F-9387D481F494}"/>
                </a:ext>
              </a:extLst>
            </p:cNvPr>
            <p:cNvSpPr txBox="1"/>
            <p:nvPr/>
          </p:nvSpPr>
          <p:spPr>
            <a:xfrm>
              <a:off x="3095273" y="5360282"/>
              <a:ext cx="831348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Note</a:t>
              </a:r>
              <a:r>
                <a:rPr lang="en-US" dirty="0"/>
                <a:t>: Shifting is a </a:t>
              </a:r>
              <a:r>
                <a:rPr lang="en-US" b="1" dirty="0"/>
                <a:t>temporizing measure </a:t>
              </a:r>
              <a:r>
                <a:rPr lang="en-US" dirty="0"/>
                <a:t>to buy time for more definitive management</a:t>
              </a:r>
            </a:p>
            <a:p>
              <a:endParaRPr lang="en-US" dirty="0"/>
            </a:p>
            <a:p>
              <a:r>
                <a:rPr lang="en-US" dirty="0"/>
                <a:t>The shifting strategy is usually chosen based on the patient’s comorbid conditions</a:t>
              </a:r>
            </a:p>
            <a:p>
              <a:endParaRPr lang="en-US" dirty="0"/>
            </a:p>
          </p:txBody>
        </p:sp>
      </p:grpSp>
      <p:pic>
        <p:nvPicPr>
          <p:cNvPr id="22" name="teachIM logo" descr="Icon&#10;&#10;Description automatically generated">
            <a:extLst>
              <a:ext uri="{FF2B5EF4-FFF2-40B4-BE49-F238E27FC236}">
                <a16:creationId xmlns:a16="http://schemas.microsoft.com/office/drawing/2014/main" id="{9941794D-0E4C-4929-897A-E61CE338C30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9865" y="6299802"/>
            <a:ext cx="1387970" cy="528106"/>
          </a:xfrm>
          <a:prstGeom prst="rect">
            <a:avLst/>
          </a:prstGeom>
        </p:spPr>
      </p:pic>
      <p:sp>
        <p:nvSpPr>
          <p:cNvPr id="58" name="Cases">
            <a:hlinkClick r:id="rId14" action="ppaction://hlinksldjump"/>
            <a:extLst>
              <a:ext uri="{FF2B5EF4-FFF2-40B4-BE49-F238E27FC236}">
                <a16:creationId xmlns:a16="http://schemas.microsoft.com/office/drawing/2014/main" id="{6BC936A4-BB99-405A-BC4F-2985C2D7B71B}"/>
              </a:ext>
            </a:extLst>
          </p:cNvPr>
          <p:cNvSpPr txBox="1"/>
          <p:nvPr/>
        </p:nvSpPr>
        <p:spPr>
          <a:xfrm>
            <a:off x="181123" y="5538834"/>
            <a:ext cx="2103120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Cases</a:t>
            </a:r>
          </a:p>
        </p:txBody>
      </p:sp>
      <p:sp>
        <p:nvSpPr>
          <p:cNvPr id="59" name="Scenario Question">
            <a:hlinkClick r:id="rId15" action="ppaction://hlinksldjump"/>
            <a:extLst>
              <a:ext uri="{FF2B5EF4-FFF2-40B4-BE49-F238E27FC236}">
                <a16:creationId xmlns:a16="http://schemas.microsoft.com/office/drawing/2014/main" id="{1D109A93-E2A6-497A-8B77-881AA86812B5}"/>
              </a:ext>
            </a:extLst>
          </p:cNvPr>
          <p:cNvSpPr txBox="1"/>
          <p:nvPr/>
        </p:nvSpPr>
        <p:spPr>
          <a:xfrm>
            <a:off x="181122" y="136445"/>
            <a:ext cx="2103120" cy="467540"/>
          </a:xfrm>
          <a:prstGeom prst="roundRect">
            <a:avLst>
              <a:gd name="adj" fmla="val 18585"/>
            </a:avLst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Common Scenario</a:t>
            </a:r>
          </a:p>
        </p:txBody>
      </p:sp>
      <p:grpSp>
        <p:nvGrpSpPr>
          <p:cNvPr id="63" name="Step 2 Question">
            <a:extLst>
              <a:ext uri="{FF2B5EF4-FFF2-40B4-BE49-F238E27FC236}">
                <a16:creationId xmlns:a16="http://schemas.microsoft.com/office/drawing/2014/main" id="{348C0A6D-9B78-42C4-8C6A-41CDB7E489CB}"/>
              </a:ext>
            </a:extLst>
          </p:cNvPr>
          <p:cNvGrpSpPr/>
          <p:nvPr/>
        </p:nvGrpSpPr>
        <p:grpSpPr>
          <a:xfrm>
            <a:off x="181122" y="1716074"/>
            <a:ext cx="2103120" cy="793038"/>
            <a:chOff x="131415" y="2087451"/>
            <a:chExt cx="2218200" cy="793038"/>
          </a:xfrm>
        </p:grpSpPr>
        <p:sp>
          <p:nvSpPr>
            <p:cNvPr id="64" name="question 3">
              <a:hlinkClick r:id="rId16" action="ppaction://hlinksldjump"/>
              <a:extLst>
                <a:ext uri="{FF2B5EF4-FFF2-40B4-BE49-F238E27FC236}">
                  <a16:creationId xmlns:a16="http://schemas.microsoft.com/office/drawing/2014/main" id="{1B082202-796D-4098-B659-CDE67FEF2F11}"/>
                </a:ext>
              </a:extLst>
            </p:cNvPr>
            <p:cNvSpPr txBox="1"/>
            <p:nvPr/>
          </p:nvSpPr>
          <p:spPr>
            <a:xfrm>
              <a:off x="131415" y="2094166"/>
              <a:ext cx="2218200" cy="707484"/>
            </a:xfrm>
            <a:prstGeom prst="roundRect">
              <a:avLst/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tlCol="0">
              <a:noAutofit/>
            </a:bodyPr>
            <a:lstStyle/>
            <a:p>
              <a:r>
                <a:rPr lang="en-US" b="1" dirty="0">
                  <a:solidFill>
                    <a:sysClr val="windowText" lastClr="000000"/>
                  </a:solidFill>
                </a:rPr>
                <a:t>Step 2</a:t>
              </a:r>
            </a:p>
          </p:txBody>
        </p:sp>
        <p:pic>
          <p:nvPicPr>
            <p:cNvPr id="65" name="Graphic 64" descr="Heartbeat with solid fill">
              <a:hlinkClick r:id="rId16" action="ppaction://hlinksldjump"/>
              <a:extLst>
                <a:ext uri="{FF2B5EF4-FFF2-40B4-BE49-F238E27FC236}">
                  <a16:creationId xmlns:a16="http://schemas.microsoft.com/office/drawing/2014/main" id="{6FE9902A-BAB0-4BCD-B772-D5A6F81EA1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254285" y="2087451"/>
              <a:ext cx="793038" cy="793038"/>
            </a:xfrm>
            <a:prstGeom prst="rect">
              <a:avLst/>
            </a:prstGeom>
          </p:spPr>
        </p:pic>
      </p:grpSp>
      <p:grpSp>
        <p:nvGrpSpPr>
          <p:cNvPr id="66" name="Step 3 Question">
            <a:extLst>
              <a:ext uri="{FF2B5EF4-FFF2-40B4-BE49-F238E27FC236}">
                <a16:creationId xmlns:a16="http://schemas.microsoft.com/office/drawing/2014/main" id="{22B5370C-45F7-464E-A9EA-E47734CBCDF6}"/>
              </a:ext>
            </a:extLst>
          </p:cNvPr>
          <p:cNvGrpSpPr/>
          <p:nvPr/>
        </p:nvGrpSpPr>
        <p:grpSpPr>
          <a:xfrm>
            <a:off x="181122" y="2702820"/>
            <a:ext cx="2103120" cy="802349"/>
            <a:chOff x="131414" y="3071170"/>
            <a:chExt cx="2205728" cy="802349"/>
          </a:xfrm>
        </p:grpSpPr>
        <p:sp>
          <p:nvSpPr>
            <p:cNvPr id="67" name="question 4">
              <a:hlinkClick r:id="rId19" action="ppaction://hlinksldjump"/>
              <a:extLst>
                <a:ext uri="{FF2B5EF4-FFF2-40B4-BE49-F238E27FC236}">
                  <a16:creationId xmlns:a16="http://schemas.microsoft.com/office/drawing/2014/main" id="{D60C984B-394B-424C-8B8A-4C6214D8B9B8}"/>
                </a:ext>
              </a:extLst>
            </p:cNvPr>
            <p:cNvSpPr txBox="1"/>
            <p:nvPr/>
          </p:nvSpPr>
          <p:spPr>
            <a:xfrm>
              <a:off x="131414" y="3078631"/>
              <a:ext cx="2205728" cy="720110"/>
            </a:xfrm>
            <a:prstGeom prst="roundRect">
              <a:avLst>
                <a:gd name="adj" fmla="val 18232"/>
              </a:avLst>
            </a:prstGeom>
            <a:solidFill>
              <a:srgbClr val="FF0000"/>
            </a:solidFill>
            <a:ln w="38100">
              <a:solidFill>
                <a:srgbClr val="FF0000"/>
              </a:solidFill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tlCol="0">
              <a:no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Step 3</a:t>
              </a:r>
            </a:p>
          </p:txBody>
        </p:sp>
        <p:pic>
          <p:nvPicPr>
            <p:cNvPr id="68" name="Graphic 67" descr="Heart with pulse with solid fill">
              <a:extLst>
                <a:ext uri="{FF2B5EF4-FFF2-40B4-BE49-F238E27FC236}">
                  <a16:creationId xmlns:a16="http://schemas.microsoft.com/office/drawing/2014/main" id="{1E1F4AB7-A338-46A0-98A6-0198A424D9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234278" y="3071170"/>
              <a:ext cx="802349" cy="802349"/>
            </a:xfrm>
            <a:prstGeom prst="rect">
              <a:avLst/>
            </a:prstGeom>
          </p:spPr>
        </p:pic>
      </p:grpSp>
      <p:sp>
        <p:nvSpPr>
          <p:cNvPr id="82" name="EKG changes text">
            <a:extLst>
              <a:ext uri="{FF2B5EF4-FFF2-40B4-BE49-F238E27FC236}">
                <a16:creationId xmlns:a16="http://schemas.microsoft.com/office/drawing/2014/main" id="{6CFB1B7F-53C6-4F9B-82A7-D494656592E2}"/>
              </a:ext>
            </a:extLst>
          </p:cNvPr>
          <p:cNvSpPr txBox="1"/>
          <p:nvPr/>
        </p:nvSpPr>
        <p:spPr>
          <a:xfrm>
            <a:off x="5088714" y="262525"/>
            <a:ext cx="6545273" cy="724674"/>
          </a:xfrm>
          <a:prstGeom prst="rect">
            <a:avLst/>
          </a:prstGeom>
          <a:noFill/>
          <a:ln w="79375" cmpd="sng">
            <a:noFill/>
          </a:ln>
        </p:spPr>
        <p:txBody>
          <a:bodyPr wrap="square" tIns="137160" rtlCol="0">
            <a:noAutofit/>
          </a:bodyPr>
          <a:lstStyle/>
          <a:p>
            <a:pPr algn="ctr"/>
            <a:r>
              <a:rPr lang="en-US" sz="3200" b="1" dirty="0"/>
              <a:t>Cardiac Membrane Stabilization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105C8EC-179B-4CA0-B902-F6F0A0E3E3E4}"/>
              </a:ext>
            </a:extLst>
          </p:cNvPr>
          <p:cNvSpPr txBox="1"/>
          <p:nvPr/>
        </p:nvSpPr>
        <p:spPr>
          <a:xfrm>
            <a:off x="6129674" y="1261449"/>
            <a:ext cx="44819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ECG changes or K &gt; 6.5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FDCBA46-6365-4528-84C9-6E152CB24967}"/>
              </a:ext>
            </a:extLst>
          </p:cNvPr>
          <p:cNvCxnSpPr>
            <a:cxnSpLocks/>
            <a:stCxn id="83" idx="2"/>
            <a:endCxn id="353" idx="0"/>
          </p:cNvCxnSpPr>
          <p:nvPr/>
        </p:nvCxnSpPr>
        <p:spPr>
          <a:xfrm flipH="1">
            <a:off x="8363331" y="1661559"/>
            <a:ext cx="7326" cy="450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696761D2-50B0-4FFB-9CBE-CF28267431AB}"/>
              </a:ext>
            </a:extLst>
          </p:cNvPr>
          <p:cNvCxnSpPr>
            <a:cxnSpLocks/>
            <a:stCxn id="353" idx="2"/>
            <a:endCxn id="144" idx="0"/>
          </p:cNvCxnSpPr>
          <p:nvPr/>
        </p:nvCxnSpPr>
        <p:spPr>
          <a:xfrm>
            <a:off x="8363331" y="3971330"/>
            <a:ext cx="0" cy="520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675FCAE3-A4CF-4466-89DB-95C2392994D1}"/>
              </a:ext>
            </a:extLst>
          </p:cNvPr>
          <p:cNvSpPr txBox="1"/>
          <p:nvPr/>
        </p:nvSpPr>
        <p:spPr>
          <a:xfrm>
            <a:off x="6960286" y="4491705"/>
            <a:ext cx="28060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0" dirty="0">
                <a:solidFill>
                  <a:schemeClr val="tx1"/>
                </a:solidFill>
              </a:rPr>
              <a:t>Repeat ECG</a:t>
            </a:r>
            <a:endParaRPr lang="en-US" sz="2000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1E9A543D-4DA1-4D26-9579-A3449832B1D7}"/>
              </a:ext>
            </a:extLst>
          </p:cNvPr>
          <p:cNvSpPr txBox="1"/>
          <p:nvPr/>
        </p:nvSpPr>
        <p:spPr>
          <a:xfrm>
            <a:off x="6566877" y="5440052"/>
            <a:ext cx="36075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err="1"/>
              <a:t>Redose</a:t>
            </a:r>
            <a:r>
              <a:rPr lang="en-US" sz="2000" dirty="0"/>
              <a:t> IV Ca every 5-10 min if persistent ECG changes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4F81D19D-ACEE-406D-9C45-D4F21ACB8F37}"/>
              </a:ext>
            </a:extLst>
          </p:cNvPr>
          <p:cNvCxnSpPr>
            <a:cxnSpLocks/>
            <a:stCxn id="144" idx="2"/>
            <a:endCxn id="157" idx="0"/>
          </p:cNvCxnSpPr>
          <p:nvPr/>
        </p:nvCxnSpPr>
        <p:spPr>
          <a:xfrm>
            <a:off x="8363331" y="4891815"/>
            <a:ext cx="7326" cy="5482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80C2A03C-BDAA-4EA1-9694-FB6E48DD64C5}"/>
              </a:ext>
            </a:extLst>
          </p:cNvPr>
          <p:cNvSpPr/>
          <p:nvPr/>
        </p:nvSpPr>
        <p:spPr>
          <a:xfrm>
            <a:off x="2856834" y="278820"/>
            <a:ext cx="970339" cy="3121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K &gt; 5.5?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0F2E664-E2B1-4034-B1EC-028BB10BA74C}"/>
              </a:ext>
            </a:extLst>
          </p:cNvPr>
          <p:cNvCxnSpPr>
            <a:cxnSpLocks/>
            <a:stCxn id="84" idx="2"/>
            <a:endCxn id="86" idx="0"/>
          </p:cNvCxnSpPr>
          <p:nvPr/>
        </p:nvCxnSpPr>
        <p:spPr>
          <a:xfrm>
            <a:off x="3342004" y="590954"/>
            <a:ext cx="8444" cy="172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7F9F0999-61E9-4957-B3C4-95C76AD8EB10}"/>
              </a:ext>
            </a:extLst>
          </p:cNvPr>
          <p:cNvSpPr/>
          <p:nvPr/>
        </p:nvSpPr>
        <p:spPr>
          <a:xfrm>
            <a:off x="2569404" y="762988"/>
            <a:ext cx="1562088" cy="280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Confirm </a:t>
            </a:r>
            <a:r>
              <a:rPr lang="en-US" sz="1600" dirty="0" err="1"/>
              <a:t>hyperK</a:t>
            </a:r>
            <a:endParaRPr lang="en-US" sz="1600" dirty="0"/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75A44D32-55B5-4F66-9161-96818862A012}"/>
              </a:ext>
            </a:extLst>
          </p:cNvPr>
          <p:cNvCxnSpPr>
            <a:cxnSpLocks/>
            <a:stCxn id="86" idx="2"/>
            <a:endCxn id="88" idx="0"/>
          </p:cNvCxnSpPr>
          <p:nvPr/>
        </p:nvCxnSpPr>
        <p:spPr>
          <a:xfrm>
            <a:off x="3350448" y="1043383"/>
            <a:ext cx="0" cy="2140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E2583C47-1BC2-4B2A-AF21-7E7D9E9C06A3}"/>
              </a:ext>
            </a:extLst>
          </p:cNvPr>
          <p:cNvSpPr/>
          <p:nvPr/>
        </p:nvSpPr>
        <p:spPr>
          <a:xfrm>
            <a:off x="2821544" y="1257468"/>
            <a:ext cx="1057807" cy="2851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Stat ECG</a:t>
            </a:r>
          </a:p>
        </p:txBody>
      </p: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1B72924D-0CB5-47B5-82D9-463AF71C2389}"/>
              </a:ext>
            </a:extLst>
          </p:cNvPr>
          <p:cNvCxnSpPr>
            <a:cxnSpLocks/>
            <a:stCxn id="88" idx="2"/>
            <a:endCxn id="102" idx="0"/>
          </p:cNvCxnSpPr>
          <p:nvPr/>
        </p:nvCxnSpPr>
        <p:spPr>
          <a:xfrm rot="16200000" flipH="1">
            <a:off x="3429457" y="1463591"/>
            <a:ext cx="271689" cy="42970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B3CB7FB1-3834-4936-95E6-868226D72FF9}"/>
              </a:ext>
            </a:extLst>
          </p:cNvPr>
          <p:cNvSpPr/>
          <p:nvPr/>
        </p:nvSpPr>
        <p:spPr>
          <a:xfrm>
            <a:off x="3350160" y="1814290"/>
            <a:ext cx="859989" cy="45242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ECG </a:t>
            </a:r>
            <a:r>
              <a:rPr lang="el-GR" sz="1400" dirty="0">
                <a:solidFill>
                  <a:schemeClr val="tx1"/>
                </a:solidFill>
              </a:rPr>
              <a:t>Δ</a:t>
            </a:r>
            <a:r>
              <a:rPr lang="en-US" sz="1400" dirty="0">
                <a:solidFill>
                  <a:schemeClr val="tx1"/>
                </a:solidFill>
              </a:rPr>
              <a:t> / K&gt; 6.5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7C8BFB26-95A4-4AD7-A5DA-59CF0CB1F02E}"/>
              </a:ext>
            </a:extLst>
          </p:cNvPr>
          <p:cNvCxnSpPr>
            <a:cxnSpLocks/>
            <a:stCxn id="102" idx="2"/>
            <a:endCxn id="104" idx="0"/>
          </p:cNvCxnSpPr>
          <p:nvPr/>
        </p:nvCxnSpPr>
        <p:spPr>
          <a:xfrm flipH="1">
            <a:off x="3777867" y="2266719"/>
            <a:ext cx="2288" cy="243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14F72A57-B2F5-4D76-928C-E4570D9C22C1}"/>
              </a:ext>
            </a:extLst>
          </p:cNvPr>
          <p:cNvSpPr/>
          <p:nvPr/>
        </p:nvSpPr>
        <p:spPr>
          <a:xfrm>
            <a:off x="3345584" y="2510466"/>
            <a:ext cx="864565" cy="474585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IV Ca 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f/u ECG</a:t>
            </a:r>
          </a:p>
        </p:txBody>
      </p:sp>
      <p:cxnSp>
        <p:nvCxnSpPr>
          <p:cNvPr id="105" name="Connector: Elbow 104">
            <a:extLst>
              <a:ext uri="{FF2B5EF4-FFF2-40B4-BE49-F238E27FC236}">
                <a16:creationId xmlns:a16="http://schemas.microsoft.com/office/drawing/2014/main" id="{C3985D52-9924-4B81-9384-779400ADE65A}"/>
              </a:ext>
            </a:extLst>
          </p:cNvPr>
          <p:cNvCxnSpPr>
            <a:cxnSpLocks/>
            <a:stCxn id="104" idx="2"/>
            <a:endCxn id="102" idx="1"/>
          </p:cNvCxnSpPr>
          <p:nvPr/>
        </p:nvCxnSpPr>
        <p:spPr>
          <a:xfrm rot="5400000" flipH="1">
            <a:off x="3091741" y="2298925"/>
            <a:ext cx="944546" cy="427707"/>
          </a:xfrm>
          <a:prstGeom prst="bentConnector4">
            <a:avLst>
              <a:gd name="adj1" fmla="val -24202"/>
              <a:gd name="adj2" fmla="val 15451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1" name="Step 4 Question">
            <a:extLst>
              <a:ext uri="{FF2B5EF4-FFF2-40B4-BE49-F238E27FC236}">
                <a16:creationId xmlns:a16="http://schemas.microsoft.com/office/drawing/2014/main" id="{D6185120-4938-48A5-B411-E53BD36776A1}"/>
              </a:ext>
            </a:extLst>
          </p:cNvPr>
          <p:cNvGrpSpPr/>
          <p:nvPr/>
        </p:nvGrpSpPr>
        <p:grpSpPr>
          <a:xfrm>
            <a:off x="181122" y="3698877"/>
            <a:ext cx="2103120" cy="719579"/>
            <a:chOff x="177115" y="4211452"/>
            <a:chExt cx="2185336" cy="719579"/>
          </a:xfrm>
        </p:grpSpPr>
        <p:sp>
          <p:nvSpPr>
            <p:cNvPr id="89" name="sub-q 1 button">
              <a:hlinkClick r:id="rId22" action="ppaction://hlinksldjump"/>
              <a:extLst>
                <a:ext uri="{FF2B5EF4-FFF2-40B4-BE49-F238E27FC236}">
                  <a16:creationId xmlns:a16="http://schemas.microsoft.com/office/drawing/2014/main" id="{1A785BC4-D959-4E63-AF27-6ABAA7087CB3}"/>
                </a:ext>
              </a:extLst>
            </p:cNvPr>
            <p:cNvSpPr txBox="1"/>
            <p:nvPr/>
          </p:nvSpPr>
          <p:spPr>
            <a:xfrm>
              <a:off x="177115" y="4211452"/>
              <a:ext cx="2185336" cy="718840"/>
            </a:xfrm>
            <a:prstGeom prst="roundRect">
              <a:avLst/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tlCol="0">
              <a:noAutofit/>
            </a:bodyPr>
            <a:lstStyle/>
            <a:p>
              <a:r>
                <a:rPr lang="en-US" b="1" dirty="0">
                  <a:solidFill>
                    <a:sysClr val="windowText" lastClr="000000"/>
                  </a:solidFill>
                </a:rPr>
                <a:t>Step 4</a:t>
              </a:r>
            </a:p>
          </p:txBody>
        </p:sp>
        <p:pic>
          <p:nvPicPr>
            <p:cNvPr id="90" name="Graphic 89" descr="Transfer with solid fill">
              <a:hlinkClick r:id="rId22" action="ppaction://hlinksldjump"/>
              <a:extLst>
                <a:ext uri="{FF2B5EF4-FFF2-40B4-BE49-F238E27FC236}">
                  <a16:creationId xmlns:a16="http://schemas.microsoft.com/office/drawing/2014/main" id="{E301F5B6-8B10-499B-8C1F-BC4D94C9B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318888" y="4212191"/>
              <a:ext cx="718840" cy="718840"/>
            </a:xfrm>
            <a:prstGeom prst="rect">
              <a:avLst/>
            </a:prstGeom>
          </p:spPr>
        </p:pic>
      </p:grpSp>
      <p:grpSp>
        <p:nvGrpSpPr>
          <p:cNvPr id="91" name="Step 5 Question Group">
            <a:extLst>
              <a:ext uri="{FF2B5EF4-FFF2-40B4-BE49-F238E27FC236}">
                <a16:creationId xmlns:a16="http://schemas.microsoft.com/office/drawing/2014/main" id="{D75CCB7C-043B-4336-9C6C-267E1AF1B749}"/>
              </a:ext>
            </a:extLst>
          </p:cNvPr>
          <p:cNvGrpSpPr/>
          <p:nvPr/>
        </p:nvGrpSpPr>
        <p:grpSpPr>
          <a:xfrm>
            <a:off x="183154" y="4612164"/>
            <a:ext cx="2103120" cy="732964"/>
            <a:chOff x="199997" y="5175187"/>
            <a:chExt cx="2185336" cy="732964"/>
          </a:xfrm>
        </p:grpSpPr>
        <p:sp>
          <p:nvSpPr>
            <p:cNvPr id="93" name="sub-q 2">
              <a:hlinkClick r:id="rId25" action="ppaction://hlinksldjump"/>
              <a:extLst>
                <a:ext uri="{FF2B5EF4-FFF2-40B4-BE49-F238E27FC236}">
                  <a16:creationId xmlns:a16="http://schemas.microsoft.com/office/drawing/2014/main" id="{C6CEB752-59E4-468F-A085-E1A836FF8C01}"/>
                </a:ext>
              </a:extLst>
            </p:cNvPr>
            <p:cNvSpPr txBox="1"/>
            <p:nvPr/>
          </p:nvSpPr>
          <p:spPr>
            <a:xfrm>
              <a:off x="199997" y="5179241"/>
              <a:ext cx="2185336" cy="718840"/>
            </a:xfrm>
            <a:prstGeom prst="roundRect">
              <a:avLst>
                <a:gd name="adj" fmla="val 18844"/>
              </a:avLst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Ins="91440" rtlCol="0">
              <a:noAutofit/>
            </a:bodyPr>
            <a:lstStyle/>
            <a:p>
              <a:r>
                <a:rPr lang="en-US" b="1" dirty="0">
                  <a:solidFill>
                    <a:sysClr val="windowText" lastClr="000000"/>
                  </a:solidFill>
                </a:rPr>
                <a:t>Step 5</a:t>
              </a:r>
            </a:p>
          </p:txBody>
        </p:sp>
        <p:pic>
          <p:nvPicPr>
            <p:cNvPr id="94" name="Graphic 93" descr="Downward trend graph with solid fill">
              <a:hlinkClick r:id="rId25" action="ppaction://hlinksldjump"/>
              <a:extLst>
                <a:ext uri="{FF2B5EF4-FFF2-40B4-BE49-F238E27FC236}">
                  <a16:creationId xmlns:a16="http://schemas.microsoft.com/office/drawing/2014/main" id="{95D2CB35-73EC-4482-B437-C8897C88F9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308771" y="5175187"/>
              <a:ext cx="732964" cy="732964"/>
            </a:xfrm>
            <a:prstGeom prst="rect">
              <a:avLst/>
            </a:prstGeom>
          </p:spPr>
        </p:pic>
      </p:grpSp>
      <p:grpSp>
        <p:nvGrpSpPr>
          <p:cNvPr id="113" name="Step 1 Question">
            <a:extLst>
              <a:ext uri="{FF2B5EF4-FFF2-40B4-BE49-F238E27FC236}">
                <a16:creationId xmlns:a16="http://schemas.microsoft.com/office/drawing/2014/main" id="{2353B8F2-00CB-4E98-B4DA-921B70146E90}"/>
              </a:ext>
            </a:extLst>
          </p:cNvPr>
          <p:cNvGrpSpPr/>
          <p:nvPr/>
        </p:nvGrpSpPr>
        <p:grpSpPr>
          <a:xfrm>
            <a:off x="181122" y="797693"/>
            <a:ext cx="2103120" cy="724673"/>
            <a:chOff x="143887" y="1045203"/>
            <a:chExt cx="2205728" cy="724673"/>
          </a:xfrm>
        </p:grpSpPr>
        <p:sp>
          <p:nvSpPr>
            <p:cNvPr id="114" name="Question 2">
              <a:hlinkClick r:id="rId28" action="ppaction://hlinksldjump"/>
              <a:extLst>
                <a:ext uri="{FF2B5EF4-FFF2-40B4-BE49-F238E27FC236}">
                  <a16:creationId xmlns:a16="http://schemas.microsoft.com/office/drawing/2014/main" id="{4C29106D-A251-45DD-9553-B70C5169B71F}"/>
                </a:ext>
              </a:extLst>
            </p:cNvPr>
            <p:cNvSpPr txBox="1"/>
            <p:nvPr/>
          </p:nvSpPr>
          <p:spPr>
            <a:xfrm>
              <a:off x="143887" y="1045203"/>
              <a:ext cx="2205728" cy="724673"/>
            </a:xfrm>
            <a:prstGeom prst="roundRect">
              <a:avLst/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tlCol="0">
              <a:noAutofit/>
            </a:bodyPr>
            <a:lstStyle/>
            <a:p>
              <a:r>
                <a:rPr lang="en-US" b="1" dirty="0">
                  <a:solidFill>
                    <a:sysClr val="windowText" lastClr="000000"/>
                  </a:solidFill>
                </a:rPr>
                <a:t>Step 1</a:t>
              </a:r>
            </a:p>
          </p:txBody>
        </p:sp>
        <p:pic>
          <p:nvPicPr>
            <p:cNvPr id="116" name="Graphic 115" descr="Test tubes outline">
              <a:hlinkClick r:id="rId28" action="ppaction://hlinksldjump"/>
              <a:extLst>
                <a:ext uri="{FF2B5EF4-FFF2-40B4-BE49-F238E27FC236}">
                  <a16:creationId xmlns:a16="http://schemas.microsoft.com/office/drawing/2014/main" id="{7F682F49-8924-481A-9BF4-9F91D32871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1377019" y="1058879"/>
              <a:ext cx="675768" cy="675768"/>
            </a:xfrm>
            <a:prstGeom prst="rect">
              <a:avLst/>
            </a:prstGeom>
          </p:spPr>
        </p:pic>
      </p:grpSp>
      <p:pic>
        <p:nvPicPr>
          <p:cNvPr id="71" name="Graphic 70" descr="Cursor with solid fill">
            <a:extLst>
              <a:ext uri="{FF2B5EF4-FFF2-40B4-BE49-F238E27FC236}">
                <a16:creationId xmlns:a16="http://schemas.microsoft.com/office/drawing/2014/main" id="{DA3B330C-0605-493F-B237-9287EF468293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154474" y="435911"/>
            <a:ext cx="301752" cy="301752"/>
          </a:xfrm>
          <a:prstGeom prst="rect">
            <a:avLst/>
          </a:prstGeom>
        </p:spPr>
      </p:pic>
      <p:pic>
        <p:nvPicPr>
          <p:cNvPr id="72" name="Graphic 71" descr="Cursor with solid fill">
            <a:extLst>
              <a:ext uri="{FF2B5EF4-FFF2-40B4-BE49-F238E27FC236}">
                <a16:creationId xmlns:a16="http://schemas.microsoft.com/office/drawing/2014/main" id="{A53259E3-A12F-4B64-8E99-63CBAA17B22B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154474" y="1357347"/>
            <a:ext cx="301752" cy="301752"/>
          </a:xfrm>
          <a:prstGeom prst="rect">
            <a:avLst/>
          </a:prstGeom>
        </p:spPr>
      </p:pic>
      <p:pic>
        <p:nvPicPr>
          <p:cNvPr id="74" name="Graphic 73" descr="Cursor with solid fill">
            <a:extLst>
              <a:ext uri="{FF2B5EF4-FFF2-40B4-BE49-F238E27FC236}">
                <a16:creationId xmlns:a16="http://schemas.microsoft.com/office/drawing/2014/main" id="{2DF1B81F-5A3D-4FAB-A719-5C8AF2B5CB82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154474" y="4273381"/>
            <a:ext cx="301752" cy="301752"/>
          </a:xfrm>
          <a:prstGeom prst="rect">
            <a:avLst/>
          </a:prstGeom>
        </p:spPr>
      </p:pic>
      <p:pic>
        <p:nvPicPr>
          <p:cNvPr id="76" name="Graphic 75" descr="Cursor with solid fill">
            <a:extLst>
              <a:ext uri="{FF2B5EF4-FFF2-40B4-BE49-F238E27FC236}">
                <a16:creationId xmlns:a16="http://schemas.microsoft.com/office/drawing/2014/main" id="{C9B78192-29B9-4DAC-82D3-51CB2DD1D6B6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154474" y="2235955"/>
            <a:ext cx="301752" cy="301752"/>
          </a:xfrm>
          <a:prstGeom prst="rect">
            <a:avLst/>
          </a:prstGeom>
        </p:spPr>
      </p:pic>
      <p:pic>
        <p:nvPicPr>
          <p:cNvPr id="78" name="Graphic 77" descr="Cursor with solid fill">
            <a:extLst>
              <a:ext uri="{FF2B5EF4-FFF2-40B4-BE49-F238E27FC236}">
                <a16:creationId xmlns:a16="http://schemas.microsoft.com/office/drawing/2014/main" id="{D2A182D0-6CBD-42E7-B736-136155F8723C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154474" y="5166838"/>
            <a:ext cx="301752" cy="301752"/>
          </a:xfrm>
          <a:prstGeom prst="rect">
            <a:avLst/>
          </a:prstGeom>
        </p:spPr>
      </p:pic>
      <p:pic>
        <p:nvPicPr>
          <p:cNvPr id="80" name="Graphic 79" descr="Cursor with solid fill">
            <a:extLst>
              <a:ext uri="{FF2B5EF4-FFF2-40B4-BE49-F238E27FC236}">
                <a16:creationId xmlns:a16="http://schemas.microsoft.com/office/drawing/2014/main" id="{E0C5583E-D3AF-482F-A014-2C24DD8A3B0D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154474" y="5796581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295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reveal and hide" hidden="1">
            <a:extLst>
              <a:ext uri="{FF2B5EF4-FFF2-40B4-BE49-F238E27FC236}">
                <a16:creationId xmlns:a16="http://schemas.microsoft.com/office/drawing/2014/main" id="{AB07DF3C-FCBD-4345-91B6-3DE81A1C7BD3}"/>
              </a:ext>
            </a:extLst>
          </p:cNvPr>
          <p:cNvGrpSpPr/>
          <p:nvPr/>
        </p:nvGrpSpPr>
        <p:grpSpPr>
          <a:xfrm>
            <a:off x="2548211" y="78469"/>
            <a:ext cx="1945324" cy="600164"/>
            <a:chOff x="2548211" y="78469"/>
            <a:chExt cx="1945324" cy="600164"/>
          </a:xfrm>
        </p:grpSpPr>
        <p:sp>
          <p:nvSpPr>
            <p:cNvPr id="137" name="reveal and hide">
              <a:extLst>
                <a:ext uri="{FF2B5EF4-FFF2-40B4-BE49-F238E27FC236}">
                  <a16:creationId xmlns:a16="http://schemas.microsoft.com/office/drawing/2014/main" id="{E43C651D-F1EA-45B9-A89E-FF372708243F}"/>
                </a:ext>
              </a:extLst>
            </p:cNvPr>
            <p:cNvSpPr txBox="1"/>
            <p:nvPr/>
          </p:nvSpPr>
          <p:spPr>
            <a:xfrm>
              <a:off x="2887711" y="78469"/>
              <a:ext cx="1605824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Click these buttons to </a:t>
              </a:r>
              <a:r>
                <a:rPr lang="en-US" sz="1100" b="1" u="sng" dirty="0"/>
                <a:t>REVEAL &amp; HIDE </a:t>
              </a:r>
              <a:r>
                <a:rPr lang="en-US" sz="1100" dirty="0"/>
                <a:t>answers and graphics</a:t>
              </a:r>
            </a:p>
          </p:txBody>
        </p: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3A86B51B-B37B-4BC4-B659-B88792256A27}"/>
                </a:ext>
              </a:extLst>
            </p:cNvPr>
            <p:cNvCxnSpPr>
              <a:cxnSpLocks/>
              <a:stCxn id="137" idx="1"/>
            </p:cNvCxnSpPr>
            <p:nvPr/>
          </p:nvCxnSpPr>
          <p:spPr>
            <a:xfrm flipH="1">
              <a:off x="2548211" y="378551"/>
              <a:ext cx="339500" cy="1525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" name="click again" hidden="1">
            <a:extLst>
              <a:ext uri="{FF2B5EF4-FFF2-40B4-BE49-F238E27FC236}">
                <a16:creationId xmlns:a16="http://schemas.microsoft.com/office/drawing/2014/main" id="{0A16418F-5FFA-4BD0-83A4-6399A4504740}"/>
              </a:ext>
            </a:extLst>
          </p:cNvPr>
          <p:cNvSpPr txBox="1"/>
          <p:nvPr/>
        </p:nvSpPr>
        <p:spPr>
          <a:xfrm>
            <a:off x="2638543" y="832509"/>
            <a:ext cx="1052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Click again to hide graphic</a:t>
            </a:r>
          </a:p>
        </p:txBody>
      </p:sp>
      <p:grpSp>
        <p:nvGrpSpPr>
          <p:cNvPr id="29" name="Common Scenario Group" hidden="1">
            <a:extLst>
              <a:ext uri="{FF2B5EF4-FFF2-40B4-BE49-F238E27FC236}">
                <a16:creationId xmlns:a16="http://schemas.microsoft.com/office/drawing/2014/main" id="{C4A48495-A01F-4A95-B75E-9848E342E6A4}"/>
              </a:ext>
            </a:extLst>
          </p:cNvPr>
          <p:cNvGrpSpPr/>
          <p:nvPr/>
        </p:nvGrpSpPr>
        <p:grpSpPr>
          <a:xfrm>
            <a:off x="3584651" y="466289"/>
            <a:ext cx="8227631" cy="5970865"/>
            <a:chOff x="3679955" y="647519"/>
            <a:chExt cx="8227631" cy="5970865"/>
          </a:xfrm>
        </p:grpSpPr>
        <p:pic>
          <p:nvPicPr>
            <p:cNvPr id="28" name="Graphic 27" descr="Speech with solid fill">
              <a:extLst>
                <a:ext uri="{FF2B5EF4-FFF2-40B4-BE49-F238E27FC236}">
                  <a16:creationId xmlns:a16="http://schemas.microsoft.com/office/drawing/2014/main" id="{BC505812-85A3-423E-A8DF-BF822389FF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679955" y="2868268"/>
              <a:ext cx="1367349" cy="1367349"/>
            </a:xfrm>
            <a:prstGeom prst="rect">
              <a:avLst/>
            </a:prstGeom>
          </p:spPr>
        </p:pic>
        <p:pic>
          <p:nvPicPr>
            <p:cNvPr id="49" name="Graphic 48" descr="Speech with solid fill">
              <a:extLst>
                <a:ext uri="{FF2B5EF4-FFF2-40B4-BE49-F238E27FC236}">
                  <a16:creationId xmlns:a16="http://schemas.microsoft.com/office/drawing/2014/main" id="{9DEFFF61-F869-4978-8FEF-7C1E771264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01063" y="3951377"/>
              <a:ext cx="1399557" cy="1399557"/>
            </a:xfrm>
            <a:prstGeom prst="rect">
              <a:avLst/>
            </a:prstGeom>
          </p:spPr>
        </p:pic>
        <p:pic>
          <p:nvPicPr>
            <p:cNvPr id="26" name="Graphic 25" descr="Speech with solid fill">
              <a:extLst>
                <a:ext uri="{FF2B5EF4-FFF2-40B4-BE49-F238E27FC236}">
                  <a16:creationId xmlns:a16="http://schemas.microsoft.com/office/drawing/2014/main" id="{F8E4E379-4EC6-41D4-98C4-C4622476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680848" y="1727820"/>
              <a:ext cx="1399557" cy="1399557"/>
            </a:xfrm>
            <a:prstGeom prst="rect">
              <a:avLst/>
            </a:prstGeom>
          </p:spPr>
        </p:pic>
        <p:sp>
          <p:nvSpPr>
            <p:cNvPr id="23" name="Common Scenario text box">
              <a:extLst>
                <a:ext uri="{FF2B5EF4-FFF2-40B4-BE49-F238E27FC236}">
                  <a16:creationId xmlns:a16="http://schemas.microsoft.com/office/drawing/2014/main" id="{9543FA8F-612B-496E-8949-2896E0E5F61C}"/>
                </a:ext>
              </a:extLst>
            </p:cNvPr>
            <p:cNvSpPr txBox="1"/>
            <p:nvPr/>
          </p:nvSpPr>
          <p:spPr>
            <a:xfrm>
              <a:off x="3831331" y="647519"/>
              <a:ext cx="8076255" cy="5970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You are on a hospital wards rotation pre-rounding for the day when you get a call from the nurse for Mrs. Smith…</a:t>
              </a:r>
            </a:p>
            <a:p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Nurse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en-US" sz="24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“I have a critical lab to report on Mrs. Smith”</a:t>
              </a:r>
            </a:p>
            <a:p>
              <a:endPara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You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:    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“What is the critical lab?”</a:t>
              </a:r>
            </a:p>
            <a:p>
              <a:endParaRPr lang="en-US" sz="24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Nurse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en-US" sz="24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“The patient’s potassium is 6.7…”</a:t>
              </a:r>
            </a:p>
            <a:p>
              <a:endPara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Question: 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What do you do next?</a:t>
              </a:r>
            </a:p>
            <a:p>
              <a:endParaRPr lang="en-US" sz="2800" dirty="0"/>
            </a:p>
            <a:p>
              <a:endParaRPr lang="en-US" dirty="0"/>
            </a:p>
          </p:txBody>
        </p:sp>
      </p:grpSp>
      <p:grpSp>
        <p:nvGrpSpPr>
          <p:cNvPr id="99" name="Topic Intro Group" hidden="1">
            <a:extLst>
              <a:ext uri="{FF2B5EF4-FFF2-40B4-BE49-F238E27FC236}">
                <a16:creationId xmlns:a16="http://schemas.microsoft.com/office/drawing/2014/main" id="{102CEDB5-EE3C-4722-8ADA-8CD3F96B383E}"/>
              </a:ext>
            </a:extLst>
          </p:cNvPr>
          <p:cNvGrpSpPr/>
          <p:nvPr/>
        </p:nvGrpSpPr>
        <p:grpSpPr>
          <a:xfrm>
            <a:off x="3695331" y="624170"/>
            <a:ext cx="7297902" cy="4901119"/>
            <a:chOff x="3695331" y="624170"/>
            <a:chExt cx="7297902" cy="490111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52F3901-1436-401F-BAAA-A15B40E2C39C}"/>
                </a:ext>
              </a:extLst>
            </p:cNvPr>
            <p:cNvSpPr txBox="1"/>
            <p:nvPr/>
          </p:nvSpPr>
          <p:spPr>
            <a:xfrm>
              <a:off x="3695331" y="624170"/>
              <a:ext cx="7297902" cy="341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200" dirty="0">
                  <a:solidFill>
                    <a:srgbClr val="002060"/>
                  </a:solidFill>
                  <a:latin typeface="Bernard MT Condensed" panose="02050806060905020404" pitchFamily="18" charset="0"/>
                </a:rPr>
                <a:t>Inpatient Management of Hyperkalemia</a:t>
              </a:r>
            </a:p>
          </p:txBody>
        </p:sp>
        <p:pic>
          <p:nvPicPr>
            <p:cNvPr id="1031" name="Picture 7">
              <a:extLst>
                <a:ext uri="{FF2B5EF4-FFF2-40B4-BE49-F238E27FC236}">
                  <a16:creationId xmlns:a16="http://schemas.microsoft.com/office/drawing/2014/main" id="{054CA7FF-B9BD-49BE-B816-77F2B3ECC9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74262" y="3899066"/>
              <a:ext cx="3940039" cy="1626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pic>
        <p:sp>
          <p:nvSpPr>
            <p:cNvPr id="98" name="Arrow: Up 97">
              <a:extLst>
                <a:ext uri="{FF2B5EF4-FFF2-40B4-BE49-F238E27FC236}">
                  <a16:creationId xmlns:a16="http://schemas.microsoft.com/office/drawing/2014/main" id="{2CEB91A8-88B4-4B20-BA1A-753B371B6632}"/>
                </a:ext>
              </a:extLst>
            </p:cNvPr>
            <p:cNvSpPr/>
            <p:nvPr/>
          </p:nvSpPr>
          <p:spPr>
            <a:xfrm>
              <a:off x="6246796" y="4918509"/>
              <a:ext cx="115503" cy="356135"/>
            </a:xfrm>
            <a:prstGeom prst="up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Arrow: Up 120">
              <a:extLst>
                <a:ext uri="{FF2B5EF4-FFF2-40B4-BE49-F238E27FC236}">
                  <a16:creationId xmlns:a16="http://schemas.microsoft.com/office/drawing/2014/main" id="{5E527ACC-F652-48C7-8657-AD1BC3320B98}"/>
                </a:ext>
              </a:extLst>
            </p:cNvPr>
            <p:cNvSpPr/>
            <p:nvPr/>
          </p:nvSpPr>
          <p:spPr>
            <a:xfrm>
              <a:off x="6508053" y="4918509"/>
              <a:ext cx="115503" cy="356135"/>
            </a:xfrm>
            <a:prstGeom prst="up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50" name="Step 2 group" hidden="1">
            <a:extLst>
              <a:ext uri="{FF2B5EF4-FFF2-40B4-BE49-F238E27FC236}">
                <a16:creationId xmlns:a16="http://schemas.microsoft.com/office/drawing/2014/main" id="{3454A1B6-49F9-4D5A-96B9-6D58D67E46F5}"/>
              </a:ext>
            </a:extLst>
          </p:cNvPr>
          <p:cNvGrpSpPr/>
          <p:nvPr/>
        </p:nvGrpSpPr>
        <p:grpSpPr>
          <a:xfrm>
            <a:off x="3164583" y="288758"/>
            <a:ext cx="8475295" cy="5974199"/>
            <a:chOff x="3336987" y="286039"/>
            <a:chExt cx="8475295" cy="6105671"/>
          </a:xfrm>
        </p:grpSpPr>
        <p:sp>
          <p:nvSpPr>
            <p:cNvPr id="1033" name="EKG changes text">
              <a:extLst>
                <a:ext uri="{FF2B5EF4-FFF2-40B4-BE49-F238E27FC236}">
                  <a16:creationId xmlns:a16="http://schemas.microsoft.com/office/drawing/2014/main" id="{86C9FC23-7469-439A-B448-2235A03644D3}"/>
                </a:ext>
              </a:extLst>
            </p:cNvPr>
            <p:cNvSpPr txBox="1"/>
            <p:nvPr/>
          </p:nvSpPr>
          <p:spPr>
            <a:xfrm>
              <a:off x="3336987" y="286039"/>
              <a:ext cx="8475295" cy="6105671"/>
            </a:xfrm>
            <a:prstGeom prst="rect">
              <a:avLst/>
            </a:prstGeom>
            <a:noFill/>
            <a:ln w="79375" cmpd="sng">
              <a:solidFill>
                <a:schemeClr val="accent6"/>
              </a:solidFill>
            </a:ln>
          </p:spPr>
          <p:txBody>
            <a:bodyPr wrap="square" tIns="137160" rtlCol="0">
              <a:noAutofit/>
            </a:bodyPr>
            <a:lstStyle/>
            <a:p>
              <a:pPr algn="ctr"/>
              <a:r>
                <a:rPr lang="en-US" sz="2800" u="sng" dirty="0"/>
                <a:t>Obtain STAT EKG</a:t>
              </a:r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sz="1000" dirty="0"/>
            </a:p>
            <a:p>
              <a:pPr lvl="1"/>
              <a:endParaRPr lang="en-US" dirty="0"/>
            </a:p>
            <a:p>
              <a:pPr marL="742950" lvl="1" indent="-285750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Hyperkalemia can cause life-threatening arrhythmias</a:t>
              </a:r>
            </a:p>
            <a:p>
              <a:pPr marL="1200150" lvl="2" indent="-285750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lang="en-US" sz="1600" dirty="0">
                  <a:effectLst/>
                  <a:latin typeface="Calibri" panose="020F0502020204030204" pitchFamily="34" charset="0"/>
                </a:rPr>
                <a:t>sinus bradycardia, sinus arrest, asystole, V-tach, V-fib</a:t>
              </a:r>
              <a:endParaRPr lang="en-US" sz="1600" dirty="0">
                <a:latin typeface="Calibri" panose="020F0502020204030204" pitchFamily="34" charset="0"/>
              </a:endParaRPr>
            </a:p>
            <a:p>
              <a:pPr marL="742950" lvl="1" indent="-285750">
                <a:lnSpc>
                  <a:spcPts val="32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</a:rPr>
                <a:t>Any K &gt; 5.5 warrants EKG. Treat K &gt; 6.5 as emergent regardless of EKG changes</a:t>
              </a:r>
              <a:r>
                <a:rPr lang="en-US" baseline="30000" dirty="0">
                  <a:latin typeface="Calibri" panose="020F0502020204030204" pitchFamily="34" charset="0"/>
                </a:rPr>
                <a:t>1</a:t>
              </a:r>
            </a:p>
            <a:p>
              <a:pPr marL="742950" lvl="1" indent="-285750">
                <a:lnSpc>
                  <a:spcPts val="32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effectLst/>
                  <a:latin typeface="Calibri" panose="020F0502020204030204" pitchFamily="34" charset="0"/>
                </a:rPr>
                <a:t>Repeat EKG every 30-60 minutes to ensure resolution of EKG abnormalities</a:t>
              </a:r>
            </a:p>
            <a:p>
              <a:pPr marL="1200150" lvl="2" indent="-285750">
                <a:lnSpc>
                  <a:spcPts val="3200"/>
                </a:lnSpc>
                <a:buFont typeface="Arial" panose="020B0604020202020204" pitchFamily="34" charset="0"/>
                <a:buChar char="•"/>
              </a:pPr>
              <a:endParaRPr lang="en-US" dirty="0">
                <a:latin typeface="Calibri" panose="020F0502020204030204" pitchFamily="34" charset="0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endParaRPr lang="en-US" dirty="0">
                <a:effectLst/>
                <a:latin typeface="Calibri" panose="020F0502020204030204" pitchFamily="34" charset="0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endParaRPr lang="en-US" dirty="0">
                <a:latin typeface="Calibri" panose="020F0502020204030204" pitchFamily="34" charset="0"/>
              </a:endParaRPr>
            </a:p>
            <a:p>
              <a:r>
                <a:rPr lang="en-US" dirty="0">
                  <a:latin typeface="Calibri" panose="020F0502020204030204" pitchFamily="34" charset="0"/>
                </a:rPr>
                <a:t>    </a:t>
              </a:r>
            </a:p>
            <a:p>
              <a:r>
                <a:rPr lang="en-US" dirty="0">
                  <a:latin typeface="Calibri" panose="020F0502020204030204" pitchFamily="34" charset="0"/>
                </a:rPr>
                <a:t>           </a:t>
              </a:r>
              <a:endParaRPr lang="en-US" dirty="0"/>
            </a:p>
            <a:p>
              <a:r>
                <a:rPr lang="en-US" dirty="0"/>
                <a:t>    </a:t>
              </a:r>
            </a:p>
          </p:txBody>
        </p:sp>
        <p:pic>
          <p:nvPicPr>
            <p:cNvPr id="182" name="peaked T pic">
              <a:extLst>
                <a:ext uri="{FF2B5EF4-FFF2-40B4-BE49-F238E27FC236}">
                  <a16:creationId xmlns:a16="http://schemas.microsoft.com/office/drawing/2014/main" id="{71835771-B0BF-467C-9EB0-D2C271309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8774" y="1575276"/>
              <a:ext cx="3015200" cy="2894593"/>
            </a:xfrm>
            <a:prstGeom prst="rect">
              <a:avLst/>
            </a:prstGeom>
            <a:ln w="31750" cmpd="sng">
              <a:solidFill>
                <a:schemeClr val="bg2">
                  <a:lumMod val="75000"/>
                </a:schemeClr>
              </a:solidFill>
            </a:ln>
          </p:spPr>
        </p:pic>
        <p:pic>
          <p:nvPicPr>
            <p:cNvPr id="1044" name="Graphic 1043" descr="Warning with solid fill">
              <a:extLst>
                <a:ext uri="{FF2B5EF4-FFF2-40B4-BE49-F238E27FC236}">
                  <a16:creationId xmlns:a16="http://schemas.microsoft.com/office/drawing/2014/main" id="{BC02235D-7800-476D-A2E1-06BB2574DB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736112" y="4646901"/>
              <a:ext cx="388309" cy="388310"/>
            </a:xfrm>
            <a:prstGeom prst="rect">
              <a:avLst/>
            </a:prstGeom>
          </p:spPr>
        </p:pic>
        <p:sp>
          <p:nvSpPr>
            <p:cNvPr id="1047" name="TextBox 1046">
              <a:extLst>
                <a:ext uri="{FF2B5EF4-FFF2-40B4-BE49-F238E27FC236}">
                  <a16:creationId xmlns:a16="http://schemas.microsoft.com/office/drawing/2014/main" id="{629922A7-7869-4853-B450-C6A9A8C6FEFC}"/>
                </a:ext>
              </a:extLst>
            </p:cNvPr>
            <p:cNvSpPr txBox="1"/>
            <p:nvPr/>
          </p:nvSpPr>
          <p:spPr>
            <a:xfrm>
              <a:off x="3802878" y="875579"/>
              <a:ext cx="6352425" cy="44351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Calibri" panose="020F0502020204030204" pitchFamily="34" charset="0"/>
                </a:rPr>
                <a:t> </a:t>
              </a:r>
              <a:r>
                <a:rPr lang="en-US" sz="2000" dirty="0">
                  <a:latin typeface="Calibri" panose="020F0502020204030204" pitchFamily="34" charset="0"/>
                </a:rPr>
                <a:t>Hyperkalemia leads to characteristic EKG changes:</a:t>
              </a:r>
            </a:p>
            <a:p>
              <a:endParaRPr lang="en-US" u="sng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u="sng" dirty="0"/>
                <a:t>Early Changes</a:t>
              </a:r>
              <a:r>
                <a:rPr lang="en-US" dirty="0"/>
                <a:t>: </a:t>
              </a:r>
            </a:p>
            <a:p>
              <a:pPr marL="1200150" lvl="2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</a:rPr>
                <a:t>P</a:t>
              </a:r>
              <a:r>
                <a:rPr lang="en-US" dirty="0">
                  <a:effectLst/>
                  <a:latin typeface="Calibri" panose="020F0502020204030204" pitchFamily="34" charset="0"/>
                </a:rPr>
                <a:t>eaked T-waves</a:t>
              </a:r>
            </a:p>
            <a:p>
              <a:pPr marL="1200150" lvl="2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effectLst/>
                  <a:latin typeface="Calibri" panose="020F0502020204030204" pitchFamily="34" charset="0"/>
                </a:rPr>
                <a:t>QT shortening</a:t>
              </a:r>
            </a:p>
            <a:p>
              <a:pPr lvl="2"/>
              <a:endParaRPr lang="en-US" dirty="0">
                <a:latin typeface="Calibri" panose="020F050202020403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u="sng" dirty="0">
                  <a:effectLst/>
                  <a:latin typeface="Calibri" panose="020F0502020204030204" pitchFamily="34" charset="0"/>
                </a:rPr>
                <a:t>As Hyperkalemia Worsens</a:t>
              </a:r>
              <a:r>
                <a:rPr lang="en-US" dirty="0">
                  <a:effectLst/>
                  <a:latin typeface="Calibri" panose="020F0502020204030204" pitchFamily="34" charset="0"/>
                </a:rPr>
                <a:t>:</a:t>
              </a:r>
            </a:p>
            <a:p>
              <a:pPr marL="1200150" lvl="2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</a:rPr>
                <a:t>QRS prolongs</a:t>
              </a:r>
            </a:p>
            <a:p>
              <a:pPr marL="1200150" lvl="2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effectLst/>
                  <a:latin typeface="Calibri" panose="020F0502020204030204" pitchFamily="34" charset="0"/>
                </a:rPr>
                <a:t>PR prolongs</a:t>
              </a:r>
            </a:p>
            <a:p>
              <a:pPr marL="1200150" lvl="2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</a:rPr>
                <a:t>P wave may disappear</a:t>
              </a:r>
            </a:p>
            <a:p>
              <a:pPr lvl="2">
                <a:lnSpc>
                  <a:spcPct val="150000"/>
                </a:lnSpc>
              </a:pPr>
              <a:endParaRPr lang="en-US" dirty="0"/>
            </a:p>
            <a:p>
              <a:endParaRPr lang="en-US" dirty="0"/>
            </a:p>
          </p:txBody>
        </p:sp>
      </p:grpSp>
      <p:pic>
        <p:nvPicPr>
          <p:cNvPr id="1052" name="Step 1 group" hidden="1">
            <a:extLst>
              <a:ext uri="{FF2B5EF4-FFF2-40B4-BE49-F238E27FC236}">
                <a16:creationId xmlns:a16="http://schemas.microsoft.com/office/drawing/2014/main" id="{87A507B5-321F-4803-B5D8-4E95E0F944A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413" y="263229"/>
            <a:ext cx="8663823" cy="6187110"/>
          </a:xfrm>
          <a:prstGeom prst="rect">
            <a:avLst/>
          </a:prstGeom>
        </p:spPr>
      </p:pic>
      <p:sp>
        <p:nvSpPr>
          <p:cNvPr id="1053" name="Membrane stabilization" hidden="1">
            <a:extLst>
              <a:ext uri="{FF2B5EF4-FFF2-40B4-BE49-F238E27FC236}">
                <a16:creationId xmlns:a16="http://schemas.microsoft.com/office/drawing/2014/main" id="{D6114B0C-50CF-48E7-9C4B-E84D277544F6}"/>
              </a:ext>
            </a:extLst>
          </p:cNvPr>
          <p:cNvSpPr txBox="1"/>
          <p:nvPr/>
        </p:nvSpPr>
        <p:spPr>
          <a:xfrm>
            <a:off x="4195824" y="777990"/>
            <a:ext cx="645684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Myocardial Membrane Stabilization</a:t>
            </a:r>
          </a:p>
          <a:p>
            <a:pPr algn="ctr"/>
            <a:endParaRPr lang="en-US" sz="1600" dirty="0"/>
          </a:p>
          <a:p>
            <a:pPr algn="ctr"/>
            <a:r>
              <a:rPr lang="en-US" sz="2000" dirty="0"/>
              <a:t>Achieved by delivery of Calcium Salts</a:t>
            </a:r>
          </a:p>
        </p:txBody>
      </p:sp>
      <p:graphicFrame>
        <p:nvGraphicFramePr>
          <p:cNvPr id="353" name="Calcium Table" hidden="1">
            <a:extLst>
              <a:ext uri="{FF2B5EF4-FFF2-40B4-BE49-F238E27FC236}">
                <a16:creationId xmlns:a16="http://schemas.microsoft.com/office/drawing/2014/main" id="{A543C54D-058A-4F8B-8D71-F091364B0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27333"/>
              </p:ext>
            </p:extLst>
          </p:nvPr>
        </p:nvGraphicFramePr>
        <p:xfrm>
          <a:off x="3268560" y="2166675"/>
          <a:ext cx="8535620" cy="3167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7574">
                  <a:extLst>
                    <a:ext uri="{9D8B030D-6E8A-4147-A177-3AD203B41FA5}">
                      <a16:colId xmlns:a16="http://schemas.microsoft.com/office/drawing/2014/main" val="2551842356"/>
                    </a:ext>
                  </a:extLst>
                </a:gridCol>
                <a:gridCol w="3667217">
                  <a:extLst>
                    <a:ext uri="{9D8B030D-6E8A-4147-A177-3AD203B41FA5}">
                      <a16:colId xmlns:a16="http://schemas.microsoft.com/office/drawing/2014/main" val="614158389"/>
                    </a:ext>
                  </a:extLst>
                </a:gridCol>
                <a:gridCol w="3150829">
                  <a:extLst>
                    <a:ext uri="{9D8B030D-6E8A-4147-A177-3AD203B41FA5}">
                      <a16:colId xmlns:a16="http://schemas.microsoft.com/office/drawing/2014/main" val="701287796"/>
                    </a:ext>
                  </a:extLst>
                </a:gridCol>
              </a:tblGrid>
              <a:tr h="71838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Agent: </a:t>
                      </a:r>
                    </a:p>
                  </a:txBody>
                  <a:tcPr marL="182880"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Calcium Chloride 0.5-1g IV</a:t>
                      </a:r>
                    </a:p>
                    <a:p>
                      <a:pPr algn="ctr"/>
                      <a:r>
                        <a:rPr lang="en-US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(More potent, requires central access)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Calcium Gluconate 1-2g IV</a:t>
                      </a:r>
                    </a:p>
                    <a:p>
                      <a:pPr algn="ctr"/>
                      <a:r>
                        <a:rPr lang="en-US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(Can be given peripherally)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14143"/>
                  </a:ext>
                </a:extLst>
              </a:tr>
              <a:tr h="71838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Onset:</a:t>
                      </a:r>
                    </a:p>
                  </a:txBody>
                  <a:tcPr marL="182880"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3-5 minutes</a:t>
                      </a: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056699"/>
                  </a:ext>
                </a:extLst>
              </a:tr>
              <a:tr h="71838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Duration:</a:t>
                      </a:r>
                    </a:p>
                  </a:txBody>
                  <a:tcPr marL="182880"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30-60 minutes</a:t>
                      </a: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4818749"/>
                  </a:ext>
                </a:extLst>
              </a:tr>
              <a:tr h="71838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Effect:</a:t>
                      </a:r>
                    </a:p>
                  </a:txBody>
                  <a:tcPr marL="182880"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No effect on K+ levels. Should Normalize EKG. If not, re-dose. </a:t>
                      </a: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119052"/>
                  </a:ext>
                </a:extLst>
              </a:tr>
              <a:tr h="293507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i="1" dirty="0">
                          <a:effectLst/>
                        </a:rPr>
                        <a:t>Source: The Hospitalist Handbook UCSF Department of Medicine</a:t>
                      </a:r>
                      <a:r>
                        <a:rPr lang="en-US" sz="1100" dirty="0">
                          <a:effectLst/>
                        </a:rPr>
                        <a:t> (Vol. Acid-Base/Electrolytes).</a:t>
                      </a:r>
                    </a:p>
                  </a:txBody>
                  <a:tcPr marL="18288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T="13716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0471482"/>
                  </a:ext>
                </a:extLst>
              </a:tr>
            </a:tbl>
          </a:graphicData>
        </a:graphic>
      </p:graphicFrame>
      <p:pic>
        <p:nvPicPr>
          <p:cNvPr id="22" name="teachIM logo" descr="Icon&#10;&#10;Description automatically generated">
            <a:extLst>
              <a:ext uri="{FF2B5EF4-FFF2-40B4-BE49-F238E27FC236}">
                <a16:creationId xmlns:a16="http://schemas.microsoft.com/office/drawing/2014/main" id="{9941794D-0E4C-4929-897A-E61CE338C30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9865" y="6299802"/>
            <a:ext cx="1387970" cy="528106"/>
          </a:xfrm>
          <a:prstGeom prst="rect">
            <a:avLst/>
          </a:prstGeom>
        </p:spPr>
      </p:pic>
      <p:pic>
        <p:nvPicPr>
          <p:cNvPr id="184" name="Potassium Excretion" hidden="1">
            <a:extLst>
              <a:ext uri="{FF2B5EF4-FFF2-40B4-BE49-F238E27FC236}">
                <a16:creationId xmlns:a16="http://schemas.microsoft.com/office/drawing/2014/main" id="{430DB790-BED6-4D5B-A9F1-2DB86965C02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9145" y="348701"/>
            <a:ext cx="9031903" cy="6063083"/>
          </a:xfrm>
          <a:prstGeom prst="rect">
            <a:avLst/>
          </a:prstGeom>
        </p:spPr>
      </p:pic>
      <p:sp>
        <p:nvSpPr>
          <p:cNvPr id="58" name="Cases">
            <a:hlinkClick r:id="rId14" action="ppaction://hlinksldjump"/>
            <a:extLst>
              <a:ext uri="{FF2B5EF4-FFF2-40B4-BE49-F238E27FC236}">
                <a16:creationId xmlns:a16="http://schemas.microsoft.com/office/drawing/2014/main" id="{AB9B710F-47A4-48E6-B950-058B2DE24B6F}"/>
              </a:ext>
            </a:extLst>
          </p:cNvPr>
          <p:cNvSpPr txBox="1"/>
          <p:nvPr/>
        </p:nvSpPr>
        <p:spPr>
          <a:xfrm>
            <a:off x="181123" y="5538834"/>
            <a:ext cx="2103120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Cases</a:t>
            </a:r>
          </a:p>
        </p:txBody>
      </p:sp>
      <p:sp>
        <p:nvSpPr>
          <p:cNvPr id="59" name="Scenario Question">
            <a:hlinkClick r:id="rId15" action="ppaction://hlinksldjump"/>
            <a:extLst>
              <a:ext uri="{FF2B5EF4-FFF2-40B4-BE49-F238E27FC236}">
                <a16:creationId xmlns:a16="http://schemas.microsoft.com/office/drawing/2014/main" id="{DE91D9E6-A1BE-4B7F-9CA9-B190B0CCA1FA}"/>
              </a:ext>
            </a:extLst>
          </p:cNvPr>
          <p:cNvSpPr txBox="1"/>
          <p:nvPr/>
        </p:nvSpPr>
        <p:spPr>
          <a:xfrm>
            <a:off x="181122" y="136445"/>
            <a:ext cx="2103120" cy="467540"/>
          </a:xfrm>
          <a:prstGeom prst="roundRect">
            <a:avLst>
              <a:gd name="adj" fmla="val 18585"/>
            </a:avLst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Common Scenario</a:t>
            </a:r>
          </a:p>
        </p:txBody>
      </p:sp>
      <p:grpSp>
        <p:nvGrpSpPr>
          <p:cNvPr id="69" name="Step 4 Question">
            <a:extLst>
              <a:ext uri="{FF2B5EF4-FFF2-40B4-BE49-F238E27FC236}">
                <a16:creationId xmlns:a16="http://schemas.microsoft.com/office/drawing/2014/main" id="{63A203DC-13E3-49D3-A94B-6B85D30CAB4B}"/>
              </a:ext>
            </a:extLst>
          </p:cNvPr>
          <p:cNvGrpSpPr/>
          <p:nvPr/>
        </p:nvGrpSpPr>
        <p:grpSpPr>
          <a:xfrm>
            <a:off x="181122" y="3698877"/>
            <a:ext cx="2103120" cy="719579"/>
            <a:chOff x="177115" y="4211452"/>
            <a:chExt cx="2185336" cy="719579"/>
          </a:xfrm>
        </p:grpSpPr>
        <p:sp>
          <p:nvSpPr>
            <p:cNvPr id="70" name="sub-q 1 button">
              <a:hlinkClick r:id="rId16" action="ppaction://hlinksldjump"/>
              <a:extLst>
                <a:ext uri="{FF2B5EF4-FFF2-40B4-BE49-F238E27FC236}">
                  <a16:creationId xmlns:a16="http://schemas.microsoft.com/office/drawing/2014/main" id="{C6175A52-68E1-406E-99FA-112448C56FF1}"/>
                </a:ext>
              </a:extLst>
            </p:cNvPr>
            <p:cNvSpPr txBox="1"/>
            <p:nvPr/>
          </p:nvSpPr>
          <p:spPr>
            <a:xfrm>
              <a:off x="177115" y="4211452"/>
              <a:ext cx="2185336" cy="718840"/>
            </a:xfrm>
            <a:prstGeom prst="roundRect">
              <a:avLst/>
            </a:prstGeom>
            <a:solidFill>
              <a:srgbClr val="FF00FF"/>
            </a:solidFill>
            <a:ln w="38100">
              <a:solidFill>
                <a:srgbClr val="FF00FF"/>
              </a:solidFill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tlCol="0">
              <a:no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Step 4</a:t>
              </a:r>
            </a:p>
          </p:txBody>
        </p:sp>
        <p:pic>
          <p:nvPicPr>
            <p:cNvPr id="71" name="Graphic 70" descr="Transfer with solid fill">
              <a:extLst>
                <a:ext uri="{FF2B5EF4-FFF2-40B4-BE49-F238E27FC236}">
                  <a16:creationId xmlns:a16="http://schemas.microsoft.com/office/drawing/2014/main" id="{3B36E32E-C038-47E3-BAD0-ED4CFA7BC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318888" y="4212191"/>
              <a:ext cx="718840" cy="718840"/>
            </a:xfrm>
            <a:prstGeom prst="rect">
              <a:avLst/>
            </a:prstGeom>
          </p:spPr>
        </p:pic>
      </p:grpSp>
      <p:grpSp>
        <p:nvGrpSpPr>
          <p:cNvPr id="72" name="Step 5 Question Group">
            <a:extLst>
              <a:ext uri="{FF2B5EF4-FFF2-40B4-BE49-F238E27FC236}">
                <a16:creationId xmlns:a16="http://schemas.microsoft.com/office/drawing/2014/main" id="{0A78BEA6-D54B-4AD9-9617-7F448E60CFCB}"/>
              </a:ext>
            </a:extLst>
          </p:cNvPr>
          <p:cNvGrpSpPr/>
          <p:nvPr/>
        </p:nvGrpSpPr>
        <p:grpSpPr>
          <a:xfrm>
            <a:off x="183154" y="4612164"/>
            <a:ext cx="2103120" cy="732964"/>
            <a:chOff x="199997" y="5175187"/>
            <a:chExt cx="2185336" cy="732964"/>
          </a:xfrm>
        </p:grpSpPr>
        <p:sp>
          <p:nvSpPr>
            <p:cNvPr id="73" name="sub-q 2">
              <a:hlinkClick r:id="rId19" action="ppaction://hlinksldjump"/>
              <a:extLst>
                <a:ext uri="{FF2B5EF4-FFF2-40B4-BE49-F238E27FC236}">
                  <a16:creationId xmlns:a16="http://schemas.microsoft.com/office/drawing/2014/main" id="{EB9FD3D6-5136-4949-8AD5-EB4FEC067426}"/>
                </a:ext>
              </a:extLst>
            </p:cNvPr>
            <p:cNvSpPr txBox="1"/>
            <p:nvPr/>
          </p:nvSpPr>
          <p:spPr>
            <a:xfrm>
              <a:off x="199997" y="5179241"/>
              <a:ext cx="2185336" cy="718840"/>
            </a:xfrm>
            <a:prstGeom prst="roundRect">
              <a:avLst>
                <a:gd name="adj" fmla="val 18844"/>
              </a:avLst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Ins="91440" rtlCol="0">
              <a:noAutofit/>
            </a:bodyPr>
            <a:lstStyle/>
            <a:p>
              <a:r>
                <a:rPr lang="en-US" b="1" dirty="0">
                  <a:solidFill>
                    <a:sysClr val="windowText" lastClr="000000"/>
                  </a:solidFill>
                </a:rPr>
                <a:t>Step 5</a:t>
              </a:r>
            </a:p>
          </p:txBody>
        </p:sp>
        <p:pic>
          <p:nvPicPr>
            <p:cNvPr id="74" name="Graphic 73" descr="Downward trend graph with solid fill">
              <a:extLst>
                <a:ext uri="{FF2B5EF4-FFF2-40B4-BE49-F238E27FC236}">
                  <a16:creationId xmlns:a16="http://schemas.microsoft.com/office/drawing/2014/main" id="{769226EA-A18D-40EF-B41F-98FA628052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308771" y="5175187"/>
              <a:ext cx="732964" cy="732964"/>
            </a:xfrm>
            <a:prstGeom prst="rect">
              <a:avLst/>
            </a:prstGeom>
          </p:spPr>
        </p:pic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458ACB63-8883-43B6-AA5D-0E2F2795010D}"/>
              </a:ext>
            </a:extLst>
          </p:cNvPr>
          <p:cNvSpPr txBox="1"/>
          <p:nvPr/>
        </p:nvSpPr>
        <p:spPr>
          <a:xfrm>
            <a:off x="4433542" y="1020095"/>
            <a:ext cx="74154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Shifting K intracellularly is a </a:t>
            </a:r>
            <a:r>
              <a:rPr lang="en-US" sz="2000" b="1" dirty="0"/>
              <a:t>temporizing measure </a:t>
            </a:r>
            <a:r>
              <a:rPr lang="en-US" sz="2000" dirty="0"/>
              <a:t>to buy time for more definitive management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79D63EA-DC56-4F3C-9D9C-D6D92893E8EE}"/>
              </a:ext>
            </a:extLst>
          </p:cNvPr>
          <p:cNvSpPr txBox="1"/>
          <p:nvPr/>
        </p:nvSpPr>
        <p:spPr>
          <a:xfrm>
            <a:off x="6513596" y="404090"/>
            <a:ext cx="35403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Potassium Shifting</a:t>
            </a:r>
          </a:p>
        </p:txBody>
      </p:sp>
      <p:sp>
        <p:nvSpPr>
          <p:cNvPr id="132" name="Insulin">
            <a:extLst>
              <a:ext uri="{FF2B5EF4-FFF2-40B4-BE49-F238E27FC236}">
                <a16:creationId xmlns:a16="http://schemas.microsoft.com/office/drawing/2014/main" id="{F50FBB96-D03E-4EBB-8DB0-7C28E8FE081A}"/>
              </a:ext>
            </a:extLst>
          </p:cNvPr>
          <p:cNvSpPr txBox="1"/>
          <p:nvPr/>
        </p:nvSpPr>
        <p:spPr>
          <a:xfrm>
            <a:off x="4543272" y="1897152"/>
            <a:ext cx="1989943" cy="442674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 dirty="0"/>
              <a:t>Insulin  +   D50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5B46030D-6645-4B1F-8771-892F8B9E26CF}"/>
              </a:ext>
            </a:extLst>
          </p:cNvPr>
          <p:cNvSpPr txBox="1"/>
          <p:nvPr/>
        </p:nvSpPr>
        <p:spPr>
          <a:xfrm>
            <a:off x="4427226" y="2445179"/>
            <a:ext cx="2356122" cy="1685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dirty="0">
                <a:effectLst/>
                <a:latin typeface="Calibri" panose="020F0502020204030204" pitchFamily="34" charset="0"/>
              </a:rPr>
              <a:t>IV 10U* Regular Insulin + 1 amp D50</a:t>
            </a:r>
          </a:p>
          <a:p>
            <a:pPr algn="ctr">
              <a:lnSpc>
                <a:spcPts val="2000"/>
              </a:lnSpc>
            </a:pPr>
            <a:r>
              <a:rPr lang="en-US" sz="1600" dirty="0">
                <a:latin typeface="Calibri" panose="020F0502020204030204" pitchFamily="34" charset="0"/>
              </a:rPr>
              <a:t>*IV 5U Regular insulin if renal impairment</a:t>
            </a:r>
          </a:p>
          <a:p>
            <a:pPr algn="ctr">
              <a:lnSpc>
                <a:spcPts val="1800"/>
              </a:lnSpc>
            </a:pPr>
            <a:endParaRPr lang="en-US" dirty="0">
              <a:latin typeface="Calibri" panose="020F0502020204030204" pitchFamily="34" charset="0"/>
            </a:endParaRPr>
          </a:p>
          <a:p>
            <a:pPr algn="ctr">
              <a:lnSpc>
                <a:spcPts val="1800"/>
              </a:lnSpc>
            </a:pPr>
            <a:r>
              <a:rPr lang="en-US" dirty="0">
                <a:effectLst/>
                <a:latin typeface="Calibri" panose="020F0502020204030204" pitchFamily="34" charset="0"/>
              </a:rPr>
              <a:t>↓ K ~0.5-1.0 </a:t>
            </a:r>
            <a:r>
              <a:rPr lang="en-US" dirty="0" err="1">
                <a:effectLst/>
                <a:latin typeface="Calibri" panose="020F0502020204030204" pitchFamily="34" charset="0"/>
              </a:rPr>
              <a:t>mEq</a:t>
            </a:r>
            <a:r>
              <a:rPr lang="en-US" dirty="0">
                <a:effectLst/>
                <a:latin typeface="Calibri" panose="020F0502020204030204" pitchFamily="34" charset="0"/>
              </a:rPr>
              <a:t>  </a:t>
            </a:r>
            <a:endParaRPr lang="en-US" b="1" dirty="0"/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900D9FD-5A41-4737-8B6C-B461DCED0673}"/>
              </a:ext>
            </a:extLst>
          </p:cNvPr>
          <p:cNvGrpSpPr/>
          <p:nvPr/>
        </p:nvGrpSpPr>
        <p:grpSpPr>
          <a:xfrm>
            <a:off x="4330883" y="4198642"/>
            <a:ext cx="7626811" cy="700628"/>
            <a:chOff x="2739609" y="4381522"/>
            <a:chExt cx="7626811" cy="700628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81E1834E-5373-4796-943C-A542EE03FF84}"/>
                </a:ext>
              </a:extLst>
            </p:cNvPr>
            <p:cNvSpPr txBox="1"/>
            <p:nvPr/>
          </p:nvSpPr>
          <p:spPr>
            <a:xfrm>
              <a:off x="3726858" y="4774373"/>
              <a:ext cx="8573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 h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6A9F9B78-5DF0-4B94-8FFC-7EBA11654835}"/>
                </a:ext>
              </a:extLst>
            </p:cNvPr>
            <p:cNvSpPr txBox="1"/>
            <p:nvPr/>
          </p:nvSpPr>
          <p:spPr>
            <a:xfrm>
              <a:off x="5175666" y="4774373"/>
              <a:ext cx="8573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 h</a:t>
              </a:r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3B677031-310B-4FB8-A724-D43568BD1FB2}"/>
                </a:ext>
              </a:extLst>
            </p:cNvPr>
            <p:cNvGrpSpPr/>
            <p:nvPr/>
          </p:nvGrpSpPr>
          <p:grpSpPr>
            <a:xfrm>
              <a:off x="2739609" y="4381522"/>
              <a:ext cx="7626811" cy="526479"/>
              <a:chOff x="2739609" y="4381522"/>
              <a:chExt cx="7626811" cy="526479"/>
            </a:xfrm>
            <a:solidFill>
              <a:srgbClr val="FF00FF"/>
            </a:solidFill>
          </p:grpSpPr>
          <p:sp>
            <p:nvSpPr>
              <p:cNvPr id="56" name="Arrow: Right 55">
                <a:extLst>
                  <a:ext uri="{FF2B5EF4-FFF2-40B4-BE49-F238E27FC236}">
                    <a16:creationId xmlns:a16="http://schemas.microsoft.com/office/drawing/2014/main" id="{4E41A4A3-12BC-4579-8946-6B6D458DE686}"/>
                  </a:ext>
                </a:extLst>
              </p:cNvPr>
              <p:cNvSpPr/>
              <p:nvPr/>
            </p:nvSpPr>
            <p:spPr>
              <a:xfrm>
                <a:off x="9860221" y="4381522"/>
                <a:ext cx="506199" cy="526479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06FC0B82-EF1A-4C52-AEE5-D683AA6B4007}"/>
                  </a:ext>
                </a:extLst>
              </p:cNvPr>
              <p:cNvSpPr/>
              <p:nvPr/>
            </p:nvSpPr>
            <p:spPr>
              <a:xfrm>
                <a:off x="9148305" y="4514892"/>
                <a:ext cx="711916" cy="261367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91917C90-0B15-457C-A6FA-CBAC5EF71ECB}"/>
                  </a:ext>
                </a:extLst>
              </p:cNvPr>
              <p:cNvSpPr/>
              <p:nvPr/>
            </p:nvSpPr>
            <p:spPr>
              <a:xfrm>
                <a:off x="8436389" y="4514892"/>
                <a:ext cx="711916" cy="261367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49C19F42-72F1-40B5-9965-DB39C146FA09}"/>
                  </a:ext>
                </a:extLst>
              </p:cNvPr>
              <p:cNvSpPr/>
              <p:nvPr/>
            </p:nvSpPr>
            <p:spPr>
              <a:xfrm>
                <a:off x="7725745" y="4514892"/>
                <a:ext cx="711916" cy="261367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BB465382-2D76-4CED-BCF4-93AE2CBEFC01}"/>
                  </a:ext>
                </a:extLst>
              </p:cNvPr>
              <p:cNvSpPr/>
              <p:nvPr/>
            </p:nvSpPr>
            <p:spPr>
              <a:xfrm>
                <a:off x="7014465" y="4514892"/>
                <a:ext cx="711916" cy="261367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F796B89B-CDD0-4F22-81A0-A973D47C3C51}"/>
                  </a:ext>
                </a:extLst>
              </p:cNvPr>
              <p:cNvSpPr/>
              <p:nvPr/>
            </p:nvSpPr>
            <p:spPr>
              <a:xfrm>
                <a:off x="6302231" y="4514892"/>
                <a:ext cx="711916" cy="261367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439E6FC0-E1FD-489C-9B7E-1FA50FCF01D5}"/>
                  </a:ext>
                </a:extLst>
              </p:cNvPr>
              <p:cNvSpPr/>
              <p:nvPr/>
            </p:nvSpPr>
            <p:spPr>
              <a:xfrm>
                <a:off x="5590156" y="4514892"/>
                <a:ext cx="711916" cy="261367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AC21C3BC-5B7C-4703-A6A6-764CDFF0166E}"/>
                  </a:ext>
                </a:extLst>
              </p:cNvPr>
              <p:cNvSpPr/>
              <p:nvPr/>
            </p:nvSpPr>
            <p:spPr>
              <a:xfrm>
                <a:off x="4878428" y="4514892"/>
                <a:ext cx="711916" cy="261367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BF5255D7-3D50-4DE5-84BE-D4126B7D7863}"/>
                  </a:ext>
                </a:extLst>
              </p:cNvPr>
              <p:cNvSpPr/>
              <p:nvPr/>
            </p:nvSpPr>
            <p:spPr>
              <a:xfrm>
                <a:off x="4165847" y="4514892"/>
                <a:ext cx="711916" cy="261367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B3D3C9A5-6D69-4C62-A42B-957564392B69}"/>
                  </a:ext>
                </a:extLst>
              </p:cNvPr>
              <p:cNvSpPr/>
              <p:nvPr/>
            </p:nvSpPr>
            <p:spPr>
              <a:xfrm>
                <a:off x="3452327" y="4514892"/>
                <a:ext cx="711916" cy="261367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2F9757DD-4CE1-44FC-AEE9-6BF3E801FA6A}"/>
                  </a:ext>
                </a:extLst>
              </p:cNvPr>
              <p:cNvSpPr/>
              <p:nvPr/>
            </p:nvSpPr>
            <p:spPr>
              <a:xfrm>
                <a:off x="2739609" y="4514892"/>
                <a:ext cx="711916" cy="261367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CDE62543-C0D0-4403-81C9-C1A5691CFD02}"/>
                </a:ext>
              </a:extLst>
            </p:cNvPr>
            <p:cNvSpPr txBox="1"/>
            <p:nvPr/>
          </p:nvSpPr>
          <p:spPr>
            <a:xfrm>
              <a:off x="6604426" y="4774373"/>
              <a:ext cx="8573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3 h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F9D2BD4E-2461-4A2A-B952-FC479B93729B}"/>
                </a:ext>
              </a:extLst>
            </p:cNvPr>
            <p:cNvSpPr txBox="1"/>
            <p:nvPr/>
          </p:nvSpPr>
          <p:spPr>
            <a:xfrm>
              <a:off x="7956586" y="4774373"/>
              <a:ext cx="8573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4 h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A5AB885E-E07C-452C-A71D-BCE2EA647300}"/>
                </a:ext>
              </a:extLst>
            </p:cNvPr>
            <p:cNvSpPr txBox="1"/>
            <p:nvPr/>
          </p:nvSpPr>
          <p:spPr>
            <a:xfrm>
              <a:off x="8715963" y="4774373"/>
              <a:ext cx="8573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5 h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A9A82F83-6C45-43CE-9A4C-19C363489ED2}"/>
                </a:ext>
              </a:extLst>
            </p:cNvPr>
            <p:cNvSpPr txBox="1"/>
            <p:nvPr/>
          </p:nvSpPr>
          <p:spPr>
            <a:xfrm>
              <a:off x="9442609" y="4774373"/>
              <a:ext cx="8573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 h</a:t>
              </a: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2DB2BC6-5D88-406B-B5BE-D1D1A4390ED9}"/>
              </a:ext>
            </a:extLst>
          </p:cNvPr>
          <p:cNvGrpSpPr/>
          <p:nvPr/>
        </p:nvGrpSpPr>
        <p:grpSpPr>
          <a:xfrm>
            <a:off x="5072035" y="4803668"/>
            <a:ext cx="6870253" cy="578956"/>
            <a:chOff x="3157108" y="4986548"/>
            <a:chExt cx="7193905" cy="685590"/>
          </a:xfrm>
          <a:solidFill>
            <a:srgbClr val="FF00FF"/>
          </a:solidFill>
        </p:grpSpPr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F45B285C-6661-4849-B841-E50917C0DB98}"/>
                </a:ext>
              </a:extLst>
            </p:cNvPr>
            <p:cNvGrpSpPr/>
            <p:nvPr/>
          </p:nvGrpSpPr>
          <p:grpSpPr>
            <a:xfrm>
              <a:off x="3157108" y="5144275"/>
              <a:ext cx="6514339" cy="381014"/>
              <a:chOff x="3155010" y="5086955"/>
              <a:chExt cx="6514339" cy="381014"/>
            </a:xfrm>
            <a:grpFill/>
          </p:grpSpPr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766E1193-9A06-48A5-AFED-CC7CD5F92251}"/>
                  </a:ext>
                </a:extLst>
              </p:cNvPr>
              <p:cNvSpPr/>
              <p:nvPr/>
            </p:nvSpPr>
            <p:spPr>
              <a:xfrm>
                <a:off x="3155010" y="5086955"/>
                <a:ext cx="5281380" cy="38101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Insulin + D50</a:t>
                </a:r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426A4DA4-640C-4BD0-9FA5-3D2DD3C2EBCA}"/>
                  </a:ext>
                </a:extLst>
              </p:cNvPr>
              <p:cNvSpPr/>
              <p:nvPr/>
            </p:nvSpPr>
            <p:spPr>
              <a:xfrm>
                <a:off x="8523302" y="5086955"/>
                <a:ext cx="96103" cy="38101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D3D04ADD-B1BC-4E35-880E-E7A601E86E47}"/>
                  </a:ext>
                </a:extLst>
              </p:cNvPr>
              <p:cNvSpPr/>
              <p:nvPr/>
            </p:nvSpPr>
            <p:spPr>
              <a:xfrm>
                <a:off x="8700842" y="5086955"/>
                <a:ext cx="96103" cy="38101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8E381066-0A72-4294-BFEB-663E5B641DB0}"/>
                  </a:ext>
                </a:extLst>
              </p:cNvPr>
              <p:cNvSpPr/>
              <p:nvPr/>
            </p:nvSpPr>
            <p:spPr>
              <a:xfrm>
                <a:off x="8886206" y="5086955"/>
                <a:ext cx="96103" cy="38101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D5922459-2839-496C-950D-B398179E730D}"/>
                  </a:ext>
                </a:extLst>
              </p:cNvPr>
              <p:cNvSpPr/>
              <p:nvPr/>
            </p:nvSpPr>
            <p:spPr>
              <a:xfrm>
                <a:off x="9060374" y="5086955"/>
                <a:ext cx="96103" cy="38101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1CF2ACC6-6BC4-4F3A-945B-F16E1F8A0A38}"/>
                  </a:ext>
                </a:extLst>
              </p:cNvPr>
              <p:cNvSpPr/>
              <p:nvPr/>
            </p:nvSpPr>
            <p:spPr>
              <a:xfrm>
                <a:off x="9226676" y="5086955"/>
                <a:ext cx="96103" cy="38101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E9A27447-EC63-4630-BAAA-E76F0545114A}"/>
                  </a:ext>
                </a:extLst>
              </p:cNvPr>
              <p:cNvSpPr/>
              <p:nvPr/>
            </p:nvSpPr>
            <p:spPr>
              <a:xfrm>
                <a:off x="9407283" y="5086955"/>
                <a:ext cx="96103" cy="38101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2E575BDD-25C7-46EE-B798-CAA846BA23F7}"/>
                  </a:ext>
                </a:extLst>
              </p:cNvPr>
              <p:cNvSpPr/>
              <p:nvPr/>
            </p:nvSpPr>
            <p:spPr>
              <a:xfrm>
                <a:off x="9573246" y="5086955"/>
                <a:ext cx="96103" cy="38101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85" name="Arrow: Right 184">
              <a:extLst>
                <a:ext uri="{FF2B5EF4-FFF2-40B4-BE49-F238E27FC236}">
                  <a16:creationId xmlns:a16="http://schemas.microsoft.com/office/drawing/2014/main" id="{EB978641-5FA0-43B2-968F-C433A34CAED4}"/>
                </a:ext>
              </a:extLst>
            </p:cNvPr>
            <p:cNvSpPr/>
            <p:nvPr/>
          </p:nvSpPr>
          <p:spPr>
            <a:xfrm>
              <a:off x="9730021" y="4986548"/>
              <a:ext cx="620992" cy="685590"/>
            </a:xfrm>
            <a:prstGeom prst="rightArrow">
              <a:avLst>
                <a:gd name="adj1" fmla="val 56278"/>
                <a:gd name="adj2" fmla="val 3596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If AKI</a:t>
              </a:r>
            </a:p>
          </p:txBody>
        </p: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6AB29F2A-F30D-4E29-8344-D6C2052C9450}"/>
              </a:ext>
            </a:extLst>
          </p:cNvPr>
          <p:cNvSpPr txBox="1"/>
          <p:nvPr/>
        </p:nvSpPr>
        <p:spPr>
          <a:xfrm>
            <a:off x="6792321" y="2445179"/>
            <a:ext cx="247977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effectLst/>
                <a:latin typeface="Calibri" panose="020F0502020204030204" pitchFamily="34" charset="0"/>
              </a:rPr>
              <a:t>Albuterol 10-20mg in 4mL saline </a:t>
            </a:r>
            <a:endParaRPr lang="en-US" b="1" dirty="0">
              <a:latin typeface="Calibri" panose="020F0502020204030204" pitchFamily="34" charset="0"/>
            </a:endParaRPr>
          </a:p>
          <a:p>
            <a:pPr algn="ctr"/>
            <a:r>
              <a:rPr lang="en-US" sz="1600" dirty="0">
                <a:effectLst/>
                <a:latin typeface="Calibri" panose="020F0502020204030204" pitchFamily="34" charset="0"/>
              </a:rPr>
              <a:t> Higher than asthma/COPD dosing (2.5mg)</a:t>
            </a:r>
          </a:p>
          <a:p>
            <a:pPr algn="ctr"/>
            <a:endParaRPr lang="en-US" dirty="0">
              <a:latin typeface="Calibri" panose="020F0502020204030204" pitchFamily="34" charset="0"/>
            </a:endParaRPr>
          </a:p>
          <a:p>
            <a:pPr algn="ctr"/>
            <a:r>
              <a:rPr lang="en-US" dirty="0">
                <a:effectLst/>
                <a:latin typeface="Calibri" panose="020F0502020204030204" pitchFamily="34" charset="0"/>
              </a:rPr>
              <a:t>↓ K 0.5-1.5 </a:t>
            </a:r>
            <a:r>
              <a:rPr lang="en-US" dirty="0" err="1">
                <a:effectLst/>
                <a:latin typeface="Calibri" panose="020F0502020204030204" pitchFamily="34" charset="0"/>
              </a:rPr>
              <a:t>mEq</a:t>
            </a:r>
            <a:r>
              <a:rPr lang="en-US" dirty="0">
                <a:effectLst/>
                <a:latin typeface="Calibri" panose="020F0502020204030204" pitchFamily="34" charset="0"/>
              </a:rPr>
              <a:t>  </a:t>
            </a:r>
            <a:endParaRPr lang="en-US" b="1" dirty="0"/>
          </a:p>
        </p:txBody>
      </p:sp>
      <p:sp>
        <p:nvSpPr>
          <p:cNvPr id="187" name="B2 agonist">
            <a:extLst>
              <a:ext uri="{FF2B5EF4-FFF2-40B4-BE49-F238E27FC236}">
                <a16:creationId xmlns:a16="http://schemas.microsoft.com/office/drawing/2014/main" id="{C4DB7B79-64F4-4659-8026-06129D51D1F8}"/>
              </a:ext>
            </a:extLst>
          </p:cNvPr>
          <p:cNvSpPr txBox="1"/>
          <p:nvPr/>
        </p:nvSpPr>
        <p:spPr>
          <a:xfrm>
            <a:off x="7004426" y="1898286"/>
            <a:ext cx="1989943" cy="442674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A200A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 dirty="0"/>
              <a:t>B2 agonists</a:t>
            </a:r>
          </a:p>
        </p:txBody>
      </p:sp>
      <p:sp>
        <p:nvSpPr>
          <p:cNvPr id="188" name="Sodium Bicarb">
            <a:extLst>
              <a:ext uri="{FF2B5EF4-FFF2-40B4-BE49-F238E27FC236}">
                <a16:creationId xmlns:a16="http://schemas.microsoft.com/office/drawing/2014/main" id="{E4A69680-B03C-490A-9151-B3D6EF5CE8C9}"/>
              </a:ext>
            </a:extLst>
          </p:cNvPr>
          <p:cNvSpPr txBox="1"/>
          <p:nvPr/>
        </p:nvSpPr>
        <p:spPr>
          <a:xfrm>
            <a:off x="9465581" y="1899326"/>
            <a:ext cx="1989943" cy="442674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600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 dirty="0"/>
              <a:t>Na HCO</a:t>
            </a:r>
            <a:r>
              <a:rPr lang="en-US" sz="2000" b="1" baseline="-25000" dirty="0"/>
              <a:t>3</a:t>
            </a:r>
            <a:endParaRPr lang="en-US" sz="2000" b="1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5F5BD72E-25CC-4315-8702-13592D4A7738}"/>
              </a:ext>
            </a:extLst>
          </p:cNvPr>
          <p:cNvSpPr txBox="1"/>
          <p:nvPr/>
        </p:nvSpPr>
        <p:spPr>
          <a:xfrm>
            <a:off x="9349640" y="2453249"/>
            <a:ext cx="229301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effectLst/>
                <a:latin typeface="Calibri" panose="020F0502020204030204" pitchFamily="34" charset="0"/>
              </a:rPr>
              <a:t>50-100 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mEq</a:t>
            </a:r>
            <a:r>
              <a:rPr lang="en-US" sz="1800" dirty="0">
                <a:effectLst/>
                <a:latin typeface="Calibri" panose="020F0502020204030204" pitchFamily="34" charset="0"/>
              </a:rPr>
              <a:t> IV</a:t>
            </a:r>
          </a:p>
          <a:p>
            <a:pPr algn="ctr"/>
            <a:endParaRPr lang="en-US" sz="1400" dirty="0">
              <a:effectLst/>
              <a:latin typeface="Calibri" panose="020F0502020204030204" pitchFamily="34" charset="0"/>
            </a:endParaRPr>
          </a:p>
          <a:p>
            <a:pPr algn="ctr"/>
            <a:r>
              <a:rPr lang="en-US" sz="1600" dirty="0">
                <a:effectLst/>
                <a:latin typeface="Calibri" panose="020F0502020204030204" pitchFamily="34" charset="0"/>
              </a:rPr>
              <a:t>For non-ESRD with acidosis only</a:t>
            </a:r>
          </a:p>
          <a:p>
            <a:pPr algn="ctr"/>
            <a:endParaRPr lang="en-US" sz="1800" baseline="-25000" dirty="0">
              <a:effectLst/>
              <a:latin typeface="Calibri" panose="020F0502020204030204" pitchFamily="34" charset="0"/>
            </a:endParaRPr>
          </a:p>
          <a:p>
            <a:pPr algn="ctr"/>
            <a:r>
              <a:rPr lang="en-US" sz="1800" dirty="0">
                <a:latin typeface="Calibri" panose="020F0502020204030204" pitchFamily="34" charset="0"/>
              </a:rPr>
              <a:t>L</a:t>
            </a:r>
            <a:r>
              <a:rPr lang="en-US" sz="1800" dirty="0">
                <a:effectLst/>
                <a:latin typeface="Calibri" panose="020F0502020204030204" pitchFamily="34" charset="0"/>
              </a:rPr>
              <a:t>east effective shifting strategy</a:t>
            </a:r>
            <a:endParaRPr lang="en-US" sz="1800" baseline="-25000" dirty="0"/>
          </a:p>
        </p:txBody>
      </p:sp>
      <p:pic>
        <p:nvPicPr>
          <p:cNvPr id="217" name="Graphic 216" descr="Cursor with solid fill">
            <a:extLst>
              <a:ext uri="{FF2B5EF4-FFF2-40B4-BE49-F238E27FC236}">
                <a16:creationId xmlns:a16="http://schemas.microsoft.com/office/drawing/2014/main" id="{910C00A5-306A-41C4-897F-BCD504DDDAF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382338" y="2201062"/>
            <a:ext cx="301752" cy="301752"/>
          </a:xfrm>
          <a:prstGeom prst="rect">
            <a:avLst/>
          </a:prstGeom>
        </p:spPr>
      </p:pic>
      <p:pic>
        <p:nvPicPr>
          <p:cNvPr id="218" name="Graphic 217" descr="Cursor with solid fill">
            <a:extLst>
              <a:ext uri="{FF2B5EF4-FFF2-40B4-BE49-F238E27FC236}">
                <a16:creationId xmlns:a16="http://schemas.microsoft.com/office/drawing/2014/main" id="{4CFBF923-F9FA-4B64-B0BE-43682121871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855253" y="2178583"/>
            <a:ext cx="301752" cy="301752"/>
          </a:xfrm>
          <a:prstGeom prst="rect">
            <a:avLst/>
          </a:prstGeom>
        </p:spPr>
      </p:pic>
      <p:pic>
        <p:nvPicPr>
          <p:cNvPr id="219" name="Graphic 218" descr="Cursor with solid fill">
            <a:extLst>
              <a:ext uri="{FF2B5EF4-FFF2-40B4-BE49-F238E27FC236}">
                <a16:creationId xmlns:a16="http://schemas.microsoft.com/office/drawing/2014/main" id="{6FCAF34B-2F1F-486B-BC92-000FEF810BB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326148" y="2188362"/>
            <a:ext cx="301752" cy="301752"/>
          </a:xfrm>
          <a:prstGeom prst="rect">
            <a:avLst/>
          </a:prstGeom>
        </p:spPr>
      </p:pic>
      <p:sp>
        <p:nvSpPr>
          <p:cNvPr id="195" name="Rectangle 194">
            <a:extLst>
              <a:ext uri="{FF2B5EF4-FFF2-40B4-BE49-F238E27FC236}">
                <a16:creationId xmlns:a16="http://schemas.microsoft.com/office/drawing/2014/main" id="{8B25F7B3-091D-4094-9ED1-8BEB81DD7259}"/>
              </a:ext>
            </a:extLst>
          </p:cNvPr>
          <p:cNvSpPr/>
          <p:nvPr/>
        </p:nvSpPr>
        <p:spPr>
          <a:xfrm>
            <a:off x="2856834" y="278820"/>
            <a:ext cx="970339" cy="3121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K &gt; 5.5?</a:t>
            </a:r>
          </a:p>
        </p:txBody>
      </p: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60ABC79E-33A3-45C4-BD9C-227261C3E28C}"/>
              </a:ext>
            </a:extLst>
          </p:cNvPr>
          <p:cNvCxnSpPr>
            <a:cxnSpLocks/>
            <a:stCxn id="195" idx="2"/>
            <a:endCxn id="197" idx="0"/>
          </p:cNvCxnSpPr>
          <p:nvPr/>
        </p:nvCxnSpPr>
        <p:spPr>
          <a:xfrm>
            <a:off x="3342004" y="590954"/>
            <a:ext cx="8444" cy="172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7" name="Rectangle 196">
            <a:extLst>
              <a:ext uri="{FF2B5EF4-FFF2-40B4-BE49-F238E27FC236}">
                <a16:creationId xmlns:a16="http://schemas.microsoft.com/office/drawing/2014/main" id="{568F55D6-CEE3-4C4C-A68D-915675C3FD64}"/>
              </a:ext>
            </a:extLst>
          </p:cNvPr>
          <p:cNvSpPr/>
          <p:nvPr/>
        </p:nvSpPr>
        <p:spPr>
          <a:xfrm>
            <a:off x="2569404" y="762988"/>
            <a:ext cx="1562088" cy="280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Confirm </a:t>
            </a:r>
            <a:r>
              <a:rPr lang="en-US" sz="1600" dirty="0" err="1"/>
              <a:t>hyperK</a:t>
            </a:r>
            <a:endParaRPr lang="en-US" sz="1600" dirty="0"/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3E070B0D-1053-41D1-9645-DCB2DA8FF3D5}"/>
              </a:ext>
            </a:extLst>
          </p:cNvPr>
          <p:cNvCxnSpPr>
            <a:cxnSpLocks/>
            <a:stCxn id="197" idx="2"/>
            <a:endCxn id="232" idx="0"/>
          </p:cNvCxnSpPr>
          <p:nvPr/>
        </p:nvCxnSpPr>
        <p:spPr>
          <a:xfrm>
            <a:off x="3350448" y="1043383"/>
            <a:ext cx="0" cy="2140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2" name="Rectangle 231">
            <a:extLst>
              <a:ext uri="{FF2B5EF4-FFF2-40B4-BE49-F238E27FC236}">
                <a16:creationId xmlns:a16="http://schemas.microsoft.com/office/drawing/2014/main" id="{D2C196EA-AD53-45E2-A634-4F15D4B8A5D2}"/>
              </a:ext>
            </a:extLst>
          </p:cNvPr>
          <p:cNvSpPr/>
          <p:nvPr/>
        </p:nvSpPr>
        <p:spPr>
          <a:xfrm>
            <a:off x="2821544" y="1257468"/>
            <a:ext cx="1057807" cy="2851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Stat ECG</a:t>
            </a:r>
          </a:p>
        </p:txBody>
      </p:sp>
      <p:cxnSp>
        <p:nvCxnSpPr>
          <p:cNvPr id="235" name="Connector: Elbow 234">
            <a:extLst>
              <a:ext uri="{FF2B5EF4-FFF2-40B4-BE49-F238E27FC236}">
                <a16:creationId xmlns:a16="http://schemas.microsoft.com/office/drawing/2014/main" id="{86975320-8F37-4A33-8729-C91AF3031BE4}"/>
              </a:ext>
            </a:extLst>
          </p:cNvPr>
          <p:cNvCxnSpPr>
            <a:cxnSpLocks/>
            <a:stCxn id="232" idx="2"/>
            <a:endCxn id="236" idx="0"/>
          </p:cNvCxnSpPr>
          <p:nvPr/>
        </p:nvCxnSpPr>
        <p:spPr>
          <a:xfrm rot="16200000" flipH="1">
            <a:off x="3429457" y="1463591"/>
            <a:ext cx="271689" cy="429707"/>
          </a:xfrm>
          <a:prstGeom prst="bentConnector3">
            <a:avLst>
              <a:gd name="adj1" fmla="val 5000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6" name="Rectangle 235">
            <a:extLst>
              <a:ext uri="{FF2B5EF4-FFF2-40B4-BE49-F238E27FC236}">
                <a16:creationId xmlns:a16="http://schemas.microsoft.com/office/drawing/2014/main" id="{2C00F103-E166-4442-94A3-A8081A484FF7}"/>
              </a:ext>
            </a:extLst>
          </p:cNvPr>
          <p:cNvSpPr/>
          <p:nvPr/>
        </p:nvSpPr>
        <p:spPr>
          <a:xfrm>
            <a:off x="3350160" y="1814290"/>
            <a:ext cx="859989" cy="45242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ECG </a:t>
            </a:r>
            <a:r>
              <a:rPr lang="el-GR" sz="1400" dirty="0">
                <a:solidFill>
                  <a:schemeClr val="tx1"/>
                </a:solidFill>
              </a:rPr>
              <a:t>Δ</a:t>
            </a:r>
            <a:r>
              <a:rPr lang="en-US" sz="1400" dirty="0">
                <a:solidFill>
                  <a:schemeClr val="tx1"/>
                </a:solidFill>
              </a:rPr>
              <a:t> / K&gt; 6.5</a:t>
            </a:r>
          </a:p>
        </p:txBody>
      </p: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70FBE14A-23D1-4FD1-A079-E9C6104754D8}"/>
              </a:ext>
            </a:extLst>
          </p:cNvPr>
          <p:cNvCxnSpPr>
            <a:cxnSpLocks/>
            <a:stCxn id="236" idx="2"/>
            <a:endCxn id="238" idx="0"/>
          </p:cNvCxnSpPr>
          <p:nvPr/>
        </p:nvCxnSpPr>
        <p:spPr>
          <a:xfrm flipH="1">
            <a:off x="3777867" y="2266719"/>
            <a:ext cx="2288" cy="243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8" name="Rectangle 237">
            <a:extLst>
              <a:ext uri="{FF2B5EF4-FFF2-40B4-BE49-F238E27FC236}">
                <a16:creationId xmlns:a16="http://schemas.microsoft.com/office/drawing/2014/main" id="{697C1285-24CE-4FAF-89E6-9E759AEFB2D8}"/>
              </a:ext>
            </a:extLst>
          </p:cNvPr>
          <p:cNvSpPr/>
          <p:nvPr/>
        </p:nvSpPr>
        <p:spPr>
          <a:xfrm>
            <a:off x="3345584" y="2510466"/>
            <a:ext cx="864565" cy="474585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IV Ca 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f/u ECG</a:t>
            </a:r>
          </a:p>
        </p:txBody>
      </p:sp>
      <p:cxnSp>
        <p:nvCxnSpPr>
          <p:cNvPr id="239" name="Connector: Elbow 238">
            <a:extLst>
              <a:ext uri="{FF2B5EF4-FFF2-40B4-BE49-F238E27FC236}">
                <a16:creationId xmlns:a16="http://schemas.microsoft.com/office/drawing/2014/main" id="{C3DB4C5B-9BF6-466E-A173-42CFEEACCA9F}"/>
              </a:ext>
            </a:extLst>
          </p:cNvPr>
          <p:cNvCxnSpPr>
            <a:cxnSpLocks/>
            <a:stCxn id="238" idx="2"/>
            <a:endCxn id="236" idx="1"/>
          </p:cNvCxnSpPr>
          <p:nvPr/>
        </p:nvCxnSpPr>
        <p:spPr>
          <a:xfrm rot="5400000" flipH="1">
            <a:off x="3091741" y="2298925"/>
            <a:ext cx="944546" cy="427707"/>
          </a:xfrm>
          <a:prstGeom prst="bentConnector4">
            <a:avLst>
              <a:gd name="adj1" fmla="val -24202"/>
              <a:gd name="adj2" fmla="val 15451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FDA0CEC-E541-4056-94BC-154FD0F012BF}"/>
              </a:ext>
            </a:extLst>
          </p:cNvPr>
          <p:cNvSpPr/>
          <p:nvPr/>
        </p:nvSpPr>
        <p:spPr>
          <a:xfrm>
            <a:off x="2738419" y="3290079"/>
            <a:ext cx="1362790" cy="854821"/>
          </a:xfrm>
          <a:prstGeom prst="rect">
            <a:avLst/>
          </a:prstGeom>
          <a:solidFill>
            <a:srgbClr val="FF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Insulin+D50W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Albuterol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±NaHCO3</a:t>
            </a:r>
          </a:p>
        </p:txBody>
      </p:sp>
      <p:cxnSp>
        <p:nvCxnSpPr>
          <p:cNvPr id="241" name="Connector: Elbow 240">
            <a:extLst>
              <a:ext uri="{FF2B5EF4-FFF2-40B4-BE49-F238E27FC236}">
                <a16:creationId xmlns:a16="http://schemas.microsoft.com/office/drawing/2014/main" id="{4E39C75A-08DC-4793-86CD-4E2A236AB24B}"/>
              </a:ext>
            </a:extLst>
          </p:cNvPr>
          <p:cNvCxnSpPr>
            <a:cxnSpLocks/>
            <a:stCxn id="232" idx="2"/>
          </p:cNvCxnSpPr>
          <p:nvPr/>
        </p:nvCxnSpPr>
        <p:spPr>
          <a:xfrm rot="5400000">
            <a:off x="2284602" y="2238403"/>
            <a:ext cx="1761648" cy="370045"/>
          </a:xfrm>
          <a:prstGeom prst="bentConnector3">
            <a:avLst>
              <a:gd name="adj1" fmla="val 784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2" name="Straight Arrow Connector 241">
            <a:extLst>
              <a:ext uri="{FF2B5EF4-FFF2-40B4-BE49-F238E27FC236}">
                <a16:creationId xmlns:a16="http://schemas.microsoft.com/office/drawing/2014/main" id="{34318C5B-15BB-4BC0-BCC3-71919C096A8D}"/>
              </a:ext>
            </a:extLst>
          </p:cNvPr>
          <p:cNvCxnSpPr>
            <a:cxnSpLocks/>
            <a:stCxn id="238" idx="2"/>
          </p:cNvCxnSpPr>
          <p:nvPr/>
        </p:nvCxnSpPr>
        <p:spPr>
          <a:xfrm>
            <a:off x="3777867" y="2985051"/>
            <a:ext cx="6171" cy="3191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3" name="Step 2 Question">
            <a:extLst>
              <a:ext uri="{FF2B5EF4-FFF2-40B4-BE49-F238E27FC236}">
                <a16:creationId xmlns:a16="http://schemas.microsoft.com/office/drawing/2014/main" id="{96E74781-565F-4513-8386-A92457E7BFC0}"/>
              </a:ext>
            </a:extLst>
          </p:cNvPr>
          <p:cNvGrpSpPr/>
          <p:nvPr/>
        </p:nvGrpSpPr>
        <p:grpSpPr>
          <a:xfrm>
            <a:off x="181122" y="1716074"/>
            <a:ext cx="2103120" cy="793038"/>
            <a:chOff x="131415" y="2087451"/>
            <a:chExt cx="2218200" cy="793038"/>
          </a:xfrm>
        </p:grpSpPr>
        <p:sp>
          <p:nvSpPr>
            <p:cNvPr id="154" name="question 3">
              <a:hlinkClick r:id="rId24" action="ppaction://hlinksldjump"/>
              <a:extLst>
                <a:ext uri="{FF2B5EF4-FFF2-40B4-BE49-F238E27FC236}">
                  <a16:creationId xmlns:a16="http://schemas.microsoft.com/office/drawing/2014/main" id="{0892F839-9022-4520-8FCA-F8C58A3936E3}"/>
                </a:ext>
              </a:extLst>
            </p:cNvPr>
            <p:cNvSpPr txBox="1"/>
            <p:nvPr/>
          </p:nvSpPr>
          <p:spPr>
            <a:xfrm>
              <a:off x="131415" y="2094166"/>
              <a:ext cx="2218200" cy="707484"/>
            </a:xfrm>
            <a:prstGeom prst="roundRect">
              <a:avLst/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tlCol="0">
              <a:noAutofit/>
            </a:bodyPr>
            <a:lstStyle/>
            <a:p>
              <a:r>
                <a:rPr lang="en-US" b="1" dirty="0">
                  <a:solidFill>
                    <a:sysClr val="windowText" lastClr="000000"/>
                  </a:solidFill>
                </a:rPr>
                <a:t>Step 2</a:t>
              </a:r>
            </a:p>
          </p:txBody>
        </p:sp>
        <p:pic>
          <p:nvPicPr>
            <p:cNvPr id="156" name="Graphic 155" descr="Heartbeat with solid fill">
              <a:hlinkClick r:id="rId24" action="ppaction://hlinksldjump"/>
              <a:extLst>
                <a:ext uri="{FF2B5EF4-FFF2-40B4-BE49-F238E27FC236}">
                  <a16:creationId xmlns:a16="http://schemas.microsoft.com/office/drawing/2014/main" id="{11DE5F73-D87A-4231-82BE-E67DE88C1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1254285" y="2087451"/>
              <a:ext cx="793038" cy="793038"/>
            </a:xfrm>
            <a:prstGeom prst="rect">
              <a:avLst/>
            </a:prstGeom>
          </p:spPr>
        </p:pic>
      </p:grpSp>
      <p:grpSp>
        <p:nvGrpSpPr>
          <p:cNvPr id="161" name="Step 3 Question">
            <a:extLst>
              <a:ext uri="{FF2B5EF4-FFF2-40B4-BE49-F238E27FC236}">
                <a16:creationId xmlns:a16="http://schemas.microsoft.com/office/drawing/2014/main" id="{3FEC441A-6467-4FC4-8749-DB59B9488249}"/>
              </a:ext>
            </a:extLst>
          </p:cNvPr>
          <p:cNvGrpSpPr/>
          <p:nvPr/>
        </p:nvGrpSpPr>
        <p:grpSpPr>
          <a:xfrm>
            <a:off x="181122" y="2702820"/>
            <a:ext cx="2103120" cy="802349"/>
            <a:chOff x="131414" y="3071170"/>
            <a:chExt cx="2205728" cy="802349"/>
          </a:xfrm>
        </p:grpSpPr>
        <p:sp>
          <p:nvSpPr>
            <p:cNvPr id="169" name="question 4">
              <a:hlinkClick r:id="rId27" action="ppaction://hlinksldjump"/>
              <a:extLst>
                <a:ext uri="{FF2B5EF4-FFF2-40B4-BE49-F238E27FC236}">
                  <a16:creationId xmlns:a16="http://schemas.microsoft.com/office/drawing/2014/main" id="{E1537ACE-AE19-486F-BAEF-7F1510156EF9}"/>
                </a:ext>
              </a:extLst>
            </p:cNvPr>
            <p:cNvSpPr txBox="1"/>
            <p:nvPr/>
          </p:nvSpPr>
          <p:spPr>
            <a:xfrm>
              <a:off x="131414" y="3078631"/>
              <a:ext cx="2205728" cy="720110"/>
            </a:xfrm>
            <a:prstGeom prst="roundRect">
              <a:avLst>
                <a:gd name="adj" fmla="val 18232"/>
              </a:avLst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tlCol="0">
              <a:noAutofit/>
            </a:bodyPr>
            <a:lstStyle/>
            <a:p>
              <a:r>
                <a:rPr lang="en-US" b="1" dirty="0">
                  <a:solidFill>
                    <a:sysClr val="windowText" lastClr="000000"/>
                  </a:solidFill>
                </a:rPr>
                <a:t>Step 3</a:t>
              </a:r>
            </a:p>
          </p:txBody>
        </p:sp>
        <p:pic>
          <p:nvPicPr>
            <p:cNvPr id="174" name="Graphic 173" descr="Heart with pulse with solid fill">
              <a:hlinkClick r:id="rId27" action="ppaction://hlinksldjump"/>
              <a:extLst>
                <a:ext uri="{FF2B5EF4-FFF2-40B4-BE49-F238E27FC236}">
                  <a16:creationId xmlns:a16="http://schemas.microsoft.com/office/drawing/2014/main" id="{82196257-53D5-4FBD-BB20-E0F86EC33D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234278" y="3071170"/>
              <a:ext cx="802349" cy="802349"/>
            </a:xfrm>
            <a:prstGeom prst="rect">
              <a:avLst/>
            </a:prstGeom>
          </p:spPr>
        </p:pic>
      </p:grpSp>
      <p:grpSp>
        <p:nvGrpSpPr>
          <p:cNvPr id="190" name="Step 1 Question">
            <a:extLst>
              <a:ext uri="{FF2B5EF4-FFF2-40B4-BE49-F238E27FC236}">
                <a16:creationId xmlns:a16="http://schemas.microsoft.com/office/drawing/2014/main" id="{85D8F047-EA94-4BA9-BFB8-36E27BF210DB}"/>
              </a:ext>
            </a:extLst>
          </p:cNvPr>
          <p:cNvGrpSpPr/>
          <p:nvPr/>
        </p:nvGrpSpPr>
        <p:grpSpPr>
          <a:xfrm>
            <a:off x="181122" y="797693"/>
            <a:ext cx="2103120" cy="724673"/>
            <a:chOff x="143887" y="1045203"/>
            <a:chExt cx="2205728" cy="724673"/>
          </a:xfrm>
        </p:grpSpPr>
        <p:sp>
          <p:nvSpPr>
            <p:cNvPr id="192" name="Question 2">
              <a:hlinkClick r:id="rId30" action="ppaction://hlinksldjump"/>
              <a:extLst>
                <a:ext uri="{FF2B5EF4-FFF2-40B4-BE49-F238E27FC236}">
                  <a16:creationId xmlns:a16="http://schemas.microsoft.com/office/drawing/2014/main" id="{0E379692-56A0-4B64-8CFC-A50E232902B1}"/>
                </a:ext>
              </a:extLst>
            </p:cNvPr>
            <p:cNvSpPr txBox="1"/>
            <p:nvPr/>
          </p:nvSpPr>
          <p:spPr>
            <a:xfrm>
              <a:off x="143887" y="1045203"/>
              <a:ext cx="2205728" cy="724673"/>
            </a:xfrm>
            <a:prstGeom prst="roundRect">
              <a:avLst/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tlCol="0">
              <a:noAutofit/>
            </a:bodyPr>
            <a:lstStyle/>
            <a:p>
              <a:r>
                <a:rPr lang="en-US" b="1" dirty="0">
                  <a:solidFill>
                    <a:sysClr val="windowText" lastClr="000000"/>
                  </a:solidFill>
                </a:rPr>
                <a:t>Step 1</a:t>
              </a:r>
            </a:p>
          </p:txBody>
        </p:sp>
        <p:pic>
          <p:nvPicPr>
            <p:cNvPr id="194" name="Graphic 193" descr="Test tubes outline">
              <a:hlinkClick r:id="rId30" action="ppaction://hlinksldjump"/>
              <a:extLst>
                <a:ext uri="{FF2B5EF4-FFF2-40B4-BE49-F238E27FC236}">
                  <a16:creationId xmlns:a16="http://schemas.microsoft.com/office/drawing/2014/main" id="{56FFB2CA-4074-4651-8E6B-DACB70DB3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1377019" y="1058879"/>
              <a:ext cx="675768" cy="675768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A59B4C0-2CF2-4DE6-B08C-1AE8E11DE39B}"/>
              </a:ext>
            </a:extLst>
          </p:cNvPr>
          <p:cNvGrpSpPr/>
          <p:nvPr/>
        </p:nvGrpSpPr>
        <p:grpSpPr>
          <a:xfrm>
            <a:off x="4711913" y="5383689"/>
            <a:ext cx="6671594" cy="327553"/>
            <a:chOff x="4711913" y="5383689"/>
            <a:chExt cx="6671594" cy="327553"/>
          </a:xfrm>
        </p:grpSpPr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AD5F1520-2786-4854-83E7-F19DA26D3F37}"/>
                </a:ext>
              </a:extLst>
            </p:cNvPr>
            <p:cNvGrpSpPr/>
            <p:nvPr/>
          </p:nvGrpSpPr>
          <p:grpSpPr>
            <a:xfrm>
              <a:off x="4711913" y="5383689"/>
              <a:ext cx="5272207" cy="327553"/>
              <a:chOff x="3120565" y="5695447"/>
              <a:chExt cx="5272207" cy="387883"/>
            </a:xfrm>
            <a:solidFill>
              <a:srgbClr val="A200A2"/>
            </a:solidFill>
          </p:grpSpPr>
          <p:grpSp>
            <p:nvGrpSpPr>
              <p:cNvPr id="191" name="Group 190">
                <a:extLst>
                  <a:ext uri="{FF2B5EF4-FFF2-40B4-BE49-F238E27FC236}">
                    <a16:creationId xmlns:a16="http://schemas.microsoft.com/office/drawing/2014/main" id="{2F2F591D-C159-4A76-9740-64033A2B39F4}"/>
                  </a:ext>
                </a:extLst>
              </p:cNvPr>
              <p:cNvGrpSpPr/>
              <p:nvPr/>
            </p:nvGrpSpPr>
            <p:grpSpPr>
              <a:xfrm>
                <a:off x="3120565" y="5695447"/>
                <a:ext cx="5272207" cy="381014"/>
                <a:chOff x="3124397" y="5086955"/>
                <a:chExt cx="5272207" cy="381014"/>
              </a:xfrm>
              <a:grpFill/>
            </p:grpSpPr>
            <p:sp>
              <p:nvSpPr>
                <p:cNvPr id="193" name="Rectangle 192">
                  <a:extLst>
                    <a:ext uri="{FF2B5EF4-FFF2-40B4-BE49-F238E27FC236}">
                      <a16:creationId xmlns:a16="http://schemas.microsoft.com/office/drawing/2014/main" id="{9F7F39C3-4A93-40CE-996E-356CB6B98C3C}"/>
                    </a:ext>
                  </a:extLst>
                </p:cNvPr>
                <p:cNvSpPr/>
                <p:nvPr/>
              </p:nvSpPr>
              <p:spPr>
                <a:xfrm>
                  <a:off x="3463089" y="5086955"/>
                  <a:ext cx="2130900" cy="381014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Albuterol</a:t>
                  </a:r>
                </a:p>
              </p:txBody>
            </p:sp>
            <p:sp>
              <p:nvSpPr>
                <p:cNvPr id="199" name="Rectangle 198">
                  <a:extLst>
                    <a:ext uri="{FF2B5EF4-FFF2-40B4-BE49-F238E27FC236}">
                      <a16:creationId xmlns:a16="http://schemas.microsoft.com/office/drawing/2014/main" id="{5D874C74-9315-419D-9B50-AB724ECAA4DC}"/>
                    </a:ext>
                  </a:extLst>
                </p:cNvPr>
                <p:cNvSpPr/>
                <p:nvPr/>
              </p:nvSpPr>
              <p:spPr>
                <a:xfrm>
                  <a:off x="3297125" y="5086955"/>
                  <a:ext cx="96103" cy="381014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00" name="Rectangle 199">
                  <a:extLst>
                    <a:ext uri="{FF2B5EF4-FFF2-40B4-BE49-F238E27FC236}">
                      <a16:creationId xmlns:a16="http://schemas.microsoft.com/office/drawing/2014/main" id="{59758188-A949-4D87-B43E-214F60701127}"/>
                    </a:ext>
                  </a:extLst>
                </p:cNvPr>
                <p:cNvSpPr/>
                <p:nvPr/>
              </p:nvSpPr>
              <p:spPr>
                <a:xfrm>
                  <a:off x="3124397" y="5086955"/>
                  <a:ext cx="96103" cy="381014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01" name="Rectangle 200">
                  <a:extLst>
                    <a:ext uri="{FF2B5EF4-FFF2-40B4-BE49-F238E27FC236}">
                      <a16:creationId xmlns:a16="http://schemas.microsoft.com/office/drawing/2014/main" id="{6D411C88-9E83-41E1-A8DA-1FB929077FA9}"/>
                    </a:ext>
                  </a:extLst>
                </p:cNvPr>
                <p:cNvSpPr/>
                <p:nvPr/>
              </p:nvSpPr>
              <p:spPr>
                <a:xfrm>
                  <a:off x="7250557" y="5086955"/>
                  <a:ext cx="96103" cy="381014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02" name="Rectangle 201">
                  <a:extLst>
                    <a:ext uri="{FF2B5EF4-FFF2-40B4-BE49-F238E27FC236}">
                      <a16:creationId xmlns:a16="http://schemas.microsoft.com/office/drawing/2014/main" id="{2D9607CD-497E-4141-9ADE-80FD4ACA70CA}"/>
                    </a:ext>
                  </a:extLst>
                </p:cNvPr>
                <p:cNvSpPr/>
                <p:nvPr/>
              </p:nvSpPr>
              <p:spPr>
                <a:xfrm>
                  <a:off x="7428097" y="5086955"/>
                  <a:ext cx="96103" cy="381014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03" name="Rectangle 202">
                  <a:extLst>
                    <a:ext uri="{FF2B5EF4-FFF2-40B4-BE49-F238E27FC236}">
                      <a16:creationId xmlns:a16="http://schemas.microsoft.com/office/drawing/2014/main" id="{03EEED9E-07D0-4C70-B019-02495BE24952}"/>
                    </a:ext>
                  </a:extLst>
                </p:cNvPr>
                <p:cNvSpPr/>
                <p:nvPr/>
              </p:nvSpPr>
              <p:spPr>
                <a:xfrm>
                  <a:off x="7613461" y="5086955"/>
                  <a:ext cx="96103" cy="381014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04" name="Rectangle 203">
                  <a:extLst>
                    <a:ext uri="{FF2B5EF4-FFF2-40B4-BE49-F238E27FC236}">
                      <a16:creationId xmlns:a16="http://schemas.microsoft.com/office/drawing/2014/main" id="{A3E443FA-49C4-4E34-ABDD-600DF0C11FBB}"/>
                    </a:ext>
                  </a:extLst>
                </p:cNvPr>
                <p:cNvSpPr/>
                <p:nvPr/>
              </p:nvSpPr>
              <p:spPr>
                <a:xfrm>
                  <a:off x="7787629" y="5086955"/>
                  <a:ext cx="96103" cy="381014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05" name="Rectangle 204">
                  <a:extLst>
                    <a:ext uri="{FF2B5EF4-FFF2-40B4-BE49-F238E27FC236}">
                      <a16:creationId xmlns:a16="http://schemas.microsoft.com/office/drawing/2014/main" id="{5CC35C1A-083F-40B9-B0ED-74F6F6F19CD6}"/>
                    </a:ext>
                  </a:extLst>
                </p:cNvPr>
                <p:cNvSpPr/>
                <p:nvPr/>
              </p:nvSpPr>
              <p:spPr>
                <a:xfrm>
                  <a:off x="7953931" y="5086955"/>
                  <a:ext cx="96103" cy="381014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06" name="Rectangle 205">
                  <a:extLst>
                    <a:ext uri="{FF2B5EF4-FFF2-40B4-BE49-F238E27FC236}">
                      <a16:creationId xmlns:a16="http://schemas.microsoft.com/office/drawing/2014/main" id="{FE865D2B-EAD8-4E9B-9C65-559CBB5A16D2}"/>
                    </a:ext>
                  </a:extLst>
                </p:cNvPr>
                <p:cNvSpPr/>
                <p:nvPr/>
              </p:nvSpPr>
              <p:spPr>
                <a:xfrm>
                  <a:off x="8134538" y="5086955"/>
                  <a:ext cx="96103" cy="381014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07" name="Rectangle 206">
                  <a:extLst>
                    <a:ext uri="{FF2B5EF4-FFF2-40B4-BE49-F238E27FC236}">
                      <a16:creationId xmlns:a16="http://schemas.microsoft.com/office/drawing/2014/main" id="{CA8900D7-BA47-4326-A092-56245E96BE6A}"/>
                    </a:ext>
                  </a:extLst>
                </p:cNvPr>
                <p:cNvSpPr/>
                <p:nvPr/>
              </p:nvSpPr>
              <p:spPr>
                <a:xfrm>
                  <a:off x="8300501" y="5086955"/>
                  <a:ext cx="96103" cy="381014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472A0873-5EF8-4931-81A2-EBE935A9AA2C}"/>
                  </a:ext>
                </a:extLst>
              </p:cNvPr>
              <p:cNvSpPr/>
              <p:nvPr/>
            </p:nvSpPr>
            <p:spPr>
              <a:xfrm>
                <a:off x="6022027" y="5702316"/>
                <a:ext cx="96103" cy="38101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A2ED27AB-76A1-476B-9775-9612A7F8C751}"/>
                  </a:ext>
                </a:extLst>
              </p:cNvPr>
              <p:cNvSpPr/>
              <p:nvPr/>
            </p:nvSpPr>
            <p:spPr>
              <a:xfrm>
                <a:off x="6199567" y="5702316"/>
                <a:ext cx="96103" cy="38101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74A93D97-C954-44AB-A009-A644389F8667}"/>
                  </a:ext>
                </a:extLst>
              </p:cNvPr>
              <p:cNvSpPr/>
              <p:nvPr/>
            </p:nvSpPr>
            <p:spPr>
              <a:xfrm>
                <a:off x="6384931" y="5702316"/>
                <a:ext cx="96103" cy="38101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9F42B8F4-CCEF-46D5-A89C-7E56C76584AB}"/>
                  </a:ext>
                </a:extLst>
              </p:cNvPr>
              <p:cNvSpPr/>
              <p:nvPr/>
            </p:nvSpPr>
            <p:spPr>
              <a:xfrm>
                <a:off x="6559099" y="5702316"/>
                <a:ext cx="96103" cy="38101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84B55D41-0562-4A11-941A-92837366875B}"/>
                  </a:ext>
                </a:extLst>
              </p:cNvPr>
              <p:cNvSpPr/>
              <p:nvPr/>
            </p:nvSpPr>
            <p:spPr>
              <a:xfrm>
                <a:off x="6725401" y="5702316"/>
                <a:ext cx="96103" cy="38101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1BCBD31F-1060-4F1F-851E-CE07325D4751}"/>
                  </a:ext>
                </a:extLst>
              </p:cNvPr>
              <p:cNvSpPr/>
              <p:nvPr/>
            </p:nvSpPr>
            <p:spPr>
              <a:xfrm>
                <a:off x="6906008" y="5702316"/>
                <a:ext cx="96103" cy="38101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AD17D05E-1848-433E-9B48-0F0809A63FE1}"/>
                  </a:ext>
                </a:extLst>
              </p:cNvPr>
              <p:cNvSpPr/>
              <p:nvPr/>
            </p:nvSpPr>
            <p:spPr>
              <a:xfrm>
                <a:off x="7071971" y="5702316"/>
                <a:ext cx="96103" cy="38101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87E1550B-C2AA-4733-8750-38DE4D4B7499}"/>
                  </a:ext>
                </a:extLst>
              </p:cNvPr>
              <p:cNvSpPr/>
              <p:nvPr/>
            </p:nvSpPr>
            <p:spPr>
              <a:xfrm>
                <a:off x="5672838" y="5702316"/>
                <a:ext cx="96103" cy="38101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D8BD69C2-978B-4117-806D-8F64E6DF2C00}"/>
                  </a:ext>
                </a:extLst>
              </p:cNvPr>
              <p:cNvSpPr/>
              <p:nvPr/>
            </p:nvSpPr>
            <p:spPr>
              <a:xfrm>
                <a:off x="5850378" y="5702316"/>
                <a:ext cx="96103" cy="38101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0AC3018-9C52-452D-A7BF-4257DAFD755D}"/>
                </a:ext>
              </a:extLst>
            </p:cNvPr>
            <p:cNvGrpSpPr/>
            <p:nvPr/>
          </p:nvGrpSpPr>
          <p:grpSpPr>
            <a:xfrm>
              <a:off x="10076718" y="5383689"/>
              <a:ext cx="1306789" cy="323820"/>
              <a:chOff x="10076718" y="5383689"/>
              <a:chExt cx="1306789" cy="323820"/>
            </a:xfrm>
          </p:grpSpPr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0F2B27A7-D2E4-4672-AEFB-4DAAEF71FC76}"/>
                  </a:ext>
                </a:extLst>
              </p:cNvPr>
              <p:cNvSpPr/>
              <p:nvPr/>
            </p:nvSpPr>
            <p:spPr>
              <a:xfrm>
                <a:off x="10076718" y="5383689"/>
                <a:ext cx="96103" cy="321752"/>
              </a:xfrm>
              <a:prstGeom prst="rect">
                <a:avLst/>
              </a:prstGeom>
              <a:solidFill>
                <a:srgbClr val="A200A2"/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F26A2302-B3CA-4F3D-8291-8A2D7EB86B23}"/>
                  </a:ext>
                </a:extLst>
              </p:cNvPr>
              <p:cNvSpPr/>
              <p:nvPr/>
            </p:nvSpPr>
            <p:spPr>
              <a:xfrm>
                <a:off x="10250886" y="5383689"/>
                <a:ext cx="96103" cy="321752"/>
              </a:xfrm>
              <a:prstGeom prst="rect">
                <a:avLst/>
              </a:prstGeom>
              <a:solidFill>
                <a:srgbClr val="A200A2"/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400DA601-5948-4D2C-B4C9-6B30766B7BF3}"/>
                  </a:ext>
                </a:extLst>
              </p:cNvPr>
              <p:cNvSpPr/>
              <p:nvPr/>
            </p:nvSpPr>
            <p:spPr>
              <a:xfrm>
                <a:off x="10417188" y="5383689"/>
                <a:ext cx="96103" cy="321752"/>
              </a:xfrm>
              <a:prstGeom prst="rect">
                <a:avLst/>
              </a:prstGeom>
              <a:solidFill>
                <a:srgbClr val="A200A2"/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70ACA162-E55E-4CCE-88BA-602DD0FFD40A}"/>
                  </a:ext>
                </a:extLst>
              </p:cNvPr>
              <p:cNvSpPr/>
              <p:nvPr/>
            </p:nvSpPr>
            <p:spPr>
              <a:xfrm>
                <a:off x="10587127" y="5383689"/>
                <a:ext cx="96103" cy="321752"/>
              </a:xfrm>
              <a:prstGeom prst="rect">
                <a:avLst/>
              </a:prstGeom>
              <a:solidFill>
                <a:srgbClr val="A200A2"/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2469ED4F-B395-412B-99EE-5056F0A3973E}"/>
                  </a:ext>
                </a:extLst>
              </p:cNvPr>
              <p:cNvSpPr/>
              <p:nvPr/>
            </p:nvSpPr>
            <p:spPr>
              <a:xfrm>
                <a:off x="10763758" y="5383689"/>
                <a:ext cx="96103" cy="321752"/>
              </a:xfrm>
              <a:prstGeom prst="rect">
                <a:avLst/>
              </a:prstGeom>
              <a:solidFill>
                <a:srgbClr val="A200A2"/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CF5E5F1B-E87C-41B8-AB5A-7CE8CF5B0C38}"/>
                  </a:ext>
                </a:extLst>
              </p:cNvPr>
              <p:cNvSpPr/>
              <p:nvPr/>
            </p:nvSpPr>
            <p:spPr>
              <a:xfrm>
                <a:off x="10940834" y="5385757"/>
                <a:ext cx="96103" cy="321752"/>
              </a:xfrm>
              <a:prstGeom prst="rect">
                <a:avLst/>
              </a:prstGeom>
              <a:solidFill>
                <a:srgbClr val="A200A2"/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5E46902A-79C0-4C9D-9EF8-AAE80FA1033A}"/>
                  </a:ext>
                </a:extLst>
              </p:cNvPr>
              <p:cNvSpPr/>
              <p:nvPr/>
            </p:nvSpPr>
            <p:spPr>
              <a:xfrm>
                <a:off x="11121441" y="5385757"/>
                <a:ext cx="96103" cy="321752"/>
              </a:xfrm>
              <a:prstGeom prst="rect">
                <a:avLst/>
              </a:prstGeom>
              <a:solidFill>
                <a:srgbClr val="A200A2"/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F868EDEC-466A-4EC4-B185-9BE38E6F080E}"/>
                  </a:ext>
                </a:extLst>
              </p:cNvPr>
              <p:cNvSpPr/>
              <p:nvPr/>
            </p:nvSpPr>
            <p:spPr>
              <a:xfrm>
                <a:off x="11287404" y="5385757"/>
                <a:ext cx="96103" cy="321752"/>
              </a:xfrm>
              <a:prstGeom prst="rect">
                <a:avLst/>
              </a:prstGeom>
              <a:solidFill>
                <a:srgbClr val="A200A2"/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31" name="Rectangle 230">
            <a:extLst>
              <a:ext uri="{FF2B5EF4-FFF2-40B4-BE49-F238E27FC236}">
                <a16:creationId xmlns:a16="http://schemas.microsoft.com/office/drawing/2014/main" id="{A595E0B2-0F8C-4E2F-85AD-84F853909D96}"/>
              </a:ext>
            </a:extLst>
          </p:cNvPr>
          <p:cNvSpPr/>
          <p:nvPr/>
        </p:nvSpPr>
        <p:spPr>
          <a:xfrm>
            <a:off x="4329951" y="5829009"/>
            <a:ext cx="717936" cy="321752"/>
          </a:xfrm>
          <a:prstGeom prst="rect">
            <a:avLst/>
          </a:prstGeom>
          <a:solidFill>
            <a:srgbClr val="60006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HCO</a:t>
            </a:r>
            <a:r>
              <a:rPr lang="en-US" sz="1600" dirty="0">
                <a:solidFill>
                  <a:schemeClr val="bg1"/>
                </a:solidFill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1" name="Insulin">
            <a:extLst>
              <a:ext uri="{FF2B5EF4-FFF2-40B4-BE49-F238E27FC236}">
                <a16:creationId xmlns:a16="http://schemas.microsoft.com/office/drawing/2014/main" id="{51713539-DB7C-41C4-9636-497EE7C96009}"/>
              </a:ext>
            </a:extLst>
          </p:cNvPr>
          <p:cNvSpPr txBox="1"/>
          <p:nvPr/>
        </p:nvSpPr>
        <p:spPr>
          <a:xfrm>
            <a:off x="4543271" y="1898262"/>
            <a:ext cx="1989943" cy="442674"/>
          </a:xfrm>
          <a:prstGeom prst="roundRect">
            <a:avLst/>
          </a:prstGeom>
          <a:solidFill>
            <a:srgbClr val="FF00FF"/>
          </a:solidFill>
          <a:ln w="38100">
            <a:solidFill>
              <a:srgbClr val="FF00FF"/>
            </a:solidFill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 dirty="0">
                <a:solidFill>
                  <a:schemeClr val="bg1"/>
                </a:solidFill>
              </a:rPr>
              <a:t>Insulin  +   D50</a:t>
            </a:r>
          </a:p>
        </p:txBody>
      </p:sp>
      <p:sp>
        <p:nvSpPr>
          <p:cNvPr id="142" name="B2 agonist">
            <a:extLst>
              <a:ext uri="{FF2B5EF4-FFF2-40B4-BE49-F238E27FC236}">
                <a16:creationId xmlns:a16="http://schemas.microsoft.com/office/drawing/2014/main" id="{87217681-5944-43AA-B4FD-509736414CFE}"/>
              </a:ext>
            </a:extLst>
          </p:cNvPr>
          <p:cNvSpPr txBox="1"/>
          <p:nvPr/>
        </p:nvSpPr>
        <p:spPr>
          <a:xfrm>
            <a:off x="7004426" y="1901241"/>
            <a:ext cx="1989943" cy="442674"/>
          </a:xfrm>
          <a:prstGeom prst="roundRect">
            <a:avLst/>
          </a:prstGeom>
          <a:solidFill>
            <a:srgbClr val="A200A2"/>
          </a:solidFill>
          <a:ln w="38100">
            <a:solidFill>
              <a:srgbClr val="A200A2"/>
            </a:solidFill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 dirty="0">
                <a:solidFill>
                  <a:schemeClr val="bg1"/>
                </a:solidFill>
              </a:rPr>
              <a:t>B2 agonists</a:t>
            </a:r>
          </a:p>
        </p:txBody>
      </p:sp>
      <p:sp>
        <p:nvSpPr>
          <p:cNvPr id="143" name="Sodium Bicarb">
            <a:extLst>
              <a:ext uri="{FF2B5EF4-FFF2-40B4-BE49-F238E27FC236}">
                <a16:creationId xmlns:a16="http://schemas.microsoft.com/office/drawing/2014/main" id="{241FE4F4-3306-452F-B2E2-BF78468886C1}"/>
              </a:ext>
            </a:extLst>
          </p:cNvPr>
          <p:cNvSpPr txBox="1"/>
          <p:nvPr/>
        </p:nvSpPr>
        <p:spPr>
          <a:xfrm>
            <a:off x="9471248" y="1919085"/>
            <a:ext cx="1989943" cy="442674"/>
          </a:xfrm>
          <a:prstGeom prst="roundRect">
            <a:avLst/>
          </a:prstGeom>
          <a:solidFill>
            <a:srgbClr val="600060"/>
          </a:solidFill>
          <a:ln w="38100">
            <a:solidFill>
              <a:srgbClr val="600060"/>
            </a:solidFill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 dirty="0">
                <a:solidFill>
                  <a:schemeClr val="bg1"/>
                </a:solidFill>
              </a:rPr>
              <a:t>Na HCO</a:t>
            </a:r>
            <a:r>
              <a:rPr lang="en-US" sz="2000" b="1" baseline="-25000" dirty="0">
                <a:solidFill>
                  <a:schemeClr val="bg1"/>
                </a:solidFill>
              </a:rPr>
              <a:t>3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220" name="Graphic 219" descr="Cursor with solid fill">
            <a:extLst>
              <a:ext uri="{FF2B5EF4-FFF2-40B4-BE49-F238E27FC236}">
                <a16:creationId xmlns:a16="http://schemas.microsoft.com/office/drawing/2014/main" id="{935D4A06-5E82-429A-BB97-755DCBDE17A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154474" y="435911"/>
            <a:ext cx="301752" cy="301752"/>
          </a:xfrm>
          <a:prstGeom prst="rect">
            <a:avLst/>
          </a:prstGeom>
        </p:spPr>
      </p:pic>
      <p:pic>
        <p:nvPicPr>
          <p:cNvPr id="221" name="Graphic 220" descr="Cursor with solid fill">
            <a:extLst>
              <a:ext uri="{FF2B5EF4-FFF2-40B4-BE49-F238E27FC236}">
                <a16:creationId xmlns:a16="http://schemas.microsoft.com/office/drawing/2014/main" id="{9B8B56DB-5E9B-43FA-B0A5-5324698CE7B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154474" y="1357347"/>
            <a:ext cx="301752" cy="301752"/>
          </a:xfrm>
          <a:prstGeom prst="rect">
            <a:avLst/>
          </a:prstGeom>
        </p:spPr>
      </p:pic>
      <p:pic>
        <p:nvPicPr>
          <p:cNvPr id="222" name="Graphic 221" descr="Cursor with solid fill">
            <a:extLst>
              <a:ext uri="{FF2B5EF4-FFF2-40B4-BE49-F238E27FC236}">
                <a16:creationId xmlns:a16="http://schemas.microsoft.com/office/drawing/2014/main" id="{6C9AA391-31EC-425E-A310-83EBD0952BF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154474" y="3273485"/>
            <a:ext cx="301752" cy="301752"/>
          </a:xfrm>
          <a:prstGeom prst="rect">
            <a:avLst/>
          </a:prstGeom>
        </p:spPr>
      </p:pic>
      <p:pic>
        <p:nvPicPr>
          <p:cNvPr id="224" name="Graphic 223" descr="Cursor with solid fill">
            <a:extLst>
              <a:ext uri="{FF2B5EF4-FFF2-40B4-BE49-F238E27FC236}">
                <a16:creationId xmlns:a16="http://schemas.microsoft.com/office/drawing/2014/main" id="{BCE5F1F8-0B70-4D8E-9999-3D491EE3821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154474" y="2235955"/>
            <a:ext cx="301752" cy="301752"/>
          </a:xfrm>
          <a:prstGeom prst="rect">
            <a:avLst/>
          </a:prstGeom>
        </p:spPr>
      </p:pic>
      <p:pic>
        <p:nvPicPr>
          <p:cNvPr id="225" name="Graphic 224" descr="Cursor with solid fill">
            <a:extLst>
              <a:ext uri="{FF2B5EF4-FFF2-40B4-BE49-F238E27FC236}">
                <a16:creationId xmlns:a16="http://schemas.microsoft.com/office/drawing/2014/main" id="{D147AEFD-A93E-4BB9-B2C2-C42C63A9381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154474" y="5166838"/>
            <a:ext cx="301752" cy="301752"/>
          </a:xfrm>
          <a:prstGeom prst="rect">
            <a:avLst/>
          </a:prstGeom>
        </p:spPr>
      </p:pic>
      <p:pic>
        <p:nvPicPr>
          <p:cNvPr id="226" name="Graphic 225" descr="Cursor with solid fill">
            <a:extLst>
              <a:ext uri="{FF2B5EF4-FFF2-40B4-BE49-F238E27FC236}">
                <a16:creationId xmlns:a16="http://schemas.microsoft.com/office/drawing/2014/main" id="{50FD2222-4844-4F70-A469-9457638A357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154474" y="5796581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728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1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2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1053" grpId="0"/>
      <p:bldP spid="1053" grpId="1"/>
      <p:bldP spid="132" grpId="0" animBg="1"/>
      <p:bldP spid="134" grpId="0"/>
      <p:bldP spid="186" grpId="0"/>
      <p:bldP spid="187" grpId="0" animBg="1"/>
      <p:bldP spid="188" grpId="0" animBg="1"/>
      <p:bldP spid="189" grpId="0"/>
      <p:bldP spid="231" grpId="0" animBg="1"/>
      <p:bldP spid="141" grpId="0" animBg="1"/>
      <p:bldP spid="142" grpId="1" animBg="1"/>
      <p:bldP spid="143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teachIM logo" descr="Icon&#10;&#10;Description automatically generated">
            <a:extLst>
              <a:ext uri="{FF2B5EF4-FFF2-40B4-BE49-F238E27FC236}">
                <a16:creationId xmlns:a16="http://schemas.microsoft.com/office/drawing/2014/main" id="{9941794D-0E4C-4929-897A-E61CE338C3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4" y="6286332"/>
            <a:ext cx="1387970" cy="528106"/>
          </a:xfrm>
          <a:prstGeom prst="rect">
            <a:avLst/>
          </a:prstGeom>
        </p:spPr>
      </p:pic>
      <p:sp>
        <p:nvSpPr>
          <p:cNvPr id="58" name="Cases">
            <a:hlinkClick r:id="rId4" action="ppaction://hlinksldjump"/>
            <a:extLst>
              <a:ext uri="{FF2B5EF4-FFF2-40B4-BE49-F238E27FC236}">
                <a16:creationId xmlns:a16="http://schemas.microsoft.com/office/drawing/2014/main" id="{698286AE-1BFD-4BC5-A36B-7CCB07ECC123}"/>
              </a:ext>
            </a:extLst>
          </p:cNvPr>
          <p:cNvSpPr txBox="1"/>
          <p:nvPr/>
        </p:nvSpPr>
        <p:spPr>
          <a:xfrm>
            <a:off x="181123" y="5538834"/>
            <a:ext cx="2103120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Cases</a:t>
            </a:r>
          </a:p>
        </p:txBody>
      </p:sp>
      <p:sp>
        <p:nvSpPr>
          <p:cNvPr id="59" name="Scenario Question">
            <a:hlinkClick r:id="rId5" action="ppaction://hlinksldjump"/>
            <a:extLst>
              <a:ext uri="{FF2B5EF4-FFF2-40B4-BE49-F238E27FC236}">
                <a16:creationId xmlns:a16="http://schemas.microsoft.com/office/drawing/2014/main" id="{D40F9E14-3B5F-47CC-B84F-C4DAAF9118D8}"/>
              </a:ext>
            </a:extLst>
          </p:cNvPr>
          <p:cNvSpPr txBox="1"/>
          <p:nvPr/>
        </p:nvSpPr>
        <p:spPr>
          <a:xfrm>
            <a:off x="181122" y="136445"/>
            <a:ext cx="2103120" cy="467540"/>
          </a:xfrm>
          <a:prstGeom prst="roundRect">
            <a:avLst>
              <a:gd name="adj" fmla="val 18585"/>
            </a:avLst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Common Scenario</a:t>
            </a:r>
          </a:p>
        </p:txBody>
      </p:sp>
      <p:grpSp>
        <p:nvGrpSpPr>
          <p:cNvPr id="69" name="Step 4 Question">
            <a:extLst>
              <a:ext uri="{FF2B5EF4-FFF2-40B4-BE49-F238E27FC236}">
                <a16:creationId xmlns:a16="http://schemas.microsoft.com/office/drawing/2014/main" id="{1E2678C3-3F95-40CB-B6BB-2ABCFD996C9A}"/>
              </a:ext>
            </a:extLst>
          </p:cNvPr>
          <p:cNvGrpSpPr/>
          <p:nvPr/>
        </p:nvGrpSpPr>
        <p:grpSpPr>
          <a:xfrm>
            <a:off x="181122" y="3698877"/>
            <a:ext cx="2103120" cy="719579"/>
            <a:chOff x="177115" y="4211452"/>
            <a:chExt cx="2185336" cy="719579"/>
          </a:xfrm>
        </p:grpSpPr>
        <p:sp>
          <p:nvSpPr>
            <p:cNvPr id="70" name="sub-q 1 button">
              <a:hlinkClick r:id="rId6" action="ppaction://hlinksldjump"/>
              <a:extLst>
                <a:ext uri="{FF2B5EF4-FFF2-40B4-BE49-F238E27FC236}">
                  <a16:creationId xmlns:a16="http://schemas.microsoft.com/office/drawing/2014/main" id="{AFD533DD-B21B-4DF7-9EA5-58F8D5C62F7A}"/>
                </a:ext>
              </a:extLst>
            </p:cNvPr>
            <p:cNvSpPr txBox="1"/>
            <p:nvPr/>
          </p:nvSpPr>
          <p:spPr>
            <a:xfrm>
              <a:off x="177115" y="4211452"/>
              <a:ext cx="2185336" cy="718840"/>
            </a:xfrm>
            <a:prstGeom prst="roundRect">
              <a:avLst/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tlCol="0">
              <a:noAutofit/>
            </a:bodyPr>
            <a:lstStyle/>
            <a:p>
              <a:r>
                <a:rPr lang="en-US" b="1" dirty="0">
                  <a:solidFill>
                    <a:sysClr val="windowText" lastClr="000000"/>
                  </a:solidFill>
                </a:rPr>
                <a:t>Step 4</a:t>
              </a:r>
            </a:p>
          </p:txBody>
        </p:sp>
        <p:pic>
          <p:nvPicPr>
            <p:cNvPr id="71" name="Graphic 70" descr="Transfer with solid fill">
              <a:extLst>
                <a:ext uri="{FF2B5EF4-FFF2-40B4-BE49-F238E27FC236}">
                  <a16:creationId xmlns:a16="http://schemas.microsoft.com/office/drawing/2014/main" id="{3D0284C1-9794-4CD4-BC65-8FC9101041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318888" y="4212191"/>
              <a:ext cx="718840" cy="718840"/>
            </a:xfrm>
            <a:prstGeom prst="rect">
              <a:avLst/>
            </a:prstGeom>
          </p:spPr>
        </p:pic>
      </p:grpSp>
      <p:grpSp>
        <p:nvGrpSpPr>
          <p:cNvPr id="72" name="Step 5 Question Group">
            <a:extLst>
              <a:ext uri="{FF2B5EF4-FFF2-40B4-BE49-F238E27FC236}">
                <a16:creationId xmlns:a16="http://schemas.microsoft.com/office/drawing/2014/main" id="{7E62B7D2-9BDF-4023-A612-4E7B1DE4BF5B}"/>
              </a:ext>
            </a:extLst>
          </p:cNvPr>
          <p:cNvGrpSpPr/>
          <p:nvPr/>
        </p:nvGrpSpPr>
        <p:grpSpPr>
          <a:xfrm>
            <a:off x="183154" y="4612164"/>
            <a:ext cx="2103120" cy="732964"/>
            <a:chOff x="199997" y="5175187"/>
            <a:chExt cx="2185336" cy="732964"/>
          </a:xfrm>
          <a:effectLst/>
        </p:grpSpPr>
        <p:sp>
          <p:nvSpPr>
            <p:cNvPr id="73" name="sub-q 2">
              <a:hlinkClick r:id="rId6" action="ppaction://hlinksldjump"/>
              <a:extLst>
                <a:ext uri="{FF2B5EF4-FFF2-40B4-BE49-F238E27FC236}">
                  <a16:creationId xmlns:a16="http://schemas.microsoft.com/office/drawing/2014/main" id="{1CE89546-6F2B-4305-B54E-0551F1A060BC}"/>
                </a:ext>
              </a:extLst>
            </p:cNvPr>
            <p:cNvSpPr txBox="1"/>
            <p:nvPr/>
          </p:nvSpPr>
          <p:spPr>
            <a:xfrm>
              <a:off x="199997" y="5179241"/>
              <a:ext cx="2185336" cy="718840"/>
            </a:xfrm>
            <a:prstGeom prst="roundRect">
              <a:avLst>
                <a:gd name="adj" fmla="val 18844"/>
              </a:avLst>
            </a:prstGeom>
            <a:solidFill>
              <a:srgbClr val="0000FF"/>
            </a:solidFill>
            <a:ln w="38100">
              <a:solidFill>
                <a:srgbClr val="0000FF"/>
              </a:solidFill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Ins="91440" rtlCol="0">
              <a:no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Step 5</a:t>
              </a:r>
            </a:p>
          </p:txBody>
        </p:sp>
        <p:pic>
          <p:nvPicPr>
            <p:cNvPr id="74" name="Graphic 73" descr="Downward trend graph with solid fill">
              <a:extLst>
                <a:ext uri="{FF2B5EF4-FFF2-40B4-BE49-F238E27FC236}">
                  <a16:creationId xmlns:a16="http://schemas.microsoft.com/office/drawing/2014/main" id="{C9B84B5E-3E51-4C9B-A5A0-9E62CE97D9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308771" y="5175187"/>
              <a:ext cx="732964" cy="732964"/>
            </a:xfrm>
            <a:prstGeom prst="rect">
              <a:avLst/>
            </a:prstGeom>
          </p:spPr>
        </p:pic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87E7154B-161B-46D0-B164-4A43746736E9}"/>
              </a:ext>
            </a:extLst>
          </p:cNvPr>
          <p:cNvSpPr txBox="1"/>
          <p:nvPr/>
        </p:nvSpPr>
        <p:spPr>
          <a:xfrm>
            <a:off x="6124760" y="193984"/>
            <a:ext cx="4108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Potassium Elimination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925972C9-9627-4857-83FA-5C86CEF7759D}"/>
              </a:ext>
            </a:extLst>
          </p:cNvPr>
          <p:cNvCxnSpPr>
            <a:cxnSpLocks/>
            <a:stCxn id="83" idx="2"/>
            <a:endCxn id="115" idx="0"/>
          </p:cNvCxnSpPr>
          <p:nvPr/>
        </p:nvCxnSpPr>
        <p:spPr>
          <a:xfrm rot="5400000">
            <a:off x="6852905" y="-151262"/>
            <a:ext cx="396199" cy="225624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87" name="Kidney">
            <a:extLst>
              <a:ext uri="{FF2B5EF4-FFF2-40B4-BE49-F238E27FC236}">
                <a16:creationId xmlns:a16="http://schemas.microsoft.com/office/drawing/2014/main" id="{8B2991D8-10AE-431B-A23B-E7C852C76F57}"/>
              </a:ext>
            </a:extLst>
          </p:cNvPr>
          <p:cNvGrpSpPr/>
          <p:nvPr/>
        </p:nvGrpSpPr>
        <p:grpSpPr>
          <a:xfrm>
            <a:off x="5295402" y="1174958"/>
            <a:ext cx="1254962" cy="892749"/>
            <a:chOff x="3726858" y="1376111"/>
            <a:chExt cx="1254962" cy="892749"/>
          </a:xfrm>
        </p:grpSpPr>
        <p:sp>
          <p:nvSpPr>
            <p:cNvPr id="115" name="Rectangle: Rounded Corners 114">
              <a:extLst>
                <a:ext uri="{FF2B5EF4-FFF2-40B4-BE49-F238E27FC236}">
                  <a16:creationId xmlns:a16="http://schemas.microsoft.com/office/drawing/2014/main" id="{9BF30A2C-7898-471D-8AB1-B90FC3E4A395}"/>
                </a:ext>
              </a:extLst>
            </p:cNvPr>
            <p:cNvSpPr/>
            <p:nvPr/>
          </p:nvSpPr>
          <p:spPr>
            <a:xfrm>
              <a:off x="3726858" y="1376111"/>
              <a:ext cx="1254962" cy="892749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0000F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 descr="A picture containing icon&#10;&#10;Description automatically generated">
              <a:extLst>
                <a:ext uri="{FF2B5EF4-FFF2-40B4-BE49-F238E27FC236}">
                  <a16:creationId xmlns:a16="http://schemas.microsoft.com/office/drawing/2014/main" id="{F48EE2C2-78FE-4303-AB24-557C97DF2C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741484" y="1441664"/>
              <a:ext cx="1155964" cy="777820"/>
            </a:xfrm>
            <a:prstGeom prst="rect">
              <a:avLst/>
            </a:prstGeom>
          </p:spPr>
        </p:pic>
      </p:grp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1075873C-3BD1-4980-9558-7DE2111E15EE}"/>
              </a:ext>
            </a:extLst>
          </p:cNvPr>
          <p:cNvCxnSpPr>
            <a:cxnSpLocks/>
            <a:stCxn id="83" idx="2"/>
            <a:endCxn id="210" idx="0"/>
          </p:cNvCxnSpPr>
          <p:nvPr/>
        </p:nvCxnSpPr>
        <p:spPr>
          <a:xfrm rot="16200000" flipH="1">
            <a:off x="9050804" y="-92921"/>
            <a:ext cx="396199" cy="21395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950F373-6202-4362-8FE9-E6D1949F1F42}"/>
              </a:ext>
            </a:extLst>
          </p:cNvPr>
          <p:cNvSpPr txBox="1"/>
          <p:nvPr/>
        </p:nvSpPr>
        <p:spPr>
          <a:xfrm>
            <a:off x="6688888" y="836236"/>
            <a:ext cx="68776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90%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38C6DCC-625A-4707-858F-F4494C772C9B}"/>
              </a:ext>
            </a:extLst>
          </p:cNvPr>
          <p:cNvSpPr txBox="1"/>
          <p:nvPr/>
        </p:nvSpPr>
        <p:spPr>
          <a:xfrm>
            <a:off x="8854728" y="813419"/>
            <a:ext cx="68776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10%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A61DDAB2-615E-4B23-A5AB-EDEE219E6D5F}"/>
              </a:ext>
            </a:extLst>
          </p:cNvPr>
          <p:cNvSpPr txBox="1"/>
          <p:nvPr/>
        </p:nvSpPr>
        <p:spPr>
          <a:xfrm>
            <a:off x="5295402" y="4573220"/>
            <a:ext cx="857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 h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CE76BAA-2D50-4A20-BC79-284344ECD8C6}"/>
              </a:ext>
            </a:extLst>
          </p:cNvPr>
          <p:cNvSpPr txBox="1"/>
          <p:nvPr/>
        </p:nvSpPr>
        <p:spPr>
          <a:xfrm>
            <a:off x="6033798" y="4573220"/>
            <a:ext cx="857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2 h</a:t>
            </a:r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F5233A23-2DE3-40E6-823E-63E47413C9D8}"/>
              </a:ext>
            </a:extLst>
          </p:cNvPr>
          <p:cNvGrpSpPr/>
          <p:nvPr/>
        </p:nvGrpSpPr>
        <p:grpSpPr>
          <a:xfrm>
            <a:off x="4308153" y="4180369"/>
            <a:ext cx="7626811" cy="526479"/>
            <a:chOff x="2739609" y="4381522"/>
            <a:chExt cx="7626811" cy="526479"/>
          </a:xfrm>
          <a:solidFill>
            <a:srgbClr val="FF00FF"/>
          </a:solidFill>
        </p:grpSpPr>
        <p:sp>
          <p:nvSpPr>
            <p:cNvPr id="160" name="Arrow: Right 159">
              <a:extLst>
                <a:ext uri="{FF2B5EF4-FFF2-40B4-BE49-F238E27FC236}">
                  <a16:creationId xmlns:a16="http://schemas.microsoft.com/office/drawing/2014/main" id="{5945EB6A-0F3D-49F8-ACF2-9D7408C4EE08}"/>
                </a:ext>
              </a:extLst>
            </p:cNvPr>
            <p:cNvSpPr/>
            <p:nvPr/>
          </p:nvSpPr>
          <p:spPr>
            <a:xfrm>
              <a:off x="9860221" y="4381522"/>
              <a:ext cx="506199" cy="526479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CDE8416E-B68D-4056-B1A5-D31AD4B0DD91}"/>
                </a:ext>
              </a:extLst>
            </p:cNvPr>
            <p:cNvSpPr/>
            <p:nvPr/>
          </p:nvSpPr>
          <p:spPr>
            <a:xfrm>
              <a:off x="9148305" y="4514892"/>
              <a:ext cx="711916" cy="26136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8EA65FFC-66BA-4C9B-98C3-6924B3A03F47}"/>
                </a:ext>
              </a:extLst>
            </p:cNvPr>
            <p:cNvSpPr/>
            <p:nvPr/>
          </p:nvSpPr>
          <p:spPr>
            <a:xfrm>
              <a:off x="8436389" y="4514892"/>
              <a:ext cx="711916" cy="26136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1C89A094-3C4B-4A8E-8F57-6B2C1DE8C7CF}"/>
                </a:ext>
              </a:extLst>
            </p:cNvPr>
            <p:cNvSpPr/>
            <p:nvPr/>
          </p:nvSpPr>
          <p:spPr>
            <a:xfrm>
              <a:off x="7725745" y="4514892"/>
              <a:ext cx="711916" cy="26136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839E2F10-B5BC-43FB-901E-3FF95A9C5E39}"/>
                </a:ext>
              </a:extLst>
            </p:cNvPr>
            <p:cNvSpPr/>
            <p:nvPr/>
          </p:nvSpPr>
          <p:spPr>
            <a:xfrm>
              <a:off x="7014465" y="4514892"/>
              <a:ext cx="711916" cy="26136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6A1C0919-4CBC-4AF6-B206-792233135D60}"/>
                </a:ext>
              </a:extLst>
            </p:cNvPr>
            <p:cNvSpPr/>
            <p:nvPr/>
          </p:nvSpPr>
          <p:spPr>
            <a:xfrm>
              <a:off x="6302231" y="4514892"/>
              <a:ext cx="711916" cy="26136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86E870C1-BDB4-4469-9F22-14FE3C09DE95}"/>
                </a:ext>
              </a:extLst>
            </p:cNvPr>
            <p:cNvSpPr/>
            <p:nvPr/>
          </p:nvSpPr>
          <p:spPr>
            <a:xfrm>
              <a:off x="5590156" y="4514892"/>
              <a:ext cx="711916" cy="26136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BC460A18-F7ED-425A-BF5E-DCFBB51130F6}"/>
                </a:ext>
              </a:extLst>
            </p:cNvPr>
            <p:cNvSpPr/>
            <p:nvPr/>
          </p:nvSpPr>
          <p:spPr>
            <a:xfrm>
              <a:off x="4878428" y="4514892"/>
              <a:ext cx="711916" cy="26136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674994DC-61B0-4ABA-93D6-A4A9AE9D55BE}"/>
                </a:ext>
              </a:extLst>
            </p:cNvPr>
            <p:cNvSpPr/>
            <p:nvPr/>
          </p:nvSpPr>
          <p:spPr>
            <a:xfrm>
              <a:off x="4165847" y="4514892"/>
              <a:ext cx="711916" cy="26136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FFB1E873-FCB3-4D53-A74E-8F43449EF1CD}"/>
                </a:ext>
              </a:extLst>
            </p:cNvPr>
            <p:cNvSpPr/>
            <p:nvPr/>
          </p:nvSpPr>
          <p:spPr>
            <a:xfrm>
              <a:off x="3452327" y="4514892"/>
              <a:ext cx="711916" cy="26136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F85F847C-85A7-44EF-AE0E-99215A326F45}"/>
                </a:ext>
              </a:extLst>
            </p:cNvPr>
            <p:cNvSpPr/>
            <p:nvPr/>
          </p:nvSpPr>
          <p:spPr>
            <a:xfrm>
              <a:off x="2739609" y="4514892"/>
              <a:ext cx="711916" cy="26136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5" name="TextBox 154">
            <a:extLst>
              <a:ext uri="{FF2B5EF4-FFF2-40B4-BE49-F238E27FC236}">
                <a16:creationId xmlns:a16="http://schemas.microsoft.com/office/drawing/2014/main" id="{FC7FB133-09E8-4DE5-890A-8AF6453DC047}"/>
              </a:ext>
            </a:extLst>
          </p:cNvPr>
          <p:cNvSpPr txBox="1"/>
          <p:nvPr/>
        </p:nvSpPr>
        <p:spPr>
          <a:xfrm>
            <a:off x="6714949" y="4573220"/>
            <a:ext cx="857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3 h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D0D2918A-3441-4A18-8079-104CE1A52880}"/>
              </a:ext>
            </a:extLst>
          </p:cNvPr>
          <p:cNvSpPr txBox="1"/>
          <p:nvPr/>
        </p:nvSpPr>
        <p:spPr>
          <a:xfrm>
            <a:off x="7441337" y="4573220"/>
            <a:ext cx="857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4 h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AA95F098-20C2-4B1A-AACE-E0021EACC105}"/>
              </a:ext>
            </a:extLst>
          </p:cNvPr>
          <p:cNvSpPr txBox="1"/>
          <p:nvPr/>
        </p:nvSpPr>
        <p:spPr>
          <a:xfrm>
            <a:off x="8126000" y="4573220"/>
            <a:ext cx="857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5 h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F8A13CF9-EFF9-4132-9B85-195BE983E728}"/>
              </a:ext>
            </a:extLst>
          </p:cNvPr>
          <p:cNvSpPr txBox="1"/>
          <p:nvPr/>
        </p:nvSpPr>
        <p:spPr>
          <a:xfrm>
            <a:off x="8810663" y="4573220"/>
            <a:ext cx="857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6 h</a:t>
            </a:r>
          </a:p>
        </p:txBody>
      </p:sp>
      <p:sp>
        <p:nvSpPr>
          <p:cNvPr id="172" name="IVF">
            <a:extLst>
              <a:ext uri="{FF2B5EF4-FFF2-40B4-BE49-F238E27FC236}">
                <a16:creationId xmlns:a16="http://schemas.microsoft.com/office/drawing/2014/main" id="{02CF5C49-9582-422E-A6BA-BFFE3F284E3D}"/>
              </a:ext>
            </a:extLst>
          </p:cNvPr>
          <p:cNvSpPr txBox="1"/>
          <p:nvPr/>
        </p:nvSpPr>
        <p:spPr>
          <a:xfrm>
            <a:off x="4307978" y="2814339"/>
            <a:ext cx="925240" cy="442674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8585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 dirty="0"/>
              <a:t>IVF</a:t>
            </a:r>
          </a:p>
        </p:txBody>
      </p:sp>
      <p:pic>
        <p:nvPicPr>
          <p:cNvPr id="173" name="Graphic 172" descr="Cursor with solid fill">
            <a:extLst>
              <a:ext uri="{FF2B5EF4-FFF2-40B4-BE49-F238E27FC236}">
                <a16:creationId xmlns:a16="http://schemas.microsoft.com/office/drawing/2014/main" id="{FB1A7070-D899-4E1E-B653-CD5CE37FEB3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083273" y="3118126"/>
            <a:ext cx="301752" cy="301752"/>
          </a:xfrm>
          <a:prstGeom prst="rect">
            <a:avLst/>
          </a:prstGeom>
        </p:spPr>
      </p:pic>
      <p:sp>
        <p:nvSpPr>
          <p:cNvPr id="175" name="Loops">
            <a:extLst>
              <a:ext uri="{FF2B5EF4-FFF2-40B4-BE49-F238E27FC236}">
                <a16:creationId xmlns:a16="http://schemas.microsoft.com/office/drawing/2014/main" id="{90A52B14-56E1-4536-8C15-F52919A9D994}"/>
              </a:ext>
            </a:extLst>
          </p:cNvPr>
          <p:cNvSpPr txBox="1"/>
          <p:nvPr/>
        </p:nvSpPr>
        <p:spPr>
          <a:xfrm>
            <a:off x="5477771" y="2808453"/>
            <a:ext cx="1664649" cy="442674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00E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 dirty="0"/>
              <a:t>Loop diuretic</a:t>
            </a:r>
          </a:p>
        </p:txBody>
      </p:sp>
      <p:pic>
        <p:nvPicPr>
          <p:cNvPr id="176" name="Graphic 175" descr="Cursor with solid fill">
            <a:extLst>
              <a:ext uri="{FF2B5EF4-FFF2-40B4-BE49-F238E27FC236}">
                <a16:creationId xmlns:a16="http://schemas.microsoft.com/office/drawing/2014/main" id="{8F65E0CE-C056-4409-89EF-1DAFD6837DC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992475" y="3117030"/>
            <a:ext cx="301752" cy="301752"/>
          </a:xfrm>
          <a:prstGeom prst="rect">
            <a:avLst/>
          </a:prstGeom>
        </p:spPr>
      </p:pic>
      <p:sp>
        <p:nvSpPr>
          <p:cNvPr id="180" name="HD">
            <a:extLst>
              <a:ext uri="{FF2B5EF4-FFF2-40B4-BE49-F238E27FC236}">
                <a16:creationId xmlns:a16="http://schemas.microsoft.com/office/drawing/2014/main" id="{B038D1A7-A983-4D50-897E-E6D7227CD517}"/>
              </a:ext>
            </a:extLst>
          </p:cNvPr>
          <p:cNvSpPr txBox="1"/>
          <p:nvPr/>
        </p:nvSpPr>
        <p:spPr>
          <a:xfrm>
            <a:off x="7331311" y="2797010"/>
            <a:ext cx="1362791" cy="442674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008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 dirty="0"/>
              <a:t>HD/ CRRT</a:t>
            </a:r>
          </a:p>
        </p:txBody>
      </p:sp>
      <p:pic>
        <p:nvPicPr>
          <p:cNvPr id="181" name="Graphic 180" descr="Cursor with solid fill">
            <a:extLst>
              <a:ext uri="{FF2B5EF4-FFF2-40B4-BE49-F238E27FC236}">
                <a16:creationId xmlns:a16="http://schemas.microsoft.com/office/drawing/2014/main" id="{C5070E92-86F5-4402-9E01-6BE0C0CB41E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28739" y="3092005"/>
            <a:ext cx="301752" cy="301752"/>
          </a:xfrm>
          <a:prstGeom prst="rect">
            <a:avLst/>
          </a:prstGeom>
        </p:spPr>
      </p:pic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454BD6D9-93B8-4385-921D-E0C16008DE40}"/>
              </a:ext>
            </a:extLst>
          </p:cNvPr>
          <p:cNvCxnSpPr>
            <a:cxnSpLocks/>
            <a:stCxn id="115" idx="2"/>
            <a:endCxn id="172" idx="0"/>
          </p:cNvCxnSpPr>
          <p:nvPr/>
        </p:nvCxnSpPr>
        <p:spPr>
          <a:xfrm rot="5400000">
            <a:off x="4973425" y="1864881"/>
            <a:ext cx="746632" cy="115228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" name="Connector: Elbow 184">
            <a:extLst>
              <a:ext uri="{FF2B5EF4-FFF2-40B4-BE49-F238E27FC236}">
                <a16:creationId xmlns:a16="http://schemas.microsoft.com/office/drawing/2014/main" id="{FBB8D30E-3916-4B9B-A2CC-710F8AB08B0D}"/>
              </a:ext>
            </a:extLst>
          </p:cNvPr>
          <p:cNvCxnSpPr>
            <a:cxnSpLocks/>
            <a:stCxn id="115" idx="2"/>
            <a:endCxn id="175" idx="0"/>
          </p:cNvCxnSpPr>
          <p:nvPr/>
        </p:nvCxnSpPr>
        <p:spPr>
          <a:xfrm rot="16200000" flipH="1">
            <a:off x="5746116" y="2244473"/>
            <a:ext cx="740746" cy="38721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6" name="Connector: Elbow 185">
            <a:extLst>
              <a:ext uri="{FF2B5EF4-FFF2-40B4-BE49-F238E27FC236}">
                <a16:creationId xmlns:a16="http://schemas.microsoft.com/office/drawing/2014/main" id="{78ADB01F-63E0-43C7-B2FF-46130A00930D}"/>
              </a:ext>
            </a:extLst>
          </p:cNvPr>
          <p:cNvCxnSpPr>
            <a:cxnSpLocks/>
            <a:stCxn id="115" idx="2"/>
            <a:endCxn id="180" idx="0"/>
          </p:cNvCxnSpPr>
          <p:nvPr/>
        </p:nvCxnSpPr>
        <p:spPr>
          <a:xfrm rot="16200000" flipH="1">
            <a:off x="6603144" y="1387446"/>
            <a:ext cx="729303" cy="208982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9" name="Graphic 208" descr="Cursor with solid fill">
            <a:extLst>
              <a:ext uri="{FF2B5EF4-FFF2-40B4-BE49-F238E27FC236}">
                <a16:creationId xmlns:a16="http://schemas.microsoft.com/office/drawing/2014/main" id="{02D10DDD-02A1-4FC9-B220-3067C33DA1E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82576" y="1918485"/>
            <a:ext cx="301752" cy="301752"/>
          </a:xfrm>
          <a:prstGeom prst="rect">
            <a:avLst/>
          </a:prstGeom>
        </p:spPr>
      </p:pic>
      <p:grpSp>
        <p:nvGrpSpPr>
          <p:cNvPr id="123" name="Gut">
            <a:extLst>
              <a:ext uri="{FF2B5EF4-FFF2-40B4-BE49-F238E27FC236}">
                <a16:creationId xmlns:a16="http://schemas.microsoft.com/office/drawing/2014/main" id="{35151DF1-C4AD-47A2-9780-674141AB8AA4}"/>
              </a:ext>
            </a:extLst>
          </p:cNvPr>
          <p:cNvGrpSpPr/>
          <p:nvPr/>
        </p:nvGrpSpPr>
        <p:grpSpPr>
          <a:xfrm>
            <a:off x="9621662" y="1174958"/>
            <a:ext cx="1394040" cy="936387"/>
            <a:chOff x="7983247" y="1406721"/>
            <a:chExt cx="1394040" cy="936387"/>
          </a:xfrm>
        </p:grpSpPr>
        <p:sp>
          <p:nvSpPr>
            <p:cNvPr id="210" name="Rectangle: Rounded Corners 209">
              <a:extLst>
                <a:ext uri="{FF2B5EF4-FFF2-40B4-BE49-F238E27FC236}">
                  <a16:creationId xmlns:a16="http://schemas.microsoft.com/office/drawing/2014/main" id="{39A67489-2688-4547-89A9-35F05F493F1D}"/>
                </a:ext>
              </a:extLst>
            </p:cNvPr>
            <p:cNvSpPr/>
            <p:nvPr/>
          </p:nvSpPr>
          <p:spPr>
            <a:xfrm>
              <a:off x="7983247" y="1406721"/>
              <a:ext cx="1394040" cy="936387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6" name="Picture 105" descr="A picture containing icon&#10;&#10;Description automatically generated">
              <a:extLst>
                <a:ext uri="{FF2B5EF4-FFF2-40B4-BE49-F238E27FC236}">
                  <a16:creationId xmlns:a16="http://schemas.microsoft.com/office/drawing/2014/main" id="{137B70A9-FAC4-49FD-B8DA-16458DBC21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115301" y="1487137"/>
              <a:ext cx="1117094" cy="781723"/>
            </a:xfrm>
            <a:prstGeom prst="rect">
              <a:avLst/>
            </a:prstGeom>
          </p:spPr>
        </p:pic>
      </p:grpSp>
      <p:pic>
        <p:nvPicPr>
          <p:cNvPr id="217" name="Graphic 216" descr="Cursor with solid fill">
            <a:extLst>
              <a:ext uri="{FF2B5EF4-FFF2-40B4-BE49-F238E27FC236}">
                <a16:creationId xmlns:a16="http://schemas.microsoft.com/office/drawing/2014/main" id="{29E929A9-678A-44BB-B7C9-2209D5D8DE0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35666" y="1966475"/>
            <a:ext cx="301752" cy="301752"/>
          </a:xfrm>
          <a:prstGeom prst="rect">
            <a:avLst/>
          </a:prstGeom>
        </p:spPr>
      </p:pic>
      <p:sp>
        <p:nvSpPr>
          <p:cNvPr id="219" name="TextBox 218">
            <a:extLst>
              <a:ext uri="{FF2B5EF4-FFF2-40B4-BE49-F238E27FC236}">
                <a16:creationId xmlns:a16="http://schemas.microsoft.com/office/drawing/2014/main" id="{2D145A78-4FCA-4A9E-84E5-7C52AD6DA294}"/>
              </a:ext>
            </a:extLst>
          </p:cNvPr>
          <p:cNvSpPr txBox="1"/>
          <p:nvPr/>
        </p:nvSpPr>
        <p:spPr>
          <a:xfrm>
            <a:off x="9533539" y="4573220"/>
            <a:ext cx="857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12 h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BB8DE4FF-E5B8-4725-B1F4-0C689DC61577}"/>
              </a:ext>
            </a:extLst>
          </p:cNvPr>
          <p:cNvSpPr txBox="1"/>
          <p:nvPr/>
        </p:nvSpPr>
        <p:spPr>
          <a:xfrm>
            <a:off x="10318682" y="4573220"/>
            <a:ext cx="857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24 h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275C46A4-7D3E-4AE6-AC3E-028322341944}"/>
              </a:ext>
            </a:extLst>
          </p:cNvPr>
          <p:cNvSpPr txBox="1"/>
          <p:nvPr/>
        </p:nvSpPr>
        <p:spPr>
          <a:xfrm>
            <a:off x="11041558" y="4573220"/>
            <a:ext cx="857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48 h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CB0F9ACB-4AE9-45B6-9B96-AF7DDCAD5CE6}"/>
              </a:ext>
            </a:extLst>
          </p:cNvPr>
          <p:cNvSpPr txBox="1"/>
          <p:nvPr/>
        </p:nvSpPr>
        <p:spPr>
          <a:xfrm>
            <a:off x="4622341" y="4590486"/>
            <a:ext cx="857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30 min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EB56DEB8-FFD8-49EA-A402-A5B2E948ED36}"/>
              </a:ext>
            </a:extLst>
          </p:cNvPr>
          <p:cNvSpPr/>
          <p:nvPr/>
        </p:nvSpPr>
        <p:spPr>
          <a:xfrm>
            <a:off x="5007962" y="5284864"/>
            <a:ext cx="4255976" cy="282005"/>
          </a:xfrm>
          <a:prstGeom prst="rect">
            <a:avLst/>
          </a:prstGeom>
          <a:solidFill>
            <a:srgbClr val="0000EE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Loops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2CCB77D-EAD8-4FD0-8565-83BC5045A954}"/>
              </a:ext>
            </a:extLst>
          </p:cNvPr>
          <p:cNvGrpSpPr/>
          <p:nvPr/>
        </p:nvGrpSpPr>
        <p:grpSpPr>
          <a:xfrm>
            <a:off x="4345929" y="5529845"/>
            <a:ext cx="7694494" cy="458089"/>
            <a:chOff x="2728946" y="5591280"/>
            <a:chExt cx="7694494" cy="458089"/>
          </a:xfrm>
        </p:grpSpPr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6AC929A9-FD19-403C-9601-285497FD8B1C}"/>
                </a:ext>
              </a:extLst>
            </p:cNvPr>
            <p:cNvSpPr/>
            <p:nvPr/>
          </p:nvSpPr>
          <p:spPr>
            <a:xfrm>
              <a:off x="3422630" y="5688444"/>
              <a:ext cx="2140401" cy="254581"/>
            </a:xfrm>
            <a:prstGeom prst="rect">
              <a:avLst/>
            </a:prstGeom>
            <a:solidFill>
              <a:srgbClr val="00008E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HD/CRRT</a:t>
              </a: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E7E99A05-AB28-43DD-B75C-BE9BE92414C8}"/>
                </a:ext>
              </a:extLst>
            </p:cNvPr>
            <p:cNvSpPr/>
            <p:nvPr/>
          </p:nvSpPr>
          <p:spPr>
            <a:xfrm>
              <a:off x="3249209" y="5688444"/>
              <a:ext cx="96103" cy="254581"/>
            </a:xfrm>
            <a:prstGeom prst="rect">
              <a:avLst/>
            </a:prstGeom>
            <a:solidFill>
              <a:srgbClr val="00008E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A64ADB34-3486-450E-80E5-C30A9A3BED82}"/>
                </a:ext>
              </a:extLst>
            </p:cNvPr>
            <p:cNvSpPr/>
            <p:nvPr/>
          </p:nvSpPr>
          <p:spPr>
            <a:xfrm>
              <a:off x="3075788" y="5688444"/>
              <a:ext cx="96103" cy="254581"/>
            </a:xfrm>
            <a:prstGeom prst="rect">
              <a:avLst/>
            </a:prstGeom>
            <a:solidFill>
              <a:srgbClr val="00008E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8D8EFAD5-6E8E-4206-A46F-6678E0F9B59F}"/>
                </a:ext>
              </a:extLst>
            </p:cNvPr>
            <p:cNvSpPr/>
            <p:nvPr/>
          </p:nvSpPr>
          <p:spPr>
            <a:xfrm>
              <a:off x="7201138" y="5688444"/>
              <a:ext cx="96103" cy="254581"/>
            </a:xfrm>
            <a:prstGeom prst="rect">
              <a:avLst/>
            </a:prstGeom>
            <a:solidFill>
              <a:srgbClr val="00008E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61CA36B8-8AC7-46EE-B172-2B19220D47FB}"/>
                </a:ext>
              </a:extLst>
            </p:cNvPr>
            <p:cNvSpPr/>
            <p:nvPr/>
          </p:nvSpPr>
          <p:spPr>
            <a:xfrm>
              <a:off x="7374559" y="5688444"/>
              <a:ext cx="96103" cy="254581"/>
            </a:xfrm>
            <a:prstGeom prst="rect">
              <a:avLst/>
            </a:prstGeom>
            <a:solidFill>
              <a:srgbClr val="00008E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6E29143C-D44E-4019-A710-CF1722BF36E6}"/>
                </a:ext>
              </a:extLst>
            </p:cNvPr>
            <p:cNvSpPr/>
            <p:nvPr/>
          </p:nvSpPr>
          <p:spPr>
            <a:xfrm>
              <a:off x="7547980" y="5688444"/>
              <a:ext cx="96103" cy="254581"/>
            </a:xfrm>
            <a:prstGeom prst="rect">
              <a:avLst/>
            </a:prstGeom>
            <a:solidFill>
              <a:srgbClr val="00008E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639840B2-C4AD-4E30-A8DA-B783EAA6F64C}"/>
                </a:ext>
              </a:extLst>
            </p:cNvPr>
            <p:cNvSpPr/>
            <p:nvPr/>
          </p:nvSpPr>
          <p:spPr>
            <a:xfrm>
              <a:off x="7721401" y="5688444"/>
              <a:ext cx="96103" cy="254581"/>
            </a:xfrm>
            <a:prstGeom prst="rect">
              <a:avLst/>
            </a:prstGeom>
            <a:solidFill>
              <a:srgbClr val="00008E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2A19B9A9-E284-440A-B1FB-BAC1D313D835}"/>
                </a:ext>
              </a:extLst>
            </p:cNvPr>
            <p:cNvSpPr/>
            <p:nvPr/>
          </p:nvSpPr>
          <p:spPr>
            <a:xfrm>
              <a:off x="7894822" y="5688444"/>
              <a:ext cx="96103" cy="254581"/>
            </a:xfrm>
            <a:prstGeom prst="rect">
              <a:avLst/>
            </a:prstGeom>
            <a:solidFill>
              <a:srgbClr val="00008E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ED93E8BC-23E1-4F57-8A5C-2E8FE28F155A}"/>
                </a:ext>
              </a:extLst>
            </p:cNvPr>
            <p:cNvSpPr/>
            <p:nvPr/>
          </p:nvSpPr>
          <p:spPr>
            <a:xfrm>
              <a:off x="8068243" y="5688444"/>
              <a:ext cx="96103" cy="254581"/>
            </a:xfrm>
            <a:prstGeom prst="rect">
              <a:avLst/>
            </a:prstGeom>
            <a:solidFill>
              <a:srgbClr val="00008E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4798A9BC-618D-4F7D-A0B2-14C7F79B1530}"/>
                </a:ext>
              </a:extLst>
            </p:cNvPr>
            <p:cNvSpPr/>
            <p:nvPr/>
          </p:nvSpPr>
          <p:spPr>
            <a:xfrm>
              <a:off x="8241664" y="5688444"/>
              <a:ext cx="96103" cy="254581"/>
            </a:xfrm>
            <a:prstGeom prst="rect">
              <a:avLst/>
            </a:prstGeom>
            <a:solidFill>
              <a:srgbClr val="00008E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ABE9CA36-F079-4CDB-B421-55806FBC097E}"/>
                </a:ext>
              </a:extLst>
            </p:cNvPr>
            <p:cNvSpPr/>
            <p:nvPr/>
          </p:nvSpPr>
          <p:spPr>
            <a:xfrm>
              <a:off x="5987191" y="5693034"/>
              <a:ext cx="96103" cy="254581"/>
            </a:xfrm>
            <a:prstGeom prst="rect">
              <a:avLst/>
            </a:prstGeom>
            <a:solidFill>
              <a:srgbClr val="00008E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D56CA373-438C-4226-A201-3F8FF24FE81B}"/>
                </a:ext>
              </a:extLst>
            </p:cNvPr>
            <p:cNvSpPr/>
            <p:nvPr/>
          </p:nvSpPr>
          <p:spPr>
            <a:xfrm>
              <a:off x="6160612" y="5693034"/>
              <a:ext cx="96103" cy="254581"/>
            </a:xfrm>
            <a:prstGeom prst="rect">
              <a:avLst/>
            </a:prstGeom>
            <a:solidFill>
              <a:srgbClr val="00008E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BD0EBBA7-FD29-4D9E-A332-981F9E63467D}"/>
                </a:ext>
              </a:extLst>
            </p:cNvPr>
            <p:cNvSpPr/>
            <p:nvPr/>
          </p:nvSpPr>
          <p:spPr>
            <a:xfrm>
              <a:off x="6334033" y="5693034"/>
              <a:ext cx="96103" cy="254581"/>
            </a:xfrm>
            <a:prstGeom prst="rect">
              <a:avLst/>
            </a:prstGeom>
            <a:solidFill>
              <a:srgbClr val="00008E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F493B6F5-73FE-4B52-B640-5AC638113191}"/>
                </a:ext>
              </a:extLst>
            </p:cNvPr>
            <p:cNvSpPr/>
            <p:nvPr/>
          </p:nvSpPr>
          <p:spPr>
            <a:xfrm>
              <a:off x="6507454" y="5693034"/>
              <a:ext cx="96103" cy="254581"/>
            </a:xfrm>
            <a:prstGeom prst="rect">
              <a:avLst/>
            </a:prstGeom>
            <a:solidFill>
              <a:srgbClr val="00008E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FA61C8A0-5F99-4F34-8F9A-C85C99A010AB}"/>
                </a:ext>
              </a:extLst>
            </p:cNvPr>
            <p:cNvSpPr/>
            <p:nvPr/>
          </p:nvSpPr>
          <p:spPr>
            <a:xfrm>
              <a:off x="6680875" y="5693034"/>
              <a:ext cx="96103" cy="254581"/>
            </a:xfrm>
            <a:prstGeom prst="rect">
              <a:avLst/>
            </a:prstGeom>
            <a:solidFill>
              <a:srgbClr val="00008E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A81385E8-B2C5-4BB2-AA16-355221922F1E}"/>
                </a:ext>
              </a:extLst>
            </p:cNvPr>
            <p:cNvSpPr/>
            <p:nvPr/>
          </p:nvSpPr>
          <p:spPr>
            <a:xfrm>
              <a:off x="6854296" y="5693034"/>
              <a:ext cx="96103" cy="254581"/>
            </a:xfrm>
            <a:prstGeom prst="rect">
              <a:avLst/>
            </a:prstGeom>
            <a:solidFill>
              <a:srgbClr val="00008E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4DDAEA23-AAD0-4910-84EC-0E0B55857A4B}"/>
                </a:ext>
              </a:extLst>
            </p:cNvPr>
            <p:cNvSpPr/>
            <p:nvPr/>
          </p:nvSpPr>
          <p:spPr>
            <a:xfrm>
              <a:off x="7027717" y="5693034"/>
              <a:ext cx="96103" cy="254581"/>
            </a:xfrm>
            <a:prstGeom prst="rect">
              <a:avLst/>
            </a:prstGeom>
            <a:solidFill>
              <a:srgbClr val="00008E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6489AF0C-C666-4444-919B-7BF7F7BCE2AC}"/>
                </a:ext>
              </a:extLst>
            </p:cNvPr>
            <p:cNvSpPr/>
            <p:nvPr/>
          </p:nvSpPr>
          <p:spPr>
            <a:xfrm>
              <a:off x="5640349" y="5693034"/>
              <a:ext cx="96103" cy="254581"/>
            </a:xfrm>
            <a:prstGeom prst="rect">
              <a:avLst/>
            </a:prstGeom>
            <a:solidFill>
              <a:srgbClr val="00008E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1FA9E402-7CD8-4064-9F1F-1FFD16B21170}"/>
                </a:ext>
              </a:extLst>
            </p:cNvPr>
            <p:cNvSpPr/>
            <p:nvPr/>
          </p:nvSpPr>
          <p:spPr>
            <a:xfrm>
              <a:off x="5813770" y="5693034"/>
              <a:ext cx="96103" cy="254581"/>
            </a:xfrm>
            <a:prstGeom prst="rect">
              <a:avLst/>
            </a:prstGeom>
            <a:solidFill>
              <a:srgbClr val="00008E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8184E118-D44E-4A06-BAB7-EDB453B90F6D}"/>
                </a:ext>
              </a:extLst>
            </p:cNvPr>
            <p:cNvSpPr/>
            <p:nvPr/>
          </p:nvSpPr>
          <p:spPr>
            <a:xfrm>
              <a:off x="2902367" y="5688444"/>
              <a:ext cx="96103" cy="254581"/>
            </a:xfrm>
            <a:prstGeom prst="rect">
              <a:avLst/>
            </a:prstGeom>
            <a:solidFill>
              <a:srgbClr val="00008E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82FD6A25-FB44-4C2A-BEC0-78D7741A2D84}"/>
                </a:ext>
              </a:extLst>
            </p:cNvPr>
            <p:cNvSpPr/>
            <p:nvPr/>
          </p:nvSpPr>
          <p:spPr>
            <a:xfrm>
              <a:off x="2728946" y="5688444"/>
              <a:ext cx="96103" cy="254581"/>
            </a:xfrm>
            <a:prstGeom prst="rect">
              <a:avLst/>
            </a:prstGeom>
            <a:solidFill>
              <a:srgbClr val="00008E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999FF1B3-2020-4D47-AD5F-11AE64A8B77C}"/>
                </a:ext>
              </a:extLst>
            </p:cNvPr>
            <p:cNvSpPr/>
            <p:nvPr/>
          </p:nvSpPr>
          <p:spPr>
            <a:xfrm>
              <a:off x="8761927" y="5686885"/>
              <a:ext cx="96103" cy="254581"/>
            </a:xfrm>
            <a:prstGeom prst="rect">
              <a:avLst/>
            </a:prstGeom>
            <a:solidFill>
              <a:srgbClr val="00008E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1B964D8B-4D60-49A3-9EC8-37C377E6C027}"/>
                </a:ext>
              </a:extLst>
            </p:cNvPr>
            <p:cNvSpPr/>
            <p:nvPr/>
          </p:nvSpPr>
          <p:spPr>
            <a:xfrm>
              <a:off x="8935348" y="5686885"/>
              <a:ext cx="96103" cy="254581"/>
            </a:xfrm>
            <a:prstGeom prst="rect">
              <a:avLst/>
            </a:prstGeom>
            <a:solidFill>
              <a:srgbClr val="00008E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7BDA251A-F3CE-425B-BA47-66B7B75E30E4}"/>
                </a:ext>
              </a:extLst>
            </p:cNvPr>
            <p:cNvSpPr/>
            <p:nvPr/>
          </p:nvSpPr>
          <p:spPr>
            <a:xfrm>
              <a:off x="9108769" y="5686885"/>
              <a:ext cx="96103" cy="254581"/>
            </a:xfrm>
            <a:prstGeom prst="rect">
              <a:avLst/>
            </a:prstGeom>
            <a:solidFill>
              <a:srgbClr val="00008E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EDE81637-31BA-4340-BDE3-5E02AE6C88A7}"/>
                </a:ext>
              </a:extLst>
            </p:cNvPr>
            <p:cNvSpPr/>
            <p:nvPr/>
          </p:nvSpPr>
          <p:spPr>
            <a:xfrm>
              <a:off x="9282190" y="5686885"/>
              <a:ext cx="96103" cy="254581"/>
            </a:xfrm>
            <a:prstGeom prst="rect">
              <a:avLst/>
            </a:prstGeom>
            <a:solidFill>
              <a:srgbClr val="00008E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ABCEAC06-F633-4CF3-8DF5-CBE2FDA3E230}"/>
                </a:ext>
              </a:extLst>
            </p:cNvPr>
            <p:cNvSpPr/>
            <p:nvPr/>
          </p:nvSpPr>
          <p:spPr>
            <a:xfrm>
              <a:off x="9455611" y="5686885"/>
              <a:ext cx="96103" cy="254581"/>
            </a:xfrm>
            <a:prstGeom prst="rect">
              <a:avLst/>
            </a:prstGeom>
            <a:solidFill>
              <a:srgbClr val="00008E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55E9C66E-1913-4ACB-B502-1CE1F82D67D6}"/>
                </a:ext>
              </a:extLst>
            </p:cNvPr>
            <p:cNvSpPr/>
            <p:nvPr/>
          </p:nvSpPr>
          <p:spPr>
            <a:xfrm>
              <a:off x="9629032" y="5686885"/>
              <a:ext cx="96103" cy="254581"/>
            </a:xfrm>
            <a:prstGeom prst="rect">
              <a:avLst/>
            </a:prstGeom>
            <a:solidFill>
              <a:srgbClr val="00008E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D7D211AA-7756-4461-9A30-96A86F793813}"/>
                </a:ext>
              </a:extLst>
            </p:cNvPr>
            <p:cNvSpPr/>
            <p:nvPr/>
          </p:nvSpPr>
          <p:spPr>
            <a:xfrm>
              <a:off x="8415085" y="5686885"/>
              <a:ext cx="96103" cy="254581"/>
            </a:xfrm>
            <a:prstGeom prst="rect">
              <a:avLst/>
            </a:prstGeom>
            <a:solidFill>
              <a:srgbClr val="00008E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198E3E2A-BFE0-4509-9974-76319A12902B}"/>
                </a:ext>
              </a:extLst>
            </p:cNvPr>
            <p:cNvSpPr/>
            <p:nvPr/>
          </p:nvSpPr>
          <p:spPr>
            <a:xfrm>
              <a:off x="8588506" y="5686885"/>
              <a:ext cx="96103" cy="254581"/>
            </a:xfrm>
            <a:prstGeom prst="rect">
              <a:avLst/>
            </a:prstGeom>
            <a:solidFill>
              <a:srgbClr val="00008E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58" name="Arrow: Right 257">
              <a:extLst>
                <a:ext uri="{FF2B5EF4-FFF2-40B4-BE49-F238E27FC236}">
                  <a16:creationId xmlns:a16="http://schemas.microsoft.com/office/drawing/2014/main" id="{16D2AE13-FD7A-423A-BE59-75B964BB97C4}"/>
                </a:ext>
              </a:extLst>
            </p:cNvPr>
            <p:cNvSpPr/>
            <p:nvPr/>
          </p:nvSpPr>
          <p:spPr>
            <a:xfrm>
              <a:off x="9802448" y="5591280"/>
              <a:ext cx="620992" cy="458089"/>
            </a:xfrm>
            <a:prstGeom prst="rightArrow">
              <a:avLst>
                <a:gd name="adj1" fmla="val 56278"/>
                <a:gd name="adj2" fmla="val 35969"/>
              </a:avLst>
            </a:prstGeom>
            <a:solidFill>
              <a:srgbClr val="0000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190" name="TextBox 189">
            <a:extLst>
              <a:ext uri="{FF2B5EF4-FFF2-40B4-BE49-F238E27FC236}">
                <a16:creationId xmlns:a16="http://schemas.microsoft.com/office/drawing/2014/main" id="{33BAC655-AD39-4390-8BBB-1B9754F3FACA}"/>
              </a:ext>
            </a:extLst>
          </p:cNvPr>
          <p:cNvSpPr txBox="1"/>
          <p:nvPr/>
        </p:nvSpPr>
        <p:spPr>
          <a:xfrm>
            <a:off x="4110164" y="3313435"/>
            <a:ext cx="13305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</a:t>
            </a:r>
            <a:r>
              <a:rPr lang="en-US" sz="1600" baseline="30000" dirty="0"/>
              <a:t>st</a:t>
            </a:r>
            <a:r>
              <a:rPr lang="en-US" sz="1600" dirty="0"/>
              <a:t> line if ↓V</a:t>
            </a:r>
          </a:p>
          <a:p>
            <a:pPr algn="ctr"/>
            <a:r>
              <a:rPr lang="en-US" sz="1600" dirty="0"/>
              <a:t>+ loops if euvolemic 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8FEDCBFF-1154-43BD-85F2-D731C025BE08}"/>
              </a:ext>
            </a:extLst>
          </p:cNvPr>
          <p:cNvSpPr txBox="1"/>
          <p:nvPr/>
        </p:nvSpPr>
        <p:spPr>
          <a:xfrm>
            <a:off x="5451368" y="3316869"/>
            <a:ext cx="1691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IV 40-160 mg</a:t>
            </a:r>
          </a:p>
          <a:p>
            <a:pPr algn="ctr"/>
            <a:r>
              <a:rPr lang="en-US" sz="1600" dirty="0"/>
              <a:t>1</a:t>
            </a:r>
            <a:r>
              <a:rPr lang="en-US" sz="1600" baseline="30000" dirty="0"/>
              <a:t>st</a:t>
            </a:r>
            <a:r>
              <a:rPr lang="en-US" sz="1600" dirty="0"/>
              <a:t> line if ↑V</a:t>
            </a:r>
          </a:p>
          <a:p>
            <a:pPr algn="ctr"/>
            <a:r>
              <a:rPr lang="en-US" sz="1600" dirty="0"/>
              <a:t>+ IVF if euvolemic 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2F638F15-7013-44E6-93CB-C91FE4F55DF7}"/>
              </a:ext>
            </a:extLst>
          </p:cNvPr>
          <p:cNvSpPr txBox="1"/>
          <p:nvPr/>
        </p:nvSpPr>
        <p:spPr>
          <a:xfrm>
            <a:off x="7182001" y="3313435"/>
            <a:ext cx="17097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Used in acute or chronic renal failure</a:t>
            </a:r>
          </a:p>
        </p:txBody>
      </p:sp>
      <p:sp>
        <p:nvSpPr>
          <p:cNvPr id="263" name="Patiromer">
            <a:extLst>
              <a:ext uri="{FF2B5EF4-FFF2-40B4-BE49-F238E27FC236}">
                <a16:creationId xmlns:a16="http://schemas.microsoft.com/office/drawing/2014/main" id="{2A7B4555-C452-4FDE-BD73-0424DCF6E9D2}"/>
              </a:ext>
            </a:extLst>
          </p:cNvPr>
          <p:cNvSpPr txBox="1"/>
          <p:nvPr/>
        </p:nvSpPr>
        <p:spPr>
          <a:xfrm>
            <a:off x="9001241" y="2794668"/>
            <a:ext cx="1362791" cy="44267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 dirty="0" err="1"/>
              <a:t>Lokelma</a:t>
            </a:r>
            <a:endParaRPr lang="en-US" sz="2000" b="1" dirty="0"/>
          </a:p>
        </p:txBody>
      </p:sp>
      <p:pic>
        <p:nvPicPr>
          <p:cNvPr id="264" name="Graphic 263" descr="Cursor with solid fill">
            <a:extLst>
              <a:ext uri="{FF2B5EF4-FFF2-40B4-BE49-F238E27FC236}">
                <a16:creationId xmlns:a16="http://schemas.microsoft.com/office/drawing/2014/main" id="{D12DFB13-4BC7-4877-BDF4-D91BF39FC12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207663" y="3090279"/>
            <a:ext cx="301752" cy="301752"/>
          </a:xfrm>
          <a:prstGeom prst="rect">
            <a:avLst/>
          </a:prstGeom>
        </p:spPr>
      </p:pic>
      <p:sp>
        <p:nvSpPr>
          <p:cNvPr id="266" name="Kayexalate">
            <a:extLst>
              <a:ext uri="{FF2B5EF4-FFF2-40B4-BE49-F238E27FC236}">
                <a16:creationId xmlns:a16="http://schemas.microsoft.com/office/drawing/2014/main" id="{66013F80-C025-4906-9862-98E6D36270BA}"/>
              </a:ext>
            </a:extLst>
          </p:cNvPr>
          <p:cNvSpPr txBox="1"/>
          <p:nvPr/>
        </p:nvSpPr>
        <p:spPr>
          <a:xfrm>
            <a:off x="10522892" y="2791441"/>
            <a:ext cx="1395442" cy="44267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 dirty="0" err="1"/>
              <a:t>Kayexalate</a:t>
            </a:r>
            <a:endParaRPr lang="en-US" sz="2000" b="1" dirty="0"/>
          </a:p>
        </p:txBody>
      </p:sp>
      <p:pic>
        <p:nvPicPr>
          <p:cNvPr id="267" name="Graphic 266" descr="Cursor with solid fill">
            <a:extLst>
              <a:ext uri="{FF2B5EF4-FFF2-40B4-BE49-F238E27FC236}">
                <a16:creationId xmlns:a16="http://schemas.microsoft.com/office/drawing/2014/main" id="{1A155EFC-6964-4CFC-BA01-7783BB0E307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752970" y="3086436"/>
            <a:ext cx="301752" cy="301752"/>
          </a:xfrm>
          <a:prstGeom prst="rect">
            <a:avLst/>
          </a:prstGeom>
        </p:spPr>
      </p:pic>
      <p:cxnSp>
        <p:nvCxnSpPr>
          <p:cNvPr id="270" name="Connector: Elbow 269">
            <a:extLst>
              <a:ext uri="{FF2B5EF4-FFF2-40B4-BE49-F238E27FC236}">
                <a16:creationId xmlns:a16="http://schemas.microsoft.com/office/drawing/2014/main" id="{92483260-E93C-485E-AB75-B3E59E788E37}"/>
              </a:ext>
            </a:extLst>
          </p:cNvPr>
          <p:cNvCxnSpPr>
            <a:cxnSpLocks/>
            <a:stCxn id="210" idx="2"/>
            <a:endCxn id="266" idx="0"/>
          </p:cNvCxnSpPr>
          <p:nvPr/>
        </p:nvCxnSpPr>
        <p:spPr>
          <a:xfrm rot="16200000" flipH="1">
            <a:off x="10429599" y="2000427"/>
            <a:ext cx="680096" cy="9019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4" name="Connector: Elbow 273">
            <a:extLst>
              <a:ext uri="{FF2B5EF4-FFF2-40B4-BE49-F238E27FC236}">
                <a16:creationId xmlns:a16="http://schemas.microsoft.com/office/drawing/2014/main" id="{448B630E-76FB-4441-8C87-0CE4B92B9CAD}"/>
              </a:ext>
            </a:extLst>
          </p:cNvPr>
          <p:cNvCxnSpPr>
            <a:cxnSpLocks/>
            <a:stCxn id="210" idx="2"/>
            <a:endCxn id="263" idx="0"/>
          </p:cNvCxnSpPr>
          <p:nvPr/>
        </p:nvCxnSpPr>
        <p:spPr>
          <a:xfrm rot="5400000">
            <a:off x="9658999" y="2134984"/>
            <a:ext cx="683323" cy="63604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7" name="Rectangle 276">
            <a:extLst>
              <a:ext uri="{FF2B5EF4-FFF2-40B4-BE49-F238E27FC236}">
                <a16:creationId xmlns:a16="http://schemas.microsoft.com/office/drawing/2014/main" id="{C0C0D8EC-E9CB-4C46-AB83-A300F2223812}"/>
              </a:ext>
            </a:extLst>
          </p:cNvPr>
          <p:cNvSpPr/>
          <p:nvPr/>
        </p:nvSpPr>
        <p:spPr>
          <a:xfrm>
            <a:off x="9857790" y="2221963"/>
            <a:ext cx="1026423" cy="5014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/>
              <a:t>Bind free K+ in gut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A7039190-C7BB-41DE-9E2A-06D9B1F34E63}"/>
              </a:ext>
            </a:extLst>
          </p:cNvPr>
          <p:cNvSpPr txBox="1"/>
          <p:nvPr/>
        </p:nvSpPr>
        <p:spPr>
          <a:xfrm>
            <a:off x="8956896" y="3315556"/>
            <a:ext cx="15171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$$$</a:t>
            </a:r>
          </a:p>
          <a:p>
            <a:pPr algn="ctr"/>
            <a:r>
              <a:rPr lang="en-US" sz="1600" dirty="0"/>
              <a:t>Large Na load</a:t>
            </a:r>
          </a:p>
          <a:p>
            <a:pPr algn="ctr"/>
            <a:r>
              <a:rPr lang="en-US" sz="1600" dirty="0"/>
              <a:t>Limited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067252-DC12-4A2B-A5A5-6512BE82FBE8}"/>
              </a:ext>
            </a:extLst>
          </p:cNvPr>
          <p:cNvGrpSpPr/>
          <p:nvPr/>
        </p:nvGrpSpPr>
        <p:grpSpPr>
          <a:xfrm>
            <a:off x="5732787" y="5853746"/>
            <a:ext cx="6307636" cy="458089"/>
            <a:chOff x="4115804" y="5915181"/>
            <a:chExt cx="6307636" cy="458089"/>
          </a:xfrm>
        </p:grpSpPr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ACE11088-00DE-4B9F-B7B1-B1071A5BB124}"/>
                </a:ext>
              </a:extLst>
            </p:cNvPr>
            <p:cNvSpPr/>
            <p:nvPr/>
          </p:nvSpPr>
          <p:spPr>
            <a:xfrm>
              <a:off x="4115804" y="6012345"/>
              <a:ext cx="2280738" cy="25302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bg1"/>
                  </a:solidFill>
                </a:rPr>
                <a:t>Lokelma</a:t>
              </a:r>
              <a:r>
                <a:rPr lang="en-US" dirty="0">
                  <a:solidFill>
                    <a:schemeClr val="bg1"/>
                  </a:solidFill>
                </a:rPr>
                <a:t> 10 g TID</a:t>
              </a:r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3BF3FC57-85C0-4C59-B143-0074BDD0868C}"/>
                </a:ext>
              </a:extLst>
            </p:cNvPr>
            <p:cNvSpPr/>
            <p:nvPr/>
          </p:nvSpPr>
          <p:spPr>
            <a:xfrm>
              <a:off x="7175939" y="6012345"/>
              <a:ext cx="96103" cy="25458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8CE92DC4-94D4-4BBD-B990-397623B0BEA5}"/>
                </a:ext>
              </a:extLst>
            </p:cNvPr>
            <p:cNvSpPr/>
            <p:nvPr/>
          </p:nvSpPr>
          <p:spPr>
            <a:xfrm>
              <a:off x="7351039" y="6012345"/>
              <a:ext cx="96103" cy="25458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0FAFC46B-F8E4-4ACA-A960-7D98F660A35B}"/>
                </a:ext>
              </a:extLst>
            </p:cNvPr>
            <p:cNvSpPr/>
            <p:nvPr/>
          </p:nvSpPr>
          <p:spPr>
            <a:xfrm>
              <a:off x="7526139" y="6012345"/>
              <a:ext cx="96103" cy="25458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B825BE7B-6A4C-4369-97B9-179629FA7F8F}"/>
                </a:ext>
              </a:extLst>
            </p:cNvPr>
            <p:cNvSpPr/>
            <p:nvPr/>
          </p:nvSpPr>
          <p:spPr>
            <a:xfrm>
              <a:off x="7701239" y="6012345"/>
              <a:ext cx="96103" cy="25458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6DBF0E87-35EA-45E2-9460-960D47A644F7}"/>
                </a:ext>
              </a:extLst>
            </p:cNvPr>
            <p:cNvSpPr/>
            <p:nvPr/>
          </p:nvSpPr>
          <p:spPr>
            <a:xfrm>
              <a:off x="7876339" y="6012345"/>
              <a:ext cx="96103" cy="25458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970BA640-F6E7-4A28-8EF9-18B94A20DF42}"/>
                </a:ext>
              </a:extLst>
            </p:cNvPr>
            <p:cNvSpPr/>
            <p:nvPr/>
          </p:nvSpPr>
          <p:spPr>
            <a:xfrm>
              <a:off x="8051439" y="6012345"/>
              <a:ext cx="96103" cy="25458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E4F643AD-1346-47C2-9C55-6A07002CCE0E}"/>
                </a:ext>
              </a:extLst>
            </p:cNvPr>
            <p:cNvSpPr/>
            <p:nvPr/>
          </p:nvSpPr>
          <p:spPr>
            <a:xfrm>
              <a:off x="8226539" y="6012345"/>
              <a:ext cx="96103" cy="25458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605F688A-524E-41A0-81EF-9FEB9F4E851A}"/>
                </a:ext>
              </a:extLst>
            </p:cNvPr>
            <p:cNvSpPr/>
            <p:nvPr/>
          </p:nvSpPr>
          <p:spPr>
            <a:xfrm>
              <a:off x="6475539" y="6016935"/>
              <a:ext cx="96103" cy="25458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962D6533-BEEA-400D-B9D7-384EFE201DAF}"/>
                </a:ext>
              </a:extLst>
            </p:cNvPr>
            <p:cNvSpPr/>
            <p:nvPr/>
          </p:nvSpPr>
          <p:spPr>
            <a:xfrm>
              <a:off x="6650639" y="6016935"/>
              <a:ext cx="96103" cy="25458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51685F3E-6B3E-4054-946E-D3BC5B63DA5E}"/>
                </a:ext>
              </a:extLst>
            </p:cNvPr>
            <p:cNvSpPr/>
            <p:nvPr/>
          </p:nvSpPr>
          <p:spPr>
            <a:xfrm>
              <a:off x="6825739" y="6016935"/>
              <a:ext cx="96103" cy="25458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5C152E55-69A5-447B-8B26-6F7B29142C1B}"/>
                </a:ext>
              </a:extLst>
            </p:cNvPr>
            <p:cNvSpPr/>
            <p:nvPr/>
          </p:nvSpPr>
          <p:spPr>
            <a:xfrm>
              <a:off x="7000839" y="6016935"/>
              <a:ext cx="96103" cy="25458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73FFBDAB-A645-4BB5-8215-296CB83D59AC}"/>
                </a:ext>
              </a:extLst>
            </p:cNvPr>
            <p:cNvSpPr/>
            <p:nvPr/>
          </p:nvSpPr>
          <p:spPr>
            <a:xfrm>
              <a:off x="8751839" y="6010786"/>
              <a:ext cx="96103" cy="25458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B445581E-956E-44F6-BE43-7EDA33BD5DA0}"/>
                </a:ext>
              </a:extLst>
            </p:cNvPr>
            <p:cNvSpPr/>
            <p:nvPr/>
          </p:nvSpPr>
          <p:spPr>
            <a:xfrm>
              <a:off x="8926939" y="6010786"/>
              <a:ext cx="96103" cy="25458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EA8F3324-54A4-4552-B530-C3B429E8AFAB}"/>
                </a:ext>
              </a:extLst>
            </p:cNvPr>
            <p:cNvSpPr/>
            <p:nvPr/>
          </p:nvSpPr>
          <p:spPr>
            <a:xfrm>
              <a:off x="9102039" y="6010786"/>
              <a:ext cx="96103" cy="25458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0947B443-7A91-47D9-B7F2-7DF07585CFD4}"/>
                </a:ext>
              </a:extLst>
            </p:cNvPr>
            <p:cNvSpPr/>
            <p:nvPr/>
          </p:nvSpPr>
          <p:spPr>
            <a:xfrm>
              <a:off x="9277139" y="6010786"/>
              <a:ext cx="96103" cy="25458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AAEA2B0C-DE09-4A53-AB5A-58E03CD233F9}"/>
                </a:ext>
              </a:extLst>
            </p:cNvPr>
            <p:cNvSpPr/>
            <p:nvPr/>
          </p:nvSpPr>
          <p:spPr>
            <a:xfrm>
              <a:off x="9452239" y="6010786"/>
              <a:ext cx="96103" cy="25458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45AD8E1B-4BF1-480C-A8FB-108E8FD3ADE1}"/>
                </a:ext>
              </a:extLst>
            </p:cNvPr>
            <p:cNvSpPr/>
            <p:nvPr/>
          </p:nvSpPr>
          <p:spPr>
            <a:xfrm>
              <a:off x="9627339" y="6010786"/>
              <a:ext cx="96103" cy="25458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AC816B1D-3961-4639-8C48-BC5DB57E9BA0}"/>
                </a:ext>
              </a:extLst>
            </p:cNvPr>
            <p:cNvSpPr/>
            <p:nvPr/>
          </p:nvSpPr>
          <p:spPr>
            <a:xfrm>
              <a:off x="8401639" y="6010786"/>
              <a:ext cx="96103" cy="25458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B86BCA8E-3B2F-491A-A2F7-9AC8AFDCBEAF}"/>
                </a:ext>
              </a:extLst>
            </p:cNvPr>
            <p:cNvSpPr/>
            <p:nvPr/>
          </p:nvSpPr>
          <p:spPr>
            <a:xfrm>
              <a:off x="8576739" y="6010786"/>
              <a:ext cx="96103" cy="25458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5" name="Arrow: Right 284">
              <a:extLst>
                <a:ext uri="{FF2B5EF4-FFF2-40B4-BE49-F238E27FC236}">
                  <a16:creationId xmlns:a16="http://schemas.microsoft.com/office/drawing/2014/main" id="{A03F15BF-0D14-4141-8E05-EA4D5BD8B448}"/>
                </a:ext>
              </a:extLst>
            </p:cNvPr>
            <p:cNvSpPr/>
            <p:nvPr/>
          </p:nvSpPr>
          <p:spPr>
            <a:xfrm>
              <a:off x="9802448" y="5915181"/>
              <a:ext cx="620992" cy="458089"/>
            </a:xfrm>
            <a:prstGeom prst="rightArrow">
              <a:avLst>
                <a:gd name="adj1" fmla="val 56278"/>
                <a:gd name="adj2" fmla="val 35969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0356936-C801-4BDE-86AF-825DA5925423}"/>
              </a:ext>
            </a:extLst>
          </p:cNvPr>
          <p:cNvGrpSpPr/>
          <p:nvPr/>
        </p:nvGrpSpPr>
        <p:grpSpPr>
          <a:xfrm>
            <a:off x="8083021" y="6192899"/>
            <a:ext cx="3947901" cy="458089"/>
            <a:chOff x="6466038" y="6254334"/>
            <a:chExt cx="3947901" cy="458089"/>
          </a:xfrm>
        </p:grpSpPr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D0157273-373D-4309-BABA-CDDF6EBD1DE1}"/>
                </a:ext>
              </a:extLst>
            </p:cNvPr>
            <p:cNvSpPr/>
            <p:nvPr/>
          </p:nvSpPr>
          <p:spPr>
            <a:xfrm>
              <a:off x="7166438" y="6351498"/>
              <a:ext cx="96103" cy="254581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CC2DEFC9-3631-42D1-B231-2FF155F2CE42}"/>
                </a:ext>
              </a:extLst>
            </p:cNvPr>
            <p:cNvSpPr/>
            <p:nvPr/>
          </p:nvSpPr>
          <p:spPr>
            <a:xfrm>
              <a:off x="7341538" y="6351498"/>
              <a:ext cx="96103" cy="254581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id="{713987F7-602E-4D8D-B438-A73745F8842D}"/>
                </a:ext>
              </a:extLst>
            </p:cNvPr>
            <p:cNvSpPr/>
            <p:nvPr/>
          </p:nvSpPr>
          <p:spPr>
            <a:xfrm>
              <a:off x="7516638" y="6351498"/>
              <a:ext cx="96103" cy="254581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F3655B5A-8E07-4C40-9A31-0CCB3F3444F8}"/>
                </a:ext>
              </a:extLst>
            </p:cNvPr>
            <p:cNvSpPr/>
            <p:nvPr/>
          </p:nvSpPr>
          <p:spPr>
            <a:xfrm>
              <a:off x="7691738" y="6351498"/>
              <a:ext cx="96103" cy="254581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03F1270A-8E72-426A-897C-18347C952F96}"/>
                </a:ext>
              </a:extLst>
            </p:cNvPr>
            <p:cNvSpPr/>
            <p:nvPr/>
          </p:nvSpPr>
          <p:spPr>
            <a:xfrm>
              <a:off x="7866838" y="6351498"/>
              <a:ext cx="96103" cy="254581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2FC037EA-3368-4C6F-AC9D-12CB2ADC5C51}"/>
                </a:ext>
              </a:extLst>
            </p:cNvPr>
            <p:cNvSpPr/>
            <p:nvPr/>
          </p:nvSpPr>
          <p:spPr>
            <a:xfrm>
              <a:off x="8041938" y="6351498"/>
              <a:ext cx="96103" cy="254581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40" name="Rectangle 339">
              <a:extLst>
                <a:ext uri="{FF2B5EF4-FFF2-40B4-BE49-F238E27FC236}">
                  <a16:creationId xmlns:a16="http://schemas.microsoft.com/office/drawing/2014/main" id="{B5CB205F-E7D0-4CDF-9A85-68F86EAE12D5}"/>
                </a:ext>
              </a:extLst>
            </p:cNvPr>
            <p:cNvSpPr/>
            <p:nvPr/>
          </p:nvSpPr>
          <p:spPr>
            <a:xfrm>
              <a:off x="8217038" y="6351498"/>
              <a:ext cx="96103" cy="254581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815A3404-9528-47F2-8D22-239DB2E3AB28}"/>
                </a:ext>
              </a:extLst>
            </p:cNvPr>
            <p:cNvSpPr/>
            <p:nvPr/>
          </p:nvSpPr>
          <p:spPr>
            <a:xfrm>
              <a:off x="6466038" y="6356088"/>
              <a:ext cx="96103" cy="254581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ED7C18B1-4855-4A9A-80E3-7FDB082B697F}"/>
                </a:ext>
              </a:extLst>
            </p:cNvPr>
            <p:cNvSpPr/>
            <p:nvPr/>
          </p:nvSpPr>
          <p:spPr>
            <a:xfrm>
              <a:off x="6641138" y="6356088"/>
              <a:ext cx="96103" cy="254581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B272C4C5-57E7-4211-A572-FE3BC08A15E2}"/>
                </a:ext>
              </a:extLst>
            </p:cNvPr>
            <p:cNvSpPr/>
            <p:nvPr/>
          </p:nvSpPr>
          <p:spPr>
            <a:xfrm>
              <a:off x="6816238" y="6356088"/>
              <a:ext cx="96103" cy="254581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32" name="Rectangle 331">
              <a:extLst>
                <a:ext uri="{FF2B5EF4-FFF2-40B4-BE49-F238E27FC236}">
                  <a16:creationId xmlns:a16="http://schemas.microsoft.com/office/drawing/2014/main" id="{50FC6E24-3DF8-4B13-9018-FA10024A7B65}"/>
                </a:ext>
              </a:extLst>
            </p:cNvPr>
            <p:cNvSpPr/>
            <p:nvPr/>
          </p:nvSpPr>
          <p:spPr>
            <a:xfrm>
              <a:off x="6991338" y="6356088"/>
              <a:ext cx="96103" cy="254581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659A0DCB-6343-458D-8DAE-9413DB8E4981}"/>
                </a:ext>
              </a:extLst>
            </p:cNvPr>
            <p:cNvSpPr/>
            <p:nvPr/>
          </p:nvSpPr>
          <p:spPr>
            <a:xfrm>
              <a:off x="8742338" y="6349939"/>
              <a:ext cx="96103" cy="254581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32120946-6A39-4F8A-978E-AC1D4DDA946E}"/>
                </a:ext>
              </a:extLst>
            </p:cNvPr>
            <p:cNvSpPr/>
            <p:nvPr/>
          </p:nvSpPr>
          <p:spPr>
            <a:xfrm>
              <a:off x="8917438" y="6349939"/>
              <a:ext cx="96103" cy="254581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1E5F10C7-BDDA-4D26-BEDB-DDBDDE85CC91}"/>
                </a:ext>
              </a:extLst>
            </p:cNvPr>
            <p:cNvSpPr/>
            <p:nvPr/>
          </p:nvSpPr>
          <p:spPr>
            <a:xfrm>
              <a:off x="9092538" y="6349939"/>
              <a:ext cx="96103" cy="254581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25708852-CE3D-4C2D-943A-CD029C24CC64}"/>
                </a:ext>
              </a:extLst>
            </p:cNvPr>
            <p:cNvSpPr/>
            <p:nvPr/>
          </p:nvSpPr>
          <p:spPr>
            <a:xfrm>
              <a:off x="9267638" y="6349939"/>
              <a:ext cx="96103" cy="254581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25" name="Rectangle 324">
              <a:extLst>
                <a:ext uri="{FF2B5EF4-FFF2-40B4-BE49-F238E27FC236}">
                  <a16:creationId xmlns:a16="http://schemas.microsoft.com/office/drawing/2014/main" id="{A98B2572-E28C-4339-8095-35C723A5E5EF}"/>
                </a:ext>
              </a:extLst>
            </p:cNvPr>
            <p:cNvSpPr/>
            <p:nvPr/>
          </p:nvSpPr>
          <p:spPr>
            <a:xfrm>
              <a:off x="9442738" y="6349939"/>
              <a:ext cx="96103" cy="254581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E7F9D1EE-A206-4D4B-9331-3EF86FD8A491}"/>
                </a:ext>
              </a:extLst>
            </p:cNvPr>
            <p:cNvSpPr/>
            <p:nvPr/>
          </p:nvSpPr>
          <p:spPr>
            <a:xfrm>
              <a:off x="9617838" y="6349939"/>
              <a:ext cx="96103" cy="254581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27" name="Rectangle 326">
              <a:extLst>
                <a:ext uri="{FF2B5EF4-FFF2-40B4-BE49-F238E27FC236}">
                  <a16:creationId xmlns:a16="http://schemas.microsoft.com/office/drawing/2014/main" id="{D6A62B61-6EAC-4B59-9980-80F67A21F19F}"/>
                </a:ext>
              </a:extLst>
            </p:cNvPr>
            <p:cNvSpPr/>
            <p:nvPr/>
          </p:nvSpPr>
          <p:spPr>
            <a:xfrm>
              <a:off x="8392138" y="6349939"/>
              <a:ext cx="96103" cy="254581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28" name="Rectangle 327">
              <a:extLst>
                <a:ext uri="{FF2B5EF4-FFF2-40B4-BE49-F238E27FC236}">
                  <a16:creationId xmlns:a16="http://schemas.microsoft.com/office/drawing/2014/main" id="{61BA7291-6D60-4BD2-B671-681563AA9478}"/>
                </a:ext>
              </a:extLst>
            </p:cNvPr>
            <p:cNvSpPr/>
            <p:nvPr/>
          </p:nvSpPr>
          <p:spPr>
            <a:xfrm>
              <a:off x="8567238" y="6349939"/>
              <a:ext cx="96103" cy="254581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20" name="Arrow: Right 319">
              <a:extLst>
                <a:ext uri="{FF2B5EF4-FFF2-40B4-BE49-F238E27FC236}">
                  <a16:creationId xmlns:a16="http://schemas.microsoft.com/office/drawing/2014/main" id="{5AD60676-77DF-4FFA-B4CB-53EA686ACB90}"/>
                </a:ext>
              </a:extLst>
            </p:cNvPr>
            <p:cNvSpPr/>
            <p:nvPr/>
          </p:nvSpPr>
          <p:spPr>
            <a:xfrm>
              <a:off x="9792947" y="6254334"/>
              <a:ext cx="620992" cy="458089"/>
            </a:xfrm>
            <a:prstGeom prst="rightArrow">
              <a:avLst>
                <a:gd name="adj1" fmla="val 56278"/>
                <a:gd name="adj2" fmla="val 35969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341" name="TextBox 340">
            <a:extLst>
              <a:ext uri="{FF2B5EF4-FFF2-40B4-BE49-F238E27FC236}">
                <a16:creationId xmlns:a16="http://schemas.microsoft.com/office/drawing/2014/main" id="{C5B08431-9238-4BAB-85BE-EFA80E996E9E}"/>
              </a:ext>
            </a:extLst>
          </p:cNvPr>
          <p:cNvSpPr txBox="1"/>
          <p:nvPr/>
        </p:nvSpPr>
        <p:spPr>
          <a:xfrm>
            <a:off x="10486169" y="3319261"/>
            <a:ext cx="15171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Risk of bowel necrosis (SBO, post-op)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258C97-7D58-423D-8801-15F81C5884FC}"/>
              </a:ext>
            </a:extLst>
          </p:cNvPr>
          <p:cNvSpPr txBox="1"/>
          <p:nvPr/>
        </p:nvSpPr>
        <p:spPr>
          <a:xfrm>
            <a:off x="5355432" y="6245783"/>
            <a:ext cx="2657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Kayexalate</a:t>
            </a:r>
            <a:r>
              <a:rPr lang="en-US" dirty="0"/>
              <a:t> 15-60 g q6h 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98AF3CAC-C83C-4231-B7FD-022DB5B1FF1B}"/>
              </a:ext>
            </a:extLst>
          </p:cNvPr>
          <p:cNvSpPr/>
          <p:nvPr/>
        </p:nvSpPr>
        <p:spPr>
          <a:xfrm>
            <a:off x="5133176" y="2193467"/>
            <a:ext cx="938091" cy="5014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/>
              <a:t>↑distal Na delivery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02A63C81-3693-4D3B-9D3E-F8442D4AD65E}"/>
              </a:ext>
            </a:extLst>
          </p:cNvPr>
          <p:cNvSpPr/>
          <p:nvPr/>
        </p:nvSpPr>
        <p:spPr>
          <a:xfrm>
            <a:off x="6828295" y="2164290"/>
            <a:ext cx="938091" cy="5014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/>
              <a:t>K cleared in dialysate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ECDD3B-B4C6-445D-9875-6A7218B64AE1}"/>
              </a:ext>
            </a:extLst>
          </p:cNvPr>
          <p:cNvSpPr/>
          <p:nvPr/>
        </p:nvSpPr>
        <p:spPr>
          <a:xfrm>
            <a:off x="2856834" y="278820"/>
            <a:ext cx="970339" cy="3121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K &gt; 5.5?</a:t>
            </a:r>
          </a:p>
        </p:txBody>
      </p: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B671C616-0193-44E1-8F86-552B1ABE669E}"/>
              </a:ext>
            </a:extLst>
          </p:cNvPr>
          <p:cNvCxnSpPr>
            <a:cxnSpLocks/>
            <a:stCxn id="177" idx="2"/>
            <a:endCxn id="179" idx="0"/>
          </p:cNvCxnSpPr>
          <p:nvPr/>
        </p:nvCxnSpPr>
        <p:spPr>
          <a:xfrm>
            <a:off x="3342004" y="590954"/>
            <a:ext cx="8444" cy="172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9" name="Rectangle 178">
            <a:extLst>
              <a:ext uri="{FF2B5EF4-FFF2-40B4-BE49-F238E27FC236}">
                <a16:creationId xmlns:a16="http://schemas.microsoft.com/office/drawing/2014/main" id="{A0731442-8CD7-4F2F-AEBB-79E177BA118F}"/>
              </a:ext>
            </a:extLst>
          </p:cNvPr>
          <p:cNvSpPr/>
          <p:nvPr/>
        </p:nvSpPr>
        <p:spPr>
          <a:xfrm>
            <a:off x="2569404" y="762988"/>
            <a:ext cx="1562088" cy="280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Confirm </a:t>
            </a:r>
            <a:r>
              <a:rPr lang="en-US" sz="1600" dirty="0" err="1"/>
              <a:t>hyperK</a:t>
            </a:r>
            <a:endParaRPr lang="en-US" sz="1600" dirty="0"/>
          </a:p>
        </p:txBody>
      </p: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E2D8EB02-0473-460F-9D61-3903E5FE0608}"/>
              </a:ext>
            </a:extLst>
          </p:cNvPr>
          <p:cNvCxnSpPr>
            <a:cxnSpLocks/>
            <a:stCxn id="179" idx="2"/>
            <a:endCxn id="183" idx="0"/>
          </p:cNvCxnSpPr>
          <p:nvPr/>
        </p:nvCxnSpPr>
        <p:spPr>
          <a:xfrm>
            <a:off x="3350448" y="1043383"/>
            <a:ext cx="0" cy="2140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3" name="Rectangle 182">
            <a:extLst>
              <a:ext uri="{FF2B5EF4-FFF2-40B4-BE49-F238E27FC236}">
                <a16:creationId xmlns:a16="http://schemas.microsoft.com/office/drawing/2014/main" id="{1740E459-C5EC-4E25-AD4A-2822B94A91A6}"/>
              </a:ext>
            </a:extLst>
          </p:cNvPr>
          <p:cNvSpPr/>
          <p:nvPr/>
        </p:nvSpPr>
        <p:spPr>
          <a:xfrm>
            <a:off x="2821544" y="1257468"/>
            <a:ext cx="1057807" cy="2851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Stat ECG</a:t>
            </a:r>
          </a:p>
        </p:txBody>
      </p:sp>
      <p:cxnSp>
        <p:nvCxnSpPr>
          <p:cNvPr id="184" name="Connector: Elbow 183">
            <a:extLst>
              <a:ext uri="{FF2B5EF4-FFF2-40B4-BE49-F238E27FC236}">
                <a16:creationId xmlns:a16="http://schemas.microsoft.com/office/drawing/2014/main" id="{B83A921B-CA43-4CFC-9353-5C2D0BAE49EF}"/>
              </a:ext>
            </a:extLst>
          </p:cNvPr>
          <p:cNvCxnSpPr>
            <a:cxnSpLocks/>
            <a:stCxn id="183" idx="2"/>
            <a:endCxn id="188" idx="0"/>
          </p:cNvCxnSpPr>
          <p:nvPr/>
        </p:nvCxnSpPr>
        <p:spPr>
          <a:xfrm rot="16200000" flipH="1">
            <a:off x="3430601" y="1462447"/>
            <a:ext cx="271689" cy="431995"/>
          </a:xfrm>
          <a:prstGeom prst="bentConnector3">
            <a:avLst>
              <a:gd name="adj1" fmla="val 4730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8" name="Rectangle 187">
            <a:extLst>
              <a:ext uri="{FF2B5EF4-FFF2-40B4-BE49-F238E27FC236}">
                <a16:creationId xmlns:a16="http://schemas.microsoft.com/office/drawing/2014/main" id="{8019BF22-1ABF-4ADE-8C59-0CDC347AC99E}"/>
              </a:ext>
            </a:extLst>
          </p:cNvPr>
          <p:cNvSpPr/>
          <p:nvPr/>
        </p:nvSpPr>
        <p:spPr>
          <a:xfrm>
            <a:off x="3350160" y="1814290"/>
            <a:ext cx="864565" cy="45242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ECG </a:t>
            </a:r>
            <a:r>
              <a:rPr lang="el-GR" sz="1400" dirty="0">
                <a:solidFill>
                  <a:schemeClr val="tx1"/>
                </a:solidFill>
              </a:rPr>
              <a:t>Δ</a:t>
            </a:r>
            <a:r>
              <a:rPr lang="en-US" sz="1400" dirty="0">
                <a:solidFill>
                  <a:schemeClr val="tx1"/>
                </a:solidFill>
              </a:rPr>
              <a:t> / K&gt; 6.5</a:t>
            </a:r>
          </a:p>
        </p:txBody>
      </p: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09749096-25EB-4342-81B0-E374F7811990}"/>
              </a:ext>
            </a:extLst>
          </p:cNvPr>
          <p:cNvCxnSpPr>
            <a:cxnSpLocks/>
            <a:stCxn id="188" idx="2"/>
            <a:endCxn id="191" idx="0"/>
          </p:cNvCxnSpPr>
          <p:nvPr/>
        </p:nvCxnSpPr>
        <p:spPr>
          <a:xfrm flipH="1">
            <a:off x="3777867" y="2266719"/>
            <a:ext cx="4576" cy="243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1" name="Rectangle 190">
            <a:extLst>
              <a:ext uri="{FF2B5EF4-FFF2-40B4-BE49-F238E27FC236}">
                <a16:creationId xmlns:a16="http://schemas.microsoft.com/office/drawing/2014/main" id="{44F94045-6C67-4AB7-BC64-EAFB3F72A2BB}"/>
              </a:ext>
            </a:extLst>
          </p:cNvPr>
          <p:cNvSpPr/>
          <p:nvPr/>
        </p:nvSpPr>
        <p:spPr>
          <a:xfrm>
            <a:off x="3345584" y="2510466"/>
            <a:ext cx="864565" cy="474585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IV Ca 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f/u ECG</a:t>
            </a:r>
          </a:p>
        </p:txBody>
      </p:sp>
      <p:cxnSp>
        <p:nvCxnSpPr>
          <p:cNvPr id="192" name="Connector: Elbow 191">
            <a:extLst>
              <a:ext uri="{FF2B5EF4-FFF2-40B4-BE49-F238E27FC236}">
                <a16:creationId xmlns:a16="http://schemas.microsoft.com/office/drawing/2014/main" id="{0C2748EE-62C6-4E7E-93E9-778894B72D19}"/>
              </a:ext>
            </a:extLst>
          </p:cNvPr>
          <p:cNvCxnSpPr>
            <a:cxnSpLocks/>
            <a:stCxn id="191" idx="2"/>
            <a:endCxn id="188" idx="1"/>
          </p:cNvCxnSpPr>
          <p:nvPr/>
        </p:nvCxnSpPr>
        <p:spPr>
          <a:xfrm rot="5400000" flipH="1">
            <a:off x="3091741" y="2298925"/>
            <a:ext cx="944546" cy="427707"/>
          </a:xfrm>
          <a:prstGeom prst="bentConnector4">
            <a:avLst>
              <a:gd name="adj1" fmla="val -24202"/>
              <a:gd name="adj2" fmla="val 15451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3" name="Rectangle 192">
            <a:extLst>
              <a:ext uri="{FF2B5EF4-FFF2-40B4-BE49-F238E27FC236}">
                <a16:creationId xmlns:a16="http://schemas.microsoft.com/office/drawing/2014/main" id="{629FF1DA-65E3-457E-AA07-295127CCCE00}"/>
              </a:ext>
            </a:extLst>
          </p:cNvPr>
          <p:cNvSpPr/>
          <p:nvPr/>
        </p:nvSpPr>
        <p:spPr>
          <a:xfrm>
            <a:off x="2738419" y="3290079"/>
            <a:ext cx="1362790" cy="854821"/>
          </a:xfrm>
          <a:prstGeom prst="rect">
            <a:avLst/>
          </a:prstGeom>
          <a:solidFill>
            <a:srgbClr val="FF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Insulin+D50W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Albuterol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±NaHCO3</a:t>
            </a:r>
          </a:p>
        </p:txBody>
      </p:sp>
      <p:cxnSp>
        <p:nvCxnSpPr>
          <p:cNvPr id="194" name="Connector: Elbow 193">
            <a:extLst>
              <a:ext uri="{FF2B5EF4-FFF2-40B4-BE49-F238E27FC236}">
                <a16:creationId xmlns:a16="http://schemas.microsoft.com/office/drawing/2014/main" id="{67205B26-ED84-4B60-A583-0F9E30A839D8}"/>
              </a:ext>
            </a:extLst>
          </p:cNvPr>
          <p:cNvCxnSpPr>
            <a:cxnSpLocks/>
            <a:stCxn id="183" idx="2"/>
          </p:cNvCxnSpPr>
          <p:nvPr/>
        </p:nvCxnSpPr>
        <p:spPr>
          <a:xfrm rot="5400000">
            <a:off x="2284602" y="2238403"/>
            <a:ext cx="1761648" cy="370045"/>
          </a:xfrm>
          <a:prstGeom prst="bentConnector3">
            <a:avLst>
              <a:gd name="adj1" fmla="val 742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F5F299E8-2BF9-45EB-8CC1-3C324D4A2838}"/>
              </a:ext>
            </a:extLst>
          </p:cNvPr>
          <p:cNvCxnSpPr>
            <a:cxnSpLocks/>
            <a:stCxn id="191" idx="2"/>
          </p:cNvCxnSpPr>
          <p:nvPr/>
        </p:nvCxnSpPr>
        <p:spPr>
          <a:xfrm>
            <a:off x="3777867" y="2985051"/>
            <a:ext cx="6171" cy="3191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6" name="Rectangle 195">
            <a:extLst>
              <a:ext uri="{FF2B5EF4-FFF2-40B4-BE49-F238E27FC236}">
                <a16:creationId xmlns:a16="http://schemas.microsoft.com/office/drawing/2014/main" id="{A3CC0FEF-BFDC-403E-BE2F-72A99A4AEF6A}"/>
              </a:ext>
            </a:extLst>
          </p:cNvPr>
          <p:cNvSpPr/>
          <p:nvPr/>
        </p:nvSpPr>
        <p:spPr>
          <a:xfrm>
            <a:off x="2736387" y="4422410"/>
            <a:ext cx="1362790" cy="1083977"/>
          </a:xfrm>
          <a:prstGeom prst="rect">
            <a:avLst/>
          </a:prstGeom>
          <a:solidFill>
            <a:srgbClr val="0000F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IVF ± loops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HD</a:t>
            </a:r>
          </a:p>
          <a:p>
            <a:pPr algn="ctr"/>
            <a:r>
              <a:rPr lang="en-US" sz="1600" dirty="0" err="1">
                <a:solidFill>
                  <a:schemeClr val="bg1"/>
                </a:solidFill>
              </a:rPr>
              <a:t>Lokelma</a:t>
            </a:r>
            <a:endParaRPr lang="en-US" sz="1600" dirty="0">
              <a:solidFill>
                <a:schemeClr val="bg1"/>
              </a:solidFill>
            </a:endParaRPr>
          </a:p>
          <a:p>
            <a:pPr algn="ctr"/>
            <a:r>
              <a:rPr lang="en-US" sz="1600" dirty="0" err="1">
                <a:solidFill>
                  <a:schemeClr val="bg1"/>
                </a:solidFill>
              </a:rPr>
              <a:t>Kayexalate</a:t>
            </a:r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E59FEE3A-764F-4802-8576-20A7B6DD616A}"/>
              </a:ext>
            </a:extLst>
          </p:cNvPr>
          <p:cNvCxnSpPr>
            <a:cxnSpLocks/>
            <a:stCxn id="193" idx="2"/>
            <a:endCxn id="196" idx="0"/>
          </p:cNvCxnSpPr>
          <p:nvPr/>
        </p:nvCxnSpPr>
        <p:spPr>
          <a:xfrm flipH="1">
            <a:off x="3417782" y="4144900"/>
            <a:ext cx="2032" cy="277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4" name="Step 2 Question">
            <a:extLst>
              <a:ext uri="{FF2B5EF4-FFF2-40B4-BE49-F238E27FC236}">
                <a16:creationId xmlns:a16="http://schemas.microsoft.com/office/drawing/2014/main" id="{5607256A-332D-4572-9F6A-37E22366B50F}"/>
              </a:ext>
            </a:extLst>
          </p:cNvPr>
          <p:cNvGrpSpPr/>
          <p:nvPr/>
        </p:nvGrpSpPr>
        <p:grpSpPr>
          <a:xfrm>
            <a:off x="181122" y="1716074"/>
            <a:ext cx="2103120" cy="793038"/>
            <a:chOff x="131415" y="2087451"/>
            <a:chExt cx="2218200" cy="793038"/>
          </a:xfrm>
        </p:grpSpPr>
        <p:sp>
          <p:nvSpPr>
            <p:cNvPr id="206" name="question 3">
              <a:hlinkClick r:id="rId15" action="ppaction://hlinksldjump"/>
              <a:extLst>
                <a:ext uri="{FF2B5EF4-FFF2-40B4-BE49-F238E27FC236}">
                  <a16:creationId xmlns:a16="http://schemas.microsoft.com/office/drawing/2014/main" id="{EF0A7B62-4953-4E0C-B8F4-709931E540F4}"/>
                </a:ext>
              </a:extLst>
            </p:cNvPr>
            <p:cNvSpPr txBox="1"/>
            <p:nvPr/>
          </p:nvSpPr>
          <p:spPr>
            <a:xfrm>
              <a:off x="131415" y="2094166"/>
              <a:ext cx="2218200" cy="707484"/>
            </a:xfrm>
            <a:prstGeom prst="roundRect">
              <a:avLst/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tlCol="0">
              <a:noAutofit/>
            </a:bodyPr>
            <a:lstStyle/>
            <a:p>
              <a:r>
                <a:rPr lang="en-US" b="1" dirty="0">
                  <a:solidFill>
                    <a:sysClr val="windowText" lastClr="000000"/>
                  </a:solidFill>
                </a:rPr>
                <a:t>Step 2</a:t>
              </a:r>
            </a:p>
          </p:txBody>
        </p:sp>
        <p:pic>
          <p:nvPicPr>
            <p:cNvPr id="207" name="Graphic 206" descr="Heartbeat with solid fill">
              <a:hlinkClick r:id="rId15" action="ppaction://hlinksldjump"/>
              <a:extLst>
                <a:ext uri="{FF2B5EF4-FFF2-40B4-BE49-F238E27FC236}">
                  <a16:creationId xmlns:a16="http://schemas.microsoft.com/office/drawing/2014/main" id="{D216FC20-315D-41D9-BFFB-35466FE517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254285" y="2087451"/>
              <a:ext cx="793038" cy="793038"/>
            </a:xfrm>
            <a:prstGeom prst="rect">
              <a:avLst/>
            </a:prstGeom>
          </p:spPr>
        </p:pic>
      </p:grpSp>
      <p:grpSp>
        <p:nvGrpSpPr>
          <p:cNvPr id="208" name="Step 3 Question">
            <a:extLst>
              <a:ext uri="{FF2B5EF4-FFF2-40B4-BE49-F238E27FC236}">
                <a16:creationId xmlns:a16="http://schemas.microsoft.com/office/drawing/2014/main" id="{AB84F3B6-1E4E-452E-8BFE-7A5767AA6612}"/>
              </a:ext>
            </a:extLst>
          </p:cNvPr>
          <p:cNvGrpSpPr/>
          <p:nvPr/>
        </p:nvGrpSpPr>
        <p:grpSpPr>
          <a:xfrm>
            <a:off x="181122" y="2702820"/>
            <a:ext cx="2103120" cy="802349"/>
            <a:chOff x="131414" y="3071170"/>
            <a:chExt cx="2205728" cy="802349"/>
          </a:xfrm>
        </p:grpSpPr>
        <p:sp>
          <p:nvSpPr>
            <p:cNvPr id="211" name="question 4">
              <a:hlinkClick r:id="rId18" action="ppaction://hlinksldjump"/>
              <a:extLst>
                <a:ext uri="{FF2B5EF4-FFF2-40B4-BE49-F238E27FC236}">
                  <a16:creationId xmlns:a16="http://schemas.microsoft.com/office/drawing/2014/main" id="{9424581C-ECE3-4428-9CA9-0C2F0C279C04}"/>
                </a:ext>
              </a:extLst>
            </p:cNvPr>
            <p:cNvSpPr txBox="1"/>
            <p:nvPr/>
          </p:nvSpPr>
          <p:spPr>
            <a:xfrm>
              <a:off x="131414" y="3078631"/>
              <a:ext cx="2205728" cy="720110"/>
            </a:xfrm>
            <a:prstGeom prst="roundRect">
              <a:avLst>
                <a:gd name="adj" fmla="val 18232"/>
              </a:avLst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tlCol="0">
              <a:noAutofit/>
            </a:bodyPr>
            <a:lstStyle/>
            <a:p>
              <a:r>
                <a:rPr lang="en-US" b="1" dirty="0">
                  <a:solidFill>
                    <a:sysClr val="windowText" lastClr="000000"/>
                  </a:solidFill>
                </a:rPr>
                <a:t>Step 3</a:t>
              </a:r>
            </a:p>
          </p:txBody>
        </p:sp>
        <p:pic>
          <p:nvPicPr>
            <p:cNvPr id="212" name="Graphic 211" descr="Heart with pulse with solid fill">
              <a:hlinkClick r:id="rId18" action="ppaction://hlinksldjump"/>
              <a:extLst>
                <a:ext uri="{FF2B5EF4-FFF2-40B4-BE49-F238E27FC236}">
                  <a16:creationId xmlns:a16="http://schemas.microsoft.com/office/drawing/2014/main" id="{EAEB0416-C312-496A-AF9F-F201EAA8B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234278" y="3071170"/>
              <a:ext cx="802349" cy="802349"/>
            </a:xfrm>
            <a:prstGeom prst="rect">
              <a:avLst/>
            </a:prstGeom>
          </p:spPr>
        </p:pic>
      </p:grpSp>
      <p:grpSp>
        <p:nvGrpSpPr>
          <p:cNvPr id="215" name="Step 1 Question">
            <a:extLst>
              <a:ext uri="{FF2B5EF4-FFF2-40B4-BE49-F238E27FC236}">
                <a16:creationId xmlns:a16="http://schemas.microsoft.com/office/drawing/2014/main" id="{5DF2ED70-5E94-4A91-A7C0-0B36E5DB6D1F}"/>
              </a:ext>
            </a:extLst>
          </p:cNvPr>
          <p:cNvGrpSpPr/>
          <p:nvPr/>
        </p:nvGrpSpPr>
        <p:grpSpPr>
          <a:xfrm>
            <a:off x="181122" y="797693"/>
            <a:ext cx="2103120" cy="724673"/>
            <a:chOff x="143887" y="1045203"/>
            <a:chExt cx="2205728" cy="724673"/>
          </a:xfrm>
        </p:grpSpPr>
        <p:sp>
          <p:nvSpPr>
            <p:cNvPr id="216" name="Question 2">
              <a:hlinkClick r:id="rId21" action="ppaction://hlinksldjump"/>
              <a:extLst>
                <a:ext uri="{FF2B5EF4-FFF2-40B4-BE49-F238E27FC236}">
                  <a16:creationId xmlns:a16="http://schemas.microsoft.com/office/drawing/2014/main" id="{4BFDBF78-8DBC-4C49-86BF-9858300F1A95}"/>
                </a:ext>
              </a:extLst>
            </p:cNvPr>
            <p:cNvSpPr txBox="1"/>
            <p:nvPr/>
          </p:nvSpPr>
          <p:spPr>
            <a:xfrm>
              <a:off x="143887" y="1045203"/>
              <a:ext cx="2205728" cy="724673"/>
            </a:xfrm>
            <a:prstGeom prst="roundRect">
              <a:avLst/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tlCol="0">
              <a:noAutofit/>
            </a:bodyPr>
            <a:lstStyle/>
            <a:p>
              <a:r>
                <a:rPr lang="en-US" b="1" dirty="0">
                  <a:solidFill>
                    <a:sysClr val="windowText" lastClr="000000"/>
                  </a:solidFill>
                </a:rPr>
                <a:t>Step 1</a:t>
              </a:r>
            </a:p>
          </p:txBody>
        </p:sp>
        <p:pic>
          <p:nvPicPr>
            <p:cNvPr id="218" name="Graphic 217" descr="Test tubes outline">
              <a:hlinkClick r:id="rId21" action="ppaction://hlinksldjump"/>
              <a:extLst>
                <a:ext uri="{FF2B5EF4-FFF2-40B4-BE49-F238E27FC236}">
                  <a16:creationId xmlns:a16="http://schemas.microsoft.com/office/drawing/2014/main" id="{0F3C8A93-4570-49C8-8DB2-856C9D514B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377019" y="1058879"/>
              <a:ext cx="675768" cy="675768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72CD748-E6D1-47CF-8932-1D51A81AC7A0}"/>
              </a:ext>
            </a:extLst>
          </p:cNvPr>
          <p:cNvGrpSpPr/>
          <p:nvPr/>
        </p:nvGrpSpPr>
        <p:grpSpPr>
          <a:xfrm>
            <a:off x="5017462" y="4798447"/>
            <a:ext cx="4936503" cy="517954"/>
            <a:chOff x="5017462" y="4798447"/>
            <a:chExt cx="4936503" cy="517954"/>
          </a:xfrm>
        </p:grpSpPr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77A8C768-C4E5-4162-8085-DE1F2B54FBE6}"/>
                </a:ext>
              </a:extLst>
            </p:cNvPr>
            <p:cNvSpPr/>
            <p:nvPr/>
          </p:nvSpPr>
          <p:spPr>
            <a:xfrm>
              <a:off x="5017462" y="4917471"/>
              <a:ext cx="1448529" cy="307777"/>
            </a:xfrm>
            <a:prstGeom prst="rect">
              <a:avLst/>
            </a:prstGeom>
            <a:solidFill>
              <a:srgbClr val="8585FF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NS, NaHCO</a:t>
              </a:r>
              <a:r>
                <a:rPr lang="en-US" baseline="-25000" dirty="0">
                  <a:solidFill>
                    <a:schemeClr val="bg1"/>
                  </a:solidFill>
                </a:rPr>
                <a:t>3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grpSp>
          <p:nvGrpSpPr>
            <p:cNvPr id="200" name="Group 199">
              <a:extLst>
                <a:ext uri="{FF2B5EF4-FFF2-40B4-BE49-F238E27FC236}">
                  <a16:creationId xmlns:a16="http://schemas.microsoft.com/office/drawing/2014/main" id="{AF804CD8-5783-4FBE-89AF-09420DEA37D9}"/>
                </a:ext>
              </a:extLst>
            </p:cNvPr>
            <p:cNvGrpSpPr/>
            <p:nvPr/>
          </p:nvGrpSpPr>
          <p:grpSpPr>
            <a:xfrm>
              <a:off x="6541601" y="4798447"/>
              <a:ext cx="3412364" cy="517954"/>
              <a:chOff x="6466038" y="6248185"/>
              <a:chExt cx="3412364" cy="458089"/>
            </a:xfrm>
            <a:solidFill>
              <a:srgbClr val="8585FF"/>
            </a:solidFill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805C155B-E5C6-4C89-A8F3-5E2D0274FA73}"/>
                  </a:ext>
                </a:extLst>
              </p:cNvPr>
              <p:cNvSpPr/>
              <p:nvPr/>
            </p:nvSpPr>
            <p:spPr>
              <a:xfrm>
                <a:off x="7166438" y="6351498"/>
                <a:ext cx="96103" cy="254581"/>
              </a:xfrm>
              <a:prstGeom prst="rect">
                <a:avLst/>
              </a:prstGeom>
              <a:grpFill/>
              <a:ln>
                <a:solidFill>
                  <a:srgbClr val="8585FF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0D000E25-9276-4F1F-9E03-4B77181866C8}"/>
                  </a:ext>
                </a:extLst>
              </p:cNvPr>
              <p:cNvSpPr/>
              <p:nvPr/>
            </p:nvSpPr>
            <p:spPr>
              <a:xfrm>
                <a:off x="7341538" y="6351498"/>
                <a:ext cx="96103" cy="254581"/>
              </a:xfrm>
              <a:prstGeom prst="rect">
                <a:avLst/>
              </a:prstGeom>
              <a:grpFill/>
              <a:ln>
                <a:solidFill>
                  <a:srgbClr val="8585FF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FADD9F3D-760B-4B11-85DC-2C8BF6D0BEDF}"/>
                  </a:ext>
                </a:extLst>
              </p:cNvPr>
              <p:cNvSpPr/>
              <p:nvPr/>
            </p:nvSpPr>
            <p:spPr>
              <a:xfrm>
                <a:off x="7516638" y="6351498"/>
                <a:ext cx="96103" cy="254581"/>
              </a:xfrm>
              <a:prstGeom prst="rect">
                <a:avLst/>
              </a:prstGeom>
              <a:grpFill/>
              <a:ln>
                <a:solidFill>
                  <a:srgbClr val="8585FF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FE5A043B-DC0B-47F6-B09C-475DBF92E3C3}"/>
                  </a:ext>
                </a:extLst>
              </p:cNvPr>
              <p:cNvSpPr/>
              <p:nvPr/>
            </p:nvSpPr>
            <p:spPr>
              <a:xfrm>
                <a:off x="7691738" y="6351498"/>
                <a:ext cx="96103" cy="254581"/>
              </a:xfrm>
              <a:prstGeom prst="rect">
                <a:avLst/>
              </a:prstGeom>
              <a:grpFill/>
              <a:ln>
                <a:solidFill>
                  <a:srgbClr val="8585FF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E745C1FA-330C-49E1-9C26-60CDE3B7C885}"/>
                  </a:ext>
                </a:extLst>
              </p:cNvPr>
              <p:cNvSpPr/>
              <p:nvPr/>
            </p:nvSpPr>
            <p:spPr>
              <a:xfrm>
                <a:off x="7866838" y="6351498"/>
                <a:ext cx="96103" cy="254581"/>
              </a:xfrm>
              <a:prstGeom prst="rect">
                <a:avLst/>
              </a:prstGeom>
              <a:grpFill/>
              <a:ln>
                <a:solidFill>
                  <a:srgbClr val="8585FF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89E633B2-1130-434F-A738-FA1FBCD6D681}"/>
                  </a:ext>
                </a:extLst>
              </p:cNvPr>
              <p:cNvSpPr/>
              <p:nvPr/>
            </p:nvSpPr>
            <p:spPr>
              <a:xfrm>
                <a:off x="8041938" y="6351498"/>
                <a:ext cx="96103" cy="254581"/>
              </a:xfrm>
              <a:prstGeom prst="rect">
                <a:avLst/>
              </a:prstGeom>
              <a:grpFill/>
              <a:ln>
                <a:solidFill>
                  <a:srgbClr val="8585FF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8" name="Rectangle 247">
                <a:extLst>
                  <a:ext uri="{FF2B5EF4-FFF2-40B4-BE49-F238E27FC236}">
                    <a16:creationId xmlns:a16="http://schemas.microsoft.com/office/drawing/2014/main" id="{E49E3C8B-00A9-425C-B46E-8005E9485A6F}"/>
                  </a:ext>
                </a:extLst>
              </p:cNvPr>
              <p:cNvSpPr/>
              <p:nvPr/>
            </p:nvSpPr>
            <p:spPr>
              <a:xfrm>
                <a:off x="8217038" y="6351498"/>
                <a:ext cx="96103" cy="254581"/>
              </a:xfrm>
              <a:prstGeom prst="rect">
                <a:avLst/>
              </a:prstGeom>
              <a:grpFill/>
              <a:ln>
                <a:solidFill>
                  <a:srgbClr val="8585FF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5497D174-B2F7-4020-8DB5-EB5CA9FE4E4A}"/>
                  </a:ext>
                </a:extLst>
              </p:cNvPr>
              <p:cNvSpPr/>
              <p:nvPr/>
            </p:nvSpPr>
            <p:spPr>
              <a:xfrm>
                <a:off x="6466038" y="6356088"/>
                <a:ext cx="96103" cy="254581"/>
              </a:xfrm>
              <a:prstGeom prst="rect">
                <a:avLst/>
              </a:prstGeom>
              <a:grpFill/>
              <a:ln>
                <a:solidFill>
                  <a:srgbClr val="8585FF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ED2F5BFA-99D7-4037-843E-3AB78295CF2F}"/>
                  </a:ext>
                </a:extLst>
              </p:cNvPr>
              <p:cNvSpPr/>
              <p:nvPr/>
            </p:nvSpPr>
            <p:spPr>
              <a:xfrm>
                <a:off x="6641138" y="6356088"/>
                <a:ext cx="96103" cy="254581"/>
              </a:xfrm>
              <a:prstGeom prst="rect">
                <a:avLst/>
              </a:prstGeom>
              <a:grpFill/>
              <a:ln>
                <a:solidFill>
                  <a:srgbClr val="8585FF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AFA7584C-AFD5-4BD1-8F06-3E3A0E4305E0}"/>
                  </a:ext>
                </a:extLst>
              </p:cNvPr>
              <p:cNvSpPr/>
              <p:nvPr/>
            </p:nvSpPr>
            <p:spPr>
              <a:xfrm>
                <a:off x="6816238" y="6356088"/>
                <a:ext cx="96103" cy="254581"/>
              </a:xfrm>
              <a:prstGeom prst="rect">
                <a:avLst/>
              </a:prstGeom>
              <a:grpFill/>
              <a:ln>
                <a:solidFill>
                  <a:srgbClr val="8585FF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FC061816-4587-4C17-B56D-40102098968C}"/>
                  </a:ext>
                </a:extLst>
              </p:cNvPr>
              <p:cNvSpPr/>
              <p:nvPr/>
            </p:nvSpPr>
            <p:spPr>
              <a:xfrm>
                <a:off x="6991338" y="6356088"/>
                <a:ext cx="96103" cy="254581"/>
              </a:xfrm>
              <a:prstGeom prst="rect">
                <a:avLst/>
              </a:prstGeom>
              <a:grpFill/>
              <a:ln>
                <a:solidFill>
                  <a:srgbClr val="8585FF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8" name="Rectangle 267">
                <a:extLst>
                  <a:ext uri="{FF2B5EF4-FFF2-40B4-BE49-F238E27FC236}">
                    <a16:creationId xmlns:a16="http://schemas.microsoft.com/office/drawing/2014/main" id="{A15F7154-E81B-479A-B0FD-15C1C8653127}"/>
                  </a:ext>
                </a:extLst>
              </p:cNvPr>
              <p:cNvSpPr/>
              <p:nvPr/>
            </p:nvSpPr>
            <p:spPr>
              <a:xfrm>
                <a:off x="8742338" y="6349939"/>
                <a:ext cx="96103" cy="254581"/>
              </a:xfrm>
              <a:prstGeom prst="rect">
                <a:avLst/>
              </a:prstGeom>
              <a:grpFill/>
              <a:ln>
                <a:solidFill>
                  <a:srgbClr val="8585FF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9" name="Rectangle 268">
                <a:extLst>
                  <a:ext uri="{FF2B5EF4-FFF2-40B4-BE49-F238E27FC236}">
                    <a16:creationId xmlns:a16="http://schemas.microsoft.com/office/drawing/2014/main" id="{FB22C297-EF6F-48C2-9AEF-2EF55632BAB9}"/>
                  </a:ext>
                </a:extLst>
              </p:cNvPr>
              <p:cNvSpPr/>
              <p:nvPr/>
            </p:nvSpPr>
            <p:spPr>
              <a:xfrm>
                <a:off x="8917438" y="6349939"/>
                <a:ext cx="96103" cy="254581"/>
              </a:xfrm>
              <a:prstGeom prst="rect">
                <a:avLst/>
              </a:prstGeom>
              <a:grpFill/>
              <a:ln>
                <a:solidFill>
                  <a:srgbClr val="8585FF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1" name="Rectangle 270">
                <a:extLst>
                  <a:ext uri="{FF2B5EF4-FFF2-40B4-BE49-F238E27FC236}">
                    <a16:creationId xmlns:a16="http://schemas.microsoft.com/office/drawing/2014/main" id="{B35A9168-F000-4669-9A9E-369769A0D8A4}"/>
                  </a:ext>
                </a:extLst>
              </p:cNvPr>
              <p:cNvSpPr/>
              <p:nvPr/>
            </p:nvSpPr>
            <p:spPr>
              <a:xfrm>
                <a:off x="9092538" y="6349939"/>
                <a:ext cx="96103" cy="254581"/>
              </a:xfrm>
              <a:prstGeom prst="rect">
                <a:avLst/>
              </a:prstGeom>
              <a:grpFill/>
              <a:ln>
                <a:solidFill>
                  <a:srgbClr val="8585FF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6" name="Rectangle 275">
                <a:extLst>
                  <a:ext uri="{FF2B5EF4-FFF2-40B4-BE49-F238E27FC236}">
                    <a16:creationId xmlns:a16="http://schemas.microsoft.com/office/drawing/2014/main" id="{7636E50B-ED76-48D6-AA65-23683FC82F08}"/>
                  </a:ext>
                </a:extLst>
              </p:cNvPr>
              <p:cNvSpPr/>
              <p:nvPr/>
            </p:nvSpPr>
            <p:spPr>
              <a:xfrm>
                <a:off x="8392138" y="6349939"/>
                <a:ext cx="96103" cy="254581"/>
              </a:xfrm>
              <a:prstGeom prst="rect">
                <a:avLst/>
              </a:prstGeom>
              <a:grpFill/>
              <a:ln>
                <a:solidFill>
                  <a:srgbClr val="8585FF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9" name="Rectangle 278">
                <a:extLst>
                  <a:ext uri="{FF2B5EF4-FFF2-40B4-BE49-F238E27FC236}">
                    <a16:creationId xmlns:a16="http://schemas.microsoft.com/office/drawing/2014/main" id="{F5FD4E4A-118A-467A-B24E-21303AEAB57D}"/>
                  </a:ext>
                </a:extLst>
              </p:cNvPr>
              <p:cNvSpPr/>
              <p:nvPr/>
            </p:nvSpPr>
            <p:spPr>
              <a:xfrm>
                <a:off x="8567238" y="6349939"/>
                <a:ext cx="96103" cy="254581"/>
              </a:xfrm>
              <a:prstGeom prst="rect">
                <a:avLst/>
              </a:prstGeom>
              <a:grpFill/>
              <a:ln>
                <a:solidFill>
                  <a:srgbClr val="8585FF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0" name="Arrow: Right 279">
                <a:extLst>
                  <a:ext uri="{FF2B5EF4-FFF2-40B4-BE49-F238E27FC236}">
                    <a16:creationId xmlns:a16="http://schemas.microsoft.com/office/drawing/2014/main" id="{21C4F0CE-A060-4EAB-9CBA-284EB0DCE9EE}"/>
                  </a:ext>
                </a:extLst>
              </p:cNvPr>
              <p:cNvSpPr/>
              <p:nvPr/>
            </p:nvSpPr>
            <p:spPr>
              <a:xfrm>
                <a:off x="9257410" y="6248185"/>
                <a:ext cx="620992" cy="458089"/>
              </a:xfrm>
              <a:prstGeom prst="rightArrow">
                <a:avLst>
                  <a:gd name="adj1" fmla="val 56278"/>
                  <a:gd name="adj2" fmla="val 35969"/>
                </a:avLst>
              </a:prstGeom>
              <a:grpFill/>
              <a:ln>
                <a:solidFill>
                  <a:srgbClr val="8585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p:grpSp>
      </p:grpSp>
      <p:cxnSp>
        <p:nvCxnSpPr>
          <p:cNvPr id="281" name="Straight Arrow Connector 280">
            <a:extLst>
              <a:ext uri="{FF2B5EF4-FFF2-40B4-BE49-F238E27FC236}">
                <a16:creationId xmlns:a16="http://schemas.microsoft.com/office/drawing/2014/main" id="{CA698F40-91A8-4CBF-BFF4-2E2243EC6DF9}"/>
              </a:ext>
            </a:extLst>
          </p:cNvPr>
          <p:cNvCxnSpPr>
            <a:cxnSpLocks/>
            <a:stCxn id="196" idx="2"/>
            <a:endCxn id="282" idx="0"/>
          </p:cNvCxnSpPr>
          <p:nvPr/>
        </p:nvCxnSpPr>
        <p:spPr>
          <a:xfrm>
            <a:off x="3417782" y="5506387"/>
            <a:ext cx="10278" cy="238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2" name="Rectangle 281">
            <a:extLst>
              <a:ext uri="{FF2B5EF4-FFF2-40B4-BE49-F238E27FC236}">
                <a16:creationId xmlns:a16="http://schemas.microsoft.com/office/drawing/2014/main" id="{7621FFBE-A993-4EE3-A8D5-31CA1693E42D}"/>
              </a:ext>
            </a:extLst>
          </p:cNvPr>
          <p:cNvSpPr/>
          <p:nvPr/>
        </p:nvSpPr>
        <p:spPr>
          <a:xfrm>
            <a:off x="2948460" y="5745211"/>
            <a:ext cx="959200" cy="521835"/>
          </a:xfrm>
          <a:prstGeom prst="rect">
            <a:avLst/>
          </a:prstGeom>
          <a:solidFill>
            <a:schemeClr val="bg1"/>
          </a:solidFill>
          <a:ln>
            <a:solidFill>
              <a:srgbClr val="0000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Repeat K in 1-4 h</a:t>
            </a:r>
          </a:p>
        </p:txBody>
      </p:sp>
      <p:grpSp>
        <p:nvGrpSpPr>
          <p:cNvPr id="272" name="Kidney">
            <a:extLst>
              <a:ext uri="{FF2B5EF4-FFF2-40B4-BE49-F238E27FC236}">
                <a16:creationId xmlns:a16="http://schemas.microsoft.com/office/drawing/2014/main" id="{24C1FE93-CC04-48FD-8464-65735CA725B9}"/>
              </a:ext>
            </a:extLst>
          </p:cNvPr>
          <p:cNvGrpSpPr/>
          <p:nvPr/>
        </p:nvGrpSpPr>
        <p:grpSpPr>
          <a:xfrm>
            <a:off x="5291437" y="1176944"/>
            <a:ext cx="1254962" cy="892749"/>
            <a:chOff x="3726858" y="1376111"/>
            <a:chExt cx="1254962" cy="892749"/>
          </a:xfrm>
          <a:effectLst/>
        </p:grpSpPr>
        <p:sp>
          <p:nvSpPr>
            <p:cNvPr id="273" name="Rectangle: Rounded Corners 272">
              <a:extLst>
                <a:ext uri="{FF2B5EF4-FFF2-40B4-BE49-F238E27FC236}">
                  <a16:creationId xmlns:a16="http://schemas.microsoft.com/office/drawing/2014/main" id="{C2835CFC-D162-4F88-93F3-792E03DCC597}"/>
                </a:ext>
              </a:extLst>
            </p:cNvPr>
            <p:cNvSpPr/>
            <p:nvPr/>
          </p:nvSpPr>
          <p:spPr>
            <a:xfrm>
              <a:off x="3726858" y="1376111"/>
              <a:ext cx="1254962" cy="892749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0000FF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5" name="Picture 274" descr="A picture containing icon&#10;&#10;Description automatically generated">
              <a:extLst>
                <a:ext uri="{FF2B5EF4-FFF2-40B4-BE49-F238E27FC236}">
                  <a16:creationId xmlns:a16="http://schemas.microsoft.com/office/drawing/2014/main" id="{3330430B-FBB7-4D2C-B847-AFDF6AD713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741484" y="1441664"/>
              <a:ext cx="1155964" cy="777820"/>
            </a:xfrm>
            <a:prstGeom prst="rect">
              <a:avLst/>
            </a:prstGeom>
          </p:spPr>
        </p:pic>
      </p:grpSp>
      <p:grpSp>
        <p:nvGrpSpPr>
          <p:cNvPr id="283" name="Gut">
            <a:extLst>
              <a:ext uri="{FF2B5EF4-FFF2-40B4-BE49-F238E27FC236}">
                <a16:creationId xmlns:a16="http://schemas.microsoft.com/office/drawing/2014/main" id="{F94BB74E-EA83-4042-A4AE-DE5B8BE3410C}"/>
              </a:ext>
            </a:extLst>
          </p:cNvPr>
          <p:cNvGrpSpPr/>
          <p:nvPr/>
        </p:nvGrpSpPr>
        <p:grpSpPr>
          <a:xfrm>
            <a:off x="9624629" y="1186638"/>
            <a:ext cx="1394040" cy="936387"/>
            <a:chOff x="7994005" y="1406721"/>
            <a:chExt cx="1394040" cy="936387"/>
          </a:xfrm>
        </p:grpSpPr>
        <p:sp>
          <p:nvSpPr>
            <p:cNvPr id="284" name="Rectangle: Rounded Corners 283">
              <a:extLst>
                <a:ext uri="{FF2B5EF4-FFF2-40B4-BE49-F238E27FC236}">
                  <a16:creationId xmlns:a16="http://schemas.microsoft.com/office/drawing/2014/main" id="{1408BE03-0C55-4D23-85B3-0E328E39E55D}"/>
                </a:ext>
              </a:extLst>
            </p:cNvPr>
            <p:cNvSpPr/>
            <p:nvPr/>
          </p:nvSpPr>
          <p:spPr>
            <a:xfrm>
              <a:off x="7994005" y="1406721"/>
              <a:ext cx="1394040" cy="936387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2">
                  <a:lumMod val="9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3" name="Picture 292" descr="A picture containing icon&#10;&#10;Description automatically generated">
              <a:extLst>
                <a:ext uri="{FF2B5EF4-FFF2-40B4-BE49-F238E27FC236}">
                  <a16:creationId xmlns:a16="http://schemas.microsoft.com/office/drawing/2014/main" id="{FDA7FDF0-5D45-45DC-9457-5A2E56BC3F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115301" y="1487137"/>
              <a:ext cx="1117094" cy="781723"/>
            </a:xfrm>
            <a:prstGeom prst="rect">
              <a:avLst/>
            </a:prstGeom>
          </p:spPr>
        </p:pic>
      </p:grpSp>
      <p:sp>
        <p:nvSpPr>
          <p:cNvPr id="295" name="IVF">
            <a:extLst>
              <a:ext uri="{FF2B5EF4-FFF2-40B4-BE49-F238E27FC236}">
                <a16:creationId xmlns:a16="http://schemas.microsoft.com/office/drawing/2014/main" id="{2F468DCC-600C-4917-B6D9-5F4F0CA4AB50}"/>
              </a:ext>
            </a:extLst>
          </p:cNvPr>
          <p:cNvSpPr txBox="1"/>
          <p:nvPr/>
        </p:nvSpPr>
        <p:spPr>
          <a:xfrm>
            <a:off x="4287837" y="2815476"/>
            <a:ext cx="925240" cy="442674"/>
          </a:xfrm>
          <a:prstGeom prst="roundRect">
            <a:avLst/>
          </a:prstGeom>
          <a:solidFill>
            <a:srgbClr val="8585FF"/>
          </a:solidFill>
          <a:ln w="38100">
            <a:solidFill>
              <a:srgbClr val="8585FF"/>
            </a:solidFill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 dirty="0">
                <a:solidFill>
                  <a:schemeClr val="bg1"/>
                </a:solidFill>
              </a:rPr>
              <a:t>IVF</a:t>
            </a:r>
          </a:p>
        </p:txBody>
      </p:sp>
      <p:sp>
        <p:nvSpPr>
          <p:cNvPr id="296" name="Loops">
            <a:extLst>
              <a:ext uri="{FF2B5EF4-FFF2-40B4-BE49-F238E27FC236}">
                <a16:creationId xmlns:a16="http://schemas.microsoft.com/office/drawing/2014/main" id="{0AC3D8A8-D3D6-4EA0-AC15-863D05B886BF}"/>
              </a:ext>
            </a:extLst>
          </p:cNvPr>
          <p:cNvSpPr txBox="1"/>
          <p:nvPr/>
        </p:nvSpPr>
        <p:spPr>
          <a:xfrm>
            <a:off x="5477770" y="2821467"/>
            <a:ext cx="1664649" cy="442674"/>
          </a:xfrm>
          <a:prstGeom prst="roundRect">
            <a:avLst/>
          </a:prstGeom>
          <a:solidFill>
            <a:srgbClr val="0000FF"/>
          </a:solidFill>
          <a:ln w="38100">
            <a:solidFill>
              <a:srgbClr val="0000EE"/>
            </a:solidFill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 dirty="0">
                <a:solidFill>
                  <a:schemeClr val="bg1"/>
                </a:solidFill>
              </a:rPr>
              <a:t>Loop diuretic</a:t>
            </a:r>
          </a:p>
        </p:txBody>
      </p:sp>
      <p:sp>
        <p:nvSpPr>
          <p:cNvPr id="304" name="HD">
            <a:extLst>
              <a:ext uri="{FF2B5EF4-FFF2-40B4-BE49-F238E27FC236}">
                <a16:creationId xmlns:a16="http://schemas.microsoft.com/office/drawing/2014/main" id="{33FFBD60-DE1B-4276-8069-B4671D1E088A}"/>
              </a:ext>
            </a:extLst>
          </p:cNvPr>
          <p:cNvSpPr txBox="1"/>
          <p:nvPr/>
        </p:nvSpPr>
        <p:spPr>
          <a:xfrm>
            <a:off x="7322140" y="2800206"/>
            <a:ext cx="1362791" cy="442674"/>
          </a:xfrm>
          <a:prstGeom prst="roundRect">
            <a:avLst/>
          </a:prstGeom>
          <a:solidFill>
            <a:srgbClr val="00008E"/>
          </a:solidFill>
          <a:ln w="38100">
            <a:solidFill>
              <a:srgbClr val="00008E"/>
            </a:solidFill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 dirty="0">
                <a:solidFill>
                  <a:schemeClr val="bg1"/>
                </a:solidFill>
              </a:rPr>
              <a:t>HD/ CRRT</a:t>
            </a:r>
          </a:p>
        </p:txBody>
      </p:sp>
      <p:sp>
        <p:nvSpPr>
          <p:cNvPr id="306" name="Patiromer">
            <a:extLst>
              <a:ext uri="{FF2B5EF4-FFF2-40B4-BE49-F238E27FC236}">
                <a16:creationId xmlns:a16="http://schemas.microsoft.com/office/drawing/2014/main" id="{926455FC-E74A-402A-86AC-D1CEBAB4529E}"/>
              </a:ext>
            </a:extLst>
          </p:cNvPr>
          <p:cNvSpPr txBox="1"/>
          <p:nvPr/>
        </p:nvSpPr>
        <p:spPr>
          <a:xfrm>
            <a:off x="9002845" y="2795601"/>
            <a:ext cx="1362791" cy="442674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bg2">
                <a:lumMod val="7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 dirty="0" err="1">
                <a:solidFill>
                  <a:schemeClr val="bg1"/>
                </a:solidFill>
              </a:rPr>
              <a:t>Lokelma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307" name="Kayexalate">
            <a:extLst>
              <a:ext uri="{FF2B5EF4-FFF2-40B4-BE49-F238E27FC236}">
                <a16:creationId xmlns:a16="http://schemas.microsoft.com/office/drawing/2014/main" id="{2D28BF3E-7D83-4214-885B-A880559B7723}"/>
              </a:ext>
            </a:extLst>
          </p:cNvPr>
          <p:cNvSpPr txBox="1"/>
          <p:nvPr/>
        </p:nvSpPr>
        <p:spPr>
          <a:xfrm>
            <a:off x="10525309" y="2796254"/>
            <a:ext cx="1395442" cy="442674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1" dirty="0" err="1">
                <a:solidFill>
                  <a:schemeClr val="bg1"/>
                </a:solidFill>
              </a:rPr>
              <a:t>Kayexalate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308" name="Graphic 307" descr="Cursor with solid fill">
            <a:extLst>
              <a:ext uri="{FF2B5EF4-FFF2-40B4-BE49-F238E27FC236}">
                <a16:creationId xmlns:a16="http://schemas.microsoft.com/office/drawing/2014/main" id="{F33313B3-72C4-4E10-A9CB-5EC388D793E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54474" y="435911"/>
            <a:ext cx="301752" cy="301752"/>
          </a:xfrm>
          <a:prstGeom prst="rect">
            <a:avLst/>
          </a:prstGeom>
        </p:spPr>
      </p:pic>
      <p:pic>
        <p:nvPicPr>
          <p:cNvPr id="316" name="Graphic 315" descr="Cursor with solid fill">
            <a:extLst>
              <a:ext uri="{FF2B5EF4-FFF2-40B4-BE49-F238E27FC236}">
                <a16:creationId xmlns:a16="http://schemas.microsoft.com/office/drawing/2014/main" id="{9595A110-A22F-477A-AF3D-796AF2C9EEB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54474" y="1357347"/>
            <a:ext cx="301752" cy="301752"/>
          </a:xfrm>
          <a:prstGeom prst="rect">
            <a:avLst/>
          </a:prstGeom>
        </p:spPr>
      </p:pic>
      <p:pic>
        <p:nvPicPr>
          <p:cNvPr id="317" name="Graphic 316" descr="Cursor with solid fill">
            <a:extLst>
              <a:ext uri="{FF2B5EF4-FFF2-40B4-BE49-F238E27FC236}">
                <a16:creationId xmlns:a16="http://schemas.microsoft.com/office/drawing/2014/main" id="{E6F6B666-CE1D-4DA5-9EA2-C6232F90E4F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54474" y="3273485"/>
            <a:ext cx="301752" cy="301752"/>
          </a:xfrm>
          <a:prstGeom prst="rect">
            <a:avLst/>
          </a:prstGeom>
        </p:spPr>
      </p:pic>
      <p:pic>
        <p:nvPicPr>
          <p:cNvPr id="318" name="Graphic 317" descr="Cursor with solid fill">
            <a:extLst>
              <a:ext uri="{FF2B5EF4-FFF2-40B4-BE49-F238E27FC236}">
                <a16:creationId xmlns:a16="http://schemas.microsoft.com/office/drawing/2014/main" id="{EEC006F3-9A6E-466F-ABE8-7FB0B17ADA0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54474" y="4273381"/>
            <a:ext cx="301752" cy="301752"/>
          </a:xfrm>
          <a:prstGeom prst="rect">
            <a:avLst/>
          </a:prstGeom>
        </p:spPr>
      </p:pic>
      <p:pic>
        <p:nvPicPr>
          <p:cNvPr id="319" name="Graphic 318" descr="Cursor with solid fill">
            <a:extLst>
              <a:ext uri="{FF2B5EF4-FFF2-40B4-BE49-F238E27FC236}">
                <a16:creationId xmlns:a16="http://schemas.microsoft.com/office/drawing/2014/main" id="{2E86C3C4-C121-4B40-BAF3-9364F2C0122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54474" y="2235955"/>
            <a:ext cx="301752" cy="301752"/>
          </a:xfrm>
          <a:prstGeom prst="rect">
            <a:avLst/>
          </a:prstGeom>
        </p:spPr>
      </p:pic>
      <p:pic>
        <p:nvPicPr>
          <p:cNvPr id="342" name="Graphic 341" descr="Cursor with solid fill">
            <a:extLst>
              <a:ext uri="{FF2B5EF4-FFF2-40B4-BE49-F238E27FC236}">
                <a16:creationId xmlns:a16="http://schemas.microsoft.com/office/drawing/2014/main" id="{D233445F-F7E8-4C2A-A4F7-2E7BD3B6F9E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54474" y="5796581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657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2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1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5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1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0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2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3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2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6"/>
                  </p:tgtEl>
                </p:cond>
              </p:nextCondLst>
            </p:seq>
          </p:childTnLst>
        </p:cTn>
      </p:par>
    </p:tnLst>
    <p:bldLst>
      <p:bldP spid="172" grpId="0" animBg="1"/>
      <p:bldP spid="172" grpId="1" animBg="1"/>
      <p:bldP spid="175" grpId="0" animBg="1"/>
      <p:bldP spid="175" grpId="1" animBg="1"/>
      <p:bldP spid="180" grpId="0" animBg="1"/>
      <p:bldP spid="180" grpId="1" animBg="1"/>
      <p:bldP spid="223" grpId="0" animBg="1"/>
      <p:bldP spid="190" grpId="0"/>
      <p:bldP spid="261" grpId="0"/>
      <p:bldP spid="262" grpId="0"/>
      <p:bldP spid="263" grpId="0" animBg="1"/>
      <p:bldP spid="263" grpId="1" animBg="1"/>
      <p:bldP spid="266" grpId="0" animBg="1"/>
      <p:bldP spid="266" grpId="1" animBg="1"/>
      <p:bldP spid="277" grpId="0" animBg="1"/>
      <p:bldP spid="278" grpId="0"/>
      <p:bldP spid="341" grpId="0"/>
      <p:bldP spid="4" grpId="0"/>
      <p:bldP spid="198" grpId="0" animBg="1"/>
      <p:bldP spid="199" grpId="0" animBg="1"/>
      <p:bldP spid="295" grpId="0" animBg="1"/>
      <p:bldP spid="296" grpId="0" animBg="1"/>
      <p:bldP spid="304" grpId="0" animBg="1"/>
      <p:bldP spid="306" grpId="0" animBg="1"/>
      <p:bldP spid="30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ases">
            <a:hlinkClick r:id="" action="ppaction://noaction"/>
            <a:extLst>
              <a:ext uri="{FF2B5EF4-FFF2-40B4-BE49-F238E27FC236}">
                <a16:creationId xmlns:a16="http://schemas.microsoft.com/office/drawing/2014/main" id="{D365CCEA-BEBB-48BA-BBCE-031318076AD1}"/>
              </a:ext>
            </a:extLst>
          </p:cNvPr>
          <p:cNvSpPr txBox="1"/>
          <p:nvPr/>
        </p:nvSpPr>
        <p:spPr>
          <a:xfrm>
            <a:off x="181123" y="5538834"/>
            <a:ext cx="2103120" cy="408623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Cases</a:t>
            </a:r>
          </a:p>
        </p:txBody>
      </p:sp>
      <p:sp>
        <p:nvSpPr>
          <p:cNvPr id="43" name="Scenario Question">
            <a:hlinkClick r:id="rId3" action="ppaction://hlinksldjump"/>
            <a:extLst>
              <a:ext uri="{FF2B5EF4-FFF2-40B4-BE49-F238E27FC236}">
                <a16:creationId xmlns:a16="http://schemas.microsoft.com/office/drawing/2014/main" id="{B9C45DC2-6845-441B-A1CE-859853F2E6C8}"/>
              </a:ext>
            </a:extLst>
          </p:cNvPr>
          <p:cNvSpPr txBox="1"/>
          <p:nvPr/>
        </p:nvSpPr>
        <p:spPr>
          <a:xfrm>
            <a:off x="181122" y="136445"/>
            <a:ext cx="2103120" cy="467540"/>
          </a:xfrm>
          <a:prstGeom prst="roundRect">
            <a:avLst>
              <a:gd name="adj" fmla="val 18585"/>
            </a:avLst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Common Scenario</a:t>
            </a:r>
          </a:p>
        </p:txBody>
      </p:sp>
      <p:grpSp>
        <p:nvGrpSpPr>
          <p:cNvPr id="47" name="Step 2 Question">
            <a:extLst>
              <a:ext uri="{FF2B5EF4-FFF2-40B4-BE49-F238E27FC236}">
                <a16:creationId xmlns:a16="http://schemas.microsoft.com/office/drawing/2014/main" id="{5D213C7D-09E7-4EBC-8254-2F930D75F217}"/>
              </a:ext>
            </a:extLst>
          </p:cNvPr>
          <p:cNvGrpSpPr/>
          <p:nvPr/>
        </p:nvGrpSpPr>
        <p:grpSpPr>
          <a:xfrm>
            <a:off x="181122" y="1716074"/>
            <a:ext cx="2103120" cy="793038"/>
            <a:chOff x="131415" y="2087451"/>
            <a:chExt cx="2218200" cy="793038"/>
          </a:xfrm>
        </p:grpSpPr>
        <p:sp>
          <p:nvSpPr>
            <p:cNvPr id="48" name="question 3">
              <a:hlinkClick r:id="rId4" action="ppaction://hlinksldjump"/>
              <a:extLst>
                <a:ext uri="{FF2B5EF4-FFF2-40B4-BE49-F238E27FC236}">
                  <a16:creationId xmlns:a16="http://schemas.microsoft.com/office/drawing/2014/main" id="{C54747A7-6347-4BA3-894B-CC8FF403B714}"/>
                </a:ext>
              </a:extLst>
            </p:cNvPr>
            <p:cNvSpPr txBox="1"/>
            <p:nvPr/>
          </p:nvSpPr>
          <p:spPr>
            <a:xfrm>
              <a:off x="131415" y="2094166"/>
              <a:ext cx="2218200" cy="707484"/>
            </a:xfrm>
            <a:prstGeom prst="roundRect">
              <a:avLst/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tlCol="0">
              <a:noAutofit/>
            </a:bodyPr>
            <a:lstStyle/>
            <a:p>
              <a:r>
                <a:rPr lang="en-US" b="1" dirty="0">
                  <a:solidFill>
                    <a:sysClr val="windowText" lastClr="000000"/>
                  </a:solidFill>
                </a:rPr>
                <a:t>Step 2</a:t>
              </a:r>
            </a:p>
          </p:txBody>
        </p:sp>
        <p:pic>
          <p:nvPicPr>
            <p:cNvPr id="49" name="Graphic 48" descr="Heartbeat with solid fill">
              <a:extLst>
                <a:ext uri="{FF2B5EF4-FFF2-40B4-BE49-F238E27FC236}">
                  <a16:creationId xmlns:a16="http://schemas.microsoft.com/office/drawing/2014/main" id="{07C354FF-5FFC-4A18-8FB7-A9EE26A96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54285" y="2087451"/>
              <a:ext cx="793038" cy="793038"/>
            </a:xfrm>
            <a:prstGeom prst="rect">
              <a:avLst/>
            </a:prstGeom>
          </p:spPr>
        </p:pic>
      </p:grpSp>
      <p:grpSp>
        <p:nvGrpSpPr>
          <p:cNvPr id="50" name="Step 3 Question">
            <a:extLst>
              <a:ext uri="{FF2B5EF4-FFF2-40B4-BE49-F238E27FC236}">
                <a16:creationId xmlns:a16="http://schemas.microsoft.com/office/drawing/2014/main" id="{17E78127-BB3C-4493-B577-8BEAD57D567B}"/>
              </a:ext>
            </a:extLst>
          </p:cNvPr>
          <p:cNvGrpSpPr/>
          <p:nvPr/>
        </p:nvGrpSpPr>
        <p:grpSpPr>
          <a:xfrm>
            <a:off x="181122" y="2702820"/>
            <a:ext cx="2103120" cy="802349"/>
            <a:chOff x="131414" y="3071170"/>
            <a:chExt cx="2205728" cy="802349"/>
          </a:xfrm>
        </p:grpSpPr>
        <p:sp>
          <p:nvSpPr>
            <p:cNvPr id="53" name="question 4">
              <a:hlinkClick r:id="rId7" action="ppaction://hlinksldjump"/>
              <a:extLst>
                <a:ext uri="{FF2B5EF4-FFF2-40B4-BE49-F238E27FC236}">
                  <a16:creationId xmlns:a16="http://schemas.microsoft.com/office/drawing/2014/main" id="{2578CC7D-951A-425A-8E3D-B874EC3F552B}"/>
                </a:ext>
              </a:extLst>
            </p:cNvPr>
            <p:cNvSpPr txBox="1"/>
            <p:nvPr/>
          </p:nvSpPr>
          <p:spPr>
            <a:xfrm>
              <a:off x="131414" y="3078631"/>
              <a:ext cx="2205728" cy="720110"/>
            </a:xfrm>
            <a:prstGeom prst="roundRect">
              <a:avLst>
                <a:gd name="adj" fmla="val 18232"/>
              </a:avLst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tlCol="0">
              <a:noAutofit/>
            </a:bodyPr>
            <a:lstStyle/>
            <a:p>
              <a:r>
                <a:rPr lang="en-US" b="1" dirty="0">
                  <a:solidFill>
                    <a:sysClr val="windowText" lastClr="000000"/>
                  </a:solidFill>
                </a:rPr>
                <a:t>Step 3</a:t>
              </a:r>
            </a:p>
          </p:txBody>
        </p:sp>
        <p:pic>
          <p:nvPicPr>
            <p:cNvPr id="54" name="Graphic 53" descr="Heart with pulse with solid fill">
              <a:extLst>
                <a:ext uri="{FF2B5EF4-FFF2-40B4-BE49-F238E27FC236}">
                  <a16:creationId xmlns:a16="http://schemas.microsoft.com/office/drawing/2014/main" id="{3DD6E37A-75A1-4660-A146-5C152ACB6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34278" y="3071170"/>
              <a:ext cx="802349" cy="802349"/>
            </a:xfrm>
            <a:prstGeom prst="rect">
              <a:avLst/>
            </a:prstGeom>
          </p:spPr>
        </p:pic>
      </p:grpSp>
      <p:grpSp>
        <p:nvGrpSpPr>
          <p:cNvPr id="60" name="Step 4 Question">
            <a:extLst>
              <a:ext uri="{FF2B5EF4-FFF2-40B4-BE49-F238E27FC236}">
                <a16:creationId xmlns:a16="http://schemas.microsoft.com/office/drawing/2014/main" id="{C7BC12F5-9763-4B28-80A4-6F416974AD6A}"/>
              </a:ext>
            </a:extLst>
          </p:cNvPr>
          <p:cNvGrpSpPr/>
          <p:nvPr/>
        </p:nvGrpSpPr>
        <p:grpSpPr>
          <a:xfrm>
            <a:off x="181122" y="3698877"/>
            <a:ext cx="2103120" cy="719579"/>
            <a:chOff x="177115" y="4211452"/>
            <a:chExt cx="2185336" cy="719579"/>
          </a:xfrm>
        </p:grpSpPr>
        <p:sp>
          <p:nvSpPr>
            <p:cNvPr id="61" name="sub-q 1 button">
              <a:hlinkClick r:id="rId10" action="ppaction://hlinksldjump"/>
              <a:extLst>
                <a:ext uri="{FF2B5EF4-FFF2-40B4-BE49-F238E27FC236}">
                  <a16:creationId xmlns:a16="http://schemas.microsoft.com/office/drawing/2014/main" id="{99FFB66D-769F-412F-B2DB-C40D7855A013}"/>
                </a:ext>
              </a:extLst>
            </p:cNvPr>
            <p:cNvSpPr txBox="1"/>
            <p:nvPr/>
          </p:nvSpPr>
          <p:spPr>
            <a:xfrm>
              <a:off x="177115" y="4211452"/>
              <a:ext cx="2185336" cy="718840"/>
            </a:xfrm>
            <a:prstGeom prst="roundRect">
              <a:avLst/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tlCol="0">
              <a:noAutofit/>
            </a:bodyPr>
            <a:lstStyle/>
            <a:p>
              <a:r>
                <a:rPr lang="en-US" b="1" dirty="0">
                  <a:solidFill>
                    <a:sysClr val="windowText" lastClr="000000"/>
                  </a:solidFill>
                </a:rPr>
                <a:t>Step 4</a:t>
              </a:r>
            </a:p>
          </p:txBody>
        </p:sp>
        <p:pic>
          <p:nvPicPr>
            <p:cNvPr id="62" name="Graphic 61" descr="Transfer with solid fill">
              <a:extLst>
                <a:ext uri="{FF2B5EF4-FFF2-40B4-BE49-F238E27FC236}">
                  <a16:creationId xmlns:a16="http://schemas.microsoft.com/office/drawing/2014/main" id="{610E8603-7EDD-423C-8371-F3D7DC1BA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318888" y="4212191"/>
              <a:ext cx="718840" cy="718840"/>
            </a:xfrm>
            <a:prstGeom prst="rect">
              <a:avLst/>
            </a:prstGeom>
          </p:spPr>
        </p:pic>
      </p:grpSp>
      <p:grpSp>
        <p:nvGrpSpPr>
          <p:cNvPr id="63" name="Step 5 Question Group">
            <a:extLst>
              <a:ext uri="{FF2B5EF4-FFF2-40B4-BE49-F238E27FC236}">
                <a16:creationId xmlns:a16="http://schemas.microsoft.com/office/drawing/2014/main" id="{92BA197F-FF8F-4E2E-AABB-38CC278395CB}"/>
              </a:ext>
            </a:extLst>
          </p:cNvPr>
          <p:cNvGrpSpPr/>
          <p:nvPr/>
        </p:nvGrpSpPr>
        <p:grpSpPr>
          <a:xfrm>
            <a:off x="183154" y="4612164"/>
            <a:ext cx="2103120" cy="732964"/>
            <a:chOff x="199997" y="5175187"/>
            <a:chExt cx="2185336" cy="732964"/>
          </a:xfrm>
        </p:grpSpPr>
        <p:sp>
          <p:nvSpPr>
            <p:cNvPr id="65" name="sub-q 2">
              <a:hlinkClick r:id="rId13" action="ppaction://hlinksldjump"/>
              <a:extLst>
                <a:ext uri="{FF2B5EF4-FFF2-40B4-BE49-F238E27FC236}">
                  <a16:creationId xmlns:a16="http://schemas.microsoft.com/office/drawing/2014/main" id="{335901A4-662F-492A-962D-7A56F6B50D6B}"/>
                </a:ext>
              </a:extLst>
            </p:cNvPr>
            <p:cNvSpPr txBox="1"/>
            <p:nvPr/>
          </p:nvSpPr>
          <p:spPr>
            <a:xfrm>
              <a:off x="199997" y="5179241"/>
              <a:ext cx="2185336" cy="718840"/>
            </a:xfrm>
            <a:prstGeom prst="roundRect">
              <a:avLst>
                <a:gd name="adj" fmla="val 18844"/>
              </a:avLst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Ins="91440" rtlCol="0">
              <a:noAutofit/>
            </a:bodyPr>
            <a:lstStyle/>
            <a:p>
              <a:r>
                <a:rPr lang="en-US" b="1" dirty="0">
                  <a:solidFill>
                    <a:sysClr val="windowText" lastClr="000000"/>
                  </a:solidFill>
                </a:rPr>
                <a:t>Step 5</a:t>
              </a:r>
            </a:p>
          </p:txBody>
        </p:sp>
        <p:pic>
          <p:nvPicPr>
            <p:cNvPr id="66" name="Graphic 65" descr="Downward trend graph with solid fill">
              <a:extLst>
                <a:ext uri="{FF2B5EF4-FFF2-40B4-BE49-F238E27FC236}">
                  <a16:creationId xmlns:a16="http://schemas.microsoft.com/office/drawing/2014/main" id="{649299AE-31EA-4240-BD93-370208831C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308771" y="5175187"/>
              <a:ext cx="732964" cy="732964"/>
            </a:xfrm>
            <a:prstGeom prst="rect">
              <a:avLst/>
            </a:prstGeom>
          </p:spPr>
        </p:pic>
      </p:grpSp>
      <p:grpSp>
        <p:nvGrpSpPr>
          <p:cNvPr id="73" name="Step 1 Question">
            <a:extLst>
              <a:ext uri="{FF2B5EF4-FFF2-40B4-BE49-F238E27FC236}">
                <a16:creationId xmlns:a16="http://schemas.microsoft.com/office/drawing/2014/main" id="{D442CFB8-CFB1-4D25-A8D7-E58D9F3592A9}"/>
              </a:ext>
            </a:extLst>
          </p:cNvPr>
          <p:cNvGrpSpPr/>
          <p:nvPr/>
        </p:nvGrpSpPr>
        <p:grpSpPr>
          <a:xfrm>
            <a:off x="181122" y="797693"/>
            <a:ext cx="2103120" cy="724673"/>
            <a:chOff x="143887" y="1045203"/>
            <a:chExt cx="2205728" cy="724673"/>
          </a:xfrm>
        </p:grpSpPr>
        <p:sp>
          <p:nvSpPr>
            <p:cNvPr id="74" name="Question 2">
              <a:hlinkClick r:id="rId16" action="ppaction://hlinksldjump"/>
              <a:extLst>
                <a:ext uri="{FF2B5EF4-FFF2-40B4-BE49-F238E27FC236}">
                  <a16:creationId xmlns:a16="http://schemas.microsoft.com/office/drawing/2014/main" id="{8AA9ECB6-A007-4DD4-8764-F6D67E9F5817}"/>
                </a:ext>
              </a:extLst>
            </p:cNvPr>
            <p:cNvSpPr txBox="1"/>
            <p:nvPr/>
          </p:nvSpPr>
          <p:spPr>
            <a:xfrm>
              <a:off x="143887" y="1045203"/>
              <a:ext cx="2205728" cy="724673"/>
            </a:xfrm>
            <a:prstGeom prst="roundRect">
              <a:avLst/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274320" tIns="182880" rtlCol="0">
              <a:noAutofit/>
            </a:bodyPr>
            <a:lstStyle/>
            <a:p>
              <a:r>
                <a:rPr lang="en-US" b="1" dirty="0">
                  <a:solidFill>
                    <a:sysClr val="windowText" lastClr="000000"/>
                  </a:solidFill>
                </a:rPr>
                <a:t>Step 1</a:t>
              </a:r>
            </a:p>
          </p:txBody>
        </p:sp>
        <p:pic>
          <p:nvPicPr>
            <p:cNvPr id="76" name="Graphic 75" descr="Test tubes outline">
              <a:hlinkClick r:id="rId16" action="ppaction://hlinksldjump"/>
              <a:extLst>
                <a:ext uri="{FF2B5EF4-FFF2-40B4-BE49-F238E27FC236}">
                  <a16:creationId xmlns:a16="http://schemas.microsoft.com/office/drawing/2014/main" id="{CA6E54CF-CAED-4B63-93ED-6E88F565B3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377019" y="1058879"/>
              <a:ext cx="675768" cy="675768"/>
            </a:xfrm>
            <a:prstGeom prst="rect">
              <a:avLst/>
            </a:prstGeom>
          </p:spPr>
        </p:pic>
      </p:grp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BC16206-E1A3-4674-8B1A-90D8C01B1984}"/>
              </a:ext>
            </a:extLst>
          </p:cNvPr>
          <p:cNvCxnSpPr>
            <a:cxnSpLocks/>
          </p:cNvCxnSpPr>
          <p:nvPr/>
        </p:nvCxnSpPr>
        <p:spPr>
          <a:xfrm>
            <a:off x="7267465" y="136445"/>
            <a:ext cx="0" cy="6599003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Case 2 - button">
            <a:extLst>
              <a:ext uri="{FF2B5EF4-FFF2-40B4-BE49-F238E27FC236}">
                <a16:creationId xmlns:a16="http://schemas.microsoft.com/office/drawing/2014/main" id="{97CEA610-30C6-442C-A189-12B60584FE44}"/>
              </a:ext>
            </a:extLst>
          </p:cNvPr>
          <p:cNvSpPr/>
          <p:nvPr/>
        </p:nvSpPr>
        <p:spPr>
          <a:xfrm>
            <a:off x="8725545" y="189461"/>
            <a:ext cx="2194560" cy="412786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2</a:t>
            </a:r>
          </a:p>
        </p:txBody>
      </p:sp>
      <p:sp>
        <p:nvSpPr>
          <p:cNvPr id="92" name="Case 1 text">
            <a:extLst>
              <a:ext uri="{FF2B5EF4-FFF2-40B4-BE49-F238E27FC236}">
                <a16:creationId xmlns:a16="http://schemas.microsoft.com/office/drawing/2014/main" id="{598C15E3-814A-432B-897B-6EC3DD4A47F3}"/>
              </a:ext>
            </a:extLst>
          </p:cNvPr>
          <p:cNvSpPr txBox="1"/>
          <p:nvPr/>
        </p:nvSpPr>
        <p:spPr>
          <a:xfrm>
            <a:off x="3303215" y="764884"/>
            <a:ext cx="3816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3" name="Case 1 Q2">
            <a:extLst>
              <a:ext uri="{FF2B5EF4-FFF2-40B4-BE49-F238E27FC236}">
                <a16:creationId xmlns:a16="http://schemas.microsoft.com/office/drawing/2014/main" id="{3A1AEEC1-2C8E-4A06-9F98-ABAD8C7EDE2F}"/>
              </a:ext>
            </a:extLst>
          </p:cNvPr>
          <p:cNvSpPr/>
          <p:nvPr/>
        </p:nvSpPr>
        <p:spPr>
          <a:xfrm>
            <a:off x="2672294" y="3597709"/>
            <a:ext cx="4389120" cy="365522"/>
          </a:xfrm>
          <a:prstGeom prst="roundRect">
            <a:avLst>
              <a:gd name="adj" fmla="val 10321"/>
            </a:avLst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What is the next step in management? </a:t>
            </a:r>
          </a:p>
        </p:txBody>
      </p:sp>
      <p:sp>
        <p:nvSpPr>
          <p:cNvPr id="94" name="Case 1 Q3">
            <a:extLst>
              <a:ext uri="{FF2B5EF4-FFF2-40B4-BE49-F238E27FC236}">
                <a16:creationId xmlns:a16="http://schemas.microsoft.com/office/drawing/2014/main" id="{4BA81C99-5F0E-4F83-A973-0358A25AF9A1}"/>
              </a:ext>
            </a:extLst>
          </p:cNvPr>
          <p:cNvSpPr/>
          <p:nvPr/>
        </p:nvSpPr>
        <p:spPr>
          <a:xfrm>
            <a:off x="2672294" y="4781820"/>
            <a:ext cx="4389120" cy="350496"/>
          </a:xfrm>
          <a:prstGeom prst="roundRect">
            <a:avLst>
              <a:gd name="adj" fmla="val 13824"/>
            </a:avLst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What temporizing measures would you use?</a:t>
            </a:r>
          </a:p>
        </p:txBody>
      </p:sp>
      <p:sp>
        <p:nvSpPr>
          <p:cNvPr id="95" name="Case 1 Q1">
            <a:extLst>
              <a:ext uri="{FF2B5EF4-FFF2-40B4-BE49-F238E27FC236}">
                <a16:creationId xmlns:a16="http://schemas.microsoft.com/office/drawing/2014/main" id="{7A20ADAB-0FBA-4E7C-B370-793DF230129A}"/>
              </a:ext>
            </a:extLst>
          </p:cNvPr>
          <p:cNvSpPr/>
          <p:nvPr/>
        </p:nvSpPr>
        <p:spPr>
          <a:xfrm>
            <a:off x="2672294" y="1968314"/>
            <a:ext cx="4389120" cy="365522"/>
          </a:xfrm>
          <a:prstGeom prst="roundRect">
            <a:avLst/>
          </a:prstGeom>
          <a:solidFill>
            <a:srgbClr val="5B9BD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What is the next step in management?</a:t>
            </a:r>
          </a:p>
        </p:txBody>
      </p:sp>
      <p:sp>
        <p:nvSpPr>
          <p:cNvPr id="96" name="Case 1 - dx answer">
            <a:extLst>
              <a:ext uri="{FF2B5EF4-FFF2-40B4-BE49-F238E27FC236}">
                <a16:creationId xmlns:a16="http://schemas.microsoft.com/office/drawing/2014/main" id="{0D78A781-2ACF-499F-96B8-1E5083E35F96}"/>
              </a:ext>
            </a:extLst>
          </p:cNvPr>
          <p:cNvSpPr/>
          <p:nvPr/>
        </p:nvSpPr>
        <p:spPr>
          <a:xfrm>
            <a:off x="2659404" y="2401064"/>
            <a:ext cx="4414900" cy="1177684"/>
          </a:xfrm>
          <a:prstGeom prst="roundRect">
            <a:avLst>
              <a:gd name="adj" fmla="val 11507"/>
            </a:avLst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rtlCol="0" anchor="t"/>
          <a:lstStyle/>
          <a:p>
            <a:pPr algn="ctr"/>
            <a:r>
              <a:rPr lang="en-US" sz="1400" dirty="0"/>
              <a:t>Obtain an ECG. </a:t>
            </a:r>
          </a:p>
        </p:txBody>
      </p:sp>
      <p:sp>
        <p:nvSpPr>
          <p:cNvPr id="97" name="Case 1 text">
            <a:extLst>
              <a:ext uri="{FF2B5EF4-FFF2-40B4-BE49-F238E27FC236}">
                <a16:creationId xmlns:a16="http://schemas.microsoft.com/office/drawing/2014/main" id="{27E58B08-A581-4548-8DF7-18548D61D4B8}"/>
              </a:ext>
            </a:extLst>
          </p:cNvPr>
          <p:cNvSpPr txBox="1"/>
          <p:nvPr/>
        </p:nvSpPr>
        <p:spPr>
          <a:xfrm>
            <a:off x="2585394" y="660172"/>
            <a:ext cx="456292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/>
              <a:t>55 </a:t>
            </a:r>
            <a:r>
              <a:rPr lang="en-US" sz="1400" dirty="0" err="1"/>
              <a:t>yo</a:t>
            </a:r>
            <a:r>
              <a:rPr lang="en-US" sz="1400" dirty="0"/>
              <a:t> with ESRD on HD via an AV fistula presents with shortness of breath and pain in their fistula site after missing dialysis. </a:t>
            </a:r>
            <a:r>
              <a:rPr lang="en-US" sz="1400" dirty="0" err="1"/>
              <a:t>Fistulogram</a:t>
            </a:r>
            <a:r>
              <a:rPr lang="en-US" sz="1400" dirty="0"/>
              <a:t> shows stenosis of the AV fistula. They are anuric. 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dirty="0"/>
              <a:t>BMP - K 6.7 (no hemolysis), HCO3 19, BUN 56, Cr of 10.5. </a:t>
            </a:r>
          </a:p>
        </p:txBody>
      </p:sp>
      <p:sp>
        <p:nvSpPr>
          <p:cNvPr id="98" name="Case 1 button">
            <a:extLst>
              <a:ext uri="{FF2B5EF4-FFF2-40B4-BE49-F238E27FC236}">
                <a16:creationId xmlns:a16="http://schemas.microsoft.com/office/drawing/2014/main" id="{80C05073-4D55-42F0-81BB-2D5D61DC1992}"/>
              </a:ext>
            </a:extLst>
          </p:cNvPr>
          <p:cNvSpPr/>
          <p:nvPr/>
        </p:nvSpPr>
        <p:spPr>
          <a:xfrm>
            <a:off x="3587620" y="189461"/>
            <a:ext cx="2194560" cy="412786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1</a:t>
            </a:r>
          </a:p>
        </p:txBody>
      </p:sp>
      <p:pic>
        <p:nvPicPr>
          <p:cNvPr id="99" name="Graphic 98" descr="Cursor with solid fill">
            <a:extLst>
              <a:ext uri="{FF2B5EF4-FFF2-40B4-BE49-F238E27FC236}">
                <a16:creationId xmlns:a16="http://schemas.microsoft.com/office/drawing/2014/main" id="{CF4C42AE-46D3-4B54-9E75-B09188B9E5C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658510" y="489918"/>
            <a:ext cx="301752" cy="301752"/>
          </a:xfrm>
          <a:prstGeom prst="rect">
            <a:avLst/>
          </a:prstGeom>
        </p:spPr>
      </p:pic>
      <p:pic>
        <p:nvPicPr>
          <p:cNvPr id="100" name="Graphic 99" descr="Cursor with solid fill">
            <a:extLst>
              <a:ext uri="{FF2B5EF4-FFF2-40B4-BE49-F238E27FC236}">
                <a16:creationId xmlns:a16="http://schemas.microsoft.com/office/drawing/2014/main" id="{87549AE9-8BC9-462A-8FC5-DB33A11C853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914658" y="2226291"/>
            <a:ext cx="301752" cy="301752"/>
          </a:xfrm>
          <a:prstGeom prst="rect">
            <a:avLst/>
          </a:prstGeom>
        </p:spPr>
      </p:pic>
      <p:pic>
        <p:nvPicPr>
          <p:cNvPr id="101" name="Graphic 100" descr="Cursor with solid fill">
            <a:extLst>
              <a:ext uri="{FF2B5EF4-FFF2-40B4-BE49-F238E27FC236}">
                <a16:creationId xmlns:a16="http://schemas.microsoft.com/office/drawing/2014/main" id="{87210044-DD00-4D0A-A16C-447EC7712F1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914658" y="3836986"/>
            <a:ext cx="301752" cy="301752"/>
          </a:xfrm>
          <a:prstGeom prst="rect">
            <a:avLst/>
          </a:prstGeom>
        </p:spPr>
      </p:pic>
      <p:pic>
        <p:nvPicPr>
          <p:cNvPr id="102" name="Graphic 101" descr="Cursor with solid fill">
            <a:extLst>
              <a:ext uri="{FF2B5EF4-FFF2-40B4-BE49-F238E27FC236}">
                <a16:creationId xmlns:a16="http://schemas.microsoft.com/office/drawing/2014/main" id="{1783F5EF-BA68-4564-8971-EBA2D15B976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914658" y="5012915"/>
            <a:ext cx="301752" cy="312395"/>
          </a:xfrm>
          <a:prstGeom prst="rect">
            <a:avLst/>
          </a:prstGeom>
        </p:spPr>
      </p:pic>
      <p:pic>
        <p:nvPicPr>
          <p:cNvPr id="103" name="Picture 102" descr="A picture containing shoji, building&#10;&#10;Description automatically generated">
            <a:extLst>
              <a:ext uri="{FF2B5EF4-FFF2-40B4-BE49-F238E27FC236}">
                <a16:creationId xmlns:a16="http://schemas.microsoft.com/office/drawing/2014/main" id="{C3FD4278-B82A-4C17-8ED8-861C70C489F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429" y="2664517"/>
            <a:ext cx="3877216" cy="847843"/>
          </a:xfrm>
          <a:prstGeom prst="rect">
            <a:avLst/>
          </a:prstGeom>
        </p:spPr>
      </p:pic>
      <p:sp>
        <p:nvSpPr>
          <p:cNvPr id="104" name="Case 1 - dx answer">
            <a:extLst>
              <a:ext uri="{FF2B5EF4-FFF2-40B4-BE49-F238E27FC236}">
                <a16:creationId xmlns:a16="http://schemas.microsoft.com/office/drawing/2014/main" id="{25F6DAC6-CBA3-486B-B60E-943C002E76C4}"/>
              </a:ext>
            </a:extLst>
          </p:cNvPr>
          <p:cNvSpPr/>
          <p:nvPr/>
        </p:nvSpPr>
        <p:spPr>
          <a:xfrm>
            <a:off x="2647659" y="4019403"/>
            <a:ext cx="4438391" cy="741639"/>
          </a:xfrm>
          <a:prstGeom prst="roundRect">
            <a:avLst>
              <a:gd name="adj" fmla="val 11507"/>
            </a:avLst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rtlCol="0" anchor="t"/>
          <a:lstStyle/>
          <a:p>
            <a:pPr algn="ctr"/>
            <a:r>
              <a:rPr lang="en-US" sz="1400" dirty="0"/>
              <a:t>ECG – no obvious changes. With the severity of hyperkalemia, give </a:t>
            </a:r>
            <a:r>
              <a:rPr lang="en-US" sz="1400" b="1" dirty="0"/>
              <a:t>IV Ca </a:t>
            </a:r>
            <a:r>
              <a:rPr lang="en-US" sz="1400" dirty="0"/>
              <a:t>(gluconate 1- 2 g) for cardiac stabilization. Monitor on telemetry.</a:t>
            </a:r>
          </a:p>
        </p:txBody>
      </p:sp>
      <p:sp>
        <p:nvSpPr>
          <p:cNvPr id="105" name="Case 1 - dx answer">
            <a:extLst>
              <a:ext uri="{FF2B5EF4-FFF2-40B4-BE49-F238E27FC236}">
                <a16:creationId xmlns:a16="http://schemas.microsoft.com/office/drawing/2014/main" id="{4E475AC9-9C02-4A3F-9B5F-0AA8F0A59110}"/>
              </a:ext>
            </a:extLst>
          </p:cNvPr>
          <p:cNvSpPr/>
          <p:nvPr/>
        </p:nvSpPr>
        <p:spPr>
          <a:xfrm>
            <a:off x="2634014" y="5199183"/>
            <a:ext cx="4465680" cy="482483"/>
          </a:xfrm>
          <a:prstGeom prst="roundRect">
            <a:avLst>
              <a:gd name="adj" fmla="val 11507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rtlCol="0" anchor="t"/>
          <a:lstStyle/>
          <a:p>
            <a:pPr algn="ctr"/>
            <a:r>
              <a:rPr lang="en-US" sz="1400" dirty="0"/>
              <a:t>IV regular </a:t>
            </a:r>
            <a:r>
              <a:rPr lang="en-US" sz="1400" b="1" dirty="0"/>
              <a:t>insulin</a:t>
            </a:r>
            <a:r>
              <a:rPr lang="en-US" sz="1400" dirty="0"/>
              <a:t> </a:t>
            </a:r>
            <a:r>
              <a:rPr lang="en-US" sz="1400" b="1" dirty="0"/>
              <a:t>5U</a:t>
            </a:r>
            <a:r>
              <a:rPr lang="en-US" sz="1400" dirty="0"/>
              <a:t> (because of ESRD) + D50W, </a:t>
            </a:r>
            <a:r>
              <a:rPr lang="en-US" sz="1400" b="1" dirty="0"/>
              <a:t>albuterol</a:t>
            </a:r>
            <a:r>
              <a:rPr lang="en-US" sz="1400" dirty="0"/>
              <a:t> nebulizer 20 mg. NaHCO</a:t>
            </a:r>
            <a:r>
              <a:rPr lang="en-US" sz="1400" baseline="-25000" dirty="0"/>
              <a:t>3</a:t>
            </a:r>
            <a:r>
              <a:rPr lang="en-US" sz="1400" dirty="0"/>
              <a:t> likely ineffective in ESRD.</a:t>
            </a:r>
          </a:p>
        </p:txBody>
      </p:sp>
      <p:sp>
        <p:nvSpPr>
          <p:cNvPr id="107" name="Case 2 Q2">
            <a:extLst>
              <a:ext uri="{FF2B5EF4-FFF2-40B4-BE49-F238E27FC236}">
                <a16:creationId xmlns:a16="http://schemas.microsoft.com/office/drawing/2014/main" id="{3BFAB8F9-3BFF-4AAC-A809-5F4079303E79}"/>
              </a:ext>
            </a:extLst>
          </p:cNvPr>
          <p:cNvSpPr/>
          <p:nvPr/>
        </p:nvSpPr>
        <p:spPr>
          <a:xfrm>
            <a:off x="7478023" y="3654686"/>
            <a:ext cx="4480560" cy="365522"/>
          </a:xfrm>
          <a:prstGeom prst="roundRect">
            <a:avLst>
              <a:gd name="adj" fmla="val 10321"/>
            </a:avLst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What is the next step in management?</a:t>
            </a:r>
          </a:p>
        </p:txBody>
      </p:sp>
      <p:sp>
        <p:nvSpPr>
          <p:cNvPr id="108" name="Case 2 Q3">
            <a:extLst>
              <a:ext uri="{FF2B5EF4-FFF2-40B4-BE49-F238E27FC236}">
                <a16:creationId xmlns:a16="http://schemas.microsoft.com/office/drawing/2014/main" id="{1F68A74C-F318-441A-A0B6-9B008DD013EC}"/>
              </a:ext>
            </a:extLst>
          </p:cNvPr>
          <p:cNvSpPr/>
          <p:nvPr/>
        </p:nvSpPr>
        <p:spPr>
          <a:xfrm>
            <a:off x="7478023" y="4704894"/>
            <a:ext cx="4480560" cy="350496"/>
          </a:xfrm>
          <a:prstGeom prst="roundRect">
            <a:avLst>
              <a:gd name="adj" fmla="val 13824"/>
            </a:avLst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What temporizing measures would you use?</a:t>
            </a:r>
          </a:p>
        </p:txBody>
      </p:sp>
      <p:sp>
        <p:nvSpPr>
          <p:cNvPr id="109" name="Case 2 Q1">
            <a:extLst>
              <a:ext uri="{FF2B5EF4-FFF2-40B4-BE49-F238E27FC236}">
                <a16:creationId xmlns:a16="http://schemas.microsoft.com/office/drawing/2014/main" id="{2CB55251-BAB4-459C-A8B6-5BBBF6C4E1C5}"/>
              </a:ext>
            </a:extLst>
          </p:cNvPr>
          <p:cNvSpPr/>
          <p:nvPr/>
        </p:nvSpPr>
        <p:spPr>
          <a:xfrm>
            <a:off x="7478023" y="1738793"/>
            <a:ext cx="4480560" cy="365522"/>
          </a:xfrm>
          <a:prstGeom prst="roundRect">
            <a:avLst/>
          </a:prstGeom>
          <a:solidFill>
            <a:srgbClr val="5B9BD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What is the next step in management?</a:t>
            </a:r>
          </a:p>
        </p:txBody>
      </p:sp>
      <p:sp>
        <p:nvSpPr>
          <p:cNvPr id="110" name="Case 1 - dx answer">
            <a:extLst>
              <a:ext uri="{FF2B5EF4-FFF2-40B4-BE49-F238E27FC236}">
                <a16:creationId xmlns:a16="http://schemas.microsoft.com/office/drawing/2014/main" id="{E1778F51-0C56-48DC-A1AD-DAFB07E62E2B}"/>
              </a:ext>
            </a:extLst>
          </p:cNvPr>
          <p:cNvSpPr/>
          <p:nvPr/>
        </p:nvSpPr>
        <p:spPr>
          <a:xfrm>
            <a:off x="7491119" y="2180715"/>
            <a:ext cx="4454368" cy="635627"/>
          </a:xfrm>
          <a:prstGeom prst="roundRect">
            <a:avLst>
              <a:gd name="adj" fmla="val 11507"/>
            </a:avLst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rtlCol="0" anchor="t"/>
          <a:lstStyle/>
          <a:p>
            <a:pPr algn="ctr"/>
            <a:r>
              <a:rPr lang="en-US" sz="1400" dirty="0"/>
              <a:t>Obtain an ECG. Click below for full image. </a:t>
            </a:r>
          </a:p>
        </p:txBody>
      </p:sp>
      <p:sp>
        <p:nvSpPr>
          <p:cNvPr id="111" name="Case 1 text">
            <a:extLst>
              <a:ext uri="{FF2B5EF4-FFF2-40B4-BE49-F238E27FC236}">
                <a16:creationId xmlns:a16="http://schemas.microsoft.com/office/drawing/2014/main" id="{183D61D8-EB18-4BFC-99F2-715C362E9797}"/>
              </a:ext>
            </a:extLst>
          </p:cNvPr>
          <p:cNvSpPr txBox="1"/>
          <p:nvPr/>
        </p:nvSpPr>
        <p:spPr>
          <a:xfrm>
            <a:off x="7423503" y="660172"/>
            <a:ext cx="4658545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/>
              <a:t>65 </a:t>
            </a:r>
            <a:r>
              <a:rPr lang="en-US" sz="1400" dirty="0" err="1"/>
              <a:t>yo</a:t>
            </a:r>
            <a:r>
              <a:rPr lang="en-US" sz="1400" dirty="0"/>
              <a:t> with metastatic colon cancer presents for colectomy. On POD3, develops new non-oliguric AKI. </a:t>
            </a:r>
          </a:p>
          <a:p>
            <a:pPr marL="0" indent="0">
              <a:buNone/>
            </a:pPr>
            <a:endParaRPr lang="en-US" sz="600" dirty="0"/>
          </a:p>
          <a:p>
            <a:r>
              <a:rPr lang="en-US" sz="1400" dirty="0"/>
              <a:t>Appears euvolemic on exam. Labs show K of 6.0, Cr 0.6 → 3.5, HCO3 13. ABG shows pH of 7.2. </a:t>
            </a:r>
          </a:p>
        </p:txBody>
      </p:sp>
      <p:pic>
        <p:nvPicPr>
          <p:cNvPr id="112" name="Graphic 111" descr="Cursor with solid fill">
            <a:extLst>
              <a:ext uri="{FF2B5EF4-FFF2-40B4-BE49-F238E27FC236}">
                <a16:creationId xmlns:a16="http://schemas.microsoft.com/office/drawing/2014/main" id="{01005832-7EA1-4228-8FEA-CB4D2148C84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824921" y="2002320"/>
            <a:ext cx="301752" cy="301752"/>
          </a:xfrm>
          <a:prstGeom prst="rect">
            <a:avLst/>
          </a:prstGeom>
        </p:spPr>
      </p:pic>
      <p:pic>
        <p:nvPicPr>
          <p:cNvPr id="113" name="Graphic 112" descr="Cursor with solid fill">
            <a:extLst>
              <a:ext uri="{FF2B5EF4-FFF2-40B4-BE49-F238E27FC236}">
                <a16:creationId xmlns:a16="http://schemas.microsoft.com/office/drawing/2014/main" id="{AFE37019-EE58-4F75-8FF7-90E9AE5F113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824921" y="3920030"/>
            <a:ext cx="301752" cy="301752"/>
          </a:xfrm>
          <a:prstGeom prst="rect">
            <a:avLst/>
          </a:prstGeom>
        </p:spPr>
      </p:pic>
      <p:pic>
        <p:nvPicPr>
          <p:cNvPr id="114" name="Graphic 113" descr="Cursor with solid fill">
            <a:extLst>
              <a:ext uri="{FF2B5EF4-FFF2-40B4-BE49-F238E27FC236}">
                <a16:creationId xmlns:a16="http://schemas.microsoft.com/office/drawing/2014/main" id="{056D9C43-5DDA-409D-AAED-CEC4484648E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824921" y="4931460"/>
            <a:ext cx="301752" cy="312395"/>
          </a:xfrm>
          <a:prstGeom prst="rect">
            <a:avLst/>
          </a:prstGeom>
        </p:spPr>
      </p:pic>
      <p:sp>
        <p:nvSpPr>
          <p:cNvPr id="115" name="Case 1 - dx answer">
            <a:extLst>
              <a:ext uri="{FF2B5EF4-FFF2-40B4-BE49-F238E27FC236}">
                <a16:creationId xmlns:a16="http://schemas.microsoft.com/office/drawing/2014/main" id="{60F62639-4C2C-4BAF-81D4-1744A7C91ECC}"/>
              </a:ext>
            </a:extLst>
          </p:cNvPr>
          <p:cNvSpPr/>
          <p:nvPr/>
        </p:nvSpPr>
        <p:spPr>
          <a:xfrm>
            <a:off x="7464840" y="4102227"/>
            <a:ext cx="4506926" cy="515836"/>
          </a:xfrm>
          <a:prstGeom prst="roundRect">
            <a:avLst>
              <a:gd name="adj" fmla="val 11507"/>
            </a:avLst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rtlCol="0" anchor="t"/>
          <a:lstStyle/>
          <a:p>
            <a:pPr algn="ctr"/>
            <a:r>
              <a:rPr lang="en-US" sz="1400" b="1" dirty="0"/>
              <a:t>IV</a:t>
            </a:r>
            <a:r>
              <a:rPr lang="en-US" sz="1400" dirty="0"/>
              <a:t> </a:t>
            </a:r>
            <a:r>
              <a:rPr lang="en-US" sz="1400" b="1" dirty="0"/>
              <a:t>Ca</a:t>
            </a:r>
            <a:r>
              <a:rPr lang="en-US" sz="1400" dirty="0"/>
              <a:t> gluconate 1-2 g. </a:t>
            </a:r>
            <a:r>
              <a:rPr lang="en-US" sz="1400" b="1" dirty="0"/>
              <a:t>Repeat ECG </a:t>
            </a:r>
            <a:r>
              <a:rPr lang="en-US" sz="1400" dirty="0"/>
              <a:t>in 30-60 min. Repeat IV Ca if persistent ECG changes. Monitor on telemetry.</a:t>
            </a:r>
          </a:p>
        </p:txBody>
      </p:sp>
      <p:sp>
        <p:nvSpPr>
          <p:cNvPr id="116" name="Case 1 - dx answer">
            <a:extLst>
              <a:ext uri="{FF2B5EF4-FFF2-40B4-BE49-F238E27FC236}">
                <a16:creationId xmlns:a16="http://schemas.microsoft.com/office/drawing/2014/main" id="{25FF44DE-3CA9-47D4-B917-32C7D382299D}"/>
              </a:ext>
            </a:extLst>
          </p:cNvPr>
          <p:cNvSpPr/>
          <p:nvPr/>
        </p:nvSpPr>
        <p:spPr>
          <a:xfrm>
            <a:off x="7441134" y="5122257"/>
            <a:ext cx="4554339" cy="574740"/>
          </a:xfrm>
          <a:prstGeom prst="roundRect">
            <a:avLst>
              <a:gd name="adj" fmla="val 11507"/>
            </a:avLst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rtlCol="0" anchor="t"/>
          <a:lstStyle/>
          <a:p>
            <a:pPr algn="ctr"/>
            <a:r>
              <a:rPr lang="en-US" sz="1400" dirty="0"/>
              <a:t>IV regular </a:t>
            </a:r>
            <a:r>
              <a:rPr lang="en-US" sz="1400" b="1" dirty="0"/>
              <a:t>insulin 5U </a:t>
            </a:r>
            <a:r>
              <a:rPr lang="en-US" sz="1400" dirty="0"/>
              <a:t>(because of AKI) + D50W, </a:t>
            </a:r>
            <a:r>
              <a:rPr lang="en-US" sz="1400" b="1" dirty="0"/>
              <a:t>albuterol</a:t>
            </a:r>
            <a:r>
              <a:rPr lang="en-US" sz="1400" dirty="0"/>
              <a:t> nebulizer, </a:t>
            </a:r>
            <a:r>
              <a:rPr lang="en-US" sz="1400" b="1" dirty="0"/>
              <a:t>NaHCO</a:t>
            </a:r>
            <a:r>
              <a:rPr lang="en-US" sz="1400" b="1" baseline="-25000" dirty="0"/>
              <a:t>3</a:t>
            </a:r>
            <a:r>
              <a:rPr lang="en-US" sz="1400" dirty="0"/>
              <a:t> given acidosis</a:t>
            </a:r>
          </a:p>
        </p:txBody>
      </p:sp>
      <p:pic>
        <p:nvPicPr>
          <p:cNvPr id="117" name="Picture 116" descr="A picture containing shoji&#10;&#10;Description automatically generated">
            <a:hlinkClick r:id="rId22" action="ppaction://hlinksldjump"/>
            <a:extLst>
              <a:ext uri="{FF2B5EF4-FFF2-40B4-BE49-F238E27FC236}">
                <a16:creationId xmlns:a16="http://schemas.microsoft.com/office/drawing/2014/main" id="{7539CB8C-605B-40E1-AB1F-61C97AE5D144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18058" y="2533587"/>
            <a:ext cx="2753957" cy="914400"/>
          </a:xfrm>
          <a:prstGeom prst="roundRect">
            <a:avLst>
              <a:gd name="adj" fmla="val 16667"/>
            </a:avLst>
          </a:prstGeom>
          <a:ln w="38100">
            <a:solidFill>
              <a:schemeClr val="tx1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8" name="Graphic 117" descr="Cursor with solid fill">
            <a:extLst>
              <a:ext uri="{FF2B5EF4-FFF2-40B4-BE49-F238E27FC236}">
                <a16:creationId xmlns:a16="http://schemas.microsoft.com/office/drawing/2014/main" id="{DF0EB99A-A2A9-47F5-B6D5-BF453F6D1EC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902738" y="3275721"/>
            <a:ext cx="301752" cy="301752"/>
          </a:xfrm>
          <a:prstGeom prst="rect">
            <a:avLst/>
          </a:prstGeom>
        </p:spPr>
      </p:pic>
      <p:pic>
        <p:nvPicPr>
          <p:cNvPr id="119" name="Graphic 118" descr="Cursor with solid fill">
            <a:extLst>
              <a:ext uri="{FF2B5EF4-FFF2-40B4-BE49-F238E27FC236}">
                <a16:creationId xmlns:a16="http://schemas.microsoft.com/office/drawing/2014/main" id="{5603E05E-97DE-49BB-815D-71A9C3ECC6A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803849" y="494208"/>
            <a:ext cx="301752" cy="301752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7799C074-FADE-4533-AC73-5FDED755A3E3}"/>
              </a:ext>
            </a:extLst>
          </p:cNvPr>
          <p:cNvSpPr txBox="1"/>
          <p:nvPr/>
        </p:nvSpPr>
        <p:spPr>
          <a:xfrm>
            <a:off x="2645234" y="6113895"/>
            <a:ext cx="44432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SZC</a:t>
            </a:r>
            <a:r>
              <a:rPr lang="en-US" sz="1400" dirty="0"/>
              <a:t> if available, </a:t>
            </a:r>
            <a:r>
              <a:rPr lang="en-US" sz="1400" b="1" dirty="0" err="1"/>
              <a:t>Kayexalate</a:t>
            </a:r>
            <a:r>
              <a:rPr lang="en-US" sz="1400" dirty="0"/>
              <a:t> and urgent reversal of </a:t>
            </a:r>
            <a:r>
              <a:rPr lang="en-US" sz="1400" dirty="0" err="1"/>
              <a:t>fistulogram</a:t>
            </a:r>
            <a:r>
              <a:rPr lang="en-US" sz="1400" dirty="0"/>
              <a:t>. Loop diuretics are ineffective when anuria.</a:t>
            </a:r>
          </a:p>
        </p:txBody>
      </p:sp>
      <p:sp>
        <p:nvSpPr>
          <p:cNvPr id="121" name="Case 1 - dx answer">
            <a:extLst>
              <a:ext uri="{FF2B5EF4-FFF2-40B4-BE49-F238E27FC236}">
                <a16:creationId xmlns:a16="http://schemas.microsoft.com/office/drawing/2014/main" id="{6B5B4B80-ED95-4A38-8EA8-2E4829027233}"/>
              </a:ext>
            </a:extLst>
          </p:cNvPr>
          <p:cNvSpPr/>
          <p:nvPr/>
        </p:nvSpPr>
        <p:spPr>
          <a:xfrm>
            <a:off x="7441134" y="6198574"/>
            <a:ext cx="4554339" cy="513623"/>
          </a:xfrm>
          <a:prstGeom prst="roundRect">
            <a:avLst>
              <a:gd name="adj" fmla="val 11507"/>
            </a:avLst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rtlCol="0" anchor="t"/>
          <a:lstStyle/>
          <a:p>
            <a:pPr algn="ctr"/>
            <a:r>
              <a:rPr lang="en-US" sz="1400" dirty="0"/>
              <a:t>IV </a:t>
            </a:r>
            <a:r>
              <a:rPr lang="en-US" sz="1400" b="1" dirty="0"/>
              <a:t>loop</a:t>
            </a:r>
            <a:r>
              <a:rPr lang="en-US" sz="1400" dirty="0"/>
              <a:t> </a:t>
            </a:r>
            <a:r>
              <a:rPr lang="en-US" sz="1400" b="1" dirty="0"/>
              <a:t>diuretics</a:t>
            </a:r>
            <a:r>
              <a:rPr lang="en-US" sz="1400" dirty="0"/>
              <a:t> +/- </a:t>
            </a:r>
            <a:r>
              <a:rPr lang="en-US" sz="1400" b="1" dirty="0"/>
              <a:t>IVF</a:t>
            </a:r>
            <a:r>
              <a:rPr lang="en-US" sz="1400" dirty="0"/>
              <a:t> (isotonic NaHCO</a:t>
            </a:r>
            <a:r>
              <a:rPr lang="en-US" sz="1400" baseline="-25000" dirty="0"/>
              <a:t>3</a:t>
            </a:r>
            <a:r>
              <a:rPr lang="en-US" sz="1400" dirty="0"/>
              <a:t> infusion) to avoid worsening Cr. No </a:t>
            </a:r>
            <a:r>
              <a:rPr lang="en-US" sz="1400" dirty="0" err="1"/>
              <a:t>Kayexalate</a:t>
            </a:r>
            <a:r>
              <a:rPr lang="en-US" sz="1400" dirty="0"/>
              <a:t> given recent bowel surgery</a:t>
            </a:r>
          </a:p>
        </p:txBody>
      </p:sp>
      <p:sp>
        <p:nvSpPr>
          <p:cNvPr id="122" name="Case 1 Q3">
            <a:extLst>
              <a:ext uri="{FF2B5EF4-FFF2-40B4-BE49-F238E27FC236}">
                <a16:creationId xmlns:a16="http://schemas.microsoft.com/office/drawing/2014/main" id="{6DB6CB82-5D0D-4442-8F27-6347DA3DF0C2}"/>
              </a:ext>
            </a:extLst>
          </p:cNvPr>
          <p:cNvSpPr/>
          <p:nvPr/>
        </p:nvSpPr>
        <p:spPr>
          <a:xfrm>
            <a:off x="2672294" y="5714929"/>
            <a:ext cx="4389120" cy="334067"/>
          </a:xfrm>
          <a:prstGeom prst="roundRect">
            <a:avLst>
              <a:gd name="adj" fmla="val 13824"/>
            </a:avLst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What medications will you use for K elimination?</a:t>
            </a:r>
          </a:p>
        </p:txBody>
      </p:sp>
      <p:pic>
        <p:nvPicPr>
          <p:cNvPr id="123" name="Graphic 122" descr="Cursor with solid fill">
            <a:extLst>
              <a:ext uri="{FF2B5EF4-FFF2-40B4-BE49-F238E27FC236}">
                <a16:creationId xmlns:a16="http://schemas.microsoft.com/office/drawing/2014/main" id="{65AAA639-66CE-4765-BC47-9BC13A71B76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914658" y="5933717"/>
            <a:ext cx="301752" cy="312395"/>
          </a:xfrm>
          <a:prstGeom prst="rect">
            <a:avLst/>
          </a:prstGeom>
        </p:spPr>
      </p:pic>
      <p:sp>
        <p:nvSpPr>
          <p:cNvPr id="124" name="Case 2 Q3">
            <a:extLst>
              <a:ext uri="{FF2B5EF4-FFF2-40B4-BE49-F238E27FC236}">
                <a16:creationId xmlns:a16="http://schemas.microsoft.com/office/drawing/2014/main" id="{A0A8FD18-9BF5-4A0C-ABC5-70BB24CB899E}"/>
              </a:ext>
            </a:extLst>
          </p:cNvPr>
          <p:cNvSpPr/>
          <p:nvPr/>
        </p:nvSpPr>
        <p:spPr>
          <a:xfrm>
            <a:off x="7478023" y="5756183"/>
            <a:ext cx="4480560" cy="350496"/>
          </a:xfrm>
          <a:prstGeom prst="roundRect">
            <a:avLst>
              <a:gd name="adj" fmla="val 13824"/>
            </a:avLst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What medications will you use for K elimination?</a:t>
            </a:r>
          </a:p>
        </p:txBody>
      </p:sp>
      <p:pic>
        <p:nvPicPr>
          <p:cNvPr id="125" name="Graphic 124" descr="Cursor with solid fill">
            <a:extLst>
              <a:ext uri="{FF2B5EF4-FFF2-40B4-BE49-F238E27FC236}">
                <a16:creationId xmlns:a16="http://schemas.microsoft.com/office/drawing/2014/main" id="{3EFA0E9B-4C8A-4A87-B5A8-E43F5A77C7A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824921" y="5993451"/>
            <a:ext cx="301752" cy="312395"/>
          </a:xfrm>
          <a:prstGeom prst="rect">
            <a:avLst/>
          </a:prstGeom>
        </p:spPr>
      </p:pic>
      <p:pic>
        <p:nvPicPr>
          <p:cNvPr id="64" name="Graphic 63" descr="Cursor with solid fill">
            <a:extLst>
              <a:ext uri="{FF2B5EF4-FFF2-40B4-BE49-F238E27FC236}">
                <a16:creationId xmlns:a16="http://schemas.microsoft.com/office/drawing/2014/main" id="{EC53A2C1-6A11-4CF0-8560-68E98C78DB4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154474" y="435911"/>
            <a:ext cx="301752" cy="301752"/>
          </a:xfrm>
          <a:prstGeom prst="rect">
            <a:avLst/>
          </a:prstGeom>
        </p:spPr>
      </p:pic>
      <p:pic>
        <p:nvPicPr>
          <p:cNvPr id="68" name="Graphic 67" descr="Cursor with solid fill">
            <a:extLst>
              <a:ext uri="{FF2B5EF4-FFF2-40B4-BE49-F238E27FC236}">
                <a16:creationId xmlns:a16="http://schemas.microsoft.com/office/drawing/2014/main" id="{D3095035-B856-437B-934B-33B408E03EB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154474" y="1357347"/>
            <a:ext cx="301752" cy="301752"/>
          </a:xfrm>
          <a:prstGeom prst="rect">
            <a:avLst/>
          </a:prstGeom>
        </p:spPr>
      </p:pic>
      <p:pic>
        <p:nvPicPr>
          <p:cNvPr id="75" name="Graphic 74" descr="Cursor with solid fill">
            <a:extLst>
              <a:ext uri="{FF2B5EF4-FFF2-40B4-BE49-F238E27FC236}">
                <a16:creationId xmlns:a16="http://schemas.microsoft.com/office/drawing/2014/main" id="{85DF7FE1-0EDA-45FA-AB88-A157B4452B0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154474" y="3273485"/>
            <a:ext cx="301752" cy="301752"/>
          </a:xfrm>
          <a:prstGeom prst="rect">
            <a:avLst/>
          </a:prstGeom>
        </p:spPr>
      </p:pic>
      <p:pic>
        <p:nvPicPr>
          <p:cNvPr id="77" name="Graphic 76" descr="Cursor with solid fill">
            <a:extLst>
              <a:ext uri="{FF2B5EF4-FFF2-40B4-BE49-F238E27FC236}">
                <a16:creationId xmlns:a16="http://schemas.microsoft.com/office/drawing/2014/main" id="{D5087E9D-FD60-4B6A-A155-553A14E8624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154474" y="4273381"/>
            <a:ext cx="301752" cy="301752"/>
          </a:xfrm>
          <a:prstGeom prst="rect">
            <a:avLst/>
          </a:prstGeom>
        </p:spPr>
      </p:pic>
      <p:pic>
        <p:nvPicPr>
          <p:cNvPr id="78" name="Graphic 77" descr="Cursor with solid fill">
            <a:extLst>
              <a:ext uri="{FF2B5EF4-FFF2-40B4-BE49-F238E27FC236}">
                <a16:creationId xmlns:a16="http://schemas.microsoft.com/office/drawing/2014/main" id="{BEF587DA-4BF3-4BD7-B8DE-29001E5471D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154474" y="2235955"/>
            <a:ext cx="301752" cy="301752"/>
          </a:xfrm>
          <a:prstGeom prst="rect">
            <a:avLst/>
          </a:prstGeom>
        </p:spPr>
      </p:pic>
      <p:pic>
        <p:nvPicPr>
          <p:cNvPr id="80" name="Graphic 79" descr="Cursor with solid fill">
            <a:extLst>
              <a:ext uri="{FF2B5EF4-FFF2-40B4-BE49-F238E27FC236}">
                <a16:creationId xmlns:a16="http://schemas.microsoft.com/office/drawing/2014/main" id="{E01C8F76-75CD-4CAE-88A6-D15761482E6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154474" y="5166838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204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9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96" restart="whenNotActive" fill="hold" evtFilter="cancelBubble" nodeType="interactiveSeq">
                <p:stCondLst>
                  <p:cond evt="onClick" delay="0">
                    <p:tgtEl>
                      <p:spTgt spid="1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"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1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4"/>
                  </p:tgtEl>
                </p:cond>
              </p:nextCondLst>
            </p:seq>
          </p:childTnLst>
        </p:cTn>
      </p:par>
    </p:tnLst>
    <p:bldLst>
      <p:bldP spid="93" grpId="0" animBg="1"/>
      <p:bldP spid="94" grpId="0" animBg="1"/>
      <p:bldP spid="95" grpId="0" animBg="1"/>
      <p:bldP spid="96" grpId="0" animBg="1"/>
      <p:bldP spid="97" grpId="0"/>
      <p:bldP spid="104" grpId="0" animBg="1"/>
      <p:bldP spid="105" grpId="0" animBg="1"/>
      <p:bldP spid="107" grpId="0" animBg="1"/>
      <p:bldP spid="108" grpId="0" animBg="1"/>
      <p:bldP spid="109" grpId="0" animBg="1"/>
      <p:bldP spid="110" grpId="0" animBg="1"/>
      <p:bldP spid="111" grpId="0"/>
      <p:bldP spid="115" grpId="0" animBg="1"/>
      <p:bldP spid="116" grpId="0" animBg="1"/>
      <p:bldP spid="120" grpId="0"/>
      <p:bldP spid="121" grpId="0" animBg="1"/>
      <p:bldP spid="122" grpId="0" animBg="1"/>
      <p:bldP spid="1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shoji&#10;&#10;Description automatically generated">
            <a:extLst>
              <a:ext uri="{FF2B5EF4-FFF2-40B4-BE49-F238E27FC236}">
                <a16:creationId xmlns:a16="http://schemas.microsoft.com/office/drawing/2014/main" id="{FE37C829-E674-4FEE-9C92-34B8C0191C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18" y="397944"/>
            <a:ext cx="12028563" cy="6008273"/>
          </a:xfrm>
          <a:prstGeom prst="rect">
            <a:avLst/>
          </a:prstGeom>
        </p:spPr>
      </p:pic>
      <p:sp>
        <p:nvSpPr>
          <p:cNvPr id="4" name="Rectangle: Rounded Corners 3">
            <a:hlinkClick r:id="rId3" action="ppaction://hlinksldjump"/>
            <a:extLst>
              <a:ext uri="{FF2B5EF4-FFF2-40B4-BE49-F238E27FC236}">
                <a16:creationId xmlns:a16="http://schemas.microsoft.com/office/drawing/2014/main" id="{095C691B-8232-4FE1-B0E4-2296AA4D1047}"/>
              </a:ext>
            </a:extLst>
          </p:cNvPr>
          <p:cNvSpPr/>
          <p:nvPr/>
        </p:nvSpPr>
        <p:spPr>
          <a:xfrm>
            <a:off x="10854466" y="172122"/>
            <a:ext cx="1000461" cy="398033"/>
          </a:xfrm>
          <a:prstGeom prst="roundRect">
            <a:avLst/>
          </a:prstGeom>
          <a:solidFill>
            <a:schemeClr val="accent5"/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</a:t>
            </a:r>
          </a:p>
        </p:txBody>
      </p:sp>
      <p:pic>
        <p:nvPicPr>
          <p:cNvPr id="5" name="Graphic 4" descr="Cursor with solid fill">
            <a:extLst>
              <a:ext uri="{FF2B5EF4-FFF2-40B4-BE49-F238E27FC236}">
                <a16:creationId xmlns:a16="http://schemas.microsoft.com/office/drawing/2014/main" id="{02F560C3-D1C7-4FE1-8553-09C4D64209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24908" y="440795"/>
            <a:ext cx="301752" cy="30175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D47987D-E86D-4792-ADC0-4345CDF1C3A8}"/>
              </a:ext>
            </a:extLst>
          </p:cNvPr>
          <p:cNvCxnSpPr/>
          <p:nvPr/>
        </p:nvCxnSpPr>
        <p:spPr>
          <a:xfrm flipV="1">
            <a:off x="8896574" y="1344706"/>
            <a:ext cx="193638" cy="25818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DF1DB43-062E-4723-A54C-2128746179AD}"/>
              </a:ext>
            </a:extLst>
          </p:cNvPr>
          <p:cNvCxnSpPr/>
          <p:nvPr/>
        </p:nvCxnSpPr>
        <p:spPr>
          <a:xfrm flipV="1">
            <a:off x="5999181" y="4529040"/>
            <a:ext cx="193638" cy="25818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E80F7D3-EC6B-4611-971E-C36D4918C21E}"/>
              </a:ext>
            </a:extLst>
          </p:cNvPr>
          <p:cNvCxnSpPr/>
          <p:nvPr/>
        </p:nvCxnSpPr>
        <p:spPr>
          <a:xfrm flipV="1">
            <a:off x="8875059" y="2927873"/>
            <a:ext cx="193638" cy="25818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070C130-B391-4BB7-AA8F-5D1ECB01B574}"/>
              </a:ext>
            </a:extLst>
          </p:cNvPr>
          <p:cNvCxnSpPr/>
          <p:nvPr/>
        </p:nvCxnSpPr>
        <p:spPr>
          <a:xfrm flipV="1">
            <a:off x="6027190" y="2908150"/>
            <a:ext cx="193638" cy="25818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8B010F3-E70C-4426-9F5F-856C55EA3F98}"/>
              </a:ext>
            </a:extLst>
          </p:cNvPr>
          <p:cNvCxnSpPr/>
          <p:nvPr/>
        </p:nvCxnSpPr>
        <p:spPr>
          <a:xfrm flipV="1">
            <a:off x="356796" y="2908149"/>
            <a:ext cx="193638" cy="25818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CF7AA6F-2E3E-49CC-9291-178A070894AB}"/>
              </a:ext>
            </a:extLst>
          </p:cNvPr>
          <p:cNvCxnSpPr/>
          <p:nvPr/>
        </p:nvCxnSpPr>
        <p:spPr>
          <a:xfrm flipV="1">
            <a:off x="8950363" y="4464494"/>
            <a:ext cx="193638" cy="25818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CG read">
            <a:extLst>
              <a:ext uri="{FF2B5EF4-FFF2-40B4-BE49-F238E27FC236}">
                <a16:creationId xmlns:a16="http://schemas.microsoft.com/office/drawing/2014/main" id="{D63C00DC-4440-48CF-934E-71158CE31D93}"/>
              </a:ext>
            </a:extLst>
          </p:cNvPr>
          <p:cNvSpPr/>
          <p:nvPr/>
        </p:nvSpPr>
        <p:spPr>
          <a:xfrm>
            <a:off x="5347447" y="5014943"/>
            <a:ext cx="1303468" cy="398033"/>
          </a:xfrm>
          <a:prstGeom prst="roundRect">
            <a:avLst/>
          </a:prstGeom>
          <a:solidFill>
            <a:schemeClr val="accent5"/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ECG read</a:t>
            </a:r>
          </a:p>
        </p:txBody>
      </p:sp>
      <p:pic>
        <p:nvPicPr>
          <p:cNvPr id="14" name="Graphic 13" descr="Cursor with solid fill">
            <a:extLst>
              <a:ext uri="{FF2B5EF4-FFF2-40B4-BE49-F238E27FC236}">
                <a16:creationId xmlns:a16="http://schemas.microsoft.com/office/drawing/2014/main" id="{9BA4C47A-BAA1-4F44-A85C-6D652A7198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0895" y="5283616"/>
            <a:ext cx="301752" cy="30175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668FF34-71C7-4BED-BD1B-2A547431F024}"/>
              </a:ext>
            </a:extLst>
          </p:cNvPr>
          <p:cNvSpPr/>
          <p:nvPr/>
        </p:nvSpPr>
        <p:spPr>
          <a:xfrm>
            <a:off x="4623098" y="5004175"/>
            <a:ext cx="2752165" cy="41956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Diffusely peaked T waves</a:t>
            </a:r>
          </a:p>
        </p:txBody>
      </p:sp>
    </p:spTree>
    <p:extLst>
      <p:ext uri="{BB962C8B-B14F-4D97-AF65-F5344CB8AC3E}">
        <p14:creationId xmlns:p14="http://schemas.microsoft.com/office/powerpoint/2010/main" val="3171009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Guideline Update: UKKA 2023 &amp; KDIGO 2024 (original teaching unchanged)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00000"/>
            <a:ext cx="11277600" cy="572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B4530A"/>
                </a:solidFill>
                <a:latin typeface="Calibri"/>
              </a:rPr>
              <a:t>UK Kidney Association — Management of Hyperkalaemia in Adults (Oct 2023)</a:t>
            </a:r>
          </a:p>
          <a:p>
            <a:pPr lvl="1"/>
            <a:r>
              <a:rPr sz="1400">
                <a:latin typeface="Calibri"/>
              </a:rPr>
              <a:t>Emergency thresholds match this talk: IV calcium for ECG changes; treat K≥ 6.5 mmol/L as an emergency.</a:t>
            </a:r>
          </a:p>
          <a:p>
            <a:pPr lvl="1"/>
            <a:r>
              <a:rPr sz="1400">
                <a:latin typeface="Calibri"/>
              </a:rPr>
              <a:t>Insulin–glucose + nebulized β2-agonist remain first-line shifting; monitor glucose ≥ 6 h after insulin (hypoglycemia is the most common complication).</a:t>
            </a:r>
          </a:p>
          <a:p>
            <a:pPr lvl="1"/>
            <a:r>
              <a:rPr sz="1400">
                <a:latin typeface="Calibri"/>
              </a:rPr>
              <a:t>NEW: sodium zirconium cyclosilicate (SZC/Lokelma) 10 g TID up to 72 h is now an option ALONGSIDE shifting agents in acute life-threatening hyperkalemia (K ≥ 6.5).</a:t>
            </a:r>
          </a:p>
          <a:p>
            <a:pPr lvl="1"/>
            <a:r>
              <a:rPr sz="1400">
                <a:latin typeface="Calibri"/>
              </a:rPr>
              <a:t>Sodium polystyrene sulfonate (Kayexalate) is NOT recommended for emergency treatment — reserve for non-urgent settings when SZC/patiromer unavailable.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B4530A"/>
                </a:solidFill>
                <a:latin typeface="Calibri"/>
              </a:rPr>
              <a:t>KDIGO 2024 CKD Guideline</a:t>
            </a:r>
          </a:p>
          <a:p>
            <a:pPr lvl="1"/>
            <a:r>
              <a:rPr sz="1400">
                <a:latin typeface="Calibri"/>
              </a:rPr>
              <a:t>RASi-associated hyperkalemia: lower the potassium (diuretics, binders, dietary review, bicarbonate if acidotic) rather than reflexively stopping the ACEi/ARB — RASi discontinuation is linked to higher mortality and CV events in CKD.</a:t>
            </a:r>
          </a:p>
          <a:p>
            <a:r>
              <a:rPr sz="1400">
                <a:latin typeface="Calibri"/>
              </a:rPr>
              <a:t>Sources: UKKA Clinical Practice Guideline, Management of Hyperkalaemia in Adults (2023); KDIGO 2024 CKD Guideline (Kidney Int 2024).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Take-Home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00000"/>
            <a:ext cx="11277600" cy="572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latin typeface="Calibri"/>
              </a:rPr>
              <a:t>1. Hyperkalemic crisis is a medical emergency — severe weakness and fatal arrhythmias. Any K &gt; 5.5 → STAT ECG; treat K &gt; 6.5 as emergent regardless of ECG.</a:t>
            </a:r>
          </a:p>
          <a:p>
            <a:r>
              <a:rPr sz="1500">
                <a:latin typeface="Calibri"/>
              </a:rPr>
              <a:t>2. ECG changes: peaked T waves → P-wave loss → QRS widening → sine wave/VF. ECG changes or K &gt; 6.5 → IV calcium gluconate 1–2 g (chloride 0.5–1 g via central line); re-dose in 5–10 min if ECG unchanged.</a:t>
            </a:r>
          </a:p>
          <a:p>
            <a:r>
              <a:rPr sz="1500">
                <a:latin typeface="Calibri"/>
              </a:rPr>
              <a:t>3. Shift K intracellularly while you arrange elimination: regular insulin 10U IV + D50 (5U if renal impairment), albuterol neb 10–20 mg, ± NaHCO3 (only if metabolic acidosis, not ESRD).</a:t>
            </a:r>
          </a:p>
          <a:p>
            <a:r>
              <a:rPr sz="1500">
                <a:latin typeface="Calibri"/>
              </a:rPr>
              <a:t>4. Eliminate K: loop diuretics ± isotonic fluids if volume allows; binders (SZC 10 g TID preferred over Kayexalate) if renal dysfunction; urgent dialysis for severe renal failure or refractory hyperkalemia.</a:t>
            </a:r>
          </a:p>
          <a:p>
            <a:r>
              <a:rPr sz="1500">
                <a:latin typeface="Calibri"/>
              </a:rPr>
              <a:t>5. Recheck K in 1–4 h and repeat ECG every 30–60 min until abnormalities resolve; shifting only buys time — it does not remove potassium.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Attribution &amp; Changelog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00000"/>
            <a:ext cx="11277600" cy="572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B4530A"/>
                </a:solidFill>
                <a:latin typeface="Calibri"/>
              </a:rPr>
              <a:t>Original</a:t>
            </a:r>
          </a:p>
          <a:p>
            <a:r>
              <a:rPr sz="1300">
                <a:latin typeface="Calibri"/>
              </a:rPr>
              <a:t>"Inpatient Management of Hyperkalemia" — TeachIM.org (Dec 2021). Authors: Tiffany Gardner MD, Caitlin Dietsche MD, Yilin Zhang MD. Exec. editor: Yilin Zhang MD. https://teachim.org/teaching_material/hyperkalemia-3/ — CC BY-NC 4.0 (educational, non-commercial use).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B4530A"/>
                </a:solidFill>
                <a:latin typeface="Calibri"/>
              </a:rPr>
              <a:t>Corrections in this optimized copy (June 2026)</a:t>
            </a:r>
          </a:p>
          <a:p>
            <a:pPr lvl="1"/>
            <a:r>
              <a:rPr sz="1300">
                <a:latin typeface="Calibri"/>
              </a:rPr>
              <a:t>Slide 7: Lokelma "10 mg TID" → "10 g TID"; Kayexalate "15-60 mg q6h" → "15-60 g q6h" (unit errors; doses per lesson text &amp; UKKA 2023).</a:t>
            </a:r>
          </a:p>
          <a:p>
            <a:pPr lvl="1"/>
            <a:r>
              <a:rPr sz="1300">
                <a:latin typeface="Calibri"/>
              </a:rPr>
              <a:t>Slide 8 Case 1: albuterol "nebulizer 20 g" → "20 mg" (unit error; deck slide 6 &amp; lesson text say 10–20 mg).</a:t>
            </a:r>
          </a:p>
          <a:p>
            <a:pPr lvl="1"/>
            <a:r>
              <a:rPr sz="1300">
                <a:latin typeface="Calibri"/>
              </a:rPr>
              <a:t>Spelling: "Kayexelate" → "Kayexalate" (8×, slides 7–8).</a:t>
            </a:r>
          </a:p>
          <a:p>
            <a:pPr lvl="1"/>
            <a:r>
              <a:rPr sz="1300">
                <a:latin typeface="Calibri"/>
              </a:rPr>
              <a:t>Appended slides only — all original 9 slides, animations, and click-to-reveal builds preserved.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B4530A"/>
                </a:solidFill>
                <a:latin typeface="Calibri"/>
              </a:rPr>
              <a:t>Companion files</a:t>
            </a:r>
          </a:p>
          <a:p>
            <a:r>
              <a:rPr sz="1300">
                <a:latin typeface="Calibri"/>
              </a:rPr>
              <a:t>Facilitator-guide-1.docx · hyperkalemia-worksheet.docx · Hyperkalemia_Lesson_Package.html · Hyperkalemia_OnePager.pdf · Hyperkalemia_Anki_Cards.txt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15485</TotalTime>
  <Words>2328</Words>
  <Application>Microsoft Office PowerPoint</Application>
  <PresentationFormat>Widescreen</PresentationFormat>
  <Paragraphs>583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Bernard MT Condensed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Brandon Fainstad</dc:creator>
  <cp:lastModifiedBy>Yilin Zhang</cp:lastModifiedBy>
  <cp:revision>147</cp:revision>
  <dcterms:created xsi:type="dcterms:W3CDTF">2020-12-09T20:37:45Z</dcterms:created>
  <dcterms:modified xsi:type="dcterms:W3CDTF">2022-04-12T18:07:37Z</dcterms:modified>
</cp:coreProperties>
</file>