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2011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Sepsis &amp; Septic Shock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2865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CDE9F2"/>
                </a:solidFill>
                <a:latin typeface="Calibri"/>
              </a:rPr>
              <a:t>Early recognition and resuscitation for IM residents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08192"/>
            <a:ext cx="1072865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Built June 2026 · Grounded in Surviving Sepsis Campaign 2026 · Sepsis-3 · SMART/BaSICS ·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1 — Recognize organ dysfunction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Infection + dysfunction = sepsis; not just fever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Sepsis = infection + life-threatening organ dysfunction (dysregulated host response)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Septic shock = vasopressors to keep MAP ≥65 AND lactate &gt;2 despite fluids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Dysfunction clues: hypotension, ↑lactate, AKI/oliguria, altered mentation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Also: ↑bilirubin, thrombocytopenia, new oxygen requirement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qSOFA is NOT a rule-out screen — low sensitivity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A normal qSOFA does not exclude sepsis — keep working it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2 — The first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Culture, antibiotic, fluid — then reassess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383188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383188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388" y="1143000"/>
            <a:ext cx="7894106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388" y="1143000"/>
            <a:ext cx="7894106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Blood cultures ×2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388" y="1600200"/>
            <a:ext cx="789410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388" y="1600200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Before antibiotics — but never delay antibiotics to get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Antibiotics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388" y="2599182"/>
            <a:ext cx="789410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388" y="2599182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Broad-spectrum ≤1 h for shock; ~3 h window only if possible-not-probable &amp; no shock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3383188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Fluids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388" y="3598164"/>
            <a:ext cx="7894106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388" y="3598164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~30 mL/kg balanced crystalloid (preferred over saline), then reassess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3383188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3383188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Lactate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388" y="4597146"/>
            <a:ext cx="7894106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388" y="4597146"/>
            <a:ext cx="7894106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Draw and trend as a perfusion marker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Source control beats any antibiotic — find and drain the focus on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Step 3 — Pressors for the non-responder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7729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Norepinephrine first; don't drown a fluid-unresponsive patient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834280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8342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1480" y="1143000"/>
            <a:ext cx="7443014" cy="4572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1480" y="1143000"/>
            <a:ext cx="7443014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3834280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Norepinephrine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1480" y="1600200"/>
            <a:ext cx="744301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1480" y="1600200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First-line; titrate to MAP ≥65 (peripheral OK short-term)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9182"/>
            <a:ext cx="3834280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99182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Vasopressin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1480" y="2599182"/>
            <a:ext cx="744301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1480" y="2599182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Add-on; catecholamine-sparing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8164"/>
            <a:ext cx="3834280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98164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Epinephrine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1480" y="3598164"/>
            <a:ext cx="7443014" cy="998982"/>
          </a:xfrm>
          <a:prstGeom prst="rect">
            <a:avLst/>
          </a:prstGeom>
          <a:solidFill>
            <a:srgbClr val="EEF4F7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1480" y="3598164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Second add-on; consider with cardiac dysfunction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97146"/>
            <a:ext cx="3834280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97146"/>
            <a:ext cx="3834280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Hydrocortisone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1480" y="4597146"/>
            <a:ext cx="7443014" cy="998982"/>
          </a:xfrm>
          <a:prstGeom prst="rect">
            <a:avLst/>
          </a:prstGeom>
          <a:solidFill>
            <a:srgbClr val="FFFFFF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1480" y="4597146"/>
            <a:ext cx="7443014" cy="99898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1A2433"/>
                </a:solidFill>
                <a:latin typeface="Calibri"/>
              </a:rPr>
              <a:t>Refractory shock on escalating pressors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Judge fluid need dynamically (passive leg raise, PPV) — not by CVP.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Source control &amp; de-escalation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4480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Find the source: exam, imaging, cultures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Control it early: drain abscess, remove infected line, relieve obstruction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De-escalate antibiotics on culture data; stop if infection excluded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Use procalcitonin trends to support stopping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Many controlled sources need only ~5–7 days of therapy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Persistent shock on good antibiotics = look for an uncontrolled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Reassess — and what to avoid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Reassess MAP, lactate clearance, UOP, mentation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Favor balanced crystalloid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Start norepinephrine early for non-responders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E7D4F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Plan source control + de-escalation from day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solidFill>
            <a:srgbClr val="B45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1143000"/>
            <a:ext cx="5501487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600200"/>
            <a:ext cx="5501487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8D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2735" y="1709928"/>
            <a:ext cx="5282031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qSOFA to rule out sepsis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Fixed fluid boluses if fluid-unresponsive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Starch colloids (AKI/mortality)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B4530A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Routine antipyretics, beta-blockers, probiotics (2026 SSC)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EEF7F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11535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E7D4F"/>
                </a:solidFill>
                <a:latin typeface="Calibri"/>
              </a:rPr>
              <a:t>PEARL  </a:t>
            </a:r>
            <a:r>
              <a:rPr sz="1300" b="0" i="0">
                <a:solidFill>
                  <a:srgbClr val="1A2433"/>
                </a:solidFill>
                <a:latin typeface="Calibri"/>
              </a:rPr>
              <a:t>Fluid is a drug with a dose — reassess after every bolus.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Take-home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5394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Sepsis = infection + organ dysfunction; shock adds pressor need + lactate &gt;2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Hour 1: cultures (don't delay abx), early antibiotics, balanced fluids, lactate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Dose fluids to dynamic responsiveness, not CVP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Norepinephrine first-line; vasopressin/steroids for refractory shock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B4530A"/>
                </a:solidFill>
                <a:latin typeface="Calibri"/>
              </a:rPr>
              <a:t>■ </a:t>
            </a:r>
            <a:r>
              <a:rPr sz="1600" b="0" i="0">
                <a:solidFill>
                  <a:srgbClr val="1A2433"/>
                </a:solidFill>
                <a:latin typeface="Calibri"/>
              </a:rPr>
              <a:t>Source control + de-escalation matter as much as the first dose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