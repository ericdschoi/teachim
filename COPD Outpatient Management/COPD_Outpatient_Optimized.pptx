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authors.xml" ContentType="application/vnd.ms-powerpoint.authors+xml"/>
  <Override PartName="/ppt/media/image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15"/>
  </p:notesMasterIdLst>
  <p:sldIdLst>
    <p:sldId id="373" r:id="rId2"/>
    <p:sldId id="389" r:id="rId3"/>
    <p:sldId id="444" r:id="rId4"/>
    <p:sldId id="432" r:id="rId5"/>
    <p:sldId id="438" r:id="rId6"/>
    <p:sldId id="437" r:id="rId7"/>
    <p:sldId id="439" r:id="rId8"/>
    <p:sldId id="424" r:id="rId9"/>
    <p:sldId id="399" r:id="rId10"/>
    <p:sldId id="415" r:id="rId11"/>
    <p:sldId id="435" r:id="rId12"/>
    <p:sldId id="413" r:id="rId13"/>
    <p:sldId id="379" r:id="rId14"/>
    <p:sldId id="445" r:id="rId21"/>
    <p:sldId id="446" r:id="rId22"/>
    <p:sldId id="447"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B810968-D91D-C19B-3655-B4D2DE7FDBEE}" name="Yilin Zhang" initials="YZ" userId="S::Yilin_Zhang@valleymed.org::40a11026-a9ab-441d-8256-d37e38926e9e"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00"/>
    <a:srgbClr val="FF9F9F"/>
    <a:srgbClr val="EE853E"/>
    <a:srgbClr val="EB701D"/>
    <a:srgbClr val="EC801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33" autoAdjust="0"/>
    <p:restoredTop sz="74121" autoAdjust="0"/>
  </p:normalViewPr>
  <p:slideViewPr>
    <p:cSldViewPr snapToGrid="0">
      <p:cViewPr varScale="1">
        <p:scale>
          <a:sx n="49" d="100"/>
          <a:sy n="49" d="100"/>
        </p:scale>
        <p:origin x="1336" y="48"/>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 Id="rId20" Type="http://schemas.microsoft.com/office/2018/10/relationships/authors" Target="authors.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908AD8C-0E66-431E-8D28-28B20D5A1C0D}" type="datetimeFigureOut">
              <a:rPr lang="en-US" smtClean="0"/>
              <a:t>5/15/2023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0A09352-BA48-4920-A98B-F6BFA28AB128}" type="slidenum">
              <a:rPr lang="en-US" smtClean="0"/>
              <a:t>‹#›</a:t>
            </a:fld>
            <a:endParaRPr lang="en-US"/>
          </a:p>
        </p:txBody>
      </p:sp>
    </p:spTree>
    <p:extLst>
      <p:ext uri="{BB962C8B-B14F-4D97-AF65-F5344CB8AC3E}">
        <p14:creationId xmlns:p14="http://schemas.microsoft.com/office/powerpoint/2010/main" val="25123481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0A09352-BA48-4920-A98B-F6BFA28AB128}" type="slidenum">
              <a:rPr lang="en-US" smtClean="0"/>
              <a:t>1</a:t>
            </a:fld>
            <a:endParaRPr lang="en-US"/>
          </a:p>
        </p:txBody>
      </p:sp>
    </p:spTree>
    <p:extLst>
      <p:ext uri="{BB962C8B-B14F-4D97-AF65-F5344CB8AC3E}">
        <p14:creationId xmlns:p14="http://schemas.microsoft.com/office/powerpoint/2010/main" val="13653435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222222"/>
                </a:solidFill>
                <a:effectLst/>
                <a:latin typeface="Arial" panose="020B0604020202020204" pitchFamily="34" charset="0"/>
              </a:rPr>
              <a:t>GOLD 2023 diagnosis – heterogenous lung condition characterized by chronic respiratory symptoms (dyspnea, cough, sputum production, exacerbations) due to abnormalities of the airways (bronchitis, bronchiolitis) and/or alveoli (emphysema) that cause persistent, often progressive airflow obstruction </a:t>
            </a:r>
          </a:p>
          <a:p>
            <a:endParaRPr lang="en-US" b="0" i="0" dirty="0">
              <a:solidFill>
                <a:srgbClr val="222222"/>
              </a:solidFill>
              <a:effectLst/>
              <a:latin typeface="Arial" panose="020B0604020202020204" pitchFamily="34" charset="0"/>
            </a:endParaRPr>
          </a:p>
          <a:p>
            <a:r>
              <a:rPr lang="en-US" b="0" i="0" dirty="0">
                <a:solidFill>
                  <a:srgbClr val="222222"/>
                </a:solidFill>
                <a:effectLst/>
                <a:latin typeface="Arial" panose="020B0604020202020204" pitchFamily="34" charset="0"/>
              </a:rPr>
              <a:t>Diagnostic criteria</a:t>
            </a:r>
          </a:p>
          <a:p>
            <a:pPr marL="171450" indent="-171450">
              <a:buFontTx/>
              <a:buChar char="-"/>
            </a:pPr>
            <a:r>
              <a:rPr lang="en-US" b="0" i="0" dirty="0">
                <a:solidFill>
                  <a:srgbClr val="222222"/>
                </a:solidFill>
                <a:effectLst/>
                <a:latin typeface="Arial" panose="020B0604020202020204" pitchFamily="34" charset="0"/>
              </a:rPr>
              <a:t>Symptoms/ clinical context + non-fully reversible airflow limitation (FEV1/FVC &lt;0.7 post-bronchodilation) measured by spirometry</a:t>
            </a:r>
          </a:p>
          <a:p>
            <a:pPr marL="171450" indent="-171450">
              <a:buFontTx/>
              <a:buChar char="-"/>
            </a:pPr>
            <a:r>
              <a:rPr lang="en-US" b="0" i="0" dirty="0">
                <a:solidFill>
                  <a:srgbClr val="222222"/>
                </a:solidFill>
                <a:effectLst/>
                <a:latin typeface="Arial" panose="020B0604020202020204" pitchFamily="34" charset="0"/>
              </a:rPr>
              <a:t>Spirometry mandatory for diagnosis!! You cannot diagnose COPD WITHOUT PFTs!</a:t>
            </a:r>
          </a:p>
          <a:p>
            <a:pPr marL="171450" indent="-171450">
              <a:buFontTx/>
              <a:buChar char="-"/>
            </a:pPr>
            <a:r>
              <a:rPr lang="en-US" b="0" i="0" dirty="0">
                <a:solidFill>
                  <a:srgbClr val="222222"/>
                </a:solidFill>
                <a:effectLst/>
                <a:latin typeface="Arial" panose="020B0604020202020204" pitchFamily="34" charset="0"/>
              </a:rPr>
              <a:t>Some patients with respiratory symptoms or structural lung lesions (emphysema) without airflow obstruction (ratio &lt;0.7) is NOT considered to have COPD. They may be labelled “pre-COPD” in these new guidelines. There is another category called </a:t>
            </a:r>
            <a:r>
              <a:rPr lang="en-US" b="0" i="0" dirty="0" err="1">
                <a:solidFill>
                  <a:srgbClr val="222222"/>
                </a:solidFill>
                <a:effectLst/>
                <a:latin typeface="Arial" panose="020B0604020202020204" pitchFamily="34" charset="0"/>
              </a:rPr>
              <a:t>PRISm</a:t>
            </a:r>
            <a:r>
              <a:rPr lang="en-US" b="0" i="0" dirty="0">
                <a:solidFill>
                  <a:srgbClr val="222222"/>
                </a:solidFill>
                <a:effectLst/>
                <a:latin typeface="Arial" panose="020B0604020202020204" pitchFamily="34" charset="0"/>
              </a:rPr>
              <a:t> (Preserved Ratio Impaired Spirometry). Both pre-COPD and </a:t>
            </a:r>
            <a:r>
              <a:rPr lang="en-US" b="0" i="0" dirty="0" err="1">
                <a:solidFill>
                  <a:srgbClr val="222222"/>
                </a:solidFill>
                <a:effectLst/>
                <a:latin typeface="Arial" panose="020B0604020202020204" pitchFamily="34" charset="0"/>
              </a:rPr>
              <a:t>PRISm</a:t>
            </a:r>
            <a:r>
              <a:rPr lang="en-US" b="0" i="0" dirty="0">
                <a:solidFill>
                  <a:srgbClr val="222222"/>
                </a:solidFill>
                <a:effectLst/>
                <a:latin typeface="Arial" panose="020B0604020202020204" pitchFamily="34" charset="0"/>
              </a:rPr>
              <a:t> are at risk of developing COPD over time, but not all. </a:t>
            </a:r>
          </a:p>
          <a:p>
            <a:pPr marL="0" indent="0">
              <a:buFontTx/>
              <a:buNone/>
            </a:pPr>
            <a:endParaRPr lang="en-US" b="0" i="0" dirty="0">
              <a:solidFill>
                <a:srgbClr val="222222"/>
              </a:solidFill>
              <a:effectLst/>
              <a:latin typeface="Arial" panose="020B0604020202020204" pitchFamily="34" charset="0"/>
            </a:endParaRPr>
          </a:p>
          <a:p>
            <a:pPr marL="0" indent="0">
              <a:buFontTx/>
              <a:buNone/>
            </a:pPr>
            <a:r>
              <a:rPr lang="en-US" b="0" i="0" dirty="0">
                <a:solidFill>
                  <a:srgbClr val="222222"/>
                </a:solidFill>
                <a:effectLst/>
                <a:latin typeface="Arial" panose="020B0604020202020204" pitchFamily="34" charset="0"/>
              </a:rPr>
              <a:t>Risk Factors</a:t>
            </a:r>
          </a:p>
          <a:p>
            <a:pPr marL="171450" indent="-171450">
              <a:buFontTx/>
              <a:buChar char="-"/>
            </a:pPr>
            <a:r>
              <a:rPr lang="en-US" b="0" i="0" dirty="0">
                <a:solidFill>
                  <a:srgbClr val="222222"/>
                </a:solidFill>
                <a:effectLst/>
                <a:latin typeface="Arial" panose="020B0604020202020204" pitchFamily="34" charset="0"/>
              </a:rPr>
              <a:t>Cigarette smoking is key environmental RF. Other types of tobacco (pipe, cigar, water pipe) and THC are also risk factors. </a:t>
            </a:r>
          </a:p>
          <a:p>
            <a:pPr marL="171450" indent="-171450">
              <a:buFontTx/>
              <a:buChar char="-"/>
            </a:pPr>
            <a:r>
              <a:rPr lang="en-US" b="0" i="0" dirty="0">
                <a:solidFill>
                  <a:srgbClr val="222222"/>
                </a:solidFill>
                <a:effectLst/>
                <a:latin typeface="Arial" panose="020B0604020202020204" pitchFamily="34" charset="0"/>
              </a:rPr>
              <a:t>Environmental exposure (e.g., smoking during pregnancy or exposure at home) poses risk as well. </a:t>
            </a:r>
          </a:p>
          <a:p>
            <a:pPr marL="171450" indent="-171450">
              <a:buFontTx/>
              <a:buChar char="-"/>
            </a:pPr>
            <a:r>
              <a:rPr lang="en-US" b="0" i="0" dirty="0">
                <a:solidFill>
                  <a:srgbClr val="222222"/>
                </a:solidFill>
                <a:effectLst/>
                <a:latin typeface="Arial" panose="020B0604020202020204" pitchFamily="34" charset="0"/>
              </a:rPr>
              <a:t>Occupational exposure to organic, inorganic dust, chemical agents and fumes are also a risk factor</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b="0" i="0" dirty="0">
                <a:solidFill>
                  <a:srgbClr val="222222"/>
                </a:solidFill>
                <a:effectLst/>
                <a:latin typeface="Arial" panose="020B0604020202020204" pitchFamily="34" charset="0"/>
              </a:rPr>
              <a:t>Chronic bronchitis is a variable condition in patients with COPD. Defined as presence of cough with expectorated sputum on regular basis. Classic definition is cough and sputum production for &gt; 3 months/year x 2 y without other conditions to explain this. </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b="0" i="0" dirty="0">
                <a:solidFill>
                  <a:srgbClr val="222222"/>
                </a:solidFill>
                <a:effectLst/>
                <a:latin typeface="Arial" panose="020B0604020202020204" pitchFamily="34" charset="0"/>
              </a:rPr>
              <a:t>History of severe childhood respiratory infections has been associated with reduced lung function. </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b="0" i="0" dirty="0">
                <a:solidFill>
                  <a:srgbClr val="222222"/>
                </a:solidFill>
                <a:effectLst/>
                <a:latin typeface="Arial" panose="020B0604020202020204" pitchFamily="34" charset="0"/>
              </a:rPr>
              <a:t>M&gt;F</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dirty="0">
              <a:solidFill>
                <a:srgbClr val="222222"/>
              </a:solidFill>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222222"/>
                </a:solidFill>
                <a:effectLst/>
                <a:latin typeface="Arial" panose="020B0604020202020204" pitchFamily="34" charset="0"/>
              </a:rPr>
              <a:t>Other evaluation</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b="0" i="0" dirty="0">
                <a:solidFill>
                  <a:srgbClr val="222222"/>
                </a:solidFill>
                <a:effectLst/>
                <a:latin typeface="Arial" panose="020B0604020202020204" pitchFamily="34" charset="0"/>
              </a:rPr>
              <a:t>Spirometry is needed for diagnosis</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b="0" i="0" dirty="0">
                <a:solidFill>
                  <a:srgbClr val="222222"/>
                </a:solidFill>
                <a:effectLst/>
                <a:latin typeface="Arial" panose="020B0604020202020204" pitchFamily="34" charset="0"/>
              </a:rPr>
              <a:t>Ambulatory pulse ox and ABG assessment. If SpO2 &lt;92% -&gt; pursue ABG</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b="0" i="0" dirty="0">
                <a:solidFill>
                  <a:srgbClr val="222222"/>
                </a:solidFill>
                <a:effectLst/>
                <a:latin typeface="Arial" panose="020B0604020202020204" pitchFamily="34" charset="0"/>
              </a:rPr>
              <a:t>6 MWT tests exercise capacity</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b="0" i="0" dirty="0">
                <a:solidFill>
                  <a:srgbClr val="222222"/>
                </a:solidFill>
                <a:effectLst/>
                <a:latin typeface="Arial" panose="020B0604020202020204" pitchFamily="34" charset="0"/>
              </a:rPr>
              <a:t>CXR is not useful to diagnose COPD but can exclude other diagnoses. May see signs of hyperinflation</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b="0" i="0" dirty="0">
                <a:solidFill>
                  <a:srgbClr val="222222"/>
                </a:solidFill>
                <a:effectLst/>
                <a:latin typeface="Arial" panose="020B0604020202020204" pitchFamily="34" charset="0"/>
              </a:rPr>
              <a:t>CT is not a requirement but is used increasingly in patients with COPD. However, in patients with symptoms out of proportion to disease severity on lung function, FEV&lt;45% with significant hyperinflation, or need lung cancer screening, consider CT scan</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b="0" i="0" dirty="0">
                <a:solidFill>
                  <a:srgbClr val="222222"/>
                </a:solidFill>
                <a:effectLst/>
                <a:latin typeface="Arial" panose="020B0604020202020204" pitchFamily="34" charset="0"/>
              </a:rPr>
              <a:t>A1AT testing should be done once with all patients with COPD. Especially if young (&lt;45 </a:t>
            </a:r>
            <a:r>
              <a:rPr lang="en-US" b="0" i="0" dirty="0" err="1">
                <a:solidFill>
                  <a:srgbClr val="222222"/>
                </a:solidFill>
                <a:effectLst/>
                <a:latin typeface="Arial" panose="020B0604020202020204" pitchFamily="34" charset="0"/>
              </a:rPr>
              <a:t>yo</a:t>
            </a:r>
            <a:r>
              <a:rPr lang="en-US" b="0" i="0" dirty="0">
                <a:solidFill>
                  <a:srgbClr val="222222"/>
                </a:solidFill>
                <a:effectLst/>
                <a:latin typeface="Arial" panose="020B0604020202020204" pitchFamily="34" charset="0"/>
              </a:rPr>
              <a:t>) and with </a:t>
            </a:r>
            <a:r>
              <a:rPr lang="en-US" b="0" i="0" dirty="0" err="1">
                <a:solidFill>
                  <a:srgbClr val="222222"/>
                </a:solidFill>
                <a:effectLst/>
                <a:latin typeface="Arial" panose="020B0604020202020204" pitchFamily="34" charset="0"/>
              </a:rPr>
              <a:t>panlobular</a:t>
            </a:r>
            <a:r>
              <a:rPr lang="en-US" b="0" i="0" dirty="0">
                <a:solidFill>
                  <a:srgbClr val="222222"/>
                </a:solidFill>
                <a:effectLst/>
                <a:latin typeface="Arial" panose="020B0604020202020204" pitchFamily="34" charset="0"/>
              </a:rPr>
              <a:t> basal emphysema</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dirty="0">
              <a:solidFill>
                <a:srgbClr val="222222"/>
              </a:solidFill>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222222"/>
                </a:solidFill>
                <a:effectLst/>
                <a:latin typeface="Arial" panose="020B0604020202020204" pitchFamily="34" charset="0"/>
              </a:rPr>
              <a:t>Pathophysiology/ Spirometry </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b="0" i="0" dirty="0">
                <a:solidFill>
                  <a:srgbClr val="222222"/>
                </a:solidFill>
                <a:effectLst/>
                <a:latin typeface="Arial" panose="020B0604020202020204" pitchFamily="34" charset="0"/>
              </a:rPr>
              <a:t>Increased residual volume (RV) is due to gas trapping – inability to completely exhale. This happens early in the disease. </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b="0" i="0" dirty="0">
                <a:solidFill>
                  <a:srgbClr val="222222"/>
                </a:solidFill>
                <a:effectLst/>
                <a:latin typeface="Arial" panose="020B0604020202020204" pitchFamily="34" charset="0"/>
              </a:rPr>
              <a:t>Increase TLCO is due to static lung hyperinflation. This is related to loss of elastic recoil. This occurs later in the disease. When this occurs during exercise, it’s called dynamic hyperinflation. Bronchodilators act on peripheral airways to reduce gas trapping.</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b="0" i="0" dirty="0">
                <a:solidFill>
                  <a:srgbClr val="222222"/>
                </a:solidFill>
                <a:effectLst/>
                <a:latin typeface="Arial" panose="020B0604020202020204" pitchFamily="34" charset="0"/>
              </a:rPr>
              <a:t>Decreased DLCO has to do with parenchymal destruction with emphysema. It should be measured in any person with symptoms disproportionate to degree of airflow obstruction since values &lt;60% are </a:t>
            </a:r>
            <a:r>
              <a:rPr lang="en-US" b="0" i="0" dirty="0" err="1">
                <a:solidFill>
                  <a:srgbClr val="222222"/>
                </a:solidFill>
                <a:effectLst/>
                <a:latin typeface="Arial" panose="020B0604020202020204" pitchFamily="34" charset="0"/>
              </a:rPr>
              <a:t>a/w</a:t>
            </a:r>
            <a:r>
              <a:rPr lang="en-US" b="0" i="0" dirty="0">
                <a:solidFill>
                  <a:srgbClr val="222222"/>
                </a:solidFill>
                <a:effectLst/>
                <a:latin typeface="Arial" panose="020B0604020202020204" pitchFamily="34" charset="0"/>
              </a:rPr>
              <a:t> increased symptoms, increased risk of death. </a:t>
            </a:r>
          </a:p>
          <a:p>
            <a:pPr marL="171450" indent="-171450">
              <a:buFontTx/>
              <a:buChar char="-"/>
            </a:pPr>
            <a:r>
              <a:rPr lang="en-US" b="0" i="0" dirty="0">
                <a:solidFill>
                  <a:srgbClr val="222222"/>
                </a:solidFill>
                <a:effectLst/>
                <a:latin typeface="Arial" panose="020B0604020202020204" pitchFamily="34" charset="0"/>
              </a:rPr>
              <a:t>Maximal effort is needed to avoid underestimation of values</a:t>
            </a:r>
          </a:p>
          <a:p>
            <a:pPr marL="171450" indent="-171450">
              <a:buFontTx/>
              <a:buChar char="-"/>
            </a:pPr>
            <a:r>
              <a:rPr lang="en-US" b="0" i="0" dirty="0">
                <a:solidFill>
                  <a:srgbClr val="222222"/>
                </a:solidFill>
                <a:effectLst/>
                <a:latin typeface="Arial" panose="020B0604020202020204" pitchFamily="34" charset="0"/>
              </a:rPr>
              <a:t>Patients already on bronchodilators should stop regular treatment for spirometry</a:t>
            </a:r>
          </a:p>
          <a:p>
            <a:pPr marL="171450" indent="-171450">
              <a:buFontTx/>
              <a:buChar char="-"/>
            </a:pPr>
            <a:r>
              <a:rPr lang="en-US" b="0" i="0" dirty="0">
                <a:solidFill>
                  <a:srgbClr val="222222"/>
                </a:solidFill>
                <a:effectLst/>
                <a:latin typeface="Arial" panose="020B0604020202020204" pitchFamily="34" charset="0"/>
              </a:rPr>
              <a:t>Post bronchodilator response is needed to assess the degree of reversibility of airflow obstruction for diagnosis (but not for follow-up)</a:t>
            </a:r>
          </a:p>
          <a:p>
            <a:pPr marL="628650" lvl="1" indent="-171450">
              <a:buFontTx/>
              <a:buChar char="-"/>
            </a:pPr>
            <a:r>
              <a:rPr lang="en-US" b="0" i="0" dirty="0">
                <a:solidFill>
                  <a:srgbClr val="222222"/>
                </a:solidFill>
                <a:effectLst/>
                <a:latin typeface="Arial" panose="020B0604020202020204" pitchFamily="34" charset="0"/>
              </a:rPr>
              <a:t>The degree of reversibility can vary over time and does not reliably differentiate from asthma or predict response to long term </a:t>
            </a:r>
            <a:r>
              <a:rPr lang="en-US" b="0" i="0" dirty="0" err="1">
                <a:solidFill>
                  <a:srgbClr val="222222"/>
                </a:solidFill>
                <a:effectLst/>
                <a:latin typeface="Arial" panose="020B0604020202020204" pitchFamily="34" charset="0"/>
              </a:rPr>
              <a:t>bornchodilators</a:t>
            </a:r>
            <a:r>
              <a:rPr lang="en-US" b="0" i="0" dirty="0">
                <a:solidFill>
                  <a:srgbClr val="222222"/>
                </a:solidFill>
                <a:effectLst/>
                <a:latin typeface="Arial" panose="020B0604020202020204" pitchFamily="34" charset="0"/>
              </a:rPr>
              <a:t> or </a:t>
            </a:r>
            <a:r>
              <a:rPr lang="en-US" b="0" i="0" dirty="0" err="1">
                <a:solidFill>
                  <a:srgbClr val="222222"/>
                </a:solidFill>
                <a:effectLst/>
                <a:latin typeface="Arial" panose="020B0604020202020204" pitchFamily="34" charset="0"/>
              </a:rPr>
              <a:t>cortichosteroids</a:t>
            </a:r>
            <a:r>
              <a:rPr lang="en-US" b="0" i="0" dirty="0">
                <a:solidFill>
                  <a:srgbClr val="222222"/>
                </a:solidFill>
                <a:effectLst/>
                <a:latin typeface="Arial" panose="020B0604020202020204" pitchFamily="34" charset="0"/>
              </a:rPr>
              <a:t> </a:t>
            </a:r>
          </a:p>
        </p:txBody>
      </p:sp>
      <p:sp>
        <p:nvSpPr>
          <p:cNvPr id="4" name="Slide Number Placeholder 3"/>
          <p:cNvSpPr>
            <a:spLocks noGrp="1"/>
          </p:cNvSpPr>
          <p:nvPr>
            <p:ph type="sldNum" sz="quarter" idx="5"/>
          </p:nvPr>
        </p:nvSpPr>
        <p:spPr/>
        <p:txBody>
          <a:bodyPr/>
          <a:lstStyle/>
          <a:p>
            <a:fld id="{20A09352-BA48-4920-A98B-F6BFA28AB128}" type="slidenum">
              <a:rPr lang="en-US" smtClean="0"/>
              <a:t>2</a:t>
            </a:fld>
            <a:endParaRPr lang="en-US"/>
          </a:p>
        </p:txBody>
      </p:sp>
    </p:spTree>
    <p:extLst>
      <p:ext uri="{BB962C8B-B14F-4D97-AF65-F5344CB8AC3E}">
        <p14:creationId xmlns:p14="http://schemas.microsoft.com/office/powerpoint/2010/main" val="20014923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222222"/>
                </a:solidFill>
                <a:effectLst/>
                <a:latin typeface="Arial" panose="020B0604020202020204" pitchFamily="34" charset="0"/>
              </a:rPr>
              <a:t>LABA – good for symptoms, less helpful for exacerbations.  LAMA is better in 2 head-to-head RCTs</a:t>
            </a:r>
          </a:p>
          <a:p>
            <a:r>
              <a:rPr lang="en-US" b="0" i="0" dirty="0">
                <a:solidFill>
                  <a:srgbClr val="222222"/>
                </a:solidFill>
                <a:effectLst/>
                <a:latin typeface="Arial" panose="020B0604020202020204" pitchFamily="34" charset="0"/>
              </a:rPr>
              <a:t>LAMA – good for symptoms and reducing exacerbations</a:t>
            </a:r>
          </a:p>
          <a:p>
            <a:r>
              <a:rPr lang="en-US" b="0" i="0" dirty="0">
                <a:solidFill>
                  <a:srgbClr val="222222"/>
                </a:solidFill>
                <a:effectLst/>
                <a:latin typeface="Arial" panose="020B0604020202020204" pitchFamily="34" charset="0"/>
              </a:rPr>
              <a:t>ICS – good for exacerbations if elevated </a:t>
            </a:r>
            <a:r>
              <a:rPr lang="en-US" b="0" i="0" dirty="0" err="1">
                <a:solidFill>
                  <a:srgbClr val="222222"/>
                </a:solidFill>
                <a:effectLst/>
                <a:latin typeface="Arial" panose="020B0604020202020204" pitchFamily="34" charset="0"/>
              </a:rPr>
              <a:t>eos</a:t>
            </a:r>
            <a:r>
              <a:rPr lang="en-US" b="0" i="0" dirty="0">
                <a:solidFill>
                  <a:srgbClr val="222222"/>
                </a:solidFill>
                <a:effectLst/>
                <a:latin typeface="Arial" panose="020B0604020202020204" pitchFamily="34" charset="0"/>
              </a:rPr>
              <a:t>.  Comes with risks</a:t>
            </a:r>
          </a:p>
          <a:p>
            <a:endParaRPr lang="en-US" b="0" i="0" dirty="0">
              <a:solidFill>
                <a:srgbClr val="222222"/>
              </a:solidFill>
              <a:effectLst/>
              <a:latin typeface="Arial" panose="020B0604020202020204" pitchFamily="34" charset="0"/>
            </a:endParaRPr>
          </a:p>
          <a:p>
            <a:r>
              <a:rPr lang="en-US" b="0" i="0" dirty="0">
                <a:solidFill>
                  <a:srgbClr val="222222"/>
                </a:solidFill>
                <a:effectLst/>
                <a:latin typeface="Arial" panose="020B0604020202020204" pitchFamily="34" charset="0"/>
              </a:rPr>
              <a:t>Group A – LAMA or LABA &gt; SABA or SAMA except for patients with very rare symptoms. </a:t>
            </a:r>
          </a:p>
          <a:p>
            <a:r>
              <a:rPr lang="en-US" b="0" i="0" dirty="0">
                <a:solidFill>
                  <a:srgbClr val="222222"/>
                </a:solidFill>
                <a:effectLst/>
                <a:latin typeface="Arial" panose="020B0604020202020204" pitchFamily="34" charset="0"/>
              </a:rPr>
              <a:t>Group B – LABA + LAMA &gt;LAMA alone with regards to several endpoints. IF not appropriate, LAMA or LABA is fine depending on what patient feels provides symptom relief. </a:t>
            </a:r>
          </a:p>
          <a:p>
            <a:endParaRPr lang="en-US" b="0" i="0" dirty="0">
              <a:solidFill>
                <a:srgbClr val="222222"/>
              </a:solidFill>
              <a:effectLst/>
              <a:latin typeface="Arial" panose="020B0604020202020204" pitchFamily="34" charset="0"/>
            </a:endParaRPr>
          </a:p>
          <a:p>
            <a:endParaRPr lang="en-US" b="0" i="0" dirty="0">
              <a:solidFill>
                <a:srgbClr val="222222"/>
              </a:solidFill>
              <a:effectLst/>
              <a:latin typeface="Arial" panose="020B0604020202020204" pitchFamily="34" charset="0"/>
            </a:endParaRPr>
          </a:p>
          <a:p>
            <a:endParaRPr lang="en-US" b="0" i="0" dirty="0">
              <a:solidFill>
                <a:srgbClr val="222222"/>
              </a:solidFill>
              <a:effectLst/>
              <a:latin typeface="Arial" panose="020B0604020202020204" pitchFamily="34" charset="0"/>
            </a:endParaRPr>
          </a:p>
        </p:txBody>
      </p:sp>
      <p:sp>
        <p:nvSpPr>
          <p:cNvPr id="4" name="Slide Number Placeholder 3"/>
          <p:cNvSpPr>
            <a:spLocks noGrp="1"/>
          </p:cNvSpPr>
          <p:nvPr>
            <p:ph type="sldNum" sz="quarter" idx="5"/>
          </p:nvPr>
        </p:nvSpPr>
        <p:spPr/>
        <p:txBody>
          <a:bodyPr/>
          <a:lstStyle/>
          <a:p>
            <a:fld id="{20A09352-BA48-4920-A98B-F6BFA28AB128}" type="slidenum">
              <a:rPr lang="en-US" smtClean="0"/>
              <a:t>3</a:t>
            </a:fld>
            <a:endParaRPr lang="en-US"/>
          </a:p>
        </p:txBody>
      </p:sp>
    </p:spTree>
    <p:extLst>
      <p:ext uri="{BB962C8B-B14F-4D97-AF65-F5344CB8AC3E}">
        <p14:creationId xmlns:p14="http://schemas.microsoft.com/office/powerpoint/2010/main" val="21919497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0A09352-BA48-4920-A98B-F6BFA28AB128}" type="slidenum">
              <a:rPr lang="en-US" smtClean="0"/>
              <a:t>4</a:t>
            </a:fld>
            <a:endParaRPr lang="en-US"/>
          </a:p>
        </p:txBody>
      </p:sp>
    </p:spTree>
    <p:extLst>
      <p:ext uri="{BB962C8B-B14F-4D97-AF65-F5344CB8AC3E}">
        <p14:creationId xmlns:p14="http://schemas.microsoft.com/office/powerpoint/2010/main" val="38969637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0A09352-BA48-4920-A98B-F6BFA28AB128}" type="slidenum">
              <a:rPr lang="en-US" smtClean="0"/>
              <a:t>5</a:t>
            </a:fld>
            <a:endParaRPr lang="en-US"/>
          </a:p>
        </p:txBody>
      </p:sp>
    </p:spTree>
    <p:extLst>
      <p:ext uri="{BB962C8B-B14F-4D97-AF65-F5344CB8AC3E}">
        <p14:creationId xmlns:p14="http://schemas.microsoft.com/office/powerpoint/2010/main" val="39624538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0A09352-BA48-4920-A98B-F6BFA28AB128}" type="slidenum">
              <a:rPr lang="en-US" smtClean="0"/>
              <a:t>6</a:t>
            </a:fld>
            <a:endParaRPr lang="en-US"/>
          </a:p>
        </p:txBody>
      </p:sp>
    </p:spTree>
    <p:extLst>
      <p:ext uri="{BB962C8B-B14F-4D97-AF65-F5344CB8AC3E}">
        <p14:creationId xmlns:p14="http://schemas.microsoft.com/office/powerpoint/2010/main" val="14130781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0A09352-BA48-4920-A98B-F6BFA28AB128}" type="slidenum">
              <a:rPr lang="en-US" smtClean="0"/>
              <a:t>7</a:t>
            </a:fld>
            <a:endParaRPr lang="en-US"/>
          </a:p>
        </p:txBody>
      </p:sp>
    </p:spTree>
    <p:extLst>
      <p:ext uri="{BB962C8B-B14F-4D97-AF65-F5344CB8AC3E}">
        <p14:creationId xmlns:p14="http://schemas.microsoft.com/office/powerpoint/2010/main" val="2028153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222222"/>
                </a:solidFill>
                <a:effectLst/>
                <a:latin typeface="Arial" panose="020B0604020202020204" pitchFamily="34" charset="0"/>
              </a:rPr>
              <a:t>LABA – good for symptoms, less helpful for exacerbations.  LAMA is better in 2 head-to-head RCTs</a:t>
            </a:r>
          </a:p>
          <a:p>
            <a:r>
              <a:rPr lang="en-US" b="0" i="0" dirty="0">
                <a:solidFill>
                  <a:srgbClr val="222222"/>
                </a:solidFill>
                <a:effectLst/>
                <a:latin typeface="Arial" panose="020B0604020202020204" pitchFamily="34" charset="0"/>
              </a:rPr>
              <a:t>LAMA – good for symptoms and reducing exacerbations</a:t>
            </a:r>
          </a:p>
          <a:p>
            <a:r>
              <a:rPr lang="en-US" b="0" i="0" dirty="0">
                <a:solidFill>
                  <a:srgbClr val="222222"/>
                </a:solidFill>
                <a:effectLst/>
                <a:latin typeface="Arial" panose="020B0604020202020204" pitchFamily="34" charset="0"/>
              </a:rPr>
              <a:t>ICS – good for exacerbations if elevated </a:t>
            </a:r>
            <a:r>
              <a:rPr lang="en-US" b="0" i="0" dirty="0" err="1">
                <a:solidFill>
                  <a:srgbClr val="222222"/>
                </a:solidFill>
                <a:effectLst/>
                <a:latin typeface="Arial" panose="020B0604020202020204" pitchFamily="34" charset="0"/>
              </a:rPr>
              <a:t>eos</a:t>
            </a:r>
            <a:r>
              <a:rPr lang="en-US" b="0" i="0" dirty="0">
                <a:solidFill>
                  <a:srgbClr val="222222"/>
                </a:solidFill>
                <a:effectLst/>
                <a:latin typeface="Arial" panose="020B0604020202020204" pitchFamily="34" charset="0"/>
              </a:rPr>
              <a:t>.  Comes with risks</a:t>
            </a:r>
          </a:p>
          <a:p>
            <a:endParaRPr lang="en-US" b="0" i="0" dirty="0">
              <a:solidFill>
                <a:srgbClr val="222222"/>
              </a:solidFill>
              <a:effectLst/>
              <a:latin typeface="Arial" panose="020B0604020202020204" pitchFamily="34" charset="0"/>
            </a:endParaRPr>
          </a:p>
          <a:p>
            <a:r>
              <a:rPr lang="en-US" b="0" i="0" dirty="0">
                <a:solidFill>
                  <a:srgbClr val="222222"/>
                </a:solidFill>
                <a:effectLst/>
                <a:latin typeface="Arial" panose="020B0604020202020204" pitchFamily="34" charset="0"/>
              </a:rPr>
              <a:t>Group A – LAMA or LABA &gt; SABA or SAMA except for patients with very rare symptoms. </a:t>
            </a:r>
          </a:p>
          <a:p>
            <a:r>
              <a:rPr lang="en-US" b="0" i="0" dirty="0">
                <a:solidFill>
                  <a:srgbClr val="222222"/>
                </a:solidFill>
                <a:effectLst/>
                <a:latin typeface="Arial" panose="020B0604020202020204" pitchFamily="34" charset="0"/>
              </a:rPr>
              <a:t>Group B – LABA + LAMA &gt;LAMA alone with regards to several endpoints. IF not appropriate, LAMA or LABA is fine depending on what patient feels provides symptom relief. </a:t>
            </a:r>
          </a:p>
          <a:p>
            <a:endParaRPr lang="en-US" b="0" i="0" dirty="0">
              <a:solidFill>
                <a:srgbClr val="222222"/>
              </a:solidFill>
              <a:effectLst/>
              <a:latin typeface="Arial" panose="020B0604020202020204" pitchFamily="34" charset="0"/>
            </a:endParaRPr>
          </a:p>
          <a:p>
            <a:endParaRPr lang="en-US" b="0" i="0" dirty="0">
              <a:solidFill>
                <a:srgbClr val="222222"/>
              </a:solidFill>
              <a:effectLst/>
              <a:latin typeface="Arial" panose="020B0604020202020204" pitchFamily="34" charset="0"/>
            </a:endParaRPr>
          </a:p>
          <a:p>
            <a:endParaRPr lang="en-US" b="0" i="0" dirty="0">
              <a:solidFill>
                <a:srgbClr val="222222"/>
              </a:solidFill>
              <a:effectLst/>
              <a:latin typeface="Arial" panose="020B0604020202020204" pitchFamily="34" charset="0"/>
            </a:endParaRPr>
          </a:p>
        </p:txBody>
      </p:sp>
      <p:sp>
        <p:nvSpPr>
          <p:cNvPr id="4" name="Slide Number Placeholder 3"/>
          <p:cNvSpPr>
            <a:spLocks noGrp="1"/>
          </p:cNvSpPr>
          <p:nvPr>
            <p:ph type="sldNum" sz="quarter" idx="5"/>
          </p:nvPr>
        </p:nvSpPr>
        <p:spPr/>
        <p:txBody>
          <a:bodyPr/>
          <a:lstStyle/>
          <a:p>
            <a:fld id="{20A09352-BA48-4920-A98B-F6BFA28AB128}" type="slidenum">
              <a:rPr lang="en-US" smtClean="0"/>
              <a:t>8</a:t>
            </a:fld>
            <a:endParaRPr lang="en-US"/>
          </a:p>
        </p:txBody>
      </p:sp>
    </p:spTree>
    <p:extLst>
      <p:ext uri="{BB962C8B-B14F-4D97-AF65-F5344CB8AC3E}">
        <p14:creationId xmlns:p14="http://schemas.microsoft.com/office/powerpoint/2010/main" val="1931669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222222"/>
                </a:solidFill>
                <a:effectLst/>
                <a:latin typeface="Arial" panose="020B0604020202020204" pitchFamily="34" charset="0"/>
              </a:rPr>
              <a:t>PDE4 – reduce inflammation. No bronchodilator activity. Reduces moderate and severe exacerbations treated with systemic corticosteroids in </a:t>
            </a:r>
            <a:r>
              <a:rPr lang="en-US" b="0" i="0" dirty="0" err="1">
                <a:solidFill>
                  <a:srgbClr val="222222"/>
                </a:solidFill>
                <a:effectLst/>
                <a:latin typeface="Arial" panose="020B0604020202020204" pitchFamily="34" charset="0"/>
              </a:rPr>
              <a:t>patieths</a:t>
            </a:r>
            <a:r>
              <a:rPr lang="en-US" b="0" i="0" dirty="0">
                <a:solidFill>
                  <a:srgbClr val="222222"/>
                </a:solidFill>
                <a:effectLst/>
                <a:latin typeface="Arial" panose="020B0604020202020204" pitchFamily="34" charset="0"/>
              </a:rPr>
              <a:t> with severe to very severe COPD and history of exacerbations. Benefits greatest with prior history of </a:t>
            </a:r>
            <a:r>
              <a:rPr lang="en-US" b="0" i="0" dirty="0" err="1">
                <a:solidFill>
                  <a:srgbClr val="222222"/>
                </a:solidFill>
                <a:effectLst/>
                <a:latin typeface="Arial" panose="020B0604020202020204" pitchFamily="34" charset="0"/>
              </a:rPr>
              <a:t>hostpialziation</a:t>
            </a:r>
            <a:r>
              <a:rPr lang="en-US" b="0" i="0" dirty="0">
                <a:solidFill>
                  <a:srgbClr val="222222"/>
                </a:solidFill>
                <a:effectLst/>
                <a:latin typeface="Arial" panose="020B0604020202020204" pitchFamily="34" charset="0"/>
              </a:rPr>
              <a:t> for acute exacerbation. </a:t>
            </a:r>
          </a:p>
          <a:p>
            <a:endParaRPr lang="en-US" b="0" i="0" dirty="0">
              <a:solidFill>
                <a:srgbClr val="222222"/>
              </a:solidFill>
              <a:effectLst/>
              <a:latin typeface="Arial" panose="020B0604020202020204" pitchFamily="34" charset="0"/>
            </a:endParaRPr>
          </a:p>
          <a:p>
            <a:r>
              <a:rPr lang="en-US" b="0" i="0" dirty="0">
                <a:solidFill>
                  <a:srgbClr val="222222"/>
                </a:solidFill>
                <a:effectLst/>
                <a:latin typeface="Arial" panose="020B0604020202020204" pitchFamily="34" charset="0"/>
              </a:rPr>
              <a:t>Prophylactic, continuous antibiotics – azithromycin 250 mg /day x 1 y reduced risk of exacerbations compared to usual care. Increased incidence of bacterial resistance and impaired hearing. </a:t>
            </a:r>
          </a:p>
          <a:p>
            <a:endParaRPr lang="en-US" b="0" i="0" dirty="0">
              <a:solidFill>
                <a:srgbClr val="222222"/>
              </a:solidFill>
              <a:effectLst/>
              <a:latin typeface="Arial" panose="020B0604020202020204" pitchFamily="34" charset="0"/>
            </a:endParaRPr>
          </a:p>
          <a:p>
            <a:r>
              <a:rPr lang="en-US" b="0" i="0" dirty="0">
                <a:solidFill>
                  <a:srgbClr val="222222"/>
                </a:solidFill>
                <a:effectLst/>
                <a:latin typeface="Arial" panose="020B0604020202020204" pitchFamily="34" charset="0"/>
              </a:rPr>
              <a:t>Multiple other drugs have potential to reduce exacerbations. Monoclonal antibodies – </a:t>
            </a:r>
            <a:r>
              <a:rPr lang="en-US" b="0" i="0" dirty="0" err="1">
                <a:solidFill>
                  <a:srgbClr val="222222"/>
                </a:solidFill>
                <a:effectLst/>
                <a:latin typeface="Arial" panose="020B0604020202020204" pitchFamily="34" charset="0"/>
              </a:rPr>
              <a:t>benralizumab</a:t>
            </a:r>
            <a:r>
              <a:rPr lang="en-US" b="0" i="0" dirty="0">
                <a:solidFill>
                  <a:srgbClr val="222222"/>
                </a:solidFill>
                <a:effectLst/>
                <a:latin typeface="Arial" panose="020B0604020202020204" pitchFamily="34" charset="0"/>
              </a:rPr>
              <a:t>, mepolizumab. </a:t>
            </a:r>
          </a:p>
          <a:p>
            <a:endParaRPr lang="en-US" b="0" i="0" dirty="0">
              <a:solidFill>
                <a:srgbClr val="222222"/>
              </a:solidFill>
              <a:effectLst/>
              <a:latin typeface="Arial" panose="020B0604020202020204" pitchFamily="34" charset="0"/>
            </a:endParaRPr>
          </a:p>
          <a:p>
            <a:r>
              <a:rPr lang="en-US" b="0" i="0" dirty="0">
                <a:solidFill>
                  <a:srgbClr val="222222"/>
                </a:solidFill>
                <a:effectLst/>
                <a:latin typeface="Arial" panose="020B0604020202020204" pitchFamily="34" charset="0"/>
              </a:rPr>
              <a:t>Oral steroid therapy – no role in chronic daily treatment of COPD. </a:t>
            </a:r>
          </a:p>
          <a:p>
            <a:endParaRPr lang="en-US" b="0" i="0" dirty="0">
              <a:solidFill>
                <a:srgbClr val="222222"/>
              </a:solidFill>
              <a:effectLst/>
              <a:latin typeface="Arial" panose="020B0604020202020204" pitchFamily="34" charset="0"/>
            </a:endParaRPr>
          </a:p>
          <a:p>
            <a:r>
              <a:rPr lang="en-US" b="0" i="0" dirty="0">
                <a:solidFill>
                  <a:srgbClr val="222222"/>
                </a:solidFill>
                <a:effectLst/>
                <a:latin typeface="Arial" panose="020B0604020202020204" pitchFamily="34" charset="0"/>
              </a:rPr>
              <a:t>Vaccinations: </a:t>
            </a:r>
          </a:p>
          <a:p>
            <a:pPr marL="171450" indent="-171450">
              <a:buFontTx/>
              <a:buChar char="-"/>
            </a:pPr>
            <a:r>
              <a:rPr lang="en-US" b="0" i="0" dirty="0">
                <a:solidFill>
                  <a:srgbClr val="222222"/>
                </a:solidFill>
                <a:effectLst/>
                <a:latin typeface="Arial" panose="020B0604020202020204" pitchFamily="34" charset="0"/>
              </a:rPr>
              <a:t>Flu vaccine can reduce serious illness. Reduces exacerbations. Should use live inactivated or killed viruses because they’re more effective. </a:t>
            </a:r>
          </a:p>
          <a:p>
            <a:pPr marL="171450" indent="-171450">
              <a:buFontTx/>
              <a:buChar char="-"/>
            </a:pPr>
            <a:r>
              <a:rPr lang="en-US" b="0" i="0" dirty="0">
                <a:solidFill>
                  <a:srgbClr val="222222"/>
                </a:solidFill>
                <a:effectLst/>
                <a:latin typeface="Arial" panose="020B0604020202020204" pitchFamily="34" charset="0"/>
              </a:rPr>
              <a:t>COVID vaccine is recommended.</a:t>
            </a:r>
          </a:p>
          <a:p>
            <a:pPr marL="171450" indent="-171450">
              <a:buFontTx/>
              <a:buChar char="-"/>
            </a:pPr>
            <a:r>
              <a:rPr lang="en-US" b="0" i="0" dirty="0">
                <a:solidFill>
                  <a:srgbClr val="222222"/>
                </a:solidFill>
                <a:effectLst/>
                <a:latin typeface="Arial" panose="020B0604020202020204" pitchFamily="34" charset="0"/>
              </a:rPr>
              <a:t>1 dose of PCV20 or 1 dose of PCV 15 followed by PPSV23. Reduces CAP and exacerbations. </a:t>
            </a:r>
          </a:p>
          <a:p>
            <a:pPr marL="171450" indent="-171450">
              <a:buFontTx/>
              <a:buChar char="-"/>
            </a:pPr>
            <a:r>
              <a:rPr lang="en-US" b="0" i="0" dirty="0" err="1">
                <a:solidFill>
                  <a:srgbClr val="222222"/>
                </a:solidFill>
                <a:effectLst/>
                <a:latin typeface="Arial" panose="020B0604020202020204" pitchFamily="34" charset="0"/>
              </a:rPr>
              <a:t>dTAP</a:t>
            </a:r>
            <a:r>
              <a:rPr lang="en-US" b="0" i="0" dirty="0">
                <a:solidFill>
                  <a:srgbClr val="222222"/>
                </a:solidFill>
                <a:effectLst/>
                <a:latin typeface="Arial" panose="020B0604020202020204" pitchFamily="34" charset="0"/>
              </a:rPr>
              <a:t> for people wo were not vaccinated in adolescence. </a:t>
            </a:r>
          </a:p>
          <a:p>
            <a:pPr marL="171450" indent="-171450">
              <a:buFontTx/>
              <a:buChar char="-"/>
            </a:pPr>
            <a:r>
              <a:rPr lang="en-US" b="0" i="0" dirty="0">
                <a:solidFill>
                  <a:srgbClr val="222222"/>
                </a:solidFill>
                <a:effectLst/>
                <a:latin typeface="Arial" panose="020B0604020202020204" pitchFamily="34" charset="0"/>
              </a:rPr>
              <a:t>Shingles to protect against shingles. </a:t>
            </a:r>
          </a:p>
          <a:p>
            <a:pPr marL="171450" indent="-171450">
              <a:buFontTx/>
              <a:buChar char="-"/>
            </a:pPr>
            <a:endParaRPr lang="en-US" b="0" i="0" dirty="0">
              <a:solidFill>
                <a:srgbClr val="222222"/>
              </a:solidFill>
              <a:effectLst/>
              <a:latin typeface="Arial" panose="020B0604020202020204" pitchFamily="34" charset="0"/>
            </a:endParaRPr>
          </a:p>
        </p:txBody>
      </p:sp>
      <p:sp>
        <p:nvSpPr>
          <p:cNvPr id="4" name="Slide Number Placeholder 3"/>
          <p:cNvSpPr>
            <a:spLocks noGrp="1"/>
          </p:cNvSpPr>
          <p:nvPr>
            <p:ph type="sldNum" sz="quarter" idx="5"/>
          </p:nvPr>
        </p:nvSpPr>
        <p:spPr/>
        <p:txBody>
          <a:bodyPr/>
          <a:lstStyle/>
          <a:p>
            <a:fld id="{20A09352-BA48-4920-A98B-F6BFA28AB128}" type="slidenum">
              <a:rPr lang="en-US" smtClean="0"/>
              <a:t>9</a:t>
            </a:fld>
            <a:endParaRPr lang="en-US"/>
          </a:p>
        </p:txBody>
      </p:sp>
    </p:spTree>
    <p:extLst>
      <p:ext uri="{BB962C8B-B14F-4D97-AF65-F5344CB8AC3E}">
        <p14:creationId xmlns:p14="http://schemas.microsoft.com/office/powerpoint/2010/main" val="1378971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gn="l">
              <a:spcBef>
                <a:spcPts val="0"/>
              </a:spcBef>
              <a:spcAft>
                <a:spcPts val="0"/>
              </a:spcAft>
              <a:buFont typeface="Arial" panose="020B0604020202020204" pitchFamily="34" charset="0"/>
              <a:buChar char="•"/>
            </a:pPr>
            <a:r>
              <a:rPr lang="en-US" sz="1200" b="0" i="0" dirty="0">
                <a:solidFill>
                  <a:srgbClr val="222222"/>
                </a:solidFill>
                <a:effectLst/>
                <a:latin typeface="Calibri" panose="020F0502020204030204" pitchFamily="34" charset="0"/>
              </a:rPr>
              <a:t>If there’s room, add 5 days as duration of </a:t>
            </a:r>
            <a:r>
              <a:rPr lang="en-US" sz="1200" b="0" i="0" dirty="0" err="1">
                <a:solidFill>
                  <a:srgbClr val="222222"/>
                </a:solidFill>
                <a:effectLst/>
                <a:latin typeface="Calibri" panose="020F0502020204030204" pitchFamily="34" charset="0"/>
              </a:rPr>
              <a:t>abx</a:t>
            </a:r>
            <a:r>
              <a:rPr lang="en-US" sz="1200" b="0" i="0" dirty="0">
                <a:solidFill>
                  <a:srgbClr val="222222"/>
                </a:solidFill>
                <a:effectLst/>
                <a:latin typeface="Calibri" panose="020F0502020204030204" pitchFamily="34" charset="0"/>
              </a:rPr>
              <a:t> too</a:t>
            </a:r>
          </a:p>
          <a:p>
            <a:pPr marL="0" marR="0" algn="l">
              <a:spcBef>
                <a:spcPts val="0"/>
              </a:spcBef>
              <a:spcAft>
                <a:spcPts val="0"/>
              </a:spcAft>
              <a:buFont typeface="Arial" panose="020B0604020202020204" pitchFamily="34" charset="0"/>
              <a:buChar char="•"/>
            </a:pPr>
            <a:r>
              <a:rPr lang="en-US" sz="1200" b="0" i="0" dirty="0">
                <a:solidFill>
                  <a:srgbClr val="222222"/>
                </a:solidFill>
                <a:effectLst/>
                <a:latin typeface="Calibri" panose="020F0502020204030204" pitchFamily="34" charset="0"/>
              </a:rPr>
              <a:t>They don’t recommend for or against </a:t>
            </a:r>
            <a:r>
              <a:rPr lang="en-US" sz="1200" b="0" i="0" dirty="0" err="1">
                <a:solidFill>
                  <a:srgbClr val="222222"/>
                </a:solidFill>
                <a:effectLst/>
                <a:latin typeface="Calibri" panose="020F0502020204030204" pitchFamily="34" charset="0"/>
              </a:rPr>
              <a:t>procal</a:t>
            </a:r>
            <a:r>
              <a:rPr lang="en-US" sz="1200" b="0" i="0" dirty="0">
                <a:solidFill>
                  <a:srgbClr val="222222"/>
                </a:solidFill>
                <a:effectLst/>
                <a:latin typeface="Calibri" panose="020F0502020204030204" pitchFamily="34" charset="0"/>
              </a:rPr>
              <a:t> use yet – so maybe we should just leave it out and can mention in the teaching script that more studies are still needed.</a:t>
            </a:r>
          </a:p>
          <a:p>
            <a:pPr marL="0" marR="0" algn="l">
              <a:spcBef>
                <a:spcPts val="0"/>
              </a:spcBef>
              <a:spcAft>
                <a:spcPts val="0"/>
              </a:spcAft>
              <a:buFont typeface="Arial" panose="020B0604020202020204" pitchFamily="34" charset="0"/>
              <a:buChar char="•"/>
            </a:pPr>
            <a:r>
              <a:rPr lang="en-US" sz="1200" b="0" i="0" dirty="0">
                <a:solidFill>
                  <a:srgbClr val="222222"/>
                </a:solidFill>
                <a:effectLst/>
                <a:latin typeface="Calibri" panose="020F0502020204030204" pitchFamily="34" charset="0"/>
              </a:rPr>
              <a:t>For “which agent” – we might want to consider adding a little * or something stating that it really depends on local resistance patterns. GOLD doesn’t offer very much specific guidance on antibiotic choice for this reason.  GOLD does support our </a:t>
            </a:r>
            <a:r>
              <a:rPr lang="en-US" sz="1200" b="0" i="0" dirty="0" err="1">
                <a:solidFill>
                  <a:srgbClr val="222222"/>
                </a:solidFill>
                <a:effectLst/>
                <a:latin typeface="Calibri" panose="020F0502020204030204" pitchFamily="34" charset="0"/>
              </a:rPr>
              <a:t>azithro</a:t>
            </a:r>
            <a:r>
              <a:rPr lang="en-US" sz="1200" b="0" i="0" dirty="0">
                <a:solidFill>
                  <a:srgbClr val="222222"/>
                </a:solidFill>
                <a:effectLst/>
                <a:latin typeface="Calibri" panose="020F0502020204030204" pitchFamily="34" charset="0"/>
              </a:rPr>
              <a:t>/doxy rec but doesn’t mention any specific antibiotic choice for high risk patients – rather it suggests sputum cultures (should we add that? Though not very practical for outpatient) and pseudomonas coverage. Trevor still feels like our antibiotic recs here are pretty universal so I think it’s OK to leave them, just with that caveat about following local resistance patterns.  </a:t>
            </a:r>
          </a:p>
          <a:p>
            <a:endParaRPr lang="en-US" b="0" i="0" dirty="0">
              <a:solidFill>
                <a:srgbClr val="222222"/>
              </a:solidFill>
              <a:effectLst/>
              <a:latin typeface="Arial" panose="020B0604020202020204" pitchFamily="34" charset="0"/>
            </a:endParaRPr>
          </a:p>
        </p:txBody>
      </p:sp>
      <p:sp>
        <p:nvSpPr>
          <p:cNvPr id="4" name="Slide Number Placeholder 3"/>
          <p:cNvSpPr>
            <a:spLocks noGrp="1"/>
          </p:cNvSpPr>
          <p:nvPr>
            <p:ph type="sldNum" sz="quarter" idx="5"/>
          </p:nvPr>
        </p:nvSpPr>
        <p:spPr/>
        <p:txBody>
          <a:bodyPr/>
          <a:lstStyle/>
          <a:p>
            <a:fld id="{20A09352-BA48-4920-A98B-F6BFA28AB128}" type="slidenum">
              <a:rPr lang="en-US" smtClean="0"/>
              <a:t>10</a:t>
            </a:fld>
            <a:endParaRPr lang="en-US"/>
          </a:p>
        </p:txBody>
      </p:sp>
    </p:spTree>
    <p:extLst>
      <p:ext uri="{BB962C8B-B14F-4D97-AF65-F5344CB8AC3E}">
        <p14:creationId xmlns:p14="http://schemas.microsoft.com/office/powerpoint/2010/main" val="21013808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gn="l">
              <a:spcBef>
                <a:spcPts val="0"/>
              </a:spcBef>
              <a:spcAft>
                <a:spcPts val="0"/>
              </a:spcAft>
              <a:buFont typeface="Arial" panose="020B0604020202020204" pitchFamily="34" charset="0"/>
              <a:buChar char="•"/>
            </a:pPr>
            <a:r>
              <a:rPr lang="en-US" sz="1200" b="0" i="0" dirty="0">
                <a:solidFill>
                  <a:srgbClr val="222222"/>
                </a:solidFill>
                <a:effectLst/>
                <a:latin typeface="Calibri" panose="020F0502020204030204" pitchFamily="34" charset="0"/>
              </a:rPr>
              <a:t>If there’s room, add 5 days as duration of </a:t>
            </a:r>
            <a:r>
              <a:rPr lang="en-US" sz="1200" b="0" i="0" dirty="0" err="1">
                <a:solidFill>
                  <a:srgbClr val="222222"/>
                </a:solidFill>
                <a:effectLst/>
                <a:latin typeface="Calibri" panose="020F0502020204030204" pitchFamily="34" charset="0"/>
              </a:rPr>
              <a:t>abx</a:t>
            </a:r>
            <a:r>
              <a:rPr lang="en-US" sz="1200" b="0" i="0" dirty="0">
                <a:solidFill>
                  <a:srgbClr val="222222"/>
                </a:solidFill>
                <a:effectLst/>
                <a:latin typeface="Calibri" panose="020F0502020204030204" pitchFamily="34" charset="0"/>
              </a:rPr>
              <a:t> too</a:t>
            </a:r>
          </a:p>
          <a:p>
            <a:pPr marL="0" marR="0" algn="l">
              <a:spcBef>
                <a:spcPts val="0"/>
              </a:spcBef>
              <a:spcAft>
                <a:spcPts val="0"/>
              </a:spcAft>
              <a:buFont typeface="Arial" panose="020B0604020202020204" pitchFamily="34" charset="0"/>
              <a:buChar char="•"/>
            </a:pPr>
            <a:r>
              <a:rPr lang="en-US" sz="1200" b="0" i="0" dirty="0">
                <a:solidFill>
                  <a:srgbClr val="222222"/>
                </a:solidFill>
                <a:effectLst/>
                <a:latin typeface="Calibri" panose="020F0502020204030204" pitchFamily="34" charset="0"/>
              </a:rPr>
              <a:t>They don’t recommend for or against </a:t>
            </a:r>
            <a:r>
              <a:rPr lang="en-US" sz="1200" b="0" i="0" dirty="0" err="1">
                <a:solidFill>
                  <a:srgbClr val="222222"/>
                </a:solidFill>
                <a:effectLst/>
                <a:latin typeface="Calibri" panose="020F0502020204030204" pitchFamily="34" charset="0"/>
              </a:rPr>
              <a:t>procal</a:t>
            </a:r>
            <a:r>
              <a:rPr lang="en-US" sz="1200" b="0" i="0" dirty="0">
                <a:solidFill>
                  <a:srgbClr val="222222"/>
                </a:solidFill>
                <a:effectLst/>
                <a:latin typeface="Calibri" panose="020F0502020204030204" pitchFamily="34" charset="0"/>
              </a:rPr>
              <a:t> use yet – so maybe we should just leave it out and can mention in the teaching script that more studies are still needed.</a:t>
            </a:r>
          </a:p>
          <a:p>
            <a:pPr marL="0" marR="0" algn="l">
              <a:spcBef>
                <a:spcPts val="0"/>
              </a:spcBef>
              <a:spcAft>
                <a:spcPts val="0"/>
              </a:spcAft>
              <a:buFont typeface="Arial" panose="020B0604020202020204" pitchFamily="34" charset="0"/>
              <a:buChar char="•"/>
            </a:pPr>
            <a:r>
              <a:rPr lang="en-US" sz="1200" b="0" i="0" dirty="0">
                <a:solidFill>
                  <a:srgbClr val="222222"/>
                </a:solidFill>
                <a:effectLst/>
                <a:latin typeface="Calibri" panose="020F0502020204030204" pitchFamily="34" charset="0"/>
              </a:rPr>
              <a:t>For “which agent” – we might want to consider adding a little * or something stating that it really depends on local resistance patterns. GOLD doesn’t offer very much specific guidance on antibiotic choice for this reason.  GOLD does support our </a:t>
            </a:r>
            <a:r>
              <a:rPr lang="en-US" sz="1200" b="0" i="0" dirty="0" err="1">
                <a:solidFill>
                  <a:srgbClr val="222222"/>
                </a:solidFill>
                <a:effectLst/>
                <a:latin typeface="Calibri" panose="020F0502020204030204" pitchFamily="34" charset="0"/>
              </a:rPr>
              <a:t>azithro</a:t>
            </a:r>
            <a:r>
              <a:rPr lang="en-US" sz="1200" b="0" i="0" dirty="0">
                <a:solidFill>
                  <a:srgbClr val="222222"/>
                </a:solidFill>
                <a:effectLst/>
                <a:latin typeface="Calibri" panose="020F0502020204030204" pitchFamily="34" charset="0"/>
              </a:rPr>
              <a:t>/doxy rec but doesn’t mention any specific antibiotic choice for high risk patients – rather it suggests sputum cultures (should we add that? Though not very practical for outpatient) and pseudomonas coverage. Trevor still feels like our antibiotic recs here are pretty universal so I think it’s OK to leave them, just with that caveat about following local resistance patterns.  </a:t>
            </a:r>
          </a:p>
          <a:p>
            <a:endParaRPr lang="en-US" b="0" i="0" dirty="0">
              <a:solidFill>
                <a:srgbClr val="222222"/>
              </a:solidFill>
              <a:effectLst/>
              <a:latin typeface="Arial" panose="020B0604020202020204" pitchFamily="34" charset="0"/>
            </a:endParaRPr>
          </a:p>
        </p:txBody>
      </p:sp>
      <p:sp>
        <p:nvSpPr>
          <p:cNvPr id="4" name="Slide Number Placeholder 3"/>
          <p:cNvSpPr>
            <a:spLocks noGrp="1"/>
          </p:cNvSpPr>
          <p:nvPr>
            <p:ph type="sldNum" sz="quarter" idx="5"/>
          </p:nvPr>
        </p:nvSpPr>
        <p:spPr/>
        <p:txBody>
          <a:bodyPr/>
          <a:lstStyle/>
          <a:p>
            <a:fld id="{20A09352-BA48-4920-A98B-F6BFA28AB128}" type="slidenum">
              <a:rPr lang="en-US" smtClean="0"/>
              <a:t>11</a:t>
            </a:fld>
            <a:endParaRPr lang="en-US"/>
          </a:p>
        </p:txBody>
      </p:sp>
    </p:spTree>
    <p:extLst>
      <p:ext uri="{BB962C8B-B14F-4D97-AF65-F5344CB8AC3E}">
        <p14:creationId xmlns:p14="http://schemas.microsoft.com/office/powerpoint/2010/main" val="420201996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0A09352-BA48-4920-A98B-F6BFA28AB128}" type="slidenum">
              <a:rPr lang="en-US" smtClean="0"/>
              <a:t>12</a:t>
            </a:fld>
            <a:endParaRPr lang="en-US"/>
          </a:p>
        </p:txBody>
      </p:sp>
    </p:spTree>
    <p:extLst>
      <p:ext uri="{BB962C8B-B14F-4D97-AF65-F5344CB8AC3E}">
        <p14:creationId xmlns:p14="http://schemas.microsoft.com/office/powerpoint/2010/main" val="40298897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0A09352-BA48-4920-A98B-F6BFA28AB128}" type="slidenum">
              <a:rPr lang="en-US" smtClean="0"/>
              <a:t>13</a:t>
            </a:fld>
            <a:endParaRPr lang="en-US"/>
          </a:p>
        </p:txBody>
      </p:sp>
    </p:spTree>
    <p:extLst>
      <p:ext uri="{BB962C8B-B14F-4D97-AF65-F5344CB8AC3E}">
        <p14:creationId xmlns:p14="http://schemas.microsoft.com/office/powerpoint/2010/main" val="1634983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386495-C061-435A-89E2-8E14C3F10F6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D9580FB-3CF3-41F6-9815-DB8E361A54A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6EF998D-7D2E-4817-9BF1-342E7F362203}"/>
              </a:ext>
            </a:extLst>
          </p:cNvPr>
          <p:cNvSpPr>
            <a:spLocks noGrp="1"/>
          </p:cNvSpPr>
          <p:nvPr>
            <p:ph type="dt" sz="half" idx="10"/>
          </p:nvPr>
        </p:nvSpPr>
        <p:spPr/>
        <p:txBody>
          <a:bodyPr/>
          <a:lstStyle/>
          <a:p>
            <a:fld id="{0F84F14A-D76B-40B9-B3E4-3854EC9865A5}" type="datetimeFigureOut">
              <a:rPr lang="en-US" smtClean="0"/>
              <a:t>5/15/2023</a:t>
            </a:fld>
            <a:endParaRPr lang="en-US"/>
          </a:p>
        </p:txBody>
      </p:sp>
      <p:sp>
        <p:nvSpPr>
          <p:cNvPr id="5" name="Footer Placeholder 4">
            <a:extLst>
              <a:ext uri="{FF2B5EF4-FFF2-40B4-BE49-F238E27FC236}">
                <a16:creationId xmlns:a16="http://schemas.microsoft.com/office/drawing/2014/main" id="{C563A403-A6A1-4663-A63B-84B48C8AF3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970D1DF-4317-4C8E-B2B7-0E9217CAAC23}"/>
              </a:ext>
            </a:extLst>
          </p:cNvPr>
          <p:cNvSpPr>
            <a:spLocks noGrp="1"/>
          </p:cNvSpPr>
          <p:nvPr>
            <p:ph type="sldNum" sz="quarter" idx="12"/>
          </p:nvPr>
        </p:nvSpPr>
        <p:spPr/>
        <p:txBody>
          <a:bodyPr/>
          <a:lstStyle/>
          <a:p>
            <a:fld id="{DCAEE272-2248-4504-8802-E524313AA46D}" type="slidenum">
              <a:rPr lang="en-US" smtClean="0"/>
              <a:t>‹#›</a:t>
            </a:fld>
            <a:endParaRPr lang="en-US"/>
          </a:p>
        </p:txBody>
      </p:sp>
    </p:spTree>
    <p:extLst>
      <p:ext uri="{BB962C8B-B14F-4D97-AF65-F5344CB8AC3E}">
        <p14:creationId xmlns:p14="http://schemas.microsoft.com/office/powerpoint/2010/main" val="12241414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694547-5EC1-44BF-9621-726957BF2E9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7CFE5F2-7960-4FA0-A256-F0476D7DC5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58E528E-A17B-453D-BB74-0C6425055105}"/>
              </a:ext>
            </a:extLst>
          </p:cNvPr>
          <p:cNvSpPr>
            <a:spLocks noGrp="1"/>
          </p:cNvSpPr>
          <p:nvPr>
            <p:ph type="dt" sz="half" idx="10"/>
          </p:nvPr>
        </p:nvSpPr>
        <p:spPr/>
        <p:txBody>
          <a:bodyPr/>
          <a:lstStyle/>
          <a:p>
            <a:fld id="{0F84F14A-D76B-40B9-B3E4-3854EC9865A5}" type="datetimeFigureOut">
              <a:rPr lang="en-US" smtClean="0"/>
              <a:t>5/15/2023</a:t>
            </a:fld>
            <a:endParaRPr lang="en-US"/>
          </a:p>
        </p:txBody>
      </p:sp>
      <p:sp>
        <p:nvSpPr>
          <p:cNvPr id="5" name="Footer Placeholder 4">
            <a:extLst>
              <a:ext uri="{FF2B5EF4-FFF2-40B4-BE49-F238E27FC236}">
                <a16:creationId xmlns:a16="http://schemas.microsoft.com/office/drawing/2014/main" id="{C1C58C7D-A9DF-48B2-BCF8-90795A30C6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3808059-A57B-4B79-8AF4-05C9FF4084B6}"/>
              </a:ext>
            </a:extLst>
          </p:cNvPr>
          <p:cNvSpPr>
            <a:spLocks noGrp="1"/>
          </p:cNvSpPr>
          <p:nvPr>
            <p:ph type="sldNum" sz="quarter" idx="12"/>
          </p:nvPr>
        </p:nvSpPr>
        <p:spPr/>
        <p:txBody>
          <a:bodyPr/>
          <a:lstStyle/>
          <a:p>
            <a:fld id="{DCAEE272-2248-4504-8802-E524313AA46D}" type="slidenum">
              <a:rPr lang="en-US" smtClean="0"/>
              <a:t>‹#›</a:t>
            </a:fld>
            <a:endParaRPr lang="en-US"/>
          </a:p>
        </p:txBody>
      </p:sp>
    </p:spTree>
    <p:extLst>
      <p:ext uri="{BB962C8B-B14F-4D97-AF65-F5344CB8AC3E}">
        <p14:creationId xmlns:p14="http://schemas.microsoft.com/office/powerpoint/2010/main" val="9188261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26E84F-DE8D-47C5-B7D6-32D75CEF6E9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58BE857-9357-4779-8BBD-1DF0194CB36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AD994E4-EF89-480E-8D21-54E2D6E382ED}"/>
              </a:ext>
            </a:extLst>
          </p:cNvPr>
          <p:cNvSpPr>
            <a:spLocks noGrp="1"/>
          </p:cNvSpPr>
          <p:nvPr>
            <p:ph type="dt" sz="half" idx="10"/>
          </p:nvPr>
        </p:nvSpPr>
        <p:spPr/>
        <p:txBody>
          <a:bodyPr/>
          <a:lstStyle/>
          <a:p>
            <a:fld id="{0F84F14A-D76B-40B9-B3E4-3854EC9865A5}" type="datetimeFigureOut">
              <a:rPr lang="en-US" smtClean="0"/>
              <a:t>5/15/2023</a:t>
            </a:fld>
            <a:endParaRPr lang="en-US"/>
          </a:p>
        </p:txBody>
      </p:sp>
      <p:sp>
        <p:nvSpPr>
          <p:cNvPr id="5" name="Footer Placeholder 4">
            <a:extLst>
              <a:ext uri="{FF2B5EF4-FFF2-40B4-BE49-F238E27FC236}">
                <a16:creationId xmlns:a16="http://schemas.microsoft.com/office/drawing/2014/main" id="{0EA5B394-926B-45A0-B190-C764CA25353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9B56E4E-AA45-4A87-BA85-C5E43AF640CC}"/>
              </a:ext>
            </a:extLst>
          </p:cNvPr>
          <p:cNvSpPr>
            <a:spLocks noGrp="1"/>
          </p:cNvSpPr>
          <p:nvPr>
            <p:ph type="sldNum" sz="quarter" idx="12"/>
          </p:nvPr>
        </p:nvSpPr>
        <p:spPr/>
        <p:txBody>
          <a:bodyPr/>
          <a:lstStyle/>
          <a:p>
            <a:fld id="{DCAEE272-2248-4504-8802-E524313AA46D}" type="slidenum">
              <a:rPr lang="en-US" smtClean="0"/>
              <a:t>‹#›</a:t>
            </a:fld>
            <a:endParaRPr lang="en-US"/>
          </a:p>
        </p:txBody>
      </p:sp>
    </p:spTree>
    <p:extLst>
      <p:ext uri="{BB962C8B-B14F-4D97-AF65-F5344CB8AC3E}">
        <p14:creationId xmlns:p14="http://schemas.microsoft.com/office/powerpoint/2010/main" val="27029762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2CEC26-FC90-4B46-979B-A23AACD7D49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F92060D-AB62-4676-A0DF-42C0A5B6B6A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D31F041-062D-4B34-B1A5-4786DACAC86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E86B79B-0D3F-4901-A4C7-8B447F559FB8}"/>
              </a:ext>
            </a:extLst>
          </p:cNvPr>
          <p:cNvSpPr>
            <a:spLocks noGrp="1"/>
          </p:cNvSpPr>
          <p:nvPr>
            <p:ph type="dt" sz="half" idx="10"/>
          </p:nvPr>
        </p:nvSpPr>
        <p:spPr/>
        <p:txBody>
          <a:bodyPr/>
          <a:lstStyle/>
          <a:p>
            <a:fld id="{0F84F14A-D76B-40B9-B3E4-3854EC9865A5}" type="datetimeFigureOut">
              <a:rPr lang="en-US" smtClean="0"/>
              <a:t>5/15/2023</a:t>
            </a:fld>
            <a:endParaRPr lang="en-US"/>
          </a:p>
        </p:txBody>
      </p:sp>
      <p:sp>
        <p:nvSpPr>
          <p:cNvPr id="6" name="Footer Placeholder 5">
            <a:extLst>
              <a:ext uri="{FF2B5EF4-FFF2-40B4-BE49-F238E27FC236}">
                <a16:creationId xmlns:a16="http://schemas.microsoft.com/office/drawing/2014/main" id="{BF621EE8-3C76-4291-A58B-A5EF36373F5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3E3E159-DE50-44B6-9EC7-0926461D8B80}"/>
              </a:ext>
            </a:extLst>
          </p:cNvPr>
          <p:cNvSpPr>
            <a:spLocks noGrp="1"/>
          </p:cNvSpPr>
          <p:nvPr>
            <p:ph type="sldNum" sz="quarter" idx="12"/>
          </p:nvPr>
        </p:nvSpPr>
        <p:spPr/>
        <p:txBody>
          <a:bodyPr/>
          <a:lstStyle/>
          <a:p>
            <a:fld id="{DCAEE272-2248-4504-8802-E524313AA46D}" type="slidenum">
              <a:rPr lang="en-US" smtClean="0"/>
              <a:t>‹#›</a:t>
            </a:fld>
            <a:endParaRPr lang="en-US"/>
          </a:p>
        </p:txBody>
      </p:sp>
    </p:spTree>
    <p:extLst>
      <p:ext uri="{BB962C8B-B14F-4D97-AF65-F5344CB8AC3E}">
        <p14:creationId xmlns:p14="http://schemas.microsoft.com/office/powerpoint/2010/main" val="15948732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4C0363-7B79-45DB-A2B0-6D335B73963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EC3C4DC-6BAE-4F10-9DD7-643A6AAABBC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CB02A37-6F5E-4C4C-B297-BBF9E1C70AB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403FA86-CFD4-46DA-BF8E-031B0E5CD1F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99FE2CA-A94D-46FB-895B-5B4154C0E72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B34C0C6-854A-48DC-A632-FD07B9128F8E}"/>
              </a:ext>
            </a:extLst>
          </p:cNvPr>
          <p:cNvSpPr>
            <a:spLocks noGrp="1"/>
          </p:cNvSpPr>
          <p:nvPr>
            <p:ph type="dt" sz="half" idx="10"/>
          </p:nvPr>
        </p:nvSpPr>
        <p:spPr/>
        <p:txBody>
          <a:bodyPr/>
          <a:lstStyle/>
          <a:p>
            <a:fld id="{0F84F14A-D76B-40B9-B3E4-3854EC9865A5}" type="datetimeFigureOut">
              <a:rPr lang="en-US" smtClean="0"/>
              <a:t>5/15/2023</a:t>
            </a:fld>
            <a:endParaRPr lang="en-US"/>
          </a:p>
        </p:txBody>
      </p:sp>
      <p:sp>
        <p:nvSpPr>
          <p:cNvPr id="8" name="Footer Placeholder 7">
            <a:extLst>
              <a:ext uri="{FF2B5EF4-FFF2-40B4-BE49-F238E27FC236}">
                <a16:creationId xmlns:a16="http://schemas.microsoft.com/office/drawing/2014/main" id="{D14E1F0B-59CC-46DA-8341-7C0E68BC3C3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28405B6-F52E-46E8-9F7E-7626AEAF53DE}"/>
              </a:ext>
            </a:extLst>
          </p:cNvPr>
          <p:cNvSpPr>
            <a:spLocks noGrp="1"/>
          </p:cNvSpPr>
          <p:nvPr>
            <p:ph type="sldNum" sz="quarter" idx="12"/>
          </p:nvPr>
        </p:nvSpPr>
        <p:spPr/>
        <p:txBody>
          <a:bodyPr/>
          <a:lstStyle/>
          <a:p>
            <a:fld id="{DCAEE272-2248-4504-8802-E524313AA46D}" type="slidenum">
              <a:rPr lang="en-US" smtClean="0"/>
              <a:t>‹#›</a:t>
            </a:fld>
            <a:endParaRPr lang="en-US"/>
          </a:p>
        </p:txBody>
      </p:sp>
    </p:spTree>
    <p:extLst>
      <p:ext uri="{BB962C8B-B14F-4D97-AF65-F5344CB8AC3E}">
        <p14:creationId xmlns:p14="http://schemas.microsoft.com/office/powerpoint/2010/main" val="33742327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CC5A0E-7AEF-4877-9053-A171BCCDA05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87BF592-5821-459E-B9A3-3D8ACDBF6DA0}"/>
              </a:ext>
            </a:extLst>
          </p:cNvPr>
          <p:cNvSpPr>
            <a:spLocks noGrp="1"/>
          </p:cNvSpPr>
          <p:nvPr>
            <p:ph type="dt" sz="half" idx="10"/>
          </p:nvPr>
        </p:nvSpPr>
        <p:spPr/>
        <p:txBody>
          <a:bodyPr/>
          <a:lstStyle/>
          <a:p>
            <a:fld id="{0F84F14A-D76B-40B9-B3E4-3854EC9865A5}" type="datetimeFigureOut">
              <a:rPr lang="en-US" smtClean="0"/>
              <a:t>5/15/2023</a:t>
            </a:fld>
            <a:endParaRPr lang="en-US"/>
          </a:p>
        </p:txBody>
      </p:sp>
      <p:sp>
        <p:nvSpPr>
          <p:cNvPr id="4" name="Footer Placeholder 3">
            <a:extLst>
              <a:ext uri="{FF2B5EF4-FFF2-40B4-BE49-F238E27FC236}">
                <a16:creationId xmlns:a16="http://schemas.microsoft.com/office/drawing/2014/main" id="{5D987D8C-960F-4F78-BBF0-CEFE14B8937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01B2F0D-8672-4FC6-ADD2-67B76146EC59}"/>
              </a:ext>
            </a:extLst>
          </p:cNvPr>
          <p:cNvSpPr>
            <a:spLocks noGrp="1"/>
          </p:cNvSpPr>
          <p:nvPr>
            <p:ph type="sldNum" sz="quarter" idx="12"/>
          </p:nvPr>
        </p:nvSpPr>
        <p:spPr/>
        <p:txBody>
          <a:bodyPr/>
          <a:lstStyle/>
          <a:p>
            <a:fld id="{DCAEE272-2248-4504-8802-E524313AA46D}" type="slidenum">
              <a:rPr lang="en-US" smtClean="0"/>
              <a:t>‹#›</a:t>
            </a:fld>
            <a:endParaRPr lang="en-US"/>
          </a:p>
        </p:txBody>
      </p:sp>
    </p:spTree>
    <p:extLst>
      <p:ext uri="{BB962C8B-B14F-4D97-AF65-F5344CB8AC3E}">
        <p14:creationId xmlns:p14="http://schemas.microsoft.com/office/powerpoint/2010/main" val="33855490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56E6781-537C-4C98-BDDB-F6F7EEE53EA6}"/>
              </a:ext>
            </a:extLst>
          </p:cNvPr>
          <p:cNvSpPr>
            <a:spLocks noGrp="1"/>
          </p:cNvSpPr>
          <p:nvPr>
            <p:ph type="dt" sz="half" idx="10"/>
          </p:nvPr>
        </p:nvSpPr>
        <p:spPr/>
        <p:txBody>
          <a:bodyPr/>
          <a:lstStyle/>
          <a:p>
            <a:fld id="{0F84F14A-D76B-40B9-B3E4-3854EC9865A5}" type="datetimeFigureOut">
              <a:rPr lang="en-US" smtClean="0"/>
              <a:t>5/15/2023</a:t>
            </a:fld>
            <a:endParaRPr lang="en-US"/>
          </a:p>
        </p:txBody>
      </p:sp>
      <p:sp>
        <p:nvSpPr>
          <p:cNvPr id="3" name="Footer Placeholder 2">
            <a:extLst>
              <a:ext uri="{FF2B5EF4-FFF2-40B4-BE49-F238E27FC236}">
                <a16:creationId xmlns:a16="http://schemas.microsoft.com/office/drawing/2014/main" id="{A8DB21C1-1A01-4FFB-86F3-D2F6003ECF8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8DEEAAD-3D5F-49E1-A3EE-ED8E33DC88FD}"/>
              </a:ext>
            </a:extLst>
          </p:cNvPr>
          <p:cNvSpPr>
            <a:spLocks noGrp="1"/>
          </p:cNvSpPr>
          <p:nvPr>
            <p:ph type="sldNum" sz="quarter" idx="12"/>
          </p:nvPr>
        </p:nvSpPr>
        <p:spPr/>
        <p:txBody>
          <a:bodyPr/>
          <a:lstStyle/>
          <a:p>
            <a:fld id="{DCAEE272-2248-4504-8802-E524313AA46D}" type="slidenum">
              <a:rPr lang="en-US" smtClean="0"/>
              <a:t>‹#›</a:t>
            </a:fld>
            <a:endParaRPr lang="en-US"/>
          </a:p>
        </p:txBody>
      </p:sp>
    </p:spTree>
    <p:extLst>
      <p:ext uri="{BB962C8B-B14F-4D97-AF65-F5344CB8AC3E}">
        <p14:creationId xmlns:p14="http://schemas.microsoft.com/office/powerpoint/2010/main" val="5453953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518EA8-F0B4-4192-A9D0-8964C0C3971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5320B17-D266-4EF8-922D-5210F854075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275F396-3C3D-4532-8AC6-3F2FC0F5650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7BC2B64-D4A9-449F-84C7-345989B46020}"/>
              </a:ext>
            </a:extLst>
          </p:cNvPr>
          <p:cNvSpPr>
            <a:spLocks noGrp="1"/>
          </p:cNvSpPr>
          <p:nvPr>
            <p:ph type="dt" sz="half" idx="10"/>
          </p:nvPr>
        </p:nvSpPr>
        <p:spPr/>
        <p:txBody>
          <a:bodyPr/>
          <a:lstStyle/>
          <a:p>
            <a:fld id="{0F84F14A-D76B-40B9-B3E4-3854EC9865A5}" type="datetimeFigureOut">
              <a:rPr lang="en-US" smtClean="0"/>
              <a:t>5/15/2023</a:t>
            </a:fld>
            <a:endParaRPr lang="en-US"/>
          </a:p>
        </p:txBody>
      </p:sp>
      <p:sp>
        <p:nvSpPr>
          <p:cNvPr id="6" name="Footer Placeholder 5">
            <a:extLst>
              <a:ext uri="{FF2B5EF4-FFF2-40B4-BE49-F238E27FC236}">
                <a16:creationId xmlns:a16="http://schemas.microsoft.com/office/drawing/2014/main" id="{8C2F6A49-8662-41CA-A469-D795062490E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9C04BCF-0283-4D69-99FF-ADED0E4D0111}"/>
              </a:ext>
            </a:extLst>
          </p:cNvPr>
          <p:cNvSpPr>
            <a:spLocks noGrp="1"/>
          </p:cNvSpPr>
          <p:nvPr>
            <p:ph type="sldNum" sz="quarter" idx="12"/>
          </p:nvPr>
        </p:nvSpPr>
        <p:spPr/>
        <p:txBody>
          <a:bodyPr/>
          <a:lstStyle/>
          <a:p>
            <a:fld id="{DCAEE272-2248-4504-8802-E524313AA46D}" type="slidenum">
              <a:rPr lang="en-US" smtClean="0"/>
              <a:t>‹#›</a:t>
            </a:fld>
            <a:endParaRPr lang="en-US"/>
          </a:p>
        </p:txBody>
      </p:sp>
    </p:spTree>
    <p:extLst>
      <p:ext uri="{BB962C8B-B14F-4D97-AF65-F5344CB8AC3E}">
        <p14:creationId xmlns:p14="http://schemas.microsoft.com/office/powerpoint/2010/main" val="35608635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D5435D-B09C-494A-BBEE-94EC15D297A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A2B3387-F3A1-42AC-A1AE-2F99786D207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1FE0E44-CB2E-4558-A34E-CECD5618CD3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6157C84-DF3D-472D-A20F-BD530E8AD852}"/>
              </a:ext>
            </a:extLst>
          </p:cNvPr>
          <p:cNvSpPr>
            <a:spLocks noGrp="1"/>
          </p:cNvSpPr>
          <p:nvPr>
            <p:ph type="dt" sz="half" idx="10"/>
          </p:nvPr>
        </p:nvSpPr>
        <p:spPr/>
        <p:txBody>
          <a:bodyPr/>
          <a:lstStyle/>
          <a:p>
            <a:fld id="{0F84F14A-D76B-40B9-B3E4-3854EC9865A5}" type="datetimeFigureOut">
              <a:rPr lang="en-US" smtClean="0"/>
              <a:t>5/15/2023</a:t>
            </a:fld>
            <a:endParaRPr lang="en-US"/>
          </a:p>
        </p:txBody>
      </p:sp>
      <p:sp>
        <p:nvSpPr>
          <p:cNvPr id="6" name="Footer Placeholder 5">
            <a:extLst>
              <a:ext uri="{FF2B5EF4-FFF2-40B4-BE49-F238E27FC236}">
                <a16:creationId xmlns:a16="http://schemas.microsoft.com/office/drawing/2014/main" id="{E9BDD6E5-2AF6-4232-97AD-8BC1CB0D4AD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164B4F0-1EED-4468-82BC-EB5ACC61CDBC}"/>
              </a:ext>
            </a:extLst>
          </p:cNvPr>
          <p:cNvSpPr>
            <a:spLocks noGrp="1"/>
          </p:cNvSpPr>
          <p:nvPr>
            <p:ph type="sldNum" sz="quarter" idx="12"/>
          </p:nvPr>
        </p:nvSpPr>
        <p:spPr/>
        <p:txBody>
          <a:bodyPr/>
          <a:lstStyle/>
          <a:p>
            <a:fld id="{DCAEE272-2248-4504-8802-E524313AA46D}" type="slidenum">
              <a:rPr lang="en-US" smtClean="0"/>
              <a:t>‹#›</a:t>
            </a:fld>
            <a:endParaRPr lang="en-US"/>
          </a:p>
        </p:txBody>
      </p:sp>
    </p:spTree>
    <p:extLst>
      <p:ext uri="{BB962C8B-B14F-4D97-AF65-F5344CB8AC3E}">
        <p14:creationId xmlns:p14="http://schemas.microsoft.com/office/powerpoint/2010/main" val="25102639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F26D1F-D7C3-43B5-BC19-9457873390E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FB61C01-40D5-4A97-96F1-B103EB25E6A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4F91CD1-777B-4C97-828B-94FA3AE503BB}"/>
              </a:ext>
            </a:extLst>
          </p:cNvPr>
          <p:cNvSpPr>
            <a:spLocks noGrp="1"/>
          </p:cNvSpPr>
          <p:nvPr>
            <p:ph type="dt" sz="half" idx="10"/>
          </p:nvPr>
        </p:nvSpPr>
        <p:spPr/>
        <p:txBody>
          <a:bodyPr/>
          <a:lstStyle/>
          <a:p>
            <a:fld id="{0F84F14A-D76B-40B9-B3E4-3854EC9865A5}" type="datetimeFigureOut">
              <a:rPr lang="en-US" smtClean="0"/>
              <a:t>5/15/2023</a:t>
            </a:fld>
            <a:endParaRPr lang="en-US"/>
          </a:p>
        </p:txBody>
      </p:sp>
      <p:sp>
        <p:nvSpPr>
          <p:cNvPr id="5" name="Footer Placeholder 4">
            <a:extLst>
              <a:ext uri="{FF2B5EF4-FFF2-40B4-BE49-F238E27FC236}">
                <a16:creationId xmlns:a16="http://schemas.microsoft.com/office/drawing/2014/main" id="{7197791E-7E87-48DD-8A1D-01CFFF80EC4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FE10B35-373B-4705-9A5B-46D90EAB90A0}"/>
              </a:ext>
            </a:extLst>
          </p:cNvPr>
          <p:cNvSpPr>
            <a:spLocks noGrp="1"/>
          </p:cNvSpPr>
          <p:nvPr>
            <p:ph type="sldNum" sz="quarter" idx="12"/>
          </p:nvPr>
        </p:nvSpPr>
        <p:spPr/>
        <p:txBody>
          <a:bodyPr/>
          <a:lstStyle/>
          <a:p>
            <a:fld id="{DCAEE272-2248-4504-8802-E524313AA46D}" type="slidenum">
              <a:rPr lang="en-US" smtClean="0"/>
              <a:t>‹#›</a:t>
            </a:fld>
            <a:endParaRPr lang="en-US"/>
          </a:p>
        </p:txBody>
      </p:sp>
    </p:spTree>
    <p:extLst>
      <p:ext uri="{BB962C8B-B14F-4D97-AF65-F5344CB8AC3E}">
        <p14:creationId xmlns:p14="http://schemas.microsoft.com/office/powerpoint/2010/main" val="25579769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68460FF-206A-4BE3-9254-343DFAA5A0C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24397E0-EBCA-4774-936B-23207C696AD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748F217-2E84-413B-B47E-B3F2E542C1B2}"/>
              </a:ext>
            </a:extLst>
          </p:cNvPr>
          <p:cNvSpPr>
            <a:spLocks noGrp="1"/>
          </p:cNvSpPr>
          <p:nvPr>
            <p:ph type="dt" sz="half" idx="10"/>
          </p:nvPr>
        </p:nvSpPr>
        <p:spPr/>
        <p:txBody>
          <a:bodyPr/>
          <a:lstStyle/>
          <a:p>
            <a:fld id="{0F84F14A-D76B-40B9-B3E4-3854EC9865A5}" type="datetimeFigureOut">
              <a:rPr lang="en-US" smtClean="0"/>
              <a:t>5/15/2023</a:t>
            </a:fld>
            <a:endParaRPr lang="en-US"/>
          </a:p>
        </p:txBody>
      </p:sp>
      <p:sp>
        <p:nvSpPr>
          <p:cNvPr id="5" name="Footer Placeholder 4">
            <a:extLst>
              <a:ext uri="{FF2B5EF4-FFF2-40B4-BE49-F238E27FC236}">
                <a16:creationId xmlns:a16="http://schemas.microsoft.com/office/drawing/2014/main" id="{D69CCB7C-E21F-4403-8F5D-510F806FCD8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9CFD71-BB00-44F3-A9D2-BDEE796BA8D1}"/>
              </a:ext>
            </a:extLst>
          </p:cNvPr>
          <p:cNvSpPr>
            <a:spLocks noGrp="1"/>
          </p:cNvSpPr>
          <p:nvPr>
            <p:ph type="sldNum" sz="quarter" idx="12"/>
          </p:nvPr>
        </p:nvSpPr>
        <p:spPr/>
        <p:txBody>
          <a:bodyPr/>
          <a:lstStyle/>
          <a:p>
            <a:fld id="{DCAEE272-2248-4504-8802-E524313AA46D}" type="slidenum">
              <a:rPr lang="en-US" smtClean="0"/>
              <a:t>‹#›</a:t>
            </a:fld>
            <a:endParaRPr lang="en-US"/>
          </a:p>
        </p:txBody>
      </p:sp>
    </p:spTree>
    <p:extLst>
      <p:ext uri="{BB962C8B-B14F-4D97-AF65-F5344CB8AC3E}">
        <p14:creationId xmlns:p14="http://schemas.microsoft.com/office/powerpoint/2010/main" val="303292615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A55FBF9-EECA-4CDF-9912-A639E9443E7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9D5015F-1044-41D3-9433-BAE6AEBE043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8AF2704-1139-463F-A389-1395C776E8B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F84F14A-D76B-40B9-B3E4-3854EC9865A5}" type="datetimeFigureOut">
              <a:rPr lang="en-US" smtClean="0"/>
              <a:t>5/15/2023</a:t>
            </a:fld>
            <a:endParaRPr lang="en-US"/>
          </a:p>
        </p:txBody>
      </p:sp>
      <p:sp>
        <p:nvSpPr>
          <p:cNvPr id="5" name="Footer Placeholder 4">
            <a:extLst>
              <a:ext uri="{FF2B5EF4-FFF2-40B4-BE49-F238E27FC236}">
                <a16:creationId xmlns:a16="http://schemas.microsoft.com/office/drawing/2014/main" id="{334E20E1-2F44-45A7-AF74-88EF03280DA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8888D82-6606-4199-9224-9CCB8A8C5C7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CAEE272-2248-4504-8802-E524313AA46D}" type="slidenum">
              <a:rPr lang="en-US" smtClean="0"/>
              <a:t>‹#›</a:t>
            </a:fld>
            <a:endParaRPr lang="en-US"/>
          </a:p>
        </p:txBody>
      </p:sp>
    </p:spTree>
    <p:extLst>
      <p:ext uri="{BB962C8B-B14F-4D97-AF65-F5344CB8AC3E}">
        <p14:creationId xmlns:p14="http://schemas.microsoft.com/office/powerpoint/2010/main" val="1134064067"/>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slide" Target="slide2.xml"/><Relationship Id="rId5" Type="http://schemas.openxmlformats.org/officeDocument/2006/relationships/image" Target="../media/image2.png"/><Relationship Id="rId6" Type="http://schemas.openxmlformats.org/officeDocument/2006/relationships/image" Target="../media/image3.svg"/><Relationship Id="rId7" Type="http://schemas.openxmlformats.org/officeDocument/2006/relationships/slide" Target="slide3.xml"/><Relationship Id="rId8" Type="http://schemas.openxmlformats.org/officeDocument/2006/relationships/slide" Target="slide4.xml"/><Relationship Id="rId9" Type="http://schemas.openxmlformats.org/officeDocument/2006/relationships/slide" Target="slide11.xml"/><Relationship Id="rId10" Type="http://schemas.openxmlformats.org/officeDocument/2006/relationships/slide" Target="slide9.xml"/><Relationship Id="rId11" Type="http://schemas.openxmlformats.org/officeDocument/2006/relationships/slide" Target="slide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3.svg"/><Relationship Id="rId5" Type="http://schemas.openxmlformats.org/officeDocument/2006/relationships/slide" Target="slide2.xml"/><Relationship Id="rId6" Type="http://schemas.openxmlformats.org/officeDocument/2006/relationships/slide" Target="slide3.xml"/><Relationship Id="rId7" Type="http://schemas.openxmlformats.org/officeDocument/2006/relationships/slide" Target="slide4.xml"/><Relationship Id="rId8" Type="http://schemas.openxmlformats.org/officeDocument/2006/relationships/slide" Target="slide11.xml"/><Relationship Id="rId9" Type="http://schemas.openxmlformats.org/officeDocument/2006/relationships/slide" Target="slide9.xml"/><Relationship Id="rId10" Type="http://schemas.openxmlformats.org/officeDocument/2006/relationships/slide" Target="slide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3.svg"/><Relationship Id="rId5" Type="http://schemas.openxmlformats.org/officeDocument/2006/relationships/slide" Target="slide2.xml"/><Relationship Id="rId6" Type="http://schemas.openxmlformats.org/officeDocument/2006/relationships/slide" Target="slide4.xml"/><Relationship Id="rId7" Type="http://schemas.openxmlformats.org/officeDocument/2006/relationships/slide" Target="slide3.xml"/><Relationship Id="rId8" Type="http://schemas.openxmlformats.org/officeDocument/2006/relationships/slide" Target="slide11.xml"/><Relationship Id="rId9" Type="http://schemas.openxmlformats.org/officeDocument/2006/relationships/slide" Target="slide9.xml"/><Relationship Id="rId10" Type="http://schemas.openxmlformats.org/officeDocument/2006/relationships/slide" Target="slide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slide" Target="slide2.xml"/><Relationship Id="rId4" Type="http://schemas.openxmlformats.org/officeDocument/2006/relationships/image" Target="../media/image2.png"/><Relationship Id="rId5" Type="http://schemas.openxmlformats.org/officeDocument/2006/relationships/image" Target="../media/image3.svg"/><Relationship Id="rId6" Type="http://schemas.openxmlformats.org/officeDocument/2006/relationships/slide" Target="slide5.xml"/><Relationship Id="rId7" Type="http://schemas.openxmlformats.org/officeDocument/2006/relationships/slide" Target="slide7.xml"/><Relationship Id="rId8" Type="http://schemas.openxmlformats.org/officeDocument/2006/relationships/slide" Target="slide6.xml"/><Relationship Id="rId9" Type="http://schemas.openxmlformats.org/officeDocument/2006/relationships/slide" Target="slide9.xml"/><Relationship Id="rId10" Type="http://schemas.openxmlformats.org/officeDocument/2006/relationships/slide" Target="slide4.xml"/><Relationship Id="rId11" Type="http://schemas.openxmlformats.org/officeDocument/2006/relationships/slide" Target="slide3.xml"/><Relationship Id="rId12" Type="http://schemas.openxmlformats.org/officeDocument/2006/relationships/slide" Target="slide11.xml"/><Relationship Id="rId13" Type="http://schemas.openxmlformats.org/officeDocument/2006/relationships/slide" Target="slide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slide" Target="slide2.xml"/><Relationship Id="rId4" Type="http://schemas.openxmlformats.org/officeDocument/2006/relationships/image" Target="../media/image2.png"/><Relationship Id="rId5" Type="http://schemas.openxmlformats.org/officeDocument/2006/relationships/image" Target="../media/image3.svg"/><Relationship Id="rId6" Type="http://schemas.openxmlformats.org/officeDocument/2006/relationships/slide" Target="slide5.xml"/><Relationship Id="rId7" Type="http://schemas.openxmlformats.org/officeDocument/2006/relationships/slide" Target="slide7.xml"/><Relationship Id="rId8" Type="http://schemas.openxmlformats.org/officeDocument/2006/relationships/slide" Target="slide6.xml"/><Relationship Id="rId9" Type="http://schemas.openxmlformats.org/officeDocument/2006/relationships/slide" Target="slide4.xml"/><Relationship Id="rId10" Type="http://schemas.openxmlformats.org/officeDocument/2006/relationships/slide" Target="slide3.xml"/><Relationship Id="rId11" Type="http://schemas.openxmlformats.org/officeDocument/2006/relationships/slide" Target="slide11.xml"/><Relationship Id="rId12" Type="http://schemas.openxmlformats.org/officeDocument/2006/relationships/slide" Target="slide9.xml"/><Relationship Id="rId13" Type="http://schemas.openxmlformats.org/officeDocument/2006/relationships/slide" Target="slide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image" Target="../media/image2.png"/><Relationship Id="rId6" Type="http://schemas.openxmlformats.org/officeDocument/2006/relationships/image" Target="../media/image3.svg"/><Relationship Id="rId7" Type="http://schemas.openxmlformats.org/officeDocument/2006/relationships/slide" Target="slide6.xml"/><Relationship Id="rId8" Type="http://schemas.openxmlformats.org/officeDocument/2006/relationships/slide" Target="slide5.xml"/><Relationship Id="rId9" Type="http://schemas.openxmlformats.org/officeDocument/2006/relationships/slide" Target="slide7.xml"/><Relationship Id="rId10" Type="http://schemas.openxmlformats.org/officeDocument/2006/relationships/slide" Target="slide11.xml"/><Relationship Id="rId11" Type="http://schemas.openxmlformats.org/officeDocument/2006/relationships/slide" Target="slide9.xml"/><Relationship Id="rId12" Type="http://schemas.openxmlformats.org/officeDocument/2006/relationships/slide" Target="slide12.xml"/><Relationship Id="rId13" Type="http://schemas.openxmlformats.org/officeDocument/2006/relationships/slide" Target="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slide" Target="slide2.xml"/><Relationship Id="rId4" Type="http://schemas.openxmlformats.org/officeDocument/2006/relationships/slide" Target="slide4.xml"/><Relationship Id="rId5" Type="http://schemas.openxmlformats.org/officeDocument/2006/relationships/slide" Target="slide3.xml"/><Relationship Id="rId6" Type="http://schemas.openxmlformats.org/officeDocument/2006/relationships/image" Target="../media/image2.png"/><Relationship Id="rId7" Type="http://schemas.openxmlformats.org/officeDocument/2006/relationships/image" Target="../media/image3.svg"/><Relationship Id="rId8" Type="http://schemas.openxmlformats.org/officeDocument/2006/relationships/slide" Target="slide6.xml"/><Relationship Id="rId9" Type="http://schemas.openxmlformats.org/officeDocument/2006/relationships/slide" Target="slide5.xml"/><Relationship Id="rId10" Type="http://schemas.openxmlformats.org/officeDocument/2006/relationships/slide" Target="slide11.xml"/><Relationship Id="rId11" Type="http://schemas.openxmlformats.org/officeDocument/2006/relationships/slide" Target="slide9.xml"/><Relationship Id="rId12" Type="http://schemas.openxmlformats.org/officeDocument/2006/relationships/slide" Target="slide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slide" Target="slide2.xml"/><Relationship Id="rId4" Type="http://schemas.openxmlformats.org/officeDocument/2006/relationships/image" Target="../media/image2.png"/><Relationship Id="rId5" Type="http://schemas.openxmlformats.org/officeDocument/2006/relationships/image" Target="../media/image3.svg"/><Relationship Id="rId6" Type="http://schemas.openxmlformats.org/officeDocument/2006/relationships/slide" Target="slide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3.svg"/><Relationship Id="rId6" Type="http://schemas.openxmlformats.org/officeDocument/2006/relationships/slide" Target="slide11.xml"/><Relationship Id="rId7" Type="http://schemas.openxmlformats.org/officeDocument/2006/relationships/slide" Target="slide9.xml"/><Relationship Id="rId8" Type="http://schemas.openxmlformats.org/officeDocument/2006/relationships/slide" Target="slide12.xml"/><Relationship Id="rId9" Type="http://schemas.openxmlformats.org/officeDocument/2006/relationships/slide" Target="slide2.xml"/><Relationship Id="rId10" Type="http://schemas.openxmlformats.org/officeDocument/2006/relationships/slide" Target="slide3.xml"/><Relationship Id="rId11" Type="http://schemas.openxmlformats.org/officeDocument/2006/relationships/slide" Target="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slide" Target="slide2.xml"/><Relationship Id="rId4" Type="http://schemas.openxmlformats.org/officeDocument/2006/relationships/image" Target="../media/image2.png"/><Relationship Id="rId5" Type="http://schemas.openxmlformats.org/officeDocument/2006/relationships/image" Target="../media/image3.svg"/><Relationship Id="rId6" Type="http://schemas.openxmlformats.org/officeDocument/2006/relationships/slide" Target="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slide" Target="slide2.xml"/><Relationship Id="rId4" Type="http://schemas.openxmlformats.org/officeDocument/2006/relationships/image" Target="../media/image2.png"/><Relationship Id="rId5" Type="http://schemas.openxmlformats.org/officeDocument/2006/relationships/image" Target="../media/image3.svg"/><Relationship Id="rId6" Type="http://schemas.openxmlformats.org/officeDocument/2006/relationships/slide" Target="slide9.xml"/><Relationship Id="rId7" Type="http://schemas.openxmlformats.org/officeDocument/2006/relationships/slide" Target="slide11.xml"/><Relationship Id="rId8" Type="http://schemas.openxmlformats.org/officeDocument/2006/relationships/slide" Target="slide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png"/><Relationship Id="rId4" Type="http://schemas.openxmlformats.org/officeDocument/2006/relationships/image" Target="../media/image3.svg"/><Relationship Id="rId5" Type="http://schemas.openxmlformats.org/officeDocument/2006/relationships/slide" Target="slide2.xml"/><Relationship Id="rId6" Type="http://schemas.openxmlformats.org/officeDocument/2006/relationships/slide" Target="slide3.xml"/><Relationship Id="rId7" Type="http://schemas.openxmlformats.org/officeDocument/2006/relationships/slide" Target="slide4.xml"/><Relationship Id="rId8" Type="http://schemas.openxmlformats.org/officeDocument/2006/relationships/slide" Target="slide11.xml"/><Relationship Id="rId9" Type="http://schemas.openxmlformats.org/officeDocument/2006/relationships/slide" Target="slide9.xml"/><Relationship Id="rId10" Type="http://schemas.openxmlformats.org/officeDocument/2006/relationships/slide" Target="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slide" Target="slide2.xml"/><Relationship Id="rId4" Type="http://schemas.openxmlformats.org/officeDocument/2006/relationships/image" Target="../media/image2.png"/><Relationship Id="rId5" Type="http://schemas.openxmlformats.org/officeDocument/2006/relationships/image" Target="../media/image3.svg"/><Relationship Id="rId6" Type="http://schemas.openxmlformats.org/officeDocument/2006/relationships/slide" Target="slide3.xml"/><Relationship Id="rId7" Type="http://schemas.openxmlformats.org/officeDocument/2006/relationships/slide" Target="slide4.xml"/><Relationship Id="rId8" Type="http://schemas.openxmlformats.org/officeDocument/2006/relationships/slide" Target="slide11.xml"/><Relationship Id="rId9" Type="http://schemas.openxmlformats.org/officeDocument/2006/relationships/slide" Target="slide9.xml"/><Relationship Id="rId10" Type="http://schemas.openxmlformats.org/officeDocument/2006/relationships/slide" Target="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picture containing necklet, hydrozoan&#10;&#10;Description automatically generated">
            <a:extLst>
              <a:ext uri="{FF2B5EF4-FFF2-40B4-BE49-F238E27FC236}">
                <a16:creationId xmlns:a16="http://schemas.microsoft.com/office/drawing/2014/main" id="{EFBDD4E4-3702-4D3D-A9DE-0C42E8EA13A7}"/>
              </a:ext>
            </a:extLst>
          </p:cNvPr>
          <p:cNvPicPr>
            <a:picLocks noChangeAspect="1"/>
          </p:cNvPicPr>
          <p:nvPr/>
        </p:nvPicPr>
        <p:blipFill rotWithShape="1">
          <a:blip r:embed="rId3">
            <a:extLst>
              <a:ext uri="{28A0092B-C50C-407E-A947-70E740481C1C}">
                <a14:useLocalDpi xmlns:a14="http://schemas.microsoft.com/office/drawing/2010/main" val="0"/>
              </a:ext>
            </a:extLst>
          </a:blip>
          <a:srcRect t="16243" r="34762"/>
          <a:stretch/>
        </p:blipFill>
        <p:spPr>
          <a:xfrm rot="20383089">
            <a:off x="1384718" y="41695"/>
            <a:ext cx="5965381" cy="5361150"/>
          </a:xfrm>
          <a:prstGeom prst="rect">
            <a:avLst/>
          </a:prstGeom>
        </p:spPr>
      </p:pic>
      <p:sp>
        <p:nvSpPr>
          <p:cNvPr id="13" name="TextBox 12">
            <a:extLst>
              <a:ext uri="{FF2B5EF4-FFF2-40B4-BE49-F238E27FC236}">
                <a16:creationId xmlns:a16="http://schemas.microsoft.com/office/drawing/2014/main" id="{ABDD54F2-3742-4C0F-AFD5-9759FF80C17D}"/>
              </a:ext>
            </a:extLst>
          </p:cNvPr>
          <p:cNvSpPr txBox="1"/>
          <p:nvPr/>
        </p:nvSpPr>
        <p:spPr>
          <a:xfrm>
            <a:off x="6420897" y="2274838"/>
            <a:ext cx="5291502" cy="1754326"/>
          </a:xfrm>
          <a:prstGeom prst="rect">
            <a:avLst/>
          </a:prstGeom>
          <a:noFill/>
        </p:spPr>
        <p:txBody>
          <a:bodyPr wrap="square" rtlCol="0">
            <a:spAutoFit/>
          </a:bodyPr>
          <a:lstStyle/>
          <a:p>
            <a:pPr algn="ctr"/>
            <a:r>
              <a:rPr lang="en-US" sz="3600" b="1" dirty="0"/>
              <a:t>Outpatient Management of Chronic Obstructive Pulmonary Disease (COPD)</a:t>
            </a:r>
          </a:p>
        </p:txBody>
      </p:sp>
      <p:sp>
        <p:nvSpPr>
          <p:cNvPr id="64" name="TextBox 63">
            <a:extLst>
              <a:ext uri="{FF2B5EF4-FFF2-40B4-BE49-F238E27FC236}">
                <a16:creationId xmlns:a16="http://schemas.microsoft.com/office/drawing/2014/main" id="{10EF2478-094E-4C4F-9584-F8178236113D}"/>
              </a:ext>
            </a:extLst>
          </p:cNvPr>
          <p:cNvSpPr txBox="1"/>
          <p:nvPr/>
        </p:nvSpPr>
        <p:spPr>
          <a:xfrm>
            <a:off x="9804421" y="6611779"/>
            <a:ext cx="2387579" cy="246221"/>
          </a:xfrm>
          <a:prstGeom prst="rect">
            <a:avLst/>
          </a:prstGeom>
          <a:noFill/>
        </p:spPr>
        <p:txBody>
          <a:bodyPr wrap="square">
            <a:spAutoFit/>
          </a:bodyPr>
          <a:lstStyle/>
          <a:p>
            <a:pPr algn="r"/>
            <a:r>
              <a:rPr lang="en-US" sz="1000" dirty="0"/>
              <a:t>Graphic created with BioRender.com</a:t>
            </a:r>
          </a:p>
        </p:txBody>
      </p:sp>
      <p:sp>
        <p:nvSpPr>
          <p:cNvPr id="24" name="question 1">
            <a:hlinkClick r:id="rId4" action="ppaction://hlinksldjump"/>
            <a:extLst>
              <a:ext uri="{FF2B5EF4-FFF2-40B4-BE49-F238E27FC236}">
                <a16:creationId xmlns:a16="http://schemas.microsoft.com/office/drawing/2014/main" id="{87E57AD3-2D13-4101-BB8F-ABAB1B6123AE}"/>
              </a:ext>
            </a:extLst>
          </p:cNvPr>
          <p:cNvSpPr txBox="1"/>
          <p:nvPr/>
        </p:nvSpPr>
        <p:spPr>
          <a:xfrm>
            <a:off x="181642" y="159488"/>
            <a:ext cx="1645920"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Diagnosis</a:t>
            </a:r>
          </a:p>
        </p:txBody>
      </p:sp>
      <p:pic>
        <p:nvPicPr>
          <p:cNvPr id="27" name="Graphic 26" descr="Cursor with solid fill">
            <a:extLst>
              <a:ext uri="{FF2B5EF4-FFF2-40B4-BE49-F238E27FC236}">
                <a16:creationId xmlns:a16="http://schemas.microsoft.com/office/drawing/2014/main" id="{8A90014A-48FA-4E27-B9F9-439E01B961B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701287" y="435897"/>
            <a:ext cx="274320" cy="274320"/>
          </a:xfrm>
          <a:prstGeom prst="rect">
            <a:avLst/>
          </a:prstGeom>
        </p:spPr>
      </p:pic>
      <p:sp>
        <p:nvSpPr>
          <p:cNvPr id="4" name="Question 2">
            <a:hlinkClick r:id="rId7" action="ppaction://hlinksldjump"/>
            <a:extLst>
              <a:ext uri="{FF2B5EF4-FFF2-40B4-BE49-F238E27FC236}">
                <a16:creationId xmlns:a16="http://schemas.microsoft.com/office/drawing/2014/main" id="{28E30264-6AFB-8D0B-BD70-E230E001D95A}"/>
              </a:ext>
            </a:extLst>
          </p:cNvPr>
          <p:cNvSpPr txBox="1"/>
          <p:nvPr/>
        </p:nvSpPr>
        <p:spPr>
          <a:xfrm>
            <a:off x="181642" y="731519"/>
            <a:ext cx="1645920"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Classification</a:t>
            </a:r>
          </a:p>
        </p:txBody>
      </p:sp>
      <p:pic>
        <p:nvPicPr>
          <p:cNvPr id="2" name="Graphic 1" descr="Cursor with solid fill">
            <a:extLst>
              <a:ext uri="{FF2B5EF4-FFF2-40B4-BE49-F238E27FC236}">
                <a16:creationId xmlns:a16="http://schemas.microsoft.com/office/drawing/2014/main" id="{9B9CAD64-B969-9E60-479A-575F8E914093}"/>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701287" y="1007490"/>
            <a:ext cx="274320" cy="274320"/>
          </a:xfrm>
          <a:prstGeom prst="rect">
            <a:avLst/>
          </a:prstGeom>
        </p:spPr>
      </p:pic>
      <p:sp>
        <p:nvSpPr>
          <p:cNvPr id="17" name="Question 2">
            <a:hlinkClick r:id="rId8" action="ppaction://hlinksldjump"/>
            <a:extLst>
              <a:ext uri="{FF2B5EF4-FFF2-40B4-BE49-F238E27FC236}">
                <a16:creationId xmlns:a16="http://schemas.microsoft.com/office/drawing/2014/main" id="{E8D072CC-7836-C26C-5E99-BD57E8E089ED}"/>
              </a:ext>
            </a:extLst>
          </p:cNvPr>
          <p:cNvSpPr txBox="1"/>
          <p:nvPr/>
        </p:nvSpPr>
        <p:spPr>
          <a:xfrm>
            <a:off x="181642" y="1303550"/>
            <a:ext cx="1645920"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Management</a:t>
            </a:r>
          </a:p>
        </p:txBody>
      </p:sp>
      <p:pic>
        <p:nvPicPr>
          <p:cNvPr id="18" name="Graphic 17" descr="Cursor with solid fill">
            <a:extLst>
              <a:ext uri="{FF2B5EF4-FFF2-40B4-BE49-F238E27FC236}">
                <a16:creationId xmlns:a16="http://schemas.microsoft.com/office/drawing/2014/main" id="{C8F0716D-36E2-11A8-CD18-D7FC0A78BA2B}"/>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701287" y="1579083"/>
            <a:ext cx="274320" cy="274320"/>
          </a:xfrm>
          <a:prstGeom prst="rect">
            <a:avLst/>
          </a:prstGeom>
        </p:spPr>
      </p:pic>
      <p:sp>
        <p:nvSpPr>
          <p:cNvPr id="19" name="Cases">
            <a:hlinkClick r:id="rId9" action="ppaction://hlinksldjump"/>
            <a:extLst>
              <a:ext uri="{FF2B5EF4-FFF2-40B4-BE49-F238E27FC236}">
                <a16:creationId xmlns:a16="http://schemas.microsoft.com/office/drawing/2014/main" id="{6EB3E2BA-6B6D-07D4-523E-21D1C8F19599}"/>
              </a:ext>
            </a:extLst>
          </p:cNvPr>
          <p:cNvSpPr txBox="1"/>
          <p:nvPr/>
        </p:nvSpPr>
        <p:spPr>
          <a:xfrm>
            <a:off x="181642" y="2447614"/>
            <a:ext cx="1645920"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Exacerbations</a:t>
            </a:r>
          </a:p>
        </p:txBody>
      </p:sp>
      <p:sp>
        <p:nvSpPr>
          <p:cNvPr id="20" name="Question 2">
            <a:hlinkClick r:id="rId10" action="ppaction://hlinksldjump"/>
            <a:extLst>
              <a:ext uri="{FF2B5EF4-FFF2-40B4-BE49-F238E27FC236}">
                <a16:creationId xmlns:a16="http://schemas.microsoft.com/office/drawing/2014/main" id="{21D2936C-9D3F-9A9B-74BC-EFB37F6E460A}"/>
              </a:ext>
            </a:extLst>
          </p:cNvPr>
          <p:cNvSpPr txBox="1"/>
          <p:nvPr/>
        </p:nvSpPr>
        <p:spPr>
          <a:xfrm>
            <a:off x="181642" y="1875581"/>
            <a:ext cx="1645920"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Efficacy</a:t>
            </a:r>
          </a:p>
        </p:txBody>
      </p:sp>
      <p:pic>
        <p:nvPicPr>
          <p:cNvPr id="21" name="Graphic 20" descr="Cursor with solid fill">
            <a:extLst>
              <a:ext uri="{FF2B5EF4-FFF2-40B4-BE49-F238E27FC236}">
                <a16:creationId xmlns:a16="http://schemas.microsoft.com/office/drawing/2014/main" id="{A92FAC09-E040-8781-0C20-552608290A50}"/>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701287" y="2722270"/>
            <a:ext cx="270869" cy="274320"/>
          </a:xfrm>
          <a:prstGeom prst="rect">
            <a:avLst/>
          </a:prstGeom>
        </p:spPr>
      </p:pic>
      <p:pic>
        <p:nvPicPr>
          <p:cNvPr id="22" name="Graphic 21" descr="Cursor with solid fill">
            <a:extLst>
              <a:ext uri="{FF2B5EF4-FFF2-40B4-BE49-F238E27FC236}">
                <a16:creationId xmlns:a16="http://schemas.microsoft.com/office/drawing/2014/main" id="{B01075AD-58CB-CAF4-CC29-21E18153BBD5}"/>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701287" y="2150676"/>
            <a:ext cx="274320" cy="274320"/>
          </a:xfrm>
          <a:prstGeom prst="rect">
            <a:avLst/>
          </a:prstGeom>
        </p:spPr>
      </p:pic>
      <p:sp>
        <p:nvSpPr>
          <p:cNvPr id="23" name="Cases">
            <a:hlinkClick r:id="rId11" action="ppaction://hlinksldjump"/>
            <a:extLst>
              <a:ext uri="{FF2B5EF4-FFF2-40B4-BE49-F238E27FC236}">
                <a16:creationId xmlns:a16="http://schemas.microsoft.com/office/drawing/2014/main" id="{4972FE02-A0D3-DE28-565D-1E60489DB120}"/>
              </a:ext>
            </a:extLst>
          </p:cNvPr>
          <p:cNvSpPr txBox="1"/>
          <p:nvPr/>
        </p:nvSpPr>
        <p:spPr>
          <a:xfrm>
            <a:off x="181642" y="3020377"/>
            <a:ext cx="1645920"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Cases</a:t>
            </a:r>
          </a:p>
        </p:txBody>
      </p:sp>
      <p:pic>
        <p:nvPicPr>
          <p:cNvPr id="25" name="Graphic 24" descr="Cursor with solid fill">
            <a:extLst>
              <a:ext uri="{FF2B5EF4-FFF2-40B4-BE49-F238E27FC236}">
                <a16:creationId xmlns:a16="http://schemas.microsoft.com/office/drawing/2014/main" id="{C50B9069-4D99-6429-8447-23809031808B}"/>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701287" y="3295033"/>
            <a:ext cx="270869" cy="274320"/>
          </a:xfrm>
          <a:prstGeom prst="rect">
            <a:avLst/>
          </a:prstGeom>
        </p:spPr>
      </p:pic>
      <p:pic>
        <p:nvPicPr>
          <p:cNvPr id="26" name="Graphic 25" descr="Cursor with solid fill">
            <a:extLst>
              <a:ext uri="{FF2B5EF4-FFF2-40B4-BE49-F238E27FC236}">
                <a16:creationId xmlns:a16="http://schemas.microsoft.com/office/drawing/2014/main" id="{D8218921-F2C2-A3BE-271B-D476B149772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701287" y="2723439"/>
            <a:ext cx="274320" cy="274320"/>
          </a:xfrm>
          <a:prstGeom prst="rect">
            <a:avLst/>
          </a:prstGeom>
        </p:spPr>
      </p:pic>
    </p:spTree>
    <p:extLst>
      <p:ext uri="{BB962C8B-B14F-4D97-AF65-F5344CB8AC3E}">
        <p14:creationId xmlns:p14="http://schemas.microsoft.com/office/powerpoint/2010/main" val="1350514107"/>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Diagnosis of COPD">
            <a:extLst>
              <a:ext uri="{FF2B5EF4-FFF2-40B4-BE49-F238E27FC236}">
                <a16:creationId xmlns:a16="http://schemas.microsoft.com/office/drawing/2014/main" id="{78D6E57D-F7EE-EEBE-F7D7-17D7039D0513}"/>
              </a:ext>
            </a:extLst>
          </p:cNvPr>
          <p:cNvSpPr/>
          <p:nvPr/>
        </p:nvSpPr>
        <p:spPr>
          <a:xfrm>
            <a:off x="2975520" y="747792"/>
            <a:ext cx="2282668" cy="395275"/>
          </a:xfrm>
          <a:prstGeom prst="roundRect">
            <a:avLst/>
          </a:prstGeom>
          <a:solidFill>
            <a:schemeClr val="tx1"/>
          </a:solidFill>
          <a:ln w="3810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Criteria for diagnosis?</a:t>
            </a:r>
          </a:p>
        </p:txBody>
      </p:sp>
      <p:sp>
        <p:nvSpPr>
          <p:cNvPr id="55" name="Diagnosis of COPD">
            <a:extLst>
              <a:ext uri="{FF2B5EF4-FFF2-40B4-BE49-F238E27FC236}">
                <a16:creationId xmlns:a16="http://schemas.microsoft.com/office/drawing/2014/main" id="{7FD26C79-EDDB-855E-1AB6-81D4506A97C3}"/>
              </a:ext>
            </a:extLst>
          </p:cNvPr>
          <p:cNvSpPr/>
          <p:nvPr/>
        </p:nvSpPr>
        <p:spPr>
          <a:xfrm>
            <a:off x="9186055" y="747792"/>
            <a:ext cx="2003295" cy="395275"/>
          </a:xfrm>
          <a:prstGeom prst="roundRect">
            <a:avLst/>
          </a:prstGeom>
          <a:solidFill>
            <a:schemeClr val="tx1"/>
          </a:solidFill>
          <a:ln w="3810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Initial evaluation</a:t>
            </a:r>
          </a:p>
        </p:txBody>
      </p:sp>
      <p:sp>
        <p:nvSpPr>
          <p:cNvPr id="48" name="Spirometry">
            <a:extLst>
              <a:ext uri="{FF2B5EF4-FFF2-40B4-BE49-F238E27FC236}">
                <a16:creationId xmlns:a16="http://schemas.microsoft.com/office/drawing/2014/main" id="{F226A37C-0F74-6383-F0BA-A0ABAFB0CBBA}"/>
              </a:ext>
            </a:extLst>
          </p:cNvPr>
          <p:cNvSpPr/>
          <p:nvPr/>
        </p:nvSpPr>
        <p:spPr>
          <a:xfrm>
            <a:off x="2070437" y="5075046"/>
            <a:ext cx="1626400" cy="395275"/>
          </a:xfrm>
          <a:prstGeom prst="roundRect">
            <a:avLst/>
          </a:prstGeom>
          <a:solidFill>
            <a:schemeClr val="accent6"/>
          </a:solidFill>
          <a:ln w="38100">
            <a:solidFill>
              <a:schemeClr val="accent6"/>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bg1"/>
                </a:solidFill>
              </a:rPr>
              <a:t>3. Spirometry</a:t>
            </a:r>
          </a:p>
        </p:txBody>
      </p:sp>
      <p:sp>
        <p:nvSpPr>
          <p:cNvPr id="49" name="Rectangle: Rounded Corners 48">
            <a:extLst>
              <a:ext uri="{FF2B5EF4-FFF2-40B4-BE49-F238E27FC236}">
                <a16:creationId xmlns:a16="http://schemas.microsoft.com/office/drawing/2014/main" id="{E202879B-BD55-8F6F-F223-C35BAC7F998F}"/>
              </a:ext>
            </a:extLst>
          </p:cNvPr>
          <p:cNvSpPr/>
          <p:nvPr/>
        </p:nvSpPr>
        <p:spPr>
          <a:xfrm>
            <a:off x="2079248" y="3622633"/>
            <a:ext cx="1626400" cy="395275"/>
          </a:xfrm>
          <a:prstGeom prst="roundRect">
            <a:avLst/>
          </a:prstGeom>
          <a:solidFill>
            <a:schemeClr val="accent1"/>
          </a:solidFill>
          <a:ln w="3810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2. Symptoms</a:t>
            </a:r>
          </a:p>
        </p:txBody>
      </p:sp>
      <p:sp>
        <p:nvSpPr>
          <p:cNvPr id="53" name="Rectangle: Rounded Corners 52">
            <a:extLst>
              <a:ext uri="{FF2B5EF4-FFF2-40B4-BE49-F238E27FC236}">
                <a16:creationId xmlns:a16="http://schemas.microsoft.com/office/drawing/2014/main" id="{D78C455A-8CCB-10A3-2F53-4DABE62803D6}"/>
              </a:ext>
            </a:extLst>
          </p:cNvPr>
          <p:cNvSpPr/>
          <p:nvPr/>
        </p:nvSpPr>
        <p:spPr>
          <a:xfrm>
            <a:off x="2070437" y="1771518"/>
            <a:ext cx="1626400" cy="395275"/>
          </a:xfrm>
          <a:prstGeom prst="roundRect">
            <a:avLst/>
          </a:prstGeom>
          <a:solidFill>
            <a:schemeClr val="accent4"/>
          </a:solidFill>
          <a:ln w="38100">
            <a:solidFill>
              <a:schemeClr val="accent4"/>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 Risk Factors</a:t>
            </a:r>
          </a:p>
        </p:txBody>
      </p:sp>
      <p:sp>
        <p:nvSpPr>
          <p:cNvPr id="22" name="Diagnosis">
            <a:extLst>
              <a:ext uri="{FF2B5EF4-FFF2-40B4-BE49-F238E27FC236}">
                <a16:creationId xmlns:a16="http://schemas.microsoft.com/office/drawing/2014/main" id="{49CC9962-BFA7-48AA-95CE-B77E0B92E98B}"/>
              </a:ext>
            </a:extLst>
          </p:cNvPr>
          <p:cNvSpPr/>
          <p:nvPr/>
        </p:nvSpPr>
        <p:spPr>
          <a:xfrm>
            <a:off x="2975520" y="747792"/>
            <a:ext cx="2282668" cy="395275"/>
          </a:xfrm>
          <a:prstGeom prst="roundRect">
            <a:avLst/>
          </a:prstGeom>
          <a:solidFill>
            <a:schemeClr val="tx1"/>
          </a:solidFill>
          <a:ln w="3810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Criteria for diagnosis?</a:t>
            </a:r>
          </a:p>
        </p:txBody>
      </p:sp>
      <p:sp>
        <p:nvSpPr>
          <p:cNvPr id="57" name="Spirometry button">
            <a:extLst>
              <a:ext uri="{FF2B5EF4-FFF2-40B4-BE49-F238E27FC236}">
                <a16:creationId xmlns:a16="http://schemas.microsoft.com/office/drawing/2014/main" id="{ECCC3467-591C-497C-ACE9-E09A5EDECFCB}"/>
              </a:ext>
            </a:extLst>
          </p:cNvPr>
          <p:cNvSpPr/>
          <p:nvPr/>
        </p:nvSpPr>
        <p:spPr>
          <a:xfrm>
            <a:off x="2068137" y="5075046"/>
            <a:ext cx="1626400" cy="395275"/>
          </a:xfrm>
          <a:prstGeom prst="roundRect">
            <a:avLst/>
          </a:prstGeom>
          <a:solidFill>
            <a:schemeClr val="bg1"/>
          </a:solidFill>
          <a:ln w="38100">
            <a:solidFill>
              <a:schemeClr val="accent6"/>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 Spirometry</a:t>
            </a:r>
          </a:p>
        </p:txBody>
      </p:sp>
      <p:sp>
        <p:nvSpPr>
          <p:cNvPr id="63" name="Sx">
            <a:extLst>
              <a:ext uri="{FF2B5EF4-FFF2-40B4-BE49-F238E27FC236}">
                <a16:creationId xmlns:a16="http://schemas.microsoft.com/office/drawing/2014/main" id="{C70E892D-4F91-411F-9821-55E41ADBE183}"/>
              </a:ext>
            </a:extLst>
          </p:cNvPr>
          <p:cNvSpPr/>
          <p:nvPr/>
        </p:nvSpPr>
        <p:spPr>
          <a:xfrm>
            <a:off x="2076948" y="3622633"/>
            <a:ext cx="1626400" cy="395275"/>
          </a:xfrm>
          <a:prstGeom prst="roundRect">
            <a:avLst/>
          </a:prstGeom>
          <a:solidFill>
            <a:schemeClr val="bg1"/>
          </a:solidFill>
          <a:ln w="38100">
            <a:solidFill>
              <a:schemeClr val="accent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 Symptoms</a:t>
            </a:r>
          </a:p>
        </p:txBody>
      </p:sp>
      <p:sp>
        <p:nvSpPr>
          <p:cNvPr id="34" name="RF">
            <a:extLst>
              <a:ext uri="{FF2B5EF4-FFF2-40B4-BE49-F238E27FC236}">
                <a16:creationId xmlns:a16="http://schemas.microsoft.com/office/drawing/2014/main" id="{EA4324CC-BB4B-4A1F-8DFF-F43612EAD0D6}"/>
              </a:ext>
            </a:extLst>
          </p:cNvPr>
          <p:cNvSpPr/>
          <p:nvPr/>
        </p:nvSpPr>
        <p:spPr>
          <a:xfrm>
            <a:off x="2068137" y="1771518"/>
            <a:ext cx="1626400" cy="395275"/>
          </a:xfrm>
          <a:prstGeom prst="roundRect">
            <a:avLst/>
          </a:prstGeom>
          <a:solidFill>
            <a:schemeClr val="bg1"/>
          </a:solidFill>
          <a:ln w="38100">
            <a:solidFill>
              <a:schemeClr val="accent4"/>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 Risk Factors</a:t>
            </a:r>
          </a:p>
        </p:txBody>
      </p:sp>
      <p:sp>
        <p:nvSpPr>
          <p:cNvPr id="33" name="Criteria for Dx">
            <a:extLst>
              <a:ext uri="{FF2B5EF4-FFF2-40B4-BE49-F238E27FC236}">
                <a16:creationId xmlns:a16="http://schemas.microsoft.com/office/drawing/2014/main" id="{12506C40-8B86-4E71-A8BA-3CD58D35289A}"/>
              </a:ext>
            </a:extLst>
          </p:cNvPr>
          <p:cNvSpPr/>
          <p:nvPr/>
        </p:nvSpPr>
        <p:spPr>
          <a:xfrm>
            <a:off x="2975520" y="747792"/>
            <a:ext cx="2282668" cy="395275"/>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Criteria for diagnosis?</a:t>
            </a:r>
          </a:p>
        </p:txBody>
      </p:sp>
      <p:pic>
        <p:nvPicPr>
          <p:cNvPr id="36" name="Graphic 35" descr="Cursor with solid fill">
            <a:extLst>
              <a:ext uri="{FF2B5EF4-FFF2-40B4-BE49-F238E27FC236}">
                <a16:creationId xmlns:a16="http://schemas.microsoft.com/office/drawing/2014/main" id="{827D9966-C053-4D08-8984-8BA5644AAE2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127743" y="1008331"/>
            <a:ext cx="274320" cy="274320"/>
          </a:xfrm>
          <a:prstGeom prst="rect">
            <a:avLst/>
          </a:prstGeom>
        </p:spPr>
      </p:pic>
      <p:sp>
        <p:nvSpPr>
          <p:cNvPr id="2" name="question 1">
            <a:hlinkClick r:id="rId5" action="ppaction://hlinksldjump"/>
            <a:extLst>
              <a:ext uri="{FF2B5EF4-FFF2-40B4-BE49-F238E27FC236}">
                <a16:creationId xmlns:a16="http://schemas.microsoft.com/office/drawing/2014/main" id="{986CF832-5A14-ED2F-06DD-292494F28B75}"/>
              </a:ext>
            </a:extLst>
          </p:cNvPr>
          <p:cNvSpPr txBox="1"/>
          <p:nvPr/>
        </p:nvSpPr>
        <p:spPr>
          <a:xfrm>
            <a:off x="181642" y="159488"/>
            <a:ext cx="1645920" cy="408623"/>
          </a:xfrm>
          <a:prstGeom prst="roundRect">
            <a:avLst/>
          </a:prstGeom>
          <a:solidFill>
            <a:schemeClr val="tx1"/>
          </a:solidFill>
          <a:ln w="38100"/>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chemeClr val="bg1"/>
                </a:solidFill>
              </a:rPr>
              <a:t>Diagnosis</a:t>
            </a:r>
          </a:p>
        </p:txBody>
      </p:sp>
      <p:sp>
        <p:nvSpPr>
          <p:cNvPr id="9" name="Question 2">
            <a:hlinkClick r:id="rId6" action="ppaction://hlinksldjump"/>
            <a:extLst>
              <a:ext uri="{FF2B5EF4-FFF2-40B4-BE49-F238E27FC236}">
                <a16:creationId xmlns:a16="http://schemas.microsoft.com/office/drawing/2014/main" id="{D361819B-38BD-537D-1C2B-DBEABA01F509}"/>
              </a:ext>
            </a:extLst>
          </p:cNvPr>
          <p:cNvSpPr txBox="1"/>
          <p:nvPr/>
        </p:nvSpPr>
        <p:spPr>
          <a:xfrm>
            <a:off x="181642" y="731519"/>
            <a:ext cx="1645920"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Classification</a:t>
            </a:r>
          </a:p>
        </p:txBody>
      </p:sp>
      <p:sp>
        <p:nvSpPr>
          <p:cNvPr id="20" name="TextBox 19">
            <a:extLst>
              <a:ext uri="{FF2B5EF4-FFF2-40B4-BE49-F238E27FC236}">
                <a16:creationId xmlns:a16="http://schemas.microsoft.com/office/drawing/2014/main" id="{2EC9A6BB-2EF0-559E-C268-D843361C643A}"/>
              </a:ext>
            </a:extLst>
          </p:cNvPr>
          <p:cNvSpPr txBox="1"/>
          <p:nvPr/>
        </p:nvSpPr>
        <p:spPr>
          <a:xfrm>
            <a:off x="3199611" y="110643"/>
            <a:ext cx="6710159" cy="461665"/>
          </a:xfrm>
          <a:prstGeom prst="rect">
            <a:avLst/>
          </a:prstGeom>
          <a:noFill/>
        </p:spPr>
        <p:txBody>
          <a:bodyPr wrap="square" rtlCol="0">
            <a:spAutoFit/>
          </a:bodyPr>
          <a:lstStyle/>
          <a:p>
            <a:pPr algn="ctr"/>
            <a:r>
              <a:rPr lang="en-US" sz="2400" b="1" dirty="0"/>
              <a:t>Diagnosis</a:t>
            </a:r>
          </a:p>
        </p:txBody>
      </p:sp>
      <p:sp>
        <p:nvSpPr>
          <p:cNvPr id="23" name="Diagnosis">
            <a:extLst>
              <a:ext uri="{FF2B5EF4-FFF2-40B4-BE49-F238E27FC236}">
                <a16:creationId xmlns:a16="http://schemas.microsoft.com/office/drawing/2014/main" id="{09C89B17-672D-21C4-BC89-335C12FE5FCE}"/>
              </a:ext>
            </a:extLst>
          </p:cNvPr>
          <p:cNvSpPr/>
          <p:nvPr/>
        </p:nvSpPr>
        <p:spPr>
          <a:xfrm>
            <a:off x="9186054" y="747792"/>
            <a:ext cx="2003296" cy="395275"/>
          </a:xfrm>
          <a:prstGeom prst="roundRect">
            <a:avLst/>
          </a:prstGeom>
          <a:solidFill>
            <a:schemeClr val="tx1"/>
          </a:solidFill>
          <a:ln w="3810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Initial evaluation</a:t>
            </a:r>
          </a:p>
        </p:txBody>
      </p:sp>
      <p:sp>
        <p:nvSpPr>
          <p:cNvPr id="24" name="Initial Eval">
            <a:extLst>
              <a:ext uri="{FF2B5EF4-FFF2-40B4-BE49-F238E27FC236}">
                <a16:creationId xmlns:a16="http://schemas.microsoft.com/office/drawing/2014/main" id="{D9D44DE1-F3FB-4F78-BABF-FD2C82EFCA1F}"/>
              </a:ext>
            </a:extLst>
          </p:cNvPr>
          <p:cNvSpPr/>
          <p:nvPr/>
        </p:nvSpPr>
        <p:spPr>
          <a:xfrm>
            <a:off x="9186055" y="747792"/>
            <a:ext cx="2003295" cy="395275"/>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Initial evaluation</a:t>
            </a:r>
          </a:p>
        </p:txBody>
      </p:sp>
      <p:pic>
        <p:nvPicPr>
          <p:cNvPr id="25" name="Graphic 24" descr="Cursor with solid fill">
            <a:extLst>
              <a:ext uri="{FF2B5EF4-FFF2-40B4-BE49-F238E27FC236}">
                <a16:creationId xmlns:a16="http://schemas.microsoft.com/office/drawing/2014/main" id="{C197A442-DBD4-374B-4FF2-C1AD99097CC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048634" y="1008331"/>
            <a:ext cx="274320" cy="274320"/>
          </a:xfrm>
          <a:prstGeom prst="rect">
            <a:avLst/>
          </a:prstGeom>
        </p:spPr>
      </p:pic>
      <p:pic>
        <p:nvPicPr>
          <p:cNvPr id="28" name="Graphic 27" descr="Cursor with solid fill">
            <a:extLst>
              <a:ext uri="{FF2B5EF4-FFF2-40B4-BE49-F238E27FC236}">
                <a16:creationId xmlns:a16="http://schemas.microsoft.com/office/drawing/2014/main" id="{E653063E-F8BD-1792-DB60-3F916B497BD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558802" y="2036901"/>
            <a:ext cx="274320" cy="274320"/>
          </a:xfrm>
          <a:prstGeom prst="rect">
            <a:avLst/>
          </a:prstGeom>
        </p:spPr>
      </p:pic>
      <p:pic>
        <p:nvPicPr>
          <p:cNvPr id="29" name="Graphic 28" descr="Cursor with solid fill">
            <a:extLst>
              <a:ext uri="{FF2B5EF4-FFF2-40B4-BE49-F238E27FC236}">
                <a16:creationId xmlns:a16="http://schemas.microsoft.com/office/drawing/2014/main" id="{B541ED04-96AB-E588-56B5-81E60281182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567613" y="3877962"/>
            <a:ext cx="274320" cy="274320"/>
          </a:xfrm>
          <a:prstGeom prst="rect">
            <a:avLst/>
          </a:prstGeom>
        </p:spPr>
      </p:pic>
      <p:pic>
        <p:nvPicPr>
          <p:cNvPr id="30" name="Graphic 29" descr="Cursor with solid fill">
            <a:extLst>
              <a:ext uri="{FF2B5EF4-FFF2-40B4-BE49-F238E27FC236}">
                <a16:creationId xmlns:a16="http://schemas.microsoft.com/office/drawing/2014/main" id="{9DD929B8-C906-9179-0EBC-DA37E1EC587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569435" y="5336823"/>
            <a:ext cx="274320" cy="274320"/>
          </a:xfrm>
          <a:prstGeom prst="rect">
            <a:avLst/>
          </a:prstGeom>
        </p:spPr>
      </p:pic>
      <p:sp>
        <p:nvSpPr>
          <p:cNvPr id="42" name="TextBox 41">
            <a:extLst>
              <a:ext uri="{FF2B5EF4-FFF2-40B4-BE49-F238E27FC236}">
                <a16:creationId xmlns:a16="http://schemas.microsoft.com/office/drawing/2014/main" id="{C97D22BD-A164-2DE9-A52F-56BFC9DC0142}"/>
              </a:ext>
            </a:extLst>
          </p:cNvPr>
          <p:cNvSpPr txBox="1"/>
          <p:nvPr/>
        </p:nvSpPr>
        <p:spPr>
          <a:xfrm>
            <a:off x="3849045" y="3208422"/>
            <a:ext cx="2073595" cy="1200329"/>
          </a:xfrm>
          <a:prstGeom prst="rect">
            <a:avLst/>
          </a:prstGeom>
          <a:noFill/>
        </p:spPr>
        <p:txBody>
          <a:bodyPr wrap="square" rtlCol="0">
            <a:spAutoFit/>
          </a:bodyPr>
          <a:lstStyle/>
          <a:p>
            <a:r>
              <a:rPr lang="en-US" dirty="0"/>
              <a:t>Dyspnea</a:t>
            </a:r>
          </a:p>
          <a:p>
            <a:r>
              <a:rPr lang="en-US" dirty="0"/>
              <a:t>Chronic cough</a:t>
            </a:r>
          </a:p>
          <a:p>
            <a:r>
              <a:rPr lang="en-US" dirty="0"/>
              <a:t>Sputum production</a:t>
            </a:r>
          </a:p>
          <a:p>
            <a:r>
              <a:rPr lang="en-US" dirty="0"/>
              <a:t>Recurrent LRTI</a:t>
            </a:r>
          </a:p>
        </p:txBody>
      </p:sp>
      <p:sp>
        <p:nvSpPr>
          <p:cNvPr id="43" name="TextBox 42">
            <a:extLst>
              <a:ext uri="{FF2B5EF4-FFF2-40B4-BE49-F238E27FC236}">
                <a16:creationId xmlns:a16="http://schemas.microsoft.com/office/drawing/2014/main" id="{9601DDD4-3A5E-527D-7EAA-1CC67679C515}"/>
              </a:ext>
            </a:extLst>
          </p:cNvPr>
          <p:cNvSpPr txBox="1"/>
          <p:nvPr/>
        </p:nvSpPr>
        <p:spPr>
          <a:xfrm>
            <a:off x="3877014" y="1333113"/>
            <a:ext cx="2480406" cy="1754326"/>
          </a:xfrm>
          <a:prstGeom prst="rect">
            <a:avLst/>
          </a:prstGeom>
          <a:noFill/>
        </p:spPr>
        <p:txBody>
          <a:bodyPr wrap="square" rtlCol="0">
            <a:spAutoFit/>
          </a:bodyPr>
          <a:lstStyle/>
          <a:p>
            <a:pPr marL="117475" indent="-117475"/>
            <a:r>
              <a:rPr lang="en-US" dirty="0"/>
              <a:t>Tobacco smoke</a:t>
            </a:r>
          </a:p>
          <a:p>
            <a:pPr marL="117475" indent="-117475"/>
            <a:r>
              <a:rPr lang="en-US" dirty="0"/>
              <a:t>Other smoke, vapor, or dust exposure</a:t>
            </a:r>
          </a:p>
          <a:p>
            <a:pPr marL="117475" indent="-117475"/>
            <a:r>
              <a:rPr lang="en-US" dirty="0"/>
              <a:t>Host factors (genetics, prematurity, frequent respiratory infections)</a:t>
            </a:r>
          </a:p>
        </p:txBody>
      </p:sp>
      <p:sp>
        <p:nvSpPr>
          <p:cNvPr id="44" name="TextBox 43">
            <a:extLst>
              <a:ext uri="{FF2B5EF4-FFF2-40B4-BE49-F238E27FC236}">
                <a16:creationId xmlns:a16="http://schemas.microsoft.com/office/drawing/2014/main" id="{4760A066-1044-7191-1532-07FC62343986}"/>
              </a:ext>
            </a:extLst>
          </p:cNvPr>
          <p:cNvSpPr txBox="1"/>
          <p:nvPr/>
        </p:nvSpPr>
        <p:spPr>
          <a:xfrm>
            <a:off x="3849045" y="4818845"/>
            <a:ext cx="2692024" cy="923330"/>
          </a:xfrm>
          <a:prstGeom prst="rect">
            <a:avLst/>
          </a:prstGeom>
          <a:noFill/>
        </p:spPr>
        <p:txBody>
          <a:bodyPr wrap="square" rtlCol="0">
            <a:spAutoFit/>
          </a:bodyPr>
          <a:lstStyle/>
          <a:p>
            <a:pPr marL="112713" indent="-112713"/>
            <a:r>
              <a:rPr lang="en-US" dirty="0"/>
              <a:t>Post- bronchodilator FEV1/FVC ratio &lt;0.7 is mandatory for diagnosis!</a:t>
            </a:r>
          </a:p>
        </p:txBody>
      </p:sp>
      <p:graphicFrame>
        <p:nvGraphicFramePr>
          <p:cNvPr id="65" name="Table 20">
            <a:extLst>
              <a:ext uri="{FF2B5EF4-FFF2-40B4-BE49-F238E27FC236}">
                <a16:creationId xmlns:a16="http://schemas.microsoft.com/office/drawing/2014/main" id="{830D2E4D-D4D0-35D9-AFEE-19CC83BD5DD5}"/>
              </a:ext>
            </a:extLst>
          </p:cNvPr>
          <p:cNvGraphicFramePr>
            <a:graphicFrameLocks noGrp="1"/>
          </p:cNvGraphicFramePr>
          <p:nvPr>
            <p:extLst>
              <p:ext uri="{D42A27DB-BD31-4B8C-83A1-F6EECF244321}">
                <p14:modId xmlns:p14="http://schemas.microsoft.com/office/powerpoint/2010/main" val="1838934678"/>
              </p:ext>
            </p:extLst>
          </p:nvPr>
        </p:nvGraphicFramePr>
        <p:xfrm>
          <a:off x="8554918" y="4545396"/>
          <a:ext cx="3365597" cy="2062480"/>
        </p:xfrm>
        <a:graphic>
          <a:graphicData uri="http://schemas.openxmlformats.org/drawingml/2006/table">
            <a:tbl>
              <a:tblPr firstRow="1" bandRow="1">
                <a:tableStyleId>{16D9F66E-5EB9-4882-86FB-DCBF35E3C3E4}</a:tableStyleId>
              </a:tblPr>
              <a:tblGrid>
                <a:gridCol w="1152614">
                  <a:extLst>
                    <a:ext uri="{9D8B030D-6E8A-4147-A177-3AD203B41FA5}">
                      <a16:colId xmlns:a16="http://schemas.microsoft.com/office/drawing/2014/main" val="2534268284"/>
                    </a:ext>
                  </a:extLst>
                </a:gridCol>
                <a:gridCol w="783771">
                  <a:extLst>
                    <a:ext uri="{9D8B030D-6E8A-4147-A177-3AD203B41FA5}">
                      <a16:colId xmlns:a16="http://schemas.microsoft.com/office/drawing/2014/main" val="3253323020"/>
                    </a:ext>
                  </a:extLst>
                </a:gridCol>
                <a:gridCol w="688873">
                  <a:extLst>
                    <a:ext uri="{9D8B030D-6E8A-4147-A177-3AD203B41FA5}">
                      <a16:colId xmlns:a16="http://schemas.microsoft.com/office/drawing/2014/main" val="1551176060"/>
                    </a:ext>
                  </a:extLst>
                </a:gridCol>
                <a:gridCol w="740339">
                  <a:extLst>
                    <a:ext uri="{9D8B030D-6E8A-4147-A177-3AD203B41FA5}">
                      <a16:colId xmlns:a16="http://schemas.microsoft.com/office/drawing/2014/main" val="2647057451"/>
                    </a:ext>
                  </a:extLst>
                </a:gridCol>
              </a:tblGrid>
              <a:tr h="0">
                <a:tc>
                  <a:txBody>
                    <a:bodyPr/>
                    <a:lstStyle/>
                    <a:p>
                      <a:pPr algn="ctr"/>
                      <a:endParaRPr lang="en-US" sz="1600" b="1" dirty="0"/>
                    </a:p>
                  </a:txBody>
                  <a:tcPr anchor="ctr"/>
                </a:tc>
                <a:tc>
                  <a:txBody>
                    <a:bodyPr/>
                    <a:lstStyle/>
                    <a:p>
                      <a:pPr algn="ctr"/>
                      <a:r>
                        <a:rPr lang="en-US" sz="1600" dirty="0"/>
                        <a:t>% Ref (pre)</a:t>
                      </a:r>
                    </a:p>
                  </a:txBody>
                  <a:tcPr anchor="ctr"/>
                </a:tc>
                <a:tc>
                  <a:txBody>
                    <a:bodyPr/>
                    <a:lstStyle/>
                    <a:p>
                      <a:pPr algn="ctr"/>
                      <a:r>
                        <a:rPr lang="en-US" sz="1600" dirty="0"/>
                        <a:t>Post  </a:t>
                      </a:r>
                      <a:r>
                        <a:rPr lang="en-US" sz="1600" dirty="0" err="1"/>
                        <a:t>Meas</a:t>
                      </a:r>
                      <a:endParaRPr lang="en-US" sz="16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t>% </a:t>
                      </a:r>
                      <a:r>
                        <a:rPr lang="en-US" sz="1600" dirty="0" err="1"/>
                        <a:t>Chg</a:t>
                      </a:r>
                      <a:r>
                        <a:rPr lang="en-US" sz="1600" dirty="0"/>
                        <a:t> (post)</a:t>
                      </a:r>
                    </a:p>
                  </a:txBody>
                  <a:tcPr anchor="ctr"/>
                </a:tc>
                <a:extLst>
                  <a:ext uri="{0D108BD9-81ED-4DB2-BD59-A6C34878D82A}">
                    <a16:rowId xmlns:a16="http://schemas.microsoft.com/office/drawing/2014/main" val="2419517949"/>
                  </a:ext>
                </a:extLst>
              </a:tr>
              <a:tr h="370840">
                <a:tc>
                  <a:txBody>
                    <a:bodyPr/>
                    <a:lstStyle/>
                    <a:p>
                      <a:pPr algn="ctr"/>
                      <a:r>
                        <a:rPr lang="en-US" sz="1600" b="1" dirty="0"/>
                        <a:t>FEV1</a:t>
                      </a:r>
                    </a:p>
                  </a:txBody>
                  <a:tcPr anchor="ctr"/>
                </a:tc>
                <a:tc>
                  <a:txBody>
                    <a:bodyPr/>
                    <a:lstStyle/>
                    <a:p>
                      <a:pPr algn="ctr"/>
                      <a:r>
                        <a:rPr lang="en-US" sz="1600" dirty="0"/>
                        <a:t>30</a:t>
                      </a:r>
                    </a:p>
                  </a:txBody>
                  <a:tcPr anchor="ctr"/>
                </a:tc>
                <a:tc>
                  <a:txBody>
                    <a:bodyPr/>
                    <a:lstStyle/>
                    <a:p>
                      <a:pPr algn="ctr"/>
                      <a:endParaRPr lang="en-US" sz="1600" dirty="0"/>
                    </a:p>
                  </a:txBody>
                  <a:tcPr anchor="ctr"/>
                </a:tc>
                <a:tc>
                  <a:txBody>
                    <a:bodyPr/>
                    <a:lstStyle/>
                    <a:p>
                      <a:pPr algn="ctr"/>
                      <a:r>
                        <a:rPr lang="en-US" sz="1600" dirty="0"/>
                        <a:t>7</a:t>
                      </a:r>
                    </a:p>
                  </a:txBody>
                  <a:tcPr anchor="ctr"/>
                </a:tc>
                <a:extLst>
                  <a:ext uri="{0D108BD9-81ED-4DB2-BD59-A6C34878D82A}">
                    <a16:rowId xmlns:a16="http://schemas.microsoft.com/office/drawing/2014/main" val="1834738446"/>
                  </a:ext>
                </a:extLst>
              </a:tr>
              <a:tr h="370840">
                <a:tc>
                  <a:txBody>
                    <a:bodyPr/>
                    <a:lstStyle/>
                    <a:p>
                      <a:pPr algn="ctr"/>
                      <a:r>
                        <a:rPr lang="en-US" sz="1600" b="1" dirty="0"/>
                        <a:t>FVC</a:t>
                      </a:r>
                    </a:p>
                  </a:txBody>
                  <a:tcPr anchor="ctr"/>
                </a:tc>
                <a:tc>
                  <a:txBody>
                    <a:bodyPr/>
                    <a:lstStyle/>
                    <a:p>
                      <a:pPr algn="ctr"/>
                      <a:r>
                        <a:rPr lang="en-US" sz="1600" dirty="0"/>
                        <a:t>75</a:t>
                      </a:r>
                    </a:p>
                  </a:txBody>
                  <a:tcPr anchor="ctr"/>
                </a:tc>
                <a:tc>
                  <a:txBody>
                    <a:bodyPr/>
                    <a:lstStyle/>
                    <a:p>
                      <a:pPr algn="ctr"/>
                      <a:endParaRPr lang="en-US" sz="1600" dirty="0"/>
                    </a:p>
                  </a:txBody>
                  <a:tcPr anchor="ctr"/>
                </a:tc>
                <a:tc>
                  <a:txBody>
                    <a:bodyPr/>
                    <a:lstStyle/>
                    <a:p>
                      <a:pPr algn="ctr"/>
                      <a:r>
                        <a:rPr lang="en-US" sz="1600" dirty="0"/>
                        <a:t>8</a:t>
                      </a:r>
                    </a:p>
                  </a:txBody>
                  <a:tcPr anchor="ctr"/>
                </a:tc>
                <a:extLst>
                  <a:ext uri="{0D108BD9-81ED-4DB2-BD59-A6C34878D82A}">
                    <a16:rowId xmlns:a16="http://schemas.microsoft.com/office/drawing/2014/main" val="4215289303"/>
                  </a:ext>
                </a:extLst>
              </a:tr>
              <a:tr h="370840">
                <a:tc>
                  <a:txBody>
                    <a:bodyPr/>
                    <a:lstStyle/>
                    <a:p>
                      <a:pPr algn="ctr"/>
                      <a:r>
                        <a:rPr lang="en-US" sz="1600" b="1" dirty="0"/>
                        <a:t>FEV1/ FVC</a:t>
                      </a:r>
                    </a:p>
                  </a:txBody>
                  <a:tcPr anchor="ctr"/>
                </a:tc>
                <a:tc>
                  <a:txBody>
                    <a:bodyPr/>
                    <a:lstStyle/>
                    <a:p>
                      <a:pPr algn="ctr"/>
                      <a:endParaRPr lang="en-US" sz="1600" dirty="0"/>
                    </a:p>
                  </a:txBody>
                  <a:tcPr anchor="ctr"/>
                </a:tc>
                <a:tc>
                  <a:txBody>
                    <a:bodyPr/>
                    <a:lstStyle/>
                    <a:p>
                      <a:pPr algn="ctr"/>
                      <a:r>
                        <a:rPr lang="en-US" sz="1600" dirty="0"/>
                        <a:t>0.47</a:t>
                      </a:r>
                    </a:p>
                  </a:txBody>
                  <a:tcPr anchor="ctr"/>
                </a:tc>
                <a:tc>
                  <a:txBody>
                    <a:bodyPr/>
                    <a:lstStyle/>
                    <a:p>
                      <a:pPr algn="ctr"/>
                      <a:endParaRPr lang="en-US" sz="1600" dirty="0"/>
                    </a:p>
                  </a:txBody>
                  <a:tcPr anchor="ctr"/>
                </a:tc>
                <a:extLst>
                  <a:ext uri="{0D108BD9-81ED-4DB2-BD59-A6C34878D82A}">
                    <a16:rowId xmlns:a16="http://schemas.microsoft.com/office/drawing/2014/main" val="3881204515"/>
                  </a:ext>
                </a:extLst>
              </a:tr>
              <a:tr h="370840">
                <a:tc gridSpan="4">
                  <a:txBody>
                    <a:bodyPr/>
                    <a:lstStyle/>
                    <a:p>
                      <a:pPr algn="ctr"/>
                      <a:endParaRPr lang="en-US" sz="1600" b="0" dirty="0"/>
                    </a:p>
                  </a:txBody>
                  <a:tcPr anchor="ctr"/>
                </a:tc>
                <a:tc hMerge="1">
                  <a:txBody>
                    <a:bodyPr/>
                    <a:lstStyle/>
                    <a:p>
                      <a:pPr algn="ctr"/>
                      <a:endParaRPr lang="en-US" sz="1600" dirty="0"/>
                    </a:p>
                  </a:txBody>
                  <a:tcPr anchor="ctr"/>
                </a:tc>
                <a:tc hMerge="1">
                  <a:txBody>
                    <a:bodyPr/>
                    <a:lstStyle/>
                    <a:p>
                      <a:pPr algn="ctr"/>
                      <a:endParaRPr lang="en-US" sz="1600" dirty="0"/>
                    </a:p>
                  </a:txBody>
                  <a:tcPr anchor="ctr"/>
                </a:tc>
                <a:tc hMerge="1">
                  <a:txBody>
                    <a:bodyPr/>
                    <a:lstStyle/>
                    <a:p>
                      <a:pPr algn="ctr"/>
                      <a:endParaRPr lang="en-US" sz="1600" dirty="0"/>
                    </a:p>
                  </a:txBody>
                  <a:tcPr anchor="ctr"/>
                </a:tc>
                <a:extLst>
                  <a:ext uri="{0D108BD9-81ED-4DB2-BD59-A6C34878D82A}">
                    <a16:rowId xmlns:a16="http://schemas.microsoft.com/office/drawing/2014/main" val="3877090152"/>
                  </a:ext>
                </a:extLst>
              </a:tr>
            </a:tbl>
          </a:graphicData>
        </a:graphic>
      </p:graphicFrame>
      <p:sp>
        <p:nvSpPr>
          <p:cNvPr id="6" name="TextBox 5">
            <a:extLst>
              <a:ext uri="{FF2B5EF4-FFF2-40B4-BE49-F238E27FC236}">
                <a16:creationId xmlns:a16="http://schemas.microsoft.com/office/drawing/2014/main" id="{2F98825B-F99F-2583-A3AF-6B54697A0B8B}"/>
              </a:ext>
            </a:extLst>
          </p:cNvPr>
          <p:cNvSpPr txBox="1"/>
          <p:nvPr/>
        </p:nvSpPr>
        <p:spPr>
          <a:xfrm>
            <a:off x="8554918" y="1579083"/>
            <a:ext cx="3227583" cy="923330"/>
          </a:xfrm>
          <a:prstGeom prst="rect">
            <a:avLst/>
          </a:prstGeom>
          <a:noFill/>
        </p:spPr>
        <p:txBody>
          <a:bodyPr wrap="square" rtlCol="0">
            <a:spAutoFit/>
          </a:bodyPr>
          <a:lstStyle/>
          <a:p>
            <a:pPr marL="117475" indent="-117475" algn="ctr"/>
            <a:r>
              <a:rPr lang="en-US" dirty="0"/>
              <a:t>Tobacco use history</a:t>
            </a:r>
          </a:p>
          <a:p>
            <a:pPr marL="117475" indent="-117475" algn="ctr"/>
            <a:r>
              <a:rPr lang="en-US" dirty="0"/>
              <a:t>Exposure history</a:t>
            </a:r>
          </a:p>
          <a:p>
            <a:pPr marL="117475" indent="-117475" algn="ctr"/>
            <a:r>
              <a:rPr lang="en-US" dirty="0"/>
              <a:t>Consider </a:t>
            </a:r>
            <a:r>
              <a:rPr lang="el-GR" dirty="0"/>
              <a:t>α</a:t>
            </a:r>
            <a:r>
              <a:rPr lang="en-US" dirty="0"/>
              <a:t>-1 antitrypsin</a:t>
            </a:r>
          </a:p>
        </p:txBody>
      </p:sp>
      <p:sp>
        <p:nvSpPr>
          <p:cNvPr id="13" name="Rectangle 12">
            <a:extLst>
              <a:ext uri="{FF2B5EF4-FFF2-40B4-BE49-F238E27FC236}">
                <a16:creationId xmlns:a16="http://schemas.microsoft.com/office/drawing/2014/main" id="{173FF8CC-3BC2-19AD-DBC8-1FE591F2611D}"/>
              </a:ext>
            </a:extLst>
          </p:cNvPr>
          <p:cNvSpPr/>
          <p:nvPr/>
        </p:nvSpPr>
        <p:spPr>
          <a:xfrm>
            <a:off x="10506594" y="5876539"/>
            <a:ext cx="663763" cy="341323"/>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1" name="Group 30">
            <a:extLst>
              <a:ext uri="{FF2B5EF4-FFF2-40B4-BE49-F238E27FC236}">
                <a16:creationId xmlns:a16="http://schemas.microsoft.com/office/drawing/2014/main" id="{1593EAEA-E756-52CB-7ECD-680F208A78FC}"/>
              </a:ext>
            </a:extLst>
          </p:cNvPr>
          <p:cNvGrpSpPr/>
          <p:nvPr/>
        </p:nvGrpSpPr>
        <p:grpSpPr>
          <a:xfrm>
            <a:off x="6528394" y="4641832"/>
            <a:ext cx="1938789" cy="1773422"/>
            <a:chOff x="6507443" y="4600988"/>
            <a:chExt cx="1938789" cy="1773422"/>
          </a:xfrm>
        </p:grpSpPr>
        <p:grpSp>
          <p:nvGrpSpPr>
            <p:cNvPr id="64" name="Group 63">
              <a:extLst>
                <a:ext uri="{FF2B5EF4-FFF2-40B4-BE49-F238E27FC236}">
                  <a16:creationId xmlns:a16="http://schemas.microsoft.com/office/drawing/2014/main" id="{7A5DF402-28E5-1194-8F69-2C2C74DA7DA7}"/>
                </a:ext>
              </a:extLst>
            </p:cNvPr>
            <p:cNvGrpSpPr/>
            <p:nvPr/>
          </p:nvGrpSpPr>
          <p:grpSpPr>
            <a:xfrm>
              <a:off x="6507443" y="4600988"/>
              <a:ext cx="1899122" cy="1773422"/>
              <a:chOff x="7016783" y="4398081"/>
              <a:chExt cx="2029808" cy="1773422"/>
            </a:xfrm>
          </p:grpSpPr>
          <p:grpSp>
            <p:nvGrpSpPr>
              <p:cNvPr id="61" name="Group 60">
                <a:extLst>
                  <a:ext uri="{FF2B5EF4-FFF2-40B4-BE49-F238E27FC236}">
                    <a16:creationId xmlns:a16="http://schemas.microsoft.com/office/drawing/2014/main" id="{D7DD1351-41FE-8145-1AB6-4EC1FE871FCA}"/>
                  </a:ext>
                </a:extLst>
              </p:cNvPr>
              <p:cNvGrpSpPr/>
              <p:nvPr/>
            </p:nvGrpSpPr>
            <p:grpSpPr>
              <a:xfrm>
                <a:off x="7016783" y="4398081"/>
                <a:ext cx="2029808" cy="1773422"/>
                <a:chOff x="7016783" y="4398081"/>
                <a:chExt cx="2029808" cy="1773422"/>
              </a:xfrm>
            </p:grpSpPr>
            <p:grpSp>
              <p:nvGrpSpPr>
                <p:cNvPr id="56" name="Group 55">
                  <a:extLst>
                    <a:ext uri="{FF2B5EF4-FFF2-40B4-BE49-F238E27FC236}">
                      <a16:creationId xmlns:a16="http://schemas.microsoft.com/office/drawing/2014/main" id="{D39EE9FB-89D3-A6C7-3D4B-36A5B39601CB}"/>
                    </a:ext>
                  </a:extLst>
                </p:cNvPr>
                <p:cNvGrpSpPr/>
                <p:nvPr/>
              </p:nvGrpSpPr>
              <p:grpSpPr>
                <a:xfrm>
                  <a:off x="7219811" y="4720856"/>
                  <a:ext cx="1826780" cy="1450647"/>
                  <a:chOff x="9005777" y="4055148"/>
                  <a:chExt cx="2134069" cy="1784960"/>
                </a:xfrm>
              </p:grpSpPr>
              <p:grpSp>
                <p:nvGrpSpPr>
                  <p:cNvPr id="51" name="Group 50">
                    <a:extLst>
                      <a:ext uri="{FF2B5EF4-FFF2-40B4-BE49-F238E27FC236}">
                        <a16:creationId xmlns:a16="http://schemas.microsoft.com/office/drawing/2014/main" id="{B702C40D-7E81-A9EB-89FD-73C19C69B59B}"/>
                      </a:ext>
                    </a:extLst>
                  </p:cNvPr>
                  <p:cNvGrpSpPr/>
                  <p:nvPr/>
                </p:nvGrpSpPr>
                <p:grpSpPr>
                  <a:xfrm>
                    <a:off x="9005777" y="4055148"/>
                    <a:ext cx="2134069" cy="1784960"/>
                    <a:chOff x="9005777" y="4055148"/>
                    <a:chExt cx="2134069" cy="1784960"/>
                  </a:xfrm>
                </p:grpSpPr>
                <p:cxnSp>
                  <p:nvCxnSpPr>
                    <p:cNvPr id="47" name="Straight Connector 46">
                      <a:extLst>
                        <a:ext uri="{FF2B5EF4-FFF2-40B4-BE49-F238E27FC236}">
                          <a16:creationId xmlns:a16="http://schemas.microsoft.com/office/drawing/2014/main" id="{C57C178C-361A-D5B9-6D64-1A5971333626}"/>
                        </a:ext>
                      </a:extLst>
                    </p:cNvPr>
                    <p:cNvCxnSpPr>
                      <a:cxnSpLocks/>
                    </p:cNvCxnSpPr>
                    <p:nvPr/>
                  </p:nvCxnSpPr>
                  <p:spPr>
                    <a:xfrm flipH="1">
                      <a:off x="9005777" y="4055148"/>
                      <a:ext cx="10632" cy="1784960"/>
                    </a:xfrm>
                    <a:prstGeom prst="line">
                      <a:avLst/>
                    </a:prstGeom>
                    <a:ln w="19050"/>
                  </p:spPr>
                  <p:style>
                    <a:lnRef idx="1">
                      <a:schemeClr val="dk1"/>
                    </a:lnRef>
                    <a:fillRef idx="0">
                      <a:schemeClr val="dk1"/>
                    </a:fillRef>
                    <a:effectRef idx="0">
                      <a:schemeClr val="dk1"/>
                    </a:effectRef>
                    <a:fontRef idx="minor">
                      <a:schemeClr val="tx1"/>
                    </a:fontRef>
                  </p:style>
                </p:cxnSp>
                <p:cxnSp>
                  <p:nvCxnSpPr>
                    <p:cNvPr id="50" name="Straight Connector 49">
                      <a:extLst>
                        <a:ext uri="{FF2B5EF4-FFF2-40B4-BE49-F238E27FC236}">
                          <a16:creationId xmlns:a16="http://schemas.microsoft.com/office/drawing/2014/main" id="{0D4A5F34-6E91-E0C2-6B95-39D10E71ACBB}"/>
                        </a:ext>
                      </a:extLst>
                    </p:cNvPr>
                    <p:cNvCxnSpPr>
                      <a:cxnSpLocks/>
                    </p:cNvCxnSpPr>
                    <p:nvPr/>
                  </p:nvCxnSpPr>
                  <p:spPr>
                    <a:xfrm>
                      <a:off x="9005777" y="4916778"/>
                      <a:ext cx="2134069" cy="0"/>
                    </a:xfrm>
                    <a:prstGeom prst="line">
                      <a:avLst/>
                    </a:prstGeom>
                    <a:ln w="19050"/>
                  </p:spPr>
                  <p:style>
                    <a:lnRef idx="1">
                      <a:schemeClr val="dk1"/>
                    </a:lnRef>
                    <a:fillRef idx="0">
                      <a:schemeClr val="dk1"/>
                    </a:fillRef>
                    <a:effectRef idx="0">
                      <a:schemeClr val="dk1"/>
                    </a:effectRef>
                    <a:fontRef idx="minor">
                      <a:schemeClr val="tx1"/>
                    </a:fontRef>
                  </p:style>
                </p:cxnSp>
              </p:grpSp>
              <p:sp>
                <p:nvSpPr>
                  <p:cNvPr id="52" name="Freeform: Shape 51">
                    <a:extLst>
                      <a:ext uri="{FF2B5EF4-FFF2-40B4-BE49-F238E27FC236}">
                        <a16:creationId xmlns:a16="http://schemas.microsoft.com/office/drawing/2014/main" id="{32B39F0A-33DC-4DA9-5F27-8CA7AFEAF004}"/>
                      </a:ext>
                    </a:extLst>
                  </p:cNvPr>
                  <p:cNvSpPr/>
                  <p:nvPr/>
                </p:nvSpPr>
                <p:spPr>
                  <a:xfrm>
                    <a:off x="9324387" y="4337386"/>
                    <a:ext cx="1557010" cy="1397126"/>
                  </a:xfrm>
                  <a:custGeom>
                    <a:avLst/>
                    <a:gdLst>
                      <a:gd name="connsiteX0" fmla="*/ 5119 w 1706339"/>
                      <a:gd name="connsiteY0" fmla="*/ 587125 h 1483803"/>
                      <a:gd name="connsiteX1" fmla="*/ 100812 w 1706339"/>
                      <a:gd name="connsiteY1" fmla="*/ 2335 h 1483803"/>
                      <a:gd name="connsiteX2" fmla="*/ 185872 w 1706339"/>
                      <a:gd name="connsiteY2" fmla="*/ 385107 h 1483803"/>
                      <a:gd name="connsiteX3" fmla="*/ 600542 w 1706339"/>
                      <a:gd name="connsiteY3" fmla="*/ 459535 h 1483803"/>
                      <a:gd name="connsiteX4" fmla="*/ 1536207 w 1706339"/>
                      <a:gd name="connsiteY4" fmla="*/ 597758 h 1483803"/>
                      <a:gd name="connsiteX5" fmla="*/ 1685063 w 1706339"/>
                      <a:gd name="connsiteY5" fmla="*/ 597758 h 1483803"/>
                      <a:gd name="connsiteX6" fmla="*/ 1653165 w 1706339"/>
                      <a:gd name="connsiteY6" fmla="*/ 895470 h 1483803"/>
                      <a:gd name="connsiteX7" fmla="*/ 1206598 w 1706339"/>
                      <a:gd name="connsiteY7" fmla="*/ 1437730 h 1483803"/>
                      <a:gd name="connsiteX8" fmla="*/ 409156 w 1706339"/>
                      <a:gd name="connsiteY8" fmla="*/ 1395200 h 1483803"/>
                      <a:gd name="connsiteX9" fmla="*/ 58282 w 1706339"/>
                      <a:gd name="connsiteY9" fmla="*/ 916735 h 1483803"/>
                      <a:gd name="connsiteX10" fmla="*/ 5119 w 1706339"/>
                      <a:gd name="connsiteY10" fmla="*/ 587125 h 1483803"/>
                      <a:gd name="connsiteX0" fmla="*/ 5119 w 1706339"/>
                      <a:gd name="connsiteY0" fmla="*/ 588129 h 1484807"/>
                      <a:gd name="connsiteX1" fmla="*/ 100812 w 1706339"/>
                      <a:gd name="connsiteY1" fmla="*/ 3339 h 1484807"/>
                      <a:gd name="connsiteX2" fmla="*/ 217770 w 1706339"/>
                      <a:gd name="connsiteY2" fmla="*/ 354213 h 1484807"/>
                      <a:gd name="connsiteX3" fmla="*/ 600542 w 1706339"/>
                      <a:gd name="connsiteY3" fmla="*/ 460539 h 1484807"/>
                      <a:gd name="connsiteX4" fmla="*/ 1536207 w 1706339"/>
                      <a:gd name="connsiteY4" fmla="*/ 598762 h 1484807"/>
                      <a:gd name="connsiteX5" fmla="*/ 1685063 w 1706339"/>
                      <a:gd name="connsiteY5" fmla="*/ 598762 h 1484807"/>
                      <a:gd name="connsiteX6" fmla="*/ 1653165 w 1706339"/>
                      <a:gd name="connsiteY6" fmla="*/ 896474 h 1484807"/>
                      <a:gd name="connsiteX7" fmla="*/ 1206598 w 1706339"/>
                      <a:gd name="connsiteY7" fmla="*/ 1438734 h 1484807"/>
                      <a:gd name="connsiteX8" fmla="*/ 409156 w 1706339"/>
                      <a:gd name="connsiteY8" fmla="*/ 1396204 h 1484807"/>
                      <a:gd name="connsiteX9" fmla="*/ 58282 w 1706339"/>
                      <a:gd name="connsiteY9" fmla="*/ 917739 h 1484807"/>
                      <a:gd name="connsiteX10" fmla="*/ 5119 w 1706339"/>
                      <a:gd name="connsiteY10" fmla="*/ 588129 h 1484807"/>
                      <a:gd name="connsiteX0" fmla="*/ 5119 w 1706339"/>
                      <a:gd name="connsiteY0" fmla="*/ 588181 h 1484859"/>
                      <a:gd name="connsiteX1" fmla="*/ 100812 w 1706339"/>
                      <a:gd name="connsiteY1" fmla="*/ 3391 h 1484859"/>
                      <a:gd name="connsiteX2" fmla="*/ 217770 w 1706339"/>
                      <a:gd name="connsiteY2" fmla="*/ 354265 h 1484859"/>
                      <a:gd name="connsiteX3" fmla="*/ 589909 w 1706339"/>
                      <a:gd name="connsiteY3" fmla="*/ 492488 h 1484859"/>
                      <a:gd name="connsiteX4" fmla="*/ 1536207 w 1706339"/>
                      <a:gd name="connsiteY4" fmla="*/ 598814 h 1484859"/>
                      <a:gd name="connsiteX5" fmla="*/ 1685063 w 1706339"/>
                      <a:gd name="connsiteY5" fmla="*/ 598814 h 1484859"/>
                      <a:gd name="connsiteX6" fmla="*/ 1653165 w 1706339"/>
                      <a:gd name="connsiteY6" fmla="*/ 896526 h 1484859"/>
                      <a:gd name="connsiteX7" fmla="*/ 1206598 w 1706339"/>
                      <a:gd name="connsiteY7" fmla="*/ 1438786 h 1484859"/>
                      <a:gd name="connsiteX8" fmla="*/ 409156 w 1706339"/>
                      <a:gd name="connsiteY8" fmla="*/ 1396256 h 1484859"/>
                      <a:gd name="connsiteX9" fmla="*/ 58282 w 1706339"/>
                      <a:gd name="connsiteY9" fmla="*/ 917791 h 1484859"/>
                      <a:gd name="connsiteX10" fmla="*/ 5119 w 1706339"/>
                      <a:gd name="connsiteY10" fmla="*/ 588181 h 1484859"/>
                      <a:gd name="connsiteX0" fmla="*/ 5119 w 1696276"/>
                      <a:gd name="connsiteY0" fmla="*/ 588181 h 1480997"/>
                      <a:gd name="connsiteX1" fmla="*/ 100812 w 1696276"/>
                      <a:gd name="connsiteY1" fmla="*/ 3391 h 1480997"/>
                      <a:gd name="connsiteX2" fmla="*/ 217770 w 1696276"/>
                      <a:gd name="connsiteY2" fmla="*/ 354265 h 1480997"/>
                      <a:gd name="connsiteX3" fmla="*/ 589909 w 1696276"/>
                      <a:gd name="connsiteY3" fmla="*/ 492488 h 1480997"/>
                      <a:gd name="connsiteX4" fmla="*/ 1536207 w 1696276"/>
                      <a:gd name="connsiteY4" fmla="*/ 598814 h 1480997"/>
                      <a:gd name="connsiteX5" fmla="*/ 1685063 w 1696276"/>
                      <a:gd name="connsiteY5" fmla="*/ 598814 h 1480997"/>
                      <a:gd name="connsiteX6" fmla="*/ 1631900 w 1696276"/>
                      <a:gd name="connsiteY6" fmla="*/ 949689 h 1480997"/>
                      <a:gd name="connsiteX7" fmla="*/ 1206598 w 1696276"/>
                      <a:gd name="connsiteY7" fmla="*/ 1438786 h 1480997"/>
                      <a:gd name="connsiteX8" fmla="*/ 409156 w 1696276"/>
                      <a:gd name="connsiteY8" fmla="*/ 1396256 h 1480997"/>
                      <a:gd name="connsiteX9" fmla="*/ 58282 w 1696276"/>
                      <a:gd name="connsiteY9" fmla="*/ 917791 h 1480997"/>
                      <a:gd name="connsiteX10" fmla="*/ 5119 w 1696276"/>
                      <a:gd name="connsiteY10" fmla="*/ 588181 h 1480997"/>
                      <a:gd name="connsiteX0" fmla="*/ 5119 w 1691749"/>
                      <a:gd name="connsiteY0" fmla="*/ 588181 h 1480997"/>
                      <a:gd name="connsiteX1" fmla="*/ 100812 w 1691749"/>
                      <a:gd name="connsiteY1" fmla="*/ 3391 h 1480997"/>
                      <a:gd name="connsiteX2" fmla="*/ 217770 w 1691749"/>
                      <a:gd name="connsiteY2" fmla="*/ 354265 h 1480997"/>
                      <a:gd name="connsiteX3" fmla="*/ 589909 w 1691749"/>
                      <a:gd name="connsiteY3" fmla="*/ 492488 h 1480997"/>
                      <a:gd name="connsiteX4" fmla="*/ 1536207 w 1691749"/>
                      <a:gd name="connsiteY4" fmla="*/ 598814 h 1480997"/>
                      <a:gd name="connsiteX5" fmla="*/ 1685063 w 1691749"/>
                      <a:gd name="connsiteY5" fmla="*/ 598814 h 1480997"/>
                      <a:gd name="connsiteX6" fmla="*/ 1631900 w 1691749"/>
                      <a:gd name="connsiteY6" fmla="*/ 949689 h 1480997"/>
                      <a:gd name="connsiteX7" fmla="*/ 1206598 w 1691749"/>
                      <a:gd name="connsiteY7" fmla="*/ 1438786 h 1480997"/>
                      <a:gd name="connsiteX8" fmla="*/ 409156 w 1691749"/>
                      <a:gd name="connsiteY8" fmla="*/ 1396256 h 1480997"/>
                      <a:gd name="connsiteX9" fmla="*/ 58282 w 1691749"/>
                      <a:gd name="connsiteY9" fmla="*/ 917791 h 1480997"/>
                      <a:gd name="connsiteX10" fmla="*/ 5119 w 1691749"/>
                      <a:gd name="connsiteY10" fmla="*/ 588181 h 1480997"/>
                      <a:gd name="connsiteX0" fmla="*/ 4375 w 1691005"/>
                      <a:gd name="connsiteY0" fmla="*/ 588181 h 1459056"/>
                      <a:gd name="connsiteX1" fmla="*/ 100068 w 1691005"/>
                      <a:gd name="connsiteY1" fmla="*/ 3391 h 1459056"/>
                      <a:gd name="connsiteX2" fmla="*/ 217026 w 1691005"/>
                      <a:gd name="connsiteY2" fmla="*/ 354265 h 1459056"/>
                      <a:gd name="connsiteX3" fmla="*/ 589165 w 1691005"/>
                      <a:gd name="connsiteY3" fmla="*/ 492488 h 1459056"/>
                      <a:gd name="connsiteX4" fmla="*/ 1535463 w 1691005"/>
                      <a:gd name="connsiteY4" fmla="*/ 598814 h 1459056"/>
                      <a:gd name="connsiteX5" fmla="*/ 1684319 w 1691005"/>
                      <a:gd name="connsiteY5" fmla="*/ 598814 h 1459056"/>
                      <a:gd name="connsiteX6" fmla="*/ 1631156 w 1691005"/>
                      <a:gd name="connsiteY6" fmla="*/ 949689 h 1459056"/>
                      <a:gd name="connsiteX7" fmla="*/ 1205854 w 1691005"/>
                      <a:gd name="connsiteY7" fmla="*/ 1438786 h 1459056"/>
                      <a:gd name="connsiteX8" fmla="*/ 408412 w 1691005"/>
                      <a:gd name="connsiteY8" fmla="*/ 1321828 h 1459056"/>
                      <a:gd name="connsiteX9" fmla="*/ 57538 w 1691005"/>
                      <a:gd name="connsiteY9" fmla="*/ 917791 h 1459056"/>
                      <a:gd name="connsiteX10" fmla="*/ 4375 w 1691005"/>
                      <a:gd name="connsiteY10" fmla="*/ 588181 h 1459056"/>
                      <a:gd name="connsiteX0" fmla="*/ 4375 w 1691005"/>
                      <a:gd name="connsiteY0" fmla="*/ 588181 h 1459056"/>
                      <a:gd name="connsiteX1" fmla="*/ 100068 w 1691005"/>
                      <a:gd name="connsiteY1" fmla="*/ 3391 h 1459056"/>
                      <a:gd name="connsiteX2" fmla="*/ 217026 w 1691005"/>
                      <a:gd name="connsiteY2" fmla="*/ 354265 h 1459056"/>
                      <a:gd name="connsiteX3" fmla="*/ 589165 w 1691005"/>
                      <a:gd name="connsiteY3" fmla="*/ 492488 h 1459056"/>
                      <a:gd name="connsiteX4" fmla="*/ 1535463 w 1691005"/>
                      <a:gd name="connsiteY4" fmla="*/ 598814 h 1459056"/>
                      <a:gd name="connsiteX5" fmla="*/ 1684319 w 1691005"/>
                      <a:gd name="connsiteY5" fmla="*/ 598814 h 1459056"/>
                      <a:gd name="connsiteX6" fmla="*/ 1631156 w 1691005"/>
                      <a:gd name="connsiteY6" fmla="*/ 949689 h 1459056"/>
                      <a:gd name="connsiteX7" fmla="*/ 1205854 w 1691005"/>
                      <a:gd name="connsiteY7" fmla="*/ 1438786 h 1459056"/>
                      <a:gd name="connsiteX8" fmla="*/ 408412 w 1691005"/>
                      <a:gd name="connsiteY8" fmla="*/ 1321828 h 1459056"/>
                      <a:gd name="connsiteX9" fmla="*/ 57538 w 1691005"/>
                      <a:gd name="connsiteY9" fmla="*/ 917791 h 1459056"/>
                      <a:gd name="connsiteX10" fmla="*/ 4375 w 1691005"/>
                      <a:gd name="connsiteY10" fmla="*/ 588181 h 1459056"/>
                      <a:gd name="connsiteX0" fmla="*/ 4375 w 1691005"/>
                      <a:gd name="connsiteY0" fmla="*/ 588181 h 1459056"/>
                      <a:gd name="connsiteX1" fmla="*/ 100068 w 1691005"/>
                      <a:gd name="connsiteY1" fmla="*/ 3391 h 1459056"/>
                      <a:gd name="connsiteX2" fmla="*/ 217026 w 1691005"/>
                      <a:gd name="connsiteY2" fmla="*/ 354265 h 1459056"/>
                      <a:gd name="connsiteX3" fmla="*/ 589165 w 1691005"/>
                      <a:gd name="connsiteY3" fmla="*/ 492488 h 1459056"/>
                      <a:gd name="connsiteX4" fmla="*/ 1535463 w 1691005"/>
                      <a:gd name="connsiteY4" fmla="*/ 598814 h 1459056"/>
                      <a:gd name="connsiteX5" fmla="*/ 1684319 w 1691005"/>
                      <a:gd name="connsiteY5" fmla="*/ 598814 h 1459056"/>
                      <a:gd name="connsiteX6" fmla="*/ 1631156 w 1691005"/>
                      <a:gd name="connsiteY6" fmla="*/ 949689 h 1459056"/>
                      <a:gd name="connsiteX7" fmla="*/ 1205854 w 1691005"/>
                      <a:gd name="connsiteY7" fmla="*/ 1438786 h 1459056"/>
                      <a:gd name="connsiteX8" fmla="*/ 408412 w 1691005"/>
                      <a:gd name="connsiteY8" fmla="*/ 1321828 h 1459056"/>
                      <a:gd name="connsiteX9" fmla="*/ 57538 w 1691005"/>
                      <a:gd name="connsiteY9" fmla="*/ 917791 h 1459056"/>
                      <a:gd name="connsiteX10" fmla="*/ 4375 w 1691005"/>
                      <a:gd name="connsiteY10" fmla="*/ 588181 h 1459056"/>
                      <a:gd name="connsiteX0" fmla="*/ 4375 w 1696993"/>
                      <a:gd name="connsiteY0" fmla="*/ 588181 h 1459056"/>
                      <a:gd name="connsiteX1" fmla="*/ 100068 w 1696993"/>
                      <a:gd name="connsiteY1" fmla="*/ 3391 h 1459056"/>
                      <a:gd name="connsiteX2" fmla="*/ 217026 w 1696993"/>
                      <a:gd name="connsiteY2" fmla="*/ 354265 h 1459056"/>
                      <a:gd name="connsiteX3" fmla="*/ 589165 w 1696993"/>
                      <a:gd name="connsiteY3" fmla="*/ 492488 h 1459056"/>
                      <a:gd name="connsiteX4" fmla="*/ 1535463 w 1696993"/>
                      <a:gd name="connsiteY4" fmla="*/ 598814 h 1459056"/>
                      <a:gd name="connsiteX5" fmla="*/ 1684319 w 1696993"/>
                      <a:gd name="connsiteY5" fmla="*/ 598814 h 1459056"/>
                      <a:gd name="connsiteX6" fmla="*/ 1631156 w 1696993"/>
                      <a:gd name="connsiteY6" fmla="*/ 949689 h 1459056"/>
                      <a:gd name="connsiteX7" fmla="*/ 1173956 w 1696993"/>
                      <a:gd name="connsiteY7" fmla="*/ 1438786 h 1459056"/>
                      <a:gd name="connsiteX8" fmla="*/ 408412 w 1696993"/>
                      <a:gd name="connsiteY8" fmla="*/ 1321828 h 1459056"/>
                      <a:gd name="connsiteX9" fmla="*/ 57538 w 1696993"/>
                      <a:gd name="connsiteY9" fmla="*/ 917791 h 1459056"/>
                      <a:gd name="connsiteX10" fmla="*/ 4375 w 1696993"/>
                      <a:gd name="connsiteY10" fmla="*/ 588181 h 1459056"/>
                      <a:gd name="connsiteX0" fmla="*/ 4375 w 1698597"/>
                      <a:gd name="connsiteY0" fmla="*/ 588181 h 1459056"/>
                      <a:gd name="connsiteX1" fmla="*/ 100068 w 1698597"/>
                      <a:gd name="connsiteY1" fmla="*/ 3391 h 1459056"/>
                      <a:gd name="connsiteX2" fmla="*/ 217026 w 1698597"/>
                      <a:gd name="connsiteY2" fmla="*/ 354265 h 1459056"/>
                      <a:gd name="connsiteX3" fmla="*/ 589165 w 1698597"/>
                      <a:gd name="connsiteY3" fmla="*/ 492488 h 1459056"/>
                      <a:gd name="connsiteX4" fmla="*/ 1513281 w 1698597"/>
                      <a:gd name="connsiteY4" fmla="*/ 524944 h 1459056"/>
                      <a:gd name="connsiteX5" fmla="*/ 1684319 w 1698597"/>
                      <a:gd name="connsiteY5" fmla="*/ 598814 h 1459056"/>
                      <a:gd name="connsiteX6" fmla="*/ 1631156 w 1698597"/>
                      <a:gd name="connsiteY6" fmla="*/ 949689 h 1459056"/>
                      <a:gd name="connsiteX7" fmla="*/ 1173956 w 1698597"/>
                      <a:gd name="connsiteY7" fmla="*/ 1438786 h 1459056"/>
                      <a:gd name="connsiteX8" fmla="*/ 408412 w 1698597"/>
                      <a:gd name="connsiteY8" fmla="*/ 1321828 h 1459056"/>
                      <a:gd name="connsiteX9" fmla="*/ 57538 w 1698597"/>
                      <a:gd name="connsiteY9" fmla="*/ 917791 h 1459056"/>
                      <a:gd name="connsiteX10" fmla="*/ 4375 w 1698597"/>
                      <a:gd name="connsiteY10" fmla="*/ 588181 h 1459056"/>
                      <a:gd name="connsiteX0" fmla="*/ 4375 w 1702628"/>
                      <a:gd name="connsiteY0" fmla="*/ 588181 h 1459056"/>
                      <a:gd name="connsiteX1" fmla="*/ 100068 w 1702628"/>
                      <a:gd name="connsiteY1" fmla="*/ 3391 h 1459056"/>
                      <a:gd name="connsiteX2" fmla="*/ 217026 w 1702628"/>
                      <a:gd name="connsiteY2" fmla="*/ 354265 h 1459056"/>
                      <a:gd name="connsiteX3" fmla="*/ 589165 w 1702628"/>
                      <a:gd name="connsiteY3" fmla="*/ 492488 h 1459056"/>
                      <a:gd name="connsiteX4" fmla="*/ 1457826 w 1702628"/>
                      <a:gd name="connsiteY4" fmla="*/ 561880 h 1459056"/>
                      <a:gd name="connsiteX5" fmla="*/ 1684319 w 1702628"/>
                      <a:gd name="connsiteY5" fmla="*/ 598814 h 1459056"/>
                      <a:gd name="connsiteX6" fmla="*/ 1631156 w 1702628"/>
                      <a:gd name="connsiteY6" fmla="*/ 949689 h 1459056"/>
                      <a:gd name="connsiteX7" fmla="*/ 1173956 w 1702628"/>
                      <a:gd name="connsiteY7" fmla="*/ 1438786 h 1459056"/>
                      <a:gd name="connsiteX8" fmla="*/ 408412 w 1702628"/>
                      <a:gd name="connsiteY8" fmla="*/ 1321828 h 1459056"/>
                      <a:gd name="connsiteX9" fmla="*/ 57538 w 1702628"/>
                      <a:gd name="connsiteY9" fmla="*/ 917791 h 1459056"/>
                      <a:gd name="connsiteX10" fmla="*/ 4375 w 1702628"/>
                      <a:gd name="connsiteY10" fmla="*/ 588181 h 1459056"/>
                      <a:gd name="connsiteX0" fmla="*/ 4375 w 1702628"/>
                      <a:gd name="connsiteY0" fmla="*/ 588065 h 1458940"/>
                      <a:gd name="connsiteX1" fmla="*/ 100068 w 1702628"/>
                      <a:gd name="connsiteY1" fmla="*/ 3275 h 1458940"/>
                      <a:gd name="connsiteX2" fmla="*/ 217026 w 1702628"/>
                      <a:gd name="connsiteY2" fmla="*/ 354149 h 1458940"/>
                      <a:gd name="connsiteX3" fmla="*/ 600256 w 1702628"/>
                      <a:gd name="connsiteY3" fmla="*/ 418502 h 1458940"/>
                      <a:gd name="connsiteX4" fmla="*/ 1457826 w 1702628"/>
                      <a:gd name="connsiteY4" fmla="*/ 561764 h 1458940"/>
                      <a:gd name="connsiteX5" fmla="*/ 1684319 w 1702628"/>
                      <a:gd name="connsiteY5" fmla="*/ 598698 h 1458940"/>
                      <a:gd name="connsiteX6" fmla="*/ 1631156 w 1702628"/>
                      <a:gd name="connsiteY6" fmla="*/ 949573 h 1458940"/>
                      <a:gd name="connsiteX7" fmla="*/ 1173956 w 1702628"/>
                      <a:gd name="connsiteY7" fmla="*/ 1438670 h 1458940"/>
                      <a:gd name="connsiteX8" fmla="*/ 408412 w 1702628"/>
                      <a:gd name="connsiteY8" fmla="*/ 1321712 h 1458940"/>
                      <a:gd name="connsiteX9" fmla="*/ 57538 w 1702628"/>
                      <a:gd name="connsiteY9" fmla="*/ 917675 h 1458940"/>
                      <a:gd name="connsiteX10" fmla="*/ 4375 w 1702628"/>
                      <a:gd name="connsiteY10" fmla="*/ 588065 h 1458940"/>
                      <a:gd name="connsiteX0" fmla="*/ 4375 w 1702628"/>
                      <a:gd name="connsiteY0" fmla="*/ 592225 h 1463100"/>
                      <a:gd name="connsiteX1" fmla="*/ 100068 w 1702628"/>
                      <a:gd name="connsiteY1" fmla="*/ 7435 h 1463100"/>
                      <a:gd name="connsiteX2" fmla="*/ 239207 w 1702628"/>
                      <a:gd name="connsiteY2" fmla="*/ 272126 h 1463100"/>
                      <a:gd name="connsiteX3" fmla="*/ 600256 w 1702628"/>
                      <a:gd name="connsiteY3" fmla="*/ 422662 h 1463100"/>
                      <a:gd name="connsiteX4" fmla="*/ 1457826 w 1702628"/>
                      <a:gd name="connsiteY4" fmla="*/ 565924 h 1463100"/>
                      <a:gd name="connsiteX5" fmla="*/ 1684319 w 1702628"/>
                      <a:gd name="connsiteY5" fmla="*/ 602858 h 1463100"/>
                      <a:gd name="connsiteX6" fmla="*/ 1631156 w 1702628"/>
                      <a:gd name="connsiteY6" fmla="*/ 953733 h 1463100"/>
                      <a:gd name="connsiteX7" fmla="*/ 1173956 w 1702628"/>
                      <a:gd name="connsiteY7" fmla="*/ 1442830 h 1463100"/>
                      <a:gd name="connsiteX8" fmla="*/ 408412 w 1702628"/>
                      <a:gd name="connsiteY8" fmla="*/ 1325872 h 1463100"/>
                      <a:gd name="connsiteX9" fmla="*/ 57538 w 1702628"/>
                      <a:gd name="connsiteY9" fmla="*/ 921835 h 1463100"/>
                      <a:gd name="connsiteX10" fmla="*/ 4375 w 1702628"/>
                      <a:gd name="connsiteY10" fmla="*/ 592225 h 1463100"/>
                      <a:gd name="connsiteX0" fmla="*/ 4375 w 1702628"/>
                      <a:gd name="connsiteY0" fmla="*/ 588512 h 1459387"/>
                      <a:gd name="connsiteX1" fmla="*/ 100068 w 1702628"/>
                      <a:gd name="connsiteY1" fmla="*/ 3722 h 1459387"/>
                      <a:gd name="connsiteX2" fmla="*/ 250299 w 1702628"/>
                      <a:gd name="connsiteY2" fmla="*/ 342283 h 1459387"/>
                      <a:gd name="connsiteX3" fmla="*/ 600256 w 1702628"/>
                      <a:gd name="connsiteY3" fmla="*/ 418949 h 1459387"/>
                      <a:gd name="connsiteX4" fmla="*/ 1457826 w 1702628"/>
                      <a:gd name="connsiteY4" fmla="*/ 562211 h 1459387"/>
                      <a:gd name="connsiteX5" fmla="*/ 1684319 w 1702628"/>
                      <a:gd name="connsiteY5" fmla="*/ 599145 h 1459387"/>
                      <a:gd name="connsiteX6" fmla="*/ 1631156 w 1702628"/>
                      <a:gd name="connsiteY6" fmla="*/ 950020 h 1459387"/>
                      <a:gd name="connsiteX7" fmla="*/ 1173956 w 1702628"/>
                      <a:gd name="connsiteY7" fmla="*/ 1439117 h 1459387"/>
                      <a:gd name="connsiteX8" fmla="*/ 408412 w 1702628"/>
                      <a:gd name="connsiteY8" fmla="*/ 1322159 h 1459387"/>
                      <a:gd name="connsiteX9" fmla="*/ 57538 w 1702628"/>
                      <a:gd name="connsiteY9" fmla="*/ 918122 h 1459387"/>
                      <a:gd name="connsiteX10" fmla="*/ 4375 w 1702628"/>
                      <a:gd name="connsiteY10" fmla="*/ 588512 h 1459387"/>
                      <a:gd name="connsiteX0" fmla="*/ 4375 w 1702628"/>
                      <a:gd name="connsiteY0" fmla="*/ 588578 h 1459453"/>
                      <a:gd name="connsiteX1" fmla="*/ 100068 w 1702628"/>
                      <a:gd name="connsiteY1" fmla="*/ 3788 h 1459453"/>
                      <a:gd name="connsiteX2" fmla="*/ 250299 w 1702628"/>
                      <a:gd name="connsiteY2" fmla="*/ 342349 h 1459453"/>
                      <a:gd name="connsiteX3" fmla="*/ 600256 w 1702628"/>
                      <a:gd name="connsiteY3" fmla="*/ 455951 h 1459453"/>
                      <a:gd name="connsiteX4" fmla="*/ 1457826 w 1702628"/>
                      <a:gd name="connsiteY4" fmla="*/ 562277 h 1459453"/>
                      <a:gd name="connsiteX5" fmla="*/ 1684319 w 1702628"/>
                      <a:gd name="connsiteY5" fmla="*/ 599211 h 1459453"/>
                      <a:gd name="connsiteX6" fmla="*/ 1631156 w 1702628"/>
                      <a:gd name="connsiteY6" fmla="*/ 950086 h 1459453"/>
                      <a:gd name="connsiteX7" fmla="*/ 1173956 w 1702628"/>
                      <a:gd name="connsiteY7" fmla="*/ 1439183 h 1459453"/>
                      <a:gd name="connsiteX8" fmla="*/ 408412 w 1702628"/>
                      <a:gd name="connsiteY8" fmla="*/ 1322225 h 1459453"/>
                      <a:gd name="connsiteX9" fmla="*/ 57538 w 1702628"/>
                      <a:gd name="connsiteY9" fmla="*/ 918188 h 1459453"/>
                      <a:gd name="connsiteX10" fmla="*/ 4375 w 1702628"/>
                      <a:gd name="connsiteY10" fmla="*/ 588578 h 1459453"/>
                      <a:gd name="connsiteX0" fmla="*/ 4375 w 1702628"/>
                      <a:gd name="connsiteY0" fmla="*/ 588578 h 1459453"/>
                      <a:gd name="connsiteX1" fmla="*/ 100068 w 1702628"/>
                      <a:gd name="connsiteY1" fmla="*/ 3788 h 1459453"/>
                      <a:gd name="connsiteX2" fmla="*/ 250299 w 1702628"/>
                      <a:gd name="connsiteY2" fmla="*/ 342349 h 1459453"/>
                      <a:gd name="connsiteX3" fmla="*/ 600256 w 1702628"/>
                      <a:gd name="connsiteY3" fmla="*/ 455951 h 1459453"/>
                      <a:gd name="connsiteX4" fmla="*/ 1457826 w 1702628"/>
                      <a:gd name="connsiteY4" fmla="*/ 562277 h 1459453"/>
                      <a:gd name="connsiteX5" fmla="*/ 1684319 w 1702628"/>
                      <a:gd name="connsiteY5" fmla="*/ 599211 h 1459453"/>
                      <a:gd name="connsiteX6" fmla="*/ 1631156 w 1702628"/>
                      <a:gd name="connsiteY6" fmla="*/ 950086 h 1459453"/>
                      <a:gd name="connsiteX7" fmla="*/ 1173956 w 1702628"/>
                      <a:gd name="connsiteY7" fmla="*/ 1439183 h 1459453"/>
                      <a:gd name="connsiteX8" fmla="*/ 408412 w 1702628"/>
                      <a:gd name="connsiteY8" fmla="*/ 1322225 h 1459453"/>
                      <a:gd name="connsiteX9" fmla="*/ 57538 w 1702628"/>
                      <a:gd name="connsiteY9" fmla="*/ 918188 h 1459453"/>
                      <a:gd name="connsiteX10" fmla="*/ 4375 w 1702628"/>
                      <a:gd name="connsiteY10" fmla="*/ 588578 h 1459453"/>
                      <a:gd name="connsiteX0" fmla="*/ 4375 w 1703135"/>
                      <a:gd name="connsiteY0" fmla="*/ 588578 h 1428728"/>
                      <a:gd name="connsiteX1" fmla="*/ 100068 w 1703135"/>
                      <a:gd name="connsiteY1" fmla="*/ 3788 h 1428728"/>
                      <a:gd name="connsiteX2" fmla="*/ 250299 w 1703135"/>
                      <a:gd name="connsiteY2" fmla="*/ 342349 h 1428728"/>
                      <a:gd name="connsiteX3" fmla="*/ 600256 w 1703135"/>
                      <a:gd name="connsiteY3" fmla="*/ 455951 h 1428728"/>
                      <a:gd name="connsiteX4" fmla="*/ 1457826 w 1703135"/>
                      <a:gd name="connsiteY4" fmla="*/ 562277 h 1428728"/>
                      <a:gd name="connsiteX5" fmla="*/ 1684319 w 1703135"/>
                      <a:gd name="connsiteY5" fmla="*/ 599211 h 1428728"/>
                      <a:gd name="connsiteX6" fmla="*/ 1631156 w 1703135"/>
                      <a:gd name="connsiteY6" fmla="*/ 950086 h 1428728"/>
                      <a:gd name="connsiteX7" fmla="*/ 1162865 w 1703135"/>
                      <a:gd name="connsiteY7" fmla="*/ 1402248 h 1428728"/>
                      <a:gd name="connsiteX8" fmla="*/ 408412 w 1703135"/>
                      <a:gd name="connsiteY8" fmla="*/ 1322225 h 1428728"/>
                      <a:gd name="connsiteX9" fmla="*/ 57538 w 1703135"/>
                      <a:gd name="connsiteY9" fmla="*/ 918188 h 1428728"/>
                      <a:gd name="connsiteX10" fmla="*/ 4375 w 1703135"/>
                      <a:gd name="connsiteY10" fmla="*/ 588578 h 1428728"/>
                      <a:gd name="connsiteX0" fmla="*/ 4375 w 1702629"/>
                      <a:gd name="connsiteY0" fmla="*/ 588578 h 1428729"/>
                      <a:gd name="connsiteX1" fmla="*/ 100068 w 1702629"/>
                      <a:gd name="connsiteY1" fmla="*/ 3788 h 1428729"/>
                      <a:gd name="connsiteX2" fmla="*/ 250299 w 1702629"/>
                      <a:gd name="connsiteY2" fmla="*/ 342349 h 1428729"/>
                      <a:gd name="connsiteX3" fmla="*/ 600256 w 1702629"/>
                      <a:gd name="connsiteY3" fmla="*/ 455951 h 1428729"/>
                      <a:gd name="connsiteX4" fmla="*/ 1457826 w 1702629"/>
                      <a:gd name="connsiteY4" fmla="*/ 562277 h 1428729"/>
                      <a:gd name="connsiteX5" fmla="*/ 1684319 w 1702629"/>
                      <a:gd name="connsiteY5" fmla="*/ 599211 h 1428729"/>
                      <a:gd name="connsiteX6" fmla="*/ 1631156 w 1702629"/>
                      <a:gd name="connsiteY6" fmla="*/ 950086 h 1428729"/>
                      <a:gd name="connsiteX7" fmla="*/ 1173956 w 1702629"/>
                      <a:gd name="connsiteY7" fmla="*/ 1402248 h 1428729"/>
                      <a:gd name="connsiteX8" fmla="*/ 408412 w 1702629"/>
                      <a:gd name="connsiteY8" fmla="*/ 1322225 h 1428729"/>
                      <a:gd name="connsiteX9" fmla="*/ 57538 w 1702629"/>
                      <a:gd name="connsiteY9" fmla="*/ 918188 h 1428729"/>
                      <a:gd name="connsiteX10" fmla="*/ 4375 w 1702629"/>
                      <a:gd name="connsiteY10" fmla="*/ 588578 h 1428729"/>
                      <a:gd name="connsiteX0" fmla="*/ 195 w 1698449"/>
                      <a:gd name="connsiteY0" fmla="*/ 588578 h 1428729"/>
                      <a:gd name="connsiteX1" fmla="*/ 95888 w 1698449"/>
                      <a:gd name="connsiteY1" fmla="*/ 3788 h 1428729"/>
                      <a:gd name="connsiteX2" fmla="*/ 246119 w 1698449"/>
                      <a:gd name="connsiteY2" fmla="*/ 342349 h 1428729"/>
                      <a:gd name="connsiteX3" fmla="*/ 596076 w 1698449"/>
                      <a:gd name="connsiteY3" fmla="*/ 455951 h 1428729"/>
                      <a:gd name="connsiteX4" fmla="*/ 1453646 w 1698449"/>
                      <a:gd name="connsiteY4" fmla="*/ 562277 h 1428729"/>
                      <a:gd name="connsiteX5" fmla="*/ 1680139 w 1698449"/>
                      <a:gd name="connsiteY5" fmla="*/ 599211 h 1428729"/>
                      <a:gd name="connsiteX6" fmla="*/ 1626976 w 1698449"/>
                      <a:gd name="connsiteY6" fmla="*/ 950086 h 1428729"/>
                      <a:gd name="connsiteX7" fmla="*/ 1169776 w 1698449"/>
                      <a:gd name="connsiteY7" fmla="*/ 1402248 h 1428729"/>
                      <a:gd name="connsiteX8" fmla="*/ 404232 w 1698449"/>
                      <a:gd name="connsiteY8" fmla="*/ 1322225 h 1428729"/>
                      <a:gd name="connsiteX9" fmla="*/ 53358 w 1698449"/>
                      <a:gd name="connsiteY9" fmla="*/ 918188 h 1428729"/>
                      <a:gd name="connsiteX10" fmla="*/ 195 w 1698449"/>
                      <a:gd name="connsiteY10" fmla="*/ 588578 h 1428729"/>
                      <a:gd name="connsiteX0" fmla="*/ 195 w 1698449"/>
                      <a:gd name="connsiteY0" fmla="*/ 588578 h 1428729"/>
                      <a:gd name="connsiteX1" fmla="*/ 95888 w 1698449"/>
                      <a:gd name="connsiteY1" fmla="*/ 3788 h 1428729"/>
                      <a:gd name="connsiteX2" fmla="*/ 246119 w 1698449"/>
                      <a:gd name="connsiteY2" fmla="*/ 342349 h 1428729"/>
                      <a:gd name="connsiteX3" fmla="*/ 596076 w 1698449"/>
                      <a:gd name="connsiteY3" fmla="*/ 455951 h 1428729"/>
                      <a:gd name="connsiteX4" fmla="*/ 1453646 w 1698449"/>
                      <a:gd name="connsiteY4" fmla="*/ 562277 h 1428729"/>
                      <a:gd name="connsiteX5" fmla="*/ 1680139 w 1698449"/>
                      <a:gd name="connsiteY5" fmla="*/ 599211 h 1428729"/>
                      <a:gd name="connsiteX6" fmla="*/ 1626976 w 1698449"/>
                      <a:gd name="connsiteY6" fmla="*/ 950086 h 1428729"/>
                      <a:gd name="connsiteX7" fmla="*/ 1169776 w 1698449"/>
                      <a:gd name="connsiteY7" fmla="*/ 1402248 h 1428729"/>
                      <a:gd name="connsiteX8" fmla="*/ 404232 w 1698449"/>
                      <a:gd name="connsiteY8" fmla="*/ 1322225 h 1428729"/>
                      <a:gd name="connsiteX9" fmla="*/ 53358 w 1698449"/>
                      <a:gd name="connsiteY9" fmla="*/ 918188 h 1428729"/>
                      <a:gd name="connsiteX10" fmla="*/ 195 w 1698449"/>
                      <a:gd name="connsiteY10" fmla="*/ 588578 h 1428729"/>
                      <a:gd name="connsiteX0" fmla="*/ 1667 w 1699921"/>
                      <a:gd name="connsiteY0" fmla="*/ 588578 h 1428729"/>
                      <a:gd name="connsiteX1" fmla="*/ 97360 w 1699921"/>
                      <a:gd name="connsiteY1" fmla="*/ 3788 h 1428729"/>
                      <a:gd name="connsiteX2" fmla="*/ 247591 w 1699921"/>
                      <a:gd name="connsiteY2" fmla="*/ 342349 h 1428729"/>
                      <a:gd name="connsiteX3" fmla="*/ 597548 w 1699921"/>
                      <a:gd name="connsiteY3" fmla="*/ 455951 h 1428729"/>
                      <a:gd name="connsiteX4" fmla="*/ 1455118 w 1699921"/>
                      <a:gd name="connsiteY4" fmla="*/ 562277 h 1428729"/>
                      <a:gd name="connsiteX5" fmla="*/ 1681611 w 1699921"/>
                      <a:gd name="connsiteY5" fmla="*/ 599211 h 1428729"/>
                      <a:gd name="connsiteX6" fmla="*/ 1628448 w 1699921"/>
                      <a:gd name="connsiteY6" fmla="*/ 950086 h 1428729"/>
                      <a:gd name="connsiteX7" fmla="*/ 1171248 w 1699921"/>
                      <a:gd name="connsiteY7" fmla="*/ 1402248 h 1428729"/>
                      <a:gd name="connsiteX8" fmla="*/ 405704 w 1699921"/>
                      <a:gd name="connsiteY8" fmla="*/ 1322225 h 1428729"/>
                      <a:gd name="connsiteX9" fmla="*/ 54830 w 1699921"/>
                      <a:gd name="connsiteY9" fmla="*/ 918188 h 1428729"/>
                      <a:gd name="connsiteX10" fmla="*/ 1667 w 1699921"/>
                      <a:gd name="connsiteY10" fmla="*/ 588578 h 1428729"/>
                      <a:gd name="connsiteX0" fmla="*/ 1667 w 1702794"/>
                      <a:gd name="connsiteY0" fmla="*/ 588578 h 1428729"/>
                      <a:gd name="connsiteX1" fmla="*/ 97360 w 1702794"/>
                      <a:gd name="connsiteY1" fmla="*/ 3788 h 1428729"/>
                      <a:gd name="connsiteX2" fmla="*/ 247591 w 1702794"/>
                      <a:gd name="connsiteY2" fmla="*/ 342349 h 1428729"/>
                      <a:gd name="connsiteX3" fmla="*/ 597548 w 1702794"/>
                      <a:gd name="connsiteY3" fmla="*/ 455951 h 1428729"/>
                      <a:gd name="connsiteX4" fmla="*/ 1455118 w 1702794"/>
                      <a:gd name="connsiteY4" fmla="*/ 562277 h 1428729"/>
                      <a:gd name="connsiteX5" fmla="*/ 1681611 w 1702794"/>
                      <a:gd name="connsiteY5" fmla="*/ 599211 h 1428729"/>
                      <a:gd name="connsiteX6" fmla="*/ 1628448 w 1702794"/>
                      <a:gd name="connsiteY6" fmla="*/ 950086 h 1428729"/>
                      <a:gd name="connsiteX7" fmla="*/ 1111039 w 1702794"/>
                      <a:gd name="connsiteY7" fmla="*/ 1402248 h 1428729"/>
                      <a:gd name="connsiteX8" fmla="*/ 405704 w 1702794"/>
                      <a:gd name="connsiteY8" fmla="*/ 1322225 h 1428729"/>
                      <a:gd name="connsiteX9" fmla="*/ 54830 w 1702794"/>
                      <a:gd name="connsiteY9" fmla="*/ 918188 h 1428729"/>
                      <a:gd name="connsiteX10" fmla="*/ 1667 w 1702794"/>
                      <a:gd name="connsiteY10" fmla="*/ 588578 h 1428729"/>
                      <a:gd name="connsiteX0" fmla="*/ 1667 w 1702794"/>
                      <a:gd name="connsiteY0" fmla="*/ 588578 h 1443934"/>
                      <a:gd name="connsiteX1" fmla="*/ 97360 w 1702794"/>
                      <a:gd name="connsiteY1" fmla="*/ 3788 h 1443934"/>
                      <a:gd name="connsiteX2" fmla="*/ 247591 w 1702794"/>
                      <a:gd name="connsiteY2" fmla="*/ 342349 h 1443934"/>
                      <a:gd name="connsiteX3" fmla="*/ 597548 w 1702794"/>
                      <a:gd name="connsiteY3" fmla="*/ 455951 h 1443934"/>
                      <a:gd name="connsiteX4" fmla="*/ 1455118 w 1702794"/>
                      <a:gd name="connsiteY4" fmla="*/ 562277 h 1443934"/>
                      <a:gd name="connsiteX5" fmla="*/ 1681611 w 1702794"/>
                      <a:gd name="connsiteY5" fmla="*/ 599211 h 1443934"/>
                      <a:gd name="connsiteX6" fmla="*/ 1628448 w 1702794"/>
                      <a:gd name="connsiteY6" fmla="*/ 950086 h 1443934"/>
                      <a:gd name="connsiteX7" fmla="*/ 1111039 w 1702794"/>
                      <a:gd name="connsiteY7" fmla="*/ 1402248 h 1443934"/>
                      <a:gd name="connsiteX8" fmla="*/ 405704 w 1702794"/>
                      <a:gd name="connsiteY8" fmla="*/ 1322225 h 1443934"/>
                      <a:gd name="connsiteX9" fmla="*/ 54830 w 1702794"/>
                      <a:gd name="connsiteY9" fmla="*/ 918188 h 1443934"/>
                      <a:gd name="connsiteX10" fmla="*/ 1667 w 1702794"/>
                      <a:gd name="connsiteY10" fmla="*/ 588578 h 1443934"/>
                      <a:gd name="connsiteX0" fmla="*/ 1667 w 1702794"/>
                      <a:gd name="connsiteY0" fmla="*/ 588578 h 1418671"/>
                      <a:gd name="connsiteX1" fmla="*/ 97360 w 1702794"/>
                      <a:gd name="connsiteY1" fmla="*/ 3788 h 1418671"/>
                      <a:gd name="connsiteX2" fmla="*/ 247591 w 1702794"/>
                      <a:gd name="connsiteY2" fmla="*/ 342349 h 1418671"/>
                      <a:gd name="connsiteX3" fmla="*/ 597548 w 1702794"/>
                      <a:gd name="connsiteY3" fmla="*/ 455951 h 1418671"/>
                      <a:gd name="connsiteX4" fmla="*/ 1455118 w 1702794"/>
                      <a:gd name="connsiteY4" fmla="*/ 562277 h 1418671"/>
                      <a:gd name="connsiteX5" fmla="*/ 1681611 w 1702794"/>
                      <a:gd name="connsiteY5" fmla="*/ 599211 h 1418671"/>
                      <a:gd name="connsiteX6" fmla="*/ 1628448 w 1702794"/>
                      <a:gd name="connsiteY6" fmla="*/ 950086 h 1418671"/>
                      <a:gd name="connsiteX7" fmla="*/ 1111039 w 1702794"/>
                      <a:gd name="connsiteY7" fmla="*/ 1367806 h 1418671"/>
                      <a:gd name="connsiteX8" fmla="*/ 405704 w 1702794"/>
                      <a:gd name="connsiteY8" fmla="*/ 1322225 h 1418671"/>
                      <a:gd name="connsiteX9" fmla="*/ 54830 w 1702794"/>
                      <a:gd name="connsiteY9" fmla="*/ 918188 h 1418671"/>
                      <a:gd name="connsiteX10" fmla="*/ 1667 w 1702794"/>
                      <a:gd name="connsiteY10" fmla="*/ 588578 h 1418671"/>
                      <a:gd name="connsiteX0" fmla="*/ 1667 w 1688223"/>
                      <a:gd name="connsiteY0" fmla="*/ 588578 h 1403586"/>
                      <a:gd name="connsiteX1" fmla="*/ 97360 w 1688223"/>
                      <a:gd name="connsiteY1" fmla="*/ 3788 h 1403586"/>
                      <a:gd name="connsiteX2" fmla="*/ 247591 w 1688223"/>
                      <a:gd name="connsiteY2" fmla="*/ 342349 h 1403586"/>
                      <a:gd name="connsiteX3" fmla="*/ 597548 w 1688223"/>
                      <a:gd name="connsiteY3" fmla="*/ 455951 h 1403586"/>
                      <a:gd name="connsiteX4" fmla="*/ 1455118 w 1688223"/>
                      <a:gd name="connsiteY4" fmla="*/ 562277 h 1403586"/>
                      <a:gd name="connsiteX5" fmla="*/ 1681611 w 1688223"/>
                      <a:gd name="connsiteY5" fmla="*/ 599211 h 1403586"/>
                      <a:gd name="connsiteX6" fmla="*/ 1580281 w 1688223"/>
                      <a:gd name="connsiteY6" fmla="*/ 950086 h 1403586"/>
                      <a:gd name="connsiteX7" fmla="*/ 1111039 w 1688223"/>
                      <a:gd name="connsiteY7" fmla="*/ 1367806 h 1403586"/>
                      <a:gd name="connsiteX8" fmla="*/ 405704 w 1688223"/>
                      <a:gd name="connsiteY8" fmla="*/ 1322225 h 1403586"/>
                      <a:gd name="connsiteX9" fmla="*/ 54830 w 1688223"/>
                      <a:gd name="connsiteY9" fmla="*/ 918188 h 1403586"/>
                      <a:gd name="connsiteX10" fmla="*/ 1667 w 1688223"/>
                      <a:gd name="connsiteY10" fmla="*/ 588578 h 1403586"/>
                      <a:gd name="connsiteX0" fmla="*/ 1667 w 1633803"/>
                      <a:gd name="connsiteY0" fmla="*/ 588578 h 1403586"/>
                      <a:gd name="connsiteX1" fmla="*/ 97360 w 1633803"/>
                      <a:gd name="connsiteY1" fmla="*/ 3788 h 1403586"/>
                      <a:gd name="connsiteX2" fmla="*/ 247591 w 1633803"/>
                      <a:gd name="connsiteY2" fmla="*/ 342349 h 1403586"/>
                      <a:gd name="connsiteX3" fmla="*/ 597548 w 1633803"/>
                      <a:gd name="connsiteY3" fmla="*/ 455951 h 1403586"/>
                      <a:gd name="connsiteX4" fmla="*/ 1455118 w 1633803"/>
                      <a:gd name="connsiteY4" fmla="*/ 562277 h 1403586"/>
                      <a:gd name="connsiteX5" fmla="*/ 1609361 w 1633803"/>
                      <a:gd name="connsiteY5" fmla="*/ 599211 h 1403586"/>
                      <a:gd name="connsiteX6" fmla="*/ 1580281 w 1633803"/>
                      <a:gd name="connsiteY6" fmla="*/ 950086 h 1403586"/>
                      <a:gd name="connsiteX7" fmla="*/ 1111039 w 1633803"/>
                      <a:gd name="connsiteY7" fmla="*/ 1367806 h 1403586"/>
                      <a:gd name="connsiteX8" fmla="*/ 405704 w 1633803"/>
                      <a:gd name="connsiteY8" fmla="*/ 1322225 h 1403586"/>
                      <a:gd name="connsiteX9" fmla="*/ 54830 w 1633803"/>
                      <a:gd name="connsiteY9" fmla="*/ 918188 h 1403586"/>
                      <a:gd name="connsiteX10" fmla="*/ 1667 w 1633803"/>
                      <a:gd name="connsiteY10" fmla="*/ 588578 h 1403586"/>
                      <a:gd name="connsiteX0" fmla="*/ 1667 w 1633803"/>
                      <a:gd name="connsiteY0" fmla="*/ 589550 h 1404558"/>
                      <a:gd name="connsiteX1" fmla="*/ 97360 w 1633803"/>
                      <a:gd name="connsiteY1" fmla="*/ 4760 h 1404558"/>
                      <a:gd name="connsiteX2" fmla="*/ 283717 w 1633803"/>
                      <a:gd name="connsiteY2" fmla="*/ 320360 h 1404558"/>
                      <a:gd name="connsiteX3" fmla="*/ 597548 w 1633803"/>
                      <a:gd name="connsiteY3" fmla="*/ 456923 h 1404558"/>
                      <a:gd name="connsiteX4" fmla="*/ 1455118 w 1633803"/>
                      <a:gd name="connsiteY4" fmla="*/ 563249 h 1404558"/>
                      <a:gd name="connsiteX5" fmla="*/ 1609361 w 1633803"/>
                      <a:gd name="connsiteY5" fmla="*/ 600183 h 1404558"/>
                      <a:gd name="connsiteX6" fmla="*/ 1580281 w 1633803"/>
                      <a:gd name="connsiteY6" fmla="*/ 951058 h 1404558"/>
                      <a:gd name="connsiteX7" fmla="*/ 1111039 w 1633803"/>
                      <a:gd name="connsiteY7" fmla="*/ 1368778 h 1404558"/>
                      <a:gd name="connsiteX8" fmla="*/ 405704 w 1633803"/>
                      <a:gd name="connsiteY8" fmla="*/ 1323197 h 1404558"/>
                      <a:gd name="connsiteX9" fmla="*/ 54830 w 1633803"/>
                      <a:gd name="connsiteY9" fmla="*/ 919160 h 1404558"/>
                      <a:gd name="connsiteX10" fmla="*/ 1667 w 1633803"/>
                      <a:gd name="connsiteY10" fmla="*/ 589550 h 1404558"/>
                      <a:gd name="connsiteX0" fmla="*/ 1667 w 1633803"/>
                      <a:gd name="connsiteY0" fmla="*/ 589578 h 1404586"/>
                      <a:gd name="connsiteX1" fmla="*/ 97360 w 1633803"/>
                      <a:gd name="connsiteY1" fmla="*/ 4788 h 1404586"/>
                      <a:gd name="connsiteX2" fmla="*/ 283717 w 1633803"/>
                      <a:gd name="connsiteY2" fmla="*/ 320388 h 1404586"/>
                      <a:gd name="connsiteX3" fmla="*/ 633675 w 1633803"/>
                      <a:gd name="connsiteY3" fmla="*/ 468431 h 1404586"/>
                      <a:gd name="connsiteX4" fmla="*/ 1455118 w 1633803"/>
                      <a:gd name="connsiteY4" fmla="*/ 563277 h 1404586"/>
                      <a:gd name="connsiteX5" fmla="*/ 1609361 w 1633803"/>
                      <a:gd name="connsiteY5" fmla="*/ 600211 h 1404586"/>
                      <a:gd name="connsiteX6" fmla="*/ 1580281 w 1633803"/>
                      <a:gd name="connsiteY6" fmla="*/ 951086 h 1404586"/>
                      <a:gd name="connsiteX7" fmla="*/ 1111039 w 1633803"/>
                      <a:gd name="connsiteY7" fmla="*/ 1368806 h 1404586"/>
                      <a:gd name="connsiteX8" fmla="*/ 405704 w 1633803"/>
                      <a:gd name="connsiteY8" fmla="*/ 1323225 h 1404586"/>
                      <a:gd name="connsiteX9" fmla="*/ 54830 w 1633803"/>
                      <a:gd name="connsiteY9" fmla="*/ 919188 h 1404586"/>
                      <a:gd name="connsiteX10" fmla="*/ 1667 w 1633803"/>
                      <a:gd name="connsiteY10" fmla="*/ 589578 h 1404586"/>
                      <a:gd name="connsiteX0" fmla="*/ 1667 w 1622357"/>
                      <a:gd name="connsiteY0" fmla="*/ 589578 h 1404586"/>
                      <a:gd name="connsiteX1" fmla="*/ 97360 w 1622357"/>
                      <a:gd name="connsiteY1" fmla="*/ 4788 h 1404586"/>
                      <a:gd name="connsiteX2" fmla="*/ 283717 w 1622357"/>
                      <a:gd name="connsiteY2" fmla="*/ 320388 h 1404586"/>
                      <a:gd name="connsiteX3" fmla="*/ 633675 w 1622357"/>
                      <a:gd name="connsiteY3" fmla="*/ 468431 h 1404586"/>
                      <a:gd name="connsiteX4" fmla="*/ 1455118 w 1622357"/>
                      <a:gd name="connsiteY4" fmla="*/ 563277 h 1404586"/>
                      <a:gd name="connsiteX5" fmla="*/ 1609361 w 1622357"/>
                      <a:gd name="connsiteY5" fmla="*/ 600211 h 1404586"/>
                      <a:gd name="connsiteX6" fmla="*/ 1580281 w 1622357"/>
                      <a:gd name="connsiteY6" fmla="*/ 951086 h 1404586"/>
                      <a:gd name="connsiteX7" fmla="*/ 1111039 w 1622357"/>
                      <a:gd name="connsiteY7" fmla="*/ 1368806 h 1404586"/>
                      <a:gd name="connsiteX8" fmla="*/ 405704 w 1622357"/>
                      <a:gd name="connsiteY8" fmla="*/ 1323225 h 1404586"/>
                      <a:gd name="connsiteX9" fmla="*/ 54830 w 1622357"/>
                      <a:gd name="connsiteY9" fmla="*/ 919188 h 1404586"/>
                      <a:gd name="connsiteX10" fmla="*/ 1667 w 1622357"/>
                      <a:gd name="connsiteY10" fmla="*/ 589578 h 1404586"/>
                      <a:gd name="connsiteX0" fmla="*/ 1667 w 1633803"/>
                      <a:gd name="connsiteY0" fmla="*/ 589578 h 1404586"/>
                      <a:gd name="connsiteX1" fmla="*/ 97360 w 1633803"/>
                      <a:gd name="connsiteY1" fmla="*/ 4788 h 1404586"/>
                      <a:gd name="connsiteX2" fmla="*/ 283717 w 1633803"/>
                      <a:gd name="connsiteY2" fmla="*/ 320388 h 1404586"/>
                      <a:gd name="connsiteX3" fmla="*/ 633675 w 1633803"/>
                      <a:gd name="connsiteY3" fmla="*/ 468431 h 1404586"/>
                      <a:gd name="connsiteX4" fmla="*/ 1455118 w 1633803"/>
                      <a:gd name="connsiteY4" fmla="*/ 563277 h 1404586"/>
                      <a:gd name="connsiteX5" fmla="*/ 1609361 w 1633803"/>
                      <a:gd name="connsiteY5" fmla="*/ 600211 h 1404586"/>
                      <a:gd name="connsiteX6" fmla="*/ 1580281 w 1633803"/>
                      <a:gd name="connsiteY6" fmla="*/ 951086 h 1404586"/>
                      <a:gd name="connsiteX7" fmla="*/ 1111039 w 1633803"/>
                      <a:gd name="connsiteY7" fmla="*/ 1368806 h 1404586"/>
                      <a:gd name="connsiteX8" fmla="*/ 405704 w 1633803"/>
                      <a:gd name="connsiteY8" fmla="*/ 1323225 h 1404586"/>
                      <a:gd name="connsiteX9" fmla="*/ 54830 w 1633803"/>
                      <a:gd name="connsiteY9" fmla="*/ 919188 h 1404586"/>
                      <a:gd name="connsiteX10" fmla="*/ 1667 w 1633803"/>
                      <a:gd name="connsiteY10" fmla="*/ 589578 h 1404586"/>
                      <a:gd name="connsiteX0" fmla="*/ 1667 w 1629523"/>
                      <a:gd name="connsiteY0" fmla="*/ 589578 h 1404586"/>
                      <a:gd name="connsiteX1" fmla="*/ 97360 w 1629523"/>
                      <a:gd name="connsiteY1" fmla="*/ 4788 h 1404586"/>
                      <a:gd name="connsiteX2" fmla="*/ 283717 w 1629523"/>
                      <a:gd name="connsiteY2" fmla="*/ 320388 h 1404586"/>
                      <a:gd name="connsiteX3" fmla="*/ 633675 w 1629523"/>
                      <a:gd name="connsiteY3" fmla="*/ 468431 h 1404586"/>
                      <a:gd name="connsiteX4" fmla="*/ 1455118 w 1629523"/>
                      <a:gd name="connsiteY4" fmla="*/ 563277 h 1404586"/>
                      <a:gd name="connsiteX5" fmla="*/ 1609361 w 1629523"/>
                      <a:gd name="connsiteY5" fmla="*/ 600211 h 1404586"/>
                      <a:gd name="connsiteX6" fmla="*/ 1580281 w 1629523"/>
                      <a:gd name="connsiteY6" fmla="*/ 951086 h 1404586"/>
                      <a:gd name="connsiteX7" fmla="*/ 1111039 w 1629523"/>
                      <a:gd name="connsiteY7" fmla="*/ 1368806 h 1404586"/>
                      <a:gd name="connsiteX8" fmla="*/ 405704 w 1629523"/>
                      <a:gd name="connsiteY8" fmla="*/ 1323225 h 1404586"/>
                      <a:gd name="connsiteX9" fmla="*/ 54830 w 1629523"/>
                      <a:gd name="connsiteY9" fmla="*/ 919188 h 1404586"/>
                      <a:gd name="connsiteX10" fmla="*/ 1667 w 1629523"/>
                      <a:gd name="connsiteY10" fmla="*/ 589578 h 1404586"/>
                      <a:gd name="connsiteX0" fmla="*/ 1667 w 1633803"/>
                      <a:gd name="connsiteY0" fmla="*/ 589578 h 1404586"/>
                      <a:gd name="connsiteX1" fmla="*/ 97360 w 1633803"/>
                      <a:gd name="connsiteY1" fmla="*/ 4788 h 1404586"/>
                      <a:gd name="connsiteX2" fmla="*/ 283717 w 1633803"/>
                      <a:gd name="connsiteY2" fmla="*/ 320388 h 1404586"/>
                      <a:gd name="connsiteX3" fmla="*/ 633675 w 1633803"/>
                      <a:gd name="connsiteY3" fmla="*/ 468431 h 1404586"/>
                      <a:gd name="connsiteX4" fmla="*/ 1455118 w 1633803"/>
                      <a:gd name="connsiteY4" fmla="*/ 563277 h 1404586"/>
                      <a:gd name="connsiteX5" fmla="*/ 1609361 w 1633803"/>
                      <a:gd name="connsiteY5" fmla="*/ 600211 h 1404586"/>
                      <a:gd name="connsiteX6" fmla="*/ 1580281 w 1633803"/>
                      <a:gd name="connsiteY6" fmla="*/ 951086 h 1404586"/>
                      <a:gd name="connsiteX7" fmla="*/ 1111039 w 1633803"/>
                      <a:gd name="connsiteY7" fmla="*/ 1368806 h 1404586"/>
                      <a:gd name="connsiteX8" fmla="*/ 405704 w 1633803"/>
                      <a:gd name="connsiteY8" fmla="*/ 1323225 h 1404586"/>
                      <a:gd name="connsiteX9" fmla="*/ 54830 w 1633803"/>
                      <a:gd name="connsiteY9" fmla="*/ 919188 h 1404586"/>
                      <a:gd name="connsiteX10" fmla="*/ 1667 w 1633803"/>
                      <a:gd name="connsiteY10" fmla="*/ 589578 h 1404586"/>
                      <a:gd name="connsiteX0" fmla="*/ 1667 w 1621701"/>
                      <a:gd name="connsiteY0" fmla="*/ 589578 h 1404586"/>
                      <a:gd name="connsiteX1" fmla="*/ 97360 w 1621701"/>
                      <a:gd name="connsiteY1" fmla="*/ 4788 h 1404586"/>
                      <a:gd name="connsiteX2" fmla="*/ 283717 w 1621701"/>
                      <a:gd name="connsiteY2" fmla="*/ 320388 h 1404586"/>
                      <a:gd name="connsiteX3" fmla="*/ 633675 w 1621701"/>
                      <a:gd name="connsiteY3" fmla="*/ 468431 h 1404586"/>
                      <a:gd name="connsiteX4" fmla="*/ 1455118 w 1621701"/>
                      <a:gd name="connsiteY4" fmla="*/ 563277 h 1404586"/>
                      <a:gd name="connsiteX5" fmla="*/ 1609361 w 1621701"/>
                      <a:gd name="connsiteY5" fmla="*/ 600211 h 1404586"/>
                      <a:gd name="connsiteX6" fmla="*/ 1580281 w 1621701"/>
                      <a:gd name="connsiteY6" fmla="*/ 951086 h 1404586"/>
                      <a:gd name="connsiteX7" fmla="*/ 1111039 w 1621701"/>
                      <a:gd name="connsiteY7" fmla="*/ 1368806 h 1404586"/>
                      <a:gd name="connsiteX8" fmla="*/ 405704 w 1621701"/>
                      <a:gd name="connsiteY8" fmla="*/ 1323225 h 1404586"/>
                      <a:gd name="connsiteX9" fmla="*/ 54830 w 1621701"/>
                      <a:gd name="connsiteY9" fmla="*/ 919188 h 1404586"/>
                      <a:gd name="connsiteX10" fmla="*/ 1667 w 1621701"/>
                      <a:gd name="connsiteY10" fmla="*/ 589578 h 1404586"/>
                      <a:gd name="connsiteX0" fmla="*/ 1667 w 1682402"/>
                      <a:gd name="connsiteY0" fmla="*/ 589578 h 1404586"/>
                      <a:gd name="connsiteX1" fmla="*/ 97360 w 1682402"/>
                      <a:gd name="connsiteY1" fmla="*/ 4788 h 1404586"/>
                      <a:gd name="connsiteX2" fmla="*/ 283717 w 1682402"/>
                      <a:gd name="connsiteY2" fmla="*/ 320388 h 1404586"/>
                      <a:gd name="connsiteX3" fmla="*/ 633675 w 1682402"/>
                      <a:gd name="connsiteY3" fmla="*/ 468431 h 1404586"/>
                      <a:gd name="connsiteX4" fmla="*/ 1609361 w 1682402"/>
                      <a:gd name="connsiteY4" fmla="*/ 600211 h 1404586"/>
                      <a:gd name="connsiteX5" fmla="*/ 1580281 w 1682402"/>
                      <a:gd name="connsiteY5" fmla="*/ 951086 h 1404586"/>
                      <a:gd name="connsiteX6" fmla="*/ 1111039 w 1682402"/>
                      <a:gd name="connsiteY6" fmla="*/ 1368806 h 1404586"/>
                      <a:gd name="connsiteX7" fmla="*/ 405704 w 1682402"/>
                      <a:gd name="connsiteY7" fmla="*/ 1323225 h 1404586"/>
                      <a:gd name="connsiteX8" fmla="*/ 54830 w 1682402"/>
                      <a:gd name="connsiteY8" fmla="*/ 919188 h 1404586"/>
                      <a:gd name="connsiteX9" fmla="*/ 1667 w 1682402"/>
                      <a:gd name="connsiteY9" fmla="*/ 589578 h 1404586"/>
                      <a:gd name="connsiteX0" fmla="*/ 1667 w 1687751"/>
                      <a:gd name="connsiteY0" fmla="*/ 589578 h 1404586"/>
                      <a:gd name="connsiteX1" fmla="*/ 97360 w 1687751"/>
                      <a:gd name="connsiteY1" fmla="*/ 4788 h 1404586"/>
                      <a:gd name="connsiteX2" fmla="*/ 283717 w 1687751"/>
                      <a:gd name="connsiteY2" fmla="*/ 320388 h 1404586"/>
                      <a:gd name="connsiteX3" fmla="*/ 633675 w 1687751"/>
                      <a:gd name="connsiteY3" fmla="*/ 468431 h 1404586"/>
                      <a:gd name="connsiteX4" fmla="*/ 1609361 w 1687751"/>
                      <a:gd name="connsiteY4" fmla="*/ 600211 h 1404586"/>
                      <a:gd name="connsiteX5" fmla="*/ 1580281 w 1687751"/>
                      <a:gd name="connsiteY5" fmla="*/ 951086 h 1404586"/>
                      <a:gd name="connsiteX6" fmla="*/ 1111039 w 1687751"/>
                      <a:gd name="connsiteY6" fmla="*/ 1368806 h 1404586"/>
                      <a:gd name="connsiteX7" fmla="*/ 405704 w 1687751"/>
                      <a:gd name="connsiteY7" fmla="*/ 1323225 h 1404586"/>
                      <a:gd name="connsiteX8" fmla="*/ 54830 w 1687751"/>
                      <a:gd name="connsiteY8" fmla="*/ 919188 h 1404586"/>
                      <a:gd name="connsiteX9" fmla="*/ 1667 w 1687751"/>
                      <a:gd name="connsiteY9" fmla="*/ 589578 h 1404586"/>
                      <a:gd name="connsiteX0" fmla="*/ 1667 w 1687752"/>
                      <a:gd name="connsiteY0" fmla="*/ 589578 h 1404586"/>
                      <a:gd name="connsiteX1" fmla="*/ 97360 w 1687752"/>
                      <a:gd name="connsiteY1" fmla="*/ 4788 h 1404586"/>
                      <a:gd name="connsiteX2" fmla="*/ 283717 w 1687752"/>
                      <a:gd name="connsiteY2" fmla="*/ 320388 h 1404586"/>
                      <a:gd name="connsiteX3" fmla="*/ 633675 w 1687752"/>
                      <a:gd name="connsiteY3" fmla="*/ 468431 h 1404586"/>
                      <a:gd name="connsiteX4" fmla="*/ 1609361 w 1687752"/>
                      <a:gd name="connsiteY4" fmla="*/ 600211 h 1404586"/>
                      <a:gd name="connsiteX5" fmla="*/ 1580281 w 1687752"/>
                      <a:gd name="connsiteY5" fmla="*/ 951086 h 1404586"/>
                      <a:gd name="connsiteX6" fmla="*/ 1111039 w 1687752"/>
                      <a:gd name="connsiteY6" fmla="*/ 1368806 h 1404586"/>
                      <a:gd name="connsiteX7" fmla="*/ 405704 w 1687752"/>
                      <a:gd name="connsiteY7" fmla="*/ 1323225 h 1404586"/>
                      <a:gd name="connsiteX8" fmla="*/ 54830 w 1687752"/>
                      <a:gd name="connsiteY8" fmla="*/ 919188 h 1404586"/>
                      <a:gd name="connsiteX9" fmla="*/ 1667 w 1687752"/>
                      <a:gd name="connsiteY9" fmla="*/ 589578 h 1404586"/>
                      <a:gd name="connsiteX0" fmla="*/ 1667 w 1609361"/>
                      <a:gd name="connsiteY0" fmla="*/ 589578 h 1404586"/>
                      <a:gd name="connsiteX1" fmla="*/ 97360 w 1609361"/>
                      <a:gd name="connsiteY1" fmla="*/ 4788 h 1404586"/>
                      <a:gd name="connsiteX2" fmla="*/ 283717 w 1609361"/>
                      <a:gd name="connsiteY2" fmla="*/ 320388 h 1404586"/>
                      <a:gd name="connsiteX3" fmla="*/ 633675 w 1609361"/>
                      <a:gd name="connsiteY3" fmla="*/ 468431 h 1404586"/>
                      <a:gd name="connsiteX4" fmla="*/ 1609361 w 1609361"/>
                      <a:gd name="connsiteY4" fmla="*/ 600211 h 1404586"/>
                      <a:gd name="connsiteX5" fmla="*/ 1580281 w 1609361"/>
                      <a:gd name="connsiteY5" fmla="*/ 951086 h 1404586"/>
                      <a:gd name="connsiteX6" fmla="*/ 1111039 w 1609361"/>
                      <a:gd name="connsiteY6" fmla="*/ 1368806 h 1404586"/>
                      <a:gd name="connsiteX7" fmla="*/ 405704 w 1609361"/>
                      <a:gd name="connsiteY7" fmla="*/ 1323225 h 1404586"/>
                      <a:gd name="connsiteX8" fmla="*/ 54830 w 1609361"/>
                      <a:gd name="connsiteY8" fmla="*/ 919188 h 1404586"/>
                      <a:gd name="connsiteX9" fmla="*/ 1667 w 1609361"/>
                      <a:gd name="connsiteY9" fmla="*/ 589578 h 1404586"/>
                      <a:gd name="connsiteX0" fmla="*/ 1667 w 1609361"/>
                      <a:gd name="connsiteY0" fmla="*/ 589578 h 1399603"/>
                      <a:gd name="connsiteX1" fmla="*/ 97360 w 1609361"/>
                      <a:gd name="connsiteY1" fmla="*/ 4788 h 1399603"/>
                      <a:gd name="connsiteX2" fmla="*/ 283717 w 1609361"/>
                      <a:gd name="connsiteY2" fmla="*/ 320388 h 1399603"/>
                      <a:gd name="connsiteX3" fmla="*/ 633675 w 1609361"/>
                      <a:gd name="connsiteY3" fmla="*/ 468431 h 1399603"/>
                      <a:gd name="connsiteX4" fmla="*/ 1609361 w 1609361"/>
                      <a:gd name="connsiteY4" fmla="*/ 600211 h 1399603"/>
                      <a:gd name="connsiteX5" fmla="*/ 1544156 w 1609361"/>
                      <a:gd name="connsiteY5" fmla="*/ 1019972 h 1399603"/>
                      <a:gd name="connsiteX6" fmla="*/ 1111039 w 1609361"/>
                      <a:gd name="connsiteY6" fmla="*/ 1368806 h 1399603"/>
                      <a:gd name="connsiteX7" fmla="*/ 405704 w 1609361"/>
                      <a:gd name="connsiteY7" fmla="*/ 1323225 h 1399603"/>
                      <a:gd name="connsiteX8" fmla="*/ 54830 w 1609361"/>
                      <a:gd name="connsiteY8" fmla="*/ 919188 h 1399603"/>
                      <a:gd name="connsiteX9" fmla="*/ 1667 w 1609361"/>
                      <a:gd name="connsiteY9" fmla="*/ 589578 h 1399603"/>
                      <a:gd name="connsiteX0" fmla="*/ 1667 w 1613037"/>
                      <a:gd name="connsiteY0" fmla="*/ 589578 h 1399603"/>
                      <a:gd name="connsiteX1" fmla="*/ 97360 w 1613037"/>
                      <a:gd name="connsiteY1" fmla="*/ 4788 h 1399603"/>
                      <a:gd name="connsiteX2" fmla="*/ 283717 w 1613037"/>
                      <a:gd name="connsiteY2" fmla="*/ 320388 h 1399603"/>
                      <a:gd name="connsiteX3" fmla="*/ 633675 w 1613037"/>
                      <a:gd name="connsiteY3" fmla="*/ 468431 h 1399603"/>
                      <a:gd name="connsiteX4" fmla="*/ 1609361 w 1613037"/>
                      <a:gd name="connsiteY4" fmla="*/ 600211 h 1399603"/>
                      <a:gd name="connsiteX5" fmla="*/ 1544156 w 1613037"/>
                      <a:gd name="connsiteY5" fmla="*/ 1019972 h 1399603"/>
                      <a:gd name="connsiteX6" fmla="*/ 1111039 w 1613037"/>
                      <a:gd name="connsiteY6" fmla="*/ 1368806 h 1399603"/>
                      <a:gd name="connsiteX7" fmla="*/ 405704 w 1613037"/>
                      <a:gd name="connsiteY7" fmla="*/ 1323225 h 1399603"/>
                      <a:gd name="connsiteX8" fmla="*/ 54830 w 1613037"/>
                      <a:gd name="connsiteY8" fmla="*/ 919188 h 1399603"/>
                      <a:gd name="connsiteX9" fmla="*/ 1667 w 1613037"/>
                      <a:gd name="connsiteY9" fmla="*/ 589578 h 1399603"/>
                      <a:gd name="connsiteX0" fmla="*/ 1667 w 1609361"/>
                      <a:gd name="connsiteY0" fmla="*/ 589578 h 1397126"/>
                      <a:gd name="connsiteX1" fmla="*/ 97360 w 1609361"/>
                      <a:gd name="connsiteY1" fmla="*/ 4788 h 1397126"/>
                      <a:gd name="connsiteX2" fmla="*/ 283717 w 1609361"/>
                      <a:gd name="connsiteY2" fmla="*/ 320388 h 1397126"/>
                      <a:gd name="connsiteX3" fmla="*/ 633675 w 1609361"/>
                      <a:gd name="connsiteY3" fmla="*/ 468431 h 1397126"/>
                      <a:gd name="connsiteX4" fmla="*/ 1609361 w 1609361"/>
                      <a:gd name="connsiteY4" fmla="*/ 600211 h 1397126"/>
                      <a:gd name="connsiteX5" fmla="*/ 1532115 w 1609361"/>
                      <a:gd name="connsiteY5" fmla="*/ 1054415 h 1397126"/>
                      <a:gd name="connsiteX6" fmla="*/ 1111039 w 1609361"/>
                      <a:gd name="connsiteY6" fmla="*/ 1368806 h 1397126"/>
                      <a:gd name="connsiteX7" fmla="*/ 405704 w 1609361"/>
                      <a:gd name="connsiteY7" fmla="*/ 1323225 h 1397126"/>
                      <a:gd name="connsiteX8" fmla="*/ 54830 w 1609361"/>
                      <a:gd name="connsiteY8" fmla="*/ 919188 h 1397126"/>
                      <a:gd name="connsiteX9" fmla="*/ 1667 w 1609361"/>
                      <a:gd name="connsiteY9" fmla="*/ 589578 h 1397126"/>
                      <a:gd name="connsiteX0" fmla="*/ 1667 w 1609361"/>
                      <a:gd name="connsiteY0" fmla="*/ 589578 h 1397126"/>
                      <a:gd name="connsiteX1" fmla="*/ 97360 w 1609361"/>
                      <a:gd name="connsiteY1" fmla="*/ 4788 h 1397126"/>
                      <a:gd name="connsiteX2" fmla="*/ 283717 w 1609361"/>
                      <a:gd name="connsiteY2" fmla="*/ 320388 h 1397126"/>
                      <a:gd name="connsiteX3" fmla="*/ 633675 w 1609361"/>
                      <a:gd name="connsiteY3" fmla="*/ 468431 h 1397126"/>
                      <a:gd name="connsiteX4" fmla="*/ 1609361 w 1609361"/>
                      <a:gd name="connsiteY4" fmla="*/ 600211 h 1397126"/>
                      <a:gd name="connsiteX5" fmla="*/ 1532115 w 1609361"/>
                      <a:gd name="connsiteY5" fmla="*/ 1054415 h 1397126"/>
                      <a:gd name="connsiteX6" fmla="*/ 1111039 w 1609361"/>
                      <a:gd name="connsiteY6" fmla="*/ 1368806 h 1397126"/>
                      <a:gd name="connsiteX7" fmla="*/ 405704 w 1609361"/>
                      <a:gd name="connsiteY7" fmla="*/ 1323225 h 1397126"/>
                      <a:gd name="connsiteX8" fmla="*/ 54830 w 1609361"/>
                      <a:gd name="connsiteY8" fmla="*/ 919188 h 1397126"/>
                      <a:gd name="connsiteX9" fmla="*/ 1667 w 1609361"/>
                      <a:gd name="connsiteY9" fmla="*/ 589578 h 13971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09361" h="1397126">
                        <a:moveTo>
                          <a:pt x="1667" y="589578"/>
                        </a:moveTo>
                        <a:cubicBezTo>
                          <a:pt x="8755" y="437178"/>
                          <a:pt x="50352" y="49653"/>
                          <a:pt x="97360" y="4788"/>
                        </a:cubicBezTo>
                        <a:cubicBezTo>
                          <a:pt x="144368" y="-40077"/>
                          <a:pt x="194331" y="243114"/>
                          <a:pt x="283717" y="320388"/>
                        </a:cubicBezTo>
                        <a:cubicBezTo>
                          <a:pt x="373103" y="397662"/>
                          <a:pt x="412734" y="421794"/>
                          <a:pt x="633675" y="468431"/>
                        </a:cubicBezTo>
                        <a:cubicBezTo>
                          <a:pt x="854616" y="515068"/>
                          <a:pt x="1439550" y="565692"/>
                          <a:pt x="1609361" y="600211"/>
                        </a:cubicBezTo>
                        <a:cubicBezTo>
                          <a:pt x="1598543" y="806944"/>
                          <a:pt x="1615167" y="926315"/>
                          <a:pt x="1532115" y="1054415"/>
                        </a:cubicBezTo>
                        <a:cubicBezTo>
                          <a:pt x="1449063" y="1182515"/>
                          <a:pt x="1298774" y="1324004"/>
                          <a:pt x="1111039" y="1368806"/>
                        </a:cubicBezTo>
                        <a:cubicBezTo>
                          <a:pt x="923304" y="1413608"/>
                          <a:pt x="597090" y="1410057"/>
                          <a:pt x="405704" y="1323225"/>
                        </a:cubicBezTo>
                        <a:cubicBezTo>
                          <a:pt x="214318" y="1236393"/>
                          <a:pt x="99988" y="1066086"/>
                          <a:pt x="54830" y="919188"/>
                        </a:cubicBezTo>
                        <a:cubicBezTo>
                          <a:pt x="9672" y="772290"/>
                          <a:pt x="-5421" y="741978"/>
                          <a:pt x="1667" y="589578"/>
                        </a:cubicBezTo>
                        <a:close/>
                      </a:path>
                    </a:pathLst>
                  </a:cu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0" name="TextBox 59">
                  <a:extLst>
                    <a:ext uri="{FF2B5EF4-FFF2-40B4-BE49-F238E27FC236}">
                      <a16:creationId xmlns:a16="http://schemas.microsoft.com/office/drawing/2014/main" id="{D879A50C-3661-8990-1C85-A32C9B4BEC35}"/>
                    </a:ext>
                  </a:extLst>
                </p:cNvPr>
                <p:cNvSpPr txBox="1"/>
                <p:nvPr/>
              </p:nvSpPr>
              <p:spPr>
                <a:xfrm>
                  <a:off x="7016783" y="4398081"/>
                  <a:ext cx="650823" cy="307777"/>
                </a:xfrm>
                <a:prstGeom prst="rect">
                  <a:avLst/>
                </a:prstGeom>
                <a:noFill/>
              </p:spPr>
              <p:txBody>
                <a:bodyPr wrap="square" rtlCol="0">
                  <a:spAutoFit/>
                </a:bodyPr>
                <a:lstStyle/>
                <a:p>
                  <a:r>
                    <a:rPr lang="en-US" sz="1400" dirty="0"/>
                    <a:t>Flow </a:t>
                  </a:r>
                </a:p>
              </p:txBody>
            </p:sp>
          </p:grpSp>
          <p:sp>
            <p:nvSpPr>
              <p:cNvPr id="62" name="TextBox 61">
                <a:extLst>
                  <a:ext uri="{FF2B5EF4-FFF2-40B4-BE49-F238E27FC236}">
                    <a16:creationId xmlns:a16="http://schemas.microsoft.com/office/drawing/2014/main" id="{A185648F-81B2-3A29-5081-6030DA053F91}"/>
                  </a:ext>
                </a:extLst>
              </p:cNvPr>
              <p:cNvSpPr txBox="1"/>
              <p:nvPr/>
            </p:nvSpPr>
            <p:spPr>
              <a:xfrm>
                <a:off x="7640303" y="5425194"/>
                <a:ext cx="942762" cy="307777"/>
              </a:xfrm>
              <a:prstGeom prst="rect">
                <a:avLst/>
              </a:prstGeom>
              <a:noFill/>
            </p:spPr>
            <p:txBody>
              <a:bodyPr wrap="square" rtlCol="0">
                <a:spAutoFit/>
              </a:bodyPr>
              <a:lstStyle/>
              <a:p>
                <a:pPr algn="ctr"/>
                <a:r>
                  <a:rPr lang="en-US" sz="1400" dirty="0"/>
                  <a:t>Volume </a:t>
                </a:r>
              </a:p>
            </p:txBody>
          </p:sp>
        </p:grpSp>
        <p:grpSp>
          <p:nvGrpSpPr>
            <p:cNvPr id="27" name="Group 26">
              <a:extLst>
                <a:ext uri="{FF2B5EF4-FFF2-40B4-BE49-F238E27FC236}">
                  <a16:creationId xmlns:a16="http://schemas.microsoft.com/office/drawing/2014/main" id="{04E1A63D-9A96-C967-9726-922E742A4A51}"/>
                </a:ext>
              </a:extLst>
            </p:cNvPr>
            <p:cNvGrpSpPr/>
            <p:nvPr/>
          </p:nvGrpSpPr>
          <p:grpSpPr>
            <a:xfrm>
              <a:off x="6974339" y="4775087"/>
              <a:ext cx="1471893" cy="695234"/>
              <a:chOff x="6974339" y="4775087"/>
              <a:chExt cx="1471893" cy="695234"/>
            </a:xfrm>
          </p:grpSpPr>
          <p:sp>
            <p:nvSpPr>
              <p:cNvPr id="19" name="TextBox 18">
                <a:extLst>
                  <a:ext uri="{FF2B5EF4-FFF2-40B4-BE49-F238E27FC236}">
                    <a16:creationId xmlns:a16="http://schemas.microsoft.com/office/drawing/2014/main" id="{99225EE6-A5B4-6AB5-E068-B2483BF8B671}"/>
                  </a:ext>
                </a:extLst>
              </p:cNvPr>
              <p:cNvSpPr txBox="1"/>
              <p:nvPr/>
            </p:nvSpPr>
            <p:spPr>
              <a:xfrm>
                <a:off x="6974339" y="4775087"/>
                <a:ext cx="1471893" cy="523220"/>
              </a:xfrm>
              <a:prstGeom prst="rect">
                <a:avLst/>
              </a:prstGeom>
              <a:noFill/>
            </p:spPr>
            <p:txBody>
              <a:bodyPr wrap="square" rtlCol="0">
                <a:spAutoFit/>
              </a:bodyPr>
              <a:lstStyle/>
              <a:p>
                <a:pPr algn="ctr"/>
                <a:r>
                  <a:rPr lang="en-US" sz="1400" dirty="0"/>
                  <a:t>Scooped out appearance</a:t>
                </a:r>
              </a:p>
            </p:txBody>
          </p:sp>
          <p:cxnSp>
            <p:nvCxnSpPr>
              <p:cNvPr id="26" name="Straight Arrow Connector 25">
                <a:extLst>
                  <a:ext uri="{FF2B5EF4-FFF2-40B4-BE49-F238E27FC236}">
                    <a16:creationId xmlns:a16="http://schemas.microsoft.com/office/drawing/2014/main" id="{630276FA-3B54-5D76-901A-A0A90A2B9B5F}"/>
                  </a:ext>
                </a:extLst>
              </p:cNvPr>
              <p:cNvCxnSpPr/>
              <p:nvPr/>
            </p:nvCxnSpPr>
            <p:spPr>
              <a:xfrm flipH="1">
                <a:off x="7385492" y="5319445"/>
                <a:ext cx="166490" cy="150876"/>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sp>
        <p:nvSpPr>
          <p:cNvPr id="18" name="Flow volume loop">
            <a:extLst>
              <a:ext uri="{FF2B5EF4-FFF2-40B4-BE49-F238E27FC236}">
                <a16:creationId xmlns:a16="http://schemas.microsoft.com/office/drawing/2014/main" id="{655B50AE-6EE6-F6C4-3957-E4D2F9576D3B}"/>
              </a:ext>
            </a:extLst>
          </p:cNvPr>
          <p:cNvSpPr/>
          <p:nvPr/>
        </p:nvSpPr>
        <p:spPr>
          <a:xfrm>
            <a:off x="6803483" y="5070093"/>
            <a:ext cx="1471892" cy="641925"/>
          </a:xfrm>
          <a:prstGeom prst="roundRect">
            <a:avLst/>
          </a:prstGeom>
          <a:solidFill>
            <a:schemeClr val="bg1"/>
          </a:solidFill>
          <a:ln w="38100">
            <a:solidFill>
              <a:schemeClr val="accent6"/>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Flow-volume loop?</a:t>
            </a:r>
          </a:p>
        </p:txBody>
      </p:sp>
      <p:pic>
        <p:nvPicPr>
          <p:cNvPr id="32" name="Graphic 31" descr="Cursor with solid fill">
            <a:extLst>
              <a:ext uri="{FF2B5EF4-FFF2-40B4-BE49-F238E27FC236}">
                <a16:creationId xmlns:a16="http://schemas.microsoft.com/office/drawing/2014/main" id="{54E069DD-F3DB-395B-011D-51428468C2F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116968" y="5568098"/>
            <a:ext cx="274320" cy="274320"/>
          </a:xfrm>
          <a:prstGeom prst="rect">
            <a:avLst/>
          </a:prstGeom>
        </p:spPr>
      </p:pic>
      <p:sp>
        <p:nvSpPr>
          <p:cNvPr id="38" name="Other PFT">
            <a:extLst>
              <a:ext uri="{FF2B5EF4-FFF2-40B4-BE49-F238E27FC236}">
                <a16:creationId xmlns:a16="http://schemas.microsoft.com/office/drawing/2014/main" id="{9B52A23D-D54B-E34B-987F-B20FCD008A39}"/>
              </a:ext>
            </a:extLst>
          </p:cNvPr>
          <p:cNvSpPr/>
          <p:nvPr/>
        </p:nvSpPr>
        <p:spPr>
          <a:xfrm>
            <a:off x="3849045" y="5847530"/>
            <a:ext cx="2337324" cy="390704"/>
          </a:xfrm>
          <a:prstGeom prst="roundRect">
            <a:avLst/>
          </a:prstGeom>
          <a:solidFill>
            <a:schemeClr val="bg1"/>
          </a:solidFill>
          <a:ln w="38100">
            <a:solidFill>
              <a:schemeClr val="accent6"/>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Other PFT findings?</a:t>
            </a:r>
          </a:p>
        </p:txBody>
      </p:sp>
      <p:pic>
        <p:nvPicPr>
          <p:cNvPr id="39" name="Graphic 38" descr="Cursor with solid fill">
            <a:extLst>
              <a:ext uri="{FF2B5EF4-FFF2-40B4-BE49-F238E27FC236}">
                <a16:creationId xmlns:a16="http://schemas.microsoft.com/office/drawing/2014/main" id="{F32CFC20-97DF-1EFA-1EB6-B94368442AD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055131" y="6119371"/>
            <a:ext cx="274320" cy="274320"/>
          </a:xfrm>
          <a:prstGeom prst="rect">
            <a:avLst/>
          </a:prstGeom>
        </p:spPr>
      </p:pic>
      <p:sp>
        <p:nvSpPr>
          <p:cNvPr id="73" name="TextBox 72">
            <a:extLst>
              <a:ext uri="{FF2B5EF4-FFF2-40B4-BE49-F238E27FC236}">
                <a16:creationId xmlns:a16="http://schemas.microsoft.com/office/drawing/2014/main" id="{8B08E95C-DC70-32D5-EF89-B98F782C906E}"/>
              </a:ext>
            </a:extLst>
          </p:cNvPr>
          <p:cNvSpPr txBox="1"/>
          <p:nvPr/>
        </p:nvSpPr>
        <p:spPr>
          <a:xfrm>
            <a:off x="8554918" y="3208422"/>
            <a:ext cx="3484682" cy="1200329"/>
          </a:xfrm>
          <a:prstGeom prst="rect">
            <a:avLst/>
          </a:prstGeom>
          <a:noFill/>
        </p:spPr>
        <p:txBody>
          <a:bodyPr wrap="square" rtlCol="0">
            <a:spAutoFit/>
          </a:bodyPr>
          <a:lstStyle/>
          <a:p>
            <a:pPr marL="117475" indent="-117475" algn="ctr"/>
            <a:r>
              <a:rPr lang="en-US" dirty="0"/>
              <a:t>CXR </a:t>
            </a:r>
          </a:p>
          <a:p>
            <a:pPr marL="117475" indent="-117475" algn="ctr"/>
            <a:r>
              <a:rPr lang="en-US" dirty="0"/>
              <a:t>ABG (if SpO</a:t>
            </a:r>
            <a:r>
              <a:rPr lang="en-US" baseline="-25000" dirty="0"/>
              <a:t>2</a:t>
            </a:r>
            <a:r>
              <a:rPr lang="en-US" dirty="0"/>
              <a:t> &lt;92%)</a:t>
            </a:r>
          </a:p>
          <a:p>
            <a:pPr marL="117475" indent="-117475" algn="ctr"/>
            <a:r>
              <a:rPr lang="en-US" dirty="0"/>
              <a:t>CT chest (FEV1 &lt;45%, severe symptoms, lung cancer screen)</a:t>
            </a:r>
          </a:p>
        </p:txBody>
      </p:sp>
      <p:sp>
        <p:nvSpPr>
          <p:cNvPr id="75" name="TextBox 74">
            <a:extLst>
              <a:ext uri="{FF2B5EF4-FFF2-40B4-BE49-F238E27FC236}">
                <a16:creationId xmlns:a16="http://schemas.microsoft.com/office/drawing/2014/main" id="{61FB375A-81F5-2C52-1E32-664025790346}"/>
              </a:ext>
            </a:extLst>
          </p:cNvPr>
          <p:cNvSpPr txBox="1"/>
          <p:nvPr/>
        </p:nvSpPr>
        <p:spPr>
          <a:xfrm>
            <a:off x="9152477" y="6269322"/>
            <a:ext cx="2170477" cy="338554"/>
          </a:xfrm>
          <a:prstGeom prst="rect">
            <a:avLst/>
          </a:prstGeom>
          <a:noFill/>
        </p:spPr>
        <p:txBody>
          <a:bodyPr wrap="square">
            <a:spAutoFit/>
          </a:bodyPr>
          <a:lstStyle/>
          <a:p>
            <a:pPr algn="ctr"/>
            <a:r>
              <a:rPr lang="en-US" sz="1600" b="0" dirty="0"/>
              <a:t>±↑TLC, ↑RV, ↓DLCO</a:t>
            </a:r>
          </a:p>
        </p:txBody>
      </p:sp>
      <p:cxnSp>
        <p:nvCxnSpPr>
          <p:cNvPr id="77" name="Straight Connector 76">
            <a:extLst>
              <a:ext uri="{FF2B5EF4-FFF2-40B4-BE49-F238E27FC236}">
                <a16:creationId xmlns:a16="http://schemas.microsoft.com/office/drawing/2014/main" id="{66D556D5-0E03-9397-3C7B-5406EA8C5441}"/>
              </a:ext>
            </a:extLst>
          </p:cNvPr>
          <p:cNvCxnSpPr>
            <a:cxnSpLocks/>
          </p:cNvCxnSpPr>
          <p:nvPr/>
        </p:nvCxnSpPr>
        <p:spPr>
          <a:xfrm>
            <a:off x="2068137" y="3161828"/>
            <a:ext cx="9603163" cy="0"/>
          </a:xfrm>
          <a:prstGeom prst="line">
            <a:avLst/>
          </a:prstGeom>
        </p:spPr>
        <p:style>
          <a:lnRef idx="3">
            <a:schemeClr val="dk1"/>
          </a:lnRef>
          <a:fillRef idx="0">
            <a:schemeClr val="dk1"/>
          </a:fillRef>
          <a:effectRef idx="2">
            <a:schemeClr val="dk1"/>
          </a:effectRef>
          <a:fontRef idx="minor">
            <a:schemeClr val="tx1"/>
          </a:fontRef>
        </p:style>
      </p:cxnSp>
      <p:cxnSp>
        <p:nvCxnSpPr>
          <p:cNvPr id="79" name="Straight Connector 78">
            <a:extLst>
              <a:ext uri="{FF2B5EF4-FFF2-40B4-BE49-F238E27FC236}">
                <a16:creationId xmlns:a16="http://schemas.microsoft.com/office/drawing/2014/main" id="{E5B237F8-83CC-7C22-9281-4466C4E66295}"/>
              </a:ext>
            </a:extLst>
          </p:cNvPr>
          <p:cNvCxnSpPr>
            <a:cxnSpLocks/>
          </p:cNvCxnSpPr>
          <p:nvPr/>
        </p:nvCxnSpPr>
        <p:spPr>
          <a:xfrm>
            <a:off x="2068137" y="4467234"/>
            <a:ext cx="9603163" cy="0"/>
          </a:xfrm>
          <a:prstGeom prst="line">
            <a:avLst/>
          </a:prstGeom>
        </p:spPr>
        <p:style>
          <a:lnRef idx="3">
            <a:schemeClr val="dk1"/>
          </a:lnRef>
          <a:fillRef idx="0">
            <a:schemeClr val="dk1"/>
          </a:fillRef>
          <a:effectRef idx="2">
            <a:schemeClr val="dk1"/>
          </a:effectRef>
          <a:fontRef idx="minor">
            <a:schemeClr val="tx1"/>
          </a:fontRef>
        </p:style>
      </p:cxnSp>
      <p:pic>
        <p:nvPicPr>
          <p:cNvPr id="17" name="Graphic 16" descr="Cursor with solid fill">
            <a:extLst>
              <a:ext uri="{FF2B5EF4-FFF2-40B4-BE49-F238E27FC236}">
                <a16:creationId xmlns:a16="http://schemas.microsoft.com/office/drawing/2014/main" id="{22AB03B1-602B-3EBA-4D1C-AFDE7708347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701287" y="1007490"/>
            <a:ext cx="274320" cy="274320"/>
          </a:xfrm>
          <a:prstGeom prst="rect">
            <a:avLst/>
          </a:prstGeom>
        </p:spPr>
      </p:pic>
      <p:sp>
        <p:nvSpPr>
          <p:cNvPr id="3" name="Question 2">
            <a:hlinkClick r:id="rId7" action="ppaction://hlinksldjump"/>
            <a:extLst>
              <a:ext uri="{FF2B5EF4-FFF2-40B4-BE49-F238E27FC236}">
                <a16:creationId xmlns:a16="http://schemas.microsoft.com/office/drawing/2014/main" id="{9459DBA3-EC63-E80B-A4D6-595CDAC34207}"/>
              </a:ext>
            </a:extLst>
          </p:cNvPr>
          <p:cNvSpPr txBox="1"/>
          <p:nvPr/>
        </p:nvSpPr>
        <p:spPr>
          <a:xfrm>
            <a:off x="181642" y="1303550"/>
            <a:ext cx="1645920"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Management</a:t>
            </a:r>
          </a:p>
        </p:txBody>
      </p:sp>
      <p:pic>
        <p:nvPicPr>
          <p:cNvPr id="7" name="Graphic 6" descr="Cursor with solid fill">
            <a:extLst>
              <a:ext uri="{FF2B5EF4-FFF2-40B4-BE49-F238E27FC236}">
                <a16:creationId xmlns:a16="http://schemas.microsoft.com/office/drawing/2014/main" id="{A098CFF9-B144-E4F7-F5D5-222B3BF4281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701287" y="1579083"/>
            <a:ext cx="274320" cy="274320"/>
          </a:xfrm>
          <a:prstGeom prst="rect">
            <a:avLst/>
          </a:prstGeom>
        </p:spPr>
      </p:pic>
      <p:sp>
        <p:nvSpPr>
          <p:cNvPr id="8" name="Cases">
            <a:hlinkClick r:id="rId8" action="ppaction://hlinksldjump"/>
            <a:extLst>
              <a:ext uri="{FF2B5EF4-FFF2-40B4-BE49-F238E27FC236}">
                <a16:creationId xmlns:a16="http://schemas.microsoft.com/office/drawing/2014/main" id="{45650170-3CBA-EA74-B01B-1C0AD77C16C4}"/>
              </a:ext>
            </a:extLst>
          </p:cNvPr>
          <p:cNvSpPr txBox="1"/>
          <p:nvPr/>
        </p:nvSpPr>
        <p:spPr>
          <a:xfrm>
            <a:off x="181642" y="2447614"/>
            <a:ext cx="1645920"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Exacerbations</a:t>
            </a:r>
          </a:p>
        </p:txBody>
      </p:sp>
      <p:sp>
        <p:nvSpPr>
          <p:cNvPr id="10" name="Question 2">
            <a:hlinkClick r:id="rId9" action="ppaction://hlinksldjump"/>
            <a:extLst>
              <a:ext uri="{FF2B5EF4-FFF2-40B4-BE49-F238E27FC236}">
                <a16:creationId xmlns:a16="http://schemas.microsoft.com/office/drawing/2014/main" id="{B01B0210-FD4D-80D4-F425-155A1A359A27}"/>
              </a:ext>
            </a:extLst>
          </p:cNvPr>
          <p:cNvSpPr txBox="1"/>
          <p:nvPr/>
        </p:nvSpPr>
        <p:spPr>
          <a:xfrm>
            <a:off x="181642" y="1875581"/>
            <a:ext cx="1645920"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Efficacy</a:t>
            </a:r>
          </a:p>
        </p:txBody>
      </p:sp>
      <p:pic>
        <p:nvPicPr>
          <p:cNvPr id="11" name="Graphic 10" descr="Cursor with solid fill">
            <a:extLst>
              <a:ext uri="{FF2B5EF4-FFF2-40B4-BE49-F238E27FC236}">
                <a16:creationId xmlns:a16="http://schemas.microsoft.com/office/drawing/2014/main" id="{83158988-84EE-5F94-6337-66F29EBF933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701287" y="2722270"/>
            <a:ext cx="270869" cy="274320"/>
          </a:xfrm>
          <a:prstGeom prst="rect">
            <a:avLst/>
          </a:prstGeom>
        </p:spPr>
      </p:pic>
      <p:pic>
        <p:nvPicPr>
          <p:cNvPr id="14" name="Graphic 13" descr="Cursor with solid fill">
            <a:extLst>
              <a:ext uri="{FF2B5EF4-FFF2-40B4-BE49-F238E27FC236}">
                <a16:creationId xmlns:a16="http://schemas.microsoft.com/office/drawing/2014/main" id="{D4355724-EE00-70EB-E2DD-3C2131EB08A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701287" y="2150676"/>
            <a:ext cx="274320" cy="274320"/>
          </a:xfrm>
          <a:prstGeom prst="rect">
            <a:avLst/>
          </a:prstGeom>
        </p:spPr>
      </p:pic>
      <p:sp>
        <p:nvSpPr>
          <p:cNvPr id="15" name="Cases">
            <a:hlinkClick r:id="rId10" action="ppaction://hlinksldjump"/>
            <a:extLst>
              <a:ext uri="{FF2B5EF4-FFF2-40B4-BE49-F238E27FC236}">
                <a16:creationId xmlns:a16="http://schemas.microsoft.com/office/drawing/2014/main" id="{FDF8FD0E-6E7C-0004-A260-457D6EFFDF4D}"/>
              </a:ext>
            </a:extLst>
          </p:cNvPr>
          <p:cNvSpPr txBox="1"/>
          <p:nvPr/>
        </p:nvSpPr>
        <p:spPr>
          <a:xfrm>
            <a:off x="181642" y="3020377"/>
            <a:ext cx="1645920"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Cases</a:t>
            </a:r>
          </a:p>
        </p:txBody>
      </p:sp>
      <p:pic>
        <p:nvPicPr>
          <p:cNvPr id="37" name="Graphic 36" descr="Cursor with solid fill">
            <a:extLst>
              <a:ext uri="{FF2B5EF4-FFF2-40B4-BE49-F238E27FC236}">
                <a16:creationId xmlns:a16="http://schemas.microsoft.com/office/drawing/2014/main" id="{42576116-3CDC-9C73-7420-5AEE984B0B5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701287" y="3295033"/>
            <a:ext cx="270869" cy="274320"/>
          </a:xfrm>
          <a:prstGeom prst="rect">
            <a:avLst/>
          </a:prstGeom>
        </p:spPr>
      </p:pic>
      <p:pic>
        <p:nvPicPr>
          <p:cNvPr id="40" name="Graphic 39" descr="Cursor with solid fill">
            <a:extLst>
              <a:ext uri="{FF2B5EF4-FFF2-40B4-BE49-F238E27FC236}">
                <a16:creationId xmlns:a16="http://schemas.microsoft.com/office/drawing/2014/main" id="{E50F6775-8DF5-39C7-B0BC-632FCB7F7B5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701287" y="2723439"/>
            <a:ext cx="274320" cy="274320"/>
          </a:xfrm>
          <a:prstGeom prst="rect">
            <a:avLst/>
          </a:prstGeom>
        </p:spPr>
      </p:pic>
    </p:spTree>
    <p:extLst>
      <p:ext uri="{BB962C8B-B14F-4D97-AF65-F5344CB8AC3E}">
        <p14:creationId xmlns:p14="http://schemas.microsoft.com/office/powerpoint/2010/main" val="4061111221"/>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33"/>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0"/>
                                        </p:tgtEl>
                                        <p:attrNameLst>
                                          <p:attrName>style.visibility</p:attrName>
                                        </p:attrNameLst>
                                      </p:cBhvr>
                                      <p:to>
                                        <p:strVal val="visible"/>
                                      </p:to>
                                    </p:set>
                                  </p:childTnLst>
                                </p:cTn>
                              </p:par>
                              <p:par>
                                <p:cTn id="23" presetID="1" presetClass="exit" presetSubtype="0" fill="hold" grpId="0" nodeType="withEffect">
                                  <p:stCondLst>
                                    <p:cond delay="0"/>
                                  </p:stCondLst>
                                  <p:childTnLst>
                                    <p:set>
                                      <p:cBhvr>
                                        <p:cTn id="24" dur="1" fill="hold">
                                          <p:stCondLst>
                                            <p:cond delay="0"/>
                                          </p:stCondLst>
                                        </p:cTn>
                                        <p:tgtEl>
                                          <p:spTgt spid="33"/>
                                        </p:tgtEl>
                                        <p:attrNameLst>
                                          <p:attrName>style.visibility</p:attrName>
                                        </p:attrNameLst>
                                      </p:cBhvr>
                                      <p:to>
                                        <p:strVal val="hidden"/>
                                      </p:to>
                                    </p:set>
                                  </p:childTnLst>
                                </p:cTn>
                              </p:par>
                              <p:par>
                                <p:cTn id="25" presetID="1" presetClass="exit" presetSubtype="0" fill="hold" nodeType="withEffect">
                                  <p:stCondLst>
                                    <p:cond delay="0"/>
                                  </p:stCondLst>
                                  <p:childTnLst>
                                    <p:set>
                                      <p:cBhvr>
                                        <p:cTn id="26" dur="1" fill="hold">
                                          <p:stCondLst>
                                            <p:cond delay="0"/>
                                          </p:stCondLst>
                                        </p:cTn>
                                        <p:tgtEl>
                                          <p:spTgt spid="36"/>
                                        </p:tgtEl>
                                        <p:attrNameLst>
                                          <p:attrName>style.visibility</p:attrName>
                                        </p:attrNameLst>
                                      </p:cBhvr>
                                      <p:to>
                                        <p:strVal val="hidden"/>
                                      </p:to>
                                    </p:set>
                                  </p:childTnLst>
                                </p:cTn>
                              </p:par>
                            </p:childTnLst>
                          </p:cTn>
                        </p:par>
                      </p:childTnLst>
                    </p:cTn>
                  </p:par>
                </p:childTnLst>
              </p:cTn>
              <p:nextCondLst>
                <p:cond evt="onClick" delay="0">
                  <p:tgtEl>
                    <p:spTgt spid="33"/>
                  </p:tgtEl>
                </p:cond>
              </p:nextCondLst>
            </p:seq>
            <p:seq concurrent="1" nextAc="seek">
              <p:cTn id="27" restart="whenNotActive" fill="hold" evtFilter="cancelBubble" nodeType="interactiveSeq">
                <p:stCondLst>
                  <p:cond evt="onClick" delay="0">
                    <p:tgtEl>
                      <p:spTgt spid="24"/>
                    </p:tgtEl>
                  </p:cond>
                </p:stCondLst>
                <p:endSync evt="end" delay="0">
                  <p:rtn val="all"/>
                </p:endSync>
                <p:childTnLst>
                  <p:par>
                    <p:cTn id="28" fill="hold">
                      <p:stCondLst>
                        <p:cond delay="0"/>
                      </p:stCondLst>
                      <p:childTnLst>
                        <p:par>
                          <p:cTn id="29" fill="hold">
                            <p:stCondLst>
                              <p:cond delay="0"/>
                            </p:stCondLst>
                            <p:childTnLst>
                              <p:par>
                                <p:cTn id="30" presetID="1" presetClass="exit" presetSubtype="0" fill="hold" grpId="0" nodeType="clickEffect">
                                  <p:stCondLst>
                                    <p:cond delay="0"/>
                                  </p:stCondLst>
                                  <p:childTnLst>
                                    <p:set>
                                      <p:cBhvr>
                                        <p:cTn id="31" dur="1" fill="hold">
                                          <p:stCondLst>
                                            <p:cond delay="0"/>
                                          </p:stCondLst>
                                        </p:cTn>
                                        <p:tgtEl>
                                          <p:spTgt spid="24"/>
                                        </p:tgtEl>
                                        <p:attrNameLst>
                                          <p:attrName>style.visibility</p:attrName>
                                        </p:attrNameLst>
                                      </p:cBhvr>
                                      <p:to>
                                        <p:strVal val="hidden"/>
                                      </p:to>
                                    </p:set>
                                  </p:childTnLst>
                                </p:cTn>
                              </p:par>
                              <p:par>
                                <p:cTn id="32" presetID="1" presetClass="exit" presetSubtype="0" fill="hold" nodeType="withEffect">
                                  <p:stCondLst>
                                    <p:cond delay="0"/>
                                  </p:stCondLst>
                                  <p:childTnLst>
                                    <p:set>
                                      <p:cBhvr>
                                        <p:cTn id="33" dur="1" fill="hold">
                                          <p:stCondLst>
                                            <p:cond delay="0"/>
                                          </p:stCondLst>
                                        </p:cTn>
                                        <p:tgtEl>
                                          <p:spTgt spid="25"/>
                                        </p:tgtEl>
                                        <p:attrNameLst>
                                          <p:attrName>style.visibility</p:attrName>
                                        </p:attrNameLst>
                                      </p:cBhvr>
                                      <p:to>
                                        <p:strVal val="hidden"/>
                                      </p:to>
                                    </p:set>
                                  </p:childTnLst>
                                </p:cTn>
                              </p:par>
                              <p:par>
                                <p:cTn id="34" presetID="1" presetClass="entr" presetSubtype="0" fill="hold" grpId="0" nodeType="withEffect">
                                  <p:stCondLst>
                                    <p:cond delay="0"/>
                                  </p:stCondLst>
                                  <p:childTnLst>
                                    <p:set>
                                      <p:cBhvr>
                                        <p:cTn id="35" dur="1" fill="hold">
                                          <p:stCondLst>
                                            <p:cond delay="0"/>
                                          </p:stCondLst>
                                        </p:cTn>
                                        <p:tgtEl>
                                          <p:spTgt spid="6"/>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7" dur="1" fill="hold">
                                          <p:stCondLst>
                                            <p:cond delay="0"/>
                                          </p:stCondLst>
                                        </p:cTn>
                                        <p:tgtEl>
                                          <p:spTgt spid="73"/>
                                        </p:tgtEl>
                                        <p:attrNameLst>
                                          <p:attrName>style.visibility</p:attrName>
                                        </p:attrNameLst>
                                      </p:cBhvr>
                                      <p:to>
                                        <p:strVal val="visible"/>
                                      </p:to>
                                    </p:set>
                                  </p:childTnLst>
                                </p:cTn>
                              </p:par>
                            </p:childTnLst>
                          </p:cTn>
                        </p:par>
                      </p:childTnLst>
                    </p:cTn>
                  </p:par>
                </p:childTnLst>
              </p:cTn>
              <p:nextCondLst>
                <p:cond evt="onClick" delay="0">
                  <p:tgtEl>
                    <p:spTgt spid="24"/>
                  </p:tgtEl>
                </p:cond>
              </p:nextCondLst>
            </p:seq>
            <p:seq concurrent="1" nextAc="seek">
              <p:cTn id="38" restart="whenNotActive" fill="hold" evtFilter="cancelBubble" nodeType="interactiveSeq">
                <p:stCondLst>
                  <p:cond evt="onClick" delay="0">
                    <p:tgtEl>
                      <p:spTgt spid="63"/>
                    </p:tgtEl>
                  </p:cond>
                </p:stCondLst>
                <p:endSync evt="end" delay="0">
                  <p:rtn val="all"/>
                </p:endSync>
                <p:childTnLst>
                  <p:par>
                    <p:cTn id="39" fill="hold">
                      <p:stCondLst>
                        <p:cond delay="0"/>
                      </p:stCondLst>
                      <p:childTnLst>
                        <p:par>
                          <p:cTn id="40" fill="hold">
                            <p:stCondLst>
                              <p:cond delay="0"/>
                            </p:stCondLst>
                            <p:childTnLst>
                              <p:par>
                                <p:cTn id="41" presetID="1" presetClass="exit" presetSubtype="0" fill="hold" grpId="1" nodeType="clickEffect">
                                  <p:stCondLst>
                                    <p:cond delay="0"/>
                                  </p:stCondLst>
                                  <p:childTnLst>
                                    <p:set>
                                      <p:cBhvr>
                                        <p:cTn id="42" dur="1" fill="hold">
                                          <p:stCondLst>
                                            <p:cond delay="0"/>
                                          </p:stCondLst>
                                        </p:cTn>
                                        <p:tgtEl>
                                          <p:spTgt spid="63"/>
                                        </p:tgtEl>
                                        <p:attrNameLst>
                                          <p:attrName>style.visibility</p:attrName>
                                        </p:attrNameLst>
                                      </p:cBhvr>
                                      <p:to>
                                        <p:strVal val="hidden"/>
                                      </p:to>
                                    </p:set>
                                  </p:childTnLst>
                                </p:cTn>
                              </p:par>
                              <p:par>
                                <p:cTn id="43" presetID="1" presetClass="exit" presetSubtype="0" fill="hold" nodeType="withEffect">
                                  <p:stCondLst>
                                    <p:cond delay="0"/>
                                  </p:stCondLst>
                                  <p:childTnLst>
                                    <p:set>
                                      <p:cBhvr>
                                        <p:cTn id="44" dur="1" fill="hold">
                                          <p:stCondLst>
                                            <p:cond delay="0"/>
                                          </p:stCondLst>
                                        </p:cTn>
                                        <p:tgtEl>
                                          <p:spTgt spid="29"/>
                                        </p:tgtEl>
                                        <p:attrNameLst>
                                          <p:attrName>style.visibility</p:attrName>
                                        </p:attrNameLst>
                                      </p:cBhvr>
                                      <p:to>
                                        <p:strVal val="hidden"/>
                                      </p:to>
                                    </p:set>
                                  </p:childTnLst>
                                </p:cTn>
                              </p:par>
                              <p:par>
                                <p:cTn id="45" presetID="1" presetClass="entr" presetSubtype="0" fill="hold" grpId="0" nodeType="withEffect">
                                  <p:stCondLst>
                                    <p:cond delay="0"/>
                                  </p:stCondLst>
                                  <p:childTnLst>
                                    <p:set>
                                      <p:cBhvr>
                                        <p:cTn id="46" dur="1" fill="hold">
                                          <p:stCondLst>
                                            <p:cond delay="0"/>
                                          </p:stCondLst>
                                        </p:cTn>
                                        <p:tgtEl>
                                          <p:spTgt spid="42"/>
                                        </p:tgtEl>
                                        <p:attrNameLst>
                                          <p:attrName>style.visibility</p:attrName>
                                        </p:attrNameLst>
                                      </p:cBhvr>
                                      <p:to>
                                        <p:strVal val="visible"/>
                                      </p:to>
                                    </p:set>
                                  </p:childTnLst>
                                </p:cTn>
                              </p:par>
                            </p:childTnLst>
                          </p:cTn>
                        </p:par>
                      </p:childTnLst>
                    </p:cTn>
                  </p:par>
                </p:childTnLst>
              </p:cTn>
              <p:nextCondLst>
                <p:cond evt="onClick" delay="0">
                  <p:tgtEl>
                    <p:spTgt spid="63"/>
                  </p:tgtEl>
                </p:cond>
              </p:nextCondLst>
            </p:seq>
            <p:seq concurrent="1" nextAc="seek">
              <p:cTn id="47" restart="whenNotActive" fill="hold" evtFilter="cancelBubble" nodeType="interactiveSeq">
                <p:stCondLst>
                  <p:cond evt="onClick" delay="0">
                    <p:tgtEl>
                      <p:spTgt spid="57"/>
                    </p:tgtEl>
                  </p:cond>
                </p:stCondLst>
                <p:endSync evt="end" delay="0">
                  <p:rtn val="all"/>
                </p:endSync>
                <p:childTnLst>
                  <p:par>
                    <p:cTn id="48" fill="hold">
                      <p:stCondLst>
                        <p:cond delay="0"/>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18"/>
                                        </p:tgtEl>
                                        <p:attrNameLst>
                                          <p:attrName>style.visibility</p:attrName>
                                        </p:attrNameLst>
                                      </p:cBhvr>
                                      <p:to>
                                        <p:strVal val="visible"/>
                                      </p:to>
                                    </p:set>
                                  </p:childTnLst>
                                </p:cTn>
                              </p:par>
                              <p:par>
                                <p:cTn id="52" presetID="1" presetClass="entr" presetSubtype="0" fill="hold" grpId="0" nodeType="withEffect">
                                  <p:stCondLst>
                                    <p:cond delay="0"/>
                                  </p:stCondLst>
                                  <p:childTnLst>
                                    <p:set>
                                      <p:cBhvr>
                                        <p:cTn id="53" dur="1" fill="hold">
                                          <p:stCondLst>
                                            <p:cond delay="0"/>
                                          </p:stCondLst>
                                        </p:cTn>
                                        <p:tgtEl>
                                          <p:spTgt spid="38"/>
                                        </p:tgtEl>
                                        <p:attrNameLst>
                                          <p:attrName>style.visibility</p:attrName>
                                        </p:attrNameLst>
                                      </p:cBhvr>
                                      <p:to>
                                        <p:strVal val="visible"/>
                                      </p:to>
                                    </p:set>
                                  </p:childTnLst>
                                </p:cTn>
                              </p:par>
                              <p:par>
                                <p:cTn id="54" presetID="1" presetClass="entr" presetSubtype="0" fill="hold" grpId="0" nodeType="withEffect">
                                  <p:stCondLst>
                                    <p:cond delay="0"/>
                                  </p:stCondLst>
                                  <p:childTnLst>
                                    <p:set>
                                      <p:cBhvr>
                                        <p:cTn id="55" dur="1" fill="hold">
                                          <p:stCondLst>
                                            <p:cond delay="0"/>
                                          </p:stCondLst>
                                        </p:cTn>
                                        <p:tgtEl>
                                          <p:spTgt spid="44"/>
                                        </p:tgtEl>
                                        <p:attrNameLst>
                                          <p:attrName>style.visibility</p:attrName>
                                        </p:attrNameLst>
                                      </p:cBhvr>
                                      <p:to>
                                        <p:strVal val="visible"/>
                                      </p:to>
                                    </p:set>
                                  </p:childTnLst>
                                </p:cTn>
                              </p:par>
                              <p:par>
                                <p:cTn id="56" presetID="1" presetClass="entr" presetSubtype="0" fill="hold" grpId="0" nodeType="withEffect">
                                  <p:stCondLst>
                                    <p:cond delay="0"/>
                                  </p:stCondLst>
                                  <p:childTnLst>
                                    <p:set>
                                      <p:cBhvr>
                                        <p:cTn id="57" dur="1" fill="hold">
                                          <p:stCondLst>
                                            <p:cond delay="0"/>
                                          </p:stCondLst>
                                        </p:cTn>
                                        <p:tgtEl>
                                          <p:spTgt spid="13"/>
                                        </p:tgtEl>
                                        <p:attrNameLst>
                                          <p:attrName>style.visibility</p:attrName>
                                        </p:attrNameLst>
                                      </p:cBhvr>
                                      <p:to>
                                        <p:strVal val="visible"/>
                                      </p:to>
                                    </p:set>
                                  </p:childTnLst>
                                </p:cTn>
                              </p:par>
                              <p:par>
                                <p:cTn id="58" presetID="1" presetClass="entr" presetSubtype="0" fill="hold" nodeType="withEffect">
                                  <p:stCondLst>
                                    <p:cond delay="0"/>
                                  </p:stCondLst>
                                  <p:childTnLst>
                                    <p:set>
                                      <p:cBhvr>
                                        <p:cTn id="59" dur="1" fill="hold">
                                          <p:stCondLst>
                                            <p:cond delay="0"/>
                                          </p:stCondLst>
                                        </p:cTn>
                                        <p:tgtEl>
                                          <p:spTgt spid="39"/>
                                        </p:tgtEl>
                                        <p:attrNameLst>
                                          <p:attrName>style.visibility</p:attrName>
                                        </p:attrNameLst>
                                      </p:cBhvr>
                                      <p:to>
                                        <p:strVal val="visible"/>
                                      </p:to>
                                    </p:set>
                                  </p:childTnLst>
                                </p:cTn>
                              </p:par>
                              <p:par>
                                <p:cTn id="60" presetID="1" presetClass="entr" presetSubtype="0" fill="hold" nodeType="withEffect">
                                  <p:stCondLst>
                                    <p:cond delay="0"/>
                                  </p:stCondLst>
                                  <p:childTnLst>
                                    <p:set>
                                      <p:cBhvr>
                                        <p:cTn id="61" dur="1" fill="hold">
                                          <p:stCondLst>
                                            <p:cond delay="0"/>
                                          </p:stCondLst>
                                        </p:cTn>
                                        <p:tgtEl>
                                          <p:spTgt spid="32"/>
                                        </p:tgtEl>
                                        <p:attrNameLst>
                                          <p:attrName>style.visibility</p:attrName>
                                        </p:attrNameLst>
                                      </p:cBhvr>
                                      <p:to>
                                        <p:strVal val="visible"/>
                                      </p:to>
                                    </p:set>
                                  </p:childTnLst>
                                </p:cTn>
                              </p:par>
                              <p:par>
                                <p:cTn id="62" presetID="1" presetClass="entr" presetSubtype="0" fill="hold" nodeType="withEffect">
                                  <p:stCondLst>
                                    <p:cond delay="0"/>
                                  </p:stCondLst>
                                  <p:childTnLst>
                                    <p:set>
                                      <p:cBhvr>
                                        <p:cTn id="63" dur="1" fill="hold">
                                          <p:stCondLst>
                                            <p:cond delay="0"/>
                                          </p:stCondLst>
                                        </p:cTn>
                                        <p:tgtEl>
                                          <p:spTgt spid="65"/>
                                        </p:tgtEl>
                                        <p:attrNameLst>
                                          <p:attrName>style.visibility</p:attrName>
                                        </p:attrNameLst>
                                      </p:cBhvr>
                                      <p:to>
                                        <p:strVal val="visible"/>
                                      </p:to>
                                    </p:set>
                                  </p:childTnLst>
                                </p:cTn>
                              </p:par>
                              <p:par>
                                <p:cTn id="64" presetID="1" presetClass="exit" presetSubtype="0" fill="hold" grpId="1" nodeType="withEffect">
                                  <p:stCondLst>
                                    <p:cond delay="0"/>
                                  </p:stCondLst>
                                  <p:childTnLst>
                                    <p:set>
                                      <p:cBhvr>
                                        <p:cTn id="65" dur="1" fill="hold">
                                          <p:stCondLst>
                                            <p:cond delay="0"/>
                                          </p:stCondLst>
                                        </p:cTn>
                                        <p:tgtEl>
                                          <p:spTgt spid="57"/>
                                        </p:tgtEl>
                                        <p:attrNameLst>
                                          <p:attrName>style.visibility</p:attrName>
                                        </p:attrNameLst>
                                      </p:cBhvr>
                                      <p:to>
                                        <p:strVal val="hidden"/>
                                      </p:to>
                                    </p:set>
                                  </p:childTnLst>
                                </p:cTn>
                              </p:par>
                              <p:par>
                                <p:cTn id="66" presetID="1" presetClass="exit" presetSubtype="0" fill="hold" nodeType="withEffect">
                                  <p:stCondLst>
                                    <p:cond delay="0"/>
                                  </p:stCondLst>
                                  <p:childTnLst>
                                    <p:set>
                                      <p:cBhvr>
                                        <p:cTn id="67" dur="1" fill="hold">
                                          <p:stCondLst>
                                            <p:cond delay="0"/>
                                          </p:stCondLst>
                                        </p:cTn>
                                        <p:tgtEl>
                                          <p:spTgt spid="30"/>
                                        </p:tgtEl>
                                        <p:attrNameLst>
                                          <p:attrName>style.visibility</p:attrName>
                                        </p:attrNameLst>
                                      </p:cBhvr>
                                      <p:to>
                                        <p:strVal val="hidden"/>
                                      </p:to>
                                    </p:set>
                                  </p:childTnLst>
                                </p:cTn>
                              </p:par>
                            </p:childTnLst>
                          </p:cTn>
                        </p:par>
                      </p:childTnLst>
                    </p:cTn>
                  </p:par>
                </p:childTnLst>
              </p:cTn>
              <p:nextCondLst>
                <p:cond evt="onClick" delay="0">
                  <p:tgtEl>
                    <p:spTgt spid="57"/>
                  </p:tgtEl>
                </p:cond>
              </p:nextCondLst>
            </p:seq>
            <p:seq concurrent="1" nextAc="seek">
              <p:cTn id="68" restart="whenNotActive" fill="hold" evtFilter="cancelBubble" nodeType="interactiveSeq">
                <p:stCondLst>
                  <p:cond evt="onClick" delay="0">
                    <p:tgtEl>
                      <p:spTgt spid="18"/>
                    </p:tgtEl>
                  </p:cond>
                </p:stCondLst>
                <p:endSync evt="end" delay="0">
                  <p:rtn val="all"/>
                </p:endSync>
                <p:childTnLst>
                  <p:par>
                    <p:cTn id="69" fill="hold">
                      <p:stCondLst>
                        <p:cond delay="0"/>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31"/>
                                        </p:tgtEl>
                                        <p:attrNameLst>
                                          <p:attrName>style.visibility</p:attrName>
                                        </p:attrNameLst>
                                      </p:cBhvr>
                                      <p:to>
                                        <p:strVal val="visible"/>
                                      </p:to>
                                    </p:set>
                                  </p:childTnLst>
                                </p:cTn>
                              </p:par>
                              <p:par>
                                <p:cTn id="73" presetID="1" presetClass="exit" presetSubtype="0" fill="hold" grpId="1" nodeType="withEffect">
                                  <p:stCondLst>
                                    <p:cond delay="0"/>
                                  </p:stCondLst>
                                  <p:childTnLst>
                                    <p:set>
                                      <p:cBhvr>
                                        <p:cTn id="74" dur="1" fill="hold">
                                          <p:stCondLst>
                                            <p:cond delay="0"/>
                                          </p:stCondLst>
                                        </p:cTn>
                                        <p:tgtEl>
                                          <p:spTgt spid="18"/>
                                        </p:tgtEl>
                                        <p:attrNameLst>
                                          <p:attrName>style.visibility</p:attrName>
                                        </p:attrNameLst>
                                      </p:cBhvr>
                                      <p:to>
                                        <p:strVal val="hidden"/>
                                      </p:to>
                                    </p:set>
                                  </p:childTnLst>
                                </p:cTn>
                              </p:par>
                              <p:par>
                                <p:cTn id="75" presetID="1" presetClass="exit" presetSubtype="0" fill="hold" nodeType="withEffect">
                                  <p:stCondLst>
                                    <p:cond delay="0"/>
                                  </p:stCondLst>
                                  <p:childTnLst>
                                    <p:set>
                                      <p:cBhvr>
                                        <p:cTn id="76" dur="1" fill="hold">
                                          <p:stCondLst>
                                            <p:cond delay="0"/>
                                          </p:stCondLst>
                                        </p:cTn>
                                        <p:tgtEl>
                                          <p:spTgt spid="32"/>
                                        </p:tgtEl>
                                        <p:attrNameLst>
                                          <p:attrName>style.visibility</p:attrName>
                                        </p:attrNameLst>
                                      </p:cBhvr>
                                      <p:to>
                                        <p:strVal val="hidden"/>
                                      </p:to>
                                    </p:set>
                                  </p:childTnLst>
                                </p:cTn>
                              </p:par>
                            </p:childTnLst>
                          </p:cTn>
                        </p:par>
                      </p:childTnLst>
                    </p:cTn>
                  </p:par>
                </p:childTnLst>
              </p:cTn>
              <p:nextCondLst>
                <p:cond evt="onClick" delay="0">
                  <p:tgtEl>
                    <p:spTgt spid="18"/>
                  </p:tgtEl>
                </p:cond>
              </p:nextCondLst>
            </p:seq>
            <p:seq concurrent="1" nextAc="seek">
              <p:cTn id="77" restart="whenNotActive" fill="hold" evtFilter="cancelBubble" nodeType="interactiveSeq">
                <p:stCondLst>
                  <p:cond evt="onClick" delay="0">
                    <p:tgtEl>
                      <p:spTgt spid="38"/>
                    </p:tgtEl>
                  </p:cond>
                </p:stCondLst>
                <p:endSync evt="end" delay="0">
                  <p:rtn val="all"/>
                </p:endSync>
                <p:childTnLst>
                  <p:par>
                    <p:cTn id="78" fill="hold">
                      <p:stCondLst>
                        <p:cond delay="0"/>
                      </p:stCondLst>
                      <p:childTnLst>
                        <p:par>
                          <p:cTn id="79" fill="hold">
                            <p:stCondLst>
                              <p:cond delay="0"/>
                            </p:stCondLst>
                            <p:childTnLst>
                              <p:par>
                                <p:cTn id="80" presetID="1" presetClass="exit" presetSubtype="0" fill="hold" grpId="1" nodeType="withEffect">
                                  <p:stCondLst>
                                    <p:cond delay="0"/>
                                  </p:stCondLst>
                                  <p:childTnLst>
                                    <p:set>
                                      <p:cBhvr>
                                        <p:cTn id="81" dur="1" fill="hold">
                                          <p:stCondLst>
                                            <p:cond delay="0"/>
                                          </p:stCondLst>
                                        </p:cTn>
                                        <p:tgtEl>
                                          <p:spTgt spid="38"/>
                                        </p:tgtEl>
                                        <p:attrNameLst>
                                          <p:attrName>style.visibility</p:attrName>
                                        </p:attrNameLst>
                                      </p:cBhvr>
                                      <p:to>
                                        <p:strVal val="hidden"/>
                                      </p:to>
                                    </p:set>
                                  </p:childTnLst>
                                </p:cTn>
                              </p:par>
                              <p:par>
                                <p:cTn id="82" presetID="1" presetClass="exit" presetSubtype="0" fill="hold" nodeType="withEffect">
                                  <p:stCondLst>
                                    <p:cond delay="0"/>
                                  </p:stCondLst>
                                  <p:childTnLst>
                                    <p:set>
                                      <p:cBhvr>
                                        <p:cTn id="83" dur="1" fill="hold">
                                          <p:stCondLst>
                                            <p:cond delay="0"/>
                                          </p:stCondLst>
                                        </p:cTn>
                                        <p:tgtEl>
                                          <p:spTgt spid="39"/>
                                        </p:tgtEl>
                                        <p:attrNameLst>
                                          <p:attrName>style.visibility</p:attrName>
                                        </p:attrNameLst>
                                      </p:cBhvr>
                                      <p:to>
                                        <p:strVal val="hidden"/>
                                      </p:to>
                                    </p:set>
                                  </p:childTnLst>
                                </p:cTn>
                              </p:par>
                              <p:par>
                                <p:cTn id="84" presetID="1" presetClass="entr" presetSubtype="0" fill="hold" grpId="0" nodeType="withEffect">
                                  <p:stCondLst>
                                    <p:cond delay="0"/>
                                  </p:stCondLst>
                                  <p:childTnLst>
                                    <p:set>
                                      <p:cBhvr>
                                        <p:cTn id="85" dur="1" fill="hold">
                                          <p:stCondLst>
                                            <p:cond delay="0"/>
                                          </p:stCondLst>
                                        </p:cTn>
                                        <p:tgtEl>
                                          <p:spTgt spid="75"/>
                                        </p:tgtEl>
                                        <p:attrNameLst>
                                          <p:attrName>style.visibility</p:attrName>
                                        </p:attrNameLst>
                                      </p:cBhvr>
                                      <p:to>
                                        <p:strVal val="visible"/>
                                      </p:to>
                                    </p:set>
                                  </p:childTnLst>
                                </p:cTn>
                              </p:par>
                            </p:childTnLst>
                          </p:cTn>
                        </p:par>
                      </p:childTnLst>
                    </p:cTn>
                  </p:par>
                </p:childTnLst>
              </p:cTn>
              <p:nextCondLst>
                <p:cond evt="onClick" delay="0">
                  <p:tgtEl>
                    <p:spTgt spid="38"/>
                  </p:tgtEl>
                </p:cond>
              </p:nextCondLst>
            </p:seq>
            <p:seq concurrent="1" nextAc="seek">
              <p:cTn id="86" restart="whenNotActive" fill="hold" evtFilter="cancelBubble" nodeType="interactiveSeq">
                <p:stCondLst>
                  <p:cond evt="onClick" delay="0">
                    <p:tgtEl>
                      <p:spTgt spid="34"/>
                    </p:tgtEl>
                  </p:cond>
                </p:stCondLst>
                <p:endSync evt="end" delay="0">
                  <p:rtn val="all"/>
                </p:endSync>
                <p:childTnLst>
                  <p:par>
                    <p:cTn id="87" fill="hold">
                      <p:stCondLst>
                        <p:cond delay="0"/>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43"/>
                                        </p:tgtEl>
                                        <p:attrNameLst>
                                          <p:attrName>style.visibility</p:attrName>
                                        </p:attrNameLst>
                                      </p:cBhvr>
                                      <p:to>
                                        <p:strVal val="visible"/>
                                      </p:to>
                                    </p:set>
                                  </p:childTnLst>
                                </p:cTn>
                              </p:par>
                              <p:par>
                                <p:cTn id="91" presetID="1" presetClass="exit" presetSubtype="0" fill="hold" grpId="1" nodeType="withEffect">
                                  <p:stCondLst>
                                    <p:cond delay="0"/>
                                  </p:stCondLst>
                                  <p:childTnLst>
                                    <p:set>
                                      <p:cBhvr>
                                        <p:cTn id="92" dur="1" fill="hold">
                                          <p:stCondLst>
                                            <p:cond delay="0"/>
                                          </p:stCondLst>
                                        </p:cTn>
                                        <p:tgtEl>
                                          <p:spTgt spid="34"/>
                                        </p:tgtEl>
                                        <p:attrNameLst>
                                          <p:attrName>style.visibility</p:attrName>
                                        </p:attrNameLst>
                                      </p:cBhvr>
                                      <p:to>
                                        <p:strVal val="hidden"/>
                                      </p:to>
                                    </p:set>
                                  </p:childTnLst>
                                </p:cTn>
                              </p:par>
                              <p:par>
                                <p:cTn id="93" presetID="1" presetClass="exit" presetSubtype="0" fill="hold" nodeType="withEffect">
                                  <p:stCondLst>
                                    <p:cond delay="0"/>
                                  </p:stCondLst>
                                  <p:childTnLst>
                                    <p:set>
                                      <p:cBhvr>
                                        <p:cTn id="94" dur="1" fill="hold">
                                          <p:stCondLst>
                                            <p:cond delay="0"/>
                                          </p:stCondLst>
                                        </p:cTn>
                                        <p:tgtEl>
                                          <p:spTgt spid="28"/>
                                        </p:tgtEl>
                                        <p:attrNameLst>
                                          <p:attrName>style.visibility</p:attrName>
                                        </p:attrNameLst>
                                      </p:cBhvr>
                                      <p:to>
                                        <p:strVal val="hidden"/>
                                      </p:to>
                                    </p:set>
                                  </p:childTnLst>
                                </p:cTn>
                              </p:par>
                            </p:childTnLst>
                          </p:cTn>
                        </p:par>
                      </p:childTnLst>
                    </p:cTn>
                  </p:par>
                </p:childTnLst>
              </p:cTn>
              <p:nextCondLst>
                <p:cond evt="onClick" delay="0">
                  <p:tgtEl>
                    <p:spTgt spid="34"/>
                  </p:tgtEl>
                </p:cond>
              </p:nextCondLst>
            </p:seq>
          </p:childTnLst>
        </p:cTn>
      </p:par>
    </p:tnLst>
    <p:bldLst>
      <p:bldP spid="48" grpId="0" animBg="1"/>
      <p:bldP spid="49" grpId="0" animBg="1"/>
      <p:bldP spid="53" grpId="0" animBg="1"/>
      <p:bldP spid="57" grpId="0" animBg="1"/>
      <p:bldP spid="57" grpId="1" animBg="1"/>
      <p:bldP spid="63" grpId="0" animBg="1"/>
      <p:bldP spid="63" grpId="1" animBg="1"/>
      <p:bldP spid="34" grpId="0" animBg="1"/>
      <p:bldP spid="34" grpId="1" animBg="1"/>
      <p:bldP spid="33" grpId="0" animBg="1"/>
      <p:bldP spid="24" grpId="0" animBg="1"/>
      <p:bldP spid="42" grpId="0"/>
      <p:bldP spid="43" grpId="0"/>
      <p:bldP spid="44" grpId="0"/>
      <p:bldP spid="6" grpId="0"/>
      <p:bldP spid="13" grpId="0" animBg="1"/>
      <p:bldP spid="18" grpId="0" animBg="1"/>
      <p:bldP spid="18" grpId="1" animBg="1"/>
      <p:bldP spid="38" grpId="0" animBg="1"/>
      <p:bldP spid="38" grpId="1" animBg="1"/>
      <p:bldP spid="73" grpId="0"/>
      <p:bldP spid="7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TextBox 57">
            <a:extLst>
              <a:ext uri="{FF2B5EF4-FFF2-40B4-BE49-F238E27FC236}">
                <a16:creationId xmlns:a16="http://schemas.microsoft.com/office/drawing/2014/main" id="{A8030B82-9313-8C22-C935-8111ABFFAC52}"/>
              </a:ext>
            </a:extLst>
          </p:cNvPr>
          <p:cNvSpPr txBox="1"/>
          <p:nvPr/>
        </p:nvSpPr>
        <p:spPr>
          <a:xfrm>
            <a:off x="7638213" y="996207"/>
            <a:ext cx="3301234" cy="408623"/>
          </a:xfrm>
          <a:prstGeom prst="round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dirty="0"/>
              <a:t>COPD Assessment Test</a:t>
            </a:r>
          </a:p>
        </p:txBody>
      </p:sp>
      <p:sp>
        <p:nvSpPr>
          <p:cNvPr id="53" name="TextBox 52">
            <a:extLst>
              <a:ext uri="{FF2B5EF4-FFF2-40B4-BE49-F238E27FC236}">
                <a16:creationId xmlns:a16="http://schemas.microsoft.com/office/drawing/2014/main" id="{8601761C-A188-BDC7-042A-C9E2710AAF2F}"/>
              </a:ext>
            </a:extLst>
          </p:cNvPr>
          <p:cNvSpPr txBox="1"/>
          <p:nvPr/>
        </p:nvSpPr>
        <p:spPr>
          <a:xfrm>
            <a:off x="2109421" y="996207"/>
            <a:ext cx="5142693" cy="408623"/>
          </a:xfrm>
          <a:prstGeom prst="round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dirty="0"/>
              <a:t>Modified Medical Research Council Dyspnea Scale</a:t>
            </a:r>
          </a:p>
        </p:txBody>
      </p:sp>
      <p:sp>
        <p:nvSpPr>
          <p:cNvPr id="51" name="mMRC">
            <a:extLst>
              <a:ext uri="{FF2B5EF4-FFF2-40B4-BE49-F238E27FC236}">
                <a16:creationId xmlns:a16="http://schemas.microsoft.com/office/drawing/2014/main" id="{47A388D7-DA01-024E-7FCA-2D0672EC1A9F}"/>
              </a:ext>
            </a:extLst>
          </p:cNvPr>
          <p:cNvSpPr/>
          <p:nvPr/>
        </p:nvSpPr>
        <p:spPr>
          <a:xfrm>
            <a:off x="3824164" y="996207"/>
            <a:ext cx="1238440" cy="411480"/>
          </a:xfrm>
          <a:prstGeom prst="roundRect">
            <a:avLst/>
          </a:prstGeom>
          <a:ln w="38100">
            <a:solidFill>
              <a:schemeClr val="tx1"/>
            </a:solid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rtlCol="0" anchor="ctr"/>
          <a:lstStyle/>
          <a:p>
            <a:pPr algn="ctr"/>
            <a:r>
              <a:rPr lang="en-US" sz="1800" dirty="0" err="1">
                <a:solidFill>
                  <a:schemeClr val="tx1"/>
                </a:solidFill>
              </a:rPr>
              <a:t>mMRC</a:t>
            </a:r>
            <a:endParaRPr lang="en-US" dirty="0">
              <a:solidFill>
                <a:schemeClr val="tx1"/>
              </a:solidFill>
            </a:endParaRPr>
          </a:p>
        </p:txBody>
      </p:sp>
      <p:pic>
        <p:nvPicPr>
          <p:cNvPr id="52" name="Graphic 51" descr="Cursor with solid fill">
            <a:extLst>
              <a:ext uri="{FF2B5EF4-FFF2-40B4-BE49-F238E27FC236}">
                <a16:creationId xmlns:a16="http://schemas.microsoft.com/office/drawing/2014/main" id="{39C1F493-FAFA-6495-43A5-89D9F30009A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911728" y="1281185"/>
            <a:ext cx="274320" cy="274320"/>
          </a:xfrm>
          <a:prstGeom prst="rect">
            <a:avLst/>
          </a:prstGeom>
        </p:spPr>
      </p:pic>
      <p:sp>
        <p:nvSpPr>
          <p:cNvPr id="54" name="CAT">
            <a:extLst>
              <a:ext uri="{FF2B5EF4-FFF2-40B4-BE49-F238E27FC236}">
                <a16:creationId xmlns:a16="http://schemas.microsoft.com/office/drawing/2014/main" id="{93FED15F-91CB-0724-E1C8-65D758C896A8}"/>
              </a:ext>
            </a:extLst>
          </p:cNvPr>
          <p:cNvSpPr/>
          <p:nvPr/>
        </p:nvSpPr>
        <p:spPr>
          <a:xfrm>
            <a:off x="8690591" y="996207"/>
            <a:ext cx="1238440" cy="411480"/>
          </a:xfrm>
          <a:prstGeom prst="roundRect">
            <a:avLst/>
          </a:prstGeom>
          <a:ln w="38100">
            <a:solidFill>
              <a:schemeClr val="tx1"/>
            </a:solid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rtlCol="0" anchor="ctr"/>
          <a:lstStyle/>
          <a:p>
            <a:pPr algn="ctr"/>
            <a:r>
              <a:rPr lang="en-US" sz="1800" dirty="0">
                <a:solidFill>
                  <a:schemeClr val="tx1"/>
                </a:solidFill>
              </a:rPr>
              <a:t>CAT</a:t>
            </a:r>
            <a:endParaRPr lang="en-US" dirty="0">
              <a:solidFill>
                <a:schemeClr val="tx1"/>
              </a:solidFill>
            </a:endParaRPr>
          </a:p>
        </p:txBody>
      </p:sp>
      <p:pic>
        <p:nvPicPr>
          <p:cNvPr id="55" name="Graphic 54" descr="Cursor with solid fill">
            <a:extLst>
              <a:ext uri="{FF2B5EF4-FFF2-40B4-BE49-F238E27FC236}">
                <a16:creationId xmlns:a16="http://schemas.microsoft.com/office/drawing/2014/main" id="{4CFBDF6D-E2B6-E640-E9C3-E2CF3019A82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778155" y="1281185"/>
            <a:ext cx="289538" cy="274320"/>
          </a:xfrm>
          <a:prstGeom prst="rect">
            <a:avLst/>
          </a:prstGeom>
        </p:spPr>
      </p:pic>
      <p:sp>
        <p:nvSpPr>
          <p:cNvPr id="56" name="TextBox 55">
            <a:extLst>
              <a:ext uri="{FF2B5EF4-FFF2-40B4-BE49-F238E27FC236}">
                <a16:creationId xmlns:a16="http://schemas.microsoft.com/office/drawing/2014/main" id="{8C6D186E-76AB-9946-21CA-0C44ED34911E}"/>
              </a:ext>
            </a:extLst>
          </p:cNvPr>
          <p:cNvSpPr txBox="1"/>
          <p:nvPr/>
        </p:nvSpPr>
        <p:spPr>
          <a:xfrm>
            <a:off x="7423703" y="1407687"/>
            <a:ext cx="3772215" cy="646331"/>
          </a:xfrm>
          <a:prstGeom prst="rect">
            <a:avLst/>
          </a:prstGeom>
          <a:noFill/>
        </p:spPr>
        <p:txBody>
          <a:bodyPr wrap="square" rtlCol="0">
            <a:spAutoFit/>
          </a:bodyPr>
          <a:lstStyle/>
          <a:p>
            <a:pPr algn="ctr"/>
            <a:r>
              <a:rPr lang="en-US" dirty="0"/>
              <a:t>Assesses health status in COPD</a:t>
            </a:r>
          </a:p>
          <a:p>
            <a:pPr algn="ctr"/>
            <a:r>
              <a:rPr lang="en-US" dirty="0"/>
              <a:t>Each scored 1-5</a:t>
            </a:r>
          </a:p>
        </p:txBody>
      </p:sp>
      <p:graphicFrame>
        <p:nvGraphicFramePr>
          <p:cNvPr id="57" name="Table 57">
            <a:extLst>
              <a:ext uri="{FF2B5EF4-FFF2-40B4-BE49-F238E27FC236}">
                <a16:creationId xmlns:a16="http://schemas.microsoft.com/office/drawing/2014/main" id="{FD6C2B1E-EFE6-874E-01DE-4AB440E3CD90}"/>
              </a:ext>
            </a:extLst>
          </p:cNvPr>
          <p:cNvGraphicFramePr>
            <a:graphicFrameLocks noGrp="1"/>
          </p:cNvGraphicFramePr>
          <p:nvPr/>
        </p:nvGraphicFramePr>
        <p:xfrm>
          <a:off x="2833058" y="1532997"/>
          <a:ext cx="3577086" cy="1828800"/>
        </p:xfrm>
        <a:graphic>
          <a:graphicData uri="http://schemas.openxmlformats.org/drawingml/2006/table">
            <a:tbl>
              <a:tblPr firstRow="1" bandRow="1">
                <a:tableStyleId>{7E9639D4-E3E2-4D34-9284-5A2195B3D0D7}</a:tableStyleId>
              </a:tblPr>
              <a:tblGrid>
                <a:gridCol w="636797">
                  <a:extLst>
                    <a:ext uri="{9D8B030D-6E8A-4147-A177-3AD203B41FA5}">
                      <a16:colId xmlns:a16="http://schemas.microsoft.com/office/drawing/2014/main" val="1104165435"/>
                    </a:ext>
                  </a:extLst>
                </a:gridCol>
                <a:gridCol w="2940289">
                  <a:extLst>
                    <a:ext uri="{9D8B030D-6E8A-4147-A177-3AD203B41FA5}">
                      <a16:colId xmlns:a16="http://schemas.microsoft.com/office/drawing/2014/main" val="1002642672"/>
                    </a:ext>
                  </a:extLst>
                </a:gridCol>
              </a:tblGrid>
              <a:tr h="212795">
                <a:tc>
                  <a:txBody>
                    <a:bodyPr/>
                    <a:lstStyle/>
                    <a:p>
                      <a:pPr algn="ctr"/>
                      <a:r>
                        <a:rPr lang="en-US" sz="1400" dirty="0">
                          <a:solidFill>
                            <a:schemeClr val="bg1"/>
                          </a:solidFill>
                        </a:rPr>
                        <a:t>Score </a:t>
                      </a:r>
                    </a:p>
                  </a:txBody>
                  <a:tcPr anchor="ctr"/>
                </a:tc>
                <a:tc>
                  <a:txBody>
                    <a:bodyPr/>
                    <a:lstStyle/>
                    <a:p>
                      <a:pPr algn="ctr"/>
                      <a:r>
                        <a:rPr lang="en-US" sz="1400" dirty="0">
                          <a:solidFill>
                            <a:schemeClr val="bg1"/>
                          </a:solidFill>
                        </a:rPr>
                        <a:t>Symptom severity  (Dyspnea)</a:t>
                      </a:r>
                    </a:p>
                  </a:txBody>
                  <a:tcPr anchor="ctr"/>
                </a:tc>
                <a:extLst>
                  <a:ext uri="{0D108BD9-81ED-4DB2-BD59-A6C34878D82A}">
                    <a16:rowId xmlns:a16="http://schemas.microsoft.com/office/drawing/2014/main" val="3955632823"/>
                  </a:ext>
                </a:extLst>
              </a:tr>
              <a:tr h="212795">
                <a:tc>
                  <a:txBody>
                    <a:bodyPr/>
                    <a:lstStyle/>
                    <a:p>
                      <a:pPr algn="ctr"/>
                      <a:r>
                        <a:rPr lang="en-US" sz="1400" dirty="0"/>
                        <a:t>0</a:t>
                      </a:r>
                    </a:p>
                  </a:txBody>
                  <a:tcPr anchor="ctr"/>
                </a:tc>
                <a:tc>
                  <a:txBody>
                    <a:bodyPr/>
                    <a:lstStyle/>
                    <a:p>
                      <a:pPr algn="ctr"/>
                      <a:r>
                        <a:rPr lang="en-US" sz="1400" dirty="0"/>
                        <a:t>Strenuous exercise</a:t>
                      </a:r>
                    </a:p>
                  </a:txBody>
                  <a:tcPr anchor="ctr"/>
                </a:tc>
                <a:extLst>
                  <a:ext uri="{0D108BD9-81ED-4DB2-BD59-A6C34878D82A}">
                    <a16:rowId xmlns:a16="http://schemas.microsoft.com/office/drawing/2014/main" val="1586748303"/>
                  </a:ext>
                </a:extLst>
              </a:tr>
              <a:tr h="212795">
                <a:tc>
                  <a:txBody>
                    <a:bodyPr/>
                    <a:lstStyle/>
                    <a:p>
                      <a:pPr algn="ctr"/>
                      <a:r>
                        <a:rPr lang="en-US" sz="1400" dirty="0"/>
                        <a:t>1</a:t>
                      </a:r>
                    </a:p>
                  </a:txBody>
                  <a:tcPr anchor="ctr"/>
                </a:tc>
                <a:tc>
                  <a:txBody>
                    <a:bodyPr/>
                    <a:lstStyle/>
                    <a:p>
                      <a:pPr algn="ctr"/>
                      <a:r>
                        <a:rPr lang="en-US" sz="1400" dirty="0"/>
                        <a:t>Hurrying, walking up slight hill</a:t>
                      </a:r>
                    </a:p>
                  </a:txBody>
                  <a:tcPr anchor="ctr"/>
                </a:tc>
                <a:extLst>
                  <a:ext uri="{0D108BD9-81ED-4DB2-BD59-A6C34878D82A}">
                    <a16:rowId xmlns:a16="http://schemas.microsoft.com/office/drawing/2014/main" val="3374873850"/>
                  </a:ext>
                </a:extLst>
              </a:tr>
              <a:tr h="212795">
                <a:tc>
                  <a:txBody>
                    <a:bodyPr/>
                    <a:lstStyle/>
                    <a:p>
                      <a:pPr algn="ctr"/>
                      <a:r>
                        <a:rPr lang="en-US" sz="1400" dirty="0"/>
                        <a:t>2</a:t>
                      </a:r>
                    </a:p>
                  </a:txBody>
                  <a:tcPr anchor="ctr"/>
                </a:tc>
                <a:tc>
                  <a:txBody>
                    <a:bodyPr/>
                    <a:lstStyle/>
                    <a:p>
                      <a:pPr algn="ctr"/>
                      <a:r>
                        <a:rPr lang="en-US" sz="1400" dirty="0"/>
                        <a:t>Walking</a:t>
                      </a:r>
                    </a:p>
                  </a:txBody>
                  <a:tcPr anchor="ctr"/>
                </a:tc>
                <a:extLst>
                  <a:ext uri="{0D108BD9-81ED-4DB2-BD59-A6C34878D82A}">
                    <a16:rowId xmlns:a16="http://schemas.microsoft.com/office/drawing/2014/main" val="209880079"/>
                  </a:ext>
                </a:extLst>
              </a:tr>
              <a:tr h="212795">
                <a:tc>
                  <a:txBody>
                    <a:bodyPr/>
                    <a:lstStyle/>
                    <a:p>
                      <a:pPr algn="ctr"/>
                      <a:r>
                        <a:rPr lang="en-US" sz="1400" dirty="0"/>
                        <a:t>3</a:t>
                      </a:r>
                    </a:p>
                  </a:txBody>
                  <a:tcPr anchor="ctr"/>
                </a:tc>
                <a:tc>
                  <a:txBody>
                    <a:bodyPr/>
                    <a:lstStyle/>
                    <a:p>
                      <a:pPr algn="ctr"/>
                      <a:r>
                        <a:rPr lang="en-US" sz="1400" dirty="0"/>
                        <a:t>&lt;100 y or few min</a:t>
                      </a:r>
                    </a:p>
                  </a:txBody>
                  <a:tcPr anchor="ctr"/>
                </a:tc>
                <a:extLst>
                  <a:ext uri="{0D108BD9-81ED-4DB2-BD59-A6C34878D82A}">
                    <a16:rowId xmlns:a16="http://schemas.microsoft.com/office/drawing/2014/main" val="3202998609"/>
                  </a:ext>
                </a:extLst>
              </a:tr>
              <a:tr h="212795">
                <a:tc>
                  <a:txBody>
                    <a:bodyPr/>
                    <a:lstStyle/>
                    <a:p>
                      <a:pPr algn="ctr"/>
                      <a:r>
                        <a:rPr lang="en-US" sz="1400" dirty="0"/>
                        <a:t>4</a:t>
                      </a:r>
                    </a:p>
                  </a:txBody>
                  <a:tcPr anchor="ctr"/>
                </a:tc>
                <a:tc>
                  <a:txBody>
                    <a:bodyPr/>
                    <a:lstStyle/>
                    <a:p>
                      <a:pPr algn="ctr"/>
                      <a:r>
                        <a:rPr lang="en-US" sz="1400" dirty="0"/>
                        <a:t>With ADLs</a:t>
                      </a:r>
                    </a:p>
                  </a:txBody>
                  <a:tcPr anchor="ctr"/>
                </a:tc>
                <a:extLst>
                  <a:ext uri="{0D108BD9-81ED-4DB2-BD59-A6C34878D82A}">
                    <a16:rowId xmlns:a16="http://schemas.microsoft.com/office/drawing/2014/main" val="1388149608"/>
                  </a:ext>
                </a:extLst>
              </a:tr>
            </a:tbl>
          </a:graphicData>
        </a:graphic>
      </p:graphicFrame>
      <p:sp>
        <p:nvSpPr>
          <p:cNvPr id="63" name="TextBox 62">
            <a:extLst>
              <a:ext uri="{FF2B5EF4-FFF2-40B4-BE49-F238E27FC236}">
                <a16:creationId xmlns:a16="http://schemas.microsoft.com/office/drawing/2014/main" id="{3B689337-72AF-26D8-5916-AB7B8952C0BA}"/>
              </a:ext>
            </a:extLst>
          </p:cNvPr>
          <p:cNvSpPr txBox="1"/>
          <p:nvPr/>
        </p:nvSpPr>
        <p:spPr>
          <a:xfrm>
            <a:off x="7679849" y="2027592"/>
            <a:ext cx="1865870" cy="1077218"/>
          </a:xfrm>
          <a:prstGeom prst="rect">
            <a:avLst/>
          </a:prstGeom>
          <a:noFill/>
        </p:spPr>
        <p:txBody>
          <a:bodyPr wrap="square">
            <a:spAutoFit/>
          </a:bodyPr>
          <a:lstStyle/>
          <a:p>
            <a:pPr marL="115888" indent="-115888">
              <a:buFont typeface="Arial" panose="020B0604020202020204" pitchFamily="34" charset="0"/>
              <a:buChar char="•"/>
            </a:pPr>
            <a:r>
              <a:rPr lang="en-US" sz="1600" dirty="0"/>
              <a:t>Cough</a:t>
            </a:r>
          </a:p>
          <a:p>
            <a:pPr marL="115888" indent="-115888">
              <a:buFont typeface="Arial" panose="020B0604020202020204" pitchFamily="34" charset="0"/>
              <a:buChar char="•"/>
            </a:pPr>
            <a:r>
              <a:rPr lang="en-US" sz="1600" dirty="0"/>
              <a:t>Phlegm</a:t>
            </a:r>
          </a:p>
          <a:p>
            <a:pPr marL="115888" indent="-115888">
              <a:buFont typeface="Arial" panose="020B0604020202020204" pitchFamily="34" charset="0"/>
              <a:buChar char="•"/>
            </a:pPr>
            <a:r>
              <a:rPr lang="en-US" sz="1600" dirty="0"/>
              <a:t>Chest tightness</a:t>
            </a:r>
          </a:p>
          <a:p>
            <a:pPr marL="115888" indent="-115888">
              <a:buFont typeface="Arial" panose="020B0604020202020204" pitchFamily="34" charset="0"/>
              <a:buChar char="•"/>
            </a:pPr>
            <a:r>
              <a:rPr lang="en-US" sz="1600" dirty="0"/>
              <a:t>Breathlessness</a:t>
            </a:r>
          </a:p>
        </p:txBody>
      </p:sp>
      <p:sp>
        <p:nvSpPr>
          <p:cNvPr id="64" name="TextBox 63">
            <a:extLst>
              <a:ext uri="{FF2B5EF4-FFF2-40B4-BE49-F238E27FC236}">
                <a16:creationId xmlns:a16="http://schemas.microsoft.com/office/drawing/2014/main" id="{E65E25AF-369B-7444-A83E-253ED8BCFFB0}"/>
              </a:ext>
            </a:extLst>
          </p:cNvPr>
          <p:cNvSpPr txBox="1"/>
          <p:nvPr/>
        </p:nvSpPr>
        <p:spPr>
          <a:xfrm>
            <a:off x="9460401" y="2023370"/>
            <a:ext cx="1865870" cy="1077218"/>
          </a:xfrm>
          <a:prstGeom prst="rect">
            <a:avLst/>
          </a:prstGeom>
          <a:noFill/>
        </p:spPr>
        <p:txBody>
          <a:bodyPr wrap="square">
            <a:spAutoFit/>
          </a:bodyPr>
          <a:lstStyle/>
          <a:p>
            <a:pPr marL="115888" indent="-115888">
              <a:buFont typeface="Arial" panose="020B0604020202020204" pitchFamily="34" charset="0"/>
              <a:buChar char="•"/>
            </a:pPr>
            <a:r>
              <a:rPr lang="en-US" sz="1600" dirty="0"/>
              <a:t>Activities</a:t>
            </a:r>
          </a:p>
          <a:p>
            <a:pPr marL="115888" indent="-115888">
              <a:buFont typeface="Arial" panose="020B0604020202020204" pitchFamily="34" charset="0"/>
              <a:buChar char="•"/>
            </a:pPr>
            <a:r>
              <a:rPr lang="en-US" sz="1600" dirty="0"/>
              <a:t>Confidence</a:t>
            </a:r>
          </a:p>
          <a:p>
            <a:pPr marL="115888" indent="-115888">
              <a:buFont typeface="Arial" panose="020B0604020202020204" pitchFamily="34" charset="0"/>
              <a:buChar char="•"/>
            </a:pPr>
            <a:r>
              <a:rPr lang="en-US" sz="1600" dirty="0"/>
              <a:t>Sleep </a:t>
            </a:r>
          </a:p>
          <a:p>
            <a:pPr marL="115888" indent="-115888">
              <a:buFont typeface="Arial" panose="020B0604020202020204" pitchFamily="34" charset="0"/>
              <a:buChar char="•"/>
            </a:pPr>
            <a:r>
              <a:rPr lang="en-US" sz="1600" dirty="0"/>
              <a:t>Energy</a:t>
            </a:r>
          </a:p>
        </p:txBody>
      </p:sp>
      <p:sp>
        <p:nvSpPr>
          <p:cNvPr id="5" name="question 1">
            <a:hlinkClick r:id="rId5" action="ppaction://hlinksldjump"/>
            <a:extLst>
              <a:ext uri="{FF2B5EF4-FFF2-40B4-BE49-F238E27FC236}">
                <a16:creationId xmlns:a16="http://schemas.microsoft.com/office/drawing/2014/main" id="{1911936D-25B8-461D-E842-5B4BF388FAE9}"/>
              </a:ext>
            </a:extLst>
          </p:cNvPr>
          <p:cNvSpPr txBox="1"/>
          <p:nvPr/>
        </p:nvSpPr>
        <p:spPr>
          <a:xfrm>
            <a:off x="181642" y="159488"/>
            <a:ext cx="1645920"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Diagnosis</a:t>
            </a:r>
          </a:p>
        </p:txBody>
      </p:sp>
      <p:sp>
        <p:nvSpPr>
          <p:cNvPr id="9" name="Question 2">
            <a:hlinkClick r:id="rId6" action="ppaction://hlinksldjump"/>
            <a:extLst>
              <a:ext uri="{FF2B5EF4-FFF2-40B4-BE49-F238E27FC236}">
                <a16:creationId xmlns:a16="http://schemas.microsoft.com/office/drawing/2014/main" id="{0E5809F9-E498-F54C-3A6F-3C98CF9A8E98}"/>
              </a:ext>
            </a:extLst>
          </p:cNvPr>
          <p:cNvSpPr txBox="1"/>
          <p:nvPr/>
        </p:nvSpPr>
        <p:spPr>
          <a:xfrm>
            <a:off x="181642" y="1303550"/>
            <a:ext cx="1645920"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Management</a:t>
            </a:r>
          </a:p>
        </p:txBody>
      </p:sp>
      <p:sp>
        <p:nvSpPr>
          <p:cNvPr id="11" name="Question 2">
            <a:hlinkClick r:id="rId7" action="ppaction://hlinksldjump"/>
            <a:extLst>
              <a:ext uri="{FF2B5EF4-FFF2-40B4-BE49-F238E27FC236}">
                <a16:creationId xmlns:a16="http://schemas.microsoft.com/office/drawing/2014/main" id="{EE770DC8-B188-A08D-93E1-7D84105B1A5F}"/>
              </a:ext>
            </a:extLst>
          </p:cNvPr>
          <p:cNvSpPr txBox="1"/>
          <p:nvPr/>
        </p:nvSpPr>
        <p:spPr>
          <a:xfrm>
            <a:off x="181642" y="731519"/>
            <a:ext cx="1645920" cy="408623"/>
          </a:xfrm>
          <a:prstGeom prst="roundRect">
            <a:avLst/>
          </a:prstGeom>
          <a:solidFill>
            <a:schemeClr val="tx1"/>
          </a:solidFill>
          <a:ln w="38100"/>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chemeClr val="bg1"/>
                </a:solidFill>
              </a:rPr>
              <a:t>Classification</a:t>
            </a:r>
          </a:p>
        </p:txBody>
      </p:sp>
      <p:pic>
        <p:nvPicPr>
          <p:cNvPr id="13" name="Graphic 12" descr="Cursor with solid fill">
            <a:extLst>
              <a:ext uri="{FF2B5EF4-FFF2-40B4-BE49-F238E27FC236}">
                <a16:creationId xmlns:a16="http://schemas.microsoft.com/office/drawing/2014/main" id="{A15027FE-573E-295A-62C8-B0B9C141424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701287" y="435897"/>
            <a:ext cx="274320" cy="274320"/>
          </a:xfrm>
          <a:prstGeom prst="rect">
            <a:avLst/>
          </a:prstGeom>
        </p:spPr>
      </p:pic>
      <p:pic>
        <p:nvPicPr>
          <p:cNvPr id="20" name="Graphic 19" descr="Cursor with solid fill">
            <a:extLst>
              <a:ext uri="{FF2B5EF4-FFF2-40B4-BE49-F238E27FC236}">
                <a16:creationId xmlns:a16="http://schemas.microsoft.com/office/drawing/2014/main" id="{FC6F4B2E-75A3-E279-50DB-BA745FB96CD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701287" y="1579083"/>
            <a:ext cx="274320" cy="274320"/>
          </a:xfrm>
          <a:prstGeom prst="rect">
            <a:avLst/>
          </a:prstGeom>
        </p:spPr>
      </p:pic>
      <p:cxnSp>
        <p:nvCxnSpPr>
          <p:cNvPr id="47" name="Straight Connector 46">
            <a:extLst>
              <a:ext uri="{FF2B5EF4-FFF2-40B4-BE49-F238E27FC236}">
                <a16:creationId xmlns:a16="http://schemas.microsoft.com/office/drawing/2014/main" id="{D6EDF513-A738-C09D-AE40-4E66D007BDDD}"/>
              </a:ext>
            </a:extLst>
          </p:cNvPr>
          <p:cNvCxnSpPr/>
          <p:nvPr/>
        </p:nvCxnSpPr>
        <p:spPr>
          <a:xfrm>
            <a:off x="333955" y="3629607"/>
            <a:ext cx="11383347" cy="0"/>
          </a:xfrm>
          <a:prstGeom prst="line">
            <a:avLst/>
          </a:prstGeom>
        </p:spPr>
        <p:style>
          <a:lnRef idx="3">
            <a:schemeClr val="dk1"/>
          </a:lnRef>
          <a:fillRef idx="0">
            <a:schemeClr val="dk1"/>
          </a:fillRef>
          <a:effectRef idx="2">
            <a:schemeClr val="dk1"/>
          </a:effectRef>
          <a:fontRef idx="minor">
            <a:schemeClr val="tx1"/>
          </a:fontRef>
        </p:style>
      </p:cxnSp>
      <p:sp>
        <p:nvSpPr>
          <p:cNvPr id="49" name="TextBox 48">
            <a:extLst>
              <a:ext uri="{FF2B5EF4-FFF2-40B4-BE49-F238E27FC236}">
                <a16:creationId xmlns:a16="http://schemas.microsoft.com/office/drawing/2014/main" id="{4583AB26-771C-84AA-6802-6A775080E490}"/>
              </a:ext>
            </a:extLst>
          </p:cNvPr>
          <p:cNvSpPr txBox="1"/>
          <p:nvPr/>
        </p:nvSpPr>
        <p:spPr>
          <a:xfrm>
            <a:off x="3378721" y="110643"/>
            <a:ext cx="6710159" cy="461665"/>
          </a:xfrm>
          <a:prstGeom prst="rect">
            <a:avLst/>
          </a:prstGeom>
          <a:noFill/>
        </p:spPr>
        <p:txBody>
          <a:bodyPr wrap="square" rtlCol="0">
            <a:spAutoFit/>
          </a:bodyPr>
          <a:lstStyle/>
          <a:p>
            <a:pPr algn="ctr"/>
            <a:r>
              <a:rPr lang="en-US" sz="2400" b="1" dirty="0"/>
              <a:t>Classification</a:t>
            </a:r>
          </a:p>
        </p:txBody>
      </p:sp>
      <p:sp>
        <p:nvSpPr>
          <p:cNvPr id="50" name="TextBox 49">
            <a:extLst>
              <a:ext uri="{FF2B5EF4-FFF2-40B4-BE49-F238E27FC236}">
                <a16:creationId xmlns:a16="http://schemas.microsoft.com/office/drawing/2014/main" id="{D7C1EB8B-C777-B817-2527-07A16517C39D}"/>
              </a:ext>
            </a:extLst>
          </p:cNvPr>
          <p:cNvSpPr txBox="1"/>
          <p:nvPr/>
        </p:nvSpPr>
        <p:spPr>
          <a:xfrm>
            <a:off x="4545253" y="605529"/>
            <a:ext cx="4292082" cy="369332"/>
          </a:xfrm>
          <a:prstGeom prst="rect">
            <a:avLst/>
          </a:prstGeom>
          <a:noFill/>
        </p:spPr>
        <p:txBody>
          <a:bodyPr wrap="square" rtlCol="0">
            <a:spAutoFit/>
          </a:bodyPr>
          <a:lstStyle/>
          <a:p>
            <a:pPr algn="ctr"/>
            <a:r>
              <a:rPr lang="en-US" b="1" dirty="0"/>
              <a:t>Scores of symptom severity</a:t>
            </a:r>
          </a:p>
        </p:txBody>
      </p:sp>
      <p:sp>
        <p:nvSpPr>
          <p:cNvPr id="60" name="Group A">
            <a:extLst>
              <a:ext uri="{FF2B5EF4-FFF2-40B4-BE49-F238E27FC236}">
                <a16:creationId xmlns:a16="http://schemas.microsoft.com/office/drawing/2014/main" id="{557F4340-7AD1-BA25-63BF-F250DCA4C28E}"/>
              </a:ext>
            </a:extLst>
          </p:cNvPr>
          <p:cNvSpPr/>
          <p:nvPr/>
        </p:nvSpPr>
        <p:spPr>
          <a:xfrm>
            <a:off x="1556969" y="4469126"/>
            <a:ext cx="1311573" cy="395275"/>
          </a:xfrm>
          <a:prstGeom prst="roundRect">
            <a:avLst/>
          </a:prstGeom>
          <a:solidFill>
            <a:schemeClr val="bg1"/>
          </a:solidFill>
          <a:ln w="38100">
            <a:solidFill>
              <a:schemeClr val="accent4"/>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Group A</a:t>
            </a:r>
          </a:p>
        </p:txBody>
      </p:sp>
      <p:pic>
        <p:nvPicPr>
          <p:cNvPr id="61" name="Graphic 60" descr="Cursor with solid fill">
            <a:extLst>
              <a:ext uri="{FF2B5EF4-FFF2-40B4-BE49-F238E27FC236}">
                <a16:creationId xmlns:a16="http://schemas.microsoft.com/office/drawing/2014/main" id="{2F980EEE-D9E3-8493-5109-7D5ADEA9612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740033" y="4734509"/>
            <a:ext cx="274320" cy="274320"/>
          </a:xfrm>
          <a:prstGeom prst="rect">
            <a:avLst/>
          </a:prstGeom>
        </p:spPr>
      </p:pic>
      <p:sp>
        <p:nvSpPr>
          <p:cNvPr id="66" name="Group B">
            <a:extLst>
              <a:ext uri="{FF2B5EF4-FFF2-40B4-BE49-F238E27FC236}">
                <a16:creationId xmlns:a16="http://schemas.microsoft.com/office/drawing/2014/main" id="{564105E7-7E0E-4435-309E-2E980430BA9E}"/>
              </a:ext>
            </a:extLst>
          </p:cNvPr>
          <p:cNvSpPr/>
          <p:nvPr/>
        </p:nvSpPr>
        <p:spPr>
          <a:xfrm>
            <a:off x="1556969" y="5146530"/>
            <a:ext cx="1311573" cy="395275"/>
          </a:xfrm>
          <a:prstGeom prst="roundRect">
            <a:avLst/>
          </a:prstGeom>
          <a:solidFill>
            <a:schemeClr val="bg1"/>
          </a:solidFill>
          <a:ln w="38100">
            <a:solidFill>
              <a:schemeClr val="accent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Group B</a:t>
            </a:r>
          </a:p>
        </p:txBody>
      </p:sp>
      <p:pic>
        <p:nvPicPr>
          <p:cNvPr id="67" name="Graphic 66" descr="Cursor with solid fill">
            <a:extLst>
              <a:ext uri="{FF2B5EF4-FFF2-40B4-BE49-F238E27FC236}">
                <a16:creationId xmlns:a16="http://schemas.microsoft.com/office/drawing/2014/main" id="{247204DE-A94C-A4FB-9201-AE6A72DDAF1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740033" y="5411913"/>
            <a:ext cx="274320" cy="274320"/>
          </a:xfrm>
          <a:prstGeom prst="rect">
            <a:avLst/>
          </a:prstGeom>
        </p:spPr>
      </p:pic>
      <p:sp>
        <p:nvSpPr>
          <p:cNvPr id="68" name="Group E">
            <a:extLst>
              <a:ext uri="{FF2B5EF4-FFF2-40B4-BE49-F238E27FC236}">
                <a16:creationId xmlns:a16="http://schemas.microsoft.com/office/drawing/2014/main" id="{E9742A40-9541-6147-E507-86DAAFB735AD}"/>
              </a:ext>
            </a:extLst>
          </p:cNvPr>
          <p:cNvSpPr/>
          <p:nvPr/>
        </p:nvSpPr>
        <p:spPr>
          <a:xfrm>
            <a:off x="1556969" y="5808219"/>
            <a:ext cx="1311573" cy="395275"/>
          </a:xfrm>
          <a:prstGeom prst="roundRect">
            <a:avLst/>
          </a:prstGeom>
          <a:solidFill>
            <a:schemeClr val="bg1"/>
          </a:solidFill>
          <a:ln w="38100">
            <a:solidFill>
              <a:srgbClr val="C0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Group E</a:t>
            </a:r>
          </a:p>
        </p:txBody>
      </p:sp>
      <p:grpSp>
        <p:nvGrpSpPr>
          <p:cNvPr id="72" name="Group 71">
            <a:extLst>
              <a:ext uri="{FF2B5EF4-FFF2-40B4-BE49-F238E27FC236}">
                <a16:creationId xmlns:a16="http://schemas.microsoft.com/office/drawing/2014/main" id="{D2837F22-BED6-15FB-1226-0DA241DCA307}"/>
              </a:ext>
            </a:extLst>
          </p:cNvPr>
          <p:cNvGrpSpPr/>
          <p:nvPr/>
        </p:nvGrpSpPr>
        <p:grpSpPr>
          <a:xfrm>
            <a:off x="3169062" y="4188839"/>
            <a:ext cx="7922077" cy="2386957"/>
            <a:chOff x="2397140" y="4418875"/>
            <a:chExt cx="7922077" cy="2029459"/>
          </a:xfrm>
        </p:grpSpPr>
        <p:grpSp>
          <p:nvGrpSpPr>
            <p:cNvPr id="44" name="Group 43">
              <a:extLst>
                <a:ext uri="{FF2B5EF4-FFF2-40B4-BE49-F238E27FC236}">
                  <a16:creationId xmlns:a16="http://schemas.microsoft.com/office/drawing/2014/main" id="{8E7D5AEB-80A2-6B87-579F-CEE51093946C}"/>
                </a:ext>
              </a:extLst>
            </p:cNvPr>
            <p:cNvGrpSpPr/>
            <p:nvPr/>
          </p:nvGrpSpPr>
          <p:grpSpPr>
            <a:xfrm>
              <a:off x="2397140" y="4418875"/>
              <a:ext cx="7922077" cy="2029459"/>
              <a:chOff x="6792073" y="1303590"/>
              <a:chExt cx="7922077" cy="2029459"/>
            </a:xfrm>
          </p:grpSpPr>
          <p:grpSp>
            <p:nvGrpSpPr>
              <p:cNvPr id="34" name="Group 33">
                <a:extLst>
                  <a:ext uri="{FF2B5EF4-FFF2-40B4-BE49-F238E27FC236}">
                    <a16:creationId xmlns:a16="http://schemas.microsoft.com/office/drawing/2014/main" id="{381D5572-30DA-7C32-5FA4-8720FCAE9BAB}"/>
                  </a:ext>
                </a:extLst>
              </p:cNvPr>
              <p:cNvGrpSpPr/>
              <p:nvPr/>
            </p:nvGrpSpPr>
            <p:grpSpPr>
              <a:xfrm>
                <a:off x="6792073" y="1303590"/>
                <a:ext cx="7922077" cy="1897458"/>
                <a:chOff x="2932454" y="968096"/>
                <a:chExt cx="8497150" cy="2509364"/>
              </a:xfrm>
            </p:grpSpPr>
            <p:grpSp>
              <p:nvGrpSpPr>
                <p:cNvPr id="29" name="Group 28">
                  <a:extLst>
                    <a:ext uri="{FF2B5EF4-FFF2-40B4-BE49-F238E27FC236}">
                      <a16:creationId xmlns:a16="http://schemas.microsoft.com/office/drawing/2014/main" id="{5285776D-1B27-830A-532A-93B592B1A1AB}"/>
                    </a:ext>
                  </a:extLst>
                </p:cNvPr>
                <p:cNvGrpSpPr/>
                <p:nvPr/>
              </p:nvGrpSpPr>
              <p:grpSpPr>
                <a:xfrm>
                  <a:off x="3645774" y="968096"/>
                  <a:ext cx="6530809" cy="2356223"/>
                  <a:chOff x="3151982" y="1232800"/>
                  <a:chExt cx="7634064" cy="3421529"/>
                </a:xfrm>
              </p:grpSpPr>
              <p:cxnSp>
                <p:nvCxnSpPr>
                  <p:cNvPr id="30" name="Straight Arrow Connector 29">
                    <a:extLst>
                      <a:ext uri="{FF2B5EF4-FFF2-40B4-BE49-F238E27FC236}">
                        <a16:creationId xmlns:a16="http://schemas.microsoft.com/office/drawing/2014/main" id="{6DC19A89-521F-E094-59EF-5689E57F8688}"/>
                      </a:ext>
                    </a:extLst>
                  </p:cNvPr>
                  <p:cNvCxnSpPr>
                    <a:cxnSpLocks/>
                  </p:cNvCxnSpPr>
                  <p:nvPr/>
                </p:nvCxnSpPr>
                <p:spPr>
                  <a:xfrm flipV="1">
                    <a:off x="3151982" y="1232800"/>
                    <a:ext cx="0" cy="340611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1" name="Straight Arrow Connector 30">
                    <a:extLst>
                      <a:ext uri="{FF2B5EF4-FFF2-40B4-BE49-F238E27FC236}">
                        <a16:creationId xmlns:a16="http://schemas.microsoft.com/office/drawing/2014/main" id="{2F77113E-7AF8-F273-74BF-19BD0EBE7C24}"/>
                      </a:ext>
                    </a:extLst>
                  </p:cNvPr>
                  <p:cNvCxnSpPr>
                    <a:cxnSpLocks/>
                  </p:cNvCxnSpPr>
                  <p:nvPr/>
                </p:nvCxnSpPr>
                <p:spPr>
                  <a:xfrm>
                    <a:off x="3151982" y="4635573"/>
                    <a:ext cx="7634064" cy="18756"/>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sp>
              <p:nvSpPr>
                <p:cNvPr id="32" name="TextBox 31">
                  <a:extLst>
                    <a:ext uri="{FF2B5EF4-FFF2-40B4-BE49-F238E27FC236}">
                      <a16:creationId xmlns:a16="http://schemas.microsoft.com/office/drawing/2014/main" id="{9F548EE0-B4FA-6BEE-380C-F8EDA0002C2B}"/>
                    </a:ext>
                  </a:extLst>
                </p:cNvPr>
                <p:cNvSpPr txBox="1"/>
                <p:nvPr/>
              </p:nvSpPr>
              <p:spPr>
                <a:xfrm>
                  <a:off x="10052986" y="3104697"/>
                  <a:ext cx="1376618" cy="369331"/>
                </a:xfrm>
                <a:prstGeom prst="rect">
                  <a:avLst/>
                </a:prstGeom>
                <a:noFill/>
              </p:spPr>
              <p:txBody>
                <a:bodyPr wrap="square" rtlCol="0">
                  <a:spAutoFit/>
                </a:bodyPr>
                <a:lstStyle/>
                <a:p>
                  <a:pPr algn="ctr"/>
                  <a:r>
                    <a:rPr lang="en-US" dirty="0"/>
                    <a:t>Symptoms </a:t>
                  </a:r>
                </a:p>
              </p:txBody>
            </p:sp>
            <p:sp>
              <p:nvSpPr>
                <p:cNvPr id="33" name="TextBox 32">
                  <a:extLst>
                    <a:ext uri="{FF2B5EF4-FFF2-40B4-BE49-F238E27FC236}">
                      <a16:creationId xmlns:a16="http://schemas.microsoft.com/office/drawing/2014/main" id="{F13A438C-1D2B-E2C9-C69C-AC135FFAA54A}"/>
                    </a:ext>
                  </a:extLst>
                </p:cNvPr>
                <p:cNvSpPr txBox="1"/>
                <p:nvPr/>
              </p:nvSpPr>
              <p:spPr>
                <a:xfrm rot="16200000">
                  <a:off x="1933567" y="2012647"/>
                  <a:ext cx="2463700" cy="465925"/>
                </a:xfrm>
                <a:prstGeom prst="rect">
                  <a:avLst/>
                </a:prstGeom>
                <a:noFill/>
              </p:spPr>
              <p:txBody>
                <a:bodyPr wrap="square" rtlCol="0">
                  <a:spAutoFit/>
                </a:bodyPr>
                <a:lstStyle/>
                <a:p>
                  <a:pPr algn="ctr"/>
                  <a:r>
                    <a:rPr lang="en-US" dirty="0"/>
                    <a:t>Exacerbations/ year</a:t>
                  </a:r>
                </a:p>
              </p:txBody>
            </p:sp>
          </p:grpSp>
          <p:sp>
            <p:nvSpPr>
              <p:cNvPr id="36" name="TextBox 35">
                <a:extLst>
                  <a:ext uri="{FF2B5EF4-FFF2-40B4-BE49-F238E27FC236}">
                    <a16:creationId xmlns:a16="http://schemas.microsoft.com/office/drawing/2014/main" id="{C643856D-3725-B9E5-E6CF-EFDF664C7F14}"/>
                  </a:ext>
                </a:extLst>
              </p:cNvPr>
              <p:cNvSpPr txBox="1"/>
              <p:nvPr/>
            </p:nvSpPr>
            <p:spPr>
              <a:xfrm>
                <a:off x="7986880" y="3045201"/>
                <a:ext cx="770948" cy="287848"/>
              </a:xfrm>
              <a:prstGeom prst="rect">
                <a:avLst/>
              </a:prstGeom>
              <a:noFill/>
            </p:spPr>
            <p:txBody>
              <a:bodyPr wrap="square" rtlCol="0">
                <a:spAutoFit/>
              </a:bodyPr>
              <a:lstStyle/>
              <a:p>
                <a:pPr algn="ctr"/>
                <a:r>
                  <a:rPr lang="en-US" sz="1600" dirty="0"/>
                  <a:t>Mild </a:t>
                </a:r>
              </a:p>
            </p:txBody>
          </p:sp>
          <p:sp>
            <p:nvSpPr>
              <p:cNvPr id="40" name="TextBox 39">
                <a:extLst>
                  <a:ext uri="{FF2B5EF4-FFF2-40B4-BE49-F238E27FC236}">
                    <a16:creationId xmlns:a16="http://schemas.microsoft.com/office/drawing/2014/main" id="{74E7582A-D7CD-9AD2-E155-6A5EA0907CD4}"/>
                  </a:ext>
                </a:extLst>
              </p:cNvPr>
              <p:cNvSpPr txBox="1"/>
              <p:nvPr/>
            </p:nvSpPr>
            <p:spPr>
              <a:xfrm>
                <a:off x="10564543" y="3045201"/>
                <a:ext cx="1191311" cy="287848"/>
              </a:xfrm>
              <a:prstGeom prst="rect">
                <a:avLst/>
              </a:prstGeom>
              <a:noFill/>
            </p:spPr>
            <p:txBody>
              <a:bodyPr wrap="square" rtlCol="0">
                <a:spAutoFit/>
              </a:bodyPr>
              <a:lstStyle/>
              <a:p>
                <a:pPr algn="ctr"/>
                <a:r>
                  <a:rPr lang="en-US" sz="1600" dirty="0"/>
                  <a:t>Moderate </a:t>
                </a:r>
              </a:p>
            </p:txBody>
          </p:sp>
          <p:sp>
            <p:nvSpPr>
              <p:cNvPr id="42" name="TextBox 41">
                <a:extLst>
                  <a:ext uri="{FF2B5EF4-FFF2-40B4-BE49-F238E27FC236}">
                    <a16:creationId xmlns:a16="http://schemas.microsoft.com/office/drawing/2014/main" id="{DC247CE3-4538-DE51-5833-9EF89D779E9A}"/>
                  </a:ext>
                </a:extLst>
              </p:cNvPr>
              <p:cNvSpPr txBox="1"/>
              <p:nvPr/>
            </p:nvSpPr>
            <p:spPr>
              <a:xfrm>
                <a:off x="12410944" y="3045201"/>
                <a:ext cx="1191311" cy="287848"/>
              </a:xfrm>
              <a:prstGeom prst="rect">
                <a:avLst/>
              </a:prstGeom>
              <a:noFill/>
            </p:spPr>
            <p:txBody>
              <a:bodyPr wrap="square" rtlCol="0">
                <a:spAutoFit/>
              </a:bodyPr>
              <a:lstStyle/>
              <a:p>
                <a:pPr algn="ctr"/>
                <a:r>
                  <a:rPr lang="en-US" sz="1600" dirty="0"/>
                  <a:t>Severe </a:t>
                </a:r>
              </a:p>
            </p:txBody>
          </p:sp>
        </p:grpSp>
        <p:sp>
          <p:nvSpPr>
            <p:cNvPr id="62" name="TextBox 61">
              <a:extLst>
                <a:ext uri="{FF2B5EF4-FFF2-40B4-BE49-F238E27FC236}">
                  <a16:creationId xmlns:a16="http://schemas.microsoft.com/office/drawing/2014/main" id="{BE83F7B0-56D5-A6E2-763C-7FBC149F9242}"/>
                </a:ext>
              </a:extLst>
            </p:cNvPr>
            <p:cNvSpPr txBox="1"/>
            <p:nvPr/>
          </p:nvSpPr>
          <p:spPr>
            <a:xfrm>
              <a:off x="2642912" y="6046127"/>
              <a:ext cx="548640" cy="287848"/>
            </a:xfrm>
            <a:prstGeom prst="rect">
              <a:avLst/>
            </a:prstGeom>
            <a:noFill/>
          </p:spPr>
          <p:txBody>
            <a:bodyPr wrap="square" rtlCol="0">
              <a:spAutoFit/>
            </a:bodyPr>
            <a:lstStyle/>
            <a:p>
              <a:pPr algn="ctr"/>
              <a:r>
                <a:rPr lang="en-US" sz="1600" dirty="0"/>
                <a:t>0 </a:t>
              </a:r>
            </a:p>
          </p:txBody>
        </p:sp>
        <p:sp>
          <p:nvSpPr>
            <p:cNvPr id="65" name="TextBox 64">
              <a:extLst>
                <a:ext uri="{FF2B5EF4-FFF2-40B4-BE49-F238E27FC236}">
                  <a16:creationId xmlns:a16="http://schemas.microsoft.com/office/drawing/2014/main" id="{1DAC3429-448D-6C27-33AE-EA409B375304}"/>
                </a:ext>
              </a:extLst>
            </p:cNvPr>
            <p:cNvSpPr txBox="1"/>
            <p:nvPr/>
          </p:nvSpPr>
          <p:spPr>
            <a:xfrm>
              <a:off x="2642912" y="5513002"/>
              <a:ext cx="548640" cy="287848"/>
            </a:xfrm>
            <a:prstGeom prst="rect">
              <a:avLst/>
            </a:prstGeom>
            <a:noFill/>
          </p:spPr>
          <p:txBody>
            <a:bodyPr wrap="square" rtlCol="0">
              <a:spAutoFit/>
            </a:bodyPr>
            <a:lstStyle/>
            <a:p>
              <a:pPr algn="ctr"/>
              <a:r>
                <a:rPr lang="en-US" sz="1600" dirty="0"/>
                <a:t>1 </a:t>
              </a:r>
            </a:p>
          </p:txBody>
        </p:sp>
        <p:sp>
          <p:nvSpPr>
            <p:cNvPr id="70" name="TextBox 69">
              <a:extLst>
                <a:ext uri="{FF2B5EF4-FFF2-40B4-BE49-F238E27FC236}">
                  <a16:creationId xmlns:a16="http://schemas.microsoft.com/office/drawing/2014/main" id="{A8EE1F08-E3D5-1ECA-CD26-BD4903B8FF9B}"/>
                </a:ext>
              </a:extLst>
            </p:cNvPr>
            <p:cNvSpPr txBox="1"/>
            <p:nvPr/>
          </p:nvSpPr>
          <p:spPr>
            <a:xfrm>
              <a:off x="2642912" y="4979874"/>
              <a:ext cx="548640" cy="287848"/>
            </a:xfrm>
            <a:prstGeom prst="rect">
              <a:avLst/>
            </a:prstGeom>
            <a:noFill/>
          </p:spPr>
          <p:txBody>
            <a:bodyPr wrap="square" rtlCol="0">
              <a:spAutoFit/>
            </a:bodyPr>
            <a:lstStyle/>
            <a:p>
              <a:pPr algn="ctr"/>
              <a:r>
                <a:rPr lang="en-US" sz="1600" dirty="0"/>
                <a:t>2 </a:t>
              </a:r>
            </a:p>
          </p:txBody>
        </p:sp>
        <p:sp>
          <p:nvSpPr>
            <p:cNvPr id="71" name="TextBox 70">
              <a:extLst>
                <a:ext uri="{FF2B5EF4-FFF2-40B4-BE49-F238E27FC236}">
                  <a16:creationId xmlns:a16="http://schemas.microsoft.com/office/drawing/2014/main" id="{EAD2BDF1-A79E-AF6F-28D5-3DB2D01B4391}"/>
                </a:ext>
              </a:extLst>
            </p:cNvPr>
            <p:cNvSpPr txBox="1"/>
            <p:nvPr/>
          </p:nvSpPr>
          <p:spPr>
            <a:xfrm>
              <a:off x="2642912" y="4446745"/>
              <a:ext cx="548640" cy="287848"/>
            </a:xfrm>
            <a:prstGeom prst="rect">
              <a:avLst/>
            </a:prstGeom>
            <a:noFill/>
          </p:spPr>
          <p:txBody>
            <a:bodyPr wrap="square" rtlCol="0">
              <a:spAutoFit/>
            </a:bodyPr>
            <a:lstStyle/>
            <a:p>
              <a:pPr algn="ctr"/>
              <a:r>
                <a:rPr lang="en-US" sz="1600" dirty="0"/>
                <a:t>3 </a:t>
              </a:r>
            </a:p>
          </p:txBody>
        </p:sp>
      </p:grpSp>
      <p:sp>
        <p:nvSpPr>
          <p:cNvPr id="75" name="Rectangle: Rounded Corners 74">
            <a:extLst>
              <a:ext uri="{FF2B5EF4-FFF2-40B4-BE49-F238E27FC236}">
                <a16:creationId xmlns:a16="http://schemas.microsoft.com/office/drawing/2014/main" id="{E1251735-DC84-387B-3EC3-9C2E6F1246D8}"/>
              </a:ext>
            </a:extLst>
          </p:cNvPr>
          <p:cNvSpPr/>
          <p:nvPr/>
        </p:nvSpPr>
        <p:spPr>
          <a:xfrm>
            <a:off x="3934898" y="5279266"/>
            <a:ext cx="2684198" cy="915727"/>
          </a:xfrm>
          <a:prstGeom prst="roundRect">
            <a:avLst/>
          </a:prstGeom>
          <a:solidFill>
            <a:schemeClr val="accent4"/>
          </a:solidFill>
          <a:ln w="381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b="1" dirty="0">
                <a:solidFill>
                  <a:schemeClr val="bg1"/>
                </a:solidFill>
              </a:rPr>
              <a:t>Group A</a:t>
            </a:r>
          </a:p>
          <a:p>
            <a:pPr algn="ctr"/>
            <a:r>
              <a:rPr lang="en-US" sz="1600" dirty="0" err="1">
                <a:solidFill>
                  <a:schemeClr val="bg1"/>
                </a:solidFill>
              </a:rPr>
              <a:t>mMRC</a:t>
            </a:r>
            <a:r>
              <a:rPr lang="en-US" sz="1600" dirty="0">
                <a:solidFill>
                  <a:schemeClr val="bg1"/>
                </a:solidFill>
              </a:rPr>
              <a:t> 0-1|CAT &lt;10</a:t>
            </a:r>
          </a:p>
          <a:p>
            <a:pPr algn="ctr"/>
            <a:r>
              <a:rPr lang="en-US" sz="1600" dirty="0">
                <a:solidFill>
                  <a:schemeClr val="bg1"/>
                </a:solidFill>
              </a:rPr>
              <a:t>0-1 exacerbations</a:t>
            </a:r>
          </a:p>
        </p:txBody>
      </p:sp>
      <p:sp>
        <p:nvSpPr>
          <p:cNvPr id="76" name="Rectangle: Rounded Corners 75">
            <a:extLst>
              <a:ext uri="{FF2B5EF4-FFF2-40B4-BE49-F238E27FC236}">
                <a16:creationId xmlns:a16="http://schemas.microsoft.com/office/drawing/2014/main" id="{EEF051F5-0F94-5707-C1F6-D7FCAA56136A}"/>
              </a:ext>
            </a:extLst>
          </p:cNvPr>
          <p:cNvSpPr/>
          <p:nvPr/>
        </p:nvSpPr>
        <p:spPr>
          <a:xfrm>
            <a:off x="7048897" y="5279266"/>
            <a:ext cx="2667000" cy="915727"/>
          </a:xfrm>
          <a:prstGeom prst="roundRect">
            <a:avLst/>
          </a:prstGeom>
          <a:solidFill>
            <a:schemeClr val="accent2"/>
          </a:solid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b="1" dirty="0">
                <a:solidFill>
                  <a:schemeClr val="bg1"/>
                </a:solidFill>
              </a:rPr>
              <a:t>Group B</a:t>
            </a:r>
          </a:p>
          <a:p>
            <a:pPr algn="ctr"/>
            <a:r>
              <a:rPr lang="en-US" sz="1600" dirty="0" err="1">
                <a:solidFill>
                  <a:schemeClr val="bg1"/>
                </a:solidFill>
              </a:rPr>
              <a:t>mMRC</a:t>
            </a:r>
            <a:r>
              <a:rPr lang="en-US" sz="1600" dirty="0">
                <a:solidFill>
                  <a:schemeClr val="bg1"/>
                </a:solidFill>
              </a:rPr>
              <a:t> </a:t>
            </a:r>
            <a:r>
              <a:rPr lang="en-US" sz="1600" dirty="0"/>
              <a:t>≥2|CAT ≥10</a:t>
            </a:r>
          </a:p>
          <a:p>
            <a:pPr algn="ctr"/>
            <a:r>
              <a:rPr lang="en-US" sz="1600" dirty="0">
                <a:solidFill>
                  <a:schemeClr val="bg1"/>
                </a:solidFill>
              </a:rPr>
              <a:t>0-1 exacerbations</a:t>
            </a:r>
          </a:p>
          <a:p>
            <a:pPr algn="ctr"/>
            <a:endParaRPr lang="en-US" sz="1600" dirty="0">
              <a:solidFill>
                <a:schemeClr val="bg1"/>
              </a:solidFill>
            </a:endParaRPr>
          </a:p>
        </p:txBody>
      </p:sp>
      <p:sp>
        <p:nvSpPr>
          <p:cNvPr id="80" name="Rectangle: Rounded Corners 79">
            <a:extLst>
              <a:ext uri="{FF2B5EF4-FFF2-40B4-BE49-F238E27FC236}">
                <a16:creationId xmlns:a16="http://schemas.microsoft.com/office/drawing/2014/main" id="{FFC84636-4F27-4758-D955-70765F56FFBE}"/>
              </a:ext>
            </a:extLst>
          </p:cNvPr>
          <p:cNvSpPr/>
          <p:nvPr/>
        </p:nvSpPr>
        <p:spPr>
          <a:xfrm>
            <a:off x="3934898" y="4291138"/>
            <a:ext cx="5780998" cy="730847"/>
          </a:xfrm>
          <a:prstGeom prst="roundRect">
            <a:avLst/>
          </a:prstGeom>
          <a:solidFill>
            <a:srgbClr val="C00000"/>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b="1" dirty="0">
                <a:solidFill>
                  <a:schemeClr val="bg1"/>
                </a:solidFill>
              </a:rPr>
              <a:t>Group E</a:t>
            </a:r>
          </a:p>
          <a:p>
            <a:pPr algn="ctr"/>
            <a:r>
              <a:rPr lang="en-US" sz="1600" dirty="0"/>
              <a:t>≥2 exacerbation or at least 1 requiring hospitalization</a:t>
            </a:r>
            <a:endParaRPr lang="en-US" sz="1600" dirty="0">
              <a:solidFill>
                <a:schemeClr val="bg1"/>
              </a:solidFill>
            </a:endParaRPr>
          </a:p>
        </p:txBody>
      </p:sp>
      <p:sp>
        <p:nvSpPr>
          <p:cNvPr id="81" name="Rectangle 80">
            <a:extLst>
              <a:ext uri="{FF2B5EF4-FFF2-40B4-BE49-F238E27FC236}">
                <a16:creationId xmlns:a16="http://schemas.microsoft.com/office/drawing/2014/main" id="{A748DC32-818C-DEC1-6E44-D9CC9ADEC88F}"/>
              </a:ext>
            </a:extLst>
          </p:cNvPr>
          <p:cNvSpPr/>
          <p:nvPr/>
        </p:nvSpPr>
        <p:spPr>
          <a:xfrm>
            <a:off x="2821815" y="1831370"/>
            <a:ext cx="3597854" cy="593408"/>
          </a:xfrm>
          <a:prstGeom prst="rect">
            <a:avLst/>
          </a:prstGeom>
          <a:no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81">
            <a:extLst>
              <a:ext uri="{FF2B5EF4-FFF2-40B4-BE49-F238E27FC236}">
                <a16:creationId xmlns:a16="http://schemas.microsoft.com/office/drawing/2014/main" id="{21D9C282-464C-D9DA-A9CC-5D676DDAA243}"/>
              </a:ext>
            </a:extLst>
          </p:cNvPr>
          <p:cNvSpPr/>
          <p:nvPr/>
        </p:nvSpPr>
        <p:spPr>
          <a:xfrm>
            <a:off x="2821815" y="2460506"/>
            <a:ext cx="3597854" cy="921086"/>
          </a:xfrm>
          <a:prstGeom prst="rect">
            <a:avLst/>
          </a:prstGeom>
          <a:no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TextBox 82">
            <a:extLst>
              <a:ext uri="{FF2B5EF4-FFF2-40B4-BE49-F238E27FC236}">
                <a16:creationId xmlns:a16="http://schemas.microsoft.com/office/drawing/2014/main" id="{FD4F9E4F-BBC8-11BF-A484-70D6B0D11940}"/>
              </a:ext>
            </a:extLst>
          </p:cNvPr>
          <p:cNvSpPr txBox="1"/>
          <p:nvPr/>
        </p:nvSpPr>
        <p:spPr>
          <a:xfrm>
            <a:off x="7862693" y="3137958"/>
            <a:ext cx="1238231" cy="369332"/>
          </a:xfrm>
          <a:prstGeom prst="rect">
            <a:avLst/>
          </a:prstGeom>
          <a:noFill/>
        </p:spPr>
        <p:txBody>
          <a:bodyPr wrap="square" rtlCol="0">
            <a:spAutoFit/>
          </a:bodyPr>
          <a:lstStyle/>
          <a:p>
            <a:pPr algn="ctr"/>
            <a:r>
              <a:rPr lang="en-US" dirty="0">
                <a:solidFill>
                  <a:schemeClr val="accent4"/>
                </a:solidFill>
              </a:rPr>
              <a:t>Score &lt;10</a:t>
            </a:r>
          </a:p>
        </p:txBody>
      </p:sp>
      <p:sp>
        <p:nvSpPr>
          <p:cNvPr id="84" name="TextBox 83">
            <a:extLst>
              <a:ext uri="{FF2B5EF4-FFF2-40B4-BE49-F238E27FC236}">
                <a16:creationId xmlns:a16="http://schemas.microsoft.com/office/drawing/2014/main" id="{004CF282-5139-1C61-436F-36324D732F13}"/>
              </a:ext>
            </a:extLst>
          </p:cNvPr>
          <p:cNvSpPr txBox="1"/>
          <p:nvPr/>
        </p:nvSpPr>
        <p:spPr>
          <a:xfrm>
            <a:off x="9448577" y="3137958"/>
            <a:ext cx="1238231" cy="369332"/>
          </a:xfrm>
          <a:prstGeom prst="rect">
            <a:avLst/>
          </a:prstGeom>
          <a:noFill/>
        </p:spPr>
        <p:txBody>
          <a:bodyPr wrap="square" rtlCol="0">
            <a:spAutoFit/>
          </a:bodyPr>
          <a:lstStyle/>
          <a:p>
            <a:pPr algn="ctr"/>
            <a:r>
              <a:rPr lang="en-US" dirty="0">
                <a:solidFill>
                  <a:schemeClr val="accent2"/>
                </a:solidFill>
              </a:rPr>
              <a:t>Score &gt;10</a:t>
            </a:r>
          </a:p>
        </p:txBody>
      </p:sp>
      <p:sp>
        <p:nvSpPr>
          <p:cNvPr id="85" name="TextBox 84">
            <a:extLst>
              <a:ext uri="{FF2B5EF4-FFF2-40B4-BE49-F238E27FC236}">
                <a16:creationId xmlns:a16="http://schemas.microsoft.com/office/drawing/2014/main" id="{EEEBAFF0-FA86-CEEE-A640-66870987A370}"/>
              </a:ext>
            </a:extLst>
          </p:cNvPr>
          <p:cNvSpPr txBox="1"/>
          <p:nvPr/>
        </p:nvSpPr>
        <p:spPr>
          <a:xfrm>
            <a:off x="4428062" y="3730040"/>
            <a:ext cx="4292082" cy="369332"/>
          </a:xfrm>
          <a:prstGeom prst="rect">
            <a:avLst/>
          </a:prstGeom>
          <a:noFill/>
        </p:spPr>
        <p:txBody>
          <a:bodyPr wrap="square" rtlCol="0">
            <a:spAutoFit/>
          </a:bodyPr>
          <a:lstStyle/>
          <a:p>
            <a:pPr algn="ctr"/>
            <a:r>
              <a:rPr lang="en-US" b="1" dirty="0"/>
              <a:t>COPD classification</a:t>
            </a:r>
          </a:p>
        </p:txBody>
      </p:sp>
      <p:pic>
        <p:nvPicPr>
          <p:cNvPr id="87" name="Graphic 86" descr="Cursor with solid fill">
            <a:extLst>
              <a:ext uri="{FF2B5EF4-FFF2-40B4-BE49-F238E27FC236}">
                <a16:creationId xmlns:a16="http://schemas.microsoft.com/office/drawing/2014/main" id="{20AAAC5F-B382-6840-EF78-249A55640AC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740033" y="6073817"/>
            <a:ext cx="274320" cy="274320"/>
          </a:xfrm>
          <a:prstGeom prst="rect">
            <a:avLst/>
          </a:prstGeom>
        </p:spPr>
      </p:pic>
      <p:sp>
        <p:nvSpPr>
          <p:cNvPr id="2" name="Cases">
            <a:hlinkClick r:id="rId8" action="ppaction://hlinksldjump"/>
            <a:extLst>
              <a:ext uri="{FF2B5EF4-FFF2-40B4-BE49-F238E27FC236}">
                <a16:creationId xmlns:a16="http://schemas.microsoft.com/office/drawing/2014/main" id="{67BDCE25-57FC-C91F-3B2C-165BC97DC72E}"/>
              </a:ext>
            </a:extLst>
          </p:cNvPr>
          <p:cNvSpPr txBox="1"/>
          <p:nvPr/>
        </p:nvSpPr>
        <p:spPr>
          <a:xfrm>
            <a:off x="181642" y="2447614"/>
            <a:ext cx="1645920"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Exacerbations</a:t>
            </a:r>
          </a:p>
        </p:txBody>
      </p:sp>
      <p:sp>
        <p:nvSpPr>
          <p:cNvPr id="3" name="Question 2">
            <a:hlinkClick r:id="rId9" action="ppaction://hlinksldjump"/>
            <a:extLst>
              <a:ext uri="{FF2B5EF4-FFF2-40B4-BE49-F238E27FC236}">
                <a16:creationId xmlns:a16="http://schemas.microsoft.com/office/drawing/2014/main" id="{C39CC73C-C099-3BE7-92F0-0BD8AA80A71A}"/>
              </a:ext>
            </a:extLst>
          </p:cNvPr>
          <p:cNvSpPr txBox="1"/>
          <p:nvPr/>
        </p:nvSpPr>
        <p:spPr>
          <a:xfrm>
            <a:off x="181642" y="1875581"/>
            <a:ext cx="1645920"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Efficacy</a:t>
            </a:r>
          </a:p>
        </p:txBody>
      </p:sp>
      <p:pic>
        <p:nvPicPr>
          <p:cNvPr id="4" name="Graphic 3" descr="Cursor with solid fill">
            <a:extLst>
              <a:ext uri="{FF2B5EF4-FFF2-40B4-BE49-F238E27FC236}">
                <a16:creationId xmlns:a16="http://schemas.microsoft.com/office/drawing/2014/main" id="{3643E2B8-9CBA-E03F-8221-283D878B710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701287" y="2722270"/>
            <a:ext cx="270869" cy="274320"/>
          </a:xfrm>
          <a:prstGeom prst="rect">
            <a:avLst/>
          </a:prstGeom>
        </p:spPr>
      </p:pic>
      <p:pic>
        <p:nvPicPr>
          <p:cNvPr id="6" name="Graphic 5" descr="Cursor with solid fill">
            <a:extLst>
              <a:ext uri="{FF2B5EF4-FFF2-40B4-BE49-F238E27FC236}">
                <a16:creationId xmlns:a16="http://schemas.microsoft.com/office/drawing/2014/main" id="{83BD5A30-7A02-30C4-240C-30E864A2445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701287" y="2150676"/>
            <a:ext cx="274320" cy="274320"/>
          </a:xfrm>
          <a:prstGeom prst="rect">
            <a:avLst/>
          </a:prstGeom>
        </p:spPr>
      </p:pic>
      <p:sp>
        <p:nvSpPr>
          <p:cNvPr id="7" name="Cases">
            <a:hlinkClick r:id="rId10" action="ppaction://hlinksldjump"/>
            <a:extLst>
              <a:ext uri="{FF2B5EF4-FFF2-40B4-BE49-F238E27FC236}">
                <a16:creationId xmlns:a16="http://schemas.microsoft.com/office/drawing/2014/main" id="{8162CFD1-4E3B-3745-AF90-B80F9CD69C83}"/>
              </a:ext>
            </a:extLst>
          </p:cNvPr>
          <p:cNvSpPr txBox="1"/>
          <p:nvPr/>
        </p:nvSpPr>
        <p:spPr>
          <a:xfrm>
            <a:off x="181642" y="3020377"/>
            <a:ext cx="1645920"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Cases</a:t>
            </a:r>
          </a:p>
        </p:txBody>
      </p:sp>
      <p:pic>
        <p:nvPicPr>
          <p:cNvPr id="8" name="Graphic 7" descr="Cursor with solid fill">
            <a:extLst>
              <a:ext uri="{FF2B5EF4-FFF2-40B4-BE49-F238E27FC236}">
                <a16:creationId xmlns:a16="http://schemas.microsoft.com/office/drawing/2014/main" id="{43509C2D-B5EC-26D5-D580-59B35770BED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701287" y="3295033"/>
            <a:ext cx="270869" cy="274320"/>
          </a:xfrm>
          <a:prstGeom prst="rect">
            <a:avLst/>
          </a:prstGeom>
        </p:spPr>
      </p:pic>
      <p:pic>
        <p:nvPicPr>
          <p:cNvPr id="14" name="Graphic 13" descr="Cursor with solid fill">
            <a:extLst>
              <a:ext uri="{FF2B5EF4-FFF2-40B4-BE49-F238E27FC236}">
                <a16:creationId xmlns:a16="http://schemas.microsoft.com/office/drawing/2014/main" id="{B7063D5B-A1BA-0B57-EF77-814ABC2DF77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701287" y="2723439"/>
            <a:ext cx="274320" cy="274320"/>
          </a:xfrm>
          <a:prstGeom prst="rect">
            <a:avLst/>
          </a:prstGeom>
        </p:spPr>
      </p:pic>
    </p:spTree>
    <p:extLst>
      <p:ext uri="{BB962C8B-B14F-4D97-AF65-F5344CB8AC3E}">
        <p14:creationId xmlns:p14="http://schemas.microsoft.com/office/powerpoint/2010/main" val="3638865427"/>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51"/>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7"/>
                                        </p:tgtEl>
                                        <p:attrNameLst>
                                          <p:attrName>style.visibility</p:attrName>
                                        </p:attrNameLst>
                                      </p:cBhvr>
                                      <p:to>
                                        <p:strVal val="visible"/>
                                      </p:to>
                                    </p:set>
                                  </p:childTnLst>
                                </p:cTn>
                              </p:par>
                              <p:par>
                                <p:cTn id="9" presetID="1" presetClass="exit" presetSubtype="0" fill="hold" grpId="0" nodeType="withEffect">
                                  <p:stCondLst>
                                    <p:cond delay="0"/>
                                  </p:stCondLst>
                                  <p:childTnLst>
                                    <p:set>
                                      <p:cBhvr>
                                        <p:cTn id="10" dur="1" fill="hold">
                                          <p:stCondLst>
                                            <p:cond delay="0"/>
                                          </p:stCondLst>
                                        </p:cTn>
                                        <p:tgtEl>
                                          <p:spTgt spid="51"/>
                                        </p:tgtEl>
                                        <p:attrNameLst>
                                          <p:attrName>style.visibility</p:attrName>
                                        </p:attrNameLst>
                                      </p:cBhvr>
                                      <p:to>
                                        <p:strVal val="hidden"/>
                                      </p:to>
                                    </p:set>
                                  </p:childTnLst>
                                </p:cTn>
                              </p:par>
                              <p:par>
                                <p:cTn id="11" presetID="1" presetClass="exit" presetSubtype="0" fill="hold" nodeType="withEffect">
                                  <p:stCondLst>
                                    <p:cond delay="0"/>
                                  </p:stCondLst>
                                  <p:childTnLst>
                                    <p:set>
                                      <p:cBhvr>
                                        <p:cTn id="12" dur="1" fill="hold">
                                          <p:stCondLst>
                                            <p:cond delay="0"/>
                                          </p:stCondLst>
                                        </p:cTn>
                                        <p:tgtEl>
                                          <p:spTgt spid="52"/>
                                        </p:tgtEl>
                                        <p:attrNameLst>
                                          <p:attrName>style.visibility</p:attrName>
                                        </p:attrNameLst>
                                      </p:cBhvr>
                                      <p:to>
                                        <p:strVal val="hidden"/>
                                      </p:to>
                                    </p:set>
                                  </p:childTnLst>
                                </p:cTn>
                              </p:par>
                            </p:childTnLst>
                          </p:cTn>
                        </p:par>
                      </p:childTnLst>
                    </p:cTn>
                  </p:par>
                </p:childTnLst>
              </p:cTn>
              <p:nextCondLst>
                <p:cond evt="onClick" delay="0">
                  <p:tgtEl>
                    <p:spTgt spid="51"/>
                  </p:tgtEl>
                </p:cond>
              </p:nextCondLst>
            </p:seq>
            <p:seq concurrent="1" nextAc="seek">
              <p:cTn id="13" restart="whenNotActive" fill="hold" evtFilter="cancelBubble" nodeType="interactiveSeq">
                <p:stCondLst>
                  <p:cond evt="onClick" delay="0">
                    <p:tgtEl>
                      <p:spTgt spid="54"/>
                    </p:tgtEl>
                  </p:cond>
                </p:stCondLst>
                <p:endSync evt="end" delay="0">
                  <p:rtn val="all"/>
                </p:endSync>
                <p:childTnLst>
                  <p:par>
                    <p:cTn id="14" fill="hold">
                      <p:stCondLst>
                        <p:cond delay="0"/>
                      </p:stCondLst>
                      <p:childTnLst>
                        <p:par>
                          <p:cTn id="15" fill="hold">
                            <p:stCondLst>
                              <p:cond delay="0"/>
                            </p:stCondLst>
                            <p:childTnLst>
                              <p:par>
                                <p:cTn id="16" presetID="1" presetClass="entr" presetSubtype="0" fill="hold" grpId="0" nodeType="withEffect">
                                  <p:stCondLst>
                                    <p:cond delay="0"/>
                                  </p:stCondLst>
                                  <p:childTnLst>
                                    <p:set>
                                      <p:cBhvr>
                                        <p:cTn id="17" dur="1" fill="hold">
                                          <p:stCondLst>
                                            <p:cond delay="0"/>
                                          </p:stCondLst>
                                        </p:cTn>
                                        <p:tgtEl>
                                          <p:spTgt spid="58"/>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56"/>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64"/>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63"/>
                                        </p:tgtEl>
                                        <p:attrNameLst>
                                          <p:attrName>style.visibility</p:attrName>
                                        </p:attrNameLst>
                                      </p:cBhvr>
                                      <p:to>
                                        <p:strVal val="visible"/>
                                      </p:to>
                                    </p:set>
                                  </p:childTnLst>
                                </p:cTn>
                              </p:par>
                              <p:par>
                                <p:cTn id="24" presetID="1" presetClass="exit" presetSubtype="0" fill="hold" grpId="0" nodeType="withEffect">
                                  <p:stCondLst>
                                    <p:cond delay="0"/>
                                  </p:stCondLst>
                                  <p:childTnLst>
                                    <p:set>
                                      <p:cBhvr>
                                        <p:cTn id="25" dur="1" fill="hold">
                                          <p:stCondLst>
                                            <p:cond delay="0"/>
                                          </p:stCondLst>
                                        </p:cTn>
                                        <p:tgtEl>
                                          <p:spTgt spid="54"/>
                                        </p:tgtEl>
                                        <p:attrNameLst>
                                          <p:attrName>style.visibility</p:attrName>
                                        </p:attrNameLst>
                                      </p:cBhvr>
                                      <p:to>
                                        <p:strVal val="hidden"/>
                                      </p:to>
                                    </p:set>
                                  </p:childTnLst>
                                </p:cTn>
                              </p:par>
                              <p:par>
                                <p:cTn id="26" presetID="1" presetClass="exit" presetSubtype="0" fill="hold" nodeType="withEffect">
                                  <p:stCondLst>
                                    <p:cond delay="0"/>
                                  </p:stCondLst>
                                  <p:childTnLst>
                                    <p:set>
                                      <p:cBhvr>
                                        <p:cTn id="27" dur="1" fill="hold">
                                          <p:stCondLst>
                                            <p:cond delay="0"/>
                                          </p:stCondLst>
                                        </p:cTn>
                                        <p:tgtEl>
                                          <p:spTgt spid="55"/>
                                        </p:tgtEl>
                                        <p:attrNameLst>
                                          <p:attrName>style.visibility</p:attrName>
                                        </p:attrNameLst>
                                      </p:cBhvr>
                                      <p:to>
                                        <p:strVal val="hidden"/>
                                      </p:to>
                                    </p:set>
                                  </p:childTnLst>
                                </p:cTn>
                              </p:par>
                            </p:childTnLst>
                          </p:cTn>
                        </p:par>
                      </p:childTnLst>
                    </p:cTn>
                  </p:par>
                </p:childTnLst>
              </p:cTn>
              <p:nextCondLst>
                <p:cond evt="onClick" delay="0">
                  <p:tgtEl>
                    <p:spTgt spid="54"/>
                  </p:tgtEl>
                </p:cond>
              </p:nextCondLst>
            </p:seq>
            <p:seq concurrent="1" nextAc="seek">
              <p:cTn id="28" restart="whenNotActive" fill="hold" evtFilter="cancelBubble" nodeType="interactiveSeq">
                <p:stCondLst>
                  <p:cond evt="onClick" delay="0">
                    <p:tgtEl>
                      <p:spTgt spid="60"/>
                    </p:tgtEl>
                  </p:cond>
                </p:stCondLst>
                <p:endSync evt="end" delay="0">
                  <p:rtn val="all"/>
                </p:endSync>
                <p:childTnLst>
                  <p:par>
                    <p:cTn id="29" fill="hold">
                      <p:stCondLst>
                        <p:cond delay="0"/>
                      </p:stCondLst>
                      <p:childTnLst>
                        <p:par>
                          <p:cTn id="30" fill="hold">
                            <p:stCondLst>
                              <p:cond delay="0"/>
                            </p:stCondLst>
                            <p:childTnLst>
                              <p:par>
                                <p:cTn id="31" presetID="1" presetClass="exit" presetSubtype="0" fill="hold" grpId="0" nodeType="withEffect">
                                  <p:stCondLst>
                                    <p:cond delay="0"/>
                                  </p:stCondLst>
                                  <p:childTnLst>
                                    <p:set>
                                      <p:cBhvr>
                                        <p:cTn id="32" dur="1" fill="hold">
                                          <p:stCondLst>
                                            <p:cond delay="0"/>
                                          </p:stCondLst>
                                        </p:cTn>
                                        <p:tgtEl>
                                          <p:spTgt spid="60"/>
                                        </p:tgtEl>
                                        <p:attrNameLst>
                                          <p:attrName>style.visibility</p:attrName>
                                        </p:attrNameLst>
                                      </p:cBhvr>
                                      <p:to>
                                        <p:strVal val="hidden"/>
                                      </p:to>
                                    </p:set>
                                  </p:childTnLst>
                                </p:cTn>
                              </p:par>
                              <p:par>
                                <p:cTn id="33" presetID="1" presetClass="exit" presetSubtype="0" fill="hold" nodeType="withEffect">
                                  <p:stCondLst>
                                    <p:cond delay="0"/>
                                  </p:stCondLst>
                                  <p:childTnLst>
                                    <p:set>
                                      <p:cBhvr>
                                        <p:cTn id="34" dur="1" fill="hold">
                                          <p:stCondLst>
                                            <p:cond delay="0"/>
                                          </p:stCondLst>
                                        </p:cTn>
                                        <p:tgtEl>
                                          <p:spTgt spid="61"/>
                                        </p:tgtEl>
                                        <p:attrNameLst>
                                          <p:attrName>style.visibility</p:attrName>
                                        </p:attrNameLst>
                                      </p:cBhvr>
                                      <p:to>
                                        <p:strVal val="hidden"/>
                                      </p:to>
                                    </p:set>
                                  </p:childTnLst>
                                </p:cTn>
                              </p:par>
                              <p:par>
                                <p:cTn id="35" presetID="1" presetClass="entr" presetSubtype="0" fill="hold" grpId="0" nodeType="withEffect">
                                  <p:stCondLst>
                                    <p:cond delay="0"/>
                                  </p:stCondLst>
                                  <p:childTnLst>
                                    <p:set>
                                      <p:cBhvr>
                                        <p:cTn id="36" dur="1" fill="hold">
                                          <p:stCondLst>
                                            <p:cond delay="0"/>
                                          </p:stCondLst>
                                        </p:cTn>
                                        <p:tgtEl>
                                          <p:spTgt spid="8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75"/>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83"/>
                                        </p:tgtEl>
                                        <p:attrNameLst>
                                          <p:attrName>style.visibility</p:attrName>
                                        </p:attrNameLst>
                                      </p:cBhvr>
                                      <p:to>
                                        <p:strVal val="visible"/>
                                      </p:to>
                                    </p:set>
                                  </p:childTnLst>
                                </p:cTn>
                              </p:par>
                            </p:childTnLst>
                          </p:cTn>
                        </p:par>
                      </p:childTnLst>
                    </p:cTn>
                  </p:par>
                </p:childTnLst>
              </p:cTn>
              <p:nextCondLst>
                <p:cond evt="onClick" delay="0">
                  <p:tgtEl>
                    <p:spTgt spid="60"/>
                  </p:tgtEl>
                </p:cond>
              </p:nextCondLst>
            </p:seq>
            <p:seq concurrent="1" nextAc="seek">
              <p:cTn id="41" restart="whenNotActive" fill="hold" evtFilter="cancelBubble" nodeType="interactiveSeq">
                <p:stCondLst>
                  <p:cond evt="onClick" delay="0">
                    <p:tgtEl>
                      <p:spTgt spid="66"/>
                    </p:tgtEl>
                  </p:cond>
                </p:stCondLst>
                <p:endSync evt="end" delay="0">
                  <p:rtn val="all"/>
                </p:endSync>
                <p:childTnLst>
                  <p:par>
                    <p:cTn id="42" fill="hold">
                      <p:stCondLst>
                        <p:cond delay="0"/>
                      </p:stCondLst>
                      <p:childTnLst>
                        <p:par>
                          <p:cTn id="43" fill="hold">
                            <p:stCondLst>
                              <p:cond delay="0"/>
                            </p:stCondLst>
                            <p:childTnLst>
                              <p:par>
                                <p:cTn id="44" presetID="1" presetClass="exit" presetSubtype="0" fill="hold" grpId="0" nodeType="withEffect">
                                  <p:stCondLst>
                                    <p:cond delay="0"/>
                                  </p:stCondLst>
                                  <p:childTnLst>
                                    <p:set>
                                      <p:cBhvr>
                                        <p:cTn id="45" dur="1" fill="hold">
                                          <p:stCondLst>
                                            <p:cond delay="0"/>
                                          </p:stCondLst>
                                        </p:cTn>
                                        <p:tgtEl>
                                          <p:spTgt spid="66"/>
                                        </p:tgtEl>
                                        <p:attrNameLst>
                                          <p:attrName>style.visibility</p:attrName>
                                        </p:attrNameLst>
                                      </p:cBhvr>
                                      <p:to>
                                        <p:strVal val="hidden"/>
                                      </p:to>
                                    </p:set>
                                  </p:childTnLst>
                                </p:cTn>
                              </p:par>
                              <p:par>
                                <p:cTn id="46" presetID="1" presetClass="exit" presetSubtype="0" fill="hold" nodeType="withEffect">
                                  <p:stCondLst>
                                    <p:cond delay="0"/>
                                  </p:stCondLst>
                                  <p:childTnLst>
                                    <p:set>
                                      <p:cBhvr>
                                        <p:cTn id="47" dur="1" fill="hold">
                                          <p:stCondLst>
                                            <p:cond delay="0"/>
                                          </p:stCondLst>
                                        </p:cTn>
                                        <p:tgtEl>
                                          <p:spTgt spid="67"/>
                                        </p:tgtEl>
                                        <p:attrNameLst>
                                          <p:attrName>style.visibility</p:attrName>
                                        </p:attrNameLst>
                                      </p:cBhvr>
                                      <p:to>
                                        <p:strVal val="hidden"/>
                                      </p:to>
                                    </p:set>
                                  </p:childTnLst>
                                </p:cTn>
                              </p:par>
                              <p:par>
                                <p:cTn id="48" presetID="1" presetClass="entr" presetSubtype="0" fill="hold" grpId="0" nodeType="withEffect">
                                  <p:stCondLst>
                                    <p:cond delay="0"/>
                                  </p:stCondLst>
                                  <p:childTnLst>
                                    <p:set>
                                      <p:cBhvr>
                                        <p:cTn id="49" dur="1" fill="hold">
                                          <p:stCondLst>
                                            <p:cond delay="0"/>
                                          </p:stCondLst>
                                        </p:cTn>
                                        <p:tgtEl>
                                          <p:spTgt spid="76"/>
                                        </p:tgtEl>
                                        <p:attrNameLst>
                                          <p:attrName>style.visibility</p:attrName>
                                        </p:attrNameLst>
                                      </p:cBhvr>
                                      <p:to>
                                        <p:strVal val="visible"/>
                                      </p:to>
                                    </p:set>
                                  </p:childTnLst>
                                </p:cTn>
                              </p:par>
                              <p:par>
                                <p:cTn id="50" presetID="1" presetClass="entr" presetSubtype="0" fill="hold" grpId="0" nodeType="withEffect">
                                  <p:stCondLst>
                                    <p:cond delay="0"/>
                                  </p:stCondLst>
                                  <p:childTnLst>
                                    <p:set>
                                      <p:cBhvr>
                                        <p:cTn id="51" dur="1" fill="hold">
                                          <p:stCondLst>
                                            <p:cond delay="0"/>
                                          </p:stCondLst>
                                        </p:cTn>
                                        <p:tgtEl>
                                          <p:spTgt spid="82"/>
                                        </p:tgtEl>
                                        <p:attrNameLst>
                                          <p:attrName>style.visibility</p:attrName>
                                        </p:attrNameLst>
                                      </p:cBhvr>
                                      <p:to>
                                        <p:strVal val="visible"/>
                                      </p:to>
                                    </p:set>
                                  </p:childTnLst>
                                </p:cTn>
                              </p:par>
                              <p:par>
                                <p:cTn id="52" presetID="1" presetClass="entr" presetSubtype="0" fill="hold" grpId="0" nodeType="withEffect">
                                  <p:stCondLst>
                                    <p:cond delay="0"/>
                                  </p:stCondLst>
                                  <p:childTnLst>
                                    <p:set>
                                      <p:cBhvr>
                                        <p:cTn id="53" dur="1" fill="hold">
                                          <p:stCondLst>
                                            <p:cond delay="0"/>
                                          </p:stCondLst>
                                        </p:cTn>
                                        <p:tgtEl>
                                          <p:spTgt spid="84"/>
                                        </p:tgtEl>
                                        <p:attrNameLst>
                                          <p:attrName>style.visibility</p:attrName>
                                        </p:attrNameLst>
                                      </p:cBhvr>
                                      <p:to>
                                        <p:strVal val="visible"/>
                                      </p:to>
                                    </p:set>
                                  </p:childTnLst>
                                </p:cTn>
                              </p:par>
                            </p:childTnLst>
                          </p:cTn>
                        </p:par>
                      </p:childTnLst>
                    </p:cTn>
                  </p:par>
                </p:childTnLst>
              </p:cTn>
              <p:nextCondLst>
                <p:cond evt="onClick" delay="0">
                  <p:tgtEl>
                    <p:spTgt spid="66"/>
                  </p:tgtEl>
                </p:cond>
              </p:nextCondLst>
            </p:seq>
            <p:seq concurrent="1" nextAc="seek">
              <p:cTn id="54" restart="whenNotActive" fill="hold" evtFilter="cancelBubble" nodeType="interactiveSeq">
                <p:stCondLst>
                  <p:cond evt="onClick" delay="0">
                    <p:tgtEl>
                      <p:spTgt spid="68"/>
                    </p:tgtEl>
                  </p:cond>
                </p:stCondLst>
                <p:endSync evt="end" delay="0">
                  <p:rtn val="all"/>
                </p:endSync>
                <p:childTnLst>
                  <p:par>
                    <p:cTn id="55" fill="hold">
                      <p:stCondLst>
                        <p:cond delay="0"/>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80"/>
                                        </p:tgtEl>
                                        <p:attrNameLst>
                                          <p:attrName>style.visibility</p:attrName>
                                        </p:attrNameLst>
                                      </p:cBhvr>
                                      <p:to>
                                        <p:strVal val="visible"/>
                                      </p:to>
                                    </p:set>
                                  </p:childTnLst>
                                </p:cTn>
                              </p:par>
                              <p:par>
                                <p:cTn id="59" presetID="1" presetClass="exit" presetSubtype="0" fill="hold" grpId="0" nodeType="withEffect">
                                  <p:stCondLst>
                                    <p:cond delay="0"/>
                                  </p:stCondLst>
                                  <p:childTnLst>
                                    <p:set>
                                      <p:cBhvr>
                                        <p:cTn id="60" dur="1" fill="hold">
                                          <p:stCondLst>
                                            <p:cond delay="0"/>
                                          </p:stCondLst>
                                        </p:cTn>
                                        <p:tgtEl>
                                          <p:spTgt spid="68"/>
                                        </p:tgtEl>
                                        <p:attrNameLst>
                                          <p:attrName>style.visibility</p:attrName>
                                        </p:attrNameLst>
                                      </p:cBhvr>
                                      <p:to>
                                        <p:strVal val="hidden"/>
                                      </p:to>
                                    </p:set>
                                  </p:childTnLst>
                                </p:cTn>
                              </p:par>
                            </p:childTnLst>
                          </p:cTn>
                        </p:par>
                      </p:childTnLst>
                    </p:cTn>
                  </p:par>
                </p:childTnLst>
              </p:cTn>
              <p:nextCondLst>
                <p:cond evt="onClick" delay="0">
                  <p:tgtEl>
                    <p:spTgt spid="68"/>
                  </p:tgtEl>
                </p:cond>
              </p:nextCondLst>
            </p:seq>
          </p:childTnLst>
        </p:cTn>
      </p:par>
    </p:tnLst>
    <p:bldLst>
      <p:bldP spid="58" grpId="0" animBg="1"/>
      <p:bldP spid="53" grpId="0" animBg="1"/>
      <p:bldP spid="51" grpId="0" animBg="1"/>
      <p:bldP spid="54" grpId="0" animBg="1"/>
      <p:bldP spid="56" grpId="0"/>
      <p:bldP spid="63" grpId="0"/>
      <p:bldP spid="64" grpId="0"/>
      <p:bldP spid="60" grpId="0" animBg="1"/>
      <p:bldP spid="66" grpId="0" animBg="1"/>
      <p:bldP spid="68" grpId="0" animBg="1"/>
      <p:bldP spid="75" grpId="0" animBg="1"/>
      <p:bldP spid="76" grpId="0" animBg="1"/>
      <p:bldP spid="80" grpId="0" animBg="1"/>
      <p:bldP spid="81" grpId="0" animBg="1"/>
      <p:bldP spid="82" grpId="0" animBg="1"/>
      <p:bldP spid="83" grpId="0"/>
      <p:bldP spid="8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question 1">
            <a:hlinkClick r:id="rId3" action="ppaction://hlinksldjump"/>
            <a:extLst>
              <a:ext uri="{FF2B5EF4-FFF2-40B4-BE49-F238E27FC236}">
                <a16:creationId xmlns:a16="http://schemas.microsoft.com/office/drawing/2014/main" id="{3633062E-7740-BF32-CE0D-D681A428E260}"/>
              </a:ext>
            </a:extLst>
          </p:cNvPr>
          <p:cNvSpPr txBox="1"/>
          <p:nvPr/>
        </p:nvSpPr>
        <p:spPr>
          <a:xfrm>
            <a:off x="181642" y="159488"/>
            <a:ext cx="1645920"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Diagnosis</a:t>
            </a:r>
          </a:p>
        </p:txBody>
      </p:sp>
      <p:pic>
        <p:nvPicPr>
          <p:cNvPr id="17" name="Graphic 16" descr="Cursor with solid fill">
            <a:extLst>
              <a:ext uri="{FF2B5EF4-FFF2-40B4-BE49-F238E27FC236}">
                <a16:creationId xmlns:a16="http://schemas.microsoft.com/office/drawing/2014/main" id="{7083BA4B-11CF-BBDE-BE80-21C15C32DBC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701287" y="435897"/>
            <a:ext cx="274320" cy="274320"/>
          </a:xfrm>
          <a:prstGeom prst="rect">
            <a:avLst/>
          </a:prstGeom>
        </p:spPr>
      </p:pic>
      <p:sp>
        <p:nvSpPr>
          <p:cNvPr id="2" name="Group A">
            <a:hlinkClick r:id="rId6" action="ppaction://hlinksldjump"/>
            <a:extLst>
              <a:ext uri="{FF2B5EF4-FFF2-40B4-BE49-F238E27FC236}">
                <a16:creationId xmlns:a16="http://schemas.microsoft.com/office/drawing/2014/main" id="{D336D849-C1B0-CDC1-86D3-45EAF647A094}"/>
              </a:ext>
            </a:extLst>
          </p:cNvPr>
          <p:cNvSpPr/>
          <p:nvPr/>
        </p:nvSpPr>
        <p:spPr>
          <a:xfrm>
            <a:off x="2576405" y="1026214"/>
            <a:ext cx="1311573" cy="395275"/>
          </a:xfrm>
          <a:prstGeom prst="roundRect">
            <a:avLst/>
          </a:prstGeom>
          <a:solidFill>
            <a:schemeClr val="bg1"/>
          </a:solidFill>
          <a:ln w="38100">
            <a:solidFill>
              <a:schemeClr val="accent4"/>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Group A</a:t>
            </a:r>
          </a:p>
        </p:txBody>
      </p:sp>
      <p:pic>
        <p:nvPicPr>
          <p:cNvPr id="89" name="Graphic 88" descr="Cursor with solid fill">
            <a:extLst>
              <a:ext uri="{FF2B5EF4-FFF2-40B4-BE49-F238E27FC236}">
                <a16:creationId xmlns:a16="http://schemas.microsoft.com/office/drawing/2014/main" id="{23FD06AD-D845-672A-C15C-A88451E708C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750776" y="1293603"/>
            <a:ext cx="274320" cy="274320"/>
          </a:xfrm>
          <a:prstGeom prst="rect">
            <a:avLst/>
          </a:prstGeom>
        </p:spPr>
      </p:pic>
      <p:sp>
        <p:nvSpPr>
          <p:cNvPr id="5" name="Group E">
            <a:hlinkClick r:id="rId7" action="ppaction://hlinksldjump"/>
            <a:extLst>
              <a:ext uri="{FF2B5EF4-FFF2-40B4-BE49-F238E27FC236}">
                <a16:creationId xmlns:a16="http://schemas.microsoft.com/office/drawing/2014/main" id="{641ABE96-B177-EA93-2F62-25BEA945DAC5}"/>
              </a:ext>
            </a:extLst>
          </p:cNvPr>
          <p:cNvSpPr/>
          <p:nvPr/>
        </p:nvSpPr>
        <p:spPr>
          <a:xfrm>
            <a:off x="8750051" y="1026214"/>
            <a:ext cx="1311573" cy="395275"/>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Summary</a:t>
            </a:r>
          </a:p>
        </p:txBody>
      </p:sp>
      <p:pic>
        <p:nvPicPr>
          <p:cNvPr id="10" name="Graphic 9" descr="Cursor with solid fill">
            <a:extLst>
              <a:ext uri="{FF2B5EF4-FFF2-40B4-BE49-F238E27FC236}">
                <a16:creationId xmlns:a16="http://schemas.microsoft.com/office/drawing/2014/main" id="{4AD11B18-9021-0EFB-D5E9-9027A54150D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933115" y="1293603"/>
            <a:ext cx="274320" cy="274320"/>
          </a:xfrm>
          <a:prstGeom prst="rect">
            <a:avLst/>
          </a:prstGeom>
        </p:spPr>
      </p:pic>
      <p:sp>
        <p:nvSpPr>
          <p:cNvPr id="3" name="TextBox 2">
            <a:extLst>
              <a:ext uri="{FF2B5EF4-FFF2-40B4-BE49-F238E27FC236}">
                <a16:creationId xmlns:a16="http://schemas.microsoft.com/office/drawing/2014/main" id="{3DDDA7DA-956E-76B6-1889-BA23EC0CBAC9}"/>
              </a:ext>
            </a:extLst>
          </p:cNvPr>
          <p:cNvSpPr txBox="1"/>
          <p:nvPr/>
        </p:nvSpPr>
        <p:spPr>
          <a:xfrm>
            <a:off x="3099369" y="110643"/>
            <a:ext cx="6907973" cy="461665"/>
          </a:xfrm>
          <a:prstGeom prst="rect">
            <a:avLst/>
          </a:prstGeom>
          <a:noFill/>
        </p:spPr>
        <p:txBody>
          <a:bodyPr wrap="square" rtlCol="0">
            <a:spAutoFit/>
          </a:bodyPr>
          <a:lstStyle/>
          <a:p>
            <a:pPr algn="ctr"/>
            <a:r>
              <a:rPr lang="en-US" sz="2400" b="1" dirty="0"/>
              <a:t>Management</a:t>
            </a:r>
          </a:p>
        </p:txBody>
      </p:sp>
      <p:sp>
        <p:nvSpPr>
          <p:cNvPr id="6" name="Group B">
            <a:hlinkClick r:id="rId8" action="ppaction://hlinksldjump"/>
            <a:extLst>
              <a:ext uri="{FF2B5EF4-FFF2-40B4-BE49-F238E27FC236}">
                <a16:creationId xmlns:a16="http://schemas.microsoft.com/office/drawing/2014/main" id="{F6B85CE3-CFBF-DC46-37F8-13B00B10148F}"/>
              </a:ext>
            </a:extLst>
          </p:cNvPr>
          <p:cNvSpPr/>
          <p:nvPr/>
        </p:nvSpPr>
        <p:spPr>
          <a:xfrm>
            <a:off x="4558952" y="1026214"/>
            <a:ext cx="1311573" cy="395275"/>
          </a:xfrm>
          <a:prstGeom prst="roundRect">
            <a:avLst/>
          </a:prstGeom>
          <a:solidFill>
            <a:schemeClr val="bg1"/>
          </a:solidFill>
          <a:ln w="38100">
            <a:gradFill flip="none" rotWithShape="1">
              <a:gsLst>
                <a:gs pos="96000">
                  <a:srgbClr val="C00000"/>
                </a:gs>
                <a:gs pos="0">
                  <a:schemeClr val="accent2"/>
                </a:gs>
              </a:gsLst>
              <a:lin ang="0" scaled="1"/>
              <a:tileRect/>
            </a:gra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Group B/E</a:t>
            </a:r>
          </a:p>
        </p:txBody>
      </p:sp>
      <p:pic>
        <p:nvPicPr>
          <p:cNvPr id="7" name="Graphic 6" descr="Cursor with solid fill">
            <a:extLst>
              <a:ext uri="{FF2B5EF4-FFF2-40B4-BE49-F238E27FC236}">
                <a16:creationId xmlns:a16="http://schemas.microsoft.com/office/drawing/2014/main" id="{57DB195A-40F3-C3EC-D60A-9C572184CC7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746454" y="1293603"/>
            <a:ext cx="274320" cy="274320"/>
          </a:xfrm>
          <a:prstGeom prst="rect">
            <a:avLst/>
          </a:prstGeom>
        </p:spPr>
      </p:pic>
      <p:sp>
        <p:nvSpPr>
          <p:cNvPr id="8" name="Question 2" hidden="1">
            <a:hlinkClick r:id="rId9" action="ppaction://hlinksldjump"/>
            <a:extLst>
              <a:ext uri="{FF2B5EF4-FFF2-40B4-BE49-F238E27FC236}">
                <a16:creationId xmlns:a16="http://schemas.microsoft.com/office/drawing/2014/main" id="{5C85E033-A148-6A89-A953-E6B775CBDD44}"/>
              </a:ext>
            </a:extLst>
          </p:cNvPr>
          <p:cNvSpPr txBox="1"/>
          <p:nvPr/>
        </p:nvSpPr>
        <p:spPr>
          <a:xfrm>
            <a:off x="181642" y="2448344"/>
            <a:ext cx="1645920"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Efficacy</a:t>
            </a:r>
          </a:p>
        </p:txBody>
      </p:sp>
      <p:sp>
        <p:nvSpPr>
          <p:cNvPr id="18" name="Question 2">
            <a:hlinkClick r:id="rId10" action="ppaction://hlinksldjump"/>
            <a:extLst>
              <a:ext uri="{FF2B5EF4-FFF2-40B4-BE49-F238E27FC236}">
                <a16:creationId xmlns:a16="http://schemas.microsoft.com/office/drawing/2014/main" id="{66C18DA6-9AD6-6881-A441-B9376915B52D}"/>
              </a:ext>
            </a:extLst>
          </p:cNvPr>
          <p:cNvSpPr txBox="1"/>
          <p:nvPr/>
        </p:nvSpPr>
        <p:spPr>
          <a:xfrm>
            <a:off x="181642" y="1303550"/>
            <a:ext cx="1645920" cy="408623"/>
          </a:xfrm>
          <a:prstGeom prst="roundRect">
            <a:avLst/>
          </a:prstGeom>
          <a:solidFill>
            <a:schemeClr val="tx1"/>
          </a:solidFill>
          <a:ln w="38100"/>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chemeClr val="bg1"/>
                </a:solidFill>
              </a:rPr>
              <a:t>Management</a:t>
            </a:r>
          </a:p>
        </p:txBody>
      </p:sp>
      <p:sp>
        <p:nvSpPr>
          <p:cNvPr id="19" name="Question 2">
            <a:hlinkClick r:id="rId11" action="ppaction://hlinksldjump"/>
            <a:extLst>
              <a:ext uri="{FF2B5EF4-FFF2-40B4-BE49-F238E27FC236}">
                <a16:creationId xmlns:a16="http://schemas.microsoft.com/office/drawing/2014/main" id="{F063327C-A559-72C2-0856-E7147BEBAB32}"/>
              </a:ext>
            </a:extLst>
          </p:cNvPr>
          <p:cNvSpPr txBox="1"/>
          <p:nvPr/>
        </p:nvSpPr>
        <p:spPr>
          <a:xfrm>
            <a:off x="181642" y="731519"/>
            <a:ext cx="1645920"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Classification</a:t>
            </a:r>
          </a:p>
        </p:txBody>
      </p:sp>
      <p:pic>
        <p:nvPicPr>
          <p:cNvPr id="20" name="Graphic 19" descr="Cursor with solid fill">
            <a:extLst>
              <a:ext uri="{FF2B5EF4-FFF2-40B4-BE49-F238E27FC236}">
                <a16:creationId xmlns:a16="http://schemas.microsoft.com/office/drawing/2014/main" id="{FC85D2F2-5EC8-065F-5C4E-8A8A95BF2E8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701287" y="1007490"/>
            <a:ext cx="274320" cy="274320"/>
          </a:xfrm>
          <a:prstGeom prst="rect">
            <a:avLst/>
          </a:prstGeom>
        </p:spPr>
      </p:pic>
      <p:sp>
        <p:nvSpPr>
          <p:cNvPr id="21" name="Cases">
            <a:hlinkClick r:id="rId12" action="ppaction://hlinksldjump"/>
            <a:extLst>
              <a:ext uri="{FF2B5EF4-FFF2-40B4-BE49-F238E27FC236}">
                <a16:creationId xmlns:a16="http://schemas.microsoft.com/office/drawing/2014/main" id="{8555844B-53FA-E4B9-47A1-14906714C06F}"/>
              </a:ext>
            </a:extLst>
          </p:cNvPr>
          <p:cNvSpPr txBox="1"/>
          <p:nvPr/>
        </p:nvSpPr>
        <p:spPr>
          <a:xfrm>
            <a:off x="181642" y="2447614"/>
            <a:ext cx="1645920"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Exacerbations</a:t>
            </a:r>
          </a:p>
        </p:txBody>
      </p:sp>
      <p:sp>
        <p:nvSpPr>
          <p:cNvPr id="23" name="Question 2">
            <a:hlinkClick r:id="rId9" action="ppaction://hlinksldjump"/>
            <a:extLst>
              <a:ext uri="{FF2B5EF4-FFF2-40B4-BE49-F238E27FC236}">
                <a16:creationId xmlns:a16="http://schemas.microsoft.com/office/drawing/2014/main" id="{0F071AE8-2036-026B-6150-65583FBC64BA}"/>
              </a:ext>
            </a:extLst>
          </p:cNvPr>
          <p:cNvSpPr txBox="1"/>
          <p:nvPr/>
        </p:nvSpPr>
        <p:spPr>
          <a:xfrm>
            <a:off x="181642" y="1875581"/>
            <a:ext cx="1645920"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Efficacy</a:t>
            </a:r>
          </a:p>
        </p:txBody>
      </p:sp>
      <p:pic>
        <p:nvPicPr>
          <p:cNvPr id="25" name="Graphic 24" descr="Cursor with solid fill">
            <a:extLst>
              <a:ext uri="{FF2B5EF4-FFF2-40B4-BE49-F238E27FC236}">
                <a16:creationId xmlns:a16="http://schemas.microsoft.com/office/drawing/2014/main" id="{7346F7D0-26DD-108D-BE13-D01DD89A2F7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701287" y="2722270"/>
            <a:ext cx="270869" cy="274320"/>
          </a:xfrm>
          <a:prstGeom prst="rect">
            <a:avLst/>
          </a:prstGeom>
        </p:spPr>
      </p:pic>
      <p:pic>
        <p:nvPicPr>
          <p:cNvPr id="26" name="Graphic 25" descr="Cursor with solid fill">
            <a:extLst>
              <a:ext uri="{FF2B5EF4-FFF2-40B4-BE49-F238E27FC236}">
                <a16:creationId xmlns:a16="http://schemas.microsoft.com/office/drawing/2014/main" id="{00211C46-0FA0-F531-0366-21FFA88B2CE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701287" y="2150676"/>
            <a:ext cx="274320" cy="274320"/>
          </a:xfrm>
          <a:prstGeom prst="rect">
            <a:avLst/>
          </a:prstGeom>
        </p:spPr>
      </p:pic>
      <p:sp>
        <p:nvSpPr>
          <p:cNvPr id="28" name="Cases">
            <a:hlinkClick r:id="rId13" action="ppaction://hlinksldjump"/>
            <a:extLst>
              <a:ext uri="{FF2B5EF4-FFF2-40B4-BE49-F238E27FC236}">
                <a16:creationId xmlns:a16="http://schemas.microsoft.com/office/drawing/2014/main" id="{786EC528-2FA8-3384-F05E-24D7BEFF3823}"/>
              </a:ext>
            </a:extLst>
          </p:cNvPr>
          <p:cNvSpPr txBox="1"/>
          <p:nvPr/>
        </p:nvSpPr>
        <p:spPr>
          <a:xfrm>
            <a:off x="181642" y="3020377"/>
            <a:ext cx="1645920"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Cases</a:t>
            </a:r>
          </a:p>
        </p:txBody>
      </p:sp>
      <p:pic>
        <p:nvPicPr>
          <p:cNvPr id="29" name="Graphic 28" descr="Cursor with solid fill">
            <a:extLst>
              <a:ext uri="{FF2B5EF4-FFF2-40B4-BE49-F238E27FC236}">
                <a16:creationId xmlns:a16="http://schemas.microsoft.com/office/drawing/2014/main" id="{7C87D927-D349-787E-47FB-AA366EB03B6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701287" y="3295033"/>
            <a:ext cx="270869" cy="274320"/>
          </a:xfrm>
          <a:prstGeom prst="rect">
            <a:avLst/>
          </a:prstGeom>
        </p:spPr>
      </p:pic>
      <p:pic>
        <p:nvPicPr>
          <p:cNvPr id="30" name="Graphic 29" descr="Cursor with solid fill">
            <a:extLst>
              <a:ext uri="{FF2B5EF4-FFF2-40B4-BE49-F238E27FC236}">
                <a16:creationId xmlns:a16="http://schemas.microsoft.com/office/drawing/2014/main" id="{B44A25E0-1F3D-7C71-63F4-7A54C1281B6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701287" y="2723439"/>
            <a:ext cx="274320" cy="274320"/>
          </a:xfrm>
          <a:prstGeom prst="rect">
            <a:avLst/>
          </a:prstGeom>
        </p:spPr>
      </p:pic>
    </p:spTree>
    <p:extLst>
      <p:ext uri="{BB962C8B-B14F-4D97-AF65-F5344CB8AC3E}">
        <p14:creationId xmlns:p14="http://schemas.microsoft.com/office/powerpoint/2010/main" val="3833930486"/>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2"/>
                    </p:tgtEl>
                  </p:cond>
                </p:stCondLst>
                <p:endSync evt="end" delay="0">
                  <p:rtn val="all"/>
                </p:endSync>
                <p:childTnLst>
                  <p:par>
                    <p:cTn id="3" fill="hold">
                      <p:stCondLst>
                        <p:cond delay="0"/>
                      </p:stCondLst>
                      <p:childTnLst>
                        <p:par>
                          <p:cTn id="4" fill="hold">
                            <p:stCondLst>
                              <p:cond delay="0"/>
                            </p:stCondLst>
                            <p:childTnLst>
                              <p:par>
                                <p:cTn id="5" presetID="1" presetClass="exit" presetSubtype="0" fill="hold" nodeType="withEffect">
                                  <p:stCondLst>
                                    <p:cond delay="0"/>
                                  </p:stCondLst>
                                  <p:childTnLst>
                                    <p:set>
                                      <p:cBhvr>
                                        <p:cTn id="6" dur="1" fill="hold">
                                          <p:stCondLst>
                                            <p:cond delay="0"/>
                                          </p:stCondLst>
                                        </p:cTn>
                                        <p:tgtEl>
                                          <p:spTgt spid="89"/>
                                        </p:tgtEl>
                                        <p:attrNameLst>
                                          <p:attrName>style.visibility</p:attrName>
                                        </p:attrNameLst>
                                      </p:cBhvr>
                                      <p:to>
                                        <p:strVal val="hidden"/>
                                      </p:to>
                                    </p:set>
                                  </p:childTnLst>
                                </p:cTn>
                              </p:par>
                            </p:childTnLst>
                          </p:cTn>
                        </p:par>
                      </p:childTnLst>
                    </p:cTn>
                  </p:par>
                </p:childTnLst>
              </p:cTn>
              <p:nextCondLst>
                <p:cond evt="onClick" delay="0">
                  <p:tgtEl>
                    <p:spTgt spid="2"/>
                  </p:tgtEl>
                </p:cond>
              </p:nextCondLst>
            </p:seq>
            <p:seq concurrent="1" nextAc="seek">
              <p:cTn id="7" restart="whenNotActive" fill="hold" evtFilter="cancelBubble" nodeType="interactiveSeq">
                <p:stCondLst>
                  <p:cond evt="onClick" delay="0">
                    <p:tgtEl>
                      <p:spTgt spid="5"/>
                    </p:tgtEl>
                  </p:cond>
                </p:stCondLst>
                <p:endSync evt="end" delay="0">
                  <p:rtn val="all"/>
                </p:endSync>
                <p:childTnLst>
                  <p:par>
                    <p:cTn id="8" fill="hold">
                      <p:stCondLst>
                        <p:cond delay="0"/>
                      </p:stCondLst>
                      <p:childTnLst>
                        <p:par>
                          <p:cTn id="9" fill="hold">
                            <p:stCondLst>
                              <p:cond delay="0"/>
                            </p:stCondLst>
                            <p:childTnLst>
                              <p:par>
                                <p:cTn id="10" presetID="1" presetClass="exit" presetSubtype="0" fill="hold" grpId="0" nodeType="withEffect">
                                  <p:stCondLst>
                                    <p:cond delay="0"/>
                                  </p:stCondLst>
                                  <p:childTnLst>
                                    <p:set>
                                      <p:cBhvr>
                                        <p:cTn id="11" dur="1" fill="hold">
                                          <p:stCondLst>
                                            <p:cond delay="0"/>
                                          </p:stCondLst>
                                        </p:cTn>
                                        <p:tgtEl>
                                          <p:spTgt spid="5"/>
                                        </p:tgtEl>
                                        <p:attrNameLst>
                                          <p:attrName>style.visibility</p:attrName>
                                        </p:attrNameLst>
                                      </p:cBhvr>
                                      <p:to>
                                        <p:strVal val="hidden"/>
                                      </p:to>
                                    </p:set>
                                  </p:childTnLst>
                                </p:cTn>
                              </p:par>
                            </p:childTnLst>
                          </p:cTn>
                        </p:par>
                      </p:childTnLst>
                    </p:cTn>
                  </p:par>
                </p:childTnLst>
              </p:cTn>
              <p:nextCondLst>
                <p:cond evt="onClick" delay="0">
                  <p:tgtEl>
                    <p:spTgt spid="5"/>
                  </p:tgtEl>
                </p:cond>
              </p:nextCondLst>
            </p:seq>
          </p:childTnLst>
        </p:cTn>
      </p:par>
    </p:tnLst>
    <p:bldLst>
      <p:bldP spid="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5" name="Group 44">
            <a:extLst>
              <a:ext uri="{FF2B5EF4-FFF2-40B4-BE49-F238E27FC236}">
                <a16:creationId xmlns:a16="http://schemas.microsoft.com/office/drawing/2014/main" id="{9AA19CE5-471A-8B5D-ABCF-73B6E95E5DEB}"/>
              </a:ext>
            </a:extLst>
          </p:cNvPr>
          <p:cNvGrpSpPr/>
          <p:nvPr/>
        </p:nvGrpSpPr>
        <p:grpSpPr>
          <a:xfrm>
            <a:off x="2428497" y="2290554"/>
            <a:ext cx="1615904" cy="1638775"/>
            <a:chOff x="3016315" y="2789320"/>
            <a:chExt cx="1615904" cy="1638775"/>
          </a:xfrm>
        </p:grpSpPr>
        <p:sp>
          <p:nvSpPr>
            <p:cNvPr id="39" name="Rectangle 38">
              <a:extLst>
                <a:ext uri="{FF2B5EF4-FFF2-40B4-BE49-F238E27FC236}">
                  <a16:creationId xmlns:a16="http://schemas.microsoft.com/office/drawing/2014/main" id="{85B70C9F-B60A-A08A-AF64-0FF9AF44F708}"/>
                </a:ext>
              </a:extLst>
            </p:cNvPr>
            <p:cNvSpPr/>
            <p:nvPr/>
          </p:nvSpPr>
          <p:spPr>
            <a:xfrm>
              <a:off x="3016315" y="2789320"/>
              <a:ext cx="1615904" cy="1638775"/>
            </a:xfrm>
            <a:prstGeom prst="rect">
              <a:avLst/>
            </a:prstGeom>
            <a:ln w="381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 name="Rectangle: Rounded Corners 3">
              <a:extLst>
                <a:ext uri="{FF2B5EF4-FFF2-40B4-BE49-F238E27FC236}">
                  <a16:creationId xmlns:a16="http://schemas.microsoft.com/office/drawing/2014/main" id="{0AA5766C-9CDA-0EB8-9AD0-BEE6F6C091B0}"/>
                </a:ext>
              </a:extLst>
            </p:cNvPr>
            <p:cNvSpPr/>
            <p:nvPr/>
          </p:nvSpPr>
          <p:spPr>
            <a:xfrm>
              <a:off x="3140519" y="2877598"/>
              <a:ext cx="1371600" cy="457200"/>
            </a:xfrm>
            <a:prstGeom prst="roundRect">
              <a:avLst/>
            </a:prstGeom>
            <a:ln>
              <a:solidFill>
                <a:schemeClr val="accent6"/>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dirty="0"/>
                <a:t>LABA</a:t>
              </a:r>
            </a:p>
          </p:txBody>
        </p:sp>
        <p:sp>
          <p:nvSpPr>
            <p:cNvPr id="6" name="Rectangle: Rounded Corners 5">
              <a:extLst>
                <a:ext uri="{FF2B5EF4-FFF2-40B4-BE49-F238E27FC236}">
                  <a16:creationId xmlns:a16="http://schemas.microsoft.com/office/drawing/2014/main" id="{2188794F-4347-3BEB-DEA4-823FC2DD35B5}"/>
                </a:ext>
              </a:extLst>
            </p:cNvPr>
            <p:cNvSpPr/>
            <p:nvPr/>
          </p:nvSpPr>
          <p:spPr>
            <a:xfrm>
              <a:off x="3115866" y="3867944"/>
              <a:ext cx="1371600" cy="457200"/>
            </a:xfrm>
            <a:prstGeom prst="roundRect">
              <a:avLst/>
            </a:prstGeom>
            <a:ln>
              <a:solidFill>
                <a:schemeClr val="accent5"/>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dirty="0"/>
                <a:t>LAMA</a:t>
              </a:r>
            </a:p>
          </p:txBody>
        </p:sp>
        <p:sp>
          <p:nvSpPr>
            <p:cNvPr id="7" name="TextBox 6">
              <a:extLst>
                <a:ext uri="{FF2B5EF4-FFF2-40B4-BE49-F238E27FC236}">
                  <a16:creationId xmlns:a16="http://schemas.microsoft.com/office/drawing/2014/main" id="{A08886ED-2D8A-AF31-B0D8-BBEFA97A390C}"/>
                </a:ext>
              </a:extLst>
            </p:cNvPr>
            <p:cNvSpPr txBox="1"/>
            <p:nvPr/>
          </p:nvSpPr>
          <p:spPr>
            <a:xfrm>
              <a:off x="3247518" y="3447297"/>
              <a:ext cx="1075038" cy="369332"/>
            </a:xfrm>
            <a:prstGeom prst="rect">
              <a:avLst/>
            </a:prstGeom>
            <a:noFill/>
          </p:spPr>
          <p:txBody>
            <a:bodyPr wrap="square" rtlCol="0">
              <a:spAutoFit/>
            </a:bodyPr>
            <a:lstStyle/>
            <a:p>
              <a:pPr algn="ctr"/>
              <a:r>
                <a:rPr lang="en-US" dirty="0"/>
                <a:t>OR</a:t>
              </a:r>
            </a:p>
          </p:txBody>
        </p:sp>
      </p:grpSp>
      <p:grpSp>
        <p:nvGrpSpPr>
          <p:cNvPr id="37" name="Group 36">
            <a:extLst>
              <a:ext uri="{FF2B5EF4-FFF2-40B4-BE49-F238E27FC236}">
                <a16:creationId xmlns:a16="http://schemas.microsoft.com/office/drawing/2014/main" id="{CD2D9E81-2F9D-4018-382B-68C8E7FCD158}"/>
              </a:ext>
            </a:extLst>
          </p:cNvPr>
          <p:cNvGrpSpPr/>
          <p:nvPr/>
        </p:nvGrpSpPr>
        <p:grpSpPr>
          <a:xfrm>
            <a:off x="4504018" y="2290554"/>
            <a:ext cx="1615904" cy="1638775"/>
            <a:chOff x="5427819" y="2814720"/>
            <a:chExt cx="1615904" cy="1638775"/>
          </a:xfrm>
        </p:grpSpPr>
        <p:sp>
          <p:nvSpPr>
            <p:cNvPr id="50" name="Rectangle 49">
              <a:extLst>
                <a:ext uri="{FF2B5EF4-FFF2-40B4-BE49-F238E27FC236}">
                  <a16:creationId xmlns:a16="http://schemas.microsoft.com/office/drawing/2014/main" id="{8EAD476C-4C18-9A9C-23B2-EC343D91FC0F}"/>
                </a:ext>
              </a:extLst>
            </p:cNvPr>
            <p:cNvSpPr/>
            <p:nvPr/>
          </p:nvSpPr>
          <p:spPr>
            <a:xfrm>
              <a:off x="5427819" y="2814720"/>
              <a:ext cx="1615904" cy="1638775"/>
            </a:xfrm>
            <a:prstGeom prst="rect">
              <a:avLst/>
            </a:prstGeom>
            <a:ln w="38100"/>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0" name="Rectangle: Rounded Corners 19">
              <a:extLst>
                <a:ext uri="{FF2B5EF4-FFF2-40B4-BE49-F238E27FC236}">
                  <a16:creationId xmlns:a16="http://schemas.microsoft.com/office/drawing/2014/main" id="{8ABA6131-D2D4-25B1-8998-F195C8B4BBA5}"/>
                </a:ext>
              </a:extLst>
            </p:cNvPr>
            <p:cNvSpPr/>
            <p:nvPr/>
          </p:nvSpPr>
          <p:spPr>
            <a:xfrm>
              <a:off x="5540640" y="3164424"/>
              <a:ext cx="1371600" cy="457200"/>
            </a:xfrm>
            <a:prstGeom prst="roundRect">
              <a:avLst/>
            </a:prstGeom>
            <a:ln>
              <a:solidFill>
                <a:schemeClr val="accent6"/>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dirty="0"/>
                <a:t>LABA</a:t>
              </a:r>
            </a:p>
          </p:txBody>
        </p:sp>
        <p:sp>
          <p:nvSpPr>
            <p:cNvPr id="21" name="Rectangle: Rounded Corners 20">
              <a:extLst>
                <a:ext uri="{FF2B5EF4-FFF2-40B4-BE49-F238E27FC236}">
                  <a16:creationId xmlns:a16="http://schemas.microsoft.com/office/drawing/2014/main" id="{3FD035AD-A8FA-5180-5221-1FA116879BD8}"/>
                </a:ext>
              </a:extLst>
            </p:cNvPr>
            <p:cNvSpPr/>
            <p:nvPr/>
          </p:nvSpPr>
          <p:spPr>
            <a:xfrm>
              <a:off x="5540640" y="3653419"/>
              <a:ext cx="1371600" cy="457200"/>
            </a:xfrm>
            <a:prstGeom prst="roundRect">
              <a:avLst/>
            </a:prstGeom>
            <a:ln>
              <a:solidFill>
                <a:schemeClr val="accent5"/>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dirty="0"/>
                <a:t>LAMA</a:t>
              </a:r>
            </a:p>
          </p:txBody>
        </p:sp>
      </p:grpSp>
      <p:grpSp>
        <p:nvGrpSpPr>
          <p:cNvPr id="33" name="Group 32">
            <a:extLst>
              <a:ext uri="{FF2B5EF4-FFF2-40B4-BE49-F238E27FC236}">
                <a16:creationId xmlns:a16="http://schemas.microsoft.com/office/drawing/2014/main" id="{F90E3F9E-7706-E506-FFC5-A467098B0751}"/>
              </a:ext>
            </a:extLst>
          </p:cNvPr>
          <p:cNvGrpSpPr/>
          <p:nvPr/>
        </p:nvGrpSpPr>
        <p:grpSpPr>
          <a:xfrm>
            <a:off x="6550221" y="2290554"/>
            <a:ext cx="1615904" cy="1638775"/>
            <a:chOff x="7849030" y="2789319"/>
            <a:chExt cx="1615904" cy="1638775"/>
          </a:xfrm>
        </p:grpSpPr>
        <p:sp>
          <p:nvSpPr>
            <p:cNvPr id="51" name="Rectangle 50">
              <a:extLst>
                <a:ext uri="{FF2B5EF4-FFF2-40B4-BE49-F238E27FC236}">
                  <a16:creationId xmlns:a16="http://schemas.microsoft.com/office/drawing/2014/main" id="{4C160CDC-EF05-AA49-3346-85DCEE2A7AF7}"/>
                </a:ext>
              </a:extLst>
            </p:cNvPr>
            <p:cNvSpPr/>
            <p:nvPr/>
          </p:nvSpPr>
          <p:spPr>
            <a:xfrm>
              <a:off x="7849030" y="2789319"/>
              <a:ext cx="1615904" cy="1638775"/>
            </a:xfrm>
            <a:prstGeom prst="rect">
              <a:avLst/>
            </a:prstGeom>
            <a:ln w="38100"/>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8" name="Rectangle: Rounded Corners 17">
              <a:extLst>
                <a:ext uri="{FF2B5EF4-FFF2-40B4-BE49-F238E27FC236}">
                  <a16:creationId xmlns:a16="http://schemas.microsoft.com/office/drawing/2014/main" id="{420C213D-C1FA-46A7-2B39-D76A1C4E89D0}"/>
                </a:ext>
              </a:extLst>
            </p:cNvPr>
            <p:cNvSpPr/>
            <p:nvPr/>
          </p:nvSpPr>
          <p:spPr>
            <a:xfrm>
              <a:off x="7965790" y="3368760"/>
              <a:ext cx="1371600" cy="457200"/>
            </a:xfrm>
            <a:prstGeom prst="roundRect">
              <a:avLst/>
            </a:prstGeom>
            <a:ln>
              <a:solidFill>
                <a:schemeClr val="accent5"/>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dirty="0"/>
                <a:t>LAMA</a:t>
              </a:r>
            </a:p>
          </p:txBody>
        </p:sp>
        <p:sp>
          <p:nvSpPr>
            <p:cNvPr id="26" name="Rectangle: Rounded Corners 25">
              <a:extLst>
                <a:ext uri="{FF2B5EF4-FFF2-40B4-BE49-F238E27FC236}">
                  <a16:creationId xmlns:a16="http://schemas.microsoft.com/office/drawing/2014/main" id="{D65F3DAC-65E9-72D6-67B0-CD7E1A591EA4}"/>
                </a:ext>
              </a:extLst>
            </p:cNvPr>
            <p:cNvSpPr/>
            <p:nvPr/>
          </p:nvSpPr>
          <p:spPr>
            <a:xfrm>
              <a:off x="7965790" y="2877598"/>
              <a:ext cx="1371600" cy="457200"/>
            </a:xfrm>
            <a:prstGeom prst="roundRect">
              <a:avLst/>
            </a:prstGeom>
            <a:ln>
              <a:solidFill>
                <a:schemeClr val="accent6"/>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dirty="0"/>
                <a:t>LABA</a:t>
              </a:r>
            </a:p>
          </p:txBody>
        </p:sp>
        <p:sp>
          <p:nvSpPr>
            <p:cNvPr id="28" name="Rectangle: Rounded Corners 27">
              <a:extLst>
                <a:ext uri="{FF2B5EF4-FFF2-40B4-BE49-F238E27FC236}">
                  <a16:creationId xmlns:a16="http://schemas.microsoft.com/office/drawing/2014/main" id="{5BD6CC2A-8CBF-9234-525A-5CEF1879D1C7}"/>
                </a:ext>
              </a:extLst>
            </p:cNvPr>
            <p:cNvSpPr/>
            <p:nvPr/>
          </p:nvSpPr>
          <p:spPr>
            <a:xfrm>
              <a:off x="7965790" y="3867944"/>
              <a:ext cx="1371600" cy="457200"/>
            </a:xfrm>
            <a:prstGeom prst="roundRect">
              <a:avLst/>
            </a:prstGeom>
            <a:ln>
              <a:solidFill>
                <a:schemeClr val="accent3"/>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a:t>ICS</a:t>
              </a:r>
            </a:p>
          </p:txBody>
        </p:sp>
      </p:grpSp>
      <p:sp>
        <p:nvSpPr>
          <p:cNvPr id="29" name="Arrow: Right 28">
            <a:extLst>
              <a:ext uri="{FF2B5EF4-FFF2-40B4-BE49-F238E27FC236}">
                <a16:creationId xmlns:a16="http://schemas.microsoft.com/office/drawing/2014/main" id="{6E651DE0-AA8F-2486-3ADA-F761146A1F15}"/>
              </a:ext>
            </a:extLst>
          </p:cNvPr>
          <p:cNvSpPr/>
          <p:nvPr/>
        </p:nvSpPr>
        <p:spPr>
          <a:xfrm>
            <a:off x="2323133" y="4429672"/>
            <a:ext cx="3796787" cy="401680"/>
          </a:xfrm>
          <a:prstGeom prst="rightArrow">
            <a:avLst>
              <a:gd name="adj1" fmla="val 100000"/>
              <a:gd name="adj2" fmla="val 50000"/>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dirty="0"/>
              <a:t>Persistent dyspnea</a:t>
            </a:r>
          </a:p>
        </p:txBody>
      </p:sp>
      <p:sp>
        <p:nvSpPr>
          <p:cNvPr id="30" name="Arrow: Right 29">
            <a:extLst>
              <a:ext uri="{FF2B5EF4-FFF2-40B4-BE49-F238E27FC236}">
                <a16:creationId xmlns:a16="http://schemas.microsoft.com/office/drawing/2014/main" id="{1EF73A84-DFDB-707B-9665-35DEF4E7AC27}"/>
              </a:ext>
            </a:extLst>
          </p:cNvPr>
          <p:cNvSpPr/>
          <p:nvPr/>
        </p:nvSpPr>
        <p:spPr>
          <a:xfrm>
            <a:off x="2323135" y="4923044"/>
            <a:ext cx="3796788" cy="401680"/>
          </a:xfrm>
          <a:prstGeom prst="rightArrow">
            <a:avLst>
              <a:gd name="adj1" fmla="val 100000"/>
              <a:gd name="adj2" fmla="val 50000"/>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dirty="0"/>
              <a:t>Exacerbations</a:t>
            </a:r>
          </a:p>
        </p:txBody>
      </p:sp>
      <p:sp>
        <p:nvSpPr>
          <p:cNvPr id="53" name="Rectangle 52">
            <a:extLst>
              <a:ext uri="{FF2B5EF4-FFF2-40B4-BE49-F238E27FC236}">
                <a16:creationId xmlns:a16="http://schemas.microsoft.com/office/drawing/2014/main" id="{466824A4-E2EE-EF6B-6E93-2F0D189B5CE7}"/>
              </a:ext>
            </a:extLst>
          </p:cNvPr>
          <p:cNvSpPr/>
          <p:nvPr/>
        </p:nvSpPr>
        <p:spPr>
          <a:xfrm>
            <a:off x="8564667" y="2290554"/>
            <a:ext cx="1615904" cy="1638775"/>
          </a:xfrm>
          <a:prstGeom prst="rect">
            <a:avLst/>
          </a:prstGeom>
          <a:ln w="38100"/>
        </p:spPr>
        <p:style>
          <a:lnRef idx="2">
            <a:schemeClr val="dk1"/>
          </a:lnRef>
          <a:fillRef idx="1">
            <a:schemeClr val="lt1"/>
          </a:fillRef>
          <a:effectRef idx="0">
            <a:schemeClr val="dk1"/>
          </a:effectRef>
          <a:fontRef idx="minor">
            <a:schemeClr val="dk1"/>
          </a:fontRef>
        </p:style>
        <p:txBody>
          <a:bodyPr rtlCol="0" anchor="ctr"/>
          <a:lstStyle/>
          <a:p>
            <a:pPr algn="ctr"/>
            <a:r>
              <a:rPr lang="en-US" dirty="0"/>
              <a:t>Consult pulmonology</a:t>
            </a:r>
          </a:p>
          <a:p>
            <a:pPr algn="ctr"/>
            <a:r>
              <a:rPr lang="en-US" dirty="0"/>
              <a:t>for additional therapies</a:t>
            </a:r>
          </a:p>
        </p:txBody>
      </p:sp>
      <p:cxnSp>
        <p:nvCxnSpPr>
          <p:cNvPr id="63" name="Straight Arrow Connector 62">
            <a:extLst>
              <a:ext uri="{FF2B5EF4-FFF2-40B4-BE49-F238E27FC236}">
                <a16:creationId xmlns:a16="http://schemas.microsoft.com/office/drawing/2014/main" id="{1B8AD301-BC3B-4045-7E3B-3D236BAE8CD1}"/>
              </a:ext>
            </a:extLst>
          </p:cNvPr>
          <p:cNvCxnSpPr>
            <a:cxnSpLocks/>
          </p:cNvCxnSpPr>
          <p:nvPr/>
        </p:nvCxnSpPr>
        <p:spPr>
          <a:xfrm>
            <a:off x="8238280" y="3138343"/>
            <a:ext cx="27772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1" name="question 1">
            <a:hlinkClick r:id="rId3" action="ppaction://hlinksldjump"/>
            <a:extLst>
              <a:ext uri="{FF2B5EF4-FFF2-40B4-BE49-F238E27FC236}">
                <a16:creationId xmlns:a16="http://schemas.microsoft.com/office/drawing/2014/main" id="{3633062E-7740-BF32-CE0D-D681A428E260}"/>
              </a:ext>
            </a:extLst>
          </p:cNvPr>
          <p:cNvSpPr txBox="1"/>
          <p:nvPr/>
        </p:nvSpPr>
        <p:spPr>
          <a:xfrm>
            <a:off x="181642" y="159488"/>
            <a:ext cx="1645920"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Diagnosis</a:t>
            </a:r>
          </a:p>
        </p:txBody>
      </p:sp>
      <p:pic>
        <p:nvPicPr>
          <p:cNvPr id="17" name="Graphic 16" descr="Cursor with solid fill">
            <a:extLst>
              <a:ext uri="{FF2B5EF4-FFF2-40B4-BE49-F238E27FC236}">
                <a16:creationId xmlns:a16="http://schemas.microsoft.com/office/drawing/2014/main" id="{7083BA4B-11CF-BBDE-BE80-21C15C32DBC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701287" y="435897"/>
            <a:ext cx="274320" cy="274320"/>
          </a:xfrm>
          <a:prstGeom prst="rect">
            <a:avLst/>
          </a:prstGeom>
        </p:spPr>
      </p:pic>
      <p:cxnSp>
        <p:nvCxnSpPr>
          <p:cNvPr id="43" name="Straight Arrow Connector 42">
            <a:extLst>
              <a:ext uri="{FF2B5EF4-FFF2-40B4-BE49-F238E27FC236}">
                <a16:creationId xmlns:a16="http://schemas.microsoft.com/office/drawing/2014/main" id="{0C1E1CC3-7971-F9B1-6EF6-69A1DC1E04EE}"/>
              </a:ext>
            </a:extLst>
          </p:cNvPr>
          <p:cNvCxnSpPr>
            <a:cxnSpLocks/>
          </p:cNvCxnSpPr>
          <p:nvPr/>
        </p:nvCxnSpPr>
        <p:spPr>
          <a:xfrm>
            <a:off x="4138090" y="3138343"/>
            <a:ext cx="27772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54" name="Straight Arrow Connector 53">
            <a:extLst>
              <a:ext uri="{FF2B5EF4-FFF2-40B4-BE49-F238E27FC236}">
                <a16:creationId xmlns:a16="http://schemas.microsoft.com/office/drawing/2014/main" id="{EA263D3E-D578-267F-913D-DB43CEEBC560}"/>
              </a:ext>
            </a:extLst>
          </p:cNvPr>
          <p:cNvCxnSpPr>
            <a:cxnSpLocks/>
          </p:cNvCxnSpPr>
          <p:nvPr/>
        </p:nvCxnSpPr>
        <p:spPr>
          <a:xfrm>
            <a:off x="6208352" y="3138343"/>
            <a:ext cx="27772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75" name="Arrow: Right 74">
            <a:extLst>
              <a:ext uri="{FF2B5EF4-FFF2-40B4-BE49-F238E27FC236}">
                <a16:creationId xmlns:a16="http://schemas.microsoft.com/office/drawing/2014/main" id="{1917FBAB-5557-1227-B261-6D85A42C7522}"/>
              </a:ext>
            </a:extLst>
          </p:cNvPr>
          <p:cNvSpPr/>
          <p:nvPr/>
        </p:nvSpPr>
        <p:spPr>
          <a:xfrm>
            <a:off x="2323132" y="4923044"/>
            <a:ext cx="5842993" cy="401680"/>
          </a:xfrm>
          <a:prstGeom prst="rightArrow">
            <a:avLst>
              <a:gd name="adj1" fmla="val 100000"/>
              <a:gd name="adj2" fmla="val 50000"/>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dirty="0"/>
              <a:t>Exacerbations</a:t>
            </a:r>
          </a:p>
        </p:txBody>
      </p:sp>
      <p:cxnSp>
        <p:nvCxnSpPr>
          <p:cNvPr id="78" name="Connector: Elbow 77">
            <a:extLst>
              <a:ext uri="{FF2B5EF4-FFF2-40B4-BE49-F238E27FC236}">
                <a16:creationId xmlns:a16="http://schemas.microsoft.com/office/drawing/2014/main" id="{4EA9DC05-714F-CAEA-DE1A-756AF9B98656}"/>
              </a:ext>
            </a:extLst>
          </p:cNvPr>
          <p:cNvCxnSpPr>
            <a:cxnSpLocks/>
            <a:stCxn id="50" idx="0"/>
            <a:endCxn id="53" idx="0"/>
          </p:cNvCxnSpPr>
          <p:nvPr/>
        </p:nvCxnSpPr>
        <p:spPr>
          <a:xfrm rot="5400000" flipH="1" flipV="1">
            <a:off x="7342294" y="260230"/>
            <a:ext cx="12700" cy="4060649"/>
          </a:xfrm>
          <a:prstGeom prst="bentConnector3">
            <a:avLst>
              <a:gd name="adj1" fmla="val 1800000"/>
            </a:avLst>
          </a:prstGeom>
          <a:ln>
            <a:tailEnd type="triangle"/>
          </a:ln>
        </p:spPr>
        <p:style>
          <a:lnRef idx="3">
            <a:schemeClr val="dk1"/>
          </a:lnRef>
          <a:fillRef idx="0">
            <a:schemeClr val="dk1"/>
          </a:fillRef>
          <a:effectRef idx="2">
            <a:schemeClr val="dk1"/>
          </a:effectRef>
          <a:fontRef idx="minor">
            <a:schemeClr val="tx1"/>
          </a:fontRef>
        </p:style>
      </p:cxnSp>
      <p:sp>
        <p:nvSpPr>
          <p:cNvPr id="85" name="Arrow: Right 84">
            <a:extLst>
              <a:ext uri="{FF2B5EF4-FFF2-40B4-BE49-F238E27FC236}">
                <a16:creationId xmlns:a16="http://schemas.microsoft.com/office/drawing/2014/main" id="{4700780E-D79D-EFE4-6B4E-134266229C49}"/>
              </a:ext>
            </a:extLst>
          </p:cNvPr>
          <p:cNvSpPr/>
          <p:nvPr/>
        </p:nvSpPr>
        <p:spPr>
          <a:xfrm>
            <a:off x="8364617" y="4429672"/>
            <a:ext cx="2234273" cy="401680"/>
          </a:xfrm>
          <a:prstGeom prst="rightArrow">
            <a:avLst>
              <a:gd name="adj1" fmla="val 100000"/>
              <a:gd name="adj2" fmla="val 50000"/>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dirty="0"/>
              <a:t>Persistent dyspnea</a:t>
            </a:r>
          </a:p>
        </p:txBody>
      </p:sp>
      <p:sp>
        <p:nvSpPr>
          <p:cNvPr id="86" name="Arrow: Right 85">
            <a:extLst>
              <a:ext uri="{FF2B5EF4-FFF2-40B4-BE49-F238E27FC236}">
                <a16:creationId xmlns:a16="http://schemas.microsoft.com/office/drawing/2014/main" id="{C11AAF20-DFD7-DBB5-64CD-86B2319F0F95}"/>
              </a:ext>
            </a:extLst>
          </p:cNvPr>
          <p:cNvSpPr/>
          <p:nvPr/>
        </p:nvSpPr>
        <p:spPr>
          <a:xfrm>
            <a:off x="8364617" y="4923044"/>
            <a:ext cx="2234273" cy="401680"/>
          </a:xfrm>
          <a:prstGeom prst="rightArrow">
            <a:avLst>
              <a:gd name="adj1" fmla="val 100000"/>
              <a:gd name="adj2" fmla="val 50000"/>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dirty="0"/>
              <a:t>Exacerbations</a:t>
            </a:r>
          </a:p>
        </p:txBody>
      </p:sp>
      <p:sp>
        <p:nvSpPr>
          <p:cNvPr id="88" name="Arrow: Right 87">
            <a:extLst>
              <a:ext uri="{FF2B5EF4-FFF2-40B4-BE49-F238E27FC236}">
                <a16:creationId xmlns:a16="http://schemas.microsoft.com/office/drawing/2014/main" id="{7C151062-739E-1724-A068-C8BDAD4494ED}"/>
              </a:ext>
            </a:extLst>
          </p:cNvPr>
          <p:cNvSpPr/>
          <p:nvPr/>
        </p:nvSpPr>
        <p:spPr>
          <a:xfrm>
            <a:off x="6382831" y="4923044"/>
            <a:ext cx="1783293" cy="401680"/>
          </a:xfrm>
          <a:prstGeom prst="rightArrow">
            <a:avLst>
              <a:gd name="adj1" fmla="val 100000"/>
              <a:gd name="adj2" fmla="val 50000"/>
            </a:avLst>
          </a:prstGeom>
          <a:ln>
            <a:solidFill>
              <a:schemeClr val="bg2">
                <a:lumMod val="75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a:t>+ </a:t>
            </a:r>
            <a:r>
              <a:rPr lang="en-US" dirty="0" err="1"/>
              <a:t>eos</a:t>
            </a:r>
            <a:r>
              <a:rPr lang="en-US" dirty="0"/>
              <a:t> ≥100</a:t>
            </a:r>
          </a:p>
        </p:txBody>
      </p:sp>
      <p:sp>
        <p:nvSpPr>
          <p:cNvPr id="19" name="TextBox 18">
            <a:extLst>
              <a:ext uri="{FF2B5EF4-FFF2-40B4-BE49-F238E27FC236}">
                <a16:creationId xmlns:a16="http://schemas.microsoft.com/office/drawing/2014/main" id="{7F2900F0-0B84-2E77-DDDE-D3194740E5B7}"/>
              </a:ext>
            </a:extLst>
          </p:cNvPr>
          <p:cNvSpPr txBox="1"/>
          <p:nvPr/>
        </p:nvSpPr>
        <p:spPr>
          <a:xfrm>
            <a:off x="3099369" y="110643"/>
            <a:ext cx="6907973" cy="461665"/>
          </a:xfrm>
          <a:prstGeom prst="rect">
            <a:avLst/>
          </a:prstGeom>
          <a:noFill/>
        </p:spPr>
        <p:txBody>
          <a:bodyPr wrap="square" rtlCol="0">
            <a:spAutoFit/>
          </a:bodyPr>
          <a:lstStyle/>
          <a:p>
            <a:pPr algn="ctr"/>
            <a:r>
              <a:rPr lang="en-US" sz="2400" b="1" dirty="0"/>
              <a:t>Management</a:t>
            </a:r>
          </a:p>
        </p:txBody>
      </p:sp>
      <p:sp>
        <p:nvSpPr>
          <p:cNvPr id="31" name="Group A">
            <a:hlinkClick r:id="rId6" action="ppaction://hlinksldjump"/>
            <a:extLst>
              <a:ext uri="{FF2B5EF4-FFF2-40B4-BE49-F238E27FC236}">
                <a16:creationId xmlns:a16="http://schemas.microsoft.com/office/drawing/2014/main" id="{94028BB1-725A-252B-0073-76BBC49CFD3B}"/>
              </a:ext>
            </a:extLst>
          </p:cNvPr>
          <p:cNvSpPr/>
          <p:nvPr/>
        </p:nvSpPr>
        <p:spPr>
          <a:xfrm>
            <a:off x="2563879" y="1027377"/>
            <a:ext cx="1311573" cy="395275"/>
          </a:xfrm>
          <a:prstGeom prst="roundRect">
            <a:avLst/>
          </a:prstGeom>
          <a:solidFill>
            <a:schemeClr val="accent4"/>
          </a:solidFill>
          <a:ln w="38100">
            <a:solidFill>
              <a:schemeClr val="accent4"/>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Group A</a:t>
            </a:r>
          </a:p>
        </p:txBody>
      </p:sp>
      <p:sp>
        <p:nvSpPr>
          <p:cNvPr id="47" name="Initial therapy">
            <a:extLst>
              <a:ext uri="{FF2B5EF4-FFF2-40B4-BE49-F238E27FC236}">
                <a16:creationId xmlns:a16="http://schemas.microsoft.com/office/drawing/2014/main" id="{41EB0EF5-0A61-4CAF-47A0-F53F1C2AB6B4}"/>
              </a:ext>
            </a:extLst>
          </p:cNvPr>
          <p:cNvSpPr/>
          <p:nvPr/>
        </p:nvSpPr>
        <p:spPr>
          <a:xfrm>
            <a:off x="2421230" y="2284982"/>
            <a:ext cx="1615904" cy="1638775"/>
          </a:xfrm>
          <a:prstGeom prst="roundRect">
            <a:avLst/>
          </a:prstGeom>
          <a:ln w="38100">
            <a:solidFill>
              <a:schemeClr val="tx1"/>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r>
              <a:rPr lang="en-US" dirty="0"/>
              <a:t>Initial therapy?</a:t>
            </a:r>
          </a:p>
        </p:txBody>
      </p:sp>
      <p:pic>
        <p:nvPicPr>
          <p:cNvPr id="48" name="Graphic 47" descr="Cursor with solid fill">
            <a:extLst>
              <a:ext uri="{FF2B5EF4-FFF2-40B4-BE49-F238E27FC236}">
                <a16:creationId xmlns:a16="http://schemas.microsoft.com/office/drawing/2014/main" id="{83E29729-6C67-C55B-B270-3735FAE0C3A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877389" y="3727900"/>
            <a:ext cx="274320" cy="274320"/>
          </a:xfrm>
          <a:prstGeom prst="rect">
            <a:avLst/>
          </a:prstGeom>
        </p:spPr>
      </p:pic>
      <p:sp>
        <p:nvSpPr>
          <p:cNvPr id="49" name="Persistent dyspnea">
            <a:extLst>
              <a:ext uri="{FF2B5EF4-FFF2-40B4-BE49-F238E27FC236}">
                <a16:creationId xmlns:a16="http://schemas.microsoft.com/office/drawing/2014/main" id="{C1B023B1-87C6-EF0C-B89C-A41A56E2EDAF}"/>
              </a:ext>
            </a:extLst>
          </p:cNvPr>
          <p:cNvSpPr txBox="1"/>
          <p:nvPr/>
        </p:nvSpPr>
        <p:spPr>
          <a:xfrm>
            <a:off x="2323132" y="4428817"/>
            <a:ext cx="2104048"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t>Persistent dyspnea?</a:t>
            </a:r>
          </a:p>
        </p:txBody>
      </p:sp>
      <p:pic>
        <p:nvPicPr>
          <p:cNvPr id="52" name="Graphic 51" descr="Cursor with solid fill">
            <a:extLst>
              <a:ext uri="{FF2B5EF4-FFF2-40B4-BE49-F238E27FC236}">
                <a16:creationId xmlns:a16="http://schemas.microsoft.com/office/drawing/2014/main" id="{3629672F-D414-8FBD-20E7-C05586ADF95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282942" y="4718030"/>
            <a:ext cx="274320" cy="274320"/>
          </a:xfrm>
          <a:prstGeom prst="rect">
            <a:avLst/>
          </a:prstGeom>
        </p:spPr>
      </p:pic>
      <p:sp>
        <p:nvSpPr>
          <p:cNvPr id="55" name="Persistent exacerbations">
            <a:extLst>
              <a:ext uri="{FF2B5EF4-FFF2-40B4-BE49-F238E27FC236}">
                <a16:creationId xmlns:a16="http://schemas.microsoft.com/office/drawing/2014/main" id="{F28AB61A-37E3-6080-225E-AF42C8E0EEF2}"/>
              </a:ext>
            </a:extLst>
          </p:cNvPr>
          <p:cNvSpPr txBox="1"/>
          <p:nvPr/>
        </p:nvSpPr>
        <p:spPr>
          <a:xfrm>
            <a:off x="2323132" y="4923044"/>
            <a:ext cx="1635610"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Exacerbations?</a:t>
            </a:r>
          </a:p>
        </p:txBody>
      </p:sp>
      <p:pic>
        <p:nvPicPr>
          <p:cNvPr id="56" name="Graphic 55" descr="Cursor with solid fill">
            <a:extLst>
              <a:ext uri="{FF2B5EF4-FFF2-40B4-BE49-F238E27FC236}">
                <a16:creationId xmlns:a16="http://schemas.microsoft.com/office/drawing/2014/main" id="{F5277828-2193-1CE7-AB8D-25B70B694D1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832799" y="5205322"/>
            <a:ext cx="274320" cy="274320"/>
          </a:xfrm>
          <a:prstGeom prst="rect">
            <a:avLst/>
          </a:prstGeom>
        </p:spPr>
      </p:pic>
      <p:sp>
        <p:nvSpPr>
          <p:cNvPr id="57" name="Persistent dyspnea">
            <a:extLst>
              <a:ext uri="{FF2B5EF4-FFF2-40B4-BE49-F238E27FC236}">
                <a16:creationId xmlns:a16="http://schemas.microsoft.com/office/drawing/2014/main" id="{5D6E9B34-FF60-A2D2-DDCA-4F540DC8A400}"/>
              </a:ext>
            </a:extLst>
          </p:cNvPr>
          <p:cNvSpPr txBox="1"/>
          <p:nvPr/>
        </p:nvSpPr>
        <p:spPr>
          <a:xfrm>
            <a:off x="6203439" y="4428817"/>
            <a:ext cx="2104048"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t>Persistent dyspnea?</a:t>
            </a:r>
          </a:p>
        </p:txBody>
      </p:sp>
      <p:pic>
        <p:nvPicPr>
          <p:cNvPr id="58" name="Graphic 57" descr="Cursor with solid fill">
            <a:extLst>
              <a:ext uri="{FF2B5EF4-FFF2-40B4-BE49-F238E27FC236}">
                <a16:creationId xmlns:a16="http://schemas.microsoft.com/office/drawing/2014/main" id="{61A28929-160B-3CCC-6734-D32E21A4866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163249" y="4718030"/>
            <a:ext cx="274320" cy="274320"/>
          </a:xfrm>
          <a:prstGeom prst="rect">
            <a:avLst/>
          </a:prstGeom>
        </p:spPr>
      </p:pic>
      <p:sp>
        <p:nvSpPr>
          <p:cNvPr id="59" name="Persistent exacerbations">
            <a:extLst>
              <a:ext uri="{FF2B5EF4-FFF2-40B4-BE49-F238E27FC236}">
                <a16:creationId xmlns:a16="http://schemas.microsoft.com/office/drawing/2014/main" id="{3CDC7C79-F96F-B095-6232-E1F143E45EE2}"/>
              </a:ext>
            </a:extLst>
          </p:cNvPr>
          <p:cNvSpPr txBox="1"/>
          <p:nvPr/>
        </p:nvSpPr>
        <p:spPr>
          <a:xfrm>
            <a:off x="6439627" y="4923044"/>
            <a:ext cx="1635610"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Exacerbations?</a:t>
            </a:r>
          </a:p>
        </p:txBody>
      </p:sp>
      <p:pic>
        <p:nvPicPr>
          <p:cNvPr id="60" name="Graphic 59" descr="Cursor with solid fill">
            <a:extLst>
              <a:ext uri="{FF2B5EF4-FFF2-40B4-BE49-F238E27FC236}">
                <a16:creationId xmlns:a16="http://schemas.microsoft.com/office/drawing/2014/main" id="{68E19025-2A2C-FB5D-BF86-BA9EE8DEA01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949294" y="5205322"/>
            <a:ext cx="274320" cy="274320"/>
          </a:xfrm>
          <a:prstGeom prst="rect">
            <a:avLst/>
          </a:prstGeom>
        </p:spPr>
      </p:pic>
      <p:sp>
        <p:nvSpPr>
          <p:cNvPr id="61" name="Persistent exacerbations">
            <a:extLst>
              <a:ext uri="{FF2B5EF4-FFF2-40B4-BE49-F238E27FC236}">
                <a16:creationId xmlns:a16="http://schemas.microsoft.com/office/drawing/2014/main" id="{468BD653-AA64-76B4-D85B-BE1515909BDF}"/>
              </a:ext>
            </a:extLst>
          </p:cNvPr>
          <p:cNvSpPr txBox="1"/>
          <p:nvPr/>
        </p:nvSpPr>
        <p:spPr>
          <a:xfrm>
            <a:off x="8571825" y="4923044"/>
            <a:ext cx="1635610"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Exacerbations?</a:t>
            </a:r>
          </a:p>
        </p:txBody>
      </p:sp>
      <p:pic>
        <p:nvPicPr>
          <p:cNvPr id="62" name="Graphic 61" descr="Cursor with solid fill">
            <a:extLst>
              <a:ext uri="{FF2B5EF4-FFF2-40B4-BE49-F238E27FC236}">
                <a16:creationId xmlns:a16="http://schemas.microsoft.com/office/drawing/2014/main" id="{A43ABE9B-BA0C-EC4F-FAB3-8C000697C99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081492" y="5205322"/>
            <a:ext cx="274320" cy="274320"/>
          </a:xfrm>
          <a:prstGeom prst="rect">
            <a:avLst/>
          </a:prstGeom>
        </p:spPr>
      </p:pic>
      <p:cxnSp>
        <p:nvCxnSpPr>
          <p:cNvPr id="64" name="Straight Arrow Connector 63">
            <a:extLst>
              <a:ext uri="{FF2B5EF4-FFF2-40B4-BE49-F238E27FC236}">
                <a16:creationId xmlns:a16="http://schemas.microsoft.com/office/drawing/2014/main" id="{6220A9A8-6C5E-78B2-DA3B-4A41072872AF}"/>
              </a:ext>
            </a:extLst>
          </p:cNvPr>
          <p:cNvCxnSpPr>
            <a:cxnSpLocks/>
          </p:cNvCxnSpPr>
          <p:nvPr/>
        </p:nvCxnSpPr>
        <p:spPr>
          <a:xfrm>
            <a:off x="3212103" y="1589784"/>
            <a:ext cx="0" cy="571593"/>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sp>
        <p:nvSpPr>
          <p:cNvPr id="2" name="Group E">
            <a:hlinkClick r:id="rId7" action="ppaction://hlinksldjump"/>
            <a:extLst>
              <a:ext uri="{FF2B5EF4-FFF2-40B4-BE49-F238E27FC236}">
                <a16:creationId xmlns:a16="http://schemas.microsoft.com/office/drawing/2014/main" id="{F54A1193-9524-927F-B89D-48A906967A90}"/>
              </a:ext>
            </a:extLst>
          </p:cNvPr>
          <p:cNvSpPr/>
          <p:nvPr/>
        </p:nvSpPr>
        <p:spPr>
          <a:xfrm>
            <a:off x="8750051" y="1026214"/>
            <a:ext cx="1311573" cy="395275"/>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Summary</a:t>
            </a:r>
          </a:p>
        </p:txBody>
      </p:sp>
      <p:pic>
        <p:nvPicPr>
          <p:cNvPr id="3" name="Graphic 2" descr="Cursor with solid fill">
            <a:extLst>
              <a:ext uri="{FF2B5EF4-FFF2-40B4-BE49-F238E27FC236}">
                <a16:creationId xmlns:a16="http://schemas.microsoft.com/office/drawing/2014/main" id="{B86CC583-64F5-8703-7FDE-E377CAA33FF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933115" y="1293603"/>
            <a:ext cx="274320" cy="274320"/>
          </a:xfrm>
          <a:prstGeom prst="rect">
            <a:avLst/>
          </a:prstGeom>
        </p:spPr>
      </p:pic>
      <p:sp>
        <p:nvSpPr>
          <p:cNvPr id="5" name="Group B">
            <a:hlinkClick r:id="rId8" action="ppaction://hlinksldjump"/>
            <a:extLst>
              <a:ext uri="{FF2B5EF4-FFF2-40B4-BE49-F238E27FC236}">
                <a16:creationId xmlns:a16="http://schemas.microsoft.com/office/drawing/2014/main" id="{65F60402-9818-D195-8E14-916AB69B6F08}"/>
              </a:ext>
            </a:extLst>
          </p:cNvPr>
          <p:cNvSpPr/>
          <p:nvPr/>
        </p:nvSpPr>
        <p:spPr>
          <a:xfrm>
            <a:off x="4558952" y="1026214"/>
            <a:ext cx="1311573" cy="395275"/>
          </a:xfrm>
          <a:prstGeom prst="roundRect">
            <a:avLst/>
          </a:prstGeom>
          <a:solidFill>
            <a:schemeClr val="bg1"/>
          </a:solidFill>
          <a:ln w="38100">
            <a:gradFill flip="none" rotWithShape="1">
              <a:gsLst>
                <a:gs pos="96000">
                  <a:srgbClr val="C00000"/>
                </a:gs>
                <a:gs pos="0">
                  <a:schemeClr val="accent2"/>
                </a:gs>
              </a:gsLst>
              <a:lin ang="0" scaled="1"/>
              <a:tileRect/>
            </a:gra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Group B/E</a:t>
            </a:r>
          </a:p>
        </p:txBody>
      </p:sp>
      <p:pic>
        <p:nvPicPr>
          <p:cNvPr id="8" name="Graphic 7" descr="Cursor with solid fill">
            <a:extLst>
              <a:ext uri="{FF2B5EF4-FFF2-40B4-BE49-F238E27FC236}">
                <a16:creationId xmlns:a16="http://schemas.microsoft.com/office/drawing/2014/main" id="{4ECE47AA-067C-4451-20A8-143358F9391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746454" y="1293603"/>
            <a:ext cx="274320" cy="274320"/>
          </a:xfrm>
          <a:prstGeom prst="rect">
            <a:avLst/>
          </a:prstGeom>
        </p:spPr>
      </p:pic>
      <p:sp>
        <p:nvSpPr>
          <p:cNvPr id="10" name="Subsequent therapy">
            <a:extLst>
              <a:ext uri="{FF2B5EF4-FFF2-40B4-BE49-F238E27FC236}">
                <a16:creationId xmlns:a16="http://schemas.microsoft.com/office/drawing/2014/main" id="{59FAAFA0-6263-F710-7750-A036CF10F890}"/>
              </a:ext>
            </a:extLst>
          </p:cNvPr>
          <p:cNvSpPr txBox="1"/>
          <p:nvPr/>
        </p:nvSpPr>
        <p:spPr>
          <a:xfrm>
            <a:off x="4504018" y="2303255"/>
            <a:ext cx="1603203" cy="162020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a:spAutoFit/>
          </a:bodyPr>
          <a:lstStyle/>
          <a:p>
            <a:pPr algn="ctr"/>
            <a:r>
              <a:rPr lang="en-US" dirty="0"/>
              <a:t>Subsequent therapy depends on predominant  features</a:t>
            </a:r>
          </a:p>
        </p:txBody>
      </p:sp>
      <p:pic>
        <p:nvPicPr>
          <p:cNvPr id="14" name="Graphic 13" descr="Cursor with solid fill">
            <a:extLst>
              <a:ext uri="{FF2B5EF4-FFF2-40B4-BE49-F238E27FC236}">
                <a16:creationId xmlns:a16="http://schemas.microsoft.com/office/drawing/2014/main" id="{07779F66-F635-7CCA-0F0C-3B118D316AA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921103" y="3740831"/>
            <a:ext cx="274320" cy="274320"/>
          </a:xfrm>
          <a:prstGeom prst="rect">
            <a:avLst/>
          </a:prstGeom>
        </p:spPr>
      </p:pic>
      <p:sp>
        <p:nvSpPr>
          <p:cNvPr id="9" name="Question 2">
            <a:hlinkClick r:id="rId9" action="ppaction://hlinksldjump"/>
            <a:extLst>
              <a:ext uri="{FF2B5EF4-FFF2-40B4-BE49-F238E27FC236}">
                <a16:creationId xmlns:a16="http://schemas.microsoft.com/office/drawing/2014/main" id="{B84DA884-D52D-E11A-DCD9-1A0CC2EB91BE}"/>
              </a:ext>
            </a:extLst>
          </p:cNvPr>
          <p:cNvSpPr txBox="1"/>
          <p:nvPr/>
        </p:nvSpPr>
        <p:spPr>
          <a:xfrm>
            <a:off x="181642" y="1303550"/>
            <a:ext cx="1645920" cy="408623"/>
          </a:xfrm>
          <a:prstGeom prst="roundRect">
            <a:avLst/>
          </a:prstGeom>
          <a:solidFill>
            <a:schemeClr val="tx1"/>
          </a:solidFill>
          <a:ln w="38100"/>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chemeClr val="bg1"/>
                </a:solidFill>
              </a:rPr>
              <a:t>Management</a:t>
            </a:r>
          </a:p>
        </p:txBody>
      </p:sp>
      <p:sp>
        <p:nvSpPr>
          <p:cNvPr id="23" name="Question 2">
            <a:hlinkClick r:id="rId10" action="ppaction://hlinksldjump"/>
            <a:extLst>
              <a:ext uri="{FF2B5EF4-FFF2-40B4-BE49-F238E27FC236}">
                <a16:creationId xmlns:a16="http://schemas.microsoft.com/office/drawing/2014/main" id="{BCC89A3A-1F1D-4E28-4892-E0598113262D}"/>
              </a:ext>
            </a:extLst>
          </p:cNvPr>
          <p:cNvSpPr txBox="1"/>
          <p:nvPr/>
        </p:nvSpPr>
        <p:spPr>
          <a:xfrm>
            <a:off x="181642" y="731519"/>
            <a:ext cx="1645920"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Classification</a:t>
            </a:r>
          </a:p>
        </p:txBody>
      </p:sp>
      <p:pic>
        <p:nvPicPr>
          <p:cNvPr id="32" name="Graphic 31" descr="Cursor with solid fill">
            <a:extLst>
              <a:ext uri="{FF2B5EF4-FFF2-40B4-BE49-F238E27FC236}">
                <a16:creationId xmlns:a16="http://schemas.microsoft.com/office/drawing/2014/main" id="{4AB049BB-99B6-DBAE-098E-8F095F8373F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701287" y="1007490"/>
            <a:ext cx="274320" cy="274320"/>
          </a:xfrm>
          <a:prstGeom prst="rect">
            <a:avLst/>
          </a:prstGeom>
        </p:spPr>
      </p:pic>
      <p:sp>
        <p:nvSpPr>
          <p:cNvPr id="34" name="Cases">
            <a:hlinkClick r:id="rId11" action="ppaction://hlinksldjump"/>
            <a:extLst>
              <a:ext uri="{FF2B5EF4-FFF2-40B4-BE49-F238E27FC236}">
                <a16:creationId xmlns:a16="http://schemas.microsoft.com/office/drawing/2014/main" id="{C772CB9B-495D-B35E-4125-6AF1CA261EBF}"/>
              </a:ext>
            </a:extLst>
          </p:cNvPr>
          <p:cNvSpPr txBox="1"/>
          <p:nvPr/>
        </p:nvSpPr>
        <p:spPr>
          <a:xfrm>
            <a:off x="181642" y="2447614"/>
            <a:ext cx="1645920"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Exacerbations</a:t>
            </a:r>
          </a:p>
        </p:txBody>
      </p:sp>
      <p:sp>
        <p:nvSpPr>
          <p:cNvPr id="35" name="Question 2">
            <a:hlinkClick r:id="rId12" action="ppaction://hlinksldjump"/>
            <a:extLst>
              <a:ext uri="{FF2B5EF4-FFF2-40B4-BE49-F238E27FC236}">
                <a16:creationId xmlns:a16="http://schemas.microsoft.com/office/drawing/2014/main" id="{65E0B99D-06C5-B78C-2319-680AE97CBBD4}"/>
              </a:ext>
            </a:extLst>
          </p:cNvPr>
          <p:cNvSpPr txBox="1"/>
          <p:nvPr/>
        </p:nvSpPr>
        <p:spPr>
          <a:xfrm>
            <a:off x="181642" y="1875581"/>
            <a:ext cx="1645920"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Efficacy</a:t>
            </a:r>
          </a:p>
        </p:txBody>
      </p:sp>
      <p:pic>
        <p:nvPicPr>
          <p:cNvPr id="36" name="Graphic 35" descr="Cursor with solid fill">
            <a:extLst>
              <a:ext uri="{FF2B5EF4-FFF2-40B4-BE49-F238E27FC236}">
                <a16:creationId xmlns:a16="http://schemas.microsoft.com/office/drawing/2014/main" id="{1336B145-C92C-6327-DA5D-245C77DDC01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701287" y="2722270"/>
            <a:ext cx="270869" cy="274320"/>
          </a:xfrm>
          <a:prstGeom prst="rect">
            <a:avLst/>
          </a:prstGeom>
        </p:spPr>
      </p:pic>
      <p:pic>
        <p:nvPicPr>
          <p:cNvPr id="38" name="Graphic 37" descr="Cursor with solid fill">
            <a:extLst>
              <a:ext uri="{FF2B5EF4-FFF2-40B4-BE49-F238E27FC236}">
                <a16:creationId xmlns:a16="http://schemas.microsoft.com/office/drawing/2014/main" id="{9ECA2766-A643-3A8D-24DB-DAE6F3EF937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701287" y="2150676"/>
            <a:ext cx="274320" cy="274320"/>
          </a:xfrm>
          <a:prstGeom prst="rect">
            <a:avLst/>
          </a:prstGeom>
        </p:spPr>
      </p:pic>
      <p:sp>
        <p:nvSpPr>
          <p:cNvPr id="40" name="Cases">
            <a:hlinkClick r:id="rId13" action="ppaction://hlinksldjump"/>
            <a:extLst>
              <a:ext uri="{FF2B5EF4-FFF2-40B4-BE49-F238E27FC236}">
                <a16:creationId xmlns:a16="http://schemas.microsoft.com/office/drawing/2014/main" id="{1AD2C578-70C3-B608-AB37-ED7B96FB6D88}"/>
              </a:ext>
            </a:extLst>
          </p:cNvPr>
          <p:cNvSpPr txBox="1"/>
          <p:nvPr/>
        </p:nvSpPr>
        <p:spPr>
          <a:xfrm>
            <a:off x="181642" y="3020377"/>
            <a:ext cx="1645920"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Cases</a:t>
            </a:r>
          </a:p>
        </p:txBody>
      </p:sp>
      <p:pic>
        <p:nvPicPr>
          <p:cNvPr id="41" name="Graphic 40" descr="Cursor with solid fill">
            <a:extLst>
              <a:ext uri="{FF2B5EF4-FFF2-40B4-BE49-F238E27FC236}">
                <a16:creationId xmlns:a16="http://schemas.microsoft.com/office/drawing/2014/main" id="{5C0CE00F-2EAC-A89F-9C62-292B332E739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701287" y="3295033"/>
            <a:ext cx="270869" cy="274320"/>
          </a:xfrm>
          <a:prstGeom prst="rect">
            <a:avLst/>
          </a:prstGeom>
        </p:spPr>
      </p:pic>
      <p:pic>
        <p:nvPicPr>
          <p:cNvPr id="42" name="Graphic 41" descr="Cursor with solid fill">
            <a:extLst>
              <a:ext uri="{FF2B5EF4-FFF2-40B4-BE49-F238E27FC236}">
                <a16:creationId xmlns:a16="http://schemas.microsoft.com/office/drawing/2014/main" id="{F14F853E-ED4A-6BA1-4D4B-604FE93CAA2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701287" y="2723439"/>
            <a:ext cx="274320" cy="274320"/>
          </a:xfrm>
          <a:prstGeom prst="rect">
            <a:avLst/>
          </a:prstGeom>
        </p:spPr>
      </p:pic>
    </p:spTree>
    <p:extLst>
      <p:ext uri="{BB962C8B-B14F-4D97-AF65-F5344CB8AC3E}">
        <p14:creationId xmlns:p14="http://schemas.microsoft.com/office/powerpoint/2010/main" val="1727071914"/>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47"/>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par>
                                <p:cTn id="9" presetID="1" presetClass="exit" presetSubtype="0" fill="hold" grpId="0" nodeType="withEffect">
                                  <p:stCondLst>
                                    <p:cond delay="0"/>
                                  </p:stCondLst>
                                  <p:childTnLst>
                                    <p:set>
                                      <p:cBhvr>
                                        <p:cTn id="10" dur="1" fill="hold">
                                          <p:stCondLst>
                                            <p:cond delay="0"/>
                                          </p:stCondLst>
                                        </p:cTn>
                                        <p:tgtEl>
                                          <p:spTgt spid="47"/>
                                        </p:tgtEl>
                                        <p:attrNameLst>
                                          <p:attrName>style.visibility</p:attrName>
                                        </p:attrNameLst>
                                      </p:cBhvr>
                                      <p:to>
                                        <p:strVal val="hidden"/>
                                      </p:to>
                                    </p:set>
                                  </p:childTnLst>
                                </p:cTn>
                              </p:par>
                              <p:par>
                                <p:cTn id="11" presetID="1" presetClass="entr" presetSubtype="0" fill="hold" nodeType="withEffect">
                                  <p:stCondLst>
                                    <p:cond delay="0"/>
                                  </p:stCondLst>
                                  <p:childTnLst>
                                    <p:set>
                                      <p:cBhvr>
                                        <p:cTn id="12" dur="1" fill="hold">
                                          <p:stCondLst>
                                            <p:cond delay="0"/>
                                          </p:stCondLst>
                                        </p:cTn>
                                        <p:tgtEl>
                                          <p:spTgt spid="6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3"/>
                                        </p:tgtEl>
                                        <p:attrNameLst>
                                          <p:attrName>style.visibility</p:attrName>
                                        </p:attrNameLst>
                                      </p:cBhvr>
                                      <p:to>
                                        <p:strVal val="visible"/>
                                      </p:to>
                                    </p:set>
                                  </p:childTnLst>
                                </p:cTn>
                              </p:par>
                              <p:par>
                                <p:cTn id="15" presetID="1" presetClass="exit" presetSubtype="0" fill="hold" nodeType="withEffect">
                                  <p:stCondLst>
                                    <p:cond delay="0"/>
                                  </p:stCondLst>
                                  <p:childTnLst>
                                    <p:set>
                                      <p:cBhvr>
                                        <p:cTn id="16" dur="1" fill="hold">
                                          <p:stCondLst>
                                            <p:cond delay="0"/>
                                          </p:stCondLst>
                                        </p:cTn>
                                        <p:tgtEl>
                                          <p:spTgt spid="48"/>
                                        </p:tgtEl>
                                        <p:attrNameLst>
                                          <p:attrName>style.visibility</p:attrName>
                                        </p:attrNameLst>
                                      </p:cBhvr>
                                      <p:to>
                                        <p:strVal val="hidden"/>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childTnLst>
              </p:cTn>
              <p:nextCondLst>
                <p:cond evt="onClick" delay="0">
                  <p:tgtEl>
                    <p:spTgt spid="47"/>
                  </p:tgtEl>
                </p:cond>
              </p:nextCondLst>
            </p:seq>
            <p:seq concurrent="1" nextAc="seek">
              <p:cTn id="19" restart="whenNotActive" fill="hold" evtFilter="cancelBubble" nodeType="interactiveSeq">
                <p:stCondLst>
                  <p:cond evt="onClick" delay="0">
                    <p:tgtEl>
                      <p:spTgt spid="10"/>
                    </p:tgtEl>
                  </p:cond>
                </p:stCondLst>
                <p:endSync evt="end" delay="0">
                  <p:rtn val="all"/>
                </p:endSync>
                <p:childTnLst>
                  <p:par>
                    <p:cTn id="20" fill="hold">
                      <p:stCondLst>
                        <p:cond delay="0"/>
                      </p:stCondLst>
                      <p:childTnLst>
                        <p:par>
                          <p:cTn id="21" fill="hold">
                            <p:stCondLst>
                              <p:cond delay="0"/>
                            </p:stCondLst>
                            <p:childTnLst>
                              <p:par>
                                <p:cTn id="22" presetID="1" presetClass="entr" presetSubtype="0" fill="hold" nodeType="withEffect">
                                  <p:stCondLst>
                                    <p:cond delay="0"/>
                                  </p:stCondLst>
                                  <p:childTnLst>
                                    <p:set>
                                      <p:cBhvr>
                                        <p:cTn id="23" dur="1" fill="hold">
                                          <p:stCondLst>
                                            <p:cond delay="0"/>
                                          </p:stCondLst>
                                        </p:cTn>
                                        <p:tgtEl>
                                          <p:spTgt spid="52"/>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49"/>
                                        </p:tgtEl>
                                        <p:attrNameLst>
                                          <p:attrName>style.visibility</p:attrName>
                                        </p:attrNameLst>
                                      </p:cBhvr>
                                      <p:to>
                                        <p:strVal val="visible"/>
                                      </p:to>
                                    </p:set>
                                  </p:childTnLst>
                                </p:cTn>
                              </p:par>
                              <p:par>
                                <p:cTn id="26" presetID="1" presetClass="entr" presetSubtype="0" fill="hold" grpId="1" nodeType="withEffect">
                                  <p:stCondLst>
                                    <p:cond delay="0"/>
                                  </p:stCondLst>
                                  <p:childTnLst>
                                    <p:set>
                                      <p:cBhvr>
                                        <p:cTn id="27" dur="1" fill="hold">
                                          <p:stCondLst>
                                            <p:cond delay="0"/>
                                          </p:stCondLst>
                                        </p:cTn>
                                        <p:tgtEl>
                                          <p:spTgt spid="55"/>
                                        </p:tgtEl>
                                        <p:attrNameLst>
                                          <p:attrName>style.visibility</p:attrName>
                                        </p:attrNameLst>
                                      </p:cBhvr>
                                      <p:to>
                                        <p:strVal val="visible"/>
                                      </p:to>
                                    </p:set>
                                  </p:childTnLst>
                                </p:cTn>
                              </p:par>
                              <p:par>
                                <p:cTn id="28" presetID="1" presetClass="exit" presetSubtype="0" fill="hold" nodeType="withEffect">
                                  <p:stCondLst>
                                    <p:cond delay="0"/>
                                  </p:stCondLst>
                                  <p:childTnLst>
                                    <p:set>
                                      <p:cBhvr>
                                        <p:cTn id="29" dur="1" fill="hold">
                                          <p:stCondLst>
                                            <p:cond delay="0"/>
                                          </p:stCondLst>
                                        </p:cTn>
                                        <p:tgtEl>
                                          <p:spTgt spid="14"/>
                                        </p:tgtEl>
                                        <p:attrNameLst>
                                          <p:attrName>style.visibility</p:attrName>
                                        </p:attrNameLst>
                                      </p:cBhvr>
                                      <p:to>
                                        <p:strVal val="hidden"/>
                                      </p:to>
                                    </p:set>
                                  </p:childTnLst>
                                </p:cTn>
                              </p:par>
                              <p:par>
                                <p:cTn id="30" presetID="1" presetClass="exit" presetSubtype="0" fill="hold" grpId="1" nodeType="withEffect">
                                  <p:stCondLst>
                                    <p:cond delay="0"/>
                                  </p:stCondLst>
                                  <p:childTnLst>
                                    <p:set>
                                      <p:cBhvr>
                                        <p:cTn id="31" dur="1" fill="hold">
                                          <p:stCondLst>
                                            <p:cond delay="0"/>
                                          </p:stCondLst>
                                        </p:cTn>
                                        <p:tgtEl>
                                          <p:spTgt spid="10"/>
                                        </p:tgtEl>
                                        <p:attrNameLst>
                                          <p:attrName>style.visibility</p:attrName>
                                        </p:attrNameLst>
                                      </p:cBhvr>
                                      <p:to>
                                        <p:strVal val="hidden"/>
                                      </p:to>
                                    </p:set>
                                  </p:childTnLst>
                                </p:cTn>
                              </p:par>
                              <p:par>
                                <p:cTn id="32" presetID="1" presetClass="entr" presetSubtype="0" fill="hold" nodeType="withEffect">
                                  <p:stCondLst>
                                    <p:cond delay="0"/>
                                  </p:stCondLst>
                                  <p:childTnLst>
                                    <p:set>
                                      <p:cBhvr>
                                        <p:cTn id="33" dur="1" fill="hold">
                                          <p:stCondLst>
                                            <p:cond delay="0"/>
                                          </p:stCondLst>
                                        </p:cTn>
                                        <p:tgtEl>
                                          <p:spTgt spid="56"/>
                                        </p:tgtEl>
                                        <p:attrNameLst>
                                          <p:attrName>style.visibility</p:attrName>
                                        </p:attrNameLst>
                                      </p:cBhvr>
                                      <p:to>
                                        <p:strVal val="visible"/>
                                      </p:to>
                                    </p:set>
                                  </p:childTnLst>
                                </p:cTn>
                              </p:par>
                            </p:childTnLst>
                          </p:cTn>
                        </p:par>
                      </p:childTnLst>
                    </p:cTn>
                  </p:par>
                </p:childTnLst>
              </p:cTn>
              <p:nextCondLst>
                <p:cond evt="onClick" delay="0">
                  <p:tgtEl>
                    <p:spTgt spid="10"/>
                  </p:tgtEl>
                </p:cond>
              </p:nextCondLst>
            </p:seq>
            <p:seq concurrent="1" nextAc="seek">
              <p:cTn id="34" restart="whenNotActive" fill="hold" evtFilter="cancelBubble" nodeType="interactiveSeq">
                <p:stCondLst>
                  <p:cond evt="onClick" delay="0">
                    <p:tgtEl>
                      <p:spTgt spid="49"/>
                    </p:tgtEl>
                  </p:cond>
                </p:stCondLst>
                <p:endSync evt="end" delay="0">
                  <p:rtn val="all"/>
                </p:endSync>
                <p:childTnLst>
                  <p:par>
                    <p:cTn id="35" fill="hold">
                      <p:stCondLst>
                        <p:cond delay="0"/>
                      </p:stCondLst>
                      <p:childTnLst>
                        <p:par>
                          <p:cTn id="36" fill="hold">
                            <p:stCondLst>
                              <p:cond delay="0"/>
                            </p:stCondLst>
                            <p:childTnLst>
                              <p:par>
                                <p:cTn id="37" presetID="1" presetClass="entr" presetSubtype="0" fill="hold" grpId="0" nodeType="withEffect">
                                  <p:stCondLst>
                                    <p:cond delay="0"/>
                                  </p:stCondLst>
                                  <p:childTnLst>
                                    <p:set>
                                      <p:cBhvr>
                                        <p:cTn id="38" dur="1" fill="hold">
                                          <p:stCondLst>
                                            <p:cond delay="0"/>
                                          </p:stCondLst>
                                        </p:cTn>
                                        <p:tgtEl>
                                          <p:spTgt spid="29"/>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7"/>
                                        </p:tgtEl>
                                        <p:attrNameLst>
                                          <p:attrName>style.visibility</p:attrName>
                                        </p:attrNameLst>
                                      </p:cBhvr>
                                      <p:to>
                                        <p:strVal val="visible"/>
                                      </p:to>
                                    </p:set>
                                  </p:childTnLst>
                                </p:cTn>
                              </p:par>
                              <p:par>
                                <p:cTn id="41" presetID="1" presetClass="exit" presetSubtype="0" fill="hold" nodeType="withEffect">
                                  <p:stCondLst>
                                    <p:cond delay="0"/>
                                  </p:stCondLst>
                                  <p:childTnLst>
                                    <p:set>
                                      <p:cBhvr>
                                        <p:cTn id="42" dur="1" fill="hold">
                                          <p:stCondLst>
                                            <p:cond delay="0"/>
                                          </p:stCondLst>
                                        </p:cTn>
                                        <p:tgtEl>
                                          <p:spTgt spid="52"/>
                                        </p:tgtEl>
                                        <p:attrNameLst>
                                          <p:attrName>style.visibility</p:attrName>
                                        </p:attrNameLst>
                                      </p:cBhvr>
                                      <p:to>
                                        <p:strVal val="hidden"/>
                                      </p:to>
                                    </p:set>
                                  </p:childTnLst>
                                </p:cTn>
                              </p:par>
                              <p:par>
                                <p:cTn id="43" presetID="1" presetClass="exit" presetSubtype="0" fill="hold" grpId="1" nodeType="withEffect">
                                  <p:stCondLst>
                                    <p:cond delay="0"/>
                                  </p:stCondLst>
                                  <p:childTnLst>
                                    <p:set>
                                      <p:cBhvr>
                                        <p:cTn id="44" dur="1" fill="hold">
                                          <p:stCondLst>
                                            <p:cond delay="0"/>
                                          </p:stCondLst>
                                        </p:cTn>
                                        <p:tgtEl>
                                          <p:spTgt spid="49"/>
                                        </p:tgtEl>
                                        <p:attrNameLst>
                                          <p:attrName>style.visibility</p:attrName>
                                        </p:attrNameLst>
                                      </p:cBhvr>
                                      <p:to>
                                        <p:strVal val="hidden"/>
                                      </p:to>
                                    </p:set>
                                  </p:childTnLst>
                                </p:cTn>
                              </p:par>
                              <p:par>
                                <p:cTn id="45" presetID="1" presetClass="entr" presetSubtype="0" fill="hold" grpId="0" nodeType="withEffect">
                                  <p:stCondLst>
                                    <p:cond delay="0"/>
                                  </p:stCondLst>
                                  <p:childTnLst>
                                    <p:set>
                                      <p:cBhvr>
                                        <p:cTn id="46" dur="1" fill="hold">
                                          <p:stCondLst>
                                            <p:cond delay="0"/>
                                          </p:stCondLst>
                                        </p:cTn>
                                        <p:tgtEl>
                                          <p:spTgt spid="57"/>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58"/>
                                        </p:tgtEl>
                                        <p:attrNameLst>
                                          <p:attrName>style.visibility</p:attrName>
                                        </p:attrNameLst>
                                      </p:cBhvr>
                                      <p:to>
                                        <p:strVal val="visible"/>
                                      </p:to>
                                    </p:set>
                                  </p:childTnLst>
                                </p:cTn>
                              </p:par>
                            </p:childTnLst>
                          </p:cTn>
                        </p:par>
                      </p:childTnLst>
                    </p:cTn>
                  </p:par>
                </p:childTnLst>
              </p:cTn>
              <p:nextCondLst>
                <p:cond evt="onClick" delay="0">
                  <p:tgtEl>
                    <p:spTgt spid="49"/>
                  </p:tgtEl>
                </p:cond>
              </p:nextCondLst>
            </p:seq>
            <p:seq concurrent="1" nextAc="seek">
              <p:cTn id="49" restart="whenNotActive" fill="hold" evtFilter="cancelBubble" nodeType="interactiveSeq">
                <p:stCondLst>
                  <p:cond evt="onClick" delay="0">
                    <p:tgtEl>
                      <p:spTgt spid="57"/>
                    </p:tgtEl>
                  </p:cond>
                </p:stCondLst>
                <p:endSync evt="end" delay="0">
                  <p:rtn val="all"/>
                </p:endSync>
                <p:childTnLst>
                  <p:par>
                    <p:cTn id="50" fill="hold">
                      <p:stCondLst>
                        <p:cond delay="0"/>
                      </p:stCondLst>
                      <p:childTnLst>
                        <p:par>
                          <p:cTn id="51" fill="hold">
                            <p:stCondLst>
                              <p:cond delay="0"/>
                            </p:stCondLst>
                            <p:childTnLst>
                              <p:par>
                                <p:cTn id="52" presetID="1" presetClass="exit" presetSubtype="0" fill="hold" nodeType="withEffect">
                                  <p:stCondLst>
                                    <p:cond delay="0"/>
                                  </p:stCondLst>
                                  <p:childTnLst>
                                    <p:set>
                                      <p:cBhvr>
                                        <p:cTn id="53" dur="1" fill="hold">
                                          <p:stCondLst>
                                            <p:cond delay="0"/>
                                          </p:stCondLst>
                                        </p:cTn>
                                        <p:tgtEl>
                                          <p:spTgt spid="58"/>
                                        </p:tgtEl>
                                        <p:attrNameLst>
                                          <p:attrName>style.visibility</p:attrName>
                                        </p:attrNameLst>
                                      </p:cBhvr>
                                      <p:to>
                                        <p:strVal val="hidden"/>
                                      </p:to>
                                    </p:set>
                                  </p:childTnLst>
                                </p:cTn>
                              </p:par>
                              <p:par>
                                <p:cTn id="54" presetID="1" presetClass="entr" presetSubtype="0" fill="hold" nodeType="withEffect">
                                  <p:stCondLst>
                                    <p:cond delay="0"/>
                                  </p:stCondLst>
                                  <p:childTnLst>
                                    <p:set>
                                      <p:cBhvr>
                                        <p:cTn id="55" dur="1" fill="hold">
                                          <p:stCondLst>
                                            <p:cond delay="0"/>
                                          </p:stCondLst>
                                        </p:cTn>
                                        <p:tgtEl>
                                          <p:spTgt spid="78"/>
                                        </p:tgtEl>
                                        <p:attrNameLst>
                                          <p:attrName>style.visibility</p:attrName>
                                        </p:attrNameLst>
                                      </p:cBhvr>
                                      <p:to>
                                        <p:strVal val="visible"/>
                                      </p:to>
                                    </p:set>
                                  </p:childTnLst>
                                </p:cTn>
                              </p:par>
                              <p:par>
                                <p:cTn id="56" presetID="1" presetClass="entr" presetSubtype="0" fill="hold" grpId="0" nodeType="withEffect">
                                  <p:stCondLst>
                                    <p:cond delay="0"/>
                                  </p:stCondLst>
                                  <p:childTnLst>
                                    <p:set>
                                      <p:cBhvr>
                                        <p:cTn id="57" dur="1" fill="hold">
                                          <p:stCondLst>
                                            <p:cond delay="0"/>
                                          </p:stCondLst>
                                        </p:cTn>
                                        <p:tgtEl>
                                          <p:spTgt spid="53"/>
                                        </p:tgtEl>
                                        <p:attrNameLst>
                                          <p:attrName>style.visibility</p:attrName>
                                        </p:attrNameLst>
                                      </p:cBhvr>
                                      <p:to>
                                        <p:strVal val="visible"/>
                                      </p:to>
                                    </p:set>
                                  </p:childTnLst>
                                </p:cTn>
                              </p:par>
                              <p:par>
                                <p:cTn id="58" presetID="1" presetClass="entr" presetSubtype="0" fill="hold" grpId="0" nodeType="withEffect">
                                  <p:stCondLst>
                                    <p:cond delay="0"/>
                                  </p:stCondLst>
                                  <p:childTnLst>
                                    <p:set>
                                      <p:cBhvr>
                                        <p:cTn id="59" dur="1" fill="hold">
                                          <p:stCondLst>
                                            <p:cond delay="0"/>
                                          </p:stCondLst>
                                        </p:cTn>
                                        <p:tgtEl>
                                          <p:spTgt spid="85"/>
                                        </p:tgtEl>
                                        <p:attrNameLst>
                                          <p:attrName>style.visibility</p:attrName>
                                        </p:attrNameLst>
                                      </p:cBhvr>
                                      <p:to>
                                        <p:strVal val="visible"/>
                                      </p:to>
                                    </p:set>
                                  </p:childTnLst>
                                </p:cTn>
                              </p:par>
                              <p:par>
                                <p:cTn id="60" presetID="1" presetClass="exit" presetSubtype="0" fill="hold" grpId="1" nodeType="withEffect">
                                  <p:stCondLst>
                                    <p:cond delay="0"/>
                                  </p:stCondLst>
                                  <p:childTnLst>
                                    <p:set>
                                      <p:cBhvr>
                                        <p:cTn id="61" dur="1" fill="hold">
                                          <p:stCondLst>
                                            <p:cond delay="0"/>
                                          </p:stCondLst>
                                        </p:cTn>
                                        <p:tgtEl>
                                          <p:spTgt spid="57"/>
                                        </p:tgtEl>
                                        <p:attrNameLst>
                                          <p:attrName>style.visibility</p:attrName>
                                        </p:attrNameLst>
                                      </p:cBhvr>
                                      <p:to>
                                        <p:strVal val="hidden"/>
                                      </p:to>
                                    </p:set>
                                  </p:childTnLst>
                                </p:cTn>
                              </p:par>
                            </p:childTnLst>
                          </p:cTn>
                        </p:par>
                      </p:childTnLst>
                    </p:cTn>
                  </p:par>
                </p:childTnLst>
              </p:cTn>
              <p:nextCondLst>
                <p:cond evt="onClick" delay="0">
                  <p:tgtEl>
                    <p:spTgt spid="57"/>
                  </p:tgtEl>
                </p:cond>
              </p:nextCondLst>
            </p:seq>
            <p:seq concurrent="1" nextAc="seek">
              <p:cTn id="62" restart="whenNotActive" fill="hold" evtFilter="cancelBubble" nodeType="interactiveSeq">
                <p:stCondLst>
                  <p:cond evt="onClick" delay="0">
                    <p:tgtEl>
                      <p:spTgt spid="55"/>
                    </p:tgtEl>
                  </p:cond>
                </p:stCondLst>
                <p:endSync evt="end" delay="0">
                  <p:rtn val="all"/>
                </p:endSync>
                <p:childTnLst>
                  <p:par>
                    <p:cTn id="63" fill="hold">
                      <p:stCondLst>
                        <p:cond delay="0"/>
                      </p:stCondLst>
                      <p:childTnLst>
                        <p:par>
                          <p:cTn id="64" fill="hold">
                            <p:stCondLst>
                              <p:cond delay="0"/>
                            </p:stCondLst>
                            <p:childTnLst>
                              <p:par>
                                <p:cTn id="65" presetID="1" presetClass="exit" presetSubtype="0" fill="hold" grpId="0" nodeType="withEffect">
                                  <p:stCondLst>
                                    <p:cond delay="0"/>
                                  </p:stCondLst>
                                  <p:childTnLst>
                                    <p:set>
                                      <p:cBhvr>
                                        <p:cTn id="66" dur="1" fill="hold">
                                          <p:stCondLst>
                                            <p:cond delay="0"/>
                                          </p:stCondLst>
                                        </p:cTn>
                                        <p:tgtEl>
                                          <p:spTgt spid="55"/>
                                        </p:tgtEl>
                                        <p:attrNameLst>
                                          <p:attrName>style.visibility</p:attrName>
                                        </p:attrNameLst>
                                      </p:cBhvr>
                                      <p:to>
                                        <p:strVal val="hidden"/>
                                      </p:to>
                                    </p:set>
                                  </p:childTnLst>
                                </p:cTn>
                              </p:par>
                              <p:par>
                                <p:cTn id="67" presetID="1" presetClass="exit" presetSubtype="0" fill="hold" nodeType="withEffect">
                                  <p:stCondLst>
                                    <p:cond delay="0"/>
                                  </p:stCondLst>
                                  <p:childTnLst>
                                    <p:set>
                                      <p:cBhvr>
                                        <p:cTn id="68" dur="1" fill="hold">
                                          <p:stCondLst>
                                            <p:cond delay="0"/>
                                          </p:stCondLst>
                                        </p:cTn>
                                        <p:tgtEl>
                                          <p:spTgt spid="56"/>
                                        </p:tgtEl>
                                        <p:attrNameLst>
                                          <p:attrName>style.visibility</p:attrName>
                                        </p:attrNameLst>
                                      </p:cBhvr>
                                      <p:to>
                                        <p:strVal val="hidden"/>
                                      </p:to>
                                    </p:set>
                                  </p:childTnLst>
                                </p:cTn>
                              </p:par>
                              <p:par>
                                <p:cTn id="69" presetID="1" presetClass="entr" presetSubtype="0" fill="hold" grpId="0" nodeType="withEffect">
                                  <p:stCondLst>
                                    <p:cond delay="0"/>
                                  </p:stCondLst>
                                  <p:childTnLst>
                                    <p:set>
                                      <p:cBhvr>
                                        <p:cTn id="70" dur="1" fill="hold">
                                          <p:stCondLst>
                                            <p:cond delay="0"/>
                                          </p:stCondLst>
                                        </p:cTn>
                                        <p:tgtEl>
                                          <p:spTgt spid="30"/>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37"/>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43"/>
                                        </p:tgtEl>
                                        <p:attrNameLst>
                                          <p:attrName>style.visibility</p:attrName>
                                        </p:attrNameLst>
                                      </p:cBhvr>
                                      <p:to>
                                        <p:strVal val="visible"/>
                                      </p:to>
                                    </p:set>
                                  </p:childTnLst>
                                </p:cTn>
                              </p:par>
                              <p:par>
                                <p:cTn id="75" presetID="1" presetClass="entr" presetSubtype="0" fill="hold" grpId="1" nodeType="withEffect">
                                  <p:stCondLst>
                                    <p:cond delay="0"/>
                                  </p:stCondLst>
                                  <p:childTnLst>
                                    <p:set>
                                      <p:cBhvr>
                                        <p:cTn id="76" dur="1" fill="hold">
                                          <p:stCondLst>
                                            <p:cond delay="0"/>
                                          </p:stCondLst>
                                        </p:cTn>
                                        <p:tgtEl>
                                          <p:spTgt spid="59"/>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60"/>
                                        </p:tgtEl>
                                        <p:attrNameLst>
                                          <p:attrName>style.visibility</p:attrName>
                                        </p:attrNameLst>
                                      </p:cBhvr>
                                      <p:to>
                                        <p:strVal val="visible"/>
                                      </p:to>
                                    </p:set>
                                  </p:childTnLst>
                                </p:cTn>
                              </p:par>
                            </p:childTnLst>
                          </p:cTn>
                        </p:par>
                      </p:childTnLst>
                    </p:cTn>
                  </p:par>
                </p:childTnLst>
              </p:cTn>
              <p:nextCondLst>
                <p:cond evt="onClick" delay="0">
                  <p:tgtEl>
                    <p:spTgt spid="55"/>
                  </p:tgtEl>
                </p:cond>
              </p:nextCondLst>
            </p:seq>
            <p:seq concurrent="1" nextAc="seek">
              <p:cTn id="79" restart="whenNotActive" fill="hold" evtFilter="cancelBubble" nodeType="interactiveSeq">
                <p:stCondLst>
                  <p:cond evt="onClick" delay="0">
                    <p:tgtEl>
                      <p:spTgt spid="59"/>
                    </p:tgtEl>
                  </p:cond>
                </p:stCondLst>
                <p:endSync evt="end" delay="0">
                  <p:rtn val="all"/>
                </p:endSync>
                <p:childTnLst>
                  <p:par>
                    <p:cTn id="80" fill="hold">
                      <p:stCondLst>
                        <p:cond delay="0"/>
                      </p:stCondLst>
                      <p:childTnLst>
                        <p:par>
                          <p:cTn id="81" fill="hold">
                            <p:stCondLst>
                              <p:cond delay="0"/>
                            </p:stCondLst>
                            <p:childTnLst>
                              <p:par>
                                <p:cTn id="82" presetID="1" presetClass="exit" presetSubtype="0" fill="hold" grpId="0" nodeType="withEffect">
                                  <p:stCondLst>
                                    <p:cond delay="0"/>
                                  </p:stCondLst>
                                  <p:childTnLst>
                                    <p:set>
                                      <p:cBhvr>
                                        <p:cTn id="83" dur="1" fill="hold">
                                          <p:stCondLst>
                                            <p:cond delay="0"/>
                                          </p:stCondLst>
                                        </p:cTn>
                                        <p:tgtEl>
                                          <p:spTgt spid="59"/>
                                        </p:tgtEl>
                                        <p:attrNameLst>
                                          <p:attrName>style.visibility</p:attrName>
                                        </p:attrNameLst>
                                      </p:cBhvr>
                                      <p:to>
                                        <p:strVal val="hidden"/>
                                      </p:to>
                                    </p:set>
                                  </p:childTnLst>
                                </p:cTn>
                              </p:par>
                              <p:par>
                                <p:cTn id="84" presetID="1" presetClass="entr" presetSubtype="0" fill="hold" grpId="0" nodeType="withEffect">
                                  <p:stCondLst>
                                    <p:cond delay="0"/>
                                  </p:stCondLst>
                                  <p:childTnLst>
                                    <p:set>
                                      <p:cBhvr>
                                        <p:cTn id="85" dur="1" fill="hold">
                                          <p:stCondLst>
                                            <p:cond delay="0"/>
                                          </p:stCondLst>
                                        </p:cTn>
                                        <p:tgtEl>
                                          <p:spTgt spid="88"/>
                                        </p:tgtEl>
                                        <p:attrNameLst>
                                          <p:attrName>style.visibility</p:attrName>
                                        </p:attrNameLst>
                                      </p:cBhvr>
                                      <p:to>
                                        <p:strVal val="visible"/>
                                      </p:to>
                                    </p:set>
                                  </p:childTnLst>
                                </p:cTn>
                              </p:par>
                              <p:par>
                                <p:cTn id="86" presetID="1" presetClass="entr" presetSubtype="0" fill="hold" grpId="0" nodeType="withEffect">
                                  <p:stCondLst>
                                    <p:cond delay="0"/>
                                  </p:stCondLst>
                                  <p:childTnLst>
                                    <p:set>
                                      <p:cBhvr>
                                        <p:cTn id="87" dur="1" fill="hold">
                                          <p:stCondLst>
                                            <p:cond delay="0"/>
                                          </p:stCondLst>
                                        </p:cTn>
                                        <p:tgtEl>
                                          <p:spTgt spid="75"/>
                                        </p:tgtEl>
                                        <p:attrNameLst>
                                          <p:attrName>style.visibility</p:attrName>
                                        </p:attrNameLst>
                                      </p:cBhvr>
                                      <p:to>
                                        <p:strVal val="visible"/>
                                      </p:to>
                                    </p:set>
                                  </p:childTnLst>
                                </p:cTn>
                              </p:par>
                              <p:par>
                                <p:cTn id="88" presetID="1" presetClass="entr" presetSubtype="0" fill="hold" nodeType="withEffect">
                                  <p:stCondLst>
                                    <p:cond delay="0"/>
                                  </p:stCondLst>
                                  <p:childTnLst>
                                    <p:set>
                                      <p:cBhvr>
                                        <p:cTn id="89" dur="1" fill="hold">
                                          <p:stCondLst>
                                            <p:cond delay="0"/>
                                          </p:stCondLst>
                                        </p:cTn>
                                        <p:tgtEl>
                                          <p:spTgt spid="33"/>
                                        </p:tgtEl>
                                        <p:attrNameLst>
                                          <p:attrName>style.visibility</p:attrName>
                                        </p:attrNameLst>
                                      </p:cBhvr>
                                      <p:to>
                                        <p:strVal val="visible"/>
                                      </p:to>
                                    </p:set>
                                  </p:childTnLst>
                                </p:cTn>
                              </p:par>
                              <p:par>
                                <p:cTn id="90" presetID="1" presetClass="entr" presetSubtype="0" fill="hold" nodeType="withEffect">
                                  <p:stCondLst>
                                    <p:cond delay="0"/>
                                  </p:stCondLst>
                                  <p:childTnLst>
                                    <p:set>
                                      <p:cBhvr>
                                        <p:cTn id="91" dur="1" fill="hold">
                                          <p:stCondLst>
                                            <p:cond delay="0"/>
                                          </p:stCondLst>
                                        </p:cTn>
                                        <p:tgtEl>
                                          <p:spTgt spid="54"/>
                                        </p:tgtEl>
                                        <p:attrNameLst>
                                          <p:attrName>style.visibility</p:attrName>
                                        </p:attrNameLst>
                                      </p:cBhvr>
                                      <p:to>
                                        <p:strVal val="visible"/>
                                      </p:to>
                                    </p:set>
                                  </p:childTnLst>
                                </p:cTn>
                              </p:par>
                              <p:par>
                                <p:cTn id="92" presetID="1" presetClass="exit" presetSubtype="0" fill="hold" nodeType="withEffect">
                                  <p:stCondLst>
                                    <p:cond delay="0"/>
                                  </p:stCondLst>
                                  <p:childTnLst>
                                    <p:set>
                                      <p:cBhvr>
                                        <p:cTn id="93" dur="1" fill="hold">
                                          <p:stCondLst>
                                            <p:cond delay="0"/>
                                          </p:stCondLst>
                                        </p:cTn>
                                        <p:tgtEl>
                                          <p:spTgt spid="60"/>
                                        </p:tgtEl>
                                        <p:attrNameLst>
                                          <p:attrName>style.visibility</p:attrName>
                                        </p:attrNameLst>
                                      </p:cBhvr>
                                      <p:to>
                                        <p:strVal val="hidden"/>
                                      </p:to>
                                    </p:set>
                                  </p:childTnLst>
                                </p:cTn>
                              </p:par>
                              <p:par>
                                <p:cTn id="94" presetID="1" presetClass="entr" presetSubtype="0" fill="hold" grpId="1" nodeType="withEffect">
                                  <p:stCondLst>
                                    <p:cond delay="0"/>
                                  </p:stCondLst>
                                  <p:childTnLst>
                                    <p:set>
                                      <p:cBhvr>
                                        <p:cTn id="95" dur="1" fill="hold">
                                          <p:stCondLst>
                                            <p:cond delay="0"/>
                                          </p:stCondLst>
                                        </p:cTn>
                                        <p:tgtEl>
                                          <p:spTgt spid="61"/>
                                        </p:tgtEl>
                                        <p:attrNameLst>
                                          <p:attrName>style.visibility</p:attrName>
                                        </p:attrNameLst>
                                      </p:cBhvr>
                                      <p:to>
                                        <p:strVal val="visible"/>
                                      </p:to>
                                    </p:set>
                                  </p:childTnLst>
                                </p:cTn>
                              </p:par>
                              <p:par>
                                <p:cTn id="96" presetID="1" presetClass="entr" presetSubtype="0" fill="hold" nodeType="withEffect">
                                  <p:stCondLst>
                                    <p:cond delay="0"/>
                                  </p:stCondLst>
                                  <p:childTnLst>
                                    <p:set>
                                      <p:cBhvr>
                                        <p:cTn id="97" dur="1" fill="hold">
                                          <p:stCondLst>
                                            <p:cond delay="0"/>
                                          </p:stCondLst>
                                        </p:cTn>
                                        <p:tgtEl>
                                          <p:spTgt spid="62"/>
                                        </p:tgtEl>
                                        <p:attrNameLst>
                                          <p:attrName>style.visibility</p:attrName>
                                        </p:attrNameLst>
                                      </p:cBhvr>
                                      <p:to>
                                        <p:strVal val="visible"/>
                                      </p:to>
                                    </p:set>
                                  </p:childTnLst>
                                </p:cTn>
                              </p:par>
                            </p:childTnLst>
                          </p:cTn>
                        </p:par>
                      </p:childTnLst>
                    </p:cTn>
                  </p:par>
                </p:childTnLst>
              </p:cTn>
              <p:nextCondLst>
                <p:cond evt="onClick" delay="0">
                  <p:tgtEl>
                    <p:spTgt spid="59"/>
                  </p:tgtEl>
                </p:cond>
              </p:nextCondLst>
            </p:seq>
            <p:seq concurrent="1" nextAc="seek">
              <p:cTn id="98" restart="whenNotActive" fill="hold" evtFilter="cancelBubble" nodeType="interactiveSeq">
                <p:stCondLst>
                  <p:cond evt="onClick" delay="0">
                    <p:tgtEl>
                      <p:spTgt spid="61"/>
                    </p:tgtEl>
                  </p:cond>
                </p:stCondLst>
                <p:endSync evt="end" delay="0">
                  <p:rtn val="all"/>
                </p:endSync>
                <p:childTnLst>
                  <p:par>
                    <p:cTn id="99" fill="hold">
                      <p:stCondLst>
                        <p:cond delay="0"/>
                      </p:stCondLst>
                      <p:childTnLst>
                        <p:par>
                          <p:cTn id="100" fill="hold">
                            <p:stCondLst>
                              <p:cond delay="0"/>
                            </p:stCondLst>
                            <p:childTnLst>
                              <p:par>
                                <p:cTn id="101" presetID="1" presetClass="entr" presetSubtype="0" fill="hold" nodeType="withEffect">
                                  <p:stCondLst>
                                    <p:cond delay="0"/>
                                  </p:stCondLst>
                                  <p:childTnLst>
                                    <p:set>
                                      <p:cBhvr>
                                        <p:cTn id="102" dur="1" fill="hold">
                                          <p:stCondLst>
                                            <p:cond delay="0"/>
                                          </p:stCondLst>
                                        </p:cTn>
                                        <p:tgtEl>
                                          <p:spTgt spid="63"/>
                                        </p:tgtEl>
                                        <p:attrNameLst>
                                          <p:attrName>style.visibility</p:attrName>
                                        </p:attrNameLst>
                                      </p:cBhvr>
                                      <p:to>
                                        <p:strVal val="visible"/>
                                      </p:to>
                                    </p:set>
                                  </p:childTnLst>
                                </p:cTn>
                              </p:par>
                              <p:par>
                                <p:cTn id="103" presetID="1" presetClass="entr" presetSubtype="0" fill="hold" grpId="1" nodeType="withEffect">
                                  <p:stCondLst>
                                    <p:cond delay="0"/>
                                  </p:stCondLst>
                                  <p:childTnLst>
                                    <p:set>
                                      <p:cBhvr>
                                        <p:cTn id="104" dur="1" fill="hold">
                                          <p:stCondLst>
                                            <p:cond delay="0"/>
                                          </p:stCondLst>
                                        </p:cTn>
                                        <p:tgtEl>
                                          <p:spTgt spid="53"/>
                                        </p:tgtEl>
                                        <p:attrNameLst>
                                          <p:attrName>style.visibility</p:attrName>
                                        </p:attrNameLst>
                                      </p:cBhvr>
                                      <p:to>
                                        <p:strVal val="visible"/>
                                      </p:to>
                                    </p:set>
                                  </p:childTnLst>
                                </p:cTn>
                              </p:par>
                              <p:par>
                                <p:cTn id="105" presetID="1" presetClass="entr" presetSubtype="0" fill="hold" grpId="0" nodeType="withEffect">
                                  <p:stCondLst>
                                    <p:cond delay="0"/>
                                  </p:stCondLst>
                                  <p:childTnLst>
                                    <p:set>
                                      <p:cBhvr>
                                        <p:cTn id="106" dur="1" fill="hold">
                                          <p:stCondLst>
                                            <p:cond delay="0"/>
                                          </p:stCondLst>
                                        </p:cTn>
                                        <p:tgtEl>
                                          <p:spTgt spid="86"/>
                                        </p:tgtEl>
                                        <p:attrNameLst>
                                          <p:attrName>style.visibility</p:attrName>
                                        </p:attrNameLst>
                                      </p:cBhvr>
                                      <p:to>
                                        <p:strVal val="visible"/>
                                      </p:to>
                                    </p:set>
                                  </p:childTnLst>
                                </p:cTn>
                              </p:par>
                              <p:par>
                                <p:cTn id="107" presetID="1" presetClass="exit" presetSubtype="0" fill="hold" grpId="0" nodeType="withEffect">
                                  <p:stCondLst>
                                    <p:cond delay="0"/>
                                  </p:stCondLst>
                                  <p:childTnLst>
                                    <p:set>
                                      <p:cBhvr>
                                        <p:cTn id="108" dur="1" fill="hold">
                                          <p:stCondLst>
                                            <p:cond delay="0"/>
                                          </p:stCondLst>
                                        </p:cTn>
                                        <p:tgtEl>
                                          <p:spTgt spid="61"/>
                                        </p:tgtEl>
                                        <p:attrNameLst>
                                          <p:attrName>style.visibility</p:attrName>
                                        </p:attrNameLst>
                                      </p:cBhvr>
                                      <p:to>
                                        <p:strVal val="hidden"/>
                                      </p:to>
                                    </p:set>
                                  </p:childTnLst>
                                </p:cTn>
                              </p:par>
                              <p:par>
                                <p:cTn id="109" presetID="1" presetClass="exit" presetSubtype="0" fill="hold" nodeType="withEffect">
                                  <p:stCondLst>
                                    <p:cond delay="0"/>
                                  </p:stCondLst>
                                  <p:childTnLst>
                                    <p:set>
                                      <p:cBhvr>
                                        <p:cTn id="110" dur="1" fill="hold">
                                          <p:stCondLst>
                                            <p:cond delay="0"/>
                                          </p:stCondLst>
                                        </p:cTn>
                                        <p:tgtEl>
                                          <p:spTgt spid="62"/>
                                        </p:tgtEl>
                                        <p:attrNameLst>
                                          <p:attrName>style.visibility</p:attrName>
                                        </p:attrNameLst>
                                      </p:cBhvr>
                                      <p:to>
                                        <p:strVal val="hidden"/>
                                      </p:to>
                                    </p:set>
                                  </p:childTnLst>
                                </p:cTn>
                              </p:par>
                            </p:childTnLst>
                          </p:cTn>
                        </p:par>
                      </p:childTnLst>
                    </p:cTn>
                  </p:par>
                </p:childTnLst>
              </p:cTn>
              <p:nextCondLst>
                <p:cond evt="onClick" delay="0">
                  <p:tgtEl>
                    <p:spTgt spid="61"/>
                  </p:tgtEl>
                </p:cond>
              </p:nextCondLst>
            </p:seq>
          </p:childTnLst>
        </p:cTn>
      </p:par>
    </p:tnLst>
    <p:bldLst>
      <p:bldP spid="29" grpId="0" animBg="1"/>
      <p:bldP spid="30" grpId="0" animBg="1"/>
      <p:bldP spid="53" grpId="0" animBg="1"/>
      <p:bldP spid="53" grpId="1" animBg="1"/>
      <p:bldP spid="75" grpId="0" animBg="1"/>
      <p:bldP spid="85" grpId="0" animBg="1"/>
      <p:bldP spid="86" grpId="0" animBg="1"/>
      <p:bldP spid="88" grpId="0" animBg="1"/>
      <p:bldP spid="47" grpId="0" animBg="1"/>
      <p:bldP spid="49" grpId="0" animBg="1"/>
      <p:bldP spid="49" grpId="1" animBg="1"/>
      <p:bldP spid="55" grpId="0" animBg="1"/>
      <p:bldP spid="55" grpId="1" animBg="1"/>
      <p:bldP spid="57" grpId="0" animBg="1"/>
      <p:bldP spid="57" grpId="1" animBg="1"/>
      <p:bldP spid="59" grpId="0" animBg="1"/>
      <p:bldP spid="59" grpId="1" animBg="1"/>
      <p:bldP spid="61" grpId="0" animBg="1"/>
      <p:bldP spid="61" grpId="1" animBg="1"/>
      <p:bldP spid="10" grpId="0" animBg="1"/>
      <p:bldP spid="10" grpId="1"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 name="Arrow: Right 78">
            <a:extLst>
              <a:ext uri="{FF2B5EF4-FFF2-40B4-BE49-F238E27FC236}">
                <a16:creationId xmlns:a16="http://schemas.microsoft.com/office/drawing/2014/main" id="{C58E79D5-276F-9AA7-3863-BF74185C8326}"/>
              </a:ext>
            </a:extLst>
          </p:cNvPr>
          <p:cNvSpPr/>
          <p:nvPr/>
        </p:nvSpPr>
        <p:spPr>
          <a:xfrm>
            <a:off x="4284459" y="4429767"/>
            <a:ext cx="2234273" cy="401680"/>
          </a:xfrm>
          <a:prstGeom prst="rightArrow">
            <a:avLst>
              <a:gd name="adj1" fmla="val 100000"/>
              <a:gd name="adj2" fmla="val 50000"/>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dirty="0"/>
              <a:t>Persistent dyspnea</a:t>
            </a:r>
          </a:p>
        </p:txBody>
      </p:sp>
      <p:grpSp>
        <p:nvGrpSpPr>
          <p:cNvPr id="37" name="Group 36">
            <a:extLst>
              <a:ext uri="{FF2B5EF4-FFF2-40B4-BE49-F238E27FC236}">
                <a16:creationId xmlns:a16="http://schemas.microsoft.com/office/drawing/2014/main" id="{CD2D9E81-2F9D-4018-382B-68C8E7FCD158}"/>
              </a:ext>
            </a:extLst>
          </p:cNvPr>
          <p:cNvGrpSpPr/>
          <p:nvPr/>
        </p:nvGrpSpPr>
        <p:grpSpPr>
          <a:xfrm>
            <a:off x="4504018" y="2290554"/>
            <a:ext cx="1615904" cy="1638775"/>
            <a:chOff x="5427819" y="2814720"/>
            <a:chExt cx="1615904" cy="1638775"/>
          </a:xfrm>
        </p:grpSpPr>
        <p:sp>
          <p:nvSpPr>
            <p:cNvPr id="50" name="Rectangle 49">
              <a:extLst>
                <a:ext uri="{FF2B5EF4-FFF2-40B4-BE49-F238E27FC236}">
                  <a16:creationId xmlns:a16="http://schemas.microsoft.com/office/drawing/2014/main" id="{8EAD476C-4C18-9A9C-23B2-EC343D91FC0F}"/>
                </a:ext>
              </a:extLst>
            </p:cNvPr>
            <p:cNvSpPr/>
            <p:nvPr/>
          </p:nvSpPr>
          <p:spPr>
            <a:xfrm>
              <a:off x="5427819" y="2814720"/>
              <a:ext cx="1615904" cy="1638775"/>
            </a:xfrm>
            <a:prstGeom prst="rect">
              <a:avLst/>
            </a:prstGeom>
            <a:ln w="38100"/>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0" name="Rectangle: Rounded Corners 19">
              <a:extLst>
                <a:ext uri="{FF2B5EF4-FFF2-40B4-BE49-F238E27FC236}">
                  <a16:creationId xmlns:a16="http://schemas.microsoft.com/office/drawing/2014/main" id="{8ABA6131-D2D4-25B1-8998-F195C8B4BBA5}"/>
                </a:ext>
              </a:extLst>
            </p:cNvPr>
            <p:cNvSpPr/>
            <p:nvPr/>
          </p:nvSpPr>
          <p:spPr>
            <a:xfrm>
              <a:off x="5540640" y="3164424"/>
              <a:ext cx="1371600" cy="457200"/>
            </a:xfrm>
            <a:prstGeom prst="roundRect">
              <a:avLst/>
            </a:prstGeom>
            <a:ln>
              <a:solidFill>
                <a:schemeClr val="accent6"/>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dirty="0"/>
                <a:t>LABA</a:t>
              </a:r>
            </a:p>
          </p:txBody>
        </p:sp>
        <p:sp>
          <p:nvSpPr>
            <p:cNvPr id="21" name="Rectangle: Rounded Corners 20">
              <a:extLst>
                <a:ext uri="{FF2B5EF4-FFF2-40B4-BE49-F238E27FC236}">
                  <a16:creationId xmlns:a16="http://schemas.microsoft.com/office/drawing/2014/main" id="{3FD035AD-A8FA-5180-5221-1FA116879BD8}"/>
                </a:ext>
              </a:extLst>
            </p:cNvPr>
            <p:cNvSpPr/>
            <p:nvPr/>
          </p:nvSpPr>
          <p:spPr>
            <a:xfrm>
              <a:off x="5540640" y="3653419"/>
              <a:ext cx="1371600" cy="457200"/>
            </a:xfrm>
            <a:prstGeom prst="roundRect">
              <a:avLst/>
            </a:prstGeom>
            <a:ln>
              <a:solidFill>
                <a:schemeClr val="accent5"/>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dirty="0"/>
                <a:t>LAMA</a:t>
              </a:r>
            </a:p>
          </p:txBody>
        </p:sp>
      </p:grpSp>
      <p:grpSp>
        <p:nvGrpSpPr>
          <p:cNvPr id="33" name="Group 32">
            <a:extLst>
              <a:ext uri="{FF2B5EF4-FFF2-40B4-BE49-F238E27FC236}">
                <a16:creationId xmlns:a16="http://schemas.microsoft.com/office/drawing/2014/main" id="{F90E3F9E-7706-E506-FFC5-A467098B0751}"/>
              </a:ext>
            </a:extLst>
          </p:cNvPr>
          <p:cNvGrpSpPr/>
          <p:nvPr/>
        </p:nvGrpSpPr>
        <p:grpSpPr>
          <a:xfrm>
            <a:off x="6550221" y="2290554"/>
            <a:ext cx="1615904" cy="1638775"/>
            <a:chOff x="7849030" y="2789319"/>
            <a:chExt cx="1615904" cy="1638775"/>
          </a:xfrm>
        </p:grpSpPr>
        <p:sp>
          <p:nvSpPr>
            <p:cNvPr id="51" name="Rectangle 50">
              <a:extLst>
                <a:ext uri="{FF2B5EF4-FFF2-40B4-BE49-F238E27FC236}">
                  <a16:creationId xmlns:a16="http://schemas.microsoft.com/office/drawing/2014/main" id="{4C160CDC-EF05-AA49-3346-85DCEE2A7AF7}"/>
                </a:ext>
              </a:extLst>
            </p:cNvPr>
            <p:cNvSpPr/>
            <p:nvPr/>
          </p:nvSpPr>
          <p:spPr>
            <a:xfrm>
              <a:off x="7849030" y="2789319"/>
              <a:ext cx="1615904" cy="1638775"/>
            </a:xfrm>
            <a:prstGeom prst="rect">
              <a:avLst/>
            </a:prstGeom>
            <a:ln w="38100"/>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8" name="Rectangle: Rounded Corners 17">
              <a:extLst>
                <a:ext uri="{FF2B5EF4-FFF2-40B4-BE49-F238E27FC236}">
                  <a16:creationId xmlns:a16="http://schemas.microsoft.com/office/drawing/2014/main" id="{420C213D-C1FA-46A7-2B39-D76A1C4E89D0}"/>
                </a:ext>
              </a:extLst>
            </p:cNvPr>
            <p:cNvSpPr/>
            <p:nvPr/>
          </p:nvSpPr>
          <p:spPr>
            <a:xfrm>
              <a:off x="7965790" y="3368760"/>
              <a:ext cx="1371600" cy="457200"/>
            </a:xfrm>
            <a:prstGeom prst="roundRect">
              <a:avLst/>
            </a:prstGeom>
            <a:ln>
              <a:solidFill>
                <a:schemeClr val="accent5"/>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dirty="0"/>
                <a:t>LAMA</a:t>
              </a:r>
            </a:p>
          </p:txBody>
        </p:sp>
        <p:sp>
          <p:nvSpPr>
            <p:cNvPr id="26" name="Rectangle: Rounded Corners 25">
              <a:extLst>
                <a:ext uri="{FF2B5EF4-FFF2-40B4-BE49-F238E27FC236}">
                  <a16:creationId xmlns:a16="http://schemas.microsoft.com/office/drawing/2014/main" id="{D65F3DAC-65E9-72D6-67B0-CD7E1A591EA4}"/>
                </a:ext>
              </a:extLst>
            </p:cNvPr>
            <p:cNvSpPr/>
            <p:nvPr/>
          </p:nvSpPr>
          <p:spPr>
            <a:xfrm>
              <a:off x="7965790" y="2877598"/>
              <a:ext cx="1371600" cy="457200"/>
            </a:xfrm>
            <a:prstGeom prst="roundRect">
              <a:avLst/>
            </a:prstGeom>
            <a:ln>
              <a:solidFill>
                <a:schemeClr val="accent6"/>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dirty="0"/>
                <a:t>LABA</a:t>
              </a:r>
            </a:p>
          </p:txBody>
        </p:sp>
        <p:sp>
          <p:nvSpPr>
            <p:cNvPr id="28" name="Rectangle: Rounded Corners 27">
              <a:extLst>
                <a:ext uri="{FF2B5EF4-FFF2-40B4-BE49-F238E27FC236}">
                  <a16:creationId xmlns:a16="http://schemas.microsoft.com/office/drawing/2014/main" id="{5BD6CC2A-8CBF-9234-525A-5CEF1879D1C7}"/>
                </a:ext>
              </a:extLst>
            </p:cNvPr>
            <p:cNvSpPr/>
            <p:nvPr/>
          </p:nvSpPr>
          <p:spPr>
            <a:xfrm>
              <a:off x="7965790" y="3867944"/>
              <a:ext cx="1371600" cy="457200"/>
            </a:xfrm>
            <a:prstGeom prst="roundRect">
              <a:avLst/>
            </a:prstGeom>
            <a:ln>
              <a:solidFill>
                <a:schemeClr val="accent3"/>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a:t>ICS</a:t>
              </a:r>
            </a:p>
          </p:txBody>
        </p:sp>
      </p:grpSp>
      <p:sp>
        <p:nvSpPr>
          <p:cNvPr id="53" name="Rectangle 52">
            <a:extLst>
              <a:ext uri="{FF2B5EF4-FFF2-40B4-BE49-F238E27FC236}">
                <a16:creationId xmlns:a16="http://schemas.microsoft.com/office/drawing/2014/main" id="{466824A4-E2EE-EF6B-6E93-2F0D189B5CE7}"/>
              </a:ext>
            </a:extLst>
          </p:cNvPr>
          <p:cNvSpPr/>
          <p:nvPr/>
        </p:nvSpPr>
        <p:spPr>
          <a:xfrm>
            <a:off x="8564667" y="2290554"/>
            <a:ext cx="1615904" cy="1638775"/>
          </a:xfrm>
          <a:prstGeom prst="rect">
            <a:avLst/>
          </a:prstGeom>
          <a:ln w="38100"/>
        </p:spPr>
        <p:style>
          <a:lnRef idx="2">
            <a:schemeClr val="dk1"/>
          </a:lnRef>
          <a:fillRef idx="1">
            <a:schemeClr val="lt1"/>
          </a:fillRef>
          <a:effectRef idx="0">
            <a:schemeClr val="dk1"/>
          </a:effectRef>
          <a:fontRef idx="minor">
            <a:schemeClr val="dk1"/>
          </a:fontRef>
        </p:style>
        <p:txBody>
          <a:bodyPr rtlCol="0" anchor="ctr"/>
          <a:lstStyle/>
          <a:p>
            <a:pPr algn="ctr"/>
            <a:r>
              <a:rPr lang="en-US" dirty="0"/>
              <a:t>Consult pulmonology</a:t>
            </a:r>
          </a:p>
          <a:p>
            <a:pPr algn="ctr"/>
            <a:r>
              <a:rPr lang="en-US" dirty="0"/>
              <a:t>for additional therapies</a:t>
            </a:r>
          </a:p>
        </p:txBody>
      </p:sp>
      <p:cxnSp>
        <p:nvCxnSpPr>
          <p:cNvPr id="63" name="Straight Arrow Connector 62">
            <a:extLst>
              <a:ext uri="{FF2B5EF4-FFF2-40B4-BE49-F238E27FC236}">
                <a16:creationId xmlns:a16="http://schemas.microsoft.com/office/drawing/2014/main" id="{1B8AD301-BC3B-4045-7E3B-3D236BAE8CD1}"/>
              </a:ext>
            </a:extLst>
          </p:cNvPr>
          <p:cNvCxnSpPr>
            <a:cxnSpLocks/>
          </p:cNvCxnSpPr>
          <p:nvPr/>
        </p:nvCxnSpPr>
        <p:spPr>
          <a:xfrm>
            <a:off x="8238280" y="3138343"/>
            <a:ext cx="27772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1" name="question 1">
            <a:hlinkClick r:id="rId3" action="ppaction://hlinksldjump"/>
            <a:extLst>
              <a:ext uri="{FF2B5EF4-FFF2-40B4-BE49-F238E27FC236}">
                <a16:creationId xmlns:a16="http://schemas.microsoft.com/office/drawing/2014/main" id="{3633062E-7740-BF32-CE0D-D681A428E260}"/>
              </a:ext>
            </a:extLst>
          </p:cNvPr>
          <p:cNvSpPr txBox="1"/>
          <p:nvPr/>
        </p:nvSpPr>
        <p:spPr>
          <a:xfrm>
            <a:off x="181642" y="159488"/>
            <a:ext cx="1645920"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Diagnosis</a:t>
            </a:r>
          </a:p>
        </p:txBody>
      </p:sp>
      <p:sp>
        <p:nvSpPr>
          <p:cNvPr id="15" name="Question 2">
            <a:hlinkClick r:id="rId4" action="ppaction://hlinksldjump"/>
            <a:extLst>
              <a:ext uri="{FF2B5EF4-FFF2-40B4-BE49-F238E27FC236}">
                <a16:creationId xmlns:a16="http://schemas.microsoft.com/office/drawing/2014/main" id="{9FD0026A-E1B8-8DE4-B4B1-3057905E0FAE}"/>
              </a:ext>
            </a:extLst>
          </p:cNvPr>
          <p:cNvSpPr txBox="1"/>
          <p:nvPr/>
        </p:nvSpPr>
        <p:spPr>
          <a:xfrm>
            <a:off x="181642" y="731519"/>
            <a:ext cx="1645920"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Classification</a:t>
            </a:r>
          </a:p>
        </p:txBody>
      </p:sp>
      <p:pic>
        <p:nvPicPr>
          <p:cNvPr id="17" name="Graphic 16" descr="Cursor with solid fill">
            <a:extLst>
              <a:ext uri="{FF2B5EF4-FFF2-40B4-BE49-F238E27FC236}">
                <a16:creationId xmlns:a16="http://schemas.microsoft.com/office/drawing/2014/main" id="{7083BA4B-11CF-BBDE-BE80-21C15C32DBC8}"/>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701287" y="435897"/>
            <a:ext cx="274320" cy="274320"/>
          </a:xfrm>
          <a:prstGeom prst="rect">
            <a:avLst/>
          </a:prstGeom>
        </p:spPr>
      </p:pic>
      <p:pic>
        <p:nvPicPr>
          <p:cNvPr id="24" name="Graphic 23" descr="Cursor with solid fill">
            <a:extLst>
              <a:ext uri="{FF2B5EF4-FFF2-40B4-BE49-F238E27FC236}">
                <a16:creationId xmlns:a16="http://schemas.microsoft.com/office/drawing/2014/main" id="{CEDBA60A-987D-1743-E2BB-8A2FDC323A42}"/>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701287" y="1007490"/>
            <a:ext cx="274320" cy="274320"/>
          </a:xfrm>
          <a:prstGeom prst="rect">
            <a:avLst/>
          </a:prstGeom>
        </p:spPr>
      </p:pic>
      <p:cxnSp>
        <p:nvCxnSpPr>
          <p:cNvPr id="54" name="Straight Arrow Connector 53">
            <a:extLst>
              <a:ext uri="{FF2B5EF4-FFF2-40B4-BE49-F238E27FC236}">
                <a16:creationId xmlns:a16="http://schemas.microsoft.com/office/drawing/2014/main" id="{EA263D3E-D578-267F-913D-DB43CEEBC560}"/>
              </a:ext>
            </a:extLst>
          </p:cNvPr>
          <p:cNvCxnSpPr>
            <a:cxnSpLocks/>
          </p:cNvCxnSpPr>
          <p:nvPr/>
        </p:nvCxnSpPr>
        <p:spPr>
          <a:xfrm>
            <a:off x="6208352" y="3138343"/>
            <a:ext cx="27772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75" name="Arrow: Right 74">
            <a:extLst>
              <a:ext uri="{FF2B5EF4-FFF2-40B4-BE49-F238E27FC236}">
                <a16:creationId xmlns:a16="http://schemas.microsoft.com/office/drawing/2014/main" id="{1917FBAB-5557-1227-B261-6D85A42C7522}"/>
              </a:ext>
            </a:extLst>
          </p:cNvPr>
          <p:cNvSpPr/>
          <p:nvPr/>
        </p:nvSpPr>
        <p:spPr>
          <a:xfrm>
            <a:off x="4314327" y="4923044"/>
            <a:ext cx="3851798" cy="401680"/>
          </a:xfrm>
          <a:prstGeom prst="rightArrow">
            <a:avLst>
              <a:gd name="adj1" fmla="val 100000"/>
              <a:gd name="adj2" fmla="val 50000"/>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dirty="0"/>
              <a:t>Exacerbations</a:t>
            </a:r>
          </a:p>
        </p:txBody>
      </p:sp>
      <p:cxnSp>
        <p:nvCxnSpPr>
          <p:cNvPr id="78" name="Connector: Elbow 77">
            <a:extLst>
              <a:ext uri="{FF2B5EF4-FFF2-40B4-BE49-F238E27FC236}">
                <a16:creationId xmlns:a16="http://schemas.microsoft.com/office/drawing/2014/main" id="{4EA9DC05-714F-CAEA-DE1A-756AF9B98656}"/>
              </a:ext>
            </a:extLst>
          </p:cNvPr>
          <p:cNvCxnSpPr>
            <a:cxnSpLocks/>
            <a:stCxn id="50" idx="0"/>
            <a:endCxn id="53" idx="0"/>
          </p:cNvCxnSpPr>
          <p:nvPr/>
        </p:nvCxnSpPr>
        <p:spPr>
          <a:xfrm rot="5400000" flipH="1" flipV="1">
            <a:off x="7342294" y="260230"/>
            <a:ext cx="12700" cy="4060649"/>
          </a:xfrm>
          <a:prstGeom prst="bentConnector3">
            <a:avLst>
              <a:gd name="adj1" fmla="val 1800000"/>
            </a:avLst>
          </a:prstGeom>
          <a:ln>
            <a:tailEnd type="triangle"/>
          </a:ln>
        </p:spPr>
        <p:style>
          <a:lnRef idx="3">
            <a:schemeClr val="dk1"/>
          </a:lnRef>
          <a:fillRef idx="0">
            <a:schemeClr val="dk1"/>
          </a:fillRef>
          <a:effectRef idx="2">
            <a:schemeClr val="dk1"/>
          </a:effectRef>
          <a:fontRef idx="minor">
            <a:schemeClr val="tx1"/>
          </a:fontRef>
        </p:style>
      </p:cxnSp>
      <p:sp>
        <p:nvSpPr>
          <p:cNvPr id="85" name="Arrow: Right 84">
            <a:extLst>
              <a:ext uri="{FF2B5EF4-FFF2-40B4-BE49-F238E27FC236}">
                <a16:creationId xmlns:a16="http://schemas.microsoft.com/office/drawing/2014/main" id="{4700780E-D79D-EFE4-6B4E-134266229C49}"/>
              </a:ext>
            </a:extLst>
          </p:cNvPr>
          <p:cNvSpPr/>
          <p:nvPr/>
        </p:nvSpPr>
        <p:spPr>
          <a:xfrm>
            <a:off x="8364617" y="4429672"/>
            <a:ext cx="2234273" cy="401680"/>
          </a:xfrm>
          <a:prstGeom prst="rightArrow">
            <a:avLst>
              <a:gd name="adj1" fmla="val 100000"/>
              <a:gd name="adj2" fmla="val 50000"/>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dirty="0"/>
              <a:t>Persistent dyspnea</a:t>
            </a:r>
          </a:p>
        </p:txBody>
      </p:sp>
      <p:sp>
        <p:nvSpPr>
          <p:cNvPr id="86" name="Arrow: Right 85">
            <a:extLst>
              <a:ext uri="{FF2B5EF4-FFF2-40B4-BE49-F238E27FC236}">
                <a16:creationId xmlns:a16="http://schemas.microsoft.com/office/drawing/2014/main" id="{C11AAF20-DFD7-DBB5-64CD-86B2319F0F95}"/>
              </a:ext>
            </a:extLst>
          </p:cNvPr>
          <p:cNvSpPr/>
          <p:nvPr/>
        </p:nvSpPr>
        <p:spPr>
          <a:xfrm>
            <a:off x="8364617" y="4923044"/>
            <a:ext cx="2234273" cy="401680"/>
          </a:xfrm>
          <a:prstGeom prst="rightArrow">
            <a:avLst>
              <a:gd name="adj1" fmla="val 100000"/>
              <a:gd name="adj2" fmla="val 50000"/>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dirty="0"/>
              <a:t>Exacerbations</a:t>
            </a:r>
          </a:p>
        </p:txBody>
      </p:sp>
      <p:sp>
        <p:nvSpPr>
          <p:cNvPr id="88" name="Arrow: Right 87">
            <a:extLst>
              <a:ext uri="{FF2B5EF4-FFF2-40B4-BE49-F238E27FC236}">
                <a16:creationId xmlns:a16="http://schemas.microsoft.com/office/drawing/2014/main" id="{7C151062-739E-1724-A068-C8BDAD4494ED}"/>
              </a:ext>
            </a:extLst>
          </p:cNvPr>
          <p:cNvSpPr/>
          <p:nvPr/>
        </p:nvSpPr>
        <p:spPr>
          <a:xfrm>
            <a:off x="6382831" y="4923044"/>
            <a:ext cx="1783293" cy="401680"/>
          </a:xfrm>
          <a:prstGeom prst="rightArrow">
            <a:avLst>
              <a:gd name="adj1" fmla="val 100000"/>
              <a:gd name="adj2" fmla="val 50000"/>
            </a:avLst>
          </a:prstGeom>
          <a:ln>
            <a:solidFill>
              <a:schemeClr val="bg2">
                <a:lumMod val="75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a:t>+ </a:t>
            </a:r>
            <a:r>
              <a:rPr lang="en-US" dirty="0" err="1"/>
              <a:t>eos</a:t>
            </a:r>
            <a:r>
              <a:rPr lang="en-US" dirty="0"/>
              <a:t> ≥100</a:t>
            </a:r>
          </a:p>
        </p:txBody>
      </p:sp>
      <p:sp>
        <p:nvSpPr>
          <p:cNvPr id="19" name="TextBox 18">
            <a:extLst>
              <a:ext uri="{FF2B5EF4-FFF2-40B4-BE49-F238E27FC236}">
                <a16:creationId xmlns:a16="http://schemas.microsoft.com/office/drawing/2014/main" id="{7F2900F0-0B84-2E77-DDDE-D3194740E5B7}"/>
              </a:ext>
            </a:extLst>
          </p:cNvPr>
          <p:cNvSpPr txBox="1"/>
          <p:nvPr/>
        </p:nvSpPr>
        <p:spPr>
          <a:xfrm>
            <a:off x="3099369" y="110643"/>
            <a:ext cx="6907973" cy="461665"/>
          </a:xfrm>
          <a:prstGeom prst="rect">
            <a:avLst/>
          </a:prstGeom>
          <a:noFill/>
        </p:spPr>
        <p:txBody>
          <a:bodyPr wrap="square" rtlCol="0">
            <a:spAutoFit/>
          </a:bodyPr>
          <a:lstStyle/>
          <a:p>
            <a:pPr algn="ctr"/>
            <a:r>
              <a:rPr lang="en-US" sz="2400" b="1" dirty="0"/>
              <a:t>Management</a:t>
            </a:r>
          </a:p>
        </p:txBody>
      </p:sp>
      <p:sp>
        <p:nvSpPr>
          <p:cNvPr id="32" name="Group B">
            <a:hlinkClick r:id="rId7" action="ppaction://hlinksldjump"/>
            <a:extLst>
              <a:ext uri="{FF2B5EF4-FFF2-40B4-BE49-F238E27FC236}">
                <a16:creationId xmlns:a16="http://schemas.microsoft.com/office/drawing/2014/main" id="{8D69FACA-4AF3-F304-59C7-6CC379C00A8E}"/>
              </a:ext>
            </a:extLst>
          </p:cNvPr>
          <p:cNvSpPr/>
          <p:nvPr/>
        </p:nvSpPr>
        <p:spPr>
          <a:xfrm>
            <a:off x="4558952" y="1026214"/>
            <a:ext cx="1311573" cy="395275"/>
          </a:xfrm>
          <a:prstGeom prst="roundRect">
            <a:avLst/>
          </a:prstGeom>
          <a:gradFill flip="none" rotWithShape="1">
            <a:gsLst>
              <a:gs pos="0">
                <a:schemeClr val="accent2"/>
              </a:gs>
              <a:gs pos="100000">
                <a:srgbClr val="C00000"/>
              </a:gs>
            </a:gsLst>
            <a:lin ang="0" scaled="1"/>
            <a:tileRect/>
          </a:gradFill>
          <a:ln w="38100">
            <a:gradFill flip="none" rotWithShape="1">
              <a:gsLst>
                <a:gs pos="100000">
                  <a:srgbClr val="C00000"/>
                </a:gs>
                <a:gs pos="0">
                  <a:schemeClr val="accent2"/>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Group B/E</a:t>
            </a:r>
          </a:p>
        </p:txBody>
      </p:sp>
      <p:sp>
        <p:nvSpPr>
          <p:cNvPr id="47" name="Initial therapy">
            <a:extLst>
              <a:ext uri="{FF2B5EF4-FFF2-40B4-BE49-F238E27FC236}">
                <a16:creationId xmlns:a16="http://schemas.microsoft.com/office/drawing/2014/main" id="{41EB0EF5-0A61-4CAF-47A0-F53F1C2AB6B4}"/>
              </a:ext>
            </a:extLst>
          </p:cNvPr>
          <p:cNvSpPr/>
          <p:nvPr/>
        </p:nvSpPr>
        <p:spPr>
          <a:xfrm>
            <a:off x="2421230" y="2284982"/>
            <a:ext cx="1615904" cy="1638775"/>
          </a:xfrm>
          <a:prstGeom prst="roundRect">
            <a:avLst/>
          </a:prstGeom>
          <a:ln w="38100">
            <a:solidFill>
              <a:schemeClr val="tx1"/>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r>
              <a:rPr lang="en-US" dirty="0"/>
              <a:t>Initial therapy?</a:t>
            </a:r>
          </a:p>
        </p:txBody>
      </p:sp>
      <p:pic>
        <p:nvPicPr>
          <p:cNvPr id="48" name="Graphic 47" descr="Cursor with solid fill">
            <a:extLst>
              <a:ext uri="{FF2B5EF4-FFF2-40B4-BE49-F238E27FC236}">
                <a16:creationId xmlns:a16="http://schemas.microsoft.com/office/drawing/2014/main" id="{83E29729-6C67-C55B-B270-3735FAE0C3AC}"/>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877389" y="3727900"/>
            <a:ext cx="274320" cy="274320"/>
          </a:xfrm>
          <a:prstGeom prst="rect">
            <a:avLst/>
          </a:prstGeom>
        </p:spPr>
      </p:pic>
      <p:sp>
        <p:nvSpPr>
          <p:cNvPr id="57" name="Persistent dyspnea">
            <a:extLst>
              <a:ext uri="{FF2B5EF4-FFF2-40B4-BE49-F238E27FC236}">
                <a16:creationId xmlns:a16="http://schemas.microsoft.com/office/drawing/2014/main" id="{5D6E9B34-FF60-A2D2-DDCA-4F540DC8A400}"/>
              </a:ext>
            </a:extLst>
          </p:cNvPr>
          <p:cNvSpPr txBox="1"/>
          <p:nvPr/>
        </p:nvSpPr>
        <p:spPr>
          <a:xfrm>
            <a:off x="4275289" y="4427891"/>
            <a:ext cx="2104048"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t>Persistent dyspnea?</a:t>
            </a:r>
          </a:p>
        </p:txBody>
      </p:sp>
      <p:pic>
        <p:nvPicPr>
          <p:cNvPr id="58" name="Graphic 57" descr="Cursor with solid fill">
            <a:extLst>
              <a:ext uri="{FF2B5EF4-FFF2-40B4-BE49-F238E27FC236}">
                <a16:creationId xmlns:a16="http://schemas.microsoft.com/office/drawing/2014/main" id="{61A28929-160B-3CCC-6734-D32E21A48664}"/>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235099" y="4717104"/>
            <a:ext cx="274320" cy="274320"/>
          </a:xfrm>
          <a:prstGeom prst="rect">
            <a:avLst/>
          </a:prstGeom>
        </p:spPr>
      </p:pic>
      <p:sp>
        <p:nvSpPr>
          <p:cNvPr id="59" name="Persistent exacerbations">
            <a:extLst>
              <a:ext uri="{FF2B5EF4-FFF2-40B4-BE49-F238E27FC236}">
                <a16:creationId xmlns:a16="http://schemas.microsoft.com/office/drawing/2014/main" id="{3CDC7C79-F96F-B095-6232-E1F143E45EE2}"/>
              </a:ext>
            </a:extLst>
          </p:cNvPr>
          <p:cNvSpPr txBox="1"/>
          <p:nvPr/>
        </p:nvSpPr>
        <p:spPr>
          <a:xfrm>
            <a:off x="4294895" y="4923044"/>
            <a:ext cx="1635610"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Exacerbations?</a:t>
            </a:r>
          </a:p>
        </p:txBody>
      </p:sp>
      <p:pic>
        <p:nvPicPr>
          <p:cNvPr id="60" name="Graphic 59" descr="Cursor with solid fill">
            <a:extLst>
              <a:ext uri="{FF2B5EF4-FFF2-40B4-BE49-F238E27FC236}">
                <a16:creationId xmlns:a16="http://schemas.microsoft.com/office/drawing/2014/main" id="{68E19025-2A2C-FB5D-BF86-BA9EE8DEA016}"/>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804562" y="5205322"/>
            <a:ext cx="274320" cy="274320"/>
          </a:xfrm>
          <a:prstGeom prst="rect">
            <a:avLst/>
          </a:prstGeom>
        </p:spPr>
      </p:pic>
      <p:sp>
        <p:nvSpPr>
          <p:cNvPr id="61" name="Persistent exacerbations">
            <a:extLst>
              <a:ext uri="{FF2B5EF4-FFF2-40B4-BE49-F238E27FC236}">
                <a16:creationId xmlns:a16="http://schemas.microsoft.com/office/drawing/2014/main" id="{468BD653-AA64-76B4-D85B-BE1515909BDF}"/>
              </a:ext>
            </a:extLst>
          </p:cNvPr>
          <p:cNvSpPr txBox="1"/>
          <p:nvPr/>
        </p:nvSpPr>
        <p:spPr>
          <a:xfrm>
            <a:off x="8571825" y="4923044"/>
            <a:ext cx="1635610"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Exacerbations?</a:t>
            </a:r>
          </a:p>
        </p:txBody>
      </p:sp>
      <p:pic>
        <p:nvPicPr>
          <p:cNvPr id="62" name="Graphic 61" descr="Cursor with solid fill">
            <a:extLst>
              <a:ext uri="{FF2B5EF4-FFF2-40B4-BE49-F238E27FC236}">
                <a16:creationId xmlns:a16="http://schemas.microsoft.com/office/drawing/2014/main" id="{A43ABE9B-BA0C-EC4F-FAB3-8C000697C99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081492" y="5205322"/>
            <a:ext cx="274320" cy="274320"/>
          </a:xfrm>
          <a:prstGeom prst="rect">
            <a:avLst/>
          </a:prstGeom>
        </p:spPr>
      </p:pic>
      <p:sp>
        <p:nvSpPr>
          <p:cNvPr id="68" name="Group A">
            <a:hlinkClick r:id="rId8" action="ppaction://hlinksldjump"/>
            <a:extLst>
              <a:ext uri="{FF2B5EF4-FFF2-40B4-BE49-F238E27FC236}">
                <a16:creationId xmlns:a16="http://schemas.microsoft.com/office/drawing/2014/main" id="{38E19511-1DD8-2334-C76D-63014AAC158C}"/>
              </a:ext>
            </a:extLst>
          </p:cNvPr>
          <p:cNvSpPr/>
          <p:nvPr/>
        </p:nvSpPr>
        <p:spPr>
          <a:xfrm>
            <a:off x="2576405" y="1026214"/>
            <a:ext cx="1311573" cy="395275"/>
          </a:xfrm>
          <a:prstGeom prst="roundRect">
            <a:avLst/>
          </a:prstGeom>
          <a:solidFill>
            <a:schemeClr val="bg1"/>
          </a:solidFill>
          <a:ln w="38100">
            <a:solidFill>
              <a:schemeClr val="accent4"/>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Group A</a:t>
            </a:r>
          </a:p>
        </p:txBody>
      </p:sp>
      <p:cxnSp>
        <p:nvCxnSpPr>
          <p:cNvPr id="70" name="Straight Arrow Connector 69">
            <a:extLst>
              <a:ext uri="{FF2B5EF4-FFF2-40B4-BE49-F238E27FC236}">
                <a16:creationId xmlns:a16="http://schemas.microsoft.com/office/drawing/2014/main" id="{5844C932-247D-43F6-9C08-67A37E8FBF46}"/>
              </a:ext>
            </a:extLst>
          </p:cNvPr>
          <p:cNvCxnSpPr>
            <a:cxnSpLocks/>
          </p:cNvCxnSpPr>
          <p:nvPr/>
        </p:nvCxnSpPr>
        <p:spPr>
          <a:xfrm>
            <a:off x="5071917" y="1585305"/>
            <a:ext cx="0" cy="576072"/>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71" name="Straight Arrow Connector 70">
            <a:extLst>
              <a:ext uri="{FF2B5EF4-FFF2-40B4-BE49-F238E27FC236}">
                <a16:creationId xmlns:a16="http://schemas.microsoft.com/office/drawing/2014/main" id="{EA6FE4E6-268D-96F3-2DF3-31A98B3FA508}"/>
              </a:ext>
            </a:extLst>
          </p:cNvPr>
          <p:cNvCxnSpPr>
            <a:cxnSpLocks/>
          </p:cNvCxnSpPr>
          <p:nvPr/>
        </p:nvCxnSpPr>
        <p:spPr>
          <a:xfrm>
            <a:off x="5154867" y="1585305"/>
            <a:ext cx="0" cy="576072"/>
          </a:xfrm>
          <a:prstGeom prst="straightConnector1">
            <a:avLst/>
          </a:prstGeom>
          <a:ln>
            <a:solidFill>
              <a:srgbClr val="C00000"/>
            </a:solidFill>
            <a:tailEnd type="triangle"/>
          </a:ln>
        </p:spPr>
        <p:style>
          <a:lnRef idx="3">
            <a:schemeClr val="accent4"/>
          </a:lnRef>
          <a:fillRef idx="0">
            <a:schemeClr val="accent4"/>
          </a:fillRef>
          <a:effectRef idx="2">
            <a:schemeClr val="accent4"/>
          </a:effectRef>
          <a:fontRef idx="minor">
            <a:schemeClr val="tx1"/>
          </a:fontRef>
        </p:style>
      </p:cxnSp>
      <p:sp>
        <p:nvSpPr>
          <p:cNvPr id="80" name="TextBox 79">
            <a:extLst>
              <a:ext uri="{FF2B5EF4-FFF2-40B4-BE49-F238E27FC236}">
                <a16:creationId xmlns:a16="http://schemas.microsoft.com/office/drawing/2014/main" id="{7690CFCB-966B-30A4-5016-6BE4B83C9C1F}"/>
              </a:ext>
            </a:extLst>
          </p:cNvPr>
          <p:cNvSpPr txBox="1"/>
          <p:nvPr/>
        </p:nvSpPr>
        <p:spPr>
          <a:xfrm>
            <a:off x="10362958" y="3197914"/>
            <a:ext cx="1481803" cy="58477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marL="115888" indent="-115888"/>
            <a:r>
              <a:rPr lang="en-US" sz="1600" dirty="0"/>
              <a:t>Azithromycin</a:t>
            </a:r>
          </a:p>
          <a:p>
            <a:pPr marL="115888" indent="-115888"/>
            <a:r>
              <a:rPr lang="en-US" sz="1600" dirty="0"/>
              <a:t>Roflumilast</a:t>
            </a:r>
          </a:p>
        </p:txBody>
      </p:sp>
      <p:cxnSp>
        <p:nvCxnSpPr>
          <p:cNvPr id="81" name="Straight Connector 80">
            <a:extLst>
              <a:ext uri="{FF2B5EF4-FFF2-40B4-BE49-F238E27FC236}">
                <a16:creationId xmlns:a16="http://schemas.microsoft.com/office/drawing/2014/main" id="{742262E1-F135-F826-31B1-75CA4579B9E6}"/>
              </a:ext>
            </a:extLst>
          </p:cNvPr>
          <p:cNvCxnSpPr>
            <a:cxnSpLocks/>
            <a:endCxn id="80" idx="1"/>
          </p:cNvCxnSpPr>
          <p:nvPr/>
        </p:nvCxnSpPr>
        <p:spPr>
          <a:xfrm>
            <a:off x="10194875" y="3490302"/>
            <a:ext cx="168083" cy="0"/>
          </a:xfrm>
          <a:prstGeom prst="line">
            <a:avLst/>
          </a:prstGeom>
        </p:spPr>
        <p:style>
          <a:lnRef idx="1">
            <a:schemeClr val="dk1"/>
          </a:lnRef>
          <a:fillRef idx="0">
            <a:schemeClr val="dk1"/>
          </a:fillRef>
          <a:effectRef idx="0">
            <a:schemeClr val="dk1"/>
          </a:effectRef>
          <a:fontRef idx="minor">
            <a:schemeClr val="tx1"/>
          </a:fontRef>
        </p:style>
      </p:cxnSp>
      <p:sp>
        <p:nvSpPr>
          <p:cNvPr id="3" name="TextBox 2">
            <a:extLst>
              <a:ext uri="{FF2B5EF4-FFF2-40B4-BE49-F238E27FC236}">
                <a16:creationId xmlns:a16="http://schemas.microsoft.com/office/drawing/2014/main" id="{A4B5B854-FDB0-B678-95AC-D9A52152A395}"/>
              </a:ext>
            </a:extLst>
          </p:cNvPr>
          <p:cNvSpPr txBox="1"/>
          <p:nvPr/>
        </p:nvSpPr>
        <p:spPr>
          <a:xfrm>
            <a:off x="10355812" y="2282552"/>
            <a:ext cx="1481803" cy="830997"/>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marL="115888" indent="-115888"/>
            <a:r>
              <a:rPr lang="en-US" sz="1600" dirty="0"/>
              <a:t>LVRS</a:t>
            </a:r>
          </a:p>
          <a:p>
            <a:pPr marL="115888" indent="-115888"/>
            <a:r>
              <a:rPr lang="en-US" sz="1600" dirty="0"/>
              <a:t>EB valve</a:t>
            </a:r>
          </a:p>
          <a:p>
            <a:pPr marL="115888" indent="-115888"/>
            <a:r>
              <a:rPr lang="en-US" sz="1600" dirty="0"/>
              <a:t>Lung Transplant</a:t>
            </a:r>
          </a:p>
        </p:txBody>
      </p:sp>
      <p:cxnSp>
        <p:nvCxnSpPr>
          <p:cNvPr id="4" name="Straight Connector 3">
            <a:extLst>
              <a:ext uri="{FF2B5EF4-FFF2-40B4-BE49-F238E27FC236}">
                <a16:creationId xmlns:a16="http://schemas.microsoft.com/office/drawing/2014/main" id="{EBA67BE0-A7D4-CF21-3DE1-616AD37305B1}"/>
              </a:ext>
            </a:extLst>
          </p:cNvPr>
          <p:cNvCxnSpPr>
            <a:cxnSpLocks/>
            <a:endCxn id="3" idx="1"/>
          </p:cNvCxnSpPr>
          <p:nvPr/>
        </p:nvCxnSpPr>
        <p:spPr>
          <a:xfrm>
            <a:off x="10180571" y="2698051"/>
            <a:ext cx="175241" cy="0"/>
          </a:xfrm>
          <a:prstGeom prst="line">
            <a:avLst/>
          </a:prstGeom>
        </p:spPr>
        <p:style>
          <a:lnRef idx="1">
            <a:schemeClr val="dk1"/>
          </a:lnRef>
          <a:fillRef idx="0">
            <a:schemeClr val="dk1"/>
          </a:fillRef>
          <a:effectRef idx="0">
            <a:schemeClr val="dk1"/>
          </a:effectRef>
          <a:fontRef idx="minor">
            <a:schemeClr val="tx1"/>
          </a:fontRef>
        </p:style>
      </p:cxnSp>
      <p:sp>
        <p:nvSpPr>
          <p:cNvPr id="2" name="Group E">
            <a:hlinkClick r:id="rId9" action="ppaction://hlinksldjump"/>
            <a:extLst>
              <a:ext uri="{FF2B5EF4-FFF2-40B4-BE49-F238E27FC236}">
                <a16:creationId xmlns:a16="http://schemas.microsoft.com/office/drawing/2014/main" id="{BF142FC3-6DC6-D957-070C-63AADB203E93}"/>
              </a:ext>
            </a:extLst>
          </p:cNvPr>
          <p:cNvSpPr/>
          <p:nvPr/>
        </p:nvSpPr>
        <p:spPr>
          <a:xfrm>
            <a:off x="8750051" y="1026214"/>
            <a:ext cx="1311573" cy="395275"/>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Summary</a:t>
            </a:r>
          </a:p>
        </p:txBody>
      </p:sp>
      <p:pic>
        <p:nvPicPr>
          <p:cNvPr id="5" name="Graphic 4" descr="Cursor with solid fill">
            <a:extLst>
              <a:ext uri="{FF2B5EF4-FFF2-40B4-BE49-F238E27FC236}">
                <a16:creationId xmlns:a16="http://schemas.microsoft.com/office/drawing/2014/main" id="{47AA3491-69F0-89AA-FE1A-1F8EBE236FDF}"/>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933115" y="1293603"/>
            <a:ext cx="274320" cy="274320"/>
          </a:xfrm>
          <a:prstGeom prst="rect">
            <a:avLst/>
          </a:prstGeom>
        </p:spPr>
      </p:pic>
      <p:pic>
        <p:nvPicPr>
          <p:cNvPr id="6" name="Graphic 5" descr="Cursor with solid fill">
            <a:extLst>
              <a:ext uri="{FF2B5EF4-FFF2-40B4-BE49-F238E27FC236}">
                <a16:creationId xmlns:a16="http://schemas.microsoft.com/office/drawing/2014/main" id="{5D1058B5-21B4-F275-8812-CEBB8EA75D94}"/>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750776" y="1293603"/>
            <a:ext cx="274320" cy="274320"/>
          </a:xfrm>
          <a:prstGeom prst="rect">
            <a:avLst/>
          </a:prstGeom>
        </p:spPr>
      </p:pic>
      <p:sp>
        <p:nvSpPr>
          <p:cNvPr id="7" name="Cases">
            <a:hlinkClick r:id="rId10" action="ppaction://hlinksldjump"/>
            <a:extLst>
              <a:ext uri="{FF2B5EF4-FFF2-40B4-BE49-F238E27FC236}">
                <a16:creationId xmlns:a16="http://schemas.microsoft.com/office/drawing/2014/main" id="{14691B7F-C016-089A-4EEB-596D6F154C26}"/>
              </a:ext>
            </a:extLst>
          </p:cNvPr>
          <p:cNvSpPr txBox="1"/>
          <p:nvPr/>
        </p:nvSpPr>
        <p:spPr>
          <a:xfrm>
            <a:off x="181642" y="2447614"/>
            <a:ext cx="1645920"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Exacerbations</a:t>
            </a:r>
          </a:p>
        </p:txBody>
      </p:sp>
      <p:sp>
        <p:nvSpPr>
          <p:cNvPr id="8" name="Question 2">
            <a:hlinkClick r:id="rId11" action="ppaction://hlinksldjump"/>
            <a:extLst>
              <a:ext uri="{FF2B5EF4-FFF2-40B4-BE49-F238E27FC236}">
                <a16:creationId xmlns:a16="http://schemas.microsoft.com/office/drawing/2014/main" id="{4E96B077-0386-BDEB-A68C-582313722958}"/>
              </a:ext>
            </a:extLst>
          </p:cNvPr>
          <p:cNvSpPr txBox="1"/>
          <p:nvPr/>
        </p:nvSpPr>
        <p:spPr>
          <a:xfrm>
            <a:off x="181642" y="1875581"/>
            <a:ext cx="1645920"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Efficacy</a:t>
            </a:r>
          </a:p>
        </p:txBody>
      </p:sp>
      <p:pic>
        <p:nvPicPr>
          <p:cNvPr id="9" name="Graphic 8" descr="Cursor with solid fill">
            <a:extLst>
              <a:ext uri="{FF2B5EF4-FFF2-40B4-BE49-F238E27FC236}">
                <a16:creationId xmlns:a16="http://schemas.microsoft.com/office/drawing/2014/main" id="{72379442-EE67-147D-0A90-ECEFBBB3DC42}"/>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701287" y="2722270"/>
            <a:ext cx="270869" cy="274320"/>
          </a:xfrm>
          <a:prstGeom prst="rect">
            <a:avLst/>
          </a:prstGeom>
        </p:spPr>
      </p:pic>
      <p:pic>
        <p:nvPicPr>
          <p:cNvPr id="10" name="Graphic 9" descr="Cursor with solid fill">
            <a:extLst>
              <a:ext uri="{FF2B5EF4-FFF2-40B4-BE49-F238E27FC236}">
                <a16:creationId xmlns:a16="http://schemas.microsoft.com/office/drawing/2014/main" id="{65394F60-B725-91A9-785D-2F5A611E242F}"/>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701287" y="2150676"/>
            <a:ext cx="274320" cy="274320"/>
          </a:xfrm>
          <a:prstGeom prst="rect">
            <a:avLst/>
          </a:prstGeom>
        </p:spPr>
      </p:pic>
      <p:sp>
        <p:nvSpPr>
          <p:cNvPr id="14" name="Cases">
            <a:hlinkClick r:id="rId12" action="ppaction://hlinksldjump"/>
            <a:extLst>
              <a:ext uri="{FF2B5EF4-FFF2-40B4-BE49-F238E27FC236}">
                <a16:creationId xmlns:a16="http://schemas.microsoft.com/office/drawing/2014/main" id="{5A49C605-5C82-14B6-92ED-4C3171A69FE1}"/>
              </a:ext>
            </a:extLst>
          </p:cNvPr>
          <p:cNvSpPr txBox="1"/>
          <p:nvPr/>
        </p:nvSpPr>
        <p:spPr>
          <a:xfrm>
            <a:off x="181642" y="3020377"/>
            <a:ext cx="1645920"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Cases</a:t>
            </a:r>
          </a:p>
        </p:txBody>
      </p:sp>
      <p:pic>
        <p:nvPicPr>
          <p:cNvPr id="23" name="Graphic 22" descr="Cursor with solid fill">
            <a:extLst>
              <a:ext uri="{FF2B5EF4-FFF2-40B4-BE49-F238E27FC236}">
                <a16:creationId xmlns:a16="http://schemas.microsoft.com/office/drawing/2014/main" id="{B0EFC68E-7F53-6BAD-64E4-59D1C274C9B4}"/>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701287" y="3295033"/>
            <a:ext cx="270869" cy="274320"/>
          </a:xfrm>
          <a:prstGeom prst="rect">
            <a:avLst/>
          </a:prstGeom>
        </p:spPr>
      </p:pic>
      <p:pic>
        <p:nvPicPr>
          <p:cNvPr id="29" name="Graphic 28" descr="Cursor with solid fill">
            <a:extLst>
              <a:ext uri="{FF2B5EF4-FFF2-40B4-BE49-F238E27FC236}">
                <a16:creationId xmlns:a16="http://schemas.microsoft.com/office/drawing/2014/main" id="{F2790FE0-F937-C41E-A86C-5A5163D6A43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701287" y="2723439"/>
            <a:ext cx="274320" cy="274320"/>
          </a:xfrm>
          <a:prstGeom prst="rect">
            <a:avLst/>
          </a:prstGeom>
        </p:spPr>
      </p:pic>
      <p:sp>
        <p:nvSpPr>
          <p:cNvPr id="30" name="Question 2">
            <a:hlinkClick r:id="rId13" action="ppaction://hlinksldjump"/>
            <a:extLst>
              <a:ext uri="{FF2B5EF4-FFF2-40B4-BE49-F238E27FC236}">
                <a16:creationId xmlns:a16="http://schemas.microsoft.com/office/drawing/2014/main" id="{91379970-8EEE-E3A6-92E5-2C039958314D}"/>
              </a:ext>
            </a:extLst>
          </p:cNvPr>
          <p:cNvSpPr txBox="1"/>
          <p:nvPr/>
        </p:nvSpPr>
        <p:spPr>
          <a:xfrm>
            <a:off x="181642" y="1303550"/>
            <a:ext cx="1645920" cy="408623"/>
          </a:xfrm>
          <a:prstGeom prst="roundRect">
            <a:avLst/>
          </a:prstGeom>
          <a:solidFill>
            <a:schemeClr val="tx1"/>
          </a:solidFill>
          <a:ln w="38100"/>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chemeClr val="bg1"/>
                </a:solidFill>
              </a:rPr>
              <a:t>Management</a:t>
            </a:r>
          </a:p>
        </p:txBody>
      </p:sp>
    </p:spTree>
    <p:extLst>
      <p:ext uri="{BB962C8B-B14F-4D97-AF65-F5344CB8AC3E}">
        <p14:creationId xmlns:p14="http://schemas.microsoft.com/office/powerpoint/2010/main" val="42305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xit" presetSubtype="0" fill="hold" nodeType="withEffect">
                                  <p:stCondLst>
                                    <p:cond delay="0"/>
                                  </p:stCondLst>
                                  <p:childTnLst>
                                    <p:set>
                                      <p:cBhvr>
                                        <p:cTn id="6" dur="1" fill="hold">
                                          <p:stCondLst>
                                            <p:cond delay="0"/>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47"/>
                    </p:tgtEl>
                  </p:cond>
                </p:stCondLst>
                <p:endSync evt="end" delay="0">
                  <p:rtn val="all"/>
                </p:endSync>
                <p:childTnLst>
                  <p:par>
                    <p:cTn id="8" fill="hold">
                      <p:stCondLst>
                        <p:cond delay="0"/>
                      </p:stCondLst>
                      <p:childTnLst>
                        <p:par>
                          <p:cTn id="9" fill="hold">
                            <p:stCondLst>
                              <p:cond delay="0"/>
                            </p:stCondLst>
                            <p:childTnLst>
                              <p:par>
                                <p:cTn id="10" presetID="1" presetClass="exit" presetSubtype="0" fill="hold" grpId="0" nodeType="withEffect">
                                  <p:stCondLst>
                                    <p:cond delay="0"/>
                                  </p:stCondLst>
                                  <p:childTnLst>
                                    <p:set>
                                      <p:cBhvr>
                                        <p:cTn id="11" dur="1" fill="hold">
                                          <p:stCondLst>
                                            <p:cond delay="0"/>
                                          </p:stCondLst>
                                        </p:cTn>
                                        <p:tgtEl>
                                          <p:spTgt spid="47"/>
                                        </p:tgtEl>
                                        <p:attrNameLst>
                                          <p:attrName>style.visibility</p:attrName>
                                        </p:attrNameLst>
                                      </p:cBhvr>
                                      <p:to>
                                        <p:strVal val="hidden"/>
                                      </p:to>
                                    </p:set>
                                  </p:childTnLst>
                                </p:cTn>
                              </p:par>
                              <p:par>
                                <p:cTn id="12" presetID="1" presetClass="exit" presetSubtype="0" fill="hold" nodeType="withEffect">
                                  <p:stCondLst>
                                    <p:cond delay="0"/>
                                  </p:stCondLst>
                                  <p:childTnLst>
                                    <p:set>
                                      <p:cBhvr>
                                        <p:cTn id="13" dur="1" fill="hold">
                                          <p:stCondLst>
                                            <p:cond delay="0"/>
                                          </p:stCondLst>
                                        </p:cTn>
                                        <p:tgtEl>
                                          <p:spTgt spid="48"/>
                                        </p:tgtEl>
                                        <p:attrNameLst>
                                          <p:attrName>style.visibility</p:attrName>
                                        </p:attrNameLst>
                                      </p:cBhvr>
                                      <p:to>
                                        <p:strVal val="hidden"/>
                                      </p:to>
                                    </p:set>
                                  </p:childTnLst>
                                </p:cTn>
                              </p:par>
                              <p:par>
                                <p:cTn id="14" presetID="1" presetClass="entr" presetSubtype="0" fill="hold" nodeType="withEffect">
                                  <p:stCondLst>
                                    <p:cond delay="0"/>
                                  </p:stCondLst>
                                  <p:childTnLst>
                                    <p:set>
                                      <p:cBhvr>
                                        <p:cTn id="15" dur="1" fill="hold">
                                          <p:stCondLst>
                                            <p:cond delay="0"/>
                                          </p:stCondLst>
                                        </p:cTn>
                                        <p:tgtEl>
                                          <p:spTgt spid="70"/>
                                        </p:tgtEl>
                                        <p:attrNameLst>
                                          <p:attrName>style.visibility</p:attrName>
                                        </p:attrNameLst>
                                      </p:cBhvr>
                                      <p:to>
                                        <p:strVal val="visible"/>
                                      </p:to>
                                    </p:set>
                                  </p:childTnLst>
                                </p:cTn>
                              </p:par>
                              <p:par>
                                <p:cTn id="16" presetID="1" presetClass="entr" presetSubtype="0" fill="hold" nodeType="withEffect">
                                  <p:stCondLst>
                                    <p:cond delay="0"/>
                                  </p:stCondLst>
                                  <p:childTnLst>
                                    <p:set>
                                      <p:cBhvr>
                                        <p:cTn id="17" dur="1" fill="hold">
                                          <p:stCondLst>
                                            <p:cond delay="0"/>
                                          </p:stCondLst>
                                        </p:cTn>
                                        <p:tgtEl>
                                          <p:spTgt spid="37"/>
                                        </p:tgtEl>
                                        <p:attrNameLst>
                                          <p:attrName>style.visibility</p:attrName>
                                        </p:attrNameLst>
                                      </p:cBhvr>
                                      <p:to>
                                        <p:strVal val="visible"/>
                                      </p:to>
                                    </p:set>
                                  </p:childTnLst>
                                </p:cTn>
                              </p:par>
                              <p:par>
                                <p:cTn id="18" presetID="1" presetClass="entr" presetSubtype="0" fill="hold" nodeType="withEffect">
                                  <p:stCondLst>
                                    <p:cond delay="0"/>
                                  </p:stCondLst>
                                  <p:childTnLst>
                                    <p:set>
                                      <p:cBhvr>
                                        <p:cTn id="19" dur="1" fill="hold">
                                          <p:stCondLst>
                                            <p:cond delay="0"/>
                                          </p:stCondLst>
                                        </p:cTn>
                                        <p:tgtEl>
                                          <p:spTgt spid="71"/>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37"/>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60"/>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57"/>
                                        </p:tgtEl>
                                        <p:attrNameLst>
                                          <p:attrName>style.visibility</p:attrName>
                                        </p:attrNameLst>
                                      </p:cBhvr>
                                      <p:to>
                                        <p:strVal val="visible"/>
                                      </p:to>
                                    </p:set>
                                  </p:childTnLst>
                                </p:cTn>
                              </p:par>
                              <p:par>
                                <p:cTn id="26" presetID="1" presetClass="entr" presetSubtype="0" fill="hold" nodeType="withEffect">
                                  <p:stCondLst>
                                    <p:cond delay="0"/>
                                  </p:stCondLst>
                                  <p:childTnLst>
                                    <p:set>
                                      <p:cBhvr>
                                        <p:cTn id="27" dur="1" fill="hold">
                                          <p:stCondLst>
                                            <p:cond delay="0"/>
                                          </p:stCondLst>
                                        </p:cTn>
                                        <p:tgtEl>
                                          <p:spTgt spid="58"/>
                                        </p:tgtEl>
                                        <p:attrNameLst>
                                          <p:attrName>style.visibility</p:attrName>
                                        </p:attrNameLst>
                                      </p:cBhvr>
                                      <p:to>
                                        <p:strVal val="visible"/>
                                      </p:to>
                                    </p:set>
                                  </p:childTnLst>
                                </p:cTn>
                              </p:par>
                              <p:par>
                                <p:cTn id="28" presetID="1" presetClass="entr" presetSubtype="0" fill="hold" grpId="1" nodeType="withEffect">
                                  <p:stCondLst>
                                    <p:cond delay="0"/>
                                  </p:stCondLst>
                                  <p:childTnLst>
                                    <p:set>
                                      <p:cBhvr>
                                        <p:cTn id="29" dur="1" fill="hold">
                                          <p:stCondLst>
                                            <p:cond delay="0"/>
                                          </p:stCondLst>
                                        </p:cTn>
                                        <p:tgtEl>
                                          <p:spTgt spid="59"/>
                                        </p:tgtEl>
                                        <p:attrNameLst>
                                          <p:attrName>style.visibility</p:attrName>
                                        </p:attrNameLst>
                                      </p:cBhvr>
                                      <p:to>
                                        <p:strVal val="visible"/>
                                      </p:to>
                                    </p:set>
                                  </p:childTnLst>
                                </p:cTn>
                              </p:par>
                            </p:childTnLst>
                          </p:cTn>
                        </p:par>
                      </p:childTnLst>
                    </p:cTn>
                  </p:par>
                </p:childTnLst>
              </p:cTn>
              <p:nextCondLst>
                <p:cond evt="onClick" delay="0">
                  <p:tgtEl>
                    <p:spTgt spid="47"/>
                  </p:tgtEl>
                </p:cond>
              </p:nextCondLst>
            </p:seq>
            <p:seq concurrent="1" nextAc="seek">
              <p:cTn id="30" restart="whenNotActive" fill="hold" evtFilter="cancelBubble" nodeType="interactiveSeq">
                <p:stCondLst>
                  <p:cond evt="onClick" delay="0">
                    <p:tgtEl>
                      <p:spTgt spid="57"/>
                    </p:tgtEl>
                  </p:cond>
                </p:stCondLst>
                <p:endSync evt="end" delay="0">
                  <p:rtn val="all"/>
                </p:endSync>
                <p:childTnLst>
                  <p:par>
                    <p:cTn id="31" fill="hold">
                      <p:stCondLst>
                        <p:cond delay="0"/>
                      </p:stCondLst>
                      <p:childTnLst>
                        <p:par>
                          <p:cTn id="32" fill="hold">
                            <p:stCondLst>
                              <p:cond delay="0"/>
                            </p:stCondLst>
                            <p:childTnLst>
                              <p:par>
                                <p:cTn id="33" presetID="1" presetClass="exit" presetSubtype="0" fill="hold" nodeType="withEffect">
                                  <p:stCondLst>
                                    <p:cond delay="0"/>
                                  </p:stCondLst>
                                  <p:childTnLst>
                                    <p:set>
                                      <p:cBhvr>
                                        <p:cTn id="34" dur="1" fill="hold">
                                          <p:stCondLst>
                                            <p:cond delay="0"/>
                                          </p:stCondLst>
                                        </p:cTn>
                                        <p:tgtEl>
                                          <p:spTgt spid="58"/>
                                        </p:tgtEl>
                                        <p:attrNameLst>
                                          <p:attrName>style.visibility</p:attrName>
                                        </p:attrNameLst>
                                      </p:cBhvr>
                                      <p:to>
                                        <p:strVal val="hidden"/>
                                      </p:to>
                                    </p:set>
                                  </p:childTnLst>
                                </p:cTn>
                              </p:par>
                              <p:par>
                                <p:cTn id="35" presetID="1" presetClass="entr" presetSubtype="0" fill="hold" nodeType="withEffect">
                                  <p:stCondLst>
                                    <p:cond delay="0"/>
                                  </p:stCondLst>
                                  <p:childTnLst>
                                    <p:set>
                                      <p:cBhvr>
                                        <p:cTn id="36" dur="1" fill="hold">
                                          <p:stCondLst>
                                            <p:cond delay="0"/>
                                          </p:stCondLst>
                                        </p:cTn>
                                        <p:tgtEl>
                                          <p:spTgt spid="7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85"/>
                                        </p:tgtEl>
                                        <p:attrNameLst>
                                          <p:attrName>style.visibility</p:attrName>
                                        </p:attrNameLst>
                                      </p:cBhvr>
                                      <p:to>
                                        <p:strVal val="visible"/>
                                      </p:to>
                                    </p:set>
                                  </p:childTnLst>
                                </p:cTn>
                              </p:par>
                              <p:par>
                                <p:cTn id="39" presetID="1" presetClass="exit" presetSubtype="0" fill="hold" grpId="1" nodeType="withEffect">
                                  <p:stCondLst>
                                    <p:cond delay="0"/>
                                  </p:stCondLst>
                                  <p:childTnLst>
                                    <p:set>
                                      <p:cBhvr>
                                        <p:cTn id="40" dur="1" fill="hold">
                                          <p:stCondLst>
                                            <p:cond delay="0"/>
                                          </p:stCondLst>
                                        </p:cTn>
                                        <p:tgtEl>
                                          <p:spTgt spid="57"/>
                                        </p:tgtEl>
                                        <p:attrNameLst>
                                          <p:attrName>style.visibility</p:attrName>
                                        </p:attrNameLst>
                                      </p:cBhvr>
                                      <p:to>
                                        <p:strVal val="hidden"/>
                                      </p:to>
                                    </p:set>
                                  </p:childTnLst>
                                </p:cTn>
                              </p:par>
                              <p:par>
                                <p:cTn id="41" presetID="1" presetClass="entr" presetSubtype="0" fill="hold" grpId="0" nodeType="withEffect">
                                  <p:stCondLst>
                                    <p:cond delay="0"/>
                                  </p:stCondLst>
                                  <p:childTnLst>
                                    <p:set>
                                      <p:cBhvr>
                                        <p:cTn id="42" dur="1" fill="hold">
                                          <p:stCondLst>
                                            <p:cond delay="0"/>
                                          </p:stCondLst>
                                        </p:cTn>
                                        <p:tgtEl>
                                          <p:spTgt spid="79"/>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4"/>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3"/>
                                        </p:tgtEl>
                                        <p:attrNameLst>
                                          <p:attrName>style.visibility</p:attrName>
                                        </p:attrNameLst>
                                      </p:cBhvr>
                                      <p:to>
                                        <p:strVal val="visible"/>
                                      </p:to>
                                    </p:set>
                                  </p:childTnLst>
                                </p:cTn>
                              </p:par>
                            </p:childTnLst>
                          </p:cTn>
                        </p:par>
                      </p:childTnLst>
                    </p:cTn>
                  </p:par>
                </p:childTnLst>
              </p:cTn>
              <p:nextCondLst>
                <p:cond evt="onClick" delay="0">
                  <p:tgtEl>
                    <p:spTgt spid="57"/>
                  </p:tgtEl>
                </p:cond>
              </p:nextCondLst>
            </p:seq>
            <p:seq concurrent="1" nextAc="seek">
              <p:cTn id="49" restart="whenNotActive" fill="hold" evtFilter="cancelBubble" nodeType="interactiveSeq">
                <p:stCondLst>
                  <p:cond evt="onClick" delay="0">
                    <p:tgtEl>
                      <p:spTgt spid="59"/>
                    </p:tgtEl>
                  </p:cond>
                </p:stCondLst>
                <p:endSync evt="end" delay="0">
                  <p:rtn val="all"/>
                </p:endSync>
                <p:childTnLst>
                  <p:par>
                    <p:cTn id="50" fill="hold">
                      <p:stCondLst>
                        <p:cond delay="0"/>
                      </p:stCondLst>
                      <p:childTnLst>
                        <p:par>
                          <p:cTn id="51" fill="hold">
                            <p:stCondLst>
                              <p:cond delay="0"/>
                            </p:stCondLst>
                            <p:childTnLst>
                              <p:par>
                                <p:cTn id="52" presetID="1" presetClass="exit" presetSubtype="0" fill="hold" grpId="0" nodeType="withEffect">
                                  <p:stCondLst>
                                    <p:cond delay="0"/>
                                  </p:stCondLst>
                                  <p:childTnLst>
                                    <p:set>
                                      <p:cBhvr>
                                        <p:cTn id="53" dur="1" fill="hold">
                                          <p:stCondLst>
                                            <p:cond delay="0"/>
                                          </p:stCondLst>
                                        </p:cTn>
                                        <p:tgtEl>
                                          <p:spTgt spid="59"/>
                                        </p:tgtEl>
                                        <p:attrNameLst>
                                          <p:attrName>style.visibility</p:attrName>
                                        </p:attrNameLst>
                                      </p:cBhvr>
                                      <p:to>
                                        <p:strVal val="hidden"/>
                                      </p:to>
                                    </p:set>
                                  </p:childTnLst>
                                </p:cTn>
                              </p:par>
                              <p:par>
                                <p:cTn id="54" presetID="1" presetClass="entr" presetSubtype="0" fill="hold" grpId="0" nodeType="withEffect">
                                  <p:stCondLst>
                                    <p:cond delay="0"/>
                                  </p:stCondLst>
                                  <p:childTnLst>
                                    <p:set>
                                      <p:cBhvr>
                                        <p:cTn id="55" dur="1" fill="hold">
                                          <p:stCondLst>
                                            <p:cond delay="0"/>
                                          </p:stCondLst>
                                        </p:cTn>
                                        <p:tgtEl>
                                          <p:spTgt spid="88"/>
                                        </p:tgtEl>
                                        <p:attrNameLst>
                                          <p:attrName>style.visibility</p:attrName>
                                        </p:attrNameLst>
                                      </p:cBhvr>
                                      <p:to>
                                        <p:strVal val="visible"/>
                                      </p:to>
                                    </p:set>
                                  </p:childTnLst>
                                </p:cTn>
                              </p:par>
                              <p:par>
                                <p:cTn id="56" presetID="1" presetClass="entr" presetSubtype="0" fill="hold" grpId="0" nodeType="withEffect">
                                  <p:stCondLst>
                                    <p:cond delay="0"/>
                                  </p:stCondLst>
                                  <p:childTnLst>
                                    <p:set>
                                      <p:cBhvr>
                                        <p:cTn id="57" dur="1" fill="hold">
                                          <p:stCondLst>
                                            <p:cond delay="0"/>
                                          </p:stCondLst>
                                        </p:cTn>
                                        <p:tgtEl>
                                          <p:spTgt spid="75"/>
                                        </p:tgtEl>
                                        <p:attrNameLst>
                                          <p:attrName>style.visibility</p:attrName>
                                        </p:attrNameLst>
                                      </p:cBhvr>
                                      <p:to>
                                        <p:strVal val="visible"/>
                                      </p:to>
                                    </p:set>
                                  </p:childTnLst>
                                </p:cTn>
                              </p:par>
                              <p:par>
                                <p:cTn id="58" presetID="1" presetClass="entr" presetSubtype="0" fill="hold" nodeType="withEffect">
                                  <p:stCondLst>
                                    <p:cond delay="0"/>
                                  </p:stCondLst>
                                  <p:childTnLst>
                                    <p:set>
                                      <p:cBhvr>
                                        <p:cTn id="59" dur="1" fill="hold">
                                          <p:stCondLst>
                                            <p:cond delay="0"/>
                                          </p:stCondLst>
                                        </p:cTn>
                                        <p:tgtEl>
                                          <p:spTgt spid="33"/>
                                        </p:tgtEl>
                                        <p:attrNameLst>
                                          <p:attrName>style.visibility</p:attrName>
                                        </p:attrNameLst>
                                      </p:cBhvr>
                                      <p:to>
                                        <p:strVal val="visible"/>
                                      </p:to>
                                    </p:set>
                                  </p:childTnLst>
                                </p:cTn>
                              </p:par>
                              <p:par>
                                <p:cTn id="60" presetID="1" presetClass="entr" presetSubtype="0" fill="hold" nodeType="withEffect">
                                  <p:stCondLst>
                                    <p:cond delay="0"/>
                                  </p:stCondLst>
                                  <p:childTnLst>
                                    <p:set>
                                      <p:cBhvr>
                                        <p:cTn id="61" dur="1" fill="hold">
                                          <p:stCondLst>
                                            <p:cond delay="0"/>
                                          </p:stCondLst>
                                        </p:cTn>
                                        <p:tgtEl>
                                          <p:spTgt spid="54"/>
                                        </p:tgtEl>
                                        <p:attrNameLst>
                                          <p:attrName>style.visibility</p:attrName>
                                        </p:attrNameLst>
                                      </p:cBhvr>
                                      <p:to>
                                        <p:strVal val="visible"/>
                                      </p:to>
                                    </p:set>
                                  </p:childTnLst>
                                </p:cTn>
                              </p:par>
                              <p:par>
                                <p:cTn id="62" presetID="1" presetClass="exit" presetSubtype="0" fill="hold" nodeType="withEffect">
                                  <p:stCondLst>
                                    <p:cond delay="0"/>
                                  </p:stCondLst>
                                  <p:childTnLst>
                                    <p:set>
                                      <p:cBhvr>
                                        <p:cTn id="63" dur="1" fill="hold">
                                          <p:stCondLst>
                                            <p:cond delay="0"/>
                                          </p:stCondLst>
                                        </p:cTn>
                                        <p:tgtEl>
                                          <p:spTgt spid="60"/>
                                        </p:tgtEl>
                                        <p:attrNameLst>
                                          <p:attrName>style.visibility</p:attrName>
                                        </p:attrNameLst>
                                      </p:cBhvr>
                                      <p:to>
                                        <p:strVal val="hidden"/>
                                      </p:to>
                                    </p:set>
                                  </p:childTnLst>
                                </p:cTn>
                              </p:par>
                              <p:par>
                                <p:cTn id="64" presetID="1" presetClass="entr" presetSubtype="0" fill="hold" grpId="2" nodeType="withEffect">
                                  <p:stCondLst>
                                    <p:cond delay="0"/>
                                  </p:stCondLst>
                                  <p:childTnLst>
                                    <p:set>
                                      <p:cBhvr>
                                        <p:cTn id="65" dur="1" fill="hold">
                                          <p:stCondLst>
                                            <p:cond delay="0"/>
                                          </p:stCondLst>
                                        </p:cTn>
                                        <p:tgtEl>
                                          <p:spTgt spid="61"/>
                                        </p:tgtEl>
                                        <p:attrNameLst>
                                          <p:attrName>style.visibility</p:attrName>
                                        </p:attrNameLst>
                                      </p:cBhvr>
                                      <p:to>
                                        <p:strVal val="visible"/>
                                      </p:to>
                                    </p:set>
                                  </p:childTnLst>
                                </p:cTn>
                              </p:par>
                              <p:par>
                                <p:cTn id="66" presetID="1" presetClass="entr" presetSubtype="0" fill="hold" nodeType="withEffect">
                                  <p:stCondLst>
                                    <p:cond delay="0"/>
                                  </p:stCondLst>
                                  <p:childTnLst>
                                    <p:set>
                                      <p:cBhvr>
                                        <p:cTn id="67" dur="1" fill="hold">
                                          <p:stCondLst>
                                            <p:cond delay="0"/>
                                          </p:stCondLst>
                                        </p:cTn>
                                        <p:tgtEl>
                                          <p:spTgt spid="62"/>
                                        </p:tgtEl>
                                        <p:attrNameLst>
                                          <p:attrName>style.visibility</p:attrName>
                                        </p:attrNameLst>
                                      </p:cBhvr>
                                      <p:to>
                                        <p:strVal val="visible"/>
                                      </p:to>
                                    </p:set>
                                  </p:childTnLst>
                                </p:cTn>
                              </p:par>
                            </p:childTnLst>
                          </p:cTn>
                        </p:par>
                      </p:childTnLst>
                    </p:cTn>
                  </p:par>
                </p:childTnLst>
              </p:cTn>
              <p:nextCondLst>
                <p:cond evt="onClick" delay="0">
                  <p:tgtEl>
                    <p:spTgt spid="59"/>
                  </p:tgtEl>
                </p:cond>
              </p:nextCondLst>
            </p:seq>
            <p:seq concurrent="1" nextAc="seek">
              <p:cTn id="68" restart="whenNotActive" fill="hold" evtFilter="cancelBubble" nodeType="interactiveSeq">
                <p:stCondLst>
                  <p:cond evt="onClick" delay="0">
                    <p:tgtEl>
                      <p:spTgt spid="61"/>
                    </p:tgtEl>
                  </p:cond>
                </p:stCondLst>
                <p:endSync evt="end" delay="0">
                  <p:rtn val="all"/>
                </p:endSync>
                <p:childTnLst>
                  <p:par>
                    <p:cTn id="69" fill="hold">
                      <p:stCondLst>
                        <p:cond delay="0"/>
                      </p:stCondLst>
                      <p:childTnLst>
                        <p:par>
                          <p:cTn id="70" fill="hold">
                            <p:stCondLst>
                              <p:cond delay="0"/>
                            </p:stCondLst>
                            <p:childTnLst>
                              <p:par>
                                <p:cTn id="71" presetID="1" presetClass="entr" presetSubtype="0" fill="hold" nodeType="withEffect">
                                  <p:stCondLst>
                                    <p:cond delay="0"/>
                                  </p:stCondLst>
                                  <p:childTnLst>
                                    <p:set>
                                      <p:cBhvr>
                                        <p:cTn id="72" dur="1" fill="hold">
                                          <p:stCondLst>
                                            <p:cond delay="0"/>
                                          </p:stCondLst>
                                        </p:cTn>
                                        <p:tgtEl>
                                          <p:spTgt spid="63"/>
                                        </p:tgtEl>
                                        <p:attrNameLst>
                                          <p:attrName>style.visibility</p:attrName>
                                        </p:attrNameLst>
                                      </p:cBhvr>
                                      <p:to>
                                        <p:strVal val="visible"/>
                                      </p:to>
                                    </p:set>
                                  </p:childTnLst>
                                </p:cTn>
                              </p:par>
                              <p:par>
                                <p:cTn id="73" presetID="1" presetClass="entr" presetSubtype="0" fill="hold" grpId="1" nodeType="withEffect">
                                  <p:stCondLst>
                                    <p:cond delay="0"/>
                                  </p:stCondLst>
                                  <p:childTnLst>
                                    <p:set>
                                      <p:cBhvr>
                                        <p:cTn id="74" dur="1" fill="hold">
                                          <p:stCondLst>
                                            <p:cond delay="0"/>
                                          </p:stCondLst>
                                        </p:cTn>
                                        <p:tgtEl>
                                          <p:spTgt spid="53"/>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86"/>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80"/>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81"/>
                                        </p:tgtEl>
                                        <p:attrNameLst>
                                          <p:attrName>style.visibility</p:attrName>
                                        </p:attrNameLst>
                                      </p:cBhvr>
                                      <p:to>
                                        <p:strVal val="visible"/>
                                      </p:to>
                                    </p:set>
                                  </p:childTnLst>
                                </p:cTn>
                              </p:par>
                              <p:par>
                                <p:cTn id="81" presetID="1" presetClass="exit" presetSubtype="0" fill="hold" grpId="0" nodeType="withEffect">
                                  <p:stCondLst>
                                    <p:cond delay="0"/>
                                  </p:stCondLst>
                                  <p:childTnLst>
                                    <p:set>
                                      <p:cBhvr>
                                        <p:cTn id="82" dur="1" fill="hold">
                                          <p:stCondLst>
                                            <p:cond delay="0"/>
                                          </p:stCondLst>
                                        </p:cTn>
                                        <p:tgtEl>
                                          <p:spTgt spid="61"/>
                                        </p:tgtEl>
                                        <p:attrNameLst>
                                          <p:attrName>style.visibility</p:attrName>
                                        </p:attrNameLst>
                                      </p:cBhvr>
                                      <p:to>
                                        <p:strVal val="hidden"/>
                                      </p:to>
                                    </p:set>
                                  </p:childTnLst>
                                </p:cTn>
                              </p:par>
                              <p:par>
                                <p:cTn id="83" presetID="1" presetClass="exit" presetSubtype="0" fill="hold" nodeType="withEffect">
                                  <p:stCondLst>
                                    <p:cond delay="0"/>
                                  </p:stCondLst>
                                  <p:childTnLst>
                                    <p:set>
                                      <p:cBhvr>
                                        <p:cTn id="84" dur="1" fill="hold">
                                          <p:stCondLst>
                                            <p:cond delay="0"/>
                                          </p:stCondLst>
                                        </p:cTn>
                                        <p:tgtEl>
                                          <p:spTgt spid="62"/>
                                        </p:tgtEl>
                                        <p:attrNameLst>
                                          <p:attrName>style.visibility</p:attrName>
                                        </p:attrNameLst>
                                      </p:cBhvr>
                                      <p:to>
                                        <p:strVal val="hidden"/>
                                      </p:to>
                                    </p:set>
                                  </p:childTnLst>
                                </p:cTn>
                              </p:par>
                            </p:childTnLst>
                          </p:cTn>
                        </p:par>
                      </p:childTnLst>
                    </p:cTn>
                  </p:par>
                </p:childTnLst>
              </p:cTn>
              <p:nextCondLst>
                <p:cond evt="onClick" delay="0">
                  <p:tgtEl>
                    <p:spTgt spid="61"/>
                  </p:tgtEl>
                </p:cond>
              </p:nextCondLst>
            </p:seq>
          </p:childTnLst>
        </p:cTn>
      </p:par>
    </p:tnLst>
    <p:bldLst>
      <p:bldP spid="79" grpId="0" animBg="1"/>
      <p:bldP spid="53" grpId="0" animBg="1"/>
      <p:bldP spid="53" grpId="1" animBg="1"/>
      <p:bldP spid="75" grpId="0" animBg="1"/>
      <p:bldP spid="85" grpId="0" animBg="1"/>
      <p:bldP spid="86" grpId="0" animBg="1"/>
      <p:bldP spid="88" grpId="0" animBg="1"/>
      <p:bldP spid="47" grpId="0" animBg="1"/>
      <p:bldP spid="57" grpId="0" animBg="1"/>
      <p:bldP spid="57" grpId="1" animBg="1"/>
      <p:bldP spid="59" grpId="0" animBg="1"/>
      <p:bldP spid="59" grpId="1" animBg="1"/>
      <p:bldP spid="61" grpId="0" animBg="1"/>
      <p:bldP spid="61" grpId="2" animBg="1"/>
      <p:bldP spid="80" grpId="0" animBg="1"/>
      <p:bldP spid="3"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question 1">
            <a:hlinkClick r:id="rId3" action="ppaction://hlinksldjump"/>
            <a:extLst>
              <a:ext uri="{FF2B5EF4-FFF2-40B4-BE49-F238E27FC236}">
                <a16:creationId xmlns:a16="http://schemas.microsoft.com/office/drawing/2014/main" id="{3633062E-7740-BF32-CE0D-D681A428E260}"/>
              </a:ext>
            </a:extLst>
          </p:cNvPr>
          <p:cNvSpPr txBox="1"/>
          <p:nvPr/>
        </p:nvSpPr>
        <p:spPr>
          <a:xfrm>
            <a:off x="181642" y="159488"/>
            <a:ext cx="1645920"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Diagnosis</a:t>
            </a:r>
          </a:p>
        </p:txBody>
      </p:sp>
      <p:sp>
        <p:nvSpPr>
          <p:cNvPr id="12" name="Question 2">
            <a:hlinkClick r:id="rId4" action="ppaction://hlinksldjump"/>
            <a:extLst>
              <a:ext uri="{FF2B5EF4-FFF2-40B4-BE49-F238E27FC236}">
                <a16:creationId xmlns:a16="http://schemas.microsoft.com/office/drawing/2014/main" id="{1FB67FDC-B369-2E83-13C0-61BB7B6C29CB}"/>
              </a:ext>
            </a:extLst>
          </p:cNvPr>
          <p:cNvSpPr txBox="1"/>
          <p:nvPr/>
        </p:nvSpPr>
        <p:spPr>
          <a:xfrm>
            <a:off x="181642" y="1303550"/>
            <a:ext cx="1645920" cy="408623"/>
          </a:xfrm>
          <a:prstGeom prst="roundRect">
            <a:avLst/>
          </a:prstGeom>
          <a:solidFill>
            <a:schemeClr val="tx1"/>
          </a:solidFill>
          <a:ln w="38100"/>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chemeClr val="bg1"/>
                </a:solidFill>
              </a:rPr>
              <a:t>Management</a:t>
            </a:r>
          </a:p>
        </p:txBody>
      </p:sp>
      <p:sp>
        <p:nvSpPr>
          <p:cNvPr id="15" name="Question 2">
            <a:hlinkClick r:id="rId5" action="ppaction://hlinksldjump"/>
            <a:extLst>
              <a:ext uri="{FF2B5EF4-FFF2-40B4-BE49-F238E27FC236}">
                <a16:creationId xmlns:a16="http://schemas.microsoft.com/office/drawing/2014/main" id="{9FD0026A-E1B8-8DE4-B4B1-3057905E0FAE}"/>
              </a:ext>
            </a:extLst>
          </p:cNvPr>
          <p:cNvSpPr txBox="1"/>
          <p:nvPr/>
        </p:nvSpPr>
        <p:spPr>
          <a:xfrm>
            <a:off x="181642" y="731519"/>
            <a:ext cx="1645920"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Classification</a:t>
            </a:r>
          </a:p>
        </p:txBody>
      </p:sp>
      <p:pic>
        <p:nvPicPr>
          <p:cNvPr id="17" name="Graphic 16" descr="Cursor with solid fill">
            <a:extLst>
              <a:ext uri="{FF2B5EF4-FFF2-40B4-BE49-F238E27FC236}">
                <a16:creationId xmlns:a16="http://schemas.microsoft.com/office/drawing/2014/main" id="{7083BA4B-11CF-BBDE-BE80-21C15C32DBC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701287" y="435897"/>
            <a:ext cx="274320" cy="274320"/>
          </a:xfrm>
          <a:prstGeom prst="rect">
            <a:avLst/>
          </a:prstGeom>
        </p:spPr>
      </p:pic>
      <p:pic>
        <p:nvPicPr>
          <p:cNvPr id="24" name="Graphic 23" descr="Cursor with solid fill">
            <a:extLst>
              <a:ext uri="{FF2B5EF4-FFF2-40B4-BE49-F238E27FC236}">
                <a16:creationId xmlns:a16="http://schemas.microsoft.com/office/drawing/2014/main" id="{CEDBA60A-987D-1743-E2BB-8A2FDC323A42}"/>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701287" y="1007490"/>
            <a:ext cx="274320" cy="274320"/>
          </a:xfrm>
          <a:prstGeom prst="rect">
            <a:avLst/>
          </a:prstGeom>
        </p:spPr>
      </p:pic>
      <p:sp>
        <p:nvSpPr>
          <p:cNvPr id="19" name="TextBox 18">
            <a:extLst>
              <a:ext uri="{FF2B5EF4-FFF2-40B4-BE49-F238E27FC236}">
                <a16:creationId xmlns:a16="http://schemas.microsoft.com/office/drawing/2014/main" id="{7F2900F0-0B84-2E77-DDDE-D3194740E5B7}"/>
              </a:ext>
            </a:extLst>
          </p:cNvPr>
          <p:cNvSpPr txBox="1"/>
          <p:nvPr/>
        </p:nvSpPr>
        <p:spPr>
          <a:xfrm>
            <a:off x="3099369" y="110643"/>
            <a:ext cx="6907973" cy="461665"/>
          </a:xfrm>
          <a:prstGeom prst="rect">
            <a:avLst/>
          </a:prstGeom>
          <a:noFill/>
        </p:spPr>
        <p:txBody>
          <a:bodyPr wrap="square" rtlCol="0">
            <a:spAutoFit/>
          </a:bodyPr>
          <a:lstStyle/>
          <a:p>
            <a:pPr algn="ctr"/>
            <a:r>
              <a:rPr lang="en-US" sz="2400" b="1" dirty="0"/>
              <a:t>Management</a:t>
            </a:r>
          </a:p>
        </p:txBody>
      </p:sp>
      <p:sp>
        <p:nvSpPr>
          <p:cNvPr id="32" name="Group B">
            <a:hlinkClick r:id="rId8" action="ppaction://hlinksldjump"/>
            <a:extLst>
              <a:ext uri="{FF2B5EF4-FFF2-40B4-BE49-F238E27FC236}">
                <a16:creationId xmlns:a16="http://schemas.microsoft.com/office/drawing/2014/main" id="{8D69FACA-4AF3-F304-59C7-6CC379C00A8E}"/>
              </a:ext>
            </a:extLst>
          </p:cNvPr>
          <p:cNvSpPr/>
          <p:nvPr/>
        </p:nvSpPr>
        <p:spPr>
          <a:xfrm>
            <a:off x="4558952" y="1026214"/>
            <a:ext cx="1311573" cy="395275"/>
          </a:xfrm>
          <a:prstGeom prst="roundRect">
            <a:avLst/>
          </a:prstGeom>
          <a:gradFill flip="none" rotWithShape="1">
            <a:gsLst>
              <a:gs pos="0">
                <a:schemeClr val="accent2"/>
              </a:gs>
              <a:gs pos="100000">
                <a:srgbClr val="C00000"/>
              </a:gs>
            </a:gsLst>
            <a:lin ang="0" scaled="1"/>
            <a:tileRect/>
          </a:gradFill>
          <a:ln w="38100">
            <a:gradFill flip="none" rotWithShape="1">
              <a:gsLst>
                <a:gs pos="100000">
                  <a:srgbClr val="C00000"/>
                </a:gs>
                <a:gs pos="0">
                  <a:schemeClr val="accent2"/>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Group B/E</a:t>
            </a:r>
          </a:p>
        </p:txBody>
      </p:sp>
      <p:sp>
        <p:nvSpPr>
          <p:cNvPr id="36" name="Group E">
            <a:hlinkClick r:id="" action="ppaction://noaction"/>
            <a:extLst>
              <a:ext uri="{FF2B5EF4-FFF2-40B4-BE49-F238E27FC236}">
                <a16:creationId xmlns:a16="http://schemas.microsoft.com/office/drawing/2014/main" id="{667440B6-CA87-6E59-0F0D-51A8D44D8897}"/>
              </a:ext>
            </a:extLst>
          </p:cNvPr>
          <p:cNvSpPr/>
          <p:nvPr/>
        </p:nvSpPr>
        <p:spPr>
          <a:xfrm>
            <a:off x="8750051" y="1015479"/>
            <a:ext cx="1311573" cy="395275"/>
          </a:xfrm>
          <a:prstGeom prst="roundRect">
            <a:avLst/>
          </a:prstGeom>
          <a:solidFill>
            <a:schemeClr val="tx1"/>
          </a:solidFill>
          <a:ln w="3810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Summary</a:t>
            </a:r>
          </a:p>
        </p:txBody>
      </p:sp>
      <p:cxnSp>
        <p:nvCxnSpPr>
          <p:cNvPr id="70" name="Straight Arrow Connector 69">
            <a:extLst>
              <a:ext uri="{FF2B5EF4-FFF2-40B4-BE49-F238E27FC236}">
                <a16:creationId xmlns:a16="http://schemas.microsoft.com/office/drawing/2014/main" id="{5844C932-247D-43F6-9C08-67A37E8FBF46}"/>
              </a:ext>
            </a:extLst>
          </p:cNvPr>
          <p:cNvCxnSpPr>
            <a:cxnSpLocks/>
          </p:cNvCxnSpPr>
          <p:nvPr/>
        </p:nvCxnSpPr>
        <p:spPr>
          <a:xfrm>
            <a:off x="5071917" y="1585305"/>
            <a:ext cx="0" cy="576072"/>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71" name="Straight Arrow Connector 70">
            <a:extLst>
              <a:ext uri="{FF2B5EF4-FFF2-40B4-BE49-F238E27FC236}">
                <a16:creationId xmlns:a16="http://schemas.microsoft.com/office/drawing/2014/main" id="{EA6FE4E6-268D-96F3-2DF3-31A98B3FA508}"/>
              </a:ext>
            </a:extLst>
          </p:cNvPr>
          <p:cNvCxnSpPr>
            <a:cxnSpLocks/>
          </p:cNvCxnSpPr>
          <p:nvPr/>
        </p:nvCxnSpPr>
        <p:spPr>
          <a:xfrm>
            <a:off x="5154867" y="1585305"/>
            <a:ext cx="0" cy="576072"/>
          </a:xfrm>
          <a:prstGeom prst="straightConnector1">
            <a:avLst/>
          </a:prstGeom>
          <a:ln>
            <a:solidFill>
              <a:srgbClr val="C00000"/>
            </a:solidFill>
            <a:tailEnd type="triangle"/>
          </a:ln>
        </p:spPr>
        <p:style>
          <a:lnRef idx="3">
            <a:schemeClr val="accent4"/>
          </a:lnRef>
          <a:fillRef idx="0">
            <a:schemeClr val="accent4"/>
          </a:fillRef>
          <a:effectRef idx="2">
            <a:schemeClr val="accent4"/>
          </a:effectRef>
          <a:fontRef idx="minor">
            <a:schemeClr val="tx1"/>
          </a:fontRef>
        </p:style>
      </p:cxnSp>
      <p:grpSp>
        <p:nvGrpSpPr>
          <p:cNvPr id="2" name="Group 1">
            <a:extLst>
              <a:ext uri="{FF2B5EF4-FFF2-40B4-BE49-F238E27FC236}">
                <a16:creationId xmlns:a16="http://schemas.microsoft.com/office/drawing/2014/main" id="{761E8EDD-BB1F-8EFC-D6E7-62B6D32DB217}"/>
              </a:ext>
            </a:extLst>
          </p:cNvPr>
          <p:cNvGrpSpPr/>
          <p:nvPr/>
        </p:nvGrpSpPr>
        <p:grpSpPr>
          <a:xfrm>
            <a:off x="2428497" y="2290554"/>
            <a:ext cx="1615904" cy="1638775"/>
            <a:chOff x="3016315" y="2789320"/>
            <a:chExt cx="1615904" cy="1638775"/>
          </a:xfrm>
        </p:grpSpPr>
        <p:sp>
          <p:nvSpPr>
            <p:cNvPr id="3" name="Rectangle 2">
              <a:extLst>
                <a:ext uri="{FF2B5EF4-FFF2-40B4-BE49-F238E27FC236}">
                  <a16:creationId xmlns:a16="http://schemas.microsoft.com/office/drawing/2014/main" id="{924DEA06-012E-19FE-2EEA-FEADD2623D19}"/>
                </a:ext>
              </a:extLst>
            </p:cNvPr>
            <p:cNvSpPr/>
            <p:nvPr/>
          </p:nvSpPr>
          <p:spPr>
            <a:xfrm>
              <a:off x="3016315" y="2789320"/>
              <a:ext cx="1615904" cy="1638775"/>
            </a:xfrm>
            <a:prstGeom prst="rect">
              <a:avLst/>
            </a:prstGeom>
            <a:ln w="381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 name="Rectangle: Rounded Corners 3">
              <a:extLst>
                <a:ext uri="{FF2B5EF4-FFF2-40B4-BE49-F238E27FC236}">
                  <a16:creationId xmlns:a16="http://schemas.microsoft.com/office/drawing/2014/main" id="{E8CFC42D-11E7-EB64-310B-7C212334FF80}"/>
                </a:ext>
              </a:extLst>
            </p:cNvPr>
            <p:cNvSpPr/>
            <p:nvPr/>
          </p:nvSpPr>
          <p:spPr>
            <a:xfrm>
              <a:off x="3140519" y="2877598"/>
              <a:ext cx="1371600" cy="457200"/>
            </a:xfrm>
            <a:prstGeom prst="roundRect">
              <a:avLst/>
            </a:prstGeom>
            <a:ln>
              <a:solidFill>
                <a:schemeClr val="accent6"/>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dirty="0"/>
                <a:t>LABA</a:t>
              </a:r>
            </a:p>
          </p:txBody>
        </p:sp>
        <p:sp>
          <p:nvSpPr>
            <p:cNvPr id="5" name="Rectangle: Rounded Corners 4">
              <a:extLst>
                <a:ext uri="{FF2B5EF4-FFF2-40B4-BE49-F238E27FC236}">
                  <a16:creationId xmlns:a16="http://schemas.microsoft.com/office/drawing/2014/main" id="{827A3130-C9E4-76F3-2494-ACB2958863F5}"/>
                </a:ext>
              </a:extLst>
            </p:cNvPr>
            <p:cNvSpPr/>
            <p:nvPr/>
          </p:nvSpPr>
          <p:spPr>
            <a:xfrm>
              <a:off x="3115866" y="3867944"/>
              <a:ext cx="1371600" cy="457200"/>
            </a:xfrm>
            <a:prstGeom prst="roundRect">
              <a:avLst/>
            </a:prstGeom>
            <a:ln>
              <a:solidFill>
                <a:schemeClr val="accent5"/>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dirty="0"/>
                <a:t>LAMA</a:t>
              </a:r>
            </a:p>
          </p:txBody>
        </p:sp>
        <p:sp>
          <p:nvSpPr>
            <p:cNvPr id="6" name="TextBox 5">
              <a:extLst>
                <a:ext uri="{FF2B5EF4-FFF2-40B4-BE49-F238E27FC236}">
                  <a16:creationId xmlns:a16="http://schemas.microsoft.com/office/drawing/2014/main" id="{A56C95EE-B58C-F427-C463-BF440751164F}"/>
                </a:ext>
              </a:extLst>
            </p:cNvPr>
            <p:cNvSpPr txBox="1"/>
            <p:nvPr/>
          </p:nvSpPr>
          <p:spPr>
            <a:xfrm>
              <a:off x="3247518" y="3447297"/>
              <a:ext cx="1075038" cy="369332"/>
            </a:xfrm>
            <a:prstGeom prst="rect">
              <a:avLst/>
            </a:prstGeom>
            <a:noFill/>
          </p:spPr>
          <p:txBody>
            <a:bodyPr wrap="square" rtlCol="0">
              <a:spAutoFit/>
            </a:bodyPr>
            <a:lstStyle/>
            <a:p>
              <a:pPr algn="ctr"/>
              <a:r>
                <a:rPr lang="en-US" dirty="0"/>
                <a:t>OR</a:t>
              </a:r>
            </a:p>
          </p:txBody>
        </p:sp>
      </p:grpSp>
      <p:grpSp>
        <p:nvGrpSpPr>
          <p:cNvPr id="7" name="Group 6">
            <a:extLst>
              <a:ext uri="{FF2B5EF4-FFF2-40B4-BE49-F238E27FC236}">
                <a16:creationId xmlns:a16="http://schemas.microsoft.com/office/drawing/2014/main" id="{9212B65C-B776-B789-27FD-EFF7CF386D6E}"/>
              </a:ext>
            </a:extLst>
          </p:cNvPr>
          <p:cNvGrpSpPr/>
          <p:nvPr/>
        </p:nvGrpSpPr>
        <p:grpSpPr>
          <a:xfrm>
            <a:off x="4504018" y="2290554"/>
            <a:ext cx="1615904" cy="1638775"/>
            <a:chOff x="5427819" y="2814720"/>
            <a:chExt cx="1615904" cy="1638775"/>
          </a:xfrm>
        </p:grpSpPr>
        <p:sp>
          <p:nvSpPr>
            <p:cNvPr id="8" name="Rectangle 7">
              <a:extLst>
                <a:ext uri="{FF2B5EF4-FFF2-40B4-BE49-F238E27FC236}">
                  <a16:creationId xmlns:a16="http://schemas.microsoft.com/office/drawing/2014/main" id="{99F7F6AF-3365-4E08-6066-AE9E18E6EE34}"/>
                </a:ext>
              </a:extLst>
            </p:cNvPr>
            <p:cNvSpPr/>
            <p:nvPr/>
          </p:nvSpPr>
          <p:spPr>
            <a:xfrm>
              <a:off x="5427819" y="2814720"/>
              <a:ext cx="1615904" cy="1638775"/>
            </a:xfrm>
            <a:prstGeom prst="rect">
              <a:avLst/>
            </a:prstGeom>
            <a:ln w="38100"/>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 name="Rectangle: Rounded Corners 8">
              <a:extLst>
                <a:ext uri="{FF2B5EF4-FFF2-40B4-BE49-F238E27FC236}">
                  <a16:creationId xmlns:a16="http://schemas.microsoft.com/office/drawing/2014/main" id="{018C6615-FE30-4F14-93F7-DEF071112AEA}"/>
                </a:ext>
              </a:extLst>
            </p:cNvPr>
            <p:cNvSpPr/>
            <p:nvPr/>
          </p:nvSpPr>
          <p:spPr>
            <a:xfrm>
              <a:off x="5540640" y="3164424"/>
              <a:ext cx="1371600" cy="457200"/>
            </a:xfrm>
            <a:prstGeom prst="roundRect">
              <a:avLst/>
            </a:prstGeom>
            <a:ln>
              <a:solidFill>
                <a:schemeClr val="accent6"/>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dirty="0"/>
                <a:t>LABA</a:t>
              </a:r>
            </a:p>
          </p:txBody>
        </p:sp>
        <p:sp>
          <p:nvSpPr>
            <p:cNvPr id="10" name="Rectangle: Rounded Corners 9">
              <a:extLst>
                <a:ext uri="{FF2B5EF4-FFF2-40B4-BE49-F238E27FC236}">
                  <a16:creationId xmlns:a16="http://schemas.microsoft.com/office/drawing/2014/main" id="{B4FEB332-7718-ACB3-B6E0-5CAF6EFAED22}"/>
                </a:ext>
              </a:extLst>
            </p:cNvPr>
            <p:cNvSpPr/>
            <p:nvPr/>
          </p:nvSpPr>
          <p:spPr>
            <a:xfrm>
              <a:off x="5540640" y="3653419"/>
              <a:ext cx="1371600" cy="457200"/>
            </a:xfrm>
            <a:prstGeom prst="roundRect">
              <a:avLst/>
            </a:prstGeom>
            <a:ln>
              <a:solidFill>
                <a:schemeClr val="accent5"/>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dirty="0"/>
                <a:t>LAMA</a:t>
              </a:r>
            </a:p>
          </p:txBody>
        </p:sp>
      </p:grpSp>
      <p:grpSp>
        <p:nvGrpSpPr>
          <p:cNvPr id="14" name="Group 13">
            <a:extLst>
              <a:ext uri="{FF2B5EF4-FFF2-40B4-BE49-F238E27FC236}">
                <a16:creationId xmlns:a16="http://schemas.microsoft.com/office/drawing/2014/main" id="{19514031-D81A-1BE3-96AC-8E5429F3E4DF}"/>
              </a:ext>
            </a:extLst>
          </p:cNvPr>
          <p:cNvGrpSpPr/>
          <p:nvPr/>
        </p:nvGrpSpPr>
        <p:grpSpPr>
          <a:xfrm>
            <a:off x="6550221" y="2290554"/>
            <a:ext cx="1615904" cy="1638775"/>
            <a:chOff x="7849030" y="2789319"/>
            <a:chExt cx="1615904" cy="1638775"/>
          </a:xfrm>
        </p:grpSpPr>
        <p:sp>
          <p:nvSpPr>
            <p:cNvPr id="23" name="Rectangle 22">
              <a:extLst>
                <a:ext uri="{FF2B5EF4-FFF2-40B4-BE49-F238E27FC236}">
                  <a16:creationId xmlns:a16="http://schemas.microsoft.com/office/drawing/2014/main" id="{0DD52B05-35E2-9FE6-DE1F-AD3DBB8087F6}"/>
                </a:ext>
              </a:extLst>
            </p:cNvPr>
            <p:cNvSpPr/>
            <p:nvPr/>
          </p:nvSpPr>
          <p:spPr>
            <a:xfrm>
              <a:off x="7849030" y="2789319"/>
              <a:ext cx="1615904" cy="1638775"/>
            </a:xfrm>
            <a:prstGeom prst="rect">
              <a:avLst/>
            </a:prstGeom>
            <a:ln w="38100"/>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9" name="Rectangle: Rounded Corners 28">
              <a:extLst>
                <a:ext uri="{FF2B5EF4-FFF2-40B4-BE49-F238E27FC236}">
                  <a16:creationId xmlns:a16="http://schemas.microsoft.com/office/drawing/2014/main" id="{7FE80DDC-A12C-B3C5-C1B0-8AE842A3C382}"/>
                </a:ext>
              </a:extLst>
            </p:cNvPr>
            <p:cNvSpPr/>
            <p:nvPr/>
          </p:nvSpPr>
          <p:spPr>
            <a:xfrm>
              <a:off x="7965790" y="3368760"/>
              <a:ext cx="1371600" cy="457200"/>
            </a:xfrm>
            <a:prstGeom prst="roundRect">
              <a:avLst/>
            </a:prstGeom>
            <a:ln>
              <a:solidFill>
                <a:schemeClr val="accent5"/>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dirty="0"/>
                <a:t>LAMA</a:t>
              </a:r>
            </a:p>
          </p:txBody>
        </p:sp>
        <p:sp>
          <p:nvSpPr>
            <p:cNvPr id="30" name="Rectangle: Rounded Corners 29">
              <a:extLst>
                <a:ext uri="{FF2B5EF4-FFF2-40B4-BE49-F238E27FC236}">
                  <a16:creationId xmlns:a16="http://schemas.microsoft.com/office/drawing/2014/main" id="{B82305BF-161A-A450-8BED-495EA7B6FDCC}"/>
                </a:ext>
              </a:extLst>
            </p:cNvPr>
            <p:cNvSpPr/>
            <p:nvPr/>
          </p:nvSpPr>
          <p:spPr>
            <a:xfrm>
              <a:off x="7965790" y="2877598"/>
              <a:ext cx="1371600" cy="457200"/>
            </a:xfrm>
            <a:prstGeom prst="roundRect">
              <a:avLst/>
            </a:prstGeom>
            <a:ln>
              <a:solidFill>
                <a:schemeClr val="accent6"/>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dirty="0"/>
                <a:t>LABA</a:t>
              </a:r>
            </a:p>
          </p:txBody>
        </p:sp>
        <p:sp>
          <p:nvSpPr>
            <p:cNvPr id="31" name="Rectangle: Rounded Corners 30">
              <a:extLst>
                <a:ext uri="{FF2B5EF4-FFF2-40B4-BE49-F238E27FC236}">
                  <a16:creationId xmlns:a16="http://schemas.microsoft.com/office/drawing/2014/main" id="{A40EE740-34A7-2063-45D9-6ED59D7B744F}"/>
                </a:ext>
              </a:extLst>
            </p:cNvPr>
            <p:cNvSpPr/>
            <p:nvPr/>
          </p:nvSpPr>
          <p:spPr>
            <a:xfrm>
              <a:off x="7965790" y="3867944"/>
              <a:ext cx="1371600" cy="457200"/>
            </a:xfrm>
            <a:prstGeom prst="roundRect">
              <a:avLst/>
            </a:prstGeom>
            <a:ln>
              <a:solidFill>
                <a:schemeClr val="accent3"/>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a:t>ICS</a:t>
              </a:r>
            </a:p>
          </p:txBody>
        </p:sp>
      </p:grpSp>
      <p:sp>
        <p:nvSpPr>
          <p:cNvPr id="34" name="Arrow: Right 33">
            <a:extLst>
              <a:ext uri="{FF2B5EF4-FFF2-40B4-BE49-F238E27FC236}">
                <a16:creationId xmlns:a16="http://schemas.microsoft.com/office/drawing/2014/main" id="{AE3F546B-3456-BEE8-DD9D-D63460678B3C}"/>
              </a:ext>
            </a:extLst>
          </p:cNvPr>
          <p:cNvSpPr/>
          <p:nvPr/>
        </p:nvSpPr>
        <p:spPr>
          <a:xfrm>
            <a:off x="2323133" y="4429672"/>
            <a:ext cx="3796787" cy="401680"/>
          </a:xfrm>
          <a:prstGeom prst="rightArrow">
            <a:avLst>
              <a:gd name="adj1" fmla="val 100000"/>
              <a:gd name="adj2" fmla="val 50000"/>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dirty="0"/>
              <a:t>Persistent dyspnea</a:t>
            </a:r>
          </a:p>
        </p:txBody>
      </p:sp>
      <p:sp>
        <p:nvSpPr>
          <p:cNvPr id="35" name="Arrow: Right 34">
            <a:extLst>
              <a:ext uri="{FF2B5EF4-FFF2-40B4-BE49-F238E27FC236}">
                <a16:creationId xmlns:a16="http://schemas.microsoft.com/office/drawing/2014/main" id="{10DCB9DA-B69B-5DB2-5087-AD5F6E265183}"/>
              </a:ext>
            </a:extLst>
          </p:cNvPr>
          <p:cNvSpPr/>
          <p:nvPr/>
        </p:nvSpPr>
        <p:spPr>
          <a:xfrm>
            <a:off x="2323135" y="4923044"/>
            <a:ext cx="3796788" cy="401680"/>
          </a:xfrm>
          <a:prstGeom prst="rightArrow">
            <a:avLst>
              <a:gd name="adj1" fmla="val 100000"/>
              <a:gd name="adj2" fmla="val 50000"/>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dirty="0"/>
              <a:t>Exacerbations</a:t>
            </a:r>
          </a:p>
        </p:txBody>
      </p:sp>
      <p:sp>
        <p:nvSpPr>
          <p:cNvPr id="38" name="Rectangle 37">
            <a:extLst>
              <a:ext uri="{FF2B5EF4-FFF2-40B4-BE49-F238E27FC236}">
                <a16:creationId xmlns:a16="http://schemas.microsoft.com/office/drawing/2014/main" id="{5666DE63-9CCA-846D-8C24-0F753D10398B}"/>
              </a:ext>
            </a:extLst>
          </p:cNvPr>
          <p:cNvSpPr/>
          <p:nvPr/>
        </p:nvSpPr>
        <p:spPr>
          <a:xfrm>
            <a:off x="8564667" y="2290554"/>
            <a:ext cx="1615904" cy="1638775"/>
          </a:xfrm>
          <a:prstGeom prst="rect">
            <a:avLst/>
          </a:prstGeom>
          <a:ln w="38100"/>
        </p:spPr>
        <p:style>
          <a:lnRef idx="2">
            <a:schemeClr val="dk1"/>
          </a:lnRef>
          <a:fillRef idx="1">
            <a:schemeClr val="lt1"/>
          </a:fillRef>
          <a:effectRef idx="0">
            <a:schemeClr val="dk1"/>
          </a:effectRef>
          <a:fontRef idx="minor">
            <a:schemeClr val="dk1"/>
          </a:fontRef>
        </p:style>
        <p:txBody>
          <a:bodyPr rtlCol="0" anchor="ctr"/>
          <a:lstStyle/>
          <a:p>
            <a:pPr algn="ctr"/>
            <a:r>
              <a:rPr lang="en-US" dirty="0"/>
              <a:t>Consult pulmonology</a:t>
            </a:r>
          </a:p>
          <a:p>
            <a:pPr algn="ctr"/>
            <a:r>
              <a:rPr lang="en-US" dirty="0"/>
              <a:t>for additional therapies</a:t>
            </a:r>
          </a:p>
        </p:txBody>
      </p:sp>
      <p:cxnSp>
        <p:nvCxnSpPr>
          <p:cNvPr id="39" name="Straight Arrow Connector 38">
            <a:extLst>
              <a:ext uri="{FF2B5EF4-FFF2-40B4-BE49-F238E27FC236}">
                <a16:creationId xmlns:a16="http://schemas.microsoft.com/office/drawing/2014/main" id="{25DDE5A1-8686-044A-8064-CB07F212E43B}"/>
              </a:ext>
            </a:extLst>
          </p:cNvPr>
          <p:cNvCxnSpPr>
            <a:cxnSpLocks/>
          </p:cNvCxnSpPr>
          <p:nvPr/>
        </p:nvCxnSpPr>
        <p:spPr>
          <a:xfrm>
            <a:off x="8238280" y="3138343"/>
            <a:ext cx="27772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41" name="Straight Arrow Connector 40">
            <a:extLst>
              <a:ext uri="{FF2B5EF4-FFF2-40B4-BE49-F238E27FC236}">
                <a16:creationId xmlns:a16="http://schemas.microsoft.com/office/drawing/2014/main" id="{2D0F0F65-D6FD-0017-9B17-E9CB7062F90E}"/>
              </a:ext>
            </a:extLst>
          </p:cNvPr>
          <p:cNvCxnSpPr>
            <a:cxnSpLocks/>
          </p:cNvCxnSpPr>
          <p:nvPr/>
        </p:nvCxnSpPr>
        <p:spPr>
          <a:xfrm>
            <a:off x="4138090" y="3138343"/>
            <a:ext cx="27772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42" name="Straight Arrow Connector 41">
            <a:extLst>
              <a:ext uri="{FF2B5EF4-FFF2-40B4-BE49-F238E27FC236}">
                <a16:creationId xmlns:a16="http://schemas.microsoft.com/office/drawing/2014/main" id="{7EDC2D3B-B97F-55A2-C7B1-22F754D7A535}"/>
              </a:ext>
            </a:extLst>
          </p:cNvPr>
          <p:cNvCxnSpPr>
            <a:cxnSpLocks/>
          </p:cNvCxnSpPr>
          <p:nvPr/>
        </p:nvCxnSpPr>
        <p:spPr>
          <a:xfrm>
            <a:off x="6208352" y="3138343"/>
            <a:ext cx="27772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43" name="Arrow: Right 42">
            <a:extLst>
              <a:ext uri="{FF2B5EF4-FFF2-40B4-BE49-F238E27FC236}">
                <a16:creationId xmlns:a16="http://schemas.microsoft.com/office/drawing/2014/main" id="{D875AE46-A2D8-3DE2-EAB8-7D91DB39DBC8}"/>
              </a:ext>
            </a:extLst>
          </p:cNvPr>
          <p:cNvSpPr/>
          <p:nvPr/>
        </p:nvSpPr>
        <p:spPr>
          <a:xfrm>
            <a:off x="2323132" y="4923044"/>
            <a:ext cx="5842993" cy="401680"/>
          </a:xfrm>
          <a:prstGeom prst="rightArrow">
            <a:avLst>
              <a:gd name="adj1" fmla="val 100000"/>
              <a:gd name="adj2" fmla="val 50000"/>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dirty="0"/>
              <a:t>Exacerbations</a:t>
            </a:r>
          </a:p>
        </p:txBody>
      </p:sp>
      <p:cxnSp>
        <p:nvCxnSpPr>
          <p:cNvPr id="44" name="Connector: Elbow 43">
            <a:extLst>
              <a:ext uri="{FF2B5EF4-FFF2-40B4-BE49-F238E27FC236}">
                <a16:creationId xmlns:a16="http://schemas.microsoft.com/office/drawing/2014/main" id="{80B4B8A6-42DA-D202-E1C5-73C44582224A}"/>
              </a:ext>
            </a:extLst>
          </p:cNvPr>
          <p:cNvCxnSpPr>
            <a:cxnSpLocks/>
            <a:stCxn id="8" idx="0"/>
            <a:endCxn id="38" idx="0"/>
          </p:cNvCxnSpPr>
          <p:nvPr/>
        </p:nvCxnSpPr>
        <p:spPr>
          <a:xfrm rot="5400000" flipH="1" flipV="1">
            <a:off x="7342294" y="260230"/>
            <a:ext cx="12700" cy="4060649"/>
          </a:xfrm>
          <a:prstGeom prst="bentConnector3">
            <a:avLst>
              <a:gd name="adj1" fmla="val 1800000"/>
            </a:avLst>
          </a:prstGeom>
          <a:ln>
            <a:tailEnd type="triangle"/>
          </a:ln>
        </p:spPr>
        <p:style>
          <a:lnRef idx="3">
            <a:schemeClr val="dk1"/>
          </a:lnRef>
          <a:fillRef idx="0">
            <a:schemeClr val="dk1"/>
          </a:fillRef>
          <a:effectRef idx="2">
            <a:schemeClr val="dk1"/>
          </a:effectRef>
          <a:fontRef idx="minor">
            <a:schemeClr val="tx1"/>
          </a:fontRef>
        </p:style>
      </p:cxnSp>
      <p:sp>
        <p:nvSpPr>
          <p:cNvPr id="45" name="Arrow: Right 44">
            <a:extLst>
              <a:ext uri="{FF2B5EF4-FFF2-40B4-BE49-F238E27FC236}">
                <a16:creationId xmlns:a16="http://schemas.microsoft.com/office/drawing/2014/main" id="{4FD5A7CE-EC0C-36E1-0B06-8DF91F663D1D}"/>
              </a:ext>
            </a:extLst>
          </p:cNvPr>
          <p:cNvSpPr/>
          <p:nvPr/>
        </p:nvSpPr>
        <p:spPr>
          <a:xfrm>
            <a:off x="8364617" y="4429672"/>
            <a:ext cx="2234273" cy="401680"/>
          </a:xfrm>
          <a:prstGeom prst="rightArrow">
            <a:avLst>
              <a:gd name="adj1" fmla="val 100000"/>
              <a:gd name="adj2" fmla="val 50000"/>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dirty="0"/>
              <a:t>Persistent dyspnea</a:t>
            </a:r>
          </a:p>
        </p:txBody>
      </p:sp>
      <p:sp>
        <p:nvSpPr>
          <p:cNvPr id="46" name="Arrow: Right 45">
            <a:extLst>
              <a:ext uri="{FF2B5EF4-FFF2-40B4-BE49-F238E27FC236}">
                <a16:creationId xmlns:a16="http://schemas.microsoft.com/office/drawing/2014/main" id="{F9E13283-14C9-D9A9-8631-95AB90CCAC21}"/>
              </a:ext>
            </a:extLst>
          </p:cNvPr>
          <p:cNvSpPr/>
          <p:nvPr/>
        </p:nvSpPr>
        <p:spPr>
          <a:xfrm>
            <a:off x="8364617" y="4923044"/>
            <a:ext cx="2234273" cy="401680"/>
          </a:xfrm>
          <a:prstGeom prst="rightArrow">
            <a:avLst>
              <a:gd name="adj1" fmla="val 100000"/>
              <a:gd name="adj2" fmla="val 50000"/>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dirty="0"/>
              <a:t>Exacerbations</a:t>
            </a:r>
          </a:p>
        </p:txBody>
      </p:sp>
      <p:sp>
        <p:nvSpPr>
          <p:cNvPr id="49" name="Arrow: Right 48">
            <a:extLst>
              <a:ext uri="{FF2B5EF4-FFF2-40B4-BE49-F238E27FC236}">
                <a16:creationId xmlns:a16="http://schemas.microsoft.com/office/drawing/2014/main" id="{BF78C54F-1A60-02F7-244F-A5E30ED4041A}"/>
              </a:ext>
            </a:extLst>
          </p:cNvPr>
          <p:cNvSpPr/>
          <p:nvPr/>
        </p:nvSpPr>
        <p:spPr>
          <a:xfrm>
            <a:off x="6382831" y="4923044"/>
            <a:ext cx="1783293" cy="401680"/>
          </a:xfrm>
          <a:prstGeom prst="rightArrow">
            <a:avLst>
              <a:gd name="adj1" fmla="val 100000"/>
              <a:gd name="adj2" fmla="val 50000"/>
            </a:avLst>
          </a:prstGeom>
          <a:ln>
            <a:solidFill>
              <a:schemeClr val="bg2">
                <a:lumMod val="75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a:t>+ </a:t>
            </a:r>
            <a:r>
              <a:rPr lang="en-US" dirty="0" err="1"/>
              <a:t>eos</a:t>
            </a:r>
            <a:r>
              <a:rPr lang="en-US" dirty="0"/>
              <a:t> ≥100</a:t>
            </a:r>
          </a:p>
        </p:txBody>
      </p:sp>
      <p:sp>
        <p:nvSpPr>
          <p:cNvPr id="90" name="Rectangle: Rounded Corners 89">
            <a:extLst>
              <a:ext uri="{FF2B5EF4-FFF2-40B4-BE49-F238E27FC236}">
                <a16:creationId xmlns:a16="http://schemas.microsoft.com/office/drawing/2014/main" id="{3B19329D-CD85-4244-AEC1-9DBDD5995360}"/>
              </a:ext>
            </a:extLst>
          </p:cNvPr>
          <p:cNvSpPr/>
          <p:nvPr/>
        </p:nvSpPr>
        <p:spPr>
          <a:xfrm>
            <a:off x="475739" y="4372224"/>
            <a:ext cx="1371600" cy="457200"/>
          </a:xfrm>
          <a:prstGeom prst="roundRect">
            <a:avLst/>
          </a:prstGeom>
          <a:ln>
            <a:solidFill>
              <a:schemeClr val="accent6"/>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dirty="0"/>
              <a:t>LABA</a:t>
            </a:r>
          </a:p>
        </p:txBody>
      </p:sp>
      <p:sp>
        <p:nvSpPr>
          <p:cNvPr id="91" name="Rectangle: Rounded Corners 90">
            <a:extLst>
              <a:ext uri="{FF2B5EF4-FFF2-40B4-BE49-F238E27FC236}">
                <a16:creationId xmlns:a16="http://schemas.microsoft.com/office/drawing/2014/main" id="{4FA1300B-4C19-9AAF-8352-F4DF15154B6F}"/>
              </a:ext>
            </a:extLst>
          </p:cNvPr>
          <p:cNvSpPr/>
          <p:nvPr/>
        </p:nvSpPr>
        <p:spPr>
          <a:xfrm>
            <a:off x="475739" y="4867524"/>
            <a:ext cx="1371600" cy="457200"/>
          </a:xfrm>
          <a:prstGeom prst="roundRect">
            <a:avLst/>
          </a:prstGeom>
          <a:ln>
            <a:solidFill>
              <a:schemeClr val="accent3"/>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a:t>ICS</a:t>
            </a:r>
          </a:p>
        </p:txBody>
      </p:sp>
      <p:sp>
        <p:nvSpPr>
          <p:cNvPr id="92" name="&quot;Not Allowed&quot; Symbol 91">
            <a:extLst>
              <a:ext uri="{FF2B5EF4-FFF2-40B4-BE49-F238E27FC236}">
                <a16:creationId xmlns:a16="http://schemas.microsoft.com/office/drawing/2014/main" id="{FBBBF870-C0A9-8B38-C82B-C0F0DB0F080A}"/>
              </a:ext>
            </a:extLst>
          </p:cNvPr>
          <p:cNvSpPr/>
          <p:nvPr/>
        </p:nvSpPr>
        <p:spPr>
          <a:xfrm>
            <a:off x="420637" y="4141772"/>
            <a:ext cx="1481803" cy="1440545"/>
          </a:xfrm>
          <a:prstGeom prst="noSmoking">
            <a:avLst>
              <a:gd name="adj" fmla="val 5348"/>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3" name="Group A">
            <a:hlinkClick r:id="rId9" action="ppaction://hlinksldjump"/>
            <a:extLst>
              <a:ext uri="{FF2B5EF4-FFF2-40B4-BE49-F238E27FC236}">
                <a16:creationId xmlns:a16="http://schemas.microsoft.com/office/drawing/2014/main" id="{3C4F4276-7442-4523-DCE1-642CAFF48002}"/>
              </a:ext>
            </a:extLst>
          </p:cNvPr>
          <p:cNvSpPr/>
          <p:nvPr/>
        </p:nvSpPr>
        <p:spPr>
          <a:xfrm>
            <a:off x="2563879" y="1027377"/>
            <a:ext cx="1311573" cy="395275"/>
          </a:xfrm>
          <a:prstGeom prst="roundRect">
            <a:avLst/>
          </a:prstGeom>
          <a:solidFill>
            <a:schemeClr val="accent4"/>
          </a:solidFill>
          <a:ln w="38100">
            <a:solidFill>
              <a:schemeClr val="accent4"/>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Group A</a:t>
            </a:r>
          </a:p>
        </p:txBody>
      </p:sp>
      <p:cxnSp>
        <p:nvCxnSpPr>
          <p:cNvPr id="94" name="Straight Arrow Connector 93">
            <a:extLst>
              <a:ext uri="{FF2B5EF4-FFF2-40B4-BE49-F238E27FC236}">
                <a16:creationId xmlns:a16="http://schemas.microsoft.com/office/drawing/2014/main" id="{075DC747-2E54-BD44-477A-5D711AE017D3}"/>
              </a:ext>
            </a:extLst>
          </p:cNvPr>
          <p:cNvCxnSpPr>
            <a:cxnSpLocks/>
          </p:cNvCxnSpPr>
          <p:nvPr/>
        </p:nvCxnSpPr>
        <p:spPr>
          <a:xfrm>
            <a:off x="3212103" y="1589784"/>
            <a:ext cx="0" cy="571593"/>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sp>
        <p:nvSpPr>
          <p:cNvPr id="95" name="TextBox 94">
            <a:extLst>
              <a:ext uri="{FF2B5EF4-FFF2-40B4-BE49-F238E27FC236}">
                <a16:creationId xmlns:a16="http://schemas.microsoft.com/office/drawing/2014/main" id="{26DE508E-EAF7-DE84-32E5-790CB20E6BB9}"/>
              </a:ext>
            </a:extLst>
          </p:cNvPr>
          <p:cNvSpPr txBox="1"/>
          <p:nvPr/>
        </p:nvSpPr>
        <p:spPr>
          <a:xfrm>
            <a:off x="10363013" y="2447614"/>
            <a:ext cx="1481803" cy="1323439"/>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marL="115888" indent="-115888"/>
            <a:r>
              <a:rPr lang="en-US" sz="1600" dirty="0"/>
              <a:t>LVRS</a:t>
            </a:r>
          </a:p>
          <a:p>
            <a:pPr marL="115888" indent="-115888"/>
            <a:r>
              <a:rPr lang="en-US" sz="1600" dirty="0"/>
              <a:t>EB valve</a:t>
            </a:r>
          </a:p>
          <a:p>
            <a:pPr marL="115888" indent="-115888"/>
            <a:r>
              <a:rPr lang="en-US" sz="1600" dirty="0"/>
              <a:t>Lung transplant</a:t>
            </a:r>
          </a:p>
          <a:p>
            <a:pPr marL="115888" indent="-115888"/>
            <a:r>
              <a:rPr lang="en-US" sz="1600" dirty="0"/>
              <a:t>Azithromycin</a:t>
            </a:r>
          </a:p>
          <a:p>
            <a:pPr marL="115888" indent="-115888"/>
            <a:r>
              <a:rPr lang="en-US" sz="1600" dirty="0"/>
              <a:t>Roflumilast</a:t>
            </a:r>
          </a:p>
        </p:txBody>
      </p:sp>
      <p:cxnSp>
        <p:nvCxnSpPr>
          <p:cNvPr id="96" name="Straight Connector 95">
            <a:extLst>
              <a:ext uri="{FF2B5EF4-FFF2-40B4-BE49-F238E27FC236}">
                <a16:creationId xmlns:a16="http://schemas.microsoft.com/office/drawing/2014/main" id="{14EC07DE-A528-C31A-ECBD-E75616B13CAC}"/>
              </a:ext>
            </a:extLst>
          </p:cNvPr>
          <p:cNvCxnSpPr>
            <a:cxnSpLocks/>
            <a:stCxn id="38" idx="3"/>
            <a:endCxn id="95" idx="1"/>
          </p:cNvCxnSpPr>
          <p:nvPr/>
        </p:nvCxnSpPr>
        <p:spPr>
          <a:xfrm flipV="1">
            <a:off x="10180571" y="3109334"/>
            <a:ext cx="182442" cy="608"/>
          </a:xfrm>
          <a:prstGeom prst="line">
            <a:avLst/>
          </a:prstGeom>
        </p:spPr>
        <p:style>
          <a:lnRef idx="1">
            <a:schemeClr val="dk1"/>
          </a:lnRef>
          <a:fillRef idx="0">
            <a:schemeClr val="dk1"/>
          </a:fillRef>
          <a:effectRef idx="0">
            <a:schemeClr val="dk1"/>
          </a:effectRef>
          <a:fontRef idx="minor">
            <a:schemeClr val="tx1"/>
          </a:fontRef>
        </p:style>
      </p:cxnSp>
      <p:grpSp>
        <p:nvGrpSpPr>
          <p:cNvPr id="97" name="Group 96">
            <a:extLst>
              <a:ext uri="{FF2B5EF4-FFF2-40B4-BE49-F238E27FC236}">
                <a16:creationId xmlns:a16="http://schemas.microsoft.com/office/drawing/2014/main" id="{B72E2F21-A71B-7E78-0FDC-42EBC788A606}"/>
              </a:ext>
            </a:extLst>
          </p:cNvPr>
          <p:cNvGrpSpPr/>
          <p:nvPr/>
        </p:nvGrpSpPr>
        <p:grpSpPr>
          <a:xfrm>
            <a:off x="5261677" y="3961121"/>
            <a:ext cx="2046203" cy="420795"/>
            <a:chOff x="5407640" y="3032481"/>
            <a:chExt cx="1796564" cy="530425"/>
          </a:xfrm>
        </p:grpSpPr>
        <p:cxnSp>
          <p:nvCxnSpPr>
            <p:cNvPr id="98" name="Connector: Elbow 97">
              <a:extLst>
                <a:ext uri="{FF2B5EF4-FFF2-40B4-BE49-F238E27FC236}">
                  <a16:creationId xmlns:a16="http://schemas.microsoft.com/office/drawing/2014/main" id="{A92B77B5-0C1E-691A-84C5-A03FBBF11220}"/>
                </a:ext>
              </a:extLst>
            </p:cNvPr>
            <p:cNvCxnSpPr>
              <a:cxnSpLocks/>
            </p:cNvCxnSpPr>
            <p:nvPr/>
          </p:nvCxnSpPr>
          <p:spPr>
            <a:xfrm rot="5400000">
              <a:off x="6297917" y="2142204"/>
              <a:ext cx="16009" cy="1796564"/>
            </a:xfrm>
            <a:prstGeom prst="bentConnector3">
              <a:avLst>
                <a:gd name="adj1" fmla="val 1800000"/>
              </a:avLst>
            </a:prstGeom>
            <a:ln>
              <a:solidFill>
                <a:srgbClr val="FF0000"/>
              </a:solidFill>
              <a:tailEnd type="triangle"/>
            </a:ln>
          </p:spPr>
          <p:style>
            <a:lnRef idx="3">
              <a:schemeClr val="dk1"/>
            </a:lnRef>
            <a:fillRef idx="0">
              <a:schemeClr val="dk1"/>
            </a:fillRef>
            <a:effectRef idx="2">
              <a:schemeClr val="dk1"/>
            </a:effectRef>
            <a:fontRef idx="minor">
              <a:schemeClr val="tx1"/>
            </a:fontRef>
          </p:style>
        </p:cxnSp>
        <p:sp>
          <p:nvSpPr>
            <p:cNvPr id="99" name="TextBox 98">
              <a:extLst>
                <a:ext uri="{FF2B5EF4-FFF2-40B4-BE49-F238E27FC236}">
                  <a16:creationId xmlns:a16="http://schemas.microsoft.com/office/drawing/2014/main" id="{8D051299-BF83-E71C-35AE-BB05DCBE48A5}"/>
                </a:ext>
              </a:extLst>
            </p:cNvPr>
            <p:cNvSpPr txBox="1"/>
            <p:nvPr/>
          </p:nvSpPr>
          <p:spPr>
            <a:xfrm>
              <a:off x="5962093" y="3136149"/>
              <a:ext cx="773125" cy="426757"/>
            </a:xfrm>
            <a:prstGeom prst="rect">
              <a:avLst/>
            </a:prstGeom>
            <a:ln w="19050">
              <a:solidFill>
                <a:srgbClr val="FF0000"/>
              </a:solidFill>
            </a:ln>
          </p:spPr>
          <p:style>
            <a:lnRef idx="2">
              <a:schemeClr val="dk1"/>
            </a:lnRef>
            <a:fillRef idx="1">
              <a:schemeClr val="lt1"/>
            </a:fillRef>
            <a:effectRef idx="0">
              <a:schemeClr val="dk1"/>
            </a:effectRef>
            <a:fontRef idx="minor">
              <a:schemeClr val="dk1"/>
            </a:fontRef>
          </p:style>
          <p:txBody>
            <a:bodyPr wrap="square" rtlCol="0" anchor="ctr">
              <a:spAutoFit/>
            </a:bodyPr>
            <a:lstStyle/>
            <a:p>
              <a:pPr algn="ctr"/>
              <a:r>
                <a:rPr lang="en-US" sz="1600" dirty="0">
                  <a:solidFill>
                    <a:srgbClr val="FF0000"/>
                  </a:solidFill>
                </a:rPr>
                <a:t>↑ PNAs</a:t>
              </a:r>
            </a:p>
          </p:txBody>
        </p:sp>
      </p:grpSp>
      <p:sp>
        <p:nvSpPr>
          <p:cNvPr id="100" name="Persistent exacerbations">
            <a:extLst>
              <a:ext uri="{FF2B5EF4-FFF2-40B4-BE49-F238E27FC236}">
                <a16:creationId xmlns:a16="http://schemas.microsoft.com/office/drawing/2014/main" id="{BD9465D2-E157-C0A3-909A-764C83A1EE0B}"/>
              </a:ext>
            </a:extLst>
          </p:cNvPr>
          <p:cNvSpPr txBox="1"/>
          <p:nvPr/>
        </p:nvSpPr>
        <p:spPr>
          <a:xfrm>
            <a:off x="8579026" y="1560163"/>
            <a:ext cx="1635610"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rgbClr val="FF0000"/>
                </a:solidFill>
              </a:rPr>
              <a:t>Frequent PNAs</a:t>
            </a:r>
          </a:p>
        </p:txBody>
      </p:sp>
      <p:pic>
        <p:nvPicPr>
          <p:cNvPr id="101" name="Graphic 100" descr="Cursor with solid fill">
            <a:extLst>
              <a:ext uri="{FF2B5EF4-FFF2-40B4-BE49-F238E27FC236}">
                <a16:creationId xmlns:a16="http://schemas.microsoft.com/office/drawing/2014/main" id="{BC933295-4328-44E4-1CB2-513173E0C1A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088693" y="1842441"/>
            <a:ext cx="274320" cy="274320"/>
          </a:xfrm>
          <a:prstGeom prst="rect">
            <a:avLst/>
          </a:prstGeom>
        </p:spPr>
      </p:pic>
      <p:sp>
        <p:nvSpPr>
          <p:cNvPr id="18" name="Cases">
            <a:hlinkClick r:id="rId10" action="ppaction://hlinksldjump"/>
            <a:extLst>
              <a:ext uri="{FF2B5EF4-FFF2-40B4-BE49-F238E27FC236}">
                <a16:creationId xmlns:a16="http://schemas.microsoft.com/office/drawing/2014/main" id="{56CC2335-0334-ECF4-4180-4AE9B3D79E69}"/>
              </a:ext>
            </a:extLst>
          </p:cNvPr>
          <p:cNvSpPr txBox="1"/>
          <p:nvPr/>
        </p:nvSpPr>
        <p:spPr>
          <a:xfrm>
            <a:off x="181642" y="2447614"/>
            <a:ext cx="1645920"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Exacerbations</a:t>
            </a:r>
          </a:p>
        </p:txBody>
      </p:sp>
      <p:sp>
        <p:nvSpPr>
          <p:cNvPr id="20" name="Question 2">
            <a:hlinkClick r:id="rId11" action="ppaction://hlinksldjump"/>
            <a:extLst>
              <a:ext uri="{FF2B5EF4-FFF2-40B4-BE49-F238E27FC236}">
                <a16:creationId xmlns:a16="http://schemas.microsoft.com/office/drawing/2014/main" id="{A615A0A2-E0FF-7407-4DBF-4B4F08A54899}"/>
              </a:ext>
            </a:extLst>
          </p:cNvPr>
          <p:cNvSpPr txBox="1"/>
          <p:nvPr/>
        </p:nvSpPr>
        <p:spPr>
          <a:xfrm>
            <a:off x="181642" y="1875581"/>
            <a:ext cx="1645920"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Efficacy</a:t>
            </a:r>
          </a:p>
        </p:txBody>
      </p:sp>
      <p:pic>
        <p:nvPicPr>
          <p:cNvPr id="21" name="Graphic 20" descr="Cursor with solid fill">
            <a:extLst>
              <a:ext uri="{FF2B5EF4-FFF2-40B4-BE49-F238E27FC236}">
                <a16:creationId xmlns:a16="http://schemas.microsoft.com/office/drawing/2014/main" id="{0646C894-5010-85B2-D0D1-9A4B81DA9F95}"/>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701287" y="2722270"/>
            <a:ext cx="270869" cy="274320"/>
          </a:xfrm>
          <a:prstGeom prst="rect">
            <a:avLst/>
          </a:prstGeom>
        </p:spPr>
      </p:pic>
      <p:pic>
        <p:nvPicPr>
          <p:cNvPr id="26" name="Graphic 25" descr="Cursor with solid fill">
            <a:extLst>
              <a:ext uri="{FF2B5EF4-FFF2-40B4-BE49-F238E27FC236}">
                <a16:creationId xmlns:a16="http://schemas.microsoft.com/office/drawing/2014/main" id="{22F14F75-0005-12D1-9907-512FF6804041}"/>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701287" y="2150676"/>
            <a:ext cx="274320" cy="274320"/>
          </a:xfrm>
          <a:prstGeom prst="rect">
            <a:avLst/>
          </a:prstGeom>
        </p:spPr>
      </p:pic>
      <p:sp>
        <p:nvSpPr>
          <p:cNvPr id="28" name="Cases">
            <a:hlinkClick r:id="rId12" action="ppaction://hlinksldjump"/>
            <a:extLst>
              <a:ext uri="{FF2B5EF4-FFF2-40B4-BE49-F238E27FC236}">
                <a16:creationId xmlns:a16="http://schemas.microsoft.com/office/drawing/2014/main" id="{1A914E37-3806-D26A-9813-873F9A2B54E1}"/>
              </a:ext>
            </a:extLst>
          </p:cNvPr>
          <p:cNvSpPr txBox="1"/>
          <p:nvPr/>
        </p:nvSpPr>
        <p:spPr>
          <a:xfrm>
            <a:off x="181642" y="3020377"/>
            <a:ext cx="1645920"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Cases</a:t>
            </a:r>
          </a:p>
        </p:txBody>
      </p:sp>
      <p:pic>
        <p:nvPicPr>
          <p:cNvPr id="33" name="Graphic 32" descr="Cursor with solid fill">
            <a:extLst>
              <a:ext uri="{FF2B5EF4-FFF2-40B4-BE49-F238E27FC236}">
                <a16:creationId xmlns:a16="http://schemas.microsoft.com/office/drawing/2014/main" id="{B032B923-29AF-FFCB-E686-E2539BA21249}"/>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701287" y="3295033"/>
            <a:ext cx="270869" cy="274320"/>
          </a:xfrm>
          <a:prstGeom prst="rect">
            <a:avLst/>
          </a:prstGeom>
        </p:spPr>
      </p:pic>
      <p:pic>
        <p:nvPicPr>
          <p:cNvPr id="37" name="Graphic 36" descr="Cursor with solid fill">
            <a:extLst>
              <a:ext uri="{FF2B5EF4-FFF2-40B4-BE49-F238E27FC236}">
                <a16:creationId xmlns:a16="http://schemas.microsoft.com/office/drawing/2014/main" id="{E11A3145-A0B7-56C5-95BD-A733B860C1E6}"/>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701287" y="2723439"/>
            <a:ext cx="274320" cy="274320"/>
          </a:xfrm>
          <a:prstGeom prst="rect">
            <a:avLst/>
          </a:prstGeom>
        </p:spPr>
      </p:pic>
    </p:spTree>
    <p:extLst>
      <p:ext uri="{BB962C8B-B14F-4D97-AF65-F5344CB8AC3E}">
        <p14:creationId xmlns:p14="http://schemas.microsoft.com/office/powerpoint/2010/main" val="624397475"/>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00"/>
                    </p:tgtEl>
                  </p:cond>
                </p:stCondLst>
                <p:endSync evt="end" delay="0">
                  <p:rtn val="all"/>
                </p:endSync>
                <p:childTnLst>
                  <p:par>
                    <p:cTn id="3" fill="hold">
                      <p:stCondLst>
                        <p:cond delay="0"/>
                      </p:stCondLst>
                      <p:childTnLst>
                        <p:par>
                          <p:cTn id="4" fill="hold">
                            <p:stCondLst>
                              <p:cond delay="0"/>
                            </p:stCondLst>
                            <p:childTnLst>
                              <p:par>
                                <p:cTn id="5" presetID="1" presetClass="exit" presetSubtype="0" fill="hold" grpId="0" nodeType="withEffect">
                                  <p:stCondLst>
                                    <p:cond delay="0"/>
                                  </p:stCondLst>
                                  <p:childTnLst>
                                    <p:set>
                                      <p:cBhvr>
                                        <p:cTn id="6" dur="1" fill="hold">
                                          <p:stCondLst>
                                            <p:cond delay="0"/>
                                          </p:stCondLst>
                                        </p:cTn>
                                        <p:tgtEl>
                                          <p:spTgt spid="100"/>
                                        </p:tgtEl>
                                        <p:attrNameLst>
                                          <p:attrName>style.visibility</p:attrName>
                                        </p:attrNameLst>
                                      </p:cBhvr>
                                      <p:to>
                                        <p:strVal val="hidden"/>
                                      </p:to>
                                    </p:set>
                                  </p:childTnLst>
                                </p:cTn>
                              </p:par>
                              <p:par>
                                <p:cTn id="7" presetID="1" presetClass="exit" presetSubtype="0" fill="hold" nodeType="withEffect">
                                  <p:stCondLst>
                                    <p:cond delay="0"/>
                                  </p:stCondLst>
                                  <p:childTnLst>
                                    <p:set>
                                      <p:cBhvr>
                                        <p:cTn id="8" dur="1" fill="hold">
                                          <p:stCondLst>
                                            <p:cond delay="0"/>
                                          </p:stCondLst>
                                        </p:cTn>
                                        <p:tgtEl>
                                          <p:spTgt spid="101"/>
                                        </p:tgtEl>
                                        <p:attrNameLst>
                                          <p:attrName>style.visibility</p:attrName>
                                        </p:attrNameLst>
                                      </p:cBhvr>
                                      <p:to>
                                        <p:strVal val="hidden"/>
                                      </p:to>
                                    </p:set>
                                  </p:childTnLst>
                                </p:cTn>
                              </p:par>
                              <p:par>
                                <p:cTn id="9" presetID="1" presetClass="entr" presetSubtype="0" fill="hold" nodeType="withEffect">
                                  <p:stCondLst>
                                    <p:cond delay="0"/>
                                  </p:stCondLst>
                                  <p:childTnLst>
                                    <p:set>
                                      <p:cBhvr>
                                        <p:cTn id="10" dur="1" fill="hold">
                                          <p:stCondLst>
                                            <p:cond delay="0"/>
                                          </p:stCondLst>
                                        </p:cTn>
                                        <p:tgtEl>
                                          <p:spTgt spid="97"/>
                                        </p:tgtEl>
                                        <p:attrNameLst>
                                          <p:attrName>style.visibility</p:attrName>
                                        </p:attrNameLst>
                                      </p:cBhvr>
                                      <p:to>
                                        <p:strVal val="visible"/>
                                      </p:to>
                                    </p:set>
                                  </p:childTnLst>
                                </p:cTn>
                              </p:par>
                            </p:childTnLst>
                          </p:cTn>
                        </p:par>
                      </p:childTnLst>
                    </p:cTn>
                  </p:par>
                </p:childTnLst>
              </p:cTn>
              <p:nextCondLst>
                <p:cond evt="onClick" delay="0">
                  <p:tgtEl>
                    <p:spTgt spid="100"/>
                  </p:tgtEl>
                </p:cond>
              </p:nextCondLst>
            </p:seq>
          </p:childTnLst>
        </p:cTn>
      </p:par>
    </p:tnLst>
    <p:bldLst>
      <p:bldP spid="100" grpId="0" animBg="1"/>
    </p:bldLst>
  </p:timing>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6" name="Rectangle: Rounded Corners 45">
            <a:extLst>
              <a:ext uri="{FF2B5EF4-FFF2-40B4-BE49-F238E27FC236}">
                <a16:creationId xmlns:a16="http://schemas.microsoft.com/office/drawing/2014/main" id="{5D8B91D4-71DD-7820-094F-0DBC79EBE444}"/>
              </a:ext>
            </a:extLst>
          </p:cNvPr>
          <p:cNvSpPr/>
          <p:nvPr/>
        </p:nvSpPr>
        <p:spPr>
          <a:xfrm>
            <a:off x="9914825" y="3779670"/>
            <a:ext cx="1395294" cy="457200"/>
          </a:xfrm>
          <a:prstGeom prst="roundRect">
            <a:avLst/>
          </a:prstGeom>
          <a:solidFill>
            <a:schemeClr val="tx1"/>
          </a:solidFill>
          <a:ln w="38100"/>
          <a:effectLst/>
        </p:spPr>
        <p:style>
          <a:lnRef idx="2">
            <a:schemeClr val="dk1"/>
          </a:lnRef>
          <a:fillRef idx="1">
            <a:schemeClr val="lt1"/>
          </a:fillRef>
          <a:effectRef idx="0">
            <a:schemeClr val="dk1"/>
          </a:effectRef>
          <a:fontRef idx="minor">
            <a:schemeClr val="dk1"/>
          </a:fontRef>
        </p:style>
        <p:txBody>
          <a:bodyPr rtlCol="0" anchor="ctr"/>
          <a:lstStyle/>
          <a:p>
            <a:pPr algn="ctr"/>
            <a:r>
              <a:rPr lang="en-US" dirty="0">
                <a:solidFill>
                  <a:schemeClr val="bg1"/>
                </a:solidFill>
              </a:rPr>
              <a:t>Blood </a:t>
            </a:r>
            <a:r>
              <a:rPr lang="en-US" dirty="0" err="1">
                <a:solidFill>
                  <a:schemeClr val="bg1"/>
                </a:solidFill>
              </a:rPr>
              <a:t>eos</a:t>
            </a:r>
            <a:endParaRPr lang="en-US" dirty="0">
              <a:solidFill>
                <a:schemeClr val="bg1"/>
              </a:solidFill>
            </a:endParaRPr>
          </a:p>
        </p:txBody>
      </p:sp>
      <p:sp>
        <p:nvSpPr>
          <p:cNvPr id="126" name="Rectangle: Rounded Corners 125">
            <a:extLst>
              <a:ext uri="{FF2B5EF4-FFF2-40B4-BE49-F238E27FC236}">
                <a16:creationId xmlns:a16="http://schemas.microsoft.com/office/drawing/2014/main" id="{B24B244C-3753-06DF-6DCB-05198D1BC6FF}"/>
              </a:ext>
            </a:extLst>
          </p:cNvPr>
          <p:cNvSpPr/>
          <p:nvPr/>
        </p:nvSpPr>
        <p:spPr>
          <a:xfrm>
            <a:off x="6101776" y="676083"/>
            <a:ext cx="1583871" cy="457200"/>
          </a:xfrm>
          <a:prstGeom prst="roundRect">
            <a:avLst/>
          </a:prstGeom>
          <a:solidFill>
            <a:schemeClr val="accent4"/>
          </a:solidFill>
          <a:ln w="38100">
            <a:solidFill>
              <a:schemeClr val="accent4"/>
            </a:solidFill>
          </a:ln>
          <a:effectLst/>
        </p:spPr>
        <p:style>
          <a:lnRef idx="2">
            <a:schemeClr val="dk1"/>
          </a:lnRef>
          <a:fillRef idx="1">
            <a:schemeClr val="lt1"/>
          </a:fillRef>
          <a:effectRef idx="0">
            <a:schemeClr val="dk1"/>
          </a:effectRef>
          <a:fontRef idx="minor">
            <a:schemeClr val="dk1"/>
          </a:fontRef>
        </p:style>
        <p:txBody>
          <a:bodyPr rtlCol="0" anchor="ctr"/>
          <a:lstStyle/>
          <a:p>
            <a:pPr algn="ctr"/>
            <a:r>
              <a:rPr lang="en-US" dirty="0">
                <a:solidFill>
                  <a:schemeClr val="bg1"/>
                </a:solidFill>
              </a:rPr>
              <a:t>Group A </a:t>
            </a:r>
          </a:p>
        </p:txBody>
      </p:sp>
      <p:sp>
        <p:nvSpPr>
          <p:cNvPr id="127" name="Rectangle: Rounded Corners 126">
            <a:extLst>
              <a:ext uri="{FF2B5EF4-FFF2-40B4-BE49-F238E27FC236}">
                <a16:creationId xmlns:a16="http://schemas.microsoft.com/office/drawing/2014/main" id="{74EEF730-9740-64DF-46C8-8F72DF85EB73}"/>
              </a:ext>
            </a:extLst>
          </p:cNvPr>
          <p:cNvSpPr/>
          <p:nvPr/>
        </p:nvSpPr>
        <p:spPr>
          <a:xfrm>
            <a:off x="2583461" y="1542403"/>
            <a:ext cx="1583871" cy="457200"/>
          </a:xfrm>
          <a:prstGeom prst="roundRect">
            <a:avLst/>
          </a:prstGeom>
          <a:solidFill>
            <a:schemeClr val="accent2"/>
          </a:solidFill>
          <a:ln w="38100"/>
          <a:effectLst/>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bg1"/>
                </a:solidFill>
              </a:rPr>
              <a:t>Group B </a:t>
            </a:r>
          </a:p>
        </p:txBody>
      </p:sp>
      <p:sp>
        <p:nvSpPr>
          <p:cNvPr id="128" name="Rectangle: Rounded Corners 127">
            <a:extLst>
              <a:ext uri="{FF2B5EF4-FFF2-40B4-BE49-F238E27FC236}">
                <a16:creationId xmlns:a16="http://schemas.microsoft.com/office/drawing/2014/main" id="{429A64C2-AC0F-5323-B5A0-5812CAC4F0E3}"/>
              </a:ext>
            </a:extLst>
          </p:cNvPr>
          <p:cNvSpPr/>
          <p:nvPr/>
        </p:nvSpPr>
        <p:spPr>
          <a:xfrm>
            <a:off x="9806683" y="1542403"/>
            <a:ext cx="1583871" cy="457200"/>
          </a:xfrm>
          <a:prstGeom prst="roundRect">
            <a:avLst/>
          </a:prstGeom>
          <a:solidFill>
            <a:srgbClr val="FF0000"/>
          </a:solidFill>
          <a:ln w="38100">
            <a:solidFill>
              <a:srgbClr val="FF0000"/>
            </a:solidFill>
          </a:ln>
          <a:effectLst/>
        </p:spPr>
        <p:style>
          <a:lnRef idx="2">
            <a:schemeClr val="dk1"/>
          </a:lnRef>
          <a:fillRef idx="1">
            <a:schemeClr val="lt1"/>
          </a:fillRef>
          <a:effectRef idx="0">
            <a:schemeClr val="dk1"/>
          </a:effectRef>
          <a:fontRef idx="minor">
            <a:schemeClr val="dk1"/>
          </a:fontRef>
        </p:style>
        <p:txBody>
          <a:bodyPr rtlCol="0" anchor="ctr"/>
          <a:lstStyle/>
          <a:p>
            <a:pPr algn="ctr"/>
            <a:r>
              <a:rPr lang="en-US" dirty="0">
                <a:solidFill>
                  <a:schemeClr val="bg1"/>
                </a:solidFill>
              </a:rPr>
              <a:t>Group E </a:t>
            </a:r>
          </a:p>
        </p:txBody>
      </p:sp>
      <p:sp>
        <p:nvSpPr>
          <p:cNvPr id="18" name="question 1">
            <a:hlinkClick r:id="rId3" action="ppaction://hlinksldjump"/>
            <a:extLst>
              <a:ext uri="{FF2B5EF4-FFF2-40B4-BE49-F238E27FC236}">
                <a16:creationId xmlns:a16="http://schemas.microsoft.com/office/drawing/2014/main" id="{EE628393-3736-0FC7-770C-47E93D27DF4D}"/>
              </a:ext>
            </a:extLst>
          </p:cNvPr>
          <p:cNvSpPr txBox="1"/>
          <p:nvPr/>
        </p:nvSpPr>
        <p:spPr>
          <a:xfrm>
            <a:off x="181642" y="159488"/>
            <a:ext cx="1645920"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Diagnosis</a:t>
            </a:r>
          </a:p>
        </p:txBody>
      </p:sp>
      <p:pic>
        <p:nvPicPr>
          <p:cNvPr id="19" name="Graphic 18" descr="Cursor with solid fill">
            <a:extLst>
              <a:ext uri="{FF2B5EF4-FFF2-40B4-BE49-F238E27FC236}">
                <a16:creationId xmlns:a16="http://schemas.microsoft.com/office/drawing/2014/main" id="{4213D4A3-D314-3A4C-7247-EC726D16C86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682625" y="417235"/>
            <a:ext cx="301752" cy="301752"/>
          </a:xfrm>
          <a:prstGeom prst="rect">
            <a:avLst/>
          </a:prstGeom>
        </p:spPr>
      </p:pic>
      <p:sp>
        <p:nvSpPr>
          <p:cNvPr id="21" name="Question 2">
            <a:hlinkClick r:id="rId6" action="ppaction://hlinksldjump"/>
            <a:extLst>
              <a:ext uri="{FF2B5EF4-FFF2-40B4-BE49-F238E27FC236}">
                <a16:creationId xmlns:a16="http://schemas.microsoft.com/office/drawing/2014/main" id="{75469327-031E-0B4A-8F58-5737593BCA58}"/>
              </a:ext>
            </a:extLst>
          </p:cNvPr>
          <p:cNvSpPr txBox="1"/>
          <p:nvPr/>
        </p:nvSpPr>
        <p:spPr>
          <a:xfrm>
            <a:off x="181642" y="1303550"/>
            <a:ext cx="1645920"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Management</a:t>
            </a:r>
          </a:p>
        </p:txBody>
      </p:sp>
      <p:sp>
        <p:nvSpPr>
          <p:cNvPr id="22" name="Cases">
            <a:hlinkClick r:id="" action="ppaction://noaction"/>
            <a:extLst>
              <a:ext uri="{FF2B5EF4-FFF2-40B4-BE49-F238E27FC236}">
                <a16:creationId xmlns:a16="http://schemas.microsoft.com/office/drawing/2014/main" id="{7900A096-E607-632B-C2B4-670652614DA4}"/>
              </a:ext>
            </a:extLst>
          </p:cNvPr>
          <p:cNvSpPr txBox="1"/>
          <p:nvPr/>
        </p:nvSpPr>
        <p:spPr>
          <a:xfrm>
            <a:off x="181642" y="2447614"/>
            <a:ext cx="1645920"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Cases</a:t>
            </a:r>
          </a:p>
        </p:txBody>
      </p:sp>
      <p:pic>
        <p:nvPicPr>
          <p:cNvPr id="25" name="Graphic 24" descr="Cursor with solid fill">
            <a:extLst>
              <a:ext uri="{FF2B5EF4-FFF2-40B4-BE49-F238E27FC236}">
                <a16:creationId xmlns:a16="http://schemas.microsoft.com/office/drawing/2014/main" id="{726750B5-66DA-DBED-078C-5B9051772E8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682625" y="2722270"/>
            <a:ext cx="297955" cy="301752"/>
          </a:xfrm>
          <a:prstGeom prst="rect">
            <a:avLst/>
          </a:prstGeom>
        </p:spPr>
      </p:pic>
      <p:sp>
        <p:nvSpPr>
          <p:cNvPr id="30" name="Question 2">
            <a:hlinkClick r:id="rId6" action="ppaction://hlinksldjump"/>
            <a:extLst>
              <a:ext uri="{FF2B5EF4-FFF2-40B4-BE49-F238E27FC236}">
                <a16:creationId xmlns:a16="http://schemas.microsoft.com/office/drawing/2014/main" id="{4F408CFD-19D2-F872-567A-45BE53C79534}"/>
              </a:ext>
            </a:extLst>
          </p:cNvPr>
          <p:cNvSpPr txBox="1"/>
          <p:nvPr/>
        </p:nvSpPr>
        <p:spPr>
          <a:xfrm>
            <a:off x="181642" y="731519"/>
            <a:ext cx="1645920"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Classification</a:t>
            </a:r>
          </a:p>
        </p:txBody>
      </p:sp>
      <p:pic>
        <p:nvPicPr>
          <p:cNvPr id="32" name="Graphic 31" descr="Cursor with solid fill">
            <a:extLst>
              <a:ext uri="{FF2B5EF4-FFF2-40B4-BE49-F238E27FC236}">
                <a16:creationId xmlns:a16="http://schemas.microsoft.com/office/drawing/2014/main" id="{38879588-0FC7-BC32-11D2-FCBCEDDA2B2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682625" y="993494"/>
            <a:ext cx="301752" cy="301752"/>
          </a:xfrm>
          <a:prstGeom prst="rect">
            <a:avLst/>
          </a:prstGeom>
        </p:spPr>
      </p:pic>
      <p:pic>
        <p:nvPicPr>
          <p:cNvPr id="33" name="Graphic 32" descr="Cursor with solid fill">
            <a:extLst>
              <a:ext uri="{FF2B5EF4-FFF2-40B4-BE49-F238E27FC236}">
                <a16:creationId xmlns:a16="http://schemas.microsoft.com/office/drawing/2014/main" id="{BD9FC1E3-47C1-E82D-91FD-4623621B393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682625" y="1569753"/>
            <a:ext cx="301752" cy="301752"/>
          </a:xfrm>
          <a:prstGeom prst="rect">
            <a:avLst/>
          </a:prstGeom>
        </p:spPr>
      </p:pic>
      <p:sp>
        <p:nvSpPr>
          <p:cNvPr id="36" name="Question 2">
            <a:hlinkClick r:id="rId6" action="ppaction://hlinksldjump"/>
            <a:extLst>
              <a:ext uri="{FF2B5EF4-FFF2-40B4-BE49-F238E27FC236}">
                <a16:creationId xmlns:a16="http://schemas.microsoft.com/office/drawing/2014/main" id="{234B4C40-64EE-AD25-D31F-6FF48DF62517}"/>
              </a:ext>
            </a:extLst>
          </p:cNvPr>
          <p:cNvSpPr txBox="1"/>
          <p:nvPr/>
        </p:nvSpPr>
        <p:spPr>
          <a:xfrm>
            <a:off x="181642" y="1875581"/>
            <a:ext cx="1645920"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Efficacy</a:t>
            </a:r>
          </a:p>
        </p:txBody>
      </p:sp>
      <p:pic>
        <p:nvPicPr>
          <p:cNvPr id="40" name="Graphic 39" descr="Cursor with solid fill">
            <a:extLst>
              <a:ext uri="{FF2B5EF4-FFF2-40B4-BE49-F238E27FC236}">
                <a16:creationId xmlns:a16="http://schemas.microsoft.com/office/drawing/2014/main" id="{F307D63D-3403-4DBD-332B-F66188A5353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682625" y="2146012"/>
            <a:ext cx="301752" cy="301752"/>
          </a:xfrm>
          <a:prstGeom prst="rect">
            <a:avLst/>
          </a:prstGeom>
        </p:spPr>
      </p:pic>
      <p:sp>
        <p:nvSpPr>
          <p:cNvPr id="2" name="TextBox 1">
            <a:extLst>
              <a:ext uri="{FF2B5EF4-FFF2-40B4-BE49-F238E27FC236}">
                <a16:creationId xmlns:a16="http://schemas.microsoft.com/office/drawing/2014/main" id="{25A4CE42-DA69-66E2-6762-62AD3F1086C5}"/>
              </a:ext>
            </a:extLst>
          </p:cNvPr>
          <p:cNvSpPr txBox="1"/>
          <p:nvPr/>
        </p:nvSpPr>
        <p:spPr>
          <a:xfrm>
            <a:off x="3378721" y="110643"/>
            <a:ext cx="7116561" cy="461665"/>
          </a:xfrm>
          <a:prstGeom prst="rect">
            <a:avLst/>
          </a:prstGeom>
          <a:noFill/>
        </p:spPr>
        <p:txBody>
          <a:bodyPr wrap="square" rtlCol="0">
            <a:spAutoFit/>
          </a:bodyPr>
          <a:lstStyle/>
          <a:p>
            <a:pPr algn="ctr"/>
            <a:r>
              <a:rPr lang="en-US" sz="2400" b="1" dirty="0"/>
              <a:t>Management</a:t>
            </a:r>
          </a:p>
        </p:txBody>
      </p:sp>
      <p:sp>
        <p:nvSpPr>
          <p:cNvPr id="4" name="Group A">
            <a:extLst>
              <a:ext uri="{FF2B5EF4-FFF2-40B4-BE49-F238E27FC236}">
                <a16:creationId xmlns:a16="http://schemas.microsoft.com/office/drawing/2014/main" id="{23513D11-3FC4-D8FB-41CC-0FB7DDCFE937}"/>
              </a:ext>
            </a:extLst>
          </p:cNvPr>
          <p:cNvSpPr/>
          <p:nvPr/>
        </p:nvSpPr>
        <p:spPr>
          <a:xfrm>
            <a:off x="6096000" y="682942"/>
            <a:ext cx="1583871" cy="457200"/>
          </a:xfrm>
          <a:prstGeom prst="roundRect">
            <a:avLst/>
          </a:prstGeom>
          <a:ln w="38100">
            <a:solidFill>
              <a:schemeClr val="accent4"/>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r>
              <a:rPr lang="en-US" dirty="0">
                <a:solidFill>
                  <a:schemeClr val="accent4"/>
                </a:solidFill>
              </a:rPr>
              <a:t>Group A </a:t>
            </a:r>
          </a:p>
        </p:txBody>
      </p:sp>
      <p:sp>
        <p:nvSpPr>
          <p:cNvPr id="14" name="Group B">
            <a:extLst>
              <a:ext uri="{FF2B5EF4-FFF2-40B4-BE49-F238E27FC236}">
                <a16:creationId xmlns:a16="http://schemas.microsoft.com/office/drawing/2014/main" id="{07C74ED8-BBA7-B65D-447C-F3DDCCED46F1}"/>
              </a:ext>
            </a:extLst>
          </p:cNvPr>
          <p:cNvSpPr/>
          <p:nvPr/>
        </p:nvSpPr>
        <p:spPr>
          <a:xfrm>
            <a:off x="2577685" y="1542403"/>
            <a:ext cx="1583871" cy="457200"/>
          </a:xfrm>
          <a:prstGeom prst="roundRect">
            <a:avLst/>
          </a:prstGeom>
          <a:ln w="38100"/>
          <a:effectLst>
            <a:outerShdw blurRad="50800" dist="38100" dir="2700000" algn="tl" rotWithShape="0">
              <a:prstClr val="black">
                <a:alpha val="40000"/>
              </a:prstClr>
            </a:outerShdw>
          </a:effectLst>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accent2"/>
                </a:solidFill>
              </a:rPr>
              <a:t>Group B </a:t>
            </a:r>
          </a:p>
        </p:txBody>
      </p:sp>
      <p:cxnSp>
        <p:nvCxnSpPr>
          <p:cNvPr id="15" name="Straight Arrow Connector 14">
            <a:extLst>
              <a:ext uri="{FF2B5EF4-FFF2-40B4-BE49-F238E27FC236}">
                <a16:creationId xmlns:a16="http://schemas.microsoft.com/office/drawing/2014/main" id="{CF1121DC-3AD3-1DA3-A4D7-00F5C416DF35}"/>
              </a:ext>
            </a:extLst>
          </p:cNvPr>
          <p:cNvCxnSpPr>
            <a:cxnSpLocks/>
            <a:endCxn id="16" idx="0"/>
          </p:cNvCxnSpPr>
          <p:nvPr/>
        </p:nvCxnSpPr>
        <p:spPr>
          <a:xfrm flipH="1">
            <a:off x="3383475" y="2030743"/>
            <a:ext cx="1" cy="22553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6" name="Rectangle 15">
            <a:extLst>
              <a:ext uri="{FF2B5EF4-FFF2-40B4-BE49-F238E27FC236}">
                <a16:creationId xmlns:a16="http://schemas.microsoft.com/office/drawing/2014/main" id="{38C760EE-4E35-B5B3-F6B7-83ACD64EC1A2}"/>
              </a:ext>
            </a:extLst>
          </p:cNvPr>
          <p:cNvSpPr/>
          <p:nvPr/>
        </p:nvSpPr>
        <p:spPr>
          <a:xfrm>
            <a:off x="2371461" y="2256276"/>
            <a:ext cx="2024028" cy="4572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dirty="0"/>
              <a:t>LABA+LAMA</a:t>
            </a:r>
          </a:p>
        </p:txBody>
      </p:sp>
      <p:sp>
        <p:nvSpPr>
          <p:cNvPr id="17" name="Group E">
            <a:extLst>
              <a:ext uri="{FF2B5EF4-FFF2-40B4-BE49-F238E27FC236}">
                <a16:creationId xmlns:a16="http://schemas.microsoft.com/office/drawing/2014/main" id="{F8B6CD59-7111-7BFC-888F-68D26852865E}"/>
              </a:ext>
            </a:extLst>
          </p:cNvPr>
          <p:cNvSpPr/>
          <p:nvPr/>
        </p:nvSpPr>
        <p:spPr>
          <a:xfrm>
            <a:off x="9806683" y="1542403"/>
            <a:ext cx="1583871" cy="457200"/>
          </a:xfrm>
          <a:prstGeom prst="roundRect">
            <a:avLst/>
          </a:prstGeom>
          <a:ln w="38100">
            <a:solidFill>
              <a:srgbClr val="FF0000"/>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r>
              <a:rPr lang="en-US" dirty="0">
                <a:solidFill>
                  <a:srgbClr val="FF0000"/>
                </a:solidFill>
              </a:rPr>
              <a:t>Group E </a:t>
            </a:r>
          </a:p>
        </p:txBody>
      </p:sp>
      <p:sp>
        <p:nvSpPr>
          <p:cNvPr id="23" name="Rectangle 22">
            <a:extLst>
              <a:ext uri="{FF2B5EF4-FFF2-40B4-BE49-F238E27FC236}">
                <a16:creationId xmlns:a16="http://schemas.microsoft.com/office/drawing/2014/main" id="{4E62CD31-D78B-FEE5-0500-4FF9E462E15E}"/>
              </a:ext>
            </a:extLst>
          </p:cNvPr>
          <p:cNvSpPr/>
          <p:nvPr/>
        </p:nvSpPr>
        <p:spPr>
          <a:xfrm>
            <a:off x="9600460" y="2284543"/>
            <a:ext cx="2024028" cy="683186"/>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dirty="0"/>
              <a:t>LABA+LAMA</a:t>
            </a:r>
          </a:p>
          <a:p>
            <a:pPr algn="ctr"/>
            <a:r>
              <a:rPr lang="en-US" dirty="0"/>
              <a:t>± ICS </a:t>
            </a:r>
            <a:r>
              <a:rPr lang="en-US" sz="1600" dirty="0"/>
              <a:t>if </a:t>
            </a:r>
            <a:r>
              <a:rPr lang="en-US" sz="1600" dirty="0" err="1"/>
              <a:t>eos</a:t>
            </a:r>
            <a:r>
              <a:rPr lang="en-US" sz="1600" dirty="0"/>
              <a:t> ≥300</a:t>
            </a:r>
          </a:p>
        </p:txBody>
      </p:sp>
      <p:sp>
        <p:nvSpPr>
          <p:cNvPr id="44" name="TextBox 43">
            <a:extLst>
              <a:ext uri="{FF2B5EF4-FFF2-40B4-BE49-F238E27FC236}">
                <a16:creationId xmlns:a16="http://schemas.microsoft.com/office/drawing/2014/main" id="{A0B3E9E9-9F17-8356-21EF-CFFBEF867BD8}"/>
              </a:ext>
            </a:extLst>
          </p:cNvPr>
          <p:cNvSpPr txBox="1"/>
          <p:nvPr/>
        </p:nvSpPr>
        <p:spPr>
          <a:xfrm>
            <a:off x="2464831" y="849564"/>
            <a:ext cx="1809577" cy="646331"/>
          </a:xfrm>
          <a:prstGeom prst="rect">
            <a:avLst/>
          </a:prstGeom>
          <a:noFill/>
        </p:spPr>
        <p:txBody>
          <a:bodyPr wrap="square" rtlCol="0">
            <a:spAutoFit/>
          </a:bodyPr>
          <a:lstStyle/>
          <a:p>
            <a:pPr algn="ctr"/>
            <a:r>
              <a:rPr lang="en-US" b="1" dirty="0"/>
              <a:t>Dyspnea predominant</a:t>
            </a:r>
          </a:p>
        </p:txBody>
      </p:sp>
      <p:sp>
        <p:nvSpPr>
          <p:cNvPr id="66" name="TextBox 65">
            <a:extLst>
              <a:ext uri="{FF2B5EF4-FFF2-40B4-BE49-F238E27FC236}">
                <a16:creationId xmlns:a16="http://schemas.microsoft.com/office/drawing/2014/main" id="{D664E911-7B27-C80E-AD35-2326A1739F98}"/>
              </a:ext>
            </a:extLst>
          </p:cNvPr>
          <p:cNvSpPr txBox="1"/>
          <p:nvPr/>
        </p:nvSpPr>
        <p:spPr>
          <a:xfrm>
            <a:off x="9693829" y="855189"/>
            <a:ext cx="1809577" cy="646331"/>
          </a:xfrm>
          <a:prstGeom prst="rect">
            <a:avLst/>
          </a:prstGeom>
          <a:noFill/>
        </p:spPr>
        <p:txBody>
          <a:bodyPr wrap="square" rtlCol="0">
            <a:spAutoFit/>
          </a:bodyPr>
          <a:lstStyle/>
          <a:p>
            <a:pPr algn="ctr"/>
            <a:r>
              <a:rPr lang="en-US" b="1" dirty="0"/>
              <a:t>Exacerbation predominant</a:t>
            </a:r>
          </a:p>
        </p:txBody>
      </p:sp>
      <p:cxnSp>
        <p:nvCxnSpPr>
          <p:cNvPr id="69" name="Straight Arrow Connector 68">
            <a:extLst>
              <a:ext uri="{FF2B5EF4-FFF2-40B4-BE49-F238E27FC236}">
                <a16:creationId xmlns:a16="http://schemas.microsoft.com/office/drawing/2014/main" id="{30192C2E-BC03-E3A3-CF2A-37C177E99E45}"/>
              </a:ext>
            </a:extLst>
          </p:cNvPr>
          <p:cNvCxnSpPr>
            <a:cxnSpLocks/>
            <a:stCxn id="16" idx="2"/>
            <a:endCxn id="75" idx="0"/>
          </p:cNvCxnSpPr>
          <p:nvPr/>
        </p:nvCxnSpPr>
        <p:spPr>
          <a:xfrm flipH="1">
            <a:off x="3378721" y="2713476"/>
            <a:ext cx="4754" cy="88420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75" name="Rectangle 74">
            <a:extLst>
              <a:ext uri="{FF2B5EF4-FFF2-40B4-BE49-F238E27FC236}">
                <a16:creationId xmlns:a16="http://schemas.microsoft.com/office/drawing/2014/main" id="{5C129803-9BF1-8C43-843A-6EBF25C93730}"/>
              </a:ext>
            </a:extLst>
          </p:cNvPr>
          <p:cNvSpPr/>
          <p:nvPr/>
        </p:nvSpPr>
        <p:spPr>
          <a:xfrm>
            <a:off x="2322156" y="3597680"/>
            <a:ext cx="2113130" cy="109369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marL="115888" indent="-115888" algn="ctr">
              <a:buFont typeface="Arial" panose="020B0604020202020204" pitchFamily="34" charset="0"/>
              <a:buChar char="•"/>
            </a:pPr>
            <a:r>
              <a:rPr lang="en-US" dirty="0"/>
              <a:t>Switch inhaler</a:t>
            </a:r>
          </a:p>
          <a:p>
            <a:pPr marL="115888" indent="-115888" algn="ctr">
              <a:buFont typeface="Arial" panose="020B0604020202020204" pitchFamily="34" charset="0"/>
              <a:buChar char="•"/>
            </a:pPr>
            <a:r>
              <a:rPr lang="en-US" dirty="0"/>
              <a:t>Non-pharm </a:t>
            </a:r>
            <a:r>
              <a:rPr lang="en-US" dirty="0" err="1"/>
              <a:t>tx</a:t>
            </a:r>
            <a:endParaRPr lang="en-US" dirty="0"/>
          </a:p>
          <a:p>
            <a:pPr marL="115888" indent="-115888" algn="ctr">
              <a:buFont typeface="Arial" panose="020B0604020202020204" pitchFamily="34" charset="0"/>
              <a:buChar char="•"/>
            </a:pPr>
            <a:r>
              <a:rPr lang="en-US" dirty="0"/>
              <a:t>R/o other causes</a:t>
            </a:r>
          </a:p>
        </p:txBody>
      </p:sp>
      <p:sp>
        <p:nvSpPr>
          <p:cNvPr id="79" name="TextBox 78">
            <a:extLst>
              <a:ext uri="{FF2B5EF4-FFF2-40B4-BE49-F238E27FC236}">
                <a16:creationId xmlns:a16="http://schemas.microsoft.com/office/drawing/2014/main" id="{60020A99-8AEC-0EAA-8A02-05A18C25C197}"/>
              </a:ext>
            </a:extLst>
          </p:cNvPr>
          <p:cNvSpPr txBox="1"/>
          <p:nvPr/>
        </p:nvSpPr>
        <p:spPr>
          <a:xfrm>
            <a:off x="2867086" y="2890210"/>
            <a:ext cx="1032775" cy="523220"/>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sz="1400" dirty="0"/>
              <a:t>Persistent symptoms </a:t>
            </a:r>
          </a:p>
        </p:txBody>
      </p:sp>
      <p:cxnSp>
        <p:nvCxnSpPr>
          <p:cNvPr id="84" name="Straight Arrow Connector 83">
            <a:extLst>
              <a:ext uri="{FF2B5EF4-FFF2-40B4-BE49-F238E27FC236}">
                <a16:creationId xmlns:a16="http://schemas.microsoft.com/office/drawing/2014/main" id="{06291B8C-E358-D4C5-E67F-D51948A6A4B6}"/>
              </a:ext>
            </a:extLst>
          </p:cNvPr>
          <p:cNvCxnSpPr>
            <a:cxnSpLocks/>
            <a:stCxn id="23" idx="2"/>
          </p:cNvCxnSpPr>
          <p:nvPr/>
        </p:nvCxnSpPr>
        <p:spPr>
          <a:xfrm flipH="1">
            <a:off x="10612472" y="2967729"/>
            <a:ext cx="2" cy="81194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85" name="Rectangle 84">
            <a:extLst>
              <a:ext uri="{FF2B5EF4-FFF2-40B4-BE49-F238E27FC236}">
                <a16:creationId xmlns:a16="http://schemas.microsoft.com/office/drawing/2014/main" id="{DEDAC69B-A5B2-F5C4-C847-770E2A6D2B88}"/>
              </a:ext>
            </a:extLst>
          </p:cNvPr>
          <p:cNvSpPr/>
          <p:nvPr/>
        </p:nvSpPr>
        <p:spPr>
          <a:xfrm>
            <a:off x="10009112" y="5048812"/>
            <a:ext cx="2024028" cy="641074"/>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dirty="0"/>
              <a:t>+ Azithromycin </a:t>
            </a:r>
          </a:p>
          <a:p>
            <a:pPr algn="ctr"/>
            <a:r>
              <a:rPr lang="en-US" sz="1600" dirty="0"/>
              <a:t>(</a:t>
            </a:r>
            <a:r>
              <a:rPr lang="en-US" sz="1600" dirty="0" err="1"/>
              <a:t>esp</a:t>
            </a:r>
            <a:r>
              <a:rPr lang="en-US" sz="1600" dirty="0"/>
              <a:t> if smoker)</a:t>
            </a:r>
          </a:p>
        </p:txBody>
      </p:sp>
      <p:sp>
        <p:nvSpPr>
          <p:cNvPr id="86" name="TextBox 85">
            <a:extLst>
              <a:ext uri="{FF2B5EF4-FFF2-40B4-BE49-F238E27FC236}">
                <a16:creationId xmlns:a16="http://schemas.microsoft.com/office/drawing/2014/main" id="{C72C2212-69FD-E0D2-E505-BEC91883247C}"/>
              </a:ext>
            </a:extLst>
          </p:cNvPr>
          <p:cNvSpPr txBox="1"/>
          <p:nvPr/>
        </p:nvSpPr>
        <p:spPr>
          <a:xfrm>
            <a:off x="9995257" y="3112089"/>
            <a:ext cx="1206720" cy="523220"/>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sz="1400" dirty="0"/>
              <a:t>Uncontrolled </a:t>
            </a:r>
            <a:r>
              <a:rPr lang="en-US" sz="1400" dirty="0" err="1"/>
              <a:t>exac</a:t>
            </a:r>
            <a:endParaRPr lang="en-US" sz="1400" dirty="0"/>
          </a:p>
        </p:txBody>
      </p:sp>
      <p:sp>
        <p:nvSpPr>
          <p:cNvPr id="99" name="Blood eos">
            <a:extLst>
              <a:ext uri="{FF2B5EF4-FFF2-40B4-BE49-F238E27FC236}">
                <a16:creationId xmlns:a16="http://schemas.microsoft.com/office/drawing/2014/main" id="{832C93E0-27B0-33C7-F689-D1F41A509C88}"/>
              </a:ext>
            </a:extLst>
          </p:cNvPr>
          <p:cNvSpPr/>
          <p:nvPr/>
        </p:nvSpPr>
        <p:spPr>
          <a:xfrm>
            <a:off x="9914825" y="3779670"/>
            <a:ext cx="1395294" cy="457200"/>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r>
              <a:rPr lang="en-US" dirty="0">
                <a:solidFill>
                  <a:schemeClr val="tx1"/>
                </a:solidFill>
              </a:rPr>
              <a:t>Blood </a:t>
            </a:r>
            <a:r>
              <a:rPr lang="en-US" dirty="0" err="1">
                <a:solidFill>
                  <a:schemeClr val="tx1"/>
                </a:solidFill>
              </a:rPr>
              <a:t>eos</a:t>
            </a:r>
            <a:endParaRPr lang="en-US" dirty="0">
              <a:solidFill>
                <a:schemeClr val="tx1"/>
              </a:solidFill>
            </a:endParaRPr>
          </a:p>
        </p:txBody>
      </p:sp>
      <p:cxnSp>
        <p:nvCxnSpPr>
          <p:cNvPr id="104" name="Connector: Elbow 103">
            <a:extLst>
              <a:ext uri="{FF2B5EF4-FFF2-40B4-BE49-F238E27FC236}">
                <a16:creationId xmlns:a16="http://schemas.microsoft.com/office/drawing/2014/main" id="{9E0A8473-34BD-A174-43A8-593EAF974610}"/>
              </a:ext>
            </a:extLst>
          </p:cNvPr>
          <p:cNvCxnSpPr>
            <a:cxnSpLocks/>
            <a:endCxn id="85" idx="0"/>
          </p:cNvCxnSpPr>
          <p:nvPr/>
        </p:nvCxnSpPr>
        <p:spPr>
          <a:xfrm rot="16200000" flipH="1">
            <a:off x="10410827" y="4438513"/>
            <a:ext cx="811944" cy="408654"/>
          </a:xfrm>
          <a:prstGeom prst="bent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110" name="Connector: Elbow 109">
            <a:extLst>
              <a:ext uri="{FF2B5EF4-FFF2-40B4-BE49-F238E27FC236}">
                <a16:creationId xmlns:a16="http://schemas.microsoft.com/office/drawing/2014/main" id="{0568D36C-C568-8E61-770B-36FCC5C9834F}"/>
              </a:ext>
            </a:extLst>
          </p:cNvPr>
          <p:cNvCxnSpPr>
            <a:cxnSpLocks/>
            <a:stCxn id="99" idx="2"/>
            <a:endCxn id="111" idx="0"/>
          </p:cNvCxnSpPr>
          <p:nvPr/>
        </p:nvCxnSpPr>
        <p:spPr>
          <a:xfrm rot="5400000">
            <a:off x="9159707" y="3596521"/>
            <a:ext cx="812417" cy="2093114"/>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111" name="Rectangle 110">
            <a:extLst>
              <a:ext uri="{FF2B5EF4-FFF2-40B4-BE49-F238E27FC236}">
                <a16:creationId xmlns:a16="http://schemas.microsoft.com/office/drawing/2014/main" id="{94D166CD-377B-C702-FC92-24C3EF225706}"/>
              </a:ext>
            </a:extLst>
          </p:cNvPr>
          <p:cNvSpPr/>
          <p:nvPr/>
        </p:nvSpPr>
        <p:spPr>
          <a:xfrm>
            <a:off x="7507344" y="5049287"/>
            <a:ext cx="2024028" cy="509684"/>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dirty="0"/>
              <a:t>LABA+LAMA+ICS</a:t>
            </a:r>
          </a:p>
        </p:txBody>
      </p:sp>
      <p:sp>
        <p:nvSpPr>
          <p:cNvPr id="129" name="TextBox 128">
            <a:extLst>
              <a:ext uri="{FF2B5EF4-FFF2-40B4-BE49-F238E27FC236}">
                <a16:creationId xmlns:a16="http://schemas.microsoft.com/office/drawing/2014/main" id="{52497D4A-8684-FB25-F26D-33D1772F481F}"/>
              </a:ext>
            </a:extLst>
          </p:cNvPr>
          <p:cNvSpPr txBox="1"/>
          <p:nvPr/>
        </p:nvSpPr>
        <p:spPr>
          <a:xfrm>
            <a:off x="9504221" y="4494174"/>
            <a:ext cx="632633" cy="307777"/>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sz="1400" dirty="0"/>
              <a:t>≥100</a:t>
            </a:r>
          </a:p>
        </p:txBody>
      </p:sp>
      <p:sp>
        <p:nvSpPr>
          <p:cNvPr id="130" name="TextBox 129">
            <a:extLst>
              <a:ext uri="{FF2B5EF4-FFF2-40B4-BE49-F238E27FC236}">
                <a16:creationId xmlns:a16="http://schemas.microsoft.com/office/drawing/2014/main" id="{9E7161C7-FD16-03A3-CCA9-4E620F6DC82B}"/>
              </a:ext>
            </a:extLst>
          </p:cNvPr>
          <p:cNvSpPr txBox="1"/>
          <p:nvPr/>
        </p:nvSpPr>
        <p:spPr>
          <a:xfrm>
            <a:off x="10793653" y="4488951"/>
            <a:ext cx="632633" cy="307777"/>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sz="1400" dirty="0"/>
              <a:t>&lt;100</a:t>
            </a:r>
          </a:p>
        </p:txBody>
      </p:sp>
      <p:sp>
        <p:nvSpPr>
          <p:cNvPr id="134" name="Rectangle 133">
            <a:extLst>
              <a:ext uri="{FF2B5EF4-FFF2-40B4-BE49-F238E27FC236}">
                <a16:creationId xmlns:a16="http://schemas.microsoft.com/office/drawing/2014/main" id="{B782250F-6F78-DD76-66C2-8249DEBDA390}"/>
              </a:ext>
            </a:extLst>
          </p:cNvPr>
          <p:cNvSpPr/>
          <p:nvPr/>
        </p:nvSpPr>
        <p:spPr>
          <a:xfrm>
            <a:off x="10009112" y="5893858"/>
            <a:ext cx="2024028" cy="641074"/>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dirty="0"/>
              <a:t>+ Roflumilast </a:t>
            </a:r>
          </a:p>
          <a:p>
            <a:pPr algn="ctr"/>
            <a:r>
              <a:rPr lang="en-US" sz="1600" dirty="0"/>
              <a:t>(FEV1 &lt;50% + CB)</a:t>
            </a:r>
          </a:p>
        </p:txBody>
      </p:sp>
      <p:cxnSp>
        <p:nvCxnSpPr>
          <p:cNvPr id="137" name="Straight Connector 136">
            <a:extLst>
              <a:ext uri="{FF2B5EF4-FFF2-40B4-BE49-F238E27FC236}">
                <a16:creationId xmlns:a16="http://schemas.microsoft.com/office/drawing/2014/main" id="{AF3FDC25-8B14-5A83-47FF-3A0F030EE077}"/>
              </a:ext>
            </a:extLst>
          </p:cNvPr>
          <p:cNvCxnSpPr>
            <a:stCxn id="85" idx="2"/>
            <a:endCxn id="134" idx="0"/>
          </p:cNvCxnSpPr>
          <p:nvPr/>
        </p:nvCxnSpPr>
        <p:spPr>
          <a:xfrm>
            <a:off x="11021126" y="5689886"/>
            <a:ext cx="0" cy="203972"/>
          </a:xfrm>
          <a:prstGeom prst="line">
            <a:avLst/>
          </a:prstGeom>
        </p:spPr>
        <p:style>
          <a:lnRef idx="1">
            <a:schemeClr val="dk1"/>
          </a:lnRef>
          <a:fillRef idx="0">
            <a:schemeClr val="dk1"/>
          </a:fillRef>
          <a:effectRef idx="0">
            <a:schemeClr val="dk1"/>
          </a:effectRef>
          <a:fontRef idx="minor">
            <a:schemeClr val="tx1"/>
          </a:fontRef>
        </p:style>
      </p:cxnSp>
      <p:sp>
        <p:nvSpPr>
          <p:cNvPr id="138" name="Rectangle: Rounded Corners 137">
            <a:extLst>
              <a:ext uri="{FF2B5EF4-FFF2-40B4-BE49-F238E27FC236}">
                <a16:creationId xmlns:a16="http://schemas.microsoft.com/office/drawing/2014/main" id="{B170C36B-9F10-E711-660F-3CB73561ABE1}"/>
              </a:ext>
            </a:extLst>
          </p:cNvPr>
          <p:cNvSpPr/>
          <p:nvPr/>
        </p:nvSpPr>
        <p:spPr>
          <a:xfrm>
            <a:off x="7559238" y="5861705"/>
            <a:ext cx="1920240" cy="742131"/>
          </a:xfrm>
          <a:prstGeom prst="roundRect">
            <a:avLst/>
          </a:prstGeom>
          <a:solidFill>
            <a:schemeClr val="tx1"/>
          </a:solidFill>
          <a:ln w="38100">
            <a:solidFill>
              <a:schemeClr val="tx1"/>
            </a:solidFill>
          </a:ln>
          <a:effectLst/>
        </p:spPr>
        <p:style>
          <a:lnRef idx="2">
            <a:schemeClr val="dk1"/>
          </a:lnRef>
          <a:fillRef idx="1">
            <a:schemeClr val="lt1"/>
          </a:fillRef>
          <a:effectRef idx="0">
            <a:schemeClr val="dk1"/>
          </a:effectRef>
          <a:fontRef idx="minor">
            <a:schemeClr val="dk1"/>
          </a:fontRef>
        </p:style>
        <p:txBody>
          <a:bodyPr rtlCol="0" anchor="ctr"/>
          <a:lstStyle/>
          <a:p>
            <a:pPr algn="ctr"/>
            <a:r>
              <a:rPr lang="en-US" dirty="0">
                <a:solidFill>
                  <a:schemeClr val="bg1"/>
                </a:solidFill>
              </a:rPr>
              <a:t>Pneumonia or no response?</a:t>
            </a:r>
          </a:p>
        </p:txBody>
      </p:sp>
      <p:sp>
        <p:nvSpPr>
          <p:cNvPr id="139" name="Pneumonia">
            <a:extLst>
              <a:ext uri="{FF2B5EF4-FFF2-40B4-BE49-F238E27FC236}">
                <a16:creationId xmlns:a16="http://schemas.microsoft.com/office/drawing/2014/main" id="{BE5EA614-C33C-0252-C074-4AD79085F792}"/>
              </a:ext>
            </a:extLst>
          </p:cNvPr>
          <p:cNvSpPr/>
          <p:nvPr/>
        </p:nvSpPr>
        <p:spPr>
          <a:xfrm>
            <a:off x="7559238" y="5861705"/>
            <a:ext cx="1920240" cy="742131"/>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r>
              <a:rPr lang="en-US" dirty="0">
                <a:solidFill>
                  <a:schemeClr val="tx1"/>
                </a:solidFill>
              </a:rPr>
              <a:t>Pneumonia or </a:t>
            </a:r>
          </a:p>
          <a:p>
            <a:pPr algn="ctr"/>
            <a:r>
              <a:rPr lang="en-US" dirty="0">
                <a:solidFill>
                  <a:schemeClr val="tx1"/>
                </a:solidFill>
              </a:rPr>
              <a:t>no response?</a:t>
            </a:r>
          </a:p>
        </p:txBody>
      </p:sp>
      <p:cxnSp>
        <p:nvCxnSpPr>
          <p:cNvPr id="144" name="Straight Arrow Connector 143">
            <a:extLst>
              <a:ext uri="{FF2B5EF4-FFF2-40B4-BE49-F238E27FC236}">
                <a16:creationId xmlns:a16="http://schemas.microsoft.com/office/drawing/2014/main" id="{FFD3709A-E527-CC93-C946-C43BF18DA851}"/>
              </a:ext>
            </a:extLst>
          </p:cNvPr>
          <p:cNvCxnSpPr>
            <a:cxnSpLocks/>
            <a:stCxn id="111" idx="2"/>
            <a:endCxn id="139" idx="0"/>
          </p:cNvCxnSpPr>
          <p:nvPr/>
        </p:nvCxnSpPr>
        <p:spPr>
          <a:xfrm>
            <a:off x="8519358" y="5558971"/>
            <a:ext cx="0" cy="3027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150" name="Graphic 149" descr="Cursor with solid fill">
            <a:extLst>
              <a:ext uri="{FF2B5EF4-FFF2-40B4-BE49-F238E27FC236}">
                <a16:creationId xmlns:a16="http://schemas.microsoft.com/office/drawing/2014/main" id="{963E132A-7948-FA11-BC55-0DA4C4632F5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327276" y="6457815"/>
            <a:ext cx="297955" cy="301752"/>
          </a:xfrm>
          <a:prstGeom prst="rect">
            <a:avLst/>
          </a:prstGeom>
        </p:spPr>
      </p:pic>
      <p:pic>
        <p:nvPicPr>
          <p:cNvPr id="151" name="Graphic 150" descr="Cursor with solid fill">
            <a:extLst>
              <a:ext uri="{FF2B5EF4-FFF2-40B4-BE49-F238E27FC236}">
                <a16:creationId xmlns:a16="http://schemas.microsoft.com/office/drawing/2014/main" id="{5DB4E7F2-CA64-B715-FDFD-D8F40012E1B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161574" y="4104612"/>
            <a:ext cx="297955" cy="301752"/>
          </a:xfrm>
          <a:prstGeom prst="rect">
            <a:avLst/>
          </a:prstGeom>
        </p:spPr>
      </p:pic>
      <p:pic>
        <p:nvPicPr>
          <p:cNvPr id="152" name="Graphic 151" descr="Cursor with solid fill">
            <a:extLst>
              <a:ext uri="{FF2B5EF4-FFF2-40B4-BE49-F238E27FC236}">
                <a16:creationId xmlns:a16="http://schemas.microsoft.com/office/drawing/2014/main" id="{CCD95C3B-2FD3-C3CD-1463-EC1D38FD250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263453" y="1851959"/>
            <a:ext cx="297955" cy="301752"/>
          </a:xfrm>
          <a:prstGeom prst="rect">
            <a:avLst/>
          </a:prstGeom>
        </p:spPr>
      </p:pic>
      <p:pic>
        <p:nvPicPr>
          <p:cNvPr id="153" name="Graphic 152" descr="Cursor with solid fill">
            <a:extLst>
              <a:ext uri="{FF2B5EF4-FFF2-40B4-BE49-F238E27FC236}">
                <a16:creationId xmlns:a16="http://schemas.microsoft.com/office/drawing/2014/main" id="{FA028714-9B80-4843-1FC3-61B3BAF2617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519927" y="1005709"/>
            <a:ext cx="297955" cy="301752"/>
          </a:xfrm>
          <a:prstGeom prst="rect">
            <a:avLst/>
          </a:prstGeom>
        </p:spPr>
      </p:pic>
      <p:pic>
        <p:nvPicPr>
          <p:cNvPr id="154" name="Graphic 153" descr="Cursor with solid fill">
            <a:extLst>
              <a:ext uri="{FF2B5EF4-FFF2-40B4-BE49-F238E27FC236}">
                <a16:creationId xmlns:a16="http://schemas.microsoft.com/office/drawing/2014/main" id="{8884D887-FBDB-F969-B8E7-0FCA3B72FF0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021367" y="1851959"/>
            <a:ext cx="297955" cy="301752"/>
          </a:xfrm>
          <a:prstGeom prst="rect">
            <a:avLst/>
          </a:prstGeom>
        </p:spPr>
      </p:pic>
      <p:cxnSp>
        <p:nvCxnSpPr>
          <p:cNvPr id="156" name="Connector: Elbow 155">
            <a:extLst>
              <a:ext uri="{FF2B5EF4-FFF2-40B4-BE49-F238E27FC236}">
                <a16:creationId xmlns:a16="http://schemas.microsoft.com/office/drawing/2014/main" id="{7FB2EB11-58E2-FF0D-A826-1254E74479CC}"/>
              </a:ext>
            </a:extLst>
          </p:cNvPr>
          <p:cNvCxnSpPr>
            <a:cxnSpLocks/>
            <a:stCxn id="139" idx="1"/>
            <a:endCxn id="23" idx="1"/>
          </p:cNvCxnSpPr>
          <p:nvPr/>
        </p:nvCxnSpPr>
        <p:spPr>
          <a:xfrm rot="10800000" flipH="1">
            <a:off x="7559238" y="2626137"/>
            <a:ext cx="2041222" cy="3606635"/>
          </a:xfrm>
          <a:prstGeom prst="bentConnector3">
            <a:avLst>
              <a:gd name="adj1" fmla="val -40385"/>
            </a:avLst>
          </a:prstGeom>
          <a:ln>
            <a:prstDash val="dash"/>
            <a:tailEnd type="triangle"/>
          </a:ln>
        </p:spPr>
        <p:style>
          <a:lnRef idx="1">
            <a:schemeClr val="dk1"/>
          </a:lnRef>
          <a:fillRef idx="0">
            <a:schemeClr val="dk1"/>
          </a:fillRef>
          <a:effectRef idx="0">
            <a:schemeClr val="dk1"/>
          </a:effectRef>
          <a:fontRef idx="minor">
            <a:schemeClr val="tx1"/>
          </a:fontRef>
        </p:style>
      </p:cxnSp>
      <p:sp>
        <p:nvSpPr>
          <p:cNvPr id="161" name="TextBox 160">
            <a:extLst>
              <a:ext uri="{FF2B5EF4-FFF2-40B4-BE49-F238E27FC236}">
                <a16:creationId xmlns:a16="http://schemas.microsoft.com/office/drawing/2014/main" id="{4D49D8A5-4F3D-B67E-FD9D-A467A2831188}"/>
              </a:ext>
            </a:extLst>
          </p:cNvPr>
          <p:cNvSpPr txBox="1"/>
          <p:nvPr/>
        </p:nvSpPr>
        <p:spPr>
          <a:xfrm>
            <a:off x="5958159" y="3793823"/>
            <a:ext cx="1575132" cy="923330"/>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t>Consider withdrawing steroids</a:t>
            </a:r>
          </a:p>
        </p:txBody>
      </p:sp>
      <p:cxnSp>
        <p:nvCxnSpPr>
          <p:cNvPr id="8" name="Straight Arrow Connector 7">
            <a:extLst>
              <a:ext uri="{FF2B5EF4-FFF2-40B4-BE49-F238E27FC236}">
                <a16:creationId xmlns:a16="http://schemas.microsoft.com/office/drawing/2014/main" id="{D5DBE8D1-A5E6-4C82-825C-98840992A173}"/>
              </a:ext>
            </a:extLst>
          </p:cNvPr>
          <p:cNvCxnSpPr>
            <a:stCxn id="4" idx="1"/>
            <a:endCxn id="14" idx="3"/>
          </p:cNvCxnSpPr>
          <p:nvPr/>
        </p:nvCxnSpPr>
        <p:spPr>
          <a:xfrm flipH="1">
            <a:off x="4161556" y="911542"/>
            <a:ext cx="1934444" cy="85946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1" name="TextBox 40">
            <a:extLst>
              <a:ext uri="{FF2B5EF4-FFF2-40B4-BE49-F238E27FC236}">
                <a16:creationId xmlns:a16="http://schemas.microsoft.com/office/drawing/2014/main" id="{EC48A870-A4AA-9251-9D92-3AA73FB309E5}"/>
              </a:ext>
            </a:extLst>
          </p:cNvPr>
          <p:cNvSpPr txBox="1"/>
          <p:nvPr/>
        </p:nvSpPr>
        <p:spPr>
          <a:xfrm>
            <a:off x="4530452" y="1200084"/>
            <a:ext cx="1181663" cy="307777"/>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sz="1400" dirty="0"/>
              <a:t>Persistent </a:t>
            </a:r>
            <a:r>
              <a:rPr lang="en-US" sz="1400" dirty="0" err="1"/>
              <a:t>sx</a:t>
            </a:r>
            <a:endParaRPr lang="en-US" sz="1400" dirty="0"/>
          </a:p>
        </p:txBody>
      </p:sp>
      <p:cxnSp>
        <p:nvCxnSpPr>
          <p:cNvPr id="9" name="Straight Arrow Connector 8">
            <a:extLst>
              <a:ext uri="{FF2B5EF4-FFF2-40B4-BE49-F238E27FC236}">
                <a16:creationId xmlns:a16="http://schemas.microsoft.com/office/drawing/2014/main" id="{AE61BF14-85DD-B682-67E0-82261236F47E}"/>
              </a:ext>
            </a:extLst>
          </p:cNvPr>
          <p:cNvCxnSpPr>
            <a:cxnSpLocks/>
            <a:stCxn id="4" idx="3"/>
            <a:endCxn id="17" idx="1"/>
          </p:cNvCxnSpPr>
          <p:nvPr/>
        </p:nvCxnSpPr>
        <p:spPr>
          <a:xfrm>
            <a:off x="7679871" y="911542"/>
            <a:ext cx="2126812" cy="85946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6" name="TextBox 25">
            <a:extLst>
              <a:ext uri="{FF2B5EF4-FFF2-40B4-BE49-F238E27FC236}">
                <a16:creationId xmlns:a16="http://schemas.microsoft.com/office/drawing/2014/main" id="{DA35E566-6044-3C20-99D5-23A093AD2D91}"/>
              </a:ext>
            </a:extLst>
          </p:cNvPr>
          <p:cNvSpPr txBox="1"/>
          <p:nvPr/>
        </p:nvSpPr>
        <p:spPr>
          <a:xfrm>
            <a:off x="8315909" y="1092362"/>
            <a:ext cx="1050801" cy="523220"/>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sz="1400" dirty="0"/>
              <a:t>Frequent or severe </a:t>
            </a:r>
            <a:r>
              <a:rPr lang="en-US" sz="1400" dirty="0" err="1"/>
              <a:t>exac</a:t>
            </a:r>
            <a:endParaRPr lang="en-US" sz="1400" dirty="0"/>
          </a:p>
        </p:txBody>
      </p:sp>
      <p:cxnSp>
        <p:nvCxnSpPr>
          <p:cNvPr id="13" name="Connector: Elbow 12">
            <a:extLst>
              <a:ext uri="{FF2B5EF4-FFF2-40B4-BE49-F238E27FC236}">
                <a16:creationId xmlns:a16="http://schemas.microsoft.com/office/drawing/2014/main" id="{715610EA-C8F5-A112-79DD-2BCF5601B685}"/>
              </a:ext>
            </a:extLst>
          </p:cNvPr>
          <p:cNvCxnSpPr>
            <a:cxnSpLocks/>
            <a:stCxn id="14" idx="3"/>
            <a:endCxn id="17" idx="1"/>
          </p:cNvCxnSpPr>
          <p:nvPr/>
        </p:nvCxnSpPr>
        <p:spPr>
          <a:xfrm>
            <a:off x="4161556" y="1771003"/>
            <a:ext cx="5645127" cy="12700"/>
          </a:xfrm>
          <a:prstGeom prst="curvedConnector3">
            <a:avLst>
              <a:gd name="adj1" fmla="val 50438"/>
            </a:avLst>
          </a:prstGeom>
          <a:ln>
            <a:tailEnd type="triangle"/>
          </a:ln>
        </p:spPr>
        <p:style>
          <a:lnRef idx="1">
            <a:schemeClr val="dk1"/>
          </a:lnRef>
          <a:fillRef idx="0">
            <a:schemeClr val="dk1"/>
          </a:fillRef>
          <a:effectRef idx="0">
            <a:schemeClr val="dk1"/>
          </a:effectRef>
          <a:fontRef idx="minor">
            <a:schemeClr val="tx1"/>
          </a:fontRef>
        </p:style>
      </p:cxnSp>
      <p:sp>
        <p:nvSpPr>
          <p:cNvPr id="7" name="Rectangle 6">
            <a:extLst>
              <a:ext uri="{FF2B5EF4-FFF2-40B4-BE49-F238E27FC236}">
                <a16:creationId xmlns:a16="http://schemas.microsoft.com/office/drawing/2014/main" id="{5659D5F8-31B1-08E0-FAE5-F66C15B0971E}"/>
              </a:ext>
            </a:extLst>
          </p:cNvPr>
          <p:cNvSpPr/>
          <p:nvPr/>
        </p:nvSpPr>
        <p:spPr>
          <a:xfrm>
            <a:off x="5893596" y="2259309"/>
            <a:ext cx="1988677" cy="4572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dirty="0"/>
              <a:t>LABA or LAMA</a:t>
            </a:r>
          </a:p>
        </p:txBody>
      </p:sp>
    </p:spTree>
    <p:extLst>
      <p:ext uri="{BB962C8B-B14F-4D97-AF65-F5344CB8AC3E}">
        <p14:creationId xmlns:p14="http://schemas.microsoft.com/office/powerpoint/2010/main" val="3176601364"/>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xit"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153"/>
                                        </p:tgtEl>
                                        <p:attrNameLst>
                                          <p:attrName>style.visibility</p:attrName>
                                        </p:attrNameLst>
                                      </p:cBhvr>
                                      <p:to>
                                        <p:strVal val="hidden"/>
                                      </p:to>
                                    </p:set>
                                  </p:childTnLst>
                                </p:cTn>
                              </p:par>
                            </p:childTnLst>
                          </p:cTn>
                        </p:par>
                      </p:childTnLst>
                    </p:cTn>
                  </p:par>
                </p:childTnLst>
              </p:cTn>
              <p:nextCondLst>
                <p:cond evt="onClick" delay="0">
                  <p:tgtEl>
                    <p:spTgt spid="4"/>
                  </p:tgtEl>
                </p:cond>
              </p:nextCondLst>
            </p:seq>
            <p:seq concurrent="1" nextAc="seek">
              <p:cTn id="11" restart="whenNotActive" fill="hold" evtFilter="cancelBubble" nodeType="interactiveSeq">
                <p:stCondLst>
                  <p:cond evt="onClick" delay="0">
                    <p:tgtEl>
                      <p:spTgt spid="14"/>
                    </p:tgtEl>
                  </p:cond>
                </p:stCondLst>
                <p:endSync evt="end" delay="0">
                  <p:rtn val="all"/>
                </p:endSync>
                <p:childTnLst>
                  <p:par>
                    <p:cTn id="12" fill="hold">
                      <p:stCondLst>
                        <p:cond delay="0"/>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15"/>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0"/>
                                          </p:stCondLst>
                                        </p:cTn>
                                        <p:tgtEl>
                                          <p:spTgt spid="16"/>
                                        </p:tgtEl>
                                        <p:attrNameLst>
                                          <p:attrName>style.visibility</p:attrName>
                                        </p:attrNameLst>
                                      </p:cBhvr>
                                      <p:to>
                                        <p:strVal val="visible"/>
                                      </p:to>
                                    </p:set>
                                  </p:childTnLst>
                                </p:cTn>
                              </p:par>
                              <p:par>
                                <p:cTn id="18" presetID="1" presetClass="entr" presetSubtype="0" fill="hold" nodeType="withEffect">
                                  <p:stCondLst>
                                    <p:cond delay="0"/>
                                  </p:stCondLst>
                                  <p:childTnLst>
                                    <p:set>
                                      <p:cBhvr>
                                        <p:cTn id="19" dur="1" fill="hold">
                                          <p:stCondLst>
                                            <p:cond delay="0"/>
                                          </p:stCondLst>
                                        </p:cTn>
                                        <p:tgtEl>
                                          <p:spTgt spid="6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75"/>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79"/>
                                        </p:tgtEl>
                                        <p:attrNameLst>
                                          <p:attrName>style.visibility</p:attrName>
                                        </p:attrNameLst>
                                      </p:cBhvr>
                                      <p:to>
                                        <p:strVal val="visible"/>
                                      </p:to>
                                    </p:set>
                                  </p:childTnLst>
                                </p:cTn>
                              </p:par>
                              <p:par>
                                <p:cTn id="24" presetID="1" presetClass="exit" presetSubtype="0" fill="hold" grpId="0" nodeType="withEffect">
                                  <p:stCondLst>
                                    <p:cond delay="0"/>
                                  </p:stCondLst>
                                  <p:childTnLst>
                                    <p:set>
                                      <p:cBhvr>
                                        <p:cTn id="25" dur="1" fill="hold">
                                          <p:stCondLst>
                                            <p:cond delay="0"/>
                                          </p:stCondLst>
                                        </p:cTn>
                                        <p:tgtEl>
                                          <p:spTgt spid="14"/>
                                        </p:tgtEl>
                                        <p:attrNameLst>
                                          <p:attrName>style.visibility</p:attrName>
                                        </p:attrNameLst>
                                      </p:cBhvr>
                                      <p:to>
                                        <p:strVal val="hidden"/>
                                      </p:to>
                                    </p:set>
                                  </p:childTnLst>
                                </p:cTn>
                              </p:par>
                              <p:par>
                                <p:cTn id="26" presetID="1" presetClass="exit" presetSubtype="0" fill="hold" nodeType="withEffect">
                                  <p:stCondLst>
                                    <p:cond delay="0"/>
                                  </p:stCondLst>
                                  <p:childTnLst>
                                    <p:set>
                                      <p:cBhvr>
                                        <p:cTn id="27" dur="1" fill="hold">
                                          <p:stCondLst>
                                            <p:cond delay="0"/>
                                          </p:stCondLst>
                                        </p:cTn>
                                        <p:tgtEl>
                                          <p:spTgt spid="154"/>
                                        </p:tgtEl>
                                        <p:attrNameLst>
                                          <p:attrName>style.visibility</p:attrName>
                                        </p:attrNameLst>
                                      </p:cBhvr>
                                      <p:to>
                                        <p:strVal val="hidden"/>
                                      </p:to>
                                    </p:set>
                                  </p:childTnLst>
                                </p:cTn>
                              </p:par>
                            </p:childTnLst>
                          </p:cTn>
                        </p:par>
                      </p:childTnLst>
                    </p:cTn>
                  </p:par>
                </p:childTnLst>
              </p:cTn>
              <p:nextCondLst>
                <p:cond evt="onClick" delay="0">
                  <p:tgtEl>
                    <p:spTgt spid="14"/>
                  </p:tgtEl>
                </p:cond>
              </p:nextCondLst>
            </p:seq>
            <p:seq concurrent="1" nextAc="seek">
              <p:cTn id="28" restart="whenNotActive" fill="hold" evtFilter="cancelBubble" nodeType="interactiveSeq">
                <p:stCondLst>
                  <p:cond evt="onClick" delay="0">
                    <p:tgtEl>
                      <p:spTgt spid="17"/>
                    </p:tgtEl>
                  </p:cond>
                </p:stCondLst>
                <p:endSync evt="end" delay="0">
                  <p:rtn val="all"/>
                </p:endSync>
                <p:childTnLst>
                  <p:par>
                    <p:cTn id="29" fill="hold">
                      <p:stCondLst>
                        <p:cond delay="0"/>
                      </p:stCondLst>
                      <p:childTnLst>
                        <p:par>
                          <p:cTn id="30" fill="hold">
                            <p:stCondLst>
                              <p:cond delay="0"/>
                            </p:stCondLst>
                            <p:childTnLst>
                              <p:par>
                                <p:cTn id="31" presetID="1" presetClass="entr" presetSubtype="0" fill="hold" grpId="0" nodeType="with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8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86"/>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5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99"/>
                                        </p:tgtEl>
                                        <p:attrNameLst>
                                          <p:attrName>style.visibility</p:attrName>
                                        </p:attrNameLst>
                                      </p:cBhvr>
                                      <p:to>
                                        <p:strVal val="visible"/>
                                      </p:to>
                                    </p:set>
                                  </p:childTnLst>
                                </p:cTn>
                              </p:par>
                              <p:par>
                                <p:cTn id="41" presetID="1" presetClass="exit" presetSubtype="0" fill="hold" grpId="0" nodeType="withEffect">
                                  <p:stCondLst>
                                    <p:cond delay="0"/>
                                  </p:stCondLst>
                                  <p:childTnLst>
                                    <p:set>
                                      <p:cBhvr>
                                        <p:cTn id="42" dur="1" fill="hold">
                                          <p:stCondLst>
                                            <p:cond delay="0"/>
                                          </p:stCondLst>
                                        </p:cTn>
                                        <p:tgtEl>
                                          <p:spTgt spid="17"/>
                                        </p:tgtEl>
                                        <p:attrNameLst>
                                          <p:attrName>style.visibility</p:attrName>
                                        </p:attrNameLst>
                                      </p:cBhvr>
                                      <p:to>
                                        <p:strVal val="hidden"/>
                                      </p:to>
                                    </p:set>
                                  </p:childTnLst>
                                </p:cTn>
                              </p:par>
                              <p:par>
                                <p:cTn id="43" presetID="1" presetClass="exit" presetSubtype="0" fill="hold" nodeType="withEffect">
                                  <p:stCondLst>
                                    <p:cond delay="0"/>
                                  </p:stCondLst>
                                  <p:childTnLst>
                                    <p:set>
                                      <p:cBhvr>
                                        <p:cTn id="44" dur="1" fill="hold">
                                          <p:stCondLst>
                                            <p:cond delay="0"/>
                                          </p:stCondLst>
                                        </p:cTn>
                                        <p:tgtEl>
                                          <p:spTgt spid="152"/>
                                        </p:tgtEl>
                                        <p:attrNameLst>
                                          <p:attrName>style.visibility</p:attrName>
                                        </p:attrNameLst>
                                      </p:cBhvr>
                                      <p:to>
                                        <p:strVal val="hidden"/>
                                      </p:to>
                                    </p:set>
                                  </p:childTnLst>
                                </p:cTn>
                              </p:par>
                              <p:par>
                                <p:cTn id="45" presetID="1" presetClass="entr" presetSubtype="0" fill="hold" grpId="0" nodeType="withEffect">
                                  <p:stCondLst>
                                    <p:cond delay="0"/>
                                  </p:stCondLst>
                                  <p:childTnLst>
                                    <p:set>
                                      <p:cBhvr>
                                        <p:cTn id="46" dur="1" fill="hold">
                                          <p:stCondLst>
                                            <p:cond delay="0"/>
                                          </p:stCondLst>
                                        </p:cTn>
                                        <p:tgtEl>
                                          <p:spTgt spid="46"/>
                                        </p:tgtEl>
                                        <p:attrNameLst>
                                          <p:attrName>style.visibility</p:attrName>
                                        </p:attrNameLst>
                                      </p:cBhvr>
                                      <p:to>
                                        <p:strVal val="visible"/>
                                      </p:to>
                                    </p:set>
                                  </p:childTnLst>
                                </p:cTn>
                              </p:par>
                            </p:childTnLst>
                          </p:cTn>
                        </p:par>
                      </p:childTnLst>
                    </p:cTn>
                  </p:par>
                </p:childTnLst>
              </p:cTn>
              <p:nextCondLst>
                <p:cond evt="onClick" delay="0">
                  <p:tgtEl>
                    <p:spTgt spid="17"/>
                  </p:tgtEl>
                </p:cond>
              </p:nextCondLst>
            </p:seq>
            <p:seq concurrent="1" nextAc="seek">
              <p:cTn id="47" restart="whenNotActive" fill="hold" evtFilter="cancelBubble" nodeType="interactiveSeq">
                <p:stCondLst>
                  <p:cond evt="onClick" delay="0">
                    <p:tgtEl>
                      <p:spTgt spid="99"/>
                    </p:tgtEl>
                  </p:cond>
                </p:stCondLst>
                <p:endSync evt="end" delay="0">
                  <p:rtn val="all"/>
                </p:endSync>
                <p:childTnLst>
                  <p:par>
                    <p:cTn id="48" fill="hold">
                      <p:stCondLst>
                        <p:cond delay="0"/>
                      </p:stCondLst>
                      <p:childTnLst>
                        <p:par>
                          <p:cTn id="49" fill="hold">
                            <p:stCondLst>
                              <p:cond delay="0"/>
                            </p:stCondLst>
                            <p:childTnLst>
                              <p:par>
                                <p:cTn id="50" presetID="1" presetClass="exit" presetSubtype="0" fill="hold" nodeType="clickEffect">
                                  <p:stCondLst>
                                    <p:cond delay="0"/>
                                  </p:stCondLst>
                                  <p:childTnLst>
                                    <p:set>
                                      <p:cBhvr>
                                        <p:cTn id="51" dur="1" fill="hold">
                                          <p:stCondLst>
                                            <p:cond delay="0"/>
                                          </p:stCondLst>
                                        </p:cTn>
                                        <p:tgtEl>
                                          <p:spTgt spid="151"/>
                                        </p:tgtEl>
                                        <p:attrNameLst>
                                          <p:attrName>style.visibility</p:attrName>
                                        </p:attrNameLst>
                                      </p:cBhvr>
                                      <p:to>
                                        <p:strVal val="hidden"/>
                                      </p:to>
                                    </p:set>
                                  </p:childTnLst>
                                </p:cTn>
                              </p:par>
                              <p:par>
                                <p:cTn id="52" presetID="1" presetClass="exit" presetSubtype="0" fill="hold" grpId="1" nodeType="withEffect">
                                  <p:stCondLst>
                                    <p:cond delay="0"/>
                                  </p:stCondLst>
                                  <p:childTnLst>
                                    <p:set>
                                      <p:cBhvr>
                                        <p:cTn id="53" dur="1" fill="hold">
                                          <p:stCondLst>
                                            <p:cond delay="0"/>
                                          </p:stCondLst>
                                        </p:cTn>
                                        <p:tgtEl>
                                          <p:spTgt spid="99"/>
                                        </p:tgtEl>
                                        <p:attrNameLst>
                                          <p:attrName>style.visibility</p:attrName>
                                        </p:attrNameLst>
                                      </p:cBhvr>
                                      <p:to>
                                        <p:strVal val="hidden"/>
                                      </p:to>
                                    </p:set>
                                  </p:childTnLst>
                                </p:cTn>
                              </p:par>
                              <p:par>
                                <p:cTn id="54" presetID="1" presetClass="entr" presetSubtype="0" fill="hold" grpId="0" nodeType="withEffect">
                                  <p:stCondLst>
                                    <p:cond delay="0"/>
                                  </p:stCondLst>
                                  <p:childTnLst>
                                    <p:set>
                                      <p:cBhvr>
                                        <p:cTn id="55" dur="1" fill="hold">
                                          <p:stCondLst>
                                            <p:cond delay="0"/>
                                          </p:stCondLst>
                                        </p:cTn>
                                        <p:tgtEl>
                                          <p:spTgt spid="85"/>
                                        </p:tgtEl>
                                        <p:attrNameLst>
                                          <p:attrName>style.visibility</p:attrName>
                                        </p:attrNameLst>
                                      </p:cBhvr>
                                      <p:to>
                                        <p:strVal val="visible"/>
                                      </p:to>
                                    </p:set>
                                  </p:childTnLst>
                                </p:cTn>
                              </p:par>
                              <p:par>
                                <p:cTn id="56" presetID="1" presetClass="entr" presetSubtype="0" fill="hold" nodeType="withEffect">
                                  <p:stCondLst>
                                    <p:cond delay="0"/>
                                  </p:stCondLst>
                                  <p:childTnLst>
                                    <p:set>
                                      <p:cBhvr>
                                        <p:cTn id="57" dur="1" fill="hold">
                                          <p:stCondLst>
                                            <p:cond delay="0"/>
                                          </p:stCondLst>
                                        </p:cTn>
                                        <p:tgtEl>
                                          <p:spTgt spid="104"/>
                                        </p:tgtEl>
                                        <p:attrNameLst>
                                          <p:attrName>style.visibility</p:attrName>
                                        </p:attrNameLst>
                                      </p:cBhvr>
                                      <p:to>
                                        <p:strVal val="visible"/>
                                      </p:to>
                                    </p:set>
                                  </p:childTnLst>
                                </p:cTn>
                              </p:par>
                              <p:par>
                                <p:cTn id="58" presetID="1" presetClass="entr" presetSubtype="0" fill="hold" nodeType="withEffect">
                                  <p:stCondLst>
                                    <p:cond delay="0"/>
                                  </p:stCondLst>
                                  <p:childTnLst>
                                    <p:set>
                                      <p:cBhvr>
                                        <p:cTn id="59" dur="1" fill="hold">
                                          <p:stCondLst>
                                            <p:cond delay="0"/>
                                          </p:stCondLst>
                                        </p:cTn>
                                        <p:tgtEl>
                                          <p:spTgt spid="110"/>
                                        </p:tgtEl>
                                        <p:attrNameLst>
                                          <p:attrName>style.visibility</p:attrName>
                                        </p:attrNameLst>
                                      </p:cBhvr>
                                      <p:to>
                                        <p:strVal val="visible"/>
                                      </p:to>
                                    </p:set>
                                  </p:childTnLst>
                                </p:cTn>
                              </p:par>
                              <p:par>
                                <p:cTn id="60" presetID="1" presetClass="entr" presetSubtype="0" fill="hold" grpId="0" nodeType="withEffect">
                                  <p:stCondLst>
                                    <p:cond delay="0"/>
                                  </p:stCondLst>
                                  <p:childTnLst>
                                    <p:set>
                                      <p:cBhvr>
                                        <p:cTn id="61" dur="1" fill="hold">
                                          <p:stCondLst>
                                            <p:cond delay="0"/>
                                          </p:stCondLst>
                                        </p:cTn>
                                        <p:tgtEl>
                                          <p:spTgt spid="111"/>
                                        </p:tgtEl>
                                        <p:attrNameLst>
                                          <p:attrName>style.visibility</p:attrName>
                                        </p:attrNameLst>
                                      </p:cBhvr>
                                      <p:to>
                                        <p:strVal val="visible"/>
                                      </p:to>
                                    </p:set>
                                  </p:childTnLst>
                                </p:cTn>
                              </p:par>
                              <p:par>
                                <p:cTn id="62" presetID="1" presetClass="entr" presetSubtype="0" fill="hold" grpId="0" nodeType="withEffect">
                                  <p:stCondLst>
                                    <p:cond delay="0"/>
                                  </p:stCondLst>
                                  <p:childTnLst>
                                    <p:set>
                                      <p:cBhvr>
                                        <p:cTn id="63" dur="1" fill="hold">
                                          <p:stCondLst>
                                            <p:cond delay="0"/>
                                          </p:stCondLst>
                                        </p:cTn>
                                        <p:tgtEl>
                                          <p:spTgt spid="129"/>
                                        </p:tgtEl>
                                        <p:attrNameLst>
                                          <p:attrName>style.visibility</p:attrName>
                                        </p:attrNameLst>
                                      </p:cBhvr>
                                      <p:to>
                                        <p:strVal val="visible"/>
                                      </p:to>
                                    </p:set>
                                  </p:childTnLst>
                                </p:cTn>
                              </p:par>
                              <p:par>
                                <p:cTn id="64" presetID="1" presetClass="entr" presetSubtype="0" fill="hold" grpId="0" nodeType="withEffect">
                                  <p:stCondLst>
                                    <p:cond delay="0"/>
                                  </p:stCondLst>
                                  <p:childTnLst>
                                    <p:set>
                                      <p:cBhvr>
                                        <p:cTn id="65" dur="1" fill="hold">
                                          <p:stCondLst>
                                            <p:cond delay="0"/>
                                          </p:stCondLst>
                                        </p:cTn>
                                        <p:tgtEl>
                                          <p:spTgt spid="130"/>
                                        </p:tgtEl>
                                        <p:attrNameLst>
                                          <p:attrName>style.visibility</p:attrName>
                                        </p:attrNameLst>
                                      </p:cBhvr>
                                      <p:to>
                                        <p:strVal val="visible"/>
                                      </p:to>
                                    </p:set>
                                  </p:childTnLst>
                                </p:cTn>
                              </p:par>
                              <p:par>
                                <p:cTn id="66" presetID="1" presetClass="entr" presetSubtype="0" fill="hold" grpId="0" nodeType="withEffect">
                                  <p:stCondLst>
                                    <p:cond delay="0"/>
                                  </p:stCondLst>
                                  <p:childTnLst>
                                    <p:set>
                                      <p:cBhvr>
                                        <p:cTn id="67" dur="1" fill="hold">
                                          <p:stCondLst>
                                            <p:cond delay="0"/>
                                          </p:stCondLst>
                                        </p:cTn>
                                        <p:tgtEl>
                                          <p:spTgt spid="134"/>
                                        </p:tgtEl>
                                        <p:attrNameLst>
                                          <p:attrName>style.visibility</p:attrName>
                                        </p:attrNameLst>
                                      </p:cBhvr>
                                      <p:to>
                                        <p:strVal val="visible"/>
                                      </p:to>
                                    </p:set>
                                  </p:childTnLst>
                                </p:cTn>
                              </p:par>
                              <p:par>
                                <p:cTn id="68" presetID="1" presetClass="entr" presetSubtype="0" fill="hold" nodeType="withEffect">
                                  <p:stCondLst>
                                    <p:cond delay="0"/>
                                  </p:stCondLst>
                                  <p:childTnLst>
                                    <p:set>
                                      <p:cBhvr>
                                        <p:cTn id="69" dur="1" fill="hold">
                                          <p:stCondLst>
                                            <p:cond delay="0"/>
                                          </p:stCondLst>
                                        </p:cTn>
                                        <p:tgtEl>
                                          <p:spTgt spid="137"/>
                                        </p:tgtEl>
                                        <p:attrNameLst>
                                          <p:attrName>style.visibility</p:attrName>
                                        </p:attrNameLst>
                                      </p:cBhvr>
                                      <p:to>
                                        <p:strVal val="visible"/>
                                      </p:to>
                                    </p:set>
                                  </p:childTnLst>
                                </p:cTn>
                              </p:par>
                              <p:par>
                                <p:cTn id="70" presetID="1" presetClass="entr" presetSubtype="0" fill="hold" grpId="0" nodeType="withEffect">
                                  <p:stCondLst>
                                    <p:cond delay="0"/>
                                  </p:stCondLst>
                                  <p:childTnLst>
                                    <p:set>
                                      <p:cBhvr>
                                        <p:cTn id="71" dur="1" fill="hold">
                                          <p:stCondLst>
                                            <p:cond delay="0"/>
                                          </p:stCondLst>
                                        </p:cTn>
                                        <p:tgtEl>
                                          <p:spTgt spid="138"/>
                                        </p:tgtEl>
                                        <p:attrNameLst>
                                          <p:attrName>style.visibility</p:attrName>
                                        </p:attrNameLst>
                                      </p:cBhvr>
                                      <p:to>
                                        <p:strVal val="visible"/>
                                      </p:to>
                                    </p:set>
                                  </p:childTnLst>
                                </p:cTn>
                              </p:par>
                              <p:par>
                                <p:cTn id="72" presetID="1" presetClass="entr" presetSubtype="0" fill="hold" grpId="0" nodeType="withEffect">
                                  <p:stCondLst>
                                    <p:cond delay="0"/>
                                  </p:stCondLst>
                                  <p:childTnLst>
                                    <p:set>
                                      <p:cBhvr>
                                        <p:cTn id="73" dur="1" fill="hold">
                                          <p:stCondLst>
                                            <p:cond delay="0"/>
                                          </p:stCondLst>
                                        </p:cTn>
                                        <p:tgtEl>
                                          <p:spTgt spid="139"/>
                                        </p:tgtEl>
                                        <p:attrNameLst>
                                          <p:attrName>style.visibility</p:attrName>
                                        </p:attrNameLst>
                                      </p:cBhvr>
                                      <p:to>
                                        <p:strVal val="visible"/>
                                      </p:to>
                                    </p:set>
                                  </p:childTnLst>
                                </p:cTn>
                              </p:par>
                              <p:par>
                                <p:cTn id="74" presetID="1" presetClass="entr" presetSubtype="0" fill="hold" nodeType="withEffect">
                                  <p:stCondLst>
                                    <p:cond delay="0"/>
                                  </p:stCondLst>
                                  <p:childTnLst>
                                    <p:set>
                                      <p:cBhvr>
                                        <p:cTn id="75" dur="1" fill="hold">
                                          <p:stCondLst>
                                            <p:cond delay="0"/>
                                          </p:stCondLst>
                                        </p:cTn>
                                        <p:tgtEl>
                                          <p:spTgt spid="144"/>
                                        </p:tgtEl>
                                        <p:attrNameLst>
                                          <p:attrName>style.visibility</p:attrName>
                                        </p:attrNameLst>
                                      </p:cBhvr>
                                      <p:to>
                                        <p:strVal val="visible"/>
                                      </p:to>
                                    </p:set>
                                  </p:childTnLst>
                                </p:cTn>
                              </p:par>
                              <p:par>
                                <p:cTn id="76" presetID="1" presetClass="entr" presetSubtype="0" fill="hold" nodeType="withEffect">
                                  <p:stCondLst>
                                    <p:cond delay="0"/>
                                  </p:stCondLst>
                                  <p:childTnLst>
                                    <p:set>
                                      <p:cBhvr>
                                        <p:cTn id="77" dur="1" fill="hold">
                                          <p:stCondLst>
                                            <p:cond delay="0"/>
                                          </p:stCondLst>
                                        </p:cTn>
                                        <p:tgtEl>
                                          <p:spTgt spid="150"/>
                                        </p:tgtEl>
                                        <p:attrNameLst>
                                          <p:attrName>style.visibility</p:attrName>
                                        </p:attrNameLst>
                                      </p:cBhvr>
                                      <p:to>
                                        <p:strVal val="visible"/>
                                      </p:to>
                                    </p:set>
                                  </p:childTnLst>
                                </p:cTn>
                              </p:par>
                            </p:childTnLst>
                          </p:cTn>
                        </p:par>
                      </p:childTnLst>
                    </p:cTn>
                  </p:par>
                </p:childTnLst>
              </p:cTn>
              <p:nextCondLst>
                <p:cond evt="onClick" delay="0">
                  <p:tgtEl>
                    <p:spTgt spid="99"/>
                  </p:tgtEl>
                </p:cond>
              </p:nextCondLst>
            </p:seq>
            <p:seq concurrent="1" nextAc="seek">
              <p:cTn id="78" restart="whenNotActive" fill="hold" evtFilter="cancelBubble" nodeType="interactiveSeq">
                <p:stCondLst>
                  <p:cond evt="onClick" delay="0">
                    <p:tgtEl>
                      <p:spTgt spid="139"/>
                    </p:tgtEl>
                  </p:cond>
                </p:stCondLst>
                <p:endSync evt="end" delay="0">
                  <p:rtn val="all"/>
                </p:endSync>
                <p:childTnLst>
                  <p:par>
                    <p:cTn id="79" fill="hold">
                      <p:stCondLst>
                        <p:cond delay="0"/>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156"/>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161"/>
                                        </p:tgtEl>
                                        <p:attrNameLst>
                                          <p:attrName>style.visibility</p:attrName>
                                        </p:attrNameLst>
                                      </p:cBhvr>
                                      <p:to>
                                        <p:strVal val="visible"/>
                                      </p:to>
                                    </p:set>
                                  </p:childTnLst>
                                </p:cTn>
                              </p:par>
                              <p:par>
                                <p:cTn id="85" presetID="1" presetClass="exit" presetSubtype="0" fill="hold" grpId="1" nodeType="withEffect">
                                  <p:stCondLst>
                                    <p:cond delay="0"/>
                                  </p:stCondLst>
                                  <p:childTnLst>
                                    <p:set>
                                      <p:cBhvr>
                                        <p:cTn id="86" dur="1" fill="hold">
                                          <p:stCondLst>
                                            <p:cond delay="0"/>
                                          </p:stCondLst>
                                        </p:cTn>
                                        <p:tgtEl>
                                          <p:spTgt spid="139"/>
                                        </p:tgtEl>
                                        <p:attrNameLst>
                                          <p:attrName>style.visibility</p:attrName>
                                        </p:attrNameLst>
                                      </p:cBhvr>
                                      <p:to>
                                        <p:strVal val="hidden"/>
                                      </p:to>
                                    </p:set>
                                  </p:childTnLst>
                                </p:cTn>
                              </p:par>
                              <p:par>
                                <p:cTn id="87" presetID="1" presetClass="exit" presetSubtype="0" fill="hold" nodeType="withEffect">
                                  <p:stCondLst>
                                    <p:cond delay="0"/>
                                  </p:stCondLst>
                                  <p:childTnLst>
                                    <p:set>
                                      <p:cBhvr>
                                        <p:cTn id="88" dur="1" fill="hold">
                                          <p:stCondLst>
                                            <p:cond delay="0"/>
                                          </p:stCondLst>
                                        </p:cTn>
                                        <p:tgtEl>
                                          <p:spTgt spid="150"/>
                                        </p:tgtEl>
                                        <p:attrNameLst>
                                          <p:attrName>style.visibility</p:attrName>
                                        </p:attrNameLst>
                                      </p:cBhvr>
                                      <p:to>
                                        <p:strVal val="hidden"/>
                                      </p:to>
                                    </p:set>
                                  </p:childTnLst>
                                </p:cTn>
                              </p:par>
                            </p:childTnLst>
                          </p:cTn>
                        </p:par>
                      </p:childTnLst>
                    </p:cTn>
                  </p:par>
                </p:childTnLst>
              </p:cTn>
              <p:nextCondLst>
                <p:cond evt="onClick" delay="0">
                  <p:tgtEl>
                    <p:spTgt spid="139"/>
                  </p:tgtEl>
                </p:cond>
              </p:nextCondLst>
            </p:seq>
          </p:childTnLst>
        </p:cTn>
      </p:par>
    </p:tnLst>
    <p:bldLst>
      <p:bldP spid="46" grpId="0" animBg="1"/>
      <p:bldP spid="4" grpId="0" animBg="1"/>
      <p:bldP spid="14" grpId="0" animBg="1"/>
      <p:bldP spid="16" grpId="0" animBg="1"/>
      <p:bldP spid="17" grpId="0" animBg="1"/>
      <p:bldP spid="23" grpId="0" animBg="1"/>
      <p:bldP spid="75" grpId="0" animBg="1"/>
      <p:bldP spid="79" grpId="0" animBg="1"/>
      <p:bldP spid="85" grpId="0" animBg="1"/>
      <p:bldP spid="86" grpId="0" animBg="1"/>
      <p:bldP spid="99" grpId="0" animBg="1"/>
      <p:bldP spid="99" grpId="1" animBg="1"/>
      <p:bldP spid="111" grpId="0" animBg="1"/>
      <p:bldP spid="129" grpId="0" animBg="1"/>
      <p:bldP spid="130" grpId="0" animBg="1"/>
      <p:bldP spid="134" grpId="0" animBg="1"/>
      <p:bldP spid="138" grpId="0" animBg="1"/>
      <p:bldP spid="139" grpId="0" animBg="1"/>
      <p:bldP spid="139" grpId="1" animBg="1"/>
      <p:bldP spid="161" grpId="0" animBg="1"/>
      <p:bldP spid="7"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7" name="Vaccines">
            <a:extLst>
              <a:ext uri="{FF2B5EF4-FFF2-40B4-BE49-F238E27FC236}">
                <a16:creationId xmlns:a16="http://schemas.microsoft.com/office/drawing/2014/main" id="{7A201926-22ED-162B-1CA0-D02B9D5B71D8}"/>
              </a:ext>
            </a:extLst>
          </p:cNvPr>
          <p:cNvGrpSpPr/>
          <p:nvPr/>
        </p:nvGrpSpPr>
        <p:grpSpPr>
          <a:xfrm>
            <a:off x="2267143" y="5870692"/>
            <a:ext cx="1554480" cy="719960"/>
            <a:chOff x="2283691" y="5972739"/>
            <a:chExt cx="1554480" cy="719960"/>
          </a:xfrm>
          <a:effectLst/>
        </p:grpSpPr>
        <p:sp>
          <p:nvSpPr>
            <p:cNvPr id="98" name="Vaccin button">
              <a:extLst>
                <a:ext uri="{FF2B5EF4-FFF2-40B4-BE49-F238E27FC236}">
                  <a16:creationId xmlns:a16="http://schemas.microsoft.com/office/drawing/2014/main" id="{1A21656F-F108-4A9A-F47A-5189D92E25C3}"/>
                </a:ext>
              </a:extLst>
            </p:cNvPr>
            <p:cNvSpPr/>
            <p:nvPr/>
          </p:nvSpPr>
          <p:spPr>
            <a:xfrm>
              <a:off x="2283691" y="5972739"/>
              <a:ext cx="1554480" cy="719960"/>
            </a:xfrm>
            <a:prstGeom prst="roundRect">
              <a:avLst/>
            </a:prstGeom>
            <a:solidFill>
              <a:schemeClr val="bg1"/>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1600" dirty="0">
                  <a:solidFill>
                    <a:schemeClr val="tx1"/>
                  </a:solidFill>
                </a:rPr>
                <a:t>Vaccines</a:t>
              </a:r>
            </a:p>
          </p:txBody>
        </p:sp>
        <p:pic>
          <p:nvPicPr>
            <p:cNvPr id="99" name="Picture 98" descr="A picture containing text&#10;&#10;Description automatically generated">
              <a:extLst>
                <a:ext uri="{FF2B5EF4-FFF2-40B4-BE49-F238E27FC236}">
                  <a16:creationId xmlns:a16="http://schemas.microsoft.com/office/drawing/2014/main" id="{2AD2BDA6-3F88-7E20-546F-6700BD23D667}"/>
                </a:ext>
              </a:extLst>
            </p:cNvPr>
            <p:cNvPicPr>
              <a:picLocks noChangeAspect="1"/>
            </p:cNvPicPr>
            <p:nvPr/>
          </p:nvPicPr>
          <p:blipFill rotWithShape="1">
            <a:blip r:embed="rId3">
              <a:extLst>
                <a:ext uri="{28A0092B-C50C-407E-A947-70E740481C1C}">
                  <a14:useLocalDpi xmlns:a14="http://schemas.microsoft.com/office/drawing/2010/main" val="0"/>
                </a:ext>
              </a:extLst>
            </a:blip>
            <a:srcRect l="79240" t="6666" r="8256" b="76408"/>
            <a:stretch/>
          </p:blipFill>
          <p:spPr>
            <a:xfrm>
              <a:off x="2333567" y="5999855"/>
              <a:ext cx="677256" cy="641738"/>
            </a:xfrm>
            <a:prstGeom prst="rect">
              <a:avLst/>
            </a:prstGeom>
            <a:ln>
              <a:noFill/>
            </a:ln>
          </p:spPr>
        </p:pic>
      </p:grpSp>
      <p:grpSp>
        <p:nvGrpSpPr>
          <p:cNvPr id="88" name="Group 87">
            <a:extLst>
              <a:ext uri="{FF2B5EF4-FFF2-40B4-BE49-F238E27FC236}">
                <a16:creationId xmlns:a16="http://schemas.microsoft.com/office/drawing/2014/main" id="{6EB5764C-D161-BD40-D7E9-E73E19A28008}"/>
              </a:ext>
            </a:extLst>
          </p:cNvPr>
          <p:cNvGrpSpPr/>
          <p:nvPr/>
        </p:nvGrpSpPr>
        <p:grpSpPr>
          <a:xfrm>
            <a:off x="2281635" y="3650159"/>
            <a:ext cx="1554480" cy="1018943"/>
            <a:chOff x="2281635" y="3775419"/>
            <a:chExt cx="1554480" cy="1018943"/>
          </a:xfrm>
        </p:grpSpPr>
        <p:sp>
          <p:nvSpPr>
            <p:cNvPr id="2" name="Pulm rehab">
              <a:extLst>
                <a:ext uri="{FF2B5EF4-FFF2-40B4-BE49-F238E27FC236}">
                  <a16:creationId xmlns:a16="http://schemas.microsoft.com/office/drawing/2014/main" id="{19BDFDF7-5F9D-EBAB-B1CC-DA4C72A4B0D1}"/>
                </a:ext>
              </a:extLst>
            </p:cNvPr>
            <p:cNvSpPr/>
            <p:nvPr/>
          </p:nvSpPr>
          <p:spPr>
            <a:xfrm>
              <a:off x="2281635" y="4337162"/>
              <a:ext cx="1554480" cy="457200"/>
            </a:xfrm>
            <a:prstGeom prst="roundRect">
              <a:avLst/>
            </a:prstGeom>
            <a:solidFill>
              <a:schemeClr val="bg1"/>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err="1">
                  <a:solidFill>
                    <a:schemeClr val="tx1"/>
                  </a:solidFill>
                </a:rPr>
                <a:t>Pulm</a:t>
              </a:r>
              <a:r>
                <a:rPr lang="en-US" sz="1600" dirty="0">
                  <a:solidFill>
                    <a:schemeClr val="tx1"/>
                  </a:solidFill>
                </a:rPr>
                <a:t> Rehab</a:t>
              </a:r>
            </a:p>
          </p:txBody>
        </p:sp>
        <p:pic>
          <p:nvPicPr>
            <p:cNvPr id="87" name="Picture 86" descr="A picture containing text&#10;&#10;Description automatically generated">
              <a:extLst>
                <a:ext uri="{FF2B5EF4-FFF2-40B4-BE49-F238E27FC236}">
                  <a16:creationId xmlns:a16="http://schemas.microsoft.com/office/drawing/2014/main" id="{2565F7FD-2080-03F0-C06F-A81DEC330ACB}"/>
                </a:ext>
              </a:extLst>
            </p:cNvPr>
            <p:cNvPicPr>
              <a:picLocks noChangeAspect="1"/>
            </p:cNvPicPr>
            <p:nvPr/>
          </p:nvPicPr>
          <p:blipFill rotWithShape="1">
            <a:blip r:embed="rId3">
              <a:extLst>
                <a:ext uri="{28A0092B-C50C-407E-A947-70E740481C1C}">
                  <a14:useLocalDpi xmlns:a14="http://schemas.microsoft.com/office/drawing/2010/main" val="0"/>
                </a:ext>
              </a:extLst>
            </a:blip>
            <a:srcRect l="78610" t="38845" r="6126" b="34867"/>
            <a:stretch/>
          </p:blipFill>
          <p:spPr>
            <a:xfrm>
              <a:off x="2728614" y="3775419"/>
              <a:ext cx="634214" cy="764606"/>
            </a:xfrm>
            <a:prstGeom prst="rect">
              <a:avLst/>
            </a:prstGeom>
          </p:spPr>
        </p:pic>
      </p:grpSp>
      <p:grpSp>
        <p:nvGrpSpPr>
          <p:cNvPr id="82" name="Group 81">
            <a:extLst>
              <a:ext uri="{FF2B5EF4-FFF2-40B4-BE49-F238E27FC236}">
                <a16:creationId xmlns:a16="http://schemas.microsoft.com/office/drawing/2014/main" id="{791B6D7C-B0D7-2BE9-DDA5-C477169A7BBB}"/>
              </a:ext>
            </a:extLst>
          </p:cNvPr>
          <p:cNvGrpSpPr/>
          <p:nvPr/>
        </p:nvGrpSpPr>
        <p:grpSpPr>
          <a:xfrm>
            <a:off x="2268014" y="2503714"/>
            <a:ext cx="1554480" cy="1037591"/>
            <a:chOff x="2419543" y="2781180"/>
            <a:chExt cx="1554480" cy="1037591"/>
          </a:xfrm>
        </p:grpSpPr>
        <p:sp>
          <p:nvSpPr>
            <p:cNvPr id="78" name="Oxygen">
              <a:extLst>
                <a:ext uri="{FF2B5EF4-FFF2-40B4-BE49-F238E27FC236}">
                  <a16:creationId xmlns:a16="http://schemas.microsoft.com/office/drawing/2014/main" id="{07ACFE26-001C-FB8F-C5A5-C66344F781C3}"/>
                </a:ext>
              </a:extLst>
            </p:cNvPr>
            <p:cNvSpPr/>
            <p:nvPr/>
          </p:nvSpPr>
          <p:spPr>
            <a:xfrm>
              <a:off x="2419543" y="2911354"/>
              <a:ext cx="1554480" cy="907417"/>
            </a:xfrm>
            <a:prstGeom prst="roundRect">
              <a:avLst/>
            </a:prstGeom>
            <a:no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               </a:t>
              </a:r>
              <a:r>
                <a:rPr lang="en-US" sz="1600" dirty="0">
                  <a:solidFill>
                    <a:schemeClr val="tx1"/>
                  </a:solidFill>
                </a:rPr>
                <a:t>O</a:t>
              </a:r>
              <a:r>
                <a:rPr lang="en-US" sz="1600" baseline="-25000" dirty="0">
                  <a:solidFill>
                    <a:schemeClr val="tx1"/>
                  </a:solidFill>
                </a:rPr>
                <a:t>2</a:t>
              </a:r>
              <a:endParaRPr lang="en-US" baseline="-25000" dirty="0">
                <a:solidFill>
                  <a:schemeClr val="tx1"/>
                </a:solidFill>
              </a:endParaRPr>
            </a:p>
            <a:p>
              <a:pPr algn="r"/>
              <a:r>
                <a:rPr lang="en-US" sz="1600" dirty="0">
                  <a:solidFill>
                    <a:schemeClr val="tx1"/>
                  </a:solidFill>
                </a:rPr>
                <a:t>Therapy</a:t>
              </a:r>
              <a:endParaRPr lang="en-US" dirty="0">
                <a:solidFill>
                  <a:schemeClr val="tx1"/>
                </a:solidFill>
              </a:endParaRPr>
            </a:p>
          </p:txBody>
        </p:sp>
        <p:pic>
          <p:nvPicPr>
            <p:cNvPr id="79" name="Picture 78" descr="A picture containing text&#10;&#10;Description automatically generated">
              <a:extLst>
                <a:ext uri="{FF2B5EF4-FFF2-40B4-BE49-F238E27FC236}">
                  <a16:creationId xmlns:a16="http://schemas.microsoft.com/office/drawing/2014/main" id="{BF3D2ACA-666C-F42D-76B4-151B22550ED0}"/>
                </a:ext>
              </a:extLst>
            </p:cNvPr>
            <p:cNvPicPr>
              <a:picLocks noChangeAspect="1"/>
            </p:cNvPicPr>
            <p:nvPr/>
          </p:nvPicPr>
          <p:blipFill rotWithShape="1">
            <a:blip r:embed="rId3">
              <a:extLst>
                <a:ext uri="{28A0092B-C50C-407E-A947-70E740481C1C}">
                  <a14:useLocalDpi xmlns:a14="http://schemas.microsoft.com/office/drawing/2010/main" val="0"/>
                </a:ext>
              </a:extLst>
            </a:blip>
            <a:srcRect l="72100" t="70111" r="15845" b="7261"/>
            <a:stretch/>
          </p:blipFill>
          <p:spPr>
            <a:xfrm rot="1986133">
              <a:off x="2483166" y="2781180"/>
              <a:ext cx="748796" cy="983896"/>
            </a:xfrm>
            <a:prstGeom prst="rect">
              <a:avLst/>
            </a:prstGeom>
            <a:noFill/>
            <a:ln>
              <a:noFill/>
            </a:ln>
            <a:effectLst/>
          </p:spPr>
        </p:pic>
      </p:grpSp>
      <p:grpSp>
        <p:nvGrpSpPr>
          <p:cNvPr id="32" name="Group 31">
            <a:extLst>
              <a:ext uri="{FF2B5EF4-FFF2-40B4-BE49-F238E27FC236}">
                <a16:creationId xmlns:a16="http://schemas.microsoft.com/office/drawing/2014/main" id="{16FDE1DC-1019-1525-19A3-136146C6ABEC}"/>
              </a:ext>
            </a:extLst>
          </p:cNvPr>
          <p:cNvGrpSpPr/>
          <p:nvPr/>
        </p:nvGrpSpPr>
        <p:grpSpPr>
          <a:xfrm>
            <a:off x="1916525" y="1351606"/>
            <a:ext cx="2151248" cy="1201935"/>
            <a:chOff x="1916525" y="1476866"/>
            <a:chExt cx="2151248" cy="1201935"/>
          </a:xfrm>
        </p:grpSpPr>
        <p:pic>
          <p:nvPicPr>
            <p:cNvPr id="26" name="Picture 25" descr="A picture containing text&#10;&#10;Description automatically generated">
              <a:extLst>
                <a:ext uri="{FF2B5EF4-FFF2-40B4-BE49-F238E27FC236}">
                  <a16:creationId xmlns:a16="http://schemas.microsoft.com/office/drawing/2014/main" id="{0D02F388-CC92-E3E4-46F1-68380533332A}"/>
                </a:ext>
              </a:extLst>
            </p:cNvPr>
            <p:cNvPicPr>
              <a:picLocks noChangeAspect="1"/>
            </p:cNvPicPr>
            <p:nvPr/>
          </p:nvPicPr>
          <p:blipFill rotWithShape="1">
            <a:blip r:embed="rId3">
              <a:extLst>
                <a:ext uri="{28A0092B-C50C-407E-A947-70E740481C1C}">
                  <a14:useLocalDpi xmlns:a14="http://schemas.microsoft.com/office/drawing/2010/main" val="0"/>
                </a:ext>
              </a:extLst>
            </a:blip>
            <a:srcRect l="46313" t="72289" r="35372" b="7260"/>
            <a:stretch/>
          </p:blipFill>
          <p:spPr>
            <a:xfrm>
              <a:off x="2728569" y="1476866"/>
              <a:ext cx="788140" cy="605283"/>
            </a:xfrm>
            <a:prstGeom prst="rect">
              <a:avLst/>
            </a:prstGeom>
          </p:spPr>
        </p:pic>
        <p:grpSp>
          <p:nvGrpSpPr>
            <p:cNvPr id="30" name="Group 29">
              <a:extLst>
                <a:ext uri="{FF2B5EF4-FFF2-40B4-BE49-F238E27FC236}">
                  <a16:creationId xmlns:a16="http://schemas.microsoft.com/office/drawing/2014/main" id="{990D2491-AEE3-6738-E4B7-850D886F7719}"/>
                </a:ext>
              </a:extLst>
            </p:cNvPr>
            <p:cNvGrpSpPr/>
            <p:nvPr/>
          </p:nvGrpSpPr>
          <p:grpSpPr>
            <a:xfrm>
              <a:off x="1916525" y="1591310"/>
              <a:ext cx="2151248" cy="1087491"/>
              <a:chOff x="1916525" y="1591310"/>
              <a:chExt cx="2151248" cy="1087491"/>
            </a:xfrm>
          </p:grpSpPr>
          <p:sp>
            <p:nvSpPr>
              <p:cNvPr id="4" name="Smoking cessation">
                <a:extLst>
                  <a:ext uri="{FF2B5EF4-FFF2-40B4-BE49-F238E27FC236}">
                    <a16:creationId xmlns:a16="http://schemas.microsoft.com/office/drawing/2014/main" id="{092F380E-0284-73F3-4F4C-54BC13901698}"/>
                  </a:ext>
                </a:extLst>
              </p:cNvPr>
              <p:cNvSpPr/>
              <p:nvPr/>
            </p:nvSpPr>
            <p:spPr>
              <a:xfrm>
                <a:off x="1916525" y="2273930"/>
                <a:ext cx="2151248" cy="404871"/>
              </a:xfrm>
              <a:prstGeom prst="roundRect">
                <a:avLst/>
              </a:prstGeom>
              <a:solidFill>
                <a:schemeClr val="bg1"/>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Smoking Cessation</a:t>
                </a:r>
              </a:p>
            </p:txBody>
          </p:sp>
          <p:sp>
            <p:nvSpPr>
              <p:cNvPr id="28" name="&quot;Not Allowed&quot; Symbol 27">
                <a:extLst>
                  <a:ext uri="{FF2B5EF4-FFF2-40B4-BE49-F238E27FC236}">
                    <a16:creationId xmlns:a16="http://schemas.microsoft.com/office/drawing/2014/main" id="{317D37EF-B158-4A3B-70CF-523AF31BD2BC}"/>
                  </a:ext>
                </a:extLst>
              </p:cNvPr>
              <p:cNvSpPr/>
              <p:nvPr/>
            </p:nvSpPr>
            <p:spPr>
              <a:xfrm>
                <a:off x="2678993" y="1591310"/>
                <a:ext cx="782706" cy="736538"/>
              </a:xfrm>
              <a:prstGeom prst="noSmoking">
                <a:avLst>
                  <a:gd name="adj" fmla="val 5348"/>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sp>
        <p:nvSpPr>
          <p:cNvPr id="5" name="Lung cancer screening">
            <a:extLst>
              <a:ext uri="{FF2B5EF4-FFF2-40B4-BE49-F238E27FC236}">
                <a16:creationId xmlns:a16="http://schemas.microsoft.com/office/drawing/2014/main" id="{DCBE697C-18BA-2563-F1DF-0D7D062D4C0A}"/>
              </a:ext>
            </a:extLst>
          </p:cNvPr>
          <p:cNvSpPr/>
          <p:nvPr/>
        </p:nvSpPr>
        <p:spPr>
          <a:xfrm>
            <a:off x="2270609" y="4822527"/>
            <a:ext cx="1554480" cy="719961"/>
          </a:xfrm>
          <a:prstGeom prst="roundRect">
            <a:avLst/>
          </a:prstGeom>
          <a:solidFill>
            <a:schemeClr val="bg1"/>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Lung cancer</a:t>
            </a:r>
          </a:p>
          <a:p>
            <a:pPr algn="ctr"/>
            <a:r>
              <a:rPr lang="en-US" dirty="0">
                <a:solidFill>
                  <a:schemeClr val="tx1"/>
                </a:solidFill>
              </a:rPr>
              <a:t>screening</a:t>
            </a:r>
          </a:p>
        </p:txBody>
      </p:sp>
      <p:sp>
        <p:nvSpPr>
          <p:cNvPr id="38" name="TextBox 37">
            <a:extLst>
              <a:ext uri="{FF2B5EF4-FFF2-40B4-BE49-F238E27FC236}">
                <a16:creationId xmlns:a16="http://schemas.microsoft.com/office/drawing/2014/main" id="{A0F690D7-D0EC-4FD0-353C-7F46A7803B20}"/>
              </a:ext>
            </a:extLst>
          </p:cNvPr>
          <p:cNvSpPr txBox="1"/>
          <p:nvPr/>
        </p:nvSpPr>
        <p:spPr>
          <a:xfrm>
            <a:off x="3020500" y="110643"/>
            <a:ext cx="7116561" cy="461665"/>
          </a:xfrm>
          <a:prstGeom prst="rect">
            <a:avLst/>
          </a:prstGeom>
          <a:noFill/>
        </p:spPr>
        <p:txBody>
          <a:bodyPr wrap="square" rtlCol="0">
            <a:spAutoFit/>
          </a:bodyPr>
          <a:lstStyle/>
          <a:p>
            <a:pPr algn="ctr"/>
            <a:r>
              <a:rPr lang="en-US" sz="2400" b="1" dirty="0"/>
              <a:t>Efficacy of nonpharmacologic therapies</a:t>
            </a:r>
          </a:p>
        </p:txBody>
      </p:sp>
      <p:grpSp>
        <p:nvGrpSpPr>
          <p:cNvPr id="40" name="Group 39">
            <a:extLst>
              <a:ext uri="{FF2B5EF4-FFF2-40B4-BE49-F238E27FC236}">
                <a16:creationId xmlns:a16="http://schemas.microsoft.com/office/drawing/2014/main" id="{0445CF61-9FB4-FE62-07DF-15419157D143}"/>
              </a:ext>
            </a:extLst>
          </p:cNvPr>
          <p:cNvGrpSpPr/>
          <p:nvPr/>
        </p:nvGrpSpPr>
        <p:grpSpPr>
          <a:xfrm>
            <a:off x="2355270" y="609447"/>
            <a:ext cx="9367289" cy="6031280"/>
            <a:chOff x="2424545" y="731519"/>
            <a:chExt cx="9367289" cy="5789355"/>
          </a:xfrm>
        </p:grpSpPr>
        <p:sp>
          <p:nvSpPr>
            <p:cNvPr id="41" name="Rectangle 40">
              <a:extLst>
                <a:ext uri="{FF2B5EF4-FFF2-40B4-BE49-F238E27FC236}">
                  <a16:creationId xmlns:a16="http://schemas.microsoft.com/office/drawing/2014/main" id="{960D501D-19AC-42AF-BF2B-49C5226D7B41}"/>
                </a:ext>
              </a:extLst>
            </p:cNvPr>
            <p:cNvSpPr/>
            <p:nvPr/>
          </p:nvSpPr>
          <p:spPr>
            <a:xfrm>
              <a:off x="8839001" y="733010"/>
              <a:ext cx="1386002" cy="687137"/>
            </a:xfrm>
            <a:prstGeom prst="rect">
              <a:avLst/>
            </a:prstGeom>
            <a:solidFill>
              <a:schemeClr val="bg1"/>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Slow Progression</a:t>
              </a:r>
            </a:p>
          </p:txBody>
        </p:sp>
        <p:sp>
          <p:nvSpPr>
            <p:cNvPr id="42" name="Rectangle 41">
              <a:extLst>
                <a:ext uri="{FF2B5EF4-FFF2-40B4-BE49-F238E27FC236}">
                  <a16:creationId xmlns:a16="http://schemas.microsoft.com/office/drawing/2014/main" id="{9330599B-953A-4847-A71A-EAD6E90B63EE}"/>
                </a:ext>
              </a:extLst>
            </p:cNvPr>
            <p:cNvSpPr/>
            <p:nvPr/>
          </p:nvSpPr>
          <p:spPr>
            <a:xfrm>
              <a:off x="5746272" y="733010"/>
              <a:ext cx="1465699" cy="687137"/>
            </a:xfrm>
            <a:prstGeom prst="rect">
              <a:avLst/>
            </a:prstGeom>
            <a:solidFill>
              <a:schemeClr val="bg1"/>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Reduce symptoms</a:t>
              </a:r>
            </a:p>
          </p:txBody>
        </p:sp>
        <p:sp>
          <p:nvSpPr>
            <p:cNvPr id="50" name="Rectangle 49">
              <a:extLst>
                <a:ext uri="{FF2B5EF4-FFF2-40B4-BE49-F238E27FC236}">
                  <a16:creationId xmlns:a16="http://schemas.microsoft.com/office/drawing/2014/main" id="{EA928034-B4B6-4059-BAE8-223C42517FF6}"/>
                </a:ext>
              </a:extLst>
            </p:cNvPr>
            <p:cNvSpPr/>
            <p:nvPr/>
          </p:nvSpPr>
          <p:spPr>
            <a:xfrm>
              <a:off x="7292636" y="733010"/>
              <a:ext cx="1465700" cy="687137"/>
            </a:xfrm>
            <a:prstGeom prst="rect">
              <a:avLst/>
            </a:prstGeom>
            <a:solidFill>
              <a:schemeClr val="bg1"/>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Improve Function</a:t>
              </a:r>
            </a:p>
          </p:txBody>
        </p:sp>
        <p:sp>
          <p:nvSpPr>
            <p:cNvPr id="56" name="Rectangle 55">
              <a:extLst>
                <a:ext uri="{FF2B5EF4-FFF2-40B4-BE49-F238E27FC236}">
                  <a16:creationId xmlns:a16="http://schemas.microsoft.com/office/drawing/2014/main" id="{EE7DACED-E8BA-4AFD-AF4B-66DCCC86E0C9}"/>
                </a:ext>
              </a:extLst>
            </p:cNvPr>
            <p:cNvSpPr/>
            <p:nvPr/>
          </p:nvSpPr>
          <p:spPr>
            <a:xfrm>
              <a:off x="4019688" y="733010"/>
              <a:ext cx="1645920" cy="687137"/>
            </a:xfrm>
            <a:prstGeom prst="rect">
              <a:avLst/>
            </a:prstGeom>
            <a:solidFill>
              <a:schemeClr val="bg1"/>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Reduce exacerbations</a:t>
              </a:r>
            </a:p>
          </p:txBody>
        </p:sp>
        <p:sp>
          <p:nvSpPr>
            <p:cNvPr id="62" name="Rectangle 61">
              <a:extLst>
                <a:ext uri="{FF2B5EF4-FFF2-40B4-BE49-F238E27FC236}">
                  <a16:creationId xmlns:a16="http://schemas.microsoft.com/office/drawing/2014/main" id="{71D97A18-6038-4368-9C59-5962253787C7}"/>
                </a:ext>
              </a:extLst>
            </p:cNvPr>
            <p:cNvSpPr/>
            <p:nvPr/>
          </p:nvSpPr>
          <p:spPr>
            <a:xfrm>
              <a:off x="10347233" y="731519"/>
              <a:ext cx="1444601" cy="688628"/>
            </a:xfrm>
            <a:prstGeom prst="rect">
              <a:avLst/>
            </a:prstGeom>
            <a:solidFill>
              <a:schemeClr val="bg1"/>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Prevent </a:t>
              </a:r>
            </a:p>
            <a:p>
              <a:pPr algn="ctr"/>
              <a:r>
                <a:rPr lang="en-US" dirty="0">
                  <a:solidFill>
                    <a:schemeClr val="tx1"/>
                  </a:solidFill>
                </a:rPr>
                <a:t>Death</a:t>
              </a:r>
            </a:p>
          </p:txBody>
        </p:sp>
        <p:grpSp>
          <p:nvGrpSpPr>
            <p:cNvPr id="39" name="Group 38">
              <a:extLst>
                <a:ext uri="{FF2B5EF4-FFF2-40B4-BE49-F238E27FC236}">
                  <a16:creationId xmlns:a16="http://schemas.microsoft.com/office/drawing/2014/main" id="{09D19047-3E6D-7146-176F-16BF398E092C}"/>
                </a:ext>
              </a:extLst>
            </p:cNvPr>
            <p:cNvGrpSpPr/>
            <p:nvPr/>
          </p:nvGrpSpPr>
          <p:grpSpPr>
            <a:xfrm>
              <a:off x="2424545" y="739424"/>
              <a:ext cx="9325724" cy="5781450"/>
              <a:chOff x="2424545" y="739424"/>
              <a:chExt cx="9325724" cy="5781450"/>
            </a:xfrm>
          </p:grpSpPr>
          <p:cxnSp>
            <p:nvCxnSpPr>
              <p:cNvPr id="7" name="Straight Connector 6">
                <a:extLst>
                  <a:ext uri="{FF2B5EF4-FFF2-40B4-BE49-F238E27FC236}">
                    <a16:creationId xmlns:a16="http://schemas.microsoft.com/office/drawing/2014/main" id="{FF83B84D-BC89-9812-7ECB-1B6BAA555D11}"/>
                  </a:ext>
                </a:extLst>
              </p:cNvPr>
              <p:cNvCxnSpPr>
                <a:cxnSpLocks/>
              </p:cNvCxnSpPr>
              <p:nvPr/>
            </p:nvCxnSpPr>
            <p:spPr>
              <a:xfrm>
                <a:off x="5665608" y="815682"/>
                <a:ext cx="0" cy="5705192"/>
              </a:xfrm>
              <a:prstGeom prst="line">
                <a:avLst/>
              </a:prstGeom>
              <a:ln w="28575"/>
            </p:spPr>
            <p:style>
              <a:lnRef idx="3">
                <a:schemeClr val="dk1"/>
              </a:lnRef>
              <a:fillRef idx="0">
                <a:schemeClr val="dk1"/>
              </a:fillRef>
              <a:effectRef idx="2">
                <a:schemeClr val="dk1"/>
              </a:effectRef>
              <a:fontRef idx="minor">
                <a:schemeClr val="tx1"/>
              </a:fontRef>
            </p:style>
          </p:cxnSp>
          <p:cxnSp>
            <p:nvCxnSpPr>
              <p:cNvPr id="9" name="Straight Connector 8">
                <a:extLst>
                  <a:ext uri="{FF2B5EF4-FFF2-40B4-BE49-F238E27FC236}">
                    <a16:creationId xmlns:a16="http://schemas.microsoft.com/office/drawing/2014/main" id="{BE198971-8692-1A86-5856-0ACFBA0B6060}"/>
                  </a:ext>
                </a:extLst>
              </p:cNvPr>
              <p:cNvCxnSpPr>
                <a:cxnSpLocks/>
              </p:cNvCxnSpPr>
              <p:nvPr/>
            </p:nvCxnSpPr>
            <p:spPr>
              <a:xfrm>
                <a:off x="7292636" y="775910"/>
                <a:ext cx="0" cy="5705192"/>
              </a:xfrm>
              <a:prstGeom prst="line">
                <a:avLst/>
              </a:prstGeom>
              <a:ln w="28575"/>
            </p:spPr>
            <p:style>
              <a:lnRef idx="3">
                <a:schemeClr val="dk1"/>
              </a:lnRef>
              <a:fillRef idx="0">
                <a:schemeClr val="dk1"/>
              </a:fillRef>
              <a:effectRef idx="2">
                <a:schemeClr val="dk1"/>
              </a:effectRef>
              <a:fontRef idx="minor">
                <a:schemeClr val="tx1"/>
              </a:fontRef>
            </p:style>
          </p:cxnSp>
          <p:cxnSp>
            <p:nvCxnSpPr>
              <p:cNvPr id="21" name="Straight Connector 20">
                <a:extLst>
                  <a:ext uri="{FF2B5EF4-FFF2-40B4-BE49-F238E27FC236}">
                    <a16:creationId xmlns:a16="http://schemas.microsoft.com/office/drawing/2014/main" id="{74FFA2C2-48C9-CF03-B69F-A2851D84EBB8}"/>
                  </a:ext>
                </a:extLst>
              </p:cNvPr>
              <p:cNvCxnSpPr>
                <a:cxnSpLocks/>
              </p:cNvCxnSpPr>
              <p:nvPr/>
            </p:nvCxnSpPr>
            <p:spPr>
              <a:xfrm>
                <a:off x="8721644" y="775910"/>
                <a:ext cx="0" cy="5705192"/>
              </a:xfrm>
              <a:prstGeom prst="line">
                <a:avLst/>
              </a:prstGeom>
              <a:ln w="28575"/>
            </p:spPr>
            <p:style>
              <a:lnRef idx="3">
                <a:schemeClr val="dk1"/>
              </a:lnRef>
              <a:fillRef idx="0">
                <a:schemeClr val="dk1"/>
              </a:fillRef>
              <a:effectRef idx="2">
                <a:schemeClr val="dk1"/>
              </a:effectRef>
              <a:fontRef idx="minor">
                <a:schemeClr val="tx1"/>
              </a:fontRef>
            </p:style>
          </p:cxnSp>
          <p:cxnSp>
            <p:nvCxnSpPr>
              <p:cNvPr id="27" name="Straight Connector 26">
                <a:extLst>
                  <a:ext uri="{FF2B5EF4-FFF2-40B4-BE49-F238E27FC236}">
                    <a16:creationId xmlns:a16="http://schemas.microsoft.com/office/drawing/2014/main" id="{B1B51E83-A72C-A6FE-914B-456D9518B75A}"/>
                  </a:ext>
                </a:extLst>
              </p:cNvPr>
              <p:cNvCxnSpPr>
                <a:cxnSpLocks/>
              </p:cNvCxnSpPr>
              <p:nvPr/>
            </p:nvCxnSpPr>
            <p:spPr>
              <a:xfrm>
                <a:off x="10333904" y="739424"/>
                <a:ext cx="0" cy="5705192"/>
              </a:xfrm>
              <a:prstGeom prst="line">
                <a:avLst/>
              </a:prstGeom>
              <a:ln w="28575"/>
            </p:spPr>
            <p:style>
              <a:lnRef idx="3">
                <a:schemeClr val="dk1"/>
              </a:lnRef>
              <a:fillRef idx="0">
                <a:schemeClr val="dk1"/>
              </a:fillRef>
              <a:effectRef idx="2">
                <a:schemeClr val="dk1"/>
              </a:effectRef>
              <a:fontRef idx="minor">
                <a:schemeClr val="tx1"/>
              </a:fontRef>
            </p:style>
          </p:cxnSp>
          <p:cxnSp>
            <p:nvCxnSpPr>
              <p:cNvPr id="29" name="Straight Connector 28">
                <a:extLst>
                  <a:ext uri="{FF2B5EF4-FFF2-40B4-BE49-F238E27FC236}">
                    <a16:creationId xmlns:a16="http://schemas.microsoft.com/office/drawing/2014/main" id="{A108D78A-D705-9FA0-22F0-A31E4728C800}"/>
                  </a:ext>
                </a:extLst>
              </p:cNvPr>
              <p:cNvCxnSpPr>
                <a:cxnSpLocks/>
              </p:cNvCxnSpPr>
              <p:nvPr/>
            </p:nvCxnSpPr>
            <p:spPr>
              <a:xfrm>
                <a:off x="2424545" y="1420147"/>
                <a:ext cx="9325724" cy="0"/>
              </a:xfrm>
              <a:prstGeom prst="line">
                <a:avLst/>
              </a:prstGeom>
              <a:ln w="28575"/>
            </p:spPr>
            <p:style>
              <a:lnRef idx="3">
                <a:schemeClr val="dk1"/>
              </a:lnRef>
              <a:fillRef idx="0">
                <a:schemeClr val="dk1"/>
              </a:fillRef>
              <a:effectRef idx="2">
                <a:schemeClr val="dk1"/>
              </a:effectRef>
              <a:fontRef idx="minor">
                <a:schemeClr val="tx1"/>
              </a:fontRef>
            </p:style>
          </p:cxnSp>
        </p:grpSp>
      </p:grpSp>
      <p:sp>
        <p:nvSpPr>
          <p:cNvPr id="44" name="TextBox 43">
            <a:extLst>
              <a:ext uri="{FF2B5EF4-FFF2-40B4-BE49-F238E27FC236}">
                <a16:creationId xmlns:a16="http://schemas.microsoft.com/office/drawing/2014/main" id="{BA97049E-9A77-E830-CE4C-0CC988A81B48}"/>
              </a:ext>
            </a:extLst>
          </p:cNvPr>
          <p:cNvSpPr txBox="1"/>
          <p:nvPr/>
        </p:nvSpPr>
        <p:spPr>
          <a:xfrm>
            <a:off x="4317496" y="1616671"/>
            <a:ext cx="893848" cy="584775"/>
          </a:xfrm>
          <a:prstGeom prst="rect">
            <a:avLst/>
          </a:prstGeom>
          <a:noFill/>
        </p:spPr>
        <p:txBody>
          <a:bodyPr wrap="square">
            <a:spAutoFit/>
          </a:bodyPr>
          <a:lstStyle/>
          <a:p>
            <a:pPr algn="ctr"/>
            <a:r>
              <a:rPr lang="en-US" sz="3200" b="1" dirty="0">
                <a:solidFill>
                  <a:schemeClr val="accent6"/>
                </a:solidFill>
              </a:rPr>
              <a:t>+</a:t>
            </a:r>
          </a:p>
        </p:txBody>
      </p:sp>
      <p:sp>
        <p:nvSpPr>
          <p:cNvPr id="45" name="TextBox 44">
            <a:extLst>
              <a:ext uri="{FF2B5EF4-FFF2-40B4-BE49-F238E27FC236}">
                <a16:creationId xmlns:a16="http://schemas.microsoft.com/office/drawing/2014/main" id="{D36BBD4D-6A9D-97EE-3C4C-F45F802E28D8}"/>
              </a:ext>
            </a:extLst>
          </p:cNvPr>
          <p:cNvSpPr txBox="1"/>
          <p:nvPr/>
        </p:nvSpPr>
        <p:spPr>
          <a:xfrm>
            <a:off x="5923764" y="1616671"/>
            <a:ext cx="893848" cy="584775"/>
          </a:xfrm>
          <a:prstGeom prst="rect">
            <a:avLst/>
          </a:prstGeom>
          <a:noFill/>
        </p:spPr>
        <p:txBody>
          <a:bodyPr wrap="square">
            <a:spAutoFit/>
          </a:bodyPr>
          <a:lstStyle/>
          <a:p>
            <a:pPr algn="ctr"/>
            <a:r>
              <a:rPr lang="en-US" sz="3200" b="1" dirty="0">
                <a:solidFill>
                  <a:schemeClr val="accent6"/>
                </a:solidFill>
              </a:rPr>
              <a:t>+</a:t>
            </a:r>
          </a:p>
        </p:txBody>
      </p:sp>
      <p:sp>
        <p:nvSpPr>
          <p:cNvPr id="46" name="TextBox 45">
            <a:extLst>
              <a:ext uri="{FF2B5EF4-FFF2-40B4-BE49-F238E27FC236}">
                <a16:creationId xmlns:a16="http://schemas.microsoft.com/office/drawing/2014/main" id="{1AD81F37-ACF7-252B-C204-8E7704E82009}"/>
              </a:ext>
            </a:extLst>
          </p:cNvPr>
          <p:cNvSpPr txBox="1"/>
          <p:nvPr/>
        </p:nvSpPr>
        <p:spPr>
          <a:xfrm>
            <a:off x="7520797" y="1616671"/>
            <a:ext cx="893848" cy="584775"/>
          </a:xfrm>
          <a:prstGeom prst="rect">
            <a:avLst/>
          </a:prstGeom>
          <a:noFill/>
        </p:spPr>
        <p:txBody>
          <a:bodyPr wrap="square">
            <a:spAutoFit/>
          </a:bodyPr>
          <a:lstStyle/>
          <a:p>
            <a:pPr algn="ctr"/>
            <a:r>
              <a:rPr lang="en-US" sz="3200" b="1" dirty="0">
                <a:solidFill>
                  <a:schemeClr val="accent6"/>
                </a:solidFill>
              </a:rPr>
              <a:t>+</a:t>
            </a:r>
          </a:p>
        </p:txBody>
      </p:sp>
      <p:sp>
        <p:nvSpPr>
          <p:cNvPr id="47" name="TextBox 46">
            <a:extLst>
              <a:ext uri="{FF2B5EF4-FFF2-40B4-BE49-F238E27FC236}">
                <a16:creationId xmlns:a16="http://schemas.microsoft.com/office/drawing/2014/main" id="{77421406-E6B6-79B4-2CED-B9C60D0B2DCF}"/>
              </a:ext>
            </a:extLst>
          </p:cNvPr>
          <p:cNvSpPr txBox="1"/>
          <p:nvPr/>
        </p:nvSpPr>
        <p:spPr>
          <a:xfrm>
            <a:off x="9027724" y="1616671"/>
            <a:ext cx="893848" cy="584775"/>
          </a:xfrm>
          <a:prstGeom prst="rect">
            <a:avLst/>
          </a:prstGeom>
          <a:noFill/>
        </p:spPr>
        <p:txBody>
          <a:bodyPr wrap="square">
            <a:spAutoFit/>
          </a:bodyPr>
          <a:lstStyle/>
          <a:p>
            <a:pPr algn="ctr"/>
            <a:r>
              <a:rPr lang="en-US" sz="3200" b="1" dirty="0">
                <a:solidFill>
                  <a:schemeClr val="accent6"/>
                </a:solidFill>
              </a:rPr>
              <a:t>+</a:t>
            </a:r>
          </a:p>
        </p:txBody>
      </p:sp>
      <p:sp>
        <p:nvSpPr>
          <p:cNvPr id="48" name="TextBox 47">
            <a:extLst>
              <a:ext uri="{FF2B5EF4-FFF2-40B4-BE49-F238E27FC236}">
                <a16:creationId xmlns:a16="http://schemas.microsoft.com/office/drawing/2014/main" id="{A047EA9D-2365-937A-F49D-A822F625D28B}"/>
              </a:ext>
            </a:extLst>
          </p:cNvPr>
          <p:cNvSpPr txBox="1"/>
          <p:nvPr/>
        </p:nvSpPr>
        <p:spPr>
          <a:xfrm>
            <a:off x="10554486" y="1616671"/>
            <a:ext cx="893848" cy="584775"/>
          </a:xfrm>
          <a:prstGeom prst="rect">
            <a:avLst/>
          </a:prstGeom>
          <a:noFill/>
        </p:spPr>
        <p:txBody>
          <a:bodyPr wrap="square">
            <a:spAutoFit/>
          </a:bodyPr>
          <a:lstStyle/>
          <a:p>
            <a:pPr algn="ctr"/>
            <a:r>
              <a:rPr lang="en-US" sz="3200" b="1" dirty="0">
                <a:solidFill>
                  <a:schemeClr val="accent6"/>
                </a:solidFill>
              </a:rPr>
              <a:t>+</a:t>
            </a:r>
          </a:p>
        </p:txBody>
      </p:sp>
      <p:cxnSp>
        <p:nvCxnSpPr>
          <p:cNvPr id="49" name="Straight Connector 48">
            <a:extLst>
              <a:ext uri="{FF2B5EF4-FFF2-40B4-BE49-F238E27FC236}">
                <a16:creationId xmlns:a16="http://schemas.microsoft.com/office/drawing/2014/main" id="{79799875-CED9-04CE-00A1-C3B92F16C9F7}"/>
              </a:ext>
            </a:extLst>
          </p:cNvPr>
          <p:cNvCxnSpPr>
            <a:cxnSpLocks/>
          </p:cNvCxnSpPr>
          <p:nvPr/>
        </p:nvCxnSpPr>
        <p:spPr>
          <a:xfrm>
            <a:off x="2299696" y="2524439"/>
            <a:ext cx="9325724" cy="0"/>
          </a:xfrm>
          <a:prstGeom prst="line">
            <a:avLst/>
          </a:prstGeom>
          <a:ln w="28575"/>
        </p:spPr>
        <p:style>
          <a:lnRef idx="3">
            <a:schemeClr val="dk1"/>
          </a:lnRef>
          <a:fillRef idx="0">
            <a:schemeClr val="dk1"/>
          </a:fillRef>
          <a:effectRef idx="2">
            <a:schemeClr val="dk1"/>
          </a:effectRef>
          <a:fontRef idx="minor">
            <a:schemeClr val="tx1"/>
          </a:fontRef>
        </p:style>
      </p:cxnSp>
      <p:grpSp>
        <p:nvGrpSpPr>
          <p:cNvPr id="63" name="Group 62">
            <a:extLst>
              <a:ext uri="{FF2B5EF4-FFF2-40B4-BE49-F238E27FC236}">
                <a16:creationId xmlns:a16="http://schemas.microsoft.com/office/drawing/2014/main" id="{9D69DB24-CBF3-E5A6-7E8F-B36CD1CF2DCA}"/>
              </a:ext>
            </a:extLst>
          </p:cNvPr>
          <p:cNvGrpSpPr/>
          <p:nvPr/>
        </p:nvGrpSpPr>
        <p:grpSpPr>
          <a:xfrm>
            <a:off x="10242513" y="2667484"/>
            <a:ext cx="1533721" cy="769229"/>
            <a:chOff x="10262260" y="2327918"/>
            <a:chExt cx="1533721" cy="769229"/>
          </a:xfrm>
        </p:grpSpPr>
        <p:sp>
          <p:nvSpPr>
            <p:cNvPr id="37" name="TextBox 36">
              <a:extLst>
                <a:ext uri="{FF2B5EF4-FFF2-40B4-BE49-F238E27FC236}">
                  <a16:creationId xmlns:a16="http://schemas.microsoft.com/office/drawing/2014/main" id="{B9EEE8AF-D55A-3BCF-A417-B412C816E496}"/>
                </a:ext>
              </a:extLst>
            </p:cNvPr>
            <p:cNvSpPr txBox="1"/>
            <p:nvPr/>
          </p:nvSpPr>
          <p:spPr>
            <a:xfrm>
              <a:off x="10262260" y="2327918"/>
              <a:ext cx="1533721" cy="461665"/>
            </a:xfrm>
            <a:prstGeom prst="rect">
              <a:avLst/>
            </a:prstGeom>
            <a:noFill/>
          </p:spPr>
          <p:txBody>
            <a:bodyPr wrap="square" rtlCol="0">
              <a:spAutoFit/>
            </a:bodyPr>
            <a:lstStyle/>
            <a:p>
              <a:pPr algn="ctr"/>
              <a:r>
                <a:rPr lang="en-US" sz="2400" b="1" dirty="0">
                  <a:solidFill>
                    <a:schemeClr val="accent6"/>
                  </a:solidFill>
                </a:rPr>
                <a:t>+</a:t>
              </a:r>
            </a:p>
          </p:txBody>
        </p:sp>
        <p:sp>
          <p:nvSpPr>
            <p:cNvPr id="52" name="TextBox 51">
              <a:extLst>
                <a:ext uri="{FF2B5EF4-FFF2-40B4-BE49-F238E27FC236}">
                  <a16:creationId xmlns:a16="http://schemas.microsoft.com/office/drawing/2014/main" id="{CA8CFD78-BDE5-AC99-CCCE-95C1794741DC}"/>
                </a:ext>
              </a:extLst>
            </p:cNvPr>
            <p:cNvSpPr txBox="1"/>
            <p:nvPr/>
          </p:nvSpPr>
          <p:spPr>
            <a:xfrm>
              <a:off x="10375829" y="2688124"/>
              <a:ext cx="1304278" cy="409023"/>
            </a:xfrm>
            <a:prstGeom prst="rect">
              <a:avLst/>
            </a:prstGeom>
            <a:noFill/>
          </p:spPr>
          <p:txBody>
            <a:bodyPr wrap="square">
              <a:spAutoFit/>
            </a:bodyPr>
            <a:lstStyle/>
            <a:p>
              <a:pPr algn="ctr">
                <a:lnSpc>
                  <a:spcPts val="1200"/>
                </a:lnSpc>
              </a:pPr>
              <a:r>
                <a:rPr lang="en-US" sz="1400" dirty="0"/>
                <a:t>PaO</a:t>
              </a:r>
              <a:r>
                <a:rPr lang="en-US" sz="1400" baseline="-25000" dirty="0"/>
                <a:t>2</a:t>
              </a:r>
              <a:r>
                <a:rPr lang="en-US" sz="1400" dirty="0"/>
                <a:t> &lt;55 or PaO</a:t>
              </a:r>
              <a:r>
                <a:rPr lang="en-US" sz="1400" baseline="-25000" dirty="0"/>
                <a:t>2</a:t>
              </a:r>
              <a:r>
                <a:rPr lang="en-US" sz="1400" dirty="0"/>
                <a:t>&lt;60 +RHF</a:t>
              </a:r>
            </a:p>
          </p:txBody>
        </p:sp>
      </p:grpSp>
      <p:sp>
        <p:nvSpPr>
          <p:cNvPr id="53" name="TextBox 52">
            <a:extLst>
              <a:ext uri="{FF2B5EF4-FFF2-40B4-BE49-F238E27FC236}">
                <a16:creationId xmlns:a16="http://schemas.microsoft.com/office/drawing/2014/main" id="{71E288D2-5B11-D0EE-628A-3B2D3E66BF49}"/>
              </a:ext>
            </a:extLst>
          </p:cNvPr>
          <p:cNvSpPr txBox="1"/>
          <p:nvPr/>
        </p:nvSpPr>
        <p:spPr>
          <a:xfrm>
            <a:off x="5931727" y="2790506"/>
            <a:ext cx="893848" cy="584775"/>
          </a:xfrm>
          <a:prstGeom prst="rect">
            <a:avLst/>
          </a:prstGeom>
          <a:noFill/>
        </p:spPr>
        <p:txBody>
          <a:bodyPr wrap="square">
            <a:spAutoFit/>
          </a:bodyPr>
          <a:lstStyle/>
          <a:p>
            <a:pPr algn="ctr"/>
            <a:r>
              <a:rPr lang="en-US" sz="3200" b="1" dirty="0">
                <a:solidFill>
                  <a:schemeClr val="accent6"/>
                </a:solidFill>
              </a:rPr>
              <a:t>+</a:t>
            </a:r>
          </a:p>
        </p:txBody>
      </p:sp>
      <p:sp>
        <p:nvSpPr>
          <p:cNvPr id="54" name="TextBox 53">
            <a:extLst>
              <a:ext uri="{FF2B5EF4-FFF2-40B4-BE49-F238E27FC236}">
                <a16:creationId xmlns:a16="http://schemas.microsoft.com/office/drawing/2014/main" id="{A5C5E5E0-97A1-EEA2-3C37-505901CA6147}"/>
              </a:ext>
            </a:extLst>
          </p:cNvPr>
          <p:cNvSpPr txBox="1"/>
          <p:nvPr/>
        </p:nvSpPr>
        <p:spPr>
          <a:xfrm>
            <a:off x="7512312" y="2790506"/>
            <a:ext cx="893848" cy="584775"/>
          </a:xfrm>
          <a:prstGeom prst="rect">
            <a:avLst/>
          </a:prstGeom>
          <a:noFill/>
        </p:spPr>
        <p:txBody>
          <a:bodyPr wrap="square">
            <a:spAutoFit/>
          </a:bodyPr>
          <a:lstStyle/>
          <a:p>
            <a:pPr algn="ctr"/>
            <a:r>
              <a:rPr lang="en-US" sz="3200" b="1" dirty="0">
                <a:solidFill>
                  <a:schemeClr val="accent6"/>
                </a:solidFill>
              </a:rPr>
              <a:t>+</a:t>
            </a:r>
          </a:p>
        </p:txBody>
      </p:sp>
      <p:sp>
        <p:nvSpPr>
          <p:cNvPr id="55" name="TextBox 54">
            <a:extLst>
              <a:ext uri="{FF2B5EF4-FFF2-40B4-BE49-F238E27FC236}">
                <a16:creationId xmlns:a16="http://schemas.microsoft.com/office/drawing/2014/main" id="{964357F4-CC7B-BFAA-66D4-4FFDF1D26B76}"/>
              </a:ext>
            </a:extLst>
          </p:cNvPr>
          <p:cNvSpPr txBox="1"/>
          <p:nvPr/>
        </p:nvSpPr>
        <p:spPr>
          <a:xfrm>
            <a:off x="9019239" y="2790506"/>
            <a:ext cx="893848" cy="584775"/>
          </a:xfrm>
          <a:prstGeom prst="rect">
            <a:avLst/>
          </a:prstGeom>
          <a:noFill/>
        </p:spPr>
        <p:txBody>
          <a:bodyPr wrap="square">
            <a:spAutoFit/>
          </a:bodyPr>
          <a:lstStyle/>
          <a:p>
            <a:pPr algn="ctr"/>
            <a:r>
              <a:rPr lang="en-US" sz="3200" b="1" dirty="0">
                <a:solidFill>
                  <a:schemeClr val="accent6"/>
                </a:solidFill>
              </a:rPr>
              <a:t>+</a:t>
            </a:r>
          </a:p>
        </p:txBody>
      </p:sp>
      <p:cxnSp>
        <p:nvCxnSpPr>
          <p:cNvPr id="61" name="Straight Connector 60">
            <a:extLst>
              <a:ext uri="{FF2B5EF4-FFF2-40B4-BE49-F238E27FC236}">
                <a16:creationId xmlns:a16="http://schemas.microsoft.com/office/drawing/2014/main" id="{F7B6FAFE-70B2-E486-FCC7-BEBB67AFB76B}"/>
              </a:ext>
            </a:extLst>
          </p:cNvPr>
          <p:cNvCxnSpPr>
            <a:cxnSpLocks/>
          </p:cNvCxnSpPr>
          <p:nvPr/>
        </p:nvCxnSpPr>
        <p:spPr>
          <a:xfrm>
            <a:off x="2341415" y="3657307"/>
            <a:ext cx="9325724"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64" name="Straight Connector 63">
            <a:extLst>
              <a:ext uri="{FF2B5EF4-FFF2-40B4-BE49-F238E27FC236}">
                <a16:creationId xmlns:a16="http://schemas.microsoft.com/office/drawing/2014/main" id="{E3D18725-C47E-3F03-2304-F04DDC05BEAD}"/>
              </a:ext>
            </a:extLst>
          </p:cNvPr>
          <p:cNvCxnSpPr>
            <a:cxnSpLocks/>
          </p:cNvCxnSpPr>
          <p:nvPr/>
        </p:nvCxnSpPr>
        <p:spPr>
          <a:xfrm>
            <a:off x="2303925" y="4639473"/>
            <a:ext cx="9325724" cy="0"/>
          </a:xfrm>
          <a:prstGeom prst="line">
            <a:avLst/>
          </a:prstGeom>
          <a:ln w="28575"/>
        </p:spPr>
        <p:style>
          <a:lnRef idx="3">
            <a:schemeClr val="dk1"/>
          </a:lnRef>
          <a:fillRef idx="0">
            <a:schemeClr val="dk1"/>
          </a:fillRef>
          <a:effectRef idx="2">
            <a:schemeClr val="dk1"/>
          </a:effectRef>
          <a:fontRef idx="minor">
            <a:schemeClr val="tx1"/>
          </a:fontRef>
        </p:style>
      </p:cxnSp>
      <p:sp>
        <p:nvSpPr>
          <p:cNvPr id="65" name="TextBox 64">
            <a:extLst>
              <a:ext uri="{FF2B5EF4-FFF2-40B4-BE49-F238E27FC236}">
                <a16:creationId xmlns:a16="http://schemas.microsoft.com/office/drawing/2014/main" id="{D4EC679D-0B1D-4C50-81F5-5639A84B530A}"/>
              </a:ext>
            </a:extLst>
          </p:cNvPr>
          <p:cNvSpPr txBox="1"/>
          <p:nvPr/>
        </p:nvSpPr>
        <p:spPr>
          <a:xfrm>
            <a:off x="4317496" y="3820209"/>
            <a:ext cx="893848" cy="584775"/>
          </a:xfrm>
          <a:prstGeom prst="rect">
            <a:avLst/>
          </a:prstGeom>
          <a:noFill/>
        </p:spPr>
        <p:txBody>
          <a:bodyPr wrap="square">
            <a:spAutoFit/>
          </a:bodyPr>
          <a:lstStyle/>
          <a:p>
            <a:pPr algn="ctr"/>
            <a:r>
              <a:rPr lang="en-US" sz="3200" b="1" dirty="0">
                <a:solidFill>
                  <a:schemeClr val="accent6"/>
                </a:solidFill>
              </a:rPr>
              <a:t>+</a:t>
            </a:r>
          </a:p>
        </p:txBody>
      </p:sp>
      <p:sp>
        <p:nvSpPr>
          <p:cNvPr id="66" name="TextBox 65">
            <a:extLst>
              <a:ext uri="{FF2B5EF4-FFF2-40B4-BE49-F238E27FC236}">
                <a16:creationId xmlns:a16="http://schemas.microsoft.com/office/drawing/2014/main" id="{93B2B220-89CE-062C-10A4-07E569FF865A}"/>
              </a:ext>
            </a:extLst>
          </p:cNvPr>
          <p:cNvSpPr txBox="1"/>
          <p:nvPr/>
        </p:nvSpPr>
        <p:spPr>
          <a:xfrm>
            <a:off x="5923764" y="3820209"/>
            <a:ext cx="893848" cy="584775"/>
          </a:xfrm>
          <a:prstGeom prst="rect">
            <a:avLst/>
          </a:prstGeom>
          <a:noFill/>
        </p:spPr>
        <p:txBody>
          <a:bodyPr wrap="square">
            <a:spAutoFit/>
          </a:bodyPr>
          <a:lstStyle/>
          <a:p>
            <a:pPr algn="ctr"/>
            <a:r>
              <a:rPr lang="en-US" sz="3200" b="1" dirty="0">
                <a:solidFill>
                  <a:schemeClr val="accent6"/>
                </a:solidFill>
              </a:rPr>
              <a:t>+</a:t>
            </a:r>
          </a:p>
        </p:txBody>
      </p:sp>
      <p:sp>
        <p:nvSpPr>
          <p:cNvPr id="71" name="TextBox 70">
            <a:extLst>
              <a:ext uri="{FF2B5EF4-FFF2-40B4-BE49-F238E27FC236}">
                <a16:creationId xmlns:a16="http://schemas.microsoft.com/office/drawing/2014/main" id="{6FAED9C4-91D0-6C87-08DB-0436231F1429}"/>
              </a:ext>
            </a:extLst>
          </p:cNvPr>
          <p:cNvSpPr txBox="1"/>
          <p:nvPr/>
        </p:nvSpPr>
        <p:spPr>
          <a:xfrm>
            <a:off x="7520797" y="3820209"/>
            <a:ext cx="893848" cy="584775"/>
          </a:xfrm>
          <a:prstGeom prst="rect">
            <a:avLst/>
          </a:prstGeom>
          <a:noFill/>
        </p:spPr>
        <p:txBody>
          <a:bodyPr wrap="square">
            <a:spAutoFit/>
          </a:bodyPr>
          <a:lstStyle/>
          <a:p>
            <a:pPr algn="ctr"/>
            <a:r>
              <a:rPr lang="en-US" sz="3200" b="1" dirty="0">
                <a:solidFill>
                  <a:schemeClr val="accent6"/>
                </a:solidFill>
              </a:rPr>
              <a:t>+</a:t>
            </a:r>
          </a:p>
        </p:txBody>
      </p:sp>
      <p:sp>
        <p:nvSpPr>
          <p:cNvPr id="72" name="TextBox 71">
            <a:extLst>
              <a:ext uri="{FF2B5EF4-FFF2-40B4-BE49-F238E27FC236}">
                <a16:creationId xmlns:a16="http://schemas.microsoft.com/office/drawing/2014/main" id="{1AF4E698-C321-5678-9F07-B6065D889250}"/>
              </a:ext>
            </a:extLst>
          </p:cNvPr>
          <p:cNvSpPr txBox="1"/>
          <p:nvPr/>
        </p:nvSpPr>
        <p:spPr>
          <a:xfrm>
            <a:off x="10554486" y="3820209"/>
            <a:ext cx="893848" cy="584775"/>
          </a:xfrm>
          <a:prstGeom prst="rect">
            <a:avLst/>
          </a:prstGeom>
          <a:noFill/>
        </p:spPr>
        <p:txBody>
          <a:bodyPr wrap="square">
            <a:spAutoFit/>
          </a:bodyPr>
          <a:lstStyle/>
          <a:p>
            <a:pPr algn="ctr"/>
            <a:r>
              <a:rPr lang="en-US" sz="3200" b="1" dirty="0">
                <a:solidFill>
                  <a:schemeClr val="accent6"/>
                </a:solidFill>
              </a:rPr>
              <a:t>+</a:t>
            </a:r>
          </a:p>
        </p:txBody>
      </p:sp>
      <p:sp>
        <p:nvSpPr>
          <p:cNvPr id="74" name="TextBox 73">
            <a:extLst>
              <a:ext uri="{FF2B5EF4-FFF2-40B4-BE49-F238E27FC236}">
                <a16:creationId xmlns:a16="http://schemas.microsoft.com/office/drawing/2014/main" id="{EBCF9898-8C18-032F-61CE-1FEF5D795CB6}"/>
              </a:ext>
            </a:extLst>
          </p:cNvPr>
          <p:cNvSpPr txBox="1"/>
          <p:nvPr/>
        </p:nvSpPr>
        <p:spPr>
          <a:xfrm>
            <a:off x="10554486" y="4897683"/>
            <a:ext cx="893848" cy="584775"/>
          </a:xfrm>
          <a:prstGeom prst="rect">
            <a:avLst/>
          </a:prstGeom>
          <a:noFill/>
        </p:spPr>
        <p:txBody>
          <a:bodyPr wrap="square">
            <a:spAutoFit/>
          </a:bodyPr>
          <a:lstStyle/>
          <a:p>
            <a:pPr algn="ctr"/>
            <a:r>
              <a:rPr lang="en-US" sz="3200" b="1" dirty="0">
                <a:solidFill>
                  <a:schemeClr val="accent6"/>
                </a:solidFill>
              </a:rPr>
              <a:t>+</a:t>
            </a:r>
          </a:p>
        </p:txBody>
      </p:sp>
      <p:cxnSp>
        <p:nvCxnSpPr>
          <p:cNvPr id="75" name="Straight Connector 74">
            <a:extLst>
              <a:ext uri="{FF2B5EF4-FFF2-40B4-BE49-F238E27FC236}">
                <a16:creationId xmlns:a16="http://schemas.microsoft.com/office/drawing/2014/main" id="{DCB7EE78-B1E7-994E-9FA2-EE52E6B7F4CB}"/>
              </a:ext>
            </a:extLst>
          </p:cNvPr>
          <p:cNvCxnSpPr>
            <a:cxnSpLocks/>
          </p:cNvCxnSpPr>
          <p:nvPr/>
        </p:nvCxnSpPr>
        <p:spPr>
          <a:xfrm>
            <a:off x="2272701" y="5767525"/>
            <a:ext cx="9325724" cy="0"/>
          </a:xfrm>
          <a:prstGeom prst="line">
            <a:avLst/>
          </a:prstGeom>
          <a:ln w="28575"/>
        </p:spPr>
        <p:style>
          <a:lnRef idx="3">
            <a:schemeClr val="dk1"/>
          </a:lnRef>
          <a:fillRef idx="0">
            <a:schemeClr val="dk1"/>
          </a:fillRef>
          <a:effectRef idx="2">
            <a:schemeClr val="dk1"/>
          </a:effectRef>
          <a:fontRef idx="minor">
            <a:schemeClr val="tx1"/>
          </a:fontRef>
        </p:style>
      </p:cxnSp>
      <p:sp>
        <p:nvSpPr>
          <p:cNvPr id="76" name="TextBox 75">
            <a:extLst>
              <a:ext uri="{FF2B5EF4-FFF2-40B4-BE49-F238E27FC236}">
                <a16:creationId xmlns:a16="http://schemas.microsoft.com/office/drawing/2014/main" id="{15CF640A-0DE3-CA79-56D5-531A4B67C244}"/>
              </a:ext>
            </a:extLst>
          </p:cNvPr>
          <p:cNvSpPr txBox="1"/>
          <p:nvPr/>
        </p:nvSpPr>
        <p:spPr>
          <a:xfrm>
            <a:off x="4321725" y="5893145"/>
            <a:ext cx="893848" cy="584775"/>
          </a:xfrm>
          <a:prstGeom prst="rect">
            <a:avLst/>
          </a:prstGeom>
          <a:noFill/>
        </p:spPr>
        <p:txBody>
          <a:bodyPr wrap="square">
            <a:spAutoFit/>
          </a:bodyPr>
          <a:lstStyle/>
          <a:p>
            <a:pPr algn="ctr"/>
            <a:r>
              <a:rPr lang="en-US" sz="3200" b="1" dirty="0">
                <a:solidFill>
                  <a:schemeClr val="accent6"/>
                </a:solidFill>
              </a:rPr>
              <a:t>+</a:t>
            </a:r>
          </a:p>
        </p:txBody>
      </p:sp>
      <p:grpSp>
        <p:nvGrpSpPr>
          <p:cNvPr id="85" name="Group 84">
            <a:extLst>
              <a:ext uri="{FF2B5EF4-FFF2-40B4-BE49-F238E27FC236}">
                <a16:creationId xmlns:a16="http://schemas.microsoft.com/office/drawing/2014/main" id="{31294826-4480-C993-E575-FE163A025EF9}"/>
              </a:ext>
            </a:extLst>
          </p:cNvPr>
          <p:cNvGrpSpPr/>
          <p:nvPr/>
        </p:nvGrpSpPr>
        <p:grpSpPr>
          <a:xfrm>
            <a:off x="10288719" y="5885611"/>
            <a:ext cx="1433840" cy="584423"/>
            <a:chOff x="10362141" y="4720238"/>
            <a:chExt cx="1433840" cy="584423"/>
          </a:xfrm>
        </p:grpSpPr>
        <p:sp>
          <p:nvSpPr>
            <p:cNvPr id="80" name="TextBox 79">
              <a:extLst>
                <a:ext uri="{FF2B5EF4-FFF2-40B4-BE49-F238E27FC236}">
                  <a16:creationId xmlns:a16="http://schemas.microsoft.com/office/drawing/2014/main" id="{2A9E19BD-90D1-61C2-D77D-7B693662E524}"/>
                </a:ext>
              </a:extLst>
            </p:cNvPr>
            <p:cNvSpPr txBox="1"/>
            <p:nvPr/>
          </p:nvSpPr>
          <p:spPr>
            <a:xfrm>
              <a:off x="10632137" y="4720238"/>
              <a:ext cx="893848" cy="461665"/>
            </a:xfrm>
            <a:prstGeom prst="rect">
              <a:avLst/>
            </a:prstGeom>
            <a:noFill/>
          </p:spPr>
          <p:txBody>
            <a:bodyPr wrap="square">
              <a:spAutoFit/>
            </a:bodyPr>
            <a:lstStyle/>
            <a:p>
              <a:pPr algn="ctr"/>
              <a:r>
                <a:rPr lang="en-US" sz="2400" b="1" dirty="0">
                  <a:solidFill>
                    <a:schemeClr val="accent4"/>
                  </a:solidFill>
                </a:rPr>
                <a:t>?</a:t>
              </a:r>
            </a:p>
          </p:txBody>
        </p:sp>
        <p:sp>
          <p:nvSpPr>
            <p:cNvPr id="81" name="TextBox 80">
              <a:extLst>
                <a:ext uri="{FF2B5EF4-FFF2-40B4-BE49-F238E27FC236}">
                  <a16:creationId xmlns:a16="http://schemas.microsoft.com/office/drawing/2014/main" id="{26EB3BA0-6AD0-0D95-CE22-352EAD8437AC}"/>
                </a:ext>
              </a:extLst>
            </p:cNvPr>
            <p:cNvSpPr txBox="1"/>
            <p:nvPr/>
          </p:nvSpPr>
          <p:spPr>
            <a:xfrm>
              <a:off x="10362141" y="5059145"/>
              <a:ext cx="1433840" cy="245516"/>
            </a:xfrm>
            <a:prstGeom prst="rect">
              <a:avLst/>
            </a:prstGeom>
            <a:noFill/>
          </p:spPr>
          <p:txBody>
            <a:bodyPr wrap="square">
              <a:spAutoFit/>
            </a:bodyPr>
            <a:lstStyle/>
            <a:p>
              <a:pPr algn="ctr">
                <a:lnSpc>
                  <a:spcPts val="1100"/>
                </a:lnSpc>
              </a:pPr>
              <a:r>
                <a:rPr lang="en-US" sz="1400" dirty="0"/>
                <a:t>For severe COPD</a:t>
              </a:r>
            </a:p>
          </p:txBody>
        </p:sp>
      </p:grpSp>
      <p:grpSp>
        <p:nvGrpSpPr>
          <p:cNvPr id="51" name="Smoking cessation">
            <a:extLst>
              <a:ext uri="{FF2B5EF4-FFF2-40B4-BE49-F238E27FC236}">
                <a16:creationId xmlns:a16="http://schemas.microsoft.com/office/drawing/2014/main" id="{A0C3B5BD-9197-DA2C-853F-7698835C2CF4}"/>
              </a:ext>
            </a:extLst>
          </p:cNvPr>
          <p:cNvGrpSpPr/>
          <p:nvPr/>
        </p:nvGrpSpPr>
        <p:grpSpPr>
          <a:xfrm>
            <a:off x="2267329" y="1463355"/>
            <a:ext cx="1554480" cy="930622"/>
            <a:chOff x="2280540" y="1476866"/>
            <a:chExt cx="1554480" cy="930622"/>
          </a:xfrm>
        </p:grpSpPr>
        <p:sp>
          <p:nvSpPr>
            <p:cNvPr id="59" name="Smoking cessation">
              <a:extLst>
                <a:ext uri="{FF2B5EF4-FFF2-40B4-BE49-F238E27FC236}">
                  <a16:creationId xmlns:a16="http://schemas.microsoft.com/office/drawing/2014/main" id="{F8300127-CDA5-4F50-89EE-BFDD3D058FB6}"/>
                </a:ext>
              </a:extLst>
            </p:cNvPr>
            <p:cNvSpPr/>
            <p:nvPr/>
          </p:nvSpPr>
          <p:spPr>
            <a:xfrm>
              <a:off x="2280540" y="1503307"/>
              <a:ext cx="1554480" cy="904181"/>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nvGrpSpPr>
            <p:cNvPr id="43" name="Group 42">
              <a:extLst>
                <a:ext uri="{FF2B5EF4-FFF2-40B4-BE49-F238E27FC236}">
                  <a16:creationId xmlns:a16="http://schemas.microsoft.com/office/drawing/2014/main" id="{E9AC95B0-9581-706B-7F39-ACB79CDBA9F3}"/>
                </a:ext>
              </a:extLst>
            </p:cNvPr>
            <p:cNvGrpSpPr/>
            <p:nvPr/>
          </p:nvGrpSpPr>
          <p:grpSpPr>
            <a:xfrm>
              <a:off x="2666944" y="1476866"/>
              <a:ext cx="837716" cy="850982"/>
              <a:chOff x="2806341" y="1629266"/>
              <a:chExt cx="837716" cy="850982"/>
            </a:xfrm>
          </p:grpSpPr>
          <p:pic>
            <p:nvPicPr>
              <p:cNvPr id="33" name="Picture 32" descr="A picture containing text&#10;&#10;Description automatically generated">
                <a:extLst>
                  <a:ext uri="{FF2B5EF4-FFF2-40B4-BE49-F238E27FC236}">
                    <a16:creationId xmlns:a16="http://schemas.microsoft.com/office/drawing/2014/main" id="{54B46B35-5873-76CE-1D09-A0254EF61F2D}"/>
                  </a:ext>
                </a:extLst>
              </p:cNvPr>
              <p:cNvPicPr>
                <a:picLocks noChangeAspect="1"/>
              </p:cNvPicPr>
              <p:nvPr/>
            </p:nvPicPr>
            <p:blipFill rotWithShape="1">
              <a:blip r:embed="rId3">
                <a:extLst>
                  <a:ext uri="{28A0092B-C50C-407E-A947-70E740481C1C}">
                    <a14:useLocalDpi xmlns:a14="http://schemas.microsoft.com/office/drawing/2010/main" val="0"/>
                  </a:ext>
                </a:extLst>
              </a:blip>
              <a:srcRect l="46313" t="72289" r="35372" b="7260"/>
              <a:stretch/>
            </p:blipFill>
            <p:spPr>
              <a:xfrm>
                <a:off x="2855917" y="1629266"/>
                <a:ext cx="788140" cy="605283"/>
              </a:xfrm>
              <a:prstGeom prst="rect">
                <a:avLst/>
              </a:prstGeom>
            </p:spPr>
          </p:pic>
          <p:sp>
            <p:nvSpPr>
              <p:cNvPr id="36" name="&quot;Not Allowed&quot; Symbol 35">
                <a:extLst>
                  <a:ext uri="{FF2B5EF4-FFF2-40B4-BE49-F238E27FC236}">
                    <a16:creationId xmlns:a16="http://schemas.microsoft.com/office/drawing/2014/main" id="{CFF2D501-D87D-417A-928A-E935D6683AA2}"/>
                  </a:ext>
                </a:extLst>
              </p:cNvPr>
              <p:cNvSpPr/>
              <p:nvPr/>
            </p:nvSpPr>
            <p:spPr>
              <a:xfrm>
                <a:off x="2806341" y="1743710"/>
                <a:ext cx="782706" cy="736538"/>
              </a:xfrm>
              <a:prstGeom prst="noSmoking">
                <a:avLst>
                  <a:gd name="adj" fmla="val 5348"/>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pic>
        <p:nvPicPr>
          <p:cNvPr id="60" name="Graphic 59" descr="Cursor with solid fill">
            <a:extLst>
              <a:ext uri="{FF2B5EF4-FFF2-40B4-BE49-F238E27FC236}">
                <a16:creationId xmlns:a16="http://schemas.microsoft.com/office/drawing/2014/main" id="{DF78038C-FA21-41E2-B407-F98DC5E63A1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671209" y="2249269"/>
            <a:ext cx="274320" cy="274320"/>
          </a:xfrm>
          <a:prstGeom prst="rect">
            <a:avLst/>
          </a:prstGeom>
        </p:spPr>
      </p:pic>
      <p:grpSp>
        <p:nvGrpSpPr>
          <p:cNvPr id="73" name="Oxygen therapy">
            <a:extLst>
              <a:ext uri="{FF2B5EF4-FFF2-40B4-BE49-F238E27FC236}">
                <a16:creationId xmlns:a16="http://schemas.microsoft.com/office/drawing/2014/main" id="{A9177AE4-B5E0-BD9E-3480-E3CBC7196852}"/>
              </a:ext>
            </a:extLst>
          </p:cNvPr>
          <p:cNvGrpSpPr/>
          <p:nvPr/>
        </p:nvGrpSpPr>
        <p:grpSpPr>
          <a:xfrm>
            <a:off x="2267143" y="2503520"/>
            <a:ext cx="1554480" cy="1037591"/>
            <a:chOff x="2267143" y="2628780"/>
            <a:chExt cx="1554480" cy="1037591"/>
          </a:xfrm>
        </p:grpSpPr>
        <p:sp>
          <p:nvSpPr>
            <p:cNvPr id="67" name="Oxygen">
              <a:extLst>
                <a:ext uri="{FF2B5EF4-FFF2-40B4-BE49-F238E27FC236}">
                  <a16:creationId xmlns:a16="http://schemas.microsoft.com/office/drawing/2014/main" id="{7016D568-AF49-41F2-8AE6-1742C47F7C98}"/>
                </a:ext>
              </a:extLst>
            </p:cNvPr>
            <p:cNvSpPr/>
            <p:nvPr/>
          </p:nvSpPr>
          <p:spPr>
            <a:xfrm>
              <a:off x="2267143" y="2758954"/>
              <a:ext cx="1554480" cy="907417"/>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               O</a:t>
              </a:r>
              <a:r>
                <a:rPr lang="en-US" baseline="-25000" dirty="0">
                  <a:solidFill>
                    <a:schemeClr val="tx1"/>
                  </a:solidFill>
                </a:rPr>
                <a:t>2</a:t>
              </a:r>
              <a:endParaRPr lang="en-US" dirty="0">
                <a:solidFill>
                  <a:schemeClr val="tx1"/>
                </a:solidFill>
              </a:endParaRPr>
            </a:p>
          </p:txBody>
        </p:sp>
        <p:pic>
          <p:nvPicPr>
            <p:cNvPr id="70" name="Picture 69" descr="A picture containing text&#10;&#10;Description automatically generated">
              <a:extLst>
                <a:ext uri="{FF2B5EF4-FFF2-40B4-BE49-F238E27FC236}">
                  <a16:creationId xmlns:a16="http://schemas.microsoft.com/office/drawing/2014/main" id="{26E51C8B-156D-56E0-ED6B-3C9A8983C2DE}"/>
                </a:ext>
              </a:extLst>
            </p:cNvPr>
            <p:cNvPicPr>
              <a:picLocks noChangeAspect="1"/>
            </p:cNvPicPr>
            <p:nvPr/>
          </p:nvPicPr>
          <p:blipFill rotWithShape="1">
            <a:blip r:embed="rId3">
              <a:extLst>
                <a:ext uri="{28A0092B-C50C-407E-A947-70E740481C1C}">
                  <a14:useLocalDpi xmlns:a14="http://schemas.microsoft.com/office/drawing/2010/main" val="0"/>
                </a:ext>
              </a:extLst>
            </a:blip>
            <a:srcRect l="72100" t="70111" r="15845" b="7261"/>
            <a:stretch/>
          </p:blipFill>
          <p:spPr>
            <a:xfrm rot="1949509">
              <a:off x="2405922" y="2628780"/>
              <a:ext cx="748796" cy="983896"/>
            </a:xfrm>
            <a:prstGeom prst="rect">
              <a:avLst/>
            </a:prstGeom>
          </p:spPr>
        </p:pic>
      </p:grpSp>
      <p:pic>
        <p:nvPicPr>
          <p:cNvPr id="68" name="Graphic 67" descr="Cursor with solid fill">
            <a:extLst>
              <a:ext uri="{FF2B5EF4-FFF2-40B4-BE49-F238E27FC236}">
                <a16:creationId xmlns:a16="http://schemas.microsoft.com/office/drawing/2014/main" id="{5D753DFC-4B07-4B10-BFFC-9592713A5BC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684144" y="3384054"/>
            <a:ext cx="274320" cy="274320"/>
          </a:xfrm>
          <a:prstGeom prst="rect">
            <a:avLst/>
          </a:prstGeom>
        </p:spPr>
      </p:pic>
      <p:grpSp>
        <p:nvGrpSpPr>
          <p:cNvPr id="86" name="Pulm rehab">
            <a:extLst>
              <a:ext uri="{FF2B5EF4-FFF2-40B4-BE49-F238E27FC236}">
                <a16:creationId xmlns:a16="http://schemas.microsoft.com/office/drawing/2014/main" id="{9EA458AE-F196-161B-7FAB-52B85F7B4AF1}"/>
              </a:ext>
            </a:extLst>
          </p:cNvPr>
          <p:cNvGrpSpPr/>
          <p:nvPr/>
        </p:nvGrpSpPr>
        <p:grpSpPr>
          <a:xfrm>
            <a:off x="2278577" y="3750579"/>
            <a:ext cx="1554480" cy="777138"/>
            <a:chOff x="2267143" y="3910529"/>
            <a:chExt cx="1554480" cy="777138"/>
          </a:xfrm>
        </p:grpSpPr>
        <p:sp>
          <p:nvSpPr>
            <p:cNvPr id="57" name="Pulm rehab">
              <a:extLst>
                <a:ext uri="{FF2B5EF4-FFF2-40B4-BE49-F238E27FC236}">
                  <a16:creationId xmlns:a16="http://schemas.microsoft.com/office/drawing/2014/main" id="{ECCC3467-591C-497C-ACE9-E09A5EDECFCB}"/>
                </a:ext>
              </a:extLst>
            </p:cNvPr>
            <p:cNvSpPr/>
            <p:nvPr/>
          </p:nvSpPr>
          <p:spPr>
            <a:xfrm>
              <a:off x="2267143" y="3910529"/>
              <a:ext cx="1554480" cy="764041"/>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pic>
          <p:nvPicPr>
            <p:cNvPr id="84" name="Picture 83" descr="A picture containing text&#10;&#10;Description automatically generated">
              <a:extLst>
                <a:ext uri="{FF2B5EF4-FFF2-40B4-BE49-F238E27FC236}">
                  <a16:creationId xmlns:a16="http://schemas.microsoft.com/office/drawing/2014/main" id="{A83E9134-159C-DC41-F371-0F020674AB93}"/>
                </a:ext>
              </a:extLst>
            </p:cNvPr>
            <p:cNvPicPr>
              <a:picLocks noChangeAspect="1"/>
            </p:cNvPicPr>
            <p:nvPr/>
          </p:nvPicPr>
          <p:blipFill rotWithShape="1">
            <a:blip r:embed="rId3">
              <a:extLst>
                <a:ext uri="{28A0092B-C50C-407E-A947-70E740481C1C}">
                  <a14:useLocalDpi xmlns:a14="http://schemas.microsoft.com/office/drawing/2010/main" val="0"/>
                </a:ext>
              </a:extLst>
            </a:blip>
            <a:srcRect l="78610" t="38845" r="6126" b="34867"/>
            <a:stretch/>
          </p:blipFill>
          <p:spPr>
            <a:xfrm>
              <a:off x="2693275" y="3923061"/>
              <a:ext cx="634214" cy="764606"/>
            </a:xfrm>
            <a:prstGeom prst="rect">
              <a:avLst/>
            </a:prstGeom>
          </p:spPr>
        </p:pic>
      </p:grpSp>
      <p:pic>
        <p:nvPicPr>
          <p:cNvPr id="58" name="Graphic 57" descr="Cursor with solid fill">
            <a:extLst>
              <a:ext uri="{FF2B5EF4-FFF2-40B4-BE49-F238E27FC236}">
                <a16:creationId xmlns:a16="http://schemas.microsoft.com/office/drawing/2014/main" id="{4E06CF7B-7087-4DDF-BFA5-CC974D48170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695578" y="4348580"/>
            <a:ext cx="274320" cy="274320"/>
          </a:xfrm>
          <a:prstGeom prst="rect">
            <a:avLst/>
          </a:prstGeom>
        </p:spPr>
      </p:pic>
      <p:grpSp>
        <p:nvGrpSpPr>
          <p:cNvPr id="91" name="Lung cancer screening">
            <a:extLst>
              <a:ext uri="{FF2B5EF4-FFF2-40B4-BE49-F238E27FC236}">
                <a16:creationId xmlns:a16="http://schemas.microsoft.com/office/drawing/2014/main" id="{232B0441-885A-8F5D-56FA-AD72EC659D9C}"/>
              </a:ext>
            </a:extLst>
          </p:cNvPr>
          <p:cNvGrpSpPr/>
          <p:nvPr/>
        </p:nvGrpSpPr>
        <p:grpSpPr>
          <a:xfrm>
            <a:off x="2272662" y="4745112"/>
            <a:ext cx="1554480" cy="882384"/>
            <a:chOff x="2271372" y="4894143"/>
            <a:chExt cx="1554480" cy="882384"/>
          </a:xfrm>
        </p:grpSpPr>
        <p:sp>
          <p:nvSpPr>
            <p:cNvPr id="34" name="Lung cancer screening">
              <a:extLst>
                <a:ext uri="{FF2B5EF4-FFF2-40B4-BE49-F238E27FC236}">
                  <a16:creationId xmlns:a16="http://schemas.microsoft.com/office/drawing/2014/main" id="{B42A4521-0605-4613-BB7C-E9057ADD9768}"/>
                </a:ext>
              </a:extLst>
            </p:cNvPr>
            <p:cNvSpPr/>
            <p:nvPr/>
          </p:nvSpPr>
          <p:spPr>
            <a:xfrm>
              <a:off x="2271372" y="4894143"/>
              <a:ext cx="1554480" cy="882384"/>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pic>
          <p:nvPicPr>
            <p:cNvPr id="90" name="Picture 89" descr="A picture containing text&#10;&#10;Description automatically generated">
              <a:extLst>
                <a:ext uri="{FF2B5EF4-FFF2-40B4-BE49-F238E27FC236}">
                  <a16:creationId xmlns:a16="http://schemas.microsoft.com/office/drawing/2014/main" id="{4C10AF7B-FB9F-D4FC-50E8-916FD1CB1FF1}"/>
                </a:ext>
              </a:extLst>
            </p:cNvPr>
            <p:cNvPicPr>
              <a:picLocks noChangeAspect="1"/>
            </p:cNvPicPr>
            <p:nvPr/>
          </p:nvPicPr>
          <p:blipFill rotWithShape="1">
            <a:blip r:embed="rId3">
              <a:extLst>
                <a:ext uri="{28A0092B-C50C-407E-A947-70E740481C1C}">
                  <a14:useLocalDpi xmlns:a14="http://schemas.microsoft.com/office/drawing/2010/main" val="0"/>
                </a:ext>
              </a:extLst>
            </a:blip>
            <a:srcRect l="22828" t="2947" r="59592" b="78689"/>
            <a:stretch/>
          </p:blipFill>
          <p:spPr>
            <a:xfrm>
              <a:off x="2423910" y="4950715"/>
              <a:ext cx="1111687" cy="812896"/>
            </a:xfrm>
            <a:prstGeom prst="rect">
              <a:avLst/>
            </a:prstGeom>
          </p:spPr>
        </p:pic>
      </p:grpSp>
      <p:pic>
        <p:nvPicPr>
          <p:cNvPr id="35" name="Graphic 34" descr="Cursor with solid fill">
            <a:extLst>
              <a:ext uri="{FF2B5EF4-FFF2-40B4-BE49-F238E27FC236}">
                <a16:creationId xmlns:a16="http://schemas.microsoft.com/office/drawing/2014/main" id="{BCB70403-5CC2-4F71-AC46-54BF5070212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676676" y="5474835"/>
            <a:ext cx="274320" cy="274320"/>
          </a:xfrm>
          <a:prstGeom prst="rect">
            <a:avLst/>
          </a:prstGeom>
        </p:spPr>
      </p:pic>
      <p:grpSp>
        <p:nvGrpSpPr>
          <p:cNvPr id="96" name="Vaccines">
            <a:extLst>
              <a:ext uri="{FF2B5EF4-FFF2-40B4-BE49-F238E27FC236}">
                <a16:creationId xmlns:a16="http://schemas.microsoft.com/office/drawing/2014/main" id="{8CC50AA4-C556-C517-E09E-FC4CDE0501D1}"/>
              </a:ext>
            </a:extLst>
          </p:cNvPr>
          <p:cNvGrpSpPr/>
          <p:nvPr/>
        </p:nvGrpSpPr>
        <p:grpSpPr>
          <a:xfrm>
            <a:off x="2271372" y="5870692"/>
            <a:ext cx="1554480" cy="719960"/>
            <a:chOff x="2271372" y="5995952"/>
            <a:chExt cx="1554480" cy="719960"/>
          </a:xfrm>
        </p:grpSpPr>
        <p:sp>
          <p:nvSpPr>
            <p:cNvPr id="92" name="Vaccin button">
              <a:extLst>
                <a:ext uri="{FF2B5EF4-FFF2-40B4-BE49-F238E27FC236}">
                  <a16:creationId xmlns:a16="http://schemas.microsoft.com/office/drawing/2014/main" id="{D6CC730B-CFF0-41C3-9FD9-728B45E5D4D8}"/>
                </a:ext>
              </a:extLst>
            </p:cNvPr>
            <p:cNvSpPr/>
            <p:nvPr/>
          </p:nvSpPr>
          <p:spPr>
            <a:xfrm>
              <a:off x="2271372" y="5995952"/>
              <a:ext cx="1554480" cy="719960"/>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1600" dirty="0">
                  <a:solidFill>
                    <a:schemeClr val="tx1"/>
                  </a:solidFill>
                </a:rPr>
                <a:t>Vaccines</a:t>
              </a:r>
            </a:p>
          </p:txBody>
        </p:sp>
        <p:pic>
          <p:nvPicPr>
            <p:cNvPr id="95" name="Picture 94" descr="A picture containing text&#10;&#10;Description automatically generated">
              <a:extLst>
                <a:ext uri="{FF2B5EF4-FFF2-40B4-BE49-F238E27FC236}">
                  <a16:creationId xmlns:a16="http://schemas.microsoft.com/office/drawing/2014/main" id="{306148B9-5C4C-A60A-9DA6-ECE546DEA22D}"/>
                </a:ext>
              </a:extLst>
            </p:cNvPr>
            <p:cNvPicPr>
              <a:picLocks noChangeAspect="1"/>
            </p:cNvPicPr>
            <p:nvPr/>
          </p:nvPicPr>
          <p:blipFill rotWithShape="1">
            <a:blip r:embed="rId3">
              <a:extLst>
                <a:ext uri="{28A0092B-C50C-407E-A947-70E740481C1C}">
                  <a14:useLocalDpi xmlns:a14="http://schemas.microsoft.com/office/drawing/2010/main" val="0"/>
                </a:ext>
              </a:extLst>
            </a:blip>
            <a:srcRect l="79240" t="6666" r="8256" b="76408"/>
            <a:stretch/>
          </p:blipFill>
          <p:spPr>
            <a:xfrm>
              <a:off x="2321041" y="6024907"/>
              <a:ext cx="677256" cy="641738"/>
            </a:xfrm>
            <a:prstGeom prst="rect">
              <a:avLst/>
            </a:prstGeom>
          </p:spPr>
        </p:pic>
      </p:grpSp>
      <p:pic>
        <p:nvPicPr>
          <p:cNvPr id="93" name="Graphic 92" descr="Cursor with solid fill">
            <a:extLst>
              <a:ext uri="{FF2B5EF4-FFF2-40B4-BE49-F238E27FC236}">
                <a16:creationId xmlns:a16="http://schemas.microsoft.com/office/drawing/2014/main" id="{3DF417A8-7AFD-4572-AC3A-A6623E3C738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688373" y="6440554"/>
            <a:ext cx="274320" cy="274320"/>
          </a:xfrm>
          <a:prstGeom prst="rect">
            <a:avLst/>
          </a:prstGeom>
        </p:spPr>
      </p:pic>
      <p:sp>
        <p:nvSpPr>
          <p:cNvPr id="10" name="Cases">
            <a:hlinkClick r:id="rId6" action="ppaction://hlinksldjump"/>
            <a:extLst>
              <a:ext uri="{FF2B5EF4-FFF2-40B4-BE49-F238E27FC236}">
                <a16:creationId xmlns:a16="http://schemas.microsoft.com/office/drawing/2014/main" id="{ECA7A917-2627-F87A-A05F-D21BBE124F45}"/>
              </a:ext>
            </a:extLst>
          </p:cNvPr>
          <p:cNvSpPr txBox="1"/>
          <p:nvPr/>
        </p:nvSpPr>
        <p:spPr>
          <a:xfrm>
            <a:off x="181642" y="2447614"/>
            <a:ext cx="1645920"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Exacerbations</a:t>
            </a:r>
          </a:p>
        </p:txBody>
      </p:sp>
      <p:sp>
        <p:nvSpPr>
          <p:cNvPr id="11" name="Question 2">
            <a:hlinkClick r:id="rId7" action="ppaction://hlinksldjump"/>
            <a:extLst>
              <a:ext uri="{FF2B5EF4-FFF2-40B4-BE49-F238E27FC236}">
                <a16:creationId xmlns:a16="http://schemas.microsoft.com/office/drawing/2014/main" id="{0F363019-0860-36FC-7014-7FEF42406F77}"/>
              </a:ext>
            </a:extLst>
          </p:cNvPr>
          <p:cNvSpPr txBox="1"/>
          <p:nvPr/>
        </p:nvSpPr>
        <p:spPr>
          <a:xfrm>
            <a:off x="181642" y="1875581"/>
            <a:ext cx="1645920" cy="408623"/>
          </a:xfrm>
          <a:prstGeom prst="roundRect">
            <a:avLst/>
          </a:prstGeom>
          <a:solidFill>
            <a:schemeClr val="tx1"/>
          </a:solidFill>
          <a:ln w="38100"/>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chemeClr val="bg1"/>
                </a:solidFill>
              </a:rPr>
              <a:t>Efficacy</a:t>
            </a:r>
          </a:p>
        </p:txBody>
      </p:sp>
      <p:pic>
        <p:nvPicPr>
          <p:cNvPr id="12" name="Graphic 11" descr="Cursor with solid fill">
            <a:extLst>
              <a:ext uri="{FF2B5EF4-FFF2-40B4-BE49-F238E27FC236}">
                <a16:creationId xmlns:a16="http://schemas.microsoft.com/office/drawing/2014/main" id="{27BF5117-777B-9A53-6131-7892D629101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701287" y="2722270"/>
            <a:ext cx="270869" cy="274320"/>
          </a:xfrm>
          <a:prstGeom prst="rect">
            <a:avLst/>
          </a:prstGeom>
        </p:spPr>
      </p:pic>
      <p:sp>
        <p:nvSpPr>
          <p:cNvPr id="22" name="Cases">
            <a:hlinkClick r:id="rId8" action="ppaction://hlinksldjump"/>
            <a:extLst>
              <a:ext uri="{FF2B5EF4-FFF2-40B4-BE49-F238E27FC236}">
                <a16:creationId xmlns:a16="http://schemas.microsoft.com/office/drawing/2014/main" id="{E8F2CB6F-8A17-21A3-1473-DDA012122967}"/>
              </a:ext>
            </a:extLst>
          </p:cNvPr>
          <p:cNvSpPr txBox="1"/>
          <p:nvPr/>
        </p:nvSpPr>
        <p:spPr>
          <a:xfrm>
            <a:off x="181642" y="3020377"/>
            <a:ext cx="1645920"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Cases</a:t>
            </a:r>
          </a:p>
        </p:txBody>
      </p:sp>
      <p:pic>
        <p:nvPicPr>
          <p:cNvPr id="23" name="Graphic 22" descr="Cursor with solid fill">
            <a:extLst>
              <a:ext uri="{FF2B5EF4-FFF2-40B4-BE49-F238E27FC236}">
                <a16:creationId xmlns:a16="http://schemas.microsoft.com/office/drawing/2014/main" id="{53C59C5D-98C7-3B0C-542B-9FA1C8BF0E2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701287" y="3295033"/>
            <a:ext cx="270869" cy="274320"/>
          </a:xfrm>
          <a:prstGeom prst="rect">
            <a:avLst/>
          </a:prstGeom>
        </p:spPr>
      </p:pic>
      <p:pic>
        <p:nvPicPr>
          <p:cNvPr id="24" name="Graphic 23" descr="Cursor with solid fill">
            <a:extLst>
              <a:ext uri="{FF2B5EF4-FFF2-40B4-BE49-F238E27FC236}">
                <a16:creationId xmlns:a16="http://schemas.microsoft.com/office/drawing/2014/main" id="{4C562D54-FD37-8F2B-0064-79EF987A120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701287" y="2723439"/>
            <a:ext cx="274320" cy="274320"/>
          </a:xfrm>
          <a:prstGeom prst="rect">
            <a:avLst/>
          </a:prstGeom>
        </p:spPr>
      </p:pic>
      <p:sp>
        <p:nvSpPr>
          <p:cNvPr id="25" name="question 1">
            <a:hlinkClick r:id="rId9" action="ppaction://hlinksldjump"/>
            <a:extLst>
              <a:ext uri="{FF2B5EF4-FFF2-40B4-BE49-F238E27FC236}">
                <a16:creationId xmlns:a16="http://schemas.microsoft.com/office/drawing/2014/main" id="{9380E3C2-8376-10DD-B35A-31C984EE35E6}"/>
              </a:ext>
            </a:extLst>
          </p:cNvPr>
          <p:cNvSpPr txBox="1"/>
          <p:nvPr/>
        </p:nvSpPr>
        <p:spPr>
          <a:xfrm>
            <a:off x="181642" y="159488"/>
            <a:ext cx="1645920"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Diagnosis</a:t>
            </a:r>
          </a:p>
        </p:txBody>
      </p:sp>
      <p:pic>
        <p:nvPicPr>
          <p:cNvPr id="31" name="Graphic 30" descr="Cursor with solid fill">
            <a:extLst>
              <a:ext uri="{FF2B5EF4-FFF2-40B4-BE49-F238E27FC236}">
                <a16:creationId xmlns:a16="http://schemas.microsoft.com/office/drawing/2014/main" id="{2371F976-F15F-2214-7D4C-ABFE7CAC5EF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701287" y="435897"/>
            <a:ext cx="274320" cy="274320"/>
          </a:xfrm>
          <a:prstGeom prst="rect">
            <a:avLst/>
          </a:prstGeom>
        </p:spPr>
      </p:pic>
      <p:sp>
        <p:nvSpPr>
          <p:cNvPr id="69" name="Question 2">
            <a:hlinkClick r:id="rId10" action="ppaction://hlinksldjump"/>
            <a:extLst>
              <a:ext uri="{FF2B5EF4-FFF2-40B4-BE49-F238E27FC236}">
                <a16:creationId xmlns:a16="http://schemas.microsoft.com/office/drawing/2014/main" id="{88E22E89-FD55-C989-6528-42A615CFA7B7}"/>
              </a:ext>
            </a:extLst>
          </p:cNvPr>
          <p:cNvSpPr txBox="1"/>
          <p:nvPr/>
        </p:nvSpPr>
        <p:spPr>
          <a:xfrm>
            <a:off x="181642" y="731519"/>
            <a:ext cx="1645920"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Classification</a:t>
            </a:r>
          </a:p>
        </p:txBody>
      </p:sp>
      <p:pic>
        <p:nvPicPr>
          <p:cNvPr id="77" name="Graphic 76" descr="Cursor with solid fill">
            <a:extLst>
              <a:ext uri="{FF2B5EF4-FFF2-40B4-BE49-F238E27FC236}">
                <a16:creationId xmlns:a16="http://schemas.microsoft.com/office/drawing/2014/main" id="{5A0A0CC1-CB54-2CCE-297F-2FACEDA5715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701287" y="1007490"/>
            <a:ext cx="274320" cy="274320"/>
          </a:xfrm>
          <a:prstGeom prst="rect">
            <a:avLst/>
          </a:prstGeom>
        </p:spPr>
      </p:pic>
      <p:sp>
        <p:nvSpPr>
          <p:cNvPr id="83" name="Question 2">
            <a:hlinkClick r:id="rId11" action="ppaction://hlinksldjump"/>
            <a:extLst>
              <a:ext uri="{FF2B5EF4-FFF2-40B4-BE49-F238E27FC236}">
                <a16:creationId xmlns:a16="http://schemas.microsoft.com/office/drawing/2014/main" id="{9C6005CE-AAC1-7F5A-C1B7-64E80DE85C8A}"/>
              </a:ext>
            </a:extLst>
          </p:cNvPr>
          <p:cNvSpPr txBox="1"/>
          <p:nvPr/>
        </p:nvSpPr>
        <p:spPr>
          <a:xfrm>
            <a:off x="181642" y="1303550"/>
            <a:ext cx="1645920"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Management</a:t>
            </a:r>
          </a:p>
        </p:txBody>
      </p:sp>
      <p:pic>
        <p:nvPicPr>
          <p:cNvPr id="89" name="Graphic 88" descr="Cursor with solid fill">
            <a:extLst>
              <a:ext uri="{FF2B5EF4-FFF2-40B4-BE49-F238E27FC236}">
                <a16:creationId xmlns:a16="http://schemas.microsoft.com/office/drawing/2014/main" id="{F1B84000-27DD-4585-707D-D9892BA2D7F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701287" y="1579083"/>
            <a:ext cx="274320" cy="274320"/>
          </a:xfrm>
          <a:prstGeom prst="rect">
            <a:avLst/>
          </a:prstGeom>
        </p:spPr>
      </p:pic>
    </p:spTree>
    <p:extLst>
      <p:ext uri="{BB962C8B-B14F-4D97-AF65-F5344CB8AC3E}">
        <p14:creationId xmlns:p14="http://schemas.microsoft.com/office/powerpoint/2010/main" val="3673555330"/>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51"/>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4"/>
                                        </p:tgtEl>
                                        <p:attrNameLst>
                                          <p:attrName>style.visibility</p:attrName>
                                        </p:attrNameLst>
                                      </p:cBhvr>
                                      <p:to>
                                        <p:strVal val="visible"/>
                                      </p:to>
                                    </p:set>
                                  </p:childTnLst>
                                </p:cTn>
                              </p:par>
                              <p:par>
                                <p:cTn id="7" presetID="1" presetClass="exit" presetSubtype="0" fill="hold" nodeType="withEffect">
                                  <p:stCondLst>
                                    <p:cond delay="0"/>
                                  </p:stCondLst>
                                  <p:childTnLst>
                                    <p:set>
                                      <p:cBhvr>
                                        <p:cTn id="8" dur="1" fill="hold">
                                          <p:stCondLst>
                                            <p:cond delay="0"/>
                                          </p:stCondLst>
                                        </p:cTn>
                                        <p:tgtEl>
                                          <p:spTgt spid="51"/>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60"/>
                                        </p:tgtEl>
                                        <p:attrNameLst>
                                          <p:attrName>style.visibility</p:attrName>
                                        </p:attrNameLst>
                                      </p:cBhvr>
                                      <p:to>
                                        <p:strVal val="hidden"/>
                                      </p:to>
                                    </p:set>
                                  </p:childTnLst>
                                </p:cTn>
                              </p:par>
                              <p:par>
                                <p:cTn id="11" presetID="1" presetClass="entr" presetSubtype="0" fill="hold" nodeType="withEffect">
                                  <p:stCondLst>
                                    <p:cond delay="0"/>
                                  </p:stCondLst>
                                  <p:childTnLst>
                                    <p:set>
                                      <p:cBhvr>
                                        <p:cTn id="12" dur="1" fill="hold">
                                          <p:stCondLst>
                                            <p:cond delay="0"/>
                                          </p:stCondLst>
                                        </p:cTn>
                                        <p:tgtEl>
                                          <p:spTgt spid="3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8"/>
                                        </p:tgtEl>
                                        <p:attrNameLst>
                                          <p:attrName>style.visibility</p:attrName>
                                        </p:attrNameLst>
                                      </p:cBhvr>
                                      <p:to>
                                        <p:strVal val="visible"/>
                                      </p:to>
                                    </p:set>
                                  </p:childTnLst>
                                </p:cTn>
                              </p:par>
                            </p:childTnLst>
                          </p:cTn>
                        </p:par>
                      </p:childTnLst>
                    </p:cTn>
                  </p:par>
                </p:childTnLst>
              </p:cTn>
              <p:nextCondLst>
                <p:cond evt="onClick" delay="0">
                  <p:tgtEl>
                    <p:spTgt spid="51"/>
                  </p:tgtEl>
                </p:cond>
              </p:nextCondLst>
            </p:seq>
            <p:seq concurrent="1" nextAc="seek">
              <p:cTn id="21" restart="whenNotActive" fill="hold" evtFilter="cancelBubble" nodeType="interactiveSeq">
                <p:stCondLst>
                  <p:cond evt="onClick" delay="0">
                    <p:tgtEl>
                      <p:spTgt spid="73"/>
                    </p:tgtEl>
                  </p:cond>
                </p:stCondLst>
                <p:endSync evt="end" delay="0">
                  <p:rtn val="all"/>
                </p:endSync>
                <p:childTnLst>
                  <p:par>
                    <p:cTn id="22" fill="hold">
                      <p:stCondLst>
                        <p:cond delay="0"/>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63"/>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5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54"/>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55"/>
                                        </p:tgtEl>
                                        <p:attrNameLst>
                                          <p:attrName>style.visibility</p:attrName>
                                        </p:attrNameLst>
                                      </p:cBhvr>
                                      <p:to>
                                        <p:strVal val="visible"/>
                                      </p:to>
                                    </p:set>
                                  </p:childTnLst>
                                </p:cTn>
                              </p:par>
                              <p:par>
                                <p:cTn id="32" presetID="1" presetClass="exit" presetSubtype="0" fill="hold" nodeType="withEffect">
                                  <p:stCondLst>
                                    <p:cond delay="0"/>
                                  </p:stCondLst>
                                  <p:childTnLst>
                                    <p:set>
                                      <p:cBhvr>
                                        <p:cTn id="33" dur="1" fill="hold">
                                          <p:stCondLst>
                                            <p:cond delay="0"/>
                                          </p:stCondLst>
                                        </p:cTn>
                                        <p:tgtEl>
                                          <p:spTgt spid="68"/>
                                        </p:tgtEl>
                                        <p:attrNameLst>
                                          <p:attrName>style.visibility</p:attrName>
                                        </p:attrNameLst>
                                      </p:cBhvr>
                                      <p:to>
                                        <p:strVal val="hidden"/>
                                      </p:to>
                                    </p:set>
                                  </p:childTnLst>
                                </p:cTn>
                              </p:par>
                              <p:par>
                                <p:cTn id="34" presetID="1" presetClass="exit" presetSubtype="0" fill="hold" nodeType="withEffect">
                                  <p:stCondLst>
                                    <p:cond delay="0"/>
                                  </p:stCondLst>
                                  <p:childTnLst>
                                    <p:set>
                                      <p:cBhvr>
                                        <p:cTn id="35" dur="1" fill="hold">
                                          <p:stCondLst>
                                            <p:cond delay="0"/>
                                          </p:stCondLst>
                                        </p:cTn>
                                        <p:tgtEl>
                                          <p:spTgt spid="73"/>
                                        </p:tgtEl>
                                        <p:attrNameLst>
                                          <p:attrName>style.visibility</p:attrName>
                                        </p:attrNameLst>
                                      </p:cBhvr>
                                      <p:to>
                                        <p:strVal val="hidden"/>
                                      </p:to>
                                    </p:set>
                                  </p:childTnLst>
                                </p:cTn>
                              </p:par>
                            </p:childTnLst>
                          </p:cTn>
                        </p:par>
                      </p:childTnLst>
                    </p:cTn>
                  </p:par>
                </p:childTnLst>
              </p:cTn>
              <p:nextCondLst>
                <p:cond evt="onClick" delay="0">
                  <p:tgtEl>
                    <p:spTgt spid="73"/>
                  </p:tgtEl>
                </p:cond>
              </p:nextCondLst>
            </p:seq>
            <p:seq concurrent="1" nextAc="seek">
              <p:cTn id="36" restart="whenNotActive" fill="hold" evtFilter="cancelBubble" nodeType="interactiveSeq">
                <p:stCondLst>
                  <p:cond evt="onClick" delay="0">
                    <p:tgtEl>
                      <p:spTgt spid="86"/>
                    </p:tgtEl>
                  </p:cond>
                </p:stCondLst>
                <p:endSync evt="end" delay="0">
                  <p:rtn val="all"/>
                </p:endSync>
                <p:childTnLst>
                  <p:par>
                    <p:cTn id="37" fill="hold">
                      <p:stCondLst>
                        <p:cond delay="0"/>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65"/>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66"/>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71"/>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72"/>
                                        </p:tgtEl>
                                        <p:attrNameLst>
                                          <p:attrName>style.visibility</p:attrName>
                                        </p:attrNameLst>
                                      </p:cBhvr>
                                      <p:to>
                                        <p:strVal val="visible"/>
                                      </p:to>
                                    </p:set>
                                  </p:childTnLst>
                                </p:cTn>
                              </p:par>
                              <p:par>
                                <p:cTn id="47" presetID="1" presetClass="exit" presetSubtype="0" fill="hold" nodeType="withEffect">
                                  <p:stCondLst>
                                    <p:cond delay="0"/>
                                  </p:stCondLst>
                                  <p:childTnLst>
                                    <p:set>
                                      <p:cBhvr>
                                        <p:cTn id="48" dur="1" fill="hold">
                                          <p:stCondLst>
                                            <p:cond delay="0"/>
                                          </p:stCondLst>
                                        </p:cTn>
                                        <p:tgtEl>
                                          <p:spTgt spid="58"/>
                                        </p:tgtEl>
                                        <p:attrNameLst>
                                          <p:attrName>style.visibility</p:attrName>
                                        </p:attrNameLst>
                                      </p:cBhvr>
                                      <p:to>
                                        <p:strVal val="hidden"/>
                                      </p:to>
                                    </p:set>
                                  </p:childTnLst>
                                </p:cTn>
                              </p:par>
                              <p:par>
                                <p:cTn id="49" presetID="1" presetClass="entr" presetSubtype="0" fill="hold" nodeType="withEffect">
                                  <p:stCondLst>
                                    <p:cond delay="0"/>
                                  </p:stCondLst>
                                  <p:childTnLst>
                                    <p:set>
                                      <p:cBhvr>
                                        <p:cTn id="50" dur="1" fill="hold">
                                          <p:stCondLst>
                                            <p:cond delay="0"/>
                                          </p:stCondLst>
                                        </p:cTn>
                                        <p:tgtEl>
                                          <p:spTgt spid="88"/>
                                        </p:tgtEl>
                                        <p:attrNameLst>
                                          <p:attrName>style.visibility</p:attrName>
                                        </p:attrNameLst>
                                      </p:cBhvr>
                                      <p:to>
                                        <p:strVal val="visible"/>
                                      </p:to>
                                    </p:set>
                                  </p:childTnLst>
                                </p:cTn>
                              </p:par>
                              <p:par>
                                <p:cTn id="51" presetID="1" presetClass="exit" presetSubtype="0" fill="hold" nodeType="withEffect">
                                  <p:stCondLst>
                                    <p:cond delay="0"/>
                                  </p:stCondLst>
                                  <p:childTnLst>
                                    <p:set>
                                      <p:cBhvr>
                                        <p:cTn id="52" dur="1" fill="hold">
                                          <p:stCondLst>
                                            <p:cond delay="0"/>
                                          </p:stCondLst>
                                        </p:cTn>
                                        <p:tgtEl>
                                          <p:spTgt spid="86"/>
                                        </p:tgtEl>
                                        <p:attrNameLst>
                                          <p:attrName>style.visibility</p:attrName>
                                        </p:attrNameLst>
                                      </p:cBhvr>
                                      <p:to>
                                        <p:strVal val="hidden"/>
                                      </p:to>
                                    </p:set>
                                  </p:childTnLst>
                                </p:cTn>
                              </p:par>
                            </p:childTnLst>
                          </p:cTn>
                        </p:par>
                      </p:childTnLst>
                    </p:cTn>
                  </p:par>
                </p:childTnLst>
              </p:cTn>
              <p:nextCondLst>
                <p:cond evt="onClick" delay="0">
                  <p:tgtEl>
                    <p:spTgt spid="86"/>
                  </p:tgtEl>
                </p:cond>
              </p:nextCondLst>
            </p:seq>
            <p:seq concurrent="1" nextAc="seek">
              <p:cTn id="53" restart="whenNotActive" fill="hold" evtFilter="cancelBubble" nodeType="interactiveSeq">
                <p:stCondLst>
                  <p:cond evt="onClick" delay="0">
                    <p:tgtEl>
                      <p:spTgt spid="91"/>
                    </p:tgtEl>
                  </p:cond>
                </p:stCondLst>
                <p:endSync evt="end" delay="0">
                  <p:rtn val="all"/>
                </p:endSync>
                <p:childTnLst>
                  <p:par>
                    <p:cTn id="54" fill="hold">
                      <p:stCondLst>
                        <p:cond delay="0"/>
                      </p:stCondLst>
                      <p:childTnLst>
                        <p:par>
                          <p:cTn id="55" fill="hold">
                            <p:stCondLst>
                              <p:cond delay="0"/>
                            </p:stCondLst>
                            <p:childTnLst>
                              <p:par>
                                <p:cTn id="56" presetID="1" presetClass="exit" presetSubtype="0" fill="hold" nodeType="withEffect">
                                  <p:stCondLst>
                                    <p:cond delay="0"/>
                                  </p:stCondLst>
                                  <p:childTnLst>
                                    <p:set>
                                      <p:cBhvr>
                                        <p:cTn id="57" dur="1" fill="hold">
                                          <p:stCondLst>
                                            <p:cond delay="0"/>
                                          </p:stCondLst>
                                        </p:cTn>
                                        <p:tgtEl>
                                          <p:spTgt spid="35"/>
                                        </p:tgtEl>
                                        <p:attrNameLst>
                                          <p:attrName>style.visibility</p:attrName>
                                        </p:attrNameLst>
                                      </p:cBhvr>
                                      <p:to>
                                        <p:strVal val="hidden"/>
                                      </p:to>
                                    </p:set>
                                  </p:childTnLst>
                                </p:cTn>
                              </p:par>
                              <p:par>
                                <p:cTn id="58" presetID="1" presetClass="exit" presetSubtype="0" fill="hold" nodeType="withEffect">
                                  <p:stCondLst>
                                    <p:cond delay="0"/>
                                  </p:stCondLst>
                                  <p:childTnLst>
                                    <p:set>
                                      <p:cBhvr>
                                        <p:cTn id="59" dur="1" fill="hold">
                                          <p:stCondLst>
                                            <p:cond delay="0"/>
                                          </p:stCondLst>
                                        </p:cTn>
                                        <p:tgtEl>
                                          <p:spTgt spid="91"/>
                                        </p:tgtEl>
                                        <p:attrNameLst>
                                          <p:attrName>style.visibility</p:attrName>
                                        </p:attrNameLst>
                                      </p:cBhvr>
                                      <p:to>
                                        <p:strVal val="hidden"/>
                                      </p:to>
                                    </p:set>
                                  </p:childTnLst>
                                </p:cTn>
                              </p:par>
                              <p:par>
                                <p:cTn id="60" presetID="1" presetClass="entr" presetSubtype="0" fill="hold" grpId="0" nodeType="withEffect">
                                  <p:stCondLst>
                                    <p:cond delay="0"/>
                                  </p:stCondLst>
                                  <p:childTnLst>
                                    <p:set>
                                      <p:cBhvr>
                                        <p:cTn id="61" dur="1" fill="hold">
                                          <p:stCondLst>
                                            <p:cond delay="0"/>
                                          </p:stCondLst>
                                        </p:cTn>
                                        <p:tgtEl>
                                          <p:spTgt spid="74"/>
                                        </p:tgtEl>
                                        <p:attrNameLst>
                                          <p:attrName>style.visibility</p:attrName>
                                        </p:attrNameLst>
                                      </p:cBhvr>
                                      <p:to>
                                        <p:strVal val="visible"/>
                                      </p:to>
                                    </p:set>
                                  </p:childTnLst>
                                </p:cTn>
                              </p:par>
                            </p:childTnLst>
                          </p:cTn>
                        </p:par>
                      </p:childTnLst>
                    </p:cTn>
                  </p:par>
                </p:childTnLst>
              </p:cTn>
              <p:nextCondLst>
                <p:cond evt="onClick" delay="0">
                  <p:tgtEl>
                    <p:spTgt spid="91"/>
                  </p:tgtEl>
                </p:cond>
              </p:nextCondLst>
            </p:seq>
            <p:seq concurrent="1" nextAc="seek">
              <p:cTn id="62" restart="whenNotActive" fill="hold" evtFilter="cancelBubble" nodeType="interactiveSeq">
                <p:stCondLst>
                  <p:cond evt="onClick" delay="0">
                    <p:tgtEl>
                      <p:spTgt spid="96"/>
                    </p:tgtEl>
                  </p:cond>
                </p:stCondLst>
                <p:endSync evt="end" delay="0">
                  <p:rtn val="all"/>
                </p:endSync>
                <p:childTnLst>
                  <p:par>
                    <p:cTn id="63" fill="hold">
                      <p:stCondLst>
                        <p:cond delay="0"/>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85"/>
                                        </p:tgtEl>
                                        <p:attrNameLst>
                                          <p:attrName>style.visibility</p:attrName>
                                        </p:attrNameLst>
                                      </p:cBhvr>
                                      <p:to>
                                        <p:strVal val="visible"/>
                                      </p:to>
                                    </p:set>
                                  </p:childTnLst>
                                </p:cTn>
                              </p:par>
                              <p:par>
                                <p:cTn id="67" presetID="1" presetClass="exit" presetSubtype="0" fill="hold" nodeType="withEffect">
                                  <p:stCondLst>
                                    <p:cond delay="0"/>
                                  </p:stCondLst>
                                  <p:childTnLst>
                                    <p:set>
                                      <p:cBhvr>
                                        <p:cTn id="68" dur="1" fill="hold">
                                          <p:stCondLst>
                                            <p:cond delay="0"/>
                                          </p:stCondLst>
                                        </p:cTn>
                                        <p:tgtEl>
                                          <p:spTgt spid="93"/>
                                        </p:tgtEl>
                                        <p:attrNameLst>
                                          <p:attrName>style.visibility</p:attrName>
                                        </p:attrNameLst>
                                      </p:cBhvr>
                                      <p:to>
                                        <p:strVal val="hidden"/>
                                      </p:to>
                                    </p:set>
                                  </p:childTnLst>
                                </p:cTn>
                              </p:par>
                              <p:par>
                                <p:cTn id="69" presetID="1" presetClass="exit" presetSubtype="0" fill="hold" nodeType="withEffect">
                                  <p:stCondLst>
                                    <p:cond delay="0"/>
                                  </p:stCondLst>
                                  <p:childTnLst>
                                    <p:set>
                                      <p:cBhvr>
                                        <p:cTn id="70" dur="1" fill="hold">
                                          <p:stCondLst>
                                            <p:cond delay="0"/>
                                          </p:stCondLst>
                                        </p:cTn>
                                        <p:tgtEl>
                                          <p:spTgt spid="96"/>
                                        </p:tgtEl>
                                        <p:attrNameLst>
                                          <p:attrName>style.visibility</p:attrName>
                                        </p:attrNameLst>
                                      </p:cBhvr>
                                      <p:to>
                                        <p:strVal val="hidden"/>
                                      </p:to>
                                    </p:set>
                                  </p:childTnLst>
                                </p:cTn>
                              </p:par>
                              <p:par>
                                <p:cTn id="71" presetID="1" presetClass="entr" presetSubtype="0" fill="hold" grpId="0" nodeType="withEffect">
                                  <p:stCondLst>
                                    <p:cond delay="0"/>
                                  </p:stCondLst>
                                  <p:childTnLst>
                                    <p:set>
                                      <p:cBhvr>
                                        <p:cTn id="72" dur="1" fill="hold">
                                          <p:stCondLst>
                                            <p:cond delay="0"/>
                                          </p:stCondLst>
                                        </p:cTn>
                                        <p:tgtEl>
                                          <p:spTgt spid="76"/>
                                        </p:tgtEl>
                                        <p:attrNameLst>
                                          <p:attrName>style.visibility</p:attrName>
                                        </p:attrNameLst>
                                      </p:cBhvr>
                                      <p:to>
                                        <p:strVal val="visible"/>
                                      </p:to>
                                    </p:set>
                                  </p:childTnLst>
                                </p:cTn>
                              </p:par>
                            </p:childTnLst>
                          </p:cTn>
                        </p:par>
                      </p:childTnLst>
                    </p:cTn>
                  </p:par>
                </p:childTnLst>
              </p:cTn>
              <p:nextCondLst>
                <p:cond evt="onClick" delay="0">
                  <p:tgtEl>
                    <p:spTgt spid="96"/>
                  </p:tgtEl>
                </p:cond>
              </p:nextCondLst>
            </p:seq>
          </p:childTnLst>
        </p:cTn>
      </p:par>
    </p:tnLst>
    <p:bldLst>
      <p:bldP spid="44" grpId="0"/>
      <p:bldP spid="45" grpId="0"/>
      <p:bldP spid="46" grpId="0"/>
      <p:bldP spid="47" grpId="0"/>
      <p:bldP spid="48" grpId="0"/>
      <p:bldP spid="53" grpId="0"/>
      <p:bldP spid="54" grpId="0"/>
      <p:bldP spid="55" grpId="0"/>
      <p:bldP spid="65" grpId="0"/>
      <p:bldP spid="66" grpId="0"/>
      <p:bldP spid="71" grpId="0"/>
      <p:bldP spid="72" grpId="0"/>
      <p:bldP spid="74" grpId="0"/>
      <p:bldP spid="76" grpId="0"/>
    </p:bldLst>
  </p:timing>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07" name="Rectangle 206">
            <a:extLst>
              <a:ext uri="{FF2B5EF4-FFF2-40B4-BE49-F238E27FC236}">
                <a16:creationId xmlns:a16="http://schemas.microsoft.com/office/drawing/2014/main" id="{6B3FC244-8EED-C6B6-D1E3-F2462ADFE36D}"/>
              </a:ext>
            </a:extLst>
          </p:cNvPr>
          <p:cNvSpPr/>
          <p:nvPr/>
        </p:nvSpPr>
        <p:spPr>
          <a:xfrm>
            <a:off x="2277247" y="2202718"/>
            <a:ext cx="2834640" cy="470613"/>
          </a:xfrm>
          <a:prstGeom prst="rect">
            <a:avLst/>
          </a:prstGeom>
          <a:solidFill>
            <a:schemeClr val="bg2"/>
          </a:solidFill>
          <a:ln>
            <a:solidFill>
              <a:schemeClr val="bg2">
                <a:lumMod val="10000"/>
              </a:schemeClr>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dirty="0">
                <a:solidFill>
                  <a:schemeClr val="tx1"/>
                </a:solidFill>
              </a:rPr>
              <a:t>Mild</a:t>
            </a:r>
          </a:p>
        </p:txBody>
      </p:sp>
      <p:sp>
        <p:nvSpPr>
          <p:cNvPr id="208" name="Rectangle 207">
            <a:extLst>
              <a:ext uri="{FF2B5EF4-FFF2-40B4-BE49-F238E27FC236}">
                <a16:creationId xmlns:a16="http://schemas.microsoft.com/office/drawing/2014/main" id="{EB12E89E-3556-18CD-38E5-DE70CD6D7693}"/>
              </a:ext>
            </a:extLst>
          </p:cNvPr>
          <p:cNvSpPr/>
          <p:nvPr/>
        </p:nvSpPr>
        <p:spPr>
          <a:xfrm>
            <a:off x="5622207" y="2202718"/>
            <a:ext cx="2834640" cy="470613"/>
          </a:xfrm>
          <a:prstGeom prst="rect">
            <a:avLst/>
          </a:prstGeom>
          <a:solidFill>
            <a:schemeClr val="bg2">
              <a:lumMod val="75000"/>
            </a:schemeClr>
          </a:solidFill>
          <a:ln>
            <a:solidFill>
              <a:schemeClr val="bg2">
                <a:lumMod val="10000"/>
              </a:schemeClr>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a:t>Moderate</a:t>
            </a:r>
          </a:p>
        </p:txBody>
      </p:sp>
      <p:sp>
        <p:nvSpPr>
          <p:cNvPr id="209" name="Rectangle 208">
            <a:extLst>
              <a:ext uri="{FF2B5EF4-FFF2-40B4-BE49-F238E27FC236}">
                <a16:creationId xmlns:a16="http://schemas.microsoft.com/office/drawing/2014/main" id="{EE58D355-D90F-AB2A-3AC6-4EF7B60E5722}"/>
              </a:ext>
            </a:extLst>
          </p:cNvPr>
          <p:cNvSpPr/>
          <p:nvPr/>
        </p:nvSpPr>
        <p:spPr>
          <a:xfrm>
            <a:off x="8967167" y="2199684"/>
            <a:ext cx="2834640" cy="470613"/>
          </a:xfrm>
          <a:prstGeom prst="rect">
            <a:avLst/>
          </a:prstGeom>
          <a:solidFill>
            <a:schemeClr val="tx1"/>
          </a:solidFill>
          <a:ln>
            <a:solidFill>
              <a:schemeClr val="bg2">
                <a:lumMod val="1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a:t>Severe</a:t>
            </a:r>
          </a:p>
        </p:txBody>
      </p:sp>
      <p:sp>
        <p:nvSpPr>
          <p:cNvPr id="191" name="Acute exacerbation">
            <a:extLst>
              <a:ext uri="{FF2B5EF4-FFF2-40B4-BE49-F238E27FC236}">
                <a16:creationId xmlns:a16="http://schemas.microsoft.com/office/drawing/2014/main" id="{A5E0481D-ED32-6751-D219-5E1701A6C521}"/>
              </a:ext>
            </a:extLst>
          </p:cNvPr>
          <p:cNvSpPr/>
          <p:nvPr/>
        </p:nvSpPr>
        <p:spPr>
          <a:xfrm>
            <a:off x="2398671" y="947634"/>
            <a:ext cx="1645920" cy="731520"/>
          </a:xfrm>
          <a:prstGeom prst="roundRect">
            <a:avLst/>
          </a:prstGeom>
          <a:solidFill>
            <a:schemeClr val="tx1"/>
          </a:solidFill>
          <a:ln w="3810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Acute exacerbation</a:t>
            </a:r>
          </a:p>
        </p:txBody>
      </p:sp>
      <p:sp>
        <p:nvSpPr>
          <p:cNvPr id="192" name="rule out">
            <a:extLst>
              <a:ext uri="{FF2B5EF4-FFF2-40B4-BE49-F238E27FC236}">
                <a16:creationId xmlns:a16="http://schemas.microsoft.com/office/drawing/2014/main" id="{C5ED7B74-979C-963E-0BDB-81AADC01160D}"/>
              </a:ext>
            </a:extLst>
          </p:cNvPr>
          <p:cNvSpPr/>
          <p:nvPr/>
        </p:nvSpPr>
        <p:spPr>
          <a:xfrm>
            <a:off x="7445178" y="968371"/>
            <a:ext cx="1463086" cy="698286"/>
          </a:xfrm>
          <a:prstGeom prst="roundRect">
            <a:avLst/>
          </a:prstGeom>
          <a:solidFill>
            <a:schemeClr val="tx1"/>
          </a:solidFill>
          <a:ln w="3810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Rule out other causes</a:t>
            </a:r>
          </a:p>
        </p:txBody>
      </p:sp>
      <p:sp>
        <p:nvSpPr>
          <p:cNvPr id="2" name="question 1">
            <a:hlinkClick r:id="rId3" action="ppaction://hlinksldjump"/>
            <a:extLst>
              <a:ext uri="{FF2B5EF4-FFF2-40B4-BE49-F238E27FC236}">
                <a16:creationId xmlns:a16="http://schemas.microsoft.com/office/drawing/2014/main" id="{1DB84704-10E5-E970-B3CB-0E20F0528FEE}"/>
              </a:ext>
            </a:extLst>
          </p:cNvPr>
          <p:cNvSpPr txBox="1"/>
          <p:nvPr/>
        </p:nvSpPr>
        <p:spPr>
          <a:xfrm>
            <a:off x="181642" y="159488"/>
            <a:ext cx="1645920"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Diagnosis</a:t>
            </a:r>
          </a:p>
        </p:txBody>
      </p:sp>
      <p:pic>
        <p:nvPicPr>
          <p:cNvPr id="3" name="Graphic 2" descr="Cursor with solid fill">
            <a:extLst>
              <a:ext uri="{FF2B5EF4-FFF2-40B4-BE49-F238E27FC236}">
                <a16:creationId xmlns:a16="http://schemas.microsoft.com/office/drawing/2014/main" id="{042F939E-E877-CF4B-4112-7A68E2DDE2E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682625" y="417235"/>
            <a:ext cx="301752" cy="301752"/>
          </a:xfrm>
          <a:prstGeom prst="rect">
            <a:avLst/>
          </a:prstGeom>
        </p:spPr>
      </p:pic>
      <p:sp>
        <p:nvSpPr>
          <p:cNvPr id="4" name="Question 2">
            <a:hlinkClick r:id="rId6" action="ppaction://hlinksldjump"/>
            <a:extLst>
              <a:ext uri="{FF2B5EF4-FFF2-40B4-BE49-F238E27FC236}">
                <a16:creationId xmlns:a16="http://schemas.microsoft.com/office/drawing/2014/main" id="{5B15D267-5DC1-7E23-4482-735E79C1F0F6}"/>
              </a:ext>
            </a:extLst>
          </p:cNvPr>
          <p:cNvSpPr txBox="1"/>
          <p:nvPr/>
        </p:nvSpPr>
        <p:spPr>
          <a:xfrm>
            <a:off x="181642" y="1303550"/>
            <a:ext cx="1645920"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Management</a:t>
            </a:r>
          </a:p>
        </p:txBody>
      </p:sp>
      <p:sp>
        <p:nvSpPr>
          <p:cNvPr id="5" name="Cases">
            <a:hlinkClick r:id="" action="ppaction://noaction"/>
            <a:extLst>
              <a:ext uri="{FF2B5EF4-FFF2-40B4-BE49-F238E27FC236}">
                <a16:creationId xmlns:a16="http://schemas.microsoft.com/office/drawing/2014/main" id="{456156CA-E97E-6237-ACE7-2277D2FEAA8E}"/>
              </a:ext>
            </a:extLst>
          </p:cNvPr>
          <p:cNvSpPr txBox="1"/>
          <p:nvPr/>
        </p:nvSpPr>
        <p:spPr>
          <a:xfrm>
            <a:off x="181642" y="2447614"/>
            <a:ext cx="1645920"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Cases</a:t>
            </a:r>
          </a:p>
        </p:txBody>
      </p:sp>
      <p:pic>
        <p:nvPicPr>
          <p:cNvPr id="6" name="Graphic 5" descr="Cursor with solid fill">
            <a:extLst>
              <a:ext uri="{FF2B5EF4-FFF2-40B4-BE49-F238E27FC236}">
                <a16:creationId xmlns:a16="http://schemas.microsoft.com/office/drawing/2014/main" id="{41EAF5FE-A17F-824D-093A-91B6426200F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682625" y="2722270"/>
            <a:ext cx="297955" cy="301752"/>
          </a:xfrm>
          <a:prstGeom prst="rect">
            <a:avLst/>
          </a:prstGeom>
        </p:spPr>
      </p:pic>
      <p:sp>
        <p:nvSpPr>
          <p:cNvPr id="7" name="Question 2">
            <a:hlinkClick r:id="rId6" action="ppaction://hlinksldjump"/>
            <a:extLst>
              <a:ext uri="{FF2B5EF4-FFF2-40B4-BE49-F238E27FC236}">
                <a16:creationId xmlns:a16="http://schemas.microsoft.com/office/drawing/2014/main" id="{2AA5BDED-0164-10C4-E951-15F42C05A38F}"/>
              </a:ext>
            </a:extLst>
          </p:cNvPr>
          <p:cNvSpPr txBox="1"/>
          <p:nvPr/>
        </p:nvSpPr>
        <p:spPr>
          <a:xfrm>
            <a:off x="181642" y="731519"/>
            <a:ext cx="1645920"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Classification</a:t>
            </a:r>
          </a:p>
        </p:txBody>
      </p:sp>
      <p:pic>
        <p:nvPicPr>
          <p:cNvPr id="8" name="Graphic 7" descr="Cursor with solid fill">
            <a:extLst>
              <a:ext uri="{FF2B5EF4-FFF2-40B4-BE49-F238E27FC236}">
                <a16:creationId xmlns:a16="http://schemas.microsoft.com/office/drawing/2014/main" id="{E50B77A2-75EE-327B-7975-AD9F804D9CA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682625" y="993494"/>
            <a:ext cx="301752" cy="301752"/>
          </a:xfrm>
          <a:prstGeom prst="rect">
            <a:avLst/>
          </a:prstGeom>
        </p:spPr>
      </p:pic>
      <p:pic>
        <p:nvPicPr>
          <p:cNvPr id="9" name="Graphic 8" descr="Cursor with solid fill">
            <a:extLst>
              <a:ext uri="{FF2B5EF4-FFF2-40B4-BE49-F238E27FC236}">
                <a16:creationId xmlns:a16="http://schemas.microsoft.com/office/drawing/2014/main" id="{3F3C3C72-21C3-8F02-9B6E-2876791FE67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682625" y="1569753"/>
            <a:ext cx="301752" cy="301752"/>
          </a:xfrm>
          <a:prstGeom prst="rect">
            <a:avLst/>
          </a:prstGeom>
        </p:spPr>
      </p:pic>
      <p:sp>
        <p:nvSpPr>
          <p:cNvPr id="10" name="Question 2">
            <a:hlinkClick r:id="rId6" action="ppaction://hlinksldjump"/>
            <a:extLst>
              <a:ext uri="{FF2B5EF4-FFF2-40B4-BE49-F238E27FC236}">
                <a16:creationId xmlns:a16="http://schemas.microsoft.com/office/drawing/2014/main" id="{F3531049-96A0-DC1D-5CCC-1ED034E54710}"/>
              </a:ext>
            </a:extLst>
          </p:cNvPr>
          <p:cNvSpPr txBox="1"/>
          <p:nvPr/>
        </p:nvSpPr>
        <p:spPr>
          <a:xfrm>
            <a:off x="181642" y="1875581"/>
            <a:ext cx="1645920"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Exacerbations</a:t>
            </a:r>
          </a:p>
        </p:txBody>
      </p:sp>
      <p:pic>
        <p:nvPicPr>
          <p:cNvPr id="11" name="Graphic 10" descr="Cursor with solid fill">
            <a:extLst>
              <a:ext uri="{FF2B5EF4-FFF2-40B4-BE49-F238E27FC236}">
                <a16:creationId xmlns:a16="http://schemas.microsoft.com/office/drawing/2014/main" id="{D843D599-5DB1-C541-1CC0-98335E70230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682625" y="2146012"/>
            <a:ext cx="301752" cy="301752"/>
          </a:xfrm>
          <a:prstGeom prst="rect">
            <a:avLst/>
          </a:prstGeom>
        </p:spPr>
      </p:pic>
      <p:sp>
        <p:nvSpPr>
          <p:cNvPr id="12" name="Acute exacerbation">
            <a:extLst>
              <a:ext uri="{FF2B5EF4-FFF2-40B4-BE49-F238E27FC236}">
                <a16:creationId xmlns:a16="http://schemas.microsoft.com/office/drawing/2014/main" id="{95A3BB2B-1783-06D2-D888-659106DB3F05}"/>
              </a:ext>
            </a:extLst>
          </p:cNvPr>
          <p:cNvSpPr/>
          <p:nvPr/>
        </p:nvSpPr>
        <p:spPr>
          <a:xfrm>
            <a:off x="2398671" y="947634"/>
            <a:ext cx="1645920" cy="731520"/>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Acute exacerbation?</a:t>
            </a:r>
          </a:p>
        </p:txBody>
      </p:sp>
      <p:sp>
        <p:nvSpPr>
          <p:cNvPr id="13" name="TextBox 12">
            <a:extLst>
              <a:ext uri="{FF2B5EF4-FFF2-40B4-BE49-F238E27FC236}">
                <a16:creationId xmlns:a16="http://schemas.microsoft.com/office/drawing/2014/main" id="{4FE5C07B-2325-272C-EAD5-CC65EBAA7309}"/>
              </a:ext>
            </a:extLst>
          </p:cNvPr>
          <p:cNvSpPr txBox="1"/>
          <p:nvPr/>
        </p:nvSpPr>
        <p:spPr>
          <a:xfrm>
            <a:off x="3011072" y="110643"/>
            <a:ext cx="7116561" cy="461665"/>
          </a:xfrm>
          <a:prstGeom prst="rect">
            <a:avLst/>
          </a:prstGeom>
          <a:noFill/>
        </p:spPr>
        <p:txBody>
          <a:bodyPr wrap="square" rtlCol="0">
            <a:spAutoFit/>
          </a:bodyPr>
          <a:lstStyle/>
          <a:p>
            <a:pPr algn="ctr"/>
            <a:r>
              <a:rPr lang="en-US" sz="2400" b="1" dirty="0"/>
              <a:t>Acute Exacerbations</a:t>
            </a:r>
          </a:p>
        </p:txBody>
      </p:sp>
      <p:sp>
        <p:nvSpPr>
          <p:cNvPr id="14" name="Rectangle 13">
            <a:extLst>
              <a:ext uri="{FF2B5EF4-FFF2-40B4-BE49-F238E27FC236}">
                <a16:creationId xmlns:a16="http://schemas.microsoft.com/office/drawing/2014/main" id="{A79EEE99-08CE-4D26-3BD3-1F22DB280C8B}"/>
              </a:ext>
            </a:extLst>
          </p:cNvPr>
          <p:cNvSpPr/>
          <p:nvPr/>
        </p:nvSpPr>
        <p:spPr>
          <a:xfrm>
            <a:off x="4395445" y="661059"/>
            <a:ext cx="2310489" cy="13046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800" dirty="0"/>
              <a:t>Cardinal symptoms:</a:t>
            </a:r>
          </a:p>
          <a:p>
            <a:pPr algn="ctr"/>
            <a:r>
              <a:rPr lang="en-US" sz="1800" dirty="0"/>
              <a:t>↑ dyspnea </a:t>
            </a:r>
          </a:p>
          <a:p>
            <a:pPr algn="ctr"/>
            <a:r>
              <a:rPr lang="en-US" dirty="0"/>
              <a:t>↑ s</a:t>
            </a:r>
            <a:r>
              <a:rPr lang="en-US" sz="1800" dirty="0"/>
              <a:t>putum volume</a:t>
            </a:r>
          </a:p>
          <a:p>
            <a:pPr algn="ctr"/>
            <a:r>
              <a:rPr lang="en-US" dirty="0"/>
              <a:t>↑ s</a:t>
            </a:r>
            <a:r>
              <a:rPr lang="en-US" sz="1800" dirty="0"/>
              <a:t>putum purulence</a:t>
            </a:r>
          </a:p>
        </p:txBody>
      </p:sp>
      <p:cxnSp>
        <p:nvCxnSpPr>
          <p:cNvPr id="19" name="Straight Connector 18">
            <a:extLst>
              <a:ext uri="{FF2B5EF4-FFF2-40B4-BE49-F238E27FC236}">
                <a16:creationId xmlns:a16="http://schemas.microsoft.com/office/drawing/2014/main" id="{0B63B949-CD38-DA2F-E9CF-9E2A8BAB3F42}"/>
              </a:ext>
            </a:extLst>
          </p:cNvPr>
          <p:cNvCxnSpPr>
            <a:cxnSpLocks/>
            <a:stCxn id="12" idx="3"/>
            <a:endCxn id="14" idx="1"/>
          </p:cNvCxnSpPr>
          <p:nvPr/>
        </p:nvCxnSpPr>
        <p:spPr>
          <a:xfrm>
            <a:off x="4044591" y="1313394"/>
            <a:ext cx="350854" cy="1"/>
          </a:xfrm>
          <a:prstGeom prst="line">
            <a:avLst/>
          </a:prstGeom>
        </p:spPr>
        <p:style>
          <a:lnRef idx="1">
            <a:schemeClr val="dk1"/>
          </a:lnRef>
          <a:fillRef idx="0">
            <a:schemeClr val="dk1"/>
          </a:fillRef>
          <a:effectRef idx="0">
            <a:schemeClr val="dk1"/>
          </a:effectRef>
          <a:fontRef idx="minor">
            <a:schemeClr val="tx1"/>
          </a:fontRef>
        </p:style>
      </p:cxnSp>
      <p:sp>
        <p:nvSpPr>
          <p:cNvPr id="20" name="rule out">
            <a:extLst>
              <a:ext uri="{FF2B5EF4-FFF2-40B4-BE49-F238E27FC236}">
                <a16:creationId xmlns:a16="http://schemas.microsoft.com/office/drawing/2014/main" id="{2FA6DA6A-A506-5847-5EFD-DD21D4EB4085}"/>
              </a:ext>
            </a:extLst>
          </p:cNvPr>
          <p:cNvSpPr/>
          <p:nvPr/>
        </p:nvSpPr>
        <p:spPr>
          <a:xfrm>
            <a:off x="7445178" y="968371"/>
            <a:ext cx="1463086" cy="698286"/>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Rule out other causes</a:t>
            </a:r>
          </a:p>
        </p:txBody>
      </p:sp>
      <p:sp>
        <p:nvSpPr>
          <p:cNvPr id="21" name="Rectangle 20">
            <a:extLst>
              <a:ext uri="{FF2B5EF4-FFF2-40B4-BE49-F238E27FC236}">
                <a16:creationId xmlns:a16="http://schemas.microsoft.com/office/drawing/2014/main" id="{119058EC-FF6E-E718-5119-DF4038EE2211}"/>
              </a:ext>
            </a:extLst>
          </p:cNvPr>
          <p:cNvSpPr/>
          <p:nvPr/>
        </p:nvSpPr>
        <p:spPr>
          <a:xfrm>
            <a:off x="9660154" y="683218"/>
            <a:ext cx="1912489" cy="119553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±CXR</a:t>
            </a:r>
          </a:p>
          <a:p>
            <a:pPr algn="ctr"/>
            <a:r>
              <a:rPr lang="en-US" dirty="0"/>
              <a:t>±D-dimer</a:t>
            </a:r>
          </a:p>
          <a:p>
            <a:pPr algn="ctr"/>
            <a:r>
              <a:rPr lang="en-US" dirty="0"/>
              <a:t>±ECG, troponin</a:t>
            </a:r>
          </a:p>
          <a:p>
            <a:pPr algn="ctr"/>
            <a:r>
              <a:rPr lang="en-US" dirty="0"/>
              <a:t>±</a:t>
            </a:r>
            <a:r>
              <a:rPr lang="en-US" sz="1800" dirty="0"/>
              <a:t>BNP</a:t>
            </a:r>
          </a:p>
        </p:txBody>
      </p:sp>
      <p:cxnSp>
        <p:nvCxnSpPr>
          <p:cNvPr id="22" name="Straight Connector 21">
            <a:extLst>
              <a:ext uri="{FF2B5EF4-FFF2-40B4-BE49-F238E27FC236}">
                <a16:creationId xmlns:a16="http://schemas.microsoft.com/office/drawing/2014/main" id="{012D4229-FC31-E069-651C-4A6377F3BE19}"/>
              </a:ext>
            </a:extLst>
          </p:cNvPr>
          <p:cNvCxnSpPr>
            <a:cxnSpLocks/>
          </p:cNvCxnSpPr>
          <p:nvPr/>
        </p:nvCxnSpPr>
        <p:spPr>
          <a:xfrm>
            <a:off x="8914587" y="1313394"/>
            <a:ext cx="745567" cy="1"/>
          </a:xfrm>
          <a:prstGeom prst="line">
            <a:avLst/>
          </a:prstGeom>
        </p:spPr>
        <p:style>
          <a:lnRef idx="1">
            <a:schemeClr val="dk1"/>
          </a:lnRef>
          <a:fillRef idx="0">
            <a:schemeClr val="dk1"/>
          </a:fillRef>
          <a:effectRef idx="0">
            <a:schemeClr val="dk1"/>
          </a:effectRef>
          <a:fontRef idx="minor">
            <a:schemeClr val="tx1"/>
          </a:fontRef>
        </p:style>
      </p:cxnSp>
      <p:sp>
        <p:nvSpPr>
          <p:cNvPr id="31" name="Severity">
            <a:extLst>
              <a:ext uri="{FF2B5EF4-FFF2-40B4-BE49-F238E27FC236}">
                <a16:creationId xmlns:a16="http://schemas.microsoft.com/office/drawing/2014/main" id="{A116C9CD-781E-3410-F23C-6FA00BCB7E0D}"/>
              </a:ext>
            </a:extLst>
          </p:cNvPr>
          <p:cNvSpPr/>
          <p:nvPr/>
        </p:nvSpPr>
        <p:spPr>
          <a:xfrm>
            <a:off x="2305917" y="2223070"/>
            <a:ext cx="1817729" cy="411480"/>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Severity?</a:t>
            </a:r>
          </a:p>
        </p:txBody>
      </p:sp>
      <p:cxnSp>
        <p:nvCxnSpPr>
          <p:cNvPr id="174" name="Straight Arrow Connector 173">
            <a:extLst>
              <a:ext uri="{FF2B5EF4-FFF2-40B4-BE49-F238E27FC236}">
                <a16:creationId xmlns:a16="http://schemas.microsoft.com/office/drawing/2014/main" id="{2366A361-AE04-65CC-2F2C-41F5482F2420}"/>
              </a:ext>
            </a:extLst>
          </p:cNvPr>
          <p:cNvCxnSpPr>
            <a:cxnSpLocks/>
            <a:stCxn id="14" idx="3"/>
            <a:endCxn id="20" idx="1"/>
          </p:cNvCxnSpPr>
          <p:nvPr/>
        </p:nvCxnSpPr>
        <p:spPr>
          <a:xfrm>
            <a:off x="6705934" y="1313395"/>
            <a:ext cx="739244" cy="4119"/>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pic>
        <p:nvPicPr>
          <p:cNvPr id="183" name="Graphic 182" descr="Cursor with solid fill">
            <a:extLst>
              <a:ext uri="{FF2B5EF4-FFF2-40B4-BE49-F238E27FC236}">
                <a16:creationId xmlns:a16="http://schemas.microsoft.com/office/drawing/2014/main" id="{1CA31340-3C54-EEF6-9319-302FB2B36D0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891790" y="1515781"/>
            <a:ext cx="297955" cy="301752"/>
          </a:xfrm>
          <a:prstGeom prst="rect">
            <a:avLst/>
          </a:prstGeom>
        </p:spPr>
      </p:pic>
      <p:pic>
        <p:nvPicPr>
          <p:cNvPr id="184" name="Graphic 183" descr="Cursor with solid fill">
            <a:extLst>
              <a:ext uri="{FF2B5EF4-FFF2-40B4-BE49-F238E27FC236}">
                <a16:creationId xmlns:a16="http://schemas.microsoft.com/office/drawing/2014/main" id="{EC916EB9-7050-DE48-0F17-96F19AC49FE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759286" y="1515781"/>
            <a:ext cx="297955" cy="301752"/>
          </a:xfrm>
          <a:prstGeom prst="rect">
            <a:avLst/>
          </a:prstGeom>
        </p:spPr>
      </p:pic>
      <p:pic>
        <p:nvPicPr>
          <p:cNvPr id="185" name="Graphic 184" descr="Cursor with solid fill">
            <a:extLst>
              <a:ext uri="{FF2B5EF4-FFF2-40B4-BE49-F238E27FC236}">
                <a16:creationId xmlns:a16="http://schemas.microsoft.com/office/drawing/2014/main" id="{34ACA60C-A099-A4CB-3926-8CC72090B95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981517" y="2490926"/>
            <a:ext cx="297955" cy="301752"/>
          </a:xfrm>
          <a:prstGeom prst="rect">
            <a:avLst/>
          </a:prstGeom>
        </p:spPr>
      </p:pic>
      <p:cxnSp>
        <p:nvCxnSpPr>
          <p:cNvPr id="201" name="Straight Arrow Connector 200">
            <a:extLst>
              <a:ext uri="{FF2B5EF4-FFF2-40B4-BE49-F238E27FC236}">
                <a16:creationId xmlns:a16="http://schemas.microsoft.com/office/drawing/2014/main" id="{41FC49E0-90D5-4358-E533-40FF6C0735A3}"/>
              </a:ext>
            </a:extLst>
          </p:cNvPr>
          <p:cNvCxnSpPr>
            <a:cxnSpLocks/>
            <a:stCxn id="12" idx="2"/>
            <a:endCxn id="31" idx="0"/>
          </p:cNvCxnSpPr>
          <p:nvPr/>
        </p:nvCxnSpPr>
        <p:spPr>
          <a:xfrm flipH="1">
            <a:off x="3214782" y="1679154"/>
            <a:ext cx="6849" cy="543916"/>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211" name="Rectangle 210">
            <a:extLst>
              <a:ext uri="{FF2B5EF4-FFF2-40B4-BE49-F238E27FC236}">
                <a16:creationId xmlns:a16="http://schemas.microsoft.com/office/drawing/2014/main" id="{3EE00CD7-DA18-ABC5-41AC-A9A02906C821}"/>
              </a:ext>
            </a:extLst>
          </p:cNvPr>
          <p:cNvSpPr/>
          <p:nvPr/>
        </p:nvSpPr>
        <p:spPr>
          <a:xfrm>
            <a:off x="2368688" y="2673330"/>
            <a:ext cx="2651760" cy="54864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a:t>RR&lt;24, HR&lt;95, CRP&lt;10</a:t>
            </a:r>
          </a:p>
          <a:p>
            <a:pPr algn="ctr"/>
            <a:r>
              <a:rPr lang="en-US" sz="1400" dirty="0"/>
              <a:t>SaO</a:t>
            </a:r>
            <a:r>
              <a:rPr lang="en-US" sz="1400" baseline="-25000" dirty="0"/>
              <a:t>2</a:t>
            </a:r>
            <a:r>
              <a:rPr lang="en-US" sz="1400" dirty="0"/>
              <a:t>≥92% and &lt;3%</a:t>
            </a:r>
          </a:p>
        </p:txBody>
      </p:sp>
      <p:sp>
        <p:nvSpPr>
          <p:cNvPr id="212" name="Rectangle 211">
            <a:extLst>
              <a:ext uri="{FF2B5EF4-FFF2-40B4-BE49-F238E27FC236}">
                <a16:creationId xmlns:a16="http://schemas.microsoft.com/office/drawing/2014/main" id="{558E64EF-27C3-6B43-A48D-10BCCCC709DB}"/>
              </a:ext>
            </a:extLst>
          </p:cNvPr>
          <p:cNvSpPr/>
          <p:nvPr/>
        </p:nvSpPr>
        <p:spPr>
          <a:xfrm>
            <a:off x="5710648" y="2670296"/>
            <a:ext cx="2651760" cy="54864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a:t>RR≥24, HR≥95, CRP&gt;10</a:t>
            </a:r>
          </a:p>
          <a:p>
            <a:pPr algn="ctr"/>
            <a:r>
              <a:rPr lang="en-US" sz="1400" dirty="0"/>
              <a:t>SaO</a:t>
            </a:r>
            <a:r>
              <a:rPr lang="en-US" sz="1400" baseline="-25000" dirty="0"/>
              <a:t>2</a:t>
            </a:r>
            <a:r>
              <a:rPr lang="en-US" sz="1400" dirty="0"/>
              <a:t>&lt;92% and ≥3%, ±pCO</a:t>
            </a:r>
            <a:r>
              <a:rPr lang="en-US" sz="1400" baseline="-25000" dirty="0"/>
              <a:t>2</a:t>
            </a:r>
            <a:r>
              <a:rPr lang="en-US" sz="1400" dirty="0"/>
              <a:t>&gt;45</a:t>
            </a:r>
          </a:p>
        </p:txBody>
      </p:sp>
      <p:sp>
        <p:nvSpPr>
          <p:cNvPr id="213" name="Rectangle 212">
            <a:extLst>
              <a:ext uri="{FF2B5EF4-FFF2-40B4-BE49-F238E27FC236}">
                <a16:creationId xmlns:a16="http://schemas.microsoft.com/office/drawing/2014/main" id="{BDF5F03D-827A-E1B4-4D7C-351D3DB8B318}"/>
              </a:ext>
            </a:extLst>
          </p:cNvPr>
          <p:cNvSpPr/>
          <p:nvPr/>
        </p:nvSpPr>
        <p:spPr>
          <a:xfrm>
            <a:off x="9066971" y="2670296"/>
            <a:ext cx="2651760" cy="54864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a:t>RR≥24, HR≥95, SaO</a:t>
            </a:r>
            <a:r>
              <a:rPr lang="en-US" sz="1400" baseline="-25000" dirty="0"/>
              <a:t>2</a:t>
            </a:r>
            <a:r>
              <a:rPr lang="en-US" sz="1400" dirty="0"/>
              <a:t>&lt;92%</a:t>
            </a:r>
          </a:p>
          <a:p>
            <a:pPr algn="ctr"/>
            <a:r>
              <a:rPr lang="en-US" sz="1400" dirty="0"/>
              <a:t>pH&lt;7.35, pCO</a:t>
            </a:r>
            <a:r>
              <a:rPr lang="en-US" sz="1400" baseline="-25000" dirty="0"/>
              <a:t>2</a:t>
            </a:r>
            <a:r>
              <a:rPr lang="en-US" sz="1400" dirty="0"/>
              <a:t>&gt;45</a:t>
            </a:r>
          </a:p>
        </p:txBody>
      </p:sp>
      <p:sp>
        <p:nvSpPr>
          <p:cNvPr id="220" name="Hospitalization">
            <a:extLst>
              <a:ext uri="{FF2B5EF4-FFF2-40B4-BE49-F238E27FC236}">
                <a16:creationId xmlns:a16="http://schemas.microsoft.com/office/drawing/2014/main" id="{CEE9E612-3DB2-469C-B57A-1D3F2DD3BDEA}"/>
              </a:ext>
            </a:extLst>
          </p:cNvPr>
          <p:cNvSpPr/>
          <p:nvPr/>
        </p:nvSpPr>
        <p:spPr>
          <a:xfrm>
            <a:off x="301409" y="3374058"/>
            <a:ext cx="1817729" cy="411480"/>
          </a:xfrm>
          <a:prstGeom prst="roundRect">
            <a:avLst/>
          </a:prstGeom>
          <a:solidFill>
            <a:schemeClr val="tx1"/>
          </a:solidFill>
          <a:ln w="3810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Hospitalization?</a:t>
            </a:r>
          </a:p>
        </p:txBody>
      </p:sp>
      <p:sp>
        <p:nvSpPr>
          <p:cNvPr id="221" name="Hospitalization">
            <a:extLst>
              <a:ext uri="{FF2B5EF4-FFF2-40B4-BE49-F238E27FC236}">
                <a16:creationId xmlns:a16="http://schemas.microsoft.com/office/drawing/2014/main" id="{22B283E0-1EE3-690D-B9FD-33DB11063024}"/>
              </a:ext>
            </a:extLst>
          </p:cNvPr>
          <p:cNvSpPr/>
          <p:nvPr/>
        </p:nvSpPr>
        <p:spPr>
          <a:xfrm>
            <a:off x="301409" y="3374058"/>
            <a:ext cx="1817729" cy="411480"/>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Hospitalization?</a:t>
            </a:r>
          </a:p>
        </p:txBody>
      </p:sp>
      <p:pic>
        <p:nvPicPr>
          <p:cNvPr id="222" name="Graphic 221" descr="Cursor with solid fill">
            <a:extLst>
              <a:ext uri="{FF2B5EF4-FFF2-40B4-BE49-F238E27FC236}">
                <a16:creationId xmlns:a16="http://schemas.microsoft.com/office/drawing/2014/main" id="{A17A486F-4D29-A3BF-E8DD-A0E3E34BB54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970160" y="3648749"/>
            <a:ext cx="297955" cy="301752"/>
          </a:xfrm>
          <a:prstGeom prst="rect">
            <a:avLst/>
          </a:prstGeom>
        </p:spPr>
      </p:pic>
      <p:sp>
        <p:nvSpPr>
          <p:cNvPr id="223" name="Rectangle 222">
            <a:extLst>
              <a:ext uri="{FF2B5EF4-FFF2-40B4-BE49-F238E27FC236}">
                <a16:creationId xmlns:a16="http://schemas.microsoft.com/office/drawing/2014/main" id="{206BF17E-EECF-BB05-0CCE-E5694D8B7751}"/>
              </a:ext>
            </a:extLst>
          </p:cNvPr>
          <p:cNvSpPr/>
          <p:nvPr/>
        </p:nvSpPr>
        <p:spPr>
          <a:xfrm>
            <a:off x="5622207" y="3365201"/>
            <a:ext cx="6183689" cy="43772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t>If confusion, severe comorbidities, inadequate home support</a:t>
            </a:r>
          </a:p>
        </p:txBody>
      </p:sp>
      <p:sp>
        <p:nvSpPr>
          <p:cNvPr id="230" name="Antibiotics">
            <a:extLst>
              <a:ext uri="{FF2B5EF4-FFF2-40B4-BE49-F238E27FC236}">
                <a16:creationId xmlns:a16="http://schemas.microsoft.com/office/drawing/2014/main" id="{1C51CA3B-7FBC-897B-990D-10BE2A283A56}"/>
              </a:ext>
            </a:extLst>
          </p:cNvPr>
          <p:cNvSpPr/>
          <p:nvPr/>
        </p:nvSpPr>
        <p:spPr>
          <a:xfrm>
            <a:off x="301409" y="4111627"/>
            <a:ext cx="1814951" cy="411480"/>
          </a:xfrm>
          <a:prstGeom prst="roundRect">
            <a:avLst/>
          </a:prstGeom>
          <a:solidFill>
            <a:schemeClr val="accent6"/>
          </a:solidFill>
          <a:ln w="38100">
            <a:solidFill>
              <a:schemeClr val="accent6"/>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Antibiotics?</a:t>
            </a:r>
          </a:p>
        </p:txBody>
      </p:sp>
      <p:sp>
        <p:nvSpPr>
          <p:cNvPr id="231" name="Antibiotics">
            <a:extLst>
              <a:ext uri="{FF2B5EF4-FFF2-40B4-BE49-F238E27FC236}">
                <a16:creationId xmlns:a16="http://schemas.microsoft.com/office/drawing/2014/main" id="{D9796F97-6259-6861-DEA0-688A798C8789}"/>
              </a:ext>
            </a:extLst>
          </p:cNvPr>
          <p:cNvSpPr/>
          <p:nvPr/>
        </p:nvSpPr>
        <p:spPr>
          <a:xfrm>
            <a:off x="301409" y="4111627"/>
            <a:ext cx="1814951" cy="411480"/>
          </a:xfrm>
          <a:prstGeom prst="roundRect">
            <a:avLst/>
          </a:prstGeom>
          <a:solidFill>
            <a:schemeClr val="bg1"/>
          </a:solidFill>
          <a:ln w="38100">
            <a:solidFill>
              <a:schemeClr val="accent6"/>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Antibiotics?</a:t>
            </a:r>
          </a:p>
        </p:txBody>
      </p:sp>
      <p:pic>
        <p:nvPicPr>
          <p:cNvPr id="232" name="Graphic 231" descr="Cursor with solid fill">
            <a:extLst>
              <a:ext uri="{FF2B5EF4-FFF2-40B4-BE49-F238E27FC236}">
                <a16:creationId xmlns:a16="http://schemas.microsoft.com/office/drawing/2014/main" id="{37BC0D2A-F17D-81FC-C776-2FDF342328D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976514" y="4372777"/>
            <a:ext cx="297955" cy="301752"/>
          </a:xfrm>
          <a:prstGeom prst="rect">
            <a:avLst/>
          </a:prstGeom>
        </p:spPr>
      </p:pic>
      <p:sp>
        <p:nvSpPr>
          <p:cNvPr id="233" name="Rectangle 232">
            <a:extLst>
              <a:ext uri="{FF2B5EF4-FFF2-40B4-BE49-F238E27FC236}">
                <a16:creationId xmlns:a16="http://schemas.microsoft.com/office/drawing/2014/main" id="{39E94111-2729-D1B4-FCFD-ADF9FCB13938}"/>
              </a:ext>
            </a:extLst>
          </p:cNvPr>
          <p:cNvSpPr/>
          <p:nvPr/>
        </p:nvSpPr>
        <p:spPr>
          <a:xfrm>
            <a:off x="5111887" y="3961645"/>
            <a:ext cx="6689920" cy="662871"/>
          </a:xfrm>
          <a:prstGeom prst="rect">
            <a:avLst/>
          </a:prstGeom>
          <a:solidFill>
            <a:schemeClr val="accent6"/>
          </a:solidFill>
          <a:ln>
            <a:solidFill>
              <a:schemeClr val="accent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solidFill>
                  <a:schemeClr val="bg1"/>
                </a:solidFill>
              </a:rPr>
              <a:t>Antibiotics per local resistance. (↓ short-term mortality, relapse)</a:t>
            </a:r>
          </a:p>
          <a:p>
            <a:pPr algn="ctr"/>
            <a:r>
              <a:rPr lang="en-US" dirty="0">
                <a:solidFill>
                  <a:schemeClr val="bg1"/>
                </a:solidFill>
              </a:rPr>
              <a:t>If </a:t>
            </a:r>
            <a:r>
              <a:rPr lang="en-US" u="sng" dirty="0">
                <a:solidFill>
                  <a:schemeClr val="bg1"/>
                </a:solidFill>
              </a:rPr>
              <a:t>&gt;</a:t>
            </a:r>
            <a:r>
              <a:rPr lang="en-US" dirty="0">
                <a:solidFill>
                  <a:schemeClr val="bg1"/>
                </a:solidFill>
              </a:rPr>
              <a:t>2 symptoms (including sputum purulence) or requires ventilation</a:t>
            </a:r>
          </a:p>
        </p:txBody>
      </p:sp>
      <p:sp>
        <p:nvSpPr>
          <p:cNvPr id="235" name="Steroids">
            <a:extLst>
              <a:ext uri="{FF2B5EF4-FFF2-40B4-BE49-F238E27FC236}">
                <a16:creationId xmlns:a16="http://schemas.microsoft.com/office/drawing/2014/main" id="{C3BC64B7-2B8E-EFD7-8474-07865F0733BF}"/>
              </a:ext>
            </a:extLst>
          </p:cNvPr>
          <p:cNvSpPr/>
          <p:nvPr/>
        </p:nvSpPr>
        <p:spPr>
          <a:xfrm>
            <a:off x="305246" y="4890276"/>
            <a:ext cx="1814951" cy="411480"/>
          </a:xfrm>
          <a:prstGeom prst="roundRect">
            <a:avLst/>
          </a:prstGeom>
          <a:solidFill>
            <a:schemeClr val="accent4"/>
          </a:solidFill>
          <a:ln w="38100">
            <a:solidFill>
              <a:schemeClr val="accent4"/>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Steroids?</a:t>
            </a:r>
          </a:p>
        </p:txBody>
      </p:sp>
      <p:sp>
        <p:nvSpPr>
          <p:cNvPr id="236" name="Steroids">
            <a:extLst>
              <a:ext uri="{FF2B5EF4-FFF2-40B4-BE49-F238E27FC236}">
                <a16:creationId xmlns:a16="http://schemas.microsoft.com/office/drawing/2014/main" id="{F405D1D7-3A38-470A-F605-D0E585EF711E}"/>
              </a:ext>
            </a:extLst>
          </p:cNvPr>
          <p:cNvSpPr/>
          <p:nvPr/>
        </p:nvSpPr>
        <p:spPr>
          <a:xfrm>
            <a:off x="301409" y="4890276"/>
            <a:ext cx="1814951" cy="411480"/>
          </a:xfrm>
          <a:prstGeom prst="roundRect">
            <a:avLst/>
          </a:prstGeom>
          <a:solidFill>
            <a:schemeClr val="bg1"/>
          </a:solidFill>
          <a:ln w="38100">
            <a:solidFill>
              <a:schemeClr val="accent4"/>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Steroids?</a:t>
            </a:r>
          </a:p>
        </p:txBody>
      </p:sp>
      <p:pic>
        <p:nvPicPr>
          <p:cNvPr id="237" name="Graphic 236" descr="Cursor with solid fill">
            <a:extLst>
              <a:ext uri="{FF2B5EF4-FFF2-40B4-BE49-F238E27FC236}">
                <a16:creationId xmlns:a16="http://schemas.microsoft.com/office/drawing/2014/main" id="{A60CB4B7-9A6D-CB6A-D363-B8AF616B95A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976514" y="5176500"/>
            <a:ext cx="297955" cy="301752"/>
          </a:xfrm>
          <a:prstGeom prst="rect">
            <a:avLst/>
          </a:prstGeom>
        </p:spPr>
      </p:pic>
      <p:sp>
        <p:nvSpPr>
          <p:cNvPr id="238" name="Rectangle 237">
            <a:extLst>
              <a:ext uri="{FF2B5EF4-FFF2-40B4-BE49-F238E27FC236}">
                <a16:creationId xmlns:a16="http://schemas.microsoft.com/office/drawing/2014/main" id="{A0AA39D3-BBFD-5ECE-C273-9C56C8CFB68F}"/>
              </a:ext>
            </a:extLst>
          </p:cNvPr>
          <p:cNvSpPr/>
          <p:nvPr/>
        </p:nvSpPr>
        <p:spPr>
          <a:xfrm>
            <a:off x="3644662" y="4796479"/>
            <a:ext cx="8158456" cy="617917"/>
          </a:xfrm>
          <a:prstGeom prst="rect">
            <a:avLst/>
          </a:prstGeom>
          <a:solidFill>
            <a:schemeClr val="accent4"/>
          </a:solidFill>
          <a:ln>
            <a:solidFill>
              <a:schemeClr val="accent4"/>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t>Prednisone 40 mg x 5 d (↓ rate of relapse and symptoms) </a:t>
            </a:r>
          </a:p>
          <a:p>
            <a:pPr algn="ctr"/>
            <a:r>
              <a:rPr lang="en-US" dirty="0"/>
              <a:t>If limits ADLS</a:t>
            </a:r>
          </a:p>
        </p:txBody>
      </p:sp>
      <p:sp>
        <p:nvSpPr>
          <p:cNvPr id="241" name="Bronchodilators">
            <a:extLst>
              <a:ext uri="{FF2B5EF4-FFF2-40B4-BE49-F238E27FC236}">
                <a16:creationId xmlns:a16="http://schemas.microsoft.com/office/drawing/2014/main" id="{35B16A44-265F-5A85-64BA-634AC595A5B2}"/>
              </a:ext>
            </a:extLst>
          </p:cNvPr>
          <p:cNvSpPr/>
          <p:nvPr/>
        </p:nvSpPr>
        <p:spPr>
          <a:xfrm>
            <a:off x="301409" y="5592735"/>
            <a:ext cx="1814951" cy="411480"/>
          </a:xfrm>
          <a:prstGeom prst="roundRect">
            <a:avLst/>
          </a:prstGeom>
          <a:solidFill>
            <a:schemeClr val="accent5"/>
          </a:solidFill>
          <a:ln w="38100">
            <a:solidFill>
              <a:schemeClr val="accent5"/>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Bronchodilators?</a:t>
            </a:r>
          </a:p>
        </p:txBody>
      </p:sp>
      <p:sp>
        <p:nvSpPr>
          <p:cNvPr id="242" name="Bronchodilators">
            <a:extLst>
              <a:ext uri="{FF2B5EF4-FFF2-40B4-BE49-F238E27FC236}">
                <a16:creationId xmlns:a16="http://schemas.microsoft.com/office/drawing/2014/main" id="{440912D0-324C-C540-A4B7-4A5F658A1497}"/>
              </a:ext>
            </a:extLst>
          </p:cNvPr>
          <p:cNvSpPr/>
          <p:nvPr/>
        </p:nvSpPr>
        <p:spPr>
          <a:xfrm>
            <a:off x="301409" y="5592735"/>
            <a:ext cx="1814951" cy="411480"/>
          </a:xfrm>
          <a:prstGeom prst="roundRect">
            <a:avLst/>
          </a:prstGeom>
          <a:solidFill>
            <a:schemeClr val="bg1"/>
          </a:solidFill>
          <a:ln w="38100">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Bronchodilators?</a:t>
            </a:r>
          </a:p>
        </p:txBody>
      </p:sp>
      <p:pic>
        <p:nvPicPr>
          <p:cNvPr id="244" name="Graphic 243" descr="Cursor with solid fill">
            <a:extLst>
              <a:ext uri="{FF2B5EF4-FFF2-40B4-BE49-F238E27FC236}">
                <a16:creationId xmlns:a16="http://schemas.microsoft.com/office/drawing/2014/main" id="{EDD58D59-E957-8009-F0E1-063A06A282A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976515" y="5866913"/>
            <a:ext cx="297955" cy="301752"/>
          </a:xfrm>
          <a:prstGeom prst="rect">
            <a:avLst/>
          </a:prstGeom>
        </p:spPr>
      </p:pic>
      <p:sp>
        <p:nvSpPr>
          <p:cNvPr id="248" name="Rectangle 247">
            <a:extLst>
              <a:ext uri="{FF2B5EF4-FFF2-40B4-BE49-F238E27FC236}">
                <a16:creationId xmlns:a16="http://schemas.microsoft.com/office/drawing/2014/main" id="{15D53347-8181-DBBE-4958-198F336FCB57}"/>
              </a:ext>
            </a:extLst>
          </p:cNvPr>
          <p:cNvSpPr/>
          <p:nvPr/>
        </p:nvSpPr>
        <p:spPr>
          <a:xfrm>
            <a:off x="2305916" y="5611476"/>
            <a:ext cx="9497201" cy="411480"/>
          </a:xfrm>
          <a:prstGeom prst="rect">
            <a:avLst/>
          </a:prstGeom>
          <a:ln>
            <a:solidFill>
              <a:schemeClr val="accent5"/>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800" dirty="0"/>
              <a:t>SABA ± SAMA. MDIs as effective as nebulizers when used appropriately</a:t>
            </a:r>
          </a:p>
        </p:txBody>
      </p:sp>
      <p:sp>
        <p:nvSpPr>
          <p:cNvPr id="256" name="Bronchodilators">
            <a:extLst>
              <a:ext uri="{FF2B5EF4-FFF2-40B4-BE49-F238E27FC236}">
                <a16:creationId xmlns:a16="http://schemas.microsoft.com/office/drawing/2014/main" id="{F2E28C51-44ED-078A-D808-1816BD7B5318}"/>
              </a:ext>
            </a:extLst>
          </p:cNvPr>
          <p:cNvSpPr/>
          <p:nvPr/>
        </p:nvSpPr>
        <p:spPr>
          <a:xfrm>
            <a:off x="295054" y="6223234"/>
            <a:ext cx="1814951" cy="411480"/>
          </a:xfrm>
          <a:prstGeom prst="roundRect">
            <a:avLst/>
          </a:prstGeom>
          <a:solidFill>
            <a:srgbClr val="7030A0"/>
          </a:solidFill>
          <a:ln w="38100">
            <a:solidFill>
              <a:srgbClr val="7030A0"/>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NIPPV?</a:t>
            </a:r>
          </a:p>
        </p:txBody>
      </p:sp>
      <p:sp>
        <p:nvSpPr>
          <p:cNvPr id="257" name="NIPPV">
            <a:extLst>
              <a:ext uri="{FF2B5EF4-FFF2-40B4-BE49-F238E27FC236}">
                <a16:creationId xmlns:a16="http://schemas.microsoft.com/office/drawing/2014/main" id="{61D64B87-BB4C-F847-51E2-35EF8144D6E3}"/>
              </a:ext>
            </a:extLst>
          </p:cNvPr>
          <p:cNvSpPr/>
          <p:nvPr/>
        </p:nvSpPr>
        <p:spPr>
          <a:xfrm>
            <a:off x="295054" y="6223234"/>
            <a:ext cx="1814951" cy="411480"/>
          </a:xfrm>
          <a:prstGeom prst="roundRect">
            <a:avLst/>
          </a:prstGeom>
          <a:solidFill>
            <a:schemeClr val="bg1"/>
          </a:solidFill>
          <a:ln w="38100">
            <a:solidFill>
              <a:srgbClr val="7030A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NIPPV</a:t>
            </a:r>
          </a:p>
        </p:txBody>
      </p:sp>
      <p:pic>
        <p:nvPicPr>
          <p:cNvPr id="258" name="Graphic 257" descr="Cursor with solid fill">
            <a:extLst>
              <a:ext uri="{FF2B5EF4-FFF2-40B4-BE49-F238E27FC236}">
                <a16:creationId xmlns:a16="http://schemas.microsoft.com/office/drawing/2014/main" id="{EA25CD59-1C78-0981-1C4D-BE60B2EDE60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970160" y="6497412"/>
            <a:ext cx="297955" cy="301752"/>
          </a:xfrm>
          <a:prstGeom prst="rect">
            <a:avLst/>
          </a:prstGeom>
        </p:spPr>
      </p:pic>
      <p:sp>
        <p:nvSpPr>
          <p:cNvPr id="260" name="Rectangle 259">
            <a:extLst>
              <a:ext uri="{FF2B5EF4-FFF2-40B4-BE49-F238E27FC236}">
                <a16:creationId xmlns:a16="http://schemas.microsoft.com/office/drawing/2014/main" id="{6DD2A620-64AB-1C17-8A1F-E3F01935A735}"/>
              </a:ext>
            </a:extLst>
          </p:cNvPr>
          <p:cNvSpPr/>
          <p:nvPr/>
        </p:nvSpPr>
        <p:spPr>
          <a:xfrm>
            <a:off x="8967167" y="6211074"/>
            <a:ext cx="2834640" cy="411480"/>
          </a:xfrm>
          <a:prstGeom prst="rect">
            <a:avLst/>
          </a:prstGeom>
          <a:solidFill>
            <a:srgbClr val="7030A0"/>
          </a:solidFill>
          <a:ln>
            <a:solidFill>
              <a:srgbClr val="7030A0"/>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800" dirty="0"/>
              <a:t>pH&lt;7.35 and pCO</a:t>
            </a:r>
            <a:r>
              <a:rPr lang="en-US" sz="1800" baseline="-25000" dirty="0"/>
              <a:t>2</a:t>
            </a:r>
            <a:r>
              <a:rPr lang="en-US" sz="1800" dirty="0"/>
              <a:t>&gt;45</a:t>
            </a:r>
          </a:p>
        </p:txBody>
      </p:sp>
    </p:spTree>
    <p:extLst>
      <p:ext uri="{BB962C8B-B14F-4D97-AF65-F5344CB8AC3E}">
        <p14:creationId xmlns:p14="http://schemas.microsoft.com/office/powerpoint/2010/main" val="2939541323"/>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12"/>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1"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8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74"/>
                                        </p:tgtEl>
                                        <p:attrNameLst>
                                          <p:attrName>style.visibility</p:attrName>
                                        </p:attrNameLst>
                                      </p:cBhvr>
                                      <p:to>
                                        <p:strVal val="visible"/>
                                      </p:to>
                                    </p:set>
                                  </p:childTnLst>
                                </p:cTn>
                              </p:par>
                              <p:par>
                                <p:cTn id="15" presetID="1" presetClass="exit" presetSubtype="0" fill="hold" nodeType="withEffect">
                                  <p:stCondLst>
                                    <p:cond delay="0"/>
                                  </p:stCondLst>
                                  <p:childTnLst>
                                    <p:set>
                                      <p:cBhvr>
                                        <p:cTn id="16" dur="1" fill="hold">
                                          <p:stCondLst>
                                            <p:cond delay="0"/>
                                          </p:stCondLst>
                                        </p:cTn>
                                        <p:tgtEl>
                                          <p:spTgt spid="183"/>
                                        </p:tgtEl>
                                        <p:attrNameLst>
                                          <p:attrName>style.visibility</p:attrName>
                                        </p:attrNameLst>
                                      </p:cBhvr>
                                      <p:to>
                                        <p:strVal val="hidden"/>
                                      </p:to>
                                    </p:set>
                                  </p:childTnLst>
                                </p:cTn>
                              </p:par>
                              <p:par>
                                <p:cTn id="17" presetID="1" presetClass="exit"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hidden"/>
                                      </p:to>
                                    </p:set>
                                  </p:childTnLst>
                                </p:cTn>
                              </p:par>
                              <p:par>
                                <p:cTn id="19" presetID="1" presetClass="entr" presetSubtype="0" fill="hold" grpId="1" nodeType="withEffect">
                                  <p:stCondLst>
                                    <p:cond delay="0"/>
                                  </p:stCondLst>
                                  <p:childTnLst>
                                    <p:set>
                                      <p:cBhvr>
                                        <p:cTn id="20" dur="1" fill="hold">
                                          <p:stCondLst>
                                            <p:cond delay="0"/>
                                          </p:stCondLst>
                                        </p:cTn>
                                        <p:tgtEl>
                                          <p:spTgt spid="19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01"/>
                                        </p:tgtEl>
                                        <p:attrNameLst>
                                          <p:attrName>style.visibility</p:attrName>
                                        </p:attrNameLst>
                                      </p:cBhvr>
                                      <p:to>
                                        <p:strVal val="visible"/>
                                      </p:to>
                                    </p:set>
                                  </p:childTnLst>
                                </p:cTn>
                              </p:par>
                              <p:par>
                                <p:cTn id="23" presetID="1" presetClass="entr" presetSubtype="0" fill="hold" grpId="1" nodeType="withEffect">
                                  <p:stCondLst>
                                    <p:cond delay="0"/>
                                  </p:stCondLst>
                                  <p:childTnLst>
                                    <p:set>
                                      <p:cBhvr>
                                        <p:cTn id="24" dur="1" fill="hold">
                                          <p:stCondLst>
                                            <p:cond delay="0"/>
                                          </p:stCondLst>
                                        </p:cTn>
                                        <p:tgtEl>
                                          <p:spTgt spid="3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85"/>
                                        </p:tgtEl>
                                        <p:attrNameLst>
                                          <p:attrName>style.visibility</p:attrName>
                                        </p:attrNameLst>
                                      </p:cBhvr>
                                      <p:to>
                                        <p:strVal val="visible"/>
                                      </p:to>
                                    </p:set>
                                  </p:childTnLst>
                                </p:cTn>
                              </p:par>
                            </p:childTnLst>
                          </p:cTn>
                        </p:par>
                      </p:childTnLst>
                    </p:cTn>
                  </p:par>
                </p:childTnLst>
              </p:cTn>
              <p:nextCondLst>
                <p:cond evt="onClick" delay="0">
                  <p:tgtEl>
                    <p:spTgt spid="12"/>
                  </p:tgtEl>
                </p:cond>
              </p:nextCondLst>
            </p:seq>
            <p:seq concurrent="1" nextAc="seek">
              <p:cTn id="27" restart="whenNotActive" fill="hold" evtFilter="cancelBubble" nodeType="interactiveSeq">
                <p:stCondLst>
                  <p:cond evt="onClick" delay="0">
                    <p:tgtEl>
                      <p:spTgt spid="20"/>
                    </p:tgtEl>
                  </p:cond>
                </p:stCondLst>
                <p:endSync evt="end" delay="0">
                  <p:rtn val="all"/>
                </p:endSync>
                <p:childTnLst>
                  <p:par>
                    <p:cTn id="28" fill="hold">
                      <p:stCondLst>
                        <p:cond delay="0"/>
                      </p:stCondLst>
                      <p:childTnLst>
                        <p:par>
                          <p:cTn id="29" fill="hold">
                            <p:stCondLst>
                              <p:cond delay="0"/>
                            </p:stCondLst>
                            <p:childTnLst>
                              <p:par>
                                <p:cTn id="30" presetID="1" presetClass="exit" presetSubtype="0" fill="hold" grpId="0" nodeType="withEffect">
                                  <p:stCondLst>
                                    <p:cond delay="0"/>
                                  </p:stCondLst>
                                  <p:childTnLst>
                                    <p:set>
                                      <p:cBhvr>
                                        <p:cTn id="31" dur="1" fill="hold">
                                          <p:stCondLst>
                                            <p:cond delay="0"/>
                                          </p:stCondLst>
                                        </p:cTn>
                                        <p:tgtEl>
                                          <p:spTgt spid="20"/>
                                        </p:tgtEl>
                                        <p:attrNameLst>
                                          <p:attrName>style.visibility</p:attrName>
                                        </p:attrNameLst>
                                      </p:cBhvr>
                                      <p:to>
                                        <p:strVal val="hidden"/>
                                      </p:to>
                                    </p:set>
                                  </p:childTnLst>
                                </p:cTn>
                              </p:par>
                              <p:par>
                                <p:cTn id="32" presetID="1" presetClass="exit" presetSubtype="0" fill="hold" nodeType="withEffect">
                                  <p:stCondLst>
                                    <p:cond delay="0"/>
                                  </p:stCondLst>
                                  <p:childTnLst>
                                    <p:set>
                                      <p:cBhvr>
                                        <p:cTn id="33" dur="1" fill="hold">
                                          <p:stCondLst>
                                            <p:cond delay="0"/>
                                          </p:stCondLst>
                                        </p:cTn>
                                        <p:tgtEl>
                                          <p:spTgt spid="184"/>
                                        </p:tgtEl>
                                        <p:attrNameLst>
                                          <p:attrName>style.visibility</p:attrName>
                                        </p:attrNameLst>
                                      </p:cBhvr>
                                      <p:to>
                                        <p:strVal val="hidden"/>
                                      </p:to>
                                    </p:set>
                                  </p:childTnLst>
                                </p:cTn>
                              </p:par>
                              <p:par>
                                <p:cTn id="34" presetID="1" presetClass="entr" presetSubtype="0" fill="hold" nodeType="withEffect">
                                  <p:stCondLst>
                                    <p:cond delay="0"/>
                                  </p:stCondLst>
                                  <p:childTnLst>
                                    <p:set>
                                      <p:cBhvr>
                                        <p:cTn id="35" dur="1" fill="hold">
                                          <p:stCondLst>
                                            <p:cond delay="0"/>
                                          </p:stCondLst>
                                        </p:cTn>
                                        <p:tgtEl>
                                          <p:spTgt spid="22"/>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7" dur="1" fill="hold">
                                          <p:stCondLst>
                                            <p:cond delay="0"/>
                                          </p:stCondLst>
                                        </p:cTn>
                                        <p:tgtEl>
                                          <p:spTgt spid="21"/>
                                        </p:tgtEl>
                                        <p:attrNameLst>
                                          <p:attrName>style.visibility</p:attrName>
                                        </p:attrNameLst>
                                      </p:cBhvr>
                                      <p:to>
                                        <p:strVal val="visible"/>
                                      </p:to>
                                    </p:set>
                                  </p:childTnLst>
                                </p:cTn>
                              </p:par>
                            </p:childTnLst>
                          </p:cTn>
                        </p:par>
                      </p:childTnLst>
                    </p:cTn>
                  </p:par>
                </p:childTnLst>
              </p:cTn>
              <p:nextCondLst>
                <p:cond evt="onClick" delay="0">
                  <p:tgtEl>
                    <p:spTgt spid="20"/>
                  </p:tgtEl>
                </p:cond>
              </p:nextCondLst>
            </p:seq>
            <p:seq concurrent="1" nextAc="seek">
              <p:cTn id="38" restart="whenNotActive" fill="hold" evtFilter="cancelBubble" nodeType="interactiveSeq">
                <p:stCondLst>
                  <p:cond evt="onClick" delay="0">
                    <p:tgtEl>
                      <p:spTgt spid="31"/>
                    </p:tgtEl>
                  </p:cond>
                </p:stCondLst>
                <p:endSync evt="end" delay="0">
                  <p:rtn val="all"/>
                </p:endSync>
                <p:childTnLst>
                  <p:par>
                    <p:cTn id="39" fill="hold">
                      <p:stCondLst>
                        <p:cond delay="0"/>
                      </p:stCondLst>
                      <p:childTnLst>
                        <p:par>
                          <p:cTn id="40" fill="hold">
                            <p:stCondLst>
                              <p:cond delay="0"/>
                            </p:stCondLst>
                            <p:childTnLst>
                              <p:par>
                                <p:cTn id="41" presetID="1" presetClass="exit" presetSubtype="0" fill="hold" grpId="0" nodeType="withEffect">
                                  <p:stCondLst>
                                    <p:cond delay="0"/>
                                  </p:stCondLst>
                                  <p:childTnLst>
                                    <p:set>
                                      <p:cBhvr>
                                        <p:cTn id="42" dur="1" fill="hold">
                                          <p:stCondLst>
                                            <p:cond delay="0"/>
                                          </p:stCondLst>
                                        </p:cTn>
                                        <p:tgtEl>
                                          <p:spTgt spid="31"/>
                                        </p:tgtEl>
                                        <p:attrNameLst>
                                          <p:attrName>style.visibility</p:attrName>
                                        </p:attrNameLst>
                                      </p:cBhvr>
                                      <p:to>
                                        <p:strVal val="hidden"/>
                                      </p:to>
                                    </p:set>
                                  </p:childTnLst>
                                </p:cTn>
                              </p:par>
                              <p:par>
                                <p:cTn id="43" presetID="1" presetClass="exit" presetSubtype="0" fill="hold" nodeType="withEffect">
                                  <p:stCondLst>
                                    <p:cond delay="0"/>
                                  </p:stCondLst>
                                  <p:childTnLst>
                                    <p:set>
                                      <p:cBhvr>
                                        <p:cTn id="44" dur="1" fill="hold">
                                          <p:stCondLst>
                                            <p:cond delay="0"/>
                                          </p:stCondLst>
                                        </p:cTn>
                                        <p:tgtEl>
                                          <p:spTgt spid="185"/>
                                        </p:tgtEl>
                                        <p:attrNameLst>
                                          <p:attrName>style.visibility</p:attrName>
                                        </p:attrNameLst>
                                      </p:cBhvr>
                                      <p:to>
                                        <p:strVal val="hidden"/>
                                      </p:to>
                                    </p:set>
                                  </p:childTnLst>
                                </p:cTn>
                              </p:par>
                              <p:par>
                                <p:cTn id="45" presetID="1" presetClass="entr" presetSubtype="0" fill="hold" nodeType="withEffect">
                                  <p:stCondLst>
                                    <p:cond delay="0"/>
                                  </p:stCondLst>
                                  <p:childTnLst>
                                    <p:set>
                                      <p:cBhvr>
                                        <p:cTn id="46" dur="1" fill="hold">
                                          <p:stCondLst>
                                            <p:cond delay="0"/>
                                          </p:stCondLst>
                                        </p:cTn>
                                        <p:tgtEl>
                                          <p:spTgt spid="258"/>
                                        </p:tgtEl>
                                        <p:attrNameLst>
                                          <p:attrName>style.visibility</p:attrName>
                                        </p:attrNameLst>
                                      </p:cBhvr>
                                      <p:to>
                                        <p:strVal val="visible"/>
                                      </p:to>
                                    </p:set>
                                  </p:childTnLst>
                                </p:cTn>
                              </p:par>
                              <p:par>
                                <p:cTn id="47" presetID="1" presetClass="entr" presetSubtype="0" fill="hold" grpId="1" nodeType="withEffect">
                                  <p:stCondLst>
                                    <p:cond delay="0"/>
                                  </p:stCondLst>
                                  <p:childTnLst>
                                    <p:set>
                                      <p:cBhvr>
                                        <p:cTn id="48" dur="1" fill="hold">
                                          <p:stCondLst>
                                            <p:cond delay="0"/>
                                          </p:stCondLst>
                                        </p:cTn>
                                        <p:tgtEl>
                                          <p:spTgt spid="257"/>
                                        </p:tgtEl>
                                        <p:attrNameLst>
                                          <p:attrName>style.visibility</p:attrName>
                                        </p:attrNameLst>
                                      </p:cBhvr>
                                      <p:to>
                                        <p:strVal val="visible"/>
                                      </p:to>
                                    </p:set>
                                  </p:childTnLst>
                                </p:cTn>
                              </p:par>
                              <p:par>
                                <p:cTn id="49" presetID="1" presetClass="entr" presetSubtype="0" fill="hold" grpId="1" nodeType="withEffect">
                                  <p:stCondLst>
                                    <p:cond delay="0"/>
                                  </p:stCondLst>
                                  <p:childTnLst>
                                    <p:set>
                                      <p:cBhvr>
                                        <p:cTn id="50" dur="1" fill="hold">
                                          <p:stCondLst>
                                            <p:cond delay="0"/>
                                          </p:stCondLst>
                                        </p:cTn>
                                        <p:tgtEl>
                                          <p:spTgt spid="256"/>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07"/>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11"/>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08"/>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212"/>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209"/>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213"/>
                                        </p:tgtEl>
                                        <p:attrNameLst>
                                          <p:attrName>style.visibility</p:attrName>
                                        </p:attrNameLst>
                                      </p:cBhvr>
                                      <p:to>
                                        <p:strVal val="visible"/>
                                      </p:to>
                                    </p:set>
                                  </p:childTnLst>
                                </p:cTn>
                              </p:par>
                              <p:par>
                                <p:cTn id="63" presetID="1" presetClass="entr" presetSubtype="0" fill="hold" grpId="1" nodeType="withEffect">
                                  <p:stCondLst>
                                    <p:cond delay="0"/>
                                  </p:stCondLst>
                                  <p:childTnLst>
                                    <p:set>
                                      <p:cBhvr>
                                        <p:cTn id="64" dur="1" fill="hold">
                                          <p:stCondLst>
                                            <p:cond delay="0"/>
                                          </p:stCondLst>
                                        </p:cTn>
                                        <p:tgtEl>
                                          <p:spTgt spid="221"/>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222"/>
                                        </p:tgtEl>
                                        <p:attrNameLst>
                                          <p:attrName>style.visibility</p:attrName>
                                        </p:attrNameLst>
                                      </p:cBhvr>
                                      <p:to>
                                        <p:strVal val="visible"/>
                                      </p:to>
                                    </p:set>
                                  </p:childTnLst>
                                </p:cTn>
                              </p:par>
                              <p:par>
                                <p:cTn id="67" presetID="1" presetClass="entr" presetSubtype="0" fill="hold" grpId="1" nodeType="withEffect">
                                  <p:stCondLst>
                                    <p:cond delay="0"/>
                                  </p:stCondLst>
                                  <p:childTnLst>
                                    <p:set>
                                      <p:cBhvr>
                                        <p:cTn id="68" dur="1" fill="hold">
                                          <p:stCondLst>
                                            <p:cond delay="0"/>
                                          </p:stCondLst>
                                        </p:cTn>
                                        <p:tgtEl>
                                          <p:spTgt spid="231"/>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232"/>
                                        </p:tgtEl>
                                        <p:attrNameLst>
                                          <p:attrName>style.visibility</p:attrName>
                                        </p:attrNameLst>
                                      </p:cBhvr>
                                      <p:to>
                                        <p:strVal val="visible"/>
                                      </p:to>
                                    </p:set>
                                  </p:childTnLst>
                                </p:cTn>
                              </p:par>
                              <p:par>
                                <p:cTn id="71" presetID="1" presetClass="entr" presetSubtype="0" fill="hold" grpId="1" nodeType="withEffect">
                                  <p:stCondLst>
                                    <p:cond delay="0"/>
                                  </p:stCondLst>
                                  <p:childTnLst>
                                    <p:set>
                                      <p:cBhvr>
                                        <p:cTn id="72" dur="1" fill="hold">
                                          <p:stCondLst>
                                            <p:cond delay="0"/>
                                          </p:stCondLst>
                                        </p:cTn>
                                        <p:tgtEl>
                                          <p:spTgt spid="236"/>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237"/>
                                        </p:tgtEl>
                                        <p:attrNameLst>
                                          <p:attrName>style.visibility</p:attrName>
                                        </p:attrNameLst>
                                      </p:cBhvr>
                                      <p:to>
                                        <p:strVal val="visible"/>
                                      </p:to>
                                    </p:set>
                                  </p:childTnLst>
                                </p:cTn>
                              </p:par>
                              <p:par>
                                <p:cTn id="75" presetID="1" presetClass="entr" presetSubtype="0" fill="hold" grpId="1" nodeType="withEffect">
                                  <p:stCondLst>
                                    <p:cond delay="0"/>
                                  </p:stCondLst>
                                  <p:childTnLst>
                                    <p:set>
                                      <p:cBhvr>
                                        <p:cTn id="76" dur="1" fill="hold">
                                          <p:stCondLst>
                                            <p:cond delay="0"/>
                                          </p:stCondLst>
                                        </p:cTn>
                                        <p:tgtEl>
                                          <p:spTgt spid="242"/>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244"/>
                                        </p:tgtEl>
                                        <p:attrNameLst>
                                          <p:attrName>style.visibility</p:attrName>
                                        </p:attrNameLst>
                                      </p:cBhvr>
                                      <p:to>
                                        <p:strVal val="visible"/>
                                      </p:to>
                                    </p:set>
                                  </p:childTnLst>
                                </p:cTn>
                              </p:par>
                              <p:par>
                                <p:cTn id="79" presetID="1" presetClass="entr" presetSubtype="0" fill="hold" grpId="1" nodeType="withEffect">
                                  <p:stCondLst>
                                    <p:cond delay="0"/>
                                  </p:stCondLst>
                                  <p:childTnLst>
                                    <p:set>
                                      <p:cBhvr>
                                        <p:cTn id="80" dur="1" fill="hold">
                                          <p:stCondLst>
                                            <p:cond delay="0"/>
                                          </p:stCondLst>
                                        </p:cTn>
                                        <p:tgtEl>
                                          <p:spTgt spid="241"/>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220"/>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230"/>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235"/>
                                        </p:tgtEl>
                                        <p:attrNameLst>
                                          <p:attrName>style.visibility</p:attrName>
                                        </p:attrNameLst>
                                      </p:cBhvr>
                                      <p:to>
                                        <p:strVal val="visible"/>
                                      </p:to>
                                    </p:set>
                                  </p:childTnLst>
                                </p:cTn>
                              </p:par>
                            </p:childTnLst>
                          </p:cTn>
                        </p:par>
                      </p:childTnLst>
                    </p:cTn>
                  </p:par>
                </p:childTnLst>
              </p:cTn>
              <p:nextCondLst>
                <p:cond evt="onClick" delay="0">
                  <p:tgtEl>
                    <p:spTgt spid="31"/>
                  </p:tgtEl>
                </p:cond>
              </p:nextCondLst>
            </p:seq>
            <p:seq concurrent="1" nextAc="seek">
              <p:cTn id="87" restart="whenNotActive" fill="hold" evtFilter="cancelBubble" nodeType="interactiveSeq">
                <p:stCondLst>
                  <p:cond evt="onClick" delay="0">
                    <p:tgtEl>
                      <p:spTgt spid="221"/>
                    </p:tgtEl>
                  </p:cond>
                </p:stCondLst>
                <p:endSync evt="end" delay="0">
                  <p:rtn val="all"/>
                </p:endSync>
                <p:childTnLst>
                  <p:par>
                    <p:cTn id="88" fill="hold">
                      <p:stCondLst>
                        <p:cond delay="0"/>
                      </p:stCondLst>
                      <p:childTnLst>
                        <p:par>
                          <p:cTn id="89" fill="hold">
                            <p:stCondLst>
                              <p:cond delay="0"/>
                            </p:stCondLst>
                            <p:childTnLst>
                              <p:par>
                                <p:cTn id="90" presetID="1" presetClass="exit" presetSubtype="0" fill="hold" grpId="0" nodeType="withEffect">
                                  <p:stCondLst>
                                    <p:cond delay="0"/>
                                  </p:stCondLst>
                                  <p:childTnLst>
                                    <p:set>
                                      <p:cBhvr>
                                        <p:cTn id="91" dur="1" fill="hold">
                                          <p:stCondLst>
                                            <p:cond delay="0"/>
                                          </p:stCondLst>
                                        </p:cTn>
                                        <p:tgtEl>
                                          <p:spTgt spid="221"/>
                                        </p:tgtEl>
                                        <p:attrNameLst>
                                          <p:attrName>style.visibility</p:attrName>
                                        </p:attrNameLst>
                                      </p:cBhvr>
                                      <p:to>
                                        <p:strVal val="hidden"/>
                                      </p:to>
                                    </p:set>
                                  </p:childTnLst>
                                </p:cTn>
                              </p:par>
                              <p:par>
                                <p:cTn id="92" presetID="1" presetClass="exit" presetSubtype="0" fill="hold" nodeType="withEffect">
                                  <p:stCondLst>
                                    <p:cond delay="0"/>
                                  </p:stCondLst>
                                  <p:childTnLst>
                                    <p:set>
                                      <p:cBhvr>
                                        <p:cTn id="93" dur="1" fill="hold">
                                          <p:stCondLst>
                                            <p:cond delay="0"/>
                                          </p:stCondLst>
                                        </p:cTn>
                                        <p:tgtEl>
                                          <p:spTgt spid="222"/>
                                        </p:tgtEl>
                                        <p:attrNameLst>
                                          <p:attrName>style.visibility</p:attrName>
                                        </p:attrNameLst>
                                      </p:cBhvr>
                                      <p:to>
                                        <p:strVal val="hidden"/>
                                      </p:to>
                                    </p:set>
                                  </p:childTnLst>
                                </p:cTn>
                              </p:par>
                              <p:par>
                                <p:cTn id="94" presetID="1" presetClass="entr" presetSubtype="0" fill="hold" grpId="0" nodeType="withEffect">
                                  <p:stCondLst>
                                    <p:cond delay="0"/>
                                  </p:stCondLst>
                                  <p:childTnLst>
                                    <p:set>
                                      <p:cBhvr>
                                        <p:cTn id="95" dur="1" fill="hold">
                                          <p:stCondLst>
                                            <p:cond delay="0"/>
                                          </p:stCondLst>
                                        </p:cTn>
                                        <p:tgtEl>
                                          <p:spTgt spid="223"/>
                                        </p:tgtEl>
                                        <p:attrNameLst>
                                          <p:attrName>style.visibility</p:attrName>
                                        </p:attrNameLst>
                                      </p:cBhvr>
                                      <p:to>
                                        <p:strVal val="visible"/>
                                      </p:to>
                                    </p:set>
                                  </p:childTnLst>
                                </p:cTn>
                              </p:par>
                            </p:childTnLst>
                          </p:cTn>
                        </p:par>
                      </p:childTnLst>
                    </p:cTn>
                  </p:par>
                </p:childTnLst>
              </p:cTn>
              <p:nextCondLst>
                <p:cond evt="onClick" delay="0">
                  <p:tgtEl>
                    <p:spTgt spid="221"/>
                  </p:tgtEl>
                </p:cond>
              </p:nextCondLst>
            </p:seq>
            <p:seq concurrent="1" nextAc="seek">
              <p:cTn id="96" restart="whenNotActive" fill="hold" evtFilter="cancelBubble" nodeType="interactiveSeq">
                <p:stCondLst>
                  <p:cond evt="onClick" delay="0">
                    <p:tgtEl>
                      <p:spTgt spid="231"/>
                    </p:tgtEl>
                  </p:cond>
                </p:stCondLst>
                <p:endSync evt="end" delay="0">
                  <p:rtn val="all"/>
                </p:endSync>
                <p:childTnLst>
                  <p:par>
                    <p:cTn id="97" fill="hold">
                      <p:stCondLst>
                        <p:cond delay="0"/>
                      </p:stCondLst>
                      <p:childTnLst>
                        <p:par>
                          <p:cTn id="98" fill="hold">
                            <p:stCondLst>
                              <p:cond delay="0"/>
                            </p:stCondLst>
                            <p:childTnLst>
                              <p:par>
                                <p:cTn id="99" presetID="1" presetClass="exit" presetSubtype="0" fill="hold" grpId="0" nodeType="withEffect">
                                  <p:stCondLst>
                                    <p:cond delay="0"/>
                                  </p:stCondLst>
                                  <p:childTnLst>
                                    <p:set>
                                      <p:cBhvr>
                                        <p:cTn id="100" dur="1" fill="hold">
                                          <p:stCondLst>
                                            <p:cond delay="0"/>
                                          </p:stCondLst>
                                        </p:cTn>
                                        <p:tgtEl>
                                          <p:spTgt spid="231"/>
                                        </p:tgtEl>
                                        <p:attrNameLst>
                                          <p:attrName>style.visibility</p:attrName>
                                        </p:attrNameLst>
                                      </p:cBhvr>
                                      <p:to>
                                        <p:strVal val="hidden"/>
                                      </p:to>
                                    </p:set>
                                  </p:childTnLst>
                                </p:cTn>
                              </p:par>
                              <p:par>
                                <p:cTn id="101" presetID="1" presetClass="exit" presetSubtype="0" fill="hold" nodeType="withEffect">
                                  <p:stCondLst>
                                    <p:cond delay="0"/>
                                  </p:stCondLst>
                                  <p:childTnLst>
                                    <p:set>
                                      <p:cBhvr>
                                        <p:cTn id="102" dur="1" fill="hold">
                                          <p:stCondLst>
                                            <p:cond delay="0"/>
                                          </p:stCondLst>
                                        </p:cTn>
                                        <p:tgtEl>
                                          <p:spTgt spid="232"/>
                                        </p:tgtEl>
                                        <p:attrNameLst>
                                          <p:attrName>style.visibility</p:attrName>
                                        </p:attrNameLst>
                                      </p:cBhvr>
                                      <p:to>
                                        <p:strVal val="hidden"/>
                                      </p:to>
                                    </p:set>
                                  </p:childTnLst>
                                </p:cTn>
                              </p:par>
                              <p:par>
                                <p:cTn id="103" presetID="1" presetClass="entr" presetSubtype="0" fill="hold" grpId="0" nodeType="withEffect">
                                  <p:stCondLst>
                                    <p:cond delay="0"/>
                                  </p:stCondLst>
                                  <p:childTnLst>
                                    <p:set>
                                      <p:cBhvr>
                                        <p:cTn id="104" dur="1" fill="hold">
                                          <p:stCondLst>
                                            <p:cond delay="0"/>
                                          </p:stCondLst>
                                        </p:cTn>
                                        <p:tgtEl>
                                          <p:spTgt spid="233"/>
                                        </p:tgtEl>
                                        <p:attrNameLst>
                                          <p:attrName>style.visibility</p:attrName>
                                        </p:attrNameLst>
                                      </p:cBhvr>
                                      <p:to>
                                        <p:strVal val="visible"/>
                                      </p:to>
                                    </p:set>
                                  </p:childTnLst>
                                </p:cTn>
                              </p:par>
                            </p:childTnLst>
                          </p:cTn>
                        </p:par>
                      </p:childTnLst>
                    </p:cTn>
                  </p:par>
                </p:childTnLst>
              </p:cTn>
              <p:nextCondLst>
                <p:cond evt="onClick" delay="0">
                  <p:tgtEl>
                    <p:spTgt spid="231"/>
                  </p:tgtEl>
                </p:cond>
              </p:nextCondLst>
            </p:seq>
            <p:seq concurrent="1" nextAc="seek">
              <p:cTn id="105" restart="whenNotActive" fill="hold" evtFilter="cancelBubble" nodeType="interactiveSeq">
                <p:stCondLst>
                  <p:cond evt="onClick" delay="0">
                    <p:tgtEl>
                      <p:spTgt spid="236"/>
                    </p:tgtEl>
                  </p:cond>
                </p:stCondLst>
                <p:endSync evt="end" delay="0">
                  <p:rtn val="all"/>
                </p:endSync>
                <p:childTnLst>
                  <p:par>
                    <p:cTn id="106" fill="hold">
                      <p:stCondLst>
                        <p:cond delay="0"/>
                      </p:stCondLst>
                      <p:childTnLst>
                        <p:par>
                          <p:cTn id="107" fill="hold">
                            <p:stCondLst>
                              <p:cond delay="0"/>
                            </p:stCondLst>
                            <p:childTnLst>
                              <p:par>
                                <p:cTn id="108" presetID="1" presetClass="exit" presetSubtype="0" fill="hold" grpId="0" nodeType="withEffect">
                                  <p:stCondLst>
                                    <p:cond delay="0"/>
                                  </p:stCondLst>
                                  <p:childTnLst>
                                    <p:set>
                                      <p:cBhvr>
                                        <p:cTn id="109" dur="1" fill="hold">
                                          <p:stCondLst>
                                            <p:cond delay="0"/>
                                          </p:stCondLst>
                                        </p:cTn>
                                        <p:tgtEl>
                                          <p:spTgt spid="236"/>
                                        </p:tgtEl>
                                        <p:attrNameLst>
                                          <p:attrName>style.visibility</p:attrName>
                                        </p:attrNameLst>
                                      </p:cBhvr>
                                      <p:to>
                                        <p:strVal val="hidden"/>
                                      </p:to>
                                    </p:set>
                                  </p:childTnLst>
                                </p:cTn>
                              </p:par>
                              <p:par>
                                <p:cTn id="110" presetID="1" presetClass="exit" presetSubtype="0" fill="hold" nodeType="withEffect">
                                  <p:stCondLst>
                                    <p:cond delay="0"/>
                                  </p:stCondLst>
                                  <p:childTnLst>
                                    <p:set>
                                      <p:cBhvr>
                                        <p:cTn id="111" dur="1" fill="hold">
                                          <p:stCondLst>
                                            <p:cond delay="0"/>
                                          </p:stCondLst>
                                        </p:cTn>
                                        <p:tgtEl>
                                          <p:spTgt spid="237"/>
                                        </p:tgtEl>
                                        <p:attrNameLst>
                                          <p:attrName>style.visibility</p:attrName>
                                        </p:attrNameLst>
                                      </p:cBhvr>
                                      <p:to>
                                        <p:strVal val="hidden"/>
                                      </p:to>
                                    </p:set>
                                  </p:childTnLst>
                                </p:cTn>
                              </p:par>
                              <p:par>
                                <p:cTn id="112" presetID="1" presetClass="entr" presetSubtype="0" fill="hold" grpId="0" nodeType="withEffect">
                                  <p:stCondLst>
                                    <p:cond delay="0"/>
                                  </p:stCondLst>
                                  <p:childTnLst>
                                    <p:set>
                                      <p:cBhvr>
                                        <p:cTn id="113" dur="1" fill="hold">
                                          <p:stCondLst>
                                            <p:cond delay="0"/>
                                          </p:stCondLst>
                                        </p:cTn>
                                        <p:tgtEl>
                                          <p:spTgt spid="238"/>
                                        </p:tgtEl>
                                        <p:attrNameLst>
                                          <p:attrName>style.visibility</p:attrName>
                                        </p:attrNameLst>
                                      </p:cBhvr>
                                      <p:to>
                                        <p:strVal val="visible"/>
                                      </p:to>
                                    </p:set>
                                  </p:childTnLst>
                                </p:cTn>
                              </p:par>
                            </p:childTnLst>
                          </p:cTn>
                        </p:par>
                      </p:childTnLst>
                    </p:cTn>
                  </p:par>
                </p:childTnLst>
              </p:cTn>
              <p:nextCondLst>
                <p:cond evt="onClick" delay="0">
                  <p:tgtEl>
                    <p:spTgt spid="236"/>
                  </p:tgtEl>
                </p:cond>
              </p:nextCondLst>
            </p:seq>
            <p:seq concurrent="1" nextAc="seek">
              <p:cTn id="114" restart="whenNotActive" fill="hold" evtFilter="cancelBubble" nodeType="interactiveSeq">
                <p:stCondLst>
                  <p:cond evt="onClick" delay="0">
                    <p:tgtEl>
                      <p:spTgt spid="242"/>
                    </p:tgtEl>
                  </p:cond>
                </p:stCondLst>
                <p:endSync evt="end" delay="0">
                  <p:rtn val="all"/>
                </p:endSync>
                <p:childTnLst>
                  <p:par>
                    <p:cTn id="115" fill="hold">
                      <p:stCondLst>
                        <p:cond delay="0"/>
                      </p:stCondLst>
                      <p:childTnLst>
                        <p:par>
                          <p:cTn id="116" fill="hold">
                            <p:stCondLst>
                              <p:cond delay="0"/>
                            </p:stCondLst>
                            <p:childTnLst>
                              <p:par>
                                <p:cTn id="117" presetID="1" presetClass="exit" presetSubtype="0" fill="hold" grpId="0" nodeType="withEffect">
                                  <p:stCondLst>
                                    <p:cond delay="0"/>
                                  </p:stCondLst>
                                  <p:childTnLst>
                                    <p:set>
                                      <p:cBhvr>
                                        <p:cTn id="118" dur="1" fill="hold">
                                          <p:stCondLst>
                                            <p:cond delay="0"/>
                                          </p:stCondLst>
                                        </p:cTn>
                                        <p:tgtEl>
                                          <p:spTgt spid="242"/>
                                        </p:tgtEl>
                                        <p:attrNameLst>
                                          <p:attrName>style.visibility</p:attrName>
                                        </p:attrNameLst>
                                      </p:cBhvr>
                                      <p:to>
                                        <p:strVal val="hidden"/>
                                      </p:to>
                                    </p:set>
                                  </p:childTnLst>
                                </p:cTn>
                              </p:par>
                              <p:par>
                                <p:cTn id="119" presetID="1" presetClass="exit" presetSubtype="0" fill="hold" nodeType="withEffect">
                                  <p:stCondLst>
                                    <p:cond delay="0"/>
                                  </p:stCondLst>
                                  <p:childTnLst>
                                    <p:set>
                                      <p:cBhvr>
                                        <p:cTn id="120" dur="1" fill="hold">
                                          <p:stCondLst>
                                            <p:cond delay="0"/>
                                          </p:stCondLst>
                                        </p:cTn>
                                        <p:tgtEl>
                                          <p:spTgt spid="244"/>
                                        </p:tgtEl>
                                        <p:attrNameLst>
                                          <p:attrName>style.visibility</p:attrName>
                                        </p:attrNameLst>
                                      </p:cBhvr>
                                      <p:to>
                                        <p:strVal val="hidden"/>
                                      </p:to>
                                    </p:set>
                                  </p:childTnLst>
                                </p:cTn>
                              </p:par>
                              <p:par>
                                <p:cTn id="121" presetID="1" presetClass="entr" presetSubtype="0" fill="hold" grpId="0" nodeType="withEffect">
                                  <p:stCondLst>
                                    <p:cond delay="0"/>
                                  </p:stCondLst>
                                  <p:childTnLst>
                                    <p:set>
                                      <p:cBhvr>
                                        <p:cTn id="122" dur="1" fill="hold">
                                          <p:stCondLst>
                                            <p:cond delay="0"/>
                                          </p:stCondLst>
                                        </p:cTn>
                                        <p:tgtEl>
                                          <p:spTgt spid="248"/>
                                        </p:tgtEl>
                                        <p:attrNameLst>
                                          <p:attrName>style.visibility</p:attrName>
                                        </p:attrNameLst>
                                      </p:cBhvr>
                                      <p:to>
                                        <p:strVal val="visible"/>
                                      </p:to>
                                    </p:set>
                                  </p:childTnLst>
                                </p:cTn>
                              </p:par>
                            </p:childTnLst>
                          </p:cTn>
                        </p:par>
                      </p:childTnLst>
                    </p:cTn>
                  </p:par>
                </p:childTnLst>
              </p:cTn>
              <p:nextCondLst>
                <p:cond evt="onClick" delay="0">
                  <p:tgtEl>
                    <p:spTgt spid="242"/>
                  </p:tgtEl>
                </p:cond>
              </p:nextCondLst>
            </p:seq>
            <p:seq concurrent="1" nextAc="seek">
              <p:cTn id="123" restart="whenNotActive" fill="hold" evtFilter="cancelBubble" nodeType="interactiveSeq">
                <p:stCondLst>
                  <p:cond evt="onClick" delay="0">
                    <p:tgtEl>
                      <p:spTgt spid="257"/>
                    </p:tgtEl>
                  </p:cond>
                </p:stCondLst>
                <p:endSync evt="end" delay="0">
                  <p:rtn val="all"/>
                </p:endSync>
                <p:childTnLst>
                  <p:par>
                    <p:cTn id="124" fill="hold">
                      <p:stCondLst>
                        <p:cond delay="0"/>
                      </p:stCondLst>
                      <p:childTnLst>
                        <p:par>
                          <p:cTn id="125" fill="hold">
                            <p:stCondLst>
                              <p:cond delay="0"/>
                            </p:stCondLst>
                            <p:childTnLst>
                              <p:par>
                                <p:cTn id="126" presetID="1" presetClass="exit" presetSubtype="0" fill="hold" grpId="0" nodeType="withEffect">
                                  <p:stCondLst>
                                    <p:cond delay="0"/>
                                  </p:stCondLst>
                                  <p:childTnLst>
                                    <p:set>
                                      <p:cBhvr>
                                        <p:cTn id="127" dur="1" fill="hold">
                                          <p:stCondLst>
                                            <p:cond delay="0"/>
                                          </p:stCondLst>
                                        </p:cTn>
                                        <p:tgtEl>
                                          <p:spTgt spid="257"/>
                                        </p:tgtEl>
                                        <p:attrNameLst>
                                          <p:attrName>style.visibility</p:attrName>
                                        </p:attrNameLst>
                                      </p:cBhvr>
                                      <p:to>
                                        <p:strVal val="hidden"/>
                                      </p:to>
                                    </p:set>
                                  </p:childTnLst>
                                </p:cTn>
                              </p:par>
                              <p:par>
                                <p:cTn id="128" presetID="1" presetClass="exit" presetSubtype="0" fill="hold" nodeType="withEffect">
                                  <p:stCondLst>
                                    <p:cond delay="0"/>
                                  </p:stCondLst>
                                  <p:childTnLst>
                                    <p:set>
                                      <p:cBhvr>
                                        <p:cTn id="129" dur="1" fill="hold">
                                          <p:stCondLst>
                                            <p:cond delay="0"/>
                                          </p:stCondLst>
                                        </p:cTn>
                                        <p:tgtEl>
                                          <p:spTgt spid="258"/>
                                        </p:tgtEl>
                                        <p:attrNameLst>
                                          <p:attrName>style.visibility</p:attrName>
                                        </p:attrNameLst>
                                      </p:cBhvr>
                                      <p:to>
                                        <p:strVal val="hidden"/>
                                      </p:to>
                                    </p:set>
                                  </p:childTnLst>
                                </p:cTn>
                              </p:par>
                              <p:par>
                                <p:cTn id="130" presetID="1" presetClass="entr" presetSubtype="0" fill="hold" grpId="0" nodeType="withEffect">
                                  <p:stCondLst>
                                    <p:cond delay="0"/>
                                  </p:stCondLst>
                                  <p:childTnLst>
                                    <p:set>
                                      <p:cBhvr>
                                        <p:cTn id="131" dur="1" fill="hold">
                                          <p:stCondLst>
                                            <p:cond delay="0"/>
                                          </p:stCondLst>
                                        </p:cTn>
                                        <p:tgtEl>
                                          <p:spTgt spid="260"/>
                                        </p:tgtEl>
                                        <p:attrNameLst>
                                          <p:attrName>style.visibility</p:attrName>
                                        </p:attrNameLst>
                                      </p:cBhvr>
                                      <p:to>
                                        <p:strVal val="visible"/>
                                      </p:to>
                                    </p:set>
                                  </p:childTnLst>
                                </p:cTn>
                              </p:par>
                            </p:childTnLst>
                          </p:cTn>
                        </p:par>
                      </p:childTnLst>
                    </p:cTn>
                  </p:par>
                </p:childTnLst>
              </p:cTn>
              <p:nextCondLst>
                <p:cond evt="onClick" delay="0">
                  <p:tgtEl>
                    <p:spTgt spid="257"/>
                  </p:tgtEl>
                </p:cond>
              </p:nextCondLst>
            </p:seq>
          </p:childTnLst>
        </p:cTn>
      </p:par>
    </p:tnLst>
    <p:bldLst>
      <p:bldP spid="207" grpId="0" animBg="1"/>
      <p:bldP spid="208" grpId="0" animBg="1"/>
      <p:bldP spid="209" grpId="0" animBg="1"/>
      <p:bldP spid="192" grpId="1" animBg="1"/>
      <p:bldP spid="12" grpId="0" animBg="1"/>
      <p:bldP spid="14" grpId="0" animBg="1"/>
      <p:bldP spid="20" grpId="0" animBg="1"/>
      <p:bldP spid="20" grpId="1" animBg="1"/>
      <p:bldP spid="21" grpId="0" animBg="1"/>
      <p:bldP spid="31" grpId="0" animBg="1"/>
      <p:bldP spid="31" grpId="1" animBg="1"/>
      <p:bldP spid="211" grpId="0" animBg="1"/>
      <p:bldP spid="212" grpId="0" animBg="1"/>
      <p:bldP spid="213" grpId="0" animBg="1"/>
      <p:bldP spid="220" grpId="0" animBg="1"/>
      <p:bldP spid="221" grpId="0" animBg="1"/>
      <p:bldP spid="221" grpId="1" animBg="1"/>
      <p:bldP spid="223" grpId="0" animBg="1"/>
      <p:bldP spid="230" grpId="0" animBg="1"/>
      <p:bldP spid="231" grpId="0" animBg="1"/>
      <p:bldP spid="231" grpId="1" animBg="1"/>
      <p:bldP spid="233" grpId="0" animBg="1"/>
      <p:bldP spid="235" grpId="0" animBg="1"/>
      <p:bldP spid="236" grpId="0" animBg="1"/>
      <p:bldP spid="236" grpId="1" animBg="1"/>
      <p:bldP spid="238" grpId="0" animBg="1"/>
      <p:bldP spid="241" grpId="1" animBg="1"/>
      <p:bldP spid="242" grpId="0" animBg="1"/>
      <p:bldP spid="242" grpId="1" animBg="1"/>
      <p:bldP spid="248" grpId="0" animBg="1"/>
      <p:bldP spid="256" grpId="1" animBg="1"/>
      <p:bldP spid="257" grpId="0" animBg="1"/>
      <p:bldP spid="257" grpId="1" animBg="1"/>
      <p:bldP spid="260"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 name="Bronchodilators">
            <a:extLst>
              <a:ext uri="{FF2B5EF4-FFF2-40B4-BE49-F238E27FC236}">
                <a16:creationId xmlns:a16="http://schemas.microsoft.com/office/drawing/2014/main" id="{415718E5-382A-BEE6-0579-7CBD957ABFA2}"/>
              </a:ext>
            </a:extLst>
          </p:cNvPr>
          <p:cNvSpPr/>
          <p:nvPr/>
        </p:nvSpPr>
        <p:spPr>
          <a:xfrm>
            <a:off x="447787" y="5991201"/>
            <a:ext cx="1814951" cy="411480"/>
          </a:xfrm>
          <a:prstGeom prst="roundRect">
            <a:avLst/>
          </a:prstGeom>
          <a:solidFill>
            <a:schemeClr val="accent5"/>
          </a:solidFill>
          <a:ln w="38100">
            <a:solidFill>
              <a:schemeClr val="accent5"/>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Bronchodilators?</a:t>
            </a:r>
          </a:p>
        </p:txBody>
      </p:sp>
      <p:sp>
        <p:nvSpPr>
          <p:cNvPr id="196" name="Antibiotics">
            <a:extLst>
              <a:ext uri="{FF2B5EF4-FFF2-40B4-BE49-F238E27FC236}">
                <a16:creationId xmlns:a16="http://schemas.microsoft.com/office/drawing/2014/main" id="{CEC5C9A2-DE6B-27D7-72D6-ADA5A725B891}"/>
              </a:ext>
            </a:extLst>
          </p:cNvPr>
          <p:cNvSpPr/>
          <p:nvPr/>
        </p:nvSpPr>
        <p:spPr>
          <a:xfrm>
            <a:off x="447788" y="4905319"/>
            <a:ext cx="1814951" cy="411480"/>
          </a:xfrm>
          <a:prstGeom prst="roundRect">
            <a:avLst/>
          </a:prstGeom>
          <a:solidFill>
            <a:schemeClr val="accent6"/>
          </a:solidFill>
          <a:ln w="38100">
            <a:solidFill>
              <a:schemeClr val="accent6"/>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Antibiotics?</a:t>
            </a:r>
          </a:p>
        </p:txBody>
      </p:sp>
      <p:sp>
        <p:nvSpPr>
          <p:cNvPr id="198" name="High risk abx">
            <a:extLst>
              <a:ext uri="{FF2B5EF4-FFF2-40B4-BE49-F238E27FC236}">
                <a16:creationId xmlns:a16="http://schemas.microsoft.com/office/drawing/2014/main" id="{5D4E5CD5-2CE7-F20A-89C2-3436CD759B49}"/>
              </a:ext>
            </a:extLst>
          </p:cNvPr>
          <p:cNvSpPr/>
          <p:nvPr/>
        </p:nvSpPr>
        <p:spPr>
          <a:xfrm>
            <a:off x="6903560" y="4604974"/>
            <a:ext cx="2207103" cy="1000343"/>
          </a:xfrm>
          <a:prstGeom prst="roundRect">
            <a:avLst/>
          </a:prstGeom>
          <a:solidFill>
            <a:schemeClr val="accent6"/>
          </a:solidFill>
          <a:ln w="38100">
            <a:solidFill>
              <a:schemeClr val="accent6"/>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High risk for poor outcome or Pseudomonas?</a:t>
            </a:r>
          </a:p>
        </p:txBody>
      </p:sp>
      <p:sp>
        <p:nvSpPr>
          <p:cNvPr id="194" name="Steroids">
            <a:extLst>
              <a:ext uri="{FF2B5EF4-FFF2-40B4-BE49-F238E27FC236}">
                <a16:creationId xmlns:a16="http://schemas.microsoft.com/office/drawing/2014/main" id="{08F9017C-0CD9-22F3-1A7F-535542860864}"/>
              </a:ext>
            </a:extLst>
          </p:cNvPr>
          <p:cNvSpPr/>
          <p:nvPr/>
        </p:nvSpPr>
        <p:spPr>
          <a:xfrm>
            <a:off x="451625" y="3575229"/>
            <a:ext cx="1814951" cy="411480"/>
          </a:xfrm>
          <a:prstGeom prst="roundRect">
            <a:avLst/>
          </a:prstGeom>
          <a:solidFill>
            <a:schemeClr val="accent4"/>
          </a:solidFill>
          <a:ln w="38100">
            <a:solidFill>
              <a:schemeClr val="accent4"/>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Steroids?</a:t>
            </a:r>
          </a:p>
        </p:txBody>
      </p:sp>
      <p:sp>
        <p:nvSpPr>
          <p:cNvPr id="195" name="Steroids dose and duration">
            <a:extLst>
              <a:ext uri="{FF2B5EF4-FFF2-40B4-BE49-F238E27FC236}">
                <a16:creationId xmlns:a16="http://schemas.microsoft.com/office/drawing/2014/main" id="{93F8AA6D-BC50-F44C-E42C-923040ED458B}"/>
              </a:ext>
            </a:extLst>
          </p:cNvPr>
          <p:cNvSpPr/>
          <p:nvPr/>
        </p:nvSpPr>
        <p:spPr>
          <a:xfrm>
            <a:off x="7103473" y="3457804"/>
            <a:ext cx="1814951" cy="646331"/>
          </a:xfrm>
          <a:prstGeom prst="roundRect">
            <a:avLst/>
          </a:prstGeom>
          <a:solidFill>
            <a:schemeClr val="accent4"/>
          </a:solidFill>
          <a:ln w="38100">
            <a:solidFill>
              <a:schemeClr val="accent4"/>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Dose and duration?</a:t>
            </a:r>
          </a:p>
        </p:txBody>
      </p:sp>
      <p:sp>
        <p:nvSpPr>
          <p:cNvPr id="191" name="Acute exacerbation">
            <a:extLst>
              <a:ext uri="{FF2B5EF4-FFF2-40B4-BE49-F238E27FC236}">
                <a16:creationId xmlns:a16="http://schemas.microsoft.com/office/drawing/2014/main" id="{A5E0481D-ED32-6751-D219-5E1701A6C521}"/>
              </a:ext>
            </a:extLst>
          </p:cNvPr>
          <p:cNvSpPr/>
          <p:nvPr/>
        </p:nvSpPr>
        <p:spPr>
          <a:xfrm>
            <a:off x="2398671" y="947634"/>
            <a:ext cx="1645920" cy="731520"/>
          </a:xfrm>
          <a:prstGeom prst="roundRect">
            <a:avLst/>
          </a:prstGeom>
          <a:solidFill>
            <a:schemeClr val="tx1"/>
          </a:solidFill>
          <a:ln w="3810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Acute exacerbation</a:t>
            </a:r>
          </a:p>
        </p:txBody>
      </p:sp>
      <p:sp>
        <p:nvSpPr>
          <p:cNvPr id="192" name="rule out">
            <a:extLst>
              <a:ext uri="{FF2B5EF4-FFF2-40B4-BE49-F238E27FC236}">
                <a16:creationId xmlns:a16="http://schemas.microsoft.com/office/drawing/2014/main" id="{C5ED7B74-979C-963E-0BDB-81AADC01160D}"/>
              </a:ext>
            </a:extLst>
          </p:cNvPr>
          <p:cNvSpPr/>
          <p:nvPr/>
        </p:nvSpPr>
        <p:spPr>
          <a:xfrm>
            <a:off x="7445178" y="968371"/>
            <a:ext cx="1463086" cy="698286"/>
          </a:xfrm>
          <a:prstGeom prst="roundRect">
            <a:avLst/>
          </a:prstGeom>
          <a:solidFill>
            <a:schemeClr val="tx1"/>
          </a:solidFill>
          <a:ln w="3810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Rule out other causes</a:t>
            </a:r>
          </a:p>
        </p:txBody>
      </p:sp>
      <p:sp>
        <p:nvSpPr>
          <p:cNvPr id="193" name="Hospitalization">
            <a:extLst>
              <a:ext uri="{FF2B5EF4-FFF2-40B4-BE49-F238E27FC236}">
                <a16:creationId xmlns:a16="http://schemas.microsoft.com/office/drawing/2014/main" id="{2B09E036-91E6-8F96-89DE-6B4436652987}"/>
              </a:ext>
            </a:extLst>
          </p:cNvPr>
          <p:cNvSpPr/>
          <p:nvPr/>
        </p:nvSpPr>
        <p:spPr>
          <a:xfrm>
            <a:off x="2312766" y="2477182"/>
            <a:ext cx="1817729" cy="411480"/>
          </a:xfrm>
          <a:prstGeom prst="roundRect">
            <a:avLst/>
          </a:prstGeom>
          <a:solidFill>
            <a:schemeClr val="tx1"/>
          </a:solidFill>
          <a:ln w="3810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Hospitalization?</a:t>
            </a:r>
          </a:p>
        </p:txBody>
      </p:sp>
      <p:sp>
        <p:nvSpPr>
          <p:cNvPr id="2" name="question 1">
            <a:hlinkClick r:id="rId3" action="ppaction://hlinksldjump"/>
            <a:extLst>
              <a:ext uri="{FF2B5EF4-FFF2-40B4-BE49-F238E27FC236}">
                <a16:creationId xmlns:a16="http://schemas.microsoft.com/office/drawing/2014/main" id="{1DB84704-10E5-E970-B3CB-0E20F0528FEE}"/>
              </a:ext>
            </a:extLst>
          </p:cNvPr>
          <p:cNvSpPr txBox="1"/>
          <p:nvPr/>
        </p:nvSpPr>
        <p:spPr>
          <a:xfrm>
            <a:off x="181642" y="159488"/>
            <a:ext cx="1645920"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Diagnosis</a:t>
            </a:r>
          </a:p>
        </p:txBody>
      </p:sp>
      <p:pic>
        <p:nvPicPr>
          <p:cNvPr id="3" name="Graphic 2" descr="Cursor with solid fill">
            <a:extLst>
              <a:ext uri="{FF2B5EF4-FFF2-40B4-BE49-F238E27FC236}">
                <a16:creationId xmlns:a16="http://schemas.microsoft.com/office/drawing/2014/main" id="{042F939E-E877-CF4B-4112-7A68E2DDE2E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682625" y="417235"/>
            <a:ext cx="301752" cy="301752"/>
          </a:xfrm>
          <a:prstGeom prst="rect">
            <a:avLst/>
          </a:prstGeom>
        </p:spPr>
      </p:pic>
      <p:sp>
        <p:nvSpPr>
          <p:cNvPr id="4" name="Question 2">
            <a:hlinkClick r:id="rId6" action="ppaction://hlinksldjump"/>
            <a:extLst>
              <a:ext uri="{FF2B5EF4-FFF2-40B4-BE49-F238E27FC236}">
                <a16:creationId xmlns:a16="http://schemas.microsoft.com/office/drawing/2014/main" id="{5B15D267-5DC1-7E23-4482-735E79C1F0F6}"/>
              </a:ext>
            </a:extLst>
          </p:cNvPr>
          <p:cNvSpPr txBox="1"/>
          <p:nvPr/>
        </p:nvSpPr>
        <p:spPr>
          <a:xfrm>
            <a:off x="181642" y="1303550"/>
            <a:ext cx="1645920"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Management</a:t>
            </a:r>
          </a:p>
        </p:txBody>
      </p:sp>
      <p:sp>
        <p:nvSpPr>
          <p:cNvPr id="7" name="Question 2">
            <a:hlinkClick r:id="rId6" action="ppaction://hlinksldjump"/>
            <a:extLst>
              <a:ext uri="{FF2B5EF4-FFF2-40B4-BE49-F238E27FC236}">
                <a16:creationId xmlns:a16="http://schemas.microsoft.com/office/drawing/2014/main" id="{2AA5BDED-0164-10C4-E951-15F42C05A38F}"/>
              </a:ext>
            </a:extLst>
          </p:cNvPr>
          <p:cNvSpPr txBox="1"/>
          <p:nvPr/>
        </p:nvSpPr>
        <p:spPr>
          <a:xfrm>
            <a:off x="181642" y="731519"/>
            <a:ext cx="1645920"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Classification</a:t>
            </a:r>
          </a:p>
        </p:txBody>
      </p:sp>
      <p:pic>
        <p:nvPicPr>
          <p:cNvPr id="8" name="Graphic 7" descr="Cursor with solid fill">
            <a:extLst>
              <a:ext uri="{FF2B5EF4-FFF2-40B4-BE49-F238E27FC236}">
                <a16:creationId xmlns:a16="http://schemas.microsoft.com/office/drawing/2014/main" id="{E50B77A2-75EE-327B-7975-AD9F804D9CA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682625" y="993494"/>
            <a:ext cx="301752" cy="301752"/>
          </a:xfrm>
          <a:prstGeom prst="rect">
            <a:avLst/>
          </a:prstGeom>
        </p:spPr>
      </p:pic>
      <p:pic>
        <p:nvPicPr>
          <p:cNvPr id="9" name="Graphic 8" descr="Cursor with solid fill">
            <a:extLst>
              <a:ext uri="{FF2B5EF4-FFF2-40B4-BE49-F238E27FC236}">
                <a16:creationId xmlns:a16="http://schemas.microsoft.com/office/drawing/2014/main" id="{3F3C3C72-21C3-8F02-9B6E-2876791FE67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682625" y="1569753"/>
            <a:ext cx="301752" cy="301752"/>
          </a:xfrm>
          <a:prstGeom prst="rect">
            <a:avLst/>
          </a:prstGeom>
        </p:spPr>
      </p:pic>
      <p:sp>
        <p:nvSpPr>
          <p:cNvPr id="12" name="Acute exacerbation">
            <a:extLst>
              <a:ext uri="{FF2B5EF4-FFF2-40B4-BE49-F238E27FC236}">
                <a16:creationId xmlns:a16="http://schemas.microsoft.com/office/drawing/2014/main" id="{95A3BB2B-1783-06D2-D888-659106DB3F05}"/>
              </a:ext>
            </a:extLst>
          </p:cNvPr>
          <p:cNvSpPr/>
          <p:nvPr/>
        </p:nvSpPr>
        <p:spPr>
          <a:xfrm>
            <a:off x="2398671" y="947634"/>
            <a:ext cx="1645920" cy="731520"/>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Acute exacerbation?</a:t>
            </a:r>
          </a:p>
        </p:txBody>
      </p:sp>
      <p:sp>
        <p:nvSpPr>
          <p:cNvPr id="13" name="TextBox 12">
            <a:extLst>
              <a:ext uri="{FF2B5EF4-FFF2-40B4-BE49-F238E27FC236}">
                <a16:creationId xmlns:a16="http://schemas.microsoft.com/office/drawing/2014/main" id="{4FE5C07B-2325-272C-EAD5-CC65EBAA7309}"/>
              </a:ext>
            </a:extLst>
          </p:cNvPr>
          <p:cNvSpPr txBox="1"/>
          <p:nvPr/>
        </p:nvSpPr>
        <p:spPr>
          <a:xfrm>
            <a:off x="3011072" y="110643"/>
            <a:ext cx="7116561" cy="461665"/>
          </a:xfrm>
          <a:prstGeom prst="rect">
            <a:avLst/>
          </a:prstGeom>
          <a:noFill/>
        </p:spPr>
        <p:txBody>
          <a:bodyPr wrap="square" rtlCol="0">
            <a:spAutoFit/>
          </a:bodyPr>
          <a:lstStyle/>
          <a:p>
            <a:pPr algn="ctr"/>
            <a:r>
              <a:rPr lang="en-US" sz="2400" b="1" dirty="0"/>
              <a:t>Acute Exacerbations</a:t>
            </a:r>
          </a:p>
        </p:txBody>
      </p:sp>
      <p:sp>
        <p:nvSpPr>
          <p:cNvPr id="14" name="Rectangle 13">
            <a:extLst>
              <a:ext uri="{FF2B5EF4-FFF2-40B4-BE49-F238E27FC236}">
                <a16:creationId xmlns:a16="http://schemas.microsoft.com/office/drawing/2014/main" id="{A79EEE99-08CE-4D26-3BD3-1F22DB280C8B}"/>
              </a:ext>
            </a:extLst>
          </p:cNvPr>
          <p:cNvSpPr/>
          <p:nvPr/>
        </p:nvSpPr>
        <p:spPr>
          <a:xfrm>
            <a:off x="4395445" y="661059"/>
            <a:ext cx="2310489" cy="13046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800" dirty="0"/>
              <a:t>Cardinal symptoms:</a:t>
            </a:r>
          </a:p>
          <a:p>
            <a:pPr algn="ctr"/>
            <a:r>
              <a:rPr lang="en-US" sz="1800" dirty="0"/>
              <a:t>↑ dyspnea </a:t>
            </a:r>
          </a:p>
          <a:p>
            <a:pPr algn="ctr"/>
            <a:r>
              <a:rPr lang="en-US" dirty="0"/>
              <a:t>↑ s</a:t>
            </a:r>
            <a:r>
              <a:rPr lang="en-US" sz="1800" dirty="0"/>
              <a:t>putum volume</a:t>
            </a:r>
          </a:p>
          <a:p>
            <a:pPr algn="ctr"/>
            <a:r>
              <a:rPr lang="en-US" dirty="0"/>
              <a:t>↑ s</a:t>
            </a:r>
            <a:r>
              <a:rPr lang="en-US" sz="1800" dirty="0"/>
              <a:t>putum purulence</a:t>
            </a:r>
          </a:p>
        </p:txBody>
      </p:sp>
      <p:cxnSp>
        <p:nvCxnSpPr>
          <p:cNvPr id="19" name="Straight Connector 18">
            <a:extLst>
              <a:ext uri="{FF2B5EF4-FFF2-40B4-BE49-F238E27FC236}">
                <a16:creationId xmlns:a16="http://schemas.microsoft.com/office/drawing/2014/main" id="{0B63B949-CD38-DA2F-E9CF-9E2A8BAB3F42}"/>
              </a:ext>
            </a:extLst>
          </p:cNvPr>
          <p:cNvCxnSpPr>
            <a:cxnSpLocks/>
            <a:stCxn id="12" idx="3"/>
            <a:endCxn id="14" idx="1"/>
          </p:cNvCxnSpPr>
          <p:nvPr/>
        </p:nvCxnSpPr>
        <p:spPr>
          <a:xfrm>
            <a:off x="4044591" y="1313394"/>
            <a:ext cx="350854" cy="1"/>
          </a:xfrm>
          <a:prstGeom prst="line">
            <a:avLst/>
          </a:prstGeom>
        </p:spPr>
        <p:style>
          <a:lnRef idx="1">
            <a:schemeClr val="dk1"/>
          </a:lnRef>
          <a:fillRef idx="0">
            <a:schemeClr val="dk1"/>
          </a:fillRef>
          <a:effectRef idx="0">
            <a:schemeClr val="dk1"/>
          </a:effectRef>
          <a:fontRef idx="minor">
            <a:schemeClr val="tx1"/>
          </a:fontRef>
        </p:style>
      </p:cxnSp>
      <p:sp>
        <p:nvSpPr>
          <p:cNvPr id="20" name="rule out">
            <a:extLst>
              <a:ext uri="{FF2B5EF4-FFF2-40B4-BE49-F238E27FC236}">
                <a16:creationId xmlns:a16="http://schemas.microsoft.com/office/drawing/2014/main" id="{2FA6DA6A-A506-5847-5EFD-DD21D4EB4085}"/>
              </a:ext>
            </a:extLst>
          </p:cNvPr>
          <p:cNvSpPr/>
          <p:nvPr/>
        </p:nvSpPr>
        <p:spPr>
          <a:xfrm>
            <a:off x="7445178" y="968371"/>
            <a:ext cx="1463086" cy="698286"/>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Rule out other causes</a:t>
            </a:r>
          </a:p>
        </p:txBody>
      </p:sp>
      <p:sp>
        <p:nvSpPr>
          <p:cNvPr id="21" name="Rectangle 20">
            <a:extLst>
              <a:ext uri="{FF2B5EF4-FFF2-40B4-BE49-F238E27FC236}">
                <a16:creationId xmlns:a16="http://schemas.microsoft.com/office/drawing/2014/main" id="{119058EC-FF6E-E718-5119-DF4038EE2211}"/>
              </a:ext>
            </a:extLst>
          </p:cNvPr>
          <p:cNvSpPr/>
          <p:nvPr/>
        </p:nvSpPr>
        <p:spPr>
          <a:xfrm>
            <a:off x="9660154" y="568112"/>
            <a:ext cx="1912489" cy="128848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±CXR</a:t>
            </a:r>
          </a:p>
          <a:p>
            <a:pPr algn="ctr"/>
            <a:r>
              <a:rPr lang="en-US" dirty="0"/>
              <a:t>±D-dimer</a:t>
            </a:r>
          </a:p>
          <a:p>
            <a:pPr algn="ctr"/>
            <a:r>
              <a:rPr lang="en-US" dirty="0"/>
              <a:t>±Flu swab</a:t>
            </a:r>
          </a:p>
          <a:p>
            <a:pPr algn="ctr"/>
            <a:r>
              <a:rPr lang="en-US" dirty="0"/>
              <a:t>±</a:t>
            </a:r>
            <a:r>
              <a:rPr lang="en-US" sz="1800" dirty="0"/>
              <a:t>BNP, ECG, trop</a:t>
            </a:r>
          </a:p>
        </p:txBody>
      </p:sp>
      <p:cxnSp>
        <p:nvCxnSpPr>
          <p:cNvPr id="22" name="Straight Connector 21">
            <a:extLst>
              <a:ext uri="{FF2B5EF4-FFF2-40B4-BE49-F238E27FC236}">
                <a16:creationId xmlns:a16="http://schemas.microsoft.com/office/drawing/2014/main" id="{012D4229-FC31-E069-651C-4A6377F3BE19}"/>
              </a:ext>
            </a:extLst>
          </p:cNvPr>
          <p:cNvCxnSpPr>
            <a:cxnSpLocks/>
          </p:cNvCxnSpPr>
          <p:nvPr/>
        </p:nvCxnSpPr>
        <p:spPr>
          <a:xfrm>
            <a:off x="8914587" y="1313394"/>
            <a:ext cx="745567" cy="1"/>
          </a:xfrm>
          <a:prstGeom prst="line">
            <a:avLst/>
          </a:prstGeom>
        </p:spPr>
        <p:style>
          <a:lnRef idx="1">
            <a:schemeClr val="dk1"/>
          </a:lnRef>
          <a:fillRef idx="0">
            <a:schemeClr val="dk1"/>
          </a:fillRef>
          <a:effectRef idx="0">
            <a:schemeClr val="dk1"/>
          </a:effectRef>
          <a:fontRef idx="minor">
            <a:schemeClr val="tx1"/>
          </a:fontRef>
        </p:style>
      </p:cxnSp>
      <p:sp>
        <p:nvSpPr>
          <p:cNvPr id="31" name="Hospitalization">
            <a:extLst>
              <a:ext uri="{FF2B5EF4-FFF2-40B4-BE49-F238E27FC236}">
                <a16:creationId xmlns:a16="http://schemas.microsoft.com/office/drawing/2014/main" id="{A116C9CD-781E-3410-F23C-6FA00BCB7E0D}"/>
              </a:ext>
            </a:extLst>
          </p:cNvPr>
          <p:cNvSpPr/>
          <p:nvPr/>
        </p:nvSpPr>
        <p:spPr>
          <a:xfrm>
            <a:off x="2312766" y="2477182"/>
            <a:ext cx="1817729" cy="411480"/>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Hospitalization?</a:t>
            </a:r>
          </a:p>
        </p:txBody>
      </p:sp>
      <p:sp>
        <p:nvSpPr>
          <p:cNvPr id="33" name="Rectangle 32">
            <a:extLst>
              <a:ext uri="{FF2B5EF4-FFF2-40B4-BE49-F238E27FC236}">
                <a16:creationId xmlns:a16="http://schemas.microsoft.com/office/drawing/2014/main" id="{6B2948EF-6308-CE5C-61CB-19A337C2565E}"/>
              </a:ext>
            </a:extLst>
          </p:cNvPr>
          <p:cNvSpPr/>
          <p:nvPr/>
        </p:nvSpPr>
        <p:spPr>
          <a:xfrm>
            <a:off x="4395445" y="2177383"/>
            <a:ext cx="7217435" cy="101107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marL="173038" indent="-173038">
              <a:buFont typeface="Arial" panose="020B0604020202020204" pitchFamily="34" charset="0"/>
              <a:buChar char="•"/>
            </a:pPr>
            <a:r>
              <a:rPr lang="en-US" sz="1800" b="1" dirty="0"/>
              <a:t>Severe exacerbation: </a:t>
            </a:r>
            <a:r>
              <a:rPr lang="en-US" sz="1800" dirty="0"/>
              <a:t>resting dyspnea, ↑ O2 requirement, confusion</a:t>
            </a:r>
          </a:p>
          <a:p>
            <a:pPr marL="173038" indent="-173038">
              <a:buFont typeface="Arial" panose="020B0604020202020204" pitchFamily="34" charset="0"/>
              <a:buChar char="•"/>
            </a:pPr>
            <a:r>
              <a:rPr lang="en-US" dirty="0"/>
              <a:t>S</a:t>
            </a:r>
            <a:r>
              <a:rPr lang="en-US" sz="1800" dirty="0"/>
              <a:t>evere comorbidities</a:t>
            </a:r>
          </a:p>
          <a:p>
            <a:pPr marL="173038" indent="-173038">
              <a:buFont typeface="Arial" panose="020B0604020202020204" pitchFamily="34" charset="0"/>
              <a:buChar char="•"/>
            </a:pPr>
            <a:r>
              <a:rPr lang="en-US" dirty="0"/>
              <a:t>I</a:t>
            </a:r>
            <a:r>
              <a:rPr lang="en-US" sz="1800" dirty="0"/>
              <a:t>nsufficient home support</a:t>
            </a:r>
            <a:endParaRPr lang="en-US" sz="1800" b="1" dirty="0"/>
          </a:p>
        </p:txBody>
      </p:sp>
      <p:cxnSp>
        <p:nvCxnSpPr>
          <p:cNvPr id="34" name="Straight Connector 33">
            <a:extLst>
              <a:ext uri="{FF2B5EF4-FFF2-40B4-BE49-F238E27FC236}">
                <a16:creationId xmlns:a16="http://schemas.microsoft.com/office/drawing/2014/main" id="{784C38A9-F848-3F0C-6B6C-015D7535F8C5}"/>
              </a:ext>
            </a:extLst>
          </p:cNvPr>
          <p:cNvCxnSpPr>
            <a:cxnSpLocks/>
            <a:stCxn id="31" idx="3"/>
            <a:endCxn id="33" idx="1"/>
          </p:cNvCxnSpPr>
          <p:nvPr/>
        </p:nvCxnSpPr>
        <p:spPr>
          <a:xfrm>
            <a:off x="4130495" y="2682922"/>
            <a:ext cx="264950" cy="0"/>
          </a:xfrm>
          <a:prstGeom prst="line">
            <a:avLst/>
          </a:prstGeom>
        </p:spPr>
        <p:style>
          <a:lnRef idx="1">
            <a:schemeClr val="dk1"/>
          </a:lnRef>
          <a:fillRef idx="0">
            <a:schemeClr val="dk1"/>
          </a:fillRef>
          <a:effectRef idx="0">
            <a:schemeClr val="dk1"/>
          </a:effectRef>
          <a:fontRef idx="minor">
            <a:schemeClr val="tx1"/>
          </a:fontRef>
        </p:style>
      </p:cxnSp>
      <p:sp>
        <p:nvSpPr>
          <p:cNvPr id="43" name="Steroids">
            <a:extLst>
              <a:ext uri="{FF2B5EF4-FFF2-40B4-BE49-F238E27FC236}">
                <a16:creationId xmlns:a16="http://schemas.microsoft.com/office/drawing/2014/main" id="{D4F65DA7-877F-8C74-054E-CE4239F57173}"/>
              </a:ext>
            </a:extLst>
          </p:cNvPr>
          <p:cNvSpPr/>
          <p:nvPr/>
        </p:nvSpPr>
        <p:spPr>
          <a:xfrm>
            <a:off x="447788" y="3575114"/>
            <a:ext cx="1814951" cy="411480"/>
          </a:xfrm>
          <a:prstGeom prst="roundRect">
            <a:avLst/>
          </a:prstGeom>
          <a:solidFill>
            <a:schemeClr val="bg1"/>
          </a:solidFill>
          <a:ln w="38100">
            <a:solidFill>
              <a:schemeClr val="accent4"/>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Steroids?</a:t>
            </a:r>
          </a:p>
        </p:txBody>
      </p:sp>
      <p:sp>
        <p:nvSpPr>
          <p:cNvPr id="45" name="TextBox 44">
            <a:extLst>
              <a:ext uri="{FF2B5EF4-FFF2-40B4-BE49-F238E27FC236}">
                <a16:creationId xmlns:a16="http://schemas.microsoft.com/office/drawing/2014/main" id="{162F2FB5-3B42-E6BB-6EDD-487809D07D12}"/>
              </a:ext>
            </a:extLst>
          </p:cNvPr>
          <p:cNvSpPr txBox="1"/>
          <p:nvPr/>
        </p:nvSpPr>
        <p:spPr>
          <a:xfrm>
            <a:off x="2640256" y="3415094"/>
            <a:ext cx="3885785" cy="731520"/>
          </a:xfrm>
          <a:prstGeom prst="rect">
            <a:avLst/>
          </a:prstGeom>
          <a:ln>
            <a:solidFill>
              <a:schemeClr val="accent4"/>
            </a:solidFill>
          </a:ln>
        </p:spPr>
        <p:style>
          <a:lnRef idx="2">
            <a:schemeClr val="dk1"/>
          </a:lnRef>
          <a:fillRef idx="1">
            <a:schemeClr val="lt1"/>
          </a:fillRef>
          <a:effectRef idx="0">
            <a:schemeClr val="dk1"/>
          </a:effectRef>
          <a:fontRef idx="minor">
            <a:schemeClr val="dk1"/>
          </a:fontRef>
        </p:style>
        <p:txBody>
          <a:bodyPr wrap="square" anchor="ctr">
            <a:spAutoFit/>
          </a:bodyPr>
          <a:lstStyle/>
          <a:p>
            <a:pPr algn="ctr"/>
            <a:r>
              <a:rPr lang="en-US" sz="1800" dirty="0"/>
              <a:t>If new symptoms </a:t>
            </a:r>
            <a:r>
              <a:rPr lang="en-US" sz="1800" b="1" dirty="0"/>
              <a:t>limit daily activities.</a:t>
            </a:r>
          </a:p>
          <a:p>
            <a:pPr algn="ctr"/>
            <a:r>
              <a:rPr lang="en-US" dirty="0"/>
              <a:t>↓ rate of relapse and symptoms. </a:t>
            </a:r>
          </a:p>
        </p:txBody>
      </p:sp>
      <p:cxnSp>
        <p:nvCxnSpPr>
          <p:cNvPr id="46" name="Straight Connector 45">
            <a:extLst>
              <a:ext uri="{FF2B5EF4-FFF2-40B4-BE49-F238E27FC236}">
                <a16:creationId xmlns:a16="http://schemas.microsoft.com/office/drawing/2014/main" id="{8B8B3FDE-54B9-77DC-5A0F-A00E1FD84039}"/>
              </a:ext>
            </a:extLst>
          </p:cNvPr>
          <p:cNvCxnSpPr>
            <a:cxnSpLocks/>
          </p:cNvCxnSpPr>
          <p:nvPr/>
        </p:nvCxnSpPr>
        <p:spPr>
          <a:xfrm>
            <a:off x="2262739" y="3780129"/>
            <a:ext cx="377517" cy="0"/>
          </a:xfrm>
          <a:prstGeom prst="line">
            <a:avLst/>
          </a:prstGeom>
          <a:ln>
            <a:solidFill>
              <a:schemeClr val="accent4"/>
            </a:solidFill>
          </a:ln>
        </p:spPr>
        <p:style>
          <a:lnRef idx="1">
            <a:schemeClr val="dk1"/>
          </a:lnRef>
          <a:fillRef idx="0">
            <a:schemeClr val="dk1"/>
          </a:fillRef>
          <a:effectRef idx="0">
            <a:schemeClr val="dk1"/>
          </a:effectRef>
          <a:fontRef idx="minor">
            <a:schemeClr val="tx1"/>
          </a:fontRef>
        </p:style>
      </p:cxnSp>
      <p:sp>
        <p:nvSpPr>
          <p:cNvPr id="64" name="Antibiotics">
            <a:extLst>
              <a:ext uri="{FF2B5EF4-FFF2-40B4-BE49-F238E27FC236}">
                <a16:creationId xmlns:a16="http://schemas.microsoft.com/office/drawing/2014/main" id="{D0ECE786-931B-6A07-8981-2116B3DDA563}"/>
              </a:ext>
            </a:extLst>
          </p:cNvPr>
          <p:cNvSpPr/>
          <p:nvPr/>
        </p:nvSpPr>
        <p:spPr>
          <a:xfrm>
            <a:off x="447788" y="4905319"/>
            <a:ext cx="1814951" cy="411480"/>
          </a:xfrm>
          <a:prstGeom prst="roundRect">
            <a:avLst/>
          </a:prstGeom>
          <a:solidFill>
            <a:schemeClr val="bg1"/>
          </a:solidFill>
          <a:ln w="38100">
            <a:solidFill>
              <a:schemeClr val="accent6"/>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Antibiotics?</a:t>
            </a:r>
          </a:p>
        </p:txBody>
      </p:sp>
      <p:sp>
        <p:nvSpPr>
          <p:cNvPr id="65" name="TextBox 64">
            <a:extLst>
              <a:ext uri="{FF2B5EF4-FFF2-40B4-BE49-F238E27FC236}">
                <a16:creationId xmlns:a16="http://schemas.microsoft.com/office/drawing/2014/main" id="{BB1ACDA8-C41E-411F-9A4F-67D78E794E63}"/>
              </a:ext>
            </a:extLst>
          </p:cNvPr>
          <p:cNvSpPr txBox="1"/>
          <p:nvPr/>
        </p:nvSpPr>
        <p:spPr>
          <a:xfrm>
            <a:off x="2640257" y="4643481"/>
            <a:ext cx="3885785" cy="923330"/>
          </a:xfrm>
          <a:prstGeom prst="rect">
            <a:avLst/>
          </a:prstGeom>
          <a:ln>
            <a:solidFill>
              <a:schemeClr val="accent6"/>
            </a:solidFill>
          </a:ln>
        </p:spPr>
        <p:style>
          <a:lnRef idx="2">
            <a:schemeClr val="dk1"/>
          </a:lnRef>
          <a:fillRef idx="1">
            <a:schemeClr val="lt1"/>
          </a:fillRef>
          <a:effectRef idx="0">
            <a:schemeClr val="dk1"/>
          </a:effectRef>
          <a:fontRef idx="minor">
            <a:schemeClr val="dk1"/>
          </a:fontRef>
        </p:style>
        <p:txBody>
          <a:bodyPr wrap="square" anchor="ctr">
            <a:spAutoFit/>
          </a:bodyPr>
          <a:lstStyle/>
          <a:p>
            <a:pPr algn="ctr"/>
            <a:r>
              <a:rPr lang="en-US" sz="1800" dirty="0"/>
              <a:t>If </a:t>
            </a:r>
            <a:r>
              <a:rPr lang="en-US" sz="1800" b="1" dirty="0"/>
              <a:t>mod-severe exacerbation</a:t>
            </a:r>
            <a:r>
              <a:rPr lang="en-US" sz="1800" dirty="0"/>
              <a:t> + </a:t>
            </a:r>
          </a:p>
          <a:p>
            <a:pPr algn="ctr"/>
            <a:r>
              <a:rPr lang="en-US" sz="1800" u="sng" dirty="0"/>
              <a:t>&gt;</a:t>
            </a:r>
            <a:r>
              <a:rPr lang="en-US" sz="1800" dirty="0"/>
              <a:t>2 symptoms (including sputum purulence)</a:t>
            </a:r>
          </a:p>
        </p:txBody>
      </p:sp>
      <p:sp>
        <p:nvSpPr>
          <p:cNvPr id="69" name="TextBox 68">
            <a:extLst>
              <a:ext uri="{FF2B5EF4-FFF2-40B4-BE49-F238E27FC236}">
                <a16:creationId xmlns:a16="http://schemas.microsoft.com/office/drawing/2014/main" id="{AE63D62C-353E-9C08-107A-09BEA176689F}"/>
              </a:ext>
            </a:extLst>
          </p:cNvPr>
          <p:cNvSpPr txBox="1"/>
          <p:nvPr/>
        </p:nvSpPr>
        <p:spPr>
          <a:xfrm>
            <a:off x="9710954" y="3417320"/>
            <a:ext cx="1901926" cy="731520"/>
          </a:xfrm>
          <a:prstGeom prst="rect">
            <a:avLst/>
          </a:prstGeom>
        </p:spPr>
        <p:style>
          <a:lnRef idx="2">
            <a:schemeClr val="accent4"/>
          </a:lnRef>
          <a:fillRef idx="1">
            <a:schemeClr val="lt1"/>
          </a:fillRef>
          <a:effectRef idx="0">
            <a:schemeClr val="accent4"/>
          </a:effectRef>
          <a:fontRef idx="minor">
            <a:schemeClr val="dk1"/>
          </a:fontRef>
        </p:style>
        <p:txBody>
          <a:bodyPr wrap="square" anchor="ctr">
            <a:spAutoFit/>
          </a:bodyPr>
          <a:lstStyle/>
          <a:p>
            <a:pPr algn="ctr"/>
            <a:r>
              <a:rPr lang="en-US" sz="1800" dirty="0"/>
              <a:t>Prednisone 40 mg x 5 d.</a:t>
            </a:r>
          </a:p>
        </p:txBody>
      </p:sp>
      <p:sp>
        <p:nvSpPr>
          <p:cNvPr id="75" name="Steroids dose and duration">
            <a:extLst>
              <a:ext uri="{FF2B5EF4-FFF2-40B4-BE49-F238E27FC236}">
                <a16:creationId xmlns:a16="http://schemas.microsoft.com/office/drawing/2014/main" id="{BAAEEE0D-78E6-A88B-7904-74DEEAF8E50A}"/>
              </a:ext>
            </a:extLst>
          </p:cNvPr>
          <p:cNvSpPr/>
          <p:nvPr/>
        </p:nvSpPr>
        <p:spPr>
          <a:xfrm>
            <a:off x="7099636" y="3457689"/>
            <a:ext cx="1814951" cy="646331"/>
          </a:xfrm>
          <a:prstGeom prst="roundRect">
            <a:avLst/>
          </a:prstGeom>
          <a:solidFill>
            <a:schemeClr val="bg1"/>
          </a:solidFill>
          <a:ln w="38100">
            <a:solidFill>
              <a:schemeClr val="accent4"/>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Dose and duration?</a:t>
            </a:r>
          </a:p>
        </p:txBody>
      </p:sp>
      <p:cxnSp>
        <p:nvCxnSpPr>
          <p:cNvPr id="77" name="Straight Connector 76">
            <a:extLst>
              <a:ext uri="{FF2B5EF4-FFF2-40B4-BE49-F238E27FC236}">
                <a16:creationId xmlns:a16="http://schemas.microsoft.com/office/drawing/2014/main" id="{B282DFF7-F8DA-CA51-30B4-121F5BB52D2F}"/>
              </a:ext>
            </a:extLst>
          </p:cNvPr>
          <p:cNvCxnSpPr>
            <a:cxnSpLocks/>
            <a:stCxn id="75" idx="3"/>
            <a:endCxn id="69" idx="1"/>
          </p:cNvCxnSpPr>
          <p:nvPr/>
        </p:nvCxnSpPr>
        <p:spPr>
          <a:xfrm>
            <a:off x="8914587" y="3780855"/>
            <a:ext cx="796367" cy="2225"/>
          </a:xfrm>
          <a:prstGeom prst="line">
            <a:avLst/>
          </a:prstGeom>
          <a:ln>
            <a:solidFill>
              <a:schemeClr val="accent4"/>
            </a:solidFill>
          </a:ln>
        </p:spPr>
        <p:style>
          <a:lnRef idx="1">
            <a:schemeClr val="dk1"/>
          </a:lnRef>
          <a:fillRef idx="0">
            <a:schemeClr val="dk1"/>
          </a:fillRef>
          <a:effectRef idx="0">
            <a:schemeClr val="dk1"/>
          </a:effectRef>
          <a:fontRef idx="minor">
            <a:schemeClr val="tx1"/>
          </a:fontRef>
        </p:style>
      </p:cxnSp>
      <p:cxnSp>
        <p:nvCxnSpPr>
          <p:cNvPr id="86" name="Straight Connector 85">
            <a:extLst>
              <a:ext uri="{FF2B5EF4-FFF2-40B4-BE49-F238E27FC236}">
                <a16:creationId xmlns:a16="http://schemas.microsoft.com/office/drawing/2014/main" id="{F3DAB1BB-2AFB-3408-954F-5CFB2BD27374}"/>
              </a:ext>
            </a:extLst>
          </p:cNvPr>
          <p:cNvCxnSpPr>
            <a:cxnSpLocks/>
            <a:stCxn id="64" idx="3"/>
            <a:endCxn id="65" idx="1"/>
          </p:cNvCxnSpPr>
          <p:nvPr/>
        </p:nvCxnSpPr>
        <p:spPr>
          <a:xfrm flipV="1">
            <a:off x="2262739" y="5105146"/>
            <a:ext cx="377518" cy="5913"/>
          </a:xfrm>
          <a:prstGeom prst="line">
            <a:avLst/>
          </a:prstGeom>
          <a:ln/>
        </p:spPr>
        <p:style>
          <a:lnRef idx="1">
            <a:schemeClr val="accent1"/>
          </a:lnRef>
          <a:fillRef idx="0">
            <a:schemeClr val="accent1"/>
          </a:fillRef>
          <a:effectRef idx="0">
            <a:schemeClr val="accent1"/>
          </a:effectRef>
          <a:fontRef idx="minor">
            <a:schemeClr val="tx1"/>
          </a:fontRef>
        </p:style>
      </p:cxnSp>
      <p:sp>
        <p:nvSpPr>
          <p:cNvPr id="91" name="TextBox 90">
            <a:extLst>
              <a:ext uri="{FF2B5EF4-FFF2-40B4-BE49-F238E27FC236}">
                <a16:creationId xmlns:a16="http://schemas.microsoft.com/office/drawing/2014/main" id="{35957DE0-C429-0537-392F-225BA679C90E}"/>
              </a:ext>
            </a:extLst>
          </p:cNvPr>
          <p:cNvSpPr txBox="1"/>
          <p:nvPr/>
        </p:nvSpPr>
        <p:spPr>
          <a:xfrm>
            <a:off x="9953731" y="4393469"/>
            <a:ext cx="1659149" cy="923330"/>
          </a:xfrm>
          <a:prstGeom prst="rect">
            <a:avLst/>
          </a:prstGeom>
        </p:spPr>
        <p:style>
          <a:lnRef idx="2">
            <a:schemeClr val="accent6"/>
          </a:lnRef>
          <a:fillRef idx="1">
            <a:schemeClr val="lt1"/>
          </a:fillRef>
          <a:effectRef idx="0">
            <a:schemeClr val="accent6"/>
          </a:effectRef>
          <a:fontRef idx="minor">
            <a:schemeClr val="dk1"/>
          </a:fontRef>
        </p:style>
        <p:txBody>
          <a:bodyPr wrap="square" anchor="ctr">
            <a:spAutoFit/>
          </a:bodyPr>
          <a:lstStyle/>
          <a:p>
            <a:pPr algn="ctr"/>
            <a:r>
              <a:rPr lang="en-US" dirty="0"/>
              <a:t>Anti-pseudomonal agent x 5 d</a:t>
            </a:r>
            <a:endParaRPr lang="en-US" sz="1800" dirty="0"/>
          </a:p>
        </p:txBody>
      </p:sp>
      <p:sp>
        <p:nvSpPr>
          <p:cNvPr id="92" name="High risk abx">
            <a:extLst>
              <a:ext uri="{FF2B5EF4-FFF2-40B4-BE49-F238E27FC236}">
                <a16:creationId xmlns:a16="http://schemas.microsoft.com/office/drawing/2014/main" id="{9929CA32-D1F8-5174-0C7B-25856E6F6781}"/>
              </a:ext>
            </a:extLst>
          </p:cNvPr>
          <p:cNvSpPr/>
          <p:nvPr/>
        </p:nvSpPr>
        <p:spPr>
          <a:xfrm>
            <a:off x="6903560" y="4604974"/>
            <a:ext cx="2207103" cy="1000343"/>
          </a:xfrm>
          <a:prstGeom prst="roundRect">
            <a:avLst/>
          </a:prstGeom>
          <a:solidFill>
            <a:schemeClr val="bg1"/>
          </a:solidFill>
          <a:ln w="38100">
            <a:solidFill>
              <a:schemeClr val="accent6"/>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High risk for poor outcome or Pseudomonas?</a:t>
            </a:r>
          </a:p>
        </p:txBody>
      </p:sp>
      <p:cxnSp>
        <p:nvCxnSpPr>
          <p:cNvPr id="101" name="Straight Arrow Connector 100">
            <a:extLst>
              <a:ext uri="{FF2B5EF4-FFF2-40B4-BE49-F238E27FC236}">
                <a16:creationId xmlns:a16="http://schemas.microsoft.com/office/drawing/2014/main" id="{CDC8034D-6E2F-33D8-44A6-A8C77FFDDC38}"/>
              </a:ext>
            </a:extLst>
          </p:cNvPr>
          <p:cNvCxnSpPr>
            <a:cxnSpLocks/>
            <a:stCxn id="65" idx="3"/>
            <a:endCxn id="92" idx="1"/>
          </p:cNvCxnSpPr>
          <p:nvPr/>
        </p:nvCxnSpPr>
        <p:spPr>
          <a:xfrm>
            <a:off x="6526042" y="5105146"/>
            <a:ext cx="377518" cy="0"/>
          </a:xfrm>
          <a:prstGeom prst="straightConnector1">
            <a:avLst/>
          </a:prstGeom>
          <a:ln>
            <a:tailEnd type="triangle"/>
          </a:ln>
        </p:spPr>
        <p:style>
          <a:lnRef idx="2">
            <a:schemeClr val="accent6"/>
          </a:lnRef>
          <a:fillRef idx="1">
            <a:schemeClr val="lt1"/>
          </a:fillRef>
          <a:effectRef idx="0">
            <a:schemeClr val="accent6"/>
          </a:effectRef>
          <a:fontRef idx="minor">
            <a:schemeClr val="dk1"/>
          </a:fontRef>
        </p:style>
      </p:cxnSp>
      <p:cxnSp>
        <p:nvCxnSpPr>
          <p:cNvPr id="106" name="Connector: Elbow 105">
            <a:extLst>
              <a:ext uri="{FF2B5EF4-FFF2-40B4-BE49-F238E27FC236}">
                <a16:creationId xmlns:a16="http://schemas.microsoft.com/office/drawing/2014/main" id="{78B960FD-3186-DD60-B153-8DFCAA264708}"/>
              </a:ext>
            </a:extLst>
          </p:cNvPr>
          <p:cNvCxnSpPr>
            <a:cxnSpLocks/>
            <a:stCxn id="92" idx="3"/>
            <a:endCxn id="91" idx="1"/>
          </p:cNvCxnSpPr>
          <p:nvPr/>
        </p:nvCxnSpPr>
        <p:spPr>
          <a:xfrm flipV="1">
            <a:off x="9110663" y="4855134"/>
            <a:ext cx="843068" cy="250012"/>
          </a:xfrm>
          <a:prstGeom prst="bentConnector3">
            <a:avLst>
              <a:gd name="adj1" fmla="val 36744"/>
            </a:avLst>
          </a:prstGeom>
          <a:ln>
            <a:tailEnd type="triangle"/>
          </a:ln>
        </p:spPr>
        <p:style>
          <a:lnRef idx="2">
            <a:schemeClr val="accent6"/>
          </a:lnRef>
          <a:fillRef idx="1">
            <a:schemeClr val="lt1"/>
          </a:fillRef>
          <a:effectRef idx="0">
            <a:schemeClr val="accent6"/>
          </a:effectRef>
          <a:fontRef idx="minor">
            <a:schemeClr val="dk1"/>
          </a:fontRef>
        </p:style>
      </p:cxnSp>
      <p:cxnSp>
        <p:nvCxnSpPr>
          <p:cNvPr id="133" name="Connector: Elbow 132">
            <a:extLst>
              <a:ext uri="{FF2B5EF4-FFF2-40B4-BE49-F238E27FC236}">
                <a16:creationId xmlns:a16="http://schemas.microsoft.com/office/drawing/2014/main" id="{E3841B20-3424-0D83-6F59-0B9223EEA979}"/>
              </a:ext>
            </a:extLst>
          </p:cNvPr>
          <p:cNvCxnSpPr>
            <a:cxnSpLocks/>
            <a:stCxn id="92" idx="3"/>
            <a:endCxn id="137" idx="1"/>
          </p:cNvCxnSpPr>
          <p:nvPr/>
        </p:nvCxnSpPr>
        <p:spPr>
          <a:xfrm>
            <a:off x="9110663" y="5105146"/>
            <a:ext cx="851055" cy="613961"/>
          </a:xfrm>
          <a:prstGeom prst="bentConnector3">
            <a:avLst>
              <a:gd name="adj1" fmla="val 35674"/>
            </a:avLst>
          </a:prstGeom>
          <a:ln>
            <a:tailEnd type="triangle"/>
          </a:ln>
        </p:spPr>
        <p:style>
          <a:lnRef idx="2">
            <a:schemeClr val="accent6"/>
          </a:lnRef>
          <a:fillRef idx="1">
            <a:schemeClr val="lt1"/>
          </a:fillRef>
          <a:effectRef idx="0">
            <a:schemeClr val="accent6"/>
          </a:effectRef>
          <a:fontRef idx="minor">
            <a:schemeClr val="dk1"/>
          </a:fontRef>
        </p:style>
      </p:cxnSp>
      <p:sp>
        <p:nvSpPr>
          <p:cNvPr id="137" name="TextBox 136">
            <a:extLst>
              <a:ext uri="{FF2B5EF4-FFF2-40B4-BE49-F238E27FC236}">
                <a16:creationId xmlns:a16="http://schemas.microsoft.com/office/drawing/2014/main" id="{097E8A96-3433-F841-9D93-F4D192C8C19F}"/>
              </a:ext>
            </a:extLst>
          </p:cNvPr>
          <p:cNvSpPr txBox="1"/>
          <p:nvPr/>
        </p:nvSpPr>
        <p:spPr>
          <a:xfrm>
            <a:off x="9961718" y="5395941"/>
            <a:ext cx="1659149" cy="646331"/>
          </a:xfrm>
          <a:prstGeom prst="rect">
            <a:avLst/>
          </a:prstGeom>
        </p:spPr>
        <p:style>
          <a:lnRef idx="2">
            <a:schemeClr val="accent6"/>
          </a:lnRef>
          <a:fillRef idx="1">
            <a:schemeClr val="lt1"/>
          </a:fillRef>
          <a:effectRef idx="0">
            <a:schemeClr val="accent6"/>
          </a:effectRef>
          <a:fontRef idx="minor">
            <a:schemeClr val="dk1"/>
          </a:fontRef>
        </p:style>
        <p:txBody>
          <a:bodyPr wrap="square" anchor="ctr">
            <a:spAutoFit/>
          </a:bodyPr>
          <a:lstStyle/>
          <a:p>
            <a:pPr algn="ctr"/>
            <a:r>
              <a:rPr lang="en-US" dirty="0"/>
              <a:t>Azithromycin/ doxycycline</a:t>
            </a:r>
            <a:endParaRPr lang="en-US" sz="1800" dirty="0"/>
          </a:p>
        </p:txBody>
      </p:sp>
      <p:sp>
        <p:nvSpPr>
          <p:cNvPr id="139" name="TextBox 138">
            <a:extLst>
              <a:ext uri="{FF2B5EF4-FFF2-40B4-BE49-F238E27FC236}">
                <a16:creationId xmlns:a16="http://schemas.microsoft.com/office/drawing/2014/main" id="{B10804F9-1BAB-F7AF-2851-E04BBB9C4CA7}"/>
              </a:ext>
            </a:extLst>
          </p:cNvPr>
          <p:cNvSpPr txBox="1"/>
          <p:nvPr/>
        </p:nvSpPr>
        <p:spPr>
          <a:xfrm>
            <a:off x="9523997" y="4643481"/>
            <a:ext cx="272314" cy="338554"/>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1600" dirty="0"/>
              <a:t>+</a:t>
            </a:r>
          </a:p>
        </p:txBody>
      </p:sp>
      <p:sp>
        <p:nvSpPr>
          <p:cNvPr id="141" name="TextBox 140">
            <a:extLst>
              <a:ext uri="{FF2B5EF4-FFF2-40B4-BE49-F238E27FC236}">
                <a16:creationId xmlns:a16="http://schemas.microsoft.com/office/drawing/2014/main" id="{EF1441FA-4FE9-6623-274F-6D3FF90B33A1}"/>
              </a:ext>
            </a:extLst>
          </p:cNvPr>
          <p:cNvSpPr txBox="1"/>
          <p:nvPr/>
        </p:nvSpPr>
        <p:spPr>
          <a:xfrm>
            <a:off x="9523997" y="5534440"/>
            <a:ext cx="272314" cy="338554"/>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1600" dirty="0"/>
              <a:t>-</a:t>
            </a:r>
          </a:p>
        </p:txBody>
      </p:sp>
      <p:sp>
        <p:nvSpPr>
          <p:cNvPr id="149" name="Bronchodilators">
            <a:extLst>
              <a:ext uri="{FF2B5EF4-FFF2-40B4-BE49-F238E27FC236}">
                <a16:creationId xmlns:a16="http://schemas.microsoft.com/office/drawing/2014/main" id="{6C310402-B317-F87E-6746-B5CBD6A16EDD}"/>
              </a:ext>
            </a:extLst>
          </p:cNvPr>
          <p:cNvSpPr/>
          <p:nvPr/>
        </p:nvSpPr>
        <p:spPr>
          <a:xfrm>
            <a:off x="447787" y="5991201"/>
            <a:ext cx="1814951" cy="411480"/>
          </a:xfrm>
          <a:prstGeom prst="roundRect">
            <a:avLst/>
          </a:prstGeom>
          <a:solidFill>
            <a:schemeClr val="bg1"/>
          </a:solidFill>
          <a:ln w="38100">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Bronchodilators?</a:t>
            </a:r>
          </a:p>
        </p:txBody>
      </p:sp>
      <p:sp>
        <p:nvSpPr>
          <p:cNvPr id="155" name="TextBox 154">
            <a:extLst>
              <a:ext uri="{FF2B5EF4-FFF2-40B4-BE49-F238E27FC236}">
                <a16:creationId xmlns:a16="http://schemas.microsoft.com/office/drawing/2014/main" id="{0B9D8B5B-CAEB-0EF6-A3FF-1DE1884744C9}"/>
              </a:ext>
            </a:extLst>
          </p:cNvPr>
          <p:cNvSpPr txBox="1"/>
          <p:nvPr/>
        </p:nvSpPr>
        <p:spPr>
          <a:xfrm>
            <a:off x="2630096" y="5873775"/>
            <a:ext cx="5721424" cy="646331"/>
          </a:xfrm>
          <a:prstGeom prst="rect">
            <a:avLst/>
          </a:prstGeom>
          <a:ln/>
        </p:spPr>
        <p:style>
          <a:lnRef idx="2">
            <a:schemeClr val="accent1"/>
          </a:lnRef>
          <a:fillRef idx="1">
            <a:schemeClr val="lt1"/>
          </a:fillRef>
          <a:effectRef idx="0">
            <a:schemeClr val="accent1"/>
          </a:effectRef>
          <a:fontRef idx="minor">
            <a:schemeClr val="dk1"/>
          </a:fontRef>
        </p:style>
        <p:txBody>
          <a:bodyPr wrap="square" anchor="ctr">
            <a:spAutoFit/>
          </a:bodyPr>
          <a:lstStyle/>
          <a:p>
            <a:pPr algn="ctr"/>
            <a:r>
              <a:rPr lang="en-US" sz="1800" dirty="0"/>
              <a:t>SABA ± SAMA</a:t>
            </a:r>
          </a:p>
          <a:p>
            <a:pPr algn="ctr"/>
            <a:r>
              <a:rPr lang="en-US" sz="1800" dirty="0"/>
              <a:t>MDIs as effective as nebulizers when used appropriately</a:t>
            </a:r>
          </a:p>
        </p:txBody>
      </p:sp>
      <p:cxnSp>
        <p:nvCxnSpPr>
          <p:cNvPr id="156" name="Straight Connector 155">
            <a:extLst>
              <a:ext uri="{FF2B5EF4-FFF2-40B4-BE49-F238E27FC236}">
                <a16:creationId xmlns:a16="http://schemas.microsoft.com/office/drawing/2014/main" id="{6D7B0D8B-7390-77A8-EA76-AFB58C97949E}"/>
              </a:ext>
            </a:extLst>
          </p:cNvPr>
          <p:cNvCxnSpPr>
            <a:cxnSpLocks/>
          </p:cNvCxnSpPr>
          <p:nvPr/>
        </p:nvCxnSpPr>
        <p:spPr>
          <a:xfrm>
            <a:off x="2275264" y="6209467"/>
            <a:ext cx="367358" cy="0"/>
          </a:xfrm>
          <a:prstGeom prst="line">
            <a:avLst/>
          </a:prstGeom>
          <a:ln/>
        </p:spPr>
        <p:style>
          <a:lnRef idx="2">
            <a:schemeClr val="accent1"/>
          </a:lnRef>
          <a:fillRef idx="1">
            <a:schemeClr val="lt1"/>
          </a:fillRef>
          <a:effectRef idx="0">
            <a:schemeClr val="accent1"/>
          </a:effectRef>
          <a:fontRef idx="minor">
            <a:schemeClr val="dk1"/>
          </a:fontRef>
        </p:style>
      </p:cxnSp>
      <p:cxnSp>
        <p:nvCxnSpPr>
          <p:cNvPr id="174" name="Straight Arrow Connector 173">
            <a:extLst>
              <a:ext uri="{FF2B5EF4-FFF2-40B4-BE49-F238E27FC236}">
                <a16:creationId xmlns:a16="http://schemas.microsoft.com/office/drawing/2014/main" id="{2366A361-AE04-65CC-2F2C-41F5482F2420}"/>
              </a:ext>
            </a:extLst>
          </p:cNvPr>
          <p:cNvCxnSpPr>
            <a:cxnSpLocks/>
            <a:stCxn id="14" idx="3"/>
            <a:endCxn id="20" idx="1"/>
          </p:cNvCxnSpPr>
          <p:nvPr/>
        </p:nvCxnSpPr>
        <p:spPr>
          <a:xfrm>
            <a:off x="6705934" y="1313395"/>
            <a:ext cx="739244" cy="411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0" name="Straight Arrow Connector 179">
            <a:extLst>
              <a:ext uri="{FF2B5EF4-FFF2-40B4-BE49-F238E27FC236}">
                <a16:creationId xmlns:a16="http://schemas.microsoft.com/office/drawing/2014/main" id="{A49F9826-6B54-535E-31FE-EDA96B16BC85}"/>
              </a:ext>
            </a:extLst>
          </p:cNvPr>
          <p:cNvCxnSpPr>
            <a:cxnSpLocks/>
            <a:stCxn id="45" idx="3"/>
            <a:endCxn id="75" idx="1"/>
          </p:cNvCxnSpPr>
          <p:nvPr/>
        </p:nvCxnSpPr>
        <p:spPr>
          <a:xfrm>
            <a:off x="6526041" y="3780854"/>
            <a:ext cx="573595" cy="1"/>
          </a:xfrm>
          <a:prstGeom prst="straightConnector1">
            <a:avLst/>
          </a:prstGeom>
          <a:ln>
            <a:tailEnd type="triangle"/>
          </a:ln>
        </p:spPr>
        <p:style>
          <a:lnRef idx="1">
            <a:schemeClr val="accent4"/>
          </a:lnRef>
          <a:fillRef idx="0">
            <a:schemeClr val="accent4"/>
          </a:fillRef>
          <a:effectRef idx="0">
            <a:schemeClr val="accent4"/>
          </a:effectRef>
          <a:fontRef idx="minor">
            <a:schemeClr val="tx1"/>
          </a:fontRef>
        </p:style>
      </p:cxnSp>
      <p:pic>
        <p:nvPicPr>
          <p:cNvPr id="183" name="Graphic 182" descr="Cursor with solid fill">
            <a:extLst>
              <a:ext uri="{FF2B5EF4-FFF2-40B4-BE49-F238E27FC236}">
                <a16:creationId xmlns:a16="http://schemas.microsoft.com/office/drawing/2014/main" id="{1CA31340-3C54-EEF6-9319-302FB2B36D0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904316" y="1528307"/>
            <a:ext cx="270868" cy="274320"/>
          </a:xfrm>
          <a:prstGeom prst="rect">
            <a:avLst/>
          </a:prstGeom>
        </p:spPr>
      </p:pic>
      <p:pic>
        <p:nvPicPr>
          <p:cNvPr id="184" name="Graphic 183" descr="Cursor with solid fill">
            <a:extLst>
              <a:ext uri="{FF2B5EF4-FFF2-40B4-BE49-F238E27FC236}">
                <a16:creationId xmlns:a16="http://schemas.microsoft.com/office/drawing/2014/main" id="{EC916EB9-7050-DE48-0F17-96F19AC49FE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771812" y="1515781"/>
            <a:ext cx="270868" cy="274320"/>
          </a:xfrm>
          <a:prstGeom prst="rect">
            <a:avLst/>
          </a:prstGeom>
        </p:spPr>
      </p:pic>
      <p:pic>
        <p:nvPicPr>
          <p:cNvPr id="185" name="Graphic 184" descr="Cursor with solid fill">
            <a:extLst>
              <a:ext uri="{FF2B5EF4-FFF2-40B4-BE49-F238E27FC236}">
                <a16:creationId xmlns:a16="http://schemas.microsoft.com/office/drawing/2014/main" id="{34ACA60C-A099-A4CB-3926-8CC72090B95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006569" y="2757452"/>
            <a:ext cx="270868" cy="274320"/>
          </a:xfrm>
          <a:prstGeom prst="rect">
            <a:avLst/>
          </a:prstGeom>
        </p:spPr>
      </p:pic>
      <p:pic>
        <p:nvPicPr>
          <p:cNvPr id="186" name="Graphic 185" descr="Cursor with solid fill">
            <a:extLst>
              <a:ext uri="{FF2B5EF4-FFF2-40B4-BE49-F238E27FC236}">
                <a16:creationId xmlns:a16="http://schemas.microsoft.com/office/drawing/2014/main" id="{738DBAA7-34F8-09FF-6C6E-F347A7BB31E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135419" y="3858704"/>
            <a:ext cx="270868" cy="274320"/>
          </a:xfrm>
          <a:prstGeom prst="rect">
            <a:avLst/>
          </a:prstGeom>
        </p:spPr>
      </p:pic>
      <p:pic>
        <p:nvPicPr>
          <p:cNvPr id="187" name="Graphic 186" descr="Cursor with solid fill">
            <a:extLst>
              <a:ext uri="{FF2B5EF4-FFF2-40B4-BE49-F238E27FC236}">
                <a16:creationId xmlns:a16="http://schemas.microsoft.com/office/drawing/2014/main" id="{CB476745-ACBE-37BE-BFD2-5F419021927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135419" y="5191521"/>
            <a:ext cx="270868" cy="274320"/>
          </a:xfrm>
          <a:prstGeom prst="rect">
            <a:avLst/>
          </a:prstGeom>
        </p:spPr>
      </p:pic>
      <p:pic>
        <p:nvPicPr>
          <p:cNvPr id="188" name="Graphic 187" descr="Cursor with solid fill">
            <a:extLst>
              <a:ext uri="{FF2B5EF4-FFF2-40B4-BE49-F238E27FC236}">
                <a16:creationId xmlns:a16="http://schemas.microsoft.com/office/drawing/2014/main" id="{8D20B3CA-E0FB-1217-C60A-48DCE2181A7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135419" y="6290431"/>
            <a:ext cx="270868" cy="274320"/>
          </a:xfrm>
          <a:prstGeom prst="rect">
            <a:avLst/>
          </a:prstGeom>
        </p:spPr>
      </p:pic>
      <p:pic>
        <p:nvPicPr>
          <p:cNvPr id="189" name="Graphic 188" descr="Cursor with solid fill">
            <a:extLst>
              <a:ext uri="{FF2B5EF4-FFF2-40B4-BE49-F238E27FC236}">
                <a16:creationId xmlns:a16="http://schemas.microsoft.com/office/drawing/2014/main" id="{04BF8059-9FC9-EF7E-2887-86D72E72CDE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784740" y="3965670"/>
            <a:ext cx="270868" cy="274320"/>
          </a:xfrm>
          <a:prstGeom prst="rect">
            <a:avLst/>
          </a:prstGeom>
        </p:spPr>
      </p:pic>
      <p:pic>
        <p:nvPicPr>
          <p:cNvPr id="190" name="Graphic 189" descr="Cursor with solid fill">
            <a:extLst>
              <a:ext uri="{FF2B5EF4-FFF2-40B4-BE49-F238E27FC236}">
                <a16:creationId xmlns:a16="http://schemas.microsoft.com/office/drawing/2014/main" id="{4D19C7FA-D689-19F9-9227-C8C24FE927F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966110" y="5439202"/>
            <a:ext cx="270868" cy="274320"/>
          </a:xfrm>
          <a:prstGeom prst="rect">
            <a:avLst/>
          </a:prstGeom>
        </p:spPr>
      </p:pic>
      <p:sp>
        <p:nvSpPr>
          <p:cNvPr id="15" name="Cases">
            <a:hlinkClick r:id="rId7" action="ppaction://hlinksldjump"/>
            <a:extLst>
              <a:ext uri="{FF2B5EF4-FFF2-40B4-BE49-F238E27FC236}">
                <a16:creationId xmlns:a16="http://schemas.microsoft.com/office/drawing/2014/main" id="{7660CD76-23A3-8E15-9BAB-55789EACD5F0}"/>
              </a:ext>
            </a:extLst>
          </p:cNvPr>
          <p:cNvSpPr txBox="1"/>
          <p:nvPr/>
        </p:nvSpPr>
        <p:spPr>
          <a:xfrm>
            <a:off x="181642" y="2447614"/>
            <a:ext cx="1645920" cy="408623"/>
          </a:xfrm>
          <a:prstGeom prst="roundRect">
            <a:avLst/>
          </a:prstGeom>
          <a:solidFill>
            <a:schemeClr val="tx1"/>
          </a:solidFill>
          <a:ln w="38100"/>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chemeClr val="bg1"/>
                </a:solidFill>
              </a:rPr>
              <a:t>Exacerbations</a:t>
            </a:r>
          </a:p>
        </p:txBody>
      </p:sp>
      <p:sp>
        <p:nvSpPr>
          <p:cNvPr id="16" name="Question 2">
            <a:hlinkClick r:id="rId6" action="ppaction://hlinksldjump"/>
            <a:extLst>
              <a:ext uri="{FF2B5EF4-FFF2-40B4-BE49-F238E27FC236}">
                <a16:creationId xmlns:a16="http://schemas.microsoft.com/office/drawing/2014/main" id="{A9E4A595-D26C-1538-C93F-84E09A4500AC}"/>
              </a:ext>
            </a:extLst>
          </p:cNvPr>
          <p:cNvSpPr txBox="1"/>
          <p:nvPr/>
        </p:nvSpPr>
        <p:spPr>
          <a:xfrm>
            <a:off x="181642" y="1875581"/>
            <a:ext cx="1645920"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Efficacy</a:t>
            </a:r>
          </a:p>
        </p:txBody>
      </p:sp>
      <p:pic>
        <p:nvPicPr>
          <p:cNvPr id="18" name="Graphic 17" descr="Cursor with solid fill">
            <a:extLst>
              <a:ext uri="{FF2B5EF4-FFF2-40B4-BE49-F238E27FC236}">
                <a16:creationId xmlns:a16="http://schemas.microsoft.com/office/drawing/2014/main" id="{072DB9B4-160B-A032-F3AA-52668E856A8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701287" y="2150676"/>
            <a:ext cx="274320" cy="274320"/>
          </a:xfrm>
          <a:prstGeom prst="rect">
            <a:avLst/>
          </a:prstGeom>
        </p:spPr>
      </p:pic>
      <p:sp>
        <p:nvSpPr>
          <p:cNvPr id="23" name="Cases">
            <a:hlinkClick r:id="rId8" action="ppaction://hlinksldjump"/>
            <a:extLst>
              <a:ext uri="{FF2B5EF4-FFF2-40B4-BE49-F238E27FC236}">
                <a16:creationId xmlns:a16="http://schemas.microsoft.com/office/drawing/2014/main" id="{3FECB6EC-B7AC-5D77-2521-CCA1A7AEFE72}"/>
              </a:ext>
            </a:extLst>
          </p:cNvPr>
          <p:cNvSpPr txBox="1"/>
          <p:nvPr/>
        </p:nvSpPr>
        <p:spPr>
          <a:xfrm>
            <a:off x="181642" y="3020377"/>
            <a:ext cx="1645920"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Cases</a:t>
            </a:r>
          </a:p>
        </p:txBody>
      </p:sp>
      <p:pic>
        <p:nvPicPr>
          <p:cNvPr id="24" name="Graphic 23" descr="Cursor with solid fill">
            <a:extLst>
              <a:ext uri="{FF2B5EF4-FFF2-40B4-BE49-F238E27FC236}">
                <a16:creationId xmlns:a16="http://schemas.microsoft.com/office/drawing/2014/main" id="{9ED59A23-09FB-3AB4-6EB0-14E4D289B78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701287" y="3295033"/>
            <a:ext cx="270869" cy="274320"/>
          </a:xfrm>
          <a:prstGeom prst="rect">
            <a:avLst/>
          </a:prstGeom>
        </p:spPr>
      </p:pic>
    </p:spTree>
    <p:extLst>
      <p:ext uri="{BB962C8B-B14F-4D97-AF65-F5344CB8AC3E}">
        <p14:creationId xmlns:p14="http://schemas.microsoft.com/office/powerpoint/2010/main" val="3572541231"/>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12"/>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1"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8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74"/>
                                        </p:tgtEl>
                                        <p:attrNameLst>
                                          <p:attrName>style.visibility</p:attrName>
                                        </p:attrNameLst>
                                      </p:cBhvr>
                                      <p:to>
                                        <p:strVal val="visible"/>
                                      </p:to>
                                    </p:set>
                                  </p:childTnLst>
                                </p:cTn>
                              </p:par>
                              <p:par>
                                <p:cTn id="15" presetID="1" presetClass="exit" presetSubtype="0" fill="hold" nodeType="withEffect">
                                  <p:stCondLst>
                                    <p:cond delay="0"/>
                                  </p:stCondLst>
                                  <p:childTnLst>
                                    <p:set>
                                      <p:cBhvr>
                                        <p:cTn id="16" dur="1" fill="hold">
                                          <p:stCondLst>
                                            <p:cond delay="0"/>
                                          </p:stCondLst>
                                        </p:cTn>
                                        <p:tgtEl>
                                          <p:spTgt spid="183"/>
                                        </p:tgtEl>
                                        <p:attrNameLst>
                                          <p:attrName>style.visibility</p:attrName>
                                        </p:attrNameLst>
                                      </p:cBhvr>
                                      <p:to>
                                        <p:strVal val="hidden"/>
                                      </p:to>
                                    </p:set>
                                  </p:childTnLst>
                                </p:cTn>
                              </p:par>
                              <p:par>
                                <p:cTn id="17" presetID="1" presetClass="exit"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hidden"/>
                                      </p:to>
                                    </p:set>
                                  </p:childTnLst>
                                </p:cTn>
                              </p:par>
                              <p:par>
                                <p:cTn id="19" presetID="1" presetClass="entr" presetSubtype="0" fill="hold" grpId="0" nodeType="withEffect">
                                  <p:stCondLst>
                                    <p:cond delay="0"/>
                                  </p:stCondLst>
                                  <p:childTnLst>
                                    <p:set>
                                      <p:cBhvr>
                                        <p:cTn id="20" dur="1" fill="hold">
                                          <p:stCondLst>
                                            <p:cond delay="0"/>
                                          </p:stCondLst>
                                        </p:cTn>
                                        <p:tgtEl>
                                          <p:spTgt spid="192"/>
                                        </p:tgtEl>
                                        <p:attrNameLst>
                                          <p:attrName>style.visibility</p:attrName>
                                        </p:attrNameLst>
                                      </p:cBhvr>
                                      <p:to>
                                        <p:strVal val="visible"/>
                                      </p:to>
                                    </p:set>
                                  </p:childTnLst>
                                </p:cTn>
                              </p:par>
                            </p:childTnLst>
                          </p:cTn>
                        </p:par>
                      </p:childTnLst>
                    </p:cTn>
                  </p:par>
                </p:childTnLst>
              </p:cTn>
              <p:nextCondLst>
                <p:cond evt="onClick" delay="0">
                  <p:tgtEl>
                    <p:spTgt spid="12"/>
                  </p:tgtEl>
                </p:cond>
              </p:nextCondLst>
            </p:seq>
            <p:seq concurrent="1" nextAc="seek">
              <p:cTn id="21" restart="whenNotActive" fill="hold" evtFilter="cancelBubble" nodeType="interactiveSeq">
                <p:stCondLst>
                  <p:cond evt="onClick" delay="0">
                    <p:tgtEl>
                      <p:spTgt spid="20"/>
                    </p:tgtEl>
                  </p:cond>
                </p:stCondLst>
                <p:endSync evt="end" delay="0">
                  <p:rtn val="all"/>
                </p:endSync>
                <p:childTnLst>
                  <p:par>
                    <p:cTn id="22" fill="hold">
                      <p:stCondLst>
                        <p:cond delay="0"/>
                      </p:stCondLst>
                      <p:childTnLst>
                        <p:par>
                          <p:cTn id="23" fill="hold">
                            <p:stCondLst>
                              <p:cond delay="0"/>
                            </p:stCondLst>
                            <p:childTnLst>
                              <p:par>
                                <p:cTn id="24" presetID="1" presetClass="exit" presetSubtype="0" fill="hold" grpId="0" nodeType="withEffect">
                                  <p:stCondLst>
                                    <p:cond delay="0"/>
                                  </p:stCondLst>
                                  <p:childTnLst>
                                    <p:set>
                                      <p:cBhvr>
                                        <p:cTn id="25" dur="1" fill="hold">
                                          <p:stCondLst>
                                            <p:cond delay="0"/>
                                          </p:stCondLst>
                                        </p:cTn>
                                        <p:tgtEl>
                                          <p:spTgt spid="20"/>
                                        </p:tgtEl>
                                        <p:attrNameLst>
                                          <p:attrName>style.visibility</p:attrName>
                                        </p:attrNameLst>
                                      </p:cBhvr>
                                      <p:to>
                                        <p:strVal val="hidden"/>
                                      </p:to>
                                    </p:set>
                                  </p:childTnLst>
                                </p:cTn>
                              </p:par>
                              <p:par>
                                <p:cTn id="26" presetID="1" presetClass="exit" presetSubtype="0" fill="hold" nodeType="withEffect">
                                  <p:stCondLst>
                                    <p:cond delay="0"/>
                                  </p:stCondLst>
                                  <p:childTnLst>
                                    <p:set>
                                      <p:cBhvr>
                                        <p:cTn id="27" dur="1" fill="hold">
                                          <p:stCondLst>
                                            <p:cond delay="0"/>
                                          </p:stCondLst>
                                        </p:cTn>
                                        <p:tgtEl>
                                          <p:spTgt spid="184"/>
                                        </p:tgtEl>
                                        <p:attrNameLst>
                                          <p:attrName>style.visibility</p:attrName>
                                        </p:attrNameLst>
                                      </p:cBhvr>
                                      <p:to>
                                        <p:strVal val="hidden"/>
                                      </p:to>
                                    </p:set>
                                  </p:childTnLst>
                                </p:cTn>
                              </p:par>
                              <p:par>
                                <p:cTn id="28" presetID="1" presetClass="entr" presetSubtype="0" fill="hold" nodeType="withEffect">
                                  <p:stCondLst>
                                    <p:cond delay="0"/>
                                  </p:stCondLst>
                                  <p:childTnLst>
                                    <p:set>
                                      <p:cBhvr>
                                        <p:cTn id="29" dur="1" fill="hold">
                                          <p:stCondLst>
                                            <p:cond delay="0"/>
                                          </p:stCondLst>
                                        </p:cTn>
                                        <p:tgtEl>
                                          <p:spTgt spid="22"/>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21"/>
                                        </p:tgtEl>
                                        <p:attrNameLst>
                                          <p:attrName>style.visibility</p:attrName>
                                        </p:attrNameLst>
                                      </p:cBhvr>
                                      <p:to>
                                        <p:strVal val="visible"/>
                                      </p:to>
                                    </p:set>
                                  </p:childTnLst>
                                </p:cTn>
                              </p:par>
                            </p:childTnLst>
                          </p:cTn>
                        </p:par>
                      </p:childTnLst>
                    </p:cTn>
                  </p:par>
                </p:childTnLst>
              </p:cTn>
              <p:nextCondLst>
                <p:cond evt="onClick" delay="0">
                  <p:tgtEl>
                    <p:spTgt spid="20"/>
                  </p:tgtEl>
                </p:cond>
              </p:nextCondLst>
            </p:seq>
            <p:seq concurrent="1" nextAc="seek">
              <p:cTn id="32" restart="whenNotActive" fill="hold" evtFilter="cancelBubble" nodeType="interactiveSeq">
                <p:stCondLst>
                  <p:cond evt="onClick" delay="0">
                    <p:tgtEl>
                      <p:spTgt spid="31"/>
                    </p:tgtEl>
                  </p:cond>
                </p:stCondLst>
                <p:endSync evt="end" delay="0">
                  <p:rtn val="all"/>
                </p:endSync>
                <p:childTnLst>
                  <p:par>
                    <p:cTn id="33" fill="hold">
                      <p:stCondLst>
                        <p:cond delay="0"/>
                      </p:stCondLst>
                      <p:childTnLst>
                        <p:par>
                          <p:cTn id="34" fill="hold">
                            <p:stCondLst>
                              <p:cond delay="0"/>
                            </p:stCondLst>
                            <p:childTnLst>
                              <p:par>
                                <p:cTn id="35" presetID="1" presetClass="exit" presetSubtype="0" fill="hold" grpId="0" nodeType="withEffect">
                                  <p:stCondLst>
                                    <p:cond delay="0"/>
                                  </p:stCondLst>
                                  <p:childTnLst>
                                    <p:set>
                                      <p:cBhvr>
                                        <p:cTn id="36" dur="1" fill="hold">
                                          <p:stCondLst>
                                            <p:cond delay="0"/>
                                          </p:stCondLst>
                                        </p:cTn>
                                        <p:tgtEl>
                                          <p:spTgt spid="31"/>
                                        </p:tgtEl>
                                        <p:attrNameLst>
                                          <p:attrName>style.visibility</p:attrName>
                                        </p:attrNameLst>
                                      </p:cBhvr>
                                      <p:to>
                                        <p:strVal val="hidden"/>
                                      </p:to>
                                    </p:set>
                                  </p:childTnLst>
                                </p:cTn>
                              </p:par>
                              <p:par>
                                <p:cTn id="37" presetID="1" presetClass="exit" presetSubtype="0" fill="hold" nodeType="withEffect">
                                  <p:stCondLst>
                                    <p:cond delay="0"/>
                                  </p:stCondLst>
                                  <p:childTnLst>
                                    <p:set>
                                      <p:cBhvr>
                                        <p:cTn id="38" dur="1" fill="hold">
                                          <p:stCondLst>
                                            <p:cond delay="0"/>
                                          </p:stCondLst>
                                        </p:cTn>
                                        <p:tgtEl>
                                          <p:spTgt spid="185"/>
                                        </p:tgtEl>
                                        <p:attrNameLst>
                                          <p:attrName>style.visibility</p:attrName>
                                        </p:attrNameLst>
                                      </p:cBhvr>
                                      <p:to>
                                        <p:strVal val="hidden"/>
                                      </p:to>
                                    </p:set>
                                  </p:childTnLst>
                                </p:cTn>
                              </p:par>
                              <p:par>
                                <p:cTn id="39" presetID="1" presetClass="entr" presetSubtype="0" fill="hold" nodeType="withEffect">
                                  <p:stCondLst>
                                    <p:cond delay="0"/>
                                  </p:stCondLst>
                                  <p:childTnLst>
                                    <p:set>
                                      <p:cBhvr>
                                        <p:cTn id="40" dur="1" fill="hold">
                                          <p:stCondLst>
                                            <p:cond delay="0"/>
                                          </p:stCondLst>
                                        </p:cTn>
                                        <p:tgtEl>
                                          <p:spTgt spid="34"/>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3"/>
                                        </p:tgtEl>
                                        <p:attrNameLst>
                                          <p:attrName>style.visibility</p:attrName>
                                        </p:attrNameLst>
                                      </p:cBhvr>
                                      <p:to>
                                        <p:strVal val="visible"/>
                                      </p:to>
                                    </p:set>
                                  </p:childTnLst>
                                </p:cTn>
                              </p:par>
                            </p:childTnLst>
                          </p:cTn>
                        </p:par>
                      </p:childTnLst>
                    </p:cTn>
                  </p:par>
                </p:childTnLst>
              </p:cTn>
              <p:nextCondLst>
                <p:cond evt="onClick" delay="0">
                  <p:tgtEl>
                    <p:spTgt spid="31"/>
                  </p:tgtEl>
                </p:cond>
              </p:nextCondLst>
            </p:seq>
            <p:seq concurrent="1" nextAc="seek">
              <p:cTn id="43" restart="whenNotActive" fill="hold" evtFilter="cancelBubble" nodeType="interactiveSeq">
                <p:stCondLst>
                  <p:cond evt="onClick" delay="0">
                    <p:tgtEl>
                      <p:spTgt spid="43"/>
                    </p:tgtEl>
                  </p:cond>
                </p:stCondLst>
                <p:endSync evt="end" delay="0">
                  <p:rtn val="all"/>
                </p:endSync>
                <p:childTnLst>
                  <p:par>
                    <p:cTn id="44" fill="hold">
                      <p:stCondLst>
                        <p:cond delay="0"/>
                      </p:stCondLst>
                      <p:childTnLst>
                        <p:par>
                          <p:cTn id="45" fill="hold">
                            <p:stCondLst>
                              <p:cond delay="0"/>
                            </p:stCondLst>
                            <p:childTnLst>
                              <p:par>
                                <p:cTn id="46" presetID="1" presetClass="entr" presetSubtype="0" fill="hold" grpId="1" nodeType="clickEffect">
                                  <p:stCondLst>
                                    <p:cond delay="0"/>
                                  </p:stCondLst>
                                  <p:childTnLst>
                                    <p:set>
                                      <p:cBhvr>
                                        <p:cTn id="47" dur="1" fill="hold">
                                          <p:stCondLst>
                                            <p:cond delay="0"/>
                                          </p:stCondLst>
                                        </p:cTn>
                                        <p:tgtEl>
                                          <p:spTgt spid="75"/>
                                        </p:tgtEl>
                                        <p:attrNameLst>
                                          <p:attrName>style.visibility</p:attrName>
                                        </p:attrNameLst>
                                      </p:cBhvr>
                                      <p:to>
                                        <p:strVal val="visible"/>
                                      </p:to>
                                    </p:set>
                                  </p:childTnLst>
                                </p:cTn>
                              </p:par>
                              <p:par>
                                <p:cTn id="48" presetID="1" presetClass="entr" presetSubtype="0" fill="hold" nodeType="withEffect">
                                  <p:stCondLst>
                                    <p:cond delay="0"/>
                                  </p:stCondLst>
                                  <p:childTnLst>
                                    <p:set>
                                      <p:cBhvr>
                                        <p:cTn id="49" dur="1" fill="hold">
                                          <p:stCondLst>
                                            <p:cond delay="0"/>
                                          </p:stCondLst>
                                        </p:cTn>
                                        <p:tgtEl>
                                          <p:spTgt spid="189"/>
                                        </p:tgtEl>
                                        <p:attrNameLst>
                                          <p:attrName>style.visibility</p:attrName>
                                        </p:attrNameLst>
                                      </p:cBhvr>
                                      <p:to>
                                        <p:strVal val="visible"/>
                                      </p:to>
                                    </p:set>
                                  </p:childTnLst>
                                </p:cTn>
                              </p:par>
                              <p:par>
                                <p:cTn id="50" presetID="1" presetClass="exit" presetSubtype="0" fill="hold" grpId="0" nodeType="withEffect">
                                  <p:stCondLst>
                                    <p:cond delay="0"/>
                                  </p:stCondLst>
                                  <p:childTnLst>
                                    <p:set>
                                      <p:cBhvr>
                                        <p:cTn id="51" dur="1" fill="hold">
                                          <p:stCondLst>
                                            <p:cond delay="0"/>
                                          </p:stCondLst>
                                        </p:cTn>
                                        <p:tgtEl>
                                          <p:spTgt spid="43"/>
                                        </p:tgtEl>
                                        <p:attrNameLst>
                                          <p:attrName>style.visibility</p:attrName>
                                        </p:attrNameLst>
                                      </p:cBhvr>
                                      <p:to>
                                        <p:strVal val="hidden"/>
                                      </p:to>
                                    </p:set>
                                  </p:childTnLst>
                                </p:cTn>
                              </p:par>
                              <p:par>
                                <p:cTn id="52" presetID="1" presetClass="exit" presetSubtype="0" fill="hold" nodeType="withEffect">
                                  <p:stCondLst>
                                    <p:cond delay="0"/>
                                  </p:stCondLst>
                                  <p:childTnLst>
                                    <p:set>
                                      <p:cBhvr>
                                        <p:cTn id="53" dur="1" fill="hold">
                                          <p:stCondLst>
                                            <p:cond delay="0"/>
                                          </p:stCondLst>
                                        </p:cTn>
                                        <p:tgtEl>
                                          <p:spTgt spid="186"/>
                                        </p:tgtEl>
                                        <p:attrNameLst>
                                          <p:attrName>style.visibility</p:attrName>
                                        </p:attrNameLst>
                                      </p:cBhvr>
                                      <p:to>
                                        <p:strVal val="hidden"/>
                                      </p:to>
                                    </p:set>
                                  </p:childTnLst>
                                </p:cTn>
                              </p:par>
                              <p:par>
                                <p:cTn id="54" presetID="1" presetClass="entr" presetSubtype="0" fill="hold" nodeType="withEffect">
                                  <p:stCondLst>
                                    <p:cond delay="0"/>
                                  </p:stCondLst>
                                  <p:childTnLst>
                                    <p:set>
                                      <p:cBhvr>
                                        <p:cTn id="55" dur="1" fill="hold">
                                          <p:stCondLst>
                                            <p:cond delay="0"/>
                                          </p:stCondLst>
                                        </p:cTn>
                                        <p:tgtEl>
                                          <p:spTgt spid="46"/>
                                        </p:tgtEl>
                                        <p:attrNameLst>
                                          <p:attrName>style.visibility</p:attrName>
                                        </p:attrNameLst>
                                      </p:cBhvr>
                                      <p:to>
                                        <p:strVal val="visible"/>
                                      </p:to>
                                    </p:set>
                                  </p:childTnLst>
                                </p:cTn>
                              </p:par>
                              <p:par>
                                <p:cTn id="56" presetID="1" presetClass="entr" presetSubtype="0" fill="hold" grpId="0" nodeType="withEffect">
                                  <p:stCondLst>
                                    <p:cond delay="0"/>
                                  </p:stCondLst>
                                  <p:childTnLst>
                                    <p:set>
                                      <p:cBhvr>
                                        <p:cTn id="57" dur="1" fill="hold">
                                          <p:stCondLst>
                                            <p:cond delay="0"/>
                                          </p:stCondLst>
                                        </p:cTn>
                                        <p:tgtEl>
                                          <p:spTgt spid="45"/>
                                        </p:tgtEl>
                                        <p:attrNameLst>
                                          <p:attrName>style.visibility</p:attrName>
                                        </p:attrNameLst>
                                      </p:cBhvr>
                                      <p:to>
                                        <p:strVal val="visible"/>
                                      </p:to>
                                    </p:set>
                                  </p:childTnLst>
                                </p:cTn>
                              </p:par>
                              <p:par>
                                <p:cTn id="58" presetID="1" presetClass="entr" presetSubtype="0" fill="hold" nodeType="withEffect">
                                  <p:stCondLst>
                                    <p:cond delay="0"/>
                                  </p:stCondLst>
                                  <p:childTnLst>
                                    <p:set>
                                      <p:cBhvr>
                                        <p:cTn id="59" dur="1" fill="hold">
                                          <p:stCondLst>
                                            <p:cond delay="0"/>
                                          </p:stCondLst>
                                        </p:cTn>
                                        <p:tgtEl>
                                          <p:spTgt spid="180"/>
                                        </p:tgtEl>
                                        <p:attrNameLst>
                                          <p:attrName>style.visibility</p:attrName>
                                        </p:attrNameLst>
                                      </p:cBhvr>
                                      <p:to>
                                        <p:strVal val="visible"/>
                                      </p:to>
                                    </p:set>
                                  </p:childTnLst>
                                </p:cTn>
                              </p:par>
                              <p:par>
                                <p:cTn id="60" presetID="1" presetClass="entr" presetSubtype="0" fill="hold" grpId="0" nodeType="withEffect">
                                  <p:stCondLst>
                                    <p:cond delay="0"/>
                                  </p:stCondLst>
                                  <p:childTnLst>
                                    <p:set>
                                      <p:cBhvr>
                                        <p:cTn id="61" dur="1" fill="hold">
                                          <p:stCondLst>
                                            <p:cond delay="0"/>
                                          </p:stCondLst>
                                        </p:cTn>
                                        <p:tgtEl>
                                          <p:spTgt spid="195"/>
                                        </p:tgtEl>
                                        <p:attrNameLst>
                                          <p:attrName>style.visibility</p:attrName>
                                        </p:attrNameLst>
                                      </p:cBhvr>
                                      <p:to>
                                        <p:strVal val="visible"/>
                                      </p:to>
                                    </p:set>
                                  </p:childTnLst>
                                </p:cTn>
                              </p:par>
                            </p:childTnLst>
                          </p:cTn>
                        </p:par>
                      </p:childTnLst>
                    </p:cTn>
                  </p:par>
                </p:childTnLst>
              </p:cTn>
              <p:nextCondLst>
                <p:cond evt="onClick" delay="0">
                  <p:tgtEl>
                    <p:spTgt spid="43"/>
                  </p:tgtEl>
                </p:cond>
              </p:nextCondLst>
            </p:seq>
            <p:seq concurrent="1" nextAc="seek">
              <p:cTn id="62" restart="whenNotActive" fill="hold" evtFilter="cancelBubble" nodeType="interactiveSeq">
                <p:stCondLst>
                  <p:cond evt="onClick" delay="0">
                    <p:tgtEl>
                      <p:spTgt spid="75"/>
                    </p:tgtEl>
                  </p:cond>
                </p:stCondLst>
                <p:endSync evt="end" delay="0">
                  <p:rtn val="all"/>
                </p:endSync>
                <p:childTnLst>
                  <p:par>
                    <p:cTn id="63" fill="hold">
                      <p:stCondLst>
                        <p:cond delay="0"/>
                      </p:stCondLst>
                      <p:childTnLst>
                        <p:par>
                          <p:cTn id="64" fill="hold">
                            <p:stCondLst>
                              <p:cond delay="0"/>
                            </p:stCondLst>
                            <p:childTnLst>
                              <p:par>
                                <p:cTn id="65" presetID="1" presetClass="exit" presetSubtype="0" fill="hold" grpId="0" nodeType="withEffect">
                                  <p:stCondLst>
                                    <p:cond delay="0"/>
                                  </p:stCondLst>
                                  <p:childTnLst>
                                    <p:set>
                                      <p:cBhvr>
                                        <p:cTn id="66" dur="1" fill="hold">
                                          <p:stCondLst>
                                            <p:cond delay="0"/>
                                          </p:stCondLst>
                                        </p:cTn>
                                        <p:tgtEl>
                                          <p:spTgt spid="75"/>
                                        </p:tgtEl>
                                        <p:attrNameLst>
                                          <p:attrName>style.visibility</p:attrName>
                                        </p:attrNameLst>
                                      </p:cBhvr>
                                      <p:to>
                                        <p:strVal val="hidden"/>
                                      </p:to>
                                    </p:set>
                                  </p:childTnLst>
                                </p:cTn>
                              </p:par>
                              <p:par>
                                <p:cTn id="67" presetID="1" presetClass="exit" presetSubtype="0" fill="hold" nodeType="withEffect">
                                  <p:stCondLst>
                                    <p:cond delay="0"/>
                                  </p:stCondLst>
                                  <p:childTnLst>
                                    <p:set>
                                      <p:cBhvr>
                                        <p:cTn id="68" dur="1" fill="hold">
                                          <p:stCondLst>
                                            <p:cond delay="0"/>
                                          </p:stCondLst>
                                        </p:cTn>
                                        <p:tgtEl>
                                          <p:spTgt spid="189"/>
                                        </p:tgtEl>
                                        <p:attrNameLst>
                                          <p:attrName>style.visibility</p:attrName>
                                        </p:attrNameLst>
                                      </p:cBhvr>
                                      <p:to>
                                        <p:strVal val="hidden"/>
                                      </p:to>
                                    </p:set>
                                  </p:childTnLst>
                                </p:cTn>
                              </p:par>
                              <p:par>
                                <p:cTn id="69" presetID="1" presetClass="entr" presetSubtype="0" fill="hold" nodeType="withEffect">
                                  <p:stCondLst>
                                    <p:cond delay="0"/>
                                  </p:stCondLst>
                                  <p:childTnLst>
                                    <p:set>
                                      <p:cBhvr>
                                        <p:cTn id="70" dur="1" fill="hold">
                                          <p:stCondLst>
                                            <p:cond delay="0"/>
                                          </p:stCondLst>
                                        </p:cTn>
                                        <p:tgtEl>
                                          <p:spTgt spid="77"/>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69"/>
                                        </p:tgtEl>
                                        <p:attrNameLst>
                                          <p:attrName>style.visibility</p:attrName>
                                        </p:attrNameLst>
                                      </p:cBhvr>
                                      <p:to>
                                        <p:strVal val="visible"/>
                                      </p:to>
                                    </p:set>
                                  </p:childTnLst>
                                </p:cTn>
                              </p:par>
                            </p:childTnLst>
                          </p:cTn>
                        </p:par>
                      </p:childTnLst>
                    </p:cTn>
                  </p:par>
                </p:childTnLst>
              </p:cTn>
              <p:nextCondLst>
                <p:cond evt="onClick" delay="0">
                  <p:tgtEl>
                    <p:spTgt spid="75"/>
                  </p:tgtEl>
                </p:cond>
              </p:nextCondLst>
            </p:seq>
            <p:seq concurrent="1" nextAc="seek">
              <p:cTn id="73" restart="whenNotActive" fill="hold" evtFilter="cancelBubble" nodeType="interactiveSeq">
                <p:stCondLst>
                  <p:cond evt="onClick" delay="0">
                    <p:tgtEl>
                      <p:spTgt spid="64"/>
                    </p:tgtEl>
                  </p:cond>
                </p:stCondLst>
                <p:endSync evt="end" delay="0">
                  <p:rtn val="all"/>
                </p:endSync>
                <p:childTnLst>
                  <p:par>
                    <p:cTn id="74" fill="hold">
                      <p:stCondLst>
                        <p:cond delay="0"/>
                      </p:stCondLst>
                      <p:childTnLst>
                        <p:par>
                          <p:cTn id="75" fill="hold">
                            <p:stCondLst>
                              <p:cond delay="0"/>
                            </p:stCondLst>
                            <p:childTnLst>
                              <p:par>
                                <p:cTn id="76" presetID="1" presetClass="entr" presetSubtype="0" fill="hold" grpId="1" nodeType="clickEffect">
                                  <p:stCondLst>
                                    <p:cond delay="0"/>
                                  </p:stCondLst>
                                  <p:childTnLst>
                                    <p:set>
                                      <p:cBhvr>
                                        <p:cTn id="77" dur="1" fill="hold">
                                          <p:stCondLst>
                                            <p:cond delay="0"/>
                                          </p:stCondLst>
                                        </p:cTn>
                                        <p:tgtEl>
                                          <p:spTgt spid="92"/>
                                        </p:tgtEl>
                                        <p:attrNameLst>
                                          <p:attrName>style.visibility</p:attrName>
                                        </p:attrNameLst>
                                      </p:cBhvr>
                                      <p:to>
                                        <p:strVal val="visible"/>
                                      </p:to>
                                    </p:set>
                                  </p:childTnLst>
                                </p:cTn>
                              </p:par>
                              <p:par>
                                <p:cTn id="78" presetID="1" presetClass="exit" presetSubtype="0" fill="hold" grpId="0" nodeType="withEffect">
                                  <p:stCondLst>
                                    <p:cond delay="0"/>
                                  </p:stCondLst>
                                  <p:childTnLst>
                                    <p:set>
                                      <p:cBhvr>
                                        <p:cTn id="79" dur="1" fill="hold">
                                          <p:stCondLst>
                                            <p:cond delay="0"/>
                                          </p:stCondLst>
                                        </p:cTn>
                                        <p:tgtEl>
                                          <p:spTgt spid="64"/>
                                        </p:tgtEl>
                                        <p:attrNameLst>
                                          <p:attrName>style.visibility</p:attrName>
                                        </p:attrNameLst>
                                      </p:cBhvr>
                                      <p:to>
                                        <p:strVal val="hidden"/>
                                      </p:to>
                                    </p:set>
                                  </p:childTnLst>
                                </p:cTn>
                              </p:par>
                              <p:par>
                                <p:cTn id="80" presetID="1" presetClass="exit" presetSubtype="0" fill="hold" nodeType="withEffect">
                                  <p:stCondLst>
                                    <p:cond delay="0"/>
                                  </p:stCondLst>
                                  <p:childTnLst>
                                    <p:set>
                                      <p:cBhvr>
                                        <p:cTn id="81" dur="1" fill="hold">
                                          <p:stCondLst>
                                            <p:cond delay="0"/>
                                          </p:stCondLst>
                                        </p:cTn>
                                        <p:tgtEl>
                                          <p:spTgt spid="187"/>
                                        </p:tgtEl>
                                        <p:attrNameLst>
                                          <p:attrName>style.visibility</p:attrName>
                                        </p:attrNameLst>
                                      </p:cBhvr>
                                      <p:to>
                                        <p:strVal val="hidden"/>
                                      </p:to>
                                    </p:set>
                                  </p:childTnLst>
                                </p:cTn>
                              </p:par>
                              <p:par>
                                <p:cTn id="82" presetID="1" presetClass="entr" presetSubtype="0" fill="hold" nodeType="withEffect">
                                  <p:stCondLst>
                                    <p:cond delay="0"/>
                                  </p:stCondLst>
                                  <p:childTnLst>
                                    <p:set>
                                      <p:cBhvr>
                                        <p:cTn id="83" dur="1" fill="hold">
                                          <p:stCondLst>
                                            <p:cond delay="0"/>
                                          </p:stCondLst>
                                        </p:cTn>
                                        <p:tgtEl>
                                          <p:spTgt spid="190"/>
                                        </p:tgtEl>
                                        <p:attrNameLst>
                                          <p:attrName>style.visibility</p:attrName>
                                        </p:attrNameLst>
                                      </p:cBhvr>
                                      <p:to>
                                        <p:strVal val="visible"/>
                                      </p:to>
                                    </p:set>
                                  </p:childTnLst>
                                </p:cTn>
                              </p:par>
                              <p:par>
                                <p:cTn id="84" presetID="1" presetClass="entr" presetSubtype="0" fill="hold" nodeType="withEffect">
                                  <p:stCondLst>
                                    <p:cond delay="0"/>
                                  </p:stCondLst>
                                  <p:childTnLst>
                                    <p:set>
                                      <p:cBhvr>
                                        <p:cTn id="85" dur="1" fill="hold">
                                          <p:stCondLst>
                                            <p:cond delay="0"/>
                                          </p:stCondLst>
                                        </p:cTn>
                                        <p:tgtEl>
                                          <p:spTgt spid="101"/>
                                        </p:tgtEl>
                                        <p:attrNameLst>
                                          <p:attrName>style.visibility</p:attrName>
                                        </p:attrNameLst>
                                      </p:cBhvr>
                                      <p:to>
                                        <p:strVal val="visible"/>
                                      </p:to>
                                    </p:set>
                                  </p:childTnLst>
                                </p:cTn>
                              </p:par>
                              <p:par>
                                <p:cTn id="86" presetID="1" presetClass="entr" presetSubtype="0" fill="hold" grpId="0" nodeType="withEffect">
                                  <p:stCondLst>
                                    <p:cond delay="0"/>
                                  </p:stCondLst>
                                  <p:childTnLst>
                                    <p:set>
                                      <p:cBhvr>
                                        <p:cTn id="87" dur="1" fill="hold">
                                          <p:stCondLst>
                                            <p:cond delay="0"/>
                                          </p:stCondLst>
                                        </p:cTn>
                                        <p:tgtEl>
                                          <p:spTgt spid="65"/>
                                        </p:tgtEl>
                                        <p:attrNameLst>
                                          <p:attrName>style.visibility</p:attrName>
                                        </p:attrNameLst>
                                      </p:cBhvr>
                                      <p:to>
                                        <p:strVal val="visible"/>
                                      </p:to>
                                    </p:set>
                                  </p:childTnLst>
                                </p:cTn>
                              </p:par>
                              <p:par>
                                <p:cTn id="88" presetID="1" presetClass="entr" presetSubtype="0" fill="hold" nodeType="withEffect">
                                  <p:stCondLst>
                                    <p:cond delay="0"/>
                                  </p:stCondLst>
                                  <p:childTnLst>
                                    <p:set>
                                      <p:cBhvr>
                                        <p:cTn id="89" dur="1" fill="hold">
                                          <p:stCondLst>
                                            <p:cond delay="0"/>
                                          </p:stCondLst>
                                        </p:cTn>
                                        <p:tgtEl>
                                          <p:spTgt spid="86"/>
                                        </p:tgtEl>
                                        <p:attrNameLst>
                                          <p:attrName>style.visibility</p:attrName>
                                        </p:attrNameLst>
                                      </p:cBhvr>
                                      <p:to>
                                        <p:strVal val="visible"/>
                                      </p:to>
                                    </p:set>
                                  </p:childTnLst>
                                </p:cTn>
                              </p:par>
                              <p:par>
                                <p:cTn id="90" presetID="1" presetClass="entr" presetSubtype="0" fill="hold" nodeType="withEffect">
                                  <p:stCondLst>
                                    <p:cond delay="0"/>
                                  </p:stCondLst>
                                  <p:childTnLst>
                                    <p:set>
                                      <p:cBhvr>
                                        <p:cTn id="91" dur="1" fill="hold">
                                          <p:stCondLst>
                                            <p:cond delay="0"/>
                                          </p:stCondLst>
                                        </p:cTn>
                                        <p:tgtEl>
                                          <p:spTgt spid="190"/>
                                        </p:tgtEl>
                                        <p:attrNameLst>
                                          <p:attrName>style.visibility</p:attrName>
                                        </p:attrNameLst>
                                      </p:cBhvr>
                                      <p:to>
                                        <p:strVal val="visible"/>
                                      </p:to>
                                    </p:set>
                                  </p:childTnLst>
                                </p:cTn>
                              </p:par>
                              <p:par>
                                <p:cTn id="92" presetID="1" presetClass="entr" presetSubtype="0" fill="hold" grpId="0" nodeType="withEffect">
                                  <p:stCondLst>
                                    <p:cond delay="0"/>
                                  </p:stCondLst>
                                  <p:childTnLst>
                                    <p:set>
                                      <p:cBhvr>
                                        <p:cTn id="93" dur="1" fill="hold">
                                          <p:stCondLst>
                                            <p:cond delay="0"/>
                                          </p:stCondLst>
                                        </p:cTn>
                                        <p:tgtEl>
                                          <p:spTgt spid="198"/>
                                        </p:tgtEl>
                                        <p:attrNameLst>
                                          <p:attrName>style.visibility</p:attrName>
                                        </p:attrNameLst>
                                      </p:cBhvr>
                                      <p:to>
                                        <p:strVal val="visible"/>
                                      </p:to>
                                    </p:set>
                                  </p:childTnLst>
                                </p:cTn>
                              </p:par>
                            </p:childTnLst>
                          </p:cTn>
                        </p:par>
                      </p:childTnLst>
                    </p:cTn>
                  </p:par>
                </p:childTnLst>
              </p:cTn>
              <p:nextCondLst>
                <p:cond evt="onClick" delay="0">
                  <p:tgtEl>
                    <p:spTgt spid="64"/>
                  </p:tgtEl>
                </p:cond>
              </p:nextCondLst>
            </p:seq>
            <p:seq concurrent="1" nextAc="seek">
              <p:cTn id="94" restart="whenNotActive" fill="hold" evtFilter="cancelBubble" nodeType="interactiveSeq">
                <p:stCondLst>
                  <p:cond evt="onClick" delay="0">
                    <p:tgtEl>
                      <p:spTgt spid="92"/>
                    </p:tgtEl>
                  </p:cond>
                </p:stCondLst>
                <p:endSync evt="end" delay="0">
                  <p:rtn val="all"/>
                </p:endSync>
                <p:childTnLst>
                  <p:par>
                    <p:cTn id="95" fill="hold">
                      <p:stCondLst>
                        <p:cond delay="0"/>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133"/>
                                        </p:tgtEl>
                                        <p:attrNameLst>
                                          <p:attrName>style.visibility</p:attrName>
                                        </p:attrNameLst>
                                      </p:cBhvr>
                                      <p:to>
                                        <p:strVal val="visible"/>
                                      </p:to>
                                    </p:set>
                                  </p:childTnLst>
                                </p:cTn>
                              </p:par>
                              <p:par>
                                <p:cTn id="99" presetID="1" presetClass="exit" presetSubtype="0" fill="hold" grpId="0" nodeType="withEffect">
                                  <p:stCondLst>
                                    <p:cond delay="0"/>
                                  </p:stCondLst>
                                  <p:childTnLst>
                                    <p:set>
                                      <p:cBhvr>
                                        <p:cTn id="100" dur="1" fill="hold">
                                          <p:stCondLst>
                                            <p:cond delay="0"/>
                                          </p:stCondLst>
                                        </p:cTn>
                                        <p:tgtEl>
                                          <p:spTgt spid="92"/>
                                        </p:tgtEl>
                                        <p:attrNameLst>
                                          <p:attrName>style.visibility</p:attrName>
                                        </p:attrNameLst>
                                      </p:cBhvr>
                                      <p:to>
                                        <p:strVal val="hidden"/>
                                      </p:to>
                                    </p:set>
                                  </p:childTnLst>
                                </p:cTn>
                              </p:par>
                              <p:par>
                                <p:cTn id="101" presetID="1" presetClass="exit" presetSubtype="0" fill="hold" nodeType="withEffect">
                                  <p:stCondLst>
                                    <p:cond delay="0"/>
                                  </p:stCondLst>
                                  <p:childTnLst>
                                    <p:set>
                                      <p:cBhvr>
                                        <p:cTn id="102" dur="1" fill="hold">
                                          <p:stCondLst>
                                            <p:cond delay="0"/>
                                          </p:stCondLst>
                                        </p:cTn>
                                        <p:tgtEl>
                                          <p:spTgt spid="190"/>
                                        </p:tgtEl>
                                        <p:attrNameLst>
                                          <p:attrName>style.visibility</p:attrName>
                                        </p:attrNameLst>
                                      </p:cBhvr>
                                      <p:to>
                                        <p:strVal val="hidden"/>
                                      </p:to>
                                    </p:set>
                                  </p:childTnLst>
                                </p:cTn>
                              </p:par>
                              <p:par>
                                <p:cTn id="103" presetID="1" presetClass="entr" presetSubtype="0" fill="hold" grpId="0" nodeType="withEffect">
                                  <p:stCondLst>
                                    <p:cond delay="0"/>
                                  </p:stCondLst>
                                  <p:childTnLst>
                                    <p:set>
                                      <p:cBhvr>
                                        <p:cTn id="104" dur="1" fill="hold">
                                          <p:stCondLst>
                                            <p:cond delay="0"/>
                                          </p:stCondLst>
                                        </p:cTn>
                                        <p:tgtEl>
                                          <p:spTgt spid="141"/>
                                        </p:tgtEl>
                                        <p:attrNameLst>
                                          <p:attrName>style.visibility</p:attrName>
                                        </p:attrNameLst>
                                      </p:cBhvr>
                                      <p:to>
                                        <p:strVal val="visible"/>
                                      </p:to>
                                    </p:set>
                                  </p:childTnLst>
                                </p:cTn>
                              </p:par>
                              <p:par>
                                <p:cTn id="105" presetID="1" presetClass="entr" presetSubtype="0" fill="hold" nodeType="withEffect">
                                  <p:stCondLst>
                                    <p:cond delay="0"/>
                                  </p:stCondLst>
                                  <p:childTnLst>
                                    <p:set>
                                      <p:cBhvr>
                                        <p:cTn id="106" dur="1" fill="hold">
                                          <p:stCondLst>
                                            <p:cond delay="0"/>
                                          </p:stCondLst>
                                        </p:cTn>
                                        <p:tgtEl>
                                          <p:spTgt spid="106"/>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137"/>
                                        </p:tgtEl>
                                        <p:attrNameLst>
                                          <p:attrName>style.visibility</p:attrName>
                                        </p:attrNameLst>
                                      </p:cBhvr>
                                      <p:to>
                                        <p:strVal val="visible"/>
                                      </p:to>
                                    </p:set>
                                  </p:childTnLst>
                                </p:cTn>
                              </p:par>
                              <p:par>
                                <p:cTn id="109" presetID="1" presetClass="entr" presetSubtype="0" fill="hold" grpId="0" nodeType="withEffect">
                                  <p:stCondLst>
                                    <p:cond delay="0"/>
                                  </p:stCondLst>
                                  <p:childTnLst>
                                    <p:set>
                                      <p:cBhvr>
                                        <p:cTn id="110" dur="1" fill="hold">
                                          <p:stCondLst>
                                            <p:cond delay="0"/>
                                          </p:stCondLst>
                                        </p:cTn>
                                        <p:tgtEl>
                                          <p:spTgt spid="139"/>
                                        </p:tgtEl>
                                        <p:attrNameLst>
                                          <p:attrName>style.visibility</p:attrName>
                                        </p:attrNameLst>
                                      </p:cBhvr>
                                      <p:to>
                                        <p:strVal val="visible"/>
                                      </p:to>
                                    </p:set>
                                  </p:childTnLst>
                                </p:cTn>
                              </p:par>
                              <p:par>
                                <p:cTn id="111" presetID="1" presetClass="entr" presetSubtype="0" fill="hold" grpId="0" nodeType="withEffect">
                                  <p:stCondLst>
                                    <p:cond delay="0"/>
                                  </p:stCondLst>
                                  <p:childTnLst>
                                    <p:set>
                                      <p:cBhvr>
                                        <p:cTn id="112" dur="1" fill="hold">
                                          <p:stCondLst>
                                            <p:cond delay="0"/>
                                          </p:stCondLst>
                                        </p:cTn>
                                        <p:tgtEl>
                                          <p:spTgt spid="91"/>
                                        </p:tgtEl>
                                        <p:attrNameLst>
                                          <p:attrName>style.visibility</p:attrName>
                                        </p:attrNameLst>
                                      </p:cBhvr>
                                      <p:to>
                                        <p:strVal val="visible"/>
                                      </p:to>
                                    </p:set>
                                  </p:childTnLst>
                                </p:cTn>
                              </p:par>
                            </p:childTnLst>
                          </p:cTn>
                        </p:par>
                      </p:childTnLst>
                    </p:cTn>
                  </p:par>
                </p:childTnLst>
              </p:cTn>
              <p:nextCondLst>
                <p:cond evt="onClick" delay="0">
                  <p:tgtEl>
                    <p:spTgt spid="92"/>
                  </p:tgtEl>
                </p:cond>
              </p:nextCondLst>
            </p:seq>
            <p:seq concurrent="1" nextAc="seek">
              <p:cTn id="113" restart="whenNotActive" fill="hold" evtFilter="cancelBubble" nodeType="interactiveSeq">
                <p:stCondLst>
                  <p:cond evt="onClick" delay="0">
                    <p:tgtEl>
                      <p:spTgt spid="149"/>
                    </p:tgtEl>
                  </p:cond>
                </p:stCondLst>
                <p:endSync evt="end" delay="0">
                  <p:rtn val="all"/>
                </p:endSync>
                <p:childTnLst>
                  <p:par>
                    <p:cTn id="114" fill="hold">
                      <p:stCondLst>
                        <p:cond delay="0"/>
                      </p:stCondLst>
                      <p:childTnLst>
                        <p:par>
                          <p:cTn id="115" fill="hold">
                            <p:stCondLst>
                              <p:cond delay="0"/>
                            </p:stCondLst>
                            <p:childTnLst>
                              <p:par>
                                <p:cTn id="116" presetID="1" presetClass="exit" presetSubtype="0" fill="hold" grpId="0" nodeType="withEffect">
                                  <p:stCondLst>
                                    <p:cond delay="0"/>
                                  </p:stCondLst>
                                  <p:childTnLst>
                                    <p:set>
                                      <p:cBhvr>
                                        <p:cTn id="117" dur="1" fill="hold">
                                          <p:stCondLst>
                                            <p:cond delay="0"/>
                                          </p:stCondLst>
                                        </p:cTn>
                                        <p:tgtEl>
                                          <p:spTgt spid="149"/>
                                        </p:tgtEl>
                                        <p:attrNameLst>
                                          <p:attrName>style.visibility</p:attrName>
                                        </p:attrNameLst>
                                      </p:cBhvr>
                                      <p:to>
                                        <p:strVal val="hidden"/>
                                      </p:to>
                                    </p:set>
                                  </p:childTnLst>
                                </p:cTn>
                              </p:par>
                              <p:par>
                                <p:cTn id="118" presetID="1" presetClass="exit" presetSubtype="0" fill="hold" nodeType="withEffect">
                                  <p:stCondLst>
                                    <p:cond delay="0"/>
                                  </p:stCondLst>
                                  <p:childTnLst>
                                    <p:set>
                                      <p:cBhvr>
                                        <p:cTn id="119" dur="1" fill="hold">
                                          <p:stCondLst>
                                            <p:cond delay="0"/>
                                          </p:stCondLst>
                                        </p:cTn>
                                        <p:tgtEl>
                                          <p:spTgt spid="188"/>
                                        </p:tgtEl>
                                        <p:attrNameLst>
                                          <p:attrName>style.visibility</p:attrName>
                                        </p:attrNameLst>
                                      </p:cBhvr>
                                      <p:to>
                                        <p:strVal val="hidden"/>
                                      </p:to>
                                    </p:set>
                                  </p:childTnLst>
                                </p:cTn>
                              </p:par>
                              <p:par>
                                <p:cTn id="120" presetID="1" presetClass="entr" presetSubtype="0" fill="hold" nodeType="withEffect">
                                  <p:stCondLst>
                                    <p:cond delay="0"/>
                                  </p:stCondLst>
                                  <p:childTnLst>
                                    <p:set>
                                      <p:cBhvr>
                                        <p:cTn id="121" dur="1" fill="hold">
                                          <p:stCondLst>
                                            <p:cond delay="0"/>
                                          </p:stCondLst>
                                        </p:cTn>
                                        <p:tgtEl>
                                          <p:spTgt spid="156"/>
                                        </p:tgtEl>
                                        <p:attrNameLst>
                                          <p:attrName>style.visibility</p:attrName>
                                        </p:attrNameLst>
                                      </p:cBhvr>
                                      <p:to>
                                        <p:strVal val="visible"/>
                                      </p:to>
                                    </p:set>
                                  </p:childTnLst>
                                </p:cTn>
                              </p:par>
                              <p:par>
                                <p:cTn id="122" presetID="1" presetClass="entr" presetSubtype="0" fill="hold" grpId="0" nodeType="withEffect">
                                  <p:stCondLst>
                                    <p:cond delay="0"/>
                                  </p:stCondLst>
                                  <p:childTnLst>
                                    <p:set>
                                      <p:cBhvr>
                                        <p:cTn id="123" dur="1" fill="hold">
                                          <p:stCondLst>
                                            <p:cond delay="0"/>
                                          </p:stCondLst>
                                        </p:cTn>
                                        <p:tgtEl>
                                          <p:spTgt spid="155"/>
                                        </p:tgtEl>
                                        <p:attrNameLst>
                                          <p:attrName>style.visibility</p:attrName>
                                        </p:attrNameLst>
                                      </p:cBhvr>
                                      <p:to>
                                        <p:strVal val="visible"/>
                                      </p:to>
                                    </p:set>
                                  </p:childTnLst>
                                </p:cTn>
                              </p:par>
                            </p:childTnLst>
                          </p:cTn>
                        </p:par>
                      </p:childTnLst>
                    </p:cTn>
                  </p:par>
                </p:childTnLst>
              </p:cTn>
              <p:nextCondLst>
                <p:cond evt="onClick" delay="0">
                  <p:tgtEl>
                    <p:spTgt spid="149"/>
                  </p:tgtEl>
                </p:cond>
              </p:nextCondLst>
            </p:seq>
            <p:seq concurrent="1" nextAc="seek">
              <p:cTn id="124" restart="whenNotActive" fill="hold" evtFilter="cancelBubble" nodeType="interactiveSeq">
                <p:stCondLst>
                  <p:cond evt="onClick" delay="0">
                    <p:tgtEl>
                      <p:spTgt spid="199"/>
                    </p:tgtEl>
                  </p:cond>
                </p:stCondLst>
                <p:endSync evt="end" delay="0">
                  <p:rtn val="all"/>
                </p:endSync>
                <p:childTnLst>
                  <p:par>
                    <p:cTn id="125" fill="hold">
                      <p:stCondLst>
                        <p:cond delay="0"/>
                      </p:stCondLst>
                      <p:childTnLst>
                        <p:par>
                          <p:cTn id="126" fill="hold">
                            <p:stCondLst>
                              <p:cond delay="0"/>
                            </p:stCondLst>
                            <p:childTnLst>
                              <p:par>
                                <p:cTn id="127" presetID="1" presetClass="exit" presetSubtype="0" fill="hold" grpId="0" nodeType="withEffect">
                                  <p:stCondLst>
                                    <p:cond delay="0"/>
                                  </p:stCondLst>
                                  <p:childTnLst>
                                    <p:set>
                                      <p:cBhvr>
                                        <p:cTn id="128" dur="1" fill="hold">
                                          <p:stCondLst>
                                            <p:cond delay="0"/>
                                          </p:stCondLst>
                                        </p:cTn>
                                        <p:tgtEl>
                                          <p:spTgt spid="199"/>
                                        </p:tgtEl>
                                        <p:attrNameLst>
                                          <p:attrName>style.visibility</p:attrName>
                                        </p:attrNameLst>
                                      </p:cBhvr>
                                      <p:to>
                                        <p:strVal val="hidden"/>
                                      </p:to>
                                    </p:set>
                                  </p:childTnLst>
                                </p:cTn>
                              </p:par>
                            </p:childTnLst>
                          </p:cTn>
                        </p:par>
                      </p:childTnLst>
                    </p:cTn>
                  </p:par>
                </p:childTnLst>
              </p:cTn>
              <p:nextCondLst>
                <p:cond evt="onClick" delay="0">
                  <p:tgtEl>
                    <p:spTgt spid="199"/>
                  </p:tgtEl>
                </p:cond>
              </p:nextCondLst>
            </p:seq>
          </p:childTnLst>
        </p:cTn>
      </p:par>
    </p:tnLst>
    <p:bldLst>
      <p:bldP spid="199" grpId="0" animBg="1"/>
      <p:bldP spid="198" grpId="0" animBg="1"/>
      <p:bldP spid="195" grpId="0" animBg="1"/>
      <p:bldP spid="192" grpId="0" animBg="1"/>
      <p:bldP spid="12" grpId="0" animBg="1"/>
      <p:bldP spid="14" grpId="0" animBg="1"/>
      <p:bldP spid="20" grpId="0" animBg="1"/>
      <p:bldP spid="20" grpId="1" animBg="1"/>
      <p:bldP spid="21" grpId="0" animBg="1"/>
      <p:bldP spid="31" grpId="0" animBg="1"/>
      <p:bldP spid="33" grpId="0" animBg="1"/>
      <p:bldP spid="43" grpId="0" animBg="1"/>
      <p:bldP spid="45" grpId="0" animBg="1"/>
      <p:bldP spid="64" grpId="0" animBg="1"/>
      <p:bldP spid="65" grpId="0" animBg="1"/>
      <p:bldP spid="69" grpId="0" animBg="1"/>
      <p:bldP spid="75" grpId="0" animBg="1"/>
      <p:bldP spid="75" grpId="1" animBg="1"/>
      <p:bldP spid="91" grpId="0" animBg="1"/>
      <p:bldP spid="92" grpId="0" animBg="1"/>
      <p:bldP spid="92" grpId="1" animBg="1"/>
      <p:bldP spid="137" grpId="0" animBg="1"/>
      <p:bldP spid="139" grpId="0" animBg="1"/>
      <p:bldP spid="141" grpId="0" animBg="1"/>
      <p:bldP spid="149" grpId="0" animBg="1"/>
      <p:bldP spid="155"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8" name="Straight Connector 57">
            <a:extLst>
              <a:ext uri="{FF2B5EF4-FFF2-40B4-BE49-F238E27FC236}">
                <a16:creationId xmlns:a16="http://schemas.microsoft.com/office/drawing/2014/main" id="{480162AB-D66F-4907-84CC-EB964DF0A3A7}"/>
              </a:ext>
            </a:extLst>
          </p:cNvPr>
          <p:cNvCxnSpPr>
            <a:cxnSpLocks/>
          </p:cNvCxnSpPr>
          <p:nvPr/>
        </p:nvCxnSpPr>
        <p:spPr>
          <a:xfrm>
            <a:off x="6757583" y="198720"/>
            <a:ext cx="0" cy="6460559"/>
          </a:xfrm>
          <a:prstGeom prst="line">
            <a:avLst/>
          </a:prstGeom>
          <a:ln w="38100">
            <a:solidFill>
              <a:schemeClr val="accent5"/>
            </a:solidFill>
          </a:ln>
        </p:spPr>
        <p:style>
          <a:lnRef idx="1">
            <a:schemeClr val="accent1"/>
          </a:lnRef>
          <a:fillRef idx="0">
            <a:schemeClr val="accent1"/>
          </a:fillRef>
          <a:effectRef idx="0">
            <a:schemeClr val="accent1"/>
          </a:effectRef>
          <a:fontRef idx="minor">
            <a:schemeClr val="tx1"/>
          </a:fontRef>
        </p:style>
      </p:cxnSp>
      <p:sp>
        <p:nvSpPr>
          <p:cNvPr id="62" name="Case 1">
            <a:extLst>
              <a:ext uri="{FF2B5EF4-FFF2-40B4-BE49-F238E27FC236}">
                <a16:creationId xmlns:a16="http://schemas.microsoft.com/office/drawing/2014/main" id="{08E5DED2-1340-45E7-BF45-FDDCDF7882CA}"/>
              </a:ext>
            </a:extLst>
          </p:cNvPr>
          <p:cNvSpPr/>
          <p:nvPr/>
        </p:nvSpPr>
        <p:spPr>
          <a:xfrm>
            <a:off x="3765293" y="177553"/>
            <a:ext cx="1271781" cy="412786"/>
          </a:xfrm>
          <a:prstGeom prst="roundRect">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Case 1</a:t>
            </a:r>
          </a:p>
        </p:txBody>
      </p:sp>
      <p:sp>
        <p:nvSpPr>
          <p:cNvPr id="66" name="Case 1 text">
            <a:extLst>
              <a:ext uri="{FF2B5EF4-FFF2-40B4-BE49-F238E27FC236}">
                <a16:creationId xmlns:a16="http://schemas.microsoft.com/office/drawing/2014/main" id="{CF9C4C8B-1BD4-4595-BD21-232C4B25318E}"/>
              </a:ext>
            </a:extLst>
          </p:cNvPr>
          <p:cNvSpPr txBox="1"/>
          <p:nvPr/>
        </p:nvSpPr>
        <p:spPr>
          <a:xfrm>
            <a:off x="2076484" y="708984"/>
            <a:ext cx="4495779" cy="1015663"/>
          </a:xfrm>
          <a:prstGeom prst="rect">
            <a:avLst/>
          </a:prstGeom>
          <a:noFill/>
        </p:spPr>
        <p:txBody>
          <a:bodyPr wrap="square" lIns="91440" tIns="45720" rIns="91440" bIns="45720" rtlCol="0" anchor="t">
            <a:spAutoFit/>
          </a:bodyPr>
          <a:lstStyle/>
          <a:p>
            <a:pPr lvl="0"/>
            <a:r>
              <a:rPr lang="en-US" sz="1500" dirty="0"/>
              <a:t>60-year-old with 60 pack-year of smoking presents with progressive shortness of breath and cough. They report breathlessness when walking 100ft on flat ground. No history of hospitalizations for these symptoms.</a:t>
            </a:r>
            <a:endParaRPr lang="en-US" sz="1500" dirty="0">
              <a:ea typeface="+mn-lt"/>
              <a:cs typeface="+mn-lt"/>
            </a:endParaRPr>
          </a:p>
        </p:txBody>
      </p:sp>
      <p:sp>
        <p:nvSpPr>
          <p:cNvPr id="68" name="Case 1 - Q 1">
            <a:extLst>
              <a:ext uri="{FF2B5EF4-FFF2-40B4-BE49-F238E27FC236}">
                <a16:creationId xmlns:a16="http://schemas.microsoft.com/office/drawing/2014/main" id="{12566F78-1741-44F0-9637-6396E0B6119D}"/>
              </a:ext>
            </a:extLst>
          </p:cNvPr>
          <p:cNvSpPr/>
          <p:nvPr/>
        </p:nvSpPr>
        <p:spPr>
          <a:xfrm>
            <a:off x="2084093" y="1798387"/>
            <a:ext cx="4480560" cy="612934"/>
          </a:xfrm>
          <a:prstGeom prst="roundRect">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r>
              <a:rPr lang="en-US" sz="1500" dirty="0"/>
              <a:t>What additional work-up is needed to evaluate his respiratory symptoms?</a:t>
            </a:r>
          </a:p>
        </p:txBody>
      </p:sp>
      <p:sp>
        <p:nvSpPr>
          <p:cNvPr id="83" name="Case 1 - Q 2">
            <a:extLst>
              <a:ext uri="{FF2B5EF4-FFF2-40B4-BE49-F238E27FC236}">
                <a16:creationId xmlns:a16="http://schemas.microsoft.com/office/drawing/2014/main" id="{D231BBBF-3579-47D9-B061-067319905C7E}"/>
              </a:ext>
            </a:extLst>
          </p:cNvPr>
          <p:cNvSpPr/>
          <p:nvPr/>
        </p:nvSpPr>
        <p:spPr>
          <a:xfrm>
            <a:off x="2084093" y="3478674"/>
            <a:ext cx="4480560" cy="365760"/>
          </a:xfrm>
          <a:prstGeom prst="roundRect">
            <a:avLst>
              <a:gd name="adj" fmla="val 10321"/>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r>
              <a:rPr lang="en-US" sz="1500" dirty="0"/>
              <a:t>Diagnosis?</a:t>
            </a:r>
          </a:p>
        </p:txBody>
      </p:sp>
      <p:sp>
        <p:nvSpPr>
          <p:cNvPr id="84" name="Case 1 - Q 3">
            <a:extLst>
              <a:ext uri="{FF2B5EF4-FFF2-40B4-BE49-F238E27FC236}">
                <a16:creationId xmlns:a16="http://schemas.microsoft.com/office/drawing/2014/main" id="{9E87CECC-15F1-4999-8C04-A9508D95123B}"/>
              </a:ext>
            </a:extLst>
          </p:cNvPr>
          <p:cNvSpPr/>
          <p:nvPr/>
        </p:nvSpPr>
        <p:spPr>
          <a:xfrm>
            <a:off x="2084093" y="4278848"/>
            <a:ext cx="4480560" cy="365760"/>
          </a:xfrm>
          <a:prstGeom prst="roundRect">
            <a:avLst>
              <a:gd name="adj" fmla="val 13824"/>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dirty="0"/>
              <a:t>Next step in management?</a:t>
            </a:r>
          </a:p>
        </p:txBody>
      </p:sp>
      <p:sp>
        <p:nvSpPr>
          <p:cNvPr id="85" name="Case 1 - Q 4">
            <a:extLst>
              <a:ext uri="{FF2B5EF4-FFF2-40B4-BE49-F238E27FC236}">
                <a16:creationId xmlns:a16="http://schemas.microsoft.com/office/drawing/2014/main" id="{5AF5089A-C391-40C8-9E1B-66D846F8B1FF}"/>
              </a:ext>
            </a:extLst>
          </p:cNvPr>
          <p:cNvSpPr/>
          <p:nvPr/>
        </p:nvSpPr>
        <p:spPr>
          <a:xfrm>
            <a:off x="1687111" y="5764883"/>
            <a:ext cx="4877542" cy="365760"/>
          </a:xfrm>
          <a:prstGeom prst="roundRect">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r>
              <a:rPr lang="en-US" sz="1500"/>
              <a:t>Inhaler selection?</a:t>
            </a:r>
          </a:p>
        </p:txBody>
      </p:sp>
      <p:sp>
        <p:nvSpPr>
          <p:cNvPr id="86" name="Case 1 - A 1">
            <a:extLst>
              <a:ext uri="{FF2B5EF4-FFF2-40B4-BE49-F238E27FC236}">
                <a16:creationId xmlns:a16="http://schemas.microsoft.com/office/drawing/2014/main" id="{BF95E4B6-F270-4558-B08C-C5B2F8EA27A1}"/>
              </a:ext>
            </a:extLst>
          </p:cNvPr>
          <p:cNvSpPr/>
          <p:nvPr/>
        </p:nvSpPr>
        <p:spPr>
          <a:xfrm>
            <a:off x="2129813" y="2499733"/>
            <a:ext cx="4389120" cy="890574"/>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500" b="1" dirty="0"/>
              <a:t>Labs: </a:t>
            </a:r>
            <a:r>
              <a:rPr lang="en-US" sz="1500" dirty="0"/>
              <a:t>CBC (absolute </a:t>
            </a:r>
            <a:r>
              <a:rPr lang="en-US" sz="1500" dirty="0" err="1"/>
              <a:t>eos</a:t>
            </a:r>
            <a:r>
              <a:rPr lang="en-US" sz="1500" dirty="0"/>
              <a:t> = 250), BNP</a:t>
            </a:r>
          </a:p>
          <a:p>
            <a:pPr algn="ctr"/>
            <a:r>
              <a:rPr lang="en-US" sz="1500" b="1" dirty="0"/>
              <a:t>CXR </a:t>
            </a:r>
            <a:r>
              <a:rPr lang="en-US" sz="1500" dirty="0"/>
              <a:t>– hyperinflation, no other notable findings</a:t>
            </a:r>
          </a:p>
          <a:p>
            <a:pPr algn="ctr"/>
            <a:r>
              <a:rPr lang="en-US" sz="1500" b="1" dirty="0"/>
              <a:t>Spirometry</a:t>
            </a:r>
            <a:r>
              <a:rPr lang="en-US" sz="1500" dirty="0"/>
              <a:t> – post bronchodilator FEV1 60% and FEV1/FVC = 55%</a:t>
            </a:r>
          </a:p>
        </p:txBody>
      </p:sp>
      <p:sp>
        <p:nvSpPr>
          <p:cNvPr id="87" name="Case 1 - A 2">
            <a:extLst>
              <a:ext uri="{FF2B5EF4-FFF2-40B4-BE49-F238E27FC236}">
                <a16:creationId xmlns:a16="http://schemas.microsoft.com/office/drawing/2014/main" id="{F6BA2DC2-5BE9-423D-BB4A-E41755EFDD10}"/>
              </a:ext>
            </a:extLst>
          </p:cNvPr>
          <p:cNvSpPr/>
          <p:nvPr/>
        </p:nvSpPr>
        <p:spPr>
          <a:xfrm>
            <a:off x="2129813" y="3864340"/>
            <a:ext cx="4389120" cy="331630"/>
          </a:xfrm>
          <a:prstGeom prst="rect">
            <a:avLst/>
          </a:prstGeom>
          <a:no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500" b="1" dirty="0"/>
              <a:t>COPD Group B</a:t>
            </a:r>
          </a:p>
        </p:txBody>
      </p:sp>
      <p:sp>
        <p:nvSpPr>
          <p:cNvPr id="88" name="Case 1 - A 3">
            <a:extLst>
              <a:ext uri="{FF2B5EF4-FFF2-40B4-BE49-F238E27FC236}">
                <a16:creationId xmlns:a16="http://schemas.microsoft.com/office/drawing/2014/main" id="{E1B55422-5D93-45B8-A142-658CF8586663}"/>
              </a:ext>
            </a:extLst>
          </p:cNvPr>
          <p:cNvSpPr/>
          <p:nvPr/>
        </p:nvSpPr>
        <p:spPr>
          <a:xfrm>
            <a:off x="2129813" y="4772664"/>
            <a:ext cx="4389120" cy="823195"/>
          </a:xfrm>
          <a:prstGeom prst="rect">
            <a:avLst/>
          </a:prstGeom>
          <a:no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500" b="1" dirty="0"/>
              <a:t>LABA + LAMA + PRN SABA or SAMA</a:t>
            </a:r>
          </a:p>
          <a:p>
            <a:pPr algn="ctr"/>
            <a:r>
              <a:rPr lang="en-US" sz="1500" b="1" dirty="0"/>
              <a:t>Smoking cessation</a:t>
            </a:r>
            <a:endParaRPr lang="en-US" sz="1500" dirty="0"/>
          </a:p>
          <a:p>
            <a:pPr algn="ctr"/>
            <a:r>
              <a:rPr lang="en-US" sz="1500" b="1" dirty="0"/>
              <a:t>Vaccinations </a:t>
            </a:r>
            <a:r>
              <a:rPr lang="en-US" sz="1500" dirty="0"/>
              <a:t>– annual influenza, PPSV23 </a:t>
            </a:r>
          </a:p>
          <a:p>
            <a:pPr algn="ctr"/>
            <a:r>
              <a:rPr lang="en-US" sz="1500" b="1" dirty="0"/>
              <a:t>Pulmonary rehabilitation therapy</a:t>
            </a:r>
          </a:p>
        </p:txBody>
      </p:sp>
      <p:sp>
        <p:nvSpPr>
          <p:cNvPr id="89" name="Case 1 - A 4">
            <a:extLst>
              <a:ext uri="{FF2B5EF4-FFF2-40B4-BE49-F238E27FC236}">
                <a16:creationId xmlns:a16="http://schemas.microsoft.com/office/drawing/2014/main" id="{C0D94844-99A6-4ED7-909F-4206F82CC3D0}"/>
              </a:ext>
            </a:extLst>
          </p:cNvPr>
          <p:cNvSpPr/>
          <p:nvPr/>
        </p:nvSpPr>
        <p:spPr>
          <a:xfrm>
            <a:off x="1687111" y="6178393"/>
            <a:ext cx="4950143" cy="515622"/>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500" b="1" dirty="0"/>
              <a:t>One or two short acting</a:t>
            </a:r>
            <a:r>
              <a:rPr lang="en-US" sz="1500" dirty="0"/>
              <a:t>: SABA and/or SAMA PRN</a:t>
            </a:r>
          </a:p>
          <a:p>
            <a:pPr algn="ctr"/>
            <a:r>
              <a:rPr lang="en-US" sz="1500" dirty="0"/>
              <a:t>AND a </a:t>
            </a:r>
            <a:r>
              <a:rPr lang="en-US" sz="1500" b="1" dirty="0"/>
              <a:t>long-acting bronchodilator: </a:t>
            </a:r>
            <a:r>
              <a:rPr lang="en-US" sz="1500" dirty="0"/>
              <a:t>LAMA or LABA Scheduled</a:t>
            </a:r>
          </a:p>
        </p:txBody>
      </p:sp>
      <p:sp>
        <p:nvSpPr>
          <p:cNvPr id="90" name="Case 2">
            <a:extLst>
              <a:ext uri="{FF2B5EF4-FFF2-40B4-BE49-F238E27FC236}">
                <a16:creationId xmlns:a16="http://schemas.microsoft.com/office/drawing/2014/main" id="{351A4BBC-32BB-4D87-83BE-FB9C503D13E6}"/>
              </a:ext>
            </a:extLst>
          </p:cNvPr>
          <p:cNvSpPr/>
          <p:nvPr/>
        </p:nvSpPr>
        <p:spPr>
          <a:xfrm>
            <a:off x="8747034" y="172742"/>
            <a:ext cx="1271781" cy="412786"/>
          </a:xfrm>
          <a:prstGeom prst="roundRect">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Case 2</a:t>
            </a:r>
          </a:p>
        </p:txBody>
      </p:sp>
      <p:sp>
        <p:nvSpPr>
          <p:cNvPr id="91" name="Case 2 text">
            <a:extLst>
              <a:ext uri="{FF2B5EF4-FFF2-40B4-BE49-F238E27FC236}">
                <a16:creationId xmlns:a16="http://schemas.microsoft.com/office/drawing/2014/main" id="{C485F182-7665-4713-AAD6-9CBEBCA5B37D}"/>
              </a:ext>
            </a:extLst>
          </p:cNvPr>
          <p:cNvSpPr txBox="1"/>
          <p:nvPr/>
        </p:nvSpPr>
        <p:spPr>
          <a:xfrm>
            <a:off x="6912413" y="684160"/>
            <a:ext cx="5117351" cy="1892826"/>
          </a:xfrm>
          <a:prstGeom prst="rect">
            <a:avLst/>
          </a:prstGeom>
          <a:noFill/>
        </p:spPr>
        <p:txBody>
          <a:bodyPr wrap="square" lIns="91440" tIns="45720" rIns="91440" bIns="45720" rtlCol="0" anchor="t">
            <a:spAutoFit/>
          </a:bodyPr>
          <a:lstStyle/>
          <a:p>
            <a:pPr lvl="0"/>
            <a:r>
              <a:rPr lang="en-US" sz="1500" dirty="0"/>
              <a:t>60-year-old (former smoker) with COPD (FEV1 60%) presents with 1 week of ↑ dyspnea and productive cough preventing limiting strenuous activity, but able to perform activities of daily living. Denies new allergen exposure or sick contacts. Has had 1 prior exacerbation. No prior history of </a:t>
            </a:r>
            <a:r>
              <a:rPr lang="en-US" sz="1500" i="1" dirty="0"/>
              <a:t>Pseudomonas</a:t>
            </a:r>
            <a:r>
              <a:rPr lang="en-US" sz="1500" dirty="0"/>
              <a:t>. </a:t>
            </a:r>
          </a:p>
          <a:p>
            <a:pPr lvl="0"/>
            <a:endParaRPr lang="en-US" sz="600" dirty="0"/>
          </a:p>
          <a:p>
            <a:pPr lvl="0"/>
            <a:r>
              <a:rPr lang="en-US" sz="1500" u="sng" dirty="0"/>
              <a:t>Meds</a:t>
            </a:r>
            <a:r>
              <a:rPr lang="en-US" sz="1500" dirty="0"/>
              <a:t>: Combivent (SABA/SAMA) PRN + salmeterol (LABA) daily.</a:t>
            </a:r>
          </a:p>
          <a:p>
            <a:pPr lvl="0"/>
            <a:endParaRPr lang="en-US" sz="600" dirty="0"/>
          </a:p>
          <a:p>
            <a:pPr lvl="0"/>
            <a:r>
              <a:rPr lang="en-US" sz="1500" u="sng" dirty="0"/>
              <a:t>Vitals</a:t>
            </a:r>
            <a:r>
              <a:rPr lang="en-US" sz="1500" dirty="0"/>
              <a:t>: Afebrile, SpO2 90%, RR 20, diffuse wheezing. </a:t>
            </a:r>
          </a:p>
        </p:txBody>
      </p:sp>
      <p:pic>
        <p:nvPicPr>
          <p:cNvPr id="93" name="Graphic 92" descr="Cursor with solid fill">
            <a:extLst>
              <a:ext uri="{FF2B5EF4-FFF2-40B4-BE49-F238E27FC236}">
                <a16:creationId xmlns:a16="http://schemas.microsoft.com/office/drawing/2014/main" id="{76160ED8-AB59-4655-BBBF-A0A4D33DF41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445163" y="2290686"/>
            <a:ext cx="274320" cy="274320"/>
          </a:xfrm>
          <a:prstGeom prst="rect">
            <a:avLst/>
          </a:prstGeom>
        </p:spPr>
      </p:pic>
      <p:pic>
        <p:nvPicPr>
          <p:cNvPr id="94" name="Graphic 93" descr="Cursor with solid fill">
            <a:extLst>
              <a:ext uri="{FF2B5EF4-FFF2-40B4-BE49-F238E27FC236}">
                <a16:creationId xmlns:a16="http://schemas.microsoft.com/office/drawing/2014/main" id="{DA399613-E966-4566-9C78-7F09F8F05C2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445163" y="3722158"/>
            <a:ext cx="274320" cy="274320"/>
          </a:xfrm>
          <a:prstGeom prst="rect">
            <a:avLst/>
          </a:prstGeom>
        </p:spPr>
      </p:pic>
      <p:pic>
        <p:nvPicPr>
          <p:cNvPr id="95" name="Graphic 94" descr="Cursor with solid fill">
            <a:extLst>
              <a:ext uri="{FF2B5EF4-FFF2-40B4-BE49-F238E27FC236}">
                <a16:creationId xmlns:a16="http://schemas.microsoft.com/office/drawing/2014/main" id="{CD0EC48F-F615-4FF0-AC6D-A97795DACA7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445163" y="4538796"/>
            <a:ext cx="274320" cy="274320"/>
          </a:xfrm>
          <a:prstGeom prst="rect">
            <a:avLst/>
          </a:prstGeom>
        </p:spPr>
      </p:pic>
      <p:pic>
        <p:nvPicPr>
          <p:cNvPr id="96" name="Graphic 95" descr="Cursor with solid fill">
            <a:extLst>
              <a:ext uri="{FF2B5EF4-FFF2-40B4-BE49-F238E27FC236}">
                <a16:creationId xmlns:a16="http://schemas.microsoft.com/office/drawing/2014/main" id="{0142E2D9-A4E2-4D58-917C-F14DAB12C2D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445163" y="6025027"/>
            <a:ext cx="274320" cy="274320"/>
          </a:xfrm>
          <a:prstGeom prst="rect">
            <a:avLst/>
          </a:prstGeom>
        </p:spPr>
      </p:pic>
      <p:pic>
        <p:nvPicPr>
          <p:cNvPr id="97" name="Graphic 96" descr="Cursor with solid fill">
            <a:extLst>
              <a:ext uri="{FF2B5EF4-FFF2-40B4-BE49-F238E27FC236}">
                <a16:creationId xmlns:a16="http://schemas.microsoft.com/office/drawing/2014/main" id="{4E25418F-65F3-4E29-ADD1-AF67DFFC9D8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899846" y="456887"/>
            <a:ext cx="274320" cy="274320"/>
          </a:xfrm>
          <a:prstGeom prst="rect">
            <a:avLst/>
          </a:prstGeom>
        </p:spPr>
      </p:pic>
      <p:pic>
        <p:nvPicPr>
          <p:cNvPr id="98" name="Graphic 97" descr="Cursor with solid fill">
            <a:extLst>
              <a:ext uri="{FF2B5EF4-FFF2-40B4-BE49-F238E27FC236}">
                <a16:creationId xmlns:a16="http://schemas.microsoft.com/office/drawing/2014/main" id="{5A9AF5C2-BFA3-486D-8CB9-CE7A0F8FCCE6}"/>
              </a:ext>
            </a:extLst>
          </p:cNvPr>
          <p:cNvPicPr>
            <a:picLocks/>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892983" y="457633"/>
            <a:ext cx="274320" cy="274320"/>
          </a:xfrm>
          <a:prstGeom prst="rect">
            <a:avLst/>
          </a:prstGeom>
        </p:spPr>
      </p:pic>
      <p:sp>
        <p:nvSpPr>
          <p:cNvPr id="99" name="Case 2 - Q1">
            <a:extLst>
              <a:ext uri="{FF2B5EF4-FFF2-40B4-BE49-F238E27FC236}">
                <a16:creationId xmlns:a16="http://schemas.microsoft.com/office/drawing/2014/main" id="{FA58D9FB-BBBB-4F14-8C89-ACBCB8116E4E}"/>
              </a:ext>
            </a:extLst>
          </p:cNvPr>
          <p:cNvSpPr/>
          <p:nvPr/>
        </p:nvSpPr>
        <p:spPr>
          <a:xfrm>
            <a:off x="6957569" y="2623858"/>
            <a:ext cx="4937760" cy="365760"/>
          </a:xfrm>
          <a:prstGeom prst="roundRect">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r>
              <a:rPr lang="en-US" sz="1500" dirty="0"/>
              <a:t>What additional work-up is indicated?</a:t>
            </a:r>
          </a:p>
        </p:txBody>
      </p:sp>
      <p:sp>
        <p:nvSpPr>
          <p:cNvPr id="100" name="Case 2 - Q2">
            <a:extLst>
              <a:ext uri="{FF2B5EF4-FFF2-40B4-BE49-F238E27FC236}">
                <a16:creationId xmlns:a16="http://schemas.microsoft.com/office/drawing/2014/main" id="{D2F48045-9151-4D1A-88AC-AE0FBA2BAF0F}"/>
              </a:ext>
            </a:extLst>
          </p:cNvPr>
          <p:cNvSpPr/>
          <p:nvPr/>
        </p:nvSpPr>
        <p:spPr>
          <a:xfrm>
            <a:off x="6957569" y="3634591"/>
            <a:ext cx="4937760" cy="365760"/>
          </a:xfrm>
          <a:prstGeom prst="roundRect">
            <a:avLst>
              <a:gd name="adj" fmla="val 10321"/>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dirty="0"/>
              <a:t>Where should this patient be treated?</a:t>
            </a:r>
          </a:p>
        </p:txBody>
      </p:sp>
      <p:sp>
        <p:nvSpPr>
          <p:cNvPr id="101" name="Case 2 - Q4">
            <a:extLst>
              <a:ext uri="{FF2B5EF4-FFF2-40B4-BE49-F238E27FC236}">
                <a16:creationId xmlns:a16="http://schemas.microsoft.com/office/drawing/2014/main" id="{733A494D-1A14-4938-ABFC-80D41605E4B3}"/>
              </a:ext>
            </a:extLst>
          </p:cNvPr>
          <p:cNvSpPr/>
          <p:nvPr/>
        </p:nvSpPr>
        <p:spPr>
          <a:xfrm>
            <a:off x="6957569" y="5808080"/>
            <a:ext cx="4937760" cy="365760"/>
          </a:xfrm>
          <a:prstGeom prst="roundRect">
            <a:avLst>
              <a:gd name="adj" fmla="val 13824"/>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r>
              <a:rPr lang="en-US" sz="1500" dirty="0"/>
              <a:t>Changes in long term therapy?</a:t>
            </a:r>
          </a:p>
        </p:txBody>
      </p:sp>
      <p:sp>
        <p:nvSpPr>
          <p:cNvPr id="102" name="Case 2 - A1">
            <a:extLst>
              <a:ext uri="{FF2B5EF4-FFF2-40B4-BE49-F238E27FC236}">
                <a16:creationId xmlns:a16="http://schemas.microsoft.com/office/drawing/2014/main" id="{1D9C3E55-F4BB-4B49-AD54-0C1BD0523711}"/>
              </a:ext>
            </a:extLst>
          </p:cNvPr>
          <p:cNvSpPr/>
          <p:nvPr/>
        </p:nvSpPr>
        <p:spPr>
          <a:xfrm>
            <a:off x="6912413" y="3024022"/>
            <a:ext cx="5193327" cy="498416"/>
          </a:xfrm>
          <a:prstGeom prst="rect">
            <a:avLst/>
          </a:prstGeom>
          <a:no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500" dirty="0"/>
              <a:t>Consider</a:t>
            </a:r>
            <a:r>
              <a:rPr lang="en-US" sz="1500" b="1" dirty="0"/>
              <a:t> CBC with differential, CXR. </a:t>
            </a:r>
            <a:r>
              <a:rPr lang="en-US" sz="1500" dirty="0"/>
              <a:t>Rule out alternative diagnoses</a:t>
            </a:r>
            <a:endParaRPr lang="en-US" sz="1500" b="1" dirty="0"/>
          </a:p>
        </p:txBody>
      </p:sp>
      <p:sp>
        <p:nvSpPr>
          <p:cNvPr id="103" name="Case 2 - A2">
            <a:extLst>
              <a:ext uri="{FF2B5EF4-FFF2-40B4-BE49-F238E27FC236}">
                <a16:creationId xmlns:a16="http://schemas.microsoft.com/office/drawing/2014/main" id="{E3AB59DE-C95B-4712-B3BC-5DE968E0BD02}"/>
              </a:ext>
            </a:extLst>
          </p:cNvPr>
          <p:cNvSpPr/>
          <p:nvPr/>
        </p:nvSpPr>
        <p:spPr>
          <a:xfrm>
            <a:off x="7097269" y="4045956"/>
            <a:ext cx="4754880" cy="331630"/>
          </a:xfrm>
          <a:prstGeom prst="roundRect">
            <a:avLst>
              <a:gd name="adj" fmla="val 11507"/>
            </a:avLst>
          </a:prstGeom>
          <a:no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500" dirty="0"/>
              <a:t>Outpatient. They can perform ADLs.  </a:t>
            </a:r>
          </a:p>
        </p:txBody>
      </p:sp>
      <p:sp>
        <p:nvSpPr>
          <p:cNvPr id="104" name="Case 2 - A4">
            <a:extLst>
              <a:ext uri="{FF2B5EF4-FFF2-40B4-BE49-F238E27FC236}">
                <a16:creationId xmlns:a16="http://schemas.microsoft.com/office/drawing/2014/main" id="{9AC61FA0-0303-437E-A542-FA837F73D881}"/>
              </a:ext>
            </a:extLst>
          </p:cNvPr>
          <p:cNvSpPr/>
          <p:nvPr/>
        </p:nvSpPr>
        <p:spPr>
          <a:xfrm>
            <a:off x="7097269" y="6215967"/>
            <a:ext cx="4754880" cy="365760"/>
          </a:xfrm>
          <a:prstGeom prst="rect">
            <a:avLst/>
          </a:prstGeom>
          <a:no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500" b="1" dirty="0"/>
              <a:t>Add LAMA. </a:t>
            </a:r>
            <a:r>
              <a:rPr lang="en-US" sz="1500" dirty="0"/>
              <a:t>Consider ICS if </a:t>
            </a:r>
            <a:r>
              <a:rPr lang="en-US" sz="1500" dirty="0" err="1"/>
              <a:t>eos</a:t>
            </a:r>
            <a:r>
              <a:rPr lang="en-US" sz="1500" dirty="0"/>
              <a:t> &gt;100.</a:t>
            </a:r>
          </a:p>
        </p:txBody>
      </p:sp>
      <p:pic>
        <p:nvPicPr>
          <p:cNvPr id="105" name="Graphic 104" descr="Cursor with solid fill">
            <a:extLst>
              <a:ext uri="{FF2B5EF4-FFF2-40B4-BE49-F238E27FC236}">
                <a16:creationId xmlns:a16="http://schemas.microsoft.com/office/drawing/2014/main" id="{594D6AA3-FA29-4621-A406-060FF7BD70A0}"/>
              </a:ext>
            </a:extLst>
          </p:cNvPr>
          <p:cNvPicPr>
            <a:picLocks/>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763646" y="2862155"/>
            <a:ext cx="274320" cy="274320"/>
          </a:xfrm>
          <a:prstGeom prst="rect">
            <a:avLst/>
          </a:prstGeom>
        </p:spPr>
      </p:pic>
      <p:pic>
        <p:nvPicPr>
          <p:cNvPr id="106" name="Graphic 105" descr="Cursor with solid fill">
            <a:extLst>
              <a:ext uri="{FF2B5EF4-FFF2-40B4-BE49-F238E27FC236}">
                <a16:creationId xmlns:a16="http://schemas.microsoft.com/office/drawing/2014/main" id="{7E8EC826-A0F3-455C-ACAB-F61CA015603B}"/>
              </a:ext>
            </a:extLst>
          </p:cNvPr>
          <p:cNvPicPr>
            <a:picLocks/>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785525" y="3892394"/>
            <a:ext cx="274320" cy="274320"/>
          </a:xfrm>
          <a:prstGeom prst="rect">
            <a:avLst/>
          </a:prstGeom>
        </p:spPr>
      </p:pic>
      <p:pic>
        <p:nvPicPr>
          <p:cNvPr id="107" name="Graphic 106" descr="Cursor with solid fill">
            <a:extLst>
              <a:ext uri="{FF2B5EF4-FFF2-40B4-BE49-F238E27FC236}">
                <a16:creationId xmlns:a16="http://schemas.microsoft.com/office/drawing/2014/main" id="{EB987E90-63C3-4A79-BE07-045B1806E223}"/>
              </a:ext>
            </a:extLst>
          </p:cNvPr>
          <p:cNvPicPr>
            <a:picLocks/>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785525" y="6063864"/>
            <a:ext cx="274320" cy="274320"/>
          </a:xfrm>
          <a:prstGeom prst="rect">
            <a:avLst/>
          </a:prstGeom>
        </p:spPr>
      </p:pic>
      <p:sp>
        <p:nvSpPr>
          <p:cNvPr id="108" name="Case 2 - Q3">
            <a:extLst>
              <a:ext uri="{FF2B5EF4-FFF2-40B4-BE49-F238E27FC236}">
                <a16:creationId xmlns:a16="http://schemas.microsoft.com/office/drawing/2014/main" id="{3E4D232A-333F-4579-85AC-9F4D3439D11C}"/>
              </a:ext>
            </a:extLst>
          </p:cNvPr>
          <p:cNvSpPr/>
          <p:nvPr/>
        </p:nvSpPr>
        <p:spPr>
          <a:xfrm>
            <a:off x="6957569" y="4457265"/>
            <a:ext cx="4937760" cy="365760"/>
          </a:xfrm>
          <a:prstGeom prst="roundRect">
            <a:avLst>
              <a:gd name="adj" fmla="val 10321"/>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r>
              <a:rPr lang="en-US" sz="1500" dirty="0"/>
              <a:t>Next step in management?</a:t>
            </a:r>
          </a:p>
        </p:txBody>
      </p:sp>
      <p:sp>
        <p:nvSpPr>
          <p:cNvPr id="109" name="Case 2 - A3">
            <a:extLst>
              <a:ext uri="{FF2B5EF4-FFF2-40B4-BE49-F238E27FC236}">
                <a16:creationId xmlns:a16="http://schemas.microsoft.com/office/drawing/2014/main" id="{A577D241-6120-4074-8A09-D1524F0DB5B4}"/>
              </a:ext>
            </a:extLst>
          </p:cNvPr>
          <p:cNvSpPr/>
          <p:nvPr/>
        </p:nvSpPr>
        <p:spPr>
          <a:xfrm>
            <a:off x="6912413" y="4887524"/>
            <a:ext cx="5099767" cy="784830"/>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nchor="ctr">
            <a:spAutoFit/>
          </a:bodyPr>
          <a:lstStyle/>
          <a:p>
            <a:pPr algn="ctr"/>
            <a:r>
              <a:rPr lang="en-US" sz="1500" b="1" dirty="0"/>
              <a:t>Steroids </a:t>
            </a:r>
            <a:r>
              <a:rPr lang="en-US" sz="1500" dirty="0"/>
              <a:t>– prednisone 40mg PO daily x 5 days</a:t>
            </a:r>
          </a:p>
          <a:p>
            <a:pPr algn="ctr"/>
            <a:r>
              <a:rPr lang="en-US" sz="1500" b="1" dirty="0"/>
              <a:t>Antibiotics </a:t>
            </a:r>
            <a:r>
              <a:rPr lang="en-US" sz="1500" dirty="0"/>
              <a:t>– 5-day course of antibiotics (e.g., doxycycline, azithromycin) if sputum purulence.  </a:t>
            </a:r>
          </a:p>
        </p:txBody>
      </p:sp>
      <p:pic>
        <p:nvPicPr>
          <p:cNvPr id="110" name="Graphic 109" descr="Cursor with solid fill">
            <a:extLst>
              <a:ext uri="{FF2B5EF4-FFF2-40B4-BE49-F238E27FC236}">
                <a16:creationId xmlns:a16="http://schemas.microsoft.com/office/drawing/2014/main" id="{6805FE37-E731-4937-A466-FAD87DFE602F}"/>
              </a:ext>
            </a:extLst>
          </p:cNvPr>
          <p:cNvPicPr>
            <a:picLocks/>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785525" y="4712265"/>
            <a:ext cx="274320" cy="274320"/>
          </a:xfrm>
          <a:prstGeom prst="rect">
            <a:avLst/>
          </a:prstGeom>
        </p:spPr>
      </p:pic>
      <p:sp>
        <p:nvSpPr>
          <p:cNvPr id="32" name="question 1">
            <a:hlinkClick r:id="rId5" action="ppaction://hlinksldjump"/>
            <a:extLst>
              <a:ext uri="{FF2B5EF4-FFF2-40B4-BE49-F238E27FC236}">
                <a16:creationId xmlns:a16="http://schemas.microsoft.com/office/drawing/2014/main" id="{312C7A2D-CA19-74A4-87D2-E09D16C2136C}"/>
              </a:ext>
            </a:extLst>
          </p:cNvPr>
          <p:cNvSpPr txBox="1"/>
          <p:nvPr/>
        </p:nvSpPr>
        <p:spPr>
          <a:xfrm>
            <a:off x="181642" y="159488"/>
            <a:ext cx="1645920"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Diagnosis</a:t>
            </a:r>
          </a:p>
        </p:txBody>
      </p:sp>
      <p:pic>
        <p:nvPicPr>
          <p:cNvPr id="33" name="Graphic 32" descr="Cursor with solid fill">
            <a:extLst>
              <a:ext uri="{FF2B5EF4-FFF2-40B4-BE49-F238E27FC236}">
                <a16:creationId xmlns:a16="http://schemas.microsoft.com/office/drawing/2014/main" id="{C417F9B3-111D-7DBD-A74A-6B8DD162C94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701287" y="435897"/>
            <a:ext cx="274320" cy="274320"/>
          </a:xfrm>
          <a:prstGeom prst="rect">
            <a:avLst/>
          </a:prstGeom>
        </p:spPr>
      </p:pic>
      <p:sp>
        <p:nvSpPr>
          <p:cNvPr id="34" name="Question 2">
            <a:hlinkClick r:id="rId6" action="ppaction://hlinksldjump"/>
            <a:extLst>
              <a:ext uri="{FF2B5EF4-FFF2-40B4-BE49-F238E27FC236}">
                <a16:creationId xmlns:a16="http://schemas.microsoft.com/office/drawing/2014/main" id="{151A66A2-5F73-0BC7-D692-75AA236381E8}"/>
              </a:ext>
            </a:extLst>
          </p:cNvPr>
          <p:cNvSpPr txBox="1"/>
          <p:nvPr/>
        </p:nvSpPr>
        <p:spPr>
          <a:xfrm>
            <a:off x="181642" y="731519"/>
            <a:ext cx="1645920"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Classification</a:t>
            </a:r>
          </a:p>
        </p:txBody>
      </p:sp>
      <p:pic>
        <p:nvPicPr>
          <p:cNvPr id="35" name="Graphic 34" descr="Cursor with solid fill">
            <a:extLst>
              <a:ext uri="{FF2B5EF4-FFF2-40B4-BE49-F238E27FC236}">
                <a16:creationId xmlns:a16="http://schemas.microsoft.com/office/drawing/2014/main" id="{60322EEC-56E9-4402-3FCB-ED3706F5E84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701287" y="1007490"/>
            <a:ext cx="274320" cy="274320"/>
          </a:xfrm>
          <a:prstGeom prst="rect">
            <a:avLst/>
          </a:prstGeom>
        </p:spPr>
      </p:pic>
      <p:sp>
        <p:nvSpPr>
          <p:cNvPr id="36" name="Question 2">
            <a:hlinkClick r:id="rId7" action="ppaction://hlinksldjump"/>
            <a:extLst>
              <a:ext uri="{FF2B5EF4-FFF2-40B4-BE49-F238E27FC236}">
                <a16:creationId xmlns:a16="http://schemas.microsoft.com/office/drawing/2014/main" id="{CA7EF79A-436C-9AC9-6DAC-E7AA30255D04}"/>
              </a:ext>
            </a:extLst>
          </p:cNvPr>
          <p:cNvSpPr txBox="1"/>
          <p:nvPr/>
        </p:nvSpPr>
        <p:spPr>
          <a:xfrm>
            <a:off x="181642" y="1303550"/>
            <a:ext cx="1645920"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Management</a:t>
            </a:r>
          </a:p>
        </p:txBody>
      </p:sp>
      <p:pic>
        <p:nvPicPr>
          <p:cNvPr id="37" name="Graphic 36" descr="Cursor with solid fill">
            <a:extLst>
              <a:ext uri="{FF2B5EF4-FFF2-40B4-BE49-F238E27FC236}">
                <a16:creationId xmlns:a16="http://schemas.microsoft.com/office/drawing/2014/main" id="{2C525847-B60E-B4A9-8E9B-1030F21ECEC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701287" y="1579083"/>
            <a:ext cx="274320" cy="274320"/>
          </a:xfrm>
          <a:prstGeom prst="rect">
            <a:avLst/>
          </a:prstGeom>
        </p:spPr>
      </p:pic>
      <p:sp>
        <p:nvSpPr>
          <p:cNvPr id="38" name="Cases">
            <a:hlinkClick r:id="rId8" action="ppaction://hlinksldjump"/>
            <a:extLst>
              <a:ext uri="{FF2B5EF4-FFF2-40B4-BE49-F238E27FC236}">
                <a16:creationId xmlns:a16="http://schemas.microsoft.com/office/drawing/2014/main" id="{7B954EC3-7B34-403E-A810-0C546BADD5A9}"/>
              </a:ext>
            </a:extLst>
          </p:cNvPr>
          <p:cNvSpPr txBox="1"/>
          <p:nvPr/>
        </p:nvSpPr>
        <p:spPr>
          <a:xfrm>
            <a:off x="181642" y="2447614"/>
            <a:ext cx="1645920"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Exacerbations</a:t>
            </a:r>
          </a:p>
        </p:txBody>
      </p:sp>
      <p:sp>
        <p:nvSpPr>
          <p:cNvPr id="39" name="Question 2">
            <a:hlinkClick r:id="rId9" action="ppaction://hlinksldjump"/>
            <a:extLst>
              <a:ext uri="{FF2B5EF4-FFF2-40B4-BE49-F238E27FC236}">
                <a16:creationId xmlns:a16="http://schemas.microsoft.com/office/drawing/2014/main" id="{03852473-5EBA-F938-4066-00328B4E3581}"/>
              </a:ext>
            </a:extLst>
          </p:cNvPr>
          <p:cNvSpPr txBox="1"/>
          <p:nvPr/>
        </p:nvSpPr>
        <p:spPr>
          <a:xfrm>
            <a:off x="181642" y="1875581"/>
            <a:ext cx="1645920"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Efficacy</a:t>
            </a:r>
          </a:p>
        </p:txBody>
      </p:sp>
      <p:pic>
        <p:nvPicPr>
          <p:cNvPr id="40" name="Graphic 39" descr="Cursor with solid fill">
            <a:extLst>
              <a:ext uri="{FF2B5EF4-FFF2-40B4-BE49-F238E27FC236}">
                <a16:creationId xmlns:a16="http://schemas.microsoft.com/office/drawing/2014/main" id="{32545803-7DD6-DFD6-F83B-B7C52600B22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701287" y="2722270"/>
            <a:ext cx="270869" cy="274320"/>
          </a:xfrm>
          <a:prstGeom prst="rect">
            <a:avLst/>
          </a:prstGeom>
        </p:spPr>
      </p:pic>
      <p:pic>
        <p:nvPicPr>
          <p:cNvPr id="41" name="Graphic 40" descr="Cursor with solid fill">
            <a:extLst>
              <a:ext uri="{FF2B5EF4-FFF2-40B4-BE49-F238E27FC236}">
                <a16:creationId xmlns:a16="http://schemas.microsoft.com/office/drawing/2014/main" id="{74DAC47A-FE30-DD42-870F-FB5875E9CAE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701287" y="2150676"/>
            <a:ext cx="274320" cy="274320"/>
          </a:xfrm>
          <a:prstGeom prst="rect">
            <a:avLst/>
          </a:prstGeom>
        </p:spPr>
      </p:pic>
      <p:sp>
        <p:nvSpPr>
          <p:cNvPr id="42" name="Cases">
            <a:hlinkClick r:id="rId10" action="ppaction://hlinksldjump"/>
            <a:extLst>
              <a:ext uri="{FF2B5EF4-FFF2-40B4-BE49-F238E27FC236}">
                <a16:creationId xmlns:a16="http://schemas.microsoft.com/office/drawing/2014/main" id="{BC5748EE-5E08-D0F0-6B67-CFC6E87B82C3}"/>
              </a:ext>
            </a:extLst>
          </p:cNvPr>
          <p:cNvSpPr txBox="1"/>
          <p:nvPr/>
        </p:nvSpPr>
        <p:spPr>
          <a:xfrm>
            <a:off x="181642" y="3020377"/>
            <a:ext cx="1645920" cy="408623"/>
          </a:xfrm>
          <a:prstGeom prst="roundRect">
            <a:avLst/>
          </a:prstGeom>
          <a:solidFill>
            <a:schemeClr val="tx1"/>
          </a:solidFill>
          <a:ln w="38100"/>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chemeClr val="bg1"/>
                </a:solidFill>
              </a:rPr>
              <a:t>Cases</a:t>
            </a:r>
          </a:p>
        </p:txBody>
      </p:sp>
      <p:pic>
        <p:nvPicPr>
          <p:cNvPr id="44" name="Graphic 43" descr="Cursor with solid fill">
            <a:extLst>
              <a:ext uri="{FF2B5EF4-FFF2-40B4-BE49-F238E27FC236}">
                <a16:creationId xmlns:a16="http://schemas.microsoft.com/office/drawing/2014/main" id="{C7F1DD8A-E0D4-0834-4DDA-223C3F605BE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701287" y="2723439"/>
            <a:ext cx="274320" cy="274320"/>
          </a:xfrm>
          <a:prstGeom prst="rect">
            <a:avLst/>
          </a:prstGeom>
        </p:spPr>
      </p:pic>
      <p:sp>
        <p:nvSpPr>
          <p:cNvPr id="45" name="Cases">
            <a:hlinkClick r:id="rId10" action="ppaction://hlinksldjump"/>
            <a:extLst>
              <a:ext uri="{FF2B5EF4-FFF2-40B4-BE49-F238E27FC236}">
                <a16:creationId xmlns:a16="http://schemas.microsoft.com/office/drawing/2014/main" id="{0E4B5819-8E83-C357-8D4A-80E5433CEE4C}"/>
              </a:ext>
            </a:extLst>
          </p:cNvPr>
          <p:cNvSpPr txBox="1"/>
          <p:nvPr/>
        </p:nvSpPr>
        <p:spPr>
          <a:xfrm>
            <a:off x="609600" y="3593140"/>
            <a:ext cx="1203786"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1-2</a:t>
            </a:r>
          </a:p>
        </p:txBody>
      </p:sp>
      <p:pic>
        <p:nvPicPr>
          <p:cNvPr id="46" name="Graphic 45" descr="Cursor with solid fill">
            <a:extLst>
              <a:ext uri="{FF2B5EF4-FFF2-40B4-BE49-F238E27FC236}">
                <a16:creationId xmlns:a16="http://schemas.microsoft.com/office/drawing/2014/main" id="{E32F4DC8-F0D5-4E14-2458-4F84289F34B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687111" y="3867796"/>
            <a:ext cx="270869" cy="274320"/>
          </a:xfrm>
          <a:prstGeom prst="rect">
            <a:avLst/>
          </a:prstGeom>
        </p:spPr>
      </p:pic>
      <p:pic>
        <p:nvPicPr>
          <p:cNvPr id="47" name="Graphic 46" descr="Cursor with solid fill">
            <a:extLst>
              <a:ext uri="{FF2B5EF4-FFF2-40B4-BE49-F238E27FC236}">
                <a16:creationId xmlns:a16="http://schemas.microsoft.com/office/drawing/2014/main" id="{8B0909FA-0822-D7FC-B2F1-D420E8E8250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687111" y="3868965"/>
            <a:ext cx="274320" cy="274320"/>
          </a:xfrm>
          <a:prstGeom prst="rect">
            <a:avLst/>
          </a:prstGeom>
        </p:spPr>
      </p:pic>
      <p:cxnSp>
        <p:nvCxnSpPr>
          <p:cNvPr id="49" name="Connector: Elbow 48">
            <a:extLst>
              <a:ext uri="{FF2B5EF4-FFF2-40B4-BE49-F238E27FC236}">
                <a16:creationId xmlns:a16="http://schemas.microsoft.com/office/drawing/2014/main" id="{8DA60668-2303-139E-BEB5-7E96977EA89F}"/>
              </a:ext>
            </a:extLst>
          </p:cNvPr>
          <p:cNvCxnSpPr>
            <a:cxnSpLocks/>
            <a:endCxn id="45" idx="1"/>
          </p:cNvCxnSpPr>
          <p:nvPr/>
        </p:nvCxnSpPr>
        <p:spPr>
          <a:xfrm rot="16200000" flipH="1">
            <a:off x="248824" y="3436675"/>
            <a:ext cx="408623" cy="312929"/>
          </a:xfrm>
          <a:prstGeom prst="bentConnector2">
            <a:avLst/>
          </a:prstGeom>
          <a:ln w="38100">
            <a:tailEnd type="triangle"/>
          </a:ln>
        </p:spPr>
        <p:style>
          <a:lnRef idx="3">
            <a:schemeClr val="dk1"/>
          </a:lnRef>
          <a:fillRef idx="0">
            <a:schemeClr val="dk1"/>
          </a:fillRef>
          <a:effectRef idx="2">
            <a:schemeClr val="dk1"/>
          </a:effectRef>
          <a:fontRef idx="minor">
            <a:schemeClr val="tx1"/>
          </a:fontRef>
        </p:style>
      </p:cxnSp>
      <p:sp>
        <p:nvSpPr>
          <p:cNvPr id="52" name="Cases">
            <a:hlinkClick r:id="rId8" action="ppaction://hlinksldjump"/>
            <a:extLst>
              <a:ext uri="{FF2B5EF4-FFF2-40B4-BE49-F238E27FC236}">
                <a16:creationId xmlns:a16="http://schemas.microsoft.com/office/drawing/2014/main" id="{C38418E7-8B8B-BF69-B1E5-3A56317CE259}"/>
              </a:ext>
            </a:extLst>
          </p:cNvPr>
          <p:cNvSpPr txBox="1"/>
          <p:nvPr/>
        </p:nvSpPr>
        <p:spPr>
          <a:xfrm>
            <a:off x="609600" y="4193060"/>
            <a:ext cx="1203786"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3</a:t>
            </a:r>
          </a:p>
        </p:txBody>
      </p:sp>
      <p:pic>
        <p:nvPicPr>
          <p:cNvPr id="53" name="Graphic 52" descr="Cursor with solid fill">
            <a:extLst>
              <a:ext uri="{FF2B5EF4-FFF2-40B4-BE49-F238E27FC236}">
                <a16:creationId xmlns:a16="http://schemas.microsoft.com/office/drawing/2014/main" id="{E9F3A42A-7698-DCCC-D761-A8EA6FE9E17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687111" y="4467716"/>
            <a:ext cx="270869" cy="274320"/>
          </a:xfrm>
          <a:prstGeom prst="rect">
            <a:avLst/>
          </a:prstGeom>
        </p:spPr>
      </p:pic>
      <p:pic>
        <p:nvPicPr>
          <p:cNvPr id="54" name="Graphic 53" descr="Cursor with solid fill">
            <a:extLst>
              <a:ext uri="{FF2B5EF4-FFF2-40B4-BE49-F238E27FC236}">
                <a16:creationId xmlns:a16="http://schemas.microsoft.com/office/drawing/2014/main" id="{073B84FA-4169-3DE9-1888-DDD05F78346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687111" y="4468885"/>
            <a:ext cx="274320" cy="274320"/>
          </a:xfrm>
          <a:prstGeom prst="rect">
            <a:avLst/>
          </a:prstGeom>
        </p:spPr>
      </p:pic>
      <p:cxnSp>
        <p:nvCxnSpPr>
          <p:cNvPr id="55" name="Connector: Elbow 54">
            <a:extLst>
              <a:ext uri="{FF2B5EF4-FFF2-40B4-BE49-F238E27FC236}">
                <a16:creationId xmlns:a16="http://schemas.microsoft.com/office/drawing/2014/main" id="{BBEE5FF0-0D9A-2A5E-BC07-A8B9EC69285C}"/>
              </a:ext>
            </a:extLst>
          </p:cNvPr>
          <p:cNvCxnSpPr>
            <a:cxnSpLocks/>
            <a:endCxn id="52" idx="1"/>
          </p:cNvCxnSpPr>
          <p:nvPr/>
        </p:nvCxnSpPr>
        <p:spPr>
          <a:xfrm rot="16200000" flipH="1">
            <a:off x="109178" y="3896950"/>
            <a:ext cx="687914" cy="312929"/>
          </a:xfrm>
          <a:prstGeom prst="bentConnector2">
            <a:avLst/>
          </a:prstGeom>
          <a:ln w="38100">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2735198644"/>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62"/>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5"/>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96"/>
                                        </p:tgtEl>
                                        <p:attrNameLst>
                                          <p:attrName>style.visibility</p:attrName>
                                        </p:attrNameLst>
                                      </p:cBhvr>
                                      <p:to>
                                        <p:strVal val="visible"/>
                                      </p:to>
                                    </p:set>
                                  </p:childTnLst>
                                </p:cTn>
                              </p:par>
                              <p:par>
                                <p:cTn id="23" presetID="1" presetClass="exit" presetSubtype="0" fill="hold" nodeType="withEffect">
                                  <p:stCondLst>
                                    <p:cond delay="0"/>
                                  </p:stCondLst>
                                  <p:childTnLst>
                                    <p:set>
                                      <p:cBhvr>
                                        <p:cTn id="24" dur="1" fill="hold">
                                          <p:stCondLst>
                                            <p:cond delay="0"/>
                                          </p:stCondLst>
                                        </p:cTn>
                                        <p:tgtEl>
                                          <p:spTgt spid="97"/>
                                        </p:tgtEl>
                                        <p:attrNameLst>
                                          <p:attrName>style.visibility</p:attrName>
                                        </p:attrNameLst>
                                      </p:cBhvr>
                                      <p:to>
                                        <p:strVal val="hidden"/>
                                      </p:to>
                                    </p:set>
                                  </p:childTnLst>
                                </p:cTn>
                              </p:par>
                            </p:childTnLst>
                          </p:cTn>
                        </p:par>
                      </p:childTnLst>
                    </p:cTn>
                  </p:par>
                </p:childTnLst>
              </p:cTn>
              <p:nextCondLst>
                <p:cond evt="onClick" delay="0">
                  <p:tgtEl>
                    <p:spTgt spid="62"/>
                  </p:tgtEl>
                </p:cond>
              </p:nextCondLst>
            </p:seq>
            <p:seq concurrent="1" nextAc="seek">
              <p:cTn id="25" restart="whenNotActive" fill="hold" evtFilter="cancelBubble" nodeType="interactiveSeq">
                <p:stCondLst>
                  <p:cond evt="onClick" delay="0">
                    <p:tgtEl>
                      <p:spTgt spid="68"/>
                    </p:tgtEl>
                  </p:cond>
                </p:stCondLst>
                <p:endSync evt="end" delay="0">
                  <p:rtn val="all"/>
                </p:endSync>
                <p:childTnLst>
                  <p:par>
                    <p:cTn id="26" fill="hold">
                      <p:stCondLst>
                        <p:cond delay="0"/>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86"/>
                                        </p:tgtEl>
                                        <p:attrNameLst>
                                          <p:attrName>style.visibility</p:attrName>
                                        </p:attrNameLst>
                                      </p:cBhvr>
                                      <p:to>
                                        <p:strVal val="visible"/>
                                      </p:to>
                                    </p:set>
                                  </p:childTnLst>
                                </p:cTn>
                              </p:par>
                              <p:par>
                                <p:cTn id="30" presetID="1" presetClass="exit" presetSubtype="0" fill="hold" nodeType="withEffect">
                                  <p:stCondLst>
                                    <p:cond delay="0"/>
                                  </p:stCondLst>
                                  <p:childTnLst>
                                    <p:set>
                                      <p:cBhvr>
                                        <p:cTn id="31" dur="1" fill="hold">
                                          <p:stCondLst>
                                            <p:cond delay="0"/>
                                          </p:stCondLst>
                                        </p:cTn>
                                        <p:tgtEl>
                                          <p:spTgt spid="93"/>
                                        </p:tgtEl>
                                        <p:attrNameLst>
                                          <p:attrName>style.visibility</p:attrName>
                                        </p:attrNameLst>
                                      </p:cBhvr>
                                      <p:to>
                                        <p:strVal val="hidden"/>
                                      </p:to>
                                    </p:set>
                                  </p:childTnLst>
                                </p:cTn>
                              </p:par>
                            </p:childTnLst>
                          </p:cTn>
                        </p:par>
                      </p:childTnLst>
                    </p:cTn>
                  </p:par>
                </p:childTnLst>
              </p:cTn>
              <p:nextCondLst>
                <p:cond evt="onClick" delay="0">
                  <p:tgtEl>
                    <p:spTgt spid="68"/>
                  </p:tgtEl>
                </p:cond>
              </p:nextCondLst>
            </p:seq>
            <p:seq concurrent="1" nextAc="seek">
              <p:cTn id="32" restart="whenNotActive" fill="hold" evtFilter="cancelBubble" nodeType="interactiveSeq">
                <p:stCondLst>
                  <p:cond evt="onClick" delay="0">
                    <p:tgtEl>
                      <p:spTgt spid="83"/>
                    </p:tgtEl>
                  </p:cond>
                </p:stCondLst>
                <p:endSync evt="end" delay="0">
                  <p:rtn val="all"/>
                </p:endSync>
                <p:childTnLst>
                  <p:par>
                    <p:cTn id="33" fill="hold">
                      <p:stCondLst>
                        <p:cond delay="0"/>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87"/>
                                        </p:tgtEl>
                                        <p:attrNameLst>
                                          <p:attrName>style.visibility</p:attrName>
                                        </p:attrNameLst>
                                      </p:cBhvr>
                                      <p:to>
                                        <p:strVal val="visible"/>
                                      </p:to>
                                    </p:set>
                                  </p:childTnLst>
                                </p:cTn>
                              </p:par>
                              <p:par>
                                <p:cTn id="37" presetID="1" presetClass="exit" presetSubtype="0" fill="hold" nodeType="withEffect">
                                  <p:stCondLst>
                                    <p:cond delay="0"/>
                                  </p:stCondLst>
                                  <p:childTnLst>
                                    <p:set>
                                      <p:cBhvr>
                                        <p:cTn id="38" dur="1" fill="hold">
                                          <p:stCondLst>
                                            <p:cond delay="0"/>
                                          </p:stCondLst>
                                        </p:cTn>
                                        <p:tgtEl>
                                          <p:spTgt spid="94"/>
                                        </p:tgtEl>
                                        <p:attrNameLst>
                                          <p:attrName>style.visibility</p:attrName>
                                        </p:attrNameLst>
                                      </p:cBhvr>
                                      <p:to>
                                        <p:strVal val="hidden"/>
                                      </p:to>
                                    </p:set>
                                  </p:childTnLst>
                                </p:cTn>
                              </p:par>
                            </p:childTnLst>
                          </p:cTn>
                        </p:par>
                      </p:childTnLst>
                    </p:cTn>
                  </p:par>
                </p:childTnLst>
              </p:cTn>
              <p:nextCondLst>
                <p:cond evt="onClick" delay="0">
                  <p:tgtEl>
                    <p:spTgt spid="83"/>
                  </p:tgtEl>
                </p:cond>
              </p:nextCondLst>
            </p:seq>
            <p:seq concurrent="1" nextAc="seek">
              <p:cTn id="39" restart="whenNotActive" fill="hold" evtFilter="cancelBubble" nodeType="interactiveSeq">
                <p:stCondLst>
                  <p:cond evt="onClick" delay="0">
                    <p:tgtEl>
                      <p:spTgt spid="84"/>
                    </p:tgtEl>
                  </p:cond>
                </p:stCondLst>
                <p:endSync evt="end" delay="0">
                  <p:rtn val="all"/>
                </p:endSync>
                <p:childTnLst>
                  <p:par>
                    <p:cTn id="40" fill="hold">
                      <p:stCondLst>
                        <p:cond delay="0"/>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88"/>
                                        </p:tgtEl>
                                        <p:attrNameLst>
                                          <p:attrName>style.visibility</p:attrName>
                                        </p:attrNameLst>
                                      </p:cBhvr>
                                      <p:to>
                                        <p:strVal val="visible"/>
                                      </p:to>
                                    </p:set>
                                  </p:childTnLst>
                                </p:cTn>
                              </p:par>
                              <p:par>
                                <p:cTn id="44" presetID="1" presetClass="exit" presetSubtype="0" fill="hold" nodeType="withEffect">
                                  <p:stCondLst>
                                    <p:cond delay="0"/>
                                  </p:stCondLst>
                                  <p:childTnLst>
                                    <p:set>
                                      <p:cBhvr>
                                        <p:cTn id="45" dur="1" fill="hold">
                                          <p:stCondLst>
                                            <p:cond delay="0"/>
                                          </p:stCondLst>
                                        </p:cTn>
                                        <p:tgtEl>
                                          <p:spTgt spid="95"/>
                                        </p:tgtEl>
                                        <p:attrNameLst>
                                          <p:attrName>style.visibility</p:attrName>
                                        </p:attrNameLst>
                                      </p:cBhvr>
                                      <p:to>
                                        <p:strVal val="hidden"/>
                                      </p:to>
                                    </p:set>
                                  </p:childTnLst>
                                </p:cTn>
                              </p:par>
                            </p:childTnLst>
                          </p:cTn>
                        </p:par>
                      </p:childTnLst>
                    </p:cTn>
                  </p:par>
                </p:childTnLst>
              </p:cTn>
              <p:nextCondLst>
                <p:cond evt="onClick" delay="0">
                  <p:tgtEl>
                    <p:spTgt spid="84"/>
                  </p:tgtEl>
                </p:cond>
              </p:nextCondLst>
            </p:seq>
            <p:seq concurrent="1" nextAc="seek">
              <p:cTn id="46" restart="whenNotActive" fill="hold" evtFilter="cancelBubble" nodeType="interactiveSeq">
                <p:stCondLst>
                  <p:cond evt="onClick" delay="0">
                    <p:tgtEl>
                      <p:spTgt spid="85"/>
                    </p:tgtEl>
                  </p:cond>
                </p:stCondLst>
                <p:endSync evt="end" delay="0">
                  <p:rtn val="all"/>
                </p:endSync>
                <p:childTnLst>
                  <p:par>
                    <p:cTn id="47" fill="hold">
                      <p:stCondLst>
                        <p:cond delay="0"/>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89"/>
                                        </p:tgtEl>
                                        <p:attrNameLst>
                                          <p:attrName>style.visibility</p:attrName>
                                        </p:attrNameLst>
                                      </p:cBhvr>
                                      <p:to>
                                        <p:strVal val="visible"/>
                                      </p:to>
                                    </p:set>
                                  </p:childTnLst>
                                </p:cTn>
                              </p:par>
                              <p:par>
                                <p:cTn id="51" presetID="1" presetClass="exit" presetSubtype="0" fill="hold" nodeType="withEffect">
                                  <p:stCondLst>
                                    <p:cond delay="0"/>
                                  </p:stCondLst>
                                  <p:childTnLst>
                                    <p:set>
                                      <p:cBhvr>
                                        <p:cTn id="52" dur="1" fill="hold">
                                          <p:stCondLst>
                                            <p:cond delay="0"/>
                                          </p:stCondLst>
                                        </p:cTn>
                                        <p:tgtEl>
                                          <p:spTgt spid="96"/>
                                        </p:tgtEl>
                                        <p:attrNameLst>
                                          <p:attrName>style.visibility</p:attrName>
                                        </p:attrNameLst>
                                      </p:cBhvr>
                                      <p:to>
                                        <p:strVal val="hidden"/>
                                      </p:to>
                                    </p:set>
                                  </p:childTnLst>
                                </p:cTn>
                              </p:par>
                            </p:childTnLst>
                          </p:cTn>
                        </p:par>
                      </p:childTnLst>
                    </p:cTn>
                  </p:par>
                </p:childTnLst>
              </p:cTn>
              <p:nextCondLst>
                <p:cond evt="onClick" delay="0">
                  <p:tgtEl>
                    <p:spTgt spid="85"/>
                  </p:tgtEl>
                </p:cond>
              </p:nextCondLst>
            </p:seq>
            <p:seq concurrent="1" nextAc="seek">
              <p:cTn id="53" restart="whenNotActive" fill="hold" evtFilter="cancelBubble" nodeType="interactiveSeq">
                <p:stCondLst>
                  <p:cond evt="onClick" delay="0">
                    <p:tgtEl>
                      <p:spTgt spid="90"/>
                    </p:tgtEl>
                  </p:cond>
                </p:stCondLst>
                <p:endSync evt="end" delay="0">
                  <p:rtn val="all"/>
                </p:endSync>
                <p:childTnLst>
                  <p:par>
                    <p:cTn id="54" fill="hold">
                      <p:stCondLst>
                        <p:cond delay="0"/>
                      </p:stCondLst>
                      <p:childTnLst>
                        <p:par>
                          <p:cTn id="55" fill="hold">
                            <p:stCondLst>
                              <p:cond delay="0"/>
                            </p:stCondLst>
                            <p:childTnLst>
                              <p:par>
                                <p:cTn id="56" presetID="1" presetClass="entr" presetSubtype="0" fill="hold" grpId="0" nodeType="clickEffect">
                                  <p:stCondLst>
                                    <p:cond delay="0"/>
                                  </p:stCondLst>
                                  <p:childTnLst>
                                    <p:set>
                                      <p:cBhvr>
                                        <p:cTn id="57" dur="1" fill="hold">
                                          <p:stCondLst>
                                            <p:cond delay="0"/>
                                          </p:stCondLst>
                                        </p:cTn>
                                        <p:tgtEl>
                                          <p:spTgt spid="91"/>
                                        </p:tgtEl>
                                        <p:attrNameLst>
                                          <p:attrName>style.visibility</p:attrName>
                                        </p:attrNameLst>
                                      </p:cBhvr>
                                      <p:to>
                                        <p:strVal val="visible"/>
                                      </p:to>
                                    </p:set>
                                  </p:childTnLst>
                                </p:cTn>
                              </p:par>
                              <p:par>
                                <p:cTn id="58" presetID="1" presetClass="exit" presetSubtype="0" fill="hold" nodeType="withEffect">
                                  <p:stCondLst>
                                    <p:cond delay="0"/>
                                  </p:stCondLst>
                                  <p:childTnLst>
                                    <p:set>
                                      <p:cBhvr>
                                        <p:cTn id="59" dur="1" fill="hold">
                                          <p:stCondLst>
                                            <p:cond delay="0"/>
                                          </p:stCondLst>
                                        </p:cTn>
                                        <p:tgtEl>
                                          <p:spTgt spid="98"/>
                                        </p:tgtEl>
                                        <p:attrNameLst>
                                          <p:attrName>style.visibility</p:attrName>
                                        </p:attrNameLst>
                                      </p:cBhvr>
                                      <p:to>
                                        <p:strVal val="hidden"/>
                                      </p:to>
                                    </p:set>
                                  </p:childTnLst>
                                </p:cTn>
                              </p:par>
                              <p:par>
                                <p:cTn id="60" presetID="1" presetClass="entr" presetSubtype="0" fill="hold" nodeType="withEffect">
                                  <p:stCondLst>
                                    <p:cond delay="0"/>
                                  </p:stCondLst>
                                  <p:childTnLst>
                                    <p:set>
                                      <p:cBhvr>
                                        <p:cTn id="61" dur="1" fill="hold">
                                          <p:stCondLst>
                                            <p:cond delay="0"/>
                                          </p:stCondLst>
                                        </p:cTn>
                                        <p:tgtEl>
                                          <p:spTgt spid="105"/>
                                        </p:tgtEl>
                                        <p:attrNameLst>
                                          <p:attrName>style.visibility</p:attrName>
                                        </p:attrNameLst>
                                      </p:cBhvr>
                                      <p:to>
                                        <p:strVal val="visible"/>
                                      </p:to>
                                    </p:set>
                                  </p:childTnLst>
                                </p:cTn>
                              </p:par>
                              <p:par>
                                <p:cTn id="62" presetID="1" presetClass="entr" presetSubtype="0" fill="hold" grpId="0" nodeType="withEffect">
                                  <p:stCondLst>
                                    <p:cond delay="0"/>
                                  </p:stCondLst>
                                  <p:childTnLst>
                                    <p:set>
                                      <p:cBhvr>
                                        <p:cTn id="63" dur="1" fill="hold">
                                          <p:stCondLst>
                                            <p:cond delay="0"/>
                                          </p:stCondLst>
                                        </p:cTn>
                                        <p:tgtEl>
                                          <p:spTgt spid="99"/>
                                        </p:tgtEl>
                                        <p:attrNameLst>
                                          <p:attrName>style.visibility</p:attrName>
                                        </p:attrNameLst>
                                      </p:cBhvr>
                                      <p:to>
                                        <p:strVal val="visible"/>
                                      </p:to>
                                    </p:set>
                                  </p:childTnLst>
                                </p:cTn>
                              </p:par>
                              <p:par>
                                <p:cTn id="64" presetID="1" presetClass="entr" presetSubtype="0" fill="hold" grpId="0" nodeType="withEffect">
                                  <p:stCondLst>
                                    <p:cond delay="0"/>
                                  </p:stCondLst>
                                  <p:childTnLst>
                                    <p:set>
                                      <p:cBhvr>
                                        <p:cTn id="65" dur="1" fill="hold">
                                          <p:stCondLst>
                                            <p:cond delay="0"/>
                                          </p:stCondLst>
                                        </p:cTn>
                                        <p:tgtEl>
                                          <p:spTgt spid="100"/>
                                        </p:tgtEl>
                                        <p:attrNameLst>
                                          <p:attrName>style.visibility</p:attrName>
                                        </p:attrNameLst>
                                      </p:cBhvr>
                                      <p:to>
                                        <p:strVal val="visible"/>
                                      </p:to>
                                    </p:set>
                                  </p:childTnLst>
                                </p:cTn>
                              </p:par>
                              <p:par>
                                <p:cTn id="66" presetID="1" presetClass="entr" presetSubtype="0" fill="hold" nodeType="withEffect">
                                  <p:stCondLst>
                                    <p:cond delay="0"/>
                                  </p:stCondLst>
                                  <p:childTnLst>
                                    <p:set>
                                      <p:cBhvr>
                                        <p:cTn id="67" dur="1" fill="hold">
                                          <p:stCondLst>
                                            <p:cond delay="0"/>
                                          </p:stCondLst>
                                        </p:cTn>
                                        <p:tgtEl>
                                          <p:spTgt spid="106"/>
                                        </p:tgtEl>
                                        <p:attrNameLst>
                                          <p:attrName>style.visibility</p:attrName>
                                        </p:attrNameLst>
                                      </p:cBhvr>
                                      <p:to>
                                        <p:strVal val="visible"/>
                                      </p:to>
                                    </p:set>
                                  </p:childTnLst>
                                </p:cTn>
                              </p:par>
                              <p:par>
                                <p:cTn id="68" presetID="1" presetClass="entr" presetSubtype="0" fill="hold" nodeType="withEffect">
                                  <p:stCondLst>
                                    <p:cond delay="0"/>
                                  </p:stCondLst>
                                  <p:childTnLst>
                                    <p:set>
                                      <p:cBhvr>
                                        <p:cTn id="69" dur="1" fill="hold">
                                          <p:stCondLst>
                                            <p:cond delay="0"/>
                                          </p:stCondLst>
                                        </p:cTn>
                                        <p:tgtEl>
                                          <p:spTgt spid="110"/>
                                        </p:tgtEl>
                                        <p:attrNameLst>
                                          <p:attrName>style.visibility</p:attrName>
                                        </p:attrNameLst>
                                      </p:cBhvr>
                                      <p:to>
                                        <p:strVal val="visible"/>
                                      </p:to>
                                    </p:set>
                                  </p:childTnLst>
                                </p:cTn>
                              </p:par>
                              <p:par>
                                <p:cTn id="70" presetID="1" presetClass="entr" presetSubtype="0" fill="hold" grpId="0" nodeType="withEffect">
                                  <p:stCondLst>
                                    <p:cond delay="0"/>
                                  </p:stCondLst>
                                  <p:childTnLst>
                                    <p:set>
                                      <p:cBhvr>
                                        <p:cTn id="71" dur="1" fill="hold">
                                          <p:stCondLst>
                                            <p:cond delay="0"/>
                                          </p:stCondLst>
                                        </p:cTn>
                                        <p:tgtEl>
                                          <p:spTgt spid="108"/>
                                        </p:tgtEl>
                                        <p:attrNameLst>
                                          <p:attrName>style.visibility</p:attrName>
                                        </p:attrNameLst>
                                      </p:cBhvr>
                                      <p:to>
                                        <p:strVal val="visible"/>
                                      </p:to>
                                    </p:set>
                                  </p:childTnLst>
                                </p:cTn>
                              </p:par>
                              <p:par>
                                <p:cTn id="72" presetID="1" presetClass="entr" presetSubtype="0" fill="hold" nodeType="withEffect">
                                  <p:stCondLst>
                                    <p:cond delay="0"/>
                                  </p:stCondLst>
                                  <p:childTnLst>
                                    <p:set>
                                      <p:cBhvr>
                                        <p:cTn id="73" dur="1" fill="hold">
                                          <p:stCondLst>
                                            <p:cond delay="0"/>
                                          </p:stCondLst>
                                        </p:cTn>
                                        <p:tgtEl>
                                          <p:spTgt spid="107"/>
                                        </p:tgtEl>
                                        <p:attrNameLst>
                                          <p:attrName>style.visibility</p:attrName>
                                        </p:attrNameLst>
                                      </p:cBhvr>
                                      <p:to>
                                        <p:strVal val="visible"/>
                                      </p:to>
                                    </p:set>
                                  </p:childTnLst>
                                </p:cTn>
                              </p:par>
                              <p:par>
                                <p:cTn id="74" presetID="1" presetClass="entr" presetSubtype="0" fill="hold" grpId="0" nodeType="withEffect">
                                  <p:stCondLst>
                                    <p:cond delay="0"/>
                                  </p:stCondLst>
                                  <p:childTnLst>
                                    <p:set>
                                      <p:cBhvr>
                                        <p:cTn id="75" dur="1" fill="hold">
                                          <p:stCondLst>
                                            <p:cond delay="0"/>
                                          </p:stCondLst>
                                        </p:cTn>
                                        <p:tgtEl>
                                          <p:spTgt spid="101"/>
                                        </p:tgtEl>
                                        <p:attrNameLst>
                                          <p:attrName>style.visibility</p:attrName>
                                        </p:attrNameLst>
                                      </p:cBhvr>
                                      <p:to>
                                        <p:strVal val="visible"/>
                                      </p:to>
                                    </p:set>
                                  </p:childTnLst>
                                </p:cTn>
                              </p:par>
                            </p:childTnLst>
                          </p:cTn>
                        </p:par>
                      </p:childTnLst>
                    </p:cTn>
                  </p:par>
                </p:childTnLst>
              </p:cTn>
              <p:nextCondLst>
                <p:cond evt="onClick" delay="0">
                  <p:tgtEl>
                    <p:spTgt spid="90"/>
                  </p:tgtEl>
                </p:cond>
              </p:nextCondLst>
            </p:seq>
            <p:seq concurrent="1" nextAc="seek">
              <p:cTn id="76" restart="whenNotActive" fill="hold" evtFilter="cancelBubble" nodeType="interactiveSeq">
                <p:stCondLst>
                  <p:cond evt="onClick" delay="0">
                    <p:tgtEl>
                      <p:spTgt spid="99"/>
                    </p:tgtEl>
                  </p:cond>
                </p:stCondLst>
                <p:endSync evt="end" delay="0">
                  <p:rtn val="all"/>
                </p:endSync>
                <p:childTnLst>
                  <p:par>
                    <p:cTn id="77" fill="hold">
                      <p:stCondLst>
                        <p:cond delay="0"/>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102"/>
                                        </p:tgtEl>
                                        <p:attrNameLst>
                                          <p:attrName>style.visibility</p:attrName>
                                        </p:attrNameLst>
                                      </p:cBhvr>
                                      <p:to>
                                        <p:strVal val="visible"/>
                                      </p:to>
                                    </p:set>
                                  </p:childTnLst>
                                </p:cTn>
                              </p:par>
                              <p:par>
                                <p:cTn id="81" presetID="1" presetClass="exit" presetSubtype="0" fill="hold" nodeType="withEffect">
                                  <p:stCondLst>
                                    <p:cond delay="0"/>
                                  </p:stCondLst>
                                  <p:childTnLst>
                                    <p:set>
                                      <p:cBhvr>
                                        <p:cTn id="82" dur="1" fill="hold">
                                          <p:stCondLst>
                                            <p:cond delay="0"/>
                                          </p:stCondLst>
                                        </p:cTn>
                                        <p:tgtEl>
                                          <p:spTgt spid="105"/>
                                        </p:tgtEl>
                                        <p:attrNameLst>
                                          <p:attrName>style.visibility</p:attrName>
                                        </p:attrNameLst>
                                      </p:cBhvr>
                                      <p:to>
                                        <p:strVal val="hidden"/>
                                      </p:to>
                                    </p:set>
                                  </p:childTnLst>
                                </p:cTn>
                              </p:par>
                            </p:childTnLst>
                          </p:cTn>
                        </p:par>
                      </p:childTnLst>
                    </p:cTn>
                  </p:par>
                </p:childTnLst>
              </p:cTn>
              <p:nextCondLst>
                <p:cond evt="onClick" delay="0">
                  <p:tgtEl>
                    <p:spTgt spid="99"/>
                  </p:tgtEl>
                </p:cond>
              </p:nextCondLst>
            </p:seq>
            <p:seq concurrent="1" nextAc="seek">
              <p:cTn id="83" restart="whenNotActive" fill="hold" evtFilter="cancelBubble" nodeType="interactiveSeq">
                <p:stCondLst>
                  <p:cond evt="onClick" delay="0">
                    <p:tgtEl>
                      <p:spTgt spid="100"/>
                    </p:tgtEl>
                  </p:cond>
                </p:stCondLst>
                <p:endSync evt="end" delay="0">
                  <p:rtn val="all"/>
                </p:endSync>
                <p:childTnLst>
                  <p:par>
                    <p:cTn id="84" fill="hold">
                      <p:stCondLst>
                        <p:cond delay="0"/>
                      </p:stCondLst>
                      <p:childTnLst>
                        <p:par>
                          <p:cTn id="85" fill="hold">
                            <p:stCondLst>
                              <p:cond delay="0"/>
                            </p:stCondLst>
                            <p:childTnLst>
                              <p:par>
                                <p:cTn id="86" presetID="1" presetClass="entr" presetSubtype="0" fill="hold" grpId="0" nodeType="clickEffect">
                                  <p:stCondLst>
                                    <p:cond delay="0"/>
                                  </p:stCondLst>
                                  <p:childTnLst>
                                    <p:set>
                                      <p:cBhvr>
                                        <p:cTn id="87" dur="1" fill="hold">
                                          <p:stCondLst>
                                            <p:cond delay="0"/>
                                          </p:stCondLst>
                                        </p:cTn>
                                        <p:tgtEl>
                                          <p:spTgt spid="103"/>
                                        </p:tgtEl>
                                        <p:attrNameLst>
                                          <p:attrName>style.visibility</p:attrName>
                                        </p:attrNameLst>
                                      </p:cBhvr>
                                      <p:to>
                                        <p:strVal val="visible"/>
                                      </p:to>
                                    </p:set>
                                  </p:childTnLst>
                                </p:cTn>
                              </p:par>
                              <p:par>
                                <p:cTn id="88" presetID="1" presetClass="exit" presetSubtype="0" fill="hold" nodeType="withEffect">
                                  <p:stCondLst>
                                    <p:cond delay="0"/>
                                  </p:stCondLst>
                                  <p:childTnLst>
                                    <p:set>
                                      <p:cBhvr>
                                        <p:cTn id="89" dur="1" fill="hold">
                                          <p:stCondLst>
                                            <p:cond delay="0"/>
                                          </p:stCondLst>
                                        </p:cTn>
                                        <p:tgtEl>
                                          <p:spTgt spid="106"/>
                                        </p:tgtEl>
                                        <p:attrNameLst>
                                          <p:attrName>style.visibility</p:attrName>
                                        </p:attrNameLst>
                                      </p:cBhvr>
                                      <p:to>
                                        <p:strVal val="hidden"/>
                                      </p:to>
                                    </p:set>
                                  </p:childTnLst>
                                </p:cTn>
                              </p:par>
                            </p:childTnLst>
                          </p:cTn>
                        </p:par>
                      </p:childTnLst>
                    </p:cTn>
                  </p:par>
                </p:childTnLst>
              </p:cTn>
              <p:nextCondLst>
                <p:cond evt="onClick" delay="0">
                  <p:tgtEl>
                    <p:spTgt spid="100"/>
                  </p:tgtEl>
                </p:cond>
              </p:nextCondLst>
            </p:seq>
            <p:seq concurrent="1" nextAc="seek">
              <p:cTn id="90" restart="whenNotActive" fill="hold" evtFilter="cancelBubble" nodeType="interactiveSeq">
                <p:stCondLst>
                  <p:cond evt="onClick" delay="0">
                    <p:tgtEl>
                      <p:spTgt spid="101"/>
                    </p:tgtEl>
                  </p:cond>
                </p:stCondLst>
                <p:endSync evt="end" delay="0">
                  <p:rtn val="all"/>
                </p:endSync>
                <p:childTnLst>
                  <p:par>
                    <p:cTn id="91" fill="hold">
                      <p:stCondLst>
                        <p:cond delay="0"/>
                      </p:stCondLst>
                      <p:childTnLst>
                        <p:par>
                          <p:cTn id="92" fill="hold">
                            <p:stCondLst>
                              <p:cond delay="0"/>
                            </p:stCondLst>
                            <p:childTnLst>
                              <p:par>
                                <p:cTn id="93" presetID="1" presetClass="entr" presetSubtype="0" fill="hold" grpId="0" nodeType="withEffect">
                                  <p:stCondLst>
                                    <p:cond delay="0"/>
                                  </p:stCondLst>
                                  <p:childTnLst>
                                    <p:set>
                                      <p:cBhvr>
                                        <p:cTn id="94" dur="1" fill="hold">
                                          <p:stCondLst>
                                            <p:cond delay="0"/>
                                          </p:stCondLst>
                                        </p:cTn>
                                        <p:tgtEl>
                                          <p:spTgt spid="104"/>
                                        </p:tgtEl>
                                        <p:attrNameLst>
                                          <p:attrName>style.visibility</p:attrName>
                                        </p:attrNameLst>
                                      </p:cBhvr>
                                      <p:to>
                                        <p:strVal val="visible"/>
                                      </p:to>
                                    </p:set>
                                  </p:childTnLst>
                                </p:cTn>
                              </p:par>
                              <p:par>
                                <p:cTn id="95" presetID="1" presetClass="exit" presetSubtype="0" fill="hold" nodeType="withEffect">
                                  <p:stCondLst>
                                    <p:cond delay="0"/>
                                  </p:stCondLst>
                                  <p:childTnLst>
                                    <p:set>
                                      <p:cBhvr>
                                        <p:cTn id="96" dur="1" fill="hold">
                                          <p:stCondLst>
                                            <p:cond delay="0"/>
                                          </p:stCondLst>
                                        </p:cTn>
                                        <p:tgtEl>
                                          <p:spTgt spid="107"/>
                                        </p:tgtEl>
                                        <p:attrNameLst>
                                          <p:attrName>style.visibility</p:attrName>
                                        </p:attrNameLst>
                                      </p:cBhvr>
                                      <p:to>
                                        <p:strVal val="hidden"/>
                                      </p:to>
                                    </p:set>
                                  </p:childTnLst>
                                </p:cTn>
                              </p:par>
                            </p:childTnLst>
                          </p:cTn>
                        </p:par>
                      </p:childTnLst>
                    </p:cTn>
                  </p:par>
                </p:childTnLst>
              </p:cTn>
              <p:nextCondLst>
                <p:cond evt="onClick" delay="0">
                  <p:tgtEl>
                    <p:spTgt spid="101"/>
                  </p:tgtEl>
                </p:cond>
              </p:nextCondLst>
            </p:seq>
            <p:seq concurrent="1" nextAc="seek">
              <p:cTn id="97" restart="whenNotActive" fill="hold" evtFilter="cancelBubble" nodeType="interactiveSeq">
                <p:stCondLst>
                  <p:cond evt="onClick" delay="0">
                    <p:tgtEl>
                      <p:spTgt spid="108"/>
                    </p:tgtEl>
                  </p:cond>
                </p:stCondLst>
                <p:endSync evt="end" delay="0">
                  <p:rtn val="all"/>
                </p:endSync>
                <p:childTnLst>
                  <p:par>
                    <p:cTn id="98" fill="hold">
                      <p:stCondLst>
                        <p:cond delay="0"/>
                      </p:stCondLst>
                      <p:childTnLst>
                        <p:par>
                          <p:cTn id="99" fill="hold">
                            <p:stCondLst>
                              <p:cond delay="0"/>
                            </p:stCondLst>
                            <p:childTnLst>
                              <p:par>
                                <p:cTn id="100" presetID="1" presetClass="exit" presetSubtype="0" fill="hold" nodeType="withEffect">
                                  <p:stCondLst>
                                    <p:cond delay="0"/>
                                  </p:stCondLst>
                                  <p:childTnLst>
                                    <p:set>
                                      <p:cBhvr>
                                        <p:cTn id="101" dur="1" fill="hold">
                                          <p:stCondLst>
                                            <p:cond delay="0"/>
                                          </p:stCondLst>
                                        </p:cTn>
                                        <p:tgtEl>
                                          <p:spTgt spid="110"/>
                                        </p:tgtEl>
                                        <p:attrNameLst>
                                          <p:attrName>style.visibility</p:attrName>
                                        </p:attrNameLst>
                                      </p:cBhvr>
                                      <p:to>
                                        <p:strVal val="hidden"/>
                                      </p:to>
                                    </p:set>
                                  </p:childTnLst>
                                </p:cTn>
                              </p:par>
                              <p:par>
                                <p:cTn id="102" presetID="1" presetClass="entr" presetSubtype="0" fill="hold" grpId="0" nodeType="withEffect">
                                  <p:stCondLst>
                                    <p:cond delay="0"/>
                                  </p:stCondLst>
                                  <p:childTnLst>
                                    <p:set>
                                      <p:cBhvr>
                                        <p:cTn id="103" dur="1" fill="hold">
                                          <p:stCondLst>
                                            <p:cond delay="0"/>
                                          </p:stCondLst>
                                        </p:cTn>
                                        <p:tgtEl>
                                          <p:spTgt spid="109"/>
                                        </p:tgtEl>
                                        <p:attrNameLst>
                                          <p:attrName>style.visibility</p:attrName>
                                        </p:attrNameLst>
                                      </p:cBhvr>
                                      <p:to>
                                        <p:strVal val="visible"/>
                                      </p:to>
                                    </p:set>
                                  </p:childTnLst>
                                </p:cTn>
                              </p:par>
                            </p:childTnLst>
                          </p:cTn>
                        </p:par>
                      </p:childTnLst>
                    </p:cTn>
                  </p:par>
                </p:childTnLst>
              </p:cTn>
              <p:nextCondLst>
                <p:cond evt="onClick" delay="0">
                  <p:tgtEl>
                    <p:spTgt spid="108"/>
                  </p:tgtEl>
                </p:cond>
              </p:nextCondLst>
            </p:seq>
          </p:childTnLst>
        </p:cTn>
      </p:par>
    </p:tnLst>
    <p:bldLst>
      <p:bldP spid="66" grpId="0"/>
      <p:bldP spid="68" grpId="0" animBg="1"/>
      <p:bldP spid="83" grpId="0" animBg="1"/>
      <p:bldP spid="84" grpId="0" animBg="1"/>
      <p:bldP spid="85" grpId="0" animBg="1"/>
      <p:bldP spid="86" grpId="0" animBg="1"/>
      <p:bldP spid="87" grpId="0" animBg="1"/>
      <p:bldP spid="88" grpId="0"/>
      <p:bldP spid="89" grpId="0" animBg="1"/>
      <p:bldP spid="91" grpId="0"/>
      <p:bldP spid="99" grpId="0" animBg="1"/>
      <p:bldP spid="100" grpId="0" animBg="1"/>
      <p:bldP spid="101" grpId="0" animBg="1"/>
      <p:bldP spid="102" grpId="0"/>
      <p:bldP spid="103" grpId="0"/>
      <p:bldP spid="104" grpId="0"/>
      <p:bldP spid="108" grpId="0" animBg="1"/>
      <p:bldP spid="109"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question 1">
            <a:hlinkClick r:id="rId3" action="ppaction://hlinksldjump"/>
            <a:extLst>
              <a:ext uri="{FF2B5EF4-FFF2-40B4-BE49-F238E27FC236}">
                <a16:creationId xmlns:a16="http://schemas.microsoft.com/office/drawing/2014/main" id="{1F2220B1-90BA-6F1B-3B15-E75AB5EE7B0D}"/>
              </a:ext>
            </a:extLst>
          </p:cNvPr>
          <p:cNvSpPr txBox="1"/>
          <p:nvPr/>
        </p:nvSpPr>
        <p:spPr>
          <a:xfrm>
            <a:off x="181642" y="159488"/>
            <a:ext cx="1645920"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Diagnosis</a:t>
            </a:r>
          </a:p>
        </p:txBody>
      </p:sp>
      <p:pic>
        <p:nvPicPr>
          <p:cNvPr id="13" name="Graphic 12" descr="Cursor with solid fill">
            <a:extLst>
              <a:ext uri="{FF2B5EF4-FFF2-40B4-BE49-F238E27FC236}">
                <a16:creationId xmlns:a16="http://schemas.microsoft.com/office/drawing/2014/main" id="{00396E7B-5B44-7942-1FD0-06E95C7EC7B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701287" y="435897"/>
            <a:ext cx="274320" cy="274320"/>
          </a:xfrm>
          <a:prstGeom prst="rect">
            <a:avLst/>
          </a:prstGeom>
        </p:spPr>
      </p:pic>
      <p:sp>
        <p:nvSpPr>
          <p:cNvPr id="14" name="Question 2">
            <a:hlinkClick r:id="rId6" action="ppaction://hlinksldjump"/>
            <a:extLst>
              <a:ext uri="{FF2B5EF4-FFF2-40B4-BE49-F238E27FC236}">
                <a16:creationId xmlns:a16="http://schemas.microsoft.com/office/drawing/2014/main" id="{2FCDEF97-B4EA-654C-6A68-3EF05906B861}"/>
              </a:ext>
            </a:extLst>
          </p:cNvPr>
          <p:cNvSpPr txBox="1"/>
          <p:nvPr/>
        </p:nvSpPr>
        <p:spPr>
          <a:xfrm>
            <a:off x="181642" y="731519"/>
            <a:ext cx="1645920"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Classification</a:t>
            </a:r>
          </a:p>
        </p:txBody>
      </p:sp>
      <p:pic>
        <p:nvPicPr>
          <p:cNvPr id="15" name="Graphic 14" descr="Cursor with solid fill">
            <a:extLst>
              <a:ext uri="{FF2B5EF4-FFF2-40B4-BE49-F238E27FC236}">
                <a16:creationId xmlns:a16="http://schemas.microsoft.com/office/drawing/2014/main" id="{72F1804D-23A6-17D4-FD33-6733A7C0E4F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701287" y="1007490"/>
            <a:ext cx="274320" cy="274320"/>
          </a:xfrm>
          <a:prstGeom prst="rect">
            <a:avLst/>
          </a:prstGeom>
        </p:spPr>
      </p:pic>
      <p:sp>
        <p:nvSpPr>
          <p:cNvPr id="16" name="Question 2">
            <a:hlinkClick r:id="rId7" action="ppaction://hlinksldjump"/>
            <a:extLst>
              <a:ext uri="{FF2B5EF4-FFF2-40B4-BE49-F238E27FC236}">
                <a16:creationId xmlns:a16="http://schemas.microsoft.com/office/drawing/2014/main" id="{80F9D6D4-81E4-00D3-B143-520F469C6A4C}"/>
              </a:ext>
            </a:extLst>
          </p:cNvPr>
          <p:cNvSpPr txBox="1"/>
          <p:nvPr/>
        </p:nvSpPr>
        <p:spPr>
          <a:xfrm>
            <a:off x="181642" y="1303550"/>
            <a:ext cx="1645920"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Management</a:t>
            </a:r>
          </a:p>
        </p:txBody>
      </p:sp>
      <p:pic>
        <p:nvPicPr>
          <p:cNvPr id="17" name="Graphic 16" descr="Cursor with solid fill">
            <a:extLst>
              <a:ext uri="{FF2B5EF4-FFF2-40B4-BE49-F238E27FC236}">
                <a16:creationId xmlns:a16="http://schemas.microsoft.com/office/drawing/2014/main" id="{9230CDD0-86A6-EDF1-AD8D-F6FCD1B34FA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701287" y="1579083"/>
            <a:ext cx="274320" cy="274320"/>
          </a:xfrm>
          <a:prstGeom prst="rect">
            <a:avLst/>
          </a:prstGeom>
        </p:spPr>
      </p:pic>
      <p:sp>
        <p:nvSpPr>
          <p:cNvPr id="18" name="Cases">
            <a:hlinkClick r:id="rId8" action="ppaction://hlinksldjump"/>
            <a:extLst>
              <a:ext uri="{FF2B5EF4-FFF2-40B4-BE49-F238E27FC236}">
                <a16:creationId xmlns:a16="http://schemas.microsoft.com/office/drawing/2014/main" id="{755B3ECC-0E54-8C52-D4A5-8AE173FBE01D}"/>
              </a:ext>
            </a:extLst>
          </p:cNvPr>
          <p:cNvSpPr txBox="1"/>
          <p:nvPr/>
        </p:nvSpPr>
        <p:spPr>
          <a:xfrm>
            <a:off x="181642" y="2447614"/>
            <a:ext cx="1645920"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Exacerbations</a:t>
            </a:r>
          </a:p>
        </p:txBody>
      </p:sp>
      <p:sp>
        <p:nvSpPr>
          <p:cNvPr id="19" name="Question 2">
            <a:hlinkClick r:id="rId9" action="ppaction://hlinksldjump"/>
            <a:extLst>
              <a:ext uri="{FF2B5EF4-FFF2-40B4-BE49-F238E27FC236}">
                <a16:creationId xmlns:a16="http://schemas.microsoft.com/office/drawing/2014/main" id="{B22BB822-7CC4-92EA-322C-D05B7D5CB1FD}"/>
              </a:ext>
            </a:extLst>
          </p:cNvPr>
          <p:cNvSpPr txBox="1"/>
          <p:nvPr/>
        </p:nvSpPr>
        <p:spPr>
          <a:xfrm>
            <a:off x="181642" y="1875581"/>
            <a:ext cx="1645920"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Efficacy</a:t>
            </a:r>
          </a:p>
        </p:txBody>
      </p:sp>
      <p:pic>
        <p:nvPicPr>
          <p:cNvPr id="20" name="Graphic 19" descr="Cursor with solid fill">
            <a:extLst>
              <a:ext uri="{FF2B5EF4-FFF2-40B4-BE49-F238E27FC236}">
                <a16:creationId xmlns:a16="http://schemas.microsoft.com/office/drawing/2014/main" id="{B4926500-7F51-ADB8-A666-ECB89231540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701287" y="2722270"/>
            <a:ext cx="270869" cy="274320"/>
          </a:xfrm>
          <a:prstGeom prst="rect">
            <a:avLst/>
          </a:prstGeom>
        </p:spPr>
      </p:pic>
      <p:pic>
        <p:nvPicPr>
          <p:cNvPr id="21" name="Graphic 20" descr="Cursor with solid fill">
            <a:extLst>
              <a:ext uri="{FF2B5EF4-FFF2-40B4-BE49-F238E27FC236}">
                <a16:creationId xmlns:a16="http://schemas.microsoft.com/office/drawing/2014/main" id="{B989C3C4-168C-A7A4-A721-B3002E52561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701287" y="2150676"/>
            <a:ext cx="274320" cy="274320"/>
          </a:xfrm>
          <a:prstGeom prst="rect">
            <a:avLst/>
          </a:prstGeom>
        </p:spPr>
      </p:pic>
      <p:sp>
        <p:nvSpPr>
          <p:cNvPr id="22" name="Cases">
            <a:hlinkClick r:id="rId10" action="ppaction://hlinksldjump"/>
            <a:extLst>
              <a:ext uri="{FF2B5EF4-FFF2-40B4-BE49-F238E27FC236}">
                <a16:creationId xmlns:a16="http://schemas.microsoft.com/office/drawing/2014/main" id="{ADF513F4-260E-4927-6C07-85C54A31C601}"/>
              </a:ext>
            </a:extLst>
          </p:cNvPr>
          <p:cNvSpPr txBox="1"/>
          <p:nvPr/>
        </p:nvSpPr>
        <p:spPr>
          <a:xfrm>
            <a:off x="181642" y="3020377"/>
            <a:ext cx="1645920" cy="408623"/>
          </a:xfrm>
          <a:prstGeom prst="roundRect">
            <a:avLst/>
          </a:prstGeom>
          <a:solidFill>
            <a:schemeClr val="tx1"/>
          </a:solidFill>
          <a:ln w="38100"/>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chemeClr val="bg1"/>
                </a:solidFill>
              </a:rPr>
              <a:t>Cases</a:t>
            </a:r>
          </a:p>
        </p:txBody>
      </p:sp>
      <p:pic>
        <p:nvPicPr>
          <p:cNvPr id="23" name="Graphic 22" descr="Cursor with solid fill">
            <a:extLst>
              <a:ext uri="{FF2B5EF4-FFF2-40B4-BE49-F238E27FC236}">
                <a16:creationId xmlns:a16="http://schemas.microsoft.com/office/drawing/2014/main" id="{CD8CB43E-09CF-02D8-BB16-1F2FC9E045D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701287" y="2723439"/>
            <a:ext cx="274320" cy="274320"/>
          </a:xfrm>
          <a:prstGeom prst="rect">
            <a:avLst/>
          </a:prstGeom>
        </p:spPr>
      </p:pic>
      <p:sp>
        <p:nvSpPr>
          <p:cNvPr id="24" name="Cases">
            <a:hlinkClick r:id="rId10" action="ppaction://hlinksldjump"/>
            <a:extLst>
              <a:ext uri="{FF2B5EF4-FFF2-40B4-BE49-F238E27FC236}">
                <a16:creationId xmlns:a16="http://schemas.microsoft.com/office/drawing/2014/main" id="{188FAD26-F8FB-667B-FACF-16C52E17229F}"/>
              </a:ext>
            </a:extLst>
          </p:cNvPr>
          <p:cNvSpPr txBox="1"/>
          <p:nvPr/>
        </p:nvSpPr>
        <p:spPr>
          <a:xfrm>
            <a:off x="609600" y="3593140"/>
            <a:ext cx="1203786"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1-2</a:t>
            </a:r>
          </a:p>
        </p:txBody>
      </p:sp>
      <p:pic>
        <p:nvPicPr>
          <p:cNvPr id="25" name="Graphic 24" descr="Cursor with solid fill">
            <a:extLst>
              <a:ext uri="{FF2B5EF4-FFF2-40B4-BE49-F238E27FC236}">
                <a16:creationId xmlns:a16="http://schemas.microsoft.com/office/drawing/2014/main" id="{CD1BBDFA-5D2B-3E5E-A89B-4152B80AE22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687111" y="3867796"/>
            <a:ext cx="270869" cy="274320"/>
          </a:xfrm>
          <a:prstGeom prst="rect">
            <a:avLst/>
          </a:prstGeom>
        </p:spPr>
      </p:pic>
      <p:pic>
        <p:nvPicPr>
          <p:cNvPr id="26" name="Graphic 25" descr="Cursor with solid fill">
            <a:extLst>
              <a:ext uri="{FF2B5EF4-FFF2-40B4-BE49-F238E27FC236}">
                <a16:creationId xmlns:a16="http://schemas.microsoft.com/office/drawing/2014/main" id="{5213A7E3-FD73-01D9-7901-392662D6C09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687111" y="3868965"/>
            <a:ext cx="274320" cy="274320"/>
          </a:xfrm>
          <a:prstGeom prst="rect">
            <a:avLst/>
          </a:prstGeom>
        </p:spPr>
      </p:pic>
      <p:cxnSp>
        <p:nvCxnSpPr>
          <p:cNvPr id="27" name="Connector: Elbow 26">
            <a:extLst>
              <a:ext uri="{FF2B5EF4-FFF2-40B4-BE49-F238E27FC236}">
                <a16:creationId xmlns:a16="http://schemas.microsoft.com/office/drawing/2014/main" id="{42677739-A3A8-CFD9-3B3E-41D97A68AC6C}"/>
              </a:ext>
            </a:extLst>
          </p:cNvPr>
          <p:cNvCxnSpPr>
            <a:cxnSpLocks/>
            <a:endCxn id="24" idx="1"/>
          </p:cNvCxnSpPr>
          <p:nvPr/>
        </p:nvCxnSpPr>
        <p:spPr>
          <a:xfrm rot="16200000" flipH="1">
            <a:off x="248824" y="3436675"/>
            <a:ext cx="408623" cy="312929"/>
          </a:xfrm>
          <a:prstGeom prst="bentConnector2">
            <a:avLst/>
          </a:prstGeom>
          <a:ln w="38100">
            <a:tailEnd type="triangle"/>
          </a:ln>
        </p:spPr>
        <p:style>
          <a:lnRef idx="3">
            <a:schemeClr val="dk1"/>
          </a:lnRef>
          <a:fillRef idx="0">
            <a:schemeClr val="dk1"/>
          </a:fillRef>
          <a:effectRef idx="2">
            <a:schemeClr val="dk1"/>
          </a:effectRef>
          <a:fontRef idx="minor">
            <a:schemeClr val="tx1"/>
          </a:fontRef>
        </p:style>
      </p:cxnSp>
      <p:sp>
        <p:nvSpPr>
          <p:cNvPr id="28" name="Cases">
            <a:hlinkClick r:id="rId8" action="ppaction://hlinksldjump"/>
            <a:extLst>
              <a:ext uri="{FF2B5EF4-FFF2-40B4-BE49-F238E27FC236}">
                <a16:creationId xmlns:a16="http://schemas.microsoft.com/office/drawing/2014/main" id="{513062D5-F7EA-842E-0853-471C903B3096}"/>
              </a:ext>
            </a:extLst>
          </p:cNvPr>
          <p:cNvSpPr txBox="1"/>
          <p:nvPr/>
        </p:nvSpPr>
        <p:spPr>
          <a:xfrm>
            <a:off x="609600" y="4193060"/>
            <a:ext cx="1203786"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3</a:t>
            </a:r>
          </a:p>
        </p:txBody>
      </p:sp>
      <p:pic>
        <p:nvPicPr>
          <p:cNvPr id="29" name="Graphic 28" descr="Cursor with solid fill">
            <a:extLst>
              <a:ext uri="{FF2B5EF4-FFF2-40B4-BE49-F238E27FC236}">
                <a16:creationId xmlns:a16="http://schemas.microsoft.com/office/drawing/2014/main" id="{6778E2D4-7FAA-D689-C85B-3C2C11C5EFD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687111" y="4467716"/>
            <a:ext cx="270869" cy="274320"/>
          </a:xfrm>
          <a:prstGeom prst="rect">
            <a:avLst/>
          </a:prstGeom>
        </p:spPr>
      </p:pic>
      <p:pic>
        <p:nvPicPr>
          <p:cNvPr id="30" name="Graphic 29" descr="Cursor with solid fill">
            <a:extLst>
              <a:ext uri="{FF2B5EF4-FFF2-40B4-BE49-F238E27FC236}">
                <a16:creationId xmlns:a16="http://schemas.microsoft.com/office/drawing/2014/main" id="{86873B8C-0818-1D68-D361-EACDDBF1D12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687111" y="4468885"/>
            <a:ext cx="274320" cy="274320"/>
          </a:xfrm>
          <a:prstGeom prst="rect">
            <a:avLst/>
          </a:prstGeom>
        </p:spPr>
      </p:pic>
      <p:cxnSp>
        <p:nvCxnSpPr>
          <p:cNvPr id="31" name="Connector: Elbow 30">
            <a:extLst>
              <a:ext uri="{FF2B5EF4-FFF2-40B4-BE49-F238E27FC236}">
                <a16:creationId xmlns:a16="http://schemas.microsoft.com/office/drawing/2014/main" id="{7A4E989B-ADE0-A181-510A-A53173FF1503}"/>
              </a:ext>
            </a:extLst>
          </p:cNvPr>
          <p:cNvCxnSpPr>
            <a:cxnSpLocks/>
            <a:endCxn id="28" idx="1"/>
          </p:cNvCxnSpPr>
          <p:nvPr/>
        </p:nvCxnSpPr>
        <p:spPr>
          <a:xfrm rot="16200000" flipH="1">
            <a:off x="109178" y="3896950"/>
            <a:ext cx="687914" cy="312929"/>
          </a:xfrm>
          <a:prstGeom prst="bentConnector2">
            <a:avLst/>
          </a:prstGeom>
          <a:ln w="38100">
            <a:tailEnd type="triangle"/>
          </a:ln>
        </p:spPr>
        <p:style>
          <a:lnRef idx="3">
            <a:schemeClr val="dk1"/>
          </a:lnRef>
          <a:fillRef idx="0">
            <a:schemeClr val="dk1"/>
          </a:fillRef>
          <a:effectRef idx="2">
            <a:schemeClr val="dk1"/>
          </a:effectRef>
          <a:fontRef idx="minor">
            <a:schemeClr val="tx1"/>
          </a:fontRef>
        </p:style>
      </p:cxnSp>
      <p:sp>
        <p:nvSpPr>
          <p:cNvPr id="45" name="Case 1">
            <a:extLst>
              <a:ext uri="{FF2B5EF4-FFF2-40B4-BE49-F238E27FC236}">
                <a16:creationId xmlns:a16="http://schemas.microsoft.com/office/drawing/2014/main" id="{4F2249FF-FD85-6A51-4083-D3BBCAAA6D28}"/>
              </a:ext>
            </a:extLst>
          </p:cNvPr>
          <p:cNvSpPr/>
          <p:nvPr/>
        </p:nvSpPr>
        <p:spPr>
          <a:xfrm>
            <a:off x="6304583" y="191213"/>
            <a:ext cx="1271781" cy="412786"/>
          </a:xfrm>
          <a:prstGeom prst="roundRect">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Case 3</a:t>
            </a:r>
          </a:p>
        </p:txBody>
      </p:sp>
      <p:sp>
        <p:nvSpPr>
          <p:cNvPr id="46" name="Case 1 text">
            <a:extLst>
              <a:ext uri="{FF2B5EF4-FFF2-40B4-BE49-F238E27FC236}">
                <a16:creationId xmlns:a16="http://schemas.microsoft.com/office/drawing/2014/main" id="{DFECDA6C-825C-477F-E2CA-950696544CB0}"/>
              </a:ext>
            </a:extLst>
          </p:cNvPr>
          <p:cNvSpPr txBox="1"/>
          <p:nvPr/>
        </p:nvSpPr>
        <p:spPr>
          <a:xfrm>
            <a:off x="2076484" y="747084"/>
            <a:ext cx="9531316" cy="877163"/>
          </a:xfrm>
          <a:prstGeom prst="rect">
            <a:avLst/>
          </a:prstGeom>
          <a:noFill/>
        </p:spPr>
        <p:txBody>
          <a:bodyPr wrap="square" lIns="91440" tIns="45720" rIns="91440" bIns="45720" rtlCol="0" anchor="t">
            <a:spAutoFit/>
          </a:bodyPr>
          <a:lstStyle/>
          <a:p>
            <a:pPr lvl="0"/>
            <a:r>
              <a:rPr lang="en-US" sz="1500" dirty="0"/>
              <a:t>80-year-old former smoker with COPD (FEV1 35%) on 2 L home O2 presents for gradually worsening dyspnea, now affecting some ADLs. No exacerbations within the last year. He has no history of colonization with </a:t>
            </a:r>
            <a:r>
              <a:rPr lang="en-US" sz="1500" i="1" dirty="0"/>
              <a:t>Pseudomonas</a:t>
            </a:r>
            <a:r>
              <a:rPr lang="en-US" sz="1500" dirty="0"/>
              <a:t>. </a:t>
            </a:r>
          </a:p>
          <a:p>
            <a:pPr lvl="0"/>
            <a:endParaRPr lang="en-US" sz="600" u="sng" dirty="0"/>
          </a:p>
          <a:p>
            <a:pPr lvl="0"/>
            <a:r>
              <a:rPr lang="en-US" sz="1500" u="sng" dirty="0"/>
              <a:t>Meds</a:t>
            </a:r>
            <a:r>
              <a:rPr lang="en-US" sz="1500" dirty="0"/>
              <a:t>:  LABA-LAMA daily + PRN SABA </a:t>
            </a:r>
            <a:endParaRPr lang="en-US" sz="1500" dirty="0">
              <a:ea typeface="+mn-lt"/>
              <a:cs typeface="+mn-lt"/>
            </a:endParaRPr>
          </a:p>
        </p:txBody>
      </p:sp>
      <p:sp>
        <p:nvSpPr>
          <p:cNvPr id="47" name="Case 1 - Q 1">
            <a:extLst>
              <a:ext uri="{FF2B5EF4-FFF2-40B4-BE49-F238E27FC236}">
                <a16:creationId xmlns:a16="http://schemas.microsoft.com/office/drawing/2014/main" id="{45EFEFBA-E2FE-B80C-86F2-3334770A7E29}"/>
              </a:ext>
            </a:extLst>
          </p:cNvPr>
          <p:cNvSpPr/>
          <p:nvPr/>
        </p:nvSpPr>
        <p:spPr>
          <a:xfrm>
            <a:off x="2126191" y="1786268"/>
            <a:ext cx="4663440" cy="365760"/>
          </a:xfrm>
          <a:prstGeom prst="roundRect">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r>
              <a:rPr lang="en-US" sz="1500" dirty="0"/>
              <a:t>What additional work-up is needed?</a:t>
            </a:r>
          </a:p>
        </p:txBody>
      </p:sp>
      <p:sp>
        <p:nvSpPr>
          <p:cNvPr id="49" name="Case 1 - Q 3">
            <a:extLst>
              <a:ext uri="{FF2B5EF4-FFF2-40B4-BE49-F238E27FC236}">
                <a16:creationId xmlns:a16="http://schemas.microsoft.com/office/drawing/2014/main" id="{458BBE05-4A45-760D-913B-BED7492A3077}"/>
              </a:ext>
            </a:extLst>
          </p:cNvPr>
          <p:cNvSpPr/>
          <p:nvPr/>
        </p:nvSpPr>
        <p:spPr>
          <a:xfrm>
            <a:off x="2126191" y="2914509"/>
            <a:ext cx="4663440" cy="365760"/>
          </a:xfrm>
          <a:prstGeom prst="roundRect">
            <a:avLst>
              <a:gd name="adj" fmla="val 13824"/>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dirty="0"/>
              <a:t>Next step in management?</a:t>
            </a:r>
          </a:p>
        </p:txBody>
      </p:sp>
      <p:sp>
        <p:nvSpPr>
          <p:cNvPr id="50" name="Case 1 - Q 4">
            <a:extLst>
              <a:ext uri="{FF2B5EF4-FFF2-40B4-BE49-F238E27FC236}">
                <a16:creationId xmlns:a16="http://schemas.microsoft.com/office/drawing/2014/main" id="{A709070D-8441-22DF-E2F4-5AB638B2BDBA}"/>
              </a:ext>
            </a:extLst>
          </p:cNvPr>
          <p:cNvSpPr/>
          <p:nvPr/>
        </p:nvSpPr>
        <p:spPr>
          <a:xfrm>
            <a:off x="2069823" y="5495230"/>
            <a:ext cx="4663440" cy="365760"/>
          </a:xfrm>
          <a:prstGeom prst="roundRect">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r>
              <a:rPr lang="en-US" sz="1500" dirty="0"/>
              <a:t>Next step in management?</a:t>
            </a:r>
          </a:p>
        </p:txBody>
      </p:sp>
      <p:sp>
        <p:nvSpPr>
          <p:cNvPr id="51" name="Case 1 - A 1">
            <a:extLst>
              <a:ext uri="{FF2B5EF4-FFF2-40B4-BE49-F238E27FC236}">
                <a16:creationId xmlns:a16="http://schemas.microsoft.com/office/drawing/2014/main" id="{ABCAB26B-0343-5582-74DA-B32E9B6B79CF}"/>
              </a:ext>
            </a:extLst>
          </p:cNvPr>
          <p:cNvSpPr/>
          <p:nvPr/>
        </p:nvSpPr>
        <p:spPr>
          <a:xfrm>
            <a:off x="2034751" y="2212939"/>
            <a:ext cx="4754880" cy="558785"/>
          </a:xfrm>
          <a:prstGeom prst="rect">
            <a:avLst/>
          </a:prstGeom>
          <a:no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500" dirty="0"/>
              <a:t>Rule out other causes of worsening dyspnea. Consider CXR, BNP, CBC for anemia, etc. </a:t>
            </a:r>
          </a:p>
        </p:txBody>
      </p:sp>
      <p:sp>
        <p:nvSpPr>
          <p:cNvPr id="53" name="Case 1 - A 3">
            <a:extLst>
              <a:ext uri="{FF2B5EF4-FFF2-40B4-BE49-F238E27FC236}">
                <a16:creationId xmlns:a16="http://schemas.microsoft.com/office/drawing/2014/main" id="{E29041B9-4814-D982-C21F-98801EC6E8EE}"/>
              </a:ext>
            </a:extLst>
          </p:cNvPr>
          <p:cNvSpPr/>
          <p:nvPr/>
        </p:nvSpPr>
        <p:spPr>
          <a:xfrm>
            <a:off x="2126191" y="3370225"/>
            <a:ext cx="4663440" cy="1231458"/>
          </a:xfrm>
          <a:prstGeom prst="rect">
            <a:avLst/>
          </a:prstGeom>
          <a:noFill/>
          <a:ln>
            <a:noFill/>
          </a:ln>
        </p:spPr>
        <p:style>
          <a:lnRef idx="2">
            <a:schemeClr val="accent1"/>
          </a:lnRef>
          <a:fillRef idx="1">
            <a:schemeClr val="lt1"/>
          </a:fillRef>
          <a:effectRef idx="0">
            <a:schemeClr val="accent1"/>
          </a:effectRef>
          <a:fontRef idx="minor">
            <a:schemeClr val="dk1"/>
          </a:fontRef>
        </p:style>
        <p:txBody>
          <a:bodyPr rtlCol="0" anchor="ctr"/>
          <a:lstStyle/>
          <a:p>
            <a:pPr marL="177800" indent="-177800">
              <a:buFont typeface="Arial" panose="020B0604020202020204" pitchFamily="34" charset="0"/>
              <a:buChar char="•"/>
            </a:pPr>
            <a:r>
              <a:rPr lang="en-US" sz="1500" b="1" dirty="0"/>
              <a:t>Observe inhaler technique</a:t>
            </a:r>
            <a:endParaRPr lang="en-US" sz="1500" dirty="0"/>
          </a:p>
          <a:p>
            <a:pPr marL="177800" indent="-177800">
              <a:buFont typeface="Arial" panose="020B0604020202020204" pitchFamily="34" charset="0"/>
              <a:buChar char="•"/>
            </a:pPr>
            <a:r>
              <a:rPr lang="en-US" sz="1500" dirty="0"/>
              <a:t>Ensure adherence to home O</a:t>
            </a:r>
            <a:r>
              <a:rPr lang="en-US" sz="1500" baseline="-25000" dirty="0"/>
              <a:t>2</a:t>
            </a:r>
            <a:r>
              <a:rPr lang="en-US" sz="1500" dirty="0"/>
              <a:t> therapy</a:t>
            </a:r>
          </a:p>
          <a:p>
            <a:pPr marL="177800" indent="-177800">
              <a:buFont typeface="Arial" panose="020B0604020202020204" pitchFamily="34" charset="0"/>
              <a:buChar char="•"/>
            </a:pPr>
            <a:r>
              <a:rPr lang="en-US" sz="1500" dirty="0"/>
              <a:t>Consider pulmonary rehab</a:t>
            </a:r>
          </a:p>
          <a:p>
            <a:pPr marL="177800" indent="-177800">
              <a:buFont typeface="Arial" panose="020B0604020202020204" pitchFamily="34" charset="0"/>
              <a:buChar char="•"/>
            </a:pPr>
            <a:r>
              <a:rPr lang="en-US" sz="1500" dirty="0"/>
              <a:t>Refer to Pulmonology for advanced therapies (LVRS, endobronchial valves). </a:t>
            </a:r>
          </a:p>
        </p:txBody>
      </p:sp>
      <p:sp>
        <p:nvSpPr>
          <p:cNvPr id="54" name="Case 1 - A 4">
            <a:extLst>
              <a:ext uri="{FF2B5EF4-FFF2-40B4-BE49-F238E27FC236}">
                <a16:creationId xmlns:a16="http://schemas.microsoft.com/office/drawing/2014/main" id="{407B8844-EC63-7ADA-D757-9927FEAB9871}"/>
              </a:ext>
            </a:extLst>
          </p:cNvPr>
          <p:cNvSpPr/>
          <p:nvPr/>
        </p:nvSpPr>
        <p:spPr>
          <a:xfrm>
            <a:off x="1992066" y="5899408"/>
            <a:ext cx="4754880" cy="785852"/>
          </a:xfrm>
          <a:prstGeom prst="rect">
            <a:avLst/>
          </a:prstGeom>
          <a:no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500" dirty="0"/>
              <a:t>Check peripheral eosinophils. </a:t>
            </a:r>
            <a:r>
              <a:rPr lang="en-US" sz="1500" b="1" dirty="0"/>
              <a:t>Consider adding ICS </a:t>
            </a:r>
            <a:r>
              <a:rPr lang="en-US" sz="1500" dirty="0"/>
              <a:t>if </a:t>
            </a:r>
            <a:r>
              <a:rPr lang="en-US" sz="1500" dirty="0" err="1"/>
              <a:t>eos</a:t>
            </a:r>
            <a:r>
              <a:rPr lang="en-US" sz="1500" dirty="0"/>
              <a:t> &gt;100 with frequent exacerbations. </a:t>
            </a:r>
          </a:p>
          <a:p>
            <a:pPr algn="ctr"/>
            <a:r>
              <a:rPr lang="en-US" sz="1500" dirty="0"/>
              <a:t>Consider </a:t>
            </a:r>
            <a:r>
              <a:rPr lang="en-US" sz="1500" b="1" dirty="0"/>
              <a:t>palliative care</a:t>
            </a:r>
            <a:r>
              <a:rPr lang="en-US" sz="1500" dirty="0"/>
              <a:t> for symptom management.</a:t>
            </a:r>
          </a:p>
        </p:txBody>
      </p:sp>
      <p:pic>
        <p:nvPicPr>
          <p:cNvPr id="55" name="Graphic 54" descr="Cursor with solid fill">
            <a:extLst>
              <a:ext uri="{FF2B5EF4-FFF2-40B4-BE49-F238E27FC236}">
                <a16:creationId xmlns:a16="http://schemas.microsoft.com/office/drawing/2014/main" id="{54375172-9635-53BC-72AC-A9AB6F842B1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666154" y="2028061"/>
            <a:ext cx="274320" cy="274320"/>
          </a:xfrm>
          <a:prstGeom prst="rect">
            <a:avLst/>
          </a:prstGeom>
        </p:spPr>
      </p:pic>
      <p:pic>
        <p:nvPicPr>
          <p:cNvPr id="57" name="Graphic 56" descr="Cursor with solid fill">
            <a:extLst>
              <a:ext uri="{FF2B5EF4-FFF2-40B4-BE49-F238E27FC236}">
                <a16:creationId xmlns:a16="http://schemas.microsoft.com/office/drawing/2014/main" id="{86AE4A0E-6E8E-F2F9-4796-D6C16DF03CF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666154" y="3161757"/>
            <a:ext cx="274320" cy="274320"/>
          </a:xfrm>
          <a:prstGeom prst="rect">
            <a:avLst/>
          </a:prstGeom>
        </p:spPr>
      </p:pic>
      <p:pic>
        <p:nvPicPr>
          <p:cNvPr id="59" name="Graphic 58" descr="Cursor with solid fill">
            <a:extLst>
              <a:ext uri="{FF2B5EF4-FFF2-40B4-BE49-F238E27FC236}">
                <a16:creationId xmlns:a16="http://schemas.microsoft.com/office/drawing/2014/main" id="{85BE425B-0113-859D-CCFB-9F8BE04155C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609786" y="5738559"/>
            <a:ext cx="274320" cy="274320"/>
          </a:xfrm>
          <a:prstGeom prst="rect">
            <a:avLst/>
          </a:prstGeom>
        </p:spPr>
      </p:pic>
      <p:pic>
        <p:nvPicPr>
          <p:cNvPr id="60" name="Graphic 59" descr="Cursor with solid fill">
            <a:extLst>
              <a:ext uri="{FF2B5EF4-FFF2-40B4-BE49-F238E27FC236}">
                <a16:creationId xmlns:a16="http://schemas.microsoft.com/office/drawing/2014/main" id="{BFA642CF-89B4-3DC7-4D63-E6FD1D55D67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426436" y="470547"/>
            <a:ext cx="274320" cy="274320"/>
          </a:xfrm>
          <a:prstGeom prst="rect">
            <a:avLst/>
          </a:prstGeom>
        </p:spPr>
      </p:pic>
      <p:sp>
        <p:nvSpPr>
          <p:cNvPr id="61" name="Case 1 - A 3">
            <a:extLst>
              <a:ext uri="{FF2B5EF4-FFF2-40B4-BE49-F238E27FC236}">
                <a16:creationId xmlns:a16="http://schemas.microsoft.com/office/drawing/2014/main" id="{CBA570C7-10F7-06D2-601C-8719CDD54712}"/>
              </a:ext>
            </a:extLst>
          </p:cNvPr>
          <p:cNvSpPr/>
          <p:nvPr/>
        </p:nvSpPr>
        <p:spPr>
          <a:xfrm>
            <a:off x="7088260" y="1769550"/>
            <a:ext cx="4862787" cy="720154"/>
          </a:xfrm>
          <a:prstGeom prst="rect">
            <a:avLst/>
          </a:prstGeom>
          <a:noFill/>
          <a:ln>
            <a:noFill/>
          </a:ln>
        </p:spPr>
        <p:style>
          <a:lnRef idx="2">
            <a:schemeClr val="accent1"/>
          </a:lnRef>
          <a:fillRef idx="1">
            <a:schemeClr val="lt1"/>
          </a:fillRef>
          <a:effectRef idx="0">
            <a:schemeClr val="accent1"/>
          </a:effectRef>
          <a:fontRef idx="minor">
            <a:schemeClr val="dk1"/>
          </a:fontRef>
        </p:style>
        <p:txBody>
          <a:bodyPr rtlCol="0" anchor="ctr"/>
          <a:lstStyle/>
          <a:p>
            <a:r>
              <a:rPr lang="en-US" sz="1500" dirty="0"/>
              <a:t>…They start a combination LABA-LAMA-ICS. Two months later, they are readmitted to the hospital with productive cough, found to have pneumonia and a COPD exacerbation. </a:t>
            </a:r>
          </a:p>
        </p:txBody>
      </p:sp>
      <p:cxnSp>
        <p:nvCxnSpPr>
          <p:cNvPr id="63" name="Straight Connector 62">
            <a:extLst>
              <a:ext uri="{FF2B5EF4-FFF2-40B4-BE49-F238E27FC236}">
                <a16:creationId xmlns:a16="http://schemas.microsoft.com/office/drawing/2014/main" id="{ED806980-B031-53A9-E3DD-492A9793A9FF}"/>
              </a:ext>
            </a:extLst>
          </p:cNvPr>
          <p:cNvCxnSpPr>
            <a:cxnSpLocks/>
          </p:cNvCxnSpPr>
          <p:nvPr/>
        </p:nvCxnSpPr>
        <p:spPr>
          <a:xfrm>
            <a:off x="6986183" y="1712173"/>
            <a:ext cx="0" cy="4947106"/>
          </a:xfrm>
          <a:prstGeom prst="line">
            <a:avLst/>
          </a:prstGeom>
          <a:ln w="38100">
            <a:solidFill>
              <a:schemeClr val="accent5"/>
            </a:solidFill>
          </a:ln>
        </p:spPr>
        <p:style>
          <a:lnRef idx="1">
            <a:schemeClr val="accent1"/>
          </a:lnRef>
          <a:fillRef idx="0">
            <a:schemeClr val="accent1"/>
          </a:fillRef>
          <a:effectRef idx="0">
            <a:schemeClr val="accent1"/>
          </a:effectRef>
          <a:fontRef idx="minor">
            <a:schemeClr val="tx1"/>
          </a:fontRef>
        </p:style>
      </p:cxnSp>
      <p:sp>
        <p:nvSpPr>
          <p:cNvPr id="65" name="Case 1 - A 3">
            <a:extLst>
              <a:ext uri="{FF2B5EF4-FFF2-40B4-BE49-F238E27FC236}">
                <a16:creationId xmlns:a16="http://schemas.microsoft.com/office/drawing/2014/main" id="{1E0CB103-9356-8AAA-29F4-6B0361410965}"/>
              </a:ext>
            </a:extLst>
          </p:cNvPr>
          <p:cNvSpPr/>
          <p:nvPr/>
        </p:nvSpPr>
        <p:spPr>
          <a:xfrm>
            <a:off x="2034751" y="4600571"/>
            <a:ext cx="4754880" cy="905143"/>
          </a:xfrm>
          <a:prstGeom prst="rect">
            <a:avLst/>
          </a:prstGeom>
          <a:noFill/>
          <a:ln>
            <a:noFill/>
          </a:ln>
        </p:spPr>
        <p:style>
          <a:lnRef idx="2">
            <a:schemeClr val="accent1"/>
          </a:lnRef>
          <a:fillRef idx="1">
            <a:schemeClr val="lt1"/>
          </a:fillRef>
          <a:effectRef idx="0">
            <a:schemeClr val="accent1"/>
          </a:effectRef>
          <a:fontRef idx="minor">
            <a:schemeClr val="dk1"/>
          </a:fontRef>
        </p:style>
        <p:txBody>
          <a:bodyPr rtlCol="0" anchor="ctr"/>
          <a:lstStyle/>
          <a:p>
            <a:r>
              <a:rPr lang="en-US" sz="1500" dirty="0"/>
              <a:t>….Pulmonology does not recommend additional therapies given age. The next month, they are admitted to the hospital for a COPD exacerbation and persistent dyspnea.</a:t>
            </a:r>
          </a:p>
        </p:txBody>
      </p:sp>
      <p:sp>
        <p:nvSpPr>
          <p:cNvPr id="67" name="Case 1 - Q 4">
            <a:extLst>
              <a:ext uri="{FF2B5EF4-FFF2-40B4-BE49-F238E27FC236}">
                <a16:creationId xmlns:a16="http://schemas.microsoft.com/office/drawing/2014/main" id="{7E77E8C8-1927-5790-FD1D-E40481E4B6A8}"/>
              </a:ext>
            </a:extLst>
          </p:cNvPr>
          <p:cNvSpPr/>
          <p:nvPr/>
        </p:nvSpPr>
        <p:spPr>
          <a:xfrm>
            <a:off x="7086832" y="2601671"/>
            <a:ext cx="4846320" cy="365760"/>
          </a:xfrm>
          <a:prstGeom prst="roundRect">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r>
              <a:rPr lang="en-US" sz="1500" dirty="0"/>
              <a:t>Next step in acute COPD management?</a:t>
            </a:r>
          </a:p>
        </p:txBody>
      </p:sp>
      <p:sp>
        <p:nvSpPr>
          <p:cNvPr id="69" name="Case 1 - A 4">
            <a:extLst>
              <a:ext uri="{FF2B5EF4-FFF2-40B4-BE49-F238E27FC236}">
                <a16:creationId xmlns:a16="http://schemas.microsoft.com/office/drawing/2014/main" id="{944F8D36-15BC-3B98-0989-D81E4C50FCBE}"/>
              </a:ext>
            </a:extLst>
          </p:cNvPr>
          <p:cNvSpPr/>
          <p:nvPr/>
        </p:nvSpPr>
        <p:spPr>
          <a:xfrm>
            <a:off x="7106365" y="3069899"/>
            <a:ext cx="4792889" cy="1816288"/>
          </a:xfrm>
          <a:prstGeom prst="rect">
            <a:avLst/>
          </a:prstGeom>
          <a:noFill/>
          <a:ln>
            <a:noFill/>
          </a:ln>
        </p:spPr>
        <p:style>
          <a:lnRef idx="2">
            <a:schemeClr val="accent1"/>
          </a:lnRef>
          <a:fillRef idx="1">
            <a:schemeClr val="lt1"/>
          </a:fillRef>
          <a:effectRef idx="0">
            <a:schemeClr val="accent1"/>
          </a:effectRef>
          <a:fontRef idx="minor">
            <a:schemeClr val="dk1"/>
          </a:fontRef>
        </p:style>
        <p:txBody>
          <a:bodyPr rtlCol="0" anchor="ctr"/>
          <a:lstStyle/>
          <a:p>
            <a:pPr marL="177800" indent="-177800">
              <a:buFont typeface="Arial" panose="020B0604020202020204" pitchFamily="34" charset="0"/>
              <a:buChar char="•"/>
            </a:pPr>
            <a:r>
              <a:rPr lang="en-US" sz="1500" b="1" dirty="0"/>
              <a:t>Check an ABG </a:t>
            </a:r>
            <a:r>
              <a:rPr lang="en-US" sz="1500" dirty="0"/>
              <a:t>– patients with pH &lt;7.35 and pCO</a:t>
            </a:r>
            <a:r>
              <a:rPr lang="en-US" sz="1500" baseline="-25000" dirty="0"/>
              <a:t>2</a:t>
            </a:r>
            <a:r>
              <a:rPr lang="en-US" sz="1500" dirty="0"/>
              <a:t>&gt;45 benefit from NIPPV. </a:t>
            </a:r>
          </a:p>
          <a:p>
            <a:pPr marL="177800" indent="-177800">
              <a:buFont typeface="Arial" panose="020B0604020202020204" pitchFamily="34" charset="0"/>
              <a:buChar char="•"/>
            </a:pPr>
            <a:r>
              <a:rPr lang="en-US" sz="1500" b="1" dirty="0"/>
              <a:t>Steroids</a:t>
            </a:r>
            <a:r>
              <a:rPr lang="en-US" sz="1500" dirty="0"/>
              <a:t> – prednisone 40 mg daily x 5 days.</a:t>
            </a:r>
          </a:p>
          <a:p>
            <a:pPr marL="177800" indent="-177800">
              <a:buFont typeface="Arial" panose="020B0604020202020204" pitchFamily="34" charset="0"/>
              <a:buChar char="•"/>
            </a:pPr>
            <a:r>
              <a:rPr lang="en-US" sz="1500" b="1" dirty="0"/>
              <a:t>Sputum culture </a:t>
            </a:r>
            <a:r>
              <a:rPr lang="en-US" sz="1500" dirty="0"/>
              <a:t>– consider for patients with sputum purulence to assess for bacterial colonization. </a:t>
            </a:r>
          </a:p>
          <a:p>
            <a:pPr marL="177800" indent="-177800">
              <a:buFont typeface="Arial" panose="020B0604020202020204" pitchFamily="34" charset="0"/>
              <a:buChar char="•"/>
            </a:pPr>
            <a:r>
              <a:rPr lang="en-US" sz="1500" b="1" dirty="0"/>
              <a:t>Antibiotics</a:t>
            </a:r>
            <a:r>
              <a:rPr lang="en-US" sz="1500" dirty="0"/>
              <a:t> – given recent exacerbation and severe COPD (FEV1 35%), treat with anti-PsA antibiotic (e.g., levofloxacin)</a:t>
            </a:r>
          </a:p>
        </p:txBody>
      </p:sp>
      <p:pic>
        <p:nvPicPr>
          <p:cNvPr id="70" name="Graphic 69" descr="Cursor with solid fill">
            <a:extLst>
              <a:ext uri="{FF2B5EF4-FFF2-40B4-BE49-F238E27FC236}">
                <a16:creationId xmlns:a16="http://schemas.microsoft.com/office/drawing/2014/main" id="{47C89BA0-3027-2E8C-3592-E3B94A7AD43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804595" y="2845000"/>
            <a:ext cx="274320" cy="274320"/>
          </a:xfrm>
          <a:prstGeom prst="rect">
            <a:avLst/>
          </a:prstGeom>
        </p:spPr>
      </p:pic>
      <p:sp>
        <p:nvSpPr>
          <p:cNvPr id="71" name="Case 1 - Q 4">
            <a:extLst>
              <a:ext uri="{FF2B5EF4-FFF2-40B4-BE49-F238E27FC236}">
                <a16:creationId xmlns:a16="http://schemas.microsoft.com/office/drawing/2014/main" id="{0578F9F5-1368-1E8A-8A57-1E8AC249426A}"/>
              </a:ext>
            </a:extLst>
          </p:cNvPr>
          <p:cNvSpPr/>
          <p:nvPr/>
        </p:nvSpPr>
        <p:spPr>
          <a:xfrm>
            <a:off x="7088260" y="5097957"/>
            <a:ext cx="4846320" cy="365760"/>
          </a:xfrm>
          <a:prstGeom prst="roundRect">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r>
              <a:rPr lang="en-US" sz="1500" dirty="0"/>
              <a:t>Next step in chronic COPD management?</a:t>
            </a:r>
          </a:p>
        </p:txBody>
      </p:sp>
      <p:sp>
        <p:nvSpPr>
          <p:cNvPr id="72" name="Case 1 - A 4">
            <a:extLst>
              <a:ext uri="{FF2B5EF4-FFF2-40B4-BE49-F238E27FC236}">
                <a16:creationId xmlns:a16="http://schemas.microsoft.com/office/drawing/2014/main" id="{AA315D69-C3CB-033C-F296-4095114252B4}"/>
              </a:ext>
            </a:extLst>
          </p:cNvPr>
          <p:cNvSpPr/>
          <p:nvPr/>
        </p:nvSpPr>
        <p:spPr>
          <a:xfrm>
            <a:off x="7106365" y="5454914"/>
            <a:ext cx="4890395" cy="1127584"/>
          </a:xfrm>
          <a:prstGeom prst="rect">
            <a:avLst/>
          </a:prstGeom>
          <a:noFill/>
          <a:ln>
            <a:noFill/>
          </a:ln>
        </p:spPr>
        <p:style>
          <a:lnRef idx="2">
            <a:schemeClr val="accent1"/>
          </a:lnRef>
          <a:fillRef idx="1">
            <a:schemeClr val="lt1"/>
          </a:fillRef>
          <a:effectRef idx="0">
            <a:schemeClr val="accent1"/>
          </a:effectRef>
          <a:fontRef idx="minor">
            <a:schemeClr val="dk1"/>
          </a:fontRef>
        </p:style>
        <p:txBody>
          <a:bodyPr rtlCol="0" anchor="ctr"/>
          <a:lstStyle/>
          <a:p>
            <a:pPr marL="177800" indent="-177800">
              <a:buFont typeface="Arial" panose="020B0604020202020204" pitchFamily="34" charset="0"/>
              <a:buChar char="•"/>
            </a:pPr>
            <a:r>
              <a:rPr lang="en-US" sz="1500" dirty="0"/>
              <a:t>Consider de-escalating ICS therapy given pneumonia. </a:t>
            </a:r>
          </a:p>
          <a:p>
            <a:pPr marL="177800" indent="-177800">
              <a:buFont typeface="Arial" panose="020B0604020202020204" pitchFamily="34" charset="0"/>
              <a:buChar char="•"/>
            </a:pPr>
            <a:r>
              <a:rPr lang="en-US" sz="1500" dirty="0"/>
              <a:t>Consider </a:t>
            </a:r>
            <a:r>
              <a:rPr lang="en-US" sz="1500" dirty="0" err="1"/>
              <a:t>Pulm</a:t>
            </a:r>
            <a:r>
              <a:rPr lang="en-US" sz="1500" dirty="0"/>
              <a:t> consult for advanced therapies (e.g., azithromycin). </a:t>
            </a:r>
          </a:p>
          <a:p>
            <a:pPr marL="177800" indent="-177800">
              <a:buFont typeface="Arial" panose="020B0604020202020204" pitchFamily="34" charset="0"/>
              <a:buChar char="•"/>
            </a:pPr>
            <a:r>
              <a:rPr lang="en-US" sz="1500" dirty="0"/>
              <a:t>Palliative care consult and advanced planning. </a:t>
            </a:r>
          </a:p>
        </p:txBody>
      </p:sp>
      <p:pic>
        <p:nvPicPr>
          <p:cNvPr id="73" name="Graphic 72" descr="Cursor with solid fill">
            <a:extLst>
              <a:ext uri="{FF2B5EF4-FFF2-40B4-BE49-F238E27FC236}">
                <a16:creationId xmlns:a16="http://schemas.microsoft.com/office/drawing/2014/main" id="{313BA5BC-1DA9-02A6-8E5B-FB91B1FCFD9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806023" y="5341286"/>
            <a:ext cx="274320" cy="274320"/>
          </a:xfrm>
          <a:prstGeom prst="rect">
            <a:avLst/>
          </a:prstGeom>
        </p:spPr>
      </p:pic>
    </p:spTree>
    <p:extLst>
      <p:ext uri="{BB962C8B-B14F-4D97-AF65-F5344CB8AC3E}">
        <p14:creationId xmlns:p14="http://schemas.microsoft.com/office/powerpoint/2010/main" val="899608200"/>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45"/>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7"/>
                                        </p:tgtEl>
                                        <p:attrNameLst>
                                          <p:attrName>style.visibility</p:attrName>
                                        </p:attrNameLst>
                                      </p:cBhvr>
                                      <p:to>
                                        <p:strVal val="visible"/>
                                      </p:to>
                                    </p:set>
                                  </p:childTnLst>
                                </p:cTn>
                              </p:par>
                              <p:par>
                                <p:cTn id="15" presetID="1" presetClass="exit" presetSubtype="0" fill="hold" nodeType="withEffect">
                                  <p:stCondLst>
                                    <p:cond delay="0"/>
                                  </p:stCondLst>
                                  <p:childTnLst>
                                    <p:set>
                                      <p:cBhvr>
                                        <p:cTn id="16" dur="1" fill="hold">
                                          <p:stCondLst>
                                            <p:cond delay="0"/>
                                          </p:stCondLst>
                                        </p:cTn>
                                        <p:tgtEl>
                                          <p:spTgt spid="60"/>
                                        </p:tgtEl>
                                        <p:attrNameLst>
                                          <p:attrName>style.visibility</p:attrName>
                                        </p:attrNameLst>
                                      </p:cBhvr>
                                      <p:to>
                                        <p:strVal val="hidden"/>
                                      </p:to>
                                    </p:set>
                                  </p:childTnLst>
                                </p:cTn>
                              </p:par>
                            </p:childTnLst>
                          </p:cTn>
                        </p:par>
                      </p:childTnLst>
                    </p:cTn>
                  </p:par>
                </p:childTnLst>
              </p:cTn>
              <p:nextCondLst>
                <p:cond evt="onClick" delay="0">
                  <p:tgtEl>
                    <p:spTgt spid="45"/>
                  </p:tgtEl>
                </p:cond>
              </p:nextCondLst>
            </p:seq>
            <p:seq concurrent="1" nextAc="seek">
              <p:cTn id="17" restart="whenNotActive" fill="hold" evtFilter="cancelBubble" nodeType="interactiveSeq">
                <p:stCondLst>
                  <p:cond evt="onClick" delay="0">
                    <p:tgtEl>
                      <p:spTgt spid="47"/>
                    </p:tgtEl>
                  </p:cond>
                </p:stCondLst>
                <p:endSync evt="end" delay="0">
                  <p:rtn val="all"/>
                </p:endSync>
                <p:childTnLst>
                  <p:par>
                    <p:cTn id="18" fill="hold">
                      <p:stCondLst>
                        <p:cond delay="0"/>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51"/>
                                        </p:tgtEl>
                                        <p:attrNameLst>
                                          <p:attrName>style.visibility</p:attrName>
                                        </p:attrNameLst>
                                      </p:cBhvr>
                                      <p:to>
                                        <p:strVal val="visible"/>
                                      </p:to>
                                    </p:set>
                                  </p:childTnLst>
                                </p:cTn>
                              </p:par>
                              <p:par>
                                <p:cTn id="22" presetID="1" presetClass="exit" presetSubtype="0" fill="hold" nodeType="withEffect">
                                  <p:stCondLst>
                                    <p:cond delay="0"/>
                                  </p:stCondLst>
                                  <p:childTnLst>
                                    <p:set>
                                      <p:cBhvr>
                                        <p:cTn id="23" dur="1" fill="hold">
                                          <p:stCondLst>
                                            <p:cond delay="0"/>
                                          </p:stCondLst>
                                        </p:cTn>
                                        <p:tgtEl>
                                          <p:spTgt spid="55"/>
                                        </p:tgtEl>
                                        <p:attrNameLst>
                                          <p:attrName>style.visibility</p:attrName>
                                        </p:attrNameLst>
                                      </p:cBhvr>
                                      <p:to>
                                        <p:strVal val="hidden"/>
                                      </p:to>
                                    </p:set>
                                  </p:childTnLst>
                                </p:cTn>
                              </p:par>
                            </p:childTnLst>
                          </p:cTn>
                        </p:par>
                      </p:childTnLst>
                    </p:cTn>
                  </p:par>
                </p:childTnLst>
              </p:cTn>
              <p:nextCondLst>
                <p:cond evt="onClick" delay="0">
                  <p:tgtEl>
                    <p:spTgt spid="47"/>
                  </p:tgtEl>
                </p:cond>
              </p:nextCondLst>
            </p:seq>
            <p:seq concurrent="1" nextAc="seek">
              <p:cTn id="24" restart="whenNotActive" fill="hold" evtFilter="cancelBubble" nodeType="interactiveSeq">
                <p:stCondLst>
                  <p:cond evt="onClick" delay="0">
                    <p:tgtEl>
                      <p:spTgt spid="49"/>
                    </p:tgtEl>
                  </p:cond>
                </p:stCondLst>
                <p:endSync evt="end" delay="0">
                  <p:rtn val="all"/>
                </p:endSync>
                <p:childTnLst>
                  <p:par>
                    <p:cTn id="25" fill="hold">
                      <p:stCondLst>
                        <p:cond delay="0"/>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5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0"/>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5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65"/>
                                        </p:tgtEl>
                                        <p:attrNameLst>
                                          <p:attrName>style.visibility</p:attrName>
                                        </p:attrNameLst>
                                      </p:cBhvr>
                                      <p:to>
                                        <p:strVal val="visible"/>
                                      </p:to>
                                    </p:set>
                                  </p:childTnLst>
                                </p:cTn>
                              </p:par>
                              <p:par>
                                <p:cTn id="35" presetID="1" presetClass="exit" presetSubtype="0" fill="hold" nodeType="withEffect">
                                  <p:stCondLst>
                                    <p:cond delay="0"/>
                                  </p:stCondLst>
                                  <p:childTnLst>
                                    <p:set>
                                      <p:cBhvr>
                                        <p:cTn id="36" dur="1" fill="hold">
                                          <p:stCondLst>
                                            <p:cond delay="0"/>
                                          </p:stCondLst>
                                        </p:cTn>
                                        <p:tgtEl>
                                          <p:spTgt spid="57"/>
                                        </p:tgtEl>
                                        <p:attrNameLst>
                                          <p:attrName>style.visibility</p:attrName>
                                        </p:attrNameLst>
                                      </p:cBhvr>
                                      <p:to>
                                        <p:strVal val="hidden"/>
                                      </p:to>
                                    </p:set>
                                  </p:childTnLst>
                                </p:cTn>
                              </p:par>
                            </p:childTnLst>
                          </p:cTn>
                        </p:par>
                      </p:childTnLst>
                    </p:cTn>
                  </p:par>
                </p:childTnLst>
              </p:cTn>
              <p:nextCondLst>
                <p:cond evt="onClick" delay="0">
                  <p:tgtEl>
                    <p:spTgt spid="49"/>
                  </p:tgtEl>
                </p:cond>
              </p:nextCondLst>
            </p:seq>
            <p:seq concurrent="1" nextAc="seek">
              <p:cTn id="37" restart="whenNotActive" fill="hold" evtFilter="cancelBubble" nodeType="interactiveSeq">
                <p:stCondLst>
                  <p:cond evt="onClick" delay="0">
                    <p:tgtEl>
                      <p:spTgt spid="50"/>
                    </p:tgtEl>
                  </p:cond>
                </p:stCondLst>
                <p:endSync evt="end" delay="0">
                  <p:rtn val="all"/>
                </p:endSync>
                <p:childTnLst>
                  <p:par>
                    <p:cTn id="38" fill="hold">
                      <p:stCondLst>
                        <p:cond delay="0"/>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54"/>
                                        </p:tgtEl>
                                        <p:attrNameLst>
                                          <p:attrName>style.visibility</p:attrName>
                                        </p:attrNameLst>
                                      </p:cBhvr>
                                      <p:to>
                                        <p:strVal val="visible"/>
                                      </p:to>
                                    </p:set>
                                  </p:childTnLst>
                                </p:cTn>
                              </p:par>
                              <p:par>
                                <p:cTn id="42" presetID="1" presetClass="exit" presetSubtype="0" fill="hold" nodeType="withEffect">
                                  <p:stCondLst>
                                    <p:cond delay="0"/>
                                  </p:stCondLst>
                                  <p:childTnLst>
                                    <p:set>
                                      <p:cBhvr>
                                        <p:cTn id="43" dur="1" fill="hold">
                                          <p:stCondLst>
                                            <p:cond delay="0"/>
                                          </p:stCondLst>
                                        </p:cTn>
                                        <p:tgtEl>
                                          <p:spTgt spid="59"/>
                                        </p:tgtEl>
                                        <p:attrNameLst>
                                          <p:attrName>style.visibility</p:attrName>
                                        </p:attrNameLst>
                                      </p:cBhvr>
                                      <p:to>
                                        <p:strVal val="hidden"/>
                                      </p:to>
                                    </p:set>
                                  </p:childTnLst>
                                </p:cTn>
                              </p:par>
                              <p:par>
                                <p:cTn id="44" presetID="1" presetClass="entr" presetSubtype="0" fill="hold" grpId="0" nodeType="withEffect">
                                  <p:stCondLst>
                                    <p:cond delay="0"/>
                                  </p:stCondLst>
                                  <p:childTnLst>
                                    <p:set>
                                      <p:cBhvr>
                                        <p:cTn id="45" dur="1" fill="hold">
                                          <p:stCondLst>
                                            <p:cond delay="0"/>
                                          </p:stCondLst>
                                        </p:cTn>
                                        <p:tgtEl>
                                          <p:spTgt spid="61"/>
                                        </p:tgtEl>
                                        <p:attrNameLst>
                                          <p:attrName>style.visibility</p:attrName>
                                        </p:attrNameLst>
                                      </p:cBhvr>
                                      <p:to>
                                        <p:strVal val="visible"/>
                                      </p:to>
                                    </p:set>
                                  </p:childTnLst>
                                </p:cTn>
                              </p:par>
                              <p:par>
                                <p:cTn id="46" presetID="1" presetClass="entr" presetSubtype="0" fill="hold" grpId="0" nodeType="withEffect">
                                  <p:stCondLst>
                                    <p:cond delay="0"/>
                                  </p:stCondLst>
                                  <p:childTnLst>
                                    <p:set>
                                      <p:cBhvr>
                                        <p:cTn id="47" dur="1" fill="hold">
                                          <p:stCondLst>
                                            <p:cond delay="0"/>
                                          </p:stCondLst>
                                        </p:cTn>
                                        <p:tgtEl>
                                          <p:spTgt spid="67"/>
                                        </p:tgtEl>
                                        <p:attrNameLst>
                                          <p:attrName>style.visibility</p:attrName>
                                        </p:attrNameLst>
                                      </p:cBhvr>
                                      <p:to>
                                        <p:strVal val="visible"/>
                                      </p:to>
                                    </p:set>
                                  </p:childTnLst>
                                </p:cTn>
                              </p:par>
                              <p:par>
                                <p:cTn id="48" presetID="1" presetClass="entr" presetSubtype="0" fill="hold" nodeType="withEffect">
                                  <p:stCondLst>
                                    <p:cond delay="0"/>
                                  </p:stCondLst>
                                  <p:childTnLst>
                                    <p:set>
                                      <p:cBhvr>
                                        <p:cTn id="49" dur="1" fill="hold">
                                          <p:stCondLst>
                                            <p:cond delay="0"/>
                                          </p:stCondLst>
                                        </p:cTn>
                                        <p:tgtEl>
                                          <p:spTgt spid="70"/>
                                        </p:tgtEl>
                                        <p:attrNameLst>
                                          <p:attrName>style.visibility</p:attrName>
                                        </p:attrNameLst>
                                      </p:cBhvr>
                                      <p:to>
                                        <p:strVal val="visible"/>
                                      </p:to>
                                    </p:set>
                                  </p:childTnLst>
                                </p:cTn>
                              </p:par>
                              <p:par>
                                <p:cTn id="50" presetID="1" presetClass="entr" presetSubtype="0" fill="hold" grpId="0" nodeType="withEffect">
                                  <p:stCondLst>
                                    <p:cond delay="0"/>
                                  </p:stCondLst>
                                  <p:childTnLst>
                                    <p:set>
                                      <p:cBhvr>
                                        <p:cTn id="51" dur="1" fill="hold">
                                          <p:stCondLst>
                                            <p:cond delay="0"/>
                                          </p:stCondLst>
                                        </p:cTn>
                                        <p:tgtEl>
                                          <p:spTgt spid="71"/>
                                        </p:tgtEl>
                                        <p:attrNameLst>
                                          <p:attrName>style.visibility</p:attrName>
                                        </p:attrNameLst>
                                      </p:cBhvr>
                                      <p:to>
                                        <p:strVal val="visible"/>
                                      </p:to>
                                    </p:set>
                                  </p:childTnLst>
                                </p:cTn>
                              </p:par>
                              <p:par>
                                <p:cTn id="52" presetID="1" presetClass="entr" presetSubtype="0" fill="hold" nodeType="withEffect">
                                  <p:stCondLst>
                                    <p:cond delay="0"/>
                                  </p:stCondLst>
                                  <p:childTnLst>
                                    <p:set>
                                      <p:cBhvr>
                                        <p:cTn id="53" dur="1" fill="hold">
                                          <p:stCondLst>
                                            <p:cond delay="0"/>
                                          </p:stCondLst>
                                        </p:cTn>
                                        <p:tgtEl>
                                          <p:spTgt spid="73"/>
                                        </p:tgtEl>
                                        <p:attrNameLst>
                                          <p:attrName>style.visibility</p:attrName>
                                        </p:attrNameLst>
                                      </p:cBhvr>
                                      <p:to>
                                        <p:strVal val="visible"/>
                                      </p:to>
                                    </p:set>
                                  </p:childTnLst>
                                </p:cTn>
                              </p:par>
                            </p:childTnLst>
                          </p:cTn>
                        </p:par>
                      </p:childTnLst>
                    </p:cTn>
                  </p:par>
                </p:childTnLst>
              </p:cTn>
              <p:nextCondLst>
                <p:cond evt="onClick" delay="0">
                  <p:tgtEl>
                    <p:spTgt spid="50"/>
                  </p:tgtEl>
                </p:cond>
              </p:nextCondLst>
            </p:seq>
            <p:seq concurrent="1" nextAc="seek">
              <p:cTn id="54" restart="whenNotActive" fill="hold" evtFilter="cancelBubble" nodeType="interactiveSeq">
                <p:stCondLst>
                  <p:cond evt="onClick" delay="0">
                    <p:tgtEl>
                      <p:spTgt spid="67"/>
                    </p:tgtEl>
                  </p:cond>
                </p:stCondLst>
                <p:endSync evt="end" delay="0">
                  <p:rtn val="all"/>
                </p:endSync>
                <p:childTnLst>
                  <p:par>
                    <p:cTn id="55" fill="hold">
                      <p:stCondLst>
                        <p:cond delay="0"/>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69"/>
                                        </p:tgtEl>
                                        <p:attrNameLst>
                                          <p:attrName>style.visibility</p:attrName>
                                        </p:attrNameLst>
                                      </p:cBhvr>
                                      <p:to>
                                        <p:strVal val="visible"/>
                                      </p:to>
                                    </p:set>
                                  </p:childTnLst>
                                </p:cTn>
                              </p:par>
                              <p:par>
                                <p:cTn id="59" presetID="1" presetClass="exit" presetSubtype="0" fill="hold" nodeType="withEffect">
                                  <p:stCondLst>
                                    <p:cond delay="0"/>
                                  </p:stCondLst>
                                  <p:childTnLst>
                                    <p:set>
                                      <p:cBhvr>
                                        <p:cTn id="60" dur="1" fill="hold">
                                          <p:stCondLst>
                                            <p:cond delay="0"/>
                                          </p:stCondLst>
                                        </p:cTn>
                                        <p:tgtEl>
                                          <p:spTgt spid="70"/>
                                        </p:tgtEl>
                                        <p:attrNameLst>
                                          <p:attrName>style.visibility</p:attrName>
                                        </p:attrNameLst>
                                      </p:cBhvr>
                                      <p:to>
                                        <p:strVal val="hidden"/>
                                      </p:to>
                                    </p:set>
                                  </p:childTnLst>
                                </p:cTn>
                              </p:par>
                            </p:childTnLst>
                          </p:cTn>
                        </p:par>
                      </p:childTnLst>
                    </p:cTn>
                  </p:par>
                </p:childTnLst>
              </p:cTn>
              <p:nextCondLst>
                <p:cond evt="onClick" delay="0">
                  <p:tgtEl>
                    <p:spTgt spid="67"/>
                  </p:tgtEl>
                </p:cond>
              </p:nextCondLst>
            </p:seq>
            <p:seq concurrent="1" nextAc="seek">
              <p:cTn id="61" restart="whenNotActive" fill="hold" evtFilter="cancelBubble" nodeType="interactiveSeq">
                <p:stCondLst>
                  <p:cond evt="onClick" delay="0">
                    <p:tgtEl>
                      <p:spTgt spid="71"/>
                    </p:tgtEl>
                  </p:cond>
                </p:stCondLst>
                <p:endSync evt="end" delay="0">
                  <p:rtn val="all"/>
                </p:endSync>
                <p:childTnLst>
                  <p:par>
                    <p:cTn id="62" fill="hold">
                      <p:stCondLst>
                        <p:cond delay="0"/>
                      </p:stCondLst>
                      <p:childTnLst>
                        <p:par>
                          <p:cTn id="63" fill="hold">
                            <p:stCondLst>
                              <p:cond delay="0"/>
                            </p:stCondLst>
                            <p:childTnLst>
                              <p:par>
                                <p:cTn id="64" presetID="1" presetClass="exit" presetSubtype="0" fill="hold" nodeType="withEffect">
                                  <p:stCondLst>
                                    <p:cond delay="0"/>
                                  </p:stCondLst>
                                  <p:childTnLst>
                                    <p:set>
                                      <p:cBhvr>
                                        <p:cTn id="65" dur="1" fill="hold">
                                          <p:stCondLst>
                                            <p:cond delay="0"/>
                                          </p:stCondLst>
                                        </p:cTn>
                                        <p:tgtEl>
                                          <p:spTgt spid="73"/>
                                        </p:tgtEl>
                                        <p:attrNameLst>
                                          <p:attrName>style.visibility</p:attrName>
                                        </p:attrNameLst>
                                      </p:cBhvr>
                                      <p:to>
                                        <p:strVal val="hidden"/>
                                      </p:to>
                                    </p:set>
                                  </p:childTnLst>
                                </p:cTn>
                              </p:par>
                              <p:par>
                                <p:cTn id="66" presetID="1" presetClass="entr" presetSubtype="0" fill="hold" grpId="0" nodeType="withEffect">
                                  <p:stCondLst>
                                    <p:cond delay="0"/>
                                  </p:stCondLst>
                                  <p:childTnLst>
                                    <p:set>
                                      <p:cBhvr>
                                        <p:cTn id="67" dur="1" fill="hold">
                                          <p:stCondLst>
                                            <p:cond delay="0"/>
                                          </p:stCondLst>
                                        </p:cTn>
                                        <p:tgtEl>
                                          <p:spTgt spid="72"/>
                                        </p:tgtEl>
                                        <p:attrNameLst>
                                          <p:attrName>style.visibility</p:attrName>
                                        </p:attrNameLst>
                                      </p:cBhvr>
                                      <p:to>
                                        <p:strVal val="visible"/>
                                      </p:to>
                                    </p:set>
                                  </p:childTnLst>
                                </p:cTn>
                              </p:par>
                            </p:childTnLst>
                          </p:cTn>
                        </p:par>
                      </p:childTnLst>
                    </p:cTn>
                  </p:par>
                </p:childTnLst>
              </p:cTn>
              <p:nextCondLst>
                <p:cond evt="onClick" delay="0">
                  <p:tgtEl>
                    <p:spTgt spid="71"/>
                  </p:tgtEl>
                </p:cond>
              </p:nextCondLst>
            </p:seq>
          </p:childTnLst>
        </p:cTn>
      </p:par>
    </p:tnLst>
    <p:bldLst>
      <p:bldP spid="46" grpId="0"/>
      <p:bldP spid="47" grpId="0" animBg="1"/>
      <p:bldP spid="49" grpId="0" animBg="1"/>
      <p:bldP spid="50" grpId="0" animBg="1"/>
      <p:bldP spid="51" grpId="0" animBg="1"/>
      <p:bldP spid="53" grpId="0"/>
      <p:bldP spid="54" grpId="0" animBg="1"/>
      <p:bldP spid="61" grpId="0"/>
      <p:bldP spid="65" grpId="0"/>
      <p:bldP spid="67" grpId="0" animBg="1"/>
      <p:bldP spid="69" grpId="0" animBg="1"/>
      <p:bldP spid="71" grpId="0" animBg="1"/>
      <p:bldP spid="72" grpId="0" animBg="1"/>
    </p:bldLst>
  </p:timing>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22960"/>
          </a:xfrm>
          <a:prstGeom prst="rect">
            <a:avLst/>
          </a:prstGeom>
          <a:solidFill>
            <a:srgbClr val="0E6E8C"/>
          </a:solidFill>
          <a:ln>
            <a:noFill/>
          </a:ln>
        </p:spPr>
        <p:style>
          <a:lnRef idx="1">
            <a:schemeClr val="accent1"/>
          </a:lnRef>
          <a:fillRef idx="3">
            <a:schemeClr val="accent1"/>
          </a:fillRef>
          <a:effectRef idx="2">
            <a:schemeClr val="accent1"/>
          </a:effectRef>
          <a:fontRef idx="minor">
            <a:schemeClr val="lt1"/>
          </a:fontRef>
        </p:style>
        <p:txBody>
          <a:bodyPr rtlCol="0" anchor="ctr" wrap="square" lIns="320040" tIns="109728"/>
          <a:lstStyle/>
          <a:p>
            <a:pPr algn="ctr"/>
            <a:r>
              <a:rPr sz="2800" b="1">
                <a:solidFill>
                  <a:srgbClr val="FFFFFF"/>
                </a:solidFill>
                <a:latin typeface="Calibri"/>
              </a:rPr>
              <a:t>2024–2025 GOLD Update — New Drug Classes &amp; Refinements</a:t>
            </a:r>
          </a:p>
        </p:txBody>
      </p:sp>
      <p:sp>
        <p:nvSpPr>
          <p:cNvPr id="3" name="TextBox 2"/>
          <p:cNvSpPr txBox="1"/>
          <p:nvPr/>
        </p:nvSpPr>
        <p:spPr>
          <a:xfrm>
            <a:off x="502920" y="1097280"/>
            <a:ext cx="11186160" cy="5394960"/>
          </a:xfrm>
          <a:prstGeom prst="rect">
            <a:avLst/>
          </a:prstGeom>
          <a:noFill/>
        </p:spPr>
        <p:txBody>
          <a:bodyPr wrap="square">
            <a:spAutoFit/>
          </a:bodyPr>
          <a:lstStyle/>
          <a:p>
            <a:pPr>
              <a:spcAft>
                <a:spcPts val="600"/>
              </a:spcAft>
            </a:pPr>
            <a:r>
              <a:rPr sz="1500" b="1">
                <a:solidFill>
                  <a:srgbClr val="232323"/>
                </a:solidFill>
                <a:latin typeface="Calibri"/>
              </a:rPr>
              <a:t>Standing GOLD-2023 teaching (FEV1/FVC &lt;0.7 dx, A/B/E groups, LABA-LAMA first-line, eos-guided ICS, 5-day steroid/abx for exacerbations) verified CURRENT in GOLD 2024/2025.</a:t>
            </a:r>
          </a:p>
          <a:p>
            <a:pPr>
              <a:spcAft>
                <a:spcPts val="600"/>
              </a:spcAft>
            </a:pPr>
            <a:r>
              <a:rPr sz="1500" b="0">
                <a:solidFill>
                  <a:srgbClr val="232323"/>
                </a:solidFill>
                <a:latin typeface="Calibri"/>
              </a:rPr>
              <a:t>Triple therapy preferred: when ICS is indicated, LABA+LAMA+ICS is favored OVER LABA-ICS (better exacerbations, lung function, QoL).</a:t>
            </a:r>
          </a:p>
          <a:p>
            <a:pPr>
              <a:spcAft>
                <a:spcPts val="600"/>
              </a:spcAft>
            </a:pPr>
            <a:r>
              <a:rPr sz="1500" b="0">
                <a:solidFill>
                  <a:srgbClr val="232323"/>
                </a:solidFill>
                <a:latin typeface="Calibri"/>
              </a:rPr>
              <a:t>Eosinophil thresholds (unchanged): initial ICS in Group E if eos ≥300; escalate to triple if exacerbating + eos ≥100. De-escalation more likely to trigger exacerbations if eos ≥300.</a:t>
            </a:r>
          </a:p>
          <a:p>
            <a:pPr>
              <a:spcAft>
                <a:spcPts val="600"/>
              </a:spcAft>
            </a:pPr>
            <a:r>
              <a:rPr sz="1500" b="0">
                <a:solidFill>
                  <a:srgbClr val="232323"/>
                </a:solidFill>
                <a:latin typeface="Calibri"/>
              </a:rPr>
              <a:t>FIRST biologic for COPD — dupilumab (Dupixent): add to triple therapy if ongoing exacerbations + eos ≥300 + chronic bronchitis. FDA Sept 27, 2024 (BOREAS/NOTUS).</a:t>
            </a:r>
          </a:p>
          <a:p>
            <a:pPr>
              <a:spcAft>
                <a:spcPts val="600"/>
              </a:spcAft>
            </a:pPr>
            <a:r>
              <a:rPr sz="1500" b="0">
                <a:solidFill>
                  <a:srgbClr val="232323"/>
                </a:solidFill>
                <a:latin typeface="Calibri"/>
              </a:rPr>
              <a:t>Novel inhaled class — ensifentrine (Ohtuvayre): dual PDE3/PDE4 inhibitor (bronchodilator + anti-inflammatory) by nebulizer; FDA June 26, 2024 (ENHANCE) — first new inhaled mechanism in ~20 yrs.</a:t>
            </a:r>
          </a:p>
          <a:p>
            <a:pPr>
              <a:spcAft>
                <a:spcPts val="600"/>
              </a:spcAft>
            </a:pPr>
            <a:r>
              <a:rPr sz="1500" b="0">
                <a:solidFill>
                  <a:srgbClr val="232323"/>
                </a:solidFill>
                <a:latin typeface="Calibri"/>
              </a:rPr>
              <a:t>GOLD 2025 also emphasizes CVD/pulmonary-hypertension comorbidity screening and notes spirometry/imaging refinements.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22960"/>
          </a:xfrm>
          <a:prstGeom prst="rect">
            <a:avLst/>
          </a:prstGeom>
          <a:solidFill>
            <a:srgbClr val="0E6E8C"/>
          </a:solidFill>
          <a:ln>
            <a:noFill/>
          </a:ln>
        </p:spPr>
        <p:style>
          <a:lnRef idx="1">
            <a:schemeClr val="accent1"/>
          </a:lnRef>
          <a:fillRef idx="3">
            <a:schemeClr val="accent1"/>
          </a:fillRef>
          <a:effectRef idx="2">
            <a:schemeClr val="accent1"/>
          </a:effectRef>
          <a:fontRef idx="minor">
            <a:schemeClr val="lt1"/>
          </a:fontRef>
        </p:style>
        <p:txBody>
          <a:bodyPr rtlCol="0" anchor="ctr" wrap="square" lIns="320040" tIns="109728"/>
          <a:lstStyle/>
          <a:p>
            <a:pPr algn="ctr"/>
            <a:r>
              <a:rPr sz="2800" b="1">
                <a:solidFill>
                  <a:srgbClr val="FFFFFF"/>
                </a:solidFill>
                <a:latin typeface="Calibri"/>
              </a:rPr>
              <a:t>Take-Home Points</a:t>
            </a:r>
          </a:p>
        </p:txBody>
      </p:sp>
      <p:sp>
        <p:nvSpPr>
          <p:cNvPr id="3" name="TextBox 2"/>
          <p:cNvSpPr txBox="1"/>
          <p:nvPr/>
        </p:nvSpPr>
        <p:spPr>
          <a:xfrm>
            <a:off x="502920" y="1097280"/>
            <a:ext cx="11186160" cy="5394960"/>
          </a:xfrm>
          <a:prstGeom prst="rect">
            <a:avLst/>
          </a:prstGeom>
          <a:noFill/>
        </p:spPr>
        <p:txBody>
          <a:bodyPr wrap="square">
            <a:spAutoFit/>
          </a:bodyPr>
          <a:lstStyle/>
          <a:p>
            <a:pPr>
              <a:spcAft>
                <a:spcPts val="600"/>
              </a:spcAft>
            </a:pPr>
            <a:r>
              <a:rPr sz="1600" b="0">
                <a:solidFill>
                  <a:srgbClr val="232323"/>
                </a:solidFill>
                <a:latin typeface="Calibri"/>
              </a:rPr>
              <a:t>In a patient with risk factors, post-bronchodilator FEV1/FVC &lt;0.7 on spirometry (scooped flow-volume loop) is REQUIRED to diagnose COPD — you cannot diagnose COPD without PFTs.</a:t>
            </a:r>
          </a:p>
          <a:p>
            <a:pPr>
              <a:spcAft>
                <a:spcPts val="600"/>
              </a:spcAft>
            </a:pPr>
            <a:r>
              <a:rPr sz="1600" b="0">
                <a:solidFill>
                  <a:srgbClr val="232323"/>
                </a:solidFill>
                <a:latin typeface="Calibri"/>
              </a:rPr>
              <a:t>Smoking cessation is the intervention with the clearest mortality benefit; supplemental O2 (PaO2 ≤55, or ≤59 + cor pulmonale/RHF) and vaccines also matter.</a:t>
            </a:r>
          </a:p>
          <a:p>
            <a:pPr>
              <a:spcAft>
                <a:spcPts val="600"/>
              </a:spcAft>
            </a:pPr>
            <a:r>
              <a:rPr sz="1600" b="0">
                <a:solidFill>
                  <a:srgbClr val="232323"/>
                </a:solidFill>
                <a:latin typeface="Calibri"/>
              </a:rPr>
              <a:t>By 2023 GOLD groups: LABA+LAMA is first-line for most symptomatic patients (Groups B and E); add ICS mainly for exacerbators with eos ≥100 (initial ICS in Group E if eos ≥300). De-escalate ICS if recurrent pneumonia.</a:t>
            </a:r>
          </a:p>
          <a:p>
            <a:pPr>
              <a:spcAft>
                <a:spcPts val="600"/>
              </a:spcAft>
            </a:pPr>
            <a:r>
              <a:rPr sz="1600" b="0">
                <a:solidFill>
                  <a:srgbClr val="232323"/>
                </a:solidFill>
                <a:latin typeface="Calibri"/>
              </a:rPr>
              <a:t>Treat outpatient exacerbations with short-acting bronchodilators, prednisone 40 mg ×5 d, and antibiotics ×5 d (per local resistance) when ≥2 cardinal symptoms incl. sputum purulence.</a:t>
            </a:r>
          </a:p>
          <a:p>
            <a:pPr>
              <a:spcAft>
                <a:spcPts val="600"/>
              </a:spcAft>
            </a:pPr>
            <a:r>
              <a:rPr sz="1600" b="0">
                <a:solidFill>
                  <a:srgbClr val="232323"/>
                </a:solidFill>
                <a:latin typeface="Calibri"/>
              </a:rPr>
              <a:t>2024–25: dupilumab (first biologic, eos ≥300 + chronic bronchitis) and ensifentrine (PDE3/4) are new add-on options.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22960"/>
          </a:xfrm>
          <a:prstGeom prst="rect">
            <a:avLst/>
          </a:prstGeom>
          <a:solidFill>
            <a:srgbClr val="0E6E8C"/>
          </a:solidFill>
          <a:ln>
            <a:noFill/>
          </a:ln>
        </p:spPr>
        <p:style>
          <a:lnRef idx="1">
            <a:schemeClr val="accent1"/>
          </a:lnRef>
          <a:fillRef idx="3">
            <a:schemeClr val="accent1"/>
          </a:fillRef>
          <a:effectRef idx="2">
            <a:schemeClr val="accent1"/>
          </a:effectRef>
          <a:fontRef idx="minor">
            <a:schemeClr val="lt1"/>
          </a:fontRef>
        </p:style>
        <p:txBody>
          <a:bodyPr rtlCol="0" anchor="ctr" wrap="square" lIns="320040" tIns="109728"/>
          <a:lstStyle/>
          <a:p>
            <a:pPr algn="ctr"/>
            <a:r>
              <a:rPr sz="2800" b="1">
                <a:solidFill>
                  <a:srgbClr val="FFFFFF"/>
                </a:solidFill>
                <a:latin typeface="Calibri"/>
              </a:rPr>
              <a:t>Attribution &amp; Optimization Notes</a:t>
            </a:r>
          </a:p>
        </p:txBody>
      </p:sp>
      <p:sp>
        <p:nvSpPr>
          <p:cNvPr id="3" name="TextBox 2"/>
          <p:cNvSpPr txBox="1"/>
          <p:nvPr/>
        </p:nvSpPr>
        <p:spPr>
          <a:xfrm>
            <a:off x="502920" y="1097280"/>
            <a:ext cx="11186160" cy="5394960"/>
          </a:xfrm>
          <a:prstGeom prst="rect">
            <a:avLst/>
          </a:prstGeom>
          <a:noFill/>
        </p:spPr>
        <p:txBody>
          <a:bodyPr wrap="square">
            <a:spAutoFit/>
          </a:bodyPr>
          <a:lstStyle/>
          <a:p>
            <a:pPr>
              <a:spcAft>
                <a:spcPts val="600"/>
              </a:spcAft>
            </a:pPr>
            <a:r>
              <a:rPr sz="1500" b="0">
                <a:solidFill>
                  <a:srgbClr val="232323"/>
                </a:solidFill>
                <a:latin typeface="Calibri"/>
              </a:rPr>
              <a:t>Adapted from TeachIM.org — “COPD – Outpatient Management” (McLeod, Guinn, Brett, Fainstad; Section Ed. Steinbach; Univ. of Colorado). Published Sept 2021, last reviewed May 2023.</a:t>
            </a:r>
          </a:p>
          <a:p>
            <a:pPr>
              <a:spcAft>
                <a:spcPts val="600"/>
              </a:spcAft>
            </a:pPr>
            <a:r>
              <a:rPr sz="1400" b="0">
                <a:solidFill>
                  <a:srgbClr val="232323"/>
                </a:solidFill>
                <a:latin typeface="Calibri"/>
              </a:rPr>
              <a:t>Source URL: https://teachim.org/teaching_material/copd-outpatient/   |   Deck: copd-2023.pptx (embed-verified)</a:t>
            </a:r>
          </a:p>
          <a:p>
            <a:pPr>
              <a:spcAft>
                <a:spcPts val="600"/>
              </a:spcAft>
            </a:pPr>
            <a:r>
              <a:rPr sz="1500" b="0">
                <a:solidFill>
                  <a:srgbClr val="232323"/>
                </a:solidFill>
                <a:latin typeface="Calibri"/>
              </a:rPr>
              <a:t>Licensed under Creative Commons Attribution-NonCommercial 4.0 (CC BY-NC 4.0). This optimized package is likewise CC BY-NC 4.0 — attribution required, non-commercial use only.</a:t>
            </a:r>
          </a:p>
          <a:p>
            <a:pPr>
              <a:spcAft>
                <a:spcPts val="600"/>
              </a:spcAft>
            </a:pPr>
            <a:r>
              <a:rPr sz="1500" b="0">
                <a:solidFill>
                  <a:srgbClr val="232323"/>
                </a:solidFill>
                <a:latin typeface="Calibri"/>
              </a:rPr>
              <a:t>Optimized June 2026: original interactive board preserved (all 13 slides, animations &amp; BioRender graphics intact); no projected-text factual/spelling errors found → append-only edit (this 3-slide addendum). Speaker-notes typos left unchanged (non-projected).</a:t>
            </a:r>
          </a:p>
          <a:p>
            <a:pPr>
              <a:spcAft>
                <a:spcPts val="600"/>
              </a:spcAft>
            </a:pPr>
            <a:r>
              <a:rPr sz="1500" b="0">
                <a:solidFill>
                  <a:srgbClr val="232323"/>
                </a:solidFill>
                <a:latin typeface="Calibri"/>
              </a:rPr>
              <a:t>Currency verified vs GOLD 2024 &amp; GOLD 2025 reports and FDA approvals (ensifentrine Jun 2024; dupilumab Sept 2024).</a:t>
            </a:r>
          </a:p>
          <a:p>
            <a:pPr>
              <a:spcAft>
                <a:spcPts val="600"/>
              </a:spcAft>
            </a:pPr>
            <a:r>
              <a:rPr sz="1400" b="0">
                <a:solidFill>
                  <a:srgbClr val="232323"/>
                </a:solidFill>
                <a:latin typeface="Calibri"/>
              </a:rPr>
              <a:t>Companion page-linked handout COPD-teacher-guide-2023.docx was NOT present in Source Files — flagged for upload. Educational use only — clinician-reviewed before teaching.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17957</TotalTime>
  <Words>2833</Words>
  <Application>Microsoft Office PowerPoint</Application>
  <PresentationFormat>Widescreen</PresentationFormat>
  <Paragraphs>543</Paragraphs>
  <Slides>13</Slides>
  <Notes>13</Notes>
  <HiddenSlides>2</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Brandon Fainstad</dc:creator>
  <cp:lastModifiedBy>Brett, Molly S.</cp:lastModifiedBy>
  <cp:revision>92</cp:revision>
  <dcterms:created xsi:type="dcterms:W3CDTF">2020-12-09T20:37:45Z</dcterms:created>
  <dcterms:modified xsi:type="dcterms:W3CDTF">2023-05-16T01:50:11Z</dcterms:modified>
</cp:coreProperties>
</file>