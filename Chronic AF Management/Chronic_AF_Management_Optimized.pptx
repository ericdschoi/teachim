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dia/image10.svg" ContentType="image/svg+xml"/>
  <Override PartName="/ppt/media/image2.svg" ContentType="image/svg+xml"/>
  <Override PartName="/ppt/media/image5.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70" r:id="rId3"/>
    <p:sldId id="285" r:id="rId4"/>
    <p:sldId id="279" r:id="rId5"/>
    <p:sldId id="283" r:id="rId6"/>
    <p:sldId id="275" r:id="rId7"/>
    <p:sldId id="260" r:id="rId8"/>
    <p:sldId id="284" r:id="rId9"/>
    <p:sldId id="286" r:id="rId16"/>
    <p:sldId id="287" r:id="rId17"/>
    <p:sldId id="28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lint, Kelsey M." initials="FKM" lastIdx="7" clrIdx="0">
    <p:extLst>
      <p:ext uri="{19B8F6BF-5375-455C-9EA6-DF929625EA0E}">
        <p15:presenceInfo xmlns:p15="http://schemas.microsoft.com/office/powerpoint/2012/main" userId="S::Kelsey.Flint@va.gov::9f7f27ab-2815-4cd5-a055-3658b3c1785d" providerId="AD"/>
      </p:ext>
    </p:extLst>
  </p:cmAuthor>
  <p:cmAuthor id="2" name="Yilin Zhang" initials="YZ" lastIdx="11" clrIdx="1">
    <p:extLst>
      <p:ext uri="{19B8F6BF-5375-455C-9EA6-DF929625EA0E}">
        <p15:presenceInfo xmlns:p15="http://schemas.microsoft.com/office/powerpoint/2012/main" userId="Yilin Zhang" providerId="None"/>
      </p:ext>
    </p:extLst>
  </p:cmAuthor>
  <p:cmAuthor id="3" name="Yilin Zhang" initials="YZ [2]" lastIdx="27" clrIdx="2">
    <p:extLst>
      <p:ext uri="{19B8F6BF-5375-455C-9EA6-DF929625EA0E}">
        <p15:presenceInfo xmlns:p15="http://schemas.microsoft.com/office/powerpoint/2012/main" userId="S::Yilin_Zhang@valleymed.org::40a11026-a9ab-441d-8256-d37e38926e9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6B93"/>
    <a:srgbClr val="9E480E"/>
    <a:srgbClr val="DB6413"/>
    <a:srgbClr val="F2A16A"/>
    <a:srgbClr val="FEF6F0"/>
    <a:srgbClr val="FB78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89" autoAdjust="0"/>
    <p:restoredTop sz="81464" autoAdjust="0"/>
  </p:normalViewPr>
  <p:slideViewPr>
    <p:cSldViewPr snapToGrid="0">
      <p:cViewPr>
        <p:scale>
          <a:sx n="75" d="100"/>
          <a:sy n="75" d="100"/>
        </p:scale>
        <p:origin x="1356" y="2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commentAuthors" Target="commentAuthors.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3E89FF-AADD-8940-9485-272A593B2024}" type="datetimeFigureOut">
              <a:rPr lang="en-US" smtClean="0"/>
              <a:t>11/30/2022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19E2B-22A6-A94C-BF82-701922B3E472}" type="slidenum">
              <a:rPr lang="en-US" smtClean="0"/>
              <a:t>‹#›</a:t>
            </a:fld>
            <a:endParaRPr lang="en-US"/>
          </a:p>
        </p:txBody>
      </p:sp>
    </p:spTree>
    <p:extLst>
      <p:ext uri="{BB962C8B-B14F-4D97-AF65-F5344CB8AC3E}">
        <p14:creationId xmlns:p14="http://schemas.microsoft.com/office/powerpoint/2010/main" val="447285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www.sciencedirect.com/science/article/pii/S2405500X21001225?via%3Dihub" TargetMode="External"/><Relationship Id="rId4" Type="http://schemas.openxmlformats.org/officeDocument/2006/relationships/hyperlink" Target="https://www.jacc.org/doi/10.1016/j.jacc.2020.09.011?_ga=2.36303904.1895895284.1643320851-129688806.161637760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ref:, </a:t>
            </a:r>
            <a:r>
              <a:rPr lang="en-US" dirty="0" err="1"/>
              <a:t>BioRender</a:t>
            </a:r>
            <a:endParaRPr lang="en-US" dirty="0"/>
          </a:p>
        </p:txBody>
      </p:sp>
      <p:sp>
        <p:nvSpPr>
          <p:cNvPr id="4" name="Slide Number Placeholder 3"/>
          <p:cNvSpPr>
            <a:spLocks noGrp="1"/>
          </p:cNvSpPr>
          <p:nvPr>
            <p:ph type="sldNum" sz="quarter" idx="5"/>
          </p:nvPr>
        </p:nvSpPr>
        <p:spPr/>
        <p:txBody>
          <a:bodyPr/>
          <a:lstStyle/>
          <a:p>
            <a:fld id="{4E219E2B-22A6-A94C-BF82-701922B3E472}" type="slidenum">
              <a:rPr lang="en-US" smtClean="0"/>
              <a:t>1</a:t>
            </a:fld>
            <a:endParaRPr lang="en-US"/>
          </a:p>
        </p:txBody>
      </p:sp>
    </p:spTree>
    <p:extLst>
      <p:ext uri="{BB962C8B-B14F-4D97-AF65-F5344CB8AC3E}">
        <p14:creationId xmlns:p14="http://schemas.microsoft.com/office/powerpoint/2010/main" val="283058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 https://pubmed.ncbi.nlm.nih.gov/22246443/</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It is well established that patients with AF are at elevated risk of stroke and that anticoagulation can reduce that risk. The decision to start anticoagulation involves balancing the benefits of clot prevention with the risk of bleeding. </a:t>
            </a:r>
          </a:p>
          <a:p>
            <a:endParaRPr lang="en-US" dirty="0"/>
          </a:p>
          <a:p>
            <a:r>
              <a:rPr lang="en-US" u="sng" dirty="0"/>
              <a:t>Stroke Assessment</a:t>
            </a:r>
            <a:r>
              <a:rPr lang="en-US" dirty="0"/>
              <a:t>:</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CHA</a:t>
            </a:r>
            <a:r>
              <a:rPr lang="en-US" sz="1800"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US" sz="1800" dirty="0">
                <a:effectLst/>
                <a:latin typeface="Calibri" panose="020F0502020204030204" pitchFamily="34" charset="0"/>
                <a:ea typeface="Calibri" panose="020F0502020204030204" pitchFamily="34" charset="0"/>
                <a:cs typeface="Times New Roman" panose="02020603050405020304" pitchFamily="18" charset="0"/>
              </a:rPr>
              <a:t>DS</a:t>
            </a:r>
            <a:r>
              <a:rPr lang="en-US" sz="1800"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US" sz="1800" dirty="0">
                <a:effectLst/>
                <a:latin typeface="Calibri" panose="020F0502020204030204" pitchFamily="34" charset="0"/>
                <a:ea typeface="Calibri" panose="020F0502020204030204" pitchFamily="34" charset="0"/>
                <a:cs typeface="Times New Roman" panose="02020603050405020304" pitchFamily="18" charset="0"/>
              </a:rPr>
              <a:t>-VASc score is the most widespread risk assessment tool to assess stroke risk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in non-valvular atrial fibrillation </a:t>
            </a:r>
            <a:r>
              <a:rPr lang="en-US" sz="1800" dirty="0">
                <a:effectLst/>
                <a:latin typeface="Calibri" panose="020F0502020204030204" pitchFamily="34" charset="0"/>
                <a:ea typeface="Calibri" panose="020F0502020204030204" pitchFamily="34" charset="0"/>
                <a:cs typeface="Times New Roman" panose="02020603050405020304" pitchFamily="18" charset="0"/>
              </a:rPr>
              <a:t>and is used to make decisions on when to initiate anticoagulation. Increasing scores are associated with increasing annual risk of stroke. The components of the score are listed below.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Click on each of the letters to reveal the risk factor.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spcBef>
                <a:spcPts val="0"/>
              </a:spcBef>
              <a:spcAft>
                <a:spcPts val="0"/>
              </a:spcAft>
              <a:buFont typeface="Calibri" panose="020F0502020204030204" pitchFamily="34" charset="0"/>
              <a:buNone/>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 Congestive heart failure</a:t>
            </a:r>
            <a:r>
              <a:rPr lang="en-US" sz="1800" dirty="0">
                <a:effectLst/>
                <a:latin typeface="Calibri" panose="020F0502020204030204" pitchFamily="34" charset="0"/>
                <a:ea typeface="Calibri" panose="020F0502020204030204" pitchFamily="34" charset="0"/>
                <a:cs typeface="Times New Roman" panose="02020603050405020304" pitchFamily="18" charset="0"/>
              </a:rPr>
              <a:t>: Any history of symptomatic heart failure (preserved or reduced ejection fraction) OR even asymptomatic left ventricular dysfunction on cardiac imaging</a:t>
            </a:r>
          </a:p>
          <a:p>
            <a:pPr marL="0" marR="0" lvl="0" indent="0">
              <a:spcBef>
                <a:spcPts val="0"/>
              </a:spcBef>
              <a:spcAft>
                <a:spcPts val="0"/>
              </a:spcAft>
              <a:buFont typeface="Calibri" panose="020F0502020204030204" pitchFamily="34" charset="0"/>
              <a:buNone/>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 Hypertension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history of hypertension, regardless of control</a:t>
            </a:r>
          </a:p>
          <a:p>
            <a:pPr marL="0" marR="0" lvl="0" indent="0">
              <a:spcBef>
                <a:spcPts val="0"/>
              </a:spcBef>
              <a:spcAft>
                <a:spcPts val="0"/>
              </a:spcAft>
              <a:buFont typeface="Calibri" panose="020F0502020204030204" pitchFamily="34" charset="0"/>
              <a:buNone/>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 Age</a:t>
            </a:r>
            <a:r>
              <a:rPr lang="en-US" sz="1800" dirty="0">
                <a:effectLst/>
                <a:latin typeface="Calibri" panose="020F0502020204030204" pitchFamily="34" charset="0"/>
                <a:ea typeface="Calibri" panose="020F0502020204030204" pitchFamily="34" charset="0"/>
                <a:cs typeface="Times New Roman" panose="02020603050405020304" pitchFamily="18" charset="0"/>
              </a:rPr>
              <a:t>: +1 for age 65-74, +2 for age </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75</a:t>
            </a:r>
          </a:p>
          <a:p>
            <a:pPr marL="0" marR="0" lvl="0" indent="0">
              <a:spcBef>
                <a:spcPts val="0"/>
              </a:spcBef>
              <a:spcAft>
                <a:spcPts val="0"/>
              </a:spcAft>
              <a:buFont typeface="Calibri" panose="020F0502020204030204" pitchFamily="34" charset="0"/>
              <a:buNone/>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 Diabetes</a:t>
            </a:r>
            <a:r>
              <a:rPr lang="en-US" sz="1800" dirty="0">
                <a:effectLst/>
                <a:latin typeface="Calibri" panose="020F0502020204030204" pitchFamily="34" charset="0"/>
                <a:ea typeface="Calibri" panose="020F0502020204030204" pitchFamily="34" charset="0"/>
                <a:cs typeface="Times New Roman" panose="02020603050405020304" pitchFamily="18" charset="0"/>
              </a:rPr>
              <a:t>: any history of diabetes regardless of severity</a:t>
            </a:r>
          </a:p>
          <a:p>
            <a:pPr marL="0" marR="0" lvl="0" indent="0">
              <a:spcBef>
                <a:spcPts val="0"/>
              </a:spcBef>
              <a:spcAft>
                <a:spcPts val="0"/>
              </a:spcAft>
              <a:buFont typeface="Calibri" panose="020F0502020204030204" pitchFamily="34" charset="0"/>
              <a:buNone/>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 Stroke/TIA/systemic embolism</a:t>
            </a:r>
            <a:r>
              <a:rPr lang="en-US" sz="1800" u="sng" dirty="0">
                <a:effectLst/>
                <a:latin typeface="Calibri" panose="020F0502020204030204" pitchFamily="34" charset="0"/>
                <a:ea typeface="Calibri" panose="020F0502020204030204" pitchFamily="34" charset="0"/>
                <a:cs typeface="Times New Roman" panose="02020603050405020304" pitchFamily="18" charset="0"/>
              </a:rPr>
              <a:t> (+2)</a:t>
            </a:r>
            <a:r>
              <a:rPr lang="en-US" sz="1800" dirty="0">
                <a:effectLst/>
                <a:latin typeface="Calibri" panose="020F0502020204030204" pitchFamily="34" charset="0"/>
                <a:ea typeface="Calibri" panose="020F0502020204030204" pitchFamily="34" charset="0"/>
                <a:cs typeface="Times New Roman" panose="02020603050405020304" pitchFamily="18" charset="0"/>
              </a:rPr>
              <a:t>: Any history of stroke, transient ischemic attack, or systemic thromboembolism. Of note systemic embolism includes arterial embolism (i.e. deep venous thrombosis/pulmonary embolism is not included)</a:t>
            </a:r>
          </a:p>
          <a:p>
            <a:pPr marL="0" marR="0" lvl="0" indent="0">
              <a:spcBef>
                <a:spcPts val="0"/>
              </a:spcBef>
              <a:spcAft>
                <a:spcPts val="0"/>
              </a:spcAft>
              <a:buFont typeface="Calibri" panose="020F0502020204030204" pitchFamily="34" charset="0"/>
              <a:buNone/>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 Vascular disease</a:t>
            </a:r>
            <a:r>
              <a:rPr lang="en-US" sz="1800" dirty="0">
                <a:effectLst/>
                <a:latin typeface="Calibri" panose="020F0502020204030204" pitchFamily="34" charset="0"/>
                <a:ea typeface="Calibri" panose="020F0502020204030204" pitchFamily="34" charset="0"/>
                <a:cs typeface="Times New Roman" panose="02020603050405020304" pitchFamily="18" charset="0"/>
              </a:rPr>
              <a:t>: includes any history of coronary artery disease (including prior myocardial infarction, disease noted on angiography/other imaging, or angina) or peripheral vascular disease (including symptomatic claudication, history of peripheral intervention)</a:t>
            </a:r>
          </a:p>
          <a:p>
            <a:pPr marL="285750" marR="0" lvl="0" indent="-285750">
              <a:spcBef>
                <a:spcPts val="0"/>
              </a:spcBef>
              <a:spcAft>
                <a:spcPts val="0"/>
              </a:spcAft>
              <a:buFontTx/>
              <a:buChar char="-"/>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Sex category</a:t>
            </a:r>
            <a:r>
              <a:rPr lang="en-US" sz="1800" dirty="0">
                <a:effectLst/>
                <a:latin typeface="Calibri" panose="020F0502020204030204" pitchFamily="34" charset="0"/>
                <a:ea typeface="Calibri" panose="020F0502020204030204" pitchFamily="34" charset="0"/>
                <a:cs typeface="Times New Roman" panose="02020603050405020304" pitchFamily="18" charset="0"/>
              </a:rPr>
              <a:t>: Female sex is a “risk modifier,” in that for each non-sex risk factor, females tend to have a higher stroke risk than males </a:t>
            </a:r>
          </a:p>
          <a:p>
            <a:pPr marL="285750" marR="0" lvl="0" indent="-285750">
              <a:spcBef>
                <a:spcPts val="0"/>
              </a:spcBef>
              <a:spcAft>
                <a:spcPts val="0"/>
              </a:spcAft>
              <a:buFontTx/>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u="sng" dirty="0">
                <a:effectLst/>
                <a:latin typeface="Calibri" panose="020F0502020204030204" pitchFamily="34" charset="0"/>
                <a:ea typeface="Calibri" panose="020F0502020204030204" pitchFamily="34" charset="0"/>
                <a:cs typeface="Times New Roman" panose="02020603050405020304" pitchFamily="18" charset="0"/>
              </a:rPr>
              <a:t>Bleeding risk assessment</a:t>
            </a:r>
            <a:r>
              <a:rPr lang="en-US" sz="1800" dirty="0">
                <a:effectLst/>
                <a:latin typeface="Calibri" panose="020F0502020204030204" pitchFamily="34" charset="0"/>
                <a:ea typeface="Calibri" panose="020F0502020204030204" pitchFamily="34" charset="0"/>
                <a:cs typeface="Times New Roman" panose="02020603050405020304" pitchFamily="18" charset="0"/>
              </a:rPr>
              <a:t>: HAS-BLED -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Ask learners to name the bleeding risk assessment tool and then the individual components of the HAS-BLED.</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most common tool used to assess bleeding risk is the HAS-BLED tool. The components are listed below. Note that there is significant overlap between the two risk scores: many risk factors that increase risk of stroke also increase risk of bleeding.</a:t>
            </a:r>
          </a:p>
          <a:p>
            <a:pPr marL="342900" marR="0" lvl="0" indent="-342900">
              <a:spcBef>
                <a:spcPts val="0"/>
              </a:spcBef>
              <a:spcAft>
                <a:spcPts val="0"/>
              </a:spcAft>
              <a:buFont typeface="Calibri" panose="020F0502020204030204" pitchFamily="34" charset="0"/>
              <a:buChar char="-"/>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Hypertension (uncontrolled)</a:t>
            </a:r>
            <a:r>
              <a:rPr lang="en-US" sz="1800" dirty="0">
                <a:effectLst/>
                <a:latin typeface="Calibri" panose="020F0502020204030204" pitchFamily="34" charset="0"/>
                <a:ea typeface="Calibri" panose="020F0502020204030204" pitchFamily="34" charset="0"/>
                <a:cs typeface="Times New Roman" panose="02020603050405020304" pitchFamily="18" charset="0"/>
              </a:rPr>
              <a:t>: systolic blood pressure &gt; 160 mm Hg</a:t>
            </a:r>
          </a:p>
          <a:p>
            <a:pPr marL="342900" marR="0" lvl="0" indent="-342900">
              <a:spcBef>
                <a:spcPts val="0"/>
              </a:spcBef>
              <a:spcAft>
                <a:spcPts val="0"/>
              </a:spcAft>
              <a:buFont typeface="Calibri" panose="020F0502020204030204" pitchFamily="34" charset="0"/>
              <a:buChar char="-"/>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Abnormal renal/liver function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1 point for each, based on history (e.g. on dialysis) or laboratory values</a:t>
            </a:r>
          </a:p>
          <a:p>
            <a:pPr marL="342900" marR="0" lvl="0" indent="-342900">
              <a:spcBef>
                <a:spcPts val="0"/>
              </a:spcBef>
              <a:spcAft>
                <a:spcPts val="0"/>
              </a:spcAft>
              <a:buFont typeface="Calibri" panose="020F0502020204030204" pitchFamily="34" charset="0"/>
              <a:buChar char="-"/>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Stroke</a:t>
            </a:r>
            <a:r>
              <a:rPr lang="en-US" sz="1800" dirty="0">
                <a:effectLst/>
                <a:latin typeface="Calibri" panose="020F0502020204030204" pitchFamily="34" charset="0"/>
                <a:ea typeface="Calibri" panose="020F0502020204030204" pitchFamily="34" charset="0"/>
                <a:cs typeface="Times New Roman" panose="02020603050405020304" pitchFamily="18" charset="0"/>
              </a:rPr>
              <a:t>: history of ischemic or hemorrhagic stroke</a:t>
            </a:r>
          </a:p>
          <a:p>
            <a:pPr marL="342900" marR="0" lvl="0" indent="-342900">
              <a:spcBef>
                <a:spcPts val="0"/>
              </a:spcBef>
              <a:spcAft>
                <a:spcPts val="0"/>
              </a:spcAft>
              <a:buFont typeface="Calibri" panose="020F0502020204030204" pitchFamily="34" charset="0"/>
              <a:buChar char="-"/>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Bleeding history or predisposition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predisposition is not well defined, but would include coagulopathy and thrombocytopenia</a:t>
            </a:r>
          </a:p>
          <a:p>
            <a:pPr marL="342900" marR="0" lvl="0" indent="-342900">
              <a:spcBef>
                <a:spcPts val="0"/>
              </a:spcBef>
              <a:spcAft>
                <a:spcPts val="0"/>
              </a:spcAft>
              <a:buFont typeface="Calibri" panose="020F0502020204030204" pitchFamily="34" charset="0"/>
              <a:buChar char="-"/>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Labile INR</a:t>
            </a:r>
            <a:r>
              <a:rPr lang="en-US" sz="1800" dirty="0">
                <a:effectLst/>
                <a:latin typeface="Calibri" panose="020F0502020204030204" pitchFamily="34" charset="0"/>
                <a:ea typeface="Calibri" panose="020F0502020204030204" pitchFamily="34" charset="0"/>
                <a:cs typeface="Times New Roman" panose="02020603050405020304" pitchFamily="18" charset="0"/>
              </a:rPr>
              <a:t>: for patients on warfarin</a:t>
            </a:r>
          </a:p>
          <a:p>
            <a:pPr marL="342900" marR="0" lvl="0" indent="-342900">
              <a:spcBef>
                <a:spcPts val="0"/>
              </a:spcBef>
              <a:spcAft>
                <a:spcPts val="0"/>
              </a:spcAft>
              <a:buFont typeface="Calibri" panose="020F0502020204030204" pitchFamily="34" charset="0"/>
              <a:buChar char="-"/>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Elderly</a:t>
            </a:r>
            <a:r>
              <a:rPr lang="en-US" sz="1800" dirty="0">
                <a:effectLst/>
                <a:latin typeface="Calibri" panose="020F0502020204030204" pitchFamily="34" charset="0"/>
                <a:ea typeface="Calibri" panose="020F0502020204030204" pitchFamily="34" charset="0"/>
                <a:cs typeface="Times New Roman" panose="02020603050405020304" pitchFamily="18" charset="0"/>
              </a:rPr>
              <a:t>: Age &gt;65</a:t>
            </a:r>
          </a:p>
          <a:p>
            <a:pPr marL="342900" marR="0" lvl="0" indent="-342900">
              <a:spcBef>
                <a:spcPts val="0"/>
              </a:spcBef>
              <a:spcAft>
                <a:spcPts val="0"/>
              </a:spcAft>
              <a:buFont typeface="Calibri" panose="020F0502020204030204" pitchFamily="34" charset="0"/>
              <a:buChar char="-"/>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Drugs</a:t>
            </a:r>
            <a:r>
              <a:rPr lang="en-US" sz="1800" dirty="0">
                <a:effectLst/>
                <a:latin typeface="Calibri" panose="020F0502020204030204" pitchFamily="34" charset="0"/>
                <a:ea typeface="Calibri" panose="020F0502020204030204" pitchFamily="34" charset="0"/>
                <a:cs typeface="Times New Roman" panose="02020603050405020304" pitchFamily="18" charset="0"/>
              </a:rPr>
              <a:t>: Concomitant use of medications such as NSAIDs or antiplatelet, as well as “excessive” alcohol use</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marR="0" lvl="0" indent="-285750">
              <a:spcBef>
                <a:spcPts val="0"/>
              </a:spcBef>
              <a:spcAft>
                <a:spcPts val="0"/>
              </a:spcAft>
              <a:buFontTx/>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E219E2B-22A6-A94C-BF82-701922B3E472}" type="slidenum">
              <a:rPr lang="en-US" smtClean="0"/>
              <a:t>2</a:t>
            </a:fld>
            <a:endParaRPr lang="en-US"/>
          </a:p>
        </p:txBody>
      </p:sp>
    </p:spTree>
    <p:extLst>
      <p:ext uri="{BB962C8B-B14F-4D97-AF65-F5344CB8AC3E}">
        <p14:creationId xmlns:p14="http://schemas.microsoft.com/office/powerpoint/2010/main" val="50591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chart provided is from a 2012 validation study which highlights the high absolute risk of stroke in patients with atrial fibrillation, nearly 10% or great for patients with CHA</a:t>
            </a:r>
            <a:r>
              <a:rPr lang="en-US" sz="1800"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US" sz="1800" dirty="0">
                <a:effectLst/>
                <a:latin typeface="Calibri" panose="020F0502020204030204" pitchFamily="34" charset="0"/>
                <a:ea typeface="Calibri" panose="020F0502020204030204" pitchFamily="34" charset="0"/>
                <a:cs typeface="Times New Roman" panose="02020603050405020304" pitchFamily="18" charset="0"/>
              </a:rPr>
              <a:t>DS</a:t>
            </a:r>
            <a:r>
              <a:rPr lang="en-US" sz="1800"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US" sz="1800" dirty="0">
                <a:effectLst/>
                <a:latin typeface="Calibri" panose="020F0502020204030204" pitchFamily="34" charset="0"/>
                <a:ea typeface="Calibri" panose="020F0502020204030204" pitchFamily="34" charset="0"/>
                <a:cs typeface="Times New Roman" panose="02020603050405020304" pitchFamily="18" charset="0"/>
              </a:rPr>
              <a:t>-VASc 6 or more.</a:t>
            </a:r>
            <a:r>
              <a:rPr lang="en-US" sz="1800" baseline="30000" dirty="0">
                <a:effectLst/>
                <a:latin typeface="Calibri" panose="020F0502020204030204" pitchFamily="34" charset="0"/>
                <a:ea typeface="Calibri" panose="020F0502020204030204" pitchFamily="34" charset="0"/>
                <a:cs typeface="Times New Roman" panose="02020603050405020304" pitchFamily="18" charset="0"/>
              </a:rPr>
              <a:t>1</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dirty="0"/>
          </a:p>
          <a:p>
            <a:endParaRPr lang="en-US" dirty="0"/>
          </a:p>
          <a:p>
            <a:pPr marL="0" marR="0" lvl="0" indent="0">
              <a:spcBef>
                <a:spcPts val="0"/>
              </a:spcBef>
              <a:spcAft>
                <a:spcPts val="0"/>
              </a:spcAft>
              <a:buFont typeface="Calibri" panose="020F0502020204030204" pitchFamily="34" charset="0"/>
              <a:buNone/>
            </a:pPr>
            <a:r>
              <a:rPr lang="en-US" sz="1200" i="1" u="sng" dirty="0">
                <a:effectLst/>
                <a:latin typeface="Calibri" panose="020F0502020204030204" pitchFamily="34" charset="0"/>
                <a:ea typeface="Calibri" panose="020F0502020204030204" pitchFamily="34" charset="0"/>
                <a:cs typeface="Times New Roman" panose="02020603050405020304" pitchFamily="18" charset="0"/>
              </a:rPr>
              <a:t>High bleeding risk?</a:t>
            </a:r>
            <a:r>
              <a:rPr lang="en-US" sz="1200" dirty="0">
                <a:effectLst/>
                <a:latin typeface="Calibri" panose="020F0502020204030204" pitchFamily="34" charset="0"/>
                <a:ea typeface="Calibri" panose="020F0502020204030204" pitchFamily="34" charset="0"/>
                <a:cs typeface="Times New Roman" panose="02020603050405020304" pitchFamily="18" charset="0"/>
              </a:rPr>
              <a:t>: In general, outside of an acute episode of bleeding, guidelines do not recommend withholding anticoagulation due to an elevated risk of bleeding, for the following reasons:  </a:t>
            </a:r>
          </a:p>
          <a:p>
            <a:pPr marL="285750" marR="0" lvl="0" indent="-285750">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Anticoagulation is </a:t>
            </a:r>
            <a:r>
              <a:rPr lang="en-US" sz="1200" i="1" dirty="0">
                <a:effectLst/>
                <a:latin typeface="Calibri" panose="020F0502020204030204" pitchFamily="34" charset="0"/>
                <a:ea typeface="Calibri" panose="020F0502020204030204" pitchFamily="34" charset="0"/>
                <a:cs typeface="Times New Roman" panose="02020603050405020304" pitchFamily="18" charset="0"/>
              </a:rPr>
              <a:t>very</a:t>
            </a:r>
            <a:r>
              <a:rPr lang="en-US" sz="1200" dirty="0">
                <a:effectLst/>
                <a:latin typeface="Calibri" panose="020F0502020204030204" pitchFamily="34" charset="0"/>
                <a:ea typeface="Calibri" panose="020F0502020204030204" pitchFamily="34" charset="0"/>
                <a:cs typeface="Times New Roman" panose="02020603050405020304" pitchFamily="18" charset="0"/>
              </a:rPr>
              <a:t> effective, with &gt;60% relative risk reduction of stroke and &gt;25% relative mortality reduction.</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p>
            <a:pPr marL="285750" marR="0" lvl="0" indent="-285750">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As discussed previously, as there is high overlap between bleeding and stroke risk, patients at high bleeding risk can derive more absolute benefit. </a:t>
            </a:r>
          </a:p>
          <a:p>
            <a:pPr marL="285750" marR="0" lvl="0" indent="-285750">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clinical significance and consequences to the patient of an ischemic stroke are often more severe than an episode of bleeding (often defined by a hemoglobin drop or transfusion requirement in studies of bleeding risk). </a:t>
            </a:r>
          </a:p>
          <a:p>
            <a:pPr marL="0" marR="0" lvl="0" indent="0">
              <a:spcBef>
                <a:spcPts val="0"/>
              </a:spcBef>
              <a:spcAft>
                <a:spcPts val="0"/>
              </a:spcAft>
              <a:buFont typeface="Symbol" panose="05050102010706020507" pitchFamily="18" charset="2"/>
              <a:buNone/>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r>
              <a:rPr lang="en-US" dirty="0"/>
              <a:t>According to cardiologists (and most neurologists) – even in the setting of high bleeding risk, the benefits of anticoagulation outweigh the risks. </a:t>
            </a:r>
          </a:p>
          <a:p>
            <a:r>
              <a:rPr lang="en-US" dirty="0"/>
              <a:t>I think you’ll find internists and PCPs have varying opinions on this, but this is a trend in the literature/practice.</a:t>
            </a:r>
          </a:p>
          <a:p>
            <a:r>
              <a:rPr lang="en-US" dirty="0"/>
              <a:t>They recommend addressing modifiable risk factors – stopping NSAIDS, controlling hypertension. </a:t>
            </a:r>
          </a:p>
          <a:p>
            <a:pPr marL="0" marR="0" lvl="0" indent="0">
              <a:spcBef>
                <a:spcPts val="0"/>
              </a:spcBef>
              <a:spcAft>
                <a:spcPts val="0"/>
              </a:spcAft>
              <a:buFont typeface="Symbol" panose="05050102010706020507" pitchFamily="18" charset="2"/>
              <a:buNone/>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First line therapy?</a:t>
            </a:r>
            <a:r>
              <a:rPr lang="en-US" sz="1800" dirty="0">
                <a:effectLst/>
                <a:latin typeface="Calibri" panose="020F0502020204030204" pitchFamily="34" charset="0"/>
                <a:ea typeface="Calibri" panose="020F0502020204030204" pitchFamily="34" charset="0"/>
                <a:cs typeface="Times New Roman" panose="02020603050405020304" pitchFamily="18" charset="0"/>
              </a:rPr>
              <a:t>: Direct oral anticoagulants (DOACs) have been shown to be more effective and have lower bleeding risk than warfarin, and current guidelines recommend DOAC as first line for most patients. There is emerging evidence comparing one DOAC to another, but for now guidelines do not recommend one over the other.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u="sng" dirty="0">
                <a:effectLst/>
                <a:latin typeface="Calibri" panose="020F0502020204030204" pitchFamily="34" charset="0"/>
                <a:ea typeface="Calibri" panose="020F0502020204030204" pitchFamily="34" charset="0"/>
                <a:cs typeface="Times New Roman" panose="02020603050405020304" pitchFamily="18" charset="0"/>
              </a:rPr>
              <a:t>Non-medication options?</a:t>
            </a:r>
            <a:r>
              <a:rPr lang="en-US" sz="1800" u="sng"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For patients who cannot tolerate anticoagulation, there are a number of procedural options that reduce risk of stroke. There percutaneously placed devices (e.g. WATCHMAN) that occlude the left atrial appendage, which is where clots tend to form in atrial fibrillation. It is important to note that patients are at high thrombotic risk peri-procedurally and require anticoagulation or antiplatelet therapy for a period of time. For patients undergoing other cardiac surgery, surgical left atrial appendage ligation during the procedure reduces risk of stroke, but it is still recommended that patients continue oral anticoagulation. </a:t>
            </a:r>
          </a:p>
          <a:p>
            <a:endParaRPr lang="en-US" dirty="0"/>
          </a:p>
        </p:txBody>
      </p:sp>
      <p:sp>
        <p:nvSpPr>
          <p:cNvPr id="4" name="Slide Number Placeholder 3"/>
          <p:cNvSpPr>
            <a:spLocks noGrp="1"/>
          </p:cNvSpPr>
          <p:nvPr>
            <p:ph type="sldNum" sz="quarter" idx="5"/>
          </p:nvPr>
        </p:nvSpPr>
        <p:spPr/>
        <p:txBody>
          <a:bodyPr/>
          <a:lstStyle/>
          <a:p>
            <a:fld id="{4E219E2B-22A6-A94C-BF82-701922B3E472}" type="slidenum">
              <a:rPr lang="en-US" smtClean="0"/>
              <a:t>3</a:t>
            </a:fld>
            <a:endParaRPr lang="en-US"/>
          </a:p>
        </p:txBody>
      </p:sp>
    </p:spTree>
    <p:extLst>
      <p:ext uri="{BB962C8B-B14F-4D97-AF65-F5344CB8AC3E}">
        <p14:creationId xmlns:p14="http://schemas.microsoft.com/office/powerpoint/2010/main" val="851831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Calibri" panose="020F0502020204030204" pitchFamily="34" charset="0"/>
              <a:buChar char="-"/>
            </a:pPr>
            <a:r>
              <a:rPr lang="en-US" sz="1200" i="1" u="sng" dirty="0">
                <a:effectLst/>
                <a:latin typeface="Calibri" panose="020F0502020204030204" pitchFamily="34" charset="0"/>
                <a:ea typeface="Calibri" panose="020F0502020204030204" pitchFamily="34" charset="0"/>
                <a:cs typeface="Times New Roman" panose="02020603050405020304" pitchFamily="18" charset="0"/>
              </a:rPr>
              <a:t>Valve disease</a:t>
            </a:r>
            <a:r>
              <a:rPr lang="en-US" sz="1200" dirty="0">
                <a:effectLst/>
                <a:latin typeface="Calibri" panose="020F0502020204030204" pitchFamily="34" charset="0"/>
                <a:ea typeface="Calibri" panose="020F0502020204030204" pitchFamily="34" charset="0"/>
                <a:cs typeface="Times New Roman" panose="02020603050405020304" pitchFamily="18" charset="0"/>
              </a:rPr>
              <a:t> - the term “valvular” AF refers only to moderate or severe mitral stenosis or a mechanical valve. Any other valvular lesion (e.g. aortic stenosis, mitral regurgitation) still falls under “non-valvular” atrial fibrillation. Patients with moderate to severe mitral stenosis were excluded from trials evaluating efficacy of DOACs and current guidelines recommend warfarin for these patients, though there may be more data in the future. </a:t>
            </a:r>
          </a:p>
          <a:p>
            <a:pPr marL="742950" marR="0" lvl="1" indent="-285750">
              <a:spcBef>
                <a:spcPts val="0"/>
              </a:spcBef>
              <a:spcAft>
                <a:spcPts val="0"/>
              </a:spcAft>
              <a:buFont typeface="Calibri" panose="020F0502020204030204" pitchFamily="34" charset="0"/>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Patients with mechanical valves require warfarin. DOACs have been studied in this population and were found to be inferior.</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3</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alibri" panose="020F0502020204030204" pitchFamily="34" charset="0"/>
              <a:buChar cha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Calibri" panose="020F0502020204030204" pitchFamily="34" charset="0"/>
              <a:buChar char="-"/>
            </a:pPr>
            <a:r>
              <a:rPr lang="en-US" sz="1200" i="1" u="sng" dirty="0">
                <a:effectLst/>
                <a:latin typeface="Calibri" panose="020F0502020204030204" pitchFamily="34" charset="0"/>
                <a:ea typeface="Calibri" panose="020F0502020204030204" pitchFamily="34" charset="0"/>
                <a:cs typeface="Times New Roman" panose="02020603050405020304" pitchFamily="18" charset="0"/>
              </a:rPr>
              <a:t>Obesity</a:t>
            </a:r>
            <a:r>
              <a:rPr lang="en-US" sz="1200" dirty="0">
                <a:effectLst/>
                <a:latin typeface="Calibri" panose="020F0502020204030204" pitchFamily="34" charset="0"/>
                <a:ea typeface="Calibri" panose="020F0502020204030204" pitchFamily="34" charset="0"/>
                <a:cs typeface="Times New Roman" panose="02020603050405020304" pitchFamily="18" charset="0"/>
              </a:rPr>
              <a:t> - there is concern about efficacy of fixed dose DOAC in patients with obesity as they were not included or under-represented in clinical trials. </a:t>
            </a:r>
            <a:r>
              <a:rPr lang="en-US" sz="12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There is data to suggest all DOACs are safe and effective at BMI &lt;40, that apixaban is safe and effective up to a BMI of 50, but that patients with extreme obesity with BMI&gt;50 likely should be treated with warfarin.</a:t>
            </a:r>
            <a:r>
              <a:rPr lang="en-US" sz="8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4</a:t>
            </a:r>
            <a:r>
              <a:rPr lang="en-US" sz="8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dirty="0">
                <a:effectLst/>
                <a:latin typeface="Calibri" panose="020F0502020204030204" pitchFamily="34" charset="0"/>
                <a:ea typeface="Calibri" panose="020F0502020204030204" pitchFamily="34" charset="0"/>
                <a:cs typeface="Times New Roman" panose="02020603050405020304" pitchFamily="18" charset="0"/>
              </a:rPr>
              <a:t> There is also data showing apixaban and rivaroxaban are safe and effective for treatment of venous thromboembolism.</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5</a:t>
            </a:r>
          </a:p>
          <a:p>
            <a:pPr marL="742950" lvl="1" indent="-285750">
              <a:buFontTx/>
              <a:buChar char="-"/>
            </a:pPr>
            <a:r>
              <a:rPr lang="en-US" sz="1800" dirty="0">
                <a:effectLst/>
                <a:latin typeface="Segoe UI" panose="020B0502040204020203" pitchFamily="34" charset="0"/>
              </a:rPr>
              <a:t>PMID: </a:t>
            </a:r>
            <a:r>
              <a:rPr lang="en-US" sz="1800" dirty="0">
                <a:solidFill>
                  <a:srgbClr val="212121"/>
                </a:solidFill>
                <a:effectLst/>
                <a:latin typeface="Segoe UI" panose="020B0502040204020203" pitchFamily="34" charset="0"/>
              </a:rPr>
              <a:t>33812834 </a:t>
            </a:r>
            <a:r>
              <a:rPr lang="en-US" sz="1800" dirty="0">
                <a:effectLst/>
                <a:latin typeface="Segoe UI" panose="020B0502040204020203" pitchFamily="34" charset="0"/>
                <a:hlinkClick r:id="rId3"/>
              </a:rPr>
              <a:t>https://www.sciencedirect.com/science/article/pii/S2405500X21001225?via%3Dihub</a:t>
            </a:r>
            <a:r>
              <a:rPr lang="en-US" sz="1800" dirty="0">
                <a:solidFill>
                  <a:srgbClr val="212121"/>
                </a:solidFill>
                <a:effectLst/>
                <a:latin typeface="Segoe UI" panose="020B0502040204020203" pitchFamily="34" charset="0"/>
              </a:rPr>
              <a:t> - retrospective study of 36k patients. DOACs were compared to warfarin and had better safety and effectiveness across all BMI categories including those with grade 3 obesity (BMI &gt; 40). Granted, mean BMI was like 45.5 in this group so it doesn't say much for BMI&gt;50. </a:t>
            </a:r>
            <a:endParaRPr lang="en-US" sz="1800" dirty="0">
              <a:solidFill>
                <a:schemeClr val="tx1"/>
              </a:solidFill>
              <a:effectLst/>
              <a:latin typeface="Arial" panose="020B0604020202020204" pitchFamily="34" charset="0"/>
            </a:endParaRPr>
          </a:p>
          <a:p>
            <a:pPr marL="742950" lvl="1" indent="-285750">
              <a:buFontTx/>
              <a:buChar char="-"/>
            </a:pPr>
            <a:r>
              <a:rPr lang="en-US" sz="1800" dirty="0">
                <a:solidFill>
                  <a:srgbClr val="212121"/>
                </a:solidFill>
                <a:effectLst/>
                <a:latin typeface="Segoe UI" panose="020B0502040204020203" pitchFamily="34" charset="0"/>
              </a:rPr>
              <a:t>PMID: 34491953 - Meta-analysis of 10 studies including 89k patients with BMI &gt; 40. Mean BMI was 43.7. Found that the rate of systemic embolism was lower in DOAC group and major bleeding rate was also significantly lower in DOAC group. Subgroup analysis show this was lower in rivaroxaban and apixaban. Dabigatran showed noninferiority to warfarin in embolism but superiority in safety. I didn't see a subgroup analysis for BMI&gt;50. </a:t>
            </a:r>
            <a:endParaRPr lang="en-US" sz="1800" dirty="0">
              <a:effectLst/>
              <a:latin typeface="Arial" panose="020B0604020202020204" pitchFamily="34" charset="0"/>
            </a:endParaRPr>
          </a:p>
          <a:p>
            <a:pPr marL="342900" marR="0" lvl="0" indent="-342900">
              <a:spcBef>
                <a:spcPts val="0"/>
              </a:spcBef>
              <a:spcAft>
                <a:spcPts val="0"/>
              </a:spcAft>
              <a:buFont typeface="Calibri" panose="020F0502020204030204" pitchFamily="34" charset="0"/>
              <a:buChar cha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Calibri" panose="020F0502020204030204" pitchFamily="34" charset="0"/>
              <a:buChar char="-"/>
            </a:pPr>
            <a:r>
              <a:rPr lang="en-US" sz="1200" i="1" u="sng" dirty="0">
                <a:effectLst/>
                <a:latin typeface="Calibri" panose="020F0502020204030204" pitchFamily="34" charset="0"/>
                <a:ea typeface="Calibri" panose="020F0502020204030204" pitchFamily="34" charset="0"/>
                <a:cs typeface="Times New Roman" panose="02020603050405020304" pitchFamily="18" charset="0"/>
              </a:rPr>
              <a:t>Cardioversion</a:t>
            </a:r>
            <a:r>
              <a:rPr lang="en-US" sz="1200" i="1" dirty="0">
                <a:effectLst/>
                <a:latin typeface="Calibri" panose="020F0502020204030204" pitchFamily="34" charset="0"/>
                <a:ea typeface="Calibri" panose="020F0502020204030204" pitchFamily="34" charset="0"/>
                <a:cs typeface="Times New Roman" panose="02020603050405020304" pitchFamily="18" charset="0"/>
              </a:rPr>
              <a:t> - </a:t>
            </a:r>
            <a:r>
              <a:rPr lang="en-US" sz="1200" dirty="0">
                <a:effectLst/>
                <a:latin typeface="Calibri" panose="020F0502020204030204" pitchFamily="34" charset="0"/>
                <a:ea typeface="Calibri" panose="020F0502020204030204" pitchFamily="34" charset="0"/>
                <a:cs typeface="Times New Roman" panose="02020603050405020304" pitchFamily="18" charset="0"/>
              </a:rPr>
              <a:t>Patients who are undergoing cardioversion are at elevated stroke risk in the peri-cardioversion period – it is thought that if a clot has formed in the left atrial appendage, return to sinus rhythm could dislodge that clot and lead to systemic emboli. Current guidelines recommend at least 3 weeks of anticoagulation prior to cardioversion if atrial fibrillation has been present for &gt;48 hours (or unknown duration). An alternative (frequently seen for patients admitted to the hospital) is to perform transesophageal echocardiogram (TEE) prior to cardioversion to ensure there is no clot in the left atrial appendage. It is often difficult to definitively determine the exact timing of onset and there is data questioning the “48-hour rule” (retrospective data showing increased risk of stroke after only 12 hours, particularly in elderly patients). Thus, patients rarely proceed directly to cardioversion without TEE or preceding anticoagulation. After cardioversion, patients require 4 weeks of anticoagulation regardless of their CHA</a:t>
            </a:r>
            <a:r>
              <a:rPr lang="en-US" sz="1200"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US" sz="1200" dirty="0">
                <a:effectLst/>
                <a:latin typeface="Calibri" panose="020F0502020204030204" pitchFamily="34" charset="0"/>
                <a:ea typeface="Calibri" panose="020F0502020204030204" pitchFamily="34" charset="0"/>
                <a:cs typeface="Times New Roman" panose="02020603050405020304" pitchFamily="18" charset="0"/>
              </a:rPr>
              <a:t>DS</a:t>
            </a:r>
            <a:r>
              <a:rPr lang="en-US" sz="1200"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US" sz="1200" dirty="0">
                <a:effectLst/>
                <a:latin typeface="Calibri" panose="020F0502020204030204" pitchFamily="34" charset="0"/>
                <a:ea typeface="Calibri" panose="020F0502020204030204" pitchFamily="34" charset="0"/>
                <a:cs typeface="Times New Roman" panose="02020603050405020304" pitchFamily="18" charset="0"/>
              </a:rPr>
              <a:t>-VASc score.</a:t>
            </a:r>
          </a:p>
          <a:p>
            <a:pPr marL="342900" marR="0" lvl="0" indent="-342900">
              <a:spcBef>
                <a:spcPts val="0"/>
              </a:spcBef>
              <a:spcAft>
                <a:spcPts val="0"/>
              </a:spcAft>
              <a:buFont typeface="Calibri" panose="020F0502020204030204" pitchFamily="34" charset="0"/>
              <a:buChar char="-"/>
            </a:pPr>
            <a:r>
              <a:rPr lang="en-US" sz="1200" i="1" u="sng" dirty="0">
                <a:effectLst/>
                <a:latin typeface="Calibri" panose="020F0502020204030204" pitchFamily="34" charset="0"/>
                <a:ea typeface="Calibri" panose="020F0502020204030204" pitchFamily="34" charset="0"/>
                <a:cs typeface="Times New Roman" panose="02020603050405020304" pitchFamily="18" charset="0"/>
              </a:rPr>
              <a:t>Frequent falls</a:t>
            </a:r>
            <a:r>
              <a:rPr lang="en-US" sz="1200" dirty="0">
                <a:effectLst/>
                <a:latin typeface="Calibri" panose="020F0502020204030204" pitchFamily="34" charset="0"/>
                <a:ea typeface="Calibri" panose="020F0502020204030204" pitchFamily="34" charset="0"/>
                <a:cs typeface="Times New Roman" panose="02020603050405020304" pitchFamily="18" charset="0"/>
              </a:rPr>
              <a:t> - Frequent falls (especially without history of associated bleeding) should </a:t>
            </a:r>
            <a:r>
              <a:rPr lang="en-US" sz="1200" i="1" dirty="0">
                <a:effectLst/>
                <a:latin typeface="Calibri" panose="020F0502020204030204" pitchFamily="34" charset="0"/>
                <a:ea typeface="Calibri" panose="020F0502020204030204" pitchFamily="34" charset="0"/>
                <a:cs typeface="Times New Roman" panose="02020603050405020304" pitchFamily="18" charset="0"/>
              </a:rPr>
              <a:t>not</a:t>
            </a:r>
            <a:r>
              <a:rPr lang="en-US" sz="1200" dirty="0">
                <a:effectLst/>
                <a:latin typeface="Calibri" panose="020F0502020204030204" pitchFamily="34" charset="0"/>
                <a:ea typeface="Calibri" panose="020F0502020204030204" pitchFamily="34" charset="0"/>
                <a:cs typeface="Times New Roman" panose="02020603050405020304" pitchFamily="18" charset="0"/>
              </a:rPr>
              <a:t> be a reason to withhold anticoagulation. One study estimated that a “average-risk” elderly patient would have to fall </a:t>
            </a:r>
            <a:r>
              <a:rPr lang="en-US" sz="1200" b="1" dirty="0">
                <a:effectLst/>
                <a:latin typeface="Calibri" panose="020F0502020204030204" pitchFamily="34" charset="0"/>
                <a:ea typeface="Calibri" panose="020F0502020204030204" pitchFamily="34" charset="0"/>
                <a:cs typeface="Times New Roman" panose="02020603050405020304" pitchFamily="18" charset="0"/>
              </a:rPr>
              <a:t>295</a:t>
            </a:r>
            <a:r>
              <a:rPr lang="en-US" sz="1200" dirty="0">
                <a:effectLst/>
                <a:latin typeface="Calibri" panose="020F0502020204030204" pitchFamily="34" charset="0"/>
                <a:ea typeface="Calibri" panose="020F0502020204030204" pitchFamily="34" charset="0"/>
                <a:cs typeface="Times New Roman" panose="02020603050405020304" pitchFamily="18" charset="0"/>
              </a:rPr>
              <a:t> times per year for the risk of anticoagulation to outweigh the benefit.</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6 </a:t>
            </a:r>
            <a:r>
              <a:rPr lang="en-US" sz="1200" baseline="0" dirty="0">
                <a:effectLst/>
                <a:latin typeface="Calibri" panose="020F0502020204030204" pitchFamily="34" charset="0"/>
                <a:ea typeface="Calibri" panose="020F0502020204030204" pitchFamily="34" charset="0"/>
                <a:cs typeface="Times New Roman" panose="02020603050405020304" pitchFamily="18" charset="0"/>
              </a:rPr>
              <a:t>(1999)</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Calibri" panose="020F0502020204030204" pitchFamily="34" charset="0"/>
              <a:buChar char="-"/>
            </a:pPr>
            <a:r>
              <a:rPr lang="en-US" sz="1200" i="1" u="sng" dirty="0">
                <a:effectLst/>
                <a:latin typeface="Calibri" panose="020F0502020204030204" pitchFamily="34" charset="0"/>
                <a:ea typeface="Calibri" panose="020F0502020204030204" pitchFamily="34" charset="0"/>
                <a:cs typeface="Times New Roman" panose="02020603050405020304" pitchFamily="18" charset="0"/>
              </a:rPr>
              <a:t>Coronary artery disease</a:t>
            </a:r>
            <a:r>
              <a:rPr lang="en-US" sz="1200" dirty="0">
                <a:effectLst/>
                <a:latin typeface="Calibri" panose="020F0502020204030204" pitchFamily="34" charset="0"/>
                <a:ea typeface="Calibri" panose="020F0502020204030204" pitchFamily="34" charset="0"/>
                <a:cs typeface="Times New Roman" panose="02020603050405020304" pitchFamily="18" charset="0"/>
              </a:rPr>
              <a:t> - In general, in most patients with stable coronary disease (i.e., at least 1 year from any revascularization), adding aspirin to anticoagulation therapy only increases bleeding risk without decreasing thrombotic events. Most patients can be treated with anticoagulation alone. Recent </a:t>
            </a:r>
            <a:r>
              <a:rPr lang="en-US" sz="12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ACC guidelines</a:t>
            </a:r>
            <a:r>
              <a:rPr lang="en-US" sz="1200" dirty="0">
                <a:effectLst/>
                <a:latin typeface="Calibri" panose="020F0502020204030204" pitchFamily="34" charset="0"/>
                <a:ea typeface="Calibri" panose="020F0502020204030204" pitchFamily="34" charset="0"/>
                <a:cs typeface="Times New Roman" panose="02020603050405020304" pitchFamily="18" charset="0"/>
              </a:rPr>
              <a:t> have helpful diagrams for management of antiplatelet and anticoagulant medications in a variety of clinical scenarios.</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7</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Calibri" panose="020F0502020204030204" pitchFamily="34" charset="0"/>
              <a:buChar char="-"/>
            </a:pPr>
            <a:r>
              <a:rPr lang="en-US" sz="1200" i="1" u="sng" dirty="0">
                <a:effectLst/>
                <a:latin typeface="Calibri" panose="020F0502020204030204" pitchFamily="34" charset="0"/>
                <a:ea typeface="Calibri" panose="020F0502020204030204" pitchFamily="34" charset="0"/>
                <a:cs typeface="Times New Roman" panose="02020603050405020304" pitchFamily="18" charset="0"/>
              </a:rPr>
              <a:t>Chronic kidney disease</a:t>
            </a:r>
            <a:r>
              <a:rPr lang="en-US" sz="1200" dirty="0">
                <a:effectLst/>
                <a:latin typeface="Calibri" panose="020F0502020204030204" pitchFamily="34" charset="0"/>
                <a:ea typeface="Calibri" panose="020F0502020204030204" pitchFamily="34" charset="0"/>
                <a:cs typeface="Times New Roman" panose="02020603050405020304" pitchFamily="18" charset="0"/>
              </a:rPr>
              <a:t> - For patients with end-stage renal disease or a creatinine clearance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CrCl</a:t>
            </a:r>
            <a:r>
              <a:rPr lang="en-US" sz="1200" dirty="0">
                <a:effectLst/>
                <a:latin typeface="Calibri" panose="020F0502020204030204" pitchFamily="34" charset="0"/>
                <a:ea typeface="Calibri" panose="020F0502020204030204" pitchFamily="34" charset="0"/>
                <a:cs typeface="Times New Roman" panose="02020603050405020304" pitchFamily="18" charset="0"/>
              </a:rPr>
              <a:t>) &lt;15 mL/min, apixaban or warfarin can be used. </a:t>
            </a:r>
          </a:p>
          <a:p>
            <a:pPr marL="0" marR="0">
              <a:spcBef>
                <a:spcPts val="0"/>
              </a:spcBef>
              <a:spcAft>
                <a:spcPts val="0"/>
              </a:spcAft>
            </a:pPr>
            <a:endParaRPr lang="en-US" sz="1000" dirty="0">
              <a:solidFill>
                <a:srgbClr val="212121"/>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endParaRPr lang="en-US" sz="1000" dirty="0">
              <a:solidFill>
                <a:srgbClr val="212121"/>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solidFill>
                  <a:srgbClr val="212121"/>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rPr>
              <a:t>Just some food for thought. Perhaps defer to Cards or Heme.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 </a:t>
            </a:r>
            <a:r>
              <a:rPr lang="en-US" sz="1000" dirty="0">
                <a:effectLst/>
                <a:latin typeface="Calibri" panose="020F0502020204030204" pitchFamily="34" charset="0"/>
                <a:ea typeface="Calibri" panose="020F0502020204030204" pitchFamily="34" charset="0"/>
                <a:cs typeface="Times New Roman" panose="02020603050405020304" pitchFamily="18" charset="0"/>
              </a:rPr>
              <a:t>However, another source supporting your conclusion is PMID: 3386594 (Can J of Cardiology, 2021)</a:t>
            </a:r>
          </a:p>
          <a:p>
            <a:endParaRPr lang="en-US" dirty="0"/>
          </a:p>
        </p:txBody>
      </p:sp>
      <p:sp>
        <p:nvSpPr>
          <p:cNvPr id="4" name="Slide Number Placeholder 3"/>
          <p:cNvSpPr>
            <a:spLocks noGrp="1"/>
          </p:cNvSpPr>
          <p:nvPr>
            <p:ph type="sldNum" sz="quarter" idx="5"/>
          </p:nvPr>
        </p:nvSpPr>
        <p:spPr/>
        <p:txBody>
          <a:bodyPr/>
          <a:lstStyle/>
          <a:p>
            <a:fld id="{4E219E2B-22A6-A94C-BF82-701922B3E472}" type="slidenum">
              <a:rPr lang="en-US" smtClean="0"/>
              <a:t>4</a:t>
            </a:fld>
            <a:endParaRPr lang="en-US"/>
          </a:p>
        </p:txBody>
      </p:sp>
    </p:spTree>
    <p:extLst>
      <p:ext uri="{BB962C8B-B14F-4D97-AF65-F5344CB8AC3E}">
        <p14:creationId xmlns:p14="http://schemas.microsoft.com/office/powerpoint/2010/main" val="2683815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219E2B-22A6-A94C-BF82-701922B3E472}" type="slidenum">
              <a:rPr lang="en-US" smtClean="0"/>
              <a:t>5</a:t>
            </a:fld>
            <a:endParaRPr lang="en-US"/>
          </a:p>
        </p:txBody>
      </p:sp>
    </p:spTree>
    <p:extLst>
      <p:ext uri="{BB962C8B-B14F-4D97-AF65-F5344CB8AC3E}">
        <p14:creationId xmlns:p14="http://schemas.microsoft.com/office/powerpoint/2010/main" val="1048120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219E2B-22A6-A94C-BF82-701922B3E472}" type="slidenum">
              <a:rPr lang="en-US" smtClean="0"/>
              <a:t>6</a:t>
            </a:fld>
            <a:endParaRPr lang="en-US"/>
          </a:p>
        </p:txBody>
      </p:sp>
    </p:spTree>
    <p:extLst>
      <p:ext uri="{BB962C8B-B14F-4D97-AF65-F5344CB8AC3E}">
        <p14:creationId xmlns:p14="http://schemas.microsoft.com/office/powerpoint/2010/main" val="3247018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219E2B-22A6-A94C-BF82-701922B3E472}" type="slidenum">
              <a:rPr lang="en-US" smtClean="0"/>
              <a:t>7</a:t>
            </a:fld>
            <a:endParaRPr lang="en-US"/>
          </a:p>
        </p:txBody>
      </p:sp>
    </p:spTree>
    <p:extLst>
      <p:ext uri="{BB962C8B-B14F-4D97-AF65-F5344CB8AC3E}">
        <p14:creationId xmlns:p14="http://schemas.microsoft.com/office/powerpoint/2010/main" val="2324480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219E2B-22A6-A94C-BF82-701922B3E472}" type="slidenum">
              <a:rPr lang="en-US" smtClean="0"/>
              <a:t>8</a:t>
            </a:fld>
            <a:endParaRPr lang="en-US"/>
          </a:p>
        </p:txBody>
      </p:sp>
    </p:spTree>
    <p:extLst>
      <p:ext uri="{BB962C8B-B14F-4D97-AF65-F5344CB8AC3E}">
        <p14:creationId xmlns:p14="http://schemas.microsoft.com/office/powerpoint/2010/main" val="1630431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A47A9-D53B-43D9-8708-4A4F9CD95E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6AC791-CF7B-4E5A-829B-C1FEA7278E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8A3820-9C64-4254-B706-D7655C8874F1}"/>
              </a:ext>
            </a:extLst>
          </p:cNvPr>
          <p:cNvSpPr>
            <a:spLocks noGrp="1"/>
          </p:cNvSpPr>
          <p:nvPr>
            <p:ph type="dt" sz="half" idx="10"/>
          </p:nvPr>
        </p:nvSpPr>
        <p:spPr/>
        <p:txBody>
          <a:bodyPr/>
          <a:lstStyle/>
          <a:p>
            <a:fld id="{0F84F14A-D76B-40B9-B3E4-3854EC9865A5}" type="datetimeFigureOut">
              <a:rPr lang="en-US" smtClean="0"/>
              <a:t>11/30/2022</a:t>
            </a:fld>
            <a:endParaRPr lang="en-US"/>
          </a:p>
        </p:txBody>
      </p:sp>
      <p:sp>
        <p:nvSpPr>
          <p:cNvPr id="5" name="Footer Placeholder 4">
            <a:extLst>
              <a:ext uri="{FF2B5EF4-FFF2-40B4-BE49-F238E27FC236}">
                <a16:creationId xmlns:a16="http://schemas.microsoft.com/office/drawing/2014/main" id="{DF6A3BB0-232D-4C30-81EA-22F168436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054119-109B-45F1-AE71-24E5326EF81B}"/>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5208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4F50C-21F5-4629-9EC6-785D86A735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58CE0E-9445-461F-9ECE-DDFCB30DE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5AAB52-45BA-4DA5-8D42-A08F5258C10D}"/>
              </a:ext>
            </a:extLst>
          </p:cNvPr>
          <p:cNvSpPr>
            <a:spLocks noGrp="1"/>
          </p:cNvSpPr>
          <p:nvPr>
            <p:ph type="dt" sz="half" idx="10"/>
          </p:nvPr>
        </p:nvSpPr>
        <p:spPr/>
        <p:txBody>
          <a:bodyPr/>
          <a:lstStyle/>
          <a:p>
            <a:fld id="{0F84F14A-D76B-40B9-B3E4-3854EC9865A5}" type="datetimeFigureOut">
              <a:rPr lang="en-US" smtClean="0"/>
              <a:t>11/30/2022</a:t>
            </a:fld>
            <a:endParaRPr lang="en-US"/>
          </a:p>
        </p:txBody>
      </p:sp>
      <p:sp>
        <p:nvSpPr>
          <p:cNvPr id="5" name="Footer Placeholder 4">
            <a:extLst>
              <a:ext uri="{FF2B5EF4-FFF2-40B4-BE49-F238E27FC236}">
                <a16:creationId xmlns:a16="http://schemas.microsoft.com/office/drawing/2014/main" id="{1282237F-3FF5-4808-8FD5-00EF68EB1D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7A63D9-4B9C-4C5F-9F78-072EDC354ED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481301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FD5A-4224-4D3C-B1F1-B90A847A5C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EB6431-F589-4041-83A9-477647B3D2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06F8E7-1AA6-4BD7-A388-9A352EFFA539}"/>
              </a:ext>
            </a:extLst>
          </p:cNvPr>
          <p:cNvSpPr>
            <a:spLocks noGrp="1"/>
          </p:cNvSpPr>
          <p:nvPr>
            <p:ph type="dt" sz="half" idx="10"/>
          </p:nvPr>
        </p:nvSpPr>
        <p:spPr/>
        <p:txBody>
          <a:bodyPr/>
          <a:lstStyle/>
          <a:p>
            <a:fld id="{0F84F14A-D76B-40B9-B3E4-3854EC9865A5}" type="datetimeFigureOut">
              <a:rPr lang="en-US" smtClean="0"/>
              <a:t>11/30/2022</a:t>
            </a:fld>
            <a:endParaRPr lang="en-US"/>
          </a:p>
        </p:txBody>
      </p:sp>
      <p:sp>
        <p:nvSpPr>
          <p:cNvPr id="5" name="Footer Placeholder 4">
            <a:extLst>
              <a:ext uri="{FF2B5EF4-FFF2-40B4-BE49-F238E27FC236}">
                <a16:creationId xmlns:a16="http://schemas.microsoft.com/office/drawing/2014/main" id="{47D54B6F-EDE8-4FBE-9CCD-D1DA25653B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CB8CD-7770-4694-A186-17FB1A0452A4}"/>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460745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1048C-8CE6-4F5C-9D54-EEF648B5D0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51A9E7-68D0-4CAE-8EED-7E16296A61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93C60E-E3A3-43C5-9B70-2947682C4F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661302-CA24-440A-B4FF-2A215B8036C7}"/>
              </a:ext>
            </a:extLst>
          </p:cNvPr>
          <p:cNvSpPr>
            <a:spLocks noGrp="1"/>
          </p:cNvSpPr>
          <p:nvPr>
            <p:ph type="dt" sz="half" idx="10"/>
          </p:nvPr>
        </p:nvSpPr>
        <p:spPr/>
        <p:txBody>
          <a:bodyPr/>
          <a:lstStyle/>
          <a:p>
            <a:fld id="{0F84F14A-D76B-40B9-B3E4-3854EC9865A5}" type="datetimeFigureOut">
              <a:rPr lang="en-US" smtClean="0"/>
              <a:t>11/30/2022</a:t>
            </a:fld>
            <a:endParaRPr lang="en-US"/>
          </a:p>
        </p:txBody>
      </p:sp>
      <p:sp>
        <p:nvSpPr>
          <p:cNvPr id="6" name="Footer Placeholder 5">
            <a:extLst>
              <a:ext uri="{FF2B5EF4-FFF2-40B4-BE49-F238E27FC236}">
                <a16:creationId xmlns:a16="http://schemas.microsoft.com/office/drawing/2014/main" id="{4C7EEBFF-4BF8-4D9A-877C-4E5B15B3B2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B3C224-531D-4D5F-B138-C8C2DF558B5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977382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275BB-BA8C-4CC9-93B3-4A118DAD38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A6F770-99FF-4877-A6E4-801BCDCA79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173736-8DED-4689-9646-4FBAC9D97A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48A43-C6BB-4B91-88F4-AA4F08A7F1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F14354-CC40-406E-99F5-5BC15D383A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7D4896-9FCB-4EF0-BFDF-E1D1B2FC7BF2}"/>
              </a:ext>
            </a:extLst>
          </p:cNvPr>
          <p:cNvSpPr>
            <a:spLocks noGrp="1"/>
          </p:cNvSpPr>
          <p:nvPr>
            <p:ph type="dt" sz="half" idx="10"/>
          </p:nvPr>
        </p:nvSpPr>
        <p:spPr/>
        <p:txBody>
          <a:bodyPr/>
          <a:lstStyle/>
          <a:p>
            <a:fld id="{0F84F14A-D76B-40B9-B3E4-3854EC9865A5}" type="datetimeFigureOut">
              <a:rPr lang="en-US" smtClean="0"/>
              <a:t>11/30/2022</a:t>
            </a:fld>
            <a:endParaRPr lang="en-US"/>
          </a:p>
        </p:txBody>
      </p:sp>
      <p:sp>
        <p:nvSpPr>
          <p:cNvPr id="8" name="Footer Placeholder 7">
            <a:extLst>
              <a:ext uri="{FF2B5EF4-FFF2-40B4-BE49-F238E27FC236}">
                <a16:creationId xmlns:a16="http://schemas.microsoft.com/office/drawing/2014/main" id="{7B12BA49-F00F-4AFE-AB38-3A00DBD124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F7A29B-38B0-4F09-BE1C-9FA194FABC2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120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DF8A-24FB-44E0-9F17-99FE29456C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4F6B9C-BC36-4C97-A0C2-298B31B7F242}"/>
              </a:ext>
            </a:extLst>
          </p:cNvPr>
          <p:cNvSpPr>
            <a:spLocks noGrp="1"/>
          </p:cNvSpPr>
          <p:nvPr>
            <p:ph type="dt" sz="half" idx="10"/>
          </p:nvPr>
        </p:nvSpPr>
        <p:spPr/>
        <p:txBody>
          <a:bodyPr/>
          <a:lstStyle/>
          <a:p>
            <a:fld id="{0F84F14A-D76B-40B9-B3E4-3854EC9865A5}" type="datetimeFigureOut">
              <a:rPr lang="en-US" smtClean="0"/>
              <a:t>11/30/2022</a:t>
            </a:fld>
            <a:endParaRPr lang="en-US"/>
          </a:p>
        </p:txBody>
      </p:sp>
      <p:sp>
        <p:nvSpPr>
          <p:cNvPr id="4" name="Footer Placeholder 3">
            <a:extLst>
              <a:ext uri="{FF2B5EF4-FFF2-40B4-BE49-F238E27FC236}">
                <a16:creationId xmlns:a16="http://schemas.microsoft.com/office/drawing/2014/main" id="{D275006E-543E-470E-A609-8F2C7C4FA1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5B6329-5671-4FC1-9965-4613377B21FF}"/>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657071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27B9BC-B772-43F8-B4FC-CF88D87B4201}"/>
              </a:ext>
            </a:extLst>
          </p:cNvPr>
          <p:cNvSpPr>
            <a:spLocks noGrp="1"/>
          </p:cNvSpPr>
          <p:nvPr>
            <p:ph type="dt" sz="half" idx="10"/>
          </p:nvPr>
        </p:nvSpPr>
        <p:spPr/>
        <p:txBody>
          <a:bodyPr/>
          <a:lstStyle/>
          <a:p>
            <a:fld id="{0F84F14A-D76B-40B9-B3E4-3854EC9865A5}" type="datetimeFigureOut">
              <a:rPr lang="en-US" smtClean="0"/>
              <a:t>11/30/2022</a:t>
            </a:fld>
            <a:endParaRPr lang="en-US"/>
          </a:p>
        </p:txBody>
      </p:sp>
      <p:sp>
        <p:nvSpPr>
          <p:cNvPr id="3" name="Footer Placeholder 2">
            <a:extLst>
              <a:ext uri="{FF2B5EF4-FFF2-40B4-BE49-F238E27FC236}">
                <a16:creationId xmlns:a16="http://schemas.microsoft.com/office/drawing/2014/main" id="{6148AABF-8B66-415F-B026-058588D738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B94FAD-0F36-4D49-8D81-BC7EBBED37D3}"/>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788563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4225D-6212-45BF-9127-F3496C1950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776053-9083-4DB1-AC75-EEAFE66D1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FCAA03-47AC-448C-BD62-44DFDB1CA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7466D0-E4EF-4DF9-8096-64AA0A64889E}"/>
              </a:ext>
            </a:extLst>
          </p:cNvPr>
          <p:cNvSpPr>
            <a:spLocks noGrp="1"/>
          </p:cNvSpPr>
          <p:nvPr>
            <p:ph type="dt" sz="half" idx="10"/>
          </p:nvPr>
        </p:nvSpPr>
        <p:spPr/>
        <p:txBody>
          <a:bodyPr/>
          <a:lstStyle/>
          <a:p>
            <a:fld id="{0F84F14A-D76B-40B9-B3E4-3854EC9865A5}" type="datetimeFigureOut">
              <a:rPr lang="en-US" smtClean="0"/>
              <a:t>11/30/2022</a:t>
            </a:fld>
            <a:endParaRPr lang="en-US"/>
          </a:p>
        </p:txBody>
      </p:sp>
      <p:sp>
        <p:nvSpPr>
          <p:cNvPr id="6" name="Footer Placeholder 5">
            <a:extLst>
              <a:ext uri="{FF2B5EF4-FFF2-40B4-BE49-F238E27FC236}">
                <a16:creationId xmlns:a16="http://schemas.microsoft.com/office/drawing/2014/main" id="{9BD45805-0774-4915-B57B-553C8A9B7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4D829-266E-48F1-BED7-DD6BB3E4B33F}"/>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542342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6985-27E5-4F8C-BF91-22DEDCF51D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F96F4-60CE-40AC-AE3F-7773EA4447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A837F7-B670-4DDC-AFE1-EBA1784FB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C39E62-6360-48A5-B5FE-258587AB417D}"/>
              </a:ext>
            </a:extLst>
          </p:cNvPr>
          <p:cNvSpPr>
            <a:spLocks noGrp="1"/>
          </p:cNvSpPr>
          <p:nvPr>
            <p:ph type="dt" sz="half" idx="10"/>
          </p:nvPr>
        </p:nvSpPr>
        <p:spPr/>
        <p:txBody>
          <a:bodyPr/>
          <a:lstStyle/>
          <a:p>
            <a:fld id="{0F84F14A-D76B-40B9-B3E4-3854EC9865A5}" type="datetimeFigureOut">
              <a:rPr lang="en-US" smtClean="0"/>
              <a:t>11/30/2022</a:t>
            </a:fld>
            <a:endParaRPr lang="en-US"/>
          </a:p>
        </p:txBody>
      </p:sp>
      <p:sp>
        <p:nvSpPr>
          <p:cNvPr id="6" name="Footer Placeholder 5">
            <a:extLst>
              <a:ext uri="{FF2B5EF4-FFF2-40B4-BE49-F238E27FC236}">
                <a16:creationId xmlns:a16="http://schemas.microsoft.com/office/drawing/2014/main" id="{E5728423-8843-4CD6-A271-610D92326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BC43CA-DAE0-4E68-99E5-FF49B44A1558}"/>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418171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CC0A-32B2-4D6B-A976-152A5A6BB2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C7FAE1-E8C3-4A04-99E1-FC26CF51F3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0D4EBF-9BC0-48F9-BBA1-256AA7B449F0}"/>
              </a:ext>
            </a:extLst>
          </p:cNvPr>
          <p:cNvSpPr>
            <a:spLocks noGrp="1"/>
          </p:cNvSpPr>
          <p:nvPr>
            <p:ph type="dt" sz="half" idx="10"/>
          </p:nvPr>
        </p:nvSpPr>
        <p:spPr/>
        <p:txBody>
          <a:bodyPr/>
          <a:lstStyle/>
          <a:p>
            <a:fld id="{0F84F14A-D76B-40B9-B3E4-3854EC9865A5}" type="datetimeFigureOut">
              <a:rPr lang="en-US" smtClean="0"/>
              <a:t>11/30/2022</a:t>
            </a:fld>
            <a:endParaRPr lang="en-US"/>
          </a:p>
        </p:txBody>
      </p:sp>
      <p:sp>
        <p:nvSpPr>
          <p:cNvPr id="5" name="Footer Placeholder 4">
            <a:extLst>
              <a:ext uri="{FF2B5EF4-FFF2-40B4-BE49-F238E27FC236}">
                <a16:creationId xmlns:a16="http://schemas.microsoft.com/office/drawing/2014/main" id="{409FBAC2-A8AA-4365-8035-E8139DCAB9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C765-A941-41A8-ACE1-FC7EEB923CF8}"/>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759857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BA6490-5CB4-4007-BF9C-C0B9BBFD82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EA637B-55D1-4FD6-8826-8107FE6954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3F6E6-4340-45E1-8E17-57FEF9878CE3}"/>
              </a:ext>
            </a:extLst>
          </p:cNvPr>
          <p:cNvSpPr>
            <a:spLocks noGrp="1"/>
          </p:cNvSpPr>
          <p:nvPr>
            <p:ph type="dt" sz="half" idx="10"/>
          </p:nvPr>
        </p:nvSpPr>
        <p:spPr/>
        <p:txBody>
          <a:bodyPr/>
          <a:lstStyle/>
          <a:p>
            <a:fld id="{0F84F14A-D76B-40B9-B3E4-3854EC9865A5}" type="datetimeFigureOut">
              <a:rPr lang="en-US" smtClean="0"/>
              <a:t>11/30/2022</a:t>
            </a:fld>
            <a:endParaRPr lang="en-US"/>
          </a:p>
        </p:txBody>
      </p:sp>
      <p:sp>
        <p:nvSpPr>
          <p:cNvPr id="5" name="Footer Placeholder 4">
            <a:extLst>
              <a:ext uri="{FF2B5EF4-FFF2-40B4-BE49-F238E27FC236}">
                <a16:creationId xmlns:a16="http://schemas.microsoft.com/office/drawing/2014/main" id="{ECF51AFE-9DEF-42C3-B256-8BF6A263A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1D9F0-0590-4283-85CE-FDF9A9299B6D}"/>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50808542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8B2958-4B36-4099-B770-95CB160AB6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895D57-598D-40AC-A83B-119200F92E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F33C1-0465-4F25-B77C-BB92D54D44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84F14A-D76B-40B9-B3E4-3854EC9865A5}" type="datetimeFigureOut">
              <a:rPr lang="en-US" smtClean="0"/>
              <a:t>11/30/2022</a:t>
            </a:fld>
            <a:endParaRPr lang="en-US"/>
          </a:p>
        </p:txBody>
      </p:sp>
      <p:sp>
        <p:nvSpPr>
          <p:cNvPr id="5" name="Footer Placeholder 4">
            <a:extLst>
              <a:ext uri="{FF2B5EF4-FFF2-40B4-BE49-F238E27FC236}">
                <a16:creationId xmlns:a16="http://schemas.microsoft.com/office/drawing/2014/main" id="{BB0183EC-0D02-4E7B-AF4B-BCEBEC8047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385E90E-61B1-441D-88BB-8B212DF7DC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AEE272-2248-4504-8802-E524313AA46D}" type="slidenum">
              <a:rPr lang="en-US" smtClean="0"/>
              <a:t>‹#›</a:t>
            </a:fld>
            <a:endParaRPr lang="en-US"/>
          </a:p>
        </p:txBody>
      </p:sp>
    </p:spTree>
    <p:extLst>
      <p:ext uri="{BB962C8B-B14F-4D97-AF65-F5344CB8AC3E}">
        <p14:creationId xmlns:p14="http://schemas.microsoft.com/office/powerpoint/2010/main" val="1161362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slide2.xml"/><Relationship Id="rId4" Type="http://schemas.openxmlformats.org/officeDocument/2006/relationships/slide" Target="slide5.xml"/><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www.sparctool.com/" TargetMode="External"/><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image" Target="../media/image1.png"/><Relationship Id="rId7" Type="http://schemas.openxmlformats.org/officeDocument/2006/relationships/image" Target="../media/image2.svg"/><Relationship Id="rId8" Type="http://schemas.openxmlformats.org/officeDocument/2006/relationships/slide" Target="slide2.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3.xml"/><Relationship Id="rId13"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6.png"/><Relationship Id="rId6" Type="http://schemas.openxmlformats.org/officeDocument/2006/relationships/slide" Target="slide2.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image" Target="../media/image7.png"/><Relationship Id="rId13" Type="http://schemas.openxmlformats.org/officeDocument/2006/relationships/image" Target="../media/image8.svg"/><Relationship Id="rId14" Type="http://schemas.openxmlformats.org/officeDocument/2006/relationships/image" Target="../media/image9.png"/><Relationship Id="rId1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jpe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slide" Target="slide2.xml"/><Relationship Id="rId10" Type="http://schemas.openxmlformats.org/officeDocument/2006/relationships/slide" Target="slide5.xml"/><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 Target="slide6.xml"/><Relationship Id="rId14" Type="http://schemas.openxmlformats.org/officeDocument/2006/relationships/slide" Target="slide7.xml"/><Relationship Id="rId15" Type="http://schemas.openxmlformats.org/officeDocument/2006/relationships/slide" Target="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image" Target="../media/image1.png"/><Relationship Id="rId7" Type="http://schemas.openxmlformats.org/officeDocument/2006/relationships/image" Target="../media/image2.svg"/><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slide" Target="slide2.xml"/><Relationship Id="rId6" Type="http://schemas.openxmlformats.org/officeDocument/2006/relationships/slide" Target="slide5.xml"/><Relationship Id="rId7" Type="http://schemas.openxmlformats.org/officeDocument/2006/relationships/image" Target="../media/image1.png"/><Relationship Id="rId8" Type="http://schemas.openxmlformats.org/officeDocument/2006/relationships/image" Target="../media/image2.svg"/><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image" Target="../media/image21.png"/><Relationship Id="rId12"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slide" Target="slide2.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slide" Target="slide2.xml"/><Relationship Id="rId4" Type="http://schemas.openxmlformats.org/officeDocument/2006/relationships/slide" Target="slide5.xml"/><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O1: Stroke Prev">
            <a:hlinkClick r:id="rId3" action="ppaction://hlinksldjump"/>
            <a:extLst>
              <a:ext uri="{FF2B5EF4-FFF2-40B4-BE49-F238E27FC236}">
                <a16:creationId xmlns:a16="http://schemas.microsoft.com/office/drawing/2014/main" id="{6E40EF01-40C8-4BBA-9302-094310544EE5}"/>
              </a:ext>
            </a:extLst>
          </p:cNvPr>
          <p:cNvSpPr/>
          <p:nvPr/>
        </p:nvSpPr>
        <p:spPr>
          <a:xfrm>
            <a:off x="167951" y="148589"/>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Stroke Prevention</a:t>
            </a:r>
          </a:p>
        </p:txBody>
      </p:sp>
      <p:sp>
        <p:nvSpPr>
          <p:cNvPr id="5" name="LO2: Rhythm Control">
            <a:hlinkClick r:id="rId4" action="ppaction://hlinksldjump"/>
            <a:extLst>
              <a:ext uri="{FF2B5EF4-FFF2-40B4-BE49-F238E27FC236}">
                <a16:creationId xmlns:a16="http://schemas.microsoft.com/office/drawing/2014/main" id="{18AA5CC9-2F52-44F8-95A8-EF1288A442A3}"/>
              </a:ext>
            </a:extLst>
          </p:cNvPr>
          <p:cNvSpPr/>
          <p:nvPr/>
        </p:nvSpPr>
        <p:spPr>
          <a:xfrm>
            <a:off x="167950" y="674454"/>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Rate Control</a:t>
            </a:r>
          </a:p>
        </p:txBody>
      </p:sp>
      <p:pic>
        <p:nvPicPr>
          <p:cNvPr id="6" name="Sidebar arrow 1" descr="Cursor with solid fill">
            <a:extLst>
              <a:ext uri="{FF2B5EF4-FFF2-40B4-BE49-F238E27FC236}">
                <a16:creationId xmlns:a16="http://schemas.microsoft.com/office/drawing/2014/main" id="{A70CEF10-430A-40AB-9918-5B1C8464891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1292" y="388855"/>
            <a:ext cx="270672" cy="270672"/>
          </a:xfrm>
          <a:prstGeom prst="rect">
            <a:avLst/>
          </a:prstGeom>
        </p:spPr>
      </p:pic>
      <p:pic>
        <p:nvPicPr>
          <p:cNvPr id="7" name="Sidebar arrow 2" descr="Cursor with solid fill">
            <a:extLst>
              <a:ext uri="{FF2B5EF4-FFF2-40B4-BE49-F238E27FC236}">
                <a16:creationId xmlns:a16="http://schemas.microsoft.com/office/drawing/2014/main" id="{5733B8FF-EE79-4DF6-B11B-E377500EC59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1292" y="914720"/>
            <a:ext cx="270672" cy="270672"/>
          </a:xfrm>
          <a:prstGeom prst="rect">
            <a:avLst/>
          </a:prstGeom>
        </p:spPr>
      </p:pic>
      <p:sp>
        <p:nvSpPr>
          <p:cNvPr id="8" name="LO3: Rate Control">
            <a:hlinkClick r:id="rId7" action="ppaction://hlinksldjump"/>
            <a:extLst>
              <a:ext uri="{FF2B5EF4-FFF2-40B4-BE49-F238E27FC236}">
                <a16:creationId xmlns:a16="http://schemas.microsoft.com/office/drawing/2014/main" id="{EBAB0FC3-94FB-41EF-84AD-D21B7DE4FC38}"/>
              </a:ext>
            </a:extLst>
          </p:cNvPr>
          <p:cNvSpPr/>
          <p:nvPr/>
        </p:nvSpPr>
        <p:spPr>
          <a:xfrm>
            <a:off x="167950" y="1200319"/>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Rhythm Control</a:t>
            </a:r>
          </a:p>
        </p:txBody>
      </p:sp>
      <p:pic>
        <p:nvPicPr>
          <p:cNvPr id="9" name="Sidebar arrow 3" descr="Cursor with solid fill">
            <a:extLst>
              <a:ext uri="{FF2B5EF4-FFF2-40B4-BE49-F238E27FC236}">
                <a16:creationId xmlns:a16="http://schemas.microsoft.com/office/drawing/2014/main" id="{D765C619-19B9-476D-997A-233D70149EB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1292" y="1440585"/>
            <a:ext cx="270672" cy="270672"/>
          </a:xfrm>
          <a:prstGeom prst="rect">
            <a:avLst/>
          </a:prstGeom>
        </p:spPr>
      </p:pic>
      <p:sp>
        <p:nvSpPr>
          <p:cNvPr id="10" name="Cases">
            <a:hlinkClick r:id="rId8" action="ppaction://hlinksldjump"/>
            <a:extLst>
              <a:ext uri="{FF2B5EF4-FFF2-40B4-BE49-F238E27FC236}">
                <a16:creationId xmlns:a16="http://schemas.microsoft.com/office/drawing/2014/main" id="{5115A06E-BC1E-4DC8-9B58-81221D9D6B8D}"/>
              </a:ext>
            </a:extLst>
          </p:cNvPr>
          <p:cNvSpPr/>
          <p:nvPr/>
        </p:nvSpPr>
        <p:spPr>
          <a:xfrm>
            <a:off x="167950" y="1726184"/>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11" name="Sidebar arrow 4" descr="Cursor with solid fill">
            <a:extLst>
              <a:ext uri="{FF2B5EF4-FFF2-40B4-BE49-F238E27FC236}">
                <a16:creationId xmlns:a16="http://schemas.microsoft.com/office/drawing/2014/main" id="{0D725135-1B94-4345-8972-A55A78703A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1292" y="1966447"/>
            <a:ext cx="270672" cy="270672"/>
          </a:xfrm>
          <a:prstGeom prst="rect">
            <a:avLst/>
          </a:prstGeom>
        </p:spPr>
      </p:pic>
      <p:sp>
        <p:nvSpPr>
          <p:cNvPr id="12" name="Title">
            <a:extLst>
              <a:ext uri="{FF2B5EF4-FFF2-40B4-BE49-F238E27FC236}">
                <a16:creationId xmlns:a16="http://schemas.microsoft.com/office/drawing/2014/main" id="{EAFB72A1-C019-4ADE-A4C3-117AF97FE617}"/>
              </a:ext>
            </a:extLst>
          </p:cNvPr>
          <p:cNvSpPr txBox="1"/>
          <p:nvPr/>
        </p:nvSpPr>
        <p:spPr>
          <a:xfrm>
            <a:off x="2818773" y="486232"/>
            <a:ext cx="7637869" cy="1569660"/>
          </a:xfrm>
          <a:prstGeom prst="rect">
            <a:avLst/>
          </a:prstGeom>
          <a:noFill/>
        </p:spPr>
        <p:txBody>
          <a:bodyPr wrap="square" rtlCol="0">
            <a:spAutoFit/>
          </a:bodyPr>
          <a:lstStyle/>
          <a:p>
            <a:pPr algn="ctr"/>
            <a:r>
              <a:rPr lang="en-US" sz="4800" b="1" dirty="0"/>
              <a:t>Chronic Management of Atrial Fibrillation</a:t>
            </a:r>
          </a:p>
        </p:txBody>
      </p:sp>
      <p:pic>
        <p:nvPicPr>
          <p:cNvPr id="3" name="Heart image">
            <a:extLst>
              <a:ext uri="{FF2B5EF4-FFF2-40B4-BE49-F238E27FC236}">
                <a16:creationId xmlns:a16="http://schemas.microsoft.com/office/drawing/2014/main" id="{B49DC816-FED6-3D4B-8321-DCD8D0CFD79A}"/>
              </a:ext>
            </a:extLst>
          </p:cNvPr>
          <p:cNvPicPr>
            <a:picLocks noChangeAspect="1"/>
          </p:cNvPicPr>
          <p:nvPr/>
        </p:nvPicPr>
        <p:blipFill rotWithShape="1">
          <a:blip r:embed="rId9">
            <a:extLst>
              <a:ext uri="{28A0092B-C50C-407E-A947-70E740481C1C}">
                <a14:useLocalDpi xmlns:a14="http://schemas.microsoft.com/office/drawing/2010/main" val="0"/>
              </a:ext>
            </a:extLst>
          </a:blip>
          <a:srcRect l="4285" t="11777" r="80090" b="60321"/>
          <a:stretch/>
        </p:blipFill>
        <p:spPr>
          <a:xfrm>
            <a:off x="5579645" y="3463235"/>
            <a:ext cx="2116124" cy="2645154"/>
          </a:xfrm>
          <a:prstGeom prst="rect">
            <a:avLst/>
          </a:prstGeom>
        </p:spPr>
      </p:pic>
      <p:sp>
        <p:nvSpPr>
          <p:cNvPr id="2" name="Freeform: Shape 1">
            <a:extLst>
              <a:ext uri="{FF2B5EF4-FFF2-40B4-BE49-F238E27FC236}">
                <a16:creationId xmlns:a16="http://schemas.microsoft.com/office/drawing/2014/main" id="{09644FE5-9B55-AB2C-DB45-4EFAC1B1F309}"/>
              </a:ext>
            </a:extLst>
          </p:cNvPr>
          <p:cNvSpPr/>
          <p:nvPr/>
        </p:nvSpPr>
        <p:spPr>
          <a:xfrm>
            <a:off x="4875582" y="2506202"/>
            <a:ext cx="3524250" cy="922798"/>
          </a:xfrm>
          <a:custGeom>
            <a:avLst/>
            <a:gdLst>
              <a:gd name="connsiteX0" fmla="*/ 0 w 2622550"/>
              <a:gd name="connsiteY0" fmla="*/ 540191 h 734499"/>
              <a:gd name="connsiteX1" fmla="*/ 63500 w 2622550"/>
              <a:gd name="connsiteY1" fmla="*/ 559241 h 734499"/>
              <a:gd name="connsiteX2" fmla="*/ 82550 w 2622550"/>
              <a:gd name="connsiteY2" fmla="*/ 521141 h 734499"/>
              <a:gd name="connsiteX3" fmla="*/ 146050 w 2622550"/>
              <a:gd name="connsiteY3" fmla="*/ 578291 h 734499"/>
              <a:gd name="connsiteX4" fmla="*/ 165100 w 2622550"/>
              <a:gd name="connsiteY4" fmla="*/ 514791 h 734499"/>
              <a:gd name="connsiteX5" fmla="*/ 209550 w 2622550"/>
              <a:gd name="connsiteY5" fmla="*/ 552891 h 734499"/>
              <a:gd name="connsiteX6" fmla="*/ 266700 w 2622550"/>
              <a:gd name="connsiteY6" fmla="*/ 514791 h 734499"/>
              <a:gd name="connsiteX7" fmla="*/ 279400 w 2622550"/>
              <a:gd name="connsiteY7" fmla="*/ 533841 h 734499"/>
              <a:gd name="connsiteX8" fmla="*/ 304800 w 2622550"/>
              <a:gd name="connsiteY8" fmla="*/ 540191 h 734499"/>
              <a:gd name="connsiteX9" fmla="*/ 355600 w 2622550"/>
              <a:gd name="connsiteY9" fmla="*/ 540191 h 734499"/>
              <a:gd name="connsiteX10" fmla="*/ 355600 w 2622550"/>
              <a:gd name="connsiteY10" fmla="*/ 610041 h 734499"/>
              <a:gd name="connsiteX11" fmla="*/ 387350 w 2622550"/>
              <a:gd name="connsiteY11" fmla="*/ 441 h 734499"/>
              <a:gd name="connsiteX12" fmla="*/ 457200 w 2622550"/>
              <a:gd name="connsiteY12" fmla="*/ 717991 h 734499"/>
              <a:gd name="connsiteX13" fmla="*/ 501650 w 2622550"/>
              <a:gd name="connsiteY13" fmla="*/ 521141 h 734499"/>
              <a:gd name="connsiteX14" fmla="*/ 514350 w 2622550"/>
              <a:gd name="connsiteY14" fmla="*/ 540191 h 734499"/>
              <a:gd name="connsiteX15" fmla="*/ 520700 w 2622550"/>
              <a:gd name="connsiteY15" fmla="*/ 495741 h 734499"/>
              <a:gd name="connsiteX16" fmla="*/ 558800 w 2622550"/>
              <a:gd name="connsiteY16" fmla="*/ 521141 h 734499"/>
              <a:gd name="connsiteX17" fmla="*/ 590550 w 2622550"/>
              <a:gd name="connsiteY17" fmla="*/ 495741 h 734499"/>
              <a:gd name="connsiteX18" fmla="*/ 641350 w 2622550"/>
              <a:gd name="connsiteY18" fmla="*/ 546541 h 734499"/>
              <a:gd name="connsiteX19" fmla="*/ 685800 w 2622550"/>
              <a:gd name="connsiteY19" fmla="*/ 521141 h 734499"/>
              <a:gd name="connsiteX20" fmla="*/ 749300 w 2622550"/>
              <a:gd name="connsiteY20" fmla="*/ 559241 h 734499"/>
              <a:gd name="connsiteX21" fmla="*/ 806450 w 2622550"/>
              <a:gd name="connsiteY21" fmla="*/ 521141 h 734499"/>
              <a:gd name="connsiteX22" fmla="*/ 889000 w 2622550"/>
              <a:gd name="connsiteY22" fmla="*/ 527491 h 734499"/>
              <a:gd name="connsiteX23" fmla="*/ 908050 w 2622550"/>
              <a:gd name="connsiteY23" fmla="*/ 476691 h 734499"/>
              <a:gd name="connsiteX24" fmla="*/ 958850 w 2622550"/>
              <a:gd name="connsiteY24" fmla="*/ 578291 h 734499"/>
              <a:gd name="connsiteX25" fmla="*/ 1003300 w 2622550"/>
              <a:gd name="connsiteY25" fmla="*/ 540191 h 734499"/>
              <a:gd name="connsiteX26" fmla="*/ 1041400 w 2622550"/>
              <a:gd name="connsiteY26" fmla="*/ 540191 h 734499"/>
              <a:gd name="connsiteX27" fmla="*/ 1041400 w 2622550"/>
              <a:gd name="connsiteY27" fmla="*/ 559241 h 734499"/>
              <a:gd name="connsiteX28" fmla="*/ 1066800 w 2622550"/>
              <a:gd name="connsiteY28" fmla="*/ 565591 h 734499"/>
              <a:gd name="connsiteX29" fmla="*/ 1111250 w 2622550"/>
              <a:gd name="connsiteY29" fmla="*/ 6791 h 734499"/>
              <a:gd name="connsiteX30" fmla="*/ 1187450 w 2622550"/>
              <a:gd name="connsiteY30" fmla="*/ 622741 h 734499"/>
              <a:gd name="connsiteX31" fmla="*/ 1225550 w 2622550"/>
              <a:gd name="connsiteY31" fmla="*/ 559241 h 734499"/>
              <a:gd name="connsiteX32" fmla="*/ 1250950 w 2622550"/>
              <a:gd name="connsiteY32" fmla="*/ 578291 h 734499"/>
              <a:gd name="connsiteX33" fmla="*/ 1295400 w 2622550"/>
              <a:gd name="connsiteY33" fmla="*/ 514791 h 734499"/>
              <a:gd name="connsiteX34" fmla="*/ 1320800 w 2622550"/>
              <a:gd name="connsiteY34" fmla="*/ 527491 h 734499"/>
              <a:gd name="connsiteX35" fmla="*/ 1384300 w 2622550"/>
              <a:gd name="connsiteY35" fmla="*/ 470341 h 734499"/>
              <a:gd name="connsiteX36" fmla="*/ 1403350 w 2622550"/>
              <a:gd name="connsiteY36" fmla="*/ 559241 h 734499"/>
              <a:gd name="connsiteX37" fmla="*/ 1473200 w 2622550"/>
              <a:gd name="connsiteY37" fmla="*/ 584641 h 734499"/>
              <a:gd name="connsiteX38" fmla="*/ 1517650 w 2622550"/>
              <a:gd name="connsiteY38" fmla="*/ 495741 h 734499"/>
              <a:gd name="connsiteX39" fmla="*/ 1619250 w 2622550"/>
              <a:gd name="connsiteY39" fmla="*/ 603691 h 734499"/>
              <a:gd name="connsiteX40" fmla="*/ 1631950 w 2622550"/>
              <a:gd name="connsiteY40" fmla="*/ 565591 h 734499"/>
              <a:gd name="connsiteX41" fmla="*/ 1682750 w 2622550"/>
              <a:gd name="connsiteY41" fmla="*/ 565591 h 734499"/>
              <a:gd name="connsiteX42" fmla="*/ 1708150 w 2622550"/>
              <a:gd name="connsiteY42" fmla="*/ 533841 h 734499"/>
              <a:gd name="connsiteX43" fmla="*/ 1758950 w 2622550"/>
              <a:gd name="connsiteY43" fmla="*/ 552891 h 734499"/>
              <a:gd name="connsiteX44" fmla="*/ 1790700 w 2622550"/>
              <a:gd name="connsiteY44" fmla="*/ 508441 h 734499"/>
              <a:gd name="connsiteX45" fmla="*/ 1816100 w 2622550"/>
              <a:gd name="connsiteY45" fmla="*/ 521141 h 734499"/>
              <a:gd name="connsiteX46" fmla="*/ 1822450 w 2622550"/>
              <a:gd name="connsiteY46" fmla="*/ 578291 h 734499"/>
              <a:gd name="connsiteX47" fmla="*/ 1847850 w 2622550"/>
              <a:gd name="connsiteY47" fmla="*/ 502091 h 734499"/>
              <a:gd name="connsiteX48" fmla="*/ 1879600 w 2622550"/>
              <a:gd name="connsiteY48" fmla="*/ 19491 h 734499"/>
              <a:gd name="connsiteX49" fmla="*/ 1930400 w 2622550"/>
              <a:gd name="connsiteY49" fmla="*/ 698941 h 734499"/>
              <a:gd name="connsiteX50" fmla="*/ 1968500 w 2622550"/>
              <a:gd name="connsiteY50" fmla="*/ 546541 h 734499"/>
              <a:gd name="connsiteX51" fmla="*/ 2032000 w 2622550"/>
              <a:gd name="connsiteY51" fmla="*/ 552891 h 734499"/>
              <a:gd name="connsiteX52" fmla="*/ 2044700 w 2622550"/>
              <a:gd name="connsiteY52" fmla="*/ 508441 h 734499"/>
              <a:gd name="connsiteX53" fmla="*/ 2152650 w 2622550"/>
              <a:gd name="connsiteY53" fmla="*/ 552891 h 734499"/>
              <a:gd name="connsiteX54" fmla="*/ 2241550 w 2622550"/>
              <a:gd name="connsiteY54" fmla="*/ 495741 h 734499"/>
              <a:gd name="connsiteX55" fmla="*/ 2298700 w 2622550"/>
              <a:gd name="connsiteY55" fmla="*/ 552891 h 734499"/>
              <a:gd name="connsiteX56" fmla="*/ 2349500 w 2622550"/>
              <a:gd name="connsiteY56" fmla="*/ 514791 h 734499"/>
              <a:gd name="connsiteX57" fmla="*/ 2374900 w 2622550"/>
              <a:gd name="connsiteY57" fmla="*/ 514791 h 734499"/>
              <a:gd name="connsiteX58" fmla="*/ 2387600 w 2622550"/>
              <a:gd name="connsiteY58" fmla="*/ 540191 h 734499"/>
              <a:gd name="connsiteX59" fmla="*/ 2438400 w 2622550"/>
              <a:gd name="connsiteY59" fmla="*/ 508441 h 734499"/>
              <a:gd name="connsiteX60" fmla="*/ 2451100 w 2622550"/>
              <a:gd name="connsiteY60" fmla="*/ 489391 h 734499"/>
              <a:gd name="connsiteX61" fmla="*/ 2476500 w 2622550"/>
              <a:gd name="connsiteY61" fmla="*/ 559241 h 734499"/>
              <a:gd name="connsiteX62" fmla="*/ 2501900 w 2622550"/>
              <a:gd name="connsiteY62" fmla="*/ 489391 h 734499"/>
              <a:gd name="connsiteX63" fmla="*/ 2533650 w 2622550"/>
              <a:gd name="connsiteY63" fmla="*/ 565591 h 734499"/>
              <a:gd name="connsiteX64" fmla="*/ 2584450 w 2622550"/>
              <a:gd name="connsiteY64" fmla="*/ 578291 h 734499"/>
              <a:gd name="connsiteX65" fmla="*/ 2622550 w 2622550"/>
              <a:gd name="connsiteY65" fmla="*/ 565591 h 734499"/>
              <a:gd name="connsiteX0" fmla="*/ 0 w 2622550"/>
              <a:gd name="connsiteY0" fmla="*/ 540191 h 734499"/>
              <a:gd name="connsiteX1" fmla="*/ 63500 w 2622550"/>
              <a:gd name="connsiteY1" fmla="*/ 559241 h 734499"/>
              <a:gd name="connsiteX2" fmla="*/ 82550 w 2622550"/>
              <a:gd name="connsiteY2" fmla="*/ 521141 h 734499"/>
              <a:gd name="connsiteX3" fmla="*/ 146050 w 2622550"/>
              <a:gd name="connsiteY3" fmla="*/ 578291 h 734499"/>
              <a:gd name="connsiteX4" fmla="*/ 165100 w 2622550"/>
              <a:gd name="connsiteY4" fmla="*/ 514791 h 734499"/>
              <a:gd name="connsiteX5" fmla="*/ 209550 w 2622550"/>
              <a:gd name="connsiteY5" fmla="*/ 552891 h 734499"/>
              <a:gd name="connsiteX6" fmla="*/ 266700 w 2622550"/>
              <a:gd name="connsiteY6" fmla="*/ 514791 h 734499"/>
              <a:gd name="connsiteX7" fmla="*/ 279400 w 2622550"/>
              <a:gd name="connsiteY7" fmla="*/ 533841 h 734499"/>
              <a:gd name="connsiteX8" fmla="*/ 304800 w 2622550"/>
              <a:gd name="connsiteY8" fmla="*/ 540191 h 734499"/>
              <a:gd name="connsiteX9" fmla="*/ 355600 w 2622550"/>
              <a:gd name="connsiteY9" fmla="*/ 540191 h 734499"/>
              <a:gd name="connsiteX10" fmla="*/ 355600 w 2622550"/>
              <a:gd name="connsiteY10" fmla="*/ 610041 h 734499"/>
              <a:gd name="connsiteX11" fmla="*/ 387350 w 2622550"/>
              <a:gd name="connsiteY11" fmla="*/ 441 h 734499"/>
              <a:gd name="connsiteX12" fmla="*/ 457200 w 2622550"/>
              <a:gd name="connsiteY12" fmla="*/ 717991 h 734499"/>
              <a:gd name="connsiteX13" fmla="*/ 501650 w 2622550"/>
              <a:gd name="connsiteY13" fmla="*/ 521141 h 734499"/>
              <a:gd name="connsiteX14" fmla="*/ 514350 w 2622550"/>
              <a:gd name="connsiteY14" fmla="*/ 540191 h 734499"/>
              <a:gd name="connsiteX15" fmla="*/ 520700 w 2622550"/>
              <a:gd name="connsiteY15" fmla="*/ 495741 h 734499"/>
              <a:gd name="connsiteX16" fmla="*/ 558800 w 2622550"/>
              <a:gd name="connsiteY16" fmla="*/ 521141 h 734499"/>
              <a:gd name="connsiteX17" fmla="*/ 590550 w 2622550"/>
              <a:gd name="connsiteY17" fmla="*/ 495741 h 734499"/>
              <a:gd name="connsiteX18" fmla="*/ 641350 w 2622550"/>
              <a:gd name="connsiteY18" fmla="*/ 546541 h 734499"/>
              <a:gd name="connsiteX19" fmla="*/ 685800 w 2622550"/>
              <a:gd name="connsiteY19" fmla="*/ 521141 h 734499"/>
              <a:gd name="connsiteX20" fmla="*/ 749300 w 2622550"/>
              <a:gd name="connsiteY20" fmla="*/ 559241 h 734499"/>
              <a:gd name="connsiteX21" fmla="*/ 806450 w 2622550"/>
              <a:gd name="connsiteY21" fmla="*/ 521141 h 734499"/>
              <a:gd name="connsiteX22" fmla="*/ 889000 w 2622550"/>
              <a:gd name="connsiteY22" fmla="*/ 527491 h 734499"/>
              <a:gd name="connsiteX23" fmla="*/ 908050 w 2622550"/>
              <a:gd name="connsiteY23" fmla="*/ 476691 h 734499"/>
              <a:gd name="connsiteX24" fmla="*/ 958850 w 2622550"/>
              <a:gd name="connsiteY24" fmla="*/ 578291 h 734499"/>
              <a:gd name="connsiteX25" fmla="*/ 1003300 w 2622550"/>
              <a:gd name="connsiteY25" fmla="*/ 540191 h 734499"/>
              <a:gd name="connsiteX26" fmla="*/ 1041400 w 2622550"/>
              <a:gd name="connsiteY26" fmla="*/ 540191 h 734499"/>
              <a:gd name="connsiteX27" fmla="*/ 1041400 w 2622550"/>
              <a:gd name="connsiteY27" fmla="*/ 559241 h 734499"/>
              <a:gd name="connsiteX28" fmla="*/ 1066800 w 2622550"/>
              <a:gd name="connsiteY28" fmla="*/ 565591 h 734499"/>
              <a:gd name="connsiteX29" fmla="*/ 1111250 w 2622550"/>
              <a:gd name="connsiteY29" fmla="*/ 6791 h 734499"/>
              <a:gd name="connsiteX30" fmla="*/ 1187450 w 2622550"/>
              <a:gd name="connsiteY30" fmla="*/ 622741 h 734499"/>
              <a:gd name="connsiteX31" fmla="*/ 1225550 w 2622550"/>
              <a:gd name="connsiteY31" fmla="*/ 559241 h 734499"/>
              <a:gd name="connsiteX32" fmla="*/ 1250950 w 2622550"/>
              <a:gd name="connsiteY32" fmla="*/ 578291 h 734499"/>
              <a:gd name="connsiteX33" fmla="*/ 1295400 w 2622550"/>
              <a:gd name="connsiteY33" fmla="*/ 514791 h 734499"/>
              <a:gd name="connsiteX34" fmla="*/ 1320800 w 2622550"/>
              <a:gd name="connsiteY34" fmla="*/ 527491 h 734499"/>
              <a:gd name="connsiteX35" fmla="*/ 1384300 w 2622550"/>
              <a:gd name="connsiteY35" fmla="*/ 470341 h 734499"/>
              <a:gd name="connsiteX36" fmla="*/ 1403350 w 2622550"/>
              <a:gd name="connsiteY36" fmla="*/ 559241 h 734499"/>
              <a:gd name="connsiteX37" fmla="*/ 1473200 w 2622550"/>
              <a:gd name="connsiteY37" fmla="*/ 584641 h 734499"/>
              <a:gd name="connsiteX38" fmla="*/ 1517650 w 2622550"/>
              <a:gd name="connsiteY38" fmla="*/ 495741 h 734499"/>
              <a:gd name="connsiteX39" fmla="*/ 1619250 w 2622550"/>
              <a:gd name="connsiteY39" fmla="*/ 603691 h 734499"/>
              <a:gd name="connsiteX40" fmla="*/ 1587500 w 2622550"/>
              <a:gd name="connsiteY40" fmla="*/ 540191 h 734499"/>
              <a:gd name="connsiteX41" fmla="*/ 1682750 w 2622550"/>
              <a:gd name="connsiteY41" fmla="*/ 565591 h 734499"/>
              <a:gd name="connsiteX42" fmla="*/ 1708150 w 2622550"/>
              <a:gd name="connsiteY42" fmla="*/ 533841 h 734499"/>
              <a:gd name="connsiteX43" fmla="*/ 1758950 w 2622550"/>
              <a:gd name="connsiteY43" fmla="*/ 552891 h 734499"/>
              <a:gd name="connsiteX44" fmla="*/ 1790700 w 2622550"/>
              <a:gd name="connsiteY44" fmla="*/ 508441 h 734499"/>
              <a:gd name="connsiteX45" fmla="*/ 1816100 w 2622550"/>
              <a:gd name="connsiteY45" fmla="*/ 521141 h 734499"/>
              <a:gd name="connsiteX46" fmla="*/ 1822450 w 2622550"/>
              <a:gd name="connsiteY46" fmla="*/ 578291 h 734499"/>
              <a:gd name="connsiteX47" fmla="*/ 1847850 w 2622550"/>
              <a:gd name="connsiteY47" fmla="*/ 502091 h 734499"/>
              <a:gd name="connsiteX48" fmla="*/ 1879600 w 2622550"/>
              <a:gd name="connsiteY48" fmla="*/ 19491 h 734499"/>
              <a:gd name="connsiteX49" fmla="*/ 1930400 w 2622550"/>
              <a:gd name="connsiteY49" fmla="*/ 698941 h 734499"/>
              <a:gd name="connsiteX50" fmla="*/ 1968500 w 2622550"/>
              <a:gd name="connsiteY50" fmla="*/ 546541 h 734499"/>
              <a:gd name="connsiteX51" fmla="*/ 2032000 w 2622550"/>
              <a:gd name="connsiteY51" fmla="*/ 552891 h 734499"/>
              <a:gd name="connsiteX52" fmla="*/ 2044700 w 2622550"/>
              <a:gd name="connsiteY52" fmla="*/ 508441 h 734499"/>
              <a:gd name="connsiteX53" fmla="*/ 2152650 w 2622550"/>
              <a:gd name="connsiteY53" fmla="*/ 552891 h 734499"/>
              <a:gd name="connsiteX54" fmla="*/ 2241550 w 2622550"/>
              <a:gd name="connsiteY54" fmla="*/ 495741 h 734499"/>
              <a:gd name="connsiteX55" fmla="*/ 2298700 w 2622550"/>
              <a:gd name="connsiteY55" fmla="*/ 552891 h 734499"/>
              <a:gd name="connsiteX56" fmla="*/ 2349500 w 2622550"/>
              <a:gd name="connsiteY56" fmla="*/ 514791 h 734499"/>
              <a:gd name="connsiteX57" fmla="*/ 2374900 w 2622550"/>
              <a:gd name="connsiteY57" fmla="*/ 514791 h 734499"/>
              <a:gd name="connsiteX58" fmla="*/ 2387600 w 2622550"/>
              <a:gd name="connsiteY58" fmla="*/ 540191 h 734499"/>
              <a:gd name="connsiteX59" fmla="*/ 2438400 w 2622550"/>
              <a:gd name="connsiteY59" fmla="*/ 508441 h 734499"/>
              <a:gd name="connsiteX60" fmla="*/ 2451100 w 2622550"/>
              <a:gd name="connsiteY60" fmla="*/ 489391 h 734499"/>
              <a:gd name="connsiteX61" fmla="*/ 2476500 w 2622550"/>
              <a:gd name="connsiteY61" fmla="*/ 559241 h 734499"/>
              <a:gd name="connsiteX62" fmla="*/ 2501900 w 2622550"/>
              <a:gd name="connsiteY62" fmla="*/ 489391 h 734499"/>
              <a:gd name="connsiteX63" fmla="*/ 2533650 w 2622550"/>
              <a:gd name="connsiteY63" fmla="*/ 565591 h 734499"/>
              <a:gd name="connsiteX64" fmla="*/ 2584450 w 2622550"/>
              <a:gd name="connsiteY64" fmla="*/ 578291 h 734499"/>
              <a:gd name="connsiteX65" fmla="*/ 2622550 w 2622550"/>
              <a:gd name="connsiteY65" fmla="*/ 565591 h 734499"/>
              <a:gd name="connsiteX0" fmla="*/ 0 w 2622550"/>
              <a:gd name="connsiteY0" fmla="*/ 540191 h 734499"/>
              <a:gd name="connsiteX1" fmla="*/ 63500 w 2622550"/>
              <a:gd name="connsiteY1" fmla="*/ 559241 h 734499"/>
              <a:gd name="connsiteX2" fmla="*/ 82550 w 2622550"/>
              <a:gd name="connsiteY2" fmla="*/ 521141 h 734499"/>
              <a:gd name="connsiteX3" fmla="*/ 146050 w 2622550"/>
              <a:gd name="connsiteY3" fmla="*/ 578291 h 734499"/>
              <a:gd name="connsiteX4" fmla="*/ 165100 w 2622550"/>
              <a:gd name="connsiteY4" fmla="*/ 514791 h 734499"/>
              <a:gd name="connsiteX5" fmla="*/ 209550 w 2622550"/>
              <a:gd name="connsiteY5" fmla="*/ 552891 h 734499"/>
              <a:gd name="connsiteX6" fmla="*/ 266700 w 2622550"/>
              <a:gd name="connsiteY6" fmla="*/ 514791 h 734499"/>
              <a:gd name="connsiteX7" fmla="*/ 279400 w 2622550"/>
              <a:gd name="connsiteY7" fmla="*/ 533841 h 734499"/>
              <a:gd name="connsiteX8" fmla="*/ 304800 w 2622550"/>
              <a:gd name="connsiteY8" fmla="*/ 540191 h 734499"/>
              <a:gd name="connsiteX9" fmla="*/ 355600 w 2622550"/>
              <a:gd name="connsiteY9" fmla="*/ 540191 h 734499"/>
              <a:gd name="connsiteX10" fmla="*/ 355600 w 2622550"/>
              <a:gd name="connsiteY10" fmla="*/ 610041 h 734499"/>
              <a:gd name="connsiteX11" fmla="*/ 387350 w 2622550"/>
              <a:gd name="connsiteY11" fmla="*/ 441 h 734499"/>
              <a:gd name="connsiteX12" fmla="*/ 457200 w 2622550"/>
              <a:gd name="connsiteY12" fmla="*/ 717991 h 734499"/>
              <a:gd name="connsiteX13" fmla="*/ 501650 w 2622550"/>
              <a:gd name="connsiteY13" fmla="*/ 521141 h 734499"/>
              <a:gd name="connsiteX14" fmla="*/ 514350 w 2622550"/>
              <a:gd name="connsiteY14" fmla="*/ 540191 h 734499"/>
              <a:gd name="connsiteX15" fmla="*/ 520700 w 2622550"/>
              <a:gd name="connsiteY15" fmla="*/ 495741 h 734499"/>
              <a:gd name="connsiteX16" fmla="*/ 558800 w 2622550"/>
              <a:gd name="connsiteY16" fmla="*/ 521141 h 734499"/>
              <a:gd name="connsiteX17" fmla="*/ 590550 w 2622550"/>
              <a:gd name="connsiteY17" fmla="*/ 495741 h 734499"/>
              <a:gd name="connsiteX18" fmla="*/ 641350 w 2622550"/>
              <a:gd name="connsiteY18" fmla="*/ 546541 h 734499"/>
              <a:gd name="connsiteX19" fmla="*/ 685800 w 2622550"/>
              <a:gd name="connsiteY19" fmla="*/ 521141 h 734499"/>
              <a:gd name="connsiteX20" fmla="*/ 749300 w 2622550"/>
              <a:gd name="connsiteY20" fmla="*/ 559241 h 734499"/>
              <a:gd name="connsiteX21" fmla="*/ 806450 w 2622550"/>
              <a:gd name="connsiteY21" fmla="*/ 521141 h 734499"/>
              <a:gd name="connsiteX22" fmla="*/ 889000 w 2622550"/>
              <a:gd name="connsiteY22" fmla="*/ 527491 h 734499"/>
              <a:gd name="connsiteX23" fmla="*/ 908050 w 2622550"/>
              <a:gd name="connsiteY23" fmla="*/ 476691 h 734499"/>
              <a:gd name="connsiteX24" fmla="*/ 958850 w 2622550"/>
              <a:gd name="connsiteY24" fmla="*/ 578291 h 734499"/>
              <a:gd name="connsiteX25" fmla="*/ 1003300 w 2622550"/>
              <a:gd name="connsiteY25" fmla="*/ 540191 h 734499"/>
              <a:gd name="connsiteX26" fmla="*/ 1041400 w 2622550"/>
              <a:gd name="connsiteY26" fmla="*/ 540191 h 734499"/>
              <a:gd name="connsiteX27" fmla="*/ 1041400 w 2622550"/>
              <a:gd name="connsiteY27" fmla="*/ 559241 h 734499"/>
              <a:gd name="connsiteX28" fmla="*/ 1066800 w 2622550"/>
              <a:gd name="connsiteY28" fmla="*/ 565591 h 734499"/>
              <a:gd name="connsiteX29" fmla="*/ 1111250 w 2622550"/>
              <a:gd name="connsiteY29" fmla="*/ 6791 h 734499"/>
              <a:gd name="connsiteX30" fmla="*/ 1162050 w 2622550"/>
              <a:gd name="connsiteY30" fmla="*/ 610041 h 734499"/>
              <a:gd name="connsiteX31" fmla="*/ 1225550 w 2622550"/>
              <a:gd name="connsiteY31" fmla="*/ 559241 h 734499"/>
              <a:gd name="connsiteX32" fmla="*/ 1250950 w 2622550"/>
              <a:gd name="connsiteY32" fmla="*/ 578291 h 734499"/>
              <a:gd name="connsiteX33" fmla="*/ 1295400 w 2622550"/>
              <a:gd name="connsiteY33" fmla="*/ 514791 h 734499"/>
              <a:gd name="connsiteX34" fmla="*/ 1320800 w 2622550"/>
              <a:gd name="connsiteY34" fmla="*/ 527491 h 734499"/>
              <a:gd name="connsiteX35" fmla="*/ 1384300 w 2622550"/>
              <a:gd name="connsiteY35" fmla="*/ 470341 h 734499"/>
              <a:gd name="connsiteX36" fmla="*/ 1403350 w 2622550"/>
              <a:gd name="connsiteY36" fmla="*/ 559241 h 734499"/>
              <a:gd name="connsiteX37" fmla="*/ 1473200 w 2622550"/>
              <a:gd name="connsiteY37" fmla="*/ 584641 h 734499"/>
              <a:gd name="connsiteX38" fmla="*/ 1517650 w 2622550"/>
              <a:gd name="connsiteY38" fmla="*/ 495741 h 734499"/>
              <a:gd name="connsiteX39" fmla="*/ 1619250 w 2622550"/>
              <a:gd name="connsiteY39" fmla="*/ 603691 h 734499"/>
              <a:gd name="connsiteX40" fmla="*/ 1587500 w 2622550"/>
              <a:gd name="connsiteY40" fmla="*/ 540191 h 734499"/>
              <a:gd name="connsiteX41" fmla="*/ 1682750 w 2622550"/>
              <a:gd name="connsiteY41" fmla="*/ 565591 h 734499"/>
              <a:gd name="connsiteX42" fmla="*/ 1708150 w 2622550"/>
              <a:gd name="connsiteY42" fmla="*/ 533841 h 734499"/>
              <a:gd name="connsiteX43" fmla="*/ 1758950 w 2622550"/>
              <a:gd name="connsiteY43" fmla="*/ 552891 h 734499"/>
              <a:gd name="connsiteX44" fmla="*/ 1790700 w 2622550"/>
              <a:gd name="connsiteY44" fmla="*/ 508441 h 734499"/>
              <a:gd name="connsiteX45" fmla="*/ 1816100 w 2622550"/>
              <a:gd name="connsiteY45" fmla="*/ 521141 h 734499"/>
              <a:gd name="connsiteX46" fmla="*/ 1822450 w 2622550"/>
              <a:gd name="connsiteY46" fmla="*/ 578291 h 734499"/>
              <a:gd name="connsiteX47" fmla="*/ 1847850 w 2622550"/>
              <a:gd name="connsiteY47" fmla="*/ 502091 h 734499"/>
              <a:gd name="connsiteX48" fmla="*/ 1879600 w 2622550"/>
              <a:gd name="connsiteY48" fmla="*/ 19491 h 734499"/>
              <a:gd name="connsiteX49" fmla="*/ 1930400 w 2622550"/>
              <a:gd name="connsiteY49" fmla="*/ 698941 h 734499"/>
              <a:gd name="connsiteX50" fmla="*/ 1968500 w 2622550"/>
              <a:gd name="connsiteY50" fmla="*/ 546541 h 734499"/>
              <a:gd name="connsiteX51" fmla="*/ 2032000 w 2622550"/>
              <a:gd name="connsiteY51" fmla="*/ 552891 h 734499"/>
              <a:gd name="connsiteX52" fmla="*/ 2044700 w 2622550"/>
              <a:gd name="connsiteY52" fmla="*/ 508441 h 734499"/>
              <a:gd name="connsiteX53" fmla="*/ 2152650 w 2622550"/>
              <a:gd name="connsiteY53" fmla="*/ 552891 h 734499"/>
              <a:gd name="connsiteX54" fmla="*/ 2241550 w 2622550"/>
              <a:gd name="connsiteY54" fmla="*/ 495741 h 734499"/>
              <a:gd name="connsiteX55" fmla="*/ 2298700 w 2622550"/>
              <a:gd name="connsiteY55" fmla="*/ 552891 h 734499"/>
              <a:gd name="connsiteX56" fmla="*/ 2349500 w 2622550"/>
              <a:gd name="connsiteY56" fmla="*/ 514791 h 734499"/>
              <a:gd name="connsiteX57" fmla="*/ 2374900 w 2622550"/>
              <a:gd name="connsiteY57" fmla="*/ 514791 h 734499"/>
              <a:gd name="connsiteX58" fmla="*/ 2387600 w 2622550"/>
              <a:gd name="connsiteY58" fmla="*/ 540191 h 734499"/>
              <a:gd name="connsiteX59" fmla="*/ 2438400 w 2622550"/>
              <a:gd name="connsiteY59" fmla="*/ 508441 h 734499"/>
              <a:gd name="connsiteX60" fmla="*/ 2451100 w 2622550"/>
              <a:gd name="connsiteY60" fmla="*/ 489391 h 734499"/>
              <a:gd name="connsiteX61" fmla="*/ 2476500 w 2622550"/>
              <a:gd name="connsiteY61" fmla="*/ 559241 h 734499"/>
              <a:gd name="connsiteX62" fmla="*/ 2501900 w 2622550"/>
              <a:gd name="connsiteY62" fmla="*/ 489391 h 734499"/>
              <a:gd name="connsiteX63" fmla="*/ 2533650 w 2622550"/>
              <a:gd name="connsiteY63" fmla="*/ 565591 h 734499"/>
              <a:gd name="connsiteX64" fmla="*/ 2584450 w 2622550"/>
              <a:gd name="connsiteY64" fmla="*/ 578291 h 734499"/>
              <a:gd name="connsiteX65" fmla="*/ 2622550 w 2622550"/>
              <a:gd name="connsiteY65" fmla="*/ 565591 h 734499"/>
              <a:gd name="connsiteX0" fmla="*/ 0 w 2622550"/>
              <a:gd name="connsiteY0" fmla="*/ 540191 h 734499"/>
              <a:gd name="connsiteX1" fmla="*/ 63500 w 2622550"/>
              <a:gd name="connsiteY1" fmla="*/ 559241 h 734499"/>
              <a:gd name="connsiteX2" fmla="*/ 82550 w 2622550"/>
              <a:gd name="connsiteY2" fmla="*/ 521141 h 734499"/>
              <a:gd name="connsiteX3" fmla="*/ 146050 w 2622550"/>
              <a:gd name="connsiteY3" fmla="*/ 578291 h 734499"/>
              <a:gd name="connsiteX4" fmla="*/ 165100 w 2622550"/>
              <a:gd name="connsiteY4" fmla="*/ 514791 h 734499"/>
              <a:gd name="connsiteX5" fmla="*/ 209550 w 2622550"/>
              <a:gd name="connsiteY5" fmla="*/ 552891 h 734499"/>
              <a:gd name="connsiteX6" fmla="*/ 266700 w 2622550"/>
              <a:gd name="connsiteY6" fmla="*/ 514791 h 734499"/>
              <a:gd name="connsiteX7" fmla="*/ 279400 w 2622550"/>
              <a:gd name="connsiteY7" fmla="*/ 533841 h 734499"/>
              <a:gd name="connsiteX8" fmla="*/ 304800 w 2622550"/>
              <a:gd name="connsiteY8" fmla="*/ 540191 h 734499"/>
              <a:gd name="connsiteX9" fmla="*/ 355600 w 2622550"/>
              <a:gd name="connsiteY9" fmla="*/ 540191 h 734499"/>
              <a:gd name="connsiteX10" fmla="*/ 355600 w 2622550"/>
              <a:gd name="connsiteY10" fmla="*/ 610041 h 734499"/>
              <a:gd name="connsiteX11" fmla="*/ 387350 w 2622550"/>
              <a:gd name="connsiteY11" fmla="*/ 441 h 734499"/>
              <a:gd name="connsiteX12" fmla="*/ 457200 w 2622550"/>
              <a:gd name="connsiteY12" fmla="*/ 717991 h 734499"/>
              <a:gd name="connsiteX13" fmla="*/ 501650 w 2622550"/>
              <a:gd name="connsiteY13" fmla="*/ 521141 h 734499"/>
              <a:gd name="connsiteX14" fmla="*/ 514350 w 2622550"/>
              <a:gd name="connsiteY14" fmla="*/ 540191 h 734499"/>
              <a:gd name="connsiteX15" fmla="*/ 520700 w 2622550"/>
              <a:gd name="connsiteY15" fmla="*/ 495741 h 734499"/>
              <a:gd name="connsiteX16" fmla="*/ 558800 w 2622550"/>
              <a:gd name="connsiteY16" fmla="*/ 521141 h 734499"/>
              <a:gd name="connsiteX17" fmla="*/ 590550 w 2622550"/>
              <a:gd name="connsiteY17" fmla="*/ 495741 h 734499"/>
              <a:gd name="connsiteX18" fmla="*/ 641350 w 2622550"/>
              <a:gd name="connsiteY18" fmla="*/ 546541 h 734499"/>
              <a:gd name="connsiteX19" fmla="*/ 685800 w 2622550"/>
              <a:gd name="connsiteY19" fmla="*/ 521141 h 734499"/>
              <a:gd name="connsiteX20" fmla="*/ 749300 w 2622550"/>
              <a:gd name="connsiteY20" fmla="*/ 559241 h 734499"/>
              <a:gd name="connsiteX21" fmla="*/ 806450 w 2622550"/>
              <a:gd name="connsiteY21" fmla="*/ 521141 h 734499"/>
              <a:gd name="connsiteX22" fmla="*/ 889000 w 2622550"/>
              <a:gd name="connsiteY22" fmla="*/ 527491 h 734499"/>
              <a:gd name="connsiteX23" fmla="*/ 908050 w 2622550"/>
              <a:gd name="connsiteY23" fmla="*/ 476691 h 734499"/>
              <a:gd name="connsiteX24" fmla="*/ 958850 w 2622550"/>
              <a:gd name="connsiteY24" fmla="*/ 578291 h 734499"/>
              <a:gd name="connsiteX25" fmla="*/ 1003300 w 2622550"/>
              <a:gd name="connsiteY25" fmla="*/ 540191 h 734499"/>
              <a:gd name="connsiteX26" fmla="*/ 1041400 w 2622550"/>
              <a:gd name="connsiteY26" fmla="*/ 540191 h 734499"/>
              <a:gd name="connsiteX27" fmla="*/ 1041400 w 2622550"/>
              <a:gd name="connsiteY27" fmla="*/ 559241 h 734499"/>
              <a:gd name="connsiteX28" fmla="*/ 1066800 w 2622550"/>
              <a:gd name="connsiteY28" fmla="*/ 565591 h 734499"/>
              <a:gd name="connsiteX29" fmla="*/ 1111250 w 2622550"/>
              <a:gd name="connsiteY29" fmla="*/ 6791 h 734499"/>
              <a:gd name="connsiteX30" fmla="*/ 1162050 w 2622550"/>
              <a:gd name="connsiteY30" fmla="*/ 610041 h 734499"/>
              <a:gd name="connsiteX31" fmla="*/ 1225550 w 2622550"/>
              <a:gd name="connsiteY31" fmla="*/ 559241 h 734499"/>
              <a:gd name="connsiteX32" fmla="*/ 1231900 w 2622550"/>
              <a:gd name="connsiteY32" fmla="*/ 571941 h 734499"/>
              <a:gd name="connsiteX33" fmla="*/ 1295400 w 2622550"/>
              <a:gd name="connsiteY33" fmla="*/ 514791 h 734499"/>
              <a:gd name="connsiteX34" fmla="*/ 1320800 w 2622550"/>
              <a:gd name="connsiteY34" fmla="*/ 527491 h 734499"/>
              <a:gd name="connsiteX35" fmla="*/ 1384300 w 2622550"/>
              <a:gd name="connsiteY35" fmla="*/ 470341 h 734499"/>
              <a:gd name="connsiteX36" fmla="*/ 1403350 w 2622550"/>
              <a:gd name="connsiteY36" fmla="*/ 559241 h 734499"/>
              <a:gd name="connsiteX37" fmla="*/ 1473200 w 2622550"/>
              <a:gd name="connsiteY37" fmla="*/ 584641 h 734499"/>
              <a:gd name="connsiteX38" fmla="*/ 1517650 w 2622550"/>
              <a:gd name="connsiteY38" fmla="*/ 495741 h 734499"/>
              <a:gd name="connsiteX39" fmla="*/ 1619250 w 2622550"/>
              <a:gd name="connsiteY39" fmla="*/ 603691 h 734499"/>
              <a:gd name="connsiteX40" fmla="*/ 1587500 w 2622550"/>
              <a:gd name="connsiteY40" fmla="*/ 540191 h 734499"/>
              <a:gd name="connsiteX41" fmla="*/ 1682750 w 2622550"/>
              <a:gd name="connsiteY41" fmla="*/ 565591 h 734499"/>
              <a:gd name="connsiteX42" fmla="*/ 1708150 w 2622550"/>
              <a:gd name="connsiteY42" fmla="*/ 533841 h 734499"/>
              <a:gd name="connsiteX43" fmla="*/ 1758950 w 2622550"/>
              <a:gd name="connsiteY43" fmla="*/ 552891 h 734499"/>
              <a:gd name="connsiteX44" fmla="*/ 1790700 w 2622550"/>
              <a:gd name="connsiteY44" fmla="*/ 508441 h 734499"/>
              <a:gd name="connsiteX45" fmla="*/ 1816100 w 2622550"/>
              <a:gd name="connsiteY45" fmla="*/ 521141 h 734499"/>
              <a:gd name="connsiteX46" fmla="*/ 1822450 w 2622550"/>
              <a:gd name="connsiteY46" fmla="*/ 578291 h 734499"/>
              <a:gd name="connsiteX47" fmla="*/ 1847850 w 2622550"/>
              <a:gd name="connsiteY47" fmla="*/ 502091 h 734499"/>
              <a:gd name="connsiteX48" fmla="*/ 1879600 w 2622550"/>
              <a:gd name="connsiteY48" fmla="*/ 19491 h 734499"/>
              <a:gd name="connsiteX49" fmla="*/ 1930400 w 2622550"/>
              <a:gd name="connsiteY49" fmla="*/ 698941 h 734499"/>
              <a:gd name="connsiteX50" fmla="*/ 1968500 w 2622550"/>
              <a:gd name="connsiteY50" fmla="*/ 546541 h 734499"/>
              <a:gd name="connsiteX51" fmla="*/ 2032000 w 2622550"/>
              <a:gd name="connsiteY51" fmla="*/ 552891 h 734499"/>
              <a:gd name="connsiteX52" fmla="*/ 2044700 w 2622550"/>
              <a:gd name="connsiteY52" fmla="*/ 508441 h 734499"/>
              <a:gd name="connsiteX53" fmla="*/ 2152650 w 2622550"/>
              <a:gd name="connsiteY53" fmla="*/ 552891 h 734499"/>
              <a:gd name="connsiteX54" fmla="*/ 2241550 w 2622550"/>
              <a:gd name="connsiteY54" fmla="*/ 495741 h 734499"/>
              <a:gd name="connsiteX55" fmla="*/ 2298700 w 2622550"/>
              <a:gd name="connsiteY55" fmla="*/ 552891 h 734499"/>
              <a:gd name="connsiteX56" fmla="*/ 2349500 w 2622550"/>
              <a:gd name="connsiteY56" fmla="*/ 514791 h 734499"/>
              <a:gd name="connsiteX57" fmla="*/ 2374900 w 2622550"/>
              <a:gd name="connsiteY57" fmla="*/ 514791 h 734499"/>
              <a:gd name="connsiteX58" fmla="*/ 2387600 w 2622550"/>
              <a:gd name="connsiteY58" fmla="*/ 540191 h 734499"/>
              <a:gd name="connsiteX59" fmla="*/ 2438400 w 2622550"/>
              <a:gd name="connsiteY59" fmla="*/ 508441 h 734499"/>
              <a:gd name="connsiteX60" fmla="*/ 2451100 w 2622550"/>
              <a:gd name="connsiteY60" fmla="*/ 489391 h 734499"/>
              <a:gd name="connsiteX61" fmla="*/ 2476500 w 2622550"/>
              <a:gd name="connsiteY61" fmla="*/ 559241 h 734499"/>
              <a:gd name="connsiteX62" fmla="*/ 2501900 w 2622550"/>
              <a:gd name="connsiteY62" fmla="*/ 489391 h 734499"/>
              <a:gd name="connsiteX63" fmla="*/ 2533650 w 2622550"/>
              <a:gd name="connsiteY63" fmla="*/ 565591 h 734499"/>
              <a:gd name="connsiteX64" fmla="*/ 2584450 w 2622550"/>
              <a:gd name="connsiteY64" fmla="*/ 578291 h 734499"/>
              <a:gd name="connsiteX65" fmla="*/ 2622550 w 2622550"/>
              <a:gd name="connsiteY65" fmla="*/ 565591 h 734499"/>
              <a:gd name="connsiteX0" fmla="*/ 0 w 2622550"/>
              <a:gd name="connsiteY0" fmla="*/ 540191 h 735969"/>
              <a:gd name="connsiteX1" fmla="*/ 63500 w 2622550"/>
              <a:gd name="connsiteY1" fmla="*/ 559241 h 735969"/>
              <a:gd name="connsiteX2" fmla="*/ 82550 w 2622550"/>
              <a:gd name="connsiteY2" fmla="*/ 521141 h 735969"/>
              <a:gd name="connsiteX3" fmla="*/ 146050 w 2622550"/>
              <a:gd name="connsiteY3" fmla="*/ 578291 h 735969"/>
              <a:gd name="connsiteX4" fmla="*/ 165100 w 2622550"/>
              <a:gd name="connsiteY4" fmla="*/ 514791 h 735969"/>
              <a:gd name="connsiteX5" fmla="*/ 209550 w 2622550"/>
              <a:gd name="connsiteY5" fmla="*/ 552891 h 735969"/>
              <a:gd name="connsiteX6" fmla="*/ 266700 w 2622550"/>
              <a:gd name="connsiteY6" fmla="*/ 514791 h 735969"/>
              <a:gd name="connsiteX7" fmla="*/ 279400 w 2622550"/>
              <a:gd name="connsiteY7" fmla="*/ 533841 h 735969"/>
              <a:gd name="connsiteX8" fmla="*/ 304800 w 2622550"/>
              <a:gd name="connsiteY8" fmla="*/ 540191 h 735969"/>
              <a:gd name="connsiteX9" fmla="*/ 355600 w 2622550"/>
              <a:gd name="connsiteY9" fmla="*/ 540191 h 735969"/>
              <a:gd name="connsiteX10" fmla="*/ 355600 w 2622550"/>
              <a:gd name="connsiteY10" fmla="*/ 610041 h 735969"/>
              <a:gd name="connsiteX11" fmla="*/ 387350 w 2622550"/>
              <a:gd name="connsiteY11" fmla="*/ 441 h 735969"/>
              <a:gd name="connsiteX12" fmla="*/ 457200 w 2622550"/>
              <a:gd name="connsiteY12" fmla="*/ 717991 h 735969"/>
              <a:gd name="connsiteX13" fmla="*/ 501650 w 2622550"/>
              <a:gd name="connsiteY13" fmla="*/ 521141 h 735969"/>
              <a:gd name="connsiteX14" fmla="*/ 514350 w 2622550"/>
              <a:gd name="connsiteY14" fmla="*/ 540191 h 735969"/>
              <a:gd name="connsiteX15" fmla="*/ 520700 w 2622550"/>
              <a:gd name="connsiteY15" fmla="*/ 495741 h 735969"/>
              <a:gd name="connsiteX16" fmla="*/ 558800 w 2622550"/>
              <a:gd name="connsiteY16" fmla="*/ 521141 h 735969"/>
              <a:gd name="connsiteX17" fmla="*/ 590550 w 2622550"/>
              <a:gd name="connsiteY17" fmla="*/ 495741 h 735969"/>
              <a:gd name="connsiteX18" fmla="*/ 641350 w 2622550"/>
              <a:gd name="connsiteY18" fmla="*/ 546541 h 735969"/>
              <a:gd name="connsiteX19" fmla="*/ 685800 w 2622550"/>
              <a:gd name="connsiteY19" fmla="*/ 521141 h 735969"/>
              <a:gd name="connsiteX20" fmla="*/ 749300 w 2622550"/>
              <a:gd name="connsiteY20" fmla="*/ 559241 h 735969"/>
              <a:gd name="connsiteX21" fmla="*/ 806450 w 2622550"/>
              <a:gd name="connsiteY21" fmla="*/ 521141 h 735969"/>
              <a:gd name="connsiteX22" fmla="*/ 889000 w 2622550"/>
              <a:gd name="connsiteY22" fmla="*/ 527491 h 735969"/>
              <a:gd name="connsiteX23" fmla="*/ 908050 w 2622550"/>
              <a:gd name="connsiteY23" fmla="*/ 476691 h 735969"/>
              <a:gd name="connsiteX24" fmla="*/ 958850 w 2622550"/>
              <a:gd name="connsiteY24" fmla="*/ 578291 h 735969"/>
              <a:gd name="connsiteX25" fmla="*/ 1003300 w 2622550"/>
              <a:gd name="connsiteY25" fmla="*/ 540191 h 735969"/>
              <a:gd name="connsiteX26" fmla="*/ 1041400 w 2622550"/>
              <a:gd name="connsiteY26" fmla="*/ 540191 h 735969"/>
              <a:gd name="connsiteX27" fmla="*/ 1041400 w 2622550"/>
              <a:gd name="connsiteY27" fmla="*/ 559241 h 735969"/>
              <a:gd name="connsiteX28" fmla="*/ 1066800 w 2622550"/>
              <a:gd name="connsiteY28" fmla="*/ 565591 h 735969"/>
              <a:gd name="connsiteX29" fmla="*/ 1111250 w 2622550"/>
              <a:gd name="connsiteY29" fmla="*/ 6791 h 735969"/>
              <a:gd name="connsiteX30" fmla="*/ 1162050 w 2622550"/>
              <a:gd name="connsiteY30" fmla="*/ 610041 h 735969"/>
              <a:gd name="connsiteX31" fmla="*/ 1225550 w 2622550"/>
              <a:gd name="connsiteY31" fmla="*/ 559241 h 735969"/>
              <a:gd name="connsiteX32" fmla="*/ 1231900 w 2622550"/>
              <a:gd name="connsiteY32" fmla="*/ 571941 h 735969"/>
              <a:gd name="connsiteX33" fmla="*/ 1295400 w 2622550"/>
              <a:gd name="connsiteY33" fmla="*/ 514791 h 735969"/>
              <a:gd name="connsiteX34" fmla="*/ 1320800 w 2622550"/>
              <a:gd name="connsiteY34" fmla="*/ 527491 h 735969"/>
              <a:gd name="connsiteX35" fmla="*/ 1384300 w 2622550"/>
              <a:gd name="connsiteY35" fmla="*/ 470341 h 735969"/>
              <a:gd name="connsiteX36" fmla="*/ 1403350 w 2622550"/>
              <a:gd name="connsiteY36" fmla="*/ 559241 h 735969"/>
              <a:gd name="connsiteX37" fmla="*/ 1473200 w 2622550"/>
              <a:gd name="connsiteY37" fmla="*/ 584641 h 735969"/>
              <a:gd name="connsiteX38" fmla="*/ 1517650 w 2622550"/>
              <a:gd name="connsiteY38" fmla="*/ 495741 h 735969"/>
              <a:gd name="connsiteX39" fmla="*/ 1619250 w 2622550"/>
              <a:gd name="connsiteY39" fmla="*/ 603691 h 735969"/>
              <a:gd name="connsiteX40" fmla="*/ 1587500 w 2622550"/>
              <a:gd name="connsiteY40" fmla="*/ 540191 h 735969"/>
              <a:gd name="connsiteX41" fmla="*/ 1682750 w 2622550"/>
              <a:gd name="connsiteY41" fmla="*/ 565591 h 735969"/>
              <a:gd name="connsiteX42" fmla="*/ 1708150 w 2622550"/>
              <a:gd name="connsiteY42" fmla="*/ 533841 h 735969"/>
              <a:gd name="connsiteX43" fmla="*/ 1758950 w 2622550"/>
              <a:gd name="connsiteY43" fmla="*/ 552891 h 735969"/>
              <a:gd name="connsiteX44" fmla="*/ 1790700 w 2622550"/>
              <a:gd name="connsiteY44" fmla="*/ 508441 h 735969"/>
              <a:gd name="connsiteX45" fmla="*/ 1816100 w 2622550"/>
              <a:gd name="connsiteY45" fmla="*/ 521141 h 735969"/>
              <a:gd name="connsiteX46" fmla="*/ 1822450 w 2622550"/>
              <a:gd name="connsiteY46" fmla="*/ 578291 h 735969"/>
              <a:gd name="connsiteX47" fmla="*/ 1847850 w 2622550"/>
              <a:gd name="connsiteY47" fmla="*/ 502091 h 735969"/>
              <a:gd name="connsiteX48" fmla="*/ 1879600 w 2622550"/>
              <a:gd name="connsiteY48" fmla="*/ 19491 h 735969"/>
              <a:gd name="connsiteX49" fmla="*/ 1930400 w 2622550"/>
              <a:gd name="connsiteY49" fmla="*/ 698941 h 735969"/>
              <a:gd name="connsiteX50" fmla="*/ 1968500 w 2622550"/>
              <a:gd name="connsiteY50" fmla="*/ 546541 h 735969"/>
              <a:gd name="connsiteX51" fmla="*/ 2032000 w 2622550"/>
              <a:gd name="connsiteY51" fmla="*/ 552891 h 735969"/>
              <a:gd name="connsiteX52" fmla="*/ 2044700 w 2622550"/>
              <a:gd name="connsiteY52" fmla="*/ 508441 h 735969"/>
              <a:gd name="connsiteX53" fmla="*/ 2152650 w 2622550"/>
              <a:gd name="connsiteY53" fmla="*/ 552891 h 735969"/>
              <a:gd name="connsiteX54" fmla="*/ 2241550 w 2622550"/>
              <a:gd name="connsiteY54" fmla="*/ 495741 h 735969"/>
              <a:gd name="connsiteX55" fmla="*/ 2298700 w 2622550"/>
              <a:gd name="connsiteY55" fmla="*/ 552891 h 735969"/>
              <a:gd name="connsiteX56" fmla="*/ 2349500 w 2622550"/>
              <a:gd name="connsiteY56" fmla="*/ 514791 h 735969"/>
              <a:gd name="connsiteX57" fmla="*/ 2374900 w 2622550"/>
              <a:gd name="connsiteY57" fmla="*/ 514791 h 735969"/>
              <a:gd name="connsiteX58" fmla="*/ 2387600 w 2622550"/>
              <a:gd name="connsiteY58" fmla="*/ 540191 h 735969"/>
              <a:gd name="connsiteX59" fmla="*/ 2438400 w 2622550"/>
              <a:gd name="connsiteY59" fmla="*/ 508441 h 735969"/>
              <a:gd name="connsiteX60" fmla="*/ 2451100 w 2622550"/>
              <a:gd name="connsiteY60" fmla="*/ 489391 h 735969"/>
              <a:gd name="connsiteX61" fmla="*/ 2476500 w 2622550"/>
              <a:gd name="connsiteY61" fmla="*/ 559241 h 735969"/>
              <a:gd name="connsiteX62" fmla="*/ 2501900 w 2622550"/>
              <a:gd name="connsiteY62" fmla="*/ 489391 h 735969"/>
              <a:gd name="connsiteX63" fmla="*/ 2533650 w 2622550"/>
              <a:gd name="connsiteY63" fmla="*/ 565591 h 735969"/>
              <a:gd name="connsiteX64" fmla="*/ 2584450 w 2622550"/>
              <a:gd name="connsiteY64" fmla="*/ 578291 h 735969"/>
              <a:gd name="connsiteX65" fmla="*/ 2622550 w 2622550"/>
              <a:gd name="connsiteY65" fmla="*/ 565591 h 735969"/>
              <a:gd name="connsiteX0" fmla="*/ 0 w 2622550"/>
              <a:gd name="connsiteY0" fmla="*/ 540191 h 719843"/>
              <a:gd name="connsiteX1" fmla="*/ 63500 w 2622550"/>
              <a:gd name="connsiteY1" fmla="*/ 559241 h 719843"/>
              <a:gd name="connsiteX2" fmla="*/ 82550 w 2622550"/>
              <a:gd name="connsiteY2" fmla="*/ 521141 h 719843"/>
              <a:gd name="connsiteX3" fmla="*/ 146050 w 2622550"/>
              <a:gd name="connsiteY3" fmla="*/ 578291 h 719843"/>
              <a:gd name="connsiteX4" fmla="*/ 165100 w 2622550"/>
              <a:gd name="connsiteY4" fmla="*/ 514791 h 719843"/>
              <a:gd name="connsiteX5" fmla="*/ 209550 w 2622550"/>
              <a:gd name="connsiteY5" fmla="*/ 552891 h 719843"/>
              <a:gd name="connsiteX6" fmla="*/ 266700 w 2622550"/>
              <a:gd name="connsiteY6" fmla="*/ 514791 h 719843"/>
              <a:gd name="connsiteX7" fmla="*/ 279400 w 2622550"/>
              <a:gd name="connsiteY7" fmla="*/ 533841 h 719843"/>
              <a:gd name="connsiteX8" fmla="*/ 304800 w 2622550"/>
              <a:gd name="connsiteY8" fmla="*/ 540191 h 719843"/>
              <a:gd name="connsiteX9" fmla="*/ 355600 w 2622550"/>
              <a:gd name="connsiteY9" fmla="*/ 540191 h 719843"/>
              <a:gd name="connsiteX10" fmla="*/ 355600 w 2622550"/>
              <a:gd name="connsiteY10" fmla="*/ 610041 h 719843"/>
              <a:gd name="connsiteX11" fmla="*/ 387350 w 2622550"/>
              <a:gd name="connsiteY11" fmla="*/ 441 h 719843"/>
              <a:gd name="connsiteX12" fmla="*/ 457200 w 2622550"/>
              <a:gd name="connsiteY12" fmla="*/ 717991 h 719843"/>
              <a:gd name="connsiteX13" fmla="*/ 501650 w 2622550"/>
              <a:gd name="connsiteY13" fmla="*/ 521141 h 719843"/>
              <a:gd name="connsiteX14" fmla="*/ 514350 w 2622550"/>
              <a:gd name="connsiteY14" fmla="*/ 540191 h 719843"/>
              <a:gd name="connsiteX15" fmla="*/ 520700 w 2622550"/>
              <a:gd name="connsiteY15" fmla="*/ 495741 h 719843"/>
              <a:gd name="connsiteX16" fmla="*/ 558800 w 2622550"/>
              <a:gd name="connsiteY16" fmla="*/ 521141 h 719843"/>
              <a:gd name="connsiteX17" fmla="*/ 590550 w 2622550"/>
              <a:gd name="connsiteY17" fmla="*/ 495741 h 719843"/>
              <a:gd name="connsiteX18" fmla="*/ 641350 w 2622550"/>
              <a:gd name="connsiteY18" fmla="*/ 546541 h 719843"/>
              <a:gd name="connsiteX19" fmla="*/ 685800 w 2622550"/>
              <a:gd name="connsiteY19" fmla="*/ 521141 h 719843"/>
              <a:gd name="connsiteX20" fmla="*/ 749300 w 2622550"/>
              <a:gd name="connsiteY20" fmla="*/ 559241 h 719843"/>
              <a:gd name="connsiteX21" fmla="*/ 806450 w 2622550"/>
              <a:gd name="connsiteY21" fmla="*/ 521141 h 719843"/>
              <a:gd name="connsiteX22" fmla="*/ 889000 w 2622550"/>
              <a:gd name="connsiteY22" fmla="*/ 527491 h 719843"/>
              <a:gd name="connsiteX23" fmla="*/ 908050 w 2622550"/>
              <a:gd name="connsiteY23" fmla="*/ 476691 h 719843"/>
              <a:gd name="connsiteX24" fmla="*/ 958850 w 2622550"/>
              <a:gd name="connsiteY24" fmla="*/ 578291 h 719843"/>
              <a:gd name="connsiteX25" fmla="*/ 1003300 w 2622550"/>
              <a:gd name="connsiteY25" fmla="*/ 540191 h 719843"/>
              <a:gd name="connsiteX26" fmla="*/ 1041400 w 2622550"/>
              <a:gd name="connsiteY26" fmla="*/ 540191 h 719843"/>
              <a:gd name="connsiteX27" fmla="*/ 1041400 w 2622550"/>
              <a:gd name="connsiteY27" fmla="*/ 559241 h 719843"/>
              <a:gd name="connsiteX28" fmla="*/ 1066800 w 2622550"/>
              <a:gd name="connsiteY28" fmla="*/ 565591 h 719843"/>
              <a:gd name="connsiteX29" fmla="*/ 1111250 w 2622550"/>
              <a:gd name="connsiteY29" fmla="*/ 6791 h 719843"/>
              <a:gd name="connsiteX30" fmla="*/ 1162050 w 2622550"/>
              <a:gd name="connsiteY30" fmla="*/ 610041 h 719843"/>
              <a:gd name="connsiteX31" fmla="*/ 1225550 w 2622550"/>
              <a:gd name="connsiteY31" fmla="*/ 559241 h 719843"/>
              <a:gd name="connsiteX32" fmla="*/ 1231900 w 2622550"/>
              <a:gd name="connsiteY32" fmla="*/ 571941 h 719843"/>
              <a:gd name="connsiteX33" fmla="*/ 1295400 w 2622550"/>
              <a:gd name="connsiteY33" fmla="*/ 514791 h 719843"/>
              <a:gd name="connsiteX34" fmla="*/ 1320800 w 2622550"/>
              <a:gd name="connsiteY34" fmla="*/ 527491 h 719843"/>
              <a:gd name="connsiteX35" fmla="*/ 1384300 w 2622550"/>
              <a:gd name="connsiteY35" fmla="*/ 470341 h 719843"/>
              <a:gd name="connsiteX36" fmla="*/ 1403350 w 2622550"/>
              <a:gd name="connsiteY36" fmla="*/ 559241 h 719843"/>
              <a:gd name="connsiteX37" fmla="*/ 1473200 w 2622550"/>
              <a:gd name="connsiteY37" fmla="*/ 584641 h 719843"/>
              <a:gd name="connsiteX38" fmla="*/ 1517650 w 2622550"/>
              <a:gd name="connsiteY38" fmla="*/ 495741 h 719843"/>
              <a:gd name="connsiteX39" fmla="*/ 1619250 w 2622550"/>
              <a:gd name="connsiteY39" fmla="*/ 603691 h 719843"/>
              <a:gd name="connsiteX40" fmla="*/ 1587500 w 2622550"/>
              <a:gd name="connsiteY40" fmla="*/ 540191 h 719843"/>
              <a:gd name="connsiteX41" fmla="*/ 1682750 w 2622550"/>
              <a:gd name="connsiteY41" fmla="*/ 565591 h 719843"/>
              <a:gd name="connsiteX42" fmla="*/ 1708150 w 2622550"/>
              <a:gd name="connsiteY42" fmla="*/ 533841 h 719843"/>
              <a:gd name="connsiteX43" fmla="*/ 1758950 w 2622550"/>
              <a:gd name="connsiteY43" fmla="*/ 552891 h 719843"/>
              <a:gd name="connsiteX44" fmla="*/ 1790700 w 2622550"/>
              <a:gd name="connsiteY44" fmla="*/ 508441 h 719843"/>
              <a:gd name="connsiteX45" fmla="*/ 1816100 w 2622550"/>
              <a:gd name="connsiteY45" fmla="*/ 521141 h 719843"/>
              <a:gd name="connsiteX46" fmla="*/ 1822450 w 2622550"/>
              <a:gd name="connsiteY46" fmla="*/ 578291 h 719843"/>
              <a:gd name="connsiteX47" fmla="*/ 1847850 w 2622550"/>
              <a:gd name="connsiteY47" fmla="*/ 502091 h 719843"/>
              <a:gd name="connsiteX48" fmla="*/ 1879600 w 2622550"/>
              <a:gd name="connsiteY48" fmla="*/ 19491 h 719843"/>
              <a:gd name="connsiteX49" fmla="*/ 1930400 w 2622550"/>
              <a:gd name="connsiteY49" fmla="*/ 698941 h 719843"/>
              <a:gd name="connsiteX50" fmla="*/ 1968500 w 2622550"/>
              <a:gd name="connsiteY50" fmla="*/ 546541 h 719843"/>
              <a:gd name="connsiteX51" fmla="*/ 2032000 w 2622550"/>
              <a:gd name="connsiteY51" fmla="*/ 552891 h 719843"/>
              <a:gd name="connsiteX52" fmla="*/ 2044700 w 2622550"/>
              <a:gd name="connsiteY52" fmla="*/ 508441 h 719843"/>
              <a:gd name="connsiteX53" fmla="*/ 2152650 w 2622550"/>
              <a:gd name="connsiteY53" fmla="*/ 552891 h 719843"/>
              <a:gd name="connsiteX54" fmla="*/ 2241550 w 2622550"/>
              <a:gd name="connsiteY54" fmla="*/ 495741 h 719843"/>
              <a:gd name="connsiteX55" fmla="*/ 2298700 w 2622550"/>
              <a:gd name="connsiteY55" fmla="*/ 552891 h 719843"/>
              <a:gd name="connsiteX56" fmla="*/ 2349500 w 2622550"/>
              <a:gd name="connsiteY56" fmla="*/ 514791 h 719843"/>
              <a:gd name="connsiteX57" fmla="*/ 2374900 w 2622550"/>
              <a:gd name="connsiteY57" fmla="*/ 514791 h 719843"/>
              <a:gd name="connsiteX58" fmla="*/ 2387600 w 2622550"/>
              <a:gd name="connsiteY58" fmla="*/ 540191 h 719843"/>
              <a:gd name="connsiteX59" fmla="*/ 2438400 w 2622550"/>
              <a:gd name="connsiteY59" fmla="*/ 508441 h 719843"/>
              <a:gd name="connsiteX60" fmla="*/ 2451100 w 2622550"/>
              <a:gd name="connsiteY60" fmla="*/ 489391 h 719843"/>
              <a:gd name="connsiteX61" fmla="*/ 2476500 w 2622550"/>
              <a:gd name="connsiteY61" fmla="*/ 559241 h 719843"/>
              <a:gd name="connsiteX62" fmla="*/ 2501900 w 2622550"/>
              <a:gd name="connsiteY62" fmla="*/ 489391 h 719843"/>
              <a:gd name="connsiteX63" fmla="*/ 2533650 w 2622550"/>
              <a:gd name="connsiteY63" fmla="*/ 565591 h 719843"/>
              <a:gd name="connsiteX64" fmla="*/ 2584450 w 2622550"/>
              <a:gd name="connsiteY64" fmla="*/ 578291 h 719843"/>
              <a:gd name="connsiteX65" fmla="*/ 2622550 w 2622550"/>
              <a:gd name="connsiteY65" fmla="*/ 565591 h 719843"/>
              <a:gd name="connsiteX0" fmla="*/ 0 w 2622550"/>
              <a:gd name="connsiteY0" fmla="*/ 540053 h 719705"/>
              <a:gd name="connsiteX1" fmla="*/ 63500 w 2622550"/>
              <a:gd name="connsiteY1" fmla="*/ 559103 h 719705"/>
              <a:gd name="connsiteX2" fmla="*/ 82550 w 2622550"/>
              <a:gd name="connsiteY2" fmla="*/ 521003 h 719705"/>
              <a:gd name="connsiteX3" fmla="*/ 146050 w 2622550"/>
              <a:gd name="connsiteY3" fmla="*/ 578153 h 719705"/>
              <a:gd name="connsiteX4" fmla="*/ 165100 w 2622550"/>
              <a:gd name="connsiteY4" fmla="*/ 514653 h 719705"/>
              <a:gd name="connsiteX5" fmla="*/ 209550 w 2622550"/>
              <a:gd name="connsiteY5" fmla="*/ 552753 h 719705"/>
              <a:gd name="connsiteX6" fmla="*/ 266700 w 2622550"/>
              <a:gd name="connsiteY6" fmla="*/ 514653 h 719705"/>
              <a:gd name="connsiteX7" fmla="*/ 279400 w 2622550"/>
              <a:gd name="connsiteY7" fmla="*/ 533703 h 719705"/>
              <a:gd name="connsiteX8" fmla="*/ 304800 w 2622550"/>
              <a:gd name="connsiteY8" fmla="*/ 540053 h 719705"/>
              <a:gd name="connsiteX9" fmla="*/ 355600 w 2622550"/>
              <a:gd name="connsiteY9" fmla="*/ 540053 h 719705"/>
              <a:gd name="connsiteX10" fmla="*/ 355600 w 2622550"/>
              <a:gd name="connsiteY10" fmla="*/ 609903 h 719705"/>
              <a:gd name="connsiteX11" fmla="*/ 387350 w 2622550"/>
              <a:gd name="connsiteY11" fmla="*/ 303 h 719705"/>
              <a:gd name="connsiteX12" fmla="*/ 438150 w 2622550"/>
              <a:gd name="connsiteY12" fmla="*/ 698803 h 719705"/>
              <a:gd name="connsiteX13" fmla="*/ 501650 w 2622550"/>
              <a:gd name="connsiteY13" fmla="*/ 521003 h 719705"/>
              <a:gd name="connsiteX14" fmla="*/ 514350 w 2622550"/>
              <a:gd name="connsiteY14" fmla="*/ 540053 h 719705"/>
              <a:gd name="connsiteX15" fmla="*/ 520700 w 2622550"/>
              <a:gd name="connsiteY15" fmla="*/ 495603 h 719705"/>
              <a:gd name="connsiteX16" fmla="*/ 558800 w 2622550"/>
              <a:gd name="connsiteY16" fmla="*/ 521003 h 719705"/>
              <a:gd name="connsiteX17" fmla="*/ 590550 w 2622550"/>
              <a:gd name="connsiteY17" fmla="*/ 495603 h 719705"/>
              <a:gd name="connsiteX18" fmla="*/ 641350 w 2622550"/>
              <a:gd name="connsiteY18" fmla="*/ 546403 h 719705"/>
              <a:gd name="connsiteX19" fmla="*/ 685800 w 2622550"/>
              <a:gd name="connsiteY19" fmla="*/ 521003 h 719705"/>
              <a:gd name="connsiteX20" fmla="*/ 749300 w 2622550"/>
              <a:gd name="connsiteY20" fmla="*/ 559103 h 719705"/>
              <a:gd name="connsiteX21" fmla="*/ 806450 w 2622550"/>
              <a:gd name="connsiteY21" fmla="*/ 521003 h 719705"/>
              <a:gd name="connsiteX22" fmla="*/ 889000 w 2622550"/>
              <a:gd name="connsiteY22" fmla="*/ 527353 h 719705"/>
              <a:gd name="connsiteX23" fmla="*/ 908050 w 2622550"/>
              <a:gd name="connsiteY23" fmla="*/ 476553 h 719705"/>
              <a:gd name="connsiteX24" fmla="*/ 958850 w 2622550"/>
              <a:gd name="connsiteY24" fmla="*/ 578153 h 719705"/>
              <a:gd name="connsiteX25" fmla="*/ 1003300 w 2622550"/>
              <a:gd name="connsiteY25" fmla="*/ 540053 h 719705"/>
              <a:gd name="connsiteX26" fmla="*/ 1041400 w 2622550"/>
              <a:gd name="connsiteY26" fmla="*/ 540053 h 719705"/>
              <a:gd name="connsiteX27" fmla="*/ 1041400 w 2622550"/>
              <a:gd name="connsiteY27" fmla="*/ 559103 h 719705"/>
              <a:gd name="connsiteX28" fmla="*/ 1066800 w 2622550"/>
              <a:gd name="connsiteY28" fmla="*/ 565453 h 719705"/>
              <a:gd name="connsiteX29" fmla="*/ 1111250 w 2622550"/>
              <a:gd name="connsiteY29" fmla="*/ 6653 h 719705"/>
              <a:gd name="connsiteX30" fmla="*/ 1162050 w 2622550"/>
              <a:gd name="connsiteY30" fmla="*/ 609903 h 719705"/>
              <a:gd name="connsiteX31" fmla="*/ 1225550 w 2622550"/>
              <a:gd name="connsiteY31" fmla="*/ 559103 h 719705"/>
              <a:gd name="connsiteX32" fmla="*/ 1231900 w 2622550"/>
              <a:gd name="connsiteY32" fmla="*/ 571803 h 719705"/>
              <a:gd name="connsiteX33" fmla="*/ 1295400 w 2622550"/>
              <a:gd name="connsiteY33" fmla="*/ 514653 h 719705"/>
              <a:gd name="connsiteX34" fmla="*/ 1320800 w 2622550"/>
              <a:gd name="connsiteY34" fmla="*/ 527353 h 719705"/>
              <a:gd name="connsiteX35" fmla="*/ 1384300 w 2622550"/>
              <a:gd name="connsiteY35" fmla="*/ 470203 h 719705"/>
              <a:gd name="connsiteX36" fmla="*/ 1403350 w 2622550"/>
              <a:gd name="connsiteY36" fmla="*/ 559103 h 719705"/>
              <a:gd name="connsiteX37" fmla="*/ 1473200 w 2622550"/>
              <a:gd name="connsiteY37" fmla="*/ 584503 h 719705"/>
              <a:gd name="connsiteX38" fmla="*/ 1517650 w 2622550"/>
              <a:gd name="connsiteY38" fmla="*/ 495603 h 719705"/>
              <a:gd name="connsiteX39" fmla="*/ 1619250 w 2622550"/>
              <a:gd name="connsiteY39" fmla="*/ 603553 h 719705"/>
              <a:gd name="connsiteX40" fmla="*/ 1587500 w 2622550"/>
              <a:gd name="connsiteY40" fmla="*/ 540053 h 719705"/>
              <a:gd name="connsiteX41" fmla="*/ 1682750 w 2622550"/>
              <a:gd name="connsiteY41" fmla="*/ 565453 h 719705"/>
              <a:gd name="connsiteX42" fmla="*/ 1708150 w 2622550"/>
              <a:gd name="connsiteY42" fmla="*/ 533703 h 719705"/>
              <a:gd name="connsiteX43" fmla="*/ 1758950 w 2622550"/>
              <a:gd name="connsiteY43" fmla="*/ 552753 h 719705"/>
              <a:gd name="connsiteX44" fmla="*/ 1790700 w 2622550"/>
              <a:gd name="connsiteY44" fmla="*/ 508303 h 719705"/>
              <a:gd name="connsiteX45" fmla="*/ 1816100 w 2622550"/>
              <a:gd name="connsiteY45" fmla="*/ 521003 h 719705"/>
              <a:gd name="connsiteX46" fmla="*/ 1822450 w 2622550"/>
              <a:gd name="connsiteY46" fmla="*/ 578153 h 719705"/>
              <a:gd name="connsiteX47" fmla="*/ 1847850 w 2622550"/>
              <a:gd name="connsiteY47" fmla="*/ 501953 h 719705"/>
              <a:gd name="connsiteX48" fmla="*/ 1879600 w 2622550"/>
              <a:gd name="connsiteY48" fmla="*/ 19353 h 719705"/>
              <a:gd name="connsiteX49" fmla="*/ 1930400 w 2622550"/>
              <a:gd name="connsiteY49" fmla="*/ 698803 h 719705"/>
              <a:gd name="connsiteX50" fmla="*/ 1968500 w 2622550"/>
              <a:gd name="connsiteY50" fmla="*/ 546403 h 719705"/>
              <a:gd name="connsiteX51" fmla="*/ 2032000 w 2622550"/>
              <a:gd name="connsiteY51" fmla="*/ 552753 h 719705"/>
              <a:gd name="connsiteX52" fmla="*/ 2044700 w 2622550"/>
              <a:gd name="connsiteY52" fmla="*/ 508303 h 719705"/>
              <a:gd name="connsiteX53" fmla="*/ 2152650 w 2622550"/>
              <a:gd name="connsiteY53" fmla="*/ 552753 h 719705"/>
              <a:gd name="connsiteX54" fmla="*/ 2241550 w 2622550"/>
              <a:gd name="connsiteY54" fmla="*/ 495603 h 719705"/>
              <a:gd name="connsiteX55" fmla="*/ 2298700 w 2622550"/>
              <a:gd name="connsiteY55" fmla="*/ 552753 h 719705"/>
              <a:gd name="connsiteX56" fmla="*/ 2349500 w 2622550"/>
              <a:gd name="connsiteY56" fmla="*/ 514653 h 719705"/>
              <a:gd name="connsiteX57" fmla="*/ 2374900 w 2622550"/>
              <a:gd name="connsiteY57" fmla="*/ 514653 h 719705"/>
              <a:gd name="connsiteX58" fmla="*/ 2387600 w 2622550"/>
              <a:gd name="connsiteY58" fmla="*/ 540053 h 719705"/>
              <a:gd name="connsiteX59" fmla="*/ 2438400 w 2622550"/>
              <a:gd name="connsiteY59" fmla="*/ 508303 h 719705"/>
              <a:gd name="connsiteX60" fmla="*/ 2451100 w 2622550"/>
              <a:gd name="connsiteY60" fmla="*/ 489253 h 719705"/>
              <a:gd name="connsiteX61" fmla="*/ 2476500 w 2622550"/>
              <a:gd name="connsiteY61" fmla="*/ 559103 h 719705"/>
              <a:gd name="connsiteX62" fmla="*/ 2501900 w 2622550"/>
              <a:gd name="connsiteY62" fmla="*/ 489253 h 719705"/>
              <a:gd name="connsiteX63" fmla="*/ 2533650 w 2622550"/>
              <a:gd name="connsiteY63" fmla="*/ 565453 h 719705"/>
              <a:gd name="connsiteX64" fmla="*/ 2584450 w 2622550"/>
              <a:gd name="connsiteY64" fmla="*/ 578153 h 719705"/>
              <a:gd name="connsiteX65" fmla="*/ 2622550 w 2622550"/>
              <a:gd name="connsiteY65" fmla="*/ 565453 h 719705"/>
              <a:gd name="connsiteX0" fmla="*/ 0 w 2622550"/>
              <a:gd name="connsiteY0" fmla="*/ 540052 h 719704"/>
              <a:gd name="connsiteX1" fmla="*/ 63500 w 2622550"/>
              <a:gd name="connsiteY1" fmla="*/ 559102 h 719704"/>
              <a:gd name="connsiteX2" fmla="*/ 82550 w 2622550"/>
              <a:gd name="connsiteY2" fmla="*/ 521002 h 719704"/>
              <a:gd name="connsiteX3" fmla="*/ 146050 w 2622550"/>
              <a:gd name="connsiteY3" fmla="*/ 578152 h 719704"/>
              <a:gd name="connsiteX4" fmla="*/ 165100 w 2622550"/>
              <a:gd name="connsiteY4" fmla="*/ 514652 h 719704"/>
              <a:gd name="connsiteX5" fmla="*/ 209550 w 2622550"/>
              <a:gd name="connsiteY5" fmla="*/ 552752 h 719704"/>
              <a:gd name="connsiteX6" fmla="*/ 266700 w 2622550"/>
              <a:gd name="connsiteY6" fmla="*/ 514652 h 719704"/>
              <a:gd name="connsiteX7" fmla="*/ 279400 w 2622550"/>
              <a:gd name="connsiteY7" fmla="*/ 533702 h 719704"/>
              <a:gd name="connsiteX8" fmla="*/ 304800 w 2622550"/>
              <a:gd name="connsiteY8" fmla="*/ 540052 h 719704"/>
              <a:gd name="connsiteX9" fmla="*/ 327025 w 2622550"/>
              <a:gd name="connsiteY9" fmla="*/ 535290 h 719704"/>
              <a:gd name="connsiteX10" fmla="*/ 355600 w 2622550"/>
              <a:gd name="connsiteY10" fmla="*/ 609902 h 719704"/>
              <a:gd name="connsiteX11" fmla="*/ 387350 w 2622550"/>
              <a:gd name="connsiteY11" fmla="*/ 302 h 719704"/>
              <a:gd name="connsiteX12" fmla="*/ 438150 w 2622550"/>
              <a:gd name="connsiteY12" fmla="*/ 698802 h 719704"/>
              <a:gd name="connsiteX13" fmla="*/ 501650 w 2622550"/>
              <a:gd name="connsiteY13" fmla="*/ 521002 h 719704"/>
              <a:gd name="connsiteX14" fmla="*/ 514350 w 2622550"/>
              <a:gd name="connsiteY14" fmla="*/ 540052 h 719704"/>
              <a:gd name="connsiteX15" fmla="*/ 520700 w 2622550"/>
              <a:gd name="connsiteY15" fmla="*/ 495602 h 719704"/>
              <a:gd name="connsiteX16" fmla="*/ 558800 w 2622550"/>
              <a:gd name="connsiteY16" fmla="*/ 521002 h 719704"/>
              <a:gd name="connsiteX17" fmla="*/ 590550 w 2622550"/>
              <a:gd name="connsiteY17" fmla="*/ 495602 h 719704"/>
              <a:gd name="connsiteX18" fmla="*/ 641350 w 2622550"/>
              <a:gd name="connsiteY18" fmla="*/ 546402 h 719704"/>
              <a:gd name="connsiteX19" fmla="*/ 685800 w 2622550"/>
              <a:gd name="connsiteY19" fmla="*/ 521002 h 719704"/>
              <a:gd name="connsiteX20" fmla="*/ 749300 w 2622550"/>
              <a:gd name="connsiteY20" fmla="*/ 559102 h 719704"/>
              <a:gd name="connsiteX21" fmla="*/ 806450 w 2622550"/>
              <a:gd name="connsiteY21" fmla="*/ 521002 h 719704"/>
              <a:gd name="connsiteX22" fmla="*/ 889000 w 2622550"/>
              <a:gd name="connsiteY22" fmla="*/ 527352 h 719704"/>
              <a:gd name="connsiteX23" fmla="*/ 908050 w 2622550"/>
              <a:gd name="connsiteY23" fmla="*/ 476552 h 719704"/>
              <a:gd name="connsiteX24" fmla="*/ 958850 w 2622550"/>
              <a:gd name="connsiteY24" fmla="*/ 578152 h 719704"/>
              <a:gd name="connsiteX25" fmla="*/ 1003300 w 2622550"/>
              <a:gd name="connsiteY25" fmla="*/ 540052 h 719704"/>
              <a:gd name="connsiteX26" fmla="*/ 1041400 w 2622550"/>
              <a:gd name="connsiteY26" fmla="*/ 540052 h 719704"/>
              <a:gd name="connsiteX27" fmla="*/ 1041400 w 2622550"/>
              <a:gd name="connsiteY27" fmla="*/ 559102 h 719704"/>
              <a:gd name="connsiteX28" fmla="*/ 1066800 w 2622550"/>
              <a:gd name="connsiteY28" fmla="*/ 565452 h 719704"/>
              <a:gd name="connsiteX29" fmla="*/ 1111250 w 2622550"/>
              <a:gd name="connsiteY29" fmla="*/ 6652 h 719704"/>
              <a:gd name="connsiteX30" fmla="*/ 1162050 w 2622550"/>
              <a:gd name="connsiteY30" fmla="*/ 609902 h 719704"/>
              <a:gd name="connsiteX31" fmla="*/ 1225550 w 2622550"/>
              <a:gd name="connsiteY31" fmla="*/ 559102 h 719704"/>
              <a:gd name="connsiteX32" fmla="*/ 1231900 w 2622550"/>
              <a:gd name="connsiteY32" fmla="*/ 571802 h 719704"/>
              <a:gd name="connsiteX33" fmla="*/ 1295400 w 2622550"/>
              <a:gd name="connsiteY33" fmla="*/ 514652 h 719704"/>
              <a:gd name="connsiteX34" fmla="*/ 1320800 w 2622550"/>
              <a:gd name="connsiteY34" fmla="*/ 527352 h 719704"/>
              <a:gd name="connsiteX35" fmla="*/ 1384300 w 2622550"/>
              <a:gd name="connsiteY35" fmla="*/ 470202 h 719704"/>
              <a:gd name="connsiteX36" fmla="*/ 1403350 w 2622550"/>
              <a:gd name="connsiteY36" fmla="*/ 559102 h 719704"/>
              <a:gd name="connsiteX37" fmla="*/ 1473200 w 2622550"/>
              <a:gd name="connsiteY37" fmla="*/ 584502 h 719704"/>
              <a:gd name="connsiteX38" fmla="*/ 1517650 w 2622550"/>
              <a:gd name="connsiteY38" fmla="*/ 495602 h 719704"/>
              <a:gd name="connsiteX39" fmla="*/ 1619250 w 2622550"/>
              <a:gd name="connsiteY39" fmla="*/ 603552 h 719704"/>
              <a:gd name="connsiteX40" fmla="*/ 1587500 w 2622550"/>
              <a:gd name="connsiteY40" fmla="*/ 540052 h 719704"/>
              <a:gd name="connsiteX41" fmla="*/ 1682750 w 2622550"/>
              <a:gd name="connsiteY41" fmla="*/ 565452 h 719704"/>
              <a:gd name="connsiteX42" fmla="*/ 1708150 w 2622550"/>
              <a:gd name="connsiteY42" fmla="*/ 533702 h 719704"/>
              <a:gd name="connsiteX43" fmla="*/ 1758950 w 2622550"/>
              <a:gd name="connsiteY43" fmla="*/ 552752 h 719704"/>
              <a:gd name="connsiteX44" fmla="*/ 1790700 w 2622550"/>
              <a:gd name="connsiteY44" fmla="*/ 508302 h 719704"/>
              <a:gd name="connsiteX45" fmla="*/ 1816100 w 2622550"/>
              <a:gd name="connsiteY45" fmla="*/ 521002 h 719704"/>
              <a:gd name="connsiteX46" fmla="*/ 1822450 w 2622550"/>
              <a:gd name="connsiteY46" fmla="*/ 578152 h 719704"/>
              <a:gd name="connsiteX47" fmla="*/ 1847850 w 2622550"/>
              <a:gd name="connsiteY47" fmla="*/ 501952 h 719704"/>
              <a:gd name="connsiteX48" fmla="*/ 1879600 w 2622550"/>
              <a:gd name="connsiteY48" fmla="*/ 19352 h 719704"/>
              <a:gd name="connsiteX49" fmla="*/ 1930400 w 2622550"/>
              <a:gd name="connsiteY49" fmla="*/ 698802 h 719704"/>
              <a:gd name="connsiteX50" fmla="*/ 1968500 w 2622550"/>
              <a:gd name="connsiteY50" fmla="*/ 546402 h 719704"/>
              <a:gd name="connsiteX51" fmla="*/ 2032000 w 2622550"/>
              <a:gd name="connsiteY51" fmla="*/ 552752 h 719704"/>
              <a:gd name="connsiteX52" fmla="*/ 2044700 w 2622550"/>
              <a:gd name="connsiteY52" fmla="*/ 508302 h 719704"/>
              <a:gd name="connsiteX53" fmla="*/ 2152650 w 2622550"/>
              <a:gd name="connsiteY53" fmla="*/ 552752 h 719704"/>
              <a:gd name="connsiteX54" fmla="*/ 2241550 w 2622550"/>
              <a:gd name="connsiteY54" fmla="*/ 495602 h 719704"/>
              <a:gd name="connsiteX55" fmla="*/ 2298700 w 2622550"/>
              <a:gd name="connsiteY55" fmla="*/ 552752 h 719704"/>
              <a:gd name="connsiteX56" fmla="*/ 2349500 w 2622550"/>
              <a:gd name="connsiteY56" fmla="*/ 514652 h 719704"/>
              <a:gd name="connsiteX57" fmla="*/ 2374900 w 2622550"/>
              <a:gd name="connsiteY57" fmla="*/ 514652 h 719704"/>
              <a:gd name="connsiteX58" fmla="*/ 2387600 w 2622550"/>
              <a:gd name="connsiteY58" fmla="*/ 540052 h 719704"/>
              <a:gd name="connsiteX59" fmla="*/ 2438400 w 2622550"/>
              <a:gd name="connsiteY59" fmla="*/ 508302 h 719704"/>
              <a:gd name="connsiteX60" fmla="*/ 2451100 w 2622550"/>
              <a:gd name="connsiteY60" fmla="*/ 489252 h 719704"/>
              <a:gd name="connsiteX61" fmla="*/ 2476500 w 2622550"/>
              <a:gd name="connsiteY61" fmla="*/ 559102 h 719704"/>
              <a:gd name="connsiteX62" fmla="*/ 2501900 w 2622550"/>
              <a:gd name="connsiteY62" fmla="*/ 489252 h 719704"/>
              <a:gd name="connsiteX63" fmla="*/ 2533650 w 2622550"/>
              <a:gd name="connsiteY63" fmla="*/ 565452 h 719704"/>
              <a:gd name="connsiteX64" fmla="*/ 2584450 w 2622550"/>
              <a:gd name="connsiteY64" fmla="*/ 578152 h 719704"/>
              <a:gd name="connsiteX65" fmla="*/ 2622550 w 2622550"/>
              <a:gd name="connsiteY65" fmla="*/ 565452 h 71970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501650 w 2622550"/>
              <a:gd name="connsiteY13" fmla="*/ 523382 h 722084"/>
              <a:gd name="connsiteX14" fmla="*/ 514350 w 2622550"/>
              <a:gd name="connsiteY14" fmla="*/ 542432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31900 w 2622550"/>
              <a:gd name="connsiteY32" fmla="*/ 574182 h 722084"/>
              <a:gd name="connsiteX33" fmla="*/ 1295400 w 2622550"/>
              <a:gd name="connsiteY33" fmla="*/ 517032 h 722084"/>
              <a:gd name="connsiteX34" fmla="*/ 1320800 w 2622550"/>
              <a:gd name="connsiteY34" fmla="*/ 529732 h 722084"/>
              <a:gd name="connsiteX35" fmla="*/ 1384300 w 2622550"/>
              <a:gd name="connsiteY35" fmla="*/ 472582 h 722084"/>
              <a:gd name="connsiteX36" fmla="*/ 1403350 w 2622550"/>
              <a:gd name="connsiteY36" fmla="*/ 561482 h 722084"/>
              <a:gd name="connsiteX37" fmla="*/ 1473200 w 2622550"/>
              <a:gd name="connsiteY37" fmla="*/ 586882 h 722084"/>
              <a:gd name="connsiteX38" fmla="*/ 1517650 w 2622550"/>
              <a:gd name="connsiteY38" fmla="*/ 497982 h 722084"/>
              <a:gd name="connsiteX39" fmla="*/ 1619250 w 2622550"/>
              <a:gd name="connsiteY39" fmla="*/ 605932 h 722084"/>
              <a:gd name="connsiteX40" fmla="*/ 1587500 w 2622550"/>
              <a:gd name="connsiteY40" fmla="*/ 542432 h 722084"/>
              <a:gd name="connsiteX41" fmla="*/ 1682750 w 2622550"/>
              <a:gd name="connsiteY41" fmla="*/ 567832 h 722084"/>
              <a:gd name="connsiteX42" fmla="*/ 1708150 w 2622550"/>
              <a:gd name="connsiteY42" fmla="*/ 536082 h 722084"/>
              <a:gd name="connsiteX43" fmla="*/ 1758950 w 2622550"/>
              <a:gd name="connsiteY43" fmla="*/ 555132 h 722084"/>
              <a:gd name="connsiteX44" fmla="*/ 1790700 w 2622550"/>
              <a:gd name="connsiteY44" fmla="*/ 510682 h 722084"/>
              <a:gd name="connsiteX45" fmla="*/ 1816100 w 2622550"/>
              <a:gd name="connsiteY45" fmla="*/ 523382 h 722084"/>
              <a:gd name="connsiteX46" fmla="*/ 1822450 w 2622550"/>
              <a:gd name="connsiteY46" fmla="*/ 580532 h 722084"/>
              <a:gd name="connsiteX47" fmla="*/ 1847850 w 2622550"/>
              <a:gd name="connsiteY47" fmla="*/ 504332 h 722084"/>
              <a:gd name="connsiteX48" fmla="*/ 1879600 w 2622550"/>
              <a:gd name="connsiteY48" fmla="*/ 21732 h 722084"/>
              <a:gd name="connsiteX49" fmla="*/ 1930400 w 2622550"/>
              <a:gd name="connsiteY49" fmla="*/ 701182 h 722084"/>
              <a:gd name="connsiteX50" fmla="*/ 1968500 w 2622550"/>
              <a:gd name="connsiteY50" fmla="*/ 548782 h 722084"/>
              <a:gd name="connsiteX51" fmla="*/ 2032000 w 2622550"/>
              <a:gd name="connsiteY51" fmla="*/ 555132 h 722084"/>
              <a:gd name="connsiteX52" fmla="*/ 2044700 w 2622550"/>
              <a:gd name="connsiteY52" fmla="*/ 510682 h 722084"/>
              <a:gd name="connsiteX53" fmla="*/ 2152650 w 2622550"/>
              <a:gd name="connsiteY53" fmla="*/ 555132 h 722084"/>
              <a:gd name="connsiteX54" fmla="*/ 2241550 w 2622550"/>
              <a:gd name="connsiteY54" fmla="*/ 497982 h 722084"/>
              <a:gd name="connsiteX55" fmla="*/ 2298700 w 2622550"/>
              <a:gd name="connsiteY55" fmla="*/ 555132 h 722084"/>
              <a:gd name="connsiteX56" fmla="*/ 2349500 w 2622550"/>
              <a:gd name="connsiteY56" fmla="*/ 517032 h 722084"/>
              <a:gd name="connsiteX57" fmla="*/ 2374900 w 2622550"/>
              <a:gd name="connsiteY57" fmla="*/ 517032 h 722084"/>
              <a:gd name="connsiteX58" fmla="*/ 2387600 w 2622550"/>
              <a:gd name="connsiteY58" fmla="*/ 542432 h 722084"/>
              <a:gd name="connsiteX59" fmla="*/ 2438400 w 2622550"/>
              <a:gd name="connsiteY59" fmla="*/ 510682 h 722084"/>
              <a:gd name="connsiteX60" fmla="*/ 2451100 w 2622550"/>
              <a:gd name="connsiteY60" fmla="*/ 491632 h 722084"/>
              <a:gd name="connsiteX61" fmla="*/ 2476500 w 2622550"/>
              <a:gd name="connsiteY61" fmla="*/ 561482 h 722084"/>
              <a:gd name="connsiteX62" fmla="*/ 2501900 w 2622550"/>
              <a:gd name="connsiteY62" fmla="*/ 491632 h 722084"/>
              <a:gd name="connsiteX63" fmla="*/ 2533650 w 2622550"/>
              <a:gd name="connsiteY63" fmla="*/ 567832 h 722084"/>
              <a:gd name="connsiteX64" fmla="*/ 2584450 w 2622550"/>
              <a:gd name="connsiteY64" fmla="*/ 580532 h 722084"/>
              <a:gd name="connsiteX65" fmla="*/ 2622550 w 2622550"/>
              <a:gd name="connsiteY65"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501650 w 2622550"/>
              <a:gd name="connsiteY13" fmla="*/ 523382 h 722084"/>
              <a:gd name="connsiteX14" fmla="*/ 514350 w 2622550"/>
              <a:gd name="connsiteY14" fmla="*/ 542432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31900 w 2622550"/>
              <a:gd name="connsiteY32" fmla="*/ 574182 h 722084"/>
              <a:gd name="connsiteX33" fmla="*/ 1295400 w 2622550"/>
              <a:gd name="connsiteY33" fmla="*/ 517032 h 722084"/>
              <a:gd name="connsiteX34" fmla="*/ 1320800 w 2622550"/>
              <a:gd name="connsiteY34" fmla="*/ 529732 h 722084"/>
              <a:gd name="connsiteX35" fmla="*/ 1384300 w 2622550"/>
              <a:gd name="connsiteY35" fmla="*/ 472582 h 722084"/>
              <a:gd name="connsiteX36" fmla="*/ 1403350 w 2622550"/>
              <a:gd name="connsiteY36" fmla="*/ 561482 h 722084"/>
              <a:gd name="connsiteX37" fmla="*/ 1473200 w 2622550"/>
              <a:gd name="connsiteY37" fmla="*/ 586882 h 722084"/>
              <a:gd name="connsiteX38" fmla="*/ 1517650 w 2622550"/>
              <a:gd name="connsiteY38" fmla="*/ 497982 h 722084"/>
              <a:gd name="connsiteX39" fmla="*/ 1619250 w 2622550"/>
              <a:gd name="connsiteY39" fmla="*/ 605932 h 722084"/>
              <a:gd name="connsiteX40" fmla="*/ 1587500 w 2622550"/>
              <a:gd name="connsiteY40" fmla="*/ 542432 h 722084"/>
              <a:gd name="connsiteX41" fmla="*/ 1682750 w 2622550"/>
              <a:gd name="connsiteY41" fmla="*/ 567832 h 722084"/>
              <a:gd name="connsiteX42" fmla="*/ 1708150 w 2622550"/>
              <a:gd name="connsiteY42" fmla="*/ 536082 h 722084"/>
              <a:gd name="connsiteX43" fmla="*/ 1758950 w 2622550"/>
              <a:gd name="connsiteY43" fmla="*/ 555132 h 722084"/>
              <a:gd name="connsiteX44" fmla="*/ 1790700 w 2622550"/>
              <a:gd name="connsiteY44" fmla="*/ 510682 h 722084"/>
              <a:gd name="connsiteX45" fmla="*/ 1816100 w 2622550"/>
              <a:gd name="connsiteY45" fmla="*/ 523382 h 722084"/>
              <a:gd name="connsiteX46" fmla="*/ 1822450 w 2622550"/>
              <a:gd name="connsiteY46" fmla="*/ 580532 h 722084"/>
              <a:gd name="connsiteX47" fmla="*/ 1847850 w 2622550"/>
              <a:gd name="connsiteY47" fmla="*/ 504332 h 722084"/>
              <a:gd name="connsiteX48" fmla="*/ 1879600 w 2622550"/>
              <a:gd name="connsiteY48" fmla="*/ 21732 h 722084"/>
              <a:gd name="connsiteX49" fmla="*/ 1930400 w 2622550"/>
              <a:gd name="connsiteY49" fmla="*/ 701182 h 722084"/>
              <a:gd name="connsiteX50" fmla="*/ 1968500 w 2622550"/>
              <a:gd name="connsiteY50" fmla="*/ 548782 h 722084"/>
              <a:gd name="connsiteX51" fmla="*/ 2032000 w 2622550"/>
              <a:gd name="connsiteY51" fmla="*/ 555132 h 722084"/>
              <a:gd name="connsiteX52" fmla="*/ 2044700 w 2622550"/>
              <a:gd name="connsiteY52" fmla="*/ 510682 h 722084"/>
              <a:gd name="connsiteX53" fmla="*/ 2152650 w 2622550"/>
              <a:gd name="connsiteY53" fmla="*/ 555132 h 722084"/>
              <a:gd name="connsiteX54" fmla="*/ 2241550 w 2622550"/>
              <a:gd name="connsiteY54" fmla="*/ 497982 h 722084"/>
              <a:gd name="connsiteX55" fmla="*/ 2298700 w 2622550"/>
              <a:gd name="connsiteY55" fmla="*/ 555132 h 722084"/>
              <a:gd name="connsiteX56" fmla="*/ 2349500 w 2622550"/>
              <a:gd name="connsiteY56" fmla="*/ 517032 h 722084"/>
              <a:gd name="connsiteX57" fmla="*/ 2374900 w 2622550"/>
              <a:gd name="connsiteY57" fmla="*/ 517032 h 722084"/>
              <a:gd name="connsiteX58" fmla="*/ 2387600 w 2622550"/>
              <a:gd name="connsiteY58" fmla="*/ 542432 h 722084"/>
              <a:gd name="connsiteX59" fmla="*/ 2438400 w 2622550"/>
              <a:gd name="connsiteY59" fmla="*/ 510682 h 722084"/>
              <a:gd name="connsiteX60" fmla="*/ 2451100 w 2622550"/>
              <a:gd name="connsiteY60" fmla="*/ 491632 h 722084"/>
              <a:gd name="connsiteX61" fmla="*/ 2476500 w 2622550"/>
              <a:gd name="connsiteY61" fmla="*/ 561482 h 722084"/>
              <a:gd name="connsiteX62" fmla="*/ 2501900 w 2622550"/>
              <a:gd name="connsiteY62" fmla="*/ 491632 h 722084"/>
              <a:gd name="connsiteX63" fmla="*/ 2533650 w 2622550"/>
              <a:gd name="connsiteY63" fmla="*/ 567832 h 722084"/>
              <a:gd name="connsiteX64" fmla="*/ 2584450 w 2622550"/>
              <a:gd name="connsiteY64" fmla="*/ 580532 h 722084"/>
              <a:gd name="connsiteX65" fmla="*/ 2622550 w 2622550"/>
              <a:gd name="connsiteY65"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501650 w 2622550"/>
              <a:gd name="connsiteY13" fmla="*/ 523382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31900 w 2622550"/>
              <a:gd name="connsiteY32" fmla="*/ 574182 h 722084"/>
              <a:gd name="connsiteX33" fmla="*/ 1295400 w 2622550"/>
              <a:gd name="connsiteY33" fmla="*/ 517032 h 722084"/>
              <a:gd name="connsiteX34" fmla="*/ 1320800 w 2622550"/>
              <a:gd name="connsiteY34" fmla="*/ 529732 h 722084"/>
              <a:gd name="connsiteX35" fmla="*/ 1384300 w 2622550"/>
              <a:gd name="connsiteY35" fmla="*/ 472582 h 722084"/>
              <a:gd name="connsiteX36" fmla="*/ 1403350 w 2622550"/>
              <a:gd name="connsiteY36" fmla="*/ 561482 h 722084"/>
              <a:gd name="connsiteX37" fmla="*/ 1473200 w 2622550"/>
              <a:gd name="connsiteY37" fmla="*/ 586882 h 722084"/>
              <a:gd name="connsiteX38" fmla="*/ 1517650 w 2622550"/>
              <a:gd name="connsiteY38" fmla="*/ 497982 h 722084"/>
              <a:gd name="connsiteX39" fmla="*/ 1619250 w 2622550"/>
              <a:gd name="connsiteY39" fmla="*/ 605932 h 722084"/>
              <a:gd name="connsiteX40" fmla="*/ 1587500 w 2622550"/>
              <a:gd name="connsiteY40" fmla="*/ 542432 h 722084"/>
              <a:gd name="connsiteX41" fmla="*/ 1682750 w 2622550"/>
              <a:gd name="connsiteY41" fmla="*/ 567832 h 722084"/>
              <a:gd name="connsiteX42" fmla="*/ 1708150 w 2622550"/>
              <a:gd name="connsiteY42" fmla="*/ 536082 h 722084"/>
              <a:gd name="connsiteX43" fmla="*/ 1758950 w 2622550"/>
              <a:gd name="connsiteY43" fmla="*/ 555132 h 722084"/>
              <a:gd name="connsiteX44" fmla="*/ 1790700 w 2622550"/>
              <a:gd name="connsiteY44" fmla="*/ 510682 h 722084"/>
              <a:gd name="connsiteX45" fmla="*/ 1816100 w 2622550"/>
              <a:gd name="connsiteY45" fmla="*/ 523382 h 722084"/>
              <a:gd name="connsiteX46" fmla="*/ 1822450 w 2622550"/>
              <a:gd name="connsiteY46" fmla="*/ 580532 h 722084"/>
              <a:gd name="connsiteX47" fmla="*/ 1847850 w 2622550"/>
              <a:gd name="connsiteY47" fmla="*/ 504332 h 722084"/>
              <a:gd name="connsiteX48" fmla="*/ 1879600 w 2622550"/>
              <a:gd name="connsiteY48" fmla="*/ 21732 h 722084"/>
              <a:gd name="connsiteX49" fmla="*/ 1930400 w 2622550"/>
              <a:gd name="connsiteY49" fmla="*/ 701182 h 722084"/>
              <a:gd name="connsiteX50" fmla="*/ 1968500 w 2622550"/>
              <a:gd name="connsiteY50" fmla="*/ 548782 h 722084"/>
              <a:gd name="connsiteX51" fmla="*/ 2032000 w 2622550"/>
              <a:gd name="connsiteY51" fmla="*/ 555132 h 722084"/>
              <a:gd name="connsiteX52" fmla="*/ 2044700 w 2622550"/>
              <a:gd name="connsiteY52" fmla="*/ 510682 h 722084"/>
              <a:gd name="connsiteX53" fmla="*/ 2152650 w 2622550"/>
              <a:gd name="connsiteY53" fmla="*/ 555132 h 722084"/>
              <a:gd name="connsiteX54" fmla="*/ 2241550 w 2622550"/>
              <a:gd name="connsiteY54" fmla="*/ 497982 h 722084"/>
              <a:gd name="connsiteX55" fmla="*/ 2298700 w 2622550"/>
              <a:gd name="connsiteY55" fmla="*/ 555132 h 722084"/>
              <a:gd name="connsiteX56" fmla="*/ 2349500 w 2622550"/>
              <a:gd name="connsiteY56" fmla="*/ 517032 h 722084"/>
              <a:gd name="connsiteX57" fmla="*/ 2374900 w 2622550"/>
              <a:gd name="connsiteY57" fmla="*/ 517032 h 722084"/>
              <a:gd name="connsiteX58" fmla="*/ 2387600 w 2622550"/>
              <a:gd name="connsiteY58" fmla="*/ 542432 h 722084"/>
              <a:gd name="connsiteX59" fmla="*/ 2438400 w 2622550"/>
              <a:gd name="connsiteY59" fmla="*/ 510682 h 722084"/>
              <a:gd name="connsiteX60" fmla="*/ 2451100 w 2622550"/>
              <a:gd name="connsiteY60" fmla="*/ 491632 h 722084"/>
              <a:gd name="connsiteX61" fmla="*/ 2476500 w 2622550"/>
              <a:gd name="connsiteY61" fmla="*/ 561482 h 722084"/>
              <a:gd name="connsiteX62" fmla="*/ 2501900 w 2622550"/>
              <a:gd name="connsiteY62" fmla="*/ 491632 h 722084"/>
              <a:gd name="connsiteX63" fmla="*/ 2533650 w 2622550"/>
              <a:gd name="connsiteY63" fmla="*/ 567832 h 722084"/>
              <a:gd name="connsiteX64" fmla="*/ 2584450 w 2622550"/>
              <a:gd name="connsiteY64" fmla="*/ 580532 h 722084"/>
              <a:gd name="connsiteX65" fmla="*/ 2622550 w 2622550"/>
              <a:gd name="connsiteY65"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31900 w 2622550"/>
              <a:gd name="connsiteY32" fmla="*/ 574182 h 722084"/>
              <a:gd name="connsiteX33" fmla="*/ 1295400 w 2622550"/>
              <a:gd name="connsiteY33" fmla="*/ 517032 h 722084"/>
              <a:gd name="connsiteX34" fmla="*/ 1320800 w 2622550"/>
              <a:gd name="connsiteY34" fmla="*/ 529732 h 722084"/>
              <a:gd name="connsiteX35" fmla="*/ 1384300 w 2622550"/>
              <a:gd name="connsiteY35" fmla="*/ 472582 h 722084"/>
              <a:gd name="connsiteX36" fmla="*/ 1403350 w 2622550"/>
              <a:gd name="connsiteY36" fmla="*/ 561482 h 722084"/>
              <a:gd name="connsiteX37" fmla="*/ 1473200 w 2622550"/>
              <a:gd name="connsiteY37" fmla="*/ 586882 h 722084"/>
              <a:gd name="connsiteX38" fmla="*/ 1517650 w 2622550"/>
              <a:gd name="connsiteY38" fmla="*/ 497982 h 722084"/>
              <a:gd name="connsiteX39" fmla="*/ 1619250 w 2622550"/>
              <a:gd name="connsiteY39" fmla="*/ 605932 h 722084"/>
              <a:gd name="connsiteX40" fmla="*/ 1587500 w 2622550"/>
              <a:gd name="connsiteY40" fmla="*/ 542432 h 722084"/>
              <a:gd name="connsiteX41" fmla="*/ 1682750 w 2622550"/>
              <a:gd name="connsiteY41" fmla="*/ 567832 h 722084"/>
              <a:gd name="connsiteX42" fmla="*/ 1708150 w 2622550"/>
              <a:gd name="connsiteY42" fmla="*/ 536082 h 722084"/>
              <a:gd name="connsiteX43" fmla="*/ 1758950 w 2622550"/>
              <a:gd name="connsiteY43" fmla="*/ 555132 h 722084"/>
              <a:gd name="connsiteX44" fmla="*/ 1790700 w 2622550"/>
              <a:gd name="connsiteY44" fmla="*/ 510682 h 722084"/>
              <a:gd name="connsiteX45" fmla="*/ 1816100 w 2622550"/>
              <a:gd name="connsiteY45" fmla="*/ 523382 h 722084"/>
              <a:gd name="connsiteX46" fmla="*/ 1822450 w 2622550"/>
              <a:gd name="connsiteY46" fmla="*/ 580532 h 722084"/>
              <a:gd name="connsiteX47" fmla="*/ 1847850 w 2622550"/>
              <a:gd name="connsiteY47" fmla="*/ 504332 h 722084"/>
              <a:gd name="connsiteX48" fmla="*/ 1879600 w 2622550"/>
              <a:gd name="connsiteY48" fmla="*/ 21732 h 722084"/>
              <a:gd name="connsiteX49" fmla="*/ 1930400 w 2622550"/>
              <a:gd name="connsiteY49" fmla="*/ 701182 h 722084"/>
              <a:gd name="connsiteX50" fmla="*/ 1968500 w 2622550"/>
              <a:gd name="connsiteY50" fmla="*/ 548782 h 722084"/>
              <a:gd name="connsiteX51" fmla="*/ 2032000 w 2622550"/>
              <a:gd name="connsiteY51" fmla="*/ 555132 h 722084"/>
              <a:gd name="connsiteX52" fmla="*/ 2044700 w 2622550"/>
              <a:gd name="connsiteY52" fmla="*/ 510682 h 722084"/>
              <a:gd name="connsiteX53" fmla="*/ 2152650 w 2622550"/>
              <a:gd name="connsiteY53" fmla="*/ 555132 h 722084"/>
              <a:gd name="connsiteX54" fmla="*/ 2241550 w 2622550"/>
              <a:gd name="connsiteY54" fmla="*/ 497982 h 722084"/>
              <a:gd name="connsiteX55" fmla="*/ 2298700 w 2622550"/>
              <a:gd name="connsiteY55" fmla="*/ 555132 h 722084"/>
              <a:gd name="connsiteX56" fmla="*/ 2349500 w 2622550"/>
              <a:gd name="connsiteY56" fmla="*/ 517032 h 722084"/>
              <a:gd name="connsiteX57" fmla="*/ 2374900 w 2622550"/>
              <a:gd name="connsiteY57" fmla="*/ 517032 h 722084"/>
              <a:gd name="connsiteX58" fmla="*/ 2387600 w 2622550"/>
              <a:gd name="connsiteY58" fmla="*/ 542432 h 722084"/>
              <a:gd name="connsiteX59" fmla="*/ 2438400 w 2622550"/>
              <a:gd name="connsiteY59" fmla="*/ 510682 h 722084"/>
              <a:gd name="connsiteX60" fmla="*/ 2451100 w 2622550"/>
              <a:gd name="connsiteY60" fmla="*/ 491632 h 722084"/>
              <a:gd name="connsiteX61" fmla="*/ 2476500 w 2622550"/>
              <a:gd name="connsiteY61" fmla="*/ 561482 h 722084"/>
              <a:gd name="connsiteX62" fmla="*/ 2501900 w 2622550"/>
              <a:gd name="connsiteY62" fmla="*/ 491632 h 722084"/>
              <a:gd name="connsiteX63" fmla="*/ 2533650 w 2622550"/>
              <a:gd name="connsiteY63" fmla="*/ 567832 h 722084"/>
              <a:gd name="connsiteX64" fmla="*/ 2584450 w 2622550"/>
              <a:gd name="connsiteY64" fmla="*/ 580532 h 722084"/>
              <a:gd name="connsiteX65" fmla="*/ 2622550 w 2622550"/>
              <a:gd name="connsiteY65"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31900 w 2622550"/>
              <a:gd name="connsiteY32" fmla="*/ 574182 h 722084"/>
              <a:gd name="connsiteX33" fmla="*/ 1295400 w 2622550"/>
              <a:gd name="connsiteY33" fmla="*/ 517032 h 722084"/>
              <a:gd name="connsiteX34" fmla="*/ 1320800 w 2622550"/>
              <a:gd name="connsiteY34" fmla="*/ 529732 h 722084"/>
              <a:gd name="connsiteX35" fmla="*/ 1384300 w 2622550"/>
              <a:gd name="connsiteY35" fmla="*/ 472582 h 722084"/>
              <a:gd name="connsiteX36" fmla="*/ 1403350 w 2622550"/>
              <a:gd name="connsiteY36" fmla="*/ 561482 h 722084"/>
              <a:gd name="connsiteX37" fmla="*/ 1473200 w 2622550"/>
              <a:gd name="connsiteY37" fmla="*/ 586882 h 722084"/>
              <a:gd name="connsiteX38" fmla="*/ 1517650 w 2622550"/>
              <a:gd name="connsiteY38" fmla="*/ 497982 h 722084"/>
              <a:gd name="connsiteX39" fmla="*/ 1619250 w 2622550"/>
              <a:gd name="connsiteY39" fmla="*/ 605932 h 722084"/>
              <a:gd name="connsiteX40" fmla="*/ 1587500 w 2622550"/>
              <a:gd name="connsiteY40" fmla="*/ 542432 h 722084"/>
              <a:gd name="connsiteX41" fmla="*/ 1682750 w 2622550"/>
              <a:gd name="connsiteY41" fmla="*/ 567832 h 722084"/>
              <a:gd name="connsiteX42" fmla="*/ 1708150 w 2622550"/>
              <a:gd name="connsiteY42" fmla="*/ 536082 h 722084"/>
              <a:gd name="connsiteX43" fmla="*/ 1758950 w 2622550"/>
              <a:gd name="connsiteY43" fmla="*/ 555132 h 722084"/>
              <a:gd name="connsiteX44" fmla="*/ 1790700 w 2622550"/>
              <a:gd name="connsiteY44" fmla="*/ 510682 h 722084"/>
              <a:gd name="connsiteX45" fmla="*/ 1816100 w 2622550"/>
              <a:gd name="connsiteY45" fmla="*/ 523382 h 722084"/>
              <a:gd name="connsiteX46" fmla="*/ 1822450 w 2622550"/>
              <a:gd name="connsiteY46" fmla="*/ 580532 h 722084"/>
              <a:gd name="connsiteX47" fmla="*/ 1847850 w 2622550"/>
              <a:gd name="connsiteY47" fmla="*/ 504332 h 722084"/>
              <a:gd name="connsiteX48" fmla="*/ 1879600 w 2622550"/>
              <a:gd name="connsiteY48" fmla="*/ 21732 h 722084"/>
              <a:gd name="connsiteX49" fmla="*/ 1930400 w 2622550"/>
              <a:gd name="connsiteY49" fmla="*/ 701182 h 722084"/>
              <a:gd name="connsiteX50" fmla="*/ 1968500 w 2622550"/>
              <a:gd name="connsiteY50" fmla="*/ 548782 h 722084"/>
              <a:gd name="connsiteX51" fmla="*/ 2032000 w 2622550"/>
              <a:gd name="connsiteY51" fmla="*/ 555132 h 722084"/>
              <a:gd name="connsiteX52" fmla="*/ 2044700 w 2622550"/>
              <a:gd name="connsiteY52" fmla="*/ 510682 h 722084"/>
              <a:gd name="connsiteX53" fmla="*/ 2152650 w 2622550"/>
              <a:gd name="connsiteY53" fmla="*/ 555132 h 722084"/>
              <a:gd name="connsiteX54" fmla="*/ 2241550 w 2622550"/>
              <a:gd name="connsiteY54" fmla="*/ 497982 h 722084"/>
              <a:gd name="connsiteX55" fmla="*/ 2298700 w 2622550"/>
              <a:gd name="connsiteY55" fmla="*/ 555132 h 722084"/>
              <a:gd name="connsiteX56" fmla="*/ 2349500 w 2622550"/>
              <a:gd name="connsiteY56" fmla="*/ 517032 h 722084"/>
              <a:gd name="connsiteX57" fmla="*/ 2374900 w 2622550"/>
              <a:gd name="connsiteY57" fmla="*/ 517032 h 722084"/>
              <a:gd name="connsiteX58" fmla="*/ 2387600 w 2622550"/>
              <a:gd name="connsiteY58" fmla="*/ 542432 h 722084"/>
              <a:gd name="connsiteX59" fmla="*/ 2438400 w 2622550"/>
              <a:gd name="connsiteY59" fmla="*/ 510682 h 722084"/>
              <a:gd name="connsiteX60" fmla="*/ 2451100 w 2622550"/>
              <a:gd name="connsiteY60" fmla="*/ 491632 h 722084"/>
              <a:gd name="connsiteX61" fmla="*/ 2476500 w 2622550"/>
              <a:gd name="connsiteY61" fmla="*/ 561482 h 722084"/>
              <a:gd name="connsiteX62" fmla="*/ 2501900 w 2622550"/>
              <a:gd name="connsiteY62" fmla="*/ 491632 h 722084"/>
              <a:gd name="connsiteX63" fmla="*/ 2533650 w 2622550"/>
              <a:gd name="connsiteY63" fmla="*/ 567832 h 722084"/>
              <a:gd name="connsiteX64" fmla="*/ 2584450 w 2622550"/>
              <a:gd name="connsiteY64" fmla="*/ 580532 h 722084"/>
              <a:gd name="connsiteX65" fmla="*/ 2622550 w 2622550"/>
              <a:gd name="connsiteY65"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31900 w 2622550"/>
              <a:gd name="connsiteY32" fmla="*/ 574182 h 722084"/>
              <a:gd name="connsiteX33" fmla="*/ 1295400 w 2622550"/>
              <a:gd name="connsiteY33" fmla="*/ 517032 h 722084"/>
              <a:gd name="connsiteX34" fmla="*/ 1320800 w 2622550"/>
              <a:gd name="connsiteY34" fmla="*/ 529732 h 722084"/>
              <a:gd name="connsiteX35" fmla="*/ 1384300 w 2622550"/>
              <a:gd name="connsiteY35" fmla="*/ 472582 h 722084"/>
              <a:gd name="connsiteX36" fmla="*/ 1403350 w 2622550"/>
              <a:gd name="connsiteY36" fmla="*/ 561482 h 722084"/>
              <a:gd name="connsiteX37" fmla="*/ 1473200 w 2622550"/>
              <a:gd name="connsiteY37" fmla="*/ 586882 h 722084"/>
              <a:gd name="connsiteX38" fmla="*/ 1517650 w 2622550"/>
              <a:gd name="connsiteY38" fmla="*/ 497982 h 722084"/>
              <a:gd name="connsiteX39" fmla="*/ 1619250 w 2622550"/>
              <a:gd name="connsiteY39" fmla="*/ 605932 h 722084"/>
              <a:gd name="connsiteX40" fmla="*/ 1587500 w 2622550"/>
              <a:gd name="connsiteY40" fmla="*/ 542432 h 722084"/>
              <a:gd name="connsiteX41" fmla="*/ 1682750 w 2622550"/>
              <a:gd name="connsiteY41" fmla="*/ 567832 h 722084"/>
              <a:gd name="connsiteX42" fmla="*/ 1708150 w 2622550"/>
              <a:gd name="connsiteY42" fmla="*/ 536082 h 722084"/>
              <a:gd name="connsiteX43" fmla="*/ 1758950 w 2622550"/>
              <a:gd name="connsiteY43" fmla="*/ 555132 h 722084"/>
              <a:gd name="connsiteX44" fmla="*/ 1790700 w 2622550"/>
              <a:gd name="connsiteY44" fmla="*/ 510682 h 722084"/>
              <a:gd name="connsiteX45" fmla="*/ 1816100 w 2622550"/>
              <a:gd name="connsiteY45" fmla="*/ 523382 h 722084"/>
              <a:gd name="connsiteX46" fmla="*/ 1822450 w 2622550"/>
              <a:gd name="connsiteY46" fmla="*/ 580532 h 722084"/>
              <a:gd name="connsiteX47" fmla="*/ 1847850 w 2622550"/>
              <a:gd name="connsiteY47" fmla="*/ 504332 h 722084"/>
              <a:gd name="connsiteX48" fmla="*/ 1879600 w 2622550"/>
              <a:gd name="connsiteY48" fmla="*/ 21732 h 722084"/>
              <a:gd name="connsiteX49" fmla="*/ 1930400 w 2622550"/>
              <a:gd name="connsiteY49" fmla="*/ 701182 h 722084"/>
              <a:gd name="connsiteX50" fmla="*/ 1968500 w 2622550"/>
              <a:gd name="connsiteY50" fmla="*/ 548782 h 722084"/>
              <a:gd name="connsiteX51" fmla="*/ 2032000 w 2622550"/>
              <a:gd name="connsiteY51" fmla="*/ 555132 h 722084"/>
              <a:gd name="connsiteX52" fmla="*/ 2044700 w 2622550"/>
              <a:gd name="connsiteY52" fmla="*/ 510682 h 722084"/>
              <a:gd name="connsiteX53" fmla="*/ 2152650 w 2622550"/>
              <a:gd name="connsiteY53" fmla="*/ 555132 h 722084"/>
              <a:gd name="connsiteX54" fmla="*/ 2241550 w 2622550"/>
              <a:gd name="connsiteY54" fmla="*/ 497982 h 722084"/>
              <a:gd name="connsiteX55" fmla="*/ 2298700 w 2622550"/>
              <a:gd name="connsiteY55" fmla="*/ 555132 h 722084"/>
              <a:gd name="connsiteX56" fmla="*/ 2349500 w 2622550"/>
              <a:gd name="connsiteY56" fmla="*/ 517032 h 722084"/>
              <a:gd name="connsiteX57" fmla="*/ 2374900 w 2622550"/>
              <a:gd name="connsiteY57" fmla="*/ 517032 h 722084"/>
              <a:gd name="connsiteX58" fmla="*/ 2387600 w 2622550"/>
              <a:gd name="connsiteY58" fmla="*/ 542432 h 722084"/>
              <a:gd name="connsiteX59" fmla="*/ 2438400 w 2622550"/>
              <a:gd name="connsiteY59" fmla="*/ 510682 h 722084"/>
              <a:gd name="connsiteX60" fmla="*/ 2451100 w 2622550"/>
              <a:gd name="connsiteY60" fmla="*/ 491632 h 722084"/>
              <a:gd name="connsiteX61" fmla="*/ 2476500 w 2622550"/>
              <a:gd name="connsiteY61" fmla="*/ 561482 h 722084"/>
              <a:gd name="connsiteX62" fmla="*/ 2501900 w 2622550"/>
              <a:gd name="connsiteY62" fmla="*/ 491632 h 722084"/>
              <a:gd name="connsiteX63" fmla="*/ 2533650 w 2622550"/>
              <a:gd name="connsiteY63" fmla="*/ 567832 h 722084"/>
              <a:gd name="connsiteX64" fmla="*/ 2584450 w 2622550"/>
              <a:gd name="connsiteY64" fmla="*/ 580532 h 722084"/>
              <a:gd name="connsiteX65" fmla="*/ 2622550 w 2622550"/>
              <a:gd name="connsiteY65"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17613 w 2622550"/>
              <a:gd name="connsiteY32" fmla="*/ 564657 h 722084"/>
              <a:gd name="connsiteX33" fmla="*/ 1295400 w 2622550"/>
              <a:gd name="connsiteY33" fmla="*/ 517032 h 722084"/>
              <a:gd name="connsiteX34" fmla="*/ 1320800 w 2622550"/>
              <a:gd name="connsiteY34" fmla="*/ 529732 h 722084"/>
              <a:gd name="connsiteX35" fmla="*/ 1384300 w 2622550"/>
              <a:gd name="connsiteY35" fmla="*/ 472582 h 722084"/>
              <a:gd name="connsiteX36" fmla="*/ 1403350 w 2622550"/>
              <a:gd name="connsiteY36" fmla="*/ 561482 h 722084"/>
              <a:gd name="connsiteX37" fmla="*/ 1473200 w 2622550"/>
              <a:gd name="connsiteY37" fmla="*/ 586882 h 722084"/>
              <a:gd name="connsiteX38" fmla="*/ 1517650 w 2622550"/>
              <a:gd name="connsiteY38" fmla="*/ 497982 h 722084"/>
              <a:gd name="connsiteX39" fmla="*/ 1619250 w 2622550"/>
              <a:gd name="connsiteY39" fmla="*/ 605932 h 722084"/>
              <a:gd name="connsiteX40" fmla="*/ 1587500 w 2622550"/>
              <a:gd name="connsiteY40" fmla="*/ 542432 h 722084"/>
              <a:gd name="connsiteX41" fmla="*/ 1682750 w 2622550"/>
              <a:gd name="connsiteY41" fmla="*/ 567832 h 722084"/>
              <a:gd name="connsiteX42" fmla="*/ 1708150 w 2622550"/>
              <a:gd name="connsiteY42" fmla="*/ 536082 h 722084"/>
              <a:gd name="connsiteX43" fmla="*/ 1758950 w 2622550"/>
              <a:gd name="connsiteY43" fmla="*/ 555132 h 722084"/>
              <a:gd name="connsiteX44" fmla="*/ 1790700 w 2622550"/>
              <a:gd name="connsiteY44" fmla="*/ 510682 h 722084"/>
              <a:gd name="connsiteX45" fmla="*/ 1816100 w 2622550"/>
              <a:gd name="connsiteY45" fmla="*/ 523382 h 722084"/>
              <a:gd name="connsiteX46" fmla="*/ 1822450 w 2622550"/>
              <a:gd name="connsiteY46" fmla="*/ 580532 h 722084"/>
              <a:gd name="connsiteX47" fmla="*/ 1847850 w 2622550"/>
              <a:gd name="connsiteY47" fmla="*/ 504332 h 722084"/>
              <a:gd name="connsiteX48" fmla="*/ 1879600 w 2622550"/>
              <a:gd name="connsiteY48" fmla="*/ 21732 h 722084"/>
              <a:gd name="connsiteX49" fmla="*/ 1930400 w 2622550"/>
              <a:gd name="connsiteY49" fmla="*/ 701182 h 722084"/>
              <a:gd name="connsiteX50" fmla="*/ 1968500 w 2622550"/>
              <a:gd name="connsiteY50" fmla="*/ 548782 h 722084"/>
              <a:gd name="connsiteX51" fmla="*/ 2032000 w 2622550"/>
              <a:gd name="connsiteY51" fmla="*/ 555132 h 722084"/>
              <a:gd name="connsiteX52" fmla="*/ 2044700 w 2622550"/>
              <a:gd name="connsiteY52" fmla="*/ 510682 h 722084"/>
              <a:gd name="connsiteX53" fmla="*/ 2152650 w 2622550"/>
              <a:gd name="connsiteY53" fmla="*/ 555132 h 722084"/>
              <a:gd name="connsiteX54" fmla="*/ 2241550 w 2622550"/>
              <a:gd name="connsiteY54" fmla="*/ 497982 h 722084"/>
              <a:gd name="connsiteX55" fmla="*/ 2298700 w 2622550"/>
              <a:gd name="connsiteY55" fmla="*/ 555132 h 722084"/>
              <a:gd name="connsiteX56" fmla="*/ 2349500 w 2622550"/>
              <a:gd name="connsiteY56" fmla="*/ 517032 h 722084"/>
              <a:gd name="connsiteX57" fmla="*/ 2374900 w 2622550"/>
              <a:gd name="connsiteY57" fmla="*/ 517032 h 722084"/>
              <a:gd name="connsiteX58" fmla="*/ 2387600 w 2622550"/>
              <a:gd name="connsiteY58" fmla="*/ 542432 h 722084"/>
              <a:gd name="connsiteX59" fmla="*/ 2438400 w 2622550"/>
              <a:gd name="connsiteY59" fmla="*/ 510682 h 722084"/>
              <a:gd name="connsiteX60" fmla="*/ 2451100 w 2622550"/>
              <a:gd name="connsiteY60" fmla="*/ 491632 h 722084"/>
              <a:gd name="connsiteX61" fmla="*/ 2476500 w 2622550"/>
              <a:gd name="connsiteY61" fmla="*/ 561482 h 722084"/>
              <a:gd name="connsiteX62" fmla="*/ 2501900 w 2622550"/>
              <a:gd name="connsiteY62" fmla="*/ 491632 h 722084"/>
              <a:gd name="connsiteX63" fmla="*/ 2533650 w 2622550"/>
              <a:gd name="connsiteY63" fmla="*/ 567832 h 722084"/>
              <a:gd name="connsiteX64" fmla="*/ 2584450 w 2622550"/>
              <a:gd name="connsiteY64" fmla="*/ 580532 h 722084"/>
              <a:gd name="connsiteX65" fmla="*/ 2622550 w 2622550"/>
              <a:gd name="connsiteY65"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17613 w 2622550"/>
              <a:gd name="connsiteY32" fmla="*/ 564657 h 722084"/>
              <a:gd name="connsiteX33" fmla="*/ 1295400 w 2622550"/>
              <a:gd name="connsiteY33" fmla="*/ 547988 h 722084"/>
              <a:gd name="connsiteX34" fmla="*/ 1320800 w 2622550"/>
              <a:gd name="connsiteY34" fmla="*/ 529732 h 722084"/>
              <a:gd name="connsiteX35" fmla="*/ 1384300 w 2622550"/>
              <a:gd name="connsiteY35" fmla="*/ 472582 h 722084"/>
              <a:gd name="connsiteX36" fmla="*/ 1403350 w 2622550"/>
              <a:gd name="connsiteY36" fmla="*/ 561482 h 722084"/>
              <a:gd name="connsiteX37" fmla="*/ 1473200 w 2622550"/>
              <a:gd name="connsiteY37" fmla="*/ 586882 h 722084"/>
              <a:gd name="connsiteX38" fmla="*/ 1517650 w 2622550"/>
              <a:gd name="connsiteY38" fmla="*/ 497982 h 722084"/>
              <a:gd name="connsiteX39" fmla="*/ 1619250 w 2622550"/>
              <a:gd name="connsiteY39" fmla="*/ 605932 h 722084"/>
              <a:gd name="connsiteX40" fmla="*/ 1587500 w 2622550"/>
              <a:gd name="connsiteY40" fmla="*/ 542432 h 722084"/>
              <a:gd name="connsiteX41" fmla="*/ 1682750 w 2622550"/>
              <a:gd name="connsiteY41" fmla="*/ 567832 h 722084"/>
              <a:gd name="connsiteX42" fmla="*/ 1708150 w 2622550"/>
              <a:gd name="connsiteY42" fmla="*/ 536082 h 722084"/>
              <a:gd name="connsiteX43" fmla="*/ 1758950 w 2622550"/>
              <a:gd name="connsiteY43" fmla="*/ 555132 h 722084"/>
              <a:gd name="connsiteX44" fmla="*/ 1790700 w 2622550"/>
              <a:gd name="connsiteY44" fmla="*/ 510682 h 722084"/>
              <a:gd name="connsiteX45" fmla="*/ 1816100 w 2622550"/>
              <a:gd name="connsiteY45" fmla="*/ 523382 h 722084"/>
              <a:gd name="connsiteX46" fmla="*/ 1822450 w 2622550"/>
              <a:gd name="connsiteY46" fmla="*/ 580532 h 722084"/>
              <a:gd name="connsiteX47" fmla="*/ 1847850 w 2622550"/>
              <a:gd name="connsiteY47" fmla="*/ 504332 h 722084"/>
              <a:gd name="connsiteX48" fmla="*/ 1879600 w 2622550"/>
              <a:gd name="connsiteY48" fmla="*/ 21732 h 722084"/>
              <a:gd name="connsiteX49" fmla="*/ 1930400 w 2622550"/>
              <a:gd name="connsiteY49" fmla="*/ 701182 h 722084"/>
              <a:gd name="connsiteX50" fmla="*/ 1968500 w 2622550"/>
              <a:gd name="connsiteY50" fmla="*/ 548782 h 722084"/>
              <a:gd name="connsiteX51" fmla="*/ 2032000 w 2622550"/>
              <a:gd name="connsiteY51" fmla="*/ 555132 h 722084"/>
              <a:gd name="connsiteX52" fmla="*/ 2044700 w 2622550"/>
              <a:gd name="connsiteY52" fmla="*/ 510682 h 722084"/>
              <a:gd name="connsiteX53" fmla="*/ 2152650 w 2622550"/>
              <a:gd name="connsiteY53" fmla="*/ 555132 h 722084"/>
              <a:gd name="connsiteX54" fmla="*/ 2241550 w 2622550"/>
              <a:gd name="connsiteY54" fmla="*/ 497982 h 722084"/>
              <a:gd name="connsiteX55" fmla="*/ 2298700 w 2622550"/>
              <a:gd name="connsiteY55" fmla="*/ 555132 h 722084"/>
              <a:gd name="connsiteX56" fmla="*/ 2349500 w 2622550"/>
              <a:gd name="connsiteY56" fmla="*/ 517032 h 722084"/>
              <a:gd name="connsiteX57" fmla="*/ 2374900 w 2622550"/>
              <a:gd name="connsiteY57" fmla="*/ 517032 h 722084"/>
              <a:gd name="connsiteX58" fmla="*/ 2387600 w 2622550"/>
              <a:gd name="connsiteY58" fmla="*/ 542432 h 722084"/>
              <a:gd name="connsiteX59" fmla="*/ 2438400 w 2622550"/>
              <a:gd name="connsiteY59" fmla="*/ 510682 h 722084"/>
              <a:gd name="connsiteX60" fmla="*/ 2451100 w 2622550"/>
              <a:gd name="connsiteY60" fmla="*/ 491632 h 722084"/>
              <a:gd name="connsiteX61" fmla="*/ 2476500 w 2622550"/>
              <a:gd name="connsiteY61" fmla="*/ 561482 h 722084"/>
              <a:gd name="connsiteX62" fmla="*/ 2501900 w 2622550"/>
              <a:gd name="connsiteY62" fmla="*/ 491632 h 722084"/>
              <a:gd name="connsiteX63" fmla="*/ 2533650 w 2622550"/>
              <a:gd name="connsiteY63" fmla="*/ 567832 h 722084"/>
              <a:gd name="connsiteX64" fmla="*/ 2584450 w 2622550"/>
              <a:gd name="connsiteY64" fmla="*/ 580532 h 722084"/>
              <a:gd name="connsiteX65" fmla="*/ 2622550 w 2622550"/>
              <a:gd name="connsiteY65"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17613 w 2622550"/>
              <a:gd name="connsiteY32" fmla="*/ 564657 h 722084"/>
              <a:gd name="connsiteX33" fmla="*/ 1295400 w 2622550"/>
              <a:gd name="connsiteY33" fmla="*/ 547988 h 722084"/>
              <a:gd name="connsiteX34" fmla="*/ 1320800 w 2622550"/>
              <a:gd name="connsiteY34" fmla="*/ 529732 h 722084"/>
              <a:gd name="connsiteX35" fmla="*/ 1377157 w 2622550"/>
              <a:gd name="connsiteY35" fmla="*/ 517825 h 722084"/>
              <a:gd name="connsiteX36" fmla="*/ 1403350 w 2622550"/>
              <a:gd name="connsiteY36" fmla="*/ 561482 h 722084"/>
              <a:gd name="connsiteX37" fmla="*/ 1473200 w 2622550"/>
              <a:gd name="connsiteY37" fmla="*/ 586882 h 722084"/>
              <a:gd name="connsiteX38" fmla="*/ 1517650 w 2622550"/>
              <a:gd name="connsiteY38" fmla="*/ 497982 h 722084"/>
              <a:gd name="connsiteX39" fmla="*/ 1619250 w 2622550"/>
              <a:gd name="connsiteY39" fmla="*/ 605932 h 722084"/>
              <a:gd name="connsiteX40" fmla="*/ 1587500 w 2622550"/>
              <a:gd name="connsiteY40" fmla="*/ 542432 h 722084"/>
              <a:gd name="connsiteX41" fmla="*/ 1682750 w 2622550"/>
              <a:gd name="connsiteY41" fmla="*/ 567832 h 722084"/>
              <a:gd name="connsiteX42" fmla="*/ 1708150 w 2622550"/>
              <a:gd name="connsiteY42" fmla="*/ 536082 h 722084"/>
              <a:gd name="connsiteX43" fmla="*/ 1758950 w 2622550"/>
              <a:gd name="connsiteY43" fmla="*/ 555132 h 722084"/>
              <a:gd name="connsiteX44" fmla="*/ 1790700 w 2622550"/>
              <a:gd name="connsiteY44" fmla="*/ 510682 h 722084"/>
              <a:gd name="connsiteX45" fmla="*/ 1816100 w 2622550"/>
              <a:gd name="connsiteY45" fmla="*/ 523382 h 722084"/>
              <a:gd name="connsiteX46" fmla="*/ 1822450 w 2622550"/>
              <a:gd name="connsiteY46" fmla="*/ 580532 h 722084"/>
              <a:gd name="connsiteX47" fmla="*/ 1847850 w 2622550"/>
              <a:gd name="connsiteY47" fmla="*/ 504332 h 722084"/>
              <a:gd name="connsiteX48" fmla="*/ 1879600 w 2622550"/>
              <a:gd name="connsiteY48" fmla="*/ 21732 h 722084"/>
              <a:gd name="connsiteX49" fmla="*/ 1930400 w 2622550"/>
              <a:gd name="connsiteY49" fmla="*/ 701182 h 722084"/>
              <a:gd name="connsiteX50" fmla="*/ 1968500 w 2622550"/>
              <a:gd name="connsiteY50" fmla="*/ 548782 h 722084"/>
              <a:gd name="connsiteX51" fmla="*/ 2032000 w 2622550"/>
              <a:gd name="connsiteY51" fmla="*/ 555132 h 722084"/>
              <a:gd name="connsiteX52" fmla="*/ 2044700 w 2622550"/>
              <a:gd name="connsiteY52" fmla="*/ 510682 h 722084"/>
              <a:gd name="connsiteX53" fmla="*/ 2152650 w 2622550"/>
              <a:gd name="connsiteY53" fmla="*/ 555132 h 722084"/>
              <a:gd name="connsiteX54" fmla="*/ 2241550 w 2622550"/>
              <a:gd name="connsiteY54" fmla="*/ 497982 h 722084"/>
              <a:gd name="connsiteX55" fmla="*/ 2298700 w 2622550"/>
              <a:gd name="connsiteY55" fmla="*/ 555132 h 722084"/>
              <a:gd name="connsiteX56" fmla="*/ 2349500 w 2622550"/>
              <a:gd name="connsiteY56" fmla="*/ 517032 h 722084"/>
              <a:gd name="connsiteX57" fmla="*/ 2374900 w 2622550"/>
              <a:gd name="connsiteY57" fmla="*/ 517032 h 722084"/>
              <a:gd name="connsiteX58" fmla="*/ 2387600 w 2622550"/>
              <a:gd name="connsiteY58" fmla="*/ 542432 h 722084"/>
              <a:gd name="connsiteX59" fmla="*/ 2438400 w 2622550"/>
              <a:gd name="connsiteY59" fmla="*/ 510682 h 722084"/>
              <a:gd name="connsiteX60" fmla="*/ 2451100 w 2622550"/>
              <a:gd name="connsiteY60" fmla="*/ 491632 h 722084"/>
              <a:gd name="connsiteX61" fmla="*/ 2476500 w 2622550"/>
              <a:gd name="connsiteY61" fmla="*/ 561482 h 722084"/>
              <a:gd name="connsiteX62" fmla="*/ 2501900 w 2622550"/>
              <a:gd name="connsiteY62" fmla="*/ 491632 h 722084"/>
              <a:gd name="connsiteX63" fmla="*/ 2533650 w 2622550"/>
              <a:gd name="connsiteY63" fmla="*/ 567832 h 722084"/>
              <a:gd name="connsiteX64" fmla="*/ 2584450 w 2622550"/>
              <a:gd name="connsiteY64" fmla="*/ 580532 h 722084"/>
              <a:gd name="connsiteX65" fmla="*/ 2622550 w 2622550"/>
              <a:gd name="connsiteY65"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17613 w 2622550"/>
              <a:gd name="connsiteY32" fmla="*/ 564657 h 722084"/>
              <a:gd name="connsiteX33" fmla="*/ 1295400 w 2622550"/>
              <a:gd name="connsiteY33" fmla="*/ 547988 h 722084"/>
              <a:gd name="connsiteX34" fmla="*/ 1320800 w 2622550"/>
              <a:gd name="connsiteY34" fmla="*/ 529732 h 722084"/>
              <a:gd name="connsiteX35" fmla="*/ 1377157 w 2622550"/>
              <a:gd name="connsiteY35" fmla="*/ 517825 h 722084"/>
              <a:gd name="connsiteX36" fmla="*/ 1403350 w 2622550"/>
              <a:gd name="connsiteY36" fmla="*/ 561482 h 722084"/>
              <a:gd name="connsiteX37" fmla="*/ 1424781 w 2622550"/>
              <a:gd name="connsiteY37" fmla="*/ 548941 h 722084"/>
              <a:gd name="connsiteX38" fmla="*/ 1473200 w 2622550"/>
              <a:gd name="connsiteY38" fmla="*/ 586882 h 722084"/>
              <a:gd name="connsiteX39" fmla="*/ 1517650 w 2622550"/>
              <a:gd name="connsiteY39" fmla="*/ 497982 h 722084"/>
              <a:gd name="connsiteX40" fmla="*/ 1619250 w 2622550"/>
              <a:gd name="connsiteY40" fmla="*/ 605932 h 722084"/>
              <a:gd name="connsiteX41" fmla="*/ 1587500 w 2622550"/>
              <a:gd name="connsiteY41" fmla="*/ 542432 h 722084"/>
              <a:gd name="connsiteX42" fmla="*/ 1682750 w 2622550"/>
              <a:gd name="connsiteY42" fmla="*/ 567832 h 722084"/>
              <a:gd name="connsiteX43" fmla="*/ 1708150 w 2622550"/>
              <a:gd name="connsiteY43" fmla="*/ 536082 h 722084"/>
              <a:gd name="connsiteX44" fmla="*/ 1758950 w 2622550"/>
              <a:gd name="connsiteY44" fmla="*/ 555132 h 722084"/>
              <a:gd name="connsiteX45" fmla="*/ 1790700 w 2622550"/>
              <a:gd name="connsiteY45" fmla="*/ 510682 h 722084"/>
              <a:gd name="connsiteX46" fmla="*/ 1816100 w 2622550"/>
              <a:gd name="connsiteY46" fmla="*/ 523382 h 722084"/>
              <a:gd name="connsiteX47" fmla="*/ 1822450 w 2622550"/>
              <a:gd name="connsiteY47" fmla="*/ 580532 h 722084"/>
              <a:gd name="connsiteX48" fmla="*/ 1847850 w 2622550"/>
              <a:gd name="connsiteY48" fmla="*/ 504332 h 722084"/>
              <a:gd name="connsiteX49" fmla="*/ 1879600 w 2622550"/>
              <a:gd name="connsiteY49" fmla="*/ 21732 h 722084"/>
              <a:gd name="connsiteX50" fmla="*/ 1930400 w 2622550"/>
              <a:gd name="connsiteY50" fmla="*/ 701182 h 722084"/>
              <a:gd name="connsiteX51" fmla="*/ 1968500 w 2622550"/>
              <a:gd name="connsiteY51" fmla="*/ 548782 h 722084"/>
              <a:gd name="connsiteX52" fmla="*/ 2032000 w 2622550"/>
              <a:gd name="connsiteY52" fmla="*/ 555132 h 722084"/>
              <a:gd name="connsiteX53" fmla="*/ 2044700 w 2622550"/>
              <a:gd name="connsiteY53" fmla="*/ 510682 h 722084"/>
              <a:gd name="connsiteX54" fmla="*/ 2152650 w 2622550"/>
              <a:gd name="connsiteY54" fmla="*/ 555132 h 722084"/>
              <a:gd name="connsiteX55" fmla="*/ 2241550 w 2622550"/>
              <a:gd name="connsiteY55" fmla="*/ 497982 h 722084"/>
              <a:gd name="connsiteX56" fmla="*/ 2298700 w 2622550"/>
              <a:gd name="connsiteY56" fmla="*/ 555132 h 722084"/>
              <a:gd name="connsiteX57" fmla="*/ 2349500 w 2622550"/>
              <a:gd name="connsiteY57" fmla="*/ 517032 h 722084"/>
              <a:gd name="connsiteX58" fmla="*/ 2374900 w 2622550"/>
              <a:gd name="connsiteY58" fmla="*/ 517032 h 722084"/>
              <a:gd name="connsiteX59" fmla="*/ 2387600 w 2622550"/>
              <a:gd name="connsiteY59" fmla="*/ 542432 h 722084"/>
              <a:gd name="connsiteX60" fmla="*/ 2438400 w 2622550"/>
              <a:gd name="connsiteY60" fmla="*/ 510682 h 722084"/>
              <a:gd name="connsiteX61" fmla="*/ 2451100 w 2622550"/>
              <a:gd name="connsiteY61" fmla="*/ 491632 h 722084"/>
              <a:gd name="connsiteX62" fmla="*/ 2476500 w 2622550"/>
              <a:gd name="connsiteY62" fmla="*/ 561482 h 722084"/>
              <a:gd name="connsiteX63" fmla="*/ 2501900 w 2622550"/>
              <a:gd name="connsiteY63" fmla="*/ 491632 h 722084"/>
              <a:gd name="connsiteX64" fmla="*/ 2533650 w 2622550"/>
              <a:gd name="connsiteY64" fmla="*/ 567832 h 722084"/>
              <a:gd name="connsiteX65" fmla="*/ 2584450 w 2622550"/>
              <a:gd name="connsiteY65" fmla="*/ 580532 h 722084"/>
              <a:gd name="connsiteX66" fmla="*/ 2622550 w 2622550"/>
              <a:gd name="connsiteY66"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17613 w 2622550"/>
              <a:gd name="connsiteY32" fmla="*/ 564657 h 722084"/>
              <a:gd name="connsiteX33" fmla="*/ 1295400 w 2622550"/>
              <a:gd name="connsiteY33" fmla="*/ 547988 h 722084"/>
              <a:gd name="connsiteX34" fmla="*/ 1320800 w 2622550"/>
              <a:gd name="connsiteY34" fmla="*/ 529732 h 722084"/>
              <a:gd name="connsiteX35" fmla="*/ 1377157 w 2622550"/>
              <a:gd name="connsiteY35" fmla="*/ 517825 h 722084"/>
              <a:gd name="connsiteX36" fmla="*/ 1403350 w 2622550"/>
              <a:gd name="connsiteY36" fmla="*/ 561482 h 722084"/>
              <a:gd name="connsiteX37" fmla="*/ 1424781 w 2622550"/>
              <a:gd name="connsiteY37" fmla="*/ 548941 h 722084"/>
              <a:gd name="connsiteX38" fmla="*/ 1473200 w 2622550"/>
              <a:gd name="connsiteY38" fmla="*/ 551164 h 722084"/>
              <a:gd name="connsiteX39" fmla="*/ 1517650 w 2622550"/>
              <a:gd name="connsiteY39" fmla="*/ 497982 h 722084"/>
              <a:gd name="connsiteX40" fmla="*/ 1619250 w 2622550"/>
              <a:gd name="connsiteY40" fmla="*/ 605932 h 722084"/>
              <a:gd name="connsiteX41" fmla="*/ 1587500 w 2622550"/>
              <a:gd name="connsiteY41" fmla="*/ 542432 h 722084"/>
              <a:gd name="connsiteX42" fmla="*/ 1682750 w 2622550"/>
              <a:gd name="connsiteY42" fmla="*/ 567832 h 722084"/>
              <a:gd name="connsiteX43" fmla="*/ 1708150 w 2622550"/>
              <a:gd name="connsiteY43" fmla="*/ 536082 h 722084"/>
              <a:gd name="connsiteX44" fmla="*/ 1758950 w 2622550"/>
              <a:gd name="connsiteY44" fmla="*/ 555132 h 722084"/>
              <a:gd name="connsiteX45" fmla="*/ 1790700 w 2622550"/>
              <a:gd name="connsiteY45" fmla="*/ 510682 h 722084"/>
              <a:gd name="connsiteX46" fmla="*/ 1816100 w 2622550"/>
              <a:gd name="connsiteY46" fmla="*/ 523382 h 722084"/>
              <a:gd name="connsiteX47" fmla="*/ 1822450 w 2622550"/>
              <a:gd name="connsiteY47" fmla="*/ 580532 h 722084"/>
              <a:gd name="connsiteX48" fmla="*/ 1847850 w 2622550"/>
              <a:gd name="connsiteY48" fmla="*/ 504332 h 722084"/>
              <a:gd name="connsiteX49" fmla="*/ 1879600 w 2622550"/>
              <a:gd name="connsiteY49" fmla="*/ 21732 h 722084"/>
              <a:gd name="connsiteX50" fmla="*/ 1930400 w 2622550"/>
              <a:gd name="connsiteY50" fmla="*/ 701182 h 722084"/>
              <a:gd name="connsiteX51" fmla="*/ 1968500 w 2622550"/>
              <a:gd name="connsiteY51" fmla="*/ 548782 h 722084"/>
              <a:gd name="connsiteX52" fmla="*/ 2032000 w 2622550"/>
              <a:gd name="connsiteY52" fmla="*/ 555132 h 722084"/>
              <a:gd name="connsiteX53" fmla="*/ 2044700 w 2622550"/>
              <a:gd name="connsiteY53" fmla="*/ 510682 h 722084"/>
              <a:gd name="connsiteX54" fmla="*/ 2152650 w 2622550"/>
              <a:gd name="connsiteY54" fmla="*/ 555132 h 722084"/>
              <a:gd name="connsiteX55" fmla="*/ 2241550 w 2622550"/>
              <a:gd name="connsiteY55" fmla="*/ 497982 h 722084"/>
              <a:gd name="connsiteX56" fmla="*/ 2298700 w 2622550"/>
              <a:gd name="connsiteY56" fmla="*/ 555132 h 722084"/>
              <a:gd name="connsiteX57" fmla="*/ 2349500 w 2622550"/>
              <a:gd name="connsiteY57" fmla="*/ 517032 h 722084"/>
              <a:gd name="connsiteX58" fmla="*/ 2374900 w 2622550"/>
              <a:gd name="connsiteY58" fmla="*/ 517032 h 722084"/>
              <a:gd name="connsiteX59" fmla="*/ 2387600 w 2622550"/>
              <a:gd name="connsiteY59" fmla="*/ 542432 h 722084"/>
              <a:gd name="connsiteX60" fmla="*/ 2438400 w 2622550"/>
              <a:gd name="connsiteY60" fmla="*/ 510682 h 722084"/>
              <a:gd name="connsiteX61" fmla="*/ 2451100 w 2622550"/>
              <a:gd name="connsiteY61" fmla="*/ 491632 h 722084"/>
              <a:gd name="connsiteX62" fmla="*/ 2476500 w 2622550"/>
              <a:gd name="connsiteY62" fmla="*/ 561482 h 722084"/>
              <a:gd name="connsiteX63" fmla="*/ 2501900 w 2622550"/>
              <a:gd name="connsiteY63" fmla="*/ 491632 h 722084"/>
              <a:gd name="connsiteX64" fmla="*/ 2533650 w 2622550"/>
              <a:gd name="connsiteY64" fmla="*/ 567832 h 722084"/>
              <a:gd name="connsiteX65" fmla="*/ 2584450 w 2622550"/>
              <a:gd name="connsiteY65" fmla="*/ 580532 h 722084"/>
              <a:gd name="connsiteX66" fmla="*/ 2622550 w 2622550"/>
              <a:gd name="connsiteY66"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17613 w 2622550"/>
              <a:gd name="connsiteY32" fmla="*/ 564657 h 722084"/>
              <a:gd name="connsiteX33" fmla="*/ 1295400 w 2622550"/>
              <a:gd name="connsiteY33" fmla="*/ 547988 h 722084"/>
              <a:gd name="connsiteX34" fmla="*/ 1320800 w 2622550"/>
              <a:gd name="connsiteY34" fmla="*/ 529732 h 722084"/>
              <a:gd name="connsiteX35" fmla="*/ 1377157 w 2622550"/>
              <a:gd name="connsiteY35" fmla="*/ 517825 h 722084"/>
              <a:gd name="connsiteX36" fmla="*/ 1403350 w 2622550"/>
              <a:gd name="connsiteY36" fmla="*/ 561482 h 722084"/>
              <a:gd name="connsiteX37" fmla="*/ 1424781 w 2622550"/>
              <a:gd name="connsiteY37" fmla="*/ 548941 h 722084"/>
              <a:gd name="connsiteX38" fmla="*/ 1473200 w 2622550"/>
              <a:gd name="connsiteY38" fmla="*/ 551164 h 722084"/>
              <a:gd name="connsiteX39" fmla="*/ 1517650 w 2622550"/>
              <a:gd name="connsiteY39" fmla="*/ 545607 h 722084"/>
              <a:gd name="connsiteX40" fmla="*/ 1619250 w 2622550"/>
              <a:gd name="connsiteY40" fmla="*/ 605932 h 722084"/>
              <a:gd name="connsiteX41" fmla="*/ 1587500 w 2622550"/>
              <a:gd name="connsiteY41" fmla="*/ 542432 h 722084"/>
              <a:gd name="connsiteX42" fmla="*/ 1682750 w 2622550"/>
              <a:gd name="connsiteY42" fmla="*/ 567832 h 722084"/>
              <a:gd name="connsiteX43" fmla="*/ 1708150 w 2622550"/>
              <a:gd name="connsiteY43" fmla="*/ 536082 h 722084"/>
              <a:gd name="connsiteX44" fmla="*/ 1758950 w 2622550"/>
              <a:gd name="connsiteY44" fmla="*/ 555132 h 722084"/>
              <a:gd name="connsiteX45" fmla="*/ 1790700 w 2622550"/>
              <a:gd name="connsiteY45" fmla="*/ 510682 h 722084"/>
              <a:gd name="connsiteX46" fmla="*/ 1816100 w 2622550"/>
              <a:gd name="connsiteY46" fmla="*/ 523382 h 722084"/>
              <a:gd name="connsiteX47" fmla="*/ 1822450 w 2622550"/>
              <a:gd name="connsiteY47" fmla="*/ 580532 h 722084"/>
              <a:gd name="connsiteX48" fmla="*/ 1847850 w 2622550"/>
              <a:gd name="connsiteY48" fmla="*/ 504332 h 722084"/>
              <a:gd name="connsiteX49" fmla="*/ 1879600 w 2622550"/>
              <a:gd name="connsiteY49" fmla="*/ 21732 h 722084"/>
              <a:gd name="connsiteX50" fmla="*/ 1930400 w 2622550"/>
              <a:gd name="connsiteY50" fmla="*/ 701182 h 722084"/>
              <a:gd name="connsiteX51" fmla="*/ 1968500 w 2622550"/>
              <a:gd name="connsiteY51" fmla="*/ 548782 h 722084"/>
              <a:gd name="connsiteX52" fmla="*/ 2032000 w 2622550"/>
              <a:gd name="connsiteY52" fmla="*/ 555132 h 722084"/>
              <a:gd name="connsiteX53" fmla="*/ 2044700 w 2622550"/>
              <a:gd name="connsiteY53" fmla="*/ 510682 h 722084"/>
              <a:gd name="connsiteX54" fmla="*/ 2152650 w 2622550"/>
              <a:gd name="connsiteY54" fmla="*/ 555132 h 722084"/>
              <a:gd name="connsiteX55" fmla="*/ 2241550 w 2622550"/>
              <a:gd name="connsiteY55" fmla="*/ 497982 h 722084"/>
              <a:gd name="connsiteX56" fmla="*/ 2298700 w 2622550"/>
              <a:gd name="connsiteY56" fmla="*/ 555132 h 722084"/>
              <a:gd name="connsiteX57" fmla="*/ 2349500 w 2622550"/>
              <a:gd name="connsiteY57" fmla="*/ 517032 h 722084"/>
              <a:gd name="connsiteX58" fmla="*/ 2374900 w 2622550"/>
              <a:gd name="connsiteY58" fmla="*/ 517032 h 722084"/>
              <a:gd name="connsiteX59" fmla="*/ 2387600 w 2622550"/>
              <a:gd name="connsiteY59" fmla="*/ 542432 h 722084"/>
              <a:gd name="connsiteX60" fmla="*/ 2438400 w 2622550"/>
              <a:gd name="connsiteY60" fmla="*/ 510682 h 722084"/>
              <a:gd name="connsiteX61" fmla="*/ 2451100 w 2622550"/>
              <a:gd name="connsiteY61" fmla="*/ 491632 h 722084"/>
              <a:gd name="connsiteX62" fmla="*/ 2476500 w 2622550"/>
              <a:gd name="connsiteY62" fmla="*/ 561482 h 722084"/>
              <a:gd name="connsiteX63" fmla="*/ 2501900 w 2622550"/>
              <a:gd name="connsiteY63" fmla="*/ 491632 h 722084"/>
              <a:gd name="connsiteX64" fmla="*/ 2533650 w 2622550"/>
              <a:gd name="connsiteY64" fmla="*/ 567832 h 722084"/>
              <a:gd name="connsiteX65" fmla="*/ 2584450 w 2622550"/>
              <a:gd name="connsiteY65" fmla="*/ 580532 h 722084"/>
              <a:gd name="connsiteX66" fmla="*/ 2622550 w 2622550"/>
              <a:gd name="connsiteY66"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17613 w 2622550"/>
              <a:gd name="connsiteY32" fmla="*/ 564657 h 722084"/>
              <a:gd name="connsiteX33" fmla="*/ 1295400 w 2622550"/>
              <a:gd name="connsiteY33" fmla="*/ 547988 h 722084"/>
              <a:gd name="connsiteX34" fmla="*/ 1320800 w 2622550"/>
              <a:gd name="connsiteY34" fmla="*/ 529732 h 722084"/>
              <a:gd name="connsiteX35" fmla="*/ 1377157 w 2622550"/>
              <a:gd name="connsiteY35" fmla="*/ 517825 h 722084"/>
              <a:gd name="connsiteX36" fmla="*/ 1403350 w 2622550"/>
              <a:gd name="connsiteY36" fmla="*/ 561482 h 722084"/>
              <a:gd name="connsiteX37" fmla="*/ 1424781 w 2622550"/>
              <a:gd name="connsiteY37" fmla="*/ 548941 h 722084"/>
              <a:gd name="connsiteX38" fmla="*/ 1473200 w 2622550"/>
              <a:gd name="connsiteY38" fmla="*/ 551164 h 722084"/>
              <a:gd name="connsiteX39" fmla="*/ 1517650 w 2622550"/>
              <a:gd name="connsiteY39" fmla="*/ 545607 h 722084"/>
              <a:gd name="connsiteX40" fmla="*/ 1583531 w 2622550"/>
              <a:gd name="connsiteY40" fmla="*/ 601169 h 722084"/>
              <a:gd name="connsiteX41" fmla="*/ 1587500 w 2622550"/>
              <a:gd name="connsiteY41" fmla="*/ 542432 h 722084"/>
              <a:gd name="connsiteX42" fmla="*/ 1682750 w 2622550"/>
              <a:gd name="connsiteY42" fmla="*/ 567832 h 722084"/>
              <a:gd name="connsiteX43" fmla="*/ 1708150 w 2622550"/>
              <a:gd name="connsiteY43" fmla="*/ 536082 h 722084"/>
              <a:gd name="connsiteX44" fmla="*/ 1758950 w 2622550"/>
              <a:gd name="connsiteY44" fmla="*/ 555132 h 722084"/>
              <a:gd name="connsiteX45" fmla="*/ 1790700 w 2622550"/>
              <a:gd name="connsiteY45" fmla="*/ 510682 h 722084"/>
              <a:gd name="connsiteX46" fmla="*/ 1816100 w 2622550"/>
              <a:gd name="connsiteY46" fmla="*/ 523382 h 722084"/>
              <a:gd name="connsiteX47" fmla="*/ 1822450 w 2622550"/>
              <a:gd name="connsiteY47" fmla="*/ 580532 h 722084"/>
              <a:gd name="connsiteX48" fmla="*/ 1847850 w 2622550"/>
              <a:gd name="connsiteY48" fmla="*/ 504332 h 722084"/>
              <a:gd name="connsiteX49" fmla="*/ 1879600 w 2622550"/>
              <a:gd name="connsiteY49" fmla="*/ 21732 h 722084"/>
              <a:gd name="connsiteX50" fmla="*/ 1930400 w 2622550"/>
              <a:gd name="connsiteY50" fmla="*/ 701182 h 722084"/>
              <a:gd name="connsiteX51" fmla="*/ 1968500 w 2622550"/>
              <a:gd name="connsiteY51" fmla="*/ 548782 h 722084"/>
              <a:gd name="connsiteX52" fmla="*/ 2032000 w 2622550"/>
              <a:gd name="connsiteY52" fmla="*/ 555132 h 722084"/>
              <a:gd name="connsiteX53" fmla="*/ 2044700 w 2622550"/>
              <a:gd name="connsiteY53" fmla="*/ 510682 h 722084"/>
              <a:gd name="connsiteX54" fmla="*/ 2152650 w 2622550"/>
              <a:gd name="connsiteY54" fmla="*/ 555132 h 722084"/>
              <a:gd name="connsiteX55" fmla="*/ 2241550 w 2622550"/>
              <a:gd name="connsiteY55" fmla="*/ 497982 h 722084"/>
              <a:gd name="connsiteX56" fmla="*/ 2298700 w 2622550"/>
              <a:gd name="connsiteY56" fmla="*/ 555132 h 722084"/>
              <a:gd name="connsiteX57" fmla="*/ 2349500 w 2622550"/>
              <a:gd name="connsiteY57" fmla="*/ 517032 h 722084"/>
              <a:gd name="connsiteX58" fmla="*/ 2374900 w 2622550"/>
              <a:gd name="connsiteY58" fmla="*/ 517032 h 722084"/>
              <a:gd name="connsiteX59" fmla="*/ 2387600 w 2622550"/>
              <a:gd name="connsiteY59" fmla="*/ 542432 h 722084"/>
              <a:gd name="connsiteX60" fmla="*/ 2438400 w 2622550"/>
              <a:gd name="connsiteY60" fmla="*/ 510682 h 722084"/>
              <a:gd name="connsiteX61" fmla="*/ 2451100 w 2622550"/>
              <a:gd name="connsiteY61" fmla="*/ 491632 h 722084"/>
              <a:gd name="connsiteX62" fmla="*/ 2476500 w 2622550"/>
              <a:gd name="connsiteY62" fmla="*/ 561482 h 722084"/>
              <a:gd name="connsiteX63" fmla="*/ 2501900 w 2622550"/>
              <a:gd name="connsiteY63" fmla="*/ 491632 h 722084"/>
              <a:gd name="connsiteX64" fmla="*/ 2533650 w 2622550"/>
              <a:gd name="connsiteY64" fmla="*/ 567832 h 722084"/>
              <a:gd name="connsiteX65" fmla="*/ 2584450 w 2622550"/>
              <a:gd name="connsiteY65" fmla="*/ 580532 h 722084"/>
              <a:gd name="connsiteX66" fmla="*/ 2622550 w 2622550"/>
              <a:gd name="connsiteY66"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17613 w 2622550"/>
              <a:gd name="connsiteY32" fmla="*/ 564657 h 722084"/>
              <a:gd name="connsiteX33" fmla="*/ 1295400 w 2622550"/>
              <a:gd name="connsiteY33" fmla="*/ 547988 h 722084"/>
              <a:gd name="connsiteX34" fmla="*/ 1320800 w 2622550"/>
              <a:gd name="connsiteY34" fmla="*/ 529732 h 722084"/>
              <a:gd name="connsiteX35" fmla="*/ 1377157 w 2622550"/>
              <a:gd name="connsiteY35" fmla="*/ 517825 h 722084"/>
              <a:gd name="connsiteX36" fmla="*/ 1403350 w 2622550"/>
              <a:gd name="connsiteY36" fmla="*/ 561482 h 722084"/>
              <a:gd name="connsiteX37" fmla="*/ 1424781 w 2622550"/>
              <a:gd name="connsiteY37" fmla="*/ 548941 h 722084"/>
              <a:gd name="connsiteX38" fmla="*/ 1473200 w 2622550"/>
              <a:gd name="connsiteY38" fmla="*/ 551164 h 722084"/>
              <a:gd name="connsiteX39" fmla="*/ 1517650 w 2622550"/>
              <a:gd name="connsiteY39" fmla="*/ 545607 h 722084"/>
              <a:gd name="connsiteX40" fmla="*/ 1583531 w 2622550"/>
              <a:gd name="connsiteY40" fmla="*/ 601169 h 722084"/>
              <a:gd name="connsiteX41" fmla="*/ 1613693 w 2622550"/>
              <a:gd name="connsiteY41" fmla="*/ 549575 h 722084"/>
              <a:gd name="connsiteX42" fmla="*/ 1682750 w 2622550"/>
              <a:gd name="connsiteY42" fmla="*/ 567832 h 722084"/>
              <a:gd name="connsiteX43" fmla="*/ 1708150 w 2622550"/>
              <a:gd name="connsiteY43" fmla="*/ 536082 h 722084"/>
              <a:gd name="connsiteX44" fmla="*/ 1758950 w 2622550"/>
              <a:gd name="connsiteY44" fmla="*/ 555132 h 722084"/>
              <a:gd name="connsiteX45" fmla="*/ 1790700 w 2622550"/>
              <a:gd name="connsiteY45" fmla="*/ 510682 h 722084"/>
              <a:gd name="connsiteX46" fmla="*/ 1816100 w 2622550"/>
              <a:gd name="connsiteY46" fmla="*/ 523382 h 722084"/>
              <a:gd name="connsiteX47" fmla="*/ 1822450 w 2622550"/>
              <a:gd name="connsiteY47" fmla="*/ 580532 h 722084"/>
              <a:gd name="connsiteX48" fmla="*/ 1847850 w 2622550"/>
              <a:gd name="connsiteY48" fmla="*/ 504332 h 722084"/>
              <a:gd name="connsiteX49" fmla="*/ 1879600 w 2622550"/>
              <a:gd name="connsiteY49" fmla="*/ 21732 h 722084"/>
              <a:gd name="connsiteX50" fmla="*/ 1930400 w 2622550"/>
              <a:gd name="connsiteY50" fmla="*/ 701182 h 722084"/>
              <a:gd name="connsiteX51" fmla="*/ 1968500 w 2622550"/>
              <a:gd name="connsiteY51" fmla="*/ 548782 h 722084"/>
              <a:gd name="connsiteX52" fmla="*/ 2032000 w 2622550"/>
              <a:gd name="connsiteY52" fmla="*/ 555132 h 722084"/>
              <a:gd name="connsiteX53" fmla="*/ 2044700 w 2622550"/>
              <a:gd name="connsiteY53" fmla="*/ 510682 h 722084"/>
              <a:gd name="connsiteX54" fmla="*/ 2152650 w 2622550"/>
              <a:gd name="connsiteY54" fmla="*/ 555132 h 722084"/>
              <a:gd name="connsiteX55" fmla="*/ 2241550 w 2622550"/>
              <a:gd name="connsiteY55" fmla="*/ 497982 h 722084"/>
              <a:gd name="connsiteX56" fmla="*/ 2298700 w 2622550"/>
              <a:gd name="connsiteY56" fmla="*/ 555132 h 722084"/>
              <a:gd name="connsiteX57" fmla="*/ 2349500 w 2622550"/>
              <a:gd name="connsiteY57" fmla="*/ 517032 h 722084"/>
              <a:gd name="connsiteX58" fmla="*/ 2374900 w 2622550"/>
              <a:gd name="connsiteY58" fmla="*/ 517032 h 722084"/>
              <a:gd name="connsiteX59" fmla="*/ 2387600 w 2622550"/>
              <a:gd name="connsiteY59" fmla="*/ 542432 h 722084"/>
              <a:gd name="connsiteX60" fmla="*/ 2438400 w 2622550"/>
              <a:gd name="connsiteY60" fmla="*/ 510682 h 722084"/>
              <a:gd name="connsiteX61" fmla="*/ 2451100 w 2622550"/>
              <a:gd name="connsiteY61" fmla="*/ 491632 h 722084"/>
              <a:gd name="connsiteX62" fmla="*/ 2476500 w 2622550"/>
              <a:gd name="connsiteY62" fmla="*/ 561482 h 722084"/>
              <a:gd name="connsiteX63" fmla="*/ 2501900 w 2622550"/>
              <a:gd name="connsiteY63" fmla="*/ 491632 h 722084"/>
              <a:gd name="connsiteX64" fmla="*/ 2533650 w 2622550"/>
              <a:gd name="connsiteY64" fmla="*/ 567832 h 722084"/>
              <a:gd name="connsiteX65" fmla="*/ 2584450 w 2622550"/>
              <a:gd name="connsiteY65" fmla="*/ 580532 h 722084"/>
              <a:gd name="connsiteX66" fmla="*/ 2622550 w 2622550"/>
              <a:gd name="connsiteY66"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17613 w 2622550"/>
              <a:gd name="connsiteY32" fmla="*/ 564657 h 722084"/>
              <a:gd name="connsiteX33" fmla="*/ 1295400 w 2622550"/>
              <a:gd name="connsiteY33" fmla="*/ 547988 h 722084"/>
              <a:gd name="connsiteX34" fmla="*/ 1320800 w 2622550"/>
              <a:gd name="connsiteY34" fmla="*/ 529732 h 722084"/>
              <a:gd name="connsiteX35" fmla="*/ 1377157 w 2622550"/>
              <a:gd name="connsiteY35" fmla="*/ 517825 h 722084"/>
              <a:gd name="connsiteX36" fmla="*/ 1403350 w 2622550"/>
              <a:gd name="connsiteY36" fmla="*/ 561482 h 722084"/>
              <a:gd name="connsiteX37" fmla="*/ 1424781 w 2622550"/>
              <a:gd name="connsiteY37" fmla="*/ 548941 h 722084"/>
              <a:gd name="connsiteX38" fmla="*/ 1473200 w 2622550"/>
              <a:gd name="connsiteY38" fmla="*/ 551164 h 722084"/>
              <a:gd name="connsiteX39" fmla="*/ 1517650 w 2622550"/>
              <a:gd name="connsiteY39" fmla="*/ 545607 h 722084"/>
              <a:gd name="connsiteX40" fmla="*/ 1583531 w 2622550"/>
              <a:gd name="connsiteY40" fmla="*/ 601169 h 722084"/>
              <a:gd name="connsiteX41" fmla="*/ 1613693 w 2622550"/>
              <a:gd name="connsiteY41" fmla="*/ 549575 h 722084"/>
              <a:gd name="connsiteX42" fmla="*/ 1656556 w 2622550"/>
              <a:gd name="connsiteY42" fmla="*/ 579738 h 722084"/>
              <a:gd name="connsiteX43" fmla="*/ 1708150 w 2622550"/>
              <a:gd name="connsiteY43" fmla="*/ 536082 h 722084"/>
              <a:gd name="connsiteX44" fmla="*/ 1758950 w 2622550"/>
              <a:gd name="connsiteY44" fmla="*/ 555132 h 722084"/>
              <a:gd name="connsiteX45" fmla="*/ 1790700 w 2622550"/>
              <a:gd name="connsiteY45" fmla="*/ 510682 h 722084"/>
              <a:gd name="connsiteX46" fmla="*/ 1816100 w 2622550"/>
              <a:gd name="connsiteY46" fmla="*/ 523382 h 722084"/>
              <a:gd name="connsiteX47" fmla="*/ 1822450 w 2622550"/>
              <a:gd name="connsiteY47" fmla="*/ 580532 h 722084"/>
              <a:gd name="connsiteX48" fmla="*/ 1847850 w 2622550"/>
              <a:gd name="connsiteY48" fmla="*/ 504332 h 722084"/>
              <a:gd name="connsiteX49" fmla="*/ 1879600 w 2622550"/>
              <a:gd name="connsiteY49" fmla="*/ 21732 h 722084"/>
              <a:gd name="connsiteX50" fmla="*/ 1930400 w 2622550"/>
              <a:gd name="connsiteY50" fmla="*/ 701182 h 722084"/>
              <a:gd name="connsiteX51" fmla="*/ 1968500 w 2622550"/>
              <a:gd name="connsiteY51" fmla="*/ 548782 h 722084"/>
              <a:gd name="connsiteX52" fmla="*/ 2032000 w 2622550"/>
              <a:gd name="connsiteY52" fmla="*/ 555132 h 722084"/>
              <a:gd name="connsiteX53" fmla="*/ 2044700 w 2622550"/>
              <a:gd name="connsiteY53" fmla="*/ 510682 h 722084"/>
              <a:gd name="connsiteX54" fmla="*/ 2152650 w 2622550"/>
              <a:gd name="connsiteY54" fmla="*/ 555132 h 722084"/>
              <a:gd name="connsiteX55" fmla="*/ 2241550 w 2622550"/>
              <a:gd name="connsiteY55" fmla="*/ 497982 h 722084"/>
              <a:gd name="connsiteX56" fmla="*/ 2298700 w 2622550"/>
              <a:gd name="connsiteY56" fmla="*/ 555132 h 722084"/>
              <a:gd name="connsiteX57" fmla="*/ 2349500 w 2622550"/>
              <a:gd name="connsiteY57" fmla="*/ 517032 h 722084"/>
              <a:gd name="connsiteX58" fmla="*/ 2374900 w 2622550"/>
              <a:gd name="connsiteY58" fmla="*/ 517032 h 722084"/>
              <a:gd name="connsiteX59" fmla="*/ 2387600 w 2622550"/>
              <a:gd name="connsiteY59" fmla="*/ 542432 h 722084"/>
              <a:gd name="connsiteX60" fmla="*/ 2438400 w 2622550"/>
              <a:gd name="connsiteY60" fmla="*/ 510682 h 722084"/>
              <a:gd name="connsiteX61" fmla="*/ 2451100 w 2622550"/>
              <a:gd name="connsiteY61" fmla="*/ 491632 h 722084"/>
              <a:gd name="connsiteX62" fmla="*/ 2476500 w 2622550"/>
              <a:gd name="connsiteY62" fmla="*/ 561482 h 722084"/>
              <a:gd name="connsiteX63" fmla="*/ 2501900 w 2622550"/>
              <a:gd name="connsiteY63" fmla="*/ 491632 h 722084"/>
              <a:gd name="connsiteX64" fmla="*/ 2533650 w 2622550"/>
              <a:gd name="connsiteY64" fmla="*/ 567832 h 722084"/>
              <a:gd name="connsiteX65" fmla="*/ 2584450 w 2622550"/>
              <a:gd name="connsiteY65" fmla="*/ 580532 h 722084"/>
              <a:gd name="connsiteX66" fmla="*/ 2622550 w 2622550"/>
              <a:gd name="connsiteY66" fmla="*/ 567832 h 722084"/>
              <a:gd name="connsiteX0" fmla="*/ 0 w 2622550"/>
              <a:gd name="connsiteY0" fmla="*/ 542432 h 722084"/>
              <a:gd name="connsiteX1" fmla="*/ 63500 w 2622550"/>
              <a:gd name="connsiteY1" fmla="*/ 561482 h 722084"/>
              <a:gd name="connsiteX2" fmla="*/ 82550 w 2622550"/>
              <a:gd name="connsiteY2" fmla="*/ 523382 h 722084"/>
              <a:gd name="connsiteX3" fmla="*/ 146050 w 2622550"/>
              <a:gd name="connsiteY3" fmla="*/ 580532 h 722084"/>
              <a:gd name="connsiteX4" fmla="*/ 165100 w 2622550"/>
              <a:gd name="connsiteY4" fmla="*/ 517032 h 722084"/>
              <a:gd name="connsiteX5" fmla="*/ 209550 w 2622550"/>
              <a:gd name="connsiteY5" fmla="*/ 555132 h 722084"/>
              <a:gd name="connsiteX6" fmla="*/ 266700 w 2622550"/>
              <a:gd name="connsiteY6" fmla="*/ 517032 h 722084"/>
              <a:gd name="connsiteX7" fmla="*/ 279400 w 2622550"/>
              <a:gd name="connsiteY7" fmla="*/ 536082 h 722084"/>
              <a:gd name="connsiteX8" fmla="*/ 304800 w 2622550"/>
              <a:gd name="connsiteY8" fmla="*/ 542432 h 722084"/>
              <a:gd name="connsiteX9" fmla="*/ 327025 w 2622550"/>
              <a:gd name="connsiteY9" fmla="*/ 537670 h 722084"/>
              <a:gd name="connsiteX10" fmla="*/ 355600 w 2622550"/>
              <a:gd name="connsiteY10" fmla="*/ 612282 h 722084"/>
              <a:gd name="connsiteX11" fmla="*/ 401638 w 2622550"/>
              <a:gd name="connsiteY11" fmla="*/ 300 h 722084"/>
              <a:gd name="connsiteX12" fmla="*/ 438150 w 2622550"/>
              <a:gd name="connsiteY12" fmla="*/ 701182 h 722084"/>
              <a:gd name="connsiteX13" fmla="*/ 482600 w 2622550"/>
              <a:gd name="connsiteY13" fmla="*/ 521001 h 722084"/>
              <a:gd name="connsiteX14" fmla="*/ 504825 w 2622550"/>
              <a:gd name="connsiteY14" fmla="*/ 540050 h 722084"/>
              <a:gd name="connsiteX15" fmla="*/ 520700 w 2622550"/>
              <a:gd name="connsiteY15" fmla="*/ 497982 h 722084"/>
              <a:gd name="connsiteX16" fmla="*/ 558800 w 2622550"/>
              <a:gd name="connsiteY16" fmla="*/ 523382 h 722084"/>
              <a:gd name="connsiteX17" fmla="*/ 590550 w 2622550"/>
              <a:gd name="connsiteY17" fmla="*/ 497982 h 722084"/>
              <a:gd name="connsiteX18" fmla="*/ 641350 w 2622550"/>
              <a:gd name="connsiteY18" fmla="*/ 548782 h 722084"/>
              <a:gd name="connsiteX19" fmla="*/ 685800 w 2622550"/>
              <a:gd name="connsiteY19" fmla="*/ 523382 h 722084"/>
              <a:gd name="connsiteX20" fmla="*/ 749300 w 2622550"/>
              <a:gd name="connsiteY20" fmla="*/ 561482 h 722084"/>
              <a:gd name="connsiteX21" fmla="*/ 806450 w 2622550"/>
              <a:gd name="connsiteY21" fmla="*/ 523382 h 722084"/>
              <a:gd name="connsiteX22" fmla="*/ 889000 w 2622550"/>
              <a:gd name="connsiteY22" fmla="*/ 529732 h 722084"/>
              <a:gd name="connsiteX23" fmla="*/ 908050 w 2622550"/>
              <a:gd name="connsiteY23" fmla="*/ 478932 h 722084"/>
              <a:gd name="connsiteX24" fmla="*/ 958850 w 2622550"/>
              <a:gd name="connsiteY24" fmla="*/ 580532 h 722084"/>
              <a:gd name="connsiteX25" fmla="*/ 1003300 w 2622550"/>
              <a:gd name="connsiteY25" fmla="*/ 542432 h 722084"/>
              <a:gd name="connsiteX26" fmla="*/ 1041400 w 2622550"/>
              <a:gd name="connsiteY26" fmla="*/ 542432 h 722084"/>
              <a:gd name="connsiteX27" fmla="*/ 1041400 w 2622550"/>
              <a:gd name="connsiteY27" fmla="*/ 561482 h 722084"/>
              <a:gd name="connsiteX28" fmla="*/ 1066800 w 2622550"/>
              <a:gd name="connsiteY28" fmla="*/ 567832 h 722084"/>
              <a:gd name="connsiteX29" fmla="*/ 1111250 w 2622550"/>
              <a:gd name="connsiteY29" fmla="*/ 9032 h 722084"/>
              <a:gd name="connsiteX30" fmla="*/ 1162050 w 2622550"/>
              <a:gd name="connsiteY30" fmla="*/ 612282 h 722084"/>
              <a:gd name="connsiteX31" fmla="*/ 1225550 w 2622550"/>
              <a:gd name="connsiteY31" fmla="*/ 561482 h 722084"/>
              <a:gd name="connsiteX32" fmla="*/ 1217613 w 2622550"/>
              <a:gd name="connsiteY32" fmla="*/ 564657 h 722084"/>
              <a:gd name="connsiteX33" fmla="*/ 1295400 w 2622550"/>
              <a:gd name="connsiteY33" fmla="*/ 547988 h 722084"/>
              <a:gd name="connsiteX34" fmla="*/ 1320800 w 2622550"/>
              <a:gd name="connsiteY34" fmla="*/ 529732 h 722084"/>
              <a:gd name="connsiteX35" fmla="*/ 1377157 w 2622550"/>
              <a:gd name="connsiteY35" fmla="*/ 517825 h 722084"/>
              <a:gd name="connsiteX36" fmla="*/ 1403350 w 2622550"/>
              <a:gd name="connsiteY36" fmla="*/ 561482 h 722084"/>
              <a:gd name="connsiteX37" fmla="*/ 1424781 w 2622550"/>
              <a:gd name="connsiteY37" fmla="*/ 548941 h 722084"/>
              <a:gd name="connsiteX38" fmla="*/ 1473200 w 2622550"/>
              <a:gd name="connsiteY38" fmla="*/ 551164 h 722084"/>
              <a:gd name="connsiteX39" fmla="*/ 1517650 w 2622550"/>
              <a:gd name="connsiteY39" fmla="*/ 545607 h 722084"/>
              <a:gd name="connsiteX40" fmla="*/ 1583531 w 2622550"/>
              <a:gd name="connsiteY40" fmla="*/ 601169 h 722084"/>
              <a:gd name="connsiteX41" fmla="*/ 1613693 w 2622550"/>
              <a:gd name="connsiteY41" fmla="*/ 549575 h 722084"/>
              <a:gd name="connsiteX42" fmla="*/ 1656556 w 2622550"/>
              <a:gd name="connsiteY42" fmla="*/ 579738 h 722084"/>
              <a:gd name="connsiteX43" fmla="*/ 1708150 w 2622550"/>
              <a:gd name="connsiteY43" fmla="*/ 536082 h 722084"/>
              <a:gd name="connsiteX44" fmla="*/ 1758950 w 2622550"/>
              <a:gd name="connsiteY44" fmla="*/ 555132 h 722084"/>
              <a:gd name="connsiteX45" fmla="*/ 1764507 w 2622550"/>
              <a:gd name="connsiteY45" fmla="*/ 513063 h 722084"/>
              <a:gd name="connsiteX46" fmla="*/ 1816100 w 2622550"/>
              <a:gd name="connsiteY46" fmla="*/ 523382 h 722084"/>
              <a:gd name="connsiteX47" fmla="*/ 1822450 w 2622550"/>
              <a:gd name="connsiteY47" fmla="*/ 580532 h 722084"/>
              <a:gd name="connsiteX48" fmla="*/ 1847850 w 2622550"/>
              <a:gd name="connsiteY48" fmla="*/ 504332 h 722084"/>
              <a:gd name="connsiteX49" fmla="*/ 1879600 w 2622550"/>
              <a:gd name="connsiteY49" fmla="*/ 21732 h 722084"/>
              <a:gd name="connsiteX50" fmla="*/ 1930400 w 2622550"/>
              <a:gd name="connsiteY50" fmla="*/ 701182 h 722084"/>
              <a:gd name="connsiteX51" fmla="*/ 1968500 w 2622550"/>
              <a:gd name="connsiteY51" fmla="*/ 548782 h 722084"/>
              <a:gd name="connsiteX52" fmla="*/ 2032000 w 2622550"/>
              <a:gd name="connsiteY52" fmla="*/ 555132 h 722084"/>
              <a:gd name="connsiteX53" fmla="*/ 2044700 w 2622550"/>
              <a:gd name="connsiteY53" fmla="*/ 510682 h 722084"/>
              <a:gd name="connsiteX54" fmla="*/ 2152650 w 2622550"/>
              <a:gd name="connsiteY54" fmla="*/ 555132 h 722084"/>
              <a:gd name="connsiteX55" fmla="*/ 2241550 w 2622550"/>
              <a:gd name="connsiteY55" fmla="*/ 497982 h 722084"/>
              <a:gd name="connsiteX56" fmla="*/ 2298700 w 2622550"/>
              <a:gd name="connsiteY56" fmla="*/ 555132 h 722084"/>
              <a:gd name="connsiteX57" fmla="*/ 2349500 w 2622550"/>
              <a:gd name="connsiteY57" fmla="*/ 517032 h 722084"/>
              <a:gd name="connsiteX58" fmla="*/ 2374900 w 2622550"/>
              <a:gd name="connsiteY58" fmla="*/ 517032 h 722084"/>
              <a:gd name="connsiteX59" fmla="*/ 2387600 w 2622550"/>
              <a:gd name="connsiteY59" fmla="*/ 542432 h 722084"/>
              <a:gd name="connsiteX60" fmla="*/ 2438400 w 2622550"/>
              <a:gd name="connsiteY60" fmla="*/ 510682 h 722084"/>
              <a:gd name="connsiteX61" fmla="*/ 2451100 w 2622550"/>
              <a:gd name="connsiteY61" fmla="*/ 491632 h 722084"/>
              <a:gd name="connsiteX62" fmla="*/ 2476500 w 2622550"/>
              <a:gd name="connsiteY62" fmla="*/ 561482 h 722084"/>
              <a:gd name="connsiteX63" fmla="*/ 2501900 w 2622550"/>
              <a:gd name="connsiteY63" fmla="*/ 491632 h 722084"/>
              <a:gd name="connsiteX64" fmla="*/ 2533650 w 2622550"/>
              <a:gd name="connsiteY64" fmla="*/ 567832 h 722084"/>
              <a:gd name="connsiteX65" fmla="*/ 2584450 w 2622550"/>
              <a:gd name="connsiteY65" fmla="*/ 580532 h 722084"/>
              <a:gd name="connsiteX66" fmla="*/ 2622550 w 2622550"/>
              <a:gd name="connsiteY66" fmla="*/ 567832 h 722084"/>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29732 h 704885"/>
              <a:gd name="connsiteX23" fmla="*/ 908050 w 2622550"/>
              <a:gd name="connsiteY23" fmla="*/ 478932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58950 w 2622550"/>
              <a:gd name="connsiteY44" fmla="*/ 555132 h 704885"/>
              <a:gd name="connsiteX45" fmla="*/ 1764507 w 2622550"/>
              <a:gd name="connsiteY45" fmla="*/ 513063 h 704885"/>
              <a:gd name="connsiteX46" fmla="*/ 1816100 w 2622550"/>
              <a:gd name="connsiteY46" fmla="*/ 523382 h 704885"/>
              <a:gd name="connsiteX47" fmla="*/ 1822450 w 2622550"/>
              <a:gd name="connsiteY47" fmla="*/ 580532 h 704885"/>
              <a:gd name="connsiteX48" fmla="*/ 1847850 w 2622550"/>
              <a:gd name="connsiteY48" fmla="*/ 504332 h 704885"/>
              <a:gd name="connsiteX49" fmla="*/ 1879600 w 2622550"/>
              <a:gd name="connsiteY49" fmla="*/ 21732 h 704885"/>
              <a:gd name="connsiteX50" fmla="*/ 1930400 w 2622550"/>
              <a:gd name="connsiteY50" fmla="*/ 701182 h 704885"/>
              <a:gd name="connsiteX51" fmla="*/ 1968500 w 2622550"/>
              <a:gd name="connsiteY51" fmla="*/ 548782 h 704885"/>
              <a:gd name="connsiteX52" fmla="*/ 2032000 w 2622550"/>
              <a:gd name="connsiteY52" fmla="*/ 555132 h 704885"/>
              <a:gd name="connsiteX53" fmla="*/ 2044700 w 2622550"/>
              <a:gd name="connsiteY53" fmla="*/ 510682 h 704885"/>
              <a:gd name="connsiteX54" fmla="*/ 2152650 w 2622550"/>
              <a:gd name="connsiteY54" fmla="*/ 555132 h 704885"/>
              <a:gd name="connsiteX55" fmla="*/ 2241550 w 2622550"/>
              <a:gd name="connsiteY55" fmla="*/ 497982 h 704885"/>
              <a:gd name="connsiteX56" fmla="*/ 2298700 w 2622550"/>
              <a:gd name="connsiteY56" fmla="*/ 555132 h 704885"/>
              <a:gd name="connsiteX57" fmla="*/ 2349500 w 2622550"/>
              <a:gd name="connsiteY57" fmla="*/ 517032 h 704885"/>
              <a:gd name="connsiteX58" fmla="*/ 2374900 w 2622550"/>
              <a:gd name="connsiteY58" fmla="*/ 517032 h 704885"/>
              <a:gd name="connsiteX59" fmla="*/ 2387600 w 2622550"/>
              <a:gd name="connsiteY59" fmla="*/ 542432 h 704885"/>
              <a:gd name="connsiteX60" fmla="*/ 2438400 w 2622550"/>
              <a:gd name="connsiteY60" fmla="*/ 510682 h 704885"/>
              <a:gd name="connsiteX61" fmla="*/ 2451100 w 2622550"/>
              <a:gd name="connsiteY61" fmla="*/ 491632 h 704885"/>
              <a:gd name="connsiteX62" fmla="*/ 2476500 w 2622550"/>
              <a:gd name="connsiteY62" fmla="*/ 561482 h 704885"/>
              <a:gd name="connsiteX63" fmla="*/ 2501900 w 2622550"/>
              <a:gd name="connsiteY63" fmla="*/ 491632 h 704885"/>
              <a:gd name="connsiteX64" fmla="*/ 2533650 w 2622550"/>
              <a:gd name="connsiteY64" fmla="*/ 567832 h 704885"/>
              <a:gd name="connsiteX65" fmla="*/ 2584450 w 2622550"/>
              <a:gd name="connsiteY65" fmla="*/ 580532 h 704885"/>
              <a:gd name="connsiteX66" fmla="*/ 2622550 w 2622550"/>
              <a:gd name="connsiteY66"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29732 h 704885"/>
              <a:gd name="connsiteX23" fmla="*/ 908050 w 2622550"/>
              <a:gd name="connsiteY23" fmla="*/ 478932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58950 w 2622550"/>
              <a:gd name="connsiteY44" fmla="*/ 555132 h 704885"/>
              <a:gd name="connsiteX45" fmla="*/ 1764507 w 2622550"/>
              <a:gd name="connsiteY45" fmla="*/ 513063 h 704885"/>
              <a:gd name="connsiteX46" fmla="*/ 1816100 w 2622550"/>
              <a:gd name="connsiteY46" fmla="*/ 523382 h 704885"/>
              <a:gd name="connsiteX47" fmla="*/ 1822450 w 2622550"/>
              <a:gd name="connsiteY47" fmla="*/ 580532 h 704885"/>
              <a:gd name="connsiteX48" fmla="*/ 1847850 w 2622550"/>
              <a:gd name="connsiteY48" fmla="*/ 504332 h 704885"/>
              <a:gd name="connsiteX49" fmla="*/ 1879600 w 2622550"/>
              <a:gd name="connsiteY49" fmla="*/ 21732 h 704885"/>
              <a:gd name="connsiteX50" fmla="*/ 1930400 w 2622550"/>
              <a:gd name="connsiteY50" fmla="*/ 639270 h 704885"/>
              <a:gd name="connsiteX51" fmla="*/ 1968500 w 2622550"/>
              <a:gd name="connsiteY51" fmla="*/ 548782 h 704885"/>
              <a:gd name="connsiteX52" fmla="*/ 2032000 w 2622550"/>
              <a:gd name="connsiteY52" fmla="*/ 555132 h 704885"/>
              <a:gd name="connsiteX53" fmla="*/ 2044700 w 2622550"/>
              <a:gd name="connsiteY53" fmla="*/ 510682 h 704885"/>
              <a:gd name="connsiteX54" fmla="*/ 2152650 w 2622550"/>
              <a:gd name="connsiteY54" fmla="*/ 555132 h 704885"/>
              <a:gd name="connsiteX55" fmla="*/ 2241550 w 2622550"/>
              <a:gd name="connsiteY55" fmla="*/ 497982 h 704885"/>
              <a:gd name="connsiteX56" fmla="*/ 2298700 w 2622550"/>
              <a:gd name="connsiteY56" fmla="*/ 555132 h 704885"/>
              <a:gd name="connsiteX57" fmla="*/ 2349500 w 2622550"/>
              <a:gd name="connsiteY57" fmla="*/ 517032 h 704885"/>
              <a:gd name="connsiteX58" fmla="*/ 2374900 w 2622550"/>
              <a:gd name="connsiteY58" fmla="*/ 517032 h 704885"/>
              <a:gd name="connsiteX59" fmla="*/ 2387600 w 2622550"/>
              <a:gd name="connsiteY59" fmla="*/ 542432 h 704885"/>
              <a:gd name="connsiteX60" fmla="*/ 2438400 w 2622550"/>
              <a:gd name="connsiteY60" fmla="*/ 510682 h 704885"/>
              <a:gd name="connsiteX61" fmla="*/ 2451100 w 2622550"/>
              <a:gd name="connsiteY61" fmla="*/ 491632 h 704885"/>
              <a:gd name="connsiteX62" fmla="*/ 2476500 w 2622550"/>
              <a:gd name="connsiteY62" fmla="*/ 561482 h 704885"/>
              <a:gd name="connsiteX63" fmla="*/ 2501900 w 2622550"/>
              <a:gd name="connsiteY63" fmla="*/ 491632 h 704885"/>
              <a:gd name="connsiteX64" fmla="*/ 2533650 w 2622550"/>
              <a:gd name="connsiteY64" fmla="*/ 567832 h 704885"/>
              <a:gd name="connsiteX65" fmla="*/ 2584450 w 2622550"/>
              <a:gd name="connsiteY65" fmla="*/ 580532 h 704885"/>
              <a:gd name="connsiteX66" fmla="*/ 2622550 w 2622550"/>
              <a:gd name="connsiteY66"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29732 h 704885"/>
              <a:gd name="connsiteX23" fmla="*/ 908050 w 2622550"/>
              <a:gd name="connsiteY23" fmla="*/ 478932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58950 w 2622550"/>
              <a:gd name="connsiteY44" fmla="*/ 555132 h 704885"/>
              <a:gd name="connsiteX45" fmla="*/ 1764507 w 2622550"/>
              <a:gd name="connsiteY45" fmla="*/ 513063 h 704885"/>
              <a:gd name="connsiteX46" fmla="*/ 1816100 w 2622550"/>
              <a:gd name="connsiteY46" fmla="*/ 523382 h 704885"/>
              <a:gd name="connsiteX47" fmla="*/ 1822450 w 2622550"/>
              <a:gd name="connsiteY47" fmla="*/ 580532 h 704885"/>
              <a:gd name="connsiteX48" fmla="*/ 1847850 w 2622550"/>
              <a:gd name="connsiteY48" fmla="*/ 504332 h 704885"/>
              <a:gd name="connsiteX49" fmla="*/ 1879600 w 2622550"/>
              <a:gd name="connsiteY49" fmla="*/ 21732 h 704885"/>
              <a:gd name="connsiteX50" fmla="*/ 1930400 w 2622550"/>
              <a:gd name="connsiteY50" fmla="*/ 639270 h 704885"/>
              <a:gd name="connsiteX51" fmla="*/ 1968500 w 2622550"/>
              <a:gd name="connsiteY51" fmla="*/ 548782 h 704885"/>
              <a:gd name="connsiteX52" fmla="*/ 2032000 w 2622550"/>
              <a:gd name="connsiteY52" fmla="*/ 555132 h 704885"/>
              <a:gd name="connsiteX53" fmla="*/ 2078038 w 2622550"/>
              <a:gd name="connsiteY53" fmla="*/ 534494 h 704885"/>
              <a:gd name="connsiteX54" fmla="*/ 2152650 w 2622550"/>
              <a:gd name="connsiteY54" fmla="*/ 555132 h 704885"/>
              <a:gd name="connsiteX55" fmla="*/ 2241550 w 2622550"/>
              <a:gd name="connsiteY55" fmla="*/ 497982 h 704885"/>
              <a:gd name="connsiteX56" fmla="*/ 2298700 w 2622550"/>
              <a:gd name="connsiteY56" fmla="*/ 555132 h 704885"/>
              <a:gd name="connsiteX57" fmla="*/ 2349500 w 2622550"/>
              <a:gd name="connsiteY57" fmla="*/ 517032 h 704885"/>
              <a:gd name="connsiteX58" fmla="*/ 2374900 w 2622550"/>
              <a:gd name="connsiteY58" fmla="*/ 517032 h 704885"/>
              <a:gd name="connsiteX59" fmla="*/ 2387600 w 2622550"/>
              <a:gd name="connsiteY59" fmla="*/ 542432 h 704885"/>
              <a:gd name="connsiteX60" fmla="*/ 2438400 w 2622550"/>
              <a:gd name="connsiteY60" fmla="*/ 510682 h 704885"/>
              <a:gd name="connsiteX61" fmla="*/ 2451100 w 2622550"/>
              <a:gd name="connsiteY61" fmla="*/ 491632 h 704885"/>
              <a:gd name="connsiteX62" fmla="*/ 2476500 w 2622550"/>
              <a:gd name="connsiteY62" fmla="*/ 561482 h 704885"/>
              <a:gd name="connsiteX63" fmla="*/ 2501900 w 2622550"/>
              <a:gd name="connsiteY63" fmla="*/ 491632 h 704885"/>
              <a:gd name="connsiteX64" fmla="*/ 2533650 w 2622550"/>
              <a:gd name="connsiteY64" fmla="*/ 567832 h 704885"/>
              <a:gd name="connsiteX65" fmla="*/ 2584450 w 2622550"/>
              <a:gd name="connsiteY65" fmla="*/ 580532 h 704885"/>
              <a:gd name="connsiteX66" fmla="*/ 2622550 w 2622550"/>
              <a:gd name="connsiteY66"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29732 h 704885"/>
              <a:gd name="connsiteX23" fmla="*/ 908050 w 2622550"/>
              <a:gd name="connsiteY23" fmla="*/ 478932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58950 w 2622550"/>
              <a:gd name="connsiteY44" fmla="*/ 555132 h 704885"/>
              <a:gd name="connsiteX45" fmla="*/ 1764507 w 2622550"/>
              <a:gd name="connsiteY45" fmla="*/ 513063 h 704885"/>
              <a:gd name="connsiteX46" fmla="*/ 1816100 w 2622550"/>
              <a:gd name="connsiteY46" fmla="*/ 523382 h 704885"/>
              <a:gd name="connsiteX47" fmla="*/ 1822450 w 2622550"/>
              <a:gd name="connsiteY47" fmla="*/ 580532 h 704885"/>
              <a:gd name="connsiteX48" fmla="*/ 1847850 w 2622550"/>
              <a:gd name="connsiteY48" fmla="*/ 504332 h 704885"/>
              <a:gd name="connsiteX49" fmla="*/ 1879600 w 2622550"/>
              <a:gd name="connsiteY49" fmla="*/ 21732 h 704885"/>
              <a:gd name="connsiteX50" fmla="*/ 1930400 w 2622550"/>
              <a:gd name="connsiteY50" fmla="*/ 639270 h 704885"/>
              <a:gd name="connsiteX51" fmla="*/ 1968500 w 2622550"/>
              <a:gd name="connsiteY51" fmla="*/ 548782 h 704885"/>
              <a:gd name="connsiteX52" fmla="*/ 2032000 w 2622550"/>
              <a:gd name="connsiteY52" fmla="*/ 555132 h 704885"/>
              <a:gd name="connsiteX53" fmla="*/ 2078038 w 2622550"/>
              <a:gd name="connsiteY53" fmla="*/ 534494 h 704885"/>
              <a:gd name="connsiteX54" fmla="*/ 2138362 w 2622550"/>
              <a:gd name="connsiteY54" fmla="*/ 564657 h 704885"/>
              <a:gd name="connsiteX55" fmla="*/ 2241550 w 2622550"/>
              <a:gd name="connsiteY55" fmla="*/ 497982 h 704885"/>
              <a:gd name="connsiteX56" fmla="*/ 2298700 w 2622550"/>
              <a:gd name="connsiteY56" fmla="*/ 555132 h 704885"/>
              <a:gd name="connsiteX57" fmla="*/ 2349500 w 2622550"/>
              <a:gd name="connsiteY57" fmla="*/ 517032 h 704885"/>
              <a:gd name="connsiteX58" fmla="*/ 2374900 w 2622550"/>
              <a:gd name="connsiteY58" fmla="*/ 517032 h 704885"/>
              <a:gd name="connsiteX59" fmla="*/ 2387600 w 2622550"/>
              <a:gd name="connsiteY59" fmla="*/ 542432 h 704885"/>
              <a:gd name="connsiteX60" fmla="*/ 2438400 w 2622550"/>
              <a:gd name="connsiteY60" fmla="*/ 510682 h 704885"/>
              <a:gd name="connsiteX61" fmla="*/ 2451100 w 2622550"/>
              <a:gd name="connsiteY61" fmla="*/ 491632 h 704885"/>
              <a:gd name="connsiteX62" fmla="*/ 2476500 w 2622550"/>
              <a:gd name="connsiteY62" fmla="*/ 561482 h 704885"/>
              <a:gd name="connsiteX63" fmla="*/ 2501900 w 2622550"/>
              <a:gd name="connsiteY63" fmla="*/ 491632 h 704885"/>
              <a:gd name="connsiteX64" fmla="*/ 2533650 w 2622550"/>
              <a:gd name="connsiteY64" fmla="*/ 567832 h 704885"/>
              <a:gd name="connsiteX65" fmla="*/ 2584450 w 2622550"/>
              <a:gd name="connsiteY65" fmla="*/ 580532 h 704885"/>
              <a:gd name="connsiteX66" fmla="*/ 2622550 w 2622550"/>
              <a:gd name="connsiteY66"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29732 h 704885"/>
              <a:gd name="connsiteX23" fmla="*/ 908050 w 2622550"/>
              <a:gd name="connsiteY23" fmla="*/ 478932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58950 w 2622550"/>
              <a:gd name="connsiteY44" fmla="*/ 555132 h 704885"/>
              <a:gd name="connsiteX45" fmla="*/ 1764507 w 2622550"/>
              <a:gd name="connsiteY45" fmla="*/ 513063 h 704885"/>
              <a:gd name="connsiteX46" fmla="*/ 1816100 w 2622550"/>
              <a:gd name="connsiteY46" fmla="*/ 523382 h 704885"/>
              <a:gd name="connsiteX47" fmla="*/ 1822450 w 2622550"/>
              <a:gd name="connsiteY47" fmla="*/ 580532 h 704885"/>
              <a:gd name="connsiteX48" fmla="*/ 1847850 w 2622550"/>
              <a:gd name="connsiteY48" fmla="*/ 504332 h 704885"/>
              <a:gd name="connsiteX49" fmla="*/ 1879600 w 2622550"/>
              <a:gd name="connsiteY49" fmla="*/ 21732 h 704885"/>
              <a:gd name="connsiteX50" fmla="*/ 1930400 w 2622550"/>
              <a:gd name="connsiteY50" fmla="*/ 639270 h 704885"/>
              <a:gd name="connsiteX51" fmla="*/ 1968500 w 2622550"/>
              <a:gd name="connsiteY51" fmla="*/ 548782 h 704885"/>
              <a:gd name="connsiteX52" fmla="*/ 2032000 w 2622550"/>
              <a:gd name="connsiteY52" fmla="*/ 555132 h 704885"/>
              <a:gd name="connsiteX53" fmla="*/ 2078038 w 2622550"/>
              <a:gd name="connsiteY53" fmla="*/ 534494 h 704885"/>
              <a:gd name="connsiteX54" fmla="*/ 2138362 w 2622550"/>
              <a:gd name="connsiteY54" fmla="*/ 564657 h 704885"/>
              <a:gd name="connsiteX55" fmla="*/ 2208213 w 2622550"/>
              <a:gd name="connsiteY55" fmla="*/ 519413 h 704885"/>
              <a:gd name="connsiteX56" fmla="*/ 2298700 w 2622550"/>
              <a:gd name="connsiteY56" fmla="*/ 555132 h 704885"/>
              <a:gd name="connsiteX57" fmla="*/ 2349500 w 2622550"/>
              <a:gd name="connsiteY57" fmla="*/ 517032 h 704885"/>
              <a:gd name="connsiteX58" fmla="*/ 2374900 w 2622550"/>
              <a:gd name="connsiteY58" fmla="*/ 517032 h 704885"/>
              <a:gd name="connsiteX59" fmla="*/ 2387600 w 2622550"/>
              <a:gd name="connsiteY59" fmla="*/ 542432 h 704885"/>
              <a:gd name="connsiteX60" fmla="*/ 2438400 w 2622550"/>
              <a:gd name="connsiteY60" fmla="*/ 510682 h 704885"/>
              <a:gd name="connsiteX61" fmla="*/ 2451100 w 2622550"/>
              <a:gd name="connsiteY61" fmla="*/ 491632 h 704885"/>
              <a:gd name="connsiteX62" fmla="*/ 2476500 w 2622550"/>
              <a:gd name="connsiteY62" fmla="*/ 561482 h 704885"/>
              <a:gd name="connsiteX63" fmla="*/ 2501900 w 2622550"/>
              <a:gd name="connsiteY63" fmla="*/ 491632 h 704885"/>
              <a:gd name="connsiteX64" fmla="*/ 2533650 w 2622550"/>
              <a:gd name="connsiteY64" fmla="*/ 567832 h 704885"/>
              <a:gd name="connsiteX65" fmla="*/ 2584450 w 2622550"/>
              <a:gd name="connsiteY65" fmla="*/ 580532 h 704885"/>
              <a:gd name="connsiteX66" fmla="*/ 2622550 w 2622550"/>
              <a:gd name="connsiteY66"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29732 h 704885"/>
              <a:gd name="connsiteX23" fmla="*/ 908050 w 2622550"/>
              <a:gd name="connsiteY23" fmla="*/ 478932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58950 w 2622550"/>
              <a:gd name="connsiteY44" fmla="*/ 555132 h 704885"/>
              <a:gd name="connsiteX45" fmla="*/ 1764507 w 2622550"/>
              <a:gd name="connsiteY45" fmla="*/ 513063 h 704885"/>
              <a:gd name="connsiteX46" fmla="*/ 1816100 w 2622550"/>
              <a:gd name="connsiteY46" fmla="*/ 523382 h 704885"/>
              <a:gd name="connsiteX47" fmla="*/ 1822450 w 2622550"/>
              <a:gd name="connsiteY47" fmla="*/ 580532 h 704885"/>
              <a:gd name="connsiteX48" fmla="*/ 1847850 w 2622550"/>
              <a:gd name="connsiteY48" fmla="*/ 504332 h 704885"/>
              <a:gd name="connsiteX49" fmla="*/ 1879600 w 2622550"/>
              <a:gd name="connsiteY49" fmla="*/ 21732 h 704885"/>
              <a:gd name="connsiteX50" fmla="*/ 1930400 w 2622550"/>
              <a:gd name="connsiteY50" fmla="*/ 639270 h 704885"/>
              <a:gd name="connsiteX51" fmla="*/ 1968500 w 2622550"/>
              <a:gd name="connsiteY51" fmla="*/ 548782 h 704885"/>
              <a:gd name="connsiteX52" fmla="*/ 2032000 w 2622550"/>
              <a:gd name="connsiteY52" fmla="*/ 555132 h 704885"/>
              <a:gd name="connsiteX53" fmla="*/ 2078038 w 2622550"/>
              <a:gd name="connsiteY53" fmla="*/ 534494 h 704885"/>
              <a:gd name="connsiteX54" fmla="*/ 2138362 w 2622550"/>
              <a:gd name="connsiteY54" fmla="*/ 564657 h 704885"/>
              <a:gd name="connsiteX55" fmla="*/ 2208213 w 2622550"/>
              <a:gd name="connsiteY55" fmla="*/ 519413 h 704885"/>
              <a:gd name="connsiteX56" fmla="*/ 2262982 w 2622550"/>
              <a:gd name="connsiteY56" fmla="*/ 555132 h 704885"/>
              <a:gd name="connsiteX57" fmla="*/ 2349500 w 2622550"/>
              <a:gd name="connsiteY57" fmla="*/ 517032 h 704885"/>
              <a:gd name="connsiteX58" fmla="*/ 2374900 w 2622550"/>
              <a:gd name="connsiteY58" fmla="*/ 517032 h 704885"/>
              <a:gd name="connsiteX59" fmla="*/ 2387600 w 2622550"/>
              <a:gd name="connsiteY59" fmla="*/ 542432 h 704885"/>
              <a:gd name="connsiteX60" fmla="*/ 2438400 w 2622550"/>
              <a:gd name="connsiteY60" fmla="*/ 510682 h 704885"/>
              <a:gd name="connsiteX61" fmla="*/ 2451100 w 2622550"/>
              <a:gd name="connsiteY61" fmla="*/ 491632 h 704885"/>
              <a:gd name="connsiteX62" fmla="*/ 2476500 w 2622550"/>
              <a:gd name="connsiteY62" fmla="*/ 561482 h 704885"/>
              <a:gd name="connsiteX63" fmla="*/ 2501900 w 2622550"/>
              <a:gd name="connsiteY63" fmla="*/ 491632 h 704885"/>
              <a:gd name="connsiteX64" fmla="*/ 2533650 w 2622550"/>
              <a:gd name="connsiteY64" fmla="*/ 567832 h 704885"/>
              <a:gd name="connsiteX65" fmla="*/ 2584450 w 2622550"/>
              <a:gd name="connsiteY65" fmla="*/ 580532 h 704885"/>
              <a:gd name="connsiteX66" fmla="*/ 2622550 w 2622550"/>
              <a:gd name="connsiteY66"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29732 h 704885"/>
              <a:gd name="connsiteX23" fmla="*/ 908050 w 2622550"/>
              <a:gd name="connsiteY23" fmla="*/ 478932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58950 w 2622550"/>
              <a:gd name="connsiteY44" fmla="*/ 555132 h 704885"/>
              <a:gd name="connsiteX45" fmla="*/ 1764507 w 2622550"/>
              <a:gd name="connsiteY45" fmla="*/ 513063 h 704885"/>
              <a:gd name="connsiteX46" fmla="*/ 1816100 w 2622550"/>
              <a:gd name="connsiteY46" fmla="*/ 523382 h 704885"/>
              <a:gd name="connsiteX47" fmla="*/ 1822450 w 2622550"/>
              <a:gd name="connsiteY47" fmla="*/ 580532 h 704885"/>
              <a:gd name="connsiteX48" fmla="*/ 1847850 w 2622550"/>
              <a:gd name="connsiteY48" fmla="*/ 504332 h 704885"/>
              <a:gd name="connsiteX49" fmla="*/ 1879600 w 2622550"/>
              <a:gd name="connsiteY49" fmla="*/ 21732 h 704885"/>
              <a:gd name="connsiteX50" fmla="*/ 1930400 w 2622550"/>
              <a:gd name="connsiteY50" fmla="*/ 639270 h 704885"/>
              <a:gd name="connsiteX51" fmla="*/ 1968500 w 2622550"/>
              <a:gd name="connsiteY51" fmla="*/ 548782 h 704885"/>
              <a:gd name="connsiteX52" fmla="*/ 2032000 w 2622550"/>
              <a:gd name="connsiteY52" fmla="*/ 555132 h 704885"/>
              <a:gd name="connsiteX53" fmla="*/ 2078038 w 2622550"/>
              <a:gd name="connsiteY53" fmla="*/ 534494 h 704885"/>
              <a:gd name="connsiteX54" fmla="*/ 2138362 w 2622550"/>
              <a:gd name="connsiteY54" fmla="*/ 564657 h 704885"/>
              <a:gd name="connsiteX55" fmla="*/ 2208213 w 2622550"/>
              <a:gd name="connsiteY55" fmla="*/ 519413 h 704885"/>
              <a:gd name="connsiteX56" fmla="*/ 2262982 w 2622550"/>
              <a:gd name="connsiteY56" fmla="*/ 555132 h 704885"/>
              <a:gd name="connsiteX57" fmla="*/ 2330450 w 2622550"/>
              <a:gd name="connsiteY57" fmla="*/ 524176 h 704885"/>
              <a:gd name="connsiteX58" fmla="*/ 2374900 w 2622550"/>
              <a:gd name="connsiteY58" fmla="*/ 517032 h 704885"/>
              <a:gd name="connsiteX59" fmla="*/ 2387600 w 2622550"/>
              <a:gd name="connsiteY59" fmla="*/ 542432 h 704885"/>
              <a:gd name="connsiteX60" fmla="*/ 2438400 w 2622550"/>
              <a:gd name="connsiteY60" fmla="*/ 510682 h 704885"/>
              <a:gd name="connsiteX61" fmla="*/ 2451100 w 2622550"/>
              <a:gd name="connsiteY61" fmla="*/ 491632 h 704885"/>
              <a:gd name="connsiteX62" fmla="*/ 2476500 w 2622550"/>
              <a:gd name="connsiteY62" fmla="*/ 561482 h 704885"/>
              <a:gd name="connsiteX63" fmla="*/ 2501900 w 2622550"/>
              <a:gd name="connsiteY63" fmla="*/ 491632 h 704885"/>
              <a:gd name="connsiteX64" fmla="*/ 2533650 w 2622550"/>
              <a:gd name="connsiteY64" fmla="*/ 567832 h 704885"/>
              <a:gd name="connsiteX65" fmla="*/ 2584450 w 2622550"/>
              <a:gd name="connsiteY65" fmla="*/ 580532 h 704885"/>
              <a:gd name="connsiteX66" fmla="*/ 2622550 w 2622550"/>
              <a:gd name="connsiteY66"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29732 h 704885"/>
              <a:gd name="connsiteX23" fmla="*/ 908050 w 2622550"/>
              <a:gd name="connsiteY23" fmla="*/ 478932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58950 w 2622550"/>
              <a:gd name="connsiteY44" fmla="*/ 555132 h 704885"/>
              <a:gd name="connsiteX45" fmla="*/ 1764507 w 2622550"/>
              <a:gd name="connsiteY45" fmla="*/ 513063 h 704885"/>
              <a:gd name="connsiteX46" fmla="*/ 1816100 w 2622550"/>
              <a:gd name="connsiteY46" fmla="*/ 523382 h 704885"/>
              <a:gd name="connsiteX47" fmla="*/ 1822450 w 2622550"/>
              <a:gd name="connsiteY47" fmla="*/ 580532 h 704885"/>
              <a:gd name="connsiteX48" fmla="*/ 1847850 w 2622550"/>
              <a:gd name="connsiteY48" fmla="*/ 504332 h 704885"/>
              <a:gd name="connsiteX49" fmla="*/ 1879600 w 2622550"/>
              <a:gd name="connsiteY49" fmla="*/ 21732 h 704885"/>
              <a:gd name="connsiteX50" fmla="*/ 1930400 w 2622550"/>
              <a:gd name="connsiteY50" fmla="*/ 639270 h 704885"/>
              <a:gd name="connsiteX51" fmla="*/ 1968500 w 2622550"/>
              <a:gd name="connsiteY51" fmla="*/ 548782 h 704885"/>
              <a:gd name="connsiteX52" fmla="*/ 2032000 w 2622550"/>
              <a:gd name="connsiteY52" fmla="*/ 555132 h 704885"/>
              <a:gd name="connsiteX53" fmla="*/ 2078038 w 2622550"/>
              <a:gd name="connsiteY53" fmla="*/ 534494 h 704885"/>
              <a:gd name="connsiteX54" fmla="*/ 2138362 w 2622550"/>
              <a:gd name="connsiteY54" fmla="*/ 564657 h 704885"/>
              <a:gd name="connsiteX55" fmla="*/ 2208213 w 2622550"/>
              <a:gd name="connsiteY55" fmla="*/ 519413 h 704885"/>
              <a:gd name="connsiteX56" fmla="*/ 2262982 w 2622550"/>
              <a:gd name="connsiteY56" fmla="*/ 555132 h 704885"/>
              <a:gd name="connsiteX57" fmla="*/ 2330450 w 2622550"/>
              <a:gd name="connsiteY57" fmla="*/ 524176 h 704885"/>
              <a:gd name="connsiteX58" fmla="*/ 2358231 w 2622550"/>
              <a:gd name="connsiteY58" fmla="*/ 521794 h 704885"/>
              <a:gd name="connsiteX59" fmla="*/ 2387600 w 2622550"/>
              <a:gd name="connsiteY59" fmla="*/ 542432 h 704885"/>
              <a:gd name="connsiteX60" fmla="*/ 2438400 w 2622550"/>
              <a:gd name="connsiteY60" fmla="*/ 510682 h 704885"/>
              <a:gd name="connsiteX61" fmla="*/ 2451100 w 2622550"/>
              <a:gd name="connsiteY61" fmla="*/ 491632 h 704885"/>
              <a:gd name="connsiteX62" fmla="*/ 2476500 w 2622550"/>
              <a:gd name="connsiteY62" fmla="*/ 561482 h 704885"/>
              <a:gd name="connsiteX63" fmla="*/ 2501900 w 2622550"/>
              <a:gd name="connsiteY63" fmla="*/ 491632 h 704885"/>
              <a:gd name="connsiteX64" fmla="*/ 2533650 w 2622550"/>
              <a:gd name="connsiteY64" fmla="*/ 567832 h 704885"/>
              <a:gd name="connsiteX65" fmla="*/ 2584450 w 2622550"/>
              <a:gd name="connsiteY65" fmla="*/ 580532 h 704885"/>
              <a:gd name="connsiteX66" fmla="*/ 2622550 w 2622550"/>
              <a:gd name="connsiteY66"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29732 h 704885"/>
              <a:gd name="connsiteX23" fmla="*/ 908050 w 2622550"/>
              <a:gd name="connsiteY23" fmla="*/ 478932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64507 w 2622550"/>
              <a:gd name="connsiteY44" fmla="*/ 513063 h 704885"/>
              <a:gd name="connsiteX45" fmla="*/ 1816100 w 2622550"/>
              <a:gd name="connsiteY45" fmla="*/ 523382 h 704885"/>
              <a:gd name="connsiteX46" fmla="*/ 1822450 w 2622550"/>
              <a:gd name="connsiteY46" fmla="*/ 580532 h 704885"/>
              <a:gd name="connsiteX47" fmla="*/ 1847850 w 2622550"/>
              <a:gd name="connsiteY47" fmla="*/ 504332 h 704885"/>
              <a:gd name="connsiteX48" fmla="*/ 1879600 w 2622550"/>
              <a:gd name="connsiteY48" fmla="*/ 21732 h 704885"/>
              <a:gd name="connsiteX49" fmla="*/ 1930400 w 2622550"/>
              <a:gd name="connsiteY49" fmla="*/ 639270 h 704885"/>
              <a:gd name="connsiteX50" fmla="*/ 1968500 w 2622550"/>
              <a:gd name="connsiteY50" fmla="*/ 548782 h 704885"/>
              <a:gd name="connsiteX51" fmla="*/ 2032000 w 2622550"/>
              <a:gd name="connsiteY51" fmla="*/ 555132 h 704885"/>
              <a:gd name="connsiteX52" fmla="*/ 2078038 w 2622550"/>
              <a:gd name="connsiteY52" fmla="*/ 534494 h 704885"/>
              <a:gd name="connsiteX53" fmla="*/ 2138362 w 2622550"/>
              <a:gd name="connsiteY53" fmla="*/ 564657 h 704885"/>
              <a:gd name="connsiteX54" fmla="*/ 2208213 w 2622550"/>
              <a:gd name="connsiteY54" fmla="*/ 519413 h 704885"/>
              <a:gd name="connsiteX55" fmla="*/ 2262982 w 2622550"/>
              <a:gd name="connsiteY55" fmla="*/ 555132 h 704885"/>
              <a:gd name="connsiteX56" fmla="*/ 2330450 w 2622550"/>
              <a:gd name="connsiteY56" fmla="*/ 524176 h 704885"/>
              <a:gd name="connsiteX57" fmla="*/ 2358231 w 2622550"/>
              <a:gd name="connsiteY57" fmla="*/ 521794 h 704885"/>
              <a:gd name="connsiteX58" fmla="*/ 2387600 w 2622550"/>
              <a:gd name="connsiteY58" fmla="*/ 542432 h 704885"/>
              <a:gd name="connsiteX59" fmla="*/ 2438400 w 2622550"/>
              <a:gd name="connsiteY59" fmla="*/ 510682 h 704885"/>
              <a:gd name="connsiteX60" fmla="*/ 2451100 w 2622550"/>
              <a:gd name="connsiteY60" fmla="*/ 491632 h 704885"/>
              <a:gd name="connsiteX61" fmla="*/ 2476500 w 2622550"/>
              <a:gd name="connsiteY61" fmla="*/ 561482 h 704885"/>
              <a:gd name="connsiteX62" fmla="*/ 2501900 w 2622550"/>
              <a:gd name="connsiteY62" fmla="*/ 491632 h 704885"/>
              <a:gd name="connsiteX63" fmla="*/ 2533650 w 2622550"/>
              <a:gd name="connsiteY63" fmla="*/ 567832 h 704885"/>
              <a:gd name="connsiteX64" fmla="*/ 2584450 w 2622550"/>
              <a:gd name="connsiteY64" fmla="*/ 580532 h 704885"/>
              <a:gd name="connsiteX65" fmla="*/ 2622550 w 2622550"/>
              <a:gd name="connsiteY65"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29732 h 704885"/>
              <a:gd name="connsiteX23" fmla="*/ 908050 w 2622550"/>
              <a:gd name="connsiteY23" fmla="*/ 478932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40695 w 2622550"/>
              <a:gd name="connsiteY44" fmla="*/ 563069 h 704885"/>
              <a:gd name="connsiteX45" fmla="*/ 1816100 w 2622550"/>
              <a:gd name="connsiteY45" fmla="*/ 523382 h 704885"/>
              <a:gd name="connsiteX46" fmla="*/ 1822450 w 2622550"/>
              <a:gd name="connsiteY46" fmla="*/ 580532 h 704885"/>
              <a:gd name="connsiteX47" fmla="*/ 1847850 w 2622550"/>
              <a:gd name="connsiteY47" fmla="*/ 504332 h 704885"/>
              <a:gd name="connsiteX48" fmla="*/ 1879600 w 2622550"/>
              <a:gd name="connsiteY48" fmla="*/ 21732 h 704885"/>
              <a:gd name="connsiteX49" fmla="*/ 1930400 w 2622550"/>
              <a:gd name="connsiteY49" fmla="*/ 639270 h 704885"/>
              <a:gd name="connsiteX50" fmla="*/ 1968500 w 2622550"/>
              <a:gd name="connsiteY50" fmla="*/ 548782 h 704885"/>
              <a:gd name="connsiteX51" fmla="*/ 2032000 w 2622550"/>
              <a:gd name="connsiteY51" fmla="*/ 555132 h 704885"/>
              <a:gd name="connsiteX52" fmla="*/ 2078038 w 2622550"/>
              <a:gd name="connsiteY52" fmla="*/ 534494 h 704885"/>
              <a:gd name="connsiteX53" fmla="*/ 2138362 w 2622550"/>
              <a:gd name="connsiteY53" fmla="*/ 564657 h 704885"/>
              <a:gd name="connsiteX54" fmla="*/ 2208213 w 2622550"/>
              <a:gd name="connsiteY54" fmla="*/ 519413 h 704885"/>
              <a:gd name="connsiteX55" fmla="*/ 2262982 w 2622550"/>
              <a:gd name="connsiteY55" fmla="*/ 555132 h 704885"/>
              <a:gd name="connsiteX56" fmla="*/ 2330450 w 2622550"/>
              <a:gd name="connsiteY56" fmla="*/ 524176 h 704885"/>
              <a:gd name="connsiteX57" fmla="*/ 2358231 w 2622550"/>
              <a:gd name="connsiteY57" fmla="*/ 521794 h 704885"/>
              <a:gd name="connsiteX58" fmla="*/ 2387600 w 2622550"/>
              <a:gd name="connsiteY58" fmla="*/ 542432 h 704885"/>
              <a:gd name="connsiteX59" fmla="*/ 2438400 w 2622550"/>
              <a:gd name="connsiteY59" fmla="*/ 510682 h 704885"/>
              <a:gd name="connsiteX60" fmla="*/ 2451100 w 2622550"/>
              <a:gd name="connsiteY60" fmla="*/ 491632 h 704885"/>
              <a:gd name="connsiteX61" fmla="*/ 2476500 w 2622550"/>
              <a:gd name="connsiteY61" fmla="*/ 561482 h 704885"/>
              <a:gd name="connsiteX62" fmla="*/ 2501900 w 2622550"/>
              <a:gd name="connsiteY62" fmla="*/ 491632 h 704885"/>
              <a:gd name="connsiteX63" fmla="*/ 2533650 w 2622550"/>
              <a:gd name="connsiteY63" fmla="*/ 567832 h 704885"/>
              <a:gd name="connsiteX64" fmla="*/ 2584450 w 2622550"/>
              <a:gd name="connsiteY64" fmla="*/ 580532 h 704885"/>
              <a:gd name="connsiteX65" fmla="*/ 2622550 w 2622550"/>
              <a:gd name="connsiteY65"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29732 h 704885"/>
              <a:gd name="connsiteX23" fmla="*/ 908050 w 2622550"/>
              <a:gd name="connsiteY23" fmla="*/ 478932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40695 w 2622550"/>
              <a:gd name="connsiteY44" fmla="*/ 563069 h 704885"/>
              <a:gd name="connsiteX45" fmla="*/ 1820862 w 2622550"/>
              <a:gd name="connsiteY45" fmla="*/ 540051 h 704885"/>
              <a:gd name="connsiteX46" fmla="*/ 1822450 w 2622550"/>
              <a:gd name="connsiteY46" fmla="*/ 580532 h 704885"/>
              <a:gd name="connsiteX47" fmla="*/ 1847850 w 2622550"/>
              <a:gd name="connsiteY47" fmla="*/ 504332 h 704885"/>
              <a:gd name="connsiteX48" fmla="*/ 1879600 w 2622550"/>
              <a:gd name="connsiteY48" fmla="*/ 21732 h 704885"/>
              <a:gd name="connsiteX49" fmla="*/ 1930400 w 2622550"/>
              <a:gd name="connsiteY49" fmla="*/ 639270 h 704885"/>
              <a:gd name="connsiteX50" fmla="*/ 1968500 w 2622550"/>
              <a:gd name="connsiteY50" fmla="*/ 548782 h 704885"/>
              <a:gd name="connsiteX51" fmla="*/ 2032000 w 2622550"/>
              <a:gd name="connsiteY51" fmla="*/ 555132 h 704885"/>
              <a:gd name="connsiteX52" fmla="*/ 2078038 w 2622550"/>
              <a:gd name="connsiteY52" fmla="*/ 534494 h 704885"/>
              <a:gd name="connsiteX53" fmla="*/ 2138362 w 2622550"/>
              <a:gd name="connsiteY53" fmla="*/ 564657 h 704885"/>
              <a:gd name="connsiteX54" fmla="*/ 2208213 w 2622550"/>
              <a:gd name="connsiteY54" fmla="*/ 519413 h 704885"/>
              <a:gd name="connsiteX55" fmla="*/ 2262982 w 2622550"/>
              <a:gd name="connsiteY55" fmla="*/ 555132 h 704885"/>
              <a:gd name="connsiteX56" fmla="*/ 2330450 w 2622550"/>
              <a:gd name="connsiteY56" fmla="*/ 524176 h 704885"/>
              <a:gd name="connsiteX57" fmla="*/ 2358231 w 2622550"/>
              <a:gd name="connsiteY57" fmla="*/ 521794 h 704885"/>
              <a:gd name="connsiteX58" fmla="*/ 2387600 w 2622550"/>
              <a:gd name="connsiteY58" fmla="*/ 542432 h 704885"/>
              <a:gd name="connsiteX59" fmla="*/ 2438400 w 2622550"/>
              <a:gd name="connsiteY59" fmla="*/ 510682 h 704885"/>
              <a:gd name="connsiteX60" fmla="*/ 2451100 w 2622550"/>
              <a:gd name="connsiteY60" fmla="*/ 491632 h 704885"/>
              <a:gd name="connsiteX61" fmla="*/ 2476500 w 2622550"/>
              <a:gd name="connsiteY61" fmla="*/ 561482 h 704885"/>
              <a:gd name="connsiteX62" fmla="*/ 2501900 w 2622550"/>
              <a:gd name="connsiteY62" fmla="*/ 491632 h 704885"/>
              <a:gd name="connsiteX63" fmla="*/ 2533650 w 2622550"/>
              <a:gd name="connsiteY63" fmla="*/ 567832 h 704885"/>
              <a:gd name="connsiteX64" fmla="*/ 2584450 w 2622550"/>
              <a:gd name="connsiteY64" fmla="*/ 580532 h 704885"/>
              <a:gd name="connsiteX65" fmla="*/ 2622550 w 2622550"/>
              <a:gd name="connsiteY65"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29732 h 704885"/>
              <a:gd name="connsiteX23" fmla="*/ 905668 w 2622550"/>
              <a:gd name="connsiteY23" fmla="*/ 495601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40695 w 2622550"/>
              <a:gd name="connsiteY44" fmla="*/ 563069 h 704885"/>
              <a:gd name="connsiteX45" fmla="*/ 1820862 w 2622550"/>
              <a:gd name="connsiteY45" fmla="*/ 540051 h 704885"/>
              <a:gd name="connsiteX46" fmla="*/ 1822450 w 2622550"/>
              <a:gd name="connsiteY46" fmla="*/ 580532 h 704885"/>
              <a:gd name="connsiteX47" fmla="*/ 1847850 w 2622550"/>
              <a:gd name="connsiteY47" fmla="*/ 504332 h 704885"/>
              <a:gd name="connsiteX48" fmla="*/ 1879600 w 2622550"/>
              <a:gd name="connsiteY48" fmla="*/ 21732 h 704885"/>
              <a:gd name="connsiteX49" fmla="*/ 1930400 w 2622550"/>
              <a:gd name="connsiteY49" fmla="*/ 639270 h 704885"/>
              <a:gd name="connsiteX50" fmla="*/ 1968500 w 2622550"/>
              <a:gd name="connsiteY50" fmla="*/ 548782 h 704885"/>
              <a:gd name="connsiteX51" fmla="*/ 2032000 w 2622550"/>
              <a:gd name="connsiteY51" fmla="*/ 555132 h 704885"/>
              <a:gd name="connsiteX52" fmla="*/ 2078038 w 2622550"/>
              <a:gd name="connsiteY52" fmla="*/ 534494 h 704885"/>
              <a:gd name="connsiteX53" fmla="*/ 2138362 w 2622550"/>
              <a:gd name="connsiteY53" fmla="*/ 564657 h 704885"/>
              <a:gd name="connsiteX54" fmla="*/ 2208213 w 2622550"/>
              <a:gd name="connsiteY54" fmla="*/ 519413 h 704885"/>
              <a:gd name="connsiteX55" fmla="*/ 2262982 w 2622550"/>
              <a:gd name="connsiteY55" fmla="*/ 555132 h 704885"/>
              <a:gd name="connsiteX56" fmla="*/ 2330450 w 2622550"/>
              <a:gd name="connsiteY56" fmla="*/ 524176 h 704885"/>
              <a:gd name="connsiteX57" fmla="*/ 2358231 w 2622550"/>
              <a:gd name="connsiteY57" fmla="*/ 521794 h 704885"/>
              <a:gd name="connsiteX58" fmla="*/ 2387600 w 2622550"/>
              <a:gd name="connsiteY58" fmla="*/ 542432 h 704885"/>
              <a:gd name="connsiteX59" fmla="*/ 2438400 w 2622550"/>
              <a:gd name="connsiteY59" fmla="*/ 510682 h 704885"/>
              <a:gd name="connsiteX60" fmla="*/ 2451100 w 2622550"/>
              <a:gd name="connsiteY60" fmla="*/ 491632 h 704885"/>
              <a:gd name="connsiteX61" fmla="*/ 2476500 w 2622550"/>
              <a:gd name="connsiteY61" fmla="*/ 561482 h 704885"/>
              <a:gd name="connsiteX62" fmla="*/ 2501900 w 2622550"/>
              <a:gd name="connsiteY62" fmla="*/ 491632 h 704885"/>
              <a:gd name="connsiteX63" fmla="*/ 2533650 w 2622550"/>
              <a:gd name="connsiteY63" fmla="*/ 567832 h 704885"/>
              <a:gd name="connsiteX64" fmla="*/ 2584450 w 2622550"/>
              <a:gd name="connsiteY64" fmla="*/ 580532 h 704885"/>
              <a:gd name="connsiteX65" fmla="*/ 2622550 w 2622550"/>
              <a:gd name="connsiteY65"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44020 h 704885"/>
              <a:gd name="connsiteX23" fmla="*/ 905668 w 2622550"/>
              <a:gd name="connsiteY23" fmla="*/ 495601 h 704885"/>
              <a:gd name="connsiteX24" fmla="*/ 958850 w 2622550"/>
              <a:gd name="connsiteY24" fmla="*/ 580532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40695 w 2622550"/>
              <a:gd name="connsiteY44" fmla="*/ 563069 h 704885"/>
              <a:gd name="connsiteX45" fmla="*/ 1820862 w 2622550"/>
              <a:gd name="connsiteY45" fmla="*/ 540051 h 704885"/>
              <a:gd name="connsiteX46" fmla="*/ 1822450 w 2622550"/>
              <a:gd name="connsiteY46" fmla="*/ 580532 h 704885"/>
              <a:gd name="connsiteX47" fmla="*/ 1847850 w 2622550"/>
              <a:gd name="connsiteY47" fmla="*/ 504332 h 704885"/>
              <a:gd name="connsiteX48" fmla="*/ 1879600 w 2622550"/>
              <a:gd name="connsiteY48" fmla="*/ 21732 h 704885"/>
              <a:gd name="connsiteX49" fmla="*/ 1930400 w 2622550"/>
              <a:gd name="connsiteY49" fmla="*/ 639270 h 704885"/>
              <a:gd name="connsiteX50" fmla="*/ 1968500 w 2622550"/>
              <a:gd name="connsiteY50" fmla="*/ 548782 h 704885"/>
              <a:gd name="connsiteX51" fmla="*/ 2032000 w 2622550"/>
              <a:gd name="connsiteY51" fmla="*/ 555132 h 704885"/>
              <a:gd name="connsiteX52" fmla="*/ 2078038 w 2622550"/>
              <a:gd name="connsiteY52" fmla="*/ 534494 h 704885"/>
              <a:gd name="connsiteX53" fmla="*/ 2138362 w 2622550"/>
              <a:gd name="connsiteY53" fmla="*/ 564657 h 704885"/>
              <a:gd name="connsiteX54" fmla="*/ 2208213 w 2622550"/>
              <a:gd name="connsiteY54" fmla="*/ 519413 h 704885"/>
              <a:gd name="connsiteX55" fmla="*/ 2262982 w 2622550"/>
              <a:gd name="connsiteY55" fmla="*/ 555132 h 704885"/>
              <a:gd name="connsiteX56" fmla="*/ 2330450 w 2622550"/>
              <a:gd name="connsiteY56" fmla="*/ 524176 h 704885"/>
              <a:gd name="connsiteX57" fmla="*/ 2358231 w 2622550"/>
              <a:gd name="connsiteY57" fmla="*/ 521794 h 704885"/>
              <a:gd name="connsiteX58" fmla="*/ 2387600 w 2622550"/>
              <a:gd name="connsiteY58" fmla="*/ 542432 h 704885"/>
              <a:gd name="connsiteX59" fmla="*/ 2438400 w 2622550"/>
              <a:gd name="connsiteY59" fmla="*/ 510682 h 704885"/>
              <a:gd name="connsiteX60" fmla="*/ 2451100 w 2622550"/>
              <a:gd name="connsiteY60" fmla="*/ 491632 h 704885"/>
              <a:gd name="connsiteX61" fmla="*/ 2476500 w 2622550"/>
              <a:gd name="connsiteY61" fmla="*/ 561482 h 704885"/>
              <a:gd name="connsiteX62" fmla="*/ 2501900 w 2622550"/>
              <a:gd name="connsiteY62" fmla="*/ 491632 h 704885"/>
              <a:gd name="connsiteX63" fmla="*/ 2533650 w 2622550"/>
              <a:gd name="connsiteY63" fmla="*/ 567832 h 704885"/>
              <a:gd name="connsiteX64" fmla="*/ 2584450 w 2622550"/>
              <a:gd name="connsiteY64" fmla="*/ 580532 h 704885"/>
              <a:gd name="connsiteX65" fmla="*/ 2622550 w 2622550"/>
              <a:gd name="connsiteY65" fmla="*/ 567832 h 704885"/>
              <a:gd name="connsiteX0" fmla="*/ 0 w 2622550"/>
              <a:gd name="connsiteY0" fmla="*/ 542432 h 704885"/>
              <a:gd name="connsiteX1" fmla="*/ 63500 w 2622550"/>
              <a:gd name="connsiteY1" fmla="*/ 561482 h 704885"/>
              <a:gd name="connsiteX2" fmla="*/ 82550 w 2622550"/>
              <a:gd name="connsiteY2" fmla="*/ 523382 h 704885"/>
              <a:gd name="connsiteX3" fmla="*/ 146050 w 2622550"/>
              <a:gd name="connsiteY3" fmla="*/ 580532 h 704885"/>
              <a:gd name="connsiteX4" fmla="*/ 165100 w 2622550"/>
              <a:gd name="connsiteY4" fmla="*/ 517032 h 704885"/>
              <a:gd name="connsiteX5" fmla="*/ 209550 w 2622550"/>
              <a:gd name="connsiteY5" fmla="*/ 555132 h 704885"/>
              <a:gd name="connsiteX6" fmla="*/ 266700 w 2622550"/>
              <a:gd name="connsiteY6" fmla="*/ 517032 h 704885"/>
              <a:gd name="connsiteX7" fmla="*/ 279400 w 2622550"/>
              <a:gd name="connsiteY7" fmla="*/ 536082 h 704885"/>
              <a:gd name="connsiteX8" fmla="*/ 304800 w 2622550"/>
              <a:gd name="connsiteY8" fmla="*/ 542432 h 704885"/>
              <a:gd name="connsiteX9" fmla="*/ 327025 w 2622550"/>
              <a:gd name="connsiteY9" fmla="*/ 537670 h 704885"/>
              <a:gd name="connsiteX10" fmla="*/ 355600 w 2622550"/>
              <a:gd name="connsiteY10" fmla="*/ 612282 h 704885"/>
              <a:gd name="connsiteX11" fmla="*/ 401638 w 2622550"/>
              <a:gd name="connsiteY11" fmla="*/ 300 h 704885"/>
              <a:gd name="connsiteX12" fmla="*/ 438150 w 2622550"/>
              <a:gd name="connsiteY12" fmla="*/ 701182 h 704885"/>
              <a:gd name="connsiteX13" fmla="*/ 482600 w 2622550"/>
              <a:gd name="connsiteY13" fmla="*/ 521001 h 704885"/>
              <a:gd name="connsiteX14" fmla="*/ 504825 w 2622550"/>
              <a:gd name="connsiteY14" fmla="*/ 540050 h 704885"/>
              <a:gd name="connsiteX15" fmla="*/ 520700 w 2622550"/>
              <a:gd name="connsiteY15" fmla="*/ 497982 h 704885"/>
              <a:gd name="connsiteX16" fmla="*/ 558800 w 2622550"/>
              <a:gd name="connsiteY16" fmla="*/ 523382 h 704885"/>
              <a:gd name="connsiteX17" fmla="*/ 590550 w 2622550"/>
              <a:gd name="connsiteY17" fmla="*/ 497982 h 704885"/>
              <a:gd name="connsiteX18" fmla="*/ 641350 w 2622550"/>
              <a:gd name="connsiteY18" fmla="*/ 548782 h 704885"/>
              <a:gd name="connsiteX19" fmla="*/ 685800 w 2622550"/>
              <a:gd name="connsiteY19" fmla="*/ 523382 h 704885"/>
              <a:gd name="connsiteX20" fmla="*/ 749300 w 2622550"/>
              <a:gd name="connsiteY20" fmla="*/ 561482 h 704885"/>
              <a:gd name="connsiteX21" fmla="*/ 806450 w 2622550"/>
              <a:gd name="connsiteY21" fmla="*/ 523382 h 704885"/>
              <a:gd name="connsiteX22" fmla="*/ 889000 w 2622550"/>
              <a:gd name="connsiteY22" fmla="*/ 544020 h 704885"/>
              <a:gd name="connsiteX23" fmla="*/ 905668 w 2622550"/>
              <a:gd name="connsiteY23" fmla="*/ 495601 h 704885"/>
              <a:gd name="connsiteX24" fmla="*/ 958850 w 2622550"/>
              <a:gd name="connsiteY24" fmla="*/ 559101 h 704885"/>
              <a:gd name="connsiteX25" fmla="*/ 1003300 w 2622550"/>
              <a:gd name="connsiteY25" fmla="*/ 542432 h 704885"/>
              <a:gd name="connsiteX26" fmla="*/ 1041400 w 2622550"/>
              <a:gd name="connsiteY26" fmla="*/ 542432 h 704885"/>
              <a:gd name="connsiteX27" fmla="*/ 1041400 w 2622550"/>
              <a:gd name="connsiteY27" fmla="*/ 561482 h 704885"/>
              <a:gd name="connsiteX28" fmla="*/ 1066800 w 2622550"/>
              <a:gd name="connsiteY28" fmla="*/ 567832 h 704885"/>
              <a:gd name="connsiteX29" fmla="*/ 1111250 w 2622550"/>
              <a:gd name="connsiteY29" fmla="*/ 9032 h 704885"/>
              <a:gd name="connsiteX30" fmla="*/ 1162050 w 2622550"/>
              <a:gd name="connsiteY30" fmla="*/ 612282 h 704885"/>
              <a:gd name="connsiteX31" fmla="*/ 1225550 w 2622550"/>
              <a:gd name="connsiteY31" fmla="*/ 561482 h 704885"/>
              <a:gd name="connsiteX32" fmla="*/ 1217613 w 2622550"/>
              <a:gd name="connsiteY32" fmla="*/ 564657 h 704885"/>
              <a:gd name="connsiteX33" fmla="*/ 1295400 w 2622550"/>
              <a:gd name="connsiteY33" fmla="*/ 547988 h 704885"/>
              <a:gd name="connsiteX34" fmla="*/ 1320800 w 2622550"/>
              <a:gd name="connsiteY34" fmla="*/ 529732 h 704885"/>
              <a:gd name="connsiteX35" fmla="*/ 1377157 w 2622550"/>
              <a:gd name="connsiteY35" fmla="*/ 517825 h 704885"/>
              <a:gd name="connsiteX36" fmla="*/ 1403350 w 2622550"/>
              <a:gd name="connsiteY36" fmla="*/ 561482 h 704885"/>
              <a:gd name="connsiteX37" fmla="*/ 1424781 w 2622550"/>
              <a:gd name="connsiteY37" fmla="*/ 548941 h 704885"/>
              <a:gd name="connsiteX38" fmla="*/ 1473200 w 2622550"/>
              <a:gd name="connsiteY38" fmla="*/ 551164 h 704885"/>
              <a:gd name="connsiteX39" fmla="*/ 1517650 w 2622550"/>
              <a:gd name="connsiteY39" fmla="*/ 545607 h 704885"/>
              <a:gd name="connsiteX40" fmla="*/ 1583531 w 2622550"/>
              <a:gd name="connsiteY40" fmla="*/ 601169 h 704885"/>
              <a:gd name="connsiteX41" fmla="*/ 1613693 w 2622550"/>
              <a:gd name="connsiteY41" fmla="*/ 549575 h 704885"/>
              <a:gd name="connsiteX42" fmla="*/ 1656556 w 2622550"/>
              <a:gd name="connsiteY42" fmla="*/ 579738 h 704885"/>
              <a:gd name="connsiteX43" fmla="*/ 1708150 w 2622550"/>
              <a:gd name="connsiteY43" fmla="*/ 536082 h 704885"/>
              <a:gd name="connsiteX44" fmla="*/ 1740695 w 2622550"/>
              <a:gd name="connsiteY44" fmla="*/ 563069 h 704885"/>
              <a:gd name="connsiteX45" fmla="*/ 1820862 w 2622550"/>
              <a:gd name="connsiteY45" fmla="*/ 540051 h 704885"/>
              <a:gd name="connsiteX46" fmla="*/ 1822450 w 2622550"/>
              <a:gd name="connsiteY46" fmla="*/ 580532 h 704885"/>
              <a:gd name="connsiteX47" fmla="*/ 1847850 w 2622550"/>
              <a:gd name="connsiteY47" fmla="*/ 504332 h 704885"/>
              <a:gd name="connsiteX48" fmla="*/ 1879600 w 2622550"/>
              <a:gd name="connsiteY48" fmla="*/ 21732 h 704885"/>
              <a:gd name="connsiteX49" fmla="*/ 1930400 w 2622550"/>
              <a:gd name="connsiteY49" fmla="*/ 639270 h 704885"/>
              <a:gd name="connsiteX50" fmla="*/ 1968500 w 2622550"/>
              <a:gd name="connsiteY50" fmla="*/ 548782 h 704885"/>
              <a:gd name="connsiteX51" fmla="*/ 2032000 w 2622550"/>
              <a:gd name="connsiteY51" fmla="*/ 555132 h 704885"/>
              <a:gd name="connsiteX52" fmla="*/ 2078038 w 2622550"/>
              <a:gd name="connsiteY52" fmla="*/ 534494 h 704885"/>
              <a:gd name="connsiteX53" fmla="*/ 2138362 w 2622550"/>
              <a:gd name="connsiteY53" fmla="*/ 564657 h 704885"/>
              <a:gd name="connsiteX54" fmla="*/ 2208213 w 2622550"/>
              <a:gd name="connsiteY54" fmla="*/ 519413 h 704885"/>
              <a:gd name="connsiteX55" fmla="*/ 2262982 w 2622550"/>
              <a:gd name="connsiteY55" fmla="*/ 555132 h 704885"/>
              <a:gd name="connsiteX56" fmla="*/ 2330450 w 2622550"/>
              <a:gd name="connsiteY56" fmla="*/ 524176 h 704885"/>
              <a:gd name="connsiteX57" fmla="*/ 2358231 w 2622550"/>
              <a:gd name="connsiteY57" fmla="*/ 521794 h 704885"/>
              <a:gd name="connsiteX58" fmla="*/ 2387600 w 2622550"/>
              <a:gd name="connsiteY58" fmla="*/ 542432 h 704885"/>
              <a:gd name="connsiteX59" fmla="*/ 2438400 w 2622550"/>
              <a:gd name="connsiteY59" fmla="*/ 510682 h 704885"/>
              <a:gd name="connsiteX60" fmla="*/ 2451100 w 2622550"/>
              <a:gd name="connsiteY60" fmla="*/ 491632 h 704885"/>
              <a:gd name="connsiteX61" fmla="*/ 2476500 w 2622550"/>
              <a:gd name="connsiteY61" fmla="*/ 561482 h 704885"/>
              <a:gd name="connsiteX62" fmla="*/ 2501900 w 2622550"/>
              <a:gd name="connsiteY62" fmla="*/ 491632 h 704885"/>
              <a:gd name="connsiteX63" fmla="*/ 2533650 w 2622550"/>
              <a:gd name="connsiteY63" fmla="*/ 567832 h 704885"/>
              <a:gd name="connsiteX64" fmla="*/ 2584450 w 2622550"/>
              <a:gd name="connsiteY64" fmla="*/ 580532 h 704885"/>
              <a:gd name="connsiteX65" fmla="*/ 2622550 w 2622550"/>
              <a:gd name="connsiteY65" fmla="*/ 567832 h 704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622550" h="704885">
                <a:moveTo>
                  <a:pt x="0" y="542432"/>
                </a:moveTo>
                <a:cubicBezTo>
                  <a:pt x="24871" y="553544"/>
                  <a:pt x="49742" y="564657"/>
                  <a:pt x="63500" y="561482"/>
                </a:cubicBezTo>
                <a:cubicBezTo>
                  <a:pt x="77258" y="558307"/>
                  <a:pt x="68792" y="520207"/>
                  <a:pt x="82550" y="523382"/>
                </a:cubicBezTo>
                <a:cubicBezTo>
                  <a:pt x="96308" y="526557"/>
                  <a:pt x="132292" y="581590"/>
                  <a:pt x="146050" y="580532"/>
                </a:cubicBezTo>
                <a:cubicBezTo>
                  <a:pt x="159808" y="579474"/>
                  <a:pt x="154517" y="521265"/>
                  <a:pt x="165100" y="517032"/>
                </a:cubicBezTo>
                <a:cubicBezTo>
                  <a:pt x="175683" y="512799"/>
                  <a:pt x="192617" y="555132"/>
                  <a:pt x="209550" y="555132"/>
                </a:cubicBezTo>
                <a:cubicBezTo>
                  <a:pt x="226483" y="555132"/>
                  <a:pt x="266700" y="517032"/>
                  <a:pt x="266700" y="517032"/>
                </a:cubicBezTo>
                <a:cubicBezTo>
                  <a:pt x="278342" y="513857"/>
                  <a:pt x="273050" y="531849"/>
                  <a:pt x="279400" y="536082"/>
                </a:cubicBezTo>
                <a:cubicBezTo>
                  <a:pt x="285750" y="540315"/>
                  <a:pt x="296863" y="542167"/>
                  <a:pt x="304800" y="542432"/>
                </a:cubicBezTo>
                <a:cubicBezTo>
                  <a:pt x="312737" y="542697"/>
                  <a:pt x="318558" y="526028"/>
                  <a:pt x="327025" y="537670"/>
                </a:cubicBezTo>
                <a:cubicBezTo>
                  <a:pt x="335492" y="549312"/>
                  <a:pt x="343165" y="701844"/>
                  <a:pt x="355600" y="612282"/>
                </a:cubicBezTo>
                <a:cubicBezTo>
                  <a:pt x="368035" y="522720"/>
                  <a:pt x="387880" y="-14517"/>
                  <a:pt x="401638" y="300"/>
                </a:cubicBezTo>
                <a:cubicBezTo>
                  <a:pt x="415396" y="15117"/>
                  <a:pt x="427037" y="669168"/>
                  <a:pt x="438150" y="701182"/>
                </a:cubicBezTo>
                <a:cubicBezTo>
                  <a:pt x="449263" y="733196"/>
                  <a:pt x="471488" y="547856"/>
                  <a:pt x="482600" y="521001"/>
                </a:cubicBezTo>
                <a:cubicBezTo>
                  <a:pt x="493712" y="494146"/>
                  <a:pt x="498475" y="543886"/>
                  <a:pt x="504825" y="540050"/>
                </a:cubicBezTo>
                <a:cubicBezTo>
                  <a:pt x="511175" y="536214"/>
                  <a:pt x="511704" y="500760"/>
                  <a:pt x="520700" y="497982"/>
                </a:cubicBezTo>
                <a:cubicBezTo>
                  <a:pt x="529696" y="495204"/>
                  <a:pt x="547158" y="523382"/>
                  <a:pt x="558800" y="523382"/>
                </a:cubicBezTo>
                <a:cubicBezTo>
                  <a:pt x="570442" y="523382"/>
                  <a:pt x="576792" y="493749"/>
                  <a:pt x="590550" y="497982"/>
                </a:cubicBezTo>
                <a:cubicBezTo>
                  <a:pt x="604308" y="502215"/>
                  <a:pt x="625475" y="544549"/>
                  <a:pt x="641350" y="548782"/>
                </a:cubicBezTo>
                <a:cubicBezTo>
                  <a:pt x="657225" y="553015"/>
                  <a:pt x="667808" y="521265"/>
                  <a:pt x="685800" y="523382"/>
                </a:cubicBezTo>
                <a:cubicBezTo>
                  <a:pt x="703792" y="525499"/>
                  <a:pt x="729192" y="561482"/>
                  <a:pt x="749300" y="561482"/>
                </a:cubicBezTo>
                <a:cubicBezTo>
                  <a:pt x="769408" y="561482"/>
                  <a:pt x="783167" y="526292"/>
                  <a:pt x="806450" y="523382"/>
                </a:cubicBezTo>
                <a:cubicBezTo>
                  <a:pt x="829733" y="520472"/>
                  <a:pt x="872464" y="548650"/>
                  <a:pt x="889000" y="544020"/>
                </a:cubicBezTo>
                <a:cubicBezTo>
                  <a:pt x="905536" y="539390"/>
                  <a:pt x="894026" y="493088"/>
                  <a:pt x="905668" y="495601"/>
                </a:cubicBezTo>
                <a:cubicBezTo>
                  <a:pt x="917310" y="498114"/>
                  <a:pt x="942578" y="551296"/>
                  <a:pt x="958850" y="559101"/>
                </a:cubicBezTo>
                <a:cubicBezTo>
                  <a:pt x="975122" y="566906"/>
                  <a:pt x="989542" y="545210"/>
                  <a:pt x="1003300" y="542432"/>
                </a:cubicBezTo>
                <a:cubicBezTo>
                  <a:pt x="1017058" y="539654"/>
                  <a:pt x="1035050" y="539257"/>
                  <a:pt x="1041400" y="542432"/>
                </a:cubicBezTo>
                <a:cubicBezTo>
                  <a:pt x="1047750" y="545607"/>
                  <a:pt x="1037167" y="557249"/>
                  <a:pt x="1041400" y="561482"/>
                </a:cubicBezTo>
                <a:cubicBezTo>
                  <a:pt x="1045633" y="565715"/>
                  <a:pt x="1055158" y="659907"/>
                  <a:pt x="1066800" y="567832"/>
                </a:cubicBezTo>
                <a:cubicBezTo>
                  <a:pt x="1078442" y="475757"/>
                  <a:pt x="1095375" y="1624"/>
                  <a:pt x="1111250" y="9032"/>
                </a:cubicBezTo>
                <a:cubicBezTo>
                  <a:pt x="1127125" y="16440"/>
                  <a:pt x="1150144" y="548782"/>
                  <a:pt x="1162050" y="612282"/>
                </a:cubicBezTo>
                <a:cubicBezTo>
                  <a:pt x="1173956" y="675782"/>
                  <a:pt x="1216290" y="569419"/>
                  <a:pt x="1225550" y="561482"/>
                </a:cubicBezTo>
                <a:cubicBezTo>
                  <a:pt x="1234810" y="553545"/>
                  <a:pt x="1205971" y="566906"/>
                  <a:pt x="1217613" y="564657"/>
                </a:cubicBezTo>
                <a:cubicBezTo>
                  <a:pt x="1229255" y="562408"/>
                  <a:pt x="1278202" y="553809"/>
                  <a:pt x="1295400" y="547988"/>
                </a:cubicBezTo>
                <a:cubicBezTo>
                  <a:pt x="1312598" y="542167"/>
                  <a:pt x="1307174" y="534759"/>
                  <a:pt x="1320800" y="529732"/>
                </a:cubicBezTo>
                <a:cubicBezTo>
                  <a:pt x="1334426" y="524705"/>
                  <a:pt x="1363399" y="512533"/>
                  <a:pt x="1377157" y="517825"/>
                </a:cubicBezTo>
                <a:cubicBezTo>
                  <a:pt x="1390915" y="523117"/>
                  <a:pt x="1395413" y="556296"/>
                  <a:pt x="1403350" y="561482"/>
                </a:cubicBezTo>
                <a:cubicBezTo>
                  <a:pt x="1411287" y="566668"/>
                  <a:pt x="1413139" y="544708"/>
                  <a:pt x="1424781" y="548941"/>
                </a:cubicBezTo>
                <a:cubicBezTo>
                  <a:pt x="1436423" y="553174"/>
                  <a:pt x="1457722" y="551720"/>
                  <a:pt x="1473200" y="551164"/>
                </a:cubicBezTo>
                <a:cubicBezTo>
                  <a:pt x="1488678" y="550608"/>
                  <a:pt x="1499262" y="537273"/>
                  <a:pt x="1517650" y="545607"/>
                </a:cubicBezTo>
                <a:cubicBezTo>
                  <a:pt x="1536038" y="553941"/>
                  <a:pt x="1567524" y="600508"/>
                  <a:pt x="1583531" y="601169"/>
                </a:cubicBezTo>
                <a:cubicBezTo>
                  <a:pt x="1599538" y="601830"/>
                  <a:pt x="1601522" y="553147"/>
                  <a:pt x="1613693" y="549575"/>
                </a:cubicBezTo>
                <a:cubicBezTo>
                  <a:pt x="1625864" y="546003"/>
                  <a:pt x="1640813" y="581987"/>
                  <a:pt x="1656556" y="579738"/>
                </a:cubicBezTo>
                <a:cubicBezTo>
                  <a:pt x="1672299" y="577489"/>
                  <a:pt x="1694127" y="538860"/>
                  <a:pt x="1708150" y="536082"/>
                </a:cubicBezTo>
                <a:cubicBezTo>
                  <a:pt x="1722173" y="533304"/>
                  <a:pt x="1721910" y="562407"/>
                  <a:pt x="1740695" y="563069"/>
                </a:cubicBezTo>
                <a:cubicBezTo>
                  <a:pt x="1759480" y="563731"/>
                  <a:pt x="1807236" y="537141"/>
                  <a:pt x="1820862" y="540051"/>
                </a:cubicBezTo>
                <a:cubicBezTo>
                  <a:pt x="1834488" y="542961"/>
                  <a:pt x="1817952" y="586485"/>
                  <a:pt x="1822450" y="580532"/>
                </a:cubicBezTo>
                <a:cubicBezTo>
                  <a:pt x="1826948" y="574579"/>
                  <a:pt x="1838325" y="597465"/>
                  <a:pt x="1847850" y="504332"/>
                </a:cubicBezTo>
                <a:cubicBezTo>
                  <a:pt x="1857375" y="411199"/>
                  <a:pt x="1865842" y="-758"/>
                  <a:pt x="1879600" y="21732"/>
                </a:cubicBezTo>
                <a:cubicBezTo>
                  <a:pt x="1893358" y="44222"/>
                  <a:pt x="1917964" y="632391"/>
                  <a:pt x="1930400" y="639270"/>
                </a:cubicBezTo>
                <a:cubicBezTo>
                  <a:pt x="1942836" y="646149"/>
                  <a:pt x="1951567" y="562805"/>
                  <a:pt x="1968500" y="548782"/>
                </a:cubicBezTo>
                <a:cubicBezTo>
                  <a:pt x="1985433" y="534759"/>
                  <a:pt x="2013744" y="557513"/>
                  <a:pt x="2032000" y="555132"/>
                </a:cubicBezTo>
                <a:cubicBezTo>
                  <a:pt x="2050256" y="552751"/>
                  <a:pt x="2060311" y="532906"/>
                  <a:pt x="2078038" y="534494"/>
                </a:cubicBezTo>
                <a:cubicBezTo>
                  <a:pt x="2095765" y="536082"/>
                  <a:pt x="2116666" y="567171"/>
                  <a:pt x="2138362" y="564657"/>
                </a:cubicBezTo>
                <a:cubicBezTo>
                  <a:pt x="2160058" y="562144"/>
                  <a:pt x="2187443" y="521000"/>
                  <a:pt x="2208213" y="519413"/>
                </a:cubicBezTo>
                <a:cubicBezTo>
                  <a:pt x="2228983" y="517826"/>
                  <a:pt x="2242609" y="554338"/>
                  <a:pt x="2262982" y="555132"/>
                </a:cubicBezTo>
                <a:cubicBezTo>
                  <a:pt x="2283355" y="555926"/>
                  <a:pt x="2314575" y="529732"/>
                  <a:pt x="2330450" y="524176"/>
                </a:cubicBezTo>
                <a:cubicBezTo>
                  <a:pt x="2346325" y="518620"/>
                  <a:pt x="2348706" y="518751"/>
                  <a:pt x="2358231" y="521794"/>
                </a:cubicBezTo>
                <a:cubicBezTo>
                  <a:pt x="2367756" y="524837"/>
                  <a:pt x="2374239" y="544284"/>
                  <a:pt x="2387600" y="542432"/>
                </a:cubicBezTo>
                <a:cubicBezTo>
                  <a:pt x="2400962" y="540580"/>
                  <a:pt x="2438400" y="510682"/>
                  <a:pt x="2438400" y="510682"/>
                </a:cubicBezTo>
                <a:cubicBezTo>
                  <a:pt x="2448983" y="502215"/>
                  <a:pt x="2444750" y="483165"/>
                  <a:pt x="2451100" y="491632"/>
                </a:cubicBezTo>
                <a:cubicBezTo>
                  <a:pt x="2457450" y="500099"/>
                  <a:pt x="2468033" y="561482"/>
                  <a:pt x="2476500" y="561482"/>
                </a:cubicBezTo>
                <a:cubicBezTo>
                  <a:pt x="2484967" y="561482"/>
                  <a:pt x="2492375" y="490574"/>
                  <a:pt x="2501900" y="491632"/>
                </a:cubicBezTo>
                <a:cubicBezTo>
                  <a:pt x="2511425" y="492690"/>
                  <a:pt x="2519892" y="553015"/>
                  <a:pt x="2533650" y="567832"/>
                </a:cubicBezTo>
                <a:cubicBezTo>
                  <a:pt x="2547408" y="582649"/>
                  <a:pt x="2569633" y="580532"/>
                  <a:pt x="2584450" y="580532"/>
                </a:cubicBezTo>
                <a:cubicBezTo>
                  <a:pt x="2599267" y="580532"/>
                  <a:pt x="2610908" y="574182"/>
                  <a:pt x="2622550" y="56783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13429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High risk question">
            <a:hlinkClick r:id="" action="ppaction://noaction"/>
            <a:extLst>
              <a:ext uri="{FF2B5EF4-FFF2-40B4-BE49-F238E27FC236}">
                <a16:creationId xmlns:a16="http://schemas.microsoft.com/office/drawing/2014/main" id="{D3084EB9-15C4-7F66-1DCE-2240F0ED143F}"/>
              </a:ext>
            </a:extLst>
          </p:cNvPr>
          <p:cNvSpPr/>
          <p:nvPr/>
        </p:nvSpPr>
        <p:spPr>
          <a:xfrm>
            <a:off x="7355789" y="5681465"/>
            <a:ext cx="4040333" cy="365760"/>
          </a:xfrm>
          <a:prstGeom prst="roundRect">
            <a:avLst/>
          </a:prstGeom>
          <a:solidFill>
            <a:schemeClr val="accent5"/>
          </a:solidFill>
          <a:ln w="381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68 </a:t>
            </a:r>
            <a:r>
              <a:rPr lang="en-US" dirty="0" err="1">
                <a:solidFill>
                  <a:schemeClr val="bg1"/>
                </a:solidFill>
              </a:rPr>
              <a:t>yo</a:t>
            </a:r>
            <a:r>
              <a:rPr lang="en-US" dirty="0">
                <a:solidFill>
                  <a:schemeClr val="bg1"/>
                </a:solidFill>
              </a:rPr>
              <a:t> M with </a:t>
            </a:r>
            <a:r>
              <a:rPr lang="en-US" dirty="0" err="1">
                <a:solidFill>
                  <a:schemeClr val="bg1"/>
                </a:solidFill>
              </a:rPr>
              <a:t>HFpEF</a:t>
            </a:r>
            <a:r>
              <a:rPr lang="en-US" dirty="0">
                <a:solidFill>
                  <a:schemeClr val="bg1"/>
                </a:solidFill>
              </a:rPr>
              <a:t>, HTN, DM, and CKD</a:t>
            </a:r>
          </a:p>
        </p:txBody>
      </p:sp>
      <p:sp>
        <p:nvSpPr>
          <p:cNvPr id="145" name="Low risk question">
            <a:hlinkClick r:id="" action="ppaction://noaction"/>
            <a:extLst>
              <a:ext uri="{FF2B5EF4-FFF2-40B4-BE49-F238E27FC236}">
                <a16:creationId xmlns:a16="http://schemas.microsoft.com/office/drawing/2014/main" id="{F40223C2-5619-EEED-40B5-EBB222340D77}"/>
              </a:ext>
            </a:extLst>
          </p:cNvPr>
          <p:cNvSpPr/>
          <p:nvPr/>
        </p:nvSpPr>
        <p:spPr>
          <a:xfrm>
            <a:off x="2905790" y="5689671"/>
            <a:ext cx="2908300" cy="365760"/>
          </a:xfrm>
          <a:prstGeom prst="roundRect">
            <a:avLst/>
          </a:prstGeom>
          <a:solidFill>
            <a:schemeClr val="accent6"/>
          </a:solidFill>
          <a:ln w="3810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51 </a:t>
            </a:r>
            <a:r>
              <a:rPr lang="en-US" dirty="0" err="1">
                <a:solidFill>
                  <a:schemeClr val="bg1"/>
                </a:solidFill>
              </a:rPr>
              <a:t>yo</a:t>
            </a:r>
            <a:r>
              <a:rPr lang="en-US" dirty="0">
                <a:solidFill>
                  <a:schemeClr val="bg1"/>
                </a:solidFill>
              </a:rPr>
              <a:t> F with no other PMH</a:t>
            </a:r>
          </a:p>
        </p:txBody>
      </p:sp>
      <p:grpSp>
        <p:nvGrpSpPr>
          <p:cNvPr id="99" name="Annual risk calculator">
            <a:extLst>
              <a:ext uri="{FF2B5EF4-FFF2-40B4-BE49-F238E27FC236}">
                <a16:creationId xmlns:a16="http://schemas.microsoft.com/office/drawing/2014/main" id="{BB673A82-01E3-7C1B-263A-3E6EEE091F88}"/>
              </a:ext>
            </a:extLst>
          </p:cNvPr>
          <p:cNvGrpSpPr/>
          <p:nvPr/>
        </p:nvGrpSpPr>
        <p:grpSpPr>
          <a:xfrm>
            <a:off x="506662" y="5694219"/>
            <a:ext cx="1720456" cy="715089"/>
            <a:chOff x="777334" y="5267433"/>
            <a:chExt cx="1720456" cy="715089"/>
          </a:xfrm>
          <a:effectLst/>
        </p:grpSpPr>
        <p:sp>
          <p:nvSpPr>
            <p:cNvPr id="96" name="TextBox 95">
              <a:hlinkClick r:id="rId3"/>
              <a:extLst>
                <a:ext uri="{FF2B5EF4-FFF2-40B4-BE49-F238E27FC236}">
                  <a16:creationId xmlns:a16="http://schemas.microsoft.com/office/drawing/2014/main" id="{6E5CB3BC-3E1E-72B4-A8EE-4B6BEFBAF310}"/>
                </a:ext>
              </a:extLst>
            </p:cNvPr>
            <p:cNvSpPr txBox="1"/>
            <p:nvPr/>
          </p:nvSpPr>
          <p:spPr>
            <a:xfrm>
              <a:off x="777334" y="5267433"/>
              <a:ext cx="1720456" cy="715089"/>
            </a:xfrm>
            <a:prstGeom prst="roundRect">
              <a:avLst/>
            </a:prstGeom>
            <a:ln w="38100"/>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hlinkClick r:id="rId3"/>
                </a:rPr>
                <a:t>Calculate</a:t>
              </a:r>
              <a:r>
                <a:rPr lang="en-US" b="1" dirty="0"/>
                <a:t> </a:t>
              </a:r>
            </a:p>
            <a:p>
              <a:r>
                <a:rPr lang="en-US" b="1" dirty="0"/>
                <a:t>annual risk</a:t>
              </a:r>
            </a:p>
          </p:txBody>
        </p:sp>
        <p:pic>
          <p:nvPicPr>
            <p:cNvPr id="98" name="Graphic 97" descr="Calculator with solid fill">
              <a:extLst>
                <a:ext uri="{FF2B5EF4-FFF2-40B4-BE49-F238E27FC236}">
                  <a16:creationId xmlns:a16="http://schemas.microsoft.com/office/drawing/2014/main" id="{3228B791-6080-AFF2-603F-0DD676ED7F9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22143" y="5350657"/>
              <a:ext cx="548640" cy="548640"/>
            </a:xfrm>
            <a:prstGeom prst="rect">
              <a:avLst/>
            </a:prstGeom>
          </p:spPr>
        </p:pic>
      </p:grpSp>
      <p:grpSp>
        <p:nvGrpSpPr>
          <p:cNvPr id="101" name="Annual risk calculator button">
            <a:extLst>
              <a:ext uri="{FF2B5EF4-FFF2-40B4-BE49-F238E27FC236}">
                <a16:creationId xmlns:a16="http://schemas.microsoft.com/office/drawing/2014/main" id="{309AF3F6-C0D5-AA2A-26EE-6AAE28E6BA4C}"/>
              </a:ext>
            </a:extLst>
          </p:cNvPr>
          <p:cNvGrpSpPr>
            <a:grpSpLocks/>
          </p:cNvGrpSpPr>
          <p:nvPr/>
        </p:nvGrpSpPr>
        <p:grpSpPr>
          <a:xfrm>
            <a:off x="506662" y="5694219"/>
            <a:ext cx="1720456" cy="715089"/>
            <a:chOff x="777334" y="5267433"/>
            <a:chExt cx="1720456" cy="715089"/>
          </a:xfrm>
          <a:effectLst/>
        </p:grpSpPr>
        <p:sp>
          <p:nvSpPr>
            <p:cNvPr id="113" name="TextBox 112">
              <a:extLst>
                <a:ext uri="{FF2B5EF4-FFF2-40B4-BE49-F238E27FC236}">
                  <a16:creationId xmlns:a16="http://schemas.microsoft.com/office/drawing/2014/main" id="{DC476089-4738-3C03-E664-45DC95DE591A}"/>
                </a:ext>
              </a:extLst>
            </p:cNvPr>
            <p:cNvSpPr txBox="1">
              <a:spLocks/>
            </p:cNvSpPr>
            <p:nvPr/>
          </p:nvSpPr>
          <p:spPr>
            <a:xfrm>
              <a:off x="777334" y="5267433"/>
              <a:ext cx="1720456"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hlinkClick r:id="rId3"/>
                </a:rPr>
                <a:t>Calculate </a:t>
              </a:r>
              <a:endParaRPr lang="en-US" b="1" dirty="0"/>
            </a:p>
            <a:p>
              <a:r>
                <a:rPr lang="en-US" b="1" dirty="0"/>
                <a:t>annual risk</a:t>
              </a:r>
            </a:p>
          </p:txBody>
        </p:sp>
        <p:pic>
          <p:nvPicPr>
            <p:cNvPr id="143" name="Graphic 142" descr="Calculator with solid fill">
              <a:extLst>
                <a:ext uri="{FF2B5EF4-FFF2-40B4-BE49-F238E27FC236}">
                  <a16:creationId xmlns:a16="http://schemas.microsoft.com/office/drawing/2014/main" id="{00C05A83-443F-72F1-119E-6E60DF294E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22143" y="5350657"/>
              <a:ext cx="548640" cy="548640"/>
            </a:xfrm>
            <a:prstGeom prst="rect">
              <a:avLst/>
            </a:prstGeom>
          </p:spPr>
        </p:pic>
      </p:grpSp>
      <p:sp>
        <p:nvSpPr>
          <p:cNvPr id="87" name="H (bleed) question">
            <a:extLst>
              <a:ext uri="{FF2B5EF4-FFF2-40B4-BE49-F238E27FC236}">
                <a16:creationId xmlns:a16="http://schemas.microsoft.com/office/drawing/2014/main" id="{DD4C700D-ADD2-CC13-47DB-22396BAA6FA1}"/>
              </a:ext>
            </a:extLst>
          </p:cNvPr>
          <p:cNvSpPr/>
          <p:nvPr/>
        </p:nvSpPr>
        <p:spPr>
          <a:xfrm>
            <a:off x="7652179" y="1151019"/>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H</a:t>
            </a:r>
            <a:endParaRPr lang="en-US" sz="2400" b="1" cap="none" spc="0" dirty="0">
              <a:ln w="22225">
                <a:solidFill>
                  <a:schemeClr val="accent2"/>
                </a:solidFill>
                <a:prstDash val="solid"/>
              </a:ln>
              <a:solidFill>
                <a:schemeClr val="accent2">
                  <a:lumMod val="40000"/>
                  <a:lumOff val="60000"/>
                </a:schemeClr>
              </a:solidFill>
              <a:effectLst/>
            </a:endParaRPr>
          </a:p>
        </p:txBody>
      </p:sp>
      <p:sp>
        <p:nvSpPr>
          <p:cNvPr id="88" name="A (bleed) question">
            <a:extLst>
              <a:ext uri="{FF2B5EF4-FFF2-40B4-BE49-F238E27FC236}">
                <a16:creationId xmlns:a16="http://schemas.microsoft.com/office/drawing/2014/main" id="{9ADECD04-CE21-5E52-B223-67A0D27A0DAD}"/>
              </a:ext>
            </a:extLst>
          </p:cNvPr>
          <p:cNvSpPr/>
          <p:nvPr/>
        </p:nvSpPr>
        <p:spPr>
          <a:xfrm>
            <a:off x="7652179" y="1704279"/>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A</a:t>
            </a:r>
            <a:endParaRPr lang="en-US" sz="2400" b="1" dirty="0">
              <a:ln w="22225">
                <a:solidFill>
                  <a:schemeClr val="accent2"/>
                </a:solidFill>
                <a:prstDash val="solid"/>
              </a:ln>
              <a:solidFill>
                <a:schemeClr val="accent2">
                  <a:lumMod val="40000"/>
                  <a:lumOff val="60000"/>
                </a:schemeClr>
              </a:solidFill>
            </a:endParaRPr>
          </a:p>
        </p:txBody>
      </p:sp>
      <p:sp>
        <p:nvSpPr>
          <p:cNvPr id="89" name="S (bleed) question">
            <a:extLst>
              <a:ext uri="{FF2B5EF4-FFF2-40B4-BE49-F238E27FC236}">
                <a16:creationId xmlns:a16="http://schemas.microsoft.com/office/drawing/2014/main" id="{710A4DD8-03CA-75CB-0654-0191E0C6472F}"/>
              </a:ext>
            </a:extLst>
          </p:cNvPr>
          <p:cNvSpPr/>
          <p:nvPr/>
        </p:nvSpPr>
        <p:spPr>
          <a:xfrm>
            <a:off x="7652179" y="2256664"/>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S</a:t>
            </a:r>
            <a:endParaRPr lang="en-US" sz="2400" b="1" dirty="0">
              <a:ln w="22225">
                <a:solidFill>
                  <a:schemeClr val="accent2"/>
                </a:solidFill>
                <a:prstDash val="solid"/>
              </a:ln>
              <a:solidFill>
                <a:schemeClr val="accent2">
                  <a:lumMod val="40000"/>
                  <a:lumOff val="60000"/>
                </a:schemeClr>
              </a:solidFill>
            </a:endParaRPr>
          </a:p>
        </p:txBody>
      </p:sp>
      <p:sp>
        <p:nvSpPr>
          <p:cNvPr id="90" name="B (bleed) question">
            <a:extLst>
              <a:ext uri="{FF2B5EF4-FFF2-40B4-BE49-F238E27FC236}">
                <a16:creationId xmlns:a16="http://schemas.microsoft.com/office/drawing/2014/main" id="{ABA2583D-306C-1CD0-466A-674E6F5D65C3}"/>
              </a:ext>
            </a:extLst>
          </p:cNvPr>
          <p:cNvSpPr/>
          <p:nvPr/>
        </p:nvSpPr>
        <p:spPr>
          <a:xfrm>
            <a:off x="7652179" y="2809049"/>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B</a:t>
            </a:r>
          </a:p>
        </p:txBody>
      </p:sp>
      <p:sp>
        <p:nvSpPr>
          <p:cNvPr id="91" name="L (bleed) question">
            <a:extLst>
              <a:ext uri="{FF2B5EF4-FFF2-40B4-BE49-F238E27FC236}">
                <a16:creationId xmlns:a16="http://schemas.microsoft.com/office/drawing/2014/main" id="{CB3F9C86-6145-8AD6-C42E-8BEB57278C6F}"/>
              </a:ext>
            </a:extLst>
          </p:cNvPr>
          <p:cNvSpPr/>
          <p:nvPr/>
        </p:nvSpPr>
        <p:spPr>
          <a:xfrm>
            <a:off x="7652179" y="3361434"/>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L</a:t>
            </a:r>
            <a:endParaRPr lang="en-US" sz="2400" b="1" dirty="0">
              <a:ln w="22225">
                <a:solidFill>
                  <a:schemeClr val="accent2"/>
                </a:solidFill>
                <a:prstDash val="solid"/>
              </a:ln>
              <a:solidFill>
                <a:schemeClr val="accent2">
                  <a:lumMod val="40000"/>
                  <a:lumOff val="60000"/>
                </a:schemeClr>
              </a:solidFill>
            </a:endParaRPr>
          </a:p>
        </p:txBody>
      </p:sp>
      <p:sp>
        <p:nvSpPr>
          <p:cNvPr id="92" name="E (bleed) question">
            <a:extLst>
              <a:ext uri="{FF2B5EF4-FFF2-40B4-BE49-F238E27FC236}">
                <a16:creationId xmlns:a16="http://schemas.microsoft.com/office/drawing/2014/main" id="{1EF027D1-A8AA-13D4-529C-417A365DE093}"/>
              </a:ext>
            </a:extLst>
          </p:cNvPr>
          <p:cNvSpPr/>
          <p:nvPr/>
        </p:nvSpPr>
        <p:spPr>
          <a:xfrm>
            <a:off x="7652179" y="3913819"/>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E</a:t>
            </a:r>
            <a:endParaRPr lang="en-US" sz="2400" b="1" dirty="0">
              <a:ln w="22225">
                <a:solidFill>
                  <a:schemeClr val="accent2"/>
                </a:solidFill>
                <a:prstDash val="solid"/>
              </a:ln>
              <a:solidFill>
                <a:schemeClr val="accent2">
                  <a:lumMod val="40000"/>
                  <a:lumOff val="60000"/>
                </a:schemeClr>
              </a:solidFill>
            </a:endParaRPr>
          </a:p>
        </p:txBody>
      </p:sp>
      <p:sp>
        <p:nvSpPr>
          <p:cNvPr id="93" name="D (bleed) question">
            <a:extLst>
              <a:ext uri="{FF2B5EF4-FFF2-40B4-BE49-F238E27FC236}">
                <a16:creationId xmlns:a16="http://schemas.microsoft.com/office/drawing/2014/main" id="{806F1593-B77C-41A8-3606-83C1A519F2AD}"/>
              </a:ext>
            </a:extLst>
          </p:cNvPr>
          <p:cNvSpPr/>
          <p:nvPr/>
        </p:nvSpPr>
        <p:spPr>
          <a:xfrm>
            <a:off x="7652179" y="4466204"/>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D</a:t>
            </a:r>
            <a:endParaRPr lang="en-US" sz="2400" b="1" dirty="0">
              <a:ln w="22225">
                <a:solidFill>
                  <a:schemeClr val="accent2"/>
                </a:solidFill>
                <a:prstDash val="solid"/>
              </a:ln>
              <a:solidFill>
                <a:schemeClr val="accent2">
                  <a:lumMod val="40000"/>
                  <a:lumOff val="60000"/>
                </a:schemeClr>
              </a:solidFill>
            </a:endParaRPr>
          </a:p>
        </p:txBody>
      </p:sp>
      <p:sp>
        <p:nvSpPr>
          <p:cNvPr id="79" name="CHF question">
            <a:extLst>
              <a:ext uri="{FF2B5EF4-FFF2-40B4-BE49-F238E27FC236}">
                <a16:creationId xmlns:a16="http://schemas.microsoft.com/office/drawing/2014/main" id="{D2EE833B-83E0-0175-3CCD-9A8DBDF7BB09}"/>
              </a:ext>
            </a:extLst>
          </p:cNvPr>
          <p:cNvSpPr/>
          <p:nvPr/>
        </p:nvSpPr>
        <p:spPr>
          <a:xfrm>
            <a:off x="3210603" y="1151019"/>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cap="none" spc="0" dirty="0">
                <a:ln w="22225">
                  <a:solidFill>
                    <a:schemeClr val="accent2"/>
                  </a:solidFill>
                  <a:prstDash val="solid"/>
                </a:ln>
                <a:solidFill>
                  <a:schemeClr val="accent2">
                    <a:lumMod val="40000"/>
                    <a:lumOff val="60000"/>
                  </a:schemeClr>
                </a:solidFill>
                <a:effectLst/>
              </a:rPr>
              <a:t>C</a:t>
            </a:r>
          </a:p>
        </p:txBody>
      </p:sp>
      <p:sp>
        <p:nvSpPr>
          <p:cNvPr id="80" name="HTN question">
            <a:extLst>
              <a:ext uri="{FF2B5EF4-FFF2-40B4-BE49-F238E27FC236}">
                <a16:creationId xmlns:a16="http://schemas.microsoft.com/office/drawing/2014/main" id="{0231FCCE-D32C-1419-CC39-5472D23E877F}"/>
              </a:ext>
            </a:extLst>
          </p:cNvPr>
          <p:cNvSpPr/>
          <p:nvPr/>
        </p:nvSpPr>
        <p:spPr>
          <a:xfrm>
            <a:off x="3210603" y="1716366"/>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H</a:t>
            </a:r>
          </a:p>
        </p:txBody>
      </p:sp>
      <p:sp>
        <p:nvSpPr>
          <p:cNvPr id="81" name="Age question">
            <a:extLst>
              <a:ext uri="{FF2B5EF4-FFF2-40B4-BE49-F238E27FC236}">
                <a16:creationId xmlns:a16="http://schemas.microsoft.com/office/drawing/2014/main" id="{A2E2597B-F37F-D423-4CF9-B7433F8A84DF}"/>
              </a:ext>
            </a:extLst>
          </p:cNvPr>
          <p:cNvSpPr/>
          <p:nvPr/>
        </p:nvSpPr>
        <p:spPr>
          <a:xfrm>
            <a:off x="3210603" y="2268751"/>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A</a:t>
            </a:r>
          </a:p>
        </p:txBody>
      </p:sp>
      <p:sp>
        <p:nvSpPr>
          <p:cNvPr id="82" name="DM question">
            <a:extLst>
              <a:ext uri="{FF2B5EF4-FFF2-40B4-BE49-F238E27FC236}">
                <a16:creationId xmlns:a16="http://schemas.microsoft.com/office/drawing/2014/main" id="{10F4AB3D-E7B6-14F7-F73A-76BC4D9B2363}"/>
              </a:ext>
            </a:extLst>
          </p:cNvPr>
          <p:cNvSpPr/>
          <p:nvPr/>
        </p:nvSpPr>
        <p:spPr>
          <a:xfrm>
            <a:off x="3210603" y="2821136"/>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D</a:t>
            </a:r>
          </a:p>
        </p:txBody>
      </p:sp>
      <p:sp>
        <p:nvSpPr>
          <p:cNvPr id="83" name="Stroke question">
            <a:extLst>
              <a:ext uri="{FF2B5EF4-FFF2-40B4-BE49-F238E27FC236}">
                <a16:creationId xmlns:a16="http://schemas.microsoft.com/office/drawing/2014/main" id="{06AF7B94-A166-3ABD-495E-F15FCE46D084}"/>
              </a:ext>
            </a:extLst>
          </p:cNvPr>
          <p:cNvSpPr/>
          <p:nvPr/>
        </p:nvSpPr>
        <p:spPr>
          <a:xfrm>
            <a:off x="3210603" y="3373521"/>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S</a:t>
            </a:r>
            <a:r>
              <a:rPr lang="en-US" sz="2400" b="1" baseline="-25000" dirty="0">
                <a:ln w="22225">
                  <a:solidFill>
                    <a:schemeClr val="accent2"/>
                  </a:solidFill>
                  <a:prstDash val="solid"/>
                </a:ln>
                <a:solidFill>
                  <a:schemeClr val="accent2">
                    <a:lumMod val="40000"/>
                    <a:lumOff val="60000"/>
                  </a:schemeClr>
                </a:solidFill>
              </a:rPr>
              <a:t>2</a:t>
            </a:r>
            <a:endParaRPr lang="en-US" sz="2400" b="1" dirty="0">
              <a:ln w="22225">
                <a:solidFill>
                  <a:schemeClr val="accent2"/>
                </a:solidFill>
                <a:prstDash val="solid"/>
              </a:ln>
              <a:solidFill>
                <a:schemeClr val="accent2">
                  <a:lumMod val="40000"/>
                  <a:lumOff val="60000"/>
                </a:schemeClr>
              </a:solidFill>
            </a:endParaRPr>
          </a:p>
        </p:txBody>
      </p:sp>
      <p:sp>
        <p:nvSpPr>
          <p:cNvPr id="84" name="Vasc question">
            <a:extLst>
              <a:ext uri="{FF2B5EF4-FFF2-40B4-BE49-F238E27FC236}">
                <a16:creationId xmlns:a16="http://schemas.microsoft.com/office/drawing/2014/main" id="{89293880-FCD1-17D2-9A34-B4CC5EF11F80}"/>
              </a:ext>
            </a:extLst>
          </p:cNvPr>
          <p:cNvSpPr/>
          <p:nvPr/>
        </p:nvSpPr>
        <p:spPr>
          <a:xfrm>
            <a:off x="3210603" y="3925906"/>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V</a:t>
            </a:r>
          </a:p>
        </p:txBody>
      </p:sp>
      <p:sp>
        <p:nvSpPr>
          <p:cNvPr id="85" name="Sex question">
            <a:extLst>
              <a:ext uri="{FF2B5EF4-FFF2-40B4-BE49-F238E27FC236}">
                <a16:creationId xmlns:a16="http://schemas.microsoft.com/office/drawing/2014/main" id="{5126A41C-5CCC-BD52-D4E7-492D86EA792B}"/>
              </a:ext>
            </a:extLst>
          </p:cNvPr>
          <p:cNvSpPr/>
          <p:nvPr/>
        </p:nvSpPr>
        <p:spPr>
          <a:xfrm>
            <a:off x="3210603" y="5030674"/>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S</a:t>
            </a:r>
            <a:r>
              <a:rPr lang="en-US" sz="2400" b="1" baseline="-25000" dirty="0">
                <a:ln w="22225">
                  <a:solidFill>
                    <a:schemeClr val="accent2"/>
                  </a:solidFill>
                  <a:prstDash val="solid"/>
                </a:ln>
                <a:solidFill>
                  <a:schemeClr val="accent2">
                    <a:lumMod val="40000"/>
                    <a:lumOff val="60000"/>
                  </a:schemeClr>
                </a:solidFill>
              </a:rPr>
              <a:t>c</a:t>
            </a:r>
          </a:p>
        </p:txBody>
      </p:sp>
      <p:sp>
        <p:nvSpPr>
          <p:cNvPr id="86" name="Age question 2">
            <a:extLst>
              <a:ext uri="{FF2B5EF4-FFF2-40B4-BE49-F238E27FC236}">
                <a16:creationId xmlns:a16="http://schemas.microsoft.com/office/drawing/2014/main" id="{91647C34-CDB5-D665-5FFA-E7E35D6291C9}"/>
              </a:ext>
            </a:extLst>
          </p:cNvPr>
          <p:cNvSpPr/>
          <p:nvPr/>
        </p:nvSpPr>
        <p:spPr>
          <a:xfrm>
            <a:off x="3210603" y="4478291"/>
            <a:ext cx="548640" cy="457200"/>
          </a:xfrm>
          <a:prstGeom prst="roundRect">
            <a:avLst/>
          </a:prstGeom>
          <a:noFill/>
          <a:ln w="38100">
            <a:noFill/>
          </a:ln>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A</a:t>
            </a:r>
            <a:r>
              <a:rPr lang="en-US" sz="2400" b="1" baseline="-25000" dirty="0">
                <a:ln w="22225">
                  <a:solidFill>
                    <a:schemeClr val="accent2"/>
                  </a:solidFill>
                  <a:prstDash val="solid"/>
                </a:ln>
                <a:solidFill>
                  <a:schemeClr val="accent2">
                    <a:lumMod val="40000"/>
                    <a:lumOff val="60000"/>
                  </a:schemeClr>
                </a:solidFill>
              </a:rPr>
              <a:t>2</a:t>
            </a:r>
            <a:endParaRPr lang="en-US" sz="2400" b="1" dirty="0">
              <a:ln w="22225">
                <a:solidFill>
                  <a:schemeClr val="accent2"/>
                </a:solidFill>
                <a:prstDash val="solid"/>
              </a:ln>
              <a:solidFill>
                <a:schemeClr val="accent2">
                  <a:lumMod val="40000"/>
                  <a:lumOff val="60000"/>
                </a:schemeClr>
              </a:solidFill>
            </a:endParaRPr>
          </a:p>
        </p:txBody>
      </p:sp>
      <p:sp>
        <p:nvSpPr>
          <p:cNvPr id="35" name="Bleeding risk question">
            <a:hlinkClick r:id="" action="ppaction://noaction"/>
            <a:extLst>
              <a:ext uri="{FF2B5EF4-FFF2-40B4-BE49-F238E27FC236}">
                <a16:creationId xmlns:a16="http://schemas.microsoft.com/office/drawing/2014/main" id="{BD8DA027-0EE1-1B5B-B3F5-50B0A4052DA2}"/>
              </a:ext>
            </a:extLst>
          </p:cNvPr>
          <p:cNvSpPr/>
          <p:nvPr/>
        </p:nvSpPr>
        <p:spPr>
          <a:xfrm>
            <a:off x="7540593" y="664135"/>
            <a:ext cx="2350276" cy="367979"/>
          </a:xfrm>
          <a:prstGeom prst="roundRect">
            <a:avLst/>
          </a:prstGeom>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Bleeding risk tool?</a:t>
            </a:r>
          </a:p>
        </p:txBody>
      </p:sp>
      <p:sp>
        <p:nvSpPr>
          <p:cNvPr id="33" name="Stroke risk question">
            <a:hlinkClick r:id="" action="ppaction://noaction"/>
            <a:extLst>
              <a:ext uri="{FF2B5EF4-FFF2-40B4-BE49-F238E27FC236}">
                <a16:creationId xmlns:a16="http://schemas.microsoft.com/office/drawing/2014/main" id="{8E74E04D-B427-93C1-B829-CBA298E8E59F}"/>
              </a:ext>
            </a:extLst>
          </p:cNvPr>
          <p:cNvSpPr/>
          <p:nvPr/>
        </p:nvSpPr>
        <p:spPr>
          <a:xfrm>
            <a:off x="3134287" y="668602"/>
            <a:ext cx="2350276"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Stroke risk tool?</a:t>
            </a:r>
          </a:p>
        </p:txBody>
      </p:sp>
      <p:sp>
        <p:nvSpPr>
          <p:cNvPr id="47" name="Sex answer">
            <a:extLst>
              <a:ext uri="{FF2B5EF4-FFF2-40B4-BE49-F238E27FC236}">
                <a16:creationId xmlns:a16="http://schemas.microsoft.com/office/drawing/2014/main" id="{D5E32556-0DE4-CC47-97F5-E5B48D43562D}"/>
              </a:ext>
            </a:extLst>
          </p:cNvPr>
          <p:cNvSpPr txBox="1"/>
          <p:nvPr/>
        </p:nvSpPr>
        <p:spPr>
          <a:xfrm>
            <a:off x="3523857" y="5064757"/>
            <a:ext cx="2906304" cy="400110"/>
          </a:xfrm>
          <a:prstGeom prst="rect">
            <a:avLst/>
          </a:prstGeom>
          <a:noFill/>
        </p:spPr>
        <p:txBody>
          <a:bodyPr wrap="square" rtlCol="0">
            <a:spAutoFit/>
          </a:bodyPr>
          <a:lstStyle/>
          <a:p>
            <a:r>
              <a:rPr lang="en-US" sz="2000" b="1" dirty="0"/>
              <a:t>ex category </a:t>
            </a:r>
            <a:r>
              <a:rPr lang="en-US" b="1" dirty="0"/>
              <a:t>(female)</a:t>
            </a:r>
            <a:endParaRPr lang="en-US" sz="1600" b="1" dirty="0"/>
          </a:p>
        </p:txBody>
      </p:sp>
      <p:sp>
        <p:nvSpPr>
          <p:cNvPr id="46" name="Vasc answer">
            <a:extLst>
              <a:ext uri="{FF2B5EF4-FFF2-40B4-BE49-F238E27FC236}">
                <a16:creationId xmlns:a16="http://schemas.microsoft.com/office/drawing/2014/main" id="{280783FB-118F-D34F-8A57-3A2F197F4F97}"/>
              </a:ext>
            </a:extLst>
          </p:cNvPr>
          <p:cNvSpPr txBox="1"/>
          <p:nvPr/>
        </p:nvSpPr>
        <p:spPr>
          <a:xfrm>
            <a:off x="3498457" y="3971249"/>
            <a:ext cx="2056329" cy="400110"/>
          </a:xfrm>
          <a:prstGeom prst="rect">
            <a:avLst/>
          </a:prstGeom>
          <a:noFill/>
        </p:spPr>
        <p:txBody>
          <a:bodyPr wrap="square" rtlCol="0">
            <a:spAutoFit/>
          </a:bodyPr>
          <a:lstStyle/>
          <a:p>
            <a:r>
              <a:rPr lang="en-US" sz="2000" b="1" dirty="0" err="1"/>
              <a:t>ascular</a:t>
            </a:r>
            <a:r>
              <a:rPr lang="en-US" sz="2000" b="1" dirty="0"/>
              <a:t> disease</a:t>
            </a:r>
          </a:p>
        </p:txBody>
      </p:sp>
      <p:sp>
        <p:nvSpPr>
          <p:cNvPr id="45" name="Stroke answer">
            <a:extLst>
              <a:ext uri="{FF2B5EF4-FFF2-40B4-BE49-F238E27FC236}">
                <a16:creationId xmlns:a16="http://schemas.microsoft.com/office/drawing/2014/main" id="{4DE5BD69-3088-FA43-A2F6-36B0E40FE0FD}"/>
              </a:ext>
            </a:extLst>
          </p:cNvPr>
          <p:cNvSpPr txBox="1"/>
          <p:nvPr/>
        </p:nvSpPr>
        <p:spPr>
          <a:xfrm>
            <a:off x="3523857" y="3401906"/>
            <a:ext cx="3154362" cy="400110"/>
          </a:xfrm>
          <a:prstGeom prst="rect">
            <a:avLst/>
          </a:prstGeom>
          <a:noFill/>
        </p:spPr>
        <p:txBody>
          <a:bodyPr wrap="square" rtlCol="0">
            <a:spAutoFit/>
          </a:bodyPr>
          <a:lstStyle/>
          <a:p>
            <a:r>
              <a:rPr lang="en-US" sz="2000" b="1" dirty="0" err="1"/>
              <a:t>troke</a:t>
            </a:r>
            <a:r>
              <a:rPr lang="en-US" sz="2000" b="1" dirty="0"/>
              <a:t>/TIA/embolism </a:t>
            </a:r>
            <a:r>
              <a:rPr lang="en-US" b="1" dirty="0"/>
              <a:t>(+2)</a:t>
            </a:r>
            <a:endParaRPr lang="en-US" sz="1600" b="1" dirty="0"/>
          </a:p>
        </p:txBody>
      </p:sp>
      <p:sp>
        <p:nvSpPr>
          <p:cNvPr id="43" name="DM answer">
            <a:extLst>
              <a:ext uri="{FF2B5EF4-FFF2-40B4-BE49-F238E27FC236}">
                <a16:creationId xmlns:a16="http://schemas.microsoft.com/office/drawing/2014/main" id="{07838D4E-B5E7-2944-83FD-6FF954EEA570}"/>
              </a:ext>
            </a:extLst>
          </p:cNvPr>
          <p:cNvSpPr txBox="1"/>
          <p:nvPr/>
        </p:nvSpPr>
        <p:spPr>
          <a:xfrm>
            <a:off x="3498457" y="2861696"/>
            <a:ext cx="1908791" cy="400110"/>
          </a:xfrm>
          <a:prstGeom prst="rect">
            <a:avLst/>
          </a:prstGeom>
          <a:noFill/>
        </p:spPr>
        <p:txBody>
          <a:bodyPr wrap="square" rtlCol="0">
            <a:spAutoFit/>
          </a:bodyPr>
          <a:lstStyle/>
          <a:p>
            <a:r>
              <a:rPr lang="en-US" sz="2000" b="1" dirty="0" err="1"/>
              <a:t>iabetes</a:t>
            </a:r>
            <a:endParaRPr lang="en-US" sz="2000" b="1" dirty="0"/>
          </a:p>
        </p:txBody>
      </p:sp>
      <p:sp>
        <p:nvSpPr>
          <p:cNvPr id="42" name="Age answer">
            <a:extLst>
              <a:ext uri="{FF2B5EF4-FFF2-40B4-BE49-F238E27FC236}">
                <a16:creationId xmlns:a16="http://schemas.microsoft.com/office/drawing/2014/main" id="{308000C1-053F-2E48-B7A2-EA11C661DF53}"/>
              </a:ext>
            </a:extLst>
          </p:cNvPr>
          <p:cNvSpPr txBox="1"/>
          <p:nvPr/>
        </p:nvSpPr>
        <p:spPr>
          <a:xfrm>
            <a:off x="3504807" y="2282057"/>
            <a:ext cx="1648475" cy="430887"/>
          </a:xfrm>
          <a:prstGeom prst="rect">
            <a:avLst/>
          </a:prstGeom>
          <a:noFill/>
        </p:spPr>
        <p:txBody>
          <a:bodyPr wrap="square" rtlCol="0">
            <a:spAutoFit/>
          </a:bodyPr>
          <a:lstStyle/>
          <a:p>
            <a:r>
              <a:rPr lang="en-US" sz="2200" b="1" dirty="0" err="1"/>
              <a:t>ge</a:t>
            </a:r>
            <a:r>
              <a:rPr lang="en-US" sz="2200" b="1" dirty="0"/>
              <a:t> </a:t>
            </a:r>
            <a:r>
              <a:rPr lang="en-US" b="1" dirty="0"/>
              <a:t>(65-74 </a:t>
            </a:r>
            <a:r>
              <a:rPr lang="en-US" b="1" dirty="0" err="1"/>
              <a:t>yo</a:t>
            </a:r>
            <a:r>
              <a:rPr lang="en-US" b="1" dirty="0"/>
              <a:t>) </a:t>
            </a:r>
          </a:p>
        </p:txBody>
      </p:sp>
      <p:sp>
        <p:nvSpPr>
          <p:cNvPr id="41" name="HTN answer">
            <a:extLst>
              <a:ext uri="{FF2B5EF4-FFF2-40B4-BE49-F238E27FC236}">
                <a16:creationId xmlns:a16="http://schemas.microsoft.com/office/drawing/2014/main" id="{7D24D871-62A2-DA46-A331-5E4335D65D5B}"/>
              </a:ext>
            </a:extLst>
          </p:cNvPr>
          <p:cNvSpPr txBox="1"/>
          <p:nvPr/>
        </p:nvSpPr>
        <p:spPr>
          <a:xfrm>
            <a:off x="3504807" y="1760407"/>
            <a:ext cx="920672" cy="400110"/>
          </a:xfrm>
          <a:prstGeom prst="rect">
            <a:avLst/>
          </a:prstGeom>
          <a:noFill/>
        </p:spPr>
        <p:txBody>
          <a:bodyPr wrap="square" rtlCol="0">
            <a:spAutoFit/>
          </a:bodyPr>
          <a:lstStyle/>
          <a:p>
            <a:r>
              <a:rPr lang="en-US" sz="2000" b="1" dirty="0"/>
              <a:t>TN</a:t>
            </a:r>
          </a:p>
        </p:txBody>
      </p:sp>
      <p:sp>
        <p:nvSpPr>
          <p:cNvPr id="3" name="CHF answer">
            <a:extLst>
              <a:ext uri="{FF2B5EF4-FFF2-40B4-BE49-F238E27FC236}">
                <a16:creationId xmlns:a16="http://schemas.microsoft.com/office/drawing/2014/main" id="{5FB7C1AE-E2ED-7B41-90FB-AAB5F2A55359}"/>
              </a:ext>
            </a:extLst>
          </p:cNvPr>
          <p:cNvSpPr txBox="1"/>
          <p:nvPr/>
        </p:nvSpPr>
        <p:spPr>
          <a:xfrm>
            <a:off x="3504807" y="1201934"/>
            <a:ext cx="1908791" cy="400110"/>
          </a:xfrm>
          <a:prstGeom prst="rect">
            <a:avLst/>
          </a:prstGeom>
          <a:noFill/>
        </p:spPr>
        <p:txBody>
          <a:bodyPr wrap="square" rtlCol="0">
            <a:spAutoFit/>
          </a:bodyPr>
          <a:lstStyle/>
          <a:p>
            <a:r>
              <a:rPr lang="en-US" sz="2000" b="1" dirty="0"/>
              <a:t>HF</a:t>
            </a:r>
          </a:p>
        </p:txBody>
      </p:sp>
      <p:sp>
        <p:nvSpPr>
          <p:cNvPr id="20" name="Stroke risk question">
            <a:hlinkClick r:id="" action="ppaction://noaction"/>
            <a:extLst>
              <a:ext uri="{FF2B5EF4-FFF2-40B4-BE49-F238E27FC236}">
                <a16:creationId xmlns:a16="http://schemas.microsoft.com/office/drawing/2014/main" id="{CC2F5864-A2DE-7043-9847-7D409B17A894}"/>
              </a:ext>
            </a:extLst>
          </p:cNvPr>
          <p:cNvSpPr/>
          <p:nvPr/>
        </p:nvSpPr>
        <p:spPr>
          <a:xfrm>
            <a:off x="3140318" y="660765"/>
            <a:ext cx="2350276"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Stroke risk tool?</a:t>
            </a:r>
          </a:p>
        </p:txBody>
      </p:sp>
      <p:pic>
        <p:nvPicPr>
          <p:cNvPr id="21" name="Sidebar arrow 4" descr="Cursor with solid fill">
            <a:extLst>
              <a:ext uri="{FF2B5EF4-FFF2-40B4-BE49-F238E27FC236}">
                <a16:creationId xmlns:a16="http://schemas.microsoft.com/office/drawing/2014/main" id="{68EEA410-B9BD-D14E-AA23-9D11CFD8440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61289" y="914000"/>
            <a:ext cx="270672" cy="270672"/>
          </a:xfrm>
          <a:prstGeom prst="rect">
            <a:avLst/>
          </a:prstGeom>
        </p:spPr>
      </p:pic>
      <p:sp>
        <p:nvSpPr>
          <p:cNvPr id="2" name="CHF question">
            <a:extLst>
              <a:ext uri="{FF2B5EF4-FFF2-40B4-BE49-F238E27FC236}">
                <a16:creationId xmlns:a16="http://schemas.microsoft.com/office/drawing/2014/main" id="{CC5E421E-4F04-0E47-9A02-D2121C2401FD}"/>
              </a:ext>
            </a:extLst>
          </p:cNvPr>
          <p:cNvSpPr>
            <a:spLocks noGrp="1" noRot="1" noMove="1" noResize="1" noEditPoints="1" noAdjustHandles="1" noChangeArrowheads="1" noChangeShapeType="1"/>
          </p:cNvSpPr>
          <p:nvPr/>
        </p:nvSpPr>
        <p:spPr>
          <a:xfrm>
            <a:off x="3210603" y="1163106"/>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cap="none" spc="0" dirty="0">
                <a:ln w="22225">
                  <a:solidFill>
                    <a:schemeClr val="accent2"/>
                  </a:solidFill>
                  <a:prstDash val="solid"/>
                </a:ln>
                <a:solidFill>
                  <a:schemeClr val="accent2">
                    <a:lumMod val="40000"/>
                    <a:lumOff val="60000"/>
                  </a:schemeClr>
                </a:solidFill>
                <a:effectLst/>
              </a:rPr>
              <a:t>C</a:t>
            </a:r>
          </a:p>
        </p:txBody>
      </p:sp>
      <p:sp>
        <p:nvSpPr>
          <p:cNvPr id="50" name="Low risk question">
            <a:hlinkClick r:id="" action="ppaction://noaction"/>
            <a:extLst>
              <a:ext uri="{FF2B5EF4-FFF2-40B4-BE49-F238E27FC236}">
                <a16:creationId xmlns:a16="http://schemas.microsoft.com/office/drawing/2014/main" id="{575EE4BD-7CDD-6042-BE6E-BE96293B02D1}"/>
              </a:ext>
            </a:extLst>
          </p:cNvPr>
          <p:cNvSpPr/>
          <p:nvPr/>
        </p:nvSpPr>
        <p:spPr>
          <a:xfrm>
            <a:off x="2905856" y="5689671"/>
            <a:ext cx="2908300" cy="365760"/>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 </a:t>
            </a:r>
            <a:r>
              <a:rPr lang="en-US" dirty="0" err="1">
                <a:solidFill>
                  <a:schemeClr val="tx1"/>
                </a:solidFill>
              </a:rPr>
              <a:t>yo</a:t>
            </a:r>
            <a:r>
              <a:rPr lang="en-US" dirty="0">
                <a:solidFill>
                  <a:schemeClr val="tx1"/>
                </a:solidFill>
              </a:rPr>
              <a:t> F with no other PMH</a:t>
            </a:r>
          </a:p>
        </p:txBody>
      </p:sp>
      <p:sp>
        <p:nvSpPr>
          <p:cNvPr id="58" name="Low risk answer">
            <a:extLst>
              <a:ext uri="{FF2B5EF4-FFF2-40B4-BE49-F238E27FC236}">
                <a16:creationId xmlns:a16="http://schemas.microsoft.com/office/drawing/2014/main" id="{CB072663-5184-8249-A0C0-7081B1CDC8CA}"/>
              </a:ext>
            </a:extLst>
          </p:cNvPr>
          <p:cNvSpPr txBox="1"/>
          <p:nvPr/>
        </p:nvSpPr>
        <p:spPr>
          <a:xfrm>
            <a:off x="3216660" y="6107206"/>
            <a:ext cx="2350275" cy="646331"/>
          </a:xfrm>
          <a:prstGeom prst="rect">
            <a:avLst/>
          </a:prstGeom>
          <a:noFill/>
        </p:spPr>
        <p:txBody>
          <a:bodyPr wrap="square" rtlCol="0">
            <a:spAutoFit/>
          </a:bodyPr>
          <a:lstStyle/>
          <a:p>
            <a:pPr algn="ctr"/>
            <a:r>
              <a:rPr lang="en-US" b="1" dirty="0">
                <a:solidFill>
                  <a:schemeClr val="accent2"/>
                </a:solidFill>
              </a:rPr>
              <a:t>CHADS-VASc 1: &lt;1%/</a:t>
            </a:r>
            <a:r>
              <a:rPr lang="en-US" b="1" dirty="0" err="1">
                <a:solidFill>
                  <a:schemeClr val="accent2"/>
                </a:solidFill>
              </a:rPr>
              <a:t>yr</a:t>
            </a:r>
            <a:endParaRPr lang="en-US" b="1" dirty="0">
              <a:solidFill>
                <a:schemeClr val="accent2"/>
              </a:solidFill>
            </a:endParaRPr>
          </a:p>
          <a:p>
            <a:pPr algn="ctr"/>
            <a:r>
              <a:rPr lang="en-US" b="1" dirty="0">
                <a:solidFill>
                  <a:srgbClr val="FF0000"/>
                </a:solidFill>
              </a:rPr>
              <a:t>HAS-BLED 0: &lt;1%/</a:t>
            </a:r>
            <a:r>
              <a:rPr lang="en-US" b="1" dirty="0" err="1">
                <a:solidFill>
                  <a:srgbClr val="FF0000"/>
                </a:solidFill>
              </a:rPr>
              <a:t>yr</a:t>
            </a:r>
            <a:endParaRPr lang="en-US" b="1" dirty="0">
              <a:solidFill>
                <a:srgbClr val="FF0000"/>
              </a:solidFill>
            </a:endParaRPr>
          </a:p>
        </p:txBody>
      </p:sp>
      <p:sp>
        <p:nvSpPr>
          <p:cNvPr id="71" name="HTN question">
            <a:extLst>
              <a:ext uri="{FF2B5EF4-FFF2-40B4-BE49-F238E27FC236}">
                <a16:creationId xmlns:a16="http://schemas.microsoft.com/office/drawing/2014/main" id="{5617BFAA-AA52-4B4E-9851-EAE894019897}"/>
              </a:ext>
            </a:extLst>
          </p:cNvPr>
          <p:cNvSpPr/>
          <p:nvPr/>
        </p:nvSpPr>
        <p:spPr>
          <a:xfrm>
            <a:off x="3210603" y="1716366"/>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H</a:t>
            </a:r>
          </a:p>
        </p:txBody>
      </p:sp>
      <p:sp>
        <p:nvSpPr>
          <p:cNvPr id="72" name="Age question">
            <a:extLst>
              <a:ext uri="{FF2B5EF4-FFF2-40B4-BE49-F238E27FC236}">
                <a16:creationId xmlns:a16="http://schemas.microsoft.com/office/drawing/2014/main" id="{71D0F75F-89EC-1E45-A581-748DCEB5D4C0}"/>
              </a:ext>
            </a:extLst>
          </p:cNvPr>
          <p:cNvSpPr/>
          <p:nvPr/>
        </p:nvSpPr>
        <p:spPr>
          <a:xfrm>
            <a:off x="3210603" y="2268751"/>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A</a:t>
            </a:r>
          </a:p>
        </p:txBody>
      </p:sp>
      <p:sp>
        <p:nvSpPr>
          <p:cNvPr id="73" name="DM question">
            <a:extLst>
              <a:ext uri="{FF2B5EF4-FFF2-40B4-BE49-F238E27FC236}">
                <a16:creationId xmlns:a16="http://schemas.microsoft.com/office/drawing/2014/main" id="{0AE9CBCD-7ACA-2F46-A123-9124FF36EF0F}"/>
              </a:ext>
            </a:extLst>
          </p:cNvPr>
          <p:cNvSpPr/>
          <p:nvPr/>
        </p:nvSpPr>
        <p:spPr>
          <a:xfrm>
            <a:off x="3210603" y="2821136"/>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D</a:t>
            </a:r>
          </a:p>
        </p:txBody>
      </p:sp>
      <p:sp>
        <p:nvSpPr>
          <p:cNvPr id="74" name="Stroke question">
            <a:extLst>
              <a:ext uri="{FF2B5EF4-FFF2-40B4-BE49-F238E27FC236}">
                <a16:creationId xmlns:a16="http://schemas.microsoft.com/office/drawing/2014/main" id="{992DAC3B-7752-C14E-9C98-33BB9CC8ECC1}"/>
              </a:ext>
            </a:extLst>
          </p:cNvPr>
          <p:cNvSpPr/>
          <p:nvPr/>
        </p:nvSpPr>
        <p:spPr>
          <a:xfrm>
            <a:off x="3210603" y="3373521"/>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S</a:t>
            </a:r>
            <a:r>
              <a:rPr lang="en-US" sz="2400" b="1" baseline="-25000" dirty="0">
                <a:ln w="22225">
                  <a:solidFill>
                    <a:schemeClr val="accent2"/>
                  </a:solidFill>
                  <a:prstDash val="solid"/>
                </a:ln>
                <a:solidFill>
                  <a:schemeClr val="accent2">
                    <a:lumMod val="40000"/>
                    <a:lumOff val="60000"/>
                  </a:schemeClr>
                </a:solidFill>
              </a:rPr>
              <a:t>2</a:t>
            </a:r>
            <a:endParaRPr lang="en-US" sz="2400" b="1" dirty="0">
              <a:ln w="22225">
                <a:solidFill>
                  <a:schemeClr val="accent2"/>
                </a:solidFill>
                <a:prstDash val="solid"/>
              </a:ln>
              <a:solidFill>
                <a:schemeClr val="accent2">
                  <a:lumMod val="40000"/>
                  <a:lumOff val="60000"/>
                </a:schemeClr>
              </a:solidFill>
            </a:endParaRPr>
          </a:p>
        </p:txBody>
      </p:sp>
      <p:sp>
        <p:nvSpPr>
          <p:cNvPr id="75" name="Vasc question">
            <a:extLst>
              <a:ext uri="{FF2B5EF4-FFF2-40B4-BE49-F238E27FC236}">
                <a16:creationId xmlns:a16="http://schemas.microsoft.com/office/drawing/2014/main" id="{9CA6F620-C747-9B4F-832F-E1529E7F6426}"/>
              </a:ext>
            </a:extLst>
          </p:cNvPr>
          <p:cNvSpPr/>
          <p:nvPr/>
        </p:nvSpPr>
        <p:spPr>
          <a:xfrm>
            <a:off x="3210603" y="3925906"/>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V</a:t>
            </a:r>
          </a:p>
        </p:txBody>
      </p:sp>
      <p:sp>
        <p:nvSpPr>
          <p:cNvPr id="76" name="Sex question">
            <a:extLst>
              <a:ext uri="{FF2B5EF4-FFF2-40B4-BE49-F238E27FC236}">
                <a16:creationId xmlns:a16="http://schemas.microsoft.com/office/drawing/2014/main" id="{6957B150-F234-114C-9BED-F3AE0F909DA8}"/>
              </a:ext>
            </a:extLst>
          </p:cNvPr>
          <p:cNvSpPr/>
          <p:nvPr/>
        </p:nvSpPr>
        <p:spPr>
          <a:xfrm>
            <a:off x="3210603" y="5003885"/>
            <a:ext cx="548640" cy="510778"/>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Sc</a:t>
            </a:r>
            <a:endParaRPr lang="en-US" sz="2400" b="1" baseline="-25000" dirty="0">
              <a:ln w="22225">
                <a:solidFill>
                  <a:schemeClr val="accent2"/>
                </a:solidFill>
                <a:prstDash val="solid"/>
              </a:ln>
              <a:solidFill>
                <a:schemeClr val="accent2">
                  <a:lumMod val="40000"/>
                  <a:lumOff val="60000"/>
                </a:schemeClr>
              </a:solidFill>
            </a:endParaRPr>
          </a:p>
        </p:txBody>
      </p:sp>
      <p:sp>
        <p:nvSpPr>
          <p:cNvPr id="27" name="Age question 2">
            <a:extLst>
              <a:ext uri="{FF2B5EF4-FFF2-40B4-BE49-F238E27FC236}">
                <a16:creationId xmlns:a16="http://schemas.microsoft.com/office/drawing/2014/main" id="{0F7DFF50-CC90-DA87-EA62-06563B4C6981}"/>
              </a:ext>
            </a:extLst>
          </p:cNvPr>
          <p:cNvSpPr/>
          <p:nvPr/>
        </p:nvSpPr>
        <p:spPr>
          <a:xfrm>
            <a:off x="3210603" y="4478291"/>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chemeClr val="accent2"/>
                  </a:solidFill>
                  <a:prstDash val="solid"/>
                </a:ln>
                <a:solidFill>
                  <a:schemeClr val="accent2">
                    <a:lumMod val="40000"/>
                    <a:lumOff val="60000"/>
                  </a:schemeClr>
                </a:solidFill>
              </a:rPr>
              <a:t>A</a:t>
            </a:r>
            <a:r>
              <a:rPr lang="en-US" sz="2400" b="1" baseline="-25000" dirty="0">
                <a:ln w="22225">
                  <a:solidFill>
                    <a:schemeClr val="accent2"/>
                  </a:solidFill>
                  <a:prstDash val="solid"/>
                </a:ln>
                <a:solidFill>
                  <a:schemeClr val="accent2">
                    <a:lumMod val="40000"/>
                    <a:lumOff val="60000"/>
                  </a:schemeClr>
                </a:solidFill>
              </a:rPr>
              <a:t>2</a:t>
            </a:r>
            <a:endParaRPr lang="en-US" sz="2400" b="1" dirty="0">
              <a:ln w="22225">
                <a:solidFill>
                  <a:schemeClr val="accent2"/>
                </a:solidFill>
                <a:prstDash val="solid"/>
              </a:ln>
              <a:solidFill>
                <a:schemeClr val="accent2">
                  <a:lumMod val="40000"/>
                  <a:lumOff val="60000"/>
                </a:schemeClr>
              </a:solidFill>
            </a:endParaRPr>
          </a:p>
        </p:txBody>
      </p:sp>
      <p:sp>
        <p:nvSpPr>
          <p:cNvPr id="102" name="High risk question">
            <a:hlinkClick r:id="" action="ppaction://noaction"/>
            <a:extLst>
              <a:ext uri="{FF2B5EF4-FFF2-40B4-BE49-F238E27FC236}">
                <a16:creationId xmlns:a16="http://schemas.microsoft.com/office/drawing/2014/main" id="{7963B0F3-BF8D-FC42-8423-F0F010CB27F4}"/>
              </a:ext>
            </a:extLst>
          </p:cNvPr>
          <p:cNvSpPr/>
          <p:nvPr/>
        </p:nvSpPr>
        <p:spPr>
          <a:xfrm>
            <a:off x="7355789" y="5681465"/>
            <a:ext cx="4040333" cy="365760"/>
          </a:xfrm>
          <a:prstGeom prst="roundRect">
            <a:avLst/>
          </a:prstGeom>
          <a:solidFill>
            <a:schemeClr val="bg1"/>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68 </a:t>
            </a:r>
            <a:r>
              <a:rPr lang="en-US" dirty="0" err="1">
                <a:solidFill>
                  <a:schemeClr val="tx1"/>
                </a:solidFill>
              </a:rPr>
              <a:t>yo</a:t>
            </a:r>
            <a:r>
              <a:rPr lang="en-US" dirty="0">
                <a:solidFill>
                  <a:schemeClr val="tx1"/>
                </a:solidFill>
              </a:rPr>
              <a:t> M with </a:t>
            </a:r>
            <a:r>
              <a:rPr lang="en-US" dirty="0" err="1">
                <a:solidFill>
                  <a:schemeClr val="tx1"/>
                </a:solidFill>
              </a:rPr>
              <a:t>HFpEF</a:t>
            </a:r>
            <a:r>
              <a:rPr lang="en-US" dirty="0">
                <a:solidFill>
                  <a:schemeClr val="tx1"/>
                </a:solidFill>
              </a:rPr>
              <a:t>, HTN, DM, and CKD</a:t>
            </a:r>
          </a:p>
        </p:txBody>
      </p:sp>
      <p:pic>
        <p:nvPicPr>
          <p:cNvPr id="103" name="High risk question arrow" descr="Cursor with solid fill">
            <a:extLst>
              <a:ext uri="{FF2B5EF4-FFF2-40B4-BE49-F238E27FC236}">
                <a16:creationId xmlns:a16="http://schemas.microsoft.com/office/drawing/2014/main" id="{FD2C59B7-43BA-DA45-8222-EECC9A8CD2C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262596" y="5916427"/>
            <a:ext cx="270672" cy="270672"/>
          </a:xfrm>
          <a:prstGeom prst="rect">
            <a:avLst/>
          </a:prstGeom>
        </p:spPr>
      </p:pic>
      <p:sp>
        <p:nvSpPr>
          <p:cNvPr id="104" name="High risk answer">
            <a:extLst>
              <a:ext uri="{FF2B5EF4-FFF2-40B4-BE49-F238E27FC236}">
                <a16:creationId xmlns:a16="http://schemas.microsoft.com/office/drawing/2014/main" id="{9B80352E-8CC2-C64F-9BE9-9D5AC47CD20E}"/>
              </a:ext>
            </a:extLst>
          </p:cNvPr>
          <p:cNvSpPr txBox="1"/>
          <p:nvPr/>
        </p:nvSpPr>
        <p:spPr>
          <a:xfrm>
            <a:off x="8079400" y="6107205"/>
            <a:ext cx="2864578" cy="646331"/>
          </a:xfrm>
          <a:prstGeom prst="rect">
            <a:avLst/>
          </a:prstGeom>
          <a:noFill/>
        </p:spPr>
        <p:txBody>
          <a:bodyPr wrap="square" rtlCol="0">
            <a:spAutoFit/>
          </a:bodyPr>
          <a:lstStyle/>
          <a:p>
            <a:pPr algn="ctr"/>
            <a:r>
              <a:rPr lang="en-US" b="1" dirty="0">
                <a:solidFill>
                  <a:schemeClr val="accent2"/>
                </a:solidFill>
              </a:rPr>
              <a:t>CHADS-VASc 4: 5-7%/</a:t>
            </a:r>
            <a:r>
              <a:rPr lang="en-US" b="1" dirty="0" err="1">
                <a:solidFill>
                  <a:schemeClr val="accent2"/>
                </a:solidFill>
              </a:rPr>
              <a:t>yr</a:t>
            </a:r>
            <a:endParaRPr lang="en-US" b="1" dirty="0">
              <a:solidFill>
                <a:schemeClr val="accent2"/>
              </a:solidFill>
            </a:endParaRPr>
          </a:p>
          <a:p>
            <a:pPr algn="ctr"/>
            <a:r>
              <a:rPr lang="en-US" b="1" dirty="0">
                <a:solidFill>
                  <a:srgbClr val="FF0000"/>
                </a:solidFill>
              </a:rPr>
              <a:t>HAS-BLED 3: ~6%/</a:t>
            </a:r>
            <a:r>
              <a:rPr lang="en-US" b="1" dirty="0" err="1">
                <a:solidFill>
                  <a:srgbClr val="FF0000"/>
                </a:solidFill>
              </a:rPr>
              <a:t>yr</a:t>
            </a:r>
            <a:endParaRPr lang="en-US" b="1" dirty="0">
              <a:solidFill>
                <a:srgbClr val="FF0000"/>
              </a:solidFill>
            </a:endParaRPr>
          </a:p>
        </p:txBody>
      </p:sp>
      <p:sp>
        <p:nvSpPr>
          <p:cNvPr id="122" name="D (bleed) answer">
            <a:extLst>
              <a:ext uri="{FF2B5EF4-FFF2-40B4-BE49-F238E27FC236}">
                <a16:creationId xmlns:a16="http://schemas.microsoft.com/office/drawing/2014/main" id="{2061FACD-C401-374D-85CC-5D31F18F033C}"/>
              </a:ext>
            </a:extLst>
          </p:cNvPr>
          <p:cNvSpPr txBox="1"/>
          <p:nvPr/>
        </p:nvSpPr>
        <p:spPr>
          <a:xfrm>
            <a:off x="7946087" y="4506400"/>
            <a:ext cx="1934743" cy="400110"/>
          </a:xfrm>
          <a:prstGeom prst="rect">
            <a:avLst/>
          </a:prstGeom>
          <a:noFill/>
        </p:spPr>
        <p:txBody>
          <a:bodyPr wrap="square" rtlCol="0">
            <a:spAutoFit/>
          </a:bodyPr>
          <a:lstStyle/>
          <a:p>
            <a:r>
              <a:rPr lang="en-US" sz="2000" b="1" dirty="0"/>
              <a:t>rugs / EtOH</a:t>
            </a:r>
            <a:endParaRPr lang="en-US" sz="1600" b="1" dirty="0"/>
          </a:p>
        </p:txBody>
      </p:sp>
      <p:sp>
        <p:nvSpPr>
          <p:cNvPr id="123" name="E (bleed) answer">
            <a:extLst>
              <a:ext uri="{FF2B5EF4-FFF2-40B4-BE49-F238E27FC236}">
                <a16:creationId xmlns:a16="http://schemas.microsoft.com/office/drawing/2014/main" id="{975896C4-8EA6-8B4D-9A02-24A46274A350}"/>
              </a:ext>
            </a:extLst>
          </p:cNvPr>
          <p:cNvSpPr txBox="1"/>
          <p:nvPr/>
        </p:nvSpPr>
        <p:spPr>
          <a:xfrm>
            <a:off x="7946087" y="3968472"/>
            <a:ext cx="1934742" cy="400110"/>
          </a:xfrm>
          <a:prstGeom prst="rect">
            <a:avLst/>
          </a:prstGeom>
          <a:noFill/>
        </p:spPr>
        <p:txBody>
          <a:bodyPr wrap="square" rtlCol="0">
            <a:spAutoFit/>
          </a:bodyPr>
          <a:lstStyle/>
          <a:p>
            <a:r>
              <a:rPr lang="en-US" sz="2000" b="1" dirty="0" err="1"/>
              <a:t>lderly</a:t>
            </a:r>
            <a:r>
              <a:rPr lang="en-US" sz="2000" b="1" dirty="0"/>
              <a:t> </a:t>
            </a:r>
            <a:r>
              <a:rPr lang="en-US" b="1" dirty="0"/>
              <a:t>(&gt;65 </a:t>
            </a:r>
            <a:r>
              <a:rPr lang="en-US" b="1" dirty="0" err="1"/>
              <a:t>yo</a:t>
            </a:r>
            <a:r>
              <a:rPr lang="en-US" b="1" dirty="0"/>
              <a:t>)</a:t>
            </a:r>
            <a:endParaRPr lang="en-US" sz="1600" b="1" dirty="0"/>
          </a:p>
        </p:txBody>
      </p:sp>
      <p:sp>
        <p:nvSpPr>
          <p:cNvPr id="124" name="L (bleed) answer">
            <a:extLst>
              <a:ext uri="{FF2B5EF4-FFF2-40B4-BE49-F238E27FC236}">
                <a16:creationId xmlns:a16="http://schemas.microsoft.com/office/drawing/2014/main" id="{8D76969A-7E23-6943-B749-8A4EA9FFFD88}"/>
              </a:ext>
            </a:extLst>
          </p:cNvPr>
          <p:cNvSpPr txBox="1"/>
          <p:nvPr/>
        </p:nvSpPr>
        <p:spPr>
          <a:xfrm>
            <a:off x="7946087" y="3414890"/>
            <a:ext cx="1908791" cy="400110"/>
          </a:xfrm>
          <a:prstGeom prst="rect">
            <a:avLst/>
          </a:prstGeom>
          <a:noFill/>
        </p:spPr>
        <p:txBody>
          <a:bodyPr wrap="square" rtlCol="0">
            <a:spAutoFit/>
          </a:bodyPr>
          <a:lstStyle/>
          <a:p>
            <a:r>
              <a:rPr lang="en-US" sz="2000" b="1" dirty="0" err="1"/>
              <a:t>abile</a:t>
            </a:r>
            <a:r>
              <a:rPr lang="en-US" sz="2000" b="1" dirty="0"/>
              <a:t> INR</a:t>
            </a:r>
            <a:endParaRPr lang="en-US" sz="1600" b="1" dirty="0"/>
          </a:p>
        </p:txBody>
      </p:sp>
      <p:sp>
        <p:nvSpPr>
          <p:cNvPr id="125" name="B (bleed) answer">
            <a:extLst>
              <a:ext uri="{FF2B5EF4-FFF2-40B4-BE49-F238E27FC236}">
                <a16:creationId xmlns:a16="http://schemas.microsoft.com/office/drawing/2014/main" id="{075A12F5-9C12-9646-BF6E-2503B9EC9BDB}"/>
              </a:ext>
            </a:extLst>
          </p:cNvPr>
          <p:cNvSpPr txBox="1"/>
          <p:nvPr/>
        </p:nvSpPr>
        <p:spPr>
          <a:xfrm>
            <a:off x="7946087" y="2864004"/>
            <a:ext cx="4208596" cy="400110"/>
          </a:xfrm>
          <a:prstGeom prst="rect">
            <a:avLst/>
          </a:prstGeom>
          <a:noFill/>
        </p:spPr>
        <p:txBody>
          <a:bodyPr wrap="square" rtlCol="0">
            <a:spAutoFit/>
          </a:bodyPr>
          <a:lstStyle/>
          <a:p>
            <a:r>
              <a:rPr lang="en-US" sz="2000" b="1" dirty="0" err="1"/>
              <a:t>leeding</a:t>
            </a:r>
            <a:r>
              <a:rPr lang="en-US" sz="2000" b="1" dirty="0"/>
              <a:t> history/predisposition</a:t>
            </a:r>
          </a:p>
        </p:txBody>
      </p:sp>
      <p:sp>
        <p:nvSpPr>
          <p:cNvPr id="126" name="S (bleed) answer">
            <a:extLst>
              <a:ext uri="{FF2B5EF4-FFF2-40B4-BE49-F238E27FC236}">
                <a16:creationId xmlns:a16="http://schemas.microsoft.com/office/drawing/2014/main" id="{4078A7A7-F910-CD4D-90C4-FE8C5D0DFCC3}"/>
              </a:ext>
            </a:extLst>
          </p:cNvPr>
          <p:cNvSpPr txBox="1"/>
          <p:nvPr/>
        </p:nvSpPr>
        <p:spPr>
          <a:xfrm>
            <a:off x="7946087" y="2311739"/>
            <a:ext cx="3315852" cy="400110"/>
          </a:xfrm>
          <a:prstGeom prst="rect">
            <a:avLst/>
          </a:prstGeom>
          <a:noFill/>
        </p:spPr>
        <p:txBody>
          <a:bodyPr wrap="square" rtlCol="0">
            <a:spAutoFit/>
          </a:bodyPr>
          <a:lstStyle/>
          <a:p>
            <a:r>
              <a:rPr lang="en-US" sz="2000" b="1" dirty="0" err="1"/>
              <a:t>troke</a:t>
            </a:r>
            <a:r>
              <a:rPr lang="en-US" sz="2000" b="1" dirty="0"/>
              <a:t> </a:t>
            </a:r>
            <a:endParaRPr lang="en-US" sz="1600" b="1" dirty="0"/>
          </a:p>
        </p:txBody>
      </p:sp>
      <p:sp>
        <p:nvSpPr>
          <p:cNvPr id="127" name="A (bleed) answer">
            <a:extLst>
              <a:ext uri="{FF2B5EF4-FFF2-40B4-BE49-F238E27FC236}">
                <a16:creationId xmlns:a16="http://schemas.microsoft.com/office/drawing/2014/main" id="{28640711-546A-834F-931F-694742A09116}"/>
              </a:ext>
            </a:extLst>
          </p:cNvPr>
          <p:cNvSpPr txBox="1"/>
          <p:nvPr/>
        </p:nvSpPr>
        <p:spPr>
          <a:xfrm>
            <a:off x="7946087" y="1756486"/>
            <a:ext cx="3852726" cy="400110"/>
          </a:xfrm>
          <a:prstGeom prst="rect">
            <a:avLst/>
          </a:prstGeom>
          <a:noFill/>
        </p:spPr>
        <p:txBody>
          <a:bodyPr wrap="square" rtlCol="0">
            <a:spAutoFit/>
          </a:bodyPr>
          <a:lstStyle/>
          <a:p>
            <a:r>
              <a:rPr lang="en-US" sz="2000" b="1" dirty="0" err="1"/>
              <a:t>bnormal</a:t>
            </a:r>
            <a:r>
              <a:rPr lang="en-US" sz="2000" b="1" dirty="0"/>
              <a:t> kidney/liver function</a:t>
            </a:r>
          </a:p>
        </p:txBody>
      </p:sp>
      <p:sp>
        <p:nvSpPr>
          <p:cNvPr id="128" name="H (bleed) answer">
            <a:extLst>
              <a:ext uri="{FF2B5EF4-FFF2-40B4-BE49-F238E27FC236}">
                <a16:creationId xmlns:a16="http://schemas.microsoft.com/office/drawing/2014/main" id="{DEE36483-72B9-1D4C-9BE6-E202DC4EDF08}"/>
              </a:ext>
            </a:extLst>
          </p:cNvPr>
          <p:cNvSpPr txBox="1"/>
          <p:nvPr/>
        </p:nvSpPr>
        <p:spPr>
          <a:xfrm>
            <a:off x="7946087" y="1203877"/>
            <a:ext cx="2608002" cy="400110"/>
          </a:xfrm>
          <a:prstGeom prst="rect">
            <a:avLst/>
          </a:prstGeom>
          <a:noFill/>
        </p:spPr>
        <p:txBody>
          <a:bodyPr wrap="square" rtlCol="0">
            <a:spAutoFit/>
          </a:bodyPr>
          <a:lstStyle/>
          <a:p>
            <a:r>
              <a:rPr lang="en-US" sz="2000" b="1" dirty="0"/>
              <a:t>TN </a:t>
            </a:r>
            <a:r>
              <a:rPr lang="en-US" b="1" dirty="0"/>
              <a:t>(uncontrolled)</a:t>
            </a:r>
            <a:endParaRPr lang="en-US" sz="1600" b="1" dirty="0"/>
          </a:p>
        </p:txBody>
      </p:sp>
      <p:sp>
        <p:nvSpPr>
          <p:cNvPr id="129" name="Bleeding risk question">
            <a:hlinkClick r:id="" action="ppaction://noaction"/>
            <a:extLst>
              <a:ext uri="{FF2B5EF4-FFF2-40B4-BE49-F238E27FC236}">
                <a16:creationId xmlns:a16="http://schemas.microsoft.com/office/drawing/2014/main" id="{64DD8858-0275-7542-8751-21772B1AD813}"/>
              </a:ext>
            </a:extLst>
          </p:cNvPr>
          <p:cNvSpPr/>
          <p:nvPr/>
        </p:nvSpPr>
        <p:spPr>
          <a:xfrm>
            <a:off x="7547574" y="660765"/>
            <a:ext cx="2350276"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Bleeding risk tool?</a:t>
            </a:r>
          </a:p>
        </p:txBody>
      </p:sp>
      <p:pic>
        <p:nvPicPr>
          <p:cNvPr id="130" name="Sidebar arrow 4" descr="Cursor with solid fill">
            <a:extLst>
              <a:ext uri="{FF2B5EF4-FFF2-40B4-BE49-F238E27FC236}">
                <a16:creationId xmlns:a16="http://schemas.microsoft.com/office/drawing/2014/main" id="{A4D4D2AA-257C-354B-95D2-3FBD54E2272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35708" y="893408"/>
            <a:ext cx="270672" cy="270672"/>
          </a:xfrm>
          <a:prstGeom prst="rect">
            <a:avLst/>
          </a:prstGeom>
        </p:spPr>
      </p:pic>
      <p:sp>
        <p:nvSpPr>
          <p:cNvPr id="131" name="H (bleed) question">
            <a:extLst>
              <a:ext uri="{FF2B5EF4-FFF2-40B4-BE49-F238E27FC236}">
                <a16:creationId xmlns:a16="http://schemas.microsoft.com/office/drawing/2014/main" id="{25CC5440-3F2E-4D42-9168-7ECA924CBABE}"/>
              </a:ext>
            </a:extLst>
          </p:cNvPr>
          <p:cNvSpPr/>
          <p:nvPr/>
        </p:nvSpPr>
        <p:spPr>
          <a:xfrm>
            <a:off x="7652179" y="1151019"/>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H</a:t>
            </a:r>
            <a:endParaRPr lang="en-US" sz="2400" b="1" cap="none" spc="0" dirty="0">
              <a:ln w="22225">
                <a:solidFill>
                  <a:schemeClr val="accent2"/>
                </a:solidFill>
                <a:prstDash val="solid"/>
              </a:ln>
              <a:solidFill>
                <a:schemeClr val="accent2">
                  <a:lumMod val="40000"/>
                  <a:lumOff val="60000"/>
                </a:schemeClr>
              </a:solidFill>
              <a:effectLst/>
            </a:endParaRPr>
          </a:p>
        </p:txBody>
      </p:sp>
      <p:pic>
        <p:nvPicPr>
          <p:cNvPr id="132" name="Sidebar arrow 2" descr="Cursor with solid fill">
            <a:extLst>
              <a:ext uri="{FF2B5EF4-FFF2-40B4-BE49-F238E27FC236}">
                <a16:creationId xmlns:a16="http://schemas.microsoft.com/office/drawing/2014/main" id="{D3AE8E52-9718-704A-9A26-F3EA2B4CA9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71833" y="1492909"/>
            <a:ext cx="270672" cy="270672"/>
          </a:xfrm>
          <a:prstGeom prst="rect">
            <a:avLst/>
          </a:prstGeom>
        </p:spPr>
      </p:pic>
      <p:sp>
        <p:nvSpPr>
          <p:cNvPr id="139" name="A (bleed) question">
            <a:extLst>
              <a:ext uri="{FF2B5EF4-FFF2-40B4-BE49-F238E27FC236}">
                <a16:creationId xmlns:a16="http://schemas.microsoft.com/office/drawing/2014/main" id="{92D302DB-5929-EF43-9E0C-4117F03514AC}"/>
              </a:ext>
            </a:extLst>
          </p:cNvPr>
          <p:cNvSpPr/>
          <p:nvPr/>
        </p:nvSpPr>
        <p:spPr>
          <a:xfrm>
            <a:off x="7652179" y="1704279"/>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A</a:t>
            </a:r>
            <a:endParaRPr lang="en-US" sz="2400" b="1" dirty="0">
              <a:ln w="22225">
                <a:solidFill>
                  <a:schemeClr val="accent2"/>
                </a:solidFill>
                <a:prstDash val="solid"/>
              </a:ln>
              <a:solidFill>
                <a:schemeClr val="accent2">
                  <a:lumMod val="40000"/>
                  <a:lumOff val="60000"/>
                </a:schemeClr>
              </a:solidFill>
            </a:endParaRPr>
          </a:p>
        </p:txBody>
      </p:sp>
      <p:sp>
        <p:nvSpPr>
          <p:cNvPr id="140" name="S (bleed) question">
            <a:extLst>
              <a:ext uri="{FF2B5EF4-FFF2-40B4-BE49-F238E27FC236}">
                <a16:creationId xmlns:a16="http://schemas.microsoft.com/office/drawing/2014/main" id="{10844B71-98DB-DB4C-9069-FF21273DB679}"/>
              </a:ext>
            </a:extLst>
          </p:cNvPr>
          <p:cNvSpPr/>
          <p:nvPr/>
        </p:nvSpPr>
        <p:spPr>
          <a:xfrm>
            <a:off x="7652179" y="2256664"/>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S</a:t>
            </a:r>
            <a:endParaRPr lang="en-US" sz="2400" b="1" dirty="0">
              <a:ln w="22225">
                <a:solidFill>
                  <a:schemeClr val="accent2"/>
                </a:solidFill>
                <a:prstDash val="solid"/>
              </a:ln>
              <a:solidFill>
                <a:schemeClr val="accent2">
                  <a:lumMod val="40000"/>
                  <a:lumOff val="60000"/>
                </a:schemeClr>
              </a:solidFill>
            </a:endParaRPr>
          </a:p>
        </p:txBody>
      </p:sp>
      <p:sp>
        <p:nvSpPr>
          <p:cNvPr id="141" name="B (bleed) question">
            <a:extLst>
              <a:ext uri="{FF2B5EF4-FFF2-40B4-BE49-F238E27FC236}">
                <a16:creationId xmlns:a16="http://schemas.microsoft.com/office/drawing/2014/main" id="{4660898C-CFEF-3847-96F5-6B5F34D8F19B}"/>
              </a:ext>
            </a:extLst>
          </p:cNvPr>
          <p:cNvSpPr/>
          <p:nvPr/>
        </p:nvSpPr>
        <p:spPr>
          <a:xfrm>
            <a:off x="7652179" y="2809049"/>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B</a:t>
            </a:r>
          </a:p>
        </p:txBody>
      </p:sp>
      <p:sp>
        <p:nvSpPr>
          <p:cNvPr id="142" name="L (bleed) question">
            <a:extLst>
              <a:ext uri="{FF2B5EF4-FFF2-40B4-BE49-F238E27FC236}">
                <a16:creationId xmlns:a16="http://schemas.microsoft.com/office/drawing/2014/main" id="{D068E968-7365-4E4E-AB4C-4BA4193E679F}"/>
              </a:ext>
            </a:extLst>
          </p:cNvPr>
          <p:cNvSpPr/>
          <p:nvPr/>
        </p:nvSpPr>
        <p:spPr>
          <a:xfrm>
            <a:off x="7652179" y="3361434"/>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L</a:t>
            </a:r>
            <a:endParaRPr lang="en-US" sz="2400" b="1" dirty="0">
              <a:ln w="22225">
                <a:solidFill>
                  <a:schemeClr val="accent2"/>
                </a:solidFill>
                <a:prstDash val="solid"/>
              </a:ln>
              <a:solidFill>
                <a:schemeClr val="accent2">
                  <a:lumMod val="40000"/>
                  <a:lumOff val="60000"/>
                </a:schemeClr>
              </a:solidFill>
            </a:endParaRPr>
          </a:p>
        </p:txBody>
      </p:sp>
      <p:sp>
        <p:nvSpPr>
          <p:cNvPr id="151" name="E (bleed) question">
            <a:extLst>
              <a:ext uri="{FF2B5EF4-FFF2-40B4-BE49-F238E27FC236}">
                <a16:creationId xmlns:a16="http://schemas.microsoft.com/office/drawing/2014/main" id="{4FC0A0FE-2D6C-BB48-AFEA-4226FD910022}"/>
              </a:ext>
            </a:extLst>
          </p:cNvPr>
          <p:cNvSpPr/>
          <p:nvPr/>
        </p:nvSpPr>
        <p:spPr>
          <a:xfrm>
            <a:off x="7652179" y="3913819"/>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E</a:t>
            </a:r>
            <a:endParaRPr lang="en-US" sz="2400" b="1" dirty="0">
              <a:ln w="22225">
                <a:solidFill>
                  <a:schemeClr val="accent2"/>
                </a:solidFill>
                <a:prstDash val="solid"/>
              </a:ln>
              <a:solidFill>
                <a:schemeClr val="accent2">
                  <a:lumMod val="40000"/>
                  <a:lumOff val="60000"/>
                </a:schemeClr>
              </a:solidFill>
            </a:endParaRPr>
          </a:p>
        </p:txBody>
      </p:sp>
      <p:sp>
        <p:nvSpPr>
          <p:cNvPr id="152" name="D (bleed) question">
            <a:extLst>
              <a:ext uri="{FF2B5EF4-FFF2-40B4-BE49-F238E27FC236}">
                <a16:creationId xmlns:a16="http://schemas.microsoft.com/office/drawing/2014/main" id="{119440A6-8420-5D45-9A94-53FC25C24858}"/>
              </a:ext>
            </a:extLst>
          </p:cNvPr>
          <p:cNvSpPr/>
          <p:nvPr/>
        </p:nvSpPr>
        <p:spPr>
          <a:xfrm>
            <a:off x="7652179" y="4466204"/>
            <a:ext cx="548640"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sz="2400" b="1" dirty="0">
                <a:ln w="22225">
                  <a:solidFill>
                    <a:srgbClr val="FF0000"/>
                  </a:solidFill>
                  <a:prstDash val="solid"/>
                </a:ln>
                <a:solidFill>
                  <a:srgbClr val="FB7865"/>
                </a:solidFill>
              </a:rPr>
              <a:t>D</a:t>
            </a:r>
            <a:endParaRPr lang="en-US" sz="2400" b="1" dirty="0">
              <a:ln w="22225">
                <a:solidFill>
                  <a:schemeClr val="accent2"/>
                </a:solidFill>
                <a:prstDash val="solid"/>
              </a:ln>
              <a:solidFill>
                <a:schemeClr val="accent2">
                  <a:lumMod val="40000"/>
                  <a:lumOff val="60000"/>
                </a:schemeClr>
              </a:solidFill>
            </a:endParaRPr>
          </a:p>
        </p:txBody>
      </p:sp>
      <p:sp>
        <p:nvSpPr>
          <p:cNvPr id="4" name="LO1: Stroke Prev">
            <a:hlinkClick r:id="rId8" action="ppaction://hlinksldjump"/>
            <a:extLst>
              <a:ext uri="{FF2B5EF4-FFF2-40B4-BE49-F238E27FC236}">
                <a16:creationId xmlns:a16="http://schemas.microsoft.com/office/drawing/2014/main" id="{0D812764-2C22-590A-A39E-123451F66CEC}"/>
              </a:ext>
            </a:extLst>
          </p:cNvPr>
          <p:cNvSpPr/>
          <p:nvPr/>
        </p:nvSpPr>
        <p:spPr>
          <a:xfrm>
            <a:off x="167951" y="148589"/>
            <a:ext cx="1875163"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Stroke Prevention</a:t>
            </a:r>
          </a:p>
        </p:txBody>
      </p:sp>
      <p:sp>
        <p:nvSpPr>
          <p:cNvPr id="5" name="LO2: Rhythm Control">
            <a:hlinkClick r:id="rId9" action="ppaction://hlinksldjump"/>
            <a:extLst>
              <a:ext uri="{FF2B5EF4-FFF2-40B4-BE49-F238E27FC236}">
                <a16:creationId xmlns:a16="http://schemas.microsoft.com/office/drawing/2014/main" id="{3A54E1E4-0A7A-EA3C-784C-E253730F1CF2}"/>
              </a:ext>
            </a:extLst>
          </p:cNvPr>
          <p:cNvSpPr/>
          <p:nvPr/>
        </p:nvSpPr>
        <p:spPr>
          <a:xfrm>
            <a:off x="167950" y="2197293"/>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Rate Control</a:t>
            </a:r>
          </a:p>
        </p:txBody>
      </p:sp>
      <p:pic>
        <p:nvPicPr>
          <p:cNvPr id="6" name="Sidebar arrow 2" descr="Cursor with solid fill">
            <a:extLst>
              <a:ext uri="{FF2B5EF4-FFF2-40B4-BE49-F238E27FC236}">
                <a16:creationId xmlns:a16="http://schemas.microsoft.com/office/drawing/2014/main" id="{8E937AC5-37BA-CBD7-0D14-D895B0C4DC1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31292" y="2442424"/>
            <a:ext cx="270672" cy="270672"/>
          </a:xfrm>
          <a:prstGeom prst="rect">
            <a:avLst/>
          </a:prstGeom>
        </p:spPr>
      </p:pic>
      <p:sp>
        <p:nvSpPr>
          <p:cNvPr id="7" name="LO3: Rate Control">
            <a:hlinkClick r:id="rId10" action="ppaction://hlinksldjump"/>
            <a:extLst>
              <a:ext uri="{FF2B5EF4-FFF2-40B4-BE49-F238E27FC236}">
                <a16:creationId xmlns:a16="http://schemas.microsoft.com/office/drawing/2014/main" id="{507C7789-18ED-77C5-B500-08BEA88A74B0}"/>
              </a:ext>
            </a:extLst>
          </p:cNvPr>
          <p:cNvSpPr/>
          <p:nvPr/>
        </p:nvSpPr>
        <p:spPr>
          <a:xfrm>
            <a:off x="167950" y="2709469"/>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Rhythm Control</a:t>
            </a:r>
          </a:p>
        </p:txBody>
      </p:sp>
      <p:pic>
        <p:nvPicPr>
          <p:cNvPr id="8" name="Sidebar arrow 3" descr="Cursor with solid fill">
            <a:extLst>
              <a:ext uri="{FF2B5EF4-FFF2-40B4-BE49-F238E27FC236}">
                <a16:creationId xmlns:a16="http://schemas.microsoft.com/office/drawing/2014/main" id="{17F905ED-D469-971D-15C1-21D22A6724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31292" y="2955287"/>
            <a:ext cx="270672" cy="270672"/>
          </a:xfrm>
          <a:prstGeom prst="rect">
            <a:avLst/>
          </a:prstGeom>
        </p:spPr>
      </p:pic>
      <p:sp>
        <p:nvSpPr>
          <p:cNvPr id="9" name="Cases">
            <a:hlinkClick r:id="rId11" action="ppaction://hlinksldjump"/>
            <a:extLst>
              <a:ext uri="{FF2B5EF4-FFF2-40B4-BE49-F238E27FC236}">
                <a16:creationId xmlns:a16="http://schemas.microsoft.com/office/drawing/2014/main" id="{E3316296-15C3-E1F4-FBA3-F7F28EE32EF2}"/>
              </a:ext>
            </a:extLst>
          </p:cNvPr>
          <p:cNvSpPr/>
          <p:nvPr/>
        </p:nvSpPr>
        <p:spPr>
          <a:xfrm>
            <a:off x="167950" y="3221645"/>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10" name="Sidebar arrow 4" descr="Cursor with solid fill">
            <a:extLst>
              <a:ext uri="{FF2B5EF4-FFF2-40B4-BE49-F238E27FC236}">
                <a16:creationId xmlns:a16="http://schemas.microsoft.com/office/drawing/2014/main" id="{4E297836-B4B1-E3BD-1CCC-5E622CBDBCB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31292" y="3463813"/>
            <a:ext cx="270672" cy="270672"/>
          </a:xfrm>
          <a:prstGeom prst="rect">
            <a:avLst/>
          </a:prstGeom>
        </p:spPr>
      </p:pic>
      <p:sp>
        <p:nvSpPr>
          <p:cNvPr id="11" name="1.1 Risk Assessment">
            <a:hlinkClick r:id="rId8" action="ppaction://hlinksldjump"/>
            <a:extLst>
              <a:ext uri="{FF2B5EF4-FFF2-40B4-BE49-F238E27FC236}">
                <a16:creationId xmlns:a16="http://schemas.microsoft.com/office/drawing/2014/main" id="{8EDB1584-8619-6546-308E-02CF058BC2ED}"/>
              </a:ext>
            </a:extLst>
          </p:cNvPr>
          <p:cNvSpPr/>
          <p:nvPr/>
        </p:nvSpPr>
        <p:spPr>
          <a:xfrm>
            <a:off x="488161" y="660765"/>
            <a:ext cx="1875163"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Risk Assessment</a:t>
            </a:r>
          </a:p>
        </p:txBody>
      </p:sp>
      <p:sp>
        <p:nvSpPr>
          <p:cNvPr id="14" name="1.2 Therapies">
            <a:hlinkClick r:id="rId12" action="ppaction://hlinksldjump"/>
            <a:extLst>
              <a:ext uri="{FF2B5EF4-FFF2-40B4-BE49-F238E27FC236}">
                <a16:creationId xmlns:a16="http://schemas.microsoft.com/office/drawing/2014/main" id="{C0F6B281-A965-6B34-9ADD-A00D1A5765CF}"/>
              </a:ext>
            </a:extLst>
          </p:cNvPr>
          <p:cNvSpPr/>
          <p:nvPr/>
        </p:nvSpPr>
        <p:spPr>
          <a:xfrm>
            <a:off x="488161" y="1172941"/>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Therapies</a:t>
            </a:r>
          </a:p>
        </p:txBody>
      </p:sp>
      <p:pic>
        <p:nvPicPr>
          <p:cNvPr id="15" name="Sidebar arrow 1.2" descr="Cursor with solid fill">
            <a:extLst>
              <a:ext uri="{FF2B5EF4-FFF2-40B4-BE49-F238E27FC236}">
                <a16:creationId xmlns:a16="http://schemas.microsoft.com/office/drawing/2014/main" id="{0A9E2E06-0FAB-8899-A30F-C3466599658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27118" y="1411208"/>
            <a:ext cx="270672" cy="270672"/>
          </a:xfrm>
          <a:prstGeom prst="rect">
            <a:avLst/>
          </a:prstGeom>
        </p:spPr>
      </p:pic>
      <p:sp>
        <p:nvSpPr>
          <p:cNvPr id="16" name="1.3 Clinical Scenarios">
            <a:hlinkClick r:id="rId13" action="ppaction://hlinksldjump"/>
            <a:extLst>
              <a:ext uri="{FF2B5EF4-FFF2-40B4-BE49-F238E27FC236}">
                <a16:creationId xmlns:a16="http://schemas.microsoft.com/office/drawing/2014/main" id="{5901552D-3C42-BC7B-FD8D-999EE9602A17}"/>
              </a:ext>
            </a:extLst>
          </p:cNvPr>
          <p:cNvSpPr/>
          <p:nvPr/>
        </p:nvSpPr>
        <p:spPr>
          <a:xfrm>
            <a:off x="488161" y="1685117"/>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Clinical Scenarios</a:t>
            </a:r>
          </a:p>
        </p:txBody>
      </p:sp>
      <p:pic>
        <p:nvPicPr>
          <p:cNvPr id="17" name="Sidebar arrow 1.1" descr="Cursor with solid fill">
            <a:extLst>
              <a:ext uri="{FF2B5EF4-FFF2-40B4-BE49-F238E27FC236}">
                <a16:creationId xmlns:a16="http://schemas.microsoft.com/office/drawing/2014/main" id="{8972E480-A8E7-74EA-809D-E6946B8E700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27118" y="1929581"/>
            <a:ext cx="270672" cy="270672"/>
          </a:xfrm>
          <a:prstGeom prst="rect">
            <a:avLst/>
          </a:prstGeom>
        </p:spPr>
      </p:pic>
      <p:grpSp>
        <p:nvGrpSpPr>
          <p:cNvPr id="18" name="Group 17">
            <a:extLst>
              <a:ext uri="{FF2B5EF4-FFF2-40B4-BE49-F238E27FC236}">
                <a16:creationId xmlns:a16="http://schemas.microsoft.com/office/drawing/2014/main" id="{EAB07815-65F4-4D4F-783E-F07C181E5270}"/>
              </a:ext>
            </a:extLst>
          </p:cNvPr>
          <p:cNvGrpSpPr/>
          <p:nvPr/>
        </p:nvGrpSpPr>
        <p:grpSpPr>
          <a:xfrm>
            <a:off x="300034" y="513607"/>
            <a:ext cx="188128" cy="1355500"/>
            <a:chOff x="300034" y="513607"/>
            <a:chExt cx="188128" cy="1355500"/>
          </a:xfrm>
        </p:grpSpPr>
        <p:cxnSp>
          <p:nvCxnSpPr>
            <p:cNvPr id="19" name="Connector: Elbow 2">
              <a:extLst>
                <a:ext uri="{FF2B5EF4-FFF2-40B4-BE49-F238E27FC236}">
                  <a16:creationId xmlns:a16="http://schemas.microsoft.com/office/drawing/2014/main" id="{0F0021A5-3CC0-F01F-3378-808DC58AD95A}"/>
                </a:ext>
              </a:extLst>
            </p:cNvPr>
            <p:cNvCxnSpPr>
              <a:cxnSpLocks/>
              <a:endCxn id="11" idx="1"/>
            </p:cNvCxnSpPr>
            <p:nvPr/>
          </p:nvCxnSpPr>
          <p:spPr>
            <a:xfrm rot="16200000" flipH="1">
              <a:off x="228524" y="585117"/>
              <a:ext cx="331147" cy="188127"/>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22" name="Connector: Elbow 2">
              <a:extLst>
                <a:ext uri="{FF2B5EF4-FFF2-40B4-BE49-F238E27FC236}">
                  <a16:creationId xmlns:a16="http://schemas.microsoft.com/office/drawing/2014/main" id="{402B1BD5-6067-96DD-C75F-38DCC65D2484}"/>
                </a:ext>
              </a:extLst>
            </p:cNvPr>
            <p:cNvCxnSpPr>
              <a:cxnSpLocks/>
              <a:endCxn id="14" idx="1"/>
            </p:cNvCxnSpPr>
            <p:nvPr/>
          </p:nvCxnSpPr>
          <p:spPr>
            <a:xfrm rot="16200000" flipH="1">
              <a:off x="109652" y="978421"/>
              <a:ext cx="568895" cy="18812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Connector: Elbow 2">
              <a:extLst>
                <a:ext uri="{FF2B5EF4-FFF2-40B4-BE49-F238E27FC236}">
                  <a16:creationId xmlns:a16="http://schemas.microsoft.com/office/drawing/2014/main" id="{221365CA-13F2-C121-3D80-B9A4FE73C354}"/>
                </a:ext>
              </a:extLst>
            </p:cNvPr>
            <p:cNvCxnSpPr>
              <a:cxnSpLocks/>
              <a:endCxn id="16" idx="1"/>
            </p:cNvCxnSpPr>
            <p:nvPr/>
          </p:nvCxnSpPr>
          <p:spPr>
            <a:xfrm rot="16200000" flipH="1">
              <a:off x="94343" y="1475289"/>
              <a:ext cx="599510" cy="18812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pic>
        <p:nvPicPr>
          <p:cNvPr id="23" name="Sidebar arrow 2" descr="Cursor with solid fill">
            <a:extLst>
              <a:ext uri="{FF2B5EF4-FFF2-40B4-BE49-F238E27FC236}">
                <a16:creationId xmlns:a16="http://schemas.microsoft.com/office/drawing/2014/main" id="{C6506FBB-6B97-494B-961A-C40BC16B80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32287" y="1502032"/>
            <a:ext cx="270672" cy="270672"/>
          </a:xfrm>
          <a:prstGeom prst="rect">
            <a:avLst/>
          </a:prstGeom>
        </p:spPr>
      </p:pic>
      <p:pic>
        <p:nvPicPr>
          <p:cNvPr id="24" name="Sidebar arrow 3" descr="Cursor with solid fill">
            <a:extLst>
              <a:ext uri="{FF2B5EF4-FFF2-40B4-BE49-F238E27FC236}">
                <a16:creationId xmlns:a16="http://schemas.microsoft.com/office/drawing/2014/main" id="{5A68ACED-D483-B046-B4E9-8777003223E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32287" y="2043638"/>
            <a:ext cx="270672" cy="270672"/>
          </a:xfrm>
          <a:prstGeom prst="rect">
            <a:avLst/>
          </a:prstGeom>
        </p:spPr>
      </p:pic>
      <p:pic>
        <p:nvPicPr>
          <p:cNvPr id="26" name="Sidebar arrow 2" descr="Cursor with solid fill">
            <a:extLst>
              <a:ext uri="{FF2B5EF4-FFF2-40B4-BE49-F238E27FC236}">
                <a16:creationId xmlns:a16="http://schemas.microsoft.com/office/drawing/2014/main" id="{6C2D2D42-F4F3-AF49-A699-54378399D3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32287" y="2593107"/>
            <a:ext cx="270672" cy="270672"/>
          </a:xfrm>
          <a:prstGeom prst="rect">
            <a:avLst/>
          </a:prstGeom>
        </p:spPr>
      </p:pic>
      <p:pic>
        <p:nvPicPr>
          <p:cNvPr id="36" name="Sidebar arrow 3" descr="Cursor with solid fill">
            <a:extLst>
              <a:ext uri="{FF2B5EF4-FFF2-40B4-BE49-F238E27FC236}">
                <a16:creationId xmlns:a16="http://schemas.microsoft.com/office/drawing/2014/main" id="{13273834-21B9-144E-A5A5-3CA357AF29A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32287" y="3152933"/>
            <a:ext cx="270672" cy="270672"/>
          </a:xfrm>
          <a:prstGeom prst="rect">
            <a:avLst/>
          </a:prstGeom>
        </p:spPr>
      </p:pic>
      <p:pic>
        <p:nvPicPr>
          <p:cNvPr id="37" name="Sidebar arrow 2" descr="Cursor with solid fill">
            <a:extLst>
              <a:ext uri="{FF2B5EF4-FFF2-40B4-BE49-F238E27FC236}">
                <a16:creationId xmlns:a16="http://schemas.microsoft.com/office/drawing/2014/main" id="{F50BC29E-D79A-5042-A267-E7210EF40C6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32287" y="3695891"/>
            <a:ext cx="270672" cy="270672"/>
          </a:xfrm>
          <a:prstGeom prst="rect">
            <a:avLst/>
          </a:prstGeom>
        </p:spPr>
      </p:pic>
      <p:pic>
        <p:nvPicPr>
          <p:cNvPr id="39" name="Sidebar arrow 3" descr="Cursor with solid fill">
            <a:extLst>
              <a:ext uri="{FF2B5EF4-FFF2-40B4-BE49-F238E27FC236}">
                <a16:creationId xmlns:a16="http://schemas.microsoft.com/office/drawing/2014/main" id="{9015EBC1-0DED-2D48-BC20-B2AFE9F42AE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32287" y="4232883"/>
            <a:ext cx="270672" cy="270672"/>
          </a:xfrm>
          <a:prstGeom prst="rect">
            <a:avLst/>
          </a:prstGeom>
        </p:spPr>
      </p:pic>
      <p:pic>
        <p:nvPicPr>
          <p:cNvPr id="40" name="Sidebar arrow 2" descr="Cursor with solid fill">
            <a:extLst>
              <a:ext uri="{FF2B5EF4-FFF2-40B4-BE49-F238E27FC236}">
                <a16:creationId xmlns:a16="http://schemas.microsoft.com/office/drawing/2014/main" id="{B060C069-91E0-BD43-9EC0-DE6EF017C5F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32287" y="5366977"/>
            <a:ext cx="270672" cy="270672"/>
          </a:xfrm>
          <a:prstGeom prst="rect">
            <a:avLst/>
          </a:prstGeom>
        </p:spPr>
      </p:pic>
      <p:sp>
        <p:nvSpPr>
          <p:cNvPr id="32" name="Age answer">
            <a:extLst>
              <a:ext uri="{FF2B5EF4-FFF2-40B4-BE49-F238E27FC236}">
                <a16:creationId xmlns:a16="http://schemas.microsoft.com/office/drawing/2014/main" id="{A0B37C53-3830-28C6-A574-54A2633F14FB}"/>
              </a:ext>
            </a:extLst>
          </p:cNvPr>
          <p:cNvSpPr txBox="1"/>
          <p:nvPr/>
        </p:nvSpPr>
        <p:spPr>
          <a:xfrm>
            <a:off x="3556788" y="4533723"/>
            <a:ext cx="1918494" cy="400110"/>
          </a:xfrm>
          <a:prstGeom prst="rect">
            <a:avLst/>
          </a:prstGeom>
          <a:noFill/>
        </p:spPr>
        <p:txBody>
          <a:bodyPr wrap="square" rtlCol="0">
            <a:spAutoFit/>
          </a:bodyPr>
          <a:lstStyle/>
          <a:p>
            <a:r>
              <a:rPr lang="en-US" sz="2000" b="1" dirty="0" err="1"/>
              <a:t>ge</a:t>
            </a:r>
            <a:r>
              <a:rPr lang="en-US" sz="2000" b="1" dirty="0"/>
              <a:t> </a:t>
            </a:r>
            <a:r>
              <a:rPr lang="en-US" b="1" dirty="0"/>
              <a:t>(&gt;75 </a:t>
            </a:r>
            <a:r>
              <a:rPr lang="en-US" b="1" dirty="0" err="1"/>
              <a:t>yo</a:t>
            </a:r>
            <a:r>
              <a:rPr lang="en-US" b="1" dirty="0"/>
              <a:t>) (+2) </a:t>
            </a:r>
            <a:endParaRPr lang="en-US" sz="1600" b="1" dirty="0"/>
          </a:p>
        </p:txBody>
      </p:sp>
      <p:pic>
        <p:nvPicPr>
          <p:cNvPr id="34" name="Sidebar arrow 3" descr="Cursor with solid fill">
            <a:extLst>
              <a:ext uri="{FF2B5EF4-FFF2-40B4-BE49-F238E27FC236}">
                <a16:creationId xmlns:a16="http://schemas.microsoft.com/office/drawing/2014/main" id="{DE9AD38B-D116-396A-21CB-4F469BDF2DB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32287" y="4794085"/>
            <a:ext cx="270672" cy="270672"/>
          </a:xfrm>
          <a:prstGeom prst="rect">
            <a:avLst/>
          </a:prstGeom>
        </p:spPr>
      </p:pic>
      <p:pic>
        <p:nvPicPr>
          <p:cNvPr id="133" name="Sidebar arrow 3" descr="Cursor with solid fill">
            <a:extLst>
              <a:ext uri="{FF2B5EF4-FFF2-40B4-BE49-F238E27FC236}">
                <a16:creationId xmlns:a16="http://schemas.microsoft.com/office/drawing/2014/main" id="{C63472B0-3E06-ED45-ABE3-0C1B3B00E2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71833" y="2013076"/>
            <a:ext cx="270672" cy="270672"/>
          </a:xfrm>
          <a:prstGeom prst="rect">
            <a:avLst/>
          </a:prstGeom>
        </p:spPr>
      </p:pic>
      <p:pic>
        <p:nvPicPr>
          <p:cNvPr id="134" name="Sidebar arrow 2" descr="Cursor with solid fill">
            <a:extLst>
              <a:ext uri="{FF2B5EF4-FFF2-40B4-BE49-F238E27FC236}">
                <a16:creationId xmlns:a16="http://schemas.microsoft.com/office/drawing/2014/main" id="{C7096D9E-F907-7046-8356-818EA64F2AB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71833" y="2584061"/>
            <a:ext cx="270672" cy="270672"/>
          </a:xfrm>
          <a:prstGeom prst="rect">
            <a:avLst/>
          </a:prstGeom>
        </p:spPr>
      </p:pic>
      <p:pic>
        <p:nvPicPr>
          <p:cNvPr id="135" name="Sidebar arrow 3" descr="Cursor with solid fill">
            <a:extLst>
              <a:ext uri="{FF2B5EF4-FFF2-40B4-BE49-F238E27FC236}">
                <a16:creationId xmlns:a16="http://schemas.microsoft.com/office/drawing/2014/main" id="{969A5C7E-5C2A-6B49-A615-21753B43E7E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71833" y="3119327"/>
            <a:ext cx="270672" cy="270672"/>
          </a:xfrm>
          <a:prstGeom prst="rect">
            <a:avLst/>
          </a:prstGeom>
        </p:spPr>
      </p:pic>
      <p:pic>
        <p:nvPicPr>
          <p:cNvPr id="136" name="Sidebar arrow 2" descr="Cursor with solid fill">
            <a:extLst>
              <a:ext uri="{FF2B5EF4-FFF2-40B4-BE49-F238E27FC236}">
                <a16:creationId xmlns:a16="http://schemas.microsoft.com/office/drawing/2014/main" id="{5B09A9C0-B4D6-0543-8DC2-AA0375E9B51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71833" y="3679541"/>
            <a:ext cx="270672" cy="270672"/>
          </a:xfrm>
          <a:prstGeom prst="rect">
            <a:avLst/>
          </a:prstGeom>
        </p:spPr>
      </p:pic>
      <p:pic>
        <p:nvPicPr>
          <p:cNvPr id="137" name="Sidebar arrow 3" descr="Cursor with solid fill">
            <a:extLst>
              <a:ext uri="{FF2B5EF4-FFF2-40B4-BE49-F238E27FC236}">
                <a16:creationId xmlns:a16="http://schemas.microsoft.com/office/drawing/2014/main" id="{16F2F24D-BBE1-A74D-AE03-232BB47E347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71833" y="4252989"/>
            <a:ext cx="270672" cy="270672"/>
          </a:xfrm>
          <a:prstGeom prst="rect">
            <a:avLst/>
          </a:prstGeom>
        </p:spPr>
      </p:pic>
      <p:pic>
        <p:nvPicPr>
          <p:cNvPr id="138" name="Sidebar arrow 2" descr="Cursor with solid fill">
            <a:extLst>
              <a:ext uri="{FF2B5EF4-FFF2-40B4-BE49-F238E27FC236}">
                <a16:creationId xmlns:a16="http://schemas.microsoft.com/office/drawing/2014/main" id="{D91F15FC-6EE0-EA42-A554-4A69106AC6C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71833" y="4784585"/>
            <a:ext cx="270672" cy="270672"/>
          </a:xfrm>
          <a:prstGeom prst="rect">
            <a:avLst/>
          </a:prstGeom>
        </p:spPr>
      </p:pic>
      <p:grpSp>
        <p:nvGrpSpPr>
          <p:cNvPr id="70" name="Group 69">
            <a:extLst>
              <a:ext uri="{FF2B5EF4-FFF2-40B4-BE49-F238E27FC236}">
                <a16:creationId xmlns:a16="http://schemas.microsoft.com/office/drawing/2014/main" id="{A4D9D849-46C8-D179-FC14-6BB67AF716B1}"/>
              </a:ext>
            </a:extLst>
          </p:cNvPr>
          <p:cNvGrpSpPr/>
          <p:nvPr/>
        </p:nvGrpSpPr>
        <p:grpSpPr>
          <a:xfrm>
            <a:off x="5935073" y="532641"/>
            <a:ext cx="1249936" cy="1192252"/>
            <a:chOff x="5727508" y="1550794"/>
            <a:chExt cx="1249936" cy="1192252"/>
          </a:xfrm>
        </p:grpSpPr>
        <p:grpSp>
          <p:nvGrpSpPr>
            <p:cNvPr id="68" name="Group 67">
              <a:extLst>
                <a:ext uri="{FF2B5EF4-FFF2-40B4-BE49-F238E27FC236}">
                  <a16:creationId xmlns:a16="http://schemas.microsoft.com/office/drawing/2014/main" id="{8D29C822-E7A4-8769-A7FB-1781FF13A4B6}"/>
                </a:ext>
              </a:extLst>
            </p:cNvPr>
            <p:cNvGrpSpPr/>
            <p:nvPr/>
          </p:nvGrpSpPr>
          <p:grpSpPr>
            <a:xfrm>
              <a:off x="5727508" y="1569352"/>
              <a:ext cx="1249936" cy="1173694"/>
              <a:chOff x="5727508" y="1569352"/>
              <a:chExt cx="1249936" cy="1173694"/>
            </a:xfrm>
          </p:grpSpPr>
          <p:grpSp>
            <p:nvGrpSpPr>
              <p:cNvPr id="61" name="Group 60">
                <a:extLst>
                  <a:ext uri="{FF2B5EF4-FFF2-40B4-BE49-F238E27FC236}">
                    <a16:creationId xmlns:a16="http://schemas.microsoft.com/office/drawing/2014/main" id="{C6BDA7AC-7162-19EC-0A6A-9384ADFD154F}"/>
                  </a:ext>
                </a:extLst>
              </p:cNvPr>
              <p:cNvGrpSpPr/>
              <p:nvPr/>
            </p:nvGrpSpPr>
            <p:grpSpPr>
              <a:xfrm>
                <a:off x="5727508" y="2011861"/>
                <a:ext cx="556173" cy="400110"/>
                <a:chOff x="5169475" y="1825648"/>
                <a:chExt cx="357246" cy="261739"/>
              </a:xfrm>
            </p:grpSpPr>
            <p:sp>
              <p:nvSpPr>
                <p:cNvPr id="59" name="Oval 58">
                  <a:extLst>
                    <a:ext uri="{FF2B5EF4-FFF2-40B4-BE49-F238E27FC236}">
                      <a16:creationId xmlns:a16="http://schemas.microsoft.com/office/drawing/2014/main" id="{1E82F17A-33CF-C987-053D-F3938F662D7C}"/>
                    </a:ext>
                  </a:extLst>
                </p:cNvPr>
                <p:cNvSpPr/>
                <p:nvPr/>
              </p:nvSpPr>
              <p:spPr>
                <a:xfrm>
                  <a:off x="5226462" y="1854123"/>
                  <a:ext cx="257214" cy="2332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837DBD9B-2529-C72D-0A9E-C2EAD9AC7006}"/>
                    </a:ext>
                  </a:extLst>
                </p:cNvPr>
                <p:cNvSpPr/>
                <p:nvPr/>
              </p:nvSpPr>
              <p:spPr>
                <a:xfrm>
                  <a:off x="5169475" y="1825648"/>
                  <a:ext cx="357246" cy="1470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EF3AC8D4-921D-8806-C7EB-4557E5C5A282}"/>
                  </a:ext>
                </a:extLst>
              </p:cNvPr>
              <p:cNvGrpSpPr/>
              <p:nvPr/>
            </p:nvGrpSpPr>
            <p:grpSpPr>
              <a:xfrm>
                <a:off x="5996092" y="1569352"/>
                <a:ext cx="710514" cy="1173694"/>
                <a:chOff x="6126980" y="1660195"/>
                <a:chExt cx="710514" cy="1173694"/>
              </a:xfrm>
            </p:grpSpPr>
            <p:cxnSp>
              <p:nvCxnSpPr>
                <p:cNvPr id="44" name="Straight Connector 43">
                  <a:extLst>
                    <a:ext uri="{FF2B5EF4-FFF2-40B4-BE49-F238E27FC236}">
                      <a16:creationId xmlns:a16="http://schemas.microsoft.com/office/drawing/2014/main" id="{3E0D6C70-C985-F1CD-4C17-5F2099BE4024}"/>
                    </a:ext>
                  </a:extLst>
                </p:cNvPr>
                <p:cNvCxnSpPr/>
                <p:nvPr/>
              </p:nvCxnSpPr>
              <p:spPr>
                <a:xfrm flipV="1">
                  <a:off x="6126980" y="1772704"/>
                  <a:ext cx="710514" cy="172262"/>
                </a:xfrm>
                <a:prstGeom prst="line">
                  <a:avLst/>
                </a:prstGeom>
              </p:spPr>
              <p:style>
                <a:lnRef idx="3">
                  <a:schemeClr val="dk1"/>
                </a:lnRef>
                <a:fillRef idx="0">
                  <a:schemeClr val="dk1"/>
                </a:fillRef>
                <a:effectRef idx="2">
                  <a:schemeClr val="dk1"/>
                </a:effectRef>
                <a:fontRef idx="minor">
                  <a:schemeClr val="tx1"/>
                </a:fontRef>
              </p:style>
            </p:cxnSp>
            <p:cxnSp>
              <p:nvCxnSpPr>
                <p:cNvPr id="49" name="Straight Connector 48">
                  <a:extLst>
                    <a:ext uri="{FF2B5EF4-FFF2-40B4-BE49-F238E27FC236}">
                      <a16:creationId xmlns:a16="http://schemas.microsoft.com/office/drawing/2014/main" id="{DC7972AB-F6DA-86C8-4D9C-25C573C2D671}"/>
                    </a:ext>
                  </a:extLst>
                </p:cNvPr>
                <p:cNvCxnSpPr>
                  <a:cxnSpLocks/>
                </p:cNvCxnSpPr>
                <p:nvPr/>
              </p:nvCxnSpPr>
              <p:spPr>
                <a:xfrm>
                  <a:off x="6482238" y="1660195"/>
                  <a:ext cx="5148" cy="1173694"/>
                </a:xfrm>
                <a:prstGeom prst="line">
                  <a:avLst/>
                </a:prstGeom>
              </p:spPr>
              <p:style>
                <a:lnRef idx="3">
                  <a:schemeClr val="dk1"/>
                </a:lnRef>
                <a:fillRef idx="0">
                  <a:schemeClr val="dk1"/>
                </a:fillRef>
                <a:effectRef idx="2">
                  <a:schemeClr val="dk1"/>
                </a:effectRef>
                <a:fontRef idx="minor">
                  <a:schemeClr val="tx1"/>
                </a:fontRef>
              </p:style>
            </p:cxnSp>
            <p:sp>
              <p:nvSpPr>
                <p:cNvPr id="52" name="Freeform: Shape 51">
                  <a:extLst>
                    <a:ext uri="{FF2B5EF4-FFF2-40B4-BE49-F238E27FC236}">
                      <a16:creationId xmlns:a16="http://schemas.microsoft.com/office/drawing/2014/main" id="{C4C9FF28-93C6-50A4-5D6E-CA0EE7A091AC}"/>
                    </a:ext>
                  </a:extLst>
                </p:cNvPr>
                <p:cNvSpPr/>
                <p:nvPr/>
              </p:nvSpPr>
              <p:spPr>
                <a:xfrm>
                  <a:off x="6231980" y="2703015"/>
                  <a:ext cx="500513" cy="130874"/>
                </a:xfrm>
                <a:custGeom>
                  <a:avLst/>
                  <a:gdLst>
                    <a:gd name="connsiteX0" fmla="*/ 197318 w 500513"/>
                    <a:gd name="connsiteY0" fmla="*/ 4812 h 101065"/>
                    <a:gd name="connsiteX1" fmla="*/ 317633 w 500513"/>
                    <a:gd name="connsiteY1" fmla="*/ 0 h 101065"/>
                    <a:gd name="connsiteX2" fmla="*/ 500513 w 500513"/>
                    <a:gd name="connsiteY2" fmla="*/ 101065 h 101065"/>
                    <a:gd name="connsiteX3" fmla="*/ 0 w 500513"/>
                    <a:gd name="connsiteY3" fmla="*/ 101065 h 101065"/>
                    <a:gd name="connsiteX4" fmla="*/ 197318 w 500513"/>
                    <a:gd name="connsiteY4" fmla="*/ 4812 h 101065"/>
                    <a:gd name="connsiteX0" fmla="*/ 192506 w 500513"/>
                    <a:gd name="connsiteY0" fmla="*/ 0 h 118040"/>
                    <a:gd name="connsiteX1" fmla="*/ 317633 w 500513"/>
                    <a:gd name="connsiteY1" fmla="*/ 16975 h 118040"/>
                    <a:gd name="connsiteX2" fmla="*/ 500513 w 500513"/>
                    <a:gd name="connsiteY2" fmla="*/ 118040 h 118040"/>
                    <a:gd name="connsiteX3" fmla="*/ 0 w 500513"/>
                    <a:gd name="connsiteY3" fmla="*/ 118040 h 118040"/>
                    <a:gd name="connsiteX4" fmla="*/ 192506 w 500513"/>
                    <a:gd name="connsiteY4" fmla="*/ 0 h 118040"/>
                    <a:gd name="connsiteX0" fmla="*/ 192506 w 500513"/>
                    <a:gd name="connsiteY0" fmla="*/ 454 h 118494"/>
                    <a:gd name="connsiteX1" fmla="*/ 317633 w 500513"/>
                    <a:gd name="connsiteY1" fmla="*/ 0 h 118494"/>
                    <a:gd name="connsiteX2" fmla="*/ 500513 w 500513"/>
                    <a:gd name="connsiteY2" fmla="*/ 118494 h 118494"/>
                    <a:gd name="connsiteX3" fmla="*/ 0 w 500513"/>
                    <a:gd name="connsiteY3" fmla="*/ 118494 h 118494"/>
                    <a:gd name="connsiteX4" fmla="*/ 192506 w 500513"/>
                    <a:gd name="connsiteY4" fmla="*/ 454 h 118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513" h="118494">
                      <a:moveTo>
                        <a:pt x="192506" y="454"/>
                      </a:moveTo>
                      <a:lnTo>
                        <a:pt x="317633" y="0"/>
                      </a:lnTo>
                      <a:lnTo>
                        <a:pt x="500513" y="118494"/>
                      </a:lnTo>
                      <a:lnTo>
                        <a:pt x="0" y="118494"/>
                      </a:lnTo>
                      <a:lnTo>
                        <a:pt x="192506" y="454"/>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54" name="Freeform: Shape 53">
                <a:extLst>
                  <a:ext uri="{FF2B5EF4-FFF2-40B4-BE49-F238E27FC236}">
                    <a16:creationId xmlns:a16="http://schemas.microsoft.com/office/drawing/2014/main" id="{3FCC483E-B4DA-5DE9-0558-976AC253B04B}"/>
                  </a:ext>
                </a:extLst>
              </p:cNvPr>
              <p:cNvSpPr/>
              <p:nvPr/>
            </p:nvSpPr>
            <p:spPr>
              <a:xfrm>
                <a:off x="5872299" y="1839599"/>
                <a:ext cx="299770" cy="410511"/>
              </a:xfrm>
              <a:custGeom>
                <a:avLst/>
                <a:gdLst>
                  <a:gd name="connsiteX0" fmla="*/ 105878 w 279132"/>
                  <a:gd name="connsiteY0" fmla="*/ 52939 h 399449"/>
                  <a:gd name="connsiteX1" fmla="*/ 0 w 279132"/>
                  <a:gd name="connsiteY1" fmla="*/ 399449 h 399449"/>
                  <a:gd name="connsiteX2" fmla="*/ 279132 w 279132"/>
                  <a:gd name="connsiteY2" fmla="*/ 394636 h 399449"/>
                  <a:gd name="connsiteX3" fmla="*/ 101065 w 279132"/>
                  <a:gd name="connsiteY3" fmla="*/ 0 h 399449"/>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20086 h 419535"/>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58186 h 419535"/>
                  <a:gd name="connsiteX0" fmla="*/ 99528 w 279132"/>
                  <a:gd name="connsiteY0" fmla="*/ 0 h 419535"/>
                  <a:gd name="connsiteX1" fmla="*/ 0 w 279132"/>
                  <a:gd name="connsiteY1" fmla="*/ 419535 h 419535"/>
                  <a:gd name="connsiteX2" fmla="*/ 279132 w 279132"/>
                  <a:gd name="connsiteY2" fmla="*/ 414722 h 419535"/>
                  <a:gd name="connsiteX3" fmla="*/ 107415 w 279132"/>
                  <a:gd name="connsiteY3" fmla="*/ 20086 h 419535"/>
                  <a:gd name="connsiteX0" fmla="*/ 112228 w 279132"/>
                  <a:gd name="connsiteY0" fmla="*/ 18014 h 399449"/>
                  <a:gd name="connsiteX1" fmla="*/ 0 w 279132"/>
                  <a:gd name="connsiteY1" fmla="*/ 399449 h 399449"/>
                  <a:gd name="connsiteX2" fmla="*/ 279132 w 279132"/>
                  <a:gd name="connsiteY2" fmla="*/ 394636 h 399449"/>
                  <a:gd name="connsiteX3" fmla="*/ 107415 w 279132"/>
                  <a:gd name="connsiteY3" fmla="*/ 0 h 399449"/>
                  <a:gd name="connsiteX0" fmla="*/ 134453 w 301357"/>
                  <a:gd name="connsiteY0" fmla="*/ 18014 h 405799"/>
                  <a:gd name="connsiteX1" fmla="*/ 0 w 301357"/>
                  <a:gd name="connsiteY1" fmla="*/ 405799 h 405799"/>
                  <a:gd name="connsiteX2" fmla="*/ 301357 w 301357"/>
                  <a:gd name="connsiteY2" fmla="*/ 394636 h 405799"/>
                  <a:gd name="connsiteX3" fmla="*/ 129640 w 301357"/>
                  <a:gd name="connsiteY3" fmla="*/ 0 h 405799"/>
                  <a:gd name="connsiteX0" fmla="*/ 134453 w 299770"/>
                  <a:gd name="connsiteY0" fmla="*/ 18014 h 410511"/>
                  <a:gd name="connsiteX1" fmla="*/ 0 w 299770"/>
                  <a:gd name="connsiteY1" fmla="*/ 405799 h 410511"/>
                  <a:gd name="connsiteX2" fmla="*/ 299770 w 299770"/>
                  <a:gd name="connsiteY2" fmla="*/ 410511 h 410511"/>
                  <a:gd name="connsiteX3" fmla="*/ 129640 w 299770"/>
                  <a:gd name="connsiteY3" fmla="*/ 0 h 410511"/>
                </a:gdLst>
                <a:ahLst/>
                <a:cxnLst>
                  <a:cxn ang="0">
                    <a:pos x="connsiteX0" y="connsiteY0"/>
                  </a:cxn>
                  <a:cxn ang="0">
                    <a:pos x="connsiteX1" y="connsiteY1"/>
                  </a:cxn>
                  <a:cxn ang="0">
                    <a:pos x="connsiteX2" y="connsiteY2"/>
                  </a:cxn>
                  <a:cxn ang="0">
                    <a:pos x="connsiteX3" y="connsiteY3"/>
                  </a:cxn>
                </a:cxnLst>
                <a:rect l="l" t="t" r="r" b="b"/>
                <a:pathLst>
                  <a:path w="299770" h="410511">
                    <a:moveTo>
                      <a:pt x="134453" y="18014"/>
                    </a:moveTo>
                    <a:lnTo>
                      <a:pt x="0" y="405799"/>
                    </a:lnTo>
                    <a:lnTo>
                      <a:pt x="299770" y="410511"/>
                    </a:lnTo>
                    <a:lnTo>
                      <a:pt x="12964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4" name="Group 63">
                <a:extLst>
                  <a:ext uri="{FF2B5EF4-FFF2-40B4-BE49-F238E27FC236}">
                    <a16:creationId xmlns:a16="http://schemas.microsoft.com/office/drawing/2014/main" id="{EE69F28C-CEAD-AD27-3F66-68EF52E7F17A}"/>
                  </a:ext>
                </a:extLst>
              </p:cNvPr>
              <p:cNvGrpSpPr/>
              <p:nvPr/>
            </p:nvGrpSpPr>
            <p:grpSpPr>
              <a:xfrm>
                <a:off x="6421271" y="1850000"/>
                <a:ext cx="556173" cy="400110"/>
                <a:chOff x="5169475" y="1825648"/>
                <a:chExt cx="357246" cy="261739"/>
              </a:xfrm>
            </p:grpSpPr>
            <p:sp>
              <p:nvSpPr>
                <p:cNvPr id="65" name="Oval 64">
                  <a:extLst>
                    <a:ext uri="{FF2B5EF4-FFF2-40B4-BE49-F238E27FC236}">
                      <a16:creationId xmlns:a16="http://schemas.microsoft.com/office/drawing/2014/main" id="{9049A162-D365-E1C2-F508-2F85E1947DB0}"/>
                    </a:ext>
                  </a:extLst>
                </p:cNvPr>
                <p:cNvSpPr/>
                <p:nvPr/>
              </p:nvSpPr>
              <p:spPr>
                <a:xfrm>
                  <a:off x="5226462" y="1854123"/>
                  <a:ext cx="257214" cy="2332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CD7726DD-7B12-FE0F-11B2-E8B42A289CB1}"/>
                    </a:ext>
                  </a:extLst>
                </p:cNvPr>
                <p:cNvSpPr/>
                <p:nvPr/>
              </p:nvSpPr>
              <p:spPr>
                <a:xfrm>
                  <a:off x="5169475" y="1825648"/>
                  <a:ext cx="357246" cy="1470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7" name="Freeform: Shape 66">
                <a:extLst>
                  <a:ext uri="{FF2B5EF4-FFF2-40B4-BE49-F238E27FC236}">
                    <a16:creationId xmlns:a16="http://schemas.microsoft.com/office/drawing/2014/main" id="{E9F0806A-CEE4-8D26-8A0B-CBA41F888E21}"/>
                  </a:ext>
                </a:extLst>
              </p:cNvPr>
              <p:cNvSpPr/>
              <p:nvPr/>
            </p:nvSpPr>
            <p:spPr>
              <a:xfrm>
                <a:off x="6566062" y="1677738"/>
                <a:ext cx="299770" cy="410511"/>
              </a:xfrm>
              <a:custGeom>
                <a:avLst/>
                <a:gdLst>
                  <a:gd name="connsiteX0" fmla="*/ 105878 w 279132"/>
                  <a:gd name="connsiteY0" fmla="*/ 52939 h 399449"/>
                  <a:gd name="connsiteX1" fmla="*/ 0 w 279132"/>
                  <a:gd name="connsiteY1" fmla="*/ 399449 h 399449"/>
                  <a:gd name="connsiteX2" fmla="*/ 279132 w 279132"/>
                  <a:gd name="connsiteY2" fmla="*/ 394636 h 399449"/>
                  <a:gd name="connsiteX3" fmla="*/ 101065 w 279132"/>
                  <a:gd name="connsiteY3" fmla="*/ 0 h 399449"/>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20086 h 419535"/>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58186 h 419535"/>
                  <a:gd name="connsiteX0" fmla="*/ 99528 w 279132"/>
                  <a:gd name="connsiteY0" fmla="*/ 0 h 419535"/>
                  <a:gd name="connsiteX1" fmla="*/ 0 w 279132"/>
                  <a:gd name="connsiteY1" fmla="*/ 419535 h 419535"/>
                  <a:gd name="connsiteX2" fmla="*/ 279132 w 279132"/>
                  <a:gd name="connsiteY2" fmla="*/ 414722 h 419535"/>
                  <a:gd name="connsiteX3" fmla="*/ 107415 w 279132"/>
                  <a:gd name="connsiteY3" fmla="*/ 20086 h 419535"/>
                  <a:gd name="connsiteX0" fmla="*/ 112228 w 279132"/>
                  <a:gd name="connsiteY0" fmla="*/ 18014 h 399449"/>
                  <a:gd name="connsiteX1" fmla="*/ 0 w 279132"/>
                  <a:gd name="connsiteY1" fmla="*/ 399449 h 399449"/>
                  <a:gd name="connsiteX2" fmla="*/ 279132 w 279132"/>
                  <a:gd name="connsiteY2" fmla="*/ 394636 h 399449"/>
                  <a:gd name="connsiteX3" fmla="*/ 107415 w 279132"/>
                  <a:gd name="connsiteY3" fmla="*/ 0 h 399449"/>
                  <a:gd name="connsiteX0" fmla="*/ 134453 w 301357"/>
                  <a:gd name="connsiteY0" fmla="*/ 18014 h 405799"/>
                  <a:gd name="connsiteX1" fmla="*/ 0 w 301357"/>
                  <a:gd name="connsiteY1" fmla="*/ 405799 h 405799"/>
                  <a:gd name="connsiteX2" fmla="*/ 301357 w 301357"/>
                  <a:gd name="connsiteY2" fmla="*/ 394636 h 405799"/>
                  <a:gd name="connsiteX3" fmla="*/ 129640 w 301357"/>
                  <a:gd name="connsiteY3" fmla="*/ 0 h 405799"/>
                  <a:gd name="connsiteX0" fmla="*/ 134453 w 299770"/>
                  <a:gd name="connsiteY0" fmla="*/ 18014 h 410511"/>
                  <a:gd name="connsiteX1" fmla="*/ 0 w 299770"/>
                  <a:gd name="connsiteY1" fmla="*/ 405799 h 410511"/>
                  <a:gd name="connsiteX2" fmla="*/ 299770 w 299770"/>
                  <a:gd name="connsiteY2" fmla="*/ 410511 h 410511"/>
                  <a:gd name="connsiteX3" fmla="*/ 129640 w 299770"/>
                  <a:gd name="connsiteY3" fmla="*/ 0 h 410511"/>
                </a:gdLst>
                <a:ahLst/>
                <a:cxnLst>
                  <a:cxn ang="0">
                    <a:pos x="connsiteX0" y="connsiteY0"/>
                  </a:cxn>
                  <a:cxn ang="0">
                    <a:pos x="connsiteX1" y="connsiteY1"/>
                  </a:cxn>
                  <a:cxn ang="0">
                    <a:pos x="connsiteX2" y="connsiteY2"/>
                  </a:cxn>
                  <a:cxn ang="0">
                    <a:pos x="connsiteX3" y="connsiteY3"/>
                  </a:cxn>
                </a:cxnLst>
                <a:rect l="l" t="t" r="r" b="b"/>
                <a:pathLst>
                  <a:path w="299770" h="410511">
                    <a:moveTo>
                      <a:pt x="134453" y="18014"/>
                    </a:moveTo>
                    <a:lnTo>
                      <a:pt x="0" y="405799"/>
                    </a:lnTo>
                    <a:lnTo>
                      <a:pt x="299770" y="410511"/>
                    </a:lnTo>
                    <a:lnTo>
                      <a:pt x="12964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9" name="Rectangle 68">
              <a:extLst>
                <a:ext uri="{FF2B5EF4-FFF2-40B4-BE49-F238E27FC236}">
                  <a16:creationId xmlns:a16="http://schemas.microsoft.com/office/drawing/2014/main" id="{A470241C-FFF4-32EE-3573-993BDCA6B118}"/>
                </a:ext>
              </a:extLst>
            </p:cNvPr>
            <p:cNvSpPr/>
            <p:nvPr/>
          </p:nvSpPr>
          <p:spPr>
            <a:xfrm rot="18737582">
              <a:off x="6328299" y="1551112"/>
              <a:ext cx="48896" cy="4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78" name="Title">
            <a:extLst>
              <a:ext uri="{FF2B5EF4-FFF2-40B4-BE49-F238E27FC236}">
                <a16:creationId xmlns:a16="http://schemas.microsoft.com/office/drawing/2014/main" id="{D559F982-3409-D5D4-558C-EEF44404FE93}"/>
              </a:ext>
            </a:extLst>
          </p:cNvPr>
          <p:cNvSpPr txBox="1"/>
          <p:nvPr/>
        </p:nvSpPr>
        <p:spPr>
          <a:xfrm>
            <a:off x="2913225" y="53723"/>
            <a:ext cx="7637869" cy="523220"/>
          </a:xfrm>
          <a:prstGeom prst="rect">
            <a:avLst/>
          </a:prstGeom>
          <a:noFill/>
        </p:spPr>
        <p:txBody>
          <a:bodyPr wrap="square" rtlCol="0">
            <a:spAutoFit/>
          </a:bodyPr>
          <a:lstStyle/>
          <a:p>
            <a:pPr algn="ctr"/>
            <a:r>
              <a:rPr lang="en-US" sz="2800" b="1" dirty="0"/>
              <a:t>Stroke Prevention: Risk Assessment</a:t>
            </a:r>
          </a:p>
        </p:txBody>
      </p:sp>
      <p:pic>
        <p:nvPicPr>
          <p:cNvPr id="51" name="Low risk question arrow" descr="Cursor with solid fill">
            <a:extLst>
              <a:ext uri="{FF2B5EF4-FFF2-40B4-BE49-F238E27FC236}">
                <a16:creationId xmlns:a16="http://schemas.microsoft.com/office/drawing/2014/main" id="{EC91F40F-A060-BB47-8594-F08565F193E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00160" y="5918973"/>
            <a:ext cx="270672" cy="270672"/>
          </a:xfrm>
          <a:prstGeom prst="rect">
            <a:avLst/>
          </a:prstGeom>
        </p:spPr>
      </p:pic>
      <p:pic>
        <p:nvPicPr>
          <p:cNvPr id="100" name="Low risk question arrow" descr="Cursor with solid fill">
            <a:extLst>
              <a:ext uri="{FF2B5EF4-FFF2-40B4-BE49-F238E27FC236}">
                <a16:creationId xmlns:a16="http://schemas.microsoft.com/office/drawing/2014/main" id="{33C69F77-2626-CC4D-52FB-0D0A4C5176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85432" y="6267621"/>
            <a:ext cx="270672" cy="270672"/>
          </a:xfrm>
          <a:prstGeom prst="rect">
            <a:avLst/>
          </a:prstGeom>
        </p:spPr>
      </p:pic>
    </p:spTree>
    <p:extLst>
      <p:ext uri="{BB962C8B-B14F-4D97-AF65-F5344CB8AC3E}">
        <p14:creationId xmlns:p14="http://schemas.microsoft.com/office/powerpoint/2010/main" val="406283789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6"/>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21"/>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xit"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57" restart="whenNotActive" fill="hold" evtFilter="cancelBubble" nodeType="interactiveSeq">
                <p:stCondLst>
                  <p:cond evt="onClick" delay="0">
                    <p:tgtEl>
                      <p:spTgt spid="2"/>
                    </p:tgtEl>
                  </p:cond>
                </p:stCondLst>
                <p:endSync evt="end" delay="0">
                  <p:rtn val="all"/>
                </p:endSync>
                <p:childTnLst>
                  <p:par>
                    <p:cTn id="58" fill="hold">
                      <p:stCondLst>
                        <p:cond delay="0"/>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
                                        </p:tgtEl>
                                        <p:attrNameLst>
                                          <p:attrName>style.visibility</p:attrName>
                                        </p:attrNameLst>
                                      </p:cBhvr>
                                      <p:to>
                                        <p:strVal val="visible"/>
                                      </p:to>
                                    </p:set>
                                  </p:childTnLst>
                                </p:cTn>
                              </p:par>
                              <p:par>
                                <p:cTn id="62" presetID="1" presetClass="exit" presetSubtype="0" fill="hold" nodeType="withEffect">
                                  <p:stCondLst>
                                    <p:cond delay="0"/>
                                  </p:stCondLst>
                                  <p:childTnLst>
                                    <p:set>
                                      <p:cBhvr>
                                        <p:cTn id="63" dur="1" fill="hold">
                                          <p:stCondLst>
                                            <p:cond delay="0"/>
                                          </p:stCondLst>
                                        </p:cTn>
                                        <p:tgtEl>
                                          <p:spTgt spid="23"/>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2"/>
                                        </p:tgtEl>
                                        <p:attrNameLst>
                                          <p:attrName>style.visibility</p:attrName>
                                        </p:attrNameLst>
                                      </p:cBhvr>
                                      <p:to>
                                        <p:strVal val="hidden"/>
                                      </p:to>
                                    </p:set>
                                  </p:childTnLst>
                                </p:cTn>
                              </p:par>
                            </p:childTnLst>
                          </p:cTn>
                        </p:par>
                      </p:childTnLst>
                    </p:cTn>
                  </p:par>
                </p:childTnLst>
              </p:cTn>
              <p:nextCondLst>
                <p:cond evt="onClick" delay="0">
                  <p:tgtEl>
                    <p:spTgt spid="2"/>
                  </p:tgtEl>
                </p:cond>
              </p:nextCondLst>
            </p:seq>
            <p:seq concurrent="1" nextAc="seek">
              <p:cTn id="66" restart="whenNotActive" fill="hold" evtFilter="cancelBubble" nodeType="interactiveSeq">
                <p:stCondLst>
                  <p:cond evt="onClick" delay="0">
                    <p:tgtEl>
                      <p:spTgt spid="71"/>
                    </p:tgtEl>
                  </p:cond>
                </p:stCondLst>
                <p:endSync evt="end" delay="0">
                  <p:rtn val="all"/>
                </p:endSync>
                <p:childTnLst>
                  <p:par>
                    <p:cTn id="67" fill="hold">
                      <p:stCondLst>
                        <p:cond delay="0"/>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par>
                                <p:cTn id="71" presetID="1" presetClass="exit" presetSubtype="0" fill="hold" nodeType="withEffect">
                                  <p:stCondLst>
                                    <p:cond delay="0"/>
                                  </p:stCondLst>
                                  <p:childTnLst>
                                    <p:set>
                                      <p:cBhvr>
                                        <p:cTn id="72" dur="1" fill="hold">
                                          <p:stCondLst>
                                            <p:cond delay="0"/>
                                          </p:stCondLst>
                                        </p:cTn>
                                        <p:tgtEl>
                                          <p:spTgt spid="24"/>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71"/>
                                        </p:tgtEl>
                                        <p:attrNameLst>
                                          <p:attrName>style.visibility</p:attrName>
                                        </p:attrNameLst>
                                      </p:cBhvr>
                                      <p:to>
                                        <p:strVal val="hidden"/>
                                      </p:to>
                                    </p:set>
                                  </p:childTnLst>
                                </p:cTn>
                              </p:par>
                            </p:childTnLst>
                          </p:cTn>
                        </p:par>
                      </p:childTnLst>
                    </p:cTn>
                  </p:par>
                </p:childTnLst>
              </p:cTn>
              <p:nextCondLst>
                <p:cond evt="onClick" delay="0">
                  <p:tgtEl>
                    <p:spTgt spid="71"/>
                  </p:tgtEl>
                </p:cond>
              </p:nextCondLst>
            </p:seq>
            <p:seq concurrent="1" nextAc="seek">
              <p:cTn id="75" restart="whenNotActive" fill="hold" evtFilter="cancelBubble" nodeType="interactiveSeq">
                <p:stCondLst>
                  <p:cond evt="onClick" delay="0">
                    <p:tgtEl>
                      <p:spTgt spid="72"/>
                    </p:tgtEl>
                  </p:cond>
                </p:stCondLst>
                <p:endSync evt="end" delay="0">
                  <p:rtn val="all"/>
                </p:endSync>
                <p:childTnLst>
                  <p:par>
                    <p:cTn id="76" fill="hold">
                      <p:stCondLst>
                        <p:cond delay="0"/>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2"/>
                                        </p:tgtEl>
                                        <p:attrNameLst>
                                          <p:attrName>style.visibility</p:attrName>
                                        </p:attrNameLst>
                                      </p:cBhvr>
                                      <p:to>
                                        <p:strVal val="visible"/>
                                      </p:to>
                                    </p:set>
                                  </p:childTnLst>
                                </p:cTn>
                              </p:par>
                              <p:par>
                                <p:cTn id="80" presetID="1" presetClass="exit" presetSubtype="0" fill="hold" nodeType="withEffect">
                                  <p:stCondLst>
                                    <p:cond delay="0"/>
                                  </p:stCondLst>
                                  <p:childTnLst>
                                    <p:set>
                                      <p:cBhvr>
                                        <p:cTn id="81" dur="1" fill="hold">
                                          <p:stCondLst>
                                            <p:cond delay="0"/>
                                          </p:stCondLst>
                                        </p:cTn>
                                        <p:tgtEl>
                                          <p:spTgt spid="26"/>
                                        </p:tgtEl>
                                        <p:attrNameLst>
                                          <p:attrName>style.visibility</p:attrName>
                                        </p:attrNameLst>
                                      </p:cBhvr>
                                      <p:to>
                                        <p:strVal val="hidden"/>
                                      </p:to>
                                    </p:set>
                                  </p:childTnLst>
                                </p:cTn>
                              </p:par>
                              <p:par>
                                <p:cTn id="82" presetID="1" presetClass="exit" presetSubtype="0" fill="hold" grpId="1" nodeType="withEffect">
                                  <p:stCondLst>
                                    <p:cond delay="0"/>
                                  </p:stCondLst>
                                  <p:childTnLst>
                                    <p:set>
                                      <p:cBhvr>
                                        <p:cTn id="83" dur="1" fill="hold">
                                          <p:stCondLst>
                                            <p:cond delay="0"/>
                                          </p:stCondLst>
                                        </p:cTn>
                                        <p:tgtEl>
                                          <p:spTgt spid="72"/>
                                        </p:tgtEl>
                                        <p:attrNameLst>
                                          <p:attrName>style.visibility</p:attrName>
                                        </p:attrNameLst>
                                      </p:cBhvr>
                                      <p:to>
                                        <p:strVal val="hidden"/>
                                      </p:to>
                                    </p:set>
                                  </p:childTnLst>
                                </p:cTn>
                              </p:par>
                            </p:childTnLst>
                          </p:cTn>
                        </p:par>
                      </p:childTnLst>
                    </p:cTn>
                  </p:par>
                </p:childTnLst>
              </p:cTn>
              <p:nextCondLst>
                <p:cond evt="onClick" delay="0">
                  <p:tgtEl>
                    <p:spTgt spid="72"/>
                  </p:tgtEl>
                </p:cond>
              </p:nextCondLst>
            </p:seq>
            <p:seq concurrent="1" nextAc="seek">
              <p:cTn id="84" restart="whenNotActive" fill="hold" evtFilter="cancelBubble" nodeType="interactiveSeq">
                <p:stCondLst>
                  <p:cond evt="onClick" delay="0">
                    <p:tgtEl>
                      <p:spTgt spid="73"/>
                    </p:tgtEl>
                  </p:cond>
                </p:stCondLst>
                <p:endSync evt="end" delay="0">
                  <p:rtn val="all"/>
                </p:endSync>
                <p:childTnLst>
                  <p:par>
                    <p:cTn id="85" fill="hold">
                      <p:stCondLst>
                        <p:cond delay="0"/>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3"/>
                                        </p:tgtEl>
                                        <p:attrNameLst>
                                          <p:attrName>style.visibility</p:attrName>
                                        </p:attrNameLst>
                                      </p:cBhvr>
                                      <p:to>
                                        <p:strVal val="visible"/>
                                      </p:to>
                                    </p:set>
                                  </p:childTnLst>
                                </p:cTn>
                              </p:par>
                              <p:par>
                                <p:cTn id="89" presetID="1" presetClass="exit" presetSubtype="0" fill="hold" nodeType="withEffect">
                                  <p:stCondLst>
                                    <p:cond delay="0"/>
                                  </p:stCondLst>
                                  <p:childTnLst>
                                    <p:set>
                                      <p:cBhvr>
                                        <p:cTn id="90" dur="1" fill="hold">
                                          <p:stCondLst>
                                            <p:cond delay="0"/>
                                          </p:stCondLst>
                                        </p:cTn>
                                        <p:tgtEl>
                                          <p:spTgt spid="36"/>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73"/>
                                        </p:tgtEl>
                                        <p:attrNameLst>
                                          <p:attrName>style.visibility</p:attrName>
                                        </p:attrNameLst>
                                      </p:cBhvr>
                                      <p:to>
                                        <p:strVal val="hidden"/>
                                      </p:to>
                                    </p:set>
                                  </p:childTnLst>
                                </p:cTn>
                              </p:par>
                            </p:childTnLst>
                          </p:cTn>
                        </p:par>
                      </p:childTnLst>
                    </p:cTn>
                  </p:par>
                </p:childTnLst>
              </p:cTn>
              <p:nextCondLst>
                <p:cond evt="onClick" delay="0">
                  <p:tgtEl>
                    <p:spTgt spid="73"/>
                  </p:tgtEl>
                </p:cond>
              </p:nextCondLst>
            </p:seq>
            <p:seq concurrent="1" nextAc="seek">
              <p:cTn id="93" restart="whenNotActive" fill="hold" evtFilter="cancelBubble" nodeType="interactiveSeq">
                <p:stCondLst>
                  <p:cond evt="onClick" delay="0">
                    <p:tgtEl>
                      <p:spTgt spid="74"/>
                    </p:tgtEl>
                  </p:cond>
                </p:stCondLst>
                <p:endSync evt="end" delay="0">
                  <p:rtn val="all"/>
                </p:endSync>
                <p:childTnLst>
                  <p:par>
                    <p:cTn id="94" fill="hold">
                      <p:stCondLst>
                        <p:cond delay="0"/>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45"/>
                                        </p:tgtEl>
                                        <p:attrNameLst>
                                          <p:attrName>style.visibility</p:attrName>
                                        </p:attrNameLst>
                                      </p:cBhvr>
                                      <p:to>
                                        <p:strVal val="visible"/>
                                      </p:to>
                                    </p:set>
                                  </p:childTnLst>
                                </p:cTn>
                              </p:par>
                              <p:par>
                                <p:cTn id="98" presetID="1" presetClass="exit" presetSubtype="0" fill="hold" nodeType="withEffect">
                                  <p:stCondLst>
                                    <p:cond delay="0"/>
                                  </p:stCondLst>
                                  <p:childTnLst>
                                    <p:set>
                                      <p:cBhvr>
                                        <p:cTn id="99" dur="1" fill="hold">
                                          <p:stCondLst>
                                            <p:cond delay="0"/>
                                          </p:stCondLst>
                                        </p:cTn>
                                        <p:tgtEl>
                                          <p:spTgt spid="37"/>
                                        </p:tgtEl>
                                        <p:attrNameLst>
                                          <p:attrName>style.visibility</p:attrName>
                                        </p:attrNameLst>
                                      </p:cBhvr>
                                      <p:to>
                                        <p:strVal val="hidden"/>
                                      </p:to>
                                    </p:set>
                                  </p:childTnLst>
                                </p:cTn>
                              </p:par>
                              <p:par>
                                <p:cTn id="100" presetID="1" presetClass="exit" presetSubtype="0" fill="hold" grpId="1" nodeType="withEffect">
                                  <p:stCondLst>
                                    <p:cond delay="0"/>
                                  </p:stCondLst>
                                  <p:childTnLst>
                                    <p:set>
                                      <p:cBhvr>
                                        <p:cTn id="101" dur="1" fill="hold">
                                          <p:stCondLst>
                                            <p:cond delay="0"/>
                                          </p:stCondLst>
                                        </p:cTn>
                                        <p:tgtEl>
                                          <p:spTgt spid="74"/>
                                        </p:tgtEl>
                                        <p:attrNameLst>
                                          <p:attrName>style.visibility</p:attrName>
                                        </p:attrNameLst>
                                      </p:cBhvr>
                                      <p:to>
                                        <p:strVal val="hidden"/>
                                      </p:to>
                                    </p:set>
                                  </p:childTnLst>
                                </p:cTn>
                              </p:par>
                            </p:childTnLst>
                          </p:cTn>
                        </p:par>
                      </p:childTnLst>
                    </p:cTn>
                  </p:par>
                </p:childTnLst>
              </p:cTn>
              <p:nextCondLst>
                <p:cond evt="onClick" delay="0">
                  <p:tgtEl>
                    <p:spTgt spid="74"/>
                  </p:tgtEl>
                </p:cond>
              </p:nextCondLst>
            </p:seq>
            <p:seq concurrent="1" nextAc="seek">
              <p:cTn id="102" restart="whenNotActive" fill="hold" evtFilter="cancelBubble" nodeType="interactiveSeq">
                <p:stCondLst>
                  <p:cond evt="onClick" delay="0">
                    <p:tgtEl>
                      <p:spTgt spid="75"/>
                    </p:tgtEl>
                  </p:cond>
                </p:stCondLst>
                <p:endSync evt="end" delay="0">
                  <p:rtn val="all"/>
                </p:endSync>
                <p:childTnLst>
                  <p:par>
                    <p:cTn id="103" fill="hold">
                      <p:stCondLst>
                        <p:cond delay="0"/>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6"/>
                                        </p:tgtEl>
                                        <p:attrNameLst>
                                          <p:attrName>style.visibility</p:attrName>
                                        </p:attrNameLst>
                                      </p:cBhvr>
                                      <p:to>
                                        <p:strVal val="visible"/>
                                      </p:to>
                                    </p:set>
                                  </p:childTnLst>
                                </p:cTn>
                              </p:par>
                              <p:par>
                                <p:cTn id="107" presetID="1" presetClass="exit" presetSubtype="0" fill="hold" grpId="1" nodeType="withEffect">
                                  <p:stCondLst>
                                    <p:cond delay="0"/>
                                  </p:stCondLst>
                                  <p:childTnLst>
                                    <p:set>
                                      <p:cBhvr>
                                        <p:cTn id="108" dur="1" fill="hold">
                                          <p:stCondLst>
                                            <p:cond delay="0"/>
                                          </p:stCondLst>
                                        </p:cTn>
                                        <p:tgtEl>
                                          <p:spTgt spid="75"/>
                                        </p:tgtEl>
                                        <p:attrNameLst>
                                          <p:attrName>style.visibility</p:attrName>
                                        </p:attrNameLst>
                                      </p:cBhvr>
                                      <p:to>
                                        <p:strVal val="hidden"/>
                                      </p:to>
                                    </p:set>
                                  </p:childTnLst>
                                </p:cTn>
                              </p:par>
                              <p:par>
                                <p:cTn id="109" presetID="1" presetClass="exit" presetSubtype="0" fill="hold" nodeType="withEffect">
                                  <p:stCondLst>
                                    <p:cond delay="0"/>
                                  </p:stCondLst>
                                  <p:childTnLst>
                                    <p:set>
                                      <p:cBhvr>
                                        <p:cTn id="110" dur="1" fill="hold">
                                          <p:stCondLst>
                                            <p:cond delay="0"/>
                                          </p:stCondLst>
                                        </p:cTn>
                                        <p:tgtEl>
                                          <p:spTgt spid="39"/>
                                        </p:tgtEl>
                                        <p:attrNameLst>
                                          <p:attrName>style.visibility</p:attrName>
                                        </p:attrNameLst>
                                      </p:cBhvr>
                                      <p:to>
                                        <p:strVal val="hidden"/>
                                      </p:to>
                                    </p:set>
                                  </p:childTnLst>
                                </p:cTn>
                              </p:par>
                            </p:childTnLst>
                          </p:cTn>
                        </p:par>
                      </p:childTnLst>
                    </p:cTn>
                  </p:par>
                </p:childTnLst>
              </p:cTn>
              <p:nextCondLst>
                <p:cond evt="onClick" delay="0">
                  <p:tgtEl>
                    <p:spTgt spid="75"/>
                  </p:tgtEl>
                </p:cond>
              </p:nextCondLst>
            </p:seq>
            <p:seq concurrent="1" nextAc="seek">
              <p:cTn id="111" restart="whenNotActive" fill="hold" evtFilter="cancelBubble" nodeType="interactiveSeq">
                <p:stCondLst>
                  <p:cond evt="onClick" delay="0">
                    <p:tgtEl>
                      <p:spTgt spid="76"/>
                    </p:tgtEl>
                  </p:cond>
                </p:stCondLst>
                <p:endSync evt="end" delay="0">
                  <p:rtn val="all"/>
                </p:endSync>
                <p:childTnLst>
                  <p:par>
                    <p:cTn id="112" fill="hold">
                      <p:stCondLst>
                        <p:cond delay="0"/>
                      </p:stCondLst>
                      <p:childTnLst>
                        <p:par>
                          <p:cTn id="113" fill="hold">
                            <p:stCondLst>
                              <p:cond delay="0"/>
                            </p:stCondLst>
                            <p:childTnLst>
                              <p:par>
                                <p:cTn id="114" presetID="1" presetClass="entr" presetSubtype="0" fill="hold" grpId="0" nodeType="withEffect">
                                  <p:stCondLst>
                                    <p:cond delay="0"/>
                                  </p:stCondLst>
                                  <p:childTnLst>
                                    <p:set>
                                      <p:cBhvr>
                                        <p:cTn id="115" dur="1" fill="hold">
                                          <p:stCondLst>
                                            <p:cond delay="0"/>
                                          </p:stCondLst>
                                        </p:cTn>
                                        <p:tgtEl>
                                          <p:spTgt spid="47"/>
                                        </p:tgtEl>
                                        <p:attrNameLst>
                                          <p:attrName>style.visibility</p:attrName>
                                        </p:attrNameLst>
                                      </p:cBhvr>
                                      <p:to>
                                        <p:strVal val="visible"/>
                                      </p:to>
                                    </p:set>
                                  </p:childTnLst>
                                </p:cTn>
                              </p:par>
                              <p:par>
                                <p:cTn id="116" presetID="1" presetClass="exit" presetSubtype="0" fill="hold" nodeType="withEffect">
                                  <p:stCondLst>
                                    <p:cond delay="0"/>
                                  </p:stCondLst>
                                  <p:childTnLst>
                                    <p:set>
                                      <p:cBhvr>
                                        <p:cTn id="117" dur="1" fill="hold">
                                          <p:stCondLst>
                                            <p:cond delay="0"/>
                                          </p:stCondLst>
                                        </p:cTn>
                                        <p:tgtEl>
                                          <p:spTgt spid="40"/>
                                        </p:tgtEl>
                                        <p:attrNameLst>
                                          <p:attrName>style.visibility</p:attrName>
                                        </p:attrNameLst>
                                      </p:cBhvr>
                                      <p:to>
                                        <p:strVal val="hidden"/>
                                      </p:to>
                                    </p:set>
                                  </p:childTnLst>
                                </p:cTn>
                              </p:par>
                              <p:par>
                                <p:cTn id="118" presetID="1" presetClass="entr" presetSubtype="0" fill="hold" grpId="1" nodeType="withEffect">
                                  <p:stCondLst>
                                    <p:cond delay="0"/>
                                  </p:stCondLst>
                                  <p:childTnLst>
                                    <p:set>
                                      <p:cBhvr>
                                        <p:cTn id="119" dur="1" fill="hold">
                                          <p:stCondLst>
                                            <p:cond delay="0"/>
                                          </p:stCondLst>
                                        </p:cTn>
                                        <p:tgtEl>
                                          <p:spTgt spid="47">
                                            <p:txEl>
                                              <p:pRg st="0" end="0"/>
                                            </p:txEl>
                                          </p:spTgt>
                                        </p:tgtEl>
                                        <p:attrNameLst>
                                          <p:attrName>style.visibility</p:attrName>
                                        </p:attrNameLst>
                                      </p:cBhvr>
                                      <p:to>
                                        <p:strVal val="visible"/>
                                      </p:to>
                                    </p:set>
                                  </p:childTnLst>
                                </p:cTn>
                              </p:par>
                              <p:par>
                                <p:cTn id="120" presetID="1" presetClass="exit" presetSubtype="0" fill="hold" grpId="1" nodeType="withEffect">
                                  <p:stCondLst>
                                    <p:cond delay="0"/>
                                  </p:stCondLst>
                                  <p:childTnLst>
                                    <p:set>
                                      <p:cBhvr>
                                        <p:cTn id="121" dur="1" fill="hold">
                                          <p:stCondLst>
                                            <p:cond delay="0"/>
                                          </p:stCondLst>
                                        </p:cTn>
                                        <p:tgtEl>
                                          <p:spTgt spid="76"/>
                                        </p:tgtEl>
                                        <p:attrNameLst>
                                          <p:attrName>style.visibility</p:attrName>
                                        </p:attrNameLst>
                                      </p:cBhvr>
                                      <p:to>
                                        <p:strVal val="hidden"/>
                                      </p:to>
                                    </p:set>
                                  </p:childTnLst>
                                </p:cTn>
                              </p:par>
                            </p:childTnLst>
                          </p:cTn>
                        </p:par>
                      </p:childTnLst>
                    </p:cTn>
                  </p:par>
                </p:childTnLst>
              </p:cTn>
              <p:nextCondLst>
                <p:cond evt="onClick" delay="0">
                  <p:tgtEl>
                    <p:spTgt spid="76"/>
                  </p:tgtEl>
                </p:cond>
              </p:nextCondLst>
            </p:seq>
            <p:seq concurrent="1" nextAc="seek">
              <p:cTn id="122" restart="whenNotActive" fill="hold" evtFilter="cancelBubble" nodeType="interactiveSeq">
                <p:stCondLst>
                  <p:cond evt="onClick" delay="0">
                    <p:tgtEl>
                      <p:spTgt spid="129"/>
                    </p:tgtEl>
                  </p:cond>
                </p:stCondLst>
                <p:endSync evt="end" delay="0">
                  <p:rtn val="all"/>
                </p:endSync>
                <p:childTnLst>
                  <p:par>
                    <p:cTn id="123" fill="hold">
                      <p:stCondLst>
                        <p:cond delay="0"/>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32"/>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33"/>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34"/>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35"/>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36"/>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13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38"/>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39"/>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40"/>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41"/>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42"/>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51"/>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52"/>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31"/>
                                        </p:tgtEl>
                                        <p:attrNameLst>
                                          <p:attrName>style.visibility</p:attrName>
                                        </p:attrNameLst>
                                      </p:cBhvr>
                                      <p:to>
                                        <p:strVal val="visible"/>
                                      </p:to>
                                    </p:set>
                                  </p:childTnLst>
                                </p:cTn>
                              </p:par>
                              <p:par>
                                <p:cTn id="153" presetID="1" presetClass="exit" presetSubtype="0" fill="hold" nodeType="withEffect">
                                  <p:stCondLst>
                                    <p:cond delay="0"/>
                                  </p:stCondLst>
                                  <p:childTnLst>
                                    <p:set>
                                      <p:cBhvr>
                                        <p:cTn id="154" dur="1" fill="hold">
                                          <p:stCondLst>
                                            <p:cond delay="0"/>
                                          </p:stCondLst>
                                        </p:cTn>
                                        <p:tgtEl>
                                          <p:spTgt spid="130"/>
                                        </p:tgtEl>
                                        <p:attrNameLst>
                                          <p:attrName>style.visibility</p:attrName>
                                        </p:attrNameLst>
                                      </p:cBhvr>
                                      <p:to>
                                        <p:strVal val="hidden"/>
                                      </p:to>
                                    </p:set>
                                  </p:childTnLst>
                                </p:cTn>
                              </p:par>
                              <p:par>
                                <p:cTn id="155" presetID="1" presetClass="exit" presetSubtype="0" fill="hold" grpId="0" nodeType="withEffect">
                                  <p:stCondLst>
                                    <p:cond delay="0"/>
                                  </p:stCondLst>
                                  <p:childTnLst>
                                    <p:set>
                                      <p:cBhvr>
                                        <p:cTn id="156" dur="1" fill="hold">
                                          <p:stCondLst>
                                            <p:cond delay="0"/>
                                          </p:stCondLst>
                                        </p:cTn>
                                        <p:tgtEl>
                                          <p:spTgt spid="129"/>
                                        </p:tgtEl>
                                        <p:attrNameLst>
                                          <p:attrName>style.visibility</p:attrName>
                                        </p:attrNameLst>
                                      </p:cBhvr>
                                      <p:to>
                                        <p:strVal val="hidden"/>
                                      </p:to>
                                    </p:set>
                                  </p:childTnLst>
                                </p:cTn>
                              </p:par>
                              <p:par>
                                <p:cTn id="157" presetID="1" presetClass="entr" presetSubtype="0" fill="hold" grpId="0" nodeType="withEffect">
                                  <p:stCondLst>
                                    <p:cond delay="0"/>
                                  </p:stCondLst>
                                  <p:childTnLst>
                                    <p:set>
                                      <p:cBhvr>
                                        <p:cTn id="158" dur="1" fill="hold">
                                          <p:stCondLst>
                                            <p:cond delay="0"/>
                                          </p:stCondLst>
                                        </p:cTn>
                                        <p:tgtEl>
                                          <p:spTgt spid="88"/>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89"/>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90"/>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91"/>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92"/>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93"/>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87"/>
                                        </p:tgtEl>
                                        <p:attrNameLst>
                                          <p:attrName>style.visibility</p:attrName>
                                        </p:attrNameLst>
                                      </p:cBhvr>
                                      <p:to>
                                        <p:strVal val="visible"/>
                                      </p:to>
                                    </p:set>
                                  </p:childTnLst>
                                </p:cTn>
                              </p:par>
                            </p:childTnLst>
                          </p:cTn>
                        </p:par>
                      </p:childTnLst>
                    </p:cTn>
                  </p:par>
                </p:childTnLst>
              </p:cTn>
              <p:nextCondLst>
                <p:cond evt="onClick" delay="0">
                  <p:tgtEl>
                    <p:spTgt spid="129"/>
                  </p:tgtEl>
                </p:cond>
              </p:nextCondLst>
            </p:seq>
            <p:seq concurrent="1" nextAc="seek">
              <p:cTn id="171" restart="whenNotActive" fill="hold" evtFilter="cancelBubble" nodeType="interactiveSeq">
                <p:stCondLst>
                  <p:cond evt="onClick" delay="0">
                    <p:tgtEl>
                      <p:spTgt spid="131"/>
                    </p:tgtEl>
                  </p:cond>
                </p:stCondLst>
                <p:endSync evt="end" delay="0">
                  <p:rtn val="all"/>
                </p:endSync>
                <p:childTnLst>
                  <p:par>
                    <p:cTn id="172" fill="hold">
                      <p:stCondLst>
                        <p:cond delay="0"/>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0"/>
                                          </p:stCondLst>
                                        </p:cTn>
                                        <p:tgtEl>
                                          <p:spTgt spid="128"/>
                                        </p:tgtEl>
                                        <p:attrNameLst>
                                          <p:attrName>style.visibility</p:attrName>
                                        </p:attrNameLst>
                                      </p:cBhvr>
                                      <p:to>
                                        <p:strVal val="visible"/>
                                      </p:to>
                                    </p:set>
                                  </p:childTnLst>
                                </p:cTn>
                              </p:par>
                              <p:par>
                                <p:cTn id="176" presetID="1" presetClass="exit" presetSubtype="0" fill="hold" nodeType="withEffect">
                                  <p:stCondLst>
                                    <p:cond delay="0"/>
                                  </p:stCondLst>
                                  <p:childTnLst>
                                    <p:set>
                                      <p:cBhvr>
                                        <p:cTn id="177" dur="1" fill="hold">
                                          <p:stCondLst>
                                            <p:cond delay="0"/>
                                          </p:stCondLst>
                                        </p:cTn>
                                        <p:tgtEl>
                                          <p:spTgt spid="132"/>
                                        </p:tgtEl>
                                        <p:attrNameLst>
                                          <p:attrName>style.visibility</p:attrName>
                                        </p:attrNameLst>
                                      </p:cBhvr>
                                      <p:to>
                                        <p:strVal val="hidden"/>
                                      </p:to>
                                    </p:set>
                                  </p:childTnLst>
                                </p:cTn>
                              </p:par>
                              <p:par>
                                <p:cTn id="178" presetID="1" presetClass="exit" presetSubtype="0" fill="hold" grpId="1" nodeType="withEffect">
                                  <p:stCondLst>
                                    <p:cond delay="0"/>
                                  </p:stCondLst>
                                  <p:childTnLst>
                                    <p:set>
                                      <p:cBhvr>
                                        <p:cTn id="179" dur="1" fill="hold">
                                          <p:stCondLst>
                                            <p:cond delay="0"/>
                                          </p:stCondLst>
                                        </p:cTn>
                                        <p:tgtEl>
                                          <p:spTgt spid="131"/>
                                        </p:tgtEl>
                                        <p:attrNameLst>
                                          <p:attrName>style.visibility</p:attrName>
                                        </p:attrNameLst>
                                      </p:cBhvr>
                                      <p:to>
                                        <p:strVal val="hidden"/>
                                      </p:to>
                                    </p:set>
                                  </p:childTnLst>
                                </p:cTn>
                              </p:par>
                            </p:childTnLst>
                          </p:cTn>
                        </p:par>
                      </p:childTnLst>
                    </p:cTn>
                  </p:par>
                </p:childTnLst>
              </p:cTn>
              <p:nextCondLst>
                <p:cond evt="onClick" delay="0">
                  <p:tgtEl>
                    <p:spTgt spid="131"/>
                  </p:tgtEl>
                </p:cond>
              </p:nextCondLst>
            </p:seq>
            <p:seq concurrent="1" nextAc="seek">
              <p:cTn id="180" restart="whenNotActive" fill="hold" evtFilter="cancelBubble" nodeType="interactiveSeq">
                <p:stCondLst>
                  <p:cond evt="onClick" delay="0">
                    <p:tgtEl>
                      <p:spTgt spid="139"/>
                    </p:tgtEl>
                  </p:cond>
                </p:stCondLst>
                <p:endSync evt="end" delay="0">
                  <p:rtn val="all"/>
                </p:endSync>
                <p:childTnLst>
                  <p:par>
                    <p:cTn id="181" fill="hold">
                      <p:stCondLst>
                        <p:cond delay="0"/>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127"/>
                                        </p:tgtEl>
                                        <p:attrNameLst>
                                          <p:attrName>style.visibility</p:attrName>
                                        </p:attrNameLst>
                                      </p:cBhvr>
                                      <p:to>
                                        <p:strVal val="visible"/>
                                      </p:to>
                                    </p:set>
                                  </p:childTnLst>
                                </p:cTn>
                              </p:par>
                              <p:par>
                                <p:cTn id="185" presetID="1" presetClass="exit" presetSubtype="0" fill="hold" nodeType="withEffect">
                                  <p:stCondLst>
                                    <p:cond delay="0"/>
                                  </p:stCondLst>
                                  <p:childTnLst>
                                    <p:set>
                                      <p:cBhvr>
                                        <p:cTn id="186" dur="1" fill="hold">
                                          <p:stCondLst>
                                            <p:cond delay="0"/>
                                          </p:stCondLst>
                                        </p:cTn>
                                        <p:tgtEl>
                                          <p:spTgt spid="133"/>
                                        </p:tgtEl>
                                        <p:attrNameLst>
                                          <p:attrName>style.visibility</p:attrName>
                                        </p:attrNameLst>
                                      </p:cBhvr>
                                      <p:to>
                                        <p:strVal val="hidden"/>
                                      </p:to>
                                    </p:set>
                                  </p:childTnLst>
                                </p:cTn>
                              </p:par>
                              <p:par>
                                <p:cTn id="187" presetID="1" presetClass="exit" presetSubtype="0" fill="hold" grpId="1" nodeType="withEffect">
                                  <p:stCondLst>
                                    <p:cond delay="0"/>
                                  </p:stCondLst>
                                  <p:childTnLst>
                                    <p:set>
                                      <p:cBhvr>
                                        <p:cTn id="188" dur="1" fill="hold">
                                          <p:stCondLst>
                                            <p:cond delay="0"/>
                                          </p:stCondLst>
                                        </p:cTn>
                                        <p:tgtEl>
                                          <p:spTgt spid="139"/>
                                        </p:tgtEl>
                                        <p:attrNameLst>
                                          <p:attrName>style.visibility</p:attrName>
                                        </p:attrNameLst>
                                      </p:cBhvr>
                                      <p:to>
                                        <p:strVal val="hidden"/>
                                      </p:to>
                                    </p:set>
                                  </p:childTnLst>
                                </p:cTn>
                              </p:par>
                            </p:childTnLst>
                          </p:cTn>
                        </p:par>
                      </p:childTnLst>
                    </p:cTn>
                  </p:par>
                </p:childTnLst>
              </p:cTn>
              <p:nextCondLst>
                <p:cond evt="onClick" delay="0">
                  <p:tgtEl>
                    <p:spTgt spid="139"/>
                  </p:tgtEl>
                </p:cond>
              </p:nextCondLst>
            </p:seq>
            <p:seq concurrent="1" nextAc="seek">
              <p:cTn id="189" restart="whenNotActive" fill="hold" evtFilter="cancelBubble" nodeType="interactiveSeq">
                <p:stCondLst>
                  <p:cond evt="onClick" delay="0">
                    <p:tgtEl>
                      <p:spTgt spid="140"/>
                    </p:tgtEl>
                  </p:cond>
                </p:stCondLst>
                <p:endSync evt="end" delay="0">
                  <p:rtn val="all"/>
                </p:endSync>
                <p:childTnLst>
                  <p:par>
                    <p:cTn id="190" fill="hold">
                      <p:stCondLst>
                        <p:cond delay="0"/>
                      </p:stCondLst>
                      <p:childTnLst>
                        <p:par>
                          <p:cTn id="191" fill="hold">
                            <p:stCondLst>
                              <p:cond delay="0"/>
                            </p:stCondLst>
                            <p:childTnLst>
                              <p:par>
                                <p:cTn id="192" presetID="1" presetClass="exit" presetSubtype="0" fill="hold" nodeType="withEffect">
                                  <p:stCondLst>
                                    <p:cond delay="0"/>
                                  </p:stCondLst>
                                  <p:childTnLst>
                                    <p:set>
                                      <p:cBhvr>
                                        <p:cTn id="193" dur="1" fill="hold">
                                          <p:stCondLst>
                                            <p:cond delay="0"/>
                                          </p:stCondLst>
                                        </p:cTn>
                                        <p:tgtEl>
                                          <p:spTgt spid="134"/>
                                        </p:tgtEl>
                                        <p:attrNameLst>
                                          <p:attrName>style.visibility</p:attrName>
                                        </p:attrNameLst>
                                      </p:cBhvr>
                                      <p:to>
                                        <p:strVal val="hidden"/>
                                      </p:to>
                                    </p:set>
                                  </p:childTnLst>
                                </p:cTn>
                              </p:par>
                              <p:par>
                                <p:cTn id="194" presetID="1" presetClass="entr" presetSubtype="0" fill="hold" grpId="0" nodeType="withEffect">
                                  <p:stCondLst>
                                    <p:cond delay="0"/>
                                  </p:stCondLst>
                                  <p:childTnLst>
                                    <p:set>
                                      <p:cBhvr>
                                        <p:cTn id="195" dur="1" fill="hold">
                                          <p:stCondLst>
                                            <p:cond delay="0"/>
                                          </p:stCondLst>
                                        </p:cTn>
                                        <p:tgtEl>
                                          <p:spTgt spid="126"/>
                                        </p:tgtEl>
                                        <p:attrNameLst>
                                          <p:attrName>style.visibility</p:attrName>
                                        </p:attrNameLst>
                                      </p:cBhvr>
                                      <p:to>
                                        <p:strVal val="visible"/>
                                      </p:to>
                                    </p:set>
                                  </p:childTnLst>
                                </p:cTn>
                              </p:par>
                              <p:par>
                                <p:cTn id="196" presetID="1" presetClass="exit" presetSubtype="0" fill="hold" grpId="1" nodeType="withEffect">
                                  <p:stCondLst>
                                    <p:cond delay="0"/>
                                  </p:stCondLst>
                                  <p:childTnLst>
                                    <p:set>
                                      <p:cBhvr>
                                        <p:cTn id="197" dur="1" fill="hold">
                                          <p:stCondLst>
                                            <p:cond delay="0"/>
                                          </p:stCondLst>
                                        </p:cTn>
                                        <p:tgtEl>
                                          <p:spTgt spid="140"/>
                                        </p:tgtEl>
                                        <p:attrNameLst>
                                          <p:attrName>style.visibility</p:attrName>
                                        </p:attrNameLst>
                                      </p:cBhvr>
                                      <p:to>
                                        <p:strVal val="hidden"/>
                                      </p:to>
                                    </p:set>
                                  </p:childTnLst>
                                </p:cTn>
                              </p:par>
                            </p:childTnLst>
                          </p:cTn>
                        </p:par>
                      </p:childTnLst>
                    </p:cTn>
                  </p:par>
                </p:childTnLst>
              </p:cTn>
              <p:nextCondLst>
                <p:cond evt="onClick" delay="0">
                  <p:tgtEl>
                    <p:spTgt spid="140"/>
                  </p:tgtEl>
                </p:cond>
              </p:nextCondLst>
            </p:seq>
            <p:seq concurrent="1" nextAc="seek">
              <p:cTn id="198" restart="whenNotActive" fill="hold" evtFilter="cancelBubble" nodeType="interactiveSeq">
                <p:stCondLst>
                  <p:cond evt="onClick" delay="0">
                    <p:tgtEl>
                      <p:spTgt spid="141"/>
                    </p:tgtEl>
                  </p:cond>
                </p:stCondLst>
                <p:endSync evt="end" delay="0">
                  <p:rtn val="all"/>
                </p:endSync>
                <p:childTnLst>
                  <p:par>
                    <p:cTn id="199" fill="hold">
                      <p:stCondLst>
                        <p:cond delay="0"/>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125"/>
                                        </p:tgtEl>
                                        <p:attrNameLst>
                                          <p:attrName>style.visibility</p:attrName>
                                        </p:attrNameLst>
                                      </p:cBhvr>
                                      <p:to>
                                        <p:strVal val="visible"/>
                                      </p:to>
                                    </p:set>
                                  </p:childTnLst>
                                </p:cTn>
                              </p:par>
                              <p:par>
                                <p:cTn id="203" presetID="1" presetClass="exit" presetSubtype="0" fill="hold" nodeType="withEffect">
                                  <p:stCondLst>
                                    <p:cond delay="0"/>
                                  </p:stCondLst>
                                  <p:childTnLst>
                                    <p:set>
                                      <p:cBhvr>
                                        <p:cTn id="204" dur="1" fill="hold">
                                          <p:stCondLst>
                                            <p:cond delay="0"/>
                                          </p:stCondLst>
                                        </p:cTn>
                                        <p:tgtEl>
                                          <p:spTgt spid="135"/>
                                        </p:tgtEl>
                                        <p:attrNameLst>
                                          <p:attrName>style.visibility</p:attrName>
                                        </p:attrNameLst>
                                      </p:cBhvr>
                                      <p:to>
                                        <p:strVal val="hidden"/>
                                      </p:to>
                                    </p:set>
                                  </p:childTnLst>
                                </p:cTn>
                              </p:par>
                              <p:par>
                                <p:cTn id="205" presetID="1" presetClass="exit" presetSubtype="0" fill="hold" grpId="1" nodeType="withEffect">
                                  <p:stCondLst>
                                    <p:cond delay="0"/>
                                  </p:stCondLst>
                                  <p:childTnLst>
                                    <p:set>
                                      <p:cBhvr>
                                        <p:cTn id="206" dur="1" fill="hold">
                                          <p:stCondLst>
                                            <p:cond delay="0"/>
                                          </p:stCondLst>
                                        </p:cTn>
                                        <p:tgtEl>
                                          <p:spTgt spid="141"/>
                                        </p:tgtEl>
                                        <p:attrNameLst>
                                          <p:attrName>style.visibility</p:attrName>
                                        </p:attrNameLst>
                                      </p:cBhvr>
                                      <p:to>
                                        <p:strVal val="hidden"/>
                                      </p:to>
                                    </p:set>
                                  </p:childTnLst>
                                </p:cTn>
                              </p:par>
                            </p:childTnLst>
                          </p:cTn>
                        </p:par>
                      </p:childTnLst>
                    </p:cTn>
                  </p:par>
                </p:childTnLst>
              </p:cTn>
              <p:nextCondLst>
                <p:cond evt="onClick" delay="0">
                  <p:tgtEl>
                    <p:spTgt spid="141"/>
                  </p:tgtEl>
                </p:cond>
              </p:nextCondLst>
            </p:seq>
            <p:seq concurrent="1" nextAc="seek">
              <p:cTn id="207" restart="whenNotActive" fill="hold" evtFilter="cancelBubble" nodeType="interactiveSeq">
                <p:stCondLst>
                  <p:cond evt="onClick" delay="0">
                    <p:tgtEl>
                      <p:spTgt spid="142"/>
                    </p:tgtEl>
                  </p:cond>
                </p:stCondLst>
                <p:endSync evt="end" delay="0">
                  <p:rtn val="all"/>
                </p:endSync>
                <p:childTnLst>
                  <p:par>
                    <p:cTn id="208" fill="hold">
                      <p:stCondLst>
                        <p:cond delay="0"/>
                      </p:stCondLst>
                      <p:childTnLst>
                        <p:par>
                          <p:cTn id="209" fill="hold">
                            <p:stCondLst>
                              <p:cond delay="0"/>
                            </p:stCondLst>
                            <p:childTnLst>
                              <p:par>
                                <p:cTn id="210" presetID="1" presetClass="entr" presetSubtype="0" fill="hold" grpId="0" nodeType="clickEffect">
                                  <p:stCondLst>
                                    <p:cond delay="0"/>
                                  </p:stCondLst>
                                  <p:childTnLst>
                                    <p:set>
                                      <p:cBhvr>
                                        <p:cTn id="211" dur="1" fill="hold">
                                          <p:stCondLst>
                                            <p:cond delay="0"/>
                                          </p:stCondLst>
                                        </p:cTn>
                                        <p:tgtEl>
                                          <p:spTgt spid="124"/>
                                        </p:tgtEl>
                                        <p:attrNameLst>
                                          <p:attrName>style.visibility</p:attrName>
                                        </p:attrNameLst>
                                      </p:cBhvr>
                                      <p:to>
                                        <p:strVal val="visible"/>
                                      </p:to>
                                    </p:set>
                                  </p:childTnLst>
                                </p:cTn>
                              </p:par>
                              <p:par>
                                <p:cTn id="212" presetID="1" presetClass="exit" presetSubtype="0" fill="hold" nodeType="withEffect">
                                  <p:stCondLst>
                                    <p:cond delay="0"/>
                                  </p:stCondLst>
                                  <p:childTnLst>
                                    <p:set>
                                      <p:cBhvr>
                                        <p:cTn id="213" dur="1" fill="hold">
                                          <p:stCondLst>
                                            <p:cond delay="0"/>
                                          </p:stCondLst>
                                        </p:cTn>
                                        <p:tgtEl>
                                          <p:spTgt spid="136"/>
                                        </p:tgtEl>
                                        <p:attrNameLst>
                                          <p:attrName>style.visibility</p:attrName>
                                        </p:attrNameLst>
                                      </p:cBhvr>
                                      <p:to>
                                        <p:strVal val="hidden"/>
                                      </p:to>
                                    </p:set>
                                  </p:childTnLst>
                                </p:cTn>
                              </p:par>
                              <p:par>
                                <p:cTn id="214" presetID="1" presetClass="exit" presetSubtype="0" fill="hold" grpId="1" nodeType="withEffect">
                                  <p:stCondLst>
                                    <p:cond delay="0"/>
                                  </p:stCondLst>
                                  <p:childTnLst>
                                    <p:set>
                                      <p:cBhvr>
                                        <p:cTn id="215" dur="1" fill="hold">
                                          <p:stCondLst>
                                            <p:cond delay="0"/>
                                          </p:stCondLst>
                                        </p:cTn>
                                        <p:tgtEl>
                                          <p:spTgt spid="142"/>
                                        </p:tgtEl>
                                        <p:attrNameLst>
                                          <p:attrName>style.visibility</p:attrName>
                                        </p:attrNameLst>
                                      </p:cBhvr>
                                      <p:to>
                                        <p:strVal val="hidden"/>
                                      </p:to>
                                    </p:set>
                                  </p:childTnLst>
                                </p:cTn>
                              </p:par>
                            </p:childTnLst>
                          </p:cTn>
                        </p:par>
                      </p:childTnLst>
                    </p:cTn>
                  </p:par>
                </p:childTnLst>
              </p:cTn>
              <p:nextCondLst>
                <p:cond evt="onClick" delay="0">
                  <p:tgtEl>
                    <p:spTgt spid="142"/>
                  </p:tgtEl>
                </p:cond>
              </p:nextCondLst>
            </p:seq>
            <p:seq concurrent="1" nextAc="seek">
              <p:cTn id="216" restart="whenNotActive" fill="hold" evtFilter="cancelBubble" nodeType="interactiveSeq">
                <p:stCondLst>
                  <p:cond evt="onClick" delay="0">
                    <p:tgtEl>
                      <p:spTgt spid="151"/>
                    </p:tgtEl>
                  </p:cond>
                </p:stCondLst>
                <p:endSync evt="end" delay="0">
                  <p:rtn val="all"/>
                </p:endSync>
                <p:childTnLst>
                  <p:par>
                    <p:cTn id="217" fill="hold">
                      <p:stCondLst>
                        <p:cond delay="0"/>
                      </p:stCondLst>
                      <p:childTnLst>
                        <p:par>
                          <p:cTn id="218" fill="hold">
                            <p:stCondLst>
                              <p:cond delay="0"/>
                            </p:stCondLst>
                            <p:childTnLst>
                              <p:par>
                                <p:cTn id="219" presetID="1" presetClass="entr" presetSubtype="0" fill="hold" grpId="0" nodeType="clickEffect">
                                  <p:stCondLst>
                                    <p:cond delay="0"/>
                                  </p:stCondLst>
                                  <p:childTnLst>
                                    <p:set>
                                      <p:cBhvr>
                                        <p:cTn id="220" dur="1" fill="hold">
                                          <p:stCondLst>
                                            <p:cond delay="0"/>
                                          </p:stCondLst>
                                        </p:cTn>
                                        <p:tgtEl>
                                          <p:spTgt spid="123"/>
                                        </p:tgtEl>
                                        <p:attrNameLst>
                                          <p:attrName>style.visibility</p:attrName>
                                        </p:attrNameLst>
                                      </p:cBhvr>
                                      <p:to>
                                        <p:strVal val="visible"/>
                                      </p:to>
                                    </p:set>
                                  </p:childTnLst>
                                </p:cTn>
                              </p:par>
                              <p:par>
                                <p:cTn id="221" presetID="1" presetClass="exit" presetSubtype="0" fill="hold" grpId="1" nodeType="withEffect">
                                  <p:stCondLst>
                                    <p:cond delay="0"/>
                                  </p:stCondLst>
                                  <p:childTnLst>
                                    <p:set>
                                      <p:cBhvr>
                                        <p:cTn id="222" dur="1" fill="hold">
                                          <p:stCondLst>
                                            <p:cond delay="0"/>
                                          </p:stCondLst>
                                        </p:cTn>
                                        <p:tgtEl>
                                          <p:spTgt spid="151"/>
                                        </p:tgtEl>
                                        <p:attrNameLst>
                                          <p:attrName>style.visibility</p:attrName>
                                        </p:attrNameLst>
                                      </p:cBhvr>
                                      <p:to>
                                        <p:strVal val="hidden"/>
                                      </p:to>
                                    </p:set>
                                  </p:childTnLst>
                                </p:cTn>
                              </p:par>
                              <p:par>
                                <p:cTn id="223" presetID="1" presetClass="exit" presetSubtype="0" fill="hold" nodeType="withEffect">
                                  <p:stCondLst>
                                    <p:cond delay="0"/>
                                  </p:stCondLst>
                                  <p:childTnLst>
                                    <p:set>
                                      <p:cBhvr>
                                        <p:cTn id="224" dur="1" fill="hold">
                                          <p:stCondLst>
                                            <p:cond delay="0"/>
                                          </p:stCondLst>
                                        </p:cTn>
                                        <p:tgtEl>
                                          <p:spTgt spid="137"/>
                                        </p:tgtEl>
                                        <p:attrNameLst>
                                          <p:attrName>style.visibility</p:attrName>
                                        </p:attrNameLst>
                                      </p:cBhvr>
                                      <p:to>
                                        <p:strVal val="hidden"/>
                                      </p:to>
                                    </p:set>
                                  </p:childTnLst>
                                </p:cTn>
                              </p:par>
                            </p:childTnLst>
                          </p:cTn>
                        </p:par>
                      </p:childTnLst>
                    </p:cTn>
                  </p:par>
                </p:childTnLst>
              </p:cTn>
              <p:nextCondLst>
                <p:cond evt="onClick" delay="0">
                  <p:tgtEl>
                    <p:spTgt spid="151"/>
                  </p:tgtEl>
                </p:cond>
              </p:nextCondLst>
            </p:seq>
            <p:seq concurrent="1" nextAc="seek">
              <p:cTn id="225" restart="whenNotActive" fill="hold" evtFilter="cancelBubble" nodeType="interactiveSeq">
                <p:stCondLst>
                  <p:cond evt="onClick" delay="0">
                    <p:tgtEl>
                      <p:spTgt spid="152"/>
                    </p:tgtEl>
                  </p:cond>
                </p:stCondLst>
                <p:endSync evt="end" delay="0">
                  <p:rtn val="all"/>
                </p:endSync>
                <p:childTnLst>
                  <p:par>
                    <p:cTn id="226" fill="hold">
                      <p:stCondLst>
                        <p:cond delay="0"/>
                      </p:stCondLst>
                      <p:childTnLst>
                        <p:par>
                          <p:cTn id="227" fill="hold">
                            <p:stCondLst>
                              <p:cond delay="0"/>
                            </p:stCondLst>
                            <p:childTnLst>
                              <p:par>
                                <p:cTn id="228" presetID="1" presetClass="entr" presetSubtype="0" fill="hold" grpId="0" nodeType="clickEffect">
                                  <p:stCondLst>
                                    <p:cond delay="0"/>
                                  </p:stCondLst>
                                  <p:childTnLst>
                                    <p:set>
                                      <p:cBhvr>
                                        <p:cTn id="229" dur="1" fill="hold">
                                          <p:stCondLst>
                                            <p:cond delay="0"/>
                                          </p:stCondLst>
                                        </p:cTn>
                                        <p:tgtEl>
                                          <p:spTgt spid="122"/>
                                        </p:tgtEl>
                                        <p:attrNameLst>
                                          <p:attrName>style.visibility</p:attrName>
                                        </p:attrNameLst>
                                      </p:cBhvr>
                                      <p:to>
                                        <p:strVal val="visible"/>
                                      </p:to>
                                    </p:set>
                                  </p:childTnLst>
                                </p:cTn>
                              </p:par>
                              <p:par>
                                <p:cTn id="230" presetID="1" presetClass="exit" presetSubtype="0" fill="hold" nodeType="withEffect">
                                  <p:stCondLst>
                                    <p:cond delay="0"/>
                                  </p:stCondLst>
                                  <p:childTnLst>
                                    <p:set>
                                      <p:cBhvr>
                                        <p:cTn id="231" dur="1" fill="hold">
                                          <p:stCondLst>
                                            <p:cond delay="0"/>
                                          </p:stCondLst>
                                        </p:cTn>
                                        <p:tgtEl>
                                          <p:spTgt spid="138"/>
                                        </p:tgtEl>
                                        <p:attrNameLst>
                                          <p:attrName>style.visibility</p:attrName>
                                        </p:attrNameLst>
                                      </p:cBhvr>
                                      <p:to>
                                        <p:strVal val="hidden"/>
                                      </p:to>
                                    </p:set>
                                  </p:childTnLst>
                                </p:cTn>
                              </p:par>
                              <p:par>
                                <p:cTn id="232" presetID="1" presetClass="exit" presetSubtype="0" fill="hold" grpId="1" nodeType="withEffect">
                                  <p:stCondLst>
                                    <p:cond delay="0"/>
                                  </p:stCondLst>
                                  <p:childTnLst>
                                    <p:set>
                                      <p:cBhvr>
                                        <p:cTn id="233" dur="1" fill="hold">
                                          <p:stCondLst>
                                            <p:cond delay="0"/>
                                          </p:stCondLst>
                                        </p:cTn>
                                        <p:tgtEl>
                                          <p:spTgt spid="152"/>
                                        </p:tgtEl>
                                        <p:attrNameLst>
                                          <p:attrName>style.visibility</p:attrName>
                                        </p:attrNameLst>
                                      </p:cBhvr>
                                      <p:to>
                                        <p:strVal val="hidden"/>
                                      </p:to>
                                    </p:set>
                                  </p:childTnLst>
                                </p:cTn>
                              </p:par>
                            </p:childTnLst>
                          </p:cTn>
                        </p:par>
                      </p:childTnLst>
                    </p:cTn>
                  </p:par>
                </p:childTnLst>
              </p:cTn>
              <p:nextCondLst>
                <p:cond evt="onClick" delay="0">
                  <p:tgtEl>
                    <p:spTgt spid="152"/>
                  </p:tgtEl>
                </p:cond>
              </p:nextCondLst>
            </p:seq>
            <p:seq concurrent="1" nextAc="seek">
              <p:cTn id="234" restart="whenNotActive" fill="hold" evtFilter="cancelBubble" nodeType="interactiveSeq">
                <p:stCondLst>
                  <p:cond evt="onClick" delay="0">
                    <p:tgtEl>
                      <p:spTgt spid="27"/>
                    </p:tgtEl>
                  </p:cond>
                </p:stCondLst>
                <p:endSync evt="end" delay="0">
                  <p:rtn val="all"/>
                </p:endSync>
                <p:childTnLst>
                  <p:par>
                    <p:cTn id="235" fill="hold">
                      <p:stCondLst>
                        <p:cond delay="0"/>
                      </p:stCondLst>
                      <p:childTnLst>
                        <p:par>
                          <p:cTn id="236" fill="hold">
                            <p:stCondLst>
                              <p:cond delay="0"/>
                            </p:stCondLst>
                            <p:childTnLst>
                              <p:par>
                                <p:cTn id="237" presetID="1" presetClass="entr" presetSubtype="0" fill="hold" grpId="0" nodeType="clickEffect">
                                  <p:stCondLst>
                                    <p:cond delay="0"/>
                                  </p:stCondLst>
                                  <p:childTnLst>
                                    <p:set>
                                      <p:cBhvr>
                                        <p:cTn id="238" dur="1" fill="hold">
                                          <p:stCondLst>
                                            <p:cond delay="0"/>
                                          </p:stCondLst>
                                        </p:cTn>
                                        <p:tgtEl>
                                          <p:spTgt spid="32"/>
                                        </p:tgtEl>
                                        <p:attrNameLst>
                                          <p:attrName>style.visibility</p:attrName>
                                        </p:attrNameLst>
                                      </p:cBhvr>
                                      <p:to>
                                        <p:strVal val="visible"/>
                                      </p:to>
                                    </p:set>
                                  </p:childTnLst>
                                </p:cTn>
                              </p:par>
                              <p:par>
                                <p:cTn id="239" presetID="1" presetClass="exit" presetSubtype="0" fill="hold" nodeType="withEffect">
                                  <p:stCondLst>
                                    <p:cond delay="0"/>
                                  </p:stCondLst>
                                  <p:childTnLst>
                                    <p:set>
                                      <p:cBhvr>
                                        <p:cTn id="240" dur="1" fill="hold">
                                          <p:stCondLst>
                                            <p:cond delay="0"/>
                                          </p:stCondLst>
                                        </p:cTn>
                                        <p:tgtEl>
                                          <p:spTgt spid="34"/>
                                        </p:tgtEl>
                                        <p:attrNameLst>
                                          <p:attrName>style.visibility</p:attrName>
                                        </p:attrNameLst>
                                      </p:cBhvr>
                                      <p:to>
                                        <p:strVal val="hidden"/>
                                      </p:to>
                                    </p:set>
                                  </p:childTnLst>
                                </p:cTn>
                              </p:par>
                              <p:par>
                                <p:cTn id="241" presetID="1" presetClass="exit" presetSubtype="0" fill="hold" grpId="1" nodeType="withEffect">
                                  <p:stCondLst>
                                    <p:cond delay="0"/>
                                  </p:stCondLst>
                                  <p:childTnLst>
                                    <p:set>
                                      <p:cBhvr>
                                        <p:cTn id="242" dur="1" fill="hold">
                                          <p:stCondLst>
                                            <p:cond delay="0"/>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243" restart="whenNotActive" fill="hold" evtFilter="cancelBubble" nodeType="interactiveSeq">
                <p:stCondLst>
                  <p:cond evt="onClick" delay="0">
                    <p:tgtEl>
                      <p:spTgt spid="101"/>
                    </p:tgtEl>
                  </p:cond>
                </p:stCondLst>
                <p:endSync evt="end" delay="0">
                  <p:rtn val="all"/>
                </p:endSync>
                <p:childTnLst>
                  <p:par>
                    <p:cTn id="244" fill="hold">
                      <p:stCondLst>
                        <p:cond delay="0"/>
                      </p:stCondLst>
                      <p:childTnLst>
                        <p:par>
                          <p:cTn id="245" fill="hold">
                            <p:stCondLst>
                              <p:cond delay="0"/>
                            </p:stCondLst>
                            <p:childTnLst>
                              <p:par>
                                <p:cTn id="246" presetID="1" presetClass="entr" presetSubtype="0" fill="hold" nodeType="withEffect">
                                  <p:stCondLst>
                                    <p:cond delay="0"/>
                                  </p:stCondLst>
                                  <p:childTnLst>
                                    <p:set>
                                      <p:cBhvr>
                                        <p:cTn id="247" dur="1" fill="hold">
                                          <p:stCondLst>
                                            <p:cond delay="0"/>
                                          </p:stCondLst>
                                        </p:cTn>
                                        <p:tgtEl>
                                          <p:spTgt spid="51"/>
                                        </p:tgtEl>
                                        <p:attrNameLst>
                                          <p:attrName>style.visibility</p:attrName>
                                        </p:attrNameLst>
                                      </p:cBhvr>
                                      <p:to>
                                        <p:strVal val="visible"/>
                                      </p:to>
                                    </p:set>
                                  </p:childTnLst>
                                </p:cTn>
                              </p:par>
                              <p:par>
                                <p:cTn id="248" presetID="1" presetClass="exit" presetSubtype="0" fill="hold" nodeType="withEffect">
                                  <p:stCondLst>
                                    <p:cond delay="0"/>
                                  </p:stCondLst>
                                  <p:childTnLst>
                                    <p:set>
                                      <p:cBhvr>
                                        <p:cTn id="249" dur="1" fill="hold">
                                          <p:stCondLst>
                                            <p:cond delay="0"/>
                                          </p:stCondLst>
                                        </p:cTn>
                                        <p:tgtEl>
                                          <p:spTgt spid="101"/>
                                        </p:tgtEl>
                                        <p:attrNameLst>
                                          <p:attrName>style.visibility</p:attrName>
                                        </p:attrNameLst>
                                      </p:cBhvr>
                                      <p:to>
                                        <p:strVal val="hidden"/>
                                      </p:to>
                                    </p:set>
                                  </p:childTnLst>
                                </p:cTn>
                              </p:par>
                              <p:par>
                                <p:cTn id="250" presetID="1" presetClass="entr" presetSubtype="0" fill="hold" grpId="0" nodeType="withEffect">
                                  <p:stCondLst>
                                    <p:cond delay="0"/>
                                  </p:stCondLst>
                                  <p:childTnLst>
                                    <p:set>
                                      <p:cBhvr>
                                        <p:cTn id="251" dur="1" fill="hold">
                                          <p:stCondLst>
                                            <p:cond delay="0"/>
                                          </p:stCondLst>
                                        </p:cTn>
                                        <p:tgtEl>
                                          <p:spTgt spid="146"/>
                                        </p:tgtEl>
                                        <p:attrNameLst>
                                          <p:attrName>style.visibility</p:attrName>
                                        </p:attrNameLst>
                                      </p:cBhvr>
                                      <p:to>
                                        <p:strVal val="visible"/>
                                      </p:to>
                                    </p:set>
                                  </p:childTnLst>
                                </p:cTn>
                              </p:par>
                              <p:par>
                                <p:cTn id="252" presetID="1" presetClass="entr" presetSubtype="0" fill="hold" nodeType="withEffect">
                                  <p:stCondLst>
                                    <p:cond delay="0"/>
                                  </p:stCondLst>
                                  <p:childTnLst>
                                    <p:set>
                                      <p:cBhvr>
                                        <p:cTn id="253" dur="1" fill="hold">
                                          <p:stCondLst>
                                            <p:cond delay="0"/>
                                          </p:stCondLst>
                                        </p:cTn>
                                        <p:tgtEl>
                                          <p:spTgt spid="103"/>
                                        </p:tgtEl>
                                        <p:attrNameLst>
                                          <p:attrName>style.visibility</p:attrName>
                                        </p:attrNameLst>
                                      </p:cBhvr>
                                      <p:to>
                                        <p:strVal val="visible"/>
                                      </p:to>
                                    </p:set>
                                  </p:childTnLst>
                                </p:cTn>
                              </p:par>
                              <p:par>
                                <p:cTn id="254" presetID="1" presetClass="entr" presetSubtype="0" fill="hold" grpId="0" nodeType="withEffect">
                                  <p:stCondLst>
                                    <p:cond delay="0"/>
                                  </p:stCondLst>
                                  <p:childTnLst>
                                    <p:set>
                                      <p:cBhvr>
                                        <p:cTn id="255" dur="1" fill="hold">
                                          <p:stCondLst>
                                            <p:cond delay="0"/>
                                          </p:stCondLst>
                                        </p:cTn>
                                        <p:tgtEl>
                                          <p:spTgt spid="50"/>
                                        </p:tgtEl>
                                        <p:attrNameLst>
                                          <p:attrName>style.visibility</p:attrName>
                                        </p:attrNameLst>
                                      </p:cBhvr>
                                      <p:to>
                                        <p:strVal val="visible"/>
                                      </p:to>
                                    </p:set>
                                  </p:childTnLst>
                                </p:cTn>
                              </p:par>
                              <p:par>
                                <p:cTn id="256" presetID="1" presetClass="entr" presetSubtype="0" fill="hold" grpId="0" nodeType="withEffect">
                                  <p:stCondLst>
                                    <p:cond delay="0"/>
                                  </p:stCondLst>
                                  <p:childTnLst>
                                    <p:set>
                                      <p:cBhvr>
                                        <p:cTn id="257" dur="1" fill="hold">
                                          <p:stCondLst>
                                            <p:cond delay="0"/>
                                          </p:stCondLst>
                                        </p:cTn>
                                        <p:tgtEl>
                                          <p:spTgt spid="102"/>
                                        </p:tgtEl>
                                        <p:attrNameLst>
                                          <p:attrName>style.visibility</p:attrName>
                                        </p:attrNameLst>
                                      </p:cBhvr>
                                      <p:to>
                                        <p:strVal val="visible"/>
                                      </p:to>
                                    </p:set>
                                  </p:childTnLst>
                                </p:cTn>
                              </p:par>
                              <p:par>
                                <p:cTn id="258" presetID="1" presetClass="exit" presetSubtype="0" fill="hold" nodeType="withEffect">
                                  <p:stCondLst>
                                    <p:cond delay="0"/>
                                  </p:stCondLst>
                                  <p:childTnLst>
                                    <p:set>
                                      <p:cBhvr>
                                        <p:cTn id="259" dur="1" fill="hold">
                                          <p:stCondLst>
                                            <p:cond delay="0"/>
                                          </p:stCondLst>
                                        </p:cTn>
                                        <p:tgtEl>
                                          <p:spTgt spid="100"/>
                                        </p:tgtEl>
                                        <p:attrNameLst>
                                          <p:attrName>style.visibility</p:attrName>
                                        </p:attrNameLst>
                                      </p:cBhvr>
                                      <p:to>
                                        <p:strVal val="hidden"/>
                                      </p:to>
                                    </p:set>
                                  </p:childTnLst>
                                </p:cTn>
                              </p:par>
                            </p:childTnLst>
                          </p:cTn>
                        </p:par>
                      </p:childTnLst>
                    </p:cTn>
                  </p:par>
                </p:childTnLst>
              </p:cTn>
              <p:nextCondLst>
                <p:cond evt="onClick" delay="0">
                  <p:tgtEl>
                    <p:spTgt spid="101"/>
                  </p:tgtEl>
                </p:cond>
              </p:nextCondLst>
            </p:seq>
            <p:seq concurrent="1" nextAc="seek">
              <p:cTn id="260" restart="whenNotActive" fill="hold" evtFilter="cancelBubble" nodeType="interactiveSeq">
                <p:stCondLst>
                  <p:cond evt="onClick" delay="0">
                    <p:tgtEl>
                      <p:spTgt spid="50"/>
                    </p:tgtEl>
                  </p:cond>
                </p:stCondLst>
                <p:endSync evt="end" delay="0">
                  <p:rtn val="all"/>
                </p:endSync>
                <p:childTnLst>
                  <p:par>
                    <p:cTn id="261" fill="hold">
                      <p:stCondLst>
                        <p:cond delay="0"/>
                      </p:stCondLst>
                      <p:childTnLst>
                        <p:par>
                          <p:cTn id="262" fill="hold">
                            <p:stCondLst>
                              <p:cond delay="0"/>
                            </p:stCondLst>
                            <p:childTnLst>
                              <p:par>
                                <p:cTn id="263" presetID="1" presetClass="entr" presetSubtype="0" fill="hold" grpId="0" nodeType="clickEffect">
                                  <p:stCondLst>
                                    <p:cond delay="0"/>
                                  </p:stCondLst>
                                  <p:childTnLst>
                                    <p:set>
                                      <p:cBhvr>
                                        <p:cTn id="264" dur="1" fill="hold">
                                          <p:stCondLst>
                                            <p:cond delay="0"/>
                                          </p:stCondLst>
                                        </p:cTn>
                                        <p:tgtEl>
                                          <p:spTgt spid="58"/>
                                        </p:tgtEl>
                                        <p:attrNameLst>
                                          <p:attrName>style.visibility</p:attrName>
                                        </p:attrNameLst>
                                      </p:cBhvr>
                                      <p:to>
                                        <p:strVal val="visible"/>
                                      </p:to>
                                    </p:set>
                                  </p:childTnLst>
                                </p:cTn>
                              </p:par>
                              <p:par>
                                <p:cTn id="265" presetID="1" presetClass="exit" presetSubtype="0" fill="hold" nodeType="withEffect">
                                  <p:stCondLst>
                                    <p:cond delay="0"/>
                                  </p:stCondLst>
                                  <p:childTnLst>
                                    <p:set>
                                      <p:cBhvr>
                                        <p:cTn id="266" dur="1" fill="hold">
                                          <p:stCondLst>
                                            <p:cond delay="0"/>
                                          </p:stCondLst>
                                        </p:cTn>
                                        <p:tgtEl>
                                          <p:spTgt spid="51"/>
                                        </p:tgtEl>
                                        <p:attrNameLst>
                                          <p:attrName>style.visibility</p:attrName>
                                        </p:attrNameLst>
                                      </p:cBhvr>
                                      <p:to>
                                        <p:strVal val="hidden"/>
                                      </p:to>
                                    </p:set>
                                  </p:childTnLst>
                                </p:cTn>
                              </p:par>
                              <p:par>
                                <p:cTn id="267" presetID="3" presetClass="emph" presetSubtype="2" fill="hold" nodeType="withEffect">
                                  <p:stCondLst>
                                    <p:cond delay="0"/>
                                  </p:stCondLst>
                                  <p:childTnLst>
                                    <p:animClr clrSpc="rgb" dir="cw">
                                      <p:cBhvr override="childStyle">
                                        <p:cTn id="268" dur="500" fill="hold"/>
                                        <p:tgtEl>
                                          <p:spTgt spid="47">
                                            <p:txEl>
                                              <p:pRg st="0" end="0"/>
                                            </p:txEl>
                                          </p:spTgt>
                                        </p:tgtEl>
                                        <p:attrNameLst>
                                          <p:attrName>style.color</p:attrName>
                                        </p:attrNameLst>
                                      </p:cBhvr>
                                      <p:to>
                                        <a:srgbClr val="70AD47"/>
                                      </p:to>
                                    </p:animClr>
                                  </p:childTnLst>
                                </p:cTn>
                              </p:par>
                              <p:par>
                                <p:cTn id="269" presetID="1" presetClass="entr" presetSubtype="0" fill="hold" grpId="0" nodeType="withEffect">
                                  <p:stCondLst>
                                    <p:cond delay="0"/>
                                  </p:stCondLst>
                                  <p:childTnLst>
                                    <p:set>
                                      <p:cBhvr>
                                        <p:cTn id="270" dur="1" fill="hold">
                                          <p:stCondLst>
                                            <p:cond delay="0"/>
                                          </p:stCondLst>
                                        </p:cTn>
                                        <p:tgtEl>
                                          <p:spTgt spid="145"/>
                                        </p:tgtEl>
                                        <p:attrNameLst>
                                          <p:attrName>style.visibility</p:attrName>
                                        </p:attrNameLst>
                                      </p:cBhvr>
                                      <p:to>
                                        <p:strVal val="visible"/>
                                      </p:to>
                                    </p:set>
                                  </p:childTnLst>
                                </p:cTn>
                              </p:par>
                              <p:par>
                                <p:cTn id="271" presetID="1" presetClass="exit" presetSubtype="0" fill="hold" grpId="1" nodeType="withEffect">
                                  <p:stCondLst>
                                    <p:cond delay="0"/>
                                  </p:stCondLst>
                                  <p:childTnLst>
                                    <p:set>
                                      <p:cBhvr>
                                        <p:cTn id="272" dur="1" fill="hold">
                                          <p:stCondLst>
                                            <p:cond delay="0"/>
                                          </p:stCondLst>
                                        </p:cTn>
                                        <p:tgtEl>
                                          <p:spTgt spid="50"/>
                                        </p:tgtEl>
                                        <p:attrNameLst>
                                          <p:attrName>style.visibility</p:attrName>
                                        </p:attrNameLst>
                                      </p:cBhvr>
                                      <p:to>
                                        <p:strVal val="hidden"/>
                                      </p:to>
                                    </p:set>
                                  </p:childTnLst>
                                </p:cTn>
                              </p:par>
                            </p:childTnLst>
                          </p:cTn>
                        </p:par>
                      </p:childTnLst>
                    </p:cTn>
                  </p:par>
                </p:childTnLst>
              </p:cTn>
              <p:nextCondLst>
                <p:cond evt="onClick" delay="0">
                  <p:tgtEl>
                    <p:spTgt spid="50"/>
                  </p:tgtEl>
                </p:cond>
              </p:nextCondLst>
            </p:seq>
            <p:seq concurrent="1" nextAc="seek">
              <p:cTn id="273" restart="whenNotActive" fill="hold" evtFilter="cancelBubble" nodeType="interactiveSeq">
                <p:stCondLst>
                  <p:cond evt="onClick" delay="0">
                    <p:tgtEl>
                      <p:spTgt spid="102"/>
                    </p:tgtEl>
                  </p:cond>
                </p:stCondLst>
                <p:endSync evt="end" delay="0">
                  <p:rtn val="all"/>
                </p:endSync>
                <p:childTnLst>
                  <p:par>
                    <p:cTn id="274" fill="hold">
                      <p:stCondLst>
                        <p:cond delay="0"/>
                      </p:stCondLst>
                      <p:childTnLst>
                        <p:par>
                          <p:cTn id="275" fill="hold">
                            <p:stCondLst>
                              <p:cond delay="0"/>
                            </p:stCondLst>
                            <p:childTnLst>
                              <p:par>
                                <p:cTn id="276" presetID="1" presetClass="entr" presetSubtype="0" fill="hold" grpId="0" nodeType="clickEffect">
                                  <p:stCondLst>
                                    <p:cond delay="0"/>
                                  </p:stCondLst>
                                  <p:childTnLst>
                                    <p:set>
                                      <p:cBhvr>
                                        <p:cTn id="277" dur="1" fill="hold">
                                          <p:stCondLst>
                                            <p:cond delay="0"/>
                                          </p:stCondLst>
                                        </p:cTn>
                                        <p:tgtEl>
                                          <p:spTgt spid="104"/>
                                        </p:tgtEl>
                                        <p:attrNameLst>
                                          <p:attrName>style.visibility</p:attrName>
                                        </p:attrNameLst>
                                      </p:cBhvr>
                                      <p:to>
                                        <p:strVal val="visible"/>
                                      </p:to>
                                    </p:set>
                                  </p:childTnLst>
                                </p:cTn>
                              </p:par>
                              <p:par>
                                <p:cTn id="278" presetID="1" presetClass="exit" presetSubtype="0" fill="hold" grpId="1" nodeType="withEffect">
                                  <p:stCondLst>
                                    <p:cond delay="0"/>
                                  </p:stCondLst>
                                  <p:childTnLst>
                                    <p:set>
                                      <p:cBhvr>
                                        <p:cTn id="279" dur="1" fill="hold">
                                          <p:stCondLst>
                                            <p:cond delay="0"/>
                                          </p:stCondLst>
                                        </p:cTn>
                                        <p:tgtEl>
                                          <p:spTgt spid="102"/>
                                        </p:tgtEl>
                                        <p:attrNameLst>
                                          <p:attrName>style.visibility</p:attrName>
                                        </p:attrNameLst>
                                      </p:cBhvr>
                                      <p:to>
                                        <p:strVal val="hidden"/>
                                      </p:to>
                                    </p:set>
                                  </p:childTnLst>
                                </p:cTn>
                              </p:par>
                              <p:par>
                                <p:cTn id="280" presetID="3" presetClass="emph" presetSubtype="2" fill="hold" grpId="2" nodeType="withEffect">
                                  <p:stCondLst>
                                    <p:cond delay="0"/>
                                  </p:stCondLst>
                                  <p:childTnLst>
                                    <p:animClr clrSpc="rgb" dir="cw">
                                      <p:cBhvr override="childStyle">
                                        <p:cTn id="281" dur="500" fill="hold"/>
                                        <p:tgtEl>
                                          <p:spTgt spid="3"/>
                                        </p:tgtEl>
                                        <p:attrNameLst>
                                          <p:attrName>style.color</p:attrName>
                                        </p:attrNameLst>
                                      </p:cBhvr>
                                      <p:to>
                                        <a:srgbClr val="5B9BD5"/>
                                      </p:to>
                                    </p:animClr>
                                  </p:childTnLst>
                                </p:cTn>
                              </p:par>
                              <p:par>
                                <p:cTn id="282" presetID="3" presetClass="emph" presetSubtype="2" fill="hold" grpId="2" nodeType="withEffect">
                                  <p:stCondLst>
                                    <p:cond delay="0"/>
                                  </p:stCondLst>
                                  <p:childTnLst>
                                    <p:animClr clrSpc="rgb" dir="cw">
                                      <p:cBhvr override="childStyle">
                                        <p:cTn id="283" dur="500" fill="hold"/>
                                        <p:tgtEl>
                                          <p:spTgt spid="41"/>
                                        </p:tgtEl>
                                        <p:attrNameLst>
                                          <p:attrName>style.color</p:attrName>
                                        </p:attrNameLst>
                                      </p:cBhvr>
                                      <p:to>
                                        <a:srgbClr val="5B9BD5"/>
                                      </p:to>
                                    </p:animClr>
                                  </p:childTnLst>
                                </p:cTn>
                              </p:par>
                              <p:par>
                                <p:cTn id="284" presetID="3" presetClass="emph" presetSubtype="2" fill="hold" grpId="2" nodeType="withEffect">
                                  <p:stCondLst>
                                    <p:cond delay="0"/>
                                  </p:stCondLst>
                                  <p:childTnLst>
                                    <p:animClr clrSpc="rgb" dir="cw">
                                      <p:cBhvr override="childStyle">
                                        <p:cTn id="285" dur="500" fill="hold"/>
                                        <p:tgtEl>
                                          <p:spTgt spid="42"/>
                                        </p:tgtEl>
                                        <p:attrNameLst>
                                          <p:attrName>style.color</p:attrName>
                                        </p:attrNameLst>
                                      </p:cBhvr>
                                      <p:to>
                                        <a:srgbClr val="5B9BD5"/>
                                      </p:to>
                                    </p:animClr>
                                  </p:childTnLst>
                                </p:cTn>
                              </p:par>
                              <p:par>
                                <p:cTn id="286" presetID="3" presetClass="emph" presetSubtype="2" fill="hold" grpId="2" nodeType="withEffect">
                                  <p:stCondLst>
                                    <p:cond delay="0"/>
                                  </p:stCondLst>
                                  <p:childTnLst>
                                    <p:animClr clrSpc="rgb" dir="cw">
                                      <p:cBhvr override="childStyle">
                                        <p:cTn id="287" dur="500" fill="hold"/>
                                        <p:tgtEl>
                                          <p:spTgt spid="43"/>
                                        </p:tgtEl>
                                        <p:attrNameLst>
                                          <p:attrName>style.color</p:attrName>
                                        </p:attrNameLst>
                                      </p:cBhvr>
                                      <p:to>
                                        <a:srgbClr val="5B9BD5"/>
                                      </p:to>
                                    </p:animClr>
                                  </p:childTnLst>
                                </p:cTn>
                              </p:par>
                              <p:par>
                                <p:cTn id="288" presetID="3" presetClass="emph" presetSubtype="2" fill="hold" grpId="2" nodeType="withEffect">
                                  <p:stCondLst>
                                    <p:cond delay="0"/>
                                  </p:stCondLst>
                                  <p:childTnLst>
                                    <p:animClr clrSpc="rgb" dir="cw">
                                      <p:cBhvr override="childStyle">
                                        <p:cTn id="289" dur="500" fill="hold"/>
                                        <p:tgtEl>
                                          <p:spTgt spid="128"/>
                                        </p:tgtEl>
                                        <p:attrNameLst>
                                          <p:attrName>style.color</p:attrName>
                                        </p:attrNameLst>
                                      </p:cBhvr>
                                      <p:to>
                                        <a:srgbClr val="5B9BD5"/>
                                      </p:to>
                                    </p:animClr>
                                  </p:childTnLst>
                                </p:cTn>
                              </p:par>
                              <p:par>
                                <p:cTn id="290" presetID="3" presetClass="emph" presetSubtype="2" fill="hold" grpId="2" nodeType="withEffect">
                                  <p:stCondLst>
                                    <p:cond delay="0"/>
                                  </p:stCondLst>
                                  <p:childTnLst>
                                    <p:animClr clrSpc="rgb" dir="cw">
                                      <p:cBhvr override="childStyle">
                                        <p:cTn id="291" dur="500" fill="hold"/>
                                        <p:tgtEl>
                                          <p:spTgt spid="127"/>
                                        </p:tgtEl>
                                        <p:attrNameLst>
                                          <p:attrName>style.color</p:attrName>
                                        </p:attrNameLst>
                                      </p:cBhvr>
                                      <p:to>
                                        <a:srgbClr val="5B9BD5"/>
                                      </p:to>
                                    </p:animClr>
                                  </p:childTnLst>
                                </p:cTn>
                              </p:par>
                              <p:par>
                                <p:cTn id="292" presetID="3" presetClass="emph" presetSubtype="2" fill="hold" grpId="2" nodeType="withEffect">
                                  <p:stCondLst>
                                    <p:cond delay="0"/>
                                  </p:stCondLst>
                                  <p:childTnLst>
                                    <p:animClr clrSpc="rgb" dir="cw">
                                      <p:cBhvr override="childStyle">
                                        <p:cTn id="293" dur="500" fill="hold"/>
                                        <p:tgtEl>
                                          <p:spTgt spid="123"/>
                                        </p:tgtEl>
                                        <p:attrNameLst>
                                          <p:attrName>style.color</p:attrName>
                                        </p:attrNameLst>
                                      </p:cBhvr>
                                      <p:to>
                                        <a:srgbClr val="5B9BD5"/>
                                      </p:to>
                                    </p:animClr>
                                  </p:childTnLst>
                                </p:cTn>
                              </p:par>
                              <p:par>
                                <p:cTn id="294" presetID="1" presetClass="exit" presetSubtype="0" fill="hold" nodeType="withEffect">
                                  <p:stCondLst>
                                    <p:cond delay="0"/>
                                  </p:stCondLst>
                                  <p:childTnLst>
                                    <p:set>
                                      <p:cBhvr>
                                        <p:cTn id="295" dur="1" fill="hold">
                                          <p:stCondLst>
                                            <p:cond delay="0"/>
                                          </p:stCondLst>
                                        </p:cTn>
                                        <p:tgtEl>
                                          <p:spTgt spid="103"/>
                                        </p:tgtEl>
                                        <p:attrNameLst>
                                          <p:attrName>style.visibility</p:attrName>
                                        </p:attrNameLst>
                                      </p:cBhvr>
                                      <p:to>
                                        <p:strVal val="hidden"/>
                                      </p:to>
                                    </p:set>
                                  </p:childTnLst>
                                </p:cTn>
                              </p:par>
                            </p:childTnLst>
                          </p:cTn>
                        </p:par>
                      </p:childTnLst>
                    </p:cTn>
                  </p:par>
                </p:childTnLst>
              </p:cTn>
              <p:nextCondLst>
                <p:cond evt="onClick" delay="0">
                  <p:tgtEl>
                    <p:spTgt spid="102"/>
                  </p:tgtEl>
                </p:cond>
              </p:nextCondLst>
            </p:seq>
          </p:childTnLst>
        </p:cTn>
      </p:par>
    </p:tnLst>
    <p:bldLst>
      <p:bldP spid="146" grpId="0" animBg="1"/>
      <p:bldP spid="145" grpId="0" animBg="1"/>
      <p:bldP spid="87" grpId="0"/>
      <p:bldP spid="88" grpId="0"/>
      <p:bldP spid="89" grpId="0"/>
      <p:bldP spid="90" grpId="0"/>
      <p:bldP spid="91" grpId="0"/>
      <p:bldP spid="92" grpId="0"/>
      <p:bldP spid="93" grpId="0"/>
      <p:bldP spid="79" grpId="0"/>
      <p:bldP spid="80" grpId="0"/>
      <p:bldP spid="81" grpId="0"/>
      <p:bldP spid="82" grpId="0"/>
      <p:bldP spid="83" grpId="0"/>
      <p:bldP spid="84" grpId="0"/>
      <p:bldP spid="85" grpId="0"/>
      <p:bldP spid="86" grpId="0"/>
      <p:bldP spid="47" grpId="0"/>
      <p:bldP spid="47" grpId="1" build="allAtOnce"/>
      <p:bldP spid="46" grpId="0"/>
      <p:bldP spid="45" grpId="0"/>
      <p:bldP spid="43" grpId="0"/>
      <p:bldP spid="43" grpId="2"/>
      <p:bldP spid="42" grpId="0"/>
      <p:bldP spid="42" grpId="2"/>
      <p:bldP spid="41" grpId="0"/>
      <p:bldP spid="41" grpId="2"/>
      <p:bldP spid="3" grpId="0"/>
      <p:bldP spid="3" grpId="2"/>
      <p:bldP spid="20" grpId="0" animBg="1"/>
      <p:bldP spid="2" grpId="0" animBg="1"/>
      <p:bldP spid="2" grpId="1" animBg="1"/>
      <p:bldP spid="50" grpId="0" animBg="1"/>
      <p:bldP spid="50" grpId="1" animBg="1"/>
      <p:bldP spid="58" grpId="0"/>
      <p:bldP spid="71" grpId="0" animBg="1"/>
      <p:bldP spid="71" grpId="1" animBg="1"/>
      <p:bldP spid="72" grpId="0" animBg="1"/>
      <p:bldP spid="72" grpId="1" animBg="1"/>
      <p:bldP spid="73" grpId="0" animBg="1"/>
      <p:bldP spid="73" grpId="1" animBg="1"/>
      <p:bldP spid="74" grpId="0" animBg="1"/>
      <p:bldP spid="74" grpId="1" animBg="1"/>
      <p:bldP spid="75" grpId="0" animBg="1"/>
      <p:bldP spid="75" grpId="1" animBg="1"/>
      <p:bldP spid="76" grpId="0" animBg="1"/>
      <p:bldP spid="76" grpId="1" animBg="1"/>
      <p:bldP spid="27" grpId="0" animBg="1"/>
      <p:bldP spid="27" grpId="1" animBg="1"/>
      <p:bldP spid="102" grpId="0" animBg="1"/>
      <p:bldP spid="102" grpId="1" animBg="1"/>
      <p:bldP spid="104" grpId="0"/>
      <p:bldP spid="122" grpId="0"/>
      <p:bldP spid="123" grpId="0"/>
      <p:bldP spid="123" grpId="2"/>
      <p:bldP spid="124" grpId="0"/>
      <p:bldP spid="125" grpId="0"/>
      <p:bldP spid="126" grpId="0"/>
      <p:bldP spid="127" grpId="0"/>
      <p:bldP spid="127" grpId="2"/>
      <p:bldP spid="128" grpId="0"/>
      <p:bldP spid="128" grpId="2"/>
      <p:bldP spid="129" grpId="0" animBg="1"/>
      <p:bldP spid="131" grpId="0" animBg="1"/>
      <p:bldP spid="131" grpId="1" animBg="1"/>
      <p:bldP spid="139" grpId="0" animBg="1"/>
      <p:bldP spid="139" grpId="1" animBg="1"/>
      <p:bldP spid="140" grpId="0" animBg="1"/>
      <p:bldP spid="140" grpId="1" animBg="1"/>
      <p:bldP spid="141" grpId="0" animBg="1"/>
      <p:bldP spid="141" grpId="1" animBg="1"/>
      <p:bldP spid="142" grpId="0" animBg="1"/>
      <p:bldP spid="142" grpId="1" animBg="1"/>
      <p:bldP spid="151" grpId="0" animBg="1"/>
      <p:bldP spid="151" grpId="1" animBg="1"/>
      <p:bldP spid="152" grpId="0" animBg="1"/>
      <p:bldP spid="152" grpId="1" animBg="1"/>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 name="1st line question">
            <a:hlinkClick r:id="" action="ppaction://noaction"/>
            <a:extLst>
              <a:ext uri="{FF2B5EF4-FFF2-40B4-BE49-F238E27FC236}">
                <a16:creationId xmlns:a16="http://schemas.microsoft.com/office/drawing/2014/main" id="{EDD95749-2E30-BB9F-F5C8-5A8C6C2065B0}"/>
              </a:ext>
            </a:extLst>
          </p:cNvPr>
          <p:cNvSpPr/>
          <p:nvPr/>
        </p:nvSpPr>
        <p:spPr>
          <a:xfrm>
            <a:off x="3062806" y="4346701"/>
            <a:ext cx="2743200" cy="367979"/>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r>
              <a:rPr lang="en-US" baseline="30000" dirty="0">
                <a:solidFill>
                  <a:schemeClr val="bg1"/>
                </a:solidFill>
              </a:rPr>
              <a:t>st</a:t>
            </a:r>
            <a:r>
              <a:rPr lang="en-US" dirty="0">
                <a:solidFill>
                  <a:schemeClr val="bg1"/>
                </a:solidFill>
              </a:rPr>
              <a:t> line therapy?</a:t>
            </a:r>
          </a:p>
        </p:txBody>
      </p:sp>
      <p:sp>
        <p:nvSpPr>
          <p:cNvPr id="1055" name="Afib burden question">
            <a:hlinkClick r:id="" action="ppaction://noaction"/>
            <a:extLst>
              <a:ext uri="{FF2B5EF4-FFF2-40B4-BE49-F238E27FC236}">
                <a16:creationId xmlns:a16="http://schemas.microsoft.com/office/drawing/2014/main" id="{1FA72BA2-66FB-C587-9630-7079D4025984}"/>
              </a:ext>
            </a:extLst>
          </p:cNvPr>
          <p:cNvSpPr/>
          <p:nvPr/>
        </p:nvSpPr>
        <p:spPr>
          <a:xfrm>
            <a:off x="3062806" y="5586021"/>
            <a:ext cx="2743200" cy="367979"/>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Paroxysmal vs. persistent?</a:t>
            </a:r>
          </a:p>
        </p:txBody>
      </p:sp>
      <p:sp>
        <p:nvSpPr>
          <p:cNvPr id="1056" name="Non medical question">
            <a:hlinkClick r:id="" action="ppaction://noaction"/>
            <a:extLst>
              <a:ext uri="{FF2B5EF4-FFF2-40B4-BE49-F238E27FC236}">
                <a16:creationId xmlns:a16="http://schemas.microsoft.com/office/drawing/2014/main" id="{5D4DB335-999F-9853-B689-0403D8302995}"/>
              </a:ext>
            </a:extLst>
          </p:cNvPr>
          <p:cNvSpPr/>
          <p:nvPr/>
        </p:nvSpPr>
        <p:spPr>
          <a:xfrm>
            <a:off x="8441546" y="3923154"/>
            <a:ext cx="2743200" cy="367979"/>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Non-medication options?</a:t>
            </a:r>
          </a:p>
        </p:txBody>
      </p:sp>
      <p:sp>
        <p:nvSpPr>
          <p:cNvPr id="113" name="When AC question">
            <a:hlinkClick r:id="" action="ppaction://noaction"/>
            <a:extLst>
              <a:ext uri="{FF2B5EF4-FFF2-40B4-BE49-F238E27FC236}">
                <a16:creationId xmlns:a16="http://schemas.microsoft.com/office/drawing/2014/main" id="{83018BF4-63CF-88F7-864A-3DA25DE1CD8E}"/>
              </a:ext>
            </a:extLst>
          </p:cNvPr>
          <p:cNvSpPr/>
          <p:nvPr/>
        </p:nvSpPr>
        <p:spPr>
          <a:xfrm>
            <a:off x="3002878" y="643846"/>
            <a:ext cx="2773353" cy="367979"/>
          </a:xfrm>
          <a:prstGeom prst="roundRect">
            <a:avLst/>
          </a:prstGeom>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When to </a:t>
            </a:r>
            <a:r>
              <a:rPr lang="en-US" dirty="0" err="1">
                <a:solidFill>
                  <a:schemeClr val="bg1"/>
                </a:solidFill>
              </a:rPr>
              <a:t>anticoagulate</a:t>
            </a:r>
            <a:r>
              <a:rPr lang="en-US" dirty="0">
                <a:solidFill>
                  <a:schemeClr val="bg1"/>
                </a:solidFill>
              </a:rPr>
              <a:t>?</a:t>
            </a:r>
          </a:p>
        </p:txBody>
      </p:sp>
      <p:sp>
        <p:nvSpPr>
          <p:cNvPr id="50" name="When AC question">
            <a:hlinkClick r:id="" action="ppaction://noaction"/>
            <a:extLst>
              <a:ext uri="{FF2B5EF4-FFF2-40B4-BE49-F238E27FC236}">
                <a16:creationId xmlns:a16="http://schemas.microsoft.com/office/drawing/2014/main" id="{8AF1F1F4-35FC-5543-8046-125B24CB6172}"/>
              </a:ext>
            </a:extLst>
          </p:cNvPr>
          <p:cNvSpPr/>
          <p:nvPr/>
        </p:nvSpPr>
        <p:spPr>
          <a:xfrm>
            <a:off x="3002878" y="632417"/>
            <a:ext cx="277335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When to </a:t>
            </a:r>
            <a:r>
              <a:rPr lang="en-US" dirty="0" err="1">
                <a:solidFill>
                  <a:schemeClr val="tx1"/>
                </a:solidFill>
              </a:rPr>
              <a:t>anticoagulate</a:t>
            </a:r>
            <a:r>
              <a:rPr lang="en-US" dirty="0">
                <a:solidFill>
                  <a:schemeClr val="tx1"/>
                </a:solidFill>
              </a:rPr>
              <a:t>?</a:t>
            </a:r>
          </a:p>
        </p:txBody>
      </p:sp>
      <p:pic>
        <p:nvPicPr>
          <p:cNvPr id="51" name="When AC arrow" descr="Cursor with solid fill">
            <a:extLst>
              <a:ext uri="{FF2B5EF4-FFF2-40B4-BE49-F238E27FC236}">
                <a16:creationId xmlns:a16="http://schemas.microsoft.com/office/drawing/2014/main" id="{78490B65-B35C-EE47-8555-67916A0CDAC1}"/>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7499" y="877458"/>
            <a:ext cx="274320" cy="274320"/>
          </a:xfrm>
          <a:prstGeom prst="rect">
            <a:avLst/>
          </a:prstGeom>
        </p:spPr>
      </p:pic>
      <p:sp>
        <p:nvSpPr>
          <p:cNvPr id="69" name="1st line question">
            <a:hlinkClick r:id="" action="ppaction://noaction"/>
            <a:extLst>
              <a:ext uri="{FF2B5EF4-FFF2-40B4-BE49-F238E27FC236}">
                <a16:creationId xmlns:a16="http://schemas.microsoft.com/office/drawing/2014/main" id="{C8FA3821-D770-0345-BF4F-5227D0343918}"/>
              </a:ext>
            </a:extLst>
          </p:cNvPr>
          <p:cNvSpPr/>
          <p:nvPr/>
        </p:nvSpPr>
        <p:spPr>
          <a:xfrm>
            <a:off x="3062806" y="4346701"/>
            <a:ext cx="2743200"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r>
              <a:rPr lang="en-US" baseline="30000" dirty="0">
                <a:solidFill>
                  <a:schemeClr val="tx1"/>
                </a:solidFill>
              </a:rPr>
              <a:t>st</a:t>
            </a:r>
            <a:r>
              <a:rPr lang="en-US" dirty="0">
                <a:solidFill>
                  <a:schemeClr val="tx1"/>
                </a:solidFill>
              </a:rPr>
              <a:t> line therapy?</a:t>
            </a:r>
          </a:p>
        </p:txBody>
      </p:sp>
      <p:pic>
        <p:nvPicPr>
          <p:cNvPr id="70" name="1st line arrow" descr="Cursor with solid fill">
            <a:extLst>
              <a:ext uri="{FF2B5EF4-FFF2-40B4-BE49-F238E27FC236}">
                <a16:creationId xmlns:a16="http://schemas.microsoft.com/office/drawing/2014/main" id="{8193E79A-6CFD-2C41-98CD-C3CECB16E1D8}"/>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66574" y="4587923"/>
            <a:ext cx="274320" cy="274320"/>
          </a:xfrm>
          <a:prstGeom prst="rect">
            <a:avLst/>
          </a:prstGeom>
        </p:spPr>
      </p:pic>
      <p:sp>
        <p:nvSpPr>
          <p:cNvPr id="83" name="1st line answer">
            <a:extLst>
              <a:ext uri="{FF2B5EF4-FFF2-40B4-BE49-F238E27FC236}">
                <a16:creationId xmlns:a16="http://schemas.microsoft.com/office/drawing/2014/main" id="{35239BEF-5FE7-D04F-8A71-08B11318A683}"/>
              </a:ext>
            </a:extLst>
          </p:cNvPr>
          <p:cNvSpPr txBox="1"/>
          <p:nvPr/>
        </p:nvSpPr>
        <p:spPr>
          <a:xfrm>
            <a:off x="3078932" y="4775537"/>
            <a:ext cx="2781975" cy="615553"/>
          </a:xfrm>
          <a:prstGeom prst="rect">
            <a:avLst/>
          </a:prstGeom>
          <a:noFill/>
        </p:spPr>
        <p:txBody>
          <a:bodyPr wrap="square" rtlCol="0">
            <a:spAutoFit/>
          </a:bodyPr>
          <a:lstStyle/>
          <a:p>
            <a:pPr algn="ctr"/>
            <a:r>
              <a:rPr lang="en-US" dirty="0"/>
              <a:t>DOACs &gt; warfarin</a:t>
            </a:r>
          </a:p>
          <a:p>
            <a:pPr algn="ctr"/>
            <a:r>
              <a:rPr lang="en-US" sz="1600" dirty="0"/>
              <a:t>(for most patients)</a:t>
            </a:r>
          </a:p>
        </p:txBody>
      </p:sp>
      <p:sp>
        <p:nvSpPr>
          <p:cNvPr id="85" name="Afib burden question">
            <a:hlinkClick r:id="" action="ppaction://noaction"/>
            <a:extLst>
              <a:ext uri="{FF2B5EF4-FFF2-40B4-BE49-F238E27FC236}">
                <a16:creationId xmlns:a16="http://schemas.microsoft.com/office/drawing/2014/main" id="{C990AFA2-EE79-7B4D-997A-1ACB8408ABDE}"/>
              </a:ext>
            </a:extLst>
          </p:cNvPr>
          <p:cNvSpPr/>
          <p:nvPr/>
        </p:nvSpPr>
        <p:spPr>
          <a:xfrm>
            <a:off x="3062806" y="5586021"/>
            <a:ext cx="2743200"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Paroxysmal vs. persistent?</a:t>
            </a:r>
          </a:p>
        </p:txBody>
      </p:sp>
      <p:pic>
        <p:nvPicPr>
          <p:cNvPr id="86" name="Afib burden arrow" descr="Cursor with solid fill">
            <a:extLst>
              <a:ext uri="{FF2B5EF4-FFF2-40B4-BE49-F238E27FC236}">
                <a16:creationId xmlns:a16="http://schemas.microsoft.com/office/drawing/2014/main" id="{D7956507-2C6D-4948-83F8-C1AB9AC17C5E}"/>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66574" y="5825094"/>
            <a:ext cx="274320" cy="274320"/>
          </a:xfrm>
          <a:prstGeom prst="rect">
            <a:avLst/>
          </a:prstGeom>
        </p:spPr>
      </p:pic>
      <p:sp>
        <p:nvSpPr>
          <p:cNvPr id="87" name="Afib burden answer">
            <a:extLst>
              <a:ext uri="{FF2B5EF4-FFF2-40B4-BE49-F238E27FC236}">
                <a16:creationId xmlns:a16="http://schemas.microsoft.com/office/drawing/2014/main" id="{B102ABDB-09B5-9945-B805-BBFE318F625B}"/>
              </a:ext>
            </a:extLst>
          </p:cNvPr>
          <p:cNvSpPr txBox="1"/>
          <p:nvPr/>
        </p:nvSpPr>
        <p:spPr>
          <a:xfrm>
            <a:off x="1732348" y="6065125"/>
            <a:ext cx="5475141" cy="646331"/>
          </a:xfrm>
          <a:prstGeom prst="rect">
            <a:avLst/>
          </a:prstGeom>
          <a:noFill/>
        </p:spPr>
        <p:txBody>
          <a:bodyPr wrap="square" rtlCol="0">
            <a:spAutoFit/>
          </a:bodyPr>
          <a:lstStyle/>
          <a:p>
            <a:pPr algn="ctr"/>
            <a:r>
              <a:rPr lang="en-US" dirty="0"/>
              <a:t>AF burden (or prior cardioversion) does not change anticoagulation decision</a:t>
            </a:r>
          </a:p>
        </p:txBody>
      </p:sp>
      <p:sp>
        <p:nvSpPr>
          <p:cNvPr id="89" name="Non medical question">
            <a:hlinkClick r:id="" action="ppaction://noaction"/>
            <a:extLst>
              <a:ext uri="{FF2B5EF4-FFF2-40B4-BE49-F238E27FC236}">
                <a16:creationId xmlns:a16="http://schemas.microsoft.com/office/drawing/2014/main" id="{D4D5E43F-28B0-DB45-A906-9D35D53226F0}"/>
              </a:ext>
            </a:extLst>
          </p:cNvPr>
          <p:cNvSpPr/>
          <p:nvPr/>
        </p:nvSpPr>
        <p:spPr>
          <a:xfrm>
            <a:off x="8441546" y="3925690"/>
            <a:ext cx="2743200"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Non-medication options?</a:t>
            </a:r>
          </a:p>
        </p:txBody>
      </p:sp>
      <p:pic>
        <p:nvPicPr>
          <p:cNvPr id="90" name="Non medical arrow" descr="Cursor with solid fill">
            <a:extLst>
              <a:ext uri="{FF2B5EF4-FFF2-40B4-BE49-F238E27FC236}">
                <a16:creationId xmlns:a16="http://schemas.microsoft.com/office/drawing/2014/main" id="{7F404639-0B50-9944-8F1F-71D1E5D1CE17}"/>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45314" y="4162227"/>
            <a:ext cx="274320" cy="274320"/>
          </a:xfrm>
          <a:prstGeom prst="rect">
            <a:avLst/>
          </a:prstGeom>
        </p:spPr>
      </p:pic>
      <p:grpSp>
        <p:nvGrpSpPr>
          <p:cNvPr id="7" name="Non medical answer">
            <a:extLst>
              <a:ext uri="{FF2B5EF4-FFF2-40B4-BE49-F238E27FC236}">
                <a16:creationId xmlns:a16="http://schemas.microsoft.com/office/drawing/2014/main" id="{D3100A8D-3226-B844-ACC2-36CB8A3D728A}"/>
              </a:ext>
            </a:extLst>
          </p:cNvPr>
          <p:cNvGrpSpPr/>
          <p:nvPr/>
        </p:nvGrpSpPr>
        <p:grpSpPr>
          <a:xfrm>
            <a:off x="8393648" y="4346701"/>
            <a:ext cx="2898905" cy="2117073"/>
            <a:chOff x="7940443" y="4125323"/>
            <a:chExt cx="2898905" cy="2117073"/>
          </a:xfrm>
        </p:grpSpPr>
        <p:sp>
          <p:nvSpPr>
            <p:cNvPr id="91" name="TextBox 90">
              <a:extLst>
                <a:ext uri="{FF2B5EF4-FFF2-40B4-BE49-F238E27FC236}">
                  <a16:creationId xmlns:a16="http://schemas.microsoft.com/office/drawing/2014/main" id="{5F5ED3F9-5791-E140-9446-1B232B4A70E1}"/>
                </a:ext>
              </a:extLst>
            </p:cNvPr>
            <p:cNvSpPr txBox="1"/>
            <p:nvPr/>
          </p:nvSpPr>
          <p:spPr>
            <a:xfrm>
              <a:off x="7940443" y="4125323"/>
              <a:ext cx="2898905" cy="646331"/>
            </a:xfrm>
            <a:prstGeom prst="rect">
              <a:avLst/>
            </a:prstGeom>
            <a:noFill/>
          </p:spPr>
          <p:txBody>
            <a:bodyPr wrap="square" rtlCol="0">
              <a:spAutoFit/>
            </a:bodyPr>
            <a:lstStyle/>
            <a:p>
              <a:pPr algn="ctr"/>
              <a:r>
                <a:rPr lang="en-US" dirty="0"/>
                <a:t>Percutaneous LAA occlusion</a:t>
              </a:r>
            </a:p>
            <a:p>
              <a:pPr algn="ctr"/>
              <a:r>
                <a:rPr lang="en-US" dirty="0"/>
                <a:t>Surgical LAA ligation</a:t>
              </a:r>
            </a:p>
          </p:txBody>
        </p:sp>
        <p:pic>
          <p:nvPicPr>
            <p:cNvPr id="1028" name="Picture 4" descr="WATCHMAN procedure steps illustration">
              <a:extLst>
                <a:ext uri="{FF2B5EF4-FFF2-40B4-BE49-F238E27FC236}">
                  <a16:creationId xmlns:a16="http://schemas.microsoft.com/office/drawing/2014/main" id="{ABE68EE4-9B47-1846-9F1C-D3D3FAAED22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0789" b="19632"/>
            <a:stretch/>
          </p:blipFill>
          <p:spPr bwMode="auto">
            <a:xfrm>
              <a:off x="8736491" y="4765828"/>
              <a:ext cx="1529720" cy="1476568"/>
            </a:xfrm>
            <a:prstGeom prst="rect">
              <a:avLst/>
            </a:prstGeom>
            <a:noFill/>
            <a:extLst>
              <a:ext uri="{909E8E84-426E-40DD-AFC4-6F175D3DCCD1}">
                <a14:hiddenFill xmlns:a14="http://schemas.microsoft.com/office/drawing/2010/main">
                  <a:solidFill>
                    <a:srgbClr val="FFFFFF"/>
                  </a:solidFill>
                </a14:hiddenFill>
              </a:ext>
            </a:extLst>
          </p:spPr>
        </p:pic>
      </p:grpSp>
      <p:sp>
        <p:nvSpPr>
          <p:cNvPr id="26" name="LO1: Stroke Prev">
            <a:hlinkClick r:id="rId6" action="ppaction://hlinksldjump"/>
            <a:extLst>
              <a:ext uri="{FF2B5EF4-FFF2-40B4-BE49-F238E27FC236}">
                <a16:creationId xmlns:a16="http://schemas.microsoft.com/office/drawing/2014/main" id="{5E834BE0-7FAE-60B7-CA81-7919AFB844EB}"/>
              </a:ext>
            </a:extLst>
          </p:cNvPr>
          <p:cNvSpPr/>
          <p:nvPr/>
        </p:nvSpPr>
        <p:spPr>
          <a:xfrm>
            <a:off x="167951" y="148589"/>
            <a:ext cx="1875163"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Stroke Prevention</a:t>
            </a:r>
          </a:p>
        </p:txBody>
      </p:sp>
      <p:sp>
        <p:nvSpPr>
          <p:cNvPr id="27" name="LO2: Rhythm Control">
            <a:hlinkClick r:id="rId7" action="ppaction://hlinksldjump"/>
            <a:extLst>
              <a:ext uri="{FF2B5EF4-FFF2-40B4-BE49-F238E27FC236}">
                <a16:creationId xmlns:a16="http://schemas.microsoft.com/office/drawing/2014/main" id="{A27BDEEC-A70B-FC71-816F-B0488F1DD57E}"/>
              </a:ext>
            </a:extLst>
          </p:cNvPr>
          <p:cNvSpPr/>
          <p:nvPr/>
        </p:nvSpPr>
        <p:spPr>
          <a:xfrm>
            <a:off x="167950" y="2197293"/>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Rate Control</a:t>
            </a:r>
          </a:p>
        </p:txBody>
      </p:sp>
      <p:pic>
        <p:nvPicPr>
          <p:cNvPr id="28" name="Sidebar arrow 2" descr="Cursor with solid fill">
            <a:extLst>
              <a:ext uri="{FF2B5EF4-FFF2-40B4-BE49-F238E27FC236}">
                <a16:creationId xmlns:a16="http://schemas.microsoft.com/office/drawing/2014/main" id="{324781F5-8D15-D8E0-B0AB-6732A83AD66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31292" y="2432899"/>
            <a:ext cx="270672" cy="270672"/>
          </a:xfrm>
          <a:prstGeom prst="rect">
            <a:avLst/>
          </a:prstGeom>
        </p:spPr>
      </p:pic>
      <p:sp>
        <p:nvSpPr>
          <p:cNvPr id="29" name="LO3: Rate Control">
            <a:hlinkClick r:id="rId8" action="ppaction://hlinksldjump"/>
            <a:extLst>
              <a:ext uri="{FF2B5EF4-FFF2-40B4-BE49-F238E27FC236}">
                <a16:creationId xmlns:a16="http://schemas.microsoft.com/office/drawing/2014/main" id="{8C989024-F4E3-B158-F6C6-1CDB6E78A56D}"/>
              </a:ext>
            </a:extLst>
          </p:cNvPr>
          <p:cNvSpPr/>
          <p:nvPr/>
        </p:nvSpPr>
        <p:spPr>
          <a:xfrm>
            <a:off x="167950" y="2709469"/>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Rhythm Control</a:t>
            </a:r>
          </a:p>
        </p:txBody>
      </p:sp>
      <p:pic>
        <p:nvPicPr>
          <p:cNvPr id="30" name="Sidebar arrow 3" descr="Cursor with solid fill">
            <a:extLst>
              <a:ext uri="{FF2B5EF4-FFF2-40B4-BE49-F238E27FC236}">
                <a16:creationId xmlns:a16="http://schemas.microsoft.com/office/drawing/2014/main" id="{D64343D3-654A-CFD9-A284-D5F15EE259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31292" y="2945762"/>
            <a:ext cx="270672" cy="270672"/>
          </a:xfrm>
          <a:prstGeom prst="rect">
            <a:avLst/>
          </a:prstGeom>
        </p:spPr>
      </p:pic>
      <p:sp>
        <p:nvSpPr>
          <p:cNvPr id="31" name="Cases">
            <a:hlinkClick r:id="rId9" action="ppaction://hlinksldjump"/>
            <a:extLst>
              <a:ext uri="{FF2B5EF4-FFF2-40B4-BE49-F238E27FC236}">
                <a16:creationId xmlns:a16="http://schemas.microsoft.com/office/drawing/2014/main" id="{772C0A57-4421-CA13-7715-D11BE8CF74BC}"/>
              </a:ext>
            </a:extLst>
          </p:cNvPr>
          <p:cNvSpPr/>
          <p:nvPr/>
        </p:nvSpPr>
        <p:spPr>
          <a:xfrm>
            <a:off x="167950" y="3221645"/>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32" name="Sidebar arrow 4" descr="Cursor with solid fill">
            <a:extLst>
              <a:ext uri="{FF2B5EF4-FFF2-40B4-BE49-F238E27FC236}">
                <a16:creationId xmlns:a16="http://schemas.microsoft.com/office/drawing/2014/main" id="{1CA02CF5-28C9-FEA8-2B38-CC65256FD1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31292" y="3454288"/>
            <a:ext cx="270672" cy="270672"/>
          </a:xfrm>
          <a:prstGeom prst="rect">
            <a:avLst/>
          </a:prstGeom>
        </p:spPr>
      </p:pic>
      <p:sp>
        <p:nvSpPr>
          <p:cNvPr id="33" name="1.1 Risk Assessment">
            <a:hlinkClick r:id="rId6" action="ppaction://hlinksldjump"/>
            <a:extLst>
              <a:ext uri="{FF2B5EF4-FFF2-40B4-BE49-F238E27FC236}">
                <a16:creationId xmlns:a16="http://schemas.microsoft.com/office/drawing/2014/main" id="{83C07219-3E0A-1523-9936-D278C1925221}"/>
              </a:ext>
            </a:extLst>
          </p:cNvPr>
          <p:cNvSpPr/>
          <p:nvPr/>
        </p:nvSpPr>
        <p:spPr>
          <a:xfrm>
            <a:off x="488161" y="660765"/>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Risk Assessment</a:t>
            </a:r>
          </a:p>
        </p:txBody>
      </p:sp>
      <p:pic>
        <p:nvPicPr>
          <p:cNvPr id="34" name="Sidebar arrow 1.1" descr="Cursor with solid fill">
            <a:extLst>
              <a:ext uri="{FF2B5EF4-FFF2-40B4-BE49-F238E27FC236}">
                <a16:creationId xmlns:a16="http://schemas.microsoft.com/office/drawing/2014/main" id="{09480D28-5BE6-279C-E6B6-09B8D3D8E0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27118" y="902679"/>
            <a:ext cx="270672" cy="270672"/>
          </a:xfrm>
          <a:prstGeom prst="rect">
            <a:avLst/>
          </a:prstGeom>
        </p:spPr>
      </p:pic>
      <p:sp>
        <p:nvSpPr>
          <p:cNvPr id="35" name="1.2 Therapies">
            <a:hlinkClick r:id="rId10" action="ppaction://hlinksldjump"/>
            <a:extLst>
              <a:ext uri="{FF2B5EF4-FFF2-40B4-BE49-F238E27FC236}">
                <a16:creationId xmlns:a16="http://schemas.microsoft.com/office/drawing/2014/main" id="{4149D0BB-A82D-4E59-0841-603EAF62C877}"/>
              </a:ext>
            </a:extLst>
          </p:cNvPr>
          <p:cNvSpPr/>
          <p:nvPr/>
        </p:nvSpPr>
        <p:spPr>
          <a:xfrm>
            <a:off x="488161" y="1172941"/>
            <a:ext cx="1875163"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Therapies</a:t>
            </a:r>
          </a:p>
        </p:txBody>
      </p:sp>
      <p:sp>
        <p:nvSpPr>
          <p:cNvPr id="37" name="1.3 Clinical Scenarios">
            <a:hlinkClick r:id="rId11" action="ppaction://hlinksldjump"/>
            <a:extLst>
              <a:ext uri="{FF2B5EF4-FFF2-40B4-BE49-F238E27FC236}">
                <a16:creationId xmlns:a16="http://schemas.microsoft.com/office/drawing/2014/main" id="{3420A030-D476-72FC-E044-C7E8770F4269}"/>
              </a:ext>
            </a:extLst>
          </p:cNvPr>
          <p:cNvSpPr/>
          <p:nvPr/>
        </p:nvSpPr>
        <p:spPr>
          <a:xfrm>
            <a:off x="488161" y="1685117"/>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Clinical Scenarios</a:t>
            </a:r>
          </a:p>
        </p:txBody>
      </p:sp>
      <p:pic>
        <p:nvPicPr>
          <p:cNvPr id="38" name="Sidebar arrow 1.1" descr="Cursor with solid fill">
            <a:extLst>
              <a:ext uri="{FF2B5EF4-FFF2-40B4-BE49-F238E27FC236}">
                <a16:creationId xmlns:a16="http://schemas.microsoft.com/office/drawing/2014/main" id="{A8D45612-2CFC-976F-D55C-3749B8D44C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27118" y="1929581"/>
            <a:ext cx="270672" cy="270672"/>
          </a:xfrm>
          <a:prstGeom prst="rect">
            <a:avLst/>
          </a:prstGeom>
        </p:spPr>
      </p:pic>
      <p:grpSp>
        <p:nvGrpSpPr>
          <p:cNvPr id="39" name="Group 38">
            <a:extLst>
              <a:ext uri="{FF2B5EF4-FFF2-40B4-BE49-F238E27FC236}">
                <a16:creationId xmlns:a16="http://schemas.microsoft.com/office/drawing/2014/main" id="{24C29A19-F07D-1FD7-8CDD-2E82E9AC1613}"/>
              </a:ext>
            </a:extLst>
          </p:cNvPr>
          <p:cNvGrpSpPr/>
          <p:nvPr/>
        </p:nvGrpSpPr>
        <p:grpSpPr>
          <a:xfrm>
            <a:off x="300034" y="513607"/>
            <a:ext cx="188128" cy="1355500"/>
            <a:chOff x="300034" y="513607"/>
            <a:chExt cx="188128" cy="1355500"/>
          </a:xfrm>
        </p:grpSpPr>
        <p:cxnSp>
          <p:nvCxnSpPr>
            <p:cNvPr id="40" name="Connector: Elbow 2">
              <a:extLst>
                <a:ext uri="{FF2B5EF4-FFF2-40B4-BE49-F238E27FC236}">
                  <a16:creationId xmlns:a16="http://schemas.microsoft.com/office/drawing/2014/main" id="{45E1F015-86C4-A1B7-8176-3F5BB708AF09}"/>
                </a:ext>
              </a:extLst>
            </p:cNvPr>
            <p:cNvCxnSpPr>
              <a:cxnSpLocks/>
              <a:endCxn id="33" idx="1"/>
            </p:cNvCxnSpPr>
            <p:nvPr/>
          </p:nvCxnSpPr>
          <p:spPr>
            <a:xfrm rot="16200000" flipH="1">
              <a:off x="228524" y="585117"/>
              <a:ext cx="331147" cy="188127"/>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Connector: Elbow 2">
              <a:extLst>
                <a:ext uri="{FF2B5EF4-FFF2-40B4-BE49-F238E27FC236}">
                  <a16:creationId xmlns:a16="http://schemas.microsoft.com/office/drawing/2014/main" id="{546CF7B6-3E82-3EA0-B0F0-C9869ED5B6DA}"/>
                </a:ext>
              </a:extLst>
            </p:cNvPr>
            <p:cNvCxnSpPr>
              <a:cxnSpLocks/>
              <a:endCxn id="35" idx="1"/>
            </p:cNvCxnSpPr>
            <p:nvPr/>
          </p:nvCxnSpPr>
          <p:spPr>
            <a:xfrm rot="16200000" flipH="1">
              <a:off x="109652" y="978421"/>
              <a:ext cx="568895" cy="18812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42" name="Connector: Elbow 2">
              <a:extLst>
                <a:ext uri="{FF2B5EF4-FFF2-40B4-BE49-F238E27FC236}">
                  <a16:creationId xmlns:a16="http://schemas.microsoft.com/office/drawing/2014/main" id="{432EE5F1-3EBD-2A4D-4242-25440460F657}"/>
                </a:ext>
              </a:extLst>
            </p:cNvPr>
            <p:cNvCxnSpPr>
              <a:cxnSpLocks/>
              <a:endCxn id="37" idx="1"/>
            </p:cNvCxnSpPr>
            <p:nvPr/>
          </p:nvCxnSpPr>
          <p:spPr>
            <a:xfrm rot="16200000" flipH="1">
              <a:off x="94343" y="1475289"/>
              <a:ext cx="599510" cy="18812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sp>
        <p:nvSpPr>
          <p:cNvPr id="115" name="Title">
            <a:extLst>
              <a:ext uri="{FF2B5EF4-FFF2-40B4-BE49-F238E27FC236}">
                <a16:creationId xmlns:a16="http://schemas.microsoft.com/office/drawing/2014/main" id="{49F46C48-6060-E32C-5E23-84E2C8641A77}"/>
              </a:ext>
            </a:extLst>
          </p:cNvPr>
          <p:cNvSpPr txBox="1"/>
          <p:nvPr/>
        </p:nvSpPr>
        <p:spPr>
          <a:xfrm>
            <a:off x="2913225" y="53723"/>
            <a:ext cx="7637869" cy="523220"/>
          </a:xfrm>
          <a:prstGeom prst="rect">
            <a:avLst/>
          </a:prstGeom>
          <a:noFill/>
        </p:spPr>
        <p:txBody>
          <a:bodyPr wrap="square" rtlCol="0">
            <a:spAutoFit/>
          </a:bodyPr>
          <a:lstStyle/>
          <a:p>
            <a:pPr algn="ctr"/>
            <a:r>
              <a:rPr lang="en-US" sz="2800" b="1" dirty="0"/>
              <a:t>Stroke Prevention: Therapies</a:t>
            </a:r>
          </a:p>
        </p:txBody>
      </p:sp>
      <p:grpSp>
        <p:nvGrpSpPr>
          <p:cNvPr id="1042" name="Group 1041">
            <a:extLst>
              <a:ext uri="{FF2B5EF4-FFF2-40B4-BE49-F238E27FC236}">
                <a16:creationId xmlns:a16="http://schemas.microsoft.com/office/drawing/2014/main" id="{A0A40B7B-A070-4544-6DB1-BC3BC5BC20EB}"/>
              </a:ext>
            </a:extLst>
          </p:cNvPr>
          <p:cNvGrpSpPr/>
          <p:nvPr/>
        </p:nvGrpSpPr>
        <p:grpSpPr>
          <a:xfrm>
            <a:off x="2871146" y="1078618"/>
            <a:ext cx="3133181" cy="2977793"/>
            <a:chOff x="2871146" y="1078618"/>
            <a:chExt cx="3133181" cy="2977793"/>
          </a:xfrm>
        </p:grpSpPr>
        <p:sp>
          <p:nvSpPr>
            <p:cNvPr id="43" name="TextBox 42">
              <a:extLst>
                <a:ext uri="{FF2B5EF4-FFF2-40B4-BE49-F238E27FC236}">
                  <a16:creationId xmlns:a16="http://schemas.microsoft.com/office/drawing/2014/main" id="{3B14071F-B99D-7014-B8AF-4C23F8F9378B}"/>
                </a:ext>
              </a:extLst>
            </p:cNvPr>
            <p:cNvSpPr txBox="1"/>
            <p:nvPr/>
          </p:nvSpPr>
          <p:spPr>
            <a:xfrm>
              <a:off x="3333084" y="1150317"/>
              <a:ext cx="1307671" cy="307777"/>
            </a:xfrm>
            <a:prstGeom prst="rect">
              <a:avLst/>
            </a:prstGeom>
            <a:noFill/>
          </p:spPr>
          <p:txBody>
            <a:bodyPr wrap="square" rtlCol="0">
              <a:spAutoFit/>
            </a:bodyPr>
            <a:lstStyle/>
            <a:p>
              <a:pPr algn="ctr"/>
              <a:r>
                <a:rPr lang="en-US" sz="1400" dirty="0"/>
                <a:t>CHADS</a:t>
              </a:r>
              <a:r>
                <a:rPr lang="en-US" sz="1400" baseline="-25000" dirty="0"/>
                <a:t>2</a:t>
              </a:r>
              <a:r>
                <a:rPr lang="en-US" sz="1400" dirty="0"/>
                <a:t>-VA</a:t>
              </a:r>
              <a:r>
                <a:rPr lang="en-US" sz="1400" baseline="-25000" dirty="0"/>
                <a:t>2</a:t>
              </a:r>
              <a:r>
                <a:rPr lang="en-US" sz="1400" dirty="0"/>
                <a:t>Sc</a:t>
              </a:r>
            </a:p>
          </p:txBody>
        </p:sp>
        <p:grpSp>
          <p:nvGrpSpPr>
            <p:cNvPr id="61" name="Group 60">
              <a:extLst>
                <a:ext uri="{FF2B5EF4-FFF2-40B4-BE49-F238E27FC236}">
                  <a16:creationId xmlns:a16="http://schemas.microsoft.com/office/drawing/2014/main" id="{4600379B-266C-5FD4-1FFD-85603C6FBB8E}"/>
                </a:ext>
              </a:extLst>
            </p:cNvPr>
            <p:cNvGrpSpPr/>
            <p:nvPr/>
          </p:nvGrpSpPr>
          <p:grpSpPr>
            <a:xfrm>
              <a:off x="3901438" y="1493458"/>
              <a:ext cx="274320" cy="2552015"/>
              <a:chOff x="4252948" y="1772986"/>
              <a:chExt cx="274320" cy="2552015"/>
            </a:xfrm>
          </p:grpSpPr>
          <p:sp>
            <p:nvSpPr>
              <p:cNvPr id="44" name="TextBox 43">
                <a:extLst>
                  <a:ext uri="{FF2B5EF4-FFF2-40B4-BE49-F238E27FC236}">
                    <a16:creationId xmlns:a16="http://schemas.microsoft.com/office/drawing/2014/main" id="{2E5CE1D3-E534-8957-BA16-6DFE9543D7E6}"/>
                  </a:ext>
                </a:extLst>
              </p:cNvPr>
              <p:cNvSpPr txBox="1"/>
              <p:nvPr/>
            </p:nvSpPr>
            <p:spPr>
              <a:xfrm>
                <a:off x="4252948" y="1772986"/>
                <a:ext cx="274320" cy="256032"/>
              </a:xfrm>
              <a:prstGeom prst="rect">
                <a:avLst/>
              </a:prstGeom>
              <a:solidFill>
                <a:srgbClr val="FEF6F0"/>
              </a:solidFill>
            </p:spPr>
            <p:txBody>
              <a:bodyPr wrap="square" rtlCol="0" anchor="ctr">
                <a:spAutoFit/>
              </a:bodyPr>
              <a:lstStyle/>
              <a:p>
                <a:pPr algn="ctr"/>
                <a:r>
                  <a:rPr lang="en-US" sz="1400" dirty="0"/>
                  <a:t>0</a:t>
                </a:r>
              </a:p>
            </p:txBody>
          </p:sp>
          <p:sp>
            <p:nvSpPr>
              <p:cNvPr id="45" name="TextBox 44">
                <a:extLst>
                  <a:ext uri="{FF2B5EF4-FFF2-40B4-BE49-F238E27FC236}">
                    <a16:creationId xmlns:a16="http://schemas.microsoft.com/office/drawing/2014/main" id="{2D136957-478B-ECE0-021A-57925314A3DF}"/>
                  </a:ext>
                </a:extLst>
              </p:cNvPr>
              <p:cNvSpPr txBox="1"/>
              <p:nvPr/>
            </p:nvSpPr>
            <p:spPr>
              <a:xfrm>
                <a:off x="4252948" y="2028095"/>
                <a:ext cx="274320" cy="256032"/>
              </a:xfrm>
              <a:prstGeom prst="rect">
                <a:avLst/>
              </a:prstGeom>
              <a:solidFill>
                <a:schemeClr val="accent2">
                  <a:lumMod val="20000"/>
                  <a:lumOff val="80000"/>
                </a:schemeClr>
              </a:solidFill>
            </p:spPr>
            <p:txBody>
              <a:bodyPr wrap="square" rtlCol="0" anchor="ctr">
                <a:spAutoFit/>
              </a:bodyPr>
              <a:lstStyle/>
              <a:p>
                <a:pPr algn="ctr"/>
                <a:r>
                  <a:rPr lang="en-US" sz="1400" dirty="0"/>
                  <a:t>1</a:t>
                </a:r>
              </a:p>
            </p:txBody>
          </p:sp>
          <p:sp>
            <p:nvSpPr>
              <p:cNvPr id="46" name="TextBox 45">
                <a:extLst>
                  <a:ext uri="{FF2B5EF4-FFF2-40B4-BE49-F238E27FC236}">
                    <a16:creationId xmlns:a16="http://schemas.microsoft.com/office/drawing/2014/main" id="{9BD27749-C1A2-B3B2-3FC4-973484B06116}"/>
                  </a:ext>
                </a:extLst>
              </p:cNvPr>
              <p:cNvSpPr txBox="1"/>
              <p:nvPr/>
            </p:nvSpPr>
            <p:spPr>
              <a:xfrm>
                <a:off x="4252948" y="2283204"/>
                <a:ext cx="274320" cy="256032"/>
              </a:xfrm>
              <a:prstGeom prst="rect">
                <a:avLst/>
              </a:prstGeom>
              <a:solidFill>
                <a:schemeClr val="accent2">
                  <a:lumMod val="40000"/>
                  <a:lumOff val="60000"/>
                </a:schemeClr>
              </a:solidFill>
            </p:spPr>
            <p:txBody>
              <a:bodyPr wrap="square" rtlCol="0" anchor="ctr">
                <a:spAutoFit/>
              </a:bodyPr>
              <a:lstStyle/>
              <a:p>
                <a:pPr algn="ctr"/>
                <a:r>
                  <a:rPr lang="en-US" sz="1400" dirty="0"/>
                  <a:t>2</a:t>
                </a:r>
              </a:p>
            </p:txBody>
          </p:sp>
          <p:sp>
            <p:nvSpPr>
              <p:cNvPr id="48" name="TextBox 47">
                <a:extLst>
                  <a:ext uri="{FF2B5EF4-FFF2-40B4-BE49-F238E27FC236}">
                    <a16:creationId xmlns:a16="http://schemas.microsoft.com/office/drawing/2014/main" id="{A0BA79FC-39BA-6620-8B23-B3A7C3126B6F}"/>
                  </a:ext>
                </a:extLst>
              </p:cNvPr>
              <p:cNvSpPr txBox="1"/>
              <p:nvPr/>
            </p:nvSpPr>
            <p:spPr>
              <a:xfrm>
                <a:off x="4252948" y="2538313"/>
                <a:ext cx="274320" cy="256032"/>
              </a:xfrm>
              <a:prstGeom prst="rect">
                <a:avLst/>
              </a:prstGeom>
              <a:solidFill>
                <a:schemeClr val="accent2">
                  <a:lumMod val="60000"/>
                  <a:lumOff val="40000"/>
                </a:schemeClr>
              </a:solidFill>
            </p:spPr>
            <p:txBody>
              <a:bodyPr wrap="square" rtlCol="0" anchor="ctr">
                <a:spAutoFit/>
              </a:bodyPr>
              <a:lstStyle/>
              <a:p>
                <a:pPr algn="ctr"/>
                <a:r>
                  <a:rPr lang="en-US" sz="1400" dirty="0"/>
                  <a:t>3</a:t>
                </a:r>
              </a:p>
            </p:txBody>
          </p:sp>
          <p:sp>
            <p:nvSpPr>
              <p:cNvPr id="49" name="TextBox 48">
                <a:extLst>
                  <a:ext uri="{FF2B5EF4-FFF2-40B4-BE49-F238E27FC236}">
                    <a16:creationId xmlns:a16="http://schemas.microsoft.com/office/drawing/2014/main" id="{402B4E96-984F-AE05-13BC-A0E1E1BA1DA3}"/>
                  </a:ext>
                </a:extLst>
              </p:cNvPr>
              <p:cNvSpPr txBox="1"/>
              <p:nvPr/>
            </p:nvSpPr>
            <p:spPr>
              <a:xfrm>
                <a:off x="4252948" y="2793422"/>
                <a:ext cx="274320" cy="256032"/>
              </a:xfrm>
              <a:prstGeom prst="rect">
                <a:avLst/>
              </a:prstGeom>
              <a:solidFill>
                <a:srgbClr val="F2A16A"/>
              </a:solidFill>
            </p:spPr>
            <p:txBody>
              <a:bodyPr wrap="square" rtlCol="0" anchor="ctr">
                <a:spAutoFit/>
              </a:bodyPr>
              <a:lstStyle/>
              <a:p>
                <a:pPr algn="ctr"/>
                <a:r>
                  <a:rPr lang="en-US" sz="1400" dirty="0"/>
                  <a:t>4</a:t>
                </a:r>
              </a:p>
            </p:txBody>
          </p:sp>
          <p:sp>
            <p:nvSpPr>
              <p:cNvPr id="53" name="TextBox 52">
                <a:extLst>
                  <a:ext uri="{FF2B5EF4-FFF2-40B4-BE49-F238E27FC236}">
                    <a16:creationId xmlns:a16="http://schemas.microsoft.com/office/drawing/2014/main" id="{C34FA714-D045-48D1-81D9-96C9A3DDEC76}"/>
                  </a:ext>
                </a:extLst>
              </p:cNvPr>
              <p:cNvSpPr txBox="1"/>
              <p:nvPr/>
            </p:nvSpPr>
            <p:spPr>
              <a:xfrm>
                <a:off x="4252948" y="3048531"/>
                <a:ext cx="274320" cy="256032"/>
              </a:xfrm>
              <a:prstGeom prst="rect">
                <a:avLst/>
              </a:prstGeom>
              <a:solidFill>
                <a:schemeClr val="accent2"/>
              </a:solidFill>
            </p:spPr>
            <p:txBody>
              <a:bodyPr wrap="square" rtlCol="0" anchor="ctr">
                <a:spAutoFit/>
              </a:bodyPr>
              <a:lstStyle/>
              <a:p>
                <a:pPr algn="ctr"/>
                <a:r>
                  <a:rPr lang="en-US" sz="1400" dirty="0"/>
                  <a:t>5</a:t>
                </a:r>
              </a:p>
            </p:txBody>
          </p:sp>
          <p:sp>
            <p:nvSpPr>
              <p:cNvPr id="54" name="TextBox 53">
                <a:extLst>
                  <a:ext uri="{FF2B5EF4-FFF2-40B4-BE49-F238E27FC236}">
                    <a16:creationId xmlns:a16="http://schemas.microsoft.com/office/drawing/2014/main" id="{1CA1E0DE-1D06-7126-7E94-B31FDCC4E7F6}"/>
                  </a:ext>
                </a:extLst>
              </p:cNvPr>
              <p:cNvSpPr txBox="1"/>
              <p:nvPr/>
            </p:nvSpPr>
            <p:spPr>
              <a:xfrm>
                <a:off x="4252948" y="3303640"/>
                <a:ext cx="274320" cy="256032"/>
              </a:xfrm>
              <a:prstGeom prst="rect">
                <a:avLst/>
              </a:prstGeom>
              <a:solidFill>
                <a:srgbClr val="DB6413"/>
              </a:solidFill>
            </p:spPr>
            <p:txBody>
              <a:bodyPr wrap="square" rtlCol="0" anchor="ctr">
                <a:spAutoFit/>
              </a:bodyPr>
              <a:lstStyle/>
              <a:p>
                <a:pPr algn="ctr"/>
                <a:r>
                  <a:rPr lang="en-US" sz="1400" dirty="0"/>
                  <a:t>6</a:t>
                </a:r>
              </a:p>
            </p:txBody>
          </p:sp>
          <p:sp>
            <p:nvSpPr>
              <p:cNvPr id="56" name="TextBox 55">
                <a:extLst>
                  <a:ext uri="{FF2B5EF4-FFF2-40B4-BE49-F238E27FC236}">
                    <a16:creationId xmlns:a16="http://schemas.microsoft.com/office/drawing/2014/main" id="{47683275-6971-FA55-5F05-4B5E3BD03E17}"/>
                  </a:ext>
                </a:extLst>
              </p:cNvPr>
              <p:cNvSpPr txBox="1"/>
              <p:nvPr/>
            </p:nvSpPr>
            <p:spPr>
              <a:xfrm>
                <a:off x="4252948" y="3558749"/>
                <a:ext cx="274320" cy="256032"/>
              </a:xfrm>
              <a:prstGeom prst="rect">
                <a:avLst/>
              </a:prstGeom>
              <a:solidFill>
                <a:schemeClr val="accent2">
                  <a:lumMod val="75000"/>
                </a:schemeClr>
              </a:solidFill>
            </p:spPr>
            <p:txBody>
              <a:bodyPr wrap="square" rtlCol="0" anchor="ctr">
                <a:spAutoFit/>
              </a:bodyPr>
              <a:lstStyle/>
              <a:p>
                <a:pPr algn="ctr"/>
                <a:r>
                  <a:rPr lang="en-US" sz="1400" dirty="0">
                    <a:solidFill>
                      <a:schemeClr val="bg1"/>
                    </a:solidFill>
                  </a:rPr>
                  <a:t>7</a:t>
                </a:r>
              </a:p>
            </p:txBody>
          </p:sp>
          <p:sp>
            <p:nvSpPr>
              <p:cNvPr id="57" name="TextBox 56">
                <a:extLst>
                  <a:ext uri="{FF2B5EF4-FFF2-40B4-BE49-F238E27FC236}">
                    <a16:creationId xmlns:a16="http://schemas.microsoft.com/office/drawing/2014/main" id="{DC81D0A8-138A-3EFE-EAF9-1BF1D1860D63}"/>
                  </a:ext>
                </a:extLst>
              </p:cNvPr>
              <p:cNvSpPr txBox="1"/>
              <p:nvPr/>
            </p:nvSpPr>
            <p:spPr>
              <a:xfrm>
                <a:off x="4252948" y="3813858"/>
                <a:ext cx="274320" cy="256032"/>
              </a:xfrm>
              <a:prstGeom prst="rect">
                <a:avLst/>
              </a:prstGeom>
              <a:solidFill>
                <a:srgbClr val="9E480E"/>
              </a:solidFill>
            </p:spPr>
            <p:txBody>
              <a:bodyPr wrap="square" rtlCol="0" anchor="ctr">
                <a:spAutoFit/>
              </a:bodyPr>
              <a:lstStyle/>
              <a:p>
                <a:pPr algn="ctr"/>
                <a:r>
                  <a:rPr lang="en-US" sz="1400" dirty="0">
                    <a:solidFill>
                      <a:schemeClr val="bg1"/>
                    </a:solidFill>
                  </a:rPr>
                  <a:t>8</a:t>
                </a:r>
              </a:p>
            </p:txBody>
          </p:sp>
          <p:sp>
            <p:nvSpPr>
              <p:cNvPr id="60" name="TextBox 59">
                <a:extLst>
                  <a:ext uri="{FF2B5EF4-FFF2-40B4-BE49-F238E27FC236}">
                    <a16:creationId xmlns:a16="http://schemas.microsoft.com/office/drawing/2014/main" id="{E270B58C-493D-8204-56CB-F4E32873351D}"/>
                  </a:ext>
                </a:extLst>
              </p:cNvPr>
              <p:cNvSpPr txBox="1"/>
              <p:nvPr/>
            </p:nvSpPr>
            <p:spPr>
              <a:xfrm>
                <a:off x="4252948" y="4068969"/>
                <a:ext cx="274320" cy="256032"/>
              </a:xfrm>
              <a:prstGeom prst="rect">
                <a:avLst/>
              </a:prstGeom>
              <a:solidFill>
                <a:schemeClr val="accent2">
                  <a:lumMod val="50000"/>
                </a:schemeClr>
              </a:solidFill>
            </p:spPr>
            <p:txBody>
              <a:bodyPr wrap="square" rtlCol="0" anchor="ctr">
                <a:spAutoFit/>
              </a:bodyPr>
              <a:lstStyle/>
              <a:p>
                <a:pPr algn="ctr"/>
                <a:r>
                  <a:rPr lang="en-US" sz="1400" dirty="0">
                    <a:solidFill>
                      <a:schemeClr val="bg1"/>
                    </a:solidFill>
                  </a:rPr>
                  <a:t>9</a:t>
                </a:r>
              </a:p>
            </p:txBody>
          </p:sp>
        </p:grpSp>
        <p:pic>
          <p:nvPicPr>
            <p:cNvPr id="74" name="Graphic 73" descr="Male profile with solid fill">
              <a:extLst>
                <a:ext uri="{FF2B5EF4-FFF2-40B4-BE49-F238E27FC236}">
                  <a16:creationId xmlns:a16="http://schemas.microsoft.com/office/drawing/2014/main" id="{9624FF5F-DB7C-B390-1381-2D427CAB6EF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871146" y="1078618"/>
              <a:ext cx="457200" cy="457200"/>
            </a:xfrm>
            <a:prstGeom prst="rect">
              <a:avLst/>
            </a:prstGeom>
          </p:spPr>
        </p:pic>
        <p:cxnSp>
          <p:nvCxnSpPr>
            <p:cNvPr id="102" name="Straight Arrow Connector 101">
              <a:extLst>
                <a:ext uri="{FF2B5EF4-FFF2-40B4-BE49-F238E27FC236}">
                  <a16:creationId xmlns:a16="http://schemas.microsoft.com/office/drawing/2014/main" id="{2AFAB5D9-898A-6585-7BAD-B6BA59C0D675}"/>
                </a:ext>
              </a:extLst>
            </p:cNvPr>
            <p:cNvCxnSpPr>
              <a:cxnSpLocks/>
            </p:cNvCxnSpPr>
            <p:nvPr/>
          </p:nvCxnSpPr>
          <p:spPr>
            <a:xfrm>
              <a:off x="3085361" y="2014614"/>
              <a:ext cx="0" cy="2041797"/>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cxnSp>
          <p:nvCxnSpPr>
            <p:cNvPr id="110" name="Straight Connector 109">
              <a:extLst>
                <a:ext uri="{FF2B5EF4-FFF2-40B4-BE49-F238E27FC236}">
                  <a16:creationId xmlns:a16="http://schemas.microsoft.com/office/drawing/2014/main" id="{98BF7AE9-9482-6736-6D73-BEADDC0125C3}"/>
                </a:ext>
              </a:extLst>
            </p:cNvPr>
            <p:cNvCxnSpPr/>
            <p:nvPr/>
          </p:nvCxnSpPr>
          <p:spPr>
            <a:xfrm>
              <a:off x="3085361" y="1776872"/>
              <a:ext cx="0" cy="218287"/>
            </a:xfrm>
            <a:prstGeom prst="line">
              <a:avLst/>
            </a:prstGeom>
            <a:ln w="76200">
              <a:solidFill>
                <a:schemeClr val="bg2">
                  <a:lumMod val="9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024" name="Group 1023">
              <a:extLst>
                <a:ext uri="{FF2B5EF4-FFF2-40B4-BE49-F238E27FC236}">
                  <a16:creationId xmlns:a16="http://schemas.microsoft.com/office/drawing/2014/main" id="{6CF8C49C-4597-EECE-AD6E-FA013340175F}"/>
                </a:ext>
              </a:extLst>
            </p:cNvPr>
            <p:cNvGrpSpPr/>
            <p:nvPr/>
          </p:nvGrpSpPr>
          <p:grpSpPr>
            <a:xfrm>
              <a:off x="5547127" y="1078618"/>
              <a:ext cx="457200" cy="2942555"/>
              <a:chOff x="5267519" y="1079664"/>
              <a:chExt cx="457200" cy="2942555"/>
            </a:xfrm>
          </p:grpSpPr>
          <p:pic>
            <p:nvPicPr>
              <p:cNvPr id="82" name="Graphic 81" descr="Female Profile with solid fill">
                <a:extLst>
                  <a:ext uri="{FF2B5EF4-FFF2-40B4-BE49-F238E27FC236}">
                    <a16:creationId xmlns:a16="http://schemas.microsoft.com/office/drawing/2014/main" id="{57A41720-07D1-DA2C-5190-5E09A0FDF08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267519" y="1079664"/>
                <a:ext cx="457200" cy="457200"/>
              </a:xfrm>
              <a:prstGeom prst="rect">
                <a:avLst/>
              </a:prstGeom>
            </p:spPr>
          </p:pic>
          <p:cxnSp>
            <p:nvCxnSpPr>
              <p:cNvPr id="105" name="Straight Arrow Connector 104">
                <a:extLst>
                  <a:ext uri="{FF2B5EF4-FFF2-40B4-BE49-F238E27FC236}">
                    <a16:creationId xmlns:a16="http://schemas.microsoft.com/office/drawing/2014/main" id="{C1D0A0C0-F4B6-FA20-029F-A1395D16A4C8}"/>
                  </a:ext>
                </a:extLst>
              </p:cNvPr>
              <p:cNvCxnSpPr>
                <a:cxnSpLocks/>
              </p:cNvCxnSpPr>
              <p:nvPr/>
            </p:nvCxnSpPr>
            <p:spPr>
              <a:xfrm>
                <a:off x="5496119" y="2251668"/>
                <a:ext cx="0" cy="1770551"/>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cxnSp>
            <p:nvCxnSpPr>
              <p:cNvPr id="111" name="Straight Connector 110">
                <a:extLst>
                  <a:ext uri="{FF2B5EF4-FFF2-40B4-BE49-F238E27FC236}">
                    <a16:creationId xmlns:a16="http://schemas.microsoft.com/office/drawing/2014/main" id="{274BBE09-DF4B-8E9F-EE03-FD8A7D46F53D}"/>
                  </a:ext>
                </a:extLst>
              </p:cNvPr>
              <p:cNvCxnSpPr/>
              <p:nvPr/>
            </p:nvCxnSpPr>
            <p:spPr>
              <a:xfrm>
                <a:off x="5496119" y="2015431"/>
                <a:ext cx="0" cy="218287"/>
              </a:xfrm>
              <a:prstGeom prst="line">
                <a:avLst/>
              </a:prstGeom>
              <a:ln w="76200">
                <a:solidFill>
                  <a:schemeClr val="bg2">
                    <a:lumMod val="9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17" name="Group 116">
              <a:extLst>
                <a:ext uri="{FF2B5EF4-FFF2-40B4-BE49-F238E27FC236}">
                  <a16:creationId xmlns:a16="http://schemas.microsoft.com/office/drawing/2014/main" id="{6BADE15F-47CC-EC96-20CB-689A47F3B118}"/>
                </a:ext>
              </a:extLst>
            </p:cNvPr>
            <p:cNvGrpSpPr/>
            <p:nvPr/>
          </p:nvGrpSpPr>
          <p:grpSpPr>
            <a:xfrm>
              <a:off x="4652714" y="1500473"/>
              <a:ext cx="584413" cy="2553576"/>
              <a:chOff x="4183803" y="1766109"/>
              <a:chExt cx="350648" cy="2553576"/>
            </a:xfrm>
          </p:grpSpPr>
          <p:sp>
            <p:nvSpPr>
              <p:cNvPr id="118" name="TextBox 117">
                <a:extLst>
                  <a:ext uri="{FF2B5EF4-FFF2-40B4-BE49-F238E27FC236}">
                    <a16:creationId xmlns:a16="http://schemas.microsoft.com/office/drawing/2014/main" id="{4F34DF5E-5E83-FF5C-8046-F1766B695C35}"/>
                  </a:ext>
                </a:extLst>
              </p:cNvPr>
              <p:cNvSpPr txBox="1"/>
              <p:nvPr/>
            </p:nvSpPr>
            <p:spPr>
              <a:xfrm>
                <a:off x="4183808" y="1766109"/>
                <a:ext cx="350643" cy="274320"/>
              </a:xfrm>
              <a:prstGeom prst="rect">
                <a:avLst/>
              </a:prstGeom>
              <a:solidFill>
                <a:srgbClr val="FEF6F0"/>
              </a:solidFill>
            </p:spPr>
            <p:txBody>
              <a:bodyPr wrap="square" rtlCol="0" anchor="ctr">
                <a:spAutoFit/>
              </a:bodyPr>
              <a:lstStyle/>
              <a:p>
                <a:pPr algn="ctr"/>
                <a:r>
                  <a:rPr lang="en-US" sz="1400" dirty="0"/>
                  <a:t>0.2%</a:t>
                </a:r>
              </a:p>
            </p:txBody>
          </p:sp>
          <p:sp>
            <p:nvSpPr>
              <p:cNvPr id="119" name="TextBox 118">
                <a:extLst>
                  <a:ext uri="{FF2B5EF4-FFF2-40B4-BE49-F238E27FC236}">
                    <a16:creationId xmlns:a16="http://schemas.microsoft.com/office/drawing/2014/main" id="{AF16D399-E772-BD6E-7603-57B87BFE4727}"/>
                  </a:ext>
                </a:extLst>
              </p:cNvPr>
              <p:cNvSpPr txBox="1"/>
              <p:nvPr/>
            </p:nvSpPr>
            <p:spPr>
              <a:xfrm>
                <a:off x="4186842" y="2021219"/>
                <a:ext cx="347609" cy="274320"/>
              </a:xfrm>
              <a:prstGeom prst="rect">
                <a:avLst/>
              </a:prstGeom>
              <a:solidFill>
                <a:schemeClr val="accent2">
                  <a:lumMod val="20000"/>
                  <a:lumOff val="80000"/>
                </a:schemeClr>
              </a:solidFill>
            </p:spPr>
            <p:txBody>
              <a:bodyPr wrap="square" rtlCol="0" anchor="ctr">
                <a:spAutoFit/>
              </a:bodyPr>
              <a:lstStyle/>
              <a:p>
                <a:pPr algn="ctr"/>
                <a:r>
                  <a:rPr lang="en-US" sz="1400" dirty="0"/>
                  <a:t>0.6%</a:t>
                </a:r>
              </a:p>
            </p:txBody>
          </p:sp>
          <p:sp>
            <p:nvSpPr>
              <p:cNvPr id="120" name="TextBox 119">
                <a:extLst>
                  <a:ext uri="{FF2B5EF4-FFF2-40B4-BE49-F238E27FC236}">
                    <a16:creationId xmlns:a16="http://schemas.microsoft.com/office/drawing/2014/main" id="{6971C9C3-D367-4FC2-FC6B-C884C558833E}"/>
                  </a:ext>
                </a:extLst>
              </p:cNvPr>
              <p:cNvSpPr txBox="1"/>
              <p:nvPr/>
            </p:nvSpPr>
            <p:spPr>
              <a:xfrm>
                <a:off x="4183808" y="2276327"/>
                <a:ext cx="350643" cy="274320"/>
              </a:xfrm>
              <a:prstGeom prst="rect">
                <a:avLst/>
              </a:prstGeom>
              <a:solidFill>
                <a:schemeClr val="accent2">
                  <a:lumMod val="40000"/>
                  <a:lumOff val="60000"/>
                </a:schemeClr>
              </a:solidFill>
            </p:spPr>
            <p:txBody>
              <a:bodyPr wrap="square" rtlCol="0" anchor="ctr">
                <a:spAutoFit/>
              </a:bodyPr>
              <a:lstStyle/>
              <a:p>
                <a:pPr algn="ctr"/>
                <a:r>
                  <a:rPr lang="en-US" sz="1400" dirty="0"/>
                  <a:t>2.2%</a:t>
                </a:r>
              </a:p>
            </p:txBody>
          </p:sp>
          <p:sp>
            <p:nvSpPr>
              <p:cNvPr id="121" name="TextBox 120">
                <a:extLst>
                  <a:ext uri="{FF2B5EF4-FFF2-40B4-BE49-F238E27FC236}">
                    <a16:creationId xmlns:a16="http://schemas.microsoft.com/office/drawing/2014/main" id="{5135F773-C883-23BA-9A3F-1D80DF1D0C3E}"/>
                  </a:ext>
                </a:extLst>
              </p:cNvPr>
              <p:cNvSpPr txBox="1"/>
              <p:nvPr/>
            </p:nvSpPr>
            <p:spPr>
              <a:xfrm>
                <a:off x="4183803" y="2531436"/>
                <a:ext cx="350643" cy="274320"/>
              </a:xfrm>
              <a:prstGeom prst="rect">
                <a:avLst/>
              </a:prstGeom>
              <a:solidFill>
                <a:schemeClr val="accent2">
                  <a:lumMod val="60000"/>
                  <a:lumOff val="40000"/>
                </a:schemeClr>
              </a:solidFill>
            </p:spPr>
            <p:txBody>
              <a:bodyPr wrap="square" rtlCol="0" anchor="ctr">
                <a:spAutoFit/>
              </a:bodyPr>
              <a:lstStyle/>
              <a:p>
                <a:pPr algn="ctr"/>
                <a:r>
                  <a:rPr lang="en-US" sz="1400" dirty="0"/>
                  <a:t>3.2%</a:t>
                </a:r>
              </a:p>
            </p:txBody>
          </p:sp>
          <p:sp>
            <p:nvSpPr>
              <p:cNvPr id="122" name="TextBox 121">
                <a:extLst>
                  <a:ext uri="{FF2B5EF4-FFF2-40B4-BE49-F238E27FC236}">
                    <a16:creationId xmlns:a16="http://schemas.microsoft.com/office/drawing/2014/main" id="{44090104-1B9E-B760-F3F8-958D496BF7D6}"/>
                  </a:ext>
                </a:extLst>
              </p:cNvPr>
              <p:cNvSpPr txBox="1"/>
              <p:nvPr/>
            </p:nvSpPr>
            <p:spPr>
              <a:xfrm>
                <a:off x="4183805" y="2769818"/>
                <a:ext cx="350643" cy="274320"/>
              </a:xfrm>
              <a:prstGeom prst="rect">
                <a:avLst/>
              </a:prstGeom>
              <a:solidFill>
                <a:srgbClr val="F2A16A"/>
              </a:solidFill>
            </p:spPr>
            <p:txBody>
              <a:bodyPr wrap="square" rtlCol="0" anchor="ctr">
                <a:spAutoFit/>
              </a:bodyPr>
              <a:lstStyle/>
              <a:p>
                <a:pPr algn="ctr"/>
                <a:r>
                  <a:rPr lang="en-US" sz="1400" dirty="0"/>
                  <a:t>4.8%</a:t>
                </a:r>
              </a:p>
            </p:txBody>
          </p:sp>
          <p:sp>
            <p:nvSpPr>
              <p:cNvPr id="123" name="TextBox 122">
                <a:extLst>
                  <a:ext uri="{FF2B5EF4-FFF2-40B4-BE49-F238E27FC236}">
                    <a16:creationId xmlns:a16="http://schemas.microsoft.com/office/drawing/2014/main" id="{90F3FF81-779F-F1E9-1BBB-1C2E717A7EBB}"/>
                  </a:ext>
                </a:extLst>
              </p:cNvPr>
              <p:cNvSpPr txBox="1"/>
              <p:nvPr/>
            </p:nvSpPr>
            <p:spPr>
              <a:xfrm>
                <a:off x="4183808" y="3024927"/>
                <a:ext cx="350643" cy="274320"/>
              </a:xfrm>
              <a:prstGeom prst="rect">
                <a:avLst/>
              </a:prstGeom>
              <a:solidFill>
                <a:schemeClr val="accent2"/>
              </a:solidFill>
            </p:spPr>
            <p:txBody>
              <a:bodyPr wrap="square" rtlCol="0" anchor="ctr">
                <a:spAutoFit/>
              </a:bodyPr>
              <a:lstStyle/>
              <a:p>
                <a:pPr algn="ctr"/>
                <a:r>
                  <a:rPr lang="en-US" sz="1400" dirty="0"/>
                  <a:t>7.2%</a:t>
                </a:r>
              </a:p>
            </p:txBody>
          </p:sp>
          <p:sp>
            <p:nvSpPr>
              <p:cNvPr id="124" name="TextBox 123">
                <a:extLst>
                  <a:ext uri="{FF2B5EF4-FFF2-40B4-BE49-F238E27FC236}">
                    <a16:creationId xmlns:a16="http://schemas.microsoft.com/office/drawing/2014/main" id="{0D769763-FC10-D5CC-B0D7-1316F6401E1F}"/>
                  </a:ext>
                </a:extLst>
              </p:cNvPr>
              <p:cNvSpPr txBox="1"/>
              <p:nvPr/>
            </p:nvSpPr>
            <p:spPr>
              <a:xfrm>
                <a:off x="4183808" y="3280036"/>
                <a:ext cx="350643" cy="274320"/>
              </a:xfrm>
              <a:prstGeom prst="rect">
                <a:avLst/>
              </a:prstGeom>
              <a:solidFill>
                <a:srgbClr val="DB6413"/>
              </a:solidFill>
            </p:spPr>
            <p:txBody>
              <a:bodyPr wrap="square" rtlCol="0" anchor="ctr">
                <a:spAutoFit/>
              </a:bodyPr>
              <a:lstStyle/>
              <a:p>
                <a:pPr algn="ctr"/>
                <a:r>
                  <a:rPr lang="en-US" sz="1400" dirty="0"/>
                  <a:t>9.7%</a:t>
                </a:r>
              </a:p>
            </p:txBody>
          </p:sp>
          <p:sp>
            <p:nvSpPr>
              <p:cNvPr id="125" name="TextBox 124">
                <a:extLst>
                  <a:ext uri="{FF2B5EF4-FFF2-40B4-BE49-F238E27FC236}">
                    <a16:creationId xmlns:a16="http://schemas.microsoft.com/office/drawing/2014/main" id="{A0577B90-5F8F-176D-158D-4313AA46D8C4}"/>
                  </a:ext>
                </a:extLst>
              </p:cNvPr>
              <p:cNvSpPr txBox="1"/>
              <p:nvPr/>
            </p:nvSpPr>
            <p:spPr>
              <a:xfrm>
                <a:off x="4183808" y="3535145"/>
                <a:ext cx="350643" cy="274320"/>
              </a:xfrm>
              <a:prstGeom prst="rect">
                <a:avLst/>
              </a:prstGeom>
              <a:solidFill>
                <a:schemeClr val="accent2">
                  <a:lumMod val="75000"/>
                </a:schemeClr>
              </a:solidFill>
            </p:spPr>
            <p:txBody>
              <a:bodyPr wrap="square" rtlCol="0" anchor="ctr">
                <a:spAutoFit/>
              </a:bodyPr>
              <a:lstStyle/>
              <a:p>
                <a:pPr algn="ctr"/>
                <a:r>
                  <a:rPr lang="en-US" sz="1400" dirty="0">
                    <a:solidFill>
                      <a:schemeClr val="bg1"/>
                    </a:solidFill>
                  </a:rPr>
                  <a:t>11%</a:t>
                </a:r>
              </a:p>
            </p:txBody>
          </p:sp>
          <p:sp>
            <p:nvSpPr>
              <p:cNvPr id="126" name="TextBox 125">
                <a:extLst>
                  <a:ext uri="{FF2B5EF4-FFF2-40B4-BE49-F238E27FC236}">
                    <a16:creationId xmlns:a16="http://schemas.microsoft.com/office/drawing/2014/main" id="{06AF1842-9E04-DBEE-5EE0-11D81BF250E3}"/>
                  </a:ext>
                </a:extLst>
              </p:cNvPr>
              <p:cNvSpPr txBox="1"/>
              <p:nvPr/>
            </p:nvSpPr>
            <p:spPr>
              <a:xfrm>
                <a:off x="4183808" y="3790254"/>
                <a:ext cx="350643" cy="274320"/>
              </a:xfrm>
              <a:prstGeom prst="rect">
                <a:avLst/>
              </a:prstGeom>
              <a:solidFill>
                <a:srgbClr val="9E480E"/>
              </a:solidFill>
            </p:spPr>
            <p:txBody>
              <a:bodyPr wrap="square" rtlCol="0" anchor="ctr">
                <a:spAutoFit/>
              </a:bodyPr>
              <a:lstStyle/>
              <a:p>
                <a:pPr algn="ctr"/>
                <a:r>
                  <a:rPr lang="en-US" sz="1400" dirty="0">
                    <a:solidFill>
                      <a:schemeClr val="bg1"/>
                    </a:solidFill>
                  </a:rPr>
                  <a:t>11%</a:t>
                </a:r>
              </a:p>
            </p:txBody>
          </p:sp>
          <p:sp>
            <p:nvSpPr>
              <p:cNvPr id="127" name="TextBox 126">
                <a:extLst>
                  <a:ext uri="{FF2B5EF4-FFF2-40B4-BE49-F238E27FC236}">
                    <a16:creationId xmlns:a16="http://schemas.microsoft.com/office/drawing/2014/main" id="{AD314B58-1E48-6FC0-1341-B80BF4A113AE}"/>
                  </a:ext>
                </a:extLst>
              </p:cNvPr>
              <p:cNvSpPr txBox="1"/>
              <p:nvPr/>
            </p:nvSpPr>
            <p:spPr>
              <a:xfrm>
                <a:off x="4183808" y="4045365"/>
                <a:ext cx="350643" cy="274320"/>
              </a:xfrm>
              <a:prstGeom prst="rect">
                <a:avLst/>
              </a:prstGeom>
              <a:solidFill>
                <a:schemeClr val="accent2">
                  <a:lumMod val="50000"/>
                </a:schemeClr>
              </a:solidFill>
            </p:spPr>
            <p:txBody>
              <a:bodyPr wrap="square" rtlCol="0" anchor="ctr">
                <a:spAutoFit/>
              </a:bodyPr>
              <a:lstStyle/>
              <a:p>
                <a:pPr algn="ctr"/>
                <a:r>
                  <a:rPr lang="en-US" sz="1400" dirty="0">
                    <a:solidFill>
                      <a:schemeClr val="bg1"/>
                    </a:solidFill>
                  </a:rPr>
                  <a:t>12%</a:t>
                </a:r>
              </a:p>
            </p:txBody>
          </p:sp>
        </p:grpSp>
        <p:sp>
          <p:nvSpPr>
            <p:cNvPr id="1025" name="TextBox 1024">
              <a:extLst>
                <a:ext uri="{FF2B5EF4-FFF2-40B4-BE49-F238E27FC236}">
                  <a16:creationId xmlns:a16="http://schemas.microsoft.com/office/drawing/2014/main" id="{4C144F90-F0EA-1395-2DC1-0F2936CAC0FE}"/>
                </a:ext>
              </a:extLst>
            </p:cNvPr>
            <p:cNvSpPr txBox="1"/>
            <p:nvPr/>
          </p:nvSpPr>
          <p:spPr>
            <a:xfrm>
              <a:off x="4442861" y="1148650"/>
              <a:ext cx="1194638" cy="307777"/>
            </a:xfrm>
            <a:prstGeom prst="rect">
              <a:avLst/>
            </a:prstGeom>
            <a:noFill/>
          </p:spPr>
          <p:txBody>
            <a:bodyPr wrap="square" rtlCol="0">
              <a:spAutoFit/>
            </a:bodyPr>
            <a:lstStyle/>
            <a:p>
              <a:pPr algn="ctr"/>
              <a:r>
                <a:rPr lang="en-US" sz="1400" dirty="0"/>
                <a:t>Stroke risk/y</a:t>
              </a:r>
            </a:p>
          </p:txBody>
        </p:sp>
      </p:grpSp>
      <p:sp>
        <p:nvSpPr>
          <p:cNvPr id="4" name="Multiplication Sign 3">
            <a:extLst>
              <a:ext uri="{FF2B5EF4-FFF2-40B4-BE49-F238E27FC236}">
                <a16:creationId xmlns:a16="http://schemas.microsoft.com/office/drawing/2014/main" id="{0A2E0762-42DB-1DF8-1B97-BB597A4BC9E7}"/>
              </a:ext>
            </a:extLst>
          </p:cNvPr>
          <p:cNvSpPr/>
          <p:nvPr/>
        </p:nvSpPr>
        <p:spPr>
          <a:xfrm>
            <a:off x="5655914" y="1724050"/>
            <a:ext cx="241124" cy="266035"/>
          </a:xfrm>
          <a:prstGeom prst="mathMultiply">
            <a:avLst>
              <a:gd name="adj1" fmla="val 14738"/>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ultiplication Sign 4">
            <a:extLst>
              <a:ext uri="{FF2B5EF4-FFF2-40B4-BE49-F238E27FC236}">
                <a16:creationId xmlns:a16="http://schemas.microsoft.com/office/drawing/2014/main" id="{2EAB4836-2246-338F-EC3C-0186DA37B81A}"/>
              </a:ext>
            </a:extLst>
          </p:cNvPr>
          <p:cNvSpPr/>
          <p:nvPr/>
        </p:nvSpPr>
        <p:spPr>
          <a:xfrm>
            <a:off x="2969029" y="1493793"/>
            <a:ext cx="241124" cy="266035"/>
          </a:xfrm>
          <a:prstGeom prst="mathMultiply">
            <a:avLst>
              <a:gd name="adj1" fmla="val 14738"/>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Multiplication Sign 5">
            <a:extLst>
              <a:ext uri="{FF2B5EF4-FFF2-40B4-BE49-F238E27FC236}">
                <a16:creationId xmlns:a16="http://schemas.microsoft.com/office/drawing/2014/main" id="{6938DD1A-E1BA-43E9-040E-24864052D9EB}"/>
              </a:ext>
            </a:extLst>
          </p:cNvPr>
          <p:cNvSpPr/>
          <p:nvPr/>
        </p:nvSpPr>
        <p:spPr>
          <a:xfrm>
            <a:off x="5654097" y="1486467"/>
            <a:ext cx="241124" cy="266035"/>
          </a:xfrm>
          <a:prstGeom prst="mathMultiply">
            <a:avLst>
              <a:gd name="adj1" fmla="val 14738"/>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AS BLED question">
            <a:hlinkClick r:id="" action="ppaction://noaction"/>
            <a:extLst>
              <a:ext uri="{FF2B5EF4-FFF2-40B4-BE49-F238E27FC236}">
                <a16:creationId xmlns:a16="http://schemas.microsoft.com/office/drawing/2014/main" id="{13C4C8C9-0DFC-3557-6BBD-9BB0A3B3D74F}"/>
              </a:ext>
            </a:extLst>
          </p:cNvPr>
          <p:cNvSpPr/>
          <p:nvPr/>
        </p:nvSpPr>
        <p:spPr>
          <a:xfrm>
            <a:off x="8652380" y="683254"/>
            <a:ext cx="2211083" cy="367979"/>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High bleeding risk?</a:t>
            </a:r>
          </a:p>
        </p:txBody>
      </p:sp>
      <p:sp>
        <p:nvSpPr>
          <p:cNvPr id="9" name="HAS BLED question">
            <a:hlinkClick r:id="" action="ppaction://noaction"/>
            <a:extLst>
              <a:ext uri="{FF2B5EF4-FFF2-40B4-BE49-F238E27FC236}">
                <a16:creationId xmlns:a16="http://schemas.microsoft.com/office/drawing/2014/main" id="{E05D2EFA-03A2-E5AF-599D-3EB13ED27668}"/>
              </a:ext>
            </a:extLst>
          </p:cNvPr>
          <p:cNvSpPr/>
          <p:nvPr/>
        </p:nvSpPr>
        <p:spPr>
          <a:xfrm>
            <a:off x="8652380" y="683254"/>
            <a:ext cx="221108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High bleeding risk?</a:t>
            </a:r>
          </a:p>
        </p:txBody>
      </p:sp>
      <p:pic>
        <p:nvPicPr>
          <p:cNvPr id="10" name="HAS BLED arrow" descr="Cursor with solid fill">
            <a:extLst>
              <a:ext uri="{FF2B5EF4-FFF2-40B4-BE49-F238E27FC236}">
                <a16:creationId xmlns:a16="http://schemas.microsoft.com/office/drawing/2014/main" id="{63F50969-0B43-6758-76FC-DCA63DE07F41}"/>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31203" y="925489"/>
            <a:ext cx="274320" cy="274320"/>
          </a:xfrm>
          <a:prstGeom prst="rect">
            <a:avLst/>
          </a:prstGeom>
        </p:spPr>
      </p:pic>
      <p:grpSp>
        <p:nvGrpSpPr>
          <p:cNvPr id="11" name="Group 10">
            <a:extLst>
              <a:ext uri="{FF2B5EF4-FFF2-40B4-BE49-F238E27FC236}">
                <a16:creationId xmlns:a16="http://schemas.microsoft.com/office/drawing/2014/main" id="{AF4D6386-5050-72FA-0B4E-BA5FE5C810E3}"/>
              </a:ext>
            </a:extLst>
          </p:cNvPr>
          <p:cNvGrpSpPr/>
          <p:nvPr/>
        </p:nvGrpSpPr>
        <p:grpSpPr>
          <a:xfrm>
            <a:off x="7854738" y="1802471"/>
            <a:ext cx="4257813" cy="1795062"/>
            <a:chOff x="1842900" y="4770032"/>
            <a:chExt cx="4257813" cy="1795062"/>
          </a:xfrm>
        </p:grpSpPr>
        <p:grpSp>
          <p:nvGrpSpPr>
            <p:cNvPr id="12" name="Group 11">
              <a:extLst>
                <a:ext uri="{FF2B5EF4-FFF2-40B4-BE49-F238E27FC236}">
                  <a16:creationId xmlns:a16="http://schemas.microsoft.com/office/drawing/2014/main" id="{D1D78620-E390-FB2F-DFA2-3B15493F7E0E}"/>
                </a:ext>
              </a:extLst>
            </p:cNvPr>
            <p:cNvGrpSpPr/>
            <p:nvPr/>
          </p:nvGrpSpPr>
          <p:grpSpPr>
            <a:xfrm>
              <a:off x="1842900" y="4770032"/>
              <a:ext cx="4257813" cy="1094306"/>
              <a:chOff x="2630548" y="4833512"/>
              <a:chExt cx="4257813" cy="1094306"/>
            </a:xfrm>
          </p:grpSpPr>
          <p:grpSp>
            <p:nvGrpSpPr>
              <p:cNvPr id="14" name="Group 13">
                <a:extLst>
                  <a:ext uri="{FF2B5EF4-FFF2-40B4-BE49-F238E27FC236}">
                    <a16:creationId xmlns:a16="http://schemas.microsoft.com/office/drawing/2014/main" id="{30E19E34-E27E-ACAE-E791-E1389B4681E9}"/>
                  </a:ext>
                </a:extLst>
              </p:cNvPr>
              <p:cNvGrpSpPr/>
              <p:nvPr/>
            </p:nvGrpSpPr>
            <p:grpSpPr>
              <a:xfrm>
                <a:off x="3902093" y="4833512"/>
                <a:ext cx="1249281" cy="1094306"/>
                <a:chOff x="5728163" y="1511477"/>
                <a:chExt cx="1249281" cy="1094306"/>
              </a:xfrm>
            </p:grpSpPr>
            <p:grpSp>
              <p:nvGrpSpPr>
                <p:cNvPr id="17" name="Group 16">
                  <a:extLst>
                    <a:ext uri="{FF2B5EF4-FFF2-40B4-BE49-F238E27FC236}">
                      <a16:creationId xmlns:a16="http://schemas.microsoft.com/office/drawing/2014/main" id="{131DA2CF-C270-0F24-6698-D4B4299A05A1}"/>
                    </a:ext>
                  </a:extLst>
                </p:cNvPr>
                <p:cNvGrpSpPr/>
                <p:nvPr/>
              </p:nvGrpSpPr>
              <p:grpSpPr>
                <a:xfrm>
                  <a:off x="5728163" y="1511477"/>
                  <a:ext cx="1249281" cy="1094306"/>
                  <a:chOff x="5728163" y="1511477"/>
                  <a:chExt cx="1249281" cy="1094306"/>
                </a:xfrm>
              </p:grpSpPr>
              <p:grpSp>
                <p:nvGrpSpPr>
                  <p:cNvPr id="19" name="Group 18">
                    <a:extLst>
                      <a:ext uri="{FF2B5EF4-FFF2-40B4-BE49-F238E27FC236}">
                        <a16:creationId xmlns:a16="http://schemas.microsoft.com/office/drawing/2014/main" id="{B6843C67-F4BD-9CD2-ED5E-BFEB51778D18}"/>
                      </a:ext>
                    </a:extLst>
                  </p:cNvPr>
                  <p:cNvGrpSpPr/>
                  <p:nvPr/>
                </p:nvGrpSpPr>
                <p:grpSpPr>
                  <a:xfrm>
                    <a:off x="5728163" y="1951147"/>
                    <a:ext cx="556173" cy="402938"/>
                    <a:chOff x="5169896" y="1785936"/>
                    <a:chExt cx="357246" cy="263590"/>
                  </a:xfrm>
                </p:grpSpPr>
                <p:sp>
                  <p:nvSpPr>
                    <p:cNvPr id="55" name="Oval 54">
                      <a:extLst>
                        <a:ext uri="{FF2B5EF4-FFF2-40B4-BE49-F238E27FC236}">
                          <a16:creationId xmlns:a16="http://schemas.microsoft.com/office/drawing/2014/main" id="{2E26F0D9-3DC4-2100-3EFF-B89A029A8A12}"/>
                        </a:ext>
                      </a:extLst>
                    </p:cNvPr>
                    <p:cNvSpPr/>
                    <p:nvPr/>
                  </p:nvSpPr>
                  <p:spPr>
                    <a:xfrm>
                      <a:off x="5226462" y="1816262"/>
                      <a:ext cx="257214" cy="2332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8C175132-B5F6-40E0-D246-7852F5B14973}"/>
                        </a:ext>
                      </a:extLst>
                    </p:cNvPr>
                    <p:cNvSpPr/>
                    <p:nvPr/>
                  </p:nvSpPr>
                  <p:spPr>
                    <a:xfrm>
                      <a:off x="5169896" y="1785936"/>
                      <a:ext cx="357246" cy="1470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352EB8F2-1D35-3FEB-FB48-F119886801AF}"/>
                      </a:ext>
                    </a:extLst>
                  </p:cNvPr>
                  <p:cNvGrpSpPr/>
                  <p:nvPr/>
                </p:nvGrpSpPr>
                <p:grpSpPr>
                  <a:xfrm>
                    <a:off x="5996092" y="1511477"/>
                    <a:ext cx="710514" cy="1094306"/>
                    <a:chOff x="6126980" y="1602320"/>
                    <a:chExt cx="710514" cy="1094306"/>
                  </a:xfrm>
                </p:grpSpPr>
                <p:cxnSp>
                  <p:nvCxnSpPr>
                    <p:cNvPr id="36" name="Straight Connector 35">
                      <a:extLst>
                        <a:ext uri="{FF2B5EF4-FFF2-40B4-BE49-F238E27FC236}">
                          <a16:creationId xmlns:a16="http://schemas.microsoft.com/office/drawing/2014/main" id="{939CEBFC-AF5C-E194-7AF7-6746E396DAC0}"/>
                        </a:ext>
                      </a:extLst>
                    </p:cNvPr>
                    <p:cNvCxnSpPr/>
                    <p:nvPr/>
                  </p:nvCxnSpPr>
                  <p:spPr>
                    <a:xfrm flipV="1">
                      <a:off x="6126980" y="1714829"/>
                      <a:ext cx="710514" cy="172262"/>
                    </a:xfrm>
                    <a:prstGeom prst="line">
                      <a:avLst/>
                    </a:prstGeom>
                  </p:spPr>
                  <p:style>
                    <a:lnRef idx="3">
                      <a:schemeClr val="dk1"/>
                    </a:lnRef>
                    <a:fillRef idx="0">
                      <a:schemeClr val="dk1"/>
                    </a:fillRef>
                    <a:effectRef idx="2">
                      <a:schemeClr val="dk1"/>
                    </a:effectRef>
                    <a:fontRef idx="minor">
                      <a:schemeClr val="tx1"/>
                    </a:fontRef>
                  </p:style>
                </p:cxnSp>
                <p:cxnSp>
                  <p:nvCxnSpPr>
                    <p:cNvPr id="47" name="Straight Connector 46">
                      <a:extLst>
                        <a:ext uri="{FF2B5EF4-FFF2-40B4-BE49-F238E27FC236}">
                          <a16:creationId xmlns:a16="http://schemas.microsoft.com/office/drawing/2014/main" id="{3C9F2190-1CB9-E9F6-1FCD-54A8399BCCB2}"/>
                        </a:ext>
                      </a:extLst>
                    </p:cNvPr>
                    <p:cNvCxnSpPr>
                      <a:cxnSpLocks/>
                    </p:cNvCxnSpPr>
                    <p:nvPr/>
                  </p:nvCxnSpPr>
                  <p:spPr>
                    <a:xfrm>
                      <a:off x="6482238" y="1602320"/>
                      <a:ext cx="5451" cy="1036431"/>
                    </a:xfrm>
                    <a:prstGeom prst="line">
                      <a:avLst/>
                    </a:prstGeom>
                  </p:spPr>
                  <p:style>
                    <a:lnRef idx="3">
                      <a:schemeClr val="dk1"/>
                    </a:lnRef>
                    <a:fillRef idx="0">
                      <a:schemeClr val="dk1"/>
                    </a:fillRef>
                    <a:effectRef idx="2">
                      <a:schemeClr val="dk1"/>
                    </a:effectRef>
                    <a:fontRef idx="minor">
                      <a:schemeClr val="tx1"/>
                    </a:fontRef>
                  </p:style>
                </p:cxnSp>
                <p:sp>
                  <p:nvSpPr>
                    <p:cNvPr id="52" name="Freeform: Shape 51">
                      <a:extLst>
                        <a:ext uri="{FF2B5EF4-FFF2-40B4-BE49-F238E27FC236}">
                          <a16:creationId xmlns:a16="http://schemas.microsoft.com/office/drawing/2014/main" id="{AF999C9C-4436-CD1D-F56F-58A547C98105}"/>
                        </a:ext>
                      </a:extLst>
                    </p:cNvPr>
                    <p:cNvSpPr/>
                    <p:nvPr/>
                  </p:nvSpPr>
                  <p:spPr>
                    <a:xfrm>
                      <a:off x="6231980" y="2565752"/>
                      <a:ext cx="500513" cy="130874"/>
                    </a:xfrm>
                    <a:custGeom>
                      <a:avLst/>
                      <a:gdLst>
                        <a:gd name="connsiteX0" fmla="*/ 197318 w 500513"/>
                        <a:gd name="connsiteY0" fmla="*/ 4812 h 101065"/>
                        <a:gd name="connsiteX1" fmla="*/ 317633 w 500513"/>
                        <a:gd name="connsiteY1" fmla="*/ 0 h 101065"/>
                        <a:gd name="connsiteX2" fmla="*/ 500513 w 500513"/>
                        <a:gd name="connsiteY2" fmla="*/ 101065 h 101065"/>
                        <a:gd name="connsiteX3" fmla="*/ 0 w 500513"/>
                        <a:gd name="connsiteY3" fmla="*/ 101065 h 101065"/>
                        <a:gd name="connsiteX4" fmla="*/ 197318 w 500513"/>
                        <a:gd name="connsiteY4" fmla="*/ 4812 h 101065"/>
                        <a:gd name="connsiteX0" fmla="*/ 192506 w 500513"/>
                        <a:gd name="connsiteY0" fmla="*/ 0 h 118040"/>
                        <a:gd name="connsiteX1" fmla="*/ 317633 w 500513"/>
                        <a:gd name="connsiteY1" fmla="*/ 16975 h 118040"/>
                        <a:gd name="connsiteX2" fmla="*/ 500513 w 500513"/>
                        <a:gd name="connsiteY2" fmla="*/ 118040 h 118040"/>
                        <a:gd name="connsiteX3" fmla="*/ 0 w 500513"/>
                        <a:gd name="connsiteY3" fmla="*/ 118040 h 118040"/>
                        <a:gd name="connsiteX4" fmla="*/ 192506 w 500513"/>
                        <a:gd name="connsiteY4" fmla="*/ 0 h 118040"/>
                        <a:gd name="connsiteX0" fmla="*/ 192506 w 500513"/>
                        <a:gd name="connsiteY0" fmla="*/ 454 h 118494"/>
                        <a:gd name="connsiteX1" fmla="*/ 317633 w 500513"/>
                        <a:gd name="connsiteY1" fmla="*/ 0 h 118494"/>
                        <a:gd name="connsiteX2" fmla="*/ 500513 w 500513"/>
                        <a:gd name="connsiteY2" fmla="*/ 118494 h 118494"/>
                        <a:gd name="connsiteX3" fmla="*/ 0 w 500513"/>
                        <a:gd name="connsiteY3" fmla="*/ 118494 h 118494"/>
                        <a:gd name="connsiteX4" fmla="*/ 192506 w 500513"/>
                        <a:gd name="connsiteY4" fmla="*/ 454 h 118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513" h="118494">
                          <a:moveTo>
                            <a:pt x="192506" y="454"/>
                          </a:moveTo>
                          <a:lnTo>
                            <a:pt x="317633" y="0"/>
                          </a:lnTo>
                          <a:lnTo>
                            <a:pt x="500513" y="118494"/>
                          </a:lnTo>
                          <a:lnTo>
                            <a:pt x="0" y="118494"/>
                          </a:lnTo>
                          <a:lnTo>
                            <a:pt x="192506" y="454"/>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21" name="Freeform: Shape 20">
                    <a:extLst>
                      <a:ext uri="{FF2B5EF4-FFF2-40B4-BE49-F238E27FC236}">
                        <a16:creationId xmlns:a16="http://schemas.microsoft.com/office/drawing/2014/main" id="{2D3EADFA-7903-A3A0-B04C-5993ACD89235}"/>
                      </a:ext>
                    </a:extLst>
                  </p:cNvPr>
                  <p:cNvSpPr/>
                  <p:nvPr/>
                </p:nvSpPr>
                <p:spPr>
                  <a:xfrm>
                    <a:off x="5864796" y="1781712"/>
                    <a:ext cx="299770" cy="410511"/>
                  </a:xfrm>
                  <a:custGeom>
                    <a:avLst/>
                    <a:gdLst>
                      <a:gd name="connsiteX0" fmla="*/ 105878 w 279132"/>
                      <a:gd name="connsiteY0" fmla="*/ 52939 h 399449"/>
                      <a:gd name="connsiteX1" fmla="*/ 0 w 279132"/>
                      <a:gd name="connsiteY1" fmla="*/ 399449 h 399449"/>
                      <a:gd name="connsiteX2" fmla="*/ 279132 w 279132"/>
                      <a:gd name="connsiteY2" fmla="*/ 394636 h 399449"/>
                      <a:gd name="connsiteX3" fmla="*/ 101065 w 279132"/>
                      <a:gd name="connsiteY3" fmla="*/ 0 h 399449"/>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20086 h 419535"/>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58186 h 419535"/>
                      <a:gd name="connsiteX0" fmla="*/ 99528 w 279132"/>
                      <a:gd name="connsiteY0" fmla="*/ 0 h 419535"/>
                      <a:gd name="connsiteX1" fmla="*/ 0 w 279132"/>
                      <a:gd name="connsiteY1" fmla="*/ 419535 h 419535"/>
                      <a:gd name="connsiteX2" fmla="*/ 279132 w 279132"/>
                      <a:gd name="connsiteY2" fmla="*/ 414722 h 419535"/>
                      <a:gd name="connsiteX3" fmla="*/ 107415 w 279132"/>
                      <a:gd name="connsiteY3" fmla="*/ 20086 h 419535"/>
                      <a:gd name="connsiteX0" fmla="*/ 112228 w 279132"/>
                      <a:gd name="connsiteY0" fmla="*/ 18014 h 399449"/>
                      <a:gd name="connsiteX1" fmla="*/ 0 w 279132"/>
                      <a:gd name="connsiteY1" fmla="*/ 399449 h 399449"/>
                      <a:gd name="connsiteX2" fmla="*/ 279132 w 279132"/>
                      <a:gd name="connsiteY2" fmla="*/ 394636 h 399449"/>
                      <a:gd name="connsiteX3" fmla="*/ 107415 w 279132"/>
                      <a:gd name="connsiteY3" fmla="*/ 0 h 399449"/>
                      <a:gd name="connsiteX0" fmla="*/ 134453 w 301357"/>
                      <a:gd name="connsiteY0" fmla="*/ 18014 h 405799"/>
                      <a:gd name="connsiteX1" fmla="*/ 0 w 301357"/>
                      <a:gd name="connsiteY1" fmla="*/ 405799 h 405799"/>
                      <a:gd name="connsiteX2" fmla="*/ 301357 w 301357"/>
                      <a:gd name="connsiteY2" fmla="*/ 394636 h 405799"/>
                      <a:gd name="connsiteX3" fmla="*/ 129640 w 301357"/>
                      <a:gd name="connsiteY3" fmla="*/ 0 h 405799"/>
                      <a:gd name="connsiteX0" fmla="*/ 134453 w 299770"/>
                      <a:gd name="connsiteY0" fmla="*/ 18014 h 410511"/>
                      <a:gd name="connsiteX1" fmla="*/ 0 w 299770"/>
                      <a:gd name="connsiteY1" fmla="*/ 405799 h 410511"/>
                      <a:gd name="connsiteX2" fmla="*/ 299770 w 299770"/>
                      <a:gd name="connsiteY2" fmla="*/ 410511 h 410511"/>
                      <a:gd name="connsiteX3" fmla="*/ 129640 w 299770"/>
                      <a:gd name="connsiteY3" fmla="*/ 0 h 410511"/>
                    </a:gdLst>
                    <a:ahLst/>
                    <a:cxnLst>
                      <a:cxn ang="0">
                        <a:pos x="connsiteX0" y="connsiteY0"/>
                      </a:cxn>
                      <a:cxn ang="0">
                        <a:pos x="connsiteX1" y="connsiteY1"/>
                      </a:cxn>
                      <a:cxn ang="0">
                        <a:pos x="connsiteX2" y="connsiteY2"/>
                      </a:cxn>
                      <a:cxn ang="0">
                        <a:pos x="connsiteX3" y="connsiteY3"/>
                      </a:cxn>
                    </a:cxnLst>
                    <a:rect l="l" t="t" r="r" b="b"/>
                    <a:pathLst>
                      <a:path w="299770" h="410511">
                        <a:moveTo>
                          <a:pt x="134453" y="18014"/>
                        </a:moveTo>
                        <a:lnTo>
                          <a:pt x="0" y="405799"/>
                        </a:lnTo>
                        <a:lnTo>
                          <a:pt x="299770" y="410511"/>
                        </a:lnTo>
                        <a:lnTo>
                          <a:pt x="12964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5344FBA-9747-4C03-E95B-33A23F73D637}"/>
                      </a:ext>
                    </a:extLst>
                  </p:cNvPr>
                  <p:cNvGrpSpPr/>
                  <p:nvPr/>
                </p:nvGrpSpPr>
                <p:grpSpPr>
                  <a:xfrm>
                    <a:off x="6421271" y="1763535"/>
                    <a:ext cx="556173" cy="428688"/>
                    <a:chOff x="5169475" y="1769092"/>
                    <a:chExt cx="357246" cy="280435"/>
                  </a:xfrm>
                </p:grpSpPr>
                <p:sp>
                  <p:nvSpPr>
                    <p:cNvPr id="24" name="Oval 23">
                      <a:extLst>
                        <a:ext uri="{FF2B5EF4-FFF2-40B4-BE49-F238E27FC236}">
                          <a16:creationId xmlns:a16="http://schemas.microsoft.com/office/drawing/2014/main" id="{E27AE071-9CDB-4C70-CF71-935082BEE497}"/>
                        </a:ext>
                      </a:extLst>
                    </p:cNvPr>
                    <p:cNvSpPr/>
                    <p:nvPr/>
                  </p:nvSpPr>
                  <p:spPr>
                    <a:xfrm>
                      <a:off x="5226462" y="1816263"/>
                      <a:ext cx="257214" cy="2332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26E9718-4B8C-257F-FF1B-DD8AB000DA4D}"/>
                        </a:ext>
                      </a:extLst>
                    </p:cNvPr>
                    <p:cNvSpPr/>
                    <p:nvPr/>
                  </p:nvSpPr>
                  <p:spPr>
                    <a:xfrm>
                      <a:off x="5169475" y="1769092"/>
                      <a:ext cx="357246" cy="1470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Freeform: Shape 22">
                    <a:extLst>
                      <a:ext uri="{FF2B5EF4-FFF2-40B4-BE49-F238E27FC236}">
                        <a16:creationId xmlns:a16="http://schemas.microsoft.com/office/drawing/2014/main" id="{2CF30555-A610-7A0A-201A-643AB1E0C030}"/>
                      </a:ext>
                    </a:extLst>
                  </p:cNvPr>
                  <p:cNvSpPr/>
                  <p:nvPr/>
                </p:nvSpPr>
                <p:spPr>
                  <a:xfrm>
                    <a:off x="6566062" y="1624200"/>
                    <a:ext cx="299770" cy="435471"/>
                  </a:xfrm>
                  <a:custGeom>
                    <a:avLst/>
                    <a:gdLst>
                      <a:gd name="connsiteX0" fmla="*/ 105878 w 279132"/>
                      <a:gd name="connsiteY0" fmla="*/ 52939 h 399449"/>
                      <a:gd name="connsiteX1" fmla="*/ 0 w 279132"/>
                      <a:gd name="connsiteY1" fmla="*/ 399449 h 399449"/>
                      <a:gd name="connsiteX2" fmla="*/ 279132 w 279132"/>
                      <a:gd name="connsiteY2" fmla="*/ 394636 h 399449"/>
                      <a:gd name="connsiteX3" fmla="*/ 101065 w 279132"/>
                      <a:gd name="connsiteY3" fmla="*/ 0 h 399449"/>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20086 h 419535"/>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58186 h 419535"/>
                      <a:gd name="connsiteX0" fmla="*/ 99528 w 279132"/>
                      <a:gd name="connsiteY0" fmla="*/ 0 h 419535"/>
                      <a:gd name="connsiteX1" fmla="*/ 0 w 279132"/>
                      <a:gd name="connsiteY1" fmla="*/ 419535 h 419535"/>
                      <a:gd name="connsiteX2" fmla="*/ 279132 w 279132"/>
                      <a:gd name="connsiteY2" fmla="*/ 414722 h 419535"/>
                      <a:gd name="connsiteX3" fmla="*/ 107415 w 279132"/>
                      <a:gd name="connsiteY3" fmla="*/ 20086 h 419535"/>
                      <a:gd name="connsiteX0" fmla="*/ 112228 w 279132"/>
                      <a:gd name="connsiteY0" fmla="*/ 18014 h 399449"/>
                      <a:gd name="connsiteX1" fmla="*/ 0 w 279132"/>
                      <a:gd name="connsiteY1" fmla="*/ 399449 h 399449"/>
                      <a:gd name="connsiteX2" fmla="*/ 279132 w 279132"/>
                      <a:gd name="connsiteY2" fmla="*/ 394636 h 399449"/>
                      <a:gd name="connsiteX3" fmla="*/ 107415 w 279132"/>
                      <a:gd name="connsiteY3" fmla="*/ 0 h 399449"/>
                      <a:gd name="connsiteX0" fmla="*/ 134453 w 301357"/>
                      <a:gd name="connsiteY0" fmla="*/ 18014 h 405799"/>
                      <a:gd name="connsiteX1" fmla="*/ 0 w 301357"/>
                      <a:gd name="connsiteY1" fmla="*/ 405799 h 405799"/>
                      <a:gd name="connsiteX2" fmla="*/ 301357 w 301357"/>
                      <a:gd name="connsiteY2" fmla="*/ 394636 h 405799"/>
                      <a:gd name="connsiteX3" fmla="*/ 129640 w 301357"/>
                      <a:gd name="connsiteY3" fmla="*/ 0 h 405799"/>
                      <a:gd name="connsiteX0" fmla="*/ 134453 w 299770"/>
                      <a:gd name="connsiteY0" fmla="*/ 18014 h 410511"/>
                      <a:gd name="connsiteX1" fmla="*/ 0 w 299770"/>
                      <a:gd name="connsiteY1" fmla="*/ 405799 h 410511"/>
                      <a:gd name="connsiteX2" fmla="*/ 299770 w 299770"/>
                      <a:gd name="connsiteY2" fmla="*/ 410511 h 410511"/>
                      <a:gd name="connsiteX3" fmla="*/ 129640 w 299770"/>
                      <a:gd name="connsiteY3" fmla="*/ 0 h 410511"/>
                      <a:gd name="connsiteX0" fmla="*/ 134453 w 299770"/>
                      <a:gd name="connsiteY0" fmla="*/ 18014 h 410511"/>
                      <a:gd name="connsiteX1" fmla="*/ 0 w 299770"/>
                      <a:gd name="connsiteY1" fmla="*/ 405799 h 410511"/>
                      <a:gd name="connsiteX2" fmla="*/ 299770 w 299770"/>
                      <a:gd name="connsiteY2" fmla="*/ 410511 h 410511"/>
                      <a:gd name="connsiteX3" fmla="*/ 129640 w 299770"/>
                      <a:gd name="connsiteY3" fmla="*/ 0 h 410511"/>
                      <a:gd name="connsiteX0" fmla="*/ 124928 w 299770"/>
                      <a:gd name="connsiteY0" fmla="*/ 8717 h 410511"/>
                      <a:gd name="connsiteX1" fmla="*/ 0 w 299770"/>
                      <a:gd name="connsiteY1" fmla="*/ 405799 h 410511"/>
                      <a:gd name="connsiteX2" fmla="*/ 299770 w 299770"/>
                      <a:gd name="connsiteY2" fmla="*/ 410511 h 410511"/>
                      <a:gd name="connsiteX3" fmla="*/ 129640 w 299770"/>
                      <a:gd name="connsiteY3" fmla="*/ 0 h 410511"/>
                      <a:gd name="connsiteX0" fmla="*/ 132072 w 299770"/>
                      <a:gd name="connsiteY0" fmla="*/ 0 h 425036"/>
                      <a:gd name="connsiteX1" fmla="*/ 0 w 299770"/>
                      <a:gd name="connsiteY1" fmla="*/ 420324 h 425036"/>
                      <a:gd name="connsiteX2" fmla="*/ 299770 w 299770"/>
                      <a:gd name="connsiteY2" fmla="*/ 425036 h 425036"/>
                      <a:gd name="connsiteX3" fmla="*/ 129640 w 299770"/>
                      <a:gd name="connsiteY3" fmla="*/ 14525 h 425036"/>
                    </a:gdLst>
                    <a:ahLst/>
                    <a:cxnLst>
                      <a:cxn ang="0">
                        <a:pos x="connsiteX0" y="connsiteY0"/>
                      </a:cxn>
                      <a:cxn ang="0">
                        <a:pos x="connsiteX1" y="connsiteY1"/>
                      </a:cxn>
                      <a:cxn ang="0">
                        <a:pos x="connsiteX2" y="connsiteY2"/>
                      </a:cxn>
                      <a:cxn ang="0">
                        <a:pos x="connsiteX3" y="connsiteY3"/>
                      </a:cxn>
                    </a:cxnLst>
                    <a:rect l="l" t="t" r="r" b="b"/>
                    <a:pathLst>
                      <a:path w="299770" h="425036">
                        <a:moveTo>
                          <a:pt x="132072" y="0"/>
                        </a:moveTo>
                        <a:lnTo>
                          <a:pt x="0" y="420324"/>
                        </a:lnTo>
                        <a:lnTo>
                          <a:pt x="299770" y="425036"/>
                        </a:lnTo>
                        <a:lnTo>
                          <a:pt x="129640" y="145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Rectangle 17">
                  <a:extLst>
                    <a:ext uri="{FF2B5EF4-FFF2-40B4-BE49-F238E27FC236}">
                      <a16:creationId xmlns:a16="http://schemas.microsoft.com/office/drawing/2014/main" id="{7F817EE4-EC5B-660F-02C2-8F601C0A4DA2}"/>
                    </a:ext>
                  </a:extLst>
                </p:cNvPr>
                <p:cNvSpPr/>
                <p:nvPr/>
              </p:nvSpPr>
              <p:spPr>
                <a:xfrm rot="18737582">
                  <a:off x="6328299" y="1527962"/>
                  <a:ext cx="48896" cy="4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B1189C67-D81D-BAC5-12D4-1ABF2FEB5A6C}"/>
                  </a:ext>
                </a:extLst>
              </p:cNvPr>
              <p:cNvSpPr txBox="1"/>
              <p:nvPr/>
            </p:nvSpPr>
            <p:spPr>
              <a:xfrm>
                <a:off x="2630548" y="5277606"/>
                <a:ext cx="1307671" cy="584775"/>
              </a:xfrm>
              <a:prstGeom prst="rect">
                <a:avLst/>
              </a:prstGeom>
              <a:noFill/>
            </p:spPr>
            <p:txBody>
              <a:bodyPr wrap="square" rtlCol="0">
                <a:spAutoFit/>
              </a:bodyPr>
              <a:lstStyle/>
              <a:p>
                <a:pPr algn="ctr"/>
                <a:r>
                  <a:rPr lang="en-US" sz="1600" dirty="0">
                    <a:solidFill>
                      <a:srgbClr val="FF0000"/>
                    </a:solidFill>
                  </a:rPr>
                  <a:t>↑ non-major bleeding</a:t>
                </a:r>
              </a:p>
            </p:txBody>
          </p:sp>
          <p:sp>
            <p:nvSpPr>
              <p:cNvPr id="16" name="TextBox 15">
                <a:extLst>
                  <a:ext uri="{FF2B5EF4-FFF2-40B4-BE49-F238E27FC236}">
                    <a16:creationId xmlns:a16="http://schemas.microsoft.com/office/drawing/2014/main" id="{D43545B2-0703-9DEC-7BAD-2F7E0B1C120F}"/>
                  </a:ext>
                </a:extLst>
              </p:cNvPr>
              <p:cNvSpPr txBox="1"/>
              <p:nvPr/>
            </p:nvSpPr>
            <p:spPr>
              <a:xfrm>
                <a:off x="4977658" y="4981309"/>
                <a:ext cx="1910703" cy="584775"/>
              </a:xfrm>
              <a:prstGeom prst="rect">
                <a:avLst/>
              </a:prstGeom>
              <a:noFill/>
            </p:spPr>
            <p:txBody>
              <a:bodyPr wrap="square" rtlCol="0">
                <a:spAutoFit/>
              </a:bodyPr>
              <a:lstStyle/>
              <a:p>
                <a:pPr algn="ctr"/>
                <a:r>
                  <a:rPr lang="en-US" sz="1600" dirty="0">
                    <a:solidFill>
                      <a:schemeClr val="accent2"/>
                    </a:solidFill>
                  </a:rPr>
                  <a:t>Functional disability from stroke</a:t>
                </a:r>
              </a:p>
            </p:txBody>
          </p:sp>
        </p:grpSp>
        <p:sp>
          <p:nvSpPr>
            <p:cNvPr id="13" name="TextBox 12">
              <a:extLst>
                <a:ext uri="{FF2B5EF4-FFF2-40B4-BE49-F238E27FC236}">
                  <a16:creationId xmlns:a16="http://schemas.microsoft.com/office/drawing/2014/main" id="{915D82F6-76CC-E74B-9DCE-A96EF3B33BA5}"/>
                </a:ext>
              </a:extLst>
            </p:cNvPr>
            <p:cNvSpPr txBox="1"/>
            <p:nvPr/>
          </p:nvSpPr>
          <p:spPr>
            <a:xfrm>
              <a:off x="1961290" y="5980319"/>
              <a:ext cx="3749183" cy="584775"/>
            </a:xfrm>
            <a:prstGeom prst="rect">
              <a:avLst/>
            </a:prstGeom>
            <a:noFill/>
          </p:spPr>
          <p:txBody>
            <a:bodyPr wrap="square" rtlCol="0">
              <a:spAutoFit/>
            </a:bodyPr>
            <a:lstStyle/>
            <a:p>
              <a:pPr algn="ctr"/>
              <a:r>
                <a:rPr lang="en-US" sz="1600" dirty="0"/>
                <a:t>OAC↓ stroke 64%, ↓ mortality 26%</a:t>
              </a:r>
            </a:p>
            <a:p>
              <a:pPr algn="ctr"/>
              <a:r>
                <a:rPr lang="en-US" sz="1600" dirty="0"/>
                <a:t>Significance of stroke often &gt; major bleed </a:t>
              </a:r>
            </a:p>
          </p:txBody>
        </p:sp>
      </p:grpSp>
      <p:sp>
        <p:nvSpPr>
          <p:cNvPr id="59" name="TextBox 58">
            <a:extLst>
              <a:ext uri="{FF2B5EF4-FFF2-40B4-BE49-F238E27FC236}">
                <a16:creationId xmlns:a16="http://schemas.microsoft.com/office/drawing/2014/main" id="{3175575C-6CAD-9E27-081F-F9FAD9620F0A}"/>
              </a:ext>
            </a:extLst>
          </p:cNvPr>
          <p:cNvSpPr txBox="1"/>
          <p:nvPr/>
        </p:nvSpPr>
        <p:spPr>
          <a:xfrm>
            <a:off x="7418013" y="1116077"/>
            <a:ext cx="4679815" cy="646331"/>
          </a:xfrm>
          <a:prstGeom prst="rect">
            <a:avLst/>
          </a:prstGeom>
          <a:noFill/>
        </p:spPr>
        <p:txBody>
          <a:bodyPr wrap="square">
            <a:spAutoFit/>
          </a:bodyPr>
          <a:lstStyle/>
          <a:p>
            <a:pPr algn="ctr"/>
            <a:r>
              <a:rPr lang="en-US" dirty="0"/>
              <a:t>Address modifiable RFs. </a:t>
            </a:r>
          </a:p>
          <a:p>
            <a:pPr algn="ctr"/>
            <a:r>
              <a:rPr lang="en-US" dirty="0"/>
              <a:t>Weigh risk/benefits of OAC. </a:t>
            </a:r>
          </a:p>
        </p:txBody>
      </p:sp>
    </p:spTree>
    <p:extLst>
      <p:ext uri="{BB962C8B-B14F-4D97-AF65-F5344CB8AC3E}">
        <p14:creationId xmlns:p14="http://schemas.microsoft.com/office/powerpoint/2010/main" val="88710814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50"/>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51"/>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0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nextCondLst>
                <p:cond evt="onClick" delay="0">
                  <p:tgtEl>
                    <p:spTgt spid="50"/>
                  </p:tgtEl>
                </p:cond>
              </p:nextCondLst>
            </p:seq>
            <p:seq concurrent="1" nextAc="seek">
              <p:cTn id="17" restart="whenNotActive" fill="hold" evtFilter="cancelBubble" nodeType="interactiveSeq">
                <p:stCondLst>
                  <p:cond evt="onClick" delay="0">
                    <p:tgtEl>
                      <p:spTgt spid="69"/>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3"/>
                                        </p:tgtEl>
                                        <p:attrNameLst>
                                          <p:attrName>style.visibility</p:attrName>
                                        </p:attrNameLst>
                                      </p:cBhvr>
                                      <p:to>
                                        <p:strVal val="visible"/>
                                      </p:to>
                                    </p:set>
                                  </p:childTnLst>
                                </p:cTn>
                              </p:par>
                              <p:par>
                                <p:cTn id="22" presetID="1" presetClass="exit" presetSubtype="0" fill="hold" grpId="0" nodeType="withEffect">
                                  <p:stCondLst>
                                    <p:cond delay="0"/>
                                  </p:stCondLst>
                                  <p:childTnLst>
                                    <p:set>
                                      <p:cBhvr>
                                        <p:cTn id="23" dur="1" fill="hold">
                                          <p:stCondLst>
                                            <p:cond delay="0"/>
                                          </p:stCondLst>
                                        </p:cTn>
                                        <p:tgtEl>
                                          <p:spTgt spid="69"/>
                                        </p:tgtEl>
                                        <p:attrNameLst>
                                          <p:attrName>style.visibility</p:attrName>
                                        </p:attrNameLst>
                                      </p:cBhvr>
                                      <p:to>
                                        <p:strVal val="hidden"/>
                                      </p:to>
                                    </p:set>
                                  </p:childTnLst>
                                </p:cTn>
                              </p:par>
                              <p:par>
                                <p:cTn id="24" presetID="1" presetClass="exit" presetSubtype="0" fill="hold" nodeType="withEffect">
                                  <p:stCondLst>
                                    <p:cond delay="0"/>
                                  </p:stCondLst>
                                  <p:childTnLst>
                                    <p:set>
                                      <p:cBhvr>
                                        <p:cTn id="25" dur="1" fill="hold">
                                          <p:stCondLst>
                                            <p:cond delay="0"/>
                                          </p:stCondLst>
                                        </p:cTn>
                                        <p:tgtEl>
                                          <p:spTgt spid="70"/>
                                        </p:tgtEl>
                                        <p:attrNameLst>
                                          <p:attrName>style.visibility</p:attrName>
                                        </p:attrNameLst>
                                      </p:cBhvr>
                                      <p:to>
                                        <p:strVal val="hidden"/>
                                      </p:to>
                                    </p:set>
                                  </p:childTnLst>
                                </p:cTn>
                              </p:par>
                            </p:childTnLst>
                          </p:cTn>
                        </p:par>
                      </p:childTnLst>
                    </p:cTn>
                  </p:par>
                </p:childTnLst>
              </p:cTn>
              <p:nextCondLst>
                <p:cond evt="onClick" delay="0">
                  <p:tgtEl>
                    <p:spTgt spid="69"/>
                  </p:tgtEl>
                </p:cond>
              </p:nextCondLst>
            </p:seq>
            <p:seq concurrent="1" nextAc="seek">
              <p:cTn id="26" restart="whenNotActive" fill="hold" evtFilter="cancelBubble" nodeType="interactiveSeq">
                <p:stCondLst>
                  <p:cond evt="onClick" delay="0">
                    <p:tgtEl>
                      <p:spTgt spid="85"/>
                    </p:tgtEl>
                  </p:cond>
                </p:stCondLst>
                <p:endSync evt="end" delay="0">
                  <p:rtn val="all"/>
                </p:endSync>
                <p:childTnLst>
                  <p:par>
                    <p:cTn id="27" fill="hold">
                      <p:stCondLst>
                        <p:cond delay="0"/>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7"/>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85"/>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86"/>
                                        </p:tgtEl>
                                        <p:attrNameLst>
                                          <p:attrName>style.visibility</p:attrName>
                                        </p:attrNameLst>
                                      </p:cBhvr>
                                      <p:to>
                                        <p:strVal val="hidden"/>
                                      </p:to>
                                    </p:set>
                                  </p:childTnLst>
                                </p:cTn>
                              </p:par>
                            </p:childTnLst>
                          </p:cTn>
                        </p:par>
                      </p:childTnLst>
                    </p:cTn>
                  </p:par>
                </p:childTnLst>
              </p:cTn>
              <p:nextCondLst>
                <p:cond evt="onClick" delay="0">
                  <p:tgtEl>
                    <p:spTgt spid="85"/>
                  </p:tgtEl>
                </p:cond>
              </p:nextCondLst>
            </p:seq>
            <p:seq concurrent="1" nextAc="seek">
              <p:cTn id="35" restart="whenNotActive" fill="hold" evtFilter="cancelBubble" nodeType="interactiveSeq">
                <p:stCondLst>
                  <p:cond evt="onClick" delay="0">
                    <p:tgtEl>
                      <p:spTgt spid="89"/>
                    </p:tgtEl>
                  </p:cond>
                </p:stCondLst>
                <p:endSync evt="end" delay="0">
                  <p:rtn val="all"/>
                </p:endSync>
                <p:childTnLst>
                  <p:par>
                    <p:cTn id="36" fill="hold">
                      <p:stCondLst>
                        <p:cond delay="0"/>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childTnLst>
                                </p:cTn>
                              </p:par>
                              <p:par>
                                <p:cTn id="40" presetID="1" presetClass="exit" presetSubtype="0" fill="hold" grpId="0" nodeType="withEffect">
                                  <p:stCondLst>
                                    <p:cond delay="0"/>
                                  </p:stCondLst>
                                  <p:childTnLst>
                                    <p:set>
                                      <p:cBhvr>
                                        <p:cTn id="41" dur="1" fill="hold">
                                          <p:stCondLst>
                                            <p:cond delay="0"/>
                                          </p:stCondLst>
                                        </p:cTn>
                                        <p:tgtEl>
                                          <p:spTgt spid="89"/>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90"/>
                                        </p:tgtEl>
                                        <p:attrNameLst>
                                          <p:attrName>style.visibility</p:attrName>
                                        </p:attrNameLst>
                                      </p:cBhvr>
                                      <p:to>
                                        <p:strVal val="hidden"/>
                                      </p:to>
                                    </p:set>
                                  </p:childTnLst>
                                </p:cTn>
                              </p:par>
                            </p:childTnLst>
                          </p:cTn>
                        </p:par>
                      </p:childTnLst>
                    </p:cTn>
                  </p:par>
                </p:childTnLst>
              </p:cTn>
              <p:nextCondLst>
                <p:cond evt="onClick" delay="0">
                  <p:tgtEl>
                    <p:spTgt spid="89"/>
                  </p:tgtEl>
                </p:cond>
              </p:nextCondLst>
            </p:seq>
            <p:seq concurrent="1" nextAc="seek">
              <p:cTn id="44" restart="whenNotActive" fill="hold" evtFilter="cancelBubble" nodeType="interactiveSeq">
                <p:stCondLst>
                  <p:cond evt="onClick" delay="0">
                    <p:tgtEl>
                      <p:spTgt spid="9"/>
                    </p:tgtEl>
                  </p:cond>
                </p:stCondLst>
                <p:endSync evt="end" delay="0">
                  <p:rtn val="all"/>
                </p:endSync>
                <p:childTnLst>
                  <p:par>
                    <p:cTn id="45" fill="hold">
                      <p:stCondLst>
                        <p:cond delay="0"/>
                      </p:stCondLst>
                      <p:childTnLst>
                        <p:par>
                          <p:cTn id="46" fill="hold">
                            <p:stCondLst>
                              <p:cond delay="0"/>
                            </p:stCondLst>
                            <p:childTnLst>
                              <p:par>
                                <p:cTn id="47" presetID="1" presetClass="exit" presetSubtype="0" fill="hold" nodeType="withEffect">
                                  <p:stCondLst>
                                    <p:cond delay="0"/>
                                  </p:stCondLst>
                                  <p:childTnLst>
                                    <p:set>
                                      <p:cBhvr>
                                        <p:cTn id="48" dur="1" fill="hold">
                                          <p:stCondLst>
                                            <p:cond delay="0"/>
                                          </p:stCondLst>
                                        </p:cTn>
                                        <p:tgtEl>
                                          <p:spTgt spid="10"/>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hidden"/>
                                      </p:to>
                                    </p:set>
                                  </p:childTnLst>
                                </p:cTn>
                              </p:par>
                              <p:par>
                                <p:cTn id="51" presetID="1" presetClass="entr" presetSubtype="0" fill="hold" nodeType="with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childTnLst>
                          </p:cTn>
                        </p:par>
                      </p:childTnLst>
                    </p:cTn>
                  </p:par>
                </p:childTnLst>
              </p:cTn>
              <p:nextCondLst>
                <p:cond evt="onClick" delay="0">
                  <p:tgtEl>
                    <p:spTgt spid="9"/>
                  </p:tgtEl>
                </p:cond>
              </p:nextCondLst>
            </p:seq>
          </p:childTnLst>
        </p:cTn>
      </p:par>
    </p:tnLst>
    <p:bldLst>
      <p:bldP spid="50" grpId="0" animBg="1"/>
      <p:bldP spid="69" grpId="0" animBg="1"/>
      <p:bldP spid="83" grpId="0"/>
      <p:bldP spid="85" grpId="0" animBg="1"/>
      <p:bldP spid="87" grpId="0"/>
      <p:bldP spid="89" grpId="0" animBg="1"/>
      <p:bldP spid="4" grpId="0" animBg="1"/>
      <p:bldP spid="5" grpId="0" animBg="1"/>
      <p:bldP spid="6" grpId="0" animBg="1"/>
      <p:bldP spid="9" grpId="0" animBg="1"/>
      <p:bldP spid="5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0" name="CKD">
            <a:extLst>
              <a:ext uri="{FF2B5EF4-FFF2-40B4-BE49-F238E27FC236}">
                <a16:creationId xmlns:a16="http://schemas.microsoft.com/office/drawing/2014/main" id="{DB42536F-42A2-2E76-B397-ABAEA3951E2B}"/>
              </a:ext>
            </a:extLst>
          </p:cNvPr>
          <p:cNvGrpSpPr/>
          <p:nvPr/>
        </p:nvGrpSpPr>
        <p:grpSpPr>
          <a:xfrm>
            <a:off x="7660931" y="4894286"/>
            <a:ext cx="1700784" cy="1618488"/>
            <a:chOff x="7688708" y="4075198"/>
            <a:chExt cx="1700784" cy="1618488"/>
          </a:xfrm>
          <a:effectLst/>
        </p:grpSpPr>
        <p:sp>
          <p:nvSpPr>
            <p:cNvPr id="141" name="Rectangle: Rounded Corners 44">
              <a:extLst>
                <a:ext uri="{FF2B5EF4-FFF2-40B4-BE49-F238E27FC236}">
                  <a16:creationId xmlns:a16="http://schemas.microsoft.com/office/drawing/2014/main" id="{2BF1EED3-AB06-05F3-2C84-4CDE227A21D9}"/>
                </a:ext>
              </a:extLst>
            </p:cNvPr>
            <p:cNvSpPr/>
            <p:nvPr/>
          </p:nvSpPr>
          <p:spPr>
            <a:xfrm>
              <a:off x="7688708" y="4075198"/>
              <a:ext cx="1700784" cy="1618488"/>
            </a:xfrm>
            <a:prstGeom prst="roundRect">
              <a:avLst/>
            </a:prstGeom>
            <a:solidFill>
              <a:schemeClr val="bg1"/>
            </a:solidFill>
            <a:ln w="38100">
              <a:no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42" name="Picture 141" descr="Graphical user interface, application&#10;&#10;Description automatically generated">
              <a:extLst>
                <a:ext uri="{FF2B5EF4-FFF2-40B4-BE49-F238E27FC236}">
                  <a16:creationId xmlns:a16="http://schemas.microsoft.com/office/drawing/2014/main" id="{F30918A5-43B7-C5C5-D653-5895F6DF2EC5}"/>
                </a:ext>
              </a:extLst>
            </p:cNvPr>
            <p:cNvPicPr>
              <a:picLocks noChangeAspect="1"/>
            </p:cNvPicPr>
            <p:nvPr/>
          </p:nvPicPr>
          <p:blipFill rotWithShape="1">
            <a:blip r:embed="rId3">
              <a:extLst>
                <a:ext uri="{28A0092B-C50C-407E-A947-70E740481C1C}">
                  <a14:useLocalDpi xmlns:a14="http://schemas.microsoft.com/office/drawing/2010/main" val="0"/>
                </a:ext>
              </a:extLst>
            </a:blip>
            <a:srcRect l="18237" t="35646" r="67377" b="46563"/>
            <a:stretch/>
          </p:blipFill>
          <p:spPr>
            <a:xfrm>
              <a:off x="7910881" y="4463503"/>
              <a:ext cx="1256437" cy="1090634"/>
            </a:xfrm>
            <a:prstGeom prst="rect">
              <a:avLst/>
            </a:prstGeom>
            <a:ln>
              <a:noFill/>
            </a:ln>
          </p:spPr>
        </p:pic>
        <p:sp>
          <p:nvSpPr>
            <p:cNvPr id="143" name="TextBox 142">
              <a:extLst>
                <a:ext uri="{FF2B5EF4-FFF2-40B4-BE49-F238E27FC236}">
                  <a16:creationId xmlns:a16="http://schemas.microsoft.com/office/drawing/2014/main" id="{31AEE488-14BE-E765-8032-25406722D59E}"/>
                </a:ext>
              </a:extLst>
            </p:cNvPr>
            <p:cNvSpPr txBox="1"/>
            <p:nvPr/>
          </p:nvSpPr>
          <p:spPr>
            <a:xfrm>
              <a:off x="7761489" y="4214746"/>
              <a:ext cx="1515768" cy="369332"/>
            </a:xfrm>
            <a:prstGeom prst="rect">
              <a:avLst/>
            </a:prstGeom>
            <a:noFill/>
            <a:ln>
              <a:noFill/>
            </a:ln>
          </p:spPr>
          <p:txBody>
            <a:bodyPr wrap="square" rtlCol="0">
              <a:spAutoFit/>
            </a:bodyPr>
            <a:lstStyle/>
            <a:p>
              <a:pPr algn="ctr"/>
              <a:r>
                <a:rPr lang="en-US" b="1" dirty="0"/>
                <a:t>CKD</a:t>
              </a:r>
            </a:p>
          </p:txBody>
        </p:sp>
      </p:grpSp>
      <p:grpSp>
        <p:nvGrpSpPr>
          <p:cNvPr id="148" name="CAD">
            <a:extLst>
              <a:ext uri="{FF2B5EF4-FFF2-40B4-BE49-F238E27FC236}">
                <a16:creationId xmlns:a16="http://schemas.microsoft.com/office/drawing/2014/main" id="{EFADA2BB-EE8C-5602-BEF5-C6DE3D15CCF6}"/>
              </a:ext>
            </a:extLst>
          </p:cNvPr>
          <p:cNvGrpSpPr/>
          <p:nvPr/>
        </p:nvGrpSpPr>
        <p:grpSpPr>
          <a:xfrm>
            <a:off x="7660931" y="2989003"/>
            <a:ext cx="1700784" cy="1618488"/>
            <a:chOff x="7688708" y="2169915"/>
            <a:chExt cx="1700784" cy="1618488"/>
          </a:xfrm>
          <a:effectLst/>
        </p:grpSpPr>
        <p:grpSp>
          <p:nvGrpSpPr>
            <p:cNvPr id="149" name="Group 148">
              <a:extLst>
                <a:ext uri="{FF2B5EF4-FFF2-40B4-BE49-F238E27FC236}">
                  <a16:creationId xmlns:a16="http://schemas.microsoft.com/office/drawing/2014/main" id="{27BC0451-8433-9642-5E60-28C1EF69E4D8}"/>
                </a:ext>
              </a:extLst>
            </p:cNvPr>
            <p:cNvGrpSpPr/>
            <p:nvPr/>
          </p:nvGrpSpPr>
          <p:grpSpPr>
            <a:xfrm>
              <a:off x="7688708" y="2169915"/>
              <a:ext cx="1700784" cy="1618488"/>
              <a:chOff x="1163051" y="1090862"/>
              <a:chExt cx="1780673" cy="1689975"/>
            </a:xfrm>
          </p:grpSpPr>
          <p:sp>
            <p:nvSpPr>
              <p:cNvPr id="151" name="Rectangle: Rounded Corners 30">
                <a:extLst>
                  <a:ext uri="{FF2B5EF4-FFF2-40B4-BE49-F238E27FC236}">
                    <a16:creationId xmlns:a16="http://schemas.microsoft.com/office/drawing/2014/main" id="{58BF75DE-5F5A-B243-F8C0-FAD2501553A1}"/>
                  </a:ext>
                </a:extLst>
              </p:cNvPr>
              <p:cNvSpPr/>
              <p:nvPr/>
            </p:nvSpPr>
            <p:spPr>
              <a:xfrm>
                <a:off x="1163051" y="1090862"/>
                <a:ext cx="1780673" cy="1689975"/>
              </a:xfrm>
              <a:prstGeom prst="roundRect">
                <a:avLst/>
              </a:prstGeom>
              <a:solidFill>
                <a:schemeClr val="bg1"/>
              </a:solidFill>
              <a:ln w="38100">
                <a:no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 name="TextBox 151">
                <a:extLst>
                  <a:ext uri="{FF2B5EF4-FFF2-40B4-BE49-F238E27FC236}">
                    <a16:creationId xmlns:a16="http://schemas.microsoft.com/office/drawing/2014/main" id="{BDEECBA5-BCA7-DE10-7DC7-3B36B5F8B269}"/>
                  </a:ext>
                </a:extLst>
              </p:cNvPr>
              <p:cNvSpPr txBox="1"/>
              <p:nvPr/>
            </p:nvSpPr>
            <p:spPr>
              <a:xfrm>
                <a:off x="1239249" y="1236574"/>
                <a:ext cx="1628275" cy="385645"/>
              </a:xfrm>
              <a:prstGeom prst="rect">
                <a:avLst/>
              </a:prstGeom>
              <a:noFill/>
              <a:ln>
                <a:noFill/>
              </a:ln>
            </p:spPr>
            <p:txBody>
              <a:bodyPr wrap="square" rtlCol="0">
                <a:spAutoFit/>
              </a:bodyPr>
              <a:lstStyle/>
              <a:p>
                <a:pPr algn="ctr"/>
                <a:r>
                  <a:rPr lang="en-US" b="1" dirty="0"/>
                  <a:t>CAD</a:t>
                </a:r>
              </a:p>
            </p:txBody>
          </p:sp>
        </p:grpSp>
        <p:pic>
          <p:nvPicPr>
            <p:cNvPr id="150" name="Picture 149" descr="A picture containing silhouette, night sky&#10;&#10;Description automatically generated">
              <a:extLst>
                <a:ext uri="{FF2B5EF4-FFF2-40B4-BE49-F238E27FC236}">
                  <a16:creationId xmlns:a16="http://schemas.microsoft.com/office/drawing/2014/main" id="{3639F1F4-19F5-1AA2-9AD4-C51C6E80D775}"/>
                </a:ext>
              </a:extLst>
            </p:cNvPr>
            <p:cNvPicPr>
              <a:picLocks noChangeAspect="1"/>
            </p:cNvPicPr>
            <p:nvPr/>
          </p:nvPicPr>
          <p:blipFill rotWithShape="1">
            <a:blip r:embed="rId4">
              <a:extLst>
                <a:ext uri="{28A0092B-C50C-407E-A947-70E740481C1C}">
                  <a14:useLocalDpi xmlns:a14="http://schemas.microsoft.com/office/drawing/2010/main" val="0"/>
                </a:ext>
              </a:extLst>
            </a:blip>
            <a:srcRect l="41136" t="36078" r="44927" b="43136"/>
            <a:stretch/>
          </p:blipFill>
          <p:spPr>
            <a:xfrm>
              <a:off x="8015263" y="2539417"/>
              <a:ext cx="1103604" cy="1152196"/>
            </a:xfrm>
            <a:prstGeom prst="rect">
              <a:avLst/>
            </a:prstGeom>
            <a:ln>
              <a:noFill/>
            </a:ln>
          </p:spPr>
        </p:pic>
      </p:grpSp>
      <p:grpSp>
        <p:nvGrpSpPr>
          <p:cNvPr id="153" name="Carioversion">
            <a:extLst>
              <a:ext uri="{FF2B5EF4-FFF2-40B4-BE49-F238E27FC236}">
                <a16:creationId xmlns:a16="http://schemas.microsoft.com/office/drawing/2014/main" id="{0D08E7AC-32B5-FC6E-A572-6BF0A412913A}"/>
              </a:ext>
            </a:extLst>
          </p:cNvPr>
          <p:cNvGrpSpPr/>
          <p:nvPr/>
        </p:nvGrpSpPr>
        <p:grpSpPr>
          <a:xfrm>
            <a:off x="2838899" y="4894286"/>
            <a:ext cx="1700784" cy="1618488"/>
            <a:chOff x="2871284" y="4075465"/>
            <a:chExt cx="1700784" cy="1618488"/>
          </a:xfrm>
          <a:effectLst/>
        </p:grpSpPr>
        <p:grpSp>
          <p:nvGrpSpPr>
            <p:cNvPr id="154" name="Group 153">
              <a:extLst>
                <a:ext uri="{FF2B5EF4-FFF2-40B4-BE49-F238E27FC236}">
                  <a16:creationId xmlns:a16="http://schemas.microsoft.com/office/drawing/2014/main" id="{CA13EAB6-7A93-68C5-66A2-CE30060AFDDD}"/>
                </a:ext>
              </a:extLst>
            </p:cNvPr>
            <p:cNvGrpSpPr/>
            <p:nvPr/>
          </p:nvGrpSpPr>
          <p:grpSpPr>
            <a:xfrm>
              <a:off x="2871284" y="4075465"/>
              <a:ext cx="1700784" cy="1618488"/>
              <a:chOff x="1163051" y="1090862"/>
              <a:chExt cx="1780673" cy="1689975"/>
            </a:xfrm>
          </p:grpSpPr>
          <p:sp>
            <p:nvSpPr>
              <p:cNvPr id="156" name="Rectangle: Rounded Corners 30">
                <a:extLst>
                  <a:ext uri="{FF2B5EF4-FFF2-40B4-BE49-F238E27FC236}">
                    <a16:creationId xmlns:a16="http://schemas.microsoft.com/office/drawing/2014/main" id="{F2F9EF79-E7ED-B5EB-22D4-AFBC256A23EC}"/>
                  </a:ext>
                </a:extLst>
              </p:cNvPr>
              <p:cNvSpPr/>
              <p:nvPr/>
            </p:nvSpPr>
            <p:spPr>
              <a:xfrm>
                <a:off x="1163051" y="1090862"/>
                <a:ext cx="1780673" cy="1689975"/>
              </a:xfrm>
              <a:prstGeom prst="roundRect">
                <a:avLst/>
              </a:prstGeom>
              <a:solidFill>
                <a:schemeClr val="bg1"/>
              </a:solidFill>
              <a:ln w="38100">
                <a:no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 name="TextBox 156">
                <a:extLst>
                  <a:ext uri="{FF2B5EF4-FFF2-40B4-BE49-F238E27FC236}">
                    <a16:creationId xmlns:a16="http://schemas.microsoft.com/office/drawing/2014/main" id="{9858320A-DBE9-28E3-C6A5-0FC5EADB382C}"/>
                  </a:ext>
                </a:extLst>
              </p:cNvPr>
              <p:cNvSpPr txBox="1"/>
              <p:nvPr/>
            </p:nvSpPr>
            <p:spPr>
              <a:xfrm>
                <a:off x="1239249" y="1236574"/>
                <a:ext cx="1628275" cy="385645"/>
              </a:xfrm>
              <a:prstGeom prst="rect">
                <a:avLst/>
              </a:prstGeom>
              <a:noFill/>
              <a:ln>
                <a:noFill/>
              </a:ln>
            </p:spPr>
            <p:txBody>
              <a:bodyPr wrap="square" rtlCol="0">
                <a:spAutoFit/>
              </a:bodyPr>
              <a:lstStyle/>
              <a:p>
                <a:pPr algn="ctr"/>
                <a:r>
                  <a:rPr lang="en-US" b="1" dirty="0"/>
                  <a:t>Cardioversion</a:t>
                </a:r>
              </a:p>
            </p:txBody>
          </p:sp>
        </p:grpSp>
        <p:pic>
          <p:nvPicPr>
            <p:cNvPr id="155" name="Picture 154" descr="A jet flying in the sky&#10;&#10;Description automatically generated with low confidence">
              <a:extLst>
                <a:ext uri="{FF2B5EF4-FFF2-40B4-BE49-F238E27FC236}">
                  <a16:creationId xmlns:a16="http://schemas.microsoft.com/office/drawing/2014/main" id="{C54597FC-28FB-EF98-8C9E-A007CBEDDC5E}"/>
                </a:ext>
              </a:extLst>
            </p:cNvPr>
            <p:cNvPicPr>
              <a:picLocks noChangeAspect="1"/>
            </p:cNvPicPr>
            <p:nvPr/>
          </p:nvPicPr>
          <p:blipFill rotWithShape="1">
            <a:blip r:embed="rId5">
              <a:extLst>
                <a:ext uri="{28A0092B-C50C-407E-A947-70E740481C1C}">
                  <a14:useLocalDpi xmlns:a14="http://schemas.microsoft.com/office/drawing/2010/main" val="0"/>
                </a:ext>
              </a:extLst>
            </a:blip>
            <a:srcRect l="35238" t="37285" r="52920" b="43525"/>
            <a:stretch/>
          </p:blipFill>
          <p:spPr>
            <a:xfrm>
              <a:off x="3075552" y="4399412"/>
              <a:ext cx="1082813" cy="1228284"/>
            </a:xfrm>
            <a:prstGeom prst="rect">
              <a:avLst/>
            </a:prstGeom>
            <a:ln>
              <a:noFill/>
            </a:ln>
          </p:spPr>
        </p:pic>
      </p:grpSp>
      <p:grpSp>
        <p:nvGrpSpPr>
          <p:cNvPr id="144" name="Frequent falls">
            <a:extLst>
              <a:ext uri="{FF2B5EF4-FFF2-40B4-BE49-F238E27FC236}">
                <a16:creationId xmlns:a16="http://schemas.microsoft.com/office/drawing/2014/main" id="{E4EDC962-4AD3-CE87-A58A-70C11FC0BC2D}"/>
              </a:ext>
            </a:extLst>
          </p:cNvPr>
          <p:cNvGrpSpPr/>
          <p:nvPr/>
        </p:nvGrpSpPr>
        <p:grpSpPr>
          <a:xfrm>
            <a:off x="7660931" y="1098254"/>
            <a:ext cx="1700784" cy="1618488"/>
            <a:chOff x="7688708" y="279166"/>
            <a:chExt cx="1700784" cy="1618488"/>
          </a:xfrm>
          <a:effectLst/>
        </p:grpSpPr>
        <p:sp>
          <p:nvSpPr>
            <p:cNvPr id="145" name="Rectangle: Rounded Corners 36">
              <a:extLst>
                <a:ext uri="{FF2B5EF4-FFF2-40B4-BE49-F238E27FC236}">
                  <a16:creationId xmlns:a16="http://schemas.microsoft.com/office/drawing/2014/main" id="{97E8D106-B9C8-0023-37EF-F6D4BB48A23B}"/>
                </a:ext>
              </a:extLst>
            </p:cNvPr>
            <p:cNvSpPr/>
            <p:nvPr/>
          </p:nvSpPr>
          <p:spPr>
            <a:xfrm>
              <a:off x="7688708" y="279166"/>
              <a:ext cx="1700784" cy="1618488"/>
            </a:xfrm>
            <a:prstGeom prst="roundRect">
              <a:avLst/>
            </a:prstGeom>
            <a:solidFill>
              <a:schemeClr val="bg1"/>
            </a:solidFill>
            <a:ln w="38100">
              <a:no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 name="TextBox 145">
              <a:extLst>
                <a:ext uri="{FF2B5EF4-FFF2-40B4-BE49-F238E27FC236}">
                  <a16:creationId xmlns:a16="http://schemas.microsoft.com/office/drawing/2014/main" id="{47EC5DE2-4B0B-5974-59B9-D37FDF21578A}"/>
                </a:ext>
              </a:extLst>
            </p:cNvPr>
            <p:cNvSpPr txBox="1"/>
            <p:nvPr/>
          </p:nvSpPr>
          <p:spPr>
            <a:xfrm>
              <a:off x="7761488" y="418714"/>
              <a:ext cx="1525344" cy="353709"/>
            </a:xfrm>
            <a:prstGeom prst="rect">
              <a:avLst/>
            </a:prstGeom>
            <a:noFill/>
            <a:ln>
              <a:noFill/>
            </a:ln>
          </p:spPr>
          <p:txBody>
            <a:bodyPr wrap="square" rtlCol="0">
              <a:spAutoFit/>
            </a:bodyPr>
            <a:lstStyle/>
            <a:p>
              <a:pPr algn="ctr"/>
              <a:r>
                <a:rPr lang="en-US" b="1" dirty="0"/>
                <a:t>Frequent falls</a:t>
              </a:r>
            </a:p>
          </p:txBody>
        </p:sp>
        <p:pic>
          <p:nvPicPr>
            <p:cNvPr id="147" name="Picture 2" descr="Illustration of stick figure falling down">
              <a:extLst>
                <a:ext uri="{FF2B5EF4-FFF2-40B4-BE49-F238E27FC236}">
                  <a16:creationId xmlns:a16="http://schemas.microsoft.com/office/drawing/2014/main" id="{8A478D3A-7A79-BFB2-BECA-04C8F82719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57594" y="741637"/>
              <a:ext cx="960713" cy="963292"/>
            </a:xfrm>
            <a:prstGeom prst="rect">
              <a:avLst/>
            </a:prstGeom>
            <a:noFill/>
            <a:ln>
              <a:noFill/>
            </a:ln>
            <a:extLst>
              <a:ext uri="{909E8E84-426E-40DD-AFC4-6F175D3DCCD1}">
                <a14:hiddenFill xmlns:a14="http://schemas.microsoft.com/office/drawing/2010/main">
                  <a:solidFill>
                    <a:srgbClr val="FFFFFF"/>
                  </a:solidFill>
                </a14:hiddenFill>
              </a:ext>
            </a:extLst>
          </p:spPr>
        </p:pic>
      </p:grpSp>
      <p:grpSp>
        <p:nvGrpSpPr>
          <p:cNvPr id="135" name="Obesity">
            <a:extLst>
              <a:ext uri="{FF2B5EF4-FFF2-40B4-BE49-F238E27FC236}">
                <a16:creationId xmlns:a16="http://schemas.microsoft.com/office/drawing/2014/main" id="{C2E2C291-3BB8-EC42-111D-7F5B3FE1782F}"/>
              </a:ext>
            </a:extLst>
          </p:cNvPr>
          <p:cNvGrpSpPr/>
          <p:nvPr/>
        </p:nvGrpSpPr>
        <p:grpSpPr>
          <a:xfrm>
            <a:off x="2838899" y="2989003"/>
            <a:ext cx="1704473" cy="1617657"/>
            <a:chOff x="1163052" y="1090862"/>
            <a:chExt cx="1780672" cy="1689975"/>
          </a:xfrm>
          <a:effectLst/>
        </p:grpSpPr>
        <p:sp>
          <p:nvSpPr>
            <p:cNvPr id="136" name="Rectangle: Rounded Corners 7">
              <a:extLst>
                <a:ext uri="{FF2B5EF4-FFF2-40B4-BE49-F238E27FC236}">
                  <a16:creationId xmlns:a16="http://schemas.microsoft.com/office/drawing/2014/main" id="{A9E95485-3592-D6D7-80D6-1BA2DA3221A8}"/>
                </a:ext>
              </a:extLst>
            </p:cNvPr>
            <p:cNvSpPr/>
            <p:nvPr/>
          </p:nvSpPr>
          <p:spPr>
            <a:xfrm>
              <a:off x="1163052" y="1090862"/>
              <a:ext cx="1780672" cy="1689975"/>
            </a:xfrm>
            <a:prstGeom prst="roundRect">
              <a:avLst/>
            </a:prstGeom>
            <a:solidFill>
              <a:schemeClr val="bg1"/>
            </a:solidFill>
            <a:ln w="38100">
              <a:no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137" name="Group 136">
              <a:extLst>
                <a:ext uri="{FF2B5EF4-FFF2-40B4-BE49-F238E27FC236}">
                  <a16:creationId xmlns:a16="http://schemas.microsoft.com/office/drawing/2014/main" id="{11E1541D-F974-E3EF-9A21-9EC6CD39D08A}"/>
                </a:ext>
              </a:extLst>
            </p:cNvPr>
            <p:cNvGrpSpPr/>
            <p:nvPr/>
          </p:nvGrpSpPr>
          <p:grpSpPr>
            <a:xfrm>
              <a:off x="1308665" y="1243445"/>
              <a:ext cx="1453662" cy="1527829"/>
              <a:chOff x="1308665" y="1243445"/>
              <a:chExt cx="1453662" cy="1527829"/>
            </a:xfrm>
          </p:grpSpPr>
          <p:pic>
            <p:nvPicPr>
              <p:cNvPr id="138" name="Picture 137" descr="Graphical user interface, application&#10;&#10;Description automatically generated">
                <a:extLst>
                  <a:ext uri="{FF2B5EF4-FFF2-40B4-BE49-F238E27FC236}">
                    <a16:creationId xmlns:a16="http://schemas.microsoft.com/office/drawing/2014/main" id="{5B48DC8F-3598-FC2B-000B-C4AE8B470CCF}"/>
                  </a:ext>
                </a:extLst>
              </p:cNvPr>
              <p:cNvPicPr>
                <a:picLocks noChangeAspect="1"/>
              </p:cNvPicPr>
              <p:nvPr/>
            </p:nvPicPr>
            <p:blipFill rotWithShape="1">
              <a:blip r:embed="rId7">
                <a:extLst>
                  <a:ext uri="{28A0092B-C50C-407E-A947-70E740481C1C}">
                    <a14:useLocalDpi xmlns:a14="http://schemas.microsoft.com/office/drawing/2010/main" val="0"/>
                  </a:ext>
                </a:extLst>
              </a:blip>
              <a:srcRect l="24872" t="28297" r="59231" b="50000"/>
              <a:stretch/>
            </p:blipFill>
            <p:spPr>
              <a:xfrm>
                <a:off x="1308665" y="1382089"/>
                <a:ext cx="1453662" cy="1389185"/>
              </a:xfrm>
              <a:prstGeom prst="rect">
                <a:avLst/>
              </a:prstGeom>
              <a:ln>
                <a:noFill/>
              </a:ln>
            </p:spPr>
          </p:pic>
          <p:sp>
            <p:nvSpPr>
              <p:cNvPr id="139" name="TextBox 138">
                <a:extLst>
                  <a:ext uri="{FF2B5EF4-FFF2-40B4-BE49-F238E27FC236}">
                    <a16:creationId xmlns:a16="http://schemas.microsoft.com/office/drawing/2014/main" id="{11A11E44-9CDA-2BF3-3ABC-7367AD233C56}"/>
                  </a:ext>
                </a:extLst>
              </p:cNvPr>
              <p:cNvSpPr txBox="1"/>
              <p:nvPr/>
            </p:nvSpPr>
            <p:spPr>
              <a:xfrm>
                <a:off x="1552999" y="1243445"/>
                <a:ext cx="962526" cy="369332"/>
              </a:xfrm>
              <a:prstGeom prst="rect">
                <a:avLst/>
              </a:prstGeom>
              <a:noFill/>
              <a:ln>
                <a:noFill/>
              </a:ln>
            </p:spPr>
            <p:txBody>
              <a:bodyPr wrap="square" rtlCol="0">
                <a:spAutoFit/>
              </a:bodyPr>
              <a:lstStyle/>
              <a:p>
                <a:pPr algn="ctr"/>
                <a:r>
                  <a:rPr lang="en-US" b="1" dirty="0"/>
                  <a:t>Obesity</a:t>
                </a:r>
              </a:p>
            </p:txBody>
          </p:sp>
        </p:grpSp>
      </p:grpSp>
      <p:grpSp>
        <p:nvGrpSpPr>
          <p:cNvPr id="158" name="Group 157">
            <a:extLst>
              <a:ext uri="{FF2B5EF4-FFF2-40B4-BE49-F238E27FC236}">
                <a16:creationId xmlns:a16="http://schemas.microsoft.com/office/drawing/2014/main" id="{125124DB-BE51-53D2-B974-429960509178}"/>
              </a:ext>
            </a:extLst>
          </p:cNvPr>
          <p:cNvGrpSpPr/>
          <p:nvPr/>
        </p:nvGrpSpPr>
        <p:grpSpPr>
          <a:xfrm>
            <a:off x="2838899" y="1098254"/>
            <a:ext cx="1700784" cy="1618488"/>
            <a:chOff x="2866676" y="944194"/>
            <a:chExt cx="1700784" cy="1618488"/>
          </a:xfrm>
          <a:effectLst/>
        </p:grpSpPr>
        <p:grpSp>
          <p:nvGrpSpPr>
            <p:cNvPr id="159" name="Group 158">
              <a:extLst>
                <a:ext uri="{FF2B5EF4-FFF2-40B4-BE49-F238E27FC236}">
                  <a16:creationId xmlns:a16="http://schemas.microsoft.com/office/drawing/2014/main" id="{DE482F1A-D340-6A42-7B37-82B72527A04D}"/>
                </a:ext>
              </a:extLst>
            </p:cNvPr>
            <p:cNvGrpSpPr/>
            <p:nvPr/>
          </p:nvGrpSpPr>
          <p:grpSpPr>
            <a:xfrm>
              <a:off x="2866676" y="944194"/>
              <a:ext cx="1700784" cy="1618488"/>
              <a:chOff x="1163051" y="1090862"/>
              <a:chExt cx="1780673" cy="1689975"/>
            </a:xfrm>
          </p:grpSpPr>
          <p:sp>
            <p:nvSpPr>
              <p:cNvPr id="161" name="Rectangle: Rounded Corners 18">
                <a:extLst>
                  <a:ext uri="{FF2B5EF4-FFF2-40B4-BE49-F238E27FC236}">
                    <a16:creationId xmlns:a16="http://schemas.microsoft.com/office/drawing/2014/main" id="{FC7D4A05-90BD-C6CA-2CE7-1D901C6FEEDE}"/>
                  </a:ext>
                </a:extLst>
              </p:cNvPr>
              <p:cNvSpPr/>
              <p:nvPr/>
            </p:nvSpPr>
            <p:spPr>
              <a:xfrm>
                <a:off x="1163051" y="1090862"/>
                <a:ext cx="1780673" cy="1689975"/>
              </a:xfrm>
              <a:prstGeom prst="roundRect">
                <a:avLst/>
              </a:prstGeom>
              <a:solidFill>
                <a:schemeClr val="bg1"/>
              </a:solidFill>
              <a:ln w="38100">
                <a:no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62" name="TextBox 161">
                <a:extLst>
                  <a:ext uri="{FF2B5EF4-FFF2-40B4-BE49-F238E27FC236}">
                    <a16:creationId xmlns:a16="http://schemas.microsoft.com/office/drawing/2014/main" id="{A443CB55-ABAE-3B30-9AAD-EE67F12C80DC}"/>
                  </a:ext>
                </a:extLst>
              </p:cNvPr>
              <p:cNvSpPr txBox="1"/>
              <p:nvPr/>
            </p:nvSpPr>
            <p:spPr>
              <a:xfrm>
                <a:off x="1163052" y="1243445"/>
                <a:ext cx="1780672" cy="385645"/>
              </a:xfrm>
              <a:prstGeom prst="rect">
                <a:avLst/>
              </a:prstGeom>
              <a:noFill/>
              <a:ln>
                <a:noFill/>
              </a:ln>
            </p:spPr>
            <p:txBody>
              <a:bodyPr wrap="square" rtlCol="0">
                <a:spAutoFit/>
              </a:bodyPr>
              <a:lstStyle/>
              <a:p>
                <a:pPr algn="ctr"/>
                <a:r>
                  <a:rPr lang="en-US" b="1" dirty="0"/>
                  <a:t>Valve disease</a:t>
                </a:r>
              </a:p>
            </p:txBody>
          </p:sp>
        </p:grpSp>
        <p:pic>
          <p:nvPicPr>
            <p:cNvPr id="160" name="Picture 159" descr="A moon in the sky&#10;&#10;Description automatically generated with low confidence">
              <a:extLst>
                <a:ext uri="{FF2B5EF4-FFF2-40B4-BE49-F238E27FC236}">
                  <a16:creationId xmlns:a16="http://schemas.microsoft.com/office/drawing/2014/main" id="{14C51953-6BB3-186B-C55C-2D6982DCFC5A}"/>
                </a:ext>
              </a:extLst>
            </p:cNvPr>
            <p:cNvPicPr>
              <a:picLocks noChangeAspect="1"/>
            </p:cNvPicPr>
            <p:nvPr/>
          </p:nvPicPr>
          <p:blipFill rotWithShape="1">
            <a:blip r:embed="rId8">
              <a:extLst>
                <a:ext uri="{28A0092B-C50C-407E-A947-70E740481C1C}">
                  <a14:useLocalDpi xmlns:a14="http://schemas.microsoft.com/office/drawing/2010/main" val="0"/>
                </a:ext>
              </a:extLst>
            </a:blip>
            <a:srcRect l="46563" t="29590" r="36206" b="47604"/>
            <a:stretch/>
          </p:blipFill>
          <p:spPr>
            <a:xfrm>
              <a:off x="3059859" y="1363112"/>
              <a:ext cx="1270462" cy="1177044"/>
            </a:xfrm>
            <a:prstGeom prst="rect">
              <a:avLst/>
            </a:prstGeom>
            <a:ln>
              <a:noFill/>
            </a:ln>
          </p:spPr>
        </p:pic>
      </p:grpSp>
      <p:grpSp>
        <p:nvGrpSpPr>
          <p:cNvPr id="20" name="Obesity">
            <a:extLst>
              <a:ext uri="{FF2B5EF4-FFF2-40B4-BE49-F238E27FC236}">
                <a16:creationId xmlns:a16="http://schemas.microsoft.com/office/drawing/2014/main" id="{1FE557C5-633D-8545-BC9D-9D7F8675890E}"/>
              </a:ext>
            </a:extLst>
          </p:cNvPr>
          <p:cNvGrpSpPr/>
          <p:nvPr/>
        </p:nvGrpSpPr>
        <p:grpSpPr>
          <a:xfrm>
            <a:off x="2837054" y="2989003"/>
            <a:ext cx="1704473" cy="1617657"/>
            <a:chOff x="1163052" y="1090862"/>
            <a:chExt cx="1780672" cy="1689975"/>
          </a:xfrm>
        </p:grpSpPr>
        <p:sp>
          <p:nvSpPr>
            <p:cNvPr id="22" name="Rectangle: Rounded Corners 7">
              <a:extLst>
                <a:ext uri="{FF2B5EF4-FFF2-40B4-BE49-F238E27FC236}">
                  <a16:creationId xmlns:a16="http://schemas.microsoft.com/office/drawing/2014/main" id="{A64CDBBC-0DAD-B449-AE7F-F078A5B9B0DC}"/>
                </a:ext>
              </a:extLst>
            </p:cNvPr>
            <p:cNvSpPr/>
            <p:nvPr/>
          </p:nvSpPr>
          <p:spPr>
            <a:xfrm>
              <a:off x="1163052" y="1090862"/>
              <a:ext cx="1780672" cy="1689975"/>
            </a:xfrm>
            <a:prstGeom prst="roundRect">
              <a:avLst/>
            </a:prstGeom>
            <a:solidFill>
              <a:schemeClr val="bg1"/>
            </a:solidFill>
            <a:ln w="38100"/>
            <a:effectLst>
              <a:outerShdw blurRad="50800" dist="38100" dir="2700000" algn="ctr" rotWithShape="0">
                <a:srgbClr val="000000">
                  <a:alpha val="40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21" name="Group 20">
              <a:extLst>
                <a:ext uri="{FF2B5EF4-FFF2-40B4-BE49-F238E27FC236}">
                  <a16:creationId xmlns:a16="http://schemas.microsoft.com/office/drawing/2014/main" id="{0C9A7805-4923-2A4A-9EBC-B64FB7DCE5A8}"/>
                </a:ext>
              </a:extLst>
            </p:cNvPr>
            <p:cNvGrpSpPr/>
            <p:nvPr/>
          </p:nvGrpSpPr>
          <p:grpSpPr>
            <a:xfrm>
              <a:off x="1308665" y="1243445"/>
              <a:ext cx="1453662" cy="1527829"/>
              <a:chOff x="1308665" y="1243445"/>
              <a:chExt cx="1453662" cy="1527829"/>
            </a:xfrm>
          </p:grpSpPr>
          <p:pic>
            <p:nvPicPr>
              <p:cNvPr id="23" name="Picture 22" descr="Graphical user interface, application&#10;&#10;Description automatically generated">
                <a:extLst>
                  <a:ext uri="{FF2B5EF4-FFF2-40B4-BE49-F238E27FC236}">
                    <a16:creationId xmlns:a16="http://schemas.microsoft.com/office/drawing/2014/main" id="{C30A586A-0690-084F-9297-C4E8CC5EE0E6}"/>
                  </a:ext>
                </a:extLst>
              </p:cNvPr>
              <p:cNvPicPr>
                <a:picLocks noChangeAspect="1"/>
              </p:cNvPicPr>
              <p:nvPr/>
            </p:nvPicPr>
            <p:blipFill rotWithShape="1">
              <a:blip r:embed="rId7">
                <a:extLst>
                  <a:ext uri="{28A0092B-C50C-407E-A947-70E740481C1C}">
                    <a14:useLocalDpi xmlns:a14="http://schemas.microsoft.com/office/drawing/2010/main" val="0"/>
                  </a:ext>
                </a:extLst>
              </a:blip>
              <a:srcRect l="24872" t="28297" r="59231" b="50000"/>
              <a:stretch/>
            </p:blipFill>
            <p:spPr>
              <a:xfrm>
                <a:off x="1308665" y="1382089"/>
                <a:ext cx="1453662" cy="1389185"/>
              </a:xfrm>
              <a:prstGeom prst="rect">
                <a:avLst/>
              </a:prstGeom>
            </p:spPr>
          </p:pic>
          <p:sp>
            <p:nvSpPr>
              <p:cNvPr id="24" name="TextBox 23">
                <a:extLst>
                  <a:ext uri="{FF2B5EF4-FFF2-40B4-BE49-F238E27FC236}">
                    <a16:creationId xmlns:a16="http://schemas.microsoft.com/office/drawing/2014/main" id="{F4FE6A3C-746F-9149-9D9D-650F578A04FD}"/>
                  </a:ext>
                </a:extLst>
              </p:cNvPr>
              <p:cNvSpPr txBox="1"/>
              <p:nvPr/>
            </p:nvSpPr>
            <p:spPr>
              <a:xfrm>
                <a:off x="1552999" y="1243445"/>
                <a:ext cx="962526" cy="369332"/>
              </a:xfrm>
              <a:prstGeom prst="rect">
                <a:avLst/>
              </a:prstGeom>
              <a:noFill/>
            </p:spPr>
            <p:txBody>
              <a:bodyPr wrap="square" rtlCol="0">
                <a:spAutoFit/>
              </a:bodyPr>
              <a:lstStyle/>
              <a:p>
                <a:pPr algn="ctr"/>
                <a:r>
                  <a:rPr lang="en-US" b="1" dirty="0"/>
                  <a:t>Obesity</a:t>
                </a:r>
              </a:p>
            </p:txBody>
          </p:sp>
        </p:grpSp>
      </p:grpSp>
      <p:grpSp>
        <p:nvGrpSpPr>
          <p:cNvPr id="11" name="CKD">
            <a:extLst>
              <a:ext uri="{FF2B5EF4-FFF2-40B4-BE49-F238E27FC236}">
                <a16:creationId xmlns:a16="http://schemas.microsoft.com/office/drawing/2014/main" id="{906CFD1B-8DAD-4A4F-B94D-592B095325E4}"/>
              </a:ext>
            </a:extLst>
          </p:cNvPr>
          <p:cNvGrpSpPr/>
          <p:nvPr/>
        </p:nvGrpSpPr>
        <p:grpSpPr>
          <a:xfrm>
            <a:off x="7659086" y="4894286"/>
            <a:ext cx="1700784" cy="1618488"/>
            <a:chOff x="7688708" y="4075198"/>
            <a:chExt cx="1700784" cy="1618488"/>
          </a:xfrm>
        </p:grpSpPr>
        <p:sp>
          <p:nvSpPr>
            <p:cNvPr id="59" name="Rectangle: Rounded Corners 44">
              <a:extLst>
                <a:ext uri="{FF2B5EF4-FFF2-40B4-BE49-F238E27FC236}">
                  <a16:creationId xmlns:a16="http://schemas.microsoft.com/office/drawing/2014/main" id="{F9EE2942-8FB1-124B-AEED-0624193871DC}"/>
                </a:ext>
              </a:extLst>
            </p:cNvPr>
            <p:cNvSpPr/>
            <p:nvPr/>
          </p:nvSpPr>
          <p:spPr>
            <a:xfrm>
              <a:off x="7688708" y="4075198"/>
              <a:ext cx="1700784" cy="1618488"/>
            </a:xfrm>
            <a:prstGeom prst="roundRect">
              <a:avLst/>
            </a:prstGeom>
            <a:solidFill>
              <a:schemeClr val="bg1"/>
            </a:solidFill>
            <a:ln w="38100"/>
            <a:effectLst>
              <a:outerShdw blurRad="50800" dist="38100" dir="2700000" algn="ctr" rotWithShape="0">
                <a:srgbClr val="000000">
                  <a:alpha val="40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51" name="Picture 50" descr="Graphical user interface, application&#10;&#10;Description automatically generated">
              <a:extLst>
                <a:ext uri="{FF2B5EF4-FFF2-40B4-BE49-F238E27FC236}">
                  <a16:creationId xmlns:a16="http://schemas.microsoft.com/office/drawing/2014/main" id="{B4F24A06-AE8D-1540-80D4-1536790D098E}"/>
                </a:ext>
              </a:extLst>
            </p:cNvPr>
            <p:cNvPicPr>
              <a:picLocks noChangeAspect="1"/>
            </p:cNvPicPr>
            <p:nvPr/>
          </p:nvPicPr>
          <p:blipFill rotWithShape="1">
            <a:blip r:embed="rId3">
              <a:extLst>
                <a:ext uri="{28A0092B-C50C-407E-A947-70E740481C1C}">
                  <a14:useLocalDpi xmlns:a14="http://schemas.microsoft.com/office/drawing/2010/main" val="0"/>
                </a:ext>
              </a:extLst>
            </a:blip>
            <a:srcRect l="18237" t="35646" r="67377" b="46563"/>
            <a:stretch/>
          </p:blipFill>
          <p:spPr>
            <a:xfrm>
              <a:off x="7910881" y="4463503"/>
              <a:ext cx="1256437" cy="1090634"/>
            </a:xfrm>
            <a:prstGeom prst="rect">
              <a:avLst/>
            </a:prstGeom>
          </p:spPr>
        </p:pic>
        <p:sp>
          <p:nvSpPr>
            <p:cNvPr id="58" name="TextBox 57">
              <a:extLst>
                <a:ext uri="{FF2B5EF4-FFF2-40B4-BE49-F238E27FC236}">
                  <a16:creationId xmlns:a16="http://schemas.microsoft.com/office/drawing/2014/main" id="{DDFC8417-ACFA-E342-BFBB-CCAE46017135}"/>
                </a:ext>
              </a:extLst>
            </p:cNvPr>
            <p:cNvSpPr txBox="1"/>
            <p:nvPr/>
          </p:nvSpPr>
          <p:spPr>
            <a:xfrm>
              <a:off x="7761489" y="4214746"/>
              <a:ext cx="1515768" cy="369332"/>
            </a:xfrm>
            <a:prstGeom prst="rect">
              <a:avLst/>
            </a:prstGeom>
            <a:noFill/>
          </p:spPr>
          <p:txBody>
            <a:bodyPr wrap="square" rtlCol="0">
              <a:spAutoFit/>
            </a:bodyPr>
            <a:lstStyle/>
            <a:p>
              <a:pPr algn="ctr"/>
              <a:r>
                <a:rPr lang="en-US" b="1" dirty="0"/>
                <a:t>CKD</a:t>
              </a:r>
            </a:p>
          </p:txBody>
        </p:sp>
      </p:grpSp>
      <p:grpSp>
        <p:nvGrpSpPr>
          <p:cNvPr id="7" name="Frequent falls">
            <a:extLst>
              <a:ext uri="{FF2B5EF4-FFF2-40B4-BE49-F238E27FC236}">
                <a16:creationId xmlns:a16="http://schemas.microsoft.com/office/drawing/2014/main" id="{BE674EDD-2781-FE4C-8244-91F17788CDBB}"/>
              </a:ext>
            </a:extLst>
          </p:cNvPr>
          <p:cNvGrpSpPr/>
          <p:nvPr/>
        </p:nvGrpSpPr>
        <p:grpSpPr>
          <a:xfrm>
            <a:off x="7659086" y="1098254"/>
            <a:ext cx="1700784" cy="1618488"/>
            <a:chOff x="7688708" y="279166"/>
            <a:chExt cx="1700784" cy="1618488"/>
          </a:xfrm>
        </p:grpSpPr>
        <p:sp>
          <p:nvSpPr>
            <p:cNvPr id="49" name="Rectangle: Rounded Corners 36">
              <a:extLst>
                <a:ext uri="{FF2B5EF4-FFF2-40B4-BE49-F238E27FC236}">
                  <a16:creationId xmlns:a16="http://schemas.microsoft.com/office/drawing/2014/main" id="{2FBCFA91-5C47-5E47-8EBF-FEAA3C2A66B0}"/>
                </a:ext>
              </a:extLst>
            </p:cNvPr>
            <p:cNvSpPr/>
            <p:nvPr/>
          </p:nvSpPr>
          <p:spPr>
            <a:xfrm>
              <a:off x="7688708" y="279166"/>
              <a:ext cx="1700784" cy="1618488"/>
            </a:xfrm>
            <a:prstGeom prst="roundRect">
              <a:avLst/>
            </a:prstGeom>
            <a:solidFill>
              <a:schemeClr val="bg1"/>
            </a:solidFill>
            <a:ln w="38100"/>
            <a:effectLst>
              <a:outerShdw blurRad="50800" dist="38100" dir="2700000" algn="ctr" rotWithShape="0">
                <a:srgbClr val="000000">
                  <a:alpha val="40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 name="TextBox 47">
              <a:extLst>
                <a:ext uri="{FF2B5EF4-FFF2-40B4-BE49-F238E27FC236}">
                  <a16:creationId xmlns:a16="http://schemas.microsoft.com/office/drawing/2014/main" id="{D182F5C7-C199-DF4D-8334-BB3718A50C3A}"/>
                </a:ext>
              </a:extLst>
            </p:cNvPr>
            <p:cNvSpPr txBox="1"/>
            <p:nvPr/>
          </p:nvSpPr>
          <p:spPr>
            <a:xfrm>
              <a:off x="7761488" y="418714"/>
              <a:ext cx="1525344" cy="353709"/>
            </a:xfrm>
            <a:prstGeom prst="rect">
              <a:avLst/>
            </a:prstGeom>
            <a:noFill/>
          </p:spPr>
          <p:txBody>
            <a:bodyPr wrap="square" rtlCol="0">
              <a:spAutoFit/>
            </a:bodyPr>
            <a:lstStyle/>
            <a:p>
              <a:pPr algn="ctr"/>
              <a:r>
                <a:rPr lang="en-US" b="1" dirty="0"/>
                <a:t>Frequent falls</a:t>
              </a:r>
            </a:p>
          </p:txBody>
        </p:sp>
        <p:pic>
          <p:nvPicPr>
            <p:cNvPr id="47" name="Picture 2" descr="Illustration of stick figure falling down">
              <a:extLst>
                <a:ext uri="{FF2B5EF4-FFF2-40B4-BE49-F238E27FC236}">
                  <a16:creationId xmlns:a16="http://schemas.microsoft.com/office/drawing/2014/main" id="{3643E476-C846-DD4C-9746-A0B35E5E68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57594" y="741637"/>
              <a:ext cx="960713" cy="96329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CAD">
            <a:extLst>
              <a:ext uri="{FF2B5EF4-FFF2-40B4-BE49-F238E27FC236}">
                <a16:creationId xmlns:a16="http://schemas.microsoft.com/office/drawing/2014/main" id="{74469E05-D750-7B43-B887-3CBE89288097}"/>
              </a:ext>
            </a:extLst>
          </p:cNvPr>
          <p:cNvGrpSpPr/>
          <p:nvPr/>
        </p:nvGrpSpPr>
        <p:grpSpPr>
          <a:xfrm>
            <a:off x="7659086" y="2989003"/>
            <a:ext cx="1700784" cy="1618488"/>
            <a:chOff x="7688708" y="2169915"/>
            <a:chExt cx="1700784" cy="1618488"/>
          </a:xfrm>
        </p:grpSpPr>
        <p:grpSp>
          <p:nvGrpSpPr>
            <p:cNvPr id="41" name="Group 40">
              <a:extLst>
                <a:ext uri="{FF2B5EF4-FFF2-40B4-BE49-F238E27FC236}">
                  <a16:creationId xmlns:a16="http://schemas.microsoft.com/office/drawing/2014/main" id="{5AF0659A-517C-C541-9FE9-538DF941EE24}"/>
                </a:ext>
              </a:extLst>
            </p:cNvPr>
            <p:cNvGrpSpPr/>
            <p:nvPr/>
          </p:nvGrpSpPr>
          <p:grpSpPr>
            <a:xfrm>
              <a:off x="7688708" y="2169915"/>
              <a:ext cx="1700784" cy="1618488"/>
              <a:chOff x="1163051" y="1090862"/>
              <a:chExt cx="1780673" cy="1689975"/>
            </a:xfrm>
          </p:grpSpPr>
          <p:sp>
            <p:nvSpPr>
              <p:cNvPr id="43" name="Rectangle: Rounded Corners 30">
                <a:extLst>
                  <a:ext uri="{FF2B5EF4-FFF2-40B4-BE49-F238E27FC236}">
                    <a16:creationId xmlns:a16="http://schemas.microsoft.com/office/drawing/2014/main" id="{AD40CE6B-59FA-0440-AA02-7C8DE413F446}"/>
                  </a:ext>
                </a:extLst>
              </p:cNvPr>
              <p:cNvSpPr/>
              <p:nvPr/>
            </p:nvSpPr>
            <p:spPr>
              <a:xfrm>
                <a:off x="1163051" y="1090862"/>
                <a:ext cx="1780673" cy="1689975"/>
              </a:xfrm>
              <a:prstGeom prst="roundRect">
                <a:avLst/>
              </a:prstGeom>
              <a:solidFill>
                <a:schemeClr val="bg1"/>
              </a:solidFill>
              <a:ln w="38100"/>
              <a:effectLst>
                <a:outerShdw blurRad="50800" dist="38100" dir="2700000" algn="ctr" rotWithShape="0">
                  <a:srgbClr val="000000">
                    <a:alpha val="40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TextBox 41">
                <a:extLst>
                  <a:ext uri="{FF2B5EF4-FFF2-40B4-BE49-F238E27FC236}">
                    <a16:creationId xmlns:a16="http://schemas.microsoft.com/office/drawing/2014/main" id="{4216DED7-3B0C-7146-9A22-A3398C9F7C09}"/>
                  </a:ext>
                </a:extLst>
              </p:cNvPr>
              <p:cNvSpPr txBox="1"/>
              <p:nvPr/>
            </p:nvSpPr>
            <p:spPr>
              <a:xfrm>
                <a:off x="1239249" y="1236574"/>
                <a:ext cx="1628275" cy="385645"/>
              </a:xfrm>
              <a:prstGeom prst="rect">
                <a:avLst/>
              </a:prstGeom>
              <a:noFill/>
            </p:spPr>
            <p:txBody>
              <a:bodyPr wrap="square" rtlCol="0">
                <a:spAutoFit/>
              </a:bodyPr>
              <a:lstStyle/>
              <a:p>
                <a:pPr algn="ctr"/>
                <a:r>
                  <a:rPr lang="en-US" b="1" dirty="0"/>
                  <a:t>CAD</a:t>
                </a:r>
              </a:p>
            </p:txBody>
          </p:sp>
        </p:grpSp>
        <p:pic>
          <p:nvPicPr>
            <p:cNvPr id="10" name="Picture 9" descr="A picture containing silhouette, night sky&#10;&#10;Description automatically generated">
              <a:extLst>
                <a:ext uri="{FF2B5EF4-FFF2-40B4-BE49-F238E27FC236}">
                  <a16:creationId xmlns:a16="http://schemas.microsoft.com/office/drawing/2014/main" id="{32EDDD1F-8C3B-1F40-8CFF-FAC6D57E0B5F}"/>
                </a:ext>
              </a:extLst>
            </p:cNvPr>
            <p:cNvPicPr>
              <a:picLocks noChangeAspect="1"/>
            </p:cNvPicPr>
            <p:nvPr/>
          </p:nvPicPr>
          <p:blipFill rotWithShape="1">
            <a:blip r:embed="rId4">
              <a:extLst>
                <a:ext uri="{28A0092B-C50C-407E-A947-70E740481C1C}">
                  <a14:useLocalDpi xmlns:a14="http://schemas.microsoft.com/office/drawing/2010/main" val="0"/>
                </a:ext>
              </a:extLst>
            </a:blip>
            <a:srcRect l="41136" t="36078" r="44927" b="43136"/>
            <a:stretch/>
          </p:blipFill>
          <p:spPr>
            <a:xfrm>
              <a:off x="8015263" y="2539417"/>
              <a:ext cx="1103604" cy="1152196"/>
            </a:xfrm>
            <a:prstGeom prst="rect">
              <a:avLst/>
            </a:prstGeom>
          </p:spPr>
        </p:pic>
      </p:grpSp>
      <p:sp>
        <p:nvSpPr>
          <p:cNvPr id="67" name="Cases">
            <a:hlinkClick r:id="" action="ppaction://noaction"/>
            <a:extLst>
              <a:ext uri="{FF2B5EF4-FFF2-40B4-BE49-F238E27FC236}">
                <a16:creationId xmlns:a16="http://schemas.microsoft.com/office/drawing/2014/main" id="{19FB7DBB-2309-D541-887D-CC0FF81B8EB9}"/>
              </a:ext>
            </a:extLst>
          </p:cNvPr>
          <p:cNvSpPr/>
          <p:nvPr/>
        </p:nvSpPr>
        <p:spPr>
          <a:xfrm>
            <a:off x="4824678" y="1364471"/>
            <a:ext cx="2365618" cy="1086054"/>
          </a:xfrm>
          <a:prstGeom prst="roundRect">
            <a:avLst>
              <a:gd name="adj" fmla="val 0"/>
            </a:avLst>
          </a:prstGeom>
          <a:noFill/>
          <a:ln w="19050">
            <a:solidFill>
              <a:schemeClr val="tx1"/>
            </a:solidFill>
          </a:ln>
          <a:effectLst>
            <a:outerShdw blurRad="50800" dist="38100" dir="2700000" algn="tl"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Moderate to severe MS or mechanical valve</a:t>
            </a:r>
          </a:p>
          <a:p>
            <a:pPr algn="ctr"/>
            <a:r>
              <a:rPr lang="en-US" b="1" dirty="0">
                <a:solidFill>
                  <a:schemeClr val="accent2"/>
                </a:solidFill>
              </a:rPr>
              <a:t>Warfarin</a:t>
            </a:r>
            <a:endParaRPr lang="en-US" sz="1600" b="1" dirty="0">
              <a:solidFill>
                <a:schemeClr val="accent2"/>
              </a:solidFill>
            </a:endParaRPr>
          </a:p>
        </p:txBody>
      </p:sp>
      <p:sp>
        <p:nvSpPr>
          <p:cNvPr id="100" name="Cases">
            <a:hlinkClick r:id="" action="ppaction://noaction"/>
            <a:extLst>
              <a:ext uri="{FF2B5EF4-FFF2-40B4-BE49-F238E27FC236}">
                <a16:creationId xmlns:a16="http://schemas.microsoft.com/office/drawing/2014/main" id="{A6268B1C-90AC-A843-A0DE-6BA6FC0F101D}"/>
              </a:ext>
            </a:extLst>
          </p:cNvPr>
          <p:cNvSpPr/>
          <p:nvPr/>
        </p:nvSpPr>
        <p:spPr>
          <a:xfrm>
            <a:off x="9650402" y="1548309"/>
            <a:ext cx="2197731" cy="718063"/>
          </a:xfrm>
          <a:prstGeom prst="roundRect">
            <a:avLst>
              <a:gd name="adj" fmla="val 0"/>
            </a:avLst>
          </a:prstGeom>
          <a:noFill/>
          <a:ln w="19050">
            <a:solidFill>
              <a:schemeClr val="tx1"/>
            </a:solidFill>
          </a:ln>
          <a:effectLst>
            <a:outerShdw blurRad="50800" dist="38100" dir="2700000" algn="tl"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Continue OAC unless history of ICH</a:t>
            </a:r>
          </a:p>
        </p:txBody>
      </p:sp>
      <p:sp>
        <p:nvSpPr>
          <p:cNvPr id="79" name="Cases">
            <a:hlinkClick r:id="" action="ppaction://noaction"/>
            <a:extLst>
              <a:ext uri="{FF2B5EF4-FFF2-40B4-BE49-F238E27FC236}">
                <a16:creationId xmlns:a16="http://schemas.microsoft.com/office/drawing/2014/main" id="{4FE8A096-87F0-E849-BB74-FC005CB1A2EE}"/>
              </a:ext>
            </a:extLst>
          </p:cNvPr>
          <p:cNvSpPr/>
          <p:nvPr/>
        </p:nvSpPr>
        <p:spPr>
          <a:xfrm>
            <a:off x="9656991" y="5388950"/>
            <a:ext cx="2197731" cy="629159"/>
          </a:xfrm>
          <a:prstGeom prst="roundRect">
            <a:avLst>
              <a:gd name="adj" fmla="val 0"/>
            </a:avLst>
          </a:prstGeom>
          <a:noFill/>
          <a:ln w="19050">
            <a:solidFill>
              <a:schemeClr val="tx1"/>
            </a:solidFill>
          </a:ln>
          <a:effectLst>
            <a:outerShdw blurRad="50800" dist="38100" dir="2700000" algn="tl"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solidFill>
              </a:rPr>
              <a:t>Apixaban </a:t>
            </a:r>
            <a:r>
              <a:rPr lang="en-US" sz="1400" dirty="0">
                <a:solidFill>
                  <a:schemeClr val="accent2"/>
                </a:solidFill>
              </a:rPr>
              <a:t>or </a:t>
            </a:r>
            <a:r>
              <a:rPr lang="en-US" b="1" dirty="0">
                <a:solidFill>
                  <a:schemeClr val="accent2"/>
                </a:solidFill>
              </a:rPr>
              <a:t>warfarin </a:t>
            </a:r>
          </a:p>
          <a:p>
            <a:pPr algn="ctr"/>
            <a:r>
              <a:rPr lang="en-US" sz="1600" dirty="0">
                <a:solidFill>
                  <a:schemeClr val="tx1"/>
                </a:solidFill>
              </a:rPr>
              <a:t>if ESRD or </a:t>
            </a:r>
            <a:r>
              <a:rPr lang="en-US" sz="1600" dirty="0" err="1">
                <a:solidFill>
                  <a:schemeClr val="tx1"/>
                </a:solidFill>
              </a:rPr>
              <a:t>CrCl</a:t>
            </a:r>
            <a:r>
              <a:rPr lang="en-US" sz="1600" dirty="0">
                <a:solidFill>
                  <a:schemeClr val="tx1"/>
                </a:solidFill>
              </a:rPr>
              <a:t> &lt; 15</a:t>
            </a:r>
          </a:p>
        </p:txBody>
      </p:sp>
      <p:sp>
        <p:nvSpPr>
          <p:cNvPr id="108" name="Cases">
            <a:hlinkClick r:id="" action="ppaction://noaction"/>
            <a:extLst>
              <a:ext uri="{FF2B5EF4-FFF2-40B4-BE49-F238E27FC236}">
                <a16:creationId xmlns:a16="http://schemas.microsoft.com/office/drawing/2014/main" id="{AF7291FC-5EA4-5B41-9CA9-56C78B3D893A}"/>
              </a:ext>
            </a:extLst>
          </p:cNvPr>
          <p:cNvSpPr/>
          <p:nvPr/>
        </p:nvSpPr>
        <p:spPr>
          <a:xfrm>
            <a:off x="9650401" y="3237738"/>
            <a:ext cx="2197731" cy="1041899"/>
          </a:xfrm>
          <a:prstGeom prst="roundRect">
            <a:avLst>
              <a:gd name="adj" fmla="val 0"/>
            </a:avLst>
          </a:prstGeom>
          <a:noFill/>
          <a:ln w="19050">
            <a:solidFill>
              <a:schemeClr val="tx1"/>
            </a:solidFill>
          </a:ln>
          <a:effectLst>
            <a:outerShdw blurRad="50800" dist="38100" dir="2700000" algn="tl"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In general, do not need ASA + OAC long term for stable CAD</a:t>
            </a:r>
          </a:p>
        </p:txBody>
      </p:sp>
      <p:grpSp>
        <p:nvGrpSpPr>
          <p:cNvPr id="2" name="Carioversion">
            <a:extLst>
              <a:ext uri="{FF2B5EF4-FFF2-40B4-BE49-F238E27FC236}">
                <a16:creationId xmlns:a16="http://schemas.microsoft.com/office/drawing/2014/main" id="{3D33F973-953A-8C45-8C87-10A33CABCDA5}"/>
              </a:ext>
            </a:extLst>
          </p:cNvPr>
          <p:cNvGrpSpPr/>
          <p:nvPr/>
        </p:nvGrpSpPr>
        <p:grpSpPr>
          <a:xfrm>
            <a:off x="2837054" y="4894286"/>
            <a:ext cx="1700784" cy="1618488"/>
            <a:chOff x="2871284" y="4075465"/>
            <a:chExt cx="1700784" cy="1618488"/>
          </a:xfrm>
        </p:grpSpPr>
        <p:grpSp>
          <p:nvGrpSpPr>
            <p:cNvPr id="113" name="Group 112">
              <a:extLst>
                <a:ext uri="{FF2B5EF4-FFF2-40B4-BE49-F238E27FC236}">
                  <a16:creationId xmlns:a16="http://schemas.microsoft.com/office/drawing/2014/main" id="{40B4BC49-AEC6-3D45-9B15-1D00302D99B0}"/>
                </a:ext>
              </a:extLst>
            </p:cNvPr>
            <p:cNvGrpSpPr/>
            <p:nvPr/>
          </p:nvGrpSpPr>
          <p:grpSpPr>
            <a:xfrm>
              <a:off x="2871284" y="4075465"/>
              <a:ext cx="1700784" cy="1618488"/>
              <a:chOff x="1163051" y="1090862"/>
              <a:chExt cx="1780673" cy="1689975"/>
            </a:xfrm>
          </p:grpSpPr>
          <p:sp>
            <p:nvSpPr>
              <p:cNvPr id="115" name="Rectangle: Rounded Corners 30">
                <a:extLst>
                  <a:ext uri="{FF2B5EF4-FFF2-40B4-BE49-F238E27FC236}">
                    <a16:creationId xmlns:a16="http://schemas.microsoft.com/office/drawing/2014/main" id="{B1604A76-01CE-3640-8E3B-888903604502}"/>
                  </a:ext>
                </a:extLst>
              </p:cNvPr>
              <p:cNvSpPr/>
              <p:nvPr/>
            </p:nvSpPr>
            <p:spPr>
              <a:xfrm>
                <a:off x="1163051" y="1090862"/>
                <a:ext cx="1780673" cy="1689975"/>
              </a:xfrm>
              <a:prstGeom prst="roundRect">
                <a:avLst/>
              </a:prstGeom>
              <a:solidFill>
                <a:schemeClr val="bg1"/>
              </a:solidFill>
              <a:ln w="38100"/>
              <a:effectLst>
                <a:outerShdw blurRad="50800" dist="38100" dir="2700000" algn="ctr" rotWithShape="0">
                  <a:srgbClr val="000000">
                    <a:alpha val="40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 name="TextBox 115">
                <a:extLst>
                  <a:ext uri="{FF2B5EF4-FFF2-40B4-BE49-F238E27FC236}">
                    <a16:creationId xmlns:a16="http://schemas.microsoft.com/office/drawing/2014/main" id="{C07B9ACB-8D62-AC4B-86D5-E4E6A14170D0}"/>
                  </a:ext>
                </a:extLst>
              </p:cNvPr>
              <p:cNvSpPr txBox="1"/>
              <p:nvPr/>
            </p:nvSpPr>
            <p:spPr>
              <a:xfrm>
                <a:off x="1239249" y="1236574"/>
                <a:ext cx="1628275" cy="385645"/>
              </a:xfrm>
              <a:prstGeom prst="rect">
                <a:avLst/>
              </a:prstGeom>
              <a:noFill/>
            </p:spPr>
            <p:txBody>
              <a:bodyPr wrap="square" rtlCol="0">
                <a:spAutoFit/>
              </a:bodyPr>
              <a:lstStyle/>
              <a:p>
                <a:pPr algn="ctr"/>
                <a:r>
                  <a:rPr lang="en-US" b="1" dirty="0"/>
                  <a:t>Cardioversion</a:t>
                </a:r>
              </a:p>
            </p:txBody>
          </p:sp>
        </p:grpSp>
        <p:pic>
          <p:nvPicPr>
            <p:cNvPr id="5" name="Picture 4" descr="A jet flying in the sky&#10;&#10;Description automatically generated with low confidence">
              <a:extLst>
                <a:ext uri="{FF2B5EF4-FFF2-40B4-BE49-F238E27FC236}">
                  <a16:creationId xmlns:a16="http://schemas.microsoft.com/office/drawing/2014/main" id="{51AFFC19-0B15-AA40-9FAE-90C2AABBA22E}"/>
                </a:ext>
              </a:extLst>
            </p:cNvPr>
            <p:cNvPicPr>
              <a:picLocks noChangeAspect="1"/>
            </p:cNvPicPr>
            <p:nvPr/>
          </p:nvPicPr>
          <p:blipFill rotWithShape="1">
            <a:blip r:embed="rId5">
              <a:extLst>
                <a:ext uri="{28A0092B-C50C-407E-A947-70E740481C1C}">
                  <a14:useLocalDpi xmlns:a14="http://schemas.microsoft.com/office/drawing/2010/main" val="0"/>
                </a:ext>
              </a:extLst>
            </a:blip>
            <a:srcRect l="35238" t="37285" r="52920" b="43525"/>
            <a:stretch/>
          </p:blipFill>
          <p:spPr>
            <a:xfrm>
              <a:off x="3075552" y="4399412"/>
              <a:ext cx="1082813" cy="1228284"/>
            </a:xfrm>
            <a:prstGeom prst="rect">
              <a:avLst/>
            </a:prstGeom>
          </p:spPr>
        </p:pic>
      </p:grpSp>
      <p:sp>
        <p:nvSpPr>
          <p:cNvPr id="70" name="TextBox 69">
            <a:extLst>
              <a:ext uri="{FF2B5EF4-FFF2-40B4-BE49-F238E27FC236}">
                <a16:creationId xmlns:a16="http://schemas.microsoft.com/office/drawing/2014/main" id="{284A462A-4A49-C280-3297-9D4614DB7C8D}"/>
              </a:ext>
            </a:extLst>
          </p:cNvPr>
          <p:cNvSpPr txBox="1"/>
          <p:nvPr/>
        </p:nvSpPr>
        <p:spPr>
          <a:xfrm>
            <a:off x="2837054" y="600645"/>
            <a:ext cx="4512390" cy="430887"/>
          </a:xfrm>
          <a:prstGeom prst="rect">
            <a:avLst/>
          </a:prstGeom>
          <a:noFill/>
        </p:spPr>
        <p:txBody>
          <a:bodyPr wrap="square" rtlCol="0">
            <a:spAutoFit/>
          </a:bodyPr>
          <a:lstStyle/>
          <a:p>
            <a:r>
              <a:rPr lang="en-US" sz="2200" b="1" dirty="0"/>
              <a:t>What if your patient has…</a:t>
            </a:r>
          </a:p>
        </p:txBody>
      </p:sp>
      <p:grpSp>
        <p:nvGrpSpPr>
          <p:cNvPr id="6" name="Valve disease button">
            <a:extLst>
              <a:ext uri="{FF2B5EF4-FFF2-40B4-BE49-F238E27FC236}">
                <a16:creationId xmlns:a16="http://schemas.microsoft.com/office/drawing/2014/main" id="{1EE5DA38-E037-F14C-F4D8-17750307C85F}"/>
              </a:ext>
            </a:extLst>
          </p:cNvPr>
          <p:cNvGrpSpPr/>
          <p:nvPr/>
        </p:nvGrpSpPr>
        <p:grpSpPr>
          <a:xfrm>
            <a:off x="2837054" y="1098254"/>
            <a:ext cx="1700784" cy="1618488"/>
            <a:chOff x="2866676" y="944194"/>
            <a:chExt cx="1700784" cy="1618488"/>
          </a:xfrm>
        </p:grpSpPr>
        <p:grpSp>
          <p:nvGrpSpPr>
            <p:cNvPr id="26" name="Group 25">
              <a:extLst>
                <a:ext uri="{FF2B5EF4-FFF2-40B4-BE49-F238E27FC236}">
                  <a16:creationId xmlns:a16="http://schemas.microsoft.com/office/drawing/2014/main" id="{B46A575E-8E0B-A74C-ABC1-1B99C1B0750D}"/>
                </a:ext>
              </a:extLst>
            </p:cNvPr>
            <p:cNvGrpSpPr/>
            <p:nvPr/>
          </p:nvGrpSpPr>
          <p:grpSpPr>
            <a:xfrm>
              <a:off x="2866676" y="944194"/>
              <a:ext cx="1700784" cy="1618488"/>
              <a:chOff x="1163051" y="1090862"/>
              <a:chExt cx="1780673" cy="1689975"/>
            </a:xfrm>
          </p:grpSpPr>
          <p:sp>
            <p:nvSpPr>
              <p:cNvPr id="37" name="Rectangle: Rounded Corners 18">
                <a:extLst>
                  <a:ext uri="{FF2B5EF4-FFF2-40B4-BE49-F238E27FC236}">
                    <a16:creationId xmlns:a16="http://schemas.microsoft.com/office/drawing/2014/main" id="{7EB636DB-C4FD-A54C-BB9B-1F6F1DA33B63}"/>
                  </a:ext>
                </a:extLst>
              </p:cNvPr>
              <p:cNvSpPr/>
              <p:nvPr/>
            </p:nvSpPr>
            <p:spPr>
              <a:xfrm>
                <a:off x="1163051" y="1090862"/>
                <a:ext cx="1780673" cy="1689975"/>
              </a:xfrm>
              <a:prstGeom prst="roundRect">
                <a:avLst/>
              </a:prstGeom>
              <a:solidFill>
                <a:schemeClr val="bg1"/>
              </a:solidFill>
              <a:ln w="38100"/>
              <a:effectLst>
                <a:outerShdw blurRad="50800" dist="38100" dir="2700000" algn="ctr" rotWithShape="0">
                  <a:srgbClr val="000000">
                    <a:alpha val="40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TextBox 35">
                <a:extLst>
                  <a:ext uri="{FF2B5EF4-FFF2-40B4-BE49-F238E27FC236}">
                    <a16:creationId xmlns:a16="http://schemas.microsoft.com/office/drawing/2014/main" id="{1D72AC45-EF27-B746-969D-0EAF608EC749}"/>
                  </a:ext>
                </a:extLst>
              </p:cNvPr>
              <p:cNvSpPr txBox="1"/>
              <p:nvPr/>
            </p:nvSpPr>
            <p:spPr>
              <a:xfrm>
                <a:off x="1163052" y="1243445"/>
                <a:ext cx="1780672" cy="385645"/>
              </a:xfrm>
              <a:prstGeom prst="rect">
                <a:avLst/>
              </a:prstGeom>
              <a:noFill/>
            </p:spPr>
            <p:txBody>
              <a:bodyPr wrap="square" rtlCol="0">
                <a:spAutoFit/>
              </a:bodyPr>
              <a:lstStyle/>
              <a:p>
                <a:pPr algn="ctr"/>
                <a:r>
                  <a:rPr lang="en-US" b="1" dirty="0"/>
                  <a:t>Valve disease</a:t>
                </a:r>
              </a:p>
            </p:txBody>
          </p:sp>
        </p:grpSp>
        <p:pic>
          <p:nvPicPr>
            <p:cNvPr id="4" name="Picture 3" descr="A moon in the sky&#10;&#10;Description automatically generated with low confidence">
              <a:extLst>
                <a:ext uri="{FF2B5EF4-FFF2-40B4-BE49-F238E27FC236}">
                  <a16:creationId xmlns:a16="http://schemas.microsoft.com/office/drawing/2014/main" id="{7C8AD485-925D-FCD5-1839-F13E6359AD4C}"/>
                </a:ext>
              </a:extLst>
            </p:cNvPr>
            <p:cNvPicPr>
              <a:picLocks noChangeAspect="1"/>
            </p:cNvPicPr>
            <p:nvPr/>
          </p:nvPicPr>
          <p:blipFill rotWithShape="1">
            <a:blip r:embed="rId8">
              <a:extLst>
                <a:ext uri="{28A0092B-C50C-407E-A947-70E740481C1C}">
                  <a14:useLocalDpi xmlns:a14="http://schemas.microsoft.com/office/drawing/2010/main" val="0"/>
                </a:ext>
              </a:extLst>
            </a:blip>
            <a:srcRect l="46563" t="29590" r="36206" b="47604"/>
            <a:stretch/>
          </p:blipFill>
          <p:spPr>
            <a:xfrm>
              <a:off x="3059859" y="1363112"/>
              <a:ext cx="1270462" cy="1177044"/>
            </a:xfrm>
            <a:prstGeom prst="rect">
              <a:avLst/>
            </a:prstGeom>
          </p:spPr>
        </p:pic>
      </p:grpSp>
      <p:sp>
        <p:nvSpPr>
          <p:cNvPr id="3" name="LO1: Stroke Prev">
            <a:hlinkClick r:id="rId9" action="ppaction://hlinksldjump"/>
            <a:extLst>
              <a:ext uri="{FF2B5EF4-FFF2-40B4-BE49-F238E27FC236}">
                <a16:creationId xmlns:a16="http://schemas.microsoft.com/office/drawing/2014/main" id="{9B41C547-F19F-8D37-98C0-B14D63BE43F7}"/>
              </a:ext>
            </a:extLst>
          </p:cNvPr>
          <p:cNvSpPr/>
          <p:nvPr/>
        </p:nvSpPr>
        <p:spPr>
          <a:xfrm>
            <a:off x="167951" y="148589"/>
            <a:ext cx="1875163"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Stroke Prevention</a:t>
            </a:r>
          </a:p>
        </p:txBody>
      </p:sp>
      <p:sp>
        <p:nvSpPr>
          <p:cNvPr id="8" name="LO2: Rhythm Control">
            <a:hlinkClick r:id="rId10" action="ppaction://hlinksldjump"/>
            <a:extLst>
              <a:ext uri="{FF2B5EF4-FFF2-40B4-BE49-F238E27FC236}">
                <a16:creationId xmlns:a16="http://schemas.microsoft.com/office/drawing/2014/main" id="{573DAEA6-B9E1-5684-D230-F284AF27A72E}"/>
              </a:ext>
            </a:extLst>
          </p:cNvPr>
          <p:cNvSpPr/>
          <p:nvPr/>
        </p:nvSpPr>
        <p:spPr>
          <a:xfrm>
            <a:off x="167950" y="2197293"/>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Rate Control</a:t>
            </a:r>
          </a:p>
        </p:txBody>
      </p:sp>
      <p:pic>
        <p:nvPicPr>
          <p:cNvPr id="12" name="Sidebar arrow 2" descr="Cursor with solid fill">
            <a:extLst>
              <a:ext uri="{FF2B5EF4-FFF2-40B4-BE49-F238E27FC236}">
                <a16:creationId xmlns:a16="http://schemas.microsoft.com/office/drawing/2014/main" id="{2EE8EECB-28C1-2BA3-BD09-42D5036F056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931292" y="2432899"/>
            <a:ext cx="270672" cy="270672"/>
          </a:xfrm>
          <a:prstGeom prst="rect">
            <a:avLst/>
          </a:prstGeom>
        </p:spPr>
      </p:pic>
      <p:sp>
        <p:nvSpPr>
          <p:cNvPr id="13" name="LO3: Rate Control">
            <a:hlinkClick r:id="rId13" action="ppaction://hlinksldjump"/>
            <a:extLst>
              <a:ext uri="{FF2B5EF4-FFF2-40B4-BE49-F238E27FC236}">
                <a16:creationId xmlns:a16="http://schemas.microsoft.com/office/drawing/2014/main" id="{7DB488E5-652A-FD2D-3F4A-26A6CED28A68}"/>
              </a:ext>
            </a:extLst>
          </p:cNvPr>
          <p:cNvSpPr/>
          <p:nvPr/>
        </p:nvSpPr>
        <p:spPr>
          <a:xfrm>
            <a:off x="167950" y="2709469"/>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Rhythm Control</a:t>
            </a:r>
          </a:p>
        </p:txBody>
      </p:sp>
      <p:pic>
        <p:nvPicPr>
          <p:cNvPr id="14" name="Sidebar arrow 3" descr="Cursor with solid fill">
            <a:extLst>
              <a:ext uri="{FF2B5EF4-FFF2-40B4-BE49-F238E27FC236}">
                <a16:creationId xmlns:a16="http://schemas.microsoft.com/office/drawing/2014/main" id="{46B3EC71-F654-385A-405F-6ECA04055BE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931292" y="2945762"/>
            <a:ext cx="270672" cy="270672"/>
          </a:xfrm>
          <a:prstGeom prst="rect">
            <a:avLst/>
          </a:prstGeom>
        </p:spPr>
      </p:pic>
      <p:sp>
        <p:nvSpPr>
          <p:cNvPr id="15" name="Cases">
            <a:hlinkClick r:id="rId14" action="ppaction://hlinksldjump"/>
            <a:extLst>
              <a:ext uri="{FF2B5EF4-FFF2-40B4-BE49-F238E27FC236}">
                <a16:creationId xmlns:a16="http://schemas.microsoft.com/office/drawing/2014/main" id="{DDF071E8-B57D-2851-6B27-B3FBE9E500D8}"/>
              </a:ext>
            </a:extLst>
          </p:cNvPr>
          <p:cNvSpPr/>
          <p:nvPr/>
        </p:nvSpPr>
        <p:spPr>
          <a:xfrm>
            <a:off x="167950" y="3221645"/>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16" name="Sidebar arrow 4" descr="Cursor with solid fill">
            <a:extLst>
              <a:ext uri="{FF2B5EF4-FFF2-40B4-BE49-F238E27FC236}">
                <a16:creationId xmlns:a16="http://schemas.microsoft.com/office/drawing/2014/main" id="{DD0121FF-7643-B9A6-08ED-516C05CA257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931292" y="3454288"/>
            <a:ext cx="270672" cy="270672"/>
          </a:xfrm>
          <a:prstGeom prst="rect">
            <a:avLst/>
          </a:prstGeom>
        </p:spPr>
      </p:pic>
      <p:sp>
        <p:nvSpPr>
          <p:cNvPr id="17" name="1.1 Risk Assessment">
            <a:hlinkClick r:id="rId9" action="ppaction://hlinksldjump"/>
            <a:extLst>
              <a:ext uri="{FF2B5EF4-FFF2-40B4-BE49-F238E27FC236}">
                <a16:creationId xmlns:a16="http://schemas.microsoft.com/office/drawing/2014/main" id="{299FF09C-8B3E-DC33-29F1-5A097873B115}"/>
              </a:ext>
            </a:extLst>
          </p:cNvPr>
          <p:cNvSpPr/>
          <p:nvPr/>
        </p:nvSpPr>
        <p:spPr>
          <a:xfrm>
            <a:off x="488161" y="660765"/>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Risk Assessment</a:t>
            </a:r>
          </a:p>
        </p:txBody>
      </p:sp>
      <p:pic>
        <p:nvPicPr>
          <p:cNvPr id="18" name="Sidebar arrow 1.1" descr="Cursor with solid fill">
            <a:extLst>
              <a:ext uri="{FF2B5EF4-FFF2-40B4-BE49-F238E27FC236}">
                <a16:creationId xmlns:a16="http://schemas.microsoft.com/office/drawing/2014/main" id="{1BD59A71-8965-C1DA-E1DB-809C3971F65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227118" y="902679"/>
            <a:ext cx="270672" cy="270672"/>
          </a:xfrm>
          <a:prstGeom prst="rect">
            <a:avLst/>
          </a:prstGeom>
        </p:spPr>
      </p:pic>
      <p:sp>
        <p:nvSpPr>
          <p:cNvPr id="19" name="1.2 Therapies">
            <a:hlinkClick r:id="rId15" action="ppaction://hlinksldjump"/>
            <a:extLst>
              <a:ext uri="{FF2B5EF4-FFF2-40B4-BE49-F238E27FC236}">
                <a16:creationId xmlns:a16="http://schemas.microsoft.com/office/drawing/2014/main" id="{9F7EBCA8-D61E-B493-6594-E69770FBA70F}"/>
              </a:ext>
            </a:extLst>
          </p:cNvPr>
          <p:cNvSpPr/>
          <p:nvPr/>
        </p:nvSpPr>
        <p:spPr>
          <a:xfrm>
            <a:off x="488161" y="1172941"/>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Therapies</a:t>
            </a:r>
          </a:p>
        </p:txBody>
      </p:sp>
      <p:pic>
        <p:nvPicPr>
          <p:cNvPr id="25" name="Sidebar arrow 1.2" descr="Cursor with solid fill">
            <a:extLst>
              <a:ext uri="{FF2B5EF4-FFF2-40B4-BE49-F238E27FC236}">
                <a16:creationId xmlns:a16="http://schemas.microsoft.com/office/drawing/2014/main" id="{8A4318FB-A518-BA7E-3671-4664D7062CC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227118" y="1411208"/>
            <a:ext cx="270672" cy="270672"/>
          </a:xfrm>
          <a:prstGeom prst="rect">
            <a:avLst/>
          </a:prstGeom>
        </p:spPr>
      </p:pic>
      <p:sp>
        <p:nvSpPr>
          <p:cNvPr id="27" name="1.3 Clinical Scenarios">
            <a:hlinkClick r:id="rId10" action="ppaction://hlinksldjump"/>
            <a:extLst>
              <a:ext uri="{FF2B5EF4-FFF2-40B4-BE49-F238E27FC236}">
                <a16:creationId xmlns:a16="http://schemas.microsoft.com/office/drawing/2014/main" id="{FCDFABF5-33E5-EC6C-4E42-928CC4680D62}"/>
              </a:ext>
            </a:extLst>
          </p:cNvPr>
          <p:cNvSpPr/>
          <p:nvPr/>
        </p:nvSpPr>
        <p:spPr>
          <a:xfrm>
            <a:off x="488161" y="1685117"/>
            <a:ext cx="1875163"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Clinical Scenarios</a:t>
            </a:r>
          </a:p>
        </p:txBody>
      </p:sp>
      <p:grpSp>
        <p:nvGrpSpPr>
          <p:cNvPr id="29" name="Group 28">
            <a:extLst>
              <a:ext uri="{FF2B5EF4-FFF2-40B4-BE49-F238E27FC236}">
                <a16:creationId xmlns:a16="http://schemas.microsoft.com/office/drawing/2014/main" id="{9F09A17E-0FDA-F28F-5126-56986078CCB4}"/>
              </a:ext>
            </a:extLst>
          </p:cNvPr>
          <p:cNvGrpSpPr/>
          <p:nvPr/>
        </p:nvGrpSpPr>
        <p:grpSpPr>
          <a:xfrm>
            <a:off x="300034" y="513607"/>
            <a:ext cx="188128" cy="1355500"/>
            <a:chOff x="300034" y="513607"/>
            <a:chExt cx="188128" cy="1355500"/>
          </a:xfrm>
        </p:grpSpPr>
        <p:cxnSp>
          <p:nvCxnSpPr>
            <p:cNvPr id="30" name="Connector: Elbow 2">
              <a:extLst>
                <a:ext uri="{FF2B5EF4-FFF2-40B4-BE49-F238E27FC236}">
                  <a16:creationId xmlns:a16="http://schemas.microsoft.com/office/drawing/2014/main" id="{77E61EF8-E3E7-F818-9CE4-DBCBE9DA8AD2}"/>
                </a:ext>
              </a:extLst>
            </p:cNvPr>
            <p:cNvCxnSpPr>
              <a:cxnSpLocks/>
              <a:endCxn id="17" idx="1"/>
            </p:cNvCxnSpPr>
            <p:nvPr/>
          </p:nvCxnSpPr>
          <p:spPr>
            <a:xfrm rot="16200000" flipH="1">
              <a:off x="228524" y="585117"/>
              <a:ext cx="331147" cy="188127"/>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31" name="Connector: Elbow 2">
              <a:extLst>
                <a:ext uri="{FF2B5EF4-FFF2-40B4-BE49-F238E27FC236}">
                  <a16:creationId xmlns:a16="http://schemas.microsoft.com/office/drawing/2014/main" id="{B3845470-4810-D078-E4E0-C54F86D30707}"/>
                </a:ext>
              </a:extLst>
            </p:cNvPr>
            <p:cNvCxnSpPr>
              <a:cxnSpLocks/>
              <a:endCxn id="19" idx="1"/>
            </p:cNvCxnSpPr>
            <p:nvPr/>
          </p:nvCxnSpPr>
          <p:spPr>
            <a:xfrm rot="16200000" flipH="1">
              <a:off x="109652" y="978421"/>
              <a:ext cx="568895" cy="18812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32" name="Connector: Elbow 2">
              <a:extLst>
                <a:ext uri="{FF2B5EF4-FFF2-40B4-BE49-F238E27FC236}">
                  <a16:creationId xmlns:a16="http://schemas.microsoft.com/office/drawing/2014/main" id="{F168C4F3-EA2C-C097-7E90-ADA2B7EC5B81}"/>
                </a:ext>
              </a:extLst>
            </p:cNvPr>
            <p:cNvCxnSpPr>
              <a:cxnSpLocks/>
              <a:endCxn id="27" idx="1"/>
            </p:cNvCxnSpPr>
            <p:nvPr/>
          </p:nvCxnSpPr>
          <p:spPr>
            <a:xfrm rot="16200000" flipH="1">
              <a:off x="94343" y="1475289"/>
              <a:ext cx="599510" cy="18812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sp>
        <p:nvSpPr>
          <p:cNvPr id="33" name="Title">
            <a:extLst>
              <a:ext uri="{FF2B5EF4-FFF2-40B4-BE49-F238E27FC236}">
                <a16:creationId xmlns:a16="http://schemas.microsoft.com/office/drawing/2014/main" id="{BCBD32D3-0498-5CE2-1A73-C5D4B8DB190C}"/>
              </a:ext>
            </a:extLst>
          </p:cNvPr>
          <p:cNvSpPr txBox="1"/>
          <p:nvPr/>
        </p:nvSpPr>
        <p:spPr>
          <a:xfrm>
            <a:off x="2913225" y="53723"/>
            <a:ext cx="7637869" cy="523220"/>
          </a:xfrm>
          <a:prstGeom prst="rect">
            <a:avLst/>
          </a:prstGeom>
          <a:noFill/>
        </p:spPr>
        <p:txBody>
          <a:bodyPr wrap="square" rtlCol="0">
            <a:spAutoFit/>
          </a:bodyPr>
          <a:lstStyle/>
          <a:p>
            <a:pPr algn="ctr"/>
            <a:r>
              <a:rPr lang="en-US" sz="2800" b="1" dirty="0"/>
              <a:t>Anticoagulation: Clinical Scenarios</a:t>
            </a:r>
          </a:p>
        </p:txBody>
      </p:sp>
      <p:pic>
        <p:nvPicPr>
          <p:cNvPr id="62" name="Obesity arrow" descr="Cursor with solid fill">
            <a:extLst>
              <a:ext uri="{FF2B5EF4-FFF2-40B4-BE49-F238E27FC236}">
                <a16:creationId xmlns:a16="http://schemas.microsoft.com/office/drawing/2014/main" id="{88613065-B3DE-B144-810E-34745A07399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358545" y="4403248"/>
            <a:ext cx="270672" cy="270672"/>
          </a:xfrm>
          <a:prstGeom prst="rect">
            <a:avLst/>
          </a:prstGeom>
        </p:spPr>
      </p:pic>
      <p:pic>
        <p:nvPicPr>
          <p:cNvPr id="64" name="CKD arrow" descr="Cursor with solid fill">
            <a:extLst>
              <a:ext uri="{FF2B5EF4-FFF2-40B4-BE49-F238E27FC236}">
                <a16:creationId xmlns:a16="http://schemas.microsoft.com/office/drawing/2014/main" id="{38AAF85A-59D9-4B4B-8D34-8CBE78DFC44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169153" y="6311448"/>
            <a:ext cx="270672" cy="270672"/>
          </a:xfrm>
          <a:prstGeom prst="rect">
            <a:avLst/>
          </a:prstGeom>
        </p:spPr>
      </p:pic>
      <p:pic>
        <p:nvPicPr>
          <p:cNvPr id="65" name="Frequent falls arrow" descr="Cursor with solid fill">
            <a:extLst>
              <a:ext uri="{FF2B5EF4-FFF2-40B4-BE49-F238E27FC236}">
                <a16:creationId xmlns:a16="http://schemas.microsoft.com/office/drawing/2014/main" id="{DF8C69DF-9555-B64A-BFFB-E1A90B8B203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169153" y="2539074"/>
            <a:ext cx="270672" cy="270672"/>
          </a:xfrm>
          <a:prstGeom prst="rect">
            <a:avLst/>
          </a:prstGeom>
        </p:spPr>
      </p:pic>
      <p:pic>
        <p:nvPicPr>
          <p:cNvPr id="66" name="Valve disease arrow" descr="Cursor with solid fill">
            <a:extLst>
              <a:ext uri="{FF2B5EF4-FFF2-40B4-BE49-F238E27FC236}">
                <a16:creationId xmlns:a16="http://schemas.microsoft.com/office/drawing/2014/main" id="{6E7FB395-FD11-7F49-861F-1F87E9F1319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358545" y="2505214"/>
            <a:ext cx="270672" cy="270672"/>
          </a:xfrm>
          <a:prstGeom prst="rect">
            <a:avLst/>
          </a:prstGeom>
        </p:spPr>
      </p:pic>
      <p:pic>
        <p:nvPicPr>
          <p:cNvPr id="63" name="CAD arrow" descr="Cursor with solid fill">
            <a:extLst>
              <a:ext uri="{FF2B5EF4-FFF2-40B4-BE49-F238E27FC236}">
                <a16:creationId xmlns:a16="http://schemas.microsoft.com/office/drawing/2014/main" id="{8BEC0681-AAA3-BF46-9F3A-9115A94745C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169153" y="4429574"/>
            <a:ext cx="270672" cy="270672"/>
          </a:xfrm>
          <a:prstGeom prst="rect">
            <a:avLst/>
          </a:prstGeom>
        </p:spPr>
      </p:pic>
      <p:pic>
        <p:nvPicPr>
          <p:cNvPr id="112" name="Cardioversion arrow" descr="Cursor with solid fill">
            <a:extLst>
              <a:ext uri="{FF2B5EF4-FFF2-40B4-BE49-F238E27FC236}">
                <a16:creationId xmlns:a16="http://schemas.microsoft.com/office/drawing/2014/main" id="{528062DE-CDA1-B345-8E7D-7D063673C08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358545" y="6311448"/>
            <a:ext cx="270672" cy="270672"/>
          </a:xfrm>
          <a:prstGeom prst="rect">
            <a:avLst/>
          </a:prstGeom>
        </p:spPr>
      </p:pic>
      <p:grpSp>
        <p:nvGrpSpPr>
          <p:cNvPr id="122" name="Group 121">
            <a:extLst>
              <a:ext uri="{FF2B5EF4-FFF2-40B4-BE49-F238E27FC236}">
                <a16:creationId xmlns:a16="http://schemas.microsoft.com/office/drawing/2014/main" id="{7D944243-0BD1-214A-0993-887DCE0EC569}"/>
              </a:ext>
            </a:extLst>
          </p:cNvPr>
          <p:cNvGrpSpPr/>
          <p:nvPr/>
        </p:nvGrpSpPr>
        <p:grpSpPr>
          <a:xfrm>
            <a:off x="4824678" y="2977773"/>
            <a:ext cx="2365618" cy="1640116"/>
            <a:chOff x="4836772" y="2870586"/>
            <a:chExt cx="2365618" cy="1640116"/>
          </a:xfrm>
        </p:grpSpPr>
        <p:sp>
          <p:nvSpPr>
            <p:cNvPr id="97" name="Cases">
              <a:hlinkClick r:id="" action="ppaction://noaction"/>
              <a:extLst>
                <a:ext uri="{FF2B5EF4-FFF2-40B4-BE49-F238E27FC236}">
                  <a16:creationId xmlns:a16="http://schemas.microsoft.com/office/drawing/2014/main" id="{EBD22199-DBF2-FC46-8B5E-B060392566BA}"/>
                </a:ext>
              </a:extLst>
            </p:cNvPr>
            <p:cNvSpPr/>
            <p:nvPr/>
          </p:nvSpPr>
          <p:spPr>
            <a:xfrm>
              <a:off x="4836772" y="2870586"/>
              <a:ext cx="2365618" cy="1640116"/>
            </a:xfrm>
            <a:prstGeom prst="roundRect">
              <a:avLst>
                <a:gd name="adj" fmla="val 0"/>
              </a:avLst>
            </a:prstGeom>
            <a:noFill/>
            <a:ln w="19050">
              <a:solidFill>
                <a:schemeClr val="tx1"/>
              </a:solidFill>
            </a:ln>
            <a:effectLst>
              <a:outerShdw blurRad="50800" dist="38100" dir="2700000" algn="tl"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dirty="0">
                <a:solidFill>
                  <a:schemeClr val="tx1"/>
                </a:solidFill>
              </a:endParaRPr>
            </a:p>
          </p:txBody>
        </p:sp>
        <p:grpSp>
          <p:nvGrpSpPr>
            <p:cNvPr id="80" name="Group 79">
              <a:extLst>
                <a:ext uri="{FF2B5EF4-FFF2-40B4-BE49-F238E27FC236}">
                  <a16:creationId xmlns:a16="http://schemas.microsoft.com/office/drawing/2014/main" id="{FDAA09D3-5F65-C242-415E-33EE17C4067F}"/>
                </a:ext>
              </a:extLst>
            </p:cNvPr>
            <p:cNvGrpSpPr/>
            <p:nvPr/>
          </p:nvGrpSpPr>
          <p:grpSpPr>
            <a:xfrm>
              <a:off x="4901854" y="2892737"/>
              <a:ext cx="820564" cy="1536837"/>
              <a:chOff x="4830734" y="3043164"/>
              <a:chExt cx="820564" cy="1208075"/>
            </a:xfrm>
          </p:grpSpPr>
          <p:sp>
            <p:nvSpPr>
              <p:cNvPr id="34" name="TextBox 33">
                <a:extLst>
                  <a:ext uri="{FF2B5EF4-FFF2-40B4-BE49-F238E27FC236}">
                    <a16:creationId xmlns:a16="http://schemas.microsoft.com/office/drawing/2014/main" id="{CD1E93A0-6CB1-2A66-07DF-8A42CF579484}"/>
                  </a:ext>
                </a:extLst>
              </p:cNvPr>
              <p:cNvSpPr txBox="1"/>
              <p:nvPr/>
            </p:nvSpPr>
            <p:spPr>
              <a:xfrm>
                <a:off x="4874764" y="3043164"/>
                <a:ext cx="776534" cy="338554"/>
              </a:xfrm>
              <a:prstGeom prst="rect">
                <a:avLst/>
              </a:prstGeom>
              <a:noFill/>
            </p:spPr>
            <p:txBody>
              <a:bodyPr wrap="square" rtlCol="0">
                <a:spAutoFit/>
              </a:bodyPr>
              <a:lstStyle/>
              <a:p>
                <a:pPr algn="ctr"/>
                <a:r>
                  <a:rPr lang="en-US" sz="1600" dirty="0"/>
                  <a:t>BMI</a:t>
                </a:r>
              </a:p>
            </p:txBody>
          </p:sp>
          <p:grpSp>
            <p:nvGrpSpPr>
              <p:cNvPr id="72" name="Group 71">
                <a:extLst>
                  <a:ext uri="{FF2B5EF4-FFF2-40B4-BE49-F238E27FC236}">
                    <a16:creationId xmlns:a16="http://schemas.microsoft.com/office/drawing/2014/main" id="{A06B8DE5-918E-42CD-C32A-C7867AB492C1}"/>
                  </a:ext>
                </a:extLst>
              </p:cNvPr>
              <p:cNvGrpSpPr/>
              <p:nvPr/>
            </p:nvGrpSpPr>
            <p:grpSpPr>
              <a:xfrm>
                <a:off x="4830734" y="3261361"/>
                <a:ext cx="560714" cy="989878"/>
                <a:chOff x="4792742" y="3262141"/>
                <a:chExt cx="560714" cy="989878"/>
              </a:xfrm>
            </p:grpSpPr>
            <p:grpSp>
              <p:nvGrpSpPr>
                <p:cNvPr id="60" name="Group 59">
                  <a:extLst>
                    <a:ext uri="{FF2B5EF4-FFF2-40B4-BE49-F238E27FC236}">
                      <a16:creationId xmlns:a16="http://schemas.microsoft.com/office/drawing/2014/main" id="{8471CAF4-456D-270D-55CB-C3F14416D9A2}"/>
                    </a:ext>
                  </a:extLst>
                </p:cNvPr>
                <p:cNvGrpSpPr/>
                <p:nvPr/>
              </p:nvGrpSpPr>
              <p:grpSpPr>
                <a:xfrm>
                  <a:off x="5087566" y="3262141"/>
                  <a:ext cx="265890" cy="989878"/>
                  <a:chOff x="5087566" y="3262141"/>
                  <a:chExt cx="265890" cy="989878"/>
                </a:xfrm>
              </p:grpSpPr>
              <p:cxnSp>
                <p:nvCxnSpPr>
                  <p:cNvPr id="52" name="Straight Arrow Connector 51">
                    <a:extLst>
                      <a:ext uri="{FF2B5EF4-FFF2-40B4-BE49-F238E27FC236}">
                        <a16:creationId xmlns:a16="http://schemas.microsoft.com/office/drawing/2014/main" id="{632160C5-1678-A7D2-9A19-C6DD9F72B39D}"/>
                      </a:ext>
                    </a:extLst>
                  </p:cNvPr>
                  <p:cNvCxnSpPr>
                    <a:cxnSpLocks/>
                  </p:cNvCxnSpPr>
                  <p:nvPr/>
                </p:nvCxnSpPr>
                <p:spPr>
                  <a:xfrm>
                    <a:off x="5220511" y="3262141"/>
                    <a:ext cx="0" cy="989878"/>
                  </a:xfrm>
                  <a:prstGeom prst="straightConnector1">
                    <a:avLst/>
                  </a:prstGeom>
                  <a:ln w="38100">
                    <a:solidFill>
                      <a:srgbClr val="066B93"/>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2A28FF8-85BE-C5A6-23BE-D38C9B8DD310}"/>
                      </a:ext>
                    </a:extLst>
                  </p:cNvPr>
                  <p:cNvCxnSpPr/>
                  <p:nvPr/>
                </p:nvCxnSpPr>
                <p:spPr>
                  <a:xfrm>
                    <a:off x="5087566" y="3536476"/>
                    <a:ext cx="265890" cy="0"/>
                  </a:xfrm>
                  <a:prstGeom prst="line">
                    <a:avLst/>
                  </a:prstGeom>
                  <a:ln w="38100">
                    <a:solidFill>
                      <a:srgbClr val="066B93"/>
                    </a:solidFill>
                  </a:ln>
                </p:spPr>
                <p:style>
                  <a:lnRef idx="3">
                    <a:schemeClr val="accent1"/>
                  </a:lnRef>
                  <a:fillRef idx="0">
                    <a:schemeClr val="accent1"/>
                  </a:fillRef>
                  <a:effectRef idx="2">
                    <a:schemeClr val="accent1"/>
                  </a:effectRef>
                  <a:fontRef idx="minor">
                    <a:schemeClr val="tx1"/>
                  </a:fontRef>
                </p:style>
              </p:cxnSp>
              <p:cxnSp>
                <p:nvCxnSpPr>
                  <p:cNvPr id="56" name="Straight Connector 55">
                    <a:extLst>
                      <a:ext uri="{FF2B5EF4-FFF2-40B4-BE49-F238E27FC236}">
                        <a16:creationId xmlns:a16="http://schemas.microsoft.com/office/drawing/2014/main" id="{2082EF14-D1BB-5375-BFBB-A713C60A2C59}"/>
                      </a:ext>
                    </a:extLst>
                  </p:cNvPr>
                  <p:cNvCxnSpPr>
                    <a:cxnSpLocks/>
                  </p:cNvCxnSpPr>
                  <p:nvPr/>
                </p:nvCxnSpPr>
                <p:spPr>
                  <a:xfrm>
                    <a:off x="5087566" y="3980592"/>
                    <a:ext cx="265890" cy="0"/>
                  </a:xfrm>
                  <a:prstGeom prst="line">
                    <a:avLst/>
                  </a:prstGeom>
                  <a:ln w="38100">
                    <a:solidFill>
                      <a:srgbClr val="066B93"/>
                    </a:solidFill>
                  </a:ln>
                </p:spPr>
                <p:style>
                  <a:lnRef idx="3">
                    <a:schemeClr val="accent1"/>
                  </a:lnRef>
                  <a:fillRef idx="0">
                    <a:schemeClr val="accent1"/>
                  </a:fillRef>
                  <a:effectRef idx="2">
                    <a:schemeClr val="accent1"/>
                  </a:effectRef>
                  <a:fontRef idx="minor">
                    <a:schemeClr val="tx1"/>
                  </a:fontRef>
                </p:style>
              </p:cxnSp>
            </p:grpSp>
            <p:sp>
              <p:nvSpPr>
                <p:cNvPr id="61" name="TextBox 60">
                  <a:extLst>
                    <a:ext uri="{FF2B5EF4-FFF2-40B4-BE49-F238E27FC236}">
                      <a16:creationId xmlns:a16="http://schemas.microsoft.com/office/drawing/2014/main" id="{8C832C85-62AA-F872-6F22-7E4F10DBD42A}"/>
                    </a:ext>
                  </a:extLst>
                </p:cNvPr>
                <p:cNvSpPr txBox="1"/>
                <p:nvPr/>
              </p:nvSpPr>
              <p:spPr>
                <a:xfrm>
                  <a:off x="4793754" y="3418870"/>
                  <a:ext cx="374099" cy="307777"/>
                </a:xfrm>
                <a:prstGeom prst="rect">
                  <a:avLst/>
                </a:prstGeom>
                <a:noFill/>
              </p:spPr>
              <p:txBody>
                <a:bodyPr wrap="square" rtlCol="0">
                  <a:spAutoFit/>
                </a:bodyPr>
                <a:lstStyle/>
                <a:p>
                  <a:pPr algn="ctr"/>
                  <a:r>
                    <a:rPr lang="en-US" sz="1400" dirty="0"/>
                    <a:t>40</a:t>
                  </a:r>
                </a:p>
              </p:txBody>
            </p:sp>
            <p:sp>
              <p:nvSpPr>
                <p:cNvPr id="68" name="TextBox 67">
                  <a:extLst>
                    <a:ext uri="{FF2B5EF4-FFF2-40B4-BE49-F238E27FC236}">
                      <a16:creationId xmlns:a16="http://schemas.microsoft.com/office/drawing/2014/main" id="{E0470B90-E6AE-6341-B849-CA4F2EE6FC39}"/>
                    </a:ext>
                  </a:extLst>
                </p:cNvPr>
                <p:cNvSpPr txBox="1"/>
                <p:nvPr/>
              </p:nvSpPr>
              <p:spPr>
                <a:xfrm>
                  <a:off x="4792742" y="3844254"/>
                  <a:ext cx="372961" cy="307777"/>
                </a:xfrm>
                <a:prstGeom prst="rect">
                  <a:avLst/>
                </a:prstGeom>
                <a:noFill/>
              </p:spPr>
              <p:txBody>
                <a:bodyPr wrap="square" rtlCol="0">
                  <a:spAutoFit/>
                </a:bodyPr>
                <a:lstStyle/>
                <a:p>
                  <a:pPr algn="ctr"/>
                  <a:r>
                    <a:rPr lang="en-US" sz="1400" dirty="0"/>
                    <a:t>50</a:t>
                  </a:r>
                </a:p>
              </p:txBody>
            </p:sp>
          </p:grpSp>
        </p:grpSp>
        <p:sp>
          <p:nvSpPr>
            <p:cNvPr id="76" name="TextBox 75">
              <a:extLst>
                <a:ext uri="{FF2B5EF4-FFF2-40B4-BE49-F238E27FC236}">
                  <a16:creationId xmlns:a16="http://schemas.microsoft.com/office/drawing/2014/main" id="{2906C3BF-EA4D-EDC2-855C-DEE6D7B111E0}"/>
                </a:ext>
              </a:extLst>
            </p:cNvPr>
            <p:cNvSpPr txBox="1"/>
            <p:nvPr/>
          </p:nvSpPr>
          <p:spPr>
            <a:xfrm>
              <a:off x="5448430" y="3141875"/>
              <a:ext cx="1595562" cy="369332"/>
            </a:xfrm>
            <a:prstGeom prst="rect">
              <a:avLst/>
            </a:prstGeom>
            <a:noFill/>
          </p:spPr>
          <p:txBody>
            <a:bodyPr wrap="square">
              <a:spAutoFit/>
            </a:bodyPr>
            <a:lstStyle/>
            <a:p>
              <a:pPr algn="ctr"/>
              <a:r>
                <a:rPr lang="en-US" b="1" dirty="0">
                  <a:solidFill>
                    <a:schemeClr val="accent2"/>
                  </a:solidFill>
                </a:rPr>
                <a:t>Any DOAC</a:t>
              </a:r>
              <a:endParaRPr lang="en-US" sz="1600" b="1" dirty="0">
                <a:solidFill>
                  <a:schemeClr val="accent2"/>
                </a:solidFill>
              </a:endParaRPr>
            </a:p>
          </p:txBody>
        </p:sp>
        <p:sp>
          <p:nvSpPr>
            <p:cNvPr id="78" name="TextBox 77">
              <a:extLst>
                <a:ext uri="{FF2B5EF4-FFF2-40B4-BE49-F238E27FC236}">
                  <a16:creationId xmlns:a16="http://schemas.microsoft.com/office/drawing/2014/main" id="{62512651-F7C6-D968-56D5-6D7C2346D913}"/>
                </a:ext>
              </a:extLst>
            </p:cNvPr>
            <p:cNvSpPr txBox="1"/>
            <p:nvPr/>
          </p:nvSpPr>
          <p:spPr>
            <a:xfrm>
              <a:off x="5438244" y="3527079"/>
              <a:ext cx="1703738" cy="557204"/>
            </a:xfrm>
            <a:prstGeom prst="rect">
              <a:avLst/>
            </a:prstGeom>
            <a:noFill/>
          </p:spPr>
          <p:txBody>
            <a:bodyPr wrap="square">
              <a:spAutoFit/>
            </a:bodyPr>
            <a:lstStyle/>
            <a:p>
              <a:pPr algn="ctr">
                <a:lnSpc>
                  <a:spcPts val="1800"/>
                </a:lnSpc>
              </a:pPr>
              <a:r>
                <a:rPr lang="en-US" b="1" dirty="0">
                  <a:solidFill>
                    <a:schemeClr val="accent2"/>
                  </a:solidFill>
                </a:rPr>
                <a:t>Apixaban, rivaroxaban</a:t>
              </a:r>
              <a:endParaRPr lang="en-US" sz="1600" b="1" dirty="0">
                <a:solidFill>
                  <a:schemeClr val="accent2"/>
                </a:solidFill>
              </a:endParaRPr>
            </a:p>
          </p:txBody>
        </p:sp>
        <p:cxnSp>
          <p:nvCxnSpPr>
            <p:cNvPr id="87" name="Straight Connector 86">
              <a:extLst>
                <a:ext uri="{FF2B5EF4-FFF2-40B4-BE49-F238E27FC236}">
                  <a16:creationId xmlns:a16="http://schemas.microsoft.com/office/drawing/2014/main" id="{C7FAB84B-F447-3FC1-4B12-AC8550AE195D}"/>
                </a:ext>
              </a:extLst>
            </p:cNvPr>
            <p:cNvCxnSpPr/>
            <p:nvPr/>
          </p:nvCxnSpPr>
          <p:spPr>
            <a:xfrm>
              <a:off x="5428435" y="3513748"/>
              <a:ext cx="1685876" cy="0"/>
            </a:xfrm>
            <a:prstGeom prst="line">
              <a:avLst/>
            </a:prstGeom>
            <a:ln>
              <a:solidFill>
                <a:srgbClr val="066B93"/>
              </a:solidFill>
              <a:prstDash val="dash"/>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8C4B37A-3520-4932-CB20-DC709C6333F8}"/>
                </a:ext>
              </a:extLst>
            </p:cNvPr>
            <p:cNvCxnSpPr/>
            <p:nvPr/>
          </p:nvCxnSpPr>
          <p:spPr>
            <a:xfrm>
              <a:off x="5425274" y="4089721"/>
              <a:ext cx="1685876" cy="0"/>
            </a:xfrm>
            <a:prstGeom prst="line">
              <a:avLst/>
            </a:prstGeom>
            <a:ln>
              <a:solidFill>
                <a:srgbClr val="066B93"/>
              </a:solidFill>
              <a:prstDash val="dash"/>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A8016201-4FC0-CCF6-1595-09766A3370B4}"/>
                </a:ext>
              </a:extLst>
            </p:cNvPr>
            <p:cNvSpPr txBox="1"/>
            <p:nvPr/>
          </p:nvSpPr>
          <p:spPr>
            <a:xfrm>
              <a:off x="5438244" y="4088391"/>
              <a:ext cx="1703738" cy="338554"/>
            </a:xfrm>
            <a:prstGeom prst="rect">
              <a:avLst/>
            </a:prstGeom>
            <a:noFill/>
          </p:spPr>
          <p:txBody>
            <a:bodyPr wrap="square">
              <a:spAutoFit/>
            </a:bodyPr>
            <a:lstStyle/>
            <a:p>
              <a:pPr algn="ctr"/>
              <a:r>
                <a:rPr lang="en-US" sz="1600" b="1" dirty="0">
                  <a:solidFill>
                    <a:schemeClr val="accent2"/>
                  </a:solidFill>
                </a:rPr>
                <a:t>Warfarin vs DOAC</a:t>
              </a:r>
            </a:p>
          </p:txBody>
        </p:sp>
      </p:grpSp>
      <p:grpSp>
        <p:nvGrpSpPr>
          <p:cNvPr id="127" name="Group 126">
            <a:extLst>
              <a:ext uri="{FF2B5EF4-FFF2-40B4-BE49-F238E27FC236}">
                <a16:creationId xmlns:a16="http://schemas.microsoft.com/office/drawing/2014/main" id="{28671258-861E-0810-35C5-B8DADB2B8A7F}"/>
              </a:ext>
            </a:extLst>
          </p:cNvPr>
          <p:cNvGrpSpPr/>
          <p:nvPr/>
        </p:nvGrpSpPr>
        <p:grpSpPr>
          <a:xfrm>
            <a:off x="4844539" y="4914347"/>
            <a:ext cx="2365618" cy="1578366"/>
            <a:chOff x="4844539" y="4914347"/>
            <a:chExt cx="2365618" cy="1578366"/>
          </a:xfrm>
        </p:grpSpPr>
        <p:sp>
          <p:nvSpPr>
            <p:cNvPr id="118" name="Cases">
              <a:hlinkClick r:id="" action="ppaction://noaction"/>
              <a:extLst>
                <a:ext uri="{FF2B5EF4-FFF2-40B4-BE49-F238E27FC236}">
                  <a16:creationId xmlns:a16="http://schemas.microsoft.com/office/drawing/2014/main" id="{C440CBCE-EB57-0F4D-B793-570DE792CE44}"/>
                </a:ext>
              </a:extLst>
            </p:cNvPr>
            <p:cNvSpPr/>
            <p:nvPr/>
          </p:nvSpPr>
          <p:spPr>
            <a:xfrm>
              <a:off x="4844539" y="4914347"/>
              <a:ext cx="2365618" cy="1578366"/>
            </a:xfrm>
            <a:prstGeom prst="roundRect">
              <a:avLst>
                <a:gd name="adj" fmla="val 0"/>
              </a:avLst>
            </a:prstGeom>
            <a:noFill/>
            <a:ln w="19050">
              <a:solidFill>
                <a:schemeClr val="tx1"/>
              </a:solidFill>
            </a:ln>
            <a:effectLst>
              <a:outerShdw blurRad="50800" dist="38100" dir="2700000" algn="tl"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dirty="0">
                <a:solidFill>
                  <a:schemeClr val="tx1"/>
                </a:solidFill>
              </a:endParaRPr>
            </a:p>
          </p:txBody>
        </p:sp>
        <p:grpSp>
          <p:nvGrpSpPr>
            <p:cNvPr id="105" name="Group 104">
              <a:extLst>
                <a:ext uri="{FF2B5EF4-FFF2-40B4-BE49-F238E27FC236}">
                  <a16:creationId xmlns:a16="http://schemas.microsoft.com/office/drawing/2014/main" id="{378D48B9-07AA-EB13-221C-2153D77FCB17}"/>
                </a:ext>
              </a:extLst>
            </p:cNvPr>
            <p:cNvGrpSpPr/>
            <p:nvPr/>
          </p:nvGrpSpPr>
          <p:grpSpPr>
            <a:xfrm rot="16200000">
              <a:off x="5622289" y="4532832"/>
              <a:ext cx="777499" cy="2065914"/>
              <a:chOff x="5055839" y="4990183"/>
              <a:chExt cx="777499" cy="1485135"/>
            </a:xfrm>
          </p:grpSpPr>
          <p:cxnSp>
            <p:nvCxnSpPr>
              <p:cNvPr id="94" name="Straight Arrow Connector 93">
                <a:extLst>
                  <a:ext uri="{FF2B5EF4-FFF2-40B4-BE49-F238E27FC236}">
                    <a16:creationId xmlns:a16="http://schemas.microsoft.com/office/drawing/2014/main" id="{3EC3D08A-FA0E-3248-48E2-E833EBC7659B}"/>
                  </a:ext>
                </a:extLst>
              </p:cNvPr>
              <p:cNvCxnSpPr>
                <a:cxnSpLocks/>
              </p:cNvCxnSpPr>
              <p:nvPr/>
            </p:nvCxnSpPr>
            <p:spPr>
              <a:xfrm>
                <a:off x="5444588" y="4990183"/>
                <a:ext cx="0" cy="1485135"/>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04" name="Picture 103" descr="A jet flying in the sky&#10;&#10;Description automatically generated with low confidence">
                <a:extLst>
                  <a:ext uri="{FF2B5EF4-FFF2-40B4-BE49-F238E27FC236}">
                    <a16:creationId xmlns:a16="http://schemas.microsoft.com/office/drawing/2014/main" id="{EAD754E0-E0FF-1C32-8617-990B4C468646}"/>
                  </a:ext>
                </a:extLst>
              </p:cNvPr>
              <p:cNvPicPr>
                <a:picLocks noChangeAspect="1"/>
              </p:cNvPicPr>
              <p:nvPr/>
            </p:nvPicPr>
            <p:blipFill rotWithShape="1">
              <a:blip r:embed="rId5">
                <a:extLst>
                  <a:ext uri="{28A0092B-C50C-407E-A947-70E740481C1C}">
                    <a14:useLocalDpi xmlns:a14="http://schemas.microsoft.com/office/drawing/2010/main" val="0"/>
                  </a:ext>
                </a:extLst>
              </a:blip>
              <a:srcRect l="35238" t="37285" r="52920" b="43525"/>
              <a:stretch/>
            </p:blipFill>
            <p:spPr>
              <a:xfrm rot="4202433">
                <a:off x="5267483" y="5363467"/>
                <a:ext cx="354211" cy="777499"/>
              </a:xfrm>
              <a:prstGeom prst="rect">
                <a:avLst/>
              </a:prstGeom>
            </p:spPr>
          </p:pic>
        </p:grpSp>
        <p:sp>
          <p:nvSpPr>
            <p:cNvPr id="107" name="TextBox 106">
              <a:extLst>
                <a:ext uri="{FF2B5EF4-FFF2-40B4-BE49-F238E27FC236}">
                  <a16:creationId xmlns:a16="http://schemas.microsoft.com/office/drawing/2014/main" id="{EC4EE7D8-9A9B-FD94-4523-C53974673B96}"/>
                </a:ext>
              </a:extLst>
            </p:cNvPr>
            <p:cNvSpPr txBox="1"/>
            <p:nvPr/>
          </p:nvSpPr>
          <p:spPr>
            <a:xfrm>
              <a:off x="5051362" y="4951297"/>
              <a:ext cx="1951971" cy="338554"/>
            </a:xfrm>
            <a:prstGeom prst="rect">
              <a:avLst/>
            </a:prstGeom>
            <a:noFill/>
          </p:spPr>
          <p:txBody>
            <a:bodyPr wrap="square">
              <a:spAutoFit/>
            </a:bodyPr>
            <a:lstStyle/>
            <a:p>
              <a:pPr algn="ctr"/>
              <a:r>
                <a:rPr lang="en-US" sz="1600" dirty="0"/>
                <a:t>AF &gt; 48h or unknown</a:t>
              </a:r>
            </a:p>
          </p:txBody>
        </p:sp>
        <p:sp>
          <p:nvSpPr>
            <p:cNvPr id="114" name="TextBox 113">
              <a:extLst>
                <a:ext uri="{FF2B5EF4-FFF2-40B4-BE49-F238E27FC236}">
                  <a16:creationId xmlns:a16="http://schemas.microsoft.com/office/drawing/2014/main" id="{37BAA84D-C9B4-97ED-EA8C-7EC07889AD81}"/>
                </a:ext>
              </a:extLst>
            </p:cNvPr>
            <p:cNvSpPr txBox="1"/>
            <p:nvPr/>
          </p:nvSpPr>
          <p:spPr>
            <a:xfrm>
              <a:off x="4893353" y="5673966"/>
              <a:ext cx="1159419" cy="752770"/>
            </a:xfrm>
            <a:prstGeom prst="rect">
              <a:avLst/>
            </a:prstGeom>
            <a:noFill/>
          </p:spPr>
          <p:txBody>
            <a:bodyPr wrap="square">
              <a:spAutoFit/>
            </a:bodyPr>
            <a:lstStyle/>
            <a:p>
              <a:pPr algn="ctr">
                <a:lnSpc>
                  <a:spcPts val="1700"/>
                </a:lnSpc>
              </a:pPr>
              <a:r>
                <a:rPr lang="en-US" b="1" dirty="0">
                  <a:solidFill>
                    <a:schemeClr val="accent2"/>
                  </a:solidFill>
                </a:rPr>
                <a:t>OAC x 3w </a:t>
              </a:r>
              <a:r>
                <a:rPr lang="en-US" sz="1400" dirty="0">
                  <a:solidFill>
                    <a:schemeClr val="accent2"/>
                  </a:solidFill>
                </a:rPr>
                <a:t>or</a:t>
              </a:r>
              <a:r>
                <a:rPr lang="en-US" sz="1400" b="1" dirty="0">
                  <a:solidFill>
                    <a:schemeClr val="accent2"/>
                  </a:solidFill>
                </a:rPr>
                <a:t> </a:t>
              </a:r>
              <a:endParaRPr lang="en-US" b="1" dirty="0">
                <a:solidFill>
                  <a:schemeClr val="accent2"/>
                </a:solidFill>
              </a:endParaRPr>
            </a:p>
            <a:p>
              <a:pPr algn="ctr">
                <a:lnSpc>
                  <a:spcPts val="1700"/>
                </a:lnSpc>
              </a:pPr>
              <a:r>
                <a:rPr lang="en-US" b="1" dirty="0">
                  <a:solidFill>
                    <a:schemeClr val="accent2"/>
                  </a:solidFill>
                </a:rPr>
                <a:t>TEE DCCV</a:t>
              </a:r>
              <a:endParaRPr lang="en-US" sz="1600" b="1" dirty="0">
                <a:solidFill>
                  <a:schemeClr val="accent2"/>
                </a:solidFill>
              </a:endParaRPr>
            </a:p>
          </p:txBody>
        </p:sp>
        <p:sp>
          <p:nvSpPr>
            <p:cNvPr id="125" name="TextBox 124">
              <a:extLst>
                <a:ext uri="{FF2B5EF4-FFF2-40B4-BE49-F238E27FC236}">
                  <a16:creationId xmlns:a16="http://schemas.microsoft.com/office/drawing/2014/main" id="{01A2C1C4-BA0F-0C36-0824-C7AB9BA800AB}"/>
                </a:ext>
              </a:extLst>
            </p:cNvPr>
            <p:cNvSpPr txBox="1"/>
            <p:nvPr/>
          </p:nvSpPr>
          <p:spPr>
            <a:xfrm>
              <a:off x="6043676" y="5681974"/>
              <a:ext cx="1159419" cy="746358"/>
            </a:xfrm>
            <a:prstGeom prst="rect">
              <a:avLst/>
            </a:prstGeom>
            <a:noFill/>
          </p:spPr>
          <p:txBody>
            <a:bodyPr wrap="square">
              <a:spAutoFit/>
            </a:bodyPr>
            <a:lstStyle/>
            <a:p>
              <a:pPr algn="ctr">
                <a:lnSpc>
                  <a:spcPts val="1700"/>
                </a:lnSpc>
              </a:pPr>
              <a:r>
                <a:rPr lang="en-US" b="1" dirty="0">
                  <a:solidFill>
                    <a:schemeClr val="accent2"/>
                  </a:solidFill>
                </a:rPr>
                <a:t>OAC x 4w</a:t>
              </a:r>
            </a:p>
            <a:p>
              <a:pPr algn="ctr">
                <a:lnSpc>
                  <a:spcPts val="1700"/>
                </a:lnSpc>
              </a:pPr>
              <a:r>
                <a:rPr lang="en-US" sz="1400" dirty="0">
                  <a:solidFill>
                    <a:schemeClr val="accent2"/>
                  </a:solidFill>
                </a:rPr>
                <a:t>regardless of risk</a:t>
              </a:r>
            </a:p>
          </p:txBody>
        </p:sp>
      </p:grpSp>
    </p:spTree>
    <p:extLst>
      <p:ext uri="{BB962C8B-B14F-4D97-AF65-F5344CB8AC3E}">
        <p14:creationId xmlns:p14="http://schemas.microsoft.com/office/powerpoint/2010/main" val="371782875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6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22"/>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11" restart="whenNotActive" fill="hold" evtFilter="cancelBubble" nodeType="interactiveSeq">
                <p:stCondLst>
                  <p:cond evt="onClick" delay="0">
                    <p:tgtEl>
                      <p:spTgt spid="2"/>
                    </p:tgtEl>
                  </p:cond>
                </p:stCondLst>
                <p:endSync evt="end" delay="0">
                  <p:rtn val="all"/>
                </p:endSync>
                <p:childTnLst>
                  <p:par>
                    <p:cTn id="12" fill="hold">
                      <p:stCondLst>
                        <p:cond delay="0"/>
                      </p:stCondLst>
                      <p:childTnLst>
                        <p:par>
                          <p:cTn id="13" fill="hold">
                            <p:stCondLst>
                              <p:cond delay="0"/>
                            </p:stCondLst>
                            <p:childTnLst>
                              <p:par>
                                <p:cTn id="14" presetID="1" presetClass="exit" presetSubtype="0" fill="hold" nodeType="withEffect">
                                  <p:stCondLst>
                                    <p:cond delay="0"/>
                                  </p:stCondLst>
                                  <p:childTnLst>
                                    <p:set>
                                      <p:cBhvr>
                                        <p:cTn id="15" dur="1" fill="hold">
                                          <p:stCondLst>
                                            <p:cond delay="0"/>
                                          </p:stCondLst>
                                        </p:cTn>
                                        <p:tgtEl>
                                          <p:spTgt spid="112"/>
                                        </p:tgtEl>
                                        <p:attrNameLst>
                                          <p:attrName>style.visibility</p:attrName>
                                        </p:attrNameLst>
                                      </p:cBhvr>
                                      <p:to>
                                        <p:strVal val="hidden"/>
                                      </p:to>
                                    </p:set>
                                  </p:childTnLst>
                                </p:cTn>
                              </p:par>
                              <p:par>
                                <p:cTn id="16" presetID="1" presetClass="entr" presetSubtype="0" fill="hold" nodeType="withEffect">
                                  <p:stCondLst>
                                    <p:cond delay="0"/>
                                  </p:stCondLst>
                                  <p:childTnLst>
                                    <p:set>
                                      <p:cBhvr>
                                        <p:cTn id="17" dur="1" fill="hold">
                                          <p:stCondLst>
                                            <p:cond delay="0"/>
                                          </p:stCondLst>
                                        </p:cTn>
                                        <p:tgtEl>
                                          <p:spTgt spid="127"/>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2"/>
                                        </p:tgtEl>
                                        <p:attrNameLst>
                                          <p:attrName>style.visibility</p:attrName>
                                        </p:attrNameLst>
                                      </p:cBhvr>
                                      <p:to>
                                        <p:strVal val="hidden"/>
                                      </p:to>
                                    </p:set>
                                  </p:childTnLst>
                                </p:cTn>
                              </p:par>
                            </p:childTnLst>
                          </p:cTn>
                        </p:par>
                      </p:childTnLst>
                    </p:cTn>
                  </p:par>
                </p:childTnLst>
              </p:cTn>
              <p:nextCondLst>
                <p:cond evt="onClick" delay="0">
                  <p:tgtEl>
                    <p:spTgt spid="2"/>
                  </p:tgtEl>
                </p:cond>
              </p:nextCondLst>
            </p:seq>
            <p:seq concurrent="1" nextAc="seek">
              <p:cTn id="20" restart="whenNotActive" fill="hold" evtFilter="cancelBubble" nodeType="interactiveSeq">
                <p:stCondLst>
                  <p:cond evt="onClick" delay="0">
                    <p:tgtEl>
                      <p:spTgt spid="7"/>
                    </p:tgtEl>
                  </p:cond>
                </p:stCondLst>
                <p:endSync evt="end" delay="0">
                  <p:rtn val="all"/>
                </p:endSync>
                <p:childTnLst>
                  <p:par>
                    <p:cTn id="21" fill="hold">
                      <p:stCondLst>
                        <p:cond delay="0"/>
                      </p:stCondLst>
                      <p:childTnLst>
                        <p:par>
                          <p:cTn id="22" fill="hold">
                            <p:stCondLst>
                              <p:cond delay="0"/>
                            </p:stCondLst>
                            <p:childTnLst>
                              <p:par>
                                <p:cTn id="23" presetID="1" presetClass="exit" presetSubtype="0" fill="hold" nodeType="withEffect">
                                  <p:stCondLst>
                                    <p:cond delay="0"/>
                                  </p:stCondLst>
                                  <p:childTnLst>
                                    <p:set>
                                      <p:cBhvr>
                                        <p:cTn id="24" dur="1" fill="hold">
                                          <p:stCondLst>
                                            <p:cond delay="0"/>
                                          </p:stCondLst>
                                        </p:cTn>
                                        <p:tgtEl>
                                          <p:spTgt spid="65"/>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7"/>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childTnLst>
                          </p:cTn>
                        </p:par>
                      </p:childTnLst>
                    </p:cTn>
                  </p:par>
                </p:childTnLst>
              </p:cTn>
              <p:nextCondLst>
                <p:cond evt="onClick" delay="0">
                  <p:tgtEl>
                    <p:spTgt spid="7"/>
                  </p:tgtEl>
                </p:cond>
              </p:nextCondLst>
            </p:seq>
            <p:seq concurrent="1" nextAc="seek">
              <p:cTn id="29" restart="whenNotActive" fill="hold" evtFilter="cancelBubble" nodeType="interactiveSeq">
                <p:stCondLst>
                  <p:cond evt="onClick" delay="0">
                    <p:tgtEl>
                      <p:spTgt spid="9"/>
                    </p:tgtEl>
                  </p:cond>
                </p:stCondLst>
                <p:endSync evt="end" delay="0">
                  <p:rtn val="all"/>
                </p:endSync>
                <p:childTnLst>
                  <p:par>
                    <p:cTn id="30" fill="hold">
                      <p:stCondLst>
                        <p:cond delay="0"/>
                      </p:stCondLst>
                      <p:childTnLst>
                        <p:par>
                          <p:cTn id="31" fill="hold">
                            <p:stCondLst>
                              <p:cond delay="0"/>
                            </p:stCondLst>
                            <p:childTnLst>
                              <p:par>
                                <p:cTn id="32" presetID="1" presetClass="exit" presetSubtype="0" fill="hold" nodeType="withEffect">
                                  <p:stCondLst>
                                    <p:cond delay="0"/>
                                  </p:stCondLst>
                                  <p:childTnLst>
                                    <p:set>
                                      <p:cBhvr>
                                        <p:cTn id="33" dur="1" fill="hold">
                                          <p:stCondLst>
                                            <p:cond delay="0"/>
                                          </p:stCondLst>
                                        </p:cTn>
                                        <p:tgtEl>
                                          <p:spTgt spid="63"/>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9"/>
                                        </p:tgtEl>
                                        <p:attrNameLst>
                                          <p:attrName>style.visibility</p:attrName>
                                        </p:attrNameLst>
                                      </p:cBhvr>
                                      <p:to>
                                        <p:strVal val="hidden"/>
                                      </p:to>
                                    </p:set>
                                  </p:childTnLst>
                                </p:cTn>
                              </p:par>
                              <p:par>
                                <p:cTn id="36" presetID="1" presetClass="entr" presetSubtype="0" fill="hold" grpId="0" nodeType="withEffect">
                                  <p:stCondLst>
                                    <p:cond delay="0"/>
                                  </p:stCondLst>
                                  <p:childTnLst>
                                    <p:set>
                                      <p:cBhvr>
                                        <p:cTn id="37" dur="1" fill="hold">
                                          <p:stCondLst>
                                            <p:cond delay="0"/>
                                          </p:stCondLst>
                                        </p:cTn>
                                        <p:tgtEl>
                                          <p:spTgt spid="108"/>
                                        </p:tgtEl>
                                        <p:attrNameLst>
                                          <p:attrName>style.visibility</p:attrName>
                                        </p:attrNameLst>
                                      </p:cBhvr>
                                      <p:to>
                                        <p:strVal val="visible"/>
                                      </p:to>
                                    </p:set>
                                  </p:childTnLst>
                                </p:cTn>
                              </p:par>
                            </p:childTnLst>
                          </p:cTn>
                        </p:par>
                      </p:childTnLst>
                    </p:cTn>
                  </p:par>
                </p:childTnLst>
              </p:cTn>
              <p:nextCondLst>
                <p:cond evt="onClick" delay="0">
                  <p:tgtEl>
                    <p:spTgt spid="9"/>
                  </p:tgtEl>
                </p:cond>
              </p:nextCondLst>
            </p:seq>
            <p:seq concurrent="1" nextAc="seek">
              <p:cTn id="38" restart="whenNotActive" fill="hold" evtFilter="cancelBubble" nodeType="interactiveSeq">
                <p:stCondLst>
                  <p:cond evt="onClick" delay="0">
                    <p:tgtEl>
                      <p:spTgt spid="11"/>
                    </p:tgtEl>
                  </p:cond>
                </p:stCondLst>
                <p:endSync evt="end" delay="0">
                  <p:rtn val="all"/>
                </p:endSync>
                <p:childTnLst>
                  <p:par>
                    <p:cTn id="39" fill="hold">
                      <p:stCondLst>
                        <p:cond delay="0"/>
                      </p:stCondLst>
                      <p:childTnLst>
                        <p:par>
                          <p:cTn id="40" fill="hold">
                            <p:stCondLst>
                              <p:cond delay="0"/>
                            </p:stCondLst>
                            <p:childTnLst>
                              <p:par>
                                <p:cTn id="41" presetID="1" presetClass="exit" presetSubtype="0" fill="hold" nodeType="withEffect">
                                  <p:stCondLst>
                                    <p:cond delay="0"/>
                                  </p:stCondLst>
                                  <p:childTnLst>
                                    <p:set>
                                      <p:cBhvr>
                                        <p:cTn id="42" dur="1" fill="hold">
                                          <p:stCondLst>
                                            <p:cond delay="0"/>
                                          </p:stCondLst>
                                        </p:cTn>
                                        <p:tgtEl>
                                          <p:spTgt spid="64"/>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1"/>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seq concurrent="1" nextAc="seek">
              <p:cTn id="47" restart="whenNotActive" fill="hold" evtFilter="cancelBubble" nodeType="interactiveSeq">
                <p:stCondLst>
                  <p:cond evt="onClick" delay="0">
                    <p:tgtEl>
                      <p:spTgt spid="6"/>
                    </p:tgtEl>
                  </p:cond>
                </p:stCondLst>
                <p:endSync evt="end" delay="0">
                  <p:rtn val="all"/>
                </p:endSync>
                <p:childTnLst>
                  <p:par>
                    <p:cTn id="48" fill="hold">
                      <p:stCondLst>
                        <p:cond delay="0"/>
                      </p:stCondLst>
                      <p:childTnLst>
                        <p:par>
                          <p:cTn id="49" fill="hold">
                            <p:stCondLst>
                              <p:cond delay="0"/>
                            </p:stCondLst>
                            <p:childTnLst>
                              <p:par>
                                <p:cTn id="50" presetID="1" presetClass="exit" presetSubtype="0" fill="hold" nodeType="withEffect">
                                  <p:stCondLst>
                                    <p:cond delay="0"/>
                                  </p:stCondLst>
                                  <p:childTnLst>
                                    <p:set>
                                      <p:cBhvr>
                                        <p:cTn id="51" dur="1" fill="hold">
                                          <p:stCondLst>
                                            <p:cond delay="0"/>
                                          </p:stCondLst>
                                        </p:cTn>
                                        <p:tgtEl>
                                          <p:spTgt spid="66"/>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6"/>
                                        </p:tgtEl>
                                        <p:attrNameLst>
                                          <p:attrName>style.visibility</p:attrName>
                                        </p:attrNameLst>
                                      </p:cBhvr>
                                      <p:to>
                                        <p:strVal val="hidden"/>
                                      </p:to>
                                    </p:set>
                                  </p:childTnLst>
                                </p:cTn>
                              </p:par>
                              <p:par>
                                <p:cTn id="54" presetID="1" presetClass="entr" presetSubtype="0" fill="hold" grpId="0" nodeType="withEffect">
                                  <p:stCondLst>
                                    <p:cond delay="0"/>
                                  </p:stCondLst>
                                  <p:childTnLst>
                                    <p:set>
                                      <p:cBhvr>
                                        <p:cTn id="55" dur="1" fill="hold">
                                          <p:stCondLst>
                                            <p:cond delay="0"/>
                                          </p:stCondLst>
                                        </p:cTn>
                                        <p:tgtEl>
                                          <p:spTgt spid="67"/>
                                        </p:tgtEl>
                                        <p:attrNameLst>
                                          <p:attrName>style.visibility</p:attrName>
                                        </p:attrNameLst>
                                      </p:cBhvr>
                                      <p:to>
                                        <p:strVal val="visible"/>
                                      </p:to>
                                    </p:set>
                                  </p:childTnLst>
                                </p:cTn>
                              </p:par>
                            </p:childTnLst>
                          </p:cTn>
                        </p:par>
                      </p:childTnLst>
                    </p:cTn>
                  </p:par>
                </p:childTnLst>
              </p:cTn>
              <p:nextCondLst>
                <p:cond evt="onClick" delay="0">
                  <p:tgtEl>
                    <p:spTgt spid="6"/>
                  </p:tgtEl>
                </p:cond>
              </p:nextCondLst>
            </p:seq>
          </p:childTnLst>
        </p:cTn>
      </p:par>
    </p:tnLst>
    <p:bldLst>
      <p:bldP spid="67" grpId="0" animBg="1"/>
      <p:bldP spid="100" grpId="0" animBg="1"/>
      <p:bldP spid="79" grpId="0" animBg="1"/>
      <p:bldP spid="10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rocedural question">
            <a:hlinkClick r:id="" action="ppaction://noaction"/>
            <a:extLst>
              <a:ext uri="{FF2B5EF4-FFF2-40B4-BE49-F238E27FC236}">
                <a16:creationId xmlns:a16="http://schemas.microsoft.com/office/drawing/2014/main" id="{FAB99566-AB0B-78F5-EDF8-C7C085A2CA77}"/>
              </a:ext>
            </a:extLst>
          </p:cNvPr>
          <p:cNvSpPr/>
          <p:nvPr/>
        </p:nvSpPr>
        <p:spPr>
          <a:xfrm>
            <a:off x="357599" y="6006185"/>
            <a:ext cx="2075855" cy="61833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Procedural option? </a:t>
            </a:r>
          </a:p>
          <a:p>
            <a:pPr algn="ctr"/>
            <a:r>
              <a:rPr lang="en-US" dirty="0">
                <a:solidFill>
                  <a:schemeClr val="bg1"/>
                </a:solidFill>
              </a:rPr>
              <a:t>(Last line)</a:t>
            </a:r>
          </a:p>
        </p:txBody>
      </p:sp>
      <p:sp>
        <p:nvSpPr>
          <p:cNvPr id="18" name="Digoxin">
            <a:hlinkClick r:id="" action="ppaction://noaction"/>
            <a:extLst>
              <a:ext uri="{FF2B5EF4-FFF2-40B4-BE49-F238E27FC236}">
                <a16:creationId xmlns:a16="http://schemas.microsoft.com/office/drawing/2014/main" id="{65680761-C68B-2114-7416-1532C0FC9442}"/>
              </a:ext>
            </a:extLst>
          </p:cNvPr>
          <p:cNvSpPr/>
          <p:nvPr/>
        </p:nvSpPr>
        <p:spPr>
          <a:xfrm>
            <a:off x="350589" y="5129693"/>
            <a:ext cx="1528721" cy="367979"/>
          </a:xfrm>
          <a:prstGeom prst="roundRect">
            <a:avLst/>
          </a:prstGeom>
          <a:solidFill>
            <a:srgbClr val="7030A0"/>
          </a:solidFill>
          <a:ln w="38100">
            <a:solidFill>
              <a:srgbClr val="7030A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Digoxin</a:t>
            </a:r>
          </a:p>
        </p:txBody>
      </p:sp>
      <p:sp>
        <p:nvSpPr>
          <p:cNvPr id="11" name="CCBs">
            <a:hlinkClick r:id="" action="ppaction://noaction"/>
            <a:extLst>
              <a:ext uri="{FF2B5EF4-FFF2-40B4-BE49-F238E27FC236}">
                <a16:creationId xmlns:a16="http://schemas.microsoft.com/office/drawing/2014/main" id="{57977C15-2A44-16A8-6906-2862C4737A5F}"/>
              </a:ext>
            </a:extLst>
          </p:cNvPr>
          <p:cNvSpPr/>
          <p:nvPr/>
        </p:nvSpPr>
        <p:spPr>
          <a:xfrm>
            <a:off x="357600" y="4285776"/>
            <a:ext cx="1528721" cy="367979"/>
          </a:xfrm>
          <a:prstGeom prst="roundRect">
            <a:avLst/>
          </a:prstGeom>
          <a:solidFill>
            <a:schemeClr val="accent1"/>
          </a:solid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CCBs</a:t>
            </a:r>
          </a:p>
        </p:txBody>
      </p:sp>
      <p:sp>
        <p:nvSpPr>
          <p:cNvPr id="2" name="BBs">
            <a:hlinkClick r:id="" action="ppaction://noaction"/>
            <a:extLst>
              <a:ext uri="{FF2B5EF4-FFF2-40B4-BE49-F238E27FC236}">
                <a16:creationId xmlns:a16="http://schemas.microsoft.com/office/drawing/2014/main" id="{716D0E59-4247-9958-EC28-27DABFDE806E}"/>
              </a:ext>
            </a:extLst>
          </p:cNvPr>
          <p:cNvSpPr/>
          <p:nvPr/>
        </p:nvSpPr>
        <p:spPr>
          <a:xfrm>
            <a:off x="350589" y="3442793"/>
            <a:ext cx="1528721" cy="367979"/>
          </a:xfrm>
          <a:prstGeom prst="roundRect">
            <a:avLst/>
          </a:prstGeom>
          <a:solidFill>
            <a:schemeClr val="accent6"/>
          </a:solidFill>
          <a:ln w="3810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Beta blockers</a:t>
            </a:r>
          </a:p>
        </p:txBody>
      </p:sp>
      <p:sp>
        <p:nvSpPr>
          <p:cNvPr id="20" name="Target HR question">
            <a:hlinkClick r:id="" action="ppaction://noaction"/>
            <a:extLst>
              <a:ext uri="{FF2B5EF4-FFF2-40B4-BE49-F238E27FC236}">
                <a16:creationId xmlns:a16="http://schemas.microsoft.com/office/drawing/2014/main" id="{A3EE048B-B4A4-1380-3D88-FABF244319D7}"/>
              </a:ext>
            </a:extLst>
          </p:cNvPr>
          <p:cNvSpPr/>
          <p:nvPr/>
        </p:nvSpPr>
        <p:spPr>
          <a:xfrm>
            <a:off x="5335953" y="704583"/>
            <a:ext cx="2773353" cy="367979"/>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What is the target HR?</a:t>
            </a:r>
          </a:p>
        </p:txBody>
      </p:sp>
      <p:sp>
        <p:nvSpPr>
          <p:cNvPr id="24" name="Med classes question">
            <a:hlinkClick r:id="" action="ppaction://noaction"/>
            <a:extLst>
              <a:ext uri="{FF2B5EF4-FFF2-40B4-BE49-F238E27FC236}">
                <a16:creationId xmlns:a16="http://schemas.microsoft.com/office/drawing/2014/main" id="{3290F635-AB65-8488-F1F0-25FE90A7669B}"/>
              </a:ext>
            </a:extLst>
          </p:cNvPr>
          <p:cNvSpPr/>
          <p:nvPr/>
        </p:nvSpPr>
        <p:spPr>
          <a:xfrm>
            <a:off x="3459870" y="2403395"/>
            <a:ext cx="3180599" cy="36576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Options for Rate Control?</a:t>
            </a:r>
          </a:p>
        </p:txBody>
      </p:sp>
      <p:sp>
        <p:nvSpPr>
          <p:cNvPr id="21" name="Target HR question">
            <a:hlinkClick r:id="" action="ppaction://noaction"/>
            <a:extLst>
              <a:ext uri="{FF2B5EF4-FFF2-40B4-BE49-F238E27FC236}">
                <a16:creationId xmlns:a16="http://schemas.microsoft.com/office/drawing/2014/main" id="{97A2AB64-5756-A440-81BA-EE933732F2A5}"/>
              </a:ext>
            </a:extLst>
          </p:cNvPr>
          <p:cNvSpPr/>
          <p:nvPr/>
        </p:nvSpPr>
        <p:spPr>
          <a:xfrm>
            <a:off x="5333601" y="703867"/>
            <a:ext cx="277335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What is the target HR?</a:t>
            </a:r>
          </a:p>
        </p:txBody>
      </p:sp>
      <p:sp>
        <p:nvSpPr>
          <p:cNvPr id="23" name="Target HR answer">
            <a:extLst>
              <a:ext uri="{FF2B5EF4-FFF2-40B4-BE49-F238E27FC236}">
                <a16:creationId xmlns:a16="http://schemas.microsoft.com/office/drawing/2014/main" id="{46D5E7DE-C084-3A44-990C-E3CB5729030D}"/>
              </a:ext>
            </a:extLst>
          </p:cNvPr>
          <p:cNvSpPr txBox="1"/>
          <p:nvPr/>
        </p:nvSpPr>
        <p:spPr>
          <a:xfrm>
            <a:off x="4178434" y="1147751"/>
            <a:ext cx="4868027" cy="1046440"/>
          </a:xfrm>
          <a:prstGeom prst="rect">
            <a:avLst/>
          </a:prstGeom>
          <a:noFill/>
        </p:spPr>
        <p:txBody>
          <a:bodyPr wrap="square" rtlCol="0">
            <a:spAutoFit/>
          </a:bodyPr>
          <a:lstStyle/>
          <a:p>
            <a:pPr algn="ctr"/>
            <a:r>
              <a:rPr lang="en-US" b="1" dirty="0"/>
              <a:t>Goal HR &lt;110 </a:t>
            </a:r>
            <a:r>
              <a:rPr lang="en-US" dirty="0"/>
              <a:t>for most patients </a:t>
            </a:r>
          </a:p>
          <a:p>
            <a:pPr algn="ctr"/>
            <a:endParaRPr lang="en-US" sz="800" dirty="0"/>
          </a:p>
          <a:p>
            <a:pPr algn="ctr"/>
            <a:r>
              <a:rPr lang="en-US" dirty="0"/>
              <a:t>Stricter control (or rhythm control) if symptoms or declining LV function</a:t>
            </a:r>
          </a:p>
        </p:txBody>
      </p:sp>
      <p:pic>
        <p:nvPicPr>
          <p:cNvPr id="28" name="Heart" descr="Shape, logo, arrow&#10;&#10;Description automatically generated">
            <a:extLst>
              <a:ext uri="{FF2B5EF4-FFF2-40B4-BE49-F238E27FC236}">
                <a16:creationId xmlns:a16="http://schemas.microsoft.com/office/drawing/2014/main" id="{870B759B-9E15-1242-B79F-C8C7A0245964}"/>
              </a:ext>
            </a:extLst>
          </p:cNvPr>
          <p:cNvPicPr>
            <a:picLocks noChangeAspect="1"/>
          </p:cNvPicPr>
          <p:nvPr/>
        </p:nvPicPr>
        <p:blipFill rotWithShape="1">
          <a:blip r:embed="rId3">
            <a:extLst>
              <a:ext uri="{28A0092B-C50C-407E-A947-70E740481C1C}">
                <a14:useLocalDpi xmlns:a14="http://schemas.microsoft.com/office/drawing/2010/main" val="0"/>
              </a:ext>
            </a:extLst>
          </a:blip>
          <a:srcRect l="25190" t="23397" r="44386" b="20864"/>
          <a:stretch/>
        </p:blipFill>
        <p:spPr>
          <a:xfrm rot="20271856">
            <a:off x="8835970" y="1443736"/>
            <a:ext cx="3434156" cy="4404094"/>
          </a:xfrm>
          <a:prstGeom prst="rect">
            <a:avLst/>
          </a:prstGeom>
        </p:spPr>
      </p:pic>
      <p:sp>
        <p:nvSpPr>
          <p:cNvPr id="33" name="BBs">
            <a:hlinkClick r:id="" action="ppaction://noaction"/>
            <a:extLst>
              <a:ext uri="{FF2B5EF4-FFF2-40B4-BE49-F238E27FC236}">
                <a16:creationId xmlns:a16="http://schemas.microsoft.com/office/drawing/2014/main" id="{9ECA3F83-1577-3D43-B1A4-05502D997352}"/>
              </a:ext>
            </a:extLst>
          </p:cNvPr>
          <p:cNvSpPr/>
          <p:nvPr/>
        </p:nvSpPr>
        <p:spPr>
          <a:xfrm>
            <a:off x="353982" y="3442793"/>
            <a:ext cx="1528721" cy="367979"/>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Beta blockers</a:t>
            </a:r>
          </a:p>
        </p:txBody>
      </p:sp>
      <p:sp>
        <p:nvSpPr>
          <p:cNvPr id="36" name="CCBs">
            <a:hlinkClick r:id="" action="ppaction://noaction"/>
            <a:extLst>
              <a:ext uri="{FF2B5EF4-FFF2-40B4-BE49-F238E27FC236}">
                <a16:creationId xmlns:a16="http://schemas.microsoft.com/office/drawing/2014/main" id="{49F47729-8A60-5A43-9C1F-5DE6BAC7AA8F}"/>
              </a:ext>
            </a:extLst>
          </p:cNvPr>
          <p:cNvSpPr/>
          <p:nvPr/>
        </p:nvSpPr>
        <p:spPr>
          <a:xfrm>
            <a:off x="357600" y="4289347"/>
            <a:ext cx="1528721" cy="367979"/>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CCBs</a:t>
            </a:r>
          </a:p>
        </p:txBody>
      </p:sp>
      <p:sp>
        <p:nvSpPr>
          <p:cNvPr id="39" name="Digoxin">
            <a:hlinkClick r:id="" action="ppaction://noaction"/>
            <a:extLst>
              <a:ext uri="{FF2B5EF4-FFF2-40B4-BE49-F238E27FC236}">
                <a16:creationId xmlns:a16="http://schemas.microsoft.com/office/drawing/2014/main" id="{91351A4F-8FC4-044C-B7F6-DBE401C6BC8C}"/>
              </a:ext>
            </a:extLst>
          </p:cNvPr>
          <p:cNvSpPr/>
          <p:nvPr/>
        </p:nvSpPr>
        <p:spPr>
          <a:xfrm>
            <a:off x="353982" y="5129693"/>
            <a:ext cx="1528721" cy="367979"/>
          </a:xfrm>
          <a:prstGeom prst="roundRect">
            <a:avLst/>
          </a:prstGeom>
          <a:solidFill>
            <a:schemeClr val="bg1"/>
          </a:solidFill>
          <a:ln w="38100">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Digoxin</a:t>
            </a:r>
          </a:p>
        </p:txBody>
      </p:sp>
      <p:grpSp>
        <p:nvGrpSpPr>
          <p:cNvPr id="5" name="BB answer">
            <a:extLst>
              <a:ext uri="{FF2B5EF4-FFF2-40B4-BE49-F238E27FC236}">
                <a16:creationId xmlns:a16="http://schemas.microsoft.com/office/drawing/2014/main" id="{F89C81EB-3F2C-F247-B942-318D40CFDED1}"/>
              </a:ext>
            </a:extLst>
          </p:cNvPr>
          <p:cNvGrpSpPr/>
          <p:nvPr/>
        </p:nvGrpSpPr>
        <p:grpSpPr>
          <a:xfrm>
            <a:off x="2238861" y="3237426"/>
            <a:ext cx="6981407" cy="923330"/>
            <a:chOff x="2294687" y="3719282"/>
            <a:chExt cx="6981407" cy="923330"/>
          </a:xfrm>
        </p:grpSpPr>
        <p:sp>
          <p:nvSpPr>
            <p:cNvPr id="41" name="TextBox 40">
              <a:extLst>
                <a:ext uri="{FF2B5EF4-FFF2-40B4-BE49-F238E27FC236}">
                  <a16:creationId xmlns:a16="http://schemas.microsoft.com/office/drawing/2014/main" id="{754AE4F9-B1DB-CE41-BF6C-FBB0428B8FAF}"/>
                </a:ext>
              </a:extLst>
            </p:cNvPr>
            <p:cNvSpPr txBox="1"/>
            <p:nvPr/>
          </p:nvSpPr>
          <p:spPr>
            <a:xfrm>
              <a:off x="2294687" y="3719282"/>
              <a:ext cx="1575954" cy="923330"/>
            </a:xfrm>
            <a:prstGeom prst="rect">
              <a:avLst/>
            </a:prstGeom>
            <a:noFill/>
          </p:spPr>
          <p:txBody>
            <a:bodyPr wrap="square" rtlCol="0">
              <a:spAutoFit/>
            </a:bodyPr>
            <a:lstStyle/>
            <a:p>
              <a:pPr algn="ctr"/>
              <a:r>
                <a:rPr lang="en-US" dirty="0"/>
                <a:t>Metoprolol</a:t>
              </a:r>
            </a:p>
            <a:p>
              <a:pPr algn="ctr"/>
              <a:r>
                <a:rPr lang="en-US" dirty="0"/>
                <a:t>Carvedilol</a:t>
              </a:r>
            </a:p>
            <a:p>
              <a:pPr algn="ctr"/>
              <a:r>
                <a:rPr lang="en-US" dirty="0"/>
                <a:t>Bisoprolol</a:t>
              </a:r>
            </a:p>
          </p:txBody>
        </p:sp>
        <p:sp>
          <p:nvSpPr>
            <p:cNvPr id="42" name="TextBox 41">
              <a:extLst>
                <a:ext uri="{FF2B5EF4-FFF2-40B4-BE49-F238E27FC236}">
                  <a16:creationId xmlns:a16="http://schemas.microsoft.com/office/drawing/2014/main" id="{D2A3DA82-8BF3-3741-9156-95B84C8B6A57}"/>
                </a:ext>
              </a:extLst>
            </p:cNvPr>
            <p:cNvSpPr txBox="1"/>
            <p:nvPr/>
          </p:nvSpPr>
          <p:spPr>
            <a:xfrm>
              <a:off x="4172546" y="3719282"/>
              <a:ext cx="2075855" cy="923330"/>
            </a:xfrm>
            <a:prstGeom prst="rect">
              <a:avLst/>
            </a:prstGeom>
            <a:noFill/>
          </p:spPr>
          <p:txBody>
            <a:bodyPr wrap="square" rtlCol="0">
              <a:spAutoFit/>
            </a:bodyPr>
            <a:lstStyle/>
            <a:p>
              <a:pPr algn="ctr"/>
              <a:r>
                <a:rPr lang="en-US" dirty="0"/>
                <a:t>TDD 50-200 mg</a:t>
              </a:r>
            </a:p>
            <a:p>
              <a:pPr algn="ctr"/>
              <a:r>
                <a:rPr lang="en-US" dirty="0"/>
                <a:t>TDD 6.25-50 mg</a:t>
              </a:r>
            </a:p>
            <a:p>
              <a:pPr algn="ctr"/>
              <a:r>
                <a:rPr lang="en-US" dirty="0"/>
                <a:t>TDD 1.25-20 mg</a:t>
              </a:r>
            </a:p>
          </p:txBody>
        </p:sp>
        <p:sp>
          <p:nvSpPr>
            <p:cNvPr id="43" name="TextBox 42">
              <a:extLst>
                <a:ext uri="{FF2B5EF4-FFF2-40B4-BE49-F238E27FC236}">
                  <a16:creationId xmlns:a16="http://schemas.microsoft.com/office/drawing/2014/main" id="{6F00AF37-2770-9942-8489-66C5E6D934FD}"/>
                </a:ext>
              </a:extLst>
            </p:cNvPr>
            <p:cNvSpPr txBox="1"/>
            <p:nvPr/>
          </p:nvSpPr>
          <p:spPr>
            <a:xfrm>
              <a:off x="6145188" y="3719282"/>
              <a:ext cx="3130906" cy="923330"/>
            </a:xfrm>
            <a:prstGeom prst="rect">
              <a:avLst/>
            </a:prstGeom>
            <a:noFill/>
          </p:spPr>
          <p:txBody>
            <a:bodyPr wrap="square" rtlCol="0">
              <a:spAutoFit/>
            </a:bodyPr>
            <a:lstStyle/>
            <a:p>
              <a:pPr algn="ctr"/>
              <a:r>
                <a:rPr lang="en-US" dirty="0"/>
                <a:t>Preferred in stable </a:t>
              </a:r>
              <a:r>
                <a:rPr lang="en-US" dirty="0" err="1"/>
                <a:t>HFrEF</a:t>
              </a:r>
              <a:endParaRPr lang="en-US" dirty="0"/>
            </a:p>
            <a:p>
              <a:pPr algn="ctr"/>
              <a:r>
                <a:rPr lang="en-US" dirty="0"/>
                <a:t>Caution in severe bronchospasm</a:t>
              </a:r>
            </a:p>
          </p:txBody>
        </p:sp>
      </p:grpSp>
      <p:grpSp>
        <p:nvGrpSpPr>
          <p:cNvPr id="6" name="CCB answer">
            <a:extLst>
              <a:ext uri="{FF2B5EF4-FFF2-40B4-BE49-F238E27FC236}">
                <a16:creationId xmlns:a16="http://schemas.microsoft.com/office/drawing/2014/main" id="{A39FD642-7D41-1345-8334-A18E5ECD22B8}"/>
              </a:ext>
            </a:extLst>
          </p:cNvPr>
          <p:cNvGrpSpPr/>
          <p:nvPr/>
        </p:nvGrpSpPr>
        <p:grpSpPr>
          <a:xfrm>
            <a:off x="1970437" y="4281765"/>
            <a:ext cx="6529637" cy="376915"/>
            <a:chOff x="2073176" y="4555021"/>
            <a:chExt cx="6529637" cy="380991"/>
          </a:xfrm>
        </p:grpSpPr>
        <p:sp>
          <p:nvSpPr>
            <p:cNvPr id="45" name="TextBox 44">
              <a:extLst>
                <a:ext uri="{FF2B5EF4-FFF2-40B4-BE49-F238E27FC236}">
                  <a16:creationId xmlns:a16="http://schemas.microsoft.com/office/drawing/2014/main" id="{EAD1A78D-9D82-A343-AFCF-693947D423DB}"/>
                </a:ext>
              </a:extLst>
            </p:cNvPr>
            <p:cNvSpPr txBox="1"/>
            <p:nvPr/>
          </p:nvSpPr>
          <p:spPr>
            <a:xfrm>
              <a:off x="2073176" y="4562686"/>
              <a:ext cx="2075855" cy="373326"/>
            </a:xfrm>
            <a:prstGeom prst="rect">
              <a:avLst/>
            </a:prstGeom>
            <a:noFill/>
          </p:spPr>
          <p:txBody>
            <a:bodyPr wrap="square" rtlCol="0">
              <a:spAutoFit/>
            </a:bodyPr>
            <a:lstStyle/>
            <a:p>
              <a:pPr algn="ctr"/>
              <a:r>
                <a:rPr lang="en-US" dirty="0"/>
                <a:t>Diltiazem</a:t>
              </a:r>
            </a:p>
          </p:txBody>
        </p:sp>
        <p:sp>
          <p:nvSpPr>
            <p:cNvPr id="46" name="TextBox 45">
              <a:extLst>
                <a:ext uri="{FF2B5EF4-FFF2-40B4-BE49-F238E27FC236}">
                  <a16:creationId xmlns:a16="http://schemas.microsoft.com/office/drawing/2014/main" id="{CB475347-1E5D-8240-837E-9CA16FEE5BFD}"/>
                </a:ext>
              </a:extLst>
            </p:cNvPr>
            <p:cNvSpPr txBox="1"/>
            <p:nvPr/>
          </p:nvSpPr>
          <p:spPr>
            <a:xfrm>
              <a:off x="4168928" y="4562686"/>
              <a:ext cx="2075855" cy="369332"/>
            </a:xfrm>
            <a:prstGeom prst="rect">
              <a:avLst/>
            </a:prstGeom>
            <a:noFill/>
          </p:spPr>
          <p:txBody>
            <a:bodyPr wrap="square" rtlCol="0">
              <a:spAutoFit/>
            </a:bodyPr>
            <a:lstStyle/>
            <a:p>
              <a:pPr algn="ctr"/>
              <a:r>
                <a:rPr lang="en-US" dirty="0"/>
                <a:t>TDD 120-480 mg</a:t>
              </a:r>
            </a:p>
          </p:txBody>
        </p:sp>
        <p:sp>
          <p:nvSpPr>
            <p:cNvPr id="47" name="TextBox 46">
              <a:extLst>
                <a:ext uri="{FF2B5EF4-FFF2-40B4-BE49-F238E27FC236}">
                  <a16:creationId xmlns:a16="http://schemas.microsoft.com/office/drawing/2014/main" id="{0BF16749-C66C-1C45-ADC2-DA57381B738A}"/>
                </a:ext>
              </a:extLst>
            </p:cNvPr>
            <p:cNvSpPr txBox="1"/>
            <p:nvPr/>
          </p:nvSpPr>
          <p:spPr>
            <a:xfrm>
              <a:off x="6758905" y="4555021"/>
              <a:ext cx="1843908" cy="373326"/>
            </a:xfrm>
            <a:prstGeom prst="rect">
              <a:avLst/>
            </a:prstGeom>
            <a:noFill/>
          </p:spPr>
          <p:txBody>
            <a:bodyPr wrap="square" rtlCol="0">
              <a:spAutoFit/>
            </a:bodyPr>
            <a:lstStyle/>
            <a:p>
              <a:pPr algn="ctr"/>
              <a:r>
                <a:rPr lang="en-US" dirty="0"/>
                <a:t>Avoid in </a:t>
              </a:r>
              <a:r>
                <a:rPr lang="en-US" dirty="0" err="1"/>
                <a:t>HFrEF</a:t>
              </a:r>
              <a:endParaRPr lang="en-US" dirty="0"/>
            </a:p>
          </p:txBody>
        </p:sp>
      </p:grpSp>
      <p:grpSp>
        <p:nvGrpSpPr>
          <p:cNvPr id="7" name="Digoxin answer">
            <a:extLst>
              <a:ext uri="{FF2B5EF4-FFF2-40B4-BE49-F238E27FC236}">
                <a16:creationId xmlns:a16="http://schemas.microsoft.com/office/drawing/2014/main" id="{6725E62E-CC41-E94A-9889-9E316DC3362F}"/>
              </a:ext>
            </a:extLst>
          </p:cNvPr>
          <p:cNvGrpSpPr/>
          <p:nvPr/>
        </p:nvGrpSpPr>
        <p:grpSpPr>
          <a:xfrm>
            <a:off x="4116720" y="4866564"/>
            <a:ext cx="5198618" cy="923330"/>
            <a:chOff x="4130402" y="5164589"/>
            <a:chExt cx="5198618" cy="923330"/>
          </a:xfrm>
        </p:grpSpPr>
        <p:sp>
          <p:nvSpPr>
            <p:cNvPr id="48" name="TextBox 47">
              <a:extLst>
                <a:ext uri="{FF2B5EF4-FFF2-40B4-BE49-F238E27FC236}">
                  <a16:creationId xmlns:a16="http://schemas.microsoft.com/office/drawing/2014/main" id="{41A06BED-A3F7-8D4D-8E0E-CE94EF6CC28C}"/>
                </a:ext>
              </a:extLst>
            </p:cNvPr>
            <p:cNvSpPr txBox="1"/>
            <p:nvPr/>
          </p:nvSpPr>
          <p:spPr>
            <a:xfrm>
              <a:off x="4130402" y="5427041"/>
              <a:ext cx="2075855" cy="369332"/>
            </a:xfrm>
            <a:prstGeom prst="rect">
              <a:avLst/>
            </a:prstGeom>
            <a:noFill/>
          </p:spPr>
          <p:txBody>
            <a:bodyPr wrap="square" rtlCol="0">
              <a:spAutoFit/>
            </a:bodyPr>
            <a:lstStyle/>
            <a:p>
              <a:pPr algn="ctr"/>
              <a:r>
                <a:rPr lang="en-US" dirty="0"/>
                <a:t>125-250 mcg daily</a:t>
              </a:r>
            </a:p>
          </p:txBody>
        </p:sp>
        <p:sp>
          <p:nvSpPr>
            <p:cNvPr id="49" name="TextBox 48">
              <a:extLst>
                <a:ext uri="{FF2B5EF4-FFF2-40B4-BE49-F238E27FC236}">
                  <a16:creationId xmlns:a16="http://schemas.microsoft.com/office/drawing/2014/main" id="{91631AF1-8EDC-C04C-A4F7-94BCEA9DAFD7}"/>
                </a:ext>
              </a:extLst>
            </p:cNvPr>
            <p:cNvSpPr txBox="1"/>
            <p:nvPr/>
          </p:nvSpPr>
          <p:spPr>
            <a:xfrm>
              <a:off x="6096000" y="5164589"/>
              <a:ext cx="3233020" cy="923330"/>
            </a:xfrm>
            <a:prstGeom prst="rect">
              <a:avLst/>
            </a:prstGeom>
            <a:noFill/>
          </p:spPr>
          <p:txBody>
            <a:bodyPr wrap="square" rtlCol="0">
              <a:spAutoFit/>
            </a:bodyPr>
            <a:lstStyle/>
            <a:p>
              <a:pPr algn="ctr"/>
              <a:r>
                <a:rPr lang="en-US" dirty="0"/>
                <a:t>Second line, use as adjunct</a:t>
              </a:r>
            </a:p>
            <a:p>
              <a:pPr algn="ctr"/>
              <a:r>
                <a:rPr lang="en-US" dirty="0"/>
                <a:t>Caution in CKD</a:t>
              </a:r>
            </a:p>
            <a:p>
              <a:pPr algn="ctr"/>
              <a:r>
                <a:rPr lang="en-US" dirty="0"/>
                <a:t>Positive inotrope</a:t>
              </a:r>
            </a:p>
          </p:txBody>
        </p:sp>
      </p:grpSp>
      <p:grpSp>
        <p:nvGrpSpPr>
          <p:cNvPr id="4" name="Table headings">
            <a:extLst>
              <a:ext uri="{FF2B5EF4-FFF2-40B4-BE49-F238E27FC236}">
                <a16:creationId xmlns:a16="http://schemas.microsoft.com/office/drawing/2014/main" id="{B2FE98E0-2407-6344-9203-C9C2BE624DA0}"/>
              </a:ext>
            </a:extLst>
          </p:cNvPr>
          <p:cNvGrpSpPr/>
          <p:nvPr/>
        </p:nvGrpSpPr>
        <p:grpSpPr>
          <a:xfrm>
            <a:off x="2258095" y="2824583"/>
            <a:ext cx="6210387" cy="396985"/>
            <a:chOff x="2294024" y="3210645"/>
            <a:chExt cx="6210387" cy="396985"/>
          </a:xfrm>
        </p:grpSpPr>
        <p:grpSp>
          <p:nvGrpSpPr>
            <p:cNvPr id="52" name="Group 51">
              <a:extLst>
                <a:ext uri="{FF2B5EF4-FFF2-40B4-BE49-F238E27FC236}">
                  <a16:creationId xmlns:a16="http://schemas.microsoft.com/office/drawing/2014/main" id="{919B5270-C94D-9C45-B46B-BFDADD211C0E}"/>
                </a:ext>
              </a:extLst>
            </p:cNvPr>
            <p:cNvGrpSpPr/>
            <p:nvPr/>
          </p:nvGrpSpPr>
          <p:grpSpPr>
            <a:xfrm>
              <a:off x="2294024" y="3213568"/>
              <a:ext cx="1575954" cy="394062"/>
              <a:chOff x="2711116" y="3213568"/>
              <a:chExt cx="1575954" cy="394062"/>
            </a:xfrm>
          </p:grpSpPr>
          <p:sp>
            <p:nvSpPr>
              <p:cNvPr id="30" name="Cases">
                <a:hlinkClick r:id="" action="ppaction://noaction"/>
                <a:extLst>
                  <a:ext uri="{FF2B5EF4-FFF2-40B4-BE49-F238E27FC236}">
                    <a16:creationId xmlns:a16="http://schemas.microsoft.com/office/drawing/2014/main" id="{F1C7C00E-43E3-9142-B8F3-D592DAA85CED}"/>
                  </a:ext>
                </a:extLst>
              </p:cNvPr>
              <p:cNvSpPr/>
              <p:nvPr/>
            </p:nvSpPr>
            <p:spPr>
              <a:xfrm>
                <a:off x="2721508" y="3213568"/>
                <a:ext cx="1565562" cy="367979"/>
              </a:xfrm>
              <a:prstGeom prst="roundRect">
                <a:avLst/>
              </a:prstGeom>
              <a:solidFill>
                <a:schemeClr val="bg1"/>
              </a:solidFill>
              <a:ln w="38100">
                <a:noFill/>
              </a:ln>
              <a:effectLst>
                <a:outerShdw blurRad="50800" dist="38100" dir="2700000" algn="tl"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Medication</a:t>
                </a:r>
              </a:p>
            </p:txBody>
          </p:sp>
          <p:cxnSp>
            <p:nvCxnSpPr>
              <p:cNvPr id="51" name="Straight Connector 50">
                <a:extLst>
                  <a:ext uri="{FF2B5EF4-FFF2-40B4-BE49-F238E27FC236}">
                    <a16:creationId xmlns:a16="http://schemas.microsoft.com/office/drawing/2014/main" id="{30810F8E-995E-1E40-AD43-568FFD6CFEC2}"/>
                  </a:ext>
                </a:extLst>
              </p:cNvPr>
              <p:cNvCxnSpPr/>
              <p:nvPr/>
            </p:nvCxnSpPr>
            <p:spPr>
              <a:xfrm>
                <a:off x="2711116" y="3607630"/>
                <a:ext cx="157595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9C2408FF-07A1-0844-8685-26D30AC31B53}"/>
                </a:ext>
              </a:extLst>
            </p:cNvPr>
            <p:cNvGrpSpPr/>
            <p:nvPr/>
          </p:nvGrpSpPr>
          <p:grpSpPr>
            <a:xfrm>
              <a:off x="4382095" y="3213568"/>
              <a:ext cx="1575954" cy="394062"/>
              <a:chOff x="2711116" y="3213568"/>
              <a:chExt cx="1575954" cy="394062"/>
            </a:xfrm>
          </p:grpSpPr>
          <p:sp>
            <p:nvSpPr>
              <p:cNvPr id="54" name="Cases">
                <a:hlinkClick r:id="" action="ppaction://noaction"/>
                <a:extLst>
                  <a:ext uri="{FF2B5EF4-FFF2-40B4-BE49-F238E27FC236}">
                    <a16:creationId xmlns:a16="http://schemas.microsoft.com/office/drawing/2014/main" id="{722C48DF-172C-304E-AB62-ADF384919430}"/>
                  </a:ext>
                </a:extLst>
              </p:cNvPr>
              <p:cNvSpPr/>
              <p:nvPr/>
            </p:nvSpPr>
            <p:spPr>
              <a:xfrm>
                <a:off x="2721508" y="3213568"/>
                <a:ext cx="1565562" cy="367979"/>
              </a:xfrm>
              <a:prstGeom prst="roundRect">
                <a:avLst/>
              </a:prstGeom>
              <a:solidFill>
                <a:schemeClr val="bg1"/>
              </a:solidFill>
              <a:ln w="38100">
                <a:noFill/>
              </a:ln>
              <a:effectLst>
                <a:outerShdw blurRad="50800" dist="38100" dir="2700000" algn="tl"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Dose</a:t>
                </a:r>
              </a:p>
            </p:txBody>
          </p:sp>
          <p:cxnSp>
            <p:nvCxnSpPr>
              <p:cNvPr id="55" name="Straight Connector 54">
                <a:extLst>
                  <a:ext uri="{FF2B5EF4-FFF2-40B4-BE49-F238E27FC236}">
                    <a16:creationId xmlns:a16="http://schemas.microsoft.com/office/drawing/2014/main" id="{A72537BC-5BD6-BF43-84AA-80519DCC6DD3}"/>
                  </a:ext>
                </a:extLst>
              </p:cNvPr>
              <p:cNvCxnSpPr/>
              <p:nvPr/>
            </p:nvCxnSpPr>
            <p:spPr>
              <a:xfrm>
                <a:off x="2711116" y="3607630"/>
                <a:ext cx="157595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02A0A79A-AD90-054B-A16F-FDC50DA873D9}"/>
                </a:ext>
              </a:extLst>
            </p:cNvPr>
            <p:cNvGrpSpPr/>
            <p:nvPr/>
          </p:nvGrpSpPr>
          <p:grpSpPr>
            <a:xfrm>
              <a:off x="6843772" y="3210645"/>
              <a:ext cx="1660639" cy="394062"/>
              <a:chOff x="2855025" y="3210645"/>
              <a:chExt cx="1660639" cy="394062"/>
            </a:xfrm>
          </p:grpSpPr>
          <p:sp>
            <p:nvSpPr>
              <p:cNvPr id="57" name="Cases">
                <a:hlinkClick r:id="" action="ppaction://noaction"/>
                <a:extLst>
                  <a:ext uri="{FF2B5EF4-FFF2-40B4-BE49-F238E27FC236}">
                    <a16:creationId xmlns:a16="http://schemas.microsoft.com/office/drawing/2014/main" id="{B3EEB2E3-0218-614C-8A5E-4A3F29F7B5D0}"/>
                  </a:ext>
                </a:extLst>
              </p:cNvPr>
              <p:cNvSpPr/>
              <p:nvPr/>
            </p:nvSpPr>
            <p:spPr>
              <a:xfrm>
                <a:off x="2855025" y="3210645"/>
                <a:ext cx="1660639" cy="367979"/>
              </a:xfrm>
              <a:prstGeom prst="roundRect">
                <a:avLst/>
              </a:prstGeom>
              <a:solidFill>
                <a:schemeClr val="bg1"/>
              </a:solidFill>
              <a:ln w="38100">
                <a:noFill/>
              </a:ln>
              <a:effectLst>
                <a:outerShdw blurRad="50800" dist="38100" dir="2700000" algn="tl"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Considerations</a:t>
                </a:r>
              </a:p>
            </p:txBody>
          </p:sp>
          <p:cxnSp>
            <p:nvCxnSpPr>
              <p:cNvPr id="58" name="Straight Connector 57">
                <a:extLst>
                  <a:ext uri="{FF2B5EF4-FFF2-40B4-BE49-F238E27FC236}">
                    <a16:creationId xmlns:a16="http://schemas.microsoft.com/office/drawing/2014/main" id="{F971AE9D-EB0C-304F-8DB3-DC0B72C4B9E3}"/>
                  </a:ext>
                </a:extLst>
              </p:cNvPr>
              <p:cNvCxnSpPr/>
              <p:nvPr/>
            </p:nvCxnSpPr>
            <p:spPr>
              <a:xfrm>
                <a:off x="2888761" y="3604707"/>
                <a:ext cx="157595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72" name="Group 71">
            <a:extLst>
              <a:ext uri="{FF2B5EF4-FFF2-40B4-BE49-F238E27FC236}">
                <a16:creationId xmlns:a16="http://schemas.microsoft.com/office/drawing/2014/main" id="{77E60D17-1922-F449-AC0D-A9B88C0A2ABA}"/>
              </a:ext>
            </a:extLst>
          </p:cNvPr>
          <p:cNvGrpSpPr/>
          <p:nvPr/>
        </p:nvGrpSpPr>
        <p:grpSpPr>
          <a:xfrm>
            <a:off x="9891922" y="2969359"/>
            <a:ext cx="308978" cy="308897"/>
            <a:chOff x="9865381" y="1568299"/>
            <a:chExt cx="275737" cy="265605"/>
          </a:xfrm>
        </p:grpSpPr>
        <p:cxnSp>
          <p:nvCxnSpPr>
            <p:cNvPr id="65" name="Straight Connector 64">
              <a:extLst>
                <a:ext uri="{FF2B5EF4-FFF2-40B4-BE49-F238E27FC236}">
                  <a16:creationId xmlns:a16="http://schemas.microsoft.com/office/drawing/2014/main" id="{3BAE3AF0-9028-254B-A780-CE2EEB663C95}"/>
                </a:ext>
              </a:extLst>
            </p:cNvPr>
            <p:cNvCxnSpPr>
              <a:cxnSpLocks/>
            </p:cNvCxnSpPr>
            <p:nvPr/>
          </p:nvCxnSpPr>
          <p:spPr>
            <a:xfrm>
              <a:off x="9865381" y="1701101"/>
              <a:ext cx="275737" cy="0"/>
            </a:xfrm>
            <a:prstGeom prst="line">
              <a:avLst/>
            </a:prstGeom>
            <a:ln w="38100"/>
          </p:spPr>
          <p:style>
            <a:lnRef idx="3">
              <a:schemeClr val="accent6"/>
            </a:lnRef>
            <a:fillRef idx="0">
              <a:schemeClr val="accent6"/>
            </a:fillRef>
            <a:effectRef idx="2">
              <a:schemeClr val="accent6"/>
            </a:effectRef>
            <a:fontRef idx="minor">
              <a:schemeClr val="tx1"/>
            </a:fontRef>
          </p:style>
        </p:cxnSp>
        <p:cxnSp>
          <p:nvCxnSpPr>
            <p:cNvPr id="66" name="Straight Connector 65">
              <a:extLst>
                <a:ext uri="{FF2B5EF4-FFF2-40B4-BE49-F238E27FC236}">
                  <a16:creationId xmlns:a16="http://schemas.microsoft.com/office/drawing/2014/main" id="{3F9693CE-3B63-6646-A95D-D3BDA2703083}"/>
                </a:ext>
              </a:extLst>
            </p:cNvPr>
            <p:cNvCxnSpPr>
              <a:cxnSpLocks/>
            </p:cNvCxnSpPr>
            <p:nvPr/>
          </p:nvCxnSpPr>
          <p:spPr>
            <a:xfrm flipV="1">
              <a:off x="10141118" y="1568299"/>
              <a:ext cx="0" cy="265605"/>
            </a:xfrm>
            <a:prstGeom prst="line">
              <a:avLst/>
            </a:prstGeom>
            <a:ln w="38100"/>
          </p:spPr>
          <p:style>
            <a:lnRef idx="3">
              <a:schemeClr val="accent6"/>
            </a:lnRef>
            <a:fillRef idx="0">
              <a:schemeClr val="accent6"/>
            </a:fillRef>
            <a:effectRef idx="2">
              <a:schemeClr val="accent6"/>
            </a:effectRef>
            <a:fontRef idx="minor">
              <a:schemeClr val="tx1"/>
            </a:fontRef>
          </p:style>
        </p:cxnSp>
      </p:grpSp>
      <p:sp>
        <p:nvSpPr>
          <p:cNvPr id="100" name="Procedural question">
            <a:hlinkClick r:id="" action="ppaction://noaction"/>
            <a:extLst>
              <a:ext uri="{FF2B5EF4-FFF2-40B4-BE49-F238E27FC236}">
                <a16:creationId xmlns:a16="http://schemas.microsoft.com/office/drawing/2014/main" id="{833587A1-E43A-F146-A8B0-0BE7E467D9FE}"/>
              </a:ext>
            </a:extLst>
          </p:cNvPr>
          <p:cNvSpPr/>
          <p:nvPr/>
        </p:nvSpPr>
        <p:spPr>
          <a:xfrm>
            <a:off x="357600" y="5996322"/>
            <a:ext cx="2075855" cy="61833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Procedural option? </a:t>
            </a:r>
          </a:p>
          <a:p>
            <a:pPr algn="ctr"/>
            <a:r>
              <a:rPr lang="en-US" dirty="0">
                <a:solidFill>
                  <a:schemeClr val="tx1"/>
                </a:solidFill>
              </a:rPr>
              <a:t>(Last line)</a:t>
            </a:r>
          </a:p>
        </p:txBody>
      </p:sp>
      <p:sp>
        <p:nvSpPr>
          <p:cNvPr id="61" name="Med classes question">
            <a:hlinkClick r:id="" action="ppaction://noaction"/>
            <a:extLst>
              <a:ext uri="{FF2B5EF4-FFF2-40B4-BE49-F238E27FC236}">
                <a16:creationId xmlns:a16="http://schemas.microsoft.com/office/drawing/2014/main" id="{FFE05A00-E8EC-F346-9EC8-9F0CB9443F2D}"/>
              </a:ext>
            </a:extLst>
          </p:cNvPr>
          <p:cNvSpPr/>
          <p:nvPr/>
        </p:nvSpPr>
        <p:spPr>
          <a:xfrm>
            <a:off x="3457518" y="2402679"/>
            <a:ext cx="3180599" cy="36576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Options for Rate Control?</a:t>
            </a:r>
          </a:p>
        </p:txBody>
      </p:sp>
      <p:sp>
        <p:nvSpPr>
          <p:cNvPr id="70" name="Procedure answer">
            <a:extLst>
              <a:ext uri="{FF2B5EF4-FFF2-40B4-BE49-F238E27FC236}">
                <a16:creationId xmlns:a16="http://schemas.microsoft.com/office/drawing/2014/main" id="{54270480-BAC9-7F48-B343-4A84981B5DFA}"/>
              </a:ext>
            </a:extLst>
          </p:cNvPr>
          <p:cNvSpPr txBox="1"/>
          <p:nvPr/>
        </p:nvSpPr>
        <p:spPr>
          <a:xfrm>
            <a:off x="2722793" y="6081330"/>
            <a:ext cx="6497475" cy="369332"/>
          </a:xfrm>
          <a:prstGeom prst="rect">
            <a:avLst/>
          </a:prstGeom>
          <a:noFill/>
        </p:spPr>
        <p:txBody>
          <a:bodyPr wrap="square" rtlCol="0">
            <a:spAutoFit/>
          </a:bodyPr>
          <a:lstStyle/>
          <a:p>
            <a:pPr algn="ctr"/>
            <a:r>
              <a:rPr lang="en-US" dirty="0"/>
              <a:t>AV node ablation with biventricular pacemaker placement (CRT)</a:t>
            </a:r>
          </a:p>
        </p:txBody>
      </p:sp>
      <p:sp>
        <p:nvSpPr>
          <p:cNvPr id="8" name="LO1: Stroke Prev">
            <a:hlinkClick r:id="rId4" action="ppaction://hlinksldjump"/>
            <a:extLst>
              <a:ext uri="{FF2B5EF4-FFF2-40B4-BE49-F238E27FC236}">
                <a16:creationId xmlns:a16="http://schemas.microsoft.com/office/drawing/2014/main" id="{CD73AC53-E510-71E5-11FC-7F04E6010E68}"/>
              </a:ext>
            </a:extLst>
          </p:cNvPr>
          <p:cNvSpPr/>
          <p:nvPr/>
        </p:nvSpPr>
        <p:spPr>
          <a:xfrm>
            <a:off x="167951" y="148589"/>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Stroke Prevention</a:t>
            </a:r>
          </a:p>
        </p:txBody>
      </p:sp>
      <p:sp>
        <p:nvSpPr>
          <p:cNvPr id="9" name="LO2: Rhythm Control">
            <a:hlinkClick r:id="rId5" action="ppaction://hlinksldjump"/>
            <a:extLst>
              <a:ext uri="{FF2B5EF4-FFF2-40B4-BE49-F238E27FC236}">
                <a16:creationId xmlns:a16="http://schemas.microsoft.com/office/drawing/2014/main" id="{1BA9133C-DC30-03FE-89D4-B0C70E8D01E1}"/>
              </a:ext>
            </a:extLst>
          </p:cNvPr>
          <p:cNvSpPr/>
          <p:nvPr/>
        </p:nvSpPr>
        <p:spPr>
          <a:xfrm>
            <a:off x="167950" y="674454"/>
            <a:ext cx="1875163"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Rate Control</a:t>
            </a:r>
          </a:p>
        </p:txBody>
      </p:sp>
      <p:pic>
        <p:nvPicPr>
          <p:cNvPr id="10" name="Sidebar arrow 1" descr="Cursor with solid fill">
            <a:extLst>
              <a:ext uri="{FF2B5EF4-FFF2-40B4-BE49-F238E27FC236}">
                <a16:creationId xmlns:a16="http://schemas.microsoft.com/office/drawing/2014/main" id="{E5CE8646-A7FA-64BE-1A8D-45ECD0403B2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31292" y="395749"/>
            <a:ext cx="270672" cy="270672"/>
          </a:xfrm>
          <a:prstGeom prst="rect">
            <a:avLst/>
          </a:prstGeom>
        </p:spPr>
      </p:pic>
      <p:sp>
        <p:nvSpPr>
          <p:cNvPr id="12" name="LO3: Rate Control">
            <a:hlinkClick r:id="rId8" action="ppaction://hlinksldjump"/>
            <a:extLst>
              <a:ext uri="{FF2B5EF4-FFF2-40B4-BE49-F238E27FC236}">
                <a16:creationId xmlns:a16="http://schemas.microsoft.com/office/drawing/2014/main" id="{0C398712-5FFE-9482-E977-94904BE4182C}"/>
              </a:ext>
            </a:extLst>
          </p:cNvPr>
          <p:cNvSpPr/>
          <p:nvPr/>
        </p:nvSpPr>
        <p:spPr>
          <a:xfrm>
            <a:off x="167950" y="1200319"/>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Rhythm Control</a:t>
            </a:r>
          </a:p>
        </p:txBody>
      </p:sp>
      <p:pic>
        <p:nvPicPr>
          <p:cNvPr id="13" name="Sidebar arrow 3" descr="Cursor with solid fill">
            <a:extLst>
              <a:ext uri="{FF2B5EF4-FFF2-40B4-BE49-F238E27FC236}">
                <a16:creationId xmlns:a16="http://schemas.microsoft.com/office/drawing/2014/main" id="{1A991A8C-44B4-4CB9-2AA2-7DA19D82DEA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31292" y="1447479"/>
            <a:ext cx="270672" cy="270672"/>
          </a:xfrm>
          <a:prstGeom prst="rect">
            <a:avLst/>
          </a:prstGeom>
        </p:spPr>
      </p:pic>
      <p:sp>
        <p:nvSpPr>
          <p:cNvPr id="14" name="Cases">
            <a:hlinkClick r:id="rId9" action="ppaction://hlinksldjump"/>
            <a:extLst>
              <a:ext uri="{FF2B5EF4-FFF2-40B4-BE49-F238E27FC236}">
                <a16:creationId xmlns:a16="http://schemas.microsoft.com/office/drawing/2014/main" id="{27028A66-59DD-F785-8022-BBC30E70B745}"/>
              </a:ext>
            </a:extLst>
          </p:cNvPr>
          <p:cNvSpPr/>
          <p:nvPr/>
        </p:nvSpPr>
        <p:spPr>
          <a:xfrm>
            <a:off x="167950" y="1726184"/>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15" name="Sidebar arrow 4" descr="Cursor with solid fill">
            <a:extLst>
              <a:ext uri="{FF2B5EF4-FFF2-40B4-BE49-F238E27FC236}">
                <a16:creationId xmlns:a16="http://schemas.microsoft.com/office/drawing/2014/main" id="{14B9F89A-A033-2F18-5173-13DFC26B77B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31292" y="1973341"/>
            <a:ext cx="270672" cy="270672"/>
          </a:xfrm>
          <a:prstGeom prst="rect">
            <a:avLst/>
          </a:prstGeom>
        </p:spPr>
      </p:pic>
      <p:sp>
        <p:nvSpPr>
          <p:cNvPr id="16" name="Title">
            <a:extLst>
              <a:ext uri="{FF2B5EF4-FFF2-40B4-BE49-F238E27FC236}">
                <a16:creationId xmlns:a16="http://schemas.microsoft.com/office/drawing/2014/main" id="{63377AF6-E33A-33B9-5425-187935F15554}"/>
              </a:ext>
            </a:extLst>
          </p:cNvPr>
          <p:cNvSpPr txBox="1"/>
          <p:nvPr/>
        </p:nvSpPr>
        <p:spPr>
          <a:xfrm>
            <a:off x="2913225" y="53723"/>
            <a:ext cx="7637869" cy="523220"/>
          </a:xfrm>
          <a:prstGeom prst="rect">
            <a:avLst/>
          </a:prstGeom>
          <a:noFill/>
        </p:spPr>
        <p:txBody>
          <a:bodyPr wrap="square" rtlCol="0">
            <a:spAutoFit/>
          </a:bodyPr>
          <a:lstStyle/>
          <a:p>
            <a:pPr algn="ctr"/>
            <a:r>
              <a:rPr lang="en-US" sz="2800" b="1" dirty="0"/>
              <a:t>Rate Control</a:t>
            </a:r>
          </a:p>
        </p:txBody>
      </p:sp>
      <p:pic>
        <p:nvPicPr>
          <p:cNvPr id="17" name="Sidebar arrow 1" descr="Cursor with solid fill">
            <a:extLst>
              <a:ext uri="{FF2B5EF4-FFF2-40B4-BE49-F238E27FC236}">
                <a16:creationId xmlns:a16="http://schemas.microsoft.com/office/drawing/2014/main" id="{DA42EAB4-D0C1-4FFB-1D85-3A377D1F641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80240" y="963544"/>
            <a:ext cx="270672" cy="270672"/>
          </a:xfrm>
          <a:prstGeom prst="rect">
            <a:avLst/>
          </a:prstGeom>
        </p:spPr>
      </p:pic>
      <p:pic>
        <p:nvPicPr>
          <p:cNvPr id="19" name="Sidebar arrow 1" descr="Cursor with solid fill">
            <a:extLst>
              <a:ext uri="{FF2B5EF4-FFF2-40B4-BE49-F238E27FC236}">
                <a16:creationId xmlns:a16="http://schemas.microsoft.com/office/drawing/2014/main" id="{68C19A34-31B7-7D5F-DAB7-B4EA9ECB79E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0830" y="2645083"/>
            <a:ext cx="270672" cy="270672"/>
          </a:xfrm>
          <a:prstGeom prst="rect">
            <a:avLst/>
          </a:prstGeom>
        </p:spPr>
      </p:pic>
      <p:cxnSp>
        <p:nvCxnSpPr>
          <p:cNvPr id="26" name="Straight Connector 25">
            <a:extLst>
              <a:ext uri="{FF2B5EF4-FFF2-40B4-BE49-F238E27FC236}">
                <a16:creationId xmlns:a16="http://schemas.microsoft.com/office/drawing/2014/main" id="{9C95D500-CF60-8435-8AC4-BA7251A762F4}"/>
              </a:ext>
            </a:extLst>
          </p:cNvPr>
          <p:cNvCxnSpPr>
            <a:cxnSpLocks/>
          </p:cNvCxnSpPr>
          <p:nvPr/>
        </p:nvCxnSpPr>
        <p:spPr>
          <a:xfrm>
            <a:off x="353980" y="4163626"/>
            <a:ext cx="8869680" cy="0"/>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59235119-C4C9-2EC7-50C8-0C3E5ACDEC09}"/>
              </a:ext>
            </a:extLst>
          </p:cNvPr>
          <p:cNvCxnSpPr>
            <a:cxnSpLocks/>
          </p:cNvCxnSpPr>
          <p:nvPr/>
        </p:nvCxnSpPr>
        <p:spPr>
          <a:xfrm>
            <a:off x="350588" y="4820584"/>
            <a:ext cx="8869680" cy="0"/>
          </a:xfrm>
          <a:prstGeom prst="line">
            <a:avLst/>
          </a:prstGeom>
        </p:spPr>
        <p:style>
          <a:lnRef idx="1">
            <a:schemeClr val="dk1"/>
          </a:lnRef>
          <a:fillRef idx="0">
            <a:schemeClr val="dk1"/>
          </a:fillRef>
          <a:effectRef idx="0">
            <a:schemeClr val="dk1"/>
          </a:effectRef>
          <a:fontRef idx="minor">
            <a:schemeClr val="tx1"/>
          </a:fontRef>
        </p:style>
      </p:cxnSp>
      <p:pic>
        <p:nvPicPr>
          <p:cNvPr id="25" name="Sidebar arrow 1" descr="Cursor with solid fill">
            <a:extLst>
              <a:ext uri="{FF2B5EF4-FFF2-40B4-BE49-F238E27FC236}">
                <a16:creationId xmlns:a16="http://schemas.microsoft.com/office/drawing/2014/main" id="{6F0FD9F9-6A84-2543-0961-2F2B7A8F66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50833" y="3682696"/>
            <a:ext cx="270672" cy="270672"/>
          </a:xfrm>
          <a:prstGeom prst="rect">
            <a:avLst/>
          </a:prstGeom>
        </p:spPr>
      </p:pic>
      <p:pic>
        <p:nvPicPr>
          <p:cNvPr id="27" name="Sidebar arrow 1" descr="Cursor with solid fill">
            <a:extLst>
              <a:ext uri="{FF2B5EF4-FFF2-40B4-BE49-F238E27FC236}">
                <a16:creationId xmlns:a16="http://schemas.microsoft.com/office/drawing/2014/main" id="{889180F6-51BB-1A97-2B45-A9D5C945859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41595" y="4528312"/>
            <a:ext cx="270672" cy="270672"/>
          </a:xfrm>
          <a:prstGeom prst="rect">
            <a:avLst/>
          </a:prstGeom>
        </p:spPr>
      </p:pic>
      <p:pic>
        <p:nvPicPr>
          <p:cNvPr id="31" name="Sidebar arrow 1" descr="Cursor with solid fill">
            <a:extLst>
              <a:ext uri="{FF2B5EF4-FFF2-40B4-BE49-F238E27FC236}">
                <a16:creationId xmlns:a16="http://schemas.microsoft.com/office/drawing/2014/main" id="{1C0A4C63-59A9-8270-F4BD-56F8EE97A2B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50833" y="5385479"/>
            <a:ext cx="270672" cy="270672"/>
          </a:xfrm>
          <a:prstGeom prst="rect">
            <a:avLst/>
          </a:prstGeom>
        </p:spPr>
      </p:pic>
      <p:pic>
        <p:nvPicPr>
          <p:cNvPr id="34" name="Sidebar arrow 1" descr="Cursor with solid fill">
            <a:extLst>
              <a:ext uri="{FF2B5EF4-FFF2-40B4-BE49-F238E27FC236}">
                <a16:creationId xmlns:a16="http://schemas.microsoft.com/office/drawing/2014/main" id="{C9D57056-C978-2080-7968-C50DDC624F1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72874" y="6470895"/>
            <a:ext cx="270672" cy="270672"/>
          </a:xfrm>
          <a:prstGeom prst="rect">
            <a:avLst/>
          </a:prstGeom>
        </p:spPr>
      </p:pic>
      <p:grpSp>
        <p:nvGrpSpPr>
          <p:cNvPr id="37" name="Group 36">
            <a:extLst>
              <a:ext uri="{FF2B5EF4-FFF2-40B4-BE49-F238E27FC236}">
                <a16:creationId xmlns:a16="http://schemas.microsoft.com/office/drawing/2014/main" id="{ACF05F5B-A69C-77C1-8F20-73CD174BE36B}"/>
              </a:ext>
            </a:extLst>
          </p:cNvPr>
          <p:cNvGrpSpPr/>
          <p:nvPr/>
        </p:nvGrpSpPr>
        <p:grpSpPr>
          <a:xfrm rot="18702517">
            <a:off x="10012100" y="3270037"/>
            <a:ext cx="333233" cy="308897"/>
            <a:chOff x="9852659" y="1568299"/>
            <a:chExt cx="288459" cy="265605"/>
          </a:xfrm>
        </p:grpSpPr>
        <p:cxnSp>
          <p:nvCxnSpPr>
            <p:cNvPr id="40" name="Straight Connector 39">
              <a:extLst>
                <a:ext uri="{FF2B5EF4-FFF2-40B4-BE49-F238E27FC236}">
                  <a16:creationId xmlns:a16="http://schemas.microsoft.com/office/drawing/2014/main" id="{A5A74746-EB23-644F-6A8F-47BB762A8549}"/>
                </a:ext>
              </a:extLst>
            </p:cNvPr>
            <p:cNvCxnSpPr>
              <a:cxnSpLocks/>
            </p:cNvCxnSpPr>
            <p:nvPr/>
          </p:nvCxnSpPr>
          <p:spPr>
            <a:xfrm rot="2897483" flipV="1">
              <a:off x="9872555" y="1575660"/>
              <a:ext cx="204168" cy="243959"/>
            </a:xfrm>
            <a:prstGeom prst="line">
              <a:avLst/>
            </a:prstGeom>
            <a:ln w="38100"/>
          </p:spPr>
          <p:style>
            <a:lnRef idx="3">
              <a:schemeClr val="accent5"/>
            </a:lnRef>
            <a:fillRef idx="0">
              <a:schemeClr val="accent5"/>
            </a:fillRef>
            <a:effectRef idx="2">
              <a:schemeClr val="accent5"/>
            </a:effectRef>
            <a:fontRef idx="minor">
              <a:schemeClr val="tx1"/>
            </a:fontRef>
          </p:style>
        </p:cxnSp>
        <p:cxnSp>
          <p:nvCxnSpPr>
            <p:cNvPr id="50" name="Straight Connector 49">
              <a:extLst>
                <a:ext uri="{FF2B5EF4-FFF2-40B4-BE49-F238E27FC236}">
                  <a16:creationId xmlns:a16="http://schemas.microsoft.com/office/drawing/2014/main" id="{9AD645C1-5204-DB45-A450-A68D8D6FA840}"/>
                </a:ext>
              </a:extLst>
            </p:cNvPr>
            <p:cNvCxnSpPr>
              <a:cxnSpLocks/>
            </p:cNvCxnSpPr>
            <p:nvPr/>
          </p:nvCxnSpPr>
          <p:spPr>
            <a:xfrm flipV="1">
              <a:off x="10141118" y="1568299"/>
              <a:ext cx="0" cy="265605"/>
            </a:xfrm>
            <a:prstGeom prst="line">
              <a:avLst/>
            </a:prstGeom>
            <a:ln w="38100"/>
          </p:spPr>
          <p:style>
            <a:lnRef idx="3">
              <a:schemeClr val="accent5"/>
            </a:lnRef>
            <a:fillRef idx="0">
              <a:schemeClr val="accent5"/>
            </a:fillRef>
            <a:effectRef idx="2">
              <a:schemeClr val="accent5"/>
            </a:effectRef>
            <a:fontRef idx="minor">
              <a:schemeClr val="tx1"/>
            </a:fontRef>
          </p:style>
        </p:cxnSp>
      </p:grpSp>
      <p:sp>
        <p:nvSpPr>
          <p:cNvPr id="59" name="TextBox 58">
            <a:extLst>
              <a:ext uri="{FF2B5EF4-FFF2-40B4-BE49-F238E27FC236}">
                <a16:creationId xmlns:a16="http://schemas.microsoft.com/office/drawing/2014/main" id="{88D8FB8E-2916-47F5-6FBD-5B020B4900F8}"/>
              </a:ext>
            </a:extLst>
          </p:cNvPr>
          <p:cNvSpPr txBox="1"/>
          <p:nvPr/>
        </p:nvSpPr>
        <p:spPr>
          <a:xfrm>
            <a:off x="10508971" y="2698361"/>
            <a:ext cx="1100603" cy="369332"/>
          </a:xfrm>
          <a:prstGeom prst="rect">
            <a:avLst/>
          </a:prstGeom>
          <a:noFill/>
        </p:spPr>
        <p:txBody>
          <a:bodyPr wrap="square" rtlCol="0">
            <a:spAutoFit/>
          </a:bodyPr>
          <a:lstStyle/>
          <a:p>
            <a:r>
              <a:rPr lang="en-US" dirty="0"/>
              <a:t>AV node</a:t>
            </a:r>
          </a:p>
        </p:txBody>
      </p:sp>
      <p:sp>
        <p:nvSpPr>
          <p:cNvPr id="60" name="Oval 59">
            <a:extLst>
              <a:ext uri="{FF2B5EF4-FFF2-40B4-BE49-F238E27FC236}">
                <a16:creationId xmlns:a16="http://schemas.microsoft.com/office/drawing/2014/main" id="{DEEA2B9E-E7AA-174B-4D86-92F8BC798B51}"/>
              </a:ext>
            </a:extLst>
          </p:cNvPr>
          <p:cNvSpPr/>
          <p:nvPr/>
        </p:nvSpPr>
        <p:spPr>
          <a:xfrm>
            <a:off x="10389624" y="2983366"/>
            <a:ext cx="199776" cy="21103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83" name="Group 82">
            <a:extLst>
              <a:ext uri="{FF2B5EF4-FFF2-40B4-BE49-F238E27FC236}">
                <a16:creationId xmlns:a16="http://schemas.microsoft.com/office/drawing/2014/main" id="{F0A32460-EB91-F840-D9EB-0A0E60673771}"/>
              </a:ext>
            </a:extLst>
          </p:cNvPr>
          <p:cNvGrpSpPr/>
          <p:nvPr/>
        </p:nvGrpSpPr>
        <p:grpSpPr>
          <a:xfrm>
            <a:off x="10095936" y="3349073"/>
            <a:ext cx="648111" cy="1129570"/>
            <a:chOff x="9757439" y="2203241"/>
            <a:chExt cx="578384" cy="971259"/>
          </a:xfrm>
        </p:grpSpPr>
        <p:grpSp>
          <p:nvGrpSpPr>
            <p:cNvPr id="62" name="Group 61">
              <a:extLst>
                <a:ext uri="{FF2B5EF4-FFF2-40B4-BE49-F238E27FC236}">
                  <a16:creationId xmlns:a16="http://schemas.microsoft.com/office/drawing/2014/main" id="{8FC92FA4-6D20-0B09-60AE-2AB2FA663CD2}"/>
                </a:ext>
              </a:extLst>
            </p:cNvPr>
            <p:cNvGrpSpPr/>
            <p:nvPr/>
          </p:nvGrpSpPr>
          <p:grpSpPr>
            <a:xfrm rot="16863730">
              <a:off x="9888377" y="2233491"/>
              <a:ext cx="326105" cy="265605"/>
              <a:chOff x="9815013" y="1568299"/>
              <a:chExt cx="326105" cy="265605"/>
            </a:xfrm>
          </p:grpSpPr>
          <p:cxnSp>
            <p:nvCxnSpPr>
              <p:cNvPr id="63" name="Straight Connector 62">
                <a:extLst>
                  <a:ext uri="{FF2B5EF4-FFF2-40B4-BE49-F238E27FC236}">
                    <a16:creationId xmlns:a16="http://schemas.microsoft.com/office/drawing/2014/main" id="{661F3708-C659-1A84-FCF8-0687FA951099}"/>
                  </a:ext>
                </a:extLst>
              </p:cNvPr>
              <p:cNvCxnSpPr>
                <a:cxnSpLocks/>
              </p:cNvCxnSpPr>
              <p:nvPr/>
            </p:nvCxnSpPr>
            <p:spPr>
              <a:xfrm rot="4736270" flipV="1">
                <a:off x="9947919" y="1542016"/>
                <a:ext cx="57759" cy="323571"/>
              </a:xfrm>
              <a:prstGeom prst="line">
                <a:avLst/>
              </a:prstGeom>
              <a:ln w="38100">
                <a:solidFill>
                  <a:srgbClr val="7030A0"/>
                </a:solidFill>
              </a:ln>
            </p:spPr>
            <p:style>
              <a:lnRef idx="3">
                <a:schemeClr val="accent5"/>
              </a:lnRef>
              <a:fillRef idx="0">
                <a:schemeClr val="accent5"/>
              </a:fillRef>
              <a:effectRef idx="2">
                <a:schemeClr val="accent5"/>
              </a:effectRef>
              <a:fontRef idx="minor">
                <a:schemeClr val="tx1"/>
              </a:fontRef>
            </p:style>
          </p:cxnSp>
          <p:cxnSp>
            <p:nvCxnSpPr>
              <p:cNvPr id="64" name="Straight Connector 63">
                <a:extLst>
                  <a:ext uri="{FF2B5EF4-FFF2-40B4-BE49-F238E27FC236}">
                    <a16:creationId xmlns:a16="http://schemas.microsoft.com/office/drawing/2014/main" id="{E53C17EC-7E3C-3790-53FC-9B9620AC3A17}"/>
                  </a:ext>
                </a:extLst>
              </p:cNvPr>
              <p:cNvCxnSpPr>
                <a:cxnSpLocks/>
              </p:cNvCxnSpPr>
              <p:nvPr/>
            </p:nvCxnSpPr>
            <p:spPr>
              <a:xfrm flipV="1">
                <a:off x="10141118" y="1568299"/>
                <a:ext cx="0" cy="265605"/>
              </a:xfrm>
              <a:prstGeom prst="line">
                <a:avLst/>
              </a:prstGeom>
              <a:ln w="38100">
                <a:solidFill>
                  <a:srgbClr val="7030A0"/>
                </a:solidFill>
              </a:ln>
            </p:spPr>
            <p:style>
              <a:lnRef idx="3">
                <a:schemeClr val="accent5"/>
              </a:lnRef>
              <a:fillRef idx="0">
                <a:schemeClr val="accent5"/>
              </a:fillRef>
              <a:effectRef idx="2">
                <a:schemeClr val="accent5"/>
              </a:effectRef>
              <a:fontRef idx="minor">
                <a:schemeClr val="tx1"/>
              </a:fontRef>
            </p:style>
          </p:cxnSp>
        </p:grpSp>
        <p:cxnSp>
          <p:nvCxnSpPr>
            <p:cNvPr id="78" name="Straight Arrow Connector 77">
              <a:extLst>
                <a:ext uri="{FF2B5EF4-FFF2-40B4-BE49-F238E27FC236}">
                  <a16:creationId xmlns:a16="http://schemas.microsoft.com/office/drawing/2014/main" id="{EA0A225F-27DB-364B-3726-EF43BB03EC5A}"/>
                </a:ext>
              </a:extLst>
            </p:cNvPr>
            <p:cNvCxnSpPr>
              <a:cxnSpLocks/>
            </p:cNvCxnSpPr>
            <p:nvPr/>
          </p:nvCxnSpPr>
          <p:spPr>
            <a:xfrm flipV="1">
              <a:off x="9757439" y="3032324"/>
              <a:ext cx="357807" cy="142176"/>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81" name="Plus Sign 80">
              <a:extLst>
                <a:ext uri="{FF2B5EF4-FFF2-40B4-BE49-F238E27FC236}">
                  <a16:creationId xmlns:a16="http://schemas.microsoft.com/office/drawing/2014/main" id="{906EEC8C-F9B0-26E7-2620-FDF1BB1A5411}"/>
                </a:ext>
              </a:extLst>
            </p:cNvPr>
            <p:cNvSpPr/>
            <p:nvPr/>
          </p:nvSpPr>
          <p:spPr>
            <a:xfrm>
              <a:off x="10113091" y="2851450"/>
              <a:ext cx="222732" cy="233953"/>
            </a:xfrm>
            <a:prstGeom prst="mathPlus">
              <a:avLst>
                <a:gd name="adj1" fmla="val 9881"/>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Pacemaker Image">
            <a:extLst>
              <a:ext uri="{FF2B5EF4-FFF2-40B4-BE49-F238E27FC236}">
                <a16:creationId xmlns:a16="http://schemas.microsoft.com/office/drawing/2014/main" id="{05AAD818-0C1C-E147-A3AC-448180FC68A4}"/>
              </a:ext>
            </a:extLst>
          </p:cNvPr>
          <p:cNvGrpSpPr>
            <a:grpSpLocks/>
          </p:cNvGrpSpPr>
          <p:nvPr/>
        </p:nvGrpSpPr>
        <p:grpSpPr>
          <a:xfrm>
            <a:off x="8800070" y="85136"/>
            <a:ext cx="3946828" cy="4486784"/>
            <a:chOff x="8655172" y="-1050535"/>
            <a:chExt cx="3528304" cy="3833107"/>
          </a:xfrm>
        </p:grpSpPr>
        <p:pic>
          <p:nvPicPr>
            <p:cNvPr id="71" name="Picture 70" descr="A picture containing silhouette, night sky&#10;&#10;Description automatically generated">
              <a:extLst>
                <a:ext uri="{FF2B5EF4-FFF2-40B4-BE49-F238E27FC236}">
                  <a16:creationId xmlns:a16="http://schemas.microsoft.com/office/drawing/2014/main" id="{BD1084D1-C813-1E4F-8E62-12FEE0239900}"/>
                </a:ext>
              </a:extLst>
            </p:cNvPr>
            <p:cNvPicPr>
              <a:picLocks noChangeAspect="1"/>
            </p:cNvPicPr>
            <p:nvPr/>
          </p:nvPicPr>
          <p:blipFill rotWithShape="1">
            <a:blip r:embed="rId10">
              <a:extLst>
                <a:ext uri="{28A0092B-C50C-407E-A947-70E740481C1C}">
                  <a14:useLocalDpi xmlns:a14="http://schemas.microsoft.com/office/drawing/2010/main" val="0"/>
                </a:ext>
              </a:extLst>
            </a:blip>
            <a:srcRect l="29474" t="19713" r="51795" b="51217"/>
            <a:stretch/>
          </p:blipFill>
          <p:spPr>
            <a:xfrm rot="20786561">
              <a:off x="8655172" y="-1050535"/>
              <a:ext cx="3528304" cy="3833107"/>
            </a:xfrm>
            <a:prstGeom prst="rect">
              <a:avLst/>
            </a:prstGeom>
          </p:spPr>
        </p:pic>
        <p:sp>
          <p:nvSpPr>
            <p:cNvPr id="73" name="&quot;No&quot; Symbol 72">
              <a:extLst>
                <a:ext uri="{FF2B5EF4-FFF2-40B4-BE49-F238E27FC236}">
                  <a16:creationId xmlns:a16="http://schemas.microsoft.com/office/drawing/2014/main" id="{4C22F036-605C-0045-860B-30EB9C3B850B}"/>
                </a:ext>
              </a:extLst>
            </p:cNvPr>
            <p:cNvSpPr>
              <a:spLocks/>
            </p:cNvSpPr>
            <p:nvPr/>
          </p:nvSpPr>
          <p:spPr>
            <a:xfrm>
              <a:off x="9779535" y="1139704"/>
              <a:ext cx="564789" cy="564789"/>
            </a:xfrm>
            <a:prstGeom prst="noSmoking">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67" name="Straight Connector 66">
            <a:extLst>
              <a:ext uri="{FF2B5EF4-FFF2-40B4-BE49-F238E27FC236}">
                <a16:creationId xmlns:a16="http://schemas.microsoft.com/office/drawing/2014/main" id="{F9CB11FD-214A-49C1-9D77-36ECB58C7BC3}"/>
              </a:ext>
            </a:extLst>
          </p:cNvPr>
          <p:cNvCxnSpPr>
            <a:cxnSpLocks/>
          </p:cNvCxnSpPr>
          <p:nvPr/>
        </p:nvCxnSpPr>
        <p:spPr>
          <a:xfrm>
            <a:off x="350588" y="5809878"/>
            <a:ext cx="886968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17978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11" restart="whenNotActive" fill="hold" evtFilter="cancelBubble" nodeType="interactiveSeq">
                <p:stCondLst>
                  <p:cond evt="onClick" delay="0">
                    <p:tgtEl>
                      <p:spTgt spid="61"/>
                    </p:tgtEl>
                  </p:cond>
                </p:stCondLst>
                <p:endSync evt="end" delay="0">
                  <p:rtn val="all"/>
                </p:endSync>
                <p:childTnLst>
                  <p:par>
                    <p:cTn id="12" fill="hold">
                      <p:stCondLst>
                        <p:cond delay="0"/>
                      </p:stCondLst>
                      <p:childTnLst>
                        <p:par>
                          <p:cTn id="13" fill="hold">
                            <p:stCondLst>
                              <p:cond delay="0"/>
                            </p:stCondLst>
                            <p:childTnLst>
                              <p:par>
                                <p:cTn id="14" presetID="1" presetClass="exit" presetSubtype="0" fill="hold" grpId="0" nodeType="withEffect">
                                  <p:stCondLst>
                                    <p:cond delay="0"/>
                                  </p:stCondLst>
                                  <p:childTnLst>
                                    <p:set>
                                      <p:cBhvr>
                                        <p:cTn id="15" dur="1" fill="hold">
                                          <p:stCondLst>
                                            <p:cond delay="0"/>
                                          </p:stCondLst>
                                        </p:cTn>
                                        <p:tgtEl>
                                          <p:spTgt spid="61"/>
                                        </p:tgtEl>
                                        <p:attrNameLst>
                                          <p:attrName>style.visibility</p:attrName>
                                        </p:attrNameLst>
                                      </p:cBhvr>
                                      <p:to>
                                        <p:strVal val="hidden"/>
                                      </p:to>
                                    </p:set>
                                  </p:childTnLst>
                                </p:cTn>
                              </p:par>
                              <p:par>
                                <p:cTn id="16" presetID="1" presetClass="exit" presetSubtype="0" fill="hold" nodeType="withEffect">
                                  <p:stCondLst>
                                    <p:cond delay="0"/>
                                  </p:stCondLst>
                                  <p:childTnLst>
                                    <p:set>
                                      <p:cBhvr>
                                        <p:cTn id="17" dur="1" fill="hold">
                                          <p:stCondLst>
                                            <p:cond delay="0"/>
                                          </p:stCondLst>
                                        </p:cTn>
                                        <p:tgtEl>
                                          <p:spTgt spid="19"/>
                                        </p:tgtEl>
                                        <p:attrNameLst>
                                          <p:attrName>style.visibility</p:attrName>
                                        </p:attrNameLst>
                                      </p:cBhvr>
                                      <p:to>
                                        <p:strVal val="hidden"/>
                                      </p:to>
                                    </p:set>
                                  </p:childTnLst>
                                </p:cTn>
                              </p:par>
                              <p:par>
                                <p:cTn id="18" presetID="1"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9"/>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1"/>
                                        </p:tgtEl>
                                        <p:attrNameLst>
                                          <p:attrName>style.visibility</p:attrName>
                                        </p:attrNameLst>
                                      </p:cBhvr>
                                      <p:to>
                                        <p:strVal val="visible"/>
                                      </p:to>
                                    </p:set>
                                  </p:childTnLst>
                                </p:cTn>
                              </p:par>
                              <p:par>
                                <p:cTn id="38" presetID="1" presetClass="entr" presetSubtype="0" fill="hold" grpId="1" nodeType="withEffect">
                                  <p:stCondLst>
                                    <p:cond delay="0"/>
                                  </p:stCondLst>
                                  <p:childTnLst>
                                    <p:set>
                                      <p:cBhvr>
                                        <p:cTn id="39" dur="1" fill="hold">
                                          <p:stCondLst>
                                            <p:cond delay="0"/>
                                          </p:stCondLst>
                                        </p:cTn>
                                        <p:tgtEl>
                                          <p:spTgt spid="100"/>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3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97"/>
                                        </p:tgtEl>
                                        <p:attrNameLst>
                                          <p:attrName>style.visibility</p:attrName>
                                        </p:attrNameLst>
                                      </p:cBhvr>
                                      <p:to>
                                        <p:strVal val="visible"/>
                                      </p:to>
                                    </p:set>
                                  </p:childTnLst>
                                </p:cTn>
                              </p:par>
                            </p:childTnLst>
                          </p:cTn>
                        </p:par>
                      </p:childTnLst>
                    </p:cTn>
                  </p:par>
                </p:childTnLst>
              </p:cTn>
              <p:nextCondLst>
                <p:cond evt="onClick" delay="0">
                  <p:tgtEl>
                    <p:spTgt spid="61"/>
                  </p:tgtEl>
                </p:cond>
              </p:nextCondLst>
            </p:seq>
            <p:seq concurrent="1" nextAc="seek">
              <p:cTn id="44" restart="whenNotActive" fill="hold" evtFilter="cancelBubble" nodeType="interactiveSeq">
                <p:stCondLst>
                  <p:cond evt="onClick" delay="0">
                    <p:tgtEl>
                      <p:spTgt spid="33"/>
                    </p:tgtEl>
                  </p:cond>
                </p:stCondLst>
                <p:endSync evt="end" delay="0">
                  <p:rtn val="all"/>
                </p:endSync>
                <p:childTnLst>
                  <p:par>
                    <p:cTn id="45" fill="hold">
                      <p:stCondLst>
                        <p:cond delay="0"/>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33"/>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25"/>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2"/>
                                        </p:tgtEl>
                                        <p:attrNameLst>
                                          <p:attrName>style.visibility</p:attrName>
                                        </p:attrNameLst>
                                      </p:cBhvr>
                                      <p:to>
                                        <p:strVal val="visible"/>
                                      </p:to>
                                    </p:set>
                                  </p:childTnLst>
                                </p:cTn>
                              </p:par>
                            </p:childTnLst>
                          </p:cTn>
                        </p:par>
                      </p:childTnLst>
                    </p:cTn>
                  </p:par>
                </p:childTnLst>
              </p:cTn>
              <p:nextCondLst>
                <p:cond evt="onClick" delay="0">
                  <p:tgtEl>
                    <p:spTgt spid="33"/>
                  </p:tgtEl>
                </p:cond>
              </p:nextCondLst>
            </p:seq>
            <p:seq concurrent="1" nextAc="seek">
              <p:cTn id="55" restart="whenNotActive" fill="hold" evtFilter="cancelBubble" nodeType="interactiveSeq">
                <p:stCondLst>
                  <p:cond evt="onClick" delay="0">
                    <p:tgtEl>
                      <p:spTgt spid="36"/>
                    </p:tgtEl>
                  </p:cond>
                </p:stCondLst>
                <p:endSync evt="end" delay="0">
                  <p:rtn val="all"/>
                </p:endSync>
                <p:childTnLst>
                  <p:par>
                    <p:cTn id="56" fill="hold">
                      <p:stCondLst>
                        <p:cond delay="0"/>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6"/>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37"/>
                                        </p:tgtEl>
                                        <p:attrNameLst>
                                          <p:attrName>style.visibility</p:attrName>
                                        </p:attrNameLst>
                                      </p:cBhvr>
                                      <p:to>
                                        <p:strVal val="visible"/>
                                      </p:to>
                                    </p:set>
                                  </p:childTnLst>
                                </p:cTn>
                              </p:par>
                              <p:par>
                                <p:cTn id="62" presetID="1" presetClass="exit" presetSubtype="0" fill="hold" nodeType="withEffect">
                                  <p:stCondLst>
                                    <p:cond delay="0"/>
                                  </p:stCondLst>
                                  <p:childTnLst>
                                    <p:set>
                                      <p:cBhvr>
                                        <p:cTn id="63" dur="1" fill="hold">
                                          <p:stCondLst>
                                            <p:cond delay="0"/>
                                          </p:stCondLst>
                                        </p:cTn>
                                        <p:tgtEl>
                                          <p:spTgt spid="72"/>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36"/>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36"/>
                  </p:tgtEl>
                </p:cond>
              </p:nextCondLst>
            </p:seq>
            <p:seq concurrent="1" nextAc="seek">
              <p:cTn id="68" restart="whenNotActive" fill="hold" evtFilter="cancelBubble" nodeType="interactiveSeq">
                <p:stCondLst>
                  <p:cond evt="onClick" delay="0">
                    <p:tgtEl>
                      <p:spTgt spid="39"/>
                    </p:tgtEl>
                  </p:cond>
                </p:stCondLst>
                <p:endSync evt="end" delay="0">
                  <p:rtn val="all"/>
                </p:endSync>
                <p:childTnLst>
                  <p:par>
                    <p:cTn id="69" fill="hold">
                      <p:stCondLst>
                        <p:cond delay="0"/>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par>
                                <p:cTn id="75" presetID="1" presetClass="exit" presetSubtype="0" fill="hold" nodeType="withEffect">
                                  <p:stCondLst>
                                    <p:cond delay="0"/>
                                  </p:stCondLst>
                                  <p:childTnLst>
                                    <p:set>
                                      <p:cBhvr>
                                        <p:cTn id="76" dur="1" fill="hold">
                                          <p:stCondLst>
                                            <p:cond delay="0"/>
                                          </p:stCondLst>
                                        </p:cTn>
                                        <p:tgtEl>
                                          <p:spTgt spid="37"/>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39"/>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9"/>
                  </p:tgtEl>
                </p:cond>
              </p:nextCondLst>
            </p:seq>
            <p:seq concurrent="1" nextAc="seek">
              <p:cTn id="81" restart="whenNotActive" fill="hold" evtFilter="cancelBubble" nodeType="interactiveSeq">
                <p:stCondLst>
                  <p:cond evt="onClick" delay="0">
                    <p:tgtEl>
                      <p:spTgt spid="100"/>
                    </p:tgtEl>
                  </p:cond>
                </p:stCondLst>
                <p:endSync evt="end" delay="0">
                  <p:rtn val="all"/>
                </p:endSync>
                <p:childTnLst>
                  <p:par>
                    <p:cTn id="82" fill="hold">
                      <p:stCondLst>
                        <p:cond delay="0"/>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70"/>
                                        </p:tgtEl>
                                        <p:attrNameLst>
                                          <p:attrName>style.visibility</p:attrName>
                                        </p:attrNameLst>
                                      </p:cBhvr>
                                      <p:to>
                                        <p:strVal val="visible"/>
                                      </p:to>
                                    </p:set>
                                  </p:childTnLst>
                                </p:cTn>
                              </p:par>
                              <p:par>
                                <p:cTn id="86" presetID="1" presetClass="exit" presetSubtype="0" fill="hold" nodeType="withEffect">
                                  <p:stCondLst>
                                    <p:cond delay="0"/>
                                  </p:stCondLst>
                                  <p:childTnLst>
                                    <p:set>
                                      <p:cBhvr>
                                        <p:cTn id="87" dur="1" fill="hold">
                                          <p:stCondLst>
                                            <p:cond delay="0"/>
                                          </p:stCondLst>
                                        </p:cTn>
                                        <p:tgtEl>
                                          <p:spTgt spid="83"/>
                                        </p:tgtEl>
                                        <p:attrNameLst>
                                          <p:attrName>style.visibility</p:attrName>
                                        </p:attrNameLst>
                                      </p:cBhvr>
                                      <p:to>
                                        <p:strVal val="hidden"/>
                                      </p:to>
                                    </p:set>
                                  </p:childTnLst>
                                </p:cTn>
                              </p:par>
                              <p:par>
                                <p:cTn id="88" presetID="1" presetClass="exit" presetSubtype="0" fill="hold" grpId="0" nodeType="withEffect">
                                  <p:stCondLst>
                                    <p:cond delay="0"/>
                                  </p:stCondLst>
                                  <p:childTnLst>
                                    <p:set>
                                      <p:cBhvr>
                                        <p:cTn id="89" dur="1" fill="hold">
                                          <p:stCondLst>
                                            <p:cond delay="0"/>
                                          </p:stCondLst>
                                        </p:cTn>
                                        <p:tgtEl>
                                          <p:spTgt spid="100"/>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34"/>
                                        </p:tgtEl>
                                        <p:attrNameLst>
                                          <p:attrName>style.visibility</p:attrName>
                                        </p:attrNameLst>
                                      </p:cBhvr>
                                      <p:to>
                                        <p:strVal val="hidden"/>
                                      </p:to>
                                    </p:set>
                                  </p:childTnLst>
                                </p:cTn>
                              </p:par>
                              <p:par>
                                <p:cTn id="92" presetID="1" presetClass="entr" presetSubtype="0" fill="hold" nodeType="withEffect">
                                  <p:stCondLst>
                                    <p:cond delay="0"/>
                                  </p:stCondLst>
                                  <p:childTnLst>
                                    <p:set>
                                      <p:cBhvr>
                                        <p:cTn id="93" dur="1" fill="hold">
                                          <p:stCondLst>
                                            <p:cond delay="0"/>
                                          </p:stCondLst>
                                        </p:cTn>
                                        <p:tgtEl>
                                          <p:spTgt spid="3"/>
                                        </p:tgtEl>
                                        <p:attrNameLst>
                                          <p:attrName>style.visibility</p:attrName>
                                        </p:attrNameLst>
                                      </p:cBhvr>
                                      <p:to>
                                        <p:strVal val="visible"/>
                                      </p:to>
                                    </p:set>
                                  </p:childTnLst>
                                </p:cTn>
                              </p:par>
                            </p:childTnLst>
                          </p:cTn>
                        </p:par>
                      </p:childTnLst>
                    </p:cTn>
                  </p:par>
                </p:childTnLst>
              </p:cTn>
              <p:nextCondLst>
                <p:cond evt="onClick" delay="0">
                  <p:tgtEl>
                    <p:spTgt spid="100"/>
                  </p:tgtEl>
                </p:cond>
              </p:nextCondLst>
            </p:seq>
          </p:childTnLst>
        </p:cTn>
      </p:par>
    </p:tnLst>
    <p:bldLst>
      <p:bldP spid="97" grpId="0" animBg="1"/>
      <p:bldP spid="18" grpId="0" animBg="1"/>
      <p:bldP spid="11" grpId="0" animBg="1"/>
      <p:bldP spid="2" grpId="0" animBg="1"/>
      <p:bldP spid="21" grpId="0" animBg="1"/>
      <p:bldP spid="23" grpId="0"/>
      <p:bldP spid="33" grpId="0" animBg="1"/>
      <p:bldP spid="33" grpId="1" animBg="1"/>
      <p:bldP spid="36" grpId="0" animBg="1"/>
      <p:bldP spid="36" grpId="1" animBg="1"/>
      <p:bldP spid="39" grpId="0" animBg="1"/>
      <p:bldP spid="39" grpId="1" animBg="1"/>
      <p:bldP spid="100" grpId="0" animBg="1"/>
      <p:bldP spid="100" grpId="1" animBg="1"/>
      <p:bldP spid="61" grpId="0" animBg="1"/>
      <p:bldP spid="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ntiarrythmic">
            <a:extLst>
              <a:ext uri="{FF2B5EF4-FFF2-40B4-BE49-F238E27FC236}">
                <a16:creationId xmlns:a16="http://schemas.microsoft.com/office/drawing/2014/main" id="{774FF4B8-1FBF-DD91-F8E7-393946190EBA}"/>
              </a:ext>
            </a:extLst>
          </p:cNvPr>
          <p:cNvSpPr txBox="1"/>
          <p:nvPr/>
        </p:nvSpPr>
        <p:spPr>
          <a:xfrm>
            <a:off x="8812508" y="2769967"/>
            <a:ext cx="1785385" cy="715089"/>
          </a:xfrm>
          <a:prstGeom prst="roundRect">
            <a:avLst/>
          </a:prstGeom>
          <a:solidFill>
            <a:schemeClr val="bg1"/>
          </a:solidFill>
          <a:ln w="38100">
            <a:solidFill>
              <a:schemeClr val="bg1"/>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Anti-arrhythmic medications</a:t>
            </a:r>
          </a:p>
        </p:txBody>
      </p:sp>
      <p:sp>
        <p:nvSpPr>
          <p:cNvPr id="119" name="Rhythm control question">
            <a:hlinkClick r:id="" action="ppaction://noaction"/>
            <a:extLst>
              <a:ext uri="{FF2B5EF4-FFF2-40B4-BE49-F238E27FC236}">
                <a16:creationId xmlns:a16="http://schemas.microsoft.com/office/drawing/2014/main" id="{7C179EB3-1A7B-798C-D931-8517B1A10B5B}"/>
              </a:ext>
            </a:extLst>
          </p:cNvPr>
          <p:cNvSpPr/>
          <p:nvPr/>
        </p:nvSpPr>
        <p:spPr>
          <a:xfrm>
            <a:off x="2281281" y="2509179"/>
            <a:ext cx="3514942" cy="36576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Factors that favor rhythm control? </a:t>
            </a:r>
          </a:p>
        </p:txBody>
      </p:sp>
      <p:sp>
        <p:nvSpPr>
          <p:cNvPr id="107" name="Comorbidity question">
            <a:hlinkClick r:id="" action="ppaction://noaction"/>
            <a:extLst>
              <a:ext uri="{FF2B5EF4-FFF2-40B4-BE49-F238E27FC236}">
                <a16:creationId xmlns:a16="http://schemas.microsoft.com/office/drawing/2014/main" id="{888778E8-77F6-C3B8-6296-CBE9F5BAD8AF}"/>
              </a:ext>
            </a:extLst>
          </p:cNvPr>
          <p:cNvSpPr/>
          <p:nvPr/>
        </p:nvSpPr>
        <p:spPr>
          <a:xfrm>
            <a:off x="281582" y="5548941"/>
            <a:ext cx="1367496" cy="692875"/>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Risk reduction?</a:t>
            </a:r>
          </a:p>
        </p:txBody>
      </p:sp>
      <p:sp>
        <p:nvSpPr>
          <p:cNvPr id="108" name="Therapy choices question">
            <a:hlinkClick r:id="" action="ppaction://noaction"/>
            <a:extLst>
              <a:ext uri="{FF2B5EF4-FFF2-40B4-BE49-F238E27FC236}">
                <a16:creationId xmlns:a16="http://schemas.microsoft.com/office/drawing/2014/main" id="{135863FA-035A-BEB8-61E3-F4A34D0168ED}"/>
              </a:ext>
            </a:extLst>
          </p:cNvPr>
          <p:cNvSpPr/>
          <p:nvPr/>
        </p:nvSpPr>
        <p:spPr>
          <a:xfrm>
            <a:off x="8716384" y="680188"/>
            <a:ext cx="1756106" cy="36576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Therapies?</a:t>
            </a:r>
          </a:p>
        </p:txBody>
      </p:sp>
      <p:sp>
        <p:nvSpPr>
          <p:cNvPr id="62" name="Risk reduction">
            <a:hlinkClick r:id="" action="ppaction://noaction"/>
            <a:extLst>
              <a:ext uri="{FF2B5EF4-FFF2-40B4-BE49-F238E27FC236}">
                <a16:creationId xmlns:a16="http://schemas.microsoft.com/office/drawing/2014/main" id="{FEB8C444-4D62-AA43-8C71-0B6848D469A5}"/>
              </a:ext>
            </a:extLst>
          </p:cNvPr>
          <p:cNvSpPr/>
          <p:nvPr/>
        </p:nvSpPr>
        <p:spPr>
          <a:xfrm>
            <a:off x="278288" y="5549071"/>
            <a:ext cx="1370790" cy="692071"/>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Risk reduction?</a:t>
            </a:r>
          </a:p>
        </p:txBody>
      </p:sp>
      <p:sp>
        <p:nvSpPr>
          <p:cNvPr id="20" name="Rhythm control question">
            <a:hlinkClick r:id="" action="ppaction://noaction"/>
            <a:extLst>
              <a:ext uri="{FF2B5EF4-FFF2-40B4-BE49-F238E27FC236}">
                <a16:creationId xmlns:a16="http://schemas.microsoft.com/office/drawing/2014/main" id="{851C67F2-FCD3-A443-AA3E-AF4D04B00349}"/>
              </a:ext>
            </a:extLst>
          </p:cNvPr>
          <p:cNvSpPr/>
          <p:nvPr/>
        </p:nvSpPr>
        <p:spPr>
          <a:xfrm>
            <a:off x="2263446" y="2509337"/>
            <a:ext cx="3514942" cy="36576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Factors that favor rhythm control? </a:t>
            </a:r>
          </a:p>
        </p:txBody>
      </p:sp>
      <p:sp>
        <p:nvSpPr>
          <p:cNvPr id="37" name="Cardioversion answer">
            <a:extLst>
              <a:ext uri="{FF2B5EF4-FFF2-40B4-BE49-F238E27FC236}">
                <a16:creationId xmlns:a16="http://schemas.microsoft.com/office/drawing/2014/main" id="{70928B66-09AE-19F7-F8FB-F32E3C91686C}"/>
              </a:ext>
            </a:extLst>
          </p:cNvPr>
          <p:cNvSpPr txBox="1"/>
          <p:nvPr/>
        </p:nvSpPr>
        <p:spPr>
          <a:xfrm>
            <a:off x="7155203" y="2772512"/>
            <a:ext cx="1534492" cy="369332"/>
          </a:xfrm>
          <a:prstGeom prst="rect">
            <a:avLst/>
          </a:prstGeom>
          <a:noFill/>
        </p:spPr>
        <p:txBody>
          <a:bodyPr wrap="square" rtlCol="0">
            <a:spAutoFit/>
          </a:bodyPr>
          <a:lstStyle/>
          <a:p>
            <a:r>
              <a:rPr lang="en-US" dirty="0"/>
              <a:t>Cardioversion</a:t>
            </a:r>
          </a:p>
        </p:txBody>
      </p:sp>
      <p:sp>
        <p:nvSpPr>
          <p:cNvPr id="39" name="Antiarrythmic">
            <a:extLst>
              <a:ext uri="{FF2B5EF4-FFF2-40B4-BE49-F238E27FC236}">
                <a16:creationId xmlns:a16="http://schemas.microsoft.com/office/drawing/2014/main" id="{9CCD498B-022A-CC57-265B-6F4F8158EE8F}"/>
              </a:ext>
            </a:extLst>
          </p:cNvPr>
          <p:cNvSpPr txBox="1"/>
          <p:nvPr/>
        </p:nvSpPr>
        <p:spPr>
          <a:xfrm>
            <a:off x="8812508" y="2769967"/>
            <a:ext cx="1785385"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Anti-arrhythmic medications</a:t>
            </a:r>
          </a:p>
        </p:txBody>
      </p:sp>
      <p:sp>
        <p:nvSpPr>
          <p:cNvPr id="42" name="Ablation answer">
            <a:extLst>
              <a:ext uri="{FF2B5EF4-FFF2-40B4-BE49-F238E27FC236}">
                <a16:creationId xmlns:a16="http://schemas.microsoft.com/office/drawing/2014/main" id="{E170D72E-6166-72F5-6968-3F5995580354}"/>
              </a:ext>
            </a:extLst>
          </p:cNvPr>
          <p:cNvSpPr txBox="1"/>
          <p:nvPr/>
        </p:nvSpPr>
        <p:spPr>
          <a:xfrm>
            <a:off x="10816782" y="2772512"/>
            <a:ext cx="1029832" cy="369332"/>
          </a:xfrm>
          <a:prstGeom prst="rect">
            <a:avLst/>
          </a:prstGeom>
          <a:noFill/>
        </p:spPr>
        <p:txBody>
          <a:bodyPr wrap="square" rtlCol="0">
            <a:spAutoFit/>
          </a:bodyPr>
          <a:lstStyle/>
          <a:p>
            <a:r>
              <a:rPr lang="en-US" dirty="0"/>
              <a:t>Ablation</a:t>
            </a:r>
          </a:p>
        </p:txBody>
      </p:sp>
      <p:pic>
        <p:nvPicPr>
          <p:cNvPr id="49" name="Cardioversion picture" descr="A crescent moon in the sky&#10;&#10;Description automatically generated with low confidence">
            <a:extLst>
              <a:ext uri="{FF2B5EF4-FFF2-40B4-BE49-F238E27FC236}">
                <a16:creationId xmlns:a16="http://schemas.microsoft.com/office/drawing/2014/main" id="{15531C5B-22C2-A81C-0BB3-C7B94AA60BA0}"/>
              </a:ext>
            </a:extLst>
          </p:cNvPr>
          <p:cNvPicPr>
            <a:picLocks noChangeAspect="1"/>
          </p:cNvPicPr>
          <p:nvPr/>
        </p:nvPicPr>
        <p:blipFill rotWithShape="1">
          <a:blip r:embed="rId3">
            <a:extLst>
              <a:ext uri="{28A0092B-C50C-407E-A947-70E740481C1C}">
                <a14:useLocalDpi xmlns:a14="http://schemas.microsoft.com/office/drawing/2010/main" val="0"/>
              </a:ext>
            </a:extLst>
          </a:blip>
          <a:srcRect l="34882" t="25380" r="46977" b="42936"/>
          <a:stretch/>
        </p:blipFill>
        <p:spPr>
          <a:xfrm>
            <a:off x="7278099" y="1170440"/>
            <a:ext cx="1320125" cy="1613950"/>
          </a:xfrm>
          <a:prstGeom prst="rect">
            <a:avLst/>
          </a:prstGeom>
        </p:spPr>
      </p:pic>
      <p:pic>
        <p:nvPicPr>
          <p:cNvPr id="53" name="AAD picture" descr="Graphical user interface, application, Teams&#10;&#10;Description automatically generated">
            <a:extLst>
              <a:ext uri="{FF2B5EF4-FFF2-40B4-BE49-F238E27FC236}">
                <a16:creationId xmlns:a16="http://schemas.microsoft.com/office/drawing/2014/main" id="{48AABF0A-BF86-DA45-AD34-4F95CAAA90E7}"/>
              </a:ext>
            </a:extLst>
          </p:cNvPr>
          <p:cNvPicPr>
            <a:picLocks noChangeAspect="1"/>
          </p:cNvPicPr>
          <p:nvPr/>
        </p:nvPicPr>
        <p:blipFill rotWithShape="1">
          <a:blip r:embed="rId4">
            <a:extLst>
              <a:ext uri="{28A0092B-C50C-407E-A947-70E740481C1C}">
                <a14:useLocalDpi xmlns:a14="http://schemas.microsoft.com/office/drawing/2010/main" val="0"/>
              </a:ext>
            </a:extLst>
          </a:blip>
          <a:srcRect l="31925" t="27032" r="57529" b="52690"/>
          <a:stretch/>
        </p:blipFill>
        <p:spPr>
          <a:xfrm>
            <a:off x="9144809" y="1329657"/>
            <a:ext cx="1024402" cy="1378875"/>
          </a:xfrm>
          <a:prstGeom prst="rect">
            <a:avLst/>
          </a:prstGeom>
        </p:spPr>
      </p:pic>
      <p:sp>
        <p:nvSpPr>
          <p:cNvPr id="54" name="Therapy choices question">
            <a:hlinkClick r:id="" action="ppaction://noaction"/>
            <a:extLst>
              <a:ext uri="{FF2B5EF4-FFF2-40B4-BE49-F238E27FC236}">
                <a16:creationId xmlns:a16="http://schemas.microsoft.com/office/drawing/2014/main" id="{22C0A5B9-3608-6A03-DD04-CBDBA0CAD2D9}"/>
              </a:ext>
            </a:extLst>
          </p:cNvPr>
          <p:cNvSpPr/>
          <p:nvPr/>
        </p:nvSpPr>
        <p:spPr>
          <a:xfrm>
            <a:off x="8713090" y="679514"/>
            <a:ext cx="1756106" cy="36576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Therapies?</a:t>
            </a:r>
          </a:p>
        </p:txBody>
      </p:sp>
      <p:sp>
        <p:nvSpPr>
          <p:cNvPr id="3" name="LO1: Stroke Prev">
            <a:hlinkClick r:id="rId5" action="ppaction://hlinksldjump"/>
            <a:extLst>
              <a:ext uri="{FF2B5EF4-FFF2-40B4-BE49-F238E27FC236}">
                <a16:creationId xmlns:a16="http://schemas.microsoft.com/office/drawing/2014/main" id="{A7B31C3B-7F33-6F5B-D099-E69BB7E381FE}"/>
              </a:ext>
            </a:extLst>
          </p:cNvPr>
          <p:cNvSpPr/>
          <p:nvPr/>
        </p:nvSpPr>
        <p:spPr>
          <a:xfrm>
            <a:off x="167951" y="148589"/>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Stroke Prevention</a:t>
            </a:r>
          </a:p>
        </p:txBody>
      </p:sp>
      <p:sp>
        <p:nvSpPr>
          <p:cNvPr id="5" name="LO2: Rhythm Control">
            <a:hlinkClick r:id="rId6" action="ppaction://hlinksldjump"/>
            <a:extLst>
              <a:ext uri="{FF2B5EF4-FFF2-40B4-BE49-F238E27FC236}">
                <a16:creationId xmlns:a16="http://schemas.microsoft.com/office/drawing/2014/main" id="{5C6D6FEF-A6C9-06EE-9369-F1E3B7D1ADCA}"/>
              </a:ext>
            </a:extLst>
          </p:cNvPr>
          <p:cNvSpPr/>
          <p:nvPr/>
        </p:nvSpPr>
        <p:spPr>
          <a:xfrm>
            <a:off x="167950" y="674454"/>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Rate Control</a:t>
            </a:r>
          </a:p>
        </p:txBody>
      </p:sp>
      <p:pic>
        <p:nvPicPr>
          <p:cNvPr id="6" name="Sidebar arrow 1" descr="Cursor with solid fill">
            <a:extLst>
              <a:ext uri="{FF2B5EF4-FFF2-40B4-BE49-F238E27FC236}">
                <a16:creationId xmlns:a16="http://schemas.microsoft.com/office/drawing/2014/main" id="{A3B8EBBC-FFBE-B800-A17A-50778C9AD12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1292" y="395749"/>
            <a:ext cx="270672" cy="270672"/>
          </a:xfrm>
          <a:prstGeom prst="rect">
            <a:avLst/>
          </a:prstGeom>
        </p:spPr>
      </p:pic>
      <p:pic>
        <p:nvPicPr>
          <p:cNvPr id="7" name="Sidebar arrow 2" descr="Cursor with solid fill">
            <a:extLst>
              <a:ext uri="{FF2B5EF4-FFF2-40B4-BE49-F238E27FC236}">
                <a16:creationId xmlns:a16="http://schemas.microsoft.com/office/drawing/2014/main" id="{7D26CFEC-6AA7-E884-96FB-D2CCEB72A00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1292" y="907100"/>
            <a:ext cx="270672" cy="270672"/>
          </a:xfrm>
          <a:prstGeom prst="rect">
            <a:avLst/>
          </a:prstGeom>
        </p:spPr>
      </p:pic>
      <p:sp>
        <p:nvSpPr>
          <p:cNvPr id="8" name="LO3: Rate Control">
            <a:hlinkClick r:id="rId9" action="ppaction://hlinksldjump"/>
            <a:extLst>
              <a:ext uri="{FF2B5EF4-FFF2-40B4-BE49-F238E27FC236}">
                <a16:creationId xmlns:a16="http://schemas.microsoft.com/office/drawing/2014/main" id="{C60A133D-5F1F-2F23-9B33-B384042C51FD}"/>
              </a:ext>
            </a:extLst>
          </p:cNvPr>
          <p:cNvSpPr/>
          <p:nvPr/>
        </p:nvSpPr>
        <p:spPr>
          <a:xfrm>
            <a:off x="167950" y="1200319"/>
            <a:ext cx="1875163" cy="367979"/>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Rhythm Control</a:t>
            </a:r>
          </a:p>
        </p:txBody>
      </p:sp>
      <p:sp>
        <p:nvSpPr>
          <p:cNvPr id="10" name="Cases">
            <a:hlinkClick r:id="rId10" action="ppaction://hlinksldjump"/>
            <a:extLst>
              <a:ext uri="{FF2B5EF4-FFF2-40B4-BE49-F238E27FC236}">
                <a16:creationId xmlns:a16="http://schemas.microsoft.com/office/drawing/2014/main" id="{8F8E53B8-FCC0-497B-18F0-4F9A3AB82D24}"/>
              </a:ext>
            </a:extLst>
          </p:cNvPr>
          <p:cNvSpPr/>
          <p:nvPr/>
        </p:nvSpPr>
        <p:spPr>
          <a:xfrm>
            <a:off x="167950" y="1726184"/>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11" name="Sidebar arrow 4" descr="Cursor with solid fill">
            <a:extLst>
              <a:ext uri="{FF2B5EF4-FFF2-40B4-BE49-F238E27FC236}">
                <a16:creationId xmlns:a16="http://schemas.microsoft.com/office/drawing/2014/main" id="{458764D6-48FC-486C-4844-ACF4FB43449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1292" y="1958827"/>
            <a:ext cx="270672" cy="270672"/>
          </a:xfrm>
          <a:prstGeom prst="rect">
            <a:avLst/>
          </a:prstGeom>
        </p:spPr>
      </p:pic>
      <p:sp>
        <p:nvSpPr>
          <p:cNvPr id="12" name="Title">
            <a:extLst>
              <a:ext uri="{FF2B5EF4-FFF2-40B4-BE49-F238E27FC236}">
                <a16:creationId xmlns:a16="http://schemas.microsoft.com/office/drawing/2014/main" id="{52E083E1-FF91-EE9C-C00A-58086B57A056}"/>
              </a:ext>
            </a:extLst>
          </p:cNvPr>
          <p:cNvSpPr txBox="1"/>
          <p:nvPr/>
        </p:nvSpPr>
        <p:spPr>
          <a:xfrm>
            <a:off x="2913225" y="53723"/>
            <a:ext cx="7637869" cy="523220"/>
          </a:xfrm>
          <a:prstGeom prst="rect">
            <a:avLst/>
          </a:prstGeom>
          <a:noFill/>
        </p:spPr>
        <p:txBody>
          <a:bodyPr wrap="square" rtlCol="0">
            <a:spAutoFit/>
          </a:bodyPr>
          <a:lstStyle/>
          <a:p>
            <a:pPr algn="ctr"/>
            <a:r>
              <a:rPr lang="en-US" sz="2800" b="1" dirty="0"/>
              <a:t>Rhythm Control</a:t>
            </a:r>
          </a:p>
        </p:txBody>
      </p:sp>
      <p:pic>
        <p:nvPicPr>
          <p:cNvPr id="14" name="Sidebar arrow 4" descr="Cursor with solid fill">
            <a:extLst>
              <a:ext uri="{FF2B5EF4-FFF2-40B4-BE49-F238E27FC236}">
                <a16:creationId xmlns:a16="http://schemas.microsoft.com/office/drawing/2014/main" id="{6BE70730-0632-09BB-30B5-1F3BE9707C9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43052" y="2751636"/>
            <a:ext cx="270672" cy="270672"/>
          </a:xfrm>
          <a:prstGeom prst="rect">
            <a:avLst/>
          </a:prstGeom>
        </p:spPr>
      </p:pic>
      <p:grpSp>
        <p:nvGrpSpPr>
          <p:cNvPr id="15" name="Group 14">
            <a:extLst>
              <a:ext uri="{FF2B5EF4-FFF2-40B4-BE49-F238E27FC236}">
                <a16:creationId xmlns:a16="http://schemas.microsoft.com/office/drawing/2014/main" id="{79E2D8DD-1429-7D1E-3800-08FA388728BF}"/>
              </a:ext>
            </a:extLst>
          </p:cNvPr>
          <p:cNvGrpSpPr/>
          <p:nvPr/>
        </p:nvGrpSpPr>
        <p:grpSpPr>
          <a:xfrm>
            <a:off x="3262866" y="875478"/>
            <a:ext cx="1601023" cy="1445385"/>
            <a:chOff x="5727508" y="1550794"/>
            <a:chExt cx="1249936" cy="1192252"/>
          </a:xfrm>
        </p:grpSpPr>
        <p:grpSp>
          <p:nvGrpSpPr>
            <p:cNvPr id="16" name="Group 15">
              <a:extLst>
                <a:ext uri="{FF2B5EF4-FFF2-40B4-BE49-F238E27FC236}">
                  <a16:creationId xmlns:a16="http://schemas.microsoft.com/office/drawing/2014/main" id="{76CE114E-91A8-95A5-7099-D2DCC60BD7CE}"/>
                </a:ext>
              </a:extLst>
            </p:cNvPr>
            <p:cNvGrpSpPr/>
            <p:nvPr/>
          </p:nvGrpSpPr>
          <p:grpSpPr>
            <a:xfrm>
              <a:off x="5727508" y="1569352"/>
              <a:ext cx="1249936" cy="1173694"/>
              <a:chOff x="5727508" y="1569352"/>
              <a:chExt cx="1249936" cy="1173694"/>
            </a:xfrm>
          </p:grpSpPr>
          <p:grpSp>
            <p:nvGrpSpPr>
              <p:cNvPr id="18" name="Group 17">
                <a:extLst>
                  <a:ext uri="{FF2B5EF4-FFF2-40B4-BE49-F238E27FC236}">
                    <a16:creationId xmlns:a16="http://schemas.microsoft.com/office/drawing/2014/main" id="{10D9BF11-587F-BA80-639C-8FAE4B3319B6}"/>
                  </a:ext>
                </a:extLst>
              </p:cNvPr>
              <p:cNvGrpSpPr/>
              <p:nvPr/>
            </p:nvGrpSpPr>
            <p:grpSpPr>
              <a:xfrm>
                <a:off x="5727508" y="2011861"/>
                <a:ext cx="556173" cy="400110"/>
                <a:chOff x="5169475" y="1825648"/>
                <a:chExt cx="357246" cy="261739"/>
              </a:xfrm>
            </p:grpSpPr>
            <p:sp>
              <p:nvSpPr>
                <p:cNvPr id="31" name="Oval 30">
                  <a:extLst>
                    <a:ext uri="{FF2B5EF4-FFF2-40B4-BE49-F238E27FC236}">
                      <a16:creationId xmlns:a16="http://schemas.microsoft.com/office/drawing/2014/main" id="{12CB39C2-FE8A-A2D4-8AE6-F0A9280977E2}"/>
                    </a:ext>
                  </a:extLst>
                </p:cNvPr>
                <p:cNvSpPr/>
                <p:nvPr/>
              </p:nvSpPr>
              <p:spPr>
                <a:xfrm>
                  <a:off x="5226462" y="1854123"/>
                  <a:ext cx="257214" cy="2332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668FFE4-7DEA-54E9-6A77-A539CC2DABEA}"/>
                    </a:ext>
                  </a:extLst>
                </p:cNvPr>
                <p:cNvSpPr/>
                <p:nvPr/>
              </p:nvSpPr>
              <p:spPr>
                <a:xfrm>
                  <a:off x="5169475" y="1825648"/>
                  <a:ext cx="357246" cy="1470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91E16E7-F7E5-279E-7F2E-CB4B77111887}"/>
                  </a:ext>
                </a:extLst>
              </p:cNvPr>
              <p:cNvGrpSpPr/>
              <p:nvPr/>
            </p:nvGrpSpPr>
            <p:grpSpPr>
              <a:xfrm>
                <a:off x="5996092" y="1569352"/>
                <a:ext cx="710514" cy="1173694"/>
                <a:chOff x="6126980" y="1660195"/>
                <a:chExt cx="710514" cy="1173694"/>
              </a:xfrm>
            </p:grpSpPr>
            <p:cxnSp>
              <p:nvCxnSpPr>
                <p:cNvPr id="28" name="Straight Connector 27">
                  <a:extLst>
                    <a:ext uri="{FF2B5EF4-FFF2-40B4-BE49-F238E27FC236}">
                      <a16:creationId xmlns:a16="http://schemas.microsoft.com/office/drawing/2014/main" id="{93DB84A7-E1AD-4AC7-D4F9-8A5634AD4EFC}"/>
                    </a:ext>
                  </a:extLst>
                </p:cNvPr>
                <p:cNvCxnSpPr/>
                <p:nvPr/>
              </p:nvCxnSpPr>
              <p:spPr>
                <a:xfrm flipV="1">
                  <a:off x="6126980" y="1772704"/>
                  <a:ext cx="710514" cy="172262"/>
                </a:xfrm>
                <a:prstGeom prst="line">
                  <a:avLst/>
                </a:prstGeom>
              </p:spPr>
              <p:style>
                <a:lnRef idx="3">
                  <a:schemeClr val="dk1"/>
                </a:lnRef>
                <a:fillRef idx="0">
                  <a:schemeClr val="dk1"/>
                </a:fillRef>
                <a:effectRef idx="2">
                  <a:schemeClr val="dk1"/>
                </a:effectRef>
                <a:fontRef idx="minor">
                  <a:schemeClr val="tx1"/>
                </a:fontRef>
              </p:style>
            </p:cxnSp>
            <p:cxnSp>
              <p:nvCxnSpPr>
                <p:cNvPr id="29" name="Straight Connector 28">
                  <a:extLst>
                    <a:ext uri="{FF2B5EF4-FFF2-40B4-BE49-F238E27FC236}">
                      <a16:creationId xmlns:a16="http://schemas.microsoft.com/office/drawing/2014/main" id="{4B27019B-7A1E-B96B-ADDB-6C9B57C1B934}"/>
                    </a:ext>
                  </a:extLst>
                </p:cNvPr>
                <p:cNvCxnSpPr>
                  <a:cxnSpLocks/>
                </p:cNvCxnSpPr>
                <p:nvPr/>
              </p:nvCxnSpPr>
              <p:spPr>
                <a:xfrm>
                  <a:off x="6482238" y="1660195"/>
                  <a:ext cx="5148" cy="1173694"/>
                </a:xfrm>
                <a:prstGeom prst="line">
                  <a:avLst/>
                </a:prstGeom>
              </p:spPr>
              <p:style>
                <a:lnRef idx="3">
                  <a:schemeClr val="dk1"/>
                </a:lnRef>
                <a:fillRef idx="0">
                  <a:schemeClr val="dk1"/>
                </a:fillRef>
                <a:effectRef idx="2">
                  <a:schemeClr val="dk1"/>
                </a:effectRef>
                <a:fontRef idx="minor">
                  <a:schemeClr val="tx1"/>
                </a:fontRef>
              </p:style>
            </p:cxnSp>
            <p:sp>
              <p:nvSpPr>
                <p:cNvPr id="30" name="Freeform: Shape 29">
                  <a:extLst>
                    <a:ext uri="{FF2B5EF4-FFF2-40B4-BE49-F238E27FC236}">
                      <a16:creationId xmlns:a16="http://schemas.microsoft.com/office/drawing/2014/main" id="{0A0DAE24-6FAA-3862-6F4F-813E80881EB0}"/>
                    </a:ext>
                  </a:extLst>
                </p:cNvPr>
                <p:cNvSpPr/>
                <p:nvPr/>
              </p:nvSpPr>
              <p:spPr>
                <a:xfrm>
                  <a:off x="6231980" y="2703015"/>
                  <a:ext cx="500513" cy="130874"/>
                </a:xfrm>
                <a:custGeom>
                  <a:avLst/>
                  <a:gdLst>
                    <a:gd name="connsiteX0" fmla="*/ 197318 w 500513"/>
                    <a:gd name="connsiteY0" fmla="*/ 4812 h 101065"/>
                    <a:gd name="connsiteX1" fmla="*/ 317633 w 500513"/>
                    <a:gd name="connsiteY1" fmla="*/ 0 h 101065"/>
                    <a:gd name="connsiteX2" fmla="*/ 500513 w 500513"/>
                    <a:gd name="connsiteY2" fmla="*/ 101065 h 101065"/>
                    <a:gd name="connsiteX3" fmla="*/ 0 w 500513"/>
                    <a:gd name="connsiteY3" fmla="*/ 101065 h 101065"/>
                    <a:gd name="connsiteX4" fmla="*/ 197318 w 500513"/>
                    <a:gd name="connsiteY4" fmla="*/ 4812 h 101065"/>
                    <a:gd name="connsiteX0" fmla="*/ 192506 w 500513"/>
                    <a:gd name="connsiteY0" fmla="*/ 0 h 118040"/>
                    <a:gd name="connsiteX1" fmla="*/ 317633 w 500513"/>
                    <a:gd name="connsiteY1" fmla="*/ 16975 h 118040"/>
                    <a:gd name="connsiteX2" fmla="*/ 500513 w 500513"/>
                    <a:gd name="connsiteY2" fmla="*/ 118040 h 118040"/>
                    <a:gd name="connsiteX3" fmla="*/ 0 w 500513"/>
                    <a:gd name="connsiteY3" fmla="*/ 118040 h 118040"/>
                    <a:gd name="connsiteX4" fmla="*/ 192506 w 500513"/>
                    <a:gd name="connsiteY4" fmla="*/ 0 h 118040"/>
                    <a:gd name="connsiteX0" fmla="*/ 192506 w 500513"/>
                    <a:gd name="connsiteY0" fmla="*/ 454 h 118494"/>
                    <a:gd name="connsiteX1" fmla="*/ 317633 w 500513"/>
                    <a:gd name="connsiteY1" fmla="*/ 0 h 118494"/>
                    <a:gd name="connsiteX2" fmla="*/ 500513 w 500513"/>
                    <a:gd name="connsiteY2" fmla="*/ 118494 h 118494"/>
                    <a:gd name="connsiteX3" fmla="*/ 0 w 500513"/>
                    <a:gd name="connsiteY3" fmla="*/ 118494 h 118494"/>
                    <a:gd name="connsiteX4" fmla="*/ 192506 w 500513"/>
                    <a:gd name="connsiteY4" fmla="*/ 454 h 118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513" h="118494">
                      <a:moveTo>
                        <a:pt x="192506" y="454"/>
                      </a:moveTo>
                      <a:lnTo>
                        <a:pt x="317633" y="0"/>
                      </a:lnTo>
                      <a:lnTo>
                        <a:pt x="500513" y="118494"/>
                      </a:lnTo>
                      <a:lnTo>
                        <a:pt x="0" y="118494"/>
                      </a:lnTo>
                      <a:lnTo>
                        <a:pt x="192506" y="454"/>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22" name="Freeform: Shape 21">
                <a:extLst>
                  <a:ext uri="{FF2B5EF4-FFF2-40B4-BE49-F238E27FC236}">
                    <a16:creationId xmlns:a16="http://schemas.microsoft.com/office/drawing/2014/main" id="{B6BE8074-6F51-3DCD-4360-E164113C7E53}"/>
                  </a:ext>
                </a:extLst>
              </p:cNvPr>
              <p:cNvSpPr/>
              <p:nvPr/>
            </p:nvSpPr>
            <p:spPr>
              <a:xfrm>
                <a:off x="5862773" y="1839599"/>
                <a:ext cx="309295" cy="410511"/>
              </a:xfrm>
              <a:custGeom>
                <a:avLst/>
                <a:gdLst>
                  <a:gd name="connsiteX0" fmla="*/ 105878 w 279132"/>
                  <a:gd name="connsiteY0" fmla="*/ 52939 h 399449"/>
                  <a:gd name="connsiteX1" fmla="*/ 0 w 279132"/>
                  <a:gd name="connsiteY1" fmla="*/ 399449 h 399449"/>
                  <a:gd name="connsiteX2" fmla="*/ 279132 w 279132"/>
                  <a:gd name="connsiteY2" fmla="*/ 394636 h 399449"/>
                  <a:gd name="connsiteX3" fmla="*/ 101065 w 279132"/>
                  <a:gd name="connsiteY3" fmla="*/ 0 h 399449"/>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20086 h 419535"/>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58186 h 419535"/>
                  <a:gd name="connsiteX0" fmla="*/ 99528 w 279132"/>
                  <a:gd name="connsiteY0" fmla="*/ 0 h 419535"/>
                  <a:gd name="connsiteX1" fmla="*/ 0 w 279132"/>
                  <a:gd name="connsiteY1" fmla="*/ 419535 h 419535"/>
                  <a:gd name="connsiteX2" fmla="*/ 279132 w 279132"/>
                  <a:gd name="connsiteY2" fmla="*/ 414722 h 419535"/>
                  <a:gd name="connsiteX3" fmla="*/ 107415 w 279132"/>
                  <a:gd name="connsiteY3" fmla="*/ 20086 h 419535"/>
                  <a:gd name="connsiteX0" fmla="*/ 112228 w 279132"/>
                  <a:gd name="connsiteY0" fmla="*/ 18014 h 399449"/>
                  <a:gd name="connsiteX1" fmla="*/ 0 w 279132"/>
                  <a:gd name="connsiteY1" fmla="*/ 399449 h 399449"/>
                  <a:gd name="connsiteX2" fmla="*/ 279132 w 279132"/>
                  <a:gd name="connsiteY2" fmla="*/ 394636 h 399449"/>
                  <a:gd name="connsiteX3" fmla="*/ 107415 w 279132"/>
                  <a:gd name="connsiteY3" fmla="*/ 0 h 399449"/>
                  <a:gd name="connsiteX0" fmla="*/ 134453 w 301357"/>
                  <a:gd name="connsiteY0" fmla="*/ 18014 h 405799"/>
                  <a:gd name="connsiteX1" fmla="*/ 0 w 301357"/>
                  <a:gd name="connsiteY1" fmla="*/ 405799 h 405799"/>
                  <a:gd name="connsiteX2" fmla="*/ 301357 w 301357"/>
                  <a:gd name="connsiteY2" fmla="*/ 394636 h 405799"/>
                  <a:gd name="connsiteX3" fmla="*/ 129640 w 301357"/>
                  <a:gd name="connsiteY3" fmla="*/ 0 h 405799"/>
                  <a:gd name="connsiteX0" fmla="*/ 134453 w 299770"/>
                  <a:gd name="connsiteY0" fmla="*/ 18014 h 410511"/>
                  <a:gd name="connsiteX1" fmla="*/ 0 w 299770"/>
                  <a:gd name="connsiteY1" fmla="*/ 405799 h 410511"/>
                  <a:gd name="connsiteX2" fmla="*/ 299770 w 299770"/>
                  <a:gd name="connsiteY2" fmla="*/ 410511 h 410511"/>
                  <a:gd name="connsiteX3" fmla="*/ 129640 w 299770"/>
                  <a:gd name="connsiteY3" fmla="*/ 0 h 410511"/>
                  <a:gd name="connsiteX0" fmla="*/ 140803 w 306120"/>
                  <a:gd name="connsiteY0" fmla="*/ 18014 h 415324"/>
                  <a:gd name="connsiteX1" fmla="*/ 0 w 306120"/>
                  <a:gd name="connsiteY1" fmla="*/ 415324 h 415324"/>
                  <a:gd name="connsiteX2" fmla="*/ 306120 w 306120"/>
                  <a:gd name="connsiteY2" fmla="*/ 410511 h 415324"/>
                  <a:gd name="connsiteX3" fmla="*/ 135990 w 306120"/>
                  <a:gd name="connsiteY3" fmla="*/ 0 h 415324"/>
                  <a:gd name="connsiteX0" fmla="*/ 143978 w 309295"/>
                  <a:gd name="connsiteY0" fmla="*/ 18014 h 410511"/>
                  <a:gd name="connsiteX1" fmla="*/ 0 w 309295"/>
                  <a:gd name="connsiteY1" fmla="*/ 408974 h 410511"/>
                  <a:gd name="connsiteX2" fmla="*/ 309295 w 309295"/>
                  <a:gd name="connsiteY2" fmla="*/ 410511 h 410511"/>
                  <a:gd name="connsiteX3" fmla="*/ 139165 w 309295"/>
                  <a:gd name="connsiteY3" fmla="*/ 0 h 410511"/>
                </a:gdLst>
                <a:ahLst/>
                <a:cxnLst>
                  <a:cxn ang="0">
                    <a:pos x="connsiteX0" y="connsiteY0"/>
                  </a:cxn>
                  <a:cxn ang="0">
                    <a:pos x="connsiteX1" y="connsiteY1"/>
                  </a:cxn>
                  <a:cxn ang="0">
                    <a:pos x="connsiteX2" y="connsiteY2"/>
                  </a:cxn>
                  <a:cxn ang="0">
                    <a:pos x="connsiteX3" y="connsiteY3"/>
                  </a:cxn>
                </a:cxnLst>
                <a:rect l="l" t="t" r="r" b="b"/>
                <a:pathLst>
                  <a:path w="309295" h="410511">
                    <a:moveTo>
                      <a:pt x="143978" y="18014"/>
                    </a:moveTo>
                    <a:lnTo>
                      <a:pt x="0" y="408974"/>
                    </a:lnTo>
                    <a:lnTo>
                      <a:pt x="309295" y="410511"/>
                    </a:lnTo>
                    <a:lnTo>
                      <a:pt x="139165"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0C420BA-2616-666D-D679-FD6CCE146910}"/>
                  </a:ext>
                </a:extLst>
              </p:cNvPr>
              <p:cNvGrpSpPr/>
              <p:nvPr/>
            </p:nvGrpSpPr>
            <p:grpSpPr>
              <a:xfrm>
                <a:off x="6421271" y="1850000"/>
                <a:ext cx="556173" cy="400110"/>
                <a:chOff x="5169475" y="1825648"/>
                <a:chExt cx="357246" cy="261739"/>
              </a:xfrm>
            </p:grpSpPr>
            <p:sp>
              <p:nvSpPr>
                <p:cNvPr id="26" name="Oval 25">
                  <a:extLst>
                    <a:ext uri="{FF2B5EF4-FFF2-40B4-BE49-F238E27FC236}">
                      <a16:creationId xmlns:a16="http://schemas.microsoft.com/office/drawing/2014/main" id="{D9A2F207-4C37-2E9C-5E66-E720350D7327}"/>
                    </a:ext>
                  </a:extLst>
                </p:cNvPr>
                <p:cNvSpPr/>
                <p:nvPr/>
              </p:nvSpPr>
              <p:spPr>
                <a:xfrm>
                  <a:off x="5226462" y="1854123"/>
                  <a:ext cx="257214" cy="2332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DF557B7-384D-7CCD-B83E-88DD1DB33AEA}"/>
                    </a:ext>
                  </a:extLst>
                </p:cNvPr>
                <p:cNvSpPr/>
                <p:nvPr/>
              </p:nvSpPr>
              <p:spPr>
                <a:xfrm>
                  <a:off x="5169475" y="1825648"/>
                  <a:ext cx="357246" cy="1470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Freeform: Shape 24">
                <a:extLst>
                  <a:ext uri="{FF2B5EF4-FFF2-40B4-BE49-F238E27FC236}">
                    <a16:creationId xmlns:a16="http://schemas.microsoft.com/office/drawing/2014/main" id="{B8F6E51D-4F28-5777-E88B-7CACD03906A7}"/>
                  </a:ext>
                </a:extLst>
              </p:cNvPr>
              <p:cNvSpPr/>
              <p:nvPr/>
            </p:nvSpPr>
            <p:spPr>
              <a:xfrm>
                <a:off x="6566062" y="1677738"/>
                <a:ext cx="299770" cy="410511"/>
              </a:xfrm>
              <a:custGeom>
                <a:avLst/>
                <a:gdLst>
                  <a:gd name="connsiteX0" fmla="*/ 105878 w 279132"/>
                  <a:gd name="connsiteY0" fmla="*/ 52939 h 399449"/>
                  <a:gd name="connsiteX1" fmla="*/ 0 w 279132"/>
                  <a:gd name="connsiteY1" fmla="*/ 399449 h 399449"/>
                  <a:gd name="connsiteX2" fmla="*/ 279132 w 279132"/>
                  <a:gd name="connsiteY2" fmla="*/ 394636 h 399449"/>
                  <a:gd name="connsiteX3" fmla="*/ 101065 w 279132"/>
                  <a:gd name="connsiteY3" fmla="*/ 0 h 399449"/>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20086 h 419535"/>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58186 h 419535"/>
                  <a:gd name="connsiteX0" fmla="*/ 99528 w 279132"/>
                  <a:gd name="connsiteY0" fmla="*/ 0 h 419535"/>
                  <a:gd name="connsiteX1" fmla="*/ 0 w 279132"/>
                  <a:gd name="connsiteY1" fmla="*/ 419535 h 419535"/>
                  <a:gd name="connsiteX2" fmla="*/ 279132 w 279132"/>
                  <a:gd name="connsiteY2" fmla="*/ 414722 h 419535"/>
                  <a:gd name="connsiteX3" fmla="*/ 107415 w 279132"/>
                  <a:gd name="connsiteY3" fmla="*/ 20086 h 419535"/>
                  <a:gd name="connsiteX0" fmla="*/ 112228 w 279132"/>
                  <a:gd name="connsiteY0" fmla="*/ 18014 h 399449"/>
                  <a:gd name="connsiteX1" fmla="*/ 0 w 279132"/>
                  <a:gd name="connsiteY1" fmla="*/ 399449 h 399449"/>
                  <a:gd name="connsiteX2" fmla="*/ 279132 w 279132"/>
                  <a:gd name="connsiteY2" fmla="*/ 394636 h 399449"/>
                  <a:gd name="connsiteX3" fmla="*/ 107415 w 279132"/>
                  <a:gd name="connsiteY3" fmla="*/ 0 h 399449"/>
                  <a:gd name="connsiteX0" fmla="*/ 134453 w 301357"/>
                  <a:gd name="connsiteY0" fmla="*/ 18014 h 405799"/>
                  <a:gd name="connsiteX1" fmla="*/ 0 w 301357"/>
                  <a:gd name="connsiteY1" fmla="*/ 405799 h 405799"/>
                  <a:gd name="connsiteX2" fmla="*/ 301357 w 301357"/>
                  <a:gd name="connsiteY2" fmla="*/ 394636 h 405799"/>
                  <a:gd name="connsiteX3" fmla="*/ 129640 w 301357"/>
                  <a:gd name="connsiteY3" fmla="*/ 0 h 405799"/>
                  <a:gd name="connsiteX0" fmla="*/ 134453 w 299770"/>
                  <a:gd name="connsiteY0" fmla="*/ 18014 h 410511"/>
                  <a:gd name="connsiteX1" fmla="*/ 0 w 299770"/>
                  <a:gd name="connsiteY1" fmla="*/ 405799 h 410511"/>
                  <a:gd name="connsiteX2" fmla="*/ 299770 w 299770"/>
                  <a:gd name="connsiteY2" fmla="*/ 410511 h 410511"/>
                  <a:gd name="connsiteX3" fmla="*/ 129640 w 299770"/>
                  <a:gd name="connsiteY3" fmla="*/ 0 h 410511"/>
                </a:gdLst>
                <a:ahLst/>
                <a:cxnLst>
                  <a:cxn ang="0">
                    <a:pos x="connsiteX0" y="connsiteY0"/>
                  </a:cxn>
                  <a:cxn ang="0">
                    <a:pos x="connsiteX1" y="connsiteY1"/>
                  </a:cxn>
                  <a:cxn ang="0">
                    <a:pos x="connsiteX2" y="connsiteY2"/>
                  </a:cxn>
                  <a:cxn ang="0">
                    <a:pos x="connsiteX3" y="connsiteY3"/>
                  </a:cxn>
                </a:cxnLst>
                <a:rect l="l" t="t" r="r" b="b"/>
                <a:pathLst>
                  <a:path w="299770" h="410511">
                    <a:moveTo>
                      <a:pt x="134453" y="18014"/>
                    </a:moveTo>
                    <a:lnTo>
                      <a:pt x="0" y="405799"/>
                    </a:lnTo>
                    <a:lnTo>
                      <a:pt x="299770" y="410511"/>
                    </a:lnTo>
                    <a:lnTo>
                      <a:pt x="12964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B2BF8A7-D110-2545-A049-1D8927712BE1}"/>
                </a:ext>
              </a:extLst>
            </p:cNvPr>
            <p:cNvSpPr/>
            <p:nvPr/>
          </p:nvSpPr>
          <p:spPr>
            <a:xfrm rot="18737582">
              <a:off x="6328299" y="1551112"/>
              <a:ext cx="48896" cy="4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66" name="TextBox 65">
            <a:extLst>
              <a:ext uri="{FF2B5EF4-FFF2-40B4-BE49-F238E27FC236}">
                <a16:creationId xmlns:a16="http://schemas.microsoft.com/office/drawing/2014/main" id="{6E140671-E2B5-20D4-4160-5B830604F18C}"/>
              </a:ext>
            </a:extLst>
          </p:cNvPr>
          <p:cNvSpPr txBox="1"/>
          <p:nvPr/>
        </p:nvSpPr>
        <p:spPr>
          <a:xfrm>
            <a:off x="2235667" y="1284821"/>
            <a:ext cx="1239185" cy="646331"/>
          </a:xfrm>
          <a:prstGeom prst="rect">
            <a:avLst/>
          </a:prstGeom>
          <a:noFill/>
        </p:spPr>
        <p:txBody>
          <a:bodyPr wrap="square" rtlCol="0">
            <a:spAutoFit/>
          </a:bodyPr>
          <a:lstStyle/>
          <a:p>
            <a:pPr algn="ctr"/>
            <a:r>
              <a:rPr lang="en-US" dirty="0"/>
              <a:t>Rate control</a:t>
            </a:r>
          </a:p>
        </p:txBody>
      </p:sp>
      <p:sp>
        <p:nvSpPr>
          <p:cNvPr id="67" name="TextBox 66">
            <a:extLst>
              <a:ext uri="{FF2B5EF4-FFF2-40B4-BE49-F238E27FC236}">
                <a16:creationId xmlns:a16="http://schemas.microsoft.com/office/drawing/2014/main" id="{F211DD56-8EE7-0000-359F-D2B4CB85EE7E}"/>
              </a:ext>
            </a:extLst>
          </p:cNvPr>
          <p:cNvSpPr txBox="1"/>
          <p:nvPr/>
        </p:nvSpPr>
        <p:spPr>
          <a:xfrm>
            <a:off x="4684216" y="1076552"/>
            <a:ext cx="1239185" cy="646331"/>
          </a:xfrm>
          <a:prstGeom prst="rect">
            <a:avLst/>
          </a:prstGeom>
          <a:noFill/>
        </p:spPr>
        <p:txBody>
          <a:bodyPr wrap="square" rtlCol="0">
            <a:spAutoFit/>
          </a:bodyPr>
          <a:lstStyle/>
          <a:p>
            <a:pPr algn="ctr"/>
            <a:r>
              <a:rPr lang="en-US" dirty="0"/>
              <a:t>Rhythm</a:t>
            </a:r>
          </a:p>
          <a:p>
            <a:pPr algn="ctr"/>
            <a:r>
              <a:rPr lang="en-US" dirty="0"/>
              <a:t>control</a:t>
            </a:r>
          </a:p>
        </p:txBody>
      </p:sp>
      <p:sp>
        <p:nvSpPr>
          <p:cNvPr id="69" name="TextBox 68">
            <a:extLst>
              <a:ext uri="{FF2B5EF4-FFF2-40B4-BE49-F238E27FC236}">
                <a16:creationId xmlns:a16="http://schemas.microsoft.com/office/drawing/2014/main" id="{8B3E860F-0300-0F22-54A4-97BAD0FFA4F4}"/>
              </a:ext>
            </a:extLst>
          </p:cNvPr>
          <p:cNvSpPr txBox="1"/>
          <p:nvPr/>
        </p:nvSpPr>
        <p:spPr>
          <a:xfrm>
            <a:off x="2458361" y="516568"/>
            <a:ext cx="1673040" cy="369332"/>
          </a:xfrm>
          <a:prstGeom prst="rect">
            <a:avLst/>
          </a:prstGeom>
          <a:noFill/>
        </p:spPr>
        <p:txBody>
          <a:bodyPr wrap="square" rtlCol="0">
            <a:spAutoFit/>
          </a:bodyPr>
          <a:lstStyle/>
          <a:p>
            <a:r>
              <a:rPr lang="en-US" dirty="0"/>
              <a:t>Historically…</a:t>
            </a:r>
          </a:p>
        </p:txBody>
      </p:sp>
      <p:grpSp>
        <p:nvGrpSpPr>
          <p:cNvPr id="71" name="Group 70">
            <a:extLst>
              <a:ext uri="{FF2B5EF4-FFF2-40B4-BE49-F238E27FC236}">
                <a16:creationId xmlns:a16="http://schemas.microsoft.com/office/drawing/2014/main" id="{1A7F24AB-7DE6-0126-D810-AA3988C9E713}"/>
              </a:ext>
            </a:extLst>
          </p:cNvPr>
          <p:cNvGrpSpPr/>
          <p:nvPr/>
        </p:nvGrpSpPr>
        <p:grpSpPr>
          <a:xfrm flipH="1">
            <a:off x="3263928" y="885899"/>
            <a:ext cx="1601023" cy="1445385"/>
            <a:chOff x="5727508" y="1550794"/>
            <a:chExt cx="1249936" cy="1192252"/>
          </a:xfrm>
        </p:grpSpPr>
        <p:grpSp>
          <p:nvGrpSpPr>
            <p:cNvPr id="72" name="Group 71">
              <a:extLst>
                <a:ext uri="{FF2B5EF4-FFF2-40B4-BE49-F238E27FC236}">
                  <a16:creationId xmlns:a16="http://schemas.microsoft.com/office/drawing/2014/main" id="{8AAAE1C6-0A6C-580A-96C9-07806C6F2353}"/>
                </a:ext>
              </a:extLst>
            </p:cNvPr>
            <p:cNvGrpSpPr/>
            <p:nvPr/>
          </p:nvGrpSpPr>
          <p:grpSpPr>
            <a:xfrm>
              <a:off x="5727508" y="1569352"/>
              <a:ext cx="1249936" cy="1173694"/>
              <a:chOff x="5727508" y="1569352"/>
              <a:chExt cx="1249936" cy="1173694"/>
            </a:xfrm>
          </p:grpSpPr>
          <p:grpSp>
            <p:nvGrpSpPr>
              <p:cNvPr id="74" name="Group 73">
                <a:extLst>
                  <a:ext uri="{FF2B5EF4-FFF2-40B4-BE49-F238E27FC236}">
                    <a16:creationId xmlns:a16="http://schemas.microsoft.com/office/drawing/2014/main" id="{AEDBDFAE-52BA-3DAF-A5C1-B0092357A013}"/>
                  </a:ext>
                </a:extLst>
              </p:cNvPr>
              <p:cNvGrpSpPr/>
              <p:nvPr/>
            </p:nvGrpSpPr>
            <p:grpSpPr>
              <a:xfrm>
                <a:off x="5727508" y="2011861"/>
                <a:ext cx="556173" cy="400110"/>
                <a:chOff x="5169475" y="1825648"/>
                <a:chExt cx="357246" cy="261739"/>
              </a:xfrm>
            </p:grpSpPr>
            <p:sp>
              <p:nvSpPr>
                <p:cNvPr id="84" name="Oval 83">
                  <a:extLst>
                    <a:ext uri="{FF2B5EF4-FFF2-40B4-BE49-F238E27FC236}">
                      <a16:creationId xmlns:a16="http://schemas.microsoft.com/office/drawing/2014/main" id="{5E521B35-5C81-FB2A-FA29-7C8429F25953}"/>
                    </a:ext>
                  </a:extLst>
                </p:cNvPr>
                <p:cNvSpPr/>
                <p:nvPr/>
              </p:nvSpPr>
              <p:spPr>
                <a:xfrm>
                  <a:off x="5226462" y="1854123"/>
                  <a:ext cx="257214" cy="2332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896748EC-6A1D-F5B1-0F8C-9259A453CCDD}"/>
                    </a:ext>
                  </a:extLst>
                </p:cNvPr>
                <p:cNvSpPr/>
                <p:nvPr/>
              </p:nvSpPr>
              <p:spPr>
                <a:xfrm>
                  <a:off x="5169475" y="1825648"/>
                  <a:ext cx="357246" cy="1470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a:extLst>
                  <a:ext uri="{FF2B5EF4-FFF2-40B4-BE49-F238E27FC236}">
                    <a16:creationId xmlns:a16="http://schemas.microsoft.com/office/drawing/2014/main" id="{93218AA4-622D-4319-D749-7A534F9A63EB}"/>
                  </a:ext>
                </a:extLst>
              </p:cNvPr>
              <p:cNvGrpSpPr/>
              <p:nvPr/>
            </p:nvGrpSpPr>
            <p:grpSpPr>
              <a:xfrm>
                <a:off x="5996092" y="1569352"/>
                <a:ext cx="710514" cy="1173694"/>
                <a:chOff x="6126980" y="1660195"/>
                <a:chExt cx="710514" cy="1173694"/>
              </a:xfrm>
            </p:grpSpPr>
            <p:cxnSp>
              <p:nvCxnSpPr>
                <p:cNvPr id="81" name="Straight Connector 80">
                  <a:extLst>
                    <a:ext uri="{FF2B5EF4-FFF2-40B4-BE49-F238E27FC236}">
                      <a16:creationId xmlns:a16="http://schemas.microsoft.com/office/drawing/2014/main" id="{0A0755FC-838F-BCD5-BDE3-259FE4AFCA71}"/>
                    </a:ext>
                  </a:extLst>
                </p:cNvPr>
                <p:cNvCxnSpPr/>
                <p:nvPr/>
              </p:nvCxnSpPr>
              <p:spPr>
                <a:xfrm flipV="1">
                  <a:off x="6126980" y="1772704"/>
                  <a:ext cx="710514" cy="172262"/>
                </a:xfrm>
                <a:prstGeom prst="line">
                  <a:avLst/>
                </a:prstGeom>
              </p:spPr>
              <p:style>
                <a:lnRef idx="3">
                  <a:schemeClr val="dk1"/>
                </a:lnRef>
                <a:fillRef idx="0">
                  <a:schemeClr val="dk1"/>
                </a:fillRef>
                <a:effectRef idx="2">
                  <a:schemeClr val="dk1"/>
                </a:effectRef>
                <a:fontRef idx="minor">
                  <a:schemeClr val="tx1"/>
                </a:fontRef>
              </p:style>
            </p:cxnSp>
            <p:cxnSp>
              <p:nvCxnSpPr>
                <p:cNvPr id="82" name="Straight Connector 81">
                  <a:extLst>
                    <a:ext uri="{FF2B5EF4-FFF2-40B4-BE49-F238E27FC236}">
                      <a16:creationId xmlns:a16="http://schemas.microsoft.com/office/drawing/2014/main" id="{41809558-BBCC-4D71-A7B3-A42EBCB8A31A}"/>
                    </a:ext>
                  </a:extLst>
                </p:cNvPr>
                <p:cNvCxnSpPr>
                  <a:cxnSpLocks/>
                </p:cNvCxnSpPr>
                <p:nvPr/>
              </p:nvCxnSpPr>
              <p:spPr>
                <a:xfrm>
                  <a:off x="6482238" y="1660195"/>
                  <a:ext cx="5148" cy="1173694"/>
                </a:xfrm>
                <a:prstGeom prst="line">
                  <a:avLst/>
                </a:prstGeom>
              </p:spPr>
              <p:style>
                <a:lnRef idx="3">
                  <a:schemeClr val="dk1"/>
                </a:lnRef>
                <a:fillRef idx="0">
                  <a:schemeClr val="dk1"/>
                </a:fillRef>
                <a:effectRef idx="2">
                  <a:schemeClr val="dk1"/>
                </a:effectRef>
                <a:fontRef idx="minor">
                  <a:schemeClr val="tx1"/>
                </a:fontRef>
              </p:style>
            </p:cxnSp>
            <p:sp>
              <p:nvSpPr>
                <p:cNvPr id="83" name="Freeform: Shape 82">
                  <a:extLst>
                    <a:ext uri="{FF2B5EF4-FFF2-40B4-BE49-F238E27FC236}">
                      <a16:creationId xmlns:a16="http://schemas.microsoft.com/office/drawing/2014/main" id="{CE2F4872-BE90-C3DF-AFC7-7BBC34CCFD65}"/>
                    </a:ext>
                  </a:extLst>
                </p:cNvPr>
                <p:cNvSpPr/>
                <p:nvPr/>
              </p:nvSpPr>
              <p:spPr>
                <a:xfrm>
                  <a:off x="6231980" y="2703015"/>
                  <a:ext cx="500513" cy="130874"/>
                </a:xfrm>
                <a:custGeom>
                  <a:avLst/>
                  <a:gdLst>
                    <a:gd name="connsiteX0" fmla="*/ 197318 w 500513"/>
                    <a:gd name="connsiteY0" fmla="*/ 4812 h 101065"/>
                    <a:gd name="connsiteX1" fmla="*/ 317633 w 500513"/>
                    <a:gd name="connsiteY1" fmla="*/ 0 h 101065"/>
                    <a:gd name="connsiteX2" fmla="*/ 500513 w 500513"/>
                    <a:gd name="connsiteY2" fmla="*/ 101065 h 101065"/>
                    <a:gd name="connsiteX3" fmla="*/ 0 w 500513"/>
                    <a:gd name="connsiteY3" fmla="*/ 101065 h 101065"/>
                    <a:gd name="connsiteX4" fmla="*/ 197318 w 500513"/>
                    <a:gd name="connsiteY4" fmla="*/ 4812 h 101065"/>
                    <a:gd name="connsiteX0" fmla="*/ 192506 w 500513"/>
                    <a:gd name="connsiteY0" fmla="*/ 0 h 118040"/>
                    <a:gd name="connsiteX1" fmla="*/ 317633 w 500513"/>
                    <a:gd name="connsiteY1" fmla="*/ 16975 h 118040"/>
                    <a:gd name="connsiteX2" fmla="*/ 500513 w 500513"/>
                    <a:gd name="connsiteY2" fmla="*/ 118040 h 118040"/>
                    <a:gd name="connsiteX3" fmla="*/ 0 w 500513"/>
                    <a:gd name="connsiteY3" fmla="*/ 118040 h 118040"/>
                    <a:gd name="connsiteX4" fmla="*/ 192506 w 500513"/>
                    <a:gd name="connsiteY4" fmla="*/ 0 h 118040"/>
                    <a:gd name="connsiteX0" fmla="*/ 192506 w 500513"/>
                    <a:gd name="connsiteY0" fmla="*/ 454 h 118494"/>
                    <a:gd name="connsiteX1" fmla="*/ 317633 w 500513"/>
                    <a:gd name="connsiteY1" fmla="*/ 0 h 118494"/>
                    <a:gd name="connsiteX2" fmla="*/ 500513 w 500513"/>
                    <a:gd name="connsiteY2" fmla="*/ 118494 h 118494"/>
                    <a:gd name="connsiteX3" fmla="*/ 0 w 500513"/>
                    <a:gd name="connsiteY3" fmla="*/ 118494 h 118494"/>
                    <a:gd name="connsiteX4" fmla="*/ 192506 w 500513"/>
                    <a:gd name="connsiteY4" fmla="*/ 454 h 118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513" h="118494">
                      <a:moveTo>
                        <a:pt x="192506" y="454"/>
                      </a:moveTo>
                      <a:lnTo>
                        <a:pt x="317633" y="0"/>
                      </a:lnTo>
                      <a:lnTo>
                        <a:pt x="500513" y="118494"/>
                      </a:lnTo>
                      <a:lnTo>
                        <a:pt x="0" y="118494"/>
                      </a:lnTo>
                      <a:lnTo>
                        <a:pt x="192506" y="454"/>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76" name="Freeform: Shape 75">
                <a:extLst>
                  <a:ext uri="{FF2B5EF4-FFF2-40B4-BE49-F238E27FC236}">
                    <a16:creationId xmlns:a16="http://schemas.microsoft.com/office/drawing/2014/main" id="{5CE60616-8335-0D4A-372F-AA5279D55AE6}"/>
                  </a:ext>
                </a:extLst>
              </p:cNvPr>
              <p:cNvSpPr/>
              <p:nvPr/>
            </p:nvSpPr>
            <p:spPr>
              <a:xfrm>
                <a:off x="5872299" y="1839599"/>
                <a:ext cx="299770" cy="410511"/>
              </a:xfrm>
              <a:custGeom>
                <a:avLst/>
                <a:gdLst>
                  <a:gd name="connsiteX0" fmla="*/ 105878 w 279132"/>
                  <a:gd name="connsiteY0" fmla="*/ 52939 h 399449"/>
                  <a:gd name="connsiteX1" fmla="*/ 0 w 279132"/>
                  <a:gd name="connsiteY1" fmla="*/ 399449 h 399449"/>
                  <a:gd name="connsiteX2" fmla="*/ 279132 w 279132"/>
                  <a:gd name="connsiteY2" fmla="*/ 394636 h 399449"/>
                  <a:gd name="connsiteX3" fmla="*/ 101065 w 279132"/>
                  <a:gd name="connsiteY3" fmla="*/ 0 h 399449"/>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20086 h 419535"/>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58186 h 419535"/>
                  <a:gd name="connsiteX0" fmla="*/ 99528 w 279132"/>
                  <a:gd name="connsiteY0" fmla="*/ 0 h 419535"/>
                  <a:gd name="connsiteX1" fmla="*/ 0 w 279132"/>
                  <a:gd name="connsiteY1" fmla="*/ 419535 h 419535"/>
                  <a:gd name="connsiteX2" fmla="*/ 279132 w 279132"/>
                  <a:gd name="connsiteY2" fmla="*/ 414722 h 419535"/>
                  <a:gd name="connsiteX3" fmla="*/ 107415 w 279132"/>
                  <a:gd name="connsiteY3" fmla="*/ 20086 h 419535"/>
                  <a:gd name="connsiteX0" fmla="*/ 112228 w 279132"/>
                  <a:gd name="connsiteY0" fmla="*/ 18014 h 399449"/>
                  <a:gd name="connsiteX1" fmla="*/ 0 w 279132"/>
                  <a:gd name="connsiteY1" fmla="*/ 399449 h 399449"/>
                  <a:gd name="connsiteX2" fmla="*/ 279132 w 279132"/>
                  <a:gd name="connsiteY2" fmla="*/ 394636 h 399449"/>
                  <a:gd name="connsiteX3" fmla="*/ 107415 w 279132"/>
                  <a:gd name="connsiteY3" fmla="*/ 0 h 399449"/>
                  <a:gd name="connsiteX0" fmla="*/ 134453 w 301357"/>
                  <a:gd name="connsiteY0" fmla="*/ 18014 h 405799"/>
                  <a:gd name="connsiteX1" fmla="*/ 0 w 301357"/>
                  <a:gd name="connsiteY1" fmla="*/ 405799 h 405799"/>
                  <a:gd name="connsiteX2" fmla="*/ 301357 w 301357"/>
                  <a:gd name="connsiteY2" fmla="*/ 394636 h 405799"/>
                  <a:gd name="connsiteX3" fmla="*/ 129640 w 301357"/>
                  <a:gd name="connsiteY3" fmla="*/ 0 h 405799"/>
                  <a:gd name="connsiteX0" fmla="*/ 134453 w 299770"/>
                  <a:gd name="connsiteY0" fmla="*/ 18014 h 410511"/>
                  <a:gd name="connsiteX1" fmla="*/ 0 w 299770"/>
                  <a:gd name="connsiteY1" fmla="*/ 405799 h 410511"/>
                  <a:gd name="connsiteX2" fmla="*/ 299770 w 299770"/>
                  <a:gd name="connsiteY2" fmla="*/ 410511 h 410511"/>
                  <a:gd name="connsiteX3" fmla="*/ 129640 w 299770"/>
                  <a:gd name="connsiteY3" fmla="*/ 0 h 410511"/>
                </a:gdLst>
                <a:ahLst/>
                <a:cxnLst>
                  <a:cxn ang="0">
                    <a:pos x="connsiteX0" y="connsiteY0"/>
                  </a:cxn>
                  <a:cxn ang="0">
                    <a:pos x="connsiteX1" y="connsiteY1"/>
                  </a:cxn>
                  <a:cxn ang="0">
                    <a:pos x="connsiteX2" y="connsiteY2"/>
                  </a:cxn>
                  <a:cxn ang="0">
                    <a:pos x="connsiteX3" y="connsiteY3"/>
                  </a:cxn>
                </a:cxnLst>
                <a:rect l="l" t="t" r="r" b="b"/>
                <a:pathLst>
                  <a:path w="299770" h="410511">
                    <a:moveTo>
                      <a:pt x="134453" y="18014"/>
                    </a:moveTo>
                    <a:lnTo>
                      <a:pt x="0" y="405799"/>
                    </a:lnTo>
                    <a:lnTo>
                      <a:pt x="299770" y="410511"/>
                    </a:lnTo>
                    <a:lnTo>
                      <a:pt x="12964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2722EB5B-19DF-77DC-3C08-8240520A1C40}"/>
                  </a:ext>
                </a:extLst>
              </p:cNvPr>
              <p:cNvGrpSpPr/>
              <p:nvPr/>
            </p:nvGrpSpPr>
            <p:grpSpPr>
              <a:xfrm>
                <a:off x="6421271" y="1850000"/>
                <a:ext cx="556173" cy="400110"/>
                <a:chOff x="5169475" y="1825648"/>
                <a:chExt cx="357246" cy="261739"/>
              </a:xfrm>
            </p:grpSpPr>
            <p:sp>
              <p:nvSpPr>
                <p:cNvPr id="79" name="Oval 78">
                  <a:extLst>
                    <a:ext uri="{FF2B5EF4-FFF2-40B4-BE49-F238E27FC236}">
                      <a16:creationId xmlns:a16="http://schemas.microsoft.com/office/drawing/2014/main" id="{B7DC9FE6-3663-EE4F-B52D-6D70D4E26421}"/>
                    </a:ext>
                  </a:extLst>
                </p:cNvPr>
                <p:cNvSpPr/>
                <p:nvPr/>
              </p:nvSpPr>
              <p:spPr>
                <a:xfrm>
                  <a:off x="5226462" y="1854123"/>
                  <a:ext cx="257214" cy="2332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892C8D3B-7FD9-2AAB-E038-34606FFA6410}"/>
                    </a:ext>
                  </a:extLst>
                </p:cNvPr>
                <p:cNvSpPr/>
                <p:nvPr/>
              </p:nvSpPr>
              <p:spPr>
                <a:xfrm>
                  <a:off x="5169475" y="1825648"/>
                  <a:ext cx="357246" cy="1470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Freeform: Shape 77">
                <a:extLst>
                  <a:ext uri="{FF2B5EF4-FFF2-40B4-BE49-F238E27FC236}">
                    <a16:creationId xmlns:a16="http://schemas.microsoft.com/office/drawing/2014/main" id="{D35964E1-2861-D68F-8177-42EE415843B9}"/>
                  </a:ext>
                </a:extLst>
              </p:cNvPr>
              <p:cNvSpPr/>
              <p:nvPr/>
            </p:nvSpPr>
            <p:spPr>
              <a:xfrm>
                <a:off x="6566062" y="1677738"/>
                <a:ext cx="299770" cy="410511"/>
              </a:xfrm>
              <a:custGeom>
                <a:avLst/>
                <a:gdLst>
                  <a:gd name="connsiteX0" fmla="*/ 105878 w 279132"/>
                  <a:gd name="connsiteY0" fmla="*/ 52939 h 399449"/>
                  <a:gd name="connsiteX1" fmla="*/ 0 w 279132"/>
                  <a:gd name="connsiteY1" fmla="*/ 399449 h 399449"/>
                  <a:gd name="connsiteX2" fmla="*/ 279132 w 279132"/>
                  <a:gd name="connsiteY2" fmla="*/ 394636 h 399449"/>
                  <a:gd name="connsiteX3" fmla="*/ 101065 w 279132"/>
                  <a:gd name="connsiteY3" fmla="*/ 0 h 399449"/>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20086 h 419535"/>
                  <a:gd name="connsiteX0" fmla="*/ 99528 w 279132"/>
                  <a:gd name="connsiteY0" fmla="*/ 0 h 419535"/>
                  <a:gd name="connsiteX1" fmla="*/ 0 w 279132"/>
                  <a:gd name="connsiteY1" fmla="*/ 419535 h 419535"/>
                  <a:gd name="connsiteX2" fmla="*/ 279132 w 279132"/>
                  <a:gd name="connsiteY2" fmla="*/ 414722 h 419535"/>
                  <a:gd name="connsiteX3" fmla="*/ 101065 w 279132"/>
                  <a:gd name="connsiteY3" fmla="*/ 58186 h 419535"/>
                  <a:gd name="connsiteX0" fmla="*/ 99528 w 279132"/>
                  <a:gd name="connsiteY0" fmla="*/ 0 h 419535"/>
                  <a:gd name="connsiteX1" fmla="*/ 0 w 279132"/>
                  <a:gd name="connsiteY1" fmla="*/ 419535 h 419535"/>
                  <a:gd name="connsiteX2" fmla="*/ 279132 w 279132"/>
                  <a:gd name="connsiteY2" fmla="*/ 414722 h 419535"/>
                  <a:gd name="connsiteX3" fmla="*/ 107415 w 279132"/>
                  <a:gd name="connsiteY3" fmla="*/ 20086 h 419535"/>
                  <a:gd name="connsiteX0" fmla="*/ 112228 w 279132"/>
                  <a:gd name="connsiteY0" fmla="*/ 18014 h 399449"/>
                  <a:gd name="connsiteX1" fmla="*/ 0 w 279132"/>
                  <a:gd name="connsiteY1" fmla="*/ 399449 h 399449"/>
                  <a:gd name="connsiteX2" fmla="*/ 279132 w 279132"/>
                  <a:gd name="connsiteY2" fmla="*/ 394636 h 399449"/>
                  <a:gd name="connsiteX3" fmla="*/ 107415 w 279132"/>
                  <a:gd name="connsiteY3" fmla="*/ 0 h 399449"/>
                  <a:gd name="connsiteX0" fmla="*/ 134453 w 301357"/>
                  <a:gd name="connsiteY0" fmla="*/ 18014 h 405799"/>
                  <a:gd name="connsiteX1" fmla="*/ 0 w 301357"/>
                  <a:gd name="connsiteY1" fmla="*/ 405799 h 405799"/>
                  <a:gd name="connsiteX2" fmla="*/ 301357 w 301357"/>
                  <a:gd name="connsiteY2" fmla="*/ 394636 h 405799"/>
                  <a:gd name="connsiteX3" fmla="*/ 129640 w 301357"/>
                  <a:gd name="connsiteY3" fmla="*/ 0 h 405799"/>
                  <a:gd name="connsiteX0" fmla="*/ 134453 w 299770"/>
                  <a:gd name="connsiteY0" fmla="*/ 18014 h 410511"/>
                  <a:gd name="connsiteX1" fmla="*/ 0 w 299770"/>
                  <a:gd name="connsiteY1" fmla="*/ 405799 h 410511"/>
                  <a:gd name="connsiteX2" fmla="*/ 299770 w 299770"/>
                  <a:gd name="connsiteY2" fmla="*/ 410511 h 410511"/>
                  <a:gd name="connsiteX3" fmla="*/ 129640 w 299770"/>
                  <a:gd name="connsiteY3" fmla="*/ 0 h 410511"/>
                </a:gdLst>
                <a:ahLst/>
                <a:cxnLst>
                  <a:cxn ang="0">
                    <a:pos x="connsiteX0" y="connsiteY0"/>
                  </a:cxn>
                  <a:cxn ang="0">
                    <a:pos x="connsiteX1" y="connsiteY1"/>
                  </a:cxn>
                  <a:cxn ang="0">
                    <a:pos x="connsiteX2" y="connsiteY2"/>
                  </a:cxn>
                  <a:cxn ang="0">
                    <a:pos x="connsiteX3" y="connsiteY3"/>
                  </a:cxn>
                </a:cxnLst>
                <a:rect l="l" t="t" r="r" b="b"/>
                <a:pathLst>
                  <a:path w="299770" h="410511">
                    <a:moveTo>
                      <a:pt x="134453" y="18014"/>
                    </a:moveTo>
                    <a:lnTo>
                      <a:pt x="0" y="405799"/>
                    </a:lnTo>
                    <a:lnTo>
                      <a:pt x="299770" y="410511"/>
                    </a:lnTo>
                    <a:lnTo>
                      <a:pt x="12964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3" name="Rectangle 72">
              <a:extLst>
                <a:ext uri="{FF2B5EF4-FFF2-40B4-BE49-F238E27FC236}">
                  <a16:creationId xmlns:a16="http://schemas.microsoft.com/office/drawing/2014/main" id="{12E07361-1B75-61CF-A61E-E19E9EEB7933}"/>
                </a:ext>
              </a:extLst>
            </p:cNvPr>
            <p:cNvSpPr/>
            <p:nvPr/>
          </p:nvSpPr>
          <p:spPr>
            <a:xfrm rot="18737582">
              <a:off x="6328299" y="1551112"/>
              <a:ext cx="48896" cy="4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86" name="TextBox 85">
            <a:extLst>
              <a:ext uri="{FF2B5EF4-FFF2-40B4-BE49-F238E27FC236}">
                <a16:creationId xmlns:a16="http://schemas.microsoft.com/office/drawing/2014/main" id="{0D0D4CAD-1B35-8B86-832A-A89AF844F24E}"/>
              </a:ext>
            </a:extLst>
          </p:cNvPr>
          <p:cNvSpPr txBox="1"/>
          <p:nvPr/>
        </p:nvSpPr>
        <p:spPr>
          <a:xfrm>
            <a:off x="4520761" y="3019942"/>
            <a:ext cx="1640597" cy="369332"/>
          </a:xfrm>
          <a:prstGeom prst="rect">
            <a:avLst/>
          </a:prstGeom>
          <a:noFill/>
        </p:spPr>
        <p:txBody>
          <a:bodyPr wrap="square" rtlCol="0">
            <a:spAutoFit/>
          </a:bodyPr>
          <a:lstStyle/>
          <a:p>
            <a:pPr algn="ctr"/>
            <a:r>
              <a:rPr lang="en-US" u="sng" dirty="0"/>
              <a:t>Patient history</a:t>
            </a:r>
          </a:p>
        </p:txBody>
      </p:sp>
      <p:sp>
        <p:nvSpPr>
          <p:cNvPr id="87" name="TextBox 86">
            <a:extLst>
              <a:ext uri="{FF2B5EF4-FFF2-40B4-BE49-F238E27FC236}">
                <a16:creationId xmlns:a16="http://schemas.microsoft.com/office/drawing/2014/main" id="{0498816D-BE9B-19B7-AD2A-FFB56C4F7DA8}"/>
              </a:ext>
            </a:extLst>
          </p:cNvPr>
          <p:cNvSpPr txBox="1"/>
          <p:nvPr/>
        </p:nvSpPr>
        <p:spPr>
          <a:xfrm>
            <a:off x="1722804" y="3030439"/>
            <a:ext cx="1857016" cy="369332"/>
          </a:xfrm>
          <a:prstGeom prst="rect">
            <a:avLst/>
          </a:prstGeom>
          <a:noFill/>
        </p:spPr>
        <p:txBody>
          <a:bodyPr wrap="square" rtlCol="0">
            <a:spAutoFit/>
          </a:bodyPr>
          <a:lstStyle/>
          <a:p>
            <a:pPr algn="ctr"/>
            <a:r>
              <a:rPr lang="en-US" u="sng" dirty="0"/>
              <a:t>Clinical Features</a:t>
            </a:r>
          </a:p>
        </p:txBody>
      </p:sp>
      <p:sp>
        <p:nvSpPr>
          <p:cNvPr id="88" name="TextBox 87">
            <a:extLst>
              <a:ext uri="{FF2B5EF4-FFF2-40B4-BE49-F238E27FC236}">
                <a16:creationId xmlns:a16="http://schemas.microsoft.com/office/drawing/2014/main" id="{9D39412C-D28F-BB95-93EC-273E2821527F}"/>
              </a:ext>
            </a:extLst>
          </p:cNvPr>
          <p:cNvSpPr txBox="1"/>
          <p:nvPr/>
        </p:nvSpPr>
        <p:spPr>
          <a:xfrm>
            <a:off x="4328537" y="3351262"/>
            <a:ext cx="2317253" cy="646331"/>
          </a:xfrm>
          <a:prstGeom prst="rect">
            <a:avLst/>
          </a:prstGeom>
          <a:noFill/>
        </p:spPr>
        <p:txBody>
          <a:bodyPr wrap="square" rtlCol="0">
            <a:spAutoFit/>
          </a:bodyPr>
          <a:lstStyle/>
          <a:p>
            <a:pPr marL="174625" indent="-174625">
              <a:buFont typeface="Arial" panose="020B0604020202020204" pitchFamily="34" charset="0"/>
              <a:buChar char="•"/>
            </a:pPr>
            <a:r>
              <a:rPr lang="en-US" dirty="0"/>
              <a:t>Younger age</a:t>
            </a:r>
          </a:p>
          <a:p>
            <a:pPr marL="174625" indent="-174625">
              <a:buFont typeface="Arial" panose="020B0604020202020204" pitchFamily="34" charset="0"/>
              <a:buChar char="•"/>
            </a:pPr>
            <a:r>
              <a:rPr lang="en-US" dirty="0"/>
              <a:t>Fewer comorbidities</a:t>
            </a:r>
          </a:p>
        </p:txBody>
      </p:sp>
      <p:sp>
        <p:nvSpPr>
          <p:cNvPr id="90" name="TextBox 89">
            <a:extLst>
              <a:ext uri="{FF2B5EF4-FFF2-40B4-BE49-F238E27FC236}">
                <a16:creationId xmlns:a16="http://schemas.microsoft.com/office/drawing/2014/main" id="{D1BF6C83-CAEF-E546-FC76-D541BDE9D004}"/>
              </a:ext>
            </a:extLst>
          </p:cNvPr>
          <p:cNvSpPr txBox="1"/>
          <p:nvPr/>
        </p:nvSpPr>
        <p:spPr>
          <a:xfrm>
            <a:off x="883590" y="3351262"/>
            <a:ext cx="3495877" cy="1200329"/>
          </a:xfrm>
          <a:prstGeom prst="rect">
            <a:avLst/>
          </a:prstGeom>
          <a:noFill/>
        </p:spPr>
        <p:txBody>
          <a:bodyPr wrap="square" rtlCol="0">
            <a:spAutoFit/>
          </a:bodyPr>
          <a:lstStyle/>
          <a:p>
            <a:pPr marL="174625" indent="-174625">
              <a:buFont typeface="Arial" panose="020B0604020202020204" pitchFamily="34" charset="0"/>
              <a:buChar char="•"/>
            </a:pPr>
            <a:r>
              <a:rPr lang="en-US" b="1" dirty="0"/>
              <a:t>Symptomatic</a:t>
            </a:r>
          </a:p>
          <a:p>
            <a:pPr marL="174625" indent="-174625">
              <a:buFont typeface="Arial" panose="020B0604020202020204" pitchFamily="34" charset="0"/>
              <a:buChar char="•"/>
            </a:pPr>
            <a:r>
              <a:rPr lang="en-US" dirty="0"/>
              <a:t>Recent onset AF</a:t>
            </a:r>
          </a:p>
          <a:p>
            <a:pPr marL="174625" indent="-174625">
              <a:buFont typeface="Arial" panose="020B0604020202020204" pitchFamily="34" charset="0"/>
              <a:buChar char="•"/>
            </a:pPr>
            <a:r>
              <a:rPr lang="en-US" dirty="0"/>
              <a:t>Failed rate control</a:t>
            </a:r>
          </a:p>
          <a:p>
            <a:pPr marL="174625" indent="-174625">
              <a:buFont typeface="Arial" panose="020B0604020202020204" pitchFamily="34" charset="0"/>
              <a:buChar char="•"/>
            </a:pPr>
            <a:r>
              <a:rPr lang="en-US" dirty="0"/>
              <a:t>Tachy-induced cardiomyopathy</a:t>
            </a:r>
          </a:p>
        </p:txBody>
      </p:sp>
      <p:pic>
        <p:nvPicPr>
          <p:cNvPr id="92" name="Sidebar arrow 4" descr="Cursor with solid fill">
            <a:extLst>
              <a:ext uri="{FF2B5EF4-FFF2-40B4-BE49-F238E27FC236}">
                <a16:creationId xmlns:a16="http://schemas.microsoft.com/office/drawing/2014/main" id="{E4847BB8-6A48-549A-6A62-FD76F225985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472420" y="6096113"/>
            <a:ext cx="270672" cy="270672"/>
          </a:xfrm>
          <a:prstGeom prst="rect">
            <a:avLst/>
          </a:prstGeom>
        </p:spPr>
      </p:pic>
      <p:grpSp>
        <p:nvGrpSpPr>
          <p:cNvPr id="99" name="Clinical Features button">
            <a:extLst>
              <a:ext uri="{FF2B5EF4-FFF2-40B4-BE49-F238E27FC236}">
                <a16:creationId xmlns:a16="http://schemas.microsoft.com/office/drawing/2014/main" id="{DBAEECD9-CF7F-0F5C-A434-389FDDAF9F5A}"/>
              </a:ext>
            </a:extLst>
          </p:cNvPr>
          <p:cNvGrpSpPr/>
          <p:nvPr/>
        </p:nvGrpSpPr>
        <p:grpSpPr>
          <a:xfrm>
            <a:off x="1692855" y="3033491"/>
            <a:ext cx="1920240" cy="1737360"/>
            <a:chOff x="1246909" y="4724980"/>
            <a:chExt cx="1896330" cy="1703214"/>
          </a:xfrm>
        </p:grpSpPr>
        <p:sp>
          <p:nvSpPr>
            <p:cNvPr id="95" name="Comorbidity question">
              <a:hlinkClick r:id="" action="ppaction://noaction"/>
              <a:extLst>
                <a:ext uri="{FF2B5EF4-FFF2-40B4-BE49-F238E27FC236}">
                  <a16:creationId xmlns:a16="http://schemas.microsoft.com/office/drawing/2014/main" id="{518BCAE3-AFAF-2E32-EE52-A857C96EF174}"/>
                </a:ext>
              </a:extLst>
            </p:cNvPr>
            <p:cNvSpPr/>
            <p:nvPr/>
          </p:nvSpPr>
          <p:spPr>
            <a:xfrm>
              <a:off x="1246909" y="4724980"/>
              <a:ext cx="1896330" cy="1703214"/>
            </a:xfrm>
            <a:prstGeom prst="roundRect">
              <a:avLst>
                <a:gd name="adj" fmla="val 14110"/>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Clinical Features </a:t>
              </a:r>
            </a:p>
          </p:txBody>
        </p:sp>
        <p:pic>
          <p:nvPicPr>
            <p:cNvPr id="98" name="Picture 97" descr="Graphical user interface&#10;&#10;Description automatically generated">
              <a:extLst>
                <a:ext uri="{FF2B5EF4-FFF2-40B4-BE49-F238E27FC236}">
                  <a16:creationId xmlns:a16="http://schemas.microsoft.com/office/drawing/2014/main" id="{2AF9E1BF-9AA7-9154-D3D2-6E0E2C3AA153}"/>
                </a:ext>
              </a:extLst>
            </p:cNvPr>
            <p:cNvPicPr>
              <a:picLocks noChangeAspect="1"/>
            </p:cNvPicPr>
            <p:nvPr/>
          </p:nvPicPr>
          <p:blipFill rotWithShape="1">
            <a:blip r:embed="rId11">
              <a:extLst>
                <a:ext uri="{28A0092B-C50C-407E-A947-70E740481C1C}">
                  <a14:useLocalDpi xmlns:a14="http://schemas.microsoft.com/office/drawing/2010/main" val="0"/>
                </a:ext>
              </a:extLst>
            </a:blip>
            <a:srcRect l="18370" t="11719" r="67193" b="64443"/>
            <a:stretch/>
          </p:blipFill>
          <p:spPr>
            <a:xfrm>
              <a:off x="1603636" y="5169627"/>
              <a:ext cx="1014909" cy="1173033"/>
            </a:xfrm>
            <a:prstGeom prst="rect">
              <a:avLst/>
            </a:prstGeom>
          </p:spPr>
        </p:pic>
      </p:grpSp>
      <p:grpSp>
        <p:nvGrpSpPr>
          <p:cNvPr id="104" name="Patient History">
            <a:extLst>
              <a:ext uri="{FF2B5EF4-FFF2-40B4-BE49-F238E27FC236}">
                <a16:creationId xmlns:a16="http://schemas.microsoft.com/office/drawing/2014/main" id="{3CAF23F0-3AB7-06EB-DFB0-10414CC418DF}"/>
              </a:ext>
            </a:extLst>
          </p:cNvPr>
          <p:cNvGrpSpPr/>
          <p:nvPr/>
        </p:nvGrpSpPr>
        <p:grpSpPr>
          <a:xfrm>
            <a:off x="4453734" y="3022994"/>
            <a:ext cx="1920240" cy="1737360"/>
            <a:chOff x="4013919" y="3101463"/>
            <a:chExt cx="1785386" cy="1559317"/>
          </a:xfrm>
        </p:grpSpPr>
        <p:sp>
          <p:nvSpPr>
            <p:cNvPr id="103" name="Comorbidity question">
              <a:hlinkClick r:id="" action="ppaction://noaction"/>
              <a:extLst>
                <a:ext uri="{FF2B5EF4-FFF2-40B4-BE49-F238E27FC236}">
                  <a16:creationId xmlns:a16="http://schemas.microsoft.com/office/drawing/2014/main" id="{81C19E98-DF1D-CB17-7522-0914776273C4}"/>
                </a:ext>
              </a:extLst>
            </p:cNvPr>
            <p:cNvSpPr/>
            <p:nvPr/>
          </p:nvSpPr>
          <p:spPr>
            <a:xfrm>
              <a:off x="4013919" y="3101463"/>
              <a:ext cx="1785386" cy="1559317"/>
            </a:xfrm>
            <a:prstGeom prst="roundRect">
              <a:avLst>
                <a:gd name="adj" fmla="val 11268"/>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Patient History </a:t>
              </a:r>
            </a:p>
          </p:txBody>
        </p:sp>
        <p:pic>
          <p:nvPicPr>
            <p:cNvPr id="102" name="Picture 101" descr="Graphical user interface&#10;&#10;Description automatically generated">
              <a:extLst>
                <a:ext uri="{FF2B5EF4-FFF2-40B4-BE49-F238E27FC236}">
                  <a16:creationId xmlns:a16="http://schemas.microsoft.com/office/drawing/2014/main" id="{AAA418E8-5082-1F4C-5D16-FA6622DE2C37}"/>
                </a:ext>
              </a:extLst>
            </p:cNvPr>
            <p:cNvPicPr>
              <a:picLocks noChangeAspect="1"/>
            </p:cNvPicPr>
            <p:nvPr/>
          </p:nvPicPr>
          <p:blipFill rotWithShape="1">
            <a:blip r:embed="rId11">
              <a:extLst>
                <a:ext uri="{28A0092B-C50C-407E-A947-70E740481C1C}">
                  <a14:useLocalDpi xmlns:a14="http://schemas.microsoft.com/office/drawing/2010/main" val="0"/>
                </a:ext>
              </a:extLst>
            </a:blip>
            <a:srcRect l="38328" t="10176" r="47235" b="65986"/>
            <a:stretch/>
          </p:blipFill>
          <p:spPr>
            <a:xfrm>
              <a:off x="4390840" y="3372595"/>
              <a:ext cx="1101604" cy="1273235"/>
            </a:xfrm>
            <a:prstGeom prst="rect">
              <a:avLst/>
            </a:prstGeom>
          </p:spPr>
        </p:pic>
      </p:grpSp>
      <p:pic>
        <p:nvPicPr>
          <p:cNvPr id="105" name="Sidebar arrow 4" descr="Cursor with solid fill">
            <a:extLst>
              <a:ext uri="{FF2B5EF4-FFF2-40B4-BE49-F238E27FC236}">
                <a16:creationId xmlns:a16="http://schemas.microsoft.com/office/drawing/2014/main" id="{9A062765-7A0A-DA81-AF44-6E847282E4D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420820" y="4583118"/>
            <a:ext cx="270672" cy="270672"/>
          </a:xfrm>
          <a:prstGeom prst="rect">
            <a:avLst/>
          </a:prstGeom>
        </p:spPr>
      </p:pic>
      <p:pic>
        <p:nvPicPr>
          <p:cNvPr id="106" name="Sidebar arrow 4" descr="Cursor with solid fill">
            <a:extLst>
              <a:ext uri="{FF2B5EF4-FFF2-40B4-BE49-F238E27FC236}">
                <a16:creationId xmlns:a16="http://schemas.microsoft.com/office/drawing/2014/main" id="{BE3A5ABA-CBF8-57BA-F217-307D8710FAD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16862" y="4572621"/>
            <a:ext cx="270672" cy="270672"/>
          </a:xfrm>
          <a:prstGeom prst="rect">
            <a:avLst/>
          </a:prstGeom>
        </p:spPr>
      </p:pic>
      <p:grpSp>
        <p:nvGrpSpPr>
          <p:cNvPr id="118" name="Group 117">
            <a:extLst>
              <a:ext uri="{FF2B5EF4-FFF2-40B4-BE49-F238E27FC236}">
                <a16:creationId xmlns:a16="http://schemas.microsoft.com/office/drawing/2014/main" id="{A51F7A81-6C14-8D1A-8870-7F7189095CFE}"/>
              </a:ext>
            </a:extLst>
          </p:cNvPr>
          <p:cNvGrpSpPr/>
          <p:nvPr/>
        </p:nvGrpSpPr>
        <p:grpSpPr>
          <a:xfrm>
            <a:off x="1791280" y="4987118"/>
            <a:ext cx="5825109" cy="1778656"/>
            <a:chOff x="6586612" y="4178595"/>
            <a:chExt cx="5825109" cy="1778656"/>
          </a:xfrm>
        </p:grpSpPr>
        <p:grpSp>
          <p:nvGrpSpPr>
            <p:cNvPr id="116" name="Group 115">
              <a:extLst>
                <a:ext uri="{FF2B5EF4-FFF2-40B4-BE49-F238E27FC236}">
                  <a16:creationId xmlns:a16="http://schemas.microsoft.com/office/drawing/2014/main" id="{B8CA7B50-39D1-CD0A-64CB-EA57C38B4F85}"/>
                </a:ext>
              </a:extLst>
            </p:cNvPr>
            <p:cNvGrpSpPr/>
            <p:nvPr/>
          </p:nvGrpSpPr>
          <p:grpSpPr>
            <a:xfrm>
              <a:off x="6586612" y="4178595"/>
              <a:ext cx="5825109" cy="1778656"/>
              <a:chOff x="6527364" y="4176144"/>
              <a:chExt cx="5825109" cy="1778656"/>
            </a:xfrm>
          </p:grpSpPr>
          <p:pic>
            <p:nvPicPr>
              <p:cNvPr id="109" name="Picture 108" descr="Graphical user interface&#10;&#10;Description automatically generated">
                <a:extLst>
                  <a:ext uri="{FF2B5EF4-FFF2-40B4-BE49-F238E27FC236}">
                    <a16:creationId xmlns:a16="http://schemas.microsoft.com/office/drawing/2014/main" id="{F3ECB168-1B15-B2AD-A903-4E7AD6F95E64}"/>
                  </a:ext>
                </a:extLst>
              </p:cNvPr>
              <p:cNvPicPr>
                <a:picLocks noChangeAspect="1"/>
              </p:cNvPicPr>
              <p:nvPr/>
            </p:nvPicPr>
            <p:blipFill rotWithShape="1">
              <a:blip r:embed="rId11">
                <a:extLst>
                  <a:ext uri="{28A0092B-C50C-407E-A947-70E740481C1C}">
                    <a14:useLocalDpi xmlns:a14="http://schemas.microsoft.com/office/drawing/2010/main" val="0"/>
                  </a:ext>
                </a:extLst>
              </a:blip>
              <a:srcRect l="8949" t="47712" r="76614" b="28450"/>
              <a:stretch/>
            </p:blipFill>
            <p:spPr>
              <a:xfrm>
                <a:off x="6885109" y="4176144"/>
                <a:ext cx="929877" cy="1179266"/>
              </a:xfrm>
              <a:prstGeom prst="rect">
                <a:avLst/>
              </a:prstGeom>
            </p:spPr>
          </p:pic>
          <p:pic>
            <p:nvPicPr>
              <p:cNvPr id="110" name="Picture 109" descr="Graphical user interface&#10;&#10;Description automatically generated">
                <a:extLst>
                  <a:ext uri="{FF2B5EF4-FFF2-40B4-BE49-F238E27FC236}">
                    <a16:creationId xmlns:a16="http://schemas.microsoft.com/office/drawing/2014/main" id="{BC1C72C8-2AE3-A258-0DDA-DA4BC6742BDC}"/>
                  </a:ext>
                </a:extLst>
              </p:cNvPr>
              <p:cNvPicPr>
                <a:picLocks noChangeAspect="1"/>
              </p:cNvPicPr>
              <p:nvPr/>
            </p:nvPicPr>
            <p:blipFill rotWithShape="1">
              <a:blip r:embed="rId11">
                <a:extLst>
                  <a:ext uri="{28A0092B-C50C-407E-A947-70E740481C1C}">
                    <a14:useLocalDpi xmlns:a14="http://schemas.microsoft.com/office/drawing/2010/main" val="0"/>
                  </a:ext>
                </a:extLst>
              </a:blip>
              <a:srcRect l="37997" t="48182" r="47566" b="27980"/>
              <a:stretch/>
            </p:blipFill>
            <p:spPr>
              <a:xfrm>
                <a:off x="8688707" y="4287981"/>
                <a:ext cx="854748" cy="1083988"/>
              </a:xfrm>
              <a:prstGeom prst="rect">
                <a:avLst/>
              </a:prstGeom>
            </p:spPr>
          </p:pic>
          <p:pic>
            <p:nvPicPr>
              <p:cNvPr id="111" name="Picture 110" descr="Graphical user interface&#10;&#10;Description automatically generated">
                <a:extLst>
                  <a:ext uri="{FF2B5EF4-FFF2-40B4-BE49-F238E27FC236}">
                    <a16:creationId xmlns:a16="http://schemas.microsoft.com/office/drawing/2014/main" id="{29DF95ED-D1C9-A588-A500-E4FB84826167}"/>
                  </a:ext>
                </a:extLst>
              </p:cNvPr>
              <p:cNvPicPr>
                <a:picLocks noChangeAspect="1"/>
              </p:cNvPicPr>
              <p:nvPr/>
            </p:nvPicPr>
            <p:blipFill rotWithShape="1">
              <a:blip r:embed="rId11">
                <a:extLst>
                  <a:ext uri="{28A0092B-C50C-407E-A947-70E740481C1C}">
                    <a14:useLocalDpi xmlns:a14="http://schemas.microsoft.com/office/drawing/2010/main" val="0"/>
                  </a:ext>
                </a:extLst>
              </a:blip>
              <a:srcRect l="64746" t="49420" r="18276" b="26742"/>
              <a:stretch/>
            </p:blipFill>
            <p:spPr>
              <a:xfrm>
                <a:off x="10734826" y="4293257"/>
                <a:ext cx="924133" cy="996522"/>
              </a:xfrm>
              <a:prstGeom prst="rect">
                <a:avLst/>
              </a:prstGeom>
            </p:spPr>
          </p:pic>
          <p:sp>
            <p:nvSpPr>
              <p:cNvPr id="113" name="Cardioversion answer">
                <a:extLst>
                  <a:ext uri="{FF2B5EF4-FFF2-40B4-BE49-F238E27FC236}">
                    <a16:creationId xmlns:a16="http://schemas.microsoft.com/office/drawing/2014/main" id="{CFED9465-EF49-5C9D-F591-A30D21FB72B2}"/>
                  </a:ext>
                </a:extLst>
              </p:cNvPr>
              <p:cNvSpPr txBox="1"/>
              <p:nvPr/>
            </p:nvSpPr>
            <p:spPr>
              <a:xfrm>
                <a:off x="6527364" y="5308469"/>
                <a:ext cx="1714611" cy="646331"/>
              </a:xfrm>
              <a:prstGeom prst="rect">
                <a:avLst/>
              </a:prstGeom>
              <a:noFill/>
            </p:spPr>
            <p:txBody>
              <a:bodyPr wrap="square" rtlCol="0">
                <a:spAutoFit/>
              </a:bodyPr>
              <a:lstStyle/>
              <a:p>
                <a:pPr algn="ctr"/>
                <a:r>
                  <a:rPr lang="en-US" dirty="0"/>
                  <a:t>Smoking and ETOH cessation</a:t>
                </a:r>
              </a:p>
            </p:txBody>
          </p:sp>
          <p:sp>
            <p:nvSpPr>
              <p:cNvPr id="114" name="Cardioversion answer">
                <a:extLst>
                  <a:ext uri="{FF2B5EF4-FFF2-40B4-BE49-F238E27FC236}">
                    <a16:creationId xmlns:a16="http://schemas.microsoft.com/office/drawing/2014/main" id="{7274E043-DD09-035B-7459-D358B69DD4B2}"/>
                  </a:ext>
                </a:extLst>
              </p:cNvPr>
              <p:cNvSpPr txBox="1"/>
              <p:nvPr/>
            </p:nvSpPr>
            <p:spPr>
              <a:xfrm>
                <a:off x="8290163" y="5308469"/>
                <a:ext cx="1714611" cy="646331"/>
              </a:xfrm>
              <a:prstGeom prst="rect">
                <a:avLst/>
              </a:prstGeom>
              <a:noFill/>
            </p:spPr>
            <p:txBody>
              <a:bodyPr wrap="square" rtlCol="0">
                <a:spAutoFit/>
              </a:bodyPr>
              <a:lstStyle/>
              <a:p>
                <a:pPr algn="ctr"/>
                <a:r>
                  <a:rPr lang="en-US" dirty="0"/>
                  <a:t>Physical activity</a:t>
                </a:r>
              </a:p>
              <a:p>
                <a:pPr algn="ctr"/>
                <a:r>
                  <a:rPr lang="en-US" dirty="0"/>
                  <a:t>Lose weight </a:t>
                </a:r>
              </a:p>
            </p:txBody>
          </p:sp>
          <p:sp>
            <p:nvSpPr>
              <p:cNvPr id="115" name="Cardioversion answer">
                <a:extLst>
                  <a:ext uri="{FF2B5EF4-FFF2-40B4-BE49-F238E27FC236}">
                    <a16:creationId xmlns:a16="http://schemas.microsoft.com/office/drawing/2014/main" id="{025A86C6-E40F-392B-224B-86B695FD93DC}"/>
                  </a:ext>
                </a:extLst>
              </p:cNvPr>
              <p:cNvSpPr txBox="1"/>
              <p:nvPr/>
            </p:nvSpPr>
            <p:spPr>
              <a:xfrm>
                <a:off x="9801379" y="5308469"/>
                <a:ext cx="2551094" cy="646331"/>
              </a:xfrm>
              <a:prstGeom prst="rect">
                <a:avLst/>
              </a:prstGeom>
              <a:noFill/>
            </p:spPr>
            <p:txBody>
              <a:bodyPr wrap="square" rtlCol="0">
                <a:spAutoFit/>
              </a:bodyPr>
              <a:lstStyle/>
              <a:p>
                <a:pPr algn="ctr"/>
                <a:r>
                  <a:rPr lang="en-US" dirty="0"/>
                  <a:t>Treat RFs </a:t>
                </a:r>
              </a:p>
              <a:p>
                <a:pPr algn="ctr"/>
                <a:r>
                  <a:rPr lang="en-US" dirty="0"/>
                  <a:t>(DM, HTN, HLD, OSA)</a:t>
                </a:r>
              </a:p>
            </p:txBody>
          </p:sp>
        </p:grpSp>
        <p:sp>
          <p:nvSpPr>
            <p:cNvPr id="117" name="&quot;No&quot; Symbol 72">
              <a:extLst>
                <a:ext uri="{FF2B5EF4-FFF2-40B4-BE49-F238E27FC236}">
                  <a16:creationId xmlns:a16="http://schemas.microsoft.com/office/drawing/2014/main" id="{ADE0A397-C5E3-77F8-E73D-59038A5084AC}"/>
                </a:ext>
              </a:extLst>
            </p:cNvPr>
            <p:cNvSpPr>
              <a:spLocks/>
            </p:cNvSpPr>
            <p:nvPr/>
          </p:nvSpPr>
          <p:spPr>
            <a:xfrm>
              <a:off x="6850343" y="4324360"/>
              <a:ext cx="972064" cy="952872"/>
            </a:xfrm>
            <a:prstGeom prst="noSmoking">
              <a:avLst>
                <a:gd name="adj" fmla="val 1150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91" name="Sidebar arrow 4" descr="Cursor with solid fill">
            <a:extLst>
              <a:ext uri="{FF2B5EF4-FFF2-40B4-BE49-F238E27FC236}">
                <a16:creationId xmlns:a16="http://schemas.microsoft.com/office/drawing/2014/main" id="{D506A685-7046-6531-944D-C97E00CF7F5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333860" y="921396"/>
            <a:ext cx="270672" cy="270672"/>
          </a:xfrm>
          <a:prstGeom prst="rect">
            <a:avLst/>
          </a:prstGeom>
        </p:spPr>
      </p:pic>
      <p:pic>
        <p:nvPicPr>
          <p:cNvPr id="2" name="Heart" descr="Shape, logo, arrow&#10;&#10;Description automatically generated">
            <a:extLst>
              <a:ext uri="{FF2B5EF4-FFF2-40B4-BE49-F238E27FC236}">
                <a16:creationId xmlns:a16="http://schemas.microsoft.com/office/drawing/2014/main" id="{4E512740-94B4-D8BE-447E-5AB0BFEAFADB}"/>
              </a:ext>
            </a:extLst>
          </p:cNvPr>
          <p:cNvPicPr>
            <a:picLocks noChangeAspect="1"/>
          </p:cNvPicPr>
          <p:nvPr/>
        </p:nvPicPr>
        <p:blipFill rotWithShape="1">
          <a:blip r:embed="rId12">
            <a:extLst>
              <a:ext uri="{28A0092B-C50C-407E-A947-70E740481C1C}">
                <a14:useLocalDpi xmlns:a14="http://schemas.microsoft.com/office/drawing/2010/main" val="0"/>
              </a:ext>
            </a:extLst>
          </a:blip>
          <a:srcRect l="25190" t="23397" r="44386" b="20864"/>
          <a:stretch/>
        </p:blipFill>
        <p:spPr>
          <a:xfrm rot="20271856">
            <a:off x="10678804" y="1398576"/>
            <a:ext cx="1042709" cy="1337210"/>
          </a:xfrm>
          <a:prstGeom prst="rect">
            <a:avLst/>
          </a:prstGeom>
        </p:spPr>
      </p:pic>
      <p:grpSp>
        <p:nvGrpSpPr>
          <p:cNvPr id="21" name="Group 20">
            <a:extLst>
              <a:ext uri="{FF2B5EF4-FFF2-40B4-BE49-F238E27FC236}">
                <a16:creationId xmlns:a16="http://schemas.microsoft.com/office/drawing/2014/main" id="{154AB0B5-5B61-89AF-0CE9-70DA995A846E}"/>
              </a:ext>
            </a:extLst>
          </p:cNvPr>
          <p:cNvGrpSpPr/>
          <p:nvPr/>
        </p:nvGrpSpPr>
        <p:grpSpPr>
          <a:xfrm>
            <a:off x="10902336" y="1605311"/>
            <a:ext cx="410908" cy="1028357"/>
            <a:chOff x="10424160" y="1562443"/>
            <a:chExt cx="410908" cy="1028357"/>
          </a:xfrm>
        </p:grpSpPr>
        <p:sp>
          <p:nvSpPr>
            <p:cNvPr id="4" name="Freeform: Shape 3">
              <a:extLst>
                <a:ext uri="{FF2B5EF4-FFF2-40B4-BE49-F238E27FC236}">
                  <a16:creationId xmlns:a16="http://schemas.microsoft.com/office/drawing/2014/main" id="{ECFCE4D9-5D6E-B230-8F80-38F2D825BA0D}"/>
                </a:ext>
              </a:extLst>
            </p:cNvPr>
            <p:cNvSpPr/>
            <p:nvPr/>
          </p:nvSpPr>
          <p:spPr>
            <a:xfrm>
              <a:off x="10424160" y="1706880"/>
              <a:ext cx="385111" cy="883920"/>
            </a:xfrm>
            <a:custGeom>
              <a:avLst/>
              <a:gdLst>
                <a:gd name="connsiteX0" fmla="*/ 0 w 385111"/>
                <a:gd name="connsiteY0" fmla="*/ 883920 h 883920"/>
                <a:gd name="connsiteX1" fmla="*/ 251460 w 385111"/>
                <a:gd name="connsiteY1" fmla="*/ 678180 h 883920"/>
                <a:gd name="connsiteX2" fmla="*/ 373380 w 385111"/>
                <a:gd name="connsiteY2" fmla="*/ 236220 h 883920"/>
                <a:gd name="connsiteX3" fmla="*/ 373380 w 385111"/>
                <a:gd name="connsiteY3" fmla="*/ 0 h 883920"/>
              </a:gdLst>
              <a:ahLst/>
              <a:cxnLst>
                <a:cxn ang="0">
                  <a:pos x="connsiteX0" y="connsiteY0"/>
                </a:cxn>
                <a:cxn ang="0">
                  <a:pos x="connsiteX1" y="connsiteY1"/>
                </a:cxn>
                <a:cxn ang="0">
                  <a:pos x="connsiteX2" y="connsiteY2"/>
                </a:cxn>
                <a:cxn ang="0">
                  <a:pos x="connsiteX3" y="connsiteY3"/>
                </a:cxn>
              </a:cxnLst>
              <a:rect l="l" t="t" r="r" b="b"/>
              <a:pathLst>
                <a:path w="385111" h="883920">
                  <a:moveTo>
                    <a:pt x="0" y="883920"/>
                  </a:moveTo>
                  <a:cubicBezTo>
                    <a:pt x="94615" y="835025"/>
                    <a:pt x="189230" y="786130"/>
                    <a:pt x="251460" y="678180"/>
                  </a:cubicBezTo>
                  <a:cubicBezTo>
                    <a:pt x="313690" y="570230"/>
                    <a:pt x="353060" y="349250"/>
                    <a:pt x="373380" y="236220"/>
                  </a:cubicBezTo>
                  <a:cubicBezTo>
                    <a:pt x="393700" y="123190"/>
                    <a:pt x="383540" y="61595"/>
                    <a:pt x="37338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1E041F4E-8F81-7C46-12E5-954100881C43}"/>
                </a:ext>
              </a:extLst>
            </p:cNvPr>
            <p:cNvSpPr/>
            <p:nvPr/>
          </p:nvSpPr>
          <p:spPr>
            <a:xfrm>
              <a:off x="10746185" y="1655674"/>
              <a:ext cx="88883" cy="67134"/>
            </a:xfrm>
            <a:custGeom>
              <a:avLst/>
              <a:gdLst>
                <a:gd name="connsiteX0" fmla="*/ 54476 w 96484"/>
                <a:gd name="connsiteY0" fmla="*/ 103564 h 105153"/>
                <a:gd name="connsiteX1" fmla="*/ 2089 w 96484"/>
                <a:gd name="connsiteY1" fmla="*/ 77370 h 105153"/>
                <a:gd name="connsiteX2" fmla="*/ 18758 w 96484"/>
                <a:gd name="connsiteY2" fmla="*/ 1170 h 105153"/>
                <a:gd name="connsiteX3" fmla="*/ 94958 w 96484"/>
                <a:gd name="connsiteY3" fmla="*/ 36889 h 105153"/>
                <a:gd name="connsiteX4" fmla="*/ 54476 w 96484"/>
                <a:gd name="connsiteY4" fmla="*/ 103564 h 105153"/>
                <a:gd name="connsiteX0" fmla="*/ 79966 w 100401"/>
                <a:gd name="connsiteY0" fmla="*/ 110695 h 111948"/>
                <a:gd name="connsiteX1" fmla="*/ 3766 w 100401"/>
                <a:gd name="connsiteY1" fmla="*/ 77357 h 111948"/>
                <a:gd name="connsiteX2" fmla="*/ 20435 w 100401"/>
                <a:gd name="connsiteY2" fmla="*/ 1157 h 111948"/>
                <a:gd name="connsiteX3" fmla="*/ 96635 w 100401"/>
                <a:gd name="connsiteY3" fmla="*/ 36876 h 111948"/>
                <a:gd name="connsiteX4" fmla="*/ 79966 w 100401"/>
                <a:gd name="connsiteY4" fmla="*/ 110695 h 111948"/>
                <a:gd name="connsiteX0" fmla="*/ 88320 w 109010"/>
                <a:gd name="connsiteY0" fmla="*/ 110695 h 111743"/>
                <a:gd name="connsiteX1" fmla="*/ 2595 w 109010"/>
                <a:gd name="connsiteY1" fmla="*/ 74975 h 111743"/>
                <a:gd name="connsiteX2" fmla="*/ 28789 w 109010"/>
                <a:gd name="connsiteY2" fmla="*/ 1157 h 111743"/>
                <a:gd name="connsiteX3" fmla="*/ 104989 w 109010"/>
                <a:gd name="connsiteY3" fmla="*/ 36876 h 111743"/>
                <a:gd name="connsiteX4" fmla="*/ 88320 w 109010"/>
                <a:gd name="connsiteY4" fmla="*/ 110695 h 111743"/>
                <a:gd name="connsiteX0" fmla="*/ 78229 w 106569"/>
                <a:gd name="connsiteY0" fmla="*/ 115485 h 116408"/>
                <a:gd name="connsiteX1" fmla="*/ 2029 w 106569"/>
                <a:gd name="connsiteY1" fmla="*/ 75003 h 116408"/>
                <a:gd name="connsiteX2" fmla="*/ 28223 w 106569"/>
                <a:gd name="connsiteY2" fmla="*/ 1185 h 116408"/>
                <a:gd name="connsiteX3" fmla="*/ 104423 w 106569"/>
                <a:gd name="connsiteY3" fmla="*/ 36904 h 116408"/>
                <a:gd name="connsiteX4" fmla="*/ 78229 w 106569"/>
                <a:gd name="connsiteY4" fmla="*/ 115485 h 116408"/>
                <a:gd name="connsiteX0" fmla="*/ 77263 w 105046"/>
                <a:gd name="connsiteY0" fmla="*/ 95696 h 96533"/>
                <a:gd name="connsiteX1" fmla="*/ 1063 w 105046"/>
                <a:gd name="connsiteY1" fmla="*/ 55214 h 96533"/>
                <a:gd name="connsiteX2" fmla="*/ 36782 w 105046"/>
                <a:gd name="connsiteY2" fmla="*/ 2827 h 96533"/>
                <a:gd name="connsiteX3" fmla="*/ 103457 w 105046"/>
                <a:gd name="connsiteY3" fmla="*/ 17115 h 96533"/>
                <a:gd name="connsiteX4" fmla="*/ 77263 w 105046"/>
                <a:gd name="connsiteY4" fmla="*/ 95696 h 96533"/>
                <a:gd name="connsiteX0" fmla="*/ 63767 w 91406"/>
                <a:gd name="connsiteY0" fmla="*/ 95696 h 99633"/>
                <a:gd name="connsiteX1" fmla="*/ 1855 w 91406"/>
                <a:gd name="connsiteY1" fmla="*/ 79027 h 99633"/>
                <a:gd name="connsiteX2" fmla="*/ 23286 w 91406"/>
                <a:gd name="connsiteY2" fmla="*/ 2827 h 99633"/>
                <a:gd name="connsiteX3" fmla="*/ 89961 w 91406"/>
                <a:gd name="connsiteY3" fmla="*/ 17115 h 99633"/>
                <a:gd name="connsiteX4" fmla="*/ 63767 w 91406"/>
                <a:gd name="connsiteY4" fmla="*/ 95696 h 99633"/>
                <a:gd name="connsiteX0" fmla="*/ 63767 w 95965"/>
                <a:gd name="connsiteY0" fmla="*/ 93692 h 95454"/>
                <a:gd name="connsiteX1" fmla="*/ 1855 w 95965"/>
                <a:gd name="connsiteY1" fmla="*/ 77023 h 95454"/>
                <a:gd name="connsiteX2" fmla="*/ 23286 w 95965"/>
                <a:gd name="connsiteY2" fmla="*/ 823 h 95454"/>
                <a:gd name="connsiteX3" fmla="*/ 94724 w 95965"/>
                <a:gd name="connsiteY3" fmla="*/ 46067 h 95454"/>
                <a:gd name="connsiteX4" fmla="*/ 63767 w 95965"/>
                <a:gd name="connsiteY4" fmla="*/ 93692 h 95454"/>
                <a:gd name="connsiteX0" fmla="*/ 62311 w 93790"/>
                <a:gd name="connsiteY0" fmla="*/ 72869 h 74266"/>
                <a:gd name="connsiteX1" fmla="*/ 399 w 93790"/>
                <a:gd name="connsiteY1" fmla="*/ 56200 h 74266"/>
                <a:gd name="connsiteX2" fmla="*/ 38498 w 93790"/>
                <a:gd name="connsiteY2" fmla="*/ 1431 h 74266"/>
                <a:gd name="connsiteX3" fmla="*/ 93268 w 93790"/>
                <a:gd name="connsiteY3" fmla="*/ 25244 h 74266"/>
                <a:gd name="connsiteX4" fmla="*/ 62311 w 93790"/>
                <a:gd name="connsiteY4" fmla="*/ 72869 h 74266"/>
                <a:gd name="connsiteX0" fmla="*/ 52970 w 84416"/>
                <a:gd name="connsiteY0" fmla="*/ 72869 h 75204"/>
                <a:gd name="connsiteX1" fmla="*/ 583 w 84416"/>
                <a:gd name="connsiteY1" fmla="*/ 60963 h 75204"/>
                <a:gd name="connsiteX2" fmla="*/ 29157 w 84416"/>
                <a:gd name="connsiteY2" fmla="*/ 1431 h 75204"/>
                <a:gd name="connsiteX3" fmla="*/ 83927 w 84416"/>
                <a:gd name="connsiteY3" fmla="*/ 25244 h 75204"/>
                <a:gd name="connsiteX4" fmla="*/ 52970 w 84416"/>
                <a:gd name="connsiteY4" fmla="*/ 72869 h 75204"/>
                <a:gd name="connsiteX0" fmla="*/ 52970 w 89110"/>
                <a:gd name="connsiteY0" fmla="*/ 72546 h 74371"/>
                <a:gd name="connsiteX1" fmla="*/ 583 w 89110"/>
                <a:gd name="connsiteY1" fmla="*/ 60640 h 74371"/>
                <a:gd name="connsiteX2" fmla="*/ 29157 w 89110"/>
                <a:gd name="connsiteY2" fmla="*/ 1108 h 74371"/>
                <a:gd name="connsiteX3" fmla="*/ 88689 w 89110"/>
                <a:gd name="connsiteY3" fmla="*/ 32065 h 74371"/>
                <a:gd name="connsiteX4" fmla="*/ 52970 w 89110"/>
                <a:gd name="connsiteY4" fmla="*/ 72546 h 74371"/>
                <a:gd name="connsiteX0" fmla="*/ 52546 w 88433"/>
                <a:gd name="connsiteY0" fmla="*/ 63397 h 65006"/>
                <a:gd name="connsiteX1" fmla="*/ 159 w 88433"/>
                <a:gd name="connsiteY1" fmla="*/ 51491 h 65006"/>
                <a:gd name="connsiteX2" fmla="*/ 38258 w 88433"/>
                <a:gd name="connsiteY2" fmla="*/ 1484 h 65006"/>
                <a:gd name="connsiteX3" fmla="*/ 88265 w 88433"/>
                <a:gd name="connsiteY3" fmla="*/ 22916 h 65006"/>
                <a:gd name="connsiteX4" fmla="*/ 52546 w 88433"/>
                <a:gd name="connsiteY4" fmla="*/ 63397 h 65006"/>
                <a:gd name="connsiteX0" fmla="*/ 59860 w 88906"/>
                <a:gd name="connsiteY0" fmla="*/ 68207 h 69398"/>
                <a:gd name="connsiteX1" fmla="*/ 330 w 88906"/>
                <a:gd name="connsiteY1" fmla="*/ 51539 h 69398"/>
                <a:gd name="connsiteX2" fmla="*/ 38429 w 88906"/>
                <a:gd name="connsiteY2" fmla="*/ 1532 h 69398"/>
                <a:gd name="connsiteX3" fmla="*/ 88436 w 88906"/>
                <a:gd name="connsiteY3" fmla="*/ 22964 h 69398"/>
                <a:gd name="connsiteX4" fmla="*/ 59860 w 88906"/>
                <a:gd name="connsiteY4" fmla="*/ 68207 h 69398"/>
                <a:gd name="connsiteX0" fmla="*/ 59860 w 88906"/>
                <a:gd name="connsiteY0" fmla="*/ 68207 h 69398"/>
                <a:gd name="connsiteX1" fmla="*/ 330 w 88906"/>
                <a:gd name="connsiteY1" fmla="*/ 51539 h 69398"/>
                <a:gd name="connsiteX2" fmla="*/ 38429 w 88906"/>
                <a:gd name="connsiteY2" fmla="*/ 1532 h 69398"/>
                <a:gd name="connsiteX3" fmla="*/ 88436 w 88906"/>
                <a:gd name="connsiteY3" fmla="*/ 22964 h 69398"/>
                <a:gd name="connsiteX4" fmla="*/ 59860 w 88906"/>
                <a:gd name="connsiteY4" fmla="*/ 68207 h 69398"/>
                <a:gd name="connsiteX0" fmla="*/ 54978 w 88562"/>
                <a:gd name="connsiteY0" fmla="*/ 68207 h 69398"/>
                <a:gd name="connsiteX1" fmla="*/ 211 w 88562"/>
                <a:gd name="connsiteY1" fmla="*/ 51539 h 69398"/>
                <a:gd name="connsiteX2" fmla="*/ 38310 w 88562"/>
                <a:gd name="connsiteY2" fmla="*/ 1532 h 69398"/>
                <a:gd name="connsiteX3" fmla="*/ 88317 w 88562"/>
                <a:gd name="connsiteY3" fmla="*/ 22964 h 69398"/>
                <a:gd name="connsiteX4" fmla="*/ 54978 w 88562"/>
                <a:gd name="connsiteY4" fmla="*/ 68207 h 69398"/>
                <a:gd name="connsiteX0" fmla="*/ 55885 w 89942"/>
                <a:gd name="connsiteY0" fmla="*/ 63765 h 64900"/>
                <a:gd name="connsiteX1" fmla="*/ 1118 w 89942"/>
                <a:gd name="connsiteY1" fmla="*/ 47097 h 64900"/>
                <a:gd name="connsiteX2" fmla="*/ 24930 w 89942"/>
                <a:gd name="connsiteY2" fmla="*/ 1852 h 64900"/>
                <a:gd name="connsiteX3" fmla="*/ 89224 w 89942"/>
                <a:gd name="connsiteY3" fmla="*/ 18522 h 64900"/>
                <a:gd name="connsiteX4" fmla="*/ 55885 w 89942"/>
                <a:gd name="connsiteY4" fmla="*/ 63765 h 64900"/>
                <a:gd name="connsiteX0" fmla="*/ 55162 w 88883"/>
                <a:gd name="connsiteY0" fmla="*/ 65971 h 67134"/>
                <a:gd name="connsiteX1" fmla="*/ 395 w 88883"/>
                <a:gd name="connsiteY1" fmla="*/ 49303 h 67134"/>
                <a:gd name="connsiteX2" fmla="*/ 33732 w 88883"/>
                <a:gd name="connsiteY2" fmla="*/ 1677 h 67134"/>
                <a:gd name="connsiteX3" fmla="*/ 88501 w 88883"/>
                <a:gd name="connsiteY3" fmla="*/ 20728 h 67134"/>
                <a:gd name="connsiteX4" fmla="*/ 55162 w 88883"/>
                <a:gd name="connsiteY4" fmla="*/ 65971 h 67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83" h="67134">
                  <a:moveTo>
                    <a:pt x="55162" y="65971"/>
                  </a:moveTo>
                  <a:cubicBezTo>
                    <a:pt x="40478" y="70734"/>
                    <a:pt x="3967" y="60019"/>
                    <a:pt x="395" y="49303"/>
                  </a:cubicBezTo>
                  <a:cubicBezTo>
                    <a:pt x="-3177" y="38587"/>
                    <a:pt x="18254" y="8424"/>
                    <a:pt x="33732" y="1677"/>
                  </a:cubicBezTo>
                  <a:cubicBezTo>
                    <a:pt x="49210" y="-5070"/>
                    <a:pt x="84929" y="10012"/>
                    <a:pt x="88501" y="20728"/>
                  </a:cubicBezTo>
                  <a:cubicBezTo>
                    <a:pt x="92073" y="31444"/>
                    <a:pt x="69846" y="61208"/>
                    <a:pt x="55162" y="65971"/>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F6F4CD33-136F-42B2-5834-924B4970F262}"/>
                </a:ext>
              </a:extLst>
            </p:cNvPr>
            <p:cNvSpPr/>
            <p:nvPr/>
          </p:nvSpPr>
          <p:spPr>
            <a:xfrm rot="1797430">
              <a:off x="10734864" y="1562443"/>
              <a:ext cx="93477" cy="81014"/>
            </a:xfrm>
            <a:custGeom>
              <a:avLst/>
              <a:gdLst>
                <a:gd name="connsiteX0" fmla="*/ 81012 w 81012"/>
                <a:gd name="connsiteY0" fmla="*/ 76212 h 76212"/>
                <a:gd name="connsiteX1" fmla="*/ 42912 w 81012"/>
                <a:gd name="connsiteY1" fmla="*/ 33349 h 76212"/>
                <a:gd name="connsiteX2" fmla="*/ 78631 w 81012"/>
                <a:gd name="connsiteY2" fmla="*/ 14299 h 76212"/>
                <a:gd name="connsiteX3" fmla="*/ 52437 w 81012"/>
                <a:gd name="connsiteY3" fmla="*/ 12 h 76212"/>
                <a:gd name="connsiteX4" fmla="*/ 16719 w 81012"/>
                <a:gd name="connsiteY4" fmla="*/ 16681 h 76212"/>
                <a:gd name="connsiteX5" fmla="*/ 50 w 81012"/>
                <a:gd name="connsiteY5" fmla="*/ 33349 h 76212"/>
                <a:gd name="connsiteX6" fmla="*/ 21481 w 81012"/>
                <a:gd name="connsiteY6" fmla="*/ 38112 h 76212"/>
                <a:gd name="connsiteX7" fmla="*/ 50056 w 81012"/>
                <a:gd name="connsiteY7" fmla="*/ 11918 h 76212"/>
                <a:gd name="connsiteX0" fmla="*/ 81012 w 81012"/>
                <a:gd name="connsiteY0" fmla="*/ 84231 h 84231"/>
                <a:gd name="connsiteX1" fmla="*/ 42912 w 81012"/>
                <a:gd name="connsiteY1" fmla="*/ 41368 h 84231"/>
                <a:gd name="connsiteX2" fmla="*/ 70489 w 81012"/>
                <a:gd name="connsiteY2" fmla="*/ 1923 h 84231"/>
                <a:gd name="connsiteX3" fmla="*/ 52437 w 81012"/>
                <a:gd name="connsiteY3" fmla="*/ 8031 h 84231"/>
                <a:gd name="connsiteX4" fmla="*/ 16719 w 81012"/>
                <a:gd name="connsiteY4" fmla="*/ 24700 h 84231"/>
                <a:gd name="connsiteX5" fmla="*/ 50 w 81012"/>
                <a:gd name="connsiteY5" fmla="*/ 41368 h 84231"/>
                <a:gd name="connsiteX6" fmla="*/ 21481 w 81012"/>
                <a:gd name="connsiteY6" fmla="*/ 46131 h 84231"/>
                <a:gd name="connsiteX7" fmla="*/ 50056 w 81012"/>
                <a:gd name="connsiteY7" fmla="*/ 19937 h 84231"/>
                <a:gd name="connsiteX0" fmla="*/ 81006 w 81006"/>
                <a:gd name="connsiteY0" fmla="*/ 95121 h 95121"/>
                <a:gd name="connsiteX1" fmla="*/ 42906 w 81006"/>
                <a:gd name="connsiteY1" fmla="*/ 52258 h 95121"/>
                <a:gd name="connsiteX2" fmla="*/ 70483 w 81006"/>
                <a:gd name="connsiteY2" fmla="*/ 12813 h 95121"/>
                <a:gd name="connsiteX3" fmla="*/ 42732 w 81006"/>
                <a:gd name="connsiteY3" fmla="*/ 1056 h 95121"/>
                <a:gd name="connsiteX4" fmla="*/ 16713 w 81006"/>
                <a:gd name="connsiteY4" fmla="*/ 35590 h 95121"/>
                <a:gd name="connsiteX5" fmla="*/ 44 w 81006"/>
                <a:gd name="connsiteY5" fmla="*/ 52258 h 95121"/>
                <a:gd name="connsiteX6" fmla="*/ 21475 w 81006"/>
                <a:gd name="connsiteY6" fmla="*/ 57021 h 95121"/>
                <a:gd name="connsiteX7" fmla="*/ 50050 w 81006"/>
                <a:gd name="connsiteY7" fmla="*/ 30827 h 95121"/>
                <a:gd name="connsiteX0" fmla="*/ 82311 w 82311"/>
                <a:gd name="connsiteY0" fmla="*/ 95242 h 95242"/>
                <a:gd name="connsiteX1" fmla="*/ 44211 w 82311"/>
                <a:gd name="connsiteY1" fmla="*/ 52379 h 95242"/>
                <a:gd name="connsiteX2" fmla="*/ 71788 w 82311"/>
                <a:gd name="connsiteY2" fmla="*/ 12934 h 95242"/>
                <a:gd name="connsiteX3" fmla="*/ 44037 w 82311"/>
                <a:gd name="connsiteY3" fmla="*/ 1177 h 95242"/>
                <a:gd name="connsiteX4" fmla="*/ 6807 w 82311"/>
                <a:gd name="connsiteY4" fmla="*/ 37629 h 95242"/>
                <a:gd name="connsiteX5" fmla="*/ 1349 w 82311"/>
                <a:gd name="connsiteY5" fmla="*/ 52379 h 95242"/>
                <a:gd name="connsiteX6" fmla="*/ 22780 w 82311"/>
                <a:gd name="connsiteY6" fmla="*/ 57142 h 95242"/>
                <a:gd name="connsiteX7" fmla="*/ 51355 w 82311"/>
                <a:gd name="connsiteY7" fmla="*/ 30948 h 95242"/>
                <a:gd name="connsiteX0" fmla="*/ 79480 w 79480"/>
                <a:gd name="connsiteY0" fmla="*/ 95242 h 95242"/>
                <a:gd name="connsiteX1" fmla="*/ 41380 w 79480"/>
                <a:gd name="connsiteY1" fmla="*/ 52379 h 95242"/>
                <a:gd name="connsiteX2" fmla="*/ 68957 w 79480"/>
                <a:gd name="connsiteY2" fmla="*/ 12934 h 95242"/>
                <a:gd name="connsiteX3" fmla="*/ 41206 w 79480"/>
                <a:gd name="connsiteY3" fmla="*/ 1177 h 95242"/>
                <a:gd name="connsiteX4" fmla="*/ 3976 w 79480"/>
                <a:gd name="connsiteY4" fmla="*/ 37629 h 95242"/>
                <a:gd name="connsiteX5" fmla="*/ 2861 w 79480"/>
                <a:gd name="connsiteY5" fmla="*/ 61115 h 95242"/>
                <a:gd name="connsiteX6" fmla="*/ 19949 w 79480"/>
                <a:gd name="connsiteY6" fmla="*/ 57142 h 95242"/>
                <a:gd name="connsiteX7" fmla="*/ 48524 w 79480"/>
                <a:gd name="connsiteY7" fmla="*/ 30948 h 95242"/>
                <a:gd name="connsiteX0" fmla="*/ 79698 w 79698"/>
                <a:gd name="connsiteY0" fmla="*/ 95242 h 95242"/>
                <a:gd name="connsiteX1" fmla="*/ 41598 w 79698"/>
                <a:gd name="connsiteY1" fmla="*/ 52379 h 95242"/>
                <a:gd name="connsiteX2" fmla="*/ 69175 w 79698"/>
                <a:gd name="connsiteY2" fmla="*/ 12934 h 95242"/>
                <a:gd name="connsiteX3" fmla="*/ 41424 w 79698"/>
                <a:gd name="connsiteY3" fmla="*/ 1177 h 95242"/>
                <a:gd name="connsiteX4" fmla="*/ 4194 w 79698"/>
                <a:gd name="connsiteY4" fmla="*/ 37629 h 95242"/>
                <a:gd name="connsiteX5" fmla="*/ 3079 w 79698"/>
                <a:gd name="connsiteY5" fmla="*/ 61115 h 95242"/>
                <a:gd name="connsiteX6" fmla="*/ 23922 w 79698"/>
                <a:gd name="connsiteY6" fmla="*/ 51548 h 95242"/>
                <a:gd name="connsiteX7" fmla="*/ 48742 w 79698"/>
                <a:gd name="connsiteY7" fmla="*/ 30948 h 95242"/>
                <a:gd name="connsiteX0" fmla="*/ 79698 w 79698"/>
                <a:gd name="connsiteY0" fmla="*/ 95242 h 95242"/>
                <a:gd name="connsiteX1" fmla="*/ 41598 w 79698"/>
                <a:gd name="connsiteY1" fmla="*/ 52379 h 95242"/>
                <a:gd name="connsiteX2" fmla="*/ 69175 w 79698"/>
                <a:gd name="connsiteY2" fmla="*/ 12934 h 95242"/>
                <a:gd name="connsiteX3" fmla="*/ 41424 w 79698"/>
                <a:gd name="connsiteY3" fmla="*/ 1177 h 95242"/>
                <a:gd name="connsiteX4" fmla="*/ 4194 w 79698"/>
                <a:gd name="connsiteY4" fmla="*/ 37629 h 95242"/>
                <a:gd name="connsiteX5" fmla="*/ 3079 w 79698"/>
                <a:gd name="connsiteY5" fmla="*/ 61115 h 95242"/>
                <a:gd name="connsiteX6" fmla="*/ 23922 w 79698"/>
                <a:gd name="connsiteY6" fmla="*/ 51548 h 95242"/>
                <a:gd name="connsiteX7" fmla="*/ 47632 w 79698"/>
                <a:gd name="connsiteY7" fmla="*/ 28167 h 95242"/>
                <a:gd name="connsiteX0" fmla="*/ 79698 w 79698"/>
                <a:gd name="connsiteY0" fmla="*/ 98378 h 98378"/>
                <a:gd name="connsiteX1" fmla="*/ 41598 w 79698"/>
                <a:gd name="connsiteY1" fmla="*/ 55515 h 98378"/>
                <a:gd name="connsiteX2" fmla="*/ 64462 w 79698"/>
                <a:gd name="connsiteY2" fmla="*/ 6407 h 98378"/>
                <a:gd name="connsiteX3" fmla="*/ 41424 w 79698"/>
                <a:gd name="connsiteY3" fmla="*/ 4313 h 98378"/>
                <a:gd name="connsiteX4" fmla="*/ 4194 w 79698"/>
                <a:gd name="connsiteY4" fmla="*/ 40765 h 98378"/>
                <a:gd name="connsiteX5" fmla="*/ 3079 w 79698"/>
                <a:gd name="connsiteY5" fmla="*/ 64251 h 98378"/>
                <a:gd name="connsiteX6" fmla="*/ 23922 w 79698"/>
                <a:gd name="connsiteY6" fmla="*/ 54684 h 98378"/>
                <a:gd name="connsiteX7" fmla="*/ 47632 w 79698"/>
                <a:gd name="connsiteY7" fmla="*/ 31303 h 98378"/>
                <a:gd name="connsiteX0" fmla="*/ 79585 w 79585"/>
                <a:gd name="connsiteY0" fmla="*/ 99823 h 99823"/>
                <a:gd name="connsiteX1" fmla="*/ 41485 w 79585"/>
                <a:gd name="connsiteY1" fmla="*/ 56960 h 99823"/>
                <a:gd name="connsiteX2" fmla="*/ 64349 w 79585"/>
                <a:gd name="connsiteY2" fmla="*/ 7852 h 99823"/>
                <a:gd name="connsiteX3" fmla="*/ 39559 w 79585"/>
                <a:gd name="connsiteY3" fmla="*/ 3511 h 99823"/>
                <a:gd name="connsiteX4" fmla="*/ 4081 w 79585"/>
                <a:gd name="connsiteY4" fmla="*/ 42210 h 99823"/>
                <a:gd name="connsiteX5" fmla="*/ 2966 w 79585"/>
                <a:gd name="connsiteY5" fmla="*/ 65696 h 99823"/>
                <a:gd name="connsiteX6" fmla="*/ 23809 w 79585"/>
                <a:gd name="connsiteY6" fmla="*/ 56129 h 99823"/>
                <a:gd name="connsiteX7" fmla="*/ 47519 w 79585"/>
                <a:gd name="connsiteY7" fmla="*/ 32748 h 99823"/>
                <a:gd name="connsiteX0" fmla="*/ 79470 w 79470"/>
                <a:gd name="connsiteY0" fmla="*/ 99823 h 99823"/>
                <a:gd name="connsiteX1" fmla="*/ 41370 w 79470"/>
                <a:gd name="connsiteY1" fmla="*/ 56960 h 99823"/>
                <a:gd name="connsiteX2" fmla="*/ 64234 w 79470"/>
                <a:gd name="connsiteY2" fmla="*/ 7852 h 99823"/>
                <a:gd name="connsiteX3" fmla="*/ 39444 w 79470"/>
                <a:gd name="connsiteY3" fmla="*/ 3511 h 99823"/>
                <a:gd name="connsiteX4" fmla="*/ 3966 w 79470"/>
                <a:gd name="connsiteY4" fmla="*/ 42210 h 99823"/>
                <a:gd name="connsiteX5" fmla="*/ 2851 w 79470"/>
                <a:gd name="connsiteY5" fmla="*/ 65696 h 99823"/>
                <a:gd name="connsiteX6" fmla="*/ 21768 w 79470"/>
                <a:gd name="connsiteY6" fmla="*/ 57732 h 99823"/>
                <a:gd name="connsiteX7" fmla="*/ 47404 w 79470"/>
                <a:gd name="connsiteY7" fmla="*/ 32748 h 99823"/>
                <a:gd name="connsiteX0" fmla="*/ 79470 w 79470"/>
                <a:gd name="connsiteY0" fmla="*/ 99823 h 99823"/>
                <a:gd name="connsiteX1" fmla="*/ 41370 w 79470"/>
                <a:gd name="connsiteY1" fmla="*/ 56960 h 99823"/>
                <a:gd name="connsiteX2" fmla="*/ 64234 w 79470"/>
                <a:gd name="connsiteY2" fmla="*/ 7852 h 99823"/>
                <a:gd name="connsiteX3" fmla="*/ 39444 w 79470"/>
                <a:gd name="connsiteY3" fmla="*/ 3511 h 99823"/>
                <a:gd name="connsiteX4" fmla="*/ 3966 w 79470"/>
                <a:gd name="connsiteY4" fmla="*/ 42210 h 99823"/>
                <a:gd name="connsiteX5" fmla="*/ 2851 w 79470"/>
                <a:gd name="connsiteY5" fmla="*/ 65696 h 99823"/>
                <a:gd name="connsiteX6" fmla="*/ 21768 w 79470"/>
                <a:gd name="connsiteY6" fmla="*/ 57732 h 99823"/>
                <a:gd name="connsiteX7" fmla="*/ 44073 w 79470"/>
                <a:gd name="connsiteY7" fmla="*/ 24405 h 99823"/>
                <a:gd name="connsiteX0" fmla="*/ 65026 w 65026"/>
                <a:gd name="connsiteY0" fmla="*/ 95787 h 95787"/>
                <a:gd name="connsiteX1" fmla="*/ 41370 w 65026"/>
                <a:gd name="connsiteY1" fmla="*/ 56960 h 95787"/>
                <a:gd name="connsiteX2" fmla="*/ 64234 w 65026"/>
                <a:gd name="connsiteY2" fmla="*/ 7852 h 95787"/>
                <a:gd name="connsiteX3" fmla="*/ 39444 w 65026"/>
                <a:gd name="connsiteY3" fmla="*/ 3511 h 95787"/>
                <a:gd name="connsiteX4" fmla="*/ 3966 w 65026"/>
                <a:gd name="connsiteY4" fmla="*/ 42210 h 95787"/>
                <a:gd name="connsiteX5" fmla="*/ 2851 w 65026"/>
                <a:gd name="connsiteY5" fmla="*/ 65696 h 95787"/>
                <a:gd name="connsiteX6" fmla="*/ 21768 w 65026"/>
                <a:gd name="connsiteY6" fmla="*/ 57732 h 95787"/>
                <a:gd name="connsiteX7" fmla="*/ 44073 w 65026"/>
                <a:gd name="connsiteY7" fmla="*/ 24405 h 95787"/>
                <a:gd name="connsiteX0" fmla="*/ 65026 w 65026"/>
                <a:gd name="connsiteY0" fmla="*/ 95787 h 95787"/>
                <a:gd name="connsiteX1" fmla="*/ 41370 w 65026"/>
                <a:gd name="connsiteY1" fmla="*/ 56960 h 95787"/>
                <a:gd name="connsiteX2" fmla="*/ 64234 w 65026"/>
                <a:gd name="connsiteY2" fmla="*/ 7852 h 95787"/>
                <a:gd name="connsiteX3" fmla="*/ 39444 w 65026"/>
                <a:gd name="connsiteY3" fmla="*/ 3511 h 95787"/>
                <a:gd name="connsiteX4" fmla="*/ 3966 w 65026"/>
                <a:gd name="connsiteY4" fmla="*/ 42210 h 95787"/>
                <a:gd name="connsiteX5" fmla="*/ 2851 w 65026"/>
                <a:gd name="connsiteY5" fmla="*/ 65696 h 95787"/>
                <a:gd name="connsiteX6" fmla="*/ 21768 w 65026"/>
                <a:gd name="connsiteY6" fmla="*/ 57732 h 95787"/>
                <a:gd name="connsiteX7" fmla="*/ 44073 w 65026"/>
                <a:gd name="connsiteY7" fmla="*/ 24405 h 95787"/>
                <a:gd name="connsiteX0" fmla="*/ 65026 w 65026"/>
                <a:gd name="connsiteY0" fmla="*/ 95787 h 95787"/>
                <a:gd name="connsiteX1" fmla="*/ 41370 w 65026"/>
                <a:gd name="connsiteY1" fmla="*/ 56960 h 95787"/>
                <a:gd name="connsiteX2" fmla="*/ 64234 w 65026"/>
                <a:gd name="connsiteY2" fmla="*/ 7852 h 95787"/>
                <a:gd name="connsiteX3" fmla="*/ 39444 w 65026"/>
                <a:gd name="connsiteY3" fmla="*/ 3511 h 95787"/>
                <a:gd name="connsiteX4" fmla="*/ 3966 w 65026"/>
                <a:gd name="connsiteY4" fmla="*/ 42210 h 95787"/>
                <a:gd name="connsiteX5" fmla="*/ 2851 w 65026"/>
                <a:gd name="connsiteY5" fmla="*/ 65696 h 95787"/>
                <a:gd name="connsiteX6" fmla="*/ 21768 w 65026"/>
                <a:gd name="connsiteY6" fmla="*/ 57732 h 95787"/>
                <a:gd name="connsiteX7" fmla="*/ 44073 w 65026"/>
                <a:gd name="connsiteY7" fmla="*/ 24405 h 95787"/>
                <a:gd name="connsiteX0" fmla="*/ 65026 w 65026"/>
                <a:gd name="connsiteY0" fmla="*/ 95787 h 95787"/>
                <a:gd name="connsiteX1" fmla="*/ 41370 w 65026"/>
                <a:gd name="connsiteY1" fmla="*/ 56960 h 95787"/>
                <a:gd name="connsiteX2" fmla="*/ 64234 w 65026"/>
                <a:gd name="connsiteY2" fmla="*/ 7852 h 95787"/>
                <a:gd name="connsiteX3" fmla="*/ 39444 w 65026"/>
                <a:gd name="connsiteY3" fmla="*/ 3511 h 95787"/>
                <a:gd name="connsiteX4" fmla="*/ 3966 w 65026"/>
                <a:gd name="connsiteY4" fmla="*/ 42210 h 95787"/>
                <a:gd name="connsiteX5" fmla="*/ 2851 w 65026"/>
                <a:gd name="connsiteY5" fmla="*/ 65696 h 95787"/>
                <a:gd name="connsiteX6" fmla="*/ 21768 w 65026"/>
                <a:gd name="connsiteY6" fmla="*/ 57732 h 95787"/>
                <a:gd name="connsiteX7" fmla="*/ 44073 w 65026"/>
                <a:gd name="connsiteY7" fmla="*/ 24405 h 95787"/>
                <a:gd name="connsiteX0" fmla="*/ 64939 w 64939"/>
                <a:gd name="connsiteY0" fmla="*/ 95787 h 95787"/>
                <a:gd name="connsiteX1" fmla="*/ 41283 w 64939"/>
                <a:gd name="connsiteY1" fmla="*/ 56960 h 95787"/>
                <a:gd name="connsiteX2" fmla="*/ 64147 w 64939"/>
                <a:gd name="connsiteY2" fmla="*/ 7852 h 95787"/>
                <a:gd name="connsiteX3" fmla="*/ 39357 w 64939"/>
                <a:gd name="connsiteY3" fmla="*/ 3511 h 95787"/>
                <a:gd name="connsiteX4" fmla="*/ 3879 w 64939"/>
                <a:gd name="connsiteY4" fmla="*/ 42210 h 95787"/>
                <a:gd name="connsiteX5" fmla="*/ 2764 w 64939"/>
                <a:gd name="connsiteY5" fmla="*/ 65696 h 95787"/>
                <a:gd name="connsiteX6" fmla="*/ 20200 w 64939"/>
                <a:gd name="connsiteY6" fmla="*/ 54024 h 95787"/>
                <a:gd name="connsiteX7" fmla="*/ 43986 w 64939"/>
                <a:gd name="connsiteY7" fmla="*/ 24405 h 95787"/>
                <a:gd name="connsiteX0" fmla="*/ 64939 w 64939"/>
                <a:gd name="connsiteY0" fmla="*/ 95787 h 95787"/>
                <a:gd name="connsiteX1" fmla="*/ 41283 w 64939"/>
                <a:gd name="connsiteY1" fmla="*/ 56960 h 95787"/>
                <a:gd name="connsiteX2" fmla="*/ 64147 w 64939"/>
                <a:gd name="connsiteY2" fmla="*/ 7852 h 95787"/>
                <a:gd name="connsiteX3" fmla="*/ 39357 w 64939"/>
                <a:gd name="connsiteY3" fmla="*/ 3511 h 95787"/>
                <a:gd name="connsiteX4" fmla="*/ 3879 w 64939"/>
                <a:gd name="connsiteY4" fmla="*/ 42210 h 95787"/>
                <a:gd name="connsiteX5" fmla="*/ 2764 w 64939"/>
                <a:gd name="connsiteY5" fmla="*/ 65696 h 95787"/>
                <a:gd name="connsiteX6" fmla="*/ 20200 w 64939"/>
                <a:gd name="connsiteY6" fmla="*/ 54024 h 95787"/>
                <a:gd name="connsiteX7" fmla="*/ 43986 w 64939"/>
                <a:gd name="connsiteY7" fmla="*/ 24405 h 95787"/>
                <a:gd name="connsiteX0" fmla="*/ 64939 w 64939"/>
                <a:gd name="connsiteY0" fmla="*/ 95787 h 95787"/>
                <a:gd name="connsiteX1" fmla="*/ 41283 w 64939"/>
                <a:gd name="connsiteY1" fmla="*/ 56960 h 95787"/>
                <a:gd name="connsiteX2" fmla="*/ 64147 w 64939"/>
                <a:gd name="connsiteY2" fmla="*/ 7852 h 95787"/>
                <a:gd name="connsiteX3" fmla="*/ 39357 w 64939"/>
                <a:gd name="connsiteY3" fmla="*/ 3511 h 95787"/>
                <a:gd name="connsiteX4" fmla="*/ 3879 w 64939"/>
                <a:gd name="connsiteY4" fmla="*/ 42210 h 95787"/>
                <a:gd name="connsiteX5" fmla="*/ 2764 w 64939"/>
                <a:gd name="connsiteY5" fmla="*/ 65696 h 95787"/>
                <a:gd name="connsiteX6" fmla="*/ 20200 w 64939"/>
                <a:gd name="connsiteY6" fmla="*/ 54024 h 95787"/>
                <a:gd name="connsiteX7" fmla="*/ 43986 w 64939"/>
                <a:gd name="connsiteY7" fmla="*/ 24405 h 95787"/>
                <a:gd name="connsiteX0" fmla="*/ 66468 w 66468"/>
                <a:gd name="connsiteY0" fmla="*/ 95787 h 95787"/>
                <a:gd name="connsiteX1" fmla="*/ 42812 w 66468"/>
                <a:gd name="connsiteY1" fmla="*/ 56960 h 95787"/>
                <a:gd name="connsiteX2" fmla="*/ 65676 w 66468"/>
                <a:gd name="connsiteY2" fmla="*/ 7852 h 95787"/>
                <a:gd name="connsiteX3" fmla="*/ 40886 w 66468"/>
                <a:gd name="connsiteY3" fmla="*/ 3511 h 95787"/>
                <a:gd name="connsiteX4" fmla="*/ 5408 w 66468"/>
                <a:gd name="connsiteY4" fmla="*/ 42210 h 95787"/>
                <a:gd name="connsiteX5" fmla="*/ 4293 w 66468"/>
                <a:gd name="connsiteY5" fmla="*/ 65696 h 95787"/>
                <a:gd name="connsiteX6" fmla="*/ 45515 w 66468"/>
                <a:gd name="connsiteY6" fmla="*/ 24405 h 95787"/>
                <a:gd name="connsiteX0" fmla="*/ 66393 w 66393"/>
                <a:gd name="connsiteY0" fmla="*/ 95787 h 95787"/>
                <a:gd name="connsiteX1" fmla="*/ 42737 w 66393"/>
                <a:gd name="connsiteY1" fmla="*/ 56960 h 95787"/>
                <a:gd name="connsiteX2" fmla="*/ 65601 w 66393"/>
                <a:gd name="connsiteY2" fmla="*/ 7852 h 95787"/>
                <a:gd name="connsiteX3" fmla="*/ 40811 w 66393"/>
                <a:gd name="connsiteY3" fmla="*/ 3511 h 95787"/>
                <a:gd name="connsiteX4" fmla="*/ 5333 w 66393"/>
                <a:gd name="connsiteY4" fmla="*/ 42210 h 95787"/>
                <a:gd name="connsiteX5" fmla="*/ 4218 w 66393"/>
                <a:gd name="connsiteY5" fmla="*/ 65696 h 95787"/>
                <a:gd name="connsiteX6" fmla="*/ 44330 w 66393"/>
                <a:gd name="connsiteY6" fmla="*/ 21624 h 95787"/>
                <a:gd name="connsiteX0" fmla="*/ 66393 w 66393"/>
                <a:gd name="connsiteY0" fmla="*/ 95787 h 95787"/>
                <a:gd name="connsiteX1" fmla="*/ 42737 w 66393"/>
                <a:gd name="connsiteY1" fmla="*/ 56960 h 95787"/>
                <a:gd name="connsiteX2" fmla="*/ 65601 w 66393"/>
                <a:gd name="connsiteY2" fmla="*/ 7852 h 95787"/>
                <a:gd name="connsiteX3" fmla="*/ 40811 w 66393"/>
                <a:gd name="connsiteY3" fmla="*/ 3511 h 95787"/>
                <a:gd name="connsiteX4" fmla="*/ 5333 w 66393"/>
                <a:gd name="connsiteY4" fmla="*/ 42210 h 95787"/>
                <a:gd name="connsiteX5" fmla="*/ 4218 w 66393"/>
                <a:gd name="connsiteY5" fmla="*/ 65696 h 95787"/>
                <a:gd name="connsiteX6" fmla="*/ 44330 w 66393"/>
                <a:gd name="connsiteY6" fmla="*/ 21624 h 95787"/>
                <a:gd name="connsiteX0" fmla="*/ 66393 w 66393"/>
                <a:gd name="connsiteY0" fmla="*/ 95787 h 95787"/>
                <a:gd name="connsiteX1" fmla="*/ 42737 w 66393"/>
                <a:gd name="connsiteY1" fmla="*/ 56960 h 95787"/>
                <a:gd name="connsiteX2" fmla="*/ 65601 w 66393"/>
                <a:gd name="connsiteY2" fmla="*/ 7852 h 95787"/>
                <a:gd name="connsiteX3" fmla="*/ 40811 w 66393"/>
                <a:gd name="connsiteY3" fmla="*/ 3511 h 95787"/>
                <a:gd name="connsiteX4" fmla="*/ 5333 w 66393"/>
                <a:gd name="connsiteY4" fmla="*/ 42210 h 95787"/>
                <a:gd name="connsiteX5" fmla="*/ 4218 w 66393"/>
                <a:gd name="connsiteY5" fmla="*/ 65696 h 95787"/>
                <a:gd name="connsiteX6" fmla="*/ 44330 w 66393"/>
                <a:gd name="connsiteY6" fmla="*/ 21624 h 95787"/>
                <a:gd name="connsiteX0" fmla="*/ 67831 w 67831"/>
                <a:gd name="connsiteY0" fmla="*/ 95787 h 95787"/>
                <a:gd name="connsiteX1" fmla="*/ 44175 w 67831"/>
                <a:gd name="connsiteY1" fmla="*/ 56960 h 95787"/>
                <a:gd name="connsiteX2" fmla="*/ 67039 w 67831"/>
                <a:gd name="connsiteY2" fmla="*/ 7852 h 95787"/>
                <a:gd name="connsiteX3" fmla="*/ 42249 w 67831"/>
                <a:gd name="connsiteY3" fmla="*/ 3511 h 95787"/>
                <a:gd name="connsiteX4" fmla="*/ 6771 w 67831"/>
                <a:gd name="connsiteY4" fmla="*/ 42210 h 95787"/>
                <a:gd name="connsiteX5" fmla="*/ 3534 w 67831"/>
                <a:gd name="connsiteY5" fmla="*/ 62522 h 95787"/>
                <a:gd name="connsiteX6" fmla="*/ 45768 w 67831"/>
                <a:gd name="connsiteY6" fmla="*/ 21624 h 95787"/>
                <a:gd name="connsiteX0" fmla="*/ 68643 w 68643"/>
                <a:gd name="connsiteY0" fmla="*/ 95787 h 95787"/>
                <a:gd name="connsiteX1" fmla="*/ 44987 w 68643"/>
                <a:gd name="connsiteY1" fmla="*/ 56960 h 95787"/>
                <a:gd name="connsiteX2" fmla="*/ 67851 w 68643"/>
                <a:gd name="connsiteY2" fmla="*/ 7852 h 95787"/>
                <a:gd name="connsiteX3" fmla="*/ 43061 w 68643"/>
                <a:gd name="connsiteY3" fmla="*/ 3511 h 95787"/>
                <a:gd name="connsiteX4" fmla="*/ 7583 w 68643"/>
                <a:gd name="connsiteY4" fmla="*/ 42210 h 95787"/>
                <a:gd name="connsiteX5" fmla="*/ 4346 w 68643"/>
                <a:gd name="connsiteY5" fmla="*/ 62522 h 95787"/>
                <a:gd name="connsiteX6" fmla="*/ 46580 w 68643"/>
                <a:gd name="connsiteY6" fmla="*/ 21624 h 95787"/>
                <a:gd name="connsiteX0" fmla="*/ 68644 w 68644"/>
                <a:gd name="connsiteY0" fmla="*/ 95457 h 95457"/>
                <a:gd name="connsiteX1" fmla="*/ 44988 w 68644"/>
                <a:gd name="connsiteY1" fmla="*/ 56630 h 95457"/>
                <a:gd name="connsiteX2" fmla="*/ 67852 w 68644"/>
                <a:gd name="connsiteY2" fmla="*/ 7522 h 95457"/>
                <a:gd name="connsiteX3" fmla="*/ 43062 w 68644"/>
                <a:gd name="connsiteY3" fmla="*/ 3181 h 95457"/>
                <a:gd name="connsiteX4" fmla="*/ 5734 w 68644"/>
                <a:gd name="connsiteY4" fmla="*/ 37245 h 95457"/>
                <a:gd name="connsiteX5" fmla="*/ 4347 w 68644"/>
                <a:gd name="connsiteY5" fmla="*/ 62192 h 95457"/>
                <a:gd name="connsiteX6" fmla="*/ 46581 w 68644"/>
                <a:gd name="connsiteY6" fmla="*/ 21294 h 95457"/>
                <a:gd name="connsiteX0" fmla="*/ 68807 w 68807"/>
                <a:gd name="connsiteY0" fmla="*/ 96308 h 96308"/>
                <a:gd name="connsiteX1" fmla="*/ 45151 w 68807"/>
                <a:gd name="connsiteY1" fmla="*/ 57481 h 96308"/>
                <a:gd name="connsiteX2" fmla="*/ 68015 w 68807"/>
                <a:gd name="connsiteY2" fmla="*/ 8373 h 96308"/>
                <a:gd name="connsiteX3" fmla="*/ 46164 w 68807"/>
                <a:gd name="connsiteY3" fmla="*/ 2822 h 96308"/>
                <a:gd name="connsiteX4" fmla="*/ 5897 w 68807"/>
                <a:gd name="connsiteY4" fmla="*/ 38096 h 96308"/>
                <a:gd name="connsiteX5" fmla="*/ 4510 w 68807"/>
                <a:gd name="connsiteY5" fmla="*/ 63043 h 96308"/>
                <a:gd name="connsiteX6" fmla="*/ 46744 w 68807"/>
                <a:gd name="connsiteY6" fmla="*/ 22145 h 96308"/>
                <a:gd name="connsiteX0" fmla="*/ 68807 w 68807"/>
                <a:gd name="connsiteY0" fmla="*/ 95945 h 95945"/>
                <a:gd name="connsiteX1" fmla="*/ 42462 w 68807"/>
                <a:gd name="connsiteY1" fmla="*/ 48241 h 95945"/>
                <a:gd name="connsiteX2" fmla="*/ 68015 w 68807"/>
                <a:gd name="connsiteY2" fmla="*/ 8010 h 95945"/>
                <a:gd name="connsiteX3" fmla="*/ 46164 w 68807"/>
                <a:gd name="connsiteY3" fmla="*/ 2459 h 95945"/>
                <a:gd name="connsiteX4" fmla="*/ 5897 w 68807"/>
                <a:gd name="connsiteY4" fmla="*/ 37733 h 95945"/>
                <a:gd name="connsiteX5" fmla="*/ 4510 w 68807"/>
                <a:gd name="connsiteY5" fmla="*/ 62680 h 95945"/>
                <a:gd name="connsiteX6" fmla="*/ 46744 w 68807"/>
                <a:gd name="connsiteY6" fmla="*/ 21782 h 95945"/>
                <a:gd name="connsiteX0" fmla="*/ 60611 w 68037"/>
                <a:gd name="connsiteY0" fmla="*/ 90414 h 90414"/>
                <a:gd name="connsiteX1" fmla="*/ 42462 w 68037"/>
                <a:gd name="connsiteY1" fmla="*/ 48241 h 90414"/>
                <a:gd name="connsiteX2" fmla="*/ 68015 w 68037"/>
                <a:gd name="connsiteY2" fmla="*/ 8010 h 90414"/>
                <a:gd name="connsiteX3" fmla="*/ 46164 w 68037"/>
                <a:gd name="connsiteY3" fmla="*/ 2459 h 90414"/>
                <a:gd name="connsiteX4" fmla="*/ 5897 w 68037"/>
                <a:gd name="connsiteY4" fmla="*/ 37733 h 90414"/>
                <a:gd name="connsiteX5" fmla="*/ 4510 w 68037"/>
                <a:gd name="connsiteY5" fmla="*/ 62680 h 90414"/>
                <a:gd name="connsiteX6" fmla="*/ 46744 w 68037"/>
                <a:gd name="connsiteY6" fmla="*/ 21782 h 90414"/>
                <a:gd name="connsiteX0" fmla="*/ 60611 w 68037"/>
                <a:gd name="connsiteY0" fmla="*/ 90414 h 90414"/>
                <a:gd name="connsiteX1" fmla="*/ 42462 w 68037"/>
                <a:gd name="connsiteY1" fmla="*/ 48241 h 90414"/>
                <a:gd name="connsiteX2" fmla="*/ 68015 w 68037"/>
                <a:gd name="connsiteY2" fmla="*/ 8010 h 90414"/>
                <a:gd name="connsiteX3" fmla="*/ 46164 w 68037"/>
                <a:gd name="connsiteY3" fmla="*/ 2459 h 90414"/>
                <a:gd name="connsiteX4" fmla="*/ 5897 w 68037"/>
                <a:gd name="connsiteY4" fmla="*/ 37733 h 90414"/>
                <a:gd name="connsiteX5" fmla="*/ 4510 w 68037"/>
                <a:gd name="connsiteY5" fmla="*/ 62680 h 90414"/>
                <a:gd name="connsiteX6" fmla="*/ 46744 w 68037"/>
                <a:gd name="connsiteY6" fmla="*/ 21782 h 90414"/>
                <a:gd name="connsiteX0" fmla="*/ 56267 w 68037"/>
                <a:gd name="connsiteY0" fmla="*/ 81678 h 81678"/>
                <a:gd name="connsiteX1" fmla="*/ 42462 w 68037"/>
                <a:gd name="connsiteY1" fmla="*/ 48241 h 81678"/>
                <a:gd name="connsiteX2" fmla="*/ 68015 w 68037"/>
                <a:gd name="connsiteY2" fmla="*/ 8010 h 81678"/>
                <a:gd name="connsiteX3" fmla="*/ 46164 w 68037"/>
                <a:gd name="connsiteY3" fmla="*/ 2459 h 81678"/>
                <a:gd name="connsiteX4" fmla="*/ 5897 w 68037"/>
                <a:gd name="connsiteY4" fmla="*/ 37733 h 81678"/>
                <a:gd name="connsiteX5" fmla="*/ 4510 w 68037"/>
                <a:gd name="connsiteY5" fmla="*/ 62680 h 81678"/>
                <a:gd name="connsiteX6" fmla="*/ 46744 w 68037"/>
                <a:gd name="connsiteY6" fmla="*/ 21782 h 81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037" h="81678">
                  <a:moveTo>
                    <a:pt x="56267" y="81678"/>
                  </a:moveTo>
                  <a:cubicBezTo>
                    <a:pt x="42628" y="54893"/>
                    <a:pt x="40504" y="60519"/>
                    <a:pt x="42462" y="48241"/>
                  </a:cubicBezTo>
                  <a:cubicBezTo>
                    <a:pt x="44420" y="35963"/>
                    <a:pt x="67398" y="15640"/>
                    <a:pt x="68015" y="8010"/>
                  </a:cubicBezTo>
                  <a:cubicBezTo>
                    <a:pt x="68632" y="380"/>
                    <a:pt x="56517" y="-2495"/>
                    <a:pt x="46164" y="2459"/>
                  </a:cubicBezTo>
                  <a:cubicBezTo>
                    <a:pt x="35811" y="7413"/>
                    <a:pt x="12839" y="27696"/>
                    <a:pt x="5897" y="37733"/>
                  </a:cubicBezTo>
                  <a:cubicBezTo>
                    <a:pt x="-1045" y="47770"/>
                    <a:pt x="-2298" y="65339"/>
                    <a:pt x="4510" y="62680"/>
                  </a:cubicBezTo>
                  <a:cubicBezTo>
                    <a:pt x="11318" y="60021"/>
                    <a:pt x="41585" y="41115"/>
                    <a:pt x="46744" y="2178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3" name="Sidebar arrow 4" descr="Cursor with solid fill">
            <a:extLst>
              <a:ext uri="{FF2B5EF4-FFF2-40B4-BE49-F238E27FC236}">
                <a16:creationId xmlns:a16="http://schemas.microsoft.com/office/drawing/2014/main" id="{86467DFE-3CB7-59D9-3829-7573541790F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62557" y="3340635"/>
            <a:ext cx="270672" cy="270672"/>
          </a:xfrm>
          <a:prstGeom prst="rect">
            <a:avLst/>
          </a:prstGeom>
        </p:spPr>
      </p:pic>
      <p:graphicFrame>
        <p:nvGraphicFramePr>
          <p:cNvPr id="35" name="Table 35">
            <a:extLst>
              <a:ext uri="{FF2B5EF4-FFF2-40B4-BE49-F238E27FC236}">
                <a16:creationId xmlns:a16="http://schemas.microsoft.com/office/drawing/2014/main" id="{C193ED26-B15D-A254-71E2-FDE2B581DF84}"/>
              </a:ext>
            </a:extLst>
          </p:cNvPr>
          <p:cNvGraphicFramePr>
            <a:graphicFrameLocks noGrp="1"/>
          </p:cNvGraphicFramePr>
          <p:nvPr>
            <p:extLst>
              <p:ext uri="{D42A27DB-BD31-4B8C-83A1-F6EECF244321}">
                <p14:modId xmlns:p14="http://schemas.microsoft.com/office/powerpoint/2010/main" val="2471676181"/>
              </p:ext>
            </p:extLst>
          </p:nvPr>
        </p:nvGraphicFramePr>
        <p:xfrm>
          <a:off x="7801990" y="3738752"/>
          <a:ext cx="3897042" cy="2651760"/>
        </p:xfrm>
        <a:graphic>
          <a:graphicData uri="http://schemas.openxmlformats.org/drawingml/2006/table">
            <a:tbl>
              <a:tblPr firstRow="1" bandRow="1">
                <a:tableStyleId>{7E9639D4-E3E2-4D34-9284-5A2195B3D0D7}</a:tableStyleId>
              </a:tblPr>
              <a:tblGrid>
                <a:gridCol w="1745770">
                  <a:extLst>
                    <a:ext uri="{9D8B030D-6E8A-4147-A177-3AD203B41FA5}">
                      <a16:colId xmlns:a16="http://schemas.microsoft.com/office/drawing/2014/main" val="3893498157"/>
                    </a:ext>
                  </a:extLst>
                </a:gridCol>
                <a:gridCol w="2151272">
                  <a:extLst>
                    <a:ext uri="{9D8B030D-6E8A-4147-A177-3AD203B41FA5}">
                      <a16:colId xmlns:a16="http://schemas.microsoft.com/office/drawing/2014/main" val="74487294"/>
                    </a:ext>
                  </a:extLst>
                </a:gridCol>
              </a:tblGrid>
              <a:tr h="344732">
                <a:tc>
                  <a:txBody>
                    <a:bodyPr/>
                    <a:lstStyle/>
                    <a:p>
                      <a:pPr algn="ctr"/>
                      <a:r>
                        <a:rPr lang="en-US" dirty="0"/>
                        <a:t>Medications</a:t>
                      </a:r>
                    </a:p>
                  </a:txBody>
                  <a:tcPr>
                    <a:lnB w="12700" cap="flat" cmpd="sng" algn="ctr">
                      <a:solidFill>
                        <a:schemeClr val="tx1"/>
                      </a:solidFill>
                      <a:prstDash val="solid"/>
                      <a:round/>
                      <a:headEnd type="none" w="med" len="med"/>
                      <a:tailEnd type="none" w="med" len="med"/>
                    </a:lnB>
                  </a:tcPr>
                </a:tc>
                <a:tc>
                  <a:txBody>
                    <a:bodyPr/>
                    <a:lstStyle/>
                    <a:p>
                      <a:pPr algn="ctr"/>
                      <a:r>
                        <a:rPr lang="en-US" dirty="0"/>
                        <a:t>Toxicity/Monitoring</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387081"/>
                  </a:ext>
                </a:extLst>
              </a:tr>
              <a:tr h="850024">
                <a:tc>
                  <a:txBody>
                    <a:bodyPr/>
                    <a:lstStyle/>
                    <a:p>
                      <a:pPr algn="ctr"/>
                      <a:r>
                        <a:rPr lang="en-US" dirty="0"/>
                        <a:t>Amiodarone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Pulmonary, thyroid, liver, drug interaction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6944816"/>
                  </a:ext>
                </a:extLst>
              </a:tr>
              <a:tr h="344732">
                <a:tc>
                  <a:txBody>
                    <a:bodyPr/>
                    <a:lstStyle/>
                    <a:p>
                      <a:pPr algn="ctr"/>
                      <a:r>
                        <a:rPr lang="en-US" dirty="0"/>
                        <a:t>Sotalol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dirty="0"/>
                        <a:t>QTc / </a:t>
                      </a:r>
                      <a:r>
                        <a:rPr lang="en-US" dirty="0" err="1"/>
                        <a:t>TdP</a:t>
                      </a:r>
                      <a:endParaRPr lang="en-US" dirty="0"/>
                    </a:p>
                    <a:p>
                      <a:pPr algn="ctr"/>
                      <a:r>
                        <a:rPr lang="en-US" dirty="0"/>
                        <a:t>Renally dose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9269238"/>
                  </a:ext>
                </a:extLst>
              </a:tr>
              <a:tr h="344732">
                <a:tc>
                  <a:txBody>
                    <a:bodyPr/>
                    <a:lstStyle/>
                    <a:p>
                      <a:pPr algn="ctr"/>
                      <a:r>
                        <a:rPr lang="en-US" dirty="0" err="1"/>
                        <a:t>Dofetilide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US" dirty="0"/>
                    </a:p>
                  </a:txBody>
                  <a:tcPr/>
                </a:tc>
                <a:extLst>
                  <a:ext uri="{0D108BD9-81ED-4DB2-BD59-A6C34878D82A}">
                    <a16:rowId xmlns:a16="http://schemas.microsoft.com/office/drawing/2014/main" val="2108050612"/>
                  </a:ext>
                </a:extLst>
              </a:tr>
              <a:tr h="595016">
                <a:tc>
                  <a:txBody>
                    <a:bodyPr/>
                    <a:lstStyle/>
                    <a:p>
                      <a:pPr algn="ctr"/>
                      <a:r>
                        <a:rPr lang="en-US" dirty="0"/>
                        <a:t>Flecainide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Only if no structural heart disease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9330835"/>
                  </a:ext>
                </a:extLst>
              </a:tr>
            </a:tbl>
          </a:graphicData>
        </a:graphic>
      </p:graphicFrame>
    </p:spTree>
    <p:extLst>
      <p:ext uri="{BB962C8B-B14F-4D97-AF65-F5344CB8AC3E}">
        <p14:creationId xmlns:p14="http://schemas.microsoft.com/office/powerpoint/2010/main" val="236772421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par>
                                <p:cTn id="9" presetID="42" presetClass="path" presetSubtype="0" accel="50000" decel="50000" fill="hold" grpId="0" nodeType="withEffect">
                                  <p:stCondLst>
                                    <p:cond delay="0"/>
                                  </p:stCondLst>
                                  <p:childTnLst>
                                    <p:animMotion origin="layout" path="M -4.58333E-6 7.40741E-7 L -0.00065 -0.05394 " pathEditMode="relative" rAng="0" ptsTypes="AA">
                                      <p:cBhvr>
                                        <p:cTn id="10" dur="500" fill="hold"/>
                                        <p:tgtEl>
                                          <p:spTgt spid="66"/>
                                        </p:tgtEl>
                                        <p:attrNameLst>
                                          <p:attrName>ppt_x</p:attrName>
                                          <p:attrName>ppt_y</p:attrName>
                                        </p:attrNameLst>
                                      </p:cBhvr>
                                      <p:rCtr x="-39" y="-2708"/>
                                    </p:animMotion>
                                  </p:childTnLst>
                                </p:cTn>
                              </p:par>
                              <p:par>
                                <p:cTn id="11" presetID="42" presetClass="path" presetSubtype="0" accel="50000" decel="50000" fill="hold" grpId="0" nodeType="withEffect">
                                  <p:stCondLst>
                                    <p:cond delay="0"/>
                                  </p:stCondLst>
                                  <p:childTnLst>
                                    <p:animMotion origin="layout" path="M 3.95833E-6 4.81481E-6 L 0.00039 0.0574 " pathEditMode="relative" rAng="0" ptsTypes="AA">
                                      <p:cBhvr>
                                        <p:cTn id="12" dur="500" fill="hold"/>
                                        <p:tgtEl>
                                          <p:spTgt spid="67"/>
                                        </p:tgtEl>
                                        <p:attrNameLst>
                                          <p:attrName>ppt_x</p:attrName>
                                          <p:attrName>ppt_y</p:attrName>
                                        </p:attrNameLst>
                                      </p:cBhvr>
                                      <p:rCtr x="13" y="2870"/>
                                    </p:animMotion>
                                  </p:childTnLst>
                                </p:cTn>
                              </p:par>
                              <p:par>
                                <p:cTn id="13" presetID="1" presetClass="exit" presetSubtype="0" fill="hold" grpId="0" nodeType="withEffect">
                                  <p:stCondLst>
                                    <p:cond delay="0"/>
                                  </p:stCondLst>
                                  <p:childTnLst>
                                    <p:set>
                                      <p:cBhvr>
                                        <p:cTn id="14" dur="1" fill="hold">
                                          <p:stCondLst>
                                            <p:cond delay="0"/>
                                          </p:stCondLst>
                                        </p:cTn>
                                        <p:tgtEl>
                                          <p:spTgt spid="6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8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4"/>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31" restart="whenNotActive" fill="hold" evtFilter="cancelBubble" nodeType="interactiveSeq">
                <p:stCondLst>
                  <p:cond evt="onClick" delay="0">
                    <p:tgtEl>
                      <p:spTgt spid="104"/>
                    </p:tgtEl>
                  </p:cond>
                </p:stCondLst>
                <p:endSync evt="end" delay="0">
                  <p:rtn val="all"/>
                </p:endSync>
                <p:childTnLst>
                  <p:par>
                    <p:cTn id="32" fill="hold">
                      <p:stCondLst>
                        <p:cond delay="0"/>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88"/>
                                        </p:tgtEl>
                                        <p:attrNameLst>
                                          <p:attrName>style.visibility</p:attrName>
                                        </p:attrNameLst>
                                      </p:cBhvr>
                                      <p:to>
                                        <p:strVal val="visible"/>
                                      </p:to>
                                    </p:set>
                                  </p:childTnLst>
                                </p:cTn>
                              </p:par>
                              <p:par>
                                <p:cTn id="36" presetID="1" presetClass="exit" presetSubtype="0" fill="hold" nodeType="withEffect">
                                  <p:stCondLst>
                                    <p:cond delay="0"/>
                                  </p:stCondLst>
                                  <p:childTnLst>
                                    <p:set>
                                      <p:cBhvr>
                                        <p:cTn id="37" dur="1" fill="hold">
                                          <p:stCondLst>
                                            <p:cond delay="0"/>
                                          </p:stCondLst>
                                        </p:cTn>
                                        <p:tgtEl>
                                          <p:spTgt spid="104"/>
                                        </p:tgtEl>
                                        <p:attrNameLst>
                                          <p:attrName>style.visibility</p:attrName>
                                        </p:attrNameLst>
                                      </p:cBhvr>
                                      <p:to>
                                        <p:strVal val="hidden"/>
                                      </p:to>
                                    </p:set>
                                  </p:childTnLst>
                                </p:cTn>
                              </p:par>
                              <p:par>
                                <p:cTn id="38" presetID="1" presetClass="exit" presetSubtype="0" fill="hold" nodeType="withEffect">
                                  <p:stCondLst>
                                    <p:cond delay="0"/>
                                  </p:stCondLst>
                                  <p:childTnLst>
                                    <p:set>
                                      <p:cBhvr>
                                        <p:cTn id="39" dur="1" fill="hold">
                                          <p:stCondLst>
                                            <p:cond delay="0"/>
                                          </p:stCondLst>
                                        </p:cTn>
                                        <p:tgtEl>
                                          <p:spTgt spid="106"/>
                                        </p:tgtEl>
                                        <p:attrNameLst>
                                          <p:attrName>style.visibility</p:attrName>
                                        </p:attrNameLst>
                                      </p:cBhvr>
                                      <p:to>
                                        <p:strVal val="hidden"/>
                                      </p:to>
                                    </p:set>
                                  </p:childTnLst>
                                </p:cTn>
                              </p:par>
                            </p:childTnLst>
                          </p:cTn>
                        </p:par>
                      </p:childTnLst>
                    </p:cTn>
                  </p:par>
                </p:childTnLst>
              </p:cTn>
              <p:nextCondLst>
                <p:cond evt="onClick" delay="0">
                  <p:tgtEl>
                    <p:spTgt spid="104"/>
                  </p:tgtEl>
                </p:cond>
              </p:nextCondLst>
            </p:seq>
            <p:seq concurrent="1" nextAc="seek">
              <p:cTn id="40" restart="whenNotActive" fill="hold" evtFilter="cancelBubble" nodeType="interactiveSeq">
                <p:stCondLst>
                  <p:cond evt="onClick" delay="0">
                    <p:tgtEl>
                      <p:spTgt spid="99"/>
                    </p:tgtEl>
                  </p:cond>
                </p:stCondLst>
                <p:endSync evt="end" delay="0">
                  <p:rtn val="all"/>
                </p:endSync>
                <p:childTnLst>
                  <p:par>
                    <p:cTn id="41" fill="hold">
                      <p:stCondLst>
                        <p:cond delay="0"/>
                      </p:stCondLst>
                      <p:childTnLst>
                        <p:par>
                          <p:cTn id="42" fill="hold">
                            <p:stCondLst>
                              <p:cond delay="0"/>
                            </p:stCondLst>
                            <p:childTnLst>
                              <p:par>
                                <p:cTn id="43" presetID="1" presetClass="exit" presetSubtype="0" fill="hold" nodeType="withEffect">
                                  <p:stCondLst>
                                    <p:cond delay="0"/>
                                  </p:stCondLst>
                                  <p:childTnLst>
                                    <p:set>
                                      <p:cBhvr>
                                        <p:cTn id="44" dur="1" fill="hold">
                                          <p:stCondLst>
                                            <p:cond delay="0"/>
                                          </p:stCondLst>
                                        </p:cTn>
                                        <p:tgtEl>
                                          <p:spTgt spid="99"/>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90"/>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105"/>
                                        </p:tgtEl>
                                        <p:attrNameLst>
                                          <p:attrName>style.visibility</p:attrName>
                                        </p:attrNameLst>
                                      </p:cBhvr>
                                      <p:to>
                                        <p:strVal val="hidden"/>
                                      </p:to>
                                    </p:set>
                                  </p:childTnLst>
                                </p:cTn>
                              </p:par>
                            </p:childTnLst>
                          </p:cTn>
                        </p:par>
                      </p:childTnLst>
                    </p:cTn>
                  </p:par>
                </p:childTnLst>
              </p:cTn>
              <p:nextCondLst>
                <p:cond evt="onClick" delay="0">
                  <p:tgtEl>
                    <p:spTgt spid="99"/>
                  </p:tgtEl>
                </p:cond>
              </p:nextCondLst>
            </p:seq>
            <p:seq concurrent="1" nextAc="seek">
              <p:cTn id="49" restart="whenNotActive" fill="hold" evtFilter="cancelBubble" nodeType="interactiveSeq">
                <p:stCondLst>
                  <p:cond evt="onClick" delay="0">
                    <p:tgtEl>
                      <p:spTgt spid="54"/>
                    </p:tgtEl>
                  </p:cond>
                </p:stCondLst>
                <p:endSync evt="end" delay="0">
                  <p:rtn val="all"/>
                </p:endSync>
                <p:childTnLst>
                  <p:par>
                    <p:cTn id="50" fill="hold">
                      <p:stCondLst>
                        <p:cond delay="0"/>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49"/>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7"/>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5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2"/>
                                        </p:tgtEl>
                                        <p:attrNameLst>
                                          <p:attrName>style.visibility</p:attrName>
                                        </p:attrNameLst>
                                      </p:cBhvr>
                                      <p:to>
                                        <p:strVal val="visible"/>
                                      </p:to>
                                    </p:set>
                                  </p:childTnLst>
                                </p:cTn>
                              </p:par>
                              <p:par>
                                <p:cTn id="62" presetID="1" presetClass="exit" presetSubtype="0" fill="hold" grpId="0" nodeType="withEffect">
                                  <p:stCondLst>
                                    <p:cond delay="0"/>
                                  </p:stCondLst>
                                  <p:childTnLst>
                                    <p:set>
                                      <p:cBhvr>
                                        <p:cTn id="63" dur="1" fill="hold">
                                          <p:stCondLst>
                                            <p:cond delay="0"/>
                                          </p:stCondLst>
                                        </p:cTn>
                                        <p:tgtEl>
                                          <p:spTgt spid="54"/>
                                        </p:tgtEl>
                                        <p:attrNameLst>
                                          <p:attrName>style.visibility</p:attrName>
                                        </p:attrNameLst>
                                      </p:cBhvr>
                                      <p:to>
                                        <p:strVal val="hidden"/>
                                      </p:to>
                                    </p:set>
                                  </p:childTnLst>
                                </p:cTn>
                              </p:par>
                              <p:par>
                                <p:cTn id="64" presetID="1" presetClass="entr" presetSubtype="0" fill="hold" nodeType="withEffect">
                                  <p:stCondLst>
                                    <p:cond delay="0"/>
                                  </p:stCondLst>
                                  <p:childTnLst>
                                    <p:set>
                                      <p:cBhvr>
                                        <p:cTn id="65" dur="1" fill="hold">
                                          <p:stCondLst>
                                            <p:cond delay="0"/>
                                          </p:stCondLst>
                                        </p:cTn>
                                        <p:tgtEl>
                                          <p:spTgt spid="33"/>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2"/>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21"/>
                                        </p:tgtEl>
                                        <p:attrNameLst>
                                          <p:attrName>style.visibility</p:attrName>
                                        </p:attrNameLst>
                                      </p:cBhvr>
                                      <p:to>
                                        <p:strVal val="visible"/>
                                      </p:to>
                                    </p:set>
                                  </p:childTnLst>
                                </p:cTn>
                              </p:par>
                            </p:childTnLst>
                          </p:cTn>
                        </p:par>
                      </p:childTnLst>
                    </p:cTn>
                  </p:par>
                </p:childTnLst>
              </p:cTn>
              <p:nextCondLst>
                <p:cond evt="onClick" delay="0">
                  <p:tgtEl>
                    <p:spTgt spid="54"/>
                  </p:tgtEl>
                </p:cond>
              </p:nextCondLst>
            </p:seq>
            <p:seq concurrent="1" nextAc="seek">
              <p:cTn id="72" restart="whenNotActive" fill="hold" evtFilter="cancelBubble" nodeType="interactiveSeq">
                <p:stCondLst>
                  <p:cond evt="onClick" delay="0">
                    <p:tgtEl>
                      <p:spTgt spid="62"/>
                    </p:tgtEl>
                  </p:cond>
                </p:stCondLst>
                <p:endSync evt="end" delay="0">
                  <p:rtn val="all"/>
                </p:endSync>
                <p:childTnLst>
                  <p:par>
                    <p:cTn id="73" fill="hold">
                      <p:stCondLst>
                        <p:cond delay="0"/>
                      </p:stCondLst>
                      <p:childTnLst>
                        <p:par>
                          <p:cTn id="74" fill="hold">
                            <p:stCondLst>
                              <p:cond delay="0"/>
                            </p:stCondLst>
                            <p:childTnLst>
                              <p:par>
                                <p:cTn id="75" presetID="1" presetClass="exit" presetSubtype="0" fill="hold" grpId="0" nodeType="clickEffect">
                                  <p:stCondLst>
                                    <p:cond delay="0"/>
                                  </p:stCondLst>
                                  <p:childTnLst>
                                    <p:set>
                                      <p:cBhvr>
                                        <p:cTn id="76" dur="1" fill="hold">
                                          <p:stCondLst>
                                            <p:cond delay="0"/>
                                          </p:stCondLst>
                                        </p:cTn>
                                        <p:tgtEl>
                                          <p:spTgt spid="62"/>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92"/>
                                        </p:tgtEl>
                                        <p:attrNameLst>
                                          <p:attrName>style.visibility</p:attrName>
                                        </p:attrNameLst>
                                      </p:cBhvr>
                                      <p:to>
                                        <p:strVal val="hidden"/>
                                      </p:to>
                                    </p:set>
                                  </p:childTnLst>
                                </p:cTn>
                              </p:par>
                              <p:par>
                                <p:cTn id="79" presetID="1" presetClass="entr" presetSubtype="0" fill="hold" nodeType="withEffect">
                                  <p:stCondLst>
                                    <p:cond delay="0"/>
                                  </p:stCondLst>
                                  <p:childTnLst>
                                    <p:set>
                                      <p:cBhvr>
                                        <p:cTn id="80" dur="1" fill="hold">
                                          <p:stCondLst>
                                            <p:cond delay="0"/>
                                          </p:stCondLst>
                                        </p:cTn>
                                        <p:tgtEl>
                                          <p:spTgt spid="118"/>
                                        </p:tgtEl>
                                        <p:attrNameLst>
                                          <p:attrName>style.visibility</p:attrName>
                                        </p:attrNameLst>
                                      </p:cBhvr>
                                      <p:to>
                                        <p:strVal val="visible"/>
                                      </p:to>
                                    </p:set>
                                  </p:childTnLst>
                                </p:cTn>
                              </p:par>
                            </p:childTnLst>
                          </p:cTn>
                        </p:par>
                      </p:childTnLst>
                    </p:cTn>
                  </p:par>
                </p:childTnLst>
              </p:cTn>
              <p:nextCondLst>
                <p:cond evt="onClick" delay="0">
                  <p:tgtEl>
                    <p:spTgt spid="62"/>
                  </p:tgtEl>
                </p:cond>
              </p:nextCondLst>
            </p:seq>
            <p:seq concurrent="1" nextAc="seek">
              <p:cTn id="81" restart="whenNotActive" fill="hold" evtFilter="cancelBubble" nodeType="interactiveSeq">
                <p:stCondLst>
                  <p:cond evt="onClick" delay="0">
                    <p:tgtEl>
                      <p:spTgt spid="119"/>
                    </p:tgtEl>
                  </p:cond>
                </p:stCondLst>
                <p:endSync evt="end" delay="0">
                  <p:rtn val="all"/>
                </p:endSync>
                <p:childTnLst>
                  <p:par>
                    <p:cTn id="82" fill="hold">
                      <p:stCondLst>
                        <p:cond delay="0"/>
                      </p:stCondLst>
                      <p:childTnLst>
                        <p:par>
                          <p:cTn id="83" fill="hold">
                            <p:stCondLst>
                              <p:cond delay="0"/>
                            </p:stCondLst>
                            <p:childTnLst>
                              <p:par>
                                <p:cTn id="84" presetID="1" presetClass="exit" presetSubtype="0" fill="hold" grpId="0" nodeType="withEffect">
                                  <p:stCondLst>
                                    <p:cond delay="0"/>
                                  </p:stCondLst>
                                  <p:childTnLst>
                                    <p:set>
                                      <p:cBhvr>
                                        <p:cTn id="85" dur="1" fill="hold">
                                          <p:stCondLst>
                                            <p:cond delay="0"/>
                                          </p:stCondLst>
                                        </p:cTn>
                                        <p:tgtEl>
                                          <p:spTgt spid="119"/>
                                        </p:tgtEl>
                                        <p:attrNameLst>
                                          <p:attrName>style.visibility</p:attrName>
                                        </p:attrNameLst>
                                      </p:cBhvr>
                                      <p:to>
                                        <p:strVal val="hidden"/>
                                      </p:to>
                                    </p:set>
                                  </p:childTnLst>
                                </p:cTn>
                              </p:par>
                            </p:childTnLst>
                          </p:cTn>
                        </p:par>
                      </p:childTnLst>
                    </p:cTn>
                  </p:par>
                </p:childTnLst>
              </p:cTn>
              <p:nextCondLst>
                <p:cond evt="onClick" delay="0">
                  <p:tgtEl>
                    <p:spTgt spid="119"/>
                  </p:tgtEl>
                </p:cond>
              </p:nextCondLst>
            </p:seq>
            <p:seq concurrent="1" nextAc="seek">
              <p:cTn id="86" restart="whenNotActive" fill="hold" evtFilter="cancelBubble" nodeType="interactiveSeq">
                <p:stCondLst>
                  <p:cond evt="onClick" delay="0">
                    <p:tgtEl>
                      <p:spTgt spid="39"/>
                    </p:tgtEl>
                  </p:cond>
                </p:stCondLst>
                <p:endSync evt="end" delay="0">
                  <p:rtn val="all"/>
                </p:endSync>
                <p:childTnLst>
                  <p:par>
                    <p:cTn id="87" fill="hold">
                      <p:stCondLst>
                        <p:cond delay="0"/>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5"/>
                                        </p:tgtEl>
                                        <p:attrNameLst>
                                          <p:attrName>style.visibility</p:attrName>
                                        </p:attrNameLst>
                                      </p:cBhvr>
                                      <p:to>
                                        <p:strVal val="visible"/>
                                      </p:to>
                                    </p:set>
                                  </p:childTnLst>
                                </p:cTn>
                              </p:par>
                              <p:par>
                                <p:cTn id="91" presetID="1" presetClass="exit" presetSubtype="0" fill="hold" grpId="1" nodeType="withEffect">
                                  <p:stCondLst>
                                    <p:cond delay="0"/>
                                  </p:stCondLst>
                                  <p:childTnLst>
                                    <p:set>
                                      <p:cBhvr>
                                        <p:cTn id="92" dur="1" fill="hold">
                                          <p:stCondLst>
                                            <p:cond delay="0"/>
                                          </p:stCondLst>
                                        </p:cTn>
                                        <p:tgtEl>
                                          <p:spTgt spid="39"/>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9"/>
                  </p:tgtEl>
                </p:cond>
              </p:nextCondLst>
            </p:seq>
          </p:childTnLst>
        </p:cTn>
      </p:par>
    </p:tnLst>
    <p:bldLst>
      <p:bldP spid="36" grpId="0" animBg="1"/>
      <p:bldP spid="119" grpId="0" animBg="1"/>
      <p:bldP spid="62" grpId="0" animBg="1"/>
      <p:bldP spid="20" grpId="0" animBg="1"/>
      <p:bldP spid="37" grpId="0"/>
      <p:bldP spid="39" grpId="0" animBg="1"/>
      <p:bldP spid="39" grpId="1" animBg="1"/>
      <p:bldP spid="42" grpId="0"/>
      <p:bldP spid="54" grpId="0" animBg="1"/>
      <p:bldP spid="66" grpId="0"/>
      <p:bldP spid="67" grpId="0"/>
      <p:bldP spid="69" grpId="0"/>
      <p:bldP spid="86" grpId="0"/>
      <p:bldP spid="87" grpId="0"/>
      <p:bldP spid="88" grpId="0"/>
      <p:bldP spid="9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ase 1">
            <a:extLst>
              <a:ext uri="{FF2B5EF4-FFF2-40B4-BE49-F238E27FC236}">
                <a16:creationId xmlns:a16="http://schemas.microsoft.com/office/drawing/2014/main" id="{54FE0069-BD5E-4E9C-8F47-D4DBE66EB2AC}"/>
              </a:ext>
            </a:extLst>
          </p:cNvPr>
          <p:cNvSpPr/>
          <p:nvPr/>
        </p:nvSpPr>
        <p:spPr>
          <a:xfrm>
            <a:off x="3049842" y="197245"/>
            <a:ext cx="1371600"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 1a</a:t>
            </a:r>
          </a:p>
        </p:txBody>
      </p:sp>
      <p:pic>
        <p:nvPicPr>
          <p:cNvPr id="19" name="Graphic 18" descr="Cursor with solid fill">
            <a:extLst>
              <a:ext uri="{FF2B5EF4-FFF2-40B4-BE49-F238E27FC236}">
                <a16:creationId xmlns:a16="http://schemas.microsoft.com/office/drawing/2014/main" id="{257E0209-6A64-4BD1-A5E0-F2EEEBA639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16969" y="470126"/>
            <a:ext cx="270672" cy="270672"/>
          </a:xfrm>
          <a:prstGeom prst="rect">
            <a:avLst/>
          </a:prstGeom>
        </p:spPr>
      </p:pic>
      <p:sp>
        <p:nvSpPr>
          <p:cNvPr id="28" name="Case 2">
            <a:extLst>
              <a:ext uri="{FF2B5EF4-FFF2-40B4-BE49-F238E27FC236}">
                <a16:creationId xmlns:a16="http://schemas.microsoft.com/office/drawing/2014/main" id="{3DB9D911-753C-4E8B-A063-EC36C116CB59}"/>
              </a:ext>
            </a:extLst>
          </p:cNvPr>
          <p:cNvSpPr/>
          <p:nvPr/>
        </p:nvSpPr>
        <p:spPr>
          <a:xfrm>
            <a:off x="6327189" y="197245"/>
            <a:ext cx="1371600"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 1b</a:t>
            </a:r>
          </a:p>
        </p:txBody>
      </p:sp>
      <p:pic>
        <p:nvPicPr>
          <p:cNvPr id="29" name="Graphic 28" descr="Cursor with solid fill">
            <a:extLst>
              <a:ext uri="{FF2B5EF4-FFF2-40B4-BE49-F238E27FC236}">
                <a16:creationId xmlns:a16="http://schemas.microsoft.com/office/drawing/2014/main" id="{8CFD6AEC-ACA7-4ED5-8B5D-482356854B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88610" y="455291"/>
            <a:ext cx="270672" cy="270672"/>
          </a:xfrm>
          <a:prstGeom prst="rect">
            <a:avLst/>
          </a:prstGeom>
        </p:spPr>
      </p:pic>
      <p:sp>
        <p:nvSpPr>
          <p:cNvPr id="30" name="Case 3">
            <a:extLst>
              <a:ext uri="{FF2B5EF4-FFF2-40B4-BE49-F238E27FC236}">
                <a16:creationId xmlns:a16="http://schemas.microsoft.com/office/drawing/2014/main" id="{04305E67-CD5D-41A1-B683-697E15EF5E34}"/>
              </a:ext>
            </a:extLst>
          </p:cNvPr>
          <p:cNvSpPr/>
          <p:nvPr/>
        </p:nvSpPr>
        <p:spPr>
          <a:xfrm>
            <a:off x="9623643" y="197245"/>
            <a:ext cx="1371600"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 1c</a:t>
            </a:r>
          </a:p>
        </p:txBody>
      </p:sp>
      <p:pic>
        <p:nvPicPr>
          <p:cNvPr id="31" name="Graphic 30" descr="Cursor with solid fill">
            <a:extLst>
              <a:ext uri="{FF2B5EF4-FFF2-40B4-BE49-F238E27FC236}">
                <a16:creationId xmlns:a16="http://schemas.microsoft.com/office/drawing/2014/main" id="{9613D184-613C-4034-A870-6ECBC2F9281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90496" y="455291"/>
            <a:ext cx="270672" cy="270672"/>
          </a:xfrm>
          <a:prstGeom prst="rect">
            <a:avLst/>
          </a:prstGeom>
        </p:spPr>
      </p:pic>
      <p:cxnSp>
        <p:nvCxnSpPr>
          <p:cNvPr id="3" name="Straight Connector 2">
            <a:extLst>
              <a:ext uri="{FF2B5EF4-FFF2-40B4-BE49-F238E27FC236}">
                <a16:creationId xmlns:a16="http://schemas.microsoft.com/office/drawing/2014/main" id="{9F3DC473-34A1-4CE0-AD85-44D5A7417B0B}"/>
              </a:ext>
            </a:extLst>
          </p:cNvPr>
          <p:cNvCxnSpPr>
            <a:cxnSpLocks/>
          </p:cNvCxnSpPr>
          <p:nvPr/>
        </p:nvCxnSpPr>
        <p:spPr>
          <a:xfrm>
            <a:off x="5250263" y="197245"/>
            <a:ext cx="0" cy="6451205"/>
          </a:xfrm>
          <a:prstGeom prst="line">
            <a:avLst/>
          </a:prstGeom>
          <a:ln w="38100"/>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467F75F-2EC6-4D58-8EE4-8F14C980E783}"/>
              </a:ext>
            </a:extLst>
          </p:cNvPr>
          <p:cNvCxnSpPr>
            <a:cxnSpLocks/>
          </p:cNvCxnSpPr>
          <p:nvPr/>
        </p:nvCxnSpPr>
        <p:spPr>
          <a:xfrm>
            <a:off x="8641054" y="197245"/>
            <a:ext cx="0" cy="6471286"/>
          </a:xfrm>
          <a:prstGeom prst="line">
            <a:avLst/>
          </a:prstGeom>
          <a:ln w="38100"/>
        </p:spPr>
        <p:style>
          <a:lnRef idx="1">
            <a:schemeClr val="dk1"/>
          </a:lnRef>
          <a:fillRef idx="0">
            <a:schemeClr val="dk1"/>
          </a:fillRef>
          <a:effectRef idx="0">
            <a:schemeClr val="dk1"/>
          </a:effectRef>
          <a:fontRef idx="minor">
            <a:schemeClr val="tx1"/>
          </a:fontRef>
        </p:style>
      </p:cxnSp>
      <p:sp>
        <p:nvSpPr>
          <p:cNvPr id="6" name="Case 1 stem">
            <a:extLst>
              <a:ext uri="{FF2B5EF4-FFF2-40B4-BE49-F238E27FC236}">
                <a16:creationId xmlns:a16="http://schemas.microsoft.com/office/drawing/2014/main" id="{EE5CF056-B12F-4BAB-8EAA-A4A1F99EBB4D}"/>
              </a:ext>
            </a:extLst>
          </p:cNvPr>
          <p:cNvSpPr txBox="1"/>
          <p:nvPr/>
        </p:nvSpPr>
        <p:spPr>
          <a:xfrm>
            <a:off x="2315264" y="700563"/>
            <a:ext cx="2818712" cy="1384995"/>
          </a:xfrm>
          <a:prstGeom prst="rect">
            <a:avLst/>
          </a:prstGeom>
          <a:noFill/>
        </p:spPr>
        <p:txBody>
          <a:bodyPr wrap="square" rtlCol="0">
            <a:spAutoFit/>
          </a:bodyPr>
          <a:lstStyle/>
          <a:p>
            <a:r>
              <a:rPr lang="en-US" sz="1400" dirty="0"/>
              <a:t>59 </a:t>
            </a:r>
            <a:r>
              <a:rPr lang="en-US" sz="1400" dirty="0" err="1"/>
              <a:t>yo</a:t>
            </a:r>
            <a:r>
              <a:rPr lang="en-US" sz="1400" dirty="0"/>
              <a:t> M with HLD, OA on chronic NSAIDs presents with dyspnea on exertion. On exam, he is found to have AF with a HR of 115 bpm. BMI is 45. TTE shows LVEF 58% without valvular disease.</a:t>
            </a:r>
          </a:p>
        </p:txBody>
      </p:sp>
      <p:sp>
        <p:nvSpPr>
          <p:cNvPr id="34" name="Case 1 Question 1">
            <a:extLst>
              <a:ext uri="{FF2B5EF4-FFF2-40B4-BE49-F238E27FC236}">
                <a16:creationId xmlns:a16="http://schemas.microsoft.com/office/drawing/2014/main" id="{27CD699D-5524-4807-8DDF-CFFCE617F7A3}"/>
              </a:ext>
            </a:extLst>
          </p:cNvPr>
          <p:cNvSpPr/>
          <p:nvPr/>
        </p:nvSpPr>
        <p:spPr>
          <a:xfrm>
            <a:off x="2347957" y="2145760"/>
            <a:ext cx="2714947"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Rate control?</a:t>
            </a:r>
          </a:p>
        </p:txBody>
      </p:sp>
      <p:sp>
        <p:nvSpPr>
          <p:cNvPr id="36" name="Case 1 Answer 1">
            <a:extLst>
              <a:ext uri="{FF2B5EF4-FFF2-40B4-BE49-F238E27FC236}">
                <a16:creationId xmlns:a16="http://schemas.microsoft.com/office/drawing/2014/main" id="{0EBD669A-1311-43D4-9C2E-39BF5A0ECBF3}"/>
              </a:ext>
            </a:extLst>
          </p:cNvPr>
          <p:cNvSpPr txBox="1"/>
          <p:nvPr/>
        </p:nvSpPr>
        <p:spPr>
          <a:xfrm>
            <a:off x="2347959" y="2583922"/>
            <a:ext cx="2786013" cy="954107"/>
          </a:xfrm>
          <a:prstGeom prst="rect">
            <a:avLst/>
          </a:prstGeom>
          <a:noFill/>
        </p:spPr>
        <p:txBody>
          <a:bodyPr wrap="square" rtlCol="0">
            <a:spAutoFit/>
          </a:bodyPr>
          <a:lstStyle/>
          <a:p>
            <a:pPr algn="ctr"/>
            <a:r>
              <a:rPr lang="en-US" sz="1400" dirty="0"/>
              <a:t>Goal HR &lt;110 bpm. A </a:t>
            </a:r>
            <a:r>
              <a:rPr lang="en-US" sz="1400" b="1" dirty="0"/>
              <a:t>beta-blocker</a:t>
            </a:r>
            <a:r>
              <a:rPr lang="en-US" sz="1400" dirty="0"/>
              <a:t> (e.g., metoprolol) or </a:t>
            </a:r>
            <a:r>
              <a:rPr lang="en-US" sz="1400" b="1" dirty="0"/>
              <a:t>calcium channel blocker </a:t>
            </a:r>
            <a:r>
              <a:rPr lang="en-US" sz="1400" dirty="0"/>
              <a:t>(e.g., diltiazem) can be used in this setting.</a:t>
            </a:r>
          </a:p>
        </p:txBody>
      </p:sp>
      <p:sp>
        <p:nvSpPr>
          <p:cNvPr id="37" name="Case 1 Question 2">
            <a:extLst>
              <a:ext uri="{FF2B5EF4-FFF2-40B4-BE49-F238E27FC236}">
                <a16:creationId xmlns:a16="http://schemas.microsoft.com/office/drawing/2014/main" id="{3D504DDE-A211-4E97-B1BE-94AD60053F65}"/>
              </a:ext>
            </a:extLst>
          </p:cNvPr>
          <p:cNvSpPr/>
          <p:nvPr/>
        </p:nvSpPr>
        <p:spPr>
          <a:xfrm>
            <a:off x="2347957" y="5024412"/>
            <a:ext cx="2714947"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Anticoagulation?</a:t>
            </a:r>
          </a:p>
        </p:txBody>
      </p:sp>
      <p:pic>
        <p:nvPicPr>
          <p:cNvPr id="38" name="Graphic 37" descr="Cursor with solid fill">
            <a:extLst>
              <a:ext uri="{FF2B5EF4-FFF2-40B4-BE49-F238E27FC236}">
                <a16:creationId xmlns:a16="http://schemas.microsoft.com/office/drawing/2014/main" id="{64DEF6C0-174E-4A59-BE9A-7E2D8A631D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48561" y="2420319"/>
            <a:ext cx="270672" cy="270672"/>
          </a:xfrm>
          <a:prstGeom prst="rect">
            <a:avLst/>
          </a:prstGeom>
        </p:spPr>
      </p:pic>
      <p:sp>
        <p:nvSpPr>
          <p:cNvPr id="39" name="Case 1 Answer 2">
            <a:extLst>
              <a:ext uri="{FF2B5EF4-FFF2-40B4-BE49-F238E27FC236}">
                <a16:creationId xmlns:a16="http://schemas.microsoft.com/office/drawing/2014/main" id="{38A1EAB5-6FD6-431F-8B0A-DB3837605A46}"/>
              </a:ext>
            </a:extLst>
          </p:cNvPr>
          <p:cNvSpPr txBox="1"/>
          <p:nvPr/>
        </p:nvSpPr>
        <p:spPr>
          <a:xfrm>
            <a:off x="2241314" y="5474300"/>
            <a:ext cx="3001927" cy="523220"/>
          </a:xfrm>
          <a:prstGeom prst="rect">
            <a:avLst/>
          </a:prstGeom>
          <a:noFill/>
        </p:spPr>
        <p:txBody>
          <a:bodyPr wrap="square" rtlCol="0">
            <a:spAutoFit/>
          </a:bodyPr>
          <a:lstStyle/>
          <a:p>
            <a:pPr algn="ctr"/>
            <a:r>
              <a:rPr lang="en-US" sz="1400" dirty="0"/>
              <a:t>CHADS-VASc: 0. HAS-BLED 1 (NSAIDs). Anticoagulation not indicated.</a:t>
            </a:r>
          </a:p>
        </p:txBody>
      </p:sp>
      <p:sp>
        <p:nvSpPr>
          <p:cNvPr id="46" name="Case 2 stem">
            <a:extLst>
              <a:ext uri="{FF2B5EF4-FFF2-40B4-BE49-F238E27FC236}">
                <a16:creationId xmlns:a16="http://schemas.microsoft.com/office/drawing/2014/main" id="{71873D1E-0B14-427A-9FBF-BEA5E7332DCC}"/>
              </a:ext>
            </a:extLst>
          </p:cNvPr>
          <p:cNvSpPr txBox="1"/>
          <p:nvPr/>
        </p:nvSpPr>
        <p:spPr>
          <a:xfrm>
            <a:off x="5416164" y="706035"/>
            <a:ext cx="3131628" cy="738664"/>
          </a:xfrm>
          <a:prstGeom prst="rect">
            <a:avLst/>
          </a:prstGeom>
          <a:noFill/>
        </p:spPr>
        <p:txBody>
          <a:bodyPr wrap="square" rtlCol="0">
            <a:spAutoFit/>
          </a:bodyPr>
          <a:lstStyle/>
          <a:p>
            <a:r>
              <a:rPr lang="en-US" sz="1400" dirty="0"/>
              <a:t>A few weeks later, he returns to clinic. HR at home has been in the 95-110 bpm. He has ongoing dyspnea. </a:t>
            </a:r>
          </a:p>
        </p:txBody>
      </p:sp>
      <p:sp>
        <p:nvSpPr>
          <p:cNvPr id="47" name="Case 2 Question 1">
            <a:extLst>
              <a:ext uri="{FF2B5EF4-FFF2-40B4-BE49-F238E27FC236}">
                <a16:creationId xmlns:a16="http://schemas.microsoft.com/office/drawing/2014/main" id="{02C9AA35-457B-461B-941D-9E9E1E9DDCE6}"/>
              </a:ext>
            </a:extLst>
          </p:cNvPr>
          <p:cNvSpPr/>
          <p:nvPr/>
        </p:nvSpPr>
        <p:spPr>
          <a:xfrm>
            <a:off x="5406387" y="1560930"/>
            <a:ext cx="3040118"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Rate control?</a:t>
            </a:r>
          </a:p>
        </p:txBody>
      </p:sp>
      <p:pic>
        <p:nvPicPr>
          <p:cNvPr id="48" name="Graphic 47" descr="Cursor with solid fill">
            <a:extLst>
              <a:ext uri="{FF2B5EF4-FFF2-40B4-BE49-F238E27FC236}">
                <a16:creationId xmlns:a16="http://schemas.microsoft.com/office/drawing/2014/main" id="{0671C797-E47C-4C57-B433-2DD23FC69B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48628" y="1832620"/>
            <a:ext cx="270672" cy="270672"/>
          </a:xfrm>
          <a:prstGeom prst="rect">
            <a:avLst/>
          </a:prstGeom>
        </p:spPr>
      </p:pic>
      <p:sp>
        <p:nvSpPr>
          <p:cNvPr id="49" name="Case 2 Answer 1">
            <a:extLst>
              <a:ext uri="{FF2B5EF4-FFF2-40B4-BE49-F238E27FC236}">
                <a16:creationId xmlns:a16="http://schemas.microsoft.com/office/drawing/2014/main" id="{B76E7352-0B0A-4F9A-B0AC-5CBF14F890D6}"/>
              </a:ext>
            </a:extLst>
          </p:cNvPr>
          <p:cNvSpPr txBox="1"/>
          <p:nvPr/>
        </p:nvSpPr>
        <p:spPr>
          <a:xfrm>
            <a:off x="5415697" y="1992345"/>
            <a:ext cx="2986078" cy="523220"/>
          </a:xfrm>
          <a:prstGeom prst="rect">
            <a:avLst/>
          </a:prstGeom>
          <a:noFill/>
        </p:spPr>
        <p:txBody>
          <a:bodyPr wrap="square" rtlCol="0">
            <a:spAutoFit/>
          </a:bodyPr>
          <a:lstStyle/>
          <a:p>
            <a:pPr algn="ctr"/>
            <a:r>
              <a:rPr lang="en-US" sz="1400" dirty="0"/>
              <a:t>Consider ↑ rate control to target ↓ HR, as this may help with symptoms.</a:t>
            </a:r>
          </a:p>
        </p:txBody>
      </p:sp>
      <p:sp>
        <p:nvSpPr>
          <p:cNvPr id="53" name="Case 2 Question 3">
            <a:extLst>
              <a:ext uri="{FF2B5EF4-FFF2-40B4-BE49-F238E27FC236}">
                <a16:creationId xmlns:a16="http://schemas.microsoft.com/office/drawing/2014/main" id="{6892D000-2E9B-4FFC-AF65-61683E8DC4F5}"/>
              </a:ext>
            </a:extLst>
          </p:cNvPr>
          <p:cNvSpPr/>
          <p:nvPr/>
        </p:nvSpPr>
        <p:spPr>
          <a:xfrm>
            <a:off x="5406387" y="2640970"/>
            <a:ext cx="3040118"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Rhythm control?</a:t>
            </a:r>
          </a:p>
        </p:txBody>
      </p:sp>
      <p:pic>
        <p:nvPicPr>
          <p:cNvPr id="54" name="Graphic 53" descr="Cursor with solid fill">
            <a:extLst>
              <a:ext uri="{FF2B5EF4-FFF2-40B4-BE49-F238E27FC236}">
                <a16:creationId xmlns:a16="http://schemas.microsoft.com/office/drawing/2014/main" id="{463C7456-7126-4FDD-B65B-6F92E7A9B7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48628" y="2904441"/>
            <a:ext cx="270672" cy="270672"/>
          </a:xfrm>
          <a:prstGeom prst="rect">
            <a:avLst/>
          </a:prstGeom>
        </p:spPr>
      </p:pic>
      <p:sp>
        <p:nvSpPr>
          <p:cNvPr id="55" name="Case 2 Answer 3">
            <a:extLst>
              <a:ext uri="{FF2B5EF4-FFF2-40B4-BE49-F238E27FC236}">
                <a16:creationId xmlns:a16="http://schemas.microsoft.com/office/drawing/2014/main" id="{922983B6-7A48-4426-AB5E-4FDD90841F02}"/>
              </a:ext>
            </a:extLst>
          </p:cNvPr>
          <p:cNvSpPr txBox="1"/>
          <p:nvPr/>
        </p:nvSpPr>
        <p:spPr>
          <a:xfrm>
            <a:off x="5416763" y="3055451"/>
            <a:ext cx="3039123" cy="1169551"/>
          </a:xfrm>
          <a:prstGeom prst="rect">
            <a:avLst/>
          </a:prstGeom>
          <a:noFill/>
        </p:spPr>
        <p:txBody>
          <a:bodyPr wrap="square" rtlCol="0">
            <a:spAutoFit/>
          </a:bodyPr>
          <a:lstStyle/>
          <a:p>
            <a:pPr algn="ctr"/>
            <a:r>
              <a:rPr lang="en-US" sz="1400" dirty="0"/>
              <a:t>Consider rhythm control given persistent symptoms.</a:t>
            </a:r>
          </a:p>
          <a:p>
            <a:pPr algn="ctr"/>
            <a:r>
              <a:rPr lang="en-US" sz="1400" dirty="0"/>
              <a:t>Reduce risk by managing comorbidities (weight loss, statin for HLD, screen for OSA and substance use). </a:t>
            </a:r>
          </a:p>
        </p:txBody>
      </p:sp>
      <p:sp>
        <p:nvSpPr>
          <p:cNvPr id="56" name="Case 2 Question 4">
            <a:extLst>
              <a:ext uri="{FF2B5EF4-FFF2-40B4-BE49-F238E27FC236}">
                <a16:creationId xmlns:a16="http://schemas.microsoft.com/office/drawing/2014/main" id="{6C2B7592-6EE1-45A5-8D24-D651A4D742E1}"/>
              </a:ext>
            </a:extLst>
          </p:cNvPr>
          <p:cNvSpPr/>
          <p:nvPr/>
        </p:nvSpPr>
        <p:spPr>
          <a:xfrm>
            <a:off x="5406387" y="4765299"/>
            <a:ext cx="3040118"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Anticoagulation?</a:t>
            </a:r>
          </a:p>
        </p:txBody>
      </p:sp>
      <p:pic>
        <p:nvPicPr>
          <p:cNvPr id="57" name="Graphic 56" descr="Cursor with solid fill">
            <a:extLst>
              <a:ext uri="{FF2B5EF4-FFF2-40B4-BE49-F238E27FC236}">
                <a16:creationId xmlns:a16="http://schemas.microsoft.com/office/drawing/2014/main" id="{49A79CD2-5DCB-4CC2-8CB9-7E9502F2A2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48628" y="5037415"/>
            <a:ext cx="270672" cy="270672"/>
          </a:xfrm>
          <a:prstGeom prst="rect">
            <a:avLst/>
          </a:prstGeom>
        </p:spPr>
      </p:pic>
      <p:sp>
        <p:nvSpPr>
          <p:cNvPr id="58" name="Case 2 Answer 4">
            <a:extLst>
              <a:ext uri="{FF2B5EF4-FFF2-40B4-BE49-F238E27FC236}">
                <a16:creationId xmlns:a16="http://schemas.microsoft.com/office/drawing/2014/main" id="{18D1708B-A2CC-41A8-97F9-BB71CAAC22B5}"/>
              </a:ext>
            </a:extLst>
          </p:cNvPr>
          <p:cNvSpPr txBox="1"/>
          <p:nvPr/>
        </p:nvSpPr>
        <p:spPr>
          <a:xfrm>
            <a:off x="5335215" y="5241343"/>
            <a:ext cx="3199377" cy="1600438"/>
          </a:xfrm>
          <a:prstGeom prst="rect">
            <a:avLst/>
          </a:prstGeom>
          <a:noFill/>
        </p:spPr>
        <p:txBody>
          <a:bodyPr wrap="square" rtlCol="0">
            <a:spAutoFit/>
          </a:bodyPr>
          <a:lstStyle/>
          <a:p>
            <a:pPr marL="168275" indent="-168275">
              <a:buFont typeface="Arial" panose="020B0604020202020204" pitchFamily="34" charset="0"/>
              <a:buChar char="•"/>
            </a:pPr>
            <a:r>
              <a:rPr lang="en-US" sz="1400" dirty="0"/>
              <a:t>Before cardioversion: 3 weeks of OAC or TEE with cardioversion</a:t>
            </a:r>
          </a:p>
          <a:p>
            <a:pPr marL="168275" indent="-168275">
              <a:buFont typeface="Arial" panose="020B0604020202020204" pitchFamily="34" charset="0"/>
              <a:buChar char="•"/>
            </a:pPr>
            <a:r>
              <a:rPr lang="en-US" sz="1400" dirty="0"/>
              <a:t>After cardioversion: 4 weeks of OAC even though his CHADSVASC is 0 </a:t>
            </a:r>
          </a:p>
          <a:p>
            <a:pPr marL="168275" indent="-168275">
              <a:buFont typeface="Arial" panose="020B0604020202020204" pitchFamily="34" charset="0"/>
              <a:buChar char="•"/>
            </a:pPr>
            <a:r>
              <a:rPr lang="en-US" sz="1400" dirty="0"/>
              <a:t>Use apixaban or rivaroxaban due to BMI</a:t>
            </a:r>
          </a:p>
          <a:p>
            <a:pPr algn="ctr"/>
            <a:endParaRPr lang="en-US" sz="1400" dirty="0"/>
          </a:p>
        </p:txBody>
      </p:sp>
      <p:sp>
        <p:nvSpPr>
          <p:cNvPr id="59" name="Case 3 stem">
            <a:extLst>
              <a:ext uri="{FF2B5EF4-FFF2-40B4-BE49-F238E27FC236}">
                <a16:creationId xmlns:a16="http://schemas.microsoft.com/office/drawing/2014/main" id="{89965C16-6985-4890-85C3-B2809D26EF18}"/>
              </a:ext>
            </a:extLst>
          </p:cNvPr>
          <p:cNvSpPr txBox="1"/>
          <p:nvPr/>
        </p:nvSpPr>
        <p:spPr>
          <a:xfrm>
            <a:off x="8712563" y="674454"/>
            <a:ext cx="3299260" cy="1908215"/>
          </a:xfrm>
          <a:prstGeom prst="rect">
            <a:avLst/>
          </a:prstGeom>
          <a:noFill/>
        </p:spPr>
        <p:txBody>
          <a:bodyPr wrap="square" rtlCol="0">
            <a:spAutoFit/>
          </a:bodyPr>
          <a:lstStyle/>
          <a:p>
            <a:r>
              <a:rPr lang="en-US" sz="1400" dirty="0"/>
              <a:t>Five years later, he is admitted for a GI bleed due to a gastric ulcer and intermittent AF. </a:t>
            </a:r>
          </a:p>
          <a:p>
            <a:endParaRPr lang="en-US" sz="600" dirty="0"/>
          </a:p>
          <a:p>
            <a:r>
              <a:rPr lang="en-US" sz="1400" dirty="0"/>
              <a:t>Two years after this, he returns to clinic for a follow-up. He is now 66 </a:t>
            </a:r>
            <a:r>
              <a:rPr lang="en-US" sz="1400" dirty="0" err="1"/>
              <a:t>yo</a:t>
            </a:r>
            <a:r>
              <a:rPr lang="en-US" sz="1400" dirty="0"/>
              <a:t>. His vital show  BP is 165/90 with normal HR. ECG confirms normal sinus rhythm. He denies any episodes of dyspnea. </a:t>
            </a:r>
          </a:p>
        </p:txBody>
      </p:sp>
      <p:sp>
        <p:nvSpPr>
          <p:cNvPr id="66" name="Case 3 Question 3">
            <a:extLst>
              <a:ext uri="{FF2B5EF4-FFF2-40B4-BE49-F238E27FC236}">
                <a16:creationId xmlns:a16="http://schemas.microsoft.com/office/drawing/2014/main" id="{8C380599-05CC-4DBD-ADC8-F6456A99F048}"/>
              </a:ext>
            </a:extLst>
          </p:cNvPr>
          <p:cNvSpPr/>
          <p:nvPr/>
        </p:nvSpPr>
        <p:spPr>
          <a:xfrm>
            <a:off x="8781513" y="2625764"/>
            <a:ext cx="3056692"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Rate and rhythm control?</a:t>
            </a:r>
          </a:p>
        </p:txBody>
      </p:sp>
      <p:pic>
        <p:nvPicPr>
          <p:cNvPr id="67" name="Graphic 66" descr="Cursor with solid fill">
            <a:extLst>
              <a:ext uri="{FF2B5EF4-FFF2-40B4-BE49-F238E27FC236}">
                <a16:creationId xmlns:a16="http://schemas.microsoft.com/office/drawing/2014/main" id="{3D0EBE55-BCC1-480C-A016-51FE5E575A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30197" y="2892386"/>
            <a:ext cx="270672" cy="270672"/>
          </a:xfrm>
          <a:prstGeom prst="rect">
            <a:avLst/>
          </a:prstGeom>
        </p:spPr>
      </p:pic>
      <p:sp>
        <p:nvSpPr>
          <p:cNvPr id="68" name="Case 3 Answer 3">
            <a:extLst>
              <a:ext uri="{FF2B5EF4-FFF2-40B4-BE49-F238E27FC236}">
                <a16:creationId xmlns:a16="http://schemas.microsoft.com/office/drawing/2014/main" id="{74C72178-AF8F-4E9A-A775-2AEB604B977E}"/>
              </a:ext>
            </a:extLst>
          </p:cNvPr>
          <p:cNvSpPr txBox="1"/>
          <p:nvPr/>
        </p:nvSpPr>
        <p:spPr>
          <a:xfrm>
            <a:off x="8781004" y="3045273"/>
            <a:ext cx="3057201" cy="738664"/>
          </a:xfrm>
          <a:prstGeom prst="rect">
            <a:avLst/>
          </a:prstGeom>
          <a:noFill/>
        </p:spPr>
        <p:txBody>
          <a:bodyPr wrap="square" rtlCol="0">
            <a:spAutoFit/>
          </a:bodyPr>
          <a:lstStyle/>
          <a:p>
            <a:pPr algn="ctr"/>
            <a:r>
              <a:rPr lang="en-US" sz="1400" dirty="0"/>
              <a:t>Currently in sinus rhythm. No rate control need unless he continues to have paroxysms of AF.</a:t>
            </a:r>
          </a:p>
        </p:txBody>
      </p:sp>
      <p:sp>
        <p:nvSpPr>
          <p:cNvPr id="69" name="Case 3 Question 4">
            <a:extLst>
              <a:ext uri="{FF2B5EF4-FFF2-40B4-BE49-F238E27FC236}">
                <a16:creationId xmlns:a16="http://schemas.microsoft.com/office/drawing/2014/main" id="{B6DAF670-06B8-4C6B-89E6-A202AAC7F92C}"/>
              </a:ext>
            </a:extLst>
          </p:cNvPr>
          <p:cNvSpPr/>
          <p:nvPr/>
        </p:nvSpPr>
        <p:spPr>
          <a:xfrm>
            <a:off x="8783613" y="3864258"/>
            <a:ext cx="3057199"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Start anticoagulation?</a:t>
            </a:r>
          </a:p>
        </p:txBody>
      </p:sp>
      <p:pic>
        <p:nvPicPr>
          <p:cNvPr id="70" name="Graphic 69" descr="Cursor with solid fill">
            <a:extLst>
              <a:ext uri="{FF2B5EF4-FFF2-40B4-BE49-F238E27FC236}">
                <a16:creationId xmlns:a16="http://schemas.microsoft.com/office/drawing/2014/main" id="{62104B8B-551A-4454-B5E6-17DB13492D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39048" y="4133239"/>
            <a:ext cx="270672" cy="270672"/>
          </a:xfrm>
          <a:prstGeom prst="rect">
            <a:avLst/>
          </a:prstGeom>
        </p:spPr>
      </p:pic>
      <p:sp>
        <p:nvSpPr>
          <p:cNvPr id="71" name="Case 3 Answer 4">
            <a:extLst>
              <a:ext uri="{FF2B5EF4-FFF2-40B4-BE49-F238E27FC236}">
                <a16:creationId xmlns:a16="http://schemas.microsoft.com/office/drawing/2014/main" id="{2E6D1765-C5D3-43A5-8CB5-DAE27837750C}"/>
              </a:ext>
            </a:extLst>
          </p:cNvPr>
          <p:cNvSpPr txBox="1"/>
          <p:nvPr/>
        </p:nvSpPr>
        <p:spPr>
          <a:xfrm>
            <a:off x="8773871" y="4326833"/>
            <a:ext cx="3207353" cy="2123658"/>
          </a:xfrm>
          <a:prstGeom prst="rect">
            <a:avLst/>
          </a:prstGeom>
          <a:noFill/>
        </p:spPr>
        <p:txBody>
          <a:bodyPr wrap="square" rtlCol="0">
            <a:spAutoFit/>
          </a:bodyPr>
          <a:lstStyle/>
          <a:p>
            <a:pPr algn="ctr"/>
            <a:r>
              <a:rPr lang="en-US" sz="1400" dirty="0"/>
              <a:t>He has paroxysmal AF. There is risk of stroke. Annual stroke and bleeding risk is:</a:t>
            </a:r>
          </a:p>
          <a:p>
            <a:pPr marL="168275" indent="-168275">
              <a:buFont typeface="Arial" panose="020B0604020202020204" pitchFamily="34" charset="0"/>
              <a:buChar char="•"/>
            </a:pPr>
            <a:r>
              <a:rPr lang="en-US" sz="1400" dirty="0"/>
              <a:t>CHADS-VASc 2 (age, HTN)</a:t>
            </a:r>
          </a:p>
          <a:p>
            <a:pPr marL="168275" indent="-168275">
              <a:buFont typeface="Arial" panose="020B0604020202020204" pitchFamily="34" charset="0"/>
              <a:buChar char="•"/>
            </a:pPr>
            <a:r>
              <a:rPr lang="en-US" sz="1400" dirty="0"/>
              <a:t>HAS-BLED 4 (age, bleeding history, NSAID use, uncontrolled HTN)</a:t>
            </a:r>
          </a:p>
          <a:p>
            <a:endParaRPr lang="en-US" sz="600" dirty="0"/>
          </a:p>
          <a:p>
            <a:pPr algn="ctr"/>
            <a:r>
              <a:rPr lang="en-US" sz="1400" dirty="0"/>
              <a:t>Shared decision making. Consider anticoagulation with close monitoring and assessment of modifiable RFs: BP control, stop NSAIDs, follow up with GI.</a:t>
            </a:r>
          </a:p>
        </p:txBody>
      </p:sp>
      <p:sp>
        <p:nvSpPr>
          <p:cNvPr id="41" name="Case 1 Question 1">
            <a:extLst>
              <a:ext uri="{FF2B5EF4-FFF2-40B4-BE49-F238E27FC236}">
                <a16:creationId xmlns:a16="http://schemas.microsoft.com/office/drawing/2014/main" id="{D494D566-1EDE-CF25-BB45-B811E84CB7D2}"/>
              </a:ext>
            </a:extLst>
          </p:cNvPr>
          <p:cNvSpPr/>
          <p:nvPr/>
        </p:nvSpPr>
        <p:spPr>
          <a:xfrm>
            <a:off x="2347957" y="3621629"/>
            <a:ext cx="2714947"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Rhythm control?</a:t>
            </a:r>
          </a:p>
        </p:txBody>
      </p:sp>
      <p:sp>
        <p:nvSpPr>
          <p:cNvPr id="42" name="Case 1 Answer 1">
            <a:extLst>
              <a:ext uri="{FF2B5EF4-FFF2-40B4-BE49-F238E27FC236}">
                <a16:creationId xmlns:a16="http://schemas.microsoft.com/office/drawing/2014/main" id="{DC61E964-C535-A4CA-0F4C-B01AF43BC01C}"/>
              </a:ext>
            </a:extLst>
          </p:cNvPr>
          <p:cNvSpPr txBox="1"/>
          <p:nvPr/>
        </p:nvSpPr>
        <p:spPr>
          <a:xfrm>
            <a:off x="2198016" y="4032740"/>
            <a:ext cx="3001927" cy="954107"/>
          </a:xfrm>
          <a:prstGeom prst="rect">
            <a:avLst/>
          </a:prstGeom>
          <a:noFill/>
        </p:spPr>
        <p:txBody>
          <a:bodyPr wrap="square" rtlCol="0">
            <a:spAutoFit/>
          </a:bodyPr>
          <a:lstStyle/>
          <a:p>
            <a:pPr algn="ctr"/>
            <a:r>
              <a:rPr lang="en-US" sz="1400" dirty="0"/>
              <a:t>Besides new onset AF, he has no RFs that favor rhythm control (young age, few comorbidities). It is reasonable to trial rate control first.</a:t>
            </a:r>
          </a:p>
        </p:txBody>
      </p:sp>
      <p:pic>
        <p:nvPicPr>
          <p:cNvPr id="43" name="Graphic 42" descr="Cursor with solid fill">
            <a:extLst>
              <a:ext uri="{FF2B5EF4-FFF2-40B4-BE49-F238E27FC236}">
                <a16:creationId xmlns:a16="http://schemas.microsoft.com/office/drawing/2014/main" id="{E800A571-3F9F-A68F-476E-3BDF8088DB2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47033" y="3894178"/>
            <a:ext cx="270672" cy="270672"/>
          </a:xfrm>
          <a:prstGeom prst="rect">
            <a:avLst/>
          </a:prstGeom>
        </p:spPr>
      </p:pic>
      <p:pic>
        <p:nvPicPr>
          <p:cNvPr id="35" name="Graphic 34" descr="Cursor with solid fill">
            <a:extLst>
              <a:ext uri="{FF2B5EF4-FFF2-40B4-BE49-F238E27FC236}">
                <a16:creationId xmlns:a16="http://schemas.microsoft.com/office/drawing/2014/main" id="{6CAF6B0D-85D5-4E41-B666-F1D4CCA2564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43855" y="5284628"/>
            <a:ext cx="270672" cy="270672"/>
          </a:xfrm>
          <a:prstGeom prst="rect">
            <a:avLst/>
          </a:prstGeom>
        </p:spPr>
      </p:pic>
      <p:sp>
        <p:nvSpPr>
          <p:cNvPr id="4" name="TextBox 3">
            <a:extLst>
              <a:ext uri="{FF2B5EF4-FFF2-40B4-BE49-F238E27FC236}">
                <a16:creationId xmlns:a16="http://schemas.microsoft.com/office/drawing/2014/main" id="{3D1FAEEF-58D2-691E-3D68-3C57AB0FCE61}"/>
              </a:ext>
            </a:extLst>
          </p:cNvPr>
          <p:cNvSpPr txBox="1"/>
          <p:nvPr/>
        </p:nvSpPr>
        <p:spPr>
          <a:xfrm>
            <a:off x="5402928" y="4408744"/>
            <a:ext cx="3063952" cy="307777"/>
          </a:xfrm>
          <a:prstGeom prst="rect">
            <a:avLst/>
          </a:prstGeom>
          <a:noFill/>
        </p:spPr>
        <p:txBody>
          <a:bodyPr wrap="square">
            <a:spAutoFit/>
          </a:bodyPr>
          <a:lstStyle/>
          <a:p>
            <a:r>
              <a:rPr lang="en-US" sz="1400" dirty="0"/>
              <a:t>…He is scheduled for cardioversion. </a:t>
            </a:r>
          </a:p>
        </p:txBody>
      </p:sp>
      <p:sp>
        <p:nvSpPr>
          <p:cNvPr id="10" name="LO1: Stroke Prev">
            <a:hlinkClick r:id="rId5" action="ppaction://hlinksldjump"/>
            <a:extLst>
              <a:ext uri="{FF2B5EF4-FFF2-40B4-BE49-F238E27FC236}">
                <a16:creationId xmlns:a16="http://schemas.microsoft.com/office/drawing/2014/main" id="{911A1D0A-6038-BA5B-7371-40782CF837D7}"/>
              </a:ext>
            </a:extLst>
          </p:cNvPr>
          <p:cNvSpPr/>
          <p:nvPr/>
        </p:nvSpPr>
        <p:spPr>
          <a:xfrm>
            <a:off x="167951" y="148589"/>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Stroke Prevention</a:t>
            </a:r>
          </a:p>
        </p:txBody>
      </p:sp>
      <p:sp>
        <p:nvSpPr>
          <p:cNvPr id="11" name="LO2: Rhythm Control">
            <a:hlinkClick r:id="rId6" action="ppaction://hlinksldjump"/>
            <a:extLst>
              <a:ext uri="{FF2B5EF4-FFF2-40B4-BE49-F238E27FC236}">
                <a16:creationId xmlns:a16="http://schemas.microsoft.com/office/drawing/2014/main" id="{F8937D63-11B0-4FF6-7186-749307FA3D86}"/>
              </a:ext>
            </a:extLst>
          </p:cNvPr>
          <p:cNvSpPr/>
          <p:nvPr/>
        </p:nvSpPr>
        <p:spPr>
          <a:xfrm>
            <a:off x="167950" y="674454"/>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Rate Control</a:t>
            </a:r>
          </a:p>
        </p:txBody>
      </p:sp>
      <p:pic>
        <p:nvPicPr>
          <p:cNvPr id="12" name="Sidebar arrow 1" descr="Cursor with solid fill">
            <a:extLst>
              <a:ext uri="{FF2B5EF4-FFF2-40B4-BE49-F238E27FC236}">
                <a16:creationId xmlns:a16="http://schemas.microsoft.com/office/drawing/2014/main" id="{17076161-A27C-3E92-4F67-55BA64AB453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31292" y="381235"/>
            <a:ext cx="270672" cy="270672"/>
          </a:xfrm>
          <a:prstGeom prst="rect">
            <a:avLst/>
          </a:prstGeom>
        </p:spPr>
      </p:pic>
      <p:pic>
        <p:nvPicPr>
          <p:cNvPr id="13" name="Sidebar arrow 2" descr="Cursor with solid fill">
            <a:extLst>
              <a:ext uri="{FF2B5EF4-FFF2-40B4-BE49-F238E27FC236}">
                <a16:creationId xmlns:a16="http://schemas.microsoft.com/office/drawing/2014/main" id="{FDCAB47F-BDB3-5591-F6EB-93F9D12FC3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31292" y="907100"/>
            <a:ext cx="270672" cy="270672"/>
          </a:xfrm>
          <a:prstGeom prst="rect">
            <a:avLst/>
          </a:prstGeom>
        </p:spPr>
      </p:pic>
      <p:sp>
        <p:nvSpPr>
          <p:cNvPr id="14" name="LO3: Rate Control">
            <a:hlinkClick r:id="rId7" action="ppaction://hlinksldjump"/>
            <a:extLst>
              <a:ext uri="{FF2B5EF4-FFF2-40B4-BE49-F238E27FC236}">
                <a16:creationId xmlns:a16="http://schemas.microsoft.com/office/drawing/2014/main" id="{E2E514ED-2526-5CF9-7328-70A7C136C829}"/>
              </a:ext>
            </a:extLst>
          </p:cNvPr>
          <p:cNvSpPr/>
          <p:nvPr/>
        </p:nvSpPr>
        <p:spPr>
          <a:xfrm>
            <a:off x="167950" y="1200319"/>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Rhythm Control</a:t>
            </a:r>
          </a:p>
        </p:txBody>
      </p:sp>
      <p:pic>
        <p:nvPicPr>
          <p:cNvPr id="15" name="Sidebar arrow 3" descr="Cursor with solid fill">
            <a:extLst>
              <a:ext uri="{FF2B5EF4-FFF2-40B4-BE49-F238E27FC236}">
                <a16:creationId xmlns:a16="http://schemas.microsoft.com/office/drawing/2014/main" id="{4B89B4A5-93A6-36C1-685F-910B36C730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31292" y="1432965"/>
            <a:ext cx="270672" cy="270672"/>
          </a:xfrm>
          <a:prstGeom prst="rect">
            <a:avLst/>
          </a:prstGeom>
        </p:spPr>
      </p:pic>
      <p:sp>
        <p:nvSpPr>
          <p:cNvPr id="16" name="Cases">
            <a:hlinkClick r:id="" action="ppaction://noaction"/>
            <a:extLst>
              <a:ext uri="{FF2B5EF4-FFF2-40B4-BE49-F238E27FC236}">
                <a16:creationId xmlns:a16="http://schemas.microsoft.com/office/drawing/2014/main" id="{CF9EC0F2-0C35-0FF1-25F4-064E510E4CB2}"/>
              </a:ext>
            </a:extLst>
          </p:cNvPr>
          <p:cNvSpPr/>
          <p:nvPr/>
        </p:nvSpPr>
        <p:spPr>
          <a:xfrm>
            <a:off x="167950" y="1726184"/>
            <a:ext cx="1875163"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Cases</a:t>
            </a:r>
          </a:p>
        </p:txBody>
      </p:sp>
      <p:sp>
        <p:nvSpPr>
          <p:cNvPr id="2" name="1.1 Risk Assessment">
            <a:hlinkClick r:id="rId8" action="ppaction://hlinksldjump"/>
            <a:extLst>
              <a:ext uri="{FF2B5EF4-FFF2-40B4-BE49-F238E27FC236}">
                <a16:creationId xmlns:a16="http://schemas.microsoft.com/office/drawing/2014/main" id="{DC6F53F4-C32A-C206-146B-28B44B6D6CAE}"/>
              </a:ext>
            </a:extLst>
          </p:cNvPr>
          <p:cNvSpPr/>
          <p:nvPr/>
        </p:nvSpPr>
        <p:spPr>
          <a:xfrm>
            <a:off x="446456" y="2284877"/>
            <a:ext cx="1596399"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1</a:t>
            </a:r>
          </a:p>
        </p:txBody>
      </p:sp>
      <p:sp>
        <p:nvSpPr>
          <p:cNvPr id="7" name="1.2 Therapies">
            <a:hlinkClick r:id="rId9" action="ppaction://hlinksldjump"/>
            <a:extLst>
              <a:ext uri="{FF2B5EF4-FFF2-40B4-BE49-F238E27FC236}">
                <a16:creationId xmlns:a16="http://schemas.microsoft.com/office/drawing/2014/main" id="{D24570E3-7D79-4C31-1DF9-160B1B642B49}"/>
              </a:ext>
            </a:extLst>
          </p:cNvPr>
          <p:cNvSpPr/>
          <p:nvPr/>
        </p:nvSpPr>
        <p:spPr>
          <a:xfrm>
            <a:off x="446456" y="2848583"/>
            <a:ext cx="1596399"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2-3</a:t>
            </a:r>
          </a:p>
        </p:txBody>
      </p:sp>
      <p:pic>
        <p:nvPicPr>
          <p:cNvPr id="8" name="Sidebar arrow 1.2" descr="Cursor with solid fill">
            <a:extLst>
              <a:ext uri="{FF2B5EF4-FFF2-40B4-BE49-F238E27FC236}">
                <a16:creationId xmlns:a16="http://schemas.microsoft.com/office/drawing/2014/main" id="{101B4E56-60D1-9606-4AB7-1175D8DD08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19551" y="3104186"/>
            <a:ext cx="270672" cy="270672"/>
          </a:xfrm>
          <a:prstGeom prst="rect">
            <a:avLst/>
          </a:prstGeom>
        </p:spPr>
      </p:pic>
      <p:cxnSp>
        <p:nvCxnSpPr>
          <p:cNvPr id="22" name="Connector: Elbow 2">
            <a:extLst>
              <a:ext uri="{FF2B5EF4-FFF2-40B4-BE49-F238E27FC236}">
                <a16:creationId xmlns:a16="http://schemas.microsoft.com/office/drawing/2014/main" id="{B1C8A417-6C0C-B488-FDA2-6A3775501206}"/>
              </a:ext>
            </a:extLst>
          </p:cNvPr>
          <p:cNvCxnSpPr>
            <a:cxnSpLocks/>
            <a:endCxn id="2" idx="1"/>
          </p:cNvCxnSpPr>
          <p:nvPr/>
        </p:nvCxnSpPr>
        <p:spPr>
          <a:xfrm rot="16200000" flipH="1">
            <a:off x="171961" y="2194372"/>
            <a:ext cx="379718" cy="16927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Connector: Elbow 2">
            <a:extLst>
              <a:ext uri="{FF2B5EF4-FFF2-40B4-BE49-F238E27FC236}">
                <a16:creationId xmlns:a16="http://schemas.microsoft.com/office/drawing/2014/main" id="{062F45DB-B273-6DC8-E83B-D25333080409}"/>
              </a:ext>
            </a:extLst>
          </p:cNvPr>
          <p:cNvCxnSpPr>
            <a:cxnSpLocks/>
            <a:endCxn id="7" idx="1"/>
          </p:cNvCxnSpPr>
          <p:nvPr/>
        </p:nvCxnSpPr>
        <p:spPr>
          <a:xfrm rot="16200000" flipH="1">
            <a:off x="42206" y="2628322"/>
            <a:ext cx="639229" cy="16927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0204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21" restart="whenNotActive" fill="hold" evtFilter="cancelBubble" nodeType="interactiveSeq">
                <p:stCondLst>
                  <p:cond evt="onClick" delay="0">
                    <p:tgtEl>
                      <p:spTgt spid="34"/>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6"/>
                                        </p:tgtEl>
                                        <p:attrNameLst>
                                          <p:attrName>style.visibility</p:attrName>
                                        </p:attrNameLst>
                                      </p:cBhvr>
                                      <p:to>
                                        <p:strVal val="visible"/>
                                      </p:to>
                                    </p:set>
                                  </p:childTnLst>
                                </p:cTn>
                              </p:par>
                              <p:par>
                                <p:cTn id="26" presetID="1" presetClass="exit" presetSubtype="0" fill="hold" nodeType="withEffect">
                                  <p:stCondLst>
                                    <p:cond delay="0"/>
                                  </p:stCondLst>
                                  <p:childTnLst>
                                    <p:set>
                                      <p:cBhvr>
                                        <p:cTn id="27" dur="1" fill="hold">
                                          <p:stCondLst>
                                            <p:cond delay="0"/>
                                          </p:stCondLst>
                                        </p:cTn>
                                        <p:tgtEl>
                                          <p:spTgt spid="38"/>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28" restart="whenNotActive" fill="hold" evtFilter="cancelBubble" nodeType="interactiveSeq">
                <p:stCondLst>
                  <p:cond evt="onClick" delay="0">
                    <p:tgtEl>
                      <p:spTgt spid="37"/>
                    </p:tgtEl>
                  </p:cond>
                </p:stCondLst>
                <p:endSync evt="end" delay="0">
                  <p:rtn val="all"/>
                </p:endSync>
                <p:childTnLst>
                  <p:par>
                    <p:cTn id="29" fill="hold">
                      <p:stCondLst>
                        <p:cond delay="0"/>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7"/>
                  </p:tgtEl>
                </p:cond>
              </p:nextCondLst>
            </p:seq>
            <p:seq concurrent="1" nextAc="seek">
              <p:cTn id="35" restart="whenNotActive" fill="hold" evtFilter="cancelBubble" nodeType="interactiveSeq">
                <p:stCondLst>
                  <p:cond evt="onClick" delay="0">
                    <p:tgtEl>
                      <p:spTgt spid="28"/>
                    </p:tgtEl>
                  </p:cond>
                </p:stCondLst>
                <p:endSync evt="end" delay="0">
                  <p:rtn val="all"/>
                </p:endSync>
                <p:childTnLst>
                  <p:par>
                    <p:cTn id="36" fill="hold">
                      <p:stCondLst>
                        <p:cond delay="0"/>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48"/>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54"/>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57"/>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53"/>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56"/>
                                        </p:tgtEl>
                                        <p:attrNameLst>
                                          <p:attrName>style.visibility</p:attrName>
                                        </p:attrNameLst>
                                      </p:cBhvr>
                                      <p:to>
                                        <p:strVal val="visible"/>
                                      </p:to>
                                    </p:set>
                                  </p:childTnLst>
                                </p:cTn>
                              </p:par>
                              <p:par>
                                <p:cTn id="52" presetID="1" presetClass="exit" presetSubtype="0" fill="hold" nodeType="withEffect">
                                  <p:stCondLst>
                                    <p:cond delay="0"/>
                                  </p:stCondLst>
                                  <p:childTnLst>
                                    <p:set>
                                      <p:cBhvr>
                                        <p:cTn id="53" dur="1" fill="hold">
                                          <p:stCondLst>
                                            <p:cond delay="0"/>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54" restart="whenNotActive" fill="hold" evtFilter="cancelBubble" nodeType="interactiveSeq">
                <p:stCondLst>
                  <p:cond evt="onClick" delay="0">
                    <p:tgtEl>
                      <p:spTgt spid="30"/>
                    </p:tgtEl>
                  </p:cond>
                </p:stCondLst>
                <p:endSync evt="end" delay="0">
                  <p:rtn val="all"/>
                </p:endSync>
                <p:childTnLst>
                  <p:par>
                    <p:cTn id="55" fill="hold">
                      <p:stCondLst>
                        <p:cond delay="0"/>
                      </p:stCondLst>
                      <p:childTnLst>
                        <p:par>
                          <p:cTn id="56" fill="hold">
                            <p:stCondLst>
                              <p:cond delay="0"/>
                            </p:stCondLst>
                            <p:childTnLst>
                              <p:par>
                                <p:cTn id="57" presetID="1" presetClass="entr" presetSubtype="0" fill="hold" nodeType="withEffect">
                                  <p:stCondLst>
                                    <p:cond delay="0"/>
                                  </p:stCondLst>
                                  <p:childTnLst>
                                    <p:set>
                                      <p:cBhvr>
                                        <p:cTn id="58" dur="1" fill="hold">
                                          <p:stCondLst>
                                            <p:cond delay="0"/>
                                          </p:stCondLst>
                                        </p:cTn>
                                        <p:tgtEl>
                                          <p:spTgt spid="6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0"/>
                                        </p:tgtEl>
                                        <p:attrNameLst>
                                          <p:attrName>style.visibility</p:attrName>
                                        </p:attrNameLst>
                                      </p:cBhvr>
                                      <p:to>
                                        <p:strVal val="visible"/>
                                      </p:to>
                                    </p:set>
                                  </p:childTnLst>
                                </p:cTn>
                              </p:par>
                              <p:par>
                                <p:cTn id="61" presetID="1" presetClass="exit" presetSubtype="0" fill="hold" nodeType="withEffect">
                                  <p:stCondLst>
                                    <p:cond delay="0"/>
                                  </p:stCondLst>
                                  <p:childTnLst>
                                    <p:set>
                                      <p:cBhvr>
                                        <p:cTn id="62" dur="1" fill="hold">
                                          <p:stCondLst>
                                            <p:cond delay="0"/>
                                          </p:stCondLst>
                                        </p:cTn>
                                        <p:tgtEl>
                                          <p:spTgt spid="31"/>
                                        </p:tgtEl>
                                        <p:attrNameLst>
                                          <p:attrName>style.visibility</p:attrName>
                                        </p:attrNameLst>
                                      </p:cBhvr>
                                      <p:to>
                                        <p:strVal val="hidden"/>
                                      </p:to>
                                    </p:set>
                                  </p:childTnLst>
                                </p:cTn>
                              </p:par>
                              <p:par>
                                <p:cTn id="63" presetID="1" presetClass="entr" presetSubtype="0" fill="hold" grpId="0" nodeType="withEffect">
                                  <p:stCondLst>
                                    <p:cond delay="0"/>
                                  </p:stCondLst>
                                  <p:childTnLst>
                                    <p:set>
                                      <p:cBhvr>
                                        <p:cTn id="64" dur="1" fill="hold">
                                          <p:stCondLst>
                                            <p:cond delay="0"/>
                                          </p:stCondLst>
                                        </p:cTn>
                                        <p:tgtEl>
                                          <p:spTgt spid="5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9"/>
                                        </p:tgtEl>
                                        <p:attrNameLst>
                                          <p:attrName>style.visibility</p:attrName>
                                        </p:attrNameLst>
                                      </p:cBhvr>
                                      <p:to>
                                        <p:strVal val="visible"/>
                                      </p:to>
                                    </p:set>
                                  </p:childTnLst>
                                </p:cTn>
                              </p:par>
                            </p:childTnLst>
                          </p:cTn>
                        </p:par>
                      </p:childTnLst>
                    </p:cTn>
                  </p:par>
                </p:childTnLst>
              </p:cTn>
              <p:nextCondLst>
                <p:cond evt="onClick" delay="0">
                  <p:tgtEl>
                    <p:spTgt spid="30"/>
                  </p:tgtEl>
                </p:cond>
              </p:nextCondLst>
            </p:seq>
            <p:seq concurrent="1" nextAc="seek">
              <p:cTn id="69" restart="whenNotActive" fill="hold" evtFilter="cancelBubble" nodeType="interactiveSeq">
                <p:stCondLst>
                  <p:cond evt="onClick" delay="0">
                    <p:tgtEl>
                      <p:spTgt spid="47"/>
                    </p:tgtEl>
                  </p:cond>
                </p:stCondLst>
                <p:endSync evt="end" delay="0">
                  <p:rtn val="all"/>
                </p:endSync>
                <p:childTnLst>
                  <p:par>
                    <p:cTn id="70" fill="hold">
                      <p:stCondLst>
                        <p:cond delay="0"/>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49"/>
                                        </p:tgtEl>
                                        <p:attrNameLst>
                                          <p:attrName>style.visibility</p:attrName>
                                        </p:attrNameLst>
                                      </p:cBhvr>
                                      <p:to>
                                        <p:strVal val="visible"/>
                                      </p:to>
                                    </p:set>
                                  </p:childTnLst>
                                </p:cTn>
                              </p:par>
                              <p:par>
                                <p:cTn id="74" presetID="1" presetClass="exit" presetSubtype="0" fill="hold" nodeType="withEffect">
                                  <p:stCondLst>
                                    <p:cond delay="0"/>
                                  </p:stCondLst>
                                  <p:childTnLst>
                                    <p:set>
                                      <p:cBhvr>
                                        <p:cTn id="75" dur="1" fill="hold">
                                          <p:stCondLst>
                                            <p:cond delay="0"/>
                                          </p:stCondLst>
                                        </p:cTn>
                                        <p:tgtEl>
                                          <p:spTgt spid="48"/>
                                        </p:tgtEl>
                                        <p:attrNameLst>
                                          <p:attrName>style.visibility</p:attrName>
                                        </p:attrNameLst>
                                      </p:cBhvr>
                                      <p:to>
                                        <p:strVal val="hidden"/>
                                      </p:to>
                                    </p:set>
                                  </p:childTnLst>
                                </p:cTn>
                              </p:par>
                            </p:childTnLst>
                          </p:cTn>
                        </p:par>
                      </p:childTnLst>
                    </p:cTn>
                  </p:par>
                </p:childTnLst>
              </p:cTn>
              <p:nextCondLst>
                <p:cond evt="onClick" delay="0">
                  <p:tgtEl>
                    <p:spTgt spid="47"/>
                  </p:tgtEl>
                </p:cond>
              </p:nextCondLst>
            </p:seq>
            <p:seq concurrent="1" nextAc="seek">
              <p:cTn id="76" restart="whenNotActive" fill="hold" evtFilter="cancelBubble" nodeType="interactiveSeq">
                <p:stCondLst>
                  <p:cond evt="onClick" delay="0">
                    <p:tgtEl>
                      <p:spTgt spid="53"/>
                    </p:tgtEl>
                  </p:cond>
                </p:stCondLst>
                <p:endSync evt="end" delay="0">
                  <p:rtn val="all"/>
                </p:endSync>
                <p:childTnLst>
                  <p:par>
                    <p:cTn id="77" fill="hold">
                      <p:stCondLst>
                        <p:cond delay="0"/>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5"/>
                                        </p:tgtEl>
                                        <p:attrNameLst>
                                          <p:attrName>style.visibility</p:attrName>
                                        </p:attrNameLst>
                                      </p:cBhvr>
                                      <p:to>
                                        <p:strVal val="visible"/>
                                      </p:to>
                                    </p:set>
                                  </p:childTnLst>
                                </p:cTn>
                              </p:par>
                              <p:par>
                                <p:cTn id="81" presetID="1" presetClass="exit" presetSubtype="0" fill="hold" nodeType="withEffect">
                                  <p:stCondLst>
                                    <p:cond delay="0"/>
                                  </p:stCondLst>
                                  <p:childTnLst>
                                    <p:set>
                                      <p:cBhvr>
                                        <p:cTn id="82" dur="1" fill="hold">
                                          <p:stCondLst>
                                            <p:cond delay="0"/>
                                          </p:stCondLst>
                                        </p:cTn>
                                        <p:tgtEl>
                                          <p:spTgt spid="54"/>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4"/>
                                        </p:tgtEl>
                                        <p:attrNameLst>
                                          <p:attrName>style.visibility</p:attrName>
                                        </p:attrNameLst>
                                      </p:cBhvr>
                                      <p:to>
                                        <p:strVal val="visible"/>
                                      </p:to>
                                    </p:set>
                                  </p:childTnLst>
                                </p:cTn>
                              </p:par>
                            </p:childTnLst>
                          </p:cTn>
                        </p:par>
                      </p:childTnLst>
                    </p:cTn>
                  </p:par>
                </p:childTnLst>
              </p:cTn>
              <p:nextCondLst>
                <p:cond evt="onClick" delay="0">
                  <p:tgtEl>
                    <p:spTgt spid="53"/>
                  </p:tgtEl>
                </p:cond>
              </p:nextCondLst>
            </p:seq>
            <p:seq concurrent="1" nextAc="seek">
              <p:cTn id="85" restart="whenNotActive" fill="hold" evtFilter="cancelBubble" nodeType="interactiveSeq">
                <p:stCondLst>
                  <p:cond evt="onClick" delay="0">
                    <p:tgtEl>
                      <p:spTgt spid="56"/>
                    </p:tgtEl>
                  </p:cond>
                </p:stCondLst>
                <p:endSync evt="end" delay="0">
                  <p:rtn val="all"/>
                </p:endSync>
                <p:childTnLst>
                  <p:par>
                    <p:cTn id="86" fill="hold">
                      <p:stCondLst>
                        <p:cond delay="0"/>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58"/>
                                        </p:tgtEl>
                                        <p:attrNameLst>
                                          <p:attrName>style.visibility</p:attrName>
                                        </p:attrNameLst>
                                      </p:cBhvr>
                                      <p:to>
                                        <p:strVal val="visible"/>
                                      </p:to>
                                    </p:set>
                                  </p:childTnLst>
                                </p:cTn>
                              </p:par>
                              <p:par>
                                <p:cTn id="90" presetID="1" presetClass="exit" presetSubtype="0" fill="hold" nodeType="withEffect">
                                  <p:stCondLst>
                                    <p:cond delay="0"/>
                                  </p:stCondLst>
                                  <p:childTnLst>
                                    <p:set>
                                      <p:cBhvr>
                                        <p:cTn id="91" dur="1" fill="hold">
                                          <p:stCondLst>
                                            <p:cond delay="0"/>
                                          </p:stCondLst>
                                        </p:cTn>
                                        <p:tgtEl>
                                          <p:spTgt spid="57"/>
                                        </p:tgtEl>
                                        <p:attrNameLst>
                                          <p:attrName>style.visibility</p:attrName>
                                        </p:attrNameLst>
                                      </p:cBhvr>
                                      <p:to>
                                        <p:strVal val="hidden"/>
                                      </p:to>
                                    </p:set>
                                  </p:childTnLst>
                                </p:cTn>
                              </p:par>
                            </p:childTnLst>
                          </p:cTn>
                        </p:par>
                      </p:childTnLst>
                    </p:cTn>
                  </p:par>
                </p:childTnLst>
              </p:cTn>
              <p:nextCondLst>
                <p:cond evt="onClick" delay="0">
                  <p:tgtEl>
                    <p:spTgt spid="56"/>
                  </p:tgtEl>
                </p:cond>
              </p:nextCondLst>
            </p:seq>
            <p:seq concurrent="1" nextAc="seek">
              <p:cTn id="92" restart="whenNotActive" fill="hold" evtFilter="cancelBubble" nodeType="interactiveSeq">
                <p:stCondLst>
                  <p:cond evt="onClick" delay="0">
                    <p:tgtEl>
                      <p:spTgt spid="66"/>
                    </p:tgtEl>
                  </p:cond>
                </p:stCondLst>
                <p:endSync evt="end" delay="0">
                  <p:rtn val="all"/>
                </p:endSync>
                <p:childTnLst>
                  <p:par>
                    <p:cTn id="93" fill="hold">
                      <p:stCondLst>
                        <p:cond delay="0"/>
                      </p:stCondLst>
                      <p:childTnLst>
                        <p:par>
                          <p:cTn id="94" fill="hold">
                            <p:stCondLst>
                              <p:cond delay="0"/>
                            </p:stCondLst>
                            <p:childTnLst>
                              <p:par>
                                <p:cTn id="95" presetID="1" presetClass="entr" presetSubtype="0" fill="hold" grpId="0" nodeType="withEffect">
                                  <p:stCondLst>
                                    <p:cond delay="0"/>
                                  </p:stCondLst>
                                  <p:childTnLst>
                                    <p:set>
                                      <p:cBhvr>
                                        <p:cTn id="96" dur="1" fill="hold">
                                          <p:stCondLst>
                                            <p:cond delay="0"/>
                                          </p:stCondLst>
                                        </p:cTn>
                                        <p:tgtEl>
                                          <p:spTgt spid="68"/>
                                        </p:tgtEl>
                                        <p:attrNameLst>
                                          <p:attrName>style.visibility</p:attrName>
                                        </p:attrNameLst>
                                      </p:cBhvr>
                                      <p:to>
                                        <p:strVal val="visible"/>
                                      </p:to>
                                    </p:set>
                                  </p:childTnLst>
                                </p:cTn>
                              </p:par>
                              <p:par>
                                <p:cTn id="97" presetID="1" presetClass="exit" presetSubtype="0" fill="hold" nodeType="withEffect">
                                  <p:stCondLst>
                                    <p:cond delay="0"/>
                                  </p:stCondLst>
                                  <p:childTnLst>
                                    <p:set>
                                      <p:cBhvr>
                                        <p:cTn id="98" dur="1" fill="hold">
                                          <p:stCondLst>
                                            <p:cond delay="0"/>
                                          </p:stCondLst>
                                        </p:cTn>
                                        <p:tgtEl>
                                          <p:spTgt spid="67"/>
                                        </p:tgtEl>
                                        <p:attrNameLst>
                                          <p:attrName>style.visibility</p:attrName>
                                        </p:attrNameLst>
                                      </p:cBhvr>
                                      <p:to>
                                        <p:strVal val="hidden"/>
                                      </p:to>
                                    </p:set>
                                  </p:childTnLst>
                                </p:cTn>
                              </p:par>
                            </p:childTnLst>
                          </p:cTn>
                        </p:par>
                      </p:childTnLst>
                    </p:cTn>
                  </p:par>
                </p:childTnLst>
              </p:cTn>
              <p:nextCondLst>
                <p:cond evt="onClick" delay="0">
                  <p:tgtEl>
                    <p:spTgt spid="66"/>
                  </p:tgtEl>
                </p:cond>
              </p:nextCondLst>
            </p:seq>
            <p:seq concurrent="1" nextAc="seek">
              <p:cTn id="99" restart="whenNotActive" fill="hold" evtFilter="cancelBubble" nodeType="interactiveSeq">
                <p:stCondLst>
                  <p:cond evt="onClick" delay="0">
                    <p:tgtEl>
                      <p:spTgt spid="69"/>
                    </p:tgtEl>
                  </p:cond>
                </p:stCondLst>
                <p:endSync evt="end" delay="0">
                  <p:rtn val="all"/>
                </p:endSync>
                <p:childTnLst>
                  <p:par>
                    <p:cTn id="100" fill="hold">
                      <p:stCondLst>
                        <p:cond delay="0"/>
                      </p:stCondLst>
                      <p:childTnLst>
                        <p:par>
                          <p:cTn id="101" fill="hold">
                            <p:stCondLst>
                              <p:cond delay="0"/>
                            </p:stCondLst>
                            <p:childTnLst>
                              <p:par>
                                <p:cTn id="102" presetID="1" presetClass="entr" presetSubtype="0" fill="hold" grpId="0" nodeType="withEffect">
                                  <p:stCondLst>
                                    <p:cond delay="0"/>
                                  </p:stCondLst>
                                  <p:childTnLst>
                                    <p:set>
                                      <p:cBhvr>
                                        <p:cTn id="103" dur="1" fill="hold">
                                          <p:stCondLst>
                                            <p:cond delay="0"/>
                                          </p:stCondLst>
                                        </p:cTn>
                                        <p:tgtEl>
                                          <p:spTgt spid="71"/>
                                        </p:tgtEl>
                                        <p:attrNameLst>
                                          <p:attrName>style.visibility</p:attrName>
                                        </p:attrNameLst>
                                      </p:cBhvr>
                                      <p:to>
                                        <p:strVal val="visible"/>
                                      </p:to>
                                    </p:set>
                                  </p:childTnLst>
                                </p:cTn>
                              </p:par>
                              <p:par>
                                <p:cTn id="104" presetID="1" presetClass="exit" presetSubtype="0" fill="hold" nodeType="withEffect">
                                  <p:stCondLst>
                                    <p:cond delay="0"/>
                                  </p:stCondLst>
                                  <p:childTnLst>
                                    <p:set>
                                      <p:cBhvr>
                                        <p:cTn id="105" dur="1" fill="hold">
                                          <p:stCondLst>
                                            <p:cond delay="0"/>
                                          </p:stCondLst>
                                        </p:cTn>
                                        <p:tgtEl>
                                          <p:spTgt spid="70"/>
                                        </p:tgtEl>
                                        <p:attrNameLst>
                                          <p:attrName>style.visibility</p:attrName>
                                        </p:attrNameLst>
                                      </p:cBhvr>
                                      <p:to>
                                        <p:strVal val="hidden"/>
                                      </p:to>
                                    </p:set>
                                  </p:childTnLst>
                                </p:cTn>
                              </p:par>
                            </p:childTnLst>
                          </p:cTn>
                        </p:par>
                      </p:childTnLst>
                    </p:cTn>
                  </p:par>
                </p:childTnLst>
              </p:cTn>
              <p:nextCondLst>
                <p:cond evt="onClick" delay="0">
                  <p:tgtEl>
                    <p:spTgt spid="69"/>
                  </p:tgtEl>
                </p:cond>
              </p:nextCondLst>
            </p:seq>
            <p:seq concurrent="1" nextAc="seek">
              <p:cTn id="106" restart="whenNotActive" fill="hold" evtFilter="cancelBubble" nodeType="interactiveSeq">
                <p:stCondLst>
                  <p:cond evt="onClick" delay="0">
                    <p:tgtEl>
                      <p:spTgt spid="41"/>
                    </p:tgtEl>
                  </p:cond>
                </p:stCondLst>
                <p:endSync evt="end" delay="0">
                  <p:rtn val="all"/>
                </p:endSync>
                <p:childTnLst>
                  <p:par>
                    <p:cTn id="107" fill="hold">
                      <p:stCondLst>
                        <p:cond delay="0"/>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2"/>
                                        </p:tgtEl>
                                        <p:attrNameLst>
                                          <p:attrName>style.visibility</p:attrName>
                                        </p:attrNameLst>
                                      </p:cBhvr>
                                      <p:to>
                                        <p:strVal val="visible"/>
                                      </p:to>
                                    </p:set>
                                  </p:childTnLst>
                                </p:cTn>
                              </p:par>
                              <p:par>
                                <p:cTn id="111" presetID="1" presetClass="exit" presetSubtype="0" fill="hold" nodeType="withEffect">
                                  <p:stCondLst>
                                    <p:cond delay="0"/>
                                  </p:stCondLst>
                                  <p:childTnLst>
                                    <p:set>
                                      <p:cBhvr>
                                        <p:cTn id="112" dur="1" fill="hold">
                                          <p:stCondLst>
                                            <p:cond delay="0"/>
                                          </p:stCondLst>
                                        </p:cTn>
                                        <p:tgtEl>
                                          <p:spTgt spid="43"/>
                                        </p:tgtEl>
                                        <p:attrNameLst>
                                          <p:attrName>style.visibility</p:attrName>
                                        </p:attrNameLst>
                                      </p:cBhvr>
                                      <p:to>
                                        <p:strVal val="hidden"/>
                                      </p:to>
                                    </p:set>
                                  </p:childTnLst>
                                </p:cTn>
                              </p:par>
                            </p:childTnLst>
                          </p:cTn>
                        </p:par>
                      </p:childTnLst>
                    </p:cTn>
                  </p:par>
                </p:childTnLst>
              </p:cTn>
              <p:nextCondLst>
                <p:cond evt="onClick" delay="0">
                  <p:tgtEl>
                    <p:spTgt spid="41"/>
                  </p:tgtEl>
                </p:cond>
              </p:nextCondLst>
            </p:seq>
          </p:childTnLst>
        </p:cTn>
      </p:par>
    </p:tnLst>
    <p:bldLst>
      <p:bldP spid="6" grpId="0"/>
      <p:bldP spid="34" grpId="0" animBg="1"/>
      <p:bldP spid="36" grpId="0"/>
      <p:bldP spid="37" grpId="0" animBg="1"/>
      <p:bldP spid="39" grpId="0"/>
      <p:bldP spid="46" grpId="0"/>
      <p:bldP spid="47" grpId="0" animBg="1"/>
      <p:bldP spid="49" grpId="0"/>
      <p:bldP spid="53" grpId="0" animBg="1"/>
      <p:bldP spid="55" grpId="0"/>
      <p:bldP spid="56" grpId="0" animBg="1"/>
      <p:bldP spid="58" grpId="0"/>
      <p:bldP spid="59" grpId="0"/>
      <p:bldP spid="66" grpId="0" animBg="1"/>
      <p:bldP spid="68" grpId="0"/>
      <p:bldP spid="69" grpId="0" animBg="1"/>
      <p:bldP spid="71" grpId="0"/>
      <p:bldP spid="42"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O1: Stroke Prev">
            <a:hlinkClick r:id="rId3" action="ppaction://hlinksldjump"/>
            <a:extLst>
              <a:ext uri="{FF2B5EF4-FFF2-40B4-BE49-F238E27FC236}">
                <a16:creationId xmlns:a16="http://schemas.microsoft.com/office/drawing/2014/main" id="{911A1D0A-6038-BA5B-7371-40782CF837D7}"/>
              </a:ext>
            </a:extLst>
          </p:cNvPr>
          <p:cNvSpPr/>
          <p:nvPr/>
        </p:nvSpPr>
        <p:spPr>
          <a:xfrm>
            <a:off x="167951" y="148589"/>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Stroke Prevention</a:t>
            </a:r>
          </a:p>
        </p:txBody>
      </p:sp>
      <p:sp>
        <p:nvSpPr>
          <p:cNvPr id="11" name="LO2: Rhythm Control">
            <a:hlinkClick r:id="rId4" action="ppaction://hlinksldjump"/>
            <a:extLst>
              <a:ext uri="{FF2B5EF4-FFF2-40B4-BE49-F238E27FC236}">
                <a16:creationId xmlns:a16="http://schemas.microsoft.com/office/drawing/2014/main" id="{F8937D63-11B0-4FF6-7186-749307FA3D86}"/>
              </a:ext>
            </a:extLst>
          </p:cNvPr>
          <p:cNvSpPr/>
          <p:nvPr/>
        </p:nvSpPr>
        <p:spPr>
          <a:xfrm>
            <a:off x="167950" y="674454"/>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Rate Control</a:t>
            </a:r>
          </a:p>
        </p:txBody>
      </p:sp>
      <p:pic>
        <p:nvPicPr>
          <p:cNvPr id="12" name="Sidebar arrow 1" descr="Cursor with solid fill">
            <a:extLst>
              <a:ext uri="{FF2B5EF4-FFF2-40B4-BE49-F238E27FC236}">
                <a16:creationId xmlns:a16="http://schemas.microsoft.com/office/drawing/2014/main" id="{17076161-A27C-3E92-4F67-55BA64AB453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1292" y="381235"/>
            <a:ext cx="270672" cy="270672"/>
          </a:xfrm>
          <a:prstGeom prst="rect">
            <a:avLst/>
          </a:prstGeom>
        </p:spPr>
      </p:pic>
      <p:pic>
        <p:nvPicPr>
          <p:cNvPr id="13" name="Sidebar arrow 2" descr="Cursor with solid fill">
            <a:extLst>
              <a:ext uri="{FF2B5EF4-FFF2-40B4-BE49-F238E27FC236}">
                <a16:creationId xmlns:a16="http://schemas.microsoft.com/office/drawing/2014/main" id="{FDCAB47F-BDB3-5591-F6EB-93F9D12FC35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1292" y="907100"/>
            <a:ext cx="270672" cy="270672"/>
          </a:xfrm>
          <a:prstGeom prst="rect">
            <a:avLst/>
          </a:prstGeom>
        </p:spPr>
      </p:pic>
      <p:sp>
        <p:nvSpPr>
          <p:cNvPr id="14" name="LO3: Rate Control">
            <a:hlinkClick r:id="rId7" action="ppaction://hlinksldjump"/>
            <a:extLst>
              <a:ext uri="{FF2B5EF4-FFF2-40B4-BE49-F238E27FC236}">
                <a16:creationId xmlns:a16="http://schemas.microsoft.com/office/drawing/2014/main" id="{E2E514ED-2526-5CF9-7328-70A7C136C829}"/>
              </a:ext>
            </a:extLst>
          </p:cNvPr>
          <p:cNvSpPr/>
          <p:nvPr/>
        </p:nvSpPr>
        <p:spPr>
          <a:xfrm>
            <a:off x="167950" y="1200319"/>
            <a:ext cx="1875163"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Rhythm Control</a:t>
            </a:r>
          </a:p>
        </p:txBody>
      </p:sp>
      <p:pic>
        <p:nvPicPr>
          <p:cNvPr id="15" name="Sidebar arrow 3" descr="Cursor with solid fill">
            <a:extLst>
              <a:ext uri="{FF2B5EF4-FFF2-40B4-BE49-F238E27FC236}">
                <a16:creationId xmlns:a16="http://schemas.microsoft.com/office/drawing/2014/main" id="{4B89B4A5-93A6-36C1-685F-910B36C730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1292" y="1432965"/>
            <a:ext cx="270672" cy="270672"/>
          </a:xfrm>
          <a:prstGeom prst="rect">
            <a:avLst/>
          </a:prstGeom>
        </p:spPr>
      </p:pic>
      <p:sp>
        <p:nvSpPr>
          <p:cNvPr id="16" name="Cases">
            <a:hlinkClick r:id="" action="ppaction://noaction"/>
            <a:extLst>
              <a:ext uri="{FF2B5EF4-FFF2-40B4-BE49-F238E27FC236}">
                <a16:creationId xmlns:a16="http://schemas.microsoft.com/office/drawing/2014/main" id="{CF9EC0F2-0C35-0FF1-25F4-064E510E4CB2}"/>
              </a:ext>
            </a:extLst>
          </p:cNvPr>
          <p:cNvSpPr/>
          <p:nvPr/>
        </p:nvSpPr>
        <p:spPr>
          <a:xfrm>
            <a:off x="167950" y="1726184"/>
            <a:ext cx="1875163"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Cases</a:t>
            </a:r>
          </a:p>
        </p:txBody>
      </p:sp>
      <p:sp>
        <p:nvSpPr>
          <p:cNvPr id="2" name="1.1 Risk Assessment">
            <a:hlinkClick r:id="rId8" action="ppaction://hlinksldjump"/>
            <a:extLst>
              <a:ext uri="{FF2B5EF4-FFF2-40B4-BE49-F238E27FC236}">
                <a16:creationId xmlns:a16="http://schemas.microsoft.com/office/drawing/2014/main" id="{DC6F53F4-C32A-C206-146B-28B44B6D6CAE}"/>
              </a:ext>
            </a:extLst>
          </p:cNvPr>
          <p:cNvSpPr/>
          <p:nvPr/>
        </p:nvSpPr>
        <p:spPr>
          <a:xfrm>
            <a:off x="446456" y="2297577"/>
            <a:ext cx="1596399" cy="36797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pic>
        <p:nvPicPr>
          <p:cNvPr id="5" name="Sidebar arrow 1.1" descr="Cursor with solid fill">
            <a:extLst>
              <a:ext uri="{FF2B5EF4-FFF2-40B4-BE49-F238E27FC236}">
                <a16:creationId xmlns:a16="http://schemas.microsoft.com/office/drawing/2014/main" id="{35F97C42-9E43-C30E-CE54-885EF51E18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1292" y="2542969"/>
            <a:ext cx="270672" cy="270672"/>
          </a:xfrm>
          <a:prstGeom prst="rect">
            <a:avLst/>
          </a:prstGeom>
        </p:spPr>
      </p:pic>
      <p:sp>
        <p:nvSpPr>
          <p:cNvPr id="7" name="1.2 Therapies">
            <a:hlinkClick r:id="rId9" action="ppaction://hlinksldjump"/>
            <a:extLst>
              <a:ext uri="{FF2B5EF4-FFF2-40B4-BE49-F238E27FC236}">
                <a16:creationId xmlns:a16="http://schemas.microsoft.com/office/drawing/2014/main" id="{D24570E3-7D79-4C31-1DF9-160B1B642B49}"/>
              </a:ext>
            </a:extLst>
          </p:cNvPr>
          <p:cNvSpPr/>
          <p:nvPr/>
        </p:nvSpPr>
        <p:spPr>
          <a:xfrm>
            <a:off x="446456" y="2861283"/>
            <a:ext cx="1596399" cy="36797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2-3</a:t>
            </a:r>
          </a:p>
        </p:txBody>
      </p:sp>
      <p:cxnSp>
        <p:nvCxnSpPr>
          <p:cNvPr id="9" name="Connector: Elbow 2">
            <a:extLst>
              <a:ext uri="{FF2B5EF4-FFF2-40B4-BE49-F238E27FC236}">
                <a16:creationId xmlns:a16="http://schemas.microsoft.com/office/drawing/2014/main" id="{0F6C043B-5283-6B7B-B62D-5F5DCDBEF1E9}"/>
              </a:ext>
            </a:extLst>
          </p:cNvPr>
          <p:cNvCxnSpPr>
            <a:cxnSpLocks/>
            <a:endCxn id="2" idx="1"/>
          </p:cNvCxnSpPr>
          <p:nvPr/>
        </p:nvCxnSpPr>
        <p:spPr>
          <a:xfrm rot="16200000" flipH="1">
            <a:off x="165611" y="2200722"/>
            <a:ext cx="392418" cy="16927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7" name="Connector: Elbow 2">
            <a:extLst>
              <a:ext uri="{FF2B5EF4-FFF2-40B4-BE49-F238E27FC236}">
                <a16:creationId xmlns:a16="http://schemas.microsoft.com/office/drawing/2014/main" id="{1728CB56-F7EA-9A7D-1F31-ECD88AFFF6BA}"/>
              </a:ext>
            </a:extLst>
          </p:cNvPr>
          <p:cNvCxnSpPr>
            <a:cxnSpLocks/>
            <a:endCxn id="7" idx="1"/>
          </p:cNvCxnSpPr>
          <p:nvPr/>
        </p:nvCxnSpPr>
        <p:spPr>
          <a:xfrm rot="16200000" flipH="1">
            <a:off x="35855" y="2634672"/>
            <a:ext cx="651930" cy="16927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44" name="Case 1 stem">
            <a:extLst>
              <a:ext uri="{FF2B5EF4-FFF2-40B4-BE49-F238E27FC236}">
                <a16:creationId xmlns:a16="http://schemas.microsoft.com/office/drawing/2014/main" id="{57211E0E-F54A-C503-A847-AD066F60ED1B}"/>
              </a:ext>
            </a:extLst>
          </p:cNvPr>
          <p:cNvSpPr txBox="1"/>
          <p:nvPr/>
        </p:nvSpPr>
        <p:spPr>
          <a:xfrm>
            <a:off x="2283888" y="775062"/>
            <a:ext cx="4480560" cy="523220"/>
          </a:xfrm>
          <a:prstGeom prst="rect">
            <a:avLst/>
          </a:prstGeom>
          <a:noFill/>
        </p:spPr>
        <p:txBody>
          <a:bodyPr wrap="square" rtlCol="0">
            <a:spAutoFit/>
          </a:bodyPr>
          <a:lstStyle/>
          <a:p>
            <a:r>
              <a:rPr lang="en-US" sz="1400" dirty="0"/>
              <a:t>Choose a strategy for stroke prevention in the following patients with AF. </a:t>
            </a:r>
          </a:p>
        </p:txBody>
      </p:sp>
      <p:sp>
        <p:nvSpPr>
          <p:cNvPr id="45" name="Case 1 Question 1">
            <a:extLst>
              <a:ext uri="{FF2B5EF4-FFF2-40B4-BE49-F238E27FC236}">
                <a16:creationId xmlns:a16="http://schemas.microsoft.com/office/drawing/2014/main" id="{282C6A39-A086-7FEC-FCBF-FD0DCD336CFB}"/>
              </a:ext>
            </a:extLst>
          </p:cNvPr>
          <p:cNvSpPr/>
          <p:nvPr/>
        </p:nvSpPr>
        <p:spPr>
          <a:xfrm>
            <a:off x="2283888" y="1342910"/>
            <a:ext cx="4480560"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75 </a:t>
            </a:r>
            <a:r>
              <a:rPr lang="en-US" sz="1400" dirty="0" err="1">
                <a:solidFill>
                  <a:schemeClr val="bg1"/>
                </a:solidFill>
              </a:rPr>
              <a:t>yo</a:t>
            </a:r>
            <a:r>
              <a:rPr lang="en-US" sz="1400" dirty="0">
                <a:solidFill>
                  <a:schemeClr val="bg1"/>
                </a:solidFill>
              </a:rPr>
              <a:t> M with HTN and moderate-severe aortic stenosis</a:t>
            </a:r>
          </a:p>
        </p:txBody>
      </p:sp>
      <p:sp>
        <p:nvSpPr>
          <p:cNvPr id="50" name="Case 1 Answer 1">
            <a:extLst>
              <a:ext uri="{FF2B5EF4-FFF2-40B4-BE49-F238E27FC236}">
                <a16:creationId xmlns:a16="http://schemas.microsoft.com/office/drawing/2014/main" id="{EEA25DF1-7230-C447-A9D1-91FD59207D60}"/>
              </a:ext>
            </a:extLst>
          </p:cNvPr>
          <p:cNvSpPr txBox="1"/>
          <p:nvPr/>
        </p:nvSpPr>
        <p:spPr>
          <a:xfrm>
            <a:off x="2283888" y="1762289"/>
            <a:ext cx="4480560" cy="523220"/>
          </a:xfrm>
          <a:prstGeom prst="rect">
            <a:avLst/>
          </a:prstGeom>
          <a:noFill/>
        </p:spPr>
        <p:txBody>
          <a:bodyPr wrap="square" rtlCol="0">
            <a:spAutoFit/>
          </a:bodyPr>
          <a:lstStyle/>
          <a:p>
            <a:pPr algn="ctr"/>
            <a:r>
              <a:rPr lang="en-US" sz="1400" dirty="0"/>
              <a:t>CHADs-VASc 3. </a:t>
            </a:r>
            <a:r>
              <a:rPr lang="en-US" sz="1400" dirty="0" err="1"/>
              <a:t>Anticoagulate</a:t>
            </a:r>
            <a:r>
              <a:rPr lang="en-US" sz="1400" dirty="0"/>
              <a:t> with any </a:t>
            </a:r>
            <a:r>
              <a:rPr lang="en-US" sz="1400" b="1" dirty="0"/>
              <a:t>DOAC</a:t>
            </a:r>
            <a:r>
              <a:rPr lang="en-US" sz="1400" dirty="0"/>
              <a:t>. Only mitral valve or mechanical valve disease is “valvular” AF.</a:t>
            </a:r>
          </a:p>
        </p:txBody>
      </p:sp>
      <p:pic>
        <p:nvPicPr>
          <p:cNvPr id="52" name="Graphic 51" descr="Cursor with solid fill">
            <a:extLst>
              <a:ext uri="{FF2B5EF4-FFF2-40B4-BE49-F238E27FC236}">
                <a16:creationId xmlns:a16="http://schemas.microsoft.com/office/drawing/2014/main" id="{7D09F6EA-A48C-3C2F-5146-B6875FFAE2E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48647" y="1603023"/>
            <a:ext cx="270672" cy="270672"/>
          </a:xfrm>
          <a:prstGeom prst="rect">
            <a:avLst/>
          </a:prstGeom>
        </p:spPr>
      </p:pic>
      <p:sp>
        <p:nvSpPr>
          <p:cNvPr id="3" name="Case 1 Question 1">
            <a:extLst>
              <a:ext uri="{FF2B5EF4-FFF2-40B4-BE49-F238E27FC236}">
                <a16:creationId xmlns:a16="http://schemas.microsoft.com/office/drawing/2014/main" id="{87A93190-3BE1-4001-CCE5-05E0DCC11A1D}"/>
              </a:ext>
            </a:extLst>
          </p:cNvPr>
          <p:cNvSpPr/>
          <p:nvPr/>
        </p:nvSpPr>
        <p:spPr>
          <a:xfrm>
            <a:off x="2283888" y="2467095"/>
            <a:ext cx="4480560"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82 </a:t>
            </a:r>
            <a:r>
              <a:rPr lang="en-US" sz="1400" dirty="0" err="1">
                <a:solidFill>
                  <a:schemeClr val="bg1"/>
                </a:solidFill>
              </a:rPr>
              <a:t>yo</a:t>
            </a:r>
            <a:r>
              <a:rPr lang="en-US" sz="1400" dirty="0">
                <a:solidFill>
                  <a:schemeClr val="bg1"/>
                </a:solidFill>
              </a:rPr>
              <a:t> F with HTN, HLD, CKD stage IV. Baseline Cr 2.4. </a:t>
            </a:r>
          </a:p>
        </p:txBody>
      </p:sp>
      <p:sp>
        <p:nvSpPr>
          <p:cNvPr id="4" name="Case 1 Answer 1">
            <a:extLst>
              <a:ext uri="{FF2B5EF4-FFF2-40B4-BE49-F238E27FC236}">
                <a16:creationId xmlns:a16="http://schemas.microsoft.com/office/drawing/2014/main" id="{48D8C8E0-126F-75BC-FDAC-BFA1528250B2}"/>
              </a:ext>
            </a:extLst>
          </p:cNvPr>
          <p:cNvSpPr txBox="1"/>
          <p:nvPr/>
        </p:nvSpPr>
        <p:spPr>
          <a:xfrm>
            <a:off x="2283888" y="2886189"/>
            <a:ext cx="4480560" cy="954107"/>
          </a:xfrm>
          <a:prstGeom prst="rect">
            <a:avLst/>
          </a:prstGeom>
          <a:noFill/>
        </p:spPr>
        <p:txBody>
          <a:bodyPr wrap="square" rtlCol="0">
            <a:spAutoFit/>
          </a:bodyPr>
          <a:lstStyle/>
          <a:p>
            <a:pPr algn="ctr"/>
            <a:r>
              <a:rPr lang="en-US" sz="1400" dirty="0"/>
              <a:t>CHADS-VASc 4. </a:t>
            </a:r>
            <a:r>
              <a:rPr lang="en-US" sz="1400" dirty="0" err="1"/>
              <a:t>Anticoagulate</a:t>
            </a:r>
            <a:r>
              <a:rPr lang="en-US" sz="1400" dirty="0"/>
              <a:t> with </a:t>
            </a:r>
            <a:r>
              <a:rPr lang="en-US" sz="1400" b="1" dirty="0"/>
              <a:t>apixaban</a:t>
            </a:r>
            <a:r>
              <a:rPr lang="en-US" sz="1400" dirty="0"/>
              <a:t> </a:t>
            </a:r>
            <a:r>
              <a:rPr lang="en-US" sz="1400" b="1" dirty="0"/>
              <a:t>2.5 mg BID</a:t>
            </a:r>
            <a:r>
              <a:rPr lang="en-US" sz="1400" dirty="0"/>
              <a:t> (preferred for </a:t>
            </a:r>
            <a:r>
              <a:rPr lang="en-US" sz="1400" dirty="0" err="1"/>
              <a:t>CrCl</a:t>
            </a:r>
            <a:r>
              <a:rPr lang="en-US" sz="1400" dirty="0"/>
              <a:t> &lt; 15). Reduced dose of apixaban (2.5 vs 5 mg BID) is given if patients have any 2 of the following: age ≥80, weight ≤60 kg, or Cr ≥1.5.</a:t>
            </a:r>
          </a:p>
        </p:txBody>
      </p:sp>
      <p:pic>
        <p:nvPicPr>
          <p:cNvPr id="6" name="Graphic 5" descr="Cursor with solid fill">
            <a:extLst>
              <a:ext uri="{FF2B5EF4-FFF2-40B4-BE49-F238E27FC236}">
                <a16:creationId xmlns:a16="http://schemas.microsoft.com/office/drawing/2014/main" id="{F90D4BDD-D203-DDD6-4004-2FD1AF2F463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48647" y="2742040"/>
            <a:ext cx="270672" cy="270672"/>
          </a:xfrm>
          <a:prstGeom prst="rect">
            <a:avLst/>
          </a:prstGeom>
        </p:spPr>
      </p:pic>
      <p:sp>
        <p:nvSpPr>
          <p:cNvPr id="8" name="Case 1 Question 1">
            <a:extLst>
              <a:ext uri="{FF2B5EF4-FFF2-40B4-BE49-F238E27FC236}">
                <a16:creationId xmlns:a16="http://schemas.microsoft.com/office/drawing/2014/main" id="{3038BD67-A8DA-379A-E98D-C4A1F0D69D64}"/>
              </a:ext>
            </a:extLst>
          </p:cNvPr>
          <p:cNvSpPr/>
          <p:nvPr/>
        </p:nvSpPr>
        <p:spPr>
          <a:xfrm>
            <a:off x="276456" y="4018334"/>
            <a:ext cx="6487992"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62 </a:t>
            </a:r>
            <a:r>
              <a:rPr lang="en-US" sz="1400" dirty="0" err="1">
                <a:solidFill>
                  <a:schemeClr val="bg1"/>
                </a:solidFill>
              </a:rPr>
              <a:t>yo</a:t>
            </a:r>
            <a:r>
              <a:rPr lang="en-US" sz="1400" dirty="0">
                <a:solidFill>
                  <a:schemeClr val="bg1"/>
                </a:solidFill>
              </a:rPr>
              <a:t> M with severe obesity with BMI 55, DM type II, PAD.</a:t>
            </a:r>
          </a:p>
        </p:txBody>
      </p:sp>
      <p:sp>
        <p:nvSpPr>
          <p:cNvPr id="18" name="Case 1 Answer 1">
            <a:extLst>
              <a:ext uri="{FF2B5EF4-FFF2-40B4-BE49-F238E27FC236}">
                <a16:creationId xmlns:a16="http://schemas.microsoft.com/office/drawing/2014/main" id="{743E5E32-4EC0-F536-6F04-25BF8CB8AEA9}"/>
              </a:ext>
            </a:extLst>
          </p:cNvPr>
          <p:cNvSpPr txBox="1"/>
          <p:nvPr/>
        </p:nvSpPr>
        <p:spPr>
          <a:xfrm>
            <a:off x="276455" y="4437428"/>
            <a:ext cx="6480973" cy="738664"/>
          </a:xfrm>
          <a:prstGeom prst="rect">
            <a:avLst/>
          </a:prstGeom>
          <a:noFill/>
        </p:spPr>
        <p:txBody>
          <a:bodyPr wrap="square" rtlCol="0">
            <a:spAutoFit/>
          </a:bodyPr>
          <a:lstStyle/>
          <a:p>
            <a:pPr algn="ctr"/>
            <a:r>
              <a:rPr lang="en-US" sz="1400" dirty="0"/>
              <a:t>CHADS-VASc 2. Anticoagulation is recommended. Given BMI &gt; 50, discuss risks and benefits of warfarin vs. apixaban or rivaroxaban. There is limited data but his BMI is not an absolute contraindication to DOAC. Consult with a pharmacist.</a:t>
            </a:r>
          </a:p>
        </p:txBody>
      </p:sp>
      <p:pic>
        <p:nvPicPr>
          <p:cNvPr id="19" name="Graphic 18" descr="Cursor with solid fill">
            <a:extLst>
              <a:ext uri="{FF2B5EF4-FFF2-40B4-BE49-F238E27FC236}">
                <a16:creationId xmlns:a16="http://schemas.microsoft.com/office/drawing/2014/main" id="{41E4A392-20AE-6247-2BBA-27A60BBDFB6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48647" y="4292762"/>
            <a:ext cx="270672" cy="270672"/>
          </a:xfrm>
          <a:prstGeom prst="rect">
            <a:avLst/>
          </a:prstGeom>
        </p:spPr>
      </p:pic>
      <p:sp>
        <p:nvSpPr>
          <p:cNvPr id="20" name="Case 1 Question 1">
            <a:extLst>
              <a:ext uri="{FF2B5EF4-FFF2-40B4-BE49-F238E27FC236}">
                <a16:creationId xmlns:a16="http://schemas.microsoft.com/office/drawing/2014/main" id="{4F4836BB-8E90-B96C-1EDD-31CC78506073}"/>
              </a:ext>
            </a:extLst>
          </p:cNvPr>
          <p:cNvSpPr/>
          <p:nvPr/>
        </p:nvSpPr>
        <p:spPr>
          <a:xfrm>
            <a:off x="7183837" y="1355099"/>
            <a:ext cx="4749121"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75 </a:t>
            </a:r>
            <a:r>
              <a:rPr lang="en-US" sz="1400" dirty="0" err="1">
                <a:solidFill>
                  <a:schemeClr val="bg1"/>
                </a:solidFill>
              </a:rPr>
              <a:t>yo</a:t>
            </a:r>
            <a:r>
              <a:rPr lang="en-US" sz="1400" dirty="0">
                <a:solidFill>
                  <a:schemeClr val="bg1"/>
                </a:solidFill>
              </a:rPr>
              <a:t> M with </a:t>
            </a:r>
            <a:r>
              <a:rPr lang="en-US" sz="1400" dirty="0" err="1">
                <a:solidFill>
                  <a:schemeClr val="bg1"/>
                </a:solidFill>
              </a:rPr>
              <a:t>HFrEF</a:t>
            </a:r>
            <a:r>
              <a:rPr lang="en-US" sz="1400" dirty="0">
                <a:solidFill>
                  <a:schemeClr val="bg1"/>
                </a:solidFill>
              </a:rPr>
              <a:t> (EF 38%)</a:t>
            </a:r>
          </a:p>
        </p:txBody>
      </p:sp>
      <p:sp>
        <p:nvSpPr>
          <p:cNvPr id="21" name="Case 1 Answer 1">
            <a:extLst>
              <a:ext uri="{FF2B5EF4-FFF2-40B4-BE49-F238E27FC236}">
                <a16:creationId xmlns:a16="http://schemas.microsoft.com/office/drawing/2014/main" id="{42CE1520-3729-C525-AD30-09B08BB0C2AF}"/>
              </a:ext>
            </a:extLst>
          </p:cNvPr>
          <p:cNvSpPr txBox="1"/>
          <p:nvPr/>
        </p:nvSpPr>
        <p:spPr>
          <a:xfrm>
            <a:off x="7198733" y="1786100"/>
            <a:ext cx="4791870" cy="523220"/>
          </a:xfrm>
          <a:prstGeom prst="rect">
            <a:avLst/>
          </a:prstGeom>
          <a:noFill/>
        </p:spPr>
        <p:txBody>
          <a:bodyPr wrap="square" rtlCol="0">
            <a:spAutoFit/>
          </a:bodyPr>
          <a:lstStyle/>
          <a:p>
            <a:pPr algn="ctr"/>
            <a:r>
              <a:rPr lang="en-US" sz="1400" dirty="0"/>
              <a:t>Evidence based </a:t>
            </a:r>
            <a:r>
              <a:rPr lang="en-US" sz="1400" b="1" dirty="0"/>
              <a:t>beta-blocker</a:t>
            </a:r>
            <a:r>
              <a:rPr lang="en-US" sz="1400" dirty="0"/>
              <a:t>: metoprolol succinate, carvedilol, or bisoprolol</a:t>
            </a:r>
          </a:p>
        </p:txBody>
      </p:sp>
      <p:pic>
        <p:nvPicPr>
          <p:cNvPr id="24" name="Graphic 23" descr="Cursor with solid fill">
            <a:extLst>
              <a:ext uri="{FF2B5EF4-FFF2-40B4-BE49-F238E27FC236}">
                <a16:creationId xmlns:a16="http://schemas.microsoft.com/office/drawing/2014/main" id="{E4954AAE-A396-8CBD-BDBE-6A469AB059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813647" y="1633495"/>
            <a:ext cx="270672" cy="270672"/>
          </a:xfrm>
          <a:prstGeom prst="rect">
            <a:avLst/>
          </a:prstGeom>
        </p:spPr>
      </p:pic>
      <p:sp>
        <p:nvSpPr>
          <p:cNvPr id="25" name="Case 1 Question 1">
            <a:extLst>
              <a:ext uri="{FF2B5EF4-FFF2-40B4-BE49-F238E27FC236}">
                <a16:creationId xmlns:a16="http://schemas.microsoft.com/office/drawing/2014/main" id="{3B8FF44A-1881-4BD1-1264-3D61AEDFC106}"/>
              </a:ext>
            </a:extLst>
          </p:cNvPr>
          <p:cNvSpPr/>
          <p:nvPr/>
        </p:nvSpPr>
        <p:spPr>
          <a:xfrm>
            <a:off x="7183837" y="2456136"/>
            <a:ext cx="4749121"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55 </a:t>
            </a:r>
            <a:r>
              <a:rPr lang="en-US" sz="1400" dirty="0" err="1">
                <a:solidFill>
                  <a:schemeClr val="bg1"/>
                </a:solidFill>
              </a:rPr>
              <a:t>yo</a:t>
            </a:r>
            <a:r>
              <a:rPr lang="en-US" sz="1400" dirty="0">
                <a:solidFill>
                  <a:schemeClr val="bg1"/>
                </a:solidFill>
              </a:rPr>
              <a:t> F with severe asthma and normal LV function</a:t>
            </a:r>
          </a:p>
        </p:txBody>
      </p:sp>
      <p:sp>
        <p:nvSpPr>
          <p:cNvPr id="26" name="Case 1 Answer 1">
            <a:extLst>
              <a:ext uri="{FF2B5EF4-FFF2-40B4-BE49-F238E27FC236}">
                <a16:creationId xmlns:a16="http://schemas.microsoft.com/office/drawing/2014/main" id="{58ADA6C4-58A4-D80A-79FA-60E33BBBFC3C}"/>
              </a:ext>
            </a:extLst>
          </p:cNvPr>
          <p:cNvSpPr txBox="1"/>
          <p:nvPr/>
        </p:nvSpPr>
        <p:spPr>
          <a:xfrm>
            <a:off x="7198733" y="2880577"/>
            <a:ext cx="4791870" cy="523220"/>
          </a:xfrm>
          <a:prstGeom prst="rect">
            <a:avLst/>
          </a:prstGeom>
          <a:noFill/>
        </p:spPr>
        <p:txBody>
          <a:bodyPr wrap="square" rtlCol="0">
            <a:spAutoFit/>
          </a:bodyPr>
          <a:lstStyle/>
          <a:p>
            <a:pPr algn="ctr"/>
            <a:r>
              <a:rPr lang="en-US" sz="1400" dirty="0"/>
              <a:t>Calcium channel blocker, </a:t>
            </a:r>
            <a:r>
              <a:rPr lang="en-US" sz="1400" b="1" dirty="0"/>
              <a:t>diltiazem</a:t>
            </a:r>
            <a:r>
              <a:rPr lang="en-US" sz="1400" dirty="0"/>
              <a:t> most commonly used.</a:t>
            </a:r>
          </a:p>
          <a:p>
            <a:pPr algn="ctr"/>
            <a:r>
              <a:rPr lang="en-US" sz="1400" dirty="0"/>
              <a:t>Avoid beta-blocker in patients with severe airflow obstruction. </a:t>
            </a:r>
          </a:p>
        </p:txBody>
      </p:sp>
      <p:pic>
        <p:nvPicPr>
          <p:cNvPr id="27" name="Graphic 26" descr="Cursor with solid fill">
            <a:extLst>
              <a:ext uri="{FF2B5EF4-FFF2-40B4-BE49-F238E27FC236}">
                <a16:creationId xmlns:a16="http://schemas.microsoft.com/office/drawing/2014/main" id="{A776821F-DA26-894F-0AB8-5E259AC4ABD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813647" y="2715841"/>
            <a:ext cx="270672" cy="270672"/>
          </a:xfrm>
          <a:prstGeom prst="rect">
            <a:avLst/>
          </a:prstGeom>
        </p:spPr>
      </p:pic>
      <p:sp>
        <p:nvSpPr>
          <p:cNvPr id="28" name="Case 3 Question 3">
            <a:extLst>
              <a:ext uri="{FF2B5EF4-FFF2-40B4-BE49-F238E27FC236}">
                <a16:creationId xmlns:a16="http://schemas.microsoft.com/office/drawing/2014/main" id="{655544CE-FD67-84FD-EB52-1F37C1738EEE}"/>
              </a:ext>
            </a:extLst>
          </p:cNvPr>
          <p:cNvSpPr/>
          <p:nvPr/>
        </p:nvSpPr>
        <p:spPr>
          <a:xfrm>
            <a:off x="7183837" y="3589842"/>
            <a:ext cx="4731707" cy="575184"/>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62 </a:t>
            </a:r>
            <a:r>
              <a:rPr lang="en-US" sz="1400" dirty="0" err="1">
                <a:solidFill>
                  <a:schemeClr val="bg1"/>
                </a:solidFill>
              </a:rPr>
              <a:t>yo</a:t>
            </a:r>
            <a:r>
              <a:rPr lang="en-US" sz="1400" dirty="0">
                <a:solidFill>
                  <a:schemeClr val="bg1"/>
                </a:solidFill>
              </a:rPr>
              <a:t> M with mildly decompensated </a:t>
            </a:r>
            <a:r>
              <a:rPr lang="en-US" sz="1400" dirty="0" err="1">
                <a:solidFill>
                  <a:schemeClr val="bg1"/>
                </a:solidFill>
              </a:rPr>
              <a:t>HFrEF</a:t>
            </a:r>
            <a:r>
              <a:rPr lang="en-US" sz="1400" dirty="0">
                <a:solidFill>
                  <a:schemeClr val="bg1"/>
                </a:solidFill>
              </a:rPr>
              <a:t>, on metoprolol succinate 50 mg daily. HR &gt;120. Renal function normal.</a:t>
            </a:r>
          </a:p>
        </p:txBody>
      </p:sp>
      <p:sp>
        <p:nvSpPr>
          <p:cNvPr id="29" name="Case 1 Answer 1">
            <a:extLst>
              <a:ext uri="{FF2B5EF4-FFF2-40B4-BE49-F238E27FC236}">
                <a16:creationId xmlns:a16="http://schemas.microsoft.com/office/drawing/2014/main" id="{FADD5417-39E6-F3F3-0B6F-D36FC8C2AFF6}"/>
              </a:ext>
            </a:extLst>
          </p:cNvPr>
          <p:cNvSpPr txBox="1"/>
          <p:nvPr/>
        </p:nvSpPr>
        <p:spPr>
          <a:xfrm>
            <a:off x="7198733" y="4234718"/>
            <a:ext cx="4716812" cy="523220"/>
          </a:xfrm>
          <a:prstGeom prst="rect">
            <a:avLst/>
          </a:prstGeom>
          <a:noFill/>
        </p:spPr>
        <p:txBody>
          <a:bodyPr wrap="square" rtlCol="0">
            <a:spAutoFit/>
          </a:bodyPr>
          <a:lstStyle/>
          <a:p>
            <a:pPr algn="ctr"/>
            <a:r>
              <a:rPr lang="en-US" sz="1400" dirty="0"/>
              <a:t>Cautious </a:t>
            </a:r>
            <a:r>
              <a:rPr lang="en-US" sz="1400" b="1" dirty="0"/>
              <a:t>up-titration of beta-blocker</a:t>
            </a:r>
            <a:r>
              <a:rPr lang="en-US" sz="1400" dirty="0"/>
              <a:t> </a:t>
            </a:r>
            <a:r>
              <a:rPr lang="en-US" sz="1400" b="1" dirty="0"/>
              <a:t>vs</a:t>
            </a:r>
            <a:r>
              <a:rPr lang="en-US" sz="1400" dirty="0"/>
              <a:t>. addition of </a:t>
            </a:r>
            <a:r>
              <a:rPr lang="en-US" sz="1400" b="1" dirty="0"/>
              <a:t>digoxin</a:t>
            </a:r>
            <a:r>
              <a:rPr lang="en-US" sz="1400" dirty="0"/>
              <a:t> as an adjunct given </a:t>
            </a:r>
            <a:r>
              <a:rPr lang="en-US" sz="1400" dirty="0" err="1"/>
              <a:t>HFrEF</a:t>
            </a:r>
            <a:r>
              <a:rPr lang="en-US" sz="1400" dirty="0"/>
              <a:t>.</a:t>
            </a:r>
          </a:p>
        </p:txBody>
      </p:sp>
      <p:pic>
        <p:nvPicPr>
          <p:cNvPr id="30" name="Graphic 29" descr="Cursor with solid fill">
            <a:extLst>
              <a:ext uri="{FF2B5EF4-FFF2-40B4-BE49-F238E27FC236}">
                <a16:creationId xmlns:a16="http://schemas.microsoft.com/office/drawing/2014/main" id="{2CF31AF7-CA03-1EDE-0822-1D59C4ACF79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813647" y="4052282"/>
            <a:ext cx="270672" cy="270672"/>
          </a:xfrm>
          <a:prstGeom prst="rect">
            <a:avLst/>
          </a:prstGeom>
        </p:spPr>
      </p:pic>
      <p:sp>
        <p:nvSpPr>
          <p:cNvPr id="31" name="Case 1 stem">
            <a:extLst>
              <a:ext uri="{FF2B5EF4-FFF2-40B4-BE49-F238E27FC236}">
                <a16:creationId xmlns:a16="http://schemas.microsoft.com/office/drawing/2014/main" id="{9FE58C7B-BFCF-7F1D-D4F4-B83F11696E6F}"/>
              </a:ext>
            </a:extLst>
          </p:cNvPr>
          <p:cNvSpPr txBox="1"/>
          <p:nvPr/>
        </p:nvSpPr>
        <p:spPr>
          <a:xfrm>
            <a:off x="7183837" y="775062"/>
            <a:ext cx="4465829" cy="523220"/>
          </a:xfrm>
          <a:prstGeom prst="rect">
            <a:avLst/>
          </a:prstGeom>
          <a:noFill/>
        </p:spPr>
        <p:txBody>
          <a:bodyPr wrap="square" rtlCol="0">
            <a:spAutoFit/>
          </a:bodyPr>
          <a:lstStyle/>
          <a:p>
            <a:r>
              <a:rPr lang="en-US" sz="1400" dirty="0"/>
              <a:t>What would you use for rate control of AF in the following agents?</a:t>
            </a:r>
          </a:p>
        </p:txBody>
      </p:sp>
      <p:cxnSp>
        <p:nvCxnSpPr>
          <p:cNvPr id="22" name="Straight Connector 21">
            <a:extLst>
              <a:ext uri="{FF2B5EF4-FFF2-40B4-BE49-F238E27FC236}">
                <a16:creationId xmlns:a16="http://schemas.microsoft.com/office/drawing/2014/main" id="{FB50561B-419F-1C5D-DA1A-046DAD5E42FC}"/>
              </a:ext>
            </a:extLst>
          </p:cNvPr>
          <p:cNvCxnSpPr>
            <a:cxnSpLocks/>
          </p:cNvCxnSpPr>
          <p:nvPr/>
        </p:nvCxnSpPr>
        <p:spPr>
          <a:xfrm>
            <a:off x="6979330" y="148589"/>
            <a:ext cx="0" cy="6451205"/>
          </a:xfrm>
          <a:prstGeom prst="line">
            <a:avLst/>
          </a:prstGeom>
          <a:ln w="38100"/>
        </p:spPr>
        <p:style>
          <a:lnRef idx="1">
            <a:schemeClr val="dk1"/>
          </a:lnRef>
          <a:fillRef idx="0">
            <a:schemeClr val="dk1"/>
          </a:fillRef>
          <a:effectRef idx="0">
            <a:schemeClr val="dk1"/>
          </a:effectRef>
          <a:fontRef idx="minor">
            <a:schemeClr val="tx1"/>
          </a:fontRef>
        </p:style>
      </p:cxnSp>
      <p:sp>
        <p:nvSpPr>
          <p:cNvPr id="23" name="Case 2">
            <a:extLst>
              <a:ext uri="{FF2B5EF4-FFF2-40B4-BE49-F238E27FC236}">
                <a16:creationId xmlns:a16="http://schemas.microsoft.com/office/drawing/2014/main" id="{2D2C534D-388E-C7AD-C746-AEE29B15F89D}"/>
              </a:ext>
            </a:extLst>
          </p:cNvPr>
          <p:cNvSpPr/>
          <p:nvPr/>
        </p:nvSpPr>
        <p:spPr>
          <a:xfrm>
            <a:off x="3744323" y="197245"/>
            <a:ext cx="1371600"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 2</a:t>
            </a:r>
          </a:p>
        </p:txBody>
      </p:sp>
      <p:pic>
        <p:nvPicPr>
          <p:cNvPr id="32" name="Graphic 31" descr="Cursor with solid fill">
            <a:extLst>
              <a:ext uri="{FF2B5EF4-FFF2-40B4-BE49-F238E27FC236}">
                <a16:creationId xmlns:a16="http://schemas.microsoft.com/office/drawing/2014/main" id="{D96F3130-2432-92D2-8104-C8762819671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99875" y="470126"/>
            <a:ext cx="270672" cy="270672"/>
          </a:xfrm>
          <a:prstGeom prst="rect">
            <a:avLst/>
          </a:prstGeom>
        </p:spPr>
      </p:pic>
      <p:sp>
        <p:nvSpPr>
          <p:cNvPr id="33" name="Case 3">
            <a:extLst>
              <a:ext uri="{FF2B5EF4-FFF2-40B4-BE49-F238E27FC236}">
                <a16:creationId xmlns:a16="http://schemas.microsoft.com/office/drawing/2014/main" id="{C0D60EA0-EEF4-634F-DA1B-1F92B36D57C8}"/>
              </a:ext>
            </a:extLst>
          </p:cNvPr>
          <p:cNvSpPr/>
          <p:nvPr/>
        </p:nvSpPr>
        <p:spPr>
          <a:xfrm>
            <a:off x="8816596" y="197911"/>
            <a:ext cx="1371600"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 3</a:t>
            </a:r>
          </a:p>
        </p:txBody>
      </p:sp>
      <p:pic>
        <p:nvPicPr>
          <p:cNvPr id="34" name="Graphic 33" descr="Cursor with solid fill">
            <a:extLst>
              <a:ext uri="{FF2B5EF4-FFF2-40B4-BE49-F238E27FC236}">
                <a16:creationId xmlns:a16="http://schemas.microsoft.com/office/drawing/2014/main" id="{3CBFB05A-DA2E-B854-2E64-8CCAE186591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72148" y="459217"/>
            <a:ext cx="270672" cy="270672"/>
          </a:xfrm>
          <a:prstGeom prst="rect">
            <a:avLst/>
          </a:prstGeom>
        </p:spPr>
      </p:pic>
      <p:sp>
        <p:nvSpPr>
          <p:cNvPr id="40" name="Case 1 Question 1">
            <a:extLst>
              <a:ext uri="{FF2B5EF4-FFF2-40B4-BE49-F238E27FC236}">
                <a16:creationId xmlns:a16="http://schemas.microsoft.com/office/drawing/2014/main" id="{8246A41D-A33C-85CD-AF02-111D6CF5BBDC}"/>
              </a:ext>
            </a:extLst>
          </p:cNvPr>
          <p:cNvSpPr/>
          <p:nvPr/>
        </p:nvSpPr>
        <p:spPr>
          <a:xfrm>
            <a:off x="269437" y="5356117"/>
            <a:ext cx="6487992" cy="54510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78 </a:t>
            </a:r>
            <a:r>
              <a:rPr lang="en-US" sz="1400" dirty="0" err="1">
                <a:solidFill>
                  <a:schemeClr val="bg1"/>
                </a:solidFill>
              </a:rPr>
              <a:t>yo</a:t>
            </a:r>
            <a:r>
              <a:rPr lang="en-US" sz="1400" dirty="0">
                <a:solidFill>
                  <a:schemeClr val="bg1"/>
                </a:solidFill>
              </a:rPr>
              <a:t> F with prior CVA with left sided weakness on aspirin, CAD, and frequent falls. History of NSAID related PUD with GI bleeding requiring a transfusion.</a:t>
            </a:r>
          </a:p>
        </p:txBody>
      </p:sp>
      <p:sp>
        <p:nvSpPr>
          <p:cNvPr id="41" name="Case 1 Answer 1">
            <a:extLst>
              <a:ext uri="{FF2B5EF4-FFF2-40B4-BE49-F238E27FC236}">
                <a16:creationId xmlns:a16="http://schemas.microsoft.com/office/drawing/2014/main" id="{8DF2A857-936D-604E-1ABC-D4163AC89C5D}"/>
              </a:ext>
            </a:extLst>
          </p:cNvPr>
          <p:cNvSpPr txBox="1"/>
          <p:nvPr/>
        </p:nvSpPr>
        <p:spPr>
          <a:xfrm>
            <a:off x="269437" y="5950454"/>
            <a:ext cx="6487991" cy="738664"/>
          </a:xfrm>
          <a:prstGeom prst="rect">
            <a:avLst/>
          </a:prstGeom>
          <a:noFill/>
        </p:spPr>
        <p:txBody>
          <a:bodyPr wrap="square" rtlCol="0">
            <a:spAutoFit/>
          </a:bodyPr>
          <a:lstStyle/>
          <a:p>
            <a:pPr algn="ctr"/>
            <a:r>
              <a:rPr lang="en-US" sz="1400" dirty="0"/>
              <a:t>CHADS-VASc 4 (4.8% annual stroke risk). HASBLED 4 (8.9% risk of bleeding). However, anticoagulation should still be considered. Risk of functional debility from stroke outweighs risk of nonmajor bleeding. Any DOAC could be considered.  </a:t>
            </a:r>
          </a:p>
        </p:txBody>
      </p:sp>
      <p:pic>
        <p:nvPicPr>
          <p:cNvPr id="42" name="Graphic 41" descr="Cursor with solid fill">
            <a:extLst>
              <a:ext uri="{FF2B5EF4-FFF2-40B4-BE49-F238E27FC236}">
                <a16:creationId xmlns:a16="http://schemas.microsoft.com/office/drawing/2014/main" id="{06550516-8B47-DA7B-9ACB-34BF35DDD57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44127" y="5805788"/>
            <a:ext cx="270672" cy="270672"/>
          </a:xfrm>
          <a:prstGeom prst="rect">
            <a:avLst/>
          </a:prstGeom>
        </p:spPr>
      </p:pic>
      <p:sp>
        <p:nvSpPr>
          <p:cNvPr id="43" name="Case 3 Question 3">
            <a:extLst>
              <a:ext uri="{FF2B5EF4-FFF2-40B4-BE49-F238E27FC236}">
                <a16:creationId xmlns:a16="http://schemas.microsoft.com/office/drawing/2014/main" id="{F2B9794C-78DE-59CE-4DB3-E34B2BE9DA06}"/>
              </a:ext>
            </a:extLst>
          </p:cNvPr>
          <p:cNvSpPr/>
          <p:nvPr/>
        </p:nvSpPr>
        <p:spPr>
          <a:xfrm>
            <a:off x="7182638" y="4913637"/>
            <a:ext cx="4749120" cy="575184"/>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62 </a:t>
            </a:r>
            <a:r>
              <a:rPr lang="en-US" sz="1400" dirty="0" err="1">
                <a:solidFill>
                  <a:schemeClr val="bg1"/>
                </a:solidFill>
              </a:rPr>
              <a:t>yo</a:t>
            </a:r>
            <a:r>
              <a:rPr lang="en-US" sz="1400" dirty="0">
                <a:solidFill>
                  <a:schemeClr val="bg1"/>
                </a:solidFill>
              </a:rPr>
              <a:t> M above with </a:t>
            </a:r>
            <a:r>
              <a:rPr lang="en-US" sz="1400" dirty="0" err="1">
                <a:solidFill>
                  <a:schemeClr val="bg1"/>
                </a:solidFill>
              </a:rPr>
              <a:t>HFrEF</a:t>
            </a:r>
            <a:r>
              <a:rPr lang="en-US" sz="1400" dirty="0">
                <a:solidFill>
                  <a:schemeClr val="bg1"/>
                </a:solidFill>
              </a:rPr>
              <a:t>. Started on digoxin and increased metoprolol without improvement in HR. SBP 90-100. </a:t>
            </a:r>
          </a:p>
        </p:txBody>
      </p:sp>
      <p:sp>
        <p:nvSpPr>
          <p:cNvPr id="46" name="Case 1 Answer 1">
            <a:extLst>
              <a:ext uri="{FF2B5EF4-FFF2-40B4-BE49-F238E27FC236}">
                <a16:creationId xmlns:a16="http://schemas.microsoft.com/office/drawing/2014/main" id="{FF76BFDB-6EA0-9016-C77A-5FCAD84777E1}"/>
              </a:ext>
            </a:extLst>
          </p:cNvPr>
          <p:cNvSpPr txBox="1"/>
          <p:nvPr/>
        </p:nvSpPr>
        <p:spPr>
          <a:xfrm>
            <a:off x="7197533" y="5534380"/>
            <a:ext cx="4716812" cy="738664"/>
          </a:xfrm>
          <a:prstGeom prst="rect">
            <a:avLst/>
          </a:prstGeom>
          <a:noFill/>
        </p:spPr>
        <p:txBody>
          <a:bodyPr wrap="square" rtlCol="0">
            <a:spAutoFit/>
          </a:bodyPr>
          <a:lstStyle/>
          <a:p>
            <a:pPr algn="ctr"/>
            <a:r>
              <a:rPr lang="en-US" sz="1400" dirty="0"/>
              <a:t>Cardiology referral for consideration of rhythm control or AV node ablation with pacemaker placement. Hypotension limits </a:t>
            </a:r>
            <a:r>
              <a:rPr lang="en-US" sz="1400" dirty="0" err="1"/>
              <a:t>uptitration</a:t>
            </a:r>
            <a:r>
              <a:rPr lang="en-US" sz="1400" dirty="0"/>
              <a:t> of metoprolol and lack of rate control with digoxin. </a:t>
            </a:r>
          </a:p>
        </p:txBody>
      </p:sp>
      <p:pic>
        <p:nvPicPr>
          <p:cNvPr id="47" name="Graphic 46" descr="Cursor with solid fill">
            <a:extLst>
              <a:ext uri="{FF2B5EF4-FFF2-40B4-BE49-F238E27FC236}">
                <a16:creationId xmlns:a16="http://schemas.microsoft.com/office/drawing/2014/main" id="{B6126E71-AF85-79E3-9F3C-09F3FE8B840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813647" y="5377706"/>
            <a:ext cx="270672" cy="270672"/>
          </a:xfrm>
          <a:prstGeom prst="rect">
            <a:avLst/>
          </a:prstGeom>
        </p:spPr>
      </p:pic>
    </p:spTree>
    <p:extLst>
      <p:ext uri="{BB962C8B-B14F-4D97-AF65-F5344CB8AC3E}">
        <p14:creationId xmlns:p14="http://schemas.microsoft.com/office/powerpoint/2010/main" val="41089694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25" restart="whenNotActive" fill="hold" evtFilter="cancelBubble" nodeType="interactiveSeq">
                <p:stCondLst>
                  <p:cond evt="onClick" delay="0">
                    <p:tgtEl>
                      <p:spTgt spid="33"/>
                    </p:tgtEl>
                  </p:cond>
                </p:stCondLst>
                <p:endSync evt="end" delay="0">
                  <p:rtn val="all"/>
                </p:endSync>
                <p:childTnLst>
                  <p:par>
                    <p:cTn id="26" fill="hold">
                      <p:stCondLst>
                        <p:cond delay="0"/>
                      </p:stCondLst>
                      <p:childTnLst>
                        <p:par>
                          <p:cTn id="27" fill="hold">
                            <p:stCondLst>
                              <p:cond delay="0"/>
                            </p:stCondLst>
                            <p:childTnLst>
                              <p:par>
                                <p:cTn id="28" presetID="1" presetClass="exit" presetSubtype="0" fill="hold" nodeType="withEffect">
                                  <p:stCondLst>
                                    <p:cond delay="0"/>
                                  </p:stCondLst>
                                  <p:childTnLst>
                                    <p:set>
                                      <p:cBhvr>
                                        <p:cTn id="29" dur="1" fill="hold">
                                          <p:stCondLst>
                                            <p:cond delay="0"/>
                                          </p:stCondLst>
                                        </p:cTn>
                                        <p:tgtEl>
                                          <p:spTgt spid="34"/>
                                        </p:tgtEl>
                                        <p:attrNameLst>
                                          <p:attrName>style.visibility</p:attrName>
                                        </p:attrNameLst>
                                      </p:cBhvr>
                                      <p:to>
                                        <p:strVal val="hidden"/>
                                      </p:to>
                                    </p:set>
                                  </p:childTnLst>
                                </p:cTn>
                              </p:par>
                              <p:par>
                                <p:cTn id="30" presetID="1" presetClass="entr" presetSubtype="0" fill="hold" nodeType="withEffect">
                                  <p:stCondLst>
                                    <p:cond delay="0"/>
                                  </p:stCondLst>
                                  <p:childTnLst>
                                    <p:set>
                                      <p:cBhvr>
                                        <p:cTn id="31" dur="1" fill="hold">
                                          <p:stCondLst>
                                            <p:cond delay="0"/>
                                          </p:stCondLst>
                                        </p:cTn>
                                        <p:tgtEl>
                                          <p:spTgt spid="2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1"/>
                                        </p:tgtEl>
                                        <p:attrNameLst>
                                          <p:attrName>style.visibility</p:attrName>
                                        </p:attrNameLst>
                                      </p:cBhvr>
                                      <p:to>
                                        <p:strVal val="visible"/>
                                      </p:to>
                                    </p:set>
                                  </p:childTnLst>
                                </p:cTn>
                              </p:par>
                            </p:childTnLst>
                          </p:cTn>
                        </p:par>
                      </p:childTnLst>
                    </p:cTn>
                  </p:par>
                </p:childTnLst>
              </p:cTn>
              <p:nextCondLst>
                <p:cond evt="onClick" delay="0">
                  <p:tgtEl>
                    <p:spTgt spid="33"/>
                  </p:tgtEl>
                </p:cond>
              </p:nextCondLst>
            </p:seq>
            <p:seq concurrent="1" nextAc="seek">
              <p:cTn id="44" restart="whenNotActive" fill="hold" evtFilter="cancelBubble" nodeType="interactiveSeq">
                <p:stCondLst>
                  <p:cond evt="onClick" delay="0">
                    <p:tgtEl>
                      <p:spTgt spid="40"/>
                    </p:tgtEl>
                  </p:cond>
                </p:stCondLst>
                <p:endSync evt="end" delay="0">
                  <p:rtn val="all"/>
                </p:endSync>
                <p:childTnLst>
                  <p:par>
                    <p:cTn id="45" fill="hold">
                      <p:stCondLst>
                        <p:cond delay="0"/>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42"/>
                                        </p:tgtEl>
                                        <p:attrNameLst>
                                          <p:attrName>style.visibility</p:attrName>
                                        </p:attrNameLst>
                                      </p:cBhvr>
                                      <p:to>
                                        <p:strVal val="hidden"/>
                                      </p:to>
                                    </p:set>
                                  </p:childTnLst>
                                </p:cTn>
                              </p:par>
                            </p:childTnLst>
                          </p:cTn>
                        </p:par>
                      </p:childTnLst>
                    </p:cTn>
                  </p:par>
                </p:childTnLst>
              </p:cTn>
              <p:nextCondLst>
                <p:cond evt="onClick" delay="0">
                  <p:tgtEl>
                    <p:spTgt spid="40"/>
                  </p:tgtEl>
                </p:cond>
              </p:nextCondLst>
            </p:seq>
            <p:seq concurrent="1" nextAc="seek">
              <p:cTn id="51" restart="whenNotActive" fill="hold" evtFilter="cancelBubble" nodeType="interactiveSeq">
                <p:stCondLst>
                  <p:cond evt="onClick" delay="0">
                    <p:tgtEl>
                      <p:spTgt spid="45"/>
                    </p:tgtEl>
                  </p:cond>
                </p:stCondLst>
                <p:endSync evt="end" delay="0">
                  <p:rtn val="all"/>
                </p:endSync>
                <p:childTnLst>
                  <p:par>
                    <p:cTn id="52" fill="hold">
                      <p:stCondLst>
                        <p:cond delay="0"/>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0"/>
                                        </p:tgtEl>
                                        <p:attrNameLst>
                                          <p:attrName>style.visibility</p:attrName>
                                        </p:attrNameLst>
                                      </p:cBhvr>
                                      <p:to>
                                        <p:strVal val="visible"/>
                                      </p:to>
                                    </p:set>
                                  </p:childTnLst>
                                </p:cTn>
                              </p:par>
                              <p:par>
                                <p:cTn id="56" presetID="1" presetClass="exit" presetSubtype="0" fill="hold" nodeType="withEffect">
                                  <p:stCondLst>
                                    <p:cond delay="0"/>
                                  </p:stCondLst>
                                  <p:childTnLst>
                                    <p:set>
                                      <p:cBhvr>
                                        <p:cTn id="57" dur="1" fill="hold">
                                          <p:stCondLst>
                                            <p:cond delay="0"/>
                                          </p:stCondLst>
                                        </p:cTn>
                                        <p:tgtEl>
                                          <p:spTgt spid="52"/>
                                        </p:tgtEl>
                                        <p:attrNameLst>
                                          <p:attrName>style.visibility</p:attrName>
                                        </p:attrNameLst>
                                      </p:cBhvr>
                                      <p:to>
                                        <p:strVal val="hidden"/>
                                      </p:to>
                                    </p:set>
                                  </p:childTnLst>
                                </p:cTn>
                              </p:par>
                            </p:childTnLst>
                          </p:cTn>
                        </p:par>
                      </p:childTnLst>
                    </p:cTn>
                  </p:par>
                </p:childTnLst>
              </p:cTn>
              <p:nextCondLst>
                <p:cond evt="onClick" delay="0">
                  <p:tgtEl>
                    <p:spTgt spid="45"/>
                  </p:tgtEl>
                </p:cond>
              </p:nextCondLst>
            </p:seq>
            <p:seq concurrent="1" nextAc="seek">
              <p:cTn id="58" restart="whenNotActive" fill="hold" evtFilter="cancelBubble" nodeType="interactiveSeq">
                <p:stCondLst>
                  <p:cond evt="onClick" delay="0">
                    <p:tgtEl>
                      <p:spTgt spid="3"/>
                    </p:tgtEl>
                  </p:cond>
                </p:stCondLst>
                <p:endSync evt="end" delay="0">
                  <p:rtn val="all"/>
                </p:endSync>
                <p:childTnLst>
                  <p:par>
                    <p:cTn id="59" fill="hold">
                      <p:stCondLst>
                        <p:cond delay="0"/>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par>
                                <p:cTn id="63" presetID="1" presetClass="exit" presetSubtype="0" fill="hold" nodeType="withEffect">
                                  <p:stCondLst>
                                    <p:cond delay="0"/>
                                  </p:stCondLst>
                                  <p:childTnLst>
                                    <p:set>
                                      <p:cBhvr>
                                        <p:cTn id="64" dur="1" fill="hold">
                                          <p:stCondLst>
                                            <p:cond delay="0"/>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3"/>
                  </p:tgtEl>
                </p:cond>
              </p:nextCondLst>
            </p:seq>
            <p:seq concurrent="1" nextAc="seek">
              <p:cTn id="65" restart="whenNotActive" fill="hold" evtFilter="cancelBubble" nodeType="interactiveSeq">
                <p:stCondLst>
                  <p:cond evt="onClick" delay="0">
                    <p:tgtEl>
                      <p:spTgt spid="8"/>
                    </p:tgtEl>
                  </p:cond>
                </p:stCondLst>
                <p:endSync evt="end" delay="0">
                  <p:rtn val="all"/>
                </p:endSync>
                <p:childTnLst>
                  <p:par>
                    <p:cTn id="66" fill="hold">
                      <p:stCondLst>
                        <p:cond delay="0"/>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8"/>
                                        </p:tgtEl>
                                        <p:attrNameLst>
                                          <p:attrName>style.visibility</p:attrName>
                                        </p:attrNameLst>
                                      </p:cBhvr>
                                      <p:to>
                                        <p:strVal val="visible"/>
                                      </p:to>
                                    </p:set>
                                  </p:childTnLst>
                                </p:cTn>
                              </p:par>
                              <p:par>
                                <p:cTn id="70" presetID="1" presetClass="exit" presetSubtype="0" fill="hold" nodeType="withEffect">
                                  <p:stCondLst>
                                    <p:cond delay="0"/>
                                  </p:stCondLst>
                                  <p:childTnLst>
                                    <p:set>
                                      <p:cBhvr>
                                        <p:cTn id="71"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72" restart="whenNotActive" fill="hold" evtFilter="cancelBubble" nodeType="interactiveSeq">
                <p:stCondLst>
                  <p:cond evt="onClick" delay="0">
                    <p:tgtEl>
                      <p:spTgt spid="20"/>
                    </p:tgtEl>
                  </p:cond>
                </p:stCondLst>
                <p:endSync evt="end" delay="0">
                  <p:rtn val="all"/>
                </p:endSync>
                <p:childTnLst>
                  <p:par>
                    <p:cTn id="73" fill="hold">
                      <p:stCondLst>
                        <p:cond delay="0"/>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childTnLst>
                                </p:cTn>
                              </p:par>
                              <p:par>
                                <p:cTn id="77" presetID="1" presetClass="exit" presetSubtype="0" fill="hold" nodeType="withEffect">
                                  <p:stCondLst>
                                    <p:cond delay="0"/>
                                  </p:stCondLst>
                                  <p:childTnLst>
                                    <p:set>
                                      <p:cBhvr>
                                        <p:cTn id="78" dur="1" fill="hold">
                                          <p:stCondLst>
                                            <p:cond delay="0"/>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79" restart="whenNotActive" fill="hold" evtFilter="cancelBubble" nodeType="interactiveSeq">
                <p:stCondLst>
                  <p:cond evt="onClick" delay="0">
                    <p:tgtEl>
                      <p:spTgt spid="28"/>
                    </p:tgtEl>
                  </p:cond>
                </p:stCondLst>
                <p:endSync evt="end" delay="0">
                  <p:rtn val="all"/>
                </p:endSync>
                <p:childTnLst>
                  <p:par>
                    <p:cTn id="80" fill="hold">
                      <p:stCondLst>
                        <p:cond delay="0"/>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9"/>
                                        </p:tgtEl>
                                        <p:attrNameLst>
                                          <p:attrName>style.visibility</p:attrName>
                                        </p:attrNameLst>
                                      </p:cBhvr>
                                      <p:to>
                                        <p:strVal val="visible"/>
                                      </p:to>
                                    </p:set>
                                  </p:childTnLst>
                                </p:cTn>
                              </p:par>
                              <p:par>
                                <p:cTn id="84" presetID="1" presetClass="exit" presetSubtype="0" fill="hold" nodeType="withEffect">
                                  <p:stCondLst>
                                    <p:cond delay="0"/>
                                  </p:stCondLst>
                                  <p:childTnLst>
                                    <p:set>
                                      <p:cBhvr>
                                        <p:cTn id="85" dur="1" fill="hold">
                                          <p:stCondLst>
                                            <p:cond delay="0"/>
                                          </p:stCondLst>
                                        </p:cTn>
                                        <p:tgtEl>
                                          <p:spTgt spid="30"/>
                                        </p:tgtEl>
                                        <p:attrNameLst>
                                          <p:attrName>style.visibility</p:attrName>
                                        </p:attrNameLst>
                                      </p:cBhvr>
                                      <p:to>
                                        <p:strVal val="hidden"/>
                                      </p:to>
                                    </p:set>
                                  </p:childTnLst>
                                </p:cTn>
                              </p:par>
                              <p:par>
                                <p:cTn id="86" presetID="1" presetClass="entr" presetSubtype="0" fill="hold" grpId="0" nodeType="withEffect">
                                  <p:stCondLst>
                                    <p:cond delay="0"/>
                                  </p:stCondLst>
                                  <p:childTnLst>
                                    <p:set>
                                      <p:cBhvr>
                                        <p:cTn id="87" dur="1" fill="hold">
                                          <p:stCondLst>
                                            <p:cond delay="0"/>
                                          </p:stCondLst>
                                        </p:cTn>
                                        <p:tgtEl>
                                          <p:spTgt spid="43"/>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47"/>
                                        </p:tgtEl>
                                        <p:attrNameLst>
                                          <p:attrName>style.visibility</p:attrName>
                                        </p:attrNameLst>
                                      </p:cBhvr>
                                      <p:to>
                                        <p:strVal val="visible"/>
                                      </p:to>
                                    </p:set>
                                  </p:childTnLst>
                                </p:cTn>
                              </p:par>
                            </p:childTnLst>
                          </p:cTn>
                        </p:par>
                      </p:childTnLst>
                    </p:cTn>
                  </p:par>
                </p:childTnLst>
              </p:cTn>
              <p:nextCondLst>
                <p:cond evt="onClick" delay="0">
                  <p:tgtEl>
                    <p:spTgt spid="28"/>
                  </p:tgtEl>
                </p:cond>
              </p:nextCondLst>
            </p:seq>
            <p:seq concurrent="1" nextAc="seek">
              <p:cTn id="90" restart="whenNotActive" fill="hold" evtFilter="cancelBubble" nodeType="interactiveSeq">
                <p:stCondLst>
                  <p:cond evt="onClick" delay="0">
                    <p:tgtEl>
                      <p:spTgt spid="25"/>
                    </p:tgtEl>
                  </p:cond>
                </p:stCondLst>
                <p:endSync evt="end" delay="0">
                  <p:rtn val="all"/>
                </p:endSync>
                <p:childTnLst>
                  <p:par>
                    <p:cTn id="91" fill="hold">
                      <p:stCondLst>
                        <p:cond delay="0"/>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6"/>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97" restart="whenNotActive" fill="hold" evtFilter="cancelBubble" nodeType="interactiveSeq">
                <p:stCondLst>
                  <p:cond evt="onClick" delay="0">
                    <p:tgtEl>
                      <p:spTgt spid="43"/>
                    </p:tgtEl>
                  </p:cond>
                </p:stCondLst>
                <p:endSync evt="end" delay="0">
                  <p:rtn val="all"/>
                </p:endSync>
                <p:childTnLst>
                  <p:par>
                    <p:cTn id="98" fill="hold">
                      <p:stCondLst>
                        <p:cond delay="0"/>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46"/>
                                        </p:tgtEl>
                                        <p:attrNameLst>
                                          <p:attrName>style.visibility</p:attrName>
                                        </p:attrNameLst>
                                      </p:cBhvr>
                                      <p:to>
                                        <p:strVal val="visible"/>
                                      </p:to>
                                    </p:set>
                                  </p:childTnLst>
                                </p:cTn>
                              </p:par>
                              <p:par>
                                <p:cTn id="102" presetID="1" presetClass="exit" presetSubtype="0" fill="hold" nodeType="withEffect">
                                  <p:stCondLst>
                                    <p:cond delay="0"/>
                                  </p:stCondLst>
                                  <p:childTnLst>
                                    <p:set>
                                      <p:cBhvr>
                                        <p:cTn id="103" dur="1" fill="hold">
                                          <p:stCondLst>
                                            <p:cond delay="0"/>
                                          </p:stCondLst>
                                        </p:cTn>
                                        <p:tgtEl>
                                          <p:spTgt spid="47"/>
                                        </p:tgtEl>
                                        <p:attrNameLst>
                                          <p:attrName>style.visibility</p:attrName>
                                        </p:attrNameLst>
                                      </p:cBhvr>
                                      <p:to>
                                        <p:strVal val="hidden"/>
                                      </p:to>
                                    </p:set>
                                  </p:childTnLst>
                                </p:cTn>
                              </p:par>
                            </p:childTnLst>
                          </p:cTn>
                        </p:par>
                      </p:childTnLst>
                    </p:cTn>
                  </p:par>
                </p:childTnLst>
              </p:cTn>
              <p:nextCondLst>
                <p:cond evt="onClick" delay="0">
                  <p:tgtEl>
                    <p:spTgt spid="43"/>
                  </p:tgtEl>
                </p:cond>
              </p:nextCondLst>
            </p:seq>
          </p:childTnLst>
        </p:cTn>
      </p:par>
    </p:tnLst>
    <p:bldLst>
      <p:bldP spid="44" grpId="0"/>
      <p:bldP spid="45" grpId="0" animBg="1"/>
      <p:bldP spid="50" grpId="0"/>
      <p:bldP spid="3" grpId="0" animBg="1"/>
      <p:bldP spid="4" grpId="0"/>
      <p:bldP spid="8" grpId="0" animBg="1"/>
      <p:bldP spid="18" grpId="0"/>
      <p:bldP spid="20" grpId="0" animBg="1"/>
      <p:bldP spid="21" grpId="0"/>
      <p:bldP spid="25" grpId="0" animBg="1"/>
      <p:bldP spid="26" grpId="0"/>
      <p:bldP spid="28" grpId="0" animBg="1"/>
      <p:bldP spid="29" grpId="0"/>
      <p:bldP spid="31" grpId="0"/>
      <p:bldP spid="40" grpId="0" animBg="1"/>
      <p:bldP spid="41" grpId="0"/>
      <p:bldP spid="43" grpId="0" animBg="1"/>
      <p:bldP spid="46" grpId="0"/>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46304"/>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1186160" cy="822960"/>
          </a:xfrm>
          <a:prstGeom prst="rect">
            <a:avLst/>
          </a:prstGeom>
          <a:noFill/>
        </p:spPr>
        <p:txBody>
          <a:bodyPr wrap="square">
            <a:spAutoFit/>
          </a:bodyPr>
          <a:lstStyle/>
          <a:p>
            <a:r>
              <a:rPr b="1" sz="3000">
                <a:solidFill>
                  <a:srgbClr val="0E6E8C"/>
                </a:solidFill>
                <a:latin typeface="Calibri"/>
              </a:rPr>
              <a:t>2024 Update — 2023 ACC/AHA/ACCP/HRS AF Guideline</a:t>
            </a:r>
          </a:p>
        </p:txBody>
      </p:sp>
      <p:sp>
        <p:nvSpPr>
          <p:cNvPr id="4" name="TextBox 3"/>
          <p:cNvSpPr txBox="1"/>
          <p:nvPr/>
        </p:nvSpPr>
        <p:spPr>
          <a:xfrm>
            <a:off x="548640" y="1325880"/>
            <a:ext cx="11094720" cy="5029200"/>
          </a:xfrm>
          <a:prstGeom prst="rect">
            <a:avLst/>
          </a:prstGeom>
          <a:noFill/>
        </p:spPr>
        <p:txBody>
          <a:bodyPr wrap="square">
            <a:spAutoFit/>
          </a:bodyPr>
          <a:lstStyle/>
          <a:p>
            <a:pPr>
              <a:spcAft>
                <a:spcPts val="700"/>
              </a:spcAft>
            </a:pPr>
            <a:r>
              <a:rPr b="1" sz="1550">
                <a:solidFill>
                  <a:srgbClr val="1A2433"/>
                </a:solidFill>
                <a:latin typeface="Calibri"/>
              </a:rPr>
              <a:t>Staging: </a:t>
            </a:r>
            <a:r>
              <a:rPr sz="1550">
                <a:solidFill>
                  <a:srgbClr val="1A2433"/>
                </a:solidFill>
                <a:latin typeface="Calibri"/>
              </a:rPr>
              <a:t>AF now staged 1 (at-risk) → 2 (pre-AF) → 3 (AF: 3A paroxysmal, 3B persistent, 3C long-standing, 3D post-ablation) → 4 (permanent). Replaces duration-only labels.</a:t>
            </a:r>
          </a:p>
          <a:p>
            <a:pPr>
              <a:spcAft>
                <a:spcPts val="700"/>
              </a:spcAft>
            </a:pPr>
            <a:r>
              <a:rPr b="1" sz="1550">
                <a:solidFill>
                  <a:srgbClr val="1A2433"/>
                </a:solidFill>
                <a:latin typeface="Calibri"/>
              </a:rPr>
              <a:t>Anticoagulate by absolute risk: </a:t>
            </a:r>
            <a:r>
              <a:rPr sz="1550">
                <a:solidFill>
                  <a:srgbClr val="1A2433"/>
                </a:solidFill>
                <a:latin typeface="Calibri"/>
              </a:rPr>
              <a:t>≥2%/yr stroke risk → OAC (Class 1) — ≈ CHA₂DS₂-VASc ≥2 men / ≥3 women; score 1(m)/2(f) reasonable (2a). Use the score to estimate risk, not as a rigid cutoff.</a:t>
            </a:r>
          </a:p>
          <a:p>
            <a:pPr>
              <a:spcAft>
                <a:spcPts val="700"/>
              </a:spcAft>
            </a:pPr>
            <a:r>
              <a:rPr b="1" sz="1550">
                <a:solidFill>
                  <a:srgbClr val="1A2433"/>
                </a:solidFill>
                <a:latin typeface="Calibri"/>
              </a:rPr>
              <a:t>DOAC over warfarin (Class 1): </a:t>
            </a:r>
            <a:r>
              <a:rPr sz="1550">
                <a:solidFill>
                  <a:srgbClr val="1A2433"/>
                </a:solidFill>
                <a:latin typeface="Calibri"/>
              </a:rPr>
              <a:t>warfarin only for mechanical valve or moderate–severe mitral stenosis. The term “nonvalvular AF” is de-emphasized.</a:t>
            </a:r>
          </a:p>
          <a:p>
            <a:pPr>
              <a:spcAft>
                <a:spcPts val="700"/>
              </a:spcAft>
            </a:pPr>
            <a:r>
              <a:rPr b="1" sz="1550">
                <a:solidFill>
                  <a:srgbClr val="1A2433"/>
                </a:solidFill>
                <a:latin typeface="Calibri"/>
              </a:rPr>
              <a:t>Catheter ablation upgraded: </a:t>
            </a:r>
            <a:r>
              <a:rPr sz="1550">
                <a:solidFill>
                  <a:srgbClr val="1A2433"/>
                </a:solidFill>
                <a:latin typeface="Calibri"/>
              </a:rPr>
              <a:t>Class 1 first-line rhythm control in selected symptomatic paroxysmal AF (younger, few comorbidities) AND in AF with HFrEF.</a:t>
            </a:r>
          </a:p>
          <a:p>
            <a:pPr>
              <a:spcAft>
                <a:spcPts val="700"/>
              </a:spcAft>
            </a:pPr>
            <a:r>
              <a:rPr b="1" sz="1550">
                <a:solidFill>
                  <a:srgbClr val="1A2433"/>
                </a:solidFill>
                <a:latin typeface="Calibri"/>
              </a:rPr>
              <a:t>Lifestyle is a pillar: </a:t>
            </a:r>
            <a:r>
              <a:rPr sz="1550">
                <a:solidFill>
                  <a:srgbClr val="1A2433"/>
                </a:solidFill>
                <a:latin typeface="Calibri"/>
              </a:rPr>
              <a:t>weight loss (target BMI &lt;27), alcohol reduction, BP control, OSA screening improve rate- and rhythm-control success.</a:t>
            </a:r>
          </a:p>
          <a:p>
            <a:pPr>
              <a:spcAft>
                <a:spcPts val="700"/>
              </a:spcAft>
            </a:pPr>
            <a:r>
              <a:rPr b="1" sz="1550">
                <a:solidFill>
                  <a:srgbClr val="1A2433"/>
                </a:solidFill>
                <a:latin typeface="Calibri"/>
              </a:rPr>
              <a:t>LAAO (e.g., WATCHMAN): </a:t>
            </a:r>
            <a:r>
              <a:rPr sz="1550">
                <a:solidFill>
                  <a:srgbClr val="1A2433"/>
                </a:solidFill>
                <a:latin typeface="Calibri"/>
              </a:rPr>
              <a:t>upgraded to Class 2a when there is a long-term contraindication to anticoagulation.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46304"/>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1186160" cy="822960"/>
          </a:xfrm>
          <a:prstGeom prst="rect">
            <a:avLst/>
          </a:prstGeom>
          <a:noFill/>
        </p:spPr>
        <p:txBody>
          <a:bodyPr wrap="square">
            <a:spAutoFit/>
          </a:bodyPr>
          <a:lstStyle/>
          <a:p>
            <a:r>
              <a:rPr b="1" sz="3000">
                <a:solidFill>
                  <a:srgbClr val="2E7D4F"/>
                </a:solidFill>
                <a:latin typeface="Calibri"/>
              </a:rPr>
              <a:t>Take-Home Points</a:t>
            </a:r>
          </a:p>
        </p:txBody>
      </p:sp>
      <p:sp>
        <p:nvSpPr>
          <p:cNvPr id="4" name="TextBox 3"/>
          <p:cNvSpPr txBox="1"/>
          <p:nvPr/>
        </p:nvSpPr>
        <p:spPr>
          <a:xfrm>
            <a:off x="548640" y="1325880"/>
            <a:ext cx="11094720" cy="5029200"/>
          </a:xfrm>
          <a:prstGeom prst="rect">
            <a:avLst/>
          </a:prstGeom>
          <a:noFill/>
        </p:spPr>
        <p:txBody>
          <a:bodyPr wrap="square">
            <a:spAutoFit/>
          </a:bodyPr>
          <a:lstStyle/>
          <a:p>
            <a:pPr>
              <a:spcAft>
                <a:spcPts val="700"/>
              </a:spcAft>
            </a:pPr>
            <a:r>
              <a:rPr b="1" sz="1550">
                <a:solidFill>
                  <a:srgbClr val="1A2433"/>
                </a:solidFill>
                <a:latin typeface="Calibri"/>
              </a:rPr>
              <a:t>1. </a:t>
            </a:r>
            <a:r>
              <a:rPr sz="1550">
                <a:solidFill>
                  <a:srgbClr val="1A2433"/>
                </a:solidFill>
                <a:latin typeface="Calibri"/>
              </a:rPr>
              <a:t>Use CHA₂DS₂-VASc to estimate annual stroke risk; anticoagulate at ≥2%/yr (≥2 men / ≥3 women) and in ALL patients peri-cardioversion regardless of score.</a:t>
            </a:r>
          </a:p>
          <a:p>
            <a:pPr>
              <a:spcAft>
                <a:spcPts val="700"/>
              </a:spcAft>
            </a:pPr>
            <a:r>
              <a:rPr b="1" sz="1550">
                <a:solidFill>
                  <a:srgbClr val="1A2433"/>
                </a:solidFill>
                <a:latin typeface="Calibri"/>
              </a:rPr>
              <a:t>2. </a:t>
            </a:r>
            <a:r>
              <a:rPr sz="1550">
                <a:solidFill>
                  <a:srgbClr val="1A2433"/>
                </a:solidFill>
                <a:latin typeface="Calibri"/>
              </a:rPr>
              <a:t>DOACs are first-line for most AF. Apixaban is usable in high BMI and ESRD/CrCl &lt;15. Warfarin only for mechanical valve or moderate–severe mitral stenosis.</a:t>
            </a:r>
          </a:p>
          <a:p>
            <a:pPr>
              <a:spcAft>
                <a:spcPts val="700"/>
              </a:spcAft>
            </a:pPr>
            <a:r>
              <a:rPr b="1" sz="1550">
                <a:solidFill>
                  <a:srgbClr val="1A2433"/>
                </a:solidFill>
                <a:latin typeface="Calibri"/>
              </a:rPr>
              <a:t>3. </a:t>
            </a:r>
            <a:r>
              <a:rPr sz="1550">
                <a:solidFill>
                  <a:srgbClr val="1A2433"/>
                </a:solidFill>
                <a:latin typeface="Calibri"/>
              </a:rPr>
              <a:t>Rate control to HR &lt;110 bpm for most (beta-blocker or non-dihydropyridine CCB; digoxin as adjunct, esp. in HFrEF). Diltiazem is contraindicated in HFrEF.</a:t>
            </a:r>
          </a:p>
          <a:p>
            <a:pPr>
              <a:spcAft>
                <a:spcPts val="700"/>
              </a:spcAft>
            </a:pPr>
            <a:r>
              <a:rPr b="1" sz="1550">
                <a:solidFill>
                  <a:srgbClr val="1A2433"/>
                </a:solidFill>
                <a:latin typeface="Calibri"/>
              </a:rPr>
              <a:t>4. </a:t>
            </a:r>
            <a:r>
              <a:rPr sz="1550">
                <a:solidFill>
                  <a:srgbClr val="1A2433"/>
                </a:solidFill>
                <a:latin typeface="Calibri"/>
              </a:rPr>
              <a:t>Persistent symptoms most strongly favor rhythm control; the 2023 guideline makes catheter ablation Class 1 first-line in selected patients and in AF + HFrEF.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46304"/>
          </a:xfrm>
          <a:prstGeom prst="rect">
            <a:avLst/>
          </a:prstGeom>
          <a:solidFill>
            <a:srgbClr val="B45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01752"/>
            <a:ext cx="11186160" cy="822960"/>
          </a:xfrm>
          <a:prstGeom prst="rect">
            <a:avLst/>
          </a:prstGeom>
          <a:noFill/>
        </p:spPr>
        <p:txBody>
          <a:bodyPr wrap="square">
            <a:spAutoFit/>
          </a:bodyPr>
          <a:lstStyle/>
          <a:p>
            <a:r>
              <a:rPr b="1" sz="3000">
                <a:solidFill>
                  <a:srgbClr val="B4530A"/>
                </a:solidFill>
                <a:latin typeface="Calibri"/>
              </a:rPr>
              <a:t>Attribution &amp; Optimization Changelog</a:t>
            </a:r>
          </a:p>
        </p:txBody>
      </p:sp>
      <p:sp>
        <p:nvSpPr>
          <p:cNvPr id="4" name="TextBox 3"/>
          <p:cNvSpPr txBox="1"/>
          <p:nvPr/>
        </p:nvSpPr>
        <p:spPr>
          <a:xfrm>
            <a:off x="548640" y="1325880"/>
            <a:ext cx="11094720" cy="5029200"/>
          </a:xfrm>
          <a:prstGeom prst="rect">
            <a:avLst/>
          </a:prstGeom>
          <a:noFill/>
        </p:spPr>
        <p:txBody>
          <a:bodyPr wrap="square">
            <a:spAutoFit/>
          </a:bodyPr>
          <a:lstStyle/>
          <a:p>
            <a:pPr>
              <a:spcAft>
                <a:spcPts val="700"/>
              </a:spcAft>
            </a:pPr>
            <a:r>
              <a:rPr b="1" sz="1550">
                <a:solidFill>
                  <a:srgbClr val="1A2433"/>
                </a:solidFill>
                <a:latin typeface="Calibri"/>
              </a:rPr>
              <a:t>Source: </a:t>
            </a:r>
            <a:r>
              <a:rPr sz="1550">
                <a:solidFill>
                  <a:srgbClr val="1A2433"/>
                </a:solidFill>
                <a:latin typeface="Calibri"/>
              </a:rPr>
              <a:t>TeachIM.org — “Chronic Atrial Fibrillation Management,” Jonathan Lipsey MD &amp; Kelsey Flint MD; exec. editor Yilin Zhang MD. Published Dec 2022. Licensed CC BY-NC 4.0 (non-commercial, attribution required).</a:t>
            </a:r>
          </a:p>
          <a:p>
            <a:pPr>
              <a:spcAft>
                <a:spcPts val="700"/>
              </a:spcAft>
            </a:pPr>
            <a:r>
              <a:rPr b="1" sz="1550">
                <a:solidFill>
                  <a:srgbClr val="1A2433"/>
                </a:solidFill>
                <a:latin typeface="Calibri"/>
              </a:rPr>
              <a:t>Optimized June 2026: </a:t>
            </a:r>
            <a:r>
              <a:rPr sz="1550">
                <a:solidFill>
                  <a:srgbClr val="1A2433"/>
                </a:solidFill>
                <a:latin typeface="Calibri"/>
              </a:rPr>
              <a:t>original drew on the 2019 ACC/AHA/HRS + 2020 ESC guidelines. Added the 2023 ACC/AHA/ACCP/HRS update (AF staging; absolute-risk anticoagulation; DOAC Class 1; catheter ablation Class 1 first-line; LAAO 2a; lifestyle pillar) on the preceding slide and in the companion package.</a:t>
            </a:r>
          </a:p>
          <a:p>
            <a:pPr>
              <a:spcAft>
                <a:spcPts val="700"/>
              </a:spcAft>
            </a:pPr>
            <a:r>
              <a:rPr b="1" sz="1550">
                <a:solidFill>
                  <a:srgbClr val="1A2433"/>
                </a:solidFill>
                <a:latin typeface="Calibri"/>
              </a:rPr>
              <a:t>Deck edit: </a:t>
            </a:r>
            <a:r>
              <a:rPr sz="1550">
                <a:solidFill>
                  <a:srgbClr val="1A2433"/>
                </a:solidFill>
                <a:latin typeface="Calibri"/>
              </a:rPr>
              <a:t>append-only — original interactive animations, graphics, and slide order preserved; no factual errors found in the original content.</a:t>
            </a:r>
          </a:p>
          <a:p>
            <a:pPr>
              <a:spcAft>
                <a:spcPts val="700"/>
              </a:spcAft>
            </a:pPr>
            <a:r>
              <a:rPr b="1" sz="1550">
                <a:solidFill>
                  <a:srgbClr val="1A2433"/>
                </a:solidFill>
                <a:latin typeface="Calibri"/>
              </a:rPr>
              <a:t>Companion package: </a:t>
            </a:r>
            <a:r>
              <a:rPr sz="1550">
                <a:solidFill>
                  <a:srgbClr val="1A2433"/>
                </a:solidFill>
                <a:latin typeface="Calibri"/>
              </a:rPr>
              <a:t>HTML lesson hub, 1-page clinical reference (PDF), 16 Anki cards, 5 board-style MCQs, and an EMR dotphrase.</a:t>
            </a:r>
          </a:p>
          <a:p>
            <a:pPr>
              <a:spcAft>
                <a:spcPts val="700"/>
              </a:spcAft>
            </a:pPr>
            <a:r>
              <a:rPr sz="1550">
                <a:solidFill>
                  <a:srgbClr val="1A2433"/>
                </a:solidFill>
                <a:latin typeface="Calibri"/>
              </a:rPr>
              <a:t>Educational use only; verify dosing and current guidance before teaching.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37394</TotalTime>
  <Words>3087</Words>
  <Application>Microsoft Office PowerPoint</Application>
  <PresentationFormat>Widescreen</PresentationFormat>
  <Paragraphs>375</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Segoe UI</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Brandon Fainstad</dc:creator>
  <cp:lastModifiedBy>Yilin Zhang</cp:lastModifiedBy>
  <cp:revision>117</cp:revision>
  <dcterms:created xsi:type="dcterms:W3CDTF">2020-12-09T20:37:45Z</dcterms:created>
  <dcterms:modified xsi:type="dcterms:W3CDTF">2022-12-03T00:11:33Z</dcterms:modified>
</cp:coreProperties>
</file>