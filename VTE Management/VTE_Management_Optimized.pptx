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2F85C-AD7F-40FE-9174-5DA8D53AF1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DB92B8-2C33-47A7-9A8C-BFF7AB3C2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DF104-0F6F-4E3C-8B1D-DBE5AD474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E9CE-70BC-4849-880C-31F2C1FD978A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5B037-E375-4623-A393-954D22BDA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C80C5-E108-456F-85F6-96DB61A20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4340F-CDD2-4092-895F-BDC4B976B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413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35AD8-09B9-42D9-9300-170BAD999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C66F4-0BA3-43F5-B9D0-B32D5BBBE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E0331-1707-40A0-A81C-0B620B5AD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E9CE-70BC-4849-880C-31F2C1FD978A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EFE85-46E3-4FBF-A3C2-B092213AA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5DE53-3F87-4A87-9884-E3945464B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4340F-CDD2-4092-895F-BDC4B976B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69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ADDF9-ACF8-4271-AC2B-5E387B261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22C795-C3A5-42EB-A95D-AF5EF8A96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9B42C-5210-41E6-B006-45859CC98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E9CE-70BC-4849-880C-31F2C1FD978A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FD19F-F20F-4706-B54A-C9FAEF538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FA63B-8F10-45EA-93A3-542716E59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4340F-CDD2-4092-895F-BDC4B976B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191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426D9-3FCD-4F27-B61B-4CE09706B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F8875-60E4-41F6-A75B-AFD48C795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945FD4-1B82-4960-9B92-236A82066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63638F-22D3-40D9-BD2D-6E8E0294B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E9CE-70BC-4849-880C-31F2C1FD978A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3CD72-9ED4-4DCC-9C1D-F8B98EEC5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17298-7517-481E-AF2D-EE5B64190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4340F-CDD2-4092-895F-BDC4B976B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922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325F0-393B-453F-B57C-18D02E425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E9B5A-A920-46D5-8EBF-22E191A98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E5421E-D58F-4E7D-9F6C-67E87BD36E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11271C-6FF6-4D0E-B40E-3120BEB89C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9D55DD-5301-43C1-A316-BC25D7E1F8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B053CD-52C8-4D88-9419-3B5A766B8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E9CE-70BC-4849-880C-31F2C1FD978A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2D486B-680C-4E59-99EE-FE3A93D23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94CD13-86ED-4619-B439-579746A06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4340F-CDD2-4092-895F-BDC4B976B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697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11025-C43A-416B-98F5-737B386D7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988B94-6645-4148-BEE7-6A8B241DD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E9CE-70BC-4849-880C-31F2C1FD978A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A3EE1-19BB-4FD7-97A7-5CB6F28F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C8EC17-5546-4312-ABAD-D53F4663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4340F-CDD2-4092-895F-BDC4B976B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998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9C5262-FAE5-4E96-A31D-CA890E949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E9CE-70BC-4849-880C-31F2C1FD978A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C2144B-CA23-482D-A348-A1002A6E6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240A0-0AC2-439E-ACBD-1C697AFCD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4340F-CDD2-4092-895F-BDC4B976B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458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41659-01DC-4F61-A9BD-D982768ED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1B540-325F-4519-801E-0C8CA7095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5195ED-AC63-4E33-B141-FB17E63A9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B00685-A869-4607-AACF-549CD0750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E9CE-70BC-4849-880C-31F2C1FD978A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C547D-B2C7-4A86-885A-401185392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A318A-723E-4773-8D65-BAD6950F1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4340F-CDD2-4092-895F-BDC4B976B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925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11C8D-325C-470D-A48D-C2F93B3D5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19606B-A1AC-464F-84FC-7030852773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D4901-670C-440D-9903-405044F2AF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7E5508-E5D4-4310-A21B-463D74EC6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E9CE-70BC-4849-880C-31F2C1FD978A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8B4FE-25BF-49E8-AC0B-67D5B3403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91ABC-2C85-40A8-82EF-0C7A0838C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4340F-CDD2-4092-895F-BDC4B976B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377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026F-6113-4A5D-AAAE-4FC41B1B0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0BD20F-9023-4B7A-BAE4-D4B104570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39E75-0F9C-4640-8F58-06FD801AF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E9CE-70BC-4849-880C-31F2C1FD978A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C3CB2-BBD5-4123-8DD4-9D06C4CE8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9E5B5-B890-4908-969E-675263C81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4340F-CDD2-4092-895F-BDC4B976B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03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52A02-CA20-4850-88E0-03E3FC9117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CC1AB7-4C55-4FA4-9264-334ECFD3B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09942-054E-4439-9B63-8E1BF732A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E9CE-70BC-4849-880C-31F2C1FD978A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67B23-379E-48A8-8F27-F6A290B37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546EA-7BD5-44BF-A594-667806E56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4340F-CDD2-4092-895F-BDC4B976B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855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E84C3F-2014-4A5F-B5A8-FEAD76F1E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05BE9-C792-44F1-9110-DFBE3A4E7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356AB-9559-47B5-A396-EC6D071AB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38E9CE-70BC-4849-880C-31F2C1FD978A}" type="datetimeFigureOut">
              <a:rPr lang="en-US" smtClean="0"/>
              <a:t>10/7/2020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AEA09-EBD5-4093-82BF-0CDEE67959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DB2F0-7BCF-45B9-AB4A-3E57FF468F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64340F-CDD2-4092-895F-BDC4B976B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721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084AEFE2-9CFD-480E-A53C-6521904C1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82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B3D0D81C-ACD8-41DD-B3E1-C279300BE5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786" y="0"/>
            <a:ext cx="5510157" cy="713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308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F82A1678-8DF7-4B06-8639-173DBC2DF0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0" y="1428750"/>
            <a:ext cx="88773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280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8A95BFAF-6172-43C6-961F-FFA3B8457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745" y="1201899"/>
            <a:ext cx="7950509" cy="445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308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4BF94B46-87AC-4FF8-A551-4ABA9E8C8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654050"/>
            <a:ext cx="8534400" cy="554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550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, schematic&#10;&#10;Description automatically generated">
            <a:extLst>
              <a:ext uri="{FF2B5EF4-FFF2-40B4-BE49-F238E27FC236}">
                <a16:creationId xmlns:a16="http://schemas.microsoft.com/office/drawing/2014/main" id="{4552429A-51CB-42E5-827C-034C7991FB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968" y="0"/>
            <a:ext cx="9644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46523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0" tIns="80000" wrap="square"/>
          <a:lstStyle/>
          <a:p>
            <a:pPr algn="ctr">
              <a:defRPr sz="2500" b="1">
                <a:solidFill>
                  <a:srgbClr val="FFFFFF"/>
                </a:solidFill>
                <a:latin typeface="Calibri"/>
              </a:defRPr>
            </a:pPr>
            <a:r>
              <a:t>2020–25 Update — Agent Choice, Duration &amp; Special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0000" y="930000"/>
            <a:ext cx="11292000" cy="56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50" b="1">
                <a:solidFill>
                  <a:srgbClr val="1A2433"/>
                </a:solidFill>
                <a:latin typeface="Calibri"/>
              </a:rPr>
              <a:t>Cancer-associated VTE — DOACs are now first-line over LMWH: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Apixaban, edoxaban, or rivaroxaban (CARAVAGGIO 2020: apixaban noninferior to dalteparin, no excess major bleeding; ASH 2021, ASCO, ITAC, CHEST 2021).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Apixaban or LMWH preferred for luminal GI malignancies (higher GI bleeding with rivaroxaban/edoxaban). LMWH still favored with poor oral absorption or major drug interactions.</a:t>
            </a:r>
          </a:p>
          <a:p>
            <a:pPr>
              <a:spcAft>
                <a:spcPts val="500"/>
              </a:spcAft>
            </a:pPr>
            <a:r>
              <a:rPr sz="1550" b="1">
                <a:solidFill>
                  <a:srgbClr val="1A2433"/>
                </a:solidFill>
                <a:latin typeface="Calibri"/>
              </a:rPr>
              <a:t>Extended (&gt;3–6 mo) therapy — reduced-dose DOAC lowers bleeding: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Apixaban 2.5 mg BID (AMPLIFY-EXT) or rivaroxaban 10 mg daily (EINSTEIN-CHOICE) for the extended phase after the initial treatment period.</a:t>
            </a:r>
          </a:p>
          <a:p>
            <a:pPr>
              <a:spcAft>
                <a:spcPts val="500"/>
              </a:spcAft>
            </a:pPr>
            <a:r>
              <a:rPr sz="1550" b="1">
                <a:solidFill>
                  <a:srgbClr val="1A2433"/>
                </a:solidFill>
                <a:latin typeface="Calibri"/>
              </a:rPr>
              <a:t>Special cases: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Antiphospholipid syndrome (esp. triple-positive): use warfarin, NOT a DOAC (TRAPS — excess arterial events with rivaroxaban).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Isolated subsegmental PE without proximal DVT &amp; low recurrence risk: surveillance is an option over anticoagulation (CHEST 2021) — matches the board's SSPE → duplex pathway.</a:t>
            </a:r>
          </a:p>
          <a:p>
            <a:pPr>
              <a:spcAft>
                <a:spcPts val="500"/>
              </a:spcAft>
            </a:pPr>
            <a:r>
              <a:rPr sz="1550" b="1">
                <a:solidFill>
                  <a:srgbClr val="1A2433"/>
                </a:solidFill>
                <a:latin typeface="Calibri"/>
              </a:rPr>
              <a:t>Standing framework (IF / WHERE / WHICH / HOW LONG) unchanged: PESI &lt;85 → outpatient; DOAC first-line; unprovoked without high bleed risk → indefinite.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0" tIns="80000" wrap="square"/>
          <a:lstStyle/>
          <a:p>
            <a:pPr algn="ctr">
              <a:defRPr sz="2500" b="1">
                <a:solidFill>
                  <a:srgbClr val="FFFFFF"/>
                </a:solidFill>
                <a:latin typeface="Calibri"/>
              </a:defRPr>
            </a:pPr>
            <a:r>
              <a:t>Take-Home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0000" y="930000"/>
            <a:ext cx="11292000" cy="56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50" b="0">
                <a:solidFill>
                  <a:srgbClr val="1A2433"/>
                </a:solidFill>
                <a:latin typeface="Calibri"/>
              </a:rPr>
              <a:t>IF: not every clot is treated — isolated distal DVT (low risk, asymptomatic) can be surveilled with repeat duplex in 1–2 weeks; isolated subsegmental PE without proximal DVT may be surveilled.</a:t>
            </a:r>
          </a:p>
          <a:p>
            <a:pPr>
              <a:spcAft>
                <a:spcPts val="500"/>
              </a:spcAft>
            </a:pPr>
            <a:r>
              <a:rPr sz="1550" b="0">
                <a:solidFill>
                  <a:srgbClr val="1A2433"/>
                </a:solidFill>
                <a:latin typeface="Calibri"/>
              </a:rPr>
              <a:t>WHERE: an uncomplicated PE with PESI &lt;85 (or sPESI 0) can be managed as an outpatient; admit for high bleeding risk, unreliable disposition, or poor compliance.</a:t>
            </a:r>
          </a:p>
          <a:p>
            <a:pPr>
              <a:spcAft>
                <a:spcPts val="500"/>
              </a:spcAft>
            </a:pPr>
            <a:r>
              <a:rPr sz="1550" b="0">
                <a:solidFill>
                  <a:srgbClr val="1A2433"/>
                </a:solidFill>
                <a:latin typeface="Calibri"/>
              </a:rPr>
              <a:t>WHICH: DOACs are first-line for stable VTE, including most cancer-associated VTE; LMWH/apixaban preferred for luminal GI cancers; warfarin for antiphospholipid syndrome and CrCl &lt;25–30.</a:t>
            </a:r>
          </a:p>
          <a:p>
            <a:pPr>
              <a:spcAft>
                <a:spcPts val="500"/>
              </a:spcAft>
            </a:pPr>
            <a:r>
              <a:rPr sz="1550" b="0">
                <a:solidFill>
                  <a:srgbClr val="1A2433"/>
                </a:solidFill>
                <a:latin typeface="Calibri"/>
              </a:rPr>
              <a:t>HOW LONG: provoked by a reversible cause → ~3 months; unprovoked or an irreversible/persistent cause without high bleed risk → indefinite anticoagulation (consider reduced-dose DOAC for the extended phase).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0E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0" tIns="80000" wrap="square"/>
          <a:lstStyle/>
          <a:p>
            <a:pPr algn="ctr">
              <a:defRPr sz="2500" b="1">
                <a:solidFill>
                  <a:srgbClr val="FFFFFF"/>
                </a:solidFill>
                <a:latin typeface="Calibri"/>
              </a:defRPr>
            </a:pPr>
            <a:r>
              <a:t>Attribution &amp; Optimization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0000" y="930000"/>
            <a:ext cx="11292000" cy="56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50" b="0">
                <a:solidFill>
                  <a:srgbClr val="1A2433"/>
                </a:solidFill>
                <a:latin typeface="Calibri"/>
              </a:rPr>
              <a:t>Adapted from TeachIM.org — “Management of Venous Thromboembolism (VTE)” (Meagan Wong MD, Brandon Fainstad MD; expert review David Garcia MD). Published 2020.</a:t>
            </a:r>
          </a:p>
          <a:p>
            <a:pPr>
              <a:spcAft>
                <a:spcPts val="500"/>
              </a:spcAft>
            </a:pPr>
            <a:r>
              <a:rPr sz="1550" b="0">
                <a:solidFill>
                  <a:srgbClr val="1A2433"/>
                </a:solidFill>
                <a:latin typeface="Calibri"/>
              </a:rPr>
              <a:t>Source: teachim.org/teaching_material/venous-thromboembolism-vte/  ·  License: CC BY-NC 4.0 (attribution, non-commercial only).</a:t>
            </a:r>
          </a:p>
          <a:p>
            <a:pPr>
              <a:spcAft>
                <a:spcPts val="500"/>
              </a:spcAft>
            </a:pPr>
            <a:r>
              <a:rPr sz="1550" b="0">
                <a:solidFill>
                  <a:srgbClr val="1A2433"/>
                </a:solidFill>
                <a:latin typeface="Calibri"/>
              </a:rPr>
              <a:t>Deck note: TeachIM publishes this as a non-interactive series of whiteboard board-set-up images (no editable text runs) intended to be reproduced on a whiteboard. No surgical text edits were possible or needed — the IF/WHERE/WHICH/HOW-LONG framework matches current guidance.</a:t>
            </a:r>
          </a:p>
          <a:p>
            <a:pPr>
              <a:spcAft>
                <a:spcPts val="500"/>
              </a:spcAft>
            </a:pPr>
            <a:r>
              <a:rPr sz="1550" b="0">
                <a:solidFill>
                  <a:srgbClr val="1A2433"/>
                </a:solidFill>
                <a:latin typeface="Calibri"/>
              </a:rPr>
              <a:t>Added context (source-cited): cancer-VTE DOAC-first (CARAVAGGIO 2020; ASH 2021/CHEST 2021), reduced-dose extended DOAC (AMPLIFY-EXT, EINSTEIN-CHOICE), APS→warfarin (TRAPS), subsegmental-PE surveillance.</a:t>
            </a:r>
          </a:p>
          <a:p>
            <a:pPr>
              <a:spcAft>
                <a:spcPts val="500"/>
              </a:spcAft>
            </a:pPr>
            <a:r>
              <a:rPr sz="1550" b="0">
                <a:solidFill>
                  <a:srgbClr val="1A2433"/>
                </a:solidFill>
                <a:latin typeface="Calibri"/>
              </a:rPr>
              <a:t>Companion files: VTE-Learners-Handout.pdf (4 cases), VTE-Teachers-Guide.pdf. Educational use only; not medical advice — have content clinician-reviewed before teaching.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Brandon Fainstad</dc:creator>
  <cp:lastModifiedBy>Brandon Fainstad</cp:lastModifiedBy>
  <cp:revision>2</cp:revision>
  <dcterms:created xsi:type="dcterms:W3CDTF">2020-10-07T18:46:27Z</dcterms:created>
  <dcterms:modified xsi:type="dcterms:W3CDTF">2020-10-07T18:59:31Z</dcterms:modified>
</cp:coreProperties>
</file>