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8" r:id="rId2"/>
    <p:sldId id="284" r:id="rId3"/>
    <p:sldId id="288" r:id="rId4"/>
    <p:sldId id="283" r:id="rId5"/>
    <p:sldId id="287" r:id="rId6"/>
    <p:sldId id="290" r:id="rId7"/>
    <p:sldId id="289" r:id="rId8"/>
    <p:sldId id="292" r:id="rId9"/>
    <p:sldId id="293" r:id="rId10"/>
    <p:sldId id="295" r:id="rId11"/>
    <p:sldId id="296" r:id="rId12"/>
    <p:sldId id="297" r:id="rId13"/>
    <p:sldId id="285" r:id="rId14"/>
    <p:sldId id="298" r:id="rId15"/>
    <p:sldId id="299" r:id="rId16"/>
    <p:sldId id="300" r:id="rId22"/>
    <p:sldId id="301" r:id="rId23"/>
    <p:sldId id="302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  <a:srgbClr val="AFABAB"/>
    <a:srgbClr val="FF1160"/>
    <a:srgbClr val="C00000"/>
    <a:srgbClr val="2E75B6"/>
    <a:srgbClr val="7030A0"/>
    <a:srgbClr val="481F67"/>
    <a:srgbClr val="FFD966"/>
    <a:srgbClr val="F8CBAD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009671D-F85D-4D29-8A3F-8FE95B3307D7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1107EF6-F2A3-4F16-8168-386F0B47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1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60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55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32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58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4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81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93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30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54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24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90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5174-D4D5-4F6B-BBA7-9A3720BDE5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567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FA0E-5E96-47FB-951F-521033957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5B94F-9ECC-4A0C-B05E-85288220E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92977-2321-4F93-BE46-690B4BF8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0EC5E-75D8-45F8-974A-E953B41D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72618-42E0-4144-9E4C-A38AD5B6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5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5A51-4184-4F7F-AAF9-3916AD26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DC86-141D-4EFC-9E53-25DDFAC74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28F1B-E475-4BAA-898D-C445CCB8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8877A-4122-4286-A54C-5D1992E8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0F656-D858-41E7-AA77-272DDE57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6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835B-6FC0-49F4-930B-776CCF4D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804BD-424C-40F3-A025-CC0629365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657B6-F886-4EC1-9169-F03EA023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F272B-D371-4E8E-9C17-CD260EC5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986A1-AFD1-4ECE-892F-AACBE84A8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7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61B4-84A5-44BF-A3A1-4B1375BC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3818-DD65-4014-B4F9-CD067A993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71DAF-1873-4B8F-A24E-87425767A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9D047-65F8-42E2-BFA0-A9EDCBF5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97311-26EC-457B-AA32-CDF0BA20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E38D3-4ADB-495C-B35E-E1946275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6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9080-6DB6-4BE8-A135-AD468015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D47F0-CC5B-4164-980D-B4B3FDABC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8F8D4-6C95-441D-98A5-DEDD48DFB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41900-FB2C-40EC-BC97-7BBDA1B4B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D7FE2-4F31-4F6D-A152-47F510C56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EBC15-4331-49BE-97BB-D2E8FF12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7E3C5-864F-4534-8BDC-A46E9C87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805EB-5DD9-4B46-B999-738807F8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5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6FB1-2826-4236-A9D2-1F8F5FDA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63720-456F-495F-B38E-45D5C9E2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C00FF-46EB-4766-BF7B-9763A596D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14DDF-4715-4BED-8D2F-28695EFA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4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69B2E-5743-4238-873C-D875A027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2AA2F-4FCF-4F53-BDDA-988A45C3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89786-4CAC-4915-8193-CE1B7F6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6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B9A8-6653-4BC8-929E-86C94CE8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6AFC-860A-4F88-AF3D-9537B6E98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05E44-1BDD-48A8-8266-3B9B4EA6B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6FFAC-A600-4D65-B0B2-896F9CB4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FBF1D-B663-484D-AC18-94180A75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086D-F2C5-47FE-90B0-560B8CF1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4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1EFF-4479-4E0C-A7FE-15D1C26A0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0450B-98C2-4041-B0AE-85148919B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1337E-DEFB-4986-8E5B-6B5FA2FE9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B6CB9-C5CF-4DA1-8A48-74F641D0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EF7AF-B5B3-442C-87A5-FEEC127F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43FA4-B1EC-4F2F-8ECC-FCD4F58F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A89D-A30B-4D31-AAFF-23820FC5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C37B0-AA22-47FA-809D-E6AF42BA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D7CB9-098D-4EC5-A957-B97E3649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962A3-75F5-4414-B797-43454DEA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DDE81-E3E5-406F-844D-F64666E8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8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32B14-DD9C-44E3-B80B-087FDCCC0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648E4-25CC-4F23-8A66-9C12EB61D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CE4FC-4FFC-482E-9880-7B590178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FBD71-AA39-408C-9CCE-133AC89F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ECEB3-F5AA-4037-AF1D-7D2DED71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039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6587C-6F4A-476A-8E55-8F558E1D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1E58A-E5B3-4315-BAD5-B064C38F8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576CC-4B68-4D44-A777-869553CD4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8395A-68A6-484D-8D9E-491AA835C10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530C-1281-4D43-8988-F375DBC04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C60E8-7AD5-4BCF-9A2A-750F2E876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5E51-DC0F-4046-8C3E-39A5D966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8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13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13.xml"/><Relationship Id="rId8" Type="http://schemas.openxmlformats.org/officeDocument/2006/relationships/slide" Target="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13.xml"/><Relationship Id="rId14" Type="http://schemas.openxmlformats.org/officeDocument/2006/relationships/slide" Target="slide12.xml"/><Relationship Id="rId15" Type="http://schemas.openxmlformats.org/officeDocument/2006/relationships/image" Target="../media/image1.png"/><Relationship Id="rId16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13.xml"/><Relationship Id="rId15" Type="http://schemas.openxmlformats.org/officeDocument/2006/relationships/slide" Target="slide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4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13.xml"/><Relationship Id="rId15" Type="http://schemas.openxmlformats.org/officeDocument/2006/relationships/slide" Target="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13.xml"/><Relationship Id="rId15" Type="http://schemas.openxmlformats.org/officeDocument/2006/relationships/slide" Target="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2.xml"/><Relationship Id="rId14" Type="http://schemas.openxmlformats.org/officeDocument/2006/relationships/slide" Target="slide3.xml"/><Relationship Id="rId15" Type="http://schemas.openxmlformats.org/officeDocument/2006/relationships/slide" Target="slide13.xml"/><Relationship Id="rId16" Type="http://schemas.openxmlformats.org/officeDocument/2006/relationships/slide" Target="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13.xml"/><Relationship Id="rId14" Type="http://schemas.openxmlformats.org/officeDocument/2006/relationships/slide" Target="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4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13.xml"/><Relationship Id="rId15" Type="http://schemas.openxmlformats.org/officeDocument/2006/relationships/slide" Target="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2.xml"/><Relationship Id="rId14" Type="http://schemas.openxmlformats.org/officeDocument/2006/relationships/slide" Target="slide3.xml"/><Relationship Id="rId15" Type="http://schemas.openxmlformats.org/officeDocument/2006/relationships/slide" Target="slide13.xml"/><Relationship Id="rId16" Type="http://schemas.openxmlformats.org/officeDocument/2006/relationships/slide" Target="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slide" Target="slide10.xml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13.xml"/><Relationship Id="rId15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2.xml"/><Relationship Id="rId14" Type="http://schemas.openxmlformats.org/officeDocument/2006/relationships/slide" Target="slide3.xml"/><Relationship Id="rId15" Type="http://schemas.openxmlformats.org/officeDocument/2006/relationships/slide" Target="slide13.xml"/><Relationship Id="rId16" Type="http://schemas.openxmlformats.org/officeDocument/2006/relationships/slide" Target="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13.xml"/><Relationship Id="rId7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Table">
            <a:extLst>
              <a:ext uri="{FF2B5EF4-FFF2-40B4-BE49-F238E27FC236}">
                <a16:creationId xmlns:a16="http://schemas.microsoft.com/office/drawing/2014/main" id="{18E80FB5-D954-4141-B33C-0BB725BE2AEB}"/>
              </a:ext>
            </a:extLst>
          </p:cNvPr>
          <p:cNvGrpSpPr/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77B60C3-2B0C-4E28-819C-6705247883C4}"/>
                </a:ext>
              </a:extLst>
            </p:cNvPr>
            <p:cNvSpPr txBox="1"/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88EFEF5-605D-4AA4-BCBB-A262D97A2F49}"/>
                </a:ext>
              </a:extLst>
            </p:cNvPr>
            <p:cNvSpPr txBox="1"/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26953BE-EF16-4061-8CB2-F25CBB954293}"/>
                </a:ext>
              </a:extLst>
            </p:cNvPr>
            <p:cNvSpPr txBox="1"/>
            <p:nvPr/>
          </p:nvSpPr>
          <p:spPr>
            <a:xfrm>
              <a:off x="1152842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21C5080-67D1-4DC7-BF6F-7965076DCE2C}"/>
                </a:ext>
              </a:extLst>
            </p:cNvPr>
            <p:cNvSpPr txBox="1"/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5AA8CC5-07D8-4CFB-9EB6-14AF5744775D}"/>
                </a:ext>
              </a:extLst>
            </p:cNvPr>
            <p:cNvSpPr txBox="1"/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6ABF774-7510-4387-A2D9-CBA59B3ED0A4}"/>
                </a:ext>
              </a:extLst>
            </p:cNvPr>
            <p:cNvSpPr txBox="1"/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A64C9BB-A8E1-4492-8EE0-0B1D7F1CDC1D}"/>
                </a:ext>
              </a:extLst>
            </p:cNvPr>
            <p:cNvSpPr txBox="1"/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620CFA4-E45B-45D0-B888-A8B2253F9677}"/>
                </a:ext>
              </a:extLst>
            </p:cNvPr>
            <p:cNvSpPr txBox="1"/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5A8FED6-3C77-4D0C-83E7-2203DE6E06F2}"/>
                </a:ext>
              </a:extLst>
            </p:cNvPr>
            <p:cNvSpPr txBox="1"/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2D7367C-71B1-457D-8EBF-C29CFDC66C82}"/>
                </a:ext>
              </a:extLst>
            </p:cNvPr>
            <p:cNvSpPr txBox="1"/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26B3B88-D1BA-4EAD-AF38-F0009AF6ABF3}"/>
                </a:ext>
              </a:extLst>
            </p:cNvPr>
            <p:cNvCxnSpPr/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58977E47-236D-47BF-8859-386F9B233FC8}"/>
                </a:ext>
              </a:extLst>
            </p:cNvPr>
            <p:cNvCxnSpPr/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B35AC58-F10B-429E-945E-8DE61D8A4A67}"/>
                </a:ext>
              </a:extLst>
            </p:cNvPr>
            <p:cNvCxnSpPr/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A9DEE82-AC54-4020-9013-E7A1A93C0BE6}"/>
                </a:ext>
              </a:extLst>
            </p:cNvPr>
            <p:cNvCxnSpPr/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9BD9BB2-EB03-400D-AD59-6421B2716862}"/>
                </a:ext>
              </a:extLst>
            </p:cNvPr>
            <p:cNvCxnSpPr/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A3F73EB-56CA-4642-A0B5-A657A13BF05C}"/>
                </a:ext>
              </a:extLst>
            </p:cNvPr>
            <p:cNvCxnSpPr/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4A2A5D9C-1A11-452E-97F0-2746E482F850}"/>
                </a:ext>
              </a:extLst>
            </p:cNvPr>
            <p:cNvCxnSpPr/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50CE96A-FBF7-4BA6-8AD8-4D8B6BB7A81A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904CDEDB-78A5-4799-87FC-0804DF33E061}"/>
                </a:ext>
              </a:extLst>
            </p:cNvPr>
            <p:cNvCxnSpPr>
              <a:cxnSpLocks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9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9609226D-A667-400B-AE8B-1B2A3FF63661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142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1A181340-2F5B-458C-8547-AA40056B77BF}"/>
              </a:ext>
            </a:extLst>
          </p:cNvPr>
          <p:cNvSpPr txBox="1"/>
          <p:nvPr/>
        </p:nvSpPr>
        <p:spPr>
          <a:xfrm>
            <a:off x="159960" y="668179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Antibiogram</a:t>
            </a:r>
          </a:p>
        </p:txBody>
      </p:sp>
      <p:sp>
        <p:nvSpPr>
          <p:cNvPr id="143" name="Question 2">
            <a:hlinkClick r:id="rId5" action="ppaction://hlinksldjump"/>
            <a:extLst>
              <a:ext uri="{FF2B5EF4-FFF2-40B4-BE49-F238E27FC236}">
                <a16:creationId xmlns:a16="http://schemas.microsoft.com/office/drawing/2014/main" id="{A0763F3C-553C-4791-AC15-75634C768316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44" name="Graphic 143" descr="Cursor with solid fill">
            <a:extLst>
              <a:ext uri="{FF2B5EF4-FFF2-40B4-BE49-F238E27FC236}">
                <a16:creationId xmlns:a16="http://schemas.microsoft.com/office/drawing/2014/main" id="{920138D6-68CD-4A06-8E65-D50E309C6E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146" name="Graphic 145" descr="Cursor with solid fill">
            <a:extLst>
              <a:ext uri="{FF2B5EF4-FFF2-40B4-BE49-F238E27FC236}">
                <a16:creationId xmlns:a16="http://schemas.microsoft.com/office/drawing/2014/main" id="{5F5CF3CA-82D0-4A4B-9AA8-36BAD1D00B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47" name="Graphic 146" descr="Cursor with solid fill">
            <a:extLst>
              <a:ext uri="{FF2B5EF4-FFF2-40B4-BE49-F238E27FC236}">
                <a16:creationId xmlns:a16="http://schemas.microsoft.com/office/drawing/2014/main" id="{8C3F3C91-A2B3-48DF-824E-36AA64A11C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2072" y="913954"/>
            <a:ext cx="269100" cy="274320"/>
          </a:xfrm>
          <a:prstGeom prst="rect">
            <a:avLst/>
          </a:prstGeom>
        </p:spPr>
      </p:pic>
      <p:sp>
        <p:nvSpPr>
          <p:cNvPr id="122" name="Rectangle 121">
            <a:extLst>
              <a:ext uri="{FF2B5EF4-FFF2-40B4-BE49-F238E27FC236}">
                <a16:creationId xmlns:a16="http://schemas.microsoft.com/office/drawing/2014/main" id="{9078F07A-E100-484D-8D09-29CE54CF9613}"/>
              </a:ext>
            </a:extLst>
          </p:cNvPr>
          <p:cNvSpPr/>
          <p:nvPr/>
        </p:nvSpPr>
        <p:spPr>
          <a:xfrm>
            <a:off x="3497196" y="1522236"/>
            <a:ext cx="8123371" cy="3311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Antibiotics: Spectrum of Activity</a:t>
            </a:r>
          </a:p>
        </p:txBody>
      </p:sp>
      <p:sp>
        <p:nvSpPr>
          <p:cNvPr id="168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AB3E7590-EAB4-422C-B6CB-DE511EF00E39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pic>
        <p:nvPicPr>
          <p:cNvPr id="169" name="Graphic 168" descr="Cursor with solid fill">
            <a:extLst>
              <a:ext uri="{FF2B5EF4-FFF2-40B4-BE49-F238E27FC236}">
                <a16:creationId xmlns:a16="http://schemas.microsoft.com/office/drawing/2014/main" id="{B63D7DB3-A56A-4D18-BFC6-8E62B1DA19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EBF3819A-746D-4EF6-B7E2-458393523B71}"/>
              </a:ext>
            </a:extLst>
          </p:cNvPr>
          <p:cNvCxnSpPr>
            <a:endCxn id="168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87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8D142601-4E8B-4C92-B8F8-DCBCD9565902}"/>
              </a:ext>
            </a:extLst>
          </p:cNvPr>
          <p:cNvSpPr/>
          <p:nvPr/>
        </p:nvSpPr>
        <p:spPr>
          <a:xfrm>
            <a:off x="9936623" y="226973"/>
            <a:ext cx="1224744" cy="2001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D51147E-3494-4B1C-8987-95EBBE943B6D}"/>
              </a:ext>
            </a:extLst>
          </p:cNvPr>
          <p:cNvSpPr/>
          <p:nvPr/>
        </p:nvSpPr>
        <p:spPr>
          <a:xfrm>
            <a:off x="9935161" y="47314"/>
            <a:ext cx="1224744" cy="2001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A79E803-3D14-4EBF-9872-3CFD59413EE9}"/>
              </a:ext>
            </a:extLst>
          </p:cNvPr>
          <p:cNvSpPr/>
          <p:nvPr/>
        </p:nvSpPr>
        <p:spPr>
          <a:xfrm>
            <a:off x="2719434" y="47314"/>
            <a:ext cx="1082406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E4E1FC5-CE1B-40E8-8E06-859113153623}"/>
              </a:ext>
            </a:extLst>
          </p:cNvPr>
          <p:cNvSpPr/>
          <p:nvPr/>
        </p:nvSpPr>
        <p:spPr>
          <a:xfrm>
            <a:off x="3275618" y="3198692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2EAF83C-8C76-4FE8-AA1A-EB57D10B9FDC}"/>
              </a:ext>
            </a:extLst>
          </p:cNvPr>
          <p:cNvSpPr/>
          <p:nvPr/>
        </p:nvSpPr>
        <p:spPr>
          <a:xfrm>
            <a:off x="3274838" y="1906607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66507E1-950E-416E-AAE3-9FB951BAE162}"/>
              </a:ext>
            </a:extLst>
          </p:cNvPr>
          <p:cNvSpPr/>
          <p:nvPr/>
        </p:nvSpPr>
        <p:spPr>
          <a:xfrm>
            <a:off x="11158305" y="47314"/>
            <a:ext cx="897454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FBD7754-FA84-435E-974D-1BA9D01505E5}"/>
              </a:ext>
            </a:extLst>
          </p:cNvPr>
          <p:cNvSpPr/>
          <p:nvPr/>
        </p:nvSpPr>
        <p:spPr>
          <a:xfrm>
            <a:off x="8551573" y="47314"/>
            <a:ext cx="1370199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3066CF-4885-4165-B475-028EDC14097A}"/>
              </a:ext>
            </a:extLst>
          </p:cNvPr>
          <p:cNvSpPr/>
          <p:nvPr/>
        </p:nvSpPr>
        <p:spPr>
          <a:xfrm>
            <a:off x="7327147" y="47314"/>
            <a:ext cx="1216502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B39020-A7AB-48DC-8CAE-2196EA7746D7}"/>
              </a:ext>
            </a:extLst>
          </p:cNvPr>
          <p:cNvSpPr/>
          <p:nvPr/>
        </p:nvSpPr>
        <p:spPr>
          <a:xfrm>
            <a:off x="4725289" y="47314"/>
            <a:ext cx="1342298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FE3BFC-CDB0-44EE-B12D-95770A58FAED}"/>
              </a:ext>
            </a:extLst>
          </p:cNvPr>
          <p:cNvSpPr/>
          <p:nvPr/>
        </p:nvSpPr>
        <p:spPr>
          <a:xfrm>
            <a:off x="3808331" y="47314"/>
            <a:ext cx="897454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1B6A4-E81F-4987-8D41-F657335EF2A4}"/>
              </a:ext>
            </a:extLst>
          </p:cNvPr>
          <p:cNvSpPr/>
          <p:nvPr/>
        </p:nvSpPr>
        <p:spPr>
          <a:xfrm>
            <a:off x="6079030" y="47314"/>
            <a:ext cx="1252286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Table">
            <a:extLst>
              <a:ext uri="{FF2B5EF4-FFF2-40B4-BE49-F238E27FC236}">
                <a16:creationId xmlns:a16="http://schemas.microsoft.com/office/drawing/2014/main" id="{DD8CF2EC-0D7E-4702-8A6E-6BDD0A4CAD7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0E6316-C584-46BD-9778-BAD1CD3FA0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F5D192-0FE6-4600-8251-58CCE20CB1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9ED2E2-72A3-49C1-8FA9-0EE8E47E49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455B03-07C5-4F8F-AD96-712C108F8D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D0EACE-4C2A-45B4-98CC-E81781D86C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1056F7-CE62-4AD7-B41A-A333655A6D1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41B598-1CFC-4709-861E-2C827AB4BE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577D98-B8B3-4485-8A9C-69171E1CF0C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3A91B3-1F4D-4423-8DDE-E3B0599447A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4BF092-230D-416A-83D2-496650B07DB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1893217-B990-4DAC-85AB-173CC1B9CA8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3B2678-864B-40F8-AD28-F0B78C2ACF4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566F24-73B1-451E-A2DE-349329432F4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6F2893-BC97-4DFD-AC50-8E3C91688DA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078143-D7C6-4629-9737-6701A8A1288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63D7C73-545F-4636-ACDC-C3EAD09ADE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BBBCF-03E0-43CF-9BCB-C3B7F41C60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71067BA-8050-4434-803C-F408E1FF07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114BDE-37CC-48FE-ACB5-08ADDBBCF6E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078F07A-E100-484D-8D09-29CE54CF9613}"/>
              </a:ext>
            </a:extLst>
          </p:cNvPr>
          <p:cNvSpPr/>
          <p:nvPr/>
        </p:nvSpPr>
        <p:spPr>
          <a:xfrm>
            <a:off x="4233995" y="524674"/>
            <a:ext cx="6606002" cy="540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Does it cover gram positives (</a:t>
            </a:r>
            <a:r>
              <a:rPr lang="en-US" sz="2400" i="1" dirty="0">
                <a:solidFill>
                  <a:schemeClr val="tx1"/>
                </a:solidFill>
              </a:rPr>
              <a:t>Staph</a:t>
            </a:r>
            <a:r>
              <a:rPr lang="en-US" sz="2400" dirty="0">
                <a:solidFill>
                  <a:schemeClr val="tx1"/>
                </a:solidFill>
              </a:rPr>
              <a:t>,</a:t>
            </a:r>
            <a:r>
              <a:rPr lang="en-US" sz="2400" i="1" dirty="0">
                <a:solidFill>
                  <a:schemeClr val="tx1"/>
                </a:solidFill>
              </a:rPr>
              <a:t> Strep</a:t>
            </a:r>
            <a:r>
              <a:rPr lang="en-US" sz="2400" dirty="0">
                <a:solidFill>
                  <a:schemeClr val="tx1"/>
                </a:solidFill>
              </a:rPr>
              <a:t>)?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8F8270B-3214-4135-800D-FAE8E149FDE6}"/>
              </a:ext>
            </a:extLst>
          </p:cNvPr>
          <p:cNvSpPr/>
          <p:nvPr/>
        </p:nvSpPr>
        <p:spPr>
          <a:xfrm>
            <a:off x="3282634" y="557400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1">
            <a:extLst>
              <a:ext uri="{FF2B5EF4-FFF2-40B4-BE49-F238E27FC236}">
                <a16:creationId xmlns:a16="http://schemas.microsoft.com/office/drawing/2014/main" id="{19F8F8B2-9582-4055-9698-023DEAB11E40}"/>
              </a:ext>
            </a:extLst>
          </p:cNvPr>
          <p:cNvSpPr/>
          <p:nvPr/>
        </p:nvSpPr>
        <p:spPr>
          <a:xfrm>
            <a:off x="3282634" y="557405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31" name="graphic" descr="Cursor with solid fill">
            <a:extLst>
              <a:ext uri="{FF2B5EF4-FFF2-40B4-BE49-F238E27FC236}">
                <a16:creationId xmlns:a16="http://schemas.microsoft.com/office/drawing/2014/main" id="{9EAFE8EF-B1B7-4FAF-83C3-1C320DAAF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3901" y="877077"/>
            <a:ext cx="274320" cy="27432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5F8F0AB4-4915-45A6-861B-4B24E3C98EF9}"/>
              </a:ext>
            </a:extLst>
          </p:cNvPr>
          <p:cNvSpPr/>
          <p:nvPr/>
        </p:nvSpPr>
        <p:spPr>
          <a:xfrm>
            <a:off x="4227538" y="998380"/>
            <a:ext cx="4297680" cy="392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Does it cover MRSA?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AE7BAA-7F9B-46A4-96B9-1875DB955D7B}"/>
              </a:ext>
            </a:extLst>
          </p:cNvPr>
          <p:cNvSpPr/>
          <p:nvPr/>
        </p:nvSpPr>
        <p:spPr>
          <a:xfrm>
            <a:off x="4227538" y="1395687"/>
            <a:ext cx="4297680" cy="364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Does it cover Enterococcus?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9BE713-2794-40CC-8416-BBEEA0C80DFF}"/>
              </a:ext>
            </a:extLst>
          </p:cNvPr>
          <p:cNvSpPr/>
          <p:nvPr/>
        </p:nvSpPr>
        <p:spPr>
          <a:xfrm>
            <a:off x="4227538" y="1892161"/>
            <a:ext cx="6414747" cy="540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Does it cover gram negatives (enteric GNRs)?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C64D53-680E-41C2-87AE-DB15E23AFD96}"/>
              </a:ext>
            </a:extLst>
          </p:cNvPr>
          <p:cNvSpPr/>
          <p:nvPr/>
        </p:nvSpPr>
        <p:spPr>
          <a:xfrm>
            <a:off x="3271132" y="1902349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" name="2">
            <a:extLst>
              <a:ext uri="{FF2B5EF4-FFF2-40B4-BE49-F238E27FC236}">
                <a16:creationId xmlns:a16="http://schemas.microsoft.com/office/drawing/2014/main" id="{9D0B3F12-2B03-4998-B2E9-C594AE74F651}"/>
              </a:ext>
            </a:extLst>
          </p:cNvPr>
          <p:cNvSpPr/>
          <p:nvPr/>
        </p:nvSpPr>
        <p:spPr>
          <a:xfrm>
            <a:off x="3271132" y="1902349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634C84A-3F5C-4709-99D2-3856A68A0EE5}"/>
              </a:ext>
            </a:extLst>
          </p:cNvPr>
          <p:cNvSpPr/>
          <p:nvPr/>
        </p:nvSpPr>
        <p:spPr>
          <a:xfrm>
            <a:off x="2968240" y="877078"/>
            <a:ext cx="194838" cy="301751"/>
          </a:xfrm>
          <a:custGeom>
            <a:avLst/>
            <a:gdLst>
              <a:gd name="connsiteX0" fmla="*/ 31454 w 199405"/>
              <a:gd name="connsiteY0" fmla="*/ 457200 h 457200"/>
              <a:gd name="connsiteX1" fmla="*/ 12792 w 199405"/>
              <a:gd name="connsiteY1" fmla="*/ 177281 h 457200"/>
              <a:gd name="connsiteX2" fmla="*/ 199405 w 199405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05" h="457200">
                <a:moveTo>
                  <a:pt x="31454" y="457200"/>
                </a:moveTo>
                <a:cubicBezTo>
                  <a:pt x="8127" y="355340"/>
                  <a:pt x="-15200" y="253481"/>
                  <a:pt x="12792" y="177281"/>
                </a:cubicBezTo>
                <a:cubicBezTo>
                  <a:pt x="40784" y="101081"/>
                  <a:pt x="120094" y="50540"/>
                  <a:pt x="199405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199D34-312D-4D38-8DAA-F9FEB8193372}"/>
              </a:ext>
            </a:extLst>
          </p:cNvPr>
          <p:cNvSpPr txBox="1"/>
          <p:nvPr/>
        </p:nvSpPr>
        <p:spPr>
          <a:xfrm>
            <a:off x="2162689" y="1189534"/>
            <a:ext cx="143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Click each button until the arrow disappears.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162EB6-A5B5-4D61-82D4-CFF6431E5129}"/>
              </a:ext>
            </a:extLst>
          </p:cNvPr>
          <p:cNvSpPr/>
          <p:nvPr/>
        </p:nvSpPr>
        <p:spPr>
          <a:xfrm>
            <a:off x="4239424" y="2346914"/>
            <a:ext cx="4297680" cy="392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Does it cover </a:t>
            </a:r>
            <a:r>
              <a:rPr lang="en-US" sz="2000" i="1" dirty="0">
                <a:solidFill>
                  <a:schemeClr val="tx1"/>
                </a:solidFill>
              </a:rPr>
              <a:t>Pseudomonas</a:t>
            </a:r>
            <a:r>
              <a:rPr lang="en-US" sz="20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0418BE-45E4-4384-A387-B2B27A9F27D7}"/>
              </a:ext>
            </a:extLst>
          </p:cNvPr>
          <p:cNvSpPr/>
          <p:nvPr/>
        </p:nvSpPr>
        <p:spPr>
          <a:xfrm>
            <a:off x="4239424" y="2736601"/>
            <a:ext cx="4297680" cy="364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Does it cover </a:t>
            </a:r>
            <a:r>
              <a:rPr lang="en-US" sz="2000" i="1" dirty="0">
                <a:solidFill>
                  <a:schemeClr val="tx1"/>
                </a:solidFill>
              </a:rPr>
              <a:t>ESBL</a:t>
            </a:r>
            <a:r>
              <a:rPr lang="en-US" sz="2000" dirty="0">
                <a:solidFill>
                  <a:schemeClr val="tx1"/>
                </a:solidFill>
              </a:rPr>
              <a:t> organisms?</a:t>
            </a:r>
          </a:p>
        </p:txBody>
      </p:sp>
      <p:pic>
        <p:nvPicPr>
          <p:cNvPr id="72" name="graphic" descr="Cursor with solid fill">
            <a:extLst>
              <a:ext uri="{FF2B5EF4-FFF2-40B4-BE49-F238E27FC236}">
                <a16:creationId xmlns:a16="http://schemas.microsoft.com/office/drawing/2014/main" id="{015FB73B-C38F-4ED6-A1C4-84DD37444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9733" y="2213691"/>
            <a:ext cx="274320" cy="27432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1179697C-8701-4978-94D6-A41265C0F71C}"/>
              </a:ext>
            </a:extLst>
          </p:cNvPr>
          <p:cNvSpPr/>
          <p:nvPr/>
        </p:nvSpPr>
        <p:spPr>
          <a:xfrm>
            <a:off x="4227538" y="3187023"/>
            <a:ext cx="6414747" cy="743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Does it cover </a:t>
            </a:r>
            <a:r>
              <a:rPr lang="en-US" sz="2400" dirty="0" err="1">
                <a:solidFill>
                  <a:schemeClr val="tx1"/>
                </a:solidFill>
              </a:rPr>
              <a:t>atypicals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Mycoplasma, Chlamydophila, Legionella</a:t>
            </a:r>
            <a:r>
              <a:rPr lang="en-US" dirty="0">
                <a:solidFill>
                  <a:schemeClr val="tx1"/>
                </a:solidFill>
              </a:rPr>
              <a:t>)?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4" name="3">
            <a:extLst>
              <a:ext uri="{FF2B5EF4-FFF2-40B4-BE49-F238E27FC236}">
                <a16:creationId xmlns:a16="http://schemas.microsoft.com/office/drawing/2014/main" id="{A8CA7F49-2B49-45F9-AB30-91A8AD28B66F}"/>
              </a:ext>
            </a:extLst>
          </p:cNvPr>
          <p:cNvSpPr/>
          <p:nvPr/>
        </p:nvSpPr>
        <p:spPr>
          <a:xfrm>
            <a:off x="3271132" y="3197211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77" name="graphic" descr="Cursor with solid fill">
            <a:extLst>
              <a:ext uri="{FF2B5EF4-FFF2-40B4-BE49-F238E27FC236}">
                <a16:creationId xmlns:a16="http://schemas.microsoft.com/office/drawing/2014/main" id="{77B488DB-4B3D-4E89-BC2B-585CE4087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9733" y="3508553"/>
            <a:ext cx="274320" cy="274320"/>
          </a:xfrm>
          <a:prstGeom prst="rect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038FB701-4983-4309-BE09-AF32D45A020B}"/>
              </a:ext>
            </a:extLst>
          </p:cNvPr>
          <p:cNvSpPr/>
          <p:nvPr/>
        </p:nvSpPr>
        <p:spPr>
          <a:xfrm>
            <a:off x="3274838" y="4121890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7FC2F8-90FD-40E6-A033-3B3B176FD440}"/>
              </a:ext>
            </a:extLst>
          </p:cNvPr>
          <p:cNvSpPr/>
          <p:nvPr/>
        </p:nvSpPr>
        <p:spPr>
          <a:xfrm>
            <a:off x="4227538" y="4107444"/>
            <a:ext cx="6414747" cy="540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Does it cover anaerobes?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2B9B60B-5BAF-4251-B1E1-A193C29E620E}"/>
              </a:ext>
            </a:extLst>
          </p:cNvPr>
          <p:cNvSpPr/>
          <p:nvPr/>
        </p:nvSpPr>
        <p:spPr>
          <a:xfrm>
            <a:off x="3271132" y="4117632"/>
            <a:ext cx="578257" cy="5200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5" name="4">
            <a:extLst>
              <a:ext uri="{FF2B5EF4-FFF2-40B4-BE49-F238E27FC236}">
                <a16:creationId xmlns:a16="http://schemas.microsoft.com/office/drawing/2014/main" id="{CFE2EA75-9E6A-4614-B090-2A48779E1804}"/>
              </a:ext>
            </a:extLst>
          </p:cNvPr>
          <p:cNvSpPr/>
          <p:nvPr/>
        </p:nvSpPr>
        <p:spPr>
          <a:xfrm>
            <a:off x="3271132" y="4117632"/>
            <a:ext cx="578257" cy="52000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24F83C1-12BD-4F11-8A01-F52DDC46CE46}"/>
              </a:ext>
            </a:extLst>
          </p:cNvPr>
          <p:cNvSpPr/>
          <p:nvPr/>
        </p:nvSpPr>
        <p:spPr>
          <a:xfrm>
            <a:off x="4239423" y="4562197"/>
            <a:ext cx="4508649" cy="392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Does it cover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gut anaerobes </a:t>
            </a:r>
            <a:r>
              <a:rPr lang="en-US" sz="2000" i="1" dirty="0">
                <a:solidFill>
                  <a:schemeClr val="tx1"/>
                </a:solidFill>
              </a:rPr>
              <a:t>(B. fragilis)?</a:t>
            </a:r>
          </a:p>
        </p:txBody>
      </p:sp>
      <p:pic>
        <p:nvPicPr>
          <p:cNvPr id="87" name="graphic" descr="Cursor with solid fill">
            <a:extLst>
              <a:ext uri="{FF2B5EF4-FFF2-40B4-BE49-F238E27FC236}">
                <a16:creationId xmlns:a16="http://schemas.microsoft.com/office/drawing/2014/main" id="{14FE99DA-0C14-4C35-8611-426EEA76A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9733" y="4428974"/>
            <a:ext cx="274320" cy="274320"/>
          </a:xfrm>
          <a:prstGeom prst="rect">
            <a:avLst/>
          </a:prstGeom>
        </p:spPr>
      </p:pic>
      <p:sp>
        <p:nvSpPr>
          <p:cNvPr id="92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63186049-94D0-4F62-9333-E2606D0A7B97}"/>
              </a:ext>
            </a:extLst>
          </p:cNvPr>
          <p:cNvSpPr txBox="1"/>
          <p:nvPr/>
        </p:nvSpPr>
        <p:spPr>
          <a:xfrm>
            <a:off x="159960" y="154636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Basic Questions</a:t>
            </a:r>
          </a:p>
        </p:txBody>
      </p:sp>
      <p:sp>
        <p:nvSpPr>
          <p:cNvPr id="93" name="question 3">
            <a:hlinkClick r:id="rId6" action="ppaction://hlinksldjump"/>
            <a:extLst>
              <a:ext uri="{FF2B5EF4-FFF2-40B4-BE49-F238E27FC236}">
                <a16:creationId xmlns:a16="http://schemas.microsoft.com/office/drawing/2014/main" id="{A1BB44F9-C07C-4FC4-B645-376FBBE406C8}"/>
              </a:ext>
            </a:extLst>
          </p:cNvPr>
          <p:cNvSpPr txBox="1"/>
          <p:nvPr/>
        </p:nvSpPr>
        <p:spPr>
          <a:xfrm>
            <a:off x="159960" y="668179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Antibiogram</a:t>
            </a:r>
          </a:p>
        </p:txBody>
      </p:sp>
      <p:sp>
        <p:nvSpPr>
          <p:cNvPr id="94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B2ED7112-C557-4472-BC37-731A49568531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98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EC42EF62-DA75-44C5-9760-731597DB7E28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15F124F5-C1DE-440A-BE06-100F06FCFC41}"/>
              </a:ext>
            </a:extLst>
          </p:cNvPr>
          <p:cNvCxnSpPr>
            <a:endCxn id="98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AACE4BA6-F204-C3B7-F620-435C70963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B4BE72D9-1430-8E52-90D3-A99B49DE0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913954"/>
            <a:ext cx="269100" cy="274320"/>
          </a:xfrm>
          <a:prstGeom prst="rect">
            <a:avLst/>
          </a:prstGeom>
        </p:spPr>
      </p:pic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163EF40F-55DF-2931-1585-382A48B15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9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</p:childTnLst>
        </p:cTn>
      </p:par>
    </p:tnLst>
    <p:bldLst>
      <p:bldP spid="89" grpId="0" animBg="1"/>
      <p:bldP spid="88" grpId="0" animBg="1"/>
      <p:bldP spid="81" grpId="0" animBg="1"/>
      <p:bldP spid="81" grpId="1" animBg="1"/>
      <p:bldP spid="71" grpId="0" animBg="1"/>
      <p:bldP spid="71" grpId="2" animBg="1"/>
      <p:bldP spid="70" grpId="0" animBg="1"/>
      <p:bldP spid="70" grpId="1" animBg="1"/>
      <p:bldP spid="46" grpId="0" animBg="1"/>
      <p:bldP spid="46" grpId="1" animBg="1"/>
      <p:bldP spid="42" grpId="0" animBg="1"/>
      <p:bldP spid="42" grpId="1" animBg="1"/>
      <p:bldP spid="41" grpId="0" animBg="1"/>
      <p:bldP spid="41" grpId="1" animBg="1"/>
      <p:bldP spid="2" grpId="0" animBg="1"/>
      <p:bldP spid="2" grpId="1" animBg="1"/>
      <p:bldP spid="122" grpId="0" animBg="1"/>
      <p:bldP spid="30" grpId="0" animBg="1"/>
      <p:bldP spid="33" grpId="0" animBg="1"/>
      <p:bldP spid="34" grpId="0" animBg="1"/>
      <p:bldP spid="35" grpId="0" animBg="1"/>
      <p:bldP spid="37" grpId="0" animBg="1"/>
      <p:bldP spid="48" grpId="0" animBg="1"/>
      <p:bldP spid="49" grpId="0" animBg="1"/>
      <p:bldP spid="73" grpId="0" animBg="1"/>
      <p:bldP spid="74" grpId="0" animBg="1"/>
      <p:bldP spid="83" grpId="0" animBg="1"/>
      <p:bldP spid="85" grpId="0" animBg="1"/>
      <p:bldP spid="8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Penicillins">
            <a:hlinkClick r:id="rId3" action="ppaction://hlinksldjump"/>
            <a:extLst>
              <a:ext uri="{FF2B5EF4-FFF2-40B4-BE49-F238E27FC236}">
                <a16:creationId xmlns:a16="http://schemas.microsoft.com/office/drawing/2014/main" id="{04BFCD73-3AF5-468D-AC4B-B9A099D5E277}"/>
              </a:ext>
            </a:extLst>
          </p:cNvPr>
          <p:cNvSpPr txBox="1"/>
          <p:nvPr/>
        </p:nvSpPr>
        <p:spPr>
          <a:xfrm>
            <a:off x="3123515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59" name="Cephalosporins">
            <a:hlinkClick r:id="rId4" action="ppaction://hlinksldjump"/>
            <a:extLst>
              <a:ext uri="{FF2B5EF4-FFF2-40B4-BE49-F238E27FC236}">
                <a16:creationId xmlns:a16="http://schemas.microsoft.com/office/drawing/2014/main" id="{55AC14A7-3DDA-4B78-8922-EEEF6C483C7C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sp>
        <p:nvSpPr>
          <p:cNvPr id="66" name="Carbapenems">
            <a:hlinkClick r:id="rId5" action="ppaction://hlinksldjump"/>
            <a:extLst>
              <a:ext uri="{FF2B5EF4-FFF2-40B4-BE49-F238E27FC236}">
                <a16:creationId xmlns:a16="http://schemas.microsoft.com/office/drawing/2014/main" id="{F18AF8A2-559B-40B1-8739-9986BF723615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67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97E3F38C-A141-4CDE-BAB0-EB49CD047312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B681936-46F3-46A5-914A-ED4AFC443914}"/>
              </a:ext>
            </a:extLst>
          </p:cNvPr>
          <p:cNvSpPr/>
          <p:nvPr/>
        </p:nvSpPr>
        <p:spPr>
          <a:xfrm rot="20881442">
            <a:off x="2610051" y="996134"/>
            <a:ext cx="407227" cy="135546"/>
          </a:xfrm>
          <a:custGeom>
            <a:avLst/>
            <a:gdLst>
              <a:gd name="connsiteX0" fmla="*/ 31454 w 199405"/>
              <a:gd name="connsiteY0" fmla="*/ 457200 h 457200"/>
              <a:gd name="connsiteX1" fmla="*/ 12792 w 199405"/>
              <a:gd name="connsiteY1" fmla="*/ 177281 h 457200"/>
              <a:gd name="connsiteX2" fmla="*/ 199405 w 199405"/>
              <a:gd name="connsiteY2" fmla="*/ 0 h 457200"/>
              <a:gd name="connsiteX0" fmla="*/ 0 w 186613"/>
              <a:gd name="connsiteY0" fmla="*/ 177281 h 177280"/>
              <a:gd name="connsiteX1" fmla="*/ 186613 w 186613"/>
              <a:gd name="connsiteY1" fmla="*/ 0 h 177280"/>
              <a:gd name="connsiteX0" fmla="*/ 0 w 173993"/>
              <a:gd name="connsiteY0" fmla="*/ 295311 h 295311"/>
              <a:gd name="connsiteX1" fmla="*/ 173993 w 173993"/>
              <a:gd name="connsiteY1" fmla="*/ 0 h 295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993" h="295311">
                <a:moveTo>
                  <a:pt x="0" y="295311"/>
                </a:moveTo>
                <a:cubicBezTo>
                  <a:pt x="27992" y="219111"/>
                  <a:pt x="94682" y="50540"/>
                  <a:pt x="173993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BC109B-2BD3-4068-A810-2752F61281A7}"/>
              </a:ext>
            </a:extLst>
          </p:cNvPr>
          <p:cNvSpPr txBox="1"/>
          <p:nvPr/>
        </p:nvSpPr>
        <p:spPr>
          <a:xfrm>
            <a:off x="1979796" y="1225666"/>
            <a:ext cx="170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Click on each antibiotic class to learn more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E52BE64-16C8-4106-9559-A63B030FE69C}"/>
              </a:ext>
            </a:extLst>
          </p:cNvPr>
          <p:cNvSpPr/>
          <p:nvPr/>
        </p:nvSpPr>
        <p:spPr>
          <a:xfrm rot="20881442" flipV="1">
            <a:off x="2602077" y="1636724"/>
            <a:ext cx="415108" cy="454360"/>
          </a:xfrm>
          <a:custGeom>
            <a:avLst/>
            <a:gdLst>
              <a:gd name="connsiteX0" fmla="*/ 31454 w 199405"/>
              <a:gd name="connsiteY0" fmla="*/ 457200 h 457200"/>
              <a:gd name="connsiteX1" fmla="*/ 12792 w 199405"/>
              <a:gd name="connsiteY1" fmla="*/ 177281 h 457200"/>
              <a:gd name="connsiteX2" fmla="*/ 199405 w 199405"/>
              <a:gd name="connsiteY2" fmla="*/ 0 h 457200"/>
              <a:gd name="connsiteX0" fmla="*/ 0 w 186613"/>
              <a:gd name="connsiteY0" fmla="*/ 177281 h 177280"/>
              <a:gd name="connsiteX1" fmla="*/ 186613 w 186613"/>
              <a:gd name="connsiteY1" fmla="*/ 0 h 177280"/>
              <a:gd name="connsiteX0" fmla="*/ 0 w 173993"/>
              <a:gd name="connsiteY0" fmla="*/ 295311 h 295311"/>
              <a:gd name="connsiteX1" fmla="*/ 173993 w 173993"/>
              <a:gd name="connsiteY1" fmla="*/ 0 h 295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3993" h="295311">
                <a:moveTo>
                  <a:pt x="0" y="295311"/>
                </a:moveTo>
                <a:cubicBezTo>
                  <a:pt x="27992" y="219111"/>
                  <a:pt x="94682" y="50540"/>
                  <a:pt x="173993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62121697-8000-4263-99BA-BBAC502CFF76}"/>
              </a:ext>
            </a:extLst>
          </p:cNvPr>
          <p:cNvSpPr txBox="1"/>
          <p:nvPr/>
        </p:nvSpPr>
        <p:spPr>
          <a:xfrm>
            <a:off x="3900430" y="4442566"/>
            <a:ext cx="1200829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80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9018E6FF-0216-439C-9E8C-82F668EA1F13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82" name="TextBox 81">
            <a:hlinkClick r:id="rId9" action="ppaction://hlinksldjump"/>
            <a:extLst>
              <a:ext uri="{FF2B5EF4-FFF2-40B4-BE49-F238E27FC236}">
                <a16:creationId xmlns:a16="http://schemas.microsoft.com/office/drawing/2014/main" id="{75C9189B-5D1A-4078-AE2D-FC7E1B16A61F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84" name="TextBox 83">
            <a:hlinkClick r:id="rId10" action="ppaction://hlinksldjump"/>
            <a:extLst>
              <a:ext uri="{FF2B5EF4-FFF2-40B4-BE49-F238E27FC236}">
                <a16:creationId xmlns:a16="http://schemas.microsoft.com/office/drawing/2014/main" id="{2C476C39-83E5-4C73-9F97-93F84B290503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86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0804F36A-2C26-4B73-A319-D566A0834A70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87" name="question 3">
            <a:hlinkClick r:id="rId12" action="ppaction://hlinksldjump"/>
            <a:extLst>
              <a:ext uri="{FF2B5EF4-FFF2-40B4-BE49-F238E27FC236}">
                <a16:creationId xmlns:a16="http://schemas.microsoft.com/office/drawing/2014/main" id="{A452BC97-692E-47F4-8A9A-42EF483BF7DC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88" name="Question 2">
            <a:hlinkClick r:id="rId13" action="ppaction://hlinksldjump"/>
            <a:extLst>
              <a:ext uri="{FF2B5EF4-FFF2-40B4-BE49-F238E27FC236}">
                <a16:creationId xmlns:a16="http://schemas.microsoft.com/office/drawing/2014/main" id="{7ED87B5B-9AED-42D6-B2E1-160E78AF0A84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92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C04E63E7-71CF-4596-B5B7-D5BCAF29E0D8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F87E8A6E-3E00-417C-BDE7-186D9F807570}"/>
              </a:ext>
            </a:extLst>
          </p:cNvPr>
          <p:cNvCxnSpPr>
            <a:endCxn id="92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741FF365-EFA8-DEA8-158B-521029AEFC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8472FA2E-5B5C-5F81-0BBA-E1CA6700402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845D37D6-34A9-4F77-2018-8ED60B2BD5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72072" y="913954"/>
            <a:ext cx="269100" cy="274320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2DDA68B7-8C12-B891-FEF9-DA503B2DC5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206B0DEB-433D-94B9-9C7C-F5E4570A2E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7" name="graphic" descr="Cursor with solid fill">
            <a:extLst>
              <a:ext uri="{FF2B5EF4-FFF2-40B4-BE49-F238E27FC236}">
                <a16:creationId xmlns:a16="http://schemas.microsoft.com/office/drawing/2014/main" id="{E31B8628-D621-C72B-C802-278F4ADDF5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8" name="graphic" descr="Cursor with solid fill">
            <a:extLst>
              <a:ext uri="{FF2B5EF4-FFF2-40B4-BE49-F238E27FC236}">
                <a16:creationId xmlns:a16="http://schemas.microsoft.com/office/drawing/2014/main" id="{E1726EC5-A71F-FC39-8429-E512A66A05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8310" y="3357511"/>
            <a:ext cx="274320" cy="274320"/>
          </a:xfrm>
          <a:prstGeom prst="rect">
            <a:avLst/>
          </a:prstGeom>
        </p:spPr>
      </p:pic>
      <p:pic>
        <p:nvPicPr>
          <p:cNvPr id="9" name="graphic" descr="Cursor with solid fill">
            <a:extLst>
              <a:ext uri="{FF2B5EF4-FFF2-40B4-BE49-F238E27FC236}">
                <a16:creationId xmlns:a16="http://schemas.microsoft.com/office/drawing/2014/main" id="{94F59B1E-FB21-5D46-283F-D14B7EC8D0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10" name="graphic" descr="Cursor with solid fill">
            <a:extLst>
              <a:ext uri="{FF2B5EF4-FFF2-40B4-BE49-F238E27FC236}">
                <a16:creationId xmlns:a16="http://schemas.microsoft.com/office/drawing/2014/main" id="{94C91015-2172-EB26-1C47-9B05C6475EE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11" name="graphic" descr="Cursor with solid fill">
            <a:extLst>
              <a:ext uri="{FF2B5EF4-FFF2-40B4-BE49-F238E27FC236}">
                <a16:creationId xmlns:a16="http://schemas.microsoft.com/office/drawing/2014/main" id="{740D614C-B3E8-CCB3-2497-710E69EDB87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2" name="graphic" descr="Cursor with solid fill">
            <a:extLst>
              <a:ext uri="{FF2B5EF4-FFF2-40B4-BE49-F238E27FC236}">
                <a16:creationId xmlns:a16="http://schemas.microsoft.com/office/drawing/2014/main" id="{59FBF86E-E653-7376-0A3C-C16F8BFB94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13" name="graphic" descr="Cursor with solid fill">
            <a:extLst>
              <a:ext uri="{FF2B5EF4-FFF2-40B4-BE49-F238E27FC236}">
                <a16:creationId xmlns:a16="http://schemas.microsoft.com/office/drawing/2014/main" id="{0EC924E1-956C-A580-7E1B-89AED02795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4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6273EC08-5349-46F4-9FFE-623AEEDF7F51}"/>
              </a:ext>
            </a:extLst>
          </p:cNvPr>
          <p:cNvSpPr txBox="1"/>
          <p:nvPr/>
        </p:nvSpPr>
        <p:spPr>
          <a:xfrm>
            <a:off x="3123515" y="831225"/>
            <a:ext cx="1188720" cy="365760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Penicillins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5EABDC8F-B63D-4AE4-B568-2287349348B6}"/>
              </a:ext>
            </a:extLst>
          </p:cNvPr>
          <p:cNvGrpSpPr/>
          <p:nvPr/>
        </p:nvGrpSpPr>
        <p:grpSpPr>
          <a:xfrm>
            <a:off x="4713210" y="463861"/>
            <a:ext cx="6440261" cy="967667"/>
            <a:chOff x="4713210" y="463861"/>
            <a:chExt cx="6440261" cy="967667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43E22B8-D921-4588-9AB1-6CFF22DDC1C5}"/>
                </a:ext>
              </a:extLst>
            </p:cNvPr>
            <p:cNvGrpSpPr/>
            <p:nvPr/>
          </p:nvGrpSpPr>
          <p:grpSpPr>
            <a:xfrm>
              <a:off x="6076557" y="463861"/>
              <a:ext cx="4486895" cy="210312"/>
              <a:chOff x="6076557" y="463861"/>
              <a:chExt cx="4486895" cy="210312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075B572-97BB-467A-8227-4970925B29C1}"/>
                  </a:ext>
                </a:extLst>
              </p:cNvPr>
              <p:cNvSpPr/>
              <p:nvPr/>
            </p:nvSpPr>
            <p:spPr>
              <a:xfrm>
                <a:off x="6076557" y="463861"/>
                <a:ext cx="759975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Penicillin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0B24DB2-1D84-43A3-BB24-628427AB16AE}"/>
                  </a:ext>
                </a:extLst>
              </p:cNvPr>
              <p:cNvSpPr/>
              <p:nvPr/>
            </p:nvSpPr>
            <p:spPr>
              <a:xfrm>
                <a:off x="9924126" y="463861"/>
                <a:ext cx="639326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422512-7F88-4815-A79A-6AA2EA286C94}"/>
                </a:ext>
              </a:extLst>
            </p:cNvPr>
            <p:cNvSpPr/>
            <p:nvPr/>
          </p:nvSpPr>
          <p:spPr>
            <a:xfrm>
              <a:off x="6076556" y="718521"/>
              <a:ext cx="1233037" cy="21031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Nafcillin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FA5B941-4D20-419F-BC82-FE15C6C5340B}"/>
                </a:ext>
              </a:extLst>
            </p:cNvPr>
            <p:cNvSpPr/>
            <p:nvPr/>
          </p:nvSpPr>
          <p:spPr>
            <a:xfrm>
              <a:off x="4713229" y="1221216"/>
              <a:ext cx="6440242" cy="2103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Piperacillin-tazobactam (Zosyn)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F999C5D-A65A-48CA-8A6D-3E7DA7812099}"/>
                </a:ext>
              </a:extLst>
            </p:cNvPr>
            <p:cNvGrpSpPr/>
            <p:nvPr/>
          </p:nvGrpSpPr>
          <p:grpSpPr>
            <a:xfrm>
              <a:off x="4713210" y="966400"/>
              <a:ext cx="6429427" cy="210312"/>
              <a:chOff x="4713210" y="966400"/>
              <a:chExt cx="6429427" cy="210312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4D24188-32B0-4DB3-88D2-E753C8B1CF7D}"/>
                  </a:ext>
                </a:extLst>
              </p:cNvPr>
              <p:cNvSpPr/>
              <p:nvPr/>
            </p:nvSpPr>
            <p:spPr>
              <a:xfrm>
                <a:off x="4713210" y="966400"/>
                <a:ext cx="3828446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Ampicillin-sulbactam (Unasyn), amoxicillin-clavulanate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797428A-D2B9-49C2-A6DB-BDCEB5D92B04}"/>
                  </a:ext>
                </a:extLst>
              </p:cNvPr>
              <p:cNvSpPr/>
              <p:nvPr/>
            </p:nvSpPr>
            <p:spPr>
              <a:xfrm>
                <a:off x="9926346" y="966400"/>
                <a:ext cx="1216291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3E59F2F2-332C-465F-9EFC-0BF13E9A9CAA}"/>
              </a:ext>
            </a:extLst>
          </p:cNvPr>
          <p:cNvSpPr/>
          <p:nvPr/>
        </p:nvSpPr>
        <p:spPr>
          <a:xfrm>
            <a:off x="4618289" y="467716"/>
            <a:ext cx="45719" cy="1049652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95D6F80-E2AF-4B9A-A4DB-AD1E5C388ADA}"/>
              </a:ext>
            </a:extLst>
          </p:cNvPr>
          <p:cNvSpPr txBox="1"/>
          <p:nvPr/>
        </p:nvSpPr>
        <p:spPr>
          <a:xfrm>
            <a:off x="201434" y="2165935"/>
            <a:ext cx="30232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General Rules:</a:t>
            </a:r>
          </a:p>
          <a:p>
            <a:pPr marL="228600" indent="-2286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No MRSA</a:t>
            </a:r>
          </a:p>
          <a:p>
            <a:pPr marL="228600" indent="-228600">
              <a:buAutoNum type="arabicPeriod"/>
            </a:pPr>
            <a:r>
              <a:rPr lang="en-US" sz="1400" dirty="0"/>
              <a:t>No</a:t>
            </a:r>
            <a:r>
              <a:rPr lang="en-US" sz="1400" dirty="0">
                <a:solidFill>
                  <a:schemeClr val="tx1"/>
                </a:solidFill>
              </a:rPr>
              <a:t> atypical coverage</a:t>
            </a:r>
          </a:p>
          <a:p>
            <a:pPr marL="228600" indent="-2286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↑ GNR coverage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515FB9E-8D89-4064-B4DC-FDF2F99055C4}"/>
              </a:ext>
            </a:extLst>
          </p:cNvPr>
          <p:cNvSpPr txBox="1"/>
          <p:nvPr/>
        </p:nvSpPr>
        <p:spPr>
          <a:xfrm>
            <a:off x="198616" y="3408829"/>
            <a:ext cx="1124712" cy="3745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Penicillin</a:t>
            </a:r>
          </a:p>
        </p:txBody>
      </p:sp>
      <p:sp>
        <p:nvSpPr>
          <p:cNvPr id="159" name="Pen G">
            <a:extLst>
              <a:ext uri="{FF2B5EF4-FFF2-40B4-BE49-F238E27FC236}">
                <a16:creationId xmlns:a16="http://schemas.microsoft.com/office/drawing/2014/main" id="{9AB1B310-C3C6-4AC6-8D02-F1A11B5A5183}"/>
              </a:ext>
            </a:extLst>
          </p:cNvPr>
          <p:cNvSpPr txBox="1"/>
          <p:nvPr/>
        </p:nvSpPr>
        <p:spPr>
          <a:xfrm>
            <a:off x="198616" y="3408829"/>
            <a:ext cx="1124712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Penicillin</a:t>
            </a:r>
          </a:p>
        </p:txBody>
      </p:sp>
      <p:pic>
        <p:nvPicPr>
          <p:cNvPr id="160" name="graphic" descr="Cursor with solid fill">
            <a:extLst>
              <a:ext uri="{FF2B5EF4-FFF2-40B4-BE49-F238E27FC236}">
                <a16:creationId xmlns:a16="http://schemas.microsoft.com/office/drawing/2014/main" id="{83B54D9A-043E-40EC-A236-7395626DE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3275" y="3641855"/>
            <a:ext cx="274320" cy="274320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7D0AEA75-2D1B-4C96-8ED3-66FEA417C653}"/>
              </a:ext>
            </a:extLst>
          </p:cNvPr>
          <p:cNvSpPr txBox="1"/>
          <p:nvPr/>
        </p:nvSpPr>
        <p:spPr>
          <a:xfrm>
            <a:off x="1396667" y="3248779"/>
            <a:ext cx="18611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/>
            <a:r>
              <a:rPr lang="en-US" sz="1400" dirty="0">
                <a:solidFill>
                  <a:schemeClr val="tx1"/>
                </a:solidFill>
              </a:rPr>
              <a:t>1</a:t>
            </a:r>
            <a:r>
              <a:rPr lang="en-US" sz="1400" baseline="30000" dirty="0">
                <a:solidFill>
                  <a:schemeClr val="tx1"/>
                </a:solidFill>
              </a:rPr>
              <a:t>st</a:t>
            </a:r>
            <a:r>
              <a:rPr lang="en-US" sz="1400" dirty="0">
                <a:solidFill>
                  <a:schemeClr val="tx1"/>
                </a:solidFill>
              </a:rPr>
              <a:t> line for </a:t>
            </a:r>
            <a:r>
              <a:rPr lang="en-US" sz="1400" i="1" dirty="0">
                <a:solidFill>
                  <a:schemeClr val="tx1"/>
                </a:solidFill>
              </a:rPr>
              <a:t>Strep</a:t>
            </a:r>
            <a:r>
              <a:rPr lang="en-US" sz="1400" dirty="0"/>
              <a:t>, syphilis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↑ </a:t>
            </a:r>
            <a:r>
              <a:rPr lang="en-US" sz="1400" i="1" dirty="0">
                <a:solidFill>
                  <a:schemeClr val="tx1"/>
                </a:solidFill>
              </a:rPr>
              <a:t>Staph</a:t>
            </a:r>
            <a:r>
              <a:rPr lang="en-US" sz="1400" dirty="0">
                <a:solidFill>
                  <a:schemeClr val="tx1"/>
                </a:solidFill>
              </a:rPr>
              <a:t> resistance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11240F8-7361-43E4-8F38-3916E204AD99}"/>
              </a:ext>
            </a:extLst>
          </p:cNvPr>
          <p:cNvSpPr txBox="1"/>
          <p:nvPr/>
        </p:nvSpPr>
        <p:spPr>
          <a:xfrm>
            <a:off x="203899" y="4175832"/>
            <a:ext cx="1124712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Nafcillin</a:t>
            </a:r>
          </a:p>
        </p:txBody>
      </p:sp>
      <p:sp>
        <p:nvSpPr>
          <p:cNvPr id="163" name="Nafcillin">
            <a:extLst>
              <a:ext uri="{FF2B5EF4-FFF2-40B4-BE49-F238E27FC236}">
                <a16:creationId xmlns:a16="http://schemas.microsoft.com/office/drawing/2014/main" id="{5A33B353-86B8-4A99-8438-B5F163EBB593}"/>
              </a:ext>
            </a:extLst>
          </p:cNvPr>
          <p:cNvSpPr txBox="1"/>
          <p:nvPr/>
        </p:nvSpPr>
        <p:spPr>
          <a:xfrm>
            <a:off x="203899" y="4175832"/>
            <a:ext cx="1124712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Nafcillin</a:t>
            </a:r>
          </a:p>
        </p:txBody>
      </p:sp>
      <p:pic>
        <p:nvPicPr>
          <p:cNvPr id="164" name="graphic" descr="Cursor with solid fill">
            <a:extLst>
              <a:ext uri="{FF2B5EF4-FFF2-40B4-BE49-F238E27FC236}">
                <a16:creationId xmlns:a16="http://schemas.microsoft.com/office/drawing/2014/main" id="{61CF9089-8F0C-4ED8-8C9A-FBAB9AF5B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7888" y="4418189"/>
            <a:ext cx="274320" cy="27432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56C7A64F-7096-4E46-B61A-BD05B3544C86}"/>
              </a:ext>
            </a:extLst>
          </p:cNvPr>
          <p:cNvSpPr txBox="1"/>
          <p:nvPr/>
        </p:nvSpPr>
        <p:spPr>
          <a:xfrm>
            <a:off x="1395438" y="4101890"/>
            <a:ext cx="2010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Good for </a:t>
            </a:r>
            <a:r>
              <a:rPr lang="en-US" sz="1400" i="1" dirty="0"/>
              <a:t>Staph</a:t>
            </a:r>
            <a:r>
              <a:rPr lang="en-US" sz="1400" dirty="0"/>
              <a:t> and </a:t>
            </a:r>
            <a:r>
              <a:rPr lang="en-US" sz="1400" i="1" dirty="0"/>
              <a:t>Strep</a:t>
            </a:r>
          </a:p>
          <a:p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line for MSSA 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0138292-279B-4846-8973-7112EE202470}"/>
              </a:ext>
            </a:extLst>
          </p:cNvPr>
          <p:cNvSpPr txBox="1"/>
          <p:nvPr/>
        </p:nvSpPr>
        <p:spPr>
          <a:xfrm>
            <a:off x="189358" y="5081406"/>
            <a:ext cx="1117369" cy="3745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Ampicillin</a:t>
            </a:r>
          </a:p>
        </p:txBody>
      </p:sp>
      <p:sp>
        <p:nvSpPr>
          <p:cNvPr id="171" name="Ampicillin">
            <a:extLst>
              <a:ext uri="{FF2B5EF4-FFF2-40B4-BE49-F238E27FC236}">
                <a16:creationId xmlns:a16="http://schemas.microsoft.com/office/drawing/2014/main" id="{C3CE0583-1214-4FE6-AE34-95A898BC4069}"/>
              </a:ext>
            </a:extLst>
          </p:cNvPr>
          <p:cNvSpPr txBox="1"/>
          <p:nvPr/>
        </p:nvSpPr>
        <p:spPr>
          <a:xfrm>
            <a:off x="189356" y="5081406"/>
            <a:ext cx="1117369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Ampicillin</a:t>
            </a:r>
          </a:p>
        </p:txBody>
      </p:sp>
      <p:pic>
        <p:nvPicPr>
          <p:cNvPr id="172" name="graphic" descr="Cursor with solid fill">
            <a:extLst>
              <a:ext uri="{FF2B5EF4-FFF2-40B4-BE49-F238E27FC236}">
                <a16:creationId xmlns:a16="http://schemas.microsoft.com/office/drawing/2014/main" id="{C6E75F34-CE55-4453-92C0-FE7B4CBFD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6003" y="5323778"/>
            <a:ext cx="274320" cy="274320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7E3A353E-5E31-41E2-B94C-02592B65DA84}"/>
              </a:ext>
            </a:extLst>
          </p:cNvPr>
          <p:cNvSpPr txBox="1"/>
          <p:nvPr/>
        </p:nvSpPr>
        <p:spPr>
          <a:xfrm>
            <a:off x="1405956" y="4873725"/>
            <a:ext cx="22160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Broad spectrum</a:t>
            </a:r>
          </a:p>
          <a:p>
            <a:r>
              <a:rPr lang="en-US" sz="1400" dirty="0"/>
              <a:t>+ GN, gut anaerobes</a:t>
            </a:r>
            <a:endParaRPr lang="en-US" sz="1400" dirty="0">
              <a:solidFill>
                <a:schemeClr val="tx1"/>
              </a:solidFill>
            </a:endParaRPr>
          </a:p>
          <a:p>
            <a:pPr marL="111125" indent="-111125"/>
            <a:r>
              <a:rPr lang="el-GR" sz="1400" dirty="0"/>
              <a:t>β</a:t>
            </a:r>
            <a:r>
              <a:rPr lang="en-US" sz="1400" dirty="0"/>
              <a:t>-lactamase inhibitors ↑ GN and </a:t>
            </a:r>
            <a:r>
              <a:rPr lang="en-US" sz="1400" i="1" dirty="0"/>
              <a:t>Staph </a:t>
            </a:r>
            <a:r>
              <a:rPr lang="en-US" sz="1400" dirty="0"/>
              <a:t>coverage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2677E86-F4A3-4B97-A887-F1603C8B9C9E}"/>
              </a:ext>
            </a:extLst>
          </p:cNvPr>
          <p:cNvSpPr txBox="1"/>
          <p:nvPr/>
        </p:nvSpPr>
        <p:spPr>
          <a:xfrm>
            <a:off x="205961" y="6016597"/>
            <a:ext cx="1202624" cy="374571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Pip-</a:t>
            </a:r>
            <a:r>
              <a:rPr lang="en-US" sz="1600" b="1" dirty="0" err="1">
                <a:solidFill>
                  <a:schemeClr val="tx1"/>
                </a:solidFill>
              </a:rPr>
              <a:t>tazo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75" name="Pip-tazo">
            <a:extLst>
              <a:ext uri="{FF2B5EF4-FFF2-40B4-BE49-F238E27FC236}">
                <a16:creationId xmlns:a16="http://schemas.microsoft.com/office/drawing/2014/main" id="{2670EA0F-B115-4A43-9774-86FCEA1648E1}"/>
              </a:ext>
            </a:extLst>
          </p:cNvPr>
          <p:cNvSpPr txBox="1"/>
          <p:nvPr/>
        </p:nvSpPr>
        <p:spPr>
          <a:xfrm>
            <a:off x="205960" y="6016597"/>
            <a:ext cx="12026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Piperacillin</a:t>
            </a:r>
          </a:p>
        </p:txBody>
      </p:sp>
      <p:pic>
        <p:nvPicPr>
          <p:cNvPr id="176" name="graphic" descr="Cursor with solid fill">
            <a:extLst>
              <a:ext uri="{FF2B5EF4-FFF2-40B4-BE49-F238E27FC236}">
                <a16:creationId xmlns:a16="http://schemas.microsoft.com/office/drawing/2014/main" id="{B5F12E89-F93F-44BC-B825-657A070B7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9467" y="6269936"/>
            <a:ext cx="274320" cy="27432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A31E9227-5FEC-4D43-B89F-0579E4D783CB}"/>
              </a:ext>
            </a:extLst>
          </p:cNvPr>
          <p:cNvSpPr txBox="1"/>
          <p:nvPr/>
        </p:nvSpPr>
        <p:spPr>
          <a:xfrm>
            <a:off x="1481408" y="6078591"/>
            <a:ext cx="17173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+ PsA coverage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13574CC-4D09-4632-858D-0A3DDCFDC3C2}"/>
              </a:ext>
            </a:extLst>
          </p:cNvPr>
          <p:cNvSpPr/>
          <p:nvPr/>
        </p:nvSpPr>
        <p:spPr>
          <a:xfrm>
            <a:off x="6076557" y="707268"/>
            <a:ext cx="1233036" cy="21031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Nafcillin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3AC6585-C2ED-4124-9A60-F5DDF66BBDEA}"/>
              </a:ext>
            </a:extLst>
          </p:cNvPr>
          <p:cNvSpPr/>
          <p:nvPr/>
        </p:nvSpPr>
        <p:spPr>
          <a:xfrm>
            <a:off x="5514897" y="1221788"/>
            <a:ext cx="5606163" cy="210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Piperacillin-tazobactam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820DEA8-1D24-432D-84C3-D44AB88D191B}"/>
              </a:ext>
            </a:extLst>
          </p:cNvPr>
          <p:cNvGrpSpPr/>
          <p:nvPr/>
        </p:nvGrpSpPr>
        <p:grpSpPr>
          <a:xfrm>
            <a:off x="5514898" y="959911"/>
            <a:ext cx="5627739" cy="211582"/>
            <a:chOff x="5514898" y="986278"/>
            <a:chExt cx="5627739" cy="21158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6D36BF6-0586-477E-8A29-4429D9DCFECD}"/>
                </a:ext>
              </a:extLst>
            </p:cNvPr>
            <p:cNvSpPr/>
            <p:nvPr/>
          </p:nvSpPr>
          <p:spPr>
            <a:xfrm>
              <a:off x="5514898" y="987548"/>
              <a:ext cx="3017520" cy="210312"/>
            </a:xfrm>
            <a:prstGeom prst="rect">
              <a:avLst/>
            </a:prstGeom>
            <a:grp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Ampicillin/amoxicillin + </a:t>
              </a:r>
              <a:r>
                <a:rPr lang="el-GR" sz="1200" dirty="0"/>
                <a:t>β</a:t>
              </a:r>
              <a:r>
                <a:rPr lang="en-US" sz="1200" dirty="0">
                  <a:solidFill>
                    <a:schemeClr val="bg1"/>
                  </a:solidFill>
                </a:rPr>
                <a:t>-lactamase inhibitor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6CB50A63-0192-438F-9095-FFF642D5C43C}"/>
                </a:ext>
              </a:extLst>
            </p:cNvPr>
            <p:cNvSpPr/>
            <p:nvPr/>
          </p:nvSpPr>
          <p:spPr>
            <a:xfrm>
              <a:off x="9926346" y="986278"/>
              <a:ext cx="1216291" cy="210312"/>
            </a:xfrm>
            <a:prstGeom prst="rect">
              <a:avLst/>
            </a:prstGeom>
            <a:grp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7" name="Cephalosporins">
            <a:hlinkClick r:id="rId5" action="ppaction://hlinksldjump"/>
            <a:extLst>
              <a:ext uri="{FF2B5EF4-FFF2-40B4-BE49-F238E27FC236}">
                <a16:creationId xmlns:a16="http://schemas.microsoft.com/office/drawing/2014/main" id="{224005FB-0F97-449F-BEBD-94345D301B62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E9F1A97D-F37E-4C6D-A69B-B9B71A6C4CC3}"/>
              </a:ext>
            </a:extLst>
          </p:cNvPr>
          <p:cNvGrpSpPr/>
          <p:nvPr/>
        </p:nvGrpSpPr>
        <p:grpSpPr>
          <a:xfrm>
            <a:off x="5514897" y="463861"/>
            <a:ext cx="5034786" cy="210312"/>
            <a:chOff x="5514897" y="463861"/>
            <a:chExt cx="5034786" cy="210312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739D156-E829-4553-9D08-292B33FC61D3}"/>
                </a:ext>
              </a:extLst>
            </p:cNvPr>
            <p:cNvGrpSpPr/>
            <p:nvPr/>
          </p:nvGrpSpPr>
          <p:grpSpPr>
            <a:xfrm>
              <a:off x="5514897" y="463861"/>
              <a:ext cx="5034786" cy="210312"/>
              <a:chOff x="5528666" y="463861"/>
              <a:chExt cx="5034786" cy="210312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47E3A624-95AD-43EC-A847-3F53A1A4FAC8}"/>
                  </a:ext>
                </a:extLst>
              </p:cNvPr>
              <p:cNvSpPr/>
              <p:nvPr/>
            </p:nvSpPr>
            <p:spPr>
              <a:xfrm>
                <a:off x="5528666" y="463862"/>
                <a:ext cx="1321635" cy="203804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Penicillin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ED9AE69-7C6D-403C-A59A-3F3D91600ED4}"/>
                  </a:ext>
                </a:extLst>
              </p:cNvPr>
              <p:cNvSpPr/>
              <p:nvPr/>
            </p:nvSpPr>
            <p:spPr>
              <a:xfrm>
                <a:off x="9924126" y="463861"/>
                <a:ext cx="639326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87E685D-A92A-4DD1-BBF8-D064597077DD}"/>
                </a:ext>
              </a:extLst>
            </p:cNvPr>
            <p:cNvSpPr/>
            <p:nvPr/>
          </p:nvSpPr>
          <p:spPr>
            <a:xfrm>
              <a:off x="7330148" y="463861"/>
              <a:ext cx="88426" cy="21031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04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E5048B02-8B3B-4D28-8723-023B9E20E745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15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9457C0C3-6B2D-474A-812E-2397375E4214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pic>
        <p:nvPicPr>
          <p:cNvPr id="216" name="graphic" descr="Cursor with solid fill">
            <a:extLst>
              <a:ext uri="{FF2B5EF4-FFF2-40B4-BE49-F238E27FC236}">
                <a16:creationId xmlns:a16="http://schemas.microsoft.com/office/drawing/2014/main" id="{78CDBF8E-52E4-4FC3-B09E-CF2C6651F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960" y="4035451"/>
            <a:ext cx="301752" cy="301752"/>
          </a:xfrm>
          <a:prstGeom prst="rect">
            <a:avLst/>
          </a:prstGeom>
        </p:spPr>
      </p:pic>
      <p:sp>
        <p:nvSpPr>
          <p:cNvPr id="219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3B0DD02B-C910-4AC0-9306-878A9FECE19B}"/>
              </a:ext>
            </a:extLst>
          </p:cNvPr>
          <p:cNvSpPr txBox="1"/>
          <p:nvPr/>
        </p:nvSpPr>
        <p:spPr>
          <a:xfrm>
            <a:off x="3900430" y="4442566"/>
            <a:ext cx="1200829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223" name="Carbapenems">
            <a:hlinkClick r:id="rId9" action="ppaction://hlinksldjump"/>
            <a:extLst>
              <a:ext uri="{FF2B5EF4-FFF2-40B4-BE49-F238E27FC236}">
                <a16:creationId xmlns:a16="http://schemas.microsoft.com/office/drawing/2014/main" id="{74010BA0-C1AB-4639-9A89-C9DE8559195D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225" name="TextBox 224">
            <a:hlinkClick r:id="rId10" action="ppaction://hlinksldjump"/>
            <a:extLst>
              <a:ext uri="{FF2B5EF4-FFF2-40B4-BE49-F238E27FC236}">
                <a16:creationId xmlns:a16="http://schemas.microsoft.com/office/drawing/2014/main" id="{A905E2FC-0081-4852-B6F7-23DAC5189386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227" name="TextBox 226">
            <a:hlinkClick r:id="rId11" action="ppaction://hlinksldjump"/>
            <a:extLst>
              <a:ext uri="{FF2B5EF4-FFF2-40B4-BE49-F238E27FC236}">
                <a16:creationId xmlns:a16="http://schemas.microsoft.com/office/drawing/2014/main" id="{219F0434-A146-4F39-AFAD-2C9A1C53AA67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238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54392FE9-0F02-430A-86D8-38EF41C81B04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239" name="question 3">
            <a:hlinkClick r:id="rId13" action="ppaction://hlinksldjump"/>
            <a:extLst>
              <a:ext uri="{FF2B5EF4-FFF2-40B4-BE49-F238E27FC236}">
                <a16:creationId xmlns:a16="http://schemas.microsoft.com/office/drawing/2014/main" id="{CF43F28F-8B22-4B4B-A732-7506359F8F64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240" name="Question 2">
            <a:hlinkClick r:id="rId14" action="ppaction://hlinksldjump"/>
            <a:extLst>
              <a:ext uri="{FF2B5EF4-FFF2-40B4-BE49-F238E27FC236}">
                <a16:creationId xmlns:a16="http://schemas.microsoft.com/office/drawing/2014/main" id="{78BB4D4C-763D-48CA-B9FB-2245AB41CB9F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43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B438C8AD-0D87-4F30-AA24-8EC121C2E583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871A9534-8804-4BE3-B5F5-0ECE7B406367}"/>
              </a:ext>
            </a:extLst>
          </p:cNvPr>
          <p:cNvCxnSpPr>
            <a:endCxn id="243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" descr="Cursor with solid fill">
            <a:extLst>
              <a:ext uri="{FF2B5EF4-FFF2-40B4-BE49-F238E27FC236}">
                <a16:creationId xmlns:a16="http://schemas.microsoft.com/office/drawing/2014/main" id="{D0AF5276-4F8A-AA11-1C2E-4B704C772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4" name="graphic" descr="Cursor with solid fill">
            <a:extLst>
              <a:ext uri="{FF2B5EF4-FFF2-40B4-BE49-F238E27FC236}">
                <a16:creationId xmlns:a16="http://schemas.microsoft.com/office/drawing/2014/main" id="{946DE806-F26C-352E-E257-27A1FE537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8310" y="3366655"/>
            <a:ext cx="274320" cy="274320"/>
          </a:xfrm>
          <a:prstGeom prst="rect">
            <a:avLst/>
          </a:prstGeom>
        </p:spPr>
      </p:pic>
      <p:pic>
        <p:nvPicPr>
          <p:cNvPr id="5" name="graphic" descr="Cursor with solid fill">
            <a:extLst>
              <a:ext uri="{FF2B5EF4-FFF2-40B4-BE49-F238E27FC236}">
                <a16:creationId xmlns:a16="http://schemas.microsoft.com/office/drawing/2014/main" id="{C4806725-4086-6790-F01E-558600AB2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D11DDFBD-F122-A9E1-FDC5-BAD5C16AF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D02F5644-290C-44B2-4458-415BCE087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58F420F5-8B0B-006C-2C35-46105B6A0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FE4F3669-6030-433E-EB1D-4401CFA29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pic>
        <p:nvPicPr>
          <p:cNvPr id="11" name="graphic" descr="Cursor with solid fill">
            <a:extLst>
              <a:ext uri="{FF2B5EF4-FFF2-40B4-BE49-F238E27FC236}">
                <a16:creationId xmlns:a16="http://schemas.microsoft.com/office/drawing/2014/main" id="{870898F9-DAA3-BB1A-6F4E-F0A3DA652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2" name="graphic" descr="Cursor with solid fill">
            <a:extLst>
              <a:ext uri="{FF2B5EF4-FFF2-40B4-BE49-F238E27FC236}">
                <a16:creationId xmlns:a16="http://schemas.microsoft.com/office/drawing/2014/main" id="{5840CE63-3E4B-8E8B-6C6D-4836FAD20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13" name="graphic" descr="Cursor with solid fill">
            <a:extLst>
              <a:ext uri="{FF2B5EF4-FFF2-40B4-BE49-F238E27FC236}">
                <a16:creationId xmlns:a16="http://schemas.microsoft.com/office/drawing/2014/main" id="{4E204FAD-DC75-27EB-98B0-23E3E8B3E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6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</p:childTnLst>
        </p:cTn>
      </p:par>
    </p:tnLst>
    <p:bldLst>
      <p:bldP spid="159" grpId="0" animBg="1"/>
      <p:bldP spid="161" grpId="0"/>
      <p:bldP spid="163" grpId="0" animBg="1"/>
      <p:bldP spid="165" grpId="0"/>
      <p:bldP spid="171" grpId="0" animBg="1"/>
      <p:bldP spid="173" grpId="0"/>
      <p:bldP spid="175" grpId="0" animBg="1"/>
      <p:bldP spid="177" grpId="0"/>
      <p:bldP spid="181" grpId="0" animBg="1"/>
      <p:bldP spid="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Cephalosporins final">
            <a:extLst>
              <a:ext uri="{FF2B5EF4-FFF2-40B4-BE49-F238E27FC236}">
                <a16:creationId xmlns:a16="http://schemas.microsoft.com/office/drawing/2014/main" id="{F605F528-52C2-451B-BBB7-AE5955428128}"/>
              </a:ext>
            </a:extLst>
          </p:cNvPr>
          <p:cNvSpPr txBox="1"/>
          <p:nvPr/>
        </p:nvSpPr>
        <p:spPr>
          <a:xfrm>
            <a:off x="3116651" y="1835259"/>
            <a:ext cx="1589695" cy="374571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Cephalosporins</a:t>
            </a:r>
          </a:p>
        </p:txBody>
      </p:sp>
      <p:sp>
        <p:nvSpPr>
          <p:cNvPr id="57" name="Penicillins">
            <a:hlinkClick r:id="rId3" action="ppaction://hlinksldjump"/>
            <a:extLst>
              <a:ext uri="{FF2B5EF4-FFF2-40B4-BE49-F238E27FC236}">
                <a16:creationId xmlns:a16="http://schemas.microsoft.com/office/drawing/2014/main" id="{04BFCD73-3AF5-468D-AC4B-B9A099D5E277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95D6F80-E2AF-4B9A-A4DB-AD1E5C388ADA}"/>
              </a:ext>
            </a:extLst>
          </p:cNvPr>
          <p:cNvSpPr txBox="1"/>
          <p:nvPr/>
        </p:nvSpPr>
        <p:spPr>
          <a:xfrm>
            <a:off x="200718" y="2113781"/>
            <a:ext cx="29424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General Rules:</a:t>
            </a:r>
          </a:p>
          <a:p>
            <a:pPr marL="228600" indent="-2286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No </a:t>
            </a:r>
            <a:r>
              <a:rPr lang="en-US" sz="1400" i="1" dirty="0">
                <a:solidFill>
                  <a:schemeClr val="tx1"/>
                </a:solidFill>
              </a:rPr>
              <a:t>Enterococcus</a:t>
            </a:r>
          </a:p>
          <a:p>
            <a:pPr marL="228600" indent="-228600">
              <a:buAutoNum type="arabicPeriod"/>
            </a:pPr>
            <a:r>
              <a:rPr lang="en-US" sz="1400" dirty="0"/>
              <a:t>No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atypicals</a:t>
            </a:r>
            <a:endParaRPr lang="en-US" sz="14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↑ GNR coverage with later </a:t>
            </a:r>
            <a:r>
              <a:rPr lang="en-US" sz="1400" dirty="0"/>
              <a:t>gen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515FB9E-8D89-4064-B4DC-FDF2F99055C4}"/>
              </a:ext>
            </a:extLst>
          </p:cNvPr>
          <p:cNvSpPr txBox="1"/>
          <p:nvPr/>
        </p:nvSpPr>
        <p:spPr>
          <a:xfrm>
            <a:off x="197901" y="3175700"/>
            <a:ext cx="822960" cy="36576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accent2">
                <a:lumMod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  <a:r>
              <a:rPr lang="en-US" sz="1600" b="1" baseline="30000" dirty="0">
                <a:solidFill>
                  <a:schemeClr val="bg1"/>
                </a:solidFill>
              </a:rPr>
              <a:t>st</a:t>
            </a:r>
            <a:r>
              <a:rPr lang="en-US" sz="1600" b="1" dirty="0">
                <a:solidFill>
                  <a:schemeClr val="bg1"/>
                </a:solidFill>
              </a:rPr>
              <a:t> G</a:t>
            </a:r>
          </a:p>
        </p:txBody>
      </p:sp>
      <p:sp>
        <p:nvSpPr>
          <p:cNvPr id="159" name="1st G">
            <a:extLst>
              <a:ext uri="{FF2B5EF4-FFF2-40B4-BE49-F238E27FC236}">
                <a16:creationId xmlns:a16="http://schemas.microsoft.com/office/drawing/2014/main" id="{9AB1B310-C3C6-4AC6-8D02-F1A11B5A5183}"/>
              </a:ext>
            </a:extLst>
          </p:cNvPr>
          <p:cNvSpPr txBox="1"/>
          <p:nvPr/>
        </p:nvSpPr>
        <p:spPr>
          <a:xfrm>
            <a:off x="197901" y="3175700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1</a:t>
            </a:r>
            <a:r>
              <a:rPr lang="en-US" sz="1600" b="1" baseline="30000" dirty="0"/>
              <a:t>st</a:t>
            </a:r>
            <a:r>
              <a:rPr lang="en-US" sz="1600" b="1" dirty="0"/>
              <a:t> G</a:t>
            </a:r>
          </a:p>
        </p:txBody>
      </p:sp>
      <p:pic>
        <p:nvPicPr>
          <p:cNvPr id="160" name="graphic" descr="Cursor with solid fill">
            <a:extLst>
              <a:ext uri="{FF2B5EF4-FFF2-40B4-BE49-F238E27FC236}">
                <a16:creationId xmlns:a16="http://schemas.microsoft.com/office/drawing/2014/main" id="{83B54D9A-043E-40EC-A236-7395626DE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014" y="3413652"/>
            <a:ext cx="274320" cy="274320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7D0AEA75-2D1B-4C96-8ED3-66FEA417C653}"/>
              </a:ext>
            </a:extLst>
          </p:cNvPr>
          <p:cNvSpPr txBox="1"/>
          <p:nvPr/>
        </p:nvSpPr>
        <p:spPr>
          <a:xfrm>
            <a:off x="1094543" y="3210935"/>
            <a:ext cx="2351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Good for </a:t>
            </a:r>
            <a:r>
              <a:rPr lang="en-US" sz="1400" i="1" dirty="0"/>
              <a:t>Staph </a:t>
            </a:r>
            <a:r>
              <a:rPr lang="en-US" sz="1400" dirty="0"/>
              <a:t>and </a:t>
            </a:r>
            <a:r>
              <a:rPr lang="en-US" sz="1400" i="1" dirty="0"/>
              <a:t>Strep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11240F8-7361-43E4-8F38-3916E204AD99}"/>
              </a:ext>
            </a:extLst>
          </p:cNvPr>
          <p:cNvSpPr txBox="1"/>
          <p:nvPr/>
        </p:nvSpPr>
        <p:spPr>
          <a:xfrm>
            <a:off x="197901" y="3793871"/>
            <a:ext cx="822960" cy="3657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  <a:r>
              <a:rPr lang="en-US" sz="1600" b="1" baseline="30000" dirty="0">
                <a:solidFill>
                  <a:schemeClr val="bg1"/>
                </a:solidFill>
              </a:rPr>
              <a:t>nd</a:t>
            </a:r>
            <a:r>
              <a:rPr lang="en-US" sz="1600" b="1" dirty="0">
                <a:solidFill>
                  <a:schemeClr val="bg1"/>
                </a:solidFill>
              </a:rPr>
              <a:t> G</a:t>
            </a:r>
          </a:p>
        </p:txBody>
      </p:sp>
      <p:sp>
        <p:nvSpPr>
          <p:cNvPr id="163" name="2nd G">
            <a:extLst>
              <a:ext uri="{FF2B5EF4-FFF2-40B4-BE49-F238E27FC236}">
                <a16:creationId xmlns:a16="http://schemas.microsoft.com/office/drawing/2014/main" id="{5A33B353-86B8-4A99-8438-B5F163EBB593}"/>
              </a:ext>
            </a:extLst>
          </p:cNvPr>
          <p:cNvSpPr txBox="1"/>
          <p:nvPr/>
        </p:nvSpPr>
        <p:spPr>
          <a:xfrm>
            <a:off x="197901" y="3793871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2</a:t>
            </a:r>
            <a:r>
              <a:rPr lang="en-US" sz="1600" b="1" baseline="30000" dirty="0"/>
              <a:t>nd</a:t>
            </a:r>
            <a:r>
              <a:rPr lang="en-US" sz="1600" b="1" dirty="0"/>
              <a:t> G</a:t>
            </a:r>
          </a:p>
        </p:txBody>
      </p:sp>
      <p:pic>
        <p:nvPicPr>
          <p:cNvPr id="164" name="graphic" descr="Cursor with solid fill">
            <a:extLst>
              <a:ext uri="{FF2B5EF4-FFF2-40B4-BE49-F238E27FC236}">
                <a16:creationId xmlns:a16="http://schemas.microsoft.com/office/drawing/2014/main" id="{61CF9089-8F0C-4ED8-8C9A-FBAB9AF5B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014" y="4044397"/>
            <a:ext cx="274320" cy="27432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56C7A64F-7096-4E46-B61A-BD05B3544C86}"/>
              </a:ext>
            </a:extLst>
          </p:cNvPr>
          <p:cNvSpPr txBox="1"/>
          <p:nvPr/>
        </p:nvSpPr>
        <p:spPr>
          <a:xfrm>
            <a:off x="1085789" y="3741025"/>
            <a:ext cx="2605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+ some GNRs </a:t>
            </a:r>
            <a:r>
              <a:rPr lang="en-US" sz="1400" i="1" dirty="0"/>
              <a:t>(Klebsiella, Moraxella, H. flu</a:t>
            </a:r>
            <a:r>
              <a:rPr lang="en-US" sz="1400" dirty="0"/>
              <a:t>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0138292-279B-4846-8973-7112EE202470}"/>
              </a:ext>
            </a:extLst>
          </p:cNvPr>
          <p:cNvSpPr txBox="1"/>
          <p:nvPr/>
        </p:nvSpPr>
        <p:spPr>
          <a:xfrm>
            <a:off x="197901" y="4543898"/>
            <a:ext cx="822960" cy="365760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  <a:r>
              <a:rPr lang="en-US" sz="1600" b="1" baseline="30000" dirty="0">
                <a:solidFill>
                  <a:schemeClr val="bg1"/>
                </a:solidFill>
              </a:rPr>
              <a:t>rd</a:t>
            </a:r>
            <a:r>
              <a:rPr lang="en-US" sz="1600" b="1" dirty="0">
                <a:solidFill>
                  <a:schemeClr val="bg1"/>
                </a:solidFill>
              </a:rPr>
              <a:t> G</a:t>
            </a:r>
          </a:p>
        </p:txBody>
      </p:sp>
      <p:sp>
        <p:nvSpPr>
          <p:cNvPr id="171" name="3rd G">
            <a:extLst>
              <a:ext uri="{FF2B5EF4-FFF2-40B4-BE49-F238E27FC236}">
                <a16:creationId xmlns:a16="http://schemas.microsoft.com/office/drawing/2014/main" id="{C3CE0583-1214-4FE6-AE34-95A898BC4069}"/>
              </a:ext>
            </a:extLst>
          </p:cNvPr>
          <p:cNvSpPr txBox="1"/>
          <p:nvPr/>
        </p:nvSpPr>
        <p:spPr>
          <a:xfrm>
            <a:off x="197901" y="4543898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3</a:t>
            </a:r>
            <a:r>
              <a:rPr lang="en-US" sz="1600" b="1" baseline="30000" dirty="0"/>
              <a:t>rd</a:t>
            </a:r>
            <a:r>
              <a:rPr lang="en-US" sz="1600" b="1" dirty="0"/>
              <a:t> G</a:t>
            </a:r>
          </a:p>
        </p:txBody>
      </p:sp>
      <p:pic>
        <p:nvPicPr>
          <p:cNvPr id="172" name="graphic" descr="Cursor with solid fill">
            <a:extLst>
              <a:ext uri="{FF2B5EF4-FFF2-40B4-BE49-F238E27FC236}">
                <a16:creationId xmlns:a16="http://schemas.microsoft.com/office/drawing/2014/main" id="{C6E75F34-CE55-4453-92C0-FE7B4CBFD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014" y="4786775"/>
            <a:ext cx="274320" cy="274320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12677E86-F4A3-4B97-A887-F1603C8B9C9E}"/>
              </a:ext>
            </a:extLst>
          </p:cNvPr>
          <p:cNvSpPr txBox="1"/>
          <p:nvPr/>
        </p:nvSpPr>
        <p:spPr>
          <a:xfrm>
            <a:off x="197901" y="6168251"/>
            <a:ext cx="822960" cy="374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“5</a:t>
            </a:r>
            <a:r>
              <a:rPr lang="en-US" sz="1600" b="1" baseline="30000" dirty="0">
                <a:solidFill>
                  <a:schemeClr val="tx1"/>
                </a:solidFill>
              </a:rPr>
              <a:t>th</a:t>
            </a:r>
            <a:r>
              <a:rPr lang="en-US" sz="1600" b="1" dirty="0">
                <a:solidFill>
                  <a:schemeClr val="tx1"/>
                </a:solidFill>
              </a:rPr>
              <a:t> G”</a:t>
            </a:r>
          </a:p>
        </p:txBody>
      </p:sp>
      <p:sp>
        <p:nvSpPr>
          <p:cNvPr id="175" name="5th G">
            <a:extLst>
              <a:ext uri="{FF2B5EF4-FFF2-40B4-BE49-F238E27FC236}">
                <a16:creationId xmlns:a16="http://schemas.microsoft.com/office/drawing/2014/main" id="{2670EA0F-B115-4A43-9774-86FCEA1648E1}"/>
              </a:ext>
            </a:extLst>
          </p:cNvPr>
          <p:cNvSpPr txBox="1"/>
          <p:nvPr/>
        </p:nvSpPr>
        <p:spPr>
          <a:xfrm>
            <a:off x="197901" y="6168251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“5</a:t>
            </a:r>
            <a:r>
              <a:rPr lang="en-US" sz="1600" b="1" baseline="30000" dirty="0"/>
              <a:t>th</a:t>
            </a:r>
            <a:r>
              <a:rPr lang="en-US" sz="1600" b="1" dirty="0"/>
              <a:t> G”</a:t>
            </a:r>
          </a:p>
        </p:txBody>
      </p:sp>
      <p:pic>
        <p:nvPicPr>
          <p:cNvPr id="176" name="graphic" descr="Cursor with solid fill">
            <a:extLst>
              <a:ext uri="{FF2B5EF4-FFF2-40B4-BE49-F238E27FC236}">
                <a16:creationId xmlns:a16="http://schemas.microsoft.com/office/drawing/2014/main" id="{B5F12E89-F93F-44BC-B825-657A070B7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014" y="6416649"/>
            <a:ext cx="274320" cy="27432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A31E9227-5FEC-4D43-B89F-0579E4D783CB}"/>
              </a:ext>
            </a:extLst>
          </p:cNvPr>
          <p:cNvSpPr txBox="1"/>
          <p:nvPr/>
        </p:nvSpPr>
        <p:spPr>
          <a:xfrm>
            <a:off x="1068989" y="6204660"/>
            <a:ext cx="1553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+ MRSA coverage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E732E51-9D82-42B3-A8A1-171BB2A11B1C}"/>
              </a:ext>
            </a:extLst>
          </p:cNvPr>
          <p:cNvSpPr/>
          <p:nvPr/>
        </p:nvSpPr>
        <p:spPr>
          <a:xfrm>
            <a:off x="6077229" y="1504074"/>
            <a:ext cx="1245211" cy="210594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  <a:r>
              <a:rPr lang="en-US" sz="1200" baseline="30000" dirty="0"/>
              <a:t>st</a:t>
            </a:r>
            <a:r>
              <a:rPr lang="en-US" sz="1200" dirty="0"/>
              <a:t> G (cefazolin)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FD6012-9771-4077-860F-6E736B6E0629}"/>
              </a:ext>
            </a:extLst>
          </p:cNvPr>
          <p:cNvSpPr/>
          <p:nvPr/>
        </p:nvSpPr>
        <p:spPr>
          <a:xfrm>
            <a:off x="7321873" y="2273107"/>
            <a:ext cx="2868455" cy="2103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r>
              <a:rPr lang="en-US" sz="1200" baseline="30000" dirty="0">
                <a:solidFill>
                  <a:schemeClr val="tx1"/>
                </a:solidFill>
              </a:rPr>
              <a:t>rd</a:t>
            </a:r>
            <a:r>
              <a:rPr lang="en-US" sz="1200" dirty="0">
                <a:solidFill>
                  <a:schemeClr val="tx1"/>
                </a:solidFill>
              </a:rPr>
              <a:t> G (ceftazidime)</a:t>
            </a:r>
          </a:p>
        </p:txBody>
      </p:sp>
      <p:sp>
        <p:nvSpPr>
          <p:cNvPr id="67" name="Left Bracket 66">
            <a:extLst>
              <a:ext uri="{FF2B5EF4-FFF2-40B4-BE49-F238E27FC236}">
                <a16:creationId xmlns:a16="http://schemas.microsoft.com/office/drawing/2014/main" id="{EAB1910E-AACD-4DF9-B10B-9053093D779F}"/>
              </a:ext>
            </a:extLst>
          </p:cNvPr>
          <p:cNvSpPr/>
          <p:nvPr/>
        </p:nvSpPr>
        <p:spPr>
          <a:xfrm>
            <a:off x="5917624" y="1504074"/>
            <a:ext cx="45719" cy="1508928"/>
          </a:xfrm>
          <a:prstGeom prst="leftBracket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7F839D-715B-4840-AF0B-57E181A4BD69}"/>
              </a:ext>
            </a:extLst>
          </p:cNvPr>
          <p:cNvGrpSpPr/>
          <p:nvPr/>
        </p:nvGrpSpPr>
        <p:grpSpPr>
          <a:xfrm>
            <a:off x="3798690" y="2786492"/>
            <a:ext cx="4748669" cy="210312"/>
            <a:chOff x="3798690" y="2768887"/>
            <a:chExt cx="4748669" cy="21031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3E89BBB-3210-4E7D-AAC4-C2876B24593F}"/>
                </a:ext>
              </a:extLst>
            </p:cNvPr>
            <p:cNvSpPr/>
            <p:nvPr/>
          </p:nvSpPr>
          <p:spPr>
            <a:xfrm>
              <a:off x="6077229" y="2768887"/>
              <a:ext cx="2470130" cy="2103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5</a:t>
              </a:r>
              <a:r>
                <a:rPr lang="en-US" sz="1200" baseline="30000" dirty="0">
                  <a:solidFill>
                    <a:schemeClr val="tx1"/>
                  </a:solidFill>
                </a:rPr>
                <a:t>th</a:t>
              </a:r>
              <a:r>
                <a:rPr lang="en-US" sz="1200" dirty="0">
                  <a:solidFill>
                    <a:schemeClr val="tx1"/>
                  </a:solidFill>
                </a:rPr>
                <a:t> G </a:t>
              </a:r>
              <a:r>
                <a:rPr lang="en-US" sz="1200" dirty="0" err="1">
                  <a:solidFill>
                    <a:schemeClr val="tx1"/>
                  </a:solidFill>
                </a:rPr>
                <a:t>ceftaroline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884170D-3C03-4EC7-907D-5C42E5DA2226}"/>
                </a:ext>
              </a:extLst>
            </p:cNvPr>
            <p:cNvSpPr/>
            <p:nvPr/>
          </p:nvSpPr>
          <p:spPr>
            <a:xfrm>
              <a:off x="3798690" y="2768887"/>
              <a:ext cx="914520" cy="2103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A450C6DE-727D-4FB3-B421-C237AFF960D1}"/>
              </a:ext>
            </a:extLst>
          </p:cNvPr>
          <p:cNvSpPr txBox="1"/>
          <p:nvPr/>
        </p:nvSpPr>
        <p:spPr>
          <a:xfrm>
            <a:off x="197901" y="5540227"/>
            <a:ext cx="822960" cy="3657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8CBAD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4</a:t>
            </a:r>
            <a:r>
              <a:rPr lang="en-US" sz="1600" b="1" baseline="30000" dirty="0"/>
              <a:t>th</a:t>
            </a:r>
            <a:r>
              <a:rPr lang="en-US" sz="1600" b="1" dirty="0"/>
              <a:t> G</a:t>
            </a:r>
          </a:p>
        </p:txBody>
      </p:sp>
      <p:sp>
        <p:nvSpPr>
          <p:cNvPr id="87" name="4th G">
            <a:extLst>
              <a:ext uri="{FF2B5EF4-FFF2-40B4-BE49-F238E27FC236}">
                <a16:creationId xmlns:a16="http://schemas.microsoft.com/office/drawing/2014/main" id="{1340D88F-BA22-42BF-B8AF-C9F108E2675F}"/>
              </a:ext>
            </a:extLst>
          </p:cNvPr>
          <p:cNvSpPr txBox="1"/>
          <p:nvPr/>
        </p:nvSpPr>
        <p:spPr>
          <a:xfrm>
            <a:off x="197901" y="5540227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4</a:t>
            </a:r>
            <a:r>
              <a:rPr lang="en-US" sz="1600" b="1" baseline="30000" dirty="0"/>
              <a:t>th</a:t>
            </a:r>
            <a:r>
              <a:rPr lang="en-US" sz="1600" b="1" dirty="0"/>
              <a:t> G</a:t>
            </a:r>
          </a:p>
        </p:txBody>
      </p:sp>
      <p:pic>
        <p:nvPicPr>
          <p:cNvPr id="88" name="graphic" descr="Cursor with solid fill">
            <a:extLst>
              <a:ext uri="{FF2B5EF4-FFF2-40B4-BE49-F238E27FC236}">
                <a16:creationId xmlns:a16="http://schemas.microsoft.com/office/drawing/2014/main" id="{438EA4BA-3C42-4139-9D0A-73B75B5B2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014" y="5773773"/>
            <a:ext cx="274320" cy="27432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E34DF213-7386-4553-AD26-BD66A7366AAD}"/>
              </a:ext>
            </a:extLst>
          </p:cNvPr>
          <p:cNvSpPr txBox="1"/>
          <p:nvPr/>
        </p:nvSpPr>
        <p:spPr>
          <a:xfrm>
            <a:off x="1074722" y="5484454"/>
            <a:ext cx="2351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Broad</a:t>
            </a:r>
            <a:r>
              <a:rPr lang="en-US" sz="1400" b="1" dirty="0"/>
              <a:t> </a:t>
            </a:r>
            <a:r>
              <a:rPr lang="en-US" sz="1400" dirty="0"/>
              <a:t>GP and GN, including PsA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9ADE46-B68E-4990-B5AC-094EADF3EED5}"/>
              </a:ext>
            </a:extLst>
          </p:cNvPr>
          <p:cNvGrpSpPr/>
          <p:nvPr/>
        </p:nvGrpSpPr>
        <p:grpSpPr>
          <a:xfrm>
            <a:off x="6077228" y="1760353"/>
            <a:ext cx="4576155" cy="210312"/>
            <a:chOff x="6077228" y="1751984"/>
            <a:chExt cx="4576155" cy="21031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A69CB4E-BE9C-4557-97D9-F641E0F9F30D}"/>
                </a:ext>
              </a:extLst>
            </p:cNvPr>
            <p:cNvSpPr/>
            <p:nvPr/>
          </p:nvSpPr>
          <p:spPr>
            <a:xfrm>
              <a:off x="6077228" y="1751984"/>
              <a:ext cx="1980083" cy="2103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  <a:r>
                <a:rPr lang="en-US" sz="1200" baseline="30000" dirty="0"/>
                <a:t>nd</a:t>
              </a:r>
              <a:r>
                <a:rPr lang="en-US" sz="1200" dirty="0"/>
                <a:t> G (</a:t>
              </a:r>
              <a:r>
                <a:rPr lang="en-US" sz="1200" dirty="0" err="1"/>
                <a:t>cefotetan</a:t>
              </a:r>
              <a:r>
                <a:rPr lang="en-US" sz="1200" dirty="0"/>
                <a:t>, cefuroxime)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0CDC418-F96F-42E9-AF73-4D96C9F84FB6}"/>
                </a:ext>
              </a:extLst>
            </p:cNvPr>
            <p:cNvSpPr/>
            <p:nvPr/>
          </p:nvSpPr>
          <p:spPr>
            <a:xfrm>
              <a:off x="9912537" y="1751984"/>
              <a:ext cx="740846" cy="2103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B29F681-0314-4929-9B48-F307DFAE1C51}"/>
              </a:ext>
            </a:extLst>
          </p:cNvPr>
          <p:cNvGrpSpPr/>
          <p:nvPr/>
        </p:nvGrpSpPr>
        <p:grpSpPr>
          <a:xfrm>
            <a:off x="6077229" y="2015925"/>
            <a:ext cx="4113099" cy="210312"/>
            <a:chOff x="6077229" y="2007556"/>
            <a:chExt cx="4113099" cy="21031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EF8BA81-54F5-4234-8060-5BE231D72045}"/>
                </a:ext>
              </a:extLst>
            </p:cNvPr>
            <p:cNvSpPr/>
            <p:nvPr/>
          </p:nvSpPr>
          <p:spPr>
            <a:xfrm>
              <a:off x="6077229" y="2007556"/>
              <a:ext cx="2475773" cy="21031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3</a:t>
              </a:r>
              <a:r>
                <a:rPr lang="en-US" sz="1200" baseline="30000" dirty="0">
                  <a:solidFill>
                    <a:schemeClr val="bg1"/>
                  </a:solidFill>
                </a:rPr>
                <a:t>rd</a:t>
              </a:r>
              <a:r>
                <a:rPr lang="en-US" sz="1200" dirty="0">
                  <a:solidFill>
                    <a:schemeClr val="bg1"/>
                  </a:solidFill>
                </a:rPr>
                <a:t> G (ceftriaxone, cefpodoxime)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2B1692A-3F1A-4FA8-AE3B-C91A3DC9385C}"/>
                </a:ext>
              </a:extLst>
            </p:cNvPr>
            <p:cNvSpPr/>
            <p:nvPr/>
          </p:nvSpPr>
          <p:spPr>
            <a:xfrm>
              <a:off x="9907478" y="2007556"/>
              <a:ext cx="282850" cy="21031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A4104D07-F351-40C7-BC6A-D9EFCB3A5A93}"/>
              </a:ext>
            </a:extLst>
          </p:cNvPr>
          <p:cNvSpPr/>
          <p:nvPr/>
        </p:nvSpPr>
        <p:spPr>
          <a:xfrm>
            <a:off x="6077229" y="2528496"/>
            <a:ext cx="4113100" cy="2103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r>
              <a:rPr lang="en-US" sz="1200" baseline="30000" dirty="0">
                <a:solidFill>
                  <a:schemeClr val="tx1"/>
                </a:solidFill>
              </a:rPr>
              <a:t>th</a:t>
            </a:r>
            <a:r>
              <a:rPr lang="en-US" sz="1200" dirty="0">
                <a:solidFill>
                  <a:schemeClr val="tx1"/>
                </a:solidFill>
              </a:rPr>
              <a:t> G cefepime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C0EFA-D820-475D-88E5-546F7EB8FA57}"/>
              </a:ext>
            </a:extLst>
          </p:cNvPr>
          <p:cNvGrpSpPr/>
          <p:nvPr/>
        </p:nvGrpSpPr>
        <p:grpSpPr>
          <a:xfrm>
            <a:off x="1085789" y="4326336"/>
            <a:ext cx="2605088" cy="1046440"/>
            <a:chOff x="1142585" y="4038680"/>
            <a:chExt cx="2605088" cy="104644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7E3A353E-5E31-41E2-B94C-02592B65DA84}"/>
                </a:ext>
              </a:extLst>
            </p:cNvPr>
            <p:cNvSpPr txBox="1"/>
            <p:nvPr/>
          </p:nvSpPr>
          <p:spPr>
            <a:xfrm>
              <a:off x="1142585" y="4038680"/>
              <a:ext cx="2605088" cy="104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-114300"/>
              <a:r>
                <a:rPr lang="en-US" sz="1400" b="1" dirty="0"/>
                <a:t>Ceftriaxone, cefpodoxime: </a:t>
              </a:r>
              <a:r>
                <a:rPr lang="en-US" sz="1400" dirty="0"/>
                <a:t>+ GN (</a:t>
              </a:r>
              <a:r>
                <a:rPr lang="en-US" sz="1400" i="1" dirty="0"/>
                <a:t>Enterobacteriaceae)</a:t>
              </a:r>
              <a:endParaRPr lang="en-US" sz="1400" dirty="0"/>
            </a:p>
            <a:p>
              <a:endParaRPr lang="en-US" sz="600" dirty="0"/>
            </a:p>
            <a:p>
              <a:pPr marL="112713" indent="-112713"/>
              <a:r>
                <a:rPr lang="en-US" sz="1400" b="1" dirty="0"/>
                <a:t>Ceftazidime:</a:t>
              </a:r>
              <a:r>
                <a:rPr lang="en-US" sz="1400" dirty="0"/>
                <a:t> poor GP (no </a:t>
              </a:r>
              <a:r>
                <a:rPr lang="en-US" sz="1400" i="1" dirty="0"/>
                <a:t>Staph</a:t>
              </a:r>
              <a:r>
                <a:rPr lang="en-US" sz="1400" dirty="0"/>
                <a:t>), + PsA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867084E-BC1C-4AE6-8C8B-4B4E3CC5FCEF}"/>
                </a:ext>
              </a:extLst>
            </p:cNvPr>
            <p:cNvCxnSpPr>
              <a:cxnSpLocks/>
            </p:cNvCxnSpPr>
            <p:nvPr/>
          </p:nvCxnSpPr>
          <p:spPr>
            <a:xfrm>
              <a:off x="1227314" y="4561900"/>
              <a:ext cx="215215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15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73BE1539-FBD5-4593-8283-446B98DE4C04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179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BCDD24B0-A91B-4488-A1FE-12F799627121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sp>
        <p:nvSpPr>
          <p:cNvPr id="183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85F3B00A-27F3-4320-8229-795442974930}"/>
              </a:ext>
            </a:extLst>
          </p:cNvPr>
          <p:cNvSpPr txBox="1"/>
          <p:nvPr/>
        </p:nvSpPr>
        <p:spPr>
          <a:xfrm>
            <a:off x="3900430" y="4442566"/>
            <a:ext cx="1200829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187" name="Carbapenems">
            <a:hlinkClick r:id="rId9" action="ppaction://hlinksldjump"/>
            <a:extLst>
              <a:ext uri="{FF2B5EF4-FFF2-40B4-BE49-F238E27FC236}">
                <a16:creationId xmlns:a16="http://schemas.microsoft.com/office/drawing/2014/main" id="{51829FD6-CA56-4E76-86F8-D01AC617E1D2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189" name="TextBox 188">
            <a:hlinkClick r:id="rId10" action="ppaction://hlinksldjump"/>
            <a:extLst>
              <a:ext uri="{FF2B5EF4-FFF2-40B4-BE49-F238E27FC236}">
                <a16:creationId xmlns:a16="http://schemas.microsoft.com/office/drawing/2014/main" id="{B8AA7AFB-44A4-4D3A-85BC-473062A035D0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191" name="TextBox 190">
            <a:hlinkClick r:id="rId11" action="ppaction://hlinksldjump"/>
            <a:extLst>
              <a:ext uri="{FF2B5EF4-FFF2-40B4-BE49-F238E27FC236}">
                <a16:creationId xmlns:a16="http://schemas.microsoft.com/office/drawing/2014/main" id="{3DA7421E-88E0-4ACD-B7E7-C80A0719A915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193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0BBC6DAE-CA4F-4B57-99FD-951C43CE663B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194" name="question 3">
            <a:hlinkClick r:id="rId13" action="ppaction://hlinksldjump"/>
            <a:extLst>
              <a:ext uri="{FF2B5EF4-FFF2-40B4-BE49-F238E27FC236}">
                <a16:creationId xmlns:a16="http://schemas.microsoft.com/office/drawing/2014/main" id="{231819AE-C7CD-42CC-9A07-33F58FEEB2AC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195" name="Question 2">
            <a:hlinkClick r:id="rId14" action="ppaction://hlinksldjump"/>
            <a:extLst>
              <a:ext uri="{FF2B5EF4-FFF2-40B4-BE49-F238E27FC236}">
                <a16:creationId xmlns:a16="http://schemas.microsoft.com/office/drawing/2014/main" id="{012E9294-C821-438B-863C-56AEEE72BC4A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98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A759FDCC-FA21-456E-A49A-5FD46CD74C1A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99E4BF14-B116-476D-A012-49EC6916E884}"/>
              </a:ext>
            </a:extLst>
          </p:cNvPr>
          <p:cNvCxnSpPr>
            <a:endCxn id="198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" descr="Cursor with solid fill">
            <a:extLst>
              <a:ext uri="{FF2B5EF4-FFF2-40B4-BE49-F238E27FC236}">
                <a16:creationId xmlns:a16="http://schemas.microsoft.com/office/drawing/2014/main" id="{E786E15A-DA64-EFCC-F141-66DB44D4C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E542B578-61FE-03AE-AC76-11AC9F090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8310" y="3375799"/>
            <a:ext cx="274320" cy="274320"/>
          </a:xfrm>
          <a:prstGeom prst="rect">
            <a:avLst/>
          </a:prstGeom>
        </p:spPr>
      </p:pic>
      <p:pic>
        <p:nvPicPr>
          <p:cNvPr id="8" name="graphic" descr="Cursor with solid fill">
            <a:extLst>
              <a:ext uri="{FF2B5EF4-FFF2-40B4-BE49-F238E27FC236}">
                <a16:creationId xmlns:a16="http://schemas.microsoft.com/office/drawing/2014/main" id="{C627D3A3-370C-4FED-20D3-3E4BE3B94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9" name="graphic" descr="Cursor with solid fill">
            <a:extLst>
              <a:ext uri="{FF2B5EF4-FFF2-40B4-BE49-F238E27FC236}">
                <a16:creationId xmlns:a16="http://schemas.microsoft.com/office/drawing/2014/main" id="{9DAFC607-CDCA-8D2D-73F6-0BDE920B8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2B364902-10BA-8D1A-0084-641635742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19F0228F-EF32-87CA-68F0-4226BE0C5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AB9AA40B-69B6-0E30-A065-C82EF5A52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pic>
        <p:nvPicPr>
          <p:cNvPr id="16" name="graphic" descr="Cursor with solid fill">
            <a:extLst>
              <a:ext uri="{FF2B5EF4-FFF2-40B4-BE49-F238E27FC236}">
                <a16:creationId xmlns:a16="http://schemas.microsoft.com/office/drawing/2014/main" id="{8884AF57-730E-2BAE-EC3C-969DFEC029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7" name="graphic" descr="Cursor with solid fill">
            <a:extLst>
              <a:ext uri="{FF2B5EF4-FFF2-40B4-BE49-F238E27FC236}">
                <a16:creationId xmlns:a16="http://schemas.microsoft.com/office/drawing/2014/main" id="{B6539F5F-854F-F90C-9CA4-2AFFC01460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18" name="graphic" descr="Cursor with solid fill">
            <a:extLst>
              <a:ext uri="{FF2B5EF4-FFF2-40B4-BE49-F238E27FC236}">
                <a16:creationId xmlns:a16="http://schemas.microsoft.com/office/drawing/2014/main" id="{2188AEA7-0EDC-8E88-F38D-D8FCED40C3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9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  <p:bldLst>
      <p:bldP spid="159" grpId="0" animBg="1"/>
      <p:bldP spid="161" grpId="0"/>
      <p:bldP spid="163" grpId="0" animBg="1"/>
      <p:bldP spid="165" grpId="0"/>
      <p:bldP spid="171" grpId="0" animBg="1"/>
      <p:bldP spid="175" grpId="0" animBg="1"/>
      <p:bldP spid="177" grpId="0"/>
      <p:bldP spid="61" grpId="0" animBg="1"/>
      <p:bldP spid="64" grpId="0" animBg="1"/>
      <p:bldP spid="87" grpId="0" animBg="1"/>
      <p:bldP spid="89" grpId="0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D95D6F80-E2AF-4B9A-A4DB-AD1E5C388ADA}"/>
              </a:ext>
            </a:extLst>
          </p:cNvPr>
          <p:cNvSpPr txBox="1"/>
          <p:nvPr/>
        </p:nvSpPr>
        <p:spPr>
          <a:xfrm>
            <a:off x="190908" y="2193728"/>
            <a:ext cx="29424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General Rules:</a:t>
            </a:r>
          </a:p>
          <a:p>
            <a:pPr marL="228600" indent="-228600">
              <a:buAutoNum type="arabicPeriod"/>
            </a:pPr>
            <a:r>
              <a:rPr lang="en-US" sz="1400" dirty="0"/>
              <a:t>Broadest antibiotic class </a:t>
            </a:r>
          </a:p>
          <a:p>
            <a:pPr marL="228600" indent="-228600">
              <a:buAutoNum type="arabicPeriod"/>
            </a:pPr>
            <a:r>
              <a:rPr lang="en-US" sz="1400" dirty="0"/>
              <a:t>Most reliable ESBL coverage</a:t>
            </a:r>
          </a:p>
          <a:p>
            <a:pPr marL="228600" indent="-228600">
              <a:buAutoNum type="arabicPeriod"/>
            </a:pPr>
            <a:r>
              <a:rPr lang="en-US" sz="1400" dirty="0"/>
              <a:t>No MRSA, poor </a:t>
            </a:r>
            <a:r>
              <a:rPr lang="en-US" sz="1400" i="1" dirty="0"/>
              <a:t>Enterococcus</a:t>
            </a:r>
          </a:p>
          <a:p>
            <a:pPr marL="228600" indent="-228600">
              <a:buAutoNum type="arabicPeriod"/>
            </a:pPr>
            <a:r>
              <a:rPr lang="en-US" sz="1400" dirty="0"/>
              <a:t>No atypical coverage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11240F8-7361-43E4-8F38-3916E204AD99}"/>
              </a:ext>
            </a:extLst>
          </p:cNvPr>
          <p:cNvSpPr txBox="1"/>
          <p:nvPr/>
        </p:nvSpPr>
        <p:spPr>
          <a:xfrm>
            <a:off x="195645" y="3534798"/>
            <a:ext cx="1188720" cy="374571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Ertapenem</a:t>
            </a:r>
          </a:p>
        </p:txBody>
      </p:sp>
      <p:sp>
        <p:nvSpPr>
          <p:cNvPr id="163" name="Ertapenem">
            <a:extLst>
              <a:ext uri="{FF2B5EF4-FFF2-40B4-BE49-F238E27FC236}">
                <a16:creationId xmlns:a16="http://schemas.microsoft.com/office/drawing/2014/main" id="{5A33B353-86B8-4A99-8438-B5F163EBB593}"/>
              </a:ext>
            </a:extLst>
          </p:cNvPr>
          <p:cNvSpPr txBox="1"/>
          <p:nvPr/>
        </p:nvSpPr>
        <p:spPr>
          <a:xfrm>
            <a:off x="195645" y="3543609"/>
            <a:ext cx="11887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Ertapenem</a:t>
            </a:r>
          </a:p>
        </p:txBody>
      </p:sp>
      <p:pic>
        <p:nvPicPr>
          <p:cNvPr id="164" name="graphic" descr="Cursor with solid fill">
            <a:extLst>
              <a:ext uri="{FF2B5EF4-FFF2-40B4-BE49-F238E27FC236}">
                <a16:creationId xmlns:a16="http://schemas.microsoft.com/office/drawing/2014/main" id="{61CF9089-8F0C-4ED8-8C9A-FBAB9AF5B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917" y="3791966"/>
            <a:ext cx="274320" cy="27432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56C7A64F-7096-4E46-B61A-BD05B3544C86}"/>
              </a:ext>
            </a:extLst>
          </p:cNvPr>
          <p:cNvSpPr txBox="1"/>
          <p:nvPr/>
        </p:nvSpPr>
        <p:spPr>
          <a:xfrm>
            <a:off x="1524628" y="3451477"/>
            <a:ext cx="14836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GP, GN, anaerobic coverage</a:t>
            </a:r>
          </a:p>
          <a:p>
            <a:r>
              <a:rPr lang="en-US" sz="1400" dirty="0"/>
              <a:t>No PsA</a:t>
            </a:r>
          </a:p>
          <a:p>
            <a:r>
              <a:rPr lang="en-US" sz="1400" dirty="0"/>
              <a:t>Once daily dosing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0138292-279B-4846-8973-7112EE202470}"/>
              </a:ext>
            </a:extLst>
          </p:cNvPr>
          <p:cNvSpPr txBox="1"/>
          <p:nvPr/>
        </p:nvSpPr>
        <p:spPr>
          <a:xfrm>
            <a:off x="188091" y="4757762"/>
            <a:ext cx="1371600" cy="3745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Meropenem</a:t>
            </a:r>
          </a:p>
        </p:txBody>
      </p:sp>
      <p:sp>
        <p:nvSpPr>
          <p:cNvPr id="171" name="Meropenem">
            <a:extLst>
              <a:ext uri="{FF2B5EF4-FFF2-40B4-BE49-F238E27FC236}">
                <a16:creationId xmlns:a16="http://schemas.microsoft.com/office/drawing/2014/main" id="{C3CE0583-1214-4FE6-AE34-95A898BC4069}"/>
              </a:ext>
            </a:extLst>
          </p:cNvPr>
          <p:cNvSpPr txBox="1"/>
          <p:nvPr/>
        </p:nvSpPr>
        <p:spPr>
          <a:xfrm>
            <a:off x="188091" y="4766573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Meropenem</a:t>
            </a:r>
          </a:p>
        </p:txBody>
      </p:sp>
      <p:pic>
        <p:nvPicPr>
          <p:cNvPr id="172" name="graphic" descr="Cursor with solid fill">
            <a:extLst>
              <a:ext uri="{FF2B5EF4-FFF2-40B4-BE49-F238E27FC236}">
                <a16:creationId xmlns:a16="http://schemas.microsoft.com/office/drawing/2014/main" id="{C6E75F34-CE55-4453-92C0-FE7B4CBFD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3977" y="5020545"/>
            <a:ext cx="274320" cy="27432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E34DF213-7386-4553-AD26-BD66A7366AAD}"/>
              </a:ext>
            </a:extLst>
          </p:cNvPr>
          <p:cNvSpPr txBox="1"/>
          <p:nvPr/>
        </p:nvSpPr>
        <p:spPr>
          <a:xfrm>
            <a:off x="1620006" y="4815745"/>
            <a:ext cx="15133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+ PsA coverage</a:t>
            </a:r>
          </a:p>
        </p:txBody>
      </p:sp>
      <p:sp>
        <p:nvSpPr>
          <p:cNvPr id="142" name="Penicillins">
            <a:hlinkClick r:id="rId5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44" name="Cephalosporins">
            <a:hlinkClick r:id="rId6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sp>
        <p:nvSpPr>
          <p:cNvPr id="157" name="Left Bracket 156">
            <a:extLst>
              <a:ext uri="{FF2B5EF4-FFF2-40B4-BE49-F238E27FC236}">
                <a16:creationId xmlns:a16="http://schemas.microsoft.com/office/drawing/2014/main" id="{D0F7C8C6-91E6-48C0-938A-E1FE33A802EE}"/>
              </a:ext>
            </a:extLst>
          </p:cNvPr>
          <p:cNvSpPr/>
          <p:nvPr/>
        </p:nvSpPr>
        <p:spPr>
          <a:xfrm>
            <a:off x="5603116" y="2992105"/>
            <a:ext cx="82925" cy="612634"/>
          </a:xfrm>
          <a:prstGeom prst="leftBracket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6801B3F-6652-4BDF-85DB-4D34EAFF1774}"/>
              </a:ext>
            </a:extLst>
          </p:cNvPr>
          <p:cNvGrpSpPr/>
          <p:nvPr/>
        </p:nvGrpSpPr>
        <p:grpSpPr>
          <a:xfrm>
            <a:off x="5761189" y="3063919"/>
            <a:ext cx="6296615" cy="210312"/>
            <a:chOff x="4364645" y="3301012"/>
            <a:chExt cx="8147854" cy="216295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96270AC-563B-4F9E-949E-776805D51DA9}"/>
                </a:ext>
              </a:extLst>
            </p:cNvPr>
            <p:cNvSpPr/>
            <p:nvPr/>
          </p:nvSpPr>
          <p:spPr>
            <a:xfrm>
              <a:off x="4364645" y="3301012"/>
              <a:ext cx="3208568" cy="216295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Ertapenem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B80DFFE-D5D5-4BC6-8168-5884D31B1D6B}"/>
                </a:ext>
              </a:extLst>
            </p:cNvPr>
            <p:cNvSpPr/>
            <p:nvPr/>
          </p:nvSpPr>
          <p:spPr>
            <a:xfrm>
              <a:off x="9730945" y="3305677"/>
              <a:ext cx="2781554" cy="202828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Ertapenem</a:t>
              </a:r>
            </a:p>
          </p:txBody>
        </p:sp>
      </p:grp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C7AE025-EDCF-4547-AF6B-DFE02E0FE1B2}"/>
              </a:ext>
            </a:extLst>
          </p:cNvPr>
          <p:cNvSpPr/>
          <p:nvPr/>
        </p:nvSpPr>
        <p:spPr>
          <a:xfrm>
            <a:off x="5761188" y="3314971"/>
            <a:ext cx="6296615" cy="2103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Imipenem, meropenem, </a:t>
            </a:r>
            <a:r>
              <a:rPr lang="en-US" sz="1200" dirty="0" err="1">
                <a:solidFill>
                  <a:schemeClr val="tx1"/>
                </a:solidFill>
              </a:rPr>
              <a:t>doripenem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3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E20648C7-1EE7-4251-8D7A-DD3F5D608E67}"/>
              </a:ext>
            </a:extLst>
          </p:cNvPr>
          <p:cNvSpPr txBox="1"/>
          <p:nvPr/>
        </p:nvSpPr>
        <p:spPr>
          <a:xfrm>
            <a:off x="3122332" y="3135957"/>
            <a:ext cx="1589695" cy="374571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Carbapenems</a:t>
            </a:r>
          </a:p>
        </p:txBody>
      </p:sp>
      <p:sp>
        <p:nvSpPr>
          <p:cNvPr id="82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658DA210-86D6-49BA-A295-10DF6B83EEE8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sp>
        <p:nvSpPr>
          <p:cNvPr id="86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E707BB54-E2A6-4BEE-82B0-AD9B676DAAB8}"/>
              </a:ext>
            </a:extLst>
          </p:cNvPr>
          <p:cNvSpPr txBox="1"/>
          <p:nvPr/>
        </p:nvSpPr>
        <p:spPr>
          <a:xfrm>
            <a:off x="3900430" y="4442566"/>
            <a:ext cx="1200829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91" name="Carbapenems">
            <a:hlinkClick r:id="rId9" action="ppaction://hlinksldjump"/>
            <a:extLst>
              <a:ext uri="{FF2B5EF4-FFF2-40B4-BE49-F238E27FC236}">
                <a16:creationId xmlns:a16="http://schemas.microsoft.com/office/drawing/2014/main" id="{5CD45039-F063-41F7-9E00-812AE3479F18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93" name="TextBox 92">
            <a:hlinkClick r:id="rId10" action="ppaction://hlinksldjump"/>
            <a:extLst>
              <a:ext uri="{FF2B5EF4-FFF2-40B4-BE49-F238E27FC236}">
                <a16:creationId xmlns:a16="http://schemas.microsoft.com/office/drawing/2014/main" id="{D5F7FB43-1783-4A22-B846-8ECA81CBA8AC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100" name="TextBox 99">
            <a:hlinkClick r:id="rId11" action="ppaction://hlinksldjump"/>
            <a:extLst>
              <a:ext uri="{FF2B5EF4-FFF2-40B4-BE49-F238E27FC236}">
                <a16:creationId xmlns:a16="http://schemas.microsoft.com/office/drawing/2014/main" id="{C8CDA3D7-6569-4C12-8D12-134EBE17CD4D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147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6D1EF26E-70C3-4AAC-B73A-330444D34B31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151" name="question 3">
            <a:hlinkClick r:id="rId13" action="ppaction://hlinksldjump"/>
            <a:extLst>
              <a:ext uri="{FF2B5EF4-FFF2-40B4-BE49-F238E27FC236}">
                <a16:creationId xmlns:a16="http://schemas.microsoft.com/office/drawing/2014/main" id="{18632947-3044-472C-B378-8894F9057E6F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152" name="Question 2">
            <a:hlinkClick r:id="rId14" action="ppaction://hlinksldjump"/>
            <a:extLst>
              <a:ext uri="{FF2B5EF4-FFF2-40B4-BE49-F238E27FC236}">
                <a16:creationId xmlns:a16="http://schemas.microsoft.com/office/drawing/2014/main" id="{F2EA7725-84FF-43E4-B5C8-549D60349D8E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58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4C4F024B-C010-4E4A-838F-4F2058F44FBC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11D721DC-1093-4F2E-82FF-EF09D6FD2717}"/>
              </a:ext>
            </a:extLst>
          </p:cNvPr>
          <p:cNvCxnSpPr>
            <a:endCxn id="158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" descr="Cursor with solid fill">
            <a:extLst>
              <a:ext uri="{FF2B5EF4-FFF2-40B4-BE49-F238E27FC236}">
                <a16:creationId xmlns:a16="http://schemas.microsoft.com/office/drawing/2014/main" id="{D281B978-088B-C122-CB27-EA2C92F91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3" name="graphic" descr="Cursor with solid fill">
            <a:extLst>
              <a:ext uri="{FF2B5EF4-FFF2-40B4-BE49-F238E27FC236}">
                <a16:creationId xmlns:a16="http://schemas.microsoft.com/office/drawing/2014/main" id="{F2F238BC-8D5E-F798-280F-EA8DF986F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5" name="graphic" descr="Cursor with solid fill">
            <a:extLst>
              <a:ext uri="{FF2B5EF4-FFF2-40B4-BE49-F238E27FC236}">
                <a16:creationId xmlns:a16="http://schemas.microsoft.com/office/drawing/2014/main" id="{2FEB530C-7576-54BA-2AFF-3730038E3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9283DBA6-A68A-0ECB-A556-679565089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C0D45421-06BC-6CF3-C710-F2EF0C56C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4E7853E1-0674-25EE-8497-8B4EAA702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0CD5A170-34CD-E969-C767-3B3D7F969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pic>
        <p:nvPicPr>
          <p:cNvPr id="11" name="graphic" descr="Cursor with solid fill">
            <a:extLst>
              <a:ext uri="{FF2B5EF4-FFF2-40B4-BE49-F238E27FC236}">
                <a16:creationId xmlns:a16="http://schemas.microsoft.com/office/drawing/2014/main" id="{7346AB37-9CFF-7CDC-5C31-C963F49BE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2" name="graphic" descr="Cursor with solid fill">
            <a:extLst>
              <a:ext uri="{FF2B5EF4-FFF2-40B4-BE49-F238E27FC236}">
                <a16:creationId xmlns:a16="http://schemas.microsoft.com/office/drawing/2014/main" id="{76DE04CE-9A0C-49EE-8312-75BF2C753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13" name="graphic" descr="Cursor with solid fill">
            <a:extLst>
              <a:ext uri="{FF2B5EF4-FFF2-40B4-BE49-F238E27FC236}">
                <a16:creationId xmlns:a16="http://schemas.microsoft.com/office/drawing/2014/main" id="{0EA9D670-5379-B547-DFF2-627E83A98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7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</p:childTnLst>
        </p:cTn>
      </p:par>
    </p:tnLst>
    <p:bldLst>
      <p:bldP spid="163" grpId="0" animBg="1"/>
      <p:bldP spid="165" grpId="0"/>
      <p:bldP spid="171" grpId="0" animBg="1"/>
      <p:bldP spid="89" grpId="0"/>
      <p:bldP spid="16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D95D6F80-E2AF-4B9A-A4DB-AD1E5C388ADA}"/>
              </a:ext>
            </a:extLst>
          </p:cNvPr>
          <p:cNvSpPr txBox="1"/>
          <p:nvPr/>
        </p:nvSpPr>
        <p:spPr>
          <a:xfrm>
            <a:off x="156858" y="2134430"/>
            <a:ext cx="29424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General Rules:</a:t>
            </a:r>
          </a:p>
          <a:p>
            <a:pPr marL="228600" indent="-228600">
              <a:buAutoNum type="arabicPeriod"/>
            </a:pPr>
            <a:r>
              <a:rPr lang="en-US" sz="1400" dirty="0"/>
              <a:t>Good GNR coverage</a:t>
            </a:r>
          </a:p>
          <a:p>
            <a:pPr marL="228600" indent="-228600">
              <a:buAutoNum type="arabicPeriod"/>
            </a:pPr>
            <a:r>
              <a:rPr lang="en-US" sz="1400" dirty="0"/>
              <a:t>Atypical coverage</a:t>
            </a:r>
          </a:p>
          <a:p>
            <a:pPr marL="228600" indent="-228600">
              <a:buAutoNum type="arabicPeriod"/>
            </a:pPr>
            <a:r>
              <a:rPr lang="en-US" sz="1400" dirty="0"/>
              <a:t>High bioavailability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11240F8-7361-43E4-8F38-3916E204AD99}"/>
              </a:ext>
            </a:extLst>
          </p:cNvPr>
          <p:cNvSpPr txBox="1"/>
          <p:nvPr/>
        </p:nvSpPr>
        <p:spPr>
          <a:xfrm>
            <a:off x="153949" y="3307860"/>
            <a:ext cx="822960" cy="37457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Cipro</a:t>
            </a:r>
          </a:p>
        </p:txBody>
      </p:sp>
      <p:sp>
        <p:nvSpPr>
          <p:cNvPr id="163" name="Cipro">
            <a:extLst>
              <a:ext uri="{FF2B5EF4-FFF2-40B4-BE49-F238E27FC236}">
                <a16:creationId xmlns:a16="http://schemas.microsoft.com/office/drawing/2014/main" id="{5A33B353-86B8-4A99-8438-B5F163EBB593}"/>
              </a:ext>
            </a:extLst>
          </p:cNvPr>
          <p:cNvSpPr txBox="1"/>
          <p:nvPr/>
        </p:nvSpPr>
        <p:spPr>
          <a:xfrm>
            <a:off x="153949" y="3316671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Cipro</a:t>
            </a:r>
          </a:p>
        </p:txBody>
      </p:sp>
      <p:pic>
        <p:nvPicPr>
          <p:cNvPr id="164" name="graphic" descr="Cursor with solid fill">
            <a:extLst>
              <a:ext uri="{FF2B5EF4-FFF2-40B4-BE49-F238E27FC236}">
                <a16:creationId xmlns:a16="http://schemas.microsoft.com/office/drawing/2014/main" id="{61CF9089-8F0C-4ED8-8C9A-FBAB9AF5B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58" y="3555697"/>
            <a:ext cx="274320" cy="27432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56C7A64F-7096-4E46-B61A-BD05B3544C86}"/>
              </a:ext>
            </a:extLst>
          </p:cNvPr>
          <p:cNvSpPr txBox="1"/>
          <p:nvPr/>
        </p:nvSpPr>
        <p:spPr>
          <a:xfrm>
            <a:off x="1040615" y="3146706"/>
            <a:ext cx="162615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Urine </a:t>
            </a:r>
          </a:p>
          <a:p>
            <a:pPr marL="112713" indent="-112713"/>
            <a:r>
              <a:rPr lang="en-US" sz="1400" dirty="0"/>
              <a:t>Minimal </a:t>
            </a:r>
            <a:r>
              <a:rPr lang="en-US" sz="1400" i="1" dirty="0"/>
              <a:t>Staph</a:t>
            </a:r>
            <a:r>
              <a:rPr lang="en-US" sz="1400" dirty="0"/>
              <a:t>/ </a:t>
            </a:r>
            <a:r>
              <a:rPr lang="en-US" sz="1400" i="1" dirty="0"/>
              <a:t>Strep </a:t>
            </a:r>
            <a:r>
              <a:rPr lang="en-US" sz="1400" dirty="0"/>
              <a:t>coverage</a:t>
            </a:r>
          </a:p>
          <a:p>
            <a:pPr marL="112713" indent="-112713"/>
            <a:r>
              <a:rPr lang="en-US" sz="1400" dirty="0"/>
              <a:t>Can be used for atypical or PsA coverage in lung infections</a:t>
            </a:r>
            <a:endParaRPr lang="en-US" sz="1400" i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0138292-279B-4846-8973-7112EE202470}"/>
              </a:ext>
            </a:extLst>
          </p:cNvPr>
          <p:cNvSpPr txBox="1"/>
          <p:nvPr/>
        </p:nvSpPr>
        <p:spPr>
          <a:xfrm>
            <a:off x="153949" y="4927915"/>
            <a:ext cx="822960" cy="374571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Levo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1" name="Levo">
            <a:extLst>
              <a:ext uri="{FF2B5EF4-FFF2-40B4-BE49-F238E27FC236}">
                <a16:creationId xmlns:a16="http://schemas.microsoft.com/office/drawing/2014/main" id="{C3CE0583-1214-4FE6-AE34-95A898BC4069}"/>
              </a:ext>
            </a:extLst>
          </p:cNvPr>
          <p:cNvSpPr txBox="1"/>
          <p:nvPr/>
        </p:nvSpPr>
        <p:spPr>
          <a:xfrm>
            <a:off x="153949" y="4936726"/>
            <a:ext cx="822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Levo</a:t>
            </a:r>
            <a:endParaRPr lang="en-US" sz="1600" b="1" dirty="0"/>
          </a:p>
        </p:txBody>
      </p:sp>
      <p:pic>
        <p:nvPicPr>
          <p:cNvPr id="172" name="graphic" descr="Cursor with solid fill">
            <a:extLst>
              <a:ext uri="{FF2B5EF4-FFF2-40B4-BE49-F238E27FC236}">
                <a16:creationId xmlns:a16="http://schemas.microsoft.com/office/drawing/2014/main" id="{C6E75F34-CE55-4453-92C0-FE7B4CBFD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58" y="5172253"/>
            <a:ext cx="274320" cy="27432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E34DF213-7386-4553-AD26-BD66A7366AAD}"/>
              </a:ext>
            </a:extLst>
          </p:cNvPr>
          <p:cNvSpPr txBox="1"/>
          <p:nvPr/>
        </p:nvSpPr>
        <p:spPr>
          <a:xfrm>
            <a:off x="1040615" y="4802921"/>
            <a:ext cx="16896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Urinary + respiratory</a:t>
            </a:r>
          </a:p>
          <a:p>
            <a:pPr marL="112713" indent="-112713"/>
            <a:r>
              <a:rPr lang="en-US" sz="1400" dirty="0"/>
              <a:t>+ </a:t>
            </a:r>
            <a:r>
              <a:rPr lang="en-US" sz="1400" i="1" dirty="0"/>
              <a:t>Staph and Strep</a:t>
            </a:r>
            <a:r>
              <a:rPr lang="en-US" sz="1400" dirty="0"/>
              <a:t> coverage</a:t>
            </a:r>
          </a:p>
        </p:txBody>
      </p:sp>
      <p:sp>
        <p:nvSpPr>
          <p:cNvPr id="142" name="Penicillins">
            <a:hlinkClick r:id="rId5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44" name="Cephalosporins">
            <a:hlinkClick r:id="rId6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F29C3F-67C9-42A7-868F-DF59016EFE19}"/>
              </a:ext>
            </a:extLst>
          </p:cNvPr>
          <p:cNvGrpSpPr/>
          <p:nvPr/>
        </p:nvGrpSpPr>
        <p:grpSpPr>
          <a:xfrm>
            <a:off x="2789382" y="3868509"/>
            <a:ext cx="7497870" cy="207971"/>
            <a:chOff x="2789382" y="3956403"/>
            <a:chExt cx="7497870" cy="207971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E43EA88D-44E1-42E6-B0E5-E78C6845DA27}"/>
                </a:ext>
              </a:extLst>
            </p:cNvPr>
            <p:cNvSpPr/>
            <p:nvPr/>
          </p:nvSpPr>
          <p:spPr>
            <a:xfrm>
              <a:off x="5623812" y="3956403"/>
              <a:ext cx="4663440" cy="20797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Levofloxacin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38BE65C-3F1A-42D5-9814-877D6554C761}"/>
                </a:ext>
              </a:extLst>
            </p:cNvPr>
            <p:cNvSpPr/>
            <p:nvPr/>
          </p:nvSpPr>
          <p:spPr>
            <a:xfrm>
              <a:off x="2789382" y="3956403"/>
              <a:ext cx="1004507" cy="20797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679AE77-2DF7-4B71-BD7C-D43A0BD889CE}"/>
              </a:ext>
            </a:extLst>
          </p:cNvPr>
          <p:cNvGrpSpPr/>
          <p:nvPr/>
        </p:nvGrpSpPr>
        <p:grpSpPr>
          <a:xfrm>
            <a:off x="10640884" y="3597568"/>
            <a:ext cx="1006466" cy="444579"/>
            <a:chOff x="10650420" y="3674500"/>
            <a:chExt cx="1087663" cy="444579"/>
          </a:xfrm>
        </p:grpSpPr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ED60FE2-389D-4C53-AFCF-62831DFB8C70}"/>
                </a:ext>
              </a:extLst>
            </p:cNvPr>
            <p:cNvSpPr txBox="1"/>
            <p:nvPr/>
          </p:nvSpPr>
          <p:spPr>
            <a:xfrm>
              <a:off x="10743028" y="3689484"/>
              <a:ext cx="995055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Urinary FQ</a:t>
              </a:r>
            </a:p>
          </p:txBody>
        </p:sp>
        <p:sp>
          <p:nvSpPr>
            <p:cNvPr id="187" name="Left Bracket 186">
              <a:extLst>
                <a:ext uri="{FF2B5EF4-FFF2-40B4-BE49-F238E27FC236}">
                  <a16:creationId xmlns:a16="http://schemas.microsoft.com/office/drawing/2014/main" id="{85B4FE8C-40E9-4744-AB88-3906A6B0D340}"/>
                </a:ext>
              </a:extLst>
            </p:cNvPr>
            <p:cNvSpPr/>
            <p:nvPr/>
          </p:nvSpPr>
          <p:spPr>
            <a:xfrm flipH="1">
              <a:off x="10650420" y="3674500"/>
              <a:ext cx="46927" cy="444579"/>
            </a:xfrm>
            <a:prstGeom prst="leftBracke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65E5CCAB-28FA-4D07-BA83-D33E1AAC43AA}"/>
              </a:ext>
            </a:extLst>
          </p:cNvPr>
          <p:cNvSpPr txBox="1"/>
          <p:nvPr/>
        </p:nvSpPr>
        <p:spPr>
          <a:xfrm>
            <a:off x="153949" y="5762599"/>
            <a:ext cx="822960" cy="374571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Moxi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96" name="Moxi">
            <a:extLst>
              <a:ext uri="{FF2B5EF4-FFF2-40B4-BE49-F238E27FC236}">
                <a16:creationId xmlns:a16="http://schemas.microsoft.com/office/drawing/2014/main" id="{5B1E1B2C-67FE-412D-A0CD-A714AC30C9F9}"/>
              </a:ext>
            </a:extLst>
          </p:cNvPr>
          <p:cNvSpPr txBox="1"/>
          <p:nvPr/>
        </p:nvSpPr>
        <p:spPr>
          <a:xfrm>
            <a:off x="153949" y="5762599"/>
            <a:ext cx="82296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Moxi</a:t>
            </a:r>
            <a:endParaRPr lang="en-US" sz="1600" b="1" dirty="0"/>
          </a:p>
        </p:txBody>
      </p:sp>
      <p:pic>
        <p:nvPicPr>
          <p:cNvPr id="197" name="graphic" descr="Cursor with solid fill">
            <a:extLst>
              <a:ext uri="{FF2B5EF4-FFF2-40B4-BE49-F238E27FC236}">
                <a16:creationId xmlns:a16="http://schemas.microsoft.com/office/drawing/2014/main" id="{85FEBD7B-FB37-46A5-836B-10AAE6F90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58" y="6016268"/>
            <a:ext cx="274320" cy="2743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5B9A731-26AF-48A1-ADC4-E7FE0202CD22}"/>
              </a:ext>
            </a:extLst>
          </p:cNvPr>
          <p:cNvGrpSpPr/>
          <p:nvPr/>
        </p:nvGrpSpPr>
        <p:grpSpPr>
          <a:xfrm>
            <a:off x="2789382" y="3615856"/>
            <a:ext cx="7111326" cy="210312"/>
            <a:chOff x="2789382" y="3638716"/>
            <a:chExt cx="7111326" cy="21031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DD304D6-942E-41CD-8216-8E245E2B2372}"/>
                </a:ext>
              </a:extLst>
            </p:cNvPr>
            <p:cNvGrpSpPr/>
            <p:nvPr/>
          </p:nvGrpSpPr>
          <p:grpSpPr>
            <a:xfrm>
              <a:off x="2789382" y="3638716"/>
              <a:ext cx="7111326" cy="210312"/>
              <a:chOff x="2789382" y="3648143"/>
              <a:chExt cx="7111326" cy="210312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3943134A-6080-4A92-A2BB-0C42C4FC321B}"/>
                  </a:ext>
                </a:extLst>
              </p:cNvPr>
              <p:cNvSpPr/>
              <p:nvPr/>
            </p:nvSpPr>
            <p:spPr>
              <a:xfrm>
                <a:off x="2789382" y="3648143"/>
                <a:ext cx="1004506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59954CA-5284-4FD0-B8BA-2B48F8AEC4D6}"/>
                  </a:ext>
                </a:extLst>
              </p:cNvPr>
              <p:cNvSpPr/>
              <p:nvPr/>
            </p:nvSpPr>
            <p:spPr>
              <a:xfrm>
                <a:off x="6855756" y="3648143"/>
                <a:ext cx="3044952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Ciprofloxacin</a:t>
                </a:r>
              </a:p>
            </p:txBody>
          </p:sp>
        </p:grp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F28AF5DA-3CCC-420A-B4EA-4D3209F216B8}"/>
                </a:ext>
              </a:extLst>
            </p:cNvPr>
            <p:cNvSpPr/>
            <p:nvPr/>
          </p:nvSpPr>
          <p:spPr>
            <a:xfrm>
              <a:off x="5887436" y="3638716"/>
              <a:ext cx="169027" cy="21031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1" name="Carbapenems" hidden="1">
            <a:hlinkClick r:id="rId7" action="ppaction://hlinksldjump"/>
            <a:extLst>
              <a:ext uri="{FF2B5EF4-FFF2-40B4-BE49-F238E27FC236}">
                <a16:creationId xmlns:a16="http://schemas.microsoft.com/office/drawing/2014/main" id="{E32432C3-3567-4FA3-AC4D-CFAE838CC70B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04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4F580295-B341-4564-81A3-C4C8AE1EC905}"/>
              </a:ext>
            </a:extLst>
          </p:cNvPr>
          <p:cNvSpPr txBox="1"/>
          <p:nvPr/>
        </p:nvSpPr>
        <p:spPr>
          <a:xfrm>
            <a:off x="3113476" y="3107923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05" name="Carbapenems">
            <a:extLst>
              <a:ext uri="{FF2B5EF4-FFF2-40B4-BE49-F238E27FC236}">
                <a16:creationId xmlns:a16="http://schemas.microsoft.com/office/drawing/2014/main" id="{FB8312BD-DCE4-4714-AD75-4A100F90E3D2}"/>
              </a:ext>
            </a:extLst>
          </p:cNvPr>
          <p:cNvSpPr txBox="1"/>
          <p:nvPr/>
        </p:nvSpPr>
        <p:spPr>
          <a:xfrm>
            <a:off x="3905771" y="3804717"/>
            <a:ext cx="572904" cy="374571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FQ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F5488C-7108-4162-891C-AA912065B928}"/>
              </a:ext>
            </a:extLst>
          </p:cNvPr>
          <p:cNvGrpSpPr/>
          <p:nvPr/>
        </p:nvGrpSpPr>
        <p:grpSpPr>
          <a:xfrm>
            <a:off x="10767184" y="3866602"/>
            <a:ext cx="1205122" cy="521626"/>
            <a:chOff x="10767184" y="3889462"/>
            <a:chExt cx="1205122" cy="521626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BDB26CF-9331-47B4-AB8D-65B46AAAEDF1}"/>
                </a:ext>
              </a:extLst>
            </p:cNvPr>
            <p:cNvSpPr txBox="1"/>
            <p:nvPr/>
          </p:nvSpPr>
          <p:spPr>
            <a:xfrm>
              <a:off x="10767184" y="4002282"/>
              <a:ext cx="1205122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Respiratory FQ</a:t>
              </a:r>
            </a:p>
          </p:txBody>
        </p:sp>
        <p:sp>
          <p:nvSpPr>
            <p:cNvPr id="186" name="Left Bracket 185">
              <a:extLst>
                <a:ext uri="{FF2B5EF4-FFF2-40B4-BE49-F238E27FC236}">
                  <a16:creationId xmlns:a16="http://schemas.microsoft.com/office/drawing/2014/main" id="{3F2E9676-8A89-4CE7-B9F4-52FA576C782E}"/>
                </a:ext>
              </a:extLst>
            </p:cNvPr>
            <p:cNvSpPr/>
            <p:nvPr/>
          </p:nvSpPr>
          <p:spPr>
            <a:xfrm flipH="1">
              <a:off x="10788124" y="3889462"/>
              <a:ext cx="45719" cy="521626"/>
            </a:xfrm>
            <a:prstGeom prst="leftBracket">
              <a:avLst/>
            </a:pr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0782DF6-BCC1-49AB-9CFC-271D6C1E1930}"/>
              </a:ext>
            </a:extLst>
          </p:cNvPr>
          <p:cNvGrpSpPr/>
          <p:nvPr/>
        </p:nvGrpSpPr>
        <p:grpSpPr>
          <a:xfrm>
            <a:off x="2793301" y="4123518"/>
            <a:ext cx="7955089" cy="227565"/>
            <a:chOff x="96845" y="4515150"/>
            <a:chExt cx="10308993" cy="27432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8687F61-ECE5-4543-B287-ADD1B585E510}"/>
                </a:ext>
              </a:extLst>
            </p:cNvPr>
            <p:cNvSpPr/>
            <p:nvPr/>
          </p:nvSpPr>
          <p:spPr>
            <a:xfrm>
              <a:off x="3478702" y="4515151"/>
              <a:ext cx="4015189" cy="253531"/>
            </a:xfrm>
            <a:prstGeom prst="rect">
              <a:avLst/>
            </a:prstGeom>
            <a:grp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Moxifloxacin </a:t>
              </a:r>
              <a:r>
                <a:rPr lang="en-US" sz="1200" i="1" dirty="0">
                  <a:solidFill>
                    <a:schemeClr val="tx1"/>
                  </a:solidFill>
                </a:rPr>
                <a:t>(no urine)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4875C500-D518-44DC-A8E9-F55B3DFA5149}"/>
                </a:ext>
              </a:extLst>
            </p:cNvPr>
            <p:cNvSpPr/>
            <p:nvPr/>
          </p:nvSpPr>
          <p:spPr>
            <a:xfrm>
              <a:off x="9339365" y="4515155"/>
              <a:ext cx="1066473" cy="253531"/>
            </a:xfrm>
            <a:prstGeom prst="rect">
              <a:avLst/>
            </a:prstGeom>
            <a:grp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D3BCFBE-D20D-4A41-AB69-87C8C2AFCAFA}"/>
                </a:ext>
              </a:extLst>
            </p:cNvPr>
            <p:cNvSpPr/>
            <p:nvPr/>
          </p:nvSpPr>
          <p:spPr>
            <a:xfrm>
              <a:off x="96845" y="4515150"/>
              <a:ext cx="1292964" cy="274329"/>
            </a:xfrm>
            <a:prstGeom prst="rect">
              <a:avLst/>
            </a:prstGeom>
            <a:grp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3C7DAFE5-56B7-411F-8FF9-B72C4F157B3F}"/>
              </a:ext>
            </a:extLst>
          </p:cNvPr>
          <p:cNvSpPr txBox="1"/>
          <p:nvPr/>
        </p:nvSpPr>
        <p:spPr>
          <a:xfrm>
            <a:off x="1040615" y="5586906"/>
            <a:ext cx="20937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Respiratory</a:t>
            </a:r>
          </a:p>
          <a:p>
            <a:pPr marL="112713" indent="-112713"/>
            <a:r>
              <a:rPr lang="en-US" sz="1400" dirty="0"/>
              <a:t>Poor urine penetration</a:t>
            </a:r>
          </a:p>
          <a:p>
            <a:pPr marL="112713" indent="-112713"/>
            <a:r>
              <a:rPr lang="en-US" sz="1400" dirty="0"/>
              <a:t>Broadest anaerobic coverage</a:t>
            </a:r>
          </a:p>
        </p:txBody>
      </p:sp>
      <p:sp>
        <p:nvSpPr>
          <p:cNvPr id="218" name="Carbapenems">
            <a:hlinkClick r:id="rId9" action="ppaction://hlinksldjump"/>
            <a:extLst>
              <a:ext uri="{FF2B5EF4-FFF2-40B4-BE49-F238E27FC236}">
                <a16:creationId xmlns:a16="http://schemas.microsoft.com/office/drawing/2014/main" id="{20DA8599-9FE4-4867-ADE2-F27F29B00C7A}"/>
              </a:ext>
            </a:extLst>
          </p:cNvPr>
          <p:cNvSpPr txBox="1"/>
          <p:nvPr/>
        </p:nvSpPr>
        <p:spPr>
          <a:xfrm>
            <a:off x="3900430" y="4442566"/>
            <a:ext cx="1200829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222" name="Carbapenems">
            <a:hlinkClick r:id="rId10" action="ppaction://hlinksldjump"/>
            <a:extLst>
              <a:ext uri="{FF2B5EF4-FFF2-40B4-BE49-F238E27FC236}">
                <a16:creationId xmlns:a16="http://schemas.microsoft.com/office/drawing/2014/main" id="{57271771-9D88-4AC9-BFAE-8239CB8C86D2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224" name="TextBox 223">
            <a:hlinkClick r:id="rId11" action="ppaction://hlinksldjump"/>
            <a:extLst>
              <a:ext uri="{FF2B5EF4-FFF2-40B4-BE49-F238E27FC236}">
                <a16:creationId xmlns:a16="http://schemas.microsoft.com/office/drawing/2014/main" id="{E2870495-2FD8-4ADA-B410-C806C736DE47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226" name="TextBox 225">
            <a:hlinkClick r:id="rId12" action="ppaction://hlinksldjump"/>
            <a:extLst>
              <a:ext uri="{FF2B5EF4-FFF2-40B4-BE49-F238E27FC236}">
                <a16:creationId xmlns:a16="http://schemas.microsoft.com/office/drawing/2014/main" id="{C80627B4-2CCA-48F4-9FCE-5F4A3E60BAB9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240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402D4931-4C83-416F-A459-4524C833D5E2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241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0A1785C5-4711-419D-94DB-A1E4550C7EAE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242" name="Question 2">
            <a:hlinkClick r:id="rId15" action="ppaction://hlinksldjump"/>
            <a:extLst>
              <a:ext uri="{FF2B5EF4-FFF2-40B4-BE49-F238E27FC236}">
                <a16:creationId xmlns:a16="http://schemas.microsoft.com/office/drawing/2014/main" id="{2838CA72-B790-4228-9DE3-552C64F7299C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45" name="question 3">
            <a:hlinkClick r:id="rId16" action="ppaction://hlinksldjump"/>
            <a:extLst>
              <a:ext uri="{FF2B5EF4-FFF2-40B4-BE49-F238E27FC236}">
                <a16:creationId xmlns:a16="http://schemas.microsoft.com/office/drawing/2014/main" id="{F8933F04-5124-4FF5-A092-D533C6C9AF02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6CD2717F-2B31-45AB-850C-472A78BD437C}"/>
              </a:ext>
            </a:extLst>
          </p:cNvPr>
          <p:cNvCxnSpPr>
            <a:endCxn id="245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" descr="Cursor with solid fill">
            <a:extLst>
              <a:ext uri="{FF2B5EF4-FFF2-40B4-BE49-F238E27FC236}">
                <a16:creationId xmlns:a16="http://schemas.microsoft.com/office/drawing/2014/main" id="{1DDCDCDE-CE77-94DB-DE31-453B46065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4" name="graphic" descr="Cursor with solid fill">
            <a:extLst>
              <a:ext uri="{FF2B5EF4-FFF2-40B4-BE49-F238E27FC236}">
                <a16:creationId xmlns:a16="http://schemas.microsoft.com/office/drawing/2014/main" id="{B0D48FB8-ACE1-C34C-50F5-2961098BF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7" name="graphic" descr="Cursor with solid fill">
            <a:extLst>
              <a:ext uri="{FF2B5EF4-FFF2-40B4-BE49-F238E27FC236}">
                <a16:creationId xmlns:a16="http://schemas.microsoft.com/office/drawing/2014/main" id="{5EE6EAE8-EEDF-8698-E37D-906BA8E1B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8310" y="3366655"/>
            <a:ext cx="274320" cy="274320"/>
          </a:xfrm>
          <a:prstGeom prst="rect">
            <a:avLst/>
          </a:prstGeom>
        </p:spPr>
      </p:pic>
      <p:pic>
        <p:nvPicPr>
          <p:cNvPr id="11" name="graphic" descr="Cursor with solid fill">
            <a:extLst>
              <a:ext uri="{FF2B5EF4-FFF2-40B4-BE49-F238E27FC236}">
                <a16:creationId xmlns:a16="http://schemas.microsoft.com/office/drawing/2014/main" id="{9D17EE8F-26DA-75B4-1CA6-D08477147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1F508910-2621-14E1-880D-20EC0545B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1D069301-6EC2-9255-2B74-4BEFEE21E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7102F0C4-C0D4-F917-7B31-970430CEE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pic>
        <p:nvPicPr>
          <p:cNvPr id="16" name="graphic" descr="Cursor with solid fill">
            <a:extLst>
              <a:ext uri="{FF2B5EF4-FFF2-40B4-BE49-F238E27FC236}">
                <a16:creationId xmlns:a16="http://schemas.microsoft.com/office/drawing/2014/main" id="{A3E28DC0-40B7-677A-C187-DC8353BC7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7" name="graphic" descr="Cursor with solid fill">
            <a:extLst>
              <a:ext uri="{FF2B5EF4-FFF2-40B4-BE49-F238E27FC236}">
                <a16:creationId xmlns:a16="http://schemas.microsoft.com/office/drawing/2014/main" id="{2F941578-C91D-42FA-B533-DB41AD94F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18" name="graphic" descr="Cursor with solid fill">
            <a:extLst>
              <a:ext uri="{FF2B5EF4-FFF2-40B4-BE49-F238E27FC236}">
                <a16:creationId xmlns:a16="http://schemas.microsoft.com/office/drawing/2014/main" id="{78E37887-1F93-D800-904B-79E4F84ED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</p:childTnLst>
        </p:cTn>
      </p:par>
    </p:tnLst>
    <p:bldLst>
      <p:bldP spid="163" grpId="0" animBg="1"/>
      <p:bldP spid="165" grpId="0"/>
      <p:bldP spid="171" grpId="0" animBg="1"/>
      <p:bldP spid="89" grpId="0"/>
      <p:bldP spid="196" grpId="0" animBg="1"/>
      <p:bldP spid="2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B11240F8-7361-43E4-8F38-3916E204AD99}"/>
              </a:ext>
            </a:extLst>
          </p:cNvPr>
          <p:cNvSpPr txBox="1"/>
          <p:nvPr/>
        </p:nvSpPr>
        <p:spPr>
          <a:xfrm>
            <a:off x="199152" y="5841866"/>
            <a:ext cx="1188720" cy="365760"/>
          </a:xfrm>
          <a:prstGeom prst="roundRect">
            <a:avLst/>
          </a:prstGeom>
          <a:solidFill>
            <a:srgbClr val="481F67"/>
          </a:solidFill>
          <a:ln w="38100">
            <a:solidFill>
              <a:srgbClr val="481F67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Aztreonam</a:t>
            </a:r>
          </a:p>
        </p:txBody>
      </p:sp>
      <p:sp>
        <p:nvSpPr>
          <p:cNvPr id="163" name="Aztreonam">
            <a:extLst>
              <a:ext uri="{FF2B5EF4-FFF2-40B4-BE49-F238E27FC236}">
                <a16:creationId xmlns:a16="http://schemas.microsoft.com/office/drawing/2014/main" id="{5A33B353-86B8-4A99-8438-B5F163EBB593}"/>
              </a:ext>
            </a:extLst>
          </p:cNvPr>
          <p:cNvSpPr txBox="1"/>
          <p:nvPr/>
        </p:nvSpPr>
        <p:spPr>
          <a:xfrm>
            <a:off x="199152" y="5841866"/>
            <a:ext cx="11887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481F6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Aztreonam</a:t>
            </a:r>
          </a:p>
        </p:txBody>
      </p:sp>
      <p:pic>
        <p:nvPicPr>
          <p:cNvPr id="164" name="graphic" descr="Cursor with solid fill">
            <a:extLst>
              <a:ext uri="{FF2B5EF4-FFF2-40B4-BE49-F238E27FC236}">
                <a16:creationId xmlns:a16="http://schemas.microsoft.com/office/drawing/2014/main" id="{61CF9089-8F0C-4ED8-8C9A-FBAB9AF5B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831" y="6067028"/>
            <a:ext cx="301752" cy="301752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56C7A64F-7096-4E46-B61A-BD05B3544C86}"/>
              </a:ext>
            </a:extLst>
          </p:cNvPr>
          <p:cNvSpPr txBox="1"/>
          <p:nvPr/>
        </p:nvSpPr>
        <p:spPr>
          <a:xfrm>
            <a:off x="1435611" y="5772928"/>
            <a:ext cx="1626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GN aerobes only</a:t>
            </a:r>
          </a:p>
          <a:p>
            <a:pPr marL="112713" indent="-112713"/>
            <a:r>
              <a:rPr lang="en-US" sz="1400" dirty="0"/>
              <a:t>+ PsA coverage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0138292-279B-4846-8973-7112EE202470}"/>
              </a:ext>
            </a:extLst>
          </p:cNvPr>
          <p:cNvSpPr txBox="1"/>
          <p:nvPr/>
        </p:nvSpPr>
        <p:spPr>
          <a:xfrm>
            <a:off x="208076" y="4684549"/>
            <a:ext cx="822960" cy="374571"/>
          </a:xfrm>
          <a:prstGeom prst="roundRect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AGs</a:t>
            </a:r>
          </a:p>
        </p:txBody>
      </p:sp>
      <p:sp>
        <p:nvSpPr>
          <p:cNvPr id="171" name="AG">
            <a:extLst>
              <a:ext uri="{FF2B5EF4-FFF2-40B4-BE49-F238E27FC236}">
                <a16:creationId xmlns:a16="http://schemas.microsoft.com/office/drawing/2014/main" id="{C3CE0583-1214-4FE6-AE34-95A898BC4069}"/>
              </a:ext>
            </a:extLst>
          </p:cNvPr>
          <p:cNvSpPr txBox="1"/>
          <p:nvPr/>
        </p:nvSpPr>
        <p:spPr>
          <a:xfrm>
            <a:off x="208076" y="4684549"/>
            <a:ext cx="82296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AGs</a:t>
            </a:r>
          </a:p>
        </p:txBody>
      </p:sp>
      <p:pic>
        <p:nvPicPr>
          <p:cNvPr id="172" name="graphic" descr="Cursor with solid fill">
            <a:extLst>
              <a:ext uri="{FF2B5EF4-FFF2-40B4-BE49-F238E27FC236}">
                <a16:creationId xmlns:a16="http://schemas.microsoft.com/office/drawing/2014/main" id="{C6E75F34-CE55-4453-92C0-FE7B4CBFD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185" y="4928887"/>
            <a:ext cx="301752" cy="301752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E34DF213-7386-4553-AD26-BD66A7366AAD}"/>
              </a:ext>
            </a:extLst>
          </p:cNvPr>
          <p:cNvSpPr txBox="1"/>
          <p:nvPr/>
        </p:nvSpPr>
        <p:spPr>
          <a:xfrm>
            <a:off x="1094741" y="4559555"/>
            <a:ext cx="269418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b="1" dirty="0"/>
              <a:t>Gentamicin, tobramycin, </a:t>
            </a:r>
            <a:r>
              <a:rPr lang="en-US" sz="1400" b="1" dirty="0" err="1"/>
              <a:t>plazomicin</a:t>
            </a:r>
            <a:endParaRPr lang="en-US" sz="1400" b="1" dirty="0"/>
          </a:p>
          <a:p>
            <a:pPr marL="112713" indent="-112713"/>
            <a:r>
              <a:rPr lang="en-US" sz="1400" dirty="0"/>
              <a:t>Good aerobic GNR + PsA coverage</a:t>
            </a:r>
          </a:p>
          <a:p>
            <a:pPr marL="112713" indent="-112713"/>
            <a:r>
              <a:rPr lang="en-US" sz="1400" dirty="0"/>
              <a:t>Some have ESBL, Enterococcal activity</a:t>
            </a:r>
          </a:p>
        </p:txBody>
      </p:sp>
      <p:sp>
        <p:nvSpPr>
          <p:cNvPr id="94" name="Left Bracket 93">
            <a:extLst>
              <a:ext uri="{FF2B5EF4-FFF2-40B4-BE49-F238E27FC236}">
                <a16:creationId xmlns:a16="http://schemas.microsoft.com/office/drawing/2014/main" id="{256666FC-57F3-4D4F-B3AB-3198BEE9CD95}"/>
              </a:ext>
            </a:extLst>
          </p:cNvPr>
          <p:cNvSpPr/>
          <p:nvPr/>
        </p:nvSpPr>
        <p:spPr>
          <a:xfrm>
            <a:off x="4618289" y="467716"/>
            <a:ext cx="45719" cy="1033807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E78D59B-49CA-41BB-90FA-008C57058F26}"/>
              </a:ext>
            </a:extLst>
          </p:cNvPr>
          <p:cNvSpPr/>
          <p:nvPr/>
        </p:nvSpPr>
        <p:spPr>
          <a:xfrm>
            <a:off x="7321873" y="2278822"/>
            <a:ext cx="2868455" cy="2103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r>
              <a:rPr lang="en-US" sz="1200" baseline="30000" dirty="0">
                <a:solidFill>
                  <a:schemeClr val="tx1"/>
                </a:solidFill>
              </a:rPr>
              <a:t>rd</a:t>
            </a:r>
            <a:r>
              <a:rPr lang="en-US" sz="1200" dirty="0">
                <a:solidFill>
                  <a:schemeClr val="tx1"/>
                </a:solidFill>
              </a:rPr>
              <a:t> G (ceftazidime)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B32F9C6-A63E-46E4-85CF-178A8CECBCCA}"/>
              </a:ext>
            </a:extLst>
          </p:cNvPr>
          <p:cNvSpPr/>
          <p:nvPr/>
        </p:nvSpPr>
        <p:spPr>
          <a:xfrm>
            <a:off x="6077229" y="2534211"/>
            <a:ext cx="4113100" cy="2103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r>
              <a:rPr lang="en-US" sz="1200" baseline="30000" dirty="0">
                <a:solidFill>
                  <a:schemeClr val="tx1"/>
                </a:solidFill>
              </a:rPr>
              <a:t>th</a:t>
            </a:r>
            <a:r>
              <a:rPr lang="en-US" sz="1200" dirty="0">
                <a:solidFill>
                  <a:schemeClr val="tx1"/>
                </a:solidFill>
              </a:rPr>
              <a:t> G cefepime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A6C38C6-897A-4F82-867A-45C7DC769A94}"/>
              </a:ext>
            </a:extLst>
          </p:cNvPr>
          <p:cNvSpPr/>
          <p:nvPr/>
        </p:nvSpPr>
        <p:spPr>
          <a:xfrm>
            <a:off x="5514897" y="1221788"/>
            <a:ext cx="5606163" cy="210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Piperacillin-tazobactam</a:t>
            </a:r>
          </a:p>
        </p:txBody>
      </p:sp>
      <p:sp>
        <p:nvSpPr>
          <p:cNvPr id="142" name="Penicillins">
            <a:hlinkClick r:id="rId5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44" name="Cephalosporins">
            <a:hlinkClick r:id="rId6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sp>
        <p:nvSpPr>
          <p:cNvPr id="201" name="Carbapenems" hidden="1">
            <a:hlinkClick r:id="rId7" action="ppaction://hlinksldjump"/>
            <a:extLst>
              <a:ext uri="{FF2B5EF4-FFF2-40B4-BE49-F238E27FC236}">
                <a16:creationId xmlns:a16="http://schemas.microsoft.com/office/drawing/2014/main" id="{E32432C3-3567-4FA3-AC4D-CFAE838CC70B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99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FD0B23BB-DAAD-4E69-8591-A10E525FDEBE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D9983D-6A9B-4D94-BE03-63BD04DBAE9B}"/>
              </a:ext>
            </a:extLst>
          </p:cNvPr>
          <p:cNvGrpSpPr/>
          <p:nvPr/>
        </p:nvGrpSpPr>
        <p:grpSpPr>
          <a:xfrm>
            <a:off x="7313236" y="4405694"/>
            <a:ext cx="4105747" cy="210312"/>
            <a:chOff x="7313236" y="4659459"/>
            <a:chExt cx="4105747" cy="210312"/>
          </a:xfrm>
        </p:grpSpPr>
        <p:sp>
          <p:nvSpPr>
            <p:cNvPr id="147" name="Aminoglycoside">
              <a:extLst>
                <a:ext uri="{FF2B5EF4-FFF2-40B4-BE49-F238E27FC236}">
                  <a16:creationId xmlns:a16="http://schemas.microsoft.com/office/drawing/2014/main" id="{E977554B-4A49-4297-8B6E-3F6B0D2EBB66}"/>
                </a:ext>
              </a:extLst>
            </p:cNvPr>
            <p:cNvSpPr/>
            <p:nvPr/>
          </p:nvSpPr>
          <p:spPr>
            <a:xfrm>
              <a:off x="7313236" y="4659459"/>
              <a:ext cx="2601315" cy="210312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Aminoglycosides</a:t>
              </a:r>
            </a:p>
          </p:txBody>
        </p:sp>
        <p:sp>
          <p:nvSpPr>
            <p:cNvPr id="152" name="Aztreonam">
              <a:extLst>
                <a:ext uri="{FF2B5EF4-FFF2-40B4-BE49-F238E27FC236}">
                  <a16:creationId xmlns:a16="http://schemas.microsoft.com/office/drawing/2014/main" id="{D4E4402C-3BCF-46AB-8B3B-B487D3B9BD58}"/>
                </a:ext>
              </a:extLst>
            </p:cNvPr>
            <p:cNvSpPr/>
            <p:nvPr/>
          </p:nvSpPr>
          <p:spPr>
            <a:xfrm>
              <a:off x="11153470" y="4659459"/>
              <a:ext cx="265513" cy="210312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54" name="Aztreonam">
            <a:extLst>
              <a:ext uri="{FF2B5EF4-FFF2-40B4-BE49-F238E27FC236}">
                <a16:creationId xmlns:a16="http://schemas.microsoft.com/office/drawing/2014/main" id="{295D756E-F55E-40D4-B3F9-E406097DE8E9}"/>
              </a:ext>
            </a:extLst>
          </p:cNvPr>
          <p:cNvSpPr/>
          <p:nvPr/>
        </p:nvSpPr>
        <p:spPr>
          <a:xfrm>
            <a:off x="7313255" y="4644053"/>
            <a:ext cx="2600491" cy="210312"/>
          </a:xfrm>
          <a:prstGeom prst="rect">
            <a:avLst/>
          </a:prstGeom>
          <a:solidFill>
            <a:srgbClr val="481F67"/>
          </a:solidFill>
          <a:ln>
            <a:solidFill>
              <a:srgbClr val="7030A0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Aztreonam (aerobes only)</a:t>
            </a:r>
          </a:p>
        </p:txBody>
      </p:sp>
      <p:sp>
        <p:nvSpPr>
          <p:cNvPr id="155" name="Carbapenems">
            <a:extLst>
              <a:ext uri="{FF2B5EF4-FFF2-40B4-BE49-F238E27FC236}">
                <a16:creationId xmlns:a16="http://schemas.microsoft.com/office/drawing/2014/main" id="{FED74C6E-63B6-40CC-B4B2-93BADF38A5C3}"/>
              </a:ext>
            </a:extLst>
          </p:cNvPr>
          <p:cNvSpPr txBox="1"/>
          <p:nvPr/>
        </p:nvSpPr>
        <p:spPr>
          <a:xfrm>
            <a:off x="3900430" y="4444949"/>
            <a:ext cx="1200829" cy="365760"/>
          </a:xfrm>
          <a:prstGeom prst="roundRect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Anti-PsA</a:t>
            </a:r>
          </a:p>
        </p:txBody>
      </p:sp>
      <p:sp>
        <p:nvSpPr>
          <p:cNvPr id="224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B7A0380E-BE33-4787-BA02-5F45773E5F47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226" name="TextBox 225">
            <a:hlinkClick r:id="rId9" action="ppaction://hlinksldjump"/>
            <a:extLst>
              <a:ext uri="{FF2B5EF4-FFF2-40B4-BE49-F238E27FC236}">
                <a16:creationId xmlns:a16="http://schemas.microsoft.com/office/drawing/2014/main" id="{3FD0A20C-2DE9-4077-82C3-BC3A5EE2A507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228" name="TextBox 227">
            <a:hlinkClick r:id="rId10" action="ppaction://hlinksldjump"/>
            <a:extLst>
              <a:ext uri="{FF2B5EF4-FFF2-40B4-BE49-F238E27FC236}">
                <a16:creationId xmlns:a16="http://schemas.microsoft.com/office/drawing/2014/main" id="{80A5BA78-CB3D-4D72-8B2C-62CDD1E43030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244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58A5D3B9-A68F-458C-9920-00F9B3D8E1CC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245" name="question 3">
            <a:hlinkClick r:id="rId12" action="ppaction://hlinksldjump"/>
            <a:extLst>
              <a:ext uri="{FF2B5EF4-FFF2-40B4-BE49-F238E27FC236}">
                <a16:creationId xmlns:a16="http://schemas.microsoft.com/office/drawing/2014/main" id="{1A2F211D-D58A-4B63-8638-4AAE44C5C37C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246" name="Question 2">
            <a:hlinkClick r:id="rId13" action="ppaction://hlinksldjump"/>
            <a:extLst>
              <a:ext uri="{FF2B5EF4-FFF2-40B4-BE49-F238E27FC236}">
                <a16:creationId xmlns:a16="http://schemas.microsoft.com/office/drawing/2014/main" id="{AADED9D1-805F-4EDB-8864-E7C609515A43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247" name="Graphic 246" descr="Cursor with solid fill">
            <a:extLst>
              <a:ext uri="{FF2B5EF4-FFF2-40B4-BE49-F238E27FC236}">
                <a16:creationId xmlns:a16="http://schemas.microsoft.com/office/drawing/2014/main" id="{73A5F8F4-6A62-4136-9FEB-6F3B7AB07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1938484"/>
            <a:ext cx="296010" cy="301752"/>
          </a:xfrm>
          <a:prstGeom prst="rect">
            <a:avLst/>
          </a:prstGeom>
        </p:spPr>
      </p:pic>
      <p:pic>
        <p:nvPicPr>
          <p:cNvPr id="248" name="Graphic 247" descr="Cursor with solid fill">
            <a:extLst>
              <a:ext uri="{FF2B5EF4-FFF2-40B4-BE49-F238E27FC236}">
                <a16:creationId xmlns:a16="http://schemas.microsoft.com/office/drawing/2014/main" id="{5DA4176C-C576-4CB5-8520-1EFF9A20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072" y="394256"/>
            <a:ext cx="296010" cy="301752"/>
          </a:xfrm>
          <a:prstGeom prst="rect">
            <a:avLst/>
          </a:prstGeom>
        </p:spPr>
      </p:pic>
      <p:sp>
        <p:nvSpPr>
          <p:cNvPr id="249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2FA52733-0812-48F9-8031-8FCBAD375EDE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pic>
        <p:nvPicPr>
          <p:cNvPr id="250" name="Graphic 249" descr="Cursor with solid fill">
            <a:extLst>
              <a:ext uri="{FF2B5EF4-FFF2-40B4-BE49-F238E27FC236}">
                <a16:creationId xmlns:a16="http://schemas.microsoft.com/office/drawing/2014/main" id="{92EDD7B4-9118-4A04-9C69-50C7628A2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547" y="1426968"/>
            <a:ext cx="296010" cy="301752"/>
          </a:xfrm>
          <a:prstGeom prst="rect">
            <a:avLst/>
          </a:prstGeom>
        </p:spPr>
      </p:pic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3AAABFCE-E4C0-46B6-B005-B1233D1244B9}"/>
              </a:ext>
            </a:extLst>
          </p:cNvPr>
          <p:cNvCxnSpPr>
            <a:endCxn id="249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696DF1D-C8C5-4A6A-9185-05999FB89154}"/>
              </a:ext>
            </a:extLst>
          </p:cNvPr>
          <p:cNvSpPr txBox="1"/>
          <p:nvPr/>
        </p:nvSpPr>
        <p:spPr>
          <a:xfrm>
            <a:off x="158673" y="2903017"/>
            <a:ext cx="25632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Piperacillin</a:t>
            </a:r>
            <a:r>
              <a:rPr lang="en-US" sz="1400" dirty="0"/>
              <a:t>-tazobactam, later generation </a:t>
            </a:r>
            <a:r>
              <a:rPr lang="en-US" sz="1400" dirty="0" err="1"/>
              <a:t>cephalosporims</a:t>
            </a:r>
            <a:r>
              <a:rPr lang="en-US" sz="1400" dirty="0"/>
              <a:t>, and FQs are commonly used for anti-Pseudomonal coverage.</a:t>
            </a:r>
          </a:p>
          <a:p>
            <a:endParaRPr lang="en-US" sz="600" dirty="0"/>
          </a:p>
          <a:p>
            <a:r>
              <a:rPr lang="en-US" sz="1400" dirty="0">
                <a:solidFill>
                  <a:schemeClr val="tx1"/>
                </a:solidFill>
              </a:rPr>
              <a:t>Additional anti-Pseudomonal agents include the following:</a:t>
            </a:r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6655404-8296-4F8B-8288-04FAAC7DBE1E}"/>
              </a:ext>
            </a:extLst>
          </p:cNvPr>
          <p:cNvGrpSpPr/>
          <p:nvPr/>
        </p:nvGrpSpPr>
        <p:grpSpPr>
          <a:xfrm>
            <a:off x="2789382" y="3868509"/>
            <a:ext cx="7497870" cy="207971"/>
            <a:chOff x="2789382" y="3956403"/>
            <a:chExt cx="7497870" cy="207971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3AD500E-3016-4CC1-A076-D520470BEC10}"/>
                </a:ext>
              </a:extLst>
            </p:cNvPr>
            <p:cNvSpPr/>
            <p:nvPr/>
          </p:nvSpPr>
          <p:spPr>
            <a:xfrm>
              <a:off x="5623812" y="3956403"/>
              <a:ext cx="4663440" cy="20797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Levofloxacin</a:t>
              </a: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55D1A15A-5C42-42A4-AF3A-A36207C58B4D}"/>
                </a:ext>
              </a:extLst>
            </p:cNvPr>
            <p:cNvSpPr/>
            <p:nvPr/>
          </p:nvSpPr>
          <p:spPr>
            <a:xfrm>
              <a:off x="2789382" y="3956403"/>
              <a:ext cx="1004507" cy="20797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1AF3961-1378-4341-BDA0-F29030A55AA9}"/>
              </a:ext>
            </a:extLst>
          </p:cNvPr>
          <p:cNvGrpSpPr/>
          <p:nvPr/>
        </p:nvGrpSpPr>
        <p:grpSpPr>
          <a:xfrm>
            <a:off x="2789382" y="3615856"/>
            <a:ext cx="7111326" cy="210312"/>
            <a:chOff x="2789382" y="3638716"/>
            <a:chExt cx="7111326" cy="210312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722F4E3-8B0A-480F-97C1-FD84443B7868}"/>
                </a:ext>
              </a:extLst>
            </p:cNvPr>
            <p:cNvGrpSpPr/>
            <p:nvPr/>
          </p:nvGrpSpPr>
          <p:grpSpPr>
            <a:xfrm>
              <a:off x="2789382" y="3638716"/>
              <a:ext cx="7111326" cy="210312"/>
              <a:chOff x="2789382" y="3648143"/>
              <a:chExt cx="7111326" cy="210312"/>
            </a:xfrm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C0BF1F9A-8787-4E95-9B45-ADC49BB0BA6E}"/>
                  </a:ext>
                </a:extLst>
              </p:cNvPr>
              <p:cNvSpPr/>
              <p:nvPr/>
            </p:nvSpPr>
            <p:spPr>
              <a:xfrm>
                <a:off x="2789382" y="3648143"/>
                <a:ext cx="1004506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BE4F22E-C236-4B59-9654-935D3AD7044F}"/>
                  </a:ext>
                </a:extLst>
              </p:cNvPr>
              <p:cNvSpPr/>
              <p:nvPr/>
            </p:nvSpPr>
            <p:spPr>
              <a:xfrm>
                <a:off x="6855756" y="3648143"/>
                <a:ext cx="3044952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Ciprofloxacin</a:t>
                </a:r>
              </a:p>
            </p:txBody>
          </p:sp>
        </p:grp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25A5091C-42F5-4C2E-84C6-8F2676D3DF1B}"/>
                </a:ext>
              </a:extLst>
            </p:cNvPr>
            <p:cNvSpPr/>
            <p:nvPr/>
          </p:nvSpPr>
          <p:spPr>
            <a:xfrm>
              <a:off x="5887436" y="3638716"/>
              <a:ext cx="169027" cy="21031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graphic" descr="Cursor with solid fill">
            <a:extLst>
              <a:ext uri="{FF2B5EF4-FFF2-40B4-BE49-F238E27FC236}">
                <a16:creationId xmlns:a16="http://schemas.microsoft.com/office/drawing/2014/main" id="{A56A25E4-974E-FD39-DF60-7F8B4B880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4" name="graphic" descr="Cursor with solid fill">
            <a:extLst>
              <a:ext uri="{FF2B5EF4-FFF2-40B4-BE49-F238E27FC236}">
                <a16:creationId xmlns:a16="http://schemas.microsoft.com/office/drawing/2014/main" id="{625C69CA-58BE-96B0-2D4A-B856F13E3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238BC5A8-123A-3463-E51B-4178CF5B6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8" name="graphic" descr="Cursor with solid fill">
            <a:extLst>
              <a:ext uri="{FF2B5EF4-FFF2-40B4-BE49-F238E27FC236}">
                <a16:creationId xmlns:a16="http://schemas.microsoft.com/office/drawing/2014/main" id="{1BBEB658-853E-687C-9D06-DF58B1D5C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9" name="graphic" descr="Cursor with solid fill">
            <a:extLst>
              <a:ext uri="{FF2B5EF4-FFF2-40B4-BE49-F238E27FC236}">
                <a16:creationId xmlns:a16="http://schemas.microsoft.com/office/drawing/2014/main" id="{A5BD76C5-B445-8E5F-3253-030853464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10" name="graphic" descr="Cursor with solid fill">
            <a:extLst>
              <a:ext uri="{FF2B5EF4-FFF2-40B4-BE49-F238E27FC236}">
                <a16:creationId xmlns:a16="http://schemas.microsoft.com/office/drawing/2014/main" id="{82E7D2C7-827F-B8A1-73C8-C3947984C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</p:childTnLst>
        </p:cTn>
      </p:par>
    </p:tnLst>
    <p:bldLst>
      <p:bldP spid="163" grpId="0" animBg="1"/>
      <p:bldP spid="165" grpId="0"/>
      <p:bldP spid="171" grpId="0" animBg="1"/>
      <p:bldP spid="89" grpId="0"/>
      <p:bldP spid="1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2" name="Penicillins">
            <a:hlinkClick r:id="rId3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pic>
        <p:nvPicPr>
          <p:cNvPr id="143" name="graphic" descr="Cursor with solid fill">
            <a:extLst>
              <a:ext uri="{FF2B5EF4-FFF2-40B4-BE49-F238E27FC236}">
                <a16:creationId xmlns:a16="http://schemas.microsoft.com/office/drawing/2014/main" id="{850694E0-A909-4CBE-A569-62D74ECF5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sp>
        <p:nvSpPr>
          <p:cNvPr id="144" name="Cephalosporins">
            <a:hlinkClick r:id="rId6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pic>
        <p:nvPicPr>
          <p:cNvPr id="146" name="graphic" descr="Cursor with solid fill">
            <a:extLst>
              <a:ext uri="{FF2B5EF4-FFF2-40B4-BE49-F238E27FC236}">
                <a16:creationId xmlns:a16="http://schemas.microsoft.com/office/drawing/2014/main" id="{491C30DA-B6C4-4BBF-B05F-790872572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sp>
        <p:nvSpPr>
          <p:cNvPr id="201" name="Carbapenems" hidden="1">
            <a:hlinkClick r:id="rId7" action="ppaction://hlinksldjump"/>
            <a:extLst>
              <a:ext uri="{FF2B5EF4-FFF2-40B4-BE49-F238E27FC236}">
                <a16:creationId xmlns:a16="http://schemas.microsoft.com/office/drawing/2014/main" id="{E32432C3-3567-4FA3-AC4D-CFAE838CC70B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04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4F580295-B341-4564-81A3-C4C8AE1EC905}"/>
              </a:ext>
            </a:extLst>
          </p:cNvPr>
          <p:cNvSpPr txBox="1"/>
          <p:nvPr/>
        </p:nvSpPr>
        <p:spPr>
          <a:xfrm>
            <a:off x="3113476" y="3107923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pic>
        <p:nvPicPr>
          <p:cNvPr id="202" name="graphic" descr="Cursor with solid fill">
            <a:extLst>
              <a:ext uri="{FF2B5EF4-FFF2-40B4-BE49-F238E27FC236}">
                <a16:creationId xmlns:a16="http://schemas.microsoft.com/office/drawing/2014/main" id="{A5ED722A-8090-408D-9059-41CA8C8F9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8310" y="3366655"/>
            <a:ext cx="274320" cy="274320"/>
          </a:xfrm>
          <a:prstGeom prst="rect">
            <a:avLst/>
          </a:prstGeom>
        </p:spPr>
      </p:pic>
      <p:sp>
        <p:nvSpPr>
          <p:cNvPr id="99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FD0B23BB-DAAD-4E69-8591-A10E525FDEBE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pic>
        <p:nvPicPr>
          <p:cNvPr id="100" name="graphic" descr="Cursor with solid fill">
            <a:extLst>
              <a:ext uri="{FF2B5EF4-FFF2-40B4-BE49-F238E27FC236}">
                <a16:creationId xmlns:a16="http://schemas.microsoft.com/office/drawing/2014/main" id="{A203596A-47E3-41D9-970D-723F132CA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sp>
        <p:nvSpPr>
          <p:cNvPr id="155" name="Carbapenems">
            <a:extLst>
              <a:ext uri="{FF2B5EF4-FFF2-40B4-BE49-F238E27FC236}">
                <a16:creationId xmlns:a16="http://schemas.microsoft.com/office/drawing/2014/main" id="{FED74C6E-63B6-40CC-B4B2-93BADF38A5C3}"/>
              </a:ext>
            </a:extLst>
          </p:cNvPr>
          <p:cNvSpPr txBox="1"/>
          <p:nvPr/>
        </p:nvSpPr>
        <p:spPr>
          <a:xfrm>
            <a:off x="10727356" y="4749826"/>
            <a:ext cx="1208817" cy="374571"/>
          </a:xfrm>
          <a:prstGeom prst="roundRect">
            <a:avLst/>
          </a:prstGeom>
          <a:solidFill>
            <a:srgbClr val="2E75B6"/>
          </a:solidFill>
          <a:ln w="38100">
            <a:solidFill>
              <a:srgbClr val="2E75B6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Macrolides</a:t>
            </a:r>
          </a:p>
        </p:txBody>
      </p:sp>
      <p:sp>
        <p:nvSpPr>
          <p:cNvPr id="140" name="Carbapenems">
            <a:hlinkClick r:id="rId9" action="ppaction://hlinksldjump"/>
            <a:extLst>
              <a:ext uri="{FF2B5EF4-FFF2-40B4-BE49-F238E27FC236}">
                <a16:creationId xmlns:a16="http://schemas.microsoft.com/office/drawing/2014/main" id="{EBEBEEE3-207D-4B0F-95FB-635D17E4B344}"/>
              </a:ext>
            </a:extLst>
          </p:cNvPr>
          <p:cNvSpPr txBox="1"/>
          <p:nvPr/>
        </p:nvSpPr>
        <p:spPr>
          <a:xfrm>
            <a:off x="3900430" y="4442566"/>
            <a:ext cx="1200829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pic>
        <p:nvPicPr>
          <p:cNvPr id="151" name="graphic" descr="Cursor with solid fill">
            <a:extLst>
              <a:ext uri="{FF2B5EF4-FFF2-40B4-BE49-F238E27FC236}">
                <a16:creationId xmlns:a16="http://schemas.microsoft.com/office/drawing/2014/main" id="{D32B3160-C117-4E65-8E96-E9063023C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BF80DB74-7316-4070-993C-764E457DE149}"/>
              </a:ext>
            </a:extLst>
          </p:cNvPr>
          <p:cNvSpPr txBox="1"/>
          <p:nvPr/>
        </p:nvSpPr>
        <p:spPr>
          <a:xfrm>
            <a:off x="184705" y="4411088"/>
            <a:ext cx="26530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Azithromycin, Erythromycin, Clarithromycin</a:t>
            </a:r>
          </a:p>
          <a:p>
            <a:pPr marL="112713" indent="-112713"/>
            <a:r>
              <a:rPr lang="en-US" sz="1400" dirty="0"/>
              <a:t>Good atypical coverage</a:t>
            </a:r>
          </a:p>
          <a:p>
            <a:pPr marL="112713" indent="-112713"/>
            <a:r>
              <a:rPr lang="en-US" sz="1400" dirty="0"/>
              <a:t>Some GP coverage, though ↑ </a:t>
            </a:r>
            <a:r>
              <a:rPr lang="en-US" sz="1400" i="1" dirty="0"/>
              <a:t>Strep </a:t>
            </a:r>
            <a:r>
              <a:rPr lang="en-US" sz="1400" dirty="0"/>
              <a:t>resistance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EF397ED-D5FE-41FE-A11E-9B0BF748E1A2}"/>
              </a:ext>
            </a:extLst>
          </p:cNvPr>
          <p:cNvGrpSpPr/>
          <p:nvPr/>
        </p:nvGrpSpPr>
        <p:grpSpPr>
          <a:xfrm>
            <a:off x="2786566" y="4884615"/>
            <a:ext cx="7766856" cy="274320"/>
            <a:chOff x="2789382" y="4911828"/>
            <a:chExt cx="7766856" cy="274320"/>
          </a:xfrm>
        </p:grpSpPr>
        <p:sp>
          <p:nvSpPr>
            <p:cNvPr id="181" name="Rectangle: Rounded Corners 172">
              <a:extLst>
                <a:ext uri="{FF2B5EF4-FFF2-40B4-BE49-F238E27FC236}">
                  <a16:creationId xmlns:a16="http://schemas.microsoft.com/office/drawing/2014/main" id="{94097F05-8441-4777-B5A6-8A39B48F287F}"/>
                </a:ext>
              </a:extLst>
            </p:cNvPr>
            <p:cNvSpPr/>
            <p:nvPr/>
          </p:nvSpPr>
          <p:spPr>
            <a:xfrm>
              <a:off x="6090129" y="4940109"/>
              <a:ext cx="1886693" cy="2103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2E75B6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/>
                <a:t>   </a:t>
              </a:r>
              <a:r>
                <a:rPr lang="en-US" sz="1200" dirty="0"/>
                <a:t>Macrolides</a:t>
              </a:r>
              <a:r>
                <a:rPr lang="en-US" sz="1200" i="1" dirty="0"/>
                <a:t> (↓ Strep)  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68E1FDCD-C9C9-44BB-9149-B785731827DF}"/>
                </a:ext>
              </a:extLst>
            </p:cNvPr>
            <p:cNvSpPr/>
            <p:nvPr/>
          </p:nvSpPr>
          <p:spPr>
            <a:xfrm>
              <a:off x="2789382" y="4940109"/>
              <a:ext cx="1005840" cy="2103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rgbClr val="2E75B6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527AE9EB-D870-4101-A103-0751852ADED0}"/>
                </a:ext>
              </a:extLst>
            </p:cNvPr>
            <p:cNvSpPr/>
            <p:nvPr/>
          </p:nvSpPr>
          <p:spPr>
            <a:xfrm>
              <a:off x="6128291" y="4911828"/>
              <a:ext cx="39613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71AF86FC-8DCB-4B19-BA79-0D979568D765}"/>
                </a:ext>
              </a:extLst>
            </p:cNvPr>
            <p:cNvSpPr/>
            <p:nvPr/>
          </p:nvSpPr>
          <p:spPr>
            <a:xfrm>
              <a:off x="6225822" y="4911828"/>
              <a:ext cx="35331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857A14CB-B77B-4D18-96CB-437C7014802D}"/>
                </a:ext>
              </a:extLst>
            </p:cNvPr>
            <p:cNvSpPr/>
            <p:nvPr/>
          </p:nvSpPr>
          <p:spPr>
            <a:xfrm>
              <a:off x="6319072" y="4911828"/>
              <a:ext cx="35331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F85373DE-C130-4E3E-ADDD-7A79862F51DF}"/>
                </a:ext>
              </a:extLst>
            </p:cNvPr>
            <p:cNvSpPr/>
            <p:nvPr/>
          </p:nvSpPr>
          <p:spPr>
            <a:xfrm>
              <a:off x="9916158" y="4940109"/>
              <a:ext cx="640080" cy="2103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rgbClr val="2E75B6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14" name="TextBox 213">
            <a:hlinkClick r:id="rId10" action="ppaction://hlinksldjump"/>
            <a:extLst>
              <a:ext uri="{FF2B5EF4-FFF2-40B4-BE49-F238E27FC236}">
                <a16:creationId xmlns:a16="http://schemas.microsoft.com/office/drawing/2014/main" id="{66527ADC-0029-49A8-8CCC-B51B79AF18E9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216" name="TextBox 215">
            <a:hlinkClick r:id="rId11" action="ppaction://hlinksldjump"/>
            <a:extLst>
              <a:ext uri="{FF2B5EF4-FFF2-40B4-BE49-F238E27FC236}">
                <a16:creationId xmlns:a16="http://schemas.microsoft.com/office/drawing/2014/main" id="{B561B0B6-8F2F-4E3C-90FF-762FB3610E86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234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E00DE8FC-9B9F-458B-8E15-8714DECD4EBF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235" name="question 3">
            <a:hlinkClick r:id="rId13" action="ppaction://hlinksldjump"/>
            <a:extLst>
              <a:ext uri="{FF2B5EF4-FFF2-40B4-BE49-F238E27FC236}">
                <a16:creationId xmlns:a16="http://schemas.microsoft.com/office/drawing/2014/main" id="{08AE3FC7-D954-4F58-9BEB-117F0476C1F2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236" name="Question 2">
            <a:hlinkClick r:id="rId14" action="ppaction://hlinksldjump"/>
            <a:extLst>
              <a:ext uri="{FF2B5EF4-FFF2-40B4-BE49-F238E27FC236}">
                <a16:creationId xmlns:a16="http://schemas.microsoft.com/office/drawing/2014/main" id="{9F01623A-F3A5-4C79-ACFD-F11105CEE021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237" name="Graphic 236" descr="Cursor with solid fill">
            <a:extLst>
              <a:ext uri="{FF2B5EF4-FFF2-40B4-BE49-F238E27FC236}">
                <a16:creationId xmlns:a16="http://schemas.microsoft.com/office/drawing/2014/main" id="{95FEC777-3A3C-4374-AC7F-A43B0A7EC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238" name="Graphic 237" descr="Cursor with solid fill">
            <a:extLst>
              <a:ext uri="{FF2B5EF4-FFF2-40B4-BE49-F238E27FC236}">
                <a16:creationId xmlns:a16="http://schemas.microsoft.com/office/drawing/2014/main" id="{049BB7A8-864A-447F-A8C5-5FDCC7314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sp>
        <p:nvSpPr>
          <p:cNvPr id="239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A409F774-5901-4149-8B07-ABC2FCD7CBD6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pic>
        <p:nvPicPr>
          <p:cNvPr id="240" name="Graphic 239" descr="Cursor with solid fill">
            <a:extLst>
              <a:ext uri="{FF2B5EF4-FFF2-40B4-BE49-F238E27FC236}">
                <a16:creationId xmlns:a16="http://schemas.microsoft.com/office/drawing/2014/main" id="{15EA1619-DE05-4D02-A863-992114321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7F53788E-349B-40FC-BF30-C6BFD75B9A9A}"/>
              </a:ext>
            </a:extLst>
          </p:cNvPr>
          <p:cNvCxnSpPr>
            <a:endCxn id="239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" descr="Cursor with solid fill">
            <a:extLst>
              <a:ext uri="{FF2B5EF4-FFF2-40B4-BE49-F238E27FC236}">
                <a16:creationId xmlns:a16="http://schemas.microsoft.com/office/drawing/2014/main" id="{08678AAF-5CE1-5F8A-446E-53F7159B9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pic>
        <p:nvPicPr>
          <p:cNvPr id="4" name="graphic" descr="Cursor with solid fill">
            <a:extLst>
              <a:ext uri="{FF2B5EF4-FFF2-40B4-BE49-F238E27FC236}">
                <a16:creationId xmlns:a16="http://schemas.microsoft.com/office/drawing/2014/main" id="{CA9E6284-6AA6-43AB-405D-5796F110F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3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2" name="Penicillins">
            <a:hlinkClick r:id="rId3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44" name="Cephalosporins">
            <a:hlinkClick r:id="rId4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sp>
        <p:nvSpPr>
          <p:cNvPr id="201" name="Carbapenems" hidden="1">
            <a:hlinkClick r:id="rId5" action="ppaction://hlinksldjump"/>
            <a:extLst>
              <a:ext uri="{FF2B5EF4-FFF2-40B4-BE49-F238E27FC236}">
                <a16:creationId xmlns:a16="http://schemas.microsoft.com/office/drawing/2014/main" id="{E32432C3-3567-4FA3-AC4D-CFAE838CC70B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04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4F580295-B341-4564-81A3-C4C8AE1EC905}"/>
              </a:ext>
            </a:extLst>
          </p:cNvPr>
          <p:cNvSpPr txBox="1"/>
          <p:nvPr/>
        </p:nvSpPr>
        <p:spPr>
          <a:xfrm>
            <a:off x="3113476" y="3107923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99" name="Carbapenems">
            <a:hlinkClick r:id="rId5" action="ppaction://hlinksldjump"/>
            <a:extLst>
              <a:ext uri="{FF2B5EF4-FFF2-40B4-BE49-F238E27FC236}">
                <a16:creationId xmlns:a16="http://schemas.microsoft.com/office/drawing/2014/main" id="{FD0B23BB-DAAD-4E69-8591-A10E525FDEBE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sp>
        <p:nvSpPr>
          <p:cNvPr id="140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EBEBEEE3-207D-4B0F-95FB-635D17E4B344}"/>
              </a:ext>
            </a:extLst>
          </p:cNvPr>
          <p:cNvSpPr txBox="1"/>
          <p:nvPr/>
        </p:nvSpPr>
        <p:spPr>
          <a:xfrm>
            <a:off x="3900430" y="4442566"/>
            <a:ext cx="1200829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182" name="Left Bracket 181">
            <a:extLst>
              <a:ext uri="{FF2B5EF4-FFF2-40B4-BE49-F238E27FC236}">
                <a16:creationId xmlns:a16="http://schemas.microsoft.com/office/drawing/2014/main" id="{48DB4E6C-8B65-4512-AAA8-AE441B830268}"/>
              </a:ext>
            </a:extLst>
          </p:cNvPr>
          <p:cNvSpPr/>
          <p:nvPr/>
        </p:nvSpPr>
        <p:spPr>
          <a:xfrm flipH="1">
            <a:off x="10748390" y="5180020"/>
            <a:ext cx="45719" cy="737339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5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90E936AA-A309-44B4-864D-0B89C3CA306D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C92D467-6A2E-4A19-8C75-C0DB4552BEB8}"/>
              </a:ext>
            </a:extLst>
          </p:cNvPr>
          <p:cNvSpPr txBox="1"/>
          <p:nvPr/>
        </p:nvSpPr>
        <p:spPr>
          <a:xfrm>
            <a:off x="214132" y="2909399"/>
            <a:ext cx="1280160" cy="365760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Clindamycin</a:t>
            </a:r>
          </a:p>
        </p:txBody>
      </p:sp>
      <p:sp>
        <p:nvSpPr>
          <p:cNvPr id="228" name="Clinda">
            <a:extLst>
              <a:ext uri="{FF2B5EF4-FFF2-40B4-BE49-F238E27FC236}">
                <a16:creationId xmlns:a16="http://schemas.microsoft.com/office/drawing/2014/main" id="{80528B71-C209-42D6-AA2F-88AA122F40A6}"/>
              </a:ext>
            </a:extLst>
          </p:cNvPr>
          <p:cNvSpPr txBox="1"/>
          <p:nvPr/>
        </p:nvSpPr>
        <p:spPr>
          <a:xfrm>
            <a:off x="214132" y="2909399"/>
            <a:ext cx="12801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Clindamycin</a:t>
            </a:r>
          </a:p>
        </p:txBody>
      </p:sp>
      <p:pic>
        <p:nvPicPr>
          <p:cNvPr id="229" name="graphic" descr="Cursor with solid fill">
            <a:extLst>
              <a:ext uri="{FF2B5EF4-FFF2-40B4-BE49-F238E27FC236}">
                <a16:creationId xmlns:a16="http://schemas.microsoft.com/office/drawing/2014/main" id="{840B43A1-A767-4A56-AFD0-E32129BA78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8478" y="3142716"/>
            <a:ext cx="274320" cy="274320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0084AE42-2C49-4CA5-8B60-3056A49A81A5}"/>
              </a:ext>
            </a:extLst>
          </p:cNvPr>
          <p:cNvSpPr txBox="1"/>
          <p:nvPr/>
        </p:nvSpPr>
        <p:spPr>
          <a:xfrm>
            <a:off x="259412" y="3301722"/>
            <a:ext cx="2560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Strong oral anaerobe and GP coverage</a:t>
            </a:r>
          </a:p>
          <a:p>
            <a:pPr marL="112713" indent="-112713"/>
            <a:r>
              <a:rPr lang="en-US" sz="1400" dirty="0"/>
              <a:t>No </a:t>
            </a:r>
            <a:r>
              <a:rPr lang="en-US" sz="1400" i="1" dirty="0"/>
              <a:t>Enterococcus</a:t>
            </a:r>
            <a:r>
              <a:rPr lang="en-US" sz="1400" dirty="0"/>
              <a:t>, gut anaerobes</a:t>
            </a:r>
          </a:p>
          <a:p>
            <a:pPr marL="112713" indent="-112713"/>
            <a:r>
              <a:rPr lang="en-US" sz="1400" dirty="0"/>
              <a:t>Inhibits toxin production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BE90173-DE7D-42F7-91D1-FCB47C12AB2B}"/>
              </a:ext>
            </a:extLst>
          </p:cNvPr>
          <p:cNvSpPr txBox="1"/>
          <p:nvPr/>
        </p:nvSpPr>
        <p:spPr>
          <a:xfrm>
            <a:off x="214132" y="4393789"/>
            <a:ext cx="1280160" cy="365760"/>
          </a:xfrm>
          <a:prstGeom prst="round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TMP-SMX</a:t>
            </a:r>
          </a:p>
        </p:txBody>
      </p:sp>
      <p:sp>
        <p:nvSpPr>
          <p:cNvPr id="232" name="Levo">
            <a:extLst>
              <a:ext uri="{FF2B5EF4-FFF2-40B4-BE49-F238E27FC236}">
                <a16:creationId xmlns:a16="http://schemas.microsoft.com/office/drawing/2014/main" id="{791AEE11-BC77-4A38-A847-5890598322A8}"/>
              </a:ext>
            </a:extLst>
          </p:cNvPr>
          <p:cNvSpPr txBox="1"/>
          <p:nvPr/>
        </p:nvSpPr>
        <p:spPr>
          <a:xfrm>
            <a:off x="214132" y="4393789"/>
            <a:ext cx="12801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TMP-SMX</a:t>
            </a:r>
          </a:p>
        </p:txBody>
      </p:sp>
      <p:pic>
        <p:nvPicPr>
          <p:cNvPr id="233" name="graphic" descr="Cursor with solid fill">
            <a:extLst>
              <a:ext uri="{FF2B5EF4-FFF2-40B4-BE49-F238E27FC236}">
                <a16:creationId xmlns:a16="http://schemas.microsoft.com/office/drawing/2014/main" id="{2578FF68-15AC-45AF-93B6-4CF808AD98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8478" y="4633126"/>
            <a:ext cx="274320" cy="274320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793223B1-4DC3-4CC8-8C7A-E57F6D496341}"/>
              </a:ext>
            </a:extLst>
          </p:cNvPr>
          <p:cNvSpPr txBox="1"/>
          <p:nvPr/>
        </p:nvSpPr>
        <p:spPr>
          <a:xfrm>
            <a:off x="259411" y="4778270"/>
            <a:ext cx="2676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Broad coverage of GNs and </a:t>
            </a:r>
            <a:r>
              <a:rPr lang="en-US" sz="1400" i="1" dirty="0"/>
              <a:t>Staph</a:t>
            </a:r>
          </a:p>
          <a:p>
            <a:pPr marL="112713" indent="-112713"/>
            <a:r>
              <a:rPr lang="en-US" sz="1400" dirty="0"/>
              <a:t>Variable </a:t>
            </a:r>
            <a:r>
              <a:rPr lang="en-US" sz="1400" i="1" dirty="0"/>
              <a:t>Strep</a:t>
            </a:r>
            <a:r>
              <a:rPr lang="en-US" sz="1400" dirty="0"/>
              <a:t> coverage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92E07BC-3111-437B-81A3-0B8BF5CA7D45}"/>
              </a:ext>
            </a:extLst>
          </p:cNvPr>
          <p:cNvSpPr txBox="1"/>
          <p:nvPr/>
        </p:nvSpPr>
        <p:spPr>
          <a:xfrm>
            <a:off x="214132" y="5604905"/>
            <a:ext cx="1280160" cy="365760"/>
          </a:xfrm>
          <a:prstGeom prst="roundRect">
            <a:avLst/>
          </a:prstGeom>
          <a:solidFill>
            <a:srgbClr val="FF1160"/>
          </a:solidFill>
          <a:ln w="38100">
            <a:solidFill>
              <a:srgbClr val="FF116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Doxycycline</a:t>
            </a:r>
          </a:p>
        </p:txBody>
      </p:sp>
      <p:sp>
        <p:nvSpPr>
          <p:cNvPr id="236" name="Doxycycline">
            <a:extLst>
              <a:ext uri="{FF2B5EF4-FFF2-40B4-BE49-F238E27FC236}">
                <a16:creationId xmlns:a16="http://schemas.microsoft.com/office/drawing/2014/main" id="{9717718E-DBA6-4012-942F-99C6CFC50081}"/>
              </a:ext>
            </a:extLst>
          </p:cNvPr>
          <p:cNvSpPr txBox="1"/>
          <p:nvPr/>
        </p:nvSpPr>
        <p:spPr>
          <a:xfrm>
            <a:off x="214132" y="5604905"/>
            <a:ext cx="12801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11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Doxycycline</a:t>
            </a:r>
          </a:p>
        </p:txBody>
      </p:sp>
      <p:pic>
        <p:nvPicPr>
          <p:cNvPr id="237" name="graphic" descr="Cursor with solid fill">
            <a:extLst>
              <a:ext uri="{FF2B5EF4-FFF2-40B4-BE49-F238E27FC236}">
                <a16:creationId xmlns:a16="http://schemas.microsoft.com/office/drawing/2014/main" id="{1F45F305-0542-4875-BD06-29633A8666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8478" y="5839912"/>
            <a:ext cx="274320" cy="274320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B7A06C86-0BDF-47E2-A131-7DA84E6121D5}"/>
              </a:ext>
            </a:extLst>
          </p:cNvPr>
          <p:cNvSpPr txBox="1"/>
          <p:nvPr/>
        </p:nvSpPr>
        <p:spPr>
          <a:xfrm>
            <a:off x="259412" y="6028721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Good atypical, oral anaerobic, and </a:t>
            </a:r>
            <a:r>
              <a:rPr lang="en-US" sz="1400" i="1" dirty="0"/>
              <a:t>Staph</a:t>
            </a:r>
            <a:r>
              <a:rPr lang="en-US" sz="1400" dirty="0"/>
              <a:t> coverage</a:t>
            </a:r>
          </a:p>
          <a:p>
            <a:pPr marL="112713" indent="-112713"/>
            <a:r>
              <a:rPr lang="en-US" sz="1400" dirty="0"/>
              <a:t>Minimal </a:t>
            </a:r>
            <a:r>
              <a:rPr lang="en-US" sz="1400" i="1" dirty="0"/>
              <a:t>Strep</a:t>
            </a:r>
            <a:r>
              <a:rPr lang="en-US" sz="1400" dirty="0"/>
              <a:t> coverage</a:t>
            </a:r>
          </a:p>
        </p:txBody>
      </p:sp>
      <p:sp>
        <p:nvSpPr>
          <p:cNvPr id="243" name="TextBox 242">
            <a:hlinkClick r:id="rId11" action="ppaction://hlinksldjump"/>
            <a:extLst>
              <a:ext uri="{FF2B5EF4-FFF2-40B4-BE49-F238E27FC236}">
                <a16:creationId xmlns:a16="http://schemas.microsoft.com/office/drawing/2014/main" id="{4079CF85-0384-4953-8AFC-C9A0D0D1E807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CA-MRSA</a:t>
            </a:r>
          </a:p>
        </p:txBody>
      </p:sp>
      <p:grpSp>
        <p:nvGrpSpPr>
          <p:cNvPr id="246" name="Bactrim">
            <a:extLst>
              <a:ext uri="{FF2B5EF4-FFF2-40B4-BE49-F238E27FC236}">
                <a16:creationId xmlns:a16="http://schemas.microsoft.com/office/drawing/2014/main" id="{C753A190-622A-4BF2-8904-5CD9592FBA08}"/>
              </a:ext>
            </a:extLst>
          </p:cNvPr>
          <p:cNvGrpSpPr/>
          <p:nvPr/>
        </p:nvGrpSpPr>
        <p:grpSpPr>
          <a:xfrm>
            <a:off x="3810815" y="5410553"/>
            <a:ext cx="4731753" cy="211915"/>
            <a:chOff x="1182836" y="6016658"/>
            <a:chExt cx="6122914" cy="214315"/>
          </a:xfrm>
          <a:solidFill>
            <a:srgbClr val="FF0000"/>
          </a:solidFill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9949CF8C-4396-4916-BB42-5B7B628323E3}"/>
                </a:ext>
              </a:extLst>
            </p:cNvPr>
            <p:cNvSpPr/>
            <p:nvPr/>
          </p:nvSpPr>
          <p:spPr>
            <a:xfrm>
              <a:off x="4611641" y="6018280"/>
              <a:ext cx="2694109" cy="21269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TMP-SMX (</a:t>
              </a:r>
              <a:r>
                <a:rPr lang="en-US" sz="1200" i="1" dirty="0"/>
                <a:t>↓ Strep</a:t>
              </a:r>
              <a:r>
                <a:rPr lang="en-US" sz="1200" dirty="0"/>
                <a:t>)</a:t>
              </a:r>
              <a:r>
                <a:rPr lang="en-US" sz="1200" i="1" dirty="0"/>
                <a:t> </a:t>
              </a: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4DC09AE4-2830-46D6-BCD3-BAD785E107BB}"/>
                </a:ext>
              </a:extLst>
            </p:cNvPr>
            <p:cNvSpPr/>
            <p:nvPr/>
          </p:nvSpPr>
          <p:spPr>
            <a:xfrm>
              <a:off x="1182836" y="6016658"/>
              <a:ext cx="825287" cy="212693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93BF051-92F4-4806-A4DF-02E50CE168B9}"/>
              </a:ext>
            </a:extLst>
          </p:cNvPr>
          <p:cNvGrpSpPr/>
          <p:nvPr/>
        </p:nvGrpSpPr>
        <p:grpSpPr>
          <a:xfrm>
            <a:off x="3797730" y="5179641"/>
            <a:ext cx="6763766" cy="210312"/>
            <a:chOff x="3797728" y="5322208"/>
            <a:chExt cx="6763766" cy="210312"/>
          </a:xfrm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46324A09-5C45-4B47-8CCB-61AFFCCACFDA}"/>
                </a:ext>
              </a:extLst>
            </p:cNvPr>
            <p:cNvSpPr/>
            <p:nvPr/>
          </p:nvSpPr>
          <p:spPr>
            <a:xfrm>
              <a:off x="6083058" y="5322208"/>
              <a:ext cx="1906615" cy="210312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       Clindamycin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45C7434-1C02-4D1F-8F30-3B2D5E30340A}"/>
                </a:ext>
              </a:extLst>
            </p:cNvPr>
            <p:cNvSpPr/>
            <p:nvPr/>
          </p:nvSpPr>
          <p:spPr>
            <a:xfrm>
              <a:off x="3797728" y="5322208"/>
              <a:ext cx="531075" cy="2103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72B8CAF8-BED0-499F-A7D2-1C0F5CB81762}"/>
                </a:ext>
              </a:extLst>
            </p:cNvPr>
            <p:cNvSpPr/>
            <p:nvPr/>
          </p:nvSpPr>
          <p:spPr>
            <a:xfrm>
              <a:off x="9921415" y="5322208"/>
              <a:ext cx="640079" cy="2103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88E1464D-8656-4377-87E8-8ADE4FA22F55}"/>
              </a:ext>
            </a:extLst>
          </p:cNvPr>
          <p:cNvGrpSpPr/>
          <p:nvPr/>
        </p:nvGrpSpPr>
        <p:grpSpPr>
          <a:xfrm>
            <a:off x="2797032" y="5621802"/>
            <a:ext cx="7951563" cy="276999"/>
            <a:chOff x="2797032" y="5678952"/>
            <a:chExt cx="7951563" cy="276999"/>
          </a:xfrm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E624C329-6372-44D0-8772-09AFF4CA6B22}"/>
                </a:ext>
              </a:extLst>
            </p:cNvPr>
            <p:cNvGrpSpPr/>
            <p:nvPr/>
          </p:nvGrpSpPr>
          <p:grpSpPr>
            <a:xfrm>
              <a:off x="2797032" y="5705769"/>
              <a:ext cx="7951563" cy="210315"/>
              <a:chOff x="2797032" y="5705769"/>
              <a:chExt cx="7951563" cy="210315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E906A8AC-574E-416E-B608-F3C804E0FECD}"/>
                  </a:ext>
                </a:extLst>
              </p:cNvPr>
              <p:cNvGrpSpPr/>
              <p:nvPr/>
            </p:nvGrpSpPr>
            <p:grpSpPr>
              <a:xfrm>
                <a:off x="2797032" y="5705769"/>
                <a:ext cx="7951563" cy="210315"/>
                <a:chOff x="2797032" y="5677488"/>
                <a:chExt cx="7951563" cy="210315"/>
              </a:xfrm>
            </p:grpSpPr>
            <p:grpSp>
              <p:nvGrpSpPr>
                <p:cNvPr id="258" name="Doxycycline">
                  <a:extLst>
                    <a:ext uri="{FF2B5EF4-FFF2-40B4-BE49-F238E27FC236}">
                      <a16:creationId xmlns:a16="http://schemas.microsoft.com/office/drawing/2014/main" id="{37753D90-5565-4B59-AEA5-6894BDEA44E7}"/>
                    </a:ext>
                  </a:extLst>
                </p:cNvPr>
                <p:cNvGrpSpPr/>
                <p:nvPr/>
              </p:nvGrpSpPr>
              <p:grpSpPr>
                <a:xfrm>
                  <a:off x="2797032" y="5677488"/>
                  <a:ext cx="5192641" cy="210313"/>
                  <a:chOff x="-106735" y="5997433"/>
                  <a:chExt cx="6719308" cy="212697"/>
                </a:xfrm>
                <a:solidFill>
                  <a:srgbClr val="FF1160"/>
                </a:solidFill>
              </p:grpSpPr>
              <p:sp>
                <p:nvSpPr>
                  <p:cNvPr id="260" name="Rectangle 259">
                    <a:extLst>
                      <a:ext uri="{FF2B5EF4-FFF2-40B4-BE49-F238E27FC236}">
                        <a16:creationId xmlns:a16="http://schemas.microsoft.com/office/drawing/2014/main" id="{0B767435-8CB7-43B1-BFBD-DAC9120A518E}"/>
                      </a:ext>
                    </a:extLst>
                  </p:cNvPr>
                  <p:cNvSpPr/>
                  <p:nvPr/>
                </p:nvSpPr>
                <p:spPr>
                  <a:xfrm>
                    <a:off x="4876929" y="5997434"/>
                    <a:ext cx="1735644" cy="21269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/>
                      <a:t>Doxycycline</a:t>
                    </a:r>
                    <a:r>
                      <a:rPr lang="en-US" sz="1200" i="1" dirty="0"/>
                      <a:t> </a:t>
                    </a:r>
                  </a:p>
                </p:txBody>
              </p:sp>
              <p:sp>
                <p:nvSpPr>
                  <p:cNvPr id="261" name="Rectangle 260">
                    <a:extLst>
                      <a:ext uri="{FF2B5EF4-FFF2-40B4-BE49-F238E27FC236}">
                        <a16:creationId xmlns:a16="http://schemas.microsoft.com/office/drawing/2014/main" id="{68952473-BE10-4C18-ACDC-FA909D9D2996}"/>
                      </a:ext>
                    </a:extLst>
                  </p:cNvPr>
                  <p:cNvSpPr/>
                  <p:nvPr/>
                </p:nvSpPr>
                <p:spPr>
                  <a:xfrm>
                    <a:off x="-106735" y="5997433"/>
                    <a:ext cx="2147814" cy="21269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dirty="0"/>
                  </a:p>
                </p:txBody>
              </p:sp>
            </p:grp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10C87D8E-6B37-4407-8FE1-7B902CF3A5C7}"/>
                    </a:ext>
                  </a:extLst>
                </p:cNvPr>
                <p:cNvSpPr/>
                <p:nvPr/>
              </p:nvSpPr>
              <p:spPr>
                <a:xfrm>
                  <a:off x="9914757" y="5677491"/>
                  <a:ext cx="833838" cy="210312"/>
                </a:xfrm>
                <a:prstGeom prst="rect">
                  <a:avLst/>
                </a:prstGeom>
                <a:solidFill>
                  <a:srgbClr val="FF116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3BE1599-C47A-4894-9DEF-F58BEA2693ED}"/>
                  </a:ext>
                </a:extLst>
              </p:cNvPr>
              <p:cNvSpPr/>
              <p:nvPr/>
            </p:nvSpPr>
            <p:spPr>
              <a:xfrm>
                <a:off x="5497487" y="5705772"/>
                <a:ext cx="592483" cy="210312"/>
              </a:xfrm>
              <a:prstGeom prst="rect">
                <a:avLst/>
              </a:prstGeom>
              <a:solidFill>
                <a:srgbClr val="FF116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D490F5CB-CFC0-42D8-9E60-96D6F3A2B181}"/>
                </a:ext>
              </a:extLst>
            </p:cNvPr>
            <p:cNvSpPr txBox="1"/>
            <p:nvPr/>
          </p:nvSpPr>
          <p:spPr>
            <a:xfrm>
              <a:off x="7991234" y="5678952"/>
              <a:ext cx="93209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i="1" dirty="0"/>
                <a:t>↓↓ Strep</a:t>
              </a:r>
              <a:r>
                <a:rPr lang="en-US" sz="1200" dirty="0"/>
                <a:t>)</a:t>
              </a:r>
              <a:r>
                <a:rPr lang="en-US" sz="1200" i="1" dirty="0"/>
                <a:t> </a:t>
              </a:r>
              <a:endParaRPr lang="en-US" sz="1200" dirty="0"/>
            </a:p>
          </p:txBody>
        </p:sp>
      </p:grpSp>
      <p:sp>
        <p:nvSpPr>
          <p:cNvPr id="262" name="TextBox 261">
            <a:hlinkClick r:id="rId12" action="ppaction://hlinksldjump"/>
            <a:extLst>
              <a:ext uri="{FF2B5EF4-FFF2-40B4-BE49-F238E27FC236}">
                <a16:creationId xmlns:a16="http://schemas.microsoft.com/office/drawing/2014/main" id="{8680A519-4B94-409B-9ECA-18E57C2F6385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3CB9AA6-BB33-4211-9058-4198D4081E6D}"/>
              </a:ext>
            </a:extLst>
          </p:cNvPr>
          <p:cNvSpPr txBox="1"/>
          <p:nvPr/>
        </p:nvSpPr>
        <p:spPr>
          <a:xfrm>
            <a:off x="157450" y="2119709"/>
            <a:ext cx="29424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General Rules:</a:t>
            </a:r>
          </a:p>
          <a:p>
            <a:r>
              <a:rPr lang="en-US" sz="1400" dirty="0"/>
              <a:t>Coverage should be based on local antibiotic resistance</a:t>
            </a:r>
          </a:p>
        </p:txBody>
      </p:sp>
      <p:sp>
        <p:nvSpPr>
          <p:cNvPr id="283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2FFA3938-523E-4461-927A-607668361B9B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284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D21F9D65-1041-4C14-AE8B-BC21256C9F4C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285" name="Question 2">
            <a:hlinkClick r:id="rId15" action="ppaction://hlinksldjump"/>
            <a:extLst>
              <a:ext uri="{FF2B5EF4-FFF2-40B4-BE49-F238E27FC236}">
                <a16:creationId xmlns:a16="http://schemas.microsoft.com/office/drawing/2014/main" id="{F2164D12-196D-4E53-978A-408381F30429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286" name="Graphic 285" descr="Cursor with solid fill">
            <a:extLst>
              <a:ext uri="{FF2B5EF4-FFF2-40B4-BE49-F238E27FC236}">
                <a16:creationId xmlns:a16="http://schemas.microsoft.com/office/drawing/2014/main" id="{4C4E79F7-063B-4618-BD71-D8D9BE8B47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287" name="Graphic 286" descr="Cursor with solid fill">
            <a:extLst>
              <a:ext uri="{FF2B5EF4-FFF2-40B4-BE49-F238E27FC236}">
                <a16:creationId xmlns:a16="http://schemas.microsoft.com/office/drawing/2014/main" id="{6056A497-7BCC-4CCC-A9C3-B66886867C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sp>
        <p:nvSpPr>
          <p:cNvPr id="288" name="question 3">
            <a:hlinkClick r:id="rId16" action="ppaction://hlinksldjump"/>
            <a:extLst>
              <a:ext uri="{FF2B5EF4-FFF2-40B4-BE49-F238E27FC236}">
                <a16:creationId xmlns:a16="http://schemas.microsoft.com/office/drawing/2014/main" id="{7906F387-86FB-4C79-A8B6-C98C753EE69D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pic>
        <p:nvPicPr>
          <p:cNvPr id="289" name="Graphic 288" descr="Cursor with solid fill">
            <a:extLst>
              <a:ext uri="{FF2B5EF4-FFF2-40B4-BE49-F238E27FC236}">
                <a16:creationId xmlns:a16="http://schemas.microsoft.com/office/drawing/2014/main" id="{718DA3E5-55AB-4B18-ADA3-89759F69A6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cxnSp>
        <p:nvCxnSpPr>
          <p:cNvPr id="290" name="Connector: Elbow 289">
            <a:extLst>
              <a:ext uri="{FF2B5EF4-FFF2-40B4-BE49-F238E27FC236}">
                <a16:creationId xmlns:a16="http://schemas.microsoft.com/office/drawing/2014/main" id="{0486CBB3-C8A9-429C-865D-8845E7EDD00E}"/>
              </a:ext>
            </a:extLst>
          </p:cNvPr>
          <p:cNvCxnSpPr>
            <a:endCxn id="288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" descr="Cursor with solid fill">
            <a:extLst>
              <a:ext uri="{FF2B5EF4-FFF2-40B4-BE49-F238E27FC236}">
                <a16:creationId xmlns:a16="http://schemas.microsoft.com/office/drawing/2014/main" id="{632931AE-9408-29B3-0C51-F363320F8A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3" name="graphic" descr="Cursor with solid fill">
            <a:extLst>
              <a:ext uri="{FF2B5EF4-FFF2-40B4-BE49-F238E27FC236}">
                <a16:creationId xmlns:a16="http://schemas.microsoft.com/office/drawing/2014/main" id="{184ECDED-BA30-CF9C-B701-0EC83E2A85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4" name="graphic" descr="Cursor with solid fill">
            <a:extLst>
              <a:ext uri="{FF2B5EF4-FFF2-40B4-BE49-F238E27FC236}">
                <a16:creationId xmlns:a16="http://schemas.microsoft.com/office/drawing/2014/main" id="{9548F13D-1373-07DB-D8F4-6A0A917A0C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8310" y="3366655"/>
            <a:ext cx="274320" cy="274320"/>
          </a:xfrm>
          <a:prstGeom prst="rect">
            <a:avLst/>
          </a:prstGeom>
        </p:spPr>
      </p:pic>
      <p:pic>
        <p:nvPicPr>
          <p:cNvPr id="5" name="graphic" descr="Cursor with solid fill">
            <a:extLst>
              <a:ext uri="{FF2B5EF4-FFF2-40B4-BE49-F238E27FC236}">
                <a16:creationId xmlns:a16="http://schemas.microsoft.com/office/drawing/2014/main" id="{9432452A-4550-D3EE-3872-AF12E4853B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AFA1D75A-88C7-8C02-38C1-74C4AA2FF3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9" name="graphic" descr="Cursor with solid fill">
            <a:extLst>
              <a:ext uri="{FF2B5EF4-FFF2-40B4-BE49-F238E27FC236}">
                <a16:creationId xmlns:a16="http://schemas.microsoft.com/office/drawing/2014/main" id="{6547612F-2EA8-1F25-0A6D-5DB9EAEF82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1" name="graphic" descr="Cursor with solid fill">
            <a:extLst>
              <a:ext uri="{FF2B5EF4-FFF2-40B4-BE49-F238E27FC236}">
                <a16:creationId xmlns:a16="http://schemas.microsoft.com/office/drawing/2014/main" id="{C9D23D77-BB28-482C-2518-74A6680A4A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1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/>
      <p:bldP spid="232" grpId="0" animBg="1"/>
      <p:bldP spid="234" grpId="0"/>
      <p:bldP spid="236" grpId="0" animBg="1"/>
      <p:bldP spid="2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F2C980C-FC57-4340-A617-D51B61B46EAD}"/>
              </a:ext>
            </a:extLst>
          </p:cNvPr>
          <p:cNvGrpSpPr/>
          <p:nvPr/>
        </p:nvGrpSpPr>
        <p:grpSpPr>
          <a:xfrm>
            <a:off x="3798690" y="2815067"/>
            <a:ext cx="4748669" cy="210312"/>
            <a:chOff x="3798690" y="2768887"/>
            <a:chExt cx="4748669" cy="21031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E980F5A-513D-4F7E-8549-4BFD4384DD37}"/>
                </a:ext>
              </a:extLst>
            </p:cNvPr>
            <p:cNvSpPr/>
            <p:nvPr/>
          </p:nvSpPr>
          <p:spPr>
            <a:xfrm>
              <a:off x="6077229" y="2768887"/>
              <a:ext cx="2470130" cy="2103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5</a:t>
              </a:r>
              <a:r>
                <a:rPr lang="en-US" sz="1200" baseline="30000" dirty="0">
                  <a:solidFill>
                    <a:schemeClr val="tx1"/>
                  </a:solidFill>
                </a:rPr>
                <a:t>th</a:t>
              </a:r>
              <a:r>
                <a:rPr lang="en-US" sz="1200" dirty="0">
                  <a:solidFill>
                    <a:schemeClr val="tx1"/>
                  </a:solidFill>
                </a:rPr>
                <a:t> G </a:t>
              </a:r>
              <a:r>
                <a:rPr lang="en-US" sz="1200" dirty="0" err="1">
                  <a:solidFill>
                    <a:schemeClr val="tx1"/>
                  </a:solidFill>
                </a:rPr>
                <a:t>ceftaroline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F43211E-3430-4EFC-9F37-C7DBB78EE62A}"/>
                </a:ext>
              </a:extLst>
            </p:cNvPr>
            <p:cNvSpPr/>
            <p:nvPr/>
          </p:nvSpPr>
          <p:spPr>
            <a:xfrm>
              <a:off x="3798690" y="2768887"/>
              <a:ext cx="914520" cy="2103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2" name="Penicillins">
            <a:hlinkClick r:id="rId3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44" name="Cephalosporins">
            <a:hlinkClick r:id="rId4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sp>
        <p:nvSpPr>
          <p:cNvPr id="201" name="Carbapenems" hidden="1">
            <a:hlinkClick r:id="rId5" action="ppaction://hlinksldjump"/>
            <a:extLst>
              <a:ext uri="{FF2B5EF4-FFF2-40B4-BE49-F238E27FC236}">
                <a16:creationId xmlns:a16="http://schemas.microsoft.com/office/drawing/2014/main" id="{E32432C3-3567-4FA3-AC4D-CFAE838CC70B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04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4F580295-B341-4564-81A3-C4C8AE1EC905}"/>
              </a:ext>
            </a:extLst>
          </p:cNvPr>
          <p:cNvSpPr txBox="1"/>
          <p:nvPr/>
        </p:nvSpPr>
        <p:spPr>
          <a:xfrm>
            <a:off x="3113476" y="3107923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99" name="Carbapenems">
            <a:hlinkClick r:id="rId5" action="ppaction://hlinksldjump"/>
            <a:extLst>
              <a:ext uri="{FF2B5EF4-FFF2-40B4-BE49-F238E27FC236}">
                <a16:creationId xmlns:a16="http://schemas.microsoft.com/office/drawing/2014/main" id="{FD0B23BB-DAAD-4E69-8591-A10E525FDEBE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sp>
        <p:nvSpPr>
          <p:cNvPr id="140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EBEBEEE3-207D-4B0F-95FB-635D17E4B344}"/>
              </a:ext>
            </a:extLst>
          </p:cNvPr>
          <p:cNvSpPr txBox="1"/>
          <p:nvPr/>
        </p:nvSpPr>
        <p:spPr>
          <a:xfrm>
            <a:off x="3900430" y="4442566"/>
            <a:ext cx="1200829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sp>
        <p:nvSpPr>
          <p:cNvPr id="182" name="Left Bracket 181">
            <a:extLst>
              <a:ext uri="{FF2B5EF4-FFF2-40B4-BE49-F238E27FC236}">
                <a16:creationId xmlns:a16="http://schemas.microsoft.com/office/drawing/2014/main" id="{48DB4E6C-8B65-4512-AAA8-AE441B830268}"/>
              </a:ext>
            </a:extLst>
          </p:cNvPr>
          <p:cNvSpPr/>
          <p:nvPr/>
        </p:nvSpPr>
        <p:spPr>
          <a:xfrm flipH="1">
            <a:off x="10634351" y="5868649"/>
            <a:ext cx="45719" cy="73733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5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90E936AA-A309-44B4-864D-0B89C3CA306D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C92D467-6A2E-4A19-8C75-C0DB4552BEB8}"/>
              </a:ext>
            </a:extLst>
          </p:cNvPr>
          <p:cNvSpPr txBox="1"/>
          <p:nvPr/>
        </p:nvSpPr>
        <p:spPr>
          <a:xfrm>
            <a:off x="214132" y="3282779"/>
            <a:ext cx="1280160" cy="374571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Vancomycin</a:t>
            </a:r>
          </a:p>
        </p:txBody>
      </p:sp>
      <p:sp>
        <p:nvSpPr>
          <p:cNvPr id="228" name="Vanc">
            <a:extLst>
              <a:ext uri="{FF2B5EF4-FFF2-40B4-BE49-F238E27FC236}">
                <a16:creationId xmlns:a16="http://schemas.microsoft.com/office/drawing/2014/main" id="{80528B71-C209-42D6-AA2F-88AA122F40A6}"/>
              </a:ext>
            </a:extLst>
          </p:cNvPr>
          <p:cNvSpPr txBox="1"/>
          <p:nvPr/>
        </p:nvSpPr>
        <p:spPr>
          <a:xfrm>
            <a:off x="214132" y="3282779"/>
            <a:ext cx="128016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Vancomycin</a:t>
            </a:r>
          </a:p>
        </p:txBody>
      </p:sp>
      <p:pic>
        <p:nvPicPr>
          <p:cNvPr id="229" name="graphic" descr="Cursor with solid fill">
            <a:extLst>
              <a:ext uri="{FF2B5EF4-FFF2-40B4-BE49-F238E27FC236}">
                <a16:creationId xmlns:a16="http://schemas.microsoft.com/office/drawing/2014/main" id="{840B43A1-A767-4A56-AFD0-E32129BA78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7809" y="3525427"/>
            <a:ext cx="274320" cy="274320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0084AE42-2C49-4CA5-8B60-3056A49A81A5}"/>
              </a:ext>
            </a:extLst>
          </p:cNvPr>
          <p:cNvSpPr txBox="1"/>
          <p:nvPr/>
        </p:nvSpPr>
        <p:spPr>
          <a:xfrm>
            <a:off x="259412" y="3675102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Only IV </a:t>
            </a:r>
            <a:r>
              <a:rPr lang="en-US" sz="1400" dirty="0" err="1"/>
              <a:t>Vanc</a:t>
            </a:r>
            <a:r>
              <a:rPr lang="en-US" sz="1400" dirty="0"/>
              <a:t> is used for MRSA</a:t>
            </a:r>
          </a:p>
          <a:p>
            <a:pPr marL="112713" indent="-112713"/>
            <a:r>
              <a:rPr lang="en-US" sz="1400" dirty="0"/>
              <a:t>Some Enterococcus resistance (VRE)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BE90173-DE7D-42F7-91D1-FCB47C12AB2B}"/>
              </a:ext>
            </a:extLst>
          </p:cNvPr>
          <p:cNvSpPr txBox="1"/>
          <p:nvPr/>
        </p:nvSpPr>
        <p:spPr>
          <a:xfrm>
            <a:off x="214132" y="4523329"/>
            <a:ext cx="1280160" cy="374571"/>
          </a:xfrm>
          <a:prstGeom prst="roundRect">
            <a:avLst/>
          </a:prstGeom>
          <a:solidFill>
            <a:srgbClr val="767171"/>
          </a:solidFill>
          <a:ln w="38100">
            <a:solidFill>
              <a:srgbClr val="76717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Daptomycin</a:t>
            </a:r>
          </a:p>
        </p:txBody>
      </p:sp>
      <p:sp>
        <p:nvSpPr>
          <p:cNvPr id="232" name="Dapto">
            <a:extLst>
              <a:ext uri="{FF2B5EF4-FFF2-40B4-BE49-F238E27FC236}">
                <a16:creationId xmlns:a16="http://schemas.microsoft.com/office/drawing/2014/main" id="{791AEE11-BC77-4A38-A847-5890598322A8}"/>
              </a:ext>
            </a:extLst>
          </p:cNvPr>
          <p:cNvSpPr txBox="1"/>
          <p:nvPr/>
        </p:nvSpPr>
        <p:spPr>
          <a:xfrm>
            <a:off x="214132" y="4523329"/>
            <a:ext cx="128016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6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Daptomycin</a:t>
            </a:r>
          </a:p>
        </p:txBody>
      </p:sp>
      <p:pic>
        <p:nvPicPr>
          <p:cNvPr id="233" name="graphic" descr="Cursor with solid fill">
            <a:extLst>
              <a:ext uri="{FF2B5EF4-FFF2-40B4-BE49-F238E27FC236}">
                <a16:creationId xmlns:a16="http://schemas.microsoft.com/office/drawing/2014/main" id="{2578FF68-15AC-45AF-93B6-4CF808AD98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7809" y="4771997"/>
            <a:ext cx="274320" cy="274320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793223B1-4DC3-4CC8-8C7A-E57F6D496341}"/>
              </a:ext>
            </a:extLst>
          </p:cNvPr>
          <p:cNvSpPr txBox="1"/>
          <p:nvPr/>
        </p:nvSpPr>
        <p:spPr>
          <a:xfrm>
            <a:off x="259412" y="4907810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Cannot be used for MRSA pneumonia (deactivated by surfactant)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92E07BC-3111-437B-81A3-0B8BF5CA7D45}"/>
              </a:ext>
            </a:extLst>
          </p:cNvPr>
          <p:cNvSpPr txBox="1"/>
          <p:nvPr/>
        </p:nvSpPr>
        <p:spPr>
          <a:xfrm>
            <a:off x="214132" y="5734445"/>
            <a:ext cx="1280160" cy="374571"/>
          </a:xfrm>
          <a:prstGeom prst="roundRect">
            <a:avLst/>
          </a:prstGeom>
          <a:solidFill>
            <a:srgbClr val="AFABAB"/>
          </a:solidFill>
          <a:ln w="38100">
            <a:solidFill>
              <a:srgbClr val="AFABAB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Linezolid</a:t>
            </a:r>
          </a:p>
        </p:txBody>
      </p:sp>
      <p:sp>
        <p:nvSpPr>
          <p:cNvPr id="236" name="Linezolid">
            <a:extLst>
              <a:ext uri="{FF2B5EF4-FFF2-40B4-BE49-F238E27FC236}">
                <a16:creationId xmlns:a16="http://schemas.microsoft.com/office/drawing/2014/main" id="{9717718E-DBA6-4012-942F-99C6CFC50081}"/>
              </a:ext>
            </a:extLst>
          </p:cNvPr>
          <p:cNvSpPr txBox="1"/>
          <p:nvPr/>
        </p:nvSpPr>
        <p:spPr>
          <a:xfrm>
            <a:off x="214132" y="5734445"/>
            <a:ext cx="128016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AFABA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Linezolid</a:t>
            </a:r>
          </a:p>
        </p:txBody>
      </p:sp>
      <p:pic>
        <p:nvPicPr>
          <p:cNvPr id="237" name="graphic" descr="Cursor with solid fill">
            <a:extLst>
              <a:ext uri="{FF2B5EF4-FFF2-40B4-BE49-F238E27FC236}">
                <a16:creationId xmlns:a16="http://schemas.microsoft.com/office/drawing/2014/main" id="{1F45F305-0542-4875-BD06-29633A8666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7809" y="5978783"/>
            <a:ext cx="274320" cy="274320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B7A06C86-0BDF-47E2-A131-7DA84E6121D5}"/>
              </a:ext>
            </a:extLst>
          </p:cNvPr>
          <p:cNvSpPr txBox="1"/>
          <p:nvPr/>
        </p:nvSpPr>
        <p:spPr>
          <a:xfrm>
            <a:off x="259412" y="6158261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3" indent="-112713"/>
            <a:r>
              <a:rPr lang="en-US" sz="1400" dirty="0"/>
              <a:t>Treatment of choice for VRE, MRSA pneumonia</a:t>
            </a:r>
          </a:p>
        </p:txBody>
      </p:sp>
      <p:sp>
        <p:nvSpPr>
          <p:cNvPr id="153" name="TextBox 152">
            <a:hlinkClick r:id="rId11" action="ppaction://hlinksldjump"/>
            <a:extLst>
              <a:ext uri="{FF2B5EF4-FFF2-40B4-BE49-F238E27FC236}">
                <a16:creationId xmlns:a16="http://schemas.microsoft.com/office/drawing/2014/main" id="{9FCBD487-DB1B-4427-A8CF-513602A87F49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8D053D9-09E6-4CB2-8A8C-3E5D9029F301}"/>
              </a:ext>
            </a:extLst>
          </p:cNvPr>
          <p:cNvSpPr txBox="1"/>
          <p:nvPr/>
        </p:nvSpPr>
        <p:spPr>
          <a:xfrm>
            <a:off x="10892844" y="5878923"/>
            <a:ext cx="1054652" cy="646986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Hospital MRSA</a:t>
            </a:r>
          </a:p>
        </p:txBody>
      </p:sp>
      <p:sp>
        <p:nvSpPr>
          <p:cNvPr id="170" name="Left Bracket 169">
            <a:extLst>
              <a:ext uri="{FF2B5EF4-FFF2-40B4-BE49-F238E27FC236}">
                <a16:creationId xmlns:a16="http://schemas.microsoft.com/office/drawing/2014/main" id="{4BDBE7E8-2F1F-422F-852E-6220FB43BDE0}"/>
              </a:ext>
            </a:extLst>
          </p:cNvPr>
          <p:cNvSpPr/>
          <p:nvPr/>
        </p:nvSpPr>
        <p:spPr>
          <a:xfrm flipH="1">
            <a:off x="7354842" y="5916559"/>
            <a:ext cx="45719" cy="680565"/>
          </a:xfrm>
          <a:prstGeom prst="leftBracket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85FE4E1-716F-4837-AB62-01AA1D09BCCF}"/>
              </a:ext>
            </a:extLst>
          </p:cNvPr>
          <p:cNvSpPr txBox="1"/>
          <p:nvPr/>
        </p:nvSpPr>
        <p:spPr>
          <a:xfrm>
            <a:off x="210985" y="2188244"/>
            <a:ext cx="29424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General Rules:</a:t>
            </a:r>
          </a:p>
          <a:p>
            <a:r>
              <a:rPr lang="en-US" sz="1400" dirty="0"/>
              <a:t>Agents for nosocomial MRSA infections have pure GP coverage (including GP anaerobes)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B84AAF-AAE4-47DB-A54D-2CD0626B2450}"/>
              </a:ext>
            </a:extLst>
          </p:cNvPr>
          <p:cNvGrpSpPr/>
          <p:nvPr/>
        </p:nvGrpSpPr>
        <p:grpSpPr>
          <a:xfrm>
            <a:off x="3801515" y="5894426"/>
            <a:ext cx="6767565" cy="210312"/>
            <a:chOff x="3801515" y="5917286"/>
            <a:chExt cx="6767565" cy="2103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4DB4EA-0E6A-43C9-B2CC-352578591EDE}"/>
                </a:ext>
              </a:extLst>
            </p:cNvPr>
            <p:cNvGrpSpPr/>
            <p:nvPr/>
          </p:nvGrpSpPr>
          <p:grpSpPr>
            <a:xfrm>
              <a:off x="3801515" y="5917286"/>
              <a:ext cx="3508078" cy="210312"/>
              <a:chOff x="3801515" y="5988208"/>
              <a:chExt cx="3508078" cy="210312"/>
            </a:xfrm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39AE221-5DC3-4D0A-B9F6-EF2EEFBED417}"/>
                  </a:ext>
                </a:extLst>
              </p:cNvPr>
              <p:cNvSpPr/>
              <p:nvPr/>
            </p:nvSpPr>
            <p:spPr>
              <a:xfrm>
                <a:off x="4936665" y="5988208"/>
                <a:ext cx="2372928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       Vancomycin</a:t>
                </a: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96F42927-A362-43AB-A8ED-DE41F9998E51}"/>
                  </a:ext>
                </a:extLst>
              </p:cNvPr>
              <p:cNvSpPr/>
              <p:nvPr/>
            </p:nvSpPr>
            <p:spPr>
              <a:xfrm>
                <a:off x="3801515" y="5988208"/>
                <a:ext cx="901655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A737EEBF-3376-4633-AE3C-571C74B1F33F}"/>
                  </a:ext>
                </a:extLst>
              </p:cNvPr>
              <p:cNvSpPr/>
              <p:nvPr/>
            </p:nvSpPr>
            <p:spPr>
              <a:xfrm>
                <a:off x="4877827" y="5988208"/>
                <a:ext cx="39766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82F906F-2464-4C35-8060-F4E61AE359A0}"/>
                  </a:ext>
                </a:extLst>
              </p:cNvPr>
              <p:cNvSpPr/>
              <p:nvPr/>
            </p:nvSpPr>
            <p:spPr>
              <a:xfrm>
                <a:off x="4810512" y="5988208"/>
                <a:ext cx="40318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02E515D1-E509-4B8C-A4B2-0B39BE3B2A0E}"/>
                  </a:ext>
                </a:extLst>
              </p:cNvPr>
              <p:cNvSpPr/>
              <p:nvPr/>
            </p:nvSpPr>
            <p:spPr>
              <a:xfrm>
                <a:off x="4741936" y="5988208"/>
                <a:ext cx="41579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3840AB8-0AF0-4A8D-A12A-19BF199322E2}"/>
                </a:ext>
              </a:extLst>
            </p:cNvPr>
            <p:cNvSpPr/>
            <p:nvPr/>
          </p:nvSpPr>
          <p:spPr>
            <a:xfrm>
              <a:off x="9907478" y="5917286"/>
              <a:ext cx="661602" cy="2103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      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169990-29EA-452B-96EA-6DCAE27ECC8A}"/>
              </a:ext>
            </a:extLst>
          </p:cNvPr>
          <p:cNvGrpSpPr/>
          <p:nvPr/>
        </p:nvGrpSpPr>
        <p:grpSpPr>
          <a:xfrm>
            <a:off x="3794376" y="6124132"/>
            <a:ext cx="6781777" cy="210312"/>
            <a:chOff x="3794376" y="6146992"/>
            <a:chExt cx="6781777" cy="210312"/>
          </a:xfrm>
        </p:grpSpPr>
        <p:sp>
          <p:nvSpPr>
            <p:cNvPr id="161" name="Daptomycin">
              <a:extLst>
                <a:ext uri="{FF2B5EF4-FFF2-40B4-BE49-F238E27FC236}">
                  <a16:creationId xmlns:a16="http://schemas.microsoft.com/office/drawing/2014/main" id="{A31F603A-7BBF-419C-ADBA-E112751ADA1A}"/>
                </a:ext>
              </a:extLst>
            </p:cNvPr>
            <p:cNvSpPr/>
            <p:nvPr/>
          </p:nvSpPr>
          <p:spPr>
            <a:xfrm>
              <a:off x="3794376" y="6146992"/>
              <a:ext cx="3531337" cy="21031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Daptomycin </a:t>
              </a:r>
              <a:r>
                <a:rPr lang="en-US" sz="1200" i="1" dirty="0"/>
                <a:t>(no lungs)</a:t>
              </a:r>
            </a:p>
          </p:txBody>
        </p:sp>
        <p:sp>
          <p:nvSpPr>
            <p:cNvPr id="212" name="Daptomycin">
              <a:extLst>
                <a:ext uri="{FF2B5EF4-FFF2-40B4-BE49-F238E27FC236}">
                  <a16:creationId xmlns:a16="http://schemas.microsoft.com/office/drawing/2014/main" id="{E071EAEF-222D-45EB-84D0-3EC2E578BCBB}"/>
                </a:ext>
              </a:extLst>
            </p:cNvPr>
            <p:cNvSpPr/>
            <p:nvPr/>
          </p:nvSpPr>
          <p:spPr>
            <a:xfrm>
              <a:off x="9914551" y="6146992"/>
              <a:ext cx="661602" cy="21031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i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9DC9CC-1E28-4088-A48B-9BB9348DB163}"/>
              </a:ext>
            </a:extLst>
          </p:cNvPr>
          <p:cNvGrpSpPr/>
          <p:nvPr/>
        </p:nvGrpSpPr>
        <p:grpSpPr>
          <a:xfrm>
            <a:off x="3797819" y="6349888"/>
            <a:ext cx="6768027" cy="210311"/>
            <a:chOff x="3797819" y="6372748"/>
            <a:chExt cx="6768027" cy="210311"/>
          </a:xfrm>
        </p:grpSpPr>
        <p:sp>
          <p:nvSpPr>
            <p:cNvPr id="162" name="Linezolid">
              <a:extLst>
                <a:ext uri="{FF2B5EF4-FFF2-40B4-BE49-F238E27FC236}">
                  <a16:creationId xmlns:a16="http://schemas.microsoft.com/office/drawing/2014/main" id="{E28FFF4B-FC6B-41E9-8C9D-686E73085A13}"/>
                </a:ext>
              </a:extLst>
            </p:cNvPr>
            <p:cNvSpPr/>
            <p:nvPr/>
          </p:nvSpPr>
          <p:spPr>
            <a:xfrm>
              <a:off x="3797819" y="6377427"/>
              <a:ext cx="3521541" cy="2056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Linezolid</a:t>
              </a:r>
            </a:p>
          </p:txBody>
        </p:sp>
        <p:sp>
          <p:nvSpPr>
            <p:cNvPr id="213" name="Linezolid">
              <a:extLst>
                <a:ext uri="{FF2B5EF4-FFF2-40B4-BE49-F238E27FC236}">
                  <a16:creationId xmlns:a16="http://schemas.microsoft.com/office/drawing/2014/main" id="{CABDBCA7-D90A-4C83-8F71-744B307F03D7}"/>
                </a:ext>
              </a:extLst>
            </p:cNvPr>
            <p:cNvSpPr/>
            <p:nvPr/>
          </p:nvSpPr>
          <p:spPr>
            <a:xfrm>
              <a:off x="9907478" y="6372748"/>
              <a:ext cx="658368" cy="2103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56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1EC8009B-4434-4535-B0A2-A2A608066160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257" name="question 3">
            <a:hlinkClick r:id="rId13" action="ppaction://hlinksldjump"/>
            <a:extLst>
              <a:ext uri="{FF2B5EF4-FFF2-40B4-BE49-F238E27FC236}">
                <a16:creationId xmlns:a16="http://schemas.microsoft.com/office/drawing/2014/main" id="{1B867AC5-91C3-421B-944B-55B2E73AF273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258" name="Question 2">
            <a:hlinkClick r:id="rId14" action="ppaction://hlinksldjump"/>
            <a:extLst>
              <a:ext uri="{FF2B5EF4-FFF2-40B4-BE49-F238E27FC236}">
                <a16:creationId xmlns:a16="http://schemas.microsoft.com/office/drawing/2014/main" id="{36D45291-C9A6-4BFB-BE7B-490AD0E9EDA2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61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A1D4BE88-0887-4175-B37F-868293C507D8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cxnSp>
        <p:nvCxnSpPr>
          <p:cNvPr id="263" name="Connector: Elbow 262">
            <a:extLst>
              <a:ext uri="{FF2B5EF4-FFF2-40B4-BE49-F238E27FC236}">
                <a16:creationId xmlns:a16="http://schemas.microsoft.com/office/drawing/2014/main" id="{222ECA83-471B-4193-8AA8-053F9D632B09}"/>
              </a:ext>
            </a:extLst>
          </p:cNvPr>
          <p:cNvCxnSpPr>
            <a:endCxn id="261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" descr="Cursor with solid fill">
            <a:extLst>
              <a:ext uri="{FF2B5EF4-FFF2-40B4-BE49-F238E27FC236}">
                <a16:creationId xmlns:a16="http://schemas.microsoft.com/office/drawing/2014/main" id="{9021E873-590A-3D27-C633-FE35A12984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3" name="graphic" descr="Cursor with solid fill">
            <a:extLst>
              <a:ext uri="{FF2B5EF4-FFF2-40B4-BE49-F238E27FC236}">
                <a16:creationId xmlns:a16="http://schemas.microsoft.com/office/drawing/2014/main" id="{AE96E229-80B6-6CD2-4EDC-5EDBFC0B1C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5" name="graphic" descr="Cursor with solid fill">
            <a:extLst>
              <a:ext uri="{FF2B5EF4-FFF2-40B4-BE49-F238E27FC236}">
                <a16:creationId xmlns:a16="http://schemas.microsoft.com/office/drawing/2014/main" id="{4CC00DC5-E298-8635-7C96-D796FCF39D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8310" y="3366655"/>
            <a:ext cx="274320" cy="274320"/>
          </a:xfrm>
          <a:prstGeom prst="rect">
            <a:avLst/>
          </a:prstGeom>
        </p:spPr>
      </p:pic>
      <p:pic>
        <p:nvPicPr>
          <p:cNvPr id="6" name="graphic" descr="Cursor with solid fill">
            <a:extLst>
              <a:ext uri="{FF2B5EF4-FFF2-40B4-BE49-F238E27FC236}">
                <a16:creationId xmlns:a16="http://schemas.microsoft.com/office/drawing/2014/main" id="{C4A9C89D-CF92-F8BE-F997-F46E56CB1B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7" name="graphic" descr="Cursor with solid fill">
            <a:extLst>
              <a:ext uri="{FF2B5EF4-FFF2-40B4-BE49-F238E27FC236}">
                <a16:creationId xmlns:a16="http://schemas.microsoft.com/office/drawing/2014/main" id="{5F298BBF-5DC4-5790-02DD-878683E981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8E8C8215-4B06-0EA6-38CD-EFECF1CCA6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B3C413D1-DDDD-221D-AB9E-C4AD3699F6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09CFAF18-5A50-EC8B-3742-5FC7AAE3B6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2547" y="1426968"/>
            <a:ext cx="269100" cy="274320"/>
          </a:xfrm>
          <a:prstGeom prst="rect">
            <a:avLst/>
          </a:prstGeom>
        </p:spPr>
      </p:pic>
      <p:pic>
        <p:nvPicPr>
          <p:cNvPr id="12" name="graphic" descr="Cursor with solid fill">
            <a:extLst>
              <a:ext uri="{FF2B5EF4-FFF2-40B4-BE49-F238E27FC236}">
                <a16:creationId xmlns:a16="http://schemas.microsoft.com/office/drawing/2014/main" id="{91C07D50-B5D9-B049-EE28-A4A5263430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pic>
        <p:nvPicPr>
          <p:cNvPr id="13" name="graphic" descr="Cursor with solid fill">
            <a:extLst>
              <a:ext uri="{FF2B5EF4-FFF2-40B4-BE49-F238E27FC236}">
                <a16:creationId xmlns:a16="http://schemas.microsoft.com/office/drawing/2014/main" id="{2831ABBD-5300-1D4D-7545-3FE1A3E5F2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0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/>
      <p:bldP spid="232" grpId="0" animBg="1"/>
      <p:bldP spid="234" grpId="0"/>
      <p:bldP spid="236" grpId="0" animBg="1"/>
      <p:bldP spid="2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Table">
            <a:extLst>
              <a:ext uri="{FF2B5EF4-FFF2-40B4-BE49-F238E27FC236}">
                <a16:creationId xmlns:a16="http://schemas.microsoft.com/office/drawing/2014/main" id="{6A47DFFE-E82B-41B6-9088-A0DE70A132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20355" y="0"/>
            <a:ext cx="9398098" cy="6782939"/>
            <a:chOff x="23808" y="-304"/>
            <a:chExt cx="9398098" cy="6782939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9CED148-A8A2-4681-8D4A-318B4C9DD2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E90CB67-CF6C-4607-850A-E0D39E1867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27652F-ADFE-4124-BFC9-E228921B4E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FBA7FC-023A-4052-811D-D910D0D7E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A961848-C1A0-4F61-90F7-7C3155E415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2CEB585-CB86-4792-B22F-84D02FEC29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B07B388-3B73-441E-B967-2A56682275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E7C8AAB-227E-4EC8-851A-20A06A4A6F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B0EB5F-0216-40E3-A762-131D926C72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86B797E-FD96-48FE-911F-EA56B45E91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257D85-7314-43E4-B726-182EDBCF90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FF1683B-413C-48B7-88BF-ED76B71312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5DE0A4C-67A0-4E64-8BA8-5EE860742B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FB50F3C-2EEE-44B0-A623-AB9D0005A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8C1822E-A89E-4C48-9511-4B7797D93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EEB52C5-2B45-4D76-8C48-849E5069E7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5DC8230-E822-4D26-833A-49B9267194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C719A2-CE3A-49BA-BACF-133E6CEB7D7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44FC377-8B43-4506-BC17-AD9851DB0C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4" name="Left Bracket 93">
            <a:extLst>
              <a:ext uri="{FF2B5EF4-FFF2-40B4-BE49-F238E27FC236}">
                <a16:creationId xmlns:a16="http://schemas.microsoft.com/office/drawing/2014/main" id="{256666FC-57F3-4D4F-B3AB-3198BEE9CD95}"/>
              </a:ext>
            </a:extLst>
          </p:cNvPr>
          <p:cNvSpPr/>
          <p:nvPr/>
        </p:nvSpPr>
        <p:spPr>
          <a:xfrm>
            <a:off x="4618289" y="467716"/>
            <a:ext cx="45719" cy="1033807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78AA1DE-0311-48F6-AFC5-14659E5D44E4}"/>
              </a:ext>
            </a:extLst>
          </p:cNvPr>
          <p:cNvSpPr/>
          <p:nvPr/>
        </p:nvSpPr>
        <p:spPr>
          <a:xfrm>
            <a:off x="6077229" y="1502169"/>
            <a:ext cx="1245211" cy="210594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  <a:r>
              <a:rPr lang="en-US" sz="1200" baseline="30000" dirty="0"/>
              <a:t>st</a:t>
            </a:r>
            <a:r>
              <a:rPr lang="en-US" sz="1200" dirty="0"/>
              <a:t> G (cefazolin)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E78D59B-49CA-41BB-90FA-008C57058F26}"/>
              </a:ext>
            </a:extLst>
          </p:cNvPr>
          <p:cNvSpPr/>
          <p:nvPr/>
        </p:nvSpPr>
        <p:spPr>
          <a:xfrm>
            <a:off x="7321873" y="2271202"/>
            <a:ext cx="2868455" cy="2103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r>
              <a:rPr lang="en-US" sz="1200" baseline="30000" dirty="0">
                <a:solidFill>
                  <a:schemeClr val="tx1"/>
                </a:solidFill>
              </a:rPr>
              <a:t>rd</a:t>
            </a:r>
            <a:r>
              <a:rPr lang="en-US" sz="1200" dirty="0">
                <a:solidFill>
                  <a:schemeClr val="tx1"/>
                </a:solidFill>
              </a:rPr>
              <a:t> G (ceftazidime)</a:t>
            </a:r>
          </a:p>
        </p:txBody>
      </p:sp>
      <p:sp>
        <p:nvSpPr>
          <p:cNvPr id="97" name="Left Bracket 96">
            <a:extLst>
              <a:ext uri="{FF2B5EF4-FFF2-40B4-BE49-F238E27FC236}">
                <a16:creationId xmlns:a16="http://schemas.microsoft.com/office/drawing/2014/main" id="{8A752378-41F9-4753-B6C6-DB490E20C688}"/>
              </a:ext>
            </a:extLst>
          </p:cNvPr>
          <p:cNvSpPr/>
          <p:nvPr/>
        </p:nvSpPr>
        <p:spPr>
          <a:xfrm>
            <a:off x="5917624" y="1502169"/>
            <a:ext cx="45719" cy="1508928"/>
          </a:xfrm>
          <a:prstGeom prst="leftBracket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F2C980C-FC57-4340-A617-D51B61B46EAD}"/>
              </a:ext>
            </a:extLst>
          </p:cNvPr>
          <p:cNvGrpSpPr/>
          <p:nvPr/>
        </p:nvGrpSpPr>
        <p:grpSpPr>
          <a:xfrm>
            <a:off x="3798690" y="2784587"/>
            <a:ext cx="4748669" cy="210312"/>
            <a:chOff x="3798690" y="2768887"/>
            <a:chExt cx="4748669" cy="21031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E980F5A-513D-4F7E-8549-4BFD4384DD37}"/>
                </a:ext>
              </a:extLst>
            </p:cNvPr>
            <p:cNvSpPr/>
            <p:nvPr/>
          </p:nvSpPr>
          <p:spPr>
            <a:xfrm>
              <a:off x="6077229" y="2768887"/>
              <a:ext cx="2470130" cy="2103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5</a:t>
              </a:r>
              <a:r>
                <a:rPr lang="en-US" sz="1200" baseline="30000" dirty="0">
                  <a:solidFill>
                    <a:schemeClr val="tx1"/>
                  </a:solidFill>
                </a:rPr>
                <a:t>th</a:t>
              </a:r>
              <a:r>
                <a:rPr lang="en-US" sz="1200" dirty="0">
                  <a:solidFill>
                    <a:schemeClr val="tx1"/>
                  </a:solidFill>
                </a:rPr>
                <a:t> G </a:t>
              </a:r>
              <a:r>
                <a:rPr lang="en-US" sz="1200" dirty="0" err="1">
                  <a:solidFill>
                    <a:schemeClr val="tx1"/>
                  </a:solidFill>
                </a:rPr>
                <a:t>ceftaroline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F43211E-3430-4EFC-9F37-C7DBB78EE62A}"/>
                </a:ext>
              </a:extLst>
            </p:cNvPr>
            <p:cNvSpPr/>
            <p:nvPr/>
          </p:nvSpPr>
          <p:spPr>
            <a:xfrm>
              <a:off x="3798690" y="2768887"/>
              <a:ext cx="914520" cy="2103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05F21CF-CD96-4617-A09F-7E5109958697}"/>
              </a:ext>
            </a:extLst>
          </p:cNvPr>
          <p:cNvGrpSpPr/>
          <p:nvPr/>
        </p:nvGrpSpPr>
        <p:grpSpPr>
          <a:xfrm>
            <a:off x="6077228" y="1758448"/>
            <a:ext cx="4576155" cy="210312"/>
            <a:chOff x="6077228" y="1751984"/>
            <a:chExt cx="4576155" cy="210312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36C118E-E36F-4517-A474-324BCFDD6D3D}"/>
                </a:ext>
              </a:extLst>
            </p:cNvPr>
            <p:cNvSpPr/>
            <p:nvPr/>
          </p:nvSpPr>
          <p:spPr>
            <a:xfrm>
              <a:off x="6077228" y="1751984"/>
              <a:ext cx="1980083" cy="2103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  <a:r>
                <a:rPr lang="en-US" sz="1200" baseline="30000" dirty="0"/>
                <a:t>nd</a:t>
              </a:r>
              <a:r>
                <a:rPr lang="en-US" sz="1200" dirty="0"/>
                <a:t> G (</a:t>
              </a:r>
              <a:r>
                <a:rPr lang="en-US" sz="1200" dirty="0" err="1"/>
                <a:t>cefotetan</a:t>
              </a:r>
              <a:r>
                <a:rPr lang="en-US" sz="1200" dirty="0"/>
                <a:t>, cefuroxime)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A5AAC35-1651-4099-9885-13C344793346}"/>
                </a:ext>
              </a:extLst>
            </p:cNvPr>
            <p:cNvSpPr/>
            <p:nvPr/>
          </p:nvSpPr>
          <p:spPr>
            <a:xfrm>
              <a:off x="9912537" y="1751984"/>
              <a:ext cx="740846" cy="2103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9924E68-8552-4D35-80D6-991B8DAD79AD}"/>
              </a:ext>
            </a:extLst>
          </p:cNvPr>
          <p:cNvGrpSpPr/>
          <p:nvPr/>
        </p:nvGrpSpPr>
        <p:grpSpPr>
          <a:xfrm>
            <a:off x="6077229" y="2014020"/>
            <a:ext cx="4122526" cy="210312"/>
            <a:chOff x="6077229" y="2007556"/>
            <a:chExt cx="4122526" cy="210312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04D38A2-7EB4-4FEB-9E80-4C5CF11C1B09}"/>
                </a:ext>
              </a:extLst>
            </p:cNvPr>
            <p:cNvSpPr/>
            <p:nvPr/>
          </p:nvSpPr>
          <p:spPr>
            <a:xfrm>
              <a:off x="6077229" y="2007556"/>
              <a:ext cx="2475773" cy="21031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3</a:t>
              </a:r>
              <a:r>
                <a:rPr lang="en-US" sz="1200" baseline="30000" dirty="0">
                  <a:solidFill>
                    <a:schemeClr val="bg1"/>
                  </a:solidFill>
                </a:rPr>
                <a:t>rd</a:t>
              </a:r>
              <a:r>
                <a:rPr lang="en-US" sz="1200" dirty="0">
                  <a:solidFill>
                    <a:schemeClr val="bg1"/>
                  </a:solidFill>
                </a:rPr>
                <a:t> G (ceftriaxone, cefpodoxime)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46C4577-3276-4DB6-A3A8-7FEA2422D90F}"/>
                </a:ext>
              </a:extLst>
            </p:cNvPr>
            <p:cNvSpPr/>
            <p:nvPr/>
          </p:nvSpPr>
          <p:spPr>
            <a:xfrm>
              <a:off x="9916905" y="2007556"/>
              <a:ext cx="282850" cy="21031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B32F9C6-A63E-46E4-85CF-178A8CECBCCA}"/>
              </a:ext>
            </a:extLst>
          </p:cNvPr>
          <p:cNvSpPr/>
          <p:nvPr/>
        </p:nvSpPr>
        <p:spPr>
          <a:xfrm>
            <a:off x="6077229" y="2526591"/>
            <a:ext cx="4113100" cy="2103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r>
              <a:rPr lang="en-US" sz="1200" baseline="30000" dirty="0">
                <a:solidFill>
                  <a:schemeClr val="tx1"/>
                </a:solidFill>
              </a:rPr>
              <a:t>th</a:t>
            </a:r>
            <a:r>
              <a:rPr lang="en-US" sz="1200" dirty="0">
                <a:solidFill>
                  <a:schemeClr val="tx1"/>
                </a:solidFill>
              </a:rPr>
              <a:t> G cefepime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0CD00A8-1562-4A4D-B045-A15BC4544A48}"/>
              </a:ext>
            </a:extLst>
          </p:cNvPr>
          <p:cNvSpPr/>
          <p:nvPr/>
        </p:nvSpPr>
        <p:spPr>
          <a:xfrm>
            <a:off x="6076557" y="707268"/>
            <a:ext cx="1233036" cy="21031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Nafcillin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A6C38C6-897A-4F82-867A-45C7DC769A94}"/>
              </a:ext>
            </a:extLst>
          </p:cNvPr>
          <p:cNvSpPr/>
          <p:nvPr/>
        </p:nvSpPr>
        <p:spPr>
          <a:xfrm>
            <a:off x="5514897" y="1221788"/>
            <a:ext cx="5606163" cy="210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Piperacillin-tazobactam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9C5300A-24A3-4F9F-AF77-6B2D13B58C3B}"/>
              </a:ext>
            </a:extLst>
          </p:cNvPr>
          <p:cNvGrpSpPr/>
          <p:nvPr/>
        </p:nvGrpSpPr>
        <p:grpSpPr>
          <a:xfrm>
            <a:off x="5514898" y="959911"/>
            <a:ext cx="5627739" cy="211582"/>
            <a:chOff x="5514898" y="986278"/>
            <a:chExt cx="5627739" cy="21158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E58A538-F746-4E17-A9BB-91111EEF5CE3}"/>
                </a:ext>
              </a:extLst>
            </p:cNvPr>
            <p:cNvSpPr/>
            <p:nvPr/>
          </p:nvSpPr>
          <p:spPr>
            <a:xfrm>
              <a:off x="5514898" y="987548"/>
              <a:ext cx="3017520" cy="210312"/>
            </a:xfrm>
            <a:prstGeom prst="rect">
              <a:avLst/>
            </a:prstGeom>
            <a:grp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Ampicillin/amoxicillin + </a:t>
              </a:r>
              <a:r>
                <a:rPr lang="el-GR" sz="1200" dirty="0"/>
                <a:t>β</a:t>
              </a:r>
              <a:r>
                <a:rPr lang="en-US" sz="1200" dirty="0">
                  <a:solidFill>
                    <a:schemeClr val="bg1"/>
                  </a:solidFill>
                </a:rPr>
                <a:t>-lactamase inhibitor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FCC8CBC-C2B3-415E-BA08-D182FAAE6720}"/>
                </a:ext>
              </a:extLst>
            </p:cNvPr>
            <p:cNvSpPr/>
            <p:nvPr/>
          </p:nvSpPr>
          <p:spPr>
            <a:xfrm>
              <a:off x="9926346" y="986278"/>
              <a:ext cx="1216291" cy="210312"/>
            </a:xfrm>
            <a:prstGeom prst="rect">
              <a:avLst/>
            </a:prstGeom>
            <a:grp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78F1D3D-0FB2-4454-BFC2-9D75FE281BE2}"/>
              </a:ext>
            </a:extLst>
          </p:cNvPr>
          <p:cNvGrpSpPr/>
          <p:nvPr/>
        </p:nvGrpSpPr>
        <p:grpSpPr>
          <a:xfrm>
            <a:off x="5514897" y="463861"/>
            <a:ext cx="5026679" cy="210312"/>
            <a:chOff x="5514897" y="463861"/>
            <a:chExt cx="5026679" cy="21031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080DA26-A547-4362-811F-BF456F4D626A}"/>
                </a:ext>
              </a:extLst>
            </p:cNvPr>
            <p:cNvGrpSpPr/>
            <p:nvPr/>
          </p:nvGrpSpPr>
          <p:grpSpPr>
            <a:xfrm>
              <a:off x="5514897" y="463861"/>
              <a:ext cx="5026679" cy="210312"/>
              <a:chOff x="5528666" y="463861"/>
              <a:chExt cx="5026679" cy="210312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692C7EC-FE00-416A-AFFC-BCA0C8FBA57D}"/>
                  </a:ext>
                </a:extLst>
              </p:cNvPr>
              <p:cNvSpPr/>
              <p:nvPr/>
            </p:nvSpPr>
            <p:spPr>
              <a:xfrm>
                <a:off x="5528666" y="463862"/>
                <a:ext cx="1321635" cy="203804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Penicillin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0DEA528F-1A93-4429-8A2B-29005FEB8364}"/>
                  </a:ext>
                </a:extLst>
              </p:cNvPr>
              <p:cNvSpPr/>
              <p:nvPr/>
            </p:nvSpPr>
            <p:spPr>
              <a:xfrm>
                <a:off x="9933553" y="463861"/>
                <a:ext cx="621792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1D0AF6A-5B0B-4FE5-9C3A-D55DBB12A482}"/>
                </a:ext>
              </a:extLst>
            </p:cNvPr>
            <p:cNvSpPr/>
            <p:nvPr/>
          </p:nvSpPr>
          <p:spPr>
            <a:xfrm>
              <a:off x="7330148" y="463861"/>
              <a:ext cx="88426" cy="21031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42" name="Penicillins">
            <a:hlinkClick r:id="rId3" action="ppaction://hlinksldjump"/>
            <a:extLst>
              <a:ext uri="{FF2B5EF4-FFF2-40B4-BE49-F238E27FC236}">
                <a16:creationId xmlns:a16="http://schemas.microsoft.com/office/drawing/2014/main" id="{716DF561-4FEB-4315-A6B2-1E340912346A}"/>
              </a:ext>
            </a:extLst>
          </p:cNvPr>
          <p:cNvSpPr txBox="1"/>
          <p:nvPr/>
        </p:nvSpPr>
        <p:spPr>
          <a:xfrm>
            <a:off x="3123514" y="831225"/>
            <a:ext cx="118872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Penicillins</a:t>
            </a:r>
            <a:endParaRPr lang="en-US" sz="1600" b="1" dirty="0"/>
          </a:p>
        </p:txBody>
      </p:sp>
      <p:sp>
        <p:nvSpPr>
          <p:cNvPr id="144" name="Cephalosporins">
            <a:hlinkClick r:id="rId4" action="ppaction://hlinksldjump"/>
            <a:extLst>
              <a:ext uri="{FF2B5EF4-FFF2-40B4-BE49-F238E27FC236}">
                <a16:creationId xmlns:a16="http://schemas.microsoft.com/office/drawing/2014/main" id="{E6D42580-7393-4B40-8CCF-07440BD7CB39}"/>
              </a:ext>
            </a:extLst>
          </p:cNvPr>
          <p:cNvSpPr txBox="1"/>
          <p:nvPr/>
        </p:nvSpPr>
        <p:spPr>
          <a:xfrm>
            <a:off x="3123514" y="1835259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Cephalosporins</a:t>
            </a:r>
          </a:p>
        </p:txBody>
      </p:sp>
      <p:sp>
        <p:nvSpPr>
          <p:cNvPr id="157" name="Left Bracket 156">
            <a:extLst>
              <a:ext uri="{FF2B5EF4-FFF2-40B4-BE49-F238E27FC236}">
                <a16:creationId xmlns:a16="http://schemas.microsoft.com/office/drawing/2014/main" id="{D0F7C8C6-91E6-48C0-938A-E1FE33A802EE}"/>
              </a:ext>
            </a:extLst>
          </p:cNvPr>
          <p:cNvSpPr/>
          <p:nvPr/>
        </p:nvSpPr>
        <p:spPr>
          <a:xfrm>
            <a:off x="5603116" y="2992105"/>
            <a:ext cx="82925" cy="612634"/>
          </a:xfrm>
          <a:prstGeom prst="leftBracket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6801B3F-6652-4BDF-85DB-4D34EAFF1774}"/>
              </a:ext>
            </a:extLst>
          </p:cNvPr>
          <p:cNvGrpSpPr/>
          <p:nvPr/>
        </p:nvGrpSpPr>
        <p:grpSpPr>
          <a:xfrm>
            <a:off x="5761189" y="3063919"/>
            <a:ext cx="6296615" cy="210312"/>
            <a:chOff x="4364645" y="3301012"/>
            <a:chExt cx="8147854" cy="216295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96270AC-563B-4F9E-949E-776805D51DA9}"/>
                </a:ext>
              </a:extLst>
            </p:cNvPr>
            <p:cNvSpPr/>
            <p:nvPr/>
          </p:nvSpPr>
          <p:spPr>
            <a:xfrm>
              <a:off x="4364645" y="3301012"/>
              <a:ext cx="3208568" cy="216295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Ertapenem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B80DFFE-D5D5-4BC6-8168-5884D31B1D6B}"/>
                </a:ext>
              </a:extLst>
            </p:cNvPr>
            <p:cNvSpPr/>
            <p:nvPr/>
          </p:nvSpPr>
          <p:spPr>
            <a:xfrm>
              <a:off x="9730945" y="3305677"/>
              <a:ext cx="2781554" cy="202828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Ertapenem</a:t>
              </a:r>
            </a:p>
          </p:txBody>
        </p:sp>
      </p:grp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C7AE025-EDCF-4547-AF6B-DFE02E0FE1B2}"/>
              </a:ext>
            </a:extLst>
          </p:cNvPr>
          <p:cNvSpPr/>
          <p:nvPr/>
        </p:nvSpPr>
        <p:spPr>
          <a:xfrm>
            <a:off x="5761188" y="3314971"/>
            <a:ext cx="6296615" cy="2103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Imipenem, meropenem, </a:t>
            </a:r>
            <a:r>
              <a:rPr lang="en-US" sz="1200" dirty="0" err="1">
                <a:solidFill>
                  <a:schemeClr val="tx1"/>
                </a:solidFill>
              </a:rPr>
              <a:t>doripenem</a:t>
            </a: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F29C3F-67C9-42A7-868F-DF59016EFE19}"/>
              </a:ext>
            </a:extLst>
          </p:cNvPr>
          <p:cNvGrpSpPr/>
          <p:nvPr/>
        </p:nvGrpSpPr>
        <p:grpSpPr>
          <a:xfrm>
            <a:off x="2789382" y="3853269"/>
            <a:ext cx="7497870" cy="207971"/>
            <a:chOff x="2789382" y="3956403"/>
            <a:chExt cx="7497870" cy="207971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E43EA88D-44E1-42E6-B0E5-E78C6845DA27}"/>
                </a:ext>
              </a:extLst>
            </p:cNvPr>
            <p:cNvSpPr/>
            <p:nvPr/>
          </p:nvSpPr>
          <p:spPr>
            <a:xfrm>
              <a:off x="5623812" y="3956403"/>
              <a:ext cx="4663440" cy="20797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Levofloxacin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38BE65C-3F1A-42D5-9814-877D6554C761}"/>
                </a:ext>
              </a:extLst>
            </p:cNvPr>
            <p:cNvSpPr/>
            <p:nvPr/>
          </p:nvSpPr>
          <p:spPr>
            <a:xfrm>
              <a:off x="2789382" y="3956403"/>
              <a:ext cx="1004507" cy="20797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679AE77-2DF7-4B71-BD7C-D43A0BD889CE}"/>
              </a:ext>
            </a:extLst>
          </p:cNvPr>
          <p:cNvGrpSpPr/>
          <p:nvPr/>
        </p:nvGrpSpPr>
        <p:grpSpPr>
          <a:xfrm>
            <a:off x="10640884" y="3620428"/>
            <a:ext cx="1006466" cy="444579"/>
            <a:chOff x="10650420" y="3674500"/>
            <a:chExt cx="1087663" cy="444579"/>
          </a:xfrm>
        </p:grpSpPr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ED60FE2-389D-4C53-AFCF-62831DFB8C70}"/>
                </a:ext>
              </a:extLst>
            </p:cNvPr>
            <p:cNvSpPr txBox="1"/>
            <p:nvPr/>
          </p:nvSpPr>
          <p:spPr>
            <a:xfrm>
              <a:off x="10743028" y="3689484"/>
              <a:ext cx="995055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Urinary FQ</a:t>
              </a:r>
            </a:p>
          </p:txBody>
        </p:sp>
        <p:sp>
          <p:nvSpPr>
            <p:cNvPr id="187" name="Left Bracket 186">
              <a:extLst>
                <a:ext uri="{FF2B5EF4-FFF2-40B4-BE49-F238E27FC236}">
                  <a16:creationId xmlns:a16="http://schemas.microsoft.com/office/drawing/2014/main" id="{85B4FE8C-40E9-4744-AB88-3906A6B0D340}"/>
                </a:ext>
              </a:extLst>
            </p:cNvPr>
            <p:cNvSpPr/>
            <p:nvPr/>
          </p:nvSpPr>
          <p:spPr>
            <a:xfrm flipH="1">
              <a:off x="10650420" y="3674500"/>
              <a:ext cx="46927" cy="444579"/>
            </a:xfrm>
            <a:prstGeom prst="leftBracke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5B9A731-26AF-48A1-ADC4-E7FE0202CD22}"/>
              </a:ext>
            </a:extLst>
          </p:cNvPr>
          <p:cNvGrpSpPr/>
          <p:nvPr/>
        </p:nvGrpSpPr>
        <p:grpSpPr>
          <a:xfrm>
            <a:off x="2789382" y="3600616"/>
            <a:ext cx="7111326" cy="210312"/>
            <a:chOff x="2789382" y="3638716"/>
            <a:chExt cx="7111326" cy="21031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DD304D6-942E-41CD-8216-8E245E2B2372}"/>
                </a:ext>
              </a:extLst>
            </p:cNvPr>
            <p:cNvGrpSpPr/>
            <p:nvPr/>
          </p:nvGrpSpPr>
          <p:grpSpPr>
            <a:xfrm>
              <a:off x="2789382" y="3638716"/>
              <a:ext cx="7111326" cy="210312"/>
              <a:chOff x="2789382" y="3648143"/>
              <a:chExt cx="7111326" cy="210312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3943134A-6080-4A92-A2BB-0C42C4FC321B}"/>
                  </a:ext>
                </a:extLst>
              </p:cNvPr>
              <p:cNvSpPr/>
              <p:nvPr/>
            </p:nvSpPr>
            <p:spPr>
              <a:xfrm>
                <a:off x="2789382" y="3648143"/>
                <a:ext cx="1004506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59954CA-5284-4FD0-B8BA-2B48F8AEC4D6}"/>
                  </a:ext>
                </a:extLst>
              </p:cNvPr>
              <p:cNvSpPr/>
              <p:nvPr/>
            </p:nvSpPr>
            <p:spPr>
              <a:xfrm>
                <a:off x="6855756" y="3648143"/>
                <a:ext cx="3044952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Ciprofloxacin</a:t>
                </a:r>
              </a:p>
            </p:txBody>
          </p:sp>
        </p:grp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F28AF5DA-3CCC-420A-B4EA-4D3209F216B8}"/>
                </a:ext>
              </a:extLst>
            </p:cNvPr>
            <p:cNvSpPr/>
            <p:nvPr/>
          </p:nvSpPr>
          <p:spPr>
            <a:xfrm>
              <a:off x="5887436" y="3638716"/>
              <a:ext cx="169027" cy="21031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1" name="Carbapenems" hidden="1">
            <a:hlinkClick r:id="rId5" action="ppaction://hlinksldjump"/>
            <a:extLst>
              <a:ext uri="{FF2B5EF4-FFF2-40B4-BE49-F238E27FC236}">
                <a16:creationId xmlns:a16="http://schemas.microsoft.com/office/drawing/2014/main" id="{E32432C3-3567-4FA3-AC4D-CFAE838CC70B}"/>
              </a:ext>
            </a:extLst>
          </p:cNvPr>
          <p:cNvSpPr txBox="1"/>
          <p:nvPr/>
        </p:nvSpPr>
        <p:spPr>
          <a:xfrm>
            <a:off x="3128877" y="3126022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sp>
        <p:nvSpPr>
          <p:cNvPr id="204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4F580295-B341-4564-81A3-C4C8AE1EC905}"/>
              </a:ext>
            </a:extLst>
          </p:cNvPr>
          <p:cNvSpPr txBox="1"/>
          <p:nvPr/>
        </p:nvSpPr>
        <p:spPr>
          <a:xfrm>
            <a:off x="3113476" y="3107923"/>
            <a:ext cx="158969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Carbapenems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F5488C-7108-4162-891C-AA912065B928}"/>
              </a:ext>
            </a:extLst>
          </p:cNvPr>
          <p:cNvGrpSpPr/>
          <p:nvPr/>
        </p:nvGrpSpPr>
        <p:grpSpPr>
          <a:xfrm>
            <a:off x="10767184" y="3889462"/>
            <a:ext cx="1205122" cy="521626"/>
            <a:chOff x="10767184" y="3889462"/>
            <a:chExt cx="1205122" cy="521626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BDB26CF-9331-47B4-AB8D-65B46AAAEDF1}"/>
                </a:ext>
              </a:extLst>
            </p:cNvPr>
            <p:cNvSpPr txBox="1"/>
            <p:nvPr/>
          </p:nvSpPr>
          <p:spPr>
            <a:xfrm>
              <a:off x="10767184" y="4002282"/>
              <a:ext cx="1205122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Respiratory FQ</a:t>
              </a:r>
            </a:p>
          </p:txBody>
        </p:sp>
        <p:sp>
          <p:nvSpPr>
            <p:cNvPr id="186" name="Left Bracket 185">
              <a:extLst>
                <a:ext uri="{FF2B5EF4-FFF2-40B4-BE49-F238E27FC236}">
                  <a16:creationId xmlns:a16="http://schemas.microsoft.com/office/drawing/2014/main" id="{3F2E9676-8A89-4CE7-B9F4-52FA576C782E}"/>
                </a:ext>
              </a:extLst>
            </p:cNvPr>
            <p:cNvSpPr/>
            <p:nvPr/>
          </p:nvSpPr>
          <p:spPr>
            <a:xfrm flipH="1">
              <a:off x="10788124" y="3889462"/>
              <a:ext cx="45719" cy="521626"/>
            </a:xfrm>
            <a:prstGeom prst="leftBracket">
              <a:avLst/>
            </a:pr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0782DF6-BCC1-49AB-9CFC-271D6C1E1930}"/>
              </a:ext>
            </a:extLst>
          </p:cNvPr>
          <p:cNvGrpSpPr/>
          <p:nvPr/>
        </p:nvGrpSpPr>
        <p:grpSpPr>
          <a:xfrm>
            <a:off x="2793300" y="4108287"/>
            <a:ext cx="7955090" cy="210317"/>
            <a:chOff x="96844" y="4515150"/>
            <a:chExt cx="10308994" cy="253536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8687F61-ECE5-4543-B287-ADD1B585E510}"/>
                </a:ext>
              </a:extLst>
            </p:cNvPr>
            <p:cNvSpPr/>
            <p:nvPr/>
          </p:nvSpPr>
          <p:spPr>
            <a:xfrm>
              <a:off x="3478702" y="4515151"/>
              <a:ext cx="4015189" cy="253531"/>
            </a:xfrm>
            <a:prstGeom prst="rect">
              <a:avLst/>
            </a:prstGeom>
            <a:grp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Moxifloxacin </a:t>
              </a:r>
              <a:r>
                <a:rPr lang="en-US" sz="1200" i="1" dirty="0">
                  <a:solidFill>
                    <a:schemeClr val="tx1"/>
                  </a:solidFill>
                </a:rPr>
                <a:t>(no urine)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4875C500-D518-44DC-A8E9-F55B3DFA5149}"/>
                </a:ext>
              </a:extLst>
            </p:cNvPr>
            <p:cNvSpPr/>
            <p:nvPr/>
          </p:nvSpPr>
          <p:spPr>
            <a:xfrm>
              <a:off x="9339365" y="4515155"/>
              <a:ext cx="1066473" cy="253531"/>
            </a:xfrm>
            <a:prstGeom prst="rect">
              <a:avLst/>
            </a:prstGeom>
            <a:grp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D3BCFBE-D20D-4A41-AB69-87C8C2AFCAFA}"/>
                </a:ext>
              </a:extLst>
            </p:cNvPr>
            <p:cNvSpPr/>
            <p:nvPr/>
          </p:nvSpPr>
          <p:spPr>
            <a:xfrm>
              <a:off x="96844" y="4515150"/>
              <a:ext cx="1303467" cy="253531"/>
            </a:xfrm>
            <a:prstGeom prst="rect">
              <a:avLst/>
            </a:prstGeom>
            <a:grp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9" name="Carbapenems">
            <a:hlinkClick r:id="rId5" action="ppaction://hlinksldjump"/>
            <a:extLst>
              <a:ext uri="{FF2B5EF4-FFF2-40B4-BE49-F238E27FC236}">
                <a16:creationId xmlns:a16="http://schemas.microsoft.com/office/drawing/2014/main" id="{FD0B23BB-DAAD-4E69-8591-A10E525FDEBE}"/>
              </a:ext>
            </a:extLst>
          </p:cNvPr>
          <p:cNvSpPr txBox="1"/>
          <p:nvPr/>
        </p:nvSpPr>
        <p:spPr>
          <a:xfrm>
            <a:off x="3900430" y="3804717"/>
            <a:ext cx="57290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FQ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D9983D-6A9B-4D94-BE03-63BD04DBAE9B}"/>
              </a:ext>
            </a:extLst>
          </p:cNvPr>
          <p:cNvGrpSpPr/>
          <p:nvPr/>
        </p:nvGrpSpPr>
        <p:grpSpPr>
          <a:xfrm>
            <a:off x="7313236" y="4375214"/>
            <a:ext cx="4105747" cy="210312"/>
            <a:chOff x="7313236" y="4659459"/>
            <a:chExt cx="4105747" cy="210312"/>
          </a:xfrm>
        </p:grpSpPr>
        <p:sp>
          <p:nvSpPr>
            <p:cNvPr id="147" name="Aminoglycoside">
              <a:extLst>
                <a:ext uri="{FF2B5EF4-FFF2-40B4-BE49-F238E27FC236}">
                  <a16:creationId xmlns:a16="http://schemas.microsoft.com/office/drawing/2014/main" id="{E977554B-4A49-4297-8B6E-3F6B0D2EBB66}"/>
                </a:ext>
              </a:extLst>
            </p:cNvPr>
            <p:cNvSpPr/>
            <p:nvPr/>
          </p:nvSpPr>
          <p:spPr>
            <a:xfrm>
              <a:off x="7313236" y="4659459"/>
              <a:ext cx="2601315" cy="210312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Aminoglycosides</a:t>
              </a:r>
            </a:p>
          </p:txBody>
        </p:sp>
        <p:sp>
          <p:nvSpPr>
            <p:cNvPr id="152" name="Aztreonam">
              <a:extLst>
                <a:ext uri="{FF2B5EF4-FFF2-40B4-BE49-F238E27FC236}">
                  <a16:creationId xmlns:a16="http://schemas.microsoft.com/office/drawing/2014/main" id="{D4E4402C-3BCF-46AB-8B3B-B487D3B9BD58}"/>
                </a:ext>
              </a:extLst>
            </p:cNvPr>
            <p:cNvSpPr/>
            <p:nvPr/>
          </p:nvSpPr>
          <p:spPr>
            <a:xfrm>
              <a:off x="11153470" y="4659459"/>
              <a:ext cx="265513" cy="210312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54" name="Aztreonam">
            <a:extLst>
              <a:ext uri="{FF2B5EF4-FFF2-40B4-BE49-F238E27FC236}">
                <a16:creationId xmlns:a16="http://schemas.microsoft.com/office/drawing/2014/main" id="{295D756E-F55E-40D4-B3F9-E406097DE8E9}"/>
              </a:ext>
            </a:extLst>
          </p:cNvPr>
          <p:cNvSpPr/>
          <p:nvPr/>
        </p:nvSpPr>
        <p:spPr>
          <a:xfrm>
            <a:off x="7313255" y="4613573"/>
            <a:ext cx="2600491" cy="210312"/>
          </a:xfrm>
          <a:prstGeom prst="rect">
            <a:avLst/>
          </a:prstGeom>
          <a:solidFill>
            <a:srgbClr val="481F67"/>
          </a:solidFill>
          <a:ln>
            <a:solidFill>
              <a:srgbClr val="7030A0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Aztreonam (aerobes only)</a:t>
            </a:r>
          </a:p>
        </p:txBody>
      </p:sp>
      <p:sp>
        <p:nvSpPr>
          <p:cNvPr id="140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EBEBEEE3-207D-4B0F-95FB-635D17E4B344}"/>
              </a:ext>
            </a:extLst>
          </p:cNvPr>
          <p:cNvSpPr txBox="1"/>
          <p:nvPr/>
        </p:nvSpPr>
        <p:spPr>
          <a:xfrm>
            <a:off x="3900430" y="4442566"/>
            <a:ext cx="1200829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Anti-PsA</a:t>
            </a:r>
          </a:p>
        </p:txBody>
      </p:sp>
      <p:grpSp>
        <p:nvGrpSpPr>
          <p:cNvPr id="179" name="Bactrim">
            <a:extLst>
              <a:ext uri="{FF2B5EF4-FFF2-40B4-BE49-F238E27FC236}">
                <a16:creationId xmlns:a16="http://schemas.microsoft.com/office/drawing/2014/main" id="{B4ACE4E0-51D3-429C-AC97-3AC143E35F6C}"/>
              </a:ext>
            </a:extLst>
          </p:cNvPr>
          <p:cNvGrpSpPr/>
          <p:nvPr/>
        </p:nvGrpSpPr>
        <p:grpSpPr>
          <a:xfrm>
            <a:off x="3810815" y="5387693"/>
            <a:ext cx="4731753" cy="211915"/>
            <a:chOff x="1182836" y="6016658"/>
            <a:chExt cx="6122914" cy="214315"/>
          </a:xfrm>
          <a:solidFill>
            <a:srgbClr val="FF0000"/>
          </a:solidFill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3020B416-9A52-4166-B591-7134C65BDF76}"/>
                </a:ext>
              </a:extLst>
            </p:cNvPr>
            <p:cNvSpPr/>
            <p:nvPr/>
          </p:nvSpPr>
          <p:spPr>
            <a:xfrm>
              <a:off x="4611641" y="6018280"/>
              <a:ext cx="2694109" cy="21269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TMP-SMX (</a:t>
              </a:r>
              <a:r>
                <a:rPr lang="en-US" sz="1200" i="1" dirty="0"/>
                <a:t>↓ Strep</a:t>
              </a:r>
              <a:r>
                <a:rPr lang="en-US" sz="1200" dirty="0"/>
                <a:t>)</a:t>
              </a:r>
              <a:r>
                <a:rPr lang="en-US" sz="1200" i="1" dirty="0"/>
                <a:t> 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7DFD0B13-704C-41D8-847B-3BDB711FEB96}"/>
                </a:ext>
              </a:extLst>
            </p:cNvPr>
            <p:cNvSpPr/>
            <p:nvPr/>
          </p:nvSpPr>
          <p:spPr>
            <a:xfrm>
              <a:off x="1182836" y="6016658"/>
              <a:ext cx="825287" cy="212693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82" name="Left Bracket 181">
            <a:extLst>
              <a:ext uri="{FF2B5EF4-FFF2-40B4-BE49-F238E27FC236}">
                <a16:creationId xmlns:a16="http://schemas.microsoft.com/office/drawing/2014/main" id="{48DB4E6C-8B65-4512-AAA8-AE441B830268}"/>
              </a:ext>
            </a:extLst>
          </p:cNvPr>
          <p:cNvSpPr/>
          <p:nvPr/>
        </p:nvSpPr>
        <p:spPr>
          <a:xfrm flipH="1">
            <a:off x="10748390" y="5170972"/>
            <a:ext cx="45719" cy="737339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084273-F253-49E8-82DE-068B8B778363}"/>
              </a:ext>
            </a:extLst>
          </p:cNvPr>
          <p:cNvGrpSpPr/>
          <p:nvPr/>
        </p:nvGrpSpPr>
        <p:grpSpPr>
          <a:xfrm>
            <a:off x="3797730" y="5156781"/>
            <a:ext cx="6763766" cy="210312"/>
            <a:chOff x="3797728" y="5322208"/>
            <a:chExt cx="6763766" cy="210312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C3A685D-1090-4154-B17B-0A41B4CA9C78}"/>
                </a:ext>
              </a:extLst>
            </p:cNvPr>
            <p:cNvSpPr/>
            <p:nvPr/>
          </p:nvSpPr>
          <p:spPr>
            <a:xfrm>
              <a:off x="6083058" y="5322208"/>
              <a:ext cx="1906615" cy="210312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       Clindamycin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819445D-315D-4485-9A9D-299B5959C211}"/>
                </a:ext>
              </a:extLst>
            </p:cNvPr>
            <p:cNvSpPr/>
            <p:nvPr/>
          </p:nvSpPr>
          <p:spPr>
            <a:xfrm>
              <a:off x="3797728" y="5322208"/>
              <a:ext cx="531075" cy="2103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74BAD646-BD66-42B7-8B2C-111B1CA38F98}"/>
                </a:ext>
              </a:extLst>
            </p:cNvPr>
            <p:cNvSpPr/>
            <p:nvPr/>
          </p:nvSpPr>
          <p:spPr>
            <a:xfrm>
              <a:off x="9921415" y="5322208"/>
              <a:ext cx="640079" cy="2103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55" name="Carbapenems">
            <a:hlinkClick r:id="rId8" action="ppaction://hlinksldjump"/>
            <a:extLst>
              <a:ext uri="{FF2B5EF4-FFF2-40B4-BE49-F238E27FC236}">
                <a16:creationId xmlns:a16="http://schemas.microsoft.com/office/drawing/2014/main" id="{90E936AA-A309-44B4-864D-0B89C3CA306D}"/>
              </a:ext>
            </a:extLst>
          </p:cNvPr>
          <p:cNvSpPr txBox="1"/>
          <p:nvPr/>
        </p:nvSpPr>
        <p:spPr>
          <a:xfrm>
            <a:off x="10723770" y="4749874"/>
            <a:ext cx="12088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Macrolides</a:t>
            </a:r>
          </a:p>
        </p:txBody>
      </p:sp>
      <p:pic>
        <p:nvPicPr>
          <p:cNvPr id="219" name="graphic" descr="Cursor with solid fill">
            <a:extLst>
              <a:ext uri="{FF2B5EF4-FFF2-40B4-BE49-F238E27FC236}">
                <a16:creationId xmlns:a16="http://schemas.microsoft.com/office/drawing/2014/main" id="{8600B5D6-A89E-40C6-B0C3-E5AEEFA793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4983122"/>
            <a:ext cx="274320" cy="274320"/>
          </a:xfrm>
          <a:prstGeom prst="rect">
            <a:avLst/>
          </a:prstGeom>
        </p:spPr>
      </p:pic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C131F6B-B053-4195-B02F-9FD71DE56C74}"/>
              </a:ext>
            </a:extLst>
          </p:cNvPr>
          <p:cNvGrpSpPr/>
          <p:nvPr/>
        </p:nvGrpSpPr>
        <p:grpSpPr>
          <a:xfrm>
            <a:off x="2786566" y="4857945"/>
            <a:ext cx="7766856" cy="274320"/>
            <a:chOff x="2789382" y="4911828"/>
            <a:chExt cx="7766856" cy="274320"/>
          </a:xfrm>
        </p:grpSpPr>
        <p:sp>
          <p:nvSpPr>
            <p:cNvPr id="221" name="Rectangle: Rounded Corners 172">
              <a:extLst>
                <a:ext uri="{FF2B5EF4-FFF2-40B4-BE49-F238E27FC236}">
                  <a16:creationId xmlns:a16="http://schemas.microsoft.com/office/drawing/2014/main" id="{CACFC8CD-46FB-4B29-B1A3-B35F62CF6D14}"/>
                </a:ext>
              </a:extLst>
            </p:cNvPr>
            <p:cNvSpPr/>
            <p:nvPr/>
          </p:nvSpPr>
          <p:spPr>
            <a:xfrm>
              <a:off x="6090129" y="4940109"/>
              <a:ext cx="1886693" cy="2103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2E75B6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/>
                <a:t>   </a:t>
              </a:r>
              <a:r>
                <a:rPr lang="en-US" sz="1200" dirty="0"/>
                <a:t>Macrolides</a:t>
              </a:r>
              <a:r>
                <a:rPr lang="en-US" sz="1200" i="1" dirty="0"/>
                <a:t> (↓ Strep)  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9C10C38-A9FD-4D8A-90C7-8C7DC87ECE11}"/>
                </a:ext>
              </a:extLst>
            </p:cNvPr>
            <p:cNvSpPr/>
            <p:nvPr/>
          </p:nvSpPr>
          <p:spPr>
            <a:xfrm>
              <a:off x="2789382" y="4940109"/>
              <a:ext cx="1005840" cy="2103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rgbClr val="2E75B6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AA6759B7-F388-46C5-9F58-A74F194065FF}"/>
                </a:ext>
              </a:extLst>
            </p:cNvPr>
            <p:cNvSpPr/>
            <p:nvPr/>
          </p:nvSpPr>
          <p:spPr>
            <a:xfrm>
              <a:off x="6128291" y="4911828"/>
              <a:ext cx="39613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C3C5128E-CBA5-4EFA-920E-73EF1F574745}"/>
                </a:ext>
              </a:extLst>
            </p:cNvPr>
            <p:cNvSpPr/>
            <p:nvPr/>
          </p:nvSpPr>
          <p:spPr>
            <a:xfrm>
              <a:off x="6225822" y="4911828"/>
              <a:ext cx="35331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AA0D09EB-4603-4713-A1A2-9CD204FC8EEA}"/>
                </a:ext>
              </a:extLst>
            </p:cNvPr>
            <p:cNvSpPr/>
            <p:nvPr/>
          </p:nvSpPr>
          <p:spPr>
            <a:xfrm>
              <a:off x="6319072" y="4911828"/>
              <a:ext cx="35331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34282EB-988C-4B60-8A8D-1FB3EEFFDCB7}"/>
                </a:ext>
              </a:extLst>
            </p:cNvPr>
            <p:cNvSpPr/>
            <p:nvPr/>
          </p:nvSpPr>
          <p:spPr>
            <a:xfrm>
              <a:off x="9916158" y="4940109"/>
              <a:ext cx="640080" cy="2103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rgbClr val="2E75B6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53" name="TextBox 152">
            <a:hlinkClick r:id="rId11" action="ppaction://hlinksldjump"/>
            <a:extLst>
              <a:ext uri="{FF2B5EF4-FFF2-40B4-BE49-F238E27FC236}">
                <a16:creationId xmlns:a16="http://schemas.microsoft.com/office/drawing/2014/main" id="{9FCBD487-DB1B-4427-A8CF-513602A87F49}"/>
              </a:ext>
            </a:extLst>
          </p:cNvPr>
          <p:cNvSpPr txBox="1"/>
          <p:nvPr/>
        </p:nvSpPr>
        <p:spPr>
          <a:xfrm>
            <a:off x="10892844" y="5352357"/>
            <a:ext cx="103974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CA-MRSA</a:t>
            </a:r>
          </a:p>
        </p:txBody>
      </p:sp>
      <p:pic>
        <p:nvPicPr>
          <p:cNvPr id="156" name="graphic" descr="Cursor with solid fill">
            <a:extLst>
              <a:ext uri="{FF2B5EF4-FFF2-40B4-BE49-F238E27FC236}">
                <a16:creationId xmlns:a16="http://schemas.microsoft.com/office/drawing/2014/main" id="{114EC06A-7636-453A-A0E0-041B8195E0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5585196"/>
            <a:ext cx="274320" cy="274320"/>
          </a:xfrm>
          <a:prstGeom prst="rect">
            <a:avLst/>
          </a:prstGeom>
        </p:spPr>
      </p:pic>
      <p:sp>
        <p:nvSpPr>
          <p:cNvPr id="170" name="Left Bracket 169">
            <a:extLst>
              <a:ext uri="{FF2B5EF4-FFF2-40B4-BE49-F238E27FC236}">
                <a16:creationId xmlns:a16="http://schemas.microsoft.com/office/drawing/2014/main" id="{4BDBE7E8-2F1F-422F-852E-6220FB43BDE0}"/>
              </a:ext>
            </a:extLst>
          </p:cNvPr>
          <p:cNvSpPr/>
          <p:nvPr/>
        </p:nvSpPr>
        <p:spPr>
          <a:xfrm flipH="1">
            <a:off x="7354842" y="5870839"/>
            <a:ext cx="45719" cy="680565"/>
          </a:xfrm>
          <a:prstGeom prst="leftBracket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898021-97D1-4AA2-A67B-657329F74836}"/>
              </a:ext>
            </a:extLst>
          </p:cNvPr>
          <p:cNvGrpSpPr/>
          <p:nvPr/>
        </p:nvGrpSpPr>
        <p:grpSpPr>
          <a:xfrm>
            <a:off x="2797032" y="5598942"/>
            <a:ext cx="7951563" cy="276999"/>
            <a:chOff x="2797032" y="5678952"/>
            <a:chExt cx="7951563" cy="27699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0F07F71-18DA-4F48-993B-0DF012AEFEBC}"/>
                </a:ext>
              </a:extLst>
            </p:cNvPr>
            <p:cNvGrpSpPr/>
            <p:nvPr/>
          </p:nvGrpSpPr>
          <p:grpSpPr>
            <a:xfrm>
              <a:off x="2797032" y="5705769"/>
              <a:ext cx="7951563" cy="210315"/>
              <a:chOff x="2797032" y="5705769"/>
              <a:chExt cx="7951563" cy="21031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3174BA7-BBE3-4199-891F-3176CA075095}"/>
                  </a:ext>
                </a:extLst>
              </p:cNvPr>
              <p:cNvGrpSpPr/>
              <p:nvPr/>
            </p:nvGrpSpPr>
            <p:grpSpPr>
              <a:xfrm>
                <a:off x="2797032" y="5705769"/>
                <a:ext cx="7951563" cy="210315"/>
                <a:chOff x="2797032" y="5677488"/>
                <a:chExt cx="7951563" cy="210315"/>
              </a:xfrm>
            </p:grpSpPr>
            <p:grpSp>
              <p:nvGrpSpPr>
                <p:cNvPr id="178" name="Doxycycline">
                  <a:extLst>
                    <a:ext uri="{FF2B5EF4-FFF2-40B4-BE49-F238E27FC236}">
                      <a16:creationId xmlns:a16="http://schemas.microsoft.com/office/drawing/2014/main" id="{24509EF1-1F47-452D-99C3-6C9878E705EA}"/>
                    </a:ext>
                  </a:extLst>
                </p:cNvPr>
                <p:cNvGrpSpPr/>
                <p:nvPr/>
              </p:nvGrpSpPr>
              <p:grpSpPr>
                <a:xfrm>
                  <a:off x="2797032" y="5677488"/>
                  <a:ext cx="5192641" cy="210313"/>
                  <a:chOff x="-106735" y="5997433"/>
                  <a:chExt cx="6719308" cy="212697"/>
                </a:xfrm>
                <a:solidFill>
                  <a:srgbClr val="FF1160"/>
                </a:solidFill>
              </p:grpSpPr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C0A80803-F546-442F-AD85-3CFD27925EA4}"/>
                      </a:ext>
                    </a:extLst>
                  </p:cNvPr>
                  <p:cNvSpPr/>
                  <p:nvPr/>
                </p:nvSpPr>
                <p:spPr>
                  <a:xfrm>
                    <a:off x="4876929" y="5997434"/>
                    <a:ext cx="1735644" cy="21269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/>
                      <a:t>Doxycycline</a:t>
                    </a:r>
                    <a:r>
                      <a:rPr lang="en-US" sz="1200" i="1" dirty="0"/>
                      <a:t> </a:t>
                    </a:r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F873945A-9F99-44B5-9CD1-DFDEEF26DE27}"/>
                      </a:ext>
                    </a:extLst>
                  </p:cNvPr>
                  <p:cNvSpPr/>
                  <p:nvPr/>
                </p:nvSpPr>
                <p:spPr>
                  <a:xfrm>
                    <a:off x="-106735" y="5997433"/>
                    <a:ext cx="2147814" cy="21269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dirty="0"/>
                  </a:p>
                </p:txBody>
              </p:sp>
            </p:grpSp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A835ABD2-CFD8-40E5-BA8E-9773307D2729}"/>
                    </a:ext>
                  </a:extLst>
                </p:cNvPr>
                <p:cNvSpPr/>
                <p:nvPr/>
              </p:nvSpPr>
              <p:spPr>
                <a:xfrm>
                  <a:off x="9914757" y="5677491"/>
                  <a:ext cx="833838" cy="210312"/>
                </a:xfrm>
                <a:prstGeom prst="rect">
                  <a:avLst/>
                </a:prstGeom>
                <a:solidFill>
                  <a:srgbClr val="FF116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5A51B598-EC34-49EB-AD70-9A3645F7F42D}"/>
                  </a:ext>
                </a:extLst>
              </p:cNvPr>
              <p:cNvSpPr/>
              <p:nvPr/>
            </p:nvSpPr>
            <p:spPr>
              <a:xfrm>
                <a:off x="5497487" y="5705772"/>
                <a:ext cx="592483" cy="210312"/>
              </a:xfrm>
              <a:prstGeom prst="rect">
                <a:avLst/>
              </a:prstGeom>
              <a:solidFill>
                <a:srgbClr val="FF116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39A78B95-0549-4CCB-A7E5-352657D4682C}"/>
                </a:ext>
              </a:extLst>
            </p:cNvPr>
            <p:cNvSpPr txBox="1"/>
            <p:nvPr/>
          </p:nvSpPr>
          <p:spPr>
            <a:xfrm>
              <a:off x="7991234" y="5678952"/>
              <a:ext cx="93209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200" dirty="0"/>
                <a:t>(</a:t>
              </a:r>
              <a:r>
                <a:rPr lang="en-US" sz="1200" i="1" dirty="0"/>
                <a:t>↓↓ Strep</a:t>
              </a:r>
              <a:r>
                <a:rPr lang="en-US" sz="1200" dirty="0"/>
                <a:t>)</a:t>
              </a:r>
              <a:r>
                <a:rPr lang="en-US" sz="1200" i="1" dirty="0"/>
                <a:t> 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B84AAF-AAE4-47DB-A54D-2CD0626B2450}"/>
              </a:ext>
            </a:extLst>
          </p:cNvPr>
          <p:cNvGrpSpPr/>
          <p:nvPr/>
        </p:nvGrpSpPr>
        <p:grpSpPr>
          <a:xfrm>
            <a:off x="3801515" y="5871566"/>
            <a:ext cx="6767565" cy="210312"/>
            <a:chOff x="3801515" y="5917286"/>
            <a:chExt cx="6767565" cy="2103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4DB4EA-0E6A-43C9-B2CC-352578591EDE}"/>
                </a:ext>
              </a:extLst>
            </p:cNvPr>
            <p:cNvGrpSpPr/>
            <p:nvPr/>
          </p:nvGrpSpPr>
          <p:grpSpPr>
            <a:xfrm>
              <a:off x="3801515" y="5917286"/>
              <a:ext cx="3508078" cy="210312"/>
              <a:chOff x="3801515" y="5988208"/>
              <a:chExt cx="3508078" cy="210312"/>
            </a:xfrm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39AE221-5DC3-4D0A-B9F6-EF2EEFBED417}"/>
                  </a:ext>
                </a:extLst>
              </p:cNvPr>
              <p:cNvSpPr/>
              <p:nvPr/>
            </p:nvSpPr>
            <p:spPr>
              <a:xfrm>
                <a:off x="4936665" y="5988208"/>
                <a:ext cx="2372928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       Vancomycin</a:t>
                </a: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96F42927-A362-43AB-A8ED-DE41F9998E51}"/>
                  </a:ext>
                </a:extLst>
              </p:cNvPr>
              <p:cNvSpPr/>
              <p:nvPr/>
            </p:nvSpPr>
            <p:spPr>
              <a:xfrm>
                <a:off x="3801515" y="5988208"/>
                <a:ext cx="901655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A737EEBF-3376-4633-AE3C-571C74B1F33F}"/>
                  </a:ext>
                </a:extLst>
              </p:cNvPr>
              <p:cNvSpPr/>
              <p:nvPr/>
            </p:nvSpPr>
            <p:spPr>
              <a:xfrm>
                <a:off x="4877827" y="5988208"/>
                <a:ext cx="39766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82F906F-2464-4C35-8060-F4E61AE359A0}"/>
                  </a:ext>
                </a:extLst>
              </p:cNvPr>
              <p:cNvSpPr/>
              <p:nvPr/>
            </p:nvSpPr>
            <p:spPr>
              <a:xfrm>
                <a:off x="4810512" y="5988208"/>
                <a:ext cx="40318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02E515D1-E509-4B8C-A4B2-0B39BE3B2A0E}"/>
                  </a:ext>
                </a:extLst>
              </p:cNvPr>
              <p:cNvSpPr/>
              <p:nvPr/>
            </p:nvSpPr>
            <p:spPr>
              <a:xfrm>
                <a:off x="4741936" y="5988208"/>
                <a:ext cx="41579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3840AB8-0AF0-4A8D-A12A-19BF199322E2}"/>
                </a:ext>
              </a:extLst>
            </p:cNvPr>
            <p:cNvSpPr/>
            <p:nvPr/>
          </p:nvSpPr>
          <p:spPr>
            <a:xfrm>
              <a:off x="9907478" y="5917286"/>
              <a:ext cx="661602" cy="2103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      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169990-29EA-452B-96EA-6DCAE27ECC8A}"/>
              </a:ext>
            </a:extLst>
          </p:cNvPr>
          <p:cNvGrpSpPr/>
          <p:nvPr/>
        </p:nvGrpSpPr>
        <p:grpSpPr>
          <a:xfrm>
            <a:off x="3794376" y="6101272"/>
            <a:ext cx="6781777" cy="210312"/>
            <a:chOff x="3794376" y="6146992"/>
            <a:chExt cx="6781777" cy="210312"/>
          </a:xfrm>
        </p:grpSpPr>
        <p:sp>
          <p:nvSpPr>
            <p:cNvPr id="161" name="Daptomycin">
              <a:extLst>
                <a:ext uri="{FF2B5EF4-FFF2-40B4-BE49-F238E27FC236}">
                  <a16:creationId xmlns:a16="http://schemas.microsoft.com/office/drawing/2014/main" id="{A31F603A-7BBF-419C-ADBA-E112751ADA1A}"/>
                </a:ext>
              </a:extLst>
            </p:cNvPr>
            <p:cNvSpPr/>
            <p:nvPr/>
          </p:nvSpPr>
          <p:spPr>
            <a:xfrm>
              <a:off x="3794376" y="6146992"/>
              <a:ext cx="3531337" cy="21031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Daptomycin </a:t>
              </a:r>
              <a:r>
                <a:rPr lang="en-US" sz="1200" i="1" dirty="0"/>
                <a:t>(no lungs)</a:t>
              </a:r>
            </a:p>
          </p:txBody>
        </p:sp>
        <p:sp>
          <p:nvSpPr>
            <p:cNvPr id="212" name="Daptomycin">
              <a:extLst>
                <a:ext uri="{FF2B5EF4-FFF2-40B4-BE49-F238E27FC236}">
                  <a16:creationId xmlns:a16="http://schemas.microsoft.com/office/drawing/2014/main" id="{E071EAEF-222D-45EB-84D0-3EC2E578BCBB}"/>
                </a:ext>
              </a:extLst>
            </p:cNvPr>
            <p:cNvSpPr/>
            <p:nvPr/>
          </p:nvSpPr>
          <p:spPr>
            <a:xfrm>
              <a:off x="9914551" y="6146992"/>
              <a:ext cx="661602" cy="21031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i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9DC9CC-1E28-4088-A48B-9BB9348DB163}"/>
              </a:ext>
            </a:extLst>
          </p:cNvPr>
          <p:cNvGrpSpPr/>
          <p:nvPr/>
        </p:nvGrpSpPr>
        <p:grpSpPr>
          <a:xfrm>
            <a:off x="3797819" y="6327028"/>
            <a:ext cx="6768027" cy="210311"/>
            <a:chOff x="3797819" y="6372748"/>
            <a:chExt cx="6768027" cy="210311"/>
          </a:xfrm>
        </p:grpSpPr>
        <p:sp>
          <p:nvSpPr>
            <p:cNvPr id="162" name="Linezolid">
              <a:extLst>
                <a:ext uri="{FF2B5EF4-FFF2-40B4-BE49-F238E27FC236}">
                  <a16:creationId xmlns:a16="http://schemas.microsoft.com/office/drawing/2014/main" id="{E28FFF4B-FC6B-41E9-8C9D-686E73085A13}"/>
                </a:ext>
              </a:extLst>
            </p:cNvPr>
            <p:cNvSpPr/>
            <p:nvPr/>
          </p:nvSpPr>
          <p:spPr>
            <a:xfrm>
              <a:off x="3797819" y="6377427"/>
              <a:ext cx="3521541" cy="2056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Linezolid</a:t>
              </a:r>
            </a:p>
          </p:txBody>
        </p:sp>
        <p:sp>
          <p:nvSpPr>
            <p:cNvPr id="213" name="Linezolid">
              <a:extLst>
                <a:ext uri="{FF2B5EF4-FFF2-40B4-BE49-F238E27FC236}">
                  <a16:creationId xmlns:a16="http://schemas.microsoft.com/office/drawing/2014/main" id="{CABDBCA7-D90A-4C83-8F71-744B307F03D7}"/>
                </a:ext>
              </a:extLst>
            </p:cNvPr>
            <p:cNvSpPr/>
            <p:nvPr/>
          </p:nvSpPr>
          <p:spPr>
            <a:xfrm>
              <a:off x="9907478" y="6372748"/>
              <a:ext cx="658368" cy="2103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59" name="TextBox 158">
            <a:hlinkClick r:id="rId12" action="ppaction://hlinksldjump"/>
            <a:extLst>
              <a:ext uri="{FF2B5EF4-FFF2-40B4-BE49-F238E27FC236}">
                <a16:creationId xmlns:a16="http://schemas.microsoft.com/office/drawing/2014/main" id="{A8CCD966-FE48-40BF-9554-874EA8CE4299}"/>
              </a:ext>
            </a:extLst>
          </p:cNvPr>
          <p:cNvSpPr txBox="1"/>
          <p:nvPr/>
        </p:nvSpPr>
        <p:spPr>
          <a:xfrm>
            <a:off x="10892844" y="5877018"/>
            <a:ext cx="1054652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  <p:pic>
        <p:nvPicPr>
          <p:cNvPr id="160" name="graphic" descr="Cursor with solid fill">
            <a:extLst>
              <a:ext uri="{FF2B5EF4-FFF2-40B4-BE49-F238E27FC236}">
                <a16:creationId xmlns:a16="http://schemas.microsoft.com/office/drawing/2014/main" id="{B1CF2FF2-4C73-4963-B5A5-9A88A0D20E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96620" y="6379033"/>
            <a:ext cx="274320" cy="274320"/>
          </a:xfrm>
          <a:prstGeom prst="rect">
            <a:avLst/>
          </a:prstGeom>
        </p:spPr>
      </p:pic>
      <p:sp>
        <p:nvSpPr>
          <p:cNvPr id="164" name="Metronidazole">
            <a:extLst>
              <a:ext uri="{FF2B5EF4-FFF2-40B4-BE49-F238E27FC236}">
                <a16:creationId xmlns:a16="http://schemas.microsoft.com/office/drawing/2014/main" id="{0C68F84C-6CF1-4CA2-A9C0-66931A6D1AE3}"/>
              </a:ext>
            </a:extLst>
          </p:cNvPr>
          <p:cNvSpPr/>
          <p:nvPr/>
        </p:nvSpPr>
        <p:spPr>
          <a:xfrm>
            <a:off x="9913060" y="6594622"/>
            <a:ext cx="1240410" cy="212062"/>
          </a:xfrm>
          <a:prstGeom prst="rect">
            <a:avLst/>
          </a:prstGeom>
          <a:solidFill>
            <a:srgbClr val="44C4C1"/>
          </a:solidFill>
          <a:ln w="38100">
            <a:solidFill>
              <a:srgbClr val="44C4C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Metronidazole </a:t>
            </a:r>
          </a:p>
        </p:txBody>
      </p:sp>
      <p:sp>
        <p:nvSpPr>
          <p:cNvPr id="165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2681A2E1-B193-44D2-9224-2F25D611E006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171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C4BDCE00-0C94-4F6D-BBDD-8B756F4E7BA1}"/>
              </a:ext>
            </a:extLst>
          </p:cNvPr>
          <p:cNvSpPr txBox="1"/>
          <p:nvPr/>
        </p:nvSpPr>
        <p:spPr>
          <a:xfrm>
            <a:off x="159960" y="668179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Antibiogram</a:t>
            </a:r>
          </a:p>
        </p:txBody>
      </p:sp>
      <p:sp>
        <p:nvSpPr>
          <p:cNvPr id="177" name="Question 2">
            <a:hlinkClick r:id="rId15" action="ppaction://hlinksldjump"/>
            <a:extLst>
              <a:ext uri="{FF2B5EF4-FFF2-40B4-BE49-F238E27FC236}">
                <a16:creationId xmlns:a16="http://schemas.microsoft.com/office/drawing/2014/main" id="{79A32801-06AC-454A-A340-211EEF2B6205}"/>
              </a:ext>
            </a:extLst>
          </p:cNvPr>
          <p:cNvSpPr txBox="1"/>
          <p:nvPr/>
        </p:nvSpPr>
        <p:spPr>
          <a:xfrm>
            <a:off x="156858" y="1695266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09" name="question 3">
            <a:hlinkClick r:id="rId16" action="ppaction://hlinksldjump"/>
            <a:extLst>
              <a:ext uri="{FF2B5EF4-FFF2-40B4-BE49-F238E27FC236}">
                <a16:creationId xmlns:a16="http://schemas.microsoft.com/office/drawing/2014/main" id="{2620E979-5B79-4864-8D7C-83982F947DE2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Full Board</a:t>
            </a:r>
          </a:p>
        </p:txBody>
      </p: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ABEC85B6-29C9-4871-B9A5-AE9A17C71C8D}"/>
              </a:ext>
            </a:extLst>
          </p:cNvPr>
          <p:cNvCxnSpPr>
            <a:endCxn id="209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20F0D455-FDC1-E9D1-29FC-2F088B9846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2072" y="1938484"/>
            <a:ext cx="269100" cy="274320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0B870C43-7CBE-2CE5-2756-4A98B66C38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2072" y="394256"/>
            <a:ext cx="269100" cy="274320"/>
          </a:xfrm>
          <a:prstGeom prst="rect">
            <a:avLst/>
          </a:prstGeom>
        </p:spPr>
      </p:pic>
      <p:pic>
        <p:nvPicPr>
          <p:cNvPr id="19" name="graphic" descr="Cursor with solid fill">
            <a:extLst>
              <a:ext uri="{FF2B5EF4-FFF2-40B4-BE49-F238E27FC236}">
                <a16:creationId xmlns:a16="http://schemas.microsoft.com/office/drawing/2014/main" id="{DDBE5A47-0BDF-1537-071E-8ACD3681D5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8697" y="1073924"/>
            <a:ext cx="274320" cy="274320"/>
          </a:xfrm>
          <a:prstGeom prst="rect">
            <a:avLst/>
          </a:prstGeom>
        </p:spPr>
      </p:pic>
      <p:pic>
        <p:nvPicPr>
          <p:cNvPr id="20" name="graphic" descr="Cursor with solid fill">
            <a:extLst>
              <a:ext uri="{FF2B5EF4-FFF2-40B4-BE49-F238E27FC236}">
                <a16:creationId xmlns:a16="http://schemas.microsoft.com/office/drawing/2014/main" id="{C39122F5-CA69-8605-09F1-A73E741A1A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2278" y="2076079"/>
            <a:ext cx="274320" cy="274320"/>
          </a:xfrm>
          <a:prstGeom prst="rect">
            <a:avLst/>
          </a:prstGeom>
        </p:spPr>
      </p:pic>
      <p:pic>
        <p:nvPicPr>
          <p:cNvPr id="21" name="graphic" descr="Cursor with solid fill">
            <a:extLst>
              <a:ext uri="{FF2B5EF4-FFF2-40B4-BE49-F238E27FC236}">
                <a16:creationId xmlns:a16="http://schemas.microsoft.com/office/drawing/2014/main" id="{2D5C4EA3-C63A-A15E-65EB-C98FE9DCB7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8310" y="3366655"/>
            <a:ext cx="274320" cy="274320"/>
          </a:xfrm>
          <a:prstGeom prst="rect">
            <a:avLst/>
          </a:prstGeom>
        </p:spPr>
      </p:pic>
      <p:pic>
        <p:nvPicPr>
          <p:cNvPr id="22" name="graphic" descr="Cursor with solid fill">
            <a:extLst>
              <a:ext uri="{FF2B5EF4-FFF2-40B4-BE49-F238E27FC236}">
                <a16:creationId xmlns:a16="http://schemas.microsoft.com/office/drawing/2014/main" id="{0612E2B1-1E8E-F26B-B36E-80FAAA5FEC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4960" y="4044782"/>
            <a:ext cx="274320" cy="274320"/>
          </a:xfrm>
          <a:prstGeom prst="rect">
            <a:avLst/>
          </a:prstGeom>
        </p:spPr>
      </p:pic>
      <p:pic>
        <p:nvPicPr>
          <p:cNvPr id="23" name="graphic" descr="Cursor with solid fill">
            <a:extLst>
              <a:ext uri="{FF2B5EF4-FFF2-40B4-BE49-F238E27FC236}">
                <a16:creationId xmlns:a16="http://schemas.microsoft.com/office/drawing/2014/main" id="{17D51717-E2F8-EEAB-814E-93C0E94B86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0969" y="4678270"/>
            <a:ext cx="274320" cy="27432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1908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00A502-B904-4756-83CD-C76C1497D683}"/>
              </a:ext>
            </a:extLst>
          </p:cNvPr>
          <p:cNvCxnSpPr>
            <a:cxnSpLocks/>
          </p:cNvCxnSpPr>
          <p:nvPr/>
        </p:nvCxnSpPr>
        <p:spPr>
          <a:xfrm>
            <a:off x="5430355" y="252680"/>
            <a:ext cx="0" cy="643312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 1">
            <a:extLst>
              <a:ext uri="{FF2B5EF4-FFF2-40B4-BE49-F238E27FC236}">
                <a16:creationId xmlns:a16="http://schemas.microsoft.com/office/drawing/2014/main" id="{FEB54717-43F3-4DFD-A511-15A76688189A}"/>
              </a:ext>
            </a:extLst>
          </p:cNvPr>
          <p:cNvSpPr/>
          <p:nvPr/>
        </p:nvSpPr>
        <p:spPr>
          <a:xfrm>
            <a:off x="2834020" y="149748"/>
            <a:ext cx="1645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4" name="Case 3 button">
            <a:extLst>
              <a:ext uri="{FF2B5EF4-FFF2-40B4-BE49-F238E27FC236}">
                <a16:creationId xmlns:a16="http://schemas.microsoft.com/office/drawing/2014/main" id="{D430CDF0-9D8A-4070-BD28-4A135EBC2534}"/>
              </a:ext>
            </a:extLst>
          </p:cNvPr>
          <p:cNvSpPr/>
          <p:nvPr/>
        </p:nvSpPr>
        <p:spPr>
          <a:xfrm>
            <a:off x="6270227" y="149748"/>
            <a:ext cx="1645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5" name="Case 1 text">
            <a:extLst>
              <a:ext uri="{FF2B5EF4-FFF2-40B4-BE49-F238E27FC236}">
                <a16:creationId xmlns:a16="http://schemas.microsoft.com/office/drawing/2014/main" id="{B6513763-29E1-4E2A-BEEB-11AF535E6232}"/>
              </a:ext>
            </a:extLst>
          </p:cNvPr>
          <p:cNvSpPr txBox="1"/>
          <p:nvPr/>
        </p:nvSpPr>
        <p:spPr>
          <a:xfrm>
            <a:off x="5499826" y="558107"/>
            <a:ext cx="3069478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64 </a:t>
            </a:r>
            <a:r>
              <a:rPr lang="en-US" sz="1500" dirty="0" err="1"/>
              <a:t>yo</a:t>
            </a:r>
            <a:r>
              <a:rPr lang="en-US" sz="1500" dirty="0"/>
              <a:t> presents with RLL pneumonia. You want to empirically cover for </a:t>
            </a:r>
            <a:r>
              <a:rPr lang="en-US" sz="1500" i="1" dirty="0"/>
              <a:t>S. pneumoniae</a:t>
            </a:r>
            <a:r>
              <a:rPr lang="en-US" sz="1500" dirty="0"/>
              <a:t>, GNRs, and </a:t>
            </a:r>
            <a:r>
              <a:rPr lang="en-US" sz="1500" dirty="0" err="1"/>
              <a:t>atypicals</a:t>
            </a:r>
            <a:r>
              <a:rPr lang="en-US" sz="1500" dirty="0"/>
              <a:t>. </a:t>
            </a:r>
          </a:p>
        </p:txBody>
      </p:sp>
      <p:sp>
        <p:nvSpPr>
          <p:cNvPr id="6" name="Case 1 - Q1">
            <a:extLst>
              <a:ext uri="{FF2B5EF4-FFF2-40B4-BE49-F238E27FC236}">
                <a16:creationId xmlns:a16="http://schemas.microsoft.com/office/drawing/2014/main" id="{D4D10C08-DFEE-4E40-92C8-36B341578941}"/>
              </a:ext>
            </a:extLst>
          </p:cNvPr>
          <p:cNvSpPr/>
          <p:nvPr/>
        </p:nvSpPr>
        <p:spPr>
          <a:xfrm>
            <a:off x="1968754" y="1178142"/>
            <a:ext cx="329184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antibiotics would you start?</a:t>
            </a:r>
          </a:p>
        </p:txBody>
      </p:sp>
      <p:sp>
        <p:nvSpPr>
          <p:cNvPr id="7" name="Case 1 - Q2">
            <a:extLst>
              <a:ext uri="{FF2B5EF4-FFF2-40B4-BE49-F238E27FC236}">
                <a16:creationId xmlns:a16="http://schemas.microsoft.com/office/drawing/2014/main" id="{99060773-7C50-4B1B-9E75-159800DC1238}"/>
              </a:ext>
            </a:extLst>
          </p:cNvPr>
          <p:cNvSpPr/>
          <p:nvPr/>
        </p:nvSpPr>
        <p:spPr>
          <a:xfrm>
            <a:off x="1968754" y="2536391"/>
            <a:ext cx="3291840" cy="365760"/>
          </a:xfrm>
          <a:prstGeom prst="roundRect">
            <a:avLst>
              <a:gd name="adj" fmla="val 1403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How would you adjust the antibiotics?</a:t>
            </a:r>
          </a:p>
        </p:txBody>
      </p:sp>
      <p:sp>
        <p:nvSpPr>
          <p:cNvPr id="9" name="Case 2 - answer1">
            <a:extLst>
              <a:ext uri="{FF2B5EF4-FFF2-40B4-BE49-F238E27FC236}">
                <a16:creationId xmlns:a16="http://schemas.microsoft.com/office/drawing/2014/main" id="{9AA48A3D-02B7-46FB-AAF3-F45256D35F3F}"/>
              </a:ext>
            </a:extLst>
          </p:cNvPr>
          <p:cNvSpPr/>
          <p:nvPr/>
        </p:nvSpPr>
        <p:spPr>
          <a:xfrm>
            <a:off x="1892612" y="1578847"/>
            <a:ext cx="3474720" cy="6004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IV Vancomycin. </a:t>
            </a:r>
            <a:r>
              <a:rPr lang="en-US" sz="1500" dirty="0"/>
              <a:t>Good empiric coverage of GP organisms (including MRSA).</a:t>
            </a:r>
          </a:p>
        </p:txBody>
      </p:sp>
      <p:sp>
        <p:nvSpPr>
          <p:cNvPr id="10" name="Case 2 - answer2">
            <a:extLst>
              <a:ext uri="{FF2B5EF4-FFF2-40B4-BE49-F238E27FC236}">
                <a16:creationId xmlns:a16="http://schemas.microsoft.com/office/drawing/2014/main" id="{C2EBE76C-E798-4F83-846D-90FC5E387FBC}"/>
              </a:ext>
            </a:extLst>
          </p:cNvPr>
          <p:cNvSpPr/>
          <p:nvPr/>
        </p:nvSpPr>
        <p:spPr>
          <a:xfrm>
            <a:off x="1892612" y="2934343"/>
            <a:ext cx="3474720" cy="415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IV nafcillin. </a:t>
            </a:r>
            <a:r>
              <a:rPr lang="en-US" sz="1500" dirty="0"/>
              <a:t>First line for MSSA infections. </a:t>
            </a:r>
            <a:r>
              <a:rPr lang="en-US" sz="1500" b="1" dirty="0"/>
              <a:t> 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28B5E503-5CDC-4829-99F8-3AFF231654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6641" y="1403831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49339278-2949-489A-8633-BDA9A8BA78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6641" y="2754672"/>
            <a:ext cx="274320" cy="274320"/>
          </a:xfrm>
          <a:prstGeom prst="rect">
            <a:avLst/>
          </a:prstGeom>
        </p:spPr>
      </p:pic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4E4BD648-22E6-409D-A042-64B5C988D9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6021" y="377613"/>
            <a:ext cx="274320" cy="274320"/>
          </a:xfrm>
          <a:prstGeom prst="rect">
            <a:avLst/>
          </a:prstGeom>
        </p:spPr>
      </p:pic>
      <p:pic>
        <p:nvPicPr>
          <p:cNvPr id="16" name="Graphic 15" descr="Cursor with solid fill">
            <a:extLst>
              <a:ext uri="{FF2B5EF4-FFF2-40B4-BE49-F238E27FC236}">
                <a16:creationId xmlns:a16="http://schemas.microsoft.com/office/drawing/2014/main" id="{271EA337-4A88-4E4A-B076-77D8E0F5EB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985" y="377613"/>
            <a:ext cx="274320" cy="274320"/>
          </a:xfrm>
          <a:prstGeom prst="rect">
            <a:avLst/>
          </a:prstGeom>
        </p:spPr>
      </p:pic>
      <p:sp>
        <p:nvSpPr>
          <p:cNvPr id="17" name="Case 3 - question1">
            <a:extLst>
              <a:ext uri="{FF2B5EF4-FFF2-40B4-BE49-F238E27FC236}">
                <a16:creationId xmlns:a16="http://schemas.microsoft.com/office/drawing/2014/main" id="{8FABB9EB-BF92-4C6B-BD03-20F92AF29FEB}"/>
              </a:ext>
            </a:extLst>
          </p:cNvPr>
          <p:cNvSpPr/>
          <p:nvPr/>
        </p:nvSpPr>
        <p:spPr>
          <a:xfrm>
            <a:off x="5552238" y="1406096"/>
            <a:ext cx="292608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antibiotics would you start?</a:t>
            </a:r>
          </a:p>
        </p:txBody>
      </p:sp>
      <p:sp>
        <p:nvSpPr>
          <p:cNvPr id="18" name="Case 3 - question2">
            <a:extLst>
              <a:ext uri="{FF2B5EF4-FFF2-40B4-BE49-F238E27FC236}">
                <a16:creationId xmlns:a16="http://schemas.microsoft.com/office/drawing/2014/main" id="{49C12C40-C822-402D-8488-155AB5621882}"/>
              </a:ext>
            </a:extLst>
          </p:cNvPr>
          <p:cNvSpPr/>
          <p:nvPr/>
        </p:nvSpPr>
        <p:spPr>
          <a:xfrm>
            <a:off x="5551945" y="3143758"/>
            <a:ext cx="2926080" cy="568152"/>
          </a:xfrm>
          <a:prstGeom prst="roundRect">
            <a:avLst>
              <a:gd name="adj" fmla="val 220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How will you adjust their antibiotics?</a:t>
            </a:r>
          </a:p>
        </p:txBody>
      </p:sp>
      <p:sp>
        <p:nvSpPr>
          <p:cNvPr id="19" name="Case 3 - question3">
            <a:extLst>
              <a:ext uri="{FF2B5EF4-FFF2-40B4-BE49-F238E27FC236}">
                <a16:creationId xmlns:a16="http://schemas.microsoft.com/office/drawing/2014/main" id="{06C40452-C661-4B24-B6C3-6C6BF9B66A26}"/>
              </a:ext>
            </a:extLst>
          </p:cNvPr>
          <p:cNvSpPr/>
          <p:nvPr/>
        </p:nvSpPr>
        <p:spPr>
          <a:xfrm>
            <a:off x="5557109" y="5403727"/>
            <a:ext cx="2926080" cy="365760"/>
          </a:xfrm>
          <a:prstGeom prst="roundRect">
            <a:avLst>
              <a:gd name="adj" fmla="val 18439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How will you adjust their meds?</a:t>
            </a:r>
          </a:p>
        </p:txBody>
      </p:sp>
      <p:sp>
        <p:nvSpPr>
          <p:cNvPr id="20" name="Case 3 - answer1">
            <a:extLst>
              <a:ext uri="{FF2B5EF4-FFF2-40B4-BE49-F238E27FC236}">
                <a16:creationId xmlns:a16="http://schemas.microsoft.com/office/drawing/2014/main" id="{FE58F3E3-4F8C-42E0-AE47-B4CCA4C815B3}"/>
              </a:ext>
            </a:extLst>
          </p:cNvPr>
          <p:cNvSpPr/>
          <p:nvPr/>
        </p:nvSpPr>
        <p:spPr>
          <a:xfrm>
            <a:off x="5564175" y="1828935"/>
            <a:ext cx="2939689" cy="922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 dirty="0"/>
              <a:t>Ceftriaxone</a:t>
            </a:r>
            <a:r>
              <a:rPr lang="en-US" sz="1500" dirty="0"/>
              <a:t> (covers S. </a:t>
            </a:r>
            <a:r>
              <a:rPr lang="en-US" sz="1500" dirty="0" err="1"/>
              <a:t>pneumo</a:t>
            </a:r>
            <a:r>
              <a:rPr lang="en-US" sz="1500" dirty="0"/>
              <a:t> and GNRs) + </a:t>
            </a:r>
            <a:r>
              <a:rPr lang="en-US" sz="1500" b="1" dirty="0"/>
              <a:t>azithromycin</a:t>
            </a:r>
            <a:r>
              <a:rPr lang="en-US" sz="1500" dirty="0"/>
              <a:t> (covers </a:t>
            </a:r>
            <a:r>
              <a:rPr lang="en-US" sz="1500" dirty="0" err="1"/>
              <a:t>atypicals</a:t>
            </a:r>
            <a:r>
              <a:rPr lang="en-US" sz="1500" dirty="0"/>
              <a:t>). A respiratory FQ (e.g., levofloxacin) is also reasonable.</a:t>
            </a:r>
          </a:p>
        </p:txBody>
      </p:sp>
      <p:sp>
        <p:nvSpPr>
          <p:cNvPr id="21" name="Case 3 - answer2">
            <a:extLst>
              <a:ext uri="{FF2B5EF4-FFF2-40B4-BE49-F238E27FC236}">
                <a16:creationId xmlns:a16="http://schemas.microsoft.com/office/drawing/2014/main" id="{F931068C-8CAB-41A6-850A-94C6C420A9F0}"/>
              </a:ext>
            </a:extLst>
          </p:cNvPr>
          <p:cNvSpPr/>
          <p:nvPr/>
        </p:nvSpPr>
        <p:spPr>
          <a:xfrm>
            <a:off x="5530906" y="3749351"/>
            <a:ext cx="2970982" cy="948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dirty="0"/>
              <a:t>Add </a:t>
            </a:r>
            <a:r>
              <a:rPr lang="en-US" sz="1500" b="1" dirty="0"/>
              <a:t>IV Vancomycin </a:t>
            </a:r>
            <a:r>
              <a:rPr lang="en-US" sz="1500" dirty="0"/>
              <a:t>or </a:t>
            </a:r>
            <a:r>
              <a:rPr lang="en-US" sz="1500" b="1" dirty="0"/>
              <a:t>linezolid</a:t>
            </a:r>
            <a:r>
              <a:rPr lang="en-US" sz="1500" dirty="0"/>
              <a:t> (preferred in MRSA pneumonia). Daptomycin is inactivated by lung surfactant.</a:t>
            </a:r>
            <a:endParaRPr lang="en-US" sz="1500" b="1" dirty="0"/>
          </a:p>
        </p:txBody>
      </p:sp>
      <p:sp>
        <p:nvSpPr>
          <p:cNvPr id="22" name="Case 3 - answer 3">
            <a:extLst>
              <a:ext uri="{FF2B5EF4-FFF2-40B4-BE49-F238E27FC236}">
                <a16:creationId xmlns:a16="http://schemas.microsoft.com/office/drawing/2014/main" id="{DA557A99-7CE0-4D60-A1E8-0337A98C8540}"/>
              </a:ext>
            </a:extLst>
          </p:cNvPr>
          <p:cNvSpPr/>
          <p:nvPr/>
        </p:nvSpPr>
        <p:spPr>
          <a:xfrm>
            <a:off x="5556243" y="5790502"/>
            <a:ext cx="2919514" cy="786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This is VIR (</a:t>
            </a:r>
            <a:r>
              <a:rPr lang="en-US" sz="1500" dirty="0" err="1"/>
              <a:t>vanc</a:t>
            </a:r>
            <a:r>
              <a:rPr lang="en-US" sz="1500" dirty="0"/>
              <a:t> infusion reaction). Give an antihistamine and slow infusion rate. </a:t>
            </a:r>
          </a:p>
        </p:txBody>
      </p:sp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FF12C3FB-0755-4862-ABEE-8954C0B7FD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7410" y="1649532"/>
            <a:ext cx="274320" cy="274320"/>
          </a:xfrm>
          <a:prstGeom prst="rect">
            <a:avLst/>
          </a:prstGeom>
        </p:spPr>
      </p:pic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A9159C7E-C751-4BCE-82D1-3DFBE37DF8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5008" y="3553157"/>
            <a:ext cx="274320" cy="274320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6E0FC4A8-3210-4440-B22C-645158D706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5354" y="5647484"/>
            <a:ext cx="274320" cy="274320"/>
          </a:xfrm>
          <a:prstGeom prst="rect">
            <a:avLst/>
          </a:prstGeom>
        </p:spPr>
      </p:pic>
      <p:sp>
        <p:nvSpPr>
          <p:cNvPr id="26" name="Case 1 text">
            <a:extLst>
              <a:ext uri="{FF2B5EF4-FFF2-40B4-BE49-F238E27FC236}">
                <a16:creationId xmlns:a16="http://schemas.microsoft.com/office/drawing/2014/main" id="{C52B3AA0-F755-45BF-90B1-C17989140501}"/>
              </a:ext>
            </a:extLst>
          </p:cNvPr>
          <p:cNvSpPr txBox="1"/>
          <p:nvPr/>
        </p:nvSpPr>
        <p:spPr>
          <a:xfrm>
            <a:off x="1892612" y="558107"/>
            <a:ext cx="3474720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31 </a:t>
            </a:r>
            <a:r>
              <a:rPr lang="en-US" sz="1500" dirty="0" err="1">
                <a:ea typeface="+mn-lt"/>
                <a:cs typeface="+mn-lt"/>
              </a:rPr>
              <a:t>yo</a:t>
            </a:r>
            <a:r>
              <a:rPr lang="en-US" sz="1500" dirty="0">
                <a:ea typeface="+mn-lt"/>
                <a:cs typeface="+mn-lt"/>
              </a:rPr>
              <a:t> with history of IVDU is admitted with sepsis from GP cocci bacteremia.</a:t>
            </a:r>
          </a:p>
        </p:txBody>
      </p:sp>
      <p:sp>
        <p:nvSpPr>
          <p:cNvPr id="27" name="Case 1 text">
            <a:extLst>
              <a:ext uri="{FF2B5EF4-FFF2-40B4-BE49-F238E27FC236}">
                <a16:creationId xmlns:a16="http://schemas.microsoft.com/office/drawing/2014/main" id="{F88F6751-807E-43E4-8208-A13485D1D7A2}"/>
              </a:ext>
            </a:extLst>
          </p:cNvPr>
          <p:cNvSpPr txBox="1"/>
          <p:nvPr/>
        </p:nvSpPr>
        <p:spPr>
          <a:xfrm>
            <a:off x="5529842" y="4835661"/>
            <a:ext cx="296936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…You start IV vancomycin and they become red, hot, and flushed.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9A29DC-10A8-45FF-9B49-89EE39B95947}"/>
              </a:ext>
            </a:extLst>
          </p:cNvPr>
          <p:cNvCxnSpPr>
            <a:cxnSpLocks/>
          </p:cNvCxnSpPr>
          <p:nvPr/>
        </p:nvCxnSpPr>
        <p:spPr>
          <a:xfrm>
            <a:off x="8638971" y="180214"/>
            <a:ext cx="0" cy="646055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 4">
            <a:extLst>
              <a:ext uri="{FF2B5EF4-FFF2-40B4-BE49-F238E27FC236}">
                <a16:creationId xmlns:a16="http://schemas.microsoft.com/office/drawing/2014/main" id="{1BC722B5-6C5E-4DD5-9096-64728BF85B66}"/>
              </a:ext>
            </a:extLst>
          </p:cNvPr>
          <p:cNvSpPr/>
          <p:nvPr/>
        </p:nvSpPr>
        <p:spPr>
          <a:xfrm>
            <a:off x="9526418" y="149748"/>
            <a:ext cx="1645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</a:t>
            </a:r>
          </a:p>
        </p:txBody>
      </p:sp>
      <p:sp>
        <p:nvSpPr>
          <p:cNvPr id="33" name="Case 1 text">
            <a:extLst>
              <a:ext uri="{FF2B5EF4-FFF2-40B4-BE49-F238E27FC236}">
                <a16:creationId xmlns:a16="http://schemas.microsoft.com/office/drawing/2014/main" id="{CD91C60F-B658-4AAA-AFBC-08E487203BC0}"/>
              </a:ext>
            </a:extLst>
          </p:cNvPr>
          <p:cNvSpPr txBox="1"/>
          <p:nvPr/>
        </p:nvSpPr>
        <p:spPr>
          <a:xfrm>
            <a:off x="8747225" y="558107"/>
            <a:ext cx="327918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44 </a:t>
            </a:r>
            <a:r>
              <a:rPr lang="en-US" sz="1500" dirty="0" err="1">
                <a:ea typeface="+mn-lt"/>
                <a:cs typeface="+mn-lt"/>
              </a:rPr>
              <a:t>yo</a:t>
            </a:r>
            <a:r>
              <a:rPr lang="en-US" sz="1500" dirty="0">
                <a:ea typeface="+mn-lt"/>
                <a:cs typeface="+mn-lt"/>
              </a:rPr>
              <a:t> presents to clinic with purulent cellulitis, concerning for a MRSA infection. They have no signs of systemic infection. </a:t>
            </a:r>
          </a:p>
        </p:txBody>
      </p:sp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6A336560-90CC-4F87-A0A5-851EF4C055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1085" y="371269"/>
            <a:ext cx="274320" cy="274320"/>
          </a:xfrm>
          <a:prstGeom prst="rect">
            <a:avLst/>
          </a:prstGeom>
        </p:spPr>
      </p:pic>
      <p:sp>
        <p:nvSpPr>
          <p:cNvPr id="38" name="Case 4 - Q1">
            <a:extLst>
              <a:ext uri="{FF2B5EF4-FFF2-40B4-BE49-F238E27FC236}">
                <a16:creationId xmlns:a16="http://schemas.microsoft.com/office/drawing/2014/main" id="{E62AB651-7618-4241-9847-96D3DABDF043}"/>
              </a:ext>
            </a:extLst>
          </p:cNvPr>
          <p:cNvSpPr/>
          <p:nvPr/>
        </p:nvSpPr>
        <p:spPr>
          <a:xfrm>
            <a:off x="8794754" y="1583618"/>
            <a:ext cx="32004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antibiotics would you start?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5948FEE0-CA58-4595-A64C-00715F925B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7368" y="1824828"/>
            <a:ext cx="274320" cy="274320"/>
          </a:xfrm>
          <a:prstGeom prst="rect">
            <a:avLst/>
          </a:prstGeom>
        </p:spPr>
      </p:pic>
      <p:sp>
        <p:nvSpPr>
          <p:cNvPr id="40" name="Case 4 - A1">
            <a:extLst>
              <a:ext uri="{FF2B5EF4-FFF2-40B4-BE49-F238E27FC236}">
                <a16:creationId xmlns:a16="http://schemas.microsoft.com/office/drawing/2014/main" id="{8CAEE6C7-CD1B-41F3-AFBB-0F146F20B3E0}"/>
              </a:ext>
            </a:extLst>
          </p:cNvPr>
          <p:cNvSpPr/>
          <p:nvPr/>
        </p:nvSpPr>
        <p:spPr>
          <a:xfrm>
            <a:off x="8755362" y="1976081"/>
            <a:ext cx="3279184" cy="806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TMP-SMX</a:t>
            </a:r>
            <a:r>
              <a:rPr lang="en-US" sz="1500" dirty="0"/>
              <a:t>,</a:t>
            </a:r>
            <a:r>
              <a:rPr lang="en-US" sz="1500" b="1" dirty="0"/>
              <a:t> clindamycin</a:t>
            </a:r>
            <a:r>
              <a:rPr lang="en-US" sz="1500" dirty="0"/>
              <a:t>, or </a:t>
            </a:r>
            <a:r>
              <a:rPr lang="en-US" sz="1500" b="1" dirty="0"/>
              <a:t>doxycycline</a:t>
            </a:r>
            <a:r>
              <a:rPr lang="en-US" sz="1500" b="1" i="1" dirty="0"/>
              <a:t>.</a:t>
            </a:r>
          </a:p>
          <a:p>
            <a:pPr algn="ctr"/>
            <a:r>
              <a:rPr lang="en-US" sz="1500" dirty="0"/>
              <a:t>Local sensitivities should dictate first line therapy. </a:t>
            </a:r>
            <a:r>
              <a:rPr lang="en-US" sz="1500" b="1" i="1" dirty="0"/>
              <a:t> </a:t>
            </a:r>
            <a:endParaRPr lang="en-US" sz="1500" dirty="0"/>
          </a:p>
        </p:txBody>
      </p:sp>
      <p:sp>
        <p:nvSpPr>
          <p:cNvPr id="53" name="question 1">
            <a:hlinkClick r:id="rId4" action="ppaction://hlinksldjump"/>
            <a:extLst>
              <a:ext uri="{FF2B5EF4-FFF2-40B4-BE49-F238E27FC236}">
                <a16:creationId xmlns:a16="http://schemas.microsoft.com/office/drawing/2014/main" id="{6DB05739-DF0E-44C1-862C-A41284531F6D}"/>
              </a:ext>
            </a:extLst>
          </p:cNvPr>
          <p:cNvSpPr txBox="1"/>
          <p:nvPr/>
        </p:nvSpPr>
        <p:spPr>
          <a:xfrm>
            <a:off x="159960" y="154636"/>
            <a:ext cx="1554480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Basic Questions</a:t>
            </a:r>
          </a:p>
        </p:txBody>
      </p:sp>
      <p:sp>
        <p:nvSpPr>
          <p:cNvPr id="54" name="question 3">
            <a:hlinkClick r:id="rId5" action="ppaction://hlinksldjump"/>
            <a:extLst>
              <a:ext uri="{FF2B5EF4-FFF2-40B4-BE49-F238E27FC236}">
                <a16:creationId xmlns:a16="http://schemas.microsoft.com/office/drawing/2014/main" id="{467034DB-098C-47E3-9C59-C90753486FE4}"/>
              </a:ext>
            </a:extLst>
          </p:cNvPr>
          <p:cNvSpPr txBox="1"/>
          <p:nvPr/>
        </p:nvSpPr>
        <p:spPr>
          <a:xfrm>
            <a:off x="159960" y="668179"/>
            <a:ext cx="155448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Antibiogram</a:t>
            </a:r>
          </a:p>
        </p:txBody>
      </p:sp>
      <p:sp>
        <p:nvSpPr>
          <p:cNvPr id="55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A6CC4358-C84E-4E6C-B159-031D5876F0E0}"/>
              </a:ext>
            </a:extLst>
          </p:cNvPr>
          <p:cNvSpPr txBox="1"/>
          <p:nvPr/>
        </p:nvSpPr>
        <p:spPr>
          <a:xfrm>
            <a:off x="156858" y="1695266"/>
            <a:ext cx="1554480" cy="374571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CAA6161A-78E7-434E-8956-2AF653CC1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2072" y="394256"/>
            <a:ext cx="296010" cy="301752"/>
          </a:xfrm>
          <a:prstGeom prst="rect">
            <a:avLst/>
          </a:prstGeom>
        </p:spPr>
      </p:pic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B63E2210-CBFD-4515-8688-B5301ABE4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2072" y="913954"/>
            <a:ext cx="296010" cy="301752"/>
          </a:xfrm>
          <a:prstGeom prst="rect">
            <a:avLst/>
          </a:prstGeom>
        </p:spPr>
      </p:pic>
      <p:sp>
        <p:nvSpPr>
          <p:cNvPr id="59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4463BE0A-9DA9-4EA0-B5F0-61069D7043E2}"/>
              </a:ext>
            </a:extLst>
          </p:cNvPr>
          <p:cNvSpPr txBox="1"/>
          <p:nvPr/>
        </p:nvSpPr>
        <p:spPr>
          <a:xfrm>
            <a:off x="500183" y="1181722"/>
            <a:ext cx="11887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Full Board</a:t>
            </a:r>
          </a:p>
        </p:txBody>
      </p: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2516D8D3-3B00-4CF9-AE44-3508650E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2547" y="1426968"/>
            <a:ext cx="296010" cy="301752"/>
          </a:xfrm>
          <a:prstGeom prst="rect">
            <a:avLst/>
          </a:prstGeom>
        </p:spPr>
      </p:pic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250E875-A532-44C3-B1AA-E5D3A3238A28}"/>
              </a:ext>
            </a:extLst>
          </p:cNvPr>
          <p:cNvCxnSpPr>
            <a:endCxn id="59" idx="1"/>
          </p:cNvCxnSpPr>
          <p:nvPr/>
        </p:nvCxnSpPr>
        <p:spPr>
          <a:xfrm rot="16200000" flipH="1">
            <a:off x="225075" y="1093900"/>
            <a:ext cx="326258" cy="2239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se 1 text">
            <a:extLst>
              <a:ext uri="{FF2B5EF4-FFF2-40B4-BE49-F238E27FC236}">
                <a16:creationId xmlns:a16="http://schemas.microsoft.com/office/drawing/2014/main" id="{4C144415-AA67-499A-8A56-935512F91E7A}"/>
              </a:ext>
            </a:extLst>
          </p:cNvPr>
          <p:cNvSpPr txBox="1"/>
          <p:nvPr/>
        </p:nvSpPr>
        <p:spPr>
          <a:xfrm>
            <a:off x="1892612" y="2206224"/>
            <a:ext cx="3474720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…Blood cultures speciate MSSA.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89E73D8-9BBD-46FE-ACBA-6C46F52B8A12}"/>
              </a:ext>
            </a:extLst>
          </p:cNvPr>
          <p:cNvCxnSpPr>
            <a:cxnSpLocks/>
          </p:cNvCxnSpPr>
          <p:nvPr/>
        </p:nvCxnSpPr>
        <p:spPr>
          <a:xfrm>
            <a:off x="1864018" y="3375508"/>
            <a:ext cx="3565129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 2">
            <a:extLst>
              <a:ext uri="{FF2B5EF4-FFF2-40B4-BE49-F238E27FC236}">
                <a16:creationId xmlns:a16="http://schemas.microsoft.com/office/drawing/2014/main" id="{58699903-64DF-4E0E-B2C5-B98EE57B3113}"/>
              </a:ext>
            </a:extLst>
          </p:cNvPr>
          <p:cNvSpPr/>
          <p:nvPr/>
        </p:nvSpPr>
        <p:spPr>
          <a:xfrm>
            <a:off x="2834020" y="3518188"/>
            <a:ext cx="1645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68" name="Case 2 - Q1">
            <a:extLst>
              <a:ext uri="{FF2B5EF4-FFF2-40B4-BE49-F238E27FC236}">
                <a16:creationId xmlns:a16="http://schemas.microsoft.com/office/drawing/2014/main" id="{400227D2-2A27-403D-8AB1-605F17DBA399}"/>
              </a:ext>
            </a:extLst>
          </p:cNvPr>
          <p:cNvSpPr/>
          <p:nvPr/>
        </p:nvSpPr>
        <p:spPr>
          <a:xfrm>
            <a:off x="1968754" y="4513876"/>
            <a:ext cx="329184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antibiotics would you start?</a:t>
            </a:r>
          </a:p>
        </p:txBody>
      </p:sp>
      <p:sp>
        <p:nvSpPr>
          <p:cNvPr id="69" name="Case 2 - Q2">
            <a:extLst>
              <a:ext uri="{FF2B5EF4-FFF2-40B4-BE49-F238E27FC236}">
                <a16:creationId xmlns:a16="http://schemas.microsoft.com/office/drawing/2014/main" id="{AFABACD4-A856-4F14-84EA-1EE17D1EFA73}"/>
              </a:ext>
            </a:extLst>
          </p:cNvPr>
          <p:cNvSpPr/>
          <p:nvPr/>
        </p:nvSpPr>
        <p:spPr>
          <a:xfrm>
            <a:off x="1968754" y="5551263"/>
            <a:ext cx="3291840" cy="562676"/>
          </a:xfrm>
          <a:prstGeom prst="roundRect">
            <a:avLst>
              <a:gd name="adj" fmla="val 1403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if they had a history of ESBL </a:t>
            </a:r>
            <a:r>
              <a:rPr lang="en-US" sz="1500" i="1" dirty="0"/>
              <a:t>E. coli?</a:t>
            </a:r>
          </a:p>
        </p:txBody>
      </p:sp>
      <p:sp>
        <p:nvSpPr>
          <p:cNvPr id="70" name="Case 2 - answer2">
            <a:extLst>
              <a:ext uri="{FF2B5EF4-FFF2-40B4-BE49-F238E27FC236}">
                <a16:creationId xmlns:a16="http://schemas.microsoft.com/office/drawing/2014/main" id="{0FF223DC-53F9-426A-BFB2-2E98066B0268}"/>
              </a:ext>
            </a:extLst>
          </p:cNvPr>
          <p:cNvSpPr/>
          <p:nvPr/>
        </p:nvSpPr>
        <p:spPr>
          <a:xfrm>
            <a:off x="1968754" y="6126639"/>
            <a:ext cx="3352653" cy="550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IV ertapenem. </a:t>
            </a:r>
            <a:r>
              <a:rPr lang="en-US" sz="1500" dirty="0"/>
              <a:t>Carbapenems have the most reliable ESBL coverage. </a:t>
            </a:r>
            <a:endParaRPr lang="en-US" sz="1500" b="1" dirty="0"/>
          </a:p>
        </p:txBody>
      </p:sp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82F11E06-661C-4B8C-BE1B-FD888E4686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6641" y="4730153"/>
            <a:ext cx="274320" cy="274320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DA16A511-9309-426D-8616-237D9C333B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6641" y="5986938"/>
            <a:ext cx="274320" cy="274320"/>
          </a:xfrm>
          <a:prstGeom prst="rect">
            <a:avLst/>
          </a:prstGeom>
        </p:spPr>
      </p:pic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04ABAEF6-AC93-4BBF-BE3E-21434B3871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8721" y="3748382"/>
            <a:ext cx="274320" cy="274320"/>
          </a:xfrm>
          <a:prstGeom prst="rect">
            <a:avLst/>
          </a:prstGeom>
        </p:spPr>
      </p:pic>
      <p:sp>
        <p:nvSpPr>
          <p:cNvPr id="74" name="Case 2 text">
            <a:extLst>
              <a:ext uri="{FF2B5EF4-FFF2-40B4-BE49-F238E27FC236}">
                <a16:creationId xmlns:a16="http://schemas.microsoft.com/office/drawing/2014/main" id="{D665056C-C5A9-49BA-AD5C-6032DDF8C543}"/>
              </a:ext>
            </a:extLst>
          </p:cNvPr>
          <p:cNvSpPr txBox="1"/>
          <p:nvPr/>
        </p:nvSpPr>
        <p:spPr>
          <a:xfrm>
            <a:off x="1921861" y="3915985"/>
            <a:ext cx="350033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50 </a:t>
            </a:r>
            <a:r>
              <a:rPr lang="en-US" sz="1500" dirty="0" err="1">
                <a:ea typeface="+mn-lt"/>
                <a:cs typeface="+mn-lt"/>
              </a:rPr>
              <a:t>yo</a:t>
            </a:r>
            <a:r>
              <a:rPr lang="en-US" sz="1500" dirty="0">
                <a:ea typeface="+mn-lt"/>
                <a:cs typeface="+mn-lt"/>
              </a:rPr>
              <a:t> is admitted with an </a:t>
            </a:r>
            <a:r>
              <a:rPr lang="en-US" sz="1500" i="1" dirty="0">
                <a:ea typeface="+mn-lt"/>
                <a:cs typeface="+mn-lt"/>
              </a:rPr>
              <a:t>E. coli </a:t>
            </a:r>
            <a:r>
              <a:rPr lang="en-US" sz="1500" dirty="0">
                <a:ea typeface="+mn-lt"/>
                <a:cs typeface="+mn-lt"/>
              </a:rPr>
              <a:t>UTI. Sensitivities are pending.</a:t>
            </a:r>
          </a:p>
        </p:txBody>
      </p:sp>
      <p:sp>
        <p:nvSpPr>
          <p:cNvPr id="76" name="Case 2 - answer1">
            <a:extLst>
              <a:ext uri="{FF2B5EF4-FFF2-40B4-BE49-F238E27FC236}">
                <a16:creationId xmlns:a16="http://schemas.microsoft.com/office/drawing/2014/main" id="{DBCE2265-7685-42A0-9B8E-CE988BFF6C47}"/>
              </a:ext>
            </a:extLst>
          </p:cNvPr>
          <p:cNvSpPr/>
          <p:nvPr/>
        </p:nvSpPr>
        <p:spPr>
          <a:xfrm>
            <a:off x="1939759" y="4917278"/>
            <a:ext cx="3350835" cy="553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IV ceftriaxone</a:t>
            </a:r>
            <a:r>
              <a:rPr lang="en-US" sz="1500" b="1" i="1" dirty="0"/>
              <a:t>. </a:t>
            </a:r>
            <a:r>
              <a:rPr lang="en-US" sz="1500" dirty="0"/>
              <a:t>IV should be used here because the patient is septic.</a:t>
            </a:r>
          </a:p>
        </p:txBody>
      </p:sp>
      <p:sp>
        <p:nvSpPr>
          <p:cNvPr id="77" name="Case 1 text">
            <a:extLst>
              <a:ext uri="{FF2B5EF4-FFF2-40B4-BE49-F238E27FC236}">
                <a16:creationId xmlns:a16="http://schemas.microsoft.com/office/drawing/2014/main" id="{9E70A24B-53D3-40DD-8544-28BABE7218CA}"/>
              </a:ext>
            </a:extLst>
          </p:cNvPr>
          <p:cNvSpPr txBox="1"/>
          <p:nvPr/>
        </p:nvSpPr>
        <p:spPr>
          <a:xfrm>
            <a:off x="5553792" y="2826402"/>
            <a:ext cx="2926080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…MRSA nares swab is positive. 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38281E9-F7BD-46C8-A03A-95DAC0A32ABC}"/>
              </a:ext>
            </a:extLst>
          </p:cNvPr>
          <p:cNvCxnSpPr>
            <a:cxnSpLocks/>
          </p:cNvCxnSpPr>
          <p:nvPr/>
        </p:nvCxnSpPr>
        <p:spPr>
          <a:xfrm>
            <a:off x="8649430" y="2914303"/>
            <a:ext cx="3489256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se 1">
            <a:extLst>
              <a:ext uri="{FF2B5EF4-FFF2-40B4-BE49-F238E27FC236}">
                <a16:creationId xmlns:a16="http://schemas.microsoft.com/office/drawing/2014/main" id="{BAF5375B-4FCD-41B9-AECC-6C773BF936ED}"/>
              </a:ext>
            </a:extLst>
          </p:cNvPr>
          <p:cNvSpPr/>
          <p:nvPr/>
        </p:nvSpPr>
        <p:spPr>
          <a:xfrm>
            <a:off x="9526418" y="3053155"/>
            <a:ext cx="1645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5</a:t>
            </a:r>
          </a:p>
        </p:txBody>
      </p:sp>
      <p:sp>
        <p:nvSpPr>
          <p:cNvPr id="87" name="Case 1 - Q1">
            <a:extLst>
              <a:ext uri="{FF2B5EF4-FFF2-40B4-BE49-F238E27FC236}">
                <a16:creationId xmlns:a16="http://schemas.microsoft.com/office/drawing/2014/main" id="{50ADDB14-2125-4B14-B544-5415C7492081}"/>
              </a:ext>
            </a:extLst>
          </p:cNvPr>
          <p:cNvSpPr/>
          <p:nvPr/>
        </p:nvSpPr>
        <p:spPr>
          <a:xfrm>
            <a:off x="8778734" y="4232591"/>
            <a:ext cx="32004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antibiotics would you start?</a:t>
            </a:r>
          </a:p>
        </p:txBody>
      </p:sp>
      <p:sp>
        <p:nvSpPr>
          <p:cNvPr id="89" name="Case 2 - answer1">
            <a:extLst>
              <a:ext uri="{FF2B5EF4-FFF2-40B4-BE49-F238E27FC236}">
                <a16:creationId xmlns:a16="http://schemas.microsoft.com/office/drawing/2014/main" id="{E2202CEF-80D6-4EAD-9BC8-4EDAD6F01D98}"/>
              </a:ext>
            </a:extLst>
          </p:cNvPr>
          <p:cNvSpPr/>
          <p:nvPr/>
        </p:nvSpPr>
        <p:spPr>
          <a:xfrm>
            <a:off x="8751599" y="4615229"/>
            <a:ext cx="3281475" cy="1785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If prior cultures are available, this should guide antibiotic therapy. Otherwise, empiric treatment with </a:t>
            </a:r>
            <a:r>
              <a:rPr lang="en-US" sz="1500" b="1" dirty="0"/>
              <a:t>urinary FQ (cipro, </a:t>
            </a:r>
            <a:r>
              <a:rPr lang="en-US" sz="1500" b="1" dirty="0" err="1"/>
              <a:t>levo</a:t>
            </a:r>
            <a:r>
              <a:rPr lang="en-US" sz="1500" b="1" dirty="0"/>
              <a:t>)</a:t>
            </a:r>
            <a:r>
              <a:rPr lang="en-US" sz="1500" dirty="0"/>
              <a:t> or </a:t>
            </a:r>
            <a:r>
              <a:rPr lang="en-US" sz="1500" b="1" dirty="0"/>
              <a:t>ceftazidime</a:t>
            </a:r>
            <a:r>
              <a:rPr lang="en-US" sz="1500" dirty="0"/>
              <a:t>/ </a:t>
            </a:r>
            <a:r>
              <a:rPr lang="en-US" sz="1500" b="1" dirty="0"/>
              <a:t>cefepime. </a:t>
            </a:r>
            <a:r>
              <a:rPr lang="en-US" sz="1500" dirty="0"/>
              <a:t>Pip-</a:t>
            </a:r>
            <a:r>
              <a:rPr lang="en-US" sz="1500" dirty="0" err="1"/>
              <a:t>tazo</a:t>
            </a:r>
            <a:r>
              <a:rPr lang="en-US" sz="1500" dirty="0"/>
              <a:t> and meropenem will cover PsA but are generally too broad for empiric therapy. 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DB5914CA-2CFA-49C7-869A-280178488B0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7455" y="4478069"/>
            <a:ext cx="274320" cy="274320"/>
          </a:xfrm>
          <a:prstGeom prst="rect">
            <a:avLst/>
          </a:prstGeom>
        </p:spPr>
      </p:pic>
      <p:pic>
        <p:nvPicPr>
          <p:cNvPr id="93" name="Graphic 92" descr="Cursor with solid fill">
            <a:extLst>
              <a:ext uri="{FF2B5EF4-FFF2-40B4-BE49-F238E27FC236}">
                <a16:creationId xmlns:a16="http://schemas.microsoft.com/office/drawing/2014/main" id="{621EDECA-C58C-48BE-8BED-804941E0C6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2505" y="3281117"/>
            <a:ext cx="274320" cy="274320"/>
          </a:xfrm>
          <a:prstGeom prst="rect">
            <a:avLst/>
          </a:prstGeom>
        </p:spPr>
      </p:pic>
      <p:sp>
        <p:nvSpPr>
          <p:cNvPr id="94" name="Case 1 text">
            <a:extLst>
              <a:ext uri="{FF2B5EF4-FFF2-40B4-BE49-F238E27FC236}">
                <a16:creationId xmlns:a16="http://schemas.microsoft.com/office/drawing/2014/main" id="{483959DC-D042-47BA-82BC-BFA22FD684AF}"/>
              </a:ext>
            </a:extLst>
          </p:cNvPr>
          <p:cNvSpPr txBox="1"/>
          <p:nvPr/>
        </p:nvSpPr>
        <p:spPr>
          <a:xfrm>
            <a:off x="8740897" y="3417638"/>
            <a:ext cx="329184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58 </a:t>
            </a:r>
            <a:r>
              <a:rPr lang="en-US" sz="1500" dirty="0" err="1">
                <a:ea typeface="+mn-lt"/>
                <a:cs typeface="+mn-lt"/>
              </a:rPr>
              <a:t>yo</a:t>
            </a:r>
            <a:r>
              <a:rPr lang="en-US" sz="1500" dirty="0">
                <a:ea typeface="+mn-lt"/>
                <a:cs typeface="+mn-lt"/>
              </a:rPr>
              <a:t> with an indwelling catheter is admitted for sepsis from a Pseudomonas UTI.</a:t>
            </a:r>
          </a:p>
        </p:txBody>
      </p:sp>
    </p:spTree>
    <p:extLst>
      <p:ext uri="{BB962C8B-B14F-4D97-AF65-F5344CB8AC3E}">
        <p14:creationId xmlns:p14="http://schemas.microsoft.com/office/powerpoint/2010/main" val="386978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9" grpId="0"/>
      <p:bldP spid="10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6" grpId="0"/>
      <p:bldP spid="27" grpId="0"/>
      <p:bldP spid="33" grpId="0"/>
      <p:bldP spid="38" grpId="0" animBg="1"/>
      <p:bldP spid="40" grpId="0"/>
      <p:bldP spid="63" grpId="0"/>
      <p:bldP spid="68" grpId="0" animBg="1"/>
      <p:bldP spid="69" grpId="0" animBg="1"/>
      <p:bldP spid="70" grpId="0"/>
      <p:bldP spid="74" grpId="0"/>
      <p:bldP spid="76" grpId="0"/>
      <p:bldP spid="77" grpId="0"/>
      <p:bldP spid="87" grpId="0" animBg="1"/>
      <p:bldP spid="89" grpId="0"/>
      <p:bldP spid="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4B50829-2516-4CAA-9767-C1D6392B69E2}"/>
              </a:ext>
            </a:extLst>
          </p:cNvPr>
          <p:cNvGrpSpPr/>
          <p:nvPr/>
        </p:nvGrpSpPr>
        <p:grpSpPr>
          <a:xfrm>
            <a:off x="43542" y="0"/>
            <a:ext cx="12118453" cy="6806684"/>
            <a:chOff x="2720355" y="0"/>
            <a:chExt cx="9398098" cy="6806684"/>
          </a:xfrm>
        </p:grpSpPr>
        <p:grpSp>
          <p:nvGrpSpPr>
            <p:cNvPr id="2" name="Table">
              <a:extLst>
                <a:ext uri="{FF2B5EF4-FFF2-40B4-BE49-F238E27FC236}">
                  <a16:creationId xmlns:a16="http://schemas.microsoft.com/office/drawing/2014/main" id="{55055D73-DAFE-4DD2-AEB0-6C6B0E6441E0}"/>
                </a:ext>
              </a:extLst>
            </p:cNvPr>
            <p:cNvGrpSpPr/>
            <p:nvPr/>
          </p:nvGrpSpPr>
          <p:grpSpPr>
            <a:xfrm>
              <a:off x="2720355" y="0"/>
              <a:ext cx="9398098" cy="6782939"/>
              <a:chOff x="23808" y="-304"/>
              <a:chExt cx="9398098" cy="6782939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D663A71-E8C7-4757-A5A6-17769B878D9E}"/>
                  </a:ext>
                </a:extLst>
              </p:cNvPr>
              <p:cNvCxnSpPr/>
              <p:nvPr/>
            </p:nvCxnSpPr>
            <p:spPr>
              <a:xfrm>
                <a:off x="1106062" y="-304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CABA20-F1C7-427D-AAFA-B4050A44C105}"/>
                  </a:ext>
                </a:extLst>
              </p:cNvPr>
              <p:cNvSpPr txBox="1"/>
              <p:nvPr/>
            </p:nvSpPr>
            <p:spPr>
              <a:xfrm>
                <a:off x="23808" y="116977"/>
                <a:ext cx="10912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ATYPICALS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2EA5D-2D35-453B-A43A-2B75C42E9746}"/>
                  </a:ext>
                </a:extLst>
              </p:cNvPr>
              <p:cNvSpPr txBox="1"/>
              <p:nvPr/>
            </p:nvSpPr>
            <p:spPr>
              <a:xfrm>
                <a:off x="2016663" y="100661"/>
                <a:ext cx="13600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ENTEROCOCCUS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78B7A-2D40-4486-826B-9B475BDF5503}"/>
                  </a:ext>
                </a:extLst>
              </p:cNvPr>
              <p:cNvSpPr txBox="1"/>
              <p:nvPr/>
            </p:nvSpPr>
            <p:spPr>
              <a:xfrm>
                <a:off x="1124561" y="113347"/>
                <a:ext cx="851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MRSA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B041A2-CF58-48A5-8B0E-8BEE2B760370}"/>
                  </a:ext>
                </a:extLst>
              </p:cNvPr>
              <p:cNvSpPr txBox="1"/>
              <p:nvPr/>
            </p:nvSpPr>
            <p:spPr>
              <a:xfrm>
                <a:off x="3440468" y="111053"/>
                <a:ext cx="11321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GPCs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FDB564-3411-45FA-8EB3-1C659296C4E6}"/>
                  </a:ext>
                </a:extLst>
              </p:cNvPr>
              <p:cNvSpPr txBox="1"/>
              <p:nvPr/>
            </p:nvSpPr>
            <p:spPr>
              <a:xfrm>
                <a:off x="4629804" y="107646"/>
                <a:ext cx="12118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GNRs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97294A-06F2-4803-A50D-24F840AC9C03}"/>
                  </a:ext>
                </a:extLst>
              </p:cNvPr>
              <p:cNvSpPr txBox="1"/>
              <p:nvPr/>
            </p:nvSpPr>
            <p:spPr>
              <a:xfrm>
                <a:off x="5877425" y="107646"/>
                <a:ext cx="13335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PSEUDOMONAS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518EB4-D4D0-4AEE-BBBB-32B6E14DB57F}"/>
                  </a:ext>
                </a:extLst>
              </p:cNvPr>
              <p:cNvSpPr txBox="1"/>
              <p:nvPr/>
            </p:nvSpPr>
            <p:spPr>
              <a:xfrm>
                <a:off x="7273292" y="850"/>
                <a:ext cx="11836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ANAEROBES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31A38-F0F4-452C-AF61-FCDD9D9A27C7}"/>
                  </a:ext>
                </a:extLst>
              </p:cNvPr>
              <p:cNvSpPr txBox="1"/>
              <p:nvPr/>
            </p:nvSpPr>
            <p:spPr>
              <a:xfrm>
                <a:off x="8488168" y="116953"/>
                <a:ext cx="9015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ESBLs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7EE3CD-391A-4198-A179-3A97DC5EFB7A}"/>
                  </a:ext>
                </a:extLst>
              </p:cNvPr>
              <p:cNvSpPr txBox="1"/>
              <p:nvPr/>
            </p:nvSpPr>
            <p:spPr>
              <a:xfrm>
                <a:off x="7233207" y="157501"/>
                <a:ext cx="6244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Oral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7D99D8-BF20-408D-B84D-6D1E006B779D}"/>
                  </a:ext>
                </a:extLst>
              </p:cNvPr>
              <p:cNvSpPr txBox="1"/>
              <p:nvPr/>
            </p:nvSpPr>
            <p:spPr>
              <a:xfrm>
                <a:off x="7895431" y="164486"/>
                <a:ext cx="5290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Gut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3FA262A-6A45-404F-B79F-73FE3D9A1609}"/>
                  </a:ext>
                </a:extLst>
              </p:cNvPr>
              <p:cNvCxnSpPr/>
              <p:nvPr/>
            </p:nvCxnSpPr>
            <p:spPr>
              <a:xfrm>
                <a:off x="2016663" y="-304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1F4E89-38BC-4ECB-90F8-5C8D456DB9BC}"/>
                  </a:ext>
                </a:extLst>
              </p:cNvPr>
              <p:cNvCxnSpPr/>
              <p:nvPr/>
            </p:nvCxnSpPr>
            <p:spPr>
              <a:xfrm>
                <a:off x="3376761" y="-304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1C8EEDD-5A80-45B6-A54D-E5D3444B69B6}"/>
                  </a:ext>
                </a:extLst>
              </p:cNvPr>
              <p:cNvCxnSpPr/>
              <p:nvPr/>
            </p:nvCxnSpPr>
            <p:spPr>
              <a:xfrm>
                <a:off x="4619917" y="-304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4DE880F-1597-4FEE-8FF4-A9BD3659F968}"/>
                  </a:ext>
                </a:extLst>
              </p:cNvPr>
              <p:cNvCxnSpPr/>
              <p:nvPr/>
            </p:nvCxnSpPr>
            <p:spPr>
              <a:xfrm>
                <a:off x="5852535" y="-304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83C2033-3306-4780-A275-A06B505D1F27}"/>
                  </a:ext>
                </a:extLst>
              </p:cNvPr>
              <p:cNvCxnSpPr/>
              <p:nvPr/>
            </p:nvCxnSpPr>
            <p:spPr>
              <a:xfrm>
                <a:off x="7218355" y="-304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AD9B736-F011-45C3-9CA9-4EC9B9B3E4AF}"/>
                  </a:ext>
                </a:extLst>
              </p:cNvPr>
              <p:cNvCxnSpPr/>
              <p:nvPr/>
            </p:nvCxnSpPr>
            <p:spPr>
              <a:xfrm>
                <a:off x="8457844" y="1406"/>
                <a:ext cx="0" cy="67812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E1655AB-3623-4B39-BBC3-ED258DE9FF45}"/>
                  </a:ext>
                </a:extLst>
              </p:cNvPr>
              <p:cNvCxnSpPr/>
              <p:nvPr/>
            </p:nvCxnSpPr>
            <p:spPr>
              <a:xfrm>
                <a:off x="7865107" y="431399"/>
                <a:ext cx="0" cy="6349526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86D7788-A82B-4800-94F1-0EB5060C8C39}"/>
                  </a:ext>
                </a:extLst>
              </p:cNvPr>
              <p:cNvCxnSpPr/>
              <p:nvPr/>
            </p:nvCxnSpPr>
            <p:spPr>
              <a:xfrm>
                <a:off x="23808" y="416163"/>
                <a:ext cx="9398098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Left Bracket 21">
              <a:extLst>
                <a:ext uri="{FF2B5EF4-FFF2-40B4-BE49-F238E27FC236}">
                  <a16:creationId xmlns:a16="http://schemas.microsoft.com/office/drawing/2014/main" id="{C905906C-3B93-40E5-815B-9909D04CDE66}"/>
                </a:ext>
              </a:extLst>
            </p:cNvPr>
            <p:cNvSpPr/>
            <p:nvPr/>
          </p:nvSpPr>
          <p:spPr>
            <a:xfrm>
              <a:off x="4618289" y="467716"/>
              <a:ext cx="45719" cy="1033807"/>
            </a:xfrm>
            <a:prstGeom prst="leftBracket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91433A9-5866-4053-8B4C-C373A9A9D4E3}"/>
                </a:ext>
              </a:extLst>
            </p:cNvPr>
            <p:cNvSpPr/>
            <p:nvPr/>
          </p:nvSpPr>
          <p:spPr>
            <a:xfrm>
              <a:off x="6077229" y="1502169"/>
              <a:ext cx="1245211" cy="21059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2857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</a:t>
              </a:r>
              <a:r>
                <a:rPr lang="en-US" sz="1200" baseline="30000" dirty="0"/>
                <a:t>st</a:t>
              </a:r>
              <a:r>
                <a:rPr lang="en-US" sz="1200" dirty="0"/>
                <a:t> G (cefazolin)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5040111-3679-4FCD-992D-0EC80C63BB79}"/>
                </a:ext>
              </a:extLst>
            </p:cNvPr>
            <p:cNvSpPr/>
            <p:nvPr/>
          </p:nvSpPr>
          <p:spPr>
            <a:xfrm>
              <a:off x="7321873" y="2271202"/>
              <a:ext cx="2868455" cy="21031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</a:t>
              </a:r>
              <a:r>
                <a:rPr lang="en-US" sz="1200" baseline="30000" dirty="0">
                  <a:solidFill>
                    <a:schemeClr val="tx1"/>
                  </a:solidFill>
                </a:rPr>
                <a:t>rd</a:t>
              </a:r>
              <a:r>
                <a:rPr lang="en-US" sz="1200" dirty="0">
                  <a:solidFill>
                    <a:schemeClr val="tx1"/>
                  </a:solidFill>
                </a:rPr>
                <a:t> G (ceftazidime)</a:t>
              </a:r>
            </a:p>
          </p:txBody>
        </p:sp>
        <p:sp>
          <p:nvSpPr>
            <p:cNvPr id="25" name="Left Bracket 24">
              <a:extLst>
                <a:ext uri="{FF2B5EF4-FFF2-40B4-BE49-F238E27FC236}">
                  <a16:creationId xmlns:a16="http://schemas.microsoft.com/office/drawing/2014/main" id="{FB688F62-568C-4B57-8898-525FB5E01CC8}"/>
                </a:ext>
              </a:extLst>
            </p:cNvPr>
            <p:cNvSpPr/>
            <p:nvPr/>
          </p:nvSpPr>
          <p:spPr>
            <a:xfrm>
              <a:off x="5917624" y="1502169"/>
              <a:ext cx="45719" cy="1508928"/>
            </a:xfrm>
            <a:prstGeom prst="leftBracket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CAC127-8834-43C6-BC4B-540E61B6F360}"/>
                </a:ext>
              </a:extLst>
            </p:cNvPr>
            <p:cNvGrpSpPr/>
            <p:nvPr/>
          </p:nvGrpSpPr>
          <p:grpSpPr>
            <a:xfrm>
              <a:off x="3798690" y="2784587"/>
              <a:ext cx="4748669" cy="210312"/>
              <a:chOff x="3798690" y="2768887"/>
              <a:chExt cx="4748669" cy="21031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97C09ED-058E-4DD5-915A-1C79920EF589}"/>
                  </a:ext>
                </a:extLst>
              </p:cNvPr>
              <p:cNvSpPr/>
              <p:nvPr/>
            </p:nvSpPr>
            <p:spPr>
              <a:xfrm>
                <a:off x="6077229" y="2768887"/>
                <a:ext cx="2470130" cy="21031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5</a:t>
                </a:r>
                <a:r>
                  <a:rPr lang="en-US" sz="1200" baseline="30000" dirty="0">
                    <a:solidFill>
                      <a:schemeClr val="tx1"/>
                    </a:solidFill>
                  </a:rPr>
                  <a:t>th</a:t>
                </a:r>
                <a:r>
                  <a:rPr lang="en-US" sz="1200" dirty="0">
                    <a:solidFill>
                      <a:schemeClr val="tx1"/>
                    </a:solidFill>
                  </a:rPr>
                  <a:t> G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ceftaroline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67D46C-9243-4F3E-9D4E-9C6B6EACCDEE}"/>
                  </a:ext>
                </a:extLst>
              </p:cNvPr>
              <p:cNvSpPr/>
              <p:nvPr/>
            </p:nvSpPr>
            <p:spPr>
              <a:xfrm>
                <a:off x="3798690" y="2768887"/>
                <a:ext cx="914520" cy="21031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A4FA4A0-7B87-4DDD-A152-08788F7110CC}"/>
                </a:ext>
              </a:extLst>
            </p:cNvPr>
            <p:cNvGrpSpPr/>
            <p:nvPr/>
          </p:nvGrpSpPr>
          <p:grpSpPr>
            <a:xfrm>
              <a:off x="6077228" y="1758448"/>
              <a:ext cx="4576155" cy="210312"/>
              <a:chOff x="6077228" y="1751984"/>
              <a:chExt cx="4576155" cy="210312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42539E3-B3D9-48F2-9048-230EEE7C6DA0}"/>
                  </a:ext>
                </a:extLst>
              </p:cNvPr>
              <p:cNvSpPr/>
              <p:nvPr/>
            </p:nvSpPr>
            <p:spPr>
              <a:xfrm>
                <a:off x="6077228" y="1751984"/>
                <a:ext cx="1980083" cy="21031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</a:t>
                </a:r>
                <a:r>
                  <a:rPr lang="en-US" sz="1200" baseline="30000" dirty="0"/>
                  <a:t>nd</a:t>
                </a:r>
                <a:r>
                  <a:rPr lang="en-US" sz="1200" dirty="0"/>
                  <a:t> G (</a:t>
                </a:r>
                <a:r>
                  <a:rPr lang="en-US" sz="1200" dirty="0" err="1"/>
                  <a:t>cefotetan</a:t>
                </a:r>
                <a:r>
                  <a:rPr lang="en-US" sz="1200" dirty="0"/>
                  <a:t>, cefuroxime)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F691273-7F8D-4890-8C8B-1BBD64C028FE}"/>
                  </a:ext>
                </a:extLst>
              </p:cNvPr>
              <p:cNvSpPr/>
              <p:nvPr/>
            </p:nvSpPr>
            <p:spPr>
              <a:xfrm>
                <a:off x="9912537" y="1751984"/>
                <a:ext cx="740846" cy="21031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6635B71-9E51-4E8F-ADF0-37E7A972C3B2}"/>
                </a:ext>
              </a:extLst>
            </p:cNvPr>
            <p:cNvGrpSpPr/>
            <p:nvPr/>
          </p:nvGrpSpPr>
          <p:grpSpPr>
            <a:xfrm>
              <a:off x="6077229" y="2014020"/>
              <a:ext cx="4122526" cy="210312"/>
              <a:chOff x="6077229" y="2007556"/>
              <a:chExt cx="4122526" cy="210312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FBFFF60-AA86-4252-8A94-5941ED8B21D1}"/>
                  </a:ext>
                </a:extLst>
              </p:cNvPr>
              <p:cNvSpPr/>
              <p:nvPr/>
            </p:nvSpPr>
            <p:spPr>
              <a:xfrm>
                <a:off x="6077229" y="2007556"/>
                <a:ext cx="2475773" cy="210312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3</a:t>
                </a:r>
                <a:r>
                  <a:rPr lang="en-US" sz="1200" baseline="30000" dirty="0">
                    <a:solidFill>
                      <a:schemeClr val="bg1"/>
                    </a:solidFill>
                  </a:rPr>
                  <a:t>rd</a:t>
                </a:r>
                <a:r>
                  <a:rPr lang="en-US" sz="1200" dirty="0">
                    <a:solidFill>
                      <a:schemeClr val="bg1"/>
                    </a:solidFill>
                  </a:rPr>
                  <a:t> G (ceftriaxone, cefpodoxime)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0D8C9AE-B70D-4EE9-A8BA-CA364DF98141}"/>
                  </a:ext>
                </a:extLst>
              </p:cNvPr>
              <p:cNvSpPr/>
              <p:nvPr/>
            </p:nvSpPr>
            <p:spPr>
              <a:xfrm>
                <a:off x="9916905" y="2007556"/>
                <a:ext cx="282850" cy="210312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F49230-66B0-44BA-BD48-35EF713D4F76}"/>
                </a:ext>
              </a:extLst>
            </p:cNvPr>
            <p:cNvSpPr/>
            <p:nvPr/>
          </p:nvSpPr>
          <p:spPr>
            <a:xfrm>
              <a:off x="6077229" y="2526591"/>
              <a:ext cx="4113100" cy="2103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4</a:t>
              </a:r>
              <a:r>
                <a:rPr lang="en-US" sz="1200" baseline="30000" dirty="0">
                  <a:solidFill>
                    <a:schemeClr val="tx1"/>
                  </a:solidFill>
                </a:rPr>
                <a:t>th</a:t>
              </a:r>
              <a:r>
                <a:rPr lang="en-US" sz="1200" dirty="0">
                  <a:solidFill>
                    <a:schemeClr val="tx1"/>
                  </a:solidFill>
                </a:rPr>
                <a:t> G cefepime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DB84DEF-1D16-4602-94A6-F93EE3818F3D}"/>
                </a:ext>
              </a:extLst>
            </p:cNvPr>
            <p:cNvSpPr/>
            <p:nvPr/>
          </p:nvSpPr>
          <p:spPr>
            <a:xfrm>
              <a:off x="6076557" y="707268"/>
              <a:ext cx="1233036" cy="21031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Nafcillin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29339CA-B025-4EEA-B90D-34AE8AC7D9E0}"/>
                </a:ext>
              </a:extLst>
            </p:cNvPr>
            <p:cNvSpPr/>
            <p:nvPr/>
          </p:nvSpPr>
          <p:spPr>
            <a:xfrm>
              <a:off x="5514897" y="1221788"/>
              <a:ext cx="5606163" cy="2103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Piperacillin-tazobactam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0F62368-F1FE-446B-8E71-93656EA7B977}"/>
                </a:ext>
              </a:extLst>
            </p:cNvPr>
            <p:cNvGrpSpPr/>
            <p:nvPr/>
          </p:nvGrpSpPr>
          <p:grpSpPr>
            <a:xfrm>
              <a:off x="5514898" y="959911"/>
              <a:ext cx="5627739" cy="211582"/>
              <a:chOff x="5514898" y="986278"/>
              <a:chExt cx="5627739" cy="211582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00D5188-0150-4C83-B116-1C4E4CAA154B}"/>
                  </a:ext>
                </a:extLst>
              </p:cNvPr>
              <p:cNvSpPr/>
              <p:nvPr/>
            </p:nvSpPr>
            <p:spPr>
              <a:xfrm>
                <a:off x="5514898" y="987548"/>
                <a:ext cx="3017520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Ampicillin/amoxicillin + </a:t>
                </a:r>
                <a:r>
                  <a:rPr lang="el-GR" sz="1200" dirty="0"/>
                  <a:t>β</a:t>
                </a:r>
                <a:r>
                  <a:rPr lang="en-US" sz="1200" dirty="0">
                    <a:solidFill>
                      <a:schemeClr val="bg1"/>
                    </a:solidFill>
                  </a:rPr>
                  <a:t>-lactamase inhibitor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49A4C8A-0607-4A42-9D7B-3997A213935B}"/>
                  </a:ext>
                </a:extLst>
              </p:cNvPr>
              <p:cNvSpPr/>
              <p:nvPr/>
            </p:nvSpPr>
            <p:spPr>
              <a:xfrm>
                <a:off x="9926346" y="986278"/>
                <a:ext cx="1216291" cy="210312"/>
              </a:xfrm>
              <a:prstGeom prst="rect">
                <a:avLst/>
              </a:prstGeom>
              <a:grp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58795E1-FC95-4AA9-98F2-F8630149F34F}"/>
                </a:ext>
              </a:extLst>
            </p:cNvPr>
            <p:cNvGrpSpPr/>
            <p:nvPr/>
          </p:nvGrpSpPr>
          <p:grpSpPr>
            <a:xfrm>
              <a:off x="5514897" y="463861"/>
              <a:ext cx="5026679" cy="210312"/>
              <a:chOff x="5514897" y="463861"/>
              <a:chExt cx="5026679" cy="21031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0DD05CD-3786-4EC3-93AC-B587FA133FE4}"/>
                  </a:ext>
                </a:extLst>
              </p:cNvPr>
              <p:cNvGrpSpPr/>
              <p:nvPr/>
            </p:nvGrpSpPr>
            <p:grpSpPr>
              <a:xfrm>
                <a:off x="5514897" y="463861"/>
                <a:ext cx="5026679" cy="210312"/>
                <a:chOff x="5528666" y="463861"/>
                <a:chExt cx="5026679" cy="210312"/>
              </a:xfrm>
              <a:solidFill>
                <a:schemeClr val="accent1">
                  <a:lumMod val="75000"/>
                </a:schemeClr>
              </a:solidFill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4097293-EB99-45DD-AFA3-0F5D4A241516}"/>
                    </a:ext>
                  </a:extLst>
                </p:cNvPr>
                <p:cNvSpPr/>
                <p:nvPr/>
              </p:nvSpPr>
              <p:spPr>
                <a:xfrm>
                  <a:off x="5528666" y="463862"/>
                  <a:ext cx="1321635" cy="203804"/>
                </a:xfrm>
                <a:prstGeom prst="rect">
                  <a:avLst/>
                </a:prstGeom>
                <a:grpFill/>
                <a:ln w="28575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Penicillin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1F167E4B-5F2E-42FC-9333-F5D0A64C163C}"/>
                    </a:ext>
                  </a:extLst>
                </p:cNvPr>
                <p:cNvSpPr/>
                <p:nvPr/>
              </p:nvSpPr>
              <p:spPr>
                <a:xfrm>
                  <a:off x="9933553" y="463861"/>
                  <a:ext cx="621792" cy="210312"/>
                </a:xfrm>
                <a:prstGeom prst="rect">
                  <a:avLst/>
                </a:prstGeom>
                <a:grpFill/>
                <a:ln w="28575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D498CF5-859C-4E61-B0B3-829109C4340F}"/>
                  </a:ext>
                </a:extLst>
              </p:cNvPr>
              <p:cNvSpPr/>
              <p:nvPr/>
            </p:nvSpPr>
            <p:spPr>
              <a:xfrm>
                <a:off x="7330148" y="463861"/>
                <a:ext cx="88426" cy="21031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46" name="Penicillins">
              <a:hlinkClick r:id="rId2" action="ppaction://hlinksldjump"/>
              <a:extLst>
                <a:ext uri="{FF2B5EF4-FFF2-40B4-BE49-F238E27FC236}">
                  <a16:creationId xmlns:a16="http://schemas.microsoft.com/office/drawing/2014/main" id="{D6360A4F-A0C6-4449-806B-192BEA4A2D20}"/>
                </a:ext>
              </a:extLst>
            </p:cNvPr>
            <p:cNvSpPr txBox="1"/>
            <p:nvPr/>
          </p:nvSpPr>
          <p:spPr>
            <a:xfrm>
              <a:off x="3123514" y="831225"/>
              <a:ext cx="1188720" cy="374571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accent1"/>
                  </a:solidFill>
                </a:rPr>
                <a:t>Penicillins</a:t>
              </a:r>
              <a:endParaRPr lang="en-US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48" name="Cephalosporins">
              <a:hlinkClick r:id="rId3" action="ppaction://hlinksldjump"/>
              <a:extLst>
                <a:ext uri="{FF2B5EF4-FFF2-40B4-BE49-F238E27FC236}">
                  <a16:creationId xmlns:a16="http://schemas.microsoft.com/office/drawing/2014/main" id="{E75B30F0-477D-4A79-94FA-B678511784E2}"/>
                </a:ext>
              </a:extLst>
            </p:cNvPr>
            <p:cNvSpPr txBox="1"/>
            <p:nvPr/>
          </p:nvSpPr>
          <p:spPr>
            <a:xfrm>
              <a:off x="3123514" y="1835259"/>
              <a:ext cx="1589695" cy="374571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Cephalosporins</a:t>
              </a:r>
            </a:p>
          </p:txBody>
        </p:sp>
        <p:sp>
          <p:nvSpPr>
            <p:cNvPr id="50" name="Left Bracket 49">
              <a:extLst>
                <a:ext uri="{FF2B5EF4-FFF2-40B4-BE49-F238E27FC236}">
                  <a16:creationId xmlns:a16="http://schemas.microsoft.com/office/drawing/2014/main" id="{A1BC0587-AB91-4685-81A1-B9C8C5B7CFC8}"/>
                </a:ext>
              </a:extLst>
            </p:cNvPr>
            <p:cNvSpPr/>
            <p:nvPr/>
          </p:nvSpPr>
          <p:spPr>
            <a:xfrm>
              <a:off x="5603116" y="2992105"/>
              <a:ext cx="82925" cy="612634"/>
            </a:xfrm>
            <a:prstGeom prst="leftBracket">
              <a:avLst/>
            </a:prstGeom>
            <a:ln w="190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0A57AB2-FFAB-4961-B6F9-C2CEB23A43BE}"/>
                </a:ext>
              </a:extLst>
            </p:cNvPr>
            <p:cNvGrpSpPr/>
            <p:nvPr/>
          </p:nvGrpSpPr>
          <p:grpSpPr>
            <a:xfrm>
              <a:off x="5761189" y="3063919"/>
              <a:ext cx="6296615" cy="210312"/>
              <a:chOff x="4364645" y="3301012"/>
              <a:chExt cx="8147854" cy="21629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4DA36B4-143F-47E0-BD82-5B7C151C45F8}"/>
                  </a:ext>
                </a:extLst>
              </p:cNvPr>
              <p:cNvSpPr/>
              <p:nvPr/>
            </p:nvSpPr>
            <p:spPr>
              <a:xfrm>
                <a:off x="4364645" y="3301012"/>
                <a:ext cx="3208568" cy="216295"/>
              </a:xfrm>
              <a:prstGeom prst="rect">
                <a:avLst/>
              </a:prstGeom>
              <a:solidFill>
                <a:schemeClr val="accent4"/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Ertapenem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DB28647-B240-4205-964C-A056675446E3}"/>
                  </a:ext>
                </a:extLst>
              </p:cNvPr>
              <p:cNvSpPr/>
              <p:nvPr/>
            </p:nvSpPr>
            <p:spPr>
              <a:xfrm>
                <a:off x="9730945" y="3305677"/>
                <a:ext cx="2781554" cy="202828"/>
              </a:xfrm>
              <a:prstGeom prst="rect">
                <a:avLst/>
              </a:prstGeom>
              <a:solidFill>
                <a:schemeClr val="accent4"/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Ertapenem</a:t>
                </a:r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66F502-114A-4DE7-8D67-94CE18EDEA6F}"/>
                </a:ext>
              </a:extLst>
            </p:cNvPr>
            <p:cNvSpPr/>
            <p:nvPr/>
          </p:nvSpPr>
          <p:spPr>
            <a:xfrm>
              <a:off x="5761188" y="3314971"/>
              <a:ext cx="6296615" cy="21031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Imipenem, meropenem, </a:t>
              </a:r>
              <a:r>
                <a:rPr lang="en-US" sz="1200" dirty="0" err="1">
                  <a:solidFill>
                    <a:schemeClr val="tx1"/>
                  </a:solidFill>
                </a:rPr>
                <a:t>doripenem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4D7582-9D92-465B-ADC8-8C37982A7F66}"/>
                </a:ext>
              </a:extLst>
            </p:cNvPr>
            <p:cNvGrpSpPr/>
            <p:nvPr/>
          </p:nvGrpSpPr>
          <p:grpSpPr>
            <a:xfrm>
              <a:off x="2789382" y="3853269"/>
              <a:ext cx="7497870" cy="207971"/>
              <a:chOff x="2789382" y="3956403"/>
              <a:chExt cx="7497870" cy="207971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0A5D17-AD40-49BA-A768-5500DE590915}"/>
                  </a:ext>
                </a:extLst>
              </p:cNvPr>
              <p:cNvSpPr/>
              <p:nvPr/>
            </p:nvSpPr>
            <p:spPr>
              <a:xfrm>
                <a:off x="5623812" y="3956403"/>
                <a:ext cx="4663440" cy="20797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Levofloxacin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2BAC437-E46F-4B0A-9CF5-2962D3A2252A}"/>
                  </a:ext>
                </a:extLst>
              </p:cNvPr>
              <p:cNvSpPr/>
              <p:nvPr/>
            </p:nvSpPr>
            <p:spPr>
              <a:xfrm>
                <a:off x="2789382" y="3956403"/>
                <a:ext cx="1004507" cy="20797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70F32A5-9E81-4845-A6F6-DB2584BFCFD5}"/>
                </a:ext>
              </a:extLst>
            </p:cNvPr>
            <p:cNvGrpSpPr/>
            <p:nvPr/>
          </p:nvGrpSpPr>
          <p:grpSpPr>
            <a:xfrm>
              <a:off x="10640884" y="3620428"/>
              <a:ext cx="1006466" cy="444579"/>
              <a:chOff x="10650420" y="3674500"/>
              <a:chExt cx="1087663" cy="444579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E3F0BB-119D-4308-9655-DCE8EFEE46FC}"/>
                  </a:ext>
                </a:extLst>
              </p:cNvPr>
              <p:cNvSpPr txBox="1"/>
              <p:nvPr/>
            </p:nvSpPr>
            <p:spPr>
              <a:xfrm>
                <a:off x="10743028" y="3689484"/>
                <a:ext cx="995055" cy="30646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Urinary FQ</a:t>
                </a:r>
              </a:p>
            </p:txBody>
          </p:sp>
          <p:sp>
            <p:nvSpPr>
              <p:cNvPr id="60" name="Left Bracket 59">
                <a:extLst>
                  <a:ext uri="{FF2B5EF4-FFF2-40B4-BE49-F238E27FC236}">
                    <a16:creationId xmlns:a16="http://schemas.microsoft.com/office/drawing/2014/main" id="{E75AF82E-DBF5-4020-9A0A-74FFD8A2A18B}"/>
                  </a:ext>
                </a:extLst>
              </p:cNvPr>
              <p:cNvSpPr/>
              <p:nvPr/>
            </p:nvSpPr>
            <p:spPr>
              <a:xfrm flipH="1">
                <a:off x="10650420" y="3674500"/>
                <a:ext cx="46927" cy="444579"/>
              </a:xfrm>
              <a:prstGeom prst="leftBracke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85612B0-1FA4-4016-8F7B-3D4F14A69A11}"/>
                </a:ext>
              </a:extLst>
            </p:cNvPr>
            <p:cNvGrpSpPr/>
            <p:nvPr/>
          </p:nvGrpSpPr>
          <p:grpSpPr>
            <a:xfrm>
              <a:off x="2789382" y="3600616"/>
              <a:ext cx="7111326" cy="210312"/>
              <a:chOff x="2789382" y="3638716"/>
              <a:chExt cx="7111326" cy="210312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51BD25C-5C43-44A0-8D88-92C44CEA3660}"/>
                  </a:ext>
                </a:extLst>
              </p:cNvPr>
              <p:cNvGrpSpPr/>
              <p:nvPr/>
            </p:nvGrpSpPr>
            <p:grpSpPr>
              <a:xfrm>
                <a:off x="2789382" y="3638716"/>
                <a:ext cx="7111326" cy="210312"/>
                <a:chOff x="2789382" y="3648143"/>
                <a:chExt cx="7111326" cy="210312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CECF423-249E-4BAD-8759-6257C8EED35C}"/>
                    </a:ext>
                  </a:extLst>
                </p:cNvPr>
                <p:cNvSpPr/>
                <p:nvPr/>
              </p:nvSpPr>
              <p:spPr>
                <a:xfrm>
                  <a:off x="2789382" y="3648143"/>
                  <a:ext cx="1004506" cy="210312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28575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D6732684-A804-4CCE-A408-DCF595C594C7}"/>
                    </a:ext>
                  </a:extLst>
                </p:cNvPr>
                <p:cNvSpPr/>
                <p:nvPr/>
              </p:nvSpPr>
              <p:spPr>
                <a:xfrm>
                  <a:off x="6855756" y="3648143"/>
                  <a:ext cx="3044952" cy="210312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28575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bg1"/>
                      </a:solidFill>
                    </a:rPr>
                    <a:t>Ciprofloxacin</a:t>
                  </a:r>
                </a:p>
              </p:txBody>
            </p:sp>
          </p:grp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9330E0D-023C-4108-9854-C9B453A47A30}"/>
                  </a:ext>
                </a:extLst>
              </p:cNvPr>
              <p:cNvSpPr/>
              <p:nvPr/>
            </p:nvSpPr>
            <p:spPr>
              <a:xfrm>
                <a:off x="5887436" y="3638716"/>
                <a:ext cx="169027" cy="21031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Carbapenems">
              <a:hlinkClick r:id="rId4" action="ppaction://hlinksldjump"/>
              <a:extLst>
                <a:ext uri="{FF2B5EF4-FFF2-40B4-BE49-F238E27FC236}">
                  <a16:creationId xmlns:a16="http://schemas.microsoft.com/office/drawing/2014/main" id="{4A4C66CE-EFE5-4C62-8C65-2BDE9D3B534D}"/>
                </a:ext>
              </a:extLst>
            </p:cNvPr>
            <p:cNvSpPr txBox="1"/>
            <p:nvPr/>
          </p:nvSpPr>
          <p:spPr>
            <a:xfrm>
              <a:off x="3113476" y="3107923"/>
              <a:ext cx="1589695" cy="374571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4"/>
                  </a:solidFill>
                </a:rPr>
                <a:t>Carbapenems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0D30A44-14BC-44EE-BFB3-53488E23C497}"/>
                </a:ext>
              </a:extLst>
            </p:cNvPr>
            <p:cNvGrpSpPr/>
            <p:nvPr/>
          </p:nvGrpSpPr>
          <p:grpSpPr>
            <a:xfrm>
              <a:off x="10767184" y="3889462"/>
              <a:ext cx="1205122" cy="521626"/>
              <a:chOff x="10767184" y="3889462"/>
              <a:chExt cx="1205122" cy="521626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68AB4F8-8275-40F5-B2D3-86DE1F8FB0BA}"/>
                  </a:ext>
                </a:extLst>
              </p:cNvPr>
              <p:cNvSpPr txBox="1"/>
              <p:nvPr/>
            </p:nvSpPr>
            <p:spPr>
              <a:xfrm>
                <a:off x="10767184" y="4002282"/>
                <a:ext cx="1205122" cy="30646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Respiratory FQ</a:t>
                </a:r>
              </a:p>
            </p:txBody>
          </p:sp>
          <p:sp>
            <p:nvSpPr>
              <p:cNvPr id="70" name="Left Bracket 69">
                <a:extLst>
                  <a:ext uri="{FF2B5EF4-FFF2-40B4-BE49-F238E27FC236}">
                    <a16:creationId xmlns:a16="http://schemas.microsoft.com/office/drawing/2014/main" id="{88D282C2-62B0-40DA-BEEA-9B2D4761EA49}"/>
                  </a:ext>
                </a:extLst>
              </p:cNvPr>
              <p:cNvSpPr/>
              <p:nvPr/>
            </p:nvSpPr>
            <p:spPr>
              <a:xfrm flipH="1">
                <a:off x="10788124" y="3889462"/>
                <a:ext cx="45719" cy="521626"/>
              </a:xfrm>
              <a:prstGeom prst="leftBracket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51A2464-003C-480F-9D46-75ABA972B207}"/>
                </a:ext>
              </a:extLst>
            </p:cNvPr>
            <p:cNvGrpSpPr/>
            <p:nvPr/>
          </p:nvGrpSpPr>
          <p:grpSpPr>
            <a:xfrm>
              <a:off x="2793300" y="4108287"/>
              <a:ext cx="7955090" cy="210317"/>
              <a:chOff x="96844" y="4515150"/>
              <a:chExt cx="10308994" cy="253536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4E12732-731C-4ABE-B026-18107DBA4860}"/>
                  </a:ext>
                </a:extLst>
              </p:cNvPr>
              <p:cNvSpPr/>
              <p:nvPr/>
            </p:nvSpPr>
            <p:spPr>
              <a:xfrm>
                <a:off x="3478702" y="4515151"/>
                <a:ext cx="4015189" cy="253531"/>
              </a:xfrm>
              <a:prstGeom prst="rect">
                <a:avLst/>
              </a:prstGeom>
              <a:grp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Moxifloxacin 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(no urine)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9D87172-EBB3-4815-AC6B-5AA369AEED1D}"/>
                  </a:ext>
                </a:extLst>
              </p:cNvPr>
              <p:cNvSpPr/>
              <p:nvPr/>
            </p:nvSpPr>
            <p:spPr>
              <a:xfrm>
                <a:off x="9339365" y="4515155"/>
                <a:ext cx="1066473" cy="253531"/>
              </a:xfrm>
              <a:prstGeom prst="rect">
                <a:avLst/>
              </a:prstGeom>
              <a:grp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81612046-87E6-45BE-964E-02CF918F2A9E}"/>
                  </a:ext>
                </a:extLst>
              </p:cNvPr>
              <p:cNvSpPr/>
              <p:nvPr/>
            </p:nvSpPr>
            <p:spPr>
              <a:xfrm>
                <a:off x="96844" y="4515150"/>
                <a:ext cx="1303467" cy="253531"/>
              </a:xfrm>
              <a:prstGeom prst="rect">
                <a:avLst/>
              </a:prstGeom>
              <a:grp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Carbapenems">
              <a:hlinkClick r:id="rId5" action="ppaction://hlinksldjump"/>
              <a:extLst>
                <a:ext uri="{FF2B5EF4-FFF2-40B4-BE49-F238E27FC236}">
                  <a16:creationId xmlns:a16="http://schemas.microsoft.com/office/drawing/2014/main" id="{360C229C-56C3-4FFD-B833-48423318582C}"/>
                </a:ext>
              </a:extLst>
            </p:cNvPr>
            <p:cNvSpPr txBox="1"/>
            <p:nvPr/>
          </p:nvSpPr>
          <p:spPr>
            <a:xfrm>
              <a:off x="3900430" y="3804717"/>
              <a:ext cx="572904" cy="374571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/>
                  </a:solidFill>
                </a:rPr>
                <a:t>FQ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C6192F9-D570-46A7-8904-C0524B4E6045}"/>
                </a:ext>
              </a:extLst>
            </p:cNvPr>
            <p:cNvGrpSpPr/>
            <p:nvPr/>
          </p:nvGrpSpPr>
          <p:grpSpPr>
            <a:xfrm>
              <a:off x="7313236" y="4375214"/>
              <a:ext cx="4105747" cy="210312"/>
              <a:chOff x="7313236" y="4659459"/>
              <a:chExt cx="4105747" cy="210312"/>
            </a:xfrm>
          </p:grpSpPr>
          <p:sp>
            <p:nvSpPr>
              <p:cNvPr id="78" name="Aminoglycoside">
                <a:extLst>
                  <a:ext uri="{FF2B5EF4-FFF2-40B4-BE49-F238E27FC236}">
                    <a16:creationId xmlns:a16="http://schemas.microsoft.com/office/drawing/2014/main" id="{D9BFE398-0335-4916-9A08-F8CF08A9F41B}"/>
                  </a:ext>
                </a:extLst>
              </p:cNvPr>
              <p:cNvSpPr/>
              <p:nvPr/>
            </p:nvSpPr>
            <p:spPr>
              <a:xfrm>
                <a:off x="7313236" y="4659459"/>
                <a:ext cx="2601315" cy="210312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Aminoglycosides</a:t>
                </a:r>
              </a:p>
            </p:txBody>
          </p:sp>
          <p:sp>
            <p:nvSpPr>
              <p:cNvPr id="79" name="Aztreonam">
                <a:extLst>
                  <a:ext uri="{FF2B5EF4-FFF2-40B4-BE49-F238E27FC236}">
                    <a16:creationId xmlns:a16="http://schemas.microsoft.com/office/drawing/2014/main" id="{FAC983AD-05B8-4B52-BE10-B1240B73A9A3}"/>
                  </a:ext>
                </a:extLst>
              </p:cNvPr>
              <p:cNvSpPr/>
              <p:nvPr/>
            </p:nvSpPr>
            <p:spPr>
              <a:xfrm>
                <a:off x="11153470" y="4659459"/>
                <a:ext cx="265513" cy="210312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80" name="Aztreonam">
              <a:extLst>
                <a:ext uri="{FF2B5EF4-FFF2-40B4-BE49-F238E27FC236}">
                  <a16:creationId xmlns:a16="http://schemas.microsoft.com/office/drawing/2014/main" id="{7FB18F47-29F2-43A7-B06F-A7988CE7F67F}"/>
                </a:ext>
              </a:extLst>
            </p:cNvPr>
            <p:cNvSpPr/>
            <p:nvPr/>
          </p:nvSpPr>
          <p:spPr>
            <a:xfrm>
              <a:off x="7313255" y="4613573"/>
              <a:ext cx="2600491" cy="210312"/>
            </a:xfrm>
            <a:prstGeom prst="rect">
              <a:avLst/>
            </a:prstGeom>
            <a:solidFill>
              <a:srgbClr val="481F67"/>
            </a:solidFill>
            <a:ln>
              <a:solidFill>
                <a:srgbClr val="7030A0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Aztreonam (aerobes only)</a:t>
              </a:r>
            </a:p>
          </p:txBody>
        </p:sp>
        <p:sp>
          <p:nvSpPr>
            <p:cNvPr id="81" name="Carbapenems">
              <a:hlinkClick r:id="rId6" action="ppaction://hlinksldjump"/>
              <a:extLst>
                <a:ext uri="{FF2B5EF4-FFF2-40B4-BE49-F238E27FC236}">
                  <a16:creationId xmlns:a16="http://schemas.microsoft.com/office/drawing/2014/main" id="{CF22BDF3-EA4B-4FCF-A75D-02312C536D54}"/>
                </a:ext>
              </a:extLst>
            </p:cNvPr>
            <p:cNvSpPr txBox="1"/>
            <p:nvPr/>
          </p:nvSpPr>
          <p:spPr>
            <a:xfrm>
              <a:off x="3900430" y="4442566"/>
              <a:ext cx="1200829" cy="374571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7030A0"/>
                  </a:solidFill>
                </a:rPr>
                <a:t>Anti-PsA</a:t>
              </a:r>
            </a:p>
          </p:txBody>
        </p:sp>
        <p:grpSp>
          <p:nvGrpSpPr>
            <p:cNvPr id="83" name="Bactrim">
              <a:extLst>
                <a:ext uri="{FF2B5EF4-FFF2-40B4-BE49-F238E27FC236}">
                  <a16:creationId xmlns:a16="http://schemas.microsoft.com/office/drawing/2014/main" id="{36AD8A81-233D-4E88-8717-35131930987D}"/>
                </a:ext>
              </a:extLst>
            </p:cNvPr>
            <p:cNvGrpSpPr/>
            <p:nvPr/>
          </p:nvGrpSpPr>
          <p:grpSpPr>
            <a:xfrm>
              <a:off x="3810815" y="5387693"/>
              <a:ext cx="4731753" cy="211915"/>
              <a:chOff x="1182836" y="6016658"/>
              <a:chExt cx="6122914" cy="214315"/>
            </a:xfrm>
            <a:solidFill>
              <a:srgbClr val="FF0000"/>
            </a:solidFill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4139B2E-7CD9-4FDA-A829-14A84041E4BC}"/>
                  </a:ext>
                </a:extLst>
              </p:cNvPr>
              <p:cNvSpPr/>
              <p:nvPr/>
            </p:nvSpPr>
            <p:spPr>
              <a:xfrm>
                <a:off x="4611641" y="6018280"/>
                <a:ext cx="2694109" cy="21269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TMP-SMX (</a:t>
                </a:r>
                <a:r>
                  <a:rPr lang="en-US" sz="1200" i="1" dirty="0"/>
                  <a:t>↓ Strep</a:t>
                </a:r>
                <a:r>
                  <a:rPr lang="en-US" sz="1200" dirty="0"/>
                  <a:t>)</a:t>
                </a:r>
                <a:r>
                  <a:rPr lang="en-US" sz="1200" i="1" dirty="0"/>
                  <a:t> 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FE06171-EFAD-4AEC-9625-9B972A55FA14}"/>
                  </a:ext>
                </a:extLst>
              </p:cNvPr>
              <p:cNvSpPr/>
              <p:nvPr/>
            </p:nvSpPr>
            <p:spPr>
              <a:xfrm>
                <a:off x="1182836" y="6016658"/>
                <a:ext cx="825287" cy="212693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86" name="Left Bracket 85">
              <a:extLst>
                <a:ext uri="{FF2B5EF4-FFF2-40B4-BE49-F238E27FC236}">
                  <a16:creationId xmlns:a16="http://schemas.microsoft.com/office/drawing/2014/main" id="{F63A4804-F26F-4912-9067-14B501DACDFE}"/>
                </a:ext>
              </a:extLst>
            </p:cNvPr>
            <p:cNvSpPr/>
            <p:nvPr/>
          </p:nvSpPr>
          <p:spPr>
            <a:xfrm flipH="1">
              <a:off x="10748390" y="5170972"/>
              <a:ext cx="45719" cy="737339"/>
            </a:xfrm>
            <a:prstGeom prst="leftBracket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D33A439-8094-4551-AE3D-CD03FAD4400E}"/>
                </a:ext>
              </a:extLst>
            </p:cNvPr>
            <p:cNvGrpSpPr/>
            <p:nvPr/>
          </p:nvGrpSpPr>
          <p:grpSpPr>
            <a:xfrm>
              <a:off x="3797730" y="5156781"/>
              <a:ext cx="6763766" cy="210312"/>
              <a:chOff x="3797728" y="5322208"/>
              <a:chExt cx="6763766" cy="210312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9EF8B2F-E9DC-43D2-A0F9-4ECDD7A69E86}"/>
                  </a:ext>
                </a:extLst>
              </p:cNvPr>
              <p:cNvSpPr/>
              <p:nvPr/>
            </p:nvSpPr>
            <p:spPr>
              <a:xfrm>
                <a:off x="6083058" y="5322208"/>
                <a:ext cx="1906615" cy="210312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       Clindamycin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8D69487-08FC-4051-866B-8DEBD29A12BA}"/>
                  </a:ext>
                </a:extLst>
              </p:cNvPr>
              <p:cNvSpPr/>
              <p:nvPr/>
            </p:nvSpPr>
            <p:spPr>
              <a:xfrm>
                <a:off x="3797728" y="5322208"/>
                <a:ext cx="531075" cy="21031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2D50B3A-5340-4E8F-9067-5E166524C051}"/>
                  </a:ext>
                </a:extLst>
              </p:cNvPr>
              <p:cNvSpPr/>
              <p:nvPr/>
            </p:nvSpPr>
            <p:spPr>
              <a:xfrm>
                <a:off x="9921415" y="5322208"/>
                <a:ext cx="640079" cy="21031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91" name="Carbapenems">
              <a:hlinkClick r:id="rId7" action="ppaction://hlinksldjump"/>
              <a:extLst>
                <a:ext uri="{FF2B5EF4-FFF2-40B4-BE49-F238E27FC236}">
                  <a16:creationId xmlns:a16="http://schemas.microsoft.com/office/drawing/2014/main" id="{6046248D-0807-4E33-AA64-37EDF091C442}"/>
                </a:ext>
              </a:extLst>
            </p:cNvPr>
            <p:cNvSpPr txBox="1"/>
            <p:nvPr/>
          </p:nvSpPr>
          <p:spPr>
            <a:xfrm>
              <a:off x="10723770" y="4749874"/>
              <a:ext cx="1208817" cy="374571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</a:rPr>
                <a:t>Macrolides</a:t>
              </a: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388A68D-6F19-4901-BBBB-7AD0A6854F6A}"/>
                </a:ext>
              </a:extLst>
            </p:cNvPr>
            <p:cNvGrpSpPr/>
            <p:nvPr/>
          </p:nvGrpSpPr>
          <p:grpSpPr>
            <a:xfrm>
              <a:off x="2786566" y="4857945"/>
              <a:ext cx="7766856" cy="274320"/>
              <a:chOff x="2789382" y="4911828"/>
              <a:chExt cx="7766856" cy="274320"/>
            </a:xfrm>
          </p:grpSpPr>
          <p:sp>
            <p:nvSpPr>
              <p:cNvPr id="94" name="Rectangle: Rounded Corners 172">
                <a:extLst>
                  <a:ext uri="{FF2B5EF4-FFF2-40B4-BE49-F238E27FC236}">
                    <a16:creationId xmlns:a16="http://schemas.microsoft.com/office/drawing/2014/main" id="{F5E468DD-3512-4020-A28B-D0C44011748C}"/>
                  </a:ext>
                </a:extLst>
              </p:cNvPr>
              <p:cNvSpPr/>
              <p:nvPr/>
            </p:nvSpPr>
            <p:spPr>
              <a:xfrm>
                <a:off x="6090129" y="4940109"/>
                <a:ext cx="1886693" cy="21031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38100">
                <a:solidFill>
                  <a:srgbClr val="2E75B6"/>
                </a:solidFill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i="1" dirty="0"/>
                  <a:t>   </a:t>
                </a:r>
                <a:r>
                  <a:rPr lang="en-US" sz="1200" dirty="0"/>
                  <a:t>Macrolides</a:t>
                </a:r>
                <a:r>
                  <a:rPr lang="en-US" sz="1200" i="1" dirty="0"/>
                  <a:t> (↓ Strep)  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067F57AE-1543-46D1-9ED7-BDC101AAFDBB}"/>
                  </a:ext>
                </a:extLst>
              </p:cNvPr>
              <p:cNvSpPr/>
              <p:nvPr/>
            </p:nvSpPr>
            <p:spPr>
              <a:xfrm>
                <a:off x="2789382" y="4940109"/>
                <a:ext cx="1005840" cy="21031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rgbClr val="2E75B6"/>
                </a:solidFill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EBF9C317-DD67-4507-9DC5-26EE1F5BDE2B}"/>
                  </a:ext>
                </a:extLst>
              </p:cNvPr>
              <p:cNvSpPr/>
              <p:nvPr/>
            </p:nvSpPr>
            <p:spPr>
              <a:xfrm>
                <a:off x="6128291" y="4911828"/>
                <a:ext cx="39613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C83B4C6-42C3-4800-9EFB-50D1C149E3C5}"/>
                  </a:ext>
                </a:extLst>
              </p:cNvPr>
              <p:cNvSpPr/>
              <p:nvPr/>
            </p:nvSpPr>
            <p:spPr>
              <a:xfrm>
                <a:off x="6225822" y="4911828"/>
                <a:ext cx="35331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DCE14790-CE23-4E65-AE52-E1AC8E39207E}"/>
                  </a:ext>
                </a:extLst>
              </p:cNvPr>
              <p:cNvSpPr/>
              <p:nvPr/>
            </p:nvSpPr>
            <p:spPr>
              <a:xfrm>
                <a:off x="6319072" y="4911828"/>
                <a:ext cx="35331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61F5DF7F-9E93-4FEC-B1C7-B89D50F8C302}"/>
                  </a:ext>
                </a:extLst>
              </p:cNvPr>
              <p:cNvSpPr/>
              <p:nvPr/>
            </p:nvSpPr>
            <p:spPr>
              <a:xfrm>
                <a:off x="9916158" y="4940109"/>
                <a:ext cx="640080" cy="21031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rgbClr val="2E75B6"/>
                </a:solidFill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100" name="TextBox 99">
              <a:hlinkClick r:id="rId8" action="ppaction://hlinksldjump"/>
              <a:extLst>
                <a:ext uri="{FF2B5EF4-FFF2-40B4-BE49-F238E27FC236}">
                  <a16:creationId xmlns:a16="http://schemas.microsoft.com/office/drawing/2014/main" id="{7EE540DF-5257-4586-9D81-30CF11EB23CE}"/>
                </a:ext>
              </a:extLst>
            </p:cNvPr>
            <p:cNvSpPr txBox="1"/>
            <p:nvPr/>
          </p:nvSpPr>
          <p:spPr>
            <a:xfrm>
              <a:off x="10892844" y="5352357"/>
              <a:ext cx="1039743" cy="374571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CA-MRSA</a:t>
              </a:r>
            </a:p>
          </p:txBody>
        </p:sp>
        <p:sp>
          <p:nvSpPr>
            <p:cNvPr id="102" name="Left Bracket 101">
              <a:extLst>
                <a:ext uri="{FF2B5EF4-FFF2-40B4-BE49-F238E27FC236}">
                  <a16:creationId xmlns:a16="http://schemas.microsoft.com/office/drawing/2014/main" id="{EE793B12-4D2E-41D7-9C13-4B1155D8AD9D}"/>
                </a:ext>
              </a:extLst>
            </p:cNvPr>
            <p:cNvSpPr/>
            <p:nvPr/>
          </p:nvSpPr>
          <p:spPr>
            <a:xfrm flipH="1">
              <a:off x="7354842" y="5870839"/>
              <a:ext cx="45719" cy="680565"/>
            </a:xfrm>
            <a:prstGeom prst="leftBracket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F8C4EDD-C607-4EDA-8A5F-325CB59BE324}"/>
                </a:ext>
              </a:extLst>
            </p:cNvPr>
            <p:cNvGrpSpPr/>
            <p:nvPr/>
          </p:nvGrpSpPr>
          <p:grpSpPr>
            <a:xfrm>
              <a:off x="2797032" y="5598942"/>
              <a:ext cx="7951563" cy="276999"/>
              <a:chOff x="2797032" y="5678952"/>
              <a:chExt cx="7951563" cy="276999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B4B9D1D8-0091-4BBD-93F4-15662E08255D}"/>
                  </a:ext>
                </a:extLst>
              </p:cNvPr>
              <p:cNvGrpSpPr/>
              <p:nvPr/>
            </p:nvGrpSpPr>
            <p:grpSpPr>
              <a:xfrm>
                <a:off x="2797032" y="5705769"/>
                <a:ext cx="7951563" cy="210315"/>
                <a:chOff x="2797032" y="5705769"/>
                <a:chExt cx="7951563" cy="210315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28BFCE8-4689-49FE-AF13-A844DDC692F2}"/>
                    </a:ext>
                  </a:extLst>
                </p:cNvPr>
                <p:cNvGrpSpPr/>
                <p:nvPr/>
              </p:nvGrpSpPr>
              <p:grpSpPr>
                <a:xfrm>
                  <a:off x="2797032" y="5705769"/>
                  <a:ext cx="7951563" cy="210315"/>
                  <a:chOff x="2797032" y="5677488"/>
                  <a:chExt cx="7951563" cy="210315"/>
                </a:xfrm>
              </p:grpSpPr>
              <p:grpSp>
                <p:nvGrpSpPr>
                  <p:cNvPr id="108" name="Doxycycline">
                    <a:extLst>
                      <a:ext uri="{FF2B5EF4-FFF2-40B4-BE49-F238E27FC236}">
                        <a16:creationId xmlns:a16="http://schemas.microsoft.com/office/drawing/2014/main" id="{50985CB7-3D7F-4C96-9429-E17D11B81914}"/>
                      </a:ext>
                    </a:extLst>
                  </p:cNvPr>
                  <p:cNvGrpSpPr/>
                  <p:nvPr/>
                </p:nvGrpSpPr>
                <p:grpSpPr>
                  <a:xfrm>
                    <a:off x="2797032" y="5677488"/>
                    <a:ext cx="5192641" cy="210313"/>
                    <a:chOff x="-106735" y="5997433"/>
                    <a:chExt cx="6719308" cy="212697"/>
                  </a:xfrm>
                  <a:solidFill>
                    <a:srgbClr val="FF1160"/>
                  </a:solidFill>
                </p:grpSpPr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id="{099752C8-94C7-431C-937C-563AAFD7C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6929" y="5997434"/>
                      <a:ext cx="1735644" cy="212696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dirty="0"/>
                        <a:t>Doxycycline</a:t>
                      </a:r>
                      <a:r>
                        <a:rPr lang="en-US" sz="1200" i="1" dirty="0"/>
                        <a:t> </a:t>
                      </a:r>
                    </a:p>
                  </p:txBody>
                </p:sp>
                <p:sp>
                  <p:nvSpPr>
                    <p:cNvPr id="111" name="Rectangle 110">
                      <a:extLst>
                        <a:ext uri="{FF2B5EF4-FFF2-40B4-BE49-F238E27FC236}">
                          <a16:creationId xmlns:a16="http://schemas.microsoft.com/office/drawing/2014/main" id="{7A867322-9C04-4E6C-B63D-F9F458B9ED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106735" y="5997433"/>
                      <a:ext cx="2147814" cy="212696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 dirty="0"/>
                    </a:p>
                  </p:txBody>
                </p:sp>
              </p:grp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57AFA93E-CBC6-4C32-B756-8FF8314F677B}"/>
                      </a:ext>
                    </a:extLst>
                  </p:cNvPr>
                  <p:cNvSpPr/>
                  <p:nvPr/>
                </p:nvSpPr>
                <p:spPr>
                  <a:xfrm>
                    <a:off x="9914757" y="5677491"/>
                    <a:ext cx="833838" cy="210312"/>
                  </a:xfrm>
                  <a:prstGeom prst="rect">
                    <a:avLst/>
                  </a:prstGeom>
                  <a:solidFill>
                    <a:srgbClr val="FF116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dirty="0"/>
                  </a:p>
                </p:txBody>
              </p:sp>
            </p:grp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CCBBFE9B-CA08-4A1F-A706-408FF8428F98}"/>
                    </a:ext>
                  </a:extLst>
                </p:cNvPr>
                <p:cNvSpPr/>
                <p:nvPr/>
              </p:nvSpPr>
              <p:spPr>
                <a:xfrm>
                  <a:off x="5497487" y="5705772"/>
                  <a:ext cx="592483" cy="210312"/>
                </a:xfrm>
                <a:prstGeom prst="rect">
                  <a:avLst/>
                </a:prstGeom>
                <a:solidFill>
                  <a:srgbClr val="FF116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A683998-D7E3-4E04-96C3-C353E877D92A}"/>
                  </a:ext>
                </a:extLst>
              </p:cNvPr>
              <p:cNvSpPr txBox="1"/>
              <p:nvPr/>
            </p:nvSpPr>
            <p:spPr>
              <a:xfrm>
                <a:off x="7991234" y="5678952"/>
                <a:ext cx="93209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(</a:t>
                </a:r>
                <a:r>
                  <a:rPr lang="en-US" sz="1200" i="1" dirty="0"/>
                  <a:t>↓↓ Strep</a:t>
                </a:r>
                <a:r>
                  <a:rPr lang="en-US" sz="1200" dirty="0"/>
                  <a:t>)</a:t>
                </a:r>
                <a:r>
                  <a:rPr lang="en-US" sz="1200" i="1" dirty="0"/>
                  <a:t> </a:t>
                </a:r>
                <a:endParaRPr lang="en-US" sz="1200" dirty="0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2B493A6-FBB0-4793-9C07-0FEFD54A4956}"/>
                </a:ext>
              </a:extLst>
            </p:cNvPr>
            <p:cNvGrpSpPr/>
            <p:nvPr/>
          </p:nvGrpSpPr>
          <p:grpSpPr>
            <a:xfrm>
              <a:off x="3801515" y="5871566"/>
              <a:ext cx="6767565" cy="210312"/>
              <a:chOff x="3801515" y="5917286"/>
              <a:chExt cx="6767565" cy="210312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EE13E49A-27E8-49E8-AE47-97A0E4442444}"/>
                  </a:ext>
                </a:extLst>
              </p:cNvPr>
              <p:cNvGrpSpPr/>
              <p:nvPr/>
            </p:nvGrpSpPr>
            <p:grpSpPr>
              <a:xfrm>
                <a:off x="3801515" y="5917286"/>
                <a:ext cx="3508078" cy="210312"/>
                <a:chOff x="3801515" y="5988208"/>
                <a:chExt cx="3508078" cy="210312"/>
              </a:xfrm>
            </p:grpSpPr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7F6DF2BF-3588-4DAB-8432-B60DE51440CA}"/>
                    </a:ext>
                  </a:extLst>
                </p:cNvPr>
                <p:cNvSpPr/>
                <p:nvPr/>
              </p:nvSpPr>
              <p:spPr>
                <a:xfrm>
                  <a:off x="4936665" y="5988208"/>
                  <a:ext cx="2372928" cy="2103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200" dirty="0"/>
                    <a:t>       Vancomycin</a:t>
                  </a: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2D2B0BA4-B19B-4EF5-B662-B8DE12DDA6CC}"/>
                    </a:ext>
                  </a:extLst>
                </p:cNvPr>
                <p:cNvSpPr/>
                <p:nvPr/>
              </p:nvSpPr>
              <p:spPr>
                <a:xfrm>
                  <a:off x="3801515" y="5988208"/>
                  <a:ext cx="901655" cy="2103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7E8B78D5-AAA6-4D21-AA88-B818D4BDF08B}"/>
                    </a:ext>
                  </a:extLst>
                </p:cNvPr>
                <p:cNvSpPr/>
                <p:nvPr/>
              </p:nvSpPr>
              <p:spPr>
                <a:xfrm>
                  <a:off x="4877827" y="5988208"/>
                  <a:ext cx="39766" cy="2103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801431DF-688E-442A-9B56-03A6F1BD5D42}"/>
                    </a:ext>
                  </a:extLst>
                </p:cNvPr>
                <p:cNvSpPr/>
                <p:nvPr/>
              </p:nvSpPr>
              <p:spPr>
                <a:xfrm>
                  <a:off x="4810512" y="5988208"/>
                  <a:ext cx="40318" cy="2103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2C326064-0232-4165-BE6C-57352CB02F28}"/>
                    </a:ext>
                  </a:extLst>
                </p:cNvPr>
                <p:cNvSpPr/>
                <p:nvPr/>
              </p:nvSpPr>
              <p:spPr>
                <a:xfrm>
                  <a:off x="4741936" y="5988208"/>
                  <a:ext cx="41579" cy="2103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2EB4F02-1C34-4310-85E4-F60716389972}"/>
                  </a:ext>
                </a:extLst>
              </p:cNvPr>
              <p:cNvSpPr/>
              <p:nvPr/>
            </p:nvSpPr>
            <p:spPr>
              <a:xfrm>
                <a:off x="9907478" y="5917286"/>
                <a:ext cx="661602" cy="21031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       </a:t>
                </a: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0D6824C-DE31-4BB4-BCC4-3E18BD22426E}"/>
                </a:ext>
              </a:extLst>
            </p:cNvPr>
            <p:cNvGrpSpPr/>
            <p:nvPr/>
          </p:nvGrpSpPr>
          <p:grpSpPr>
            <a:xfrm>
              <a:off x="3794376" y="6101272"/>
              <a:ext cx="6781777" cy="210312"/>
              <a:chOff x="3794376" y="6146992"/>
              <a:chExt cx="6781777" cy="210312"/>
            </a:xfrm>
          </p:grpSpPr>
          <p:sp>
            <p:nvSpPr>
              <p:cNvPr id="121" name="Daptomycin">
                <a:extLst>
                  <a:ext uri="{FF2B5EF4-FFF2-40B4-BE49-F238E27FC236}">
                    <a16:creationId xmlns:a16="http://schemas.microsoft.com/office/drawing/2014/main" id="{AA3AD021-5A40-44C3-AC91-5D94485C7DA5}"/>
                  </a:ext>
                </a:extLst>
              </p:cNvPr>
              <p:cNvSpPr/>
              <p:nvPr/>
            </p:nvSpPr>
            <p:spPr>
              <a:xfrm>
                <a:off x="3794376" y="6146992"/>
                <a:ext cx="3531337" cy="21031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Daptomycin </a:t>
                </a:r>
                <a:r>
                  <a:rPr lang="en-US" sz="1200" i="1" dirty="0"/>
                  <a:t>(no lungs)</a:t>
                </a:r>
              </a:p>
            </p:txBody>
          </p:sp>
          <p:sp>
            <p:nvSpPr>
              <p:cNvPr id="122" name="Daptomycin">
                <a:extLst>
                  <a:ext uri="{FF2B5EF4-FFF2-40B4-BE49-F238E27FC236}">
                    <a16:creationId xmlns:a16="http://schemas.microsoft.com/office/drawing/2014/main" id="{3E0D4F26-F4F8-4813-98DB-FAEA01DD4F10}"/>
                  </a:ext>
                </a:extLst>
              </p:cNvPr>
              <p:cNvSpPr/>
              <p:nvPr/>
            </p:nvSpPr>
            <p:spPr>
              <a:xfrm>
                <a:off x="9914551" y="6146992"/>
                <a:ext cx="661602" cy="21031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i="1" dirty="0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D8FA969-9119-4690-92EF-AE3BC9CBE2B3}"/>
                </a:ext>
              </a:extLst>
            </p:cNvPr>
            <p:cNvGrpSpPr/>
            <p:nvPr/>
          </p:nvGrpSpPr>
          <p:grpSpPr>
            <a:xfrm>
              <a:off x="3797819" y="6327028"/>
              <a:ext cx="6768027" cy="210311"/>
              <a:chOff x="3797819" y="6372748"/>
              <a:chExt cx="6768027" cy="210311"/>
            </a:xfrm>
          </p:grpSpPr>
          <p:sp>
            <p:nvSpPr>
              <p:cNvPr id="124" name="Linezolid">
                <a:extLst>
                  <a:ext uri="{FF2B5EF4-FFF2-40B4-BE49-F238E27FC236}">
                    <a16:creationId xmlns:a16="http://schemas.microsoft.com/office/drawing/2014/main" id="{9D7BFFC1-5A3F-49DA-8544-7F657A3D96A1}"/>
                  </a:ext>
                </a:extLst>
              </p:cNvPr>
              <p:cNvSpPr/>
              <p:nvPr/>
            </p:nvSpPr>
            <p:spPr>
              <a:xfrm>
                <a:off x="3797819" y="6377427"/>
                <a:ext cx="3521541" cy="20563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Linezolid</a:t>
                </a:r>
              </a:p>
            </p:txBody>
          </p:sp>
          <p:sp>
            <p:nvSpPr>
              <p:cNvPr id="125" name="Linezolid">
                <a:extLst>
                  <a:ext uri="{FF2B5EF4-FFF2-40B4-BE49-F238E27FC236}">
                    <a16:creationId xmlns:a16="http://schemas.microsoft.com/office/drawing/2014/main" id="{E77F2FFB-168B-4FEC-BB42-2355911C12DD}"/>
                  </a:ext>
                </a:extLst>
              </p:cNvPr>
              <p:cNvSpPr/>
              <p:nvPr/>
            </p:nvSpPr>
            <p:spPr>
              <a:xfrm>
                <a:off x="9907478" y="6372748"/>
                <a:ext cx="658368" cy="21031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126" name="TextBox 125">
              <a:hlinkClick r:id="rId9" action="ppaction://hlinksldjump"/>
              <a:extLst>
                <a:ext uri="{FF2B5EF4-FFF2-40B4-BE49-F238E27FC236}">
                  <a16:creationId xmlns:a16="http://schemas.microsoft.com/office/drawing/2014/main" id="{C9777852-113D-4288-B7F6-E1F696E8EFAF}"/>
                </a:ext>
              </a:extLst>
            </p:cNvPr>
            <p:cNvSpPr txBox="1"/>
            <p:nvPr/>
          </p:nvSpPr>
          <p:spPr>
            <a:xfrm>
              <a:off x="10892844" y="5877018"/>
              <a:ext cx="1054652" cy="646986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Hospital MRSA</a:t>
              </a:r>
            </a:p>
          </p:txBody>
        </p:sp>
        <p:sp>
          <p:nvSpPr>
            <p:cNvPr id="128" name="Metronidazole">
              <a:extLst>
                <a:ext uri="{FF2B5EF4-FFF2-40B4-BE49-F238E27FC236}">
                  <a16:creationId xmlns:a16="http://schemas.microsoft.com/office/drawing/2014/main" id="{49E48C0D-2F01-4BE0-8109-0BCBC6BBA1A9}"/>
                </a:ext>
              </a:extLst>
            </p:cNvPr>
            <p:cNvSpPr/>
            <p:nvPr/>
          </p:nvSpPr>
          <p:spPr>
            <a:xfrm>
              <a:off x="9913060" y="6594622"/>
              <a:ext cx="1240410" cy="212062"/>
            </a:xfrm>
            <a:prstGeom prst="rect">
              <a:avLst/>
            </a:prstGeom>
            <a:solidFill>
              <a:srgbClr val="44C4C1"/>
            </a:solidFill>
            <a:ln w="38100">
              <a:solidFill>
                <a:srgbClr val="44C4C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Metronidazole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9782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able">
            <a:extLst>
              <a:ext uri="{FF2B5EF4-FFF2-40B4-BE49-F238E27FC236}">
                <a16:creationId xmlns:a16="http://schemas.microsoft.com/office/drawing/2014/main" id="{55055D73-DAFE-4DD2-AEB0-6C6B0E6441E0}"/>
              </a:ext>
            </a:extLst>
          </p:cNvPr>
          <p:cNvGrpSpPr/>
          <p:nvPr/>
        </p:nvGrpSpPr>
        <p:grpSpPr>
          <a:xfrm>
            <a:off x="43542" y="0"/>
            <a:ext cx="12118453" cy="6782939"/>
            <a:chOff x="23808" y="-304"/>
            <a:chExt cx="9398098" cy="678293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D663A71-E8C7-4757-A5A6-17769B878D9E}"/>
                </a:ext>
              </a:extLst>
            </p:cNvPr>
            <p:cNvCxnSpPr/>
            <p:nvPr/>
          </p:nvCxnSpPr>
          <p:spPr>
            <a:xfrm>
              <a:off x="1106062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CABA20-F1C7-427D-AAFA-B4050A44C105}"/>
                </a:ext>
              </a:extLst>
            </p:cNvPr>
            <p:cNvSpPr txBox="1"/>
            <p:nvPr/>
          </p:nvSpPr>
          <p:spPr>
            <a:xfrm>
              <a:off x="23808" y="116977"/>
              <a:ext cx="10912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ATYPICALS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72EA5D-2D35-453B-A43A-2B75C42E9746}"/>
                </a:ext>
              </a:extLst>
            </p:cNvPr>
            <p:cNvSpPr txBox="1"/>
            <p:nvPr/>
          </p:nvSpPr>
          <p:spPr>
            <a:xfrm>
              <a:off x="2016663" y="100661"/>
              <a:ext cx="13600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ENTEROCOCCUS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878B7A-2D40-4486-826B-9B475BDF5503}"/>
                </a:ext>
              </a:extLst>
            </p:cNvPr>
            <p:cNvSpPr txBox="1"/>
            <p:nvPr/>
          </p:nvSpPr>
          <p:spPr>
            <a:xfrm>
              <a:off x="1124561" y="113347"/>
              <a:ext cx="8510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MRSA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B041A2-CF58-48A5-8B0E-8BEE2B760370}"/>
                </a:ext>
              </a:extLst>
            </p:cNvPr>
            <p:cNvSpPr txBox="1"/>
            <p:nvPr/>
          </p:nvSpPr>
          <p:spPr>
            <a:xfrm>
              <a:off x="3440468" y="111053"/>
              <a:ext cx="1132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GPCs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FDB564-3411-45FA-8EB3-1C659296C4E6}"/>
                </a:ext>
              </a:extLst>
            </p:cNvPr>
            <p:cNvSpPr txBox="1"/>
            <p:nvPr/>
          </p:nvSpPr>
          <p:spPr>
            <a:xfrm>
              <a:off x="4629804" y="107646"/>
              <a:ext cx="121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GNRs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97294A-06F2-4803-A50D-24F840AC9C03}"/>
                </a:ext>
              </a:extLst>
            </p:cNvPr>
            <p:cNvSpPr txBox="1"/>
            <p:nvPr/>
          </p:nvSpPr>
          <p:spPr>
            <a:xfrm>
              <a:off x="5877425" y="107646"/>
              <a:ext cx="1333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PSEUDOMONAS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518EB4-D4D0-4AEE-BBBB-32B6E14DB57F}"/>
                </a:ext>
              </a:extLst>
            </p:cNvPr>
            <p:cNvSpPr txBox="1"/>
            <p:nvPr/>
          </p:nvSpPr>
          <p:spPr>
            <a:xfrm>
              <a:off x="7273292" y="850"/>
              <a:ext cx="1183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ANAEROBES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131A38-F0F4-452C-AF61-FCDD9D9A27C7}"/>
                </a:ext>
              </a:extLst>
            </p:cNvPr>
            <p:cNvSpPr txBox="1"/>
            <p:nvPr/>
          </p:nvSpPr>
          <p:spPr>
            <a:xfrm>
              <a:off x="8488168" y="116953"/>
              <a:ext cx="901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ESBLs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7EE3CD-391A-4198-A179-3A97DC5EFB7A}"/>
                </a:ext>
              </a:extLst>
            </p:cNvPr>
            <p:cNvSpPr txBox="1"/>
            <p:nvPr/>
          </p:nvSpPr>
          <p:spPr>
            <a:xfrm>
              <a:off x="7233207" y="157501"/>
              <a:ext cx="6244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Oral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7D99D8-BF20-408D-B84D-6D1E006B779D}"/>
                </a:ext>
              </a:extLst>
            </p:cNvPr>
            <p:cNvSpPr txBox="1"/>
            <p:nvPr/>
          </p:nvSpPr>
          <p:spPr>
            <a:xfrm>
              <a:off x="7895431" y="164486"/>
              <a:ext cx="529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Gut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FA262A-6A45-404F-B79F-73FE3D9A1609}"/>
                </a:ext>
              </a:extLst>
            </p:cNvPr>
            <p:cNvCxnSpPr/>
            <p:nvPr/>
          </p:nvCxnSpPr>
          <p:spPr>
            <a:xfrm>
              <a:off x="2016663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1F4E89-38BC-4ECB-90F8-5C8D456DB9BC}"/>
                </a:ext>
              </a:extLst>
            </p:cNvPr>
            <p:cNvCxnSpPr/>
            <p:nvPr/>
          </p:nvCxnSpPr>
          <p:spPr>
            <a:xfrm>
              <a:off x="3376761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1C8EEDD-5A80-45B6-A54D-E5D3444B69B6}"/>
                </a:ext>
              </a:extLst>
            </p:cNvPr>
            <p:cNvCxnSpPr/>
            <p:nvPr/>
          </p:nvCxnSpPr>
          <p:spPr>
            <a:xfrm>
              <a:off x="4619917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4DE880F-1597-4FEE-8FF4-A9BD3659F968}"/>
                </a:ext>
              </a:extLst>
            </p:cNvPr>
            <p:cNvCxnSpPr/>
            <p:nvPr/>
          </p:nvCxnSpPr>
          <p:spPr>
            <a:xfrm>
              <a:off x="585253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3C2033-3306-4780-A275-A06B505D1F27}"/>
                </a:ext>
              </a:extLst>
            </p:cNvPr>
            <p:cNvCxnSpPr/>
            <p:nvPr/>
          </p:nvCxnSpPr>
          <p:spPr>
            <a:xfrm>
              <a:off x="7218355" y="-304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AD9B736-F011-45C3-9CA9-4EC9B9B3E4AF}"/>
                </a:ext>
              </a:extLst>
            </p:cNvPr>
            <p:cNvCxnSpPr/>
            <p:nvPr/>
          </p:nvCxnSpPr>
          <p:spPr>
            <a:xfrm>
              <a:off x="8457844" y="1406"/>
              <a:ext cx="0" cy="678122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E1655AB-3623-4B39-BBC3-ED258DE9FF45}"/>
                </a:ext>
              </a:extLst>
            </p:cNvPr>
            <p:cNvCxnSpPr/>
            <p:nvPr/>
          </p:nvCxnSpPr>
          <p:spPr>
            <a:xfrm>
              <a:off x="7865107" y="431399"/>
              <a:ext cx="0" cy="634952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86D7788-A82B-4800-94F1-0EB5060C8C39}"/>
                </a:ext>
              </a:extLst>
            </p:cNvPr>
            <p:cNvCxnSpPr/>
            <p:nvPr/>
          </p:nvCxnSpPr>
          <p:spPr>
            <a:xfrm>
              <a:off x="23808" y="416163"/>
              <a:ext cx="939809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C905906C-3B93-40E5-815B-9909D04CDE66}"/>
              </a:ext>
            </a:extLst>
          </p:cNvPr>
          <p:cNvSpPr/>
          <p:nvPr/>
        </p:nvSpPr>
        <p:spPr>
          <a:xfrm>
            <a:off x="2490848" y="467716"/>
            <a:ext cx="58953" cy="1033807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FB688F62-568C-4B57-8898-525FB5E01CC8}"/>
              </a:ext>
            </a:extLst>
          </p:cNvPr>
          <p:cNvSpPr/>
          <p:nvPr/>
        </p:nvSpPr>
        <p:spPr>
          <a:xfrm>
            <a:off x="4166286" y="1502169"/>
            <a:ext cx="58953" cy="1508928"/>
          </a:xfrm>
          <a:prstGeom prst="leftBracket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6" name="Penicillins">
            <a:hlinkClick r:id="rId2" action="ppaction://hlinksldjump"/>
            <a:extLst>
              <a:ext uri="{FF2B5EF4-FFF2-40B4-BE49-F238E27FC236}">
                <a16:creationId xmlns:a16="http://schemas.microsoft.com/office/drawing/2014/main" id="{D6360A4F-A0C6-4449-806B-192BEA4A2D20}"/>
              </a:ext>
            </a:extLst>
          </p:cNvPr>
          <p:cNvSpPr txBox="1"/>
          <p:nvPr/>
        </p:nvSpPr>
        <p:spPr>
          <a:xfrm>
            <a:off x="563399" y="831225"/>
            <a:ext cx="153280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Penicillins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48" name="Cephalosporins">
            <a:hlinkClick r:id="rId3" action="ppaction://hlinksldjump"/>
            <a:extLst>
              <a:ext uri="{FF2B5EF4-FFF2-40B4-BE49-F238E27FC236}">
                <a16:creationId xmlns:a16="http://schemas.microsoft.com/office/drawing/2014/main" id="{E75B30F0-477D-4A79-94FA-B678511784E2}"/>
              </a:ext>
            </a:extLst>
          </p:cNvPr>
          <p:cNvSpPr txBox="1"/>
          <p:nvPr/>
        </p:nvSpPr>
        <p:spPr>
          <a:xfrm>
            <a:off x="563400" y="1835259"/>
            <a:ext cx="1996862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Cephalosporins</a:t>
            </a:r>
          </a:p>
        </p:txBody>
      </p:sp>
      <p:sp>
        <p:nvSpPr>
          <p:cNvPr id="50" name="Left Bracket 49">
            <a:extLst>
              <a:ext uri="{FF2B5EF4-FFF2-40B4-BE49-F238E27FC236}">
                <a16:creationId xmlns:a16="http://schemas.microsoft.com/office/drawing/2014/main" id="{A1BC0587-AB91-4685-81A1-B9C8C5B7CFC8}"/>
              </a:ext>
            </a:extLst>
          </p:cNvPr>
          <p:cNvSpPr/>
          <p:nvPr/>
        </p:nvSpPr>
        <p:spPr>
          <a:xfrm>
            <a:off x="3760741" y="2992105"/>
            <a:ext cx="106928" cy="612634"/>
          </a:xfrm>
          <a:prstGeom prst="leftBracket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70F32A5-9E81-4845-A6F6-DB2584BFCFD5}"/>
              </a:ext>
            </a:extLst>
          </p:cNvPr>
          <p:cNvGrpSpPr/>
          <p:nvPr/>
        </p:nvGrpSpPr>
        <p:grpSpPr>
          <a:xfrm>
            <a:off x="10256732" y="3620428"/>
            <a:ext cx="1297796" cy="444579"/>
            <a:chOff x="10650420" y="3674500"/>
            <a:chExt cx="1087663" cy="44457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CE3F0BB-119D-4308-9655-DCE8EFEE46FC}"/>
                </a:ext>
              </a:extLst>
            </p:cNvPr>
            <p:cNvSpPr txBox="1"/>
            <p:nvPr/>
          </p:nvSpPr>
          <p:spPr>
            <a:xfrm>
              <a:off x="10743028" y="3689484"/>
              <a:ext cx="995055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Urinary FQ</a:t>
              </a:r>
            </a:p>
          </p:txBody>
        </p:sp>
        <p:sp>
          <p:nvSpPr>
            <p:cNvPr id="60" name="Left Bracket 59">
              <a:extLst>
                <a:ext uri="{FF2B5EF4-FFF2-40B4-BE49-F238E27FC236}">
                  <a16:creationId xmlns:a16="http://schemas.microsoft.com/office/drawing/2014/main" id="{E75AF82E-DBF5-4020-9A0A-74FFD8A2A18B}"/>
                </a:ext>
              </a:extLst>
            </p:cNvPr>
            <p:cNvSpPr/>
            <p:nvPr/>
          </p:nvSpPr>
          <p:spPr>
            <a:xfrm flipH="1">
              <a:off x="10650420" y="3674500"/>
              <a:ext cx="46927" cy="444579"/>
            </a:xfrm>
            <a:prstGeom prst="leftBracke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66" name="Carbapenems">
            <a:hlinkClick r:id="rId4" action="ppaction://hlinksldjump"/>
            <a:extLst>
              <a:ext uri="{FF2B5EF4-FFF2-40B4-BE49-F238E27FC236}">
                <a16:creationId xmlns:a16="http://schemas.microsoft.com/office/drawing/2014/main" id="{4A4C66CE-EFE5-4C62-8C65-2BDE9D3B534D}"/>
              </a:ext>
            </a:extLst>
          </p:cNvPr>
          <p:cNvSpPr txBox="1"/>
          <p:nvPr/>
        </p:nvSpPr>
        <p:spPr>
          <a:xfrm>
            <a:off x="550455" y="3107923"/>
            <a:ext cx="2049845" cy="374571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Carbapenems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0D30A44-14BC-44EE-BFB3-53488E23C497}"/>
              </a:ext>
            </a:extLst>
          </p:cNvPr>
          <p:cNvGrpSpPr/>
          <p:nvPr/>
        </p:nvGrpSpPr>
        <p:grpSpPr>
          <a:xfrm>
            <a:off x="10419590" y="3889462"/>
            <a:ext cx="1553954" cy="521626"/>
            <a:chOff x="10767184" y="3889462"/>
            <a:chExt cx="1205122" cy="521626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68AB4F8-8275-40F5-B2D3-86DE1F8FB0BA}"/>
                </a:ext>
              </a:extLst>
            </p:cNvPr>
            <p:cNvSpPr txBox="1"/>
            <p:nvPr/>
          </p:nvSpPr>
          <p:spPr>
            <a:xfrm>
              <a:off x="10767184" y="4002282"/>
              <a:ext cx="1205122" cy="30646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Respiratory FQ</a:t>
              </a:r>
            </a:p>
          </p:txBody>
        </p:sp>
        <p:sp>
          <p:nvSpPr>
            <p:cNvPr id="70" name="Left Bracket 69">
              <a:extLst>
                <a:ext uri="{FF2B5EF4-FFF2-40B4-BE49-F238E27FC236}">
                  <a16:creationId xmlns:a16="http://schemas.microsoft.com/office/drawing/2014/main" id="{88D282C2-62B0-40DA-BEEA-9B2D4761EA49}"/>
                </a:ext>
              </a:extLst>
            </p:cNvPr>
            <p:cNvSpPr/>
            <p:nvPr/>
          </p:nvSpPr>
          <p:spPr>
            <a:xfrm flipH="1">
              <a:off x="10788124" y="3889462"/>
              <a:ext cx="45719" cy="521626"/>
            </a:xfrm>
            <a:prstGeom prst="leftBracket">
              <a:avLst/>
            </a:pr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5" name="Carbapenems">
            <a:hlinkClick r:id="rId5" action="ppaction://hlinksldjump"/>
            <a:extLst>
              <a:ext uri="{FF2B5EF4-FFF2-40B4-BE49-F238E27FC236}">
                <a16:creationId xmlns:a16="http://schemas.microsoft.com/office/drawing/2014/main" id="{360C229C-56C3-4FFD-B833-48423318582C}"/>
              </a:ext>
            </a:extLst>
          </p:cNvPr>
          <p:cNvSpPr txBox="1"/>
          <p:nvPr/>
        </p:nvSpPr>
        <p:spPr>
          <a:xfrm>
            <a:off x="1565199" y="3804717"/>
            <a:ext cx="738736" cy="374571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FQ</a:t>
            </a:r>
          </a:p>
        </p:txBody>
      </p:sp>
      <p:sp>
        <p:nvSpPr>
          <p:cNvPr id="81" name="Carbapenems">
            <a:hlinkClick r:id="rId6" action="ppaction://hlinksldjump"/>
            <a:extLst>
              <a:ext uri="{FF2B5EF4-FFF2-40B4-BE49-F238E27FC236}">
                <a16:creationId xmlns:a16="http://schemas.microsoft.com/office/drawing/2014/main" id="{CF22BDF3-EA4B-4FCF-A75D-02312C536D54}"/>
              </a:ext>
            </a:extLst>
          </p:cNvPr>
          <p:cNvSpPr txBox="1"/>
          <p:nvPr/>
        </p:nvSpPr>
        <p:spPr>
          <a:xfrm>
            <a:off x="1565199" y="4442566"/>
            <a:ext cx="1548419" cy="374571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Anti-PsA</a:t>
            </a:r>
          </a:p>
        </p:txBody>
      </p:sp>
      <p:sp>
        <p:nvSpPr>
          <p:cNvPr id="86" name="Left Bracket 85">
            <a:extLst>
              <a:ext uri="{FF2B5EF4-FFF2-40B4-BE49-F238E27FC236}">
                <a16:creationId xmlns:a16="http://schemas.microsoft.com/office/drawing/2014/main" id="{F63A4804-F26F-4912-9067-14B501DACDFE}"/>
              </a:ext>
            </a:extLst>
          </p:cNvPr>
          <p:cNvSpPr/>
          <p:nvPr/>
        </p:nvSpPr>
        <p:spPr>
          <a:xfrm flipH="1">
            <a:off x="10395356" y="5170972"/>
            <a:ext cx="58953" cy="737339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1" name="Carbapenems">
            <a:hlinkClick r:id="rId7" action="ppaction://hlinksldjump"/>
            <a:extLst>
              <a:ext uri="{FF2B5EF4-FFF2-40B4-BE49-F238E27FC236}">
                <a16:creationId xmlns:a16="http://schemas.microsoft.com/office/drawing/2014/main" id="{6046248D-0807-4E33-AA64-37EDF091C442}"/>
              </a:ext>
            </a:extLst>
          </p:cNvPr>
          <p:cNvSpPr txBox="1"/>
          <p:nvPr/>
        </p:nvSpPr>
        <p:spPr>
          <a:xfrm>
            <a:off x="10363610" y="4749874"/>
            <a:ext cx="1558719" cy="374571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Macrolides</a:t>
            </a:r>
          </a:p>
        </p:txBody>
      </p:sp>
      <p:sp>
        <p:nvSpPr>
          <p:cNvPr id="100" name="TextBox 99">
            <a:hlinkClick r:id="rId8" action="ppaction://hlinksldjump"/>
            <a:extLst>
              <a:ext uri="{FF2B5EF4-FFF2-40B4-BE49-F238E27FC236}">
                <a16:creationId xmlns:a16="http://schemas.microsoft.com/office/drawing/2014/main" id="{7EE540DF-5257-4586-9D81-30CF11EB23CE}"/>
              </a:ext>
            </a:extLst>
          </p:cNvPr>
          <p:cNvSpPr txBox="1"/>
          <p:nvPr/>
        </p:nvSpPr>
        <p:spPr>
          <a:xfrm>
            <a:off x="10581624" y="5352357"/>
            <a:ext cx="1340705" cy="374571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CA-MRSA</a:t>
            </a:r>
          </a:p>
        </p:txBody>
      </p:sp>
      <p:sp>
        <p:nvSpPr>
          <p:cNvPr id="102" name="Left Bracket 101">
            <a:extLst>
              <a:ext uri="{FF2B5EF4-FFF2-40B4-BE49-F238E27FC236}">
                <a16:creationId xmlns:a16="http://schemas.microsoft.com/office/drawing/2014/main" id="{EE793B12-4D2E-41D7-9C13-4B1155D8AD9D}"/>
              </a:ext>
            </a:extLst>
          </p:cNvPr>
          <p:cNvSpPr/>
          <p:nvPr/>
        </p:nvSpPr>
        <p:spPr>
          <a:xfrm flipH="1">
            <a:off x="6019519" y="5870839"/>
            <a:ext cx="58953" cy="680565"/>
          </a:xfrm>
          <a:prstGeom prst="leftBracket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6" name="TextBox 125">
            <a:hlinkClick r:id="rId9" action="ppaction://hlinksldjump"/>
            <a:extLst>
              <a:ext uri="{FF2B5EF4-FFF2-40B4-BE49-F238E27FC236}">
                <a16:creationId xmlns:a16="http://schemas.microsoft.com/office/drawing/2014/main" id="{C9777852-113D-4288-B7F6-E1F696E8EFAF}"/>
              </a:ext>
            </a:extLst>
          </p:cNvPr>
          <p:cNvSpPr txBox="1"/>
          <p:nvPr/>
        </p:nvSpPr>
        <p:spPr>
          <a:xfrm>
            <a:off x="10581624" y="5877018"/>
            <a:ext cx="1359929" cy="646986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Hospital MRSA</a:t>
            </a:r>
          </a:p>
        </p:txBody>
      </p:sp>
    </p:spTree>
    <p:extLst>
      <p:ext uri="{BB962C8B-B14F-4D97-AF65-F5344CB8AC3E}">
        <p14:creationId xmlns:p14="http://schemas.microsoft.com/office/powerpoint/2010/main" val="518487803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2024-2025 Context - Antibiotic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Core spectrum/MOA teaching is timeless and was verified current (deck updated Mar 2024; expert-reviewed by ID).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Newer/MDR Gram-negative agents to know (escalate with ID):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Cefiderocol (siderophore cephalosporin) - covers carbapenem-resistant Enterobacterales, CRAB/Acinetobacter, Stenotrophomonas, PsA.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Newer beta-lactam/beta-lactamase-inhibitor combos: ceftazidime-avibactam, ceftolozane-tazobactam, meropenem-vaborbactam, imipenem-relebactam (KPC/AmpC/ESBL/PsA per agent). Aztreonam-avibactam for metallo-beta-lactamases.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Anti-MRSA additions: ceftaroline (the only beta-lactam with MRSA activity); long-acting lipoglycopeptides dalbavancin and oritavancin for ABSSSI (single/2-dose courses).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C. difficile: fidaxomicin is now first-line over oral vancomycin (IDSA/SHEA 2021); deck already lists it.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Unchanged high-yield rules: daptomycin inactivated by lung surfactant (never for MRSA pneumonia); linezolid often preferred for MRSA pneumonia; ertapenem has NO Pseudomonas coverage; carbapenems are most reliable for ESBL.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For any antibiotic ask 4 questions: GPCs (incl. MRSA, Enterococcus)? GNRs (incl. Pseudomonas, ESBL)? Atypicals? Anaerobes (incl. B. fragilis/gut)?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Penicillins: no MRSA, no atypicals; GN coverage rises across classes (Pen -&gt; antistaph -&gt; amino+BLI -&gt; pip-tazo). Pip-tazo = the one that adds Pseudomonas.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Cephalosporins: no Enterococcus, no atypicals; GN rises by generation. Ceftazidime/cefepime add PsA; ceftaroline (5th gen) covers MRSA; no oral cephalosporin covers PsA.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Carbapenems: broadest (GP/GN/anaerobe), most reliable ESBL; no MRSA/atypical, poor Enterococcus. Ertapenem = once-daily, NO Pseudomonas; mero/imi/dori add PsA.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FQs: cipro (urinary, GN/PsA, poor Strep); levo (urinary+respiratory, adds S. pneumo); moxi (respiratory, best anaerobe, weak PsA/renal).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MRSA: CA -&gt; clindamycin / TMP-SMX / doxycycline; HA -&gt; vancomycin (1st-line), daptomycin (NOT for pneumonia), linezolid (VRE, MRSA pneumonia).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Adapted from TeachIM "Antibiotics - Part 1: Spectrum" (teachim.org), updated March 2024.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Authors: Brandon Fainstad MD; Yilin Zhang MD. Expert reviewer: Diana Zhong MD MHS. License: CC BY-NC 4.0 (non-commercial; attribution required).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Source: teachim.org/teaching_material/antibiotics-part-1-spectrum/  |  Deck: Antibiotic-spectrum-final-3.5.24.pptx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Corrections (this optimization, 2026-06-10):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"cefofetan" -&gt; "cefotetan" (correct spelling of the 2nd-gen cephamycin) on slides 5, 12, 14. All click-to-reveal animations and graphics preserved.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Added: 2024-25 newer-agent context slide, take-home slide, this attribution slide.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Companions: Learner-Worksheet.pdf (fill-in antibiogram) and Antibiogram-4.22.pdf - reviewed, no changes. Newer context source-cited; clinician/ID-review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5647</TotalTime>
  <Words>1498</Words>
  <Application>Microsoft Office PowerPoint</Application>
  <PresentationFormat>Widescreen</PresentationFormat>
  <Paragraphs>574</Paragraphs>
  <Slides>15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34</cp:revision>
  <cp:lastPrinted>2022-04-11T16:20:59Z</cp:lastPrinted>
  <dcterms:created xsi:type="dcterms:W3CDTF">2020-06-05T19:50:11Z</dcterms:created>
  <dcterms:modified xsi:type="dcterms:W3CDTF">2024-03-05T22:23:04Z</dcterms:modified>
</cp:coreProperties>
</file>