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3" r:id="rId2"/>
    <p:sldId id="274" r:id="rId3"/>
    <p:sldId id="275" r:id="rId4"/>
    <p:sldId id="277" r:id="rId5"/>
    <p:sldId id="276" r:id="rId6"/>
    <p:sldId id="278" r:id="rId7"/>
    <p:sldId id="279" r:id="rId8"/>
    <p:sldId id="280" r:id="rId9"/>
    <p:sldId id="281" r:id="rId10"/>
    <p:sldId id="282" r:id="rId11"/>
    <p:sldId id="283" r:id="rId12"/>
    <p:sldId id="284" r:id="rId1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lin Zhang" initials="YZ" lastIdx="2" clrIdx="0">
    <p:extLst>
      <p:ext uri="{19B8F6BF-5375-455C-9EA6-DF929625EA0E}">
        <p15:presenceInfo xmlns:p15="http://schemas.microsoft.com/office/powerpoint/2012/main" userId="8f8df916e9767c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9E00"/>
    <a:srgbClr val="E2A8A8"/>
    <a:srgbClr val="C37D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0" autoAdjust="0"/>
    <p:restoredTop sz="86766" autoAdjust="0"/>
  </p:normalViewPr>
  <p:slideViewPr>
    <p:cSldViewPr snapToGrid="0">
      <p:cViewPr varScale="1">
        <p:scale>
          <a:sx n="59" d="100"/>
          <a:sy n="59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29BAEFB-191A-4607-BD46-C1FB21E8E1DA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03F734F-F66C-481E-A5A1-879FB35E9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6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F734F-F66C-481E-A5A1-879FB35E95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21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F734F-F66C-481E-A5A1-879FB35E95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5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F734F-F66C-481E-A5A1-879FB35E95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61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C64B-F1CA-41A2-8A58-78C283A89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0CE39E-7576-467B-976F-75440467C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329E9-C6ED-497D-8A3C-1D2F89B9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ABD56-9223-46E3-8D00-87EDA6D19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90EA1-BB91-4275-B73B-2F73327B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9840-9BE6-4B88-AFC8-4B93BD6A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6352C-314D-48E3-8A01-3011B5078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656FD-4B8E-451A-8370-6EB4DA46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423E-13FC-4C80-A5E5-5B6FD7E2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373B3-20BB-4F38-A982-B4C4B5A8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5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895C6-79A5-417D-80DC-D63D73E1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5A725-CE0D-4B3C-A8A4-E9F88C368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1EB03-8761-4CD8-9A79-76AF21B4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E7810-FFF1-4C4B-84A3-EE8EB4F2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B2FD5-AB03-42B0-8462-F9ADA8AE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1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9957-3BDD-4B94-9A96-EEC2C676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9EC8D-808F-4764-9967-EB1606C7F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12CDC-5EC8-43FA-8AB0-0B7AF75A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BBB91-C02A-4159-A150-F3D1A741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42ED1-DA1D-49AD-AF89-F0C83000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BB6CF-96F8-48DB-BECC-428E6208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2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9568-14F1-445B-84F2-67ADE22D3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A37F1-6767-48CF-894B-24FDD291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EEFDC-2DBE-4B76-8543-55FC20975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1AE8C-9F39-4859-9C30-A14D89F37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9DF27-E56C-4D63-8DB6-9BAF26F48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213C15-4448-4E95-9AF9-A7B0C91D8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6CF35-8EED-455A-BCD5-EBAECA55F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5A7D9C-97B8-436A-BC34-DB9F580A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FBC1-A2AC-4361-85E5-87953C63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27F35-2644-47F9-ACA9-6588AA58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29F45-0F7B-426E-83DA-B4E05D94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A0879-A56C-486D-8525-BCEC0F3C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3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C32495-712F-4A6E-B339-F7F76546A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8B56D-6F3B-46D3-A513-060727C0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D4FE9-4668-4FF4-8A71-09732833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2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41A7-CB2A-49DA-B3E9-1693029B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748A1-47E5-4A5F-A733-AEDDF0369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A4D91-FE34-4F44-9E1F-B3514FDAD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4B8F8-F5D3-4ECC-9955-55D7D23A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24CD4-1F3B-4BCC-A9FC-5D5A3CC8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8F430-B9FA-4EC3-9981-FFA859F6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7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B864-A025-43E0-8449-0825484B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7EB2D-98D0-4E0B-B336-58872B3A7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36BB0-7515-4538-8BAC-F401DCEE8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E1B01-3D92-4892-9A9D-7B36F8DA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799DD-427E-42A4-B56B-1132716B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942D9-2CCC-4A7C-8EFF-0D7976A6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5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ACE3-7C83-4C93-92D6-6EE70B2E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8BD7E-C24F-4FC6-A800-AC0EA8206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8ED91-9483-47DA-8693-4D2DEF52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1A577-4FAD-4731-8B60-B6D39FBAB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9303-F593-4668-B22E-4AE715A8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0DF14-FE3B-40B9-A1DB-48145D92D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47D3E-3D39-4890-A88B-5E354AE9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C047C-420D-46C1-8236-520B300D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44010-385B-458B-8556-321630DD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189AA-352F-430F-B371-450279E1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4B4E2-6B1B-453C-B600-93603610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2645D-BD2B-4661-BC3F-A1F14F7F1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47E1-11CB-492B-B589-3AD701E88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CD6EB-8031-4774-B1E3-A0BF4E802934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8A301-2CC2-4515-B683-6B16C9897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AD9C9-20CB-485C-9686-14402C6CA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0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0" Type="http://schemas.openxmlformats.org/officeDocument/2006/relationships/image" Target="../media/image3.svg"/><Relationship Id="rId4" Type="http://schemas.openxmlformats.org/officeDocument/2006/relationships/slide" Target="slide3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" Target="slide3.xml"/><Relationship Id="rId7" Type="http://schemas.openxmlformats.org/officeDocument/2006/relationships/image" Target="../media/image2.png"/><Relationship Id="rId12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hyperlink" Target="https://teachim.org/teaching_material/inpatient-evaluation-of-hypoxia/" TargetMode="External"/><Relationship Id="rId5" Type="http://schemas.openxmlformats.org/officeDocument/2006/relationships/slide" Target="slide8.xml"/><Relationship Id="rId10" Type="http://schemas.openxmlformats.org/officeDocument/2006/relationships/image" Target="../media/image1.png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image" Target="../media/image3.svg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slide" Target="slide10.xml"/><Relationship Id="rId5" Type="http://schemas.openxmlformats.org/officeDocument/2006/relationships/slide" Target="slide7.xml"/><Relationship Id="rId10" Type="http://schemas.openxmlformats.org/officeDocument/2006/relationships/slide" Target="slide2.xml"/><Relationship Id="rId4" Type="http://schemas.openxmlformats.org/officeDocument/2006/relationships/slide" Target="slide8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1.png"/><Relationship Id="rId3" Type="http://schemas.openxmlformats.org/officeDocument/2006/relationships/slide" Target="slide3.xml"/><Relationship Id="rId7" Type="http://schemas.openxmlformats.org/officeDocument/2006/relationships/image" Target="../media/image2.png"/><Relationship Id="rId12" Type="http://schemas.openxmlformats.org/officeDocument/2006/relationships/slide" Target="slide10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6.xml"/><Relationship Id="rId5" Type="http://schemas.openxmlformats.org/officeDocument/2006/relationships/slide" Target="slide8.xml"/><Relationship Id="rId10" Type="http://schemas.openxmlformats.org/officeDocument/2006/relationships/slide" Target="slide2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9.xml"/><Relationship Id="rId3" Type="http://schemas.openxmlformats.org/officeDocument/2006/relationships/slide" Target="slide6.xml"/><Relationship Id="rId7" Type="http://schemas.openxmlformats.org/officeDocument/2006/relationships/image" Target="../media/image5.svg"/><Relationship Id="rId12" Type="http://schemas.openxmlformats.org/officeDocument/2006/relationships/slide" Target="slide7.xml"/><Relationship Id="rId2" Type="http://schemas.openxmlformats.org/officeDocument/2006/relationships/slide" Target="slide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8.xml"/><Relationship Id="rId5" Type="http://schemas.openxmlformats.org/officeDocument/2006/relationships/image" Target="../media/image3.svg"/><Relationship Id="rId15" Type="http://schemas.openxmlformats.org/officeDocument/2006/relationships/slide" Target="slide10.xml"/><Relationship Id="rId10" Type="http://schemas.openxmlformats.org/officeDocument/2006/relationships/slide" Target="slide4.xml"/><Relationship Id="rId4" Type="http://schemas.openxmlformats.org/officeDocument/2006/relationships/image" Target="../media/image2.png"/><Relationship Id="rId9" Type="http://schemas.openxmlformats.org/officeDocument/2006/relationships/slide" Target="slide3.xml"/><Relationship Id="rId1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" Target="slide3.xml"/><Relationship Id="rId7" Type="http://schemas.openxmlformats.org/officeDocument/2006/relationships/image" Target="../media/image2.png"/><Relationship Id="rId12" Type="http://schemas.openxmlformats.org/officeDocument/2006/relationships/image" Target="../media/image1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0.xml"/><Relationship Id="rId5" Type="http://schemas.openxmlformats.org/officeDocument/2006/relationships/slide" Target="slide8.xml"/><Relationship Id="rId10" Type="http://schemas.openxmlformats.org/officeDocument/2006/relationships/slide" Target="slide2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7.png"/><Relationship Id="rId3" Type="http://schemas.openxmlformats.org/officeDocument/2006/relationships/slide" Target="slide3.xml"/><Relationship Id="rId7" Type="http://schemas.openxmlformats.org/officeDocument/2006/relationships/image" Target="../media/image2.png"/><Relationship Id="rId12" Type="http://schemas.openxmlformats.org/officeDocument/2006/relationships/image" Target="../media/image5.sv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image" Target="../media/image4.png"/><Relationship Id="rId5" Type="http://schemas.openxmlformats.org/officeDocument/2006/relationships/slide" Target="slide8.xml"/><Relationship Id="rId15" Type="http://schemas.openxmlformats.org/officeDocument/2006/relationships/image" Target="../media/image1.png"/><Relationship Id="rId10" Type="http://schemas.openxmlformats.org/officeDocument/2006/relationships/slide" Target="slide2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1.png"/><Relationship Id="rId3" Type="http://schemas.openxmlformats.org/officeDocument/2006/relationships/slide" Target="slide3.xml"/><Relationship Id="rId7" Type="http://schemas.openxmlformats.org/officeDocument/2006/relationships/image" Target="../media/image2.png"/><Relationship Id="rId12" Type="http://schemas.openxmlformats.org/officeDocument/2006/relationships/slide" Target="slide10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image" Target="../media/image6.tmp"/><Relationship Id="rId5" Type="http://schemas.openxmlformats.org/officeDocument/2006/relationships/slide" Target="slide8.xml"/><Relationship Id="rId10" Type="http://schemas.openxmlformats.org/officeDocument/2006/relationships/slide" Target="slide2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slide" Target="slide8.xml"/><Relationship Id="rId1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slide" Target="slide4.xml"/><Relationship Id="rId17" Type="http://schemas.openxmlformats.org/officeDocument/2006/relationships/slide" Target="slide10.xml"/><Relationship Id="rId2" Type="http://schemas.openxmlformats.org/officeDocument/2006/relationships/notesSlide" Target="../notesSlides/notesSlide1.xml"/><Relationship Id="rId16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slide" Target="slide3.xml"/><Relationship Id="rId5" Type="http://schemas.openxmlformats.org/officeDocument/2006/relationships/image" Target="../media/image9.png"/><Relationship Id="rId15" Type="http://schemas.openxmlformats.org/officeDocument/2006/relationships/slide" Target="slide9.xml"/><Relationship Id="rId10" Type="http://schemas.openxmlformats.org/officeDocument/2006/relationships/image" Target="../media/image3.svg"/><Relationship Id="rId4" Type="http://schemas.microsoft.com/office/2007/relationships/hdphoto" Target="../media/hdphoto1.wdp"/><Relationship Id="rId9" Type="http://schemas.openxmlformats.org/officeDocument/2006/relationships/image" Target="../media/image2.png"/><Relationship Id="rId14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.png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11" Type="http://schemas.openxmlformats.org/officeDocument/2006/relationships/slide" Target="slide11.xml"/><Relationship Id="rId5" Type="http://schemas.openxmlformats.org/officeDocument/2006/relationships/slide" Target="slide8.xml"/><Relationship Id="rId10" Type="http://schemas.openxmlformats.org/officeDocument/2006/relationships/slide" Target="slide9.xml"/><Relationship Id="rId4" Type="http://schemas.openxmlformats.org/officeDocument/2006/relationships/slide" Target="slide4.xml"/><Relationship Id="rId9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3" Type="http://schemas.openxmlformats.org/officeDocument/2006/relationships/slide" Target="slide2.xml"/><Relationship Id="rId7" Type="http://schemas.openxmlformats.org/officeDocument/2006/relationships/slide" Target="slide10.xml"/><Relationship Id="rId12" Type="http://schemas.openxmlformats.org/officeDocument/2006/relationships/slide" Target="slide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0" Type="http://schemas.openxmlformats.org/officeDocument/2006/relationships/image" Target="../media/image3.svg"/><Relationship Id="rId4" Type="http://schemas.openxmlformats.org/officeDocument/2006/relationships/slide" Target="slide3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3" Type="http://schemas.openxmlformats.org/officeDocument/2006/relationships/slide" Target="slide2.xml"/><Relationship Id="rId7" Type="http://schemas.openxmlformats.org/officeDocument/2006/relationships/slide" Target="slide10.xml"/><Relationship Id="rId12" Type="http://schemas.openxmlformats.org/officeDocument/2006/relationships/slide" Target="slide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11" Type="http://schemas.openxmlformats.org/officeDocument/2006/relationships/slide" Target="slide9.xml"/><Relationship Id="rId5" Type="http://schemas.openxmlformats.org/officeDocument/2006/relationships/slide" Target="slide4.xml"/><Relationship Id="rId10" Type="http://schemas.openxmlformats.org/officeDocument/2006/relationships/image" Target="../media/image3.svg"/><Relationship Id="rId4" Type="http://schemas.openxmlformats.org/officeDocument/2006/relationships/slide" Target="slide3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reveal and hide">
            <a:extLst>
              <a:ext uri="{FF2B5EF4-FFF2-40B4-BE49-F238E27FC236}">
                <a16:creationId xmlns:a16="http://schemas.microsoft.com/office/drawing/2014/main" id="{79D67867-2424-49D8-8E71-5AE5F7E645D6}"/>
              </a:ext>
            </a:extLst>
          </p:cNvPr>
          <p:cNvGrpSpPr/>
          <p:nvPr/>
        </p:nvGrpSpPr>
        <p:grpSpPr>
          <a:xfrm>
            <a:off x="1508005" y="48835"/>
            <a:ext cx="3149616" cy="738664"/>
            <a:chOff x="1952890" y="100404"/>
            <a:chExt cx="3149616" cy="738664"/>
          </a:xfrm>
        </p:grpSpPr>
        <p:sp>
          <p:nvSpPr>
            <p:cNvPr id="3" name="reveal and hide">
              <a:extLst>
                <a:ext uri="{FF2B5EF4-FFF2-40B4-BE49-F238E27FC236}">
                  <a16:creationId xmlns:a16="http://schemas.microsoft.com/office/drawing/2014/main" id="{0535AAD1-3955-46DE-A435-10A841999B19}"/>
                </a:ext>
              </a:extLst>
            </p:cNvPr>
            <p:cNvSpPr txBox="1"/>
            <p:nvPr/>
          </p:nvSpPr>
          <p:spPr>
            <a:xfrm>
              <a:off x="3164583" y="100404"/>
              <a:ext cx="193792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Click these buttons to </a:t>
              </a:r>
              <a:r>
                <a:rPr lang="en-US" sz="1400" b="1" u="sng" dirty="0"/>
                <a:t>REVEAL &amp; HIDE </a:t>
              </a:r>
              <a:r>
                <a:rPr lang="en-US" sz="1400" dirty="0"/>
                <a:t>answers and graphics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6EDB7E6-8C39-4F1E-BC63-ABE709DECB51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>
              <a:off x="1952890" y="469736"/>
              <a:ext cx="12116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" name="teachIM logo" descr="Icon&#10;&#10;Description automatically generated">
            <a:extLst>
              <a:ext uri="{FF2B5EF4-FFF2-40B4-BE49-F238E27FC236}">
                <a16:creationId xmlns:a16="http://schemas.microsoft.com/office/drawing/2014/main" id="{B4ED1BDE-9395-4570-A5B1-0FA419B53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sp>
        <p:nvSpPr>
          <p:cNvPr id="21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13C7145C-FE18-43A6-85EC-0B0672B52A91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sp>
        <p:nvSpPr>
          <p:cNvPr id="22" name="question 3">
            <a:hlinkClick r:id="rId4" action="ppaction://hlinksldjump"/>
            <a:extLst>
              <a:ext uri="{FF2B5EF4-FFF2-40B4-BE49-F238E27FC236}">
                <a16:creationId xmlns:a16="http://schemas.microsoft.com/office/drawing/2014/main" id="{A8DC9FF0-5655-4896-BC54-2C8C406FA6ED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23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D4A8F860-7EE3-4764-B622-DEC25160BB3D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24" name="sub-q 2">
            <a:hlinkClick r:id="rId6" action="ppaction://hlinksldjump"/>
            <a:extLst>
              <a:ext uri="{FF2B5EF4-FFF2-40B4-BE49-F238E27FC236}">
                <a16:creationId xmlns:a16="http://schemas.microsoft.com/office/drawing/2014/main" id="{63922788-C140-46D1-AB9E-A7AFD62115DD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25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B3245445-ED4D-47AF-83D9-473C04867C7D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26" name="sub-q 1 button">
            <a:hlinkClick r:id="rId8" action="ppaction://hlinksldjump"/>
            <a:extLst>
              <a:ext uri="{FF2B5EF4-FFF2-40B4-BE49-F238E27FC236}">
                <a16:creationId xmlns:a16="http://schemas.microsoft.com/office/drawing/2014/main" id="{C66F0902-4064-4B46-96FA-FF625DAA8309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4C82A307-C956-4641-B60A-A97796724E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A3D21E03-715A-4C43-B434-2B87FA4299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04978915-ACEA-4AD7-99B3-CDAA19B8C4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413C8582-0C73-4988-B17E-3B59A6CA0F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0345" y="2920004"/>
            <a:ext cx="274320" cy="274320"/>
          </a:xfrm>
          <a:prstGeom prst="rect">
            <a:avLst/>
          </a:prstGeom>
        </p:spPr>
      </p:pic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935E10A6-42C2-4A88-A83E-30510BC2C7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sp>
        <p:nvSpPr>
          <p:cNvPr id="32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D74540FB-6AA1-4EE0-88BA-B2B717997ECE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35E48D6D-A421-47AB-8AAC-6EFB4D64CB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34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CBA2335D-8C37-453C-A13D-0E494D58160E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 Steps to ABG Interpretation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1E58DFC7-1385-453A-9F15-2B781AB5DD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3182" y="124939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6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estion 1">
            <a:hlinkClick r:id="rId2" action="ppaction://hlinksldjump"/>
            <a:extLst>
              <a:ext uri="{FF2B5EF4-FFF2-40B4-BE49-F238E27FC236}">
                <a16:creationId xmlns:a16="http://schemas.microsoft.com/office/drawing/2014/main" id="{E432379E-237F-4FEA-A89A-E3DA3D54A4F0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Ranges and Definitions</a:t>
            </a:r>
          </a:p>
        </p:txBody>
      </p:sp>
      <p:sp>
        <p:nvSpPr>
          <p:cNvPr id="6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63EF4987-7D65-4F41-AF6C-867A29AB2FC8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7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05E8C414-36E9-4238-BFF8-0D781D464882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8" name="sub-q 2">
            <a:hlinkClick r:id="rId5" action="ppaction://hlinksldjump"/>
            <a:extLst>
              <a:ext uri="{FF2B5EF4-FFF2-40B4-BE49-F238E27FC236}">
                <a16:creationId xmlns:a16="http://schemas.microsoft.com/office/drawing/2014/main" id="{62A08DB7-EB0E-44BC-9A87-4B93013393FC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0" name="sub-q 1 button">
            <a:hlinkClick r:id="rId6" action="ppaction://hlinksldjump"/>
            <a:extLst>
              <a:ext uri="{FF2B5EF4-FFF2-40B4-BE49-F238E27FC236}">
                <a16:creationId xmlns:a16="http://schemas.microsoft.com/office/drawing/2014/main" id="{DD2AA152-832E-413C-8D27-43C248037B79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DF2CDD5E-E333-4D07-BFE3-26DE2B7952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0852FDEE-7FB1-4443-89C9-E72B09DD51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E1970567-FA06-4A0D-B05D-0F56FA2090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3026" y="2913936"/>
            <a:ext cx="274320" cy="274320"/>
          </a:xfrm>
          <a:prstGeom prst="rect">
            <a:avLst/>
          </a:prstGeom>
        </p:spPr>
      </p:pic>
      <p:sp>
        <p:nvSpPr>
          <p:cNvPr id="16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50E38070-82B0-400A-B307-5DA3CD10B150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D0620F82-4003-4527-B1E1-899089A889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8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EE0A4872-2B1A-4464-8C40-DE9E11389621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 Steps to ABG Interpretation</a:t>
            </a:r>
          </a:p>
        </p:txBody>
      </p:sp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43E3FC49-3912-4E77-AE98-46AD335A22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pic>
        <p:nvPicPr>
          <p:cNvPr id="20" name="teachIM logo" descr="Icon&#10;&#10;Description automatically generated">
            <a:extLst>
              <a:ext uri="{FF2B5EF4-FFF2-40B4-BE49-F238E27FC236}">
                <a16:creationId xmlns:a16="http://schemas.microsoft.com/office/drawing/2014/main" id="{B4ED1BDE-9395-4570-A5B1-0FA419B534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sp>
        <p:nvSpPr>
          <p:cNvPr id="21" name="pH">
            <a:extLst>
              <a:ext uri="{FF2B5EF4-FFF2-40B4-BE49-F238E27FC236}">
                <a16:creationId xmlns:a16="http://schemas.microsoft.com/office/drawing/2014/main" id="{BA33641E-AB2F-4BF6-A089-BF2ADC14C9B6}"/>
              </a:ext>
            </a:extLst>
          </p:cNvPr>
          <p:cNvSpPr/>
          <p:nvPr/>
        </p:nvSpPr>
        <p:spPr>
          <a:xfrm>
            <a:off x="3336603" y="2012043"/>
            <a:ext cx="631445" cy="5652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pH</a:t>
            </a:r>
          </a:p>
        </p:txBody>
      </p:sp>
      <p:sp>
        <p:nvSpPr>
          <p:cNvPr id="22" name="pCO2">
            <a:extLst>
              <a:ext uri="{FF2B5EF4-FFF2-40B4-BE49-F238E27FC236}">
                <a16:creationId xmlns:a16="http://schemas.microsoft.com/office/drawing/2014/main" id="{6973FB82-8B8E-4835-BFDD-359EBDA3FEF1}"/>
              </a:ext>
            </a:extLst>
          </p:cNvPr>
          <p:cNvSpPr/>
          <p:nvPr/>
        </p:nvSpPr>
        <p:spPr>
          <a:xfrm>
            <a:off x="4309187" y="2012042"/>
            <a:ext cx="944102" cy="5652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PCO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sp>
        <p:nvSpPr>
          <p:cNvPr id="23" name="pO2">
            <a:extLst>
              <a:ext uri="{FF2B5EF4-FFF2-40B4-BE49-F238E27FC236}">
                <a16:creationId xmlns:a16="http://schemas.microsoft.com/office/drawing/2014/main" id="{57F2B378-F5C5-4A7C-AD2E-4EB2CAAF248E}"/>
              </a:ext>
            </a:extLst>
          </p:cNvPr>
          <p:cNvSpPr/>
          <p:nvPr/>
        </p:nvSpPr>
        <p:spPr>
          <a:xfrm>
            <a:off x="5586384" y="2012041"/>
            <a:ext cx="778578" cy="5652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PO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sp>
        <p:nvSpPr>
          <p:cNvPr id="24" name="HCO3">
            <a:extLst>
              <a:ext uri="{FF2B5EF4-FFF2-40B4-BE49-F238E27FC236}">
                <a16:creationId xmlns:a16="http://schemas.microsoft.com/office/drawing/2014/main" id="{8D11CE00-0F49-42E0-AE7B-54276C6F09C7}"/>
              </a:ext>
            </a:extLst>
          </p:cNvPr>
          <p:cNvSpPr/>
          <p:nvPr/>
        </p:nvSpPr>
        <p:spPr>
          <a:xfrm>
            <a:off x="6707684" y="2012041"/>
            <a:ext cx="885791" cy="5652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HCO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sp>
        <p:nvSpPr>
          <p:cNvPr id="25" name="/">
            <a:extLst>
              <a:ext uri="{FF2B5EF4-FFF2-40B4-BE49-F238E27FC236}">
                <a16:creationId xmlns:a16="http://schemas.microsoft.com/office/drawing/2014/main" id="{93ECD864-023E-4CB1-84BD-D52ABF1DEC77}"/>
              </a:ext>
            </a:extLst>
          </p:cNvPr>
          <p:cNvSpPr txBox="1"/>
          <p:nvPr/>
        </p:nvSpPr>
        <p:spPr>
          <a:xfrm>
            <a:off x="4014616" y="2115641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</a:t>
            </a:r>
          </a:p>
        </p:txBody>
      </p:sp>
      <p:sp>
        <p:nvSpPr>
          <p:cNvPr id="26" name="/">
            <a:extLst>
              <a:ext uri="{FF2B5EF4-FFF2-40B4-BE49-F238E27FC236}">
                <a16:creationId xmlns:a16="http://schemas.microsoft.com/office/drawing/2014/main" id="{E82F7808-1F02-46EE-AE7D-4DB66284D14D}"/>
              </a:ext>
            </a:extLst>
          </p:cNvPr>
          <p:cNvSpPr txBox="1"/>
          <p:nvPr/>
        </p:nvSpPr>
        <p:spPr>
          <a:xfrm>
            <a:off x="5275968" y="2115641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</a:t>
            </a:r>
          </a:p>
        </p:txBody>
      </p:sp>
      <p:sp>
        <p:nvSpPr>
          <p:cNvPr id="27" name="/">
            <a:extLst>
              <a:ext uri="{FF2B5EF4-FFF2-40B4-BE49-F238E27FC236}">
                <a16:creationId xmlns:a16="http://schemas.microsoft.com/office/drawing/2014/main" id="{0A20FF35-8478-4D99-95FD-8CEF359A7B0D}"/>
              </a:ext>
            </a:extLst>
          </p:cNvPr>
          <p:cNvSpPr txBox="1"/>
          <p:nvPr/>
        </p:nvSpPr>
        <p:spPr>
          <a:xfrm>
            <a:off x="6387641" y="2115641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</a:t>
            </a:r>
          </a:p>
        </p:txBody>
      </p:sp>
      <p:sp>
        <p:nvSpPr>
          <p:cNvPr id="28" name="pH explanation">
            <a:extLst>
              <a:ext uri="{FF2B5EF4-FFF2-40B4-BE49-F238E27FC236}">
                <a16:creationId xmlns:a16="http://schemas.microsoft.com/office/drawing/2014/main" id="{B96B3A5C-0631-4A88-9A42-C6A258AA8EC1}"/>
              </a:ext>
            </a:extLst>
          </p:cNvPr>
          <p:cNvSpPr txBox="1"/>
          <p:nvPr/>
        </p:nvSpPr>
        <p:spPr>
          <a:xfrm>
            <a:off x="1905678" y="2760843"/>
            <a:ext cx="2259883" cy="8617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Normal pH is 7.40 ± 0.05</a:t>
            </a:r>
          </a:p>
          <a:p>
            <a:r>
              <a:rPr lang="en-US" sz="1600" dirty="0"/>
              <a:t>Alkalemia – pH &gt; 7.45</a:t>
            </a:r>
          </a:p>
          <a:p>
            <a:r>
              <a:rPr lang="en-US" sz="1600" dirty="0"/>
              <a:t>Acidemia – pH &lt; 7.35</a:t>
            </a:r>
          </a:p>
        </p:txBody>
      </p:sp>
      <p:sp>
        <p:nvSpPr>
          <p:cNvPr id="29" name="PCO2 explanation">
            <a:extLst>
              <a:ext uri="{FF2B5EF4-FFF2-40B4-BE49-F238E27FC236}">
                <a16:creationId xmlns:a16="http://schemas.microsoft.com/office/drawing/2014/main" id="{6E7CC097-4375-40A3-AEDA-B89A5E79A999}"/>
              </a:ext>
            </a:extLst>
          </p:cNvPr>
          <p:cNvSpPr txBox="1"/>
          <p:nvPr/>
        </p:nvSpPr>
        <p:spPr>
          <a:xfrm>
            <a:off x="3164933" y="1087168"/>
            <a:ext cx="3221938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Normal PCO</a:t>
            </a:r>
            <a:r>
              <a:rPr lang="en-US" sz="1600" baseline="-25000" dirty="0"/>
              <a:t>2</a:t>
            </a:r>
            <a:r>
              <a:rPr lang="en-US" sz="1600" dirty="0"/>
              <a:t> is 40 ± 4</a:t>
            </a:r>
          </a:p>
          <a:p>
            <a:pPr algn="ctr"/>
            <a:r>
              <a:rPr lang="en-US" sz="1600" dirty="0"/>
              <a:t>Respiratory acidosis - pCO</a:t>
            </a:r>
            <a:r>
              <a:rPr lang="en-US" sz="1600" baseline="-25000" dirty="0"/>
              <a:t>2</a:t>
            </a:r>
            <a:r>
              <a:rPr lang="en-US" sz="1600" dirty="0"/>
              <a:t> &gt; 44</a:t>
            </a:r>
          </a:p>
          <a:p>
            <a:pPr algn="ctr"/>
            <a:r>
              <a:rPr lang="en-US" sz="1600" dirty="0"/>
              <a:t>Respiratory alkalosis - pCO</a:t>
            </a:r>
            <a:r>
              <a:rPr lang="en-US" sz="1600" baseline="-25000" dirty="0"/>
              <a:t>2</a:t>
            </a:r>
            <a:r>
              <a:rPr lang="en-US" sz="1600" dirty="0"/>
              <a:t> &lt; 36</a:t>
            </a:r>
          </a:p>
        </p:txBody>
      </p:sp>
      <p:sp>
        <p:nvSpPr>
          <p:cNvPr id="30" name="HCO3 explanation">
            <a:extLst>
              <a:ext uri="{FF2B5EF4-FFF2-40B4-BE49-F238E27FC236}">
                <a16:creationId xmlns:a16="http://schemas.microsoft.com/office/drawing/2014/main" id="{54B1D2DB-A431-4F2A-A792-A73612577127}"/>
              </a:ext>
            </a:extLst>
          </p:cNvPr>
          <p:cNvSpPr txBox="1"/>
          <p:nvPr/>
        </p:nvSpPr>
        <p:spPr>
          <a:xfrm>
            <a:off x="6635400" y="1092313"/>
            <a:ext cx="3150195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Normal HCO</a:t>
            </a:r>
            <a:r>
              <a:rPr lang="en-US" sz="1600" baseline="-25000" dirty="0"/>
              <a:t>3</a:t>
            </a:r>
            <a:r>
              <a:rPr lang="en-US" sz="1600" dirty="0"/>
              <a:t> is 24 ± 2 </a:t>
            </a:r>
          </a:p>
          <a:p>
            <a:pPr algn="ctr"/>
            <a:r>
              <a:rPr lang="en-US" sz="1600" dirty="0"/>
              <a:t>Metabolic acidosis - HCO</a:t>
            </a:r>
            <a:r>
              <a:rPr lang="en-US" sz="1600" baseline="-25000" dirty="0"/>
              <a:t>3</a:t>
            </a:r>
            <a:r>
              <a:rPr lang="en-US" sz="1600" dirty="0"/>
              <a:t> &lt; 22</a:t>
            </a:r>
          </a:p>
          <a:p>
            <a:pPr algn="ctr"/>
            <a:r>
              <a:rPr lang="en-US" sz="1600" dirty="0"/>
              <a:t>Metabolic alkalosis - HCO</a:t>
            </a:r>
            <a:r>
              <a:rPr lang="en-US" sz="1600" baseline="-25000" dirty="0"/>
              <a:t>3</a:t>
            </a:r>
            <a:r>
              <a:rPr lang="en-US" sz="1600" dirty="0"/>
              <a:t> &gt; 26</a:t>
            </a:r>
          </a:p>
        </p:txBody>
      </p:sp>
      <p:sp>
        <p:nvSpPr>
          <p:cNvPr id="31" name="PO2 explanation">
            <a:extLst>
              <a:ext uri="{FF2B5EF4-FFF2-40B4-BE49-F238E27FC236}">
                <a16:creationId xmlns:a16="http://schemas.microsoft.com/office/drawing/2014/main" id="{8CCF939D-1D47-4211-A557-07A48A9FCF72}"/>
              </a:ext>
            </a:extLst>
          </p:cNvPr>
          <p:cNvSpPr txBox="1"/>
          <p:nvPr/>
        </p:nvSpPr>
        <p:spPr>
          <a:xfrm>
            <a:off x="5078632" y="2826486"/>
            <a:ext cx="2830565" cy="5078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Normal PO</a:t>
            </a:r>
            <a:r>
              <a:rPr lang="en-US" sz="1600" baseline="-25000" dirty="0"/>
              <a:t>2</a:t>
            </a:r>
            <a:r>
              <a:rPr lang="en-US" sz="1600" dirty="0"/>
              <a:t> on an ABG is &gt; 80. </a:t>
            </a:r>
          </a:p>
          <a:p>
            <a:pPr algn="ctr"/>
            <a:r>
              <a:rPr lang="en-US" sz="1100" dirty="0"/>
              <a:t>Check out or talk on hypoxemia </a:t>
            </a:r>
            <a:r>
              <a:rPr lang="en-US" sz="1100" dirty="0">
                <a:hlinkClick r:id="rId11"/>
              </a:rPr>
              <a:t>here</a:t>
            </a:r>
            <a:r>
              <a:rPr lang="en-US" sz="1100" dirty="0"/>
              <a:t>. </a:t>
            </a:r>
            <a:r>
              <a:rPr lang="en-US" sz="1100" baseline="-25000" dirty="0"/>
              <a:t> </a:t>
            </a:r>
            <a:endParaRPr lang="en-US" sz="1600" dirty="0"/>
          </a:p>
        </p:txBody>
      </p:sp>
      <p:sp>
        <p:nvSpPr>
          <p:cNvPr id="32" name="Emia vs. Osis">
            <a:extLst>
              <a:ext uri="{FF2B5EF4-FFF2-40B4-BE49-F238E27FC236}">
                <a16:creationId xmlns:a16="http://schemas.microsoft.com/office/drawing/2014/main" id="{C21F21BA-F8B0-49F9-92E7-232392CC351D}"/>
              </a:ext>
            </a:extLst>
          </p:cNvPr>
          <p:cNvSpPr/>
          <p:nvPr/>
        </p:nvSpPr>
        <p:spPr>
          <a:xfrm>
            <a:off x="4552858" y="4811478"/>
            <a:ext cx="4550611" cy="52838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“-</a:t>
            </a:r>
            <a:r>
              <a:rPr lang="en-US" sz="2000" dirty="0" err="1"/>
              <a:t>emia</a:t>
            </a:r>
            <a:r>
              <a:rPr lang="en-US" sz="2000" dirty="0"/>
              <a:t>” vs. “-</a:t>
            </a:r>
            <a:r>
              <a:rPr lang="en-US" sz="2000" dirty="0" err="1"/>
              <a:t>osis</a:t>
            </a:r>
            <a:r>
              <a:rPr lang="en-US" sz="2000" dirty="0"/>
              <a:t>?”</a:t>
            </a:r>
          </a:p>
        </p:txBody>
      </p:sp>
      <p:pic>
        <p:nvPicPr>
          <p:cNvPr id="33" name="Mouse emia vs osis" descr="Cursor with solid fill">
            <a:extLst>
              <a:ext uri="{FF2B5EF4-FFF2-40B4-BE49-F238E27FC236}">
                <a16:creationId xmlns:a16="http://schemas.microsoft.com/office/drawing/2014/main" id="{A4BF9944-07B5-4CDB-9CED-7171FBED57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964767" y="5190949"/>
            <a:ext cx="277403" cy="277403"/>
          </a:xfrm>
          <a:prstGeom prst="rect">
            <a:avLst/>
          </a:prstGeom>
        </p:spPr>
      </p:pic>
      <p:sp>
        <p:nvSpPr>
          <p:cNvPr id="34" name="Emia vs Osis answer">
            <a:extLst>
              <a:ext uri="{FF2B5EF4-FFF2-40B4-BE49-F238E27FC236}">
                <a16:creationId xmlns:a16="http://schemas.microsoft.com/office/drawing/2014/main" id="{8B48437B-AFB1-453B-AE13-0E2416A92F66}"/>
              </a:ext>
            </a:extLst>
          </p:cNvPr>
          <p:cNvSpPr/>
          <p:nvPr/>
        </p:nvSpPr>
        <p:spPr>
          <a:xfrm>
            <a:off x="4552857" y="4801992"/>
            <a:ext cx="4550611" cy="827353"/>
          </a:xfrm>
          <a:prstGeom prst="roundRect">
            <a:avLst>
              <a:gd name="adj" fmla="val 573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“-</a:t>
            </a:r>
            <a:r>
              <a:rPr lang="en-US" sz="1400" dirty="0" err="1"/>
              <a:t>emia</a:t>
            </a:r>
            <a:r>
              <a:rPr lang="en-US" sz="1400" dirty="0"/>
              <a:t>” refers to the 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“-</a:t>
            </a:r>
            <a:r>
              <a:rPr lang="en-US" sz="1400" dirty="0" err="1"/>
              <a:t>osis</a:t>
            </a:r>
            <a:r>
              <a:rPr lang="en-US" sz="1400" dirty="0"/>
              <a:t>” refers to a metabolic or respiratory process that would lead to a derangement in pH if unchecked</a:t>
            </a:r>
          </a:p>
        </p:txBody>
      </p:sp>
      <p:sp>
        <p:nvSpPr>
          <p:cNvPr id="35" name="Base excess">
            <a:extLst>
              <a:ext uri="{FF2B5EF4-FFF2-40B4-BE49-F238E27FC236}">
                <a16:creationId xmlns:a16="http://schemas.microsoft.com/office/drawing/2014/main" id="{60435B24-78AF-404D-B1BC-B5BC81E8AE4C}"/>
              </a:ext>
            </a:extLst>
          </p:cNvPr>
          <p:cNvSpPr/>
          <p:nvPr/>
        </p:nvSpPr>
        <p:spPr>
          <a:xfrm>
            <a:off x="8454987" y="2012040"/>
            <a:ext cx="2267345" cy="537710"/>
          </a:xfrm>
          <a:prstGeom prst="roundRect">
            <a:avLst/>
          </a:prstGeom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Base excess</a:t>
            </a:r>
          </a:p>
        </p:txBody>
      </p:sp>
      <p:grpSp>
        <p:nvGrpSpPr>
          <p:cNvPr id="36" name="Base excess explanation">
            <a:extLst>
              <a:ext uri="{FF2B5EF4-FFF2-40B4-BE49-F238E27FC236}">
                <a16:creationId xmlns:a16="http://schemas.microsoft.com/office/drawing/2014/main" id="{ABB995A8-7E89-48E6-B63E-F8E30F99D5FB}"/>
              </a:ext>
            </a:extLst>
          </p:cNvPr>
          <p:cNvGrpSpPr/>
          <p:nvPr/>
        </p:nvGrpSpPr>
        <p:grpSpPr>
          <a:xfrm>
            <a:off x="8074873" y="2674099"/>
            <a:ext cx="3540746" cy="1600438"/>
            <a:chOff x="8606736" y="3920320"/>
            <a:chExt cx="3421443" cy="1600438"/>
          </a:xfrm>
        </p:grpSpPr>
        <p:sp>
          <p:nvSpPr>
            <p:cNvPr id="37" name="PO2 explanation">
              <a:extLst>
                <a:ext uri="{FF2B5EF4-FFF2-40B4-BE49-F238E27FC236}">
                  <a16:creationId xmlns:a16="http://schemas.microsoft.com/office/drawing/2014/main" id="{65D11271-63D1-4D29-85E4-CD4BC05254F2}"/>
                </a:ext>
              </a:extLst>
            </p:cNvPr>
            <p:cNvSpPr txBox="1"/>
            <p:nvPr/>
          </p:nvSpPr>
          <p:spPr>
            <a:xfrm>
              <a:off x="8606736" y="3920320"/>
              <a:ext cx="3365784" cy="1600438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Some labs will report a “base excess”. This is the # of H</a:t>
              </a:r>
              <a:r>
                <a:rPr lang="en-US" sz="1400" baseline="30000" dirty="0"/>
                <a:t>+</a:t>
              </a:r>
              <a:r>
                <a:rPr lang="en-US" sz="1400" dirty="0"/>
                <a:t> ions required to restore normal pH if PCO</a:t>
              </a:r>
              <a:r>
                <a:rPr lang="en-US" sz="1400" baseline="-25000" dirty="0"/>
                <a:t>2</a:t>
              </a:r>
              <a:r>
                <a:rPr lang="en-US" sz="1400" dirty="0"/>
                <a:t> is normal. </a:t>
              </a:r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</p:txBody>
        </p:sp>
        <p:sp>
          <p:nvSpPr>
            <p:cNvPr id="38" name="Arrow: Left-Right 37">
              <a:extLst>
                <a:ext uri="{FF2B5EF4-FFF2-40B4-BE49-F238E27FC236}">
                  <a16:creationId xmlns:a16="http://schemas.microsoft.com/office/drawing/2014/main" id="{2E888473-5D26-46C2-80BF-E770CED1122B}"/>
                </a:ext>
              </a:extLst>
            </p:cNvPr>
            <p:cNvSpPr/>
            <p:nvPr/>
          </p:nvSpPr>
          <p:spPr>
            <a:xfrm>
              <a:off x="8935386" y="4626883"/>
              <a:ext cx="2807368" cy="267369"/>
            </a:xfrm>
            <a:prstGeom prst="left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09A1EC3-5C65-4BBE-9A06-A00B93F2979A}"/>
                </a:ext>
              </a:extLst>
            </p:cNvPr>
            <p:cNvSpPr txBox="1"/>
            <p:nvPr/>
          </p:nvSpPr>
          <p:spPr>
            <a:xfrm>
              <a:off x="10138819" y="477773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E1C3E3A-1780-42A2-A47E-863076281CBA}"/>
                </a:ext>
              </a:extLst>
            </p:cNvPr>
            <p:cNvSpPr txBox="1"/>
            <p:nvPr/>
          </p:nvSpPr>
          <p:spPr>
            <a:xfrm>
              <a:off x="10753012" y="4791705"/>
              <a:ext cx="3914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+2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C145EA-890A-4D7F-8715-192EE5DEFC1A}"/>
                </a:ext>
              </a:extLst>
            </p:cNvPr>
            <p:cNvSpPr txBox="1"/>
            <p:nvPr/>
          </p:nvSpPr>
          <p:spPr>
            <a:xfrm>
              <a:off x="9409674" y="4803792"/>
              <a:ext cx="4171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-2</a:t>
              </a:r>
            </a:p>
          </p:txBody>
        </p:sp>
        <p:sp>
          <p:nvSpPr>
            <p:cNvPr id="42" name="Left Brace 41">
              <a:extLst>
                <a:ext uri="{FF2B5EF4-FFF2-40B4-BE49-F238E27FC236}">
                  <a16:creationId xmlns:a16="http://schemas.microsoft.com/office/drawing/2014/main" id="{A944CC86-BD02-4220-BBC2-BAB3B6FD71A9}"/>
                </a:ext>
              </a:extLst>
            </p:cNvPr>
            <p:cNvSpPr/>
            <p:nvPr/>
          </p:nvSpPr>
          <p:spPr>
            <a:xfrm rot="16200000">
              <a:off x="11274886" y="4771071"/>
              <a:ext cx="100910" cy="70732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AFCFE83-B45A-4437-BE0C-D62F9AE60D44}"/>
                </a:ext>
              </a:extLst>
            </p:cNvPr>
            <p:cNvSpPr txBox="1"/>
            <p:nvPr/>
          </p:nvSpPr>
          <p:spPr>
            <a:xfrm>
              <a:off x="10414901" y="5173410"/>
              <a:ext cx="16132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Metabolic alkalosis</a:t>
              </a:r>
            </a:p>
          </p:txBody>
        </p:sp>
        <p:sp>
          <p:nvSpPr>
            <p:cNvPr id="44" name="Left Brace 43">
              <a:extLst>
                <a:ext uri="{FF2B5EF4-FFF2-40B4-BE49-F238E27FC236}">
                  <a16:creationId xmlns:a16="http://schemas.microsoft.com/office/drawing/2014/main" id="{11D4226B-46CE-424C-8D59-68AC18585370}"/>
                </a:ext>
              </a:extLst>
            </p:cNvPr>
            <p:cNvSpPr/>
            <p:nvPr/>
          </p:nvSpPr>
          <p:spPr>
            <a:xfrm rot="16200000">
              <a:off x="9196554" y="4771072"/>
              <a:ext cx="100910" cy="70732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AA36B31-CD2E-487D-B3F0-70E99A189440}"/>
                </a:ext>
              </a:extLst>
            </p:cNvPr>
            <p:cNvSpPr txBox="1"/>
            <p:nvPr/>
          </p:nvSpPr>
          <p:spPr>
            <a:xfrm>
              <a:off x="8606736" y="5182298"/>
              <a:ext cx="16132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Metabolic acidosis</a:t>
              </a:r>
            </a:p>
          </p:txBody>
        </p:sp>
      </p:grpSp>
      <p:pic>
        <p:nvPicPr>
          <p:cNvPr id="46" name="Mouse pH" descr="Cursor with solid fill">
            <a:extLst>
              <a:ext uri="{FF2B5EF4-FFF2-40B4-BE49-F238E27FC236}">
                <a16:creationId xmlns:a16="http://schemas.microsoft.com/office/drawing/2014/main" id="{00682092-B4B4-4F3F-88D3-C95D8E085B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807272" y="2421262"/>
            <a:ext cx="274320" cy="274320"/>
          </a:xfrm>
          <a:prstGeom prst="rect">
            <a:avLst/>
          </a:prstGeom>
        </p:spPr>
      </p:pic>
      <p:pic>
        <p:nvPicPr>
          <p:cNvPr id="47" name="Mouse PCO2" descr="Cursor with solid fill">
            <a:extLst>
              <a:ext uri="{FF2B5EF4-FFF2-40B4-BE49-F238E27FC236}">
                <a16:creationId xmlns:a16="http://schemas.microsoft.com/office/drawing/2014/main" id="{54AC1A49-3FC4-4F82-96B5-20B9CE5759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095786" y="2421262"/>
            <a:ext cx="274320" cy="274320"/>
          </a:xfrm>
          <a:prstGeom prst="rect">
            <a:avLst/>
          </a:prstGeom>
        </p:spPr>
      </p:pic>
      <p:pic>
        <p:nvPicPr>
          <p:cNvPr id="48" name="Mouse PO2" descr="Cursor with solid fill">
            <a:extLst>
              <a:ext uri="{FF2B5EF4-FFF2-40B4-BE49-F238E27FC236}">
                <a16:creationId xmlns:a16="http://schemas.microsoft.com/office/drawing/2014/main" id="{F3BF116C-3ED7-4295-8E08-F1B8FCD616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214494" y="2398545"/>
            <a:ext cx="274320" cy="274320"/>
          </a:xfrm>
          <a:prstGeom prst="rect">
            <a:avLst/>
          </a:prstGeom>
        </p:spPr>
      </p:pic>
      <p:pic>
        <p:nvPicPr>
          <p:cNvPr id="49" name="Mouse HCO3" descr="Cursor with solid fill">
            <a:extLst>
              <a:ext uri="{FF2B5EF4-FFF2-40B4-BE49-F238E27FC236}">
                <a16:creationId xmlns:a16="http://schemas.microsoft.com/office/drawing/2014/main" id="{1B6013C6-1B61-4E85-BC7C-1B8470C840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448497" y="2421262"/>
            <a:ext cx="274320" cy="274320"/>
          </a:xfrm>
          <a:prstGeom prst="rect">
            <a:avLst/>
          </a:prstGeom>
        </p:spPr>
      </p:pic>
      <p:pic>
        <p:nvPicPr>
          <p:cNvPr id="50" name="Mouse Base excess" descr="Cursor with solid fill">
            <a:extLst>
              <a:ext uri="{FF2B5EF4-FFF2-40B4-BE49-F238E27FC236}">
                <a16:creationId xmlns:a16="http://schemas.microsoft.com/office/drawing/2014/main" id="{6B0A7752-FB2E-4BAB-811F-33AF20D843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572771" y="2402043"/>
            <a:ext cx="274320" cy="274320"/>
          </a:xfrm>
          <a:prstGeom prst="rect">
            <a:avLst/>
          </a:prstGeom>
        </p:spPr>
      </p:pic>
      <p:cxnSp>
        <p:nvCxnSpPr>
          <p:cNvPr id="51" name="Connector pH">
            <a:extLst>
              <a:ext uri="{FF2B5EF4-FFF2-40B4-BE49-F238E27FC236}">
                <a16:creationId xmlns:a16="http://schemas.microsoft.com/office/drawing/2014/main" id="{95010129-A7F3-4354-B23B-3FE43CB09BB2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3652326" y="2577306"/>
            <a:ext cx="0" cy="1835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PCO2">
            <a:extLst>
              <a:ext uri="{FF2B5EF4-FFF2-40B4-BE49-F238E27FC236}">
                <a16:creationId xmlns:a16="http://schemas.microsoft.com/office/drawing/2014/main" id="{099429A7-BA9B-42C3-ABA2-0F541EA572C5}"/>
              </a:ext>
            </a:extLst>
          </p:cNvPr>
          <p:cNvCxnSpPr>
            <a:cxnSpLocks/>
          </p:cNvCxnSpPr>
          <p:nvPr/>
        </p:nvCxnSpPr>
        <p:spPr>
          <a:xfrm>
            <a:off x="4674817" y="1918165"/>
            <a:ext cx="1" cy="90762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Connector O2">
            <a:extLst>
              <a:ext uri="{FF2B5EF4-FFF2-40B4-BE49-F238E27FC236}">
                <a16:creationId xmlns:a16="http://schemas.microsoft.com/office/drawing/2014/main" id="{FBE6DA3C-76C1-4A87-83E2-92CB4DABE022}"/>
              </a:ext>
            </a:extLst>
          </p:cNvPr>
          <p:cNvCxnSpPr>
            <a:stCxn id="23" idx="2"/>
          </p:cNvCxnSpPr>
          <p:nvPr/>
        </p:nvCxnSpPr>
        <p:spPr>
          <a:xfrm>
            <a:off x="5975673" y="2577304"/>
            <a:ext cx="0" cy="235497"/>
          </a:xfrm>
          <a:prstGeom prst="line">
            <a:avLst/>
          </a:prstGeom>
          <a:ln w="127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4" name="Connector HCO3">
            <a:extLst>
              <a:ext uri="{FF2B5EF4-FFF2-40B4-BE49-F238E27FC236}">
                <a16:creationId xmlns:a16="http://schemas.microsoft.com/office/drawing/2014/main" id="{7908AAD7-FE81-4F94-B7FD-C4478505BE2C}"/>
              </a:ext>
            </a:extLst>
          </p:cNvPr>
          <p:cNvCxnSpPr>
            <a:cxnSpLocks/>
          </p:cNvCxnSpPr>
          <p:nvPr/>
        </p:nvCxnSpPr>
        <p:spPr>
          <a:xfrm>
            <a:off x="6997899" y="1918165"/>
            <a:ext cx="0" cy="90762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Connector Base excess">
            <a:extLst>
              <a:ext uri="{FF2B5EF4-FFF2-40B4-BE49-F238E27FC236}">
                <a16:creationId xmlns:a16="http://schemas.microsoft.com/office/drawing/2014/main" id="{21C6A4AC-D5BA-4CAE-A64C-5082241B7991}"/>
              </a:ext>
            </a:extLst>
          </p:cNvPr>
          <p:cNvCxnSpPr>
            <a:cxnSpLocks/>
          </p:cNvCxnSpPr>
          <p:nvPr/>
        </p:nvCxnSpPr>
        <p:spPr>
          <a:xfrm>
            <a:off x="9895818" y="2549750"/>
            <a:ext cx="0" cy="9485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6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DA18E034-FA3B-4644-97C9-3FFB41BAAB74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57" name="Graphic 56" descr="Cursor with solid fill">
            <a:extLst>
              <a:ext uri="{FF2B5EF4-FFF2-40B4-BE49-F238E27FC236}">
                <a16:creationId xmlns:a16="http://schemas.microsoft.com/office/drawing/2014/main" id="{F92EDD75-F41D-48D3-851E-1341DAE327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80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602EE6E4-1AF3-4DC6-B0EE-7B09A3674A25}"/>
              </a:ext>
            </a:extLst>
          </p:cNvPr>
          <p:cNvGrpSpPr/>
          <p:nvPr/>
        </p:nvGrpSpPr>
        <p:grpSpPr>
          <a:xfrm>
            <a:off x="6762536" y="3227371"/>
            <a:ext cx="4832970" cy="1143227"/>
            <a:chOff x="5415561" y="2702361"/>
            <a:chExt cx="5798847" cy="1796468"/>
          </a:xfrm>
        </p:grpSpPr>
        <p:sp>
          <p:nvSpPr>
            <p:cNvPr id="80" name="Anion gap">
              <a:extLst>
                <a:ext uri="{FF2B5EF4-FFF2-40B4-BE49-F238E27FC236}">
                  <a16:creationId xmlns:a16="http://schemas.microsoft.com/office/drawing/2014/main" id="{00AD07A8-C655-44F7-884F-D8BA388F9F5F}"/>
                </a:ext>
              </a:extLst>
            </p:cNvPr>
            <p:cNvSpPr/>
            <p:nvPr/>
          </p:nvSpPr>
          <p:spPr>
            <a:xfrm>
              <a:off x="5997976" y="2702361"/>
              <a:ext cx="5216432" cy="179646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 anion gap metabolic acidosis can be present even with a primary respiratory process or primary metabolic alkalosis. 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88661BD-FFEC-4585-9E1E-9136B9FAE8E2}"/>
                </a:ext>
              </a:extLst>
            </p:cNvPr>
            <p:cNvCxnSpPr>
              <a:cxnSpLocks/>
              <a:endCxn id="80" idx="1"/>
            </p:cNvCxnSpPr>
            <p:nvPr/>
          </p:nvCxnSpPr>
          <p:spPr>
            <a:xfrm>
              <a:off x="5415561" y="3600539"/>
              <a:ext cx="582415" cy="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4C5E8659-FC88-44DE-B2EB-E4A8C6A2CB70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2826185" y="1674597"/>
            <a:ext cx="629294" cy="61857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question 3">
            <a:hlinkClick r:id="rId2" action="ppaction://hlinksldjump"/>
            <a:extLst>
              <a:ext uri="{FF2B5EF4-FFF2-40B4-BE49-F238E27FC236}">
                <a16:creationId xmlns:a16="http://schemas.microsoft.com/office/drawing/2014/main" id="{63EF4987-7D65-4F41-AF6C-867A29AB2FC8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7" name="question 4">
            <a:hlinkClick r:id="rId3" action="ppaction://hlinksldjump"/>
            <a:extLst>
              <a:ext uri="{FF2B5EF4-FFF2-40B4-BE49-F238E27FC236}">
                <a16:creationId xmlns:a16="http://schemas.microsoft.com/office/drawing/2014/main" id="{05E8C414-36E9-4238-BFF8-0D781D464882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8" name="sub-q 2">
            <a:hlinkClick r:id="rId4" action="ppaction://hlinksldjump"/>
            <a:extLst>
              <a:ext uri="{FF2B5EF4-FFF2-40B4-BE49-F238E27FC236}">
                <a16:creationId xmlns:a16="http://schemas.microsoft.com/office/drawing/2014/main" id="{62A08DB7-EB0E-44BC-9A87-4B93013393FC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0" name="sub-q 1 button">
            <a:hlinkClick r:id="rId5" action="ppaction://hlinksldjump"/>
            <a:extLst>
              <a:ext uri="{FF2B5EF4-FFF2-40B4-BE49-F238E27FC236}">
                <a16:creationId xmlns:a16="http://schemas.microsoft.com/office/drawing/2014/main" id="{DD2AA152-832E-413C-8D27-43C248037B79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DF2CDD5E-E333-4D07-BFE3-26DE2B7952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0852FDEE-7FB1-4443-89C9-E72B09DD51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E1970567-FA06-4A0D-B05D-0F56FA209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16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50E38070-82B0-400A-B307-5DA3CD10B150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D0620F82-4003-4527-B1E1-899089A889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8" name="Question 2">
            <a:hlinkClick r:id="rId2" action="ppaction://hlinksldjump"/>
            <a:extLst>
              <a:ext uri="{FF2B5EF4-FFF2-40B4-BE49-F238E27FC236}">
                <a16:creationId xmlns:a16="http://schemas.microsoft.com/office/drawing/2014/main" id="{EE0A4872-2B1A-4464-8C40-DE9E11389621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accent4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 Steps to ABG Interpretation</a:t>
            </a:r>
          </a:p>
        </p:txBody>
      </p:sp>
      <p:pic>
        <p:nvPicPr>
          <p:cNvPr id="20" name="teachIM logo" descr="Icon&#10;&#10;Description automatically generated">
            <a:extLst>
              <a:ext uri="{FF2B5EF4-FFF2-40B4-BE49-F238E27FC236}">
                <a16:creationId xmlns:a16="http://schemas.microsoft.com/office/drawing/2014/main" id="{B4ED1BDE-9395-4570-A5B1-0FA419B534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sp>
        <p:nvSpPr>
          <p:cNvPr id="74" name="Step 1">
            <a:extLst>
              <a:ext uri="{FF2B5EF4-FFF2-40B4-BE49-F238E27FC236}">
                <a16:creationId xmlns:a16="http://schemas.microsoft.com/office/drawing/2014/main" id="{554AA3AF-2D33-471F-B907-235CCD568F86}"/>
              </a:ext>
            </a:extLst>
          </p:cNvPr>
          <p:cNvSpPr/>
          <p:nvPr/>
        </p:nvSpPr>
        <p:spPr>
          <a:xfrm>
            <a:off x="2340451" y="914399"/>
            <a:ext cx="3297340" cy="77533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Step 1: Acid-Base status?</a:t>
            </a:r>
          </a:p>
        </p:txBody>
      </p:sp>
      <p:sp>
        <p:nvSpPr>
          <p:cNvPr id="75" name="Step 2: Primary process">
            <a:extLst>
              <a:ext uri="{FF2B5EF4-FFF2-40B4-BE49-F238E27FC236}">
                <a16:creationId xmlns:a16="http://schemas.microsoft.com/office/drawing/2014/main" id="{4094F25C-8C0C-41B8-8C8F-466D56D54824}"/>
              </a:ext>
            </a:extLst>
          </p:cNvPr>
          <p:cNvSpPr/>
          <p:nvPr/>
        </p:nvSpPr>
        <p:spPr>
          <a:xfrm>
            <a:off x="3450117" y="2077192"/>
            <a:ext cx="2571206" cy="4426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Primary process?</a:t>
            </a:r>
          </a:p>
        </p:txBody>
      </p:sp>
      <p:sp>
        <p:nvSpPr>
          <p:cNvPr id="76" name="Step 4: Compensation">
            <a:hlinkClick r:id="rId5" action="ppaction://hlinksldjump"/>
            <a:extLst>
              <a:ext uri="{FF2B5EF4-FFF2-40B4-BE49-F238E27FC236}">
                <a16:creationId xmlns:a16="http://schemas.microsoft.com/office/drawing/2014/main" id="{5898526B-5C38-4ADE-B2F5-25970C70994C}"/>
              </a:ext>
            </a:extLst>
          </p:cNvPr>
          <p:cNvSpPr/>
          <p:nvPr/>
        </p:nvSpPr>
        <p:spPr>
          <a:xfrm>
            <a:off x="2340451" y="5605810"/>
            <a:ext cx="3755549" cy="77533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 Step 3: Assess for compensation</a:t>
            </a:r>
          </a:p>
        </p:txBody>
      </p:sp>
      <p:sp>
        <p:nvSpPr>
          <p:cNvPr id="77" name="Step 3: anion gap">
            <a:extLst>
              <a:ext uri="{FF2B5EF4-FFF2-40B4-BE49-F238E27FC236}">
                <a16:creationId xmlns:a16="http://schemas.microsoft.com/office/drawing/2014/main" id="{15DE8C3B-586C-4C5B-A731-13C623707BBB}"/>
              </a:ext>
            </a:extLst>
          </p:cNvPr>
          <p:cNvSpPr/>
          <p:nvPr/>
        </p:nvSpPr>
        <p:spPr>
          <a:xfrm>
            <a:off x="2309421" y="3411281"/>
            <a:ext cx="4453115" cy="77533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 Step 2: Anion gap metabolic acidosis?</a:t>
            </a:r>
          </a:p>
        </p:txBody>
      </p:sp>
      <p:sp>
        <p:nvSpPr>
          <p:cNvPr id="78" name="Delta-delta">
            <a:extLst>
              <a:ext uri="{FF2B5EF4-FFF2-40B4-BE49-F238E27FC236}">
                <a16:creationId xmlns:a16="http://schemas.microsoft.com/office/drawing/2014/main" id="{F90C4BE8-668D-4443-B118-88A9229F8F29}"/>
              </a:ext>
            </a:extLst>
          </p:cNvPr>
          <p:cNvSpPr/>
          <p:nvPr/>
        </p:nvSpPr>
        <p:spPr>
          <a:xfrm>
            <a:off x="3464344" y="4632501"/>
            <a:ext cx="6870703" cy="4383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If yes, is there a concurrent metabolic process? (Delta-delta)</a:t>
            </a:r>
          </a:p>
        </p:txBody>
      </p:sp>
      <p:pic>
        <p:nvPicPr>
          <p:cNvPr id="82" name="Mouse step 3" descr="Cursor with solid fill">
            <a:extLst>
              <a:ext uri="{FF2B5EF4-FFF2-40B4-BE49-F238E27FC236}">
                <a16:creationId xmlns:a16="http://schemas.microsoft.com/office/drawing/2014/main" id="{D771856D-A6BF-4722-9EC9-E8D08D98AC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06587" y="4024404"/>
            <a:ext cx="274320" cy="274320"/>
          </a:xfrm>
          <a:prstGeom prst="rect">
            <a:avLst/>
          </a:prstGeom>
        </p:spPr>
      </p:pic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24702732-6D0D-48C6-B78F-814C44A785AA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2761369" y="4186616"/>
            <a:ext cx="702975" cy="665037"/>
          </a:xfrm>
          <a:prstGeom prst="bentConnector3">
            <a:avLst>
              <a:gd name="adj1" fmla="val 2951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1" name="Mouse step 3" descr="Cursor with solid fill">
            <a:extLst>
              <a:ext uri="{FF2B5EF4-FFF2-40B4-BE49-F238E27FC236}">
                <a16:creationId xmlns:a16="http://schemas.microsoft.com/office/drawing/2014/main" id="{4B2A3DD7-691B-43F5-9CB0-ABF857D35E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75579" y="1541952"/>
            <a:ext cx="274320" cy="274320"/>
          </a:xfrm>
          <a:prstGeom prst="rect">
            <a:avLst/>
          </a:prstGeom>
        </p:spPr>
      </p:pic>
      <p:sp>
        <p:nvSpPr>
          <p:cNvPr id="118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A130A13E-B6ED-4844-8E30-0E40836E788C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119" name="Graphic 118" descr="Cursor with solid fill">
            <a:extLst>
              <a:ext uri="{FF2B5EF4-FFF2-40B4-BE49-F238E27FC236}">
                <a16:creationId xmlns:a16="http://schemas.microsoft.com/office/drawing/2014/main" id="{4C2AD03B-9718-41DC-9ECD-F2E46623D5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263E6AD-9EE3-4AF4-A50D-C3194C85E96F}"/>
              </a:ext>
            </a:extLst>
          </p:cNvPr>
          <p:cNvGrpSpPr/>
          <p:nvPr/>
        </p:nvGrpSpPr>
        <p:grpSpPr>
          <a:xfrm>
            <a:off x="6021323" y="2070831"/>
            <a:ext cx="4260780" cy="454263"/>
            <a:chOff x="5197787" y="3239407"/>
            <a:chExt cx="5112304" cy="713830"/>
          </a:xfrm>
        </p:grpSpPr>
        <p:sp>
          <p:nvSpPr>
            <p:cNvPr id="38" name="Anion gap">
              <a:extLst>
                <a:ext uri="{FF2B5EF4-FFF2-40B4-BE49-F238E27FC236}">
                  <a16:creationId xmlns:a16="http://schemas.microsoft.com/office/drawing/2014/main" id="{05927B78-B78C-4E02-A46C-DC14A47A5D93}"/>
                </a:ext>
              </a:extLst>
            </p:cNvPr>
            <p:cNvSpPr/>
            <p:nvPr/>
          </p:nvSpPr>
          <p:spPr>
            <a:xfrm>
              <a:off x="5973281" y="3239407"/>
              <a:ext cx="4336810" cy="71383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Metabolic? Respiratory? Or both?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2709E45-1B96-46BE-8B08-74E85ACD2029}"/>
                </a:ext>
              </a:extLst>
            </p:cNvPr>
            <p:cNvCxnSpPr>
              <a:cxnSpLocks/>
              <a:stCxn id="75" idx="3"/>
              <a:endCxn id="38" idx="1"/>
            </p:cNvCxnSpPr>
            <p:nvPr/>
          </p:nvCxnSpPr>
          <p:spPr>
            <a:xfrm>
              <a:off x="5197787" y="3594010"/>
              <a:ext cx="775494" cy="23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47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794D7D53-F759-4F26-B2FC-25A2315D6111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620C5681-C597-42B0-ACBE-7C78E60A5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C09F70F-C270-4512-BE97-7C2FAA43DFA8}"/>
              </a:ext>
            </a:extLst>
          </p:cNvPr>
          <p:cNvGrpSpPr/>
          <p:nvPr/>
        </p:nvGrpSpPr>
        <p:grpSpPr>
          <a:xfrm>
            <a:off x="5636390" y="1001967"/>
            <a:ext cx="5422363" cy="653283"/>
            <a:chOff x="5636390" y="1001967"/>
            <a:chExt cx="5422363" cy="653283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4B3DAE6-61F7-4319-A993-5311EA17B7EA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5636390" y="1324396"/>
              <a:ext cx="3983135" cy="7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42" name="question 4">
              <a:extLst>
                <a:ext uri="{FF2B5EF4-FFF2-40B4-BE49-F238E27FC236}">
                  <a16:creationId xmlns:a16="http://schemas.microsoft.com/office/drawing/2014/main" id="{FBC459A3-4D54-4009-8BAE-A20BD44B021C}"/>
                </a:ext>
              </a:extLst>
            </p:cNvPr>
            <p:cNvSpPr txBox="1"/>
            <p:nvPr/>
          </p:nvSpPr>
          <p:spPr>
            <a:xfrm>
              <a:off x="6096000" y="1004989"/>
              <a:ext cx="1439228" cy="64633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Acidemia pH &lt;7.35</a:t>
              </a:r>
            </a:p>
          </p:txBody>
        </p:sp>
        <p:sp>
          <p:nvSpPr>
            <p:cNvPr id="43" name="sub-q 2">
              <a:extLst>
                <a:ext uri="{FF2B5EF4-FFF2-40B4-BE49-F238E27FC236}">
                  <a16:creationId xmlns:a16="http://schemas.microsoft.com/office/drawing/2014/main" id="{15259127-48F7-4622-AC21-F4E8E190C70A}"/>
                </a:ext>
              </a:extLst>
            </p:cNvPr>
            <p:cNvSpPr txBox="1"/>
            <p:nvPr/>
          </p:nvSpPr>
          <p:spPr>
            <a:xfrm>
              <a:off x="9619525" y="1001967"/>
              <a:ext cx="1439228" cy="64633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Alkalemia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pH &gt; 7.45</a:t>
              </a:r>
            </a:p>
          </p:txBody>
        </p:sp>
        <p:sp>
          <p:nvSpPr>
            <p:cNvPr id="44" name="sub-q 1 button">
              <a:extLst>
                <a:ext uri="{FF2B5EF4-FFF2-40B4-BE49-F238E27FC236}">
                  <a16:creationId xmlns:a16="http://schemas.microsoft.com/office/drawing/2014/main" id="{8C2F36E0-3DAD-4E58-96D3-11B8E447D937}"/>
                </a:ext>
              </a:extLst>
            </p:cNvPr>
            <p:cNvSpPr txBox="1"/>
            <p:nvPr/>
          </p:nvSpPr>
          <p:spPr>
            <a:xfrm>
              <a:off x="7805543" y="1008919"/>
              <a:ext cx="1543667" cy="64633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Normal pH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7.35 – 7.45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F1B932F-E0A2-4BB5-8A2C-A6C69A406824}"/>
              </a:ext>
            </a:extLst>
          </p:cNvPr>
          <p:cNvSpPr txBox="1"/>
          <p:nvPr/>
        </p:nvSpPr>
        <p:spPr>
          <a:xfrm>
            <a:off x="6344485" y="646192"/>
            <a:ext cx="434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Use the menu on the left-hand side of the page to navigate to each page </a:t>
            </a:r>
          </a:p>
        </p:txBody>
      </p:sp>
    </p:spTree>
    <p:extLst>
      <p:ext uri="{BB962C8B-B14F-4D97-AF65-F5344CB8AC3E}">
        <p14:creationId xmlns:p14="http://schemas.microsoft.com/office/powerpoint/2010/main" val="263026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</p:childTnLst>
        </p:cTn>
      </p:par>
    </p:tnLst>
    <p:bldLst>
      <p:bldP spid="75" grpId="0" animBg="1"/>
      <p:bldP spid="78" grpId="0" animBg="1"/>
      <p:bldP spid="78" grpId="1" animBg="1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Home page" hidden="1">
            <a:extLst>
              <a:ext uri="{FF2B5EF4-FFF2-40B4-BE49-F238E27FC236}">
                <a16:creationId xmlns:a16="http://schemas.microsoft.com/office/drawing/2014/main" id="{0A9F93B9-FE91-421A-A191-0CE0BB1AA998}"/>
              </a:ext>
            </a:extLst>
          </p:cNvPr>
          <p:cNvGrpSpPr/>
          <p:nvPr/>
        </p:nvGrpSpPr>
        <p:grpSpPr>
          <a:xfrm>
            <a:off x="10350363" y="4925061"/>
            <a:ext cx="1714110" cy="1238634"/>
            <a:chOff x="5829044" y="5212828"/>
            <a:chExt cx="2146766" cy="1450223"/>
          </a:xfrm>
        </p:grpSpPr>
        <p:grpSp>
          <p:nvGrpSpPr>
            <p:cNvPr id="151" name="Home page">
              <a:extLst>
                <a:ext uri="{FF2B5EF4-FFF2-40B4-BE49-F238E27FC236}">
                  <a16:creationId xmlns:a16="http://schemas.microsoft.com/office/drawing/2014/main" id="{D93E97D1-A529-4115-BFBA-622711C7EF93}"/>
                </a:ext>
              </a:extLst>
            </p:cNvPr>
            <p:cNvGrpSpPr/>
            <p:nvPr/>
          </p:nvGrpSpPr>
          <p:grpSpPr>
            <a:xfrm>
              <a:off x="5829044" y="5212828"/>
              <a:ext cx="2146766" cy="1450223"/>
              <a:chOff x="9181095" y="5103030"/>
              <a:chExt cx="2146766" cy="1273451"/>
            </a:xfrm>
          </p:grpSpPr>
          <p:sp>
            <p:nvSpPr>
              <p:cNvPr id="155" name="Rectangle: Rounded Corners 15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B9B0C7A-DDD0-4DFB-AD6A-3C6B0C15DE91}"/>
                  </a:ext>
                </a:extLst>
              </p:cNvPr>
              <p:cNvSpPr/>
              <p:nvPr/>
            </p:nvSpPr>
            <p:spPr>
              <a:xfrm>
                <a:off x="9181095" y="5103030"/>
                <a:ext cx="2146766" cy="1273451"/>
              </a:xfrm>
              <a:prstGeom prst="roundRect">
                <a:avLst>
                  <a:gd name="adj" fmla="val 10598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F4DEEDB6-B771-4C33-A7EB-DA38D8B14999}"/>
                  </a:ext>
                </a:extLst>
              </p:cNvPr>
              <p:cNvSpPr/>
              <p:nvPr/>
            </p:nvSpPr>
            <p:spPr>
              <a:xfrm>
                <a:off x="9306826" y="5176968"/>
                <a:ext cx="1843528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1: Acid- base status?</a:t>
                </a: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00E69303-59DF-4D33-AFC1-06E58CA0B56E}"/>
                  </a:ext>
                </a:extLst>
              </p:cNvPr>
              <p:cNvSpPr/>
              <p:nvPr/>
            </p:nvSpPr>
            <p:spPr>
              <a:xfrm>
                <a:off x="9306826" y="5408407"/>
                <a:ext cx="1741251" cy="18765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2: Primary process?</a:t>
                </a:r>
              </a:p>
            </p:txBody>
          </p:sp>
          <p:sp>
            <p:nvSpPr>
              <p:cNvPr id="158" name="Rectangle: Rounded Corners 15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8CD5C387-98A8-4257-B731-52133F6870A6}"/>
                  </a:ext>
                </a:extLst>
              </p:cNvPr>
              <p:cNvSpPr/>
              <p:nvPr/>
            </p:nvSpPr>
            <p:spPr>
              <a:xfrm>
                <a:off x="9306826" y="5639845"/>
                <a:ext cx="1387644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3: Anion gap?</a:t>
                </a:r>
              </a:p>
            </p:txBody>
          </p:sp>
          <p:sp>
            <p:nvSpPr>
              <p:cNvPr id="160" name="Rectangle: Rounded Corners 159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FF62902D-5D59-4D2D-9DDE-604DCFCBB079}"/>
                  </a:ext>
                </a:extLst>
              </p:cNvPr>
              <p:cNvSpPr/>
              <p:nvPr/>
            </p:nvSpPr>
            <p:spPr>
              <a:xfrm>
                <a:off x="9697827" y="5886963"/>
                <a:ext cx="1017670" cy="17339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3a: ∆∆?</a:t>
                </a:r>
              </a:p>
            </p:txBody>
          </p:sp>
        </p:grpSp>
        <p:sp>
          <p:nvSpPr>
            <p:cNvPr id="154" name="Rectangle: Rounded Corners 153">
              <a:hlinkClick r:id="rId2" action="ppaction://hlinksldjump"/>
              <a:extLst>
                <a:ext uri="{FF2B5EF4-FFF2-40B4-BE49-F238E27FC236}">
                  <a16:creationId xmlns:a16="http://schemas.microsoft.com/office/drawing/2014/main" id="{E6611CC2-C5FD-4E1C-A7F4-AEF2BB3E4BB8}"/>
                </a:ext>
              </a:extLst>
            </p:cNvPr>
            <p:cNvSpPr/>
            <p:nvPr/>
          </p:nvSpPr>
          <p:spPr>
            <a:xfrm>
              <a:off x="5954775" y="6369145"/>
              <a:ext cx="1680609" cy="197458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/>
                <a:t>Step 4: Compensation?</a:t>
              </a:r>
            </a:p>
          </p:txBody>
        </p:sp>
      </p:grpSp>
      <p:sp>
        <p:nvSpPr>
          <p:cNvPr id="176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324FB035-E766-4B51-96D2-887C497B42B3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177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7A813DAD-9ED2-4E61-96A7-4A072C0181E8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Acidemia</a:t>
            </a:r>
          </a:p>
        </p:txBody>
      </p:sp>
      <p:sp>
        <p:nvSpPr>
          <p:cNvPr id="178" name="sub-q 2">
            <a:hlinkClick r:id="rId5" action="ppaction://hlinksldjump"/>
            <a:extLst>
              <a:ext uri="{FF2B5EF4-FFF2-40B4-BE49-F238E27FC236}">
                <a16:creationId xmlns:a16="http://schemas.microsoft.com/office/drawing/2014/main" id="{08063026-E2A1-4FD6-8A83-E09F380C82C2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80" name="sub-q 1 button">
            <a:hlinkClick r:id="rId6" action="ppaction://hlinksldjump"/>
            <a:extLst>
              <a:ext uri="{FF2B5EF4-FFF2-40B4-BE49-F238E27FC236}">
                <a16:creationId xmlns:a16="http://schemas.microsoft.com/office/drawing/2014/main" id="{26C38014-6D1C-484D-88B9-E22AF75988C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182" name="Graphic 181" descr="Cursor with solid fill">
            <a:extLst>
              <a:ext uri="{FF2B5EF4-FFF2-40B4-BE49-F238E27FC236}">
                <a16:creationId xmlns:a16="http://schemas.microsoft.com/office/drawing/2014/main" id="{A5D15265-C9B4-4F78-BF07-DEDB77E265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83" name="Graphic 182" descr="Cursor with solid fill">
            <a:extLst>
              <a:ext uri="{FF2B5EF4-FFF2-40B4-BE49-F238E27FC236}">
                <a16:creationId xmlns:a16="http://schemas.microsoft.com/office/drawing/2014/main" id="{074D444E-1CE7-4A1B-A87C-E69FB9516C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185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DB5AF22E-1D21-4557-8A08-229C01D97F4A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92" name="Graphic 191" descr="Cursor with solid fill">
            <a:extLst>
              <a:ext uri="{FF2B5EF4-FFF2-40B4-BE49-F238E27FC236}">
                <a16:creationId xmlns:a16="http://schemas.microsoft.com/office/drawing/2014/main" id="{A756FBD1-84C2-42B5-8C90-1F093770C1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93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94AE2279-ECA2-4F28-A4B8-E62F5F0B3759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sp>
        <p:nvSpPr>
          <p:cNvPr id="195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FCD7C511-421A-48A2-9D98-25CF80AFF783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210" name="Graphic 209" descr="Cursor with solid fill">
            <a:extLst>
              <a:ext uri="{FF2B5EF4-FFF2-40B4-BE49-F238E27FC236}">
                <a16:creationId xmlns:a16="http://schemas.microsoft.com/office/drawing/2014/main" id="{601B7238-DFE8-4BD8-8526-5B455ABDA5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sp>
        <p:nvSpPr>
          <p:cNvPr id="211" name="Acidemia">
            <a:extLst>
              <a:ext uri="{FF2B5EF4-FFF2-40B4-BE49-F238E27FC236}">
                <a16:creationId xmlns:a16="http://schemas.microsoft.com/office/drawing/2014/main" id="{C71A1E86-3A18-484A-A063-8C348A6CF7CB}"/>
              </a:ext>
            </a:extLst>
          </p:cNvPr>
          <p:cNvSpPr txBox="1"/>
          <p:nvPr/>
        </p:nvSpPr>
        <p:spPr>
          <a:xfrm>
            <a:off x="5903634" y="62432"/>
            <a:ext cx="2318589" cy="369332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Acidemia pH &lt; 7.35</a:t>
            </a:r>
          </a:p>
        </p:txBody>
      </p:sp>
      <p:sp>
        <p:nvSpPr>
          <p:cNvPr id="212" name="Metabolic HCO3 &lt;22">
            <a:hlinkClick r:id="rId2" action="ppaction://hlinksldjump"/>
            <a:extLst>
              <a:ext uri="{FF2B5EF4-FFF2-40B4-BE49-F238E27FC236}">
                <a16:creationId xmlns:a16="http://schemas.microsoft.com/office/drawing/2014/main" id="{1FC11383-CD22-459D-B447-D4730C54DB14}"/>
              </a:ext>
            </a:extLst>
          </p:cNvPr>
          <p:cNvSpPr txBox="1"/>
          <p:nvPr/>
        </p:nvSpPr>
        <p:spPr>
          <a:xfrm>
            <a:off x="3179852" y="563419"/>
            <a:ext cx="1630414" cy="646986"/>
          </a:xfrm>
          <a:prstGeom prst="roundRect">
            <a:avLst>
              <a:gd name="adj" fmla="val 12530"/>
            </a:avLst>
          </a:prstGeom>
          <a:ln cap="sq">
            <a:beve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Metabolic</a:t>
            </a:r>
          </a:p>
          <a:p>
            <a:pPr algn="ctr"/>
            <a:r>
              <a:rPr lang="en-US" sz="1600" dirty="0"/>
              <a:t>HCO</a:t>
            </a:r>
            <a:r>
              <a:rPr lang="en-US" sz="1600" baseline="-25000" dirty="0"/>
              <a:t>3</a:t>
            </a:r>
            <a:r>
              <a:rPr lang="en-US" sz="1600" dirty="0"/>
              <a:t> &lt; 22</a:t>
            </a:r>
          </a:p>
        </p:txBody>
      </p:sp>
      <p:sp>
        <p:nvSpPr>
          <p:cNvPr id="213" name="Respiratory pCO2 &gt; 44">
            <a:hlinkClick r:id="rId11" action="ppaction://hlinksldjump"/>
            <a:extLst>
              <a:ext uri="{FF2B5EF4-FFF2-40B4-BE49-F238E27FC236}">
                <a16:creationId xmlns:a16="http://schemas.microsoft.com/office/drawing/2014/main" id="{E6EAA948-B9A7-4070-A566-2BD1ED1BA1D5}"/>
              </a:ext>
            </a:extLst>
          </p:cNvPr>
          <p:cNvSpPr txBox="1"/>
          <p:nvPr/>
        </p:nvSpPr>
        <p:spPr>
          <a:xfrm>
            <a:off x="9247136" y="555430"/>
            <a:ext cx="1630414" cy="646986"/>
          </a:xfrm>
          <a:prstGeom prst="roundRect">
            <a:avLst>
              <a:gd name="adj" fmla="val 12530"/>
            </a:avLst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Respiratory</a:t>
            </a:r>
          </a:p>
          <a:p>
            <a:pPr algn="ctr"/>
            <a:r>
              <a:rPr lang="en-US" sz="1600" dirty="0"/>
              <a:t>pCO</a:t>
            </a:r>
            <a:r>
              <a:rPr lang="en-US" sz="1600" baseline="-25000" dirty="0"/>
              <a:t>2</a:t>
            </a:r>
            <a:r>
              <a:rPr lang="en-US" sz="1600" dirty="0"/>
              <a:t> &gt; 44</a:t>
            </a:r>
          </a:p>
        </p:txBody>
      </p:sp>
      <p:pic>
        <p:nvPicPr>
          <p:cNvPr id="342" name="Mouse respiratory" descr="Cursor with solid fill">
            <a:extLst>
              <a:ext uri="{FF2B5EF4-FFF2-40B4-BE49-F238E27FC236}">
                <a16:creationId xmlns:a16="http://schemas.microsoft.com/office/drawing/2014/main" id="{FFFA60BE-A763-4F0A-BFC0-8A0740DBB5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720588" y="1045796"/>
            <a:ext cx="274320" cy="27432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51D0A55-75A4-4393-A287-00F437A2ADB0}"/>
              </a:ext>
            </a:extLst>
          </p:cNvPr>
          <p:cNvGrpSpPr/>
          <p:nvPr/>
        </p:nvGrpSpPr>
        <p:grpSpPr>
          <a:xfrm>
            <a:off x="1723010" y="52827"/>
            <a:ext cx="908018" cy="1252004"/>
            <a:chOff x="1723010" y="52827"/>
            <a:chExt cx="908018" cy="1252004"/>
          </a:xfrm>
        </p:grpSpPr>
        <p:sp>
          <p:nvSpPr>
            <p:cNvPr id="258" name="Step 1">
              <a:extLst>
                <a:ext uri="{FF2B5EF4-FFF2-40B4-BE49-F238E27FC236}">
                  <a16:creationId xmlns:a16="http://schemas.microsoft.com/office/drawing/2014/main" id="{CF718B2E-0281-42FA-A2D1-7BB67274CB1E}"/>
                </a:ext>
              </a:extLst>
            </p:cNvPr>
            <p:cNvSpPr/>
            <p:nvPr/>
          </p:nvSpPr>
          <p:spPr>
            <a:xfrm>
              <a:off x="1723010" y="542742"/>
              <a:ext cx="742473" cy="28806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Step 1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5AA91522-4758-4C7B-9E24-433391D5EB7C}"/>
                </a:ext>
              </a:extLst>
            </p:cNvPr>
            <p:cNvSpPr/>
            <p:nvPr/>
          </p:nvSpPr>
          <p:spPr>
            <a:xfrm>
              <a:off x="2476722" y="52827"/>
              <a:ext cx="154306" cy="1252004"/>
            </a:xfrm>
            <a:prstGeom prst="leftBrace">
              <a:avLst>
                <a:gd name="adj1" fmla="val 0"/>
                <a:gd name="adj2" fmla="val 5112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9" name="Mouse respiratory" descr="Cursor with solid fill">
            <a:extLst>
              <a:ext uri="{FF2B5EF4-FFF2-40B4-BE49-F238E27FC236}">
                <a16:creationId xmlns:a16="http://schemas.microsoft.com/office/drawing/2014/main" id="{C998E2DE-A3BD-451A-ABBC-D2807DB347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673106" y="1065256"/>
            <a:ext cx="274320" cy="274320"/>
          </a:xfrm>
          <a:prstGeom prst="rect">
            <a:avLst/>
          </a:prstGeom>
        </p:spPr>
      </p:pic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D7D29820-F107-49E8-8143-E5DAD60D98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sp>
        <p:nvSpPr>
          <p:cNvPr id="143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C1CB7E2A-957C-4D2A-8200-73A54C8126BF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44" name="Graphic 143" descr="Cursor with solid fill">
            <a:extLst>
              <a:ext uri="{FF2B5EF4-FFF2-40B4-BE49-F238E27FC236}">
                <a16:creationId xmlns:a16="http://schemas.microsoft.com/office/drawing/2014/main" id="{DF8444EA-6F3C-40B1-9765-D609D4BF8F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145" name="teachIM logo" descr="Icon&#10;&#10;Description automatically generated">
            <a:extLst>
              <a:ext uri="{FF2B5EF4-FFF2-40B4-BE49-F238E27FC236}">
                <a16:creationId xmlns:a16="http://schemas.microsoft.com/office/drawing/2014/main" id="{33E64534-76B2-4971-9507-6355D273B65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94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C2F76F9-B2DB-4C82-9053-D7E142ABD13F}"/>
              </a:ext>
            </a:extLst>
          </p:cNvPr>
          <p:cNvCxnSpPr>
            <a:stCxn id="255" idx="2"/>
            <a:endCxn id="218" idx="0"/>
          </p:cNvCxnSpPr>
          <p:nvPr/>
        </p:nvCxnSpPr>
        <p:spPr>
          <a:xfrm>
            <a:off x="5873287" y="3478889"/>
            <a:ext cx="2079" cy="67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9" name="Home page" hidden="1">
            <a:extLst>
              <a:ext uri="{FF2B5EF4-FFF2-40B4-BE49-F238E27FC236}">
                <a16:creationId xmlns:a16="http://schemas.microsoft.com/office/drawing/2014/main" id="{0A9F93B9-FE91-421A-A191-0CE0BB1AA998}"/>
              </a:ext>
            </a:extLst>
          </p:cNvPr>
          <p:cNvGrpSpPr/>
          <p:nvPr/>
        </p:nvGrpSpPr>
        <p:grpSpPr>
          <a:xfrm>
            <a:off x="10350363" y="4925061"/>
            <a:ext cx="1714110" cy="1238634"/>
            <a:chOff x="5829044" y="5212828"/>
            <a:chExt cx="2146766" cy="1450223"/>
          </a:xfrm>
        </p:grpSpPr>
        <p:grpSp>
          <p:nvGrpSpPr>
            <p:cNvPr id="151" name="Home page">
              <a:extLst>
                <a:ext uri="{FF2B5EF4-FFF2-40B4-BE49-F238E27FC236}">
                  <a16:creationId xmlns:a16="http://schemas.microsoft.com/office/drawing/2014/main" id="{D93E97D1-A529-4115-BFBA-622711C7EF93}"/>
                </a:ext>
              </a:extLst>
            </p:cNvPr>
            <p:cNvGrpSpPr/>
            <p:nvPr/>
          </p:nvGrpSpPr>
          <p:grpSpPr>
            <a:xfrm>
              <a:off x="5829044" y="5212828"/>
              <a:ext cx="2146766" cy="1450223"/>
              <a:chOff x="9181095" y="5103030"/>
              <a:chExt cx="2146766" cy="1273451"/>
            </a:xfrm>
          </p:grpSpPr>
          <p:sp>
            <p:nvSpPr>
              <p:cNvPr id="155" name="Rectangle: Rounded Corners 15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B9B0C7A-DDD0-4DFB-AD6A-3C6B0C15DE91}"/>
                  </a:ext>
                </a:extLst>
              </p:cNvPr>
              <p:cNvSpPr/>
              <p:nvPr/>
            </p:nvSpPr>
            <p:spPr>
              <a:xfrm>
                <a:off x="9181095" y="5103030"/>
                <a:ext cx="2146766" cy="1273451"/>
              </a:xfrm>
              <a:prstGeom prst="roundRect">
                <a:avLst>
                  <a:gd name="adj" fmla="val 10598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F4DEEDB6-B771-4C33-A7EB-DA38D8B14999}"/>
                  </a:ext>
                </a:extLst>
              </p:cNvPr>
              <p:cNvSpPr/>
              <p:nvPr/>
            </p:nvSpPr>
            <p:spPr>
              <a:xfrm>
                <a:off x="9306826" y="5176968"/>
                <a:ext cx="1843528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1: Acid- base status?</a:t>
                </a: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00E69303-59DF-4D33-AFC1-06E58CA0B56E}"/>
                  </a:ext>
                </a:extLst>
              </p:cNvPr>
              <p:cNvSpPr/>
              <p:nvPr/>
            </p:nvSpPr>
            <p:spPr>
              <a:xfrm>
                <a:off x="9306826" y="5408407"/>
                <a:ext cx="1741251" cy="18765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2: Primary process?</a:t>
                </a:r>
              </a:p>
            </p:txBody>
          </p:sp>
          <p:sp>
            <p:nvSpPr>
              <p:cNvPr id="158" name="Rectangle: Rounded Corners 15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8CD5C387-98A8-4257-B731-52133F6870A6}"/>
                  </a:ext>
                </a:extLst>
              </p:cNvPr>
              <p:cNvSpPr/>
              <p:nvPr/>
            </p:nvSpPr>
            <p:spPr>
              <a:xfrm>
                <a:off x="9306826" y="5639845"/>
                <a:ext cx="1387644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3: Anion gap?</a:t>
                </a:r>
              </a:p>
            </p:txBody>
          </p:sp>
          <p:sp>
            <p:nvSpPr>
              <p:cNvPr id="160" name="Rectangle: Rounded Corners 159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FF62902D-5D59-4D2D-9DDE-604DCFCBB079}"/>
                  </a:ext>
                </a:extLst>
              </p:cNvPr>
              <p:cNvSpPr/>
              <p:nvPr/>
            </p:nvSpPr>
            <p:spPr>
              <a:xfrm>
                <a:off x="9697827" y="5886963"/>
                <a:ext cx="1017670" cy="17339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3a: ∆∆?</a:t>
                </a:r>
              </a:p>
            </p:txBody>
          </p:sp>
        </p:grpSp>
        <p:sp>
          <p:nvSpPr>
            <p:cNvPr id="154" name="Rectangle: Rounded Corners 153">
              <a:hlinkClick r:id="rId2" action="ppaction://hlinksldjump"/>
              <a:extLst>
                <a:ext uri="{FF2B5EF4-FFF2-40B4-BE49-F238E27FC236}">
                  <a16:creationId xmlns:a16="http://schemas.microsoft.com/office/drawing/2014/main" id="{E6611CC2-C5FD-4E1C-A7F4-AEF2BB3E4BB8}"/>
                </a:ext>
              </a:extLst>
            </p:cNvPr>
            <p:cNvSpPr/>
            <p:nvPr/>
          </p:nvSpPr>
          <p:spPr>
            <a:xfrm>
              <a:off x="5954775" y="6369145"/>
              <a:ext cx="1680609" cy="197458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/>
                <a:t>Step 4: Compensation?</a:t>
              </a:r>
            </a:p>
          </p:txBody>
        </p:sp>
      </p:grpSp>
      <p:sp>
        <p:nvSpPr>
          <p:cNvPr id="211" name="Acidemia">
            <a:extLst>
              <a:ext uri="{FF2B5EF4-FFF2-40B4-BE49-F238E27FC236}">
                <a16:creationId xmlns:a16="http://schemas.microsoft.com/office/drawing/2014/main" id="{C71A1E86-3A18-484A-A063-8C348A6CF7CB}"/>
              </a:ext>
            </a:extLst>
          </p:cNvPr>
          <p:cNvSpPr txBox="1"/>
          <p:nvPr/>
        </p:nvSpPr>
        <p:spPr>
          <a:xfrm>
            <a:off x="5903634" y="62432"/>
            <a:ext cx="231858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Acidemia pH &lt; 7.35</a:t>
            </a:r>
          </a:p>
        </p:txBody>
      </p:sp>
      <p:sp>
        <p:nvSpPr>
          <p:cNvPr id="212" name="Metabolic HCO3 &lt;22">
            <a:extLst>
              <a:ext uri="{FF2B5EF4-FFF2-40B4-BE49-F238E27FC236}">
                <a16:creationId xmlns:a16="http://schemas.microsoft.com/office/drawing/2014/main" id="{1FC11383-CD22-459D-B447-D4730C54DB14}"/>
              </a:ext>
            </a:extLst>
          </p:cNvPr>
          <p:cNvSpPr txBox="1"/>
          <p:nvPr/>
        </p:nvSpPr>
        <p:spPr>
          <a:xfrm>
            <a:off x="3175912" y="563419"/>
            <a:ext cx="1634353" cy="646986"/>
          </a:xfrm>
          <a:prstGeom prst="roundRect">
            <a:avLst>
              <a:gd name="adj" fmla="val 12530"/>
            </a:avLst>
          </a:prstGeom>
          <a:ln cap="sq">
            <a:beve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Metabolic</a:t>
            </a:r>
          </a:p>
          <a:p>
            <a:pPr algn="ctr"/>
            <a:r>
              <a:rPr lang="en-US" sz="1600" dirty="0"/>
              <a:t>HCO</a:t>
            </a:r>
            <a:r>
              <a:rPr lang="en-US" sz="1600" baseline="-25000" dirty="0"/>
              <a:t>3</a:t>
            </a:r>
            <a:r>
              <a:rPr lang="en-US" sz="1600" dirty="0"/>
              <a:t> &lt; 22</a:t>
            </a:r>
          </a:p>
        </p:txBody>
      </p:sp>
      <p:sp>
        <p:nvSpPr>
          <p:cNvPr id="213" name="Respiratory pCO2 &gt; 44">
            <a:hlinkClick r:id="rId3" action="ppaction://hlinksldjump"/>
            <a:extLst>
              <a:ext uri="{FF2B5EF4-FFF2-40B4-BE49-F238E27FC236}">
                <a16:creationId xmlns:a16="http://schemas.microsoft.com/office/drawing/2014/main" id="{E6EAA948-B9A7-4070-A566-2BD1ED1BA1D5}"/>
              </a:ext>
            </a:extLst>
          </p:cNvPr>
          <p:cNvSpPr txBox="1"/>
          <p:nvPr/>
        </p:nvSpPr>
        <p:spPr>
          <a:xfrm>
            <a:off x="9243197" y="555430"/>
            <a:ext cx="1634353" cy="646986"/>
          </a:xfrm>
          <a:prstGeom prst="roundRect">
            <a:avLst>
              <a:gd name="adj" fmla="val 12530"/>
            </a:avLst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Respiratory</a:t>
            </a:r>
          </a:p>
          <a:p>
            <a:pPr algn="ctr"/>
            <a:r>
              <a:rPr lang="en-US" sz="1600" dirty="0"/>
              <a:t>pCO</a:t>
            </a:r>
            <a:r>
              <a:rPr lang="en-US" sz="1600" baseline="-25000" dirty="0"/>
              <a:t>2</a:t>
            </a:r>
            <a:r>
              <a:rPr lang="en-US" sz="1600" dirty="0"/>
              <a:t> &gt; 44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02A9105-3E42-440C-AF1F-BDEA51D657F1}"/>
              </a:ext>
            </a:extLst>
          </p:cNvPr>
          <p:cNvSpPr txBox="1"/>
          <p:nvPr/>
        </p:nvSpPr>
        <p:spPr>
          <a:xfrm>
            <a:off x="5450906" y="4150760"/>
            <a:ext cx="848919" cy="58569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18288" rIns="45720" bIns="18288" rtlCol="0">
            <a:spAutoFit/>
          </a:bodyPr>
          <a:lstStyle/>
          <a:p>
            <a:pPr algn="ctr"/>
            <a:r>
              <a:rPr lang="en-US" sz="1600" dirty="0"/>
              <a:t>Pure AGMA</a:t>
            </a:r>
          </a:p>
        </p:txBody>
      </p:sp>
      <p:sp>
        <p:nvSpPr>
          <p:cNvPr id="219" name="AGMA examples">
            <a:extLst>
              <a:ext uri="{FF2B5EF4-FFF2-40B4-BE49-F238E27FC236}">
                <a16:creationId xmlns:a16="http://schemas.microsoft.com/office/drawing/2014/main" id="{A1047A57-CF33-4241-AA36-4375AA43B59A}"/>
              </a:ext>
            </a:extLst>
          </p:cNvPr>
          <p:cNvSpPr txBox="1"/>
          <p:nvPr/>
        </p:nvSpPr>
        <p:spPr>
          <a:xfrm>
            <a:off x="4830073" y="4757249"/>
            <a:ext cx="2207525" cy="1815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</a:t>
            </a:r>
            <a:r>
              <a:rPr lang="en-US" sz="1400" dirty="0"/>
              <a:t>ethanol</a:t>
            </a:r>
          </a:p>
          <a:p>
            <a:pPr algn="ctr"/>
            <a:r>
              <a:rPr lang="en-US" sz="1400" b="1" dirty="0"/>
              <a:t>U</a:t>
            </a:r>
            <a:r>
              <a:rPr lang="en-US" sz="1400" dirty="0"/>
              <a:t>remia</a:t>
            </a:r>
          </a:p>
          <a:p>
            <a:pPr algn="ctr"/>
            <a:r>
              <a:rPr lang="en-US" sz="1400" b="1" dirty="0"/>
              <a:t>D</a:t>
            </a:r>
            <a:r>
              <a:rPr lang="en-US" sz="1400" dirty="0"/>
              <a:t>KA (or any ketoacidosis)</a:t>
            </a:r>
          </a:p>
          <a:p>
            <a:pPr algn="ctr"/>
            <a:r>
              <a:rPr lang="en-US" sz="1400" b="1" dirty="0"/>
              <a:t>P</a:t>
            </a:r>
            <a:r>
              <a:rPr lang="en-US" sz="1400" dirty="0"/>
              <a:t>araldehyde</a:t>
            </a:r>
          </a:p>
          <a:p>
            <a:pPr algn="ctr"/>
            <a:r>
              <a:rPr lang="en-US" sz="1400" b="1" dirty="0"/>
              <a:t>I</a:t>
            </a:r>
            <a:r>
              <a:rPr lang="en-US" sz="1400" dirty="0"/>
              <a:t>NH (isoniazid), </a:t>
            </a:r>
            <a:r>
              <a:rPr lang="en-US" sz="1400" b="1" dirty="0"/>
              <a:t>I</a:t>
            </a:r>
            <a:r>
              <a:rPr lang="en-US" sz="1400" dirty="0"/>
              <a:t>ron</a:t>
            </a:r>
          </a:p>
          <a:p>
            <a:pPr algn="ctr"/>
            <a:r>
              <a:rPr lang="en-US" sz="1400" b="1" dirty="0"/>
              <a:t>L</a:t>
            </a:r>
            <a:r>
              <a:rPr lang="en-US" sz="1400" dirty="0"/>
              <a:t>actic acidosis</a:t>
            </a:r>
          </a:p>
          <a:p>
            <a:pPr algn="ctr"/>
            <a:r>
              <a:rPr lang="en-US" sz="1400" b="1" dirty="0"/>
              <a:t>E</a:t>
            </a:r>
            <a:r>
              <a:rPr lang="en-US" sz="1400" dirty="0"/>
              <a:t>thylene glycol and </a:t>
            </a:r>
            <a:r>
              <a:rPr lang="en-US" sz="1400" b="1" dirty="0"/>
              <a:t>E</a:t>
            </a:r>
            <a:r>
              <a:rPr lang="en-US" sz="1400" dirty="0"/>
              <a:t>tOH</a:t>
            </a:r>
          </a:p>
          <a:p>
            <a:pPr algn="ctr"/>
            <a:r>
              <a:rPr lang="en-US" sz="1400" b="1" dirty="0"/>
              <a:t>S</a:t>
            </a:r>
            <a:r>
              <a:rPr lang="en-US" sz="1400" dirty="0"/>
              <a:t>alicylates</a:t>
            </a:r>
          </a:p>
        </p:txBody>
      </p:sp>
      <p:grpSp>
        <p:nvGrpSpPr>
          <p:cNvPr id="220" name="Mixed AGMA + metabolic alklosis">
            <a:extLst>
              <a:ext uri="{FF2B5EF4-FFF2-40B4-BE49-F238E27FC236}">
                <a16:creationId xmlns:a16="http://schemas.microsoft.com/office/drawing/2014/main" id="{988A50BB-EB0F-46D1-AC92-9A8AA07F6832}"/>
              </a:ext>
            </a:extLst>
          </p:cNvPr>
          <p:cNvGrpSpPr/>
          <p:nvPr/>
        </p:nvGrpSpPr>
        <p:grpSpPr>
          <a:xfrm>
            <a:off x="6439575" y="3811939"/>
            <a:ext cx="1011921" cy="1082551"/>
            <a:chOff x="4590943" y="3385251"/>
            <a:chExt cx="1011921" cy="1082551"/>
          </a:xfrm>
        </p:grpSpPr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D8851F75-055F-4A41-8002-E8A9C7E21521}"/>
                </a:ext>
              </a:extLst>
            </p:cNvPr>
            <p:cNvCxnSpPr>
              <a:cxnSpLocks/>
            </p:cNvCxnSpPr>
            <p:nvPr/>
          </p:nvCxnSpPr>
          <p:spPr>
            <a:xfrm>
              <a:off x="5045905" y="3385251"/>
              <a:ext cx="612" cy="3438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58DE89E7-E08C-420E-8567-4A2D3F4592C2}"/>
                </a:ext>
              </a:extLst>
            </p:cNvPr>
            <p:cNvSpPr txBox="1"/>
            <p:nvPr/>
          </p:nvSpPr>
          <p:spPr>
            <a:xfrm>
              <a:off x="4590943" y="3729138"/>
              <a:ext cx="1011921" cy="738664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AGMA + metabolic alkalosis </a:t>
              </a:r>
            </a:p>
          </p:txBody>
        </p:sp>
      </p:grpSp>
      <p:grpSp>
        <p:nvGrpSpPr>
          <p:cNvPr id="223" name="Mixed AGMA + NAGMA">
            <a:extLst>
              <a:ext uri="{FF2B5EF4-FFF2-40B4-BE49-F238E27FC236}">
                <a16:creationId xmlns:a16="http://schemas.microsoft.com/office/drawing/2014/main" id="{A9A113F9-826D-4819-9157-13C6BE1E3667}"/>
              </a:ext>
            </a:extLst>
          </p:cNvPr>
          <p:cNvGrpSpPr/>
          <p:nvPr/>
        </p:nvGrpSpPr>
        <p:grpSpPr>
          <a:xfrm>
            <a:off x="4435854" y="3852736"/>
            <a:ext cx="828858" cy="828132"/>
            <a:chOff x="3457656" y="3447568"/>
            <a:chExt cx="828858" cy="828132"/>
          </a:xfrm>
        </p:grpSpPr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B7503085-92DD-42E5-BC6A-788FC6787D3E}"/>
                </a:ext>
              </a:extLst>
            </p:cNvPr>
            <p:cNvCxnSpPr>
              <a:cxnSpLocks/>
              <a:endCxn id="225" idx="0"/>
            </p:cNvCxnSpPr>
            <p:nvPr/>
          </p:nvCxnSpPr>
          <p:spPr>
            <a:xfrm>
              <a:off x="3872085" y="3447568"/>
              <a:ext cx="0" cy="3049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D050755A-7AE0-493B-B3D5-E6B3797F4503}"/>
                </a:ext>
              </a:extLst>
            </p:cNvPr>
            <p:cNvSpPr txBox="1"/>
            <p:nvPr/>
          </p:nvSpPr>
          <p:spPr>
            <a:xfrm>
              <a:off x="3457656" y="3752480"/>
              <a:ext cx="828858" cy="523220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AGMA + NAGMA</a:t>
              </a:r>
            </a:p>
          </p:txBody>
        </p:sp>
      </p:grpSp>
      <p:sp>
        <p:nvSpPr>
          <p:cNvPr id="227" name="Anion gap">
            <a:extLst>
              <a:ext uri="{FF2B5EF4-FFF2-40B4-BE49-F238E27FC236}">
                <a16:creationId xmlns:a16="http://schemas.microsoft.com/office/drawing/2014/main" id="{272020F0-A756-44C4-8AC6-DCE68262F78D}"/>
              </a:ext>
            </a:extLst>
          </p:cNvPr>
          <p:cNvSpPr txBox="1"/>
          <p:nvPr/>
        </p:nvSpPr>
        <p:spPr>
          <a:xfrm>
            <a:off x="3085664" y="1447000"/>
            <a:ext cx="1814848" cy="358200"/>
          </a:xfrm>
          <a:prstGeom prst="roundRect">
            <a:avLst>
              <a:gd name="adj" fmla="val 1090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ym typeface="Wingdings" panose="05000000000000000000" pitchFamily="2" charset="2"/>
              </a:rPr>
              <a:t> </a:t>
            </a:r>
            <a:r>
              <a:rPr lang="en-US" sz="1600" dirty="0"/>
              <a:t>Anion gap (AG)?</a:t>
            </a: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FC876A30-ECF5-4F0D-9664-CE06DEEE5ED9}"/>
              </a:ext>
            </a:extLst>
          </p:cNvPr>
          <p:cNvCxnSpPr>
            <a:cxnSpLocks/>
            <a:stCxn id="212" idx="2"/>
            <a:endCxn id="227" idx="0"/>
          </p:cNvCxnSpPr>
          <p:nvPr/>
        </p:nvCxnSpPr>
        <p:spPr>
          <a:xfrm flipH="1">
            <a:off x="3993088" y="1210405"/>
            <a:ext cx="1" cy="236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1A1F873D-358E-4EC0-8085-1CBD4F6A1883}"/>
              </a:ext>
            </a:extLst>
          </p:cNvPr>
          <p:cNvSpPr txBox="1"/>
          <p:nvPr/>
        </p:nvSpPr>
        <p:spPr>
          <a:xfrm>
            <a:off x="4212044" y="2144554"/>
            <a:ext cx="731012" cy="3745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22F41E30-1D80-4FB0-BA27-7AB7B6E8A8E5}"/>
              </a:ext>
            </a:extLst>
          </p:cNvPr>
          <p:cNvSpPr txBox="1"/>
          <p:nvPr/>
        </p:nvSpPr>
        <p:spPr>
          <a:xfrm>
            <a:off x="2931122" y="2151429"/>
            <a:ext cx="731012" cy="3745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F981CA42-01AD-49C0-AFA1-4CDF3552450C}"/>
              </a:ext>
            </a:extLst>
          </p:cNvPr>
          <p:cNvSpPr txBox="1"/>
          <p:nvPr/>
        </p:nvSpPr>
        <p:spPr>
          <a:xfrm>
            <a:off x="2221590" y="3060067"/>
            <a:ext cx="1070830" cy="340519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Urinary AG</a:t>
            </a:r>
          </a:p>
        </p:txBody>
      </p:sp>
      <p:sp>
        <p:nvSpPr>
          <p:cNvPr id="238" name="NAGMA - GI loss">
            <a:extLst>
              <a:ext uri="{FF2B5EF4-FFF2-40B4-BE49-F238E27FC236}">
                <a16:creationId xmlns:a16="http://schemas.microsoft.com/office/drawing/2014/main" id="{B0CB0045-D328-4727-BF91-326D666C2D48}"/>
              </a:ext>
            </a:extLst>
          </p:cNvPr>
          <p:cNvSpPr txBox="1"/>
          <p:nvPr/>
        </p:nvSpPr>
        <p:spPr>
          <a:xfrm>
            <a:off x="1489582" y="4911768"/>
            <a:ext cx="1281330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Diarrhea</a:t>
            </a:r>
          </a:p>
          <a:p>
            <a:pPr algn="ctr"/>
            <a:r>
              <a:rPr lang="en-US" sz="1400" dirty="0"/>
              <a:t>Ileostomy</a:t>
            </a:r>
          </a:p>
          <a:p>
            <a:pPr algn="ctr"/>
            <a:r>
              <a:rPr lang="en-US" sz="1400" dirty="0"/>
              <a:t>Enteric fistulas</a:t>
            </a:r>
          </a:p>
        </p:txBody>
      </p:sp>
      <p:grpSp>
        <p:nvGrpSpPr>
          <p:cNvPr id="243" name="NeGUTive">
            <a:extLst>
              <a:ext uri="{FF2B5EF4-FFF2-40B4-BE49-F238E27FC236}">
                <a16:creationId xmlns:a16="http://schemas.microsoft.com/office/drawing/2014/main" id="{170B6876-4EC1-48C3-8D90-7CBA393A9E25}"/>
              </a:ext>
            </a:extLst>
          </p:cNvPr>
          <p:cNvGrpSpPr/>
          <p:nvPr/>
        </p:nvGrpSpPr>
        <p:grpSpPr>
          <a:xfrm>
            <a:off x="1622857" y="3627027"/>
            <a:ext cx="1053005" cy="1268039"/>
            <a:chOff x="427500" y="3600314"/>
            <a:chExt cx="1053005" cy="1268039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91378A83-87F9-4DFC-A3EC-9C5EB3A72703}"/>
                </a:ext>
              </a:extLst>
            </p:cNvPr>
            <p:cNvSpPr txBox="1"/>
            <p:nvPr/>
          </p:nvSpPr>
          <p:spPr>
            <a:xfrm>
              <a:off x="427500" y="3600314"/>
              <a:ext cx="1053005" cy="1268039"/>
            </a:xfrm>
            <a:prstGeom prst="roundRect">
              <a:avLst>
                <a:gd name="adj" fmla="val 0"/>
              </a:avLst>
            </a:prstGeom>
            <a:ln/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400" dirty="0" err="1"/>
                <a:t>Ne</a:t>
              </a:r>
              <a:r>
                <a:rPr lang="en-US" sz="1400" i="1" dirty="0" err="1"/>
                <a:t>GUT</a:t>
              </a:r>
              <a:r>
                <a:rPr lang="en-US" sz="1400" dirty="0" err="1"/>
                <a:t>ive</a:t>
              </a:r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r>
                <a:rPr lang="en-US" sz="1200" dirty="0"/>
                <a:t>GI loss of HCO</a:t>
              </a:r>
              <a:r>
                <a:rPr lang="en-US" sz="1200" baseline="-25000" dirty="0"/>
                <a:t>3</a:t>
              </a:r>
              <a:r>
                <a:rPr lang="en-US" sz="1200" baseline="30000" dirty="0"/>
                <a:t>-</a:t>
              </a:r>
              <a:endParaRPr lang="en-US" sz="1200" dirty="0"/>
            </a:p>
          </p:txBody>
        </p:sp>
        <p:sp>
          <p:nvSpPr>
            <p:cNvPr id="245" name="GI tract">
              <a:extLst>
                <a:ext uri="{FF2B5EF4-FFF2-40B4-BE49-F238E27FC236}">
                  <a16:creationId xmlns:a16="http://schemas.microsoft.com/office/drawing/2014/main" id="{4D2D1218-A5C8-4C95-BD94-B678AD151021}"/>
                </a:ext>
              </a:extLst>
            </p:cNvPr>
            <p:cNvSpPr/>
            <p:nvPr/>
          </p:nvSpPr>
          <p:spPr>
            <a:xfrm>
              <a:off x="587059" y="3907490"/>
              <a:ext cx="726441" cy="568763"/>
            </a:xfrm>
            <a:custGeom>
              <a:avLst/>
              <a:gdLst>
                <a:gd name="connsiteX0" fmla="*/ 206496 w 1299828"/>
                <a:gd name="connsiteY0" fmla="*/ 1068475 h 1276136"/>
                <a:gd name="connsiteX1" fmla="*/ 103626 w 1299828"/>
                <a:gd name="connsiteY1" fmla="*/ 1037995 h 1276136"/>
                <a:gd name="connsiteX2" fmla="*/ 84576 w 1299828"/>
                <a:gd name="connsiteY2" fmla="*/ 938935 h 1276136"/>
                <a:gd name="connsiteX3" fmla="*/ 107436 w 1299828"/>
                <a:gd name="connsiteY3" fmla="*/ 89321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206496 w 1299828"/>
                <a:gd name="connsiteY79" fmla="*/ 1068475 h 1276136"/>
                <a:gd name="connsiteX0" fmla="*/ 145536 w 1299828"/>
                <a:gd name="connsiteY0" fmla="*/ 1121815 h 1276136"/>
                <a:gd name="connsiteX1" fmla="*/ 103626 w 1299828"/>
                <a:gd name="connsiteY1" fmla="*/ 1037995 h 1276136"/>
                <a:gd name="connsiteX2" fmla="*/ 84576 w 1299828"/>
                <a:gd name="connsiteY2" fmla="*/ 938935 h 1276136"/>
                <a:gd name="connsiteX3" fmla="*/ 107436 w 1299828"/>
                <a:gd name="connsiteY3" fmla="*/ 89321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84576 w 1299828"/>
                <a:gd name="connsiteY2" fmla="*/ 938935 h 1276136"/>
                <a:gd name="connsiteX3" fmla="*/ 107436 w 1299828"/>
                <a:gd name="connsiteY3" fmla="*/ 89321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107436 w 1299828"/>
                <a:gd name="connsiteY3" fmla="*/ 89321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6745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45636 w 1299828"/>
                <a:gd name="connsiteY52" fmla="*/ 85130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45636 w 1299828"/>
                <a:gd name="connsiteY52" fmla="*/ 85130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45636 w 1299828"/>
                <a:gd name="connsiteY52" fmla="*/ 851305 h 1276136"/>
                <a:gd name="connsiteX53" fmla="*/ 968496 w 1299828"/>
                <a:gd name="connsiteY53" fmla="*/ 87797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68496 w 1299828"/>
                <a:gd name="connsiteY53" fmla="*/ 87797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6116 w 1299828"/>
                <a:gd name="connsiteY44" fmla="*/ 109133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41805 h 1276136"/>
                <a:gd name="connsiteX44" fmla="*/ 976116 w 1299828"/>
                <a:gd name="connsiteY44" fmla="*/ 109133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4180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3326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80816 w 1299828"/>
                <a:gd name="connsiteY67" fmla="*/ 20741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2256 w 1299828"/>
                <a:gd name="connsiteY66" fmla="*/ 173125 h 1276136"/>
                <a:gd name="connsiteX67" fmla="*/ 480816 w 1299828"/>
                <a:gd name="connsiteY67" fmla="*/ 20741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2256 w 1299828"/>
                <a:gd name="connsiteY66" fmla="*/ 173125 h 1276136"/>
                <a:gd name="connsiteX67" fmla="*/ 465576 w 1299828"/>
                <a:gd name="connsiteY67" fmla="*/ 21503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45586 w 1299828"/>
                <a:gd name="connsiteY21" fmla="*/ 2453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2256 w 1299828"/>
                <a:gd name="connsiteY66" fmla="*/ 173125 h 1276136"/>
                <a:gd name="connsiteX67" fmla="*/ 465576 w 1299828"/>
                <a:gd name="connsiteY67" fmla="*/ 21503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4266 h 1278587"/>
                <a:gd name="connsiteX1" fmla="*/ 57906 w 1299828"/>
                <a:gd name="connsiteY1" fmla="*/ 1036636 h 1278587"/>
                <a:gd name="connsiteX2" fmla="*/ 69336 w 1299828"/>
                <a:gd name="connsiteY2" fmla="*/ 941386 h 1278587"/>
                <a:gd name="connsiteX3" fmla="*/ 84576 w 1299828"/>
                <a:gd name="connsiteY3" fmla="*/ 888046 h 1278587"/>
                <a:gd name="connsiteX4" fmla="*/ 54096 w 1299828"/>
                <a:gd name="connsiteY4" fmla="*/ 838516 h 1278587"/>
                <a:gd name="connsiteX5" fmla="*/ 50286 w 1299828"/>
                <a:gd name="connsiteY5" fmla="*/ 716596 h 1278587"/>
                <a:gd name="connsiteX6" fmla="*/ 73146 w 1299828"/>
                <a:gd name="connsiteY6" fmla="*/ 689926 h 1278587"/>
                <a:gd name="connsiteX7" fmla="*/ 46476 w 1299828"/>
                <a:gd name="connsiteY7" fmla="*/ 670876 h 1278587"/>
                <a:gd name="connsiteX8" fmla="*/ 15996 w 1299828"/>
                <a:gd name="connsiteY8" fmla="*/ 598486 h 1278587"/>
                <a:gd name="connsiteX9" fmla="*/ 27426 w 1299828"/>
                <a:gd name="connsiteY9" fmla="*/ 529906 h 1278587"/>
                <a:gd name="connsiteX10" fmla="*/ 38856 w 1299828"/>
                <a:gd name="connsiteY10" fmla="*/ 487996 h 1278587"/>
                <a:gd name="connsiteX11" fmla="*/ 756 w 1299828"/>
                <a:gd name="connsiteY11" fmla="*/ 411796 h 1278587"/>
                <a:gd name="connsiteX12" fmla="*/ 15996 w 1299828"/>
                <a:gd name="connsiteY12" fmla="*/ 339406 h 1278587"/>
                <a:gd name="connsiteX13" fmla="*/ 46476 w 1299828"/>
                <a:gd name="connsiteY13" fmla="*/ 278446 h 1278587"/>
                <a:gd name="connsiteX14" fmla="*/ 35046 w 1299828"/>
                <a:gd name="connsiteY14" fmla="*/ 190816 h 1278587"/>
                <a:gd name="connsiteX15" fmla="*/ 76956 w 1299828"/>
                <a:gd name="connsiteY15" fmla="*/ 91756 h 1278587"/>
                <a:gd name="connsiteX16" fmla="*/ 153156 w 1299828"/>
                <a:gd name="connsiteY16" fmla="*/ 68896 h 1278587"/>
                <a:gd name="connsiteX17" fmla="*/ 240786 w 1299828"/>
                <a:gd name="connsiteY17" fmla="*/ 103186 h 1278587"/>
                <a:gd name="connsiteX18" fmla="*/ 309366 w 1299828"/>
                <a:gd name="connsiteY18" fmla="*/ 38416 h 1278587"/>
                <a:gd name="connsiteX19" fmla="*/ 438906 w 1299828"/>
                <a:gd name="connsiteY19" fmla="*/ 23176 h 1278587"/>
                <a:gd name="connsiteX20" fmla="*/ 480816 w 1299828"/>
                <a:gd name="connsiteY20" fmla="*/ 49846 h 1278587"/>
                <a:gd name="connsiteX21" fmla="*/ 545586 w 1299828"/>
                <a:gd name="connsiteY21" fmla="*/ 26986 h 1278587"/>
                <a:gd name="connsiteX22" fmla="*/ 690366 w 1299828"/>
                <a:gd name="connsiteY22" fmla="*/ 316 h 1278587"/>
                <a:gd name="connsiteX23" fmla="*/ 785616 w 1299828"/>
                <a:gd name="connsiteY23" fmla="*/ 46036 h 1278587"/>
                <a:gd name="connsiteX24" fmla="*/ 819906 w 1299828"/>
                <a:gd name="connsiteY24" fmla="*/ 42226 h 1278587"/>
                <a:gd name="connsiteX25" fmla="*/ 938016 w 1299828"/>
                <a:gd name="connsiteY25" fmla="*/ 4126 h 1278587"/>
                <a:gd name="connsiteX26" fmla="*/ 987546 w 1299828"/>
                <a:gd name="connsiteY26" fmla="*/ 11746 h 1278587"/>
                <a:gd name="connsiteX27" fmla="*/ 1052316 w 1299828"/>
                <a:gd name="connsiteY27" fmla="*/ 34606 h 1278587"/>
                <a:gd name="connsiteX28" fmla="*/ 1124706 w 1299828"/>
                <a:gd name="connsiteY28" fmla="*/ 7936 h 1278587"/>
                <a:gd name="connsiteX29" fmla="*/ 1181856 w 1299828"/>
                <a:gd name="connsiteY29" fmla="*/ 19366 h 1278587"/>
                <a:gd name="connsiteX30" fmla="*/ 1273296 w 1299828"/>
                <a:gd name="connsiteY30" fmla="*/ 84136 h 1278587"/>
                <a:gd name="connsiteX31" fmla="*/ 1265676 w 1299828"/>
                <a:gd name="connsiteY31" fmla="*/ 209866 h 1278587"/>
                <a:gd name="connsiteX32" fmla="*/ 1246626 w 1299828"/>
                <a:gd name="connsiteY32" fmla="*/ 240346 h 1278587"/>
                <a:gd name="connsiteX33" fmla="*/ 1296156 w 1299828"/>
                <a:gd name="connsiteY33" fmla="*/ 320356 h 1278587"/>
                <a:gd name="connsiteX34" fmla="*/ 1292346 w 1299828"/>
                <a:gd name="connsiteY34" fmla="*/ 427036 h 1278587"/>
                <a:gd name="connsiteX35" fmla="*/ 1261866 w 1299828"/>
                <a:gd name="connsiteY35" fmla="*/ 449896 h 1278587"/>
                <a:gd name="connsiteX36" fmla="*/ 1277106 w 1299828"/>
                <a:gd name="connsiteY36" fmla="*/ 529906 h 1278587"/>
                <a:gd name="connsiteX37" fmla="*/ 1284726 w 1299828"/>
                <a:gd name="connsiteY37" fmla="*/ 598486 h 1278587"/>
                <a:gd name="connsiteX38" fmla="*/ 1235196 w 1299828"/>
                <a:gd name="connsiteY38" fmla="*/ 670876 h 1278587"/>
                <a:gd name="connsiteX39" fmla="*/ 1261866 w 1299828"/>
                <a:gd name="connsiteY39" fmla="*/ 777556 h 1278587"/>
                <a:gd name="connsiteX40" fmla="*/ 1258056 w 1299828"/>
                <a:gd name="connsiteY40" fmla="*/ 849946 h 1278587"/>
                <a:gd name="connsiteX41" fmla="*/ 1227576 w 1299828"/>
                <a:gd name="connsiteY41" fmla="*/ 918526 h 1278587"/>
                <a:gd name="connsiteX42" fmla="*/ 1250436 w 1299828"/>
                <a:gd name="connsiteY42" fmla="*/ 1006156 h 1278587"/>
                <a:gd name="connsiteX43" fmla="*/ 1124706 w 1299828"/>
                <a:gd name="connsiteY43" fmla="*/ 1086166 h 1278587"/>
                <a:gd name="connsiteX44" fmla="*/ 998976 w 1299828"/>
                <a:gd name="connsiteY44" fmla="*/ 1105216 h 1278587"/>
                <a:gd name="connsiteX45" fmla="*/ 888486 w 1299828"/>
                <a:gd name="connsiteY45" fmla="*/ 1086166 h 1278587"/>
                <a:gd name="connsiteX46" fmla="*/ 892296 w 1299828"/>
                <a:gd name="connsiteY46" fmla="*/ 1185226 h 1278587"/>
                <a:gd name="connsiteX47" fmla="*/ 835146 w 1299828"/>
                <a:gd name="connsiteY47" fmla="*/ 1249996 h 1278587"/>
                <a:gd name="connsiteX48" fmla="*/ 697986 w 1299828"/>
                <a:gd name="connsiteY48" fmla="*/ 1272856 h 1278587"/>
                <a:gd name="connsiteX49" fmla="*/ 637026 w 1299828"/>
                <a:gd name="connsiteY49" fmla="*/ 1147126 h 1278587"/>
                <a:gd name="connsiteX50" fmla="*/ 682746 w 1299828"/>
                <a:gd name="connsiteY50" fmla="*/ 990916 h 1278587"/>
                <a:gd name="connsiteX51" fmla="*/ 816096 w 1299828"/>
                <a:gd name="connsiteY51" fmla="*/ 945196 h 1278587"/>
                <a:gd name="connsiteX52" fmla="*/ 922776 w 1299828"/>
                <a:gd name="connsiteY52" fmla="*/ 872806 h 1278587"/>
                <a:gd name="connsiteX53" fmla="*/ 972306 w 1299828"/>
                <a:gd name="connsiteY53" fmla="*/ 861376 h 1278587"/>
                <a:gd name="connsiteX54" fmla="*/ 1067556 w 1299828"/>
                <a:gd name="connsiteY54" fmla="*/ 903286 h 1278587"/>
                <a:gd name="connsiteX55" fmla="*/ 1075176 w 1299828"/>
                <a:gd name="connsiteY55" fmla="*/ 857566 h 1278587"/>
                <a:gd name="connsiteX56" fmla="*/ 1056126 w 1299828"/>
                <a:gd name="connsiteY56" fmla="*/ 750886 h 1278587"/>
                <a:gd name="connsiteX57" fmla="*/ 1075176 w 1299828"/>
                <a:gd name="connsiteY57" fmla="*/ 678496 h 1278587"/>
                <a:gd name="connsiteX58" fmla="*/ 1048506 w 1299828"/>
                <a:gd name="connsiteY58" fmla="*/ 556576 h 1278587"/>
                <a:gd name="connsiteX59" fmla="*/ 1086606 w 1299828"/>
                <a:gd name="connsiteY59" fmla="*/ 468946 h 1278587"/>
                <a:gd name="connsiteX60" fmla="*/ 1056126 w 1299828"/>
                <a:gd name="connsiteY60" fmla="*/ 396556 h 1278587"/>
                <a:gd name="connsiteX61" fmla="*/ 1082796 w 1299828"/>
                <a:gd name="connsiteY61" fmla="*/ 286066 h 1278587"/>
                <a:gd name="connsiteX62" fmla="*/ 1067556 w 1299828"/>
                <a:gd name="connsiteY62" fmla="*/ 198436 h 1278587"/>
                <a:gd name="connsiteX63" fmla="*/ 953256 w 1299828"/>
                <a:gd name="connsiteY63" fmla="*/ 209866 h 1278587"/>
                <a:gd name="connsiteX64" fmla="*/ 827526 w 1299828"/>
                <a:gd name="connsiteY64" fmla="*/ 198436 h 1278587"/>
                <a:gd name="connsiteX65" fmla="*/ 690366 w 1299828"/>
                <a:gd name="connsiteY65" fmla="*/ 213676 h 1278587"/>
                <a:gd name="connsiteX66" fmla="*/ 572256 w 1299828"/>
                <a:gd name="connsiteY66" fmla="*/ 175576 h 1278587"/>
                <a:gd name="connsiteX67" fmla="*/ 465576 w 1299828"/>
                <a:gd name="connsiteY67" fmla="*/ 217486 h 1278587"/>
                <a:gd name="connsiteX68" fmla="*/ 358896 w 1299828"/>
                <a:gd name="connsiteY68" fmla="*/ 221296 h 1278587"/>
                <a:gd name="connsiteX69" fmla="*/ 305556 w 1299828"/>
                <a:gd name="connsiteY69" fmla="*/ 263206 h 1278587"/>
                <a:gd name="connsiteX70" fmla="*/ 210306 w 1299828"/>
                <a:gd name="connsiteY70" fmla="*/ 263206 h 1278587"/>
                <a:gd name="connsiteX71" fmla="*/ 252216 w 1299828"/>
                <a:gd name="connsiteY71" fmla="*/ 335596 h 1278587"/>
                <a:gd name="connsiteX72" fmla="*/ 195066 w 1299828"/>
                <a:gd name="connsiteY72" fmla="*/ 453706 h 1278587"/>
                <a:gd name="connsiteX73" fmla="*/ 240786 w 1299828"/>
                <a:gd name="connsiteY73" fmla="*/ 545146 h 1278587"/>
                <a:gd name="connsiteX74" fmla="*/ 233166 w 1299828"/>
                <a:gd name="connsiteY74" fmla="*/ 659446 h 1278587"/>
                <a:gd name="connsiteX75" fmla="*/ 290316 w 1299828"/>
                <a:gd name="connsiteY75" fmla="*/ 773746 h 1278587"/>
                <a:gd name="connsiteX76" fmla="*/ 282696 w 1299828"/>
                <a:gd name="connsiteY76" fmla="*/ 861376 h 1278587"/>
                <a:gd name="connsiteX77" fmla="*/ 351276 w 1299828"/>
                <a:gd name="connsiteY77" fmla="*/ 899476 h 1278587"/>
                <a:gd name="connsiteX78" fmla="*/ 393186 w 1299828"/>
                <a:gd name="connsiteY78" fmla="*/ 1009966 h 1278587"/>
                <a:gd name="connsiteX79" fmla="*/ 259836 w 1299828"/>
                <a:gd name="connsiteY79" fmla="*/ 1124266 h 1278587"/>
                <a:gd name="connsiteX80" fmla="*/ 145536 w 1299828"/>
                <a:gd name="connsiteY80" fmla="*/ 1124266 h 1278587"/>
                <a:gd name="connsiteX0" fmla="*/ 145536 w 1299828"/>
                <a:gd name="connsiteY0" fmla="*/ 1124266 h 1278587"/>
                <a:gd name="connsiteX1" fmla="*/ 57906 w 1299828"/>
                <a:gd name="connsiteY1" fmla="*/ 1036636 h 1278587"/>
                <a:gd name="connsiteX2" fmla="*/ 69336 w 1299828"/>
                <a:gd name="connsiteY2" fmla="*/ 941386 h 1278587"/>
                <a:gd name="connsiteX3" fmla="*/ 84576 w 1299828"/>
                <a:gd name="connsiteY3" fmla="*/ 888046 h 1278587"/>
                <a:gd name="connsiteX4" fmla="*/ 54096 w 1299828"/>
                <a:gd name="connsiteY4" fmla="*/ 838516 h 1278587"/>
                <a:gd name="connsiteX5" fmla="*/ 50286 w 1299828"/>
                <a:gd name="connsiteY5" fmla="*/ 716596 h 1278587"/>
                <a:gd name="connsiteX6" fmla="*/ 73146 w 1299828"/>
                <a:gd name="connsiteY6" fmla="*/ 689926 h 1278587"/>
                <a:gd name="connsiteX7" fmla="*/ 46476 w 1299828"/>
                <a:gd name="connsiteY7" fmla="*/ 670876 h 1278587"/>
                <a:gd name="connsiteX8" fmla="*/ 15996 w 1299828"/>
                <a:gd name="connsiteY8" fmla="*/ 598486 h 1278587"/>
                <a:gd name="connsiteX9" fmla="*/ 27426 w 1299828"/>
                <a:gd name="connsiteY9" fmla="*/ 529906 h 1278587"/>
                <a:gd name="connsiteX10" fmla="*/ 38856 w 1299828"/>
                <a:gd name="connsiteY10" fmla="*/ 487996 h 1278587"/>
                <a:gd name="connsiteX11" fmla="*/ 756 w 1299828"/>
                <a:gd name="connsiteY11" fmla="*/ 411796 h 1278587"/>
                <a:gd name="connsiteX12" fmla="*/ 15996 w 1299828"/>
                <a:gd name="connsiteY12" fmla="*/ 339406 h 1278587"/>
                <a:gd name="connsiteX13" fmla="*/ 46476 w 1299828"/>
                <a:gd name="connsiteY13" fmla="*/ 278446 h 1278587"/>
                <a:gd name="connsiteX14" fmla="*/ 35046 w 1299828"/>
                <a:gd name="connsiteY14" fmla="*/ 190816 h 1278587"/>
                <a:gd name="connsiteX15" fmla="*/ 76956 w 1299828"/>
                <a:gd name="connsiteY15" fmla="*/ 91756 h 1278587"/>
                <a:gd name="connsiteX16" fmla="*/ 153156 w 1299828"/>
                <a:gd name="connsiteY16" fmla="*/ 68896 h 1278587"/>
                <a:gd name="connsiteX17" fmla="*/ 240786 w 1299828"/>
                <a:gd name="connsiteY17" fmla="*/ 103186 h 1278587"/>
                <a:gd name="connsiteX18" fmla="*/ 309366 w 1299828"/>
                <a:gd name="connsiteY18" fmla="*/ 38416 h 1278587"/>
                <a:gd name="connsiteX19" fmla="*/ 438906 w 1299828"/>
                <a:gd name="connsiteY19" fmla="*/ 23176 h 1278587"/>
                <a:gd name="connsiteX20" fmla="*/ 480816 w 1299828"/>
                <a:gd name="connsiteY20" fmla="*/ 49846 h 1278587"/>
                <a:gd name="connsiteX21" fmla="*/ 545586 w 1299828"/>
                <a:gd name="connsiteY21" fmla="*/ 26986 h 1278587"/>
                <a:gd name="connsiteX22" fmla="*/ 690366 w 1299828"/>
                <a:gd name="connsiteY22" fmla="*/ 316 h 1278587"/>
                <a:gd name="connsiteX23" fmla="*/ 785616 w 1299828"/>
                <a:gd name="connsiteY23" fmla="*/ 46036 h 1278587"/>
                <a:gd name="connsiteX24" fmla="*/ 819906 w 1299828"/>
                <a:gd name="connsiteY24" fmla="*/ 30796 h 1278587"/>
                <a:gd name="connsiteX25" fmla="*/ 938016 w 1299828"/>
                <a:gd name="connsiteY25" fmla="*/ 4126 h 1278587"/>
                <a:gd name="connsiteX26" fmla="*/ 987546 w 1299828"/>
                <a:gd name="connsiteY26" fmla="*/ 11746 h 1278587"/>
                <a:gd name="connsiteX27" fmla="*/ 1052316 w 1299828"/>
                <a:gd name="connsiteY27" fmla="*/ 34606 h 1278587"/>
                <a:gd name="connsiteX28" fmla="*/ 1124706 w 1299828"/>
                <a:gd name="connsiteY28" fmla="*/ 7936 h 1278587"/>
                <a:gd name="connsiteX29" fmla="*/ 1181856 w 1299828"/>
                <a:gd name="connsiteY29" fmla="*/ 19366 h 1278587"/>
                <a:gd name="connsiteX30" fmla="*/ 1273296 w 1299828"/>
                <a:gd name="connsiteY30" fmla="*/ 84136 h 1278587"/>
                <a:gd name="connsiteX31" fmla="*/ 1265676 w 1299828"/>
                <a:gd name="connsiteY31" fmla="*/ 209866 h 1278587"/>
                <a:gd name="connsiteX32" fmla="*/ 1246626 w 1299828"/>
                <a:gd name="connsiteY32" fmla="*/ 240346 h 1278587"/>
                <a:gd name="connsiteX33" fmla="*/ 1296156 w 1299828"/>
                <a:gd name="connsiteY33" fmla="*/ 320356 h 1278587"/>
                <a:gd name="connsiteX34" fmla="*/ 1292346 w 1299828"/>
                <a:gd name="connsiteY34" fmla="*/ 427036 h 1278587"/>
                <a:gd name="connsiteX35" fmla="*/ 1261866 w 1299828"/>
                <a:gd name="connsiteY35" fmla="*/ 449896 h 1278587"/>
                <a:gd name="connsiteX36" fmla="*/ 1277106 w 1299828"/>
                <a:gd name="connsiteY36" fmla="*/ 529906 h 1278587"/>
                <a:gd name="connsiteX37" fmla="*/ 1284726 w 1299828"/>
                <a:gd name="connsiteY37" fmla="*/ 598486 h 1278587"/>
                <a:gd name="connsiteX38" fmla="*/ 1235196 w 1299828"/>
                <a:gd name="connsiteY38" fmla="*/ 670876 h 1278587"/>
                <a:gd name="connsiteX39" fmla="*/ 1261866 w 1299828"/>
                <a:gd name="connsiteY39" fmla="*/ 777556 h 1278587"/>
                <a:gd name="connsiteX40" fmla="*/ 1258056 w 1299828"/>
                <a:gd name="connsiteY40" fmla="*/ 849946 h 1278587"/>
                <a:gd name="connsiteX41" fmla="*/ 1227576 w 1299828"/>
                <a:gd name="connsiteY41" fmla="*/ 918526 h 1278587"/>
                <a:gd name="connsiteX42" fmla="*/ 1250436 w 1299828"/>
                <a:gd name="connsiteY42" fmla="*/ 1006156 h 1278587"/>
                <a:gd name="connsiteX43" fmla="*/ 1124706 w 1299828"/>
                <a:gd name="connsiteY43" fmla="*/ 1086166 h 1278587"/>
                <a:gd name="connsiteX44" fmla="*/ 998976 w 1299828"/>
                <a:gd name="connsiteY44" fmla="*/ 1105216 h 1278587"/>
                <a:gd name="connsiteX45" fmla="*/ 888486 w 1299828"/>
                <a:gd name="connsiteY45" fmla="*/ 1086166 h 1278587"/>
                <a:gd name="connsiteX46" fmla="*/ 892296 w 1299828"/>
                <a:gd name="connsiteY46" fmla="*/ 1185226 h 1278587"/>
                <a:gd name="connsiteX47" fmla="*/ 835146 w 1299828"/>
                <a:gd name="connsiteY47" fmla="*/ 1249996 h 1278587"/>
                <a:gd name="connsiteX48" fmla="*/ 697986 w 1299828"/>
                <a:gd name="connsiteY48" fmla="*/ 1272856 h 1278587"/>
                <a:gd name="connsiteX49" fmla="*/ 637026 w 1299828"/>
                <a:gd name="connsiteY49" fmla="*/ 1147126 h 1278587"/>
                <a:gd name="connsiteX50" fmla="*/ 682746 w 1299828"/>
                <a:gd name="connsiteY50" fmla="*/ 990916 h 1278587"/>
                <a:gd name="connsiteX51" fmla="*/ 816096 w 1299828"/>
                <a:gd name="connsiteY51" fmla="*/ 945196 h 1278587"/>
                <a:gd name="connsiteX52" fmla="*/ 922776 w 1299828"/>
                <a:gd name="connsiteY52" fmla="*/ 872806 h 1278587"/>
                <a:gd name="connsiteX53" fmla="*/ 972306 w 1299828"/>
                <a:gd name="connsiteY53" fmla="*/ 861376 h 1278587"/>
                <a:gd name="connsiteX54" fmla="*/ 1067556 w 1299828"/>
                <a:gd name="connsiteY54" fmla="*/ 903286 h 1278587"/>
                <a:gd name="connsiteX55" fmla="*/ 1075176 w 1299828"/>
                <a:gd name="connsiteY55" fmla="*/ 857566 h 1278587"/>
                <a:gd name="connsiteX56" fmla="*/ 1056126 w 1299828"/>
                <a:gd name="connsiteY56" fmla="*/ 750886 h 1278587"/>
                <a:gd name="connsiteX57" fmla="*/ 1075176 w 1299828"/>
                <a:gd name="connsiteY57" fmla="*/ 678496 h 1278587"/>
                <a:gd name="connsiteX58" fmla="*/ 1048506 w 1299828"/>
                <a:gd name="connsiteY58" fmla="*/ 556576 h 1278587"/>
                <a:gd name="connsiteX59" fmla="*/ 1086606 w 1299828"/>
                <a:gd name="connsiteY59" fmla="*/ 468946 h 1278587"/>
                <a:gd name="connsiteX60" fmla="*/ 1056126 w 1299828"/>
                <a:gd name="connsiteY60" fmla="*/ 396556 h 1278587"/>
                <a:gd name="connsiteX61" fmla="*/ 1082796 w 1299828"/>
                <a:gd name="connsiteY61" fmla="*/ 286066 h 1278587"/>
                <a:gd name="connsiteX62" fmla="*/ 1067556 w 1299828"/>
                <a:gd name="connsiteY62" fmla="*/ 198436 h 1278587"/>
                <a:gd name="connsiteX63" fmla="*/ 953256 w 1299828"/>
                <a:gd name="connsiteY63" fmla="*/ 209866 h 1278587"/>
                <a:gd name="connsiteX64" fmla="*/ 827526 w 1299828"/>
                <a:gd name="connsiteY64" fmla="*/ 198436 h 1278587"/>
                <a:gd name="connsiteX65" fmla="*/ 690366 w 1299828"/>
                <a:gd name="connsiteY65" fmla="*/ 213676 h 1278587"/>
                <a:gd name="connsiteX66" fmla="*/ 572256 w 1299828"/>
                <a:gd name="connsiteY66" fmla="*/ 175576 h 1278587"/>
                <a:gd name="connsiteX67" fmla="*/ 465576 w 1299828"/>
                <a:gd name="connsiteY67" fmla="*/ 217486 h 1278587"/>
                <a:gd name="connsiteX68" fmla="*/ 358896 w 1299828"/>
                <a:gd name="connsiteY68" fmla="*/ 221296 h 1278587"/>
                <a:gd name="connsiteX69" fmla="*/ 305556 w 1299828"/>
                <a:gd name="connsiteY69" fmla="*/ 263206 h 1278587"/>
                <a:gd name="connsiteX70" fmla="*/ 210306 w 1299828"/>
                <a:gd name="connsiteY70" fmla="*/ 263206 h 1278587"/>
                <a:gd name="connsiteX71" fmla="*/ 252216 w 1299828"/>
                <a:gd name="connsiteY71" fmla="*/ 335596 h 1278587"/>
                <a:gd name="connsiteX72" fmla="*/ 195066 w 1299828"/>
                <a:gd name="connsiteY72" fmla="*/ 453706 h 1278587"/>
                <a:gd name="connsiteX73" fmla="*/ 240786 w 1299828"/>
                <a:gd name="connsiteY73" fmla="*/ 545146 h 1278587"/>
                <a:gd name="connsiteX74" fmla="*/ 233166 w 1299828"/>
                <a:gd name="connsiteY74" fmla="*/ 659446 h 1278587"/>
                <a:gd name="connsiteX75" fmla="*/ 290316 w 1299828"/>
                <a:gd name="connsiteY75" fmla="*/ 773746 h 1278587"/>
                <a:gd name="connsiteX76" fmla="*/ 282696 w 1299828"/>
                <a:gd name="connsiteY76" fmla="*/ 861376 h 1278587"/>
                <a:gd name="connsiteX77" fmla="*/ 351276 w 1299828"/>
                <a:gd name="connsiteY77" fmla="*/ 899476 h 1278587"/>
                <a:gd name="connsiteX78" fmla="*/ 393186 w 1299828"/>
                <a:gd name="connsiteY78" fmla="*/ 1009966 h 1278587"/>
                <a:gd name="connsiteX79" fmla="*/ 259836 w 1299828"/>
                <a:gd name="connsiteY79" fmla="*/ 1124266 h 1278587"/>
                <a:gd name="connsiteX80" fmla="*/ 145536 w 1299828"/>
                <a:gd name="connsiteY80" fmla="*/ 1124266 h 1278587"/>
                <a:gd name="connsiteX0" fmla="*/ 145536 w 1299828"/>
                <a:gd name="connsiteY0" fmla="*/ 1131999 h 1286320"/>
                <a:gd name="connsiteX1" fmla="*/ 57906 w 1299828"/>
                <a:gd name="connsiteY1" fmla="*/ 1044369 h 1286320"/>
                <a:gd name="connsiteX2" fmla="*/ 69336 w 1299828"/>
                <a:gd name="connsiteY2" fmla="*/ 949119 h 1286320"/>
                <a:gd name="connsiteX3" fmla="*/ 84576 w 1299828"/>
                <a:gd name="connsiteY3" fmla="*/ 895779 h 1286320"/>
                <a:gd name="connsiteX4" fmla="*/ 54096 w 1299828"/>
                <a:gd name="connsiteY4" fmla="*/ 846249 h 1286320"/>
                <a:gd name="connsiteX5" fmla="*/ 50286 w 1299828"/>
                <a:gd name="connsiteY5" fmla="*/ 724329 h 1286320"/>
                <a:gd name="connsiteX6" fmla="*/ 73146 w 1299828"/>
                <a:gd name="connsiteY6" fmla="*/ 697659 h 1286320"/>
                <a:gd name="connsiteX7" fmla="*/ 46476 w 1299828"/>
                <a:gd name="connsiteY7" fmla="*/ 678609 h 1286320"/>
                <a:gd name="connsiteX8" fmla="*/ 15996 w 1299828"/>
                <a:gd name="connsiteY8" fmla="*/ 606219 h 1286320"/>
                <a:gd name="connsiteX9" fmla="*/ 27426 w 1299828"/>
                <a:gd name="connsiteY9" fmla="*/ 537639 h 1286320"/>
                <a:gd name="connsiteX10" fmla="*/ 38856 w 1299828"/>
                <a:gd name="connsiteY10" fmla="*/ 495729 h 1286320"/>
                <a:gd name="connsiteX11" fmla="*/ 756 w 1299828"/>
                <a:gd name="connsiteY11" fmla="*/ 419529 h 1286320"/>
                <a:gd name="connsiteX12" fmla="*/ 15996 w 1299828"/>
                <a:gd name="connsiteY12" fmla="*/ 347139 h 1286320"/>
                <a:gd name="connsiteX13" fmla="*/ 46476 w 1299828"/>
                <a:gd name="connsiteY13" fmla="*/ 286179 h 1286320"/>
                <a:gd name="connsiteX14" fmla="*/ 35046 w 1299828"/>
                <a:gd name="connsiteY14" fmla="*/ 198549 h 1286320"/>
                <a:gd name="connsiteX15" fmla="*/ 76956 w 1299828"/>
                <a:gd name="connsiteY15" fmla="*/ 99489 h 1286320"/>
                <a:gd name="connsiteX16" fmla="*/ 153156 w 1299828"/>
                <a:gd name="connsiteY16" fmla="*/ 76629 h 1286320"/>
                <a:gd name="connsiteX17" fmla="*/ 240786 w 1299828"/>
                <a:gd name="connsiteY17" fmla="*/ 110919 h 1286320"/>
                <a:gd name="connsiteX18" fmla="*/ 309366 w 1299828"/>
                <a:gd name="connsiteY18" fmla="*/ 46149 h 1286320"/>
                <a:gd name="connsiteX19" fmla="*/ 438906 w 1299828"/>
                <a:gd name="connsiteY19" fmla="*/ 30909 h 1286320"/>
                <a:gd name="connsiteX20" fmla="*/ 480816 w 1299828"/>
                <a:gd name="connsiteY20" fmla="*/ 57579 h 1286320"/>
                <a:gd name="connsiteX21" fmla="*/ 545586 w 1299828"/>
                <a:gd name="connsiteY21" fmla="*/ 34719 h 1286320"/>
                <a:gd name="connsiteX22" fmla="*/ 690366 w 1299828"/>
                <a:gd name="connsiteY22" fmla="*/ 8049 h 1286320"/>
                <a:gd name="connsiteX23" fmla="*/ 785616 w 1299828"/>
                <a:gd name="connsiteY23" fmla="*/ 53769 h 1286320"/>
                <a:gd name="connsiteX24" fmla="*/ 819906 w 1299828"/>
                <a:gd name="connsiteY24" fmla="*/ 38529 h 1286320"/>
                <a:gd name="connsiteX25" fmla="*/ 903726 w 1299828"/>
                <a:gd name="connsiteY25" fmla="*/ 429 h 1286320"/>
                <a:gd name="connsiteX26" fmla="*/ 987546 w 1299828"/>
                <a:gd name="connsiteY26" fmla="*/ 19479 h 1286320"/>
                <a:gd name="connsiteX27" fmla="*/ 1052316 w 1299828"/>
                <a:gd name="connsiteY27" fmla="*/ 42339 h 1286320"/>
                <a:gd name="connsiteX28" fmla="*/ 1124706 w 1299828"/>
                <a:gd name="connsiteY28" fmla="*/ 15669 h 1286320"/>
                <a:gd name="connsiteX29" fmla="*/ 1181856 w 1299828"/>
                <a:gd name="connsiteY29" fmla="*/ 27099 h 1286320"/>
                <a:gd name="connsiteX30" fmla="*/ 1273296 w 1299828"/>
                <a:gd name="connsiteY30" fmla="*/ 91869 h 1286320"/>
                <a:gd name="connsiteX31" fmla="*/ 1265676 w 1299828"/>
                <a:gd name="connsiteY31" fmla="*/ 217599 h 1286320"/>
                <a:gd name="connsiteX32" fmla="*/ 1246626 w 1299828"/>
                <a:gd name="connsiteY32" fmla="*/ 248079 h 1286320"/>
                <a:gd name="connsiteX33" fmla="*/ 1296156 w 1299828"/>
                <a:gd name="connsiteY33" fmla="*/ 328089 h 1286320"/>
                <a:gd name="connsiteX34" fmla="*/ 1292346 w 1299828"/>
                <a:gd name="connsiteY34" fmla="*/ 434769 h 1286320"/>
                <a:gd name="connsiteX35" fmla="*/ 1261866 w 1299828"/>
                <a:gd name="connsiteY35" fmla="*/ 457629 h 1286320"/>
                <a:gd name="connsiteX36" fmla="*/ 1277106 w 1299828"/>
                <a:gd name="connsiteY36" fmla="*/ 537639 h 1286320"/>
                <a:gd name="connsiteX37" fmla="*/ 1284726 w 1299828"/>
                <a:gd name="connsiteY37" fmla="*/ 606219 h 1286320"/>
                <a:gd name="connsiteX38" fmla="*/ 1235196 w 1299828"/>
                <a:gd name="connsiteY38" fmla="*/ 678609 h 1286320"/>
                <a:gd name="connsiteX39" fmla="*/ 1261866 w 1299828"/>
                <a:gd name="connsiteY39" fmla="*/ 785289 h 1286320"/>
                <a:gd name="connsiteX40" fmla="*/ 1258056 w 1299828"/>
                <a:gd name="connsiteY40" fmla="*/ 857679 h 1286320"/>
                <a:gd name="connsiteX41" fmla="*/ 1227576 w 1299828"/>
                <a:gd name="connsiteY41" fmla="*/ 926259 h 1286320"/>
                <a:gd name="connsiteX42" fmla="*/ 1250436 w 1299828"/>
                <a:gd name="connsiteY42" fmla="*/ 1013889 h 1286320"/>
                <a:gd name="connsiteX43" fmla="*/ 1124706 w 1299828"/>
                <a:gd name="connsiteY43" fmla="*/ 1093899 h 1286320"/>
                <a:gd name="connsiteX44" fmla="*/ 998976 w 1299828"/>
                <a:gd name="connsiteY44" fmla="*/ 1112949 h 1286320"/>
                <a:gd name="connsiteX45" fmla="*/ 888486 w 1299828"/>
                <a:gd name="connsiteY45" fmla="*/ 1093899 h 1286320"/>
                <a:gd name="connsiteX46" fmla="*/ 892296 w 1299828"/>
                <a:gd name="connsiteY46" fmla="*/ 1192959 h 1286320"/>
                <a:gd name="connsiteX47" fmla="*/ 835146 w 1299828"/>
                <a:gd name="connsiteY47" fmla="*/ 1257729 h 1286320"/>
                <a:gd name="connsiteX48" fmla="*/ 697986 w 1299828"/>
                <a:gd name="connsiteY48" fmla="*/ 1280589 h 1286320"/>
                <a:gd name="connsiteX49" fmla="*/ 637026 w 1299828"/>
                <a:gd name="connsiteY49" fmla="*/ 1154859 h 1286320"/>
                <a:gd name="connsiteX50" fmla="*/ 682746 w 1299828"/>
                <a:gd name="connsiteY50" fmla="*/ 998649 h 1286320"/>
                <a:gd name="connsiteX51" fmla="*/ 816096 w 1299828"/>
                <a:gd name="connsiteY51" fmla="*/ 952929 h 1286320"/>
                <a:gd name="connsiteX52" fmla="*/ 922776 w 1299828"/>
                <a:gd name="connsiteY52" fmla="*/ 880539 h 1286320"/>
                <a:gd name="connsiteX53" fmla="*/ 972306 w 1299828"/>
                <a:gd name="connsiteY53" fmla="*/ 869109 h 1286320"/>
                <a:gd name="connsiteX54" fmla="*/ 1067556 w 1299828"/>
                <a:gd name="connsiteY54" fmla="*/ 911019 h 1286320"/>
                <a:gd name="connsiteX55" fmla="*/ 1075176 w 1299828"/>
                <a:gd name="connsiteY55" fmla="*/ 865299 h 1286320"/>
                <a:gd name="connsiteX56" fmla="*/ 1056126 w 1299828"/>
                <a:gd name="connsiteY56" fmla="*/ 758619 h 1286320"/>
                <a:gd name="connsiteX57" fmla="*/ 1075176 w 1299828"/>
                <a:gd name="connsiteY57" fmla="*/ 686229 h 1286320"/>
                <a:gd name="connsiteX58" fmla="*/ 1048506 w 1299828"/>
                <a:gd name="connsiteY58" fmla="*/ 564309 h 1286320"/>
                <a:gd name="connsiteX59" fmla="*/ 1086606 w 1299828"/>
                <a:gd name="connsiteY59" fmla="*/ 476679 h 1286320"/>
                <a:gd name="connsiteX60" fmla="*/ 1056126 w 1299828"/>
                <a:gd name="connsiteY60" fmla="*/ 404289 h 1286320"/>
                <a:gd name="connsiteX61" fmla="*/ 1082796 w 1299828"/>
                <a:gd name="connsiteY61" fmla="*/ 293799 h 1286320"/>
                <a:gd name="connsiteX62" fmla="*/ 1067556 w 1299828"/>
                <a:gd name="connsiteY62" fmla="*/ 206169 h 1286320"/>
                <a:gd name="connsiteX63" fmla="*/ 953256 w 1299828"/>
                <a:gd name="connsiteY63" fmla="*/ 217599 h 1286320"/>
                <a:gd name="connsiteX64" fmla="*/ 827526 w 1299828"/>
                <a:gd name="connsiteY64" fmla="*/ 206169 h 1286320"/>
                <a:gd name="connsiteX65" fmla="*/ 690366 w 1299828"/>
                <a:gd name="connsiteY65" fmla="*/ 221409 h 1286320"/>
                <a:gd name="connsiteX66" fmla="*/ 572256 w 1299828"/>
                <a:gd name="connsiteY66" fmla="*/ 183309 h 1286320"/>
                <a:gd name="connsiteX67" fmla="*/ 465576 w 1299828"/>
                <a:gd name="connsiteY67" fmla="*/ 225219 h 1286320"/>
                <a:gd name="connsiteX68" fmla="*/ 358896 w 1299828"/>
                <a:gd name="connsiteY68" fmla="*/ 229029 h 1286320"/>
                <a:gd name="connsiteX69" fmla="*/ 305556 w 1299828"/>
                <a:gd name="connsiteY69" fmla="*/ 270939 h 1286320"/>
                <a:gd name="connsiteX70" fmla="*/ 210306 w 1299828"/>
                <a:gd name="connsiteY70" fmla="*/ 270939 h 1286320"/>
                <a:gd name="connsiteX71" fmla="*/ 252216 w 1299828"/>
                <a:gd name="connsiteY71" fmla="*/ 343329 h 1286320"/>
                <a:gd name="connsiteX72" fmla="*/ 195066 w 1299828"/>
                <a:gd name="connsiteY72" fmla="*/ 461439 h 1286320"/>
                <a:gd name="connsiteX73" fmla="*/ 240786 w 1299828"/>
                <a:gd name="connsiteY73" fmla="*/ 552879 h 1286320"/>
                <a:gd name="connsiteX74" fmla="*/ 233166 w 1299828"/>
                <a:gd name="connsiteY74" fmla="*/ 667179 h 1286320"/>
                <a:gd name="connsiteX75" fmla="*/ 290316 w 1299828"/>
                <a:gd name="connsiteY75" fmla="*/ 781479 h 1286320"/>
                <a:gd name="connsiteX76" fmla="*/ 282696 w 1299828"/>
                <a:gd name="connsiteY76" fmla="*/ 869109 h 1286320"/>
                <a:gd name="connsiteX77" fmla="*/ 351276 w 1299828"/>
                <a:gd name="connsiteY77" fmla="*/ 907209 h 1286320"/>
                <a:gd name="connsiteX78" fmla="*/ 393186 w 1299828"/>
                <a:gd name="connsiteY78" fmla="*/ 1017699 h 1286320"/>
                <a:gd name="connsiteX79" fmla="*/ 259836 w 1299828"/>
                <a:gd name="connsiteY79" fmla="*/ 1131999 h 1286320"/>
                <a:gd name="connsiteX80" fmla="*/ 145536 w 1299828"/>
                <a:gd name="connsiteY80" fmla="*/ 1131999 h 1286320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87546 w 1299828"/>
                <a:gd name="connsiteY26" fmla="*/ 1174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6126 w 1299828"/>
                <a:gd name="connsiteY56" fmla="*/ 75088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27526 w 1299828"/>
                <a:gd name="connsiteY64" fmla="*/ 198437 h 1278588"/>
                <a:gd name="connsiteX65" fmla="*/ 690366 w 1299828"/>
                <a:gd name="connsiteY65" fmla="*/ 21367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87546 w 1299828"/>
                <a:gd name="connsiteY26" fmla="*/ 1174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6126 w 1299828"/>
                <a:gd name="connsiteY56" fmla="*/ 75088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21367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87546 w 1299828"/>
                <a:gd name="connsiteY26" fmla="*/ 1174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6126 w 1299828"/>
                <a:gd name="connsiteY56" fmla="*/ 75088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19081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68496 w 1299828"/>
                <a:gd name="connsiteY26" fmla="*/ 412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6126 w 1299828"/>
                <a:gd name="connsiteY56" fmla="*/ 75088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19081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68496 w 1299828"/>
                <a:gd name="connsiteY26" fmla="*/ 412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2316 w 1299828"/>
                <a:gd name="connsiteY56" fmla="*/ 77755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19081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68496 w 1299828"/>
                <a:gd name="connsiteY26" fmla="*/ 412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08526 w 1299828"/>
                <a:gd name="connsiteY42" fmla="*/ 101377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2316 w 1299828"/>
                <a:gd name="connsiteY56" fmla="*/ 77755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19081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8701"/>
                <a:gd name="connsiteY0" fmla="*/ 1124267 h 1278588"/>
                <a:gd name="connsiteX1" fmla="*/ 57906 w 1298701"/>
                <a:gd name="connsiteY1" fmla="*/ 1036637 h 1278588"/>
                <a:gd name="connsiteX2" fmla="*/ 69336 w 1298701"/>
                <a:gd name="connsiteY2" fmla="*/ 941387 h 1278588"/>
                <a:gd name="connsiteX3" fmla="*/ 84576 w 1298701"/>
                <a:gd name="connsiteY3" fmla="*/ 888047 h 1278588"/>
                <a:gd name="connsiteX4" fmla="*/ 54096 w 1298701"/>
                <a:gd name="connsiteY4" fmla="*/ 838517 h 1278588"/>
                <a:gd name="connsiteX5" fmla="*/ 50286 w 1298701"/>
                <a:gd name="connsiteY5" fmla="*/ 716597 h 1278588"/>
                <a:gd name="connsiteX6" fmla="*/ 73146 w 1298701"/>
                <a:gd name="connsiteY6" fmla="*/ 689927 h 1278588"/>
                <a:gd name="connsiteX7" fmla="*/ 46476 w 1298701"/>
                <a:gd name="connsiteY7" fmla="*/ 670877 h 1278588"/>
                <a:gd name="connsiteX8" fmla="*/ 15996 w 1298701"/>
                <a:gd name="connsiteY8" fmla="*/ 598487 h 1278588"/>
                <a:gd name="connsiteX9" fmla="*/ 27426 w 1298701"/>
                <a:gd name="connsiteY9" fmla="*/ 529907 h 1278588"/>
                <a:gd name="connsiteX10" fmla="*/ 38856 w 1298701"/>
                <a:gd name="connsiteY10" fmla="*/ 487997 h 1278588"/>
                <a:gd name="connsiteX11" fmla="*/ 756 w 1298701"/>
                <a:gd name="connsiteY11" fmla="*/ 411797 h 1278588"/>
                <a:gd name="connsiteX12" fmla="*/ 15996 w 1298701"/>
                <a:gd name="connsiteY12" fmla="*/ 339407 h 1278588"/>
                <a:gd name="connsiteX13" fmla="*/ 46476 w 1298701"/>
                <a:gd name="connsiteY13" fmla="*/ 278447 h 1278588"/>
                <a:gd name="connsiteX14" fmla="*/ 35046 w 1298701"/>
                <a:gd name="connsiteY14" fmla="*/ 190817 h 1278588"/>
                <a:gd name="connsiteX15" fmla="*/ 76956 w 1298701"/>
                <a:gd name="connsiteY15" fmla="*/ 91757 h 1278588"/>
                <a:gd name="connsiteX16" fmla="*/ 153156 w 1298701"/>
                <a:gd name="connsiteY16" fmla="*/ 68897 h 1278588"/>
                <a:gd name="connsiteX17" fmla="*/ 240786 w 1298701"/>
                <a:gd name="connsiteY17" fmla="*/ 103187 h 1278588"/>
                <a:gd name="connsiteX18" fmla="*/ 309366 w 1298701"/>
                <a:gd name="connsiteY18" fmla="*/ 38417 h 1278588"/>
                <a:gd name="connsiteX19" fmla="*/ 438906 w 1298701"/>
                <a:gd name="connsiteY19" fmla="*/ 23177 h 1278588"/>
                <a:gd name="connsiteX20" fmla="*/ 480816 w 1298701"/>
                <a:gd name="connsiteY20" fmla="*/ 49847 h 1278588"/>
                <a:gd name="connsiteX21" fmla="*/ 545586 w 1298701"/>
                <a:gd name="connsiteY21" fmla="*/ 26987 h 1278588"/>
                <a:gd name="connsiteX22" fmla="*/ 690366 w 1298701"/>
                <a:gd name="connsiteY22" fmla="*/ 317 h 1278588"/>
                <a:gd name="connsiteX23" fmla="*/ 785616 w 1298701"/>
                <a:gd name="connsiteY23" fmla="*/ 46037 h 1278588"/>
                <a:gd name="connsiteX24" fmla="*/ 819906 w 1298701"/>
                <a:gd name="connsiteY24" fmla="*/ 30797 h 1278588"/>
                <a:gd name="connsiteX25" fmla="*/ 903726 w 1298701"/>
                <a:gd name="connsiteY25" fmla="*/ 11747 h 1278588"/>
                <a:gd name="connsiteX26" fmla="*/ 968496 w 1298701"/>
                <a:gd name="connsiteY26" fmla="*/ 4127 h 1278588"/>
                <a:gd name="connsiteX27" fmla="*/ 1052316 w 1298701"/>
                <a:gd name="connsiteY27" fmla="*/ 34607 h 1278588"/>
                <a:gd name="connsiteX28" fmla="*/ 1124706 w 1298701"/>
                <a:gd name="connsiteY28" fmla="*/ 7937 h 1278588"/>
                <a:gd name="connsiteX29" fmla="*/ 1181856 w 1298701"/>
                <a:gd name="connsiteY29" fmla="*/ 19367 h 1278588"/>
                <a:gd name="connsiteX30" fmla="*/ 1273296 w 1298701"/>
                <a:gd name="connsiteY30" fmla="*/ 84137 h 1278588"/>
                <a:gd name="connsiteX31" fmla="*/ 1265676 w 1298701"/>
                <a:gd name="connsiteY31" fmla="*/ 209867 h 1278588"/>
                <a:gd name="connsiteX32" fmla="*/ 1261866 w 1298701"/>
                <a:gd name="connsiteY32" fmla="*/ 255587 h 1278588"/>
                <a:gd name="connsiteX33" fmla="*/ 1296156 w 1298701"/>
                <a:gd name="connsiteY33" fmla="*/ 320357 h 1278588"/>
                <a:gd name="connsiteX34" fmla="*/ 1292346 w 1298701"/>
                <a:gd name="connsiteY34" fmla="*/ 427037 h 1278588"/>
                <a:gd name="connsiteX35" fmla="*/ 1261866 w 1298701"/>
                <a:gd name="connsiteY35" fmla="*/ 449897 h 1278588"/>
                <a:gd name="connsiteX36" fmla="*/ 1277106 w 1298701"/>
                <a:gd name="connsiteY36" fmla="*/ 529907 h 1278588"/>
                <a:gd name="connsiteX37" fmla="*/ 1284726 w 1298701"/>
                <a:gd name="connsiteY37" fmla="*/ 598487 h 1278588"/>
                <a:gd name="connsiteX38" fmla="*/ 1235196 w 1298701"/>
                <a:gd name="connsiteY38" fmla="*/ 670877 h 1278588"/>
                <a:gd name="connsiteX39" fmla="*/ 1261866 w 1298701"/>
                <a:gd name="connsiteY39" fmla="*/ 777557 h 1278588"/>
                <a:gd name="connsiteX40" fmla="*/ 1258056 w 1298701"/>
                <a:gd name="connsiteY40" fmla="*/ 849947 h 1278588"/>
                <a:gd name="connsiteX41" fmla="*/ 1227576 w 1298701"/>
                <a:gd name="connsiteY41" fmla="*/ 918527 h 1278588"/>
                <a:gd name="connsiteX42" fmla="*/ 1208526 w 1298701"/>
                <a:gd name="connsiteY42" fmla="*/ 1013777 h 1278588"/>
                <a:gd name="connsiteX43" fmla="*/ 1124706 w 1298701"/>
                <a:gd name="connsiteY43" fmla="*/ 1086167 h 1278588"/>
                <a:gd name="connsiteX44" fmla="*/ 998976 w 1298701"/>
                <a:gd name="connsiteY44" fmla="*/ 1105217 h 1278588"/>
                <a:gd name="connsiteX45" fmla="*/ 888486 w 1298701"/>
                <a:gd name="connsiteY45" fmla="*/ 1086167 h 1278588"/>
                <a:gd name="connsiteX46" fmla="*/ 892296 w 1298701"/>
                <a:gd name="connsiteY46" fmla="*/ 1185227 h 1278588"/>
                <a:gd name="connsiteX47" fmla="*/ 835146 w 1298701"/>
                <a:gd name="connsiteY47" fmla="*/ 1249997 h 1278588"/>
                <a:gd name="connsiteX48" fmla="*/ 697986 w 1298701"/>
                <a:gd name="connsiteY48" fmla="*/ 1272857 h 1278588"/>
                <a:gd name="connsiteX49" fmla="*/ 637026 w 1298701"/>
                <a:gd name="connsiteY49" fmla="*/ 1147127 h 1278588"/>
                <a:gd name="connsiteX50" fmla="*/ 682746 w 1298701"/>
                <a:gd name="connsiteY50" fmla="*/ 990917 h 1278588"/>
                <a:gd name="connsiteX51" fmla="*/ 816096 w 1298701"/>
                <a:gd name="connsiteY51" fmla="*/ 945197 h 1278588"/>
                <a:gd name="connsiteX52" fmla="*/ 922776 w 1298701"/>
                <a:gd name="connsiteY52" fmla="*/ 872807 h 1278588"/>
                <a:gd name="connsiteX53" fmla="*/ 972306 w 1298701"/>
                <a:gd name="connsiteY53" fmla="*/ 861377 h 1278588"/>
                <a:gd name="connsiteX54" fmla="*/ 1067556 w 1298701"/>
                <a:gd name="connsiteY54" fmla="*/ 903287 h 1278588"/>
                <a:gd name="connsiteX55" fmla="*/ 1075176 w 1298701"/>
                <a:gd name="connsiteY55" fmla="*/ 857567 h 1278588"/>
                <a:gd name="connsiteX56" fmla="*/ 1052316 w 1298701"/>
                <a:gd name="connsiteY56" fmla="*/ 777557 h 1278588"/>
                <a:gd name="connsiteX57" fmla="*/ 1075176 w 1298701"/>
                <a:gd name="connsiteY57" fmla="*/ 678497 h 1278588"/>
                <a:gd name="connsiteX58" fmla="*/ 1048506 w 1298701"/>
                <a:gd name="connsiteY58" fmla="*/ 556577 h 1278588"/>
                <a:gd name="connsiteX59" fmla="*/ 1086606 w 1298701"/>
                <a:gd name="connsiteY59" fmla="*/ 468947 h 1278588"/>
                <a:gd name="connsiteX60" fmla="*/ 1056126 w 1298701"/>
                <a:gd name="connsiteY60" fmla="*/ 396557 h 1278588"/>
                <a:gd name="connsiteX61" fmla="*/ 1082796 w 1298701"/>
                <a:gd name="connsiteY61" fmla="*/ 286067 h 1278588"/>
                <a:gd name="connsiteX62" fmla="*/ 1067556 w 1298701"/>
                <a:gd name="connsiteY62" fmla="*/ 198437 h 1278588"/>
                <a:gd name="connsiteX63" fmla="*/ 953256 w 1298701"/>
                <a:gd name="connsiteY63" fmla="*/ 209867 h 1278588"/>
                <a:gd name="connsiteX64" fmla="*/ 835146 w 1298701"/>
                <a:gd name="connsiteY64" fmla="*/ 175577 h 1278588"/>
                <a:gd name="connsiteX65" fmla="*/ 690366 w 1298701"/>
                <a:gd name="connsiteY65" fmla="*/ 190817 h 1278588"/>
                <a:gd name="connsiteX66" fmla="*/ 572256 w 1298701"/>
                <a:gd name="connsiteY66" fmla="*/ 175577 h 1278588"/>
                <a:gd name="connsiteX67" fmla="*/ 465576 w 1298701"/>
                <a:gd name="connsiteY67" fmla="*/ 217487 h 1278588"/>
                <a:gd name="connsiteX68" fmla="*/ 358896 w 1298701"/>
                <a:gd name="connsiteY68" fmla="*/ 221297 h 1278588"/>
                <a:gd name="connsiteX69" fmla="*/ 305556 w 1298701"/>
                <a:gd name="connsiteY69" fmla="*/ 263207 h 1278588"/>
                <a:gd name="connsiteX70" fmla="*/ 210306 w 1298701"/>
                <a:gd name="connsiteY70" fmla="*/ 263207 h 1278588"/>
                <a:gd name="connsiteX71" fmla="*/ 252216 w 1298701"/>
                <a:gd name="connsiteY71" fmla="*/ 335597 h 1278588"/>
                <a:gd name="connsiteX72" fmla="*/ 195066 w 1298701"/>
                <a:gd name="connsiteY72" fmla="*/ 453707 h 1278588"/>
                <a:gd name="connsiteX73" fmla="*/ 240786 w 1298701"/>
                <a:gd name="connsiteY73" fmla="*/ 545147 h 1278588"/>
                <a:gd name="connsiteX74" fmla="*/ 233166 w 1298701"/>
                <a:gd name="connsiteY74" fmla="*/ 659447 h 1278588"/>
                <a:gd name="connsiteX75" fmla="*/ 290316 w 1298701"/>
                <a:gd name="connsiteY75" fmla="*/ 773747 h 1278588"/>
                <a:gd name="connsiteX76" fmla="*/ 282696 w 1298701"/>
                <a:gd name="connsiteY76" fmla="*/ 861377 h 1278588"/>
                <a:gd name="connsiteX77" fmla="*/ 351276 w 1298701"/>
                <a:gd name="connsiteY77" fmla="*/ 899477 h 1278588"/>
                <a:gd name="connsiteX78" fmla="*/ 393186 w 1298701"/>
                <a:gd name="connsiteY78" fmla="*/ 1009967 h 1278588"/>
                <a:gd name="connsiteX79" fmla="*/ 259836 w 1298701"/>
                <a:gd name="connsiteY79" fmla="*/ 1124267 h 1278588"/>
                <a:gd name="connsiteX80" fmla="*/ 145536 w 1298701"/>
                <a:gd name="connsiteY80" fmla="*/ 1124267 h 127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298701" h="1278588">
                  <a:moveTo>
                    <a:pt x="145536" y="1124267"/>
                  </a:moveTo>
                  <a:cubicBezTo>
                    <a:pt x="111881" y="1109662"/>
                    <a:pt x="70606" y="1067117"/>
                    <a:pt x="57906" y="1036637"/>
                  </a:cubicBezTo>
                  <a:cubicBezTo>
                    <a:pt x="45206" y="1006157"/>
                    <a:pt x="64891" y="966152"/>
                    <a:pt x="69336" y="941387"/>
                  </a:cubicBezTo>
                  <a:cubicBezTo>
                    <a:pt x="73781" y="916622"/>
                    <a:pt x="87116" y="905192"/>
                    <a:pt x="84576" y="888047"/>
                  </a:cubicBezTo>
                  <a:cubicBezTo>
                    <a:pt x="82036" y="870902"/>
                    <a:pt x="59811" y="867092"/>
                    <a:pt x="54096" y="838517"/>
                  </a:cubicBezTo>
                  <a:cubicBezTo>
                    <a:pt x="48381" y="809942"/>
                    <a:pt x="47111" y="741362"/>
                    <a:pt x="50286" y="716597"/>
                  </a:cubicBezTo>
                  <a:cubicBezTo>
                    <a:pt x="53461" y="691832"/>
                    <a:pt x="73781" y="697547"/>
                    <a:pt x="73146" y="689927"/>
                  </a:cubicBezTo>
                  <a:cubicBezTo>
                    <a:pt x="72511" y="682307"/>
                    <a:pt x="56001" y="686117"/>
                    <a:pt x="46476" y="670877"/>
                  </a:cubicBezTo>
                  <a:cubicBezTo>
                    <a:pt x="36951" y="655637"/>
                    <a:pt x="19171" y="621982"/>
                    <a:pt x="15996" y="598487"/>
                  </a:cubicBezTo>
                  <a:cubicBezTo>
                    <a:pt x="12821" y="574992"/>
                    <a:pt x="23616" y="548322"/>
                    <a:pt x="27426" y="529907"/>
                  </a:cubicBezTo>
                  <a:cubicBezTo>
                    <a:pt x="31236" y="511492"/>
                    <a:pt x="43301" y="507682"/>
                    <a:pt x="38856" y="487997"/>
                  </a:cubicBezTo>
                  <a:cubicBezTo>
                    <a:pt x="34411" y="468312"/>
                    <a:pt x="4566" y="436562"/>
                    <a:pt x="756" y="411797"/>
                  </a:cubicBezTo>
                  <a:cubicBezTo>
                    <a:pt x="-3054" y="387032"/>
                    <a:pt x="8376" y="361632"/>
                    <a:pt x="15996" y="339407"/>
                  </a:cubicBezTo>
                  <a:cubicBezTo>
                    <a:pt x="23616" y="317182"/>
                    <a:pt x="43301" y="303212"/>
                    <a:pt x="46476" y="278447"/>
                  </a:cubicBezTo>
                  <a:cubicBezTo>
                    <a:pt x="49651" y="253682"/>
                    <a:pt x="29966" y="221932"/>
                    <a:pt x="35046" y="190817"/>
                  </a:cubicBezTo>
                  <a:cubicBezTo>
                    <a:pt x="40126" y="159702"/>
                    <a:pt x="57271" y="112077"/>
                    <a:pt x="76956" y="91757"/>
                  </a:cubicBezTo>
                  <a:cubicBezTo>
                    <a:pt x="96641" y="71437"/>
                    <a:pt x="125851" y="66992"/>
                    <a:pt x="153156" y="68897"/>
                  </a:cubicBezTo>
                  <a:cubicBezTo>
                    <a:pt x="180461" y="70802"/>
                    <a:pt x="214751" y="108267"/>
                    <a:pt x="240786" y="103187"/>
                  </a:cubicBezTo>
                  <a:cubicBezTo>
                    <a:pt x="266821" y="98107"/>
                    <a:pt x="276346" y="51752"/>
                    <a:pt x="309366" y="38417"/>
                  </a:cubicBezTo>
                  <a:cubicBezTo>
                    <a:pt x="342386" y="25082"/>
                    <a:pt x="410331" y="21272"/>
                    <a:pt x="438906" y="23177"/>
                  </a:cubicBezTo>
                  <a:cubicBezTo>
                    <a:pt x="467481" y="25082"/>
                    <a:pt x="463036" y="49212"/>
                    <a:pt x="480816" y="49847"/>
                  </a:cubicBezTo>
                  <a:cubicBezTo>
                    <a:pt x="498596" y="50482"/>
                    <a:pt x="510661" y="35242"/>
                    <a:pt x="545586" y="26987"/>
                  </a:cubicBezTo>
                  <a:cubicBezTo>
                    <a:pt x="580511" y="18732"/>
                    <a:pt x="650361" y="-2858"/>
                    <a:pt x="690366" y="317"/>
                  </a:cubicBezTo>
                  <a:cubicBezTo>
                    <a:pt x="730371" y="3492"/>
                    <a:pt x="764026" y="40957"/>
                    <a:pt x="785616" y="46037"/>
                  </a:cubicBezTo>
                  <a:cubicBezTo>
                    <a:pt x="807206" y="51117"/>
                    <a:pt x="800221" y="36512"/>
                    <a:pt x="819906" y="30797"/>
                  </a:cubicBezTo>
                  <a:cubicBezTo>
                    <a:pt x="839591" y="25082"/>
                    <a:pt x="878961" y="16192"/>
                    <a:pt x="903726" y="11747"/>
                  </a:cubicBezTo>
                  <a:cubicBezTo>
                    <a:pt x="928491" y="7302"/>
                    <a:pt x="943731" y="317"/>
                    <a:pt x="968496" y="4127"/>
                  </a:cubicBezTo>
                  <a:cubicBezTo>
                    <a:pt x="993261" y="7937"/>
                    <a:pt x="1026281" y="33972"/>
                    <a:pt x="1052316" y="34607"/>
                  </a:cubicBezTo>
                  <a:cubicBezTo>
                    <a:pt x="1078351" y="35242"/>
                    <a:pt x="1103116" y="10477"/>
                    <a:pt x="1124706" y="7937"/>
                  </a:cubicBezTo>
                  <a:cubicBezTo>
                    <a:pt x="1146296" y="5397"/>
                    <a:pt x="1157091" y="6667"/>
                    <a:pt x="1181856" y="19367"/>
                  </a:cubicBezTo>
                  <a:cubicBezTo>
                    <a:pt x="1206621" y="32067"/>
                    <a:pt x="1259326" y="52387"/>
                    <a:pt x="1273296" y="84137"/>
                  </a:cubicBezTo>
                  <a:cubicBezTo>
                    <a:pt x="1287266" y="115887"/>
                    <a:pt x="1267581" y="181292"/>
                    <a:pt x="1265676" y="209867"/>
                  </a:cubicBezTo>
                  <a:cubicBezTo>
                    <a:pt x="1263771" y="238442"/>
                    <a:pt x="1256786" y="237172"/>
                    <a:pt x="1261866" y="255587"/>
                  </a:cubicBezTo>
                  <a:cubicBezTo>
                    <a:pt x="1266946" y="274002"/>
                    <a:pt x="1291076" y="291782"/>
                    <a:pt x="1296156" y="320357"/>
                  </a:cubicBezTo>
                  <a:cubicBezTo>
                    <a:pt x="1301236" y="348932"/>
                    <a:pt x="1298061" y="405447"/>
                    <a:pt x="1292346" y="427037"/>
                  </a:cubicBezTo>
                  <a:cubicBezTo>
                    <a:pt x="1286631" y="448627"/>
                    <a:pt x="1264406" y="432752"/>
                    <a:pt x="1261866" y="449897"/>
                  </a:cubicBezTo>
                  <a:cubicBezTo>
                    <a:pt x="1259326" y="467042"/>
                    <a:pt x="1273296" y="505142"/>
                    <a:pt x="1277106" y="529907"/>
                  </a:cubicBezTo>
                  <a:cubicBezTo>
                    <a:pt x="1280916" y="554672"/>
                    <a:pt x="1291711" y="574992"/>
                    <a:pt x="1284726" y="598487"/>
                  </a:cubicBezTo>
                  <a:cubicBezTo>
                    <a:pt x="1277741" y="621982"/>
                    <a:pt x="1239006" y="641032"/>
                    <a:pt x="1235196" y="670877"/>
                  </a:cubicBezTo>
                  <a:cubicBezTo>
                    <a:pt x="1231386" y="700722"/>
                    <a:pt x="1258056" y="747712"/>
                    <a:pt x="1261866" y="777557"/>
                  </a:cubicBezTo>
                  <a:cubicBezTo>
                    <a:pt x="1265676" y="807402"/>
                    <a:pt x="1263771" y="826452"/>
                    <a:pt x="1258056" y="849947"/>
                  </a:cubicBezTo>
                  <a:cubicBezTo>
                    <a:pt x="1252341" y="873442"/>
                    <a:pt x="1235831" y="891222"/>
                    <a:pt x="1227576" y="918527"/>
                  </a:cubicBezTo>
                  <a:cubicBezTo>
                    <a:pt x="1219321" y="945832"/>
                    <a:pt x="1225671" y="985837"/>
                    <a:pt x="1208526" y="1013777"/>
                  </a:cubicBezTo>
                  <a:cubicBezTo>
                    <a:pt x="1191381" y="1041717"/>
                    <a:pt x="1159631" y="1070927"/>
                    <a:pt x="1124706" y="1086167"/>
                  </a:cubicBezTo>
                  <a:cubicBezTo>
                    <a:pt x="1089781" y="1101407"/>
                    <a:pt x="1038346" y="1105217"/>
                    <a:pt x="998976" y="1105217"/>
                  </a:cubicBezTo>
                  <a:cubicBezTo>
                    <a:pt x="959606" y="1105217"/>
                    <a:pt x="906266" y="1072832"/>
                    <a:pt x="888486" y="1086167"/>
                  </a:cubicBezTo>
                  <a:cubicBezTo>
                    <a:pt x="870706" y="1099502"/>
                    <a:pt x="901186" y="1157922"/>
                    <a:pt x="892296" y="1185227"/>
                  </a:cubicBezTo>
                  <a:cubicBezTo>
                    <a:pt x="883406" y="1212532"/>
                    <a:pt x="867531" y="1235392"/>
                    <a:pt x="835146" y="1249997"/>
                  </a:cubicBezTo>
                  <a:cubicBezTo>
                    <a:pt x="802761" y="1264602"/>
                    <a:pt x="731006" y="1290002"/>
                    <a:pt x="697986" y="1272857"/>
                  </a:cubicBezTo>
                  <a:cubicBezTo>
                    <a:pt x="664966" y="1255712"/>
                    <a:pt x="639566" y="1194117"/>
                    <a:pt x="637026" y="1147127"/>
                  </a:cubicBezTo>
                  <a:cubicBezTo>
                    <a:pt x="634486" y="1100137"/>
                    <a:pt x="652901" y="1024572"/>
                    <a:pt x="682746" y="990917"/>
                  </a:cubicBezTo>
                  <a:cubicBezTo>
                    <a:pt x="712591" y="957262"/>
                    <a:pt x="776091" y="964882"/>
                    <a:pt x="816096" y="945197"/>
                  </a:cubicBezTo>
                  <a:cubicBezTo>
                    <a:pt x="856101" y="925512"/>
                    <a:pt x="896741" y="886777"/>
                    <a:pt x="922776" y="872807"/>
                  </a:cubicBezTo>
                  <a:cubicBezTo>
                    <a:pt x="948811" y="858837"/>
                    <a:pt x="951986" y="853122"/>
                    <a:pt x="972306" y="861377"/>
                  </a:cubicBezTo>
                  <a:cubicBezTo>
                    <a:pt x="992626" y="869632"/>
                    <a:pt x="1050411" y="903922"/>
                    <a:pt x="1067556" y="903287"/>
                  </a:cubicBezTo>
                  <a:cubicBezTo>
                    <a:pt x="1084701" y="902652"/>
                    <a:pt x="1077716" y="878522"/>
                    <a:pt x="1075176" y="857567"/>
                  </a:cubicBezTo>
                  <a:cubicBezTo>
                    <a:pt x="1072636" y="836612"/>
                    <a:pt x="1052316" y="807402"/>
                    <a:pt x="1052316" y="777557"/>
                  </a:cubicBezTo>
                  <a:cubicBezTo>
                    <a:pt x="1052316" y="747712"/>
                    <a:pt x="1075811" y="715327"/>
                    <a:pt x="1075176" y="678497"/>
                  </a:cubicBezTo>
                  <a:cubicBezTo>
                    <a:pt x="1074541" y="641667"/>
                    <a:pt x="1046601" y="591502"/>
                    <a:pt x="1048506" y="556577"/>
                  </a:cubicBezTo>
                  <a:cubicBezTo>
                    <a:pt x="1050411" y="521652"/>
                    <a:pt x="1085336" y="495617"/>
                    <a:pt x="1086606" y="468947"/>
                  </a:cubicBezTo>
                  <a:cubicBezTo>
                    <a:pt x="1087876" y="442277"/>
                    <a:pt x="1056761" y="427037"/>
                    <a:pt x="1056126" y="396557"/>
                  </a:cubicBezTo>
                  <a:cubicBezTo>
                    <a:pt x="1055491" y="366077"/>
                    <a:pt x="1080891" y="319087"/>
                    <a:pt x="1082796" y="286067"/>
                  </a:cubicBezTo>
                  <a:cubicBezTo>
                    <a:pt x="1084701" y="253047"/>
                    <a:pt x="1089146" y="211137"/>
                    <a:pt x="1067556" y="198437"/>
                  </a:cubicBezTo>
                  <a:cubicBezTo>
                    <a:pt x="1045966" y="185737"/>
                    <a:pt x="991991" y="213677"/>
                    <a:pt x="953256" y="209867"/>
                  </a:cubicBezTo>
                  <a:cubicBezTo>
                    <a:pt x="914521" y="206057"/>
                    <a:pt x="878961" y="178752"/>
                    <a:pt x="835146" y="175577"/>
                  </a:cubicBezTo>
                  <a:cubicBezTo>
                    <a:pt x="791331" y="172402"/>
                    <a:pt x="734181" y="190817"/>
                    <a:pt x="690366" y="190817"/>
                  </a:cubicBezTo>
                  <a:cubicBezTo>
                    <a:pt x="646551" y="190817"/>
                    <a:pt x="609721" y="171132"/>
                    <a:pt x="572256" y="175577"/>
                  </a:cubicBezTo>
                  <a:cubicBezTo>
                    <a:pt x="534791" y="180022"/>
                    <a:pt x="501136" y="209867"/>
                    <a:pt x="465576" y="217487"/>
                  </a:cubicBezTo>
                  <a:cubicBezTo>
                    <a:pt x="430016" y="225107"/>
                    <a:pt x="385566" y="213677"/>
                    <a:pt x="358896" y="221297"/>
                  </a:cubicBezTo>
                  <a:cubicBezTo>
                    <a:pt x="332226" y="228917"/>
                    <a:pt x="330321" y="256222"/>
                    <a:pt x="305556" y="263207"/>
                  </a:cubicBezTo>
                  <a:cubicBezTo>
                    <a:pt x="280791" y="270192"/>
                    <a:pt x="219196" y="251142"/>
                    <a:pt x="210306" y="263207"/>
                  </a:cubicBezTo>
                  <a:cubicBezTo>
                    <a:pt x="201416" y="275272"/>
                    <a:pt x="254756" y="303847"/>
                    <a:pt x="252216" y="335597"/>
                  </a:cubicBezTo>
                  <a:cubicBezTo>
                    <a:pt x="249676" y="367347"/>
                    <a:pt x="196971" y="418782"/>
                    <a:pt x="195066" y="453707"/>
                  </a:cubicBezTo>
                  <a:cubicBezTo>
                    <a:pt x="193161" y="488632"/>
                    <a:pt x="234436" y="510857"/>
                    <a:pt x="240786" y="545147"/>
                  </a:cubicBezTo>
                  <a:cubicBezTo>
                    <a:pt x="247136" y="579437"/>
                    <a:pt x="224911" y="621347"/>
                    <a:pt x="233166" y="659447"/>
                  </a:cubicBezTo>
                  <a:cubicBezTo>
                    <a:pt x="241421" y="697547"/>
                    <a:pt x="282061" y="740092"/>
                    <a:pt x="290316" y="773747"/>
                  </a:cubicBezTo>
                  <a:cubicBezTo>
                    <a:pt x="298571" y="807402"/>
                    <a:pt x="272536" y="840422"/>
                    <a:pt x="282696" y="861377"/>
                  </a:cubicBezTo>
                  <a:cubicBezTo>
                    <a:pt x="292856" y="882332"/>
                    <a:pt x="332861" y="874712"/>
                    <a:pt x="351276" y="899477"/>
                  </a:cubicBezTo>
                  <a:cubicBezTo>
                    <a:pt x="369691" y="924242"/>
                    <a:pt x="408426" y="972502"/>
                    <a:pt x="393186" y="1009967"/>
                  </a:cubicBezTo>
                  <a:cubicBezTo>
                    <a:pt x="377946" y="1047432"/>
                    <a:pt x="301111" y="1105217"/>
                    <a:pt x="259836" y="1124267"/>
                  </a:cubicBezTo>
                  <a:cubicBezTo>
                    <a:pt x="218561" y="1143317"/>
                    <a:pt x="179191" y="1138872"/>
                    <a:pt x="145536" y="1124267"/>
                  </a:cubicBezTo>
                  <a:close/>
                </a:path>
              </a:pathLst>
            </a:custGeom>
            <a:solidFill>
              <a:srgbClr val="EAC8C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tIns="18288" rIns="457200" bIns="18288" rtlCol="0" anchor="ctr"/>
            <a:lstStyle/>
            <a:p>
              <a:pPr algn="ctr"/>
              <a:endParaRPr lang="en-US"/>
            </a:p>
          </p:txBody>
        </p:sp>
      </p:grpSp>
      <p:sp>
        <p:nvSpPr>
          <p:cNvPr id="246" name="NAGMA -renal">
            <a:extLst>
              <a:ext uri="{FF2B5EF4-FFF2-40B4-BE49-F238E27FC236}">
                <a16:creationId xmlns:a16="http://schemas.microsoft.com/office/drawing/2014/main" id="{C380F56D-815D-44EA-B700-E974C42BF02B}"/>
              </a:ext>
            </a:extLst>
          </p:cNvPr>
          <p:cNvSpPr txBox="1"/>
          <p:nvPr/>
        </p:nvSpPr>
        <p:spPr>
          <a:xfrm>
            <a:off x="2620159" y="4911768"/>
            <a:ext cx="1576022" cy="11695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↑ Cl</a:t>
            </a:r>
            <a:r>
              <a:rPr lang="en-US" sz="1400" baseline="30000" dirty="0"/>
              <a:t>-</a:t>
            </a:r>
            <a:r>
              <a:rPr lang="en-US" sz="1400" dirty="0"/>
              <a:t> (excess NS)</a:t>
            </a:r>
          </a:p>
          <a:p>
            <a:pPr algn="ctr"/>
            <a:r>
              <a:rPr lang="en-US" sz="1400" dirty="0"/>
              <a:t>RTA</a:t>
            </a:r>
          </a:p>
          <a:p>
            <a:pPr algn="ctr"/>
            <a:r>
              <a:rPr lang="en-US" sz="1400" dirty="0"/>
              <a:t>Early renal failure</a:t>
            </a:r>
          </a:p>
          <a:p>
            <a:pPr algn="ctr"/>
            <a:r>
              <a:rPr lang="en-US" sz="1400" dirty="0"/>
              <a:t>↓ aldosterone</a:t>
            </a:r>
          </a:p>
          <a:p>
            <a:pPr algn="ctr"/>
            <a:r>
              <a:rPr lang="en-US" sz="1400" dirty="0"/>
              <a:t>Acetazolamide </a:t>
            </a:r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2BB4D1E-C4CA-46AE-9774-C32A49B85F1A}"/>
              </a:ext>
            </a:extLst>
          </p:cNvPr>
          <p:cNvGrpSpPr/>
          <p:nvPr/>
        </p:nvGrpSpPr>
        <p:grpSpPr>
          <a:xfrm>
            <a:off x="2899828" y="3635027"/>
            <a:ext cx="984840" cy="1268039"/>
            <a:chOff x="2093066" y="3548891"/>
            <a:chExt cx="991768" cy="1268039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B7112A76-9A30-4372-9206-38314E431895}"/>
                </a:ext>
              </a:extLst>
            </p:cNvPr>
            <p:cNvSpPr txBox="1"/>
            <p:nvPr/>
          </p:nvSpPr>
          <p:spPr>
            <a:xfrm>
              <a:off x="2093066" y="3548891"/>
              <a:ext cx="991768" cy="1268039"/>
            </a:xfrm>
            <a:prstGeom prst="roundRect">
              <a:avLst>
                <a:gd name="adj" fmla="val 0"/>
              </a:avLst>
            </a:prstGeom>
            <a:ln/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Positive</a:t>
              </a:r>
            </a:p>
            <a:p>
              <a:pPr algn="ctr"/>
              <a:endParaRPr lang="en-US" sz="1200" dirty="0"/>
            </a:p>
            <a:p>
              <a:pPr algn="ctr"/>
              <a:endParaRPr lang="en-US" sz="1200" dirty="0"/>
            </a:p>
            <a:p>
              <a:pPr algn="ctr"/>
              <a:endParaRPr lang="en-US" sz="1600" dirty="0"/>
            </a:p>
            <a:p>
              <a:pPr algn="ctr"/>
              <a:r>
                <a:rPr lang="en-US" sz="1200" dirty="0"/>
                <a:t>Renal loss of HCO</a:t>
              </a:r>
              <a:r>
                <a:rPr lang="en-US" sz="1200" baseline="-25000" dirty="0"/>
                <a:t>3</a:t>
              </a:r>
              <a:r>
                <a:rPr lang="en-US" sz="1200" baseline="30000" dirty="0"/>
                <a:t>-</a:t>
              </a:r>
              <a:endParaRPr lang="en-US" sz="1200" dirty="0"/>
            </a:p>
          </p:txBody>
        </p:sp>
        <p:grpSp>
          <p:nvGrpSpPr>
            <p:cNvPr id="251" name="Kidney">
              <a:extLst>
                <a:ext uri="{FF2B5EF4-FFF2-40B4-BE49-F238E27FC236}">
                  <a16:creationId xmlns:a16="http://schemas.microsoft.com/office/drawing/2014/main" id="{B22048BF-4675-4154-B320-F75DE4486656}"/>
                </a:ext>
              </a:extLst>
            </p:cNvPr>
            <p:cNvGrpSpPr/>
            <p:nvPr/>
          </p:nvGrpSpPr>
          <p:grpSpPr>
            <a:xfrm>
              <a:off x="2233584" y="3822150"/>
              <a:ext cx="544375" cy="568761"/>
              <a:chOff x="1188727" y="3718499"/>
              <a:chExt cx="882267" cy="1209853"/>
            </a:xfrm>
          </p:grpSpPr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7561E343-CE9A-4DD8-B687-EF0E0326C72F}"/>
                  </a:ext>
                </a:extLst>
              </p:cNvPr>
              <p:cNvSpPr/>
              <p:nvPr/>
            </p:nvSpPr>
            <p:spPr>
              <a:xfrm>
                <a:off x="1188727" y="3718499"/>
                <a:ext cx="607786" cy="1088648"/>
              </a:xfrm>
              <a:custGeom>
                <a:avLst/>
                <a:gdLst>
                  <a:gd name="connsiteX0" fmla="*/ 554951 w 607785"/>
                  <a:gd name="connsiteY0" fmla="*/ 119064 h 1088648"/>
                  <a:gd name="connsiteX1" fmla="*/ 434635 w 607785"/>
                  <a:gd name="connsiteY1" fmla="*/ 22812 h 1088648"/>
                  <a:gd name="connsiteX2" fmla="*/ 242130 w 607785"/>
                  <a:gd name="connsiteY2" fmla="*/ 22812 h 1088648"/>
                  <a:gd name="connsiteX3" fmla="*/ 73688 w 607785"/>
                  <a:gd name="connsiteY3" fmla="*/ 275475 h 1088648"/>
                  <a:gd name="connsiteX4" fmla="*/ 1498 w 607785"/>
                  <a:gd name="connsiteY4" fmla="*/ 624391 h 1088648"/>
                  <a:gd name="connsiteX5" fmla="*/ 133846 w 607785"/>
                  <a:gd name="connsiteY5" fmla="*/ 997369 h 1088648"/>
                  <a:gd name="connsiteX6" fmla="*/ 422604 w 607785"/>
                  <a:gd name="connsiteY6" fmla="*/ 1081591 h 1088648"/>
                  <a:gd name="connsiteX7" fmla="*/ 603077 w 607785"/>
                  <a:gd name="connsiteY7" fmla="*/ 865022 h 1088648"/>
                  <a:gd name="connsiteX8" fmla="*/ 554951 w 607785"/>
                  <a:gd name="connsiteY8" fmla="*/ 612359 h 1088648"/>
                  <a:gd name="connsiteX9" fmla="*/ 554951 w 607785"/>
                  <a:gd name="connsiteY9" fmla="*/ 395791 h 1088648"/>
                  <a:gd name="connsiteX10" fmla="*/ 603077 w 607785"/>
                  <a:gd name="connsiteY10" fmla="*/ 263443 h 1088648"/>
                  <a:gd name="connsiteX11" fmla="*/ 554951 w 607785"/>
                  <a:gd name="connsiteY11" fmla="*/ 119064 h 108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7785" h="1088648">
                    <a:moveTo>
                      <a:pt x="554951" y="119064"/>
                    </a:moveTo>
                    <a:cubicBezTo>
                      <a:pt x="526877" y="78959"/>
                      <a:pt x="486772" y="38854"/>
                      <a:pt x="434635" y="22812"/>
                    </a:cubicBezTo>
                    <a:cubicBezTo>
                      <a:pt x="382498" y="6770"/>
                      <a:pt x="302288" y="-19299"/>
                      <a:pt x="242130" y="22812"/>
                    </a:cubicBezTo>
                    <a:cubicBezTo>
                      <a:pt x="181972" y="64923"/>
                      <a:pt x="113793" y="175212"/>
                      <a:pt x="73688" y="275475"/>
                    </a:cubicBezTo>
                    <a:cubicBezTo>
                      <a:pt x="33583" y="375738"/>
                      <a:pt x="-8528" y="504075"/>
                      <a:pt x="1498" y="624391"/>
                    </a:cubicBezTo>
                    <a:cubicBezTo>
                      <a:pt x="11524" y="744707"/>
                      <a:pt x="63662" y="921169"/>
                      <a:pt x="133846" y="997369"/>
                    </a:cubicBezTo>
                    <a:cubicBezTo>
                      <a:pt x="204030" y="1073569"/>
                      <a:pt x="344399" y="1103649"/>
                      <a:pt x="422604" y="1081591"/>
                    </a:cubicBezTo>
                    <a:cubicBezTo>
                      <a:pt x="500809" y="1059533"/>
                      <a:pt x="581019" y="943227"/>
                      <a:pt x="603077" y="865022"/>
                    </a:cubicBezTo>
                    <a:cubicBezTo>
                      <a:pt x="625135" y="786817"/>
                      <a:pt x="562972" y="690564"/>
                      <a:pt x="554951" y="612359"/>
                    </a:cubicBezTo>
                    <a:cubicBezTo>
                      <a:pt x="546930" y="534154"/>
                      <a:pt x="546930" y="453944"/>
                      <a:pt x="554951" y="395791"/>
                    </a:cubicBezTo>
                    <a:cubicBezTo>
                      <a:pt x="562972" y="337638"/>
                      <a:pt x="603077" y="307559"/>
                      <a:pt x="603077" y="263443"/>
                    </a:cubicBezTo>
                    <a:cubicBezTo>
                      <a:pt x="603077" y="219327"/>
                      <a:pt x="583025" y="159169"/>
                      <a:pt x="554951" y="119064"/>
                    </a:cubicBezTo>
                    <a:close/>
                  </a:path>
                </a:pathLst>
              </a:custGeom>
              <a:solidFill>
                <a:srgbClr val="C7394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057AF805-EDDF-4B69-8A83-03CD999F3227}"/>
                  </a:ext>
                </a:extLst>
              </p:cNvPr>
              <p:cNvSpPr/>
              <p:nvPr/>
            </p:nvSpPr>
            <p:spPr>
              <a:xfrm>
                <a:off x="1358171" y="3882269"/>
                <a:ext cx="712823" cy="1046083"/>
              </a:xfrm>
              <a:custGeom>
                <a:avLst/>
                <a:gdLst>
                  <a:gd name="connsiteX0" fmla="*/ 352220 w 749508"/>
                  <a:gd name="connsiteY0" fmla="*/ 207414 h 973885"/>
                  <a:gd name="connsiteX1" fmla="*/ 207841 w 749508"/>
                  <a:gd name="connsiteY1" fmla="*/ 63035 h 973885"/>
                  <a:gd name="connsiteX2" fmla="*/ 171746 w 749508"/>
                  <a:gd name="connsiteY2" fmla="*/ 2877 h 973885"/>
                  <a:gd name="connsiteX3" fmla="*/ 87525 w 749508"/>
                  <a:gd name="connsiteY3" fmla="*/ 147256 h 973885"/>
                  <a:gd name="connsiteX4" fmla="*/ 171746 w 749508"/>
                  <a:gd name="connsiteY4" fmla="*/ 267572 h 973885"/>
                  <a:gd name="connsiteX5" fmla="*/ 195809 w 749508"/>
                  <a:gd name="connsiteY5" fmla="*/ 267572 h 973885"/>
                  <a:gd name="connsiteX6" fmla="*/ 63462 w 749508"/>
                  <a:gd name="connsiteY6" fmla="*/ 303666 h 973885"/>
                  <a:gd name="connsiteX7" fmla="*/ 15335 w 749508"/>
                  <a:gd name="connsiteY7" fmla="*/ 291635 h 973885"/>
                  <a:gd name="connsiteX8" fmla="*/ 15335 w 749508"/>
                  <a:gd name="connsiteY8" fmla="*/ 520235 h 973885"/>
                  <a:gd name="connsiteX9" fmla="*/ 195809 w 749508"/>
                  <a:gd name="connsiteY9" fmla="*/ 448045 h 973885"/>
                  <a:gd name="connsiteX10" fmla="*/ 147683 w 749508"/>
                  <a:gd name="connsiteY10" fmla="*/ 628519 h 973885"/>
                  <a:gd name="connsiteX11" fmla="*/ 195809 w 749508"/>
                  <a:gd name="connsiteY11" fmla="*/ 688677 h 973885"/>
                  <a:gd name="connsiteX12" fmla="*/ 267998 w 749508"/>
                  <a:gd name="connsiteY12" fmla="*/ 700709 h 973885"/>
                  <a:gd name="connsiteX13" fmla="*/ 316125 w 749508"/>
                  <a:gd name="connsiteY13" fmla="*/ 496172 h 973885"/>
                  <a:gd name="connsiteX14" fmla="*/ 472535 w 749508"/>
                  <a:gd name="connsiteY14" fmla="*/ 436014 h 973885"/>
                  <a:gd name="connsiteX15" fmla="*/ 713167 w 749508"/>
                  <a:gd name="connsiteY15" fmla="*/ 881182 h 973885"/>
                  <a:gd name="connsiteX16" fmla="*/ 713167 w 749508"/>
                  <a:gd name="connsiteY16" fmla="*/ 941340 h 973885"/>
                  <a:gd name="connsiteX17" fmla="*/ 725198 w 749508"/>
                  <a:gd name="connsiteY17" fmla="*/ 484140 h 973885"/>
                  <a:gd name="connsiteX18" fmla="*/ 352220 w 749508"/>
                  <a:gd name="connsiteY18" fmla="*/ 207414 h 973885"/>
                  <a:gd name="connsiteX0" fmla="*/ 366890 w 764178"/>
                  <a:gd name="connsiteY0" fmla="*/ 207414 h 973885"/>
                  <a:gd name="connsiteX1" fmla="*/ 222511 w 764178"/>
                  <a:gd name="connsiteY1" fmla="*/ 63035 h 973885"/>
                  <a:gd name="connsiteX2" fmla="*/ 186416 w 764178"/>
                  <a:gd name="connsiteY2" fmla="*/ 2877 h 973885"/>
                  <a:gd name="connsiteX3" fmla="*/ 102195 w 764178"/>
                  <a:gd name="connsiteY3" fmla="*/ 147256 h 973885"/>
                  <a:gd name="connsiteX4" fmla="*/ 186416 w 764178"/>
                  <a:gd name="connsiteY4" fmla="*/ 267572 h 973885"/>
                  <a:gd name="connsiteX5" fmla="*/ 210479 w 764178"/>
                  <a:gd name="connsiteY5" fmla="*/ 267572 h 973885"/>
                  <a:gd name="connsiteX6" fmla="*/ 78132 w 764178"/>
                  <a:gd name="connsiteY6" fmla="*/ 303666 h 973885"/>
                  <a:gd name="connsiteX7" fmla="*/ 4605 w 764178"/>
                  <a:gd name="connsiteY7" fmla="*/ 301795 h 973885"/>
                  <a:gd name="connsiteX8" fmla="*/ 30005 w 764178"/>
                  <a:gd name="connsiteY8" fmla="*/ 520235 h 973885"/>
                  <a:gd name="connsiteX9" fmla="*/ 210479 w 764178"/>
                  <a:gd name="connsiteY9" fmla="*/ 448045 h 973885"/>
                  <a:gd name="connsiteX10" fmla="*/ 162353 w 764178"/>
                  <a:gd name="connsiteY10" fmla="*/ 628519 h 973885"/>
                  <a:gd name="connsiteX11" fmla="*/ 210479 w 764178"/>
                  <a:gd name="connsiteY11" fmla="*/ 688677 h 973885"/>
                  <a:gd name="connsiteX12" fmla="*/ 282668 w 764178"/>
                  <a:gd name="connsiteY12" fmla="*/ 700709 h 973885"/>
                  <a:gd name="connsiteX13" fmla="*/ 330795 w 764178"/>
                  <a:gd name="connsiteY13" fmla="*/ 496172 h 973885"/>
                  <a:gd name="connsiteX14" fmla="*/ 487205 w 764178"/>
                  <a:gd name="connsiteY14" fmla="*/ 436014 h 973885"/>
                  <a:gd name="connsiteX15" fmla="*/ 727837 w 764178"/>
                  <a:gd name="connsiteY15" fmla="*/ 881182 h 973885"/>
                  <a:gd name="connsiteX16" fmla="*/ 727837 w 764178"/>
                  <a:gd name="connsiteY16" fmla="*/ 941340 h 973885"/>
                  <a:gd name="connsiteX17" fmla="*/ 739868 w 764178"/>
                  <a:gd name="connsiteY17" fmla="*/ 484140 h 973885"/>
                  <a:gd name="connsiteX18" fmla="*/ 366890 w 764178"/>
                  <a:gd name="connsiteY18" fmla="*/ 207414 h 973885"/>
                  <a:gd name="connsiteX0" fmla="*/ 365010 w 762298"/>
                  <a:gd name="connsiteY0" fmla="*/ 207414 h 973885"/>
                  <a:gd name="connsiteX1" fmla="*/ 220631 w 762298"/>
                  <a:gd name="connsiteY1" fmla="*/ 63035 h 973885"/>
                  <a:gd name="connsiteX2" fmla="*/ 184536 w 762298"/>
                  <a:gd name="connsiteY2" fmla="*/ 2877 h 973885"/>
                  <a:gd name="connsiteX3" fmla="*/ 100315 w 762298"/>
                  <a:gd name="connsiteY3" fmla="*/ 147256 h 973885"/>
                  <a:gd name="connsiteX4" fmla="*/ 184536 w 762298"/>
                  <a:gd name="connsiteY4" fmla="*/ 267572 h 973885"/>
                  <a:gd name="connsiteX5" fmla="*/ 208599 w 762298"/>
                  <a:gd name="connsiteY5" fmla="*/ 267572 h 973885"/>
                  <a:gd name="connsiteX6" fmla="*/ 50852 w 762298"/>
                  <a:gd name="connsiteY6" fmla="*/ 278266 h 973885"/>
                  <a:gd name="connsiteX7" fmla="*/ 2725 w 762298"/>
                  <a:gd name="connsiteY7" fmla="*/ 301795 h 973885"/>
                  <a:gd name="connsiteX8" fmla="*/ 28125 w 762298"/>
                  <a:gd name="connsiteY8" fmla="*/ 520235 h 973885"/>
                  <a:gd name="connsiteX9" fmla="*/ 208599 w 762298"/>
                  <a:gd name="connsiteY9" fmla="*/ 448045 h 973885"/>
                  <a:gd name="connsiteX10" fmla="*/ 160473 w 762298"/>
                  <a:gd name="connsiteY10" fmla="*/ 628519 h 973885"/>
                  <a:gd name="connsiteX11" fmla="*/ 208599 w 762298"/>
                  <a:gd name="connsiteY11" fmla="*/ 688677 h 973885"/>
                  <a:gd name="connsiteX12" fmla="*/ 280788 w 762298"/>
                  <a:gd name="connsiteY12" fmla="*/ 700709 h 973885"/>
                  <a:gd name="connsiteX13" fmla="*/ 328915 w 762298"/>
                  <a:gd name="connsiteY13" fmla="*/ 496172 h 973885"/>
                  <a:gd name="connsiteX14" fmla="*/ 485325 w 762298"/>
                  <a:gd name="connsiteY14" fmla="*/ 436014 h 973885"/>
                  <a:gd name="connsiteX15" fmla="*/ 725957 w 762298"/>
                  <a:gd name="connsiteY15" fmla="*/ 881182 h 973885"/>
                  <a:gd name="connsiteX16" fmla="*/ 725957 w 762298"/>
                  <a:gd name="connsiteY16" fmla="*/ 941340 h 973885"/>
                  <a:gd name="connsiteX17" fmla="*/ 737988 w 762298"/>
                  <a:gd name="connsiteY17" fmla="*/ 484140 h 973885"/>
                  <a:gd name="connsiteX18" fmla="*/ 365010 w 762298"/>
                  <a:gd name="connsiteY18" fmla="*/ 207414 h 973885"/>
                  <a:gd name="connsiteX0" fmla="*/ 365010 w 762298"/>
                  <a:gd name="connsiteY0" fmla="*/ 207414 h 973885"/>
                  <a:gd name="connsiteX1" fmla="*/ 220631 w 762298"/>
                  <a:gd name="connsiteY1" fmla="*/ 63035 h 973885"/>
                  <a:gd name="connsiteX2" fmla="*/ 184536 w 762298"/>
                  <a:gd name="connsiteY2" fmla="*/ 2877 h 973885"/>
                  <a:gd name="connsiteX3" fmla="*/ 100315 w 762298"/>
                  <a:gd name="connsiteY3" fmla="*/ 147256 h 973885"/>
                  <a:gd name="connsiteX4" fmla="*/ 184536 w 762298"/>
                  <a:gd name="connsiteY4" fmla="*/ 267572 h 973885"/>
                  <a:gd name="connsiteX5" fmla="*/ 218759 w 762298"/>
                  <a:gd name="connsiteY5" fmla="*/ 287892 h 973885"/>
                  <a:gd name="connsiteX6" fmla="*/ 50852 w 762298"/>
                  <a:gd name="connsiteY6" fmla="*/ 278266 h 973885"/>
                  <a:gd name="connsiteX7" fmla="*/ 2725 w 762298"/>
                  <a:gd name="connsiteY7" fmla="*/ 301795 h 973885"/>
                  <a:gd name="connsiteX8" fmla="*/ 28125 w 762298"/>
                  <a:gd name="connsiteY8" fmla="*/ 520235 h 973885"/>
                  <a:gd name="connsiteX9" fmla="*/ 208599 w 762298"/>
                  <a:gd name="connsiteY9" fmla="*/ 448045 h 973885"/>
                  <a:gd name="connsiteX10" fmla="*/ 160473 w 762298"/>
                  <a:gd name="connsiteY10" fmla="*/ 628519 h 973885"/>
                  <a:gd name="connsiteX11" fmla="*/ 208599 w 762298"/>
                  <a:gd name="connsiteY11" fmla="*/ 688677 h 973885"/>
                  <a:gd name="connsiteX12" fmla="*/ 280788 w 762298"/>
                  <a:gd name="connsiteY12" fmla="*/ 700709 h 973885"/>
                  <a:gd name="connsiteX13" fmla="*/ 328915 w 762298"/>
                  <a:gd name="connsiteY13" fmla="*/ 496172 h 973885"/>
                  <a:gd name="connsiteX14" fmla="*/ 485325 w 762298"/>
                  <a:gd name="connsiteY14" fmla="*/ 436014 h 973885"/>
                  <a:gd name="connsiteX15" fmla="*/ 725957 w 762298"/>
                  <a:gd name="connsiteY15" fmla="*/ 881182 h 973885"/>
                  <a:gd name="connsiteX16" fmla="*/ 725957 w 762298"/>
                  <a:gd name="connsiteY16" fmla="*/ 941340 h 973885"/>
                  <a:gd name="connsiteX17" fmla="*/ 737988 w 762298"/>
                  <a:gd name="connsiteY17" fmla="*/ 484140 h 973885"/>
                  <a:gd name="connsiteX18" fmla="*/ 365010 w 762298"/>
                  <a:gd name="connsiteY18" fmla="*/ 207414 h 973885"/>
                  <a:gd name="connsiteX0" fmla="*/ 365010 w 762298"/>
                  <a:gd name="connsiteY0" fmla="*/ 204584 h 971055"/>
                  <a:gd name="connsiteX1" fmla="*/ 220631 w 762298"/>
                  <a:gd name="connsiteY1" fmla="*/ 60205 h 971055"/>
                  <a:gd name="connsiteX2" fmla="*/ 184536 w 762298"/>
                  <a:gd name="connsiteY2" fmla="*/ 47 h 971055"/>
                  <a:gd name="connsiteX3" fmla="*/ 39355 w 762298"/>
                  <a:gd name="connsiteY3" fmla="*/ 68226 h 971055"/>
                  <a:gd name="connsiteX4" fmla="*/ 184536 w 762298"/>
                  <a:gd name="connsiteY4" fmla="*/ 264742 h 971055"/>
                  <a:gd name="connsiteX5" fmla="*/ 218759 w 762298"/>
                  <a:gd name="connsiteY5" fmla="*/ 285062 h 971055"/>
                  <a:gd name="connsiteX6" fmla="*/ 50852 w 762298"/>
                  <a:gd name="connsiteY6" fmla="*/ 275436 h 971055"/>
                  <a:gd name="connsiteX7" fmla="*/ 2725 w 762298"/>
                  <a:gd name="connsiteY7" fmla="*/ 298965 h 971055"/>
                  <a:gd name="connsiteX8" fmla="*/ 28125 w 762298"/>
                  <a:gd name="connsiteY8" fmla="*/ 517405 h 971055"/>
                  <a:gd name="connsiteX9" fmla="*/ 208599 w 762298"/>
                  <a:gd name="connsiteY9" fmla="*/ 445215 h 971055"/>
                  <a:gd name="connsiteX10" fmla="*/ 160473 w 762298"/>
                  <a:gd name="connsiteY10" fmla="*/ 625689 h 971055"/>
                  <a:gd name="connsiteX11" fmla="*/ 208599 w 762298"/>
                  <a:gd name="connsiteY11" fmla="*/ 685847 h 971055"/>
                  <a:gd name="connsiteX12" fmla="*/ 280788 w 762298"/>
                  <a:gd name="connsiteY12" fmla="*/ 697879 h 971055"/>
                  <a:gd name="connsiteX13" fmla="*/ 328915 w 762298"/>
                  <a:gd name="connsiteY13" fmla="*/ 493342 h 971055"/>
                  <a:gd name="connsiteX14" fmla="*/ 485325 w 762298"/>
                  <a:gd name="connsiteY14" fmla="*/ 433184 h 971055"/>
                  <a:gd name="connsiteX15" fmla="*/ 725957 w 762298"/>
                  <a:gd name="connsiteY15" fmla="*/ 878352 h 971055"/>
                  <a:gd name="connsiteX16" fmla="*/ 725957 w 762298"/>
                  <a:gd name="connsiteY16" fmla="*/ 938510 h 971055"/>
                  <a:gd name="connsiteX17" fmla="*/ 737988 w 762298"/>
                  <a:gd name="connsiteY17" fmla="*/ 481310 h 971055"/>
                  <a:gd name="connsiteX18" fmla="*/ 365010 w 762298"/>
                  <a:gd name="connsiteY18" fmla="*/ 204584 h 971055"/>
                  <a:gd name="connsiteX0" fmla="*/ 365010 w 762298"/>
                  <a:gd name="connsiteY0" fmla="*/ 252091 h 1018562"/>
                  <a:gd name="connsiteX1" fmla="*/ 230791 w 762298"/>
                  <a:gd name="connsiteY1" fmla="*/ 11192 h 1018562"/>
                  <a:gd name="connsiteX2" fmla="*/ 184536 w 762298"/>
                  <a:gd name="connsiteY2" fmla="*/ 47554 h 1018562"/>
                  <a:gd name="connsiteX3" fmla="*/ 39355 w 762298"/>
                  <a:gd name="connsiteY3" fmla="*/ 115733 h 1018562"/>
                  <a:gd name="connsiteX4" fmla="*/ 184536 w 762298"/>
                  <a:gd name="connsiteY4" fmla="*/ 312249 h 1018562"/>
                  <a:gd name="connsiteX5" fmla="*/ 218759 w 762298"/>
                  <a:gd name="connsiteY5" fmla="*/ 332569 h 1018562"/>
                  <a:gd name="connsiteX6" fmla="*/ 50852 w 762298"/>
                  <a:gd name="connsiteY6" fmla="*/ 322943 h 1018562"/>
                  <a:gd name="connsiteX7" fmla="*/ 2725 w 762298"/>
                  <a:gd name="connsiteY7" fmla="*/ 346472 h 1018562"/>
                  <a:gd name="connsiteX8" fmla="*/ 28125 w 762298"/>
                  <a:gd name="connsiteY8" fmla="*/ 564912 h 1018562"/>
                  <a:gd name="connsiteX9" fmla="*/ 208599 w 762298"/>
                  <a:gd name="connsiteY9" fmla="*/ 492722 h 1018562"/>
                  <a:gd name="connsiteX10" fmla="*/ 160473 w 762298"/>
                  <a:gd name="connsiteY10" fmla="*/ 673196 h 1018562"/>
                  <a:gd name="connsiteX11" fmla="*/ 208599 w 762298"/>
                  <a:gd name="connsiteY11" fmla="*/ 733354 h 1018562"/>
                  <a:gd name="connsiteX12" fmla="*/ 280788 w 762298"/>
                  <a:gd name="connsiteY12" fmla="*/ 745386 h 1018562"/>
                  <a:gd name="connsiteX13" fmla="*/ 328915 w 762298"/>
                  <a:gd name="connsiteY13" fmla="*/ 540849 h 1018562"/>
                  <a:gd name="connsiteX14" fmla="*/ 485325 w 762298"/>
                  <a:gd name="connsiteY14" fmla="*/ 480691 h 1018562"/>
                  <a:gd name="connsiteX15" fmla="*/ 725957 w 762298"/>
                  <a:gd name="connsiteY15" fmla="*/ 925859 h 1018562"/>
                  <a:gd name="connsiteX16" fmla="*/ 725957 w 762298"/>
                  <a:gd name="connsiteY16" fmla="*/ 986017 h 1018562"/>
                  <a:gd name="connsiteX17" fmla="*/ 737988 w 762298"/>
                  <a:gd name="connsiteY17" fmla="*/ 528817 h 1018562"/>
                  <a:gd name="connsiteX18" fmla="*/ 365010 w 762298"/>
                  <a:gd name="connsiteY18" fmla="*/ 252091 h 1018562"/>
                  <a:gd name="connsiteX0" fmla="*/ 365010 w 762298"/>
                  <a:gd name="connsiteY0" fmla="*/ 257298 h 1023769"/>
                  <a:gd name="connsiteX1" fmla="*/ 230791 w 762298"/>
                  <a:gd name="connsiteY1" fmla="*/ 16399 h 1023769"/>
                  <a:gd name="connsiteX2" fmla="*/ 154056 w 762298"/>
                  <a:gd name="connsiteY2" fmla="*/ 32441 h 1023769"/>
                  <a:gd name="connsiteX3" fmla="*/ 39355 w 762298"/>
                  <a:gd name="connsiteY3" fmla="*/ 120940 h 1023769"/>
                  <a:gd name="connsiteX4" fmla="*/ 184536 w 762298"/>
                  <a:gd name="connsiteY4" fmla="*/ 317456 h 1023769"/>
                  <a:gd name="connsiteX5" fmla="*/ 218759 w 762298"/>
                  <a:gd name="connsiteY5" fmla="*/ 337776 h 1023769"/>
                  <a:gd name="connsiteX6" fmla="*/ 50852 w 762298"/>
                  <a:gd name="connsiteY6" fmla="*/ 328150 h 1023769"/>
                  <a:gd name="connsiteX7" fmla="*/ 2725 w 762298"/>
                  <a:gd name="connsiteY7" fmla="*/ 351679 h 1023769"/>
                  <a:gd name="connsiteX8" fmla="*/ 28125 w 762298"/>
                  <a:gd name="connsiteY8" fmla="*/ 570119 h 1023769"/>
                  <a:gd name="connsiteX9" fmla="*/ 208599 w 762298"/>
                  <a:gd name="connsiteY9" fmla="*/ 497929 h 1023769"/>
                  <a:gd name="connsiteX10" fmla="*/ 160473 w 762298"/>
                  <a:gd name="connsiteY10" fmla="*/ 678403 h 1023769"/>
                  <a:gd name="connsiteX11" fmla="*/ 208599 w 762298"/>
                  <a:gd name="connsiteY11" fmla="*/ 738561 h 1023769"/>
                  <a:gd name="connsiteX12" fmla="*/ 280788 w 762298"/>
                  <a:gd name="connsiteY12" fmla="*/ 750593 h 1023769"/>
                  <a:gd name="connsiteX13" fmla="*/ 328915 w 762298"/>
                  <a:gd name="connsiteY13" fmla="*/ 546056 h 1023769"/>
                  <a:gd name="connsiteX14" fmla="*/ 485325 w 762298"/>
                  <a:gd name="connsiteY14" fmla="*/ 485898 h 1023769"/>
                  <a:gd name="connsiteX15" fmla="*/ 725957 w 762298"/>
                  <a:gd name="connsiteY15" fmla="*/ 931066 h 1023769"/>
                  <a:gd name="connsiteX16" fmla="*/ 725957 w 762298"/>
                  <a:gd name="connsiteY16" fmla="*/ 991224 h 1023769"/>
                  <a:gd name="connsiteX17" fmla="*/ 737988 w 762298"/>
                  <a:gd name="connsiteY17" fmla="*/ 534024 h 1023769"/>
                  <a:gd name="connsiteX18" fmla="*/ 365010 w 762298"/>
                  <a:gd name="connsiteY18" fmla="*/ 257298 h 1023769"/>
                  <a:gd name="connsiteX0" fmla="*/ 365010 w 762298"/>
                  <a:gd name="connsiteY0" fmla="*/ 252092 h 1018563"/>
                  <a:gd name="connsiteX1" fmla="*/ 230791 w 762298"/>
                  <a:gd name="connsiteY1" fmla="*/ 11193 h 1018563"/>
                  <a:gd name="connsiteX2" fmla="*/ 148976 w 762298"/>
                  <a:gd name="connsiteY2" fmla="*/ 47555 h 1018563"/>
                  <a:gd name="connsiteX3" fmla="*/ 39355 w 762298"/>
                  <a:gd name="connsiteY3" fmla="*/ 115734 h 1018563"/>
                  <a:gd name="connsiteX4" fmla="*/ 184536 w 762298"/>
                  <a:gd name="connsiteY4" fmla="*/ 312250 h 1018563"/>
                  <a:gd name="connsiteX5" fmla="*/ 218759 w 762298"/>
                  <a:gd name="connsiteY5" fmla="*/ 332570 h 1018563"/>
                  <a:gd name="connsiteX6" fmla="*/ 50852 w 762298"/>
                  <a:gd name="connsiteY6" fmla="*/ 322944 h 1018563"/>
                  <a:gd name="connsiteX7" fmla="*/ 2725 w 762298"/>
                  <a:gd name="connsiteY7" fmla="*/ 346473 h 1018563"/>
                  <a:gd name="connsiteX8" fmla="*/ 28125 w 762298"/>
                  <a:gd name="connsiteY8" fmla="*/ 564913 h 1018563"/>
                  <a:gd name="connsiteX9" fmla="*/ 208599 w 762298"/>
                  <a:gd name="connsiteY9" fmla="*/ 492723 h 1018563"/>
                  <a:gd name="connsiteX10" fmla="*/ 160473 w 762298"/>
                  <a:gd name="connsiteY10" fmla="*/ 673197 h 1018563"/>
                  <a:gd name="connsiteX11" fmla="*/ 208599 w 762298"/>
                  <a:gd name="connsiteY11" fmla="*/ 733355 h 1018563"/>
                  <a:gd name="connsiteX12" fmla="*/ 280788 w 762298"/>
                  <a:gd name="connsiteY12" fmla="*/ 745387 h 1018563"/>
                  <a:gd name="connsiteX13" fmla="*/ 328915 w 762298"/>
                  <a:gd name="connsiteY13" fmla="*/ 540850 h 1018563"/>
                  <a:gd name="connsiteX14" fmla="*/ 485325 w 762298"/>
                  <a:gd name="connsiteY14" fmla="*/ 480692 h 1018563"/>
                  <a:gd name="connsiteX15" fmla="*/ 725957 w 762298"/>
                  <a:gd name="connsiteY15" fmla="*/ 925860 h 1018563"/>
                  <a:gd name="connsiteX16" fmla="*/ 725957 w 762298"/>
                  <a:gd name="connsiteY16" fmla="*/ 986018 h 1018563"/>
                  <a:gd name="connsiteX17" fmla="*/ 737988 w 762298"/>
                  <a:gd name="connsiteY17" fmla="*/ 528818 h 1018563"/>
                  <a:gd name="connsiteX18" fmla="*/ 365010 w 762298"/>
                  <a:gd name="connsiteY18" fmla="*/ 252092 h 1018563"/>
                  <a:gd name="connsiteX0" fmla="*/ 365010 w 762298"/>
                  <a:gd name="connsiteY0" fmla="*/ 279841 h 1046312"/>
                  <a:gd name="connsiteX1" fmla="*/ 220631 w 762298"/>
                  <a:gd name="connsiteY1" fmla="*/ 8462 h 1046312"/>
                  <a:gd name="connsiteX2" fmla="*/ 148976 w 762298"/>
                  <a:gd name="connsiteY2" fmla="*/ 75304 h 1046312"/>
                  <a:gd name="connsiteX3" fmla="*/ 39355 w 762298"/>
                  <a:gd name="connsiteY3" fmla="*/ 143483 h 1046312"/>
                  <a:gd name="connsiteX4" fmla="*/ 184536 w 762298"/>
                  <a:gd name="connsiteY4" fmla="*/ 339999 h 1046312"/>
                  <a:gd name="connsiteX5" fmla="*/ 218759 w 762298"/>
                  <a:gd name="connsiteY5" fmla="*/ 360319 h 1046312"/>
                  <a:gd name="connsiteX6" fmla="*/ 50852 w 762298"/>
                  <a:gd name="connsiteY6" fmla="*/ 350693 h 1046312"/>
                  <a:gd name="connsiteX7" fmla="*/ 2725 w 762298"/>
                  <a:gd name="connsiteY7" fmla="*/ 374222 h 1046312"/>
                  <a:gd name="connsiteX8" fmla="*/ 28125 w 762298"/>
                  <a:gd name="connsiteY8" fmla="*/ 592662 h 1046312"/>
                  <a:gd name="connsiteX9" fmla="*/ 208599 w 762298"/>
                  <a:gd name="connsiteY9" fmla="*/ 520472 h 1046312"/>
                  <a:gd name="connsiteX10" fmla="*/ 160473 w 762298"/>
                  <a:gd name="connsiteY10" fmla="*/ 700946 h 1046312"/>
                  <a:gd name="connsiteX11" fmla="*/ 208599 w 762298"/>
                  <a:gd name="connsiteY11" fmla="*/ 761104 h 1046312"/>
                  <a:gd name="connsiteX12" fmla="*/ 280788 w 762298"/>
                  <a:gd name="connsiteY12" fmla="*/ 773136 h 1046312"/>
                  <a:gd name="connsiteX13" fmla="*/ 328915 w 762298"/>
                  <a:gd name="connsiteY13" fmla="*/ 568599 h 1046312"/>
                  <a:gd name="connsiteX14" fmla="*/ 485325 w 762298"/>
                  <a:gd name="connsiteY14" fmla="*/ 508441 h 1046312"/>
                  <a:gd name="connsiteX15" fmla="*/ 725957 w 762298"/>
                  <a:gd name="connsiteY15" fmla="*/ 953609 h 1046312"/>
                  <a:gd name="connsiteX16" fmla="*/ 725957 w 762298"/>
                  <a:gd name="connsiteY16" fmla="*/ 1013767 h 1046312"/>
                  <a:gd name="connsiteX17" fmla="*/ 737988 w 762298"/>
                  <a:gd name="connsiteY17" fmla="*/ 556567 h 1046312"/>
                  <a:gd name="connsiteX18" fmla="*/ 365010 w 762298"/>
                  <a:gd name="connsiteY18" fmla="*/ 279841 h 1046312"/>
                  <a:gd name="connsiteX0" fmla="*/ 365010 w 762298"/>
                  <a:gd name="connsiteY0" fmla="*/ 279841 h 1046312"/>
                  <a:gd name="connsiteX1" fmla="*/ 220631 w 762298"/>
                  <a:gd name="connsiteY1" fmla="*/ 8462 h 1046312"/>
                  <a:gd name="connsiteX2" fmla="*/ 148976 w 762298"/>
                  <a:gd name="connsiteY2" fmla="*/ 75304 h 1046312"/>
                  <a:gd name="connsiteX3" fmla="*/ 39355 w 762298"/>
                  <a:gd name="connsiteY3" fmla="*/ 143483 h 1046312"/>
                  <a:gd name="connsiteX4" fmla="*/ 184536 w 762298"/>
                  <a:gd name="connsiteY4" fmla="*/ 339999 h 1046312"/>
                  <a:gd name="connsiteX5" fmla="*/ 218759 w 762298"/>
                  <a:gd name="connsiteY5" fmla="*/ 339999 h 1046312"/>
                  <a:gd name="connsiteX6" fmla="*/ 50852 w 762298"/>
                  <a:gd name="connsiteY6" fmla="*/ 350693 h 1046312"/>
                  <a:gd name="connsiteX7" fmla="*/ 2725 w 762298"/>
                  <a:gd name="connsiteY7" fmla="*/ 374222 h 1046312"/>
                  <a:gd name="connsiteX8" fmla="*/ 28125 w 762298"/>
                  <a:gd name="connsiteY8" fmla="*/ 592662 h 1046312"/>
                  <a:gd name="connsiteX9" fmla="*/ 208599 w 762298"/>
                  <a:gd name="connsiteY9" fmla="*/ 520472 h 1046312"/>
                  <a:gd name="connsiteX10" fmla="*/ 160473 w 762298"/>
                  <a:gd name="connsiteY10" fmla="*/ 700946 h 1046312"/>
                  <a:gd name="connsiteX11" fmla="*/ 208599 w 762298"/>
                  <a:gd name="connsiteY11" fmla="*/ 761104 h 1046312"/>
                  <a:gd name="connsiteX12" fmla="*/ 280788 w 762298"/>
                  <a:gd name="connsiteY12" fmla="*/ 773136 h 1046312"/>
                  <a:gd name="connsiteX13" fmla="*/ 328915 w 762298"/>
                  <a:gd name="connsiteY13" fmla="*/ 568599 h 1046312"/>
                  <a:gd name="connsiteX14" fmla="*/ 485325 w 762298"/>
                  <a:gd name="connsiteY14" fmla="*/ 508441 h 1046312"/>
                  <a:gd name="connsiteX15" fmla="*/ 725957 w 762298"/>
                  <a:gd name="connsiteY15" fmla="*/ 953609 h 1046312"/>
                  <a:gd name="connsiteX16" fmla="*/ 725957 w 762298"/>
                  <a:gd name="connsiteY16" fmla="*/ 1013767 h 1046312"/>
                  <a:gd name="connsiteX17" fmla="*/ 737988 w 762298"/>
                  <a:gd name="connsiteY17" fmla="*/ 556567 h 1046312"/>
                  <a:gd name="connsiteX18" fmla="*/ 365010 w 762298"/>
                  <a:gd name="connsiteY18" fmla="*/ 279841 h 1046312"/>
                  <a:gd name="connsiteX0" fmla="*/ 388225 w 785513"/>
                  <a:gd name="connsiteY0" fmla="*/ 279841 h 1046312"/>
                  <a:gd name="connsiteX1" fmla="*/ 243846 w 785513"/>
                  <a:gd name="connsiteY1" fmla="*/ 8462 h 1046312"/>
                  <a:gd name="connsiteX2" fmla="*/ 172191 w 785513"/>
                  <a:gd name="connsiteY2" fmla="*/ 75304 h 1046312"/>
                  <a:gd name="connsiteX3" fmla="*/ 62570 w 785513"/>
                  <a:gd name="connsiteY3" fmla="*/ 143483 h 1046312"/>
                  <a:gd name="connsiteX4" fmla="*/ 207751 w 785513"/>
                  <a:gd name="connsiteY4" fmla="*/ 339999 h 1046312"/>
                  <a:gd name="connsiteX5" fmla="*/ 241974 w 785513"/>
                  <a:gd name="connsiteY5" fmla="*/ 339999 h 1046312"/>
                  <a:gd name="connsiteX6" fmla="*/ 74067 w 785513"/>
                  <a:gd name="connsiteY6" fmla="*/ 350693 h 1046312"/>
                  <a:gd name="connsiteX7" fmla="*/ 540 w 785513"/>
                  <a:gd name="connsiteY7" fmla="*/ 358982 h 1046312"/>
                  <a:gd name="connsiteX8" fmla="*/ 51340 w 785513"/>
                  <a:gd name="connsiteY8" fmla="*/ 592662 h 1046312"/>
                  <a:gd name="connsiteX9" fmla="*/ 231814 w 785513"/>
                  <a:gd name="connsiteY9" fmla="*/ 520472 h 1046312"/>
                  <a:gd name="connsiteX10" fmla="*/ 183688 w 785513"/>
                  <a:gd name="connsiteY10" fmla="*/ 700946 h 1046312"/>
                  <a:gd name="connsiteX11" fmla="*/ 231814 w 785513"/>
                  <a:gd name="connsiteY11" fmla="*/ 761104 h 1046312"/>
                  <a:gd name="connsiteX12" fmla="*/ 304003 w 785513"/>
                  <a:gd name="connsiteY12" fmla="*/ 773136 h 1046312"/>
                  <a:gd name="connsiteX13" fmla="*/ 352130 w 785513"/>
                  <a:gd name="connsiteY13" fmla="*/ 568599 h 1046312"/>
                  <a:gd name="connsiteX14" fmla="*/ 508540 w 785513"/>
                  <a:gd name="connsiteY14" fmla="*/ 508441 h 1046312"/>
                  <a:gd name="connsiteX15" fmla="*/ 749172 w 785513"/>
                  <a:gd name="connsiteY15" fmla="*/ 953609 h 1046312"/>
                  <a:gd name="connsiteX16" fmla="*/ 749172 w 785513"/>
                  <a:gd name="connsiteY16" fmla="*/ 1013767 h 1046312"/>
                  <a:gd name="connsiteX17" fmla="*/ 761203 w 785513"/>
                  <a:gd name="connsiteY17" fmla="*/ 556567 h 1046312"/>
                  <a:gd name="connsiteX18" fmla="*/ 388225 w 785513"/>
                  <a:gd name="connsiteY18" fmla="*/ 279841 h 1046312"/>
                  <a:gd name="connsiteX0" fmla="*/ 398586 w 795874"/>
                  <a:gd name="connsiteY0" fmla="*/ 279841 h 1046312"/>
                  <a:gd name="connsiteX1" fmla="*/ 254207 w 795874"/>
                  <a:gd name="connsiteY1" fmla="*/ 8462 h 1046312"/>
                  <a:gd name="connsiteX2" fmla="*/ 182552 w 795874"/>
                  <a:gd name="connsiteY2" fmla="*/ 75304 h 1046312"/>
                  <a:gd name="connsiteX3" fmla="*/ 72931 w 795874"/>
                  <a:gd name="connsiteY3" fmla="*/ 143483 h 1046312"/>
                  <a:gd name="connsiteX4" fmla="*/ 218112 w 795874"/>
                  <a:gd name="connsiteY4" fmla="*/ 339999 h 1046312"/>
                  <a:gd name="connsiteX5" fmla="*/ 252335 w 795874"/>
                  <a:gd name="connsiteY5" fmla="*/ 339999 h 1046312"/>
                  <a:gd name="connsiteX6" fmla="*/ 10901 w 795874"/>
                  <a:gd name="connsiteY6" fmla="*/ 358982 h 1046312"/>
                  <a:gd name="connsiteX7" fmla="*/ 61701 w 795874"/>
                  <a:gd name="connsiteY7" fmla="*/ 592662 h 1046312"/>
                  <a:gd name="connsiteX8" fmla="*/ 242175 w 795874"/>
                  <a:gd name="connsiteY8" fmla="*/ 520472 h 1046312"/>
                  <a:gd name="connsiteX9" fmla="*/ 194049 w 795874"/>
                  <a:gd name="connsiteY9" fmla="*/ 700946 h 1046312"/>
                  <a:gd name="connsiteX10" fmla="*/ 242175 w 795874"/>
                  <a:gd name="connsiteY10" fmla="*/ 761104 h 1046312"/>
                  <a:gd name="connsiteX11" fmla="*/ 314364 w 795874"/>
                  <a:gd name="connsiteY11" fmla="*/ 773136 h 1046312"/>
                  <a:gd name="connsiteX12" fmla="*/ 362491 w 795874"/>
                  <a:gd name="connsiteY12" fmla="*/ 568599 h 1046312"/>
                  <a:gd name="connsiteX13" fmla="*/ 518901 w 795874"/>
                  <a:gd name="connsiteY13" fmla="*/ 508441 h 1046312"/>
                  <a:gd name="connsiteX14" fmla="*/ 759533 w 795874"/>
                  <a:gd name="connsiteY14" fmla="*/ 953609 h 1046312"/>
                  <a:gd name="connsiteX15" fmla="*/ 759533 w 795874"/>
                  <a:gd name="connsiteY15" fmla="*/ 1013767 h 1046312"/>
                  <a:gd name="connsiteX16" fmla="*/ 771564 w 795874"/>
                  <a:gd name="connsiteY16" fmla="*/ 556567 h 1046312"/>
                  <a:gd name="connsiteX17" fmla="*/ 398586 w 795874"/>
                  <a:gd name="connsiteY17" fmla="*/ 279841 h 1046312"/>
                  <a:gd name="connsiteX0" fmla="*/ 398586 w 795874"/>
                  <a:gd name="connsiteY0" fmla="*/ 279841 h 1046312"/>
                  <a:gd name="connsiteX1" fmla="*/ 254207 w 795874"/>
                  <a:gd name="connsiteY1" fmla="*/ 8462 h 1046312"/>
                  <a:gd name="connsiteX2" fmla="*/ 182552 w 795874"/>
                  <a:gd name="connsiteY2" fmla="*/ 75304 h 1046312"/>
                  <a:gd name="connsiteX3" fmla="*/ 72931 w 795874"/>
                  <a:gd name="connsiteY3" fmla="*/ 143483 h 1046312"/>
                  <a:gd name="connsiteX4" fmla="*/ 252335 w 795874"/>
                  <a:gd name="connsiteY4" fmla="*/ 339999 h 1046312"/>
                  <a:gd name="connsiteX5" fmla="*/ 10901 w 795874"/>
                  <a:gd name="connsiteY5" fmla="*/ 358982 h 1046312"/>
                  <a:gd name="connsiteX6" fmla="*/ 61701 w 795874"/>
                  <a:gd name="connsiteY6" fmla="*/ 592662 h 1046312"/>
                  <a:gd name="connsiteX7" fmla="*/ 242175 w 795874"/>
                  <a:gd name="connsiteY7" fmla="*/ 520472 h 1046312"/>
                  <a:gd name="connsiteX8" fmla="*/ 194049 w 795874"/>
                  <a:gd name="connsiteY8" fmla="*/ 700946 h 1046312"/>
                  <a:gd name="connsiteX9" fmla="*/ 242175 w 795874"/>
                  <a:gd name="connsiteY9" fmla="*/ 761104 h 1046312"/>
                  <a:gd name="connsiteX10" fmla="*/ 314364 w 795874"/>
                  <a:gd name="connsiteY10" fmla="*/ 773136 h 1046312"/>
                  <a:gd name="connsiteX11" fmla="*/ 362491 w 795874"/>
                  <a:gd name="connsiteY11" fmla="*/ 568599 h 1046312"/>
                  <a:gd name="connsiteX12" fmla="*/ 518901 w 795874"/>
                  <a:gd name="connsiteY12" fmla="*/ 508441 h 1046312"/>
                  <a:gd name="connsiteX13" fmla="*/ 759533 w 795874"/>
                  <a:gd name="connsiteY13" fmla="*/ 953609 h 1046312"/>
                  <a:gd name="connsiteX14" fmla="*/ 759533 w 795874"/>
                  <a:gd name="connsiteY14" fmla="*/ 1013767 h 1046312"/>
                  <a:gd name="connsiteX15" fmla="*/ 771564 w 795874"/>
                  <a:gd name="connsiteY15" fmla="*/ 556567 h 1046312"/>
                  <a:gd name="connsiteX16" fmla="*/ 398586 w 795874"/>
                  <a:gd name="connsiteY16" fmla="*/ 279841 h 1046312"/>
                  <a:gd name="connsiteX0" fmla="*/ 398586 w 795874"/>
                  <a:gd name="connsiteY0" fmla="*/ 279841 h 1046312"/>
                  <a:gd name="connsiteX1" fmla="*/ 254207 w 795874"/>
                  <a:gd name="connsiteY1" fmla="*/ 8462 h 1046312"/>
                  <a:gd name="connsiteX2" fmla="*/ 182552 w 795874"/>
                  <a:gd name="connsiteY2" fmla="*/ 75304 h 1046312"/>
                  <a:gd name="connsiteX3" fmla="*/ 72931 w 795874"/>
                  <a:gd name="connsiteY3" fmla="*/ 143483 h 1046312"/>
                  <a:gd name="connsiteX4" fmla="*/ 252335 w 795874"/>
                  <a:gd name="connsiteY4" fmla="*/ 339999 h 1046312"/>
                  <a:gd name="connsiteX5" fmla="*/ 10901 w 795874"/>
                  <a:gd name="connsiteY5" fmla="*/ 358982 h 1046312"/>
                  <a:gd name="connsiteX6" fmla="*/ 61701 w 795874"/>
                  <a:gd name="connsiteY6" fmla="*/ 592662 h 1046312"/>
                  <a:gd name="connsiteX7" fmla="*/ 242175 w 795874"/>
                  <a:gd name="connsiteY7" fmla="*/ 520472 h 1046312"/>
                  <a:gd name="connsiteX8" fmla="*/ 138169 w 795874"/>
                  <a:gd name="connsiteY8" fmla="*/ 690786 h 1046312"/>
                  <a:gd name="connsiteX9" fmla="*/ 242175 w 795874"/>
                  <a:gd name="connsiteY9" fmla="*/ 761104 h 1046312"/>
                  <a:gd name="connsiteX10" fmla="*/ 314364 w 795874"/>
                  <a:gd name="connsiteY10" fmla="*/ 773136 h 1046312"/>
                  <a:gd name="connsiteX11" fmla="*/ 362491 w 795874"/>
                  <a:gd name="connsiteY11" fmla="*/ 568599 h 1046312"/>
                  <a:gd name="connsiteX12" fmla="*/ 518901 w 795874"/>
                  <a:gd name="connsiteY12" fmla="*/ 508441 h 1046312"/>
                  <a:gd name="connsiteX13" fmla="*/ 759533 w 795874"/>
                  <a:gd name="connsiteY13" fmla="*/ 953609 h 1046312"/>
                  <a:gd name="connsiteX14" fmla="*/ 759533 w 795874"/>
                  <a:gd name="connsiteY14" fmla="*/ 1013767 h 1046312"/>
                  <a:gd name="connsiteX15" fmla="*/ 771564 w 795874"/>
                  <a:gd name="connsiteY15" fmla="*/ 556567 h 1046312"/>
                  <a:gd name="connsiteX16" fmla="*/ 398586 w 795874"/>
                  <a:gd name="connsiteY16" fmla="*/ 279841 h 1046312"/>
                  <a:gd name="connsiteX0" fmla="*/ 398586 w 795874"/>
                  <a:gd name="connsiteY0" fmla="*/ 279841 h 1046312"/>
                  <a:gd name="connsiteX1" fmla="*/ 254207 w 795874"/>
                  <a:gd name="connsiteY1" fmla="*/ 8462 h 1046312"/>
                  <a:gd name="connsiteX2" fmla="*/ 182552 w 795874"/>
                  <a:gd name="connsiteY2" fmla="*/ 75304 h 1046312"/>
                  <a:gd name="connsiteX3" fmla="*/ 72931 w 795874"/>
                  <a:gd name="connsiteY3" fmla="*/ 143483 h 1046312"/>
                  <a:gd name="connsiteX4" fmla="*/ 252335 w 795874"/>
                  <a:gd name="connsiteY4" fmla="*/ 339999 h 1046312"/>
                  <a:gd name="connsiteX5" fmla="*/ 10901 w 795874"/>
                  <a:gd name="connsiteY5" fmla="*/ 358982 h 1046312"/>
                  <a:gd name="connsiteX6" fmla="*/ 61701 w 795874"/>
                  <a:gd name="connsiteY6" fmla="*/ 592662 h 1046312"/>
                  <a:gd name="connsiteX7" fmla="*/ 242175 w 795874"/>
                  <a:gd name="connsiteY7" fmla="*/ 520472 h 1046312"/>
                  <a:gd name="connsiteX8" fmla="*/ 138169 w 795874"/>
                  <a:gd name="connsiteY8" fmla="*/ 690786 h 1046312"/>
                  <a:gd name="connsiteX9" fmla="*/ 237095 w 795874"/>
                  <a:gd name="connsiteY9" fmla="*/ 720464 h 1046312"/>
                  <a:gd name="connsiteX10" fmla="*/ 314364 w 795874"/>
                  <a:gd name="connsiteY10" fmla="*/ 773136 h 1046312"/>
                  <a:gd name="connsiteX11" fmla="*/ 362491 w 795874"/>
                  <a:gd name="connsiteY11" fmla="*/ 568599 h 1046312"/>
                  <a:gd name="connsiteX12" fmla="*/ 518901 w 795874"/>
                  <a:gd name="connsiteY12" fmla="*/ 508441 h 1046312"/>
                  <a:gd name="connsiteX13" fmla="*/ 759533 w 795874"/>
                  <a:gd name="connsiteY13" fmla="*/ 953609 h 1046312"/>
                  <a:gd name="connsiteX14" fmla="*/ 759533 w 795874"/>
                  <a:gd name="connsiteY14" fmla="*/ 1013767 h 1046312"/>
                  <a:gd name="connsiteX15" fmla="*/ 771564 w 795874"/>
                  <a:gd name="connsiteY15" fmla="*/ 556567 h 1046312"/>
                  <a:gd name="connsiteX16" fmla="*/ 398586 w 795874"/>
                  <a:gd name="connsiteY16" fmla="*/ 279841 h 1046312"/>
                  <a:gd name="connsiteX0" fmla="*/ 397537 w 794825"/>
                  <a:gd name="connsiteY0" fmla="*/ 279841 h 1046312"/>
                  <a:gd name="connsiteX1" fmla="*/ 253158 w 794825"/>
                  <a:gd name="connsiteY1" fmla="*/ 8462 h 1046312"/>
                  <a:gd name="connsiteX2" fmla="*/ 181503 w 794825"/>
                  <a:gd name="connsiteY2" fmla="*/ 75304 h 1046312"/>
                  <a:gd name="connsiteX3" fmla="*/ 71882 w 794825"/>
                  <a:gd name="connsiteY3" fmla="*/ 143483 h 1046312"/>
                  <a:gd name="connsiteX4" fmla="*/ 251286 w 794825"/>
                  <a:gd name="connsiteY4" fmla="*/ 339999 h 1046312"/>
                  <a:gd name="connsiteX5" fmla="*/ 9852 w 794825"/>
                  <a:gd name="connsiteY5" fmla="*/ 358982 h 1046312"/>
                  <a:gd name="connsiteX6" fmla="*/ 48087 w 794825"/>
                  <a:gd name="connsiteY6" fmla="*/ 491865 h 1046312"/>
                  <a:gd name="connsiteX7" fmla="*/ 60652 w 794825"/>
                  <a:gd name="connsiteY7" fmla="*/ 592662 h 1046312"/>
                  <a:gd name="connsiteX8" fmla="*/ 241126 w 794825"/>
                  <a:gd name="connsiteY8" fmla="*/ 520472 h 1046312"/>
                  <a:gd name="connsiteX9" fmla="*/ 137120 w 794825"/>
                  <a:gd name="connsiteY9" fmla="*/ 690786 h 1046312"/>
                  <a:gd name="connsiteX10" fmla="*/ 236046 w 794825"/>
                  <a:gd name="connsiteY10" fmla="*/ 720464 h 1046312"/>
                  <a:gd name="connsiteX11" fmla="*/ 313315 w 794825"/>
                  <a:gd name="connsiteY11" fmla="*/ 773136 h 1046312"/>
                  <a:gd name="connsiteX12" fmla="*/ 361442 w 794825"/>
                  <a:gd name="connsiteY12" fmla="*/ 568599 h 1046312"/>
                  <a:gd name="connsiteX13" fmla="*/ 517852 w 794825"/>
                  <a:gd name="connsiteY13" fmla="*/ 508441 h 1046312"/>
                  <a:gd name="connsiteX14" fmla="*/ 758484 w 794825"/>
                  <a:gd name="connsiteY14" fmla="*/ 953609 h 1046312"/>
                  <a:gd name="connsiteX15" fmla="*/ 758484 w 794825"/>
                  <a:gd name="connsiteY15" fmla="*/ 1013767 h 1046312"/>
                  <a:gd name="connsiteX16" fmla="*/ 770515 w 794825"/>
                  <a:gd name="connsiteY16" fmla="*/ 556567 h 1046312"/>
                  <a:gd name="connsiteX17" fmla="*/ 397537 w 794825"/>
                  <a:gd name="connsiteY17" fmla="*/ 279841 h 1046312"/>
                  <a:gd name="connsiteX0" fmla="*/ 397537 w 775871"/>
                  <a:gd name="connsiteY0" fmla="*/ 279841 h 1046312"/>
                  <a:gd name="connsiteX1" fmla="*/ 253158 w 775871"/>
                  <a:gd name="connsiteY1" fmla="*/ 8462 h 1046312"/>
                  <a:gd name="connsiteX2" fmla="*/ 181503 w 775871"/>
                  <a:gd name="connsiteY2" fmla="*/ 75304 h 1046312"/>
                  <a:gd name="connsiteX3" fmla="*/ 71882 w 775871"/>
                  <a:gd name="connsiteY3" fmla="*/ 143483 h 1046312"/>
                  <a:gd name="connsiteX4" fmla="*/ 251286 w 775871"/>
                  <a:gd name="connsiteY4" fmla="*/ 339999 h 1046312"/>
                  <a:gd name="connsiteX5" fmla="*/ 9852 w 775871"/>
                  <a:gd name="connsiteY5" fmla="*/ 358982 h 1046312"/>
                  <a:gd name="connsiteX6" fmla="*/ 48087 w 775871"/>
                  <a:gd name="connsiteY6" fmla="*/ 491865 h 1046312"/>
                  <a:gd name="connsiteX7" fmla="*/ 60652 w 775871"/>
                  <a:gd name="connsiteY7" fmla="*/ 592662 h 1046312"/>
                  <a:gd name="connsiteX8" fmla="*/ 241126 w 775871"/>
                  <a:gd name="connsiteY8" fmla="*/ 520472 h 1046312"/>
                  <a:gd name="connsiteX9" fmla="*/ 137120 w 775871"/>
                  <a:gd name="connsiteY9" fmla="*/ 690786 h 1046312"/>
                  <a:gd name="connsiteX10" fmla="*/ 236046 w 775871"/>
                  <a:gd name="connsiteY10" fmla="*/ 720464 h 1046312"/>
                  <a:gd name="connsiteX11" fmla="*/ 313315 w 775871"/>
                  <a:gd name="connsiteY11" fmla="*/ 773136 h 1046312"/>
                  <a:gd name="connsiteX12" fmla="*/ 361442 w 775871"/>
                  <a:gd name="connsiteY12" fmla="*/ 568599 h 1046312"/>
                  <a:gd name="connsiteX13" fmla="*/ 517852 w 775871"/>
                  <a:gd name="connsiteY13" fmla="*/ 508441 h 1046312"/>
                  <a:gd name="connsiteX14" fmla="*/ 758484 w 775871"/>
                  <a:gd name="connsiteY14" fmla="*/ 953609 h 1046312"/>
                  <a:gd name="connsiteX15" fmla="*/ 758484 w 775871"/>
                  <a:gd name="connsiteY15" fmla="*/ 1013767 h 1046312"/>
                  <a:gd name="connsiteX16" fmla="*/ 729875 w 775871"/>
                  <a:gd name="connsiteY16" fmla="*/ 576887 h 1046312"/>
                  <a:gd name="connsiteX17" fmla="*/ 397537 w 775871"/>
                  <a:gd name="connsiteY17" fmla="*/ 279841 h 1046312"/>
                  <a:gd name="connsiteX0" fmla="*/ 397537 w 767491"/>
                  <a:gd name="connsiteY0" fmla="*/ 279841 h 1063019"/>
                  <a:gd name="connsiteX1" fmla="*/ 253158 w 767491"/>
                  <a:gd name="connsiteY1" fmla="*/ 8462 h 1063019"/>
                  <a:gd name="connsiteX2" fmla="*/ 181503 w 767491"/>
                  <a:gd name="connsiteY2" fmla="*/ 75304 h 1063019"/>
                  <a:gd name="connsiteX3" fmla="*/ 71882 w 767491"/>
                  <a:gd name="connsiteY3" fmla="*/ 143483 h 1063019"/>
                  <a:gd name="connsiteX4" fmla="*/ 251286 w 767491"/>
                  <a:gd name="connsiteY4" fmla="*/ 339999 h 1063019"/>
                  <a:gd name="connsiteX5" fmla="*/ 9852 w 767491"/>
                  <a:gd name="connsiteY5" fmla="*/ 358982 h 1063019"/>
                  <a:gd name="connsiteX6" fmla="*/ 48087 w 767491"/>
                  <a:gd name="connsiteY6" fmla="*/ 491865 h 1063019"/>
                  <a:gd name="connsiteX7" fmla="*/ 60652 w 767491"/>
                  <a:gd name="connsiteY7" fmla="*/ 592662 h 1063019"/>
                  <a:gd name="connsiteX8" fmla="*/ 241126 w 767491"/>
                  <a:gd name="connsiteY8" fmla="*/ 520472 h 1063019"/>
                  <a:gd name="connsiteX9" fmla="*/ 137120 w 767491"/>
                  <a:gd name="connsiteY9" fmla="*/ 690786 h 1063019"/>
                  <a:gd name="connsiteX10" fmla="*/ 236046 w 767491"/>
                  <a:gd name="connsiteY10" fmla="*/ 720464 h 1063019"/>
                  <a:gd name="connsiteX11" fmla="*/ 313315 w 767491"/>
                  <a:gd name="connsiteY11" fmla="*/ 773136 h 1063019"/>
                  <a:gd name="connsiteX12" fmla="*/ 361442 w 767491"/>
                  <a:gd name="connsiteY12" fmla="*/ 568599 h 1063019"/>
                  <a:gd name="connsiteX13" fmla="*/ 517852 w 767491"/>
                  <a:gd name="connsiteY13" fmla="*/ 508441 h 1063019"/>
                  <a:gd name="connsiteX14" fmla="*/ 728004 w 767491"/>
                  <a:gd name="connsiteY14" fmla="*/ 999329 h 1063019"/>
                  <a:gd name="connsiteX15" fmla="*/ 758484 w 767491"/>
                  <a:gd name="connsiteY15" fmla="*/ 1013767 h 1063019"/>
                  <a:gd name="connsiteX16" fmla="*/ 729875 w 767491"/>
                  <a:gd name="connsiteY16" fmla="*/ 576887 h 1063019"/>
                  <a:gd name="connsiteX17" fmla="*/ 397537 w 767491"/>
                  <a:gd name="connsiteY17" fmla="*/ 279841 h 1063019"/>
                  <a:gd name="connsiteX0" fmla="*/ 397537 w 758605"/>
                  <a:gd name="connsiteY0" fmla="*/ 279841 h 1063019"/>
                  <a:gd name="connsiteX1" fmla="*/ 253158 w 758605"/>
                  <a:gd name="connsiteY1" fmla="*/ 8462 h 1063019"/>
                  <a:gd name="connsiteX2" fmla="*/ 181503 w 758605"/>
                  <a:gd name="connsiteY2" fmla="*/ 75304 h 1063019"/>
                  <a:gd name="connsiteX3" fmla="*/ 71882 w 758605"/>
                  <a:gd name="connsiteY3" fmla="*/ 143483 h 1063019"/>
                  <a:gd name="connsiteX4" fmla="*/ 251286 w 758605"/>
                  <a:gd name="connsiteY4" fmla="*/ 339999 h 1063019"/>
                  <a:gd name="connsiteX5" fmla="*/ 9852 w 758605"/>
                  <a:gd name="connsiteY5" fmla="*/ 358982 h 1063019"/>
                  <a:gd name="connsiteX6" fmla="*/ 48087 w 758605"/>
                  <a:gd name="connsiteY6" fmla="*/ 491865 h 1063019"/>
                  <a:gd name="connsiteX7" fmla="*/ 60652 w 758605"/>
                  <a:gd name="connsiteY7" fmla="*/ 592662 h 1063019"/>
                  <a:gd name="connsiteX8" fmla="*/ 241126 w 758605"/>
                  <a:gd name="connsiteY8" fmla="*/ 520472 h 1063019"/>
                  <a:gd name="connsiteX9" fmla="*/ 137120 w 758605"/>
                  <a:gd name="connsiteY9" fmla="*/ 690786 h 1063019"/>
                  <a:gd name="connsiteX10" fmla="*/ 236046 w 758605"/>
                  <a:gd name="connsiteY10" fmla="*/ 720464 h 1063019"/>
                  <a:gd name="connsiteX11" fmla="*/ 313315 w 758605"/>
                  <a:gd name="connsiteY11" fmla="*/ 773136 h 1063019"/>
                  <a:gd name="connsiteX12" fmla="*/ 361442 w 758605"/>
                  <a:gd name="connsiteY12" fmla="*/ 568599 h 1063019"/>
                  <a:gd name="connsiteX13" fmla="*/ 517852 w 758605"/>
                  <a:gd name="connsiteY13" fmla="*/ 508441 h 1063019"/>
                  <a:gd name="connsiteX14" fmla="*/ 728004 w 758605"/>
                  <a:gd name="connsiteY14" fmla="*/ 999329 h 1063019"/>
                  <a:gd name="connsiteX15" fmla="*/ 758484 w 758605"/>
                  <a:gd name="connsiteY15" fmla="*/ 1013767 h 1063019"/>
                  <a:gd name="connsiteX16" fmla="*/ 597795 w 758605"/>
                  <a:gd name="connsiteY16" fmla="*/ 521007 h 1063019"/>
                  <a:gd name="connsiteX17" fmla="*/ 397537 w 758605"/>
                  <a:gd name="connsiteY17" fmla="*/ 279841 h 1063019"/>
                  <a:gd name="connsiteX0" fmla="*/ 428017 w 758605"/>
                  <a:gd name="connsiteY0" fmla="*/ 285223 h 1063321"/>
                  <a:gd name="connsiteX1" fmla="*/ 253158 w 758605"/>
                  <a:gd name="connsiteY1" fmla="*/ 8764 h 1063321"/>
                  <a:gd name="connsiteX2" fmla="*/ 181503 w 758605"/>
                  <a:gd name="connsiteY2" fmla="*/ 75606 h 1063321"/>
                  <a:gd name="connsiteX3" fmla="*/ 71882 w 758605"/>
                  <a:gd name="connsiteY3" fmla="*/ 143785 h 1063321"/>
                  <a:gd name="connsiteX4" fmla="*/ 251286 w 758605"/>
                  <a:gd name="connsiteY4" fmla="*/ 340301 h 1063321"/>
                  <a:gd name="connsiteX5" fmla="*/ 9852 w 758605"/>
                  <a:gd name="connsiteY5" fmla="*/ 359284 h 1063321"/>
                  <a:gd name="connsiteX6" fmla="*/ 48087 w 758605"/>
                  <a:gd name="connsiteY6" fmla="*/ 492167 h 1063321"/>
                  <a:gd name="connsiteX7" fmla="*/ 60652 w 758605"/>
                  <a:gd name="connsiteY7" fmla="*/ 592964 h 1063321"/>
                  <a:gd name="connsiteX8" fmla="*/ 241126 w 758605"/>
                  <a:gd name="connsiteY8" fmla="*/ 520774 h 1063321"/>
                  <a:gd name="connsiteX9" fmla="*/ 137120 w 758605"/>
                  <a:gd name="connsiteY9" fmla="*/ 691088 h 1063321"/>
                  <a:gd name="connsiteX10" fmla="*/ 236046 w 758605"/>
                  <a:gd name="connsiteY10" fmla="*/ 720766 h 1063321"/>
                  <a:gd name="connsiteX11" fmla="*/ 313315 w 758605"/>
                  <a:gd name="connsiteY11" fmla="*/ 773438 h 1063321"/>
                  <a:gd name="connsiteX12" fmla="*/ 361442 w 758605"/>
                  <a:gd name="connsiteY12" fmla="*/ 568901 h 1063321"/>
                  <a:gd name="connsiteX13" fmla="*/ 517852 w 758605"/>
                  <a:gd name="connsiteY13" fmla="*/ 508743 h 1063321"/>
                  <a:gd name="connsiteX14" fmla="*/ 728004 w 758605"/>
                  <a:gd name="connsiteY14" fmla="*/ 999631 h 1063321"/>
                  <a:gd name="connsiteX15" fmla="*/ 758484 w 758605"/>
                  <a:gd name="connsiteY15" fmla="*/ 1014069 h 1063321"/>
                  <a:gd name="connsiteX16" fmla="*/ 597795 w 758605"/>
                  <a:gd name="connsiteY16" fmla="*/ 521309 h 1063321"/>
                  <a:gd name="connsiteX17" fmla="*/ 428017 w 758605"/>
                  <a:gd name="connsiteY17" fmla="*/ 285223 h 1063321"/>
                  <a:gd name="connsiteX0" fmla="*/ 428017 w 758605"/>
                  <a:gd name="connsiteY0" fmla="*/ 285223 h 1066357"/>
                  <a:gd name="connsiteX1" fmla="*/ 253158 w 758605"/>
                  <a:gd name="connsiteY1" fmla="*/ 8764 h 1066357"/>
                  <a:gd name="connsiteX2" fmla="*/ 181503 w 758605"/>
                  <a:gd name="connsiteY2" fmla="*/ 75606 h 1066357"/>
                  <a:gd name="connsiteX3" fmla="*/ 71882 w 758605"/>
                  <a:gd name="connsiteY3" fmla="*/ 143785 h 1066357"/>
                  <a:gd name="connsiteX4" fmla="*/ 251286 w 758605"/>
                  <a:gd name="connsiteY4" fmla="*/ 340301 h 1066357"/>
                  <a:gd name="connsiteX5" fmla="*/ 9852 w 758605"/>
                  <a:gd name="connsiteY5" fmla="*/ 359284 h 1066357"/>
                  <a:gd name="connsiteX6" fmla="*/ 48087 w 758605"/>
                  <a:gd name="connsiteY6" fmla="*/ 492167 h 1066357"/>
                  <a:gd name="connsiteX7" fmla="*/ 60652 w 758605"/>
                  <a:gd name="connsiteY7" fmla="*/ 592964 h 1066357"/>
                  <a:gd name="connsiteX8" fmla="*/ 241126 w 758605"/>
                  <a:gd name="connsiteY8" fmla="*/ 520774 h 1066357"/>
                  <a:gd name="connsiteX9" fmla="*/ 137120 w 758605"/>
                  <a:gd name="connsiteY9" fmla="*/ 691088 h 1066357"/>
                  <a:gd name="connsiteX10" fmla="*/ 236046 w 758605"/>
                  <a:gd name="connsiteY10" fmla="*/ 720766 h 1066357"/>
                  <a:gd name="connsiteX11" fmla="*/ 313315 w 758605"/>
                  <a:gd name="connsiteY11" fmla="*/ 773438 h 1066357"/>
                  <a:gd name="connsiteX12" fmla="*/ 361442 w 758605"/>
                  <a:gd name="connsiteY12" fmla="*/ 568901 h 1066357"/>
                  <a:gd name="connsiteX13" fmla="*/ 517852 w 758605"/>
                  <a:gd name="connsiteY13" fmla="*/ 508743 h 1066357"/>
                  <a:gd name="connsiteX14" fmla="*/ 728004 w 758605"/>
                  <a:gd name="connsiteY14" fmla="*/ 999631 h 1066357"/>
                  <a:gd name="connsiteX15" fmla="*/ 758484 w 758605"/>
                  <a:gd name="connsiteY15" fmla="*/ 1019149 h 1066357"/>
                  <a:gd name="connsiteX16" fmla="*/ 597795 w 758605"/>
                  <a:gd name="connsiteY16" fmla="*/ 521309 h 1066357"/>
                  <a:gd name="connsiteX17" fmla="*/ 428017 w 758605"/>
                  <a:gd name="connsiteY17" fmla="*/ 285223 h 1066357"/>
                  <a:gd name="connsiteX0" fmla="*/ 428017 w 758511"/>
                  <a:gd name="connsiteY0" fmla="*/ 285223 h 1036121"/>
                  <a:gd name="connsiteX1" fmla="*/ 253158 w 758511"/>
                  <a:gd name="connsiteY1" fmla="*/ 8764 h 1036121"/>
                  <a:gd name="connsiteX2" fmla="*/ 181503 w 758511"/>
                  <a:gd name="connsiteY2" fmla="*/ 75606 h 1036121"/>
                  <a:gd name="connsiteX3" fmla="*/ 71882 w 758511"/>
                  <a:gd name="connsiteY3" fmla="*/ 143785 h 1036121"/>
                  <a:gd name="connsiteX4" fmla="*/ 251286 w 758511"/>
                  <a:gd name="connsiteY4" fmla="*/ 340301 h 1036121"/>
                  <a:gd name="connsiteX5" fmla="*/ 9852 w 758511"/>
                  <a:gd name="connsiteY5" fmla="*/ 359284 h 1036121"/>
                  <a:gd name="connsiteX6" fmla="*/ 48087 w 758511"/>
                  <a:gd name="connsiteY6" fmla="*/ 492167 h 1036121"/>
                  <a:gd name="connsiteX7" fmla="*/ 60652 w 758511"/>
                  <a:gd name="connsiteY7" fmla="*/ 592964 h 1036121"/>
                  <a:gd name="connsiteX8" fmla="*/ 241126 w 758511"/>
                  <a:gd name="connsiteY8" fmla="*/ 520774 h 1036121"/>
                  <a:gd name="connsiteX9" fmla="*/ 137120 w 758511"/>
                  <a:gd name="connsiteY9" fmla="*/ 691088 h 1036121"/>
                  <a:gd name="connsiteX10" fmla="*/ 236046 w 758511"/>
                  <a:gd name="connsiteY10" fmla="*/ 720766 h 1036121"/>
                  <a:gd name="connsiteX11" fmla="*/ 313315 w 758511"/>
                  <a:gd name="connsiteY11" fmla="*/ 773438 h 1036121"/>
                  <a:gd name="connsiteX12" fmla="*/ 361442 w 758511"/>
                  <a:gd name="connsiteY12" fmla="*/ 568901 h 1036121"/>
                  <a:gd name="connsiteX13" fmla="*/ 517852 w 758511"/>
                  <a:gd name="connsiteY13" fmla="*/ 508743 h 1036121"/>
                  <a:gd name="connsiteX14" fmla="*/ 687364 w 758511"/>
                  <a:gd name="connsiteY14" fmla="*/ 857391 h 1036121"/>
                  <a:gd name="connsiteX15" fmla="*/ 758484 w 758511"/>
                  <a:gd name="connsiteY15" fmla="*/ 1019149 h 1036121"/>
                  <a:gd name="connsiteX16" fmla="*/ 597795 w 758511"/>
                  <a:gd name="connsiteY16" fmla="*/ 521309 h 1036121"/>
                  <a:gd name="connsiteX17" fmla="*/ 428017 w 758511"/>
                  <a:gd name="connsiteY17" fmla="*/ 285223 h 1036121"/>
                  <a:gd name="connsiteX0" fmla="*/ 428017 w 712806"/>
                  <a:gd name="connsiteY0" fmla="*/ 285223 h 1045586"/>
                  <a:gd name="connsiteX1" fmla="*/ 253158 w 712806"/>
                  <a:gd name="connsiteY1" fmla="*/ 8764 h 1045586"/>
                  <a:gd name="connsiteX2" fmla="*/ 181503 w 712806"/>
                  <a:gd name="connsiteY2" fmla="*/ 75606 h 1045586"/>
                  <a:gd name="connsiteX3" fmla="*/ 71882 w 712806"/>
                  <a:gd name="connsiteY3" fmla="*/ 143785 h 1045586"/>
                  <a:gd name="connsiteX4" fmla="*/ 251286 w 712806"/>
                  <a:gd name="connsiteY4" fmla="*/ 340301 h 1045586"/>
                  <a:gd name="connsiteX5" fmla="*/ 9852 w 712806"/>
                  <a:gd name="connsiteY5" fmla="*/ 359284 h 1045586"/>
                  <a:gd name="connsiteX6" fmla="*/ 48087 w 712806"/>
                  <a:gd name="connsiteY6" fmla="*/ 492167 h 1045586"/>
                  <a:gd name="connsiteX7" fmla="*/ 60652 w 712806"/>
                  <a:gd name="connsiteY7" fmla="*/ 592964 h 1045586"/>
                  <a:gd name="connsiteX8" fmla="*/ 241126 w 712806"/>
                  <a:gd name="connsiteY8" fmla="*/ 520774 h 1045586"/>
                  <a:gd name="connsiteX9" fmla="*/ 137120 w 712806"/>
                  <a:gd name="connsiteY9" fmla="*/ 691088 h 1045586"/>
                  <a:gd name="connsiteX10" fmla="*/ 236046 w 712806"/>
                  <a:gd name="connsiteY10" fmla="*/ 720766 h 1045586"/>
                  <a:gd name="connsiteX11" fmla="*/ 313315 w 712806"/>
                  <a:gd name="connsiteY11" fmla="*/ 773438 h 1045586"/>
                  <a:gd name="connsiteX12" fmla="*/ 361442 w 712806"/>
                  <a:gd name="connsiteY12" fmla="*/ 568901 h 1045586"/>
                  <a:gd name="connsiteX13" fmla="*/ 517852 w 712806"/>
                  <a:gd name="connsiteY13" fmla="*/ 508743 h 1045586"/>
                  <a:gd name="connsiteX14" fmla="*/ 687364 w 712806"/>
                  <a:gd name="connsiteY14" fmla="*/ 857391 h 1045586"/>
                  <a:gd name="connsiteX15" fmla="*/ 712764 w 712806"/>
                  <a:gd name="connsiteY15" fmla="*/ 1029309 h 1045586"/>
                  <a:gd name="connsiteX16" fmla="*/ 597795 w 712806"/>
                  <a:gd name="connsiteY16" fmla="*/ 521309 h 1045586"/>
                  <a:gd name="connsiteX17" fmla="*/ 428017 w 712806"/>
                  <a:gd name="connsiteY17" fmla="*/ 285223 h 1045586"/>
                  <a:gd name="connsiteX0" fmla="*/ 428017 w 712880"/>
                  <a:gd name="connsiteY0" fmla="*/ 285223 h 1045586"/>
                  <a:gd name="connsiteX1" fmla="*/ 253158 w 712880"/>
                  <a:gd name="connsiteY1" fmla="*/ 8764 h 1045586"/>
                  <a:gd name="connsiteX2" fmla="*/ 181503 w 712880"/>
                  <a:gd name="connsiteY2" fmla="*/ 75606 h 1045586"/>
                  <a:gd name="connsiteX3" fmla="*/ 71882 w 712880"/>
                  <a:gd name="connsiteY3" fmla="*/ 143785 h 1045586"/>
                  <a:gd name="connsiteX4" fmla="*/ 251286 w 712880"/>
                  <a:gd name="connsiteY4" fmla="*/ 340301 h 1045586"/>
                  <a:gd name="connsiteX5" fmla="*/ 9852 w 712880"/>
                  <a:gd name="connsiteY5" fmla="*/ 359284 h 1045586"/>
                  <a:gd name="connsiteX6" fmla="*/ 48087 w 712880"/>
                  <a:gd name="connsiteY6" fmla="*/ 492167 h 1045586"/>
                  <a:gd name="connsiteX7" fmla="*/ 60652 w 712880"/>
                  <a:gd name="connsiteY7" fmla="*/ 592964 h 1045586"/>
                  <a:gd name="connsiteX8" fmla="*/ 241126 w 712880"/>
                  <a:gd name="connsiteY8" fmla="*/ 520774 h 1045586"/>
                  <a:gd name="connsiteX9" fmla="*/ 137120 w 712880"/>
                  <a:gd name="connsiteY9" fmla="*/ 691088 h 1045586"/>
                  <a:gd name="connsiteX10" fmla="*/ 236046 w 712880"/>
                  <a:gd name="connsiteY10" fmla="*/ 720766 h 1045586"/>
                  <a:gd name="connsiteX11" fmla="*/ 313315 w 712880"/>
                  <a:gd name="connsiteY11" fmla="*/ 773438 h 1045586"/>
                  <a:gd name="connsiteX12" fmla="*/ 361442 w 712880"/>
                  <a:gd name="connsiteY12" fmla="*/ 568901 h 1045586"/>
                  <a:gd name="connsiteX13" fmla="*/ 517852 w 712880"/>
                  <a:gd name="connsiteY13" fmla="*/ 508743 h 1045586"/>
                  <a:gd name="connsiteX14" fmla="*/ 687364 w 712880"/>
                  <a:gd name="connsiteY14" fmla="*/ 857391 h 1045586"/>
                  <a:gd name="connsiteX15" fmla="*/ 712764 w 712880"/>
                  <a:gd name="connsiteY15" fmla="*/ 1029309 h 1045586"/>
                  <a:gd name="connsiteX16" fmla="*/ 643515 w 712880"/>
                  <a:gd name="connsiteY16" fmla="*/ 541629 h 1045586"/>
                  <a:gd name="connsiteX17" fmla="*/ 428017 w 712880"/>
                  <a:gd name="connsiteY17" fmla="*/ 285223 h 1045586"/>
                  <a:gd name="connsiteX0" fmla="*/ 428017 w 712880"/>
                  <a:gd name="connsiteY0" fmla="*/ 285223 h 1045648"/>
                  <a:gd name="connsiteX1" fmla="*/ 253158 w 712880"/>
                  <a:gd name="connsiteY1" fmla="*/ 8764 h 1045648"/>
                  <a:gd name="connsiteX2" fmla="*/ 181503 w 712880"/>
                  <a:gd name="connsiteY2" fmla="*/ 75606 h 1045648"/>
                  <a:gd name="connsiteX3" fmla="*/ 71882 w 712880"/>
                  <a:gd name="connsiteY3" fmla="*/ 143785 h 1045648"/>
                  <a:gd name="connsiteX4" fmla="*/ 251286 w 712880"/>
                  <a:gd name="connsiteY4" fmla="*/ 340301 h 1045648"/>
                  <a:gd name="connsiteX5" fmla="*/ 9852 w 712880"/>
                  <a:gd name="connsiteY5" fmla="*/ 359284 h 1045648"/>
                  <a:gd name="connsiteX6" fmla="*/ 48087 w 712880"/>
                  <a:gd name="connsiteY6" fmla="*/ 492167 h 1045648"/>
                  <a:gd name="connsiteX7" fmla="*/ 60652 w 712880"/>
                  <a:gd name="connsiteY7" fmla="*/ 592964 h 1045648"/>
                  <a:gd name="connsiteX8" fmla="*/ 241126 w 712880"/>
                  <a:gd name="connsiteY8" fmla="*/ 520774 h 1045648"/>
                  <a:gd name="connsiteX9" fmla="*/ 137120 w 712880"/>
                  <a:gd name="connsiteY9" fmla="*/ 691088 h 1045648"/>
                  <a:gd name="connsiteX10" fmla="*/ 236046 w 712880"/>
                  <a:gd name="connsiteY10" fmla="*/ 720766 h 1045648"/>
                  <a:gd name="connsiteX11" fmla="*/ 313315 w 712880"/>
                  <a:gd name="connsiteY11" fmla="*/ 773438 h 1045648"/>
                  <a:gd name="connsiteX12" fmla="*/ 361442 w 712880"/>
                  <a:gd name="connsiteY12" fmla="*/ 568901 h 1045648"/>
                  <a:gd name="connsiteX13" fmla="*/ 538172 w 712880"/>
                  <a:gd name="connsiteY13" fmla="*/ 503663 h 1045648"/>
                  <a:gd name="connsiteX14" fmla="*/ 687364 w 712880"/>
                  <a:gd name="connsiteY14" fmla="*/ 857391 h 1045648"/>
                  <a:gd name="connsiteX15" fmla="*/ 712764 w 712880"/>
                  <a:gd name="connsiteY15" fmla="*/ 1029309 h 1045648"/>
                  <a:gd name="connsiteX16" fmla="*/ 643515 w 712880"/>
                  <a:gd name="connsiteY16" fmla="*/ 541629 h 1045648"/>
                  <a:gd name="connsiteX17" fmla="*/ 428017 w 712880"/>
                  <a:gd name="connsiteY17" fmla="*/ 285223 h 1045648"/>
                  <a:gd name="connsiteX0" fmla="*/ 428017 w 712880"/>
                  <a:gd name="connsiteY0" fmla="*/ 285223 h 1048421"/>
                  <a:gd name="connsiteX1" fmla="*/ 253158 w 712880"/>
                  <a:gd name="connsiteY1" fmla="*/ 8764 h 1048421"/>
                  <a:gd name="connsiteX2" fmla="*/ 181503 w 712880"/>
                  <a:gd name="connsiteY2" fmla="*/ 75606 h 1048421"/>
                  <a:gd name="connsiteX3" fmla="*/ 71882 w 712880"/>
                  <a:gd name="connsiteY3" fmla="*/ 143785 h 1048421"/>
                  <a:gd name="connsiteX4" fmla="*/ 251286 w 712880"/>
                  <a:gd name="connsiteY4" fmla="*/ 340301 h 1048421"/>
                  <a:gd name="connsiteX5" fmla="*/ 9852 w 712880"/>
                  <a:gd name="connsiteY5" fmla="*/ 359284 h 1048421"/>
                  <a:gd name="connsiteX6" fmla="*/ 48087 w 712880"/>
                  <a:gd name="connsiteY6" fmla="*/ 492167 h 1048421"/>
                  <a:gd name="connsiteX7" fmla="*/ 60652 w 712880"/>
                  <a:gd name="connsiteY7" fmla="*/ 592964 h 1048421"/>
                  <a:gd name="connsiteX8" fmla="*/ 241126 w 712880"/>
                  <a:gd name="connsiteY8" fmla="*/ 520774 h 1048421"/>
                  <a:gd name="connsiteX9" fmla="*/ 137120 w 712880"/>
                  <a:gd name="connsiteY9" fmla="*/ 691088 h 1048421"/>
                  <a:gd name="connsiteX10" fmla="*/ 236046 w 712880"/>
                  <a:gd name="connsiteY10" fmla="*/ 720766 h 1048421"/>
                  <a:gd name="connsiteX11" fmla="*/ 313315 w 712880"/>
                  <a:gd name="connsiteY11" fmla="*/ 773438 h 1048421"/>
                  <a:gd name="connsiteX12" fmla="*/ 361442 w 712880"/>
                  <a:gd name="connsiteY12" fmla="*/ 568901 h 1048421"/>
                  <a:gd name="connsiteX13" fmla="*/ 538172 w 712880"/>
                  <a:gd name="connsiteY13" fmla="*/ 503663 h 1048421"/>
                  <a:gd name="connsiteX14" fmla="*/ 682284 w 712880"/>
                  <a:gd name="connsiteY14" fmla="*/ 887871 h 1048421"/>
                  <a:gd name="connsiteX15" fmla="*/ 712764 w 712880"/>
                  <a:gd name="connsiteY15" fmla="*/ 1029309 h 1048421"/>
                  <a:gd name="connsiteX16" fmla="*/ 643515 w 712880"/>
                  <a:gd name="connsiteY16" fmla="*/ 541629 h 1048421"/>
                  <a:gd name="connsiteX17" fmla="*/ 428017 w 712880"/>
                  <a:gd name="connsiteY17" fmla="*/ 285223 h 1048421"/>
                  <a:gd name="connsiteX0" fmla="*/ 428017 w 712880"/>
                  <a:gd name="connsiteY0" fmla="*/ 285223 h 1048421"/>
                  <a:gd name="connsiteX1" fmla="*/ 253158 w 712880"/>
                  <a:gd name="connsiteY1" fmla="*/ 8764 h 1048421"/>
                  <a:gd name="connsiteX2" fmla="*/ 181503 w 712880"/>
                  <a:gd name="connsiteY2" fmla="*/ 75606 h 1048421"/>
                  <a:gd name="connsiteX3" fmla="*/ 71882 w 712880"/>
                  <a:gd name="connsiteY3" fmla="*/ 143785 h 1048421"/>
                  <a:gd name="connsiteX4" fmla="*/ 251286 w 712880"/>
                  <a:gd name="connsiteY4" fmla="*/ 340301 h 1048421"/>
                  <a:gd name="connsiteX5" fmla="*/ 9852 w 712880"/>
                  <a:gd name="connsiteY5" fmla="*/ 359284 h 1048421"/>
                  <a:gd name="connsiteX6" fmla="*/ 48087 w 712880"/>
                  <a:gd name="connsiteY6" fmla="*/ 492167 h 1048421"/>
                  <a:gd name="connsiteX7" fmla="*/ 60652 w 712880"/>
                  <a:gd name="connsiteY7" fmla="*/ 592964 h 1048421"/>
                  <a:gd name="connsiteX8" fmla="*/ 241126 w 712880"/>
                  <a:gd name="connsiteY8" fmla="*/ 520774 h 1048421"/>
                  <a:gd name="connsiteX9" fmla="*/ 137120 w 712880"/>
                  <a:gd name="connsiteY9" fmla="*/ 691088 h 1048421"/>
                  <a:gd name="connsiteX10" fmla="*/ 236046 w 712880"/>
                  <a:gd name="connsiteY10" fmla="*/ 720766 h 1048421"/>
                  <a:gd name="connsiteX11" fmla="*/ 313315 w 712880"/>
                  <a:gd name="connsiteY11" fmla="*/ 773438 h 1048421"/>
                  <a:gd name="connsiteX12" fmla="*/ 361442 w 712880"/>
                  <a:gd name="connsiteY12" fmla="*/ 568901 h 1048421"/>
                  <a:gd name="connsiteX13" fmla="*/ 538172 w 712880"/>
                  <a:gd name="connsiteY13" fmla="*/ 503663 h 1048421"/>
                  <a:gd name="connsiteX14" fmla="*/ 667044 w 712880"/>
                  <a:gd name="connsiteY14" fmla="*/ 887871 h 1048421"/>
                  <a:gd name="connsiteX15" fmla="*/ 712764 w 712880"/>
                  <a:gd name="connsiteY15" fmla="*/ 1029309 h 1048421"/>
                  <a:gd name="connsiteX16" fmla="*/ 643515 w 712880"/>
                  <a:gd name="connsiteY16" fmla="*/ 541629 h 1048421"/>
                  <a:gd name="connsiteX17" fmla="*/ 428017 w 712880"/>
                  <a:gd name="connsiteY17" fmla="*/ 285223 h 1048421"/>
                  <a:gd name="connsiteX0" fmla="*/ 428017 w 712823"/>
                  <a:gd name="connsiteY0" fmla="*/ 285223 h 1048421"/>
                  <a:gd name="connsiteX1" fmla="*/ 253158 w 712823"/>
                  <a:gd name="connsiteY1" fmla="*/ 8764 h 1048421"/>
                  <a:gd name="connsiteX2" fmla="*/ 181503 w 712823"/>
                  <a:gd name="connsiteY2" fmla="*/ 75606 h 1048421"/>
                  <a:gd name="connsiteX3" fmla="*/ 71882 w 712823"/>
                  <a:gd name="connsiteY3" fmla="*/ 143785 h 1048421"/>
                  <a:gd name="connsiteX4" fmla="*/ 251286 w 712823"/>
                  <a:gd name="connsiteY4" fmla="*/ 340301 h 1048421"/>
                  <a:gd name="connsiteX5" fmla="*/ 9852 w 712823"/>
                  <a:gd name="connsiteY5" fmla="*/ 359284 h 1048421"/>
                  <a:gd name="connsiteX6" fmla="*/ 48087 w 712823"/>
                  <a:gd name="connsiteY6" fmla="*/ 492167 h 1048421"/>
                  <a:gd name="connsiteX7" fmla="*/ 60652 w 712823"/>
                  <a:gd name="connsiteY7" fmla="*/ 592964 h 1048421"/>
                  <a:gd name="connsiteX8" fmla="*/ 241126 w 712823"/>
                  <a:gd name="connsiteY8" fmla="*/ 520774 h 1048421"/>
                  <a:gd name="connsiteX9" fmla="*/ 137120 w 712823"/>
                  <a:gd name="connsiteY9" fmla="*/ 691088 h 1048421"/>
                  <a:gd name="connsiteX10" fmla="*/ 236046 w 712823"/>
                  <a:gd name="connsiteY10" fmla="*/ 720766 h 1048421"/>
                  <a:gd name="connsiteX11" fmla="*/ 313315 w 712823"/>
                  <a:gd name="connsiteY11" fmla="*/ 773438 h 1048421"/>
                  <a:gd name="connsiteX12" fmla="*/ 361442 w 712823"/>
                  <a:gd name="connsiteY12" fmla="*/ 568901 h 1048421"/>
                  <a:gd name="connsiteX13" fmla="*/ 538172 w 712823"/>
                  <a:gd name="connsiteY13" fmla="*/ 503663 h 1048421"/>
                  <a:gd name="connsiteX14" fmla="*/ 667044 w 712823"/>
                  <a:gd name="connsiteY14" fmla="*/ 887871 h 1048421"/>
                  <a:gd name="connsiteX15" fmla="*/ 712764 w 712823"/>
                  <a:gd name="connsiteY15" fmla="*/ 1029309 h 1048421"/>
                  <a:gd name="connsiteX16" fmla="*/ 618115 w 712823"/>
                  <a:gd name="connsiteY16" fmla="*/ 526389 h 1048421"/>
                  <a:gd name="connsiteX17" fmla="*/ 428017 w 712823"/>
                  <a:gd name="connsiteY17" fmla="*/ 285223 h 1048421"/>
                  <a:gd name="connsiteX0" fmla="*/ 428017 w 712823"/>
                  <a:gd name="connsiteY0" fmla="*/ 285223 h 1046082"/>
                  <a:gd name="connsiteX1" fmla="*/ 253158 w 712823"/>
                  <a:gd name="connsiteY1" fmla="*/ 8764 h 1046082"/>
                  <a:gd name="connsiteX2" fmla="*/ 181503 w 712823"/>
                  <a:gd name="connsiteY2" fmla="*/ 75606 h 1046082"/>
                  <a:gd name="connsiteX3" fmla="*/ 71882 w 712823"/>
                  <a:gd name="connsiteY3" fmla="*/ 143785 h 1046082"/>
                  <a:gd name="connsiteX4" fmla="*/ 251286 w 712823"/>
                  <a:gd name="connsiteY4" fmla="*/ 340301 h 1046082"/>
                  <a:gd name="connsiteX5" fmla="*/ 9852 w 712823"/>
                  <a:gd name="connsiteY5" fmla="*/ 359284 h 1046082"/>
                  <a:gd name="connsiteX6" fmla="*/ 48087 w 712823"/>
                  <a:gd name="connsiteY6" fmla="*/ 492167 h 1046082"/>
                  <a:gd name="connsiteX7" fmla="*/ 60652 w 712823"/>
                  <a:gd name="connsiteY7" fmla="*/ 592964 h 1046082"/>
                  <a:gd name="connsiteX8" fmla="*/ 241126 w 712823"/>
                  <a:gd name="connsiteY8" fmla="*/ 520774 h 1046082"/>
                  <a:gd name="connsiteX9" fmla="*/ 137120 w 712823"/>
                  <a:gd name="connsiteY9" fmla="*/ 691088 h 1046082"/>
                  <a:gd name="connsiteX10" fmla="*/ 236046 w 712823"/>
                  <a:gd name="connsiteY10" fmla="*/ 720766 h 1046082"/>
                  <a:gd name="connsiteX11" fmla="*/ 313315 w 712823"/>
                  <a:gd name="connsiteY11" fmla="*/ 773438 h 1046082"/>
                  <a:gd name="connsiteX12" fmla="*/ 361442 w 712823"/>
                  <a:gd name="connsiteY12" fmla="*/ 568901 h 1046082"/>
                  <a:gd name="connsiteX13" fmla="*/ 538172 w 712823"/>
                  <a:gd name="connsiteY13" fmla="*/ 503663 h 1046082"/>
                  <a:gd name="connsiteX14" fmla="*/ 622128 w 712823"/>
                  <a:gd name="connsiteY14" fmla="*/ 664886 h 1046082"/>
                  <a:gd name="connsiteX15" fmla="*/ 667044 w 712823"/>
                  <a:gd name="connsiteY15" fmla="*/ 887871 h 1046082"/>
                  <a:gd name="connsiteX16" fmla="*/ 712764 w 712823"/>
                  <a:gd name="connsiteY16" fmla="*/ 1029309 h 1046082"/>
                  <a:gd name="connsiteX17" fmla="*/ 618115 w 712823"/>
                  <a:gd name="connsiteY17" fmla="*/ 526389 h 1046082"/>
                  <a:gd name="connsiteX18" fmla="*/ 428017 w 712823"/>
                  <a:gd name="connsiteY18" fmla="*/ 285223 h 1046082"/>
                  <a:gd name="connsiteX0" fmla="*/ 428017 w 712823"/>
                  <a:gd name="connsiteY0" fmla="*/ 285223 h 1046082"/>
                  <a:gd name="connsiteX1" fmla="*/ 253158 w 712823"/>
                  <a:gd name="connsiteY1" fmla="*/ 8764 h 1046082"/>
                  <a:gd name="connsiteX2" fmla="*/ 181503 w 712823"/>
                  <a:gd name="connsiteY2" fmla="*/ 75606 h 1046082"/>
                  <a:gd name="connsiteX3" fmla="*/ 71882 w 712823"/>
                  <a:gd name="connsiteY3" fmla="*/ 143785 h 1046082"/>
                  <a:gd name="connsiteX4" fmla="*/ 251286 w 712823"/>
                  <a:gd name="connsiteY4" fmla="*/ 340301 h 1046082"/>
                  <a:gd name="connsiteX5" fmla="*/ 9852 w 712823"/>
                  <a:gd name="connsiteY5" fmla="*/ 359284 h 1046082"/>
                  <a:gd name="connsiteX6" fmla="*/ 48087 w 712823"/>
                  <a:gd name="connsiteY6" fmla="*/ 492167 h 1046082"/>
                  <a:gd name="connsiteX7" fmla="*/ 60652 w 712823"/>
                  <a:gd name="connsiteY7" fmla="*/ 592964 h 1046082"/>
                  <a:gd name="connsiteX8" fmla="*/ 241126 w 712823"/>
                  <a:gd name="connsiteY8" fmla="*/ 520774 h 1046082"/>
                  <a:gd name="connsiteX9" fmla="*/ 137120 w 712823"/>
                  <a:gd name="connsiteY9" fmla="*/ 691088 h 1046082"/>
                  <a:gd name="connsiteX10" fmla="*/ 236046 w 712823"/>
                  <a:gd name="connsiteY10" fmla="*/ 720766 h 1046082"/>
                  <a:gd name="connsiteX11" fmla="*/ 313315 w 712823"/>
                  <a:gd name="connsiteY11" fmla="*/ 773438 h 1046082"/>
                  <a:gd name="connsiteX12" fmla="*/ 361442 w 712823"/>
                  <a:gd name="connsiteY12" fmla="*/ 568901 h 1046082"/>
                  <a:gd name="connsiteX13" fmla="*/ 538172 w 712823"/>
                  <a:gd name="connsiteY13" fmla="*/ 503663 h 1046082"/>
                  <a:gd name="connsiteX14" fmla="*/ 622128 w 712823"/>
                  <a:gd name="connsiteY14" fmla="*/ 664886 h 1046082"/>
                  <a:gd name="connsiteX15" fmla="*/ 667044 w 712823"/>
                  <a:gd name="connsiteY15" fmla="*/ 887871 h 1046082"/>
                  <a:gd name="connsiteX16" fmla="*/ 712764 w 712823"/>
                  <a:gd name="connsiteY16" fmla="*/ 1029309 h 1046082"/>
                  <a:gd name="connsiteX17" fmla="*/ 618115 w 712823"/>
                  <a:gd name="connsiteY17" fmla="*/ 526389 h 1046082"/>
                  <a:gd name="connsiteX18" fmla="*/ 428017 w 712823"/>
                  <a:gd name="connsiteY18" fmla="*/ 285223 h 104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2823" h="1046082">
                    <a:moveTo>
                      <a:pt x="428017" y="285223"/>
                    </a:moveTo>
                    <a:cubicBezTo>
                      <a:pt x="367191" y="198952"/>
                      <a:pt x="294244" y="43700"/>
                      <a:pt x="253158" y="8764"/>
                    </a:cubicBezTo>
                    <a:cubicBezTo>
                      <a:pt x="212072" y="-26172"/>
                      <a:pt x="211716" y="53103"/>
                      <a:pt x="181503" y="75606"/>
                    </a:cubicBezTo>
                    <a:cubicBezTo>
                      <a:pt x="151290" y="98109"/>
                      <a:pt x="60251" y="99669"/>
                      <a:pt x="71882" y="143785"/>
                    </a:cubicBezTo>
                    <a:cubicBezTo>
                      <a:pt x="83513" y="187901"/>
                      <a:pt x="261624" y="304385"/>
                      <a:pt x="251286" y="340301"/>
                    </a:cubicBezTo>
                    <a:cubicBezTo>
                      <a:pt x="240948" y="376218"/>
                      <a:pt x="43718" y="333973"/>
                      <a:pt x="9852" y="359284"/>
                    </a:cubicBezTo>
                    <a:cubicBezTo>
                      <a:pt x="-24014" y="384595"/>
                      <a:pt x="39620" y="453220"/>
                      <a:pt x="48087" y="492167"/>
                    </a:cubicBezTo>
                    <a:cubicBezTo>
                      <a:pt x="56554" y="531114"/>
                      <a:pt x="28479" y="588196"/>
                      <a:pt x="60652" y="592964"/>
                    </a:cubicBezTo>
                    <a:cubicBezTo>
                      <a:pt x="92825" y="597732"/>
                      <a:pt x="228381" y="504420"/>
                      <a:pt x="241126" y="520774"/>
                    </a:cubicBezTo>
                    <a:cubicBezTo>
                      <a:pt x="253871" y="537128"/>
                      <a:pt x="137967" y="657756"/>
                      <a:pt x="137120" y="691088"/>
                    </a:cubicBezTo>
                    <a:cubicBezTo>
                      <a:pt x="136273" y="724420"/>
                      <a:pt x="206680" y="707041"/>
                      <a:pt x="236046" y="720766"/>
                    </a:cubicBezTo>
                    <a:cubicBezTo>
                      <a:pt x="265412" y="734491"/>
                      <a:pt x="292416" y="798749"/>
                      <a:pt x="313315" y="773438"/>
                    </a:cubicBezTo>
                    <a:cubicBezTo>
                      <a:pt x="334214" y="748127"/>
                      <a:pt x="323966" y="613863"/>
                      <a:pt x="361442" y="568901"/>
                    </a:cubicBezTo>
                    <a:cubicBezTo>
                      <a:pt x="398918" y="523939"/>
                      <a:pt x="494724" y="487666"/>
                      <a:pt x="538172" y="503663"/>
                    </a:cubicBezTo>
                    <a:cubicBezTo>
                      <a:pt x="581620" y="519660"/>
                      <a:pt x="600649" y="600851"/>
                      <a:pt x="622128" y="664886"/>
                    </a:cubicBezTo>
                    <a:cubicBezTo>
                      <a:pt x="643607" y="728921"/>
                      <a:pt x="651938" y="827134"/>
                      <a:pt x="667044" y="887871"/>
                    </a:cubicBezTo>
                    <a:cubicBezTo>
                      <a:pt x="682150" y="948608"/>
                      <a:pt x="710759" y="1095483"/>
                      <a:pt x="712764" y="1029309"/>
                    </a:cubicBezTo>
                    <a:cubicBezTo>
                      <a:pt x="714769" y="963135"/>
                      <a:pt x="665573" y="650403"/>
                      <a:pt x="618115" y="526389"/>
                    </a:cubicBezTo>
                    <a:cubicBezTo>
                      <a:pt x="570657" y="402375"/>
                      <a:pt x="488843" y="371494"/>
                      <a:pt x="428017" y="285223"/>
                    </a:cubicBezTo>
                    <a:close/>
                  </a:path>
                </a:pathLst>
              </a:custGeom>
              <a:solidFill>
                <a:srgbClr val="D4C1B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682AB492-3B4D-47AB-8B40-DB55337B683E}"/>
              </a:ext>
            </a:extLst>
          </p:cNvPr>
          <p:cNvSpPr txBox="1"/>
          <p:nvPr/>
        </p:nvSpPr>
        <p:spPr>
          <a:xfrm>
            <a:off x="4291810" y="2955669"/>
            <a:ext cx="3162953" cy="523220"/>
          </a:xfrm>
          <a:prstGeom prst="roundRect">
            <a:avLst>
              <a:gd name="adj" fmla="val 0"/>
            </a:avLst>
          </a:prstGeom>
          <a:ln/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∆∆ (delta-delta) or “residual HCO</a:t>
            </a:r>
            <a:r>
              <a:rPr lang="en-US" sz="1600" baseline="-25000" dirty="0"/>
              <a:t>3</a:t>
            </a:r>
            <a:r>
              <a:rPr lang="en-US" sz="1600" baseline="30000" dirty="0"/>
              <a:t>-</a:t>
            </a:r>
            <a:r>
              <a:rPr lang="en-US" sz="1600" dirty="0"/>
              <a:t>”</a:t>
            </a:r>
          </a:p>
          <a:p>
            <a:pPr algn="ctr"/>
            <a:r>
              <a:rPr lang="en-US" sz="1200" dirty="0"/>
              <a:t>Is there another metabolic process?  </a:t>
            </a:r>
            <a:endParaRPr lang="en-US" sz="1100" dirty="0"/>
          </a:p>
        </p:txBody>
      </p:sp>
      <p:sp>
        <p:nvSpPr>
          <p:cNvPr id="260" name="Step 3">
            <a:extLst>
              <a:ext uri="{FF2B5EF4-FFF2-40B4-BE49-F238E27FC236}">
                <a16:creationId xmlns:a16="http://schemas.microsoft.com/office/drawing/2014/main" id="{4AA21C66-4275-4BDB-9D70-7EB5899DD894}"/>
              </a:ext>
            </a:extLst>
          </p:cNvPr>
          <p:cNvSpPr/>
          <p:nvPr/>
        </p:nvSpPr>
        <p:spPr>
          <a:xfrm>
            <a:off x="1708046" y="1491475"/>
            <a:ext cx="795956" cy="2880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Step 2</a:t>
            </a:r>
          </a:p>
        </p:txBody>
      </p:sp>
      <p:grpSp>
        <p:nvGrpSpPr>
          <p:cNvPr id="262" name="Straight connector to DD causes">
            <a:extLst>
              <a:ext uri="{FF2B5EF4-FFF2-40B4-BE49-F238E27FC236}">
                <a16:creationId xmlns:a16="http://schemas.microsoft.com/office/drawing/2014/main" id="{94485DD8-E869-4C98-A484-D6FA68A23D90}"/>
              </a:ext>
            </a:extLst>
          </p:cNvPr>
          <p:cNvGrpSpPr/>
          <p:nvPr/>
        </p:nvGrpSpPr>
        <p:grpSpPr>
          <a:xfrm>
            <a:off x="4674743" y="3478889"/>
            <a:ext cx="2229492" cy="327686"/>
            <a:chOff x="4687716" y="3478884"/>
            <a:chExt cx="2292899" cy="551420"/>
          </a:xfrm>
        </p:grpSpPr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5F59D145-298F-4391-AB2D-412AC3F87192}"/>
                </a:ext>
              </a:extLst>
            </p:cNvPr>
            <p:cNvCxnSpPr>
              <a:cxnSpLocks/>
              <a:endCxn id="255" idx="2"/>
            </p:cNvCxnSpPr>
            <p:nvPr/>
          </p:nvCxnSpPr>
          <p:spPr>
            <a:xfrm flipV="1">
              <a:off x="4687716" y="3478884"/>
              <a:ext cx="1232632" cy="5514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6BD21782-8663-4A24-B202-0443B35A49FB}"/>
                </a:ext>
              </a:extLst>
            </p:cNvPr>
            <p:cNvCxnSpPr>
              <a:cxnSpLocks/>
              <a:endCxn id="255" idx="2"/>
            </p:cNvCxnSpPr>
            <p:nvPr/>
          </p:nvCxnSpPr>
          <p:spPr>
            <a:xfrm flipH="1" flipV="1">
              <a:off x="5920348" y="3478886"/>
              <a:ext cx="1060267" cy="5254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69" name="Mouse AG" descr="Cursor with solid fill">
            <a:extLst>
              <a:ext uri="{FF2B5EF4-FFF2-40B4-BE49-F238E27FC236}">
                <a16:creationId xmlns:a16="http://schemas.microsoft.com/office/drawing/2014/main" id="{0E8D5079-734F-48AA-A0B3-A67D2A65C0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95182" y="1659927"/>
            <a:ext cx="284156" cy="284156"/>
          </a:xfrm>
          <a:prstGeom prst="rect">
            <a:avLst/>
          </a:prstGeom>
        </p:spPr>
      </p:pic>
      <p:pic>
        <p:nvPicPr>
          <p:cNvPr id="270" name="Mouse YES AG" descr="Cursor with solid fill">
            <a:extLst>
              <a:ext uri="{FF2B5EF4-FFF2-40B4-BE49-F238E27FC236}">
                <a16:creationId xmlns:a16="http://schemas.microsoft.com/office/drawing/2014/main" id="{8EC5DB40-406C-4302-BC09-23AD4EE3D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800100" y="2372664"/>
            <a:ext cx="274320" cy="274320"/>
          </a:xfrm>
          <a:prstGeom prst="rect">
            <a:avLst/>
          </a:prstGeom>
        </p:spPr>
      </p:pic>
      <p:pic>
        <p:nvPicPr>
          <p:cNvPr id="271" name="Mouse NO AG" descr="Cursor with solid fill">
            <a:extLst>
              <a:ext uri="{FF2B5EF4-FFF2-40B4-BE49-F238E27FC236}">
                <a16:creationId xmlns:a16="http://schemas.microsoft.com/office/drawing/2014/main" id="{3FCC0122-7A2F-48ED-AC58-4B599C1FD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528322" y="2376533"/>
            <a:ext cx="274320" cy="274320"/>
          </a:xfrm>
          <a:prstGeom prst="rect">
            <a:avLst/>
          </a:prstGeom>
        </p:spPr>
      </p:pic>
      <p:grpSp>
        <p:nvGrpSpPr>
          <p:cNvPr id="272" name="anion gap pop-up">
            <a:extLst>
              <a:ext uri="{FF2B5EF4-FFF2-40B4-BE49-F238E27FC236}">
                <a16:creationId xmlns:a16="http://schemas.microsoft.com/office/drawing/2014/main" id="{2A3433B7-5262-497C-8B08-1BEFA5ED6815}"/>
              </a:ext>
            </a:extLst>
          </p:cNvPr>
          <p:cNvGrpSpPr/>
          <p:nvPr/>
        </p:nvGrpSpPr>
        <p:grpSpPr>
          <a:xfrm>
            <a:off x="4788577" y="547296"/>
            <a:ext cx="4884007" cy="2153042"/>
            <a:chOff x="4578060" y="653983"/>
            <a:chExt cx="3873886" cy="2153042"/>
          </a:xfrm>
        </p:grpSpPr>
        <p:grpSp>
          <p:nvGrpSpPr>
            <p:cNvPr id="273" name="Anion gap pop-up">
              <a:extLst>
                <a:ext uri="{FF2B5EF4-FFF2-40B4-BE49-F238E27FC236}">
                  <a16:creationId xmlns:a16="http://schemas.microsoft.com/office/drawing/2014/main" id="{1376FE1B-5BC7-4937-9B51-75F43F14462D}"/>
                </a:ext>
              </a:extLst>
            </p:cNvPr>
            <p:cNvGrpSpPr/>
            <p:nvPr/>
          </p:nvGrpSpPr>
          <p:grpSpPr>
            <a:xfrm>
              <a:off x="4578060" y="653983"/>
              <a:ext cx="3873886" cy="2153042"/>
              <a:chOff x="4050278" y="634756"/>
              <a:chExt cx="3873886" cy="2153042"/>
            </a:xfrm>
          </p:grpSpPr>
          <p:grpSp>
            <p:nvGrpSpPr>
              <p:cNvPr id="275" name="Anion gap pop up">
                <a:extLst>
                  <a:ext uri="{FF2B5EF4-FFF2-40B4-BE49-F238E27FC236}">
                    <a16:creationId xmlns:a16="http://schemas.microsoft.com/office/drawing/2014/main" id="{A22B1D48-6144-4E9D-B815-65D466205C9D}"/>
                  </a:ext>
                </a:extLst>
              </p:cNvPr>
              <p:cNvGrpSpPr/>
              <p:nvPr/>
            </p:nvGrpSpPr>
            <p:grpSpPr>
              <a:xfrm>
                <a:off x="4050278" y="634756"/>
                <a:ext cx="3873886" cy="2153042"/>
                <a:chOff x="3975962" y="527887"/>
                <a:chExt cx="3873886" cy="2153042"/>
              </a:xfrm>
            </p:grpSpPr>
            <p:grpSp>
              <p:nvGrpSpPr>
                <p:cNvPr id="277" name="Anion gap explanation">
                  <a:extLst>
                    <a:ext uri="{FF2B5EF4-FFF2-40B4-BE49-F238E27FC236}">
                      <a16:creationId xmlns:a16="http://schemas.microsoft.com/office/drawing/2014/main" id="{E3334695-E7AD-4722-99A9-B101A228DD28}"/>
                    </a:ext>
                  </a:extLst>
                </p:cNvPr>
                <p:cNvGrpSpPr/>
                <p:nvPr/>
              </p:nvGrpSpPr>
              <p:grpSpPr>
                <a:xfrm>
                  <a:off x="3975962" y="527887"/>
                  <a:ext cx="3873886" cy="2153042"/>
                  <a:chOff x="4709042" y="527888"/>
                  <a:chExt cx="3873886" cy="2153042"/>
                </a:xfrm>
              </p:grpSpPr>
              <p:sp>
                <p:nvSpPr>
                  <p:cNvPr id="279" name="Rectangle 278">
                    <a:extLst>
                      <a:ext uri="{FF2B5EF4-FFF2-40B4-BE49-F238E27FC236}">
                        <a16:creationId xmlns:a16="http://schemas.microsoft.com/office/drawing/2014/main" id="{7ACB5C91-CC2F-4275-AAC3-4393B2FC662E}"/>
                      </a:ext>
                    </a:extLst>
                  </p:cNvPr>
                  <p:cNvSpPr/>
                  <p:nvPr/>
                </p:nvSpPr>
                <p:spPr>
                  <a:xfrm>
                    <a:off x="4929468" y="527888"/>
                    <a:ext cx="3653460" cy="2153042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grpSp>
                <p:nvGrpSpPr>
                  <p:cNvPr id="280" name="Group 279">
                    <a:extLst>
                      <a:ext uri="{FF2B5EF4-FFF2-40B4-BE49-F238E27FC236}">
                        <a16:creationId xmlns:a16="http://schemas.microsoft.com/office/drawing/2014/main" id="{0B0835BD-5ED5-4E06-B543-700D605FC3FD}"/>
                      </a:ext>
                    </a:extLst>
                  </p:cNvPr>
                  <p:cNvGrpSpPr/>
                  <p:nvPr/>
                </p:nvGrpSpPr>
                <p:grpSpPr>
                  <a:xfrm>
                    <a:off x="4709042" y="571962"/>
                    <a:ext cx="2441213" cy="2029157"/>
                    <a:chOff x="4169669" y="670580"/>
                    <a:chExt cx="3138805" cy="2488355"/>
                  </a:xfrm>
                </p:grpSpPr>
                <p:grpSp>
                  <p:nvGrpSpPr>
                    <p:cNvPr id="281" name="Group 280">
                      <a:extLst>
                        <a:ext uri="{FF2B5EF4-FFF2-40B4-BE49-F238E27FC236}">
                          <a16:creationId xmlns:a16="http://schemas.microsoft.com/office/drawing/2014/main" id="{984C6620-1357-4290-ADE4-E9CE6809BC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72072" y="1253444"/>
                      <a:ext cx="638587" cy="1469497"/>
                      <a:chOff x="9538964" y="2341380"/>
                      <a:chExt cx="409277" cy="845471"/>
                    </a:xfrm>
                  </p:grpSpPr>
                  <p:sp>
                    <p:nvSpPr>
                      <p:cNvPr id="301" name="Rectangle 300">
                        <a:extLst>
                          <a:ext uri="{FF2B5EF4-FFF2-40B4-BE49-F238E27FC236}">
                            <a16:creationId xmlns:a16="http://schemas.microsoft.com/office/drawing/2014/main" id="{066B1660-216A-4A8E-8A99-CF76B8BACF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38966" y="2341380"/>
                        <a:ext cx="407697" cy="21099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p:spPr>
                    <p:style>
                      <a:lnRef idx="2">
                        <a:schemeClr val="accent5">
                          <a:shade val="50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1050" dirty="0"/>
                          <a:t>HCO</a:t>
                        </a:r>
                        <a:r>
                          <a:rPr lang="en-US" sz="1050" baseline="-25000" dirty="0"/>
                          <a:t>3</a:t>
                        </a:r>
                        <a:r>
                          <a:rPr lang="en-US" sz="1050" baseline="30000" dirty="0"/>
                          <a:t>-</a:t>
                        </a:r>
                        <a:endParaRPr lang="en-US" sz="1050" dirty="0"/>
                      </a:p>
                    </p:txBody>
                  </p:sp>
                  <p:sp>
                    <p:nvSpPr>
                      <p:cNvPr id="303" name="Rectangle 302">
                        <a:extLst>
                          <a:ext uri="{FF2B5EF4-FFF2-40B4-BE49-F238E27FC236}">
                            <a16:creationId xmlns:a16="http://schemas.microsoft.com/office/drawing/2014/main" id="{26E9CB4D-69D8-464C-AB0D-2EB7B96D86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38964" y="2552380"/>
                        <a:ext cx="409277" cy="634471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1050" dirty="0"/>
                          <a:t>Cl</a:t>
                        </a:r>
                        <a:r>
                          <a:rPr lang="en-US" sz="1050" baseline="30000" dirty="0"/>
                          <a:t>-</a:t>
                        </a:r>
                        <a:endParaRPr lang="en-US" sz="1050" dirty="0"/>
                      </a:p>
                    </p:txBody>
                  </p:sp>
                </p:grpSp>
                <p:sp>
                  <p:nvSpPr>
                    <p:cNvPr id="282" name="Rectangle 281">
                      <a:extLst>
                        <a:ext uri="{FF2B5EF4-FFF2-40B4-BE49-F238E27FC236}">
                          <a16:creationId xmlns:a16="http://schemas.microsoft.com/office/drawing/2014/main" id="{CB78D10D-E5CA-4C2D-9FC3-A55291A9CE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2067" y="2713520"/>
                      <a:ext cx="638582" cy="325224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900" dirty="0"/>
                        <a:t>albumin</a:t>
                      </a:r>
                    </a:p>
                  </p:txBody>
                </p:sp>
                <p:sp>
                  <p:nvSpPr>
                    <p:cNvPr id="283" name="Rectangle 282">
                      <a:extLst>
                        <a:ext uri="{FF2B5EF4-FFF2-40B4-BE49-F238E27FC236}">
                          <a16:creationId xmlns:a16="http://schemas.microsoft.com/office/drawing/2014/main" id="{91088736-5901-4BF5-991C-E79CD7FBE2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4268" y="3038736"/>
                      <a:ext cx="639165" cy="12019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700" dirty="0"/>
                        <a:t>PO</a:t>
                      </a:r>
                      <a:r>
                        <a:rPr lang="en-US" sz="700" baseline="-25000" dirty="0"/>
                        <a:t>3</a:t>
                      </a:r>
                      <a:r>
                        <a:rPr lang="en-US" sz="700" baseline="30000" dirty="0"/>
                        <a:t>-</a:t>
                      </a:r>
                      <a:r>
                        <a:rPr lang="en-US" sz="700" dirty="0"/>
                        <a:t>, others</a:t>
                      </a:r>
                    </a:p>
                  </p:txBody>
                </p:sp>
                <p:sp>
                  <p:nvSpPr>
                    <p:cNvPr id="284" name="Right Brace 283" hidden="1">
                      <a:extLst>
                        <a:ext uri="{FF2B5EF4-FFF2-40B4-BE49-F238E27FC236}">
                          <a16:creationId xmlns:a16="http://schemas.microsoft.com/office/drawing/2014/main" id="{9749668B-20B0-4205-96C8-04590236BD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5010" y="1306361"/>
                      <a:ext cx="58995" cy="492011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/>
                    </a:p>
                  </p:txBody>
                </p:sp>
                <p:sp>
                  <p:nvSpPr>
                    <p:cNvPr id="285" name="Right Brace 284">
                      <a:extLst>
                        <a:ext uri="{FF2B5EF4-FFF2-40B4-BE49-F238E27FC236}">
                          <a16:creationId xmlns:a16="http://schemas.microsoft.com/office/drawing/2014/main" id="{E3117051-711B-46A2-9B31-2D65E946FA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4245" y="2709937"/>
                      <a:ext cx="88090" cy="428586"/>
                    </a:xfrm>
                    <a:prstGeom prst="rightBrace">
                      <a:avLst/>
                    </a:prstGeom>
                    <a:ln w="190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b="1"/>
                    </a:p>
                  </p:txBody>
                </p:sp>
                <p:sp>
                  <p:nvSpPr>
                    <p:cNvPr id="286" name="Rectangle 285">
                      <a:extLst>
                        <a:ext uri="{FF2B5EF4-FFF2-40B4-BE49-F238E27FC236}">
                          <a16:creationId xmlns:a16="http://schemas.microsoft.com/office/drawing/2014/main" id="{8B72DB47-C570-4A1F-B58C-982C7E5CAD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4193" y="1247832"/>
                      <a:ext cx="491740" cy="176635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2">
                        <a:shade val="50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50" dirty="0"/>
                        <a:t>Na</a:t>
                      </a:r>
                      <a:r>
                        <a:rPr lang="en-US" sz="1050" baseline="30000" dirty="0"/>
                        <a:t>+</a:t>
                      </a:r>
                      <a:endParaRPr lang="en-US" sz="1050" dirty="0"/>
                    </a:p>
                  </p:txBody>
                </p:sp>
                <p:sp>
                  <p:nvSpPr>
                    <p:cNvPr id="287" name="TextBox 286" hidden="1">
                      <a:extLst>
                        <a:ext uri="{FF2B5EF4-FFF2-40B4-BE49-F238E27FC236}">
                          <a16:creationId xmlns:a16="http://schemas.microsoft.com/office/drawing/2014/main" id="{43EF12F2-BE90-4FC2-82AE-7541ACF7A8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4509" y="1398477"/>
                      <a:ext cx="459023" cy="32081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050" dirty="0"/>
                        <a:t>24</a:t>
                      </a:r>
                    </a:p>
                  </p:txBody>
                </p:sp>
                <p:sp>
                  <p:nvSpPr>
                    <p:cNvPr id="288" name="TextBox 287" hidden="1">
                      <a:extLst>
                        <a:ext uri="{FF2B5EF4-FFF2-40B4-BE49-F238E27FC236}">
                          <a16:creationId xmlns:a16="http://schemas.microsoft.com/office/drawing/2014/main" id="{B766774A-62D4-454E-A277-6103CECA78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7174" y="2090616"/>
                      <a:ext cx="571300" cy="32081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050" dirty="0"/>
                        <a:t>104</a:t>
                      </a:r>
                    </a:p>
                  </p:txBody>
                </p:sp>
                <p:sp>
                  <p:nvSpPr>
                    <p:cNvPr id="289" name="Right Brace 288" hidden="1">
                      <a:extLst>
                        <a:ext uri="{FF2B5EF4-FFF2-40B4-BE49-F238E27FC236}">
                          <a16:creationId xmlns:a16="http://schemas.microsoft.com/office/drawing/2014/main" id="{043E0B2D-6F93-4430-8499-32F7287D75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8414" y="1798370"/>
                      <a:ext cx="99450" cy="967792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/>
                    </a:p>
                  </p:txBody>
                </p:sp>
                <p:sp>
                  <p:nvSpPr>
                    <p:cNvPr id="294" name="Right Brace 293" hidden="1">
                      <a:extLst>
                        <a:ext uri="{FF2B5EF4-FFF2-40B4-BE49-F238E27FC236}">
                          <a16:creationId xmlns:a16="http://schemas.microsoft.com/office/drawing/2014/main" id="{EF2222D9-53B3-404C-925A-00E5DA9F0C5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653667" y="1314474"/>
                      <a:ext cx="58784" cy="1834089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/>
                    </a:p>
                  </p:txBody>
                </p:sp>
                <p:sp>
                  <p:nvSpPr>
                    <p:cNvPr id="295" name="TextBox 294" hidden="1">
                      <a:extLst>
                        <a:ext uri="{FF2B5EF4-FFF2-40B4-BE49-F238E27FC236}">
                          <a16:creationId xmlns:a16="http://schemas.microsoft.com/office/drawing/2014/main" id="{8746ACE2-9B78-4E81-8907-ECC753D1A4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69669" y="2069926"/>
                      <a:ext cx="536670" cy="3019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000" dirty="0"/>
                        <a:t>140</a:t>
                      </a:r>
                    </a:p>
                  </p:txBody>
                </p:sp>
                <p:sp>
                  <p:nvSpPr>
                    <p:cNvPr id="296" name="Rectangle 295">
                      <a:extLst>
                        <a:ext uri="{FF2B5EF4-FFF2-40B4-BE49-F238E27FC236}">
                          <a16:creationId xmlns:a16="http://schemas.microsoft.com/office/drawing/2014/main" id="{C8A4DBB9-DA08-44C6-BC63-6F5982DFCE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73335" y="2747776"/>
                      <a:ext cx="510947" cy="339684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AG</a:t>
                      </a:r>
                    </a:p>
                  </p:txBody>
                </p:sp>
                <p:sp>
                  <p:nvSpPr>
                    <p:cNvPr id="297" name="TextBox 296">
                      <a:extLst>
                        <a:ext uri="{FF2B5EF4-FFF2-40B4-BE49-F238E27FC236}">
                          <a16:creationId xmlns:a16="http://schemas.microsoft.com/office/drawing/2014/main" id="{DA86E237-92CD-460E-9443-9CBEF71FDA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50822" y="670580"/>
                      <a:ext cx="1862971" cy="3774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The Anion Gap</a:t>
                      </a:r>
                    </a:p>
                  </p:txBody>
                </p:sp>
                <p:sp>
                  <p:nvSpPr>
                    <p:cNvPr id="298" name="Rectangle 297">
                      <a:extLst>
                        <a:ext uri="{FF2B5EF4-FFF2-40B4-BE49-F238E27FC236}">
                          <a16:creationId xmlns:a16="http://schemas.microsoft.com/office/drawing/2014/main" id="{DE79E301-2D73-4476-A02A-1E51B3D415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4915" y="964691"/>
                      <a:ext cx="833332" cy="33968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sz="1200" dirty="0"/>
                        <a:t>Cations</a:t>
                      </a:r>
                    </a:p>
                  </p:txBody>
                </p:sp>
                <p:sp>
                  <p:nvSpPr>
                    <p:cNvPr id="299" name="Rectangle 298">
                      <a:extLst>
                        <a:ext uri="{FF2B5EF4-FFF2-40B4-BE49-F238E27FC236}">
                          <a16:creationId xmlns:a16="http://schemas.microsoft.com/office/drawing/2014/main" id="{DAB078B5-63C9-4B32-ADA4-066CD21B1F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6080" y="964691"/>
                      <a:ext cx="622115" cy="339684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200" dirty="0"/>
                        <a:t>Anions</a:t>
                      </a:r>
                    </a:p>
                  </p:txBody>
                </p:sp>
                <p:sp>
                  <p:nvSpPr>
                    <p:cNvPr id="300" name="Rectangle 299">
                      <a:extLst>
                        <a:ext uri="{FF2B5EF4-FFF2-40B4-BE49-F238E27FC236}">
                          <a16:creationId xmlns:a16="http://schemas.microsoft.com/office/drawing/2014/main" id="{4B1ED87F-C019-4387-A35F-E5EC402D10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1156" y="3020586"/>
                      <a:ext cx="494777" cy="12969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700" dirty="0"/>
                        <a:t>K+</a:t>
                      </a:r>
                    </a:p>
                  </p:txBody>
                </p:sp>
              </p:grpSp>
            </p:grpSp>
            <p:sp>
              <p:nvSpPr>
                <p:cNvPr id="278" name="Rectangle 277">
                  <a:extLst>
                    <a:ext uri="{FF2B5EF4-FFF2-40B4-BE49-F238E27FC236}">
                      <a16:creationId xmlns:a16="http://schemas.microsoft.com/office/drawing/2014/main" id="{BE8FB448-9EBA-4DDC-99C3-A7F537D88783}"/>
                    </a:ext>
                  </a:extLst>
                </p:cNvPr>
                <p:cNvSpPr/>
                <p:nvPr/>
              </p:nvSpPr>
              <p:spPr>
                <a:xfrm>
                  <a:off x="5518002" y="670068"/>
                  <a:ext cx="2251907" cy="141577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/>
                    <a:t>Measured AG = (Na) – (HCO</a:t>
                  </a:r>
                  <a:r>
                    <a:rPr lang="en-US" sz="1400" b="1" baseline="-25000" dirty="0"/>
                    <a:t>3</a:t>
                  </a:r>
                  <a:r>
                    <a:rPr lang="en-US" sz="1400" b="1" dirty="0"/>
                    <a:t> + Cl).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1200" dirty="0"/>
                    <a:t>Compare the calculated and expected AG. Normally, the expected AG is 8-12. But because it’s predominantly albumin, the expected AG is </a:t>
                  </a:r>
                  <a:r>
                    <a:rPr lang="en-US" sz="1200" dirty="0">
                      <a:sym typeface="Wingdings" panose="05000000000000000000" pitchFamily="2" charset="2"/>
                    </a:rPr>
                    <a:t></a:t>
                  </a:r>
                  <a:r>
                    <a:rPr lang="en-US" sz="1200" dirty="0"/>
                    <a:t> when albumin is </a:t>
                  </a:r>
                  <a:r>
                    <a:rPr lang="en-US" sz="1200" dirty="0">
                      <a:sym typeface="Wingdings" panose="05000000000000000000" pitchFamily="2" charset="2"/>
                    </a:rPr>
                    <a:t></a:t>
                  </a:r>
                  <a:r>
                    <a:rPr lang="en-US" sz="1200" dirty="0"/>
                    <a:t>. </a:t>
                  </a:r>
                </a:p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/>
                    <a:t>Expected AG = albumin x 2.5</a:t>
                  </a:r>
                </a:p>
              </p:txBody>
            </p:sp>
          </p:grp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6182450F-4971-45D3-BE58-95799ED24CC6}"/>
                  </a:ext>
                </a:extLst>
              </p:cNvPr>
              <p:cNvSpPr/>
              <p:nvPr/>
            </p:nvSpPr>
            <p:spPr>
              <a:xfrm>
                <a:off x="5818516" y="2165914"/>
                <a:ext cx="194608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200" dirty="0"/>
                  <a:t>If the calculated AG &gt; expected AG, there is an AG.</a:t>
                </a:r>
              </a:p>
            </p:txBody>
          </p:sp>
        </p:grpSp>
        <p:pic>
          <p:nvPicPr>
            <p:cNvPr id="274" name="Graphic 273" descr="Close">
              <a:extLst>
                <a:ext uri="{FF2B5EF4-FFF2-40B4-BE49-F238E27FC236}">
                  <a16:creationId xmlns:a16="http://schemas.microsoft.com/office/drawing/2014/main" id="{B97B54B6-1692-414E-B735-AE774A8A3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86518" y="668828"/>
              <a:ext cx="145056" cy="182880"/>
            </a:xfrm>
            <a:prstGeom prst="rect">
              <a:avLst/>
            </a:prstGeom>
          </p:spPr>
        </p:pic>
      </p:grpSp>
      <p:grpSp>
        <p:nvGrpSpPr>
          <p:cNvPr id="304" name="delta-delta pop-up">
            <a:extLst>
              <a:ext uri="{FF2B5EF4-FFF2-40B4-BE49-F238E27FC236}">
                <a16:creationId xmlns:a16="http://schemas.microsoft.com/office/drawing/2014/main" id="{61DC7AAF-D8AB-4690-9D5B-24F7483D33C0}"/>
              </a:ext>
            </a:extLst>
          </p:cNvPr>
          <p:cNvGrpSpPr/>
          <p:nvPr/>
        </p:nvGrpSpPr>
        <p:grpSpPr>
          <a:xfrm>
            <a:off x="7740502" y="2796299"/>
            <a:ext cx="4316650" cy="2568524"/>
            <a:chOff x="7606090" y="2215065"/>
            <a:chExt cx="4316650" cy="25685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Delta delta explanation">
                  <a:extLst>
                    <a:ext uri="{FF2B5EF4-FFF2-40B4-BE49-F238E27FC236}">
                      <a16:creationId xmlns:a16="http://schemas.microsoft.com/office/drawing/2014/main" id="{FFB17B57-03E7-43CF-AE37-4197ED696E8B}"/>
                    </a:ext>
                  </a:extLst>
                </p:cNvPr>
                <p:cNvSpPr txBox="1"/>
                <p:nvPr/>
              </p:nvSpPr>
              <p:spPr>
                <a:xfrm>
                  <a:off x="7606090" y="2215065"/>
                  <a:ext cx="4316650" cy="256852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Delta-delta (∆∆)</a:t>
                  </a:r>
                </a:p>
                <a:p>
                  <a14:m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𝑀𝑒𝑎𝑠𝑢𝑟𝑒𝑑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𝐴𝐺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𝐸𝑥𝑝𝑒𝑐𝑡𝑒𝑑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𝐴𝐺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𝑀𝑒𝑎𝑠𝑢𝑟𝑒𝑑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𝐻𝐶𝑂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3 −24</m:t>
                          </m:r>
                        </m:den>
                      </m:f>
                    </m:oMath>
                  </a14:m>
                  <a:r>
                    <a:rPr lang="en-US" sz="1400" dirty="0"/>
                    <a:t> 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dirty="0"/>
                            <m:t>∆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𝐴𝐺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dirty="0"/>
                            <m:t>∆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𝐻𝐶𝑂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a14:m>
                  <a:endParaRPr lang="en-US" sz="1400" dirty="0"/>
                </a:p>
                <a:p>
                  <a:endParaRPr lang="en-US" sz="600" dirty="0"/>
                </a:p>
                <a:p>
                  <a:pPr marL="285750" indent="-171450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∆∆  &lt;1 → concurrent NAGMA</a:t>
                  </a:r>
                </a:p>
                <a:p>
                  <a:pPr marL="285750" indent="-171450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∆∆  1→ pure AGMA</a:t>
                  </a:r>
                </a:p>
                <a:p>
                  <a:pPr marL="285750" indent="-171450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∆∆  1-2 → pure AGMA OR concurrent metabolic alkalosis</a:t>
                  </a:r>
                </a:p>
                <a:p>
                  <a:pPr marL="285750" indent="-171450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∆∆  &gt;2 → concurrent metabolic alkalosis</a:t>
                  </a:r>
                </a:p>
                <a:p>
                  <a:pPr marL="114300"/>
                  <a:endParaRPr lang="en-US" sz="900" dirty="0"/>
                </a:p>
                <a:p>
                  <a:r>
                    <a:rPr lang="en-US" sz="1400" b="1" dirty="0"/>
                    <a:t>“Residual” HCO</a:t>
                  </a:r>
                  <a:r>
                    <a:rPr lang="en-US" sz="1400" b="1" baseline="-25000" dirty="0"/>
                    <a:t>3</a:t>
                  </a:r>
                  <a:r>
                    <a:rPr lang="en-US" sz="1400" b="1" baseline="30000" dirty="0"/>
                    <a:t>- </a:t>
                  </a:r>
                  <a:r>
                    <a:rPr lang="en-US" sz="1400" b="1" dirty="0"/>
                    <a:t> =  ∆AG  + measured HCO</a:t>
                  </a:r>
                  <a:r>
                    <a:rPr lang="en-US" sz="1400" b="1" baseline="-25000" dirty="0"/>
                    <a:t>3</a:t>
                  </a:r>
                  <a:r>
                    <a:rPr lang="en-US" sz="1400" b="1" baseline="30000" dirty="0"/>
                    <a:t>-</a:t>
                  </a:r>
                </a:p>
                <a:p>
                  <a:r>
                    <a:rPr lang="en-US" sz="1200" i="1" dirty="0"/>
                    <a:t>AKA, what metabolic process is left if the AGMA is accounted for?</a:t>
                  </a:r>
                  <a:endParaRPr lang="en-US" sz="1100" i="1" dirty="0"/>
                </a:p>
                <a:p>
                  <a:pPr marL="285750" indent="-166688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“Residual” HCO</a:t>
                  </a:r>
                  <a:r>
                    <a:rPr lang="en-US" sz="1200" baseline="-25000" dirty="0"/>
                    <a:t>3</a:t>
                  </a:r>
                  <a:r>
                    <a:rPr lang="en-US" sz="1200" baseline="30000" dirty="0"/>
                    <a:t>-</a:t>
                  </a:r>
                  <a:r>
                    <a:rPr lang="en-US" sz="1200" dirty="0"/>
                    <a:t> &lt; 22 → concurrent NAGMA</a:t>
                  </a:r>
                </a:p>
                <a:p>
                  <a:pPr marL="285750" indent="-166688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“Residual” HCO</a:t>
                  </a:r>
                  <a:r>
                    <a:rPr lang="en-US" sz="1200" baseline="-25000" dirty="0"/>
                    <a:t>3</a:t>
                  </a:r>
                  <a:r>
                    <a:rPr lang="en-US" sz="1200" baseline="30000" dirty="0"/>
                    <a:t>-</a:t>
                  </a:r>
                  <a:r>
                    <a:rPr lang="en-US" sz="1200" dirty="0"/>
                    <a:t> 22-26 → pure AG</a:t>
                  </a:r>
                </a:p>
                <a:p>
                  <a:pPr marL="285750" indent="-166688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“Residual” HCO</a:t>
                  </a:r>
                  <a:r>
                    <a:rPr lang="en-US" sz="1200" baseline="-25000" dirty="0"/>
                    <a:t>3</a:t>
                  </a:r>
                  <a:r>
                    <a:rPr lang="en-US" sz="1200" baseline="30000" dirty="0"/>
                    <a:t>-</a:t>
                  </a:r>
                  <a:r>
                    <a:rPr lang="en-US" sz="1200" dirty="0"/>
                    <a:t> &gt; 26 → concurrent metabolic alkalosis </a:t>
                  </a:r>
                </a:p>
              </p:txBody>
            </p:sp>
          </mc:Choice>
          <mc:Fallback xmlns="">
            <p:sp>
              <p:nvSpPr>
                <p:cNvPr id="40" name="Delta delta explanation">
                  <a:extLst>
                    <a:ext uri="{FF2B5EF4-FFF2-40B4-BE49-F238E27FC236}">
                      <a16:creationId xmlns:a16="http://schemas.microsoft.com/office/drawing/2014/main" id="{01EA9C34-2AC9-44A1-83A7-6AADF5320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090" y="2215065"/>
                  <a:ext cx="4316650" cy="2568524"/>
                </a:xfrm>
                <a:prstGeom prst="rect">
                  <a:avLst/>
                </a:prstGeom>
                <a:blipFill>
                  <a:blip r:embed="rId8"/>
                  <a:stretch>
                    <a:fillRect l="-281" t="-236" b="-7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10" name="Graphic 309" descr="Close">
              <a:extLst>
                <a:ext uri="{FF2B5EF4-FFF2-40B4-BE49-F238E27FC236}">
                  <a16:creationId xmlns:a16="http://schemas.microsoft.com/office/drawing/2014/main" id="{93AA4ABA-374F-4EA5-8EB5-F23EE7D2A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700581" y="2242227"/>
              <a:ext cx="184150" cy="184150"/>
            </a:xfrm>
            <a:prstGeom prst="rect">
              <a:avLst/>
            </a:prstGeom>
          </p:spPr>
        </p:pic>
      </p:grpSp>
      <p:pic>
        <p:nvPicPr>
          <p:cNvPr id="340" name="Mouse pure AGMA" descr="Cursor with solid fill">
            <a:extLst>
              <a:ext uri="{FF2B5EF4-FFF2-40B4-BE49-F238E27FC236}">
                <a16:creationId xmlns:a16="http://schemas.microsoft.com/office/drawing/2014/main" id="{D722003C-5035-4016-B448-79176B9537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123261" y="4581036"/>
            <a:ext cx="274320" cy="274320"/>
          </a:xfrm>
          <a:prstGeom prst="rect">
            <a:avLst/>
          </a:prstGeom>
        </p:spPr>
      </p:pic>
      <p:pic>
        <p:nvPicPr>
          <p:cNvPr id="341" name="Mouse UAG" descr="Cursor with solid fill">
            <a:extLst>
              <a:ext uri="{FF2B5EF4-FFF2-40B4-BE49-F238E27FC236}">
                <a16:creationId xmlns:a16="http://schemas.microsoft.com/office/drawing/2014/main" id="{D5067827-67ED-4AA2-A02B-7ACFA33D7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167246" y="3263052"/>
            <a:ext cx="274320" cy="274320"/>
          </a:xfrm>
          <a:prstGeom prst="rect">
            <a:avLst/>
          </a:prstGeom>
        </p:spPr>
      </p:pic>
      <p:pic>
        <p:nvPicPr>
          <p:cNvPr id="342" name="Mouse respiratory" descr="Cursor with solid fill">
            <a:extLst>
              <a:ext uri="{FF2B5EF4-FFF2-40B4-BE49-F238E27FC236}">
                <a16:creationId xmlns:a16="http://schemas.microsoft.com/office/drawing/2014/main" id="{FFFA60BE-A763-4F0A-BFC0-8A0740DBB5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720588" y="1045796"/>
            <a:ext cx="274320" cy="274320"/>
          </a:xfrm>
          <a:prstGeom prst="rect">
            <a:avLst/>
          </a:prstGeom>
        </p:spPr>
      </p:pic>
      <p:grpSp>
        <p:nvGrpSpPr>
          <p:cNvPr id="343" name="Delta delta scale">
            <a:extLst>
              <a:ext uri="{FF2B5EF4-FFF2-40B4-BE49-F238E27FC236}">
                <a16:creationId xmlns:a16="http://schemas.microsoft.com/office/drawing/2014/main" id="{A4B92C1F-2385-4F9F-8B0A-7CB3DCDFDA37}"/>
              </a:ext>
            </a:extLst>
          </p:cNvPr>
          <p:cNvGrpSpPr/>
          <p:nvPr/>
        </p:nvGrpSpPr>
        <p:grpSpPr>
          <a:xfrm>
            <a:off x="4451499" y="3627027"/>
            <a:ext cx="2856475" cy="373551"/>
            <a:chOff x="3490122" y="4447300"/>
            <a:chExt cx="3980596" cy="373551"/>
          </a:xfrm>
        </p:grpSpPr>
        <p:sp>
          <p:nvSpPr>
            <p:cNvPr id="344" name="Arrow: Left-Right 343">
              <a:extLst>
                <a:ext uri="{FF2B5EF4-FFF2-40B4-BE49-F238E27FC236}">
                  <a16:creationId xmlns:a16="http://schemas.microsoft.com/office/drawing/2014/main" id="{66C5C1B9-E29E-4DA1-BED1-74026EED169F}"/>
                </a:ext>
              </a:extLst>
            </p:cNvPr>
            <p:cNvSpPr/>
            <p:nvPr/>
          </p:nvSpPr>
          <p:spPr>
            <a:xfrm>
              <a:off x="3490122" y="4447300"/>
              <a:ext cx="3980596" cy="373551"/>
            </a:xfrm>
            <a:prstGeom prst="leftRightArrow">
              <a:avLst>
                <a:gd name="adj1" fmla="val 50000"/>
                <a:gd name="adj2" fmla="val 38101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04F42061-816A-4F19-898B-7DC3A0782852}"/>
                </a:ext>
              </a:extLst>
            </p:cNvPr>
            <p:cNvSpPr txBox="1"/>
            <p:nvPr/>
          </p:nvSpPr>
          <p:spPr>
            <a:xfrm>
              <a:off x="3735237" y="4489098"/>
              <a:ext cx="509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&lt;1</a:t>
              </a: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CFC515AF-690D-477B-B428-DAD7A713931D}"/>
                </a:ext>
              </a:extLst>
            </p:cNvPr>
            <p:cNvSpPr/>
            <p:nvPr/>
          </p:nvSpPr>
          <p:spPr>
            <a:xfrm>
              <a:off x="5262909" y="4483350"/>
              <a:ext cx="2760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4E12E149-CFD9-4F2A-BB0B-ABDF03D453FF}"/>
                </a:ext>
              </a:extLst>
            </p:cNvPr>
            <p:cNvSpPr/>
            <p:nvPr/>
          </p:nvSpPr>
          <p:spPr>
            <a:xfrm>
              <a:off x="6673322" y="4489174"/>
              <a:ext cx="39219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&gt;2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1D0A55-75A4-4393-A287-00F437A2ADB0}"/>
              </a:ext>
            </a:extLst>
          </p:cNvPr>
          <p:cNvGrpSpPr/>
          <p:nvPr/>
        </p:nvGrpSpPr>
        <p:grpSpPr>
          <a:xfrm>
            <a:off x="1723010" y="60770"/>
            <a:ext cx="901439" cy="1252004"/>
            <a:chOff x="1723010" y="60770"/>
            <a:chExt cx="901439" cy="1252004"/>
          </a:xfrm>
        </p:grpSpPr>
        <p:sp>
          <p:nvSpPr>
            <p:cNvPr id="258" name="Step 1">
              <a:extLst>
                <a:ext uri="{FF2B5EF4-FFF2-40B4-BE49-F238E27FC236}">
                  <a16:creationId xmlns:a16="http://schemas.microsoft.com/office/drawing/2014/main" id="{CF718B2E-0281-42FA-A2D1-7BB67274CB1E}"/>
                </a:ext>
              </a:extLst>
            </p:cNvPr>
            <p:cNvSpPr/>
            <p:nvPr/>
          </p:nvSpPr>
          <p:spPr>
            <a:xfrm>
              <a:off x="1723010" y="542742"/>
              <a:ext cx="742473" cy="28806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Step 1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5AA91522-4758-4C7B-9E24-433391D5EB7C}"/>
                </a:ext>
              </a:extLst>
            </p:cNvPr>
            <p:cNvSpPr/>
            <p:nvPr/>
          </p:nvSpPr>
          <p:spPr>
            <a:xfrm>
              <a:off x="2470143" y="60770"/>
              <a:ext cx="154306" cy="1252004"/>
            </a:xfrm>
            <a:prstGeom prst="leftBrace">
              <a:avLst>
                <a:gd name="adj1" fmla="val 0"/>
                <a:gd name="adj2" fmla="val 5112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9" name="question 3">
            <a:hlinkClick r:id="rId9" action="ppaction://hlinksldjump"/>
            <a:extLst>
              <a:ext uri="{FF2B5EF4-FFF2-40B4-BE49-F238E27FC236}">
                <a16:creationId xmlns:a16="http://schemas.microsoft.com/office/drawing/2014/main" id="{ED202D41-3606-41F7-9C87-7FC8EF6CA378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350" name="question 4">
            <a:hlinkClick r:id="rId10" action="ppaction://hlinksldjump"/>
            <a:extLst>
              <a:ext uri="{FF2B5EF4-FFF2-40B4-BE49-F238E27FC236}">
                <a16:creationId xmlns:a16="http://schemas.microsoft.com/office/drawing/2014/main" id="{12999D83-65BA-406C-ADA3-42D1BBD7C321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Acidemia</a:t>
            </a:r>
          </a:p>
        </p:txBody>
      </p:sp>
      <p:sp>
        <p:nvSpPr>
          <p:cNvPr id="351" name="sub-q 2">
            <a:hlinkClick r:id="rId11" action="ppaction://hlinksldjump"/>
            <a:extLst>
              <a:ext uri="{FF2B5EF4-FFF2-40B4-BE49-F238E27FC236}">
                <a16:creationId xmlns:a16="http://schemas.microsoft.com/office/drawing/2014/main" id="{D665B11A-D26F-4D47-9909-B2B4A6E88960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352" name="sub-q 1 button">
            <a:hlinkClick r:id="rId12" action="ppaction://hlinksldjump"/>
            <a:extLst>
              <a:ext uri="{FF2B5EF4-FFF2-40B4-BE49-F238E27FC236}">
                <a16:creationId xmlns:a16="http://schemas.microsoft.com/office/drawing/2014/main" id="{2880030A-1F85-40F3-A2A8-118660714D11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353" name="Graphic 352" descr="Cursor with solid fill">
            <a:extLst>
              <a:ext uri="{FF2B5EF4-FFF2-40B4-BE49-F238E27FC236}">
                <a16:creationId xmlns:a16="http://schemas.microsoft.com/office/drawing/2014/main" id="{401AA4B5-E131-4BB3-84CB-DAF6420CA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354" name="Graphic 353" descr="Cursor with solid fill">
            <a:extLst>
              <a:ext uri="{FF2B5EF4-FFF2-40B4-BE49-F238E27FC236}">
                <a16:creationId xmlns:a16="http://schemas.microsoft.com/office/drawing/2014/main" id="{83B8719C-EEAC-4C37-8C86-76F67B368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355" name="Question 2">
            <a:hlinkClick r:id="rId13" action="ppaction://hlinksldjump"/>
            <a:extLst>
              <a:ext uri="{FF2B5EF4-FFF2-40B4-BE49-F238E27FC236}">
                <a16:creationId xmlns:a16="http://schemas.microsoft.com/office/drawing/2014/main" id="{415C76DD-A067-4040-96F9-B1187402F2E9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356" name="Graphic 355" descr="Cursor with solid fill">
            <a:extLst>
              <a:ext uri="{FF2B5EF4-FFF2-40B4-BE49-F238E27FC236}">
                <a16:creationId xmlns:a16="http://schemas.microsoft.com/office/drawing/2014/main" id="{9BF7AE87-E882-4FAD-9016-74C28D874C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357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875F82EC-39D7-4DE5-A4B1-CBFC5085AADB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sp>
        <p:nvSpPr>
          <p:cNvPr id="358" name="question 1">
            <a:hlinkClick r:id="rId14" action="ppaction://hlinksldjump"/>
            <a:extLst>
              <a:ext uri="{FF2B5EF4-FFF2-40B4-BE49-F238E27FC236}">
                <a16:creationId xmlns:a16="http://schemas.microsoft.com/office/drawing/2014/main" id="{8EE77EF2-95F0-4DAD-B5F8-D7F361C19C43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359" name="Graphic 358" descr="Cursor with solid fill">
            <a:extLst>
              <a:ext uri="{FF2B5EF4-FFF2-40B4-BE49-F238E27FC236}">
                <a16:creationId xmlns:a16="http://schemas.microsoft.com/office/drawing/2014/main" id="{302FD15B-DBD5-4CC4-A909-A4A0A77A6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360" name="Graphic 359" descr="Cursor with solid fill">
            <a:extLst>
              <a:ext uri="{FF2B5EF4-FFF2-40B4-BE49-F238E27FC236}">
                <a16:creationId xmlns:a16="http://schemas.microsoft.com/office/drawing/2014/main" id="{A9733FC9-5361-49B5-8E1A-1404ED655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9E450ED-C41E-4C58-AFCC-C4D8E327341B}"/>
              </a:ext>
            </a:extLst>
          </p:cNvPr>
          <p:cNvCxnSpPr>
            <a:stCxn id="227" idx="2"/>
            <a:endCxn id="231" idx="0"/>
          </p:cNvCxnSpPr>
          <p:nvPr/>
        </p:nvCxnSpPr>
        <p:spPr>
          <a:xfrm rot="16200000" flipH="1">
            <a:off x="4115642" y="1682646"/>
            <a:ext cx="339354" cy="5844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119B9B89-EF70-4A3D-9971-FCDF8A55B273}"/>
              </a:ext>
            </a:extLst>
          </p:cNvPr>
          <p:cNvCxnSpPr>
            <a:stCxn id="227" idx="2"/>
            <a:endCxn id="234" idx="0"/>
          </p:cNvCxnSpPr>
          <p:nvPr/>
        </p:nvCxnSpPr>
        <p:spPr>
          <a:xfrm rot="5400000">
            <a:off x="3471744" y="1630084"/>
            <a:ext cx="346229" cy="696460"/>
          </a:xfrm>
          <a:prstGeom prst="bentConnector3">
            <a:avLst>
              <a:gd name="adj1" fmla="val 485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3974487-BC50-4222-80BA-0D3ED80603BB}"/>
              </a:ext>
            </a:extLst>
          </p:cNvPr>
          <p:cNvCxnSpPr>
            <a:stCxn id="234" idx="2"/>
            <a:endCxn id="236" idx="0"/>
          </p:cNvCxnSpPr>
          <p:nvPr/>
        </p:nvCxnSpPr>
        <p:spPr>
          <a:xfrm rot="5400000">
            <a:off x="2759784" y="2523222"/>
            <a:ext cx="534067" cy="539623"/>
          </a:xfrm>
          <a:prstGeom prst="bentConnector3">
            <a:avLst>
              <a:gd name="adj1" fmla="val 3941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12C68E08-9298-4180-BB18-3C3F225CD1E2}"/>
              </a:ext>
            </a:extLst>
          </p:cNvPr>
          <p:cNvCxnSpPr>
            <a:cxnSpLocks/>
            <a:stCxn id="231" idx="2"/>
            <a:endCxn id="255" idx="0"/>
          </p:cNvCxnSpPr>
          <p:nvPr/>
        </p:nvCxnSpPr>
        <p:spPr>
          <a:xfrm rot="16200000" flipH="1">
            <a:off x="5007146" y="2089528"/>
            <a:ext cx="436544" cy="12957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1" name="UAG pop-up">
            <a:extLst>
              <a:ext uri="{FF2B5EF4-FFF2-40B4-BE49-F238E27FC236}">
                <a16:creationId xmlns:a16="http://schemas.microsoft.com/office/drawing/2014/main" id="{BA1D47A0-2235-4941-949D-FCF63D278841}"/>
              </a:ext>
            </a:extLst>
          </p:cNvPr>
          <p:cNvGrpSpPr/>
          <p:nvPr/>
        </p:nvGrpSpPr>
        <p:grpSpPr>
          <a:xfrm>
            <a:off x="4108634" y="4489519"/>
            <a:ext cx="4884709" cy="2235486"/>
            <a:chOff x="3310224" y="4603250"/>
            <a:chExt cx="4884709" cy="2235486"/>
          </a:xfrm>
        </p:grpSpPr>
        <p:grpSp>
          <p:nvGrpSpPr>
            <p:cNvPr id="312" name="Union anion gap pop-up">
              <a:extLst>
                <a:ext uri="{FF2B5EF4-FFF2-40B4-BE49-F238E27FC236}">
                  <a16:creationId xmlns:a16="http://schemas.microsoft.com/office/drawing/2014/main" id="{FC1F950B-4C89-4F88-8C6A-FE5CAE10882F}"/>
                </a:ext>
              </a:extLst>
            </p:cNvPr>
            <p:cNvGrpSpPr/>
            <p:nvPr/>
          </p:nvGrpSpPr>
          <p:grpSpPr>
            <a:xfrm>
              <a:off x="3310224" y="4603250"/>
              <a:ext cx="4884709" cy="2235486"/>
              <a:chOff x="3896016" y="2911693"/>
              <a:chExt cx="4441842" cy="2362231"/>
            </a:xfrm>
          </p:grpSpPr>
          <p:grpSp>
            <p:nvGrpSpPr>
              <p:cNvPr id="314" name="Anion gap pop up">
                <a:extLst>
                  <a:ext uri="{FF2B5EF4-FFF2-40B4-BE49-F238E27FC236}">
                    <a16:creationId xmlns:a16="http://schemas.microsoft.com/office/drawing/2014/main" id="{005F10E8-7E54-477A-8166-BDED2AAA5259}"/>
                  </a:ext>
                </a:extLst>
              </p:cNvPr>
              <p:cNvGrpSpPr/>
              <p:nvPr/>
            </p:nvGrpSpPr>
            <p:grpSpPr>
              <a:xfrm>
                <a:off x="3896016" y="2911693"/>
                <a:ext cx="4441842" cy="2362231"/>
                <a:chOff x="3921542" y="529839"/>
                <a:chExt cx="4441842" cy="2362231"/>
              </a:xfrm>
            </p:grpSpPr>
            <p:grpSp>
              <p:nvGrpSpPr>
                <p:cNvPr id="320" name="Anion gap explanation">
                  <a:extLst>
                    <a:ext uri="{FF2B5EF4-FFF2-40B4-BE49-F238E27FC236}">
                      <a16:creationId xmlns:a16="http://schemas.microsoft.com/office/drawing/2014/main" id="{9C382882-F270-42E4-976E-1D85EDB3E1EC}"/>
                    </a:ext>
                  </a:extLst>
                </p:cNvPr>
                <p:cNvGrpSpPr/>
                <p:nvPr/>
              </p:nvGrpSpPr>
              <p:grpSpPr>
                <a:xfrm>
                  <a:off x="3921542" y="529839"/>
                  <a:ext cx="4441842" cy="2362231"/>
                  <a:chOff x="4654622" y="529840"/>
                  <a:chExt cx="4441842" cy="2362231"/>
                </a:xfrm>
              </p:grpSpPr>
              <p:sp>
                <p:nvSpPr>
                  <p:cNvPr id="323" name="Rectangle 322">
                    <a:extLst>
                      <a:ext uri="{FF2B5EF4-FFF2-40B4-BE49-F238E27FC236}">
                        <a16:creationId xmlns:a16="http://schemas.microsoft.com/office/drawing/2014/main" id="{D44CC82C-EA2F-426A-972A-9A27D872EF3D}"/>
                      </a:ext>
                    </a:extLst>
                  </p:cNvPr>
                  <p:cNvSpPr/>
                  <p:nvPr/>
                </p:nvSpPr>
                <p:spPr>
                  <a:xfrm>
                    <a:off x="4725506" y="529840"/>
                    <a:ext cx="4370958" cy="2362231"/>
                  </a:xfrm>
                  <a:prstGeom prst="rect">
                    <a:avLst/>
                  </a:prstGeom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accent3"/>
                      </a:solidFill>
                    </a:endParaRPr>
                  </a:p>
                </p:txBody>
              </p:sp>
              <p:grpSp>
                <p:nvGrpSpPr>
                  <p:cNvPr id="324" name="Group 323">
                    <a:extLst>
                      <a:ext uri="{FF2B5EF4-FFF2-40B4-BE49-F238E27FC236}">
                        <a16:creationId xmlns:a16="http://schemas.microsoft.com/office/drawing/2014/main" id="{42D0DD23-7DFA-4D0A-903D-A540014A4163}"/>
                      </a:ext>
                    </a:extLst>
                  </p:cNvPr>
                  <p:cNvGrpSpPr/>
                  <p:nvPr/>
                </p:nvGrpSpPr>
                <p:grpSpPr>
                  <a:xfrm>
                    <a:off x="4654622" y="551536"/>
                    <a:ext cx="2495633" cy="2145468"/>
                    <a:chOff x="4099698" y="645530"/>
                    <a:chExt cx="3208776" cy="2630985"/>
                  </a:xfrm>
                </p:grpSpPr>
                <p:grpSp>
                  <p:nvGrpSpPr>
                    <p:cNvPr id="325" name="Group 324">
                      <a:extLst>
                        <a:ext uri="{FF2B5EF4-FFF2-40B4-BE49-F238E27FC236}">
                          <a16:creationId xmlns:a16="http://schemas.microsoft.com/office/drawing/2014/main" id="{18B7013B-970C-4A4B-9460-052F8C631A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17181" y="1283686"/>
                      <a:ext cx="842507" cy="1992829"/>
                      <a:chOff x="9696066" y="2358780"/>
                      <a:chExt cx="539972" cy="1146568"/>
                    </a:xfrm>
                  </p:grpSpPr>
                  <p:sp>
                    <p:nvSpPr>
                      <p:cNvPr id="338" name="Rectangle 337">
                        <a:extLst>
                          <a:ext uri="{FF2B5EF4-FFF2-40B4-BE49-F238E27FC236}">
                            <a16:creationId xmlns:a16="http://schemas.microsoft.com/office/drawing/2014/main" id="{F23B842C-2641-4C5C-BF34-BC81DAE1B1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96066" y="3102943"/>
                        <a:ext cx="539742" cy="402405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3">
                          <a:shade val="50000"/>
                        </a:schemeClr>
                      </a:lnRef>
                      <a:fillRef idx="1">
                        <a:schemeClr val="accent3"/>
                      </a:fillRef>
                      <a:effectRef idx="0">
                        <a:schemeClr val="accent3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800" dirty="0"/>
                          <a:t>Other anions (HCO</a:t>
                        </a:r>
                        <a:r>
                          <a:rPr lang="en-US" sz="800" baseline="-25000" dirty="0"/>
                          <a:t>3</a:t>
                        </a:r>
                        <a:r>
                          <a:rPr lang="en-US" sz="800" baseline="30000" dirty="0"/>
                          <a:t>-</a:t>
                        </a:r>
                        <a:r>
                          <a:rPr lang="en-US" sz="800" dirty="0"/>
                          <a:t>, PO</a:t>
                        </a:r>
                        <a:r>
                          <a:rPr lang="en-US" sz="800" baseline="-25000" dirty="0"/>
                          <a:t>3</a:t>
                        </a:r>
                        <a:r>
                          <a:rPr lang="en-US" sz="800" baseline="30000" dirty="0"/>
                          <a:t>-</a:t>
                        </a:r>
                        <a:r>
                          <a:rPr lang="en-US" sz="800" dirty="0"/>
                          <a:t>)</a:t>
                        </a:r>
                      </a:p>
                    </p:txBody>
                  </p:sp>
                  <p:sp>
                    <p:nvSpPr>
                      <p:cNvPr id="339" name="Rectangle 338">
                        <a:extLst>
                          <a:ext uri="{FF2B5EF4-FFF2-40B4-BE49-F238E27FC236}">
                            <a16:creationId xmlns:a16="http://schemas.microsoft.com/office/drawing/2014/main" id="{A6E9DE5A-678C-4C7E-AEF4-7215E80751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96296" y="2358780"/>
                        <a:ext cx="539742" cy="744164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1000" b="1" dirty="0"/>
                          <a:t>Cl</a:t>
                        </a:r>
                        <a:r>
                          <a:rPr lang="en-US" sz="1000" b="1" baseline="30000" dirty="0"/>
                          <a:t>-</a:t>
                        </a:r>
                        <a:endParaRPr lang="en-US" sz="1000" b="1" dirty="0"/>
                      </a:p>
                    </p:txBody>
                  </p:sp>
                </p:grpSp>
                <p:sp>
                  <p:nvSpPr>
                    <p:cNvPr id="326" name="Right Brace 325" hidden="1">
                      <a:extLst>
                        <a:ext uri="{FF2B5EF4-FFF2-40B4-BE49-F238E27FC236}">
                          <a16:creationId xmlns:a16="http://schemas.microsoft.com/office/drawing/2014/main" id="{2B395FCD-A49A-4FBA-B1FB-11EA40BC75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5010" y="1306361"/>
                      <a:ext cx="58995" cy="492011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27" name="Rectangle 326">
                      <a:extLst>
                        <a:ext uri="{FF2B5EF4-FFF2-40B4-BE49-F238E27FC236}">
                          <a16:creationId xmlns:a16="http://schemas.microsoft.com/office/drawing/2014/main" id="{12EF8F04-2CD3-4437-B817-A4444A2BF0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14087" y="1285211"/>
                      <a:ext cx="572981" cy="90958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2">
                        <a:shade val="50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00" dirty="0"/>
                        <a:t>Na</a:t>
                      </a:r>
                      <a:r>
                        <a:rPr lang="en-US" sz="1000" baseline="30000" dirty="0"/>
                        <a:t>+</a:t>
                      </a:r>
                      <a:endParaRPr lang="en-US" sz="1000" dirty="0"/>
                    </a:p>
                  </p:txBody>
                </p:sp>
                <p:sp>
                  <p:nvSpPr>
                    <p:cNvPr id="328" name="TextBox 327" hidden="1">
                      <a:extLst>
                        <a:ext uri="{FF2B5EF4-FFF2-40B4-BE49-F238E27FC236}">
                          <a16:creationId xmlns:a16="http://schemas.microsoft.com/office/drawing/2014/main" id="{7D16B093-8C1D-4632-A658-4DBFF43183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4508" y="1398477"/>
                      <a:ext cx="459023" cy="344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200" dirty="0"/>
                        <a:t>24</a:t>
                      </a:r>
                    </a:p>
                  </p:txBody>
                </p:sp>
                <p:sp>
                  <p:nvSpPr>
                    <p:cNvPr id="329" name="TextBox 328" hidden="1">
                      <a:extLst>
                        <a:ext uri="{FF2B5EF4-FFF2-40B4-BE49-F238E27FC236}">
                          <a16:creationId xmlns:a16="http://schemas.microsoft.com/office/drawing/2014/main" id="{B93EA34C-51B5-4A81-9CF0-F253F9B509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7174" y="2090617"/>
                      <a:ext cx="571300" cy="344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200" dirty="0"/>
                        <a:t>104</a:t>
                      </a:r>
                    </a:p>
                  </p:txBody>
                </p:sp>
                <p:sp>
                  <p:nvSpPr>
                    <p:cNvPr id="330" name="Right Brace 329" hidden="1">
                      <a:extLst>
                        <a:ext uri="{FF2B5EF4-FFF2-40B4-BE49-F238E27FC236}">
                          <a16:creationId xmlns:a16="http://schemas.microsoft.com/office/drawing/2014/main" id="{0103A451-4C66-42BB-9005-5CD29D776B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8414" y="1798370"/>
                      <a:ext cx="99450" cy="967792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31" name="Right Brace 330" hidden="1">
                      <a:extLst>
                        <a:ext uri="{FF2B5EF4-FFF2-40B4-BE49-F238E27FC236}">
                          <a16:creationId xmlns:a16="http://schemas.microsoft.com/office/drawing/2014/main" id="{E3F4DCCA-0B67-45AE-8C7E-DDB215FB35D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653667" y="1314474"/>
                      <a:ext cx="58784" cy="1834089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32" name="TextBox 331" hidden="1">
                      <a:extLst>
                        <a:ext uri="{FF2B5EF4-FFF2-40B4-BE49-F238E27FC236}">
                          <a16:creationId xmlns:a16="http://schemas.microsoft.com/office/drawing/2014/main" id="{A61E2708-6331-4FCE-9007-562768D92B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69669" y="2069926"/>
                      <a:ext cx="536670" cy="3258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100" dirty="0"/>
                        <a:t>140</a:t>
                      </a:r>
                    </a:p>
                  </p:txBody>
                </p:sp>
                <p:sp>
                  <p:nvSpPr>
                    <p:cNvPr id="333" name="Rectangle 332">
                      <a:extLst>
                        <a:ext uri="{FF2B5EF4-FFF2-40B4-BE49-F238E27FC236}">
                          <a16:creationId xmlns:a16="http://schemas.microsoft.com/office/drawing/2014/main" id="{16F600CE-4955-488D-84BF-C1318BE639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9698" y="2596793"/>
                      <a:ext cx="710254" cy="358943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UAG</a:t>
                      </a:r>
                    </a:p>
                  </p:txBody>
                </p:sp>
                <p:sp>
                  <p:nvSpPr>
                    <p:cNvPr id="334" name="TextBox 333">
                      <a:extLst>
                        <a:ext uri="{FF2B5EF4-FFF2-40B4-BE49-F238E27FC236}">
                          <a16:creationId xmlns:a16="http://schemas.microsoft.com/office/drawing/2014/main" id="{67A3CFE6-ED06-469D-95B5-9648519EE2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5285" y="645530"/>
                      <a:ext cx="1862971" cy="37742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The Urine AG</a:t>
                      </a:r>
                    </a:p>
                  </p:txBody>
                </p:sp>
                <p:sp>
                  <p:nvSpPr>
                    <p:cNvPr id="335" name="Rectangle 334">
                      <a:extLst>
                        <a:ext uri="{FF2B5EF4-FFF2-40B4-BE49-F238E27FC236}">
                          <a16:creationId xmlns:a16="http://schemas.microsoft.com/office/drawing/2014/main" id="{6B0D5C7F-DB78-49AB-8D9B-836BD7F671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8085" y="986888"/>
                      <a:ext cx="734153" cy="30194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sz="1000" dirty="0"/>
                        <a:t>Cations</a:t>
                      </a:r>
                    </a:p>
                  </p:txBody>
                </p:sp>
                <p:sp>
                  <p:nvSpPr>
                    <p:cNvPr id="336" name="Rectangle 335">
                      <a:extLst>
                        <a:ext uri="{FF2B5EF4-FFF2-40B4-BE49-F238E27FC236}">
                          <a16:creationId xmlns:a16="http://schemas.microsoft.com/office/drawing/2014/main" id="{65749A7D-62E7-449C-BEBB-15B18E9FD6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73132" y="986888"/>
                      <a:ext cx="692933" cy="30194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sz="1000" dirty="0"/>
                        <a:t>Anions</a:t>
                      </a:r>
                    </a:p>
                  </p:txBody>
                </p:sp>
                <p:sp>
                  <p:nvSpPr>
                    <p:cNvPr id="337" name="Rectangle 336">
                      <a:extLst>
                        <a:ext uri="{FF2B5EF4-FFF2-40B4-BE49-F238E27FC236}">
                          <a16:creationId xmlns:a16="http://schemas.microsoft.com/office/drawing/2014/main" id="{13E3BF0E-F281-432A-84B0-B868EDC30A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13714" y="2188808"/>
                      <a:ext cx="572982" cy="796101"/>
                    </a:xfrm>
                    <a:prstGeom prst="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2">
                        <a:shade val="50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00" dirty="0"/>
                        <a:t>K+</a:t>
                      </a:r>
                    </a:p>
                  </p:txBody>
                </p:sp>
              </p:grpSp>
            </p:grpSp>
            <p:sp>
              <p:nvSpPr>
                <p:cNvPr id="322" name="Rectangle 321">
                  <a:extLst>
                    <a:ext uri="{FF2B5EF4-FFF2-40B4-BE49-F238E27FC236}">
                      <a16:creationId xmlns:a16="http://schemas.microsoft.com/office/drawing/2014/main" id="{D785B2C7-CF48-4C76-8924-9BDAD954923C}"/>
                    </a:ext>
                  </a:extLst>
                </p:cNvPr>
                <p:cNvSpPr/>
                <p:nvPr/>
              </p:nvSpPr>
              <p:spPr>
                <a:xfrm>
                  <a:off x="5819560" y="554733"/>
                  <a:ext cx="2484658" cy="229284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/>
                    <a:t>Urine AG = </a:t>
                  </a:r>
                  <a:r>
                    <a:rPr lang="en-US" sz="1400" b="1" dirty="0" err="1"/>
                    <a:t>U</a:t>
                  </a:r>
                  <a:r>
                    <a:rPr lang="en-US" sz="1400" b="1" baseline="-25000" dirty="0" err="1"/>
                    <a:t>Na</a:t>
                  </a:r>
                  <a:r>
                    <a:rPr lang="en-US" sz="1400" b="1" dirty="0"/>
                    <a:t> + U</a:t>
                  </a:r>
                  <a:r>
                    <a:rPr lang="en-US" sz="1400" b="1" baseline="-25000" dirty="0"/>
                    <a:t>K</a:t>
                  </a:r>
                  <a:r>
                    <a:rPr lang="en-US" sz="1400" b="1" dirty="0"/>
                    <a:t> - </a:t>
                  </a:r>
                  <a:r>
                    <a:rPr lang="en-US" sz="1400" b="1" dirty="0" err="1"/>
                    <a:t>U</a:t>
                  </a:r>
                  <a:r>
                    <a:rPr lang="en-US" sz="1400" b="1" baseline="-25000" dirty="0" err="1"/>
                    <a:t>Cl</a:t>
                  </a:r>
                  <a:endParaRPr lang="en-US" sz="1400" b="1" dirty="0"/>
                </a:p>
                <a:p>
                  <a:pPr>
                    <a:spcAft>
                      <a:spcPts val="600"/>
                    </a:spcAft>
                  </a:pPr>
                  <a:r>
                    <a:rPr lang="en-US" sz="1200" dirty="0"/>
                    <a:t>The UAG measures urine NH</a:t>
                  </a:r>
                  <a:r>
                    <a:rPr lang="en-US" sz="1200" baseline="-25000" dirty="0"/>
                    <a:t>4</a:t>
                  </a:r>
                  <a:r>
                    <a:rPr lang="en-US" sz="1200" baseline="30000" dirty="0"/>
                    <a:t>+</a:t>
                  </a:r>
                  <a:r>
                    <a:rPr lang="en-US" sz="1200" dirty="0"/>
                    <a:t>, aka urine excretion of H</a:t>
                  </a:r>
                  <a:r>
                    <a:rPr lang="en-US" sz="1200" baseline="30000" dirty="0"/>
                    <a:t>+</a:t>
                  </a:r>
                  <a:r>
                    <a:rPr lang="en-US" sz="1200" dirty="0"/>
                    <a:t>. </a:t>
                  </a:r>
                </a:p>
                <a:p>
                  <a:pPr marL="171450" indent="-171450"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1100" dirty="0"/>
                    <a:t>GI loss of HCO</a:t>
                  </a:r>
                  <a:r>
                    <a:rPr lang="en-US" sz="1100" baseline="-25000" dirty="0"/>
                    <a:t>3</a:t>
                  </a:r>
                  <a:r>
                    <a:rPr lang="en-US" sz="1100" baseline="30000" dirty="0"/>
                    <a:t>-</a:t>
                  </a:r>
                  <a:r>
                    <a:rPr lang="en-US" sz="1100" dirty="0"/>
                    <a:t> </a:t>
                  </a:r>
                  <a:r>
                    <a:rPr lang="en-US" sz="1100" dirty="0">
                      <a:sym typeface="Wingdings" panose="05000000000000000000" pitchFamily="2" charset="2"/>
                    </a:rPr>
                    <a:t> compensatory  in urine N</a:t>
                  </a:r>
                  <a:r>
                    <a:rPr lang="en-US" sz="1100" dirty="0"/>
                    <a:t>H</a:t>
                  </a:r>
                  <a:r>
                    <a:rPr lang="en-US" sz="1100" baseline="-25000" dirty="0"/>
                    <a:t>4</a:t>
                  </a:r>
                  <a:r>
                    <a:rPr lang="en-US" sz="1100" baseline="30000" dirty="0"/>
                    <a:t>+</a:t>
                  </a:r>
                  <a:r>
                    <a:rPr lang="en-US" sz="1100" dirty="0"/>
                    <a:t> </a:t>
                  </a:r>
                  <a:r>
                    <a:rPr lang="en-US" sz="1100" dirty="0">
                      <a:sym typeface="Wingdings" panose="05000000000000000000" pitchFamily="2" charset="2"/>
                    </a:rPr>
                    <a:t> UAG is </a:t>
                  </a:r>
                  <a:r>
                    <a:rPr lang="en-US" sz="1100" dirty="0" err="1"/>
                    <a:t>negGUTive</a:t>
                  </a:r>
                  <a:r>
                    <a:rPr lang="en-US" sz="1100" dirty="0"/>
                    <a:t>. </a:t>
                  </a:r>
                </a:p>
                <a:p>
                  <a:pPr marL="171450" indent="-171450"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1100" dirty="0"/>
                    <a:t>In RTAs, the secretion of NH</a:t>
                  </a:r>
                  <a:r>
                    <a:rPr lang="en-US" sz="1100" baseline="-25000" dirty="0"/>
                    <a:t>4</a:t>
                  </a:r>
                  <a:r>
                    <a:rPr lang="en-US" sz="1100" baseline="30000" dirty="0"/>
                    <a:t>+</a:t>
                  </a:r>
                  <a:r>
                    <a:rPr lang="en-US" sz="1100" dirty="0"/>
                    <a:t> is impaired.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1100" dirty="0"/>
                    <a:t>The UAG is not accurate in patients with underlying kidney disease, ketonuria. In these cases, the </a:t>
                  </a:r>
                  <a:r>
                    <a:rPr lang="en-US" sz="1100" b="1" dirty="0"/>
                    <a:t>urine </a:t>
                  </a:r>
                  <a:r>
                    <a:rPr lang="en-US" sz="1100" b="1" dirty="0" err="1"/>
                    <a:t>osmolar</a:t>
                  </a:r>
                  <a:r>
                    <a:rPr lang="en-US" sz="1100" b="1" dirty="0"/>
                    <a:t> gap</a:t>
                  </a:r>
                  <a:r>
                    <a:rPr lang="en-US" sz="1100" dirty="0"/>
                    <a:t> should be used instead. </a:t>
                  </a:r>
                </a:p>
              </p:txBody>
            </p:sp>
          </p:grp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BF5480E1-E069-4502-BFB3-D8FA1F5BA914}"/>
                  </a:ext>
                </a:extLst>
              </p:cNvPr>
              <p:cNvSpPr/>
              <p:nvPr/>
            </p:nvSpPr>
            <p:spPr>
              <a:xfrm>
                <a:off x="4529119" y="4841062"/>
                <a:ext cx="445638" cy="237793"/>
              </a:xfrm>
              <a:prstGeom prst="rect">
                <a:avLst/>
              </a:prstGeom>
              <a:solidFill>
                <a:schemeClr val="accent3"/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/>
                  <a:t>NH</a:t>
                </a:r>
                <a:r>
                  <a:rPr lang="en-US" sz="1000" baseline="-25000" dirty="0"/>
                  <a:t>4</a:t>
                </a:r>
                <a:r>
                  <a:rPr lang="en-US" sz="1000" baseline="30000" dirty="0"/>
                  <a:t>+</a:t>
                </a:r>
                <a:endParaRPr lang="en-US" sz="1000" dirty="0"/>
              </a:p>
            </p:txBody>
          </p:sp>
          <p:sp>
            <p:nvSpPr>
              <p:cNvPr id="316" name="Left Brace 315">
                <a:extLst>
                  <a:ext uri="{FF2B5EF4-FFF2-40B4-BE49-F238E27FC236}">
                    <a16:creationId xmlns:a16="http://schemas.microsoft.com/office/drawing/2014/main" id="{EF737AAE-F9D6-4A53-8620-9C0FF4CD460F}"/>
                  </a:ext>
                </a:extLst>
              </p:cNvPr>
              <p:cNvSpPr/>
              <p:nvPr/>
            </p:nvSpPr>
            <p:spPr>
              <a:xfrm>
                <a:off x="4417306" y="4508511"/>
                <a:ext cx="45719" cy="309114"/>
              </a:xfrm>
              <a:prstGeom prst="leftBrac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13" name="Graphic 312" descr="Close">
              <a:extLst>
                <a:ext uri="{FF2B5EF4-FFF2-40B4-BE49-F238E27FC236}">
                  <a16:creationId xmlns:a16="http://schemas.microsoft.com/office/drawing/2014/main" id="{49254BFF-D501-4584-BA73-DA9B489EA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4860" y="4638086"/>
              <a:ext cx="184150" cy="184150"/>
            </a:xfrm>
            <a:prstGeom prst="rect">
              <a:avLst/>
            </a:prstGeom>
          </p:spPr>
        </p:pic>
      </p:grp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5C8122A3-B216-49B9-80F0-230A9AE66D5C}"/>
              </a:ext>
            </a:extLst>
          </p:cNvPr>
          <p:cNvCxnSpPr>
            <a:stCxn id="236" idx="2"/>
            <a:endCxn id="250" idx="0"/>
          </p:cNvCxnSpPr>
          <p:nvPr/>
        </p:nvCxnSpPr>
        <p:spPr>
          <a:xfrm rot="16200000" flipH="1">
            <a:off x="2957406" y="3200184"/>
            <a:ext cx="234441" cy="6352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2A9C037B-D163-4560-AE10-282EBD523C90}"/>
              </a:ext>
            </a:extLst>
          </p:cNvPr>
          <p:cNvCxnSpPr>
            <a:stCxn id="236" idx="2"/>
            <a:endCxn id="244" idx="0"/>
          </p:cNvCxnSpPr>
          <p:nvPr/>
        </p:nvCxnSpPr>
        <p:spPr>
          <a:xfrm rot="5400000">
            <a:off x="2339963" y="3209984"/>
            <a:ext cx="226441" cy="607645"/>
          </a:xfrm>
          <a:prstGeom prst="bentConnector3">
            <a:avLst>
              <a:gd name="adj1" fmla="val 5226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1" name="Cases">
            <a:hlinkClick r:id="rId15" action="ppaction://hlinksldjump"/>
            <a:extLst>
              <a:ext uri="{FF2B5EF4-FFF2-40B4-BE49-F238E27FC236}">
                <a16:creationId xmlns:a16="http://schemas.microsoft.com/office/drawing/2014/main" id="{D4B0EBDB-D698-4F42-8399-836DC734F18A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362" name="Graphic 361" descr="Cursor with solid fill">
            <a:extLst>
              <a:ext uri="{FF2B5EF4-FFF2-40B4-BE49-F238E27FC236}">
                <a16:creationId xmlns:a16="http://schemas.microsoft.com/office/drawing/2014/main" id="{E4A82914-30B5-44F0-97E4-C4327E7BAD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363" name="teachIM logo" descr="Icon&#10;&#10;Description automatically generated">
            <a:extLst>
              <a:ext uri="{FF2B5EF4-FFF2-40B4-BE49-F238E27FC236}">
                <a16:creationId xmlns:a16="http://schemas.microsoft.com/office/drawing/2014/main" id="{240484BD-A5CA-4AF4-A345-DE482489B9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9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4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2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4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1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8"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/>
      <p:bldP spid="231" grpId="0" animBg="1"/>
      <p:bldP spid="234" grpId="0" animBg="1"/>
      <p:bldP spid="236" grpId="0" animBg="1"/>
      <p:bldP spid="238" grpId="0"/>
      <p:bldP spid="246" grpId="0"/>
      <p:bldP spid="2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Home page" hidden="1">
            <a:extLst>
              <a:ext uri="{FF2B5EF4-FFF2-40B4-BE49-F238E27FC236}">
                <a16:creationId xmlns:a16="http://schemas.microsoft.com/office/drawing/2014/main" id="{0A9F93B9-FE91-421A-A191-0CE0BB1AA998}"/>
              </a:ext>
            </a:extLst>
          </p:cNvPr>
          <p:cNvGrpSpPr/>
          <p:nvPr/>
        </p:nvGrpSpPr>
        <p:grpSpPr>
          <a:xfrm>
            <a:off x="10350363" y="4925061"/>
            <a:ext cx="1714110" cy="1238634"/>
            <a:chOff x="5829044" y="5212828"/>
            <a:chExt cx="2146766" cy="1450223"/>
          </a:xfrm>
        </p:grpSpPr>
        <p:grpSp>
          <p:nvGrpSpPr>
            <p:cNvPr id="151" name="Home page">
              <a:extLst>
                <a:ext uri="{FF2B5EF4-FFF2-40B4-BE49-F238E27FC236}">
                  <a16:creationId xmlns:a16="http://schemas.microsoft.com/office/drawing/2014/main" id="{D93E97D1-A529-4115-BFBA-622711C7EF93}"/>
                </a:ext>
              </a:extLst>
            </p:cNvPr>
            <p:cNvGrpSpPr/>
            <p:nvPr/>
          </p:nvGrpSpPr>
          <p:grpSpPr>
            <a:xfrm>
              <a:off x="5829044" y="5212828"/>
              <a:ext cx="2146766" cy="1450223"/>
              <a:chOff x="9181095" y="5103030"/>
              <a:chExt cx="2146766" cy="1273451"/>
            </a:xfrm>
          </p:grpSpPr>
          <p:sp>
            <p:nvSpPr>
              <p:cNvPr id="155" name="Rectangle: Rounded Corners 15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B9B0C7A-DDD0-4DFB-AD6A-3C6B0C15DE91}"/>
                  </a:ext>
                </a:extLst>
              </p:cNvPr>
              <p:cNvSpPr/>
              <p:nvPr/>
            </p:nvSpPr>
            <p:spPr>
              <a:xfrm>
                <a:off x="9181095" y="5103030"/>
                <a:ext cx="2146766" cy="1273451"/>
              </a:xfrm>
              <a:prstGeom prst="roundRect">
                <a:avLst>
                  <a:gd name="adj" fmla="val 10598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F4DEEDB6-B771-4C33-A7EB-DA38D8B14999}"/>
                  </a:ext>
                </a:extLst>
              </p:cNvPr>
              <p:cNvSpPr/>
              <p:nvPr/>
            </p:nvSpPr>
            <p:spPr>
              <a:xfrm>
                <a:off x="9306826" y="5176968"/>
                <a:ext cx="1843528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1: Acid- base status?</a:t>
                </a: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00E69303-59DF-4D33-AFC1-06E58CA0B56E}"/>
                  </a:ext>
                </a:extLst>
              </p:cNvPr>
              <p:cNvSpPr/>
              <p:nvPr/>
            </p:nvSpPr>
            <p:spPr>
              <a:xfrm>
                <a:off x="9306826" y="5408407"/>
                <a:ext cx="1741251" cy="18765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2: Primary process?</a:t>
                </a:r>
              </a:p>
            </p:txBody>
          </p:sp>
          <p:sp>
            <p:nvSpPr>
              <p:cNvPr id="158" name="Rectangle: Rounded Corners 15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8CD5C387-98A8-4257-B731-52133F6870A6}"/>
                  </a:ext>
                </a:extLst>
              </p:cNvPr>
              <p:cNvSpPr/>
              <p:nvPr/>
            </p:nvSpPr>
            <p:spPr>
              <a:xfrm>
                <a:off x="9306826" y="5639845"/>
                <a:ext cx="1387644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3: Anion gap?</a:t>
                </a:r>
              </a:p>
            </p:txBody>
          </p:sp>
          <p:sp>
            <p:nvSpPr>
              <p:cNvPr id="160" name="Rectangle: Rounded Corners 159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FF62902D-5D59-4D2D-9DDE-604DCFCBB079}"/>
                  </a:ext>
                </a:extLst>
              </p:cNvPr>
              <p:cNvSpPr/>
              <p:nvPr/>
            </p:nvSpPr>
            <p:spPr>
              <a:xfrm>
                <a:off x="9697827" y="5886963"/>
                <a:ext cx="1017670" cy="17339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3a: ∆∆?</a:t>
                </a:r>
              </a:p>
            </p:txBody>
          </p:sp>
        </p:grpSp>
        <p:sp>
          <p:nvSpPr>
            <p:cNvPr id="154" name="Rectangle: Rounded Corners 153">
              <a:hlinkClick r:id="rId2" action="ppaction://hlinksldjump"/>
              <a:extLst>
                <a:ext uri="{FF2B5EF4-FFF2-40B4-BE49-F238E27FC236}">
                  <a16:creationId xmlns:a16="http://schemas.microsoft.com/office/drawing/2014/main" id="{E6611CC2-C5FD-4E1C-A7F4-AEF2BB3E4BB8}"/>
                </a:ext>
              </a:extLst>
            </p:cNvPr>
            <p:cNvSpPr/>
            <p:nvPr/>
          </p:nvSpPr>
          <p:spPr>
            <a:xfrm>
              <a:off x="5954775" y="6369145"/>
              <a:ext cx="1680609" cy="197458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/>
                <a:t>Step 4: Compensation?</a:t>
              </a:r>
            </a:p>
          </p:txBody>
        </p:sp>
      </p:grpSp>
      <p:sp>
        <p:nvSpPr>
          <p:cNvPr id="176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324FB035-E766-4B51-96D2-887C497B42B3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177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7A813DAD-9ED2-4E61-96A7-4A072C0181E8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Acidemia</a:t>
            </a:r>
          </a:p>
        </p:txBody>
      </p:sp>
      <p:sp>
        <p:nvSpPr>
          <p:cNvPr id="178" name="sub-q 2">
            <a:hlinkClick r:id="rId5" action="ppaction://hlinksldjump"/>
            <a:extLst>
              <a:ext uri="{FF2B5EF4-FFF2-40B4-BE49-F238E27FC236}">
                <a16:creationId xmlns:a16="http://schemas.microsoft.com/office/drawing/2014/main" id="{08063026-E2A1-4FD6-8A83-E09F380C82C2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80" name="sub-q 1 button">
            <a:hlinkClick r:id="rId6" action="ppaction://hlinksldjump"/>
            <a:extLst>
              <a:ext uri="{FF2B5EF4-FFF2-40B4-BE49-F238E27FC236}">
                <a16:creationId xmlns:a16="http://schemas.microsoft.com/office/drawing/2014/main" id="{26C38014-6D1C-484D-88B9-E22AF75988C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182" name="Graphic 181" descr="Cursor with solid fill">
            <a:extLst>
              <a:ext uri="{FF2B5EF4-FFF2-40B4-BE49-F238E27FC236}">
                <a16:creationId xmlns:a16="http://schemas.microsoft.com/office/drawing/2014/main" id="{A5D15265-C9B4-4F78-BF07-DEDB77E265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83" name="Graphic 182" descr="Cursor with solid fill">
            <a:extLst>
              <a:ext uri="{FF2B5EF4-FFF2-40B4-BE49-F238E27FC236}">
                <a16:creationId xmlns:a16="http://schemas.microsoft.com/office/drawing/2014/main" id="{074D444E-1CE7-4A1B-A87C-E69FB9516C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185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DB5AF22E-1D21-4557-8A08-229C01D97F4A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92" name="Graphic 191" descr="Cursor with solid fill">
            <a:extLst>
              <a:ext uri="{FF2B5EF4-FFF2-40B4-BE49-F238E27FC236}">
                <a16:creationId xmlns:a16="http://schemas.microsoft.com/office/drawing/2014/main" id="{A756FBD1-84C2-42B5-8C90-1F093770C1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93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94AE2279-ECA2-4F28-A4B8-E62F5F0B3759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for ABG Interpretation</a:t>
            </a:r>
          </a:p>
        </p:txBody>
      </p:sp>
      <p:sp>
        <p:nvSpPr>
          <p:cNvPr id="195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FCD7C511-421A-48A2-9D98-25CF80AFF783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210" name="Graphic 209" descr="Cursor with solid fill">
            <a:extLst>
              <a:ext uri="{FF2B5EF4-FFF2-40B4-BE49-F238E27FC236}">
                <a16:creationId xmlns:a16="http://schemas.microsoft.com/office/drawing/2014/main" id="{601B7238-DFE8-4BD8-8526-5B455ABDA5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sp>
        <p:nvSpPr>
          <p:cNvPr id="211" name="Acidemia">
            <a:extLst>
              <a:ext uri="{FF2B5EF4-FFF2-40B4-BE49-F238E27FC236}">
                <a16:creationId xmlns:a16="http://schemas.microsoft.com/office/drawing/2014/main" id="{C71A1E86-3A18-484A-A063-8C348A6CF7CB}"/>
              </a:ext>
            </a:extLst>
          </p:cNvPr>
          <p:cNvSpPr txBox="1"/>
          <p:nvPr/>
        </p:nvSpPr>
        <p:spPr>
          <a:xfrm>
            <a:off x="5903634" y="62432"/>
            <a:ext cx="2318589" cy="369332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Acidemia pH &lt; 7.35</a:t>
            </a:r>
          </a:p>
        </p:txBody>
      </p:sp>
      <p:sp>
        <p:nvSpPr>
          <p:cNvPr id="212" name="Metabolic HCO3 &lt;22">
            <a:hlinkClick r:id="rId2" action="ppaction://hlinksldjump"/>
            <a:extLst>
              <a:ext uri="{FF2B5EF4-FFF2-40B4-BE49-F238E27FC236}">
                <a16:creationId xmlns:a16="http://schemas.microsoft.com/office/drawing/2014/main" id="{1FC11383-CD22-459D-B447-D4730C54DB14}"/>
              </a:ext>
            </a:extLst>
          </p:cNvPr>
          <p:cNvSpPr txBox="1"/>
          <p:nvPr/>
        </p:nvSpPr>
        <p:spPr>
          <a:xfrm>
            <a:off x="3179852" y="563419"/>
            <a:ext cx="1630414" cy="646986"/>
          </a:xfrm>
          <a:prstGeom prst="roundRect">
            <a:avLst>
              <a:gd name="adj" fmla="val 12530"/>
            </a:avLst>
          </a:prstGeom>
          <a:ln cap="sq">
            <a:beve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Metabolic</a:t>
            </a:r>
          </a:p>
          <a:p>
            <a:pPr algn="ctr"/>
            <a:r>
              <a:rPr lang="en-US" sz="1600" dirty="0"/>
              <a:t>HCO</a:t>
            </a:r>
            <a:r>
              <a:rPr lang="en-US" sz="1600" baseline="-25000" dirty="0"/>
              <a:t>3</a:t>
            </a:r>
            <a:r>
              <a:rPr lang="en-US" sz="1600" dirty="0"/>
              <a:t> &lt; 22</a:t>
            </a:r>
          </a:p>
        </p:txBody>
      </p:sp>
      <p:sp>
        <p:nvSpPr>
          <p:cNvPr id="213" name="Respiratory pCO2 &gt; 44">
            <a:hlinkClick r:id="rId5" action="ppaction://hlinksldjump"/>
            <a:extLst>
              <a:ext uri="{FF2B5EF4-FFF2-40B4-BE49-F238E27FC236}">
                <a16:creationId xmlns:a16="http://schemas.microsoft.com/office/drawing/2014/main" id="{E6EAA948-B9A7-4070-A566-2BD1ED1BA1D5}"/>
              </a:ext>
            </a:extLst>
          </p:cNvPr>
          <p:cNvSpPr txBox="1"/>
          <p:nvPr/>
        </p:nvSpPr>
        <p:spPr>
          <a:xfrm>
            <a:off x="9247136" y="555430"/>
            <a:ext cx="1630414" cy="646986"/>
          </a:xfrm>
          <a:prstGeom prst="roundRect">
            <a:avLst>
              <a:gd name="adj" fmla="val 12530"/>
            </a:avLst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Respiratory</a:t>
            </a:r>
          </a:p>
          <a:p>
            <a:pPr algn="ctr"/>
            <a:r>
              <a:rPr lang="en-US" sz="1600" dirty="0"/>
              <a:t>pCO</a:t>
            </a:r>
            <a:r>
              <a:rPr lang="en-US" sz="1600" baseline="-25000" dirty="0"/>
              <a:t>2</a:t>
            </a:r>
            <a:r>
              <a:rPr lang="en-US" sz="1600" dirty="0"/>
              <a:t> &gt; 44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1D0A55-75A4-4393-A287-00F437A2ADB0}"/>
              </a:ext>
            </a:extLst>
          </p:cNvPr>
          <p:cNvGrpSpPr/>
          <p:nvPr/>
        </p:nvGrpSpPr>
        <p:grpSpPr>
          <a:xfrm>
            <a:off x="1723010" y="52827"/>
            <a:ext cx="908018" cy="1252004"/>
            <a:chOff x="1723010" y="52827"/>
            <a:chExt cx="908018" cy="1252004"/>
          </a:xfrm>
        </p:grpSpPr>
        <p:sp>
          <p:nvSpPr>
            <p:cNvPr id="258" name="Step 1">
              <a:extLst>
                <a:ext uri="{FF2B5EF4-FFF2-40B4-BE49-F238E27FC236}">
                  <a16:creationId xmlns:a16="http://schemas.microsoft.com/office/drawing/2014/main" id="{CF718B2E-0281-42FA-A2D1-7BB67274CB1E}"/>
                </a:ext>
              </a:extLst>
            </p:cNvPr>
            <p:cNvSpPr/>
            <p:nvPr/>
          </p:nvSpPr>
          <p:spPr>
            <a:xfrm>
              <a:off x="1723010" y="542742"/>
              <a:ext cx="742473" cy="28806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Step 1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5AA91522-4758-4C7B-9E24-433391D5EB7C}"/>
                </a:ext>
              </a:extLst>
            </p:cNvPr>
            <p:cNvSpPr/>
            <p:nvPr/>
          </p:nvSpPr>
          <p:spPr>
            <a:xfrm>
              <a:off x="2476722" y="52827"/>
              <a:ext cx="154306" cy="1252004"/>
            </a:xfrm>
            <a:prstGeom prst="leftBrace">
              <a:avLst>
                <a:gd name="adj1" fmla="val 0"/>
                <a:gd name="adj2" fmla="val 5112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9" name="Mouse respiratory" descr="Cursor with solid fill">
            <a:extLst>
              <a:ext uri="{FF2B5EF4-FFF2-40B4-BE49-F238E27FC236}">
                <a16:creationId xmlns:a16="http://schemas.microsoft.com/office/drawing/2014/main" id="{C998E2DE-A3BD-451A-ABBC-D2807DB347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673106" y="1065256"/>
            <a:ext cx="274320" cy="274320"/>
          </a:xfrm>
          <a:prstGeom prst="rect">
            <a:avLst/>
          </a:prstGeom>
        </p:spPr>
      </p:pic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D7D29820-F107-49E8-8143-E5DAD60D98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grpSp>
        <p:nvGrpSpPr>
          <p:cNvPr id="30" name="Increased CO2">
            <a:extLst>
              <a:ext uri="{FF2B5EF4-FFF2-40B4-BE49-F238E27FC236}">
                <a16:creationId xmlns:a16="http://schemas.microsoft.com/office/drawing/2014/main" id="{2CF03B18-6184-4515-9FF6-CB73DC096C2C}"/>
              </a:ext>
            </a:extLst>
          </p:cNvPr>
          <p:cNvGrpSpPr/>
          <p:nvPr/>
        </p:nvGrpSpPr>
        <p:grpSpPr>
          <a:xfrm>
            <a:off x="10062343" y="1202416"/>
            <a:ext cx="1730202" cy="835519"/>
            <a:chOff x="9745538" y="1212187"/>
            <a:chExt cx="1730202" cy="835519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1E107FB-906E-4EBF-9490-E47CB57C46C7}"/>
                </a:ext>
              </a:extLst>
            </p:cNvPr>
            <p:cNvCxnSpPr>
              <a:cxnSpLocks/>
              <a:stCxn id="213" idx="2"/>
            </p:cNvCxnSpPr>
            <p:nvPr/>
          </p:nvCxnSpPr>
          <p:spPr>
            <a:xfrm>
              <a:off x="9745538" y="1212187"/>
              <a:ext cx="1015500" cy="2600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33B661-3233-457D-A75A-2435186DB410}"/>
                </a:ext>
              </a:extLst>
            </p:cNvPr>
            <p:cNvSpPr txBox="1"/>
            <p:nvPr/>
          </p:nvSpPr>
          <p:spPr>
            <a:xfrm>
              <a:off x="10046335" y="1472253"/>
              <a:ext cx="1429405" cy="575453"/>
            </a:xfrm>
            <a:prstGeom prst="roundRect">
              <a:avLst>
                <a:gd name="adj" fmla="val 14311"/>
              </a:avLst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↑ CO</a:t>
              </a:r>
              <a:r>
                <a:rPr lang="en-US" sz="1600" baseline="-25000" dirty="0"/>
                <a:t>2</a:t>
              </a:r>
              <a:r>
                <a:rPr lang="en-US" sz="1600" dirty="0"/>
                <a:t> production</a:t>
              </a:r>
            </a:p>
          </p:txBody>
        </p:sp>
      </p:grpSp>
      <p:grpSp>
        <p:nvGrpSpPr>
          <p:cNvPr id="33" name="Decreased CO2 button">
            <a:extLst>
              <a:ext uri="{FF2B5EF4-FFF2-40B4-BE49-F238E27FC236}">
                <a16:creationId xmlns:a16="http://schemas.microsoft.com/office/drawing/2014/main" id="{D737BD88-D0EE-400D-B07F-90CA74929977}"/>
              </a:ext>
            </a:extLst>
          </p:cNvPr>
          <p:cNvGrpSpPr/>
          <p:nvPr/>
        </p:nvGrpSpPr>
        <p:grpSpPr>
          <a:xfrm>
            <a:off x="8346029" y="1202416"/>
            <a:ext cx="1716314" cy="855529"/>
            <a:chOff x="8346030" y="1202416"/>
            <a:chExt cx="1716314" cy="855529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BFDB65B-ED5A-4FD9-8868-296037F04474}"/>
                </a:ext>
              </a:extLst>
            </p:cNvPr>
            <p:cNvCxnSpPr>
              <a:cxnSpLocks/>
              <a:stCxn id="213" idx="2"/>
              <a:endCxn id="35" idx="0"/>
            </p:cNvCxnSpPr>
            <p:nvPr/>
          </p:nvCxnSpPr>
          <p:spPr>
            <a:xfrm flipH="1">
              <a:off x="9066916" y="1202416"/>
              <a:ext cx="995428" cy="269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DE76288-AD21-45CC-8DD9-E74E05210AB5}"/>
                </a:ext>
              </a:extLst>
            </p:cNvPr>
            <p:cNvSpPr txBox="1"/>
            <p:nvPr/>
          </p:nvSpPr>
          <p:spPr>
            <a:xfrm>
              <a:off x="8346030" y="1472253"/>
              <a:ext cx="1441772" cy="585692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↓ CO</a:t>
              </a:r>
              <a:r>
                <a:rPr lang="en-US" sz="1600" baseline="-25000" dirty="0"/>
                <a:t>2</a:t>
              </a:r>
              <a:r>
                <a:rPr lang="en-US" sz="1600" dirty="0"/>
                <a:t> elimination</a:t>
              </a:r>
            </a:p>
          </p:txBody>
        </p:sp>
      </p:grpSp>
      <p:sp>
        <p:nvSpPr>
          <p:cNvPr id="36" name="Increased CO2 explanation">
            <a:extLst>
              <a:ext uri="{FF2B5EF4-FFF2-40B4-BE49-F238E27FC236}">
                <a16:creationId xmlns:a16="http://schemas.microsoft.com/office/drawing/2014/main" id="{F57808FE-A7F5-413B-A7A3-6019D7F05A22}"/>
              </a:ext>
            </a:extLst>
          </p:cNvPr>
          <p:cNvSpPr txBox="1"/>
          <p:nvPr/>
        </p:nvSpPr>
        <p:spPr>
          <a:xfrm>
            <a:off x="10399304" y="2080518"/>
            <a:ext cx="1441772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Sepsis </a:t>
            </a:r>
          </a:p>
          <a:p>
            <a:pPr algn="ctr"/>
            <a:r>
              <a:rPr lang="en-US" sz="1400" dirty="0"/>
              <a:t>Overfeeding</a:t>
            </a:r>
          </a:p>
          <a:p>
            <a:pPr algn="ctr"/>
            <a:r>
              <a:rPr lang="en-US" sz="1400" dirty="0"/>
              <a:t>Hyperthyroidism</a:t>
            </a:r>
          </a:p>
          <a:p>
            <a:pPr algn="ctr"/>
            <a:r>
              <a:rPr lang="en-US" sz="1400" dirty="0"/>
              <a:t>↑ exercise</a:t>
            </a:r>
          </a:p>
        </p:txBody>
      </p:sp>
      <p:grpSp>
        <p:nvGrpSpPr>
          <p:cNvPr id="37" name="Decreased CO2 explanation">
            <a:extLst>
              <a:ext uri="{FF2B5EF4-FFF2-40B4-BE49-F238E27FC236}">
                <a16:creationId xmlns:a16="http://schemas.microsoft.com/office/drawing/2014/main" id="{722A3694-C913-4B6E-88C6-CBB75EBAEEFC}"/>
              </a:ext>
            </a:extLst>
          </p:cNvPr>
          <p:cNvGrpSpPr/>
          <p:nvPr/>
        </p:nvGrpSpPr>
        <p:grpSpPr>
          <a:xfrm>
            <a:off x="7293187" y="2010301"/>
            <a:ext cx="2910230" cy="1242135"/>
            <a:chOff x="6961812" y="2006599"/>
            <a:chExt cx="2910230" cy="124213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A9B4EA-7E26-488F-BF28-E261560E9162}"/>
                </a:ext>
              </a:extLst>
            </p:cNvPr>
            <p:cNvSpPr txBox="1"/>
            <p:nvPr/>
          </p:nvSpPr>
          <p:spPr>
            <a:xfrm>
              <a:off x="7737808" y="2079183"/>
              <a:ext cx="2134234" cy="11695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Airway obstruction</a:t>
              </a:r>
            </a:p>
            <a:p>
              <a:pPr algn="ctr"/>
              <a:r>
                <a:rPr lang="en-US" sz="1400" dirty="0"/>
                <a:t>Asthma, COPD</a:t>
              </a:r>
            </a:p>
            <a:p>
              <a:pPr algn="ctr"/>
              <a:r>
                <a:rPr lang="en-US" sz="1400" dirty="0"/>
                <a:t>Intrinsic lung disease</a:t>
              </a:r>
            </a:p>
            <a:p>
              <a:pPr algn="ctr"/>
              <a:r>
                <a:rPr lang="en-US" sz="1400" dirty="0"/>
                <a:t>Neuromuscular weakness</a:t>
              </a:r>
            </a:p>
            <a:p>
              <a:pPr algn="ctr"/>
              <a:r>
                <a:rPr lang="en-US" sz="1400" dirty="0">
                  <a:sym typeface="Wingdings" panose="05000000000000000000" pitchFamily="2" charset="2"/>
                </a:rPr>
                <a:t></a:t>
              </a:r>
              <a:r>
                <a:rPr lang="en-US" sz="1400" dirty="0"/>
                <a:t> of RR (opioids, benzos)</a:t>
              </a:r>
            </a:p>
          </p:txBody>
        </p:sp>
        <p:grpSp>
          <p:nvGrpSpPr>
            <p:cNvPr id="39" name="Lungs">
              <a:extLst>
                <a:ext uri="{FF2B5EF4-FFF2-40B4-BE49-F238E27FC236}">
                  <a16:creationId xmlns:a16="http://schemas.microsoft.com/office/drawing/2014/main" id="{01A6747C-CA45-4C88-BE4A-D28251F716EF}"/>
                </a:ext>
              </a:extLst>
            </p:cNvPr>
            <p:cNvGrpSpPr/>
            <p:nvPr/>
          </p:nvGrpSpPr>
          <p:grpSpPr>
            <a:xfrm>
              <a:off x="6961812" y="2006599"/>
              <a:ext cx="843036" cy="747491"/>
              <a:chOff x="719820" y="1653425"/>
              <a:chExt cx="2779700" cy="3060226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0A9C333E-A55F-40A4-8D5C-C296026E99C5}"/>
                  </a:ext>
                </a:extLst>
              </p:cNvPr>
              <p:cNvSpPr/>
              <p:nvPr/>
            </p:nvSpPr>
            <p:spPr>
              <a:xfrm>
                <a:off x="1560576" y="1653425"/>
                <a:ext cx="894354" cy="1287982"/>
              </a:xfrm>
              <a:custGeom>
                <a:avLst/>
                <a:gdLst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505317 w 978822"/>
                  <a:gd name="connsiteY8" fmla="*/ 952615 h 1318434"/>
                  <a:gd name="connsiteX9" fmla="*/ 520557 w 978822"/>
                  <a:gd name="connsiteY9" fmla="*/ 967855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505317 w 978822"/>
                  <a:gd name="connsiteY8" fmla="*/ 952615 h 1318434"/>
                  <a:gd name="connsiteX9" fmla="*/ 496173 w 978822"/>
                  <a:gd name="connsiteY9" fmla="*/ 967855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505317 w 978822"/>
                  <a:gd name="connsiteY8" fmla="*/ 952615 h 1318434"/>
                  <a:gd name="connsiteX9" fmla="*/ 551037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551037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551037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551037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557133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703437 w 978822"/>
                  <a:gd name="connsiteY9" fmla="*/ 1165975 h 1318434"/>
                  <a:gd name="connsiteX10" fmla="*/ 840597 w 978822"/>
                  <a:gd name="connsiteY10" fmla="*/ 1318375 h 1318434"/>
                  <a:gd name="connsiteX11" fmla="*/ 977757 w 978822"/>
                  <a:gd name="connsiteY11" fmla="*/ 1181215 h 1318434"/>
                  <a:gd name="connsiteX12" fmla="*/ 764397 w 978822"/>
                  <a:gd name="connsiteY12" fmla="*/ 952615 h 1318434"/>
                  <a:gd name="connsiteX13" fmla="*/ 642477 w 978822"/>
                  <a:gd name="connsiteY13" fmla="*/ 800215 h 1318434"/>
                  <a:gd name="connsiteX14" fmla="*/ 596757 w 978822"/>
                  <a:gd name="connsiteY14" fmla="*/ 647815 h 1318434"/>
                  <a:gd name="connsiteX15" fmla="*/ 581517 w 978822"/>
                  <a:gd name="connsiteY15" fmla="*/ 205855 h 1318434"/>
                  <a:gd name="connsiteX16" fmla="*/ 566277 w 978822"/>
                  <a:gd name="connsiteY16" fmla="*/ 53455 h 1318434"/>
                  <a:gd name="connsiteX17" fmla="*/ 505317 w 978822"/>
                  <a:gd name="connsiteY17" fmla="*/ 7735 h 1318434"/>
                  <a:gd name="connsiteX18" fmla="*/ 413877 w 978822"/>
                  <a:gd name="connsiteY18" fmla="*/ 7735 h 1318434"/>
                  <a:gd name="connsiteX19" fmla="*/ 368157 w 978822"/>
                  <a:gd name="connsiteY19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703437 w 978822"/>
                  <a:gd name="connsiteY9" fmla="*/ 1165975 h 1318434"/>
                  <a:gd name="connsiteX10" fmla="*/ 840597 w 978822"/>
                  <a:gd name="connsiteY10" fmla="*/ 1318375 h 1318434"/>
                  <a:gd name="connsiteX11" fmla="*/ 977757 w 978822"/>
                  <a:gd name="connsiteY11" fmla="*/ 1181215 h 1318434"/>
                  <a:gd name="connsiteX12" fmla="*/ 764397 w 978822"/>
                  <a:gd name="connsiteY12" fmla="*/ 952615 h 1318434"/>
                  <a:gd name="connsiteX13" fmla="*/ 642477 w 978822"/>
                  <a:gd name="connsiteY13" fmla="*/ 800215 h 1318434"/>
                  <a:gd name="connsiteX14" fmla="*/ 596757 w 978822"/>
                  <a:gd name="connsiteY14" fmla="*/ 647815 h 1318434"/>
                  <a:gd name="connsiteX15" fmla="*/ 581517 w 978822"/>
                  <a:gd name="connsiteY15" fmla="*/ 205855 h 1318434"/>
                  <a:gd name="connsiteX16" fmla="*/ 566277 w 978822"/>
                  <a:gd name="connsiteY16" fmla="*/ 53455 h 1318434"/>
                  <a:gd name="connsiteX17" fmla="*/ 505317 w 978822"/>
                  <a:gd name="connsiteY17" fmla="*/ 7735 h 1318434"/>
                  <a:gd name="connsiteX18" fmla="*/ 413877 w 978822"/>
                  <a:gd name="connsiteY18" fmla="*/ 7735 h 1318434"/>
                  <a:gd name="connsiteX19" fmla="*/ 368157 w 978822"/>
                  <a:gd name="connsiteY19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703437 w 978822"/>
                  <a:gd name="connsiteY9" fmla="*/ 1165975 h 1318434"/>
                  <a:gd name="connsiteX10" fmla="*/ 840597 w 978822"/>
                  <a:gd name="connsiteY10" fmla="*/ 1318375 h 1318434"/>
                  <a:gd name="connsiteX11" fmla="*/ 977757 w 978822"/>
                  <a:gd name="connsiteY11" fmla="*/ 1181215 h 1318434"/>
                  <a:gd name="connsiteX12" fmla="*/ 764397 w 978822"/>
                  <a:gd name="connsiteY12" fmla="*/ 952615 h 1318434"/>
                  <a:gd name="connsiteX13" fmla="*/ 642477 w 978822"/>
                  <a:gd name="connsiteY13" fmla="*/ 800215 h 1318434"/>
                  <a:gd name="connsiteX14" fmla="*/ 596757 w 978822"/>
                  <a:gd name="connsiteY14" fmla="*/ 647815 h 1318434"/>
                  <a:gd name="connsiteX15" fmla="*/ 581517 w 978822"/>
                  <a:gd name="connsiteY15" fmla="*/ 205855 h 1318434"/>
                  <a:gd name="connsiteX16" fmla="*/ 566277 w 978822"/>
                  <a:gd name="connsiteY16" fmla="*/ 53455 h 1318434"/>
                  <a:gd name="connsiteX17" fmla="*/ 505317 w 978822"/>
                  <a:gd name="connsiteY17" fmla="*/ 7735 h 1318434"/>
                  <a:gd name="connsiteX18" fmla="*/ 413877 w 978822"/>
                  <a:gd name="connsiteY18" fmla="*/ 7735 h 1318434"/>
                  <a:gd name="connsiteX19" fmla="*/ 368157 w 978822"/>
                  <a:gd name="connsiteY19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55965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703437 w 978822"/>
                  <a:gd name="connsiteY9" fmla="*/ 1165975 h 1318434"/>
                  <a:gd name="connsiteX10" fmla="*/ 840597 w 978822"/>
                  <a:gd name="connsiteY10" fmla="*/ 1318375 h 1318434"/>
                  <a:gd name="connsiteX11" fmla="*/ 977757 w 978822"/>
                  <a:gd name="connsiteY11" fmla="*/ 1181215 h 1318434"/>
                  <a:gd name="connsiteX12" fmla="*/ 764397 w 978822"/>
                  <a:gd name="connsiteY12" fmla="*/ 952615 h 1318434"/>
                  <a:gd name="connsiteX13" fmla="*/ 642477 w 978822"/>
                  <a:gd name="connsiteY13" fmla="*/ 800215 h 1318434"/>
                  <a:gd name="connsiteX14" fmla="*/ 596757 w 978822"/>
                  <a:gd name="connsiteY14" fmla="*/ 647815 h 1318434"/>
                  <a:gd name="connsiteX15" fmla="*/ 581517 w 978822"/>
                  <a:gd name="connsiteY15" fmla="*/ 205855 h 1318434"/>
                  <a:gd name="connsiteX16" fmla="*/ 566277 w 978822"/>
                  <a:gd name="connsiteY16" fmla="*/ 53455 h 1318434"/>
                  <a:gd name="connsiteX17" fmla="*/ 505317 w 978822"/>
                  <a:gd name="connsiteY17" fmla="*/ 7735 h 1318434"/>
                  <a:gd name="connsiteX18" fmla="*/ 413877 w 978822"/>
                  <a:gd name="connsiteY18" fmla="*/ 7735 h 1318434"/>
                  <a:gd name="connsiteX19" fmla="*/ 368157 w 978822"/>
                  <a:gd name="connsiteY19" fmla="*/ 83935 h 1318434"/>
                  <a:gd name="connsiteX0" fmla="*/ 375902 w 986567"/>
                  <a:gd name="connsiteY0" fmla="*/ 83935 h 1318434"/>
                  <a:gd name="connsiteX1" fmla="*/ 375902 w 986567"/>
                  <a:gd name="connsiteY1" fmla="*/ 647815 h 1318434"/>
                  <a:gd name="connsiteX2" fmla="*/ 363710 w 986567"/>
                  <a:gd name="connsiteY2" fmla="*/ 784975 h 1318434"/>
                  <a:gd name="connsiteX3" fmla="*/ 269222 w 986567"/>
                  <a:gd name="connsiteY3" fmla="*/ 937375 h 1318434"/>
                  <a:gd name="connsiteX4" fmla="*/ 16238 w 986567"/>
                  <a:gd name="connsiteY4" fmla="*/ 1059295 h 1318434"/>
                  <a:gd name="connsiteX5" fmla="*/ 25382 w 986567"/>
                  <a:gd name="connsiteY5" fmla="*/ 1196455 h 1318434"/>
                  <a:gd name="connsiteX6" fmla="*/ 25382 w 986567"/>
                  <a:gd name="connsiteY6" fmla="*/ 1242175 h 1318434"/>
                  <a:gd name="connsiteX7" fmla="*/ 238742 w 986567"/>
                  <a:gd name="connsiteY7" fmla="*/ 1196455 h 1318434"/>
                  <a:gd name="connsiteX8" fmla="*/ 506966 w 986567"/>
                  <a:gd name="connsiteY8" fmla="*/ 952615 h 1318434"/>
                  <a:gd name="connsiteX9" fmla="*/ 711182 w 986567"/>
                  <a:gd name="connsiteY9" fmla="*/ 1165975 h 1318434"/>
                  <a:gd name="connsiteX10" fmla="*/ 848342 w 986567"/>
                  <a:gd name="connsiteY10" fmla="*/ 1318375 h 1318434"/>
                  <a:gd name="connsiteX11" fmla="*/ 985502 w 986567"/>
                  <a:gd name="connsiteY11" fmla="*/ 1181215 h 1318434"/>
                  <a:gd name="connsiteX12" fmla="*/ 772142 w 986567"/>
                  <a:gd name="connsiteY12" fmla="*/ 952615 h 1318434"/>
                  <a:gd name="connsiteX13" fmla="*/ 650222 w 986567"/>
                  <a:gd name="connsiteY13" fmla="*/ 800215 h 1318434"/>
                  <a:gd name="connsiteX14" fmla="*/ 604502 w 986567"/>
                  <a:gd name="connsiteY14" fmla="*/ 647815 h 1318434"/>
                  <a:gd name="connsiteX15" fmla="*/ 589262 w 986567"/>
                  <a:gd name="connsiteY15" fmla="*/ 205855 h 1318434"/>
                  <a:gd name="connsiteX16" fmla="*/ 574022 w 986567"/>
                  <a:gd name="connsiteY16" fmla="*/ 53455 h 1318434"/>
                  <a:gd name="connsiteX17" fmla="*/ 513062 w 986567"/>
                  <a:gd name="connsiteY17" fmla="*/ 7735 h 1318434"/>
                  <a:gd name="connsiteX18" fmla="*/ 421622 w 986567"/>
                  <a:gd name="connsiteY18" fmla="*/ 7735 h 1318434"/>
                  <a:gd name="connsiteX19" fmla="*/ 375902 w 986567"/>
                  <a:gd name="connsiteY19" fmla="*/ 83935 h 1318434"/>
                  <a:gd name="connsiteX0" fmla="*/ 370978 w 981643"/>
                  <a:gd name="connsiteY0" fmla="*/ 83935 h 1318434"/>
                  <a:gd name="connsiteX1" fmla="*/ 370978 w 981643"/>
                  <a:gd name="connsiteY1" fmla="*/ 647815 h 1318434"/>
                  <a:gd name="connsiteX2" fmla="*/ 358786 w 981643"/>
                  <a:gd name="connsiteY2" fmla="*/ 784975 h 1318434"/>
                  <a:gd name="connsiteX3" fmla="*/ 264298 w 981643"/>
                  <a:gd name="connsiteY3" fmla="*/ 937375 h 1318434"/>
                  <a:gd name="connsiteX4" fmla="*/ 17410 w 981643"/>
                  <a:gd name="connsiteY4" fmla="*/ 1108063 h 1318434"/>
                  <a:gd name="connsiteX5" fmla="*/ 20458 w 981643"/>
                  <a:gd name="connsiteY5" fmla="*/ 1196455 h 1318434"/>
                  <a:gd name="connsiteX6" fmla="*/ 20458 w 981643"/>
                  <a:gd name="connsiteY6" fmla="*/ 1242175 h 1318434"/>
                  <a:gd name="connsiteX7" fmla="*/ 233818 w 981643"/>
                  <a:gd name="connsiteY7" fmla="*/ 1196455 h 1318434"/>
                  <a:gd name="connsiteX8" fmla="*/ 502042 w 981643"/>
                  <a:gd name="connsiteY8" fmla="*/ 952615 h 1318434"/>
                  <a:gd name="connsiteX9" fmla="*/ 706258 w 981643"/>
                  <a:gd name="connsiteY9" fmla="*/ 1165975 h 1318434"/>
                  <a:gd name="connsiteX10" fmla="*/ 843418 w 981643"/>
                  <a:gd name="connsiteY10" fmla="*/ 1318375 h 1318434"/>
                  <a:gd name="connsiteX11" fmla="*/ 980578 w 981643"/>
                  <a:gd name="connsiteY11" fmla="*/ 1181215 h 1318434"/>
                  <a:gd name="connsiteX12" fmla="*/ 767218 w 981643"/>
                  <a:gd name="connsiteY12" fmla="*/ 952615 h 1318434"/>
                  <a:gd name="connsiteX13" fmla="*/ 645298 w 981643"/>
                  <a:gd name="connsiteY13" fmla="*/ 800215 h 1318434"/>
                  <a:gd name="connsiteX14" fmla="*/ 599578 w 981643"/>
                  <a:gd name="connsiteY14" fmla="*/ 647815 h 1318434"/>
                  <a:gd name="connsiteX15" fmla="*/ 584338 w 981643"/>
                  <a:gd name="connsiteY15" fmla="*/ 205855 h 1318434"/>
                  <a:gd name="connsiteX16" fmla="*/ 569098 w 981643"/>
                  <a:gd name="connsiteY16" fmla="*/ 53455 h 1318434"/>
                  <a:gd name="connsiteX17" fmla="*/ 508138 w 981643"/>
                  <a:gd name="connsiteY17" fmla="*/ 7735 h 1318434"/>
                  <a:gd name="connsiteX18" fmla="*/ 416698 w 981643"/>
                  <a:gd name="connsiteY18" fmla="*/ 7735 h 1318434"/>
                  <a:gd name="connsiteX19" fmla="*/ 370978 w 981643"/>
                  <a:gd name="connsiteY19" fmla="*/ 83935 h 1318434"/>
                  <a:gd name="connsiteX0" fmla="*/ 375902 w 986567"/>
                  <a:gd name="connsiteY0" fmla="*/ 83935 h 1318434"/>
                  <a:gd name="connsiteX1" fmla="*/ 375902 w 986567"/>
                  <a:gd name="connsiteY1" fmla="*/ 647815 h 1318434"/>
                  <a:gd name="connsiteX2" fmla="*/ 363710 w 986567"/>
                  <a:gd name="connsiteY2" fmla="*/ 784975 h 1318434"/>
                  <a:gd name="connsiteX3" fmla="*/ 269222 w 986567"/>
                  <a:gd name="connsiteY3" fmla="*/ 937375 h 1318434"/>
                  <a:gd name="connsiteX4" fmla="*/ 16238 w 986567"/>
                  <a:gd name="connsiteY4" fmla="*/ 1108063 h 1318434"/>
                  <a:gd name="connsiteX5" fmla="*/ 25382 w 986567"/>
                  <a:gd name="connsiteY5" fmla="*/ 1196455 h 1318434"/>
                  <a:gd name="connsiteX6" fmla="*/ 25382 w 986567"/>
                  <a:gd name="connsiteY6" fmla="*/ 1242175 h 1318434"/>
                  <a:gd name="connsiteX7" fmla="*/ 238742 w 986567"/>
                  <a:gd name="connsiteY7" fmla="*/ 1196455 h 1318434"/>
                  <a:gd name="connsiteX8" fmla="*/ 506966 w 986567"/>
                  <a:gd name="connsiteY8" fmla="*/ 952615 h 1318434"/>
                  <a:gd name="connsiteX9" fmla="*/ 711182 w 986567"/>
                  <a:gd name="connsiteY9" fmla="*/ 1165975 h 1318434"/>
                  <a:gd name="connsiteX10" fmla="*/ 848342 w 986567"/>
                  <a:gd name="connsiteY10" fmla="*/ 1318375 h 1318434"/>
                  <a:gd name="connsiteX11" fmla="*/ 985502 w 986567"/>
                  <a:gd name="connsiteY11" fmla="*/ 1181215 h 1318434"/>
                  <a:gd name="connsiteX12" fmla="*/ 772142 w 986567"/>
                  <a:gd name="connsiteY12" fmla="*/ 952615 h 1318434"/>
                  <a:gd name="connsiteX13" fmla="*/ 650222 w 986567"/>
                  <a:gd name="connsiteY13" fmla="*/ 800215 h 1318434"/>
                  <a:gd name="connsiteX14" fmla="*/ 604502 w 986567"/>
                  <a:gd name="connsiteY14" fmla="*/ 647815 h 1318434"/>
                  <a:gd name="connsiteX15" fmla="*/ 589262 w 986567"/>
                  <a:gd name="connsiteY15" fmla="*/ 205855 h 1318434"/>
                  <a:gd name="connsiteX16" fmla="*/ 574022 w 986567"/>
                  <a:gd name="connsiteY16" fmla="*/ 53455 h 1318434"/>
                  <a:gd name="connsiteX17" fmla="*/ 513062 w 986567"/>
                  <a:gd name="connsiteY17" fmla="*/ 7735 h 1318434"/>
                  <a:gd name="connsiteX18" fmla="*/ 421622 w 986567"/>
                  <a:gd name="connsiteY18" fmla="*/ 7735 h 1318434"/>
                  <a:gd name="connsiteX19" fmla="*/ 375902 w 986567"/>
                  <a:gd name="connsiteY19" fmla="*/ 83935 h 1318434"/>
                  <a:gd name="connsiteX0" fmla="*/ 376678 w 987343"/>
                  <a:gd name="connsiteY0" fmla="*/ 83935 h 1318434"/>
                  <a:gd name="connsiteX1" fmla="*/ 376678 w 987343"/>
                  <a:gd name="connsiteY1" fmla="*/ 647815 h 1318434"/>
                  <a:gd name="connsiteX2" fmla="*/ 364486 w 987343"/>
                  <a:gd name="connsiteY2" fmla="*/ 784975 h 1318434"/>
                  <a:gd name="connsiteX3" fmla="*/ 269998 w 987343"/>
                  <a:gd name="connsiteY3" fmla="*/ 937375 h 1318434"/>
                  <a:gd name="connsiteX4" fmla="*/ 17014 w 987343"/>
                  <a:gd name="connsiteY4" fmla="*/ 1108063 h 1318434"/>
                  <a:gd name="connsiteX5" fmla="*/ 26158 w 987343"/>
                  <a:gd name="connsiteY5" fmla="*/ 1196455 h 1318434"/>
                  <a:gd name="connsiteX6" fmla="*/ 50542 w 987343"/>
                  <a:gd name="connsiteY6" fmla="*/ 1248271 h 1318434"/>
                  <a:gd name="connsiteX7" fmla="*/ 239518 w 987343"/>
                  <a:gd name="connsiteY7" fmla="*/ 1196455 h 1318434"/>
                  <a:gd name="connsiteX8" fmla="*/ 507742 w 987343"/>
                  <a:gd name="connsiteY8" fmla="*/ 952615 h 1318434"/>
                  <a:gd name="connsiteX9" fmla="*/ 711958 w 987343"/>
                  <a:gd name="connsiteY9" fmla="*/ 1165975 h 1318434"/>
                  <a:gd name="connsiteX10" fmla="*/ 849118 w 987343"/>
                  <a:gd name="connsiteY10" fmla="*/ 1318375 h 1318434"/>
                  <a:gd name="connsiteX11" fmla="*/ 986278 w 987343"/>
                  <a:gd name="connsiteY11" fmla="*/ 1181215 h 1318434"/>
                  <a:gd name="connsiteX12" fmla="*/ 772918 w 987343"/>
                  <a:gd name="connsiteY12" fmla="*/ 952615 h 1318434"/>
                  <a:gd name="connsiteX13" fmla="*/ 650998 w 987343"/>
                  <a:gd name="connsiteY13" fmla="*/ 800215 h 1318434"/>
                  <a:gd name="connsiteX14" fmla="*/ 605278 w 987343"/>
                  <a:gd name="connsiteY14" fmla="*/ 647815 h 1318434"/>
                  <a:gd name="connsiteX15" fmla="*/ 590038 w 987343"/>
                  <a:gd name="connsiteY15" fmla="*/ 205855 h 1318434"/>
                  <a:gd name="connsiteX16" fmla="*/ 574798 w 987343"/>
                  <a:gd name="connsiteY16" fmla="*/ 53455 h 1318434"/>
                  <a:gd name="connsiteX17" fmla="*/ 513838 w 987343"/>
                  <a:gd name="connsiteY17" fmla="*/ 7735 h 1318434"/>
                  <a:gd name="connsiteX18" fmla="*/ 422398 w 987343"/>
                  <a:gd name="connsiteY18" fmla="*/ 7735 h 1318434"/>
                  <a:gd name="connsiteX19" fmla="*/ 376678 w 987343"/>
                  <a:gd name="connsiteY19" fmla="*/ 83935 h 1318434"/>
                  <a:gd name="connsiteX0" fmla="*/ 376678 w 987343"/>
                  <a:gd name="connsiteY0" fmla="*/ 83935 h 1318434"/>
                  <a:gd name="connsiteX1" fmla="*/ 376678 w 987343"/>
                  <a:gd name="connsiteY1" fmla="*/ 647815 h 1318434"/>
                  <a:gd name="connsiteX2" fmla="*/ 364486 w 987343"/>
                  <a:gd name="connsiteY2" fmla="*/ 784975 h 1318434"/>
                  <a:gd name="connsiteX3" fmla="*/ 269998 w 987343"/>
                  <a:gd name="connsiteY3" fmla="*/ 937375 h 1318434"/>
                  <a:gd name="connsiteX4" fmla="*/ 17014 w 987343"/>
                  <a:gd name="connsiteY4" fmla="*/ 1108063 h 1318434"/>
                  <a:gd name="connsiteX5" fmla="*/ 26158 w 987343"/>
                  <a:gd name="connsiteY5" fmla="*/ 1196455 h 1318434"/>
                  <a:gd name="connsiteX6" fmla="*/ 50542 w 987343"/>
                  <a:gd name="connsiteY6" fmla="*/ 1248271 h 1318434"/>
                  <a:gd name="connsiteX7" fmla="*/ 233422 w 987343"/>
                  <a:gd name="connsiteY7" fmla="*/ 1178167 h 1318434"/>
                  <a:gd name="connsiteX8" fmla="*/ 507742 w 987343"/>
                  <a:gd name="connsiteY8" fmla="*/ 952615 h 1318434"/>
                  <a:gd name="connsiteX9" fmla="*/ 711958 w 987343"/>
                  <a:gd name="connsiteY9" fmla="*/ 1165975 h 1318434"/>
                  <a:gd name="connsiteX10" fmla="*/ 849118 w 987343"/>
                  <a:gd name="connsiteY10" fmla="*/ 1318375 h 1318434"/>
                  <a:gd name="connsiteX11" fmla="*/ 986278 w 987343"/>
                  <a:gd name="connsiteY11" fmla="*/ 1181215 h 1318434"/>
                  <a:gd name="connsiteX12" fmla="*/ 772918 w 987343"/>
                  <a:gd name="connsiteY12" fmla="*/ 952615 h 1318434"/>
                  <a:gd name="connsiteX13" fmla="*/ 650998 w 987343"/>
                  <a:gd name="connsiteY13" fmla="*/ 800215 h 1318434"/>
                  <a:gd name="connsiteX14" fmla="*/ 605278 w 987343"/>
                  <a:gd name="connsiteY14" fmla="*/ 647815 h 1318434"/>
                  <a:gd name="connsiteX15" fmla="*/ 590038 w 987343"/>
                  <a:gd name="connsiteY15" fmla="*/ 205855 h 1318434"/>
                  <a:gd name="connsiteX16" fmla="*/ 574798 w 987343"/>
                  <a:gd name="connsiteY16" fmla="*/ 53455 h 1318434"/>
                  <a:gd name="connsiteX17" fmla="*/ 513838 w 987343"/>
                  <a:gd name="connsiteY17" fmla="*/ 7735 h 1318434"/>
                  <a:gd name="connsiteX18" fmla="*/ 422398 w 987343"/>
                  <a:gd name="connsiteY18" fmla="*/ 7735 h 1318434"/>
                  <a:gd name="connsiteX19" fmla="*/ 376678 w 987343"/>
                  <a:gd name="connsiteY19" fmla="*/ 83935 h 1318434"/>
                  <a:gd name="connsiteX0" fmla="*/ 376678 w 987569"/>
                  <a:gd name="connsiteY0" fmla="*/ 83935 h 1287982"/>
                  <a:gd name="connsiteX1" fmla="*/ 376678 w 987569"/>
                  <a:gd name="connsiteY1" fmla="*/ 647815 h 1287982"/>
                  <a:gd name="connsiteX2" fmla="*/ 364486 w 987569"/>
                  <a:gd name="connsiteY2" fmla="*/ 784975 h 1287982"/>
                  <a:gd name="connsiteX3" fmla="*/ 269998 w 987569"/>
                  <a:gd name="connsiteY3" fmla="*/ 937375 h 1287982"/>
                  <a:gd name="connsiteX4" fmla="*/ 17014 w 987569"/>
                  <a:gd name="connsiteY4" fmla="*/ 1108063 h 1287982"/>
                  <a:gd name="connsiteX5" fmla="*/ 26158 w 987569"/>
                  <a:gd name="connsiteY5" fmla="*/ 1196455 h 1287982"/>
                  <a:gd name="connsiteX6" fmla="*/ 50542 w 987569"/>
                  <a:gd name="connsiteY6" fmla="*/ 1248271 h 1287982"/>
                  <a:gd name="connsiteX7" fmla="*/ 233422 w 987569"/>
                  <a:gd name="connsiteY7" fmla="*/ 1178167 h 1287982"/>
                  <a:gd name="connsiteX8" fmla="*/ 507742 w 987569"/>
                  <a:gd name="connsiteY8" fmla="*/ 952615 h 1287982"/>
                  <a:gd name="connsiteX9" fmla="*/ 711958 w 987569"/>
                  <a:gd name="connsiteY9" fmla="*/ 1165975 h 1287982"/>
                  <a:gd name="connsiteX10" fmla="*/ 855214 w 987569"/>
                  <a:gd name="connsiteY10" fmla="*/ 1287895 h 1287982"/>
                  <a:gd name="connsiteX11" fmla="*/ 986278 w 987569"/>
                  <a:gd name="connsiteY11" fmla="*/ 1181215 h 1287982"/>
                  <a:gd name="connsiteX12" fmla="*/ 772918 w 987569"/>
                  <a:gd name="connsiteY12" fmla="*/ 952615 h 1287982"/>
                  <a:gd name="connsiteX13" fmla="*/ 650998 w 987569"/>
                  <a:gd name="connsiteY13" fmla="*/ 800215 h 1287982"/>
                  <a:gd name="connsiteX14" fmla="*/ 605278 w 987569"/>
                  <a:gd name="connsiteY14" fmla="*/ 647815 h 1287982"/>
                  <a:gd name="connsiteX15" fmla="*/ 590038 w 987569"/>
                  <a:gd name="connsiteY15" fmla="*/ 205855 h 1287982"/>
                  <a:gd name="connsiteX16" fmla="*/ 574798 w 987569"/>
                  <a:gd name="connsiteY16" fmla="*/ 53455 h 1287982"/>
                  <a:gd name="connsiteX17" fmla="*/ 513838 w 987569"/>
                  <a:gd name="connsiteY17" fmla="*/ 7735 h 1287982"/>
                  <a:gd name="connsiteX18" fmla="*/ 422398 w 987569"/>
                  <a:gd name="connsiteY18" fmla="*/ 7735 h 1287982"/>
                  <a:gd name="connsiteX19" fmla="*/ 376678 w 987569"/>
                  <a:gd name="connsiteY19" fmla="*/ 83935 h 128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7569" h="1287982">
                    <a:moveTo>
                      <a:pt x="376678" y="83935"/>
                    </a:moveTo>
                    <a:cubicBezTo>
                      <a:pt x="369058" y="190615"/>
                      <a:pt x="378710" y="530975"/>
                      <a:pt x="376678" y="647815"/>
                    </a:cubicBezTo>
                    <a:cubicBezTo>
                      <a:pt x="374646" y="764655"/>
                      <a:pt x="382266" y="736715"/>
                      <a:pt x="364486" y="784975"/>
                    </a:cubicBezTo>
                    <a:cubicBezTo>
                      <a:pt x="346706" y="833235"/>
                      <a:pt x="327910" y="883527"/>
                      <a:pt x="269998" y="937375"/>
                    </a:cubicBezTo>
                    <a:cubicBezTo>
                      <a:pt x="212086" y="991223"/>
                      <a:pt x="57654" y="1064883"/>
                      <a:pt x="17014" y="1108063"/>
                    </a:cubicBezTo>
                    <a:cubicBezTo>
                      <a:pt x="-23626" y="1151243"/>
                      <a:pt x="20570" y="1173087"/>
                      <a:pt x="26158" y="1196455"/>
                    </a:cubicBezTo>
                    <a:cubicBezTo>
                      <a:pt x="31746" y="1219823"/>
                      <a:pt x="15998" y="1251319"/>
                      <a:pt x="50542" y="1248271"/>
                    </a:cubicBezTo>
                    <a:cubicBezTo>
                      <a:pt x="85086" y="1245223"/>
                      <a:pt x="157222" y="1227443"/>
                      <a:pt x="233422" y="1178167"/>
                    </a:cubicBezTo>
                    <a:cubicBezTo>
                      <a:pt x="309622" y="1128891"/>
                      <a:pt x="320290" y="1074027"/>
                      <a:pt x="507742" y="952615"/>
                    </a:cubicBezTo>
                    <a:cubicBezTo>
                      <a:pt x="665730" y="1075551"/>
                      <a:pt x="654046" y="1110095"/>
                      <a:pt x="711958" y="1165975"/>
                    </a:cubicBezTo>
                    <a:cubicBezTo>
                      <a:pt x="769870" y="1221855"/>
                      <a:pt x="809494" y="1285355"/>
                      <a:pt x="855214" y="1287895"/>
                    </a:cubicBezTo>
                    <a:cubicBezTo>
                      <a:pt x="900934" y="1290435"/>
                      <a:pt x="999994" y="1237095"/>
                      <a:pt x="986278" y="1181215"/>
                    </a:cubicBezTo>
                    <a:cubicBezTo>
                      <a:pt x="972562" y="1125335"/>
                      <a:pt x="828798" y="1016115"/>
                      <a:pt x="772918" y="952615"/>
                    </a:cubicBezTo>
                    <a:cubicBezTo>
                      <a:pt x="717038" y="889115"/>
                      <a:pt x="678938" y="851015"/>
                      <a:pt x="650998" y="800215"/>
                    </a:cubicBezTo>
                    <a:cubicBezTo>
                      <a:pt x="623058" y="749415"/>
                      <a:pt x="615438" y="746875"/>
                      <a:pt x="605278" y="647815"/>
                    </a:cubicBezTo>
                    <a:cubicBezTo>
                      <a:pt x="595118" y="548755"/>
                      <a:pt x="595118" y="304915"/>
                      <a:pt x="590038" y="205855"/>
                    </a:cubicBezTo>
                    <a:cubicBezTo>
                      <a:pt x="584958" y="106795"/>
                      <a:pt x="574798" y="53455"/>
                      <a:pt x="574798" y="53455"/>
                    </a:cubicBezTo>
                    <a:cubicBezTo>
                      <a:pt x="562098" y="20435"/>
                      <a:pt x="539238" y="15355"/>
                      <a:pt x="513838" y="7735"/>
                    </a:cubicBezTo>
                    <a:cubicBezTo>
                      <a:pt x="488438" y="115"/>
                      <a:pt x="445258" y="-4965"/>
                      <a:pt x="422398" y="7735"/>
                    </a:cubicBezTo>
                    <a:cubicBezTo>
                      <a:pt x="399538" y="20435"/>
                      <a:pt x="384298" y="-22745"/>
                      <a:pt x="376678" y="8393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1AC77A65-4DFB-4888-B9EF-3BB60353D141}"/>
                  </a:ext>
                </a:extLst>
              </p:cNvPr>
              <p:cNvSpPr/>
              <p:nvPr/>
            </p:nvSpPr>
            <p:spPr>
              <a:xfrm rot="378681">
                <a:off x="719820" y="2268459"/>
                <a:ext cx="1179318" cy="2445192"/>
              </a:xfrm>
              <a:custGeom>
                <a:avLst/>
                <a:gdLst>
                  <a:gd name="connsiteX0" fmla="*/ 968303 w 1252262"/>
                  <a:gd name="connsiteY0" fmla="*/ 310618 h 2445192"/>
                  <a:gd name="connsiteX1" fmla="*/ 851072 w 1252262"/>
                  <a:gd name="connsiteY1" fmla="*/ 76156 h 2445192"/>
                  <a:gd name="connsiteX2" fmla="*/ 733842 w 1252262"/>
                  <a:gd name="connsiteY2" fmla="*/ 5818 h 2445192"/>
                  <a:gd name="connsiteX3" fmla="*/ 475934 w 1252262"/>
                  <a:gd name="connsiteY3" fmla="*/ 99603 h 2445192"/>
                  <a:gd name="connsiteX4" fmla="*/ 100795 w 1252262"/>
                  <a:gd name="connsiteY4" fmla="*/ 849879 h 2445192"/>
                  <a:gd name="connsiteX5" fmla="*/ 7011 w 1252262"/>
                  <a:gd name="connsiteY5" fmla="*/ 1717387 h 2445192"/>
                  <a:gd name="connsiteX6" fmla="*/ 30457 w 1252262"/>
                  <a:gd name="connsiteY6" fmla="*/ 2162864 h 2445192"/>
                  <a:gd name="connsiteX7" fmla="*/ 218026 w 1252262"/>
                  <a:gd name="connsiteY7" fmla="*/ 2444218 h 2445192"/>
                  <a:gd name="connsiteX8" fmla="*/ 874518 w 1252262"/>
                  <a:gd name="connsiteY8" fmla="*/ 2069079 h 2445192"/>
                  <a:gd name="connsiteX9" fmla="*/ 1226211 w 1252262"/>
                  <a:gd name="connsiteY9" fmla="*/ 1998741 h 2445192"/>
                  <a:gd name="connsiteX10" fmla="*/ 1226211 w 1252262"/>
                  <a:gd name="connsiteY10" fmla="*/ 1623603 h 2445192"/>
                  <a:gd name="connsiteX11" fmla="*/ 1226211 w 1252262"/>
                  <a:gd name="connsiteY11" fmla="*/ 1107787 h 2445192"/>
                  <a:gd name="connsiteX12" fmla="*/ 1062088 w 1252262"/>
                  <a:gd name="connsiteY12" fmla="*/ 404403 h 2445192"/>
                  <a:gd name="connsiteX13" fmla="*/ 968303 w 1252262"/>
                  <a:gd name="connsiteY13" fmla="*/ 310618 h 2445192"/>
                  <a:gd name="connsiteX0" fmla="*/ 1062088 w 1252262"/>
                  <a:gd name="connsiteY0" fmla="*/ 404403 h 2445192"/>
                  <a:gd name="connsiteX1" fmla="*/ 851072 w 1252262"/>
                  <a:gd name="connsiteY1" fmla="*/ 76156 h 2445192"/>
                  <a:gd name="connsiteX2" fmla="*/ 733842 w 1252262"/>
                  <a:gd name="connsiteY2" fmla="*/ 5818 h 2445192"/>
                  <a:gd name="connsiteX3" fmla="*/ 475934 w 1252262"/>
                  <a:gd name="connsiteY3" fmla="*/ 99603 h 2445192"/>
                  <a:gd name="connsiteX4" fmla="*/ 100795 w 1252262"/>
                  <a:gd name="connsiteY4" fmla="*/ 849879 h 2445192"/>
                  <a:gd name="connsiteX5" fmla="*/ 7011 w 1252262"/>
                  <a:gd name="connsiteY5" fmla="*/ 1717387 h 2445192"/>
                  <a:gd name="connsiteX6" fmla="*/ 30457 w 1252262"/>
                  <a:gd name="connsiteY6" fmla="*/ 2162864 h 2445192"/>
                  <a:gd name="connsiteX7" fmla="*/ 218026 w 1252262"/>
                  <a:gd name="connsiteY7" fmla="*/ 2444218 h 2445192"/>
                  <a:gd name="connsiteX8" fmla="*/ 874518 w 1252262"/>
                  <a:gd name="connsiteY8" fmla="*/ 2069079 h 2445192"/>
                  <a:gd name="connsiteX9" fmla="*/ 1226211 w 1252262"/>
                  <a:gd name="connsiteY9" fmla="*/ 1998741 h 2445192"/>
                  <a:gd name="connsiteX10" fmla="*/ 1226211 w 1252262"/>
                  <a:gd name="connsiteY10" fmla="*/ 1623603 h 2445192"/>
                  <a:gd name="connsiteX11" fmla="*/ 1226211 w 1252262"/>
                  <a:gd name="connsiteY11" fmla="*/ 1107787 h 2445192"/>
                  <a:gd name="connsiteX12" fmla="*/ 1062088 w 1252262"/>
                  <a:gd name="connsiteY12" fmla="*/ 404403 h 2445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52262" h="2445192">
                    <a:moveTo>
                      <a:pt x="1062088" y="404403"/>
                    </a:moveTo>
                    <a:cubicBezTo>
                      <a:pt x="999565" y="232465"/>
                      <a:pt x="905780" y="142587"/>
                      <a:pt x="851072" y="76156"/>
                    </a:cubicBezTo>
                    <a:cubicBezTo>
                      <a:pt x="796364" y="9725"/>
                      <a:pt x="796365" y="1910"/>
                      <a:pt x="733842" y="5818"/>
                    </a:cubicBezTo>
                    <a:cubicBezTo>
                      <a:pt x="671319" y="9726"/>
                      <a:pt x="581442" y="-41074"/>
                      <a:pt x="475934" y="99603"/>
                    </a:cubicBezTo>
                    <a:cubicBezTo>
                      <a:pt x="370426" y="240280"/>
                      <a:pt x="178949" y="580248"/>
                      <a:pt x="100795" y="849879"/>
                    </a:cubicBezTo>
                    <a:cubicBezTo>
                      <a:pt x="22641" y="1119510"/>
                      <a:pt x="18734" y="1498556"/>
                      <a:pt x="7011" y="1717387"/>
                    </a:cubicBezTo>
                    <a:cubicBezTo>
                      <a:pt x="-4712" y="1936218"/>
                      <a:pt x="-4712" y="2041726"/>
                      <a:pt x="30457" y="2162864"/>
                    </a:cubicBezTo>
                    <a:cubicBezTo>
                      <a:pt x="65626" y="2284002"/>
                      <a:pt x="77349" y="2459849"/>
                      <a:pt x="218026" y="2444218"/>
                    </a:cubicBezTo>
                    <a:cubicBezTo>
                      <a:pt x="358703" y="2428587"/>
                      <a:pt x="706487" y="2143325"/>
                      <a:pt x="874518" y="2069079"/>
                    </a:cubicBezTo>
                    <a:cubicBezTo>
                      <a:pt x="1042549" y="1994833"/>
                      <a:pt x="1167596" y="2072987"/>
                      <a:pt x="1226211" y="1998741"/>
                    </a:cubicBezTo>
                    <a:cubicBezTo>
                      <a:pt x="1284826" y="1924495"/>
                      <a:pt x="1226211" y="1623603"/>
                      <a:pt x="1226211" y="1623603"/>
                    </a:cubicBezTo>
                    <a:cubicBezTo>
                      <a:pt x="1226211" y="1475111"/>
                      <a:pt x="1253565" y="1310987"/>
                      <a:pt x="1226211" y="1107787"/>
                    </a:cubicBezTo>
                    <a:cubicBezTo>
                      <a:pt x="1198857" y="904587"/>
                      <a:pt x="1124611" y="576341"/>
                      <a:pt x="1062088" y="404403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42721670-9916-4535-B4AE-AC26ECF2BD15}"/>
                  </a:ext>
                </a:extLst>
              </p:cNvPr>
              <p:cNvSpPr/>
              <p:nvPr/>
            </p:nvSpPr>
            <p:spPr>
              <a:xfrm>
                <a:off x="2190918" y="2192497"/>
                <a:ext cx="1308602" cy="2362643"/>
              </a:xfrm>
              <a:custGeom>
                <a:avLst/>
                <a:gdLst>
                  <a:gd name="connsiteX0" fmla="*/ 19238 w 1221213"/>
                  <a:gd name="connsiteY0" fmla="*/ 820691 h 2272209"/>
                  <a:gd name="connsiteX1" fmla="*/ 66130 w 1221213"/>
                  <a:gd name="connsiteY1" fmla="*/ 351768 h 2272209"/>
                  <a:gd name="connsiteX2" fmla="*/ 370930 w 1221213"/>
                  <a:gd name="connsiteY2" fmla="*/ 75 h 2272209"/>
                  <a:gd name="connsiteX3" fmla="*/ 746069 w 1221213"/>
                  <a:gd name="connsiteY3" fmla="*/ 328322 h 2272209"/>
                  <a:gd name="connsiteX4" fmla="*/ 1074315 w 1221213"/>
                  <a:gd name="connsiteY4" fmla="*/ 1102045 h 2272209"/>
                  <a:gd name="connsiteX5" fmla="*/ 1168099 w 1221213"/>
                  <a:gd name="connsiteY5" fmla="*/ 1758537 h 2272209"/>
                  <a:gd name="connsiteX6" fmla="*/ 1191545 w 1221213"/>
                  <a:gd name="connsiteY6" fmla="*/ 2250906 h 2272209"/>
                  <a:gd name="connsiteX7" fmla="*/ 746069 w 1221213"/>
                  <a:gd name="connsiteY7" fmla="*/ 2180568 h 2272209"/>
                  <a:gd name="connsiteX8" fmla="*/ 347484 w 1221213"/>
                  <a:gd name="connsiteY8" fmla="*/ 2157122 h 2272209"/>
                  <a:gd name="connsiteX9" fmla="*/ 230253 w 1221213"/>
                  <a:gd name="connsiteY9" fmla="*/ 2157122 h 2272209"/>
                  <a:gd name="connsiteX10" fmla="*/ 253699 w 1221213"/>
                  <a:gd name="connsiteY10" fmla="*/ 1946106 h 2272209"/>
                  <a:gd name="connsiteX11" fmla="*/ 253699 w 1221213"/>
                  <a:gd name="connsiteY11" fmla="*/ 1688199 h 2272209"/>
                  <a:gd name="connsiteX12" fmla="*/ 19238 w 1221213"/>
                  <a:gd name="connsiteY12" fmla="*/ 1524075 h 2272209"/>
                  <a:gd name="connsiteX13" fmla="*/ 19238 w 1221213"/>
                  <a:gd name="connsiteY13" fmla="*/ 820691 h 2272209"/>
                  <a:gd name="connsiteX0" fmla="*/ 872 w 1202847"/>
                  <a:gd name="connsiteY0" fmla="*/ 820691 h 2272209"/>
                  <a:gd name="connsiteX1" fmla="*/ 47764 w 1202847"/>
                  <a:gd name="connsiteY1" fmla="*/ 351768 h 2272209"/>
                  <a:gd name="connsiteX2" fmla="*/ 352564 w 1202847"/>
                  <a:gd name="connsiteY2" fmla="*/ 75 h 2272209"/>
                  <a:gd name="connsiteX3" fmla="*/ 727703 w 1202847"/>
                  <a:gd name="connsiteY3" fmla="*/ 328322 h 2272209"/>
                  <a:gd name="connsiteX4" fmla="*/ 1055949 w 1202847"/>
                  <a:gd name="connsiteY4" fmla="*/ 1102045 h 2272209"/>
                  <a:gd name="connsiteX5" fmla="*/ 1149733 w 1202847"/>
                  <a:gd name="connsiteY5" fmla="*/ 1758537 h 2272209"/>
                  <a:gd name="connsiteX6" fmla="*/ 1173179 w 1202847"/>
                  <a:gd name="connsiteY6" fmla="*/ 2250906 h 2272209"/>
                  <a:gd name="connsiteX7" fmla="*/ 727703 w 1202847"/>
                  <a:gd name="connsiteY7" fmla="*/ 2180568 h 2272209"/>
                  <a:gd name="connsiteX8" fmla="*/ 329118 w 1202847"/>
                  <a:gd name="connsiteY8" fmla="*/ 2157122 h 2272209"/>
                  <a:gd name="connsiteX9" fmla="*/ 211887 w 1202847"/>
                  <a:gd name="connsiteY9" fmla="*/ 2157122 h 2272209"/>
                  <a:gd name="connsiteX10" fmla="*/ 235333 w 1202847"/>
                  <a:gd name="connsiteY10" fmla="*/ 1946106 h 2272209"/>
                  <a:gd name="connsiteX11" fmla="*/ 235333 w 1202847"/>
                  <a:gd name="connsiteY11" fmla="*/ 1688199 h 2272209"/>
                  <a:gd name="connsiteX12" fmla="*/ 46592 w 1202847"/>
                  <a:gd name="connsiteY12" fmla="*/ 1356435 h 2272209"/>
                  <a:gd name="connsiteX13" fmla="*/ 872 w 1202847"/>
                  <a:gd name="connsiteY13" fmla="*/ 820691 h 2272209"/>
                  <a:gd name="connsiteX0" fmla="*/ 31139 w 1233114"/>
                  <a:gd name="connsiteY0" fmla="*/ 820691 h 2272209"/>
                  <a:gd name="connsiteX1" fmla="*/ 78031 w 1233114"/>
                  <a:gd name="connsiteY1" fmla="*/ 351768 h 2272209"/>
                  <a:gd name="connsiteX2" fmla="*/ 382831 w 1233114"/>
                  <a:gd name="connsiteY2" fmla="*/ 75 h 2272209"/>
                  <a:gd name="connsiteX3" fmla="*/ 757970 w 1233114"/>
                  <a:gd name="connsiteY3" fmla="*/ 328322 h 2272209"/>
                  <a:gd name="connsiteX4" fmla="*/ 1086216 w 1233114"/>
                  <a:gd name="connsiteY4" fmla="*/ 1102045 h 2272209"/>
                  <a:gd name="connsiteX5" fmla="*/ 1180000 w 1233114"/>
                  <a:gd name="connsiteY5" fmla="*/ 1758537 h 2272209"/>
                  <a:gd name="connsiteX6" fmla="*/ 1203446 w 1233114"/>
                  <a:gd name="connsiteY6" fmla="*/ 2250906 h 2272209"/>
                  <a:gd name="connsiteX7" fmla="*/ 757970 w 1233114"/>
                  <a:gd name="connsiteY7" fmla="*/ 2180568 h 2272209"/>
                  <a:gd name="connsiteX8" fmla="*/ 359385 w 1233114"/>
                  <a:gd name="connsiteY8" fmla="*/ 2157122 h 2272209"/>
                  <a:gd name="connsiteX9" fmla="*/ 242154 w 1233114"/>
                  <a:gd name="connsiteY9" fmla="*/ 2157122 h 2272209"/>
                  <a:gd name="connsiteX10" fmla="*/ 265600 w 1233114"/>
                  <a:gd name="connsiteY10" fmla="*/ 1946106 h 2272209"/>
                  <a:gd name="connsiteX11" fmla="*/ 265600 w 1233114"/>
                  <a:gd name="connsiteY11" fmla="*/ 1688199 h 2272209"/>
                  <a:gd name="connsiteX12" fmla="*/ 15899 w 1233114"/>
                  <a:gd name="connsiteY12" fmla="*/ 1386915 h 2272209"/>
                  <a:gd name="connsiteX13" fmla="*/ 31139 w 1233114"/>
                  <a:gd name="connsiteY13" fmla="*/ 820691 h 2272209"/>
                  <a:gd name="connsiteX0" fmla="*/ 38990 w 1240965"/>
                  <a:gd name="connsiteY0" fmla="*/ 820691 h 2272209"/>
                  <a:gd name="connsiteX1" fmla="*/ 85882 w 1240965"/>
                  <a:gd name="connsiteY1" fmla="*/ 351768 h 2272209"/>
                  <a:gd name="connsiteX2" fmla="*/ 390682 w 1240965"/>
                  <a:gd name="connsiteY2" fmla="*/ 75 h 2272209"/>
                  <a:gd name="connsiteX3" fmla="*/ 765821 w 1240965"/>
                  <a:gd name="connsiteY3" fmla="*/ 328322 h 2272209"/>
                  <a:gd name="connsiteX4" fmla="*/ 1094067 w 1240965"/>
                  <a:gd name="connsiteY4" fmla="*/ 1102045 h 2272209"/>
                  <a:gd name="connsiteX5" fmla="*/ 1187851 w 1240965"/>
                  <a:gd name="connsiteY5" fmla="*/ 1758537 h 2272209"/>
                  <a:gd name="connsiteX6" fmla="*/ 1211297 w 1240965"/>
                  <a:gd name="connsiteY6" fmla="*/ 2250906 h 2272209"/>
                  <a:gd name="connsiteX7" fmla="*/ 765821 w 1240965"/>
                  <a:gd name="connsiteY7" fmla="*/ 2180568 h 2272209"/>
                  <a:gd name="connsiteX8" fmla="*/ 367236 w 1240965"/>
                  <a:gd name="connsiteY8" fmla="*/ 2157122 h 2272209"/>
                  <a:gd name="connsiteX9" fmla="*/ 250005 w 1240965"/>
                  <a:gd name="connsiteY9" fmla="*/ 2157122 h 2272209"/>
                  <a:gd name="connsiteX10" fmla="*/ 273451 w 1240965"/>
                  <a:gd name="connsiteY10" fmla="*/ 1946106 h 2272209"/>
                  <a:gd name="connsiteX11" fmla="*/ 380131 w 1240965"/>
                  <a:gd name="connsiteY11" fmla="*/ 1718679 h 2272209"/>
                  <a:gd name="connsiteX12" fmla="*/ 23750 w 1240965"/>
                  <a:gd name="connsiteY12" fmla="*/ 1386915 h 2272209"/>
                  <a:gd name="connsiteX13" fmla="*/ 38990 w 1240965"/>
                  <a:gd name="connsiteY13" fmla="*/ 820691 h 2272209"/>
                  <a:gd name="connsiteX0" fmla="*/ 38990 w 1240965"/>
                  <a:gd name="connsiteY0" fmla="*/ 820691 h 2272209"/>
                  <a:gd name="connsiteX1" fmla="*/ 85882 w 1240965"/>
                  <a:gd name="connsiteY1" fmla="*/ 351768 h 2272209"/>
                  <a:gd name="connsiteX2" fmla="*/ 390682 w 1240965"/>
                  <a:gd name="connsiteY2" fmla="*/ 75 h 2272209"/>
                  <a:gd name="connsiteX3" fmla="*/ 765821 w 1240965"/>
                  <a:gd name="connsiteY3" fmla="*/ 328322 h 2272209"/>
                  <a:gd name="connsiteX4" fmla="*/ 1094067 w 1240965"/>
                  <a:gd name="connsiteY4" fmla="*/ 1102045 h 2272209"/>
                  <a:gd name="connsiteX5" fmla="*/ 1187851 w 1240965"/>
                  <a:gd name="connsiteY5" fmla="*/ 1758537 h 2272209"/>
                  <a:gd name="connsiteX6" fmla="*/ 1211297 w 1240965"/>
                  <a:gd name="connsiteY6" fmla="*/ 2250906 h 2272209"/>
                  <a:gd name="connsiteX7" fmla="*/ 765821 w 1240965"/>
                  <a:gd name="connsiteY7" fmla="*/ 2180568 h 2272209"/>
                  <a:gd name="connsiteX8" fmla="*/ 367236 w 1240965"/>
                  <a:gd name="connsiteY8" fmla="*/ 2157122 h 2272209"/>
                  <a:gd name="connsiteX9" fmla="*/ 250005 w 1240965"/>
                  <a:gd name="connsiteY9" fmla="*/ 2157122 h 2272209"/>
                  <a:gd name="connsiteX10" fmla="*/ 273451 w 1240965"/>
                  <a:gd name="connsiteY10" fmla="*/ 1946106 h 2272209"/>
                  <a:gd name="connsiteX11" fmla="*/ 380131 w 1240965"/>
                  <a:gd name="connsiteY11" fmla="*/ 1581519 h 2272209"/>
                  <a:gd name="connsiteX12" fmla="*/ 23750 w 1240965"/>
                  <a:gd name="connsiteY12" fmla="*/ 1386915 h 2272209"/>
                  <a:gd name="connsiteX13" fmla="*/ 38990 w 1240965"/>
                  <a:gd name="connsiteY13" fmla="*/ 820691 h 2272209"/>
                  <a:gd name="connsiteX0" fmla="*/ 38990 w 1240965"/>
                  <a:gd name="connsiteY0" fmla="*/ 820691 h 2272209"/>
                  <a:gd name="connsiteX1" fmla="*/ 85882 w 1240965"/>
                  <a:gd name="connsiteY1" fmla="*/ 351768 h 2272209"/>
                  <a:gd name="connsiteX2" fmla="*/ 390682 w 1240965"/>
                  <a:gd name="connsiteY2" fmla="*/ 75 h 2272209"/>
                  <a:gd name="connsiteX3" fmla="*/ 765821 w 1240965"/>
                  <a:gd name="connsiteY3" fmla="*/ 328322 h 2272209"/>
                  <a:gd name="connsiteX4" fmla="*/ 1094067 w 1240965"/>
                  <a:gd name="connsiteY4" fmla="*/ 1102045 h 2272209"/>
                  <a:gd name="connsiteX5" fmla="*/ 1187851 w 1240965"/>
                  <a:gd name="connsiteY5" fmla="*/ 1758537 h 2272209"/>
                  <a:gd name="connsiteX6" fmla="*/ 1211297 w 1240965"/>
                  <a:gd name="connsiteY6" fmla="*/ 2250906 h 2272209"/>
                  <a:gd name="connsiteX7" fmla="*/ 765821 w 1240965"/>
                  <a:gd name="connsiteY7" fmla="*/ 2180568 h 2272209"/>
                  <a:gd name="connsiteX8" fmla="*/ 367236 w 1240965"/>
                  <a:gd name="connsiteY8" fmla="*/ 2157122 h 2272209"/>
                  <a:gd name="connsiteX9" fmla="*/ 250005 w 1240965"/>
                  <a:gd name="connsiteY9" fmla="*/ 2157122 h 2272209"/>
                  <a:gd name="connsiteX10" fmla="*/ 395371 w 1240965"/>
                  <a:gd name="connsiteY10" fmla="*/ 1976586 h 2272209"/>
                  <a:gd name="connsiteX11" fmla="*/ 380131 w 1240965"/>
                  <a:gd name="connsiteY11" fmla="*/ 1581519 h 2272209"/>
                  <a:gd name="connsiteX12" fmla="*/ 23750 w 1240965"/>
                  <a:gd name="connsiteY12" fmla="*/ 1386915 h 2272209"/>
                  <a:gd name="connsiteX13" fmla="*/ 38990 w 1240965"/>
                  <a:gd name="connsiteY13" fmla="*/ 820691 h 2272209"/>
                  <a:gd name="connsiteX0" fmla="*/ 38990 w 1240965"/>
                  <a:gd name="connsiteY0" fmla="*/ 820691 h 2272209"/>
                  <a:gd name="connsiteX1" fmla="*/ 85882 w 1240965"/>
                  <a:gd name="connsiteY1" fmla="*/ 351768 h 2272209"/>
                  <a:gd name="connsiteX2" fmla="*/ 390682 w 1240965"/>
                  <a:gd name="connsiteY2" fmla="*/ 75 h 2272209"/>
                  <a:gd name="connsiteX3" fmla="*/ 765821 w 1240965"/>
                  <a:gd name="connsiteY3" fmla="*/ 328322 h 2272209"/>
                  <a:gd name="connsiteX4" fmla="*/ 1094067 w 1240965"/>
                  <a:gd name="connsiteY4" fmla="*/ 1102045 h 2272209"/>
                  <a:gd name="connsiteX5" fmla="*/ 1187851 w 1240965"/>
                  <a:gd name="connsiteY5" fmla="*/ 1758537 h 2272209"/>
                  <a:gd name="connsiteX6" fmla="*/ 1211297 w 1240965"/>
                  <a:gd name="connsiteY6" fmla="*/ 2250906 h 2272209"/>
                  <a:gd name="connsiteX7" fmla="*/ 765821 w 1240965"/>
                  <a:gd name="connsiteY7" fmla="*/ 2180568 h 2272209"/>
                  <a:gd name="connsiteX8" fmla="*/ 367236 w 1240965"/>
                  <a:gd name="connsiteY8" fmla="*/ 2157122 h 2272209"/>
                  <a:gd name="connsiteX9" fmla="*/ 570045 w 1240965"/>
                  <a:gd name="connsiteY9" fmla="*/ 2172362 h 2272209"/>
                  <a:gd name="connsiteX10" fmla="*/ 395371 w 1240965"/>
                  <a:gd name="connsiteY10" fmla="*/ 1976586 h 2272209"/>
                  <a:gd name="connsiteX11" fmla="*/ 380131 w 1240965"/>
                  <a:gd name="connsiteY11" fmla="*/ 1581519 h 2272209"/>
                  <a:gd name="connsiteX12" fmla="*/ 23750 w 1240965"/>
                  <a:gd name="connsiteY12" fmla="*/ 1386915 h 2272209"/>
                  <a:gd name="connsiteX13" fmla="*/ 38990 w 1240965"/>
                  <a:gd name="connsiteY13" fmla="*/ 820691 h 2272209"/>
                  <a:gd name="connsiteX0" fmla="*/ 38990 w 1240965"/>
                  <a:gd name="connsiteY0" fmla="*/ 820691 h 2271932"/>
                  <a:gd name="connsiteX1" fmla="*/ 85882 w 1240965"/>
                  <a:gd name="connsiteY1" fmla="*/ 351768 h 2271932"/>
                  <a:gd name="connsiteX2" fmla="*/ 390682 w 1240965"/>
                  <a:gd name="connsiteY2" fmla="*/ 75 h 2271932"/>
                  <a:gd name="connsiteX3" fmla="*/ 765821 w 1240965"/>
                  <a:gd name="connsiteY3" fmla="*/ 328322 h 2271932"/>
                  <a:gd name="connsiteX4" fmla="*/ 1094067 w 1240965"/>
                  <a:gd name="connsiteY4" fmla="*/ 1102045 h 2271932"/>
                  <a:gd name="connsiteX5" fmla="*/ 1187851 w 1240965"/>
                  <a:gd name="connsiteY5" fmla="*/ 1758537 h 2271932"/>
                  <a:gd name="connsiteX6" fmla="*/ 1211297 w 1240965"/>
                  <a:gd name="connsiteY6" fmla="*/ 2250906 h 2271932"/>
                  <a:gd name="connsiteX7" fmla="*/ 765821 w 1240965"/>
                  <a:gd name="connsiteY7" fmla="*/ 2180568 h 2271932"/>
                  <a:gd name="connsiteX8" fmla="*/ 570045 w 1240965"/>
                  <a:gd name="connsiteY8" fmla="*/ 2172362 h 2271932"/>
                  <a:gd name="connsiteX9" fmla="*/ 395371 w 1240965"/>
                  <a:gd name="connsiteY9" fmla="*/ 1976586 h 2271932"/>
                  <a:gd name="connsiteX10" fmla="*/ 380131 w 1240965"/>
                  <a:gd name="connsiteY10" fmla="*/ 1581519 h 2271932"/>
                  <a:gd name="connsiteX11" fmla="*/ 23750 w 1240965"/>
                  <a:gd name="connsiteY11" fmla="*/ 1386915 h 2271932"/>
                  <a:gd name="connsiteX12" fmla="*/ 38990 w 1240965"/>
                  <a:gd name="connsiteY12" fmla="*/ 820691 h 2271932"/>
                  <a:gd name="connsiteX0" fmla="*/ 32259 w 1234234"/>
                  <a:gd name="connsiteY0" fmla="*/ 820691 h 2271932"/>
                  <a:gd name="connsiteX1" fmla="*/ 79151 w 1234234"/>
                  <a:gd name="connsiteY1" fmla="*/ 351768 h 2271932"/>
                  <a:gd name="connsiteX2" fmla="*/ 383951 w 1234234"/>
                  <a:gd name="connsiteY2" fmla="*/ 75 h 2271932"/>
                  <a:gd name="connsiteX3" fmla="*/ 759090 w 1234234"/>
                  <a:gd name="connsiteY3" fmla="*/ 328322 h 2271932"/>
                  <a:gd name="connsiteX4" fmla="*/ 1087336 w 1234234"/>
                  <a:gd name="connsiteY4" fmla="*/ 1102045 h 2271932"/>
                  <a:gd name="connsiteX5" fmla="*/ 1181120 w 1234234"/>
                  <a:gd name="connsiteY5" fmla="*/ 1758537 h 2271932"/>
                  <a:gd name="connsiteX6" fmla="*/ 1204566 w 1234234"/>
                  <a:gd name="connsiteY6" fmla="*/ 2250906 h 2271932"/>
                  <a:gd name="connsiteX7" fmla="*/ 759090 w 1234234"/>
                  <a:gd name="connsiteY7" fmla="*/ 2180568 h 2271932"/>
                  <a:gd name="connsiteX8" fmla="*/ 563314 w 1234234"/>
                  <a:gd name="connsiteY8" fmla="*/ 2172362 h 2271932"/>
                  <a:gd name="connsiteX9" fmla="*/ 388640 w 1234234"/>
                  <a:gd name="connsiteY9" fmla="*/ 1976586 h 2271932"/>
                  <a:gd name="connsiteX10" fmla="*/ 281960 w 1234234"/>
                  <a:gd name="connsiteY10" fmla="*/ 1535799 h 2271932"/>
                  <a:gd name="connsiteX11" fmla="*/ 17019 w 1234234"/>
                  <a:gd name="connsiteY11" fmla="*/ 1386915 h 2271932"/>
                  <a:gd name="connsiteX12" fmla="*/ 32259 w 1234234"/>
                  <a:gd name="connsiteY12" fmla="*/ 820691 h 2271932"/>
                  <a:gd name="connsiteX0" fmla="*/ 32259 w 1234234"/>
                  <a:gd name="connsiteY0" fmla="*/ 820691 h 2271932"/>
                  <a:gd name="connsiteX1" fmla="*/ 79151 w 1234234"/>
                  <a:gd name="connsiteY1" fmla="*/ 351768 h 2271932"/>
                  <a:gd name="connsiteX2" fmla="*/ 383951 w 1234234"/>
                  <a:gd name="connsiteY2" fmla="*/ 75 h 2271932"/>
                  <a:gd name="connsiteX3" fmla="*/ 759090 w 1234234"/>
                  <a:gd name="connsiteY3" fmla="*/ 328322 h 2271932"/>
                  <a:gd name="connsiteX4" fmla="*/ 1087336 w 1234234"/>
                  <a:gd name="connsiteY4" fmla="*/ 1102045 h 2271932"/>
                  <a:gd name="connsiteX5" fmla="*/ 1181120 w 1234234"/>
                  <a:gd name="connsiteY5" fmla="*/ 1758537 h 2271932"/>
                  <a:gd name="connsiteX6" fmla="*/ 1204566 w 1234234"/>
                  <a:gd name="connsiteY6" fmla="*/ 2250906 h 2271932"/>
                  <a:gd name="connsiteX7" fmla="*/ 759090 w 1234234"/>
                  <a:gd name="connsiteY7" fmla="*/ 2180568 h 2271932"/>
                  <a:gd name="connsiteX8" fmla="*/ 563314 w 1234234"/>
                  <a:gd name="connsiteY8" fmla="*/ 2172362 h 2271932"/>
                  <a:gd name="connsiteX9" fmla="*/ 388640 w 1234234"/>
                  <a:gd name="connsiteY9" fmla="*/ 1976586 h 2271932"/>
                  <a:gd name="connsiteX10" fmla="*/ 417948 w 1234234"/>
                  <a:gd name="connsiteY10" fmla="*/ 1712817 h 2271932"/>
                  <a:gd name="connsiteX11" fmla="*/ 281960 w 1234234"/>
                  <a:gd name="connsiteY11" fmla="*/ 1535799 h 2271932"/>
                  <a:gd name="connsiteX12" fmla="*/ 17019 w 1234234"/>
                  <a:gd name="connsiteY12" fmla="*/ 1386915 h 2271932"/>
                  <a:gd name="connsiteX13" fmla="*/ 32259 w 1234234"/>
                  <a:gd name="connsiteY13" fmla="*/ 820691 h 2271932"/>
                  <a:gd name="connsiteX0" fmla="*/ 26677 w 1228652"/>
                  <a:gd name="connsiteY0" fmla="*/ 820691 h 2271932"/>
                  <a:gd name="connsiteX1" fmla="*/ 73569 w 1228652"/>
                  <a:gd name="connsiteY1" fmla="*/ 351768 h 2271932"/>
                  <a:gd name="connsiteX2" fmla="*/ 378369 w 1228652"/>
                  <a:gd name="connsiteY2" fmla="*/ 75 h 2271932"/>
                  <a:gd name="connsiteX3" fmla="*/ 753508 w 1228652"/>
                  <a:gd name="connsiteY3" fmla="*/ 328322 h 2271932"/>
                  <a:gd name="connsiteX4" fmla="*/ 1081754 w 1228652"/>
                  <a:gd name="connsiteY4" fmla="*/ 1102045 h 2271932"/>
                  <a:gd name="connsiteX5" fmla="*/ 1175538 w 1228652"/>
                  <a:gd name="connsiteY5" fmla="*/ 1758537 h 2271932"/>
                  <a:gd name="connsiteX6" fmla="*/ 1198984 w 1228652"/>
                  <a:gd name="connsiteY6" fmla="*/ 2250906 h 2271932"/>
                  <a:gd name="connsiteX7" fmla="*/ 753508 w 1228652"/>
                  <a:gd name="connsiteY7" fmla="*/ 2180568 h 2271932"/>
                  <a:gd name="connsiteX8" fmla="*/ 557732 w 1228652"/>
                  <a:gd name="connsiteY8" fmla="*/ 2172362 h 2271932"/>
                  <a:gd name="connsiteX9" fmla="*/ 383058 w 1228652"/>
                  <a:gd name="connsiteY9" fmla="*/ 1976586 h 2271932"/>
                  <a:gd name="connsiteX10" fmla="*/ 412366 w 1228652"/>
                  <a:gd name="connsiteY10" fmla="*/ 1712817 h 2271932"/>
                  <a:gd name="connsiteX11" fmla="*/ 200178 w 1228652"/>
                  <a:gd name="connsiteY11" fmla="*/ 1505319 h 2271932"/>
                  <a:gd name="connsiteX12" fmla="*/ 11437 w 1228652"/>
                  <a:gd name="connsiteY12" fmla="*/ 1386915 h 2271932"/>
                  <a:gd name="connsiteX13" fmla="*/ 26677 w 1228652"/>
                  <a:gd name="connsiteY13" fmla="*/ 820691 h 2271932"/>
                  <a:gd name="connsiteX0" fmla="*/ 26677 w 1228652"/>
                  <a:gd name="connsiteY0" fmla="*/ 820691 h 2271932"/>
                  <a:gd name="connsiteX1" fmla="*/ 73569 w 1228652"/>
                  <a:gd name="connsiteY1" fmla="*/ 351768 h 2271932"/>
                  <a:gd name="connsiteX2" fmla="*/ 378369 w 1228652"/>
                  <a:gd name="connsiteY2" fmla="*/ 75 h 2271932"/>
                  <a:gd name="connsiteX3" fmla="*/ 753508 w 1228652"/>
                  <a:gd name="connsiteY3" fmla="*/ 328322 h 2271932"/>
                  <a:gd name="connsiteX4" fmla="*/ 1081754 w 1228652"/>
                  <a:gd name="connsiteY4" fmla="*/ 1102045 h 2271932"/>
                  <a:gd name="connsiteX5" fmla="*/ 1175538 w 1228652"/>
                  <a:gd name="connsiteY5" fmla="*/ 1758537 h 2271932"/>
                  <a:gd name="connsiteX6" fmla="*/ 1198984 w 1228652"/>
                  <a:gd name="connsiteY6" fmla="*/ 2250906 h 2271932"/>
                  <a:gd name="connsiteX7" fmla="*/ 753508 w 1228652"/>
                  <a:gd name="connsiteY7" fmla="*/ 2180568 h 2271932"/>
                  <a:gd name="connsiteX8" fmla="*/ 557732 w 1228652"/>
                  <a:gd name="connsiteY8" fmla="*/ 2172362 h 2271932"/>
                  <a:gd name="connsiteX9" fmla="*/ 383058 w 1228652"/>
                  <a:gd name="connsiteY9" fmla="*/ 1976586 h 2271932"/>
                  <a:gd name="connsiteX10" fmla="*/ 320926 w 1228652"/>
                  <a:gd name="connsiteY10" fmla="*/ 1682337 h 2271932"/>
                  <a:gd name="connsiteX11" fmla="*/ 200178 w 1228652"/>
                  <a:gd name="connsiteY11" fmla="*/ 1505319 h 2271932"/>
                  <a:gd name="connsiteX12" fmla="*/ 11437 w 1228652"/>
                  <a:gd name="connsiteY12" fmla="*/ 1386915 h 2271932"/>
                  <a:gd name="connsiteX13" fmla="*/ 26677 w 1228652"/>
                  <a:gd name="connsiteY13" fmla="*/ 820691 h 2271932"/>
                  <a:gd name="connsiteX0" fmla="*/ 26677 w 1228652"/>
                  <a:gd name="connsiteY0" fmla="*/ 820691 h 2271932"/>
                  <a:gd name="connsiteX1" fmla="*/ 73569 w 1228652"/>
                  <a:gd name="connsiteY1" fmla="*/ 351768 h 2271932"/>
                  <a:gd name="connsiteX2" fmla="*/ 378369 w 1228652"/>
                  <a:gd name="connsiteY2" fmla="*/ 75 h 2271932"/>
                  <a:gd name="connsiteX3" fmla="*/ 753508 w 1228652"/>
                  <a:gd name="connsiteY3" fmla="*/ 328322 h 2271932"/>
                  <a:gd name="connsiteX4" fmla="*/ 1081754 w 1228652"/>
                  <a:gd name="connsiteY4" fmla="*/ 1102045 h 2271932"/>
                  <a:gd name="connsiteX5" fmla="*/ 1175538 w 1228652"/>
                  <a:gd name="connsiteY5" fmla="*/ 1758537 h 2271932"/>
                  <a:gd name="connsiteX6" fmla="*/ 1198984 w 1228652"/>
                  <a:gd name="connsiteY6" fmla="*/ 2250906 h 2271932"/>
                  <a:gd name="connsiteX7" fmla="*/ 753508 w 1228652"/>
                  <a:gd name="connsiteY7" fmla="*/ 2180568 h 2271932"/>
                  <a:gd name="connsiteX8" fmla="*/ 557732 w 1228652"/>
                  <a:gd name="connsiteY8" fmla="*/ 2172362 h 2271932"/>
                  <a:gd name="connsiteX9" fmla="*/ 291618 w 1228652"/>
                  <a:gd name="connsiteY9" fmla="*/ 2052786 h 2271932"/>
                  <a:gd name="connsiteX10" fmla="*/ 320926 w 1228652"/>
                  <a:gd name="connsiteY10" fmla="*/ 1682337 h 2271932"/>
                  <a:gd name="connsiteX11" fmla="*/ 200178 w 1228652"/>
                  <a:gd name="connsiteY11" fmla="*/ 1505319 h 2271932"/>
                  <a:gd name="connsiteX12" fmla="*/ 11437 w 1228652"/>
                  <a:gd name="connsiteY12" fmla="*/ 1386915 h 2271932"/>
                  <a:gd name="connsiteX13" fmla="*/ 26677 w 1228652"/>
                  <a:gd name="connsiteY13" fmla="*/ 820691 h 2271932"/>
                  <a:gd name="connsiteX0" fmla="*/ 2073 w 1280248"/>
                  <a:gd name="connsiteY0" fmla="*/ 820691 h 2271932"/>
                  <a:gd name="connsiteX1" fmla="*/ 125165 w 1280248"/>
                  <a:gd name="connsiteY1" fmla="*/ 351768 h 2271932"/>
                  <a:gd name="connsiteX2" fmla="*/ 429965 w 1280248"/>
                  <a:gd name="connsiteY2" fmla="*/ 75 h 2271932"/>
                  <a:gd name="connsiteX3" fmla="*/ 805104 w 1280248"/>
                  <a:gd name="connsiteY3" fmla="*/ 328322 h 2271932"/>
                  <a:gd name="connsiteX4" fmla="*/ 1133350 w 1280248"/>
                  <a:gd name="connsiteY4" fmla="*/ 1102045 h 2271932"/>
                  <a:gd name="connsiteX5" fmla="*/ 1227134 w 1280248"/>
                  <a:gd name="connsiteY5" fmla="*/ 1758537 h 2271932"/>
                  <a:gd name="connsiteX6" fmla="*/ 1250580 w 1280248"/>
                  <a:gd name="connsiteY6" fmla="*/ 2250906 h 2271932"/>
                  <a:gd name="connsiteX7" fmla="*/ 805104 w 1280248"/>
                  <a:gd name="connsiteY7" fmla="*/ 2180568 h 2271932"/>
                  <a:gd name="connsiteX8" fmla="*/ 609328 w 1280248"/>
                  <a:gd name="connsiteY8" fmla="*/ 2172362 h 2271932"/>
                  <a:gd name="connsiteX9" fmla="*/ 343214 w 1280248"/>
                  <a:gd name="connsiteY9" fmla="*/ 2052786 h 2271932"/>
                  <a:gd name="connsiteX10" fmla="*/ 372522 w 1280248"/>
                  <a:gd name="connsiteY10" fmla="*/ 1682337 h 2271932"/>
                  <a:gd name="connsiteX11" fmla="*/ 251774 w 1280248"/>
                  <a:gd name="connsiteY11" fmla="*/ 1505319 h 2271932"/>
                  <a:gd name="connsiteX12" fmla="*/ 63033 w 1280248"/>
                  <a:gd name="connsiteY12" fmla="*/ 1386915 h 2271932"/>
                  <a:gd name="connsiteX13" fmla="*/ 2073 w 1280248"/>
                  <a:gd name="connsiteY13" fmla="*/ 820691 h 227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80248" h="2271932">
                    <a:moveTo>
                      <a:pt x="2073" y="820691"/>
                    </a:moveTo>
                    <a:cubicBezTo>
                      <a:pt x="12428" y="648167"/>
                      <a:pt x="53850" y="488537"/>
                      <a:pt x="125165" y="351768"/>
                    </a:cubicBezTo>
                    <a:cubicBezTo>
                      <a:pt x="196480" y="214999"/>
                      <a:pt x="316642" y="3983"/>
                      <a:pt x="429965" y="75"/>
                    </a:cubicBezTo>
                    <a:cubicBezTo>
                      <a:pt x="543288" y="-3833"/>
                      <a:pt x="687873" y="144660"/>
                      <a:pt x="805104" y="328322"/>
                    </a:cubicBezTo>
                    <a:cubicBezTo>
                      <a:pt x="922335" y="511984"/>
                      <a:pt x="1063012" y="863676"/>
                      <a:pt x="1133350" y="1102045"/>
                    </a:cubicBezTo>
                    <a:cubicBezTo>
                      <a:pt x="1203688" y="1340414"/>
                      <a:pt x="1207596" y="1567060"/>
                      <a:pt x="1227134" y="1758537"/>
                    </a:cubicBezTo>
                    <a:cubicBezTo>
                      <a:pt x="1246672" y="1950014"/>
                      <a:pt x="1320918" y="2180568"/>
                      <a:pt x="1250580" y="2250906"/>
                    </a:cubicBezTo>
                    <a:cubicBezTo>
                      <a:pt x="1180242" y="2321245"/>
                      <a:pt x="911979" y="2193659"/>
                      <a:pt x="805104" y="2180568"/>
                    </a:cubicBezTo>
                    <a:cubicBezTo>
                      <a:pt x="698229" y="2167477"/>
                      <a:pt x="686310" y="2193659"/>
                      <a:pt x="609328" y="2172362"/>
                    </a:cubicBezTo>
                    <a:cubicBezTo>
                      <a:pt x="532346" y="2151065"/>
                      <a:pt x="382682" y="2134457"/>
                      <a:pt x="343214" y="2052786"/>
                    </a:cubicBezTo>
                    <a:cubicBezTo>
                      <a:pt x="303746" y="1971115"/>
                      <a:pt x="390302" y="1755801"/>
                      <a:pt x="372522" y="1682337"/>
                    </a:cubicBezTo>
                    <a:cubicBezTo>
                      <a:pt x="354742" y="1608873"/>
                      <a:pt x="303355" y="1557096"/>
                      <a:pt x="251774" y="1505319"/>
                    </a:cubicBezTo>
                    <a:cubicBezTo>
                      <a:pt x="200193" y="1453542"/>
                      <a:pt x="104650" y="1501020"/>
                      <a:pt x="63033" y="1386915"/>
                    </a:cubicBezTo>
                    <a:cubicBezTo>
                      <a:pt x="21416" y="1272810"/>
                      <a:pt x="-8282" y="993215"/>
                      <a:pt x="2073" y="820691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89E332F-1218-41D1-9212-47E564821147}"/>
                </a:ext>
              </a:extLst>
            </p:cNvPr>
            <p:cNvSpPr/>
            <p:nvPr/>
          </p:nvSpPr>
          <p:spPr>
            <a:xfrm>
              <a:off x="6988488" y="2722297"/>
              <a:ext cx="291745" cy="99286"/>
            </a:xfrm>
            <a:custGeom>
              <a:avLst/>
              <a:gdLst>
                <a:gd name="connsiteX0" fmla="*/ 635 w 427888"/>
                <a:gd name="connsiteY0" fmla="*/ 147839 h 148236"/>
                <a:gd name="connsiteX1" fmla="*/ 311785 w 427888"/>
                <a:gd name="connsiteY1" fmla="*/ 1789 h 148236"/>
                <a:gd name="connsiteX2" fmla="*/ 426085 w 427888"/>
                <a:gd name="connsiteY2" fmla="*/ 65289 h 148236"/>
                <a:gd name="connsiteX3" fmla="*/ 235585 w 427888"/>
                <a:gd name="connsiteY3" fmla="*/ 46239 h 148236"/>
                <a:gd name="connsiteX4" fmla="*/ 635 w 427888"/>
                <a:gd name="connsiteY4" fmla="*/ 147839 h 14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888" h="148236">
                  <a:moveTo>
                    <a:pt x="635" y="147839"/>
                  </a:moveTo>
                  <a:cubicBezTo>
                    <a:pt x="13335" y="140431"/>
                    <a:pt x="240877" y="15547"/>
                    <a:pt x="311785" y="1789"/>
                  </a:cubicBezTo>
                  <a:cubicBezTo>
                    <a:pt x="382693" y="-11969"/>
                    <a:pt x="438785" y="57881"/>
                    <a:pt x="426085" y="65289"/>
                  </a:cubicBezTo>
                  <a:cubicBezTo>
                    <a:pt x="413385" y="72697"/>
                    <a:pt x="302260" y="35656"/>
                    <a:pt x="235585" y="46239"/>
                  </a:cubicBezTo>
                  <a:cubicBezTo>
                    <a:pt x="168910" y="56822"/>
                    <a:pt x="-12065" y="155247"/>
                    <a:pt x="635" y="147839"/>
                  </a:cubicBezTo>
                  <a:close/>
                </a:path>
              </a:pathLst>
            </a:custGeom>
            <a:solidFill>
              <a:srgbClr val="C37D6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8C952F3-F687-46E8-B7F6-FF2FCBC7EBD5}"/>
                </a:ext>
              </a:extLst>
            </p:cNvPr>
            <p:cNvSpPr/>
            <p:nvPr/>
          </p:nvSpPr>
          <p:spPr>
            <a:xfrm flipH="1">
              <a:off x="7488039" y="2735061"/>
              <a:ext cx="291745" cy="111985"/>
            </a:xfrm>
            <a:custGeom>
              <a:avLst/>
              <a:gdLst>
                <a:gd name="connsiteX0" fmla="*/ 635 w 427888"/>
                <a:gd name="connsiteY0" fmla="*/ 147839 h 148236"/>
                <a:gd name="connsiteX1" fmla="*/ 311785 w 427888"/>
                <a:gd name="connsiteY1" fmla="*/ 1789 h 148236"/>
                <a:gd name="connsiteX2" fmla="*/ 426085 w 427888"/>
                <a:gd name="connsiteY2" fmla="*/ 65289 h 148236"/>
                <a:gd name="connsiteX3" fmla="*/ 235585 w 427888"/>
                <a:gd name="connsiteY3" fmla="*/ 46239 h 148236"/>
                <a:gd name="connsiteX4" fmla="*/ 635 w 427888"/>
                <a:gd name="connsiteY4" fmla="*/ 147839 h 14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888" h="148236">
                  <a:moveTo>
                    <a:pt x="635" y="147839"/>
                  </a:moveTo>
                  <a:cubicBezTo>
                    <a:pt x="13335" y="140431"/>
                    <a:pt x="240877" y="15547"/>
                    <a:pt x="311785" y="1789"/>
                  </a:cubicBezTo>
                  <a:cubicBezTo>
                    <a:pt x="382693" y="-11969"/>
                    <a:pt x="438785" y="57881"/>
                    <a:pt x="426085" y="65289"/>
                  </a:cubicBezTo>
                  <a:cubicBezTo>
                    <a:pt x="413385" y="72697"/>
                    <a:pt x="302260" y="35656"/>
                    <a:pt x="235585" y="46239"/>
                  </a:cubicBezTo>
                  <a:cubicBezTo>
                    <a:pt x="168910" y="56822"/>
                    <a:pt x="-12065" y="155247"/>
                    <a:pt x="635" y="147839"/>
                  </a:cubicBezTo>
                  <a:close/>
                </a:path>
              </a:pathLst>
            </a:custGeom>
            <a:solidFill>
              <a:srgbClr val="C37D6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5" name="Mouse decr CO2 elimination" descr="Cursor with solid fill">
            <a:extLst>
              <a:ext uri="{FF2B5EF4-FFF2-40B4-BE49-F238E27FC236}">
                <a16:creationId xmlns:a16="http://schemas.microsoft.com/office/drawing/2014/main" id="{3850E443-F2C7-4D0B-BFC5-526EFBF006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611884" y="1886622"/>
            <a:ext cx="274320" cy="274320"/>
          </a:xfrm>
          <a:prstGeom prst="rect">
            <a:avLst/>
          </a:prstGeom>
        </p:spPr>
      </p:pic>
      <p:pic>
        <p:nvPicPr>
          <p:cNvPr id="46" name="Mouse incr CO2" descr="Cursor with solid fill">
            <a:extLst>
              <a:ext uri="{FF2B5EF4-FFF2-40B4-BE49-F238E27FC236}">
                <a16:creationId xmlns:a16="http://schemas.microsoft.com/office/drawing/2014/main" id="{1387C8DD-1A0F-4A89-AF52-E9770E344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637324" y="1873141"/>
            <a:ext cx="274320" cy="274320"/>
          </a:xfrm>
          <a:prstGeom prst="rect">
            <a:avLst/>
          </a:prstGeom>
        </p:spPr>
      </p:pic>
      <p:sp>
        <p:nvSpPr>
          <p:cNvPr id="50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F5FF8FDB-9359-4E29-8805-1EB9AB46EC95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51" name="Graphic 50" descr="Cursor with solid fill">
            <a:extLst>
              <a:ext uri="{FF2B5EF4-FFF2-40B4-BE49-F238E27FC236}">
                <a16:creationId xmlns:a16="http://schemas.microsoft.com/office/drawing/2014/main" id="{0AA0462D-6C03-42F2-B2DD-3FAD9FA28E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52" name="teachIM logo" descr="Icon&#10;&#10;Description automatically generated">
            <a:extLst>
              <a:ext uri="{FF2B5EF4-FFF2-40B4-BE49-F238E27FC236}">
                <a16:creationId xmlns:a16="http://schemas.microsoft.com/office/drawing/2014/main" id="{B7B42B23-64C1-40AE-AC3A-888D8B9CFC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6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36" grpId="0"/>
      <p:bldP spid="3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Home page" hidden="1">
            <a:extLst>
              <a:ext uri="{FF2B5EF4-FFF2-40B4-BE49-F238E27FC236}">
                <a16:creationId xmlns:a16="http://schemas.microsoft.com/office/drawing/2014/main" id="{0A9F93B9-FE91-421A-A191-0CE0BB1AA998}"/>
              </a:ext>
            </a:extLst>
          </p:cNvPr>
          <p:cNvGrpSpPr/>
          <p:nvPr/>
        </p:nvGrpSpPr>
        <p:grpSpPr>
          <a:xfrm>
            <a:off x="10350363" y="4925061"/>
            <a:ext cx="1714110" cy="1238634"/>
            <a:chOff x="5829044" y="5212828"/>
            <a:chExt cx="2146766" cy="1450223"/>
          </a:xfrm>
        </p:grpSpPr>
        <p:grpSp>
          <p:nvGrpSpPr>
            <p:cNvPr id="151" name="Home page">
              <a:extLst>
                <a:ext uri="{FF2B5EF4-FFF2-40B4-BE49-F238E27FC236}">
                  <a16:creationId xmlns:a16="http://schemas.microsoft.com/office/drawing/2014/main" id="{D93E97D1-A529-4115-BFBA-622711C7EF93}"/>
                </a:ext>
              </a:extLst>
            </p:cNvPr>
            <p:cNvGrpSpPr/>
            <p:nvPr/>
          </p:nvGrpSpPr>
          <p:grpSpPr>
            <a:xfrm>
              <a:off x="5829044" y="5212828"/>
              <a:ext cx="2146766" cy="1450223"/>
              <a:chOff x="9181095" y="5103030"/>
              <a:chExt cx="2146766" cy="1273451"/>
            </a:xfrm>
          </p:grpSpPr>
          <p:sp>
            <p:nvSpPr>
              <p:cNvPr id="155" name="Rectangle: Rounded Corners 15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B9B0C7A-DDD0-4DFB-AD6A-3C6B0C15DE91}"/>
                  </a:ext>
                </a:extLst>
              </p:cNvPr>
              <p:cNvSpPr/>
              <p:nvPr/>
            </p:nvSpPr>
            <p:spPr>
              <a:xfrm>
                <a:off x="9181095" y="5103030"/>
                <a:ext cx="2146766" cy="1273451"/>
              </a:xfrm>
              <a:prstGeom prst="roundRect">
                <a:avLst>
                  <a:gd name="adj" fmla="val 10598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F4DEEDB6-B771-4C33-A7EB-DA38D8B14999}"/>
                  </a:ext>
                </a:extLst>
              </p:cNvPr>
              <p:cNvSpPr/>
              <p:nvPr/>
            </p:nvSpPr>
            <p:spPr>
              <a:xfrm>
                <a:off x="9306826" y="5176968"/>
                <a:ext cx="1843528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1: Acid- base status?</a:t>
                </a: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00E69303-59DF-4D33-AFC1-06E58CA0B56E}"/>
                  </a:ext>
                </a:extLst>
              </p:cNvPr>
              <p:cNvSpPr/>
              <p:nvPr/>
            </p:nvSpPr>
            <p:spPr>
              <a:xfrm>
                <a:off x="9306826" y="5408407"/>
                <a:ext cx="1741251" cy="18765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2: Primary process?</a:t>
                </a:r>
              </a:p>
            </p:txBody>
          </p:sp>
          <p:sp>
            <p:nvSpPr>
              <p:cNvPr id="158" name="Rectangle: Rounded Corners 15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8CD5C387-98A8-4257-B731-52133F6870A6}"/>
                  </a:ext>
                </a:extLst>
              </p:cNvPr>
              <p:cNvSpPr/>
              <p:nvPr/>
            </p:nvSpPr>
            <p:spPr>
              <a:xfrm>
                <a:off x="9306826" y="5639845"/>
                <a:ext cx="1387644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3: Anion gap?</a:t>
                </a:r>
              </a:p>
            </p:txBody>
          </p:sp>
          <p:sp>
            <p:nvSpPr>
              <p:cNvPr id="160" name="Rectangle: Rounded Corners 159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FF62902D-5D59-4D2D-9DDE-604DCFCBB079}"/>
                  </a:ext>
                </a:extLst>
              </p:cNvPr>
              <p:cNvSpPr/>
              <p:nvPr/>
            </p:nvSpPr>
            <p:spPr>
              <a:xfrm>
                <a:off x="9697827" y="5886963"/>
                <a:ext cx="1017670" cy="17339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3a: ∆∆?</a:t>
                </a:r>
              </a:p>
            </p:txBody>
          </p:sp>
        </p:grpSp>
        <p:sp>
          <p:nvSpPr>
            <p:cNvPr id="154" name="Rectangle: Rounded Corners 153">
              <a:hlinkClick r:id="rId2" action="ppaction://hlinksldjump"/>
              <a:extLst>
                <a:ext uri="{FF2B5EF4-FFF2-40B4-BE49-F238E27FC236}">
                  <a16:creationId xmlns:a16="http://schemas.microsoft.com/office/drawing/2014/main" id="{E6611CC2-C5FD-4E1C-A7F4-AEF2BB3E4BB8}"/>
                </a:ext>
              </a:extLst>
            </p:cNvPr>
            <p:cNvSpPr/>
            <p:nvPr/>
          </p:nvSpPr>
          <p:spPr>
            <a:xfrm>
              <a:off x="5954775" y="6369145"/>
              <a:ext cx="1680609" cy="197458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/>
                <a:t>Step 4: Compensation?</a:t>
              </a:r>
            </a:p>
          </p:txBody>
        </p:sp>
      </p:grpSp>
      <p:sp>
        <p:nvSpPr>
          <p:cNvPr id="176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324FB035-E766-4B51-96D2-887C497B42B3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177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7A813DAD-9ED2-4E61-96A7-4A072C0181E8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Acidemia</a:t>
            </a:r>
          </a:p>
        </p:txBody>
      </p:sp>
      <p:sp>
        <p:nvSpPr>
          <p:cNvPr id="178" name="sub-q 2">
            <a:hlinkClick r:id="rId5" action="ppaction://hlinksldjump"/>
            <a:extLst>
              <a:ext uri="{FF2B5EF4-FFF2-40B4-BE49-F238E27FC236}">
                <a16:creationId xmlns:a16="http://schemas.microsoft.com/office/drawing/2014/main" id="{08063026-E2A1-4FD6-8A83-E09F380C82C2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80" name="sub-q 1 button">
            <a:hlinkClick r:id="rId6" action="ppaction://hlinksldjump"/>
            <a:extLst>
              <a:ext uri="{FF2B5EF4-FFF2-40B4-BE49-F238E27FC236}">
                <a16:creationId xmlns:a16="http://schemas.microsoft.com/office/drawing/2014/main" id="{26C38014-6D1C-484D-88B9-E22AF75988C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Normal pH</a:t>
            </a:r>
          </a:p>
        </p:txBody>
      </p:sp>
      <p:pic>
        <p:nvPicPr>
          <p:cNvPr id="183" name="Graphic 182" descr="Cursor with solid fill">
            <a:extLst>
              <a:ext uri="{FF2B5EF4-FFF2-40B4-BE49-F238E27FC236}">
                <a16:creationId xmlns:a16="http://schemas.microsoft.com/office/drawing/2014/main" id="{074D444E-1CE7-4A1B-A87C-E69FB9516C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185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DB5AF22E-1D21-4557-8A08-229C01D97F4A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92" name="Graphic 191" descr="Cursor with solid fill">
            <a:extLst>
              <a:ext uri="{FF2B5EF4-FFF2-40B4-BE49-F238E27FC236}">
                <a16:creationId xmlns:a16="http://schemas.microsoft.com/office/drawing/2014/main" id="{A756FBD1-84C2-42B5-8C90-1F093770C1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93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94AE2279-ECA2-4F28-A4B8-E62F5F0B3759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sp>
        <p:nvSpPr>
          <p:cNvPr id="195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FCD7C511-421A-48A2-9D98-25CF80AFF783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210" name="Graphic 209" descr="Cursor with solid fill">
            <a:extLst>
              <a:ext uri="{FF2B5EF4-FFF2-40B4-BE49-F238E27FC236}">
                <a16:creationId xmlns:a16="http://schemas.microsoft.com/office/drawing/2014/main" id="{601B7238-DFE8-4BD8-8526-5B455ABDA5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sp>
        <p:nvSpPr>
          <p:cNvPr id="211" name="Acidemia">
            <a:extLst>
              <a:ext uri="{FF2B5EF4-FFF2-40B4-BE49-F238E27FC236}">
                <a16:creationId xmlns:a16="http://schemas.microsoft.com/office/drawing/2014/main" id="{C71A1E86-3A18-484A-A063-8C348A6CF7CB}"/>
              </a:ext>
            </a:extLst>
          </p:cNvPr>
          <p:cNvSpPr txBox="1"/>
          <p:nvPr/>
        </p:nvSpPr>
        <p:spPr>
          <a:xfrm>
            <a:off x="3777411" y="85878"/>
            <a:ext cx="2318589" cy="369332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Normal pH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1D0A55-75A4-4393-A287-00F437A2ADB0}"/>
              </a:ext>
            </a:extLst>
          </p:cNvPr>
          <p:cNvGrpSpPr/>
          <p:nvPr/>
        </p:nvGrpSpPr>
        <p:grpSpPr>
          <a:xfrm>
            <a:off x="2281131" y="85878"/>
            <a:ext cx="968100" cy="1736820"/>
            <a:chOff x="1793214" y="48863"/>
            <a:chExt cx="968100" cy="1736820"/>
          </a:xfrm>
        </p:grpSpPr>
        <p:sp>
          <p:nvSpPr>
            <p:cNvPr id="258" name="Step 1">
              <a:extLst>
                <a:ext uri="{FF2B5EF4-FFF2-40B4-BE49-F238E27FC236}">
                  <a16:creationId xmlns:a16="http://schemas.microsoft.com/office/drawing/2014/main" id="{CF718B2E-0281-42FA-A2D1-7BB67274CB1E}"/>
                </a:ext>
              </a:extLst>
            </p:cNvPr>
            <p:cNvSpPr/>
            <p:nvPr/>
          </p:nvSpPr>
          <p:spPr>
            <a:xfrm>
              <a:off x="1793214" y="796905"/>
              <a:ext cx="742473" cy="28806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Step 1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5AA91522-4758-4C7B-9E24-433391D5EB7C}"/>
                </a:ext>
              </a:extLst>
            </p:cNvPr>
            <p:cNvSpPr/>
            <p:nvPr/>
          </p:nvSpPr>
          <p:spPr>
            <a:xfrm>
              <a:off x="2545961" y="48863"/>
              <a:ext cx="215353" cy="1736820"/>
            </a:xfrm>
            <a:prstGeom prst="leftBrace">
              <a:avLst>
                <a:gd name="adj1" fmla="val 0"/>
                <a:gd name="adj2" fmla="val 5112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D7D29820-F107-49E8-8143-E5DAD60D98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D278CB3B-423B-4B30-A589-E857888C34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grpSp>
        <p:nvGrpSpPr>
          <p:cNvPr id="48" name="Anion gap">
            <a:extLst>
              <a:ext uri="{FF2B5EF4-FFF2-40B4-BE49-F238E27FC236}">
                <a16:creationId xmlns:a16="http://schemas.microsoft.com/office/drawing/2014/main" id="{06E7060C-E1A7-425A-A604-51302C50A87E}"/>
              </a:ext>
            </a:extLst>
          </p:cNvPr>
          <p:cNvGrpSpPr/>
          <p:nvPr/>
        </p:nvGrpSpPr>
        <p:grpSpPr>
          <a:xfrm>
            <a:off x="3987950" y="1724891"/>
            <a:ext cx="1807709" cy="712398"/>
            <a:chOff x="3659979" y="502387"/>
            <a:chExt cx="1807709" cy="737597"/>
          </a:xfrm>
          <a:effectLst/>
        </p:grpSpPr>
        <p:sp>
          <p:nvSpPr>
            <p:cNvPr id="49" name="Anion gap">
              <a:extLst>
                <a:ext uri="{FF2B5EF4-FFF2-40B4-BE49-F238E27FC236}">
                  <a16:creationId xmlns:a16="http://schemas.microsoft.com/office/drawing/2014/main" id="{C6BFEC36-F365-4AE8-8ADF-38817D9097A5}"/>
                </a:ext>
              </a:extLst>
            </p:cNvPr>
            <p:cNvSpPr txBox="1"/>
            <p:nvPr/>
          </p:nvSpPr>
          <p:spPr>
            <a:xfrm>
              <a:off x="3659979" y="852164"/>
              <a:ext cx="1807709" cy="387820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z="1600" dirty="0">
                  <a:sym typeface="Wingdings" panose="05000000000000000000" pitchFamily="2" charset="2"/>
                </a:rPr>
                <a:t> </a:t>
              </a:r>
              <a:r>
                <a:rPr lang="en-US" sz="1600" dirty="0"/>
                <a:t>Anion gap (AG)?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A4F497A-88EF-4536-9F3F-67960A05E8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3834" y="502387"/>
              <a:ext cx="1442" cy="349777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1" name="Yes AG">
            <a:extLst>
              <a:ext uri="{FF2B5EF4-FFF2-40B4-BE49-F238E27FC236}">
                <a16:creationId xmlns:a16="http://schemas.microsoft.com/office/drawing/2014/main" id="{C2202B0D-8D12-48AA-8C7D-6CAA052DDAD1}"/>
              </a:ext>
            </a:extLst>
          </p:cNvPr>
          <p:cNvGrpSpPr/>
          <p:nvPr/>
        </p:nvGrpSpPr>
        <p:grpSpPr>
          <a:xfrm>
            <a:off x="4526298" y="2437289"/>
            <a:ext cx="731012" cy="672939"/>
            <a:chOff x="4608319" y="1511534"/>
            <a:chExt cx="731012" cy="672939"/>
          </a:xfrm>
          <a:effectLst/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9486939-6A3D-4F55-B2E0-840790DF5DED}"/>
                </a:ext>
              </a:extLst>
            </p:cNvPr>
            <p:cNvCxnSpPr>
              <a:cxnSpLocks/>
              <a:endCxn id="53" idx="0"/>
            </p:cNvCxnSpPr>
            <p:nvPr/>
          </p:nvCxnSpPr>
          <p:spPr>
            <a:xfrm flipH="1">
              <a:off x="4973825" y="1511534"/>
              <a:ext cx="1" cy="3596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1614D8-7E35-4421-B097-B9BEE1A23D81}"/>
                </a:ext>
              </a:extLst>
            </p:cNvPr>
            <p:cNvSpPr txBox="1"/>
            <p:nvPr/>
          </p:nvSpPr>
          <p:spPr>
            <a:xfrm>
              <a:off x="4608319" y="1871196"/>
              <a:ext cx="731012" cy="313277"/>
            </a:xfrm>
            <a:prstGeom prst="roundRect">
              <a:avLst>
                <a:gd name="adj" fmla="val 0"/>
              </a:avLst>
            </a:prstGeom>
            <a:effec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Yes</a:t>
              </a:r>
            </a:p>
          </p:txBody>
        </p:sp>
      </p:grpSp>
      <p:grpSp>
        <p:nvGrpSpPr>
          <p:cNvPr id="54" name="Delta-Delta">
            <a:extLst>
              <a:ext uri="{FF2B5EF4-FFF2-40B4-BE49-F238E27FC236}">
                <a16:creationId xmlns:a16="http://schemas.microsoft.com/office/drawing/2014/main" id="{F19957C0-7E5D-4447-A36C-25198BE32F5C}"/>
              </a:ext>
            </a:extLst>
          </p:cNvPr>
          <p:cNvGrpSpPr/>
          <p:nvPr/>
        </p:nvGrpSpPr>
        <p:grpSpPr>
          <a:xfrm>
            <a:off x="3522111" y="3110228"/>
            <a:ext cx="2739386" cy="1055993"/>
            <a:chOff x="3707901" y="2408853"/>
            <a:chExt cx="2739386" cy="105599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10967DE-EFB7-4D4D-B069-B4B86299085D}"/>
                </a:ext>
              </a:extLst>
            </p:cNvPr>
            <p:cNvSpPr txBox="1"/>
            <p:nvPr/>
          </p:nvSpPr>
          <p:spPr>
            <a:xfrm>
              <a:off x="3707901" y="2674842"/>
              <a:ext cx="2739386" cy="790004"/>
            </a:xfrm>
            <a:prstGeom prst="round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∆∆ (delta-delta) or </a:t>
              </a:r>
            </a:p>
            <a:p>
              <a:pPr algn="ctr"/>
              <a:r>
                <a:rPr lang="en-US" sz="1600" dirty="0"/>
                <a:t>“residual HCO</a:t>
              </a:r>
              <a:r>
                <a:rPr lang="en-US" sz="1600" baseline="-25000" dirty="0"/>
                <a:t>3</a:t>
              </a:r>
              <a:r>
                <a:rPr lang="en-US" sz="1600" baseline="30000" dirty="0"/>
                <a:t>-</a:t>
              </a:r>
              <a:r>
                <a:rPr lang="en-US" sz="1600" dirty="0"/>
                <a:t>”</a:t>
              </a:r>
            </a:p>
            <a:p>
              <a:pPr algn="ctr"/>
              <a:r>
                <a:rPr lang="en-US" sz="1200" dirty="0"/>
                <a:t>Is there another metabolic process?  </a:t>
              </a:r>
              <a:endParaRPr lang="en-US" sz="1100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D3DD17A-3A03-4E2E-9B76-F1B613E62C2D}"/>
                </a:ext>
              </a:extLst>
            </p:cNvPr>
            <p:cNvCxnSpPr>
              <a:cxnSpLocks/>
              <a:stCxn id="53" idx="2"/>
            </p:cNvCxnSpPr>
            <p:nvPr/>
          </p:nvCxnSpPr>
          <p:spPr>
            <a:xfrm>
              <a:off x="5077594" y="2408853"/>
              <a:ext cx="0" cy="2659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19DA2A9-2FC0-4B4F-9836-D827AD838674}"/>
              </a:ext>
            </a:extLst>
          </p:cNvPr>
          <p:cNvSpPr txBox="1"/>
          <p:nvPr/>
        </p:nvSpPr>
        <p:spPr>
          <a:xfrm>
            <a:off x="4480260" y="4797372"/>
            <a:ext cx="1120877" cy="307777"/>
          </a:xfrm>
          <a:prstGeom prst="rect">
            <a:avLst/>
          </a:prstGeom>
          <a:ln/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Pure AGMA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EEA96E-F1F9-4FF6-8536-619612A2F8FE}"/>
              </a:ext>
            </a:extLst>
          </p:cNvPr>
          <p:cNvSpPr txBox="1"/>
          <p:nvPr/>
        </p:nvSpPr>
        <p:spPr>
          <a:xfrm>
            <a:off x="5777030" y="4702945"/>
            <a:ext cx="1406812" cy="7442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Mixed AGMA + metabolic alkalosis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B99EAD-3C79-4FCF-9088-CC29B1419E78}"/>
              </a:ext>
            </a:extLst>
          </p:cNvPr>
          <p:cNvSpPr txBox="1"/>
          <p:nvPr/>
        </p:nvSpPr>
        <p:spPr>
          <a:xfrm>
            <a:off x="3141554" y="4702945"/>
            <a:ext cx="1160483" cy="52322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Mixed AGMA + NAGMA</a:t>
            </a:r>
          </a:p>
        </p:txBody>
      </p:sp>
      <p:sp>
        <p:nvSpPr>
          <p:cNvPr id="66" name="Step 2">
            <a:extLst>
              <a:ext uri="{FF2B5EF4-FFF2-40B4-BE49-F238E27FC236}">
                <a16:creationId xmlns:a16="http://schemas.microsoft.com/office/drawing/2014/main" id="{E2FEFB49-DFDF-4EC6-B3D1-E7639678E0D3}"/>
              </a:ext>
            </a:extLst>
          </p:cNvPr>
          <p:cNvSpPr/>
          <p:nvPr/>
        </p:nvSpPr>
        <p:spPr>
          <a:xfrm>
            <a:off x="2272558" y="2093075"/>
            <a:ext cx="751046" cy="2880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Step 2</a:t>
            </a:r>
          </a:p>
        </p:txBody>
      </p:sp>
      <p:grpSp>
        <p:nvGrpSpPr>
          <p:cNvPr id="90" name="Normal pH explanation">
            <a:extLst>
              <a:ext uri="{FF2B5EF4-FFF2-40B4-BE49-F238E27FC236}">
                <a16:creationId xmlns:a16="http://schemas.microsoft.com/office/drawing/2014/main" id="{275D7ADA-86CE-4AC1-883B-9443EBC41517}"/>
              </a:ext>
            </a:extLst>
          </p:cNvPr>
          <p:cNvGrpSpPr/>
          <p:nvPr/>
        </p:nvGrpSpPr>
        <p:grpSpPr>
          <a:xfrm>
            <a:off x="3517081" y="465016"/>
            <a:ext cx="2692400" cy="1303965"/>
            <a:chOff x="1485010" y="622831"/>
            <a:chExt cx="2692400" cy="1303965"/>
          </a:xfrm>
        </p:grpSpPr>
        <p:cxnSp>
          <p:nvCxnSpPr>
            <p:cNvPr id="91" name="Straight Arrow Connector 12">
              <a:extLst>
                <a:ext uri="{FF2B5EF4-FFF2-40B4-BE49-F238E27FC236}">
                  <a16:creationId xmlns:a16="http://schemas.microsoft.com/office/drawing/2014/main" id="{8E08EAE0-58B3-400C-98B8-5B4598023769}"/>
                </a:ext>
              </a:extLst>
            </p:cNvPr>
            <p:cNvCxnSpPr>
              <a:cxnSpLocks/>
              <a:endCxn id="92" idx="0"/>
            </p:cNvCxnSpPr>
            <p:nvPr/>
          </p:nvCxnSpPr>
          <p:spPr>
            <a:xfrm rot="5400000">
              <a:off x="2628582" y="825459"/>
              <a:ext cx="405258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B494E85-6839-4468-9D11-7F306351480D}"/>
                </a:ext>
              </a:extLst>
            </p:cNvPr>
            <p:cNvSpPr txBox="1"/>
            <p:nvPr/>
          </p:nvSpPr>
          <p:spPr>
            <a:xfrm>
              <a:off x="1485010" y="1028088"/>
              <a:ext cx="2692400" cy="898708"/>
            </a:xfrm>
            <a:prstGeom prst="roundRect">
              <a:avLst>
                <a:gd name="adj" fmla="val 0"/>
              </a:avLst>
            </a:prstGeom>
            <a:ln/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400" dirty="0"/>
                <a:t>Look for metabolic (HCO</a:t>
              </a:r>
              <a:r>
                <a:rPr lang="en-US" sz="1400" baseline="-25000" dirty="0"/>
                <a:t>3</a:t>
              </a:r>
              <a:r>
                <a:rPr lang="en-US" sz="1400" baseline="30000" dirty="0"/>
                <a:t>-</a:t>
              </a:r>
              <a:r>
                <a:rPr lang="en-US" sz="1400" dirty="0"/>
                <a:t>) or respiratory (PCO</a:t>
              </a:r>
              <a:r>
                <a:rPr lang="en-US" sz="1400" baseline="-25000" dirty="0"/>
                <a:t>2</a:t>
              </a:r>
              <a:r>
                <a:rPr lang="en-US" sz="1400" dirty="0"/>
                <a:t>) derangements that might suggest mixed acid-base disorder </a:t>
              </a:r>
            </a:p>
          </p:txBody>
        </p:sp>
      </p:grpSp>
      <p:sp>
        <p:nvSpPr>
          <p:cNvPr id="103" name="Left Brace 102">
            <a:extLst>
              <a:ext uri="{FF2B5EF4-FFF2-40B4-BE49-F238E27FC236}">
                <a16:creationId xmlns:a16="http://schemas.microsoft.com/office/drawing/2014/main" id="{6F0FF093-E7A5-448F-A268-B3BA0E2DE300}"/>
              </a:ext>
            </a:extLst>
          </p:cNvPr>
          <p:cNvSpPr/>
          <p:nvPr/>
        </p:nvSpPr>
        <p:spPr>
          <a:xfrm>
            <a:off x="3033876" y="2033747"/>
            <a:ext cx="220304" cy="2207241"/>
          </a:xfrm>
          <a:prstGeom prst="leftBrace">
            <a:avLst>
              <a:gd name="adj1" fmla="val 0"/>
              <a:gd name="adj2" fmla="val 969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Mouse incr CO2" descr="Cursor with solid fill">
            <a:extLst>
              <a:ext uri="{FF2B5EF4-FFF2-40B4-BE49-F238E27FC236}">
                <a16:creationId xmlns:a16="http://schemas.microsoft.com/office/drawing/2014/main" id="{1387C8DD-1A0F-4A89-AF52-E9770E344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639869" y="2298429"/>
            <a:ext cx="274320" cy="274320"/>
          </a:xfrm>
          <a:prstGeom prst="rect">
            <a:avLst/>
          </a:prstGeom>
        </p:spPr>
      </p:pic>
      <p:grpSp>
        <p:nvGrpSpPr>
          <p:cNvPr id="104" name="anion gap pop-up">
            <a:extLst>
              <a:ext uri="{FF2B5EF4-FFF2-40B4-BE49-F238E27FC236}">
                <a16:creationId xmlns:a16="http://schemas.microsoft.com/office/drawing/2014/main" id="{5972576E-4AB3-4641-BABB-F53EF7642642}"/>
              </a:ext>
            </a:extLst>
          </p:cNvPr>
          <p:cNvGrpSpPr/>
          <p:nvPr/>
        </p:nvGrpSpPr>
        <p:grpSpPr>
          <a:xfrm>
            <a:off x="6529428" y="1016554"/>
            <a:ext cx="4884007" cy="2153042"/>
            <a:chOff x="4578060" y="653983"/>
            <a:chExt cx="3873886" cy="2153042"/>
          </a:xfrm>
        </p:grpSpPr>
        <p:grpSp>
          <p:nvGrpSpPr>
            <p:cNvPr id="105" name="Anion gap pop-up">
              <a:extLst>
                <a:ext uri="{FF2B5EF4-FFF2-40B4-BE49-F238E27FC236}">
                  <a16:creationId xmlns:a16="http://schemas.microsoft.com/office/drawing/2014/main" id="{E9C1C842-2F2E-4179-807F-4F92FF6DD7B6}"/>
                </a:ext>
              </a:extLst>
            </p:cNvPr>
            <p:cNvGrpSpPr/>
            <p:nvPr/>
          </p:nvGrpSpPr>
          <p:grpSpPr>
            <a:xfrm>
              <a:off x="4578060" y="653983"/>
              <a:ext cx="3873886" cy="2153042"/>
              <a:chOff x="4050278" y="634756"/>
              <a:chExt cx="3873886" cy="2153042"/>
            </a:xfrm>
          </p:grpSpPr>
          <p:grpSp>
            <p:nvGrpSpPr>
              <p:cNvPr id="107" name="Anion gap pop up">
                <a:extLst>
                  <a:ext uri="{FF2B5EF4-FFF2-40B4-BE49-F238E27FC236}">
                    <a16:creationId xmlns:a16="http://schemas.microsoft.com/office/drawing/2014/main" id="{6932DD94-EAB5-4418-8B78-C327DB6D8EF0}"/>
                  </a:ext>
                </a:extLst>
              </p:cNvPr>
              <p:cNvGrpSpPr/>
              <p:nvPr/>
            </p:nvGrpSpPr>
            <p:grpSpPr>
              <a:xfrm>
                <a:off x="4050278" y="634756"/>
                <a:ext cx="3873886" cy="2153042"/>
                <a:chOff x="3975962" y="527887"/>
                <a:chExt cx="3873886" cy="2153042"/>
              </a:xfrm>
            </p:grpSpPr>
            <p:grpSp>
              <p:nvGrpSpPr>
                <p:cNvPr id="109" name="Anion gap explanation">
                  <a:extLst>
                    <a:ext uri="{FF2B5EF4-FFF2-40B4-BE49-F238E27FC236}">
                      <a16:creationId xmlns:a16="http://schemas.microsoft.com/office/drawing/2014/main" id="{832B5C1F-555B-4978-BF09-15F003B4D7B1}"/>
                    </a:ext>
                  </a:extLst>
                </p:cNvPr>
                <p:cNvGrpSpPr/>
                <p:nvPr/>
              </p:nvGrpSpPr>
              <p:grpSpPr>
                <a:xfrm>
                  <a:off x="3975962" y="527887"/>
                  <a:ext cx="3873886" cy="2153042"/>
                  <a:chOff x="4709042" y="527888"/>
                  <a:chExt cx="3873886" cy="2153042"/>
                </a:xfrm>
              </p:grpSpPr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CD136789-AD3C-48D3-9503-20470BAFEC89}"/>
                      </a:ext>
                    </a:extLst>
                  </p:cNvPr>
                  <p:cNvSpPr/>
                  <p:nvPr/>
                </p:nvSpPr>
                <p:spPr>
                  <a:xfrm>
                    <a:off x="4929468" y="527888"/>
                    <a:ext cx="3653460" cy="2153042"/>
                  </a:xfrm>
                  <a:prstGeom prst="rect">
                    <a:avLst/>
                  </a:prstGeom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/>
                  </a:p>
                </p:txBody>
              </p:sp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4AA0E54F-0C0D-4E21-94A5-EADE59C17888}"/>
                      </a:ext>
                    </a:extLst>
                  </p:cNvPr>
                  <p:cNvGrpSpPr/>
                  <p:nvPr/>
                </p:nvGrpSpPr>
                <p:grpSpPr>
                  <a:xfrm>
                    <a:off x="4709042" y="571962"/>
                    <a:ext cx="2441213" cy="2029157"/>
                    <a:chOff x="4169669" y="670580"/>
                    <a:chExt cx="3138805" cy="2488355"/>
                  </a:xfrm>
                </p:grpSpPr>
                <p:grpSp>
                  <p:nvGrpSpPr>
                    <p:cNvPr id="113" name="Group 112">
                      <a:extLst>
                        <a:ext uri="{FF2B5EF4-FFF2-40B4-BE49-F238E27FC236}">
                          <a16:creationId xmlns:a16="http://schemas.microsoft.com/office/drawing/2014/main" id="{594F0432-0267-4BDE-8BC9-C02F22237F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72072" y="1253444"/>
                      <a:ext cx="638587" cy="1469497"/>
                      <a:chOff x="9538964" y="2341380"/>
                      <a:chExt cx="409277" cy="845471"/>
                    </a:xfrm>
                  </p:grpSpPr>
                  <p:sp>
                    <p:nvSpPr>
                      <p:cNvPr id="129" name="Rectangle 128">
                        <a:extLst>
                          <a:ext uri="{FF2B5EF4-FFF2-40B4-BE49-F238E27FC236}">
                            <a16:creationId xmlns:a16="http://schemas.microsoft.com/office/drawing/2014/main" id="{91354210-78E6-4130-852B-4E8D1BCE91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38966" y="2341380"/>
                        <a:ext cx="407697" cy="21099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p:spPr>
                    <p:style>
                      <a:lnRef idx="2">
                        <a:schemeClr val="accent5">
                          <a:shade val="50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1050" dirty="0"/>
                          <a:t>HCO</a:t>
                        </a:r>
                        <a:r>
                          <a:rPr lang="en-US" sz="1050" baseline="-25000" dirty="0"/>
                          <a:t>3</a:t>
                        </a:r>
                        <a:r>
                          <a:rPr lang="en-US" sz="1050" baseline="30000" dirty="0"/>
                          <a:t>-</a:t>
                        </a:r>
                        <a:endParaRPr lang="en-US" sz="1050" dirty="0"/>
                      </a:p>
                    </p:txBody>
                  </p:sp>
                  <p:sp>
                    <p:nvSpPr>
                      <p:cNvPr id="130" name="Rectangle 129">
                        <a:extLst>
                          <a:ext uri="{FF2B5EF4-FFF2-40B4-BE49-F238E27FC236}">
                            <a16:creationId xmlns:a16="http://schemas.microsoft.com/office/drawing/2014/main" id="{91FFA928-41D0-4B41-969E-F53D86BAE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38964" y="2552380"/>
                        <a:ext cx="409277" cy="634471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1050" dirty="0"/>
                          <a:t>Cl</a:t>
                        </a:r>
                        <a:r>
                          <a:rPr lang="en-US" sz="1050" baseline="30000" dirty="0"/>
                          <a:t>-</a:t>
                        </a:r>
                        <a:endParaRPr lang="en-US" sz="1050" dirty="0"/>
                      </a:p>
                    </p:txBody>
                  </p:sp>
                </p:grpSp>
                <p:sp>
                  <p:nvSpPr>
                    <p:cNvPr id="114" name="Rectangle 113">
                      <a:extLst>
                        <a:ext uri="{FF2B5EF4-FFF2-40B4-BE49-F238E27FC236}">
                          <a16:creationId xmlns:a16="http://schemas.microsoft.com/office/drawing/2014/main" id="{2C6BCB36-464C-468C-A17A-B758F3582F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2067" y="2713520"/>
                      <a:ext cx="638582" cy="325224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900" dirty="0"/>
                        <a:t>albumin</a:t>
                      </a:r>
                    </a:p>
                  </p:txBody>
                </p:sp>
                <p:sp>
                  <p:nvSpPr>
                    <p:cNvPr id="115" name="Rectangle 114">
                      <a:extLst>
                        <a:ext uri="{FF2B5EF4-FFF2-40B4-BE49-F238E27FC236}">
                          <a16:creationId xmlns:a16="http://schemas.microsoft.com/office/drawing/2014/main" id="{629B8E16-E1DD-47D2-BBA1-C2EFFB1F2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74268" y="3038736"/>
                      <a:ext cx="639165" cy="12019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700" dirty="0"/>
                        <a:t>PO</a:t>
                      </a:r>
                      <a:r>
                        <a:rPr lang="en-US" sz="700" baseline="-25000" dirty="0"/>
                        <a:t>3</a:t>
                      </a:r>
                      <a:r>
                        <a:rPr lang="en-US" sz="700" baseline="30000" dirty="0"/>
                        <a:t>-</a:t>
                      </a:r>
                      <a:r>
                        <a:rPr lang="en-US" sz="700" dirty="0"/>
                        <a:t>, others</a:t>
                      </a:r>
                    </a:p>
                  </p:txBody>
                </p:sp>
                <p:sp>
                  <p:nvSpPr>
                    <p:cNvPr id="116" name="Right Brace 115" hidden="1">
                      <a:extLst>
                        <a:ext uri="{FF2B5EF4-FFF2-40B4-BE49-F238E27FC236}">
                          <a16:creationId xmlns:a16="http://schemas.microsoft.com/office/drawing/2014/main" id="{C8C31188-1001-4AC4-AC63-19A286365A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05010" y="1306361"/>
                      <a:ext cx="58995" cy="492011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/>
                    </a:p>
                  </p:txBody>
                </p:sp>
                <p:sp>
                  <p:nvSpPr>
                    <p:cNvPr id="117" name="Right Brace 116">
                      <a:extLst>
                        <a:ext uri="{FF2B5EF4-FFF2-40B4-BE49-F238E27FC236}">
                          <a16:creationId xmlns:a16="http://schemas.microsoft.com/office/drawing/2014/main" id="{3694374F-7049-4CB0-9B6A-5470DEB6BA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4245" y="2709937"/>
                      <a:ext cx="88090" cy="428586"/>
                    </a:xfrm>
                    <a:prstGeom prst="rightBrace">
                      <a:avLst/>
                    </a:prstGeom>
                    <a:ln w="1905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 b="1"/>
                    </a:p>
                  </p:txBody>
                </p:sp>
                <p:sp>
                  <p:nvSpPr>
                    <p:cNvPr id="118" name="Rectangle 117">
                      <a:extLst>
                        <a:ext uri="{FF2B5EF4-FFF2-40B4-BE49-F238E27FC236}">
                          <a16:creationId xmlns:a16="http://schemas.microsoft.com/office/drawing/2014/main" id="{7896437D-DC5A-43B9-AF12-01C4DF463D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4193" y="1247832"/>
                      <a:ext cx="491740" cy="176635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2">
                        <a:shade val="50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050" dirty="0"/>
                        <a:t>Na</a:t>
                      </a:r>
                      <a:r>
                        <a:rPr lang="en-US" sz="1050" baseline="30000" dirty="0"/>
                        <a:t>+</a:t>
                      </a:r>
                      <a:endParaRPr lang="en-US" sz="1050" dirty="0"/>
                    </a:p>
                  </p:txBody>
                </p:sp>
                <p:sp>
                  <p:nvSpPr>
                    <p:cNvPr id="119" name="TextBox 118" hidden="1">
                      <a:extLst>
                        <a:ext uri="{FF2B5EF4-FFF2-40B4-BE49-F238E27FC236}">
                          <a16:creationId xmlns:a16="http://schemas.microsoft.com/office/drawing/2014/main" id="{53679BDF-E6C1-43FF-8C13-3134EF14D6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4509" y="1398477"/>
                      <a:ext cx="459023" cy="32081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050" dirty="0"/>
                        <a:t>24</a:t>
                      </a:r>
                    </a:p>
                  </p:txBody>
                </p:sp>
                <p:sp>
                  <p:nvSpPr>
                    <p:cNvPr id="120" name="TextBox 119" hidden="1">
                      <a:extLst>
                        <a:ext uri="{FF2B5EF4-FFF2-40B4-BE49-F238E27FC236}">
                          <a16:creationId xmlns:a16="http://schemas.microsoft.com/office/drawing/2014/main" id="{9DBBDFEE-DF43-4635-B6D1-4A2CD1C52C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7174" y="2090616"/>
                      <a:ext cx="571300" cy="32081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050" dirty="0"/>
                        <a:t>104</a:t>
                      </a:r>
                    </a:p>
                  </p:txBody>
                </p:sp>
                <p:sp>
                  <p:nvSpPr>
                    <p:cNvPr id="121" name="Right Brace 120" hidden="1">
                      <a:extLst>
                        <a:ext uri="{FF2B5EF4-FFF2-40B4-BE49-F238E27FC236}">
                          <a16:creationId xmlns:a16="http://schemas.microsoft.com/office/drawing/2014/main" id="{04C52037-13CC-4F90-8756-39ACFBD9A1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78414" y="1798370"/>
                      <a:ext cx="99450" cy="967792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/>
                    </a:p>
                  </p:txBody>
                </p:sp>
                <p:sp>
                  <p:nvSpPr>
                    <p:cNvPr id="122" name="Right Brace 121" hidden="1">
                      <a:extLst>
                        <a:ext uri="{FF2B5EF4-FFF2-40B4-BE49-F238E27FC236}">
                          <a16:creationId xmlns:a16="http://schemas.microsoft.com/office/drawing/2014/main" id="{F2EFA186-05AE-4784-8EBE-C6C49CB3DE0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653667" y="1314474"/>
                      <a:ext cx="58784" cy="1834089"/>
                    </a:xfrm>
                    <a:prstGeom prst="rightBrace">
                      <a:avLst/>
                    </a:prstGeom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400"/>
                    </a:p>
                  </p:txBody>
                </p:sp>
                <p:sp>
                  <p:nvSpPr>
                    <p:cNvPr id="123" name="TextBox 122" hidden="1">
                      <a:extLst>
                        <a:ext uri="{FF2B5EF4-FFF2-40B4-BE49-F238E27FC236}">
                          <a16:creationId xmlns:a16="http://schemas.microsoft.com/office/drawing/2014/main" id="{E43CAA8B-ECAA-4B7C-B31C-ABB9E6E951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69669" y="2069926"/>
                      <a:ext cx="536670" cy="3019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000" dirty="0"/>
                        <a:t>140</a:t>
                      </a:r>
                    </a:p>
                  </p:txBody>
                </p:sp>
                <p:sp>
                  <p:nvSpPr>
                    <p:cNvPr id="124" name="Rectangle 123">
                      <a:extLst>
                        <a:ext uri="{FF2B5EF4-FFF2-40B4-BE49-F238E27FC236}">
                          <a16:creationId xmlns:a16="http://schemas.microsoft.com/office/drawing/2014/main" id="{4C57645F-252C-40F9-ADC0-05B07FFF69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73335" y="2747776"/>
                      <a:ext cx="510947" cy="339684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AG</a:t>
                      </a:r>
                    </a:p>
                  </p:txBody>
                </p:sp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2BDD8892-A3CA-48AF-9718-52ADC9368C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50822" y="670580"/>
                      <a:ext cx="1862971" cy="3774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The Anion Gap</a:t>
                      </a:r>
                    </a:p>
                  </p:txBody>
                </p:sp>
                <p:sp>
                  <p:nvSpPr>
                    <p:cNvPr id="126" name="Rectangle 125">
                      <a:extLst>
                        <a:ext uri="{FF2B5EF4-FFF2-40B4-BE49-F238E27FC236}">
                          <a16:creationId xmlns:a16="http://schemas.microsoft.com/office/drawing/2014/main" id="{546094E3-6CD1-4DED-81E2-10B5C39A3F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4915" y="964691"/>
                      <a:ext cx="833332" cy="339684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algn="ctr"/>
                      <a:r>
                        <a:rPr lang="en-US" sz="1200" dirty="0"/>
                        <a:t>Cations</a:t>
                      </a:r>
                    </a:p>
                  </p:txBody>
                </p:sp>
                <p:sp>
                  <p:nvSpPr>
                    <p:cNvPr id="127" name="Rectangle 126">
                      <a:extLst>
                        <a:ext uri="{FF2B5EF4-FFF2-40B4-BE49-F238E27FC236}">
                          <a16:creationId xmlns:a16="http://schemas.microsoft.com/office/drawing/2014/main" id="{1364C414-67B8-4F55-8070-3264A0A5E0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6080" y="964691"/>
                      <a:ext cx="622115" cy="339684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lang="en-US" sz="1200" dirty="0"/>
                        <a:t>Anions</a:t>
                      </a:r>
                    </a:p>
                  </p:txBody>
                </p:sp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94C3C17C-DFF5-4546-8F06-D54E9D35CF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1156" y="3020586"/>
                      <a:ext cx="494777" cy="129697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700" dirty="0"/>
                        <a:t>K+</a:t>
                      </a:r>
                    </a:p>
                  </p:txBody>
                </p:sp>
              </p:grpSp>
            </p:grp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0564C51F-EC72-48E2-9332-B7D53E763292}"/>
                    </a:ext>
                  </a:extLst>
                </p:cNvPr>
                <p:cNvSpPr/>
                <p:nvPr/>
              </p:nvSpPr>
              <p:spPr>
                <a:xfrm>
                  <a:off x="5518002" y="670068"/>
                  <a:ext cx="2251907" cy="141577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/>
                    <a:t>Measured AG = (Na) – (HCO</a:t>
                  </a:r>
                  <a:r>
                    <a:rPr lang="en-US" sz="1400" b="1" baseline="-25000" dirty="0"/>
                    <a:t>3</a:t>
                  </a:r>
                  <a:r>
                    <a:rPr lang="en-US" sz="1400" b="1" dirty="0"/>
                    <a:t> + Cl). </a:t>
                  </a:r>
                </a:p>
                <a:p>
                  <a:pPr>
                    <a:spcAft>
                      <a:spcPts val="600"/>
                    </a:spcAft>
                  </a:pPr>
                  <a:r>
                    <a:rPr lang="en-US" sz="1200" dirty="0"/>
                    <a:t>Compare the calculated and expected AG. Normally, the expected AG is 8-12. But because it’s predominantly albumin, the expected AG is </a:t>
                  </a:r>
                  <a:r>
                    <a:rPr lang="en-US" sz="1200" dirty="0">
                      <a:sym typeface="Wingdings" panose="05000000000000000000" pitchFamily="2" charset="2"/>
                    </a:rPr>
                    <a:t></a:t>
                  </a:r>
                  <a:r>
                    <a:rPr lang="en-US" sz="1200" dirty="0"/>
                    <a:t> when albumin is </a:t>
                  </a:r>
                  <a:r>
                    <a:rPr lang="en-US" sz="1200" dirty="0">
                      <a:sym typeface="Wingdings" panose="05000000000000000000" pitchFamily="2" charset="2"/>
                    </a:rPr>
                    <a:t></a:t>
                  </a:r>
                  <a:r>
                    <a:rPr lang="en-US" sz="1200" dirty="0"/>
                    <a:t>. </a:t>
                  </a:r>
                </a:p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/>
                    <a:t>Expected AG = albumin x 2.5</a:t>
                  </a:r>
                </a:p>
              </p:txBody>
            </p:sp>
          </p:grp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19BF97F-9C78-4464-A090-0F3EF46DFEFA}"/>
                  </a:ext>
                </a:extLst>
              </p:cNvPr>
              <p:cNvSpPr/>
              <p:nvPr/>
            </p:nvSpPr>
            <p:spPr>
              <a:xfrm>
                <a:off x="5818516" y="2165914"/>
                <a:ext cx="194608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200" dirty="0"/>
                  <a:t>If the calculated AG &gt; expected AG, there is an AG.</a:t>
                </a:r>
              </a:p>
            </p:txBody>
          </p:sp>
        </p:grpSp>
        <p:pic>
          <p:nvPicPr>
            <p:cNvPr id="106" name="Graphic 105" descr="Close">
              <a:extLst>
                <a:ext uri="{FF2B5EF4-FFF2-40B4-BE49-F238E27FC236}">
                  <a16:creationId xmlns:a16="http://schemas.microsoft.com/office/drawing/2014/main" id="{6E932D1E-3160-47D9-A702-9F7B58D0B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286518" y="668828"/>
              <a:ext cx="145056" cy="182880"/>
            </a:xfrm>
            <a:prstGeom prst="rect">
              <a:avLst/>
            </a:prstGeom>
          </p:spPr>
        </p:pic>
      </p:grpSp>
      <p:pic>
        <p:nvPicPr>
          <p:cNvPr id="137" name="Mouse incr CO2" descr="Cursor with solid fill">
            <a:extLst>
              <a:ext uri="{FF2B5EF4-FFF2-40B4-BE49-F238E27FC236}">
                <a16:creationId xmlns:a16="http://schemas.microsoft.com/office/drawing/2014/main" id="{75FDC7CE-FEAA-43F1-BAA6-AED2260259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100064" y="3993256"/>
            <a:ext cx="274320" cy="274320"/>
          </a:xfrm>
          <a:prstGeom prst="rect">
            <a:avLst/>
          </a:prstGeom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D8A876E-FB1C-41B6-BA0E-752EADBD8EAE}"/>
              </a:ext>
            </a:extLst>
          </p:cNvPr>
          <p:cNvCxnSpPr>
            <a:cxnSpLocks/>
            <a:stCxn id="55" idx="2"/>
            <a:endCxn id="65" idx="0"/>
          </p:cNvCxnSpPr>
          <p:nvPr/>
        </p:nvCxnSpPr>
        <p:spPr>
          <a:xfrm rot="5400000">
            <a:off x="4038438" y="3849579"/>
            <a:ext cx="536724" cy="11700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A049990-9B4A-44F5-AB2D-1DB8040DD1A7}"/>
              </a:ext>
            </a:extLst>
          </p:cNvPr>
          <p:cNvCxnSpPr>
            <a:stCxn id="55" idx="2"/>
            <a:endCxn id="59" idx="0"/>
          </p:cNvCxnSpPr>
          <p:nvPr/>
        </p:nvCxnSpPr>
        <p:spPr>
          <a:xfrm rot="16200000" flipH="1">
            <a:off x="4650676" y="4407348"/>
            <a:ext cx="631151" cy="148895"/>
          </a:xfrm>
          <a:prstGeom prst="bentConnector3">
            <a:avLst>
              <a:gd name="adj1" fmla="val 4186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FF9A4DF-2BB4-4D9E-BE15-821D09CBB496}"/>
              </a:ext>
            </a:extLst>
          </p:cNvPr>
          <p:cNvCxnSpPr>
            <a:cxnSpLocks/>
            <a:stCxn id="55" idx="2"/>
            <a:endCxn id="62" idx="0"/>
          </p:cNvCxnSpPr>
          <p:nvPr/>
        </p:nvCxnSpPr>
        <p:spPr>
          <a:xfrm rot="16200000" flipH="1">
            <a:off x="5417758" y="3640267"/>
            <a:ext cx="536724" cy="15886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2" name="delta-delta pop-up">
            <a:extLst>
              <a:ext uri="{FF2B5EF4-FFF2-40B4-BE49-F238E27FC236}">
                <a16:creationId xmlns:a16="http://schemas.microsoft.com/office/drawing/2014/main" id="{9C82350C-6172-4473-8B55-DBDA09710A84}"/>
              </a:ext>
            </a:extLst>
          </p:cNvPr>
          <p:cNvGrpSpPr/>
          <p:nvPr/>
        </p:nvGrpSpPr>
        <p:grpSpPr>
          <a:xfrm>
            <a:off x="7468558" y="3316983"/>
            <a:ext cx="4316650" cy="2568524"/>
            <a:chOff x="7606090" y="2215065"/>
            <a:chExt cx="4316650" cy="25685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Delta delta explanation">
                  <a:extLst>
                    <a:ext uri="{FF2B5EF4-FFF2-40B4-BE49-F238E27FC236}">
                      <a16:creationId xmlns:a16="http://schemas.microsoft.com/office/drawing/2014/main" id="{96D2BC9A-34A6-4D6B-87BB-1A73C7F323E9}"/>
                    </a:ext>
                  </a:extLst>
                </p:cNvPr>
                <p:cNvSpPr txBox="1"/>
                <p:nvPr/>
              </p:nvSpPr>
              <p:spPr>
                <a:xfrm>
                  <a:off x="7606090" y="2215065"/>
                  <a:ext cx="4316650" cy="2568524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Delta-delta (∆∆)</a:t>
                  </a:r>
                </a:p>
                <a:p>
                  <a14:m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𝑀𝑒𝑎𝑠𝑢𝑟𝑒𝑑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𝐴𝐺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𝐸𝑥𝑝𝑒𝑐𝑡𝑒𝑑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𝐴𝐺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𝑀𝑒𝑎𝑠𝑢𝑟𝑒𝑑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𝐻𝐶𝑂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3 −24</m:t>
                          </m:r>
                        </m:den>
                      </m:f>
                    </m:oMath>
                  </a14:m>
                  <a:r>
                    <a:rPr lang="en-US" sz="1400" dirty="0"/>
                    <a:t> 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dirty="0"/>
                            <m:t>∆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𝐴𝐺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dirty="0"/>
                            <m:t>∆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𝐻𝐶𝑂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a14:m>
                  <a:endParaRPr lang="en-US" sz="1400" dirty="0"/>
                </a:p>
                <a:p>
                  <a:endParaRPr lang="en-US" sz="600" dirty="0"/>
                </a:p>
                <a:p>
                  <a:pPr marL="285750" indent="-171450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∆∆  &lt;1 → concurrent NAGMA</a:t>
                  </a:r>
                </a:p>
                <a:p>
                  <a:pPr marL="285750" indent="-171450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∆∆  1→ pure AGMA</a:t>
                  </a:r>
                </a:p>
                <a:p>
                  <a:pPr marL="285750" indent="-171450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∆∆  1-2 → pure AGMA OR concurrent metabolic alkalosis</a:t>
                  </a:r>
                </a:p>
                <a:p>
                  <a:pPr marL="285750" indent="-171450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∆∆  &gt;2 → concurrent metabolic alkalosis</a:t>
                  </a:r>
                </a:p>
                <a:p>
                  <a:pPr marL="114300"/>
                  <a:endParaRPr lang="en-US" sz="900" dirty="0"/>
                </a:p>
                <a:p>
                  <a:r>
                    <a:rPr lang="en-US" sz="1400" b="1" dirty="0"/>
                    <a:t>“Residual” HCO</a:t>
                  </a:r>
                  <a:r>
                    <a:rPr lang="en-US" sz="1400" b="1" baseline="-25000" dirty="0"/>
                    <a:t>3</a:t>
                  </a:r>
                  <a:r>
                    <a:rPr lang="en-US" sz="1400" b="1" baseline="30000" dirty="0"/>
                    <a:t>- </a:t>
                  </a:r>
                  <a:r>
                    <a:rPr lang="en-US" sz="1400" b="1" dirty="0"/>
                    <a:t> =  ∆AG  + measured HCO</a:t>
                  </a:r>
                  <a:r>
                    <a:rPr lang="en-US" sz="1400" b="1" baseline="-25000" dirty="0"/>
                    <a:t>3</a:t>
                  </a:r>
                  <a:r>
                    <a:rPr lang="en-US" sz="1400" b="1" baseline="30000" dirty="0"/>
                    <a:t>-</a:t>
                  </a:r>
                </a:p>
                <a:p>
                  <a:r>
                    <a:rPr lang="en-US" sz="1200" i="1" dirty="0"/>
                    <a:t>AKA, what metabolic process is left if the AGMA is accounted for?</a:t>
                  </a:r>
                  <a:endParaRPr lang="en-US" sz="1100" i="1" dirty="0"/>
                </a:p>
                <a:p>
                  <a:pPr marL="285750" indent="-166688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“Residual” HCO</a:t>
                  </a:r>
                  <a:r>
                    <a:rPr lang="en-US" sz="1200" baseline="-25000" dirty="0"/>
                    <a:t>3</a:t>
                  </a:r>
                  <a:r>
                    <a:rPr lang="en-US" sz="1200" baseline="30000" dirty="0"/>
                    <a:t>-</a:t>
                  </a:r>
                  <a:r>
                    <a:rPr lang="en-US" sz="1200" dirty="0"/>
                    <a:t> &lt; 22 → concurrent NAGMA</a:t>
                  </a:r>
                </a:p>
                <a:p>
                  <a:pPr marL="285750" indent="-166688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“Residual” HCO</a:t>
                  </a:r>
                  <a:r>
                    <a:rPr lang="en-US" sz="1200" baseline="-25000" dirty="0"/>
                    <a:t>3</a:t>
                  </a:r>
                  <a:r>
                    <a:rPr lang="en-US" sz="1200" baseline="30000" dirty="0"/>
                    <a:t>-</a:t>
                  </a:r>
                  <a:r>
                    <a:rPr lang="en-US" sz="1200" dirty="0"/>
                    <a:t> 22-26 → pure AG</a:t>
                  </a:r>
                </a:p>
                <a:p>
                  <a:pPr marL="285750" indent="-166688">
                    <a:buFont typeface="Arial" panose="020B0604020202020204" pitchFamily="34" charset="0"/>
                    <a:buChar char="•"/>
                  </a:pPr>
                  <a:r>
                    <a:rPr lang="en-US" sz="1200" dirty="0"/>
                    <a:t>“Residual” HCO</a:t>
                  </a:r>
                  <a:r>
                    <a:rPr lang="en-US" sz="1200" baseline="-25000" dirty="0"/>
                    <a:t>3</a:t>
                  </a:r>
                  <a:r>
                    <a:rPr lang="en-US" sz="1200" baseline="30000" dirty="0"/>
                    <a:t>-</a:t>
                  </a:r>
                  <a:r>
                    <a:rPr lang="en-US" sz="1200" dirty="0"/>
                    <a:t> &gt; 26 → concurrent metabolic alkalosis </a:t>
                  </a:r>
                </a:p>
              </p:txBody>
            </p:sp>
          </mc:Choice>
          <mc:Fallback xmlns="">
            <p:sp>
              <p:nvSpPr>
                <p:cNvPr id="40" name="Delta delta explanation">
                  <a:extLst>
                    <a:ext uri="{FF2B5EF4-FFF2-40B4-BE49-F238E27FC236}">
                      <a16:creationId xmlns:a16="http://schemas.microsoft.com/office/drawing/2014/main" id="{01EA9C34-2AC9-44A1-83A7-6AADF53205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6090" y="2215065"/>
                  <a:ext cx="4316650" cy="2568524"/>
                </a:xfrm>
                <a:prstGeom prst="rect">
                  <a:avLst/>
                </a:prstGeom>
                <a:blipFill>
                  <a:blip r:embed="rId13"/>
                  <a:stretch>
                    <a:fillRect l="-281" t="-236" b="-7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9" name="Graphic 158" descr="Close">
              <a:extLst>
                <a:ext uri="{FF2B5EF4-FFF2-40B4-BE49-F238E27FC236}">
                  <a16:creationId xmlns:a16="http://schemas.microsoft.com/office/drawing/2014/main" id="{0E832F6C-5DD6-4965-ABBF-CCB54ACB3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700581" y="2242227"/>
              <a:ext cx="184150" cy="184150"/>
            </a:xfrm>
            <a:prstGeom prst="rect">
              <a:avLst/>
            </a:prstGeom>
          </p:spPr>
        </p:pic>
      </p:grpSp>
      <p:sp>
        <p:nvSpPr>
          <p:cNvPr id="161" name="Cases">
            <a:hlinkClick r:id="rId14" action="ppaction://hlinksldjump"/>
            <a:extLst>
              <a:ext uri="{FF2B5EF4-FFF2-40B4-BE49-F238E27FC236}">
                <a16:creationId xmlns:a16="http://schemas.microsoft.com/office/drawing/2014/main" id="{C9D4FA84-2A17-40D8-A63A-6130EDF13FD3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62" name="Graphic 161" descr="Cursor with solid fill">
            <a:extLst>
              <a:ext uri="{FF2B5EF4-FFF2-40B4-BE49-F238E27FC236}">
                <a16:creationId xmlns:a16="http://schemas.microsoft.com/office/drawing/2014/main" id="{7E3C8F4B-7329-4DCB-8D27-FC35EC3CEA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163" name="teachIM logo" descr="Icon&#10;&#10;Description automatically generated">
            <a:extLst>
              <a:ext uri="{FF2B5EF4-FFF2-40B4-BE49-F238E27FC236}">
                <a16:creationId xmlns:a16="http://schemas.microsoft.com/office/drawing/2014/main" id="{3B22012B-9087-4647-9864-7925EBFC2D5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68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</p:childTnLst>
        </p:cTn>
      </p:par>
    </p:tnLst>
    <p:bldLst>
      <p:bldP spid="59" grpId="0" animBg="1"/>
      <p:bldP spid="62" grpId="0" animBg="1"/>
      <p:bldP spid="6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Home page" hidden="1">
            <a:extLst>
              <a:ext uri="{FF2B5EF4-FFF2-40B4-BE49-F238E27FC236}">
                <a16:creationId xmlns:a16="http://schemas.microsoft.com/office/drawing/2014/main" id="{0A9F93B9-FE91-421A-A191-0CE0BB1AA998}"/>
              </a:ext>
            </a:extLst>
          </p:cNvPr>
          <p:cNvGrpSpPr/>
          <p:nvPr/>
        </p:nvGrpSpPr>
        <p:grpSpPr>
          <a:xfrm>
            <a:off x="10350363" y="4925061"/>
            <a:ext cx="1714110" cy="1238634"/>
            <a:chOff x="5829044" y="5212828"/>
            <a:chExt cx="2146766" cy="1450223"/>
          </a:xfrm>
        </p:grpSpPr>
        <p:grpSp>
          <p:nvGrpSpPr>
            <p:cNvPr id="151" name="Home page">
              <a:extLst>
                <a:ext uri="{FF2B5EF4-FFF2-40B4-BE49-F238E27FC236}">
                  <a16:creationId xmlns:a16="http://schemas.microsoft.com/office/drawing/2014/main" id="{D93E97D1-A529-4115-BFBA-622711C7EF93}"/>
                </a:ext>
              </a:extLst>
            </p:cNvPr>
            <p:cNvGrpSpPr/>
            <p:nvPr/>
          </p:nvGrpSpPr>
          <p:grpSpPr>
            <a:xfrm>
              <a:off x="5829044" y="5212828"/>
              <a:ext cx="2146766" cy="1450223"/>
              <a:chOff x="9181095" y="5103030"/>
              <a:chExt cx="2146766" cy="1273451"/>
            </a:xfrm>
          </p:grpSpPr>
          <p:sp>
            <p:nvSpPr>
              <p:cNvPr id="155" name="Rectangle: Rounded Corners 15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B9B0C7A-DDD0-4DFB-AD6A-3C6B0C15DE91}"/>
                  </a:ext>
                </a:extLst>
              </p:cNvPr>
              <p:cNvSpPr/>
              <p:nvPr/>
            </p:nvSpPr>
            <p:spPr>
              <a:xfrm>
                <a:off x="9181095" y="5103030"/>
                <a:ext cx="2146766" cy="1273451"/>
              </a:xfrm>
              <a:prstGeom prst="roundRect">
                <a:avLst>
                  <a:gd name="adj" fmla="val 10598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F4DEEDB6-B771-4C33-A7EB-DA38D8B14999}"/>
                  </a:ext>
                </a:extLst>
              </p:cNvPr>
              <p:cNvSpPr/>
              <p:nvPr/>
            </p:nvSpPr>
            <p:spPr>
              <a:xfrm>
                <a:off x="9306826" y="5176968"/>
                <a:ext cx="1843528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1: Acid- base status?</a:t>
                </a: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00E69303-59DF-4D33-AFC1-06E58CA0B56E}"/>
                  </a:ext>
                </a:extLst>
              </p:cNvPr>
              <p:cNvSpPr/>
              <p:nvPr/>
            </p:nvSpPr>
            <p:spPr>
              <a:xfrm>
                <a:off x="9306826" y="5408407"/>
                <a:ext cx="1741251" cy="18765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2: Primary process?</a:t>
                </a:r>
              </a:p>
            </p:txBody>
          </p:sp>
          <p:sp>
            <p:nvSpPr>
              <p:cNvPr id="158" name="Rectangle: Rounded Corners 15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8CD5C387-98A8-4257-B731-52133F6870A6}"/>
                  </a:ext>
                </a:extLst>
              </p:cNvPr>
              <p:cNvSpPr/>
              <p:nvPr/>
            </p:nvSpPr>
            <p:spPr>
              <a:xfrm>
                <a:off x="9306826" y="5639845"/>
                <a:ext cx="1387644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3: Anion gap?</a:t>
                </a:r>
              </a:p>
            </p:txBody>
          </p:sp>
          <p:sp>
            <p:nvSpPr>
              <p:cNvPr id="160" name="Rectangle: Rounded Corners 159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FF62902D-5D59-4D2D-9DDE-604DCFCBB079}"/>
                  </a:ext>
                </a:extLst>
              </p:cNvPr>
              <p:cNvSpPr/>
              <p:nvPr/>
            </p:nvSpPr>
            <p:spPr>
              <a:xfrm>
                <a:off x="9697827" y="5886963"/>
                <a:ext cx="1017670" cy="17339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3a: ∆∆?</a:t>
                </a:r>
              </a:p>
            </p:txBody>
          </p:sp>
        </p:grpSp>
        <p:sp>
          <p:nvSpPr>
            <p:cNvPr id="154" name="Rectangle: Rounded Corners 153">
              <a:hlinkClick r:id="rId2" action="ppaction://hlinksldjump"/>
              <a:extLst>
                <a:ext uri="{FF2B5EF4-FFF2-40B4-BE49-F238E27FC236}">
                  <a16:creationId xmlns:a16="http://schemas.microsoft.com/office/drawing/2014/main" id="{E6611CC2-C5FD-4E1C-A7F4-AEF2BB3E4BB8}"/>
                </a:ext>
              </a:extLst>
            </p:cNvPr>
            <p:cNvSpPr/>
            <p:nvPr/>
          </p:nvSpPr>
          <p:spPr>
            <a:xfrm>
              <a:off x="5954775" y="6369145"/>
              <a:ext cx="1680609" cy="197458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/>
                <a:t>Step 4: Compensation?</a:t>
              </a:r>
            </a:p>
          </p:txBody>
        </p:sp>
      </p:grpSp>
      <p:sp>
        <p:nvSpPr>
          <p:cNvPr id="176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324FB035-E766-4B51-96D2-887C497B42B3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177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7A813DAD-9ED2-4E61-96A7-4A072C0181E8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Acidemia</a:t>
            </a:r>
          </a:p>
        </p:txBody>
      </p:sp>
      <p:sp>
        <p:nvSpPr>
          <p:cNvPr id="178" name="sub-q 2">
            <a:hlinkClick r:id="rId5" action="ppaction://hlinksldjump"/>
            <a:extLst>
              <a:ext uri="{FF2B5EF4-FFF2-40B4-BE49-F238E27FC236}">
                <a16:creationId xmlns:a16="http://schemas.microsoft.com/office/drawing/2014/main" id="{08063026-E2A1-4FD6-8A83-E09F380C82C2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Alkalemia</a:t>
            </a:r>
          </a:p>
        </p:txBody>
      </p:sp>
      <p:sp>
        <p:nvSpPr>
          <p:cNvPr id="180" name="sub-q 1 button">
            <a:hlinkClick r:id="rId6" action="ppaction://hlinksldjump"/>
            <a:extLst>
              <a:ext uri="{FF2B5EF4-FFF2-40B4-BE49-F238E27FC236}">
                <a16:creationId xmlns:a16="http://schemas.microsoft.com/office/drawing/2014/main" id="{26C38014-6D1C-484D-88B9-E22AF75988C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Normal pH</a:t>
            </a:r>
          </a:p>
        </p:txBody>
      </p:sp>
      <p:pic>
        <p:nvPicPr>
          <p:cNvPr id="182" name="Graphic 181" descr="Cursor with solid fill">
            <a:extLst>
              <a:ext uri="{FF2B5EF4-FFF2-40B4-BE49-F238E27FC236}">
                <a16:creationId xmlns:a16="http://schemas.microsoft.com/office/drawing/2014/main" id="{A5D15265-C9B4-4F78-BF07-DEDB77E265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sp>
        <p:nvSpPr>
          <p:cNvPr id="185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DB5AF22E-1D21-4557-8A08-229C01D97F4A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92" name="Graphic 191" descr="Cursor with solid fill">
            <a:extLst>
              <a:ext uri="{FF2B5EF4-FFF2-40B4-BE49-F238E27FC236}">
                <a16:creationId xmlns:a16="http://schemas.microsoft.com/office/drawing/2014/main" id="{A756FBD1-84C2-42B5-8C90-1F093770C1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93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94AE2279-ECA2-4F28-A4B8-E62F5F0B3759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sp>
        <p:nvSpPr>
          <p:cNvPr id="195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FCD7C511-421A-48A2-9D98-25CF80AFF783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210" name="Graphic 209" descr="Cursor with solid fill">
            <a:extLst>
              <a:ext uri="{FF2B5EF4-FFF2-40B4-BE49-F238E27FC236}">
                <a16:creationId xmlns:a16="http://schemas.microsoft.com/office/drawing/2014/main" id="{601B7238-DFE8-4BD8-8526-5B455ABDA5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D7D29820-F107-49E8-8143-E5DAD60D98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D278CB3B-423B-4B30-A589-E857888C34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sp>
        <p:nvSpPr>
          <p:cNvPr id="79" name="Alkalemia">
            <a:extLst>
              <a:ext uri="{FF2B5EF4-FFF2-40B4-BE49-F238E27FC236}">
                <a16:creationId xmlns:a16="http://schemas.microsoft.com/office/drawing/2014/main" id="{074764CA-2FAD-49AE-8A8F-54DB6DEF4A26}"/>
              </a:ext>
            </a:extLst>
          </p:cNvPr>
          <p:cNvSpPr txBox="1"/>
          <p:nvPr/>
        </p:nvSpPr>
        <p:spPr>
          <a:xfrm>
            <a:off x="5910180" y="85129"/>
            <a:ext cx="2260598" cy="313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>
            <a:spAutoFit/>
          </a:bodyPr>
          <a:lstStyle/>
          <a:p>
            <a:pPr algn="ctr"/>
            <a:r>
              <a:rPr lang="en-US" dirty="0"/>
              <a:t>Alkalemia pH &gt; 7.45</a:t>
            </a:r>
          </a:p>
        </p:txBody>
      </p:sp>
      <p:cxnSp>
        <p:nvCxnSpPr>
          <p:cNvPr id="81" name="Straight Arrow Connector 8">
            <a:extLst>
              <a:ext uri="{FF2B5EF4-FFF2-40B4-BE49-F238E27FC236}">
                <a16:creationId xmlns:a16="http://schemas.microsoft.com/office/drawing/2014/main" id="{FB01B329-87A9-48F0-916E-047497776C16}"/>
              </a:ext>
            </a:extLst>
          </p:cNvPr>
          <p:cNvCxnSpPr>
            <a:cxnSpLocks/>
            <a:stCxn id="79" idx="2"/>
            <a:endCxn id="82" idx="0"/>
          </p:cNvCxnSpPr>
          <p:nvPr/>
        </p:nvCxnSpPr>
        <p:spPr>
          <a:xfrm rot="5400000">
            <a:off x="5749556" y="-497026"/>
            <a:ext cx="394836" cy="21870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70207B7-88E8-4198-8360-9949828C53B9}"/>
              </a:ext>
            </a:extLst>
          </p:cNvPr>
          <p:cNvSpPr txBox="1"/>
          <p:nvPr/>
        </p:nvSpPr>
        <p:spPr>
          <a:xfrm>
            <a:off x="4102933" y="793897"/>
            <a:ext cx="1501069" cy="58569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rtlCol="0">
            <a:spAutoFit/>
          </a:bodyPr>
          <a:lstStyle/>
          <a:p>
            <a:pPr algn="ctr"/>
            <a:r>
              <a:rPr lang="en-US" sz="1600" b="1" dirty="0"/>
              <a:t>Metabolic</a:t>
            </a:r>
          </a:p>
          <a:p>
            <a:pPr algn="ctr"/>
            <a:r>
              <a:rPr lang="en-US" sz="1600" dirty="0"/>
              <a:t>HCO</a:t>
            </a:r>
            <a:r>
              <a:rPr lang="en-US" sz="1600" baseline="-25000" dirty="0"/>
              <a:t>3</a:t>
            </a:r>
            <a:r>
              <a:rPr lang="en-US" sz="1600" dirty="0"/>
              <a:t>&gt; 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7B0BE5-C226-486B-86B2-396E9441EC7A}"/>
              </a:ext>
            </a:extLst>
          </p:cNvPr>
          <p:cNvSpPr txBox="1"/>
          <p:nvPr/>
        </p:nvSpPr>
        <p:spPr>
          <a:xfrm>
            <a:off x="8668074" y="793897"/>
            <a:ext cx="1501069" cy="58569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rtlCol="0">
            <a:spAutoFit/>
          </a:bodyPr>
          <a:lstStyle/>
          <a:p>
            <a:pPr algn="ctr"/>
            <a:r>
              <a:rPr lang="en-US" sz="1600" b="1" dirty="0"/>
              <a:t>Respiratory</a:t>
            </a:r>
          </a:p>
          <a:p>
            <a:pPr algn="ctr"/>
            <a:r>
              <a:rPr lang="en-US" sz="1600" dirty="0"/>
              <a:t>PCO</a:t>
            </a:r>
            <a:r>
              <a:rPr lang="en-US" sz="1600" baseline="-25000" dirty="0"/>
              <a:t>2</a:t>
            </a:r>
            <a:r>
              <a:rPr lang="en-US" sz="1600" dirty="0"/>
              <a:t> &lt; 36</a:t>
            </a:r>
          </a:p>
        </p:txBody>
      </p:sp>
      <p:cxnSp>
        <p:nvCxnSpPr>
          <p:cNvPr id="85" name="Straight Arrow Connector 11">
            <a:extLst>
              <a:ext uri="{FF2B5EF4-FFF2-40B4-BE49-F238E27FC236}">
                <a16:creationId xmlns:a16="http://schemas.microsoft.com/office/drawing/2014/main" id="{B60FE21F-77AF-433C-9771-4D9D3913D257}"/>
              </a:ext>
            </a:extLst>
          </p:cNvPr>
          <p:cNvCxnSpPr>
            <a:cxnSpLocks/>
            <a:stCxn id="79" idx="2"/>
            <a:endCxn id="84" idx="0"/>
          </p:cNvCxnSpPr>
          <p:nvPr/>
        </p:nvCxnSpPr>
        <p:spPr>
          <a:xfrm rot="16200000" flipH="1">
            <a:off x="8032127" y="-592587"/>
            <a:ext cx="394835" cy="23781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GI loss explanation">
            <a:extLst>
              <a:ext uri="{FF2B5EF4-FFF2-40B4-BE49-F238E27FC236}">
                <a16:creationId xmlns:a16="http://schemas.microsoft.com/office/drawing/2014/main" id="{1F9ED69D-1AB3-4775-97EC-7AD0F2835874}"/>
              </a:ext>
            </a:extLst>
          </p:cNvPr>
          <p:cNvSpPr txBox="1"/>
          <p:nvPr/>
        </p:nvSpPr>
        <p:spPr>
          <a:xfrm>
            <a:off x="2719462" y="3107609"/>
            <a:ext cx="1266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Vomiting</a:t>
            </a:r>
          </a:p>
          <a:p>
            <a:pPr algn="ctr"/>
            <a:r>
              <a:rPr lang="en-US" sz="1400" dirty="0"/>
              <a:t>NGT</a:t>
            </a:r>
          </a:p>
        </p:txBody>
      </p:sp>
      <p:sp>
        <p:nvSpPr>
          <p:cNvPr id="87" name="Renal loss explanation">
            <a:extLst>
              <a:ext uri="{FF2B5EF4-FFF2-40B4-BE49-F238E27FC236}">
                <a16:creationId xmlns:a16="http://schemas.microsoft.com/office/drawing/2014/main" id="{06583245-9581-4BF2-9C19-E357E5D564FF}"/>
              </a:ext>
            </a:extLst>
          </p:cNvPr>
          <p:cNvSpPr txBox="1"/>
          <p:nvPr/>
        </p:nvSpPr>
        <p:spPr>
          <a:xfrm>
            <a:off x="3785883" y="3104331"/>
            <a:ext cx="18181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Thiazides</a:t>
            </a:r>
          </a:p>
          <a:p>
            <a:pPr algn="ctr"/>
            <a:r>
              <a:rPr lang="en-US" sz="1400" dirty="0"/>
              <a:t>Loop diuretics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 aldosterone</a:t>
            </a:r>
            <a:endParaRPr lang="en-US" sz="1400" dirty="0"/>
          </a:p>
          <a:p>
            <a:pPr algn="ctr"/>
            <a:r>
              <a:rPr lang="en-US" sz="1400" dirty="0"/>
              <a:t>Genetic causes (Barter’s, </a:t>
            </a:r>
            <a:r>
              <a:rPr lang="en-US" sz="1400" dirty="0" err="1"/>
              <a:t>Gitelman’s</a:t>
            </a:r>
            <a:r>
              <a:rPr lang="en-US" sz="1400" dirty="0"/>
              <a:t>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EDDD5C-D764-4DB2-B774-B350BCE9242B}"/>
              </a:ext>
            </a:extLst>
          </p:cNvPr>
          <p:cNvGrpSpPr/>
          <p:nvPr/>
        </p:nvGrpSpPr>
        <p:grpSpPr>
          <a:xfrm>
            <a:off x="4102933" y="2074682"/>
            <a:ext cx="1085850" cy="1028367"/>
            <a:chOff x="5866212" y="2143549"/>
            <a:chExt cx="1085850" cy="1028367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36DDAFE-6076-451C-8FA1-B84C6BB74ABF}"/>
                </a:ext>
              </a:extLst>
            </p:cNvPr>
            <p:cNvSpPr txBox="1"/>
            <p:nvPr/>
          </p:nvSpPr>
          <p:spPr>
            <a:xfrm>
              <a:off x="5866212" y="2143549"/>
              <a:ext cx="1085850" cy="1028367"/>
            </a:xfrm>
            <a:prstGeom prst="roundRect">
              <a:avLst>
                <a:gd name="adj" fmla="val 0"/>
              </a:avLst>
            </a:prstGeom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Renal loss</a:t>
              </a:r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DE9347B-304D-4DFF-8276-7A6322F38A52}"/>
                </a:ext>
              </a:extLst>
            </p:cNvPr>
            <p:cNvSpPr/>
            <p:nvPr/>
          </p:nvSpPr>
          <p:spPr>
            <a:xfrm>
              <a:off x="6125314" y="2463362"/>
              <a:ext cx="375015" cy="511782"/>
            </a:xfrm>
            <a:custGeom>
              <a:avLst/>
              <a:gdLst>
                <a:gd name="connsiteX0" fmla="*/ 554951 w 607785"/>
                <a:gd name="connsiteY0" fmla="*/ 119064 h 1088648"/>
                <a:gd name="connsiteX1" fmla="*/ 434635 w 607785"/>
                <a:gd name="connsiteY1" fmla="*/ 22812 h 1088648"/>
                <a:gd name="connsiteX2" fmla="*/ 242130 w 607785"/>
                <a:gd name="connsiteY2" fmla="*/ 22812 h 1088648"/>
                <a:gd name="connsiteX3" fmla="*/ 73688 w 607785"/>
                <a:gd name="connsiteY3" fmla="*/ 275475 h 1088648"/>
                <a:gd name="connsiteX4" fmla="*/ 1498 w 607785"/>
                <a:gd name="connsiteY4" fmla="*/ 624391 h 1088648"/>
                <a:gd name="connsiteX5" fmla="*/ 133846 w 607785"/>
                <a:gd name="connsiteY5" fmla="*/ 997369 h 1088648"/>
                <a:gd name="connsiteX6" fmla="*/ 422604 w 607785"/>
                <a:gd name="connsiteY6" fmla="*/ 1081591 h 1088648"/>
                <a:gd name="connsiteX7" fmla="*/ 603077 w 607785"/>
                <a:gd name="connsiteY7" fmla="*/ 865022 h 1088648"/>
                <a:gd name="connsiteX8" fmla="*/ 554951 w 607785"/>
                <a:gd name="connsiteY8" fmla="*/ 612359 h 1088648"/>
                <a:gd name="connsiteX9" fmla="*/ 554951 w 607785"/>
                <a:gd name="connsiteY9" fmla="*/ 395791 h 1088648"/>
                <a:gd name="connsiteX10" fmla="*/ 603077 w 607785"/>
                <a:gd name="connsiteY10" fmla="*/ 263443 h 1088648"/>
                <a:gd name="connsiteX11" fmla="*/ 554951 w 607785"/>
                <a:gd name="connsiteY11" fmla="*/ 119064 h 108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07785" h="1088648">
                  <a:moveTo>
                    <a:pt x="554951" y="119064"/>
                  </a:moveTo>
                  <a:cubicBezTo>
                    <a:pt x="526877" y="78959"/>
                    <a:pt x="486772" y="38854"/>
                    <a:pt x="434635" y="22812"/>
                  </a:cubicBezTo>
                  <a:cubicBezTo>
                    <a:pt x="382498" y="6770"/>
                    <a:pt x="302288" y="-19299"/>
                    <a:pt x="242130" y="22812"/>
                  </a:cubicBezTo>
                  <a:cubicBezTo>
                    <a:pt x="181972" y="64923"/>
                    <a:pt x="113793" y="175212"/>
                    <a:pt x="73688" y="275475"/>
                  </a:cubicBezTo>
                  <a:cubicBezTo>
                    <a:pt x="33583" y="375738"/>
                    <a:pt x="-8528" y="504075"/>
                    <a:pt x="1498" y="624391"/>
                  </a:cubicBezTo>
                  <a:cubicBezTo>
                    <a:pt x="11524" y="744707"/>
                    <a:pt x="63662" y="921169"/>
                    <a:pt x="133846" y="997369"/>
                  </a:cubicBezTo>
                  <a:cubicBezTo>
                    <a:pt x="204030" y="1073569"/>
                    <a:pt x="344399" y="1103649"/>
                    <a:pt x="422604" y="1081591"/>
                  </a:cubicBezTo>
                  <a:cubicBezTo>
                    <a:pt x="500809" y="1059533"/>
                    <a:pt x="581019" y="943227"/>
                    <a:pt x="603077" y="865022"/>
                  </a:cubicBezTo>
                  <a:cubicBezTo>
                    <a:pt x="625135" y="786817"/>
                    <a:pt x="562972" y="690564"/>
                    <a:pt x="554951" y="612359"/>
                  </a:cubicBezTo>
                  <a:cubicBezTo>
                    <a:pt x="546930" y="534154"/>
                    <a:pt x="546930" y="453944"/>
                    <a:pt x="554951" y="395791"/>
                  </a:cubicBezTo>
                  <a:cubicBezTo>
                    <a:pt x="562972" y="337638"/>
                    <a:pt x="603077" y="307559"/>
                    <a:pt x="603077" y="263443"/>
                  </a:cubicBezTo>
                  <a:cubicBezTo>
                    <a:pt x="603077" y="219327"/>
                    <a:pt x="583025" y="159169"/>
                    <a:pt x="554951" y="119064"/>
                  </a:cubicBezTo>
                  <a:close/>
                </a:path>
              </a:pathLst>
            </a:custGeom>
            <a:solidFill>
              <a:srgbClr val="C739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2804651-CBC8-446B-87A6-E73A3F37601B}"/>
                </a:ext>
              </a:extLst>
            </p:cNvPr>
            <p:cNvSpPr/>
            <p:nvPr/>
          </p:nvSpPr>
          <p:spPr>
            <a:xfrm>
              <a:off x="6229864" y="2540353"/>
              <a:ext cx="439825" cy="491772"/>
            </a:xfrm>
            <a:custGeom>
              <a:avLst/>
              <a:gdLst>
                <a:gd name="connsiteX0" fmla="*/ 352220 w 749508"/>
                <a:gd name="connsiteY0" fmla="*/ 207414 h 973885"/>
                <a:gd name="connsiteX1" fmla="*/ 207841 w 749508"/>
                <a:gd name="connsiteY1" fmla="*/ 63035 h 973885"/>
                <a:gd name="connsiteX2" fmla="*/ 171746 w 749508"/>
                <a:gd name="connsiteY2" fmla="*/ 2877 h 973885"/>
                <a:gd name="connsiteX3" fmla="*/ 87525 w 749508"/>
                <a:gd name="connsiteY3" fmla="*/ 147256 h 973885"/>
                <a:gd name="connsiteX4" fmla="*/ 171746 w 749508"/>
                <a:gd name="connsiteY4" fmla="*/ 267572 h 973885"/>
                <a:gd name="connsiteX5" fmla="*/ 195809 w 749508"/>
                <a:gd name="connsiteY5" fmla="*/ 267572 h 973885"/>
                <a:gd name="connsiteX6" fmla="*/ 63462 w 749508"/>
                <a:gd name="connsiteY6" fmla="*/ 303666 h 973885"/>
                <a:gd name="connsiteX7" fmla="*/ 15335 w 749508"/>
                <a:gd name="connsiteY7" fmla="*/ 291635 h 973885"/>
                <a:gd name="connsiteX8" fmla="*/ 15335 w 749508"/>
                <a:gd name="connsiteY8" fmla="*/ 520235 h 973885"/>
                <a:gd name="connsiteX9" fmla="*/ 195809 w 749508"/>
                <a:gd name="connsiteY9" fmla="*/ 448045 h 973885"/>
                <a:gd name="connsiteX10" fmla="*/ 147683 w 749508"/>
                <a:gd name="connsiteY10" fmla="*/ 628519 h 973885"/>
                <a:gd name="connsiteX11" fmla="*/ 195809 w 749508"/>
                <a:gd name="connsiteY11" fmla="*/ 688677 h 973885"/>
                <a:gd name="connsiteX12" fmla="*/ 267998 w 749508"/>
                <a:gd name="connsiteY12" fmla="*/ 700709 h 973885"/>
                <a:gd name="connsiteX13" fmla="*/ 316125 w 749508"/>
                <a:gd name="connsiteY13" fmla="*/ 496172 h 973885"/>
                <a:gd name="connsiteX14" fmla="*/ 472535 w 749508"/>
                <a:gd name="connsiteY14" fmla="*/ 436014 h 973885"/>
                <a:gd name="connsiteX15" fmla="*/ 713167 w 749508"/>
                <a:gd name="connsiteY15" fmla="*/ 881182 h 973885"/>
                <a:gd name="connsiteX16" fmla="*/ 713167 w 749508"/>
                <a:gd name="connsiteY16" fmla="*/ 941340 h 973885"/>
                <a:gd name="connsiteX17" fmla="*/ 725198 w 749508"/>
                <a:gd name="connsiteY17" fmla="*/ 484140 h 973885"/>
                <a:gd name="connsiteX18" fmla="*/ 352220 w 749508"/>
                <a:gd name="connsiteY18" fmla="*/ 207414 h 973885"/>
                <a:gd name="connsiteX0" fmla="*/ 366890 w 764178"/>
                <a:gd name="connsiteY0" fmla="*/ 207414 h 973885"/>
                <a:gd name="connsiteX1" fmla="*/ 222511 w 764178"/>
                <a:gd name="connsiteY1" fmla="*/ 63035 h 973885"/>
                <a:gd name="connsiteX2" fmla="*/ 186416 w 764178"/>
                <a:gd name="connsiteY2" fmla="*/ 2877 h 973885"/>
                <a:gd name="connsiteX3" fmla="*/ 102195 w 764178"/>
                <a:gd name="connsiteY3" fmla="*/ 147256 h 973885"/>
                <a:gd name="connsiteX4" fmla="*/ 186416 w 764178"/>
                <a:gd name="connsiteY4" fmla="*/ 267572 h 973885"/>
                <a:gd name="connsiteX5" fmla="*/ 210479 w 764178"/>
                <a:gd name="connsiteY5" fmla="*/ 267572 h 973885"/>
                <a:gd name="connsiteX6" fmla="*/ 78132 w 764178"/>
                <a:gd name="connsiteY6" fmla="*/ 303666 h 973885"/>
                <a:gd name="connsiteX7" fmla="*/ 4605 w 764178"/>
                <a:gd name="connsiteY7" fmla="*/ 301795 h 973885"/>
                <a:gd name="connsiteX8" fmla="*/ 30005 w 764178"/>
                <a:gd name="connsiteY8" fmla="*/ 520235 h 973885"/>
                <a:gd name="connsiteX9" fmla="*/ 210479 w 764178"/>
                <a:gd name="connsiteY9" fmla="*/ 448045 h 973885"/>
                <a:gd name="connsiteX10" fmla="*/ 162353 w 764178"/>
                <a:gd name="connsiteY10" fmla="*/ 628519 h 973885"/>
                <a:gd name="connsiteX11" fmla="*/ 210479 w 764178"/>
                <a:gd name="connsiteY11" fmla="*/ 688677 h 973885"/>
                <a:gd name="connsiteX12" fmla="*/ 282668 w 764178"/>
                <a:gd name="connsiteY12" fmla="*/ 700709 h 973885"/>
                <a:gd name="connsiteX13" fmla="*/ 330795 w 764178"/>
                <a:gd name="connsiteY13" fmla="*/ 496172 h 973885"/>
                <a:gd name="connsiteX14" fmla="*/ 487205 w 764178"/>
                <a:gd name="connsiteY14" fmla="*/ 436014 h 973885"/>
                <a:gd name="connsiteX15" fmla="*/ 727837 w 764178"/>
                <a:gd name="connsiteY15" fmla="*/ 881182 h 973885"/>
                <a:gd name="connsiteX16" fmla="*/ 727837 w 764178"/>
                <a:gd name="connsiteY16" fmla="*/ 941340 h 973885"/>
                <a:gd name="connsiteX17" fmla="*/ 739868 w 764178"/>
                <a:gd name="connsiteY17" fmla="*/ 484140 h 973885"/>
                <a:gd name="connsiteX18" fmla="*/ 366890 w 764178"/>
                <a:gd name="connsiteY18" fmla="*/ 207414 h 973885"/>
                <a:gd name="connsiteX0" fmla="*/ 365010 w 762298"/>
                <a:gd name="connsiteY0" fmla="*/ 207414 h 973885"/>
                <a:gd name="connsiteX1" fmla="*/ 220631 w 762298"/>
                <a:gd name="connsiteY1" fmla="*/ 63035 h 973885"/>
                <a:gd name="connsiteX2" fmla="*/ 184536 w 762298"/>
                <a:gd name="connsiteY2" fmla="*/ 2877 h 973885"/>
                <a:gd name="connsiteX3" fmla="*/ 100315 w 762298"/>
                <a:gd name="connsiteY3" fmla="*/ 147256 h 973885"/>
                <a:gd name="connsiteX4" fmla="*/ 184536 w 762298"/>
                <a:gd name="connsiteY4" fmla="*/ 267572 h 973885"/>
                <a:gd name="connsiteX5" fmla="*/ 208599 w 762298"/>
                <a:gd name="connsiteY5" fmla="*/ 267572 h 973885"/>
                <a:gd name="connsiteX6" fmla="*/ 50852 w 762298"/>
                <a:gd name="connsiteY6" fmla="*/ 278266 h 973885"/>
                <a:gd name="connsiteX7" fmla="*/ 2725 w 762298"/>
                <a:gd name="connsiteY7" fmla="*/ 301795 h 973885"/>
                <a:gd name="connsiteX8" fmla="*/ 28125 w 762298"/>
                <a:gd name="connsiteY8" fmla="*/ 520235 h 973885"/>
                <a:gd name="connsiteX9" fmla="*/ 208599 w 762298"/>
                <a:gd name="connsiteY9" fmla="*/ 448045 h 973885"/>
                <a:gd name="connsiteX10" fmla="*/ 160473 w 762298"/>
                <a:gd name="connsiteY10" fmla="*/ 628519 h 973885"/>
                <a:gd name="connsiteX11" fmla="*/ 208599 w 762298"/>
                <a:gd name="connsiteY11" fmla="*/ 688677 h 973885"/>
                <a:gd name="connsiteX12" fmla="*/ 280788 w 762298"/>
                <a:gd name="connsiteY12" fmla="*/ 700709 h 973885"/>
                <a:gd name="connsiteX13" fmla="*/ 328915 w 762298"/>
                <a:gd name="connsiteY13" fmla="*/ 496172 h 973885"/>
                <a:gd name="connsiteX14" fmla="*/ 485325 w 762298"/>
                <a:gd name="connsiteY14" fmla="*/ 436014 h 973885"/>
                <a:gd name="connsiteX15" fmla="*/ 725957 w 762298"/>
                <a:gd name="connsiteY15" fmla="*/ 881182 h 973885"/>
                <a:gd name="connsiteX16" fmla="*/ 725957 w 762298"/>
                <a:gd name="connsiteY16" fmla="*/ 941340 h 973885"/>
                <a:gd name="connsiteX17" fmla="*/ 737988 w 762298"/>
                <a:gd name="connsiteY17" fmla="*/ 484140 h 973885"/>
                <a:gd name="connsiteX18" fmla="*/ 365010 w 762298"/>
                <a:gd name="connsiteY18" fmla="*/ 207414 h 973885"/>
                <a:gd name="connsiteX0" fmla="*/ 365010 w 762298"/>
                <a:gd name="connsiteY0" fmla="*/ 207414 h 973885"/>
                <a:gd name="connsiteX1" fmla="*/ 220631 w 762298"/>
                <a:gd name="connsiteY1" fmla="*/ 63035 h 973885"/>
                <a:gd name="connsiteX2" fmla="*/ 184536 w 762298"/>
                <a:gd name="connsiteY2" fmla="*/ 2877 h 973885"/>
                <a:gd name="connsiteX3" fmla="*/ 100315 w 762298"/>
                <a:gd name="connsiteY3" fmla="*/ 147256 h 973885"/>
                <a:gd name="connsiteX4" fmla="*/ 184536 w 762298"/>
                <a:gd name="connsiteY4" fmla="*/ 267572 h 973885"/>
                <a:gd name="connsiteX5" fmla="*/ 218759 w 762298"/>
                <a:gd name="connsiteY5" fmla="*/ 287892 h 973885"/>
                <a:gd name="connsiteX6" fmla="*/ 50852 w 762298"/>
                <a:gd name="connsiteY6" fmla="*/ 278266 h 973885"/>
                <a:gd name="connsiteX7" fmla="*/ 2725 w 762298"/>
                <a:gd name="connsiteY7" fmla="*/ 301795 h 973885"/>
                <a:gd name="connsiteX8" fmla="*/ 28125 w 762298"/>
                <a:gd name="connsiteY8" fmla="*/ 520235 h 973885"/>
                <a:gd name="connsiteX9" fmla="*/ 208599 w 762298"/>
                <a:gd name="connsiteY9" fmla="*/ 448045 h 973885"/>
                <a:gd name="connsiteX10" fmla="*/ 160473 w 762298"/>
                <a:gd name="connsiteY10" fmla="*/ 628519 h 973885"/>
                <a:gd name="connsiteX11" fmla="*/ 208599 w 762298"/>
                <a:gd name="connsiteY11" fmla="*/ 688677 h 973885"/>
                <a:gd name="connsiteX12" fmla="*/ 280788 w 762298"/>
                <a:gd name="connsiteY12" fmla="*/ 700709 h 973885"/>
                <a:gd name="connsiteX13" fmla="*/ 328915 w 762298"/>
                <a:gd name="connsiteY13" fmla="*/ 496172 h 973885"/>
                <a:gd name="connsiteX14" fmla="*/ 485325 w 762298"/>
                <a:gd name="connsiteY14" fmla="*/ 436014 h 973885"/>
                <a:gd name="connsiteX15" fmla="*/ 725957 w 762298"/>
                <a:gd name="connsiteY15" fmla="*/ 881182 h 973885"/>
                <a:gd name="connsiteX16" fmla="*/ 725957 w 762298"/>
                <a:gd name="connsiteY16" fmla="*/ 941340 h 973885"/>
                <a:gd name="connsiteX17" fmla="*/ 737988 w 762298"/>
                <a:gd name="connsiteY17" fmla="*/ 484140 h 973885"/>
                <a:gd name="connsiteX18" fmla="*/ 365010 w 762298"/>
                <a:gd name="connsiteY18" fmla="*/ 207414 h 973885"/>
                <a:gd name="connsiteX0" fmla="*/ 365010 w 762298"/>
                <a:gd name="connsiteY0" fmla="*/ 204584 h 971055"/>
                <a:gd name="connsiteX1" fmla="*/ 220631 w 762298"/>
                <a:gd name="connsiteY1" fmla="*/ 60205 h 971055"/>
                <a:gd name="connsiteX2" fmla="*/ 184536 w 762298"/>
                <a:gd name="connsiteY2" fmla="*/ 47 h 971055"/>
                <a:gd name="connsiteX3" fmla="*/ 39355 w 762298"/>
                <a:gd name="connsiteY3" fmla="*/ 68226 h 971055"/>
                <a:gd name="connsiteX4" fmla="*/ 184536 w 762298"/>
                <a:gd name="connsiteY4" fmla="*/ 264742 h 971055"/>
                <a:gd name="connsiteX5" fmla="*/ 218759 w 762298"/>
                <a:gd name="connsiteY5" fmla="*/ 285062 h 971055"/>
                <a:gd name="connsiteX6" fmla="*/ 50852 w 762298"/>
                <a:gd name="connsiteY6" fmla="*/ 275436 h 971055"/>
                <a:gd name="connsiteX7" fmla="*/ 2725 w 762298"/>
                <a:gd name="connsiteY7" fmla="*/ 298965 h 971055"/>
                <a:gd name="connsiteX8" fmla="*/ 28125 w 762298"/>
                <a:gd name="connsiteY8" fmla="*/ 517405 h 971055"/>
                <a:gd name="connsiteX9" fmla="*/ 208599 w 762298"/>
                <a:gd name="connsiteY9" fmla="*/ 445215 h 971055"/>
                <a:gd name="connsiteX10" fmla="*/ 160473 w 762298"/>
                <a:gd name="connsiteY10" fmla="*/ 625689 h 971055"/>
                <a:gd name="connsiteX11" fmla="*/ 208599 w 762298"/>
                <a:gd name="connsiteY11" fmla="*/ 685847 h 971055"/>
                <a:gd name="connsiteX12" fmla="*/ 280788 w 762298"/>
                <a:gd name="connsiteY12" fmla="*/ 697879 h 971055"/>
                <a:gd name="connsiteX13" fmla="*/ 328915 w 762298"/>
                <a:gd name="connsiteY13" fmla="*/ 493342 h 971055"/>
                <a:gd name="connsiteX14" fmla="*/ 485325 w 762298"/>
                <a:gd name="connsiteY14" fmla="*/ 433184 h 971055"/>
                <a:gd name="connsiteX15" fmla="*/ 725957 w 762298"/>
                <a:gd name="connsiteY15" fmla="*/ 878352 h 971055"/>
                <a:gd name="connsiteX16" fmla="*/ 725957 w 762298"/>
                <a:gd name="connsiteY16" fmla="*/ 938510 h 971055"/>
                <a:gd name="connsiteX17" fmla="*/ 737988 w 762298"/>
                <a:gd name="connsiteY17" fmla="*/ 481310 h 971055"/>
                <a:gd name="connsiteX18" fmla="*/ 365010 w 762298"/>
                <a:gd name="connsiteY18" fmla="*/ 204584 h 971055"/>
                <a:gd name="connsiteX0" fmla="*/ 365010 w 762298"/>
                <a:gd name="connsiteY0" fmla="*/ 252091 h 1018562"/>
                <a:gd name="connsiteX1" fmla="*/ 230791 w 762298"/>
                <a:gd name="connsiteY1" fmla="*/ 11192 h 1018562"/>
                <a:gd name="connsiteX2" fmla="*/ 184536 w 762298"/>
                <a:gd name="connsiteY2" fmla="*/ 47554 h 1018562"/>
                <a:gd name="connsiteX3" fmla="*/ 39355 w 762298"/>
                <a:gd name="connsiteY3" fmla="*/ 115733 h 1018562"/>
                <a:gd name="connsiteX4" fmla="*/ 184536 w 762298"/>
                <a:gd name="connsiteY4" fmla="*/ 312249 h 1018562"/>
                <a:gd name="connsiteX5" fmla="*/ 218759 w 762298"/>
                <a:gd name="connsiteY5" fmla="*/ 332569 h 1018562"/>
                <a:gd name="connsiteX6" fmla="*/ 50852 w 762298"/>
                <a:gd name="connsiteY6" fmla="*/ 322943 h 1018562"/>
                <a:gd name="connsiteX7" fmla="*/ 2725 w 762298"/>
                <a:gd name="connsiteY7" fmla="*/ 346472 h 1018562"/>
                <a:gd name="connsiteX8" fmla="*/ 28125 w 762298"/>
                <a:gd name="connsiteY8" fmla="*/ 564912 h 1018562"/>
                <a:gd name="connsiteX9" fmla="*/ 208599 w 762298"/>
                <a:gd name="connsiteY9" fmla="*/ 492722 h 1018562"/>
                <a:gd name="connsiteX10" fmla="*/ 160473 w 762298"/>
                <a:gd name="connsiteY10" fmla="*/ 673196 h 1018562"/>
                <a:gd name="connsiteX11" fmla="*/ 208599 w 762298"/>
                <a:gd name="connsiteY11" fmla="*/ 733354 h 1018562"/>
                <a:gd name="connsiteX12" fmla="*/ 280788 w 762298"/>
                <a:gd name="connsiteY12" fmla="*/ 745386 h 1018562"/>
                <a:gd name="connsiteX13" fmla="*/ 328915 w 762298"/>
                <a:gd name="connsiteY13" fmla="*/ 540849 h 1018562"/>
                <a:gd name="connsiteX14" fmla="*/ 485325 w 762298"/>
                <a:gd name="connsiteY14" fmla="*/ 480691 h 1018562"/>
                <a:gd name="connsiteX15" fmla="*/ 725957 w 762298"/>
                <a:gd name="connsiteY15" fmla="*/ 925859 h 1018562"/>
                <a:gd name="connsiteX16" fmla="*/ 725957 w 762298"/>
                <a:gd name="connsiteY16" fmla="*/ 986017 h 1018562"/>
                <a:gd name="connsiteX17" fmla="*/ 737988 w 762298"/>
                <a:gd name="connsiteY17" fmla="*/ 528817 h 1018562"/>
                <a:gd name="connsiteX18" fmla="*/ 365010 w 762298"/>
                <a:gd name="connsiteY18" fmla="*/ 252091 h 1018562"/>
                <a:gd name="connsiteX0" fmla="*/ 365010 w 762298"/>
                <a:gd name="connsiteY0" fmla="*/ 257298 h 1023769"/>
                <a:gd name="connsiteX1" fmla="*/ 230791 w 762298"/>
                <a:gd name="connsiteY1" fmla="*/ 16399 h 1023769"/>
                <a:gd name="connsiteX2" fmla="*/ 154056 w 762298"/>
                <a:gd name="connsiteY2" fmla="*/ 32441 h 1023769"/>
                <a:gd name="connsiteX3" fmla="*/ 39355 w 762298"/>
                <a:gd name="connsiteY3" fmla="*/ 120940 h 1023769"/>
                <a:gd name="connsiteX4" fmla="*/ 184536 w 762298"/>
                <a:gd name="connsiteY4" fmla="*/ 317456 h 1023769"/>
                <a:gd name="connsiteX5" fmla="*/ 218759 w 762298"/>
                <a:gd name="connsiteY5" fmla="*/ 337776 h 1023769"/>
                <a:gd name="connsiteX6" fmla="*/ 50852 w 762298"/>
                <a:gd name="connsiteY6" fmla="*/ 328150 h 1023769"/>
                <a:gd name="connsiteX7" fmla="*/ 2725 w 762298"/>
                <a:gd name="connsiteY7" fmla="*/ 351679 h 1023769"/>
                <a:gd name="connsiteX8" fmla="*/ 28125 w 762298"/>
                <a:gd name="connsiteY8" fmla="*/ 570119 h 1023769"/>
                <a:gd name="connsiteX9" fmla="*/ 208599 w 762298"/>
                <a:gd name="connsiteY9" fmla="*/ 497929 h 1023769"/>
                <a:gd name="connsiteX10" fmla="*/ 160473 w 762298"/>
                <a:gd name="connsiteY10" fmla="*/ 678403 h 1023769"/>
                <a:gd name="connsiteX11" fmla="*/ 208599 w 762298"/>
                <a:gd name="connsiteY11" fmla="*/ 738561 h 1023769"/>
                <a:gd name="connsiteX12" fmla="*/ 280788 w 762298"/>
                <a:gd name="connsiteY12" fmla="*/ 750593 h 1023769"/>
                <a:gd name="connsiteX13" fmla="*/ 328915 w 762298"/>
                <a:gd name="connsiteY13" fmla="*/ 546056 h 1023769"/>
                <a:gd name="connsiteX14" fmla="*/ 485325 w 762298"/>
                <a:gd name="connsiteY14" fmla="*/ 485898 h 1023769"/>
                <a:gd name="connsiteX15" fmla="*/ 725957 w 762298"/>
                <a:gd name="connsiteY15" fmla="*/ 931066 h 1023769"/>
                <a:gd name="connsiteX16" fmla="*/ 725957 w 762298"/>
                <a:gd name="connsiteY16" fmla="*/ 991224 h 1023769"/>
                <a:gd name="connsiteX17" fmla="*/ 737988 w 762298"/>
                <a:gd name="connsiteY17" fmla="*/ 534024 h 1023769"/>
                <a:gd name="connsiteX18" fmla="*/ 365010 w 762298"/>
                <a:gd name="connsiteY18" fmla="*/ 257298 h 1023769"/>
                <a:gd name="connsiteX0" fmla="*/ 365010 w 762298"/>
                <a:gd name="connsiteY0" fmla="*/ 252092 h 1018563"/>
                <a:gd name="connsiteX1" fmla="*/ 230791 w 762298"/>
                <a:gd name="connsiteY1" fmla="*/ 11193 h 1018563"/>
                <a:gd name="connsiteX2" fmla="*/ 148976 w 762298"/>
                <a:gd name="connsiteY2" fmla="*/ 47555 h 1018563"/>
                <a:gd name="connsiteX3" fmla="*/ 39355 w 762298"/>
                <a:gd name="connsiteY3" fmla="*/ 115734 h 1018563"/>
                <a:gd name="connsiteX4" fmla="*/ 184536 w 762298"/>
                <a:gd name="connsiteY4" fmla="*/ 312250 h 1018563"/>
                <a:gd name="connsiteX5" fmla="*/ 218759 w 762298"/>
                <a:gd name="connsiteY5" fmla="*/ 332570 h 1018563"/>
                <a:gd name="connsiteX6" fmla="*/ 50852 w 762298"/>
                <a:gd name="connsiteY6" fmla="*/ 322944 h 1018563"/>
                <a:gd name="connsiteX7" fmla="*/ 2725 w 762298"/>
                <a:gd name="connsiteY7" fmla="*/ 346473 h 1018563"/>
                <a:gd name="connsiteX8" fmla="*/ 28125 w 762298"/>
                <a:gd name="connsiteY8" fmla="*/ 564913 h 1018563"/>
                <a:gd name="connsiteX9" fmla="*/ 208599 w 762298"/>
                <a:gd name="connsiteY9" fmla="*/ 492723 h 1018563"/>
                <a:gd name="connsiteX10" fmla="*/ 160473 w 762298"/>
                <a:gd name="connsiteY10" fmla="*/ 673197 h 1018563"/>
                <a:gd name="connsiteX11" fmla="*/ 208599 w 762298"/>
                <a:gd name="connsiteY11" fmla="*/ 733355 h 1018563"/>
                <a:gd name="connsiteX12" fmla="*/ 280788 w 762298"/>
                <a:gd name="connsiteY12" fmla="*/ 745387 h 1018563"/>
                <a:gd name="connsiteX13" fmla="*/ 328915 w 762298"/>
                <a:gd name="connsiteY13" fmla="*/ 540850 h 1018563"/>
                <a:gd name="connsiteX14" fmla="*/ 485325 w 762298"/>
                <a:gd name="connsiteY14" fmla="*/ 480692 h 1018563"/>
                <a:gd name="connsiteX15" fmla="*/ 725957 w 762298"/>
                <a:gd name="connsiteY15" fmla="*/ 925860 h 1018563"/>
                <a:gd name="connsiteX16" fmla="*/ 725957 w 762298"/>
                <a:gd name="connsiteY16" fmla="*/ 986018 h 1018563"/>
                <a:gd name="connsiteX17" fmla="*/ 737988 w 762298"/>
                <a:gd name="connsiteY17" fmla="*/ 528818 h 1018563"/>
                <a:gd name="connsiteX18" fmla="*/ 365010 w 762298"/>
                <a:gd name="connsiteY18" fmla="*/ 252092 h 1018563"/>
                <a:gd name="connsiteX0" fmla="*/ 365010 w 762298"/>
                <a:gd name="connsiteY0" fmla="*/ 279841 h 1046312"/>
                <a:gd name="connsiteX1" fmla="*/ 220631 w 762298"/>
                <a:gd name="connsiteY1" fmla="*/ 8462 h 1046312"/>
                <a:gd name="connsiteX2" fmla="*/ 148976 w 762298"/>
                <a:gd name="connsiteY2" fmla="*/ 75304 h 1046312"/>
                <a:gd name="connsiteX3" fmla="*/ 39355 w 762298"/>
                <a:gd name="connsiteY3" fmla="*/ 143483 h 1046312"/>
                <a:gd name="connsiteX4" fmla="*/ 184536 w 762298"/>
                <a:gd name="connsiteY4" fmla="*/ 339999 h 1046312"/>
                <a:gd name="connsiteX5" fmla="*/ 218759 w 762298"/>
                <a:gd name="connsiteY5" fmla="*/ 360319 h 1046312"/>
                <a:gd name="connsiteX6" fmla="*/ 50852 w 762298"/>
                <a:gd name="connsiteY6" fmla="*/ 350693 h 1046312"/>
                <a:gd name="connsiteX7" fmla="*/ 2725 w 762298"/>
                <a:gd name="connsiteY7" fmla="*/ 374222 h 1046312"/>
                <a:gd name="connsiteX8" fmla="*/ 28125 w 762298"/>
                <a:gd name="connsiteY8" fmla="*/ 592662 h 1046312"/>
                <a:gd name="connsiteX9" fmla="*/ 208599 w 762298"/>
                <a:gd name="connsiteY9" fmla="*/ 520472 h 1046312"/>
                <a:gd name="connsiteX10" fmla="*/ 160473 w 762298"/>
                <a:gd name="connsiteY10" fmla="*/ 700946 h 1046312"/>
                <a:gd name="connsiteX11" fmla="*/ 208599 w 762298"/>
                <a:gd name="connsiteY11" fmla="*/ 761104 h 1046312"/>
                <a:gd name="connsiteX12" fmla="*/ 280788 w 762298"/>
                <a:gd name="connsiteY12" fmla="*/ 773136 h 1046312"/>
                <a:gd name="connsiteX13" fmla="*/ 328915 w 762298"/>
                <a:gd name="connsiteY13" fmla="*/ 568599 h 1046312"/>
                <a:gd name="connsiteX14" fmla="*/ 485325 w 762298"/>
                <a:gd name="connsiteY14" fmla="*/ 508441 h 1046312"/>
                <a:gd name="connsiteX15" fmla="*/ 725957 w 762298"/>
                <a:gd name="connsiteY15" fmla="*/ 953609 h 1046312"/>
                <a:gd name="connsiteX16" fmla="*/ 725957 w 762298"/>
                <a:gd name="connsiteY16" fmla="*/ 1013767 h 1046312"/>
                <a:gd name="connsiteX17" fmla="*/ 737988 w 762298"/>
                <a:gd name="connsiteY17" fmla="*/ 556567 h 1046312"/>
                <a:gd name="connsiteX18" fmla="*/ 365010 w 762298"/>
                <a:gd name="connsiteY18" fmla="*/ 279841 h 1046312"/>
                <a:gd name="connsiteX0" fmla="*/ 365010 w 762298"/>
                <a:gd name="connsiteY0" fmla="*/ 279841 h 1046312"/>
                <a:gd name="connsiteX1" fmla="*/ 220631 w 762298"/>
                <a:gd name="connsiteY1" fmla="*/ 8462 h 1046312"/>
                <a:gd name="connsiteX2" fmla="*/ 148976 w 762298"/>
                <a:gd name="connsiteY2" fmla="*/ 75304 h 1046312"/>
                <a:gd name="connsiteX3" fmla="*/ 39355 w 762298"/>
                <a:gd name="connsiteY3" fmla="*/ 143483 h 1046312"/>
                <a:gd name="connsiteX4" fmla="*/ 184536 w 762298"/>
                <a:gd name="connsiteY4" fmla="*/ 339999 h 1046312"/>
                <a:gd name="connsiteX5" fmla="*/ 218759 w 762298"/>
                <a:gd name="connsiteY5" fmla="*/ 339999 h 1046312"/>
                <a:gd name="connsiteX6" fmla="*/ 50852 w 762298"/>
                <a:gd name="connsiteY6" fmla="*/ 350693 h 1046312"/>
                <a:gd name="connsiteX7" fmla="*/ 2725 w 762298"/>
                <a:gd name="connsiteY7" fmla="*/ 374222 h 1046312"/>
                <a:gd name="connsiteX8" fmla="*/ 28125 w 762298"/>
                <a:gd name="connsiteY8" fmla="*/ 592662 h 1046312"/>
                <a:gd name="connsiteX9" fmla="*/ 208599 w 762298"/>
                <a:gd name="connsiteY9" fmla="*/ 520472 h 1046312"/>
                <a:gd name="connsiteX10" fmla="*/ 160473 w 762298"/>
                <a:gd name="connsiteY10" fmla="*/ 700946 h 1046312"/>
                <a:gd name="connsiteX11" fmla="*/ 208599 w 762298"/>
                <a:gd name="connsiteY11" fmla="*/ 761104 h 1046312"/>
                <a:gd name="connsiteX12" fmla="*/ 280788 w 762298"/>
                <a:gd name="connsiteY12" fmla="*/ 773136 h 1046312"/>
                <a:gd name="connsiteX13" fmla="*/ 328915 w 762298"/>
                <a:gd name="connsiteY13" fmla="*/ 568599 h 1046312"/>
                <a:gd name="connsiteX14" fmla="*/ 485325 w 762298"/>
                <a:gd name="connsiteY14" fmla="*/ 508441 h 1046312"/>
                <a:gd name="connsiteX15" fmla="*/ 725957 w 762298"/>
                <a:gd name="connsiteY15" fmla="*/ 953609 h 1046312"/>
                <a:gd name="connsiteX16" fmla="*/ 725957 w 762298"/>
                <a:gd name="connsiteY16" fmla="*/ 1013767 h 1046312"/>
                <a:gd name="connsiteX17" fmla="*/ 737988 w 762298"/>
                <a:gd name="connsiteY17" fmla="*/ 556567 h 1046312"/>
                <a:gd name="connsiteX18" fmla="*/ 365010 w 762298"/>
                <a:gd name="connsiteY18" fmla="*/ 279841 h 1046312"/>
                <a:gd name="connsiteX0" fmla="*/ 388225 w 785513"/>
                <a:gd name="connsiteY0" fmla="*/ 279841 h 1046312"/>
                <a:gd name="connsiteX1" fmla="*/ 243846 w 785513"/>
                <a:gd name="connsiteY1" fmla="*/ 8462 h 1046312"/>
                <a:gd name="connsiteX2" fmla="*/ 172191 w 785513"/>
                <a:gd name="connsiteY2" fmla="*/ 75304 h 1046312"/>
                <a:gd name="connsiteX3" fmla="*/ 62570 w 785513"/>
                <a:gd name="connsiteY3" fmla="*/ 143483 h 1046312"/>
                <a:gd name="connsiteX4" fmla="*/ 207751 w 785513"/>
                <a:gd name="connsiteY4" fmla="*/ 339999 h 1046312"/>
                <a:gd name="connsiteX5" fmla="*/ 241974 w 785513"/>
                <a:gd name="connsiteY5" fmla="*/ 339999 h 1046312"/>
                <a:gd name="connsiteX6" fmla="*/ 74067 w 785513"/>
                <a:gd name="connsiteY6" fmla="*/ 350693 h 1046312"/>
                <a:gd name="connsiteX7" fmla="*/ 540 w 785513"/>
                <a:gd name="connsiteY7" fmla="*/ 358982 h 1046312"/>
                <a:gd name="connsiteX8" fmla="*/ 51340 w 785513"/>
                <a:gd name="connsiteY8" fmla="*/ 592662 h 1046312"/>
                <a:gd name="connsiteX9" fmla="*/ 231814 w 785513"/>
                <a:gd name="connsiteY9" fmla="*/ 520472 h 1046312"/>
                <a:gd name="connsiteX10" fmla="*/ 183688 w 785513"/>
                <a:gd name="connsiteY10" fmla="*/ 700946 h 1046312"/>
                <a:gd name="connsiteX11" fmla="*/ 231814 w 785513"/>
                <a:gd name="connsiteY11" fmla="*/ 761104 h 1046312"/>
                <a:gd name="connsiteX12" fmla="*/ 304003 w 785513"/>
                <a:gd name="connsiteY12" fmla="*/ 773136 h 1046312"/>
                <a:gd name="connsiteX13" fmla="*/ 352130 w 785513"/>
                <a:gd name="connsiteY13" fmla="*/ 568599 h 1046312"/>
                <a:gd name="connsiteX14" fmla="*/ 508540 w 785513"/>
                <a:gd name="connsiteY14" fmla="*/ 508441 h 1046312"/>
                <a:gd name="connsiteX15" fmla="*/ 749172 w 785513"/>
                <a:gd name="connsiteY15" fmla="*/ 953609 h 1046312"/>
                <a:gd name="connsiteX16" fmla="*/ 749172 w 785513"/>
                <a:gd name="connsiteY16" fmla="*/ 1013767 h 1046312"/>
                <a:gd name="connsiteX17" fmla="*/ 761203 w 785513"/>
                <a:gd name="connsiteY17" fmla="*/ 556567 h 1046312"/>
                <a:gd name="connsiteX18" fmla="*/ 388225 w 785513"/>
                <a:gd name="connsiteY18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18112 w 795874"/>
                <a:gd name="connsiteY4" fmla="*/ 339999 h 1046312"/>
                <a:gd name="connsiteX5" fmla="*/ 252335 w 795874"/>
                <a:gd name="connsiteY5" fmla="*/ 339999 h 1046312"/>
                <a:gd name="connsiteX6" fmla="*/ 10901 w 795874"/>
                <a:gd name="connsiteY6" fmla="*/ 358982 h 1046312"/>
                <a:gd name="connsiteX7" fmla="*/ 61701 w 795874"/>
                <a:gd name="connsiteY7" fmla="*/ 592662 h 1046312"/>
                <a:gd name="connsiteX8" fmla="*/ 242175 w 795874"/>
                <a:gd name="connsiteY8" fmla="*/ 520472 h 1046312"/>
                <a:gd name="connsiteX9" fmla="*/ 194049 w 795874"/>
                <a:gd name="connsiteY9" fmla="*/ 700946 h 1046312"/>
                <a:gd name="connsiteX10" fmla="*/ 242175 w 795874"/>
                <a:gd name="connsiteY10" fmla="*/ 761104 h 1046312"/>
                <a:gd name="connsiteX11" fmla="*/ 314364 w 795874"/>
                <a:gd name="connsiteY11" fmla="*/ 773136 h 1046312"/>
                <a:gd name="connsiteX12" fmla="*/ 362491 w 795874"/>
                <a:gd name="connsiteY12" fmla="*/ 568599 h 1046312"/>
                <a:gd name="connsiteX13" fmla="*/ 518901 w 795874"/>
                <a:gd name="connsiteY13" fmla="*/ 508441 h 1046312"/>
                <a:gd name="connsiteX14" fmla="*/ 759533 w 795874"/>
                <a:gd name="connsiteY14" fmla="*/ 953609 h 1046312"/>
                <a:gd name="connsiteX15" fmla="*/ 759533 w 795874"/>
                <a:gd name="connsiteY15" fmla="*/ 1013767 h 1046312"/>
                <a:gd name="connsiteX16" fmla="*/ 771564 w 795874"/>
                <a:gd name="connsiteY16" fmla="*/ 556567 h 1046312"/>
                <a:gd name="connsiteX17" fmla="*/ 398586 w 795874"/>
                <a:gd name="connsiteY17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94049 w 795874"/>
                <a:gd name="connsiteY8" fmla="*/ 700946 h 1046312"/>
                <a:gd name="connsiteX9" fmla="*/ 242175 w 795874"/>
                <a:gd name="connsiteY9" fmla="*/ 76110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38169 w 795874"/>
                <a:gd name="connsiteY8" fmla="*/ 690786 h 1046312"/>
                <a:gd name="connsiteX9" fmla="*/ 242175 w 795874"/>
                <a:gd name="connsiteY9" fmla="*/ 76110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38169 w 795874"/>
                <a:gd name="connsiteY8" fmla="*/ 690786 h 1046312"/>
                <a:gd name="connsiteX9" fmla="*/ 237095 w 795874"/>
                <a:gd name="connsiteY9" fmla="*/ 72046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7537 w 794825"/>
                <a:gd name="connsiteY0" fmla="*/ 279841 h 1046312"/>
                <a:gd name="connsiteX1" fmla="*/ 253158 w 794825"/>
                <a:gd name="connsiteY1" fmla="*/ 8462 h 1046312"/>
                <a:gd name="connsiteX2" fmla="*/ 181503 w 794825"/>
                <a:gd name="connsiteY2" fmla="*/ 75304 h 1046312"/>
                <a:gd name="connsiteX3" fmla="*/ 71882 w 794825"/>
                <a:gd name="connsiteY3" fmla="*/ 143483 h 1046312"/>
                <a:gd name="connsiteX4" fmla="*/ 251286 w 794825"/>
                <a:gd name="connsiteY4" fmla="*/ 339999 h 1046312"/>
                <a:gd name="connsiteX5" fmla="*/ 9852 w 794825"/>
                <a:gd name="connsiteY5" fmla="*/ 358982 h 1046312"/>
                <a:gd name="connsiteX6" fmla="*/ 48087 w 794825"/>
                <a:gd name="connsiteY6" fmla="*/ 491865 h 1046312"/>
                <a:gd name="connsiteX7" fmla="*/ 60652 w 794825"/>
                <a:gd name="connsiteY7" fmla="*/ 592662 h 1046312"/>
                <a:gd name="connsiteX8" fmla="*/ 241126 w 794825"/>
                <a:gd name="connsiteY8" fmla="*/ 520472 h 1046312"/>
                <a:gd name="connsiteX9" fmla="*/ 137120 w 794825"/>
                <a:gd name="connsiteY9" fmla="*/ 690786 h 1046312"/>
                <a:gd name="connsiteX10" fmla="*/ 236046 w 794825"/>
                <a:gd name="connsiteY10" fmla="*/ 720464 h 1046312"/>
                <a:gd name="connsiteX11" fmla="*/ 313315 w 794825"/>
                <a:gd name="connsiteY11" fmla="*/ 773136 h 1046312"/>
                <a:gd name="connsiteX12" fmla="*/ 361442 w 794825"/>
                <a:gd name="connsiteY12" fmla="*/ 568599 h 1046312"/>
                <a:gd name="connsiteX13" fmla="*/ 517852 w 794825"/>
                <a:gd name="connsiteY13" fmla="*/ 508441 h 1046312"/>
                <a:gd name="connsiteX14" fmla="*/ 758484 w 794825"/>
                <a:gd name="connsiteY14" fmla="*/ 953609 h 1046312"/>
                <a:gd name="connsiteX15" fmla="*/ 758484 w 794825"/>
                <a:gd name="connsiteY15" fmla="*/ 1013767 h 1046312"/>
                <a:gd name="connsiteX16" fmla="*/ 770515 w 794825"/>
                <a:gd name="connsiteY16" fmla="*/ 556567 h 1046312"/>
                <a:gd name="connsiteX17" fmla="*/ 397537 w 794825"/>
                <a:gd name="connsiteY17" fmla="*/ 279841 h 1046312"/>
                <a:gd name="connsiteX0" fmla="*/ 397537 w 775871"/>
                <a:gd name="connsiteY0" fmla="*/ 279841 h 1046312"/>
                <a:gd name="connsiteX1" fmla="*/ 253158 w 775871"/>
                <a:gd name="connsiteY1" fmla="*/ 8462 h 1046312"/>
                <a:gd name="connsiteX2" fmla="*/ 181503 w 775871"/>
                <a:gd name="connsiteY2" fmla="*/ 75304 h 1046312"/>
                <a:gd name="connsiteX3" fmla="*/ 71882 w 775871"/>
                <a:gd name="connsiteY3" fmla="*/ 143483 h 1046312"/>
                <a:gd name="connsiteX4" fmla="*/ 251286 w 775871"/>
                <a:gd name="connsiteY4" fmla="*/ 339999 h 1046312"/>
                <a:gd name="connsiteX5" fmla="*/ 9852 w 775871"/>
                <a:gd name="connsiteY5" fmla="*/ 358982 h 1046312"/>
                <a:gd name="connsiteX6" fmla="*/ 48087 w 775871"/>
                <a:gd name="connsiteY6" fmla="*/ 491865 h 1046312"/>
                <a:gd name="connsiteX7" fmla="*/ 60652 w 775871"/>
                <a:gd name="connsiteY7" fmla="*/ 592662 h 1046312"/>
                <a:gd name="connsiteX8" fmla="*/ 241126 w 775871"/>
                <a:gd name="connsiteY8" fmla="*/ 520472 h 1046312"/>
                <a:gd name="connsiteX9" fmla="*/ 137120 w 775871"/>
                <a:gd name="connsiteY9" fmla="*/ 690786 h 1046312"/>
                <a:gd name="connsiteX10" fmla="*/ 236046 w 775871"/>
                <a:gd name="connsiteY10" fmla="*/ 720464 h 1046312"/>
                <a:gd name="connsiteX11" fmla="*/ 313315 w 775871"/>
                <a:gd name="connsiteY11" fmla="*/ 773136 h 1046312"/>
                <a:gd name="connsiteX12" fmla="*/ 361442 w 775871"/>
                <a:gd name="connsiteY12" fmla="*/ 568599 h 1046312"/>
                <a:gd name="connsiteX13" fmla="*/ 517852 w 775871"/>
                <a:gd name="connsiteY13" fmla="*/ 508441 h 1046312"/>
                <a:gd name="connsiteX14" fmla="*/ 758484 w 775871"/>
                <a:gd name="connsiteY14" fmla="*/ 953609 h 1046312"/>
                <a:gd name="connsiteX15" fmla="*/ 758484 w 775871"/>
                <a:gd name="connsiteY15" fmla="*/ 1013767 h 1046312"/>
                <a:gd name="connsiteX16" fmla="*/ 729875 w 775871"/>
                <a:gd name="connsiteY16" fmla="*/ 576887 h 1046312"/>
                <a:gd name="connsiteX17" fmla="*/ 397537 w 775871"/>
                <a:gd name="connsiteY17" fmla="*/ 279841 h 1046312"/>
                <a:gd name="connsiteX0" fmla="*/ 397537 w 767491"/>
                <a:gd name="connsiteY0" fmla="*/ 279841 h 1063019"/>
                <a:gd name="connsiteX1" fmla="*/ 253158 w 767491"/>
                <a:gd name="connsiteY1" fmla="*/ 8462 h 1063019"/>
                <a:gd name="connsiteX2" fmla="*/ 181503 w 767491"/>
                <a:gd name="connsiteY2" fmla="*/ 75304 h 1063019"/>
                <a:gd name="connsiteX3" fmla="*/ 71882 w 767491"/>
                <a:gd name="connsiteY3" fmla="*/ 143483 h 1063019"/>
                <a:gd name="connsiteX4" fmla="*/ 251286 w 767491"/>
                <a:gd name="connsiteY4" fmla="*/ 339999 h 1063019"/>
                <a:gd name="connsiteX5" fmla="*/ 9852 w 767491"/>
                <a:gd name="connsiteY5" fmla="*/ 358982 h 1063019"/>
                <a:gd name="connsiteX6" fmla="*/ 48087 w 767491"/>
                <a:gd name="connsiteY6" fmla="*/ 491865 h 1063019"/>
                <a:gd name="connsiteX7" fmla="*/ 60652 w 767491"/>
                <a:gd name="connsiteY7" fmla="*/ 592662 h 1063019"/>
                <a:gd name="connsiteX8" fmla="*/ 241126 w 767491"/>
                <a:gd name="connsiteY8" fmla="*/ 520472 h 1063019"/>
                <a:gd name="connsiteX9" fmla="*/ 137120 w 767491"/>
                <a:gd name="connsiteY9" fmla="*/ 690786 h 1063019"/>
                <a:gd name="connsiteX10" fmla="*/ 236046 w 767491"/>
                <a:gd name="connsiteY10" fmla="*/ 720464 h 1063019"/>
                <a:gd name="connsiteX11" fmla="*/ 313315 w 767491"/>
                <a:gd name="connsiteY11" fmla="*/ 773136 h 1063019"/>
                <a:gd name="connsiteX12" fmla="*/ 361442 w 767491"/>
                <a:gd name="connsiteY12" fmla="*/ 568599 h 1063019"/>
                <a:gd name="connsiteX13" fmla="*/ 517852 w 767491"/>
                <a:gd name="connsiteY13" fmla="*/ 508441 h 1063019"/>
                <a:gd name="connsiteX14" fmla="*/ 728004 w 767491"/>
                <a:gd name="connsiteY14" fmla="*/ 999329 h 1063019"/>
                <a:gd name="connsiteX15" fmla="*/ 758484 w 767491"/>
                <a:gd name="connsiteY15" fmla="*/ 1013767 h 1063019"/>
                <a:gd name="connsiteX16" fmla="*/ 729875 w 767491"/>
                <a:gd name="connsiteY16" fmla="*/ 576887 h 1063019"/>
                <a:gd name="connsiteX17" fmla="*/ 397537 w 767491"/>
                <a:gd name="connsiteY17" fmla="*/ 279841 h 1063019"/>
                <a:gd name="connsiteX0" fmla="*/ 397537 w 758605"/>
                <a:gd name="connsiteY0" fmla="*/ 279841 h 1063019"/>
                <a:gd name="connsiteX1" fmla="*/ 253158 w 758605"/>
                <a:gd name="connsiteY1" fmla="*/ 8462 h 1063019"/>
                <a:gd name="connsiteX2" fmla="*/ 181503 w 758605"/>
                <a:gd name="connsiteY2" fmla="*/ 75304 h 1063019"/>
                <a:gd name="connsiteX3" fmla="*/ 71882 w 758605"/>
                <a:gd name="connsiteY3" fmla="*/ 143483 h 1063019"/>
                <a:gd name="connsiteX4" fmla="*/ 251286 w 758605"/>
                <a:gd name="connsiteY4" fmla="*/ 339999 h 1063019"/>
                <a:gd name="connsiteX5" fmla="*/ 9852 w 758605"/>
                <a:gd name="connsiteY5" fmla="*/ 358982 h 1063019"/>
                <a:gd name="connsiteX6" fmla="*/ 48087 w 758605"/>
                <a:gd name="connsiteY6" fmla="*/ 491865 h 1063019"/>
                <a:gd name="connsiteX7" fmla="*/ 60652 w 758605"/>
                <a:gd name="connsiteY7" fmla="*/ 592662 h 1063019"/>
                <a:gd name="connsiteX8" fmla="*/ 241126 w 758605"/>
                <a:gd name="connsiteY8" fmla="*/ 520472 h 1063019"/>
                <a:gd name="connsiteX9" fmla="*/ 137120 w 758605"/>
                <a:gd name="connsiteY9" fmla="*/ 690786 h 1063019"/>
                <a:gd name="connsiteX10" fmla="*/ 236046 w 758605"/>
                <a:gd name="connsiteY10" fmla="*/ 720464 h 1063019"/>
                <a:gd name="connsiteX11" fmla="*/ 313315 w 758605"/>
                <a:gd name="connsiteY11" fmla="*/ 773136 h 1063019"/>
                <a:gd name="connsiteX12" fmla="*/ 361442 w 758605"/>
                <a:gd name="connsiteY12" fmla="*/ 568599 h 1063019"/>
                <a:gd name="connsiteX13" fmla="*/ 517852 w 758605"/>
                <a:gd name="connsiteY13" fmla="*/ 508441 h 1063019"/>
                <a:gd name="connsiteX14" fmla="*/ 728004 w 758605"/>
                <a:gd name="connsiteY14" fmla="*/ 999329 h 1063019"/>
                <a:gd name="connsiteX15" fmla="*/ 758484 w 758605"/>
                <a:gd name="connsiteY15" fmla="*/ 1013767 h 1063019"/>
                <a:gd name="connsiteX16" fmla="*/ 597795 w 758605"/>
                <a:gd name="connsiteY16" fmla="*/ 521007 h 1063019"/>
                <a:gd name="connsiteX17" fmla="*/ 397537 w 758605"/>
                <a:gd name="connsiteY17" fmla="*/ 279841 h 1063019"/>
                <a:gd name="connsiteX0" fmla="*/ 428017 w 758605"/>
                <a:gd name="connsiteY0" fmla="*/ 285223 h 1063321"/>
                <a:gd name="connsiteX1" fmla="*/ 253158 w 758605"/>
                <a:gd name="connsiteY1" fmla="*/ 8764 h 1063321"/>
                <a:gd name="connsiteX2" fmla="*/ 181503 w 758605"/>
                <a:gd name="connsiteY2" fmla="*/ 75606 h 1063321"/>
                <a:gd name="connsiteX3" fmla="*/ 71882 w 758605"/>
                <a:gd name="connsiteY3" fmla="*/ 143785 h 1063321"/>
                <a:gd name="connsiteX4" fmla="*/ 251286 w 758605"/>
                <a:gd name="connsiteY4" fmla="*/ 340301 h 1063321"/>
                <a:gd name="connsiteX5" fmla="*/ 9852 w 758605"/>
                <a:gd name="connsiteY5" fmla="*/ 359284 h 1063321"/>
                <a:gd name="connsiteX6" fmla="*/ 48087 w 758605"/>
                <a:gd name="connsiteY6" fmla="*/ 492167 h 1063321"/>
                <a:gd name="connsiteX7" fmla="*/ 60652 w 758605"/>
                <a:gd name="connsiteY7" fmla="*/ 592964 h 1063321"/>
                <a:gd name="connsiteX8" fmla="*/ 241126 w 758605"/>
                <a:gd name="connsiteY8" fmla="*/ 520774 h 1063321"/>
                <a:gd name="connsiteX9" fmla="*/ 137120 w 758605"/>
                <a:gd name="connsiteY9" fmla="*/ 691088 h 1063321"/>
                <a:gd name="connsiteX10" fmla="*/ 236046 w 758605"/>
                <a:gd name="connsiteY10" fmla="*/ 720766 h 1063321"/>
                <a:gd name="connsiteX11" fmla="*/ 313315 w 758605"/>
                <a:gd name="connsiteY11" fmla="*/ 773438 h 1063321"/>
                <a:gd name="connsiteX12" fmla="*/ 361442 w 758605"/>
                <a:gd name="connsiteY12" fmla="*/ 568901 h 1063321"/>
                <a:gd name="connsiteX13" fmla="*/ 517852 w 758605"/>
                <a:gd name="connsiteY13" fmla="*/ 508743 h 1063321"/>
                <a:gd name="connsiteX14" fmla="*/ 728004 w 758605"/>
                <a:gd name="connsiteY14" fmla="*/ 999631 h 1063321"/>
                <a:gd name="connsiteX15" fmla="*/ 758484 w 758605"/>
                <a:gd name="connsiteY15" fmla="*/ 1014069 h 1063321"/>
                <a:gd name="connsiteX16" fmla="*/ 597795 w 758605"/>
                <a:gd name="connsiteY16" fmla="*/ 521309 h 1063321"/>
                <a:gd name="connsiteX17" fmla="*/ 428017 w 758605"/>
                <a:gd name="connsiteY17" fmla="*/ 285223 h 1063321"/>
                <a:gd name="connsiteX0" fmla="*/ 428017 w 758605"/>
                <a:gd name="connsiteY0" fmla="*/ 285223 h 1066357"/>
                <a:gd name="connsiteX1" fmla="*/ 253158 w 758605"/>
                <a:gd name="connsiteY1" fmla="*/ 8764 h 1066357"/>
                <a:gd name="connsiteX2" fmla="*/ 181503 w 758605"/>
                <a:gd name="connsiteY2" fmla="*/ 75606 h 1066357"/>
                <a:gd name="connsiteX3" fmla="*/ 71882 w 758605"/>
                <a:gd name="connsiteY3" fmla="*/ 143785 h 1066357"/>
                <a:gd name="connsiteX4" fmla="*/ 251286 w 758605"/>
                <a:gd name="connsiteY4" fmla="*/ 340301 h 1066357"/>
                <a:gd name="connsiteX5" fmla="*/ 9852 w 758605"/>
                <a:gd name="connsiteY5" fmla="*/ 359284 h 1066357"/>
                <a:gd name="connsiteX6" fmla="*/ 48087 w 758605"/>
                <a:gd name="connsiteY6" fmla="*/ 492167 h 1066357"/>
                <a:gd name="connsiteX7" fmla="*/ 60652 w 758605"/>
                <a:gd name="connsiteY7" fmla="*/ 592964 h 1066357"/>
                <a:gd name="connsiteX8" fmla="*/ 241126 w 758605"/>
                <a:gd name="connsiteY8" fmla="*/ 520774 h 1066357"/>
                <a:gd name="connsiteX9" fmla="*/ 137120 w 758605"/>
                <a:gd name="connsiteY9" fmla="*/ 691088 h 1066357"/>
                <a:gd name="connsiteX10" fmla="*/ 236046 w 758605"/>
                <a:gd name="connsiteY10" fmla="*/ 720766 h 1066357"/>
                <a:gd name="connsiteX11" fmla="*/ 313315 w 758605"/>
                <a:gd name="connsiteY11" fmla="*/ 773438 h 1066357"/>
                <a:gd name="connsiteX12" fmla="*/ 361442 w 758605"/>
                <a:gd name="connsiteY12" fmla="*/ 568901 h 1066357"/>
                <a:gd name="connsiteX13" fmla="*/ 517852 w 758605"/>
                <a:gd name="connsiteY13" fmla="*/ 508743 h 1066357"/>
                <a:gd name="connsiteX14" fmla="*/ 728004 w 758605"/>
                <a:gd name="connsiteY14" fmla="*/ 999631 h 1066357"/>
                <a:gd name="connsiteX15" fmla="*/ 758484 w 758605"/>
                <a:gd name="connsiteY15" fmla="*/ 1019149 h 1066357"/>
                <a:gd name="connsiteX16" fmla="*/ 597795 w 758605"/>
                <a:gd name="connsiteY16" fmla="*/ 521309 h 1066357"/>
                <a:gd name="connsiteX17" fmla="*/ 428017 w 758605"/>
                <a:gd name="connsiteY17" fmla="*/ 285223 h 1066357"/>
                <a:gd name="connsiteX0" fmla="*/ 428017 w 758511"/>
                <a:gd name="connsiteY0" fmla="*/ 285223 h 1036121"/>
                <a:gd name="connsiteX1" fmla="*/ 253158 w 758511"/>
                <a:gd name="connsiteY1" fmla="*/ 8764 h 1036121"/>
                <a:gd name="connsiteX2" fmla="*/ 181503 w 758511"/>
                <a:gd name="connsiteY2" fmla="*/ 75606 h 1036121"/>
                <a:gd name="connsiteX3" fmla="*/ 71882 w 758511"/>
                <a:gd name="connsiteY3" fmla="*/ 143785 h 1036121"/>
                <a:gd name="connsiteX4" fmla="*/ 251286 w 758511"/>
                <a:gd name="connsiteY4" fmla="*/ 340301 h 1036121"/>
                <a:gd name="connsiteX5" fmla="*/ 9852 w 758511"/>
                <a:gd name="connsiteY5" fmla="*/ 359284 h 1036121"/>
                <a:gd name="connsiteX6" fmla="*/ 48087 w 758511"/>
                <a:gd name="connsiteY6" fmla="*/ 492167 h 1036121"/>
                <a:gd name="connsiteX7" fmla="*/ 60652 w 758511"/>
                <a:gd name="connsiteY7" fmla="*/ 592964 h 1036121"/>
                <a:gd name="connsiteX8" fmla="*/ 241126 w 758511"/>
                <a:gd name="connsiteY8" fmla="*/ 520774 h 1036121"/>
                <a:gd name="connsiteX9" fmla="*/ 137120 w 758511"/>
                <a:gd name="connsiteY9" fmla="*/ 691088 h 1036121"/>
                <a:gd name="connsiteX10" fmla="*/ 236046 w 758511"/>
                <a:gd name="connsiteY10" fmla="*/ 720766 h 1036121"/>
                <a:gd name="connsiteX11" fmla="*/ 313315 w 758511"/>
                <a:gd name="connsiteY11" fmla="*/ 773438 h 1036121"/>
                <a:gd name="connsiteX12" fmla="*/ 361442 w 758511"/>
                <a:gd name="connsiteY12" fmla="*/ 568901 h 1036121"/>
                <a:gd name="connsiteX13" fmla="*/ 517852 w 758511"/>
                <a:gd name="connsiteY13" fmla="*/ 508743 h 1036121"/>
                <a:gd name="connsiteX14" fmla="*/ 687364 w 758511"/>
                <a:gd name="connsiteY14" fmla="*/ 857391 h 1036121"/>
                <a:gd name="connsiteX15" fmla="*/ 758484 w 758511"/>
                <a:gd name="connsiteY15" fmla="*/ 1019149 h 1036121"/>
                <a:gd name="connsiteX16" fmla="*/ 597795 w 758511"/>
                <a:gd name="connsiteY16" fmla="*/ 521309 h 1036121"/>
                <a:gd name="connsiteX17" fmla="*/ 428017 w 758511"/>
                <a:gd name="connsiteY17" fmla="*/ 285223 h 1036121"/>
                <a:gd name="connsiteX0" fmla="*/ 428017 w 712806"/>
                <a:gd name="connsiteY0" fmla="*/ 285223 h 1045586"/>
                <a:gd name="connsiteX1" fmla="*/ 253158 w 712806"/>
                <a:gd name="connsiteY1" fmla="*/ 8764 h 1045586"/>
                <a:gd name="connsiteX2" fmla="*/ 181503 w 712806"/>
                <a:gd name="connsiteY2" fmla="*/ 75606 h 1045586"/>
                <a:gd name="connsiteX3" fmla="*/ 71882 w 712806"/>
                <a:gd name="connsiteY3" fmla="*/ 143785 h 1045586"/>
                <a:gd name="connsiteX4" fmla="*/ 251286 w 712806"/>
                <a:gd name="connsiteY4" fmla="*/ 340301 h 1045586"/>
                <a:gd name="connsiteX5" fmla="*/ 9852 w 712806"/>
                <a:gd name="connsiteY5" fmla="*/ 359284 h 1045586"/>
                <a:gd name="connsiteX6" fmla="*/ 48087 w 712806"/>
                <a:gd name="connsiteY6" fmla="*/ 492167 h 1045586"/>
                <a:gd name="connsiteX7" fmla="*/ 60652 w 712806"/>
                <a:gd name="connsiteY7" fmla="*/ 592964 h 1045586"/>
                <a:gd name="connsiteX8" fmla="*/ 241126 w 712806"/>
                <a:gd name="connsiteY8" fmla="*/ 520774 h 1045586"/>
                <a:gd name="connsiteX9" fmla="*/ 137120 w 712806"/>
                <a:gd name="connsiteY9" fmla="*/ 691088 h 1045586"/>
                <a:gd name="connsiteX10" fmla="*/ 236046 w 712806"/>
                <a:gd name="connsiteY10" fmla="*/ 720766 h 1045586"/>
                <a:gd name="connsiteX11" fmla="*/ 313315 w 712806"/>
                <a:gd name="connsiteY11" fmla="*/ 773438 h 1045586"/>
                <a:gd name="connsiteX12" fmla="*/ 361442 w 712806"/>
                <a:gd name="connsiteY12" fmla="*/ 568901 h 1045586"/>
                <a:gd name="connsiteX13" fmla="*/ 517852 w 712806"/>
                <a:gd name="connsiteY13" fmla="*/ 508743 h 1045586"/>
                <a:gd name="connsiteX14" fmla="*/ 687364 w 712806"/>
                <a:gd name="connsiteY14" fmla="*/ 857391 h 1045586"/>
                <a:gd name="connsiteX15" fmla="*/ 712764 w 712806"/>
                <a:gd name="connsiteY15" fmla="*/ 1029309 h 1045586"/>
                <a:gd name="connsiteX16" fmla="*/ 597795 w 712806"/>
                <a:gd name="connsiteY16" fmla="*/ 521309 h 1045586"/>
                <a:gd name="connsiteX17" fmla="*/ 428017 w 712806"/>
                <a:gd name="connsiteY17" fmla="*/ 285223 h 1045586"/>
                <a:gd name="connsiteX0" fmla="*/ 428017 w 712880"/>
                <a:gd name="connsiteY0" fmla="*/ 285223 h 1045586"/>
                <a:gd name="connsiteX1" fmla="*/ 253158 w 712880"/>
                <a:gd name="connsiteY1" fmla="*/ 8764 h 1045586"/>
                <a:gd name="connsiteX2" fmla="*/ 181503 w 712880"/>
                <a:gd name="connsiteY2" fmla="*/ 75606 h 1045586"/>
                <a:gd name="connsiteX3" fmla="*/ 71882 w 712880"/>
                <a:gd name="connsiteY3" fmla="*/ 143785 h 1045586"/>
                <a:gd name="connsiteX4" fmla="*/ 251286 w 712880"/>
                <a:gd name="connsiteY4" fmla="*/ 340301 h 1045586"/>
                <a:gd name="connsiteX5" fmla="*/ 9852 w 712880"/>
                <a:gd name="connsiteY5" fmla="*/ 359284 h 1045586"/>
                <a:gd name="connsiteX6" fmla="*/ 48087 w 712880"/>
                <a:gd name="connsiteY6" fmla="*/ 492167 h 1045586"/>
                <a:gd name="connsiteX7" fmla="*/ 60652 w 712880"/>
                <a:gd name="connsiteY7" fmla="*/ 592964 h 1045586"/>
                <a:gd name="connsiteX8" fmla="*/ 241126 w 712880"/>
                <a:gd name="connsiteY8" fmla="*/ 520774 h 1045586"/>
                <a:gd name="connsiteX9" fmla="*/ 137120 w 712880"/>
                <a:gd name="connsiteY9" fmla="*/ 691088 h 1045586"/>
                <a:gd name="connsiteX10" fmla="*/ 236046 w 712880"/>
                <a:gd name="connsiteY10" fmla="*/ 720766 h 1045586"/>
                <a:gd name="connsiteX11" fmla="*/ 313315 w 712880"/>
                <a:gd name="connsiteY11" fmla="*/ 773438 h 1045586"/>
                <a:gd name="connsiteX12" fmla="*/ 361442 w 712880"/>
                <a:gd name="connsiteY12" fmla="*/ 568901 h 1045586"/>
                <a:gd name="connsiteX13" fmla="*/ 517852 w 712880"/>
                <a:gd name="connsiteY13" fmla="*/ 508743 h 1045586"/>
                <a:gd name="connsiteX14" fmla="*/ 687364 w 712880"/>
                <a:gd name="connsiteY14" fmla="*/ 857391 h 1045586"/>
                <a:gd name="connsiteX15" fmla="*/ 712764 w 712880"/>
                <a:gd name="connsiteY15" fmla="*/ 1029309 h 1045586"/>
                <a:gd name="connsiteX16" fmla="*/ 643515 w 712880"/>
                <a:gd name="connsiteY16" fmla="*/ 541629 h 1045586"/>
                <a:gd name="connsiteX17" fmla="*/ 428017 w 712880"/>
                <a:gd name="connsiteY17" fmla="*/ 285223 h 1045586"/>
                <a:gd name="connsiteX0" fmla="*/ 428017 w 712880"/>
                <a:gd name="connsiteY0" fmla="*/ 285223 h 1045648"/>
                <a:gd name="connsiteX1" fmla="*/ 253158 w 712880"/>
                <a:gd name="connsiteY1" fmla="*/ 8764 h 1045648"/>
                <a:gd name="connsiteX2" fmla="*/ 181503 w 712880"/>
                <a:gd name="connsiteY2" fmla="*/ 75606 h 1045648"/>
                <a:gd name="connsiteX3" fmla="*/ 71882 w 712880"/>
                <a:gd name="connsiteY3" fmla="*/ 143785 h 1045648"/>
                <a:gd name="connsiteX4" fmla="*/ 251286 w 712880"/>
                <a:gd name="connsiteY4" fmla="*/ 340301 h 1045648"/>
                <a:gd name="connsiteX5" fmla="*/ 9852 w 712880"/>
                <a:gd name="connsiteY5" fmla="*/ 359284 h 1045648"/>
                <a:gd name="connsiteX6" fmla="*/ 48087 w 712880"/>
                <a:gd name="connsiteY6" fmla="*/ 492167 h 1045648"/>
                <a:gd name="connsiteX7" fmla="*/ 60652 w 712880"/>
                <a:gd name="connsiteY7" fmla="*/ 592964 h 1045648"/>
                <a:gd name="connsiteX8" fmla="*/ 241126 w 712880"/>
                <a:gd name="connsiteY8" fmla="*/ 520774 h 1045648"/>
                <a:gd name="connsiteX9" fmla="*/ 137120 w 712880"/>
                <a:gd name="connsiteY9" fmla="*/ 691088 h 1045648"/>
                <a:gd name="connsiteX10" fmla="*/ 236046 w 712880"/>
                <a:gd name="connsiteY10" fmla="*/ 720766 h 1045648"/>
                <a:gd name="connsiteX11" fmla="*/ 313315 w 712880"/>
                <a:gd name="connsiteY11" fmla="*/ 773438 h 1045648"/>
                <a:gd name="connsiteX12" fmla="*/ 361442 w 712880"/>
                <a:gd name="connsiteY12" fmla="*/ 568901 h 1045648"/>
                <a:gd name="connsiteX13" fmla="*/ 538172 w 712880"/>
                <a:gd name="connsiteY13" fmla="*/ 503663 h 1045648"/>
                <a:gd name="connsiteX14" fmla="*/ 687364 w 712880"/>
                <a:gd name="connsiteY14" fmla="*/ 857391 h 1045648"/>
                <a:gd name="connsiteX15" fmla="*/ 712764 w 712880"/>
                <a:gd name="connsiteY15" fmla="*/ 1029309 h 1045648"/>
                <a:gd name="connsiteX16" fmla="*/ 643515 w 712880"/>
                <a:gd name="connsiteY16" fmla="*/ 541629 h 1045648"/>
                <a:gd name="connsiteX17" fmla="*/ 428017 w 712880"/>
                <a:gd name="connsiteY17" fmla="*/ 285223 h 1045648"/>
                <a:gd name="connsiteX0" fmla="*/ 428017 w 712880"/>
                <a:gd name="connsiteY0" fmla="*/ 285223 h 1048421"/>
                <a:gd name="connsiteX1" fmla="*/ 253158 w 712880"/>
                <a:gd name="connsiteY1" fmla="*/ 8764 h 1048421"/>
                <a:gd name="connsiteX2" fmla="*/ 181503 w 712880"/>
                <a:gd name="connsiteY2" fmla="*/ 75606 h 1048421"/>
                <a:gd name="connsiteX3" fmla="*/ 71882 w 712880"/>
                <a:gd name="connsiteY3" fmla="*/ 143785 h 1048421"/>
                <a:gd name="connsiteX4" fmla="*/ 251286 w 712880"/>
                <a:gd name="connsiteY4" fmla="*/ 340301 h 1048421"/>
                <a:gd name="connsiteX5" fmla="*/ 9852 w 712880"/>
                <a:gd name="connsiteY5" fmla="*/ 359284 h 1048421"/>
                <a:gd name="connsiteX6" fmla="*/ 48087 w 712880"/>
                <a:gd name="connsiteY6" fmla="*/ 492167 h 1048421"/>
                <a:gd name="connsiteX7" fmla="*/ 60652 w 712880"/>
                <a:gd name="connsiteY7" fmla="*/ 592964 h 1048421"/>
                <a:gd name="connsiteX8" fmla="*/ 241126 w 712880"/>
                <a:gd name="connsiteY8" fmla="*/ 520774 h 1048421"/>
                <a:gd name="connsiteX9" fmla="*/ 137120 w 712880"/>
                <a:gd name="connsiteY9" fmla="*/ 691088 h 1048421"/>
                <a:gd name="connsiteX10" fmla="*/ 236046 w 712880"/>
                <a:gd name="connsiteY10" fmla="*/ 720766 h 1048421"/>
                <a:gd name="connsiteX11" fmla="*/ 313315 w 712880"/>
                <a:gd name="connsiteY11" fmla="*/ 773438 h 1048421"/>
                <a:gd name="connsiteX12" fmla="*/ 361442 w 712880"/>
                <a:gd name="connsiteY12" fmla="*/ 568901 h 1048421"/>
                <a:gd name="connsiteX13" fmla="*/ 538172 w 712880"/>
                <a:gd name="connsiteY13" fmla="*/ 503663 h 1048421"/>
                <a:gd name="connsiteX14" fmla="*/ 682284 w 712880"/>
                <a:gd name="connsiteY14" fmla="*/ 887871 h 1048421"/>
                <a:gd name="connsiteX15" fmla="*/ 712764 w 712880"/>
                <a:gd name="connsiteY15" fmla="*/ 1029309 h 1048421"/>
                <a:gd name="connsiteX16" fmla="*/ 643515 w 712880"/>
                <a:gd name="connsiteY16" fmla="*/ 541629 h 1048421"/>
                <a:gd name="connsiteX17" fmla="*/ 428017 w 712880"/>
                <a:gd name="connsiteY17" fmla="*/ 285223 h 1048421"/>
                <a:gd name="connsiteX0" fmla="*/ 428017 w 712880"/>
                <a:gd name="connsiteY0" fmla="*/ 285223 h 1048421"/>
                <a:gd name="connsiteX1" fmla="*/ 253158 w 712880"/>
                <a:gd name="connsiteY1" fmla="*/ 8764 h 1048421"/>
                <a:gd name="connsiteX2" fmla="*/ 181503 w 712880"/>
                <a:gd name="connsiteY2" fmla="*/ 75606 h 1048421"/>
                <a:gd name="connsiteX3" fmla="*/ 71882 w 712880"/>
                <a:gd name="connsiteY3" fmla="*/ 143785 h 1048421"/>
                <a:gd name="connsiteX4" fmla="*/ 251286 w 712880"/>
                <a:gd name="connsiteY4" fmla="*/ 340301 h 1048421"/>
                <a:gd name="connsiteX5" fmla="*/ 9852 w 712880"/>
                <a:gd name="connsiteY5" fmla="*/ 359284 h 1048421"/>
                <a:gd name="connsiteX6" fmla="*/ 48087 w 712880"/>
                <a:gd name="connsiteY6" fmla="*/ 492167 h 1048421"/>
                <a:gd name="connsiteX7" fmla="*/ 60652 w 712880"/>
                <a:gd name="connsiteY7" fmla="*/ 592964 h 1048421"/>
                <a:gd name="connsiteX8" fmla="*/ 241126 w 712880"/>
                <a:gd name="connsiteY8" fmla="*/ 520774 h 1048421"/>
                <a:gd name="connsiteX9" fmla="*/ 137120 w 712880"/>
                <a:gd name="connsiteY9" fmla="*/ 691088 h 1048421"/>
                <a:gd name="connsiteX10" fmla="*/ 236046 w 712880"/>
                <a:gd name="connsiteY10" fmla="*/ 720766 h 1048421"/>
                <a:gd name="connsiteX11" fmla="*/ 313315 w 712880"/>
                <a:gd name="connsiteY11" fmla="*/ 773438 h 1048421"/>
                <a:gd name="connsiteX12" fmla="*/ 361442 w 712880"/>
                <a:gd name="connsiteY12" fmla="*/ 568901 h 1048421"/>
                <a:gd name="connsiteX13" fmla="*/ 538172 w 712880"/>
                <a:gd name="connsiteY13" fmla="*/ 503663 h 1048421"/>
                <a:gd name="connsiteX14" fmla="*/ 667044 w 712880"/>
                <a:gd name="connsiteY14" fmla="*/ 887871 h 1048421"/>
                <a:gd name="connsiteX15" fmla="*/ 712764 w 712880"/>
                <a:gd name="connsiteY15" fmla="*/ 1029309 h 1048421"/>
                <a:gd name="connsiteX16" fmla="*/ 643515 w 712880"/>
                <a:gd name="connsiteY16" fmla="*/ 541629 h 1048421"/>
                <a:gd name="connsiteX17" fmla="*/ 428017 w 712880"/>
                <a:gd name="connsiteY17" fmla="*/ 285223 h 1048421"/>
                <a:gd name="connsiteX0" fmla="*/ 428017 w 712823"/>
                <a:gd name="connsiteY0" fmla="*/ 285223 h 1048421"/>
                <a:gd name="connsiteX1" fmla="*/ 253158 w 712823"/>
                <a:gd name="connsiteY1" fmla="*/ 8764 h 1048421"/>
                <a:gd name="connsiteX2" fmla="*/ 181503 w 712823"/>
                <a:gd name="connsiteY2" fmla="*/ 75606 h 1048421"/>
                <a:gd name="connsiteX3" fmla="*/ 71882 w 712823"/>
                <a:gd name="connsiteY3" fmla="*/ 143785 h 1048421"/>
                <a:gd name="connsiteX4" fmla="*/ 251286 w 712823"/>
                <a:gd name="connsiteY4" fmla="*/ 340301 h 1048421"/>
                <a:gd name="connsiteX5" fmla="*/ 9852 w 712823"/>
                <a:gd name="connsiteY5" fmla="*/ 359284 h 1048421"/>
                <a:gd name="connsiteX6" fmla="*/ 48087 w 712823"/>
                <a:gd name="connsiteY6" fmla="*/ 492167 h 1048421"/>
                <a:gd name="connsiteX7" fmla="*/ 60652 w 712823"/>
                <a:gd name="connsiteY7" fmla="*/ 592964 h 1048421"/>
                <a:gd name="connsiteX8" fmla="*/ 241126 w 712823"/>
                <a:gd name="connsiteY8" fmla="*/ 520774 h 1048421"/>
                <a:gd name="connsiteX9" fmla="*/ 137120 w 712823"/>
                <a:gd name="connsiteY9" fmla="*/ 691088 h 1048421"/>
                <a:gd name="connsiteX10" fmla="*/ 236046 w 712823"/>
                <a:gd name="connsiteY10" fmla="*/ 720766 h 1048421"/>
                <a:gd name="connsiteX11" fmla="*/ 313315 w 712823"/>
                <a:gd name="connsiteY11" fmla="*/ 773438 h 1048421"/>
                <a:gd name="connsiteX12" fmla="*/ 361442 w 712823"/>
                <a:gd name="connsiteY12" fmla="*/ 568901 h 1048421"/>
                <a:gd name="connsiteX13" fmla="*/ 538172 w 712823"/>
                <a:gd name="connsiteY13" fmla="*/ 503663 h 1048421"/>
                <a:gd name="connsiteX14" fmla="*/ 667044 w 712823"/>
                <a:gd name="connsiteY14" fmla="*/ 887871 h 1048421"/>
                <a:gd name="connsiteX15" fmla="*/ 712764 w 712823"/>
                <a:gd name="connsiteY15" fmla="*/ 1029309 h 1048421"/>
                <a:gd name="connsiteX16" fmla="*/ 618115 w 712823"/>
                <a:gd name="connsiteY16" fmla="*/ 526389 h 1048421"/>
                <a:gd name="connsiteX17" fmla="*/ 428017 w 712823"/>
                <a:gd name="connsiteY17" fmla="*/ 285223 h 1048421"/>
                <a:gd name="connsiteX0" fmla="*/ 428017 w 712823"/>
                <a:gd name="connsiteY0" fmla="*/ 285223 h 1046082"/>
                <a:gd name="connsiteX1" fmla="*/ 253158 w 712823"/>
                <a:gd name="connsiteY1" fmla="*/ 8764 h 1046082"/>
                <a:gd name="connsiteX2" fmla="*/ 181503 w 712823"/>
                <a:gd name="connsiteY2" fmla="*/ 75606 h 1046082"/>
                <a:gd name="connsiteX3" fmla="*/ 71882 w 712823"/>
                <a:gd name="connsiteY3" fmla="*/ 143785 h 1046082"/>
                <a:gd name="connsiteX4" fmla="*/ 251286 w 712823"/>
                <a:gd name="connsiteY4" fmla="*/ 340301 h 1046082"/>
                <a:gd name="connsiteX5" fmla="*/ 9852 w 712823"/>
                <a:gd name="connsiteY5" fmla="*/ 359284 h 1046082"/>
                <a:gd name="connsiteX6" fmla="*/ 48087 w 712823"/>
                <a:gd name="connsiteY6" fmla="*/ 492167 h 1046082"/>
                <a:gd name="connsiteX7" fmla="*/ 60652 w 712823"/>
                <a:gd name="connsiteY7" fmla="*/ 592964 h 1046082"/>
                <a:gd name="connsiteX8" fmla="*/ 241126 w 712823"/>
                <a:gd name="connsiteY8" fmla="*/ 520774 h 1046082"/>
                <a:gd name="connsiteX9" fmla="*/ 137120 w 712823"/>
                <a:gd name="connsiteY9" fmla="*/ 691088 h 1046082"/>
                <a:gd name="connsiteX10" fmla="*/ 236046 w 712823"/>
                <a:gd name="connsiteY10" fmla="*/ 720766 h 1046082"/>
                <a:gd name="connsiteX11" fmla="*/ 313315 w 712823"/>
                <a:gd name="connsiteY11" fmla="*/ 773438 h 1046082"/>
                <a:gd name="connsiteX12" fmla="*/ 361442 w 712823"/>
                <a:gd name="connsiteY12" fmla="*/ 568901 h 1046082"/>
                <a:gd name="connsiteX13" fmla="*/ 538172 w 712823"/>
                <a:gd name="connsiteY13" fmla="*/ 503663 h 1046082"/>
                <a:gd name="connsiteX14" fmla="*/ 622128 w 712823"/>
                <a:gd name="connsiteY14" fmla="*/ 664886 h 1046082"/>
                <a:gd name="connsiteX15" fmla="*/ 667044 w 712823"/>
                <a:gd name="connsiteY15" fmla="*/ 887871 h 1046082"/>
                <a:gd name="connsiteX16" fmla="*/ 712764 w 712823"/>
                <a:gd name="connsiteY16" fmla="*/ 1029309 h 1046082"/>
                <a:gd name="connsiteX17" fmla="*/ 618115 w 712823"/>
                <a:gd name="connsiteY17" fmla="*/ 526389 h 1046082"/>
                <a:gd name="connsiteX18" fmla="*/ 428017 w 712823"/>
                <a:gd name="connsiteY18" fmla="*/ 285223 h 1046082"/>
                <a:gd name="connsiteX0" fmla="*/ 428017 w 712823"/>
                <a:gd name="connsiteY0" fmla="*/ 285223 h 1046082"/>
                <a:gd name="connsiteX1" fmla="*/ 253158 w 712823"/>
                <a:gd name="connsiteY1" fmla="*/ 8764 h 1046082"/>
                <a:gd name="connsiteX2" fmla="*/ 181503 w 712823"/>
                <a:gd name="connsiteY2" fmla="*/ 75606 h 1046082"/>
                <a:gd name="connsiteX3" fmla="*/ 71882 w 712823"/>
                <a:gd name="connsiteY3" fmla="*/ 143785 h 1046082"/>
                <a:gd name="connsiteX4" fmla="*/ 251286 w 712823"/>
                <a:gd name="connsiteY4" fmla="*/ 340301 h 1046082"/>
                <a:gd name="connsiteX5" fmla="*/ 9852 w 712823"/>
                <a:gd name="connsiteY5" fmla="*/ 359284 h 1046082"/>
                <a:gd name="connsiteX6" fmla="*/ 48087 w 712823"/>
                <a:gd name="connsiteY6" fmla="*/ 492167 h 1046082"/>
                <a:gd name="connsiteX7" fmla="*/ 60652 w 712823"/>
                <a:gd name="connsiteY7" fmla="*/ 592964 h 1046082"/>
                <a:gd name="connsiteX8" fmla="*/ 241126 w 712823"/>
                <a:gd name="connsiteY8" fmla="*/ 520774 h 1046082"/>
                <a:gd name="connsiteX9" fmla="*/ 137120 w 712823"/>
                <a:gd name="connsiteY9" fmla="*/ 691088 h 1046082"/>
                <a:gd name="connsiteX10" fmla="*/ 236046 w 712823"/>
                <a:gd name="connsiteY10" fmla="*/ 720766 h 1046082"/>
                <a:gd name="connsiteX11" fmla="*/ 313315 w 712823"/>
                <a:gd name="connsiteY11" fmla="*/ 773438 h 1046082"/>
                <a:gd name="connsiteX12" fmla="*/ 361442 w 712823"/>
                <a:gd name="connsiteY12" fmla="*/ 568901 h 1046082"/>
                <a:gd name="connsiteX13" fmla="*/ 538172 w 712823"/>
                <a:gd name="connsiteY13" fmla="*/ 503663 h 1046082"/>
                <a:gd name="connsiteX14" fmla="*/ 622128 w 712823"/>
                <a:gd name="connsiteY14" fmla="*/ 664886 h 1046082"/>
                <a:gd name="connsiteX15" fmla="*/ 667044 w 712823"/>
                <a:gd name="connsiteY15" fmla="*/ 887871 h 1046082"/>
                <a:gd name="connsiteX16" fmla="*/ 712764 w 712823"/>
                <a:gd name="connsiteY16" fmla="*/ 1029309 h 1046082"/>
                <a:gd name="connsiteX17" fmla="*/ 618115 w 712823"/>
                <a:gd name="connsiteY17" fmla="*/ 526389 h 1046082"/>
                <a:gd name="connsiteX18" fmla="*/ 428017 w 712823"/>
                <a:gd name="connsiteY18" fmla="*/ 285223 h 104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2823" h="1046082">
                  <a:moveTo>
                    <a:pt x="428017" y="285223"/>
                  </a:moveTo>
                  <a:cubicBezTo>
                    <a:pt x="367191" y="198952"/>
                    <a:pt x="294244" y="43700"/>
                    <a:pt x="253158" y="8764"/>
                  </a:cubicBezTo>
                  <a:cubicBezTo>
                    <a:pt x="212072" y="-26172"/>
                    <a:pt x="211716" y="53103"/>
                    <a:pt x="181503" y="75606"/>
                  </a:cubicBezTo>
                  <a:cubicBezTo>
                    <a:pt x="151290" y="98109"/>
                    <a:pt x="60251" y="99669"/>
                    <a:pt x="71882" y="143785"/>
                  </a:cubicBezTo>
                  <a:cubicBezTo>
                    <a:pt x="83513" y="187901"/>
                    <a:pt x="261624" y="304385"/>
                    <a:pt x="251286" y="340301"/>
                  </a:cubicBezTo>
                  <a:cubicBezTo>
                    <a:pt x="240948" y="376218"/>
                    <a:pt x="43718" y="333973"/>
                    <a:pt x="9852" y="359284"/>
                  </a:cubicBezTo>
                  <a:cubicBezTo>
                    <a:pt x="-24014" y="384595"/>
                    <a:pt x="39620" y="453220"/>
                    <a:pt x="48087" y="492167"/>
                  </a:cubicBezTo>
                  <a:cubicBezTo>
                    <a:pt x="56554" y="531114"/>
                    <a:pt x="28479" y="588196"/>
                    <a:pt x="60652" y="592964"/>
                  </a:cubicBezTo>
                  <a:cubicBezTo>
                    <a:pt x="92825" y="597732"/>
                    <a:pt x="228381" y="504420"/>
                    <a:pt x="241126" y="520774"/>
                  </a:cubicBezTo>
                  <a:cubicBezTo>
                    <a:pt x="253871" y="537128"/>
                    <a:pt x="137967" y="657756"/>
                    <a:pt x="137120" y="691088"/>
                  </a:cubicBezTo>
                  <a:cubicBezTo>
                    <a:pt x="136273" y="724420"/>
                    <a:pt x="206680" y="707041"/>
                    <a:pt x="236046" y="720766"/>
                  </a:cubicBezTo>
                  <a:cubicBezTo>
                    <a:pt x="265412" y="734491"/>
                    <a:pt x="292416" y="798749"/>
                    <a:pt x="313315" y="773438"/>
                  </a:cubicBezTo>
                  <a:cubicBezTo>
                    <a:pt x="334214" y="748127"/>
                    <a:pt x="323966" y="613863"/>
                    <a:pt x="361442" y="568901"/>
                  </a:cubicBezTo>
                  <a:cubicBezTo>
                    <a:pt x="398918" y="523939"/>
                    <a:pt x="494724" y="487666"/>
                    <a:pt x="538172" y="503663"/>
                  </a:cubicBezTo>
                  <a:cubicBezTo>
                    <a:pt x="581620" y="519660"/>
                    <a:pt x="600649" y="600851"/>
                    <a:pt x="622128" y="664886"/>
                  </a:cubicBezTo>
                  <a:cubicBezTo>
                    <a:pt x="643607" y="728921"/>
                    <a:pt x="651938" y="827134"/>
                    <a:pt x="667044" y="887871"/>
                  </a:cubicBezTo>
                  <a:cubicBezTo>
                    <a:pt x="682150" y="948608"/>
                    <a:pt x="710759" y="1095483"/>
                    <a:pt x="712764" y="1029309"/>
                  </a:cubicBezTo>
                  <a:cubicBezTo>
                    <a:pt x="714769" y="963135"/>
                    <a:pt x="665573" y="650403"/>
                    <a:pt x="618115" y="526389"/>
                  </a:cubicBezTo>
                  <a:cubicBezTo>
                    <a:pt x="570657" y="402375"/>
                    <a:pt x="488843" y="371494"/>
                    <a:pt x="428017" y="285223"/>
                  </a:cubicBezTo>
                  <a:close/>
                </a:path>
              </a:pathLst>
            </a:custGeom>
            <a:solidFill>
              <a:srgbClr val="D4C1B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I loss">
            <a:extLst>
              <a:ext uri="{FF2B5EF4-FFF2-40B4-BE49-F238E27FC236}">
                <a16:creationId xmlns:a16="http://schemas.microsoft.com/office/drawing/2014/main" id="{336F1EFE-4344-4E5C-B640-B9979BE4EA1D}"/>
              </a:ext>
            </a:extLst>
          </p:cNvPr>
          <p:cNvGrpSpPr/>
          <p:nvPr/>
        </p:nvGrpSpPr>
        <p:grpSpPr>
          <a:xfrm>
            <a:off x="2880632" y="2095658"/>
            <a:ext cx="962622" cy="1010388"/>
            <a:chOff x="4044327" y="2158245"/>
            <a:chExt cx="962622" cy="1010388"/>
          </a:xfrm>
        </p:grpSpPr>
        <p:sp>
          <p:nvSpPr>
            <p:cNvPr id="102" name="Metabolic explanation">
              <a:extLst>
                <a:ext uri="{FF2B5EF4-FFF2-40B4-BE49-F238E27FC236}">
                  <a16:creationId xmlns:a16="http://schemas.microsoft.com/office/drawing/2014/main" id="{2554CC58-27E3-4A44-A3EC-7C5BBB898B9C}"/>
                </a:ext>
              </a:extLst>
            </p:cNvPr>
            <p:cNvSpPr txBox="1"/>
            <p:nvPr/>
          </p:nvSpPr>
          <p:spPr>
            <a:xfrm>
              <a:off x="4044327" y="2158245"/>
              <a:ext cx="962622" cy="1010388"/>
            </a:xfrm>
            <a:prstGeom prst="roundRect">
              <a:avLst>
                <a:gd name="adj" fmla="val 0"/>
              </a:avLst>
            </a:prstGeom>
            <a:ln/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GI loss</a:t>
              </a:r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115B1EA-4E3E-4023-91F2-0AD0F66AB8E4}"/>
                </a:ext>
              </a:extLst>
            </p:cNvPr>
            <p:cNvGrpSpPr/>
            <p:nvPr/>
          </p:nvGrpSpPr>
          <p:grpSpPr>
            <a:xfrm>
              <a:off x="4170864" y="2421418"/>
              <a:ext cx="728959" cy="629240"/>
              <a:chOff x="4921145" y="3103362"/>
              <a:chExt cx="883151" cy="997547"/>
            </a:xfrm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8ED412FB-F9FB-4660-8920-E3C9CF1C1083}"/>
                  </a:ext>
                </a:extLst>
              </p:cNvPr>
              <p:cNvSpPr/>
              <p:nvPr/>
            </p:nvSpPr>
            <p:spPr>
              <a:xfrm>
                <a:off x="4921145" y="3122746"/>
                <a:ext cx="696642" cy="978163"/>
              </a:xfrm>
              <a:custGeom>
                <a:avLst/>
                <a:gdLst>
                  <a:gd name="connsiteX0" fmla="*/ 409267 w 797434"/>
                  <a:gd name="connsiteY0" fmla="*/ 633268 h 998518"/>
                  <a:gd name="connsiteX1" fmla="*/ 120342 w 797434"/>
                  <a:gd name="connsiteY1" fmla="*/ 680893 h 998518"/>
                  <a:gd name="connsiteX2" fmla="*/ 2867 w 797434"/>
                  <a:gd name="connsiteY2" fmla="*/ 849168 h 998518"/>
                  <a:gd name="connsiteX3" fmla="*/ 40967 w 797434"/>
                  <a:gd name="connsiteY3" fmla="*/ 976168 h 998518"/>
                  <a:gd name="connsiteX4" fmla="*/ 94942 w 797434"/>
                  <a:gd name="connsiteY4" fmla="*/ 995218 h 998518"/>
                  <a:gd name="connsiteX5" fmla="*/ 126692 w 797434"/>
                  <a:gd name="connsiteY5" fmla="*/ 938068 h 998518"/>
                  <a:gd name="connsiteX6" fmla="*/ 98117 w 797434"/>
                  <a:gd name="connsiteY6" fmla="*/ 858693 h 998518"/>
                  <a:gd name="connsiteX7" fmla="*/ 174317 w 797434"/>
                  <a:gd name="connsiteY7" fmla="*/ 823768 h 998518"/>
                  <a:gd name="connsiteX8" fmla="*/ 409267 w 797434"/>
                  <a:gd name="connsiteY8" fmla="*/ 941243 h 998518"/>
                  <a:gd name="connsiteX9" fmla="*/ 682317 w 797434"/>
                  <a:gd name="connsiteY9" fmla="*/ 909493 h 998518"/>
                  <a:gd name="connsiteX10" fmla="*/ 796617 w 797434"/>
                  <a:gd name="connsiteY10" fmla="*/ 601518 h 998518"/>
                  <a:gd name="connsiteX11" fmla="*/ 733117 w 797434"/>
                  <a:gd name="connsiteY11" fmla="*/ 357043 h 998518"/>
                  <a:gd name="connsiteX12" fmla="*/ 723592 w 797434"/>
                  <a:gd name="connsiteY12" fmla="*/ 80818 h 998518"/>
                  <a:gd name="connsiteX13" fmla="*/ 736292 w 797434"/>
                  <a:gd name="connsiteY13" fmla="*/ 30018 h 998518"/>
                  <a:gd name="connsiteX14" fmla="*/ 637867 w 797434"/>
                  <a:gd name="connsiteY14" fmla="*/ 26843 h 998518"/>
                  <a:gd name="connsiteX15" fmla="*/ 596592 w 797434"/>
                  <a:gd name="connsiteY15" fmla="*/ 376093 h 998518"/>
                  <a:gd name="connsiteX16" fmla="*/ 482292 w 797434"/>
                  <a:gd name="connsiteY16" fmla="*/ 614218 h 998518"/>
                  <a:gd name="connsiteX17" fmla="*/ 409267 w 797434"/>
                  <a:gd name="connsiteY17" fmla="*/ 633268 h 998518"/>
                  <a:gd name="connsiteX0" fmla="*/ 409267 w 797434"/>
                  <a:gd name="connsiteY0" fmla="*/ 633268 h 998518"/>
                  <a:gd name="connsiteX1" fmla="*/ 120342 w 797434"/>
                  <a:gd name="connsiteY1" fmla="*/ 680893 h 998518"/>
                  <a:gd name="connsiteX2" fmla="*/ 2867 w 797434"/>
                  <a:gd name="connsiteY2" fmla="*/ 849168 h 998518"/>
                  <a:gd name="connsiteX3" fmla="*/ 40967 w 797434"/>
                  <a:gd name="connsiteY3" fmla="*/ 976168 h 998518"/>
                  <a:gd name="connsiteX4" fmla="*/ 94942 w 797434"/>
                  <a:gd name="connsiteY4" fmla="*/ 995218 h 998518"/>
                  <a:gd name="connsiteX5" fmla="*/ 126692 w 797434"/>
                  <a:gd name="connsiteY5" fmla="*/ 938068 h 998518"/>
                  <a:gd name="connsiteX6" fmla="*/ 98117 w 797434"/>
                  <a:gd name="connsiteY6" fmla="*/ 858693 h 998518"/>
                  <a:gd name="connsiteX7" fmla="*/ 174317 w 797434"/>
                  <a:gd name="connsiteY7" fmla="*/ 823768 h 998518"/>
                  <a:gd name="connsiteX8" fmla="*/ 409267 w 797434"/>
                  <a:gd name="connsiteY8" fmla="*/ 941243 h 998518"/>
                  <a:gd name="connsiteX9" fmla="*/ 682317 w 797434"/>
                  <a:gd name="connsiteY9" fmla="*/ 909493 h 998518"/>
                  <a:gd name="connsiteX10" fmla="*/ 796617 w 797434"/>
                  <a:gd name="connsiteY10" fmla="*/ 601518 h 998518"/>
                  <a:gd name="connsiteX11" fmla="*/ 733117 w 797434"/>
                  <a:gd name="connsiteY11" fmla="*/ 357043 h 998518"/>
                  <a:gd name="connsiteX12" fmla="*/ 723592 w 797434"/>
                  <a:gd name="connsiteY12" fmla="*/ 80818 h 998518"/>
                  <a:gd name="connsiteX13" fmla="*/ 736292 w 797434"/>
                  <a:gd name="connsiteY13" fmla="*/ 30018 h 998518"/>
                  <a:gd name="connsiteX14" fmla="*/ 637867 w 797434"/>
                  <a:gd name="connsiteY14" fmla="*/ 26843 h 998518"/>
                  <a:gd name="connsiteX15" fmla="*/ 596592 w 797434"/>
                  <a:gd name="connsiteY15" fmla="*/ 376093 h 998518"/>
                  <a:gd name="connsiteX16" fmla="*/ 409267 w 797434"/>
                  <a:gd name="connsiteY16" fmla="*/ 633268 h 998518"/>
                  <a:gd name="connsiteX0" fmla="*/ 466417 w 797434"/>
                  <a:gd name="connsiteY0" fmla="*/ 645968 h 998518"/>
                  <a:gd name="connsiteX1" fmla="*/ 120342 w 797434"/>
                  <a:gd name="connsiteY1" fmla="*/ 680893 h 998518"/>
                  <a:gd name="connsiteX2" fmla="*/ 2867 w 797434"/>
                  <a:gd name="connsiteY2" fmla="*/ 849168 h 998518"/>
                  <a:gd name="connsiteX3" fmla="*/ 40967 w 797434"/>
                  <a:gd name="connsiteY3" fmla="*/ 976168 h 998518"/>
                  <a:gd name="connsiteX4" fmla="*/ 94942 w 797434"/>
                  <a:gd name="connsiteY4" fmla="*/ 995218 h 998518"/>
                  <a:gd name="connsiteX5" fmla="*/ 126692 w 797434"/>
                  <a:gd name="connsiteY5" fmla="*/ 938068 h 998518"/>
                  <a:gd name="connsiteX6" fmla="*/ 98117 w 797434"/>
                  <a:gd name="connsiteY6" fmla="*/ 858693 h 998518"/>
                  <a:gd name="connsiteX7" fmla="*/ 174317 w 797434"/>
                  <a:gd name="connsiteY7" fmla="*/ 823768 h 998518"/>
                  <a:gd name="connsiteX8" fmla="*/ 409267 w 797434"/>
                  <a:gd name="connsiteY8" fmla="*/ 941243 h 998518"/>
                  <a:gd name="connsiteX9" fmla="*/ 682317 w 797434"/>
                  <a:gd name="connsiteY9" fmla="*/ 909493 h 998518"/>
                  <a:gd name="connsiteX10" fmla="*/ 796617 w 797434"/>
                  <a:gd name="connsiteY10" fmla="*/ 601518 h 998518"/>
                  <a:gd name="connsiteX11" fmla="*/ 733117 w 797434"/>
                  <a:gd name="connsiteY11" fmla="*/ 357043 h 998518"/>
                  <a:gd name="connsiteX12" fmla="*/ 723592 w 797434"/>
                  <a:gd name="connsiteY12" fmla="*/ 80818 h 998518"/>
                  <a:gd name="connsiteX13" fmla="*/ 736292 w 797434"/>
                  <a:gd name="connsiteY13" fmla="*/ 30018 h 998518"/>
                  <a:gd name="connsiteX14" fmla="*/ 637867 w 797434"/>
                  <a:gd name="connsiteY14" fmla="*/ 26843 h 998518"/>
                  <a:gd name="connsiteX15" fmla="*/ 596592 w 797434"/>
                  <a:gd name="connsiteY15" fmla="*/ 376093 h 998518"/>
                  <a:gd name="connsiteX16" fmla="*/ 466417 w 797434"/>
                  <a:gd name="connsiteY16" fmla="*/ 645968 h 998518"/>
                  <a:gd name="connsiteX0" fmla="*/ 466417 w 797434"/>
                  <a:gd name="connsiteY0" fmla="*/ 661128 h 1013678"/>
                  <a:gd name="connsiteX1" fmla="*/ 120342 w 797434"/>
                  <a:gd name="connsiteY1" fmla="*/ 696053 h 1013678"/>
                  <a:gd name="connsiteX2" fmla="*/ 2867 w 797434"/>
                  <a:gd name="connsiteY2" fmla="*/ 864328 h 1013678"/>
                  <a:gd name="connsiteX3" fmla="*/ 40967 w 797434"/>
                  <a:gd name="connsiteY3" fmla="*/ 991328 h 1013678"/>
                  <a:gd name="connsiteX4" fmla="*/ 94942 w 797434"/>
                  <a:gd name="connsiteY4" fmla="*/ 1010378 h 1013678"/>
                  <a:gd name="connsiteX5" fmla="*/ 126692 w 797434"/>
                  <a:gd name="connsiteY5" fmla="*/ 953228 h 1013678"/>
                  <a:gd name="connsiteX6" fmla="*/ 98117 w 797434"/>
                  <a:gd name="connsiteY6" fmla="*/ 873853 h 1013678"/>
                  <a:gd name="connsiteX7" fmla="*/ 174317 w 797434"/>
                  <a:gd name="connsiteY7" fmla="*/ 838928 h 1013678"/>
                  <a:gd name="connsiteX8" fmla="*/ 409267 w 797434"/>
                  <a:gd name="connsiteY8" fmla="*/ 956403 h 1013678"/>
                  <a:gd name="connsiteX9" fmla="*/ 682317 w 797434"/>
                  <a:gd name="connsiteY9" fmla="*/ 924653 h 1013678"/>
                  <a:gd name="connsiteX10" fmla="*/ 796617 w 797434"/>
                  <a:gd name="connsiteY10" fmla="*/ 616678 h 1013678"/>
                  <a:gd name="connsiteX11" fmla="*/ 733117 w 797434"/>
                  <a:gd name="connsiteY11" fmla="*/ 372203 h 1013678"/>
                  <a:gd name="connsiteX12" fmla="*/ 723592 w 797434"/>
                  <a:gd name="connsiteY12" fmla="*/ 95978 h 1013678"/>
                  <a:gd name="connsiteX13" fmla="*/ 736292 w 797434"/>
                  <a:gd name="connsiteY13" fmla="*/ 45178 h 1013678"/>
                  <a:gd name="connsiteX14" fmla="*/ 675967 w 797434"/>
                  <a:gd name="connsiteY14" fmla="*/ 22953 h 1013678"/>
                  <a:gd name="connsiteX15" fmla="*/ 596592 w 797434"/>
                  <a:gd name="connsiteY15" fmla="*/ 391253 h 1013678"/>
                  <a:gd name="connsiteX16" fmla="*/ 466417 w 797434"/>
                  <a:gd name="connsiteY16" fmla="*/ 661128 h 1013678"/>
                  <a:gd name="connsiteX0" fmla="*/ 466417 w 797434"/>
                  <a:gd name="connsiteY0" fmla="*/ 661128 h 1013678"/>
                  <a:gd name="connsiteX1" fmla="*/ 120342 w 797434"/>
                  <a:gd name="connsiteY1" fmla="*/ 696053 h 1013678"/>
                  <a:gd name="connsiteX2" fmla="*/ 2867 w 797434"/>
                  <a:gd name="connsiteY2" fmla="*/ 864328 h 1013678"/>
                  <a:gd name="connsiteX3" fmla="*/ 40967 w 797434"/>
                  <a:gd name="connsiteY3" fmla="*/ 991328 h 1013678"/>
                  <a:gd name="connsiteX4" fmla="*/ 94942 w 797434"/>
                  <a:gd name="connsiteY4" fmla="*/ 1010378 h 1013678"/>
                  <a:gd name="connsiteX5" fmla="*/ 126692 w 797434"/>
                  <a:gd name="connsiteY5" fmla="*/ 953228 h 1013678"/>
                  <a:gd name="connsiteX6" fmla="*/ 98117 w 797434"/>
                  <a:gd name="connsiteY6" fmla="*/ 873853 h 1013678"/>
                  <a:gd name="connsiteX7" fmla="*/ 174317 w 797434"/>
                  <a:gd name="connsiteY7" fmla="*/ 838928 h 1013678"/>
                  <a:gd name="connsiteX8" fmla="*/ 409267 w 797434"/>
                  <a:gd name="connsiteY8" fmla="*/ 956403 h 1013678"/>
                  <a:gd name="connsiteX9" fmla="*/ 682317 w 797434"/>
                  <a:gd name="connsiteY9" fmla="*/ 924653 h 1013678"/>
                  <a:gd name="connsiteX10" fmla="*/ 796617 w 797434"/>
                  <a:gd name="connsiteY10" fmla="*/ 616678 h 1013678"/>
                  <a:gd name="connsiteX11" fmla="*/ 733117 w 797434"/>
                  <a:gd name="connsiteY11" fmla="*/ 372203 h 1013678"/>
                  <a:gd name="connsiteX12" fmla="*/ 723592 w 797434"/>
                  <a:gd name="connsiteY12" fmla="*/ 95978 h 1013678"/>
                  <a:gd name="connsiteX13" fmla="*/ 774392 w 797434"/>
                  <a:gd name="connsiteY13" fmla="*/ 45178 h 1013678"/>
                  <a:gd name="connsiteX14" fmla="*/ 675967 w 797434"/>
                  <a:gd name="connsiteY14" fmla="*/ 22953 h 1013678"/>
                  <a:gd name="connsiteX15" fmla="*/ 596592 w 797434"/>
                  <a:gd name="connsiteY15" fmla="*/ 391253 h 1013678"/>
                  <a:gd name="connsiteX16" fmla="*/ 466417 w 797434"/>
                  <a:gd name="connsiteY16" fmla="*/ 661128 h 1013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97434" h="1013678">
                    <a:moveTo>
                      <a:pt x="466417" y="661128"/>
                    </a:moveTo>
                    <a:cubicBezTo>
                      <a:pt x="387042" y="711928"/>
                      <a:pt x="197600" y="662186"/>
                      <a:pt x="120342" y="696053"/>
                    </a:cubicBezTo>
                    <a:cubicBezTo>
                      <a:pt x="43084" y="729920"/>
                      <a:pt x="16096" y="815116"/>
                      <a:pt x="2867" y="864328"/>
                    </a:cubicBezTo>
                    <a:cubicBezTo>
                      <a:pt x="-10362" y="913541"/>
                      <a:pt x="25621" y="966986"/>
                      <a:pt x="40967" y="991328"/>
                    </a:cubicBezTo>
                    <a:cubicBezTo>
                      <a:pt x="56313" y="1015670"/>
                      <a:pt x="80654" y="1016728"/>
                      <a:pt x="94942" y="1010378"/>
                    </a:cubicBezTo>
                    <a:cubicBezTo>
                      <a:pt x="109230" y="1004028"/>
                      <a:pt x="126163" y="975982"/>
                      <a:pt x="126692" y="953228"/>
                    </a:cubicBezTo>
                    <a:cubicBezTo>
                      <a:pt x="127221" y="930474"/>
                      <a:pt x="90180" y="892903"/>
                      <a:pt x="98117" y="873853"/>
                    </a:cubicBezTo>
                    <a:cubicBezTo>
                      <a:pt x="106054" y="854803"/>
                      <a:pt x="122459" y="825170"/>
                      <a:pt x="174317" y="838928"/>
                    </a:cubicBezTo>
                    <a:cubicBezTo>
                      <a:pt x="226175" y="852686"/>
                      <a:pt x="324600" y="942116"/>
                      <a:pt x="409267" y="956403"/>
                    </a:cubicBezTo>
                    <a:cubicBezTo>
                      <a:pt x="493934" y="970690"/>
                      <a:pt x="617759" y="981274"/>
                      <a:pt x="682317" y="924653"/>
                    </a:cubicBezTo>
                    <a:cubicBezTo>
                      <a:pt x="746875" y="868032"/>
                      <a:pt x="788150" y="708753"/>
                      <a:pt x="796617" y="616678"/>
                    </a:cubicBezTo>
                    <a:cubicBezTo>
                      <a:pt x="805084" y="524603"/>
                      <a:pt x="745288" y="458986"/>
                      <a:pt x="733117" y="372203"/>
                    </a:cubicBezTo>
                    <a:cubicBezTo>
                      <a:pt x="720946" y="285420"/>
                      <a:pt x="716713" y="150482"/>
                      <a:pt x="723592" y="95978"/>
                    </a:cubicBezTo>
                    <a:cubicBezTo>
                      <a:pt x="730471" y="41474"/>
                      <a:pt x="782329" y="57349"/>
                      <a:pt x="774392" y="45178"/>
                    </a:cubicBezTo>
                    <a:cubicBezTo>
                      <a:pt x="766455" y="33007"/>
                      <a:pt x="705600" y="-34726"/>
                      <a:pt x="675967" y="22953"/>
                    </a:cubicBezTo>
                    <a:cubicBezTo>
                      <a:pt x="646334" y="80632"/>
                      <a:pt x="622521" y="293357"/>
                      <a:pt x="596592" y="391253"/>
                    </a:cubicBezTo>
                    <a:cubicBezTo>
                      <a:pt x="558492" y="492324"/>
                      <a:pt x="545792" y="610328"/>
                      <a:pt x="466417" y="661128"/>
                    </a:cubicBezTo>
                    <a:close/>
                  </a:path>
                </a:pathLst>
              </a:custGeom>
              <a:solidFill>
                <a:srgbClr val="E2A8A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3564641-F540-46E7-A541-7BA35345B643}"/>
                  </a:ext>
                </a:extLst>
              </p:cNvPr>
              <p:cNvSpPr txBox="1"/>
              <p:nvPr/>
            </p:nvSpPr>
            <p:spPr>
              <a:xfrm>
                <a:off x="5157265" y="3703780"/>
                <a:ext cx="419917" cy="277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H</a:t>
                </a:r>
                <a:r>
                  <a:rPr lang="en-US" sz="1200" baseline="30000" dirty="0"/>
                  <a:t>+</a:t>
                </a:r>
                <a:endParaRPr lang="en-US" sz="1200" dirty="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78C37FF2-09C4-47B4-9935-5AD742FFC951}"/>
                  </a:ext>
                </a:extLst>
              </p:cNvPr>
              <p:cNvSpPr/>
              <p:nvPr/>
            </p:nvSpPr>
            <p:spPr>
              <a:xfrm>
                <a:off x="5442346" y="3103362"/>
                <a:ext cx="361950" cy="712260"/>
              </a:xfrm>
              <a:custGeom>
                <a:avLst/>
                <a:gdLst>
                  <a:gd name="connsiteX0" fmla="*/ 0 w 371475"/>
                  <a:gd name="connsiteY0" fmla="*/ 707792 h 707792"/>
                  <a:gd name="connsiteX1" fmla="*/ 34925 w 371475"/>
                  <a:gd name="connsiteY1" fmla="*/ 418867 h 707792"/>
                  <a:gd name="connsiteX2" fmla="*/ 88900 w 371475"/>
                  <a:gd name="connsiteY2" fmla="*/ 28342 h 707792"/>
                  <a:gd name="connsiteX3" fmla="*/ 317500 w 371475"/>
                  <a:gd name="connsiteY3" fmla="*/ 34692 h 707792"/>
                  <a:gd name="connsiteX4" fmla="*/ 371475 w 371475"/>
                  <a:gd name="connsiteY4" fmla="*/ 69617 h 707792"/>
                  <a:gd name="connsiteX0" fmla="*/ 0 w 371475"/>
                  <a:gd name="connsiteY0" fmla="*/ 713201 h 713201"/>
                  <a:gd name="connsiteX1" fmla="*/ 63500 w 371475"/>
                  <a:gd name="connsiteY1" fmla="*/ 497301 h 713201"/>
                  <a:gd name="connsiteX2" fmla="*/ 88900 w 371475"/>
                  <a:gd name="connsiteY2" fmla="*/ 33751 h 713201"/>
                  <a:gd name="connsiteX3" fmla="*/ 317500 w 371475"/>
                  <a:gd name="connsiteY3" fmla="*/ 40101 h 713201"/>
                  <a:gd name="connsiteX4" fmla="*/ 371475 w 371475"/>
                  <a:gd name="connsiteY4" fmla="*/ 75026 h 713201"/>
                  <a:gd name="connsiteX0" fmla="*/ 0 w 355600"/>
                  <a:gd name="connsiteY0" fmla="*/ 722726 h 722726"/>
                  <a:gd name="connsiteX1" fmla="*/ 47625 w 355600"/>
                  <a:gd name="connsiteY1" fmla="*/ 497301 h 722726"/>
                  <a:gd name="connsiteX2" fmla="*/ 73025 w 355600"/>
                  <a:gd name="connsiteY2" fmla="*/ 33751 h 722726"/>
                  <a:gd name="connsiteX3" fmla="*/ 301625 w 355600"/>
                  <a:gd name="connsiteY3" fmla="*/ 40101 h 722726"/>
                  <a:gd name="connsiteX4" fmla="*/ 355600 w 355600"/>
                  <a:gd name="connsiteY4" fmla="*/ 75026 h 722726"/>
                  <a:gd name="connsiteX0" fmla="*/ 0 w 355600"/>
                  <a:gd name="connsiteY0" fmla="*/ 728135 h 728135"/>
                  <a:gd name="connsiteX1" fmla="*/ 57150 w 355600"/>
                  <a:gd name="connsiteY1" fmla="*/ 575735 h 728135"/>
                  <a:gd name="connsiteX2" fmla="*/ 73025 w 355600"/>
                  <a:gd name="connsiteY2" fmla="*/ 39160 h 728135"/>
                  <a:gd name="connsiteX3" fmla="*/ 301625 w 355600"/>
                  <a:gd name="connsiteY3" fmla="*/ 45510 h 728135"/>
                  <a:gd name="connsiteX4" fmla="*/ 355600 w 355600"/>
                  <a:gd name="connsiteY4" fmla="*/ 80435 h 728135"/>
                  <a:gd name="connsiteX0" fmla="*/ 0 w 361950"/>
                  <a:gd name="connsiteY0" fmla="*/ 712260 h 712260"/>
                  <a:gd name="connsiteX1" fmla="*/ 63500 w 361950"/>
                  <a:gd name="connsiteY1" fmla="*/ 575735 h 712260"/>
                  <a:gd name="connsiteX2" fmla="*/ 79375 w 361950"/>
                  <a:gd name="connsiteY2" fmla="*/ 39160 h 712260"/>
                  <a:gd name="connsiteX3" fmla="*/ 307975 w 361950"/>
                  <a:gd name="connsiteY3" fmla="*/ 45510 h 712260"/>
                  <a:gd name="connsiteX4" fmla="*/ 361950 w 361950"/>
                  <a:gd name="connsiteY4" fmla="*/ 80435 h 712260"/>
                  <a:gd name="connsiteX0" fmla="*/ 0 w 361950"/>
                  <a:gd name="connsiteY0" fmla="*/ 712260 h 712260"/>
                  <a:gd name="connsiteX1" fmla="*/ 63500 w 361950"/>
                  <a:gd name="connsiteY1" fmla="*/ 575735 h 712260"/>
                  <a:gd name="connsiteX2" fmla="*/ 79375 w 361950"/>
                  <a:gd name="connsiteY2" fmla="*/ 39160 h 712260"/>
                  <a:gd name="connsiteX3" fmla="*/ 307975 w 361950"/>
                  <a:gd name="connsiteY3" fmla="*/ 45510 h 712260"/>
                  <a:gd name="connsiteX4" fmla="*/ 361950 w 361950"/>
                  <a:gd name="connsiteY4" fmla="*/ 80435 h 712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950" h="712260">
                    <a:moveTo>
                      <a:pt x="0" y="712260"/>
                    </a:moveTo>
                    <a:cubicBezTo>
                      <a:pt x="57679" y="684743"/>
                      <a:pt x="50271" y="687918"/>
                      <a:pt x="63500" y="575735"/>
                    </a:cubicBezTo>
                    <a:cubicBezTo>
                      <a:pt x="76729" y="463552"/>
                      <a:pt x="38629" y="127531"/>
                      <a:pt x="79375" y="39160"/>
                    </a:cubicBezTo>
                    <a:cubicBezTo>
                      <a:pt x="120121" y="-49211"/>
                      <a:pt x="260879" y="38631"/>
                      <a:pt x="307975" y="45510"/>
                    </a:cubicBezTo>
                    <a:cubicBezTo>
                      <a:pt x="355071" y="52389"/>
                      <a:pt x="358510" y="66412"/>
                      <a:pt x="361950" y="80435"/>
                    </a:cubicBezTo>
                  </a:path>
                </a:pathLst>
              </a:custGeom>
              <a:noFill/>
              <a:ln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2" name="Contraction figure">
            <a:extLst>
              <a:ext uri="{FF2B5EF4-FFF2-40B4-BE49-F238E27FC236}">
                <a16:creationId xmlns:a16="http://schemas.microsoft.com/office/drawing/2014/main" id="{CAF8EA4D-5A40-41D8-8FC7-A0ECF2C30099}"/>
              </a:ext>
            </a:extLst>
          </p:cNvPr>
          <p:cNvGrpSpPr/>
          <p:nvPr/>
        </p:nvGrpSpPr>
        <p:grpSpPr>
          <a:xfrm>
            <a:off x="5751580" y="3576220"/>
            <a:ext cx="1130328" cy="1313237"/>
            <a:chOff x="9096137" y="2401751"/>
            <a:chExt cx="1130328" cy="1313237"/>
          </a:xfrm>
        </p:grpSpPr>
        <p:pic>
          <p:nvPicPr>
            <p:cNvPr id="133" name="Picture 132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409AB5CF-9C9E-4FB3-9ACA-29571B042A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15" t="5846" r="12014" b="1"/>
            <a:stretch/>
          </p:blipFill>
          <p:spPr>
            <a:xfrm>
              <a:off x="9096137" y="2401751"/>
              <a:ext cx="1130328" cy="131323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8B583711-7785-4C2B-83D4-EF610F362C6E}"/>
                </a:ext>
              </a:extLst>
            </p:cNvPr>
            <p:cNvSpPr txBox="1"/>
            <p:nvPr/>
          </p:nvSpPr>
          <p:spPr>
            <a:xfrm>
              <a:off x="9740227" y="2917885"/>
              <a:ext cx="39626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/>
                <a:t>HCO</a:t>
              </a:r>
              <a:r>
                <a:rPr lang="en-US" sz="700" baseline="-25000" dirty="0"/>
                <a:t>3</a:t>
              </a:r>
              <a:r>
                <a:rPr lang="en-US" sz="700" baseline="30000" dirty="0"/>
                <a:t>-</a:t>
              </a:r>
              <a:endParaRPr lang="en-US" sz="7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B5D96DF-1FA8-478B-8985-7C0C80A1EACB}"/>
                </a:ext>
              </a:extLst>
            </p:cNvPr>
            <p:cNvSpPr txBox="1"/>
            <p:nvPr/>
          </p:nvSpPr>
          <p:spPr>
            <a:xfrm>
              <a:off x="9185481" y="2691012"/>
              <a:ext cx="39626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dirty="0"/>
                <a:t>HCO</a:t>
              </a:r>
              <a:r>
                <a:rPr lang="en-US" sz="700" baseline="-25000" dirty="0"/>
                <a:t>3</a:t>
              </a:r>
              <a:r>
                <a:rPr lang="en-US" sz="700" baseline="30000" dirty="0"/>
                <a:t>-</a:t>
              </a:r>
              <a:endParaRPr lang="en-US" sz="700" dirty="0"/>
            </a:p>
          </p:txBody>
        </p:sp>
      </p:grpSp>
      <p:grpSp>
        <p:nvGrpSpPr>
          <p:cNvPr id="136" name="Hypokalemia figure">
            <a:extLst>
              <a:ext uri="{FF2B5EF4-FFF2-40B4-BE49-F238E27FC236}">
                <a16:creationId xmlns:a16="http://schemas.microsoft.com/office/drawing/2014/main" id="{B0FB4AE7-DE66-4537-9657-D4FBB9BC553F}"/>
              </a:ext>
            </a:extLst>
          </p:cNvPr>
          <p:cNvGrpSpPr/>
          <p:nvPr/>
        </p:nvGrpSpPr>
        <p:grpSpPr>
          <a:xfrm>
            <a:off x="7130773" y="2375065"/>
            <a:ext cx="1426657" cy="968660"/>
            <a:chOff x="7865794" y="2542275"/>
            <a:chExt cx="1467647" cy="1271958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7DD1B9E-7E72-4333-A71F-798934E323CB}"/>
                </a:ext>
              </a:extLst>
            </p:cNvPr>
            <p:cNvSpPr/>
            <p:nvPr/>
          </p:nvSpPr>
          <p:spPr>
            <a:xfrm>
              <a:off x="8442034" y="2602974"/>
              <a:ext cx="205997" cy="121125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5F52A81-32DA-4AA4-8454-B946C23879C7}"/>
                </a:ext>
              </a:extLst>
            </p:cNvPr>
            <p:cNvSpPr txBox="1"/>
            <p:nvPr/>
          </p:nvSpPr>
          <p:spPr>
            <a:xfrm>
              <a:off x="7892330" y="2555444"/>
              <a:ext cx="5858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Cell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1727948-6B4F-45E4-AB30-B274972F725F}"/>
                </a:ext>
              </a:extLst>
            </p:cNvPr>
            <p:cNvSpPr txBox="1"/>
            <p:nvPr/>
          </p:nvSpPr>
          <p:spPr>
            <a:xfrm>
              <a:off x="8588534" y="2542275"/>
              <a:ext cx="64854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Blood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8E0B635A-F800-4272-8190-1FB2B381F86F}"/>
                </a:ext>
              </a:extLst>
            </p:cNvPr>
            <p:cNvSpPr/>
            <p:nvPr/>
          </p:nvSpPr>
          <p:spPr>
            <a:xfrm>
              <a:off x="8356844" y="2982494"/>
              <a:ext cx="384946" cy="3503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62F2555-00E1-4902-908F-ED818B05B74A}"/>
                </a:ext>
              </a:extLst>
            </p:cNvPr>
            <p:cNvCxnSpPr>
              <a:cxnSpLocks/>
            </p:cNvCxnSpPr>
            <p:nvPr/>
          </p:nvCxnSpPr>
          <p:spPr>
            <a:xfrm>
              <a:off x="8185252" y="2974883"/>
              <a:ext cx="8021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01778ED2-D2A8-4885-9ABC-35DC8F513C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6770" y="3333951"/>
              <a:ext cx="830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B1E8AC6-FE36-4546-BA9E-B994330EFD69}"/>
                </a:ext>
              </a:extLst>
            </p:cNvPr>
            <p:cNvSpPr txBox="1"/>
            <p:nvPr/>
          </p:nvSpPr>
          <p:spPr>
            <a:xfrm>
              <a:off x="8948496" y="2843267"/>
              <a:ext cx="3849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K</a:t>
              </a:r>
              <a:r>
                <a:rPr lang="en-US" sz="1200" baseline="30000" dirty="0"/>
                <a:t>+</a:t>
              </a:r>
              <a:endParaRPr 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4A402061-8661-4F0A-826C-4319EDE8DCEB}"/>
                </a:ext>
              </a:extLst>
            </p:cNvPr>
            <p:cNvSpPr txBox="1"/>
            <p:nvPr/>
          </p:nvSpPr>
          <p:spPr>
            <a:xfrm>
              <a:off x="7865794" y="3203249"/>
              <a:ext cx="3835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</a:t>
              </a:r>
              <a:r>
                <a:rPr lang="en-US" sz="1200" baseline="30000" dirty="0"/>
                <a:t>+</a:t>
              </a:r>
              <a:endParaRPr lang="en-US" sz="1200" dirty="0"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8FE02EE4-89AF-46B7-B829-E79650182499}"/>
              </a:ext>
            </a:extLst>
          </p:cNvPr>
          <p:cNvSpPr txBox="1"/>
          <p:nvPr/>
        </p:nvSpPr>
        <p:spPr>
          <a:xfrm>
            <a:off x="5568768" y="2051881"/>
            <a:ext cx="142934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Other causes </a:t>
            </a:r>
          </a:p>
        </p:txBody>
      </p:sp>
      <p:sp>
        <p:nvSpPr>
          <p:cNvPr id="161" name="Milk alkali">
            <a:extLst>
              <a:ext uri="{FF2B5EF4-FFF2-40B4-BE49-F238E27FC236}">
                <a16:creationId xmlns:a16="http://schemas.microsoft.com/office/drawing/2014/main" id="{6C5994CD-6B3D-43F6-A871-8C8D78E15F6F}"/>
              </a:ext>
            </a:extLst>
          </p:cNvPr>
          <p:cNvSpPr txBox="1"/>
          <p:nvPr/>
        </p:nvSpPr>
        <p:spPr>
          <a:xfrm>
            <a:off x="5375695" y="2369030"/>
            <a:ext cx="1882098" cy="30777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Milk alkali syndrome</a:t>
            </a:r>
          </a:p>
        </p:txBody>
      </p:sp>
      <p:sp>
        <p:nvSpPr>
          <p:cNvPr id="162" name="Contraction">
            <a:extLst>
              <a:ext uri="{FF2B5EF4-FFF2-40B4-BE49-F238E27FC236}">
                <a16:creationId xmlns:a16="http://schemas.microsoft.com/office/drawing/2014/main" id="{C3E7BAC8-EF4E-4F17-9A98-A8D6D728A5C2}"/>
              </a:ext>
            </a:extLst>
          </p:cNvPr>
          <p:cNvSpPr/>
          <p:nvPr/>
        </p:nvSpPr>
        <p:spPr>
          <a:xfrm>
            <a:off x="5724781" y="3241896"/>
            <a:ext cx="1085850" cy="27922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>
            <a:spAutoFit/>
          </a:bodyPr>
          <a:lstStyle/>
          <a:p>
            <a:pPr algn="ctr"/>
            <a:r>
              <a:rPr lang="en-US" sz="1400" dirty="0"/>
              <a:t>Contraction</a:t>
            </a:r>
          </a:p>
        </p:txBody>
      </p:sp>
      <p:sp>
        <p:nvSpPr>
          <p:cNvPr id="163" name="Hypokalemia">
            <a:extLst>
              <a:ext uri="{FF2B5EF4-FFF2-40B4-BE49-F238E27FC236}">
                <a16:creationId xmlns:a16="http://schemas.microsoft.com/office/drawing/2014/main" id="{3CC25509-3C94-4E6D-A764-91A541E91847}"/>
              </a:ext>
            </a:extLst>
          </p:cNvPr>
          <p:cNvSpPr/>
          <p:nvPr/>
        </p:nvSpPr>
        <p:spPr>
          <a:xfrm>
            <a:off x="5712095" y="2771280"/>
            <a:ext cx="1130328" cy="27922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>
            <a:spAutoFit/>
          </a:bodyPr>
          <a:lstStyle/>
          <a:p>
            <a:pPr algn="ctr"/>
            <a:r>
              <a:rPr lang="en-US" sz="1400" dirty="0"/>
              <a:t>Hypokalemia</a:t>
            </a:r>
          </a:p>
        </p:txBody>
      </p:sp>
      <p:sp>
        <p:nvSpPr>
          <p:cNvPr id="164" name="Respiratory explanation">
            <a:extLst>
              <a:ext uri="{FF2B5EF4-FFF2-40B4-BE49-F238E27FC236}">
                <a16:creationId xmlns:a16="http://schemas.microsoft.com/office/drawing/2014/main" id="{9D0CF555-83A0-4B01-A68C-1F5D4E899617}"/>
              </a:ext>
            </a:extLst>
          </p:cNvPr>
          <p:cNvSpPr txBox="1"/>
          <p:nvPr/>
        </p:nvSpPr>
        <p:spPr>
          <a:xfrm>
            <a:off x="8500299" y="1401362"/>
            <a:ext cx="1944478" cy="1815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Anxiety, pain</a:t>
            </a:r>
          </a:p>
          <a:p>
            <a:pPr algn="ctr"/>
            <a:r>
              <a:rPr lang="en-US" sz="1400" dirty="0"/>
              <a:t>CNS disease (tumor, infection, trauma, CVA)</a:t>
            </a:r>
          </a:p>
          <a:p>
            <a:pPr algn="ctr"/>
            <a:r>
              <a:rPr lang="en-US" sz="1400" dirty="0"/>
              <a:t>Fever, sepsis</a:t>
            </a:r>
          </a:p>
          <a:p>
            <a:pPr algn="ctr"/>
            <a:r>
              <a:rPr lang="en-US" sz="1400" dirty="0"/>
              <a:t>Drugs (salicylates)</a:t>
            </a:r>
          </a:p>
          <a:p>
            <a:pPr algn="ctr"/>
            <a:r>
              <a:rPr lang="en-US" sz="1400" dirty="0"/>
              <a:t>Liver disease</a:t>
            </a:r>
          </a:p>
          <a:p>
            <a:pPr algn="ctr"/>
            <a:r>
              <a:rPr lang="en-US" sz="1400" dirty="0"/>
              <a:t>Pregnancy</a:t>
            </a:r>
          </a:p>
          <a:p>
            <a:pPr algn="ctr"/>
            <a:r>
              <a:rPr lang="en-US" sz="1400" dirty="0"/>
              <a:t>PE</a:t>
            </a:r>
          </a:p>
        </p:txBody>
      </p:sp>
      <p:sp>
        <p:nvSpPr>
          <p:cNvPr id="165" name="Reponse to IVF">
            <a:extLst>
              <a:ext uri="{FF2B5EF4-FFF2-40B4-BE49-F238E27FC236}">
                <a16:creationId xmlns:a16="http://schemas.microsoft.com/office/drawing/2014/main" id="{646FA1F2-BBDE-4B65-A8C5-62FFCB03B45A}"/>
              </a:ext>
            </a:extLst>
          </p:cNvPr>
          <p:cNvSpPr/>
          <p:nvPr/>
        </p:nvSpPr>
        <p:spPr>
          <a:xfrm>
            <a:off x="3876079" y="4723664"/>
            <a:ext cx="1707206" cy="35033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Response to IVF?</a:t>
            </a:r>
          </a:p>
        </p:txBody>
      </p:sp>
      <p:sp>
        <p:nvSpPr>
          <p:cNvPr id="166" name="Chloride responsive info">
            <a:extLst>
              <a:ext uri="{FF2B5EF4-FFF2-40B4-BE49-F238E27FC236}">
                <a16:creationId xmlns:a16="http://schemas.microsoft.com/office/drawing/2014/main" id="{9F5D6148-324A-4658-9D98-8E00BE4ACC8A}"/>
              </a:ext>
            </a:extLst>
          </p:cNvPr>
          <p:cNvSpPr/>
          <p:nvPr/>
        </p:nvSpPr>
        <p:spPr>
          <a:xfrm>
            <a:off x="2857410" y="5242191"/>
            <a:ext cx="3730249" cy="8907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200" dirty="0"/>
              <a:t>The differential for metabolic alkalosis can be narrowed by response to IVF (essentially, Cl</a:t>
            </a:r>
            <a:r>
              <a:rPr lang="en-US" sz="1200" baseline="30000" dirty="0"/>
              <a:t>-</a:t>
            </a:r>
            <a:r>
              <a:rPr lang="en-US" sz="1200" dirty="0"/>
              <a:t> infusion). Only GI loss, diuretic use and contraction alkalosis are responsive to IVF.  Nonresponse to IVF suggests an alternative etiology.</a:t>
            </a:r>
          </a:p>
        </p:txBody>
      </p:sp>
      <p:pic>
        <p:nvPicPr>
          <p:cNvPr id="171" name="Mouse metabolic" descr="Cursor with solid fill">
            <a:extLst>
              <a:ext uri="{FF2B5EF4-FFF2-40B4-BE49-F238E27FC236}">
                <a16:creationId xmlns:a16="http://schemas.microsoft.com/office/drawing/2014/main" id="{C52CAD9B-5631-4E12-AFA2-B683F1D3B7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53925" y="1221422"/>
            <a:ext cx="274320" cy="274320"/>
          </a:xfrm>
          <a:prstGeom prst="rect">
            <a:avLst/>
          </a:prstGeom>
        </p:spPr>
      </p:pic>
      <p:pic>
        <p:nvPicPr>
          <p:cNvPr id="172" name="Mouse respiratory" descr="Cursor with solid fill">
            <a:extLst>
              <a:ext uri="{FF2B5EF4-FFF2-40B4-BE49-F238E27FC236}">
                <a16:creationId xmlns:a16="http://schemas.microsoft.com/office/drawing/2014/main" id="{37D0402A-316A-4086-A7A0-F985D2ECE5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027065" y="1211304"/>
            <a:ext cx="274320" cy="274320"/>
          </a:xfrm>
          <a:prstGeom prst="rect">
            <a:avLst/>
          </a:prstGeom>
        </p:spPr>
      </p:pic>
      <p:pic>
        <p:nvPicPr>
          <p:cNvPr id="173" name="Mouse contraction" descr="Cursor with solid fill">
            <a:extLst>
              <a:ext uri="{FF2B5EF4-FFF2-40B4-BE49-F238E27FC236}">
                <a16:creationId xmlns:a16="http://schemas.microsoft.com/office/drawing/2014/main" id="{0D38CEB2-1C49-4848-AD81-E006C4C0F2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687569" y="3376922"/>
            <a:ext cx="274320" cy="274320"/>
          </a:xfrm>
          <a:prstGeom prst="rect">
            <a:avLst/>
          </a:prstGeom>
        </p:spPr>
      </p:pic>
      <p:pic>
        <p:nvPicPr>
          <p:cNvPr id="174" name="Mouse hypoK" descr="Cursor with solid fill">
            <a:extLst>
              <a:ext uri="{FF2B5EF4-FFF2-40B4-BE49-F238E27FC236}">
                <a16:creationId xmlns:a16="http://schemas.microsoft.com/office/drawing/2014/main" id="{D87EE5A4-E594-440E-83B8-AD433A5798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717239" y="2914291"/>
            <a:ext cx="274320" cy="274320"/>
          </a:xfrm>
          <a:prstGeom prst="rect">
            <a:avLst/>
          </a:prstGeom>
        </p:spPr>
      </p:pic>
      <p:pic>
        <p:nvPicPr>
          <p:cNvPr id="175" name="Mouse IVF" descr="Cursor with solid fill">
            <a:extLst>
              <a:ext uri="{FF2B5EF4-FFF2-40B4-BE49-F238E27FC236}">
                <a16:creationId xmlns:a16="http://schemas.microsoft.com/office/drawing/2014/main" id="{CD86A066-C918-49FC-8D71-CFF4D9D96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51527" y="4940503"/>
            <a:ext cx="274320" cy="274320"/>
          </a:xfrm>
          <a:prstGeom prst="rect">
            <a:avLst/>
          </a:prstGeom>
        </p:spPr>
      </p:pic>
      <p:sp>
        <p:nvSpPr>
          <p:cNvPr id="179" name="Rectangle 178">
            <a:extLst>
              <a:ext uri="{FF2B5EF4-FFF2-40B4-BE49-F238E27FC236}">
                <a16:creationId xmlns:a16="http://schemas.microsoft.com/office/drawing/2014/main" id="{7E489766-23AE-4976-9582-A6E9A6957995}"/>
              </a:ext>
            </a:extLst>
          </p:cNvPr>
          <p:cNvSpPr/>
          <p:nvPr/>
        </p:nvSpPr>
        <p:spPr>
          <a:xfrm>
            <a:off x="2768885" y="3144445"/>
            <a:ext cx="4238564" cy="45975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8F0B34D-17D5-4007-8FAE-CD88307453B7}"/>
              </a:ext>
            </a:extLst>
          </p:cNvPr>
          <p:cNvCxnSpPr>
            <a:cxnSpLocks/>
            <a:stCxn id="82" idx="2"/>
            <a:endCxn id="102" idx="0"/>
          </p:cNvCxnSpPr>
          <p:nvPr/>
        </p:nvCxnSpPr>
        <p:spPr>
          <a:xfrm rot="5400000">
            <a:off x="3749672" y="991861"/>
            <a:ext cx="716069" cy="1491525"/>
          </a:xfrm>
          <a:prstGeom prst="bentConnector3">
            <a:avLst>
              <a:gd name="adj1" fmla="val 4713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2ECA353-608C-42C4-853F-54EC3DBACC40}"/>
              </a:ext>
            </a:extLst>
          </p:cNvPr>
          <p:cNvCxnSpPr>
            <a:cxnSpLocks/>
            <a:stCxn id="82" idx="2"/>
            <a:endCxn id="89" idx="0"/>
          </p:cNvCxnSpPr>
          <p:nvPr/>
        </p:nvCxnSpPr>
        <p:spPr>
          <a:xfrm rot="5400000">
            <a:off x="4402117" y="1623330"/>
            <a:ext cx="695093" cy="207610"/>
          </a:xfrm>
          <a:prstGeom prst="bentConnector3">
            <a:avLst>
              <a:gd name="adj1" fmla="val 4852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0FCCEFD-DAFC-4939-9EE4-4638318ABE71}"/>
              </a:ext>
            </a:extLst>
          </p:cNvPr>
          <p:cNvCxnSpPr>
            <a:cxnSpLocks/>
            <a:stCxn id="82" idx="2"/>
            <a:endCxn id="148" idx="0"/>
          </p:cNvCxnSpPr>
          <p:nvPr/>
        </p:nvCxnSpPr>
        <p:spPr>
          <a:xfrm rot="16200000" flipH="1">
            <a:off x="5232308" y="1000748"/>
            <a:ext cx="672292" cy="14299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AC9F150-6019-4982-810F-434C8F24533C}"/>
              </a:ext>
            </a:extLst>
          </p:cNvPr>
          <p:cNvGrpSpPr/>
          <p:nvPr/>
        </p:nvGrpSpPr>
        <p:grpSpPr>
          <a:xfrm>
            <a:off x="2285089" y="85878"/>
            <a:ext cx="964142" cy="1340101"/>
            <a:chOff x="1797172" y="48863"/>
            <a:chExt cx="964142" cy="1340101"/>
          </a:xfrm>
        </p:grpSpPr>
        <p:sp>
          <p:nvSpPr>
            <p:cNvPr id="186" name="Step 1">
              <a:extLst>
                <a:ext uri="{FF2B5EF4-FFF2-40B4-BE49-F238E27FC236}">
                  <a16:creationId xmlns:a16="http://schemas.microsoft.com/office/drawing/2014/main" id="{0CC0195A-B2F3-46F7-A5D7-E3C6DA6FB349}"/>
                </a:ext>
              </a:extLst>
            </p:cNvPr>
            <p:cNvSpPr/>
            <p:nvPr/>
          </p:nvSpPr>
          <p:spPr>
            <a:xfrm>
              <a:off x="1797172" y="718913"/>
              <a:ext cx="742473" cy="28806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Step 1</a:t>
              </a:r>
            </a:p>
          </p:txBody>
        </p:sp>
        <p:sp>
          <p:nvSpPr>
            <p:cNvPr id="187" name="Left Brace 186">
              <a:extLst>
                <a:ext uri="{FF2B5EF4-FFF2-40B4-BE49-F238E27FC236}">
                  <a16:creationId xmlns:a16="http://schemas.microsoft.com/office/drawing/2014/main" id="{56A58124-964F-4213-B71A-5A0435599DBB}"/>
                </a:ext>
              </a:extLst>
            </p:cNvPr>
            <p:cNvSpPr/>
            <p:nvPr/>
          </p:nvSpPr>
          <p:spPr>
            <a:xfrm>
              <a:off x="2545961" y="48863"/>
              <a:ext cx="215353" cy="1340101"/>
            </a:xfrm>
            <a:prstGeom prst="leftBrace">
              <a:avLst>
                <a:gd name="adj1" fmla="val 0"/>
                <a:gd name="adj2" fmla="val 5935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8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E21A256F-48AD-456D-99CC-4F87DBC4F1C8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89" name="Graphic 188" descr="Cursor with solid fill">
            <a:extLst>
              <a:ext uri="{FF2B5EF4-FFF2-40B4-BE49-F238E27FC236}">
                <a16:creationId xmlns:a16="http://schemas.microsoft.com/office/drawing/2014/main" id="{B406818A-AE44-4288-9750-8E215FA53B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190" name="teachIM logo" descr="Icon&#10;&#10;Description automatically generated">
            <a:extLst>
              <a:ext uri="{FF2B5EF4-FFF2-40B4-BE49-F238E27FC236}">
                <a16:creationId xmlns:a16="http://schemas.microsoft.com/office/drawing/2014/main" id="{53754553-60ED-4F9E-A195-FC22E15E0B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3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2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5"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148" grpId="0" animBg="1"/>
      <p:bldP spid="161" grpId="0" animBg="1"/>
      <p:bldP spid="161" grpId="1" animBg="1"/>
      <p:bldP spid="162" grpId="0" animBg="1"/>
      <p:bldP spid="163" grpId="0" animBg="1"/>
      <p:bldP spid="164" grpId="0"/>
      <p:bldP spid="165" grpId="0" animBg="1"/>
      <p:bldP spid="166" grpId="0" animBg="1"/>
      <p:bldP spid="17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cidemia">
            <a:extLst>
              <a:ext uri="{FF2B5EF4-FFF2-40B4-BE49-F238E27FC236}">
                <a16:creationId xmlns:a16="http://schemas.microsoft.com/office/drawing/2014/main" id="{55CF3F88-46E7-48C0-8D4B-78F998801ABB}"/>
              </a:ext>
            </a:extLst>
          </p:cNvPr>
          <p:cNvSpPr txBox="1"/>
          <p:nvPr/>
        </p:nvSpPr>
        <p:spPr>
          <a:xfrm>
            <a:off x="3233279" y="1987132"/>
            <a:ext cx="1069394" cy="33855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Acidemia</a:t>
            </a:r>
          </a:p>
        </p:txBody>
      </p:sp>
      <p:sp>
        <p:nvSpPr>
          <p:cNvPr id="36" name="Alkalemia">
            <a:extLst>
              <a:ext uri="{FF2B5EF4-FFF2-40B4-BE49-F238E27FC236}">
                <a16:creationId xmlns:a16="http://schemas.microsoft.com/office/drawing/2014/main" id="{DAC79135-CC00-4EB6-8FFC-288CD2354BFE}"/>
              </a:ext>
            </a:extLst>
          </p:cNvPr>
          <p:cNvSpPr txBox="1"/>
          <p:nvPr/>
        </p:nvSpPr>
        <p:spPr>
          <a:xfrm>
            <a:off x="9491385" y="1985343"/>
            <a:ext cx="1029699" cy="33855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Alkalemia</a:t>
            </a:r>
          </a:p>
        </p:txBody>
      </p:sp>
      <p:sp>
        <p:nvSpPr>
          <p:cNvPr id="37" name="Normal pH">
            <a:extLst>
              <a:ext uri="{FF2B5EF4-FFF2-40B4-BE49-F238E27FC236}">
                <a16:creationId xmlns:a16="http://schemas.microsoft.com/office/drawing/2014/main" id="{641E08AD-540E-4D44-9D52-6C56C2A16812}"/>
              </a:ext>
            </a:extLst>
          </p:cNvPr>
          <p:cNvSpPr txBox="1"/>
          <p:nvPr/>
        </p:nvSpPr>
        <p:spPr>
          <a:xfrm>
            <a:off x="6260406" y="1988390"/>
            <a:ext cx="1387125" cy="33855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Normal pH</a:t>
            </a:r>
          </a:p>
        </p:txBody>
      </p:sp>
      <p:grpSp>
        <p:nvGrpSpPr>
          <p:cNvPr id="106" name="Metabolic acidosis">
            <a:extLst>
              <a:ext uri="{FF2B5EF4-FFF2-40B4-BE49-F238E27FC236}">
                <a16:creationId xmlns:a16="http://schemas.microsoft.com/office/drawing/2014/main" id="{F2F890FB-29DE-4686-8300-B87E57F511B5}"/>
              </a:ext>
            </a:extLst>
          </p:cNvPr>
          <p:cNvGrpSpPr/>
          <p:nvPr/>
        </p:nvGrpSpPr>
        <p:grpSpPr>
          <a:xfrm>
            <a:off x="2143559" y="2325686"/>
            <a:ext cx="1624417" cy="1105456"/>
            <a:chOff x="2063098" y="2187190"/>
            <a:chExt cx="1866792" cy="1105456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A7EB13E-E8B7-4D2D-B440-375309D41F60}"/>
                </a:ext>
              </a:extLst>
            </p:cNvPr>
            <p:cNvCxnSpPr>
              <a:cxnSpLocks/>
              <a:stCxn id="35" idx="2"/>
              <a:endCxn id="40" idx="0"/>
            </p:cNvCxnSpPr>
            <p:nvPr/>
          </p:nvCxnSpPr>
          <p:spPr>
            <a:xfrm flipH="1">
              <a:off x="2735811" y="2187190"/>
              <a:ext cx="1194079" cy="730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537A3B6-8D4B-4FDB-91FA-74997FADBD82}"/>
                </a:ext>
              </a:extLst>
            </p:cNvPr>
            <p:cNvSpPr txBox="1"/>
            <p:nvPr/>
          </p:nvSpPr>
          <p:spPr>
            <a:xfrm>
              <a:off x="2063098" y="2918075"/>
              <a:ext cx="1345425" cy="374571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Metabolic</a:t>
              </a:r>
            </a:p>
          </p:txBody>
        </p:sp>
      </p:grpSp>
      <p:grpSp>
        <p:nvGrpSpPr>
          <p:cNvPr id="108" name="Respiratory acidosis">
            <a:extLst>
              <a:ext uri="{FF2B5EF4-FFF2-40B4-BE49-F238E27FC236}">
                <a16:creationId xmlns:a16="http://schemas.microsoft.com/office/drawing/2014/main" id="{E51EEBA3-B3BA-4729-A05A-A69B591CF7B4}"/>
              </a:ext>
            </a:extLst>
          </p:cNvPr>
          <p:cNvGrpSpPr/>
          <p:nvPr/>
        </p:nvGrpSpPr>
        <p:grpSpPr>
          <a:xfrm>
            <a:off x="3767976" y="2325686"/>
            <a:ext cx="1771348" cy="1096856"/>
            <a:chOff x="3528696" y="2388667"/>
            <a:chExt cx="1591577" cy="105354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B64D78-81A4-4F24-BA7B-151798F90EFF}"/>
                </a:ext>
              </a:extLst>
            </p:cNvPr>
            <p:cNvSpPr txBox="1"/>
            <p:nvPr/>
          </p:nvSpPr>
          <p:spPr>
            <a:xfrm>
              <a:off x="4009129" y="3067639"/>
              <a:ext cx="1111144" cy="374571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Respiratory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829FF93-80DF-460C-A33C-39FBB291459F}"/>
                </a:ext>
              </a:extLst>
            </p:cNvPr>
            <p:cNvCxnSpPr>
              <a:cxnSpLocks/>
              <a:stCxn id="35" idx="2"/>
              <a:endCxn id="41" idx="0"/>
            </p:cNvCxnSpPr>
            <p:nvPr/>
          </p:nvCxnSpPr>
          <p:spPr>
            <a:xfrm>
              <a:off x="3528696" y="2388667"/>
              <a:ext cx="1036006" cy="6789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1" name="Metabolic alkalosis">
            <a:extLst>
              <a:ext uri="{FF2B5EF4-FFF2-40B4-BE49-F238E27FC236}">
                <a16:creationId xmlns:a16="http://schemas.microsoft.com/office/drawing/2014/main" id="{00E00584-8407-4A7E-B275-6D2CDF080AAC}"/>
              </a:ext>
            </a:extLst>
          </p:cNvPr>
          <p:cNvGrpSpPr/>
          <p:nvPr/>
        </p:nvGrpSpPr>
        <p:grpSpPr>
          <a:xfrm>
            <a:off x="10006235" y="2323897"/>
            <a:ext cx="1624988" cy="1101772"/>
            <a:chOff x="7553022" y="2290457"/>
            <a:chExt cx="2067384" cy="1181984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5669D7B-1903-4176-BCC2-B8C60610FBA3}"/>
                </a:ext>
              </a:extLst>
            </p:cNvPr>
            <p:cNvCxnSpPr>
              <a:cxnSpLocks/>
              <a:stCxn id="36" idx="2"/>
              <a:endCxn id="44" idx="0"/>
            </p:cNvCxnSpPr>
            <p:nvPr/>
          </p:nvCxnSpPr>
          <p:spPr>
            <a:xfrm>
              <a:off x="7553022" y="2290457"/>
              <a:ext cx="1375237" cy="780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Metabolic alkalosis">
              <a:extLst>
                <a:ext uri="{FF2B5EF4-FFF2-40B4-BE49-F238E27FC236}">
                  <a16:creationId xmlns:a16="http://schemas.microsoft.com/office/drawing/2014/main" id="{48F12AF3-D3FD-4756-A446-5688F6652658}"/>
                </a:ext>
              </a:extLst>
            </p:cNvPr>
            <p:cNvSpPr txBox="1"/>
            <p:nvPr/>
          </p:nvSpPr>
          <p:spPr>
            <a:xfrm>
              <a:off x="8236111" y="3070601"/>
              <a:ext cx="1384295" cy="401840"/>
            </a:xfrm>
            <a:prstGeom prst="roundRect">
              <a:avLst/>
            </a:prstGeom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Metabolic</a:t>
              </a:r>
            </a:p>
          </p:txBody>
        </p:sp>
      </p:grpSp>
      <p:grpSp>
        <p:nvGrpSpPr>
          <p:cNvPr id="115" name="Respiratory alkalosis">
            <a:extLst>
              <a:ext uri="{FF2B5EF4-FFF2-40B4-BE49-F238E27FC236}">
                <a16:creationId xmlns:a16="http://schemas.microsoft.com/office/drawing/2014/main" id="{3F1BCA89-E9BF-43A6-BBA2-B7968522A41A}"/>
              </a:ext>
            </a:extLst>
          </p:cNvPr>
          <p:cNvGrpSpPr/>
          <p:nvPr/>
        </p:nvGrpSpPr>
        <p:grpSpPr>
          <a:xfrm>
            <a:off x="8318989" y="2323897"/>
            <a:ext cx="1687244" cy="1105533"/>
            <a:chOff x="10913803" y="2298679"/>
            <a:chExt cx="1919983" cy="109346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52B25A4-5C7C-4D72-AE2D-56B1754490BA}"/>
                </a:ext>
              </a:extLst>
            </p:cNvPr>
            <p:cNvSpPr txBox="1"/>
            <p:nvPr/>
          </p:nvSpPr>
          <p:spPr>
            <a:xfrm>
              <a:off x="10913803" y="3021661"/>
              <a:ext cx="1337791" cy="370482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Respiratory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D790124-91D0-45BC-A3E5-E02CE2E19CF9}"/>
                </a:ext>
              </a:extLst>
            </p:cNvPr>
            <p:cNvCxnSpPr>
              <a:cxnSpLocks/>
              <a:stCxn id="36" idx="2"/>
              <a:endCxn id="45" idx="0"/>
            </p:cNvCxnSpPr>
            <p:nvPr/>
          </p:nvCxnSpPr>
          <p:spPr>
            <a:xfrm flipH="1">
              <a:off x="11582699" y="2298679"/>
              <a:ext cx="1251087" cy="722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" name="Normal pH explanation">
            <a:extLst>
              <a:ext uri="{FF2B5EF4-FFF2-40B4-BE49-F238E27FC236}">
                <a16:creationId xmlns:a16="http://schemas.microsoft.com/office/drawing/2014/main" id="{148AF26A-AC59-428C-8FDA-40F94784D6EE}"/>
              </a:ext>
            </a:extLst>
          </p:cNvPr>
          <p:cNvGrpSpPr/>
          <p:nvPr/>
        </p:nvGrpSpPr>
        <p:grpSpPr>
          <a:xfrm>
            <a:off x="6087145" y="2326944"/>
            <a:ext cx="1740888" cy="1129544"/>
            <a:chOff x="6210095" y="2326944"/>
            <a:chExt cx="1936579" cy="1129544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A92C783-AD87-4E06-8B3D-B20A91DDC46C}"/>
                </a:ext>
              </a:extLst>
            </p:cNvPr>
            <p:cNvCxnSpPr>
              <a:cxnSpLocks/>
              <a:stCxn id="37" idx="2"/>
              <a:endCxn id="48" idx="0"/>
            </p:cNvCxnSpPr>
            <p:nvPr/>
          </p:nvCxnSpPr>
          <p:spPr>
            <a:xfrm>
              <a:off x="7174358" y="2326944"/>
              <a:ext cx="4027" cy="2985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5C45BC3-D9DD-44F7-8958-C89ABEE303CB}"/>
                </a:ext>
              </a:extLst>
            </p:cNvPr>
            <p:cNvSpPr txBox="1"/>
            <p:nvPr/>
          </p:nvSpPr>
          <p:spPr>
            <a:xfrm>
              <a:off x="6210095" y="2625491"/>
              <a:ext cx="1936579" cy="8309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Look for mixed or compensated </a:t>
              </a:r>
            </a:p>
            <a:p>
              <a:pPr algn="ctr"/>
              <a:r>
                <a:rPr lang="en-US" sz="1600" dirty="0"/>
                <a:t>acid-base disorder 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E3873906-5AD0-436A-AEB9-8F2EF1815BBD}"/>
              </a:ext>
            </a:extLst>
          </p:cNvPr>
          <p:cNvSpPr txBox="1"/>
          <p:nvPr/>
        </p:nvSpPr>
        <p:spPr>
          <a:xfrm rot="16200000">
            <a:off x="824005" y="2269237"/>
            <a:ext cx="2035840" cy="33855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PRIMARY PROCESS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DEA0BC-32C0-460A-9321-D95A5B248DC1}"/>
              </a:ext>
            </a:extLst>
          </p:cNvPr>
          <p:cNvSpPr txBox="1"/>
          <p:nvPr/>
        </p:nvSpPr>
        <p:spPr>
          <a:xfrm rot="16200000">
            <a:off x="457887" y="4859392"/>
            <a:ext cx="1939788" cy="33855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COMPENSATION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7B34289-2394-44E6-8BE8-3FBF29DFE32F}"/>
              </a:ext>
            </a:extLst>
          </p:cNvPr>
          <p:cNvCxnSpPr>
            <a:cxnSpLocks/>
            <a:endCxn id="36" idx="2"/>
          </p:cNvCxnSpPr>
          <p:nvPr/>
        </p:nvCxnSpPr>
        <p:spPr>
          <a:xfrm flipH="1" flipV="1">
            <a:off x="10006235" y="2323897"/>
            <a:ext cx="16909" cy="4436068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3DEAEC6-198D-4459-9630-5452FDCFA24E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3716979" y="2325686"/>
            <a:ext cx="50997" cy="4434279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13A0D94-EE85-4A9D-836A-77C5693513B0}"/>
              </a:ext>
            </a:extLst>
          </p:cNvPr>
          <p:cNvGrpSpPr/>
          <p:nvPr/>
        </p:nvGrpSpPr>
        <p:grpSpPr>
          <a:xfrm>
            <a:off x="1925199" y="537587"/>
            <a:ext cx="3047285" cy="747491"/>
            <a:chOff x="4033516" y="708983"/>
            <a:chExt cx="3389827" cy="747491"/>
          </a:xfrm>
          <a:effectLst/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2643373-0228-463D-908E-E31997EF1FF9}"/>
                </a:ext>
              </a:extLst>
            </p:cNvPr>
            <p:cNvGrpSpPr/>
            <p:nvPr/>
          </p:nvGrpSpPr>
          <p:grpSpPr>
            <a:xfrm>
              <a:off x="4791070" y="884303"/>
              <a:ext cx="2213044" cy="392767"/>
              <a:chOff x="4791070" y="884303"/>
              <a:chExt cx="2213044" cy="392767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BEE782F-86DA-42D2-8D8B-627EE4BF36AC}"/>
                  </a:ext>
                </a:extLst>
              </p:cNvPr>
              <p:cNvSpPr/>
              <p:nvPr/>
            </p:nvSpPr>
            <p:spPr>
              <a:xfrm>
                <a:off x="5496239" y="1060563"/>
                <a:ext cx="650556" cy="636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76A3D8D-5711-47F2-8AB5-1AE34F1572A5}"/>
                  </a:ext>
                </a:extLst>
              </p:cNvPr>
              <p:cNvSpPr txBox="1"/>
              <p:nvPr/>
            </p:nvSpPr>
            <p:spPr>
              <a:xfrm>
                <a:off x="4791070" y="907738"/>
                <a:ext cx="7462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PCO</a:t>
                </a:r>
                <a:r>
                  <a:rPr lang="en-US" baseline="-25000" dirty="0"/>
                  <a:t>2</a:t>
                </a:r>
                <a:endParaRPr lang="en-US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8B2170-1C97-41A2-9973-3FFE5E449F9B}"/>
                  </a:ext>
                </a:extLst>
              </p:cNvPr>
              <p:cNvSpPr txBox="1"/>
              <p:nvPr/>
            </p:nvSpPr>
            <p:spPr>
              <a:xfrm>
                <a:off x="6146796" y="884303"/>
                <a:ext cx="8573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HCO</a:t>
                </a:r>
                <a:r>
                  <a:rPr lang="en-US" baseline="-25000" dirty="0"/>
                  <a:t>3</a:t>
                </a:r>
                <a:r>
                  <a:rPr lang="en-US" baseline="30000" dirty="0"/>
                  <a:t>-</a:t>
                </a:r>
                <a:endParaRPr lang="en-US" dirty="0"/>
              </a:p>
            </p:txBody>
          </p:sp>
        </p:grp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1F68D00-1D65-4A66-B58B-7D5DB1FCE4C0}"/>
                </a:ext>
              </a:extLst>
            </p:cNvPr>
            <p:cNvSpPr/>
            <p:nvPr/>
          </p:nvSpPr>
          <p:spPr>
            <a:xfrm>
              <a:off x="4288504" y="708983"/>
              <a:ext cx="271242" cy="314603"/>
            </a:xfrm>
            <a:custGeom>
              <a:avLst/>
              <a:gdLst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505317 w 978822"/>
                <a:gd name="connsiteY8" fmla="*/ 952615 h 1318434"/>
                <a:gd name="connsiteX9" fmla="*/ 520557 w 978822"/>
                <a:gd name="connsiteY9" fmla="*/ 967855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505317 w 978822"/>
                <a:gd name="connsiteY8" fmla="*/ 952615 h 1318434"/>
                <a:gd name="connsiteX9" fmla="*/ 496173 w 978822"/>
                <a:gd name="connsiteY9" fmla="*/ 967855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505317 w 978822"/>
                <a:gd name="connsiteY8" fmla="*/ 952615 h 1318434"/>
                <a:gd name="connsiteX9" fmla="*/ 551037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551037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551037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551037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557133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703437 w 978822"/>
                <a:gd name="connsiteY9" fmla="*/ 1165975 h 1318434"/>
                <a:gd name="connsiteX10" fmla="*/ 840597 w 978822"/>
                <a:gd name="connsiteY10" fmla="*/ 1318375 h 1318434"/>
                <a:gd name="connsiteX11" fmla="*/ 977757 w 978822"/>
                <a:gd name="connsiteY11" fmla="*/ 1181215 h 1318434"/>
                <a:gd name="connsiteX12" fmla="*/ 764397 w 978822"/>
                <a:gd name="connsiteY12" fmla="*/ 952615 h 1318434"/>
                <a:gd name="connsiteX13" fmla="*/ 642477 w 978822"/>
                <a:gd name="connsiteY13" fmla="*/ 800215 h 1318434"/>
                <a:gd name="connsiteX14" fmla="*/ 596757 w 978822"/>
                <a:gd name="connsiteY14" fmla="*/ 647815 h 1318434"/>
                <a:gd name="connsiteX15" fmla="*/ 581517 w 978822"/>
                <a:gd name="connsiteY15" fmla="*/ 205855 h 1318434"/>
                <a:gd name="connsiteX16" fmla="*/ 566277 w 978822"/>
                <a:gd name="connsiteY16" fmla="*/ 53455 h 1318434"/>
                <a:gd name="connsiteX17" fmla="*/ 505317 w 978822"/>
                <a:gd name="connsiteY17" fmla="*/ 7735 h 1318434"/>
                <a:gd name="connsiteX18" fmla="*/ 413877 w 978822"/>
                <a:gd name="connsiteY18" fmla="*/ 7735 h 1318434"/>
                <a:gd name="connsiteX19" fmla="*/ 368157 w 978822"/>
                <a:gd name="connsiteY19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703437 w 978822"/>
                <a:gd name="connsiteY9" fmla="*/ 1165975 h 1318434"/>
                <a:gd name="connsiteX10" fmla="*/ 840597 w 978822"/>
                <a:gd name="connsiteY10" fmla="*/ 1318375 h 1318434"/>
                <a:gd name="connsiteX11" fmla="*/ 977757 w 978822"/>
                <a:gd name="connsiteY11" fmla="*/ 1181215 h 1318434"/>
                <a:gd name="connsiteX12" fmla="*/ 764397 w 978822"/>
                <a:gd name="connsiteY12" fmla="*/ 952615 h 1318434"/>
                <a:gd name="connsiteX13" fmla="*/ 642477 w 978822"/>
                <a:gd name="connsiteY13" fmla="*/ 800215 h 1318434"/>
                <a:gd name="connsiteX14" fmla="*/ 596757 w 978822"/>
                <a:gd name="connsiteY14" fmla="*/ 647815 h 1318434"/>
                <a:gd name="connsiteX15" fmla="*/ 581517 w 978822"/>
                <a:gd name="connsiteY15" fmla="*/ 205855 h 1318434"/>
                <a:gd name="connsiteX16" fmla="*/ 566277 w 978822"/>
                <a:gd name="connsiteY16" fmla="*/ 53455 h 1318434"/>
                <a:gd name="connsiteX17" fmla="*/ 505317 w 978822"/>
                <a:gd name="connsiteY17" fmla="*/ 7735 h 1318434"/>
                <a:gd name="connsiteX18" fmla="*/ 413877 w 978822"/>
                <a:gd name="connsiteY18" fmla="*/ 7735 h 1318434"/>
                <a:gd name="connsiteX19" fmla="*/ 368157 w 978822"/>
                <a:gd name="connsiteY19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703437 w 978822"/>
                <a:gd name="connsiteY9" fmla="*/ 1165975 h 1318434"/>
                <a:gd name="connsiteX10" fmla="*/ 840597 w 978822"/>
                <a:gd name="connsiteY10" fmla="*/ 1318375 h 1318434"/>
                <a:gd name="connsiteX11" fmla="*/ 977757 w 978822"/>
                <a:gd name="connsiteY11" fmla="*/ 1181215 h 1318434"/>
                <a:gd name="connsiteX12" fmla="*/ 764397 w 978822"/>
                <a:gd name="connsiteY12" fmla="*/ 952615 h 1318434"/>
                <a:gd name="connsiteX13" fmla="*/ 642477 w 978822"/>
                <a:gd name="connsiteY13" fmla="*/ 800215 h 1318434"/>
                <a:gd name="connsiteX14" fmla="*/ 596757 w 978822"/>
                <a:gd name="connsiteY14" fmla="*/ 647815 h 1318434"/>
                <a:gd name="connsiteX15" fmla="*/ 581517 w 978822"/>
                <a:gd name="connsiteY15" fmla="*/ 205855 h 1318434"/>
                <a:gd name="connsiteX16" fmla="*/ 566277 w 978822"/>
                <a:gd name="connsiteY16" fmla="*/ 53455 h 1318434"/>
                <a:gd name="connsiteX17" fmla="*/ 505317 w 978822"/>
                <a:gd name="connsiteY17" fmla="*/ 7735 h 1318434"/>
                <a:gd name="connsiteX18" fmla="*/ 413877 w 978822"/>
                <a:gd name="connsiteY18" fmla="*/ 7735 h 1318434"/>
                <a:gd name="connsiteX19" fmla="*/ 368157 w 978822"/>
                <a:gd name="connsiteY19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55965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703437 w 978822"/>
                <a:gd name="connsiteY9" fmla="*/ 1165975 h 1318434"/>
                <a:gd name="connsiteX10" fmla="*/ 840597 w 978822"/>
                <a:gd name="connsiteY10" fmla="*/ 1318375 h 1318434"/>
                <a:gd name="connsiteX11" fmla="*/ 977757 w 978822"/>
                <a:gd name="connsiteY11" fmla="*/ 1181215 h 1318434"/>
                <a:gd name="connsiteX12" fmla="*/ 764397 w 978822"/>
                <a:gd name="connsiteY12" fmla="*/ 952615 h 1318434"/>
                <a:gd name="connsiteX13" fmla="*/ 642477 w 978822"/>
                <a:gd name="connsiteY13" fmla="*/ 800215 h 1318434"/>
                <a:gd name="connsiteX14" fmla="*/ 596757 w 978822"/>
                <a:gd name="connsiteY14" fmla="*/ 647815 h 1318434"/>
                <a:gd name="connsiteX15" fmla="*/ 581517 w 978822"/>
                <a:gd name="connsiteY15" fmla="*/ 205855 h 1318434"/>
                <a:gd name="connsiteX16" fmla="*/ 566277 w 978822"/>
                <a:gd name="connsiteY16" fmla="*/ 53455 h 1318434"/>
                <a:gd name="connsiteX17" fmla="*/ 505317 w 978822"/>
                <a:gd name="connsiteY17" fmla="*/ 7735 h 1318434"/>
                <a:gd name="connsiteX18" fmla="*/ 413877 w 978822"/>
                <a:gd name="connsiteY18" fmla="*/ 7735 h 1318434"/>
                <a:gd name="connsiteX19" fmla="*/ 368157 w 978822"/>
                <a:gd name="connsiteY19" fmla="*/ 83935 h 1318434"/>
                <a:gd name="connsiteX0" fmla="*/ 375902 w 986567"/>
                <a:gd name="connsiteY0" fmla="*/ 83935 h 1318434"/>
                <a:gd name="connsiteX1" fmla="*/ 375902 w 986567"/>
                <a:gd name="connsiteY1" fmla="*/ 647815 h 1318434"/>
                <a:gd name="connsiteX2" fmla="*/ 363710 w 986567"/>
                <a:gd name="connsiteY2" fmla="*/ 784975 h 1318434"/>
                <a:gd name="connsiteX3" fmla="*/ 269222 w 986567"/>
                <a:gd name="connsiteY3" fmla="*/ 937375 h 1318434"/>
                <a:gd name="connsiteX4" fmla="*/ 16238 w 986567"/>
                <a:gd name="connsiteY4" fmla="*/ 1059295 h 1318434"/>
                <a:gd name="connsiteX5" fmla="*/ 25382 w 986567"/>
                <a:gd name="connsiteY5" fmla="*/ 1196455 h 1318434"/>
                <a:gd name="connsiteX6" fmla="*/ 25382 w 986567"/>
                <a:gd name="connsiteY6" fmla="*/ 1242175 h 1318434"/>
                <a:gd name="connsiteX7" fmla="*/ 238742 w 986567"/>
                <a:gd name="connsiteY7" fmla="*/ 1196455 h 1318434"/>
                <a:gd name="connsiteX8" fmla="*/ 506966 w 986567"/>
                <a:gd name="connsiteY8" fmla="*/ 952615 h 1318434"/>
                <a:gd name="connsiteX9" fmla="*/ 711182 w 986567"/>
                <a:gd name="connsiteY9" fmla="*/ 1165975 h 1318434"/>
                <a:gd name="connsiteX10" fmla="*/ 848342 w 986567"/>
                <a:gd name="connsiteY10" fmla="*/ 1318375 h 1318434"/>
                <a:gd name="connsiteX11" fmla="*/ 985502 w 986567"/>
                <a:gd name="connsiteY11" fmla="*/ 1181215 h 1318434"/>
                <a:gd name="connsiteX12" fmla="*/ 772142 w 986567"/>
                <a:gd name="connsiteY12" fmla="*/ 952615 h 1318434"/>
                <a:gd name="connsiteX13" fmla="*/ 650222 w 986567"/>
                <a:gd name="connsiteY13" fmla="*/ 800215 h 1318434"/>
                <a:gd name="connsiteX14" fmla="*/ 604502 w 986567"/>
                <a:gd name="connsiteY14" fmla="*/ 647815 h 1318434"/>
                <a:gd name="connsiteX15" fmla="*/ 589262 w 986567"/>
                <a:gd name="connsiteY15" fmla="*/ 205855 h 1318434"/>
                <a:gd name="connsiteX16" fmla="*/ 574022 w 986567"/>
                <a:gd name="connsiteY16" fmla="*/ 53455 h 1318434"/>
                <a:gd name="connsiteX17" fmla="*/ 513062 w 986567"/>
                <a:gd name="connsiteY17" fmla="*/ 7735 h 1318434"/>
                <a:gd name="connsiteX18" fmla="*/ 421622 w 986567"/>
                <a:gd name="connsiteY18" fmla="*/ 7735 h 1318434"/>
                <a:gd name="connsiteX19" fmla="*/ 375902 w 986567"/>
                <a:gd name="connsiteY19" fmla="*/ 83935 h 1318434"/>
                <a:gd name="connsiteX0" fmla="*/ 370978 w 981643"/>
                <a:gd name="connsiteY0" fmla="*/ 83935 h 1318434"/>
                <a:gd name="connsiteX1" fmla="*/ 370978 w 981643"/>
                <a:gd name="connsiteY1" fmla="*/ 647815 h 1318434"/>
                <a:gd name="connsiteX2" fmla="*/ 358786 w 981643"/>
                <a:gd name="connsiteY2" fmla="*/ 784975 h 1318434"/>
                <a:gd name="connsiteX3" fmla="*/ 264298 w 981643"/>
                <a:gd name="connsiteY3" fmla="*/ 937375 h 1318434"/>
                <a:gd name="connsiteX4" fmla="*/ 17410 w 981643"/>
                <a:gd name="connsiteY4" fmla="*/ 1108063 h 1318434"/>
                <a:gd name="connsiteX5" fmla="*/ 20458 w 981643"/>
                <a:gd name="connsiteY5" fmla="*/ 1196455 h 1318434"/>
                <a:gd name="connsiteX6" fmla="*/ 20458 w 981643"/>
                <a:gd name="connsiteY6" fmla="*/ 1242175 h 1318434"/>
                <a:gd name="connsiteX7" fmla="*/ 233818 w 981643"/>
                <a:gd name="connsiteY7" fmla="*/ 1196455 h 1318434"/>
                <a:gd name="connsiteX8" fmla="*/ 502042 w 981643"/>
                <a:gd name="connsiteY8" fmla="*/ 952615 h 1318434"/>
                <a:gd name="connsiteX9" fmla="*/ 706258 w 981643"/>
                <a:gd name="connsiteY9" fmla="*/ 1165975 h 1318434"/>
                <a:gd name="connsiteX10" fmla="*/ 843418 w 981643"/>
                <a:gd name="connsiteY10" fmla="*/ 1318375 h 1318434"/>
                <a:gd name="connsiteX11" fmla="*/ 980578 w 981643"/>
                <a:gd name="connsiteY11" fmla="*/ 1181215 h 1318434"/>
                <a:gd name="connsiteX12" fmla="*/ 767218 w 981643"/>
                <a:gd name="connsiteY12" fmla="*/ 952615 h 1318434"/>
                <a:gd name="connsiteX13" fmla="*/ 645298 w 981643"/>
                <a:gd name="connsiteY13" fmla="*/ 800215 h 1318434"/>
                <a:gd name="connsiteX14" fmla="*/ 599578 w 981643"/>
                <a:gd name="connsiteY14" fmla="*/ 647815 h 1318434"/>
                <a:gd name="connsiteX15" fmla="*/ 584338 w 981643"/>
                <a:gd name="connsiteY15" fmla="*/ 205855 h 1318434"/>
                <a:gd name="connsiteX16" fmla="*/ 569098 w 981643"/>
                <a:gd name="connsiteY16" fmla="*/ 53455 h 1318434"/>
                <a:gd name="connsiteX17" fmla="*/ 508138 w 981643"/>
                <a:gd name="connsiteY17" fmla="*/ 7735 h 1318434"/>
                <a:gd name="connsiteX18" fmla="*/ 416698 w 981643"/>
                <a:gd name="connsiteY18" fmla="*/ 7735 h 1318434"/>
                <a:gd name="connsiteX19" fmla="*/ 370978 w 981643"/>
                <a:gd name="connsiteY19" fmla="*/ 83935 h 1318434"/>
                <a:gd name="connsiteX0" fmla="*/ 375902 w 986567"/>
                <a:gd name="connsiteY0" fmla="*/ 83935 h 1318434"/>
                <a:gd name="connsiteX1" fmla="*/ 375902 w 986567"/>
                <a:gd name="connsiteY1" fmla="*/ 647815 h 1318434"/>
                <a:gd name="connsiteX2" fmla="*/ 363710 w 986567"/>
                <a:gd name="connsiteY2" fmla="*/ 784975 h 1318434"/>
                <a:gd name="connsiteX3" fmla="*/ 269222 w 986567"/>
                <a:gd name="connsiteY3" fmla="*/ 937375 h 1318434"/>
                <a:gd name="connsiteX4" fmla="*/ 16238 w 986567"/>
                <a:gd name="connsiteY4" fmla="*/ 1108063 h 1318434"/>
                <a:gd name="connsiteX5" fmla="*/ 25382 w 986567"/>
                <a:gd name="connsiteY5" fmla="*/ 1196455 h 1318434"/>
                <a:gd name="connsiteX6" fmla="*/ 25382 w 986567"/>
                <a:gd name="connsiteY6" fmla="*/ 1242175 h 1318434"/>
                <a:gd name="connsiteX7" fmla="*/ 238742 w 986567"/>
                <a:gd name="connsiteY7" fmla="*/ 1196455 h 1318434"/>
                <a:gd name="connsiteX8" fmla="*/ 506966 w 986567"/>
                <a:gd name="connsiteY8" fmla="*/ 952615 h 1318434"/>
                <a:gd name="connsiteX9" fmla="*/ 711182 w 986567"/>
                <a:gd name="connsiteY9" fmla="*/ 1165975 h 1318434"/>
                <a:gd name="connsiteX10" fmla="*/ 848342 w 986567"/>
                <a:gd name="connsiteY10" fmla="*/ 1318375 h 1318434"/>
                <a:gd name="connsiteX11" fmla="*/ 985502 w 986567"/>
                <a:gd name="connsiteY11" fmla="*/ 1181215 h 1318434"/>
                <a:gd name="connsiteX12" fmla="*/ 772142 w 986567"/>
                <a:gd name="connsiteY12" fmla="*/ 952615 h 1318434"/>
                <a:gd name="connsiteX13" fmla="*/ 650222 w 986567"/>
                <a:gd name="connsiteY13" fmla="*/ 800215 h 1318434"/>
                <a:gd name="connsiteX14" fmla="*/ 604502 w 986567"/>
                <a:gd name="connsiteY14" fmla="*/ 647815 h 1318434"/>
                <a:gd name="connsiteX15" fmla="*/ 589262 w 986567"/>
                <a:gd name="connsiteY15" fmla="*/ 205855 h 1318434"/>
                <a:gd name="connsiteX16" fmla="*/ 574022 w 986567"/>
                <a:gd name="connsiteY16" fmla="*/ 53455 h 1318434"/>
                <a:gd name="connsiteX17" fmla="*/ 513062 w 986567"/>
                <a:gd name="connsiteY17" fmla="*/ 7735 h 1318434"/>
                <a:gd name="connsiteX18" fmla="*/ 421622 w 986567"/>
                <a:gd name="connsiteY18" fmla="*/ 7735 h 1318434"/>
                <a:gd name="connsiteX19" fmla="*/ 375902 w 986567"/>
                <a:gd name="connsiteY19" fmla="*/ 83935 h 1318434"/>
                <a:gd name="connsiteX0" fmla="*/ 376678 w 987343"/>
                <a:gd name="connsiteY0" fmla="*/ 83935 h 1318434"/>
                <a:gd name="connsiteX1" fmla="*/ 376678 w 987343"/>
                <a:gd name="connsiteY1" fmla="*/ 647815 h 1318434"/>
                <a:gd name="connsiteX2" fmla="*/ 364486 w 987343"/>
                <a:gd name="connsiteY2" fmla="*/ 784975 h 1318434"/>
                <a:gd name="connsiteX3" fmla="*/ 269998 w 987343"/>
                <a:gd name="connsiteY3" fmla="*/ 937375 h 1318434"/>
                <a:gd name="connsiteX4" fmla="*/ 17014 w 987343"/>
                <a:gd name="connsiteY4" fmla="*/ 1108063 h 1318434"/>
                <a:gd name="connsiteX5" fmla="*/ 26158 w 987343"/>
                <a:gd name="connsiteY5" fmla="*/ 1196455 h 1318434"/>
                <a:gd name="connsiteX6" fmla="*/ 50542 w 987343"/>
                <a:gd name="connsiteY6" fmla="*/ 1248271 h 1318434"/>
                <a:gd name="connsiteX7" fmla="*/ 239518 w 987343"/>
                <a:gd name="connsiteY7" fmla="*/ 1196455 h 1318434"/>
                <a:gd name="connsiteX8" fmla="*/ 507742 w 987343"/>
                <a:gd name="connsiteY8" fmla="*/ 952615 h 1318434"/>
                <a:gd name="connsiteX9" fmla="*/ 711958 w 987343"/>
                <a:gd name="connsiteY9" fmla="*/ 1165975 h 1318434"/>
                <a:gd name="connsiteX10" fmla="*/ 849118 w 987343"/>
                <a:gd name="connsiteY10" fmla="*/ 1318375 h 1318434"/>
                <a:gd name="connsiteX11" fmla="*/ 986278 w 987343"/>
                <a:gd name="connsiteY11" fmla="*/ 1181215 h 1318434"/>
                <a:gd name="connsiteX12" fmla="*/ 772918 w 987343"/>
                <a:gd name="connsiteY12" fmla="*/ 952615 h 1318434"/>
                <a:gd name="connsiteX13" fmla="*/ 650998 w 987343"/>
                <a:gd name="connsiteY13" fmla="*/ 800215 h 1318434"/>
                <a:gd name="connsiteX14" fmla="*/ 605278 w 987343"/>
                <a:gd name="connsiteY14" fmla="*/ 647815 h 1318434"/>
                <a:gd name="connsiteX15" fmla="*/ 590038 w 987343"/>
                <a:gd name="connsiteY15" fmla="*/ 205855 h 1318434"/>
                <a:gd name="connsiteX16" fmla="*/ 574798 w 987343"/>
                <a:gd name="connsiteY16" fmla="*/ 53455 h 1318434"/>
                <a:gd name="connsiteX17" fmla="*/ 513838 w 987343"/>
                <a:gd name="connsiteY17" fmla="*/ 7735 h 1318434"/>
                <a:gd name="connsiteX18" fmla="*/ 422398 w 987343"/>
                <a:gd name="connsiteY18" fmla="*/ 7735 h 1318434"/>
                <a:gd name="connsiteX19" fmla="*/ 376678 w 987343"/>
                <a:gd name="connsiteY19" fmla="*/ 83935 h 1318434"/>
                <a:gd name="connsiteX0" fmla="*/ 376678 w 987343"/>
                <a:gd name="connsiteY0" fmla="*/ 83935 h 1318434"/>
                <a:gd name="connsiteX1" fmla="*/ 376678 w 987343"/>
                <a:gd name="connsiteY1" fmla="*/ 647815 h 1318434"/>
                <a:gd name="connsiteX2" fmla="*/ 364486 w 987343"/>
                <a:gd name="connsiteY2" fmla="*/ 784975 h 1318434"/>
                <a:gd name="connsiteX3" fmla="*/ 269998 w 987343"/>
                <a:gd name="connsiteY3" fmla="*/ 937375 h 1318434"/>
                <a:gd name="connsiteX4" fmla="*/ 17014 w 987343"/>
                <a:gd name="connsiteY4" fmla="*/ 1108063 h 1318434"/>
                <a:gd name="connsiteX5" fmla="*/ 26158 w 987343"/>
                <a:gd name="connsiteY5" fmla="*/ 1196455 h 1318434"/>
                <a:gd name="connsiteX6" fmla="*/ 50542 w 987343"/>
                <a:gd name="connsiteY6" fmla="*/ 1248271 h 1318434"/>
                <a:gd name="connsiteX7" fmla="*/ 233422 w 987343"/>
                <a:gd name="connsiteY7" fmla="*/ 1178167 h 1318434"/>
                <a:gd name="connsiteX8" fmla="*/ 507742 w 987343"/>
                <a:gd name="connsiteY8" fmla="*/ 952615 h 1318434"/>
                <a:gd name="connsiteX9" fmla="*/ 711958 w 987343"/>
                <a:gd name="connsiteY9" fmla="*/ 1165975 h 1318434"/>
                <a:gd name="connsiteX10" fmla="*/ 849118 w 987343"/>
                <a:gd name="connsiteY10" fmla="*/ 1318375 h 1318434"/>
                <a:gd name="connsiteX11" fmla="*/ 986278 w 987343"/>
                <a:gd name="connsiteY11" fmla="*/ 1181215 h 1318434"/>
                <a:gd name="connsiteX12" fmla="*/ 772918 w 987343"/>
                <a:gd name="connsiteY12" fmla="*/ 952615 h 1318434"/>
                <a:gd name="connsiteX13" fmla="*/ 650998 w 987343"/>
                <a:gd name="connsiteY13" fmla="*/ 800215 h 1318434"/>
                <a:gd name="connsiteX14" fmla="*/ 605278 w 987343"/>
                <a:gd name="connsiteY14" fmla="*/ 647815 h 1318434"/>
                <a:gd name="connsiteX15" fmla="*/ 590038 w 987343"/>
                <a:gd name="connsiteY15" fmla="*/ 205855 h 1318434"/>
                <a:gd name="connsiteX16" fmla="*/ 574798 w 987343"/>
                <a:gd name="connsiteY16" fmla="*/ 53455 h 1318434"/>
                <a:gd name="connsiteX17" fmla="*/ 513838 w 987343"/>
                <a:gd name="connsiteY17" fmla="*/ 7735 h 1318434"/>
                <a:gd name="connsiteX18" fmla="*/ 422398 w 987343"/>
                <a:gd name="connsiteY18" fmla="*/ 7735 h 1318434"/>
                <a:gd name="connsiteX19" fmla="*/ 376678 w 987343"/>
                <a:gd name="connsiteY19" fmla="*/ 83935 h 1318434"/>
                <a:gd name="connsiteX0" fmla="*/ 376678 w 987569"/>
                <a:gd name="connsiteY0" fmla="*/ 83935 h 1287982"/>
                <a:gd name="connsiteX1" fmla="*/ 376678 w 987569"/>
                <a:gd name="connsiteY1" fmla="*/ 647815 h 1287982"/>
                <a:gd name="connsiteX2" fmla="*/ 364486 w 987569"/>
                <a:gd name="connsiteY2" fmla="*/ 784975 h 1287982"/>
                <a:gd name="connsiteX3" fmla="*/ 269998 w 987569"/>
                <a:gd name="connsiteY3" fmla="*/ 937375 h 1287982"/>
                <a:gd name="connsiteX4" fmla="*/ 17014 w 987569"/>
                <a:gd name="connsiteY4" fmla="*/ 1108063 h 1287982"/>
                <a:gd name="connsiteX5" fmla="*/ 26158 w 987569"/>
                <a:gd name="connsiteY5" fmla="*/ 1196455 h 1287982"/>
                <a:gd name="connsiteX6" fmla="*/ 50542 w 987569"/>
                <a:gd name="connsiteY6" fmla="*/ 1248271 h 1287982"/>
                <a:gd name="connsiteX7" fmla="*/ 233422 w 987569"/>
                <a:gd name="connsiteY7" fmla="*/ 1178167 h 1287982"/>
                <a:gd name="connsiteX8" fmla="*/ 507742 w 987569"/>
                <a:gd name="connsiteY8" fmla="*/ 952615 h 1287982"/>
                <a:gd name="connsiteX9" fmla="*/ 711958 w 987569"/>
                <a:gd name="connsiteY9" fmla="*/ 1165975 h 1287982"/>
                <a:gd name="connsiteX10" fmla="*/ 855214 w 987569"/>
                <a:gd name="connsiteY10" fmla="*/ 1287895 h 1287982"/>
                <a:gd name="connsiteX11" fmla="*/ 986278 w 987569"/>
                <a:gd name="connsiteY11" fmla="*/ 1181215 h 1287982"/>
                <a:gd name="connsiteX12" fmla="*/ 772918 w 987569"/>
                <a:gd name="connsiteY12" fmla="*/ 952615 h 1287982"/>
                <a:gd name="connsiteX13" fmla="*/ 650998 w 987569"/>
                <a:gd name="connsiteY13" fmla="*/ 800215 h 1287982"/>
                <a:gd name="connsiteX14" fmla="*/ 605278 w 987569"/>
                <a:gd name="connsiteY14" fmla="*/ 647815 h 1287982"/>
                <a:gd name="connsiteX15" fmla="*/ 590038 w 987569"/>
                <a:gd name="connsiteY15" fmla="*/ 205855 h 1287982"/>
                <a:gd name="connsiteX16" fmla="*/ 574798 w 987569"/>
                <a:gd name="connsiteY16" fmla="*/ 53455 h 1287982"/>
                <a:gd name="connsiteX17" fmla="*/ 513838 w 987569"/>
                <a:gd name="connsiteY17" fmla="*/ 7735 h 1287982"/>
                <a:gd name="connsiteX18" fmla="*/ 422398 w 987569"/>
                <a:gd name="connsiteY18" fmla="*/ 7735 h 1287982"/>
                <a:gd name="connsiteX19" fmla="*/ 376678 w 987569"/>
                <a:gd name="connsiteY19" fmla="*/ 83935 h 1287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87569" h="1287982">
                  <a:moveTo>
                    <a:pt x="376678" y="83935"/>
                  </a:moveTo>
                  <a:cubicBezTo>
                    <a:pt x="369058" y="190615"/>
                    <a:pt x="378710" y="530975"/>
                    <a:pt x="376678" y="647815"/>
                  </a:cubicBezTo>
                  <a:cubicBezTo>
                    <a:pt x="374646" y="764655"/>
                    <a:pt x="382266" y="736715"/>
                    <a:pt x="364486" y="784975"/>
                  </a:cubicBezTo>
                  <a:cubicBezTo>
                    <a:pt x="346706" y="833235"/>
                    <a:pt x="327910" y="883527"/>
                    <a:pt x="269998" y="937375"/>
                  </a:cubicBezTo>
                  <a:cubicBezTo>
                    <a:pt x="212086" y="991223"/>
                    <a:pt x="57654" y="1064883"/>
                    <a:pt x="17014" y="1108063"/>
                  </a:cubicBezTo>
                  <a:cubicBezTo>
                    <a:pt x="-23626" y="1151243"/>
                    <a:pt x="20570" y="1173087"/>
                    <a:pt x="26158" y="1196455"/>
                  </a:cubicBezTo>
                  <a:cubicBezTo>
                    <a:pt x="31746" y="1219823"/>
                    <a:pt x="15998" y="1251319"/>
                    <a:pt x="50542" y="1248271"/>
                  </a:cubicBezTo>
                  <a:cubicBezTo>
                    <a:pt x="85086" y="1245223"/>
                    <a:pt x="157222" y="1227443"/>
                    <a:pt x="233422" y="1178167"/>
                  </a:cubicBezTo>
                  <a:cubicBezTo>
                    <a:pt x="309622" y="1128891"/>
                    <a:pt x="320290" y="1074027"/>
                    <a:pt x="507742" y="952615"/>
                  </a:cubicBezTo>
                  <a:cubicBezTo>
                    <a:pt x="665730" y="1075551"/>
                    <a:pt x="654046" y="1110095"/>
                    <a:pt x="711958" y="1165975"/>
                  </a:cubicBezTo>
                  <a:cubicBezTo>
                    <a:pt x="769870" y="1221855"/>
                    <a:pt x="809494" y="1285355"/>
                    <a:pt x="855214" y="1287895"/>
                  </a:cubicBezTo>
                  <a:cubicBezTo>
                    <a:pt x="900934" y="1290435"/>
                    <a:pt x="999994" y="1237095"/>
                    <a:pt x="986278" y="1181215"/>
                  </a:cubicBezTo>
                  <a:cubicBezTo>
                    <a:pt x="972562" y="1125335"/>
                    <a:pt x="828798" y="1016115"/>
                    <a:pt x="772918" y="952615"/>
                  </a:cubicBezTo>
                  <a:cubicBezTo>
                    <a:pt x="717038" y="889115"/>
                    <a:pt x="678938" y="851015"/>
                    <a:pt x="650998" y="800215"/>
                  </a:cubicBezTo>
                  <a:cubicBezTo>
                    <a:pt x="623058" y="749415"/>
                    <a:pt x="615438" y="746875"/>
                    <a:pt x="605278" y="647815"/>
                  </a:cubicBezTo>
                  <a:cubicBezTo>
                    <a:pt x="595118" y="548755"/>
                    <a:pt x="595118" y="304915"/>
                    <a:pt x="590038" y="205855"/>
                  </a:cubicBezTo>
                  <a:cubicBezTo>
                    <a:pt x="584958" y="106795"/>
                    <a:pt x="574798" y="53455"/>
                    <a:pt x="574798" y="53455"/>
                  </a:cubicBezTo>
                  <a:cubicBezTo>
                    <a:pt x="562098" y="20435"/>
                    <a:pt x="539238" y="15355"/>
                    <a:pt x="513838" y="7735"/>
                  </a:cubicBezTo>
                  <a:cubicBezTo>
                    <a:pt x="488438" y="115"/>
                    <a:pt x="445258" y="-4965"/>
                    <a:pt x="422398" y="7735"/>
                  </a:cubicBezTo>
                  <a:cubicBezTo>
                    <a:pt x="399538" y="20435"/>
                    <a:pt x="384298" y="-22745"/>
                    <a:pt x="376678" y="839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3D1E56B-3E07-4C5C-8053-FA6EB5F162E0}"/>
                </a:ext>
              </a:extLst>
            </p:cNvPr>
            <p:cNvSpPr/>
            <p:nvPr/>
          </p:nvSpPr>
          <p:spPr>
            <a:xfrm rot="378681">
              <a:off x="4033516" y="859211"/>
              <a:ext cx="357667" cy="597263"/>
            </a:xfrm>
            <a:custGeom>
              <a:avLst/>
              <a:gdLst>
                <a:gd name="connsiteX0" fmla="*/ 968303 w 1252262"/>
                <a:gd name="connsiteY0" fmla="*/ 310618 h 2445192"/>
                <a:gd name="connsiteX1" fmla="*/ 851072 w 1252262"/>
                <a:gd name="connsiteY1" fmla="*/ 76156 h 2445192"/>
                <a:gd name="connsiteX2" fmla="*/ 733842 w 1252262"/>
                <a:gd name="connsiteY2" fmla="*/ 5818 h 2445192"/>
                <a:gd name="connsiteX3" fmla="*/ 475934 w 1252262"/>
                <a:gd name="connsiteY3" fmla="*/ 99603 h 2445192"/>
                <a:gd name="connsiteX4" fmla="*/ 100795 w 1252262"/>
                <a:gd name="connsiteY4" fmla="*/ 849879 h 2445192"/>
                <a:gd name="connsiteX5" fmla="*/ 7011 w 1252262"/>
                <a:gd name="connsiteY5" fmla="*/ 1717387 h 2445192"/>
                <a:gd name="connsiteX6" fmla="*/ 30457 w 1252262"/>
                <a:gd name="connsiteY6" fmla="*/ 2162864 h 2445192"/>
                <a:gd name="connsiteX7" fmla="*/ 218026 w 1252262"/>
                <a:gd name="connsiteY7" fmla="*/ 2444218 h 2445192"/>
                <a:gd name="connsiteX8" fmla="*/ 874518 w 1252262"/>
                <a:gd name="connsiteY8" fmla="*/ 2069079 h 2445192"/>
                <a:gd name="connsiteX9" fmla="*/ 1226211 w 1252262"/>
                <a:gd name="connsiteY9" fmla="*/ 1998741 h 2445192"/>
                <a:gd name="connsiteX10" fmla="*/ 1226211 w 1252262"/>
                <a:gd name="connsiteY10" fmla="*/ 1623603 h 2445192"/>
                <a:gd name="connsiteX11" fmla="*/ 1226211 w 1252262"/>
                <a:gd name="connsiteY11" fmla="*/ 1107787 h 2445192"/>
                <a:gd name="connsiteX12" fmla="*/ 1062088 w 1252262"/>
                <a:gd name="connsiteY12" fmla="*/ 404403 h 2445192"/>
                <a:gd name="connsiteX13" fmla="*/ 968303 w 1252262"/>
                <a:gd name="connsiteY13" fmla="*/ 310618 h 2445192"/>
                <a:gd name="connsiteX0" fmla="*/ 1062088 w 1252262"/>
                <a:gd name="connsiteY0" fmla="*/ 404403 h 2445192"/>
                <a:gd name="connsiteX1" fmla="*/ 851072 w 1252262"/>
                <a:gd name="connsiteY1" fmla="*/ 76156 h 2445192"/>
                <a:gd name="connsiteX2" fmla="*/ 733842 w 1252262"/>
                <a:gd name="connsiteY2" fmla="*/ 5818 h 2445192"/>
                <a:gd name="connsiteX3" fmla="*/ 475934 w 1252262"/>
                <a:gd name="connsiteY3" fmla="*/ 99603 h 2445192"/>
                <a:gd name="connsiteX4" fmla="*/ 100795 w 1252262"/>
                <a:gd name="connsiteY4" fmla="*/ 849879 h 2445192"/>
                <a:gd name="connsiteX5" fmla="*/ 7011 w 1252262"/>
                <a:gd name="connsiteY5" fmla="*/ 1717387 h 2445192"/>
                <a:gd name="connsiteX6" fmla="*/ 30457 w 1252262"/>
                <a:gd name="connsiteY6" fmla="*/ 2162864 h 2445192"/>
                <a:gd name="connsiteX7" fmla="*/ 218026 w 1252262"/>
                <a:gd name="connsiteY7" fmla="*/ 2444218 h 2445192"/>
                <a:gd name="connsiteX8" fmla="*/ 874518 w 1252262"/>
                <a:gd name="connsiteY8" fmla="*/ 2069079 h 2445192"/>
                <a:gd name="connsiteX9" fmla="*/ 1226211 w 1252262"/>
                <a:gd name="connsiteY9" fmla="*/ 1998741 h 2445192"/>
                <a:gd name="connsiteX10" fmla="*/ 1226211 w 1252262"/>
                <a:gd name="connsiteY10" fmla="*/ 1623603 h 2445192"/>
                <a:gd name="connsiteX11" fmla="*/ 1226211 w 1252262"/>
                <a:gd name="connsiteY11" fmla="*/ 1107787 h 2445192"/>
                <a:gd name="connsiteX12" fmla="*/ 1062088 w 1252262"/>
                <a:gd name="connsiteY12" fmla="*/ 404403 h 244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262" h="2445192">
                  <a:moveTo>
                    <a:pt x="1062088" y="404403"/>
                  </a:moveTo>
                  <a:cubicBezTo>
                    <a:pt x="999565" y="232465"/>
                    <a:pt x="905780" y="142587"/>
                    <a:pt x="851072" y="76156"/>
                  </a:cubicBezTo>
                  <a:cubicBezTo>
                    <a:pt x="796364" y="9725"/>
                    <a:pt x="796365" y="1910"/>
                    <a:pt x="733842" y="5818"/>
                  </a:cubicBezTo>
                  <a:cubicBezTo>
                    <a:pt x="671319" y="9726"/>
                    <a:pt x="581442" y="-41074"/>
                    <a:pt x="475934" y="99603"/>
                  </a:cubicBezTo>
                  <a:cubicBezTo>
                    <a:pt x="370426" y="240280"/>
                    <a:pt x="178949" y="580248"/>
                    <a:pt x="100795" y="849879"/>
                  </a:cubicBezTo>
                  <a:cubicBezTo>
                    <a:pt x="22641" y="1119510"/>
                    <a:pt x="18734" y="1498556"/>
                    <a:pt x="7011" y="1717387"/>
                  </a:cubicBezTo>
                  <a:cubicBezTo>
                    <a:pt x="-4712" y="1936218"/>
                    <a:pt x="-4712" y="2041726"/>
                    <a:pt x="30457" y="2162864"/>
                  </a:cubicBezTo>
                  <a:cubicBezTo>
                    <a:pt x="65626" y="2284002"/>
                    <a:pt x="77349" y="2459849"/>
                    <a:pt x="218026" y="2444218"/>
                  </a:cubicBezTo>
                  <a:cubicBezTo>
                    <a:pt x="358703" y="2428587"/>
                    <a:pt x="706487" y="2143325"/>
                    <a:pt x="874518" y="2069079"/>
                  </a:cubicBezTo>
                  <a:cubicBezTo>
                    <a:pt x="1042549" y="1994833"/>
                    <a:pt x="1167596" y="2072987"/>
                    <a:pt x="1226211" y="1998741"/>
                  </a:cubicBezTo>
                  <a:cubicBezTo>
                    <a:pt x="1284826" y="1924495"/>
                    <a:pt x="1226211" y="1623603"/>
                    <a:pt x="1226211" y="1623603"/>
                  </a:cubicBezTo>
                  <a:cubicBezTo>
                    <a:pt x="1226211" y="1475111"/>
                    <a:pt x="1253565" y="1310987"/>
                    <a:pt x="1226211" y="1107787"/>
                  </a:cubicBezTo>
                  <a:cubicBezTo>
                    <a:pt x="1198857" y="904587"/>
                    <a:pt x="1124611" y="576341"/>
                    <a:pt x="1062088" y="40440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BC9D3EE-26ED-439B-8F0E-D50E4F9B3BE1}"/>
                </a:ext>
              </a:extLst>
            </p:cNvPr>
            <p:cNvSpPr/>
            <p:nvPr/>
          </p:nvSpPr>
          <p:spPr>
            <a:xfrm>
              <a:off x="4479676" y="840657"/>
              <a:ext cx="396877" cy="577099"/>
            </a:xfrm>
            <a:custGeom>
              <a:avLst/>
              <a:gdLst>
                <a:gd name="connsiteX0" fmla="*/ 19238 w 1221213"/>
                <a:gd name="connsiteY0" fmla="*/ 820691 h 2272209"/>
                <a:gd name="connsiteX1" fmla="*/ 66130 w 1221213"/>
                <a:gd name="connsiteY1" fmla="*/ 351768 h 2272209"/>
                <a:gd name="connsiteX2" fmla="*/ 370930 w 1221213"/>
                <a:gd name="connsiteY2" fmla="*/ 75 h 2272209"/>
                <a:gd name="connsiteX3" fmla="*/ 746069 w 1221213"/>
                <a:gd name="connsiteY3" fmla="*/ 328322 h 2272209"/>
                <a:gd name="connsiteX4" fmla="*/ 1074315 w 1221213"/>
                <a:gd name="connsiteY4" fmla="*/ 1102045 h 2272209"/>
                <a:gd name="connsiteX5" fmla="*/ 1168099 w 1221213"/>
                <a:gd name="connsiteY5" fmla="*/ 1758537 h 2272209"/>
                <a:gd name="connsiteX6" fmla="*/ 1191545 w 1221213"/>
                <a:gd name="connsiteY6" fmla="*/ 2250906 h 2272209"/>
                <a:gd name="connsiteX7" fmla="*/ 746069 w 1221213"/>
                <a:gd name="connsiteY7" fmla="*/ 2180568 h 2272209"/>
                <a:gd name="connsiteX8" fmla="*/ 347484 w 1221213"/>
                <a:gd name="connsiteY8" fmla="*/ 2157122 h 2272209"/>
                <a:gd name="connsiteX9" fmla="*/ 230253 w 1221213"/>
                <a:gd name="connsiteY9" fmla="*/ 2157122 h 2272209"/>
                <a:gd name="connsiteX10" fmla="*/ 253699 w 1221213"/>
                <a:gd name="connsiteY10" fmla="*/ 1946106 h 2272209"/>
                <a:gd name="connsiteX11" fmla="*/ 253699 w 1221213"/>
                <a:gd name="connsiteY11" fmla="*/ 1688199 h 2272209"/>
                <a:gd name="connsiteX12" fmla="*/ 19238 w 1221213"/>
                <a:gd name="connsiteY12" fmla="*/ 1524075 h 2272209"/>
                <a:gd name="connsiteX13" fmla="*/ 19238 w 1221213"/>
                <a:gd name="connsiteY13" fmla="*/ 820691 h 2272209"/>
                <a:gd name="connsiteX0" fmla="*/ 872 w 1202847"/>
                <a:gd name="connsiteY0" fmla="*/ 820691 h 2272209"/>
                <a:gd name="connsiteX1" fmla="*/ 47764 w 1202847"/>
                <a:gd name="connsiteY1" fmla="*/ 351768 h 2272209"/>
                <a:gd name="connsiteX2" fmla="*/ 352564 w 1202847"/>
                <a:gd name="connsiteY2" fmla="*/ 75 h 2272209"/>
                <a:gd name="connsiteX3" fmla="*/ 727703 w 1202847"/>
                <a:gd name="connsiteY3" fmla="*/ 328322 h 2272209"/>
                <a:gd name="connsiteX4" fmla="*/ 1055949 w 1202847"/>
                <a:gd name="connsiteY4" fmla="*/ 1102045 h 2272209"/>
                <a:gd name="connsiteX5" fmla="*/ 1149733 w 1202847"/>
                <a:gd name="connsiteY5" fmla="*/ 1758537 h 2272209"/>
                <a:gd name="connsiteX6" fmla="*/ 1173179 w 1202847"/>
                <a:gd name="connsiteY6" fmla="*/ 2250906 h 2272209"/>
                <a:gd name="connsiteX7" fmla="*/ 727703 w 1202847"/>
                <a:gd name="connsiteY7" fmla="*/ 2180568 h 2272209"/>
                <a:gd name="connsiteX8" fmla="*/ 329118 w 1202847"/>
                <a:gd name="connsiteY8" fmla="*/ 2157122 h 2272209"/>
                <a:gd name="connsiteX9" fmla="*/ 211887 w 1202847"/>
                <a:gd name="connsiteY9" fmla="*/ 2157122 h 2272209"/>
                <a:gd name="connsiteX10" fmla="*/ 235333 w 1202847"/>
                <a:gd name="connsiteY10" fmla="*/ 1946106 h 2272209"/>
                <a:gd name="connsiteX11" fmla="*/ 235333 w 1202847"/>
                <a:gd name="connsiteY11" fmla="*/ 1688199 h 2272209"/>
                <a:gd name="connsiteX12" fmla="*/ 46592 w 1202847"/>
                <a:gd name="connsiteY12" fmla="*/ 1356435 h 2272209"/>
                <a:gd name="connsiteX13" fmla="*/ 872 w 1202847"/>
                <a:gd name="connsiteY13" fmla="*/ 820691 h 2272209"/>
                <a:gd name="connsiteX0" fmla="*/ 31139 w 1233114"/>
                <a:gd name="connsiteY0" fmla="*/ 820691 h 2272209"/>
                <a:gd name="connsiteX1" fmla="*/ 78031 w 1233114"/>
                <a:gd name="connsiteY1" fmla="*/ 351768 h 2272209"/>
                <a:gd name="connsiteX2" fmla="*/ 382831 w 1233114"/>
                <a:gd name="connsiteY2" fmla="*/ 75 h 2272209"/>
                <a:gd name="connsiteX3" fmla="*/ 757970 w 1233114"/>
                <a:gd name="connsiteY3" fmla="*/ 328322 h 2272209"/>
                <a:gd name="connsiteX4" fmla="*/ 1086216 w 1233114"/>
                <a:gd name="connsiteY4" fmla="*/ 1102045 h 2272209"/>
                <a:gd name="connsiteX5" fmla="*/ 1180000 w 1233114"/>
                <a:gd name="connsiteY5" fmla="*/ 1758537 h 2272209"/>
                <a:gd name="connsiteX6" fmla="*/ 1203446 w 1233114"/>
                <a:gd name="connsiteY6" fmla="*/ 2250906 h 2272209"/>
                <a:gd name="connsiteX7" fmla="*/ 757970 w 1233114"/>
                <a:gd name="connsiteY7" fmla="*/ 2180568 h 2272209"/>
                <a:gd name="connsiteX8" fmla="*/ 359385 w 1233114"/>
                <a:gd name="connsiteY8" fmla="*/ 2157122 h 2272209"/>
                <a:gd name="connsiteX9" fmla="*/ 242154 w 1233114"/>
                <a:gd name="connsiteY9" fmla="*/ 2157122 h 2272209"/>
                <a:gd name="connsiteX10" fmla="*/ 265600 w 1233114"/>
                <a:gd name="connsiteY10" fmla="*/ 1946106 h 2272209"/>
                <a:gd name="connsiteX11" fmla="*/ 265600 w 1233114"/>
                <a:gd name="connsiteY11" fmla="*/ 1688199 h 2272209"/>
                <a:gd name="connsiteX12" fmla="*/ 15899 w 1233114"/>
                <a:gd name="connsiteY12" fmla="*/ 1386915 h 2272209"/>
                <a:gd name="connsiteX13" fmla="*/ 31139 w 1233114"/>
                <a:gd name="connsiteY13" fmla="*/ 820691 h 2272209"/>
                <a:gd name="connsiteX0" fmla="*/ 38990 w 1240965"/>
                <a:gd name="connsiteY0" fmla="*/ 820691 h 2272209"/>
                <a:gd name="connsiteX1" fmla="*/ 85882 w 1240965"/>
                <a:gd name="connsiteY1" fmla="*/ 351768 h 2272209"/>
                <a:gd name="connsiteX2" fmla="*/ 390682 w 1240965"/>
                <a:gd name="connsiteY2" fmla="*/ 75 h 2272209"/>
                <a:gd name="connsiteX3" fmla="*/ 765821 w 1240965"/>
                <a:gd name="connsiteY3" fmla="*/ 328322 h 2272209"/>
                <a:gd name="connsiteX4" fmla="*/ 1094067 w 1240965"/>
                <a:gd name="connsiteY4" fmla="*/ 1102045 h 2272209"/>
                <a:gd name="connsiteX5" fmla="*/ 1187851 w 1240965"/>
                <a:gd name="connsiteY5" fmla="*/ 1758537 h 2272209"/>
                <a:gd name="connsiteX6" fmla="*/ 1211297 w 1240965"/>
                <a:gd name="connsiteY6" fmla="*/ 2250906 h 2272209"/>
                <a:gd name="connsiteX7" fmla="*/ 765821 w 1240965"/>
                <a:gd name="connsiteY7" fmla="*/ 2180568 h 2272209"/>
                <a:gd name="connsiteX8" fmla="*/ 367236 w 1240965"/>
                <a:gd name="connsiteY8" fmla="*/ 2157122 h 2272209"/>
                <a:gd name="connsiteX9" fmla="*/ 250005 w 1240965"/>
                <a:gd name="connsiteY9" fmla="*/ 2157122 h 2272209"/>
                <a:gd name="connsiteX10" fmla="*/ 273451 w 1240965"/>
                <a:gd name="connsiteY10" fmla="*/ 1946106 h 2272209"/>
                <a:gd name="connsiteX11" fmla="*/ 380131 w 1240965"/>
                <a:gd name="connsiteY11" fmla="*/ 1718679 h 2272209"/>
                <a:gd name="connsiteX12" fmla="*/ 23750 w 1240965"/>
                <a:gd name="connsiteY12" fmla="*/ 1386915 h 2272209"/>
                <a:gd name="connsiteX13" fmla="*/ 38990 w 1240965"/>
                <a:gd name="connsiteY13" fmla="*/ 820691 h 2272209"/>
                <a:gd name="connsiteX0" fmla="*/ 38990 w 1240965"/>
                <a:gd name="connsiteY0" fmla="*/ 820691 h 2272209"/>
                <a:gd name="connsiteX1" fmla="*/ 85882 w 1240965"/>
                <a:gd name="connsiteY1" fmla="*/ 351768 h 2272209"/>
                <a:gd name="connsiteX2" fmla="*/ 390682 w 1240965"/>
                <a:gd name="connsiteY2" fmla="*/ 75 h 2272209"/>
                <a:gd name="connsiteX3" fmla="*/ 765821 w 1240965"/>
                <a:gd name="connsiteY3" fmla="*/ 328322 h 2272209"/>
                <a:gd name="connsiteX4" fmla="*/ 1094067 w 1240965"/>
                <a:gd name="connsiteY4" fmla="*/ 1102045 h 2272209"/>
                <a:gd name="connsiteX5" fmla="*/ 1187851 w 1240965"/>
                <a:gd name="connsiteY5" fmla="*/ 1758537 h 2272209"/>
                <a:gd name="connsiteX6" fmla="*/ 1211297 w 1240965"/>
                <a:gd name="connsiteY6" fmla="*/ 2250906 h 2272209"/>
                <a:gd name="connsiteX7" fmla="*/ 765821 w 1240965"/>
                <a:gd name="connsiteY7" fmla="*/ 2180568 h 2272209"/>
                <a:gd name="connsiteX8" fmla="*/ 367236 w 1240965"/>
                <a:gd name="connsiteY8" fmla="*/ 2157122 h 2272209"/>
                <a:gd name="connsiteX9" fmla="*/ 250005 w 1240965"/>
                <a:gd name="connsiteY9" fmla="*/ 2157122 h 2272209"/>
                <a:gd name="connsiteX10" fmla="*/ 273451 w 1240965"/>
                <a:gd name="connsiteY10" fmla="*/ 1946106 h 2272209"/>
                <a:gd name="connsiteX11" fmla="*/ 380131 w 1240965"/>
                <a:gd name="connsiteY11" fmla="*/ 1581519 h 2272209"/>
                <a:gd name="connsiteX12" fmla="*/ 23750 w 1240965"/>
                <a:gd name="connsiteY12" fmla="*/ 1386915 h 2272209"/>
                <a:gd name="connsiteX13" fmla="*/ 38990 w 1240965"/>
                <a:gd name="connsiteY13" fmla="*/ 820691 h 2272209"/>
                <a:gd name="connsiteX0" fmla="*/ 38990 w 1240965"/>
                <a:gd name="connsiteY0" fmla="*/ 820691 h 2272209"/>
                <a:gd name="connsiteX1" fmla="*/ 85882 w 1240965"/>
                <a:gd name="connsiteY1" fmla="*/ 351768 h 2272209"/>
                <a:gd name="connsiteX2" fmla="*/ 390682 w 1240965"/>
                <a:gd name="connsiteY2" fmla="*/ 75 h 2272209"/>
                <a:gd name="connsiteX3" fmla="*/ 765821 w 1240965"/>
                <a:gd name="connsiteY3" fmla="*/ 328322 h 2272209"/>
                <a:gd name="connsiteX4" fmla="*/ 1094067 w 1240965"/>
                <a:gd name="connsiteY4" fmla="*/ 1102045 h 2272209"/>
                <a:gd name="connsiteX5" fmla="*/ 1187851 w 1240965"/>
                <a:gd name="connsiteY5" fmla="*/ 1758537 h 2272209"/>
                <a:gd name="connsiteX6" fmla="*/ 1211297 w 1240965"/>
                <a:gd name="connsiteY6" fmla="*/ 2250906 h 2272209"/>
                <a:gd name="connsiteX7" fmla="*/ 765821 w 1240965"/>
                <a:gd name="connsiteY7" fmla="*/ 2180568 h 2272209"/>
                <a:gd name="connsiteX8" fmla="*/ 367236 w 1240965"/>
                <a:gd name="connsiteY8" fmla="*/ 2157122 h 2272209"/>
                <a:gd name="connsiteX9" fmla="*/ 250005 w 1240965"/>
                <a:gd name="connsiteY9" fmla="*/ 2157122 h 2272209"/>
                <a:gd name="connsiteX10" fmla="*/ 395371 w 1240965"/>
                <a:gd name="connsiteY10" fmla="*/ 1976586 h 2272209"/>
                <a:gd name="connsiteX11" fmla="*/ 380131 w 1240965"/>
                <a:gd name="connsiteY11" fmla="*/ 1581519 h 2272209"/>
                <a:gd name="connsiteX12" fmla="*/ 23750 w 1240965"/>
                <a:gd name="connsiteY12" fmla="*/ 1386915 h 2272209"/>
                <a:gd name="connsiteX13" fmla="*/ 38990 w 1240965"/>
                <a:gd name="connsiteY13" fmla="*/ 820691 h 2272209"/>
                <a:gd name="connsiteX0" fmla="*/ 38990 w 1240965"/>
                <a:gd name="connsiteY0" fmla="*/ 820691 h 2272209"/>
                <a:gd name="connsiteX1" fmla="*/ 85882 w 1240965"/>
                <a:gd name="connsiteY1" fmla="*/ 351768 h 2272209"/>
                <a:gd name="connsiteX2" fmla="*/ 390682 w 1240965"/>
                <a:gd name="connsiteY2" fmla="*/ 75 h 2272209"/>
                <a:gd name="connsiteX3" fmla="*/ 765821 w 1240965"/>
                <a:gd name="connsiteY3" fmla="*/ 328322 h 2272209"/>
                <a:gd name="connsiteX4" fmla="*/ 1094067 w 1240965"/>
                <a:gd name="connsiteY4" fmla="*/ 1102045 h 2272209"/>
                <a:gd name="connsiteX5" fmla="*/ 1187851 w 1240965"/>
                <a:gd name="connsiteY5" fmla="*/ 1758537 h 2272209"/>
                <a:gd name="connsiteX6" fmla="*/ 1211297 w 1240965"/>
                <a:gd name="connsiteY6" fmla="*/ 2250906 h 2272209"/>
                <a:gd name="connsiteX7" fmla="*/ 765821 w 1240965"/>
                <a:gd name="connsiteY7" fmla="*/ 2180568 h 2272209"/>
                <a:gd name="connsiteX8" fmla="*/ 367236 w 1240965"/>
                <a:gd name="connsiteY8" fmla="*/ 2157122 h 2272209"/>
                <a:gd name="connsiteX9" fmla="*/ 570045 w 1240965"/>
                <a:gd name="connsiteY9" fmla="*/ 2172362 h 2272209"/>
                <a:gd name="connsiteX10" fmla="*/ 395371 w 1240965"/>
                <a:gd name="connsiteY10" fmla="*/ 1976586 h 2272209"/>
                <a:gd name="connsiteX11" fmla="*/ 380131 w 1240965"/>
                <a:gd name="connsiteY11" fmla="*/ 1581519 h 2272209"/>
                <a:gd name="connsiteX12" fmla="*/ 23750 w 1240965"/>
                <a:gd name="connsiteY12" fmla="*/ 1386915 h 2272209"/>
                <a:gd name="connsiteX13" fmla="*/ 38990 w 1240965"/>
                <a:gd name="connsiteY13" fmla="*/ 820691 h 2272209"/>
                <a:gd name="connsiteX0" fmla="*/ 38990 w 1240965"/>
                <a:gd name="connsiteY0" fmla="*/ 820691 h 2271932"/>
                <a:gd name="connsiteX1" fmla="*/ 85882 w 1240965"/>
                <a:gd name="connsiteY1" fmla="*/ 351768 h 2271932"/>
                <a:gd name="connsiteX2" fmla="*/ 390682 w 1240965"/>
                <a:gd name="connsiteY2" fmla="*/ 75 h 2271932"/>
                <a:gd name="connsiteX3" fmla="*/ 765821 w 1240965"/>
                <a:gd name="connsiteY3" fmla="*/ 328322 h 2271932"/>
                <a:gd name="connsiteX4" fmla="*/ 1094067 w 1240965"/>
                <a:gd name="connsiteY4" fmla="*/ 1102045 h 2271932"/>
                <a:gd name="connsiteX5" fmla="*/ 1187851 w 1240965"/>
                <a:gd name="connsiteY5" fmla="*/ 1758537 h 2271932"/>
                <a:gd name="connsiteX6" fmla="*/ 1211297 w 1240965"/>
                <a:gd name="connsiteY6" fmla="*/ 2250906 h 2271932"/>
                <a:gd name="connsiteX7" fmla="*/ 765821 w 1240965"/>
                <a:gd name="connsiteY7" fmla="*/ 2180568 h 2271932"/>
                <a:gd name="connsiteX8" fmla="*/ 570045 w 1240965"/>
                <a:gd name="connsiteY8" fmla="*/ 2172362 h 2271932"/>
                <a:gd name="connsiteX9" fmla="*/ 395371 w 1240965"/>
                <a:gd name="connsiteY9" fmla="*/ 1976586 h 2271932"/>
                <a:gd name="connsiteX10" fmla="*/ 380131 w 1240965"/>
                <a:gd name="connsiteY10" fmla="*/ 1581519 h 2271932"/>
                <a:gd name="connsiteX11" fmla="*/ 23750 w 1240965"/>
                <a:gd name="connsiteY11" fmla="*/ 1386915 h 2271932"/>
                <a:gd name="connsiteX12" fmla="*/ 38990 w 1240965"/>
                <a:gd name="connsiteY12" fmla="*/ 820691 h 2271932"/>
                <a:gd name="connsiteX0" fmla="*/ 32259 w 1234234"/>
                <a:gd name="connsiteY0" fmla="*/ 820691 h 2271932"/>
                <a:gd name="connsiteX1" fmla="*/ 79151 w 1234234"/>
                <a:gd name="connsiteY1" fmla="*/ 351768 h 2271932"/>
                <a:gd name="connsiteX2" fmla="*/ 383951 w 1234234"/>
                <a:gd name="connsiteY2" fmla="*/ 75 h 2271932"/>
                <a:gd name="connsiteX3" fmla="*/ 759090 w 1234234"/>
                <a:gd name="connsiteY3" fmla="*/ 328322 h 2271932"/>
                <a:gd name="connsiteX4" fmla="*/ 1087336 w 1234234"/>
                <a:gd name="connsiteY4" fmla="*/ 1102045 h 2271932"/>
                <a:gd name="connsiteX5" fmla="*/ 1181120 w 1234234"/>
                <a:gd name="connsiteY5" fmla="*/ 1758537 h 2271932"/>
                <a:gd name="connsiteX6" fmla="*/ 1204566 w 1234234"/>
                <a:gd name="connsiteY6" fmla="*/ 2250906 h 2271932"/>
                <a:gd name="connsiteX7" fmla="*/ 759090 w 1234234"/>
                <a:gd name="connsiteY7" fmla="*/ 2180568 h 2271932"/>
                <a:gd name="connsiteX8" fmla="*/ 563314 w 1234234"/>
                <a:gd name="connsiteY8" fmla="*/ 2172362 h 2271932"/>
                <a:gd name="connsiteX9" fmla="*/ 388640 w 1234234"/>
                <a:gd name="connsiteY9" fmla="*/ 1976586 h 2271932"/>
                <a:gd name="connsiteX10" fmla="*/ 281960 w 1234234"/>
                <a:gd name="connsiteY10" fmla="*/ 1535799 h 2271932"/>
                <a:gd name="connsiteX11" fmla="*/ 17019 w 1234234"/>
                <a:gd name="connsiteY11" fmla="*/ 1386915 h 2271932"/>
                <a:gd name="connsiteX12" fmla="*/ 32259 w 1234234"/>
                <a:gd name="connsiteY12" fmla="*/ 820691 h 2271932"/>
                <a:gd name="connsiteX0" fmla="*/ 32259 w 1234234"/>
                <a:gd name="connsiteY0" fmla="*/ 820691 h 2271932"/>
                <a:gd name="connsiteX1" fmla="*/ 79151 w 1234234"/>
                <a:gd name="connsiteY1" fmla="*/ 351768 h 2271932"/>
                <a:gd name="connsiteX2" fmla="*/ 383951 w 1234234"/>
                <a:gd name="connsiteY2" fmla="*/ 75 h 2271932"/>
                <a:gd name="connsiteX3" fmla="*/ 759090 w 1234234"/>
                <a:gd name="connsiteY3" fmla="*/ 328322 h 2271932"/>
                <a:gd name="connsiteX4" fmla="*/ 1087336 w 1234234"/>
                <a:gd name="connsiteY4" fmla="*/ 1102045 h 2271932"/>
                <a:gd name="connsiteX5" fmla="*/ 1181120 w 1234234"/>
                <a:gd name="connsiteY5" fmla="*/ 1758537 h 2271932"/>
                <a:gd name="connsiteX6" fmla="*/ 1204566 w 1234234"/>
                <a:gd name="connsiteY6" fmla="*/ 2250906 h 2271932"/>
                <a:gd name="connsiteX7" fmla="*/ 759090 w 1234234"/>
                <a:gd name="connsiteY7" fmla="*/ 2180568 h 2271932"/>
                <a:gd name="connsiteX8" fmla="*/ 563314 w 1234234"/>
                <a:gd name="connsiteY8" fmla="*/ 2172362 h 2271932"/>
                <a:gd name="connsiteX9" fmla="*/ 388640 w 1234234"/>
                <a:gd name="connsiteY9" fmla="*/ 1976586 h 2271932"/>
                <a:gd name="connsiteX10" fmla="*/ 417948 w 1234234"/>
                <a:gd name="connsiteY10" fmla="*/ 1712817 h 2271932"/>
                <a:gd name="connsiteX11" fmla="*/ 281960 w 1234234"/>
                <a:gd name="connsiteY11" fmla="*/ 1535799 h 2271932"/>
                <a:gd name="connsiteX12" fmla="*/ 17019 w 1234234"/>
                <a:gd name="connsiteY12" fmla="*/ 1386915 h 2271932"/>
                <a:gd name="connsiteX13" fmla="*/ 32259 w 1234234"/>
                <a:gd name="connsiteY13" fmla="*/ 820691 h 2271932"/>
                <a:gd name="connsiteX0" fmla="*/ 26677 w 1228652"/>
                <a:gd name="connsiteY0" fmla="*/ 820691 h 2271932"/>
                <a:gd name="connsiteX1" fmla="*/ 73569 w 1228652"/>
                <a:gd name="connsiteY1" fmla="*/ 351768 h 2271932"/>
                <a:gd name="connsiteX2" fmla="*/ 378369 w 1228652"/>
                <a:gd name="connsiteY2" fmla="*/ 75 h 2271932"/>
                <a:gd name="connsiteX3" fmla="*/ 753508 w 1228652"/>
                <a:gd name="connsiteY3" fmla="*/ 328322 h 2271932"/>
                <a:gd name="connsiteX4" fmla="*/ 1081754 w 1228652"/>
                <a:gd name="connsiteY4" fmla="*/ 1102045 h 2271932"/>
                <a:gd name="connsiteX5" fmla="*/ 1175538 w 1228652"/>
                <a:gd name="connsiteY5" fmla="*/ 1758537 h 2271932"/>
                <a:gd name="connsiteX6" fmla="*/ 1198984 w 1228652"/>
                <a:gd name="connsiteY6" fmla="*/ 2250906 h 2271932"/>
                <a:gd name="connsiteX7" fmla="*/ 753508 w 1228652"/>
                <a:gd name="connsiteY7" fmla="*/ 2180568 h 2271932"/>
                <a:gd name="connsiteX8" fmla="*/ 557732 w 1228652"/>
                <a:gd name="connsiteY8" fmla="*/ 2172362 h 2271932"/>
                <a:gd name="connsiteX9" fmla="*/ 383058 w 1228652"/>
                <a:gd name="connsiteY9" fmla="*/ 1976586 h 2271932"/>
                <a:gd name="connsiteX10" fmla="*/ 412366 w 1228652"/>
                <a:gd name="connsiteY10" fmla="*/ 1712817 h 2271932"/>
                <a:gd name="connsiteX11" fmla="*/ 200178 w 1228652"/>
                <a:gd name="connsiteY11" fmla="*/ 1505319 h 2271932"/>
                <a:gd name="connsiteX12" fmla="*/ 11437 w 1228652"/>
                <a:gd name="connsiteY12" fmla="*/ 1386915 h 2271932"/>
                <a:gd name="connsiteX13" fmla="*/ 26677 w 1228652"/>
                <a:gd name="connsiteY13" fmla="*/ 820691 h 2271932"/>
                <a:gd name="connsiteX0" fmla="*/ 26677 w 1228652"/>
                <a:gd name="connsiteY0" fmla="*/ 820691 h 2271932"/>
                <a:gd name="connsiteX1" fmla="*/ 73569 w 1228652"/>
                <a:gd name="connsiteY1" fmla="*/ 351768 h 2271932"/>
                <a:gd name="connsiteX2" fmla="*/ 378369 w 1228652"/>
                <a:gd name="connsiteY2" fmla="*/ 75 h 2271932"/>
                <a:gd name="connsiteX3" fmla="*/ 753508 w 1228652"/>
                <a:gd name="connsiteY3" fmla="*/ 328322 h 2271932"/>
                <a:gd name="connsiteX4" fmla="*/ 1081754 w 1228652"/>
                <a:gd name="connsiteY4" fmla="*/ 1102045 h 2271932"/>
                <a:gd name="connsiteX5" fmla="*/ 1175538 w 1228652"/>
                <a:gd name="connsiteY5" fmla="*/ 1758537 h 2271932"/>
                <a:gd name="connsiteX6" fmla="*/ 1198984 w 1228652"/>
                <a:gd name="connsiteY6" fmla="*/ 2250906 h 2271932"/>
                <a:gd name="connsiteX7" fmla="*/ 753508 w 1228652"/>
                <a:gd name="connsiteY7" fmla="*/ 2180568 h 2271932"/>
                <a:gd name="connsiteX8" fmla="*/ 557732 w 1228652"/>
                <a:gd name="connsiteY8" fmla="*/ 2172362 h 2271932"/>
                <a:gd name="connsiteX9" fmla="*/ 383058 w 1228652"/>
                <a:gd name="connsiteY9" fmla="*/ 1976586 h 2271932"/>
                <a:gd name="connsiteX10" fmla="*/ 320926 w 1228652"/>
                <a:gd name="connsiteY10" fmla="*/ 1682337 h 2271932"/>
                <a:gd name="connsiteX11" fmla="*/ 200178 w 1228652"/>
                <a:gd name="connsiteY11" fmla="*/ 1505319 h 2271932"/>
                <a:gd name="connsiteX12" fmla="*/ 11437 w 1228652"/>
                <a:gd name="connsiteY12" fmla="*/ 1386915 h 2271932"/>
                <a:gd name="connsiteX13" fmla="*/ 26677 w 1228652"/>
                <a:gd name="connsiteY13" fmla="*/ 820691 h 2271932"/>
                <a:gd name="connsiteX0" fmla="*/ 26677 w 1228652"/>
                <a:gd name="connsiteY0" fmla="*/ 820691 h 2271932"/>
                <a:gd name="connsiteX1" fmla="*/ 73569 w 1228652"/>
                <a:gd name="connsiteY1" fmla="*/ 351768 h 2271932"/>
                <a:gd name="connsiteX2" fmla="*/ 378369 w 1228652"/>
                <a:gd name="connsiteY2" fmla="*/ 75 h 2271932"/>
                <a:gd name="connsiteX3" fmla="*/ 753508 w 1228652"/>
                <a:gd name="connsiteY3" fmla="*/ 328322 h 2271932"/>
                <a:gd name="connsiteX4" fmla="*/ 1081754 w 1228652"/>
                <a:gd name="connsiteY4" fmla="*/ 1102045 h 2271932"/>
                <a:gd name="connsiteX5" fmla="*/ 1175538 w 1228652"/>
                <a:gd name="connsiteY5" fmla="*/ 1758537 h 2271932"/>
                <a:gd name="connsiteX6" fmla="*/ 1198984 w 1228652"/>
                <a:gd name="connsiteY6" fmla="*/ 2250906 h 2271932"/>
                <a:gd name="connsiteX7" fmla="*/ 753508 w 1228652"/>
                <a:gd name="connsiteY7" fmla="*/ 2180568 h 2271932"/>
                <a:gd name="connsiteX8" fmla="*/ 557732 w 1228652"/>
                <a:gd name="connsiteY8" fmla="*/ 2172362 h 2271932"/>
                <a:gd name="connsiteX9" fmla="*/ 291618 w 1228652"/>
                <a:gd name="connsiteY9" fmla="*/ 2052786 h 2271932"/>
                <a:gd name="connsiteX10" fmla="*/ 320926 w 1228652"/>
                <a:gd name="connsiteY10" fmla="*/ 1682337 h 2271932"/>
                <a:gd name="connsiteX11" fmla="*/ 200178 w 1228652"/>
                <a:gd name="connsiteY11" fmla="*/ 1505319 h 2271932"/>
                <a:gd name="connsiteX12" fmla="*/ 11437 w 1228652"/>
                <a:gd name="connsiteY12" fmla="*/ 1386915 h 2271932"/>
                <a:gd name="connsiteX13" fmla="*/ 26677 w 1228652"/>
                <a:gd name="connsiteY13" fmla="*/ 820691 h 2271932"/>
                <a:gd name="connsiteX0" fmla="*/ 2073 w 1280248"/>
                <a:gd name="connsiteY0" fmla="*/ 820691 h 2271932"/>
                <a:gd name="connsiteX1" fmla="*/ 125165 w 1280248"/>
                <a:gd name="connsiteY1" fmla="*/ 351768 h 2271932"/>
                <a:gd name="connsiteX2" fmla="*/ 429965 w 1280248"/>
                <a:gd name="connsiteY2" fmla="*/ 75 h 2271932"/>
                <a:gd name="connsiteX3" fmla="*/ 805104 w 1280248"/>
                <a:gd name="connsiteY3" fmla="*/ 328322 h 2271932"/>
                <a:gd name="connsiteX4" fmla="*/ 1133350 w 1280248"/>
                <a:gd name="connsiteY4" fmla="*/ 1102045 h 2271932"/>
                <a:gd name="connsiteX5" fmla="*/ 1227134 w 1280248"/>
                <a:gd name="connsiteY5" fmla="*/ 1758537 h 2271932"/>
                <a:gd name="connsiteX6" fmla="*/ 1250580 w 1280248"/>
                <a:gd name="connsiteY6" fmla="*/ 2250906 h 2271932"/>
                <a:gd name="connsiteX7" fmla="*/ 805104 w 1280248"/>
                <a:gd name="connsiteY7" fmla="*/ 2180568 h 2271932"/>
                <a:gd name="connsiteX8" fmla="*/ 609328 w 1280248"/>
                <a:gd name="connsiteY8" fmla="*/ 2172362 h 2271932"/>
                <a:gd name="connsiteX9" fmla="*/ 343214 w 1280248"/>
                <a:gd name="connsiteY9" fmla="*/ 2052786 h 2271932"/>
                <a:gd name="connsiteX10" fmla="*/ 372522 w 1280248"/>
                <a:gd name="connsiteY10" fmla="*/ 1682337 h 2271932"/>
                <a:gd name="connsiteX11" fmla="*/ 251774 w 1280248"/>
                <a:gd name="connsiteY11" fmla="*/ 1505319 h 2271932"/>
                <a:gd name="connsiteX12" fmla="*/ 63033 w 1280248"/>
                <a:gd name="connsiteY12" fmla="*/ 1386915 h 2271932"/>
                <a:gd name="connsiteX13" fmla="*/ 2073 w 1280248"/>
                <a:gd name="connsiteY13" fmla="*/ 820691 h 227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80248" h="2271932">
                  <a:moveTo>
                    <a:pt x="2073" y="820691"/>
                  </a:moveTo>
                  <a:cubicBezTo>
                    <a:pt x="12428" y="648167"/>
                    <a:pt x="53850" y="488537"/>
                    <a:pt x="125165" y="351768"/>
                  </a:cubicBezTo>
                  <a:cubicBezTo>
                    <a:pt x="196480" y="214999"/>
                    <a:pt x="316642" y="3983"/>
                    <a:pt x="429965" y="75"/>
                  </a:cubicBezTo>
                  <a:cubicBezTo>
                    <a:pt x="543288" y="-3833"/>
                    <a:pt x="687873" y="144660"/>
                    <a:pt x="805104" y="328322"/>
                  </a:cubicBezTo>
                  <a:cubicBezTo>
                    <a:pt x="922335" y="511984"/>
                    <a:pt x="1063012" y="863676"/>
                    <a:pt x="1133350" y="1102045"/>
                  </a:cubicBezTo>
                  <a:cubicBezTo>
                    <a:pt x="1203688" y="1340414"/>
                    <a:pt x="1207596" y="1567060"/>
                    <a:pt x="1227134" y="1758537"/>
                  </a:cubicBezTo>
                  <a:cubicBezTo>
                    <a:pt x="1246672" y="1950014"/>
                    <a:pt x="1320918" y="2180568"/>
                    <a:pt x="1250580" y="2250906"/>
                  </a:cubicBezTo>
                  <a:cubicBezTo>
                    <a:pt x="1180242" y="2321245"/>
                    <a:pt x="911979" y="2193659"/>
                    <a:pt x="805104" y="2180568"/>
                  </a:cubicBezTo>
                  <a:cubicBezTo>
                    <a:pt x="698229" y="2167477"/>
                    <a:pt x="686310" y="2193659"/>
                    <a:pt x="609328" y="2172362"/>
                  </a:cubicBezTo>
                  <a:cubicBezTo>
                    <a:pt x="532346" y="2151065"/>
                    <a:pt x="382682" y="2134457"/>
                    <a:pt x="343214" y="2052786"/>
                  </a:cubicBezTo>
                  <a:cubicBezTo>
                    <a:pt x="303746" y="1971115"/>
                    <a:pt x="390302" y="1755801"/>
                    <a:pt x="372522" y="1682337"/>
                  </a:cubicBezTo>
                  <a:cubicBezTo>
                    <a:pt x="354742" y="1608873"/>
                    <a:pt x="303355" y="1557096"/>
                    <a:pt x="251774" y="1505319"/>
                  </a:cubicBezTo>
                  <a:cubicBezTo>
                    <a:pt x="200193" y="1453542"/>
                    <a:pt x="104650" y="1501020"/>
                    <a:pt x="63033" y="1386915"/>
                  </a:cubicBezTo>
                  <a:cubicBezTo>
                    <a:pt x="21416" y="1272810"/>
                    <a:pt x="-8282" y="993215"/>
                    <a:pt x="2073" y="8206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5759C5D-2319-4378-B2B5-ADEA64B7A404}"/>
                </a:ext>
              </a:extLst>
            </p:cNvPr>
            <p:cNvSpPr/>
            <p:nvPr/>
          </p:nvSpPr>
          <p:spPr>
            <a:xfrm>
              <a:off x="6878968" y="813078"/>
              <a:ext cx="375015" cy="511782"/>
            </a:xfrm>
            <a:custGeom>
              <a:avLst/>
              <a:gdLst>
                <a:gd name="connsiteX0" fmla="*/ 554951 w 607785"/>
                <a:gd name="connsiteY0" fmla="*/ 119064 h 1088648"/>
                <a:gd name="connsiteX1" fmla="*/ 434635 w 607785"/>
                <a:gd name="connsiteY1" fmla="*/ 22812 h 1088648"/>
                <a:gd name="connsiteX2" fmla="*/ 242130 w 607785"/>
                <a:gd name="connsiteY2" fmla="*/ 22812 h 1088648"/>
                <a:gd name="connsiteX3" fmla="*/ 73688 w 607785"/>
                <a:gd name="connsiteY3" fmla="*/ 275475 h 1088648"/>
                <a:gd name="connsiteX4" fmla="*/ 1498 w 607785"/>
                <a:gd name="connsiteY4" fmla="*/ 624391 h 1088648"/>
                <a:gd name="connsiteX5" fmla="*/ 133846 w 607785"/>
                <a:gd name="connsiteY5" fmla="*/ 997369 h 1088648"/>
                <a:gd name="connsiteX6" fmla="*/ 422604 w 607785"/>
                <a:gd name="connsiteY6" fmla="*/ 1081591 h 1088648"/>
                <a:gd name="connsiteX7" fmla="*/ 603077 w 607785"/>
                <a:gd name="connsiteY7" fmla="*/ 865022 h 1088648"/>
                <a:gd name="connsiteX8" fmla="*/ 554951 w 607785"/>
                <a:gd name="connsiteY8" fmla="*/ 612359 h 1088648"/>
                <a:gd name="connsiteX9" fmla="*/ 554951 w 607785"/>
                <a:gd name="connsiteY9" fmla="*/ 395791 h 1088648"/>
                <a:gd name="connsiteX10" fmla="*/ 603077 w 607785"/>
                <a:gd name="connsiteY10" fmla="*/ 263443 h 1088648"/>
                <a:gd name="connsiteX11" fmla="*/ 554951 w 607785"/>
                <a:gd name="connsiteY11" fmla="*/ 119064 h 108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07785" h="1088648">
                  <a:moveTo>
                    <a:pt x="554951" y="119064"/>
                  </a:moveTo>
                  <a:cubicBezTo>
                    <a:pt x="526877" y="78959"/>
                    <a:pt x="486772" y="38854"/>
                    <a:pt x="434635" y="22812"/>
                  </a:cubicBezTo>
                  <a:cubicBezTo>
                    <a:pt x="382498" y="6770"/>
                    <a:pt x="302288" y="-19299"/>
                    <a:pt x="242130" y="22812"/>
                  </a:cubicBezTo>
                  <a:cubicBezTo>
                    <a:pt x="181972" y="64923"/>
                    <a:pt x="113793" y="175212"/>
                    <a:pt x="73688" y="275475"/>
                  </a:cubicBezTo>
                  <a:cubicBezTo>
                    <a:pt x="33583" y="375738"/>
                    <a:pt x="-8528" y="504075"/>
                    <a:pt x="1498" y="624391"/>
                  </a:cubicBezTo>
                  <a:cubicBezTo>
                    <a:pt x="11524" y="744707"/>
                    <a:pt x="63662" y="921169"/>
                    <a:pt x="133846" y="997369"/>
                  </a:cubicBezTo>
                  <a:cubicBezTo>
                    <a:pt x="204030" y="1073569"/>
                    <a:pt x="344399" y="1103649"/>
                    <a:pt x="422604" y="1081591"/>
                  </a:cubicBezTo>
                  <a:cubicBezTo>
                    <a:pt x="500809" y="1059533"/>
                    <a:pt x="581019" y="943227"/>
                    <a:pt x="603077" y="865022"/>
                  </a:cubicBezTo>
                  <a:cubicBezTo>
                    <a:pt x="625135" y="786817"/>
                    <a:pt x="562972" y="690564"/>
                    <a:pt x="554951" y="612359"/>
                  </a:cubicBezTo>
                  <a:cubicBezTo>
                    <a:pt x="546930" y="534154"/>
                    <a:pt x="546930" y="453944"/>
                    <a:pt x="554951" y="395791"/>
                  </a:cubicBezTo>
                  <a:cubicBezTo>
                    <a:pt x="562972" y="337638"/>
                    <a:pt x="603077" y="307559"/>
                    <a:pt x="603077" y="263443"/>
                  </a:cubicBezTo>
                  <a:cubicBezTo>
                    <a:pt x="603077" y="219327"/>
                    <a:pt x="583025" y="159169"/>
                    <a:pt x="554951" y="119064"/>
                  </a:cubicBezTo>
                  <a:close/>
                </a:path>
              </a:pathLst>
            </a:custGeom>
            <a:solidFill>
              <a:srgbClr val="C739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FA36D1B-CEDC-4543-A1BB-EC22B0E90750}"/>
                </a:ext>
              </a:extLst>
            </p:cNvPr>
            <p:cNvSpPr/>
            <p:nvPr/>
          </p:nvSpPr>
          <p:spPr>
            <a:xfrm>
              <a:off x="6983518" y="890069"/>
              <a:ext cx="439825" cy="491772"/>
            </a:xfrm>
            <a:custGeom>
              <a:avLst/>
              <a:gdLst>
                <a:gd name="connsiteX0" fmla="*/ 352220 w 749508"/>
                <a:gd name="connsiteY0" fmla="*/ 207414 h 973885"/>
                <a:gd name="connsiteX1" fmla="*/ 207841 w 749508"/>
                <a:gd name="connsiteY1" fmla="*/ 63035 h 973885"/>
                <a:gd name="connsiteX2" fmla="*/ 171746 w 749508"/>
                <a:gd name="connsiteY2" fmla="*/ 2877 h 973885"/>
                <a:gd name="connsiteX3" fmla="*/ 87525 w 749508"/>
                <a:gd name="connsiteY3" fmla="*/ 147256 h 973885"/>
                <a:gd name="connsiteX4" fmla="*/ 171746 w 749508"/>
                <a:gd name="connsiteY4" fmla="*/ 267572 h 973885"/>
                <a:gd name="connsiteX5" fmla="*/ 195809 w 749508"/>
                <a:gd name="connsiteY5" fmla="*/ 267572 h 973885"/>
                <a:gd name="connsiteX6" fmla="*/ 63462 w 749508"/>
                <a:gd name="connsiteY6" fmla="*/ 303666 h 973885"/>
                <a:gd name="connsiteX7" fmla="*/ 15335 w 749508"/>
                <a:gd name="connsiteY7" fmla="*/ 291635 h 973885"/>
                <a:gd name="connsiteX8" fmla="*/ 15335 w 749508"/>
                <a:gd name="connsiteY8" fmla="*/ 520235 h 973885"/>
                <a:gd name="connsiteX9" fmla="*/ 195809 w 749508"/>
                <a:gd name="connsiteY9" fmla="*/ 448045 h 973885"/>
                <a:gd name="connsiteX10" fmla="*/ 147683 w 749508"/>
                <a:gd name="connsiteY10" fmla="*/ 628519 h 973885"/>
                <a:gd name="connsiteX11" fmla="*/ 195809 w 749508"/>
                <a:gd name="connsiteY11" fmla="*/ 688677 h 973885"/>
                <a:gd name="connsiteX12" fmla="*/ 267998 w 749508"/>
                <a:gd name="connsiteY12" fmla="*/ 700709 h 973885"/>
                <a:gd name="connsiteX13" fmla="*/ 316125 w 749508"/>
                <a:gd name="connsiteY13" fmla="*/ 496172 h 973885"/>
                <a:gd name="connsiteX14" fmla="*/ 472535 w 749508"/>
                <a:gd name="connsiteY14" fmla="*/ 436014 h 973885"/>
                <a:gd name="connsiteX15" fmla="*/ 713167 w 749508"/>
                <a:gd name="connsiteY15" fmla="*/ 881182 h 973885"/>
                <a:gd name="connsiteX16" fmla="*/ 713167 w 749508"/>
                <a:gd name="connsiteY16" fmla="*/ 941340 h 973885"/>
                <a:gd name="connsiteX17" fmla="*/ 725198 w 749508"/>
                <a:gd name="connsiteY17" fmla="*/ 484140 h 973885"/>
                <a:gd name="connsiteX18" fmla="*/ 352220 w 749508"/>
                <a:gd name="connsiteY18" fmla="*/ 207414 h 973885"/>
                <a:gd name="connsiteX0" fmla="*/ 366890 w 764178"/>
                <a:gd name="connsiteY0" fmla="*/ 207414 h 973885"/>
                <a:gd name="connsiteX1" fmla="*/ 222511 w 764178"/>
                <a:gd name="connsiteY1" fmla="*/ 63035 h 973885"/>
                <a:gd name="connsiteX2" fmla="*/ 186416 w 764178"/>
                <a:gd name="connsiteY2" fmla="*/ 2877 h 973885"/>
                <a:gd name="connsiteX3" fmla="*/ 102195 w 764178"/>
                <a:gd name="connsiteY3" fmla="*/ 147256 h 973885"/>
                <a:gd name="connsiteX4" fmla="*/ 186416 w 764178"/>
                <a:gd name="connsiteY4" fmla="*/ 267572 h 973885"/>
                <a:gd name="connsiteX5" fmla="*/ 210479 w 764178"/>
                <a:gd name="connsiteY5" fmla="*/ 267572 h 973885"/>
                <a:gd name="connsiteX6" fmla="*/ 78132 w 764178"/>
                <a:gd name="connsiteY6" fmla="*/ 303666 h 973885"/>
                <a:gd name="connsiteX7" fmla="*/ 4605 w 764178"/>
                <a:gd name="connsiteY7" fmla="*/ 301795 h 973885"/>
                <a:gd name="connsiteX8" fmla="*/ 30005 w 764178"/>
                <a:gd name="connsiteY8" fmla="*/ 520235 h 973885"/>
                <a:gd name="connsiteX9" fmla="*/ 210479 w 764178"/>
                <a:gd name="connsiteY9" fmla="*/ 448045 h 973885"/>
                <a:gd name="connsiteX10" fmla="*/ 162353 w 764178"/>
                <a:gd name="connsiteY10" fmla="*/ 628519 h 973885"/>
                <a:gd name="connsiteX11" fmla="*/ 210479 w 764178"/>
                <a:gd name="connsiteY11" fmla="*/ 688677 h 973885"/>
                <a:gd name="connsiteX12" fmla="*/ 282668 w 764178"/>
                <a:gd name="connsiteY12" fmla="*/ 700709 h 973885"/>
                <a:gd name="connsiteX13" fmla="*/ 330795 w 764178"/>
                <a:gd name="connsiteY13" fmla="*/ 496172 h 973885"/>
                <a:gd name="connsiteX14" fmla="*/ 487205 w 764178"/>
                <a:gd name="connsiteY14" fmla="*/ 436014 h 973885"/>
                <a:gd name="connsiteX15" fmla="*/ 727837 w 764178"/>
                <a:gd name="connsiteY15" fmla="*/ 881182 h 973885"/>
                <a:gd name="connsiteX16" fmla="*/ 727837 w 764178"/>
                <a:gd name="connsiteY16" fmla="*/ 941340 h 973885"/>
                <a:gd name="connsiteX17" fmla="*/ 739868 w 764178"/>
                <a:gd name="connsiteY17" fmla="*/ 484140 h 973885"/>
                <a:gd name="connsiteX18" fmla="*/ 366890 w 764178"/>
                <a:gd name="connsiteY18" fmla="*/ 207414 h 973885"/>
                <a:gd name="connsiteX0" fmla="*/ 365010 w 762298"/>
                <a:gd name="connsiteY0" fmla="*/ 207414 h 973885"/>
                <a:gd name="connsiteX1" fmla="*/ 220631 w 762298"/>
                <a:gd name="connsiteY1" fmla="*/ 63035 h 973885"/>
                <a:gd name="connsiteX2" fmla="*/ 184536 w 762298"/>
                <a:gd name="connsiteY2" fmla="*/ 2877 h 973885"/>
                <a:gd name="connsiteX3" fmla="*/ 100315 w 762298"/>
                <a:gd name="connsiteY3" fmla="*/ 147256 h 973885"/>
                <a:gd name="connsiteX4" fmla="*/ 184536 w 762298"/>
                <a:gd name="connsiteY4" fmla="*/ 267572 h 973885"/>
                <a:gd name="connsiteX5" fmla="*/ 208599 w 762298"/>
                <a:gd name="connsiteY5" fmla="*/ 267572 h 973885"/>
                <a:gd name="connsiteX6" fmla="*/ 50852 w 762298"/>
                <a:gd name="connsiteY6" fmla="*/ 278266 h 973885"/>
                <a:gd name="connsiteX7" fmla="*/ 2725 w 762298"/>
                <a:gd name="connsiteY7" fmla="*/ 301795 h 973885"/>
                <a:gd name="connsiteX8" fmla="*/ 28125 w 762298"/>
                <a:gd name="connsiteY8" fmla="*/ 520235 h 973885"/>
                <a:gd name="connsiteX9" fmla="*/ 208599 w 762298"/>
                <a:gd name="connsiteY9" fmla="*/ 448045 h 973885"/>
                <a:gd name="connsiteX10" fmla="*/ 160473 w 762298"/>
                <a:gd name="connsiteY10" fmla="*/ 628519 h 973885"/>
                <a:gd name="connsiteX11" fmla="*/ 208599 w 762298"/>
                <a:gd name="connsiteY11" fmla="*/ 688677 h 973885"/>
                <a:gd name="connsiteX12" fmla="*/ 280788 w 762298"/>
                <a:gd name="connsiteY12" fmla="*/ 700709 h 973885"/>
                <a:gd name="connsiteX13" fmla="*/ 328915 w 762298"/>
                <a:gd name="connsiteY13" fmla="*/ 496172 h 973885"/>
                <a:gd name="connsiteX14" fmla="*/ 485325 w 762298"/>
                <a:gd name="connsiteY14" fmla="*/ 436014 h 973885"/>
                <a:gd name="connsiteX15" fmla="*/ 725957 w 762298"/>
                <a:gd name="connsiteY15" fmla="*/ 881182 h 973885"/>
                <a:gd name="connsiteX16" fmla="*/ 725957 w 762298"/>
                <a:gd name="connsiteY16" fmla="*/ 941340 h 973885"/>
                <a:gd name="connsiteX17" fmla="*/ 737988 w 762298"/>
                <a:gd name="connsiteY17" fmla="*/ 484140 h 973885"/>
                <a:gd name="connsiteX18" fmla="*/ 365010 w 762298"/>
                <a:gd name="connsiteY18" fmla="*/ 207414 h 973885"/>
                <a:gd name="connsiteX0" fmla="*/ 365010 w 762298"/>
                <a:gd name="connsiteY0" fmla="*/ 207414 h 973885"/>
                <a:gd name="connsiteX1" fmla="*/ 220631 w 762298"/>
                <a:gd name="connsiteY1" fmla="*/ 63035 h 973885"/>
                <a:gd name="connsiteX2" fmla="*/ 184536 w 762298"/>
                <a:gd name="connsiteY2" fmla="*/ 2877 h 973885"/>
                <a:gd name="connsiteX3" fmla="*/ 100315 w 762298"/>
                <a:gd name="connsiteY3" fmla="*/ 147256 h 973885"/>
                <a:gd name="connsiteX4" fmla="*/ 184536 w 762298"/>
                <a:gd name="connsiteY4" fmla="*/ 267572 h 973885"/>
                <a:gd name="connsiteX5" fmla="*/ 218759 w 762298"/>
                <a:gd name="connsiteY5" fmla="*/ 287892 h 973885"/>
                <a:gd name="connsiteX6" fmla="*/ 50852 w 762298"/>
                <a:gd name="connsiteY6" fmla="*/ 278266 h 973885"/>
                <a:gd name="connsiteX7" fmla="*/ 2725 w 762298"/>
                <a:gd name="connsiteY7" fmla="*/ 301795 h 973885"/>
                <a:gd name="connsiteX8" fmla="*/ 28125 w 762298"/>
                <a:gd name="connsiteY8" fmla="*/ 520235 h 973885"/>
                <a:gd name="connsiteX9" fmla="*/ 208599 w 762298"/>
                <a:gd name="connsiteY9" fmla="*/ 448045 h 973885"/>
                <a:gd name="connsiteX10" fmla="*/ 160473 w 762298"/>
                <a:gd name="connsiteY10" fmla="*/ 628519 h 973885"/>
                <a:gd name="connsiteX11" fmla="*/ 208599 w 762298"/>
                <a:gd name="connsiteY11" fmla="*/ 688677 h 973885"/>
                <a:gd name="connsiteX12" fmla="*/ 280788 w 762298"/>
                <a:gd name="connsiteY12" fmla="*/ 700709 h 973885"/>
                <a:gd name="connsiteX13" fmla="*/ 328915 w 762298"/>
                <a:gd name="connsiteY13" fmla="*/ 496172 h 973885"/>
                <a:gd name="connsiteX14" fmla="*/ 485325 w 762298"/>
                <a:gd name="connsiteY14" fmla="*/ 436014 h 973885"/>
                <a:gd name="connsiteX15" fmla="*/ 725957 w 762298"/>
                <a:gd name="connsiteY15" fmla="*/ 881182 h 973885"/>
                <a:gd name="connsiteX16" fmla="*/ 725957 w 762298"/>
                <a:gd name="connsiteY16" fmla="*/ 941340 h 973885"/>
                <a:gd name="connsiteX17" fmla="*/ 737988 w 762298"/>
                <a:gd name="connsiteY17" fmla="*/ 484140 h 973885"/>
                <a:gd name="connsiteX18" fmla="*/ 365010 w 762298"/>
                <a:gd name="connsiteY18" fmla="*/ 207414 h 973885"/>
                <a:gd name="connsiteX0" fmla="*/ 365010 w 762298"/>
                <a:gd name="connsiteY0" fmla="*/ 204584 h 971055"/>
                <a:gd name="connsiteX1" fmla="*/ 220631 w 762298"/>
                <a:gd name="connsiteY1" fmla="*/ 60205 h 971055"/>
                <a:gd name="connsiteX2" fmla="*/ 184536 w 762298"/>
                <a:gd name="connsiteY2" fmla="*/ 47 h 971055"/>
                <a:gd name="connsiteX3" fmla="*/ 39355 w 762298"/>
                <a:gd name="connsiteY3" fmla="*/ 68226 h 971055"/>
                <a:gd name="connsiteX4" fmla="*/ 184536 w 762298"/>
                <a:gd name="connsiteY4" fmla="*/ 264742 h 971055"/>
                <a:gd name="connsiteX5" fmla="*/ 218759 w 762298"/>
                <a:gd name="connsiteY5" fmla="*/ 285062 h 971055"/>
                <a:gd name="connsiteX6" fmla="*/ 50852 w 762298"/>
                <a:gd name="connsiteY6" fmla="*/ 275436 h 971055"/>
                <a:gd name="connsiteX7" fmla="*/ 2725 w 762298"/>
                <a:gd name="connsiteY7" fmla="*/ 298965 h 971055"/>
                <a:gd name="connsiteX8" fmla="*/ 28125 w 762298"/>
                <a:gd name="connsiteY8" fmla="*/ 517405 h 971055"/>
                <a:gd name="connsiteX9" fmla="*/ 208599 w 762298"/>
                <a:gd name="connsiteY9" fmla="*/ 445215 h 971055"/>
                <a:gd name="connsiteX10" fmla="*/ 160473 w 762298"/>
                <a:gd name="connsiteY10" fmla="*/ 625689 h 971055"/>
                <a:gd name="connsiteX11" fmla="*/ 208599 w 762298"/>
                <a:gd name="connsiteY11" fmla="*/ 685847 h 971055"/>
                <a:gd name="connsiteX12" fmla="*/ 280788 w 762298"/>
                <a:gd name="connsiteY12" fmla="*/ 697879 h 971055"/>
                <a:gd name="connsiteX13" fmla="*/ 328915 w 762298"/>
                <a:gd name="connsiteY13" fmla="*/ 493342 h 971055"/>
                <a:gd name="connsiteX14" fmla="*/ 485325 w 762298"/>
                <a:gd name="connsiteY14" fmla="*/ 433184 h 971055"/>
                <a:gd name="connsiteX15" fmla="*/ 725957 w 762298"/>
                <a:gd name="connsiteY15" fmla="*/ 878352 h 971055"/>
                <a:gd name="connsiteX16" fmla="*/ 725957 w 762298"/>
                <a:gd name="connsiteY16" fmla="*/ 938510 h 971055"/>
                <a:gd name="connsiteX17" fmla="*/ 737988 w 762298"/>
                <a:gd name="connsiteY17" fmla="*/ 481310 h 971055"/>
                <a:gd name="connsiteX18" fmla="*/ 365010 w 762298"/>
                <a:gd name="connsiteY18" fmla="*/ 204584 h 971055"/>
                <a:gd name="connsiteX0" fmla="*/ 365010 w 762298"/>
                <a:gd name="connsiteY0" fmla="*/ 252091 h 1018562"/>
                <a:gd name="connsiteX1" fmla="*/ 230791 w 762298"/>
                <a:gd name="connsiteY1" fmla="*/ 11192 h 1018562"/>
                <a:gd name="connsiteX2" fmla="*/ 184536 w 762298"/>
                <a:gd name="connsiteY2" fmla="*/ 47554 h 1018562"/>
                <a:gd name="connsiteX3" fmla="*/ 39355 w 762298"/>
                <a:gd name="connsiteY3" fmla="*/ 115733 h 1018562"/>
                <a:gd name="connsiteX4" fmla="*/ 184536 w 762298"/>
                <a:gd name="connsiteY4" fmla="*/ 312249 h 1018562"/>
                <a:gd name="connsiteX5" fmla="*/ 218759 w 762298"/>
                <a:gd name="connsiteY5" fmla="*/ 332569 h 1018562"/>
                <a:gd name="connsiteX6" fmla="*/ 50852 w 762298"/>
                <a:gd name="connsiteY6" fmla="*/ 322943 h 1018562"/>
                <a:gd name="connsiteX7" fmla="*/ 2725 w 762298"/>
                <a:gd name="connsiteY7" fmla="*/ 346472 h 1018562"/>
                <a:gd name="connsiteX8" fmla="*/ 28125 w 762298"/>
                <a:gd name="connsiteY8" fmla="*/ 564912 h 1018562"/>
                <a:gd name="connsiteX9" fmla="*/ 208599 w 762298"/>
                <a:gd name="connsiteY9" fmla="*/ 492722 h 1018562"/>
                <a:gd name="connsiteX10" fmla="*/ 160473 w 762298"/>
                <a:gd name="connsiteY10" fmla="*/ 673196 h 1018562"/>
                <a:gd name="connsiteX11" fmla="*/ 208599 w 762298"/>
                <a:gd name="connsiteY11" fmla="*/ 733354 h 1018562"/>
                <a:gd name="connsiteX12" fmla="*/ 280788 w 762298"/>
                <a:gd name="connsiteY12" fmla="*/ 745386 h 1018562"/>
                <a:gd name="connsiteX13" fmla="*/ 328915 w 762298"/>
                <a:gd name="connsiteY13" fmla="*/ 540849 h 1018562"/>
                <a:gd name="connsiteX14" fmla="*/ 485325 w 762298"/>
                <a:gd name="connsiteY14" fmla="*/ 480691 h 1018562"/>
                <a:gd name="connsiteX15" fmla="*/ 725957 w 762298"/>
                <a:gd name="connsiteY15" fmla="*/ 925859 h 1018562"/>
                <a:gd name="connsiteX16" fmla="*/ 725957 w 762298"/>
                <a:gd name="connsiteY16" fmla="*/ 986017 h 1018562"/>
                <a:gd name="connsiteX17" fmla="*/ 737988 w 762298"/>
                <a:gd name="connsiteY17" fmla="*/ 528817 h 1018562"/>
                <a:gd name="connsiteX18" fmla="*/ 365010 w 762298"/>
                <a:gd name="connsiteY18" fmla="*/ 252091 h 1018562"/>
                <a:gd name="connsiteX0" fmla="*/ 365010 w 762298"/>
                <a:gd name="connsiteY0" fmla="*/ 257298 h 1023769"/>
                <a:gd name="connsiteX1" fmla="*/ 230791 w 762298"/>
                <a:gd name="connsiteY1" fmla="*/ 16399 h 1023769"/>
                <a:gd name="connsiteX2" fmla="*/ 154056 w 762298"/>
                <a:gd name="connsiteY2" fmla="*/ 32441 h 1023769"/>
                <a:gd name="connsiteX3" fmla="*/ 39355 w 762298"/>
                <a:gd name="connsiteY3" fmla="*/ 120940 h 1023769"/>
                <a:gd name="connsiteX4" fmla="*/ 184536 w 762298"/>
                <a:gd name="connsiteY4" fmla="*/ 317456 h 1023769"/>
                <a:gd name="connsiteX5" fmla="*/ 218759 w 762298"/>
                <a:gd name="connsiteY5" fmla="*/ 337776 h 1023769"/>
                <a:gd name="connsiteX6" fmla="*/ 50852 w 762298"/>
                <a:gd name="connsiteY6" fmla="*/ 328150 h 1023769"/>
                <a:gd name="connsiteX7" fmla="*/ 2725 w 762298"/>
                <a:gd name="connsiteY7" fmla="*/ 351679 h 1023769"/>
                <a:gd name="connsiteX8" fmla="*/ 28125 w 762298"/>
                <a:gd name="connsiteY8" fmla="*/ 570119 h 1023769"/>
                <a:gd name="connsiteX9" fmla="*/ 208599 w 762298"/>
                <a:gd name="connsiteY9" fmla="*/ 497929 h 1023769"/>
                <a:gd name="connsiteX10" fmla="*/ 160473 w 762298"/>
                <a:gd name="connsiteY10" fmla="*/ 678403 h 1023769"/>
                <a:gd name="connsiteX11" fmla="*/ 208599 w 762298"/>
                <a:gd name="connsiteY11" fmla="*/ 738561 h 1023769"/>
                <a:gd name="connsiteX12" fmla="*/ 280788 w 762298"/>
                <a:gd name="connsiteY12" fmla="*/ 750593 h 1023769"/>
                <a:gd name="connsiteX13" fmla="*/ 328915 w 762298"/>
                <a:gd name="connsiteY13" fmla="*/ 546056 h 1023769"/>
                <a:gd name="connsiteX14" fmla="*/ 485325 w 762298"/>
                <a:gd name="connsiteY14" fmla="*/ 485898 h 1023769"/>
                <a:gd name="connsiteX15" fmla="*/ 725957 w 762298"/>
                <a:gd name="connsiteY15" fmla="*/ 931066 h 1023769"/>
                <a:gd name="connsiteX16" fmla="*/ 725957 w 762298"/>
                <a:gd name="connsiteY16" fmla="*/ 991224 h 1023769"/>
                <a:gd name="connsiteX17" fmla="*/ 737988 w 762298"/>
                <a:gd name="connsiteY17" fmla="*/ 534024 h 1023769"/>
                <a:gd name="connsiteX18" fmla="*/ 365010 w 762298"/>
                <a:gd name="connsiteY18" fmla="*/ 257298 h 1023769"/>
                <a:gd name="connsiteX0" fmla="*/ 365010 w 762298"/>
                <a:gd name="connsiteY0" fmla="*/ 252092 h 1018563"/>
                <a:gd name="connsiteX1" fmla="*/ 230791 w 762298"/>
                <a:gd name="connsiteY1" fmla="*/ 11193 h 1018563"/>
                <a:gd name="connsiteX2" fmla="*/ 148976 w 762298"/>
                <a:gd name="connsiteY2" fmla="*/ 47555 h 1018563"/>
                <a:gd name="connsiteX3" fmla="*/ 39355 w 762298"/>
                <a:gd name="connsiteY3" fmla="*/ 115734 h 1018563"/>
                <a:gd name="connsiteX4" fmla="*/ 184536 w 762298"/>
                <a:gd name="connsiteY4" fmla="*/ 312250 h 1018563"/>
                <a:gd name="connsiteX5" fmla="*/ 218759 w 762298"/>
                <a:gd name="connsiteY5" fmla="*/ 332570 h 1018563"/>
                <a:gd name="connsiteX6" fmla="*/ 50852 w 762298"/>
                <a:gd name="connsiteY6" fmla="*/ 322944 h 1018563"/>
                <a:gd name="connsiteX7" fmla="*/ 2725 w 762298"/>
                <a:gd name="connsiteY7" fmla="*/ 346473 h 1018563"/>
                <a:gd name="connsiteX8" fmla="*/ 28125 w 762298"/>
                <a:gd name="connsiteY8" fmla="*/ 564913 h 1018563"/>
                <a:gd name="connsiteX9" fmla="*/ 208599 w 762298"/>
                <a:gd name="connsiteY9" fmla="*/ 492723 h 1018563"/>
                <a:gd name="connsiteX10" fmla="*/ 160473 w 762298"/>
                <a:gd name="connsiteY10" fmla="*/ 673197 h 1018563"/>
                <a:gd name="connsiteX11" fmla="*/ 208599 w 762298"/>
                <a:gd name="connsiteY11" fmla="*/ 733355 h 1018563"/>
                <a:gd name="connsiteX12" fmla="*/ 280788 w 762298"/>
                <a:gd name="connsiteY12" fmla="*/ 745387 h 1018563"/>
                <a:gd name="connsiteX13" fmla="*/ 328915 w 762298"/>
                <a:gd name="connsiteY13" fmla="*/ 540850 h 1018563"/>
                <a:gd name="connsiteX14" fmla="*/ 485325 w 762298"/>
                <a:gd name="connsiteY14" fmla="*/ 480692 h 1018563"/>
                <a:gd name="connsiteX15" fmla="*/ 725957 w 762298"/>
                <a:gd name="connsiteY15" fmla="*/ 925860 h 1018563"/>
                <a:gd name="connsiteX16" fmla="*/ 725957 w 762298"/>
                <a:gd name="connsiteY16" fmla="*/ 986018 h 1018563"/>
                <a:gd name="connsiteX17" fmla="*/ 737988 w 762298"/>
                <a:gd name="connsiteY17" fmla="*/ 528818 h 1018563"/>
                <a:gd name="connsiteX18" fmla="*/ 365010 w 762298"/>
                <a:gd name="connsiteY18" fmla="*/ 252092 h 1018563"/>
                <a:gd name="connsiteX0" fmla="*/ 365010 w 762298"/>
                <a:gd name="connsiteY0" fmla="*/ 279841 h 1046312"/>
                <a:gd name="connsiteX1" fmla="*/ 220631 w 762298"/>
                <a:gd name="connsiteY1" fmla="*/ 8462 h 1046312"/>
                <a:gd name="connsiteX2" fmla="*/ 148976 w 762298"/>
                <a:gd name="connsiteY2" fmla="*/ 75304 h 1046312"/>
                <a:gd name="connsiteX3" fmla="*/ 39355 w 762298"/>
                <a:gd name="connsiteY3" fmla="*/ 143483 h 1046312"/>
                <a:gd name="connsiteX4" fmla="*/ 184536 w 762298"/>
                <a:gd name="connsiteY4" fmla="*/ 339999 h 1046312"/>
                <a:gd name="connsiteX5" fmla="*/ 218759 w 762298"/>
                <a:gd name="connsiteY5" fmla="*/ 360319 h 1046312"/>
                <a:gd name="connsiteX6" fmla="*/ 50852 w 762298"/>
                <a:gd name="connsiteY6" fmla="*/ 350693 h 1046312"/>
                <a:gd name="connsiteX7" fmla="*/ 2725 w 762298"/>
                <a:gd name="connsiteY7" fmla="*/ 374222 h 1046312"/>
                <a:gd name="connsiteX8" fmla="*/ 28125 w 762298"/>
                <a:gd name="connsiteY8" fmla="*/ 592662 h 1046312"/>
                <a:gd name="connsiteX9" fmla="*/ 208599 w 762298"/>
                <a:gd name="connsiteY9" fmla="*/ 520472 h 1046312"/>
                <a:gd name="connsiteX10" fmla="*/ 160473 w 762298"/>
                <a:gd name="connsiteY10" fmla="*/ 700946 h 1046312"/>
                <a:gd name="connsiteX11" fmla="*/ 208599 w 762298"/>
                <a:gd name="connsiteY11" fmla="*/ 761104 h 1046312"/>
                <a:gd name="connsiteX12" fmla="*/ 280788 w 762298"/>
                <a:gd name="connsiteY12" fmla="*/ 773136 h 1046312"/>
                <a:gd name="connsiteX13" fmla="*/ 328915 w 762298"/>
                <a:gd name="connsiteY13" fmla="*/ 568599 h 1046312"/>
                <a:gd name="connsiteX14" fmla="*/ 485325 w 762298"/>
                <a:gd name="connsiteY14" fmla="*/ 508441 h 1046312"/>
                <a:gd name="connsiteX15" fmla="*/ 725957 w 762298"/>
                <a:gd name="connsiteY15" fmla="*/ 953609 h 1046312"/>
                <a:gd name="connsiteX16" fmla="*/ 725957 w 762298"/>
                <a:gd name="connsiteY16" fmla="*/ 1013767 h 1046312"/>
                <a:gd name="connsiteX17" fmla="*/ 737988 w 762298"/>
                <a:gd name="connsiteY17" fmla="*/ 556567 h 1046312"/>
                <a:gd name="connsiteX18" fmla="*/ 365010 w 762298"/>
                <a:gd name="connsiteY18" fmla="*/ 279841 h 1046312"/>
                <a:gd name="connsiteX0" fmla="*/ 365010 w 762298"/>
                <a:gd name="connsiteY0" fmla="*/ 279841 h 1046312"/>
                <a:gd name="connsiteX1" fmla="*/ 220631 w 762298"/>
                <a:gd name="connsiteY1" fmla="*/ 8462 h 1046312"/>
                <a:gd name="connsiteX2" fmla="*/ 148976 w 762298"/>
                <a:gd name="connsiteY2" fmla="*/ 75304 h 1046312"/>
                <a:gd name="connsiteX3" fmla="*/ 39355 w 762298"/>
                <a:gd name="connsiteY3" fmla="*/ 143483 h 1046312"/>
                <a:gd name="connsiteX4" fmla="*/ 184536 w 762298"/>
                <a:gd name="connsiteY4" fmla="*/ 339999 h 1046312"/>
                <a:gd name="connsiteX5" fmla="*/ 218759 w 762298"/>
                <a:gd name="connsiteY5" fmla="*/ 339999 h 1046312"/>
                <a:gd name="connsiteX6" fmla="*/ 50852 w 762298"/>
                <a:gd name="connsiteY6" fmla="*/ 350693 h 1046312"/>
                <a:gd name="connsiteX7" fmla="*/ 2725 w 762298"/>
                <a:gd name="connsiteY7" fmla="*/ 374222 h 1046312"/>
                <a:gd name="connsiteX8" fmla="*/ 28125 w 762298"/>
                <a:gd name="connsiteY8" fmla="*/ 592662 h 1046312"/>
                <a:gd name="connsiteX9" fmla="*/ 208599 w 762298"/>
                <a:gd name="connsiteY9" fmla="*/ 520472 h 1046312"/>
                <a:gd name="connsiteX10" fmla="*/ 160473 w 762298"/>
                <a:gd name="connsiteY10" fmla="*/ 700946 h 1046312"/>
                <a:gd name="connsiteX11" fmla="*/ 208599 w 762298"/>
                <a:gd name="connsiteY11" fmla="*/ 761104 h 1046312"/>
                <a:gd name="connsiteX12" fmla="*/ 280788 w 762298"/>
                <a:gd name="connsiteY12" fmla="*/ 773136 h 1046312"/>
                <a:gd name="connsiteX13" fmla="*/ 328915 w 762298"/>
                <a:gd name="connsiteY13" fmla="*/ 568599 h 1046312"/>
                <a:gd name="connsiteX14" fmla="*/ 485325 w 762298"/>
                <a:gd name="connsiteY14" fmla="*/ 508441 h 1046312"/>
                <a:gd name="connsiteX15" fmla="*/ 725957 w 762298"/>
                <a:gd name="connsiteY15" fmla="*/ 953609 h 1046312"/>
                <a:gd name="connsiteX16" fmla="*/ 725957 w 762298"/>
                <a:gd name="connsiteY16" fmla="*/ 1013767 h 1046312"/>
                <a:gd name="connsiteX17" fmla="*/ 737988 w 762298"/>
                <a:gd name="connsiteY17" fmla="*/ 556567 h 1046312"/>
                <a:gd name="connsiteX18" fmla="*/ 365010 w 762298"/>
                <a:gd name="connsiteY18" fmla="*/ 279841 h 1046312"/>
                <a:gd name="connsiteX0" fmla="*/ 388225 w 785513"/>
                <a:gd name="connsiteY0" fmla="*/ 279841 h 1046312"/>
                <a:gd name="connsiteX1" fmla="*/ 243846 w 785513"/>
                <a:gd name="connsiteY1" fmla="*/ 8462 h 1046312"/>
                <a:gd name="connsiteX2" fmla="*/ 172191 w 785513"/>
                <a:gd name="connsiteY2" fmla="*/ 75304 h 1046312"/>
                <a:gd name="connsiteX3" fmla="*/ 62570 w 785513"/>
                <a:gd name="connsiteY3" fmla="*/ 143483 h 1046312"/>
                <a:gd name="connsiteX4" fmla="*/ 207751 w 785513"/>
                <a:gd name="connsiteY4" fmla="*/ 339999 h 1046312"/>
                <a:gd name="connsiteX5" fmla="*/ 241974 w 785513"/>
                <a:gd name="connsiteY5" fmla="*/ 339999 h 1046312"/>
                <a:gd name="connsiteX6" fmla="*/ 74067 w 785513"/>
                <a:gd name="connsiteY6" fmla="*/ 350693 h 1046312"/>
                <a:gd name="connsiteX7" fmla="*/ 540 w 785513"/>
                <a:gd name="connsiteY7" fmla="*/ 358982 h 1046312"/>
                <a:gd name="connsiteX8" fmla="*/ 51340 w 785513"/>
                <a:gd name="connsiteY8" fmla="*/ 592662 h 1046312"/>
                <a:gd name="connsiteX9" fmla="*/ 231814 w 785513"/>
                <a:gd name="connsiteY9" fmla="*/ 520472 h 1046312"/>
                <a:gd name="connsiteX10" fmla="*/ 183688 w 785513"/>
                <a:gd name="connsiteY10" fmla="*/ 700946 h 1046312"/>
                <a:gd name="connsiteX11" fmla="*/ 231814 w 785513"/>
                <a:gd name="connsiteY11" fmla="*/ 761104 h 1046312"/>
                <a:gd name="connsiteX12" fmla="*/ 304003 w 785513"/>
                <a:gd name="connsiteY12" fmla="*/ 773136 h 1046312"/>
                <a:gd name="connsiteX13" fmla="*/ 352130 w 785513"/>
                <a:gd name="connsiteY13" fmla="*/ 568599 h 1046312"/>
                <a:gd name="connsiteX14" fmla="*/ 508540 w 785513"/>
                <a:gd name="connsiteY14" fmla="*/ 508441 h 1046312"/>
                <a:gd name="connsiteX15" fmla="*/ 749172 w 785513"/>
                <a:gd name="connsiteY15" fmla="*/ 953609 h 1046312"/>
                <a:gd name="connsiteX16" fmla="*/ 749172 w 785513"/>
                <a:gd name="connsiteY16" fmla="*/ 1013767 h 1046312"/>
                <a:gd name="connsiteX17" fmla="*/ 761203 w 785513"/>
                <a:gd name="connsiteY17" fmla="*/ 556567 h 1046312"/>
                <a:gd name="connsiteX18" fmla="*/ 388225 w 785513"/>
                <a:gd name="connsiteY18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18112 w 795874"/>
                <a:gd name="connsiteY4" fmla="*/ 339999 h 1046312"/>
                <a:gd name="connsiteX5" fmla="*/ 252335 w 795874"/>
                <a:gd name="connsiteY5" fmla="*/ 339999 h 1046312"/>
                <a:gd name="connsiteX6" fmla="*/ 10901 w 795874"/>
                <a:gd name="connsiteY6" fmla="*/ 358982 h 1046312"/>
                <a:gd name="connsiteX7" fmla="*/ 61701 w 795874"/>
                <a:gd name="connsiteY7" fmla="*/ 592662 h 1046312"/>
                <a:gd name="connsiteX8" fmla="*/ 242175 w 795874"/>
                <a:gd name="connsiteY8" fmla="*/ 520472 h 1046312"/>
                <a:gd name="connsiteX9" fmla="*/ 194049 w 795874"/>
                <a:gd name="connsiteY9" fmla="*/ 700946 h 1046312"/>
                <a:gd name="connsiteX10" fmla="*/ 242175 w 795874"/>
                <a:gd name="connsiteY10" fmla="*/ 761104 h 1046312"/>
                <a:gd name="connsiteX11" fmla="*/ 314364 w 795874"/>
                <a:gd name="connsiteY11" fmla="*/ 773136 h 1046312"/>
                <a:gd name="connsiteX12" fmla="*/ 362491 w 795874"/>
                <a:gd name="connsiteY12" fmla="*/ 568599 h 1046312"/>
                <a:gd name="connsiteX13" fmla="*/ 518901 w 795874"/>
                <a:gd name="connsiteY13" fmla="*/ 508441 h 1046312"/>
                <a:gd name="connsiteX14" fmla="*/ 759533 w 795874"/>
                <a:gd name="connsiteY14" fmla="*/ 953609 h 1046312"/>
                <a:gd name="connsiteX15" fmla="*/ 759533 w 795874"/>
                <a:gd name="connsiteY15" fmla="*/ 1013767 h 1046312"/>
                <a:gd name="connsiteX16" fmla="*/ 771564 w 795874"/>
                <a:gd name="connsiteY16" fmla="*/ 556567 h 1046312"/>
                <a:gd name="connsiteX17" fmla="*/ 398586 w 795874"/>
                <a:gd name="connsiteY17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94049 w 795874"/>
                <a:gd name="connsiteY8" fmla="*/ 700946 h 1046312"/>
                <a:gd name="connsiteX9" fmla="*/ 242175 w 795874"/>
                <a:gd name="connsiteY9" fmla="*/ 76110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38169 w 795874"/>
                <a:gd name="connsiteY8" fmla="*/ 690786 h 1046312"/>
                <a:gd name="connsiteX9" fmla="*/ 242175 w 795874"/>
                <a:gd name="connsiteY9" fmla="*/ 76110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38169 w 795874"/>
                <a:gd name="connsiteY8" fmla="*/ 690786 h 1046312"/>
                <a:gd name="connsiteX9" fmla="*/ 237095 w 795874"/>
                <a:gd name="connsiteY9" fmla="*/ 72046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7537 w 794825"/>
                <a:gd name="connsiteY0" fmla="*/ 279841 h 1046312"/>
                <a:gd name="connsiteX1" fmla="*/ 253158 w 794825"/>
                <a:gd name="connsiteY1" fmla="*/ 8462 h 1046312"/>
                <a:gd name="connsiteX2" fmla="*/ 181503 w 794825"/>
                <a:gd name="connsiteY2" fmla="*/ 75304 h 1046312"/>
                <a:gd name="connsiteX3" fmla="*/ 71882 w 794825"/>
                <a:gd name="connsiteY3" fmla="*/ 143483 h 1046312"/>
                <a:gd name="connsiteX4" fmla="*/ 251286 w 794825"/>
                <a:gd name="connsiteY4" fmla="*/ 339999 h 1046312"/>
                <a:gd name="connsiteX5" fmla="*/ 9852 w 794825"/>
                <a:gd name="connsiteY5" fmla="*/ 358982 h 1046312"/>
                <a:gd name="connsiteX6" fmla="*/ 48087 w 794825"/>
                <a:gd name="connsiteY6" fmla="*/ 491865 h 1046312"/>
                <a:gd name="connsiteX7" fmla="*/ 60652 w 794825"/>
                <a:gd name="connsiteY7" fmla="*/ 592662 h 1046312"/>
                <a:gd name="connsiteX8" fmla="*/ 241126 w 794825"/>
                <a:gd name="connsiteY8" fmla="*/ 520472 h 1046312"/>
                <a:gd name="connsiteX9" fmla="*/ 137120 w 794825"/>
                <a:gd name="connsiteY9" fmla="*/ 690786 h 1046312"/>
                <a:gd name="connsiteX10" fmla="*/ 236046 w 794825"/>
                <a:gd name="connsiteY10" fmla="*/ 720464 h 1046312"/>
                <a:gd name="connsiteX11" fmla="*/ 313315 w 794825"/>
                <a:gd name="connsiteY11" fmla="*/ 773136 h 1046312"/>
                <a:gd name="connsiteX12" fmla="*/ 361442 w 794825"/>
                <a:gd name="connsiteY12" fmla="*/ 568599 h 1046312"/>
                <a:gd name="connsiteX13" fmla="*/ 517852 w 794825"/>
                <a:gd name="connsiteY13" fmla="*/ 508441 h 1046312"/>
                <a:gd name="connsiteX14" fmla="*/ 758484 w 794825"/>
                <a:gd name="connsiteY14" fmla="*/ 953609 h 1046312"/>
                <a:gd name="connsiteX15" fmla="*/ 758484 w 794825"/>
                <a:gd name="connsiteY15" fmla="*/ 1013767 h 1046312"/>
                <a:gd name="connsiteX16" fmla="*/ 770515 w 794825"/>
                <a:gd name="connsiteY16" fmla="*/ 556567 h 1046312"/>
                <a:gd name="connsiteX17" fmla="*/ 397537 w 794825"/>
                <a:gd name="connsiteY17" fmla="*/ 279841 h 1046312"/>
                <a:gd name="connsiteX0" fmla="*/ 397537 w 775871"/>
                <a:gd name="connsiteY0" fmla="*/ 279841 h 1046312"/>
                <a:gd name="connsiteX1" fmla="*/ 253158 w 775871"/>
                <a:gd name="connsiteY1" fmla="*/ 8462 h 1046312"/>
                <a:gd name="connsiteX2" fmla="*/ 181503 w 775871"/>
                <a:gd name="connsiteY2" fmla="*/ 75304 h 1046312"/>
                <a:gd name="connsiteX3" fmla="*/ 71882 w 775871"/>
                <a:gd name="connsiteY3" fmla="*/ 143483 h 1046312"/>
                <a:gd name="connsiteX4" fmla="*/ 251286 w 775871"/>
                <a:gd name="connsiteY4" fmla="*/ 339999 h 1046312"/>
                <a:gd name="connsiteX5" fmla="*/ 9852 w 775871"/>
                <a:gd name="connsiteY5" fmla="*/ 358982 h 1046312"/>
                <a:gd name="connsiteX6" fmla="*/ 48087 w 775871"/>
                <a:gd name="connsiteY6" fmla="*/ 491865 h 1046312"/>
                <a:gd name="connsiteX7" fmla="*/ 60652 w 775871"/>
                <a:gd name="connsiteY7" fmla="*/ 592662 h 1046312"/>
                <a:gd name="connsiteX8" fmla="*/ 241126 w 775871"/>
                <a:gd name="connsiteY8" fmla="*/ 520472 h 1046312"/>
                <a:gd name="connsiteX9" fmla="*/ 137120 w 775871"/>
                <a:gd name="connsiteY9" fmla="*/ 690786 h 1046312"/>
                <a:gd name="connsiteX10" fmla="*/ 236046 w 775871"/>
                <a:gd name="connsiteY10" fmla="*/ 720464 h 1046312"/>
                <a:gd name="connsiteX11" fmla="*/ 313315 w 775871"/>
                <a:gd name="connsiteY11" fmla="*/ 773136 h 1046312"/>
                <a:gd name="connsiteX12" fmla="*/ 361442 w 775871"/>
                <a:gd name="connsiteY12" fmla="*/ 568599 h 1046312"/>
                <a:gd name="connsiteX13" fmla="*/ 517852 w 775871"/>
                <a:gd name="connsiteY13" fmla="*/ 508441 h 1046312"/>
                <a:gd name="connsiteX14" fmla="*/ 758484 w 775871"/>
                <a:gd name="connsiteY14" fmla="*/ 953609 h 1046312"/>
                <a:gd name="connsiteX15" fmla="*/ 758484 w 775871"/>
                <a:gd name="connsiteY15" fmla="*/ 1013767 h 1046312"/>
                <a:gd name="connsiteX16" fmla="*/ 729875 w 775871"/>
                <a:gd name="connsiteY16" fmla="*/ 576887 h 1046312"/>
                <a:gd name="connsiteX17" fmla="*/ 397537 w 775871"/>
                <a:gd name="connsiteY17" fmla="*/ 279841 h 1046312"/>
                <a:gd name="connsiteX0" fmla="*/ 397537 w 767491"/>
                <a:gd name="connsiteY0" fmla="*/ 279841 h 1063019"/>
                <a:gd name="connsiteX1" fmla="*/ 253158 w 767491"/>
                <a:gd name="connsiteY1" fmla="*/ 8462 h 1063019"/>
                <a:gd name="connsiteX2" fmla="*/ 181503 w 767491"/>
                <a:gd name="connsiteY2" fmla="*/ 75304 h 1063019"/>
                <a:gd name="connsiteX3" fmla="*/ 71882 w 767491"/>
                <a:gd name="connsiteY3" fmla="*/ 143483 h 1063019"/>
                <a:gd name="connsiteX4" fmla="*/ 251286 w 767491"/>
                <a:gd name="connsiteY4" fmla="*/ 339999 h 1063019"/>
                <a:gd name="connsiteX5" fmla="*/ 9852 w 767491"/>
                <a:gd name="connsiteY5" fmla="*/ 358982 h 1063019"/>
                <a:gd name="connsiteX6" fmla="*/ 48087 w 767491"/>
                <a:gd name="connsiteY6" fmla="*/ 491865 h 1063019"/>
                <a:gd name="connsiteX7" fmla="*/ 60652 w 767491"/>
                <a:gd name="connsiteY7" fmla="*/ 592662 h 1063019"/>
                <a:gd name="connsiteX8" fmla="*/ 241126 w 767491"/>
                <a:gd name="connsiteY8" fmla="*/ 520472 h 1063019"/>
                <a:gd name="connsiteX9" fmla="*/ 137120 w 767491"/>
                <a:gd name="connsiteY9" fmla="*/ 690786 h 1063019"/>
                <a:gd name="connsiteX10" fmla="*/ 236046 w 767491"/>
                <a:gd name="connsiteY10" fmla="*/ 720464 h 1063019"/>
                <a:gd name="connsiteX11" fmla="*/ 313315 w 767491"/>
                <a:gd name="connsiteY11" fmla="*/ 773136 h 1063019"/>
                <a:gd name="connsiteX12" fmla="*/ 361442 w 767491"/>
                <a:gd name="connsiteY12" fmla="*/ 568599 h 1063019"/>
                <a:gd name="connsiteX13" fmla="*/ 517852 w 767491"/>
                <a:gd name="connsiteY13" fmla="*/ 508441 h 1063019"/>
                <a:gd name="connsiteX14" fmla="*/ 728004 w 767491"/>
                <a:gd name="connsiteY14" fmla="*/ 999329 h 1063019"/>
                <a:gd name="connsiteX15" fmla="*/ 758484 w 767491"/>
                <a:gd name="connsiteY15" fmla="*/ 1013767 h 1063019"/>
                <a:gd name="connsiteX16" fmla="*/ 729875 w 767491"/>
                <a:gd name="connsiteY16" fmla="*/ 576887 h 1063019"/>
                <a:gd name="connsiteX17" fmla="*/ 397537 w 767491"/>
                <a:gd name="connsiteY17" fmla="*/ 279841 h 1063019"/>
                <a:gd name="connsiteX0" fmla="*/ 397537 w 758605"/>
                <a:gd name="connsiteY0" fmla="*/ 279841 h 1063019"/>
                <a:gd name="connsiteX1" fmla="*/ 253158 w 758605"/>
                <a:gd name="connsiteY1" fmla="*/ 8462 h 1063019"/>
                <a:gd name="connsiteX2" fmla="*/ 181503 w 758605"/>
                <a:gd name="connsiteY2" fmla="*/ 75304 h 1063019"/>
                <a:gd name="connsiteX3" fmla="*/ 71882 w 758605"/>
                <a:gd name="connsiteY3" fmla="*/ 143483 h 1063019"/>
                <a:gd name="connsiteX4" fmla="*/ 251286 w 758605"/>
                <a:gd name="connsiteY4" fmla="*/ 339999 h 1063019"/>
                <a:gd name="connsiteX5" fmla="*/ 9852 w 758605"/>
                <a:gd name="connsiteY5" fmla="*/ 358982 h 1063019"/>
                <a:gd name="connsiteX6" fmla="*/ 48087 w 758605"/>
                <a:gd name="connsiteY6" fmla="*/ 491865 h 1063019"/>
                <a:gd name="connsiteX7" fmla="*/ 60652 w 758605"/>
                <a:gd name="connsiteY7" fmla="*/ 592662 h 1063019"/>
                <a:gd name="connsiteX8" fmla="*/ 241126 w 758605"/>
                <a:gd name="connsiteY8" fmla="*/ 520472 h 1063019"/>
                <a:gd name="connsiteX9" fmla="*/ 137120 w 758605"/>
                <a:gd name="connsiteY9" fmla="*/ 690786 h 1063019"/>
                <a:gd name="connsiteX10" fmla="*/ 236046 w 758605"/>
                <a:gd name="connsiteY10" fmla="*/ 720464 h 1063019"/>
                <a:gd name="connsiteX11" fmla="*/ 313315 w 758605"/>
                <a:gd name="connsiteY11" fmla="*/ 773136 h 1063019"/>
                <a:gd name="connsiteX12" fmla="*/ 361442 w 758605"/>
                <a:gd name="connsiteY12" fmla="*/ 568599 h 1063019"/>
                <a:gd name="connsiteX13" fmla="*/ 517852 w 758605"/>
                <a:gd name="connsiteY13" fmla="*/ 508441 h 1063019"/>
                <a:gd name="connsiteX14" fmla="*/ 728004 w 758605"/>
                <a:gd name="connsiteY14" fmla="*/ 999329 h 1063019"/>
                <a:gd name="connsiteX15" fmla="*/ 758484 w 758605"/>
                <a:gd name="connsiteY15" fmla="*/ 1013767 h 1063019"/>
                <a:gd name="connsiteX16" fmla="*/ 597795 w 758605"/>
                <a:gd name="connsiteY16" fmla="*/ 521007 h 1063019"/>
                <a:gd name="connsiteX17" fmla="*/ 397537 w 758605"/>
                <a:gd name="connsiteY17" fmla="*/ 279841 h 1063019"/>
                <a:gd name="connsiteX0" fmla="*/ 428017 w 758605"/>
                <a:gd name="connsiteY0" fmla="*/ 285223 h 1063321"/>
                <a:gd name="connsiteX1" fmla="*/ 253158 w 758605"/>
                <a:gd name="connsiteY1" fmla="*/ 8764 h 1063321"/>
                <a:gd name="connsiteX2" fmla="*/ 181503 w 758605"/>
                <a:gd name="connsiteY2" fmla="*/ 75606 h 1063321"/>
                <a:gd name="connsiteX3" fmla="*/ 71882 w 758605"/>
                <a:gd name="connsiteY3" fmla="*/ 143785 h 1063321"/>
                <a:gd name="connsiteX4" fmla="*/ 251286 w 758605"/>
                <a:gd name="connsiteY4" fmla="*/ 340301 h 1063321"/>
                <a:gd name="connsiteX5" fmla="*/ 9852 w 758605"/>
                <a:gd name="connsiteY5" fmla="*/ 359284 h 1063321"/>
                <a:gd name="connsiteX6" fmla="*/ 48087 w 758605"/>
                <a:gd name="connsiteY6" fmla="*/ 492167 h 1063321"/>
                <a:gd name="connsiteX7" fmla="*/ 60652 w 758605"/>
                <a:gd name="connsiteY7" fmla="*/ 592964 h 1063321"/>
                <a:gd name="connsiteX8" fmla="*/ 241126 w 758605"/>
                <a:gd name="connsiteY8" fmla="*/ 520774 h 1063321"/>
                <a:gd name="connsiteX9" fmla="*/ 137120 w 758605"/>
                <a:gd name="connsiteY9" fmla="*/ 691088 h 1063321"/>
                <a:gd name="connsiteX10" fmla="*/ 236046 w 758605"/>
                <a:gd name="connsiteY10" fmla="*/ 720766 h 1063321"/>
                <a:gd name="connsiteX11" fmla="*/ 313315 w 758605"/>
                <a:gd name="connsiteY11" fmla="*/ 773438 h 1063321"/>
                <a:gd name="connsiteX12" fmla="*/ 361442 w 758605"/>
                <a:gd name="connsiteY12" fmla="*/ 568901 h 1063321"/>
                <a:gd name="connsiteX13" fmla="*/ 517852 w 758605"/>
                <a:gd name="connsiteY13" fmla="*/ 508743 h 1063321"/>
                <a:gd name="connsiteX14" fmla="*/ 728004 w 758605"/>
                <a:gd name="connsiteY14" fmla="*/ 999631 h 1063321"/>
                <a:gd name="connsiteX15" fmla="*/ 758484 w 758605"/>
                <a:gd name="connsiteY15" fmla="*/ 1014069 h 1063321"/>
                <a:gd name="connsiteX16" fmla="*/ 597795 w 758605"/>
                <a:gd name="connsiteY16" fmla="*/ 521309 h 1063321"/>
                <a:gd name="connsiteX17" fmla="*/ 428017 w 758605"/>
                <a:gd name="connsiteY17" fmla="*/ 285223 h 1063321"/>
                <a:gd name="connsiteX0" fmla="*/ 428017 w 758605"/>
                <a:gd name="connsiteY0" fmla="*/ 285223 h 1066357"/>
                <a:gd name="connsiteX1" fmla="*/ 253158 w 758605"/>
                <a:gd name="connsiteY1" fmla="*/ 8764 h 1066357"/>
                <a:gd name="connsiteX2" fmla="*/ 181503 w 758605"/>
                <a:gd name="connsiteY2" fmla="*/ 75606 h 1066357"/>
                <a:gd name="connsiteX3" fmla="*/ 71882 w 758605"/>
                <a:gd name="connsiteY3" fmla="*/ 143785 h 1066357"/>
                <a:gd name="connsiteX4" fmla="*/ 251286 w 758605"/>
                <a:gd name="connsiteY4" fmla="*/ 340301 h 1066357"/>
                <a:gd name="connsiteX5" fmla="*/ 9852 w 758605"/>
                <a:gd name="connsiteY5" fmla="*/ 359284 h 1066357"/>
                <a:gd name="connsiteX6" fmla="*/ 48087 w 758605"/>
                <a:gd name="connsiteY6" fmla="*/ 492167 h 1066357"/>
                <a:gd name="connsiteX7" fmla="*/ 60652 w 758605"/>
                <a:gd name="connsiteY7" fmla="*/ 592964 h 1066357"/>
                <a:gd name="connsiteX8" fmla="*/ 241126 w 758605"/>
                <a:gd name="connsiteY8" fmla="*/ 520774 h 1066357"/>
                <a:gd name="connsiteX9" fmla="*/ 137120 w 758605"/>
                <a:gd name="connsiteY9" fmla="*/ 691088 h 1066357"/>
                <a:gd name="connsiteX10" fmla="*/ 236046 w 758605"/>
                <a:gd name="connsiteY10" fmla="*/ 720766 h 1066357"/>
                <a:gd name="connsiteX11" fmla="*/ 313315 w 758605"/>
                <a:gd name="connsiteY11" fmla="*/ 773438 h 1066357"/>
                <a:gd name="connsiteX12" fmla="*/ 361442 w 758605"/>
                <a:gd name="connsiteY12" fmla="*/ 568901 h 1066357"/>
                <a:gd name="connsiteX13" fmla="*/ 517852 w 758605"/>
                <a:gd name="connsiteY13" fmla="*/ 508743 h 1066357"/>
                <a:gd name="connsiteX14" fmla="*/ 728004 w 758605"/>
                <a:gd name="connsiteY14" fmla="*/ 999631 h 1066357"/>
                <a:gd name="connsiteX15" fmla="*/ 758484 w 758605"/>
                <a:gd name="connsiteY15" fmla="*/ 1019149 h 1066357"/>
                <a:gd name="connsiteX16" fmla="*/ 597795 w 758605"/>
                <a:gd name="connsiteY16" fmla="*/ 521309 h 1066357"/>
                <a:gd name="connsiteX17" fmla="*/ 428017 w 758605"/>
                <a:gd name="connsiteY17" fmla="*/ 285223 h 1066357"/>
                <a:gd name="connsiteX0" fmla="*/ 428017 w 758511"/>
                <a:gd name="connsiteY0" fmla="*/ 285223 h 1036121"/>
                <a:gd name="connsiteX1" fmla="*/ 253158 w 758511"/>
                <a:gd name="connsiteY1" fmla="*/ 8764 h 1036121"/>
                <a:gd name="connsiteX2" fmla="*/ 181503 w 758511"/>
                <a:gd name="connsiteY2" fmla="*/ 75606 h 1036121"/>
                <a:gd name="connsiteX3" fmla="*/ 71882 w 758511"/>
                <a:gd name="connsiteY3" fmla="*/ 143785 h 1036121"/>
                <a:gd name="connsiteX4" fmla="*/ 251286 w 758511"/>
                <a:gd name="connsiteY4" fmla="*/ 340301 h 1036121"/>
                <a:gd name="connsiteX5" fmla="*/ 9852 w 758511"/>
                <a:gd name="connsiteY5" fmla="*/ 359284 h 1036121"/>
                <a:gd name="connsiteX6" fmla="*/ 48087 w 758511"/>
                <a:gd name="connsiteY6" fmla="*/ 492167 h 1036121"/>
                <a:gd name="connsiteX7" fmla="*/ 60652 w 758511"/>
                <a:gd name="connsiteY7" fmla="*/ 592964 h 1036121"/>
                <a:gd name="connsiteX8" fmla="*/ 241126 w 758511"/>
                <a:gd name="connsiteY8" fmla="*/ 520774 h 1036121"/>
                <a:gd name="connsiteX9" fmla="*/ 137120 w 758511"/>
                <a:gd name="connsiteY9" fmla="*/ 691088 h 1036121"/>
                <a:gd name="connsiteX10" fmla="*/ 236046 w 758511"/>
                <a:gd name="connsiteY10" fmla="*/ 720766 h 1036121"/>
                <a:gd name="connsiteX11" fmla="*/ 313315 w 758511"/>
                <a:gd name="connsiteY11" fmla="*/ 773438 h 1036121"/>
                <a:gd name="connsiteX12" fmla="*/ 361442 w 758511"/>
                <a:gd name="connsiteY12" fmla="*/ 568901 h 1036121"/>
                <a:gd name="connsiteX13" fmla="*/ 517852 w 758511"/>
                <a:gd name="connsiteY13" fmla="*/ 508743 h 1036121"/>
                <a:gd name="connsiteX14" fmla="*/ 687364 w 758511"/>
                <a:gd name="connsiteY14" fmla="*/ 857391 h 1036121"/>
                <a:gd name="connsiteX15" fmla="*/ 758484 w 758511"/>
                <a:gd name="connsiteY15" fmla="*/ 1019149 h 1036121"/>
                <a:gd name="connsiteX16" fmla="*/ 597795 w 758511"/>
                <a:gd name="connsiteY16" fmla="*/ 521309 h 1036121"/>
                <a:gd name="connsiteX17" fmla="*/ 428017 w 758511"/>
                <a:gd name="connsiteY17" fmla="*/ 285223 h 1036121"/>
                <a:gd name="connsiteX0" fmla="*/ 428017 w 712806"/>
                <a:gd name="connsiteY0" fmla="*/ 285223 h 1045586"/>
                <a:gd name="connsiteX1" fmla="*/ 253158 w 712806"/>
                <a:gd name="connsiteY1" fmla="*/ 8764 h 1045586"/>
                <a:gd name="connsiteX2" fmla="*/ 181503 w 712806"/>
                <a:gd name="connsiteY2" fmla="*/ 75606 h 1045586"/>
                <a:gd name="connsiteX3" fmla="*/ 71882 w 712806"/>
                <a:gd name="connsiteY3" fmla="*/ 143785 h 1045586"/>
                <a:gd name="connsiteX4" fmla="*/ 251286 w 712806"/>
                <a:gd name="connsiteY4" fmla="*/ 340301 h 1045586"/>
                <a:gd name="connsiteX5" fmla="*/ 9852 w 712806"/>
                <a:gd name="connsiteY5" fmla="*/ 359284 h 1045586"/>
                <a:gd name="connsiteX6" fmla="*/ 48087 w 712806"/>
                <a:gd name="connsiteY6" fmla="*/ 492167 h 1045586"/>
                <a:gd name="connsiteX7" fmla="*/ 60652 w 712806"/>
                <a:gd name="connsiteY7" fmla="*/ 592964 h 1045586"/>
                <a:gd name="connsiteX8" fmla="*/ 241126 w 712806"/>
                <a:gd name="connsiteY8" fmla="*/ 520774 h 1045586"/>
                <a:gd name="connsiteX9" fmla="*/ 137120 w 712806"/>
                <a:gd name="connsiteY9" fmla="*/ 691088 h 1045586"/>
                <a:gd name="connsiteX10" fmla="*/ 236046 w 712806"/>
                <a:gd name="connsiteY10" fmla="*/ 720766 h 1045586"/>
                <a:gd name="connsiteX11" fmla="*/ 313315 w 712806"/>
                <a:gd name="connsiteY11" fmla="*/ 773438 h 1045586"/>
                <a:gd name="connsiteX12" fmla="*/ 361442 w 712806"/>
                <a:gd name="connsiteY12" fmla="*/ 568901 h 1045586"/>
                <a:gd name="connsiteX13" fmla="*/ 517852 w 712806"/>
                <a:gd name="connsiteY13" fmla="*/ 508743 h 1045586"/>
                <a:gd name="connsiteX14" fmla="*/ 687364 w 712806"/>
                <a:gd name="connsiteY14" fmla="*/ 857391 h 1045586"/>
                <a:gd name="connsiteX15" fmla="*/ 712764 w 712806"/>
                <a:gd name="connsiteY15" fmla="*/ 1029309 h 1045586"/>
                <a:gd name="connsiteX16" fmla="*/ 597795 w 712806"/>
                <a:gd name="connsiteY16" fmla="*/ 521309 h 1045586"/>
                <a:gd name="connsiteX17" fmla="*/ 428017 w 712806"/>
                <a:gd name="connsiteY17" fmla="*/ 285223 h 1045586"/>
                <a:gd name="connsiteX0" fmla="*/ 428017 w 712880"/>
                <a:gd name="connsiteY0" fmla="*/ 285223 h 1045586"/>
                <a:gd name="connsiteX1" fmla="*/ 253158 w 712880"/>
                <a:gd name="connsiteY1" fmla="*/ 8764 h 1045586"/>
                <a:gd name="connsiteX2" fmla="*/ 181503 w 712880"/>
                <a:gd name="connsiteY2" fmla="*/ 75606 h 1045586"/>
                <a:gd name="connsiteX3" fmla="*/ 71882 w 712880"/>
                <a:gd name="connsiteY3" fmla="*/ 143785 h 1045586"/>
                <a:gd name="connsiteX4" fmla="*/ 251286 w 712880"/>
                <a:gd name="connsiteY4" fmla="*/ 340301 h 1045586"/>
                <a:gd name="connsiteX5" fmla="*/ 9852 w 712880"/>
                <a:gd name="connsiteY5" fmla="*/ 359284 h 1045586"/>
                <a:gd name="connsiteX6" fmla="*/ 48087 w 712880"/>
                <a:gd name="connsiteY6" fmla="*/ 492167 h 1045586"/>
                <a:gd name="connsiteX7" fmla="*/ 60652 w 712880"/>
                <a:gd name="connsiteY7" fmla="*/ 592964 h 1045586"/>
                <a:gd name="connsiteX8" fmla="*/ 241126 w 712880"/>
                <a:gd name="connsiteY8" fmla="*/ 520774 h 1045586"/>
                <a:gd name="connsiteX9" fmla="*/ 137120 w 712880"/>
                <a:gd name="connsiteY9" fmla="*/ 691088 h 1045586"/>
                <a:gd name="connsiteX10" fmla="*/ 236046 w 712880"/>
                <a:gd name="connsiteY10" fmla="*/ 720766 h 1045586"/>
                <a:gd name="connsiteX11" fmla="*/ 313315 w 712880"/>
                <a:gd name="connsiteY11" fmla="*/ 773438 h 1045586"/>
                <a:gd name="connsiteX12" fmla="*/ 361442 w 712880"/>
                <a:gd name="connsiteY12" fmla="*/ 568901 h 1045586"/>
                <a:gd name="connsiteX13" fmla="*/ 517852 w 712880"/>
                <a:gd name="connsiteY13" fmla="*/ 508743 h 1045586"/>
                <a:gd name="connsiteX14" fmla="*/ 687364 w 712880"/>
                <a:gd name="connsiteY14" fmla="*/ 857391 h 1045586"/>
                <a:gd name="connsiteX15" fmla="*/ 712764 w 712880"/>
                <a:gd name="connsiteY15" fmla="*/ 1029309 h 1045586"/>
                <a:gd name="connsiteX16" fmla="*/ 643515 w 712880"/>
                <a:gd name="connsiteY16" fmla="*/ 541629 h 1045586"/>
                <a:gd name="connsiteX17" fmla="*/ 428017 w 712880"/>
                <a:gd name="connsiteY17" fmla="*/ 285223 h 1045586"/>
                <a:gd name="connsiteX0" fmla="*/ 428017 w 712880"/>
                <a:gd name="connsiteY0" fmla="*/ 285223 h 1045648"/>
                <a:gd name="connsiteX1" fmla="*/ 253158 w 712880"/>
                <a:gd name="connsiteY1" fmla="*/ 8764 h 1045648"/>
                <a:gd name="connsiteX2" fmla="*/ 181503 w 712880"/>
                <a:gd name="connsiteY2" fmla="*/ 75606 h 1045648"/>
                <a:gd name="connsiteX3" fmla="*/ 71882 w 712880"/>
                <a:gd name="connsiteY3" fmla="*/ 143785 h 1045648"/>
                <a:gd name="connsiteX4" fmla="*/ 251286 w 712880"/>
                <a:gd name="connsiteY4" fmla="*/ 340301 h 1045648"/>
                <a:gd name="connsiteX5" fmla="*/ 9852 w 712880"/>
                <a:gd name="connsiteY5" fmla="*/ 359284 h 1045648"/>
                <a:gd name="connsiteX6" fmla="*/ 48087 w 712880"/>
                <a:gd name="connsiteY6" fmla="*/ 492167 h 1045648"/>
                <a:gd name="connsiteX7" fmla="*/ 60652 w 712880"/>
                <a:gd name="connsiteY7" fmla="*/ 592964 h 1045648"/>
                <a:gd name="connsiteX8" fmla="*/ 241126 w 712880"/>
                <a:gd name="connsiteY8" fmla="*/ 520774 h 1045648"/>
                <a:gd name="connsiteX9" fmla="*/ 137120 w 712880"/>
                <a:gd name="connsiteY9" fmla="*/ 691088 h 1045648"/>
                <a:gd name="connsiteX10" fmla="*/ 236046 w 712880"/>
                <a:gd name="connsiteY10" fmla="*/ 720766 h 1045648"/>
                <a:gd name="connsiteX11" fmla="*/ 313315 w 712880"/>
                <a:gd name="connsiteY11" fmla="*/ 773438 h 1045648"/>
                <a:gd name="connsiteX12" fmla="*/ 361442 w 712880"/>
                <a:gd name="connsiteY12" fmla="*/ 568901 h 1045648"/>
                <a:gd name="connsiteX13" fmla="*/ 538172 w 712880"/>
                <a:gd name="connsiteY13" fmla="*/ 503663 h 1045648"/>
                <a:gd name="connsiteX14" fmla="*/ 687364 w 712880"/>
                <a:gd name="connsiteY14" fmla="*/ 857391 h 1045648"/>
                <a:gd name="connsiteX15" fmla="*/ 712764 w 712880"/>
                <a:gd name="connsiteY15" fmla="*/ 1029309 h 1045648"/>
                <a:gd name="connsiteX16" fmla="*/ 643515 w 712880"/>
                <a:gd name="connsiteY16" fmla="*/ 541629 h 1045648"/>
                <a:gd name="connsiteX17" fmla="*/ 428017 w 712880"/>
                <a:gd name="connsiteY17" fmla="*/ 285223 h 1045648"/>
                <a:gd name="connsiteX0" fmla="*/ 428017 w 712880"/>
                <a:gd name="connsiteY0" fmla="*/ 285223 h 1048421"/>
                <a:gd name="connsiteX1" fmla="*/ 253158 w 712880"/>
                <a:gd name="connsiteY1" fmla="*/ 8764 h 1048421"/>
                <a:gd name="connsiteX2" fmla="*/ 181503 w 712880"/>
                <a:gd name="connsiteY2" fmla="*/ 75606 h 1048421"/>
                <a:gd name="connsiteX3" fmla="*/ 71882 w 712880"/>
                <a:gd name="connsiteY3" fmla="*/ 143785 h 1048421"/>
                <a:gd name="connsiteX4" fmla="*/ 251286 w 712880"/>
                <a:gd name="connsiteY4" fmla="*/ 340301 h 1048421"/>
                <a:gd name="connsiteX5" fmla="*/ 9852 w 712880"/>
                <a:gd name="connsiteY5" fmla="*/ 359284 h 1048421"/>
                <a:gd name="connsiteX6" fmla="*/ 48087 w 712880"/>
                <a:gd name="connsiteY6" fmla="*/ 492167 h 1048421"/>
                <a:gd name="connsiteX7" fmla="*/ 60652 w 712880"/>
                <a:gd name="connsiteY7" fmla="*/ 592964 h 1048421"/>
                <a:gd name="connsiteX8" fmla="*/ 241126 w 712880"/>
                <a:gd name="connsiteY8" fmla="*/ 520774 h 1048421"/>
                <a:gd name="connsiteX9" fmla="*/ 137120 w 712880"/>
                <a:gd name="connsiteY9" fmla="*/ 691088 h 1048421"/>
                <a:gd name="connsiteX10" fmla="*/ 236046 w 712880"/>
                <a:gd name="connsiteY10" fmla="*/ 720766 h 1048421"/>
                <a:gd name="connsiteX11" fmla="*/ 313315 w 712880"/>
                <a:gd name="connsiteY11" fmla="*/ 773438 h 1048421"/>
                <a:gd name="connsiteX12" fmla="*/ 361442 w 712880"/>
                <a:gd name="connsiteY12" fmla="*/ 568901 h 1048421"/>
                <a:gd name="connsiteX13" fmla="*/ 538172 w 712880"/>
                <a:gd name="connsiteY13" fmla="*/ 503663 h 1048421"/>
                <a:gd name="connsiteX14" fmla="*/ 682284 w 712880"/>
                <a:gd name="connsiteY14" fmla="*/ 887871 h 1048421"/>
                <a:gd name="connsiteX15" fmla="*/ 712764 w 712880"/>
                <a:gd name="connsiteY15" fmla="*/ 1029309 h 1048421"/>
                <a:gd name="connsiteX16" fmla="*/ 643515 w 712880"/>
                <a:gd name="connsiteY16" fmla="*/ 541629 h 1048421"/>
                <a:gd name="connsiteX17" fmla="*/ 428017 w 712880"/>
                <a:gd name="connsiteY17" fmla="*/ 285223 h 1048421"/>
                <a:gd name="connsiteX0" fmla="*/ 428017 w 712880"/>
                <a:gd name="connsiteY0" fmla="*/ 285223 h 1048421"/>
                <a:gd name="connsiteX1" fmla="*/ 253158 w 712880"/>
                <a:gd name="connsiteY1" fmla="*/ 8764 h 1048421"/>
                <a:gd name="connsiteX2" fmla="*/ 181503 w 712880"/>
                <a:gd name="connsiteY2" fmla="*/ 75606 h 1048421"/>
                <a:gd name="connsiteX3" fmla="*/ 71882 w 712880"/>
                <a:gd name="connsiteY3" fmla="*/ 143785 h 1048421"/>
                <a:gd name="connsiteX4" fmla="*/ 251286 w 712880"/>
                <a:gd name="connsiteY4" fmla="*/ 340301 h 1048421"/>
                <a:gd name="connsiteX5" fmla="*/ 9852 w 712880"/>
                <a:gd name="connsiteY5" fmla="*/ 359284 h 1048421"/>
                <a:gd name="connsiteX6" fmla="*/ 48087 w 712880"/>
                <a:gd name="connsiteY6" fmla="*/ 492167 h 1048421"/>
                <a:gd name="connsiteX7" fmla="*/ 60652 w 712880"/>
                <a:gd name="connsiteY7" fmla="*/ 592964 h 1048421"/>
                <a:gd name="connsiteX8" fmla="*/ 241126 w 712880"/>
                <a:gd name="connsiteY8" fmla="*/ 520774 h 1048421"/>
                <a:gd name="connsiteX9" fmla="*/ 137120 w 712880"/>
                <a:gd name="connsiteY9" fmla="*/ 691088 h 1048421"/>
                <a:gd name="connsiteX10" fmla="*/ 236046 w 712880"/>
                <a:gd name="connsiteY10" fmla="*/ 720766 h 1048421"/>
                <a:gd name="connsiteX11" fmla="*/ 313315 w 712880"/>
                <a:gd name="connsiteY11" fmla="*/ 773438 h 1048421"/>
                <a:gd name="connsiteX12" fmla="*/ 361442 w 712880"/>
                <a:gd name="connsiteY12" fmla="*/ 568901 h 1048421"/>
                <a:gd name="connsiteX13" fmla="*/ 538172 w 712880"/>
                <a:gd name="connsiteY13" fmla="*/ 503663 h 1048421"/>
                <a:gd name="connsiteX14" fmla="*/ 667044 w 712880"/>
                <a:gd name="connsiteY14" fmla="*/ 887871 h 1048421"/>
                <a:gd name="connsiteX15" fmla="*/ 712764 w 712880"/>
                <a:gd name="connsiteY15" fmla="*/ 1029309 h 1048421"/>
                <a:gd name="connsiteX16" fmla="*/ 643515 w 712880"/>
                <a:gd name="connsiteY16" fmla="*/ 541629 h 1048421"/>
                <a:gd name="connsiteX17" fmla="*/ 428017 w 712880"/>
                <a:gd name="connsiteY17" fmla="*/ 285223 h 1048421"/>
                <a:gd name="connsiteX0" fmla="*/ 428017 w 712823"/>
                <a:gd name="connsiteY0" fmla="*/ 285223 h 1048421"/>
                <a:gd name="connsiteX1" fmla="*/ 253158 w 712823"/>
                <a:gd name="connsiteY1" fmla="*/ 8764 h 1048421"/>
                <a:gd name="connsiteX2" fmla="*/ 181503 w 712823"/>
                <a:gd name="connsiteY2" fmla="*/ 75606 h 1048421"/>
                <a:gd name="connsiteX3" fmla="*/ 71882 w 712823"/>
                <a:gd name="connsiteY3" fmla="*/ 143785 h 1048421"/>
                <a:gd name="connsiteX4" fmla="*/ 251286 w 712823"/>
                <a:gd name="connsiteY4" fmla="*/ 340301 h 1048421"/>
                <a:gd name="connsiteX5" fmla="*/ 9852 w 712823"/>
                <a:gd name="connsiteY5" fmla="*/ 359284 h 1048421"/>
                <a:gd name="connsiteX6" fmla="*/ 48087 w 712823"/>
                <a:gd name="connsiteY6" fmla="*/ 492167 h 1048421"/>
                <a:gd name="connsiteX7" fmla="*/ 60652 w 712823"/>
                <a:gd name="connsiteY7" fmla="*/ 592964 h 1048421"/>
                <a:gd name="connsiteX8" fmla="*/ 241126 w 712823"/>
                <a:gd name="connsiteY8" fmla="*/ 520774 h 1048421"/>
                <a:gd name="connsiteX9" fmla="*/ 137120 w 712823"/>
                <a:gd name="connsiteY9" fmla="*/ 691088 h 1048421"/>
                <a:gd name="connsiteX10" fmla="*/ 236046 w 712823"/>
                <a:gd name="connsiteY10" fmla="*/ 720766 h 1048421"/>
                <a:gd name="connsiteX11" fmla="*/ 313315 w 712823"/>
                <a:gd name="connsiteY11" fmla="*/ 773438 h 1048421"/>
                <a:gd name="connsiteX12" fmla="*/ 361442 w 712823"/>
                <a:gd name="connsiteY12" fmla="*/ 568901 h 1048421"/>
                <a:gd name="connsiteX13" fmla="*/ 538172 w 712823"/>
                <a:gd name="connsiteY13" fmla="*/ 503663 h 1048421"/>
                <a:gd name="connsiteX14" fmla="*/ 667044 w 712823"/>
                <a:gd name="connsiteY14" fmla="*/ 887871 h 1048421"/>
                <a:gd name="connsiteX15" fmla="*/ 712764 w 712823"/>
                <a:gd name="connsiteY15" fmla="*/ 1029309 h 1048421"/>
                <a:gd name="connsiteX16" fmla="*/ 618115 w 712823"/>
                <a:gd name="connsiteY16" fmla="*/ 526389 h 1048421"/>
                <a:gd name="connsiteX17" fmla="*/ 428017 w 712823"/>
                <a:gd name="connsiteY17" fmla="*/ 285223 h 1048421"/>
                <a:gd name="connsiteX0" fmla="*/ 428017 w 712823"/>
                <a:gd name="connsiteY0" fmla="*/ 285223 h 1046082"/>
                <a:gd name="connsiteX1" fmla="*/ 253158 w 712823"/>
                <a:gd name="connsiteY1" fmla="*/ 8764 h 1046082"/>
                <a:gd name="connsiteX2" fmla="*/ 181503 w 712823"/>
                <a:gd name="connsiteY2" fmla="*/ 75606 h 1046082"/>
                <a:gd name="connsiteX3" fmla="*/ 71882 w 712823"/>
                <a:gd name="connsiteY3" fmla="*/ 143785 h 1046082"/>
                <a:gd name="connsiteX4" fmla="*/ 251286 w 712823"/>
                <a:gd name="connsiteY4" fmla="*/ 340301 h 1046082"/>
                <a:gd name="connsiteX5" fmla="*/ 9852 w 712823"/>
                <a:gd name="connsiteY5" fmla="*/ 359284 h 1046082"/>
                <a:gd name="connsiteX6" fmla="*/ 48087 w 712823"/>
                <a:gd name="connsiteY6" fmla="*/ 492167 h 1046082"/>
                <a:gd name="connsiteX7" fmla="*/ 60652 w 712823"/>
                <a:gd name="connsiteY7" fmla="*/ 592964 h 1046082"/>
                <a:gd name="connsiteX8" fmla="*/ 241126 w 712823"/>
                <a:gd name="connsiteY8" fmla="*/ 520774 h 1046082"/>
                <a:gd name="connsiteX9" fmla="*/ 137120 w 712823"/>
                <a:gd name="connsiteY9" fmla="*/ 691088 h 1046082"/>
                <a:gd name="connsiteX10" fmla="*/ 236046 w 712823"/>
                <a:gd name="connsiteY10" fmla="*/ 720766 h 1046082"/>
                <a:gd name="connsiteX11" fmla="*/ 313315 w 712823"/>
                <a:gd name="connsiteY11" fmla="*/ 773438 h 1046082"/>
                <a:gd name="connsiteX12" fmla="*/ 361442 w 712823"/>
                <a:gd name="connsiteY12" fmla="*/ 568901 h 1046082"/>
                <a:gd name="connsiteX13" fmla="*/ 538172 w 712823"/>
                <a:gd name="connsiteY13" fmla="*/ 503663 h 1046082"/>
                <a:gd name="connsiteX14" fmla="*/ 622128 w 712823"/>
                <a:gd name="connsiteY14" fmla="*/ 664886 h 1046082"/>
                <a:gd name="connsiteX15" fmla="*/ 667044 w 712823"/>
                <a:gd name="connsiteY15" fmla="*/ 887871 h 1046082"/>
                <a:gd name="connsiteX16" fmla="*/ 712764 w 712823"/>
                <a:gd name="connsiteY16" fmla="*/ 1029309 h 1046082"/>
                <a:gd name="connsiteX17" fmla="*/ 618115 w 712823"/>
                <a:gd name="connsiteY17" fmla="*/ 526389 h 1046082"/>
                <a:gd name="connsiteX18" fmla="*/ 428017 w 712823"/>
                <a:gd name="connsiteY18" fmla="*/ 285223 h 1046082"/>
                <a:gd name="connsiteX0" fmla="*/ 428017 w 712823"/>
                <a:gd name="connsiteY0" fmla="*/ 285223 h 1046082"/>
                <a:gd name="connsiteX1" fmla="*/ 253158 w 712823"/>
                <a:gd name="connsiteY1" fmla="*/ 8764 h 1046082"/>
                <a:gd name="connsiteX2" fmla="*/ 181503 w 712823"/>
                <a:gd name="connsiteY2" fmla="*/ 75606 h 1046082"/>
                <a:gd name="connsiteX3" fmla="*/ 71882 w 712823"/>
                <a:gd name="connsiteY3" fmla="*/ 143785 h 1046082"/>
                <a:gd name="connsiteX4" fmla="*/ 251286 w 712823"/>
                <a:gd name="connsiteY4" fmla="*/ 340301 h 1046082"/>
                <a:gd name="connsiteX5" fmla="*/ 9852 w 712823"/>
                <a:gd name="connsiteY5" fmla="*/ 359284 h 1046082"/>
                <a:gd name="connsiteX6" fmla="*/ 48087 w 712823"/>
                <a:gd name="connsiteY6" fmla="*/ 492167 h 1046082"/>
                <a:gd name="connsiteX7" fmla="*/ 60652 w 712823"/>
                <a:gd name="connsiteY7" fmla="*/ 592964 h 1046082"/>
                <a:gd name="connsiteX8" fmla="*/ 241126 w 712823"/>
                <a:gd name="connsiteY8" fmla="*/ 520774 h 1046082"/>
                <a:gd name="connsiteX9" fmla="*/ 137120 w 712823"/>
                <a:gd name="connsiteY9" fmla="*/ 691088 h 1046082"/>
                <a:gd name="connsiteX10" fmla="*/ 236046 w 712823"/>
                <a:gd name="connsiteY10" fmla="*/ 720766 h 1046082"/>
                <a:gd name="connsiteX11" fmla="*/ 313315 w 712823"/>
                <a:gd name="connsiteY11" fmla="*/ 773438 h 1046082"/>
                <a:gd name="connsiteX12" fmla="*/ 361442 w 712823"/>
                <a:gd name="connsiteY12" fmla="*/ 568901 h 1046082"/>
                <a:gd name="connsiteX13" fmla="*/ 538172 w 712823"/>
                <a:gd name="connsiteY13" fmla="*/ 503663 h 1046082"/>
                <a:gd name="connsiteX14" fmla="*/ 622128 w 712823"/>
                <a:gd name="connsiteY14" fmla="*/ 664886 h 1046082"/>
                <a:gd name="connsiteX15" fmla="*/ 667044 w 712823"/>
                <a:gd name="connsiteY15" fmla="*/ 887871 h 1046082"/>
                <a:gd name="connsiteX16" fmla="*/ 712764 w 712823"/>
                <a:gd name="connsiteY16" fmla="*/ 1029309 h 1046082"/>
                <a:gd name="connsiteX17" fmla="*/ 618115 w 712823"/>
                <a:gd name="connsiteY17" fmla="*/ 526389 h 1046082"/>
                <a:gd name="connsiteX18" fmla="*/ 428017 w 712823"/>
                <a:gd name="connsiteY18" fmla="*/ 285223 h 104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2823" h="1046082">
                  <a:moveTo>
                    <a:pt x="428017" y="285223"/>
                  </a:moveTo>
                  <a:cubicBezTo>
                    <a:pt x="367191" y="198952"/>
                    <a:pt x="294244" y="43700"/>
                    <a:pt x="253158" y="8764"/>
                  </a:cubicBezTo>
                  <a:cubicBezTo>
                    <a:pt x="212072" y="-26172"/>
                    <a:pt x="211716" y="53103"/>
                    <a:pt x="181503" y="75606"/>
                  </a:cubicBezTo>
                  <a:cubicBezTo>
                    <a:pt x="151290" y="98109"/>
                    <a:pt x="60251" y="99669"/>
                    <a:pt x="71882" y="143785"/>
                  </a:cubicBezTo>
                  <a:cubicBezTo>
                    <a:pt x="83513" y="187901"/>
                    <a:pt x="261624" y="304385"/>
                    <a:pt x="251286" y="340301"/>
                  </a:cubicBezTo>
                  <a:cubicBezTo>
                    <a:pt x="240948" y="376218"/>
                    <a:pt x="43718" y="333973"/>
                    <a:pt x="9852" y="359284"/>
                  </a:cubicBezTo>
                  <a:cubicBezTo>
                    <a:pt x="-24014" y="384595"/>
                    <a:pt x="39620" y="453220"/>
                    <a:pt x="48087" y="492167"/>
                  </a:cubicBezTo>
                  <a:cubicBezTo>
                    <a:pt x="56554" y="531114"/>
                    <a:pt x="28479" y="588196"/>
                    <a:pt x="60652" y="592964"/>
                  </a:cubicBezTo>
                  <a:cubicBezTo>
                    <a:pt x="92825" y="597732"/>
                    <a:pt x="228381" y="504420"/>
                    <a:pt x="241126" y="520774"/>
                  </a:cubicBezTo>
                  <a:cubicBezTo>
                    <a:pt x="253871" y="537128"/>
                    <a:pt x="137967" y="657756"/>
                    <a:pt x="137120" y="691088"/>
                  </a:cubicBezTo>
                  <a:cubicBezTo>
                    <a:pt x="136273" y="724420"/>
                    <a:pt x="206680" y="707041"/>
                    <a:pt x="236046" y="720766"/>
                  </a:cubicBezTo>
                  <a:cubicBezTo>
                    <a:pt x="265412" y="734491"/>
                    <a:pt x="292416" y="798749"/>
                    <a:pt x="313315" y="773438"/>
                  </a:cubicBezTo>
                  <a:cubicBezTo>
                    <a:pt x="334214" y="748127"/>
                    <a:pt x="323966" y="613863"/>
                    <a:pt x="361442" y="568901"/>
                  </a:cubicBezTo>
                  <a:cubicBezTo>
                    <a:pt x="398918" y="523939"/>
                    <a:pt x="494724" y="487666"/>
                    <a:pt x="538172" y="503663"/>
                  </a:cubicBezTo>
                  <a:cubicBezTo>
                    <a:pt x="581620" y="519660"/>
                    <a:pt x="600649" y="600851"/>
                    <a:pt x="622128" y="664886"/>
                  </a:cubicBezTo>
                  <a:cubicBezTo>
                    <a:pt x="643607" y="728921"/>
                    <a:pt x="651938" y="827134"/>
                    <a:pt x="667044" y="887871"/>
                  </a:cubicBezTo>
                  <a:cubicBezTo>
                    <a:pt x="682150" y="948608"/>
                    <a:pt x="710759" y="1095483"/>
                    <a:pt x="712764" y="1029309"/>
                  </a:cubicBezTo>
                  <a:cubicBezTo>
                    <a:pt x="714769" y="963135"/>
                    <a:pt x="665573" y="650403"/>
                    <a:pt x="618115" y="526389"/>
                  </a:cubicBezTo>
                  <a:cubicBezTo>
                    <a:pt x="570657" y="402375"/>
                    <a:pt x="488843" y="371494"/>
                    <a:pt x="428017" y="285223"/>
                  </a:cubicBezTo>
                  <a:close/>
                </a:path>
              </a:pathLst>
            </a:custGeom>
            <a:solidFill>
              <a:srgbClr val="D4C1B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F15F4F7A-F74B-4081-A13A-81998FD8FF3B}"/>
              </a:ext>
            </a:extLst>
          </p:cNvPr>
          <p:cNvSpPr/>
          <p:nvPr/>
        </p:nvSpPr>
        <p:spPr>
          <a:xfrm>
            <a:off x="5195220" y="211517"/>
            <a:ext cx="6187587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The kidney and lungs help regulate pH balance. The HCO</a:t>
            </a:r>
            <a:r>
              <a:rPr lang="en-US" sz="1200" baseline="-25000" dirty="0"/>
              <a:t>3</a:t>
            </a:r>
            <a:r>
              <a:rPr lang="en-US" sz="1200" baseline="30000" dirty="0"/>
              <a:t>-</a:t>
            </a:r>
            <a:r>
              <a:rPr lang="en-US" sz="1200" dirty="0"/>
              <a:t> and PCO</a:t>
            </a:r>
            <a:r>
              <a:rPr lang="en-US" sz="1200" baseline="-25000" dirty="0"/>
              <a:t>2</a:t>
            </a:r>
            <a:r>
              <a:rPr lang="en-US" sz="1200" dirty="0"/>
              <a:t> move in the same direction.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When HCO</a:t>
            </a:r>
            <a:r>
              <a:rPr lang="en-US" sz="1200" baseline="-25000" dirty="0"/>
              <a:t>3</a:t>
            </a:r>
            <a:r>
              <a:rPr lang="en-US" sz="1200" baseline="30000" dirty="0"/>
              <a:t>-  </a:t>
            </a:r>
            <a:r>
              <a:rPr lang="en-US" sz="1200" dirty="0"/>
              <a:t>is </a:t>
            </a:r>
            <a:r>
              <a:rPr lang="en-US" sz="1200" dirty="0">
                <a:sym typeface="Wingdings" panose="05000000000000000000" pitchFamily="2" charset="2"/>
              </a:rPr>
              <a:t> (metabolic alkalosis), the body will eliminate CO</a:t>
            </a:r>
            <a:r>
              <a:rPr lang="en-US" sz="1200" baseline="-25000" dirty="0">
                <a:sym typeface="Wingdings" panose="05000000000000000000" pitchFamily="2" charset="2"/>
              </a:rPr>
              <a:t>2</a:t>
            </a:r>
            <a:r>
              <a:rPr lang="en-US" sz="1200" dirty="0">
                <a:sym typeface="Wingdings" panose="05000000000000000000" pitchFamily="2" charset="2"/>
              </a:rPr>
              <a:t> () to compensate.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When PCO2 is  (respiratory acidosis), the body will retain HCO</a:t>
            </a:r>
            <a:r>
              <a:rPr lang="en-US" sz="1200" baseline="-25000" dirty="0">
                <a:sym typeface="Wingdings" panose="05000000000000000000" pitchFamily="2" charset="2"/>
              </a:rPr>
              <a:t>3</a:t>
            </a:r>
            <a:r>
              <a:rPr lang="en-US" sz="1200" baseline="30000" dirty="0">
                <a:sym typeface="Wingdings" panose="05000000000000000000" pitchFamily="2" charset="2"/>
              </a:rPr>
              <a:t>-</a:t>
            </a:r>
            <a:r>
              <a:rPr lang="en-US" sz="1200" dirty="0">
                <a:sym typeface="Wingdings" panose="05000000000000000000" pitchFamily="2" charset="2"/>
              </a:rPr>
              <a:t> () to compensate.</a:t>
            </a:r>
          </a:p>
          <a:p>
            <a:r>
              <a:rPr lang="en-US" sz="1200" b="1" dirty="0">
                <a:sym typeface="Wingdings" panose="05000000000000000000" pitchFamily="2" charset="2"/>
              </a:rPr>
              <a:t>Respiratory (PCO</a:t>
            </a:r>
            <a:r>
              <a:rPr lang="en-US" sz="1200" b="1" baseline="-25000" dirty="0">
                <a:sym typeface="Wingdings" panose="05000000000000000000" pitchFamily="2" charset="2"/>
              </a:rPr>
              <a:t>2</a:t>
            </a:r>
            <a:r>
              <a:rPr lang="en-US" sz="1200" b="1" dirty="0">
                <a:sym typeface="Wingdings" panose="05000000000000000000" pitchFamily="2" charset="2"/>
              </a:rPr>
              <a:t>) compensation </a:t>
            </a:r>
            <a:r>
              <a:rPr lang="en-US" sz="1200" dirty="0">
                <a:sym typeface="Wingdings" panose="05000000000000000000" pitchFamily="2" charset="2"/>
              </a:rPr>
              <a:t>occurs rapidly (minutes). </a:t>
            </a:r>
          </a:p>
          <a:p>
            <a:r>
              <a:rPr lang="en-US" sz="1200" b="1" dirty="0">
                <a:sym typeface="Wingdings" panose="05000000000000000000" pitchFamily="2" charset="2"/>
              </a:rPr>
              <a:t>Metabolic (HCO3</a:t>
            </a:r>
            <a:r>
              <a:rPr lang="en-US" sz="1200" b="1" baseline="30000" dirty="0">
                <a:sym typeface="Wingdings" panose="05000000000000000000" pitchFamily="2" charset="2"/>
              </a:rPr>
              <a:t>-</a:t>
            </a:r>
            <a:r>
              <a:rPr lang="en-US" sz="1200" b="1" dirty="0">
                <a:sym typeface="Wingdings" panose="05000000000000000000" pitchFamily="2" charset="2"/>
              </a:rPr>
              <a:t>) compensation </a:t>
            </a:r>
            <a:r>
              <a:rPr lang="en-US" sz="1200" dirty="0">
                <a:sym typeface="Wingdings" panose="05000000000000000000" pitchFamily="2" charset="2"/>
              </a:rPr>
              <a:t>occurs more slowly (2-3 days).</a:t>
            </a:r>
          </a:p>
          <a:p>
            <a:r>
              <a:rPr lang="en-US" sz="1200" dirty="0">
                <a:sym typeface="Wingdings" panose="05000000000000000000" pitchFamily="2" charset="2"/>
              </a:rPr>
              <a:t>Compensation will never overcompensate or fully correct pH to normal (7.40).</a:t>
            </a:r>
            <a:endParaRPr lang="en-US" sz="1200" dirty="0"/>
          </a:p>
        </p:txBody>
      </p:sp>
      <p:grpSp>
        <p:nvGrpSpPr>
          <p:cNvPr id="121" name="Respiratory compensation for metabolic alkalosis">
            <a:extLst>
              <a:ext uri="{FF2B5EF4-FFF2-40B4-BE49-F238E27FC236}">
                <a16:creationId xmlns:a16="http://schemas.microsoft.com/office/drawing/2014/main" id="{5A216C75-B865-4D93-B27A-0CF24ECAACA9}"/>
              </a:ext>
            </a:extLst>
          </p:cNvPr>
          <p:cNvGrpSpPr/>
          <p:nvPr/>
        </p:nvGrpSpPr>
        <p:grpSpPr>
          <a:xfrm>
            <a:off x="10086235" y="3714326"/>
            <a:ext cx="1999865" cy="793873"/>
            <a:chOff x="7424387" y="3848068"/>
            <a:chExt cx="2224667" cy="79387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18ACCAC-82DF-4A8B-AE62-F69DDEC4364E}"/>
                </a:ext>
              </a:extLst>
            </p:cNvPr>
            <p:cNvSpPr txBox="1"/>
            <p:nvPr/>
          </p:nvSpPr>
          <p:spPr>
            <a:xfrm>
              <a:off x="7494494" y="3848068"/>
              <a:ext cx="2073623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Respiratory acidosis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066A381-4DBA-42A2-A39E-2C6105B49086}"/>
                </a:ext>
              </a:extLst>
            </p:cNvPr>
            <p:cNvSpPr txBox="1"/>
            <p:nvPr/>
          </p:nvSpPr>
          <p:spPr>
            <a:xfrm>
              <a:off x="7424387" y="4334164"/>
              <a:ext cx="2224667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PCO</a:t>
              </a:r>
              <a:r>
                <a:rPr lang="en-US" sz="1400" baseline="-25000" dirty="0"/>
                <a:t>2</a:t>
              </a:r>
              <a:r>
                <a:rPr lang="en-US" sz="1400" dirty="0"/>
                <a:t> = (0.7 x HCO</a:t>
              </a:r>
              <a:r>
                <a:rPr lang="en-US" sz="1400" baseline="-25000" dirty="0"/>
                <a:t>3</a:t>
              </a:r>
              <a:r>
                <a:rPr lang="en-US" sz="1400" baseline="30000" dirty="0"/>
                <a:t>-</a:t>
              </a:r>
              <a:r>
                <a:rPr lang="en-US" sz="1400" dirty="0"/>
                <a:t>) + 21  </a:t>
              </a:r>
            </a:p>
          </p:txBody>
        </p:sp>
      </p:grpSp>
      <p:grpSp>
        <p:nvGrpSpPr>
          <p:cNvPr id="119" name="Respiratory compensation for metabolic alkalosis">
            <a:extLst>
              <a:ext uri="{FF2B5EF4-FFF2-40B4-BE49-F238E27FC236}">
                <a16:creationId xmlns:a16="http://schemas.microsoft.com/office/drawing/2014/main" id="{D8E4D3F2-67E2-4B8C-BB4B-E9492EEEFB87}"/>
              </a:ext>
            </a:extLst>
          </p:cNvPr>
          <p:cNvGrpSpPr/>
          <p:nvPr/>
        </p:nvGrpSpPr>
        <p:grpSpPr>
          <a:xfrm>
            <a:off x="1610611" y="3715158"/>
            <a:ext cx="2081689" cy="2378747"/>
            <a:chOff x="657922" y="3859095"/>
            <a:chExt cx="2315689" cy="237874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B0EAAFE-C985-4D1B-92DD-FE6914471D1E}"/>
                </a:ext>
              </a:extLst>
            </p:cNvPr>
            <p:cNvSpPr txBox="1"/>
            <p:nvPr/>
          </p:nvSpPr>
          <p:spPr>
            <a:xfrm>
              <a:off x="803065" y="3859095"/>
              <a:ext cx="2170546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Respiratory alkalosis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82B6D90-3EB0-4ABF-8EEA-24371465E87B}"/>
                </a:ext>
              </a:extLst>
            </p:cNvPr>
            <p:cNvSpPr txBox="1"/>
            <p:nvPr/>
          </p:nvSpPr>
          <p:spPr>
            <a:xfrm>
              <a:off x="665386" y="4814280"/>
              <a:ext cx="220070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2. Thumb rule</a:t>
              </a:r>
            </a:p>
            <a:p>
              <a:pPr algn="ctr"/>
              <a:r>
                <a:rPr lang="en-US" sz="1400" dirty="0"/>
                <a:t>PCO</a:t>
              </a:r>
              <a:r>
                <a:rPr lang="en-US" sz="1400" baseline="-25000" dirty="0"/>
                <a:t>2</a:t>
              </a:r>
              <a:r>
                <a:rPr lang="en-US" sz="1400" dirty="0"/>
                <a:t> should be ≈ to last digits of pH</a:t>
              </a:r>
            </a:p>
            <a:p>
              <a:pPr algn="ctr"/>
              <a:r>
                <a:rPr lang="en-US" sz="1400" dirty="0"/>
                <a:t>7.</a:t>
              </a:r>
              <a:r>
                <a:rPr lang="en-US" sz="1400" u="sng" dirty="0">
                  <a:solidFill>
                    <a:schemeClr val="accent1"/>
                  </a:solidFill>
                </a:rPr>
                <a:t>32</a:t>
              </a:r>
              <a:r>
                <a:rPr lang="en-US" sz="1400" dirty="0"/>
                <a:t>/</a:t>
              </a:r>
              <a:r>
                <a:rPr lang="en-US" sz="1400" dirty="0">
                  <a:solidFill>
                    <a:schemeClr val="accent1"/>
                  </a:solidFill>
                </a:rPr>
                <a:t>30</a:t>
              </a:r>
              <a:r>
                <a:rPr lang="en-US" sz="1400" dirty="0"/>
                <a:t>/-/18</a:t>
              </a:r>
              <a:endParaRPr lang="en-US" sz="1400" u="sng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6A684D4-7AA4-4A70-AFB0-3F091E9C36F0}"/>
                </a:ext>
              </a:extLst>
            </p:cNvPr>
            <p:cNvSpPr/>
            <p:nvPr/>
          </p:nvSpPr>
          <p:spPr>
            <a:xfrm>
              <a:off x="657922" y="4291060"/>
              <a:ext cx="230423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/>
                <a:t>1. Winter’s formula </a:t>
              </a:r>
            </a:p>
            <a:p>
              <a:pPr algn="ctr"/>
              <a:r>
                <a:rPr lang="en-US" sz="1400"/>
                <a:t>PCO</a:t>
              </a:r>
              <a:r>
                <a:rPr lang="en-US" sz="1400" baseline="-25000"/>
                <a:t>2</a:t>
              </a:r>
              <a:r>
                <a:rPr lang="en-US" sz="1400"/>
                <a:t> = (1.5 x HCO</a:t>
              </a:r>
              <a:r>
                <a:rPr lang="en-US" sz="1400" baseline="-25000"/>
                <a:t>3</a:t>
              </a:r>
              <a:r>
                <a:rPr lang="en-US" sz="1400" baseline="30000"/>
                <a:t>-</a:t>
              </a:r>
              <a:r>
                <a:rPr lang="en-US" sz="1400"/>
                <a:t>) + 8  </a:t>
              </a:r>
            </a:p>
          </p:txBody>
        </p:sp>
        <p:pic>
          <p:nvPicPr>
            <p:cNvPr id="118" name="Picture 117" descr="A picture containing mirror&#10;&#10;Description automatically generated">
              <a:extLst>
                <a:ext uri="{FF2B5EF4-FFF2-40B4-BE49-F238E27FC236}">
                  <a16:creationId xmlns:a16="http://schemas.microsoft.com/office/drawing/2014/main" id="{36572CCB-D528-4AEE-9349-805802B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166" b="96751" l="9135" r="89904">
                          <a14:foregroundMark x1="54327" y1="20578" x2="39904" y2="48375"/>
                          <a14:foregroundMark x1="39904" y1="48375" x2="27404" y2="59206"/>
                          <a14:foregroundMark x1="26442" y1="54152" x2="30769" y2="40072"/>
                          <a14:foregroundMark x1="54327" y1="5415" x2="54327" y2="5415"/>
                          <a14:foregroundMark x1="57212" y1="3249" x2="41827" y2="29242"/>
                          <a14:foregroundMark x1="41827" y1="29242" x2="15865" y2="51625"/>
                          <a14:foregroundMark x1="15865" y1="51625" x2="14904" y2="80144"/>
                          <a14:foregroundMark x1="14904" y1="80144" x2="47115" y2="93141"/>
                          <a14:foregroundMark x1="47115" y1="93141" x2="75000" y2="88809"/>
                          <a14:foregroundMark x1="60577" y1="96751" x2="29808" y2="87004"/>
                          <a14:foregroundMark x1="24038" y1="46570" x2="43750" y2="33935"/>
                          <a14:foregroundMark x1="17308" y1="46570" x2="52885" y2="30686"/>
                          <a14:foregroundMark x1="21635" y1="41516" x2="44231" y2="30686"/>
                          <a14:foregroundMark x1="20673" y1="40794" x2="51923" y2="26354"/>
                          <a14:foregroundMark x1="61058" y1="3249" x2="65385" y2="31408"/>
                          <a14:foregroundMark x1="65385" y1="31408" x2="65385" y2="31408"/>
                          <a14:foregroundMark x1="68750" y1="28881" x2="60577" y2="2166"/>
                          <a14:foregroundMark x1="60577" y1="2166" x2="47115" y2="23827"/>
                          <a14:foregroundMark x1="42788" y1="29242" x2="49519" y2="2166"/>
                          <a14:foregroundMark x1="49519" y1="2166" x2="60577" y2="5776"/>
                          <a14:foregroundMark x1="66346" y1="40072" x2="64423" y2="59206"/>
                          <a14:foregroundMark x1="71154" y1="62816" x2="67788" y2="66787"/>
                          <a14:foregroundMark x1="83173" y1="81949" x2="57692" y2="7581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420" y="5503777"/>
              <a:ext cx="551211" cy="734065"/>
            </a:xfrm>
            <a:prstGeom prst="rect">
              <a:avLst/>
            </a:prstGeom>
          </p:spPr>
        </p:pic>
      </p:grpSp>
      <p:sp>
        <p:nvSpPr>
          <p:cNvPr id="133" name="Chornic Met Alk Comp info">
            <a:extLst>
              <a:ext uri="{FF2B5EF4-FFF2-40B4-BE49-F238E27FC236}">
                <a16:creationId xmlns:a16="http://schemas.microsoft.com/office/drawing/2014/main" id="{535FB8BE-3897-457F-B06E-B0A1BB5846D6}"/>
              </a:ext>
            </a:extLst>
          </p:cNvPr>
          <p:cNvSpPr/>
          <p:nvPr/>
        </p:nvSpPr>
        <p:spPr>
          <a:xfrm>
            <a:off x="4825254" y="4967097"/>
            <a:ext cx="1307631" cy="49103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 pH 0.03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 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4 </a:t>
            </a:r>
            <a:endParaRPr lang="en-US" sz="1400" dirty="0"/>
          </a:p>
        </p:txBody>
      </p:sp>
      <p:sp>
        <p:nvSpPr>
          <p:cNvPr id="134" name="Acute Met Alk">
            <a:extLst>
              <a:ext uri="{FF2B5EF4-FFF2-40B4-BE49-F238E27FC236}">
                <a16:creationId xmlns:a16="http://schemas.microsoft.com/office/drawing/2014/main" id="{5A1C607F-58F5-43C2-A6F2-45C650EA9BBE}"/>
              </a:ext>
            </a:extLst>
          </p:cNvPr>
          <p:cNvSpPr/>
          <p:nvPr/>
        </p:nvSpPr>
        <p:spPr>
          <a:xfrm>
            <a:off x="3936387" y="4505483"/>
            <a:ext cx="689964" cy="313828"/>
          </a:xfrm>
          <a:prstGeom prst="roundRect">
            <a:avLst>
              <a:gd name="adj" fmla="val 0"/>
            </a:avLst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</a:t>
            </a:r>
          </a:p>
        </p:txBody>
      </p:sp>
      <p:sp>
        <p:nvSpPr>
          <p:cNvPr id="135" name="Chronic Met Alk">
            <a:extLst>
              <a:ext uri="{FF2B5EF4-FFF2-40B4-BE49-F238E27FC236}">
                <a16:creationId xmlns:a16="http://schemas.microsoft.com/office/drawing/2014/main" id="{3BA486D6-08AD-467F-943D-B0331CE5843E}"/>
              </a:ext>
            </a:extLst>
          </p:cNvPr>
          <p:cNvSpPr/>
          <p:nvPr/>
        </p:nvSpPr>
        <p:spPr>
          <a:xfrm>
            <a:off x="3869298" y="5042093"/>
            <a:ext cx="870373" cy="313828"/>
          </a:xfrm>
          <a:prstGeom prst="roundRect">
            <a:avLst>
              <a:gd name="adj" fmla="val 0"/>
            </a:avLst>
          </a:prstGeom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CHRONIC</a:t>
            </a:r>
          </a:p>
        </p:txBody>
      </p:sp>
      <p:sp>
        <p:nvSpPr>
          <p:cNvPr id="136" name="Acute Met Alk Comp info">
            <a:extLst>
              <a:ext uri="{FF2B5EF4-FFF2-40B4-BE49-F238E27FC236}">
                <a16:creationId xmlns:a16="http://schemas.microsoft.com/office/drawing/2014/main" id="{F68978FA-868E-4737-A495-899028EA4A1A}"/>
              </a:ext>
            </a:extLst>
          </p:cNvPr>
          <p:cNvSpPr/>
          <p:nvPr/>
        </p:nvSpPr>
        <p:spPr>
          <a:xfrm>
            <a:off x="4832580" y="4426962"/>
            <a:ext cx="1307631" cy="49103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 pH 0.08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 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1  </a:t>
            </a:r>
            <a:endParaRPr lang="en-US" sz="1400" dirty="0"/>
          </a:p>
        </p:txBody>
      </p:sp>
      <p:sp>
        <p:nvSpPr>
          <p:cNvPr id="139" name="Chronic Met Acid Comp info">
            <a:extLst>
              <a:ext uri="{FF2B5EF4-FFF2-40B4-BE49-F238E27FC236}">
                <a16:creationId xmlns:a16="http://schemas.microsoft.com/office/drawing/2014/main" id="{A827B29D-DC58-4CF9-8D03-F076EE1D2B27}"/>
              </a:ext>
            </a:extLst>
          </p:cNvPr>
          <p:cNvSpPr/>
          <p:nvPr/>
        </p:nvSpPr>
        <p:spPr>
          <a:xfrm>
            <a:off x="8313138" y="4941005"/>
            <a:ext cx="1238516" cy="49103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 pH 0.03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 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5 </a:t>
            </a:r>
            <a:endParaRPr lang="en-US" sz="1400" dirty="0"/>
          </a:p>
        </p:txBody>
      </p:sp>
      <p:sp>
        <p:nvSpPr>
          <p:cNvPr id="140" name="Acute Met Acid Comp info">
            <a:extLst>
              <a:ext uri="{FF2B5EF4-FFF2-40B4-BE49-F238E27FC236}">
                <a16:creationId xmlns:a16="http://schemas.microsoft.com/office/drawing/2014/main" id="{330087C1-DEDC-4981-A356-CC3E9B6EBAAD}"/>
              </a:ext>
            </a:extLst>
          </p:cNvPr>
          <p:cNvSpPr/>
          <p:nvPr/>
        </p:nvSpPr>
        <p:spPr>
          <a:xfrm>
            <a:off x="8305826" y="4402575"/>
            <a:ext cx="1238516" cy="49103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 pH 0.08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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2  </a:t>
            </a:r>
            <a:endParaRPr lang="en-US" sz="1400" dirty="0"/>
          </a:p>
        </p:txBody>
      </p:sp>
      <p:grpSp>
        <p:nvGrpSpPr>
          <p:cNvPr id="156" name="Met Acid Comp">
            <a:extLst>
              <a:ext uri="{FF2B5EF4-FFF2-40B4-BE49-F238E27FC236}">
                <a16:creationId xmlns:a16="http://schemas.microsoft.com/office/drawing/2014/main" id="{CACEA89D-3050-4A3B-8767-B435B486E4B3}"/>
              </a:ext>
            </a:extLst>
          </p:cNvPr>
          <p:cNvGrpSpPr/>
          <p:nvPr/>
        </p:nvGrpSpPr>
        <p:grpSpPr>
          <a:xfrm>
            <a:off x="6948723" y="3720221"/>
            <a:ext cx="2944290" cy="723312"/>
            <a:chOff x="6276082" y="3910440"/>
            <a:chExt cx="2900895" cy="72331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1172456-4F74-48D4-90BE-92DC693B3366}"/>
                </a:ext>
              </a:extLst>
            </p:cNvPr>
            <p:cNvSpPr txBox="1"/>
            <p:nvPr/>
          </p:nvSpPr>
          <p:spPr>
            <a:xfrm>
              <a:off x="6902399" y="3910440"/>
              <a:ext cx="2170088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Metabolic acidosis </a:t>
              </a: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81E33F0B-93AD-40FF-9B5E-19178D346DBC}"/>
                </a:ext>
              </a:extLst>
            </p:cNvPr>
            <p:cNvGrpSpPr/>
            <p:nvPr/>
          </p:nvGrpSpPr>
          <p:grpSpPr>
            <a:xfrm>
              <a:off x="6276082" y="4142721"/>
              <a:ext cx="2900895" cy="491031"/>
              <a:chOff x="6311011" y="4248994"/>
              <a:chExt cx="2536896" cy="384758"/>
            </a:xfrm>
          </p:grpSpPr>
          <p:sp>
            <p:nvSpPr>
              <p:cNvPr id="123" name="Arrow: Right 122">
                <a:extLst>
                  <a:ext uri="{FF2B5EF4-FFF2-40B4-BE49-F238E27FC236}">
                    <a16:creationId xmlns:a16="http://schemas.microsoft.com/office/drawing/2014/main" id="{C2914E41-3E64-4EA7-A502-0F0F73D2A044}"/>
                  </a:ext>
                </a:extLst>
              </p:cNvPr>
              <p:cNvSpPr/>
              <p:nvPr/>
            </p:nvSpPr>
            <p:spPr>
              <a:xfrm>
                <a:off x="6311011" y="4248994"/>
                <a:ext cx="2536896" cy="384758"/>
              </a:xfrm>
              <a:prstGeom prst="rightArrow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34F522C-4F5B-4DAE-8947-CC4FF96C9323}"/>
                  </a:ext>
                </a:extLst>
              </p:cNvPr>
              <p:cNvSpPr txBox="1"/>
              <p:nvPr/>
            </p:nvSpPr>
            <p:spPr>
              <a:xfrm>
                <a:off x="7699331" y="4326083"/>
                <a:ext cx="569486" cy="24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 10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45" name="Acute Met Acid Comp">
            <a:extLst>
              <a:ext uri="{FF2B5EF4-FFF2-40B4-BE49-F238E27FC236}">
                <a16:creationId xmlns:a16="http://schemas.microsoft.com/office/drawing/2014/main" id="{BAD2A676-A71A-4CB5-95AD-AB0F1F1FD729}"/>
              </a:ext>
            </a:extLst>
          </p:cNvPr>
          <p:cNvSpPr/>
          <p:nvPr/>
        </p:nvSpPr>
        <p:spPr>
          <a:xfrm>
            <a:off x="7405927" y="4499827"/>
            <a:ext cx="704117" cy="313828"/>
          </a:xfrm>
          <a:prstGeom prst="roundRect">
            <a:avLst>
              <a:gd name="adj" fmla="val 0"/>
            </a:avLst>
          </a:prstGeom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</a:t>
            </a:r>
          </a:p>
        </p:txBody>
      </p:sp>
      <p:sp>
        <p:nvSpPr>
          <p:cNvPr id="146" name="Chronic Met Acid Comp">
            <a:extLst>
              <a:ext uri="{FF2B5EF4-FFF2-40B4-BE49-F238E27FC236}">
                <a16:creationId xmlns:a16="http://schemas.microsoft.com/office/drawing/2014/main" id="{D66E8792-30DD-4A40-95F0-D12BE05449EF}"/>
              </a:ext>
            </a:extLst>
          </p:cNvPr>
          <p:cNvSpPr/>
          <p:nvPr/>
        </p:nvSpPr>
        <p:spPr>
          <a:xfrm>
            <a:off x="7290336" y="5046012"/>
            <a:ext cx="906571" cy="313828"/>
          </a:xfrm>
          <a:prstGeom prst="roundRect">
            <a:avLst>
              <a:gd name="adj" fmla="val 0"/>
            </a:avLst>
          </a:prstGeom>
          <a:effectLst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CHRONIC</a:t>
            </a:r>
          </a:p>
        </p:txBody>
      </p:sp>
      <p:grpSp>
        <p:nvGrpSpPr>
          <p:cNvPr id="155" name="Met Alk Comp">
            <a:extLst>
              <a:ext uri="{FF2B5EF4-FFF2-40B4-BE49-F238E27FC236}">
                <a16:creationId xmlns:a16="http://schemas.microsoft.com/office/drawing/2014/main" id="{0B441B67-3BAD-4F73-95BA-B36A775A2999}"/>
              </a:ext>
            </a:extLst>
          </p:cNvPr>
          <p:cNvGrpSpPr/>
          <p:nvPr/>
        </p:nvGrpSpPr>
        <p:grpSpPr>
          <a:xfrm>
            <a:off x="3904180" y="3725283"/>
            <a:ext cx="3135930" cy="718250"/>
            <a:chOff x="3221300" y="3915502"/>
            <a:chExt cx="3089711" cy="71825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1E011D4-9FE6-444B-9DE8-7861F3124BAE}"/>
                </a:ext>
              </a:extLst>
            </p:cNvPr>
            <p:cNvSpPr/>
            <p:nvPr/>
          </p:nvSpPr>
          <p:spPr>
            <a:xfrm>
              <a:off x="3620242" y="3915502"/>
              <a:ext cx="18090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/>
                <a:t>Metabolic alkalosis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7F21019C-EACB-4BA9-812B-3B65412F9B33}"/>
                </a:ext>
              </a:extLst>
            </p:cNvPr>
            <p:cNvGrpSpPr/>
            <p:nvPr/>
          </p:nvGrpSpPr>
          <p:grpSpPr>
            <a:xfrm>
              <a:off x="3221300" y="4142721"/>
              <a:ext cx="3089711" cy="491031"/>
              <a:chOff x="3774115" y="4248994"/>
              <a:chExt cx="2536896" cy="384758"/>
            </a:xfrm>
          </p:grpSpPr>
          <p:sp>
            <p:nvSpPr>
              <p:cNvPr id="127" name="Arrow: Right 126">
                <a:extLst>
                  <a:ext uri="{FF2B5EF4-FFF2-40B4-BE49-F238E27FC236}">
                    <a16:creationId xmlns:a16="http://schemas.microsoft.com/office/drawing/2014/main" id="{76AAC2D0-1EEE-4D4F-A634-DF7D865ADB9D}"/>
                  </a:ext>
                </a:extLst>
              </p:cNvPr>
              <p:cNvSpPr/>
              <p:nvPr/>
            </p:nvSpPr>
            <p:spPr>
              <a:xfrm flipH="1">
                <a:off x="3774115" y="4248994"/>
                <a:ext cx="2536896" cy="384758"/>
              </a:xfrm>
              <a:prstGeom prst="rightArrow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PCO2 decrease by 10">
                <a:extLst>
                  <a:ext uri="{FF2B5EF4-FFF2-40B4-BE49-F238E27FC236}">
                    <a16:creationId xmlns:a16="http://schemas.microsoft.com/office/drawing/2014/main" id="{55BB6BBA-2307-432C-B7D7-409F20F0FFDD}"/>
                  </a:ext>
                </a:extLst>
              </p:cNvPr>
              <p:cNvSpPr txBox="1"/>
              <p:nvPr/>
            </p:nvSpPr>
            <p:spPr>
              <a:xfrm>
                <a:off x="4749517" y="4317630"/>
                <a:ext cx="567890" cy="24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 10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0" name="PCO2 axis">
            <a:extLst>
              <a:ext uri="{FF2B5EF4-FFF2-40B4-BE49-F238E27FC236}">
                <a16:creationId xmlns:a16="http://schemas.microsoft.com/office/drawing/2014/main" id="{AD64BDEB-FC3F-4D17-B0F1-67CAAA7CDEF5}"/>
              </a:ext>
            </a:extLst>
          </p:cNvPr>
          <p:cNvGrpSpPr/>
          <p:nvPr/>
        </p:nvGrpSpPr>
        <p:grpSpPr>
          <a:xfrm>
            <a:off x="6389852" y="3747944"/>
            <a:ext cx="1016135" cy="1771261"/>
            <a:chOff x="5820226" y="3938163"/>
            <a:chExt cx="1001158" cy="177126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996E24-099C-4EEC-B8F0-4D8F19E8CAB5}"/>
                </a:ext>
              </a:extLst>
            </p:cNvPr>
            <p:cNvCxnSpPr>
              <a:cxnSpLocks/>
              <a:stCxn id="104" idx="2"/>
            </p:cNvCxnSpPr>
            <p:nvPr/>
          </p:nvCxnSpPr>
          <p:spPr>
            <a:xfrm>
              <a:off x="6292714" y="4215162"/>
              <a:ext cx="0" cy="1494262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C6FDC2C-0284-4452-8661-2656665574B8}"/>
                </a:ext>
              </a:extLst>
            </p:cNvPr>
            <p:cNvSpPr txBox="1"/>
            <p:nvPr/>
          </p:nvSpPr>
          <p:spPr>
            <a:xfrm>
              <a:off x="6115839" y="3938163"/>
              <a:ext cx="3537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40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DE1C8E2-3197-409E-9BB9-03A60F2C9D1A}"/>
                </a:ext>
              </a:extLst>
            </p:cNvPr>
            <p:cNvSpPr/>
            <p:nvPr/>
          </p:nvSpPr>
          <p:spPr>
            <a:xfrm>
              <a:off x="5820226" y="4271456"/>
              <a:ext cx="1001158" cy="244182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PCO</a:t>
              </a:r>
              <a:r>
                <a:rPr lang="en-US" sz="1400" baseline="-25000" dirty="0"/>
                <a:t>2 </a:t>
              </a:r>
              <a:endParaRPr lang="en-US" sz="1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Acute metabolic acidosis compensation full equation">
                <a:extLst>
                  <a:ext uri="{FF2B5EF4-FFF2-40B4-BE49-F238E27FC236}">
                    <a16:creationId xmlns:a16="http://schemas.microsoft.com/office/drawing/2014/main" id="{128D3018-1F02-4D09-8CD5-8171A89F8E8E}"/>
                  </a:ext>
                </a:extLst>
              </p:cNvPr>
              <p:cNvSpPr txBox="1"/>
              <p:nvPr/>
            </p:nvSpPr>
            <p:spPr>
              <a:xfrm>
                <a:off x="7592559" y="5553563"/>
                <a:ext cx="2105517" cy="493148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119063" indent="-119063" algn="ctr">
                  <a:tabLst>
                    <a:tab pos="338138" algn="l"/>
                  </a:tabLst>
                </a:pPr>
                <a:r>
                  <a:rPr lang="en-US" sz="1400" dirty="0"/>
                  <a:t>HCO</a:t>
                </a:r>
                <a:r>
                  <a:rPr lang="en-US" sz="1400" baseline="-25000" dirty="0"/>
                  <a:t>3</a:t>
                </a:r>
                <a:r>
                  <a:rPr lang="en-US" sz="1400" baseline="30000" dirty="0"/>
                  <a:t> </a:t>
                </a:r>
                <a:r>
                  <a:rPr lang="en-US" sz="1400" dirty="0"/>
                  <a:t>= 24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40 −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PCO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400" dirty="0">
                    <a:latin typeface="Calibri "/>
                  </a:rPr>
                  <a:t> x 2</a:t>
                </a:r>
              </a:p>
            </p:txBody>
          </p:sp>
        </mc:Choice>
        <mc:Fallback xmlns="">
          <p:sp>
            <p:nvSpPr>
              <p:cNvPr id="147" name="Acute metabolic acidosis compensation full equation">
                <a:extLst>
                  <a:ext uri="{FF2B5EF4-FFF2-40B4-BE49-F238E27FC236}">
                    <a16:creationId xmlns:a16="http://schemas.microsoft.com/office/drawing/2014/main" id="{128D3018-1F02-4D09-8CD5-8171A89F8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559" y="5553563"/>
                <a:ext cx="2105517" cy="4931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Chronic metabolic acidosis comp full equation">
                <a:extLst>
                  <a:ext uri="{FF2B5EF4-FFF2-40B4-BE49-F238E27FC236}">
                    <a16:creationId xmlns:a16="http://schemas.microsoft.com/office/drawing/2014/main" id="{72635189-29E6-42B7-BEC6-6B1BD197612C}"/>
                  </a:ext>
                </a:extLst>
              </p:cNvPr>
              <p:cNvSpPr/>
              <p:nvPr/>
            </p:nvSpPr>
            <p:spPr>
              <a:xfrm>
                <a:off x="7564626" y="6103173"/>
                <a:ext cx="2169095" cy="493148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119063" indent="-119063" algn="ctr">
                  <a:tabLst>
                    <a:tab pos="338138" algn="l"/>
                  </a:tabLst>
                </a:pPr>
                <a:r>
                  <a:rPr lang="en-US" sz="1400" dirty="0"/>
                  <a:t>HCO</a:t>
                </a:r>
                <a:r>
                  <a:rPr lang="en-US" sz="1400" baseline="-25000" dirty="0"/>
                  <a:t>3</a:t>
                </a:r>
                <a:r>
                  <a:rPr lang="en-US" sz="1400" baseline="30000" dirty="0"/>
                  <a:t> </a:t>
                </a:r>
                <a:r>
                  <a:rPr lang="en-US" sz="1400" dirty="0"/>
                  <a:t>= 24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40 −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PCO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sz="1400" dirty="0"/>
                  <a:t>x 5</a:t>
                </a:r>
              </a:p>
            </p:txBody>
          </p:sp>
        </mc:Choice>
        <mc:Fallback xmlns="">
          <p:sp>
            <p:nvSpPr>
              <p:cNvPr id="148" name="Chronic metabolic acidosis comp full equation">
                <a:extLst>
                  <a:ext uri="{FF2B5EF4-FFF2-40B4-BE49-F238E27FC236}">
                    <a16:creationId xmlns:a16="http://schemas.microsoft.com/office/drawing/2014/main" id="{72635189-29E6-42B7-BEC6-6B1BD19761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626" y="6103173"/>
                <a:ext cx="2169095" cy="4931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Acute metabolic acidosis compensatoin full equation">
                <a:extLst>
                  <a:ext uri="{FF2B5EF4-FFF2-40B4-BE49-F238E27FC236}">
                    <a16:creationId xmlns:a16="http://schemas.microsoft.com/office/drawing/2014/main" id="{488324A2-C345-49D2-B1E7-98B83DFD18C1}"/>
                  </a:ext>
                </a:extLst>
              </p:cNvPr>
              <p:cNvSpPr txBox="1"/>
              <p:nvPr/>
            </p:nvSpPr>
            <p:spPr>
              <a:xfrm>
                <a:off x="4190939" y="5567542"/>
                <a:ext cx="2052161" cy="493148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119063" indent="-119063" algn="ctr">
                  <a:tabLst>
                    <a:tab pos="338138" algn="l"/>
                  </a:tabLst>
                </a:pPr>
                <a:r>
                  <a:rPr lang="en-US" sz="1400" dirty="0"/>
                  <a:t>HCO</a:t>
                </a:r>
                <a:r>
                  <a:rPr lang="en-US" sz="1400" baseline="-25000" dirty="0"/>
                  <a:t>3</a:t>
                </a:r>
                <a:r>
                  <a:rPr lang="en-US" sz="1400" baseline="30000" dirty="0"/>
                  <a:t> </a:t>
                </a:r>
                <a:r>
                  <a:rPr lang="en-US" sz="1400" dirty="0"/>
                  <a:t>= 24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PCO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− 40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49" name="Acute metabolic acidosis compensatoin full equation">
                <a:extLst>
                  <a:ext uri="{FF2B5EF4-FFF2-40B4-BE49-F238E27FC236}">
                    <a16:creationId xmlns:a16="http://schemas.microsoft.com/office/drawing/2014/main" id="{488324A2-C345-49D2-B1E7-98B83DFD1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939" y="5567542"/>
                <a:ext cx="2052161" cy="4931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Chronic metabolic alkalosis compenstaion full">
                <a:extLst>
                  <a:ext uri="{FF2B5EF4-FFF2-40B4-BE49-F238E27FC236}">
                    <a16:creationId xmlns:a16="http://schemas.microsoft.com/office/drawing/2014/main" id="{3282EC73-E9A5-4E7F-96E3-A6F4F620CB1D}"/>
                  </a:ext>
                </a:extLst>
              </p:cNvPr>
              <p:cNvSpPr txBox="1"/>
              <p:nvPr/>
            </p:nvSpPr>
            <p:spPr>
              <a:xfrm>
                <a:off x="4140669" y="6103173"/>
                <a:ext cx="2139651" cy="493148"/>
              </a:xfrm>
              <a:prstGeom prst="rect">
                <a:avLst/>
              </a:prstGeom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119063" indent="-119063" algn="ctr">
                  <a:tabLst>
                    <a:tab pos="338138" algn="l"/>
                  </a:tabLst>
                </a:pPr>
                <a:r>
                  <a:rPr lang="en-US" sz="1400" dirty="0"/>
                  <a:t>HCO</a:t>
                </a:r>
                <a:r>
                  <a:rPr lang="en-US" sz="1400" baseline="-25000" dirty="0"/>
                  <a:t>3</a:t>
                </a:r>
                <a:r>
                  <a:rPr lang="en-US" sz="1400" baseline="30000" dirty="0"/>
                  <a:t> </a:t>
                </a:r>
                <a:r>
                  <a:rPr lang="en-US" sz="1400" dirty="0"/>
                  <a:t>= 24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PCO</m:t>
                        </m:r>
                        <m:r>
                          <a:rPr lang="en-US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− 40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400" dirty="0"/>
                  <a:t> x 4</a:t>
                </a:r>
              </a:p>
            </p:txBody>
          </p:sp>
        </mc:Choice>
        <mc:Fallback xmlns="">
          <p:sp>
            <p:nvSpPr>
              <p:cNvPr id="151" name="Chronic metabolic alkalosis compenstaion full">
                <a:extLst>
                  <a:ext uri="{FF2B5EF4-FFF2-40B4-BE49-F238E27FC236}">
                    <a16:creationId xmlns:a16="http://schemas.microsoft.com/office/drawing/2014/main" id="{3282EC73-E9A5-4E7F-96E3-A6F4F620C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669" y="6103173"/>
                <a:ext cx="2139651" cy="4931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" name="Mouse met acidosis" descr="Cursor with solid fill">
            <a:extLst>
              <a:ext uri="{FF2B5EF4-FFF2-40B4-BE49-F238E27FC236}">
                <a16:creationId xmlns:a16="http://schemas.microsoft.com/office/drawing/2014/main" id="{1EBB4819-A7E4-4B31-AE87-F77C151547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174339" y="3244604"/>
            <a:ext cx="274320" cy="274320"/>
          </a:xfrm>
          <a:prstGeom prst="rect">
            <a:avLst/>
          </a:prstGeom>
        </p:spPr>
      </p:pic>
      <p:pic>
        <p:nvPicPr>
          <p:cNvPr id="89" name="Mouse resp acidosis" descr="Cursor with solid fill">
            <a:extLst>
              <a:ext uri="{FF2B5EF4-FFF2-40B4-BE49-F238E27FC236}">
                <a16:creationId xmlns:a16="http://schemas.microsoft.com/office/drawing/2014/main" id="{10FD5193-E214-4DC7-B610-5B8E0D651F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373322" y="3249872"/>
            <a:ext cx="274320" cy="274320"/>
          </a:xfrm>
          <a:prstGeom prst="rect">
            <a:avLst/>
          </a:prstGeom>
        </p:spPr>
      </p:pic>
      <p:pic>
        <p:nvPicPr>
          <p:cNvPr id="90" name="Mouse resp alkalsosi" descr="Cursor with solid fill">
            <a:extLst>
              <a:ext uri="{FF2B5EF4-FFF2-40B4-BE49-F238E27FC236}">
                <a16:creationId xmlns:a16="http://schemas.microsoft.com/office/drawing/2014/main" id="{9BE1BA62-CE8E-460A-813A-3A654AA80A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343026" y="3269765"/>
            <a:ext cx="274320" cy="274320"/>
          </a:xfrm>
          <a:prstGeom prst="rect">
            <a:avLst/>
          </a:prstGeom>
        </p:spPr>
      </p:pic>
      <p:pic>
        <p:nvPicPr>
          <p:cNvPr id="91" name="Mouse met alkaosis" descr="Cursor with solid fill">
            <a:extLst>
              <a:ext uri="{FF2B5EF4-FFF2-40B4-BE49-F238E27FC236}">
                <a16:creationId xmlns:a16="http://schemas.microsoft.com/office/drawing/2014/main" id="{67C1D40E-7A57-4130-AF98-2B46847234E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1494063" y="3275464"/>
            <a:ext cx="274320" cy="274320"/>
          </a:xfrm>
          <a:prstGeom prst="rect">
            <a:avLst/>
          </a:prstGeom>
        </p:spPr>
      </p:pic>
      <p:pic>
        <p:nvPicPr>
          <p:cNvPr id="93" name="Mouse met alk acute" descr="Cursor with solid fill">
            <a:extLst>
              <a:ext uri="{FF2B5EF4-FFF2-40B4-BE49-F238E27FC236}">
                <a16:creationId xmlns:a16="http://schemas.microsoft.com/office/drawing/2014/main" id="{4936A427-3A48-45B6-8A5A-595372BD05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995726" y="4738668"/>
            <a:ext cx="274320" cy="274320"/>
          </a:xfrm>
          <a:prstGeom prst="rect">
            <a:avLst/>
          </a:prstGeom>
        </p:spPr>
      </p:pic>
      <p:pic>
        <p:nvPicPr>
          <p:cNvPr id="94" name="Mouse met alk chronic" descr="Cursor with solid fill">
            <a:extLst>
              <a:ext uri="{FF2B5EF4-FFF2-40B4-BE49-F238E27FC236}">
                <a16:creationId xmlns:a16="http://schemas.microsoft.com/office/drawing/2014/main" id="{C2532784-96C0-4D8A-A0E2-52A1C66A39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995726" y="5281118"/>
            <a:ext cx="274320" cy="274320"/>
          </a:xfrm>
          <a:prstGeom prst="rect">
            <a:avLst/>
          </a:prstGeom>
        </p:spPr>
      </p:pic>
      <p:pic>
        <p:nvPicPr>
          <p:cNvPr id="95" name="Mouse acute met acidosis comp" descr="Cursor with solid fill">
            <a:extLst>
              <a:ext uri="{FF2B5EF4-FFF2-40B4-BE49-F238E27FC236}">
                <a16:creationId xmlns:a16="http://schemas.microsoft.com/office/drawing/2014/main" id="{C49031D6-318D-441D-8D7A-0A510A77C9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422341" y="4738668"/>
            <a:ext cx="274320" cy="274320"/>
          </a:xfrm>
          <a:prstGeom prst="rect">
            <a:avLst/>
          </a:prstGeom>
        </p:spPr>
      </p:pic>
      <p:pic>
        <p:nvPicPr>
          <p:cNvPr id="96" name="Mouse chronic met acid comp" descr="Cursor with solid fill">
            <a:extLst>
              <a:ext uri="{FF2B5EF4-FFF2-40B4-BE49-F238E27FC236}">
                <a16:creationId xmlns:a16="http://schemas.microsoft.com/office/drawing/2014/main" id="{5BE7791D-BE4C-4D9B-AFED-BC20BE0DEA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404772" y="5266042"/>
            <a:ext cx="274320" cy="274320"/>
          </a:xfrm>
          <a:prstGeom prst="rect">
            <a:avLst/>
          </a:prstGeom>
        </p:spPr>
      </p:pic>
      <p:sp>
        <p:nvSpPr>
          <p:cNvPr id="97" name="question 3">
            <a:hlinkClick r:id="rId11" action="ppaction://hlinksldjump"/>
            <a:extLst>
              <a:ext uri="{FF2B5EF4-FFF2-40B4-BE49-F238E27FC236}">
                <a16:creationId xmlns:a16="http://schemas.microsoft.com/office/drawing/2014/main" id="{0FA5B39E-E44B-42D4-8C98-75CADC5654C7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99" name="question 4">
            <a:hlinkClick r:id="rId12" action="ppaction://hlinksldjump"/>
            <a:extLst>
              <a:ext uri="{FF2B5EF4-FFF2-40B4-BE49-F238E27FC236}">
                <a16:creationId xmlns:a16="http://schemas.microsoft.com/office/drawing/2014/main" id="{998EAA35-5771-4666-AC3C-1CE2C323CC2C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Acidemia</a:t>
            </a:r>
          </a:p>
        </p:txBody>
      </p:sp>
      <p:sp>
        <p:nvSpPr>
          <p:cNvPr id="101" name="sub-q 2">
            <a:hlinkClick r:id="rId13" action="ppaction://hlinksldjump"/>
            <a:extLst>
              <a:ext uri="{FF2B5EF4-FFF2-40B4-BE49-F238E27FC236}">
                <a16:creationId xmlns:a16="http://schemas.microsoft.com/office/drawing/2014/main" id="{9FADE9DF-DBF7-4122-9D9D-C5412825D6B5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14" name="sub-q 1 button">
            <a:hlinkClick r:id="rId14" action="ppaction://hlinksldjump"/>
            <a:extLst>
              <a:ext uri="{FF2B5EF4-FFF2-40B4-BE49-F238E27FC236}">
                <a16:creationId xmlns:a16="http://schemas.microsoft.com/office/drawing/2014/main" id="{62D5C08C-BC2D-4BFC-9AA5-977B4EA75CAB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Normal pH</a:t>
            </a:r>
          </a:p>
        </p:txBody>
      </p:sp>
      <p:pic>
        <p:nvPicPr>
          <p:cNvPr id="117" name="Graphic 116" descr="Cursor with solid fill">
            <a:extLst>
              <a:ext uri="{FF2B5EF4-FFF2-40B4-BE49-F238E27FC236}">
                <a16:creationId xmlns:a16="http://schemas.microsoft.com/office/drawing/2014/main" id="{35023E0B-658D-488B-89FF-43CAB96566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20" name="Graphic 119" descr="Cursor with solid fill">
            <a:extLst>
              <a:ext uri="{FF2B5EF4-FFF2-40B4-BE49-F238E27FC236}">
                <a16:creationId xmlns:a16="http://schemas.microsoft.com/office/drawing/2014/main" id="{25E82074-2DBB-40CD-8899-486C348BDA0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122" name="Question 2">
            <a:hlinkClick r:id="rId15" action="ppaction://hlinksldjump"/>
            <a:extLst>
              <a:ext uri="{FF2B5EF4-FFF2-40B4-BE49-F238E27FC236}">
                <a16:creationId xmlns:a16="http://schemas.microsoft.com/office/drawing/2014/main" id="{DC2F0770-B1DC-46CF-A53D-BC04852A727C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Compensation</a:t>
            </a:r>
          </a:p>
        </p:txBody>
      </p:sp>
      <p:sp>
        <p:nvSpPr>
          <p:cNvPr id="129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D44EB3D3-3711-4AEB-B170-3381FBF68777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sp>
        <p:nvSpPr>
          <p:cNvPr id="131" name="question 1">
            <a:hlinkClick r:id="rId16" action="ppaction://hlinksldjump"/>
            <a:extLst>
              <a:ext uri="{FF2B5EF4-FFF2-40B4-BE49-F238E27FC236}">
                <a16:creationId xmlns:a16="http://schemas.microsoft.com/office/drawing/2014/main" id="{2CF2D395-544B-4332-BBC8-F212571BCFBF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132" name="Graphic 131" descr="Cursor with solid fill">
            <a:extLst>
              <a:ext uri="{FF2B5EF4-FFF2-40B4-BE49-F238E27FC236}">
                <a16:creationId xmlns:a16="http://schemas.microsoft.com/office/drawing/2014/main" id="{AAB6055A-5AF1-42B6-AF50-C33AEF3747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137" name="Graphic 136" descr="Cursor with solid fill">
            <a:extLst>
              <a:ext uri="{FF2B5EF4-FFF2-40B4-BE49-F238E27FC236}">
                <a16:creationId xmlns:a16="http://schemas.microsoft.com/office/drawing/2014/main" id="{3F0C44F2-899B-4320-B00D-E68F4C678F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pic>
        <p:nvPicPr>
          <p:cNvPr id="138" name="Graphic 137" descr="Cursor with solid fill">
            <a:extLst>
              <a:ext uri="{FF2B5EF4-FFF2-40B4-BE49-F238E27FC236}">
                <a16:creationId xmlns:a16="http://schemas.microsoft.com/office/drawing/2014/main" id="{63787339-89D2-46AB-B76A-352517A8F4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sp>
        <p:nvSpPr>
          <p:cNvPr id="143" name="Step 1">
            <a:extLst>
              <a:ext uri="{FF2B5EF4-FFF2-40B4-BE49-F238E27FC236}">
                <a16:creationId xmlns:a16="http://schemas.microsoft.com/office/drawing/2014/main" id="{9E8B0B0F-E6B8-4AAE-A6B5-0A13C077C439}"/>
              </a:ext>
            </a:extLst>
          </p:cNvPr>
          <p:cNvSpPr/>
          <p:nvPr/>
        </p:nvSpPr>
        <p:spPr>
          <a:xfrm>
            <a:off x="2276336" y="98034"/>
            <a:ext cx="2348323" cy="28806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3: COMPENSATION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A87FD5-A87F-49CD-A21C-77E0BD2E87F2}"/>
              </a:ext>
            </a:extLst>
          </p:cNvPr>
          <p:cNvSpPr/>
          <p:nvPr/>
        </p:nvSpPr>
        <p:spPr>
          <a:xfrm>
            <a:off x="1617209" y="3606520"/>
            <a:ext cx="10531982" cy="3153445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Cases">
            <a:hlinkClick r:id="rId17" action="ppaction://hlinksldjump"/>
            <a:extLst>
              <a:ext uri="{FF2B5EF4-FFF2-40B4-BE49-F238E27FC236}">
                <a16:creationId xmlns:a16="http://schemas.microsoft.com/office/drawing/2014/main" id="{B60B2986-EAB3-472B-8EF4-88208AD76074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53" name="Graphic 152" descr="Cursor with solid fill">
            <a:extLst>
              <a:ext uri="{FF2B5EF4-FFF2-40B4-BE49-F238E27FC236}">
                <a16:creationId xmlns:a16="http://schemas.microsoft.com/office/drawing/2014/main" id="{8588917E-3C2A-4B88-AF84-54E3F05C7F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154" name="teachIM logo" descr="Icon&#10;&#10;Description automatically generated">
            <a:extLst>
              <a:ext uri="{FF2B5EF4-FFF2-40B4-BE49-F238E27FC236}">
                <a16:creationId xmlns:a16="http://schemas.microsoft.com/office/drawing/2014/main" id="{2A28CA73-2D18-4647-B526-9C90E217121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</p:childTnLst>
        </p:cTn>
      </p:par>
    </p:tnLst>
    <p:bldLst>
      <p:bldP spid="133" grpId="0" animBg="1"/>
      <p:bldP spid="134" grpId="0" animBg="1"/>
      <p:bldP spid="135" grpId="0" animBg="1"/>
      <p:bldP spid="136" grpId="0" animBg="1"/>
      <p:bldP spid="139" grpId="0" animBg="1"/>
      <p:bldP spid="140" grpId="0" animBg="1"/>
      <p:bldP spid="145" grpId="0" animBg="1"/>
      <p:bldP spid="146" grpId="0" animBg="1"/>
      <p:bldP spid="147" grpId="0" animBg="1"/>
      <p:bldP spid="147" grpId="1" animBg="1"/>
      <p:bldP spid="148" grpId="0" animBg="1"/>
      <p:bldP spid="148" grpId="1" animBg="1"/>
      <p:bldP spid="149" grpId="0" animBg="1"/>
      <p:bldP spid="149" grpId="1" animBg="1"/>
      <p:bldP spid="151" grpId="0" animBg="1"/>
      <p:bldP spid="15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rame">
            <a:extLst>
              <a:ext uri="{FF2B5EF4-FFF2-40B4-BE49-F238E27FC236}">
                <a16:creationId xmlns:a16="http://schemas.microsoft.com/office/drawing/2014/main" id="{50A8E625-7ED8-4721-925E-392A4D1882EC}"/>
              </a:ext>
            </a:extLst>
          </p:cNvPr>
          <p:cNvGrpSpPr/>
          <p:nvPr/>
        </p:nvGrpSpPr>
        <p:grpSpPr>
          <a:xfrm>
            <a:off x="1902311" y="502048"/>
            <a:ext cx="9629274" cy="5914791"/>
            <a:chOff x="1473720" y="-18364"/>
            <a:chExt cx="10718280" cy="68763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FB3D63-5FAB-4D5F-8A54-B365511A539D}"/>
                </a:ext>
              </a:extLst>
            </p:cNvPr>
            <p:cNvCxnSpPr/>
            <p:nvPr/>
          </p:nvCxnSpPr>
          <p:spPr>
            <a:xfrm>
              <a:off x="5038954" y="-18364"/>
              <a:ext cx="0" cy="685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7F7AF1D-0C74-4C99-9602-12B1C4979B7A}"/>
                </a:ext>
              </a:extLst>
            </p:cNvPr>
            <p:cNvCxnSpPr/>
            <p:nvPr/>
          </p:nvCxnSpPr>
          <p:spPr>
            <a:xfrm>
              <a:off x="8711648" y="0"/>
              <a:ext cx="0" cy="685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8E36710-8104-486B-8F75-2210C255C650}"/>
                </a:ext>
              </a:extLst>
            </p:cNvPr>
            <p:cNvCxnSpPr>
              <a:cxnSpLocks/>
            </p:cNvCxnSpPr>
            <p:nvPr/>
          </p:nvCxnSpPr>
          <p:spPr>
            <a:xfrm>
              <a:off x="1473720" y="3429001"/>
              <a:ext cx="107182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question 1">
            <a:hlinkClick r:id="rId2" action="ppaction://hlinksldjump"/>
            <a:extLst>
              <a:ext uri="{FF2B5EF4-FFF2-40B4-BE49-F238E27FC236}">
                <a16:creationId xmlns:a16="http://schemas.microsoft.com/office/drawing/2014/main" id="{69D93F5F-9D82-4B9D-9181-E4D0D4E46C2E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sp>
        <p:nvSpPr>
          <p:cNvPr id="66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2C4FAB6E-6B0D-4A89-BC08-3A50D47996C7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67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B57A838C-3386-4DC8-BA20-83F999152124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72" name="sub-q 2">
            <a:hlinkClick r:id="rId5" action="ppaction://hlinksldjump"/>
            <a:extLst>
              <a:ext uri="{FF2B5EF4-FFF2-40B4-BE49-F238E27FC236}">
                <a16:creationId xmlns:a16="http://schemas.microsoft.com/office/drawing/2014/main" id="{BB68DB42-57A0-4F90-AAA8-46BA437C346E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73" name="Cases">
            <a:hlinkClick r:id="rId6" action="ppaction://hlinksldjump"/>
            <a:extLst>
              <a:ext uri="{FF2B5EF4-FFF2-40B4-BE49-F238E27FC236}">
                <a16:creationId xmlns:a16="http://schemas.microsoft.com/office/drawing/2014/main" id="{2A35331A-3230-47BC-899A-70BD16DB7E09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ln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74" name="sub-q 1 button">
            <a:hlinkClick r:id="rId7" action="ppaction://hlinksldjump"/>
            <a:extLst>
              <a:ext uri="{FF2B5EF4-FFF2-40B4-BE49-F238E27FC236}">
                <a16:creationId xmlns:a16="http://schemas.microsoft.com/office/drawing/2014/main" id="{85CBEC12-AB98-4FC3-AEA2-E944C9F2C25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A2BECE9D-37FE-48D9-B219-2AFBB4AF1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76" name="Graphic 75" descr="Cursor with solid fill">
            <a:extLst>
              <a:ext uri="{FF2B5EF4-FFF2-40B4-BE49-F238E27FC236}">
                <a16:creationId xmlns:a16="http://schemas.microsoft.com/office/drawing/2014/main" id="{B072AE87-337E-4405-8E7D-29A01B5653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2B847C77-8826-4938-863F-7D0CA41912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20D74EE0-CAA5-4411-B9EF-D05CC74E7C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0345" y="2920004"/>
            <a:ext cx="274320" cy="274320"/>
          </a:xfrm>
          <a:prstGeom prst="rect">
            <a:avLst/>
          </a:prstGeom>
        </p:spPr>
      </p:pic>
      <p:sp>
        <p:nvSpPr>
          <p:cNvPr id="80" name="Question 2">
            <a:hlinkClick r:id="rId10" action="ppaction://hlinksldjump"/>
            <a:extLst>
              <a:ext uri="{FF2B5EF4-FFF2-40B4-BE49-F238E27FC236}">
                <a16:creationId xmlns:a16="http://schemas.microsoft.com/office/drawing/2014/main" id="{F505102E-A84B-4C95-AE52-BE5EFE22D150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DA843A02-7E43-4C84-A496-DC5E39890A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82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9EEEB369-3A62-4ED5-BFF2-F654D597DE4A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8909A68B-3599-43CC-B515-5920B096AF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63182" y="1249393"/>
            <a:ext cx="274320" cy="274320"/>
          </a:xfrm>
          <a:prstGeom prst="rect">
            <a:avLst/>
          </a:prstGeom>
        </p:spPr>
      </p:pic>
      <p:sp>
        <p:nvSpPr>
          <p:cNvPr id="84" name="question 4">
            <a:hlinkClick r:id="rId6" action="ppaction://hlinksldjump"/>
            <a:extLst>
              <a:ext uri="{FF2B5EF4-FFF2-40B4-BE49-F238E27FC236}">
                <a16:creationId xmlns:a16="http://schemas.microsoft.com/office/drawing/2014/main" id="{00BB7448-9A6C-4A15-8976-05140B726EA8}"/>
              </a:ext>
            </a:extLst>
          </p:cNvPr>
          <p:cNvSpPr txBox="1"/>
          <p:nvPr/>
        </p:nvSpPr>
        <p:spPr>
          <a:xfrm>
            <a:off x="740685" y="4070109"/>
            <a:ext cx="587118" cy="340519"/>
          </a:xfrm>
          <a:prstGeom prst="roundRect">
            <a:avLst/>
          </a:prstGeom>
          <a:ln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Basic</a:t>
            </a:r>
          </a:p>
        </p:txBody>
      </p:sp>
      <p:sp>
        <p:nvSpPr>
          <p:cNvPr id="85" name="sub-q 1 button">
            <a:hlinkClick r:id="rId11" action="ppaction://hlinksldjump"/>
            <a:extLst>
              <a:ext uri="{FF2B5EF4-FFF2-40B4-BE49-F238E27FC236}">
                <a16:creationId xmlns:a16="http://schemas.microsoft.com/office/drawing/2014/main" id="{FA1A74C9-5363-4D5B-8E75-79AAC30E3343}"/>
              </a:ext>
            </a:extLst>
          </p:cNvPr>
          <p:cNvSpPr txBox="1"/>
          <p:nvPr/>
        </p:nvSpPr>
        <p:spPr>
          <a:xfrm>
            <a:off x="735489" y="4464899"/>
            <a:ext cx="579838" cy="340519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1-3</a:t>
            </a:r>
          </a:p>
        </p:txBody>
      </p:sp>
      <p:pic>
        <p:nvPicPr>
          <p:cNvPr id="87" name="Graphic 86" descr="Cursor with solid fill">
            <a:extLst>
              <a:ext uri="{FF2B5EF4-FFF2-40B4-BE49-F238E27FC236}">
                <a16:creationId xmlns:a16="http://schemas.microsoft.com/office/drawing/2014/main" id="{DC9979B3-A7AF-4ADD-B297-08DA6E93EF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3021" y="4653537"/>
            <a:ext cx="274320" cy="274320"/>
          </a:xfrm>
          <a:prstGeom prst="rect">
            <a:avLst/>
          </a:prstGeom>
        </p:spPr>
      </p:pic>
      <p:sp>
        <p:nvSpPr>
          <p:cNvPr id="88" name="sub-q 1 button">
            <a:hlinkClick r:id="rId12" action="ppaction://hlinksldjump"/>
            <a:extLst>
              <a:ext uri="{FF2B5EF4-FFF2-40B4-BE49-F238E27FC236}">
                <a16:creationId xmlns:a16="http://schemas.microsoft.com/office/drawing/2014/main" id="{23E6706E-3246-410B-A498-16F4776DD292}"/>
              </a:ext>
            </a:extLst>
          </p:cNvPr>
          <p:cNvSpPr txBox="1"/>
          <p:nvPr/>
        </p:nvSpPr>
        <p:spPr>
          <a:xfrm>
            <a:off x="738051" y="4879987"/>
            <a:ext cx="579838" cy="340519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4-5</a:t>
            </a:r>
          </a:p>
        </p:txBody>
      </p:sp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CB35C6D0-6CB2-42EE-81C6-C306AE4122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5583" y="5063488"/>
            <a:ext cx="274320" cy="274320"/>
          </a:xfrm>
          <a:prstGeom prst="rect">
            <a:avLst/>
          </a:prstGeom>
        </p:spPr>
      </p:pic>
      <p:pic>
        <p:nvPicPr>
          <p:cNvPr id="90" name="teachIM logo" descr="Icon&#10;&#10;Description automatically generated">
            <a:extLst>
              <a:ext uri="{FF2B5EF4-FFF2-40B4-BE49-F238E27FC236}">
                <a16:creationId xmlns:a16="http://schemas.microsoft.com/office/drawing/2014/main" id="{4D766B9C-2298-45A2-89D2-E6AE8C59DF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3037C9-5906-4C63-B714-8FFE0B93339B}"/>
              </a:ext>
            </a:extLst>
          </p:cNvPr>
          <p:cNvSpPr txBox="1"/>
          <p:nvPr/>
        </p:nvSpPr>
        <p:spPr>
          <a:xfrm>
            <a:off x="4447822" y="169335"/>
            <a:ext cx="4638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Click each shaded box to reveal the answer.</a:t>
            </a:r>
          </a:p>
        </p:txBody>
      </p:sp>
      <p:sp>
        <p:nvSpPr>
          <p:cNvPr id="69" name="Case 1">
            <a:extLst>
              <a:ext uri="{FF2B5EF4-FFF2-40B4-BE49-F238E27FC236}">
                <a16:creationId xmlns:a16="http://schemas.microsoft.com/office/drawing/2014/main" id="{A371E613-1032-4C03-865B-438257DF7417}"/>
              </a:ext>
            </a:extLst>
          </p:cNvPr>
          <p:cNvSpPr txBox="1"/>
          <p:nvPr/>
        </p:nvSpPr>
        <p:spPr>
          <a:xfrm>
            <a:off x="1970997" y="701912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70" name="Case 1 Primary process">
            <a:extLst>
              <a:ext uri="{FF2B5EF4-FFF2-40B4-BE49-F238E27FC236}">
                <a16:creationId xmlns:a16="http://schemas.microsoft.com/office/drawing/2014/main" id="{F295771C-A235-4F7D-A691-6B3263452C69}"/>
              </a:ext>
            </a:extLst>
          </p:cNvPr>
          <p:cNvSpPr/>
          <p:nvPr/>
        </p:nvSpPr>
        <p:spPr>
          <a:xfrm>
            <a:off x="2187431" y="1931408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71" name="Case 1 Compensation">
            <a:extLst>
              <a:ext uri="{FF2B5EF4-FFF2-40B4-BE49-F238E27FC236}">
                <a16:creationId xmlns:a16="http://schemas.microsoft.com/office/drawing/2014/main" id="{AAC60203-A6BE-4C69-894E-4AEC57EE7514}"/>
              </a:ext>
            </a:extLst>
          </p:cNvPr>
          <p:cNvSpPr/>
          <p:nvPr/>
        </p:nvSpPr>
        <p:spPr>
          <a:xfrm>
            <a:off x="2187432" y="2648483"/>
            <a:ext cx="2531852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79" name="Case 1 Primary process answer">
            <a:extLst>
              <a:ext uri="{FF2B5EF4-FFF2-40B4-BE49-F238E27FC236}">
                <a16:creationId xmlns:a16="http://schemas.microsoft.com/office/drawing/2014/main" id="{4951874A-E416-4A85-9856-F69CAC0140DC}"/>
              </a:ext>
            </a:extLst>
          </p:cNvPr>
          <p:cNvSpPr/>
          <p:nvPr/>
        </p:nvSpPr>
        <p:spPr>
          <a:xfrm>
            <a:off x="2187430" y="1931408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Metabolic acidosis</a:t>
            </a:r>
          </a:p>
        </p:txBody>
      </p:sp>
      <p:sp>
        <p:nvSpPr>
          <p:cNvPr id="86" name="Case 1 Compensation answer">
            <a:extLst>
              <a:ext uri="{FF2B5EF4-FFF2-40B4-BE49-F238E27FC236}">
                <a16:creationId xmlns:a16="http://schemas.microsoft.com/office/drawing/2014/main" id="{A6E64760-B1FF-4FAA-8665-E82CC47BD84F}"/>
              </a:ext>
            </a:extLst>
          </p:cNvPr>
          <p:cNvSpPr/>
          <p:nvPr/>
        </p:nvSpPr>
        <p:spPr>
          <a:xfrm>
            <a:off x="2187430" y="2648482"/>
            <a:ext cx="2531851" cy="564691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 PCO</a:t>
            </a:r>
            <a:r>
              <a:rPr lang="en-US" sz="1400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1" name="Case 2">
            <a:extLst>
              <a:ext uri="{FF2B5EF4-FFF2-40B4-BE49-F238E27FC236}">
                <a16:creationId xmlns:a16="http://schemas.microsoft.com/office/drawing/2014/main" id="{F029ECA3-4318-41C5-BD7D-D70617F1E4E9}"/>
              </a:ext>
            </a:extLst>
          </p:cNvPr>
          <p:cNvSpPr txBox="1"/>
          <p:nvPr/>
        </p:nvSpPr>
        <p:spPr>
          <a:xfrm>
            <a:off x="5167175" y="697368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92" name="Case 2  Primary process">
            <a:extLst>
              <a:ext uri="{FF2B5EF4-FFF2-40B4-BE49-F238E27FC236}">
                <a16:creationId xmlns:a16="http://schemas.microsoft.com/office/drawing/2014/main" id="{63FE936E-32E2-4111-9994-249DA06B7BAB}"/>
              </a:ext>
            </a:extLst>
          </p:cNvPr>
          <p:cNvSpPr/>
          <p:nvPr/>
        </p:nvSpPr>
        <p:spPr>
          <a:xfrm>
            <a:off x="5488250" y="1926865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93" name="Case 2 Compensation">
            <a:extLst>
              <a:ext uri="{FF2B5EF4-FFF2-40B4-BE49-F238E27FC236}">
                <a16:creationId xmlns:a16="http://schemas.microsoft.com/office/drawing/2014/main" id="{F7321529-9808-4022-805F-84D3C1C9389B}"/>
              </a:ext>
            </a:extLst>
          </p:cNvPr>
          <p:cNvSpPr/>
          <p:nvPr/>
        </p:nvSpPr>
        <p:spPr>
          <a:xfrm>
            <a:off x="5488251" y="2643940"/>
            <a:ext cx="2531852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94" name="Case 2 Primary process answer">
            <a:extLst>
              <a:ext uri="{FF2B5EF4-FFF2-40B4-BE49-F238E27FC236}">
                <a16:creationId xmlns:a16="http://schemas.microsoft.com/office/drawing/2014/main" id="{6E1856D1-21C4-4D6E-BE70-3F3172034B44}"/>
              </a:ext>
            </a:extLst>
          </p:cNvPr>
          <p:cNvSpPr/>
          <p:nvPr/>
        </p:nvSpPr>
        <p:spPr>
          <a:xfrm>
            <a:off x="5488249" y="1926865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Concurrent metabolic and respiratory acidosis</a:t>
            </a:r>
          </a:p>
        </p:txBody>
      </p:sp>
      <p:sp>
        <p:nvSpPr>
          <p:cNvPr id="95" name="Case 2 Compensation answer">
            <a:extLst>
              <a:ext uri="{FF2B5EF4-FFF2-40B4-BE49-F238E27FC236}">
                <a16:creationId xmlns:a16="http://schemas.microsoft.com/office/drawing/2014/main" id="{D7240B90-06AA-4F85-B5EB-B99CC07386D8}"/>
              </a:ext>
            </a:extLst>
          </p:cNvPr>
          <p:cNvSpPr/>
          <p:nvPr/>
        </p:nvSpPr>
        <p:spPr>
          <a:xfrm>
            <a:off x="5488249" y="2643939"/>
            <a:ext cx="2531851" cy="564691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-</a:t>
            </a:r>
          </a:p>
        </p:txBody>
      </p:sp>
      <p:sp>
        <p:nvSpPr>
          <p:cNvPr id="96" name="Case 4">
            <a:extLst>
              <a:ext uri="{FF2B5EF4-FFF2-40B4-BE49-F238E27FC236}">
                <a16:creationId xmlns:a16="http://schemas.microsoft.com/office/drawing/2014/main" id="{E63DC237-87FE-4742-BD3A-49130EDB0431}"/>
              </a:ext>
            </a:extLst>
          </p:cNvPr>
          <p:cNvSpPr txBox="1"/>
          <p:nvPr/>
        </p:nvSpPr>
        <p:spPr>
          <a:xfrm>
            <a:off x="8482535" y="702504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97" name="Case 4  Primary process">
            <a:extLst>
              <a:ext uri="{FF2B5EF4-FFF2-40B4-BE49-F238E27FC236}">
                <a16:creationId xmlns:a16="http://schemas.microsoft.com/office/drawing/2014/main" id="{2E07B26C-FA65-4651-A249-EC9ADD072DE8}"/>
              </a:ext>
            </a:extLst>
          </p:cNvPr>
          <p:cNvSpPr/>
          <p:nvPr/>
        </p:nvSpPr>
        <p:spPr>
          <a:xfrm>
            <a:off x="8785837" y="1932000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98" name="Case 4 Compensation">
            <a:extLst>
              <a:ext uri="{FF2B5EF4-FFF2-40B4-BE49-F238E27FC236}">
                <a16:creationId xmlns:a16="http://schemas.microsoft.com/office/drawing/2014/main" id="{E99E88AC-AE39-4B26-B955-59DE18526627}"/>
              </a:ext>
            </a:extLst>
          </p:cNvPr>
          <p:cNvSpPr/>
          <p:nvPr/>
        </p:nvSpPr>
        <p:spPr>
          <a:xfrm>
            <a:off x="8785838" y="2649075"/>
            <a:ext cx="2531852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99" name="Case 4 Primary process answer">
            <a:extLst>
              <a:ext uri="{FF2B5EF4-FFF2-40B4-BE49-F238E27FC236}">
                <a16:creationId xmlns:a16="http://schemas.microsoft.com/office/drawing/2014/main" id="{74CBF0C6-79D3-4696-B989-3832067112A6}"/>
              </a:ext>
            </a:extLst>
          </p:cNvPr>
          <p:cNvSpPr/>
          <p:nvPr/>
        </p:nvSpPr>
        <p:spPr>
          <a:xfrm>
            <a:off x="8785836" y="1932000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acidosis</a:t>
            </a:r>
          </a:p>
        </p:txBody>
      </p:sp>
      <p:sp>
        <p:nvSpPr>
          <p:cNvPr id="100" name="Case 4 Compensation answer">
            <a:extLst>
              <a:ext uri="{FF2B5EF4-FFF2-40B4-BE49-F238E27FC236}">
                <a16:creationId xmlns:a16="http://schemas.microsoft.com/office/drawing/2014/main" id="{CBD0A027-C6C3-4C01-98D6-620ECC5D97EF}"/>
              </a:ext>
            </a:extLst>
          </p:cNvPr>
          <p:cNvSpPr/>
          <p:nvPr/>
        </p:nvSpPr>
        <p:spPr>
          <a:xfrm>
            <a:off x="8785836" y="2649074"/>
            <a:ext cx="2531851" cy="564691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 </a:t>
            </a:r>
            <a:r>
              <a:rPr lang="en-US" sz="1400" dirty="0"/>
              <a:t>HCO</a:t>
            </a:r>
            <a:r>
              <a:rPr lang="en-US" sz="1400" baseline="-25000" dirty="0"/>
              <a:t>3</a:t>
            </a:r>
            <a:endParaRPr lang="en-US" sz="1400" dirty="0"/>
          </a:p>
        </p:txBody>
      </p:sp>
      <p:sp>
        <p:nvSpPr>
          <p:cNvPr id="101" name="Case 3">
            <a:extLst>
              <a:ext uri="{FF2B5EF4-FFF2-40B4-BE49-F238E27FC236}">
                <a16:creationId xmlns:a16="http://schemas.microsoft.com/office/drawing/2014/main" id="{8C25CDF9-000C-4FB8-8C5E-AC34989ED6B8}"/>
              </a:ext>
            </a:extLst>
          </p:cNvPr>
          <p:cNvSpPr txBox="1"/>
          <p:nvPr/>
        </p:nvSpPr>
        <p:spPr>
          <a:xfrm>
            <a:off x="1970997" y="3654027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102" name="Case 3  Primary process">
            <a:extLst>
              <a:ext uri="{FF2B5EF4-FFF2-40B4-BE49-F238E27FC236}">
                <a16:creationId xmlns:a16="http://schemas.microsoft.com/office/drawing/2014/main" id="{B9FEB5AB-1792-4FC9-BAD9-6383C5A39EC1}"/>
              </a:ext>
            </a:extLst>
          </p:cNvPr>
          <p:cNvSpPr/>
          <p:nvPr/>
        </p:nvSpPr>
        <p:spPr>
          <a:xfrm>
            <a:off x="2195455" y="4808260"/>
            <a:ext cx="2531851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103" name="Case 3 Compensation">
            <a:extLst>
              <a:ext uri="{FF2B5EF4-FFF2-40B4-BE49-F238E27FC236}">
                <a16:creationId xmlns:a16="http://schemas.microsoft.com/office/drawing/2014/main" id="{625C8019-0FD0-482F-8975-E4954C54FF23}"/>
              </a:ext>
            </a:extLst>
          </p:cNvPr>
          <p:cNvSpPr/>
          <p:nvPr/>
        </p:nvSpPr>
        <p:spPr>
          <a:xfrm>
            <a:off x="2187432" y="5537948"/>
            <a:ext cx="2531852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104" name="Case 3 Primary process answer">
            <a:extLst>
              <a:ext uri="{FF2B5EF4-FFF2-40B4-BE49-F238E27FC236}">
                <a16:creationId xmlns:a16="http://schemas.microsoft.com/office/drawing/2014/main" id="{060D396B-17CF-4A89-B491-DC9C4EB6AFF1}"/>
              </a:ext>
            </a:extLst>
          </p:cNvPr>
          <p:cNvSpPr/>
          <p:nvPr/>
        </p:nvSpPr>
        <p:spPr>
          <a:xfrm>
            <a:off x="2195454" y="4808260"/>
            <a:ext cx="2531851" cy="5914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Metabolic alkalosis</a:t>
            </a:r>
          </a:p>
        </p:txBody>
      </p:sp>
      <p:sp>
        <p:nvSpPr>
          <p:cNvPr id="105" name="Case 3 Compensation answer">
            <a:extLst>
              <a:ext uri="{FF2B5EF4-FFF2-40B4-BE49-F238E27FC236}">
                <a16:creationId xmlns:a16="http://schemas.microsoft.com/office/drawing/2014/main" id="{68A29067-A54F-4256-A6DA-A2945FA54A8A}"/>
              </a:ext>
            </a:extLst>
          </p:cNvPr>
          <p:cNvSpPr/>
          <p:nvPr/>
        </p:nvSpPr>
        <p:spPr>
          <a:xfrm>
            <a:off x="2187430" y="5537947"/>
            <a:ext cx="2531851" cy="591404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 </a:t>
            </a:r>
            <a:r>
              <a:rPr lang="en-US" sz="1400" dirty="0"/>
              <a:t>PCO</a:t>
            </a:r>
            <a:r>
              <a:rPr lang="en-US" sz="1400" baseline="-25000" dirty="0"/>
              <a:t>2</a:t>
            </a:r>
            <a:endParaRPr lang="en-US" sz="1400" dirty="0"/>
          </a:p>
        </p:txBody>
      </p:sp>
      <p:sp>
        <p:nvSpPr>
          <p:cNvPr id="106" name="Case 5">
            <a:extLst>
              <a:ext uri="{FF2B5EF4-FFF2-40B4-BE49-F238E27FC236}">
                <a16:creationId xmlns:a16="http://schemas.microsoft.com/office/drawing/2014/main" id="{837BBC09-8A93-4C57-8D54-0E0379C504E6}"/>
              </a:ext>
            </a:extLst>
          </p:cNvPr>
          <p:cNvSpPr txBox="1"/>
          <p:nvPr/>
        </p:nvSpPr>
        <p:spPr>
          <a:xfrm>
            <a:off x="5167175" y="3649484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107" name="Case 5  Primary process">
            <a:extLst>
              <a:ext uri="{FF2B5EF4-FFF2-40B4-BE49-F238E27FC236}">
                <a16:creationId xmlns:a16="http://schemas.microsoft.com/office/drawing/2014/main" id="{0B14A851-E6BA-4C90-A034-456C73E85CB7}"/>
              </a:ext>
            </a:extLst>
          </p:cNvPr>
          <p:cNvSpPr/>
          <p:nvPr/>
        </p:nvSpPr>
        <p:spPr>
          <a:xfrm>
            <a:off x="5488247" y="4807312"/>
            <a:ext cx="2531851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108" name="Case 5 Compensation">
            <a:extLst>
              <a:ext uri="{FF2B5EF4-FFF2-40B4-BE49-F238E27FC236}">
                <a16:creationId xmlns:a16="http://schemas.microsoft.com/office/drawing/2014/main" id="{BFCF1A84-05F3-44F1-96E6-A792ED3A3858}"/>
              </a:ext>
            </a:extLst>
          </p:cNvPr>
          <p:cNvSpPr/>
          <p:nvPr/>
        </p:nvSpPr>
        <p:spPr>
          <a:xfrm>
            <a:off x="5488245" y="5537949"/>
            <a:ext cx="2531852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109" name="Case 5 Primary process answer">
            <a:extLst>
              <a:ext uri="{FF2B5EF4-FFF2-40B4-BE49-F238E27FC236}">
                <a16:creationId xmlns:a16="http://schemas.microsoft.com/office/drawing/2014/main" id="{AFD02C91-DCFA-447E-91D5-F56854BC4358}"/>
              </a:ext>
            </a:extLst>
          </p:cNvPr>
          <p:cNvSpPr/>
          <p:nvPr/>
        </p:nvSpPr>
        <p:spPr>
          <a:xfrm>
            <a:off x="5488246" y="4807312"/>
            <a:ext cx="2531851" cy="5914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alkalosis</a:t>
            </a:r>
          </a:p>
        </p:txBody>
      </p:sp>
      <p:sp>
        <p:nvSpPr>
          <p:cNvPr id="110" name="Case 5 Compensation answer">
            <a:extLst>
              <a:ext uri="{FF2B5EF4-FFF2-40B4-BE49-F238E27FC236}">
                <a16:creationId xmlns:a16="http://schemas.microsoft.com/office/drawing/2014/main" id="{EE29C1D8-CD4D-48F0-A875-E0A65671576F}"/>
              </a:ext>
            </a:extLst>
          </p:cNvPr>
          <p:cNvSpPr/>
          <p:nvPr/>
        </p:nvSpPr>
        <p:spPr>
          <a:xfrm>
            <a:off x="5488243" y="5537948"/>
            <a:ext cx="2531851" cy="591404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</a:t>
            </a:r>
            <a:r>
              <a:rPr lang="en-US" sz="1400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r>
              <a:rPr lang="en-US" sz="1400" dirty="0"/>
              <a:t>HCO</a:t>
            </a:r>
            <a:r>
              <a:rPr lang="en-US" sz="1400" baseline="-25000" dirty="0"/>
              <a:t>3</a:t>
            </a:r>
            <a:endParaRPr lang="en-US" sz="1400" dirty="0"/>
          </a:p>
        </p:txBody>
      </p:sp>
      <p:sp>
        <p:nvSpPr>
          <p:cNvPr id="111" name="Case 6">
            <a:extLst>
              <a:ext uri="{FF2B5EF4-FFF2-40B4-BE49-F238E27FC236}">
                <a16:creationId xmlns:a16="http://schemas.microsoft.com/office/drawing/2014/main" id="{D4FEB40D-52AC-4A19-9113-A12262088C11}"/>
              </a:ext>
            </a:extLst>
          </p:cNvPr>
          <p:cNvSpPr txBox="1"/>
          <p:nvPr/>
        </p:nvSpPr>
        <p:spPr>
          <a:xfrm>
            <a:off x="8396351" y="3654619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112" name="Case 6  Primary process">
            <a:extLst>
              <a:ext uri="{FF2B5EF4-FFF2-40B4-BE49-F238E27FC236}">
                <a16:creationId xmlns:a16="http://schemas.microsoft.com/office/drawing/2014/main" id="{5AB9AF60-BA40-4FE2-A3E5-B4A65CFF5287}"/>
              </a:ext>
            </a:extLst>
          </p:cNvPr>
          <p:cNvSpPr/>
          <p:nvPr/>
        </p:nvSpPr>
        <p:spPr>
          <a:xfrm>
            <a:off x="8785837" y="4808852"/>
            <a:ext cx="2531851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113" name="Case 6 Compensation">
            <a:extLst>
              <a:ext uri="{FF2B5EF4-FFF2-40B4-BE49-F238E27FC236}">
                <a16:creationId xmlns:a16="http://schemas.microsoft.com/office/drawing/2014/main" id="{DA3B0106-2F90-44A2-A76B-363875CC55C2}"/>
              </a:ext>
            </a:extLst>
          </p:cNvPr>
          <p:cNvSpPr/>
          <p:nvPr/>
        </p:nvSpPr>
        <p:spPr>
          <a:xfrm>
            <a:off x="8785838" y="5538539"/>
            <a:ext cx="2531852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114" name="Case 6 Primary process answer">
            <a:extLst>
              <a:ext uri="{FF2B5EF4-FFF2-40B4-BE49-F238E27FC236}">
                <a16:creationId xmlns:a16="http://schemas.microsoft.com/office/drawing/2014/main" id="{8B2F0E61-EF26-47A2-A4F4-9551BC20575E}"/>
              </a:ext>
            </a:extLst>
          </p:cNvPr>
          <p:cNvSpPr/>
          <p:nvPr/>
        </p:nvSpPr>
        <p:spPr>
          <a:xfrm>
            <a:off x="8785836" y="4808852"/>
            <a:ext cx="2531851" cy="5914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Concurrent metabolic and respiratory alkalosis</a:t>
            </a:r>
          </a:p>
        </p:txBody>
      </p:sp>
      <p:sp>
        <p:nvSpPr>
          <p:cNvPr id="115" name="Case 6 Compensation answer">
            <a:extLst>
              <a:ext uri="{FF2B5EF4-FFF2-40B4-BE49-F238E27FC236}">
                <a16:creationId xmlns:a16="http://schemas.microsoft.com/office/drawing/2014/main" id="{B5994190-B3CD-44D5-94AD-0F26BE1AABDE}"/>
              </a:ext>
            </a:extLst>
          </p:cNvPr>
          <p:cNvSpPr/>
          <p:nvPr/>
        </p:nvSpPr>
        <p:spPr>
          <a:xfrm>
            <a:off x="8785836" y="5538538"/>
            <a:ext cx="2531851" cy="591404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-</a:t>
            </a:r>
          </a:p>
        </p:txBody>
      </p:sp>
      <p:sp>
        <p:nvSpPr>
          <p:cNvPr id="116" name="Case 1 Acid-base?">
            <a:extLst>
              <a:ext uri="{FF2B5EF4-FFF2-40B4-BE49-F238E27FC236}">
                <a16:creationId xmlns:a16="http://schemas.microsoft.com/office/drawing/2014/main" id="{38504EFA-9F88-4083-AC81-9428FB8A80ED}"/>
              </a:ext>
            </a:extLst>
          </p:cNvPr>
          <p:cNvSpPr/>
          <p:nvPr/>
        </p:nvSpPr>
        <p:spPr>
          <a:xfrm>
            <a:off x="2187431" y="1252785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17" name="Case 1 Acid-Base answer">
            <a:extLst>
              <a:ext uri="{FF2B5EF4-FFF2-40B4-BE49-F238E27FC236}">
                <a16:creationId xmlns:a16="http://schemas.microsoft.com/office/drawing/2014/main" id="{82A99C07-8EFE-434A-8D6B-3F5C0A8041A1}"/>
              </a:ext>
            </a:extLst>
          </p:cNvPr>
          <p:cNvSpPr/>
          <p:nvPr/>
        </p:nvSpPr>
        <p:spPr>
          <a:xfrm>
            <a:off x="2187430" y="1252785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</a:t>
            </a:r>
          </a:p>
        </p:txBody>
      </p:sp>
      <p:sp>
        <p:nvSpPr>
          <p:cNvPr id="118" name="Case 2  Acid Base?">
            <a:extLst>
              <a:ext uri="{FF2B5EF4-FFF2-40B4-BE49-F238E27FC236}">
                <a16:creationId xmlns:a16="http://schemas.microsoft.com/office/drawing/2014/main" id="{BAA6824A-E048-4FB3-BD0E-E1BDD4E78FD8}"/>
              </a:ext>
            </a:extLst>
          </p:cNvPr>
          <p:cNvSpPr/>
          <p:nvPr/>
        </p:nvSpPr>
        <p:spPr>
          <a:xfrm>
            <a:off x="5488250" y="1248242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19" name="Case 2 Acid Base answer">
            <a:extLst>
              <a:ext uri="{FF2B5EF4-FFF2-40B4-BE49-F238E27FC236}">
                <a16:creationId xmlns:a16="http://schemas.microsoft.com/office/drawing/2014/main" id="{8AE6CE22-2301-4C53-BEBF-F9D01CAEC22B}"/>
              </a:ext>
            </a:extLst>
          </p:cNvPr>
          <p:cNvSpPr/>
          <p:nvPr/>
        </p:nvSpPr>
        <p:spPr>
          <a:xfrm>
            <a:off x="5488249" y="1248242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</a:t>
            </a:r>
          </a:p>
        </p:txBody>
      </p:sp>
      <p:sp>
        <p:nvSpPr>
          <p:cNvPr id="120" name="Case 4  Acid-base status?">
            <a:extLst>
              <a:ext uri="{FF2B5EF4-FFF2-40B4-BE49-F238E27FC236}">
                <a16:creationId xmlns:a16="http://schemas.microsoft.com/office/drawing/2014/main" id="{194721A2-01B8-4BC3-A52B-1466E25BCDCA}"/>
              </a:ext>
            </a:extLst>
          </p:cNvPr>
          <p:cNvSpPr/>
          <p:nvPr/>
        </p:nvSpPr>
        <p:spPr>
          <a:xfrm>
            <a:off x="8785837" y="1253377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21" name="Case 4 Acid base answer">
            <a:extLst>
              <a:ext uri="{FF2B5EF4-FFF2-40B4-BE49-F238E27FC236}">
                <a16:creationId xmlns:a16="http://schemas.microsoft.com/office/drawing/2014/main" id="{96DFD09F-8F6C-470F-B536-6CE4CE7AB3DB}"/>
              </a:ext>
            </a:extLst>
          </p:cNvPr>
          <p:cNvSpPr/>
          <p:nvPr/>
        </p:nvSpPr>
        <p:spPr>
          <a:xfrm>
            <a:off x="8785836" y="1253377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</a:t>
            </a:r>
          </a:p>
        </p:txBody>
      </p:sp>
      <p:sp>
        <p:nvSpPr>
          <p:cNvPr id="122" name="Case 3 Acid-base?">
            <a:extLst>
              <a:ext uri="{FF2B5EF4-FFF2-40B4-BE49-F238E27FC236}">
                <a16:creationId xmlns:a16="http://schemas.microsoft.com/office/drawing/2014/main" id="{B6CEC53D-3AEE-4381-953D-A4433AF0F44F}"/>
              </a:ext>
            </a:extLst>
          </p:cNvPr>
          <p:cNvSpPr/>
          <p:nvPr/>
        </p:nvSpPr>
        <p:spPr>
          <a:xfrm>
            <a:off x="2187431" y="4134901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23" name="Case 3 Acid-Base answer">
            <a:extLst>
              <a:ext uri="{FF2B5EF4-FFF2-40B4-BE49-F238E27FC236}">
                <a16:creationId xmlns:a16="http://schemas.microsoft.com/office/drawing/2014/main" id="{8FEE56AE-7B73-4818-8EE3-61BF3989875B}"/>
              </a:ext>
            </a:extLst>
          </p:cNvPr>
          <p:cNvSpPr/>
          <p:nvPr/>
        </p:nvSpPr>
        <p:spPr>
          <a:xfrm>
            <a:off x="2187430" y="4134901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Alkalemia</a:t>
            </a:r>
          </a:p>
        </p:txBody>
      </p:sp>
      <p:sp>
        <p:nvSpPr>
          <p:cNvPr id="124" name="Case 5  Acid Base?">
            <a:extLst>
              <a:ext uri="{FF2B5EF4-FFF2-40B4-BE49-F238E27FC236}">
                <a16:creationId xmlns:a16="http://schemas.microsoft.com/office/drawing/2014/main" id="{F5D04CD1-24E3-4085-9C07-43D913C6DFDE}"/>
              </a:ext>
            </a:extLst>
          </p:cNvPr>
          <p:cNvSpPr/>
          <p:nvPr/>
        </p:nvSpPr>
        <p:spPr>
          <a:xfrm>
            <a:off x="5488250" y="4130358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25" name="Case 5 Acid Base answer">
            <a:extLst>
              <a:ext uri="{FF2B5EF4-FFF2-40B4-BE49-F238E27FC236}">
                <a16:creationId xmlns:a16="http://schemas.microsoft.com/office/drawing/2014/main" id="{ECB2AA3C-00C5-4D4A-BE62-C43C5A2793C6}"/>
              </a:ext>
            </a:extLst>
          </p:cNvPr>
          <p:cNvSpPr/>
          <p:nvPr/>
        </p:nvSpPr>
        <p:spPr>
          <a:xfrm>
            <a:off x="5488249" y="4130358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Alkalemia</a:t>
            </a:r>
          </a:p>
        </p:txBody>
      </p:sp>
      <p:sp>
        <p:nvSpPr>
          <p:cNvPr id="126" name="Case 6  Acid-base status?">
            <a:extLst>
              <a:ext uri="{FF2B5EF4-FFF2-40B4-BE49-F238E27FC236}">
                <a16:creationId xmlns:a16="http://schemas.microsoft.com/office/drawing/2014/main" id="{6F5ACA1C-C217-4170-9E54-26D7C393EB07}"/>
              </a:ext>
            </a:extLst>
          </p:cNvPr>
          <p:cNvSpPr/>
          <p:nvPr/>
        </p:nvSpPr>
        <p:spPr>
          <a:xfrm>
            <a:off x="8785837" y="4135493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27" name="Case 6 Acid base answer">
            <a:extLst>
              <a:ext uri="{FF2B5EF4-FFF2-40B4-BE49-F238E27FC236}">
                <a16:creationId xmlns:a16="http://schemas.microsoft.com/office/drawing/2014/main" id="{222D9904-8C9F-4013-9854-D8D37C454017}"/>
              </a:ext>
            </a:extLst>
          </p:cNvPr>
          <p:cNvSpPr/>
          <p:nvPr/>
        </p:nvSpPr>
        <p:spPr>
          <a:xfrm>
            <a:off x="8785836" y="4135493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Alkalemia</a:t>
            </a:r>
          </a:p>
        </p:txBody>
      </p:sp>
    </p:spTree>
    <p:extLst>
      <p:ext uri="{BB962C8B-B14F-4D97-AF65-F5344CB8AC3E}">
        <p14:creationId xmlns:p14="http://schemas.microsoft.com/office/powerpoint/2010/main" val="92140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9" grpId="0" animBg="1"/>
      <p:bldP spid="86" grpId="0" animBg="1"/>
      <p:bldP spid="92" grpId="0" animBg="1"/>
      <p:bldP spid="93" grpId="0" animBg="1"/>
      <p:bldP spid="94" grpId="0" animBg="1"/>
      <p:bldP spid="95" grpId="0" animBg="1"/>
      <p:bldP spid="97" grpId="0" animBg="1"/>
      <p:bldP spid="98" grpId="0" animBg="1"/>
      <p:bldP spid="99" grpId="0" animBg="1"/>
      <p:bldP spid="100" grpId="0" animBg="1"/>
      <p:bldP spid="102" grpId="0" animBg="1"/>
      <p:bldP spid="103" grpId="0" animBg="1"/>
      <p:bldP spid="104" grpId="0" animBg="1"/>
      <p:bldP spid="105" grpId="0" animBg="1"/>
      <p:bldP spid="107" grpId="0" animBg="1"/>
      <p:bldP spid="108" grpId="0" animBg="1"/>
      <p:bldP spid="109" grpId="0" animBg="1"/>
      <p:bldP spid="110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B20797-FA42-4BBA-ABF2-5CF06A40D43C}"/>
              </a:ext>
            </a:extLst>
          </p:cNvPr>
          <p:cNvCxnSpPr>
            <a:cxnSpLocks/>
          </p:cNvCxnSpPr>
          <p:nvPr/>
        </p:nvCxnSpPr>
        <p:spPr>
          <a:xfrm>
            <a:off x="5133163" y="198720"/>
            <a:ext cx="0" cy="64605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6ED83D-4D37-4A82-8C3A-63919FF9C74A}"/>
              </a:ext>
            </a:extLst>
          </p:cNvPr>
          <p:cNvCxnSpPr>
            <a:cxnSpLocks/>
          </p:cNvCxnSpPr>
          <p:nvPr/>
        </p:nvCxnSpPr>
        <p:spPr>
          <a:xfrm>
            <a:off x="8659345" y="147181"/>
            <a:ext cx="0" cy="65561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 1">
            <a:extLst>
              <a:ext uri="{FF2B5EF4-FFF2-40B4-BE49-F238E27FC236}">
                <a16:creationId xmlns:a16="http://schemas.microsoft.com/office/drawing/2014/main" id="{D2B7E91F-D4C0-4BE2-8AA9-79828559D719}"/>
              </a:ext>
            </a:extLst>
          </p:cNvPr>
          <p:cNvSpPr/>
          <p:nvPr/>
        </p:nvSpPr>
        <p:spPr>
          <a:xfrm>
            <a:off x="2234893" y="148876"/>
            <a:ext cx="1973783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grpSp>
        <p:nvGrpSpPr>
          <p:cNvPr id="74" name="Case 1 info">
            <a:extLst>
              <a:ext uri="{FF2B5EF4-FFF2-40B4-BE49-F238E27FC236}">
                <a16:creationId xmlns:a16="http://schemas.microsoft.com/office/drawing/2014/main" id="{6D54D231-4A38-4599-BEC2-2C7E76616085}"/>
              </a:ext>
            </a:extLst>
          </p:cNvPr>
          <p:cNvGrpSpPr/>
          <p:nvPr/>
        </p:nvGrpSpPr>
        <p:grpSpPr>
          <a:xfrm>
            <a:off x="1674024" y="652560"/>
            <a:ext cx="3477107" cy="1422098"/>
            <a:chOff x="184569" y="658878"/>
            <a:chExt cx="3652374" cy="1422098"/>
          </a:xfrm>
        </p:grpSpPr>
        <p:grpSp>
          <p:nvGrpSpPr>
            <p:cNvPr id="12" name="Case 1 info">
              <a:extLst>
                <a:ext uri="{FF2B5EF4-FFF2-40B4-BE49-F238E27FC236}">
                  <a16:creationId xmlns:a16="http://schemas.microsoft.com/office/drawing/2014/main" id="{08EBA9AA-57F4-4F4E-B898-F5C7D1C901D4}"/>
                </a:ext>
              </a:extLst>
            </p:cNvPr>
            <p:cNvGrpSpPr/>
            <p:nvPr/>
          </p:nvGrpSpPr>
          <p:grpSpPr>
            <a:xfrm>
              <a:off x="184569" y="658878"/>
              <a:ext cx="3652374" cy="1422098"/>
              <a:chOff x="92396" y="657992"/>
              <a:chExt cx="3652374" cy="1340851"/>
            </a:xfrm>
          </p:grpSpPr>
          <p:sp>
            <p:nvSpPr>
              <p:cNvPr id="13" name="Case 1 text">
                <a:extLst>
                  <a:ext uri="{FF2B5EF4-FFF2-40B4-BE49-F238E27FC236}">
                    <a16:creationId xmlns:a16="http://schemas.microsoft.com/office/drawing/2014/main" id="{28FAF219-B0F0-4D6F-A011-8C6E213E6DC1}"/>
                  </a:ext>
                </a:extLst>
              </p:cNvPr>
              <p:cNvSpPr txBox="1"/>
              <p:nvPr/>
            </p:nvSpPr>
            <p:spPr>
              <a:xfrm>
                <a:off x="92396" y="657992"/>
                <a:ext cx="3652374" cy="69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34F is found down. In the ED, her SaO</a:t>
                </a:r>
                <a:r>
                  <a:rPr lang="en-US" sz="1400" baseline="-25000" dirty="0"/>
                  <a:t>2</a:t>
                </a:r>
                <a:r>
                  <a:rPr lang="en-US" sz="1400" dirty="0"/>
                  <a:t> was 89% on RA. Pinpoint pupils on exam. </a:t>
                </a:r>
              </a:p>
              <a:p>
                <a:r>
                  <a:rPr lang="en-US" sz="1400" dirty="0"/>
                  <a:t>ABG: 7.25/60/60/26, base excess of 1. </a:t>
                </a:r>
              </a:p>
            </p:txBody>
          </p:sp>
          <p:grpSp>
            <p:nvGrpSpPr>
              <p:cNvPr id="14" name="Fishbone 1">
                <a:extLst>
                  <a:ext uri="{FF2B5EF4-FFF2-40B4-BE49-F238E27FC236}">
                    <a16:creationId xmlns:a16="http://schemas.microsoft.com/office/drawing/2014/main" id="{03F53E4C-26CE-4CF1-A133-C26004FDCEF5}"/>
                  </a:ext>
                </a:extLst>
              </p:cNvPr>
              <p:cNvGrpSpPr/>
              <p:nvPr/>
            </p:nvGrpSpPr>
            <p:grpSpPr>
              <a:xfrm>
                <a:off x="198605" y="1419920"/>
                <a:ext cx="1452583" cy="578923"/>
                <a:chOff x="144512" y="2183603"/>
                <a:chExt cx="1452583" cy="578923"/>
              </a:xfrm>
            </p:grpSpPr>
            <p:grpSp>
              <p:nvGrpSpPr>
                <p:cNvPr id="17" name="Fishbone">
                  <a:extLst>
                    <a:ext uri="{FF2B5EF4-FFF2-40B4-BE49-F238E27FC236}">
                      <a16:creationId xmlns:a16="http://schemas.microsoft.com/office/drawing/2014/main" id="{3F0F631A-7E03-41E5-A84B-374273685F8C}"/>
                    </a:ext>
                  </a:extLst>
                </p:cNvPr>
                <p:cNvGrpSpPr/>
                <p:nvPr/>
              </p:nvGrpSpPr>
              <p:grpSpPr>
                <a:xfrm>
                  <a:off x="196757" y="2244055"/>
                  <a:ext cx="1400338" cy="459816"/>
                  <a:chOff x="416866" y="2442321"/>
                  <a:chExt cx="1192881" cy="386662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D22F04B-9B24-4358-897C-A850E5854F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8500" y="2442321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68BAE9CC-ACCD-4CC4-900E-955303909C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93329" y="2442322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687C6C6C-57A7-4574-8BC6-1D2856702C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866" y="2625201"/>
                    <a:ext cx="936850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9146FD1F-480A-4295-9DF7-9823527F22D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38040" y="2442339"/>
                    <a:ext cx="271707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24F76B0D-9E21-4948-AB22-F2A7235B32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38039" y="2625201"/>
                    <a:ext cx="256033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1FCD209-D43D-4B6A-BDB5-DAF0C1AB9C76}"/>
                    </a:ext>
                  </a:extLst>
                </p:cNvPr>
                <p:cNvSpPr txBox="1"/>
                <p:nvPr/>
              </p:nvSpPr>
              <p:spPr>
                <a:xfrm>
                  <a:off x="144512" y="2183603"/>
                  <a:ext cx="517283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136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EA9EED0-62BF-43C6-883B-8EC017051419}"/>
                    </a:ext>
                  </a:extLst>
                </p:cNvPr>
                <p:cNvSpPr txBox="1"/>
                <p:nvPr/>
              </p:nvSpPr>
              <p:spPr>
                <a:xfrm>
                  <a:off x="572863" y="2189213"/>
                  <a:ext cx="60260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100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0CE1663-34FB-4A8B-91CC-660E09CCD7AC}"/>
                    </a:ext>
                  </a:extLst>
                </p:cNvPr>
                <p:cNvSpPr txBox="1"/>
                <p:nvPr/>
              </p:nvSpPr>
              <p:spPr>
                <a:xfrm>
                  <a:off x="1000065" y="2461533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1.4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C42BD5-8D26-4533-99B0-D2A4581BE1F0}"/>
                    </a:ext>
                  </a:extLst>
                </p:cNvPr>
                <p:cNvSpPr txBox="1"/>
                <p:nvPr/>
              </p:nvSpPr>
              <p:spPr>
                <a:xfrm>
                  <a:off x="616461" y="2472333"/>
                  <a:ext cx="441298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26</a:t>
                  </a:r>
                </a:p>
              </p:txBody>
            </p:sp>
          </p:grp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87A31F3-72C4-455B-BA1D-C38704E1B0A7}"/>
                </a:ext>
              </a:extLst>
            </p:cNvPr>
            <p:cNvSpPr txBox="1"/>
            <p:nvPr/>
          </p:nvSpPr>
          <p:spPr>
            <a:xfrm>
              <a:off x="2089738" y="1571962"/>
              <a:ext cx="151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Albumin 4.0</a:t>
              </a:r>
            </a:p>
          </p:txBody>
        </p:sp>
      </p:grpSp>
      <p:sp>
        <p:nvSpPr>
          <p:cNvPr id="28" name="Case 1 Acid-base status?">
            <a:extLst>
              <a:ext uri="{FF2B5EF4-FFF2-40B4-BE49-F238E27FC236}">
                <a16:creationId xmlns:a16="http://schemas.microsoft.com/office/drawing/2014/main" id="{A720D17D-CBB7-401A-B329-CE14FDF24C03}"/>
              </a:ext>
            </a:extLst>
          </p:cNvPr>
          <p:cNvSpPr/>
          <p:nvPr/>
        </p:nvSpPr>
        <p:spPr>
          <a:xfrm>
            <a:off x="1753775" y="2188993"/>
            <a:ext cx="3157102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31" name="Case 1 - Primary process?">
            <a:extLst>
              <a:ext uri="{FF2B5EF4-FFF2-40B4-BE49-F238E27FC236}">
                <a16:creationId xmlns:a16="http://schemas.microsoft.com/office/drawing/2014/main" id="{FC95995F-E4E4-4637-AB4F-6B3EE9F47547}"/>
              </a:ext>
            </a:extLst>
          </p:cNvPr>
          <p:cNvSpPr/>
          <p:nvPr/>
        </p:nvSpPr>
        <p:spPr>
          <a:xfrm>
            <a:off x="1767375" y="2602381"/>
            <a:ext cx="3157100" cy="850509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29" name="Case 1 - Anion gap?">
            <a:extLst>
              <a:ext uri="{FF2B5EF4-FFF2-40B4-BE49-F238E27FC236}">
                <a16:creationId xmlns:a16="http://schemas.microsoft.com/office/drawing/2014/main" id="{A878A616-CFBF-4671-8D20-04B6C3DBC423}"/>
              </a:ext>
            </a:extLst>
          </p:cNvPr>
          <p:cNvSpPr/>
          <p:nvPr/>
        </p:nvSpPr>
        <p:spPr>
          <a:xfrm>
            <a:off x="1747142" y="3563949"/>
            <a:ext cx="3167796" cy="736924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30" name="Case 1 - Compensation">
            <a:extLst>
              <a:ext uri="{FF2B5EF4-FFF2-40B4-BE49-F238E27FC236}">
                <a16:creationId xmlns:a16="http://schemas.microsoft.com/office/drawing/2014/main" id="{731DFEAB-EA12-4B9E-A4F6-084CAEC77E91}"/>
              </a:ext>
            </a:extLst>
          </p:cNvPr>
          <p:cNvSpPr/>
          <p:nvPr/>
        </p:nvSpPr>
        <p:spPr>
          <a:xfrm>
            <a:off x="1749358" y="4947066"/>
            <a:ext cx="3167793" cy="5030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32" name="Case 1 - A-a gradient">
            <a:extLst>
              <a:ext uri="{FF2B5EF4-FFF2-40B4-BE49-F238E27FC236}">
                <a16:creationId xmlns:a16="http://schemas.microsoft.com/office/drawing/2014/main" id="{5F6BBA05-71C7-45DA-80DB-892D73F5B2A5}"/>
              </a:ext>
            </a:extLst>
          </p:cNvPr>
          <p:cNvSpPr/>
          <p:nvPr/>
        </p:nvSpPr>
        <p:spPr>
          <a:xfrm>
            <a:off x="1749357" y="5567233"/>
            <a:ext cx="3167793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Bonus: A-a gradient?</a:t>
            </a:r>
          </a:p>
        </p:txBody>
      </p:sp>
      <p:sp>
        <p:nvSpPr>
          <p:cNvPr id="33" name="Case 1 - AB answer">
            <a:extLst>
              <a:ext uri="{FF2B5EF4-FFF2-40B4-BE49-F238E27FC236}">
                <a16:creationId xmlns:a16="http://schemas.microsoft.com/office/drawing/2014/main" id="{8E93BC3D-9A48-4519-87F0-DC82D5777AEB}"/>
              </a:ext>
            </a:extLst>
          </p:cNvPr>
          <p:cNvSpPr/>
          <p:nvPr/>
        </p:nvSpPr>
        <p:spPr>
          <a:xfrm>
            <a:off x="1748161" y="2188312"/>
            <a:ext cx="3157099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Acidemia. pH of 7.25 is low. </a:t>
            </a:r>
          </a:p>
        </p:txBody>
      </p:sp>
      <p:sp>
        <p:nvSpPr>
          <p:cNvPr id="34" name="Case 1 - Primary process answer">
            <a:extLst>
              <a:ext uri="{FF2B5EF4-FFF2-40B4-BE49-F238E27FC236}">
                <a16:creationId xmlns:a16="http://schemas.microsoft.com/office/drawing/2014/main" id="{78D59F4F-3EF0-4B50-B0DE-BD1DB0BEC628}"/>
              </a:ext>
            </a:extLst>
          </p:cNvPr>
          <p:cNvSpPr/>
          <p:nvPr/>
        </p:nvSpPr>
        <p:spPr>
          <a:xfrm>
            <a:off x="1754290" y="2596616"/>
            <a:ext cx="3167791" cy="857047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acidosis. PCO</a:t>
            </a:r>
            <a:r>
              <a:rPr lang="en-US" sz="1400" baseline="-25000" dirty="0"/>
              <a:t>2</a:t>
            </a:r>
            <a:r>
              <a:rPr lang="en-US" sz="1400" dirty="0"/>
              <a:t> is </a:t>
            </a:r>
            <a:r>
              <a:rPr lang="en-US" sz="1400" dirty="0">
                <a:sym typeface="Wingdings" panose="05000000000000000000" pitchFamily="2" charset="2"/>
              </a:rPr>
              <a:t> (</a:t>
            </a:r>
            <a:r>
              <a:rPr lang="en-US" sz="1400" dirty="0" err="1">
                <a:sym typeface="Wingdings" panose="05000000000000000000" pitchFamily="2" charset="2"/>
              </a:rPr>
              <a:t>nml</a:t>
            </a:r>
            <a:r>
              <a:rPr lang="en-US" sz="1400" dirty="0">
                <a:sym typeface="Wingdings" panose="05000000000000000000" pitchFamily="2" charset="2"/>
              </a:rPr>
              <a:t> 36-44) driving the acidemia. 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is at the upper range of normal.</a:t>
            </a:r>
            <a:endParaRPr lang="en-US" sz="1400" dirty="0"/>
          </a:p>
        </p:txBody>
      </p:sp>
      <p:sp>
        <p:nvSpPr>
          <p:cNvPr id="35" name="Case 1 - Anion gap answer">
            <a:extLst>
              <a:ext uri="{FF2B5EF4-FFF2-40B4-BE49-F238E27FC236}">
                <a16:creationId xmlns:a16="http://schemas.microsoft.com/office/drawing/2014/main" id="{DB2F2D18-103A-4622-B071-CE4836C07EAE}"/>
              </a:ext>
            </a:extLst>
          </p:cNvPr>
          <p:cNvSpPr/>
          <p:nvPr/>
        </p:nvSpPr>
        <p:spPr>
          <a:xfrm>
            <a:off x="1747142" y="3561583"/>
            <a:ext cx="3167796" cy="746436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no concurrent AGMA. </a:t>
            </a:r>
          </a:p>
          <a:p>
            <a:pPr algn="ctr"/>
            <a:r>
              <a:rPr lang="en-US" sz="1400" dirty="0"/>
              <a:t>(</a:t>
            </a:r>
            <a:r>
              <a:rPr lang="en-US" sz="1200" dirty="0"/>
              <a:t>Na) – (HCO</a:t>
            </a:r>
            <a:r>
              <a:rPr lang="en-US" sz="1200" baseline="-25000" dirty="0"/>
              <a:t>3</a:t>
            </a:r>
            <a:r>
              <a:rPr lang="en-US" sz="1200" dirty="0"/>
              <a:t> + Cl) = 136 – (100 + 26) </a:t>
            </a:r>
          </a:p>
          <a:p>
            <a:pPr algn="ctr"/>
            <a:r>
              <a:rPr lang="en-US" sz="1200" dirty="0"/>
              <a:t>AG = 10 (normal 8-12)</a:t>
            </a:r>
          </a:p>
        </p:txBody>
      </p:sp>
      <p:sp>
        <p:nvSpPr>
          <p:cNvPr id="36" name="Case 1 - Compensatoin answer">
            <a:extLst>
              <a:ext uri="{FF2B5EF4-FFF2-40B4-BE49-F238E27FC236}">
                <a16:creationId xmlns:a16="http://schemas.microsoft.com/office/drawing/2014/main" id="{F597A406-81A5-40AC-9888-C00B46C26B0C}"/>
              </a:ext>
            </a:extLst>
          </p:cNvPr>
          <p:cNvSpPr/>
          <p:nvPr/>
        </p:nvSpPr>
        <p:spPr>
          <a:xfrm>
            <a:off x="1750104" y="4947840"/>
            <a:ext cx="3175499" cy="509598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None. HCO</a:t>
            </a:r>
            <a:r>
              <a:rPr lang="en-US" sz="1200" baseline="-25000" dirty="0"/>
              <a:t>3</a:t>
            </a:r>
            <a:r>
              <a:rPr lang="en-US" sz="1200" dirty="0"/>
              <a:t> is </a:t>
            </a:r>
            <a:r>
              <a:rPr lang="en-US" sz="1200" dirty="0" err="1"/>
              <a:t>nml</a:t>
            </a:r>
            <a:r>
              <a:rPr lang="en-US" sz="1200" dirty="0"/>
              <a:t>. No base excess. For acute PCO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 20   </a:t>
            </a:r>
            <a:r>
              <a:rPr lang="en-US" sz="1200" dirty="0"/>
              <a:t>HCO</a:t>
            </a:r>
            <a:r>
              <a:rPr lang="en-US" sz="1200" baseline="-25000" dirty="0"/>
              <a:t>3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by 2 (26).</a:t>
            </a:r>
            <a:endParaRPr lang="en-US" sz="1200" dirty="0"/>
          </a:p>
        </p:txBody>
      </p:sp>
      <p:sp>
        <p:nvSpPr>
          <p:cNvPr id="37" name="Case 1 - A-a answer">
            <a:extLst>
              <a:ext uri="{FF2B5EF4-FFF2-40B4-BE49-F238E27FC236}">
                <a16:creationId xmlns:a16="http://schemas.microsoft.com/office/drawing/2014/main" id="{10B43B21-7ED3-488D-8931-7B2941C4FDD1}"/>
              </a:ext>
            </a:extLst>
          </p:cNvPr>
          <p:cNvSpPr/>
          <p:nvPr/>
        </p:nvSpPr>
        <p:spPr>
          <a:xfrm>
            <a:off x="1750904" y="5548000"/>
            <a:ext cx="3193900" cy="33237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A-a difference </a:t>
            </a:r>
            <a:r>
              <a:rPr lang="en-US" sz="1400" dirty="0"/>
              <a:t>is 15, normal for her age.</a:t>
            </a:r>
          </a:p>
        </p:txBody>
      </p:sp>
      <p:sp>
        <p:nvSpPr>
          <p:cNvPr id="41" name="Diagnosis - case 1">
            <a:extLst>
              <a:ext uri="{FF2B5EF4-FFF2-40B4-BE49-F238E27FC236}">
                <a16:creationId xmlns:a16="http://schemas.microsoft.com/office/drawing/2014/main" id="{77D45040-957E-4A3F-93A7-C635107F1CFA}"/>
              </a:ext>
            </a:extLst>
          </p:cNvPr>
          <p:cNvSpPr/>
          <p:nvPr/>
        </p:nvSpPr>
        <p:spPr>
          <a:xfrm>
            <a:off x="1759253" y="5994113"/>
            <a:ext cx="3155786" cy="73639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42" name="Diagnosis answer">
            <a:extLst>
              <a:ext uri="{FF2B5EF4-FFF2-40B4-BE49-F238E27FC236}">
                <a16:creationId xmlns:a16="http://schemas.microsoft.com/office/drawing/2014/main" id="{C92AA417-A960-46B1-BEE2-E1E8D6ECE3E9}"/>
              </a:ext>
            </a:extLst>
          </p:cNvPr>
          <p:cNvSpPr/>
          <p:nvPr/>
        </p:nvSpPr>
        <p:spPr>
          <a:xfrm>
            <a:off x="1733633" y="5984076"/>
            <a:ext cx="3193900" cy="74643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 respiratory acidosis and hypoxemia from hypoventilation likely from narcotic overdose.</a:t>
            </a:r>
          </a:p>
        </p:txBody>
      </p:sp>
      <p:sp>
        <p:nvSpPr>
          <p:cNvPr id="43" name="Case 2">
            <a:extLst>
              <a:ext uri="{FF2B5EF4-FFF2-40B4-BE49-F238E27FC236}">
                <a16:creationId xmlns:a16="http://schemas.microsoft.com/office/drawing/2014/main" id="{5FC3637A-B1E4-4D45-B9C3-914A013550B1}"/>
              </a:ext>
            </a:extLst>
          </p:cNvPr>
          <p:cNvSpPr/>
          <p:nvPr/>
        </p:nvSpPr>
        <p:spPr>
          <a:xfrm>
            <a:off x="5773198" y="150702"/>
            <a:ext cx="2089184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grpSp>
        <p:nvGrpSpPr>
          <p:cNvPr id="75" name="Case 2 info">
            <a:extLst>
              <a:ext uri="{FF2B5EF4-FFF2-40B4-BE49-F238E27FC236}">
                <a16:creationId xmlns:a16="http://schemas.microsoft.com/office/drawing/2014/main" id="{95C50C06-6D80-4D43-8263-7C0BBE590149}"/>
              </a:ext>
            </a:extLst>
          </p:cNvPr>
          <p:cNvGrpSpPr/>
          <p:nvPr/>
        </p:nvGrpSpPr>
        <p:grpSpPr>
          <a:xfrm>
            <a:off x="5213011" y="640163"/>
            <a:ext cx="3359946" cy="1393465"/>
            <a:chOff x="4069448" y="640163"/>
            <a:chExt cx="3630316" cy="1393465"/>
          </a:xfrm>
        </p:grpSpPr>
        <p:grpSp>
          <p:nvGrpSpPr>
            <p:cNvPr id="44" name="Case 2 info">
              <a:extLst>
                <a:ext uri="{FF2B5EF4-FFF2-40B4-BE49-F238E27FC236}">
                  <a16:creationId xmlns:a16="http://schemas.microsoft.com/office/drawing/2014/main" id="{89886386-85A1-4BC6-B006-8EE70C9A7961}"/>
                </a:ext>
              </a:extLst>
            </p:cNvPr>
            <p:cNvGrpSpPr/>
            <p:nvPr/>
          </p:nvGrpSpPr>
          <p:grpSpPr>
            <a:xfrm>
              <a:off x="4069448" y="640163"/>
              <a:ext cx="3630316" cy="1393465"/>
              <a:chOff x="92396" y="657992"/>
              <a:chExt cx="3630316" cy="1313853"/>
            </a:xfrm>
          </p:grpSpPr>
          <p:sp>
            <p:nvSpPr>
              <p:cNvPr id="45" name="Case 2 text">
                <a:extLst>
                  <a:ext uri="{FF2B5EF4-FFF2-40B4-BE49-F238E27FC236}">
                    <a16:creationId xmlns:a16="http://schemas.microsoft.com/office/drawing/2014/main" id="{8B0F2001-F49A-4E0F-A89F-DD3A81EBC24A}"/>
                  </a:ext>
                </a:extLst>
              </p:cNvPr>
              <p:cNvSpPr txBox="1"/>
              <p:nvPr/>
            </p:nvSpPr>
            <p:spPr>
              <a:xfrm>
                <a:off x="92396" y="657992"/>
                <a:ext cx="3630316" cy="69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45M with IBD presents with abdominal pain and multiple loose bowel movements. </a:t>
                </a:r>
              </a:p>
              <a:p>
                <a:r>
                  <a:rPr lang="en-US" sz="1400" dirty="0"/>
                  <a:t>ABG: 7.34/35/-/18.</a:t>
                </a:r>
              </a:p>
            </p:txBody>
          </p:sp>
          <p:grpSp>
            <p:nvGrpSpPr>
              <p:cNvPr id="46" name="Fishbone 1">
                <a:extLst>
                  <a:ext uri="{FF2B5EF4-FFF2-40B4-BE49-F238E27FC236}">
                    <a16:creationId xmlns:a16="http://schemas.microsoft.com/office/drawing/2014/main" id="{D29E3389-61F3-40A5-9E9E-B87715B0E09A}"/>
                  </a:ext>
                </a:extLst>
              </p:cNvPr>
              <p:cNvGrpSpPr/>
              <p:nvPr/>
            </p:nvGrpSpPr>
            <p:grpSpPr>
              <a:xfrm>
                <a:off x="185680" y="1418572"/>
                <a:ext cx="1465508" cy="553273"/>
                <a:chOff x="131587" y="2182255"/>
                <a:chExt cx="1465508" cy="553273"/>
              </a:xfrm>
            </p:grpSpPr>
            <p:grpSp>
              <p:nvGrpSpPr>
                <p:cNvPr id="47" name="Fishbone">
                  <a:extLst>
                    <a:ext uri="{FF2B5EF4-FFF2-40B4-BE49-F238E27FC236}">
                      <a16:creationId xmlns:a16="http://schemas.microsoft.com/office/drawing/2014/main" id="{3EC4FD3D-20E7-46F2-951D-88CD288D1573}"/>
                    </a:ext>
                  </a:extLst>
                </p:cNvPr>
                <p:cNvGrpSpPr/>
                <p:nvPr/>
              </p:nvGrpSpPr>
              <p:grpSpPr>
                <a:xfrm>
                  <a:off x="196757" y="2244055"/>
                  <a:ext cx="1400338" cy="459816"/>
                  <a:chOff x="416866" y="2442321"/>
                  <a:chExt cx="1192881" cy="386662"/>
                </a:xfrm>
              </p:grpSpPr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E25F61BB-7F37-4C82-951D-771469EB0A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8500" y="2442321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CE12DF33-71F0-45A5-97CC-E50BB76321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93329" y="2442322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70E38B9D-060D-4865-A871-966FBF7FB2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866" y="2625201"/>
                    <a:ext cx="936850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40BEA9E0-BB4A-4C25-8613-7B2FB1A5301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38040" y="2442339"/>
                    <a:ext cx="271707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6E85D5CD-F791-4816-8E30-994DDCDFE0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38039" y="2625201"/>
                    <a:ext cx="256033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7915CE9-71CA-44D0-BF39-81B3B3756712}"/>
                    </a:ext>
                  </a:extLst>
                </p:cNvPr>
                <p:cNvSpPr txBox="1"/>
                <p:nvPr/>
              </p:nvSpPr>
              <p:spPr>
                <a:xfrm>
                  <a:off x="131587" y="2183603"/>
                  <a:ext cx="530206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127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FD25E59-D69F-426A-871B-3F66736E7F37}"/>
                    </a:ext>
                  </a:extLst>
                </p:cNvPr>
                <p:cNvSpPr txBox="1"/>
                <p:nvPr/>
              </p:nvSpPr>
              <p:spPr>
                <a:xfrm>
                  <a:off x="564901" y="2182255"/>
                  <a:ext cx="519085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100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AA4CB87-9D47-47A5-857E-5F57B9B58C24}"/>
                    </a:ext>
                  </a:extLst>
                </p:cNvPr>
                <p:cNvSpPr txBox="1"/>
                <p:nvPr/>
              </p:nvSpPr>
              <p:spPr>
                <a:xfrm>
                  <a:off x="976010" y="2445335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2.4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E3E7D71-E67B-4763-976C-FBF8BC0D80CE}"/>
                    </a:ext>
                  </a:extLst>
                </p:cNvPr>
                <p:cNvSpPr txBox="1"/>
                <p:nvPr/>
              </p:nvSpPr>
              <p:spPr>
                <a:xfrm>
                  <a:off x="624984" y="2434505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18</a:t>
                  </a:r>
                </a:p>
              </p:txBody>
            </p:sp>
          </p:grp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DEB9DF1-FEA3-4C95-A1DC-4BE940A4F2EC}"/>
                </a:ext>
              </a:extLst>
            </p:cNvPr>
            <p:cNvSpPr txBox="1"/>
            <p:nvPr/>
          </p:nvSpPr>
          <p:spPr>
            <a:xfrm>
              <a:off x="5992922" y="1566198"/>
              <a:ext cx="151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Albumin 4.0</a:t>
              </a:r>
            </a:p>
          </p:txBody>
        </p:sp>
      </p:grpSp>
      <p:sp>
        <p:nvSpPr>
          <p:cNvPr id="57" name="Case 2 Acid-base status?">
            <a:extLst>
              <a:ext uri="{FF2B5EF4-FFF2-40B4-BE49-F238E27FC236}">
                <a16:creationId xmlns:a16="http://schemas.microsoft.com/office/drawing/2014/main" id="{1E76184B-022C-4987-BBFF-E1BE5B5609EA}"/>
              </a:ext>
            </a:extLst>
          </p:cNvPr>
          <p:cNvSpPr/>
          <p:nvPr/>
        </p:nvSpPr>
        <p:spPr>
          <a:xfrm>
            <a:off x="5337414" y="2170278"/>
            <a:ext cx="3157004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58" name="Case 2 - Primary process?">
            <a:extLst>
              <a:ext uri="{FF2B5EF4-FFF2-40B4-BE49-F238E27FC236}">
                <a16:creationId xmlns:a16="http://schemas.microsoft.com/office/drawing/2014/main" id="{56E72D82-7448-45B6-94D3-6F99F7953EAE}"/>
              </a:ext>
            </a:extLst>
          </p:cNvPr>
          <p:cNvSpPr/>
          <p:nvPr/>
        </p:nvSpPr>
        <p:spPr>
          <a:xfrm>
            <a:off x="5351013" y="2583666"/>
            <a:ext cx="3157001" cy="850509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59" name="Case 2 - Anion gap?">
            <a:extLst>
              <a:ext uri="{FF2B5EF4-FFF2-40B4-BE49-F238E27FC236}">
                <a16:creationId xmlns:a16="http://schemas.microsoft.com/office/drawing/2014/main" id="{14152D50-0231-4DAD-8EAA-F30A62897BFB}"/>
              </a:ext>
            </a:extLst>
          </p:cNvPr>
          <p:cNvSpPr/>
          <p:nvPr/>
        </p:nvSpPr>
        <p:spPr>
          <a:xfrm>
            <a:off x="5333004" y="3538173"/>
            <a:ext cx="3183119" cy="745882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60" name="Case 2 - Compensation">
            <a:extLst>
              <a:ext uri="{FF2B5EF4-FFF2-40B4-BE49-F238E27FC236}">
                <a16:creationId xmlns:a16="http://schemas.microsoft.com/office/drawing/2014/main" id="{A437B246-AB58-4890-A3DC-ED17314FE1C6}"/>
              </a:ext>
            </a:extLst>
          </p:cNvPr>
          <p:cNvSpPr/>
          <p:nvPr/>
        </p:nvSpPr>
        <p:spPr>
          <a:xfrm>
            <a:off x="5332997" y="4952320"/>
            <a:ext cx="3167694" cy="90941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61" name="Case 2 - Delta-delta?">
            <a:extLst>
              <a:ext uri="{FF2B5EF4-FFF2-40B4-BE49-F238E27FC236}">
                <a16:creationId xmlns:a16="http://schemas.microsoft.com/office/drawing/2014/main" id="{95A3CAE9-756A-446F-B0BE-5AA350F56C2F}"/>
              </a:ext>
            </a:extLst>
          </p:cNvPr>
          <p:cNvSpPr/>
          <p:nvPr/>
        </p:nvSpPr>
        <p:spPr>
          <a:xfrm>
            <a:off x="5334255" y="4432364"/>
            <a:ext cx="3167694" cy="42682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62" name="Case 2 - AB answer">
            <a:extLst>
              <a:ext uri="{FF2B5EF4-FFF2-40B4-BE49-F238E27FC236}">
                <a16:creationId xmlns:a16="http://schemas.microsoft.com/office/drawing/2014/main" id="{F8BB8463-0AD4-4B53-8686-FCB98A69E387}"/>
              </a:ext>
            </a:extLst>
          </p:cNvPr>
          <p:cNvSpPr/>
          <p:nvPr/>
        </p:nvSpPr>
        <p:spPr>
          <a:xfrm>
            <a:off x="5331800" y="2169597"/>
            <a:ext cx="3157000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Acidemia. pH is borderline low. </a:t>
            </a:r>
          </a:p>
        </p:txBody>
      </p:sp>
      <p:sp>
        <p:nvSpPr>
          <p:cNvPr id="63" name="Case 2 - Primary process answer">
            <a:extLst>
              <a:ext uri="{FF2B5EF4-FFF2-40B4-BE49-F238E27FC236}">
                <a16:creationId xmlns:a16="http://schemas.microsoft.com/office/drawing/2014/main" id="{59B2DCE4-0CB3-4089-AE7B-EAAFF66B0060}"/>
              </a:ext>
            </a:extLst>
          </p:cNvPr>
          <p:cNvSpPr/>
          <p:nvPr/>
        </p:nvSpPr>
        <p:spPr>
          <a:xfrm>
            <a:off x="5337929" y="2577902"/>
            <a:ext cx="3167692" cy="855798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Metabolic acidosis. Both PCO</a:t>
            </a:r>
            <a:r>
              <a:rPr lang="en-US" sz="1400" baseline="-25000" dirty="0"/>
              <a:t>2</a:t>
            </a:r>
            <a:r>
              <a:rPr lang="en-US" sz="1400" dirty="0"/>
              <a:t> and HCO</a:t>
            </a:r>
            <a:r>
              <a:rPr lang="en-US" sz="1400" baseline="-25000" dirty="0"/>
              <a:t>3</a:t>
            </a:r>
            <a:r>
              <a:rPr lang="en-US" sz="1400" dirty="0"/>
              <a:t> are </a:t>
            </a:r>
            <a:r>
              <a:rPr lang="en-US" sz="1400" dirty="0">
                <a:sym typeface="Wingdings" panose="05000000000000000000" pitchFamily="2" charset="2"/>
              </a:rPr>
              <a:t>. Because the pH is borderline low, the metabolic acidosis is the 1</a:t>
            </a:r>
            <a:r>
              <a:rPr lang="en-US" sz="1400" baseline="30000" dirty="0">
                <a:sym typeface="Wingdings" panose="05000000000000000000" pitchFamily="2" charset="2"/>
              </a:rPr>
              <a:t>o</a:t>
            </a:r>
            <a:r>
              <a:rPr lang="en-US" sz="1400" dirty="0">
                <a:sym typeface="Wingdings" panose="05000000000000000000" pitchFamily="2" charset="2"/>
              </a:rPr>
              <a:t> process. </a:t>
            </a:r>
            <a:endParaRPr lang="en-US" sz="1400" dirty="0"/>
          </a:p>
        </p:txBody>
      </p:sp>
      <p:sp>
        <p:nvSpPr>
          <p:cNvPr id="64" name="Case 2 - Anion gap answer">
            <a:extLst>
              <a:ext uri="{FF2B5EF4-FFF2-40B4-BE49-F238E27FC236}">
                <a16:creationId xmlns:a16="http://schemas.microsoft.com/office/drawing/2014/main" id="{92291DA0-778F-4546-8C95-80431AAD1AFF}"/>
              </a:ext>
            </a:extLst>
          </p:cNvPr>
          <p:cNvSpPr/>
          <p:nvPr/>
        </p:nvSpPr>
        <p:spPr>
          <a:xfrm>
            <a:off x="5326632" y="3535807"/>
            <a:ext cx="3189857" cy="755510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no AGMA. This is a NAGMA. </a:t>
            </a:r>
          </a:p>
          <a:p>
            <a:pPr algn="ctr"/>
            <a:r>
              <a:rPr lang="en-US" sz="1200" dirty="0"/>
              <a:t>(Na) – (HCO</a:t>
            </a:r>
            <a:r>
              <a:rPr lang="en-US" sz="1200" baseline="-25000" dirty="0"/>
              <a:t>3</a:t>
            </a:r>
            <a:r>
              <a:rPr lang="en-US" sz="1200" dirty="0"/>
              <a:t> + Cl) = 127 – (100 + 18) </a:t>
            </a:r>
          </a:p>
          <a:p>
            <a:pPr algn="ctr"/>
            <a:r>
              <a:rPr lang="en-US" sz="1200" dirty="0"/>
              <a:t>AG = 9 (normal 8-12)</a:t>
            </a:r>
          </a:p>
        </p:txBody>
      </p:sp>
      <p:sp>
        <p:nvSpPr>
          <p:cNvPr id="65" name="Case 2 - Compensatoin answer">
            <a:extLst>
              <a:ext uri="{FF2B5EF4-FFF2-40B4-BE49-F238E27FC236}">
                <a16:creationId xmlns:a16="http://schemas.microsoft.com/office/drawing/2014/main" id="{9971A707-9070-4DE4-8899-760247EF3905}"/>
              </a:ext>
            </a:extLst>
          </p:cNvPr>
          <p:cNvSpPr/>
          <p:nvPr/>
        </p:nvSpPr>
        <p:spPr>
          <a:xfrm>
            <a:off x="5328643" y="4947840"/>
            <a:ext cx="3189856" cy="921173"/>
          </a:xfrm>
          <a:prstGeom prst="roundRect">
            <a:avLst>
              <a:gd name="adj" fmla="val 1565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Yes. Resp alkalosis. Expected PCO</a:t>
            </a:r>
            <a:r>
              <a:rPr lang="en-US" sz="1400" baseline="-25000" dirty="0"/>
              <a:t>2</a:t>
            </a:r>
            <a:r>
              <a:rPr lang="en-US" sz="1400" dirty="0"/>
              <a:t> by Winter’s formula = (1.5 x HCO</a:t>
            </a:r>
            <a:r>
              <a:rPr lang="en-US" sz="1400" baseline="-25000" dirty="0"/>
              <a:t>3</a:t>
            </a:r>
            <a:r>
              <a:rPr lang="en-US" sz="1400" dirty="0"/>
              <a:t>) + 8 = 35. The expected PCO</a:t>
            </a:r>
            <a:r>
              <a:rPr lang="en-US" sz="1400" baseline="-25000" dirty="0"/>
              <a:t>2</a:t>
            </a:r>
            <a:r>
              <a:rPr lang="en-US" sz="1400" dirty="0"/>
              <a:t> by the thumb rule is also 35.  </a:t>
            </a:r>
          </a:p>
        </p:txBody>
      </p:sp>
      <p:sp>
        <p:nvSpPr>
          <p:cNvPr id="66" name="Case 2 - Delta-delta answer">
            <a:extLst>
              <a:ext uri="{FF2B5EF4-FFF2-40B4-BE49-F238E27FC236}">
                <a16:creationId xmlns:a16="http://schemas.microsoft.com/office/drawing/2014/main" id="{BC5B6EEE-4D18-4C07-BA02-D0CAA3351CF4}"/>
              </a:ext>
            </a:extLst>
          </p:cNvPr>
          <p:cNvSpPr/>
          <p:nvPr/>
        </p:nvSpPr>
        <p:spPr>
          <a:xfrm>
            <a:off x="5327024" y="4406421"/>
            <a:ext cx="3175397" cy="4520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 </a:t>
            </a:r>
            <a:r>
              <a:rPr lang="el-GR" sz="1400" dirty="0"/>
              <a:t>ΔΔ</a:t>
            </a:r>
            <a:r>
              <a:rPr lang="en-US" sz="1400" dirty="0"/>
              <a:t> needed. UAG would not be accurate given renal dysfunction.</a:t>
            </a:r>
          </a:p>
        </p:txBody>
      </p:sp>
      <p:sp>
        <p:nvSpPr>
          <p:cNvPr id="70" name="Diagnosis - case 2">
            <a:extLst>
              <a:ext uri="{FF2B5EF4-FFF2-40B4-BE49-F238E27FC236}">
                <a16:creationId xmlns:a16="http://schemas.microsoft.com/office/drawing/2014/main" id="{7AC095DF-C8DD-4C9B-9C7B-982D1284CF78}"/>
              </a:ext>
            </a:extLst>
          </p:cNvPr>
          <p:cNvSpPr/>
          <p:nvPr/>
        </p:nvSpPr>
        <p:spPr>
          <a:xfrm>
            <a:off x="5301084" y="5984076"/>
            <a:ext cx="3200231" cy="74643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71" name="Diagnosis 2 answer">
            <a:extLst>
              <a:ext uri="{FF2B5EF4-FFF2-40B4-BE49-F238E27FC236}">
                <a16:creationId xmlns:a16="http://schemas.microsoft.com/office/drawing/2014/main" id="{86284DC5-51EA-4C3B-8187-0008D13E9702}"/>
              </a:ext>
            </a:extLst>
          </p:cNvPr>
          <p:cNvSpPr/>
          <p:nvPr/>
        </p:nvSpPr>
        <p:spPr>
          <a:xfrm>
            <a:off x="5299348" y="5997633"/>
            <a:ext cx="3212048" cy="73287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Non-gap metabolic acidosis with compensatory respiratory alkalosis from diarrhea.</a:t>
            </a:r>
          </a:p>
        </p:txBody>
      </p:sp>
      <p:sp>
        <p:nvSpPr>
          <p:cNvPr id="90" name="Case 2 - Delta-delta?">
            <a:extLst>
              <a:ext uri="{FF2B5EF4-FFF2-40B4-BE49-F238E27FC236}">
                <a16:creationId xmlns:a16="http://schemas.microsoft.com/office/drawing/2014/main" id="{8946B203-D191-4A30-8A61-8EB30F973496}"/>
              </a:ext>
            </a:extLst>
          </p:cNvPr>
          <p:cNvSpPr/>
          <p:nvPr/>
        </p:nvSpPr>
        <p:spPr>
          <a:xfrm>
            <a:off x="1754288" y="4406421"/>
            <a:ext cx="3167793" cy="44315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91" name="Case 2 - Delta-delta answer">
            <a:extLst>
              <a:ext uri="{FF2B5EF4-FFF2-40B4-BE49-F238E27FC236}">
                <a16:creationId xmlns:a16="http://schemas.microsoft.com/office/drawing/2014/main" id="{9088D581-1DAD-428F-A9E7-AF02AC247B3B}"/>
              </a:ext>
            </a:extLst>
          </p:cNvPr>
          <p:cNvSpPr/>
          <p:nvPr/>
        </p:nvSpPr>
        <p:spPr>
          <a:xfrm>
            <a:off x="1747057" y="4387188"/>
            <a:ext cx="3175496" cy="46931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 </a:t>
            </a:r>
            <a:r>
              <a:rPr lang="el-GR" sz="1400" dirty="0"/>
              <a:t>ΔΔ</a:t>
            </a:r>
            <a:r>
              <a:rPr lang="en-US" sz="1400" dirty="0"/>
              <a:t> needed.</a:t>
            </a:r>
          </a:p>
        </p:txBody>
      </p:sp>
      <p:sp>
        <p:nvSpPr>
          <p:cNvPr id="92" name="Case 3">
            <a:extLst>
              <a:ext uri="{FF2B5EF4-FFF2-40B4-BE49-F238E27FC236}">
                <a16:creationId xmlns:a16="http://schemas.microsoft.com/office/drawing/2014/main" id="{EF1856F6-1031-4EBE-9E98-FB6257041F67}"/>
              </a:ext>
            </a:extLst>
          </p:cNvPr>
          <p:cNvSpPr/>
          <p:nvPr/>
        </p:nvSpPr>
        <p:spPr>
          <a:xfrm>
            <a:off x="9338523" y="147181"/>
            <a:ext cx="2096260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grpSp>
        <p:nvGrpSpPr>
          <p:cNvPr id="93" name="Case 3 info">
            <a:extLst>
              <a:ext uri="{FF2B5EF4-FFF2-40B4-BE49-F238E27FC236}">
                <a16:creationId xmlns:a16="http://schemas.microsoft.com/office/drawing/2014/main" id="{5AA847AC-1338-46DF-AE79-6617E5C3B2D7}"/>
              </a:ext>
            </a:extLst>
          </p:cNvPr>
          <p:cNvGrpSpPr/>
          <p:nvPr/>
        </p:nvGrpSpPr>
        <p:grpSpPr>
          <a:xfrm>
            <a:off x="8710994" y="636642"/>
            <a:ext cx="3467704" cy="1401065"/>
            <a:chOff x="4069448" y="640163"/>
            <a:chExt cx="3630316" cy="1401065"/>
          </a:xfrm>
        </p:grpSpPr>
        <p:grpSp>
          <p:nvGrpSpPr>
            <p:cNvPr id="94" name="Case 2 info">
              <a:extLst>
                <a:ext uri="{FF2B5EF4-FFF2-40B4-BE49-F238E27FC236}">
                  <a16:creationId xmlns:a16="http://schemas.microsoft.com/office/drawing/2014/main" id="{BB515748-A46F-4748-B60F-7514C35CD515}"/>
                </a:ext>
              </a:extLst>
            </p:cNvPr>
            <p:cNvGrpSpPr/>
            <p:nvPr/>
          </p:nvGrpSpPr>
          <p:grpSpPr>
            <a:xfrm>
              <a:off x="4069448" y="640163"/>
              <a:ext cx="3630316" cy="1401065"/>
              <a:chOff x="92396" y="657992"/>
              <a:chExt cx="3630316" cy="1321019"/>
            </a:xfrm>
          </p:grpSpPr>
          <p:sp>
            <p:nvSpPr>
              <p:cNvPr id="96" name="Case 2 text">
                <a:extLst>
                  <a:ext uri="{FF2B5EF4-FFF2-40B4-BE49-F238E27FC236}">
                    <a16:creationId xmlns:a16="http://schemas.microsoft.com/office/drawing/2014/main" id="{6F7576EF-56F2-424F-A1D4-6233CA39984B}"/>
                  </a:ext>
                </a:extLst>
              </p:cNvPr>
              <p:cNvSpPr txBox="1"/>
              <p:nvPr/>
            </p:nvSpPr>
            <p:spPr>
              <a:xfrm>
                <a:off x="92396" y="657992"/>
                <a:ext cx="3630316" cy="69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65M with COPD presents with fever and cough. His SaO</a:t>
                </a:r>
                <a:r>
                  <a:rPr lang="en-US" sz="1400" baseline="-25000" dirty="0"/>
                  <a:t>2</a:t>
                </a:r>
                <a:r>
                  <a:rPr lang="en-US" sz="1400" dirty="0"/>
                  <a:t> is 90% on 30% FiO</a:t>
                </a:r>
                <a:r>
                  <a:rPr lang="en-US" sz="1400" baseline="-25000" dirty="0"/>
                  <a:t>2</a:t>
                </a:r>
                <a:r>
                  <a:rPr lang="en-US" sz="1400" dirty="0"/>
                  <a:t> by Venturi mask. ABG: 7.36/60/60/36.</a:t>
                </a:r>
              </a:p>
            </p:txBody>
          </p:sp>
          <p:grpSp>
            <p:nvGrpSpPr>
              <p:cNvPr id="97" name="Fishbone 1">
                <a:extLst>
                  <a:ext uri="{FF2B5EF4-FFF2-40B4-BE49-F238E27FC236}">
                    <a16:creationId xmlns:a16="http://schemas.microsoft.com/office/drawing/2014/main" id="{7F5356A8-1CB3-476B-91D9-94A871BBB223}"/>
                  </a:ext>
                </a:extLst>
              </p:cNvPr>
              <p:cNvGrpSpPr/>
              <p:nvPr/>
            </p:nvGrpSpPr>
            <p:grpSpPr>
              <a:xfrm>
                <a:off x="226439" y="1418572"/>
                <a:ext cx="1424749" cy="560439"/>
                <a:chOff x="172346" y="2182255"/>
                <a:chExt cx="1424749" cy="560439"/>
              </a:xfrm>
            </p:grpSpPr>
            <p:grpSp>
              <p:nvGrpSpPr>
                <p:cNvPr id="98" name="Fishbone">
                  <a:extLst>
                    <a:ext uri="{FF2B5EF4-FFF2-40B4-BE49-F238E27FC236}">
                      <a16:creationId xmlns:a16="http://schemas.microsoft.com/office/drawing/2014/main" id="{E51D3EC7-D0D7-4DD3-95B4-419C6DB177A5}"/>
                    </a:ext>
                  </a:extLst>
                </p:cNvPr>
                <p:cNvGrpSpPr/>
                <p:nvPr/>
              </p:nvGrpSpPr>
              <p:grpSpPr>
                <a:xfrm>
                  <a:off x="196757" y="2244055"/>
                  <a:ext cx="1400338" cy="459816"/>
                  <a:chOff x="416866" y="2442321"/>
                  <a:chExt cx="1192881" cy="386662"/>
                </a:xfrm>
              </p:grpSpPr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D072A163-0998-45F6-B6DD-A84FA9C82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8500" y="2442321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26244A34-C215-4733-8667-A8C9320E5B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93329" y="2442322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2C8E253C-8FFF-4BF4-86C1-E2E5119624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866" y="2625201"/>
                    <a:ext cx="936850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A0B671A3-597F-43AD-AB62-B7564CE358F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38040" y="2442339"/>
                    <a:ext cx="271707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6EE857F3-71C3-413B-9CD6-731CC52213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38039" y="2625201"/>
                    <a:ext cx="256033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1FA0583-8D82-4097-96CA-37DEE5BCCC79}"/>
                    </a:ext>
                  </a:extLst>
                </p:cNvPr>
                <p:cNvSpPr txBox="1"/>
                <p:nvPr/>
              </p:nvSpPr>
              <p:spPr>
                <a:xfrm>
                  <a:off x="172346" y="2183603"/>
                  <a:ext cx="489449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142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5227C53-3AB7-4BFD-BCC2-7B334B367100}"/>
                    </a:ext>
                  </a:extLst>
                </p:cNvPr>
                <p:cNvSpPr txBox="1"/>
                <p:nvPr/>
              </p:nvSpPr>
              <p:spPr>
                <a:xfrm>
                  <a:off x="637834" y="2182255"/>
                  <a:ext cx="392105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97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80EEE6E5-2059-492C-9002-C38E04BBB69E}"/>
                    </a:ext>
                  </a:extLst>
                </p:cNvPr>
                <p:cNvSpPr txBox="1"/>
                <p:nvPr/>
              </p:nvSpPr>
              <p:spPr>
                <a:xfrm>
                  <a:off x="976010" y="2445335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1.2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3CFD38B-CB1C-48C0-B712-AE603A4F53DE}"/>
                    </a:ext>
                  </a:extLst>
                </p:cNvPr>
                <p:cNvSpPr txBox="1"/>
                <p:nvPr/>
              </p:nvSpPr>
              <p:spPr>
                <a:xfrm>
                  <a:off x="624984" y="2452501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32</a:t>
                  </a:r>
                </a:p>
              </p:txBody>
            </p:sp>
          </p:grp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FD36F29-A622-4030-BC40-C67833D7348F}"/>
                </a:ext>
              </a:extLst>
            </p:cNvPr>
            <p:cNvSpPr txBox="1"/>
            <p:nvPr/>
          </p:nvSpPr>
          <p:spPr>
            <a:xfrm>
              <a:off x="5992922" y="1566198"/>
              <a:ext cx="151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Albumin 3.0</a:t>
              </a:r>
            </a:p>
          </p:txBody>
        </p:sp>
      </p:grpSp>
      <p:sp>
        <p:nvSpPr>
          <p:cNvPr id="108" name="Case 3 Acid-base status?">
            <a:extLst>
              <a:ext uri="{FF2B5EF4-FFF2-40B4-BE49-F238E27FC236}">
                <a16:creationId xmlns:a16="http://schemas.microsoft.com/office/drawing/2014/main" id="{22F8B0F1-9D32-4592-A87D-51B87CD583FA}"/>
              </a:ext>
            </a:extLst>
          </p:cNvPr>
          <p:cNvSpPr/>
          <p:nvPr/>
        </p:nvSpPr>
        <p:spPr>
          <a:xfrm>
            <a:off x="8833541" y="2166757"/>
            <a:ext cx="3167696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09" name="Case 3  - Primary process?">
            <a:extLst>
              <a:ext uri="{FF2B5EF4-FFF2-40B4-BE49-F238E27FC236}">
                <a16:creationId xmlns:a16="http://schemas.microsoft.com/office/drawing/2014/main" id="{557DCBCF-AC43-4987-91EB-8A88E7A050DE}"/>
              </a:ext>
            </a:extLst>
          </p:cNvPr>
          <p:cNvSpPr/>
          <p:nvPr/>
        </p:nvSpPr>
        <p:spPr>
          <a:xfrm>
            <a:off x="8847142" y="2580145"/>
            <a:ext cx="3167693" cy="850509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110" name="Case 3 - Anion gap?">
            <a:extLst>
              <a:ext uri="{FF2B5EF4-FFF2-40B4-BE49-F238E27FC236}">
                <a16:creationId xmlns:a16="http://schemas.microsoft.com/office/drawing/2014/main" id="{DA887515-3E20-45D2-8B8F-0D2652CB980F}"/>
              </a:ext>
            </a:extLst>
          </p:cNvPr>
          <p:cNvSpPr/>
          <p:nvPr/>
        </p:nvSpPr>
        <p:spPr>
          <a:xfrm>
            <a:off x="8827440" y="3534652"/>
            <a:ext cx="3193900" cy="745882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111" name="Case 3 - Compensation">
            <a:extLst>
              <a:ext uri="{FF2B5EF4-FFF2-40B4-BE49-F238E27FC236}">
                <a16:creationId xmlns:a16="http://schemas.microsoft.com/office/drawing/2014/main" id="{1D87120B-571E-4FEC-975E-A6ABED021252}"/>
              </a:ext>
            </a:extLst>
          </p:cNvPr>
          <p:cNvSpPr/>
          <p:nvPr/>
        </p:nvSpPr>
        <p:spPr>
          <a:xfrm>
            <a:off x="8828432" y="4948799"/>
            <a:ext cx="3178422" cy="5065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112" name="Case 3  - Delta-delta?">
            <a:extLst>
              <a:ext uri="{FF2B5EF4-FFF2-40B4-BE49-F238E27FC236}">
                <a16:creationId xmlns:a16="http://schemas.microsoft.com/office/drawing/2014/main" id="{0016AAA6-A618-4C1F-BED8-4F5B13E2F139}"/>
              </a:ext>
            </a:extLst>
          </p:cNvPr>
          <p:cNvSpPr/>
          <p:nvPr/>
        </p:nvSpPr>
        <p:spPr>
          <a:xfrm>
            <a:off x="8829690" y="4428843"/>
            <a:ext cx="3178422" cy="42682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113" name="Case 3  - AB answer">
            <a:extLst>
              <a:ext uri="{FF2B5EF4-FFF2-40B4-BE49-F238E27FC236}">
                <a16:creationId xmlns:a16="http://schemas.microsoft.com/office/drawing/2014/main" id="{6668EDB6-B119-47FD-84C4-508812912C5B}"/>
              </a:ext>
            </a:extLst>
          </p:cNvPr>
          <p:cNvSpPr/>
          <p:nvPr/>
        </p:nvSpPr>
        <p:spPr>
          <a:xfrm>
            <a:off x="8827929" y="2166076"/>
            <a:ext cx="3167692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pH is low-normal.</a:t>
            </a:r>
          </a:p>
        </p:txBody>
      </p:sp>
      <p:sp>
        <p:nvSpPr>
          <p:cNvPr id="114" name="Case 3 - Primary process answer">
            <a:extLst>
              <a:ext uri="{FF2B5EF4-FFF2-40B4-BE49-F238E27FC236}">
                <a16:creationId xmlns:a16="http://schemas.microsoft.com/office/drawing/2014/main" id="{D29612A4-140A-4587-AE02-A35B2525BD24}"/>
              </a:ext>
            </a:extLst>
          </p:cNvPr>
          <p:cNvSpPr/>
          <p:nvPr/>
        </p:nvSpPr>
        <p:spPr>
          <a:xfrm>
            <a:off x="8833364" y="2574381"/>
            <a:ext cx="3178420" cy="855798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acidosis. Both PCO</a:t>
            </a:r>
            <a:r>
              <a:rPr lang="en-US" sz="1400" baseline="-25000" dirty="0"/>
              <a:t>2</a:t>
            </a:r>
            <a:r>
              <a:rPr lang="en-US" sz="1400" dirty="0"/>
              <a:t> and HCO</a:t>
            </a:r>
            <a:r>
              <a:rPr lang="en-US" sz="1400" baseline="-25000" dirty="0"/>
              <a:t>3</a:t>
            </a:r>
            <a:r>
              <a:rPr lang="en-US" sz="1400" dirty="0"/>
              <a:t> are </a:t>
            </a:r>
            <a:r>
              <a:rPr lang="en-US" sz="1400" dirty="0">
                <a:sym typeface="Wingdings" panose="05000000000000000000" pitchFamily="2" charset="2"/>
              </a:rPr>
              <a:t>. The pH is low-</a:t>
            </a:r>
            <a:r>
              <a:rPr lang="en-US" sz="1400" dirty="0" err="1">
                <a:sym typeface="Wingdings" panose="05000000000000000000" pitchFamily="2" charset="2"/>
              </a:rPr>
              <a:t>nml</a:t>
            </a:r>
            <a:r>
              <a:rPr lang="en-US" sz="1400" dirty="0">
                <a:sym typeface="Wingdings" panose="05000000000000000000" pitchFamily="2" charset="2"/>
              </a:rPr>
              <a:t>, thus, respiratory acidosis is the 1</a:t>
            </a:r>
            <a:r>
              <a:rPr lang="en-US" sz="1400" baseline="30000" dirty="0">
                <a:sym typeface="Wingdings" panose="05000000000000000000" pitchFamily="2" charset="2"/>
              </a:rPr>
              <a:t>o</a:t>
            </a:r>
            <a:r>
              <a:rPr lang="en-US" sz="1400" dirty="0">
                <a:sym typeface="Wingdings" panose="05000000000000000000" pitchFamily="2" charset="2"/>
              </a:rPr>
              <a:t> process. </a:t>
            </a:r>
            <a:endParaRPr lang="en-US" sz="1400" dirty="0"/>
          </a:p>
        </p:txBody>
      </p:sp>
      <p:sp>
        <p:nvSpPr>
          <p:cNvPr id="115" name="Case 3 - Anion gap answer">
            <a:extLst>
              <a:ext uri="{FF2B5EF4-FFF2-40B4-BE49-F238E27FC236}">
                <a16:creationId xmlns:a16="http://schemas.microsoft.com/office/drawing/2014/main" id="{04DE88BA-E992-4563-ABE7-903E256E5137}"/>
              </a:ext>
            </a:extLst>
          </p:cNvPr>
          <p:cNvSpPr/>
          <p:nvPr/>
        </p:nvSpPr>
        <p:spPr>
          <a:xfrm>
            <a:off x="8820631" y="3532286"/>
            <a:ext cx="3200661" cy="755510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no AGMA. </a:t>
            </a:r>
          </a:p>
          <a:p>
            <a:pPr algn="ctr"/>
            <a:r>
              <a:rPr lang="en-US" sz="1200" dirty="0"/>
              <a:t>(Na) – (HCO</a:t>
            </a:r>
            <a:r>
              <a:rPr lang="en-US" sz="1200" baseline="-25000" dirty="0"/>
              <a:t>3</a:t>
            </a:r>
            <a:r>
              <a:rPr lang="en-US" sz="1200" dirty="0"/>
              <a:t> + Cl) = 142 – (97 + 36) = 9</a:t>
            </a:r>
          </a:p>
          <a:p>
            <a:pPr algn="ctr"/>
            <a:r>
              <a:rPr lang="en-US" sz="1200" dirty="0"/>
              <a:t>Expected AG = 2.5 x albumin = 7.5.</a:t>
            </a:r>
          </a:p>
        </p:txBody>
      </p:sp>
      <p:sp>
        <p:nvSpPr>
          <p:cNvPr id="116" name="Case 3  - Compensatoin answer">
            <a:extLst>
              <a:ext uri="{FF2B5EF4-FFF2-40B4-BE49-F238E27FC236}">
                <a16:creationId xmlns:a16="http://schemas.microsoft.com/office/drawing/2014/main" id="{11C3DE69-DF76-4D7E-A6C5-3C7BB829EAF6}"/>
              </a:ext>
            </a:extLst>
          </p:cNvPr>
          <p:cNvSpPr/>
          <p:nvPr/>
        </p:nvSpPr>
        <p:spPr>
          <a:xfrm>
            <a:off x="8822642" y="4944320"/>
            <a:ext cx="3200660" cy="513118"/>
          </a:xfrm>
          <a:prstGeom prst="roundRect">
            <a:avLst>
              <a:gd name="adj" fmla="val 1565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Yes. Met alkalosis. pH is </a:t>
            </a:r>
            <a:r>
              <a:rPr lang="en-US" sz="1200" dirty="0" err="1"/>
              <a:t>nml</a:t>
            </a:r>
            <a:r>
              <a:rPr lang="en-US" sz="1200" dirty="0"/>
              <a:t> so likely chronic. </a:t>
            </a:r>
          </a:p>
          <a:p>
            <a:pPr algn="ctr"/>
            <a:r>
              <a:rPr lang="en-US" sz="1200" dirty="0"/>
              <a:t>For chronic PCO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 20   </a:t>
            </a:r>
            <a:r>
              <a:rPr lang="en-US" sz="1200" dirty="0"/>
              <a:t>HCO</a:t>
            </a:r>
            <a:r>
              <a:rPr lang="en-US" sz="1200" baseline="-25000" dirty="0"/>
              <a:t>3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by 8 (</a:t>
            </a:r>
            <a:r>
              <a:rPr lang="en-US" sz="1200" dirty="0"/>
              <a:t>32).</a:t>
            </a:r>
          </a:p>
        </p:txBody>
      </p:sp>
      <p:sp>
        <p:nvSpPr>
          <p:cNvPr id="117" name="Case 3 - Delta-delta answer">
            <a:extLst>
              <a:ext uri="{FF2B5EF4-FFF2-40B4-BE49-F238E27FC236}">
                <a16:creationId xmlns:a16="http://schemas.microsoft.com/office/drawing/2014/main" id="{5E0CD0A1-E4F5-46CD-AD47-4B113DFD8052}"/>
              </a:ext>
            </a:extLst>
          </p:cNvPr>
          <p:cNvSpPr/>
          <p:nvPr/>
        </p:nvSpPr>
        <p:spPr>
          <a:xfrm>
            <a:off x="8821960" y="4402900"/>
            <a:ext cx="3186151" cy="4520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 </a:t>
            </a:r>
            <a:r>
              <a:rPr lang="el-GR" sz="1400" dirty="0"/>
              <a:t>ΔΔ</a:t>
            </a:r>
            <a:r>
              <a:rPr lang="en-US" sz="1400" dirty="0"/>
              <a:t> needed. </a:t>
            </a:r>
          </a:p>
        </p:txBody>
      </p:sp>
      <p:sp>
        <p:nvSpPr>
          <p:cNvPr id="118" name="Diagnosis - case 2">
            <a:extLst>
              <a:ext uri="{FF2B5EF4-FFF2-40B4-BE49-F238E27FC236}">
                <a16:creationId xmlns:a16="http://schemas.microsoft.com/office/drawing/2014/main" id="{4A3B4FD9-6E97-4384-8AF9-B1FB1A3610A8}"/>
              </a:ext>
            </a:extLst>
          </p:cNvPr>
          <p:cNvSpPr/>
          <p:nvPr/>
        </p:nvSpPr>
        <p:spPr>
          <a:xfrm>
            <a:off x="8794411" y="5984076"/>
            <a:ext cx="3211069" cy="74291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19" name="Diagnosis 2 answer">
            <a:extLst>
              <a:ext uri="{FF2B5EF4-FFF2-40B4-BE49-F238E27FC236}">
                <a16:creationId xmlns:a16="http://schemas.microsoft.com/office/drawing/2014/main" id="{F0802548-AAEB-4AD0-9A4E-B5EFEA3D82FF}"/>
              </a:ext>
            </a:extLst>
          </p:cNvPr>
          <p:cNvSpPr/>
          <p:nvPr/>
        </p:nvSpPr>
        <p:spPr>
          <a:xfrm>
            <a:off x="8791909" y="5994112"/>
            <a:ext cx="3222926" cy="70923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Chronic, compensated resp acidosis.</a:t>
            </a:r>
          </a:p>
          <a:p>
            <a:pPr algn="ctr"/>
            <a:r>
              <a:rPr lang="en-US" sz="1400" dirty="0"/>
              <a:t>High A-a gradient hypoxemia may be related to VQ mismatch or shunt. </a:t>
            </a:r>
          </a:p>
        </p:txBody>
      </p:sp>
      <p:sp>
        <p:nvSpPr>
          <p:cNvPr id="121" name="Case 3 - A-a gradient">
            <a:extLst>
              <a:ext uri="{FF2B5EF4-FFF2-40B4-BE49-F238E27FC236}">
                <a16:creationId xmlns:a16="http://schemas.microsoft.com/office/drawing/2014/main" id="{FCD4BDAA-7E12-4BB3-8562-B914C3B52A51}"/>
              </a:ext>
            </a:extLst>
          </p:cNvPr>
          <p:cNvSpPr/>
          <p:nvPr/>
        </p:nvSpPr>
        <p:spPr>
          <a:xfrm>
            <a:off x="8806573" y="5565637"/>
            <a:ext cx="3167793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Bonus: A-a gradient?</a:t>
            </a:r>
          </a:p>
        </p:txBody>
      </p:sp>
      <p:sp>
        <p:nvSpPr>
          <p:cNvPr id="122" name="Case 3 - A-a answer">
            <a:extLst>
              <a:ext uri="{FF2B5EF4-FFF2-40B4-BE49-F238E27FC236}">
                <a16:creationId xmlns:a16="http://schemas.microsoft.com/office/drawing/2014/main" id="{C46C351D-7818-4055-83C6-8915DC7F566F}"/>
              </a:ext>
            </a:extLst>
          </p:cNvPr>
          <p:cNvSpPr/>
          <p:nvPr/>
        </p:nvSpPr>
        <p:spPr>
          <a:xfrm>
            <a:off x="8808120" y="5546404"/>
            <a:ext cx="3193900" cy="33237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A-a difference is 72, </a:t>
            </a:r>
            <a:r>
              <a:rPr lang="en-US" sz="1400" dirty="0">
                <a:sym typeface="Wingdings" panose="05000000000000000000" pitchFamily="2" charset="2"/>
              </a:rPr>
              <a:t> for his age</a:t>
            </a:r>
            <a:r>
              <a:rPr lang="en-US" sz="1400" dirty="0"/>
              <a:t>.</a:t>
            </a:r>
          </a:p>
        </p:txBody>
      </p:sp>
      <p:sp>
        <p:nvSpPr>
          <p:cNvPr id="120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4F1AB459-6EC6-428F-9BDC-3AB68B7D1274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sp>
        <p:nvSpPr>
          <p:cNvPr id="123" name="question 3">
            <a:hlinkClick r:id="rId4" action="ppaction://hlinksldjump"/>
            <a:extLst>
              <a:ext uri="{FF2B5EF4-FFF2-40B4-BE49-F238E27FC236}">
                <a16:creationId xmlns:a16="http://schemas.microsoft.com/office/drawing/2014/main" id="{82779B66-C205-4E84-AE6B-B58093334CC5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126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BA40B50A-7273-4C5B-AD65-E443C795FE76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127" name="sub-q 2">
            <a:hlinkClick r:id="rId6" action="ppaction://hlinksldjump"/>
            <a:extLst>
              <a:ext uri="{FF2B5EF4-FFF2-40B4-BE49-F238E27FC236}">
                <a16:creationId xmlns:a16="http://schemas.microsoft.com/office/drawing/2014/main" id="{37DE5C38-27A0-485E-893D-B71502F80568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28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B224BE5D-D8ED-4258-B0BA-27ED6C773457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ln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129" name="sub-q 1 button">
            <a:hlinkClick r:id="rId8" action="ppaction://hlinksldjump"/>
            <a:extLst>
              <a:ext uri="{FF2B5EF4-FFF2-40B4-BE49-F238E27FC236}">
                <a16:creationId xmlns:a16="http://schemas.microsoft.com/office/drawing/2014/main" id="{F6668CDD-2C94-4967-9101-D7532CDA8B41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130" name="Graphic 129" descr="Cursor with solid fill">
            <a:extLst>
              <a:ext uri="{FF2B5EF4-FFF2-40B4-BE49-F238E27FC236}">
                <a16:creationId xmlns:a16="http://schemas.microsoft.com/office/drawing/2014/main" id="{F69EAC47-E65A-49BB-BD94-0DD439F96C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131" name="Graphic 130" descr="Cursor with solid fill">
            <a:extLst>
              <a:ext uri="{FF2B5EF4-FFF2-40B4-BE49-F238E27FC236}">
                <a16:creationId xmlns:a16="http://schemas.microsoft.com/office/drawing/2014/main" id="{FC0C844F-AB09-4515-B85A-0E050AC969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132" name="Graphic 131" descr="Cursor with solid fill">
            <a:extLst>
              <a:ext uri="{FF2B5EF4-FFF2-40B4-BE49-F238E27FC236}">
                <a16:creationId xmlns:a16="http://schemas.microsoft.com/office/drawing/2014/main" id="{ECC6E8E8-5042-4BC4-BE14-CB7973D0BE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33" name="Graphic 132" descr="Cursor with solid fill">
            <a:extLst>
              <a:ext uri="{FF2B5EF4-FFF2-40B4-BE49-F238E27FC236}">
                <a16:creationId xmlns:a16="http://schemas.microsoft.com/office/drawing/2014/main" id="{92E9281D-F6F8-4A8A-860C-A3BCA4AD21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0345" y="2920004"/>
            <a:ext cx="274320" cy="274320"/>
          </a:xfrm>
          <a:prstGeom prst="rect">
            <a:avLst/>
          </a:prstGeom>
        </p:spPr>
      </p:pic>
      <p:sp>
        <p:nvSpPr>
          <p:cNvPr id="134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E9E0B720-D69A-4F3B-8B74-AF3E3B479959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35" name="Graphic 134" descr="Cursor with solid fill">
            <a:extLst>
              <a:ext uri="{FF2B5EF4-FFF2-40B4-BE49-F238E27FC236}">
                <a16:creationId xmlns:a16="http://schemas.microsoft.com/office/drawing/2014/main" id="{150F6959-29A8-42A1-91AB-5F41B29645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36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196783C6-B0F4-4793-A006-C5E547EE8429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pic>
        <p:nvPicPr>
          <p:cNvPr id="137" name="Graphic 136" descr="Cursor with solid fill">
            <a:extLst>
              <a:ext uri="{FF2B5EF4-FFF2-40B4-BE49-F238E27FC236}">
                <a16:creationId xmlns:a16="http://schemas.microsoft.com/office/drawing/2014/main" id="{EFF729C4-FE52-4FA8-B34F-3BF49DD830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3182" y="1249393"/>
            <a:ext cx="274320" cy="274320"/>
          </a:xfrm>
          <a:prstGeom prst="rect">
            <a:avLst/>
          </a:prstGeom>
        </p:spPr>
      </p:pic>
      <p:sp>
        <p:nvSpPr>
          <p:cNvPr id="138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335C5AF1-8FEB-468F-B529-A86C6A0AE83E}"/>
              </a:ext>
            </a:extLst>
          </p:cNvPr>
          <p:cNvSpPr txBox="1"/>
          <p:nvPr/>
        </p:nvSpPr>
        <p:spPr>
          <a:xfrm>
            <a:off x="740685" y="4059835"/>
            <a:ext cx="587119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Basic</a:t>
            </a:r>
          </a:p>
        </p:txBody>
      </p:sp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98EEAB33-C0D4-4E6F-B8D4-B13AF2AF85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021" y="4242577"/>
            <a:ext cx="274320" cy="274320"/>
          </a:xfrm>
          <a:prstGeom prst="rect">
            <a:avLst/>
          </a:prstGeom>
        </p:spPr>
      </p:pic>
      <p:sp>
        <p:nvSpPr>
          <p:cNvPr id="163" name="sub-q 1 button">
            <a:hlinkClick r:id="rId12" action="ppaction://hlinksldjump"/>
            <a:extLst>
              <a:ext uri="{FF2B5EF4-FFF2-40B4-BE49-F238E27FC236}">
                <a16:creationId xmlns:a16="http://schemas.microsoft.com/office/drawing/2014/main" id="{AB27D678-5EA2-4ECA-A811-E678A2F9ED2C}"/>
              </a:ext>
            </a:extLst>
          </p:cNvPr>
          <p:cNvSpPr txBox="1"/>
          <p:nvPr/>
        </p:nvSpPr>
        <p:spPr>
          <a:xfrm>
            <a:off x="735489" y="4475173"/>
            <a:ext cx="579838" cy="34051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1-3</a:t>
            </a:r>
          </a:p>
        </p:txBody>
      </p:sp>
      <p:sp>
        <p:nvSpPr>
          <p:cNvPr id="165" name="sub-q 1 button">
            <a:hlinkClick r:id="rId13" action="ppaction://hlinksldjump"/>
            <a:extLst>
              <a:ext uri="{FF2B5EF4-FFF2-40B4-BE49-F238E27FC236}">
                <a16:creationId xmlns:a16="http://schemas.microsoft.com/office/drawing/2014/main" id="{A5F361F0-D589-4E6F-AD7A-40E59B08F34D}"/>
              </a:ext>
            </a:extLst>
          </p:cNvPr>
          <p:cNvSpPr txBox="1"/>
          <p:nvPr/>
        </p:nvSpPr>
        <p:spPr>
          <a:xfrm>
            <a:off x="738051" y="4879987"/>
            <a:ext cx="579838" cy="340519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4-5</a:t>
            </a:r>
          </a:p>
        </p:txBody>
      </p:sp>
      <p:pic>
        <p:nvPicPr>
          <p:cNvPr id="166" name="Graphic 165" descr="Cursor with solid fill">
            <a:extLst>
              <a:ext uri="{FF2B5EF4-FFF2-40B4-BE49-F238E27FC236}">
                <a16:creationId xmlns:a16="http://schemas.microsoft.com/office/drawing/2014/main" id="{69399008-CEF3-416C-928A-9CEDB1CB19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5583" y="5068625"/>
            <a:ext cx="274320" cy="274320"/>
          </a:xfrm>
          <a:prstGeom prst="rect">
            <a:avLst/>
          </a:prstGeom>
        </p:spPr>
      </p:pic>
      <p:pic>
        <p:nvPicPr>
          <p:cNvPr id="167" name="Graphic 166" descr="Cursor with solid fill">
            <a:extLst>
              <a:ext uri="{FF2B5EF4-FFF2-40B4-BE49-F238E27FC236}">
                <a16:creationId xmlns:a16="http://schemas.microsoft.com/office/drawing/2014/main" id="{4F38FFB2-59A4-41E9-B592-FDD29EB7AB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4902" y="414288"/>
            <a:ext cx="274320" cy="274320"/>
          </a:xfrm>
          <a:prstGeom prst="rect">
            <a:avLst/>
          </a:prstGeom>
        </p:spPr>
      </p:pic>
      <p:pic>
        <p:nvPicPr>
          <p:cNvPr id="168" name="Graphic 167" descr="Cursor with solid fill">
            <a:extLst>
              <a:ext uri="{FF2B5EF4-FFF2-40B4-BE49-F238E27FC236}">
                <a16:creationId xmlns:a16="http://schemas.microsoft.com/office/drawing/2014/main" id="{B5A38E45-0B3F-4EDD-8B9F-25CFC8BC82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2924" y="411511"/>
            <a:ext cx="274320" cy="274320"/>
          </a:xfrm>
          <a:prstGeom prst="rect">
            <a:avLst/>
          </a:prstGeom>
        </p:spPr>
      </p:pic>
      <p:pic>
        <p:nvPicPr>
          <p:cNvPr id="169" name="Graphic 168" descr="Cursor with solid fill">
            <a:extLst>
              <a:ext uri="{FF2B5EF4-FFF2-40B4-BE49-F238E27FC236}">
                <a16:creationId xmlns:a16="http://schemas.microsoft.com/office/drawing/2014/main" id="{B80D5449-B159-47B0-9EBF-3839AFF501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05076" y="386139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1" grpId="0" animBg="1"/>
      <p:bldP spid="42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0" grpId="0" animBg="1"/>
      <p:bldP spid="71" grpId="0" animBg="1"/>
      <p:bldP spid="90" grpId="0" animBg="1"/>
      <p:bldP spid="91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1" grpId="0" animBg="1"/>
      <p:bldP spid="1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6ED83D-4D37-4A82-8C3A-63919FF9C74A}"/>
              </a:ext>
            </a:extLst>
          </p:cNvPr>
          <p:cNvCxnSpPr>
            <a:cxnSpLocks/>
          </p:cNvCxnSpPr>
          <p:nvPr/>
        </p:nvCxnSpPr>
        <p:spPr>
          <a:xfrm>
            <a:off x="6915961" y="333220"/>
            <a:ext cx="0" cy="6433127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Case 1">
            <a:extLst>
              <a:ext uri="{FF2B5EF4-FFF2-40B4-BE49-F238E27FC236}">
                <a16:creationId xmlns:a16="http://schemas.microsoft.com/office/drawing/2014/main" id="{D2B7E91F-D4C0-4BE2-8AA9-79828559D719}"/>
              </a:ext>
            </a:extLst>
          </p:cNvPr>
          <p:cNvSpPr/>
          <p:nvPr/>
        </p:nvSpPr>
        <p:spPr>
          <a:xfrm>
            <a:off x="2735174" y="181172"/>
            <a:ext cx="3083639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</a:t>
            </a:r>
          </a:p>
        </p:txBody>
      </p:sp>
      <p:sp>
        <p:nvSpPr>
          <p:cNvPr id="28" name="Case 1 Acid-base status?">
            <a:extLst>
              <a:ext uri="{FF2B5EF4-FFF2-40B4-BE49-F238E27FC236}">
                <a16:creationId xmlns:a16="http://schemas.microsoft.com/office/drawing/2014/main" id="{A720D17D-CBB7-401A-B329-CE14FDF24C03}"/>
              </a:ext>
            </a:extLst>
          </p:cNvPr>
          <p:cNvSpPr/>
          <p:nvPr/>
        </p:nvSpPr>
        <p:spPr>
          <a:xfrm>
            <a:off x="1741948" y="2178657"/>
            <a:ext cx="4932333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31" name="Case 1 - Primary process?">
            <a:extLst>
              <a:ext uri="{FF2B5EF4-FFF2-40B4-BE49-F238E27FC236}">
                <a16:creationId xmlns:a16="http://schemas.microsoft.com/office/drawing/2014/main" id="{FC95995F-E4E4-4637-AB4F-6B3EE9F47547}"/>
              </a:ext>
            </a:extLst>
          </p:cNvPr>
          <p:cNvSpPr/>
          <p:nvPr/>
        </p:nvSpPr>
        <p:spPr>
          <a:xfrm>
            <a:off x="1755547" y="2592046"/>
            <a:ext cx="4932331" cy="521384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29" name="Case 1 - Anion gap?">
            <a:extLst>
              <a:ext uri="{FF2B5EF4-FFF2-40B4-BE49-F238E27FC236}">
                <a16:creationId xmlns:a16="http://schemas.microsoft.com/office/drawing/2014/main" id="{A878A616-CFBF-4671-8D20-04B6C3DBC423}"/>
              </a:ext>
            </a:extLst>
          </p:cNvPr>
          <p:cNvSpPr/>
          <p:nvPr/>
        </p:nvSpPr>
        <p:spPr>
          <a:xfrm>
            <a:off x="1748033" y="3193871"/>
            <a:ext cx="4949042" cy="637473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30" name="Case 1 - Compensation">
            <a:extLst>
              <a:ext uri="{FF2B5EF4-FFF2-40B4-BE49-F238E27FC236}">
                <a16:creationId xmlns:a16="http://schemas.microsoft.com/office/drawing/2014/main" id="{731DFEAB-EA12-4B9E-A4F6-084CAEC77E91}"/>
              </a:ext>
            </a:extLst>
          </p:cNvPr>
          <p:cNvSpPr/>
          <p:nvPr/>
        </p:nvSpPr>
        <p:spPr>
          <a:xfrm>
            <a:off x="1734427" y="5062633"/>
            <a:ext cx="4949036" cy="6982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33" name="Case 1 - AB answer">
            <a:extLst>
              <a:ext uri="{FF2B5EF4-FFF2-40B4-BE49-F238E27FC236}">
                <a16:creationId xmlns:a16="http://schemas.microsoft.com/office/drawing/2014/main" id="{8E93BC3D-9A48-4519-87F0-DC82D5777AEB}"/>
              </a:ext>
            </a:extLst>
          </p:cNvPr>
          <p:cNvSpPr/>
          <p:nvPr/>
        </p:nvSpPr>
        <p:spPr>
          <a:xfrm>
            <a:off x="1736334" y="2177976"/>
            <a:ext cx="4932330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Acidemia. pH of 6.98 is low. </a:t>
            </a:r>
          </a:p>
        </p:txBody>
      </p:sp>
      <p:sp>
        <p:nvSpPr>
          <p:cNvPr id="34" name="Case 1 - Primary process answer">
            <a:extLst>
              <a:ext uri="{FF2B5EF4-FFF2-40B4-BE49-F238E27FC236}">
                <a16:creationId xmlns:a16="http://schemas.microsoft.com/office/drawing/2014/main" id="{78D59F4F-3EF0-4B50-B0DE-BD1DB0BEC628}"/>
              </a:ext>
            </a:extLst>
          </p:cNvPr>
          <p:cNvSpPr/>
          <p:nvPr/>
        </p:nvSpPr>
        <p:spPr>
          <a:xfrm>
            <a:off x="1742404" y="2586281"/>
            <a:ext cx="4949033" cy="524626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Metabolic acidosis (</a:t>
            </a:r>
            <a:r>
              <a:rPr lang="en-US" sz="1400" dirty="0">
                <a:sym typeface="Wingdings" panose="05000000000000000000" pitchFamily="2" charset="2"/>
              </a:rPr>
              <a:t>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/>
              <a:t> is </a:t>
            </a:r>
            <a:r>
              <a:rPr lang="en-US" sz="1400" dirty="0">
                <a:sym typeface="Wingdings" panose="05000000000000000000" pitchFamily="2" charset="2"/>
              </a:rPr>
              <a:t>). PCO</a:t>
            </a:r>
            <a:r>
              <a:rPr lang="en-US" sz="1400" baseline="-25000" dirty="0">
                <a:sym typeface="Wingdings" panose="05000000000000000000" pitchFamily="2" charset="2"/>
              </a:rPr>
              <a:t>2</a:t>
            </a:r>
            <a:r>
              <a:rPr lang="en-US" sz="1400" dirty="0">
                <a:sym typeface="Wingdings" panose="05000000000000000000" pitchFamily="2" charset="2"/>
              </a:rPr>
              <a:t> is normal, but there is likely a concurrent primary respiratory process (see compensation). </a:t>
            </a:r>
            <a:endParaRPr lang="en-US" sz="1400" dirty="0"/>
          </a:p>
        </p:txBody>
      </p:sp>
      <p:sp>
        <p:nvSpPr>
          <p:cNvPr id="35" name="Case 1 - Anion gap answer">
            <a:extLst>
              <a:ext uri="{FF2B5EF4-FFF2-40B4-BE49-F238E27FC236}">
                <a16:creationId xmlns:a16="http://schemas.microsoft.com/office/drawing/2014/main" id="{DB2F2D18-103A-4622-B071-CE4836C07EAE}"/>
              </a:ext>
            </a:extLst>
          </p:cNvPr>
          <p:cNvSpPr/>
          <p:nvPr/>
        </p:nvSpPr>
        <p:spPr>
          <a:xfrm>
            <a:off x="1756684" y="3191506"/>
            <a:ext cx="4949042" cy="645701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an </a:t>
            </a:r>
            <a:r>
              <a:rPr lang="en-US" sz="1400" dirty="0">
                <a:sym typeface="Wingdings" panose="05000000000000000000" pitchFamily="2" charset="2"/>
              </a:rPr>
              <a:t></a:t>
            </a:r>
            <a:r>
              <a:rPr lang="en-US" sz="1400" dirty="0"/>
              <a:t> AG. </a:t>
            </a:r>
          </a:p>
          <a:p>
            <a:pPr algn="ctr"/>
            <a:r>
              <a:rPr lang="en-US" sz="1200" dirty="0"/>
              <a:t>The AG = 146 – (121 + 7) = 18. </a:t>
            </a:r>
          </a:p>
          <a:p>
            <a:pPr algn="ctr"/>
            <a:r>
              <a:rPr lang="en-US" sz="1200" dirty="0"/>
              <a:t>The differential is MUDPILES. </a:t>
            </a:r>
          </a:p>
        </p:txBody>
      </p:sp>
      <p:sp>
        <p:nvSpPr>
          <p:cNvPr id="36" name="Case 1 - Compensatoin answer">
            <a:extLst>
              <a:ext uri="{FF2B5EF4-FFF2-40B4-BE49-F238E27FC236}">
                <a16:creationId xmlns:a16="http://schemas.microsoft.com/office/drawing/2014/main" id="{F597A406-81A5-40AC-9888-C00B46C26B0C}"/>
              </a:ext>
            </a:extLst>
          </p:cNvPr>
          <p:cNvSpPr/>
          <p:nvPr/>
        </p:nvSpPr>
        <p:spPr>
          <a:xfrm>
            <a:off x="1735129" y="5047687"/>
            <a:ext cx="4948334" cy="707302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Using Winter’s formula: Expected PCO</a:t>
            </a:r>
            <a:r>
              <a:rPr lang="en-US" sz="1400" baseline="-25000" dirty="0"/>
              <a:t>2</a:t>
            </a:r>
            <a:r>
              <a:rPr lang="en-US" sz="1400" dirty="0"/>
              <a:t> = (1.5 x HCO</a:t>
            </a:r>
            <a:r>
              <a:rPr lang="en-US" sz="1400" baseline="-25000" dirty="0"/>
              <a:t>3</a:t>
            </a:r>
            <a:r>
              <a:rPr lang="en-US" sz="1400" dirty="0"/>
              <a:t>) + 8 = 19. Measured PCO</a:t>
            </a:r>
            <a:r>
              <a:rPr lang="en-US" sz="1400" baseline="-25000" dirty="0"/>
              <a:t>2</a:t>
            </a:r>
            <a:r>
              <a:rPr lang="en-US" sz="1400" dirty="0"/>
              <a:t> is 41, suggesting a concurrent respiratory acidosis.</a:t>
            </a:r>
          </a:p>
        </p:txBody>
      </p:sp>
      <p:sp>
        <p:nvSpPr>
          <p:cNvPr id="41" name="Diagnosis - case 1">
            <a:extLst>
              <a:ext uri="{FF2B5EF4-FFF2-40B4-BE49-F238E27FC236}">
                <a16:creationId xmlns:a16="http://schemas.microsoft.com/office/drawing/2014/main" id="{77D45040-957E-4A3F-93A7-C635107F1CFA}"/>
              </a:ext>
            </a:extLst>
          </p:cNvPr>
          <p:cNvSpPr/>
          <p:nvPr/>
        </p:nvSpPr>
        <p:spPr>
          <a:xfrm>
            <a:off x="1747434" y="5867499"/>
            <a:ext cx="4930278" cy="88500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42" name="Diagnosis answer">
            <a:extLst>
              <a:ext uri="{FF2B5EF4-FFF2-40B4-BE49-F238E27FC236}">
                <a16:creationId xmlns:a16="http://schemas.microsoft.com/office/drawing/2014/main" id="{C92AA417-A960-46B1-BEE2-E1E8D6ECE3E9}"/>
              </a:ext>
            </a:extLst>
          </p:cNvPr>
          <p:cNvSpPr/>
          <p:nvPr/>
        </p:nvSpPr>
        <p:spPr>
          <a:xfrm>
            <a:off x="1752585" y="5856769"/>
            <a:ext cx="4932850" cy="85256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AGMA from ketoacidosis and lactic acidosis, NAGMA likely from diarrhea, and a concurrent respiratory acidosis likely from narcotic associated hypoventilation. </a:t>
            </a:r>
          </a:p>
        </p:txBody>
      </p:sp>
      <p:sp>
        <p:nvSpPr>
          <p:cNvPr id="90" name="Case 2 - Delta-delta?">
            <a:extLst>
              <a:ext uri="{FF2B5EF4-FFF2-40B4-BE49-F238E27FC236}">
                <a16:creationId xmlns:a16="http://schemas.microsoft.com/office/drawing/2014/main" id="{8946B203-D191-4A30-8A61-8EB30F973496}"/>
              </a:ext>
            </a:extLst>
          </p:cNvPr>
          <p:cNvSpPr/>
          <p:nvPr/>
        </p:nvSpPr>
        <p:spPr>
          <a:xfrm>
            <a:off x="1748039" y="3982665"/>
            <a:ext cx="4949036" cy="94180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91" name="Case 2 - Delta-delta answer">
            <a:extLst>
              <a:ext uri="{FF2B5EF4-FFF2-40B4-BE49-F238E27FC236}">
                <a16:creationId xmlns:a16="http://schemas.microsoft.com/office/drawing/2014/main" id="{9088D581-1DAD-428F-A9E7-AF02AC247B3B}"/>
              </a:ext>
            </a:extLst>
          </p:cNvPr>
          <p:cNvSpPr/>
          <p:nvPr/>
        </p:nvSpPr>
        <p:spPr>
          <a:xfrm>
            <a:off x="1740766" y="3943746"/>
            <a:ext cx="4961069" cy="9974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a concurrent NAGMA (likely from diarrhea). </a:t>
            </a:r>
          </a:p>
          <a:p>
            <a:pPr algn="ctr"/>
            <a:r>
              <a:rPr lang="en-US" sz="1200" dirty="0"/>
              <a:t>Using the “residual HCO</a:t>
            </a:r>
            <a:r>
              <a:rPr lang="en-US" sz="1200" baseline="-25000" dirty="0"/>
              <a:t>3</a:t>
            </a:r>
            <a:r>
              <a:rPr lang="en-US" sz="1200" dirty="0"/>
              <a:t>” method, the </a:t>
            </a:r>
            <a:r>
              <a:rPr lang="el-GR" sz="1200" dirty="0"/>
              <a:t>Δ</a:t>
            </a:r>
            <a:r>
              <a:rPr lang="en-US" sz="1200" dirty="0"/>
              <a:t>AG = 18 – expected AG. With an albumin of 2.1, the expected AG is 5-6. </a:t>
            </a:r>
            <a:r>
              <a:rPr lang="el-GR" sz="1200" dirty="0"/>
              <a:t>Δ</a:t>
            </a:r>
            <a:r>
              <a:rPr lang="en-US" sz="1200" dirty="0"/>
              <a:t>AG = 12. </a:t>
            </a:r>
          </a:p>
          <a:p>
            <a:pPr algn="ctr"/>
            <a:r>
              <a:rPr lang="en-US" sz="1200" dirty="0"/>
              <a:t>Adding </a:t>
            </a:r>
            <a:r>
              <a:rPr lang="el-GR" sz="1200" dirty="0"/>
              <a:t>Δ</a:t>
            </a:r>
            <a:r>
              <a:rPr lang="en-US" sz="1200" dirty="0"/>
              <a:t>AG to HCO</a:t>
            </a:r>
            <a:r>
              <a:rPr lang="en-US" sz="1200" baseline="-25000" dirty="0"/>
              <a:t>3</a:t>
            </a:r>
            <a:r>
              <a:rPr lang="en-US" sz="1200" dirty="0"/>
              <a:t> of 7 = 19, which is still a metabolic acidosis.</a:t>
            </a:r>
          </a:p>
        </p:txBody>
      </p:sp>
      <p:sp>
        <p:nvSpPr>
          <p:cNvPr id="92" name="Case 3">
            <a:extLst>
              <a:ext uri="{FF2B5EF4-FFF2-40B4-BE49-F238E27FC236}">
                <a16:creationId xmlns:a16="http://schemas.microsoft.com/office/drawing/2014/main" id="{EF1856F6-1031-4EBE-9E98-FB6257041F67}"/>
              </a:ext>
            </a:extLst>
          </p:cNvPr>
          <p:cNvSpPr/>
          <p:nvPr/>
        </p:nvSpPr>
        <p:spPr>
          <a:xfrm>
            <a:off x="7803300" y="181172"/>
            <a:ext cx="3229436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5</a:t>
            </a:r>
          </a:p>
        </p:txBody>
      </p:sp>
      <p:grpSp>
        <p:nvGrpSpPr>
          <p:cNvPr id="93" name="Case 3 info">
            <a:extLst>
              <a:ext uri="{FF2B5EF4-FFF2-40B4-BE49-F238E27FC236}">
                <a16:creationId xmlns:a16="http://schemas.microsoft.com/office/drawing/2014/main" id="{5AA847AC-1338-46DF-AE79-6617E5C3B2D7}"/>
              </a:ext>
            </a:extLst>
          </p:cNvPr>
          <p:cNvGrpSpPr/>
          <p:nvPr/>
        </p:nvGrpSpPr>
        <p:grpSpPr>
          <a:xfrm>
            <a:off x="7037794" y="631879"/>
            <a:ext cx="4930840" cy="1424099"/>
            <a:chOff x="3864920" y="640162"/>
            <a:chExt cx="3670398" cy="1424099"/>
          </a:xfrm>
        </p:grpSpPr>
        <p:grpSp>
          <p:nvGrpSpPr>
            <p:cNvPr id="94" name="Case 2 info">
              <a:extLst>
                <a:ext uri="{FF2B5EF4-FFF2-40B4-BE49-F238E27FC236}">
                  <a16:creationId xmlns:a16="http://schemas.microsoft.com/office/drawing/2014/main" id="{BB515748-A46F-4748-B60F-7514C35CD515}"/>
                </a:ext>
              </a:extLst>
            </p:cNvPr>
            <p:cNvGrpSpPr/>
            <p:nvPr/>
          </p:nvGrpSpPr>
          <p:grpSpPr>
            <a:xfrm>
              <a:off x="3864920" y="640162"/>
              <a:ext cx="3670398" cy="1396086"/>
              <a:chOff x="-112132" y="657991"/>
              <a:chExt cx="3670398" cy="1316324"/>
            </a:xfrm>
          </p:grpSpPr>
          <p:sp>
            <p:nvSpPr>
              <p:cNvPr id="96" name="Case 2 text">
                <a:extLst>
                  <a:ext uri="{FF2B5EF4-FFF2-40B4-BE49-F238E27FC236}">
                    <a16:creationId xmlns:a16="http://schemas.microsoft.com/office/drawing/2014/main" id="{6F7576EF-56F2-424F-A1D4-6233CA39984B}"/>
                  </a:ext>
                </a:extLst>
              </p:cNvPr>
              <p:cNvSpPr txBox="1"/>
              <p:nvPr/>
            </p:nvSpPr>
            <p:spPr>
              <a:xfrm>
                <a:off x="-112132" y="657991"/>
                <a:ext cx="3670398" cy="718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24 </a:t>
                </a:r>
                <a:r>
                  <a:rPr lang="en-US" sz="1400" dirty="0" err="1"/>
                  <a:t>yo</a:t>
                </a:r>
                <a:r>
                  <a:rPr lang="en-US" sz="1400" dirty="0"/>
                  <a:t> M with a history of depression is brought into the ED unresponsive. On exam, his RR is 34 breaths/min, SaO2 99% on RA. ABG is 7.56/22/110/17.</a:t>
                </a:r>
              </a:p>
            </p:txBody>
          </p:sp>
          <p:grpSp>
            <p:nvGrpSpPr>
              <p:cNvPr id="97" name="Fishbone 1">
                <a:extLst>
                  <a:ext uri="{FF2B5EF4-FFF2-40B4-BE49-F238E27FC236}">
                    <a16:creationId xmlns:a16="http://schemas.microsoft.com/office/drawing/2014/main" id="{7F5356A8-1CB3-476B-91D9-94A871BBB223}"/>
                  </a:ext>
                </a:extLst>
              </p:cNvPr>
              <p:cNvGrpSpPr/>
              <p:nvPr/>
            </p:nvGrpSpPr>
            <p:grpSpPr>
              <a:xfrm>
                <a:off x="250850" y="1419919"/>
                <a:ext cx="1207759" cy="554396"/>
                <a:chOff x="196757" y="2183602"/>
                <a:chExt cx="1207759" cy="554396"/>
              </a:xfrm>
            </p:grpSpPr>
            <p:grpSp>
              <p:nvGrpSpPr>
                <p:cNvPr id="98" name="Fishbone">
                  <a:extLst>
                    <a:ext uri="{FF2B5EF4-FFF2-40B4-BE49-F238E27FC236}">
                      <a16:creationId xmlns:a16="http://schemas.microsoft.com/office/drawing/2014/main" id="{E51D3EC7-D0D7-4DD3-95B4-419C6DB177A5}"/>
                    </a:ext>
                  </a:extLst>
                </p:cNvPr>
                <p:cNvGrpSpPr/>
                <p:nvPr/>
              </p:nvGrpSpPr>
              <p:grpSpPr>
                <a:xfrm>
                  <a:off x="196757" y="2238178"/>
                  <a:ext cx="1207759" cy="476819"/>
                  <a:chOff x="416866" y="2437379"/>
                  <a:chExt cx="1028832" cy="400960"/>
                </a:xfrm>
              </p:grpSpPr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D072A163-0998-45F6-B6DD-A84FA9C82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609" y="2451678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26244A34-C215-4733-8667-A8C9320E5B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9339" y="2437379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2C8E253C-8FFF-4BF4-86C1-E2E5119624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866" y="2625201"/>
                    <a:ext cx="756352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A0B671A3-597F-43AD-AB62-B7564CE358F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73991" y="2441667"/>
                    <a:ext cx="271707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6EE857F3-71C3-413B-9CD6-731CC52213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78436" y="2626993"/>
                    <a:ext cx="256033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1FA0583-8D82-4097-96CA-37DEE5BCCC79}"/>
                    </a:ext>
                  </a:extLst>
                </p:cNvPr>
                <p:cNvSpPr txBox="1"/>
                <p:nvPr/>
              </p:nvSpPr>
              <p:spPr>
                <a:xfrm>
                  <a:off x="196757" y="2183602"/>
                  <a:ext cx="374339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137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5227C53-3AB7-4BFD-BCC2-7B334B367100}"/>
                    </a:ext>
                  </a:extLst>
                </p:cNvPr>
                <p:cNvSpPr txBox="1"/>
                <p:nvPr/>
              </p:nvSpPr>
              <p:spPr>
                <a:xfrm>
                  <a:off x="523035" y="2196138"/>
                  <a:ext cx="280704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99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80EEE6E5-2059-492C-9002-C38E04BBB69E}"/>
                    </a:ext>
                  </a:extLst>
                </p:cNvPr>
                <p:cNvSpPr txBox="1"/>
                <p:nvPr/>
              </p:nvSpPr>
              <p:spPr>
                <a:xfrm>
                  <a:off x="775544" y="2447805"/>
                  <a:ext cx="309104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1.2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3CFD38B-CB1C-48C0-B712-AE603A4F53DE}"/>
                    </a:ext>
                  </a:extLst>
                </p:cNvPr>
                <p:cNvSpPr txBox="1"/>
                <p:nvPr/>
              </p:nvSpPr>
              <p:spPr>
                <a:xfrm>
                  <a:off x="523633" y="2447219"/>
                  <a:ext cx="282651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18</a:t>
                  </a:r>
                </a:p>
              </p:txBody>
            </p:sp>
          </p:grp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FD36F29-A622-4030-BC40-C67833D7348F}"/>
                </a:ext>
              </a:extLst>
            </p:cNvPr>
            <p:cNvSpPr txBox="1"/>
            <p:nvPr/>
          </p:nvSpPr>
          <p:spPr>
            <a:xfrm>
              <a:off x="5889961" y="1325597"/>
              <a:ext cx="15105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Albumin 4.0</a:t>
              </a:r>
            </a:p>
            <a:p>
              <a:r>
                <a:rPr lang="en-US" sz="1400" dirty="0"/>
                <a:t>Lactate 1.2</a:t>
              </a:r>
            </a:p>
            <a:p>
              <a:r>
                <a:rPr lang="en-US" sz="1400" dirty="0"/>
                <a:t>Urine: bland</a:t>
              </a:r>
            </a:p>
          </p:txBody>
        </p:sp>
      </p:grpSp>
      <p:sp>
        <p:nvSpPr>
          <p:cNvPr id="108" name="Case 3 Acid-base status?">
            <a:extLst>
              <a:ext uri="{FF2B5EF4-FFF2-40B4-BE49-F238E27FC236}">
                <a16:creationId xmlns:a16="http://schemas.microsoft.com/office/drawing/2014/main" id="{22F8B0F1-9D32-4592-A87D-51B87CD583FA}"/>
              </a:ext>
            </a:extLst>
          </p:cNvPr>
          <p:cNvSpPr/>
          <p:nvPr/>
        </p:nvSpPr>
        <p:spPr>
          <a:xfrm>
            <a:off x="7132035" y="2161995"/>
            <a:ext cx="4880057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09" name="Case 3  - Primary process?">
            <a:extLst>
              <a:ext uri="{FF2B5EF4-FFF2-40B4-BE49-F238E27FC236}">
                <a16:creationId xmlns:a16="http://schemas.microsoft.com/office/drawing/2014/main" id="{557DCBCF-AC43-4987-91EB-8A88E7A050DE}"/>
              </a:ext>
            </a:extLst>
          </p:cNvPr>
          <p:cNvSpPr/>
          <p:nvPr/>
        </p:nvSpPr>
        <p:spPr>
          <a:xfrm>
            <a:off x="7145637" y="2575384"/>
            <a:ext cx="4880053" cy="490589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110" name="Case 3 - Anion gap?">
            <a:extLst>
              <a:ext uri="{FF2B5EF4-FFF2-40B4-BE49-F238E27FC236}">
                <a16:creationId xmlns:a16="http://schemas.microsoft.com/office/drawing/2014/main" id="{DA887515-3E20-45D2-8B8F-0D2652CB980F}"/>
              </a:ext>
            </a:extLst>
          </p:cNvPr>
          <p:cNvSpPr/>
          <p:nvPr/>
        </p:nvSpPr>
        <p:spPr>
          <a:xfrm>
            <a:off x="7113776" y="3168603"/>
            <a:ext cx="4888252" cy="852987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111" name="Case 3 - Compensation">
            <a:extLst>
              <a:ext uri="{FF2B5EF4-FFF2-40B4-BE49-F238E27FC236}">
                <a16:creationId xmlns:a16="http://schemas.microsoft.com/office/drawing/2014/main" id="{1D87120B-571E-4FEC-975E-A6ABED021252}"/>
              </a:ext>
            </a:extLst>
          </p:cNvPr>
          <p:cNvSpPr/>
          <p:nvPr/>
        </p:nvSpPr>
        <p:spPr>
          <a:xfrm>
            <a:off x="7076021" y="5247434"/>
            <a:ext cx="4896583" cy="51714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112" name="Case 3  - Delta-delta?">
            <a:extLst>
              <a:ext uri="{FF2B5EF4-FFF2-40B4-BE49-F238E27FC236}">
                <a16:creationId xmlns:a16="http://schemas.microsoft.com/office/drawing/2014/main" id="{0016AAA6-A618-4C1F-BED8-4F5B13E2F139}"/>
              </a:ext>
            </a:extLst>
          </p:cNvPr>
          <p:cNvSpPr/>
          <p:nvPr/>
        </p:nvSpPr>
        <p:spPr>
          <a:xfrm>
            <a:off x="7072049" y="4175396"/>
            <a:ext cx="4940043" cy="94235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113" name="Case 3  - AB answer">
            <a:extLst>
              <a:ext uri="{FF2B5EF4-FFF2-40B4-BE49-F238E27FC236}">
                <a16:creationId xmlns:a16="http://schemas.microsoft.com/office/drawing/2014/main" id="{6668EDB6-B119-47FD-84C4-508812912C5B}"/>
              </a:ext>
            </a:extLst>
          </p:cNvPr>
          <p:cNvSpPr/>
          <p:nvPr/>
        </p:nvSpPr>
        <p:spPr>
          <a:xfrm>
            <a:off x="7126422" y="2161314"/>
            <a:ext cx="4880053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Alkalemia. pH is high.</a:t>
            </a:r>
          </a:p>
        </p:txBody>
      </p:sp>
      <p:sp>
        <p:nvSpPr>
          <p:cNvPr id="114" name="Case 3 - Primary process answer">
            <a:extLst>
              <a:ext uri="{FF2B5EF4-FFF2-40B4-BE49-F238E27FC236}">
                <a16:creationId xmlns:a16="http://schemas.microsoft.com/office/drawing/2014/main" id="{D29612A4-140A-4587-AE02-A35B2525BD24}"/>
              </a:ext>
            </a:extLst>
          </p:cNvPr>
          <p:cNvSpPr/>
          <p:nvPr/>
        </p:nvSpPr>
        <p:spPr>
          <a:xfrm>
            <a:off x="7126059" y="2569619"/>
            <a:ext cx="4896580" cy="493640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alkalosis. PCO</a:t>
            </a:r>
            <a:r>
              <a:rPr lang="en-US" sz="1400" baseline="-25000" dirty="0"/>
              <a:t>2</a:t>
            </a:r>
            <a:r>
              <a:rPr lang="en-US" sz="1400" dirty="0"/>
              <a:t> is </a:t>
            </a:r>
            <a:r>
              <a:rPr lang="en-US" sz="1400" dirty="0">
                <a:sym typeface="Wingdings" panose="05000000000000000000" pitchFamily="2" charset="2"/>
              </a:rPr>
              <a:t>.</a:t>
            </a:r>
          </a:p>
        </p:txBody>
      </p:sp>
      <p:sp>
        <p:nvSpPr>
          <p:cNvPr id="115" name="Case 3 - Anion gap answer">
            <a:extLst>
              <a:ext uri="{FF2B5EF4-FFF2-40B4-BE49-F238E27FC236}">
                <a16:creationId xmlns:a16="http://schemas.microsoft.com/office/drawing/2014/main" id="{04DE88BA-E992-4563-ABE7-903E256E5137}"/>
              </a:ext>
            </a:extLst>
          </p:cNvPr>
          <p:cNvSpPr/>
          <p:nvPr/>
        </p:nvSpPr>
        <p:spPr>
          <a:xfrm>
            <a:off x="7121973" y="3159740"/>
            <a:ext cx="4880054" cy="863998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an </a:t>
            </a:r>
            <a:r>
              <a:rPr lang="en-US" sz="1400" dirty="0">
                <a:sym typeface="Wingdings" panose="05000000000000000000" pitchFamily="2" charset="2"/>
              </a:rPr>
              <a:t> AG</a:t>
            </a:r>
            <a:r>
              <a:rPr lang="en-US" sz="1400" dirty="0"/>
              <a:t>. AGMAs are never a compensatory process so there is a concurrent primary AGMA.</a:t>
            </a:r>
          </a:p>
          <a:p>
            <a:pPr algn="ctr"/>
            <a:r>
              <a:rPr lang="en-US" sz="1200" dirty="0"/>
              <a:t>AG = 137 – (99 + 18) = 20</a:t>
            </a:r>
            <a:endParaRPr lang="en-US" sz="1400" dirty="0"/>
          </a:p>
        </p:txBody>
      </p:sp>
      <p:sp>
        <p:nvSpPr>
          <p:cNvPr id="116" name="Case 3  - Compensatoin answer">
            <a:extLst>
              <a:ext uri="{FF2B5EF4-FFF2-40B4-BE49-F238E27FC236}">
                <a16:creationId xmlns:a16="http://schemas.microsoft.com/office/drawing/2014/main" id="{11C3DE69-DF76-4D7E-A6C5-3C7BB829EAF6}"/>
              </a:ext>
            </a:extLst>
          </p:cNvPr>
          <p:cNvSpPr/>
          <p:nvPr/>
        </p:nvSpPr>
        <p:spPr>
          <a:xfrm>
            <a:off x="7058212" y="5242638"/>
            <a:ext cx="4930840" cy="523837"/>
          </a:xfrm>
          <a:prstGeom prst="roundRect">
            <a:avLst>
              <a:gd name="adj" fmla="val 15659"/>
            </a:avLst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None. There is a concurrent primary AGMA. </a:t>
            </a:r>
          </a:p>
        </p:txBody>
      </p:sp>
      <p:sp>
        <p:nvSpPr>
          <p:cNvPr id="117" name="Case 3 - Delta-delta answer">
            <a:extLst>
              <a:ext uri="{FF2B5EF4-FFF2-40B4-BE49-F238E27FC236}">
                <a16:creationId xmlns:a16="http://schemas.microsoft.com/office/drawing/2014/main" id="{5E0CD0A1-E4F5-46CD-AD47-4B113DFD8052}"/>
              </a:ext>
            </a:extLst>
          </p:cNvPr>
          <p:cNvSpPr/>
          <p:nvPr/>
        </p:nvSpPr>
        <p:spPr>
          <a:xfrm>
            <a:off x="7064115" y="4171987"/>
            <a:ext cx="4940043" cy="9646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is a pure AGMA.</a:t>
            </a:r>
          </a:p>
          <a:p>
            <a:pPr algn="ctr"/>
            <a:r>
              <a:rPr lang="en-US" sz="1200" dirty="0"/>
              <a:t>Using the “residual HCO</a:t>
            </a:r>
            <a:r>
              <a:rPr lang="en-US" sz="1200" baseline="-25000" dirty="0"/>
              <a:t>3</a:t>
            </a:r>
            <a:r>
              <a:rPr lang="en-US" sz="1200" dirty="0"/>
              <a:t>” method, the </a:t>
            </a:r>
            <a:r>
              <a:rPr lang="el-GR" sz="1200" dirty="0"/>
              <a:t>Δ</a:t>
            </a:r>
            <a:r>
              <a:rPr lang="en-US" sz="1200" dirty="0"/>
              <a:t>AG = 20 – expected AG (12). </a:t>
            </a:r>
            <a:r>
              <a:rPr lang="el-GR" sz="1200" dirty="0"/>
              <a:t>Δ</a:t>
            </a:r>
            <a:r>
              <a:rPr lang="en-US" sz="1200" dirty="0"/>
              <a:t>AG = 8. If we add this to measured HCO</a:t>
            </a:r>
            <a:r>
              <a:rPr lang="en-US" sz="1200" baseline="-25000" dirty="0"/>
              <a:t>3</a:t>
            </a:r>
            <a:r>
              <a:rPr lang="en-US" sz="1200" dirty="0"/>
              <a:t>, the “residual HCO</a:t>
            </a:r>
            <a:r>
              <a:rPr lang="en-US" sz="1200" baseline="-25000" dirty="0"/>
              <a:t>3</a:t>
            </a:r>
            <a:r>
              <a:rPr lang="en-US" sz="1200" dirty="0"/>
              <a:t>” is 26, which is upper limit of normal. </a:t>
            </a:r>
          </a:p>
        </p:txBody>
      </p:sp>
      <p:sp>
        <p:nvSpPr>
          <p:cNvPr id="118" name="Diagnosis - case 2">
            <a:extLst>
              <a:ext uri="{FF2B5EF4-FFF2-40B4-BE49-F238E27FC236}">
                <a16:creationId xmlns:a16="http://schemas.microsoft.com/office/drawing/2014/main" id="{4A3B4FD9-6E97-4384-8AF9-B1FB1A3610A8}"/>
              </a:ext>
            </a:extLst>
          </p:cNvPr>
          <p:cNvSpPr/>
          <p:nvPr/>
        </p:nvSpPr>
        <p:spPr>
          <a:xfrm>
            <a:off x="7058212" y="5989351"/>
            <a:ext cx="4958123" cy="624070"/>
          </a:xfrm>
          <a:prstGeom prst="roundRect">
            <a:avLst>
              <a:gd name="adj" fmla="val 1497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19" name="Diagnosis 2 answer">
            <a:extLst>
              <a:ext uri="{FF2B5EF4-FFF2-40B4-BE49-F238E27FC236}">
                <a16:creationId xmlns:a16="http://schemas.microsoft.com/office/drawing/2014/main" id="{F0802548-AAEB-4AD0-9A4E-B5EFEA3D82FF}"/>
              </a:ext>
            </a:extLst>
          </p:cNvPr>
          <p:cNvSpPr/>
          <p:nvPr/>
        </p:nvSpPr>
        <p:spPr>
          <a:xfrm>
            <a:off x="7060547" y="5989350"/>
            <a:ext cx="4965143" cy="62407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 primary respiratory alkalosis and AGMA is classic for salicylate poisoning.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7FEDA4-DE1A-4DB7-BFE1-DF70C56B1EFC}"/>
              </a:ext>
            </a:extLst>
          </p:cNvPr>
          <p:cNvGrpSpPr/>
          <p:nvPr/>
        </p:nvGrpSpPr>
        <p:grpSpPr>
          <a:xfrm>
            <a:off x="1774383" y="648542"/>
            <a:ext cx="5208987" cy="1470261"/>
            <a:chOff x="297650" y="658878"/>
            <a:chExt cx="5563628" cy="1470261"/>
          </a:xfrm>
        </p:grpSpPr>
        <p:grpSp>
          <p:nvGrpSpPr>
            <p:cNvPr id="74" name="Case 1 info">
              <a:extLst>
                <a:ext uri="{FF2B5EF4-FFF2-40B4-BE49-F238E27FC236}">
                  <a16:creationId xmlns:a16="http://schemas.microsoft.com/office/drawing/2014/main" id="{6D54D231-4A38-4599-BEC2-2C7E76616085}"/>
                </a:ext>
              </a:extLst>
            </p:cNvPr>
            <p:cNvGrpSpPr/>
            <p:nvPr/>
          </p:nvGrpSpPr>
          <p:grpSpPr>
            <a:xfrm>
              <a:off x="297650" y="658878"/>
              <a:ext cx="5563628" cy="1470261"/>
              <a:chOff x="255753" y="658878"/>
              <a:chExt cx="3502246" cy="1470261"/>
            </a:xfrm>
          </p:grpSpPr>
          <p:grpSp>
            <p:nvGrpSpPr>
              <p:cNvPr id="12" name="Case 1 info">
                <a:extLst>
                  <a:ext uri="{FF2B5EF4-FFF2-40B4-BE49-F238E27FC236}">
                    <a16:creationId xmlns:a16="http://schemas.microsoft.com/office/drawing/2014/main" id="{08EBA9AA-57F4-4F4E-B898-F5C7D1C901D4}"/>
                  </a:ext>
                </a:extLst>
              </p:cNvPr>
              <p:cNvGrpSpPr/>
              <p:nvPr/>
            </p:nvGrpSpPr>
            <p:grpSpPr>
              <a:xfrm>
                <a:off x="255753" y="658878"/>
                <a:ext cx="3502246" cy="1411088"/>
                <a:chOff x="163580" y="657992"/>
                <a:chExt cx="3502246" cy="1330469"/>
              </a:xfrm>
            </p:grpSpPr>
            <p:sp>
              <p:nvSpPr>
                <p:cNvPr id="13" name="Case 1 text">
                  <a:extLst>
                    <a:ext uri="{FF2B5EF4-FFF2-40B4-BE49-F238E27FC236}">
                      <a16:creationId xmlns:a16="http://schemas.microsoft.com/office/drawing/2014/main" id="{28FAF219-B0F0-4D6F-A011-8C6E213E6DC1}"/>
                    </a:ext>
                  </a:extLst>
                </p:cNvPr>
                <p:cNvSpPr txBox="1"/>
                <p:nvPr/>
              </p:nvSpPr>
              <p:spPr>
                <a:xfrm>
                  <a:off x="163580" y="657992"/>
                  <a:ext cx="3502246" cy="6964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72 </a:t>
                  </a:r>
                  <a:r>
                    <a:rPr lang="en-US" sz="1400" dirty="0" err="1"/>
                    <a:t>yo</a:t>
                  </a:r>
                  <a:r>
                    <a:rPr lang="en-US" sz="1400" dirty="0"/>
                    <a:t> F with RYGB presents with 3 d of shortness of breath, abdominal pain, nausea and diarrhea. She received IV morphine for her pain and became somnolent. An ABG showed: 6.98/41/58/10.</a:t>
                  </a:r>
                </a:p>
              </p:txBody>
            </p:sp>
            <p:grpSp>
              <p:nvGrpSpPr>
                <p:cNvPr id="14" name="Fishbone 1">
                  <a:extLst>
                    <a:ext uri="{FF2B5EF4-FFF2-40B4-BE49-F238E27FC236}">
                      <a16:creationId xmlns:a16="http://schemas.microsoft.com/office/drawing/2014/main" id="{03F53E4C-26CE-4CF1-A133-C26004FDCEF5}"/>
                    </a:ext>
                  </a:extLst>
                </p:cNvPr>
                <p:cNvGrpSpPr/>
                <p:nvPr/>
              </p:nvGrpSpPr>
              <p:grpSpPr>
                <a:xfrm>
                  <a:off x="234579" y="1420086"/>
                  <a:ext cx="1140448" cy="568375"/>
                  <a:chOff x="180486" y="2183769"/>
                  <a:chExt cx="1140448" cy="568375"/>
                </a:xfrm>
              </p:grpSpPr>
              <p:grpSp>
                <p:nvGrpSpPr>
                  <p:cNvPr id="17" name="Fishbone">
                    <a:extLst>
                      <a:ext uri="{FF2B5EF4-FFF2-40B4-BE49-F238E27FC236}">
                        <a16:creationId xmlns:a16="http://schemas.microsoft.com/office/drawing/2014/main" id="{3F0F631A-7E03-41E5-A84B-374273685F8C}"/>
                      </a:ext>
                    </a:extLst>
                  </p:cNvPr>
                  <p:cNvGrpSpPr/>
                  <p:nvPr/>
                </p:nvGrpSpPr>
                <p:grpSpPr>
                  <a:xfrm>
                    <a:off x="196757" y="2228345"/>
                    <a:ext cx="1124177" cy="459816"/>
                    <a:chOff x="416866" y="2429117"/>
                    <a:chExt cx="957633" cy="386663"/>
                  </a:xfrm>
                </p:grpSpPr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1D22F04B-9B24-4358-897C-A850E5854F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68464" y="2429118"/>
                      <a:ext cx="0" cy="386662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68BAE9CC-ACCD-4CC4-900E-955303909C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1148" y="2429117"/>
                      <a:ext cx="0" cy="38666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687C6C6C-57A7-4574-8BC6-1D2856702C8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16866" y="2617507"/>
                      <a:ext cx="693448" cy="7695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9146FD1F-480A-4295-9DF7-9823527F22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02792" y="2438474"/>
                      <a:ext cx="271707" cy="18288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24F76B0D-9E21-4948-AB22-F2A7235B32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05552" y="2621354"/>
                      <a:ext cx="256033" cy="18288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31FCD209-D43D-4B6A-BDB5-DAF0C1AB9C76}"/>
                      </a:ext>
                    </a:extLst>
                  </p:cNvPr>
                  <p:cNvSpPr txBox="1"/>
                  <p:nvPr/>
                </p:nvSpPr>
                <p:spPr>
                  <a:xfrm>
                    <a:off x="180486" y="2183769"/>
                    <a:ext cx="325577" cy="290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/>
                      <a:t>146</a:t>
                    </a:r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EA9EED0-62BF-43C6-883B-8EC017051419}"/>
                      </a:ext>
                    </a:extLst>
                  </p:cNvPr>
                  <p:cNvSpPr txBox="1"/>
                  <p:nvPr/>
                </p:nvSpPr>
                <p:spPr>
                  <a:xfrm>
                    <a:off x="471187" y="2185913"/>
                    <a:ext cx="326272" cy="290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/>
                      <a:t>121</a:t>
                    </a:r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20CE1663-34FB-4A8B-91CC-660E09CCD7AC}"/>
                      </a:ext>
                    </a:extLst>
                  </p:cNvPr>
                  <p:cNvSpPr txBox="1"/>
                  <p:nvPr/>
                </p:nvSpPr>
                <p:spPr>
                  <a:xfrm>
                    <a:off x="729161" y="2452551"/>
                    <a:ext cx="281643" cy="290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/>
                      <a:t>1.0</a:t>
                    </a: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B7C42BD5-8D26-4533-99B0-D2A4581BE1F0}"/>
                      </a:ext>
                    </a:extLst>
                  </p:cNvPr>
                  <p:cNvSpPr txBox="1"/>
                  <p:nvPr/>
                </p:nvSpPr>
                <p:spPr>
                  <a:xfrm>
                    <a:off x="504437" y="2461951"/>
                    <a:ext cx="265418" cy="290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/>
                      <a:t>7</a:t>
                    </a:r>
                  </a:p>
                </p:txBody>
              </p:sp>
            </p:grp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87A31F3-72C4-455B-BA1D-C38704E1B0A7}"/>
                  </a:ext>
                </a:extLst>
              </p:cNvPr>
              <p:cNvSpPr txBox="1"/>
              <p:nvPr/>
            </p:nvSpPr>
            <p:spPr>
              <a:xfrm>
                <a:off x="1576367" y="1390475"/>
                <a:ext cx="178667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Lipase 3290	         Lactate 2.7</a:t>
                </a:r>
              </a:p>
              <a:p>
                <a:r>
                  <a:rPr lang="en-US" sz="1400" dirty="0"/>
                  <a:t>Albumin 2.1</a:t>
                </a:r>
              </a:p>
              <a:p>
                <a:r>
                  <a:rPr lang="en-US" sz="1400" dirty="0"/>
                  <a:t>Urine: + ketones</a:t>
                </a:r>
              </a:p>
            </p:txBody>
          </p:sp>
        </p:grp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6B78CFBE-3689-4991-A00D-7648C4D1AE4B}"/>
                </a:ext>
              </a:extLst>
            </p:cNvPr>
            <p:cNvSpPr txBox="1"/>
            <p:nvPr/>
          </p:nvSpPr>
          <p:spPr>
            <a:xfrm>
              <a:off x="1819992" y="1593458"/>
              <a:ext cx="5156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98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C6DBD5B-A636-4C3C-8FF2-87E916A1B07C}"/>
                </a:ext>
              </a:extLst>
            </p:cNvPr>
            <p:cNvSpPr txBox="1"/>
            <p:nvPr/>
          </p:nvSpPr>
          <p:spPr>
            <a:xfrm>
              <a:off x="1299346" y="1463608"/>
              <a:ext cx="405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18</a:t>
              </a:r>
            </a:p>
          </p:txBody>
        </p:sp>
      </p:grpSp>
      <p:sp>
        <p:nvSpPr>
          <p:cNvPr id="69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C3D14763-07E6-414D-9396-DC2AAF5C3C6A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sp>
        <p:nvSpPr>
          <p:cNvPr id="70" name="question 3">
            <a:hlinkClick r:id="rId4" action="ppaction://hlinksldjump"/>
            <a:extLst>
              <a:ext uri="{FF2B5EF4-FFF2-40B4-BE49-F238E27FC236}">
                <a16:creationId xmlns:a16="http://schemas.microsoft.com/office/drawing/2014/main" id="{CAE6FE4A-C328-4708-B2D9-F689841AACD0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71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E07BE28F-F035-42A9-80FE-10F31FBFE17C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72" name="sub-q 2">
            <a:hlinkClick r:id="rId6" action="ppaction://hlinksldjump"/>
            <a:extLst>
              <a:ext uri="{FF2B5EF4-FFF2-40B4-BE49-F238E27FC236}">
                <a16:creationId xmlns:a16="http://schemas.microsoft.com/office/drawing/2014/main" id="{2446DA82-D582-4136-B03C-BA6ED18FEFDF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75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28BD5484-0134-40A7-B3BA-05FD5D6F0FEF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ln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76" name="sub-q 1 button">
            <a:hlinkClick r:id="rId8" action="ppaction://hlinksldjump"/>
            <a:extLst>
              <a:ext uri="{FF2B5EF4-FFF2-40B4-BE49-F238E27FC236}">
                <a16:creationId xmlns:a16="http://schemas.microsoft.com/office/drawing/2014/main" id="{B9A3B2FD-B695-40DF-9674-F1AB25CC2DB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8C214023-651D-4314-8F24-FA7BD8CE4A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84A5B4DE-9D5C-433A-BEE4-4E94B67494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ADB7205F-5C90-40D4-BFB6-4647276C2F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93363083-6214-4012-B314-850AB896BD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0345" y="2920004"/>
            <a:ext cx="274320" cy="274320"/>
          </a:xfrm>
          <a:prstGeom prst="rect">
            <a:avLst/>
          </a:prstGeom>
        </p:spPr>
      </p:pic>
      <p:sp>
        <p:nvSpPr>
          <p:cNvPr id="81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9D3E3738-F543-48DD-8676-72EC20A6A945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B0C20344-0073-4BE3-90EA-0861E3C176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83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8D8E124F-32B5-4AEE-919F-8F841A4FB38F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pic>
        <p:nvPicPr>
          <p:cNvPr id="84" name="Graphic 83" descr="Cursor with solid fill">
            <a:extLst>
              <a:ext uri="{FF2B5EF4-FFF2-40B4-BE49-F238E27FC236}">
                <a16:creationId xmlns:a16="http://schemas.microsoft.com/office/drawing/2014/main" id="{C797A4FF-B9BB-41BC-8B69-2591A9B848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3182" y="1249393"/>
            <a:ext cx="274320" cy="274320"/>
          </a:xfrm>
          <a:prstGeom prst="rect">
            <a:avLst/>
          </a:prstGeom>
        </p:spPr>
      </p:pic>
      <p:sp>
        <p:nvSpPr>
          <p:cNvPr id="85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3823F854-CD2C-4308-A2B9-24C829A816AB}"/>
              </a:ext>
            </a:extLst>
          </p:cNvPr>
          <p:cNvSpPr txBox="1"/>
          <p:nvPr/>
        </p:nvSpPr>
        <p:spPr>
          <a:xfrm>
            <a:off x="740685" y="4059835"/>
            <a:ext cx="587119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Basic</a:t>
            </a:r>
          </a:p>
        </p:txBody>
      </p:sp>
      <p:pic>
        <p:nvPicPr>
          <p:cNvPr id="86" name="Graphic 85" descr="Cursor with solid fill">
            <a:extLst>
              <a:ext uri="{FF2B5EF4-FFF2-40B4-BE49-F238E27FC236}">
                <a16:creationId xmlns:a16="http://schemas.microsoft.com/office/drawing/2014/main" id="{4CFD22A7-6154-41F7-A146-EAE5C96959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021" y="4242577"/>
            <a:ext cx="274320" cy="274320"/>
          </a:xfrm>
          <a:prstGeom prst="rect">
            <a:avLst/>
          </a:prstGeom>
        </p:spPr>
      </p:pic>
      <p:sp>
        <p:nvSpPr>
          <p:cNvPr id="87" name="sub-q 1 button">
            <a:hlinkClick r:id="rId12" action="ppaction://hlinksldjump"/>
            <a:extLst>
              <a:ext uri="{FF2B5EF4-FFF2-40B4-BE49-F238E27FC236}">
                <a16:creationId xmlns:a16="http://schemas.microsoft.com/office/drawing/2014/main" id="{8C93A47B-61DB-4D3E-8FEF-CA8ECDDA4A01}"/>
              </a:ext>
            </a:extLst>
          </p:cNvPr>
          <p:cNvSpPr txBox="1"/>
          <p:nvPr/>
        </p:nvSpPr>
        <p:spPr>
          <a:xfrm>
            <a:off x="735489" y="4475173"/>
            <a:ext cx="579838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1-3</a:t>
            </a:r>
          </a:p>
        </p:txBody>
      </p:sp>
      <p:sp>
        <p:nvSpPr>
          <p:cNvPr id="88" name="sub-q 1 button">
            <a:hlinkClick r:id="rId13" action="ppaction://hlinksldjump"/>
            <a:extLst>
              <a:ext uri="{FF2B5EF4-FFF2-40B4-BE49-F238E27FC236}">
                <a16:creationId xmlns:a16="http://schemas.microsoft.com/office/drawing/2014/main" id="{90A31933-8A1A-452D-81C9-3CBD9F744E4B}"/>
              </a:ext>
            </a:extLst>
          </p:cNvPr>
          <p:cNvSpPr txBox="1"/>
          <p:nvPr/>
        </p:nvSpPr>
        <p:spPr>
          <a:xfrm>
            <a:off x="738051" y="4879987"/>
            <a:ext cx="579838" cy="34051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4-5</a:t>
            </a:r>
          </a:p>
        </p:txBody>
      </p:sp>
      <p:pic>
        <p:nvPicPr>
          <p:cNvPr id="122" name="Graphic 121" descr="Cursor with solid fill">
            <a:extLst>
              <a:ext uri="{FF2B5EF4-FFF2-40B4-BE49-F238E27FC236}">
                <a16:creationId xmlns:a16="http://schemas.microsoft.com/office/drawing/2014/main" id="{2D480E11-4D3A-45C4-B636-7153E1F9D1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97163" y="445205"/>
            <a:ext cx="274320" cy="274320"/>
          </a:xfrm>
          <a:prstGeom prst="rect">
            <a:avLst/>
          </a:prstGeom>
        </p:spPr>
      </p:pic>
      <p:pic>
        <p:nvPicPr>
          <p:cNvPr id="123" name="Graphic 122" descr="Cursor with solid fill">
            <a:extLst>
              <a:ext uri="{FF2B5EF4-FFF2-40B4-BE49-F238E27FC236}">
                <a16:creationId xmlns:a16="http://schemas.microsoft.com/office/drawing/2014/main" id="{D7F9FB71-C4E8-4209-B75E-E46F5EB8EC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95576" y="433544"/>
            <a:ext cx="274320" cy="274320"/>
          </a:xfrm>
          <a:prstGeom prst="rect">
            <a:avLst/>
          </a:prstGeom>
        </p:spPr>
      </p:pic>
      <p:pic>
        <p:nvPicPr>
          <p:cNvPr id="124" name="Graphic 123" descr="Cursor with solid fill">
            <a:extLst>
              <a:ext uri="{FF2B5EF4-FFF2-40B4-BE49-F238E27FC236}">
                <a16:creationId xmlns:a16="http://schemas.microsoft.com/office/drawing/2014/main" id="{777F7109-0E31-4922-A9A9-63246A4CE7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021" y="4653537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8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6" grpId="0" animBg="1"/>
      <p:bldP spid="41" grpId="0" animBg="1"/>
      <p:bldP spid="42" grpId="0" animBg="1"/>
      <p:bldP spid="90" grpId="0" animBg="1"/>
      <p:bldP spid="91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18551</TotalTime>
  <Words>2681</Words>
  <Application>Microsoft Office PowerPoint</Application>
  <PresentationFormat>Widescreen</PresentationFormat>
  <Paragraphs>584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116</cp:revision>
  <cp:lastPrinted>2021-03-16T19:23:56Z</cp:lastPrinted>
  <dcterms:created xsi:type="dcterms:W3CDTF">2020-05-30T05:38:10Z</dcterms:created>
  <dcterms:modified xsi:type="dcterms:W3CDTF">2021-03-17T21:10:11Z</dcterms:modified>
</cp:coreProperties>
</file>